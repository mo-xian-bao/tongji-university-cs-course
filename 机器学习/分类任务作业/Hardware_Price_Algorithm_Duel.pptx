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6F7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673356" y="361956"/>
            <a:ext cx="12769828" cy="380361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85930" y="5683227"/>
            <a:ext cx="12617445" cy="365126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291239" y="4221205"/>
            <a:ext cx="14879955" cy="1490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95000"/>
              </a:lnSpc>
              <a:spcBef>
                <a:spcPts val="0"/>
              </a:spcBef>
            </a:pPr>
            <a:r>
              <a:rPr sz="47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移动设备价格等级分类的</a:t>
            </a:r>
            <a:r>
              <a:rPr lang="zh-CN" sz="47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机器学习</a:t>
            </a:r>
            <a:r>
              <a:rPr sz="47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</a:t>
            </a:r>
            <a:r>
              <a:rPr sz="47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法对决</a:t>
            </a:r>
            <a:endParaRPr sz="4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80260" algn="l" rtl="0" eaLnBrk="0">
              <a:lnSpc>
                <a:spcPct val="97000"/>
              </a:lnSpc>
            </a:pPr>
            <a:r>
              <a:rPr sz="33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副标题：一场关于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sz="33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KNN</a:t>
            </a:r>
            <a:r>
              <a:rPr sz="33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与随机森林的深度性能</a:t>
            </a:r>
            <a:r>
              <a:rPr sz="33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探案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 1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1F2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textbox 14"/>
          <p:cNvSpPr/>
          <p:nvPr/>
        </p:nvSpPr>
        <p:spPr>
          <a:xfrm>
            <a:off x="1041404" y="2503710"/>
            <a:ext cx="7165340" cy="5648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7000"/>
              </a:lnSpc>
            </a:pPr>
            <a:r>
              <a:rPr sz="34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业务价值与核心目标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815"/>
              </a:spcBef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业务价值：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移动设备定价是硬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件规格、品牌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87350" algn="l" rtl="0" eaLnBrk="0">
              <a:lnSpc>
                <a:spcPct val="135000"/>
              </a:lnSpc>
              <a:spcBef>
                <a:spcPts val="40"/>
              </a:spcBef>
            </a:pP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定位与市场策略的复杂博弈。本研究旨在通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过机器学习，解构硬件参数与价格区间的隐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式映射关系，为自动化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估值与分层定价提供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依</a:t>
            </a:r>
            <a:r>
              <a:rPr sz="2300" kern="0" spc="-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据</a:t>
            </a:r>
            <a:r>
              <a:rPr sz="2300" kern="0" spc="-4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815"/>
              </a:spcBef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核心目标：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构建并对比三种经典算法</a:t>
            </a:r>
            <a:r>
              <a:rPr sz="2700" kern="0" spc="-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(SVM,</a:t>
            </a:r>
            <a:endParaRPr sz="2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87350" algn="l" rtl="0" eaLnBrk="0">
              <a:lnSpc>
                <a:spcPts val="4150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KNN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 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随机森林),探究不同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归纳偏置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15315" algn="l" rtl="0" eaLnBrk="0">
              <a:lnSpc>
                <a:spcPct val="91000"/>
              </a:lnSpc>
              <a:spcBef>
                <a:spcPts val="990"/>
              </a:spcBef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Inductive</a:t>
            </a:r>
            <a:r>
              <a:rPr sz="2700" kern="0" spc="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Bias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700" kern="0" spc="5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的算法在处理此任务时的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87350" algn="l" rtl="0" eaLnBrk="0">
              <a:lnSpc>
                <a:spcPts val="4290"/>
              </a:lnSpc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适应性。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1195019" y="3311822"/>
            <a:ext cx="5151754" cy="5523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特征混合性：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1000"/>
              </a:lnSpc>
              <a:spcBef>
                <a:spcPts val="425"/>
              </a:spcBef>
            </a:pP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数据集包含连续数值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ram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')      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二值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8000"/>
              </a:lnSpc>
              <a:spcBef>
                <a:spcPts val="35"/>
              </a:spcBef>
            </a:pP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布尔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wifi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') 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特征，对距离敏感型算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法提出标准化要求。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695"/>
              </a:spcBef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决策边界非线性：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2000"/>
              </a:lnSpc>
              <a:spcBef>
                <a:spcPts val="15"/>
              </a:spcBef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价格由多硬件参数非线性组合决定，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对线性分类器构成严</a:t>
            </a:r>
            <a:r>
              <a:rPr sz="23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峻考验。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700"/>
              </a:spcBef>
            </a:pP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类别模糊性：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0000"/>
              </a:lnSpc>
              <a:spcBef>
                <a:spcPts val="65"/>
              </a:spcBef>
            </a:pPr>
            <a:r>
              <a:rPr sz="2300" kern="0" spc="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中端机(1类)与高端机(2类</a:t>
            </a:r>
            <a:r>
              <a:rPr sz="2300" kern="0" spc="4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)存在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大量配置相似的“夹心层”样本，是分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类错误的重灾区。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049827" y="988949"/>
            <a:ext cx="10028555" cy="701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46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标题：案件背景：定价迷雾与技术挑战</a:t>
            </a:r>
            <a:endParaRPr sz="4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01217" y="3308323"/>
            <a:ext cx="1498497" cy="151132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01217" y="7207228"/>
            <a:ext cx="1511255" cy="147962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201217" y="5245096"/>
            <a:ext cx="1511255" cy="1466843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9188316" y="2513117"/>
            <a:ext cx="2680970" cy="530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4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三大技术挑战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 3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2F3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8240938" y="2673887"/>
            <a:ext cx="8147684" cy="5875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900" b="1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关键特征1:完美类别</a:t>
            </a:r>
            <a:r>
              <a:rPr sz="29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均衡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770" algn="l" rtl="0" eaLnBrk="0">
              <a:lnSpc>
                <a:spcPct val="119000"/>
              </a:lnSpc>
              <a:spcBef>
                <a:spcPts val="700"/>
              </a:spcBef>
            </a:pP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300" kern="0" spc="-6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目标变量`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price</a:t>
            </a:r>
            <a:r>
              <a:rPr sz="2300" u="dotted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-5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range   </a:t>
            </a:r>
            <a:r>
              <a:rPr sz="2300" kern="0" spc="3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'分为4个等级(0</a:t>
            </a:r>
            <a:r>
              <a:rPr sz="2300" kern="0" spc="3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,1,2,3)。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91770" algn="l" rtl="0" eaLnBrk="0">
              <a:lnSpc>
                <a:spcPct val="94000"/>
              </a:lnSpc>
              <a:spcBef>
                <a:spcPts val="1730"/>
              </a:spcBef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●每个等级的样本量均为500个，呈现完美的1:1:1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:1分布。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835" indent="-266065" algn="l" rtl="0" eaLnBrk="0">
              <a:lnSpc>
                <a:spcPct val="118000"/>
              </a:lnSpc>
              <a:spcBef>
                <a:spcPts val="695"/>
              </a:spcBef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300" kern="0" spc="-4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意义：无需使用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SMOTE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过采样技术，避免了引入合成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噪声或丢失信息的风险。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815"/>
              </a:spcBef>
            </a:pPr>
            <a:r>
              <a:rPr sz="2700" b="1" kern="0" spc="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关键特征2:数据纯净无缺失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770" algn="l" rtl="0" eaLnBrk="0">
              <a:lnSpc>
                <a:spcPct val="94000"/>
              </a:lnSpc>
              <a:spcBef>
                <a:spcPts val="690"/>
              </a:spcBef>
            </a:pP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●经过扫描，数据集未发现任何缺失值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NaN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)。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4185" indent="-272415" algn="l" rtl="0" eaLnBrk="0">
              <a:lnSpc>
                <a:spcPct val="118000"/>
              </a:lnSpc>
              <a:spcBef>
                <a:spcPts val="5"/>
              </a:spcBef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300" kern="0" spc="-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意义：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数据质量极高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，允许我们专注于特征挖掘与模型对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比，而非数据清洗。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914477" y="2578070"/>
            <a:ext cx="6526161" cy="5416565"/>
            <a:chOff x="0" y="0"/>
            <a:chExt cx="6526161" cy="5416565"/>
          </a:xfrm>
        </p:grpSpPr>
        <p:pic>
          <p:nvPicPr>
            <p:cNvPr id="34" name="picture 3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546099" y="0"/>
              <a:ext cx="5429195" cy="5416565"/>
            </a:xfrm>
            <a:prstGeom prst="rect">
              <a:avLst/>
            </a:prstGeom>
          </p:spPr>
        </p:pic>
        <p:sp>
          <p:nvSpPr>
            <p:cNvPr id="36" name="textbox 36"/>
            <p:cNvSpPr/>
            <p:nvPr/>
          </p:nvSpPr>
          <p:spPr>
            <a:xfrm>
              <a:off x="-12700" y="-12700"/>
              <a:ext cx="6551930" cy="54724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"/>
                </a:spcBef>
              </a:pPr>
              <a:r>
                <a:rPr sz="18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等级0:500</a:t>
              </a:r>
              <a:r>
                <a:rPr sz="18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      </a:t>
              </a:r>
              <a:r>
                <a:rPr sz="18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    </a:t>
              </a:r>
              <a:r>
                <a:rPr sz="18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等级1:500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"/>
                </a:spcBef>
              </a:pPr>
              <a:r>
                <a:rPr sz="18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等级3:500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                   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</a:t>
              </a:r>
              <a:r>
                <a:rPr sz="18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等级2:500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38" name="textbox 38"/>
          <p:cNvSpPr/>
          <p:nvPr/>
        </p:nvSpPr>
        <p:spPr>
          <a:xfrm>
            <a:off x="857215" y="638490"/>
            <a:ext cx="15319375" cy="1230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ct val="97000"/>
              </a:lnSpc>
            </a:pPr>
            <a:r>
              <a:rPr sz="41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标题：现场勘查：一份“完美</a:t>
            </a:r>
            <a:r>
              <a:rPr sz="41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”的卷宗</a:t>
            </a:r>
            <a:endParaRPr sz="4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核心信息：本研究使用的数据集包含2000个样本，具有两个关键的“理想”特征，为公正的算法对决奠定了基础。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2184456" y="8407387"/>
            <a:ext cx="379539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315" algn="l" rtl="0" eaLnBrk="0">
              <a:lnSpc>
                <a:spcPct val="93000"/>
              </a:lnSpc>
              <a:spcBef>
                <a:spcPts val="5"/>
              </a:spcBef>
              <a:tabLst>
                <a:tab pos="81661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700" b="1" kern="0" spc="-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数据纯净，无缺失值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7156" y="8420087"/>
            <a:ext cx="603243" cy="476268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16097336" y="948269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 46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2F3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876381" y="1727168"/>
            <a:ext cx="7937411" cy="7607319"/>
            <a:chOff x="0" y="0"/>
            <a:chExt cx="7937411" cy="7607319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7937411" cy="7607319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114170" y="106756"/>
              <a:ext cx="1203960" cy="6172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660" rIns="0" bIns="0"/>
            <a:lstStyle/>
            <a:p>
              <a:pPr marL="171450" indent="-158750" algn="l" rtl="0" eaLnBrk="0">
                <a:lnSpc>
                  <a:spcPct val="148000"/>
                </a:lnSpc>
                <a:spcBef>
                  <a:spcPts val="5"/>
                </a:spcBef>
                <a:tabLst>
                  <a:tab pos="412750" algn="l"/>
                  <a:tab pos="819150" algn="l"/>
                </a:tabLst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battery</a:t>
              </a:r>
              <a:r>
                <a:rPr sz="1400" kern="0" spc="2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power 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blue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clock</a:t>
              </a:r>
              <a:r>
                <a:rPr sz="14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speed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dual</a:t>
              </a:r>
              <a:r>
                <a:rPr sz="14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sim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09650" algn="l" rtl="0" eaLnBrk="0">
                <a:lnSpc>
                  <a:spcPts val="2250"/>
                </a:lnSpc>
                <a:spcBef>
                  <a:spcPts val="530"/>
                </a:spcBef>
              </a:pPr>
              <a:r>
                <a:rPr sz="16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fc</a:t>
              </a:r>
              <a:endParaRPr sz="1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0500" indent="450850" algn="l" rtl="0" eaLnBrk="0">
                <a:lnSpc>
                  <a:spcPct val="151000"/>
                </a:lnSpc>
                <a:spcBef>
                  <a:spcPts val="150"/>
                </a:spcBef>
                <a:tabLst>
                  <a:tab pos="546100" algn="l"/>
                  <a:tab pos="603250" algn="l"/>
                </a:tabLst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four</a:t>
              </a:r>
              <a:r>
                <a:rPr sz="1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_g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int</a:t>
              </a:r>
              <a:r>
                <a:rPr sz="1400" kern="0" spc="1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memory 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dep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1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mobile_wt</a:t>
              </a: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</a:t>
              </a:r>
              <a:r>
                <a:rPr sz="1400" u="dotted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-3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cores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81000" indent="596900" algn="l" rtl="0" eaLnBrk="0">
                <a:lnSpc>
                  <a:spcPct val="131000"/>
                </a:lnSpc>
                <a:spcBef>
                  <a:spcPts val="1290"/>
                </a:spcBef>
              </a:pP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pc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px</a:t>
              </a:r>
              <a:r>
                <a:rPr sz="14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height  </a:t>
              </a:r>
              <a:r>
                <a:rPr sz="1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px_width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57250" algn="l" rtl="0" eaLnBrk="0">
                <a:lnSpc>
                  <a:spcPct val="66000"/>
                </a:lnSpc>
                <a:spcBef>
                  <a:spcPts val="1170"/>
                </a:spcBef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ram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8265" indent="678815" algn="l" rtl="0" eaLnBrk="0">
                <a:lnSpc>
                  <a:spcPct val="144000"/>
                </a:lnSpc>
                <a:spcBef>
                  <a:spcPts val="0"/>
                </a:spcBef>
                <a:tabLst>
                  <a:tab pos="412750" algn="l"/>
                  <a:tab pos="552450" algn="l"/>
                  <a:tab pos="869950" algn="l"/>
                </a:tabLst>
              </a:pP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SC</a:t>
              </a: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_w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talk</a:t>
              </a:r>
              <a:r>
                <a:rPr sz="1400" kern="0" spc="1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time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three</a:t>
              </a:r>
              <a:r>
                <a:rPr sz="14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_g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touch_screen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	</a:t>
              </a:r>
              <a:r>
                <a:rPr sz="14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wifi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2" name="textbox 52"/>
          <p:cNvSpPr/>
          <p:nvPr/>
        </p:nvSpPr>
        <p:spPr>
          <a:xfrm>
            <a:off x="9994821" y="1827282"/>
            <a:ext cx="7359650" cy="7846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8000"/>
              </a:lnSpc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核心发现：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0000"/>
              </a:lnSpc>
              <a:spcBef>
                <a:spcPts val="650"/>
              </a:spcBef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皮尔逊相关性分析显示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，随机存取存储器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(RAM)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与价格等级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(price_range)</a:t>
            </a:r>
            <a:r>
              <a:rPr sz="2300" b="1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的相关系数高达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2000"/>
              </a:lnSpc>
              <a:spcBef>
                <a:spcPts val="390"/>
              </a:spcBef>
            </a:pPr>
            <a:r>
              <a:rPr sz="27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0.91</a:t>
            </a:r>
            <a:r>
              <a:rPr sz="27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8000"/>
              </a:lnSpc>
              <a:spcBef>
                <a:spcPts val="600"/>
              </a:spcBef>
            </a:pP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解读：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8615" indent="-221615" algn="l" rtl="0" eaLnBrk="0">
              <a:lnSpc>
                <a:spcPct val="120000"/>
              </a:lnSpc>
              <a:spcBef>
                <a:spcPts val="960"/>
              </a:spcBef>
            </a:pP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000" kern="0" spc="-4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预测的基石：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sz="2000" kern="0" spc="7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是决定手机价格等级的“霸主”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特征，符合内存成本在物料清单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中占比较大的市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</a:t>
            </a:r>
            <a:r>
              <a:rPr sz="2000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场常识。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0" algn="l" rtl="0" eaLnBrk="0">
              <a:lnSpc>
                <a:spcPct val="92000"/>
              </a:lnSpc>
              <a:spcBef>
                <a:spcPts val="630"/>
              </a:spcBef>
            </a:pP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300" kern="0" spc="-8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被淘汰的特征：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蓝牙</a:t>
            </a:r>
            <a:r>
              <a:rPr sz="2300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blue`)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WiFi(wifi')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49250" algn="l" rtl="0" eaLnBrk="0">
              <a:lnSpc>
                <a:spcPct val="132000"/>
              </a:lnSpc>
              <a:spcBef>
                <a:spcPts val="190"/>
              </a:spcBef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等功能性特征与价格的相关性几乎为零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。这揭示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了市场现状：这些曾经的“高级功能”已沦为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9250" algn="l" rtl="0" eaLnBrk="0">
              <a:lnSpc>
                <a:spcPct val="94000"/>
              </a:lnSpc>
              <a:spcBef>
                <a:spcPts val="1120"/>
              </a:spcBef>
            </a:pP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配，失去定价能力。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  <a:spcBef>
                <a:spcPts val="5"/>
              </a:spcBef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89539" y="875017"/>
            <a:ext cx="14078585" cy="567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37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标题：关键线索#1:</a:t>
            </a:r>
            <a:r>
              <a:rPr sz="3700" kern="0" spc="-7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RAM</a:t>
            </a:r>
            <a:r>
              <a:rPr sz="37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的“霸权”——近乎垄断的</a:t>
            </a:r>
            <a:r>
              <a:rPr sz="3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定价决定因素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7486608" y="6221557"/>
            <a:ext cx="1185544" cy="616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4800" b="1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0.91</a:t>
            </a:r>
            <a:endParaRPr sz="4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textbox 58"/>
          <p:cNvSpPr/>
          <p:nvPr/>
        </p:nvSpPr>
        <p:spPr>
          <a:xfrm rot="16200000">
            <a:off x="5612177" y="8354439"/>
            <a:ext cx="678180" cy="546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800"/>
              </a:lnSpc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px_height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850" algn="l" rtl="0" eaLnBrk="0">
              <a:lnSpc>
                <a:spcPts val="1800"/>
              </a:lnSpc>
              <a:spcBef>
                <a:spcPts val="5"/>
              </a:spcBef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px_width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textbox 60"/>
          <p:cNvSpPr/>
          <p:nvPr/>
        </p:nvSpPr>
        <p:spPr>
          <a:xfrm rot="16200000">
            <a:off x="7281944" y="8531677"/>
            <a:ext cx="113665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95"/>
              </a:lnSpc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tou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ch_scr</a:t>
            </a: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textbox 62"/>
          <p:cNvSpPr/>
          <p:nvPr/>
        </p:nvSpPr>
        <p:spPr>
          <a:xfrm rot="16200000">
            <a:off x="1866520" y="8566487"/>
            <a:ext cx="1241425" cy="345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35"/>
              </a:lnSpc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bt</a:t>
            </a:r>
            <a:r>
              <a:rPr sz="1800" kern="0" spc="-8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tery_poe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textbox 64"/>
          <p:cNvSpPr/>
          <p:nvPr/>
        </p:nvSpPr>
        <p:spPr>
          <a:xfrm rot="16200000">
            <a:off x="4320361" y="8277339"/>
            <a:ext cx="594359" cy="300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m_dep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textbox 66"/>
          <p:cNvSpPr/>
          <p:nvPr/>
        </p:nvSpPr>
        <p:spPr>
          <a:xfrm rot="16200000">
            <a:off x="4412754" y="8405646"/>
            <a:ext cx="918844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95"/>
              </a:lnSpc>
            </a:pP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mobil_wt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textbox 68"/>
          <p:cNvSpPr/>
          <p:nvPr/>
        </p:nvSpPr>
        <p:spPr>
          <a:xfrm rot="16200000">
            <a:off x="2586087" y="8501463"/>
            <a:ext cx="1052830" cy="295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65"/>
              </a:lnSpc>
              <a:spcBef>
                <a:spcPts val="0"/>
              </a:spcBef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ock_spee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textbox 70"/>
          <p:cNvSpPr/>
          <p:nvPr/>
        </p:nvSpPr>
        <p:spPr>
          <a:xfrm rot="16200000">
            <a:off x="3807490" y="8495922"/>
            <a:ext cx="1036319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  <a:spcBef>
                <a:spcPts val="0"/>
              </a:spcBef>
            </a:pPr>
            <a:r>
              <a:rPr sz="17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int_memory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textbox 72"/>
          <p:cNvSpPr/>
          <p:nvPr/>
        </p:nvSpPr>
        <p:spPr>
          <a:xfrm rot="16200000">
            <a:off x="8024828" y="8471465"/>
            <a:ext cx="1009014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  <a:spcBef>
                <a:spcPts val="0"/>
              </a:spcBef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pice_range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textbox 74"/>
          <p:cNvSpPr/>
          <p:nvPr/>
        </p:nvSpPr>
        <p:spPr>
          <a:xfrm rot="16200000">
            <a:off x="6443541" y="8169558"/>
            <a:ext cx="41275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95"/>
              </a:lnSpc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Sc_h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textbox 76"/>
          <p:cNvSpPr/>
          <p:nvPr/>
        </p:nvSpPr>
        <p:spPr>
          <a:xfrm rot="16200000">
            <a:off x="3153546" y="8505667"/>
            <a:ext cx="54038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800"/>
              </a:lnSpc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dual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_si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textbox 78"/>
          <p:cNvSpPr/>
          <p:nvPr/>
        </p:nvSpPr>
        <p:spPr>
          <a:xfrm rot="16200000">
            <a:off x="7008059" y="8550152"/>
            <a:ext cx="54038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80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talk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eime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textbox 80"/>
          <p:cNvSpPr/>
          <p:nvPr/>
        </p:nvSpPr>
        <p:spPr>
          <a:xfrm rot="16200000">
            <a:off x="7263088" y="8329859"/>
            <a:ext cx="658494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three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_8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textbox 82"/>
          <p:cNvSpPr/>
          <p:nvPr/>
        </p:nvSpPr>
        <p:spPr>
          <a:xfrm rot="16200000">
            <a:off x="2595084" y="8170286"/>
            <a:ext cx="392429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145"/>
              </a:lnSpc>
            </a:pP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blue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4" name="textbox 84"/>
          <p:cNvSpPr/>
          <p:nvPr/>
        </p:nvSpPr>
        <p:spPr>
          <a:xfrm rot="16200000">
            <a:off x="3727020" y="8292645"/>
            <a:ext cx="568325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four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_8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6" name="textbox 86"/>
          <p:cNvSpPr/>
          <p:nvPr/>
        </p:nvSpPr>
        <p:spPr>
          <a:xfrm rot="5400000">
            <a:off x="4929653" y="8299654"/>
            <a:ext cx="563244" cy="219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  <a:spcBef>
                <a:spcPts val="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saJoou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" name="textbox 88"/>
          <p:cNvSpPr/>
          <p:nvPr/>
        </p:nvSpPr>
        <p:spPr>
          <a:xfrm rot="16200000">
            <a:off x="8063803" y="8151927"/>
            <a:ext cx="300990" cy="299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00"/>
              </a:lnSpc>
              <a:spcBef>
                <a:spcPts val="0"/>
              </a:spcBef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wif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6931763" y="8097984"/>
            <a:ext cx="119379" cy="468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35"/>
              </a:lnSpc>
            </a:pPr>
            <a:r>
              <a:rPr sz="1000" kern="0" spc="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kern="0" spc="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10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kern="0" spc="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2" name="textbox 92"/>
          <p:cNvSpPr/>
          <p:nvPr/>
        </p:nvSpPr>
        <p:spPr>
          <a:xfrm rot="16200000">
            <a:off x="6349611" y="8294374"/>
            <a:ext cx="177800" cy="175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80"/>
              </a:lnSpc>
              <a:spcBef>
                <a:spcPts val="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am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 9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3F4E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60395" y="1962131"/>
            <a:ext cx="10109228" cy="6591288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11836358" y="2089012"/>
            <a:ext cx="5077459" cy="667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810" algn="l" rtl="0" eaLnBrk="0">
              <a:lnSpc>
                <a:spcPct val="118000"/>
              </a:lnSpc>
            </a:pPr>
            <a:r>
              <a:rPr sz="2100" b="1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**可视化证据**:</a:t>
            </a:r>
            <a:r>
              <a:rPr sz="2100" kern="0" spc="-5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过绘制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与电池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容</a:t>
            </a:r>
            <a:r>
              <a:rPr sz="2100" kern="0" spc="-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(battery_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power)     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的二维散点图，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我们观察到了经典的“类间重叠”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2740"/>
              </a:lnSpc>
              <a:spcBef>
                <a:spcPts val="520"/>
              </a:spcBef>
            </a:pPr>
            <a:r>
              <a:rPr sz="2200"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630"/>
              </a:spcBef>
            </a:pP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</a:t>
            </a:r>
            <a:r>
              <a:rPr sz="21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*现象剖析**: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80365" indent="-208915" algn="l" rtl="0" eaLnBrk="0">
              <a:lnSpc>
                <a:spcPct val="117000"/>
              </a:lnSpc>
              <a:spcBef>
                <a:spcPts val="530"/>
              </a:spcBef>
            </a:pP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●低价位(0类)和超高价位(3类)在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特征空间中占据相对独立的区域，易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易于分离。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80365" indent="-208915" algn="l" rtl="0" eaLnBrk="0">
              <a:lnSpc>
                <a:spcPct val="115000"/>
              </a:lnSpc>
              <a:spcBef>
                <a:spcPts val="330"/>
              </a:spcBef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●然而，中价位(1类)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和高价位(2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21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类)的样本点在几何空间中</a:t>
            </a:r>
            <a:r>
              <a:rPr sz="2100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紧密交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织，形成了一个难以分割的混合区。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1000"/>
              </a:lnSpc>
              <a:spcBef>
                <a:spcPts val="5"/>
              </a:spcBef>
            </a:pP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</a:t>
            </a:r>
            <a:r>
              <a:rPr sz="2100" b="1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*战略预判*:</a:t>
            </a:r>
            <a:r>
              <a:rPr sz="2100" kern="0" spc="-5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这种分布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形态直接预示了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100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线性模型(如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Linear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sz="21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2100" kern="0" spc="-3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的崩溃。任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何试图划出一条直线边界的尝试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，都必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然导致大量1类与2类样本的混淆。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174739" y="5032293"/>
            <a:ext cx="6012179" cy="3758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425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420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0" algn="l" rtl="0" eaLnBrk="0">
              <a:lnSpc>
                <a:spcPct val="78000"/>
              </a:lnSpc>
              <a:spcBef>
                <a:spcPts val="640"/>
              </a:spcBef>
            </a:pP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0-</a:t>
            </a:r>
            <a:endParaRPr sz="2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2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  <a:spcBef>
                <a:spcPts val="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0                                  200            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400                                600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719527" y="666746"/>
            <a:ext cx="15001239" cy="696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6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标题：关键线索#2:“夹心饼干”困境——线性模型的噩梦</a:t>
            </a:r>
            <a:endParaRPr sz="4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8591563" y="6636183"/>
            <a:ext cx="2602229" cy="2155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5915" algn="l" rtl="0" eaLnBrk="0">
              <a:lnSpc>
                <a:spcPct val="94000"/>
              </a:lnSpc>
            </a:pP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线性不可分区域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9215" algn="l" rtl="0" eaLnBrk="0">
              <a:lnSpc>
                <a:spcPts val="2930"/>
              </a:lnSpc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(Linearly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Inseparab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16915" algn="l" rtl="0" eaLnBrk="0">
              <a:lnSpc>
                <a:spcPct val="83000"/>
              </a:lnSpc>
              <a:spcBef>
                <a:spcPts val="475"/>
              </a:spcBef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Region)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0"/>
              </a:spcBef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800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1060452" y="2631933"/>
            <a:ext cx="360679" cy="996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0"/>
              </a:spcBef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8" name="textbox 108"/>
          <p:cNvSpPr/>
          <p:nvPr/>
        </p:nvSpPr>
        <p:spPr>
          <a:xfrm rot="16200000">
            <a:off x="-79612" y="5484759"/>
            <a:ext cx="2154554" cy="160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80"/>
              </a:lnSpc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</a:t>
            </a:r>
            <a:r>
              <a:rPr sz="800" kern="0" spc="3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池</a:t>
            </a:r>
            <a:r>
              <a:rPr sz="800" kern="0" spc="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容</a:t>
            </a:r>
            <a:r>
              <a:rPr sz="800" kern="0" spc="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  (</a:t>
            </a:r>
            <a:r>
              <a:rPr sz="800" kern="0" spc="2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sz="800" kern="0" spc="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800" kern="0" spc="3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sz="800" kern="0" spc="3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800" kern="0" spc="3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800" kern="0" spc="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sz="800" kern="0" spc="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</a:t>
            </a:r>
            <a:r>
              <a:rPr sz="800" kern="0" spc="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16097336" y="9476351"/>
            <a:ext cx="1263650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6000691" y="8860028"/>
            <a:ext cx="488315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</a:t>
            </a:r>
            <a:endParaRPr sz="1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4" name="textbox 114"/>
          <p:cNvSpPr/>
          <p:nvPr/>
        </p:nvSpPr>
        <p:spPr>
          <a:xfrm rot="16200000">
            <a:off x="744166" y="4070582"/>
            <a:ext cx="50673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4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20"/>
              </a:lnSpc>
              <a:spcBef>
                <a:spcPts val="0"/>
              </a:spcBef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sz="900" kern="0" spc="2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900" kern="0" spc="2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1060452" y="4238545"/>
            <a:ext cx="360679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8" name="textbox 118"/>
          <p:cNvSpPr/>
          <p:nvPr/>
        </p:nvSpPr>
        <p:spPr>
          <a:xfrm rot="16200000">
            <a:off x="958650" y="3723673"/>
            <a:ext cx="78105" cy="175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 12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3F4E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35056" y="2997183"/>
            <a:ext cx="14478027" cy="2368564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1052144" y="887208"/>
            <a:ext cx="12346305" cy="1630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5000"/>
              </a:lnSpc>
            </a:pPr>
            <a:r>
              <a:rPr sz="46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标题：调查准备：标准化、特征筛选</a:t>
            </a:r>
            <a:r>
              <a:rPr sz="46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与交叉验证</a:t>
            </a:r>
            <a:endParaRPr sz="4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</a:pPr>
            <a:r>
              <a:rPr sz="24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处理流程：</a:t>
            </a:r>
            <a:r>
              <a:rPr sz="2400" kern="0" spc="-5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为应对数据挑战并确保评估</a:t>
            </a:r>
            <a:r>
              <a:rPr sz="24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的可靠性，我们实施了严格的三步工程流程。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6610401" y="4778967"/>
            <a:ext cx="4269740" cy="3806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4365" algn="l" rtl="0" eaLnBrk="0">
              <a:lnSpc>
                <a:spcPct val="97000"/>
              </a:lnSpc>
              <a:spcBef>
                <a:spcPts val="0"/>
              </a:spcBef>
            </a:pPr>
            <a:r>
              <a:rPr sz="5000" kern="0" spc="-10" dirty="0">
                <a:solidFill>
                  <a:srgbClr val="306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爪</a:t>
            </a:r>
            <a:endParaRPr sz="5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27965" algn="l" rtl="0" eaLnBrk="0">
              <a:lnSpc>
                <a:spcPct val="95000"/>
              </a:lnSpc>
              <a:spcBef>
                <a:spcPts val="1745"/>
              </a:spcBef>
            </a:pPr>
            <a:r>
              <a:rPr sz="29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2.ANOVAF</a:t>
            </a:r>
            <a:r>
              <a:rPr sz="2900" b="1" kern="0" spc="2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值特征</a:t>
            </a:r>
            <a:r>
              <a:rPr sz="29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选择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670"/>
              </a:spcBef>
            </a:pPr>
            <a:r>
              <a:rPr sz="22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使用`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SelectKBest</a:t>
            </a:r>
            <a:r>
              <a:rPr sz="22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`</a:t>
            </a:r>
            <a:r>
              <a:rPr sz="22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算法筛选出与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95"/>
              </a:lnSpc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目标变量最相关的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Top</a:t>
            </a:r>
            <a:r>
              <a:rPr sz="2200" kern="0" spc="8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145" algn="l" rtl="0" eaLnBrk="0">
              <a:lnSpc>
                <a:spcPct val="86000"/>
              </a:lnSpc>
              <a:spcBef>
                <a:spcPts val="1570"/>
              </a:spcBef>
            </a:pP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效果：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排除噪声特征干扰，使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KNN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3805"/>
              </a:lnSpc>
            </a:pP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和随机森林的准确率提升了</a:t>
            </a:r>
            <a:r>
              <a:rPr sz="2200" b="1" kern="0" spc="100" dirty="0">
                <a:solidFill>
                  <a:srgbClr val="207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6%</a:t>
            </a:r>
            <a:endParaRPr sz="2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8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8000"/>
              </a:lnSpc>
              <a:spcBef>
                <a:spcPts val="5"/>
              </a:spcBef>
            </a:pPr>
            <a:r>
              <a:rPr sz="1800" b="1" kern="0" spc="-80" dirty="0">
                <a:solidFill>
                  <a:srgbClr val="2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</a:t>
            </a:r>
            <a:r>
              <a:rPr sz="1800" kern="0" spc="370" dirty="0">
                <a:solidFill>
                  <a:srgbClr val="2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800" b="1" kern="0" spc="-80" dirty="0">
                <a:solidFill>
                  <a:srgbClr val="2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</a:t>
            </a:r>
            <a:r>
              <a:rPr sz="18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990551" y="5691712"/>
            <a:ext cx="4709159" cy="2918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43915" algn="l" rtl="0" eaLnBrk="0">
              <a:lnSpc>
                <a:spcPct val="98000"/>
              </a:lnSpc>
            </a:pPr>
            <a:r>
              <a:rPr sz="3400" b="1" kern="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1.Z-Score</a:t>
            </a:r>
            <a:r>
              <a:rPr sz="3400" b="1" kern="0" spc="-4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标准</a:t>
            </a:r>
            <a:r>
              <a:rPr sz="3400" b="1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800"/>
              </a:spcBef>
            </a:pP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对所有连续型变量进行处理，使其均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80"/>
              </a:lnSpc>
            </a:pP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值为0,标准差为1</a:t>
            </a:r>
            <a:r>
              <a:rPr sz="22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670"/>
              </a:spcBef>
            </a:pPr>
            <a:r>
              <a:rPr sz="22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目的：消除量纲影响，确保对距离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7000"/>
              </a:lnSpc>
              <a:spcBef>
                <a:spcPts val="135"/>
              </a:spcBef>
            </a:pP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敏感的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KNN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算法能够公平对待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所有特征。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12064934" y="5755157"/>
            <a:ext cx="4377054" cy="2863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9480" algn="l" rtl="0" eaLnBrk="0">
              <a:lnSpc>
                <a:spcPct val="96000"/>
              </a:lnSpc>
            </a:pPr>
            <a:r>
              <a:rPr sz="29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3.5折交叉验证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670"/>
              </a:spcBef>
            </a:pP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将数据集分为5份，</a:t>
            </a: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轮流作为测试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350"/>
              </a:lnSpc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集进行评估，取平均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结果。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665"/>
              </a:spcBef>
            </a:pPr>
            <a:r>
              <a:rPr sz="22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目的：保证模型评估结果的稳定与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345"/>
              </a:lnSpc>
            </a:pPr>
            <a:r>
              <a:rPr sz="22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可靠，避免单次划分带来的偶然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800"/>
              </a:lnSpc>
              <a:spcBef>
                <a:spcPts val="5"/>
              </a:spcBef>
            </a:pPr>
            <a:r>
              <a:rPr sz="2200"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2540077" y="4331566"/>
            <a:ext cx="1043939" cy="459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415"/>
              </a:lnSpc>
            </a:pPr>
            <a:r>
              <a:rPr sz="2300" kern="0" spc="57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16097336" y="948269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 136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0F1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" name="textbox 138"/>
          <p:cNvSpPr/>
          <p:nvPr/>
        </p:nvSpPr>
        <p:spPr>
          <a:xfrm>
            <a:off x="9099567" y="2417212"/>
            <a:ext cx="7748905" cy="6590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3000"/>
              </a:lnSpc>
            </a:pP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作案手法</a:t>
            </a:r>
            <a:r>
              <a:rPr sz="2400" kern="0" spc="-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Modus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Operandi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2400" b="1" kern="0" spc="4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sz="2400" kern="0" spc="4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试图在特征空间中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6000"/>
              </a:lnSpc>
              <a:spcBef>
                <a:spcPts val="65"/>
              </a:spcBef>
            </a:pP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寻找一个“间隔最大化”的超平面，以最宽的“街道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将数据点分开。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5000"/>
              </a:lnSpc>
              <a:spcBef>
                <a:spcPts val="695"/>
              </a:spcBef>
            </a:pP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核心假设：</a:t>
            </a:r>
            <a:r>
              <a:rPr sz="2300" kern="0" spc="-6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数据是线性可分的。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6000"/>
              </a:lnSpc>
              <a:spcBef>
                <a:spcPts val="700"/>
              </a:spcBef>
            </a:pPr>
            <a:r>
              <a:rPr sz="2300" b="1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实施策略：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88315" indent="-260350" algn="l" rtl="0" eaLnBrk="0">
              <a:lnSpc>
                <a:spcPct val="98000"/>
              </a:lnSpc>
              <a:spcBef>
                <a:spcPts val="1100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400" kern="0" spc="-5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核函数：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特意选用</a:t>
            </a:r>
            <a:r>
              <a:rPr sz="2400" b="1" kern="0" spc="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线性核</a:t>
            </a:r>
            <a:r>
              <a:rPr sz="2400" kern="0" spc="-38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b="1" kern="0" spc="0" dirty="0">
                <a:solidFill>
                  <a:srgbClr val="A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(Linear</a:t>
            </a:r>
            <a:r>
              <a:rPr sz="2400" kern="0" spc="1200" dirty="0">
                <a:solidFill>
                  <a:srgbClr val="A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0" dirty="0">
                <a:solidFill>
                  <a:srgbClr val="A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Kernel)</a:t>
            </a:r>
            <a:r>
              <a:rPr sz="2400" kern="0" spc="-710" dirty="0">
                <a:solidFill>
                  <a:srgbClr val="A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验证数据集非线性结构的基准</a:t>
            </a:r>
            <a:r>
              <a:rPr sz="24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(Baseline)。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81965" indent="-247015" algn="l" rtl="0" eaLnBrk="0">
              <a:lnSpc>
                <a:spcPct val="108000"/>
              </a:lnSpc>
              <a:spcBef>
                <a:spcPts val="520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400" kern="0" spc="-5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多分类：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采用“一对多</a:t>
            </a:r>
            <a:r>
              <a:rPr sz="2400" kern="0" spc="-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(One-vs-Rest)”</a:t>
            </a:r>
            <a:r>
              <a:rPr sz="2400" kern="0" spc="4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策略，训练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4个二分类器。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6000"/>
              </a:lnSpc>
              <a:spcBef>
                <a:spcPts val="725"/>
              </a:spcBef>
            </a:pP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预期风险：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EDA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阶段的“夹心层”重叠现象强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烈暗示线性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9000"/>
              </a:lnSpc>
              <a:spcBef>
                <a:spcPts val="25"/>
              </a:spcBef>
            </a:pP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假设无法成立。因此，我们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预测该模型将难以处理中间类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别的混淆。文献指出，若使用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RBF</a:t>
            </a:r>
            <a:r>
              <a:rPr sz="2400" kern="0" spc="-3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核，准确率可达95%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4000"/>
              </a:lnSpc>
              <a:spcBef>
                <a:spcPts val="595"/>
              </a:spcBef>
            </a:pP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以上，这反证了线性核是检验数据分布特性的有效工具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1168391" y="2266931"/>
            <a:ext cx="7270731" cy="6584948"/>
            <a:chOff x="0" y="0"/>
            <a:chExt cx="7270731" cy="6584948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7270731" cy="6584948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374725" y="330498"/>
              <a:ext cx="5624195" cy="61480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86250" algn="l" rtl="0" eaLnBrk="0">
                <a:lnSpc>
                  <a:spcPct val="83000"/>
                </a:lnSpc>
              </a:pP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Optimal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2000"/>
                </a:lnSpc>
                <a:spcBef>
                  <a:spcPts val="410"/>
                </a:spcBef>
              </a:pPr>
              <a:r>
                <a:rPr sz="2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Hyperplane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4615" algn="l" rtl="0" eaLnBrk="0">
                <a:lnSpc>
                  <a:spcPct val="78000"/>
                </a:lnSpc>
                <a:spcBef>
                  <a:spcPts val="695"/>
                </a:spcBef>
              </a:pPr>
              <a:r>
                <a:rPr sz="23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Margins</a:t>
              </a:r>
              <a:endParaRPr sz="2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2960"/>
                </a:lnSpc>
              </a:pPr>
              <a:r>
                <a:rPr sz="2300" kern="0" spc="1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间隔边界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44" name="textbox 144"/>
          <p:cNvSpPr/>
          <p:nvPr/>
        </p:nvSpPr>
        <p:spPr>
          <a:xfrm>
            <a:off x="1329640" y="1086088"/>
            <a:ext cx="13916025" cy="725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800" b="1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标题：嫌疑人#1:线性支持向量机</a:t>
            </a:r>
            <a:r>
              <a:rPr sz="4800" kern="0" spc="-3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800" b="1" kern="0" spc="2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Linear</a:t>
            </a:r>
            <a:r>
              <a:rPr sz="4800" kern="0" spc="1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sz="4800" b="1" kern="0" spc="2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4235520" y="7633231"/>
            <a:ext cx="1123314" cy="672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880" indent="-43815" algn="l" rtl="0" eaLnBrk="0">
              <a:lnSpc>
                <a:spcPct val="90000"/>
              </a:lnSpc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Support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Vectors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 15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1F2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textbox 152"/>
          <p:cNvSpPr/>
          <p:nvPr/>
        </p:nvSpPr>
        <p:spPr>
          <a:xfrm>
            <a:off x="7410414" y="2217830"/>
            <a:ext cx="9391650" cy="6924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3000"/>
              </a:lnSpc>
            </a:pP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作案手法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Modus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Operandi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):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1100"/>
              </a:spcBef>
            </a:pP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一种“懒惰学习”算法，不建立全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局模型，而是根据待测样本最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800"/>
              </a:lnSpc>
            </a:pP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近的</a:t>
            </a: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个邻居的类别进行投票，遵循“少数服从多数”原则。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7000"/>
              </a:lnSpc>
              <a:spcBef>
                <a:spcPts val="820"/>
              </a:spcBef>
            </a:pPr>
            <a:r>
              <a:rPr sz="27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关键参数：</a:t>
            </a:r>
            <a:r>
              <a:rPr sz="2700" b="1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</a:t>
            </a:r>
            <a:r>
              <a:rPr sz="27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值的确定：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2000"/>
              </a:lnSpc>
              <a:spcBef>
                <a:spcPts val="285"/>
              </a:spcBef>
            </a:pP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值选择是平衡过拟合与欠拟合的关键。我们设计了“两阶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段搜索”策略精确定位最优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值：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41350" indent="-628650" algn="l" rtl="0" eaLnBrk="0">
              <a:lnSpc>
                <a:spcPct val="110000"/>
              </a:lnSpc>
              <a:spcBef>
                <a:spcPts val="870"/>
              </a:spcBef>
            </a:pP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2700" kern="0" spc="-7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sz="2700" kern="0" spc="7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粗略搜索：</a:t>
            </a:r>
            <a:r>
              <a:rPr sz="2700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在大跨度范围(1,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5,10</a:t>
            </a:r>
            <a:r>
              <a:rPr sz="2700" kern="0" spc="-8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sz="2700" kern="0" spc="-7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…200)内寻找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准确率峰值区域。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40715" indent="-623570" algn="l" rtl="0" eaLnBrk="0">
              <a:lnSpc>
                <a:spcPct val="112000"/>
              </a:lnSpc>
              <a:spcBef>
                <a:spcPts val="710"/>
              </a:spcBef>
            </a:pP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sz="2700" kern="0" spc="9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精细搜索：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在峰值区域邻域内(如10±5)逐一遍历，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锁定全局最优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6000"/>
              </a:lnSpc>
              <a:spcBef>
                <a:spcPts val="815"/>
              </a:spcBef>
            </a:pP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距离度量：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采用欧几里得距离。由于数据已标准化，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所有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915"/>
              </a:lnSpc>
            </a:pP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特征在距离计算中权重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均等。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958864" y="5454603"/>
            <a:ext cx="5384808" cy="3714756"/>
            <a:chOff x="0" y="0"/>
            <a:chExt cx="5384808" cy="3714756"/>
          </a:xfrm>
        </p:grpSpPr>
        <p:pic>
          <p:nvPicPr>
            <p:cNvPr id="154" name="picture 1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5384808" cy="3714756"/>
            </a:xfrm>
            <a:prstGeom prst="rect">
              <a:avLst/>
            </a:prstGeom>
          </p:spPr>
        </p:pic>
        <p:sp>
          <p:nvSpPr>
            <p:cNvPr id="156" name="textbox 156"/>
            <p:cNvSpPr/>
            <p:nvPr/>
          </p:nvSpPr>
          <p:spPr>
            <a:xfrm>
              <a:off x="939873" y="102115"/>
              <a:ext cx="3496309" cy="3584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4000"/>
                </a:lnSpc>
              </a:pPr>
              <a:r>
                <a:rPr sz="2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</a:t>
              </a:r>
              <a:r>
                <a:rPr sz="21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值与错误率</a:t>
              </a:r>
              <a:r>
                <a:rPr sz="21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(Elbow</a:t>
              </a:r>
              <a:r>
                <a:rPr sz="2100" kern="0" spc="2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2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Curve)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31265" algn="l" rtl="0" eaLnBrk="0">
                <a:lnSpc>
                  <a:spcPct val="99000"/>
                </a:lnSpc>
                <a:spcBef>
                  <a:spcPts val="540"/>
                </a:spcBef>
              </a:pP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最优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值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20215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2100" kern="0" spc="-1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</a:t>
              </a:r>
              <a:r>
                <a:rPr sz="2100" kern="0" spc="-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值</a:t>
              </a:r>
              <a:endParaRPr sz="2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3251" y="1930432"/>
            <a:ext cx="5353177" cy="3333682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1070077" y="977779"/>
            <a:ext cx="10955655" cy="796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标题：嫌疑人#2:</a:t>
            </a:r>
            <a:r>
              <a:rPr sz="5300" kern="0" spc="-8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K-</a:t>
            </a: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近邻算法</a:t>
            </a:r>
            <a:r>
              <a:rPr sz="53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KNN</a:t>
            </a: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5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2" name="textbox 162"/>
          <p:cNvSpPr/>
          <p:nvPr/>
        </p:nvSpPr>
        <p:spPr>
          <a:xfrm rot="16200000">
            <a:off x="846651" y="7190828"/>
            <a:ext cx="709930" cy="36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410"/>
              </a:lnSpc>
              <a:spcBef>
                <a:spcPts val="5"/>
              </a:spcBef>
            </a:pPr>
            <a:r>
              <a:rPr sz="19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错误</a:t>
            </a: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率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 166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0F1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8667755" y="1671725"/>
            <a:ext cx="8700769" cy="8002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1000"/>
              </a:lnSpc>
            </a:pP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作案手法</a:t>
            </a:r>
            <a:r>
              <a:rPr sz="2700" kern="0" spc="-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(Modus   Operandi)</a:t>
            </a:r>
            <a:r>
              <a:rPr sz="2700" b="1" kern="0" spc="3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sz="2700" kern="0" spc="5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集体智慧的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体现。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6000"/>
              </a:lnSpc>
              <a:spcBef>
                <a:spcPts val="40"/>
              </a:spcBef>
            </a:pP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通过构建多棵决策树(本例中为20棵，最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大深度10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),并对它们的结果进行投票来得出最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终预测。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3000"/>
              </a:lnSpc>
              <a:spcBef>
                <a:spcPts val="815"/>
              </a:spcBef>
            </a:pP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天生优势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Natural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Strengths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):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1700"/>
              </a:spcBef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700" kern="0" spc="-5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驾驭非线性：决策树通过一系列垂直于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坐标轴的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16865" algn="l" rtl="0" eaLnBrk="0">
              <a:lnSpc>
                <a:spcPts val="3750"/>
              </a:lnSpc>
              <a:spcBef>
                <a:spcPts val="675"/>
              </a:spcBef>
            </a:pP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“矩形切割”(如`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&gt;2000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Battery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6865" algn="l" rtl="0" eaLnBrk="0">
              <a:lnSpc>
                <a:spcPct val="111000"/>
              </a:lnSpc>
              <a:spcBef>
                <a:spcPts val="525"/>
              </a:spcBef>
            </a:pPr>
            <a:r>
              <a:rPr sz="27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1500),天然能够逼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近复杂的非线性决策边界，完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美契合本数据集的“阶梯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状”价格分布。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16865" indent="-304165" algn="l" rtl="0" eaLnBrk="0">
              <a:lnSpc>
                <a:spcPct val="109000"/>
              </a:lnSpc>
              <a:spcBef>
                <a:spcPts val="1755"/>
              </a:spcBef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700" kern="0" spc="-5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无需标准化：树模型关注的是特征数值的排序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和分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裂点，而非绝对距离，因此对特征尺度不敏感。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6865" indent="-304165" algn="l" rtl="0" eaLnBrk="0">
              <a:lnSpc>
                <a:spcPct val="112000"/>
              </a:lnSpc>
              <a:spcBef>
                <a:spcPts val="810"/>
              </a:spcBef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700" kern="0" spc="-4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抗噪与稳定性：通过样本随机性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(Bootstrap)</a:t>
            </a:r>
            <a:r>
              <a:rPr sz="2700" kern="0" spc="7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特征随机性构建的多样化树群，有效降低了方差，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使模型比单棵决策树更难过拟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787432" y="1504979"/>
            <a:ext cx="7150153" cy="7537387"/>
            <a:chOff x="0" y="0"/>
            <a:chExt cx="7150153" cy="7537387"/>
          </a:xfrm>
        </p:grpSpPr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7150153" cy="7537387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-12700" y="-12700"/>
              <a:ext cx="7176134" cy="7571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136900" algn="l" rtl="0" eaLnBrk="0">
                <a:lnSpc>
                  <a:spcPct val="82000"/>
                </a:lnSpc>
                <a:spcBef>
                  <a:spcPts val="5"/>
                </a:spcBef>
              </a:pPr>
              <a:r>
                <a:rPr sz="23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Voting</a:t>
              </a:r>
              <a:endParaRPr sz="2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74" name="textbox 174"/>
          <p:cNvSpPr/>
          <p:nvPr/>
        </p:nvSpPr>
        <p:spPr>
          <a:xfrm>
            <a:off x="629885" y="363101"/>
            <a:ext cx="11164569" cy="603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4100" b="1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标题：嫌疑人#3:随机森林</a:t>
            </a:r>
            <a:r>
              <a:rPr sz="4100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100" b="1" kern="0" spc="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41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Random</a:t>
            </a:r>
            <a:r>
              <a:rPr sz="4100" b="1" kern="0" spc="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4100" b="1" kern="0" spc="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41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Forest</a:t>
            </a:r>
            <a:r>
              <a:rPr sz="4100" b="1" kern="0" spc="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4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1414503" y="7832581"/>
            <a:ext cx="14584044" cy="1307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6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**核心结论*:</a:t>
            </a:r>
            <a:r>
              <a:rPr sz="2600" kern="0" spc="-4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5折交叉验证的平均</a:t>
            </a:r>
            <a:r>
              <a:rPr sz="26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准确率，揭示了三种算法间巨大的性能鸿沟。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794385" indent="-564515" algn="l" rtl="0" eaLnBrk="0">
              <a:lnSpc>
                <a:spcPct val="106000"/>
              </a:lnSpc>
              <a:spcBef>
                <a:spcPts val="610"/>
              </a:spcBef>
            </a:pP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·*</a:t>
            </a: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*性能总结**</a:t>
            </a:r>
            <a:r>
              <a:rPr sz="2600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:集成学习方法&gt;基于距离的方法&gt;线性方法。这个结果有力地证明，算法的</a:t>
            </a: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选择必须与数据的内在结构高度匹配。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1062242" y="740773"/>
            <a:ext cx="9930765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4400" b="1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标题：最终裁决：性能的阶梯</a:t>
            </a:r>
            <a:endParaRPr sz="4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  <a:spcBef>
                <a:spcPts val="0"/>
              </a:spcBef>
            </a:pPr>
            <a:r>
              <a:rPr sz="32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5折交叉验证平均准确率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12625583" y="3143195"/>
            <a:ext cx="1296669" cy="4286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535"/>
              </a:lnSpc>
            </a:pPr>
            <a:r>
              <a:rPr sz="4400" b="1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~89%</a:t>
            </a:r>
            <a:endParaRPr sz="4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  <a:spcBef>
                <a:spcPts val="0"/>
              </a:spcBef>
            </a:pP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陡机森林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8498115" y="3765475"/>
            <a:ext cx="1140460" cy="3655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535"/>
              </a:lnSpc>
            </a:pP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~75%</a:t>
            </a:r>
            <a:endParaRPr sz="4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5"/>
              </a:spcBef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K-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近邻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4389520" y="4184587"/>
            <a:ext cx="1134110" cy="3229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535"/>
              </a:lnSpc>
            </a:pPr>
            <a:r>
              <a:rPr sz="4400" b="1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~65%</a:t>
            </a:r>
            <a:endParaRPr sz="4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2545" algn="l" rtl="0" eaLnBrk="0">
              <a:lnSpc>
                <a:spcPct val="95000"/>
              </a:lnSpc>
              <a:spcBef>
                <a:spcPts val="5"/>
              </a:spcBef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1993977" y="2357104"/>
            <a:ext cx="673100" cy="4752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</a:pP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100%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0015" algn="l" rtl="0" eaLnBrk="0">
              <a:lnSpc>
                <a:spcPct val="77000"/>
              </a:lnSpc>
              <a:spcBef>
                <a:spcPts val="690"/>
              </a:spcBef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80%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0015" algn="l" rtl="0" eaLnBrk="0">
              <a:lnSpc>
                <a:spcPct val="77000"/>
              </a:lnSpc>
              <a:spcBef>
                <a:spcPts val="700"/>
              </a:spcBef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60%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0015" algn="l" rtl="0" eaLnBrk="0">
              <a:lnSpc>
                <a:spcPct val="77000"/>
              </a:lnSpc>
              <a:spcBef>
                <a:spcPts val="695"/>
              </a:spcBef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40%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0015" algn="l" rtl="0" eaLnBrk="0">
              <a:lnSpc>
                <a:spcPct val="77000"/>
              </a:lnSpc>
              <a:spcBef>
                <a:spcPts val="690"/>
              </a:spcBef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20%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9715" algn="l" rtl="0" eaLnBrk="0">
              <a:lnSpc>
                <a:spcPct val="79000"/>
              </a:lnSpc>
              <a:spcBef>
                <a:spcPts val="0"/>
              </a:spcBef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0%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0" name="textbox 190"/>
          <p:cNvSpPr/>
          <p:nvPr/>
        </p:nvSpPr>
        <p:spPr>
          <a:xfrm rot="16200000">
            <a:off x="718867" y="4644203"/>
            <a:ext cx="2426335" cy="135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率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 19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0F2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96" name="picture 1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922000" y="3289304"/>
            <a:ext cx="3956036" cy="3911582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47827" y="3282964"/>
            <a:ext cx="5467291" cy="3886224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952455" y="919005"/>
            <a:ext cx="15360650" cy="803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5000"/>
              </a:lnSpc>
            </a:pPr>
            <a:r>
              <a:rPr sz="46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标题：深度剖析：混</a:t>
            </a:r>
            <a:r>
              <a:rPr sz="46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淆矩阵下的败因与胜道</a:t>
            </a:r>
            <a:endParaRPr sz="4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7000"/>
              </a:lnSpc>
              <a:spcBef>
                <a:spcPts val="840"/>
              </a:spcBef>
            </a:pPr>
            <a:r>
              <a:rPr sz="28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核心洞察：准确率掩盖了错误的“分布模式”。混淆矩阵揭示了模型决策逻辑</a:t>
            </a:r>
            <a:r>
              <a:rPr sz="28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的本质区别</a:t>
            </a:r>
            <a:r>
              <a:rPr sz="28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7000"/>
              </a:lnSpc>
              <a:spcBef>
                <a:spcPts val="845"/>
              </a:spcBef>
            </a:pPr>
            <a:r>
              <a:rPr sz="28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左侧：</a:t>
            </a:r>
            <a:r>
              <a:rPr sz="2800" b="1" kern="0" spc="6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</a:t>
            </a:r>
            <a:r>
              <a:rPr sz="2800" b="1" kern="0" spc="0" dirty="0">
                <a:solidFill>
                  <a:srgbClr val="2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SVM</a:t>
            </a:r>
            <a:r>
              <a:rPr sz="2800" b="1" kern="0" spc="6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的“两极化”偏见</a:t>
            </a:r>
            <a:r>
              <a:rPr sz="2800" kern="0" spc="2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</a:t>
            </a:r>
            <a:r>
              <a:rPr sz="2800" kern="0" spc="1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800" b="1" kern="0" spc="6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右侧：随机森林的“</a:t>
            </a:r>
            <a:r>
              <a:rPr sz="2800" b="1" kern="0" spc="50" dirty="0">
                <a:solidFill>
                  <a:srgbClr val="2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序数”逻辑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6550" algn="l" rtl="0" eaLnBrk="0">
              <a:lnSpc>
                <a:spcPct val="82000"/>
              </a:lnSpc>
              <a:spcBef>
                <a:spcPts val="705"/>
              </a:spcBef>
            </a:pPr>
            <a:r>
              <a:rPr sz="1600" kern="0" spc="-10" baseline="20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◎-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2100" kern="0" spc="-10" baseline="2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0.52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</a:t>
            </a:r>
            <a:r>
              <a:rPr sz="2600" kern="0" spc="-10" baseline="-10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0.24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</a:t>
            </a:r>
            <a:r>
              <a:rPr sz="2000" kern="0" spc="-10" baseline="26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0.14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900" kern="0" spc="-20" baseline="3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0.28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                                                                      </a:t>
            </a:r>
            <a:r>
              <a:rPr sz="2400" kern="0" spc="-20" baseline="9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3600" kern="0" spc="-20" baseline="-7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1.00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r>
              <a:rPr sz="2600" kern="0" spc="-20" baseline="-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0.11</a:t>
            </a:r>
            <a:endParaRPr sz="2600" baseline="-8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63750" algn="l" rtl="0" eaLnBrk="0">
              <a:lnSpc>
                <a:spcPct val="82000"/>
              </a:lnSpc>
              <a:spcBef>
                <a:spcPts val="710"/>
              </a:spcBef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0.32       </a:t>
            </a:r>
            <a:r>
              <a:rPr sz="2000" kern="0" spc="-10" baseline="2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0.99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-0.18           </a:t>
            </a:r>
            <a:r>
              <a:rPr sz="3600" kern="0" spc="-10" baseline="-9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0.21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                              </a:t>
            </a:r>
            <a:r>
              <a:rPr sz="1300" kern="0" spc="-10" baseline="40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H-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0.91              </a:t>
            </a:r>
            <a:r>
              <a:rPr sz="2000" kern="0" spc="-10" baseline="2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1.90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1.22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14550" algn="l" rtl="0" eaLnBrk="0">
              <a:lnSpc>
                <a:spcPct val="99000"/>
              </a:lnSpc>
              <a:spcBef>
                <a:spcPts val="630"/>
              </a:spcBef>
            </a:pPr>
            <a:r>
              <a:rPr sz="2600" kern="0" spc="-10" baseline="-14000" dirty="0">
                <a:solidFill>
                  <a:srgbClr val="30201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0.16</a:t>
            </a:r>
            <a:r>
              <a:rPr sz="1600" kern="0" spc="20" dirty="0">
                <a:solidFill>
                  <a:srgbClr val="30201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-0.16 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</a:t>
            </a:r>
            <a:r>
              <a:rPr sz="2600" kern="0" spc="-20" baseline="16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0.58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r>
              <a:rPr sz="3200" kern="0" spc="-20" baseline="-7000" dirty="0">
                <a:solidFill>
                  <a:srgbClr val="40302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3200" kern="0" spc="-20" baseline="-7000" dirty="0">
                <a:solidFill>
                  <a:srgbClr val="40201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0.34</a:t>
            </a:r>
            <a:r>
              <a:rPr sz="2000" kern="0" spc="-20" dirty="0">
                <a:solidFill>
                  <a:srgbClr val="40201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                                         </a:t>
            </a:r>
            <a:r>
              <a:rPr sz="1600" kern="0" spc="-20" baseline="26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N-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1.21          </a:t>
            </a:r>
            <a:r>
              <a:rPr sz="2600" kern="0" spc="-20" baseline="16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1.50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0.81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6550" algn="l" rtl="0" eaLnBrk="0">
              <a:lnSpc>
                <a:spcPts val="2370"/>
              </a:lnSpc>
              <a:spcBef>
                <a:spcPts val="515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m-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900" kern="0" spc="-10" baseline="2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0.18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</a:t>
            </a:r>
            <a:r>
              <a:rPr sz="2600" kern="0" spc="-10" baseline="1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0.18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</a:t>
            </a:r>
            <a:r>
              <a:rPr sz="2600" kern="0" spc="-10" baseline="1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0.32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</a:t>
            </a:r>
            <a:r>
              <a:rPr sz="2600" kern="0" spc="-10" baseline="1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0.85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                                                              </a:t>
            </a:r>
            <a:r>
              <a:rPr sz="2100" kern="0" spc="-10" baseline="20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m-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</a:t>
            </a:r>
            <a:r>
              <a:rPr sz="2100" kern="0" spc="-2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1.22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</a:t>
            </a:r>
            <a:r>
              <a:rPr sz="2600" kern="0" spc="-20" baseline="-16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1.07</a:t>
            </a:r>
            <a:endParaRPr sz="2600" baseline="-16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63900" indent="-1016000" algn="l" rtl="0" eaLnBrk="0">
              <a:lnSpc>
                <a:spcPct val="71000"/>
              </a:lnSpc>
              <a:spcBef>
                <a:spcPts val="825"/>
              </a:spcBef>
            </a:pPr>
            <a:r>
              <a:rPr sz="1500" kern="0" spc="-40" baseline="2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</a:t>
            </a:r>
            <a:r>
              <a:rPr sz="1500" kern="0" spc="-40" baseline="1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500" kern="0" spc="-40" baseline="6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</a:t>
            </a:r>
            <a:r>
              <a:rPr sz="3200" kern="0" spc="-3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</a:t>
            </a:r>
            <a:r>
              <a:rPr sz="3100" kern="0" spc="-30" baseline="7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</a:t>
            </a:r>
            <a:r>
              <a:rPr sz="2500" kern="0" spc="-30" baseline="10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2100" kern="0" spc="-40" baseline="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sz="4200" kern="0" spc="-40" baseline="-4000" dirty="0">
                <a:solidFill>
                  <a:srgbClr val="604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2600" kern="0" spc="0" dirty="0">
                <a:solidFill>
                  <a:srgbClr val="604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Predicted                                                 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                                                                    Predicted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1205"/>
              </a:spcBef>
            </a:pP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●矩阵中心区域(类别1和2)颜色黯淡且数值分散，表明模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●清晰的对角线主导模式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，说明分类高度准确。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40665" algn="l" rtl="0" eaLnBrk="0">
              <a:lnSpc>
                <a:spcPct val="92000"/>
              </a:lnSpc>
              <a:spcBef>
                <a:spcPts val="680"/>
              </a:spcBef>
            </a:pP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型在此处严重混淆。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             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●绝大多数错误发生在相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邻类别间，极少出现跨级误判。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790"/>
              </a:spcBef>
            </a:pP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●大量本应是1类和2类的样本被错误预测为0类或3类，证实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100" kern="0" spc="-8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结论：随机森林成功学习到了价格等级的序数</a:t>
            </a:r>
            <a:r>
              <a:rPr sz="2100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Ordinal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47650" algn="l" rtl="0" eaLnBrk="0">
              <a:lnSpc>
                <a:spcPts val="3010"/>
              </a:lnSpc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了线性超平面在“夹心层”的崩溃。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特征，其错误模式更符合业务逻辑。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16097336" y="9476351"/>
            <a:ext cx="1263650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4" name="textbox 204"/>
          <p:cNvSpPr/>
          <p:nvPr/>
        </p:nvSpPr>
        <p:spPr>
          <a:xfrm rot="16200000">
            <a:off x="2149461" y="4979552"/>
            <a:ext cx="544194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0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Actual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6" name="textbox 206"/>
          <p:cNvSpPr/>
          <p:nvPr/>
        </p:nvSpPr>
        <p:spPr>
          <a:xfrm rot="16200000">
            <a:off x="10652195" y="4979552"/>
            <a:ext cx="544194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0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Actual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 20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1F2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textbox 210"/>
          <p:cNvSpPr/>
          <p:nvPr/>
        </p:nvSpPr>
        <p:spPr>
          <a:xfrm>
            <a:off x="9300879" y="3322698"/>
            <a:ext cx="8060055" cy="6348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97000"/>
              </a:lnSpc>
            </a:pPr>
            <a:r>
              <a:rPr sz="33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未来优化方向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660"/>
              </a:spcBef>
            </a:pPr>
            <a:r>
              <a:rPr sz="26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模型升级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69570" indent="-266700" algn="l" rtl="0" eaLnBrk="0">
              <a:lnSpc>
                <a:spcPct val="111000"/>
              </a:lnSpc>
              <a:spcBef>
                <a:spcPts val="1270"/>
              </a:spcBef>
            </a:pP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500" kern="0" spc="-5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复活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更换为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RBF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(径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向基函数)核，将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数据映射到高维空间以实现线性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可分。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69570" indent="-266700" algn="l" rtl="0" eaLnBrk="0">
              <a:lnSpc>
                <a:spcPct val="106000"/>
              </a:lnSpc>
              <a:spcBef>
                <a:spcPts val="1710"/>
              </a:spcBef>
            </a:pP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500" kern="0" spc="-4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挑战极限：尝</a:t>
            </a:r>
            <a:r>
              <a:rPr sz="2500" kern="0" spc="-5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试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 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Ligh</a:t>
            </a: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tGBM </a:t>
            </a: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等更先进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Boosting</a:t>
            </a:r>
            <a:r>
              <a:rPr sz="25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算法，以追求更高的精度上限。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1735"/>
              </a:spcBef>
            </a:pPr>
            <a:r>
              <a:rPr sz="25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特征工程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02870" algn="l" rtl="0" eaLnBrk="0">
              <a:lnSpc>
                <a:spcPct val="95000"/>
              </a:lnSpc>
              <a:spcBef>
                <a:spcPts val="1300"/>
              </a:spcBef>
            </a:pP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2500" kern="0" spc="-5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构造交互特征：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手动创建如`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屏幕面积=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70205" algn="l" rtl="0" eaLnBrk="0">
              <a:lnSpc>
                <a:spcPct val="90000"/>
              </a:lnSpc>
              <a:spcBef>
                <a:spcPts val="1040"/>
              </a:spcBef>
            </a:pP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px</a:t>
            </a:r>
            <a:r>
              <a:rPr sz="2500" u="dotted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height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px</a:t>
            </a:r>
            <a:r>
              <a:rPr sz="2500" u="dotted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width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`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等特征，显式地向模型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70205" algn="l" rtl="0" eaLnBrk="0">
              <a:lnSpc>
                <a:spcPts val="3400"/>
              </a:lnSpc>
            </a:pPr>
            <a:r>
              <a:rPr sz="25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提供非线性信息。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  <a:spcBef>
                <a:spcPts val="5"/>
              </a:spcBef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300" b="1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1041403" y="3327378"/>
            <a:ext cx="7103109" cy="3547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8000"/>
              </a:lnSpc>
            </a:pPr>
            <a:r>
              <a:rPr sz="33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核心结论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69265" indent="-456565" algn="l" rtl="0" eaLnBrk="0">
              <a:lnSpc>
                <a:spcPct val="120000"/>
              </a:lnSpc>
              <a:spcBef>
                <a:spcPts val="1750"/>
              </a:spcBef>
            </a:pP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</a:t>
            </a:r>
            <a:r>
              <a:rPr sz="25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数据层面：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是定价的核心驱动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力，但中、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高端机型配置的严重重叠</a:t>
            </a:r>
            <a:r>
              <a:rPr sz="2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导致了强烈的数据非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</a:t>
            </a:r>
            <a:r>
              <a:rPr sz="2100" kern="0" spc="-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</a:t>
            </a:r>
            <a:r>
              <a:rPr sz="2100" kern="0" spc="-3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9265" indent="-456565" algn="l" rtl="0" eaLnBrk="0">
              <a:lnSpc>
                <a:spcPct val="113000"/>
              </a:lnSpc>
            </a:pP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算法层面：随机森林因其基于树的集成结构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与数据的非线性、</a:t>
            </a:r>
            <a:r>
              <a:rPr sz="2500" kern="0" spc="4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“规则组合”式逻辑高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度匹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配，最终胜出。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1050666" y="875710"/>
            <a:ext cx="7898765" cy="767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51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标题：案件总结与未来方向</a:t>
            </a:r>
            <a:endParaRPr sz="5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16" name="picture 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309039" y="2133600"/>
            <a:ext cx="920768" cy="927079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4104" y="2133600"/>
            <a:ext cx="914476" cy="9270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 22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FF0E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" name="textbox 222"/>
          <p:cNvSpPr/>
          <p:nvPr/>
        </p:nvSpPr>
        <p:spPr>
          <a:xfrm>
            <a:off x="4247623" y="3990009"/>
            <a:ext cx="8980169" cy="1925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5610" algn="l" rtl="0" eaLnBrk="0">
              <a:lnSpc>
                <a:spcPct val="96000"/>
              </a:lnSpc>
            </a:pPr>
            <a:r>
              <a:rPr sz="8900" b="1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致</a:t>
            </a:r>
            <a:r>
              <a:rPr sz="8900" kern="0" spc="-18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8900" b="1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r>
              <a:rPr sz="8900" kern="0" spc="-2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8900" b="1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&amp;</a:t>
            </a:r>
            <a:r>
              <a:rPr sz="8900" kern="0" spc="-25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8900" b="1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Q/A</a:t>
            </a:r>
            <a:endParaRPr sz="8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解构硬件密码：移动设备价格等级分类的算法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对决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5612</Words>
  <Application>WPS 演示</Application>
  <PresentationFormat/>
  <Paragraphs>588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黑体</vt:lpstr>
      <vt:lpstr>Times New Roman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JL</cp:lastModifiedBy>
  <cp:revision>1</cp:revision>
  <dcterms:created xsi:type="dcterms:W3CDTF">2025-11-26T15:41:23Z</dcterms:created>
  <dcterms:modified xsi:type="dcterms:W3CDTF">2025-11-26T15:41:23Z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2025-11-26T23:36:08Z</vt:filetime>
  </property>
  <property fmtid="{D5CDD505-2E9C-101B-9397-08002B2CF9AE}" pid="4" name="UsrData">
    <vt:lpwstr>69271e5c7a3595001ff96facwl</vt:lpwstr>
  </property>
  <property fmtid="{D5CDD505-2E9C-101B-9397-08002B2CF9AE}" pid="5" name="KSOProductBuildVer">
    <vt:lpwstr>2052-12.1.0.24034</vt:lpwstr>
  </property>
  <property fmtid="{D5CDD505-2E9C-101B-9397-08002B2CF9AE}" pid="6" name="ICV">
    <vt:lpwstr>648D8B7607144FCBBC1944D00403E13D_12</vt:lpwstr>
  </property>
</Properties>
</file>