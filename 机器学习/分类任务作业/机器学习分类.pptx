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media/image12.svg" ContentType="image/svg+xml"/>
  <Override PartName="/ppt/media/image14.svg" ContentType="image/svg+xml"/>
  <Override PartName="/ppt/media/image16.svg" ContentType="image/svg+xml"/>
  <Override PartName="/ppt/media/image5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9" r:id="rId16"/>
    <p:sldId id="270" r:id="rId17"/>
    <p:sldId id="271" r:id="rId18"/>
    <p:sldId id="272" r:id="rId19"/>
    <p:sldId id="273" r:id="rId20"/>
    <p:sldId id="278" r:id="rId21"/>
    <p:sldId id="274" r:id="rId22"/>
    <p:sldId id="275" r:id="rId23"/>
    <p:sldId id="277" r:id="rId24"/>
  </p:sldIdLst>
  <p:sldSz cx="14630400" cy="8229600"/>
  <p:notesSz cx="8229600" cy="14630400"/>
  <p:embeddedFontLst>
    <p:embeddedFont>
      <p:font typeface="微软雅黑" panose="020B0503020204020204" charset="-122"/>
      <p:regular r:id="rId28"/>
    </p:embeddedFont>
    <p:embeddedFont>
      <p:font typeface="Montserrat" pitchFamily="34" charset="-120"/>
      <p:bold r:id="rId29"/>
    </p:embeddedFont>
    <p:embeddedFont>
      <p:font typeface="Calibri" panose="020F0502020204030204" charset="0"/>
      <p:regular r:id="rId30"/>
      <p:bold r:id="rId31"/>
      <p:italic r:id="rId32"/>
      <p:boldItalic r:id="rId33"/>
    </p:embeddedFont>
    <p:embeddedFont>
      <p:font typeface="Consolas" panose="020B0609020204030204" pitchFamily="34" charset="-120"/>
      <p:regular r:id="rId3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4" Type="http://schemas.openxmlformats.org/officeDocument/2006/relationships/font" Target="fonts/font7.fntdata"/><Relationship Id="rId33" Type="http://schemas.openxmlformats.org/officeDocument/2006/relationships/font" Target="fonts/font6.fntdata"/><Relationship Id="rId32" Type="http://schemas.openxmlformats.org/officeDocument/2006/relationships/font" Target="fonts/font5.fntdata"/><Relationship Id="rId31" Type="http://schemas.openxmlformats.org/officeDocument/2006/relationships/font" Target="fonts/font4.fntdata"/><Relationship Id="rId30" Type="http://schemas.openxmlformats.org/officeDocument/2006/relationships/font" Target="fonts/font3.fntdata"/><Relationship Id="rId3" Type="http://schemas.openxmlformats.org/officeDocument/2006/relationships/slide" Target="slides/slide1.xml"/><Relationship Id="rId29" Type="http://schemas.openxmlformats.org/officeDocument/2006/relationships/font" Target="fonts/font2.fntdata"/><Relationship Id="rId28" Type="http://schemas.openxmlformats.org/officeDocument/2006/relationships/font" Target="fonts/font1.fntdata"/><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p:spPr>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4" Type="http://schemas.openxmlformats.org/officeDocument/2006/relationships/theme" Target="../theme/theme1.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9" Type="http://schemas.openxmlformats.org/officeDocument/2006/relationships/notesSlide" Target="../notesSlides/notesSlide5.xml"/><Relationship Id="rId18" Type="http://schemas.openxmlformats.org/officeDocument/2006/relationships/slideLayout" Target="../slideLayouts/slideLayout6.xml"/><Relationship Id="rId17" Type="http://schemas.openxmlformats.org/officeDocument/2006/relationships/image" Target="../media/image5.png"/><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8.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image" Target="../media/image17.png"/><Relationship Id="rId7" Type="http://schemas.openxmlformats.org/officeDocument/2006/relationships/image" Target="../media/image16.svg"/><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 Id="rId3" Type="http://schemas.openxmlformats.org/officeDocument/2006/relationships/image" Target="../media/image12.svg"/><Relationship Id="rId2" Type="http://schemas.openxmlformats.org/officeDocument/2006/relationships/image" Target="../media/image11.png"/><Relationship Id="rId10" Type="http://schemas.openxmlformats.org/officeDocument/2006/relationships/notesSlide" Target="../notesSlides/notesSlide8.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9" Type="http://schemas.openxmlformats.org/officeDocument/2006/relationships/image" Target="../media/image20.png"/><Relationship Id="rId8" Type="http://schemas.openxmlformats.org/officeDocument/2006/relationships/image" Target="../media/image19.png"/><Relationship Id="rId7" Type="http://schemas.openxmlformats.org/officeDocument/2006/relationships/image" Target="../media/image18.png"/><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1" Type="http://schemas.openxmlformats.org/officeDocument/2006/relationships/notesSlide" Target="../notesSlides/notesSlide9.xml"/><Relationship Id="rId10" Type="http://schemas.openxmlformats.org/officeDocument/2006/relationships/slideLayout" Target="../slideLayouts/slideLayout10.xml"/><Relationship Id="rId1" Type="http://schemas.openxmlformats.org/officeDocument/2006/relationships/tags" Target="../tags/tag17.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1.xml"/><Relationship Id="rId2" Type="http://schemas.openxmlformats.org/officeDocument/2006/relationships/image" Target="../media/image22.png"/><Relationship Id="rId1" Type="http://schemas.openxmlformats.org/officeDocument/2006/relationships/image" Target="../media/image21.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2.xml"/><Relationship Id="rId2" Type="http://schemas.openxmlformats.org/officeDocument/2006/relationships/image" Target="../media/image24.png"/><Relationship Id="rId1" Type="http://schemas.openxmlformats.org/officeDocument/2006/relationships/image" Target="../media/image23.png"/></Relationships>
</file>

<file path=ppt/slides/_rels/slide12.xml.rels><?xml version="1.0" encoding="UTF-8" standalone="yes"?>
<Relationships xmlns="http://schemas.openxmlformats.org/package/2006/relationships"><Relationship Id="rId9" Type="http://schemas.openxmlformats.org/officeDocument/2006/relationships/notesSlide" Target="../notesSlides/notesSlide12.xml"/><Relationship Id="rId8" Type="http://schemas.openxmlformats.org/officeDocument/2006/relationships/slideLayout" Target="../slideLayouts/slideLayout13.xml"/><Relationship Id="rId7" Type="http://schemas.openxmlformats.org/officeDocument/2006/relationships/image" Target="../media/image27.png"/><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tags" Target="../tags/tag23.xml"/></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slideLayout" Target="../slideLayouts/slideLayout15.xml"/><Relationship Id="rId7" Type="http://schemas.openxmlformats.org/officeDocument/2006/relationships/image" Target="../media/image34.png"/><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16.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38.jpeg"/><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image" Target="../media/image35.jpe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17.xml"/><Relationship Id="rId6" Type="http://schemas.openxmlformats.org/officeDocument/2006/relationships/image" Target="../media/image46.jpeg"/><Relationship Id="rId5" Type="http://schemas.openxmlformats.org/officeDocument/2006/relationships/image" Target="../media/image45.jpeg"/><Relationship Id="rId4" Type="http://schemas.openxmlformats.org/officeDocument/2006/relationships/image" Target="../media/image44.jpeg"/><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image" Target="../media/image41.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8.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9.xml"/><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4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1.xml"/><Relationship Id="rId1" Type="http://schemas.openxmlformats.org/officeDocument/2006/relationships/image" Target="../media/image50.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0.xml"/><Relationship Id="rId1" Type="http://schemas.openxmlformats.org/officeDocument/2006/relationships/image" Target="../media/image51.png"/></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20.xml"/><Relationship Id="rId7" Type="http://schemas.openxmlformats.org/officeDocument/2006/relationships/slideLayout" Target="../slideLayouts/slideLayout21.xml"/><Relationship Id="rId6" Type="http://schemas.openxmlformats.org/officeDocument/2006/relationships/image" Target="../media/image53.png"/><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7.png"/><Relationship Id="rId2" Type="http://schemas.openxmlformats.org/officeDocument/2006/relationships/image" Target="../media/image52.svg"/><Relationship Id="rId1"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3.xml"/><Relationship Id="rId1"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8869680" y="0"/>
            <a:ext cx="5760720" cy="8229600"/>
          </a:xfrm>
          <a:prstGeom prst="rect">
            <a:avLst/>
          </a:prstGeom>
        </p:spPr>
      </p:pic>
      <p:sp>
        <p:nvSpPr>
          <p:cNvPr id="3" name="Text 0"/>
          <p:cNvSpPr/>
          <p:nvPr/>
        </p:nvSpPr>
        <p:spPr>
          <a:xfrm>
            <a:off x="758309" y="1458516"/>
            <a:ext cx="4988838" cy="623530"/>
          </a:xfrm>
          <a:prstGeom prst="rect">
            <a:avLst/>
          </a:prstGeom>
          <a:noFill/>
        </p:spPr>
        <p:txBody>
          <a:bodyPr wrap="none" lIns="0" tIns="0" rIns="0" bIns="0" rtlCol="0" anchor="t"/>
          <a:lstStyle/>
          <a:p>
            <a:pPr marL="0" indent="0" algn="l">
              <a:lnSpc>
                <a:spcPts val="4900"/>
              </a:lnSpc>
              <a:buNone/>
            </a:pPr>
            <a:r>
              <a:rPr lang="en-US" sz="3900" b="1" dirty="0">
                <a:solidFill>
                  <a:srgbClr val="2E3C4E"/>
                </a:solidFill>
                <a:latin typeface="微软雅黑" panose="020B0503020204020204" charset="-122"/>
                <a:ea typeface="微软雅黑" panose="020B0503020204020204" charset="-122"/>
                <a:cs typeface="Barlow Bold" pitchFamily="34" charset="-120"/>
              </a:rPr>
              <a:t>基于结构化特征的</a:t>
            </a:r>
            <a:endParaRPr lang="en-US" sz="3900" b="1" dirty="0">
              <a:solidFill>
                <a:srgbClr val="2E3C4E"/>
              </a:solidFill>
              <a:latin typeface="微软雅黑" panose="020B0503020204020204" charset="-122"/>
              <a:ea typeface="微软雅黑" panose="020B0503020204020204" charset="-122"/>
              <a:cs typeface="Barlow Bold" pitchFamily="34" charset="-120"/>
            </a:endParaRPr>
          </a:p>
        </p:txBody>
      </p:sp>
      <p:sp>
        <p:nvSpPr>
          <p:cNvPr id="4" name="Text 1"/>
          <p:cNvSpPr/>
          <p:nvPr/>
        </p:nvSpPr>
        <p:spPr>
          <a:xfrm>
            <a:off x="758309" y="2157770"/>
            <a:ext cx="5986582" cy="623530"/>
          </a:xfrm>
          <a:prstGeom prst="rect">
            <a:avLst/>
          </a:prstGeom>
          <a:noFill/>
        </p:spPr>
        <p:txBody>
          <a:bodyPr wrap="none" lIns="0" tIns="0" rIns="0" bIns="0" rtlCol="0" anchor="t"/>
          <a:lstStyle/>
          <a:p>
            <a:pPr marL="0" indent="0" algn="l">
              <a:lnSpc>
                <a:spcPts val="4900"/>
              </a:lnSpc>
              <a:buNone/>
            </a:pPr>
            <a:r>
              <a:rPr lang="en-US" sz="3900" b="1" dirty="0">
                <a:solidFill>
                  <a:srgbClr val="2E3C4E"/>
                </a:solidFill>
                <a:latin typeface="微软雅黑" panose="020B0503020204020204" charset="-122"/>
                <a:ea typeface="微软雅黑" panose="020B0503020204020204" charset="-122"/>
                <a:cs typeface="Barlow Bold" pitchFamily="34" charset="-120"/>
              </a:rPr>
              <a:t>移动设备价格等级分类研究</a:t>
            </a:r>
            <a:endParaRPr lang="en-US" sz="3900" b="1" dirty="0">
              <a:solidFill>
                <a:srgbClr val="2E3C4E"/>
              </a:solidFill>
              <a:latin typeface="微软雅黑" panose="020B0503020204020204" charset="-122"/>
              <a:ea typeface="微软雅黑" panose="020B0503020204020204" charset="-122"/>
              <a:cs typeface="Barlow Bold" pitchFamily="34" charset="-120"/>
            </a:endParaRPr>
          </a:p>
        </p:txBody>
      </p:sp>
      <p:sp>
        <p:nvSpPr>
          <p:cNvPr id="5" name="Text 2"/>
          <p:cNvSpPr/>
          <p:nvPr/>
        </p:nvSpPr>
        <p:spPr>
          <a:xfrm>
            <a:off x="758309" y="3065621"/>
            <a:ext cx="7627382"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微软雅黑" panose="020B0503020204020204" charset="-122"/>
              </a:rPr>
              <a:t>在高度竞争的消费电子市场中,智能手机定价策略取决于复杂的硬件配置组合。</a:t>
            </a:r>
            <a:endParaRPr lang="en-US" sz="145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6" name="Text 3"/>
          <p:cNvSpPr/>
          <p:nvPr/>
        </p:nvSpPr>
        <p:spPr>
          <a:xfrm>
            <a:off x="758309" y="3582114"/>
            <a:ext cx="7627382" cy="606504"/>
          </a:xfrm>
          <a:prstGeom prst="rect">
            <a:avLst/>
          </a:prstGeom>
          <a:noFill/>
        </p:spPr>
        <p:txBody>
          <a:bodyPr wrap="squar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微软雅黑" panose="020B0503020204020204" charset="-122"/>
              </a:rPr>
              <a:t>本研究基于Kaggle开源数据集,系统对比</a:t>
            </a:r>
            <a:r>
              <a:rPr lang="en-US" sz="1450" b="1" dirty="0">
                <a:solidFill>
                  <a:srgbClr val="384653"/>
                </a:solidFill>
                <a:latin typeface="微软雅黑" panose="020B0503020204020204" charset="-122"/>
                <a:ea typeface="微软雅黑" panose="020B0503020204020204" charset="-122"/>
                <a:cs typeface="微软雅黑" panose="020B0503020204020204" charset="-122"/>
              </a:rPr>
              <a:t>随机森林、支持向量机与K近邻</a:t>
            </a:r>
            <a:r>
              <a:rPr lang="en-US" sz="1450" dirty="0">
                <a:solidFill>
                  <a:srgbClr val="384653"/>
                </a:solidFill>
                <a:latin typeface="微软雅黑" panose="020B0503020204020204" charset="-122"/>
                <a:ea typeface="微软雅黑" panose="020B0503020204020204" charset="-122"/>
                <a:cs typeface="微软雅黑" panose="020B0503020204020204" charset="-122"/>
              </a:rPr>
              <a:t>三种算法在多分类任务中的表现,深入剖析数据分布特性对模型性能的决定性影响。</a:t>
            </a:r>
            <a:endParaRPr lang="en-US" sz="1450" dirty="0">
              <a:latin typeface="微软雅黑" panose="020B0503020204020204" charset="-122"/>
              <a:ea typeface="微软雅黑" panose="020B0503020204020204" charset="-122"/>
              <a:cs typeface="微软雅黑" panose="020B0503020204020204" charset="-122"/>
            </a:endParaRPr>
          </a:p>
        </p:txBody>
      </p:sp>
      <p:sp>
        <p:nvSpPr>
          <p:cNvPr id="7" name="Text 4"/>
          <p:cNvSpPr/>
          <p:nvPr/>
        </p:nvSpPr>
        <p:spPr>
          <a:xfrm>
            <a:off x="758309" y="4401860"/>
            <a:ext cx="7627382" cy="303252"/>
          </a:xfrm>
          <a:prstGeom prst="rect">
            <a:avLst/>
          </a:prstGeom>
          <a:noFill/>
        </p:spPr>
        <p:txBody>
          <a:bodyPr wrap="none" lIns="0" tIns="0" rIns="0" bIns="0" rtlCol="0" anchor="t"/>
          <a:lstStyle/>
          <a:p>
            <a:pPr marL="0" indent="0" algn="l">
              <a:lnSpc>
                <a:spcPts val="2350"/>
              </a:lnSpc>
              <a:buNone/>
            </a:pPr>
            <a:endParaRPr lang="en-US" sz="1450" b="1" dirty="0">
              <a:latin typeface="微软雅黑" panose="020B0503020204020204" charset="-122"/>
              <a:ea typeface="微软雅黑" panose="020B0503020204020204" charset="-122"/>
            </a:endParaRPr>
          </a:p>
        </p:txBody>
      </p:sp>
      <p:sp>
        <p:nvSpPr>
          <p:cNvPr id="8" name="Text 5"/>
          <p:cNvSpPr/>
          <p:nvPr/>
        </p:nvSpPr>
        <p:spPr>
          <a:xfrm>
            <a:off x="758309" y="4918353"/>
            <a:ext cx="7627382" cy="303252"/>
          </a:xfrm>
          <a:prstGeom prst="rect">
            <a:avLst/>
          </a:prstGeom>
          <a:noFill/>
        </p:spPr>
        <p:txBody>
          <a:bodyPr wrap="none" lIns="0" tIns="0" rIns="0" bIns="0" rtlCol="0" anchor="t"/>
          <a:lstStyle/>
          <a:p>
            <a:pPr marL="0" indent="0" algn="l">
              <a:lnSpc>
                <a:spcPts val="2350"/>
              </a:lnSpc>
              <a:buNone/>
            </a:pPr>
            <a:r>
              <a:rPr lang="en-US" sz="1450" b="1" dirty="0">
                <a:solidFill>
                  <a:srgbClr val="384653"/>
                </a:solidFill>
                <a:latin typeface="微软雅黑" panose="020B0503020204020204" charset="-122"/>
                <a:ea typeface="微软雅黑" panose="020B0503020204020204" charset="-122"/>
                <a:cs typeface="微软雅黑" panose="020B0503020204020204" charset="-122"/>
              </a:rPr>
              <a:t>机器学习第11小组</a:t>
            </a:r>
            <a:endParaRPr lang="en-US" sz="1450" b="1"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9" name="Text 6"/>
          <p:cNvSpPr/>
          <p:nvPr/>
        </p:nvSpPr>
        <p:spPr>
          <a:xfrm>
            <a:off x="758309" y="5434846"/>
            <a:ext cx="7627382" cy="303252"/>
          </a:xfrm>
          <a:prstGeom prst="rect">
            <a:avLst/>
          </a:prstGeom>
          <a:noFill/>
        </p:spPr>
        <p:txBody>
          <a:bodyPr wrap="none" lIns="0" tIns="0" rIns="0" bIns="0" rtlCol="0" anchor="t"/>
          <a:lstStyle/>
          <a:p>
            <a:pPr marL="0" indent="0" algn="l">
              <a:lnSpc>
                <a:spcPts val="2350"/>
              </a:lnSpc>
              <a:buNone/>
            </a:pPr>
            <a:r>
              <a:rPr lang="en-US" sz="1450" b="1" dirty="0">
                <a:solidFill>
                  <a:srgbClr val="384653"/>
                </a:solidFill>
                <a:latin typeface="微软雅黑" panose="020B0503020204020204" charset="-122"/>
                <a:ea typeface="微软雅黑" panose="020B0503020204020204" charset="-122"/>
                <a:cs typeface="微软雅黑" panose="020B0503020204020204" charset="-122"/>
              </a:rPr>
              <a:t>组员：徐华炫 刘佳鑫 毛星博</a:t>
            </a:r>
            <a:endParaRPr lang="en-US" sz="1450" b="1"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10" name="Text 7"/>
          <p:cNvSpPr/>
          <p:nvPr/>
        </p:nvSpPr>
        <p:spPr>
          <a:xfrm>
            <a:off x="758309" y="5951339"/>
            <a:ext cx="7627382" cy="303252"/>
          </a:xfrm>
          <a:prstGeom prst="rect">
            <a:avLst/>
          </a:prstGeom>
          <a:noFill/>
        </p:spPr>
        <p:txBody>
          <a:bodyPr wrap="none" lIns="0" tIns="0" rIns="0" bIns="0" rtlCol="0" anchor="t"/>
          <a:lstStyle/>
          <a:p>
            <a:pPr marL="0" indent="0" algn="l">
              <a:lnSpc>
                <a:spcPts val="2350"/>
              </a:lnSpc>
              <a:buNone/>
            </a:pPr>
            <a:r>
              <a:rPr lang="en-US" sz="1450" b="1" dirty="0">
                <a:solidFill>
                  <a:srgbClr val="384653"/>
                </a:solidFill>
                <a:latin typeface="微软雅黑" panose="020B0503020204020204" charset="-122"/>
                <a:ea typeface="微软雅黑" panose="020B0503020204020204" charset="-122"/>
                <a:cs typeface="Montserrat" pitchFamily="34" charset="-120"/>
              </a:rPr>
              <a:t>汇报人：毛星博</a:t>
            </a:r>
            <a:endParaRPr lang="en-US" sz="1450" b="1" dirty="0">
              <a:solidFill>
                <a:srgbClr val="384653"/>
              </a:solidFill>
              <a:latin typeface="微软雅黑" panose="020B0503020204020204" charset="-122"/>
              <a:ea typeface="微软雅黑" panose="020B0503020204020204" charset="-122"/>
              <a:cs typeface="Montserrat" pitchFamily="34" charset="-120"/>
            </a:endParaRPr>
          </a:p>
        </p:txBody>
      </p:sp>
      <p:sp>
        <p:nvSpPr>
          <p:cNvPr id="11" name="Text 8"/>
          <p:cNvSpPr/>
          <p:nvPr/>
        </p:nvSpPr>
        <p:spPr>
          <a:xfrm>
            <a:off x="758309" y="6467832"/>
            <a:ext cx="7627382" cy="303252"/>
          </a:xfrm>
          <a:prstGeom prst="rect">
            <a:avLst/>
          </a:prstGeom>
          <a:noFill/>
        </p:spPr>
        <p:txBody>
          <a:bodyPr wrap="none" lIns="0" tIns="0" rIns="0" bIns="0" rtlCol="0" anchor="t"/>
          <a:lstStyle/>
          <a:p>
            <a:pPr marL="0" indent="0" algn="l">
              <a:lnSpc>
                <a:spcPts val="2350"/>
              </a:lnSpc>
              <a:buNone/>
            </a:pPr>
            <a:r>
              <a:rPr lang="en-US" sz="1450" b="1" dirty="0">
                <a:solidFill>
                  <a:srgbClr val="384653"/>
                </a:solidFill>
                <a:latin typeface="微软雅黑" panose="020B0503020204020204" charset="-122"/>
                <a:ea typeface="微软雅黑" panose="020B0503020204020204" charset="-122"/>
                <a:cs typeface="微软雅黑" panose="020B0503020204020204" charset="-122"/>
              </a:rPr>
              <a:t>2025 年 12 月 1 日</a:t>
            </a:r>
            <a:endParaRPr lang="en-US" sz="1450" b="1" dirty="0">
              <a:solidFill>
                <a:srgbClr val="38465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8309" y="527685"/>
            <a:ext cx="4489966" cy="561142"/>
          </a:xfrm>
          <a:prstGeom prst="rect">
            <a:avLst/>
          </a:prstGeom>
          <a:noFill/>
        </p:spPr>
        <p:txBody>
          <a:bodyPr wrap="none" lIns="0" tIns="0" rIns="0" bIns="0" rtlCol="0" anchor="t"/>
          <a:lstStyle/>
          <a:p>
            <a:pPr marL="0" indent="0" algn="l">
              <a:lnSpc>
                <a:spcPts val="4400"/>
              </a:lnSpc>
              <a:buNone/>
            </a:pPr>
            <a:r>
              <a:rPr lang="en-US" sz="3500" b="1" dirty="0">
                <a:solidFill>
                  <a:srgbClr val="2E3C4E"/>
                </a:solidFill>
                <a:latin typeface="微软雅黑" panose="020B0503020204020204" charset="-122"/>
                <a:ea typeface="微软雅黑" panose="020B0503020204020204" charset="-122"/>
                <a:cs typeface="Barlow Bold" pitchFamily="34" charset="-120"/>
              </a:rPr>
              <a:t>课题背景与目标定义</a:t>
            </a:r>
            <a:endParaRPr lang="en-US" sz="3500" b="1" dirty="0">
              <a:solidFill>
                <a:srgbClr val="2E3C4E"/>
              </a:solidFill>
              <a:latin typeface="微软雅黑" panose="020B0503020204020204" charset="-122"/>
              <a:ea typeface="微软雅黑" panose="020B0503020204020204" charset="-122"/>
              <a:cs typeface="Barlow Bold" pitchFamily="34" charset="-120"/>
            </a:endParaRPr>
          </a:p>
        </p:txBody>
      </p:sp>
      <p:sp>
        <p:nvSpPr>
          <p:cNvPr id="3" name="Text 1"/>
          <p:cNvSpPr/>
          <p:nvPr/>
        </p:nvSpPr>
        <p:spPr>
          <a:xfrm>
            <a:off x="758309" y="1498163"/>
            <a:ext cx="5266253" cy="1364456"/>
          </a:xfrm>
          <a:prstGeom prst="rect">
            <a:avLst/>
          </a:prstGeom>
          <a:noFill/>
        </p:spPr>
        <p:txBody>
          <a:bodyPr wrap="square" lIns="0" tIns="0" rIns="0" bIns="0" rtlCol="0" anchor="t"/>
          <a:lstStyle/>
          <a:p>
            <a:pPr marL="0" indent="0" algn="l">
              <a:lnSpc>
                <a:spcPts val="2100"/>
              </a:lnSpc>
              <a:buNone/>
            </a:pPr>
            <a:r>
              <a:rPr lang="en-US" sz="1300" dirty="0">
                <a:solidFill>
                  <a:srgbClr val="384653"/>
                </a:solidFill>
                <a:latin typeface="微软雅黑" panose="020B0503020204020204" charset="-122"/>
                <a:ea typeface="微软雅黑" panose="020B0503020204020204" charset="-122"/>
                <a:cs typeface="微软雅黑" panose="020B0503020204020204" charset="-122"/>
              </a:rPr>
              <a:t>本研究将手机价格离散化为0-3四个等级，因此这是一个明确的</a:t>
            </a:r>
            <a:r>
              <a:rPr lang="en-US" sz="1300" b="1" dirty="0">
                <a:solidFill>
                  <a:srgbClr val="384653"/>
                </a:solidFill>
                <a:latin typeface="微软雅黑" panose="020B0503020204020204" charset="-122"/>
                <a:ea typeface="微软雅黑" panose="020B0503020204020204" charset="-122"/>
                <a:cs typeface="微软雅黑" panose="020B0503020204020204" charset="-122"/>
              </a:rPr>
              <a:t>分类任务</a:t>
            </a:r>
            <a:r>
              <a:rPr lang="en-US" sz="1300" dirty="0">
                <a:solidFill>
                  <a:srgbClr val="384653"/>
                </a:solidFill>
                <a:latin typeface="微软雅黑" panose="020B0503020204020204" charset="-122"/>
                <a:ea typeface="微软雅黑" panose="020B0503020204020204" charset="-122"/>
                <a:cs typeface="微软雅黑" panose="020B0503020204020204" charset="-122"/>
              </a:rPr>
              <a:t>，而非细致的价格预测（回归）。选择分类而非回归，是因为在实际业务中，产品往往被归类到特定的价格带（如入门级、中端、高端、旗舰），这更符合市场营销和战略规划的需求，且分类结果对噪音数据敏感度较低。这四个等级具体定义为：</a:t>
            </a:r>
            <a:endParaRPr lang="en-US" sz="1300" dirty="0">
              <a:latin typeface="微软雅黑" panose="020B0503020204020204" charset="-122"/>
              <a:ea typeface="微软雅黑" panose="020B0503020204020204" charset="-122"/>
              <a:cs typeface="微软雅黑" panose="020B0503020204020204" charset="-122"/>
            </a:endParaRPr>
          </a:p>
        </p:txBody>
      </p:sp>
      <p:sp>
        <p:nvSpPr>
          <p:cNvPr id="4" name="Text 2"/>
          <p:cNvSpPr/>
          <p:nvPr/>
        </p:nvSpPr>
        <p:spPr>
          <a:xfrm>
            <a:off x="758309" y="3016091"/>
            <a:ext cx="5266253" cy="272891"/>
          </a:xfrm>
          <a:prstGeom prst="rect">
            <a:avLst/>
          </a:prstGeom>
          <a:noFill/>
        </p:spPr>
        <p:txBody>
          <a:bodyPr wrap="none" lIns="0" tIns="0" rIns="0" bIns="0" rtlCol="0" anchor="t"/>
          <a:lstStyle/>
          <a:p>
            <a:pPr marL="0" indent="0" algn="l">
              <a:lnSpc>
                <a:spcPts val="2100"/>
              </a:lnSpc>
              <a:buNone/>
            </a:pPr>
            <a:endParaRPr lang="en-US" sz="1300" dirty="0">
              <a:latin typeface="微软雅黑" panose="020B0503020204020204" charset="-122"/>
              <a:ea typeface="微软雅黑" panose="020B0503020204020204" charset="-122"/>
            </a:endParaRPr>
          </a:p>
        </p:txBody>
      </p:sp>
      <p:sp>
        <p:nvSpPr>
          <p:cNvPr id="5" name="Text 3"/>
          <p:cNvSpPr/>
          <p:nvPr/>
        </p:nvSpPr>
        <p:spPr>
          <a:xfrm>
            <a:off x="758309" y="3109714"/>
            <a:ext cx="5266253" cy="272891"/>
          </a:xfrm>
          <a:prstGeom prst="rect">
            <a:avLst/>
          </a:prstGeom>
          <a:noFill/>
        </p:spPr>
        <p:txBody>
          <a:bodyPr wrap="none" lIns="0" tIns="0" rIns="0" bIns="0" rtlCol="0" anchor="t"/>
          <a:lstStyle/>
          <a:p>
            <a:pPr marL="0" indent="0" algn="l">
              <a:lnSpc>
                <a:spcPts val="2100"/>
              </a:lnSpc>
              <a:buSzPct val="100000"/>
              <a:buNone/>
            </a:pPr>
            <a:r>
              <a:rPr lang="en-US" sz="1300" b="1" dirty="0">
                <a:solidFill>
                  <a:srgbClr val="384653"/>
                </a:solidFill>
                <a:latin typeface="微软雅黑" panose="020B0503020204020204" charset="-122"/>
                <a:ea typeface="微软雅黑" panose="020B0503020204020204" charset="-122"/>
                <a:cs typeface="微软雅黑" panose="020B0503020204020204" charset="-122"/>
              </a:rPr>
              <a:t>0: 低成本</a:t>
            </a:r>
            <a:r>
              <a:rPr lang="en-US" sz="1300" dirty="0">
                <a:solidFill>
                  <a:srgbClr val="384653"/>
                </a:solidFill>
                <a:latin typeface="微软雅黑" panose="020B0503020204020204" charset="-122"/>
                <a:ea typeface="微软雅黑" panose="020B0503020204020204" charset="-122"/>
                <a:cs typeface="微软雅黑" panose="020B0503020204020204" charset="-122"/>
              </a:rPr>
              <a:t> - 入门级产品，注重性价比。</a:t>
            </a:r>
            <a:endParaRPr lang="en-US" sz="1300" dirty="0">
              <a:latin typeface="微软雅黑" panose="020B0503020204020204" charset="-122"/>
              <a:ea typeface="微软雅黑" panose="020B0503020204020204" charset="-122"/>
              <a:cs typeface="微软雅黑" panose="020B0503020204020204" charset="-122"/>
            </a:endParaRPr>
          </a:p>
        </p:txBody>
      </p:sp>
      <p:sp>
        <p:nvSpPr>
          <p:cNvPr id="6" name="Text 4"/>
          <p:cNvSpPr/>
          <p:nvPr/>
        </p:nvSpPr>
        <p:spPr>
          <a:xfrm>
            <a:off x="758309" y="3442256"/>
            <a:ext cx="5266253" cy="272891"/>
          </a:xfrm>
          <a:prstGeom prst="rect">
            <a:avLst/>
          </a:prstGeom>
          <a:noFill/>
        </p:spPr>
        <p:txBody>
          <a:bodyPr wrap="none" lIns="0" tIns="0" rIns="0" bIns="0" rtlCol="0" anchor="t"/>
          <a:lstStyle/>
          <a:p>
            <a:pPr marL="0" indent="0" algn="l">
              <a:lnSpc>
                <a:spcPts val="2100"/>
              </a:lnSpc>
              <a:buSzPct val="100000"/>
              <a:buNone/>
            </a:pPr>
            <a:r>
              <a:rPr lang="en-US" sz="1300" b="1" dirty="0">
                <a:solidFill>
                  <a:srgbClr val="384653"/>
                </a:solidFill>
                <a:latin typeface="微软雅黑" panose="020B0503020204020204" charset="-122"/>
                <a:ea typeface="微软雅黑" panose="020B0503020204020204" charset="-122"/>
                <a:cs typeface="微软雅黑" panose="020B0503020204020204" charset="-122"/>
              </a:rPr>
              <a:t>1: 中等成本</a:t>
            </a:r>
            <a:r>
              <a:rPr lang="en-US" sz="1300" dirty="0">
                <a:solidFill>
                  <a:srgbClr val="384653"/>
                </a:solidFill>
                <a:latin typeface="微软雅黑" panose="020B0503020204020204" charset="-122"/>
                <a:ea typeface="微软雅黑" panose="020B0503020204020204" charset="-122"/>
                <a:cs typeface="微软雅黑" panose="020B0503020204020204" charset="-122"/>
              </a:rPr>
              <a:t> - 中端产品，性能与价格平衡。</a:t>
            </a:r>
            <a:endParaRPr lang="en-US" sz="1300" dirty="0">
              <a:latin typeface="微软雅黑" panose="020B0503020204020204" charset="-122"/>
              <a:ea typeface="微软雅黑" panose="020B0503020204020204" charset="-122"/>
              <a:cs typeface="微软雅黑" panose="020B0503020204020204" charset="-122"/>
            </a:endParaRPr>
          </a:p>
        </p:txBody>
      </p:sp>
      <p:sp>
        <p:nvSpPr>
          <p:cNvPr id="7" name="Text 5"/>
          <p:cNvSpPr/>
          <p:nvPr/>
        </p:nvSpPr>
        <p:spPr>
          <a:xfrm>
            <a:off x="758309" y="3774797"/>
            <a:ext cx="5266253" cy="272891"/>
          </a:xfrm>
          <a:prstGeom prst="rect">
            <a:avLst/>
          </a:prstGeom>
          <a:noFill/>
        </p:spPr>
        <p:txBody>
          <a:bodyPr wrap="none" lIns="0" tIns="0" rIns="0" bIns="0" rtlCol="0" anchor="t"/>
          <a:lstStyle/>
          <a:p>
            <a:pPr marL="0" indent="0" algn="l">
              <a:lnSpc>
                <a:spcPts val="2100"/>
              </a:lnSpc>
              <a:buSzPct val="100000"/>
              <a:buNone/>
            </a:pPr>
            <a:r>
              <a:rPr lang="en-US" sz="1300" b="1" dirty="0">
                <a:solidFill>
                  <a:srgbClr val="384653"/>
                </a:solidFill>
                <a:latin typeface="微软雅黑" panose="020B0503020204020204" charset="-122"/>
                <a:ea typeface="微软雅黑" panose="020B0503020204020204" charset="-122"/>
                <a:cs typeface="微软雅黑" panose="020B0503020204020204" charset="-122"/>
              </a:rPr>
              <a:t>2: 高成本</a:t>
            </a:r>
            <a:r>
              <a:rPr lang="en-US" sz="1300" dirty="0">
                <a:solidFill>
                  <a:srgbClr val="384653"/>
                </a:solidFill>
                <a:latin typeface="微软雅黑" panose="020B0503020204020204" charset="-122"/>
                <a:ea typeface="微软雅黑" panose="020B0503020204020204" charset="-122"/>
                <a:cs typeface="微软雅黑" panose="020B0503020204020204" charset="-122"/>
              </a:rPr>
              <a:t> - 高端产品，具备领先技术和优良体验。</a:t>
            </a:r>
            <a:endParaRPr lang="en-US" sz="1300" dirty="0">
              <a:latin typeface="微软雅黑" panose="020B0503020204020204" charset="-122"/>
              <a:ea typeface="微软雅黑" panose="020B0503020204020204" charset="-122"/>
              <a:cs typeface="微软雅黑" panose="020B0503020204020204" charset="-122"/>
            </a:endParaRPr>
          </a:p>
        </p:txBody>
      </p:sp>
      <p:sp>
        <p:nvSpPr>
          <p:cNvPr id="8" name="Text 6"/>
          <p:cNvSpPr/>
          <p:nvPr/>
        </p:nvSpPr>
        <p:spPr>
          <a:xfrm>
            <a:off x="758309" y="4107339"/>
            <a:ext cx="5266253" cy="272891"/>
          </a:xfrm>
          <a:prstGeom prst="rect">
            <a:avLst/>
          </a:prstGeom>
          <a:noFill/>
        </p:spPr>
        <p:txBody>
          <a:bodyPr wrap="none" lIns="0" tIns="0" rIns="0" bIns="0" rtlCol="0" anchor="t"/>
          <a:lstStyle/>
          <a:p>
            <a:pPr marL="0" indent="0" algn="l">
              <a:lnSpc>
                <a:spcPts val="2100"/>
              </a:lnSpc>
              <a:buSzPct val="100000"/>
              <a:buNone/>
            </a:pPr>
            <a:r>
              <a:rPr lang="en-US" sz="1300" b="1" dirty="0">
                <a:solidFill>
                  <a:srgbClr val="384653"/>
                </a:solidFill>
                <a:latin typeface="微软雅黑" panose="020B0503020204020204" charset="-122"/>
                <a:ea typeface="微软雅黑" panose="020B0503020204020204" charset="-122"/>
                <a:cs typeface="微软雅黑" panose="020B0503020204020204" charset="-122"/>
              </a:rPr>
              <a:t>3: 超高成本</a:t>
            </a:r>
            <a:r>
              <a:rPr lang="en-US" sz="1300" dirty="0">
                <a:solidFill>
                  <a:srgbClr val="384653"/>
                </a:solidFill>
                <a:latin typeface="微软雅黑" panose="020B0503020204020204" charset="-122"/>
                <a:ea typeface="微软雅黑" panose="020B0503020204020204" charset="-122"/>
                <a:cs typeface="微软雅黑" panose="020B0503020204020204" charset="-122"/>
              </a:rPr>
              <a:t> - 旗舰产品，代表品牌最高水平和创新。</a:t>
            </a:r>
            <a:endParaRPr lang="en-US" sz="1300" dirty="0">
              <a:latin typeface="微软雅黑" panose="020B0503020204020204" charset="-122"/>
              <a:ea typeface="微软雅黑" panose="020B0503020204020204" charset="-122"/>
              <a:cs typeface="微软雅黑" panose="020B0503020204020204" charset="-122"/>
            </a:endParaRPr>
          </a:p>
        </p:txBody>
      </p:sp>
      <p:sp>
        <p:nvSpPr>
          <p:cNvPr id="9" name="Text 7"/>
          <p:cNvSpPr/>
          <p:nvPr/>
        </p:nvSpPr>
        <p:spPr>
          <a:xfrm>
            <a:off x="758309" y="4533702"/>
            <a:ext cx="5266253" cy="272891"/>
          </a:xfrm>
          <a:prstGeom prst="rect">
            <a:avLst/>
          </a:prstGeom>
          <a:noFill/>
        </p:spPr>
        <p:txBody>
          <a:bodyPr wrap="none" lIns="0" tIns="0" rIns="0" bIns="0" rtlCol="0" anchor="t"/>
          <a:lstStyle/>
          <a:p>
            <a:pPr marL="0" indent="0" algn="l">
              <a:lnSpc>
                <a:spcPts val="2100"/>
              </a:lnSpc>
              <a:buNone/>
            </a:pPr>
            <a:endParaRPr lang="en-US" sz="1300" dirty="0">
              <a:latin typeface="微软雅黑" panose="020B0503020204020204" charset="-122"/>
              <a:ea typeface="微软雅黑" panose="020B0503020204020204" charset="-122"/>
            </a:endParaRPr>
          </a:p>
        </p:txBody>
      </p:sp>
      <p:sp>
        <p:nvSpPr>
          <p:cNvPr id="10" name="Text 8"/>
          <p:cNvSpPr/>
          <p:nvPr/>
        </p:nvSpPr>
        <p:spPr>
          <a:xfrm>
            <a:off x="758309" y="5292804"/>
            <a:ext cx="5266253" cy="272891"/>
          </a:xfrm>
          <a:prstGeom prst="rect">
            <a:avLst/>
          </a:prstGeom>
          <a:noFill/>
        </p:spPr>
        <p:txBody>
          <a:bodyPr wrap="none" lIns="0" tIns="0" rIns="0" bIns="0" rtlCol="0" anchor="t"/>
          <a:lstStyle/>
          <a:p>
            <a:pPr marL="0" indent="0" algn="l">
              <a:lnSpc>
                <a:spcPts val="2100"/>
              </a:lnSpc>
              <a:buNone/>
            </a:pPr>
            <a:endParaRPr lang="en-US" sz="1300" dirty="0">
              <a:latin typeface="微软雅黑" panose="020B0503020204020204" charset="-122"/>
              <a:ea typeface="微软雅黑" panose="020B0503020204020204" charset="-122"/>
            </a:endParaRPr>
          </a:p>
        </p:txBody>
      </p:sp>
      <p:sp>
        <p:nvSpPr>
          <p:cNvPr id="11" name="Text 9"/>
          <p:cNvSpPr/>
          <p:nvPr/>
        </p:nvSpPr>
        <p:spPr>
          <a:xfrm>
            <a:off x="758309" y="4723487"/>
            <a:ext cx="5266253" cy="1364456"/>
          </a:xfrm>
          <a:prstGeom prst="rect">
            <a:avLst/>
          </a:prstGeom>
          <a:noFill/>
        </p:spPr>
        <p:txBody>
          <a:bodyPr wrap="square" lIns="0" tIns="0" rIns="0" bIns="0" rtlCol="0" anchor="t"/>
          <a:lstStyle/>
          <a:p>
            <a:pPr marL="0" indent="0" algn="l">
              <a:lnSpc>
                <a:spcPts val="2100"/>
              </a:lnSpc>
              <a:buNone/>
            </a:pPr>
            <a:r>
              <a:rPr lang="en-US" sz="1600" dirty="0">
                <a:solidFill>
                  <a:srgbClr val="384653"/>
                </a:solidFill>
                <a:latin typeface="微软雅黑" panose="020B0503020204020204" charset="-122"/>
                <a:ea typeface="微软雅黑" panose="020B0503020204020204" charset="-122"/>
                <a:cs typeface="微软雅黑" panose="020B0503020204020204" charset="-122"/>
              </a:rPr>
              <a:t>模型评估将重点关注</a:t>
            </a:r>
            <a:r>
              <a:rPr lang="en-US" sz="1600" b="1" dirty="0">
                <a:solidFill>
                  <a:srgbClr val="384653"/>
                </a:solidFill>
                <a:latin typeface="微软雅黑" panose="020B0503020204020204" charset="-122"/>
                <a:ea typeface="微软雅黑" panose="020B0503020204020204" charset="-122"/>
                <a:cs typeface="微软雅黑" panose="020B0503020204020204" charset="-122"/>
              </a:rPr>
              <a:t>分类准确率 (Accuracy)</a:t>
            </a:r>
            <a:r>
              <a:rPr lang="en-US" sz="1600" dirty="0">
                <a:solidFill>
                  <a:srgbClr val="384653"/>
                </a:solidFill>
                <a:latin typeface="微软雅黑" panose="020B0503020204020204" charset="-122"/>
                <a:ea typeface="微软雅黑" panose="020B0503020204020204" charset="-122"/>
                <a:cs typeface="微软雅黑" panose="020B0503020204020204" charset="-122"/>
              </a:rPr>
              <a:t> 和</a:t>
            </a:r>
            <a:r>
              <a:rPr lang="en-US" sz="1600" b="1" dirty="0">
                <a:solidFill>
                  <a:srgbClr val="384653"/>
                </a:solidFill>
                <a:latin typeface="微软雅黑" panose="020B0503020204020204" charset="-122"/>
                <a:ea typeface="微软雅黑" panose="020B0503020204020204" charset="-122"/>
                <a:cs typeface="微软雅黑" panose="020B0503020204020204" charset="-122"/>
              </a:rPr>
              <a:t>宏平均F1分数 (Macro-F1)</a:t>
            </a:r>
            <a:r>
              <a:rPr lang="en-US" sz="1600" dirty="0">
                <a:solidFill>
                  <a:srgbClr val="384653"/>
                </a:solidFill>
                <a:latin typeface="微软雅黑" panose="020B0503020204020204" charset="-122"/>
                <a:ea typeface="微软雅黑" panose="020B0503020204020204" charset="-122"/>
                <a:cs typeface="微软雅黑" panose="020B0503020204020204" charset="-122"/>
              </a:rPr>
              <a:t>。准确率衡量整体分类的正确性，而宏平均F1分数则更关键，因为它对每个类别赋予相同的权重，能有效反映模型在不同价格等级上的分类性能，尤其在类别分布不均衡时，能避免高准确率的假象。</a:t>
            </a:r>
            <a:endParaRPr lang="en-US" sz="1600" dirty="0">
              <a:solidFill>
                <a:srgbClr val="384653"/>
              </a:solidFill>
              <a:latin typeface="微软雅黑" panose="020B0503020204020204" charset="-122"/>
              <a:ea typeface="微软雅黑" panose="020B0503020204020204" charset="-122"/>
              <a:cs typeface="微软雅黑" panose="020B0503020204020204" charset="-122"/>
            </a:endParaRPr>
          </a:p>
        </p:txBody>
      </p:sp>
      <p:pic>
        <p:nvPicPr>
          <p:cNvPr id="12" name="Image 0" descr="preencoded.png"/>
          <p:cNvPicPr>
            <a:picLocks noChangeAspect="1"/>
          </p:cNvPicPr>
          <p:nvPr/>
        </p:nvPicPr>
        <p:blipFill>
          <a:blip r:embed="rId1"/>
          <a:stretch>
            <a:fillRect/>
          </a:stretch>
        </p:blipFill>
        <p:spPr>
          <a:xfrm>
            <a:off x="6448425" y="1339850"/>
            <a:ext cx="7841615" cy="5549900"/>
          </a:xfrm>
          <a:prstGeom prst="rect">
            <a:avLst/>
          </a:prstGeom>
        </p:spPr>
      </p:pic>
      <p:sp>
        <p:nvSpPr>
          <p:cNvPr id="13" name="Text 10"/>
          <p:cNvSpPr/>
          <p:nvPr/>
        </p:nvSpPr>
        <p:spPr>
          <a:xfrm>
            <a:off x="6448425" y="6441758"/>
            <a:ext cx="7431167" cy="272891"/>
          </a:xfrm>
          <a:prstGeom prst="rect">
            <a:avLst/>
          </a:prstGeom>
          <a:noFill/>
        </p:spPr>
        <p:txBody>
          <a:bodyPr wrap="none" lIns="0" tIns="0" rIns="0" bIns="0" rtlCol="0" anchor="t"/>
          <a:lstStyle/>
          <a:p>
            <a:pPr marL="0" indent="0" algn="l">
              <a:lnSpc>
                <a:spcPts val="2100"/>
              </a:lnSpc>
              <a:buNone/>
            </a:pPr>
            <a:endParaRPr lang="en-US" sz="1300" dirty="0">
              <a:latin typeface="微软雅黑" panose="020B0503020204020204" charset="-122"/>
              <a:ea typeface="微软雅黑" panose="020B0503020204020204" charset="-122"/>
            </a:endParaRPr>
          </a:p>
        </p:txBody>
      </p:sp>
      <p:sp>
        <p:nvSpPr>
          <p:cNvPr id="14" name="Text 11"/>
          <p:cNvSpPr/>
          <p:nvPr/>
        </p:nvSpPr>
        <p:spPr>
          <a:xfrm>
            <a:off x="758309" y="6431439"/>
            <a:ext cx="13113782" cy="272891"/>
          </a:xfrm>
          <a:prstGeom prst="rect">
            <a:avLst/>
          </a:prstGeom>
          <a:noFill/>
        </p:spPr>
        <p:txBody>
          <a:bodyPr wrap="none" lIns="0" tIns="0" rIns="0" bIns="0" rtlCol="0" anchor="t"/>
          <a:lstStyle/>
          <a:p>
            <a:pPr marL="0" indent="0" algn="l">
              <a:lnSpc>
                <a:spcPts val="2100"/>
              </a:lnSpc>
              <a:buNone/>
            </a:pPr>
            <a:r>
              <a:rPr lang="en-US" sz="1600" dirty="0">
                <a:solidFill>
                  <a:srgbClr val="384653"/>
                </a:solidFill>
                <a:latin typeface="微软雅黑" panose="020B0503020204020204" charset="-122"/>
                <a:ea typeface="微软雅黑" panose="020B0503020204020204" charset="-122"/>
                <a:cs typeface="微软雅黑" panose="020B0503020204020204" charset="-122"/>
              </a:rPr>
              <a:t>我们将探究在同一套预处理流程下，基于距离度量的KNN、</a:t>
            </a:r>
            <a:endParaRPr lang="en-US" sz="1600" dirty="0">
              <a:solidFill>
                <a:srgbClr val="384653"/>
              </a:solidFill>
              <a:latin typeface="微软雅黑" panose="020B0503020204020204" charset="-122"/>
              <a:ea typeface="微软雅黑" panose="020B0503020204020204" charset="-122"/>
              <a:cs typeface="微软雅黑" panose="020B0503020204020204" charset="-122"/>
            </a:endParaRPr>
          </a:p>
          <a:p>
            <a:pPr marL="0" indent="0" algn="l">
              <a:lnSpc>
                <a:spcPts val="2100"/>
              </a:lnSpc>
              <a:buNone/>
            </a:pPr>
            <a:r>
              <a:rPr lang="en-US" sz="1600" dirty="0">
                <a:solidFill>
                  <a:srgbClr val="384653"/>
                </a:solidFill>
                <a:latin typeface="微软雅黑" panose="020B0503020204020204" charset="-122"/>
                <a:ea typeface="微软雅黑" panose="020B0503020204020204" charset="-122"/>
                <a:cs typeface="微软雅黑" panose="020B0503020204020204" charset="-122"/>
              </a:rPr>
              <a:t>基于几何间隔的SVM以及基于决策树集成的随机森林，</a:t>
            </a:r>
            <a:endParaRPr lang="en-US" sz="1600" dirty="0">
              <a:solidFill>
                <a:srgbClr val="384653"/>
              </a:solidFill>
              <a:latin typeface="微软雅黑" panose="020B0503020204020204" charset="-122"/>
              <a:ea typeface="微软雅黑" panose="020B0503020204020204" charset="-122"/>
              <a:cs typeface="微软雅黑" panose="020B0503020204020204" charset="-122"/>
            </a:endParaRPr>
          </a:p>
          <a:p>
            <a:pPr marL="0" indent="0" algn="l">
              <a:lnSpc>
                <a:spcPts val="2100"/>
              </a:lnSpc>
              <a:buNone/>
            </a:pPr>
            <a:r>
              <a:rPr lang="en-US" sz="1600" dirty="0">
                <a:solidFill>
                  <a:srgbClr val="384653"/>
                </a:solidFill>
                <a:latin typeface="微软雅黑" panose="020B0503020204020204" charset="-122"/>
                <a:ea typeface="微软雅黑" panose="020B0503020204020204" charset="-122"/>
                <a:cs typeface="微软雅黑" panose="020B0503020204020204" charset="-122"/>
              </a:rPr>
              <a:t>谁能更好地捕捉硬件参数与价格之间的非线性关系。</a:t>
            </a:r>
            <a:endParaRPr lang="en-US" sz="1600" dirty="0">
              <a:solidFill>
                <a:srgbClr val="38465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8309" y="760333"/>
            <a:ext cx="4988838" cy="623530"/>
          </a:xfrm>
          <a:prstGeom prst="rect">
            <a:avLst/>
          </a:prstGeom>
          <a:noFill/>
        </p:spPr>
        <p:txBody>
          <a:bodyPr wrap="none" lIns="0" tIns="0" rIns="0" bIns="0" rtlCol="0" anchor="t"/>
          <a:lstStyle/>
          <a:p>
            <a:pPr marL="0" indent="0" algn="l">
              <a:lnSpc>
                <a:spcPts val="4900"/>
              </a:lnSpc>
              <a:buNone/>
            </a:pPr>
            <a:r>
              <a:rPr lang="en-US" sz="3900" b="1" dirty="0">
                <a:solidFill>
                  <a:srgbClr val="2E3C4E"/>
                </a:solidFill>
                <a:latin typeface="微软雅黑" panose="020B0503020204020204" charset="-122"/>
                <a:ea typeface="微软雅黑" panose="020B0503020204020204" charset="-122"/>
                <a:cs typeface="Barlow Bold" pitchFamily="34" charset="-120"/>
              </a:rPr>
              <a:t>数据集概览与统计特性</a:t>
            </a:r>
            <a:endParaRPr lang="en-US" sz="3900" b="1" dirty="0">
              <a:solidFill>
                <a:srgbClr val="2E3C4E"/>
              </a:solidFill>
              <a:latin typeface="微软雅黑" panose="020B0503020204020204" charset="-122"/>
              <a:ea typeface="微软雅黑" panose="020B0503020204020204" charset="-122"/>
              <a:cs typeface="Barlow Bold" pitchFamily="34" charset="-120"/>
            </a:endParaRPr>
          </a:p>
        </p:txBody>
      </p:sp>
      <p:sp>
        <p:nvSpPr>
          <p:cNvPr id="3" name="Text 1"/>
          <p:cNvSpPr/>
          <p:nvPr/>
        </p:nvSpPr>
        <p:spPr>
          <a:xfrm>
            <a:off x="758309" y="1857732"/>
            <a:ext cx="3100745" cy="625554"/>
          </a:xfrm>
          <a:prstGeom prst="rect">
            <a:avLst/>
          </a:prstGeom>
          <a:noFill/>
        </p:spPr>
        <p:txBody>
          <a:bodyPr wrap="none" lIns="0" tIns="0" rIns="0" bIns="0" rtlCol="0" anchor="t"/>
          <a:lstStyle/>
          <a:p>
            <a:pPr marL="0" indent="0" algn="ctr">
              <a:lnSpc>
                <a:spcPts val="4900"/>
              </a:lnSpc>
              <a:buNone/>
            </a:pPr>
            <a:r>
              <a:rPr lang="en-US" sz="4900" b="1" dirty="0">
                <a:solidFill>
                  <a:srgbClr val="384653"/>
                </a:solidFill>
                <a:latin typeface="微软雅黑" panose="020B0503020204020204" charset="-122"/>
                <a:ea typeface="微软雅黑" panose="020B0503020204020204" charset="-122"/>
                <a:cs typeface="Barlow Bold" pitchFamily="34" charset="-120"/>
              </a:rPr>
              <a:t>2000</a:t>
            </a:r>
            <a:endParaRPr lang="en-US" sz="4900" b="1" dirty="0">
              <a:solidFill>
                <a:srgbClr val="384653"/>
              </a:solidFill>
              <a:latin typeface="微软雅黑" panose="020B0503020204020204" charset="-122"/>
              <a:ea typeface="微软雅黑" panose="020B0503020204020204" charset="-122"/>
              <a:cs typeface="Barlow Bold" pitchFamily="34" charset="-120"/>
            </a:endParaRPr>
          </a:p>
        </p:txBody>
      </p:sp>
      <p:sp>
        <p:nvSpPr>
          <p:cNvPr id="4" name="Text 2"/>
          <p:cNvSpPr/>
          <p:nvPr/>
        </p:nvSpPr>
        <p:spPr>
          <a:xfrm>
            <a:off x="1061442" y="2720221"/>
            <a:ext cx="2494359" cy="311706"/>
          </a:xfrm>
          <a:prstGeom prst="rect">
            <a:avLst/>
          </a:prstGeom>
          <a:noFill/>
        </p:spPr>
        <p:txBody>
          <a:bodyPr wrap="none" lIns="0" tIns="0" rIns="0" bIns="0" rtlCol="0" anchor="t"/>
          <a:lstStyle/>
          <a:p>
            <a:pPr marL="0" indent="0" algn="ctr">
              <a:lnSpc>
                <a:spcPts val="2450"/>
              </a:lnSpc>
              <a:buNone/>
            </a:pPr>
            <a:r>
              <a:rPr lang="en-US" sz="1950" b="1" dirty="0">
                <a:solidFill>
                  <a:srgbClr val="384653"/>
                </a:solidFill>
                <a:latin typeface="微软雅黑" panose="020B0503020204020204" charset="-122"/>
                <a:ea typeface="微软雅黑" panose="020B0503020204020204" charset="-122"/>
                <a:cs typeface="Barlow Bold" pitchFamily="34" charset="-120"/>
              </a:rPr>
              <a:t>训练样本</a:t>
            </a:r>
            <a:endParaRPr lang="en-US" sz="1950" b="1" dirty="0">
              <a:solidFill>
                <a:srgbClr val="384653"/>
              </a:solidFill>
              <a:latin typeface="微软雅黑" panose="020B0503020204020204" charset="-122"/>
              <a:ea typeface="微软雅黑" panose="020B0503020204020204" charset="-122"/>
              <a:cs typeface="Barlow Bold" pitchFamily="34" charset="-120"/>
            </a:endParaRPr>
          </a:p>
        </p:txBody>
      </p:sp>
      <p:sp>
        <p:nvSpPr>
          <p:cNvPr id="5" name="Text 3"/>
          <p:cNvSpPr/>
          <p:nvPr/>
        </p:nvSpPr>
        <p:spPr>
          <a:xfrm>
            <a:off x="758309" y="3145631"/>
            <a:ext cx="3100745" cy="303252"/>
          </a:xfrm>
          <a:prstGeom prst="rect">
            <a:avLst/>
          </a:prstGeom>
          <a:noFill/>
        </p:spPr>
        <p:txBody>
          <a:bodyPr wrap="none" lIns="0" tIns="0" rIns="0" bIns="0" rtlCol="0" anchor="t"/>
          <a:lstStyle/>
          <a:p>
            <a:pPr marL="0" indent="0" algn="ctr">
              <a:lnSpc>
                <a:spcPts val="2350"/>
              </a:lnSpc>
              <a:buNone/>
            </a:pPr>
            <a:r>
              <a:rPr lang="en-US" sz="1450" dirty="0">
                <a:solidFill>
                  <a:srgbClr val="384653"/>
                </a:solidFill>
                <a:latin typeface="微软雅黑" panose="020B0503020204020204" charset="-122"/>
                <a:ea typeface="微软雅黑" panose="020B0503020204020204" charset="-122"/>
                <a:cs typeface="Montserrat" pitchFamily="34" charset="-120"/>
              </a:rPr>
              <a:t>完整的数据集规模</a:t>
            </a:r>
            <a:endParaRPr lang="en-US" sz="1450" dirty="0">
              <a:solidFill>
                <a:srgbClr val="384653"/>
              </a:solidFill>
              <a:latin typeface="微软雅黑" panose="020B0503020204020204" charset="-122"/>
              <a:ea typeface="微软雅黑" panose="020B0503020204020204" charset="-122"/>
              <a:cs typeface="Montserrat" pitchFamily="34" charset="-120"/>
            </a:endParaRPr>
          </a:p>
        </p:txBody>
      </p:sp>
      <p:sp>
        <p:nvSpPr>
          <p:cNvPr id="6" name="Text 4"/>
          <p:cNvSpPr/>
          <p:nvPr/>
        </p:nvSpPr>
        <p:spPr>
          <a:xfrm>
            <a:off x="4095988" y="1857732"/>
            <a:ext cx="3100745" cy="625554"/>
          </a:xfrm>
          <a:prstGeom prst="rect">
            <a:avLst/>
          </a:prstGeom>
          <a:noFill/>
        </p:spPr>
        <p:txBody>
          <a:bodyPr wrap="none" lIns="0" tIns="0" rIns="0" bIns="0" rtlCol="0" anchor="t"/>
          <a:lstStyle/>
          <a:p>
            <a:pPr marL="0" indent="0" algn="ctr">
              <a:lnSpc>
                <a:spcPts val="4900"/>
              </a:lnSpc>
              <a:buNone/>
            </a:pPr>
            <a:r>
              <a:rPr lang="en-US" sz="4900" b="1" dirty="0">
                <a:solidFill>
                  <a:srgbClr val="384653"/>
                </a:solidFill>
                <a:latin typeface="微软雅黑" panose="020B0503020204020204" charset="-122"/>
                <a:ea typeface="微软雅黑" panose="020B0503020204020204" charset="-122"/>
                <a:cs typeface="Barlow Bold" pitchFamily="34" charset="-120"/>
              </a:rPr>
              <a:t>20</a:t>
            </a:r>
            <a:endParaRPr lang="en-US" sz="4900" b="1" dirty="0">
              <a:solidFill>
                <a:srgbClr val="384653"/>
              </a:solidFill>
              <a:latin typeface="微软雅黑" panose="020B0503020204020204" charset="-122"/>
              <a:ea typeface="微软雅黑" panose="020B0503020204020204" charset="-122"/>
              <a:cs typeface="Barlow Bold" pitchFamily="34" charset="-120"/>
            </a:endParaRPr>
          </a:p>
        </p:txBody>
      </p:sp>
      <p:sp>
        <p:nvSpPr>
          <p:cNvPr id="7" name="Text 5"/>
          <p:cNvSpPr/>
          <p:nvPr/>
        </p:nvSpPr>
        <p:spPr>
          <a:xfrm>
            <a:off x="4399121" y="2720221"/>
            <a:ext cx="2494359" cy="311706"/>
          </a:xfrm>
          <a:prstGeom prst="rect">
            <a:avLst/>
          </a:prstGeom>
          <a:noFill/>
        </p:spPr>
        <p:txBody>
          <a:bodyPr wrap="none" lIns="0" tIns="0" rIns="0" bIns="0" rtlCol="0" anchor="t"/>
          <a:lstStyle/>
          <a:p>
            <a:pPr marL="0" indent="0" algn="ctr">
              <a:lnSpc>
                <a:spcPts val="2450"/>
              </a:lnSpc>
              <a:buNone/>
            </a:pPr>
            <a:r>
              <a:rPr lang="en-US" sz="1950" b="1" dirty="0">
                <a:solidFill>
                  <a:srgbClr val="384653"/>
                </a:solidFill>
                <a:latin typeface="微软雅黑" panose="020B0503020204020204" charset="-122"/>
                <a:ea typeface="微软雅黑" panose="020B0503020204020204" charset="-122"/>
                <a:cs typeface="Barlow Bold" pitchFamily="34" charset="-120"/>
              </a:rPr>
              <a:t>特征维度</a:t>
            </a:r>
            <a:endParaRPr lang="en-US" sz="1950" b="1" dirty="0">
              <a:solidFill>
                <a:srgbClr val="384653"/>
              </a:solidFill>
              <a:latin typeface="微软雅黑" panose="020B0503020204020204" charset="-122"/>
              <a:ea typeface="微软雅黑" panose="020B0503020204020204" charset="-122"/>
              <a:cs typeface="Barlow Bold" pitchFamily="34" charset="-120"/>
            </a:endParaRPr>
          </a:p>
        </p:txBody>
      </p:sp>
      <p:sp>
        <p:nvSpPr>
          <p:cNvPr id="8" name="Text 6"/>
          <p:cNvSpPr/>
          <p:nvPr/>
        </p:nvSpPr>
        <p:spPr>
          <a:xfrm>
            <a:off x="4095988" y="3145631"/>
            <a:ext cx="3100745" cy="303252"/>
          </a:xfrm>
          <a:prstGeom prst="rect">
            <a:avLst/>
          </a:prstGeom>
          <a:noFill/>
        </p:spPr>
        <p:txBody>
          <a:bodyPr wrap="none" lIns="0" tIns="0" rIns="0" bIns="0" rtlCol="0" anchor="t"/>
          <a:lstStyle/>
          <a:p>
            <a:pPr marL="0" indent="0" algn="ctr">
              <a:lnSpc>
                <a:spcPts val="2350"/>
              </a:lnSpc>
              <a:buNone/>
            </a:pPr>
            <a:r>
              <a:rPr lang="en-US" sz="1450" dirty="0">
                <a:solidFill>
                  <a:srgbClr val="384653"/>
                </a:solidFill>
                <a:latin typeface="微软雅黑" panose="020B0503020204020204" charset="-122"/>
                <a:ea typeface="微软雅黑" panose="020B0503020204020204" charset="-122"/>
                <a:cs typeface="Montserrat" pitchFamily="34" charset="-120"/>
              </a:rPr>
              <a:t>涵盖硬件到连接功能</a:t>
            </a:r>
            <a:endParaRPr lang="en-US" sz="1450" dirty="0">
              <a:solidFill>
                <a:srgbClr val="384653"/>
              </a:solidFill>
              <a:latin typeface="微软雅黑" panose="020B0503020204020204" charset="-122"/>
              <a:ea typeface="微软雅黑" panose="020B0503020204020204" charset="-122"/>
              <a:cs typeface="Montserrat" pitchFamily="34" charset="-120"/>
            </a:endParaRPr>
          </a:p>
        </p:txBody>
      </p:sp>
      <p:sp>
        <p:nvSpPr>
          <p:cNvPr id="9" name="Text 7"/>
          <p:cNvSpPr/>
          <p:nvPr/>
        </p:nvSpPr>
        <p:spPr>
          <a:xfrm>
            <a:off x="7433667" y="1857732"/>
            <a:ext cx="3100745" cy="625554"/>
          </a:xfrm>
          <a:prstGeom prst="rect">
            <a:avLst/>
          </a:prstGeom>
          <a:noFill/>
        </p:spPr>
        <p:txBody>
          <a:bodyPr wrap="none" lIns="0" tIns="0" rIns="0" bIns="0" rtlCol="0" anchor="t"/>
          <a:lstStyle/>
          <a:p>
            <a:pPr marL="0" indent="0" algn="ctr">
              <a:lnSpc>
                <a:spcPts val="4900"/>
              </a:lnSpc>
              <a:buNone/>
            </a:pPr>
            <a:r>
              <a:rPr lang="en-US" sz="4900" b="1" dirty="0">
                <a:solidFill>
                  <a:srgbClr val="384653"/>
                </a:solidFill>
                <a:latin typeface="微软雅黑" panose="020B0503020204020204" charset="-122"/>
                <a:ea typeface="微软雅黑" panose="020B0503020204020204" charset="-122"/>
                <a:cs typeface="Barlow Bold" pitchFamily="34" charset="-120"/>
              </a:rPr>
              <a:t>4</a:t>
            </a:r>
            <a:endParaRPr lang="en-US" sz="4900" b="1" dirty="0">
              <a:solidFill>
                <a:srgbClr val="384653"/>
              </a:solidFill>
              <a:latin typeface="微软雅黑" panose="020B0503020204020204" charset="-122"/>
              <a:ea typeface="微软雅黑" panose="020B0503020204020204" charset="-122"/>
              <a:cs typeface="Barlow Bold" pitchFamily="34" charset="-120"/>
            </a:endParaRPr>
          </a:p>
        </p:txBody>
      </p:sp>
      <p:sp>
        <p:nvSpPr>
          <p:cNvPr id="10" name="Text 8"/>
          <p:cNvSpPr/>
          <p:nvPr/>
        </p:nvSpPr>
        <p:spPr>
          <a:xfrm>
            <a:off x="7736800" y="2720221"/>
            <a:ext cx="2494359" cy="311706"/>
          </a:xfrm>
          <a:prstGeom prst="rect">
            <a:avLst/>
          </a:prstGeom>
          <a:noFill/>
        </p:spPr>
        <p:txBody>
          <a:bodyPr wrap="none" lIns="0" tIns="0" rIns="0" bIns="0" rtlCol="0" anchor="t"/>
          <a:lstStyle/>
          <a:p>
            <a:pPr marL="0" indent="0" algn="ctr">
              <a:lnSpc>
                <a:spcPts val="2450"/>
              </a:lnSpc>
              <a:buNone/>
            </a:pPr>
            <a:r>
              <a:rPr lang="en-US" sz="1950" b="1" dirty="0">
                <a:solidFill>
                  <a:srgbClr val="384653"/>
                </a:solidFill>
                <a:latin typeface="微软雅黑" panose="020B0503020204020204" charset="-122"/>
                <a:ea typeface="微软雅黑" panose="020B0503020204020204" charset="-122"/>
                <a:cs typeface="Barlow Bold" pitchFamily="34" charset="-120"/>
              </a:rPr>
              <a:t>价格等级</a:t>
            </a:r>
            <a:endParaRPr lang="en-US" sz="1950" b="1" dirty="0">
              <a:solidFill>
                <a:srgbClr val="384653"/>
              </a:solidFill>
              <a:latin typeface="微软雅黑" panose="020B0503020204020204" charset="-122"/>
              <a:ea typeface="微软雅黑" panose="020B0503020204020204" charset="-122"/>
              <a:cs typeface="Barlow Bold" pitchFamily="34" charset="-120"/>
            </a:endParaRPr>
          </a:p>
        </p:txBody>
      </p:sp>
      <p:sp>
        <p:nvSpPr>
          <p:cNvPr id="11" name="Text 9"/>
          <p:cNvSpPr/>
          <p:nvPr/>
        </p:nvSpPr>
        <p:spPr>
          <a:xfrm>
            <a:off x="7433667" y="3145631"/>
            <a:ext cx="3100745" cy="303252"/>
          </a:xfrm>
          <a:prstGeom prst="rect">
            <a:avLst/>
          </a:prstGeom>
          <a:noFill/>
        </p:spPr>
        <p:txBody>
          <a:bodyPr wrap="none" lIns="0" tIns="0" rIns="0" bIns="0" rtlCol="0" anchor="t"/>
          <a:lstStyle/>
          <a:p>
            <a:pPr marL="0" indent="0" algn="ctr">
              <a:lnSpc>
                <a:spcPts val="2350"/>
              </a:lnSpc>
              <a:buNone/>
            </a:pPr>
            <a:r>
              <a:rPr lang="en-US" sz="1450" dirty="0">
                <a:solidFill>
                  <a:srgbClr val="384653"/>
                </a:solidFill>
                <a:latin typeface="微软雅黑" panose="020B0503020204020204" charset="-122"/>
                <a:ea typeface="微软雅黑" panose="020B0503020204020204" charset="-122"/>
                <a:cs typeface="Montserrat" pitchFamily="34" charset="-120"/>
              </a:rPr>
              <a:t>低端到旗舰四个类别</a:t>
            </a:r>
            <a:endParaRPr lang="en-US" sz="1450" dirty="0">
              <a:solidFill>
                <a:srgbClr val="384653"/>
              </a:solidFill>
              <a:latin typeface="微软雅黑" panose="020B0503020204020204" charset="-122"/>
              <a:ea typeface="微软雅黑" panose="020B0503020204020204" charset="-122"/>
              <a:cs typeface="Montserrat" pitchFamily="34" charset="-120"/>
            </a:endParaRPr>
          </a:p>
        </p:txBody>
      </p:sp>
      <p:sp>
        <p:nvSpPr>
          <p:cNvPr id="12" name="Text 10"/>
          <p:cNvSpPr/>
          <p:nvPr/>
        </p:nvSpPr>
        <p:spPr>
          <a:xfrm>
            <a:off x="10771346" y="1857732"/>
            <a:ext cx="3100745" cy="625554"/>
          </a:xfrm>
          <a:prstGeom prst="rect">
            <a:avLst/>
          </a:prstGeom>
          <a:noFill/>
        </p:spPr>
        <p:txBody>
          <a:bodyPr wrap="none" lIns="0" tIns="0" rIns="0" bIns="0" rtlCol="0" anchor="t"/>
          <a:lstStyle/>
          <a:p>
            <a:pPr marL="0" indent="0" algn="ctr">
              <a:lnSpc>
                <a:spcPts val="4900"/>
              </a:lnSpc>
              <a:buNone/>
            </a:pPr>
            <a:r>
              <a:rPr lang="en-US" sz="4900" b="1" dirty="0">
                <a:solidFill>
                  <a:srgbClr val="384653"/>
                </a:solidFill>
                <a:latin typeface="微软雅黑" panose="020B0503020204020204" charset="-122"/>
                <a:ea typeface="微软雅黑" panose="020B0503020204020204" charset="-122"/>
                <a:cs typeface="Barlow Bold" pitchFamily="34" charset="-120"/>
              </a:rPr>
              <a:t>25%</a:t>
            </a:r>
            <a:endParaRPr lang="en-US" sz="4900" b="1" dirty="0">
              <a:solidFill>
                <a:srgbClr val="384653"/>
              </a:solidFill>
              <a:latin typeface="微软雅黑" panose="020B0503020204020204" charset="-122"/>
              <a:ea typeface="微软雅黑" panose="020B0503020204020204" charset="-122"/>
              <a:cs typeface="Barlow Bold" pitchFamily="34" charset="-120"/>
            </a:endParaRPr>
          </a:p>
        </p:txBody>
      </p:sp>
      <p:sp>
        <p:nvSpPr>
          <p:cNvPr id="13" name="Text 11"/>
          <p:cNvSpPr/>
          <p:nvPr/>
        </p:nvSpPr>
        <p:spPr>
          <a:xfrm>
            <a:off x="11074479" y="2720221"/>
            <a:ext cx="2494359" cy="311706"/>
          </a:xfrm>
          <a:prstGeom prst="rect">
            <a:avLst/>
          </a:prstGeom>
          <a:noFill/>
        </p:spPr>
        <p:txBody>
          <a:bodyPr wrap="none" lIns="0" tIns="0" rIns="0" bIns="0" rtlCol="0" anchor="t"/>
          <a:lstStyle/>
          <a:p>
            <a:pPr marL="0" indent="0" algn="ctr">
              <a:lnSpc>
                <a:spcPts val="2450"/>
              </a:lnSpc>
              <a:buNone/>
            </a:pPr>
            <a:r>
              <a:rPr lang="en-US" sz="1950" b="1" dirty="0">
                <a:solidFill>
                  <a:srgbClr val="384653"/>
                </a:solidFill>
                <a:latin typeface="微软雅黑" panose="020B0503020204020204" charset="-122"/>
                <a:ea typeface="微软雅黑" panose="020B0503020204020204" charset="-122"/>
                <a:cs typeface="Barlow Bold" pitchFamily="34" charset="-120"/>
              </a:rPr>
              <a:t>类别分布</a:t>
            </a:r>
            <a:endParaRPr lang="en-US" sz="1950" b="1" dirty="0">
              <a:solidFill>
                <a:srgbClr val="384653"/>
              </a:solidFill>
              <a:latin typeface="微软雅黑" panose="020B0503020204020204" charset="-122"/>
              <a:ea typeface="微软雅黑" panose="020B0503020204020204" charset="-122"/>
              <a:cs typeface="Barlow Bold" pitchFamily="34" charset="-120"/>
            </a:endParaRPr>
          </a:p>
        </p:txBody>
      </p:sp>
      <p:sp>
        <p:nvSpPr>
          <p:cNvPr id="14" name="Text 12"/>
          <p:cNvSpPr/>
          <p:nvPr/>
        </p:nvSpPr>
        <p:spPr>
          <a:xfrm>
            <a:off x="10771346" y="3145631"/>
            <a:ext cx="3100745" cy="303252"/>
          </a:xfrm>
          <a:prstGeom prst="rect">
            <a:avLst/>
          </a:prstGeom>
          <a:noFill/>
        </p:spPr>
        <p:txBody>
          <a:bodyPr wrap="none" lIns="0" tIns="0" rIns="0" bIns="0" rtlCol="0" anchor="t"/>
          <a:lstStyle/>
          <a:p>
            <a:pPr marL="0" indent="0" algn="ctr">
              <a:lnSpc>
                <a:spcPts val="2350"/>
              </a:lnSpc>
              <a:buNone/>
            </a:pPr>
            <a:r>
              <a:rPr lang="en-US" sz="1450" dirty="0">
                <a:solidFill>
                  <a:srgbClr val="384653"/>
                </a:solidFill>
                <a:latin typeface="微软雅黑" panose="020B0503020204020204" charset="-122"/>
                <a:ea typeface="微软雅黑" panose="020B0503020204020204" charset="-122"/>
                <a:cs typeface="Montserrat" pitchFamily="34" charset="-120"/>
              </a:rPr>
              <a:t>完全均衡的样本分配</a:t>
            </a:r>
            <a:endParaRPr lang="en-US" sz="1450" dirty="0">
              <a:solidFill>
                <a:srgbClr val="384653"/>
              </a:solidFill>
              <a:latin typeface="微软雅黑" panose="020B0503020204020204" charset="-122"/>
              <a:ea typeface="微软雅黑" panose="020B0503020204020204" charset="-122"/>
              <a:cs typeface="Montserrat" pitchFamily="34" charset="-120"/>
            </a:endParaRPr>
          </a:p>
        </p:txBody>
      </p:sp>
      <p:sp>
        <p:nvSpPr>
          <p:cNvPr id="15" name="Shape 13"/>
          <p:cNvSpPr/>
          <p:nvPr/>
        </p:nvSpPr>
        <p:spPr>
          <a:xfrm>
            <a:off x="758309" y="3662124"/>
            <a:ext cx="13113782" cy="3290649"/>
          </a:xfrm>
          <a:prstGeom prst="roundRect">
            <a:avLst>
              <a:gd name="adj" fmla="val 8642"/>
            </a:avLst>
          </a:prstGeom>
          <a:noFill/>
          <a:ln w="7620">
            <a:solidFill>
              <a:srgbClr val="000000">
                <a:alpha val="8000"/>
              </a:srgbClr>
            </a:solidFill>
            <a:prstDash val="solid"/>
          </a:ln>
        </p:spPr>
      </p:sp>
      <p:sp>
        <p:nvSpPr>
          <p:cNvPr id="16" name="Shape 14"/>
          <p:cNvSpPr/>
          <p:nvPr/>
        </p:nvSpPr>
        <p:spPr>
          <a:xfrm>
            <a:off x="765929" y="3669744"/>
            <a:ext cx="13098542" cy="545902"/>
          </a:xfrm>
          <a:prstGeom prst="rect">
            <a:avLst/>
          </a:prstGeom>
          <a:solidFill>
            <a:srgbClr val="FFFFFF">
              <a:alpha val="4000"/>
            </a:srgbClr>
          </a:solidFill>
        </p:spPr>
      </p:sp>
      <p:sp>
        <p:nvSpPr>
          <p:cNvPr id="17" name="Text 15"/>
          <p:cNvSpPr/>
          <p:nvPr/>
        </p:nvSpPr>
        <p:spPr>
          <a:xfrm>
            <a:off x="955596" y="3791069"/>
            <a:ext cx="2891671" cy="303252"/>
          </a:xfrm>
          <a:prstGeom prst="rect">
            <a:avLst/>
          </a:prstGeom>
          <a:noFill/>
        </p:spPr>
        <p:txBody>
          <a:bodyPr wrap="none" lIns="0" tIns="0" rIns="0" bIns="0" rtlCol="0" anchor="t"/>
          <a:lstStyle/>
          <a:p>
            <a:pPr marL="0" indent="0" algn="l">
              <a:lnSpc>
                <a:spcPts val="2350"/>
              </a:lnSpc>
              <a:buNone/>
            </a:pPr>
            <a:r>
              <a:rPr lang="en-US" sz="1450" b="1" dirty="0">
                <a:solidFill>
                  <a:srgbClr val="384653"/>
                </a:solidFill>
                <a:latin typeface="微软雅黑" panose="020B0503020204020204" charset="-122"/>
                <a:ea typeface="微软雅黑" panose="020B0503020204020204" charset="-122"/>
                <a:cs typeface="Montserrat" pitchFamily="34" charset="-120"/>
              </a:rPr>
              <a:t>特征类别</a:t>
            </a:r>
            <a:endParaRPr lang="en-US" sz="1450" b="1" dirty="0">
              <a:solidFill>
                <a:srgbClr val="384653"/>
              </a:solidFill>
              <a:latin typeface="微软雅黑" panose="020B0503020204020204" charset="-122"/>
              <a:ea typeface="微软雅黑" panose="020B0503020204020204" charset="-122"/>
              <a:cs typeface="Montserrat" pitchFamily="34" charset="-120"/>
            </a:endParaRPr>
          </a:p>
        </p:txBody>
      </p:sp>
      <p:sp>
        <p:nvSpPr>
          <p:cNvPr id="18" name="Text 16"/>
          <p:cNvSpPr/>
          <p:nvPr/>
        </p:nvSpPr>
        <p:spPr>
          <a:xfrm>
            <a:off x="4233982" y="3791069"/>
            <a:ext cx="3542824" cy="303252"/>
          </a:xfrm>
          <a:prstGeom prst="rect">
            <a:avLst/>
          </a:prstGeom>
          <a:noFill/>
        </p:spPr>
        <p:txBody>
          <a:bodyPr wrap="none" lIns="0" tIns="0" rIns="0" bIns="0" rtlCol="0" anchor="t"/>
          <a:lstStyle/>
          <a:p>
            <a:pPr marL="0" indent="0" algn="l">
              <a:lnSpc>
                <a:spcPts val="2350"/>
              </a:lnSpc>
              <a:buNone/>
            </a:pPr>
            <a:r>
              <a:rPr lang="en-US" sz="1450" b="1" dirty="0">
                <a:solidFill>
                  <a:srgbClr val="384653"/>
                </a:solidFill>
                <a:latin typeface="微软雅黑" panose="020B0503020204020204" charset="-122"/>
                <a:ea typeface="微软雅黑" panose="020B0503020204020204" charset="-122"/>
                <a:cs typeface="Montserrat" pitchFamily="34" charset="-120"/>
              </a:rPr>
              <a:t>变量示例</a:t>
            </a:r>
            <a:endParaRPr lang="en-US" sz="1450" b="1" dirty="0">
              <a:solidFill>
                <a:srgbClr val="384653"/>
              </a:solidFill>
              <a:latin typeface="微软雅黑" panose="020B0503020204020204" charset="-122"/>
              <a:ea typeface="微软雅黑" panose="020B0503020204020204" charset="-122"/>
              <a:cs typeface="Montserrat" pitchFamily="34" charset="-120"/>
            </a:endParaRPr>
          </a:p>
        </p:txBody>
      </p:sp>
      <p:sp>
        <p:nvSpPr>
          <p:cNvPr id="19" name="Text 17"/>
          <p:cNvSpPr/>
          <p:nvPr/>
        </p:nvSpPr>
        <p:spPr>
          <a:xfrm>
            <a:off x="8163520" y="3791069"/>
            <a:ext cx="1578054" cy="303252"/>
          </a:xfrm>
          <a:prstGeom prst="rect">
            <a:avLst/>
          </a:prstGeom>
          <a:noFill/>
        </p:spPr>
        <p:txBody>
          <a:bodyPr wrap="none" lIns="0" tIns="0" rIns="0" bIns="0" rtlCol="0" anchor="t"/>
          <a:lstStyle/>
          <a:p>
            <a:pPr marL="0" indent="0" algn="l">
              <a:lnSpc>
                <a:spcPts val="2350"/>
              </a:lnSpc>
              <a:buNone/>
            </a:pPr>
            <a:r>
              <a:rPr lang="en-US" sz="1450" b="1" dirty="0">
                <a:solidFill>
                  <a:srgbClr val="384653"/>
                </a:solidFill>
                <a:latin typeface="微软雅黑" panose="020B0503020204020204" charset="-122"/>
                <a:ea typeface="微软雅黑" panose="020B0503020204020204" charset="-122"/>
                <a:cs typeface="Montserrat" pitchFamily="34" charset="-120"/>
              </a:rPr>
              <a:t>数据类型</a:t>
            </a:r>
            <a:endParaRPr lang="en-US" sz="1450" b="1" dirty="0">
              <a:solidFill>
                <a:srgbClr val="384653"/>
              </a:solidFill>
              <a:latin typeface="微软雅黑" panose="020B0503020204020204" charset="-122"/>
              <a:ea typeface="微软雅黑" panose="020B0503020204020204" charset="-122"/>
              <a:cs typeface="Montserrat" pitchFamily="34" charset="-120"/>
            </a:endParaRPr>
          </a:p>
        </p:txBody>
      </p:sp>
      <p:sp>
        <p:nvSpPr>
          <p:cNvPr id="20" name="Text 18"/>
          <p:cNvSpPr/>
          <p:nvPr/>
        </p:nvSpPr>
        <p:spPr>
          <a:xfrm>
            <a:off x="10128290" y="3791069"/>
            <a:ext cx="3546634" cy="303252"/>
          </a:xfrm>
          <a:prstGeom prst="rect">
            <a:avLst/>
          </a:prstGeom>
          <a:noFill/>
        </p:spPr>
        <p:txBody>
          <a:bodyPr wrap="none" lIns="0" tIns="0" rIns="0" bIns="0" rtlCol="0" anchor="t"/>
          <a:lstStyle/>
          <a:p>
            <a:pPr marL="0" indent="0" algn="l">
              <a:lnSpc>
                <a:spcPts val="2350"/>
              </a:lnSpc>
              <a:buNone/>
            </a:pPr>
            <a:r>
              <a:rPr lang="en-US" sz="1450" b="1" dirty="0">
                <a:solidFill>
                  <a:srgbClr val="384653"/>
                </a:solidFill>
                <a:latin typeface="微软雅黑" panose="020B0503020204020204" charset="-122"/>
                <a:ea typeface="微软雅黑" panose="020B0503020204020204" charset="-122"/>
                <a:cs typeface="Montserrat" pitchFamily="34" charset="-120"/>
              </a:rPr>
              <a:t>物理含义</a:t>
            </a:r>
            <a:endParaRPr lang="en-US" sz="1450" b="1" dirty="0">
              <a:solidFill>
                <a:srgbClr val="384653"/>
              </a:solidFill>
              <a:latin typeface="微软雅黑" panose="020B0503020204020204" charset="-122"/>
              <a:ea typeface="微软雅黑" panose="020B0503020204020204" charset="-122"/>
              <a:cs typeface="Montserrat" pitchFamily="34" charset="-120"/>
            </a:endParaRPr>
          </a:p>
        </p:txBody>
      </p:sp>
      <p:sp>
        <p:nvSpPr>
          <p:cNvPr id="21" name="Shape 19"/>
          <p:cNvSpPr/>
          <p:nvPr/>
        </p:nvSpPr>
        <p:spPr>
          <a:xfrm>
            <a:off x="765929" y="4215646"/>
            <a:ext cx="13098542" cy="545902"/>
          </a:xfrm>
          <a:prstGeom prst="rect">
            <a:avLst/>
          </a:prstGeom>
          <a:solidFill>
            <a:srgbClr val="000000">
              <a:alpha val="4000"/>
            </a:srgbClr>
          </a:solidFill>
        </p:spPr>
      </p:sp>
      <p:sp>
        <p:nvSpPr>
          <p:cNvPr id="22" name="Text 20"/>
          <p:cNvSpPr/>
          <p:nvPr/>
        </p:nvSpPr>
        <p:spPr>
          <a:xfrm>
            <a:off x="955596" y="4336971"/>
            <a:ext cx="2891671"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Montserrat" pitchFamily="34" charset="-120"/>
              </a:rPr>
              <a:t>核心硬件</a:t>
            </a:r>
            <a:endParaRPr lang="en-US" sz="1450" dirty="0">
              <a:solidFill>
                <a:srgbClr val="384653"/>
              </a:solidFill>
              <a:latin typeface="微软雅黑" panose="020B0503020204020204" charset="-122"/>
              <a:ea typeface="微软雅黑" panose="020B0503020204020204" charset="-122"/>
              <a:cs typeface="Montserrat" pitchFamily="34" charset="-120"/>
            </a:endParaRPr>
          </a:p>
        </p:txBody>
      </p:sp>
      <p:sp>
        <p:nvSpPr>
          <p:cNvPr id="23" name="Text 21"/>
          <p:cNvSpPr/>
          <p:nvPr/>
        </p:nvSpPr>
        <p:spPr>
          <a:xfrm>
            <a:off x="4233982" y="4336971"/>
            <a:ext cx="3542824"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Montserrat" pitchFamily="34" charset="-120"/>
              </a:rPr>
              <a:t>ram, n_cores, clock_speed</a:t>
            </a:r>
            <a:endParaRPr lang="en-US" sz="1450" dirty="0">
              <a:solidFill>
                <a:srgbClr val="384653"/>
              </a:solidFill>
              <a:latin typeface="微软雅黑" panose="020B0503020204020204" charset="-122"/>
              <a:ea typeface="微软雅黑" panose="020B0503020204020204" charset="-122"/>
              <a:cs typeface="Montserrat" pitchFamily="34" charset="-120"/>
            </a:endParaRPr>
          </a:p>
        </p:txBody>
      </p:sp>
      <p:sp>
        <p:nvSpPr>
          <p:cNvPr id="24" name="Text 22"/>
          <p:cNvSpPr/>
          <p:nvPr/>
        </p:nvSpPr>
        <p:spPr>
          <a:xfrm>
            <a:off x="8163520" y="4336971"/>
            <a:ext cx="1578054"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Montserrat" pitchFamily="34" charset="-120"/>
              </a:rPr>
              <a:t>数值型</a:t>
            </a:r>
            <a:endParaRPr lang="en-US" sz="1450" dirty="0">
              <a:solidFill>
                <a:srgbClr val="384653"/>
              </a:solidFill>
              <a:latin typeface="微软雅黑" panose="020B0503020204020204" charset="-122"/>
              <a:ea typeface="微软雅黑" panose="020B0503020204020204" charset="-122"/>
              <a:cs typeface="Montserrat" pitchFamily="34" charset="-120"/>
            </a:endParaRPr>
          </a:p>
        </p:txBody>
      </p:sp>
      <p:sp>
        <p:nvSpPr>
          <p:cNvPr id="25" name="Text 23"/>
          <p:cNvSpPr/>
          <p:nvPr/>
        </p:nvSpPr>
        <p:spPr>
          <a:xfrm>
            <a:off x="10128290" y="4336971"/>
            <a:ext cx="3546634"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Montserrat" pitchFamily="34" charset="-120"/>
              </a:rPr>
              <a:t>运存大小、核心数、主频</a:t>
            </a:r>
            <a:endParaRPr lang="en-US" sz="1450" dirty="0">
              <a:solidFill>
                <a:srgbClr val="384653"/>
              </a:solidFill>
              <a:latin typeface="微软雅黑" panose="020B0503020204020204" charset="-122"/>
              <a:ea typeface="微软雅黑" panose="020B0503020204020204" charset="-122"/>
              <a:cs typeface="Montserrat" pitchFamily="34" charset="-120"/>
            </a:endParaRPr>
          </a:p>
        </p:txBody>
      </p:sp>
      <p:sp>
        <p:nvSpPr>
          <p:cNvPr id="26" name="Shape 24"/>
          <p:cNvSpPr/>
          <p:nvPr/>
        </p:nvSpPr>
        <p:spPr>
          <a:xfrm>
            <a:off x="765929" y="4761548"/>
            <a:ext cx="13098542" cy="545902"/>
          </a:xfrm>
          <a:prstGeom prst="rect">
            <a:avLst/>
          </a:prstGeom>
          <a:solidFill>
            <a:srgbClr val="FFFFFF">
              <a:alpha val="4000"/>
            </a:srgbClr>
          </a:solidFill>
        </p:spPr>
      </p:sp>
      <p:sp>
        <p:nvSpPr>
          <p:cNvPr id="27" name="Text 25"/>
          <p:cNvSpPr/>
          <p:nvPr/>
        </p:nvSpPr>
        <p:spPr>
          <a:xfrm>
            <a:off x="955596" y="4882872"/>
            <a:ext cx="2891671"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Montserrat" pitchFamily="34" charset="-120"/>
              </a:rPr>
              <a:t>显示参数</a:t>
            </a:r>
            <a:endParaRPr lang="en-US" sz="1450" dirty="0">
              <a:solidFill>
                <a:srgbClr val="384653"/>
              </a:solidFill>
              <a:latin typeface="微软雅黑" panose="020B0503020204020204" charset="-122"/>
              <a:ea typeface="微软雅黑" panose="020B0503020204020204" charset="-122"/>
              <a:cs typeface="Montserrat" pitchFamily="34" charset="-120"/>
            </a:endParaRPr>
          </a:p>
        </p:txBody>
      </p:sp>
      <p:sp>
        <p:nvSpPr>
          <p:cNvPr id="28" name="Text 26"/>
          <p:cNvSpPr/>
          <p:nvPr/>
        </p:nvSpPr>
        <p:spPr>
          <a:xfrm>
            <a:off x="4233982" y="4882872"/>
            <a:ext cx="3542824"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Montserrat" pitchFamily="34" charset="-120"/>
              </a:rPr>
              <a:t>px_height, px_width, sc_h</a:t>
            </a:r>
            <a:endParaRPr lang="en-US" sz="1450" dirty="0">
              <a:solidFill>
                <a:srgbClr val="384653"/>
              </a:solidFill>
              <a:latin typeface="微软雅黑" panose="020B0503020204020204" charset="-122"/>
              <a:ea typeface="微软雅黑" panose="020B0503020204020204" charset="-122"/>
              <a:cs typeface="Montserrat" pitchFamily="34" charset="-120"/>
            </a:endParaRPr>
          </a:p>
        </p:txBody>
      </p:sp>
      <p:sp>
        <p:nvSpPr>
          <p:cNvPr id="29" name="Text 27"/>
          <p:cNvSpPr/>
          <p:nvPr/>
        </p:nvSpPr>
        <p:spPr>
          <a:xfrm>
            <a:off x="8163520" y="4882872"/>
            <a:ext cx="1578054"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Montserrat" pitchFamily="34" charset="-120"/>
              </a:rPr>
              <a:t>数值型</a:t>
            </a:r>
            <a:endParaRPr lang="en-US" sz="1450" dirty="0">
              <a:solidFill>
                <a:srgbClr val="384653"/>
              </a:solidFill>
              <a:latin typeface="微软雅黑" panose="020B0503020204020204" charset="-122"/>
              <a:ea typeface="微软雅黑" panose="020B0503020204020204" charset="-122"/>
              <a:cs typeface="Montserrat" pitchFamily="34" charset="-120"/>
            </a:endParaRPr>
          </a:p>
        </p:txBody>
      </p:sp>
      <p:sp>
        <p:nvSpPr>
          <p:cNvPr id="30" name="Text 28"/>
          <p:cNvSpPr/>
          <p:nvPr/>
        </p:nvSpPr>
        <p:spPr>
          <a:xfrm>
            <a:off x="10128290" y="4882872"/>
            <a:ext cx="3546634"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Montserrat" pitchFamily="34" charset="-120"/>
              </a:rPr>
              <a:t>像素分辨率、屏幕尺寸</a:t>
            </a:r>
            <a:endParaRPr lang="en-US" sz="1450" dirty="0">
              <a:solidFill>
                <a:srgbClr val="384653"/>
              </a:solidFill>
              <a:latin typeface="微软雅黑" panose="020B0503020204020204" charset="-122"/>
              <a:ea typeface="微软雅黑" panose="020B0503020204020204" charset="-122"/>
              <a:cs typeface="Montserrat" pitchFamily="34" charset="-120"/>
            </a:endParaRPr>
          </a:p>
        </p:txBody>
      </p:sp>
      <p:sp>
        <p:nvSpPr>
          <p:cNvPr id="31" name="Shape 29"/>
          <p:cNvSpPr/>
          <p:nvPr/>
        </p:nvSpPr>
        <p:spPr>
          <a:xfrm>
            <a:off x="765929" y="5307449"/>
            <a:ext cx="13098542" cy="545902"/>
          </a:xfrm>
          <a:prstGeom prst="rect">
            <a:avLst/>
          </a:prstGeom>
          <a:solidFill>
            <a:srgbClr val="000000">
              <a:alpha val="4000"/>
            </a:srgbClr>
          </a:solidFill>
        </p:spPr>
      </p:sp>
      <p:sp>
        <p:nvSpPr>
          <p:cNvPr id="32" name="Text 30"/>
          <p:cNvSpPr/>
          <p:nvPr/>
        </p:nvSpPr>
        <p:spPr>
          <a:xfrm>
            <a:off x="955596" y="5428774"/>
            <a:ext cx="2891671"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微软雅黑" panose="020B0503020204020204" charset="-122"/>
              </a:rPr>
              <a:t>多媒体/连接</a:t>
            </a:r>
            <a:endParaRPr lang="en-US" sz="145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33" name="Text 31"/>
          <p:cNvSpPr/>
          <p:nvPr/>
        </p:nvSpPr>
        <p:spPr>
          <a:xfrm>
            <a:off x="4233982" y="5428774"/>
            <a:ext cx="3542824"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Montserrat" pitchFamily="34" charset="-120"/>
              </a:rPr>
              <a:t>fc, pc, blue, wifi, four_g</a:t>
            </a:r>
            <a:endParaRPr lang="en-US" sz="1450" dirty="0">
              <a:solidFill>
                <a:srgbClr val="384653"/>
              </a:solidFill>
              <a:latin typeface="微软雅黑" panose="020B0503020204020204" charset="-122"/>
              <a:ea typeface="微软雅黑" panose="020B0503020204020204" charset="-122"/>
              <a:cs typeface="Montserrat" pitchFamily="34" charset="-120"/>
            </a:endParaRPr>
          </a:p>
        </p:txBody>
      </p:sp>
      <p:sp>
        <p:nvSpPr>
          <p:cNvPr id="34" name="Text 32"/>
          <p:cNvSpPr/>
          <p:nvPr/>
        </p:nvSpPr>
        <p:spPr>
          <a:xfrm>
            <a:off x="8163520" y="5428774"/>
            <a:ext cx="1578054"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微软雅黑" panose="020B0503020204020204" charset="-122"/>
              </a:rPr>
              <a:t>数值/二值</a:t>
            </a:r>
            <a:endParaRPr lang="en-US" sz="145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35" name="Text 33"/>
          <p:cNvSpPr/>
          <p:nvPr/>
        </p:nvSpPr>
        <p:spPr>
          <a:xfrm>
            <a:off x="10128290" y="5428774"/>
            <a:ext cx="3546634"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微软雅黑" panose="020B0503020204020204" charset="-122"/>
              </a:rPr>
              <a:t>摄像头、蓝牙、WiFi、4G</a:t>
            </a:r>
            <a:endParaRPr lang="en-US" sz="145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36" name="Shape 34"/>
          <p:cNvSpPr/>
          <p:nvPr/>
        </p:nvSpPr>
        <p:spPr>
          <a:xfrm>
            <a:off x="765929" y="5853351"/>
            <a:ext cx="13098542" cy="545902"/>
          </a:xfrm>
          <a:prstGeom prst="rect">
            <a:avLst/>
          </a:prstGeom>
          <a:solidFill>
            <a:srgbClr val="FFFFFF">
              <a:alpha val="4000"/>
            </a:srgbClr>
          </a:solidFill>
        </p:spPr>
      </p:sp>
      <p:sp>
        <p:nvSpPr>
          <p:cNvPr id="37" name="Text 35"/>
          <p:cNvSpPr/>
          <p:nvPr/>
        </p:nvSpPr>
        <p:spPr>
          <a:xfrm>
            <a:off x="955596" y="5974675"/>
            <a:ext cx="2891671"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微软雅黑" panose="020B0503020204020204" charset="-122"/>
              </a:rPr>
              <a:t>能源/其他</a:t>
            </a:r>
            <a:endParaRPr lang="en-US" sz="145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38" name="Text 36"/>
          <p:cNvSpPr/>
          <p:nvPr/>
        </p:nvSpPr>
        <p:spPr>
          <a:xfrm>
            <a:off x="4233982" y="5974675"/>
            <a:ext cx="3542824"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Montserrat" pitchFamily="34" charset="-120"/>
              </a:rPr>
              <a:t>battery_power, mobile_wt</a:t>
            </a:r>
            <a:endParaRPr lang="en-US" sz="1450" dirty="0">
              <a:solidFill>
                <a:srgbClr val="384653"/>
              </a:solidFill>
              <a:latin typeface="微软雅黑" panose="020B0503020204020204" charset="-122"/>
              <a:ea typeface="微软雅黑" panose="020B0503020204020204" charset="-122"/>
              <a:cs typeface="Montserrat" pitchFamily="34" charset="-120"/>
            </a:endParaRPr>
          </a:p>
        </p:txBody>
      </p:sp>
      <p:sp>
        <p:nvSpPr>
          <p:cNvPr id="39" name="Text 37"/>
          <p:cNvSpPr/>
          <p:nvPr/>
        </p:nvSpPr>
        <p:spPr>
          <a:xfrm>
            <a:off x="8163520" y="5974675"/>
            <a:ext cx="1578054"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Montserrat" pitchFamily="34" charset="-120"/>
              </a:rPr>
              <a:t>数值型</a:t>
            </a:r>
            <a:endParaRPr lang="en-US" sz="1450" dirty="0">
              <a:solidFill>
                <a:srgbClr val="384653"/>
              </a:solidFill>
              <a:latin typeface="微软雅黑" panose="020B0503020204020204" charset="-122"/>
              <a:ea typeface="微软雅黑" panose="020B0503020204020204" charset="-122"/>
              <a:cs typeface="Montserrat" pitchFamily="34" charset="-120"/>
            </a:endParaRPr>
          </a:p>
        </p:txBody>
      </p:sp>
      <p:sp>
        <p:nvSpPr>
          <p:cNvPr id="40" name="Text 38"/>
          <p:cNvSpPr/>
          <p:nvPr/>
        </p:nvSpPr>
        <p:spPr>
          <a:xfrm>
            <a:off x="10128290" y="5974675"/>
            <a:ext cx="3546634"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Montserrat" pitchFamily="34" charset="-120"/>
              </a:rPr>
              <a:t>电池容量、机身重量</a:t>
            </a:r>
            <a:endParaRPr lang="en-US" sz="1450" dirty="0">
              <a:solidFill>
                <a:srgbClr val="384653"/>
              </a:solidFill>
              <a:latin typeface="微软雅黑" panose="020B0503020204020204" charset="-122"/>
              <a:ea typeface="微软雅黑" panose="020B0503020204020204" charset="-122"/>
              <a:cs typeface="Montserrat" pitchFamily="34" charset="-120"/>
            </a:endParaRPr>
          </a:p>
        </p:txBody>
      </p:sp>
      <p:sp>
        <p:nvSpPr>
          <p:cNvPr id="41" name="Shape 39"/>
          <p:cNvSpPr/>
          <p:nvPr/>
        </p:nvSpPr>
        <p:spPr>
          <a:xfrm>
            <a:off x="765929" y="6399252"/>
            <a:ext cx="13098542" cy="545902"/>
          </a:xfrm>
          <a:prstGeom prst="rect">
            <a:avLst/>
          </a:prstGeom>
          <a:solidFill>
            <a:srgbClr val="000000">
              <a:alpha val="4000"/>
            </a:srgbClr>
          </a:solidFill>
        </p:spPr>
      </p:sp>
      <p:sp>
        <p:nvSpPr>
          <p:cNvPr id="42" name="Text 40"/>
          <p:cNvSpPr/>
          <p:nvPr/>
        </p:nvSpPr>
        <p:spPr>
          <a:xfrm>
            <a:off x="955596" y="6520577"/>
            <a:ext cx="2891671"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Montserrat" pitchFamily="34" charset="-120"/>
              </a:rPr>
              <a:t>目标变量</a:t>
            </a:r>
            <a:endParaRPr lang="en-US" sz="1450" dirty="0">
              <a:solidFill>
                <a:srgbClr val="384653"/>
              </a:solidFill>
              <a:latin typeface="微软雅黑" panose="020B0503020204020204" charset="-122"/>
              <a:ea typeface="微软雅黑" panose="020B0503020204020204" charset="-122"/>
              <a:cs typeface="Montserrat" pitchFamily="34" charset="-120"/>
            </a:endParaRPr>
          </a:p>
        </p:txBody>
      </p:sp>
      <p:sp>
        <p:nvSpPr>
          <p:cNvPr id="43" name="Text 41"/>
          <p:cNvSpPr/>
          <p:nvPr/>
        </p:nvSpPr>
        <p:spPr>
          <a:xfrm>
            <a:off x="4233982" y="6520577"/>
            <a:ext cx="3542824"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Montserrat" pitchFamily="34" charset="-120"/>
              </a:rPr>
              <a:t>price_range</a:t>
            </a:r>
            <a:endParaRPr lang="en-US" sz="1450" dirty="0">
              <a:solidFill>
                <a:srgbClr val="384653"/>
              </a:solidFill>
              <a:latin typeface="微软雅黑" panose="020B0503020204020204" charset="-122"/>
              <a:ea typeface="微软雅黑" panose="020B0503020204020204" charset="-122"/>
              <a:cs typeface="Montserrat" pitchFamily="34" charset="-120"/>
            </a:endParaRPr>
          </a:p>
        </p:txBody>
      </p:sp>
      <p:sp>
        <p:nvSpPr>
          <p:cNvPr id="44" name="Text 42"/>
          <p:cNvSpPr/>
          <p:nvPr/>
        </p:nvSpPr>
        <p:spPr>
          <a:xfrm>
            <a:off x="8163520" y="6520577"/>
            <a:ext cx="1578054"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Montserrat" pitchFamily="34" charset="-120"/>
              </a:rPr>
              <a:t>离散分类</a:t>
            </a:r>
            <a:endParaRPr lang="en-US" sz="1450" dirty="0">
              <a:solidFill>
                <a:srgbClr val="384653"/>
              </a:solidFill>
              <a:latin typeface="微软雅黑" panose="020B0503020204020204" charset="-122"/>
              <a:ea typeface="微软雅黑" panose="020B0503020204020204" charset="-122"/>
              <a:cs typeface="Montserrat" pitchFamily="34" charset="-120"/>
            </a:endParaRPr>
          </a:p>
        </p:txBody>
      </p:sp>
      <p:sp>
        <p:nvSpPr>
          <p:cNvPr id="45" name="Text 43"/>
          <p:cNvSpPr/>
          <p:nvPr/>
        </p:nvSpPr>
        <p:spPr>
          <a:xfrm>
            <a:off x="10128290" y="6520577"/>
            <a:ext cx="3546634"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微软雅黑" panose="020B0503020204020204" charset="-122"/>
              </a:rPr>
              <a:t>价格等级(0,1,2,3)</a:t>
            </a:r>
            <a:endParaRPr lang="en-US" sz="145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46" name="Text 44"/>
          <p:cNvSpPr/>
          <p:nvPr/>
        </p:nvSpPr>
        <p:spPr>
          <a:xfrm>
            <a:off x="758309" y="7166015"/>
            <a:ext cx="13113782"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微软雅黑" panose="020B0503020204020204" charset="-122"/>
              </a:rPr>
              <a:t>数据集的</a:t>
            </a:r>
            <a:r>
              <a:rPr lang="en-US" sz="1450" b="1" dirty="0">
                <a:solidFill>
                  <a:srgbClr val="384653"/>
                </a:solidFill>
                <a:highlight>
                  <a:srgbClr val="E5F6FF"/>
                </a:highlight>
                <a:latin typeface="微软雅黑" panose="020B0503020204020204" charset="-122"/>
                <a:ea typeface="微软雅黑" panose="020B0503020204020204" charset="-122"/>
                <a:cs typeface="微软雅黑" panose="020B0503020204020204" charset="-122"/>
              </a:rPr>
              <a:t>完全均衡分布</a:t>
            </a:r>
            <a:r>
              <a:rPr lang="en-US" sz="1450" dirty="0">
                <a:solidFill>
                  <a:srgbClr val="384653"/>
                </a:solidFill>
                <a:latin typeface="微软雅黑" panose="020B0503020204020204" charset="-122"/>
                <a:ea typeface="微软雅黑" panose="020B0503020204020204" charset="-122"/>
                <a:cs typeface="微软雅黑" panose="020B0503020204020204" charset="-122"/>
              </a:rPr>
              <a:t>极为宝贵,消除了类别不平衡可能带来的预测偏见,使我们能够直接使用</a:t>
            </a:r>
            <a:r>
              <a:rPr lang="en-US" sz="1450" b="1" dirty="0">
                <a:solidFill>
                  <a:srgbClr val="384653"/>
                </a:solidFill>
                <a:latin typeface="微软雅黑" panose="020B0503020204020204" charset="-122"/>
                <a:ea typeface="微软雅黑" panose="020B0503020204020204" charset="-122"/>
                <a:cs typeface="微软雅黑" panose="020B0503020204020204" charset="-122"/>
              </a:rPr>
              <a:t>准确率</a:t>
            </a:r>
            <a:r>
              <a:rPr lang="en-US" sz="1450" dirty="0">
                <a:solidFill>
                  <a:srgbClr val="384653"/>
                </a:solidFill>
                <a:latin typeface="微软雅黑" panose="020B0503020204020204" charset="-122"/>
                <a:ea typeface="微软雅黑" panose="020B0503020204020204" charset="-122"/>
                <a:cs typeface="微软雅黑" panose="020B0503020204020204" charset="-122"/>
              </a:rPr>
              <a:t>作为核心评估指标。</a:t>
            </a:r>
            <a:endParaRPr lang="en-US" sz="145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8309" y="1481971"/>
            <a:ext cx="4988838" cy="623530"/>
          </a:xfrm>
          <a:prstGeom prst="rect">
            <a:avLst/>
          </a:prstGeom>
          <a:noFill/>
        </p:spPr>
        <p:txBody>
          <a:bodyPr wrap="none" lIns="0" tIns="0" rIns="0" bIns="0" rtlCol="0" anchor="t"/>
          <a:lstStyle/>
          <a:p>
            <a:pPr marL="0" indent="0" algn="l">
              <a:lnSpc>
                <a:spcPts val="4900"/>
              </a:lnSpc>
              <a:buNone/>
            </a:pPr>
            <a:r>
              <a:rPr lang="en-US" sz="3900" b="1" dirty="0">
                <a:solidFill>
                  <a:srgbClr val="2E3C4E"/>
                </a:solidFill>
                <a:latin typeface="微软雅黑" panose="020B0503020204020204" charset="-122"/>
                <a:ea typeface="微软雅黑" panose="020B0503020204020204" charset="-122"/>
                <a:cs typeface="Barlow Bold" pitchFamily="34" charset="-120"/>
              </a:rPr>
              <a:t>变量分布与异常值检测</a:t>
            </a:r>
            <a:endParaRPr lang="en-US" sz="3900" b="1" dirty="0">
              <a:solidFill>
                <a:srgbClr val="2E3C4E"/>
              </a:solidFill>
              <a:latin typeface="微软雅黑" panose="020B0503020204020204" charset="-122"/>
              <a:ea typeface="微软雅黑" panose="020B0503020204020204" charset="-122"/>
              <a:cs typeface="Barlow Bold" pitchFamily="34" charset="-120"/>
            </a:endParaRPr>
          </a:p>
        </p:txBody>
      </p:sp>
      <p:pic>
        <p:nvPicPr>
          <p:cNvPr id="3" name="Image 0" descr="preencoded.png"/>
          <p:cNvPicPr>
            <a:picLocks noChangeAspect="1"/>
          </p:cNvPicPr>
          <p:nvPr/>
        </p:nvPicPr>
        <p:blipFill>
          <a:blip r:embed="rId1"/>
          <a:stretch>
            <a:fillRect/>
          </a:stretch>
        </p:blipFill>
        <p:spPr>
          <a:xfrm>
            <a:off x="758309" y="2603063"/>
            <a:ext cx="7004447" cy="3457337"/>
          </a:xfrm>
          <a:prstGeom prst="rect">
            <a:avLst/>
          </a:prstGeom>
        </p:spPr>
      </p:pic>
      <p:sp>
        <p:nvSpPr>
          <p:cNvPr id="4" name="Text 1"/>
          <p:cNvSpPr/>
          <p:nvPr/>
        </p:nvSpPr>
        <p:spPr>
          <a:xfrm>
            <a:off x="758309" y="6273641"/>
            <a:ext cx="7004447" cy="303252"/>
          </a:xfrm>
          <a:prstGeom prst="rect">
            <a:avLst/>
          </a:prstGeom>
          <a:noFill/>
        </p:spPr>
        <p:txBody>
          <a:bodyPr wrap="none" lIns="0" tIns="0" rIns="0" bIns="0" rtlCol="0" anchor="t"/>
          <a:lstStyle/>
          <a:p>
            <a:pPr marL="0" indent="0" algn="l">
              <a:lnSpc>
                <a:spcPts val="2350"/>
              </a:lnSpc>
              <a:buNone/>
            </a:pPr>
            <a:endParaRPr lang="en-US" sz="1450" dirty="0">
              <a:latin typeface="微软雅黑" panose="020B0503020204020204" charset="-122"/>
              <a:ea typeface="微软雅黑" panose="020B0503020204020204" charset="-122"/>
            </a:endParaRPr>
          </a:p>
        </p:txBody>
      </p:sp>
      <p:sp>
        <p:nvSpPr>
          <p:cNvPr id="5" name="Text 2"/>
          <p:cNvSpPr/>
          <p:nvPr/>
        </p:nvSpPr>
        <p:spPr>
          <a:xfrm>
            <a:off x="8232815" y="2579370"/>
            <a:ext cx="2494359" cy="311706"/>
          </a:xfrm>
          <a:prstGeom prst="rect">
            <a:avLst/>
          </a:prstGeom>
          <a:noFill/>
        </p:spPr>
        <p:txBody>
          <a:bodyPr wrap="none" lIns="0" tIns="0" rIns="0" bIns="0" rtlCol="0" anchor="t"/>
          <a:lstStyle/>
          <a:p>
            <a:pPr marL="0" indent="0" algn="l">
              <a:lnSpc>
                <a:spcPts val="2450"/>
              </a:lnSpc>
              <a:buNone/>
            </a:pPr>
            <a:r>
              <a:rPr lang="en-US" sz="1950" b="1" dirty="0">
                <a:solidFill>
                  <a:srgbClr val="2E3C4E"/>
                </a:solidFill>
                <a:latin typeface="微软雅黑" panose="020B0503020204020204" charset="-122"/>
                <a:ea typeface="微软雅黑" panose="020B0503020204020204" charset="-122"/>
                <a:cs typeface="Barlow Bold" pitchFamily="34" charset="-120"/>
              </a:rPr>
              <a:t>分布特征分析</a:t>
            </a:r>
            <a:endParaRPr lang="en-US" sz="1950" b="1" dirty="0">
              <a:solidFill>
                <a:srgbClr val="2E3C4E"/>
              </a:solidFill>
              <a:latin typeface="微软雅黑" panose="020B0503020204020204" charset="-122"/>
              <a:ea typeface="微软雅黑" panose="020B0503020204020204" charset="-122"/>
              <a:cs typeface="Barlow Bold" pitchFamily="34" charset="-120"/>
            </a:endParaRPr>
          </a:p>
        </p:txBody>
      </p:sp>
      <p:sp>
        <p:nvSpPr>
          <p:cNvPr id="6" name="Text 3"/>
          <p:cNvSpPr/>
          <p:nvPr/>
        </p:nvSpPr>
        <p:spPr>
          <a:xfrm>
            <a:off x="8232815" y="3080623"/>
            <a:ext cx="5646777"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Montserrat" pitchFamily="34" charset="-120"/>
              </a:rPr>
              <a:t>大部分特征如电池容量、手机重量在数值区间内</a:t>
            </a:r>
            <a:r>
              <a:rPr lang="en-US" sz="1450" b="1" dirty="0">
                <a:solidFill>
                  <a:srgbClr val="384653"/>
                </a:solidFill>
                <a:latin typeface="微软雅黑" panose="020B0503020204020204" charset="-122"/>
                <a:ea typeface="微软雅黑" panose="020B0503020204020204" charset="-122"/>
                <a:cs typeface="Montserrat" pitchFamily="34" charset="-120"/>
              </a:rPr>
              <a:t>分布相对均匀</a:t>
            </a:r>
            <a:r>
              <a:rPr lang="en-US" sz="1450" dirty="0">
                <a:solidFill>
                  <a:srgbClr val="384653"/>
                </a:solidFill>
                <a:latin typeface="微软雅黑" panose="020B0503020204020204" charset="-122"/>
                <a:ea typeface="微软雅黑" panose="020B0503020204020204" charset="-122"/>
                <a:cs typeface="Montserrat" pitchFamily="34" charset="-120"/>
              </a:rPr>
              <a:t>。</a:t>
            </a:r>
            <a:endParaRPr lang="en-US" sz="1450" dirty="0">
              <a:latin typeface="微软雅黑" panose="020B0503020204020204" charset="-122"/>
              <a:ea typeface="微软雅黑" panose="020B0503020204020204" charset="-122"/>
            </a:endParaRPr>
          </a:p>
        </p:txBody>
      </p:sp>
      <p:sp>
        <p:nvSpPr>
          <p:cNvPr id="7" name="Shape 4"/>
          <p:cNvSpPr/>
          <p:nvPr/>
        </p:nvSpPr>
        <p:spPr>
          <a:xfrm>
            <a:off x="8232775" y="3597275"/>
            <a:ext cx="5375910" cy="1094105"/>
          </a:xfrm>
          <a:prstGeom prst="roundRect">
            <a:avLst>
              <a:gd name="adj" fmla="val 20138"/>
            </a:avLst>
          </a:prstGeom>
          <a:solidFill>
            <a:srgbClr val="BEDFF3"/>
          </a:solidFill>
        </p:spPr>
      </p:sp>
      <p:sp>
        <p:nvSpPr>
          <p:cNvPr id="9" name="Text 5"/>
          <p:cNvSpPr/>
          <p:nvPr/>
        </p:nvSpPr>
        <p:spPr>
          <a:xfrm>
            <a:off x="8410059" y="3834051"/>
            <a:ext cx="4841200" cy="909757"/>
          </a:xfrm>
          <a:prstGeom prst="rect">
            <a:avLst/>
          </a:prstGeom>
          <a:noFill/>
        </p:spPr>
        <p:txBody>
          <a:bodyPr wrap="square" lIns="0" tIns="0" rIns="0" bIns="0" rtlCol="0" anchor="t"/>
          <a:lstStyle/>
          <a:p>
            <a:pPr marL="0" indent="0" algn="l">
              <a:lnSpc>
                <a:spcPts val="2350"/>
              </a:lnSpc>
              <a:buNone/>
            </a:pPr>
            <a:r>
              <a:rPr lang="en-US" sz="1450" b="1" dirty="0">
                <a:solidFill>
                  <a:srgbClr val="000000"/>
                </a:solidFill>
                <a:latin typeface="微软雅黑" panose="020B0503020204020204" charset="-122"/>
                <a:ea typeface="微软雅黑" panose="020B0503020204020204" charset="-122"/>
                <a:cs typeface="微软雅黑" panose="020B0503020204020204" charset="-122"/>
              </a:rPr>
              <a:t>发现:</a:t>
            </a:r>
            <a:r>
              <a:rPr lang="en-US" sz="1450" dirty="0">
                <a:solidFill>
                  <a:srgbClr val="000000"/>
                </a:solidFill>
                <a:latin typeface="微软雅黑" panose="020B0503020204020204" charset="-122"/>
                <a:ea typeface="微软雅黑" panose="020B0503020204020204" charset="-122"/>
                <a:cs typeface="微软雅黑" panose="020B0503020204020204" charset="-122"/>
              </a:rPr>
              <a:t> 前置摄像头像素(fc)和屏幕像素高度(px_height)呈现典型的</a:t>
            </a:r>
            <a:r>
              <a:rPr lang="en-US" sz="1450" dirty="0">
                <a:solidFill>
                  <a:srgbClr val="2589C9"/>
                </a:solidFill>
                <a:latin typeface="微软雅黑" panose="020B0503020204020204" charset="-122"/>
                <a:ea typeface="微软雅黑" panose="020B0503020204020204" charset="-122"/>
                <a:cs typeface="微软雅黑" panose="020B0503020204020204" charset="-122"/>
              </a:rPr>
              <a:t>长尾分布</a:t>
            </a:r>
            <a:r>
              <a:rPr lang="en-US" sz="1450" dirty="0">
                <a:solidFill>
                  <a:srgbClr val="000000"/>
                </a:solidFill>
                <a:latin typeface="微软雅黑" panose="020B0503020204020204" charset="-122"/>
                <a:ea typeface="微软雅黑" panose="020B0503020204020204" charset="-122"/>
                <a:cs typeface="微软雅黑" panose="020B0503020204020204" charset="-122"/>
              </a:rPr>
              <a:t>,低配置机型占据大多数。</a:t>
            </a:r>
            <a:endParaRPr lang="en-US" sz="1450" dirty="0">
              <a:latin typeface="微软雅黑" panose="020B0503020204020204" charset="-122"/>
              <a:ea typeface="微软雅黑" panose="020B0503020204020204" charset="-122"/>
              <a:cs typeface="微软雅黑" panose="020B0503020204020204" charset="-122"/>
            </a:endParaRPr>
          </a:p>
        </p:txBody>
      </p:sp>
      <p:sp>
        <p:nvSpPr>
          <p:cNvPr id="10" name="Text 6"/>
          <p:cNvSpPr/>
          <p:nvPr/>
        </p:nvSpPr>
        <p:spPr>
          <a:xfrm>
            <a:off x="8232815" y="4904938"/>
            <a:ext cx="5646777" cy="606504"/>
          </a:xfrm>
          <a:prstGeom prst="rect">
            <a:avLst/>
          </a:prstGeom>
          <a:noFill/>
        </p:spPr>
        <p:txBody>
          <a:bodyPr wrap="squar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微软雅黑" panose="020B0503020204020204" charset="-122"/>
              </a:rPr>
              <a:t>这种分布特征提示我们在后续处理中需要关注这些变量的标准化方式,或考虑对数变换以减弱偏态影响。</a:t>
            </a:r>
            <a:endParaRPr lang="en-US" sz="1450" dirty="0">
              <a:solidFill>
                <a:srgbClr val="38465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8309" y="691277"/>
            <a:ext cx="4630936" cy="467678"/>
          </a:xfrm>
          <a:prstGeom prst="rect">
            <a:avLst/>
          </a:prstGeom>
          <a:noFill/>
        </p:spPr>
        <p:txBody>
          <a:bodyPr wrap="none" lIns="0" tIns="0" rIns="0" bIns="0" rtlCol="0" anchor="t"/>
          <a:lstStyle/>
          <a:p>
            <a:pPr marL="0" indent="0" algn="l">
              <a:lnSpc>
                <a:spcPts val="3650"/>
              </a:lnSpc>
              <a:buNone/>
            </a:pPr>
            <a:r>
              <a:rPr lang="en-US" sz="2900" b="1" dirty="0">
                <a:solidFill>
                  <a:srgbClr val="2E3C4E"/>
                </a:solidFill>
                <a:latin typeface="微软雅黑" panose="020B0503020204020204" charset="-122"/>
                <a:ea typeface="微软雅黑" panose="020B0503020204020204" charset="-122"/>
                <a:cs typeface="微软雅黑" panose="020B0503020204020204" charset="-122"/>
              </a:rPr>
              <a:t>相关性分析:RAM的统治地位</a:t>
            </a:r>
            <a:endParaRPr lang="en-US" sz="2900" b="1" dirty="0">
              <a:solidFill>
                <a:srgbClr val="2E3C4E"/>
              </a:solidFill>
              <a:latin typeface="微软雅黑" panose="020B0503020204020204" charset="-122"/>
              <a:ea typeface="微软雅黑" panose="020B0503020204020204" charset="-122"/>
              <a:cs typeface="微软雅黑" panose="020B0503020204020204" charset="-122"/>
            </a:endParaRPr>
          </a:p>
        </p:txBody>
      </p:sp>
      <p:sp>
        <p:nvSpPr>
          <p:cNvPr id="3" name="Shape 1"/>
          <p:cNvSpPr/>
          <p:nvPr>
            <p:custDataLst>
              <p:tags r:id="rId1"/>
            </p:custDataLst>
          </p:nvPr>
        </p:nvSpPr>
        <p:spPr>
          <a:xfrm>
            <a:off x="758309" y="1532096"/>
            <a:ext cx="5441275" cy="1258133"/>
          </a:xfrm>
          <a:prstGeom prst="roundRect">
            <a:avLst>
              <a:gd name="adj" fmla="val 16952"/>
            </a:avLst>
          </a:prstGeom>
          <a:solidFill>
            <a:srgbClr val="D4E9F7"/>
          </a:solidFill>
          <a:ln w="7620">
            <a:solidFill>
              <a:srgbClr val="BACFDD"/>
            </a:solidFill>
            <a:prstDash val="solid"/>
          </a:ln>
        </p:spPr>
      </p:sp>
      <p:sp>
        <p:nvSpPr>
          <p:cNvPr id="4" name="Text 2"/>
          <p:cNvSpPr/>
          <p:nvPr>
            <p:custDataLst>
              <p:tags r:id="rId2"/>
            </p:custDataLst>
          </p:nvPr>
        </p:nvSpPr>
        <p:spPr>
          <a:xfrm>
            <a:off x="908090" y="1681877"/>
            <a:ext cx="1870829" cy="233720"/>
          </a:xfrm>
          <a:prstGeom prst="rect">
            <a:avLst/>
          </a:prstGeom>
          <a:noFill/>
        </p:spPr>
        <p:txBody>
          <a:bodyPr wrap="none" lIns="0" tIns="0" rIns="0" bIns="0" rtlCol="0" anchor="t"/>
          <a:lstStyle/>
          <a:p>
            <a:pPr marL="0" indent="0" algn="l">
              <a:lnSpc>
                <a:spcPts val="1800"/>
              </a:lnSpc>
              <a:buNone/>
            </a:pPr>
            <a:r>
              <a:rPr lang="en-US" sz="1450" b="1" dirty="0">
                <a:solidFill>
                  <a:srgbClr val="384653"/>
                </a:solidFill>
                <a:latin typeface="微软雅黑" panose="020B0503020204020204" charset="-122"/>
                <a:ea typeface="微软雅黑" panose="020B0503020204020204" charset="-122"/>
                <a:cs typeface="微软雅黑" panose="020B0503020204020204" charset="-122"/>
              </a:rPr>
              <a:t>RAM vs 价格</a:t>
            </a:r>
            <a:endParaRPr lang="en-US" sz="1450" b="1"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5" name="Text 3"/>
          <p:cNvSpPr/>
          <p:nvPr>
            <p:custDataLst>
              <p:tags r:id="rId3"/>
            </p:custDataLst>
          </p:nvPr>
        </p:nvSpPr>
        <p:spPr>
          <a:xfrm>
            <a:off x="908090" y="2057757"/>
            <a:ext cx="5141714" cy="227409"/>
          </a:xfrm>
          <a:prstGeom prst="rect">
            <a:avLst/>
          </a:prstGeom>
          <a:noFill/>
        </p:spPr>
        <p:txBody>
          <a:bodyPr wrap="none" lIns="0" tIns="0" rIns="0" bIns="0" rtlCol="0" anchor="t"/>
          <a:lstStyle/>
          <a:p>
            <a:pPr marL="0" indent="0" algn="l">
              <a:lnSpc>
                <a:spcPts val="1750"/>
              </a:lnSpc>
              <a:buNone/>
            </a:pPr>
            <a:r>
              <a:rPr lang="en-US" sz="1100" dirty="0">
                <a:solidFill>
                  <a:srgbClr val="384653"/>
                </a:solidFill>
                <a:latin typeface="微软雅黑" panose="020B0503020204020204" charset="-122"/>
                <a:ea typeface="微软雅黑" panose="020B0503020204020204" charset="-122"/>
                <a:cs typeface="微软雅黑" panose="020B0503020204020204" charset="-122"/>
              </a:rPr>
              <a:t>相关系数: </a:t>
            </a:r>
            <a:r>
              <a:rPr lang="en-US" sz="1100" b="1" dirty="0">
                <a:solidFill>
                  <a:srgbClr val="384653"/>
                </a:solidFill>
                <a:latin typeface="微软雅黑" panose="020B0503020204020204" charset="-122"/>
                <a:ea typeface="微软雅黑" panose="020B0503020204020204" charset="-122"/>
                <a:cs typeface="微软雅黑" panose="020B0503020204020204" charset="-122"/>
              </a:rPr>
              <a:t>0.92</a:t>
            </a:r>
            <a:endParaRPr lang="en-US" sz="1100" dirty="0">
              <a:latin typeface="微软雅黑" panose="020B0503020204020204" charset="-122"/>
              <a:ea typeface="微软雅黑" panose="020B0503020204020204" charset="-122"/>
              <a:cs typeface="微软雅黑" panose="020B0503020204020204" charset="-122"/>
            </a:endParaRPr>
          </a:p>
        </p:txBody>
      </p:sp>
      <p:sp>
        <p:nvSpPr>
          <p:cNvPr id="6" name="Text 4"/>
          <p:cNvSpPr/>
          <p:nvPr>
            <p:custDataLst>
              <p:tags r:id="rId4"/>
            </p:custDataLst>
          </p:nvPr>
        </p:nvSpPr>
        <p:spPr>
          <a:xfrm>
            <a:off x="908090" y="2413040"/>
            <a:ext cx="5141714" cy="227409"/>
          </a:xfrm>
          <a:prstGeom prst="rect">
            <a:avLst/>
          </a:prstGeom>
          <a:noFill/>
        </p:spPr>
        <p:txBody>
          <a:bodyPr wrap="none" lIns="0" tIns="0" rIns="0" bIns="0" rtlCol="0" anchor="t"/>
          <a:lstStyle/>
          <a:p>
            <a:pPr marL="0" indent="0" algn="l">
              <a:lnSpc>
                <a:spcPts val="1750"/>
              </a:lnSpc>
              <a:buNone/>
            </a:pPr>
            <a:r>
              <a:rPr lang="en-US" sz="1100" dirty="0">
                <a:solidFill>
                  <a:srgbClr val="384653"/>
                </a:solidFill>
                <a:latin typeface="微软雅黑" panose="020B0503020204020204" charset="-122"/>
                <a:ea typeface="微软雅黑" panose="020B0503020204020204" charset="-122"/>
                <a:cs typeface="Montserrat" pitchFamily="34" charset="-120"/>
              </a:rPr>
              <a:t>极强正相关</a:t>
            </a:r>
            <a:endParaRPr lang="en-US" sz="1100" dirty="0">
              <a:solidFill>
                <a:srgbClr val="384653"/>
              </a:solidFill>
              <a:latin typeface="微软雅黑" panose="020B0503020204020204" charset="-122"/>
              <a:ea typeface="微软雅黑" panose="020B0503020204020204" charset="-122"/>
              <a:cs typeface="Montserrat" pitchFamily="34" charset="-120"/>
            </a:endParaRPr>
          </a:p>
        </p:txBody>
      </p:sp>
      <p:sp>
        <p:nvSpPr>
          <p:cNvPr id="7" name="Shape 5"/>
          <p:cNvSpPr/>
          <p:nvPr>
            <p:custDataLst>
              <p:tags r:id="rId5"/>
            </p:custDataLst>
          </p:nvPr>
        </p:nvSpPr>
        <p:spPr>
          <a:xfrm>
            <a:off x="758309" y="2932390"/>
            <a:ext cx="5441275" cy="1258133"/>
          </a:xfrm>
          <a:prstGeom prst="roundRect">
            <a:avLst>
              <a:gd name="adj" fmla="val 16952"/>
            </a:avLst>
          </a:prstGeom>
          <a:solidFill>
            <a:srgbClr val="D4E9F7"/>
          </a:solidFill>
          <a:ln w="7620">
            <a:solidFill>
              <a:srgbClr val="BACFDD"/>
            </a:solidFill>
            <a:prstDash val="solid"/>
          </a:ln>
        </p:spPr>
      </p:sp>
      <p:sp>
        <p:nvSpPr>
          <p:cNvPr id="8" name="Text 6"/>
          <p:cNvSpPr/>
          <p:nvPr>
            <p:custDataLst>
              <p:tags r:id="rId6"/>
            </p:custDataLst>
          </p:nvPr>
        </p:nvSpPr>
        <p:spPr>
          <a:xfrm>
            <a:off x="908090" y="3082171"/>
            <a:ext cx="1870829" cy="233720"/>
          </a:xfrm>
          <a:prstGeom prst="rect">
            <a:avLst/>
          </a:prstGeom>
          <a:noFill/>
        </p:spPr>
        <p:txBody>
          <a:bodyPr wrap="none" lIns="0" tIns="0" rIns="0" bIns="0" rtlCol="0" anchor="t"/>
          <a:lstStyle/>
          <a:p>
            <a:pPr marL="0" indent="0" algn="l">
              <a:lnSpc>
                <a:spcPts val="1800"/>
              </a:lnSpc>
              <a:buNone/>
            </a:pPr>
            <a:r>
              <a:rPr lang="en-US" sz="1450" b="1" dirty="0">
                <a:solidFill>
                  <a:srgbClr val="384653"/>
                </a:solidFill>
                <a:latin typeface="微软雅黑" panose="020B0503020204020204" charset="-122"/>
                <a:ea typeface="微软雅黑" panose="020B0503020204020204" charset="-122"/>
                <a:cs typeface="微软雅黑" panose="020B0503020204020204" charset="-122"/>
              </a:rPr>
              <a:t>电池容量 vs 价格</a:t>
            </a:r>
            <a:endParaRPr lang="en-US" sz="1450" b="1"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9" name="Text 7"/>
          <p:cNvSpPr/>
          <p:nvPr>
            <p:custDataLst>
              <p:tags r:id="rId7"/>
            </p:custDataLst>
          </p:nvPr>
        </p:nvSpPr>
        <p:spPr>
          <a:xfrm>
            <a:off x="908090" y="3458051"/>
            <a:ext cx="5141714" cy="227409"/>
          </a:xfrm>
          <a:prstGeom prst="rect">
            <a:avLst/>
          </a:prstGeom>
          <a:noFill/>
        </p:spPr>
        <p:txBody>
          <a:bodyPr wrap="none" lIns="0" tIns="0" rIns="0" bIns="0" rtlCol="0" anchor="t"/>
          <a:lstStyle/>
          <a:p>
            <a:pPr marL="0" indent="0" algn="l">
              <a:lnSpc>
                <a:spcPts val="1750"/>
              </a:lnSpc>
              <a:buNone/>
            </a:pPr>
            <a:r>
              <a:rPr lang="en-US" sz="1100" dirty="0">
                <a:solidFill>
                  <a:srgbClr val="384653"/>
                </a:solidFill>
                <a:latin typeface="微软雅黑" panose="020B0503020204020204" charset="-122"/>
                <a:ea typeface="微软雅黑" panose="020B0503020204020204" charset="-122"/>
                <a:cs typeface="微软雅黑" panose="020B0503020204020204" charset="-122"/>
              </a:rPr>
              <a:t>相关系数: </a:t>
            </a:r>
            <a:r>
              <a:rPr lang="en-US" sz="1100" b="1" dirty="0">
                <a:solidFill>
                  <a:srgbClr val="384653"/>
                </a:solidFill>
                <a:latin typeface="微软雅黑" panose="020B0503020204020204" charset="-122"/>
                <a:ea typeface="微软雅黑" panose="020B0503020204020204" charset="-122"/>
                <a:cs typeface="微软雅黑" panose="020B0503020204020204" charset="-122"/>
              </a:rPr>
              <a:t>0.20</a:t>
            </a:r>
            <a:endParaRPr lang="en-US" sz="1100" dirty="0">
              <a:latin typeface="微软雅黑" panose="020B0503020204020204" charset="-122"/>
              <a:ea typeface="微软雅黑" panose="020B0503020204020204" charset="-122"/>
              <a:cs typeface="微软雅黑" panose="020B0503020204020204" charset="-122"/>
            </a:endParaRPr>
          </a:p>
        </p:txBody>
      </p:sp>
      <p:sp>
        <p:nvSpPr>
          <p:cNvPr id="10" name="Text 8"/>
          <p:cNvSpPr/>
          <p:nvPr>
            <p:custDataLst>
              <p:tags r:id="rId8"/>
            </p:custDataLst>
          </p:nvPr>
        </p:nvSpPr>
        <p:spPr>
          <a:xfrm>
            <a:off x="908090" y="3813334"/>
            <a:ext cx="5141714" cy="227409"/>
          </a:xfrm>
          <a:prstGeom prst="rect">
            <a:avLst/>
          </a:prstGeom>
          <a:noFill/>
        </p:spPr>
        <p:txBody>
          <a:bodyPr wrap="none" lIns="0" tIns="0" rIns="0" bIns="0" rtlCol="0" anchor="t"/>
          <a:lstStyle/>
          <a:p>
            <a:pPr marL="0" indent="0" algn="l">
              <a:lnSpc>
                <a:spcPts val="1750"/>
              </a:lnSpc>
              <a:buNone/>
            </a:pPr>
            <a:r>
              <a:rPr lang="en-US" sz="1100" dirty="0">
                <a:solidFill>
                  <a:srgbClr val="384653"/>
                </a:solidFill>
                <a:latin typeface="微软雅黑" panose="020B0503020204020204" charset="-122"/>
                <a:ea typeface="微软雅黑" panose="020B0503020204020204" charset="-122"/>
                <a:cs typeface="Montserrat" pitchFamily="34" charset="-120"/>
              </a:rPr>
              <a:t>弱正相关</a:t>
            </a:r>
            <a:endParaRPr lang="en-US" sz="1100" dirty="0">
              <a:solidFill>
                <a:srgbClr val="384653"/>
              </a:solidFill>
              <a:latin typeface="微软雅黑" panose="020B0503020204020204" charset="-122"/>
              <a:ea typeface="微软雅黑" panose="020B0503020204020204" charset="-122"/>
              <a:cs typeface="Montserrat" pitchFamily="34" charset="-120"/>
            </a:endParaRPr>
          </a:p>
        </p:txBody>
      </p:sp>
      <p:sp>
        <p:nvSpPr>
          <p:cNvPr id="11" name="Shape 9"/>
          <p:cNvSpPr/>
          <p:nvPr>
            <p:custDataLst>
              <p:tags r:id="rId9"/>
            </p:custDataLst>
          </p:nvPr>
        </p:nvSpPr>
        <p:spPr>
          <a:xfrm>
            <a:off x="758309" y="4332684"/>
            <a:ext cx="5441275" cy="1258133"/>
          </a:xfrm>
          <a:prstGeom prst="roundRect">
            <a:avLst>
              <a:gd name="adj" fmla="val 16952"/>
            </a:avLst>
          </a:prstGeom>
          <a:solidFill>
            <a:srgbClr val="D4E9F7"/>
          </a:solidFill>
          <a:ln w="7620">
            <a:solidFill>
              <a:srgbClr val="BACFDD"/>
            </a:solidFill>
            <a:prstDash val="solid"/>
          </a:ln>
        </p:spPr>
      </p:sp>
      <p:sp>
        <p:nvSpPr>
          <p:cNvPr id="12" name="Text 10"/>
          <p:cNvSpPr/>
          <p:nvPr>
            <p:custDataLst>
              <p:tags r:id="rId10"/>
            </p:custDataLst>
          </p:nvPr>
        </p:nvSpPr>
        <p:spPr>
          <a:xfrm>
            <a:off x="908090" y="4482465"/>
            <a:ext cx="1870829" cy="233720"/>
          </a:xfrm>
          <a:prstGeom prst="rect">
            <a:avLst/>
          </a:prstGeom>
          <a:noFill/>
        </p:spPr>
        <p:txBody>
          <a:bodyPr wrap="none" lIns="0" tIns="0" rIns="0" bIns="0" rtlCol="0" anchor="t"/>
          <a:lstStyle/>
          <a:p>
            <a:pPr marL="0" indent="0" algn="l">
              <a:lnSpc>
                <a:spcPts val="1800"/>
              </a:lnSpc>
              <a:buNone/>
            </a:pPr>
            <a:r>
              <a:rPr lang="en-US" sz="1450" b="1" dirty="0">
                <a:solidFill>
                  <a:srgbClr val="384653"/>
                </a:solidFill>
                <a:latin typeface="微软雅黑" panose="020B0503020204020204" charset="-122"/>
                <a:ea typeface="微软雅黑" panose="020B0503020204020204" charset="-122"/>
                <a:cs typeface="微软雅黑" panose="020B0503020204020204" charset="-122"/>
              </a:rPr>
              <a:t>屏幕宽度 vs 价格</a:t>
            </a:r>
            <a:endParaRPr lang="en-US" sz="1450" b="1"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13" name="Text 11"/>
          <p:cNvSpPr/>
          <p:nvPr>
            <p:custDataLst>
              <p:tags r:id="rId11"/>
            </p:custDataLst>
          </p:nvPr>
        </p:nvSpPr>
        <p:spPr>
          <a:xfrm>
            <a:off x="908090" y="4858345"/>
            <a:ext cx="5141714" cy="227409"/>
          </a:xfrm>
          <a:prstGeom prst="rect">
            <a:avLst/>
          </a:prstGeom>
          <a:noFill/>
        </p:spPr>
        <p:txBody>
          <a:bodyPr wrap="none" lIns="0" tIns="0" rIns="0" bIns="0" rtlCol="0" anchor="t"/>
          <a:lstStyle/>
          <a:p>
            <a:pPr marL="0" indent="0" algn="l">
              <a:lnSpc>
                <a:spcPts val="1750"/>
              </a:lnSpc>
              <a:buNone/>
            </a:pPr>
            <a:r>
              <a:rPr lang="en-US" sz="1100" dirty="0">
                <a:solidFill>
                  <a:srgbClr val="384653"/>
                </a:solidFill>
                <a:latin typeface="微软雅黑" panose="020B0503020204020204" charset="-122"/>
                <a:ea typeface="微软雅黑" panose="020B0503020204020204" charset="-122"/>
                <a:cs typeface="微软雅黑" panose="020B0503020204020204" charset="-122"/>
              </a:rPr>
              <a:t>相关系数: </a:t>
            </a:r>
            <a:r>
              <a:rPr lang="en-US" sz="1100" b="1" dirty="0">
                <a:solidFill>
                  <a:srgbClr val="384653"/>
                </a:solidFill>
                <a:latin typeface="微软雅黑" panose="020B0503020204020204" charset="-122"/>
                <a:ea typeface="微软雅黑" panose="020B0503020204020204" charset="-122"/>
                <a:cs typeface="微软雅黑" panose="020B0503020204020204" charset="-122"/>
              </a:rPr>
              <a:t>0.17</a:t>
            </a:r>
            <a:endParaRPr lang="en-US" sz="1100" dirty="0">
              <a:latin typeface="微软雅黑" panose="020B0503020204020204" charset="-122"/>
              <a:ea typeface="微软雅黑" panose="020B0503020204020204" charset="-122"/>
              <a:cs typeface="微软雅黑" panose="020B0503020204020204" charset="-122"/>
            </a:endParaRPr>
          </a:p>
        </p:txBody>
      </p:sp>
      <p:sp>
        <p:nvSpPr>
          <p:cNvPr id="14" name="Text 12"/>
          <p:cNvSpPr/>
          <p:nvPr>
            <p:custDataLst>
              <p:tags r:id="rId12"/>
            </p:custDataLst>
          </p:nvPr>
        </p:nvSpPr>
        <p:spPr>
          <a:xfrm>
            <a:off x="908090" y="5213628"/>
            <a:ext cx="5141714" cy="227409"/>
          </a:xfrm>
          <a:prstGeom prst="rect">
            <a:avLst/>
          </a:prstGeom>
          <a:noFill/>
        </p:spPr>
        <p:txBody>
          <a:bodyPr wrap="none" lIns="0" tIns="0" rIns="0" bIns="0" rtlCol="0" anchor="t"/>
          <a:lstStyle/>
          <a:p>
            <a:pPr marL="0" indent="0" algn="l">
              <a:lnSpc>
                <a:spcPts val="1750"/>
              </a:lnSpc>
              <a:buNone/>
            </a:pPr>
            <a:r>
              <a:rPr lang="en-US" sz="1100" dirty="0">
                <a:solidFill>
                  <a:srgbClr val="384653"/>
                </a:solidFill>
                <a:latin typeface="微软雅黑" panose="020B0503020204020204" charset="-122"/>
                <a:ea typeface="微软雅黑" panose="020B0503020204020204" charset="-122"/>
                <a:cs typeface="Montserrat" pitchFamily="34" charset="-120"/>
              </a:rPr>
              <a:t>弱正相关</a:t>
            </a:r>
            <a:endParaRPr lang="en-US" sz="1100" dirty="0">
              <a:solidFill>
                <a:srgbClr val="384653"/>
              </a:solidFill>
              <a:latin typeface="微软雅黑" panose="020B0503020204020204" charset="-122"/>
              <a:ea typeface="微软雅黑" panose="020B0503020204020204" charset="-122"/>
              <a:cs typeface="Montserrat" pitchFamily="34" charset="-120"/>
            </a:endParaRPr>
          </a:p>
        </p:txBody>
      </p:sp>
      <p:sp>
        <p:nvSpPr>
          <p:cNvPr id="15" name="Shape 13"/>
          <p:cNvSpPr/>
          <p:nvPr>
            <p:custDataLst>
              <p:tags r:id="rId13"/>
            </p:custDataLst>
          </p:nvPr>
        </p:nvSpPr>
        <p:spPr>
          <a:xfrm>
            <a:off x="758309" y="5732978"/>
            <a:ext cx="5441275" cy="1258133"/>
          </a:xfrm>
          <a:prstGeom prst="roundRect">
            <a:avLst>
              <a:gd name="adj" fmla="val 16952"/>
            </a:avLst>
          </a:prstGeom>
          <a:solidFill>
            <a:srgbClr val="D4E9F7"/>
          </a:solidFill>
          <a:ln w="7620">
            <a:solidFill>
              <a:srgbClr val="BACFDD"/>
            </a:solidFill>
            <a:prstDash val="solid"/>
          </a:ln>
        </p:spPr>
      </p:sp>
      <p:sp>
        <p:nvSpPr>
          <p:cNvPr id="16" name="Text 14"/>
          <p:cNvSpPr/>
          <p:nvPr>
            <p:custDataLst>
              <p:tags r:id="rId14"/>
            </p:custDataLst>
          </p:nvPr>
        </p:nvSpPr>
        <p:spPr>
          <a:xfrm>
            <a:off x="908090" y="5882759"/>
            <a:ext cx="1870829" cy="233720"/>
          </a:xfrm>
          <a:prstGeom prst="rect">
            <a:avLst/>
          </a:prstGeom>
          <a:noFill/>
        </p:spPr>
        <p:txBody>
          <a:bodyPr wrap="none" lIns="0" tIns="0" rIns="0" bIns="0" rtlCol="0" anchor="t"/>
          <a:lstStyle/>
          <a:p>
            <a:pPr marL="0" indent="0" algn="l">
              <a:lnSpc>
                <a:spcPts val="1800"/>
              </a:lnSpc>
              <a:buNone/>
            </a:pPr>
            <a:r>
              <a:rPr lang="en-US" sz="1450" b="1" dirty="0">
                <a:solidFill>
                  <a:srgbClr val="384653"/>
                </a:solidFill>
                <a:latin typeface="微软雅黑" panose="020B0503020204020204" charset="-122"/>
                <a:ea typeface="微软雅黑" panose="020B0503020204020204" charset="-122"/>
                <a:cs typeface="微软雅黑" panose="020B0503020204020204" charset="-122"/>
              </a:rPr>
              <a:t>屏幕高度 vs 价格</a:t>
            </a:r>
            <a:endParaRPr lang="en-US" sz="1450" b="1"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17" name="Text 15"/>
          <p:cNvSpPr/>
          <p:nvPr>
            <p:custDataLst>
              <p:tags r:id="rId15"/>
            </p:custDataLst>
          </p:nvPr>
        </p:nvSpPr>
        <p:spPr>
          <a:xfrm>
            <a:off x="908090" y="6258639"/>
            <a:ext cx="5141714" cy="227409"/>
          </a:xfrm>
          <a:prstGeom prst="rect">
            <a:avLst/>
          </a:prstGeom>
          <a:noFill/>
        </p:spPr>
        <p:txBody>
          <a:bodyPr wrap="none" lIns="0" tIns="0" rIns="0" bIns="0" rtlCol="0" anchor="t"/>
          <a:lstStyle/>
          <a:p>
            <a:pPr marL="0" indent="0" algn="l">
              <a:lnSpc>
                <a:spcPts val="1750"/>
              </a:lnSpc>
              <a:buNone/>
            </a:pPr>
            <a:r>
              <a:rPr lang="en-US" sz="1100" dirty="0">
                <a:solidFill>
                  <a:srgbClr val="384653"/>
                </a:solidFill>
                <a:latin typeface="微软雅黑" panose="020B0503020204020204" charset="-122"/>
                <a:ea typeface="微软雅黑" panose="020B0503020204020204" charset="-122"/>
                <a:cs typeface="微软雅黑" panose="020B0503020204020204" charset="-122"/>
              </a:rPr>
              <a:t>相关系数: </a:t>
            </a:r>
            <a:r>
              <a:rPr lang="en-US" sz="1100" b="1" dirty="0">
                <a:solidFill>
                  <a:srgbClr val="384653"/>
                </a:solidFill>
                <a:latin typeface="微软雅黑" panose="020B0503020204020204" charset="-122"/>
                <a:ea typeface="微软雅黑" panose="020B0503020204020204" charset="-122"/>
                <a:cs typeface="微软雅黑" panose="020B0503020204020204" charset="-122"/>
              </a:rPr>
              <a:t>0.15</a:t>
            </a:r>
            <a:endParaRPr lang="en-US" sz="1100" dirty="0">
              <a:latin typeface="微软雅黑" panose="020B0503020204020204" charset="-122"/>
              <a:ea typeface="微软雅黑" panose="020B0503020204020204" charset="-122"/>
              <a:cs typeface="微软雅黑" panose="020B0503020204020204" charset="-122"/>
            </a:endParaRPr>
          </a:p>
        </p:txBody>
      </p:sp>
      <p:sp>
        <p:nvSpPr>
          <p:cNvPr id="18" name="Text 16"/>
          <p:cNvSpPr/>
          <p:nvPr>
            <p:custDataLst>
              <p:tags r:id="rId16"/>
            </p:custDataLst>
          </p:nvPr>
        </p:nvSpPr>
        <p:spPr>
          <a:xfrm>
            <a:off x="908090" y="6613922"/>
            <a:ext cx="5141714" cy="227409"/>
          </a:xfrm>
          <a:prstGeom prst="rect">
            <a:avLst/>
          </a:prstGeom>
          <a:noFill/>
        </p:spPr>
        <p:txBody>
          <a:bodyPr wrap="none" lIns="0" tIns="0" rIns="0" bIns="0" rtlCol="0" anchor="t"/>
          <a:lstStyle/>
          <a:p>
            <a:pPr marL="0" indent="0" algn="l">
              <a:lnSpc>
                <a:spcPts val="1750"/>
              </a:lnSpc>
              <a:buNone/>
            </a:pPr>
            <a:r>
              <a:rPr lang="en-US" sz="1100" dirty="0">
                <a:solidFill>
                  <a:srgbClr val="384653"/>
                </a:solidFill>
                <a:latin typeface="微软雅黑" panose="020B0503020204020204" charset="-122"/>
                <a:ea typeface="微软雅黑" panose="020B0503020204020204" charset="-122"/>
                <a:cs typeface="Montserrat" pitchFamily="34" charset="-120"/>
              </a:rPr>
              <a:t>弱正相关</a:t>
            </a:r>
            <a:endParaRPr lang="en-US" sz="1100" dirty="0">
              <a:solidFill>
                <a:srgbClr val="384653"/>
              </a:solidFill>
              <a:latin typeface="微软雅黑" panose="020B0503020204020204" charset="-122"/>
              <a:ea typeface="微软雅黑" panose="020B0503020204020204" charset="-122"/>
              <a:cs typeface="Montserrat" pitchFamily="34" charset="-120"/>
            </a:endParaRPr>
          </a:p>
        </p:txBody>
      </p:sp>
      <p:pic>
        <p:nvPicPr>
          <p:cNvPr id="19" name="Image 0" descr="preencoded.png"/>
          <p:cNvPicPr>
            <a:picLocks noChangeAspect="1"/>
          </p:cNvPicPr>
          <p:nvPr/>
        </p:nvPicPr>
        <p:blipFill>
          <a:blip r:embed="rId17"/>
          <a:stretch>
            <a:fillRect/>
          </a:stretch>
        </p:blipFill>
        <p:spPr>
          <a:xfrm>
            <a:off x="6606540" y="1532255"/>
            <a:ext cx="6944995" cy="5498465"/>
          </a:xfrm>
          <a:prstGeom prst="rect">
            <a:avLst/>
          </a:prstGeom>
        </p:spPr>
      </p:pic>
      <p:sp>
        <p:nvSpPr>
          <p:cNvPr id="20" name="Text 17"/>
          <p:cNvSpPr/>
          <p:nvPr/>
        </p:nvSpPr>
        <p:spPr>
          <a:xfrm>
            <a:off x="758309" y="7220109"/>
            <a:ext cx="13113782" cy="227409"/>
          </a:xfrm>
          <a:prstGeom prst="rect">
            <a:avLst/>
          </a:prstGeom>
          <a:noFill/>
        </p:spPr>
        <p:txBody>
          <a:bodyPr wrap="none" lIns="0" tIns="0" rIns="0" bIns="0" rtlCol="0" anchor="t"/>
          <a:lstStyle/>
          <a:p>
            <a:pPr marL="0" indent="0" algn="l">
              <a:lnSpc>
                <a:spcPts val="1750"/>
              </a:lnSpc>
              <a:buNone/>
            </a:pPr>
            <a:r>
              <a:rPr lang="en-US" sz="1600" dirty="0">
                <a:solidFill>
                  <a:srgbClr val="384653"/>
                </a:solidFill>
                <a:latin typeface="微软雅黑" panose="020B0503020204020204" charset="-122"/>
                <a:ea typeface="微软雅黑" panose="020B0503020204020204" charset="-122"/>
                <a:cs typeface="微软雅黑" panose="020B0503020204020204" charset="-122"/>
              </a:rPr>
              <a:t>通过Pearson相关系数矩阵,我们捕捉到数据集最显著的特征结构——</a:t>
            </a:r>
            <a:r>
              <a:rPr lang="en-US" sz="1600" dirty="0">
                <a:solidFill>
                  <a:srgbClr val="384653"/>
                </a:solidFill>
                <a:highlight>
                  <a:srgbClr val="E5F6FF"/>
                </a:highlight>
                <a:latin typeface="微软雅黑" panose="020B0503020204020204" charset="-122"/>
                <a:ea typeface="微软雅黑" panose="020B0503020204020204" charset="-122"/>
                <a:cs typeface="微软雅黑" panose="020B0503020204020204" charset="-122"/>
              </a:rPr>
              <a:t>"运存即价格"</a:t>
            </a:r>
            <a:r>
              <a:rPr lang="en-US" sz="1600" dirty="0">
                <a:solidFill>
                  <a:srgbClr val="384653"/>
                </a:solidFill>
                <a:latin typeface="微软雅黑" panose="020B0503020204020204" charset="-122"/>
                <a:ea typeface="微软雅黑" panose="020B0503020204020204" charset="-122"/>
                <a:cs typeface="微软雅黑" panose="020B0503020204020204" charset="-122"/>
              </a:rPr>
              <a:t>。</a:t>
            </a:r>
            <a:endParaRPr lang="en-US" sz="1600" dirty="0">
              <a:solidFill>
                <a:srgbClr val="384653"/>
              </a:solidFill>
              <a:latin typeface="微软雅黑" panose="020B0503020204020204" charset="-122"/>
              <a:ea typeface="微软雅黑" panose="020B0503020204020204" charset="-122"/>
              <a:cs typeface="微软雅黑" panose="020B0503020204020204" charset="-122"/>
            </a:endParaRPr>
          </a:p>
          <a:p>
            <a:pPr marL="0" indent="0" algn="l">
              <a:lnSpc>
                <a:spcPts val="1750"/>
              </a:lnSpc>
              <a:buNone/>
            </a:pPr>
            <a:r>
              <a:rPr lang="en-US" sz="1600" dirty="0">
                <a:solidFill>
                  <a:srgbClr val="384653"/>
                </a:solidFill>
                <a:latin typeface="微软雅黑" panose="020B0503020204020204" charset="-122"/>
                <a:ea typeface="微软雅黑" panose="020B0503020204020204" charset="-122"/>
                <a:cs typeface="微软雅黑" panose="020B0503020204020204" charset="-122"/>
              </a:rPr>
              <a:t>RAM大小与价格等级的相关系数高达0.92,这是极其强烈的线性信号,意味着手机运存大小几乎决定了其市场定位。</a:t>
            </a:r>
            <a:endParaRPr lang="en-US" sz="1600" dirty="0">
              <a:solidFill>
                <a:srgbClr val="38465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8309" y="1394460"/>
            <a:ext cx="4539020" cy="405408"/>
          </a:xfrm>
          <a:prstGeom prst="rect">
            <a:avLst/>
          </a:prstGeom>
          <a:noFill/>
        </p:spPr>
        <p:txBody>
          <a:bodyPr wrap="none" lIns="0" tIns="0" rIns="0" bIns="0" rtlCol="0" anchor="t"/>
          <a:lstStyle/>
          <a:p>
            <a:pPr marL="0" indent="0" algn="l">
              <a:lnSpc>
                <a:spcPts val="3150"/>
              </a:lnSpc>
              <a:buNone/>
            </a:pPr>
            <a:r>
              <a:rPr lang="en-US" sz="2550" b="1" dirty="0">
                <a:solidFill>
                  <a:srgbClr val="2E3C4E"/>
                </a:solidFill>
                <a:latin typeface="微软雅黑" panose="020B0503020204020204" charset="-122"/>
                <a:ea typeface="微软雅黑" panose="020B0503020204020204" charset="-122"/>
                <a:cs typeface="Barlow Bold" pitchFamily="34" charset="-120"/>
              </a:rPr>
              <a:t>二维特征交互与决策边界可视化</a:t>
            </a:r>
            <a:endParaRPr lang="en-US" sz="2550" b="1" dirty="0">
              <a:solidFill>
                <a:srgbClr val="2E3C4E"/>
              </a:solidFill>
              <a:latin typeface="微软雅黑" panose="020B0503020204020204" charset="-122"/>
              <a:ea typeface="微软雅黑" panose="020B0503020204020204" charset="-122"/>
              <a:cs typeface="Barlow Bold" pitchFamily="34" charset="-120"/>
            </a:endParaRPr>
          </a:p>
        </p:txBody>
      </p:sp>
      <p:pic>
        <p:nvPicPr>
          <p:cNvPr id="3" name="Image 0" descr="preencoded.png"/>
          <p:cNvPicPr>
            <a:picLocks noChangeAspect="1"/>
          </p:cNvPicPr>
          <p:nvPr/>
        </p:nvPicPr>
        <p:blipFill>
          <a:blip r:embed="rId1"/>
          <a:stretch>
            <a:fillRect/>
          </a:stretch>
        </p:blipFill>
        <p:spPr>
          <a:xfrm>
            <a:off x="478155" y="2181225"/>
            <a:ext cx="7726680" cy="4363085"/>
          </a:xfrm>
          <a:prstGeom prst="rect">
            <a:avLst/>
          </a:prstGeom>
        </p:spPr>
      </p:pic>
      <p:sp>
        <p:nvSpPr>
          <p:cNvPr id="4" name="Text 1"/>
          <p:cNvSpPr/>
          <p:nvPr/>
        </p:nvSpPr>
        <p:spPr>
          <a:xfrm>
            <a:off x="8743434" y="2682557"/>
            <a:ext cx="1621393" cy="202644"/>
          </a:xfrm>
          <a:prstGeom prst="rect">
            <a:avLst/>
          </a:prstGeom>
          <a:noFill/>
        </p:spPr>
        <p:txBody>
          <a:bodyPr wrap="none" lIns="0" tIns="0" rIns="0" bIns="0" rtlCol="0" anchor="t"/>
          <a:lstStyle/>
          <a:p>
            <a:pPr marL="0" indent="0" algn="l">
              <a:lnSpc>
                <a:spcPts val="1550"/>
              </a:lnSpc>
              <a:buNone/>
            </a:pPr>
            <a:r>
              <a:rPr lang="en-US" sz="2000" b="1" dirty="0">
                <a:solidFill>
                  <a:srgbClr val="2E3C4E"/>
                </a:solidFill>
                <a:latin typeface="微软雅黑" panose="020B0503020204020204" charset="-122"/>
                <a:ea typeface="微软雅黑" panose="020B0503020204020204" charset="-122"/>
                <a:cs typeface="Barlow Bold" pitchFamily="34" charset="-120"/>
              </a:rPr>
              <a:t>几何分布特征</a:t>
            </a:r>
            <a:endParaRPr lang="en-US" sz="2000" b="1" dirty="0">
              <a:solidFill>
                <a:srgbClr val="2E3C4E"/>
              </a:solidFill>
              <a:latin typeface="微软雅黑" panose="020B0503020204020204" charset="-122"/>
              <a:ea typeface="微软雅黑" panose="020B0503020204020204" charset="-122"/>
              <a:cs typeface="Barlow Bold" pitchFamily="34" charset="-120"/>
            </a:endParaRPr>
          </a:p>
        </p:txBody>
      </p:sp>
      <p:sp>
        <p:nvSpPr>
          <p:cNvPr id="5" name="Text 2"/>
          <p:cNvSpPr/>
          <p:nvPr/>
        </p:nvSpPr>
        <p:spPr>
          <a:xfrm>
            <a:off x="8743434" y="3008313"/>
            <a:ext cx="6406634" cy="197168"/>
          </a:xfrm>
          <a:prstGeom prst="rect">
            <a:avLst/>
          </a:prstGeom>
          <a:noFill/>
        </p:spPr>
        <p:txBody>
          <a:bodyPr wrap="none" lIns="0" tIns="0" rIns="0" bIns="0" rtlCol="0" anchor="t"/>
          <a:lstStyle/>
          <a:p>
            <a:pPr marL="0" algn="l">
              <a:lnSpc>
                <a:spcPct val="150000"/>
              </a:lnSpc>
              <a:buClrTx/>
              <a:buSzTx/>
              <a:buFontTx/>
              <a:buNone/>
            </a:pPr>
            <a:r>
              <a:rPr lang="en-US" sz="1600" dirty="0">
                <a:solidFill>
                  <a:srgbClr val="384653"/>
                </a:solidFill>
                <a:latin typeface="微软雅黑" panose="020B0503020204020204" charset="-122"/>
                <a:ea typeface="微软雅黑" panose="020B0503020204020204" charset="-122"/>
                <a:cs typeface="微软雅黑" panose="020B0503020204020204" charset="-122"/>
              </a:rPr>
              <a:t>四个价格等级沿着X轴(RAM)呈现近乎完美的阶梯状分布。</a:t>
            </a:r>
            <a:endParaRPr lang="en-US" sz="1600" dirty="0">
              <a:solidFill>
                <a:srgbClr val="384653"/>
              </a:solidFill>
              <a:latin typeface="微软雅黑" panose="020B0503020204020204" charset="-122"/>
              <a:ea typeface="微软雅黑" panose="020B0503020204020204" charset="-122"/>
              <a:cs typeface="微软雅黑" panose="020B0503020204020204" charset="-122"/>
            </a:endParaRPr>
          </a:p>
          <a:p>
            <a:pPr marL="0" algn="l">
              <a:lnSpc>
                <a:spcPct val="150000"/>
              </a:lnSpc>
              <a:buClrTx/>
              <a:buSzTx/>
              <a:buFontTx/>
              <a:buNone/>
            </a:pPr>
            <a:r>
              <a:rPr lang="en-US" sz="1600" dirty="0">
                <a:solidFill>
                  <a:srgbClr val="384653"/>
                </a:solidFill>
                <a:latin typeface="微软雅黑" panose="020B0503020204020204" charset="-122"/>
                <a:ea typeface="微软雅黑" panose="020B0503020204020204" charset="-122"/>
                <a:cs typeface="微软雅黑" panose="020B0503020204020204" charset="-122"/>
              </a:rPr>
              <a:t>低端机占据低RAM区域,旗舰机垄断高RAM区域。</a:t>
            </a:r>
            <a:endParaRPr lang="en-US" sz="160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6" name="Text 3"/>
          <p:cNvSpPr/>
          <p:nvPr/>
        </p:nvSpPr>
        <p:spPr>
          <a:xfrm>
            <a:off x="8743712" y="4012247"/>
            <a:ext cx="1621393" cy="202644"/>
          </a:xfrm>
          <a:prstGeom prst="rect">
            <a:avLst/>
          </a:prstGeom>
          <a:noFill/>
        </p:spPr>
        <p:txBody>
          <a:bodyPr wrap="none" lIns="0" tIns="0" rIns="0" bIns="0" rtlCol="0" anchor="t"/>
          <a:lstStyle/>
          <a:p>
            <a:pPr marL="0" indent="0" algn="l">
              <a:lnSpc>
                <a:spcPts val="1550"/>
              </a:lnSpc>
              <a:buNone/>
            </a:pPr>
            <a:r>
              <a:rPr lang="en-US" sz="2000" b="1" dirty="0">
                <a:solidFill>
                  <a:srgbClr val="2E3C4E"/>
                </a:solidFill>
                <a:latin typeface="微软雅黑" panose="020B0503020204020204" charset="-122"/>
                <a:ea typeface="微软雅黑" panose="020B0503020204020204" charset="-122"/>
                <a:cs typeface="Barlow Bold" pitchFamily="34" charset="-120"/>
              </a:rPr>
              <a:t>边界模糊性</a:t>
            </a:r>
            <a:endParaRPr lang="en-US" sz="2000" b="1" dirty="0">
              <a:solidFill>
                <a:srgbClr val="2E3C4E"/>
              </a:solidFill>
              <a:latin typeface="微软雅黑" panose="020B0503020204020204" charset="-122"/>
              <a:ea typeface="微软雅黑" panose="020B0503020204020204" charset="-122"/>
              <a:cs typeface="Barlow Bold" pitchFamily="34" charset="-120"/>
            </a:endParaRPr>
          </a:p>
        </p:txBody>
      </p:sp>
      <p:sp>
        <p:nvSpPr>
          <p:cNvPr id="7" name="Text 4"/>
          <p:cNvSpPr/>
          <p:nvPr/>
        </p:nvSpPr>
        <p:spPr>
          <a:xfrm>
            <a:off x="8743712" y="4338003"/>
            <a:ext cx="6406634" cy="394335"/>
          </a:xfrm>
          <a:prstGeom prst="rect">
            <a:avLst/>
          </a:prstGeom>
          <a:noFill/>
        </p:spPr>
        <p:txBody>
          <a:bodyPr wrap="square" lIns="0" tIns="0" rIns="0" bIns="0" rtlCol="0" anchor="t"/>
          <a:lstStyle/>
          <a:p>
            <a:pPr indent="0" algn="l" fontAlgn="auto">
              <a:lnSpc>
                <a:spcPct val="150000"/>
              </a:lnSpc>
              <a:buNone/>
            </a:pPr>
            <a:r>
              <a:rPr lang="en-US" sz="1600" dirty="0">
                <a:solidFill>
                  <a:srgbClr val="384653"/>
                </a:solidFill>
                <a:latin typeface="微软雅黑" panose="020B0503020204020204" charset="-122"/>
                <a:ea typeface="微软雅黑" panose="020B0503020204020204" charset="-122"/>
                <a:cs typeface="微软雅黑" panose="020B0503020204020204" charset="-122"/>
              </a:rPr>
              <a:t>各类别之间的边界并非笔直竖线,而是存在一定交织。</a:t>
            </a:r>
            <a:endParaRPr lang="en-US" sz="1600" dirty="0">
              <a:solidFill>
                <a:srgbClr val="384653"/>
              </a:solidFill>
              <a:latin typeface="微软雅黑" panose="020B0503020204020204" charset="-122"/>
              <a:ea typeface="微软雅黑" panose="020B0503020204020204" charset="-122"/>
              <a:cs typeface="微软雅黑" panose="020B0503020204020204" charset="-122"/>
            </a:endParaRPr>
          </a:p>
          <a:p>
            <a:pPr indent="0" algn="l" fontAlgn="auto">
              <a:lnSpc>
                <a:spcPct val="150000"/>
              </a:lnSpc>
              <a:buNone/>
            </a:pPr>
            <a:r>
              <a:rPr lang="en-US" sz="1600" dirty="0">
                <a:solidFill>
                  <a:srgbClr val="384653"/>
                </a:solidFill>
                <a:latin typeface="微软雅黑" panose="020B0503020204020204" charset="-122"/>
                <a:ea typeface="微软雅黑" panose="020B0503020204020204" charset="-122"/>
                <a:cs typeface="微软雅黑" panose="020B0503020204020204" charset="-122"/>
              </a:rPr>
              <a:t>这种"阶梯状"但略带模糊边界的数据形态,</a:t>
            </a:r>
            <a:r>
              <a:rPr lang="en-US" sz="1600" dirty="0">
                <a:solidFill>
                  <a:srgbClr val="384653"/>
                </a:solidFill>
                <a:latin typeface="微软雅黑" panose="020B0503020204020204" charset="-122"/>
                <a:ea typeface="微软雅黑" panose="020B0503020204020204" charset="-122"/>
                <a:cs typeface="微软雅黑" panose="020B0503020204020204" charset="-122"/>
                <a:sym typeface="+mn-ea"/>
              </a:rPr>
              <a:t>对于擅长</a:t>
            </a:r>
            <a:endParaRPr lang="en-US" sz="1600" dirty="0">
              <a:solidFill>
                <a:srgbClr val="384653"/>
              </a:solidFill>
              <a:latin typeface="微软雅黑" panose="020B0503020204020204" charset="-122"/>
              <a:ea typeface="微软雅黑" panose="020B0503020204020204" charset="-122"/>
              <a:cs typeface="微软雅黑" panose="020B0503020204020204" charset="-122"/>
              <a:sym typeface="+mn-ea"/>
            </a:endParaRPr>
          </a:p>
          <a:p>
            <a:pPr indent="0" algn="l" fontAlgn="auto">
              <a:lnSpc>
                <a:spcPct val="150000"/>
              </a:lnSpc>
              <a:buNone/>
            </a:pPr>
            <a:r>
              <a:rPr lang="en-US" sz="1600" dirty="0">
                <a:solidFill>
                  <a:srgbClr val="384653"/>
                </a:solidFill>
                <a:latin typeface="微软雅黑" panose="020B0503020204020204" charset="-122"/>
                <a:ea typeface="微软雅黑" panose="020B0503020204020204" charset="-122"/>
                <a:cs typeface="微软雅黑" panose="020B0503020204020204" charset="-122"/>
                <a:sym typeface="+mn-ea"/>
              </a:rPr>
              <a:t>正交切割的决策树模型非常友好,但对于试图寻找全局</a:t>
            </a:r>
            <a:endParaRPr lang="en-US" sz="1600" dirty="0">
              <a:solidFill>
                <a:srgbClr val="384653"/>
              </a:solidFill>
              <a:latin typeface="微软雅黑" panose="020B0503020204020204" charset="-122"/>
              <a:ea typeface="微软雅黑" panose="020B0503020204020204" charset="-122"/>
              <a:cs typeface="微软雅黑" panose="020B0503020204020204" charset="-122"/>
              <a:sym typeface="+mn-ea"/>
            </a:endParaRPr>
          </a:p>
          <a:p>
            <a:pPr indent="0" algn="l" fontAlgn="auto">
              <a:lnSpc>
                <a:spcPct val="150000"/>
              </a:lnSpc>
              <a:buNone/>
            </a:pPr>
            <a:r>
              <a:rPr lang="en-US" sz="1600" dirty="0">
                <a:solidFill>
                  <a:srgbClr val="384653"/>
                </a:solidFill>
                <a:latin typeface="微软雅黑" panose="020B0503020204020204" charset="-122"/>
                <a:ea typeface="微软雅黑" panose="020B0503020204020204" charset="-122"/>
                <a:cs typeface="微软雅黑" panose="020B0503020204020204" charset="-122"/>
                <a:sym typeface="+mn-ea"/>
              </a:rPr>
              <a:t>最优超平面的SVM来说,可能会遇到"三明治效应"的困扰。</a:t>
            </a:r>
            <a:endParaRPr lang="en-US" sz="1600" dirty="0">
              <a:solidFill>
                <a:srgbClr val="38465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8309" y="984528"/>
            <a:ext cx="4988838" cy="623530"/>
          </a:xfrm>
          <a:prstGeom prst="rect">
            <a:avLst/>
          </a:prstGeom>
          <a:noFill/>
        </p:spPr>
        <p:txBody>
          <a:bodyPr wrap="none" lIns="0" tIns="0" rIns="0" bIns="0" rtlCol="0" anchor="t"/>
          <a:lstStyle/>
          <a:p>
            <a:pPr marL="0" indent="0" algn="l">
              <a:lnSpc>
                <a:spcPts val="4900"/>
              </a:lnSpc>
              <a:buNone/>
            </a:pPr>
            <a:r>
              <a:rPr lang="en-US" sz="3900" b="1" dirty="0">
                <a:solidFill>
                  <a:srgbClr val="2E3C4E"/>
                </a:solidFill>
                <a:latin typeface="微软雅黑" panose="020B0503020204020204" charset="-122"/>
                <a:ea typeface="微软雅黑" panose="020B0503020204020204" charset="-122"/>
                <a:cs typeface="微软雅黑" panose="020B0503020204020204" charset="-122"/>
              </a:rPr>
              <a:t>数据标准化:Z-score</a:t>
            </a:r>
            <a:endParaRPr lang="en-US" sz="3900" b="1" dirty="0">
              <a:solidFill>
                <a:srgbClr val="2E3C4E"/>
              </a:solidFill>
              <a:latin typeface="微软雅黑" panose="020B0503020204020204" charset="-122"/>
              <a:ea typeface="微软雅黑" panose="020B0503020204020204" charset="-122"/>
              <a:cs typeface="微软雅黑" panose="020B0503020204020204" charset="-122"/>
            </a:endParaRPr>
          </a:p>
        </p:txBody>
      </p:sp>
      <p:sp>
        <p:nvSpPr>
          <p:cNvPr id="4" name="Text 2"/>
          <p:cNvSpPr/>
          <p:nvPr/>
        </p:nvSpPr>
        <p:spPr>
          <a:xfrm>
            <a:off x="758309" y="2583180"/>
            <a:ext cx="5646777" cy="303252"/>
          </a:xfrm>
          <a:prstGeom prst="rect">
            <a:avLst/>
          </a:prstGeom>
          <a:noFill/>
        </p:spPr>
        <p:txBody>
          <a:bodyPr wrap="none" lIns="0" tIns="0" rIns="0" bIns="0" rtlCol="0" anchor="t"/>
          <a:lstStyle/>
          <a:p>
            <a:pPr marL="0" indent="0" algn="l">
              <a:lnSpc>
                <a:spcPts val="2350"/>
              </a:lnSpc>
              <a:buNone/>
            </a:pPr>
            <a:endParaRPr lang="en-US" sz="1450" dirty="0">
              <a:latin typeface="微软雅黑" panose="020B0503020204020204" charset="-122"/>
              <a:ea typeface="微软雅黑" panose="020B0503020204020204" charset="-122"/>
            </a:endParaRPr>
          </a:p>
        </p:txBody>
      </p:sp>
      <p:sp>
        <p:nvSpPr>
          <p:cNvPr id="5" name="Text 3"/>
          <p:cNvSpPr/>
          <p:nvPr/>
        </p:nvSpPr>
        <p:spPr>
          <a:xfrm>
            <a:off x="758309" y="3126343"/>
            <a:ext cx="5646777" cy="576024"/>
          </a:xfrm>
          <a:prstGeom prst="rect">
            <a:avLst/>
          </a:prstGeom>
          <a:noFill/>
        </p:spPr>
        <p:txBody>
          <a:bodyPr wrap="square" lIns="0" tIns="0" rIns="0" bIns="0" rtlCol="0" anchor="t"/>
          <a:lstStyle/>
          <a:p>
            <a:pPr marL="0" indent="0" algn="l">
              <a:lnSpc>
                <a:spcPts val="2650"/>
              </a:lnSpc>
              <a:buNone/>
            </a:pPr>
            <a:endParaRPr lang="en-US" sz="1650" dirty="0">
              <a:latin typeface="微软雅黑" panose="020B0503020204020204" charset="-122"/>
              <a:ea typeface="微软雅黑" panose="020B0503020204020204" charset="-122"/>
            </a:endParaRPr>
          </a:p>
        </p:txBody>
      </p:sp>
      <p:sp>
        <p:nvSpPr>
          <p:cNvPr id="8" name="Text 5"/>
          <p:cNvSpPr/>
          <p:nvPr/>
        </p:nvSpPr>
        <p:spPr>
          <a:xfrm>
            <a:off x="758309" y="4416147"/>
            <a:ext cx="5646777" cy="303252"/>
          </a:xfrm>
          <a:prstGeom prst="rect">
            <a:avLst/>
          </a:prstGeom>
          <a:noFill/>
        </p:spPr>
        <p:txBody>
          <a:bodyPr wrap="none" lIns="0" tIns="0" rIns="0" bIns="0" rtlCol="0" anchor="t"/>
          <a:lstStyle/>
          <a:p>
            <a:pPr marL="0" indent="0" algn="l">
              <a:lnSpc>
                <a:spcPts val="2350"/>
              </a:lnSpc>
              <a:buNone/>
            </a:pPr>
            <a:endParaRPr lang="en-US" sz="1450" dirty="0">
              <a:latin typeface="微软雅黑" panose="020B0503020204020204" charset="-122"/>
              <a:ea typeface="微软雅黑" panose="020B0503020204020204" charset="-122"/>
            </a:endParaRPr>
          </a:p>
        </p:txBody>
      </p:sp>
      <p:sp>
        <p:nvSpPr>
          <p:cNvPr id="9" name="Text 6"/>
          <p:cNvSpPr/>
          <p:nvPr/>
        </p:nvSpPr>
        <p:spPr>
          <a:xfrm>
            <a:off x="758309" y="4890016"/>
            <a:ext cx="5646777" cy="303252"/>
          </a:xfrm>
          <a:prstGeom prst="rect">
            <a:avLst/>
          </a:prstGeom>
          <a:noFill/>
        </p:spPr>
        <p:txBody>
          <a:bodyPr wrap="none" lIns="0" tIns="0" rIns="0" bIns="0" rtlCol="0" anchor="t"/>
          <a:lstStyle/>
          <a:p>
            <a:pPr marL="0" indent="0" algn="l">
              <a:lnSpc>
                <a:spcPts val="2350"/>
              </a:lnSpc>
              <a:buNone/>
            </a:pPr>
            <a:endParaRPr lang="en-US" sz="1450" dirty="0">
              <a:latin typeface="微软雅黑" panose="020B0503020204020204" charset="-122"/>
              <a:ea typeface="微软雅黑" panose="020B0503020204020204" charset="-122"/>
            </a:endParaRPr>
          </a:p>
        </p:txBody>
      </p:sp>
      <p:sp>
        <p:nvSpPr>
          <p:cNvPr id="10" name="Shape 7"/>
          <p:cNvSpPr/>
          <p:nvPr/>
        </p:nvSpPr>
        <p:spPr>
          <a:xfrm>
            <a:off x="758309" y="5406509"/>
            <a:ext cx="5646777" cy="1108829"/>
          </a:xfrm>
          <a:prstGeom prst="roundRect">
            <a:avLst>
              <a:gd name="adj" fmla="val 25646"/>
            </a:avLst>
          </a:prstGeom>
          <a:solidFill>
            <a:srgbClr val="BEDFF3"/>
          </a:solidFill>
        </p:spPr>
      </p:sp>
      <p:pic>
        <p:nvPicPr>
          <p:cNvPr id="11" name="Image 1" descr="preencoded.png"/>
          <p:cNvPicPr>
            <a:picLocks noChangeAspect="1"/>
          </p:cNvPicPr>
          <p:nvPr/>
        </p:nvPicPr>
        <p:blipFill>
          <a:blip r:embed="rId1"/>
          <a:stretch>
            <a:fillRect/>
          </a:stretch>
        </p:blipFill>
        <p:spPr>
          <a:xfrm>
            <a:off x="947857" y="5690949"/>
            <a:ext cx="236934" cy="189548"/>
          </a:xfrm>
          <a:prstGeom prst="rect">
            <a:avLst/>
          </a:prstGeom>
        </p:spPr>
      </p:pic>
      <p:sp>
        <p:nvSpPr>
          <p:cNvPr id="12" name="Text 8"/>
          <p:cNvSpPr/>
          <p:nvPr/>
        </p:nvSpPr>
        <p:spPr>
          <a:xfrm>
            <a:off x="1374338" y="5643443"/>
            <a:ext cx="4841200" cy="606504"/>
          </a:xfrm>
          <a:prstGeom prst="rect">
            <a:avLst/>
          </a:prstGeom>
          <a:noFill/>
        </p:spPr>
        <p:txBody>
          <a:bodyPr wrap="square" lIns="0" tIns="0" rIns="0" bIns="0" rtlCol="0" anchor="t"/>
          <a:lstStyle/>
          <a:p>
            <a:pPr marL="0" indent="0" algn="l">
              <a:lnSpc>
                <a:spcPts val="2350"/>
              </a:lnSpc>
              <a:buNone/>
            </a:pPr>
            <a:r>
              <a:rPr lang="en-US" sz="1450" dirty="0">
                <a:solidFill>
                  <a:srgbClr val="000000"/>
                </a:solidFill>
                <a:latin typeface="微软雅黑" panose="020B0503020204020204" charset="-122"/>
                <a:ea typeface="微软雅黑" panose="020B0503020204020204" charset="-122"/>
                <a:cs typeface="微软雅黑" panose="020B0503020204020204" charset="-122"/>
              </a:rPr>
              <a:t>RAM的波动范围高达3000,而蓝牙功能仅为0或1。若不处理,RAM的数值波动将掩盖所有其他特征的影响。</a:t>
            </a:r>
            <a:endParaRPr lang="en-US" sz="145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Shape 9"/>
          <p:cNvSpPr/>
          <p:nvPr/>
        </p:nvSpPr>
        <p:spPr>
          <a:xfrm>
            <a:off x="6875145" y="2105620"/>
            <a:ext cx="7004447" cy="1229320"/>
          </a:xfrm>
          <a:prstGeom prst="roundRect">
            <a:avLst>
              <a:gd name="adj" fmla="val 8926"/>
            </a:avLst>
          </a:prstGeom>
          <a:solidFill>
            <a:srgbClr val="FFFFFF"/>
          </a:solidFill>
          <a:ln w="22860">
            <a:solidFill>
              <a:srgbClr val="BACFDD"/>
            </a:solidFill>
            <a:prstDash val="solid"/>
          </a:ln>
        </p:spPr>
      </p:sp>
      <p:pic>
        <p:nvPicPr>
          <p:cNvPr id="14" name="Image 2" descr="preencoded.png"/>
          <p:cNvPicPr>
            <a:picLocks noChangeAspect="1"/>
          </p:cNvPicPr>
          <p:nvPr/>
        </p:nvPicPr>
        <p:blipFill>
          <a:blip r:embed="rId2"/>
          <a:stretch>
            <a:fillRect/>
          </a:stretch>
        </p:blipFill>
        <p:spPr>
          <a:xfrm>
            <a:off x="6852285" y="2105620"/>
            <a:ext cx="91440" cy="1229320"/>
          </a:xfrm>
          <a:prstGeom prst="rect">
            <a:avLst/>
          </a:prstGeom>
        </p:spPr>
      </p:pic>
      <p:sp>
        <p:nvSpPr>
          <p:cNvPr id="15" name="Text 10"/>
          <p:cNvSpPr/>
          <p:nvPr/>
        </p:nvSpPr>
        <p:spPr>
          <a:xfrm>
            <a:off x="7156132" y="2318028"/>
            <a:ext cx="2494359" cy="311706"/>
          </a:xfrm>
          <a:prstGeom prst="rect">
            <a:avLst/>
          </a:prstGeom>
          <a:noFill/>
        </p:spPr>
        <p:txBody>
          <a:bodyPr wrap="none" lIns="0" tIns="0" rIns="0" bIns="0" rtlCol="0" anchor="t"/>
          <a:lstStyle/>
          <a:p>
            <a:pPr marL="0" indent="0" algn="l">
              <a:lnSpc>
                <a:spcPts val="2450"/>
              </a:lnSpc>
              <a:buNone/>
            </a:pPr>
            <a:r>
              <a:rPr lang="en-US" sz="1950" b="1" dirty="0">
                <a:solidFill>
                  <a:srgbClr val="384653"/>
                </a:solidFill>
                <a:latin typeface="微软雅黑" panose="020B0503020204020204" charset="-122"/>
                <a:ea typeface="微软雅黑" panose="020B0503020204020204" charset="-122"/>
                <a:cs typeface="微软雅黑" panose="020B0503020204020204" charset="-122"/>
              </a:rPr>
              <a:t>KNN算法</a:t>
            </a:r>
            <a:endParaRPr lang="en-US" sz="1950" b="1"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16" name="Text 11"/>
          <p:cNvSpPr/>
          <p:nvPr/>
        </p:nvSpPr>
        <p:spPr>
          <a:xfrm>
            <a:off x="7156132" y="2819281"/>
            <a:ext cx="6511052"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微软雅黑" panose="020B0503020204020204" charset="-122"/>
              </a:rPr>
              <a:t>依赖欧氏距离计算,对量纲极其敏感,必须标准化</a:t>
            </a:r>
            <a:endParaRPr lang="en-US" sz="145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17" name="Shape 12"/>
          <p:cNvSpPr/>
          <p:nvPr/>
        </p:nvSpPr>
        <p:spPr>
          <a:xfrm>
            <a:off x="6875145" y="3524488"/>
            <a:ext cx="7004447" cy="1229320"/>
          </a:xfrm>
          <a:prstGeom prst="roundRect">
            <a:avLst>
              <a:gd name="adj" fmla="val 8926"/>
            </a:avLst>
          </a:prstGeom>
          <a:solidFill>
            <a:srgbClr val="FFFFFF"/>
          </a:solidFill>
          <a:ln w="22860">
            <a:solidFill>
              <a:srgbClr val="BACFDD"/>
            </a:solidFill>
            <a:prstDash val="solid"/>
          </a:ln>
        </p:spPr>
      </p:sp>
      <p:pic>
        <p:nvPicPr>
          <p:cNvPr id="18" name="Image 3" descr="preencoded.png"/>
          <p:cNvPicPr>
            <a:picLocks noChangeAspect="1"/>
          </p:cNvPicPr>
          <p:nvPr/>
        </p:nvPicPr>
        <p:blipFill>
          <a:blip r:embed="rId2"/>
          <a:stretch>
            <a:fillRect/>
          </a:stretch>
        </p:blipFill>
        <p:spPr>
          <a:xfrm>
            <a:off x="6852285" y="3524488"/>
            <a:ext cx="91440" cy="1229320"/>
          </a:xfrm>
          <a:prstGeom prst="rect">
            <a:avLst/>
          </a:prstGeom>
        </p:spPr>
      </p:pic>
      <p:sp>
        <p:nvSpPr>
          <p:cNvPr id="19" name="Text 13"/>
          <p:cNvSpPr/>
          <p:nvPr/>
        </p:nvSpPr>
        <p:spPr>
          <a:xfrm>
            <a:off x="7156132" y="3736896"/>
            <a:ext cx="2494359" cy="311706"/>
          </a:xfrm>
          <a:prstGeom prst="rect">
            <a:avLst/>
          </a:prstGeom>
          <a:noFill/>
        </p:spPr>
        <p:txBody>
          <a:bodyPr wrap="none" lIns="0" tIns="0" rIns="0" bIns="0" rtlCol="0" anchor="t"/>
          <a:lstStyle/>
          <a:p>
            <a:pPr marL="0" indent="0" algn="l">
              <a:lnSpc>
                <a:spcPts val="2450"/>
              </a:lnSpc>
              <a:buNone/>
            </a:pPr>
            <a:r>
              <a:rPr lang="en-US" sz="1950" b="1" dirty="0">
                <a:solidFill>
                  <a:srgbClr val="384653"/>
                </a:solidFill>
                <a:latin typeface="微软雅黑" panose="020B0503020204020204" charset="-122"/>
                <a:ea typeface="微软雅黑" panose="020B0503020204020204" charset="-122"/>
                <a:cs typeface="微软雅黑" panose="020B0503020204020204" charset="-122"/>
              </a:rPr>
              <a:t>SVM算法</a:t>
            </a:r>
            <a:endParaRPr lang="en-US" sz="1950" b="1"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20" name="Text 14"/>
          <p:cNvSpPr/>
          <p:nvPr/>
        </p:nvSpPr>
        <p:spPr>
          <a:xfrm>
            <a:off x="7156132" y="4238149"/>
            <a:ext cx="6511052"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微软雅黑" panose="020B0503020204020204" charset="-122"/>
              </a:rPr>
              <a:t>依赖超平面间隔,标准化加速梯度下降收敛</a:t>
            </a:r>
            <a:endParaRPr lang="en-US" sz="145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21" name="Shape 15"/>
          <p:cNvSpPr/>
          <p:nvPr/>
        </p:nvSpPr>
        <p:spPr>
          <a:xfrm>
            <a:off x="6875145" y="4943356"/>
            <a:ext cx="7004447" cy="1229320"/>
          </a:xfrm>
          <a:prstGeom prst="roundRect">
            <a:avLst>
              <a:gd name="adj" fmla="val 8926"/>
            </a:avLst>
          </a:prstGeom>
          <a:solidFill>
            <a:srgbClr val="FFFFFF"/>
          </a:solidFill>
          <a:ln w="22860">
            <a:solidFill>
              <a:srgbClr val="BACFDD"/>
            </a:solidFill>
            <a:prstDash val="solid"/>
          </a:ln>
        </p:spPr>
      </p:sp>
      <p:pic>
        <p:nvPicPr>
          <p:cNvPr id="22" name="Image 4" descr="preencoded.png"/>
          <p:cNvPicPr>
            <a:picLocks noChangeAspect="1"/>
          </p:cNvPicPr>
          <p:nvPr/>
        </p:nvPicPr>
        <p:blipFill>
          <a:blip r:embed="rId2"/>
          <a:stretch>
            <a:fillRect/>
          </a:stretch>
        </p:blipFill>
        <p:spPr>
          <a:xfrm>
            <a:off x="6852285" y="4943356"/>
            <a:ext cx="91440" cy="1229320"/>
          </a:xfrm>
          <a:prstGeom prst="rect">
            <a:avLst/>
          </a:prstGeom>
        </p:spPr>
      </p:pic>
      <p:sp>
        <p:nvSpPr>
          <p:cNvPr id="23" name="Text 16"/>
          <p:cNvSpPr/>
          <p:nvPr/>
        </p:nvSpPr>
        <p:spPr>
          <a:xfrm>
            <a:off x="7156132" y="5155763"/>
            <a:ext cx="2494359" cy="311706"/>
          </a:xfrm>
          <a:prstGeom prst="rect">
            <a:avLst/>
          </a:prstGeom>
          <a:noFill/>
        </p:spPr>
        <p:txBody>
          <a:bodyPr wrap="none" lIns="0" tIns="0" rIns="0" bIns="0" rtlCol="0" anchor="t"/>
          <a:lstStyle/>
          <a:p>
            <a:pPr marL="0" indent="0" algn="l">
              <a:lnSpc>
                <a:spcPts val="2450"/>
              </a:lnSpc>
              <a:buNone/>
            </a:pPr>
            <a:r>
              <a:rPr lang="en-US" sz="1950" b="1" dirty="0">
                <a:solidFill>
                  <a:srgbClr val="384653"/>
                </a:solidFill>
                <a:latin typeface="微软雅黑" panose="020B0503020204020204" charset="-122"/>
                <a:ea typeface="微软雅黑" panose="020B0503020204020204" charset="-122"/>
                <a:cs typeface="Barlow Bold" pitchFamily="34" charset="-120"/>
              </a:rPr>
              <a:t>随机森林</a:t>
            </a:r>
            <a:endParaRPr lang="en-US" sz="1950" b="1" dirty="0">
              <a:solidFill>
                <a:srgbClr val="384653"/>
              </a:solidFill>
              <a:latin typeface="微软雅黑" panose="020B0503020204020204" charset="-122"/>
              <a:ea typeface="微软雅黑" panose="020B0503020204020204" charset="-122"/>
              <a:cs typeface="Barlow Bold" pitchFamily="34" charset="-120"/>
            </a:endParaRPr>
          </a:p>
        </p:txBody>
      </p:sp>
      <p:sp>
        <p:nvSpPr>
          <p:cNvPr id="24" name="Text 17"/>
          <p:cNvSpPr/>
          <p:nvPr/>
        </p:nvSpPr>
        <p:spPr>
          <a:xfrm>
            <a:off x="7156132" y="5657017"/>
            <a:ext cx="6511052"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Montserrat" pitchFamily="34" charset="-120"/>
              </a:rPr>
              <a:t>不需要标准化</a:t>
            </a:r>
            <a:endParaRPr lang="en-US" sz="1450" dirty="0">
              <a:solidFill>
                <a:srgbClr val="384653"/>
              </a:solidFill>
              <a:latin typeface="微软雅黑" panose="020B0503020204020204" charset="-122"/>
              <a:ea typeface="微软雅黑" panose="020B0503020204020204" charset="-122"/>
              <a:cs typeface="Montserrat" pitchFamily="34" charset="-120"/>
            </a:endParaRPr>
          </a:p>
        </p:txBody>
      </p:sp>
      <p:sp>
        <p:nvSpPr>
          <p:cNvPr id="25" name="Text 18"/>
          <p:cNvSpPr/>
          <p:nvPr/>
        </p:nvSpPr>
        <p:spPr>
          <a:xfrm>
            <a:off x="758309" y="6941820"/>
            <a:ext cx="13113782" cy="303252"/>
          </a:xfrm>
          <a:prstGeom prst="rect">
            <a:avLst/>
          </a:prstGeom>
          <a:noFill/>
        </p:spPr>
        <p:txBody>
          <a:bodyPr wrap="none" lIns="0" tIns="0" rIns="0" bIns="0" rtlCol="0" anchor="t"/>
          <a:lstStyle/>
          <a:p>
            <a:pPr marL="0" indent="0" algn="l">
              <a:lnSpc>
                <a:spcPts val="2350"/>
              </a:lnSpc>
              <a:buNone/>
            </a:pPr>
            <a:r>
              <a:rPr lang="en-US" sz="1400" b="1" dirty="0">
                <a:solidFill>
                  <a:srgbClr val="384653"/>
                </a:solidFill>
                <a:latin typeface="微软雅黑" panose="020B0503020204020204" charset="-122"/>
                <a:ea typeface="微软雅黑" panose="020B0503020204020204" charset="-122"/>
                <a:cs typeface="微软雅黑" panose="020B0503020204020204" charset="-122"/>
              </a:rPr>
              <a:t>我们采用Z-score标准化,将所有连续特征映射为均值为0、标准差为1的标准正态分布。这不仅加速了SVM梯度下降的收敛,也保证了KNN距离计算的公平性。</a:t>
            </a:r>
            <a:endParaRPr lang="en-US" sz="1400" b="1" dirty="0">
              <a:solidFill>
                <a:srgbClr val="384653"/>
              </a:solidFill>
              <a:latin typeface="微软雅黑" panose="020B0503020204020204" charset="-122"/>
              <a:ea typeface="微软雅黑" panose="020B0503020204020204" charset="-122"/>
              <a:cs typeface="微软雅黑" panose="020B0503020204020204" charset="-122"/>
            </a:endParaRPr>
          </a:p>
        </p:txBody>
      </p:sp>
      <p:pic>
        <p:nvPicPr>
          <p:cNvPr id="26" name="图片 25"/>
          <p:cNvPicPr>
            <a:picLocks noChangeAspect="1"/>
          </p:cNvPicPr>
          <p:nvPr/>
        </p:nvPicPr>
        <p:blipFill>
          <a:blip r:embed="rId3"/>
          <a:stretch>
            <a:fillRect/>
          </a:stretch>
        </p:blipFill>
        <p:spPr>
          <a:xfrm>
            <a:off x="647700" y="1914525"/>
            <a:ext cx="5210175" cy="27622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8309" y="515858"/>
            <a:ext cx="5456277" cy="623530"/>
          </a:xfrm>
          <a:prstGeom prst="rect">
            <a:avLst/>
          </a:prstGeom>
          <a:noFill/>
        </p:spPr>
        <p:txBody>
          <a:bodyPr wrap="none" lIns="0" tIns="0" rIns="0" bIns="0" rtlCol="0" anchor="t"/>
          <a:lstStyle/>
          <a:p>
            <a:pPr marL="0" indent="0" algn="l">
              <a:lnSpc>
                <a:spcPts val="4900"/>
              </a:lnSpc>
              <a:buNone/>
            </a:pPr>
            <a:r>
              <a:rPr lang="en-US" sz="3900" b="1" dirty="0">
                <a:solidFill>
                  <a:srgbClr val="2E3C4E"/>
                </a:solidFill>
                <a:latin typeface="微软雅黑" panose="020B0503020204020204" charset="-122"/>
                <a:ea typeface="微软雅黑" panose="020B0503020204020204" charset="-122"/>
                <a:cs typeface="微软雅黑" panose="020B0503020204020204" charset="-122"/>
              </a:rPr>
              <a:t>特征选择:ANOVA F-value</a:t>
            </a:r>
            <a:endParaRPr lang="en-US" sz="3900" b="1" dirty="0">
              <a:solidFill>
                <a:srgbClr val="2E3C4E"/>
              </a:solidFill>
              <a:latin typeface="微软雅黑" panose="020B0503020204020204" charset="-122"/>
              <a:ea typeface="微软雅黑" panose="020B0503020204020204" charset="-122"/>
              <a:cs typeface="微软雅黑" panose="020B0503020204020204" charset="-122"/>
            </a:endParaRPr>
          </a:p>
        </p:txBody>
      </p:sp>
      <p:sp>
        <p:nvSpPr>
          <p:cNvPr id="3" name="Shape 1"/>
          <p:cNvSpPr/>
          <p:nvPr/>
        </p:nvSpPr>
        <p:spPr>
          <a:xfrm>
            <a:off x="757555" y="1489075"/>
            <a:ext cx="2665730" cy="1881505"/>
          </a:xfrm>
          <a:prstGeom prst="roundRect">
            <a:avLst>
              <a:gd name="adj" fmla="val 15116"/>
            </a:avLst>
          </a:prstGeom>
          <a:solidFill>
            <a:srgbClr val="D4E9F7"/>
          </a:solidFill>
          <a:ln w="7620">
            <a:solidFill>
              <a:srgbClr val="BACFDD"/>
            </a:solidFill>
            <a:prstDash val="solid"/>
          </a:ln>
        </p:spPr>
      </p:sp>
      <p:pic>
        <p:nvPicPr>
          <p:cNvPr id="4" name="Image 0" descr="preencoded.png"/>
          <p:cNvPicPr>
            <a:picLocks noChangeAspect="1"/>
          </p:cNvPicPr>
          <p:nvPr/>
        </p:nvPicPr>
        <p:blipFill>
          <a:blip r:embed="rId1"/>
          <a:stretch>
            <a:fillRect/>
          </a:stretch>
        </p:blipFill>
        <p:spPr>
          <a:xfrm>
            <a:off x="955040" y="1686560"/>
            <a:ext cx="746125" cy="568960"/>
          </a:xfrm>
          <a:prstGeom prst="rect">
            <a:avLst/>
          </a:prstGeom>
        </p:spPr>
      </p:pic>
      <p:pic>
        <p:nvPicPr>
          <p:cNvPr id="5" name="Image 1" descr="preencoded.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1250" y="1842770"/>
            <a:ext cx="335280" cy="255905"/>
          </a:xfrm>
          <a:prstGeom prst="rect">
            <a:avLst/>
          </a:prstGeom>
        </p:spPr>
      </p:pic>
      <p:sp>
        <p:nvSpPr>
          <p:cNvPr id="6" name="Text 2"/>
          <p:cNvSpPr/>
          <p:nvPr/>
        </p:nvSpPr>
        <p:spPr>
          <a:xfrm>
            <a:off x="954842" y="2444472"/>
            <a:ext cx="2494359" cy="311706"/>
          </a:xfrm>
          <a:prstGeom prst="rect">
            <a:avLst/>
          </a:prstGeom>
          <a:noFill/>
        </p:spPr>
        <p:txBody>
          <a:bodyPr wrap="none" lIns="0" tIns="0" rIns="0" bIns="0" rtlCol="0" anchor="t"/>
          <a:lstStyle/>
          <a:p>
            <a:pPr marL="0" indent="0" algn="l">
              <a:lnSpc>
                <a:spcPts val="2450"/>
              </a:lnSpc>
              <a:buNone/>
            </a:pPr>
            <a:r>
              <a:rPr lang="en-US" sz="1950" b="1" dirty="0">
                <a:solidFill>
                  <a:srgbClr val="384653"/>
                </a:solidFill>
                <a:latin typeface="微软雅黑" panose="020B0503020204020204" charset="-122"/>
                <a:ea typeface="微软雅黑" panose="020B0503020204020204" charset="-122"/>
                <a:cs typeface="Barlow Bold" pitchFamily="34" charset="-120"/>
              </a:rPr>
              <a:t>选择器</a:t>
            </a:r>
            <a:endParaRPr lang="en-US" sz="1950" b="1" dirty="0">
              <a:solidFill>
                <a:srgbClr val="384653"/>
              </a:solidFill>
              <a:latin typeface="微软雅黑" panose="020B0503020204020204" charset="-122"/>
              <a:ea typeface="微软雅黑" panose="020B0503020204020204" charset="-122"/>
              <a:cs typeface="Barlow Bold" pitchFamily="34" charset="-120"/>
            </a:endParaRPr>
          </a:p>
        </p:txBody>
      </p:sp>
      <p:sp>
        <p:nvSpPr>
          <p:cNvPr id="7" name="Text 3"/>
          <p:cNvSpPr/>
          <p:nvPr/>
        </p:nvSpPr>
        <p:spPr>
          <a:xfrm>
            <a:off x="955040" y="2870200"/>
            <a:ext cx="2395220" cy="303530"/>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微软雅黑" panose="020B0503020204020204" charset="-122"/>
              </a:rPr>
              <a:t>SelectKBest算法</a:t>
            </a:r>
            <a:endParaRPr lang="en-US" sz="145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8" name="Shape 4"/>
          <p:cNvSpPr/>
          <p:nvPr/>
        </p:nvSpPr>
        <p:spPr>
          <a:xfrm>
            <a:off x="758190" y="3534410"/>
            <a:ext cx="2685415" cy="1881505"/>
          </a:xfrm>
          <a:prstGeom prst="roundRect">
            <a:avLst>
              <a:gd name="adj" fmla="val 15116"/>
            </a:avLst>
          </a:prstGeom>
          <a:solidFill>
            <a:srgbClr val="D4E9F7"/>
          </a:solidFill>
          <a:ln w="7620">
            <a:solidFill>
              <a:srgbClr val="BACFDD"/>
            </a:solidFill>
            <a:prstDash val="solid"/>
          </a:ln>
        </p:spPr>
        <p:txBody>
          <a:bodyPr/>
          <a:p>
            <a:endParaRPr lang="zh-CN" altLang="en-US"/>
          </a:p>
        </p:txBody>
      </p:sp>
      <p:pic>
        <p:nvPicPr>
          <p:cNvPr id="9" name="Image 2" descr="preencoded.png"/>
          <p:cNvPicPr>
            <a:picLocks noChangeAspect="1"/>
          </p:cNvPicPr>
          <p:nvPr/>
        </p:nvPicPr>
        <p:blipFill>
          <a:blip r:embed="rId4"/>
          <a:stretch>
            <a:fillRect/>
          </a:stretch>
        </p:blipFill>
        <p:spPr>
          <a:xfrm>
            <a:off x="955635" y="3731617"/>
            <a:ext cx="568643" cy="568643"/>
          </a:xfrm>
          <a:prstGeom prst="rect">
            <a:avLst/>
          </a:prstGeom>
        </p:spPr>
      </p:pic>
      <p:pic>
        <p:nvPicPr>
          <p:cNvPr id="10" name="Image 3" descr="preencoded.png"/>
          <p:cNvPicPr>
            <a:picLocks noChangeAspect="1"/>
          </p:cNvPicPr>
          <p:nvPr/>
        </p:nvPicPr>
        <p:blipFill>
          <a:blip r:embed="rId2">
            <a:extLst>
              <a:ext uri="{96DAC541-7B7A-43D3-8B79-37D633B846F1}">
                <asvg:svgBlip xmlns:asvg="http://schemas.microsoft.com/office/drawing/2016/SVG/main" r:embed="rId5"/>
              </a:ext>
            </a:extLst>
          </a:blip>
          <a:stretch>
            <a:fillRect/>
          </a:stretch>
        </p:blipFill>
        <p:spPr>
          <a:xfrm>
            <a:off x="1111964" y="3887946"/>
            <a:ext cx="255865" cy="255865"/>
          </a:xfrm>
          <a:prstGeom prst="rect">
            <a:avLst/>
          </a:prstGeom>
        </p:spPr>
      </p:pic>
      <p:sp>
        <p:nvSpPr>
          <p:cNvPr id="11" name="Text 5"/>
          <p:cNvSpPr/>
          <p:nvPr/>
        </p:nvSpPr>
        <p:spPr>
          <a:xfrm>
            <a:off x="955635" y="4489807"/>
            <a:ext cx="2494359" cy="311706"/>
          </a:xfrm>
          <a:prstGeom prst="rect">
            <a:avLst/>
          </a:prstGeom>
          <a:noFill/>
        </p:spPr>
        <p:txBody>
          <a:bodyPr wrap="none" lIns="0" tIns="0" rIns="0" bIns="0" rtlCol="0" anchor="t"/>
          <a:lstStyle/>
          <a:p>
            <a:pPr marL="0" indent="0" algn="l">
              <a:lnSpc>
                <a:spcPts val="2450"/>
              </a:lnSpc>
              <a:buNone/>
            </a:pPr>
            <a:r>
              <a:rPr lang="en-US" sz="1950" b="1" dirty="0">
                <a:solidFill>
                  <a:srgbClr val="384653"/>
                </a:solidFill>
                <a:latin typeface="微软雅黑" panose="020B0503020204020204" charset="-122"/>
                <a:ea typeface="微软雅黑" panose="020B0503020204020204" charset="-122"/>
                <a:cs typeface="Barlow Bold" pitchFamily="34" charset="-120"/>
              </a:rPr>
              <a:t>评分函数</a:t>
            </a:r>
            <a:endParaRPr lang="en-US" sz="1950" b="1" dirty="0">
              <a:solidFill>
                <a:srgbClr val="384653"/>
              </a:solidFill>
              <a:latin typeface="微软雅黑" panose="020B0503020204020204" charset="-122"/>
              <a:ea typeface="微软雅黑" panose="020B0503020204020204" charset="-122"/>
              <a:cs typeface="Barlow Bold" pitchFamily="34" charset="-120"/>
            </a:endParaRPr>
          </a:p>
        </p:txBody>
      </p:sp>
      <p:sp>
        <p:nvSpPr>
          <p:cNvPr id="12" name="Text 6"/>
          <p:cNvSpPr/>
          <p:nvPr/>
        </p:nvSpPr>
        <p:spPr>
          <a:xfrm>
            <a:off x="955635" y="4915218"/>
            <a:ext cx="3850600"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微软雅黑" panose="020B0503020204020204" charset="-122"/>
              </a:rPr>
              <a:t>ANOVA F-value方差分析</a:t>
            </a:r>
            <a:endParaRPr lang="en-US" sz="145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13" name="Shape 7"/>
          <p:cNvSpPr/>
          <p:nvPr/>
        </p:nvSpPr>
        <p:spPr>
          <a:xfrm>
            <a:off x="3594735" y="2608580"/>
            <a:ext cx="2476500" cy="1881505"/>
          </a:xfrm>
          <a:prstGeom prst="roundRect">
            <a:avLst>
              <a:gd name="adj" fmla="val 15116"/>
            </a:avLst>
          </a:prstGeom>
          <a:solidFill>
            <a:srgbClr val="D4E9F7"/>
          </a:solidFill>
          <a:ln w="7620">
            <a:solidFill>
              <a:srgbClr val="BACFDD"/>
            </a:solidFill>
            <a:prstDash val="solid"/>
          </a:ln>
        </p:spPr>
      </p:sp>
      <p:pic>
        <p:nvPicPr>
          <p:cNvPr id="14" name="Image 4" descr="preencoded.png"/>
          <p:cNvPicPr>
            <a:picLocks noChangeAspect="1"/>
          </p:cNvPicPr>
          <p:nvPr/>
        </p:nvPicPr>
        <p:blipFill>
          <a:blip r:embed="rId6"/>
          <a:stretch>
            <a:fillRect/>
          </a:stretch>
        </p:blipFill>
        <p:spPr>
          <a:xfrm>
            <a:off x="3791823" y="2805787"/>
            <a:ext cx="568643" cy="568643"/>
          </a:xfrm>
          <a:prstGeom prst="rect">
            <a:avLst/>
          </a:prstGeom>
        </p:spPr>
      </p:pic>
      <p:pic>
        <p:nvPicPr>
          <p:cNvPr id="15" name="Image 5" descr="preencoded.png"/>
          <p:cNvPicPr>
            <a:picLocks noChangeAspect="1"/>
          </p:cNvPicPr>
          <p:nvPr/>
        </p:nvPicPr>
        <p:blipFill>
          <a:blip r:embed="rId2">
            <a:extLst>
              <a:ext uri="{96DAC541-7B7A-43D3-8B79-37D633B846F1}">
                <asvg:svgBlip xmlns:asvg="http://schemas.microsoft.com/office/drawing/2016/SVG/main" r:embed="rId7"/>
              </a:ext>
            </a:extLst>
          </a:blip>
          <a:stretch>
            <a:fillRect/>
          </a:stretch>
        </p:blipFill>
        <p:spPr>
          <a:xfrm>
            <a:off x="3948152" y="2962116"/>
            <a:ext cx="255865" cy="255865"/>
          </a:xfrm>
          <a:prstGeom prst="rect">
            <a:avLst/>
          </a:prstGeom>
        </p:spPr>
      </p:pic>
      <p:sp>
        <p:nvSpPr>
          <p:cNvPr id="16" name="Text 8"/>
          <p:cNvSpPr/>
          <p:nvPr/>
        </p:nvSpPr>
        <p:spPr>
          <a:xfrm>
            <a:off x="3791823" y="3563977"/>
            <a:ext cx="2494359" cy="311706"/>
          </a:xfrm>
          <a:prstGeom prst="rect">
            <a:avLst/>
          </a:prstGeom>
          <a:noFill/>
        </p:spPr>
        <p:txBody>
          <a:bodyPr wrap="none" lIns="0" tIns="0" rIns="0" bIns="0" rtlCol="0" anchor="t"/>
          <a:lstStyle/>
          <a:p>
            <a:pPr marL="0" indent="0" algn="l">
              <a:lnSpc>
                <a:spcPts val="2450"/>
              </a:lnSpc>
              <a:buNone/>
            </a:pPr>
            <a:r>
              <a:rPr lang="en-US" sz="1950" b="1" dirty="0">
                <a:solidFill>
                  <a:srgbClr val="384653"/>
                </a:solidFill>
                <a:latin typeface="微软雅黑" panose="020B0503020204020204" charset="-122"/>
                <a:ea typeface="微软雅黑" panose="020B0503020204020204" charset="-122"/>
                <a:cs typeface="Barlow Bold" pitchFamily="34" charset="-120"/>
              </a:rPr>
              <a:t>筛选策略</a:t>
            </a:r>
            <a:endParaRPr lang="en-US" sz="1950" b="1" dirty="0">
              <a:solidFill>
                <a:srgbClr val="384653"/>
              </a:solidFill>
              <a:latin typeface="微软雅黑" panose="020B0503020204020204" charset="-122"/>
              <a:ea typeface="微软雅黑" panose="020B0503020204020204" charset="-122"/>
              <a:cs typeface="Barlow Bold" pitchFamily="34" charset="-120"/>
            </a:endParaRPr>
          </a:p>
        </p:txBody>
      </p:sp>
      <p:sp>
        <p:nvSpPr>
          <p:cNvPr id="17" name="Text 9"/>
          <p:cNvSpPr/>
          <p:nvPr/>
        </p:nvSpPr>
        <p:spPr>
          <a:xfrm>
            <a:off x="3748405" y="3996690"/>
            <a:ext cx="2126615" cy="303530"/>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微软雅黑" panose="020B0503020204020204" charset="-122"/>
              </a:rPr>
              <a:t>保留得分最高的10个特征</a:t>
            </a:r>
            <a:endParaRPr lang="en-US" sz="145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18" name="Text 10"/>
          <p:cNvSpPr/>
          <p:nvPr/>
        </p:nvSpPr>
        <p:spPr>
          <a:xfrm>
            <a:off x="758309" y="6351826"/>
            <a:ext cx="2494359" cy="311706"/>
          </a:xfrm>
          <a:prstGeom prst="rect">
            <a:avLst/>
          </a:prstGeom>
          <a:noFill/>
        </p:spPr>
        <p:txBody>
          <a:bodyPr wrap="none" lIns="0" tIns="0" rIns="0" bIns="0" rtlCol="0" anchor="t"/>
          <a:lstStyle/>
          <a:p>
            <a:pPr marL="0" indent="0" algn="l">
              <a:lnSpc>
                <a:spcPts val="2450"/>
              </a:lnSpc>
              <a:buNone/>
            </a:pPr>
            <a:r>
              <a:rPr lang="en-US" sz="1950" b="1" dirty="0">
                <a:solidFill>
                  <a:srgbClr val="2E3C4E"/>
                </a:solidFill>
                <a:latin typeface="微软雅黑" panose="020B0503020204020204" charset="-122"/>
                <a:ea typeface="微软雅黑" panose="020B0503020204020204" charset="-122"/>
                <a:cs typeface="微软雅黑" panose="020B0503020204020204" charset="-122"/>
              </a:rPr>
              <a:t>F值的含义</a:t>
            </a:r>
            <a:endParaRPr lang="en-US" sz="1950" b="1" dirty="0">
              <a:solidFill>
                <a:srgbClr val="2E3C4E"/>
              </a:solidFill>
              <a:latin typeface="微软雅黑" panose="020B0503020204020204" charset="-122"/>
              <a:ea typeface="微软雅黑" panose="020B0503020204020204" charset="-122"/>
              <a:cs typeface="微软雅黑" panose="020B0503020204020204" charset="-122"/>
            </a:endParaRPr>
          </a:p>
        </p:txBody>
      </p:sp>
      <p:sp>
        <p:nvSpPr>
          <p:cNvPr id="19" name="Text 11"/>
          <p:cNvSpPr/>
          <p:nvPr/>
        </p:nvSpPr>
        <p:spPr>
          <a:xfrm>
            <a:off x="758309" y="6853079"/>
            <a:ext cx="6325672" cy="606504"/>
          </a:xfrm>
          <a:prstGeom prst="rect">
            <a:avLst/>
          </a:prstGeom>
          <a:noFill/>
        </p:spPr>
        <p:txBody>
          <a:bodyPr wrap="squar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微软雅黑" panose="020B0503020204020204" charset="-122"/>
              </a:rPr>
              <a:t>F值衡量了</a:t>
            </a:r>
            <a:r>
              <a:rPr lang="en-US" sz="1450" b="1" dirty="0">
                <a:solidFill>
                  <a:srgbClr val="384653"/>
                </a:solidFill>
                <a:latin typeface="微软雅黑" panose="020B0503020204020204" charset="-122"/>
                <a:ea typeface="微软雅黑" panose="020B0503020204020204" charset="-122"/>
                <a:cs typeface="微软雅黑" panose="020B0503020204020204" charset="-122"/>
              </a:rPr>
              <a:t>组间方差</a:t>
            </a:r>
            <a:r>
              <a:rPr lang="en-US" sz="1450" dirty="0">
                <a:solidFill>
                  <a:srgbClr val="384653"/>
                </a:solidFill>
                <a:latin typeface="微软雅黑" panose="020B0503020204020204" charset="-122"/>
                <a:ea typeface="微软雅黑" panose="020B0503020204020204" charset="-122"/>
                <a:cs typeface="微软雅黑" panose="020B0503020204020204" charset="-122"/>
              </a:rPr>
              <a:t>与</a:t>
            </a:r>
            <a:r>
              <a:rPr lang="en-US" sz="1450" b="1" dirty="0">
                <a:solidFill>
                  <a:srgbClr val="384653"/>
                </a:solidFill>
                <a:latin typeface="微软雅黑" panose="020B0503020204020204" charset="-122"/>
                <a:ea typeface="微软雅黑" panose="020B0503020204020204" charset="-122"/>
                <a:cs typeface="微软雅黑" panose="020B0503020204020204" charset="-122"/>
              </a:rPr>
              <a:t>组内方差</a:t>
            </a:r>
            <a:r>
              <a:rPr lang="en-US" sz="1450" dirty="0">
                <a:solidFill>
                  <a:srgbClr val="384653"/>
                </a:solidFill>
                <a:latin typeface="微软雅黑" panose="020B0503020204020204" charset="-122"/>
                <a:ea typeface="微软雅黑" panose="020B0503020204020204" charset="-122"/>
                <a:cs typeface="微软雅黑" panose="020B0503020204020204" charset="-122"/>
              </a:rPr>
              <a:t>的比率。F值越大,说明该特征在不同价格等级上的均值差异越显著,即区分度越高。</a:t>
            </a:r>
            <a:endParaRPr lang="en-US" sz="1450" dirty="0">
              <a:latin typeface="微软雅黑" panose="020B0503020204020204" charset="-122"/>
              <a:ea typeface="微软雅黑" panose="020B0503020204020204" charset="-122"/>
              <a:cs typeface="微软雅黑" panose="020B0503020204020204" charset="-122"/>
            </a:endParaRPr>
          </a:p>
        </p:txBody>
      </p:sp>
      <p:sp>
        <p:nvSpPr>
          <p:cNvPr id="20" name="Text 12"/>
          <p:cNvSpPr/>
          <p:nvPr/>
        </p:nvSpPr>
        <p:spPr>
          <a:xfrm>
            <a:off x="7554039" y="6351826"/>
            <a:ext cx="2494359" cy="311706"/>
          </a:xfrm>
          <a:prstGeom prst="rect">
            <a:avLst/>
          </a:prstGeom>
          <a:noFill/>
        </p:spPr>
        <p:txBody>
          <a:bodyPr wrap="none" lIns="0" tIns="0" rIns="0" bIns="0" rtlCol="0" anchor="t"/>
          <a:lstStyle/>
          <a:p>
            <a:pPr marL="0" indent="0" algn="l">
              <a:lnSpc>
                <a:spcPts val="2450"/>
              </a:lnSpc>
              <a:buNone/>
            </a:pPr>
            <a:r>
              <a:rPr lang="en-US" sz="1950" b="1" dirty="0">
                <a:solidFill>
                  <a:srgbClr val="2E3C4E"/>
                </a:solidFill>
                <a:latin typeface="微软雅黑" panose="020B0503020204020204" charset="-122"/>
                <a:ea typeface="微软雅黑" panose="020B0503020204020204" charset="-122"/>
                <a:cs typeface="Barlow Bold" pitchFamily="34" charset="-120"/>
              </a:rPr>
              <a:t>实验效果</a:t>
            </a:r>
            <a:endParaRPr lang="en-US" sz="1950" b="1" dirty="0">
              <a:solidFill>
                <a:srgbClr val="2E3C4E"/>
              </a:solidFill>
              <a:latin typeface="微软雅黑" panose="020B0503020204020204" charset="-122"/>
              <a:ea typeface="微软雅黑" panose="020B0503020204020204" charset="-122"/>
              <a:cs typeface="Barlow Bold" pitchFamily="34" charset="-120"/>
            </a:endParaRPr>
          </a:p>
        </p:txBody>
      </p:sp>
      <p:sp>
        <p:nvSpPr>
          <p:cNvPr id="21" name="Text 13"/>
          <p:cNvSpPr/>
          <p:nvPr/>
        </p:nvSpPr>
        <p:spPr>
          <a:xfrm>
            <a:off x="7554039" y="6853079"/>
            <a:ext cx="6325672" cy="606504"/>
          </a:xfrm>
          <a:prstGeom prst="rect">
            <a:avLst/>
          </a:prstGeom>
          <a:noFill/>
        </p:spPr>
        <p:txBody>
          <a:bodyPr wrap="squar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微软雅黑" panose="020B0503020204020204" charset="-122"/>
              </a:rPr>
              <a:t>经过特征筛选,随机森林和KNN的准确率均</a:t>
            </a:r>
            <a:r>
              <a:rPr lang="en-US" sz="1450" dirty="0">
                <a:solidFill>
                  <a:srgbClr val="2589C9"/>
                </a:solidFill>
                <a:latin typeface="微软雅黑" panose="020B0503020204020204" charset="-122"/>
                <a:ea typeface="微软雅黑" panose="020B0503020204020204" charset="-122"/>
                <a:cs typeface="微软雅黑" panose="020B0503020204020204" charset="-122"/>
              </a:rPr>
              <a:t>提升了6%以上</a:t>
            </a:r>
            <a:r>
              <a:rPr lang="en-US" sz="1450" dirty="0">
                <a:solidFill>
                  <a:srgbClr val="384653"/>
                </a:solidFill>
                <a:latin typeface="微软雅黑" panose="020B0503020204020204" charset="-122"/>
                <a:ea typeface="微软雅黑" panose="020B0503020204020204" charset="-122"/>
                <a:cs typeface="微软雅黑" panose="020B0503020204020204" charset="-122"/>
              </a:rPr>
              <a:t>。这充分证明了在机器学习中,"做减法"往往比"做加法"更有效。</a:t>
            </a:r>
            <a:endParaRPr lang="en-US" sz="1450" dirty="0">
              <a:latin typeface="微软雅黑" panose="020B0503020204020204" charset="-122"/>
              <a:ea typeface="微软雅黑" panose="020B0503020204020204" charset="-122"/>
              <a:cs typeface="微软雅黑" panose="020B0503020204020204" charset="-122"/>
            </a:endParaRPr>
          </a:p>
        </p:txBody>
      </p:sp>
      <p:pic>
        <p:nvPicPr>
          <p:cNvPr id="24" name="图片 23"/>
          <p:cNvPicPr>
            <a:picLocks noChangeAspect="1"/>
          </p:cNvPicPr>
          <p:nvPr/>
        </p:nvPicPr>
        <p:blipFill>
          <a:blip r:embed="rId8"/>
          <a:stretch>
            <a:fillRect/>
          </a:stretch>
        </p:blipFill>
        <p:spPr>
          <a:xfrm>
            <a:off x="6860540" y="1260475"/>
            <a:ext cx="6632575" cy="47815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04969" y="817285"/>
            <a:ext cx="4988838" cy="623530"/>
          </a:xfrm>
          <a:prstGeom prst="rect">
            <a:avLst/>
          </a:prstGeom>
          <a:noFill/>
        </p:spPr>
        <p:txBody>
          <a:bodyPr wrap="none" lIns="0" tIns="0" rIns="0" bIns="0" rtlCol="0" anchor="t"/>
          <a:lstStyle/>
          <a:p>
            <a:pPr marL="0" indent="0" algn="l">
              <a:lnSpc>
                <a:spcPts val="4900"/>
              </a:lnSpc>
              <a:buNone/>
            </a:pPr>
            <a:r>
              <a:rPr lang="en-US" sz="3900" b="1" dirty="0">
                <a:solidFill>
                  <a:srgbClr val="2E3C4E"/>
                </a:solidFill>
                <a:latin typeface="微软雅黑" panose="020B0503020204020204" charset="-122"/>
                <a:ea typeface="微软雅黑" panose="020B0503020204020204" charset="-122"/>
                <a:cs typeface="Barlow Bold" pitchFamily="34" charset="-120"/>
              </a:rPr>
              <a:t>模型概览与选择理由</a:t>
            </a:r>
            <a:endParaRPr lang="en-US" sz="3900" b="1" dirty="0">
              <a:solidFill>
                <a:srgbClr val="2E3C4E"/>
              </a:solidFill>
              <a:latin typeface="微软雅黑" panose="020B0503020204020204" charset="-122"/>
              <a:ea typeface="微软雅黑" panose="020B0503020204020204" charset="-122"/>
              <a:cs typeface="Barlow Bold" pitchFamily="34" charset="-120"/>
            </a:endParaRPr>
          </a:p>
        </p:txBody>
      </p:sp>
      <p:sp>
        <p:nvSpPr>
          <p:cNvPr id="3" name="Text 1"/>
          <p:cNvSpPr/>
          <p:nvPr>
            <p:custDataLst>
              <p:tags r:id="rId1"/>
            </p:custDataLst>
          </p:nvPr>
        </p:nvSpPr>
        <p:spPr>
          <a:xfrm>
            <a:off x="758309" y="5082223"/>
            <a:ext cx="2494359" cy="311706"/>
          </a:xfrm>
          <a:prstGeom prst="rect">
            <a:avLst/>
          </a:prstGeom>
          <a:noFill/>
        </p:spPr>
        <p:txBody>
          <a:bodyPr wrap="none" lIns="0" tIns="0" rIns="0" bIns="0" rtlCol="0" anchor="t"/>
          <a:lstStyle/>
          <a:p>
            <a:pPr marL="0" indent="0" algn="l">
              <a:lnSpc>
                <a:spcPts val="2450"/>
              </a:lnSpc>
              <a:buNone/>
            </a:pPr>
            <a:r>
              <a:rPr lang="en-US" sz="1950" b="1" dirty="0">
                <a:solidFill>
                  <a:srgbClr val="384653"/>
                </a:solidFill>
                <a:latin typeface="微软雅黑" panose="020B0503020204020204" charset="-122"/>
                <a:ea typeface="微软雅黑" panose="020B0503020204020204" charset="-122"/>
                <a:cs typeface="微软雅黑" panose="020B0503020204020204" charset="-122"/>
              </a:rPr>
              <a:t>支持向量机 (SVM)</a:t>
            </a:r>
            <a:endParaRPr lang="en-US" sz="1950" b="1"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4" name="Text 2"/>
          <p:cNvSpPr/>
          <p:nvPr>
            <p:custDataLst>
              <p:tags r:id="rId2"/>
            </p:custDataLst>
          </p:nvPr>
        </p:nvSpPr>
        <p:spPr>
          <a:xfrm>
            <a:off x="758309" y="5507633"/>
            <a:ext cx="4213265" cy="606504"/>
          </a:xfrm>
          <a:prstGeom prst="rect">
            <a:avLst/>
          </a:prstGeom>
          <a:noFill/>
        </p:spPr>
        <p:txBody>
          <a:bodyPr wrap="squar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微软雅黑" panose="020B0503020204020204" charset="-122"/>
              </a:rPr>
              <a:t>代表寻找几何间隔的线性/非线性分类器,通过最大化分类边界实现分类</a:t>
            </a:r>
            <a:endParaRPr lang="en-US" sz="145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5" name="Text 3"/>
          <p:cNvSpPr/>
          <p:nvPr>
            <p:custDataLst>
              <p:tags r:id="rId3"/>
            </p:custDataLst>
          </p:nvPr>
        </p:nvSpPr>
        <p:spPr>
          <a:xfrm>
            <a:off x="5208508" y="5082223"/>
            <a:ext cx="2494359" cy="311706"/>
          </a:xfrm>
          <a:prstGeom prst="rect">
            <a:avLst/>
          </a:prstGeom>
          <a:noFill/>
        </p:spPr>
        <p:txBody>
          <a:bodyPr wrap="none" lIns="0" tIns="0" rIns="0" bIns="0" rtlCol="0" anchor="t"/>
          <a:lstStyle/>
          <a:p>
            <a:pPr marL="0" indent="0" algn="l">
              <a:lnSpc>
                <a:spcPts val="2450"/>
              </a:lnSpc>
              <a:buNone/>
            </a:pPr>
            <a:r>
              <a:rPr lang="en-US" sz="1950" b="1" dirty="0">
                <a:solidFill>
                  <a:srgbClr val="384653"/>
                </a:solidFill>
                <a:latin typeface="微软雅黑" panose="020B0503020204020204" charset="-122"/>
                <a:ea typeface="微软雅黑" panose="020B0503020204020204" charset="-122"/>
                <a:cs typeface="微软雅黑" panose="020B0503020204020204" charset="-122"/>
              </a:rPr>
              <a:t>K近邻 (KNN)</a:t>
            </a:r>
            <a:endParaRPr lang="en-US" sz="1950" b="1"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6" name="Text 4"/>
          <p:cNvSpPr/>
          <p:nvPr>
            <p:custDataLst>
              <p:tags r:id="rId4"/>
            </p:custDataLst>
          </p:nvPr>
        </p:nvSpPr>
        <p:spPr>
          <a:xfrm>
            <a:off x="5208508" y="5507633"/>
            <a:ext cx="4213265" cy="606504"/>
          </a:xfrm>
          <a:prstGeom prst="rect">
            <a:avLst/>
          </a:prstGeom>
          <a:noFill/>
        </p:spPr>
        <p:txBody>
          <a:bodyPr wrap="squar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微软雅黑" panose="020B0503020204020204" charset="-122"/>
              </a:rPr>
              <a:t>代表基于实例的非参数学习,通过邻居投票进行分类决策</a:t>
            </a:r>
            <a:endParaRPr lang="en-US" sz="145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7" name="Text 5"/>
          <p:cNvSpPr/>
          <p:nvPr>
            <p:custDataLst>
              <p:tags r:id="rId5"/>
            </p:custDataLst>
          </p:nvPr>
        </p:nvSpPr>
        <p:spPr>
          <a:xfrm>
            <a:off x="9658707" y="5082223"/>
            <a:ext cx="2494359" cy="311706"/>
          </a:xfrm>
          <a:prstGeom prst="rect">
            <a:avLst/>
          </a:prstGeom>
          <a:noFill/>
        </p:spPr>
        <p:txBody>
          <a:bodyPr wrap="none" lIns="0" tIns="0" rIns="0" bIns="0" rtlCol="0" anchor="t"/>
          <a:lstStyle/>
          <a:p>
            <a:pPr marL="0" indent="0" algn="l">
              <a:lnSpc>
                <a:spcPts val="2450"/>
              </a:lnSpc>
              <a:buNone/>
            </a:pPr>
            <a:r>
              <a:rPr lang="en-US" sz="1950" b="1" dirty="0">
                <a:solidFill>
                  <a:srgbClr val="384653"/>
                </a:solidFill>
                <a:latin typeface="微软雅黑" panose="020B0503020204020204" charset="-122"/>
                <a:ea typeface="微软雅黑" panose="020B0503020204020204" charset="-122"/>
                <a:cs typeface="微软雅黑" panose="020B0503020204020204" charset="-122"/>
              </a:rPr>
              <a:t>随机森林 (RF)</a:t>
            </a:r>
            <a:endParaRPr lang="en-US" sz="1950" b="1"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8" name="Text 6"/>
          <p:cNvSpPr/>
          <p:nvPr>
            <p:custDataLst>
              <p:tags r:id="rId6"/>
            </p:custDataLst>
          </p:nvPr>
        </p:nvSpPr>
        <p:spPr>
          <a:xfrm>
            <a:off x="9658707" y="5507633"/>
            <a:ext cx="4213384" cy="606504"/>
          </a:xfrm>
          <a:prstGeom prst="rect">
            <a:avLst/>
          </a:prstGeom>
          <a:noFill/>
        </p:spPr>
        <p:txBody>
          <a:bodyPr wrap="squar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微软雅黑" panose="020B0503020204020204" charset="-122"/>
              </a:rPr>
              <a:t>代表基于规则的集成学习,通过多棵决策树的群体智慧提升性能</a:t>
            </a:r>
            <a:endParaRPr lang="en-US" sz="145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9" name="Text 7"/>
          <p:cNvSpPr/>
          <p:nvPr/>
        </p:nvSpPr>
        <p:spPr>
          <a:xfrm>
            <a:off x="758309" y="6327378"/>
            <a:ext cx="13113782"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微软雅黑" panose="020B0503020204020204" charset="-122"/>
              </a:rPr>
              <a:t>这种组合涵盖了机器学习的</a:t>
            </a:r>
            <a:r>
              <a:rPr lang="en-US" sz="1450" dirty="0">
                <a:solidFill>
                  <a:srgbClr val="384653"/>
                </a:solidFill>
                <a:highlight>
                  <a:srgbClr val="E5F6FF"/>
                </a:highlight>
                <a:latin typeface="微软雅黑" panose="020B0503020204020204" charset="-122"/>
                <a:ea typeface="微软雅黑" panose="020B0503020204020204" charset="-122"/>
                <a:cs typeface="微软雅黑" panose="020B0503020204020204" charset="-122"/>
              </a:rPr>
              <a:t>三大流派</a:t>
            </a:r>
            <a:r>
              <a:rPr lang="en-US" sz="1450" dirty="0">
                <a:solidFill>
                  <a:srgbClr val="384653"/>
                </a:solidFill>
                <a:latin typeface="微软雅黑" panose="020B0503020204020204" charset="-122"/>
                <a:ea typeface="微软雅黑" panose="020B0503020204020204" charset="-122"/>
                <a:cs typeface="微软雅黑" panose="020B0503020204020204" charset="-122"/>
              </a:rPr>
              <a:t>:几何方法、距离方法和规则方法,具有极好的对比价值。</a:t>
            </a:r>
            <a:endParaRPr lang="en-US" sz="1450" dirty="0">
              <a:latin typeface="微软雅黑" panose="020B0503020204020204" charset="-122"/>
              <a:ea typeface="微软雅黑" panose="020B0503020204020204" charset="-122"/>
              <a:cs typeface="微软雅黑" panose="020B0503020204020204" charset="-122"/>
            </a:endParaRPr>
          </a:p>
        </p:txBody>
      </p:sp>
      <p:pic>
        <p:nvPicPr>
          <p:cNvPr id="11" name="图片 10"/>
          <p:cNvPicPr>
            <a:picLocks noChangeAspect="1"/>
          </p:cNvPicPr>
          <p:nvPr/>
        </p:nvPicPr>
        <p:blipFill>
          <a:blip r:embed="rId7"/>
          <a:stretch>
            <a:fillRect/>
          </a:stretch>
        </p:blipFill>
        <p:spPr>
          <a:xfrm>
            <a:off x="704850" y="1917065"/>
            <a:ext cx="3409950" cy="3051810"/>
          </a:xfrm>
          <a:prstGeom prst="rect">
            <a:avLst/>
          </a:prstGeom>
        </p:spPr>
      </p:pic>
      <p:pic>
        <p:nvPicPr>
          <p:cNvPr id="12" name="图片 11"/>
          <p:cNvPicPr>
            <a:picLocks noChangeAspect="1"/>
          </p:cNvPicPr>
          <p:nvPr/>
        </p:nvPicPr>
        <p:blipFill>
          <a:blip r:embed="rId8"/>
          <a:stretch>
            <a:fillRect/>
          </a:stretch>
        </p:blipFill>
        <p:spPr>
          <a:xfrm>
            <a:off x="5083175" y="1917065"/>
            <a:ext cx="3579495" cy="2912110"/>
          </a:xfrm>
          <a:prstGeom prst="rect">
            <a:avLst/>
          </a:prstGeom>
        </p:spPr>
      </p:pic>
      <p:pic>
        <p:nvPicPr>
          <p:cNvPr id="13" name="图片 12"/>
          <p:cNvPicPr>
            <a:picLocks noChangeAspect="1"/>
          </p:cNvPicPr>
          <p:nvPr/>
        </p:nvPicPr>
        <p:blipFill>
          <a:blip r:embed="rId9"/>
          <a:stretch>
            <a:fillRect/>
          </a:stretch>
        </p:blipFill>
        <p:spPr>
          <a:xfrm>
            <a:off x="9631045" y="2312670"/>
            <a:ext cx="4157345" cy="25165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8309" y="465852"/>
            <a:ext cx="6288286" cy="623530"/>
          </a:xfrm>
          <a:prstGeom prst="rect">
            <a:avLst/>
          </a:prstGeom>
          <a:noFill/>
        </p:spPr>
        <p:txBody>
          <a:bodyPr wrap="none" lIns="0" tIns="0" rIns="0" bIns="0" rtlCol="0" anchor="t"/>
          <a:lstStyle/>
          <a:p>
            <a:pPr marL="0" indent="0" algn="l">
              <a:lnSpc>
                <a:spcPts val="4900"/>
              </a:lnSpc>
              <a:buNone/>
            </a:pPr>
            <a:r>
              <a:rPr lang="en-US" sz="3900" b="1" dirty="0">
                <a:solidFill>
                  <a:srgbClr val="2E3C4E"/>
                </a:solidFill>
                <a:latin typeface="微软雅黑" panose="020B0503020204020204" charset="-122"/>
                <a:ea typeface="微软雅黑" panose="020B0503020204020204" charset="-122"/>
                <a:cs typeface="微软雅黑" panose="020B0503020204020204" charset="-122"/>
              </a:rPr>
              <a:t>支持向量机(SVM)</a:t>
            </a:r>
            <a:endParaRPr lang="en-US" sz="3900" b="1" dirty="0">
              <a:solidFill>
                <a:srgbClr val="2E3C4E"/>
              </a:solidFill>
              <a:latin typeface="微软雅黑" panose="020B0503020204020204" charset="-122"/>
              <a:ea typeface="微软雅黑" panose="020B0503020204020204" charset="-122"/>
              <a:cs typeface="微软雅黑" panose="020B0503020204020204" charset="-122"/>
            </a:endParaRPr>
          </a:p>
        </p:txBody>
      </p:sp>
      <p:sp>
        <p:nvSpPr>
          <p:cNvPr id="12" name="Shape 9"/>
          <p:cNvSpPr/>
          <p:nvPr/>
        </p:nvSpPr>
        <p:spPr>
          <a:xfrm>
            <a:off x="8979535" y="4114800"/>
            <a:ext cx="4806315" cy="3515995"/>
          </a:xfrm>
          <a:prstGeom prst="roundRect">
            <a:avLst>
              <a:gd name="adj" fmla="val 25646"/>
            </a:avLst>
          </a:prstGeom>
          <a:solidFill>
            <a:srgbClr val="BEDFF3"/>
          </a:solidFill>
        </p:spPr>
      </p:sp>
      <p:sp>
        <p:nvSpPr>
          <p:cNvPr id="14" name="Text 10"/>
          <p:cNvSpPr/>
          <p:nvPr/>
        </p:nvSpPr>
        <p:spPr>
          <a:xfrm>
            <a:off x="9302115" y="4291330"/>
            <a:ext cx="4281805" cy="606425"/>
          </a:xfrm>
          <a:prstGeom prst="rect">
            <a:avLst/>
          </a:prstGeom>
          <a:noFill/>
        </p:spPr>
        <p:txBody>
          <a:bodyPr wrap="square" lIns="0" tIns="0" rIns="0" bIns="0" rtlCol="0" anchor="t"/>
          <a:lstStyle/>
          <a:p>
            <a:pPr marL="0" indent="0" algn="l">
              <a:lnSpc>
                <a:spcPts val="2350"/>
              </a:lnSpc>
              <a:buNone/>
            </a:pPr>
            <a:r>
              <a:rPr lang="en-US" altLang="zh-CN" sz="1450" dirty="0">
                <a:solidFill>
                  <a:srgbClr val="000000"/>
                </a:solidFill>
                <a:latin typeface="微软雅黑" panose="020B0503020204020204" charset="-122"/>
                <a:ea typeface="微软雅黑" panose="020B0503020204020204" charset="-122"/>
                <a:cs typeface="微软雅黑" panose="020B0503020204020204" charset="-122"/>
              </a:rPr>
              <a:t>       SVM</a:t>
            </a:r>
            <a:r>
              <a:rPr lang="zh-CN" altLang="en-US" sz="1450" dirty="0">
                <a:solidFill>
                  <a:srgbClr val="000000"/>
                </a:solidFill>
                <a:latin typeface="微软雅黑" panose="020B0503020204020204" charset="-122"/>
                <a:ea typeface="微软雅黑" panose="020B0503020204020204" charset="-122"/>
                <a:cs typeface="微软雅黑" panose="020B0503020204020204" charset="-122"/>
              </a:rPr>
              <a:t>在高维空间中表现出色，且模型参数较少，易于训练和收敛。由于关注支持向量，</a:t>
            </a:r>
            <a:r>
              <a:rPr lang="en-US" altLang="zh-CN" sz="1450" dirty="0">
                <a:solidFill>
                  <a:srgbClr val="000000"/>
                </a:solidFill>
                <a:latin typeface="微软雅黑" panose="020B0503020204020204" charset="-122"/>
                <a:ea typeface="微软雅黑" panose="020B0503020204020204" charset="-122"/>
                <a:cs typeface="微软雅黑" panose="020B0503020204020204" charset="-122"/>
              </a:rPr>
              <a:t>SVM</a:t>
            </a:r>
            <a:r>
              <a:rPr lang="zh-CN" altLang="en-US" sz="1450" dirty="0">
                <a:solidFill>
                  <a:srgbClr val="000000"/>
                </a:solidFill>
                <a:latin typeface="微软雅黑" panose="020B0503020204020204" charset="-122"/>
                <a:ea typeface="微软雅黑" panose="020B0503020204020204" charset="-122"/>
                <a:cs typeface="微软雅黑" panose="020B0503020204020204" charset="-122"/>
              </a:rPr>
              <a:t>对异常值和噪声有一定的抵抗能力。且最终计算出的</a:t>
            </a:r>
            <a:r>
              <a:rPr lang="en-US" altLang="zh-CN" sz="1450" dirty="0">
                <a:solidFill>
                  <a:srgbClr val="000000"/>
                </a:solidFill>
                <a:latin typeface="微软雅黑" panose="020B0503020204020204" charset="-122"/>
                <a:ea typeface="微软雅黑" panose="020B0503020204020204" charset="-122"/>
                <a:cs typeface="微软雅黑" panose="020B0503020204020204" charset="-122"/>
              </a:rPr>
              <a:t>“</a:t>
            </a:r>
            <a:r>
              <a:rPr lang="zh-CN" altLang="en-US" sz="1450" dirty="0">
                <a:solidFill>
                  <a:srgbClr val="000000"/>
                </a:solidFill>
                <a:latin typeface="微软雅黑" panose="020B0503020204020204" charset="-122"/>
                <a:ea typeface="微软雅黑" panose="020B0503020204020204" charset="-122"/>
                <a:cs typeface="微软雅黑" panose="020B0503020204020204" charset="-122"/>
              </a:rPr>
              <a:t>超平面</a:t>
            </a:r>
            <a:r>
              <a:rPr lang="en-US" altLang="zh-CN" sz="1450" dirty="0">
                <a:solidFill>
                  <a:srgbClr val="000000"/>
                </a:solidFill>
                <a:latin typeface="微软雅黑" panose="020B0503020204020204" charset="-122"/>
                <a:ea typeface="微软雅黑" panose="020B0503020204020204" charset="-122"/>
                <a:cs typeface="微软雅黑" panose="020B0503020204020204" charset="-122"/>
              </a:rPr>
              <a:t>”</a:t>
            </a:r>
            <a:r>
              <a:rPr lang="zh-CN" altLang="en-US" sz="1450" dirty="0">
                <a:solidFill>
                  <a:srgbClr val="000000"/>
                </a:solidFill>
                <a:latin typeface="微软雅黑" panose="020B0503020204020204" charset="-122"/>
                <a:ea typeface="微软雅黑" panose="020B0503020204020204" charset="-122"/>
                <a:cs typeface="微软雅黑" panose="020B0503020204020204" charset="-122"/>
              </a:rPr>
              <a:t>给出了分类的之间划分依据，清晰易懂，可解释性强。</a:t>
            </a:r>
            <a:r>
              <a:rPr lang="en-US" altLang="zh-CN" sz="1450" dirty="0">
                <a:solidFill>
                  <a:srgbClr val="000000"/>
                </a:solidFill>
                <a:latin typeface="微软雅黑" panose="020B0503020204020204" charset="-122"/>
                <a:ea typeface="微软雅黑" panose="020B0503020204020204" charset="-122"/>
                <a:cs typeface="微软雅黑" panose="020B0503020204020204" charset="-122"/>
              </a:rPr>
              <a:t>   </a:t>
            </a:r>
            <a:endParaRPr lang="en-US" altLang="zh-CN" sz="1450" dirty="0">
              <a:solidFill>
                <a:srgbClr val="000000"/>
              </a:solidFill>
              <a:latin typeface="微软雅黑" panose="020B0503020204020204" charset="-122"/>
              <a:ea typeface="微软雅黑" panose="020B0503020204020204" charset="-122"/>
              <a:cs typeface="微软雅黑" panose="020B0503020204020204" charset="-122"/>
            </a:endParaRPr>
          </a:p>
          <a:p>
            <a:pPr marL="0" indent="0" algn="l">
              <a:lnSpc>
                <a:spcPts val="2350"/>
              </a:lnSpc>
              <a:buNone/>
            </a:pPr>
            <a:r>
              <a:rPr lang="en-US" altLang="zh-CN" sz="1450" dirty="0">
                <a:solidFill>
                  <a:srgbClr val="000000"/>
                </a:solidFill>
                <a:latin typeface="微软雅黑" panose="020B0503020204020204" charset="-122"/>
                <a:ea typeface="微软雅黑" panose="020B0503020204020204" charset="-122"/>
                <a:cs typeface="微软雅黑" panose="020B0503020204020204" charset="-122"/>
              </a:rPr>
              <a:t>       </a:t>
            </a:r>
            <a:endParaRPr lang="en-US" altLang="zh-CN" sz="1450" dirty="0">
              <a:solidFill>
                <a:srgbClr val="000000"/>
              </a:solidFill>
              <a:latin typeface="微软雅黑" panose="020B0503020204020204" charset="-122"/>
              <a:ea typeface="微软雅黑" panose="020B0503020204020204" charset="-122"/>
              <a:cs typeface="微软雅黑" panose="020B0503020204020204" charset="-122"/>
            </a:endParaRPr>
          </a:p>
          <a:p>
            <a:pPr marL="0" indent="0" algn="l">
              <a:lnSpc>
                <a:spcPts val="2350"/>
              </a:lnSpc>
              <a:buNone/>
            </a:pPr>
            <a:r>
              <a:rPr lang="en-US" altLang="zh-CN" sz="1450" dirty="0">
                <a:solidFill>
                  <a:srgbClr val="000000"/>
                </a:solidFill>
                <a:latin typeface="微软雅黑" panose="020B0503020204020204" charset="-122"/>
                <a:ea typeface="微软雅黑" panose="020B0503020204020204" charset="-122"/>
                <a:cs typeface="微软雅黑" panose="020B0503020204020204" charset="-122"/>
              </a:rPr>
              <a:t>       </a:t>
            </a:r>
            <a:r>
              <a:rPr lang="en-US" sz="1450" dirty="0">
                <a:solidFill>
                  <a:srgbClr val="000000"/>
                </a:solidFill>
                <a:latin typeface="微软雅黑" panose="020B0503020204020204" charset="-122"/>
                <a:ea typeface="微软雅黑" panose="020B0503020204020204" charset="-122"/>
                <a:cs typeface="微软雅黑" panose="020B0503020204020204" charset="-122"/>
              </a:rPr>
              <a:t>线性SVM在处理本数据集的"三明治"分布时面临巨大挑战。每个OvR分类器需要将一个类别从其他三个类别中分离出来,但在RAM主导的线性空间中,中间类别被两端类别"夹击",难以找到有效的线性分割超平面。</a:t>
            </a:r>
            <a:endParaRPr lang="en-US" sz="1450" dirty="0">
              <a:latin typeface="微软雅黑" panose="020B0503020204020204" charset="-122"/>
              <a:ea typeface="微软雅黑" panose="020B0503020204020204" charset="-122"/>
              <a:cs typeface="微软雅黑" panose="020B0503020204020204" charset="-122"/>
            </a:endParaRPr>
          </a:p>
        </p:txBody>
      </p:sp>
      <p:pic>
        <p:nvPicPr>
          <p:cNvPr id="16" name="图片 2"/>
          <p:cNvPicPr>
            <a:picLocks noChangeAspect="1"/>
          </p:cNvPicPr>
          <p:nvPr/>
        </p:nvPicPr>
        <p:blipFill>
          <a:blip r:embed="rId1"/>
          <a:stretch>
            <a:fillRect/>
          </a:stretch>
        </p:blipFill>
        <p:spPr>
          <a:xfrm>
            <a:off x="671830" y="3878580"/>
            <a:ext cx="8058150" cy="3752215"/>
          </a:xfrm>
          <a:prstGeom prst="rect">
            <a:avLst/>
          </a:prstGeom>
          <a:noFill/>
          <a:ln>
            <a:noFill/>
          </a:ln>
        </p:spPr>
      </p:pic>
      <p:pic>
        <p:nvPicPr>
          <p:cNvPr id="17" name="图片 16"/>
          <p:cNvPicPr>
            <a:picLocks noChangeAspect="1"/>
          </p:cNvPicPr>
          <p:nvPr/>
        </p:nvPicPr>
        <p:blipFill>
          <a:blip r:embed="rId2"/>
          <a:stretch>
            <a:fillRect/>
          </a:stretch>
        </p:blipFill>
        <p:spPr>
          <a:xfrm>
            <a:off x="815340" y="1197610"/>
            <a:ext cx="12106910" cy="257365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758309" y="664012"/>
            <a:ext cx="5622369" cy="623530"/>
          </a:xfrm>
          <a:prstGeom prst="rect">
            <a:avLst/>
          </a:prstGeom>
          <a:noFill/>
        </p:spPr>
        <p:txBody>
          <a:bodyPr wrap="none" lIns="0" tIns="0" rIns="0" bIns="0" rtlCol="0" anchor="t"/>
          <a:lstStyle/>
          <a:p>
            <a:pPr marL="0" indent="0" algn="l">
              <a:lnSpc>
                <a:spcPts val="4900"/>
              </a:lnSpc>
              <a:buNone/>
            </a:pPr>
            <a:r>
              <a:rPr lang="en-US" sz="3900" b="1" dirty="0">
                <a:solidFill>
                  <a:srgbClr val="2E3C4E"/>
                </a:solidFill>
                <a:latin typeface="微软雅黑" panose="020B0503020204020204" charset="-122"/>
                <a:ea typeface="微软雅黑" panose="020B0503020204020204" charset="-122"/>
                <a:cs typeface="微软雅黑" panose="020B0503020204020204" charset="-122"/>
              </a:rPr>
              <a:t>K近邻(KNN)与两阶段搜索</a:t>
            </a:r>
            <a:endParaRPr lang="en-US" sz="3900" b="1" dirty="0">
              <a:solidFill>
                <a:srgbClr val="2E3C4E"/>
              </a:solidFill>
              <a:latin typeface="微软雅黑" panose="020B0503020204020204" charset="-122"/>
              <a:ea typeface="微软雅黑" panose="020B0503020204020204" charset="-122"/>
              <a:cs typeface="微软雅黑" panose="020B0503020204020204" charset="-122"/>
            </a:endParaRPr>
          </a:p>
        </p:txBody>
      </p:sp>
      <p:sp>
        <p:nvSpPr>
          <p:cNvPr id="4" name="Shape 1"/>
          <p:cNvSpPr/>
          <p:nvPr/>
        </p:nvSpPr>
        <p:spPr>
          <a:xfrm>
            <a:off x="971550" y="1571863"/>
            <a:ext cx="22860" cy="4312444"/>
          </a:xfrm>
          <a:prstGeom prst="roundRect">
            <a:avLst>
              <a:gd name="adj" fmla="val 1243960"/>
            </a:avLst>
          </a:prstGeom>
          <a:solidFill>
            <a:srgbClr val="BACFDD"/>
          </a:solidFill>
        </p:spPr>
      </p:sp>
      <p:sp>
        <p:nvSpPr>
          <p:cNvPr id="5" name="Shape 2"/>
          <p:cNvSpPr/>
          <p:nvPr/>
        </p:nvSpPr>
        <p:spPr>
          <a:xfrm>
            <a:off x="1161931" y="1773674"/>
            <a:ext cx="568643" cy="22860"/>
          </a:xfrm>
          <a:prstGeom prst="roundRect">
            <a:avLst>
              <a:gd name="adj" fmla="val 1243960"/>
            </a:avLst>
          </a:prstGeom>
          <a:solidFill>
            <a:srgbClr val="BACFDD"/>
          </a:solidFill>
        </p:spPr>
      </p:sp>
      <p:sp>
        <p:nvSpPr>
          <p:cNvPr id="6" name="Shape 3"/>
          <p:cNvSpPr/>
          <p:nvPr/>
        </p:nvSpPr>
        <p:spPr>
          <a:xfrm>
            <a:off x="758309" y="1571863"/>
            <a:ext cx="426482" cy="426482"/>
          </a:xfrm>
          <a:prstGeom prst="roundRect">
            <a:avLst>
              <a:gd name="adj" fmla="val 66678"/>
            </a:avLst>
          </a:prstGeom>
          <a:solidFill>
            <a:srgbClr val="D4E9F7"/>
          </a:solidFill>
          <a:ln w="7620">
            <a:solidFill>
              <a:srgbClr val="BACFDD"/>
            </a:solidFill>
            <a:prstDash val="solid"/>
          </a:ln>
        </p:spPr>
      </p:sp>
      <p:sp>
        <p:nvSpPr>
          <p:cNvPr id="7" name="Text 4"/>
          <p:cNvSpPr/>
          <p:nvPr/>
        </p:nvSpPr>
        <p:spPr>
          <a:xfrm>
            <a:off x="821888" y="1598057"/>
            <a:ext cx="299323" cy="374094"/>
          </a:xfrm>
          <a:prstGeom prst="rect">
            <a:avLst/>
          </a:prstGeom>
          <a:noFill/>
        </p:spPr>
        <p:txBody>
          <a:bodyPr wrap="none" lIns="0" tIns="0" rIns="0" bIns="0" rtlCol="0" anchor="t"/>
          <a:lstStyle/>
          <a:p>
            <a:pPr marL="0" indent="0" algn="ctr">
              <a:lnSpc>
                <a:spcPts val="2350"/>
              </a:lnSpc>
              <a:buNone/>
            </a:pPr>
            <a:r>
              <a:rPr lang="en-US" sz="2350" b="1" dirty="0">
                <a:solidFill>
                  <a:srgbClr val="384653"/>
                </a:solidFill>
                <a:latin typeface="微软雅黑" panose="020B0503020204020204" charset="-122"/>
                <a:ea typeface="微软雅黑" panose="020B0503020204020204" charset="-122"/>
                <a:cs typeface="Barlow Bold" pitchFamily="34" charset="-120"/>
              </a:rPr>
              <a:t>1</a:t>
            </a:r>
            <a:endParaRPr lang="en-US" sz="2350" b="1" dirty="0">
              <a:solidFill>
                <a:srgbClr val="384653"/>
              </a:solidFill>
              <a:latin typeface="微软雅黑" panose="020B0503020204020204" charset="-122"/>
              <a:ea typeface="微软雅黑" panose="020B0503020204020204" charset="-122"/>
              <a:cs typeface="Barlow Bold" pitchFamily="34" charset="-120"/>
            </a:endParaRPr>
          </a:p>
        </p:txBody>
      </p:sp>
      <p:sp>
        <p:nvSpPr>
          <p:cNvPr id="8" name="Text 5"/>
          <p:cNvSpPr/>
          <p:nvPr/>
        </p:nvSpPr>
        <p:spPr>
          <a:xfrm>
            <a:off x="1919407" y="1636990"/>
            <a:ext cx="2494359" cy="311706"/>
          </a:xfrm>
          <a:prstGeom prst="rect">
            <a:avLst/>
          </a:prstGeom>
          <a:noFill/>
        </p:spPr>
        <p:txBody>
          <a:bodyPr wrap="none" lIns="0" tIns="0" rIns="0" bIns="0" rtlCol="0" anchor="t"/>
          <a:lstStyle/>
          <a:p>
            <a:pPr marL="0" indent="0" algn="l">
              <a:lnSpc>
                <a:spcPts val="2450"/>
              </a:lnSpc>
              <a:buNone/>
            </a:pPr>
            <a:r>
              <a:rPr lang="en-US" sz="1950" b="1" dirty="0">
                <a:solidFill>
                  <a:srgbClr val="384653"/>
                </a:solidFill>
                <a:latin typeface="微软雅黑" panose="020B0503020204020204" charset="-122"/>
                <a:ea typeface="微软雅黑" panose="020B0503020204020204" charset="-122"/>
                <a:cs typeface="Barlow Bold" pitchFamily="34" charset="-120"/>
              </a:rPr>
              <a:t>距离度量</a:t>
            </a:r>
            <a:endParaRPr lang="en-US" sz="1950" b="1" dirty="0">
              <a:solidFill>
                <a:srgbClr val="384653"/>
              </a:solidFill>
              <a:latin typeface="微软雅黑" panose="020B0503020204020204" charset="-122"/>
              <a:ea typeface="微软雅黑" panose="020B0503020204020204" charset="-122"/>
              <a:cs typeface="Barlow Bold" pitchFamily="34" charset="-120"/>
            </a:endParaRPr>
          </a:p>
        </p:txBody>
      </p:sp>
      <p:sp>
        <p:nvSpPr>
          <p:cNvPr id="9" name="Text 6"/>
          <p:cNvSpPr/>
          <p:nvPr/>
        </p:nvSpPr>
        <p:spPr>
          <a:xfrm>
            <a:off x="1919407" y="2062401"/>
            <a:ext cx="6466284"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Montserrat" pitchFamily="34" charset="-120"/>
              </a:rPr>
              <a:t>采用欧氏距离计算样本间相似度</a:t>
            </a:r>
            <a:endParaRPr lang="en-US" sz="1450" dirty="0">
              <a:solidFill>
                <a:srgbClr val="384653"/>
              </a:solidFill>
              <a:latin typeface="微软雅黑" panose="020B0503020204020204" charset="-122"/>
              <a:ea typeface="微软雅黑" panose="020B0503020204020204" charset="-122"/>
              <a:cs typeface="Montserrat" pitchFamily="34" charset="-120"/>
            </a:endParaRPr>
          </a:p>
        </p:txBody>
      </p:sp>
      <p:sp>
        <p:nvSpPr>
          <p:cNvPr id="10" name="Shape 7"/>
          <p:cNvSpPr/>
          <p:nvPr/>
        </p:nvSpPr>
        <p:spPr>
          <a:xfrm>
            <a:off x="1161931" y="2946559"/>
            <a:ext cx="568643" cy="22860"/>
          </a:xfrm>
          <a:prstGeom prst="roundRect">
            <a:avLst>
              <a:gd name="adj" fmla="val 1243960"/>
            </a:avLst>
          </a:prstGeom>
          <a:solidFill>
            <a:srgbClr val="BACFDD"/>
          </a:solidFill>
        </p:spPr>
      </p:sp>
      <p:sp>
        <p:nvSpPr>
          <p:cNvPr id="11" name="Shape 8"/>
          <p:cNvSpPr/>
          <p:nvPr/>
        </p:nvSpPr>
        <p:spPr>
          <a:xfrm>
            <a:off x="758309" y="2744748"/>
            <a:ext cx="426482" cy="426482"/>
          </a:xfrm>
          <a:prstGeom prst="roundRect">
            <a:avLst>
              <a:gd name="adj" fmla="val 66678"/>
            </a:avLst>
          </a:prstGeom>
          <a:solidFill>
            <a:srgbClr val="D4E9F7"/>
          </a:solidFill>
          <a:ln w="7620">
            <a:solidFill>
              <a:srgbClr val="BACFDD"/>
            </a:solidFill>
            <a:prstDash val="solid"/>
          </a:ln>
        </p:spPr>
      </p:sp>
      <p:sp>
        <p:nvSpPr>
          <p:cNvPr id="12" name="Text 9"/>
          <p:cNvSpPr/>
          <p:nvPr/>
        </p:nvSpPr>
        <p:spPr>
          <a:xfrm>
            <a:off x="821888" y="2770942"/>
            <a:ext cx="299323" cy="374094"/>
          </a:xfrm>
          <a:prstGeom prst="rect">
            <a:avLst/>
          </a:prstGeom>
          <a:noFill/>
        </p:spPr>
        <p:txBody>
          <a:bodyPr wrap="none" lIns="0" tIns="0" rIns="0" bIns="0" rtlCol="0" anchor="t"/>
          <a:lstStyle/>
          <a:p>
            <a:pPr marL="0" indent="0" algn="ctr">
              <a:lnSpc>
                <a:spcPts val="2350"/>
              </a:lnSpc>
              <a:buNone/>
            </a:pPr>
            <a:r>
              <a:rPr lang="en-US" sz="2350" b="1" dirty="0">
                <a:solidFill>
                  <a:srgbClr val="384653"/>
                </a:solidFill>
                <a:latin typeface="微软雅黑" panose="020B0503020204020204" charset="-122"/>
                <a:ea typeface="微软雅黑" panose="020B0503020204020204" charset="-122"/>
                <a:cs typeface="Barlow Bold" pitchFamily="34" charset="-120"/>
              </a:rPr>
              <a:t>2</a:t>
            </a:r>
            <a:endParaRPr lang="en-US" sz="2350" b="1" dirty="0">
              <a:solidFill>
                <a:srgbClr val="384653"/>
              </a:solidFill>
              <a:latin typeface="微软雅黑" panose="020B0503020204020204" charset="-122"/>
              <a:ea typeface="微软雅黑" panose="020B0503020204020204" charset="-122"/>
              <a:cs typeface="Barlow Bold" pitchFamily="34" charset="-120"/>
            </a:endParaRPr>
          </a:p>
        </p:txBody>
      </p:sp>
      <p:sp>
        <p:nvSpPr>
          <p:cNvPr id="13" name="Text 10"/>
          <p:cNvSpPr/>
          <p:nvPr/>
        </p:nvSpPr>
        <p:spPr>
          <a:xfrm>
            <a:off x="1919407" y="2809875"/>
            <a:ext cx="2494359" cy="311706"/>
          </a:xfrm>
          <a:prstGeom prst="rect">
            <a:avLst/>
          </a:prstGeom>
          <a:noFill/>
        </p:spPr>
        <p:txBody>
          <a:bodyPr wrap="none" lIns="0" tIns="0" rIns="0" bIns="0" rtlCol="0" anchor="t"/>
          <a:lstStyle/>
          <a:p>
            <a:pPr marL="0" indent="0" algn="l">
              <a:lnSpc>
                <a:spcPts val="2450"/>
              </a:lnSpc>
              <a:buNone/>
            </a:pPr>
            <a:r>
              <a:rPr lang="en-US" sz="1950" b="1" dirty="0">
                <a:solidFill>
                  <a:srgbClr val="384653"/>
                </a:solidFill>
                <a:latin typeface="微软雅黑" panose="020B0503020204020204" charset="-122"/>
                <a:ea typeface="微软雅黑" panose="020B0503020204020204" charset="-122"/>
                <a:cs typeface="Barlow Bold" pitchFamily="34" charset="-120"/>
              </a:rPr>
              <a:t>粗略搜索</a:t>
            </a:r>
            <a:endParaRPr lang="en-US" sz="1950" b="1" dirty="0">
              <a:solidFill>
                <a:srgbClr val="384653"/>
              </a:solidFill>
              <a:latin typeface="微软雅黑" panose="020B0503020204020204" charset="-122"/>
              <a:ea typeface="微软雅黑" panose="020B0503020204020204" charset="-122"/>
              <a:cs typeface="Barlow Bold" pitchFamily="34" charset="-120"/>
            </a:endParaRPr>
          </a:p>
        </p:txBody>
      </p:sp>
      <p:sp>
        <p:nvSpPr>
          <p:cNvPr id="14" name="Text 11"/>
          <p:cNvSpPr/>
          <p:nvPr/>
        </p:nvSpPr>
        <p:spPr>
          <a:xfrm>
            <a:off x="1919407" y="3235285"/>
            <a:ext cx="6466284"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微软雅黑" panose="020B0503020204020204" charset="-122"/>
              </a:rPr>
              <a:t>在1-200范围内大步长搜索,快速定位最优区间</a:t>
            </a:r>
            <a:endParaRPr lang="en-US" sz="145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15" name="Shape 12"/>
          <p:cNvSpPr/>
          <p:nvPr/>
        </p:nvSpPr>
        <p:spPr>
          <a:xfrm>
            <a:off x="1161931" y="4119443"/>
            <a:ext cx="568643" cy="22860"/>
          </a:xfrm>
          <a:prstGeom prst="roundRect">
            <a:avLst>
              <a:gd name="adj" fmla="val 1243960"/>
            </a:avLst>
          </a:prstGeom>
          <a:solidFill>
            <a:srgbClr val="BACFDD"/>
          </a:solidFill>
        </p:spPr>
      </p:sp>
      <p:sp>
        <p:nvSpPr>
          <p:cNvPr id="16" name="Shape 13"/>
          <p:cNvSpPr/>
          <p:nvPr/>
        </p:nvSpPr>
        <p:spPr>
          <a:xfrm>
            <a:off x="758309" y="3917633"/>
            <a:ext cx="426482" cy="426482"/>
          </a:xfrm>
          <a:prstGeom prst="roundRect">
            <a:avLst>
              <a:gd name="adj" fmla="val 66678"/>
            </a:avLst>
          </a:prstGeom>
          <a:solidFill>
            <a:srgbClr val="D4E9F7"/>
          </a:solidFill>
          <a:ln w="7620">
            <a:solidFill>
              <a:srgbClr val="BACFDD"/>
            </a:solidFill>
            <a:prstDash val="solid"/>
          </a:ln>
        </p:spPr>
      </p:sp>
      <p:sp>
        <p:nvSpPr>
          <p:cNvPr id="17" name="Text 14"/>
          <p:cNvSpPr/>
          <p:nvPr/>
        </p:nvSpPr>
        <p:spPr>
          <a:xfrm>
            <a:off x="821888" y="3943826"/>
            <a:ext cx="299323" cy="374094"/>
          </a:xfrm>
          <a:prstGeom prst="rect">
            <a:avLst/>
          </a:prstGeom>
          <a:noFill/>
        </p:spPr>
        <p:txBody>
          <a:bodyPr wrap="none" lIns="0" tIns="0" rIns="0" bIns="0" rtlCol="0" anchor="t"/>
          <a:lstStyle/>
          <a:p>
            <a:pPr marL="0" indent="0" algn="ctr">
              <a:lnSpc>
                <a:spcPts val="2350"/>
              </a:lnSpc>
              <a:buNone/>
            </a:pPr>
            <a:r>
              <a:rPr lang="en-US" sz="2350" b="1" dirty="0">
                <a:solidFill>
                  <a:srgbClr val="384653"/>
                </a:solidFill>
                <a:latin typeface="微软雅黑" panose="020B0503020204020204" charset="-122"/>
                <a:ea typeface="微软雅黑" panose="020B0503020204020204" charset="-122"/>
                <a:cs typeface="Barlow Bold" pitchFamily="34" charset="-120"/>
              </a:rPr>
              <a:t>3</a:t>
            </a:r>
            <a:endParaRPr lang="en-US" sz="2350" b="1" dirty="0">
              <a:solidFill>
                <a:srgbClr val="384653"/>
              </a:solidFill>
              <a:latin typeface="微软雅黑" panose="020B0503020204020204" charset="-122"/>
              <a:ea typeface="微软雅黑" panose="020B0503020204020204" charset="-122"/>
              <a:cs typeface="Barlow Bold" pitchFamily="34" charset="-120"/>
            </a:endParaRPr>
          </a:p>
        </p:txBody>
      </p:sp>
      <p:sp>
        <p:nvSpPr>
          <p:cNvPr id="18" name="Text 15"/>
          <p:cNvSpPr/>
          <p:nvPr/>
        </p:nvSpPr>
        <p:spPr>
          <a:xfrm>
            <a:off x="1919407" y="3982760"/>
            <a:ext cx="2494359" cy="311706"/>
          </a:xfrm>
          <a:prstGeom prst="rect">
            <a:avLst/>
          </a:prstGeom>
          <a:noFill/>
        </p:spPr>
        <p:txBody>
          <a:bodyPr wrap="none" lIns="0" tIns="0" rIns="0" bIns="0" rtlCol="0" anchor="t"/>
          <a:lstStyle/>
          <a:p>
            <a:pPr marL="0" indent="0" algn="l">
              <a:lnSpc>
                <a:spcPts val="2450"/>
              </a:lnSpc>
              <a:buNone/>
            </a:pPr>
            <a:r>
              <a:rPr lang="en-US" sz="1950" b="1" dirty="0">
                <a:solidFill>
                  <a:srgbClr val="384653"/>
                </a:solidFill>
                <a:latin typeface="微软雅黑" panose="020B0503020204020204" charset="-122"/>
                <a:ea typeface="微软雅黑" panose="020B0503020204020204" charset="-122"/>
                <a:cs typeface="Barlow Bold" pitchFamily="34" charset="-120"/>
              </a:rPr>
              <a:t>精细搜索</a:t>
            </a:r>
            <a:endParaRPr lang="en-US" sz="1950" b="1" dirty="0">
              <a:solidFill>
                <a:srgbClr val="384653"/>
              </a:solidFill>
              <a:latin typeface="微软雅黑" panose="020B0503020204020204" charset="-122"/>
              <a:ea typeface="微软雅黑" panose="020B0503020204020204" charset="-122"/>
              <a:cs typeface="Barlow Bold" pitchFamily="34" charset="-120"/>
            </a:endParaRPr>
          </a:p>
        </p:txBody>
      </p:sp>
      <p:sp>
        <p:nvSpPr>
          <p:cNvPr id="19" name="Text 16"/>
          <p:cNvSpPr/>
          <p:nvPr/>
        </p:nvSpPr>
        <p:spPr>
          <a:xfrm>
            <a:off x="1919407" y="4408170"/>
            <a:ext cx="6466284"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微软雅黑" panose="020B0503020204020204" charset="-122"/>
              </a:rPr>
              <a:t>在最优值周边±15范围内逐一搜索</a:t>
            </a:r>
            <a:endParaRPr lang="en-US" sz="145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20" name="Shape 17"/>
          <p:cNvSpPr/>
          <p:nvPr/>
        </p:nvSpPr>
        <p:spPr>
          <a:xfrm>
            <a:off x="1161931" y="5292328"/>
            <a:ext cx="568643" cy="22860"/>
          </a:xfrm>
          <a:prstGeom prst="roundRect">
            <a:avLst>
              <a:gd name="adj" fmla="val 1243960"/>
            </a:avLst>
          </a:prstGeom>
          <a:solidFill>
            <a:srgbClr val="BACFDD"/>
          </a:solidFill>
        </p:spPr>
      </p:sp>
      <p:sp>
        <p:nvSpPr>
          <p:cNvPr id="21" name="Shape 18"/>
          <p:cNvSpPr/>
          <p:nvPr/>
        </p:nvSpPr>
        <p:spPr>
          <a:xfrm>
            <a:off x="758309" y="5090517"/>
            <a:ext cx="426482" cy="426482"/>
          </a:xfrm>
          <a:prstGeom prst="roundRect">
            <a:avLst>
              <a:gd name="adj" fmla="val 66678"/>
            </a:avLst>
          </a:prstGeom>
          <a:solidFill>
            <a:srgbClr val="D4E9F7"/>
          </a:solidFill>
          <a:ln w="7620">
            <a:solidFill>
              <a:srgbClr val="BACFDD"/>
            </a:solidFill>
            <a:prstDash val="solid"/>
          </a:ln>
        </p:spPr>
      </p:sp>
      <p:sp>
        <p:nvSpPr>
          <p:cNvPr id="22" name="Text 19"/>
          <p:cNvSpPr/>
          <p:nvPr/>
        </p:nvSpPr>
        <p:spPr>
          <a:xfrm>
            <a:off x="821888" y="5116711"/>
            <a:ext cx="299323" cy="374094"/>
          </a:xfrm>
          <a:prstGeom prst="rect">
            <a:avLst/>
          </a:prstGeom>
          <a:noFill/>
        </p:spPr>
        <p:txBody>
          <a:bodyPr wrap="none" lIns="0" tIns="0" rIns="0" bIns="0" rtlCol="0" anchor="t"/>
          <a:lstStyle/>
          <a:p>
            <a:pPr marL="0" indent="0" algn="ctr">
              <a:lnSpc>
                <a:spcPts val="2350"/>
              </a:lnSpc>
              <a:buNone/>
            </a:pPr>
            <a:r>
              <a:rPr lang="en-US" sz="2350" b="1" dirty="0">
                <a:solidFill>
                  <a:srgbClr val="384653"/>
                </a:solidFill>
                <a:latin typeface="微软雅黑" panose="020B0503020204020204" charset="-122"/>
                <a:ea typeface="微软雅黑" panose="020B0503020204020204" charset="-122"/>
                <a:cs typeface="Barlow Bold" pitchFamily="34" charset="-120"/>
              </a:rPr>
              <a:t>4</a:t>
            </a:r>
            <a:endParaRPr lang="en-US" sz="2350" b="1" dirty="0">
              <a:solidFill>
                <a:srgbClr val="384653"/>
              </a:solidFill>
              <a:latin typeface="微软雅黑" panose="020B0503020204020204" charset="-122"/>
              <a:ea typeface="微软雅黑" panose="020B0503020204020204" charset="-122"/>
              <a:cs typeface="Barlow Bold" pitchFamily="34" charset="-120"/>
            </a:endParaRPr>
          </a:p>
        </p:txBody>
      </p:sp>
      <p:sp>
        <p:nvSpPr>
          <p:cNvPr id="23" name="Text 20"/>
          <p:cNvSpPr/>
          <p:nvPr/>
        </p:nvSpPr>
        <p:spPr>
          <a:xfrm>
            <a:off x="1919407" y="5155644"/>
            <a:ext cx="2494359" cy="311706"/>
          </a:xfrm>
          <a:prstGeom prst="rect">
            <a:avLst/>
          </a:prstGeom>
          <a:noFill/>
        </p:spPr>
        <p:txBody>
          <a:bodyPr wrap="none" lIns="0" tIns="0" rIns="0" bIns="0" rtlCol="0" anchor="t"/>
          <a:lstStyle/>
          <a:p>
            <a:pPr marL="0" indent="0" algn="l">
              <a:lnSpc>
                <a:spcPts val="2450"/>
              </a:lnSpc>
              <a:buNone/>
            </a:pPr>
            <a:r>
              <a:rPr lang="en-US" sz="1950" b="1" dirty="0">
                <a:solidFill>
                  <a:srgbClr val="384653"/>
                </a:solidFill>
                <a:latin typeface="微软雅黑" panose="020B0503020204020204" charset="-122"/>
                <a:ea typeface="微软雅黑" panose="020B0503020204020204" charset="-122"/>
                <a:cs typeface="微软雅黑" panose="020B0503020204020204" charset="-122"/>
              </a:rPr>
              <a:t>确定K值</a:t>
            </a:r>
            <a:endParaRPr lang="en-US" sz="1950" b="1"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24" name="Text 21"/>
          <p:cNvSpPr/>
          <p:nvPr/>
        </p:nvSpPr>
        <p:spPr>
          <a:xfrm>
            <a:off x="1919407" y="5581055"/>
            <a:ext cx="6466284" cy="303252"/>
          </a:xfrm>
          <a:prstGeom prst="rect">
            <a:avLst/>
          </a:prstGeom>
          <a:noFill/>
        </p:spPr>
        <p:txBody>
          <a:bodyPr wrap="non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微软雅黑" panose="020B0503020204020204" charset="-122"/>
              </a:rPr>
              <a:t>找到全局最优K_best参数</a:t>
            </a:r>
            <a:endParaRPr lang="en-US" sz="145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25" name="Text 22"/>
          <p:cNvSpPr/>
          <p:nvPr/>
        </p:nvSpPr>
        <p:spPr>
          <a:xfrm>
            <a:off x="758309" y="6287095"/>
            <a:ext cx="2494359" cy="311706"/>
          </a:xfrm>
          <a:prstGeom prst="rect">
            <a:avLst/>
          </a:prstGeom>
          <a:noFill/>
        </p:spPr>
        <p:txBody>
          <a:bodyPr wrap="none" lIns="0" tIns="0" rIns="0" bIns="0" rtlCol="0" anchor="t"/>
          <a:lstStyle/>
          <a:p>
            <a:pPr marL="0" indent="0" algn="l">
              <a:lnSpc>
                <a:spcPts val="2450"/>
              </a:lnSpc>
              <a:buNone/>
            </a:pPr>
            <a:r>
              <a:rPr lang="en-US" sz="1950" b="1" dirty="0">
                <a:solidFill>
                  <a:srgbClr val="2E3C4E"/>
                </a:solidFill>
                <a:latin typeface="微软雅黑" panose="020B0503020204020204" charset="-122"/>
                <a:ea typeface="微软雅黑" panose="020B0503020204020204" charset="-122"/>
                <a:cs typeface="微软雅黑" panose="020B0503020204020204" charset="-122"/>
              </a:rPr>
              <a:t>超参数K的权衡</a:t>
            </a:r>
            <a:endParaRPr lang="en-US" sz="1950" b="1" dirty="0">
              <a:solidFill>
                <a:srgbClr val="2E3C4E"/>
              </a:solidFill>
              <a:latin typeface="微软雅黑" panose="020B0503020204020204" charset="-122"/>
              <a:ea typeface="微软雅黑" panose="020B0503020204020204" charset="-122"/>
              <a:cs typeface="微软雅黑" panose="020B0503020204020204" charset="-122"/>
            </a:endParaRPr>
          </a:p>
        </p:txBody>
      </p:sp>
      <p:sp>
        <p:nvSpPr>
          <p:cNvPr id="26" name="Text 23"/>
          <p:cNvSpPr/>
          <p:nvPr/>
        </p:nvSpPr>
        <p:spPr>
          <a:xfrm>
            <a:off x="758309" y="6788348"/>
            <a:ext cx="3582472" cy="606504"/>
          </a:xfrm>
          <a:prstGeom prst="rect">
            <a:avLst/>
          </a:prstGeom>
          <a:noFill/>
        </p:spPr>
        <p:txBody>
          <a:bodyPr wrap="squar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微软雅黑" panose="020B0503020204020204" charset="-122"/>
              </a:rPr>
              <a:t>K太小会导致</a:t>
            </a:r>
            <a:r>
              <a:rPr lang="en-US" sz="1450" b="1" dirty="0">
                <a:solidFill>
                  <a:srgbClr val="384653"/>
                </a:solidFill>
                <a:latin typeface="微软雅黑" panose="020B0503020204020204" charset="-122"/>
                <a:ea typeface="微软雅黑" panose="020B0503020204020204" charset="-122"/>
                <a:cs typeface="微软雅黑" panose="020B0503020204020204" charset="-122"/>
              </a:rPr>
              <a:t>过拟合</a:t>
            </a:r>
            <a:r>
              <a:rPr lang="en-US" sz="1450" dirty="0">
                <a:solidFill>
                  <a:srgbClr val="384653"/>
                </a:solidFill>
                <a:latin typeface="微软雅黑" panose="020B0503020204020204" charset="-122"/>
                <a:ea typeface="微软雅黑" panose="020B0503020204020204" charset="-122"/>
                <a:cs typeface="微软雅黑" panose="020B0503020204020204" charset="-122"/>
              </a:rPr>
              <a:t>,模型对噪声敏感;K太大会导致</a:t>
            </a:r>
            <a:r>
              <a:rPr lang="en-US" sz="1450" b="1" dirty="0">
                <a:solidFill>
                  <a:srgbClr val="384653"/>
                </a:solidFill>
                <a:latin typeface="微软雅黑" panose="020B0503020204020204" charset="-122"/>
                <a:ea typeface="微软雅黑" panose="020B0503020204020204" charset="-122"/>
                <a:cs typeface="微软雅黑" panose="020B0503020204020204" charset="-122"/>
              </a:rPr>
              <a:t>欠拟合</a:t>
            </a:r>
            <a:r>
              <a:rPr lang="en-US" sz="1450" dirty="0">
                <a:solidFill>
                  <a:srgbClr val="384653"/>
                </a:solidFill>
                <a:latin typeface="微软雅黑" panose="020B0503020204020204" charset="-122"/>
                <a:ea typeface="微软雅黑" panose="020B0503020204020204" charset="-122"/>
                <a:cs typeface="微软雅黑" panose="020B0503020204020204" charset="-122"/>
              </a:rPr>
              <a:t>,决策边界过于平滑。</a:t>
            </a:r>
            <a:endParaRPr lang="en-US" sz="1450" dirty="0">
              <a:latin typeface="微软雅黑" panose="020B0503020204020204" charset="-122"/>
              <a:ea typeface="微软雅黑" panose="020B0503020204020204" charset="-122"/>
              <a:cs typeface="微软雅黑" panose="020B0503020204020204" charset="-122"/>
            </a:endParaRPr>
          </a:p>
        </p:txBody>
      </p:sp>
      <p:sp>
        <p:nvSpPr>
          <p:cNvPr id="27" name="Text 24"/>
          <p:cNvSpPr/>
          <p:nvPr/>
        </p:nvSpPr>
        <p:spPr>
          <a:xfrm>
            <a:off x="4810839" y="6287095"/>
            <a:ext cx="2494359" cy="311706"/>
          </a:xfrm>
          <a:prstGeom prst="rect">
            <a:avLst/>
          </a:prstGeom>
          <a:noFill/>
        </p:spPr>
        <p:txBody>
          <a:bodyPr wrap="none" lIns="0" tIns="0" rIns="0" bIns="0" rtlCol="0" anchor="t"/>
          <a:lstStyle/>
          <a:p>
            <a:pPr marL="0" indent="0" algn="l">
              <a:lnSpc>
                <a:spcPts val="2450"/>
              </a:lnSpc>
              <a:buNone/>
            </a:pPr>
            <a:r>
              <a:rPr lang="en-US" sz="1950" b="1" dirty="0">
                <a:solidFill>
                  <a:srgbClr val="2E3C4E"/>
                </a:solidFill>
                <a:latin typeface="微软雅黑" panose="020B0503020204020204" charset="-122"/>
                <a:ea typeface="微软雅黑" panose="020B0503020204020204" charset="-122"/>
                <a:cs typeface="Barlow Bold" pitchFamily="34" charset="-120"/>
              </a:rPr>
              <a:t>搜索效率提升</a:t>
            </a:r>
            <a:endParaRPr lang="en-US" sz="1950" b="1" dirty="0">
              <a:solidFill>
                <a:srgbClr val="2E3C4E"/>
              </a:solidFill>
              <a:latin typeface="微软雅黑" panose="020B0503020204020204" charset="-122"/>
              <a:ea typeface="微软雅黑" panose="020B0503020204020204" charset="-122"/>
              <a:cs typeface="Barlow Bold" pitchFamily="34" charset="-120"/>
            </a:endParaRPr>
          </a:p>
        </p:txBody>
      </p:sp>
      <p:sp>
        <p:nvSpPr>
          <p:cNvPr id="28" name="Text 25"/>
          <p:cNvSpPr/>
          <p:nvPr/>
        </p:nvSpPr>
        <p:spPr>
          <a:xfrm>
            <a:off x="4810839" y="6788348"/>
            <a:ext cx="3582472" cy="606504"/>
          </a:xfrm>
          <a:prstGeom prst="rect">
            <a:avLst/>
          </a:prstGeom>
          <a:noFill/>
        </p:spPr>
        <p:txBody>
          <a:bodyPr wrap="squar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微软雅黑" panose="020B0503020204020204" charset="-122"/>
              </a:rPr>
              <a:t>两阶段策略在保证搜索精度的同时,将计算效率</a:t>
            </a:r>
            <a:r>
              <a:rPr lang="en-US" sz="1450" dirty="0">
                <a:solidFill>
                  <a:srgbClr val="2589C9"/>
                </a:solidFill>
                <a:latin typeface="微软雅黑" panose="020B0503020204020204" charset="-122"/>
                <a:ea typeface="微软雅黑" panose="020B0503020204020204" charset="-122"/>
                <a:cs typeface="微软雅黑" panose="020B0503020204020204" charset="-122"/>
              </a:rPr>
              <a:t>提升了数倍</a:t>
            </a:r>
            <a:r>
              <a:rPr lang="en-US" sz="1450" dirty="0">
                <a:solidFill>
                  <a:srgbClr val="384653"/>
                </a:solidFill>
                <a:latin typeface="微软雅黑" panose="020B0503020204020204" charset="-122"/>
                <a:ea typeface="微软雅黑" panose="020B0503020204020204" charset="-122"/>
                <a:cs typeface="微软雅黑" panose="020B0503020204020204" charset="-122"/>
              </a:rPr>
              <a:t>,避免了盲目的网格搜索。</a:t>
            </a:r>
            <a:endParaRPr lang="en-US" sz="1450" dirty="0">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1"/>
          <a:stretch>
            <a:fillRect/>
          </a:stretch>
        </p:blipFill>
        <p:spPr>
          <a:xfrm>
            <a:off x="4497070" y="1745615"/>
            <a:ext cx="2637790" cy="869315"/>
          </a:xfrm>
          <a:prstGeom prst="rect">
            <a:avLst/>
          </a:prstGeom>
        </p:spPr>
      </p:pic>
      <p:pic>
        <p:nvPicPr>
          <p:cNvPr id="811665362" name="图片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7218045" y="1972310"/>
            <a:ext cx="7197725" cy="431927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8309" y="908685"/>
            <a:ext cx="5421749" cy="623530"/>
          </a:xfrm>
          <a:prstGeom prst="rect">
            <a:avLst/>
          </a:prstGeom>
          <a:noFill/>
        </p:spPr>
        <p:txBody>
          <a:bodyPr wrap="none" lIns="0" tIns="0" rIns="0" bIns="0" rtlCol="0" anchor="t"/>
          <a:lstStyle/>
          <a:p>
            <a:pPr marL="0" indent="0" algn="l">
              <a:lnSpc>
                <a:spcPts val="4900"/>
              </a:lnSpc>
              <a:buNone/>
            </a:pPr>
            <a:r>
              <a:rPr lang="en-US" sz="3900" b="1" dirty="0">
                <a:solidFill>
                  <a:srgbClr val="2E3C4E"/>
                </a:solidFill>
                <a:latin typeface="微软雅黑" panose="020B0503020204020204" charset="-122"/>
                <a:ea typeface="微软雅黑" panose="020B0503020204020204" charset="-122"/>
                <a:cs typeface="微软雅黑" panose="020B0503020204020204" charset="-122"/>
              </a:rPr>
              <a:t>随机森林(RF)</a:t>
            </a:r>
            <a:endParaRPr lang="en-US" sz="3900" b="1" dirty="0">
              <a:solidFill>
                <a:srgbClr val="2E3C4E"/>
              </a:solidFill>
              <a:latin typeface="微软雅黑" panose="020B0503020204020204" charset="-122"/>
              <a:ea typeface="微软雅黑" panose="020B0503020204020204" charset="-122"/>
              <a:cs typeface="微软雅黑" panose="020B0503020204020204" charset="-122"/>
            </a:endParaRPr>
          </a:p>
        </p:txBody>
      </p:sp>
      <p:sp>
        <p:nvSpPr>
          <p:cNvPr id="3" name="Text 1"/>
          <p:cNvSpPr/>
          <p:nvPr>
            <p:custDataLst>
              <p:tags r:id="rId1"/>
            </p:custDataLst>
          </p:nvPr>
        </p:nvSpPr>
        <p:spPr>
          <a:xfrm>
            <a:off x="551815" y="1921510"/>
            <a:ext cx="1275080" cy="311785"/>
          </a:xfrm>
          <a:prstGeom prst="rect">
            <a:avLst/>
          </a:prstGeom>
          <a:noFill/>
        </p:spPr>
        <p:txBody>
          <a:bodyPr wrap="none" lIns="0" tIns="0" rIns="0" bIns="0" rtlCol="0" anchor="t"/>
          <a:lstStyle/>
          <a:p>
            <a:pPr marL="0" indent="0" algn="r">
              <a:lnSpc>
                <a:spcPts val="2450"/>
              </a:lnSpc>
              <a:buNone/>
            </a:pPr>
            <a:r>
              <a:rPr lang="en-US" sz="1950" b="1" dirty="0">
                <a:solidFill>
                  <a:srgbClr val="384653"/>
                </a:solidFill>
                <a:latin typeface="微软雅黑" panose="020B0503020204020204" charset="-122"/>
                <a:ea typeface="微软雅黑" panose="020B0503020204020204" charset="-122"/>
                <a:cs typeface="Barlow Bold" pitchFamily="34" charset="-120"/>
              </a:rPr>
              <a:t>基学习器</a:t>
            </a:r>
            <a:endParaRPr lang="en-US" sz="1950" b="1" dirty="0">
              <a:solidFill>
                <a:srgbClr val="384653"/>
              </a:solidFill>
              <a:latin typeface="微软雅黑" panose="020B0503020204020204" charset="-122"/>
              <a:ea typeface="微软雅黑" panose="020B0503020204020204" charset="-122"/>
              <a:cs typeface="Barlow Bold" pitchFamily="34" charset="-120"/>
            </a:endParaRPr>
          </a:p>
        </p:txBody>
      </p:sp>
      <p:sp>
        <p:nvSpPr>
          <p:cNvPr id="4" name="Text 2"/>
          <p:cNvSpPr/>
          <p:nvPr>
            <p:custDataLst>
              <p:tags r:id="rId2"/>
            </p:custDataLst>
          </p:nvPr>
        </p:nvSpPr>
        <p:spPr>
          <a:xfrm>
            <a:off x="2050415" y="1921510"/>
            <a:ext cx="2179320" cy="303530"/>
          </a:xfrm>
          <a:prstGeom prst="rect">
            <a:avLst/>
          </a:prstGeom>
          <a:noFill/>
        </p:spPr>
        <p:txBody>
          <a:bodyPr wrap="none" lIns="0" tIns="0" rIns="0" bIns="0" rtlCol="0" anchor="t"/>
          <a:lstStyle/>
          <a:p>
            <a:pPr marL="0" indent="0" algn="r">
              <a:lnSpc>
                <a:spcPts val="2350"/>
              </a:lnSpc>
              <a:buNone/>
            </a:pPr>
            <a:r>
              <a:rPr lang="en-US" sz="1450" dirty="0">
                <a:solidFill>
                  <a:srgbClr val="384653"/>
                </a:solidFill>
                <a:latin typeface="微软雅黑" panose="020B0503020204020204" charset="-122"/>
                <a:ea typeface="微软雅黑" panose="020B0503020204020204" charset="-122"/>
                <a:cs typeface="微软雅黑" panose="020B0503020204020204" charset="-122"/>
              </a:rPr>
              <a:t>CART决策树,使用基尼系数</a:t>
            </a:r>
            <a:endParaRPr lang="en-US" sz="145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19" name="Text 9"/>
          <p:cNvSpPr/>
          <p:nvPr>
            <p:custDataLst>
              <p:tags r:id="rId3"/>
            </p:custDataLst>
          </p:nvPr>
        </p:nvSpPr>
        <p:spPr>
          <a:xfrm>
            <a:off x="723265" y="2704465"/>
            <a:ext cx="1103630" cy="311785"/>
          </a:xfrm>
          <a:prstGeom prst="rect">
            <a:avLst/>
          </a:prstGeom>
          <a:noFill/>
        </p:spPr>
        <p:txBody>
          <a:bodyPr wrap="none" lIns="0" tIns="0" rIns="0" bIns="0" rtlCol="0" anchor="t"/>
          <a:lstStyle/>
          <a:p>
            <a:pPr marL="0" indent="0" algn="r">
              <a:lnSpc>
                <a:spcPts val="2450"/>
              </a:lnSpc>
              <a:buNone/>
            </a:pPr>
            <a:r>
              <a:rPr lang="en-US" sz="1950" b="1" dirty="0">
                <a:solidFill>
                  <a:srgbClr val="384653"/>
                </a:solidFill>
                <a:latin typeface="微软雅黑" panose="020B0503020204020204" charset="-122"/>
                <a:ea typeface="微软雅黑" panose="020B0503020204020204" charset="-122"/>
                <a:cs typeface="Barlow Bold" pitchFamily="34" charset="-120"/>
              </a:rPr>
              <a:t>参数设置</a:t>
            </a:r>
            <a:endParaRPr lang="en-US" sz="1950" b="1" dirty="0">
              <a:solidFill>
                <a:srgbClr val="384653"/>
              </a:solidFill>
              <a:latin typeface="微软雅黑" panose="020B0503020204020204" charset="-122"/>
              <a:ea typeface="微软雅黑" panose="020B0503020204020204" charset="-122"/>
              <a:cs typeface="Barlow Bold" pitchFamily="34" charset="-120"/>
            </a:endParaRPr>
          </a:p>
        </p:txBody>
      </p:sp>
      <p:sp>
        <p:nvSpPr>
          <p:cNvPr id="20" name="Text 10"/>
          <p:cNvSpPr/>
          <p:nvPr>
            <p:custDataLst>
              <p:tags r:id="rId4"/>
            </p:custDataLst>
          </p:nvPr>
        </p:nvSpPr>
        <p:spPr>
          <a:xfrm>
            <a:off x="2050415" y="2712720"/>
            <a:ext cx="2500630" cy="303530"/>
          </a:xfrm>
          <a:prstGeom prst="rect">
            <a:avLst/>
          </a:prstGeom>
          <a:noFill/>
        </p:spPr>
        <p:txBody>
          <a:bodyPr wrap="none" lIns="0" tIns="0" rIns="0" bIns="0" rtlCol="0" anchor="t"/>
          <a:lstStyle/>
          <a:p>
            <a:pPr marL="0" indent="0" algn="r">
              <a:lnSpc>
                <a:spcPts val="2350"/>
              </a:lnSpc>
              <a:buNone/>
            </a:pPr>
            <a:r>
              <a:rPr lang="en-US" sz="1450" dirty="0">
                <a:solidFill>
                  <a:srgbClr val="384653"/>
                </a:solidFill>
                <a:latin typeface="微软雅黑" panose="020B0503020204020204" charset="-122"/>
                <a:ea typeface="微软雅黑" panose="020B0503020204020204" charset="-122"/>
                <a:cs typeface="Montserrat" pitchFamily="34" charset="-120"/>
              </a:rPr>
              <a:t>n_trees=20, max_depth=10</a:t>
            </a:r>
            <a:endParaRPr lang="en-US" sz="1450" dirty="0">
              <a:solidFill>
                <a:srgbClr val="384653"/>
              </a:solidFill>
              <a:latin typeface="微软雅黑" panose="020B0503020204020204" charset="-122"/>
              <a:ea typeface="微软雅黑" panose="020B0503020204020204" charset="-122"/>
              <a:cs typeface="Montserrat" pitchFamily="34" charset="-120"/>
            </a:endParaRPr>
          </a:p>
        </p:txBody>
      </p:sp>
      <p:sp>
        <p:nvSpPr>
          <p:cNvPr id="23" name="Text 11"/>
          <p:cNvSpPr/>
          <p:nvPr/>
        </p:nvSpPr>
        <p:spPr>
          <a:xfrm>
            <a:off x="758309" y="6714292"/>
            <a:ext cx="13113782" cy="606504"/>
          </a:xfrm>
          <a:prstGeom prst="rect">
            <a:avLst/>
          </a:prstGeom>
          <a:noFill/>
        </p:spPr>
        <p:txBody>
          <a:bodyPr wrap="square" lIns="0" tIns="0" rIns="0" bIns="0" rtlCol="0" anchor="t"/>
          <a:lstStyle/>
          <a:p>
            <a:pPr marL="0" indent="0" algn="l">
              <a:lnSpc>
                <a:spcPts val="2350"/>
              </a:lnSpc>
              <a:buNone/>
            </a:pPr>
            <a:r>
              <a:rPr lang="en-US" sz="1450" b="1" dirty="0">
                <a:solidFill>
                  <a:srgbClr val="384653"/>
                </a:solidFill>
                <a:latin typeface="微软雅黑" panose="020B0503020204020204" charset="-122"/>
                <a:ea typeface="微软雅黑" panose="020B0503020204020204" charset="-122"/>
                <a:cs typeface="微软雅黑" panose="020B0503020204020204" charset="-122"/>
              </a:rPr>
              <a:t>随机森林通过</a:t>
            </a:r>
            <a:r>
              <a:rPr lang="en-US" sz="1450" b="1" dirty="0">
                <a:solidFill>
                  <a:srgbClr val="384653"/>
                </a:solidFill>
                <a:highlight>
                  <a:srgbClr val="E5F6FF"/>
                </a:highlight>
                <a:latin typeface="微软雅黑" panose="020B0503020204020204" charset="-122"/>
                <a:ea typeface="微软雅黑" panose="020B0503020204020204" charset="-122"/>
                <a:cs typeface="微软雅黑" panose="020B0503020204020204" charset="-122"/>
              </a:rPr>
              <a:t>"双重随机性"</a:t>
            </a:r>
            <a:r>
              <a:rPr lang="en-US" sz="1450" b="1" dirty="0">
                <a:solidFill>
                  <a:srgbClr val="384653"/>
                </a:solidFill>
                <a:latin typeface="微软雅黑" panose="020B0503020204020204" charset="-122"/>
                <a:ea typeface="微软雅黑" panose="020B0503020204020204" charset="-122"/>
                <a:cs typeface="微软雅黑" panose="020B0503020204020204" charset="-122"/>
              </a:rPr>
              <a:t>构建多棵差异化较大的决策树:每棵树在随机抽样的样本集上训练,且在分裂节点时只能从随机选择的特征子集中挑选最优特征。</a:t>
            </a:r>
            <a:endParaRPr lang="en-US" sz="1450" b="1" dirty="0">
              <a:solidFill>
                <a:srgbClr val="384653"/>
              </a:solidFill>
              <a:latin typeface="微软雅黑" panose="020B0503020204020204" charset="-122"/>
              <a:ea typeface="微软雅黑" panose="020B0503020204020204" charset="-122"/>
              <a:cs typeface="微软雅黑" panose="020B0503020204020204" charset="-122"/>
            </a:endParaRPr>
          </a:p>
          <a:p>
            <a:pPr marL="0" indent="0" algn="l">
              <a:lnSpc>
                <a:spcPts val="2350"/>
              </a:lnSpc>
              <a:buNone/>
            </a:pPr>
            <a:r>
              <a:rPr lang="en-US" sz="1450" b="1" dirty="0">
                <a:solidFill>
                  <a:srgbClr val="384653"/>
                </a:solidFill>
                <a:latin typeface="微软雅黑" panose="020B0503020204020204" charset="-122"/>
                <a:ea typeface="微软雅黑" panose="020B0503020204020204" charset="-122"/>
                <a:cs typeface="微软雅黑" panose="020B0503020204020204" charset="-122"/>
              </a:rPr>
              <a:t>这种机制极大降低了模型之间的相关性,使整体模型具有极强的抗噪能力和鲁棒性。</a:t>
            </a:r>
            <a:endParaRPr lang="en-US" sz="1450" b="1" dirty="0">
              <a:latin typeface="微软雅黑" panose="020B0503020204020204" charset="-122"/>
              <a:ea typeface="微软雅黑" panose="020B0503020204020204" charset="-122"/>
              <a:cs typeface="微软雅黑" panose="020B0503020204020204" charset="-122"/>
            </a:endParaRPr>
          </a:p>
        </p:txBody>
      </p:sp>
      <p:pic>
        <p:nvPicPr>
          <p:cNvPr id="24" name="图片 23"/>
          <p:cNvPicPr>
            <a:picLocks noChangeAspect="1"/>
          </p:cNvPicPr>
          <p:nvPr/>
        </p:nvPicPr>
        <p:blipFill>
          <a:blip r:embed="rId5"/>
          <a:stretch>
            <a:fillRect/>
          </a:stretch>
        </p:blipFill>
        <p:spPr>
          <a:xfrm>
            <a:off x="723265" y="3738245"/>
            <a:ext cx="4869815" cy="1987550"/>
          </a:xfrm>
          <a:prstGeom prst="rect">
            <a:avLst/>
          </a:prstGeom>
        </p:spPr>
      </p:pic>
      <p:pic>
        <p:nvPicPr>
          <p:cNvPr id="25" name="图片 5"/>
          <p:cNvPicPr>
            <a:picLocks noChangeAspect="1"/>
          </p:cNvPicPr>
          <p:nvPr/>
        </p:nvPicPr>
        <p:blipFill>
          <a:blip r:embed="rId6"/>
          <a:stretch>
            <a:fillRect/>
          </a:stretch>
        </p:blipFill>
        <p:spPr>
          <a:xfrm>
            <a:off x="7408545" y="567055"/>
            <a:ext cx="5235575" cy="3480435"/>
          </a:xfrm>
          <a:prstGeom prst="rect">
            <a:avLst/>
          </a:prstGeom>
          <a:noFill/>
          <a:ln>
            <a:noFill/>
          </a:ln>
        </p:spPr>
      </p:pic>
      <p:pic>
        <p:nvPicPr>
          <p:cNvPr id="26" name="图片 11"/>
          <p:cNvPicPr>
            <a:picLocks noChangeAspect="1"/>
          </p:cNvPicPr>
          <p:nvPr/>
        </p:nvPicPr>
        <p:blipFill>
          <a:blip r:embed="rId7"/>
          <a:stretch>
            <a:fillRect/>
          </a:stretch>
        </p:blipFill>
        <p:spPr>
          <a:xfrm>
            <a:off x="7408545" y="4527550"/>
            <a:ext cx="5236210" cy="169037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27340" y="431244"/>
            <a:ext cx="3561874" cy="335399"/>
          </a:xfrm>
          <a:prstGeom prst="rect">
            <a:avLst/>
          </a:prstGeom>
          <a:noFill/>
        </p:spPr>
        <p:txBody>
          <a:bodyPr wrap="none" lIns="0" tIns="0" rIns="0" bIns="0" rtlCol="0" anchor="t"/>
          <a:lstStyle/>
          <a:p>
            <a:pPr marL="0" indent="0" algn="l">
              <a:lnSpc>
                <a:spcPts val="2600"/>
              </a:lnSpc>
              <a:buNone/>
            </a:pPr>
            <a:r>
              <a:rPr lang="en-US" sz="2800" b="1" dirty="0">
                <a:solidFill>
                  <a:srgbClr val="2E3C4E"/>
                </a:solidFill>
                <a:latin typeface="微软雅黑" panose="020B0503020204020204" charset="-122"/>
                <a:ea typeface="微软雅黑" panose="020B0503020204020204" charset="-122"/>
                <a:cs typeface="微软雅黑" panose="020B0503020204020204" charset="-122"/>
              </a:rPr>
              <a:t>模型性能对比:准确率与F1分数</a:t>
            </a:r>
            <a:endParaRPr lang="en-US" sz="2800" b="1" dirty="0">
              <a:solidFill>
                <a:srgbClr val="2E3C4E"/>
              </a:solidFill>
              <a:latin typeface="微软雅黑" panose="020B0503020204020204" charset="-122"/>
              <a:ea typeface="微软雅黑" panose="020B0503020204020204" charset="-122"/>
              <a:cs typeface="微软雅黑" panose="020B0503020204020204" charset="-122"/>
            </a:endParaRPr>
          </a:p>
        </p:txBody>
      </p:sp>
      <p:pic>
        <p:nvPicPr>
          <p:cNvPr id="3" name="Image 0" descr="preencoded.png"/>
          <p:cNvPicPr>
            <a:picLocks noChangeAspect="1"/>
          </p:cNvPicPr>
          <p:nvPr/>
        </p:nvPicPr>
        <p:blipFill>
          <a:blip r:embed="rId1"/>
          <a:stretch>
            <a:fillRect/>
          </a:stretch>
        </p:blipFill>
        <p:spPr>
          <a:xfrm>
            <a:off x="627380" y="1170305"/>
            <a:ext cx="7297420" cy="3829685"/>
          </a:xfrm>
          <a:prstGeom prst="rect">
            <a:avLst/>
          </a:prstGeom>
        </p:spPr>
      </p:pic>
      <p:sp>
        <p:nvSpPr>
          <p:cNvPr id="4" name="Shape 1"/>
          <p:cNvSpPr/>
          <p:nvPr/>
        </p:nvSpPr>
        <p:spPr>
          <a:xfrm>
            <a:off x="3102650" y="5382062"/>
            <a:ext cx="101918" cy="101917"/>
          </a:xfrm>
          <a:prstGeom prst="roundRect">
            <a:avLst>
              <a:gd name="adj" fmla="val 17944"/>
            </a:avLst>
          </a:prstGeom>
          <a:solidFill>
            <a:srgbClr val="0C2C41"/>
          </a:solidFill>
        </p:spPr>
      </p:sp>
      <p:sp>
        <p:nvSpPr>
          <p:cNvPr id="5" name="Text 2"/>
          <p:cNvSpPr/>
          <p:nvPr/>
        </p:nvSpPr>
        <p:spPr>
          <a:xfrm>
            <a:off x="3265527" y="5382062"/>
            <a:ext cx="482084" cy="101917"/>
          </a:xfrm>
          <a:prstGeom prst="rect">
            <a:avLst/>
          </a:prstGeom>
          <a:noFill/>
        </p:spPr>
        <p:txBody>
          <a:bodyPr wrap="none" lIns="0" tIns="0" rIns="0" bIns="0" rtlCol="0" anchor="t"/>
          <a:lstStyle/>
          <a:p>
            <a:pPr marL="0" indent="0" algn="l">
              <a:lnSpc>
                <a:spcPts val="800"/>
              </a:lnSpc>
              <a:buNone/>
            </a:pPr>
            <a:r>
              <a:rPr lang="en-US" sz="1400" dirty="0">
                <a:solidFill>
                  <a:srgbClr val="384653"/>
                </a:solidFill>
                <a:latin typeface="微软雅黑" panose="020B0503020204020204" charset="-122"/>
                <a:ea typeface="微软雅黑" panose="020B0503020204020204" charset="-122"/>
                <a:cs typeface="微软雅黑" panose="020B0503020204020204" charset="-122"/>
              </a:rPr>
              <a:t>准确率 (%)</a:t>
            </a:r>
            <a:endParaRPr lang="en-US" sz="140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6" name="Shape 3"/>
          <p:cNvSpPr/>
          <p:nvPr/>
        </p:nvSpPr>
        <p:spPr>
          <a:xfrm>
            <a:off x="4526756" y="5382062"/>
            <a:ext cx="101918" cy="101917"/>
          </a:xfrm>
          <a:prstGeom prst="roundRect">
            <a:avLst>
              <a:gd name="adj" fmla="val 17944"/>
            </a:avLst>
          </a:prstGeom>
          <a:solidFill>
            <a:srgbClr val="1B6493"/>
          </a:solidFill>
        </p:spPr>
      </p:sp>
      <p:sp>
        <p:nvSpPr>
          <p:cNvPr id="7" name="Text 4"/>
          <p:cNvSpPr/>
          <p:nvPr/>
        </p:nvSpPr>
        <p:spPr>
          <a:xfrm>
            <a:off x="4750594" y="5382062"/>
            <a:ext cx="482917" cy="101917"/>
          </a:xfrm>
          <a:prstGeom prst="rect">
            <a:avLst/>
          </a:prstGeom>
          <a:noFill/>
        </p:spPr>
        <p:txBody>
          <a:bodyPr wrap="none" lIns="0" tIns="0" rIns="0" bIns="0" rtlCol="0" anchor="t"/>
          <a:lstStyle/>
          <a:p>
            <a:pPr marL="0" indent="0" algn="l">
              <a:lnSpc>
                <a:spcPts val="800"/>
              </a:lnSpc>
              <a:buNone/>
            </a:pPr>
            <a:r>
              <a:rPr lang="en-US" sz="1400" dirty="0">
                <a:solidFill>
                  <a:srgbClr val="384653"/>
                </a:solidFill>
                <a:latin typeface="微软雅黑" panose="020B0503020204020204" charset="-122"/>
                <a:ea typeface="微软雅黑" panose="020B0503020204020204" charset="-122"/>
                <a:cs typeface="微软雅黑" panose="020B0503020204020204" charset="-122"/>
              </a:rPr>
              <a:t>F1分数 (%)</a:t>
            </a:r>
            <a:endParaRPr lang="en-US" sz="140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8" name="Text 5"/>
          <p:cNvSpPr/>
          <p:nvPr/>
        </p:nvSpPr>
        <p:spPr>
          <a:xfrm>
            <a:off x="954524" y="6503511"/>
            <a:ext cx="1253966" cy="254794"/>
          </a:xfrm>
          <a:prstGeom prst="rect">
            <a:avLst/>
          </a:prstGeom>
          <a:noFill/>
        </p:spPr>
        <p:txBody>
          <a:bodyPr wrap="none" lIns="0" tIns="0" rIns="0" bIns="0" rtlCol="0" anchor="t"/>
          <a:lstStyle/>
          <a:p>
            <a:pPr marL="0" indent="0" algn="ctr">
              <a:lnSpc>
                <a:spcPts val="2000"/>
              </a:lnSpc>
              <a:buNone/>
            </a:pPr>
            <a:r>
              <a:rPr lang="en-US" sz="2000" b="1" dirty="0">
                <a:solidFill>
                  <a:srgbClr val="384653"/>
                </a:solidFill>
                <a:latin typeface="微软雅黑" panose="020B0503020204020204" charset="-122"/>
                <a:ea typeface="微软雅黑" panose="020B0503020204020204" charset="-122"/>
                <a:cs typeface="Barlow Bold" pitchFamily="34" charset="-120"/>
              </a:rPr>
              <a:t>89%</a:t>
            </a:r>
            <a:endParaRPr lang="en-US" sz="2000" b="1" dirty="0">
              <a:solidFill>
                <a:srgbClr val="384653"/>
              </a:solidFill>
              <a:latin typeface="微软雅黑" panose="020B0503020204020204" charset="-122"/>
              <a:ea typeface="微软雅黑" panose="020B0503020204020204" charset="-122"/>
              <a:cs typeface="Barlow Bold" pitchFamily="34" charset="-120"/>
            </a:endParaRPr>
          </a:p>
        </p:txBody>
      </p:sp>
      <p:pic>
        <p:nvPicPr>
          <p:cNvPr id="9" name="Image 1" descr="preencoded.png"/>
          <p:cNvPicPr>
            <a:picLocks noChangeAspect="1"/>
          </p:cNvPicPr>
          <p:nvPr/>
        </p:nvPicPr>
        <p:blipFill>
          <a:blip r:embed="rId2"/>
          <a:stretch>
            <a:fillRect/>
          </a:stretch>
        </p:blipFill>
        <p:spPr>
          <a:xfrm>
            <a:off x="816888" y="5866289"/>
            <a:ext cx="1529358" cy="1529358"/>
          </a:xfrm>
          <a:prstGeom prst="rect">
            <a:avLst/>
          </a:prstGeom>
        </p:spPr>
      </p:pic>
      <p:sp>
        <p:nvSpPr>
          <p:cNvPr id="10" name="Text 6"/>
          <p:cNvSpPr/>
          <p:nvPr/>
        </p:nvSpPr>
        <p:spPr>
          <a:xfrm>
            <a:off x="910828" y="7523043"/>
            <a:ext cx="1341477" cy="167640"/>
          </a:xfrm>
          <a:prstGeom prst="rect">
            <a:avLst/>
          </a:prstGeom>
          <a:noFill/>
        </p:spPr>
        <p:txBody>
          <a:bodyPr wrap="none" lIns="0" tIns="0" rIns="0" bIns="0" rtlCol="0" anchor="t"/>
          <a:lstStyle/>
          <a:p>
            <a:pPr marL="0" indent="0" algn="ctr">
              <a:lnSpc>
                <a:spcPts val="1300"/>
              </a:lnSpc>
              <a:buNone/>
            </a:pPr>
            <a:r>
              <a:rPr lang="en-US" sz="1050" b="1" dirty="0">
                <a:solidFill>
                  <a:srgbClr val="384653"/>
                </a:solidFill>
                <a:latin typeface="微软雅黑" panose="020B0503020204020204" charset="-122"/>
                <a:ea typeface="微软雅黑" panose="020B0503020204020204" charset="-122"/>
                <a:cs typeface="Barlow Bold" pitchFamily="34" charset="-120"/>
              </a:rPr>
              <a:t>随机森林</a:t>
            </a:r>
            <a:endParaRPr lang="en-US" sz="1050" b="1" dirty="0">
              <a:solidFill>
                <a:srgbClr val="384653"/>
              </a:solidFill>
              <a:latin typeface="微软雅黑" panose="020B0503020204020204" charset="-122"/>
              <a:ea typeface="微软雅黑" panose="020B0503020204020204" charset="-122"/>
              <a:cs typeface="Barlow Bold" pitchFamily="34" charset="-120"/>
            </a:endParaRPr>
          </a:p>
        </p:txBody>
      </p:sp>
      <p:sp>
        <p:nvSpPr>
          <p:cNvPr id="12" name="Text 8"/>
          <p:cNvSpPr/>
          <p:nvPr/>
        </p:nvSpPr>
        <p:spPr>
          <a:xfrm>
            <a:off x="3286403" y="6503511"/>
            <a:ext cx="1253966" cy="254794"/>
          </a:xfrm>
          <a:prstGeom prst="rect">
            <a:avLst/>
          </a:prstGeom>
          <a:noFill/>
        </p:spPr>
        <p:txBody>
          <a:bodyPr wrap="none" lIns="0" tIns="0" rIns="0" bIns="0" rtlCol="0" anchor="t"/>
          <a:lstStyle/>
          <a:p>
            <a:pPr marL="0" indent="0" algn="ctr">
              <a:lnSpc>
                <a:spcPts val="2000"/>
              </a:lnSpc>
              <a:buNone/>
            </a:pPr>
            <a:r>
              <a:rPr lang="en-US" sz="2000" b="1" dirty="0">
                <a:solidFill>
                  <a:srgbClr val="384653"/>
                </a:solidFill>
                <a:latin typeface="微软雅黑" panose="020B0503020204020204" charset="-122"/>
                <a:ea typeface="微软雅黑" panose="020B0503020204020204" charset="-122"/>
                <a:cs typeface="Barlow Bold" pitchFamily="34" charset="-120"/>
              </a:rPr>
              <a:t>75%</a:t>
            </a:r>
            <a:endParaRPr lang="en-US" sz="2000" b="1" dirty="0">
              <a:solidFill>
                <a:srgbClr val="384653"/>
              </a:solidFill>
              <a:latin typeface="微软雅黑" panose="020B0503020204020204" charset="-122"/>
              <a:ea typeface="微软雅黑" panose="020B0503020204020204" charset="-122"/>
              <a:cs typeface="Barlow Bold" pitchFamily="34" charset="-120"/>
            </a:endParaRPr>
          </a:p>
        </p:txBody>
      </p:sp>
      <p:pic>
        <p:nvPicPr>
          <p:cNvPr id="13" name="Image 2" descr="preencoded.png"/>
          <p:cNvPicPr>
            <a:picLocks noChangeAspect="1"/>
          </p:cNvPicPr>
          <p:nvPr/>
        </p:nvPicPr>
        <p:blipFill>
          <a:blip r:embed="rId3"/>
          <a:stretch>
            <a:fillRect/>
          </a:stretch>
        </p:blipFill>
        <p:spPr>
          <a:xfrm>
            <a:off x="3148767" y="5866289"/>
            <a:ext cx="1529358" cy="1529358"/>
          </a:xfrm>
          <a:prstGeom prst="rect">
            <a:avLst/>
          </a:prstGeom>
        </p:spPr>
      </p:pic>
      <p:sp>
        <p:nvSpPr>
          <p:cNvPr id="14" name="Text 9"/>
          <p:cNvSpPr/>
          <p:nvPr/>
        </p:nvSpPr>
        <p:spPr>
          <a:xfrm>
            <a:off x="3242707" y="7523043"/>
            <a:ext cx="1341477" cy="167640"/>
          </a:xfrm>
          <a:prstGeom prst="rect">
            <a:avLst/>
          </a:prstGeom>
          <a:noFill/>
        </p:spPr>
        <p:txBody>
          <a:bodyPr wrap="none" lIns="0" tIns="0" rIns="0" bIns="0" rtlCol="0" anchor="t"/>
          <a:lstStyle/>
          <a:p>
            <a:pPr marL="0" indent="0" algn="ctr">
              <a:lnSpc>
                <a:spcPts val="1300"/>
              </a:lnSpc>
              <a:buNone/>
            </a:pPr>
            <a:r>
              <a:rPr lang="en-US" sz="1050" b="1" dirty="0">
                <a:solidFill>
                  <a:srgbClr val="384653"/>
                </a:solidFill>
                <a:latin typeface="微软雅黑" panose="020B0503020204020204" charset="-122"/>
                <a:ea typeface="微软雅黑" panose="020B0503020204020204" charset="-122"/>
                <a:cs typeface="微软雅黑" panose="020B0503020204020204" charset="-122"/>
              </a:rPr>
              <a:t>K近邻</a:t>
            </a:r>
            <a:endParaRPr lang="en-US" sz="1050" b="1"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16" name="Text 11"/>
          <p:cNvSpPr/>
          <p:nvPr/>
        </p:nvSpPr>
        <p:spPr>
          <a:xfrm>
            <a:off x="5618282" y="6503511"/>
            <a:ext cx="1253966" cy="254794"/>
          </a:xfrm>
          <a:prstGeom prst="rect">
            <a:avLst/>
          </a:prstGeom>
          <a:noFill/>
        </p:spPr>
        <p:txBody>
          <a:bodyPr wrap="none" lIns="0" tIns="0" rIns="0" bIns="0" rtlCol="0" anchor="t"/>
          <a:lstStyle/>
          <a:p>
            <a:pPr marL="0" indent="0" algn="ctr">
              <a:lnSpc>
                <a:spcPts val="2000"/>
              </a:lnSpc>
              <a:buNone/>
            </a:pPr>
            <a:r>
              <a:rPr lang="en-US" sz="2000" b="1" dirty="0">
                <a:solidFill>
                  <a:srgbClr val="384653"/>
                </a:solidFill>
                <a:latin typeface="微软雅黑" panose="020B0503020204020204" charset="-122"/>
                <a:ea typeface="微软雅黑" panose="020B0503020204020204" charset="-122"/>
                <a:cs typeface="Barlow Bold" pitchFamily="34" charset="-120"/>
              </a:rPr>
              <a:t>65%</a:t>
            </a:r>
            <a:endParaRPr lang="en-US" sz="2000" b="1" dirty="0">
              <a:solidFill>
                <a:srgbClr val="384653"/>
              </a:solidFill>
              <a:latin typeface="微软雅黑" panose="020B0503020204020204" charset="-122"/>
              <a:ea typeface="微软雅黑" panose="020B0503020204020204" charset="-122"/>
              <a:cs typeface="Barlow Bold" pitchFamily="34" charset="-120"/>
            </a:endParaRPr>
          </a:p>
        </p:txBody>
      </p:sp>
      <p:pic>
        <p:nvPicPr>
          <p:cNvPr id="17" name="Image 3" descr="preencoded.png"/>
          <p:cNvPicPr>
            <a:picLocks noChangeAspect="1"/>
          </p:cNvPicPr>
          <p:nvPr/>
        </p:nvPicPr>
        <p:blipFill>
          <a:blip r:embed="rId4"/>
          <a:stretch>
            <a:fillRect/>
          </a:stretch>
        </p:blipFill>
        <p:spPr>
          <a:xfrm>
            <a:off x="5480645" y="5866289"/>
            <a:ext cx="1529358" cy="1529358"/>
          </a:xfrm>
          <a:prstGeom prst="rect">
            <a:avLst/>
          </a:prstGeom>
        </p:spPr>
      </p:pic>
      <p:sp>
        <p:nvSpPr>
          <p:cNvPr id="18" name="Text 12"/>
          <p:cNvSpPr/>
          <p:nvPr/>
        </p:nvSpPr>
        <p:spPr>
          <a:xfrm>
            <a:off x="5574586" y="7523043"/>
            <a:ext cx="1341477" cy="167640"/>
          </a:xfrm>
          <a:prstGeom prst="rect">
            <a:avLst/>
          </a:prstGeom>
          <a:noFill/>
        </p:spPr>
        <p:txBody>
          <a:bodyPr wrap="none" lIns="0" tIns="0" rIns="0" bIns="0" rtlCol="0" anchor="t"/>
          <a:lstStyle/>
          <a:p>
            <a:pPr marL="0" indent="0" algn="ctr">
              <a:lnSpc>
                <a:spcPts val="1300"/>
              </a:lnSpc>
              <a:buNone/>
            </a:pPr>
            <a:r>
              <a:rPr lang="en-US" sz="1050" b="1" dirty="0">
                <a:solidFill>
                  <a:srgbClr val="384653"/>
                </a:solidFill>
                <a:latin typeface="微软雅黑" panose="020B0503020204020204" charset="-122"/>
                <a:ea typeface="微软雅黑" panose="020B0503020204020204" charset="-122"/>
                <a:cs typeface="Barlow Bold" pitchFamily="34" charset="-120"/>
              </a:rPr>
              <a:t>支持向量机</a:t>
            </a:r>
            <a:endParaRPr lang="en-US" sz="1050" b="1" dirty="0">
              <a:solidFill>
                <a:srgbClr val="384653"/>
              </a:solidFill>
              <a:latin typeface="微软雅黑" panose="020B0503020204020204" charset="-122"/>
              <a:ea typeface="微软雅黑" panose="020B0503020204020204" charset="-122"/>
              <a:cs typeface="Barlow Bold" pitchFamily="34" charset="-120"/>
            </a:endParaRPr>
          </a:p>
        </p:txBody>
      </p:sp>
      <p:pic>
        <p:nvPicPr>
          <p:cNvPr id="21" name="图片 13"/>
          <p:cNvPicPr>
            <a:picLocks noChangeAspect="1"/>
          </p:cNvPicPr>
          <p:nvPr/>
        </p:nvPicPr>
        <p:blipFill>
          <a:blip r:embed="rId5"/>
          <a:stretch>
            <a:fillRect/>
          </a:stretch>
        </p:blipFill>
        <p:spPr>
          <a:xfrm>
            <a:off x="8279765" y="431165"/>
            <a:ext cx="5956935" cy="2292350"/>
          </a:xfrm>
          <a:prstGeom prst="rect">
            <a:avLst/>
          </a:prstGeom>
          <a:noFill/>
          <a:ln>
            <a:noFill/>
          </a:ln>
        </p:spPr>
      </p:pic>
      <p:pic>
        <p:nvPicPr>
          <p:cNvPr id="22" name="图片 14"/>
          <p:cNvPicPr>
            <a:picLocks noChangeAspect="1"/>
          </p:cNvPicPr>
          <p:nvPr/>
        </p:nvPicPr>
        <p:blipFill>
          <a:blip r:embed="rId6"/>
          <a:stretch>
            <a:fillRect/>
          </a:stretch>
        </p:blipFill>
        <p:spPr>
          <a:xfrm>
            <a:off x="8279765" y="3037840"/>
            <a:ext cx="5956935" cy="1917700"/>
          </a:xfrm>
          <a:prstGeom prst="rect">
            <a:avLst/>
          </a:prstGeom>
          <a:noFill/>
          <a:ln>
            <a:noFill/>
          </a:ln>
        </p:spPr>
      </p:pic>
      <p:pic>
        <p:nvPicPr>
          <p:cNvPr id="23" name="图片 15"/>
          <p:cNvPicPr>
            <a:picLocks noChangeAspect="1"/>
          </p:cNvPicPr>
          <p:nvPr/>
        </p:nvPicPr>
        <p:blipFill>
          <a:blip r:embed="rId7"/>
          <a:stretch>
            <a:fillRect/>
          </a:stretch>
        </p:blipFill>
        <p:spPr>
          <a:xfrm>
            <a:off x="8279765" y="5269865"/>
            <a:ext cx="5975350" cy="222059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8309" y="558879"/>
            <a:ext cx="5235773" cy="436483"/>
          </a:xfrm>
          <a:prstGeom prst="rect">
            <a:avLst/>
          </a:prstGeom>
          <a:noFill/>
        </p:spPr>
        <p:txBody>
          <a:bodyPr wrap="none" lIns="0" tIns="0" rIns="0" bIns="0" rtlCol="0" anchor="t"/>
          <a:lstStyle/>
          <a:p>
            <a:pPr marL="0" indent="0" algn="l">
              <a:lnSpc>
                <a:spcPts val="3400"/>
              </a:lnSpc>
              <a:buNone/>
            </a:pPr>
            <a:r>
              <a:rPr lang="en-US" sz="3200" b="1" dirty="0">
                <a:solidFill>
                  <a:srgbClr val="2E3C4E"/>
                </a:solidFill>
                <a:latin typeface="微软雅黑" panose="020B0503020204020204" charset="-122"/>
                <a:ea typeface="微软雅黑" panose="020B0503020204020204" charset="-122"/>
                <a:cs typeface="Barlow Bold" pitchFamily="34" charset="-120"/>
              </a:rPr>
              <a:t>混淆矩阵</a:t>
            </a:r>
            <a:endParaRPr lang="en-US" sz="3200" b="1" dirty="0">
              <a:solidFill>
                <a:srgbClr val="2E3C4E"/>
              </a:solidFill>
              <a:latin typeface="微软雅黑" panose="020B0503020204020204" charset="-122"/>
              <a:ea typeface="微软雅黑" panose="020B0503020204020204" charset="-122"/>
              <a:cs typeface="Barlow Bold" pitchFamily="34" charset="-120"/>
            </a:endParaRPr>
          </a:p>
        </p:txBody>
      </p:sp>
      <p:pic>
        <p:nvPicPr>
          <p:cNvPr id="23" name="图片 22"/>
          <p:cNvPicPr/>
          <p:nvPr/>
        </p:nvPicPr>
        <p:blipFill>
          <a:blip r:embed="rId1"/>
          <a:stretch>
            <a:fillRect/>
          </a:stretch>
        </p:blipFill>
        <p:spPr>
          <a:xfrm>
            <a:off x="594995" y="1221740"/>
            <a:ext cx="3559175" cy="3134995"/>
          </a:xfrm>
          <a:prstGeom prst="rect">
            <a:avLst/>
          </a:prstGeom>
        </p:spPr>
      </p:pic>
      <p:pic>
        <p:nvPicPr>
          <p:cNvPr id="25" name="图片 24"/>
          <p:cNvPicPr/>
          <p:nvPr/>
        </p:nvPicPr>
        <p:blipFill>
          <a:blip r:embed="rId2"/>
          <a:stretch>
            <a:fillRect/>
          </a:stretch>
        </p:blipFill>
        <p:spPr>
          <a:xfrm>
            <a:off x="595630" y="4584065"/>
            <a:ext cx="3559175" cy="3044190"/>
          </a:xfrm>
          <a:prstGeom prst="rect">
            <a:avLst/>
          </a:prstGeom>
        </p:spPr>
      </p:pic>
      <p:pic>
        <p:nvPicPr>
          <p:cNvPr id="26" name="图片 25"/>
          <p:cNvPicPr/>
          <p:nvPr/>
        </p:nvPicPr>
        <p:blipFill>
          <a:blip r:embed="rId3"/>
          <a:stretch>
            <a:fillRect/>
          </a:stretch>
        </p:blipFill>
        <p:spPr>
          <a:xfrm>
            <a:off x="4931410" y="1221740"/>
            <a:ext cx="3623945" cy="3135630"/>
          </a:xfrm>
          <a:prstGeom prst="rect">
            <a:avLst/>
          </a:prstGeom>
        </p:spPr>
      </p:pic>
      <p:sp>
        <p:nvSpPr>
          <p:cNvPr id="27" name="文本框 26"/>
          <p:cNvSpPr txBox="1"/>
          <p:nvPr/>
        </p:nvSpPr>
        <p:spPr>
          <a:xfrm>
            <a:off x="6786087" y="3256597"/>
            <a:ext cx="5080000" cy="906780"/>
          </a:xfrm>
          <a:prstGeom prst="rect">
            <a:avLst/>
          </a:prstGeom>
        </p:spPr>
        <p:txBody>
          <a:bodyPr>
            <a:spAutoFit/>
          </a:bodyPr>
          <a:p>
            <a:endParaRPr lang="en-US" altLang="zh-CN" sz="2400"/>
          </a:p>
          <a:p>
            <a:pPr marL="0" indent="0" algn="l" defTabSz="266700">
              <a:lnSpc>
                <a:spcPct val="150000"/>
              </a:lnSpc>
              <a:spcBef>
                <a:spcPts val="600"/>
              </a:spcBef>
              <a:spcAft>
                <a:spcPts val="600"/>
              </a:spcAft>
            </a:pPr>
            <a:r>
              <a:rPr lang="en-US" altLang="zh-CN" sz="1600" b="1">
                <a:latin typeface="Times New Roman" panose="02020603050405020304"/>
                <a:ea typeface="宋体" panose="02010600030101010101" pitchFamily="2" charset="-122"/>
              </a:rPr>
              <a:t>         </a:t>
            </a:r>
            <a:endParaRPr lang="en-US" altLang="zh-CN" sz="1600" b="1">
              <a:latin typeface="Times New Roman" panose="02020603050405020304"/>
              <a:ea typeface="宋体" panose="02010600030101010101" pitchFamily="2" charset="-122"/>
            </a:endParaRPr>
          </a:p>
        </p:txBody>
      </p:sp>
      <p:pic>
        <p:nvPicPr>
          <p:cNvPr id="28" name="图片 27"/>
          <p:cNvPicPr/>
          <p:nvPr/>
        </p:nvPicPr>
        <p:blipFill>
          <a:blip r:embed="rId4"/>
          <a:stretch>
            <a:fillRect/>
          </a:stretch>
        </p:blipFill>
        <p:spPr>
          <a:xfrm>
            <a:off x="4931410" y="4584700"/>
            <a:ext cx="3623945" cy="3026410"/>
          </a:xfrm>
          <a:prstGeom prst="rect">
            <a:avLst/>
          </a:prstGeom>
        </p:spPr>
      </p:pic>
      <p:pic>
        <p:nvPicPr>
          <p:cNvPr id="29" name="图片 28"/>
          <p:cNvPicPr/>
          <p:nvPr/>
        </p:nvPicPr>
        <p:blipFill>
          <a:blip r:embed="rId5"/>
          <a:stretch>
            <a:fillRect/>
          </a:stretch>
        </p:blipFill>
        <p:spPr>
          <a:xfrm>
            <a:off x="9452610" y="1221105"/>
            <a:ext cx="3413125" cy="3135630"/>
          </a:xfrm>
          <a:prstGeom prst="rect">
            <a:avLst/>
          </a:prstGeom>
        </p:spPr>
      </p:pic>
      <p:sp>
        <p:nvSpPr>
          <p:cNvPr id="30" name="文本框 29"/>
          <p:cNvSpPr txBox="1"/>
          <p:nvPr/>
        </p:nvSpPr>
        <p:spPr>
          <a:xfrm>
            <a:off x="6786087" y="7034212"/>
            <a:ext cx="5080000" cy="906780"/>
          </a:xfrm>
          <a:prstGeom prst="rect">
            <a:avLst/>
          </a:prstGeom>
        </p:spPr>
        <p:txBody>
          <a:bodyPr>
            <a:spAutoFit/>
          </a:bodyPr>
          <a:p>
            <a:endParaRPr lang="en-US" altLang="zh-CN" sz="2400"/>
          </a:p>
          <a:p>
            <a:pPr marL="0" indent="0" algn="just" defTabSz="266700">
              <a:lnSpc>
                <a:spcPct val="150000"/>
              </a:lnSpc>
              <a:spcBef>
                <a:spcPts val="600"/>
              </a:spcBef>
              <a:spcAft>
                <a:spcPts val="600"/>
              </a:spcAft>
            </a:pPr>
            <a:r>
              <a:rPr lang="en-US" altLang="zh-CN" sz="1600" b="1">
                <a:latin typeface="Times New Roman" panose="02020603050405020304"/>
                <a:ea typeface="宋体" panose="02010600030101010101" pitchFamily="2" charset="-122"/>
              </a:rPr>
              <a:t> </a:t>
            </a:r>
            <a:endParaRPr lang="en-US" altLang="zh-CN" sz="1600" b="1">
              <a:latin typeface="Times New Roman" panose="02020603050405020304"/>
              <a:ea typeface="宋体" panose="02010600030101010101" pitchFamily="2" charset="-122"/>
            </a:endParaRPr>
          </a:p>
        </p:txBody>
      </p:sp>
      <p:pic>
        <p:nvPicPr>
          <p:cNvPr id="31" name="图片 30"/>
          <p:cNvPicPr/>
          <p:nvPr/>
        </p:nvPicPr>
        <p:blipFill>
          <a:blip r:embed="rId6"/>
          <a:stretch>
            <a:fillRect/>
          </a:stretch>
        </p:blipFill>
        <p:spPr>
          <a:xfrm>
            <a:off x="9452610" y="4584065"/>
            <a:ext cx="3427095" cy="3026410"/>
          </a:xfrm>
          <a:prstGeom prst="rect">
            <a:avLst/>
          </a:prstGeom>
        </p:spPr>
      </p:pic>
      <p:sp>
        <p:nvSpPr>
          <p:cNvPr id="32" name="Text 6"/>
          <p:cNvSpPr/>
          <p:nvPr/>
        </p:nvSpPr>
        <p:spPr>
          <a:xfrm>
            <a:off x="10495518" y="7838003"/>
            <a:ext cx="1341477" cy="167640"/>
          </a:xfrm>
          <a:prstGeom prst="rect">
            <a:avLst/>
          </a:prstGeom>
          <a:noFill/>
        </p:spPr>
        <p:txBody>
          <a:bodyPr wrap="none" lIns="0" tIns="0" rIns="0" bIns="0" rtlCol="0" anchor="t"/>
          <a:lstStyle/>
          <a:p>
            <a:pPr marL="0" indent="0" algn="ctr">
              <a:lnSpc>
                <a:spcPts val="1300"/>
              </a:lnSpc>
              <a:buNone/>
            </a:pPr>
            <a:r>
              <a:rPr lang="en-US" b="1" dirty="0">
                <a:solidFill>
                  <a:srgbClr val="384653"/>
                </a:solidFill>
                <a:latin typeface="微软雅黑" panose="020B0503020204020204" charset="-122"/>
                <a:ea typeface="微软雅黑" panose="020B0503020204020204" charset="-122"/>
                <a:cs typeface="Barlow Bold" pitchFamily="34" charset="-120"/>
              </a:rPr>
              <a:t>随机森林</a:t>
            </a:r>
            <a:endParaRPr lang="en-US" b="1" dirty="0">
              <a:solidFill>
                <a:srgbClr val="384653"/>
              </a:solidFill>
              <a:latin typeface="微软雅黑" panose="020B0503020204020204" charset="-122"/>
              <a:ea typeface="微软雅黑" panose="020B0503020204020204" charset="-122"/>
              <a:cs typeface="Barlow Bold" pitchFamily="34" charset="-120"/>
            </a:endParaRPr>
          </a:p>
        </p:txBody>
      </p:sp>
      <p:sp>
        <p:nvSpPr>
          <p:cNvPr id="33" name="Text 9"/>
          <p:cNvSpPr/>
          <p:nvPr/>
        </p:nvSpPr>
        <p:spPr>
          <a:xfrm>
            <a:off x="6072267" y="7838638"/>
            <a:ext cx="1341477" cy="167640"/>
          </a:xfrm>
          <a:prstGeom prst="rect">
            <a:avLst/>
          </a:prstGeom>
          <a:noFill/>
        </p:spPr>
        <p:txBody>
          <a:bodyPr wrap="none" lIns="0" tIns="0" rIns="0" bIns="0" rtlCol="0" anchor="t"/>
          <a:lstStyle/>
          <a:p>
            <a:pPr marL="0" indent="0" algn="ctr">
              <a:lnSpc>
                <a:spcPts val="1300"/>
              </a:lnSpc>
              <a:buNone/>
            </a:pPr>
            <a:r>
              <a:rPr lang="en-US" b="1" dirty="0">
                <a:solidFill>
                  <a:srgbClr val="384653"/>
                </a:solidFill>
                <a:latin typeface="微软雅黑" panose="020B0503020204020204" charset="-122"/>
                <a:ea typeface="微软雅黑" panose="020B0503020204020204" charset="-122"/>
                <a:cs typeface="微软雅黑" panose="020B0503020204020204" charset="-122"/>
              </a:rPr>
              <a:t>K近邻</a:t>
            </a:r>
            <a:endParaRPr lang="en-US" b="1"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34" name="Text 12"/>
          <p:cNvSpPr/>
          <p:nvPr/>
        </p:nvSpPr>
        <p:spPr>
          <a:xfrm>
            <a:off x="1703626" y="7773233"/>
            <a:ext cx="1341477" cy="167640"/>
          </a:xfrm>
          <a:prstGeom prst="rect">
            <a:avLst/>
          </a:prstGeom>
          <a:noFill/>
        </p:spPr>
        <p:txBody>
          <a:bodyPr wrap="none" lIns="0" tIns="0" rIns="0" bIns="0" rtlCol="0" anchor="t"/>
          <a:lstStyle/>
          <a:p>
            <a:pPr marL="0" indent="0" algn="ctr">
              <a:lnSpc>
                <a:spcPts val="1300"/>
              </a:lnSpc>
              <a:buNone/>
            </a:pPr>
            <a:r>
              <a:rPr lang="en-US" b="1" dirty="0">
                <a:solidFill>
                  <a:srgbClr val="384653"/>
                </a:solidFill>
                <a:latin typeface="微软雅黑" panose="020B0503020204020204" charset="-122"/>
                <a:ea typeface="微软雅黑" panose="020B0503020204020204" charset="-122"/>
                <a:cs typeface="Barlow Bold" pitchFamily="34" charset="-120"/>
              </a:rPr>
              <a:t>支持向量机</a:t>
            </a:r>
            <a:endParaRPr lang="en-US" b="1" dirty="0">
              <a:solidFill>
                <a:srgbClr val="384653"/>
              </a:solidFill>
              <a:latin typeface="微软雅黑" panose="020B0503020204020204" charset="-122"/>
              <a:ea typeface="微软雅黑" panose="020B0503020204020204" charset="-122"/>
              <a:cs typeface="Barlow Bold" pitchFamily="34" charset="-12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13303" y="492204"/>
            <a:ext cx="3050619" cy="381238"/>
          </a:xfrm>
          <a:prstGeom prst="rect">
            <a:avLst/>
          </a:prstGeom>
          <a:noFill/>
        </p:spPr>
        <p:txBody>
          <a:bodyPr wrap="none" lIns="0" tIns="0" rIns="0" bIns="0" rtlCol="0" anchor="t"/>
          <a:lstStyle/>
          <a:p>
            <a:pPr marL="0" indent="0" algn="l">
              <a:lnSpc>
                <a:spcPts val="3000"/>
              </a:lnSpc>
              <a:buNone/>
            </a:pPr>
            <a:r>
              <a:rPr lang="en-US" sz="3200" b="1" dirty="0">
                <a:solidFill>
                  <a:srgbClr val="2E3C4E"/>
                </a:solidFill>
                <a:latin typeface="微软雅黑" panose="020B0503020204020204" charset="-122"/>
                <a:ea typeface="微软雅黑" panose="020B0503020204020204" charset="-122"/>
                <a:cs typeface="微软雅黑" panose="020B0503020204020204" charset="-122"/>
              </a:rPr>
              <a:t>ROC曲线与AUC分析</a:t>
            </a:r>
            <a:endParaRPr lang="en-US" sz="3200" b="1" dirty="0">
              <a:solidFill>
                <a:srgbClr val="2E3C4E"/>
              </a:solidFill>
              <a:latin typeface="微软雅黑" panose="020B0503020204020204" charset="-122"/>
              <a:ea typeface="微软雅黑" panose="020B0503020204020204" charset="-122"/>
              <a:cs typeface="微软雅黑" panose="020B0503020204020204" charset="-122"/>
            </a:endParaRPr>
          </a:p>
        </p:txBody>
      </p:sp>
      <p:pic>
        <p:nvPicPr>
          <p:cNvPr id="38" name="图片 37"/>
          <p:cNvPicPr/>
          <p:nvPr/>
        </p:nvPicPr>
        <p:blipFill>
          <a:blip r:embed="rId1"/>
          <a:stretch>
            <a:fillRect/>
          </a:stretch>
        </p:blipFill>
        <p:spPr>
          <a:xfrm>
            <a:off x="930910" y="1289050"/>
            <a:ext cx="3381375" cy="3213100"/>
          </a:xfrm>
          <a:prstGeom prst="rect">
            <a:avLst/>
          </a:prstGeom>
        </p:spPr>
      </p:pic>
      <p:pic>
        <p:nvPicPr>
          <p:cNvPr id="39" name="图片 38"/>
          <p:cNvPicPr/>
          <p:nvPr/>
        </p:nvPicPr>
        <p:blipFill>
          <a:blip r:embed="rId2"/>
          <a:stretch>
            <a:fillRect/>
          </a:stretch>
        </p:blipFill>
        <p:spPr>
          <a:xfrm>
            <a:off x="1041400" y="4807585"/>
            <a:ext cx="3246755" cy="2560955"/>
          </a:xfrm>
          <a:prstGeom prst="rect">
            <a:avLst/>
          </a:prstGeom>
        </p:spPr>
      </p:pic>
      <p:pic>
        <p:nvPicPr>
          <p:cNvPr id="40" name="图片 39"/>
          <p:cNvPicPr/>
          <p:nvPr/>
        </p:nvPicPr>
        <p:blipFill>
          <a:blip r:embed="rId3"/>
          <a:stretch>
            <a:fillRect/>
          </a:stretch>
        </p:blipFill>
        <p:spPr>
          <a:xfrm>
            <a:off x="5035550" y="1276985"/>
            <a:ext cx="3270250" cy="3227070"/>
          </a:xfrm>
          <a:prstGeom prst="rect">
            <a:avLst/>
          </a:prstGeom>
        </p:spPr>
      </p:pic>
      <p:pic>
        <p:nvPicPr>
          <p:cNvPr id="41" name="图片 40"/>
          <p:cNvPicPr/>
          <p:nvPr/>
        </p:nvPicPr>
        <p:blipFill>
          <a:blip r:embed="rId4"/>
          <a:stretch>
            <a:fillRect/>
          </a:stretch>
        </p:blipFill>
        <p:spPr>
          <a:xfrm>
            <a:off x="5035550" y="4792980"/>
            <a:ext cx="3226435" cy="2614295"/>
          </a:xfrm>
          <a:prstGeom prst="rect">
            <a:avLst/>
          </a:prstGeom>
        </p:spPr>
      </p:pic>
      <p:sp>
        <p:nvSpPr>
          <p:cNvPr id="42" name="文本框 41"/>
          <p:cNvSpPr txBox="1"/>
          <p:nvPr/>
        </p:nvSpPr>
        <p:spPr>
          <a:xfrm>
            <a:off x="6502241" y="5345430"/>
            <a:ext cx="5080000" cy="460375"/>
          </a:xfrm>
          <a:prstGeom prst="rect">
            <a:avLst/>
          </a:prstGeom>
        </p:spPr>
        <p:txBody>
          <a:bodyPr>
            <a:spAutoFit/>
          </a:bodyPr>
          <a:p>
            <a:pPr marL="0" indent="0" algn="just" defTabSz="266700">
              <a:lnSpc>
                <a:spcPct val="150000"/>
              </a:lnSpc>
              <a:spcBef>
                <a:spcPts val="600"/>
              </a:spcBef>
              <a:spcAft>
                <a:spcPts val="600"/>
              </a:spcAft>
            </a:pPr>
            <a:r>
              <a:rPr lang="en-US" altLang="zh-CN" sz="1600">
                <a:latin typeface="Times New Roman" panose="02020603050405020304"/>
                <a:ea typeface="宋体" panose="02010600030101010101" pitchFamily="2" charset="-122"/>
              </a:rPr>
              <a:t> </a:t>
            </a:r>
            <a:endParaRPr lang="en-US" altLang="zh-CN" sz="1600">
              <a:latin typeface="Times New Roman" panose="02020603050405020304"/>
              <a:ea typeface="宋体" panose="02010600030101010101" pitchFamily="2" charset="-122"/>
            </a:endParaRPr>
          </a:p>
        </p:txBody>
      </p:sp>
      <p:pic>
        <p:nvPicPr>
          <p:cNvPr id="43" name="图片 42"/>
          <p:cNvPicPr/>
          <p:nvPr/>
        </p:nvPicPr>
        <p:blipFill>
          <a:blip r:embed="rId5"/>
          <a:stretch>
            <a:fillRect/>
          </a:stretch>
        </p:blipFill>
        <p:spPr>
          <a:xfrm>
            <a:off x="9140825" y="1284605"/>
            <a:ext cx="3240405" cy="3225165"/>
          </a:xfrm>
          <a:prstGeom prst="rect">
            <a:avLst/>
          </a:prstGeom>
        </p:spPr>
      </p:pic>
      <p:pic>
        <p:nvPicPr>
          <p:cNvPr id="44" name="图片 43"/>
          <p:cNvPicPr/>
          <p:nvPr/>
        </p:nvPicPr>
        <p:blipFill>
          <a:blip r:embed="rId6"/>
          <a:stretch>
            <a:fillRect/>
          </a:stretch>
        </p:blipFill>
        <p:spPr>
          <a:xfrm>
            <a:off x="9140825" y="4793615"/>
            <a:ext cx="3207385" cy="2545715"/>
          </a:xfrm>
          <a:prstGeom prst="rect">
            <a:avLst/>
          </a:prstGeom>
        </p:spPr>
      </p:pic>
      <p:sp>
        <p:nvSpPr>
          <p:cNvPr id="45" name="Text 6"/>
          <p:cNvSpPr/>
          <p:nvPr/>
        </p:nvSpPr>
        <p:spPr>
          <a:xfrm>
            <a:off x="9955768" y="7838003"/>
            <a:ext cx="1341477" cy="167640"/>
          </a:xfrm>
          <a:prstGeom prst="rect">
            <a:avLst/>
          </a:prstGeom>
          <a:noFill/>
        </p:spPr>
        <p:txBody>
          <a:bodyPr wrap="none" lIns="0" tIns="0" rIns="0" bIns="0" rtlCol="0" anchor="t"/>
          <a:lstStyle/>
          <a:p>
            <a:pPr marL="0" indent="0" algn="ctr">
              <a:lnSpc>
                <a:spcPts val="1300"/>
              </a:lnSpc>
              <a:buNone/>
            </a:pPr>
            <a:r>
              <a:rPr lang="en-US" b="1" dirty="0">
                <a:solidFill>
                  <a:srgbClr val="384653"/>
                </a:solidFill>
                <a:latin typeface="微软雅黑" panose="020B0503020204020204" charset="-122"/>
                <a:ea typeface="微软雅黑" panose="020B0503020204020204" charset="-122"/>
                <a:cs typeface="Barlow Bold" pitchFamily="34" charset="-120"/>
              </a:rPr>
              <a:t>随机森林</a:t>
            </a:r>
            <a:endParaRPr lang="en-US" b="1" dirty="0">
              <a:solidFill>
                <a:srgbClr val="384653"/>
              </a:solidFill>
              <a:latin typeface="微软雅黑" panose="020B0503020204020204" charset="-122"/>
              <a:ea typeface="微软雅黑" panose="020B0503020204020204" charset="-122"/>
              <a:cs typeface="Barlow Bold" pitchFamily="34" charset="-120"/>
            </a:endParaRPr>
          </a:p>
        </p:txBody>
      </p:sp>
      <p:sp>
        <p:nvSpPr>
          <p:cNvPr id="46" name="Text 9"/>
          <p:cNvSpPr/>
          <p:nvPr/>
        </p:nvSpPr>
        <p:spPr>
          <a:xfrm>
            <a:off x="5856367" y="7838003"/>
            <a:ext cx="1341477" cy="167640"/>
          </a:xfrm>
          <a:prstGeom prst="rect">
            <a:avLst/>
          </a:prstGeom>
          <a:noFill/>
        </p:spPr>
        <p:txBody>
          <a:bodyPr wrap="none" lIns="0" tIns="0" rIns="0" bIns="0" rtlCol="0" anchor="t"/>
          <a:lstStyle/>
          <a:p>
            <a:pPr marL="0" indent="0" algn="ctr">
              <a:lnSpc>
                <a:spcPts val="1300"/>
              </a:lnSpc>
              <a:buNone/>
            </a:pPr>
            <a:r>
              <a:rPr lang="en-US" b="1" dirty="0">
                <a:solidFill>
                  <a:srgbClr val="384653"/>
                </a:solidFill>
                <a:latin typeface="微软雅黑" panose="020B0503020204020204" charset="-122"/>
                <a:ea typeface="微软雅黑" panose="020B0503020204020204" charset="-122"/>
                <a:cs typeface="微软雅黑" panose="020B0503020204020204" charset="-122"/>
              </a:rPr>
              <a:t>K近邻</a:t>
            </a:r>
            <a:endParaRPr lang="en-US" b="1"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47" name="Text 12"/>
          <p:cNvSpPr/>
          <p:nvPr/>
        </p:nvSpPr>
        <p:spPr>
          <a:xfrm>
            <a:off x="1885236" y="7773233"/>
            <a:ext cx="1341477" cy="167640"/>
          </a:xfrm>
          <a:prstGeom prst="rect">
            <a:avLst/>
          </a:prstGeom>
          <a:noFill/>
        </p:spPr>
        <p:txBody>
          <a:bodyPr wrap="none" lIns="0" tIns="0" rIns="0" bIns="0" rtlCol="0" anchor="t"/>
          <a:lstStyle/>
          <a:p>
            <a:pPr marL="0" indent="0" algn="ctr">
              <a:lnSpc>
                <a:spcPts val="1300"/>
              </a:lnSpc>
              <a:buNone/>
            </a:pPr>
            <a:r>
              <a:rPr lang="en-US" b="1" dirty="0">
                <a:solidFill>
                  <a:srgbClr val="384653"/>
                </a:solidFill>
                <a:latin typeface="微软雅黑" panose="020B0503020204020204" charset="-122"/>
                <a:ea typeface="微软雅黑" panose="020B0503020204020204" charset="-122"/>
                <a:cs typeface="Barlow Bold" pitchFamily="34" charset="-120"/>
              </a:rPr>
              <a:t>支持向量机</a:t>
            </a:r>
            <a:endParaRPr lang="en-US" b="1" dirty="0">
              <a:solidFill>
                <a:srgbClr val="384653"/>
              </a:solidFill>
              <a:latin typeface="微软雅黑" panose="020B0503020204020204" charset="-122"/>
              <a:ea typeface="微软雅黑" panose="020B0503020204020204" charset="-122"/>
              <a:cs typeface="Barlow Bold" pitchFamily="34" charset="-12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758309" y="571262"/>
            <a:ext cx="4484132" cy="498872"/>
          </a:xfrm>
          <a:prstGeom prst="rect">
            <a:avLst/>
          </a:prstGeom>
          <a:noFill/>
        </p:spPr>
        <p:txBody>
          <a:bodyPr wrap="none" lIns="0" tIns="0" rIns="0" bIns="0" rtlCol="0" anchor="t"/>
          <a:lstStyle/>
          <a:p>
            <a:pPr marL="0" indent="0" algn="l">
              <a:lnSpc>
                <a:spcPts val="3900"/>
              </a:lnSpc>
              <a:buNone/>
            </a:pPr>
            <a:r>
              <a:rPr lang="en-US" sz="3100" b="1" dirty="0">
                <a:solidFill>
                  <a:srgbClr val="2E3C4E"/>
                </a:solidFill>
                <a:latin typeface="微软雅黑" panose="020B0503020204020204" charset="-122"/>
                <a:ea typeface="微软雅黑" panose="020B0503020204020204" charset="-122"/>
                <a:cs typeface="微软雅黑" panose="020B0503020204020204" charset="-122"/>
              </a:rPr>
              <a:t>什么是"三明治"数据分布?</a:t>
            </a:r>
            <a:endParaRPr lang="en-US" sz="3100" b="1" dirty="0">
              <a:solidFill>
                <a:srgbClr val="2E3C4E"/>
              </a:solidFill>
              <a:latin typeface="微软雅黑" panose="020B0503020204020204" charset="-122"/>
              <a:ea typeface="微软雅黑" panose="020B0503020204020204" charset="-122"/>
              <a:cs typeface="微软雅黑" panose="020B0503020204020204" charset="-122"/>
            </a:endParaRPr>
          </a:p>
        </p:txBody>
      </p:sp>
      <p:sp>
        <p:nvSpPr>
          <p:cNvPr id="20" name="Text 17"/>
          <p:cNvSpPr/>
          <p:nvPr/>
        </p:nvSpPr>
        <p:spPr>
          <a:xfrm>
            <a:off x="2178804" y="6150293"/>
            <a:ext cx="1995487" cy="249436"/>
          </a:xfrm>
          <a:prstGeom prst="rect">
            <a:avLst/>
          </a:prstGeom>
          <a:noFill/>
        </p:spPr>
        <p:txBody>
          <a:bodyPr wrap="none" lIns="0" tIns="0" rIns="0" bIns="0" rtlCol="0" anchor="t"/>
          <a:lstStyle/>
          <a:p>
            <a:pPr marL="0" indent="0" algn="l">
              <a:lnSpc>
                <a:spcPts val="1950"/>
              </a:lnSpc>
              <a:buNone/>
            </a:pPr>
            <a:r>
              <a:rPr lang="en-US" sz="1550" b="1" dirty="0">
                <a:solidFill>
                  <a:srgbClr val="2E3C4E"/>
                </a:solidFill>
                <a:latin typeface="微软雅黑" panose="020B0503020204020204" charset="-122"/>
                <a:ea typeface="微软雅黑" panose="020B0503020204020204" charset="-122"/>
                <a:cs typeface="Barlow Bold" pitchFamily="34" charset="-120"/>
              </a:rPr>
              <a:t>分布特征</a:t>
            </a:r>
            <a:endParaRPr lang="en-US" sz="1550" b="1" dirty="0">
              <a:solidFill>
                <a:srgbClr val="2E3C4E"/>
              </a:solidFill>
              <a:latin typeface="微软雅黑" panose="020B0503020204020204" charset="-122"/>
              <a:ea typeface="微软雅黑" panose="020B0503020204020204" charset="-122"/>
              <a:cs typeface="Barlow Bold" pitchFamily="34" charset="-120"/>
            </a:endParaRPr>
          </a:p>
        </p:txBody>
      </p:sp>
      <p:sp>
        <p:nvSpPr>
          <p:cNvPr id="21" name="Text 18"/>
          <p:cNvSpPr/>
          <p:nvPr/>
        </p:nvSpPr>
        <p:spPr>
          <a:xfrm>
            <a:off x="2178804" y="6551295"/>
            <a:ext cx="3628668" cy="970597"/>
          </a:xfrm>
          <a:prstGeom prst="rect">
            <a:avLst/>
          </a:prstGeom>
          <a:noFill/>
        </p:spPr>
        <p:txBody>
          <a:bodyPr wrap="square" lIns="0" tIns="0" rIns="0" bIns="0" rtlCol="0" anchor="t"/>
          <a:lstStyle/>
          <a:p>
            <a:pPr marL="0" indent="0" algn="l">
              <a:lnSpc>
                <a:spcPts val="1900"/>
              </a:lnSpc>
              <a:buNone/>
            </a:pPr>
            <a:r>
              <a:rPr lang="en-US" sz="1150" dirty="0">
                <a:solidFill>
                  <a:srgbClr val="384653"/>
                </a:solidFill>
                <a:latin typeface="微软雅黑" panose="020B0503020204020204" charset="-122"/>
                <a:ea typeface="微软雅黑" panose="020B0503020204020204" charset="-122"/>
                <a:cs typeface="微软雅黑" panose="020B0503020204020204" charset="-122"/>
              </a:rPr>
              <a:t>在RAM这个主轴上,四个类别严格按照</a:t>
            </a:r>
            <a:r>
              <a:rPr lang="en-US" sz="1150" b="1" dirty="0">
                <a:solidFill>
                  <a:srgbClr val="384653"/>
                </a:solidFill>
                <a:latin typeface="微软雅黑" panose="020B0503020204020204" charset="-122"/>
                <a:ea typeface="微软雅黑" panose="020B0503020204020204" charset="-122"/>
                <a:cs typeface="微软雅黑" panose="020B0503020204020204" charset="-122"/>
              </a:rPr>
              <a:t>0→1→2→3</a:t>
            </a:r>
            <a:r>
              <a:rPr lang="en-US" sz="1150" dirty="0">
                <a:solidFill>
                  <a:srgbClr val="384653"/>
                </a:solidFill>
                <a:latin typeface="微软雅黑" panose="020B0503020204020204" charset="-122"/>
                <a:ea typeface="微软雅黑" panose="020B0503020204020204" charset="-122"/>
                <a:cs typeface="微软雅黑" panose="020B0503020204020204" charset="-122"/>
              </a:rPr>
              <a:t>的顺序排列。对于Class 1而言,它的样本被Class 0和Class 2"夹"在中间;对于Class 2而言,它的样本被Class 1和Class 3"夹"在中间。</a:t>
            </a:r>
            <a:endParaRPr lang="en-US" sz="1150" dirty="0">
              <a:latin typeface="微软雅黑" panose="020B0503020204020204" charset="-122"/>
              <a:ea typeface="微软雅黑" panose="020B0503020204020204" charset="-122"/>
              <a:cs typeface="微软雅黑" panose="020B0503020204020204" charset="-122"/>
            </a:endParaRPr>
          </a:p>
        </p:txBody>
      </p:sp>
      <p:sp>
        <p:nvSpPr>
          <p:cNvPr id="22" name="Text 19"/>
          <p:cNvSpPr/>
          <p:nvPr/>
        </p:nvSpPr>
        <p:spPr>
          <a:xfrm>
            <a:off x="6185138" y="6150293"/>
            <a:ext cx="1995487" cy="249436"/>
          </a:xfrm>
          <a:prstGeom prst="rect">
            <a:avLst/>
          </a:prstGeom>
          <a:noFill/>
        </p:spPr>
        <p:txBody>
          <a:bodyPr wrap="none" lIns="0" tIns="0" rIns="0" bIns="0" rtlCol="0" anchor="t"/>
          <a:lstStyle/>
          <a:p>
            <a:pPr marL="0" indent="0" algn="l">
              <a:lnSpc>
                <a:spcPts val="1950"/>
              </a:lnSpc>
              <a:buNone/>
            </a:pPr>
            <a:r>
              <a:rPr lang="en-US" sz="1550" b="1" dirty="0">
                <a:solidFill>
                  <a:srgbClr val="2E3C4E"/>
                </a:solidFill>
                <a:latin typeface="微软雅黑" panose="020B0503020204020204" charset="-122"/>
                <a:ea typeface="微软雅黑" panose="020B0503020204020204" charset="-122"/>
                <a:cs typeface="Barlow Bold" pitchFamily="34" charset="-120"/>
              </a:rPr>
              <a:t>几何含义</a:t>
            </a:r>
            <a:endParaRPr lang="en-US" sz="1550" b="1" dirty="0">
              <a:solidFill>
                <a:srgbClr val="2E3C4E"/>
              </a:solidFill>
              <a:latin typeface="微软雅黑" panose="020B0503020204020204" charset="-122"/>
              <a:ea typeface="微软雅黑" panose="020B0503020204020204" charset="-122"/>
              <a:cs typeface="Barlow Bold" pitchFamily="34" charset="-120"/>
            </a:endParaRPr>
          </a:p>
        </p:txBody>
      </p:sp>
      <p:sp>
        <p:nvSpPr>
          <p:cNvPr id="23" name="Text 20"/>
          <p:cNvSpPr/>
          <p:nvPr/>
        </p:nvSpPr>
        <p:spPr>
          <a:xfrm>
            <a:off x="6185138" y="6551295"/>
            <a:ext cx="3628668" cy="727948"/>
          </a:xfrm>
          <a:prstGeom prst="rect">
            <a:avLst/>
          </a:prstGeom>
          <a:noFill/>
        </p:spPr>
        <p:txBody>
          <a:bodyPr wrap="square" lIns="0" tIns="0" rIns="0" bIns="0" rtlCol="0" anchor="t"/>
          <a:lstStyle/>
          <a:p>
            <a:pPr marL="0" indent="0" algn="l">
              <a:lnSpc>
                <a:spcPts val="1900"/>
              </a:lnSpc>
              <a:buNone/>
            </a:pPr>
            <a:r>
              <a:rPr lang="en-US" sz="1150" dirty="0">
                <a:solidFill>
                  <a:srgbClr val="384653"/>
                </a:solidFill>
                <a:latin typeface="微软雅黑" panose="020B0503020204020204" charset="-122"/>
                <a:ea typeface="微软雅黑" panose="020B0503020204020204" charset="-122"/>
                <a:cs typeface="微软雅黑" panose="020B0503020204020204" charset="-122"/>
              </a:rPr>
              <a:t>这种分布在特征空间中形成了</a:t>
            </a:r>
            <a:r>
              <a:rPr lang="en-US" sz="1150" dirty="0">
                <a:solidFill>
                  <a:srgbClr val="2589C9"/>
                </a:solidFill>
                <a:latin typeface="微软雅黑" panose="020B0503020204020204" charset="-122"/>
                <a:ea typeface="微软雅黑" panose="020B0503020204020204" charset="-122"/>
                <a:cs typeface="微软雅黑" panose="020B0503020204020204" charset="-122"/>
              </a:rPr>
              <a:t>非凸的负样本集合</a:t>
            </a:r>
            <a:r>
              <a:rPr lang="en-US" sz="1150" dirty="0">
                <a:solidFill>
                  <a:srgbClr val="384653"/>
                </a:solidFill>
                <a:latin typeface="微软雅黑" panose="020B0503020204020204" charset="-122"/>
                <a:ea typeface="微软雅黑" panose="020B0503020204020204" charset="-122"/>
                <a:cs typeface="微软雅黑" panose="020B0503020204020204" charset="-122"/>
              </a:rPr>
              <a:t>。当使用One-vs-Rest策略时,中间类别的负样本分布在其两侧,无法用单一线性超平面分离。</a:t>
            </a:r>
            <a:endParaRPr lang="en-US" sz="1150" dirty="0">
              <a:latin typeface="微软雅黑" panose="020B0503020204020204" charset="-122"/>
              <a:ea typeface="微软雅黑" panose="020B0503020204020204" charset="-122"/>
              <a:cs typeface="微软雅黑" panose="020B0503020204020204" charset="-122"/>
            </a:endParaRPr>
          </a:p>
        </p:txBody>
      </p:sp>
      <p:pic>
        <p:nvPicPr>
          <p:cNvPr id="24" name="Image 0" descr="preencoded.png"/>
          <p:cNvPicPr>
            <a:picLocks noChangeAspect="1"/>
          </p:cNvPicPr>
          <p:nvPr/>
        </p:nvPicPr>
        <p:blipFill>
          <a:blip r:embed="rId1"/>
          <a:stretch>
            <a:fillRect/>
          </a:stretch>
        </p:blipFill>
        <p:spPr>
          <a:xfrm>
            <a:off x="1898650" y="1553845"/>
            <a:ext cx="7726680" cy="436308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747832" y="514707"/>
            <a:ext cx="4182428" cy="522803"/>
          </a:xfrm>
          <a:prstGeom prst="rect">
            <a:avLst/>
          </a:prstGeom>
          <a:noFill/>
        </p:spPr>
        <p:txBody>
          <a:bodyPr wrap="none" lIns="0" tIns="0" rIns="0" bIns="0" rtlCol="0" anchor="t"/>
          <a:lstStyle/>
          <a:p>
            <a:pPr marL="0" indent="0" algn="l">
              <a:lnSpc>
                <a:spcPts val="4100"/>
              </a:lnSpc>
              <a:buNone/>
            </a:pPr>
            <a:r>
              <a:rPr lang="en-US" sz="3250" b="1" dirty="0">
                <a:solidFill>
                  <a:srgbClr val="2E3C4E"/>
                </a:solidFill>
                <a:latin typeface="微软雅黑" panose="020B0503020204020204" charset="-122"/>
                <a:ea typeface="微软雅黑" panose="020B0503020204020204" charset="-122"/>
                <a:cs typeface="微软雅黑" panose="020B0503020204020204" charset="-122"/>
              </a:rPr>
              <a:t>线性SVM的几何困境</a:t>
            </a:r>
            <a:endParaRPr lang="en-US" sz="3250" b="1" dirty="0">
              <a:solidFill>
                <a:srgbClr val="2E3C4E"/>
              </a:solidFill>
              <a:latin typeface="微软雅黑" panose="020B0503020204020204" charset="-122"/>
              <a:ea typeface="微软雅黑" panose="020B0503020204020204" charset="-122"/>
              <a:cs typeface="微软雅黑" panose="020B0503020204020204" charset="-122"/>
            </a:endParaRPr>
          </a:p>
        </p:txBody>
      </p:sp>
      <p:sp>
        <p:nvSpPr>
          <p:cNvPr id="4" name="Text 1"/>
          <p:cNvSpPr/>
          <p:nvPr/>
        </p:nvSpPr>
        <p:spPr>
          <a:xfrm>
            <a:off x="747832" y="1275874"/>
            <a:ext cx="158829" cy="198596"/>
          </a:xfrm>
          <a:prstGeom prst="rect">
            <a:avLst/>
          </a:prstGeom>
          <a:noFill/>
        </p:spPr>
        <p:txBody>
          <a:bodyPr wrap="none" lIns="0" tIns="0" rIns="0" bIns="0" rtlCol="0" anchor="t"/>
          <a:lstStyle/>
          <a:p>
            <a:pPr marL="0" indent="0" algn="l">
              <a:lnSpc>
                <a:spcPts val="2000"/>
              </a:lnSpc>
              <a:buNone/>
            </a:pPr>
            <a:r>
              <a:rPr lang="en-US" sz="1250" dirty="0">
                <a:solidFill>
                  <a:srgbClr val="384653"/>
                </a:solidFill>
                <a:latin typeface="微软雅黑" panose="020B0503020204020204" charset="-122"/>
                <a:ea typeface="微软雅黑" panose="020B0503020204020204" charset="-122"/>
                <a:cs typeface="Barlow Light" pitchFamily="34" charset="-120"/>
              </a:rPr>
              <a:t>01</a:t>
            </a:r>
            <a:endParaRPr lang="en-US" sz="1250" dirty="0">
              <a:solidFill>
                <a:srgbClr val="384653"/>
              </a:solidFill>
              <a:latin typeface="微软雅黑" panose="020B0503020204020204" charset="-122"/>
              <a:ea typeface="微软雅黑" panose="020B0503020204020204" charset="-122"/>
              <a:cs typeface="Barlow Light" pitchFamily="34" charset="-120"/>
            </a:endParaRPr>
          </a:p>
        </p:txBody>
      </p:sp>
      <p:pic>
        <p:nvPicPr>
          <p:cNvPr id="5" name="Image 1" descr="preencoded.png"/>
          <p:cNvPicPr>
            <a:picLocks noChangeAspect="1"/>
          </p:cNvPicPr>
          <p:nvPr/>
        </p:nvPicPr>
        <p:blipFill>
          <a:blip r:embed="rId1"/>
          <a:stretch>
            <a:fillRect/>
          </a:stretch>
        </p:blipFill>
        <p:spPr>
          <a:xfrm>
            <a:off x="747832" y="1522928"/>
            <a:ext cx="7648337" cy="22860"/>
          </a:xfrm>
          <a:prstGeom prst="rect">
            <a:avLst/>
          </a:prstGeom>
        </p:spPr>
      </p:pic>
      <p:sp>
        <p:nvSpPr>
          <p:cNvPr id="6" name="Text 2"/>
          <p:cNvSpPr/>
          <p:nvPr/>
        </p:nvSpPr>
        <p:spPr>
          <a:xfrm>
            <a:off x="747832" y="1648063"/>
            <a:ext cx="2091214" cy="261342"/>
          </a:xfrm>
          <a:prstGeom prst="rect">
            <a:avLst/>
          </a:prstGeom>
          <a:noFill/>
        </p:spPr>
        <p:txBody>
          <a:bodyPr wrap="none" lIns="0" tIns="0" rIns="0" bIns="0" rtlCol="0" anchor="t"/>
          <a:lstStyle/>
          <a:p>
            <a:pPr marL="0" indent="0" algn="l">
              <a:lnSpc>
                <a:spcPts val="2050"/>
              </a:lnSpc>
              <a:buNone/>
            </a:pPr>
            <a:r>
              <a:rPr lang="en-US" sz="1600" b="1" dirty="0">
                <a:solidFill>
                  <a:srgbClr val="384653"/>
                </a:solidFill>
                <a:latin typeface="微软雅黑" panose="020B0503020204020204" charset="-122"/>
                <a:ea typeface="微软雅黑" panose="020B0503020204020204" charset="-122"/>
                <a:cs typeface="微软雅黑" panose="020B0503020204020204" charset="-122"/>
              </a:rPr>
              <a:t>One-vs-Rest策略</a:t>
            </a:r>
            <a:endParaRPr lang="en-US" sz="1600" b="1"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7" name="Text 3"/>
          <p:cNvSpPr/>
          <p:nvPr/>
        </p:nvSpPr>
        <p:spPr>
          <a:xfrm>
            <a:off x="747832" y="2004655"/>
            <a:ext cx="7648337" cy="254317"/>
          </a:xfrm>
          <a:prstGeom prst="rect">
            <a:avLst/>
          </a:prstGeom>
          <a:noFill/>
        </p:spPr>
        <p:txBody>
          <a:bodyPr wrap="none" lIns="0" tIns="0" rIns="0" bIns="0" rtlCol="0" anchor="t"/>
          <a:lstStyle/>
          <a:p>
            <a:pPr marL="0" indent="0" algn="l">
              <a:lnSpc>
                <a:spcPts val="2000"/>
              </a:lnSpc>
              <a:buNone/>
            </a:pPr>
            <a:r>
              <a:rPr lang="en-US" sz="1250" dirty="0">
                <a:solidFill>
                  <a:srgbClr val="384653"/>
                </a:solidFill>
                <a:latin typeface="微软雅黑" panose="020B0503020204020204" charset="-122"/>
                <a:ea typeface="微软雅黑" panose="020B0503020204020204" charset="-122"/>
                <a:cs typeface="微软雅黑" panose="020B0503020204020204" charset="-122"/>
              </a:rPr>
              <a:t>训练针对Class 1的分类器时,正样本是Class 1,负样本是{0,2,3}</a:t>
            </a:r>
            <a:endParaRPr lang="en-US" sz="125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8" name="Text 4"/>
          <p:cNvSpPr/>
          <p:nvPr/>
        </p:nvSpPr>
        <p:spPr>
          <a:xfrm>
            <a:off x="747832" y="2536984"/>
            <a:ext cx="158829" cy="198596"/>
          </a:xfrm>
          <a:prstGeom prst="rect">
            <a:avLst/>
          </a:prstGeom>
          <a:noFill/>
        </p:spPr>
        <p:txBody>
          <a:bodyPr wrap="none" lIns="0" tIns="0" rIns="0" bIns="0" rtlCol="0" anchor="t"/>
          <a:lstStyle/>
          <a:p>
            <a:pPr marL="0" indent="0" algn="l">
              <a:lnSpc>
                <a:spcPts val="2000"/>
              </a:lnSpc>
              <a:buNone/>
            </a:pPr>
            <a:r>
              <a:rPr lang="en-US" sz="1250" dirty="0">
                <a:solidFill>
                  <a:srgbClr val="384653"/>
                </a:solidFill>
                <a:latin typeface="微软雅黑" panose="020B0503020204020204" charset="-122"/>
                <a:ea typeface="微软雅黑" panose="020B0503020204020204" charset="-122"/>
                <a:cs typeface="Barlow Light" pitchFamily="34" charset="-120"/>
              </a:rPr>
              <a:t>02</a:t>
            </a:r>
            <a:endParaRPr lang="en-US" sz="1250" dirty="0">
              <a:solidFill>
                <a:srgbClr val="384653"/>
              </a:solidFill>
              <a:latin typeface="微软雅黑" panose="020B0503020204020204" charset="-122"/>
              <a:ea typeface="微软雅黑" panose="020B0503020204020204" charset="-122"/>
              <a:cs typeface="Barlow Light" pitchFamily="34" charset="-120"/>
            </a:endParaRPr>
          </a:p>
        </p:txBody>
      </p:sp>
      <p:pic>
        <p:nvPicPr>
          <p:cNvPr id="9" name="Image 2" descr="preencoded.png"/>
          <p:cNvPicPr>
            <a:picLocks noChangeAspect="1"/>
          </p:cNvPicPr>
          <p:nvPr/>
        </p:nvPicPr>
        <p:blipFill>
          <a:blip r:embed="rId1"/>
          <a:stretch>
            <a:fillRect/>
          </a:stretch>
        </p:blipFill>
        <p:spPr>
          <a:xfrm>
            <a:off x="747832" y="2768203"/>
            <a:ext cx="7648337" cy="22860"/>
          </a:xfrm>
          <a:prstGeom prst="rect">
            <a:avLst/>
          </a:prstGeom>
        </p:spPr>
      </p:pic>
      <p:sp>
        <p:nvSpPr>
          <p:cNvPr id="10" name="Text 5"/>
          <p:cNvSpPr/>
          <p:nvPr/>
        </p:nvSpPr>
        <p:spPr>
          <a:xfrm>
            <a:off x="747832" y="2909173"/>
            <a:ext cx="2091214" cy="261342"/>
          </a:xfrm>
          <a:prstGeom prst="rect">
            <a:avLst/>
          </a:prstGeom>
          <a:noFill/>
        </p:spPr>
        <p:txBody>
          <a:bodyPr wrap="none" lIns="0" tIns="0" rIns="0" bIns="0" rtlCol="0" anchor="t"/>
          <a:lstStyle/>
          <a:p>
            <a:pPr marL="0" indent="0" algn="l">
              <a:lnSpc>
                <a:spcPts val="2050"/>
              </a:lnSpc>
              <a:buNone/>
            </a:pPr>
            <a:r>
              <a:rPr lang="en-US" sz="1600" b="1" dirty="0">
                <a:solidFill>
                  <a:srgbClr val="384653"/>
                </a:solidFill>
                <a:latin typeface="微软雅黑" panose="020B0503020204020204" charset="-122"/>
                <a:ea typeface="微软雅黑" panose="020B0503020204020204" charset="-122"/>
                <a:cs typeface="Barlow Bold" pitchFamily="34" charset="-120"/>
              </a:rPr>
              <a:t>负样本非凸性</a:t>
            </a:r>
            <a:endParaRPr lang="en-US" sz="1600" b="1" dirty="0">
              <a:solidFill>
                <a:srgbClr val="384653"/>
              </a:solidFill>
              <a:latin typeface="微软雅黑" panose="020B0503020204020204" charset="-122"/>
              <a:ea typeface="微软雅黑" panose="020B0503020204020204" charset="-122"/>
              <a:cs typeface="Barlow Bold" pitchFamily="34" charset="-120"/>
            </a:endParaRPr>
          </a:p>
        </p:txBody>
      </p:sp>
      <p:sp>
        <p:nvSpPr>
          <p:cNvPr id="11" name="Text 6"/>
          <p:cNvSpPr/>
          <p:nvPr/>
        </p:nvSpPr>
        <p:spPr>
          <a:xfrm>
            <a:off x="747832" y="3265765"/>
            <a:ext cx="7648337" cy="254317"/>
          </a:xfrm>
          <a:prstGeom prst="rect">
            <a:avLst/>
          </a:prstGeom>
          <a:noFill/>
        </p:spPr>
        <p:txBody>
          <a:bodyPr wrap="none" lIns="0" tIns="0" rIns="0" bIns="0" rtlCol="0" anchor="t"/>
          <a:lstStyle/>
          <a:p>
            <a:pPr marL="0" indent="0" algn="l">
              <a:lnSpc>
                <a:spcPts val="2000"/>
              </a:lnSpc>
              <a:buNone/>
            </a:pPr>
            <a:r>
              <a:rPr lang="en-US" sz="1250" dirty="0">
                <a:solidFill>
                  <a:srgbClr val="384653"/>
                </a:solidFill>
                <a:latin typeface="微软雅黑" panose="020B0503020204020204" charset="-122"/>
                <a:ea typeface="微软雅黑" panose="020B0503020204020204" charset="-122"/>
                <a:cs typeface="微软雅黑" panose="020B0503020204020204" charset="-122"/>
              </a:rPr>
              <a:t>在特征空间中,集合{0,2,3}是不连续的,分布在Class 1的两侧</a:t>
            </a:r>
            <a:endParaRPr lang="en-US" sz="125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12" name="Text 7"/>
          <p:cNvSpPr/>
          <p:nvPr/>
        </p:nvSpPr>
        <p:spPr>
          <a:xfrm>
            <a:off x="747832" y="3798094"/>
            <a:ext cx="158829" cy="198596"/>
          </a:xfrm>
          <a:prstGeom prst="rect">
            <a:avLst/>
          </a:prstGeom>
          <a:noFill/>
        </p:spPr>
        <p:txBody>
          <a:bodyPr wrap="none" lIns="0" tIns="0" rIns="0" bIns="0" rtlCol="0" anchor="t"/>
          <a:lstStyle/>
          <a:p>
            <a:pPr marL="0" indent="0" algn="l">
              <a:lnSpc>
                <a:spcPts val="2000"/>
              </a:lnSpc>
              <a:buNone/>
            </a:pPr>
            <a:r>
              <a:rPr lang="en-US" sz="1250" dirty="0">
                <a:solidFill>
                  <a:srgbClr val="384653"/>
                </a:solidFill>
                <a:latin typeface="微软雅黑" panose="020B0503020204020204" charset="-122"/>
                <a:ea typeface="微软雅黑" panose="020B0503020204020204" charset="-122"/>
                <a:cs typeface="Barlow Light" pitchFamily="34" charset="-120"/>
              </a:rPr>
              <a:t>03</a:t>
            </a:r>
            <a:endParaRPr lang="en-US" sz="1250" dirty="0">
              <a:solidFill>
                <a:srgbClr val="384653"/>
              </a:solidFill>
              <a:latin typeface="微软雅黑" panose="020B0503020204020204" charset="-122"/>
              <a:ea typeface="微软雅黑" panose="020B0503020204020204" charset="-122"/>
              <a:cs typeface="Barlow Light" pitchFamily="34" charset="-120"/>
            </a:endParaRPr>
          </a:p>
        </p:txBody>
      </p:sp>
      <p:pic>
        <p:nvPicPr>
          <p:cNvPr id="13" name="Image 3" descr="preencoded.png"/>
          <p:cNvPicPr>
            <a:picLocks noChangeAspect="1"/>
          </p:cNvPicPr>
          <p:nvPr/>
        </p:nvPicPr>
        <p:blipFill>
          <a:blip r:embed="rId1"/>
          <a:stretch>
            <a:fillRect/>
          </a:stretch>
        </p:blipFill>
        <p:spPr>
          <a:xfrm>
            <a:off x="747832" y="4013478"/>
            <a:ext cx="7648337" cy="22860"/>
          </a:xfrm>
          <a:prstGeom prst="rect">
            <a:avLst/>
          </a:prstGeom>
        </p:spPr>
      </p:pic>
      <p:sp>
        <p:nvSpPr>
          <p:cNvPr id="14" name="Text 8"/>
          <p:cNvSpPr/>
          <p:nvPr/>
        </p:nvSpPr>
        <p:spPr>
          <a:xfrm>
            <a:off x="747832" y="4170283"/>
            <a:ext cx="2091214" cy="261342"/>
          </a:xfrm>
          <a:prstGeom prst="rect">
            <a:avLst/>
          </a:prstGeom>
          <a:noFill/>
        </p:spPr>
        <p:txBody>
          <a:bodyPr wrap="none" lIns="0" tIns="0" rIns="0" bIns="0" rtlCol="0" anchor="t"/>
          <a:lstStyle/>
          <a:p>
            <a:pPr marL="0" indent="0" algn="l">
              <a:lnSpc>
                <a:spcPts val="2050"/>
              </a:lnSpc>
              <a:buNone/>
            </a:pPr>
            <a:r>
              <a:rPr lang="en-US" sz="1600" b="1" dirty="0">
                <a:solidFill>
                  <a:srgbClr val="384653"/>
                </a:solidFill>
                <a:latin typeface="微软雅黑" panose="020B0503020204020204" charset="-122"/>
                <a:ea typeface="微软雅黑" panose="020B0503020204020204" charset="-122"/>
                <a:cs typeface="Barlow Bold" pitchFamily="34" charset="-120"/>
              </a:rPr>
              <a:t>线性超平面局限</a:t>
            </a:r>
            <a:endParaRPr lang="en-US" sz="1600" b="1" dirty="0">
              <a:solidFill>
                <a:srgbClr val="384653"/>
              </a:solidFill>
              <a:latin typeface="微软雅黑" panose="020B0503020204020204" charset="-122"/>
              <a:ea typeface="微软雅黑" panose="020B0503020204020204" charset="-122"/>
              <a:cs typeface="Barlow Bold" pitchFamily="34" charset="-120"/>
            </a:endParaRPr>
          </a:p>
        </p:txBody>
      </p:sp>
      <p:sp>
        <p:nvSpPr>
          <p:cNvPr id="15" name="Text 9"/>
          <p:cNvSpPr/>
          <p:nvPr/>
        </p:nvSpPr>
        <p:spPr>
          <a:xfrm>
            <a:off x="747832" y="4526875"/>
            <a:ext cx="7648337" cy="254317"/>
          </a:xfrm>
          <a:prstGeom prst="rect">
            <a:avLst/>
          </a:prstGeom>
          <a:noFill/>
        </p:spPr>
        <p:txBody>
          <a:bodyPr wrap="none" lIns="0" tIns="0" rIns="0" bIns="0" rtlCol="0" anchor="t"/>
          <a:lstStyle/>
          <a:p>
            <a:pPr marL="0" indent="0" algn="l">
              <a:lnSpc>
                <a:spcPts val="2000"/>
              </a:lnSpc>
              <a:buNone/>
            </a:pPr>
            <a:r>
              <a:rPr lang="en-US" sz="1250" dirty="0">
                <a:solidFill>
                  <a:srgbClr val="384653"/>
                </a:solidFill>
                <a:latin typeface="微软雅黑" panose="020B0503020204020204" charset="-122"/>
                <a:ea typeface="微软雅黑" panose="020B0503020204020204" charset="-122"/>
                <a:cs typeface="微软雅黑" panose="020B0503020204020204" charset="-122"/>
              </a:rPr>
              <a:t>一个线性超平面像一把直刀,一刀切下去只能分离一侧,无法同时切除两边</a:t>
            </a:r>
            <a:endParaRPr lang="en-US" sz="125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16" name="Text 10"/>
          <p:cNvSpPr/>
          <p:nvPr/>
        </p:nvSpPr>
        <p:spPr>
          <a:xfrm>
            <a:off x="747832" y="5059204"/>
            <a:ext cx="158829" cy="198596"/>
          </a:xfrm>
          <a:prstGeom prst="rect">
            <a:avLst/>
          </a:prstGeom>
          <a:noFill/>
        </p:spPr>
        <p:txBody>
          <a:bodyPr wrap="none" lIns="0" tIns="0" rIns="0" bIns="0" rtlCol="0" anchor="t"/>
          <a:lstStyle/>
          <a:p>
            <a:pPr marL="0" indent="0" algn="l">
              <a:lnSpc>
                <a:spcPts val="2000"/>
              </a:lnSpc>
              <a:buNone/>
            </a:pPr>
            <a:r>
              <a:rPr lang="en-US" sz="1250" dirty="0">
                <a:solidFill>
                  <a:srgbClr val="384653"/>
                </a:solidFill>
                <a:latin typeface="微软雅黑" panose="020B0503020204020204" charset="-122"/>
                <a:ea typeface="微软雅黑" panose="020B0503020204020204" charset="-122"/>
                <a:cs typeface="Barlow Light" pitchFamily="34" charset="-120"/>
              </a:rPr>
              <a:t>04</a:t>
            </a:r>
            <a:endParaRPr lang="en-US" sz="1250" dirty="0">
              <a:solidFill>
                <a:srgbClr val="384653"/>
              </a:solidFill>
              <a:latin typeface="微软雅黑" panose="020B0503020204020204" charset="-122"/>
              <a:ea typeface="微软雅黑" panose="020B0503020204020204" charset="-122"/>
              <a:cs typeface="Barlow Light" pitchFamily="34" charset="-120"/>
            </a:endParaRPr>
          </a:p>
        </p:txBody>
      </p:sp>
      <p:pic>
        <p:nvPicPr>
          <p:cNvPr id="17" name="Image 4" descr="preencoded.png"/>
          <p:cNvPicPr>
            <a:picLocks noChangeAspect="1"/>
          </p:cNvPicPr>
          <p:nvPr/>
        </p:nvPicPr>
        <p:blipFill>
          <a:blip r:embed="rId1"/>
          <a:stretch>
            <a:fillRect/>
          </a:stretch>
        </p:blipFill>
        <p:spPr>
          <a:xfrm>
            <a:off x="747832" y="5258753"/>
            <a:ext cx="7648337" cy="22860"/>
          </a:xfrm>
          <a:prstGeom prst="rect">
            <a:avLst/>
          </a:prstGeom>
        </p:spPr>
      </p:pic>
      <p:sp>
        <p:nvSpPr>
          <p:cNvPr id="18" name="Text 11"/>
          <p:cNvSpPr/>
          <p:nvPr/>
        </p:nvSpPr>
        <p:spPr>
          <a:xfrm>
            <a:off x="747832" y="5431393"/>
            <a:ext cx="2091214" cy="261342"/>
          </a:xfrm>
          <a:prstGeom prst="rect">
            <a:avLst/>
          </a:prstGeom>
          <a:noFill/>
        </p:spPr>
        <p:txBody>
          <a:bodyPr wrap="none" lIns="0" tIns="0" rIns="0" bIns="0" rtlCol="0" anchor="t"/>
          <a:lstStyle/>
          <a:p>
            <a:pPr marL="0" indent="0" algn="l">
              <a:lnSpc>
                <a:spcPts val="2050"/>
              </a:lnSpc>
              <a:buNone/>
            </a:pPr>
            <a:r>
              <a:rPr lang="en-US" sz="1600" b="1" dirty="0">
                <a:solidFill>
                  <a:srgbClr val="384653"/>
                </a:solidFill>
                <a:latin typeface="微软雅黑" panose="020B0503020204020204" charset="-122"/>
                <a:ea typeface="微软雅黑" panose="020B0503020204020204" charset="-122"/>
                <a:cs typeface="Barlow Bold" pitchFamily="34" charset="-120"/>
              </a:rPr>
              <a:t>分类失败</a:t>
            </a:r>
            <a:endParaRPr lang="en-US" sz="1600" b="1" dirty="0">
              <a:solidFill>
                <a:srgbClr val="384653"/>
              </a:solidFill>
              <a:latin typeface="微软雅黑" panose="020B0503020204020204" charset="-122"/>
              <a:ea typeface="微软雅黑" panose="020B0503020204020204" charset="-122"/>
              <a:cs typeface="Barlow Bold" pitchFamily="34" charset="-120"/>
            </a:endParaRPr>
          </a:p>
        </p:txBody>
      </p:sp>
      <p:sp>
        <p:nvSpPr>
          <p:cNvPr id="19" name="Text 12"/>
          <p:cNvSpPr/>
          <p:nvPr/>
        </p:nvSpPr>
        <p:spPr>
          <a:xfrm>
            <a:off x="747832" y="5787985"/>
            <a:ext cx="7648337" cy="254317"/>
          </a:xfrm>
          <a:prstGeom prst="rect">
            <a:avLst/>
          </a:prstGeom>
          <a:noFill/>
        </p:spPr>
        <p:txBody>
          <a:bodyPr wrap="none" lIns="0" tIns="0" rIns="0" bIns="0" rtlCol="0" anchor="t"/>
          <a:lstStyle/>
          <a:p>
            <a:pPr marL="0" indent="0" algn="l">
              <a:lnSpc>
                <a:spcPts val="2000"/>
              </a:lnSpc>
              <a:buNone/>
            </a:pPr>
            <a:r>
              <a:rPr lang="en-US" sz="1250" dirty="0">
                <a:solidFill>
                  <a:srgbClr val="384653"/>
                </a:solidFill>
                <a:latin typeface="微软雅黑" panose="020B0503020204020204" charset="-122"/>
                <a:ea typeface="微软雅黑" panose="020B0503020204020204" charset="-122"/>
                <a:cs typeface="微软雅黑" panose="020B0503020204020204" charset="-122"/>
              </a:rPr>
              <a:t>要实现"中间保留1,同时切除两边的0和2",至少需要两个超平面或非线性曲面</a:t>
            </a:r>
            <a:endParaRPr lang="en-US" sz="125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20" name="Text 13"/>
          <p:cNvSpPr/>
          <p:nvPr/>
        </p:nvSpPr>
        <p:spPr>
          <a:xfrm>
            <a:off x="986195" y="6518910"/>
            <a:ext cx="7409974" cy="1017270"/>
          </a:xfrm>
          <a:prstGeom prst="rect">
            <a:avLst/>
          </a:prstGeom>
          <a:noFill/>
        </p:spPr>
        <p:txBody>
          <a:bodyPr wrap="square" lIns="0" tIns="0" rIns="0" bIns="0" rtlCol="0" anchor="t"/>
          <a:lstStyle/>
          <a:p>
            <a:pPr marL="0" indent="0" algn="l">
              <a:lnSpc>
                <a:spcPts val="2000"/>
              </a:lnSpc>
              <a:buNone/>
            </a:pPr>
            <a:r>
              <a:rPr lang="en-US" sz="1250" dirty="0">
                <a:solidFill>
                  <a:srgbClr val="384653"/>
                </a:solidFill>
                <a:latin typeface="微软雅黑" panose="020B0503020204020204" charset="-122"/>
                <a:ea typeface="微软雅黑" panose="020B0503020204020204" charset="-122"/>
                <a:cs typeface="微软雅黑" panose="020B0503020204020204" charset="-122"/>
              </a:rPr>
              <a:t>"当我们试图用SVM的One-vs-Rest策略去识别'类别1'时,模型面临的任务是:找到一个平面,把'1'分出来,同时把'0'和'2、3'归为另一类。但在几何空间上,'1'被'0'和'2'紧紧夹在中间,就像三明治的馅料。</a:t>
            </a:r>
            <a:r>
              <a:rPr lang="en-US" sz="1250" b="1" dirty="0">
                <a:solidFill>
                  <a:srgbClr val="384653"/>
                </a:solidFill>
                <a:latin typeface="微软雅黑" panose="020B0503020204020204" charset="-122"/>
                <a:ea typeface="微软雅黑" panose="020B0503020204020204" charset="-122"/>
                <a:cs typeface="微软雅黑" panose="020B0503020204020204" charset="-122"/>
              </a:rPr>
              <a:t>线性SVM只能切一刀</a:t>
            </a:r>
            <a:r>
              <a:rPr lang="en-US" sz="1250" dirty="0">
                <a:solidFill>
                  <a:srgbClr val="384653"/>
                </a:solidFill>
                <a:latin typeface="微软雅黑" panose="020B0503020204020204" charset="-122"/>
                <a:ea typeface="微软雅黑" panose="020B0503020204020204" charset="-122"/>
                <a:cs typeface="微软雅黑" panose="020B0503020204020204" charset="-122"/>
              </a:rPr>
              <a:t>,它要么切掉左边的0,要么切掉右边的2,根本无法一刀把中间的馅料完整地挖出来。这就是线性模型处理非凸集合时的</a:t>
            </a:r>
            <a:r>
              <a:rPr lang="zh-CN" altLang="en-US" sz="1250" dirty="0">
                <a:solidFill>
                  <a:srgbClr val="384653"/>
                </a:solidFill>
                <a:latin typeface="微软雅黑" panose="020B0503020204020204" charset="-122"/>
                <a:ea typeface="微软雅黑" panose="020B0503020204020204" charset="-122"/>
                <a:cs typeface="微软雅黑" panose="020B0503020204020204" charset="-122"/>
              </a:rPr>
              <a:t>困难之处</a:t>
            </a:r>
            <a:r>
              <a:rPr lang="en-US" sz="1250" dirty="0">
                <a:solidFill>
                  <a:srgbClr val="384653"/>
                </a:solidFill>
                <a:latin typeface="微软雅黑" panose="020B0503020204020204" charset="-122"/>
                <a:ea typeface="微软雅黑" panose="020B0503020204020204" charset="-122"/>
                <a:cs typeface="微软雅黑" panose="020B0503020204020204" charset="-122"/>
              </a:rPr>
              <a:t>。"</a:t>
            </a:r>
            <a:endParaRPr lang="en-US" sz="1250" dirty="0">
              <a:latin typeface="微软雅黑" panose="020B0503020204020204" charset="-122"/>
              <a:ea typeface="微软雅黑" panose="020B0503020204020204" charset="-122"/>
              <a:cs typeface="微软雅黑" panose="020B0503020204020204" charset="-122"/>
            </a:endParaRPr>
          </a:p>
        </p:txBody>
      </p:sp>
      <p:sp>
        <p:nvSpPr>
          <p:cNvPr id="21" name="Shape 14"/>
          <p:cNvSpPr/>
          <p:nvPr/>
        </p:nvSpPr>
        <p:spPr>
          <a:xfrm>
            <a:off x="747832" y="6276856"/>
            <a:ext cx="22860" cy="1374696"/>
          </a:xfrm>
          <a:prstGeom prst="rect">
            <a:avLst/>
          </a:prstGeom>
          <a:solidFill>
            <a:srgbClr val="75BAE6"/>
          </a:solidFill>
        </p:spPr>
      </p:sp>
      <p:pic>
        <p:nvPicPr>
          <p:cNvPr id="25" name="图片 24"/>
          <p:cNvPicPr>
            <a:picLocks noChangeAspect="1"/>
          </p:cNvPicPr>
          <p:nvPr/>
        </p:nvPicPr>
        <p:blipFill>
          <a:blip r:embed="rId2"/>
          <a:stretch>
            <a:fillRect/>
          </a:stretch>
        </p:blipFill>
        <p:spPr>
          <a:xfrm>
            <a:off x="8171815" y="1037590"/>
            <a:ext cx="5972175" cy="2133600"/>
          </a:xfrm>
          <a:prstGeom prst="rect">
            <a:avLst/>
          </a:prstGeom>
        </p:spPr>
      </p:pic>
      <p:pic>
        <p:nvPicPr>
          <p:cNvPr id="26" name="图片 25"/>
          <p:cNvPicPr>
            <a:picLocks noChangeAspect="1"/>
          </p:cNvPicPr>
          <p:nvPr/>
        </p:nvPicPr>
        <p:blipFill>
          <a:blip r:embed="rId3"/>
          <a:stretch>
            <a:fillRect/>
          </a:stretch>
        </p:blipFill>
        <p:spPr>
          <a:xfrm>
            <a:off x="8171815" y="3509010"/>
            <a:ext cx="5878830" cy="267144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47090" y="658773"/>
            <a:ext cx="4744720" cy="313690"/>
          </a:xfrm>
          <a:prstGeom prst="rect">
            <a:avLst/>
          </a:prstGeom>
          <a:noFill/>
        </p:spPr>
        <p:txBody>
          <a:bodyPr wrap="none" lIns="0" tIns="0" rIns="0" bIns="0" rtlCol="0" anchor="t">
            <a:noAutofit/>
          </a:bodyPr>
          <a:lstStyle/>
          <a:p>
            <a:pPr marL="0" indent="0" algn="l">
              <a:lnSpc>
                <a:spcPts val="2450"/>
              </a:lnSpc>
              <a:buNone/>
            </a:pPr>
            <a:r>
              <a:rPr lang="en-US" sz="3200" b="1" dirty="0">
                <a:solidFill>
                  <a:srgbClr val="2E3C4E"/>
                </a:solidFill>
                <a:latin typeface="微软雅黑" panose="020B0503020204020204" charset="-122"/>
                <a:ea typeface="微软雅黑" panose="020B0503020204020204" charset="-122"/>
                <a:cs typeface="微软雅黑" panose="020B0503020204020204" charset="-122"/>
              </a:rPr>
              <a:t>KNN的局部优势:距离投票</a:t>
            </a:r>
            <a:endParaRPr lang="en-US" sz="3200" b="1" dirty="0">
              <a:solidFill>
                <a:srgbClr val="2E3C4E"/>
              </a:solidFill>
              <a:latin typeface="微软雅黑" panose="020B0503020204020204" charset="-122"/>
              <a:ea typeface="微软雅黑" panose="020B0503020204020204" charset="-122"/>
              <a:cs typeface="微软雅黑" panose="020B0503020204020204" charset="-122"/>
            </a:endParaRPr>
          </a:p>
        </p:txBody>
      </p:sp>
      <p:sp>
        <p:nvSpPr>
          <p:cNvPr id="4" name="Text 1"/>
          <p:cNvSpPr/>
          <p:nvPr/>
        </p:nvSpPr>
        <p:spPr>
          <a:xfrm>
            <a:off x="847090" y="1618972"/>
            <a:ext cx="914400" cy="185420"/>
          </a:xfrm>
          <a:prstGeom prst="rect">
            <a:avLst/>
          </a:prstGeom>
          <a:noFill/>
        </p:spPr>
        <p:txBody>
          <a:bodyPr wrap="none" lIns="0" tIns="0" rIns="0" bIns="0" rtlCol="0" anchor="t">
            <a:noAutofit/>
          </a:bodyPr>
          <a:lstStyle/>
          <a:p>
            <a:pPr marL="0" indent="0" algn="l">
              <a:lnSpc>
                <a:spcPts val="1450"/>
              </a:lnSpc>
              <a:buNone/>
            </a:pPr>
            <a:r>
              <a:rPr lang="en-US" b="1" dirty="0">
                <a:solidFill>
                  <a:srgbClr val="2E3C4E"/>
                </a:solidFill>
                <a:latin typeface="微软雅黑" panose="020B0503020204020204" charset="-122"/>
                <a:ea typeface="微软雅黑" panose="020B0503020204020204" charset="-122"/>
                <a:cs typeface="Barlow Bold" pitchFamily="34" charset="-120"/>
              </a:rPr>
              <a:t>性能表现</a:t>
            </a:r>
            <a:endParaRPr lang="en-US" b="1" dirty="0">
              <a:solidFill>
                <a:srgbClr val="2E3C4E"/>
              </a:solidFill>
              <a:latin typeface="微软雅黑" panose="020B0503020204020204" charset="-122"/>
              <a:ea typeface="微软雅黑" panose="020B0503020204020204" charset="-122"/>
              <a:cs typeface="Barlow Bold" pitchFamily="34" charset="-120"/>
            </a:endParaRPr>
          </a:p>
        </p:txBody>
      </p:sp>
      <p:sp>
        <p:nvSpPr>
          <p:cNvPr id="5" name="Text 2"/>
          <p:cNvSpPr/>
          <p:nvPr/>
        </p:nvSpPr>
        <p:spPr>
          <a:xfrm>
            <a:off x="847090" y="1900793"/>
            <a:ext cx="4449445" cy="147320"/>
          </a:xfrm>
          <a:prstGeom prst="rect">
            <a:avLst/>
          </a:prstGeom>
          <a:noFill/>
        </p:spPr>
        <p:txBody>
          <a:bodyPr wrap="none" lIns="0" tIns="0" rIns="0" bIns="0" rtlCol="0" anchor="t">
            <a:noAutofit/>
          </a:bodyPr>
          <a:lstStyle/>
          <a:p>
            <a:pPr marL="0" indent="0" algn="l">
              <a:lnSpc>
                <a:spcPts val="1150"/>
              </a:lnSpc>
              <a:buNone/>
            </a:pPr>
            <a:r>
              <a:rPr lang="en-US" sz="1200" dirty="0">
                <a:solidFill>
                  <a:srgbClr val="384653"/>
                </a:solidFill>
                <a:latin typeface="微软雅黑" panose="020B0503020204020204" charset="-122"/>
                <a:ea typeface="微软雅黑" panose="020B0503020204020204" charset="-122"/>
                <a:cs typeface="微软雅黑" panose="020B0503020204020204" charset="-122"/>
              </a:rPr>
              <a:t>KNN 的准确率达到 </a:t>
            </a:r>
            <a:r>
              <a:rPr lang="en-US" sz="1200" b="1" dirty="0">
                <a:solidFill>
                  <a:srgbClr val="384653"/>
                </a:solidFill>
                <a:latin typeface="微软雅黑" panose="020B0503020204020204" charset="-122"/>
                <a:ea typeface="微软雅黑" panose="020B0503020204020204" charset="-122"/>
                <a:cs typeface="微软雅黑" panose="020B0503020204020204" charset="-122"/>
              </a:rPr>
              <a:t>75%</a:t>
            </a:r>
            <a:r>
              <a:rPr lang="en-US" sz="1200" dirty="0">
                <a:solidFill>
                  <a:srgbClr val="384653"/>
                </a:solidFill>
                <a:latin typeface="微软雅黑" panose="020B0503020204020204" charset="-122"/>
                <a:ea typeface="微软雅黑" panose="020B0503020204020204" charset="-122"/>
                <a:cs typeface="微软雅黑" panose="020B0503020204020204" charset="-122"/>
              </a:rPr>
              <a:t>，明显优于 SVM 的 65%，位居第二名。</a:t>
            </a:r>
            <a:endParaRPr lang="en-US" sz="120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6" name="Text 3"/>
          <p:cNvSpPr/>
          <p:nvPr/>
        </p:nvSpPr>
        <p:spPr>
          <a:xfrm>
            <a:off x="847090" y="2367478"/>
            <a:ext cx="914400" cy="185420"/>
          </a:xfrm>
          <a:prstGeom prst="rect">
            <a:avLst/>
          </a:prstGeom>
          <a:noFill/>
        </p:spPr>
        <p:txBody>
          <a:bodyPr wrap="none" lIns="0" tIns="0" rIns="0" bIns="0" rtlCol="0" anchor="t">
            <a:noAutofit/>
          </a:bodyPr>
          <a:lstStyle/>
          <a:p>
            <a:pPr marL="0" indent="0" algn="l">
              <a:lnSpc>
                <a:spcPts val="1450"/>
              </a:lnSpc>
              <a:buNone/>
            </a:pPr>
            <a:r>
              <a:rPr lang="en-US" b="1" dirty="0">
                <a:solidFill>
                  <a:srgbClr val="2E3C4E"/>
                </a:solidFill>
                <a:latin typeface="微软雅黑" panose="020B0503020204020204" charset="-122"/>
                <a:ea typeface="微软雅黑" panose="020B0503020204020204" charset="-122"/>
                <a:cs typeface="Barlow Bold" pitchFamily="34" charset="-120"/>
              </a:rPr>
              <a:t>工作原理</a:t>
            </a:r>
            <a:endParaRPr lang="en-US" b="1" dirty="0">
              <a:solidFill>
                <a:srgbClr val="2E3C4E"/>
              </a:solidFill>
              <a:latin typeface="微软雅黑" panose="020B0503020204020204" charset="-122"/>
              <a:ea typeface="微软雅黑" panose="020B0503020204020204" charset="-122"/>
              <a:cs typeface="Barlow Bold" pitchFamily="34" charset="-120"/>
            </a:endParaRPr>
          </a:p>
        </p:txBody>
      </p:sp>
      <p:sp>
        <p:nvSpPr>
          <p:cNvPr id="7" name="Text 4"/>
          <p:cNvSpPr/>
          <p:nvPr/>
        </p:nvSpPr>
        <p:spPr>
          <a:xfrm>
            <a:off x="847090" y="2649299"/>
            <a:ext cx="6923405" cy="294640"/>
          </a:xfrm>
          <a:prstGeom prst="rect">
            <a:avLst/>
          </a:prstGeom>
          <a:noFill/>
        </p:spPr>
        <p:txBody>
          <a:bodyPr wrap="none" lIns="0" tIns="0" rIns="0" bIns="0" rtlCol="0" anchor="t">
            <a:noAutofit/>
          </a:bodyPr>
          <a:lstStyle/>
          <a:p>
            <a:pPr marL="0" indent="0" algn="l">
              <a:lnSpc>
                <a:spcPts val="1150"/>
              </a:lnSpc>
              <a:buNone/>
            </a:pPr>
            <a:r>
              <a:rPr lang="en-US" sz="1200" dirty="0">
                <a:solidFill>
                  <a:srgbClr val="384653"/>
                </a:solidFill>
                <a:latin typeface="微软雅黑" panose="020B0503020204020204" charset="-122"/>
                <a:ea typeface="微软雅黑" panose="020B0503020204020204" charset="-122"/>
                <a:cs typeface="微软雅黑" panose="020B0503020204020204" charset="-122"/>
              </a:rPr>
              <a:t>KNN 是基于</a:t>
            </a:r>
            <a:r>
              <a:rPr lang="en-US" sz="1200" b="1" dirty="0">
                <a:solidFill>
                  <a:srgbClr val="384653"/>
                </a:solidFill>
                <a:latin typeface="微软雅黑" panose="020B0503020204020204" charset="-122"/>
                <a:ea typeface="微软雅黑" panose="020B0503020204020204" charset="-122"/>
                <a:cs typeface="微软雅黑" panose="020B0503020204020204" charset="-122"/>
              </a:rPr>
              <a:t>局部距离</a:t>
            </a:r>
            <a:r>
              <a:rPr lang="en-US" sz="1200" dirty="0">
                <a:solidFill>
                  <a:srgbClr val="384653"/>
                </a:solidFill>
                <a:latin typeface="微软雅黑" panose="020B0503020204020204" charset="-122"/>
                <a:ea typeface="微软雅黑" panose="020B0503020204020204" charset="-122"/>
                <a:cs typeface="微软雅黑" panose="020B0503020204020204" charset="-122"/>
              </a:rPr>
              <a:t>的非参数模型。它不需要寻找全局线性的决策边界，而是通过"</a:t>
            </a:r>
            <a:r>
              <a:rPr lang="en-US" sz="1200" b="1" dirty="0">
                <a:solidFill>
                  <a:srgbClr val="384653"/>
                </a:solidFill>
                <a:latin typeface="微软雅黑" panose="020B0503020204020204" charset="-122"/>
                <a:ea typeface="微软雅黑" panose="020B0503020204020204" charset="-122"/>
                <a:cs typeface="微软雅黑" panose="020B0503020204020204" charset="-122"/>
              </a:rPr>
              <a:t>近朱者赤</a:t>
            </a:r>
            <a:r>
              <a:rPr lang="en-US" sz="1200" dirty="0">
                <a:solidFill>
                  <a:srgbClr val="384653"/>
                </a:solidFill>
                <a:latin typeface="微软雅黑" panose="020B0503020204020204" charset="-122"/>
                <a:ea typeface="微软雅黑" panose="020B0503020204020204" charset="-122"/>
                <a:cs typeface="微软雅黑" panose="020B0503020204020204" charset="-122"/>
              </a:rPr>
              <a:t>"的原理，</a:t>
            </a:r>
            <a:endParaRPr lang="en-US" sz="1200" dirty="0">
              <a:solidFill>
                <a:srgbClr val="384653"/>
              </a:solidFill>
              <a:latin typeface="微软雅黑" panose="020B0503020204020204" charset="-122"/>
              <a:ea typeface="微软雅黑" panose="020B0503020204020204" charset="-122"/>
              <a:cs typeface="微软雅黑" panose="020B0503020204020204" charset="-122"/>
            </a:endParaRPr>
          </a:p>
          <a:p>
            <a:pPr marL="0" indent="0" algn="l">
              <a:lnSpc>
                <a:spcPts val="1150"/>
              </a:lnSpc>
              <a:buNone/>
            </a:pPr>
            <a:r>
              <a:rPr lang="en-US" sz="1200" dirty="0">
                <a:solidFill>
                  <a:srgbClr val="384653"/>
                </a:solidFill>
                <a:latin typeface="微软雅黑" panose="020B0503020204020204" charset="-122"/>
                <a:ea typeface="微软雅黑" panose="020B0503020204020204" charset="-122"/>
                <a:cs typeface="微软雅黑" panose="020B0503020204020204" charset="-122"/>
              </a:rPr>
              <a:t>依据样本周围的邻居进行投票。</a:t>
            </a:r>
            <a:endParaRPr lang="en-US" sz="120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8" name="Text 5"/>
          <p:cNvSpPr/>
          <p:nvPr/>
        </p:nvSpPr>
        <p:spPr>
          <a:xfrm>
            <a:off x="847090" y="3116620"/>
            <a:ext cx="914400" cy="185420"/>
          </a:xfrm>
          <a:prstGeom prst="rect">
            <a:avLst/>
          </a:prstGeom>
          <a:noFill/>
        </p:spPr>
        <p:txBody>
          <a:bodyPr wrap="none" lIns="0" tIns="0" rIns="0" bIns="0" rtlCol="0" anchor="t">
            <a:noAutofit/>
          </a:bodyPr>
          <a:lstStyle/>
          <a:p>
            <a:pPr marL="0" indent="0" algn="l">
              <a:lnSpc>
                <a:spcPts val="1450"/>
              </a:lnSpc>
              <a:buNone/>
            </a:pPr>
            <a:r>
              <a:rPr lang="en-US" b="1" dirty="0">
                <a:solidFill>
                  <a:srgbClr val="2E3C4E"/>
                </a:solidFill>
                <a:latin typeface="微软雅黑" panose="020B0503020204020204" charset="-122"/>
                <a:ea typeface="微软雅黑" panose="020B0503020204020204" charset="-122"/>
                <a:cs typeface="Barlow Bold" pitchFamily="34" charset="-120"/>
              </a:rPr>
              <a:t>优势分析</a:t>
            </a:r>
            <a:endParaRPr lang="en-US" b="1" dirty="0">
              <a:solidFill>
                <a:srgbClr val="2E3C4E"/>
              </a:solidFill>
              <a:latin typeface="微软雅黑" panose="020B0503020204020204" charset="-122"/>
              <a:ea typeface="微软雅黑" panose="020B0503020204020204" charset="-122"/>
              <a:cs typeface="Barlow Bold" pitchFamily="34" charset="-120"/>
            </a:endParaRPr>
          </a:p>
        </p:txBody>
      </p:sp>
      <p:sp>
        <p:nvSpPr>
          <p:cNvPr id="9" name="Text 6"/>
          <p:cNvSpPr/>
          <p:nvPr/>
        </p:nvSpPr>
        <p:spPr>
          <a:xfrm>
            <a:off x="847090" y="3398441"/>
            <a:ext cx="2520315" cy="147320"/>
          </a:xfrm>
          <a:prstGeom prst="rect">
            <a:avLst/>
          </a:prstGeom>
          <a:noFill/>
        </p:spPr>
        <p:txBody>
          <a:bodyPr wrap="none" lIns="0" tIns="0" rIns="0" bIns="0" rtlCol="0" anchor="t">
            <a:noAutofit/>
          </a:bodyPr>
          <a:lstStyle/>
          <a:p>
            <a:pPr marL="0" indent="0" algn="l">
              <a:lnSpc>
                <a:spcPts val="1150"/>
              </a:lnSpc>
              <a:buSzPct val="100000"/>
              <a:buNone/>
            </a:pPr>
            <a:r>
              <a:rPr lang="en-US" sz="1200" b="1" dirty="0">
                <a:solidFill>
                  <a:srgbClr val="384653"/>
                </a:solidFill>
                <a:latin typeface="微软雅黑" panose="020B0503020204020204" charset="-122"/>
                <a:ea typeface="微软雅黑" panose="020B0503020204020204" charset="-122"/>
                <a:cs typeface="微软雅黑" panose="020B0503020204020204" charset="-122"/>
              </a:rPr>
              <a:t>非线性适应能力</a:t>
            </a:r>
            <a:r>
              <a:rPr lang="en-US" sz="1200" dirty="0">
                <a:solidFill>
                  <a:srgbClr val="384653"/>
                </a:solidFill>
                <a:latin typeface="微软雅黑" panose="020B0503020204020204" charset="-122"/>
                <a:ea typeface="微软雅黑" panose="020B0503020204020204" charset="-122"/>
                <a:cs typeface="微软雅黑" panose="020B0503020204020204" charset="-122"/>
              </a:rPr>
              <a:t>: 不依赖全局决策边界</a:t>
            </a:r>
            <a:endParaRPr lang="en-US" sz="120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10" name="Text 7"/>
          <p:cNvSpPr/>
          <p:nvPr/>
        </p:nvSpPr>
        <p:spPr>
          <a:xfrm>
            <a:off x="847090" y="3583107"/>
            <a:ext cx="2520315" cy="147320"/>
          </a:xfrm>
          <a:prstGeom prst="rect">
            <a:avLst/>
          </a:prstGeom>
          <a:noFill/>
        </p:spPr>
        <p:txBody>
          <a:bodyPr wrap="none" lIns="0" tIns="0" rIns="0" bIns="0" rtlCol="0" anchor="t">
            <a:noAutofit/>
          </a:bodyPr>
          <a:lstStyle/>
          <a:p>
            <a:pPr marL="0" indent="0" algn="l">
              <a:lnSpc>
                <a:spcPts val="1150"/>
              </a:lnSpc>
              <a:buSzPct val="100000"/>
              <a:buNone/>
            </a:pPr>
            <a:r>
              <a:rPr lang="en-US" sz="1200" b="1" dirty="0">
                <a:solidFill>
                  <a:srgbClr val="384653"/>
                </a:solidFill>
                <a:latin typeface="微软雅黑" panose="020B0503020204020204" charset="-122"/>
                <a:ea typeface="微软雅黑" panose="020B0503020204020204" charset="-122"/>
                <a:cs typeface="微软雅黑" panose="020B0503020204020204" charset="-122"/>
              </a:rPr>
              <a:t>局部敏感性</a:t>
            </a:r>
            <a:r>
              <a:rPr lang="en-US" sz="1200" dirty="0">
                <a:solidFill>
                  <a:srgbClr val="384653"/>
                </a:solidFill>
                <a:latin typeface="微软雅黑" panose="020B0503020204020204" charset="-122"/>
                <a:ea typeface="微软雅黑" panose="020B0503020204020204" charset="-122"/>
                <a:cs typeface="微软雅黑" panose="020B0503020204020204" charset="-122"/>
              </a:rPr>
              <a:t>: 能够捕捉数据的局部结构</a:t>
            </a:r>
            <a:endParaRPr lang="en-US" sz="120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11" name="Text 8"/>
          <p:cNvSpPr/>
          <p:nvPr/>
        </p:nvSpPr>
        <p:spPr>
          <a:xfrm>
            <a:off x="847090" y="3767773"/>
            <a:ext cx="2977515" cy="147320"/>
          </a:xfrm>
          <a:prstGeom prst="rect">
            <a:avLst/>
          </a:prstGeom>
          <a:noFill/>
        </p:spPr>
        <p:txBody>
          <a:bodyPr wrap="none" lIns="0" tIns="0" rIns="0" bIns="0" rtlCol="0" anchor="t">
            <a:noAutofit/>
          </a:bodyPr>
          <a:lstStyle/>
          <a:p>
            <a:pPr marL="0" indent="0" algn="l">
              <a:lnSpc>
                <a:spcPts val="1150"/>
              </a:lnSpc>
              <a:buSzPct val="100000"/>
              <a:buNone/>
            </a:pPr>
            <a:r>
              <a:rPr lang="en-US" sz="1200" b="1" dirty="0">
                <a:solidFill>
                  <a:srgbClr val="384653"/>
                </a:solidFill>
                <a:latin typeface="微软雅黑" panose="020B0503020204020204" charset="-122"/>
                <a:ea typeface="微软雅黑" panose="020B0503020204020204" charset="-122"/>
                <a:cs typeface="微软雅黑" panose="020B0503020204020204" charset="-122"/>
              </a:rPr>
              <a:t>无偏预测</a:t>
            </a:r>
            <a:r>
              <a:rPr lang="en-US" sz="1200" dirty="0">
                <a:solidFill>
                  <a:srgbClr val="384653"/>
                </a:solidFill>
                <a:latin typeface="微软雅黑" panose="020B0503020204020204" charset="-122"/>
                <a:ea typeface="微软雅黑" panose="020B0503020204020204" charset="-122"/>
                <a:cs typeface="微软雅黑" panose="020B0503020204020204" charset="-122"/>
              </a:rPr>
              <a:t>: 没有表现出对中间类别的预测偏见</a:t>
            </a:r>
            <a:endParaRPr lang="en-US" sz="120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12" name="Text 9"/>
          <p:cNvSpPr/>
          <p:nvPr/>
        </p:nvSpPr>
        <p:spPr>
          <a:xfrm>
            <a:off x="847090" y="3952438"/>
            <a:ext cx="2707005" cy="147320"/>
          </a:xfrm>
          <a:prstGeom prst="rect">
            <a:avLst/>
          </a:prstGeom>
          <a:noFill/>
        </p:spPr>
        <p:txBody>
          <a:bodyPr wrap="none" lIns="0" tIns="0" rIns="0" bIns="0" rtlCol="0" anchor="t">
            <a:noAutofit/>
          </a:bodyPr>
          <a:lstStyle/>
          <a:p>
            <a:pPr marL="0" indent="0" algn="l">
              <a:lnSpc>
                <a:spcPts val="1150"/>
              </a:lnSpc>
              <a:buSzPct val="100000"/>
              <a:buNone/>
            </a:pPr>
            <a:r>
              <a:rPr lang="en-US" sz="1200" b="1" dirty="0">
                <a:solidFill>
                  <a:srgbClr val="384653"/>
                </a:solidFill>
                <a:latin typeface="微软雅黑" panose="020B0503020204020204" charset="-122"/>
                <a:ea typeface="微软雅黑" panose="020B0503020204020204" charset="-122"/>
                <a:cs typeface="微软雅黑" panose="020B0503020204020204" charset="-122"/>
              </a:rPr>
              <a:t>灵活性</a:t>
            </a:r>
            <a:r>
              <a:rPr lang="en-US" sz="1200" dirty="0">
                <a:solidFill>
                  <a:srgbClr val="384653"/>
                </a:solidFill>
                <a:latin typeface="微软雅黑" panose="020B0503020204020204" charset="-122"/>
                <a:ea typeface="微软雅黑" panose="020B0503020204020204" charset="-122"/>
                <a:cs typeface="微软雅黑" panose="020B0503020204020204" charset="-122"/>
              </a:rPr>
              <a:t>: 通过调整 K 值适应不同数据分布</a:t>
            </a:r>
            <a:endParaRPr lang="en-US" sz="120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13" name="Text 10"/>
          <p:cNvSpPr/>
          <p:nvPr/>
        </p:nvSpPr>
        <p:spPr>
          <a:xfrm>
            <a:off x="847130" y="4557752"/>
            <a:ext cx="2332990" cy="185420"/>
          </a:xfrm>
          <a:prstGeom prst="rect">
            <a:avLst/>
          </a:prstGeom>
          <a:noFill/>
        </p:spPr>
        <p:txBody>
          <a:bodyPr wrap="none" lIns="0" tIns="0" rIns="0" bIns="0" rtlCol="0" anchor="t">
            <a:noAutofit/>
          </a:bodyPr>
          <a:lstStyle/>
          <a:p>
            <a:pPr marL="0" indent="0" algn="l">
              <a:lnSpc>
                <a:spcPts val="1450"/>
              </a:lnSpc>
              <a:buNone/>
            </a:pPr>
            <a:r>
              <a:rPr lang="en-US" b="1" dirty="0">
                <a:solidFill>
                  <a:srgbClr val="2E3C4E"/>
                </a:solidFill>
                <a:latin typeface="微软雅黑" panose="020B0503020204020204" charset="-122"/>
                <a:ea typeface="微软雅黑" panose="020B0503020204020204" charset="-122"/>
                <a:cs typeface="微软雅黑" panose="020B0503020204020204" charset="-122"/>
              </a:rPr>
              <a:t>为什么KNN优于SVM?</a:t>
            </a:r>
            <a:endParaRPr lang="en-US" b="1" dirty="0">
              <a:solidFill>
                <a:srgbClr val="2E3C4E"/>
              </a:solidFill>
              <a:latin typeface="微软雅黑" panose="020B0503020204020204" charset="-122"/>
              <a:ea typeface="微软雅黑" panose="020B0503020204020204" charset="-122"/>
              <a:cs typeface="微软雅黑" panose="020B0503020204020204" charset="-122"/>
            </a:endParaRPr>
          </a:p>
        </p:txBody>
      </p:sp>
      <p:sp>
        <p:nvSpPr>
          <p:cNvPr id="14" name="Text 11"/>
          <p:cNvSpPr/>
          <p:nvPr/>
        </p:nvSpPr>
        <p:spPr>
          <a:xfrm>
            <a:off x="847130" y="4839573"/>
            <a:ext cx="10055860" cy="147320"/>
          </a:xfrm>
          <a:prstGeom prst="rect">
            <a:avLst/>
          </a:prstGeom>
          <a:noFill/>
        </p:spPr>
        <p:txBody>
          <a:bodyPr wrap="none" lIns="0" tIns="0" rIns="0" bIns="0" rtlCol="0" anchor="t">
            <a:noAutofit/>
          </a:bodyPr>
          <a:lstStyle/>
          <a:p>
            <a:pPr marL="0" indent="0" algn="l">
              <a:lnSpc>
                <a:spcPts val="1150"/>
              </a:lnSpc>
              <a:buNone/>
            </a:pPr>
            <a:r>
              <a:rPr lang="en-US" sz="1200" dirty="0">
                <a:solidFill>
                  <a:srgbClr val="384653"/>
                </a:solidFill>
                <a:latin typeface="微软雅黑" panose="020B0503020204020204" charset="-122"/>
                <a:ea typeface="微软雅黑" panose="020B0503020204020204" charset="-122"/>
                <a:cs typeface="微软雅黑" panose="020B0503020204020204" charset="-122"/>
              </a:rPr>
              <a:t>KNN 能够较好地适应非线性的数据分布。在"三明治"分布中，KNN 通过局部投票机制，可以在每个区域独立做出决策，而不受全局线性约束的限制。</a:t>
            </a:r>
            <a:endParaRPr lang="en-US" sz="120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15" name="Text 12"/>
          <p:cNvSpPr/>
          <p:nvPr/>
        </p:nvSpPr>
        <p:spPr>
          <a:xfrm>
            <a:off x="847130" y="5286573"/>
            <a:ext cx="914400" cy="185420"/>
          </a:xfrm>
          <a:prstGeom prst="rect">
            <a:avLst/>
          </a:prstGeom>
          <a:noFill/>
        </p:spPr>
        <p:txBody>
          <a:bodyPr wrap="none" lIns="0" tIns="0" rIns="0" bIns="0" rtlCol="0" anchor="t">
            <a:noAutofit/>
          </a:bodyPr>
          <a:lstStyle/>
          <a:p>
            <a:pPr marL="0" indent="0" algn="l">
              <a:lnSpc>
                <a:spcPts val="1450"/>
              </a:lnSpc>
              <a:buNone/>
            </a:pPr>
            <a:r>
              <a:rPr lang="en-US" b="1" dirty="0">
                <a:solidFill>
                  <a:srgbClr val="2E3C4E"/>
                </a:solidFill>
                <a:latin typeface="微软雅黑" panose="020B0503020204020204" charset="-122"/>
                <a:ea typeface="微软雅黑" panose="020B0503020204020204" charset="-122"/>
                <a:cs typeface="Barlow Bold" pitchFamily="34" charset="-120"/>
              </a:rPr>
              <a:t>性能瓶颈</a:t>
            </a:r>
            <a:endParaRPr lang="en-US" b="1" dirty="0">
              <a:solidFill>
                <a:srgbClr val="2E3C4E"/>
              </a:solidFill>
              <a:latin typeface="微软雅黑" panose="020B0503020204020204" charset="-122"/>
              <a:ea typeface="微软雅黑" panose="020B0503020204020204" charset="-122"/>
              <a:cs typeface="Barlow Bold" pitchFamily="34" charset="-120"/>
            </a:endParaRPr>
          </a:p>
        </p:txBody>
      </p:sp>
      <p:sp>
        <p:nvSpPr>
          <p:cNvPr id="16" name="Text 13"/>
          <p:cNvSpPr/>
          <p:nvPr/>
        </p:nvSpPr>
        <p:spPr>
          <a:xfrm>
            <a:off x="847130" y="5568394"/>
            <a:ext cx="9530715" cy="147320"/>
          </a:xfrm>
          <a:prstGeom prst="rect">
            <a:avLst/>
          </a:prstGeom>
          <a:noFill/>
        </p:spPr>
        <p:txBody>
          <a:bodyPr wrap="none" lIns="0" tIns="0" rIns="0" bIns="0" rtlCol="0" anchor="t">
            <a:noAutofit/>
          </a:bodyPr>
          <a:lstStyle/>
          <a:p>
            <a:pPr marL="0" indent="0" algn="l">
              <a:lnSpc>
                <a:spcPts val="1150"/>
              </a:lnSpc>
              <a:buNone/>
            </a:pPr>
            <a:r>
              <a:rPr lang="en-US" sz="1200" b="1" dirty="0">
                <a:solidFill>
                  <a:srgbClr val="384653"/>
                </a:solidFill>
                <a:latin typeface="微软雅黑" panose="020B0503020204020204" charset="-122"/>
                <a:ea typeface="微软雅黑" panose="020B0503020204020204" charset="-122"/>
                <a:cs typeface="微软雅黑" panose="020B0503020204020204" charset="-122"/>
              </a:rPr>
              <a:t>对噪声特征敏感</a:t>
            </a:r>
            <a:r>
              <a:rPr lang="en-US" sz="1200" dirty="0">
                <a:solidFill>
                  <a:srgbClr val="384653"/>
                </a:solidFill>
                <a:latin typeface="微软雅黑" panose="020B0503020204020204" charset="-122"/>
                <a:ea typeface="微软雅黑" panose="020B0503020204020204" charset="-122"/>
                <a:cs typeface="微软雅黑" panose="020B0503020204020204" charset="-122"/>
              </a:rPr>
              <a:t>: 如果数据集中存在与价格无关的特征（如手机厚度、重量等），计算欧氏距离时会引入干扰，限制了其准确率的进一步提升。</a:t>
            </a:r>
            <a:endParaRPr lang="en-US" sz="120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17" name="Text 14"/>
          <p:cNvSpPr/>
          <p:nvPr/>
        </p:nvSpPr>
        <p:spPr>
          <a:xfrm>
            <a:off x="847130" y="6065560"/>
            <a:ext cx="1828800" cy="185420"/>
          </a:xfrm>
          <a:prstGeom prst="rect">
            <a:avLst/>
          </a:prstGeom>
          <a:noFill/>
        </p:spPr>
        <p:txBody>
          <a:bodyPr wrap="none" lIns="0" tIns="0" rIns="0" bIns="0" rtlCol="0" anchor="t">
            <a:noAutofit/>
          </a:bodyPr>
          <a:lstStyle/>
          <a:p>
            <a:pPr marL="0" indent="0" algn="l">
              <a:lnSpc>
                <a:spcPts val="1450"/>
              </a:lnSpc>
              <a:buNone/>
            </a:pPr>
            <a:r>
              <a:rPr lang="en-US" b="1" dirty="0">
                <a:solidFill>
                  <a:srgbClr val="2E3C4E"/>
                </a:solidFill>
                <a:latin typeface="微软雅黑" panose="020B0503020204020204" charset="-122"/>
                <a:ea typeface="微软雅黑" panose="020B0503020204020204" charset="-122"/>
                <a:cs typeface="Barlow Bold" pitchFamily="34" charset="-120"/>
              </a:rPr>
              <a:t>与随机森林的差距</a:t>
            </a:r>
            <a:endParaRPr lang="en-US" b="1" dirty="0">
              <a:solidFill>
                <a:srgbClr val="2E3C4E"/>
              </a:solidFill>
              <a:latin typeface="微软雅黑" panose="020B0503020204020204" charset="-122"/>
              <a:ea typeface="微软雅黑" panose="020B0503020204020204" charset="-122"/>
              <a:cs typeface="Barlow Bold" pitchFamily="34" charset="-120"/>
            </a:endParaRPr>
          </a:p>
        </p:txBody>
      </p:sp>
      <p:sp>
        <p:nvSpPr>
          <p:cNvPr id="18" name="Text 15"/>
          <p:cNvSpPr/>
          <p:nvPr/>
        </p:nvSpPr>
        <p:spPr>
          <a:xfrm>
            <a:off x="847130" y="6347381"/>
            <a:ext cx="4550410" cy="147320"/>
          </a:xfrm>
          <a:prstGeom prst="rect">
            <a:avLst/>
          </a:prstGeom>
          <a:noFill/>
        </p:spPr>
        <p:txBody>
          <a:bodyPr wrap="none" lIns="0" tIns="0" rIns="0" bIns="0" rtlCol="0" anchor="t">
            <a:noAutofit/>
          </a:bodyPr>
          <a:lstStyle/>
          <a:p>
            <a:pPr marL="0" indent="0" algn="l">
              <a:lnSpc>
                <a:spcPts val="1150"/>
              </a:lnSpc>
              <a:buNone/>
            </a:pPr>
            <a:r>
              <a:rPr lang="en-US" sz="1200" dirty="0">
                <a:solidFill>
                  <a:srgbClr val="384653"/>
                </a:solidFill>
                <a:latin typeface="微软雅黑" panose="020B0503020204020204" charset="-122"/>
                <a:ea typeface="微软雅黑" panose="020B0503020204020204" charset="-122"/>
                <a:cs typeface="微软雅黑" panose="020B0503020204020204" charset="-122"/>
              </a:rPr>
              <a:t>虽然 KNN 表现良好，但仍落后于随机森林 14 个百分点。原因在于:</a:t>
            </a:r>
            <a:endParaRPr lang="en-US" sz="120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19" name="Text 16"/>
          <p:cNvSpPr/>
          <p:nvPr/>
        </p:nvSpPr>
        <p:spPr>
          <a:xfrm>
            <a:off x="847130" y="6584196"/>
            <a:ext cx="3322955" cy="147320"/>
          </a:xfrm>
          <a:prstGeom prst="rect">
            <a:avLst/>
          </a:prstGeom>
          <a:noFill/>
        </p:spPr>
        <p:txBody>
          <a:bodyPr wrap="none" lIns="0" tIns="0" rIns="0" bIns="0" rtlCol="0" anchor="t">
            <a:noAutofit/>
          </a:bodyPr>
          <a:lstStyle/>
          <a:p>
            <a:pPr marL="342900" indent="-342900" algn="l">
              <a:lnSpc>
                <a:spcPts val="1150"/>
              </a:lnSpc>
              <a:buSzPct val="100000"/>
              <a:buChar char="•"/>
            </a:pPr>
            <a:r>
              <a:rPr lang="en-US" sz="1200" dirty="0">
                <a:solidFill>
                  <a:srgbClr val="384653"/>
                </a:solidFill>
                <a:latin typeface="微软雅黑" panose="020B0503020204020204" charset="-122"/>
                <a:ea typeface="微软雅黑" panose="020B0503020204020204" charset="-122"/>
                <a:cs typeface="微软雅黑" panose="020B0503020204020204" charset="-122"/>
              </a:rPr>
              <a:t>KNN 使用所有特征计算距离，包括噪声特征</a:t>
            </a:r>
            <a:endParaRPr lang="en-US" sz="120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20" name="Text 17"/>
          <p:cNvSpPr/>
          <p:nvPr/>
        </p:nvSpPr>
        <p:spPr>
          <a:xfrm>
            <a:off x="847130" y="6768862"/>
            <a:ext cx="4000500" cy="147320"/>
          </a:xfrm>
          <a:prstGeom prst="rect">
            <a:avLst/>
          </a:prstGeom>
          <a:noFill/>
        </p:spPr>
        <p:txBody>
          <a:bodyPr wrap="none" lIns="0" tIns="0" rIns="0" bIns="0" rtlCol="0" anchor="t">
            <a:noAutofit/>
          </a:bodyPr>
          <a:lstStyle/>
          <a:p>
            <a:pPr marL="342900" indent="-342900" algn="l">
              <a:lnSpc>
                <a:spcPts val="1150"/>
              </a:lnSpc>
              <a:buSzPct val="100000"/>
              <a:buChar char="•"/>
            </a:pPr>
            <a:r>
              <a:rPr lang="en-US" sz="1200" dirty="0">
                <a:solidFill>
                  <a:srgbClr val="384653"/>
                </a:solidFill>
                <a:latin typeface="微软雅黑" panose="020B0503020204020204" charset="-122"/>
                <a:ea typeface="微软雅黑" panose="020B0503020204020204" charset="-122"/>
                <a:cs typeface="Montserrat" pitchFamily="34" charset="-120"/>
              </a:rPr>
              <a:t>随机森林通过特征选择和集成，能够自动过滤无关特征</a:t>
            </a:r>
            <a:endParaRPr lang="en-US" sz="1200" dirty="0">
              <a:solidFill>
                <a:srgbClr val="384653"/>
              </a:solidFill>
              <a:latin typeface="微软雅黑" panose="020B0503020204020204" charset="-122"/>
              <a:ea typeface="微软雅黑" panose="020B0503020204020204" charset="-122"/>
              <a:cs typeface="Montserrat" pitchFamily="34" charset="-120"/>
            </a:endParaRPr>
          </a:p>
        </p:txBody>
      </p:sp>
      <p:sp>
        <p:nvSpPr>
          <p:cNvPr id="21" name="Text 18"/>
          <p:cNvSpPr/>
          <p:nvPr/>
        </p:nvSpPr>
        <p:spPr>
          <a:xfrm>
            <a:off x="847130" y="6953528"/>
            <a:ext cx="2781300" cy="147320"/>
          </a:xfrm>
          <a:prstGeom prst="rect">
            <a:avLst/>
          </a:prstGeom>
          <a:noFill/>
        </p:spPr>
        <p:txBody>
          <a:bodyPr wrap="none" lIns="0" tIns="0" rIns="0" bIns="0" rtlCol="0" anchor="t">
            <a:noAutofit/>
          </a:bodyPr>
          <a:lstStyle/>
          <a:p>
            <a:pPr marL="342900" indent="-342900" algn="l">
              <a:lnSpc>
                <a:spcPts val="1150"/>
              </a:lnSpc>
              <a:buSzPct val="100000"/>
              <a:buChar char="•"/>
            </a:pPr>
            <a:r>
              <a:rPr lang="en-US" sz="1200" dirty="0">
                <a:solidFill>
                  <a:srgbClr val="384653"/>
                </a:solidFill>
                <a:latin typeface="微软雅黑" panose="020B0503020204020204" charset="-122"/>
                <a:ea typeface="微软雅黑" panose="020B0503020204020204" charset="-122"/>
                <a:cs typeface="Montserrat" pitchFamily="34" charset="-120"/>
              </a:rPr>
              <a:t>决策树的正交切割更适合阶梯状分布</a:t>
            </a:r>
            <a:endParaRPr lang="en-US" sz="1200" dirty="0">
              <a:solidFill>
                <a:srgbClr val="384653"/>
              </a:solidFill>
              <a:latin typeface="微软雅黑" panose="020B0503020204020204" charset="-122"/>
              <a:ea typeface="微软雅黑" panose="020B0503020204020204" charset="-122"/>
              <a:cs typeface="Montserrat" pitchFamily="34" charset="-120"/>
            </a:endParaRPr>
          </a:p>
        </p:txBody>
      </p:sp>
      <p:pic>
        <p:nvPicPr>
          <p:cNvPr id="3" name="图片 2"/>
          <p:cNvPicPr>
            <a:picLocks noChangeAspect="1"/>
          </p:cNvPicPr>
          <p:nvPr/>
        </p:nvPicPr>
        <p:blipFill>
          <a:blip r:embed="rId1"/>
          <a:stretch>
            <a:fillRect/>
          </a:stretch>
        </p:blipFill>
        <p:spPr>
          <a:xfrm>
            <a:off x="8618855" y="1617980"/>
            <a:ext cx="5782310" cy="29400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hape 8"/>
          <p:cNvSpPr/>
          <p:nvPr/>
        </p:nvSpPr>
        <p:spPr>
          <a:xfrm>
            <a:off x="611505" y="5989638"/>
            <a:ext cx="6500932" cy="709255"/>
          </a:xfrm>
          <a:prstGeom prst="roundRect">
            <a:avLst>
              <a:gd name="adj" fmla="val 25403"/>
            </a:avLst>
          </a:prstGeom>
          <a:solidFill>
            <a:srgbClr val="D4E9F7"/>
          </a:solidFill>
          <a:ln w="7620">
            <a:solidFill>
              <a:srgbClr val="BACFDD"/>
            </a:solidFill>
            <a:prstDash val="solid"/>
          </a:ln>
        </p:spPr>
      </p:sp>
      <p:sp>
        <p:nvSpPr>
          <p:cNvPr id="2" name="Text 0"/>
          <p:cNvSpPr/>
          <p:nvPr/>
        </p:nvSpPr>
        <p:spPr>
          <a:xfrm>
            <a:off x="739140" y="589439"/>
            <a:ext cx="4539020" cy="395049"/>
          </a:xfrm>
          <a:prstGeom prst="rect">
            <a:avLst/>
          </a:prstGeom>
          <a:noFill/>
        </p:spPr>
        <p:txBody>
          <a:bodyPr wrap="none" lIns="0" tIns="0" rIns="0" bIns="0" rtlCol="0" anchor="t"/>
          <a:lstStyle/>
          <a:p>
            <a:pPr marL="0" indent="0" algn="l">
              <a:lnSpc>
                <a:spcPts val="3100"/>
              </a:lnSpc>
              <a:buNone/>
            </a:pPr>
            <a:r>
              <a:rPr lang="en-US" sz="3200" b="1" dirty="0">
                <a:solidFill>
                  <a:srgbClr val="2E3C4E"/>
                </a:solidFill>
                <a:latin typeface="微软雅黑" panose="020B0503020204020204" charset="-122"/>
                <a:ea typeface="微软雅黑" panose="020B0503020204020204" charset="-122"/>
                <a:cs typeface="微软雅黑" panose="020B0503020204020204" charset="-122"/>
              </a:rPr>
              <a:t>随机森林:正交切割</a:t>
            </a:r>
            <a:endParaRPr lang="en-US" sz="3200" b="1" dirty="0">
              <a:solidFill>
                <a:srgbClr val="2E3C4E"/>
              </a:solidFill>
              <a:latin typeface="微软雅黑" panose="020B0503020204020204" charset="-122"/>
              <a:ea typeface="微软雅黑" panose="020B0503020204020204" charset="-122"/>
              <a:cs typeface="微软雅黑" panose="020B0503020204020204" charset="-122"/>
            </a:endParaRPr>
          </a:p>
        </p:txBody>
      </p:sp>
      <p:sp>
        <p:nvSpPr>
          <p:cNvPr id="3" name="Text 1"/>
          <p:cNvSpPr/>
          <p:nvPr/>
        </p:nvSpPr>
        <p:spPr>
          <a:xfrm>
            <a:off x="739140" y="1608495"/>
            <a:ext cx="1580317" cy="197406"/>
          </a:xfrm>
          <a:prstGeom prst="rect">
            <a:avLst/>
          </a:prstGeom>
          <a:noFill/>
        </p:spPr>
        <p:txBody>
          <a:bodyPr wrap="none" lIns="0" tIns="0" rIns="0" bIns="0" rtlCol="0" anchor="t"/>
          <a:lstStyle/>
          <a:p>
            <a:pPr marL="0" indent="0" algn="l">
              <a:lnSpc>
                <a:spcPts val="1550"/>
              </a:lnSpc>
              <a:buNone/>
            </a:pPr>
            <a:r>
              <a:rPr lang="en-US" b="1" dirty="0">
                <a:solidFill>
                  <a:srgbClr val="2E3C4E"/>
                </a:solidFill>
                <a:latin typeface="微软雅黑" panose="020B0503020204020204" charset="-122"/>
                <a:ea typeface="微软雅黑" panose="020B0503020204020204" charset="-122"/>
                <a:cs typeface="Barlow Bold" pitchFamily="34" charset="-120"/>
              </a:rPr>
              <a:t>决策树的工作逻辑</a:t>
            </a:r>
            <a:endParaRPr lang="en-US" b="1" dirty="0">
              <a:solidFill>
                <a:srgbClr val="2E3C4E"/>
              </a:solidFill>
              <a:latin typeface="微软雅黑" panose="020B0503020204020204" charset="-122"/>
              <a:ea typeface="微软雅黑" panose="020B0503020204020204" charset="-122"/>
              <a:cs typeface="Barlow Bold" pitchFamily="34" charset="-120"/>
            </a:endParaRPr>
          </a:p>
        </p:txBody>
      </p:sp>
      <p:sp>
        <p:nvSpPr>
          <p:cNvPr id="4" name="Text 2"/>
          <p:cNvSpPr/>
          <p:nvPr/>
        </p:nvSpPr>
        <p:spPr>
          <a:xfrm>
            <a:off x="733425" y="2343110"/>
            <a:ext cx="5757267" cy="192167"/>
          </a:xfrm>
          <a:prstGeom prst="rect">
            <a:avLst/>
          </a:prstGeom>
          <a:noFill/>
        </p:spPr>
        <p:txBody>
          <a:bodyPr wrap="none" lIns="0" tIns="0" rIns="0" bIns="0" rtlCol="0" anchor="t"/>
          <a:lstStyle/>
          <a:p>
            <a:pPr marL="0" indent="0" algn="l">
              <a:lnSpc>
                <a:spcPts val="1500"/>
              </a:lnSpc>
              <a:buNone/>
            </a:pPr>
            <a:r>
              <a:rPr lang="en-US" sz="1400" dirty="0">
                <a:solidFill>
                  <a:srgbClr val="384653"/>
                </a:solidFill>
                <a:latin typeface="微软雅黑" panose="020B0503020204020204" charset="-122"/>
                <a:ea typeface="微软雅黑" panose="020B0503020204020204" charset="-122"/>
                <a:cs typeface="微软雅黑" panose="020B0503020204020204" charset="-122"/>
              </a:rPr>
              <a:t>决策树通过一系列</a:t>
            </a:r>
            <a:r>
              <a:rPr lang="en-US" sz="1400" b="1" dirty="0">
                <a:solidFill>
                  <a:srgbClr val="384653"/>
                </a:solidFill>
                <a:latin typeface="微软雅黑" panose="020B0503020204020204" charset="-122"/>
                <a:ea typeface="微软雅黑" panose="020B0503020204020204" charset="-122"/>
                <a:cs typeface="微软雅黑" panose="020B0503020204020204" charset="-122"/>
              </a:rPr>
              <a:t>if-then规则</a:t>
            </a:r>
            <a:r>
              <a:rPr lang="en-US" sz="1400" dirty="0">
                <a:solidFill>
                  <a:srgbClr val="384653"/>
                </a:solidFill>
                <a:latin typeface="微软雅黑" panose="020B0503020204020204" charset="-122"/>
                <a:ea typeface="微软雅黑" panose="020B0503020204020204" charset="-122"/>
                <a:cs typeface="微软雅黑" panose="020B0503020204020204" charset="-122"/>
              </a:rPr>
              <a:t>进行分类,例如:</a:t>
            </a:r>
            <a:endParaRPr lang="en-US" sz="140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5" name="Shape 3"/>
          <p:cNvSpPr/>
          <p:nvPr/>
        </p:nvSpPr>
        <p:spPr>
          <a:xfrm>
            <a:off x="721995" y="3069074"/>
            <a:ext cx="5757267" cy="564356"/>
          </a:xfrm>
          <a:prstGeom prst="roundRect">
            <a:avLst>
              <a:gd name="adj" fmla="val 31925"/>
            </a:avLst>
          </a:prstGeom>
          <a:solidFill>
            <a:srgbClr val="F2F2F2"/>
          </a:solidFill>
        </p:spPr>
      </p:sp>
      <p:sp>
        <p:nvSpPr>
          <p:cNvPr id="6" name="Shape 4"/>
          <p:cNvSpPr/>
          <p:nvPr/>
        </p:nvSpPr>
        <p:spPr>
          <a:xfrm>
            <a:off x="716042" y="3069074"/>
            <a:ext cx="5769173" cy="564356"/>
          </a:xfrm>
          <a:prstGeom prst="roundRect">
            <a:avLst>
              <a:gd name="adj" fmla="val 3192"/>
            </a:avLst>
          </a:prstGeom>
          <a:solidFill>
            <a:srgbClr val="F2F2F2"/>
          </a:solidFill>
        </p:spPr>
      </p:sp>
      <p:sp>
        <p:nvSpPr>
          <p:cNvPr id="7" name="Text 5"/>
          <p:cNvSpPr/>
          <p:nvPr/>
        </p:nvSpPr>
        <p:spPr>
          <a:xfrm>
            <a:off x="836057" y="3159085"/>
            <a:ext cx="5529143" cy="384334"/>
          </a:xfrm>
          <a:prstGeom prst="rect">
            <a:avLst/>
          </a:prstGeom>
          <a:noFill/>
        </p:spPr>
        <p:txBody>
          <a:bodyPr wrap="square" lIns="0" tIns="0" rIns="0" bIns="0" rtlCol="0" anchor="t"/>
          <a:lstStyle/>
          <a:p>
            <a:pPr marL="0" indent="0" algn="l">
              <a:lnSpc>
                <a:spcPts val="1500"/>
              </a:lnSpc>
              <a:buNone/>
            </a:pPr>
            <a:r>
              <a:rPr lang="en-US" sz="1400" dirty="0">
                <a:solidFill>
                  <a:srgbClr val="384653"/>
                </a:solidFill>
                <a:highlight>
                  <a:srgbClr val="F2F2F2"/>
                </a:highlight>
                <a:latin typeface="微软雅黑" panose="020B0503020204020204" charset="-122"/>
                <a:ea typeface="微软雅黑" panose="020B0503020204020204" charset="-122"/>
                <a:cs typeface="Consolas" panose="020B0609020204030204" pitchFamily="34" charset="-120"/>
              </a:rPr>
              <a:t>if RAM &gt; 1000 AND RAM &lt; 2000:    </a:t>
            </a:r>
            <a:endParaRPr lang="en-US" sz="1400" dirty="0">
              <a:solidFill>
                <a:srgbClr val="384653"/>
              </a:solidFill>
              <a:highlight>
                <a:srgbClr val="F2F2F2"/>
              </a:highlight>
              <a:latin typeface="微软雅黑" panose="020B0503020204020204" charset="-122"/>
              <a:ea typeface="微软雅黑" panose="020B0503020204020204" charset="-122"/>
              <a:cs typeface="Consolas" panose="020B0609020204030204" pitchFamily="34" charset="-120"/>
            </a:endParaRPr>
          </a:p>
          <a:p>
            <a:pPr marL="0" indent="457200" algn="l">
              <a:lnSpc>
                <a:spcPts val="1500"/>
              </a:lnSpc>
              <a:buNone/>
            </a:pPr>
            <a:r>
              <a:rPr lang="en-US" sz="1400" dirty="0">
                <a:solidFill>
                  <a:srgbClr val="384653"/>
                </a:solidFill>
                <a:highlight>
                  <a:srgbClr val="F2F2F2"/>
                </a:highlight>
                <a:latin typeface="微软雅黑" panose="020B0503020204020204" charset="-122"/>
                <a:ea typeface="微软雅黑" panose="020B0503020204020204" charset="-122"/>
                <a:cs typeface="Consolas" panose="020B0609020204030204" pitchFamily="34" charset="-120"/>
              </a:rPr>
              <a:t>predict Class 1</a:t>
            </a:r>
            <a:endParaRPr lang="en-US" sz="1400" dirty="0">
              <a:solidFill>
                <a:srgbClr val="384653"/>
              </a:solidFill>
              <a:highlight>
                <a:srgbClr val="F2F2F2"/>
              </a:highlight>
              <a:latin typeface="微软雅黑" panose="020B0503020204020204" charset="-122"/>
              <a:ea typeface="微软雅黑" panose="020B0503020204020204" charset="-122"/>
              <a:cs typeface="Consolas" panose="020B0609020204030204" pitchFamily="34" charset="-120"/>
            </a:endParaRPr>
          </a:p>
        </p:txBody>
      </p:sp>
      <p:sp>
        <p:nvSpPr>
          <p:cNvPr id="8" name="Text 6"/>
          <p:cNvSpPr/>
          <p:nvPr/>
        </p:nvSpPr>
        <p:spPr>
          <a:xfrm>
            <a:off x="739140" y="4166592"/>
            <a:ext cx="5757267" cy="192167"/>
          </a:xfrm>
          <a:prstGeom prst="rect">
            <a:avLst/>
          </a:prstGeom>
          <a:noFill/>
        </p:spPr>
        <p:txBody>
          <a:bodyPr wrap="none" lIns="0" tIns="0" rIns="0" bIns="0" rtlCol="0" anchor="t"/>
          <a:lstStyle/>
          <a:p>
            <a:pPr marL="0" indent="0" algn="l">
              <a:lnSpc>
                <a:spcPts val="1500"/>
              </a:lnSpc>
              <a:buNone/>
            </a:pPr>
            <a:r>
              <a:rPr lang="en-US" sz="1400" dirty="0">
                <a:solidFill>
                  <a:srgbClr val="384653"/>
                </a:solidFill>
                <a:latin typeface="微软雅黑" panose="020B0503020204020204" charset="-122"/>
                <a:ea typeface="微软雅黑" panose="020B0503020204020204" charset="-122"/>
                <a:cs typeface="微软雅黑" panose="020B0503020204020204" charset="-122"/>
              </a:rPr>
              <a:t>这相当于在特征空间中切了两刀,形成了一个封闭的矩形区域。</a:t>
            </a:r>
            <a:endParaRPr lang="en-US" sz="140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11" name="Shape 8"/>
          <p:cNvSpPr/>
          <p:nvPr/>
        </p:nvSpPr>
        <p:spPr>
          <a:xfrm>
            <a:off x="611505" y="4915218"/>
            <a:ext cx="6500932" cy="709255"/>
          </a:xfrm>
          <a:prstGeom prst="roundRect">
            <a:avLst>
              <a:gd name="adj" fmla="val 25403"/>
            </a:avLst>
          </a:prstGeom>
          <a:solidFill>
            <a:srgbClr val="D4E9F7"/>
          </a:solidFill>
          <a:ln w="7620">
            <a:solidFill>
              <a:srgbClr val="BACFDD"/>
            </a:solidFill>
            <a:prstDash val="solid"/>
          </a:ln>
        </p:spPr>
      </p:sp>
      <p:sp>
        <p:nvSpPr>
          <p:cNvPr id="12" name="Text 9"/>
          <p:cNvSpPr/>
          <p:nvPr/>
        </p:nvSpPr>
        <p:spPr>
          <a:xfrm>
            <a:off x="3071812" y="5042853"/>
            <a:ext cx="1580317" cy="197406"/>
          </a:xfrm>
          <a:prstGeom prst="rect">
            <a:avLst/>
          </a:prstGeom>
          <a:noFill/>
        </p:spPr>
        <p:txBody>
          <a:bodyPr wrap="none" lIns="0" tIns="0" rIns="0" bIns="0" rtlCol="0" anchor="t"/>
          <a:lstStyle/>
          <a:p>
            <a:pPr marL="0" indent="0" algn="ctr">
              <a:lnSpc>
                <a:spcPts val="1550"/>
              </a:lnSpc>
              <a:buNone/>
            </a:pPr>
            <a:r>
              <a:rPr lang="en-US" sz="1200" b="1" dirty="0">
                <a:solidFill>
                  <a:srgbClr val="384653"/>
                </a:solidFill>
                <a:latin typeface="微软雅黑" panose="020B0503020204020204" charset="-122"/>
                <a:ea typeface="微软雅黑" panose="020B0503020204020204" charset="-122"/>
                <a:cs typeface="Barlow Bold" pitchFamily="34" charset="-120"/>
              </a:rPr>
              <a:t>分段线性特性</a:t>
            </a:r>
            <a:endParaRPr lang="en-US" sz="1200" b="1" dirty="0">
              <a:solidFill>
                <a:srgbClr val="384653"/>
              </a:solidFill>
              <a:latin typeface="微软雅黑" panose="020B0503020204020204" charset="-122"/>
              <a:ea typeface="微软雅黑" panose="020B0503020204020204" charset="-122"/>
              <a:cs typeface="Barlow Bold" pitchFamily="34" charset="-120"/>
            </a:endParaRPr>
          </a:p>
        </p:txBody>
      </p:sp>
      <p:sp>
        <p:nvSpPr>
          <p:cNvPr id="13" name="Text 10"/>
          <p:cNvSpPr/>
          <p:nvPr/>
        </p:nvSpPr>
        <p:spPr>
          <a:xfrm>
            <a:off x="739140" y="5312291"/>
            <a:ext cx="6245662" cy="192167"/>
          </a:xfrm>
          <a:prstGeom prst="rect">
            <a:avLst/>
          </a:prstGeom>
          <a:noFill/>
        </p:spPr>
        <p:txBody>
          <a:bodyPr wrap="none" lIns="0" tIns="0" rIns="0" bIns="0" rtlCol="0" anchor="t"/>
          <a:lstStyle/>
          <a:p>
            <a:pPr marL="0" indent="0" algn="ctr">
              <a:lnSpc>
                <a:spcPts val="1500"/>
              </a:lnSpc>
              <a:buNone/>
            </a:pPr>
            <a:r>
              <a:rPr lang="en-US" sz="900" dirty="0">
                <a:solidFill>
                  <a:srgbClr val="384653"/>
                </a:solidFill>
                <a:latin typeface="微软雅黑" panose="020B0503020204020204" charset="-122"/>
                <a:ea typeface="微软雅黑" panose="020B0503020204020204" charset="-122"/>
                <a:cs typeface="微软雅黑" panose="020B0503020204020204" charset="-122"/>
              </a:rPr>
              <a:t>决策树采用</a:t>
            </a:r>
            <a:r>
              <a:rPr lang="en-US" sz="900" b="1" dirty="0">
                <a:solidFill>
                  <a:srgbClr val="384653"/>
                </a:solidFill>
                <a:latin typeface="微软雅黑" panose="020B0503020204020204" charset="-122"/>
                <a:ea typeface="微软雅黑" panose="020B0503020204020204" charset="-122"/>
                <a:cs typeface="微软雅黑" panose="020B0503020204020204" charset="-122"/>
              </a:rPr>
              <a:t>正交切割</a:t>
            </a:r>
            <a:r>
              <a:rPr lang="en-US" sz="900" dirty="0">
                <a:solidFill>
                  <a:srgbClr val="384653"/>
                </a:solidFill>
                <a:latin typeface="微软雅黑" panose="020B0503020204020204" charset="-122"/>
                <a:ea typeface="微软雅黑" panose="020B0503020204020204" charset="-122"/>
                <a:cs typeface="微软雅黑" panose="020B0503020204020204" charset="-122"/>
              </a:rPr>
              <a:t>,不依赖全局超平面,而是通过多次轴对齐的分割,构建分段线性的决策边界。</a:t>
            </a:r>
            <a:endParaRPr lang="en-US" sz="900" dirty="0">
              <a:latin typeface="微软雅黑" panose="020B0503020204020204" charset="-122"/>
              <a:ea typeface="微软雅黑" panose="020B0503020204020204" charset="-122"/>
              <a:cs typeface="微软雅黑" panose="020B0503020204020204" charset="-122"/>
            </a:endParaRPr>
          </a:p>
        </p:txBody>
      </p:sp>
      <p:sp>
        <p:nvSpPr>
          <p:cNvPr id="15" name="Text 12"/>
          <p:cNvSpPr/>
          <p:nvPr/>
        </p:nvSpPr>
        <p:spPr>
          <a:xfrm>
            <a:off x="3071892" y="6110248"/>
            <a:ext cx="1580317" cy="197406"/>
          </a:xfrm>
          <a:prstGeom prst="rect">
            <a:avLst/>
          </a:prstGeom>
          <a:noFill/>
        </p:spPr>
        <p:txBody>
          <a:bodyPr wrap="none" lIns="0" tIns="0" rIns="0" bIns="0" rtlCol="0" anchor="t"/>
          <a:lstStyle/>
          <a:p>
            <a:pPr marL="0" indent="0" algn="ctr">
              <a:lnSpc>
                <a:spcPts val="1550"/>
              </a:lnSpc>
              <a:buNone/>
            </a:pPr>
            <a:r>
              <a:rPr lang="en-US" sz="1200" b="1" dirty="0">
                <a:solidFill>
                  <a:srgbClr val="384653"/>
                </a:solidFill>
                <a:latin typeface="微软雅黑" panose="020B0503020204020204" charset="-122"/>
                <a:ea typeface="微软雅黑" panose="020B0503020204020204" charset="-122"/>
                <a:cs typeface="Barlow Bold" pitchFamily="34" charset="-120"/>
              </a:rPr>
              <a:t>区间提取能力</a:t>
            </a:r>
            <a:endParaRPr lang="en-US" sz="1200" b="1" dirty="0">
              <a:solidFill>
                <a:srgbClr val="384653"/>
              </a:solidFill>
              <a:latin typeface="微软雅黑" panose="020B0503020204020204" charset="-122"/>
              <a:ea typeface="微软雅黑" panose="020B0503020204020204" charset="-122"/>
              <a:cs typeface="Barlow Bold" pitchFamily="34" charset="-120"/>
            </a:endParaRPr>
          </a:p>
        </p:txBody>
      </p:sp>
      <p:sp>
        <p:nvSpPr>
          <p:cNvPr id="16" name="Text 13"/>
          <p:cNvSpPr/>
          <p:nvPr/>
        </p:nvSpPr>
        <p:spPr>
          <a:xfrm>
            <a:off x="739219" y="6379686"/>
            <a:ext cx="6245781" cy="192167"/>
          </a:xfrm>
          <a:prstGeom prst="rect">
            <a:avLst/>
          </a:prstGeom>
          <a:noFill/>
        </p:spPr>
        <p:txBody>
          <a:bodyPr wrap="none" lIns="0" tIns="0" rIns="0" bIns="0" rtlCol="0" anchor="t"/>
          <a:lstStyle/>
          <a:p>
            <a:pPr marL="0" indent="0" algn="ctr">
              <a:lnSpc>
                <a:spcPts val="1500"/>
              </a:lnSpc>
              <a:buNone/>
            </a:pPr>
            <a:r>
              <a:rPr lang="en-US" sz="900" dirty="0">
                <a:solidFill>
                  <a:srgbClr val="384653"/>
                </a:solidFill>
                <a:latin typeface="微软雅黑" panose="020B0503020204020204" charset="-122"/>
                <a:ea typeface="微软雅黑" panose="020B0503020204020204" charset="-122"/>
                <a:cs typeface="微软雅黑" panose="020B0503020204020204" charset="-122"/>
              </a:rPr>
              <a:t>可以生成"RAM大于1000且小于2000"这样的组合规则,轻松将中间类别像切豆腐一样独立划分出来。</a:t>
            </a:r>
            <a:endParaRPr lang="en-US" sz="900" dirty="0">
              <a:solidFill>
                <a:srgbClr val="384653"/>
              </a:solidFill>
              <a:latin typeface="微软雅黑" panose="020B0503020204020204" charset="-122"/>
              <a:ea typeface="微软雅黑" panose="020B0503020204020204" charset="-122"/>
              <a:cs typeface="微软雅黑" panose="020B0503020204020204" charset="-122"/>
            </a:endParaRPr>
          </a:p>
        </p:txBody>
      </p:sp>
      <p:pic>
        <p:nvPicPr>
          <p:cNvPr id="18" name="图片 17"/>
          <p:cNvPicPr>
            <a:picLocks noChangeAspect="1"/>
          </p:cNvPicPr>
          <p:nvPr/>
        </p:nvPicPr>
        <p:blipFill>
          <a:blip r:embed="rId1"/>
          <a:stretch>
            <a:fillRect/>
          </a:stretch>
        </p:blipFill>
        <p:spPr>
          <a:xfrm>
            <a:off x="7602220" y="789940"/>
            <a:ext cx="6076950" cy="53149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8309" y="401598"/>
            <a:ext cx="5385911" cy="623530"/>
          </a:xfrm>
          <a:prstGeom prst="rect">
            <a:avLst/>
          </a:prstGeom>
          <a:noFill/>
        </p:spPr>
        <p:txBody>
          <a:bodyPr wrap="none" lIns="0" tIns="0" rIns="0" bIns="0" rtlCol="0" anchor="t"/>
          <a:lstStyle/>
          <a:p>
            <a:pPr marL="0" indent="0" algn="l">
              <a:lnSpc>
                <a:spcPts val="4900"/>
              </a:lnSpc>
              <a:buNone/>
            </a:pPr>
            <a:r>
              <a:rPr lang="en-US" sz="3900" b="1" dirty="0">
                <a:solidFill>
                  <a:srgbClr val="2E3C4E"/>
                </a:solidFill>
                <a:latin typeface="微软雅黑" panose="020B0503020204020204" charset="-122"/>
                <a:ea typeface="微软雅黑" panose="020B0503020204020204" charset="-122"/>
                <a:cs typeface="Barlow Bold" pitchFamily="34" charset="-120"/>
              </a:rPr>
              <a:t>改进策略</a:t>
            </a:r>
            <a:endParaRPr lang="en-US" sz="3900" b="1" dirty="0">
              <a:solidFill>
                <a:srgbClr val="2E3C4E"/>
              </a:solidFill>
              <a:latin typeface="微软雅黑" panose="020B0503020204020204" charset="-122"/>
              <a:ea typeface="微软雅黑" panose="020B0503020204020204" charset="-122"/>
              <a:cs typeface="Barlow Bold" pitchFamily="34" charset="-120"/>
            </a:endParaRPr>
          </a:p>
        </p:txBody>
      </p:sp>
      <p:pic>
        <p:nvPicPr>
          <p:cNvPr id="3"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8309" y="3055858"/>
            <a:ext cx="568643" cy="568643"/>
          </a:xfrm>
          <a:prstGeom prst="rect">
            <a:avLst/>
          </a:prstGeom>
        </p:spPr>
      </p:pic>
      <p:sp>
        <p:nvSpPr>
          <p:cNvPr id="4" name="Text 1"/>
          <p:cNvSpPr/>
          <p:nvPr/>
        </p:nvSpPr>
        <p:spPr>
          <a:xfrm>
            <a:off x="1168281" y="3476744"/>
            <a:ext cx="2738318" cy="311706"/>
          </a:xfrm>
          <a:prstGeom prst="rect">
            <a:avLst/>
          </a:prstGeom>
          <a:noFill/>
        </p:spPr>
        <p:txBody>
          <a:bodyPr wrap="none" lIns="0" tIns="0" rIns="0" bIns="0" rtlCol="0" anchor="t"/>
          <a:lstStyle/>
          <a:p>
            <a:pPr marL="0" algn="l">
              <a:lnSpc>
                <a:spcPts val="2450"/>
              </a:lnSpc>
              <a:buClrTx/>
              <a:buSzTx/>
              <a:buFontTx/>
              <a:buNone/>
            </a:pPr>
            <a:r>
              <a:rPr lang="en-US" sz="1950" b="1" dirty="0">
                <a:solidFill>
                  <a:srgbClr val="384653"/>
                </a:solidFill>
                <a:latin typeface="微软雅黑" panose="020B0503020204020204" charset="-122"/>
                <a:ea typeface="微软雅黑" panose="020B0503020204020204" charset="-122"/>
                <a:cs typeface="微软雅黑" panose="020B0503020204020204" charset="-122"/>
                <a:sym typeface="+mn-ea"/>
              </a:rPr>
              <a:t>引入非线性</a:t>
            </a:r>
            <a:endParaRPr lang="en-US" sz="1950" b="1"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5" name="Text 2"/>
          <p:cNvSpPr/>
          <p:nvPr/>
        </p:nvSpPr>
        <p:spPr>
          <a:xfrm>
            <a:off x="1168281" y="3902154"/>
            <a:ext cx="3407688" cy="1516261"/>
          </a:xfrm>
          <a:prstGeom prst="rect">
            <a:avLst/>
          </a:prstGeom>
          <a:noFill/>
        </p:spPr>
        <p:txBody>
          <a:bodyPr wrap="square" lIns="0" tIns="0" rIns="0" bIns="0" rtlCol="0" anchor="t"/>
          <a:lstStyle/>
          <a:p>
            <a:pPr marL="0" indent="0" algn="l">
              <a:lnSpc>
                <a:spcPts val="2350"/>
              </a:lnSpc>
              <a:buNone/>
            </a:pPr>
            <a:r>
              <a:rPr lang="en-US" sz="1450" dirty="0">
                <a:solidFill>
                  <a:srgbClr val="384653"/>
                </a:solidFill>
                <a:latin typeface="微软雅黑" panose="020B0503020204020204" charset="-122"/>
                <a:ea typeface="微软雅黑" panose="020B0503020204020204" charset="-122"/>
                <a:cs typeface="微软雅黑" panose="020B0503020204020204" charset="-122"/>
              </a:rPr>
              <a:t>使用RBF核(高斯核)或多项式核,将低维线性不可分的数据映射到高维空间。在高维空间中,折叠的数据被展开,从而变得线性可分。核函数隐式地完成了这一映射,无需显式计算高维坐标。</a:t>
            </a:r>
            <a:r>
              <a:rPr lang="zh-CN" altLang="en-US" sz="1450" dirty="0">
                <a:solidFill>
                  <a:srgbClr val="384653"/>
                </a:solidFill>
                <a:latin typeface="微软雅黑" panose="020B0503020204020204" charset="-122"/>
                <a:ea typeface="微软雅黑" panose="020B0503020204020204" charset="-122"/>
                <a:cs typeface="微软雅黑" panose="020B0503020204020204" charset="-122"/>
              </a:rPr>
              <a:t>或者在预处理阶段，手动增加特征的平方项（如</a:t>
            </a:r>
            <a:r>
              <a:rPr lang="en-US" altLang="zh-CN" sz="1450" dirty="0">
                <a:solidFill>
                  <a:srgbClr val="384653"/>
                </a:solidFill>
                <a:latin typeface="微软雅黑" panose="020B0503020204020204" charset="-122"/>
                <a:ea typeface="微软雅黑" panose="020B0503020204020204" charset="-122"/>
                <a:cs typeface="微软雅黑" panose="020B0503020204020204" charset="-122"/>
              </a:rPr>
              <a:t>RAM2</a:t>
            </a:r>
            <a:r>
              <a:rPr lang="zh-CN" altLang="en-US" sz="1450" dirty="0">
                <a:solidFill>
                  <a:srgbClr val="384653"/>
                </a:solidFill>
                <a:latin typeface="微软雅黑" panose="020B0503020204020204" charset="-122"/>
                <a:ea typeface="微软雅黑" panose="020B0503020204020204" charset="-122"/>
                <a:cs typeface="微软雅黑" panose="020B0503020204020204" charset="-122"/>
              </a:rPr>
              <a:t>）或交互项，人工引入非线性特征，辅助线性</a:t>
            </a:r>
            <a:r>
              <a:rPr lang="en-US" altLang="zh-CN" sz="1450" dirty="0">
                <a:solidFill>
                  <a:srgbClr val="384653"/>
                </a:solidFill>
                <a:latin typeface="微软雅黑" panose="020B0503020204020204" charset="-122"/>
                <a:ea typeface="微软雅黑" panose="020B0503020204020204" charset="-122"/>
                <a:cs typeface="微软雅黑" panose="020B0503020204020204" charset="-122"/>
              </a:rPr>
              <a:t> SVM </a:t>
            </a:r>
            <a:r>
              <a:rPr lang="zh-CN" altLang="en-US" sz="1450" dirty="0">
                <a:solidFill>
                  <a:srgbClr val="384653"/>
                </a:solidFill>
                <a:latin typeface="微软雅黑" panose="020B0503020204020204" charset="-122"/>
                <a:ea typeface="微软雅黑" panose="020B0503020204020204" charset="-122"/>
                <a:cs typeface="微软雅黑" panose="020B0503020204020204" charset="-122"/>
              </a:rPr>
              <a:t>进行分类。</a:t>
            </a:r>
            <a:endParaRPr lang="zh-CN" altLang="en-US" sz="145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7" name="Text 3"/>
          <p:cNvSpPr/>
          <p:nvPr/>
        </p:nvSpPr>
        <p:spPr>
          <a:xfrm>
            <a:off x="5618480" y="3476744"/>
            <a:ext cx="3394234" cy="311706"/>
          </a:xfrm>
          <a:prstGeom prst="rect">
            <a:avLst/>
          </a:prstGeom>
          <a:noFill/>
        </p:spPr>
        <p:txBody>
          <a:bodyPr wrap="none" lIns="0" tIns="0" rIns="0" bIns="0" rtlCol="0" anchor="t"/>
          <a:lstStyle/>
          <a:p>
            <a:pPr marL="0" indent="0" algn="l">
              <a:lnSpc>
                <a:spcPts val="2450"/>
              </a:lnSpc>
              <a:buNone/>
            </a:pPr>
            <a:r>
              <a:rPr lang="zh-CN" altLang="en-US" sz="1950" b="1" dirty="0">
                <a:solidFill>
                  <a:srgbClr val="384653"/>
                </a:solidFill>
                <a:latin typeface="微软雅黑" panose="020B0503020204020204" charset="-122"/>
                <a:ea typeface="微软雅黑" panose="020B0503020204020204" charset="-122"/>
                <a:cs typeface="微软雅黑" panose="020B0503020204020204" charset="-122"/>
              </a:rPr>
              <a:t>特征加权与降维</a:t>
            </a:r>
            <a:endParaRPr lang="zh-CN" altLang="en-US" sz="1950" b="1"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8" name="Text 4"/>
          <p:cNvSpPr/>
          <p:nvPr/>
        </p:nvSpPr>
        <p:spPr>
          <a:xfrm>
            <a:off x="5618480" y="3902154"/>
            <a:ext cx="3407688" cy="1213009"/>
          </a:xfrm>
          <a:prstGeom prst="rect">
            <a:avLst/>
          </a:prstGeom>
          <a:noFill/>
        </p:spPr>
        <p:txBody>
          <a:bodyPr wrap="square" lIns="0" tIns="0" rIns="0" bIns="0" rtlCol="0" anchor="t"/>
          <a:lstStyle/>
          <a:p>
            <a:pPr marL="0" indent="0" algn="l">
              <a:lnSpc>
                <a:spcPts val="2350"/>
              </a:lnSpc>
              <a:buNone/>
            </a:pPr>
            <a:r>
              <a:rPr lang="en-US" altLang="zh-CN" sz="1450" dirty="0">
                <a:latin typeface="微软雅黑" panose="020B0503020204020204" charset="-122"/>
                <a:ea typeface="微软雅黑" panose="020B0503020204020204" charset="-122"/>
                <a:cs typeface="微软雅黑" panose="020B0503020204020204" charset="-122"/>
              </a:rPr>
              <a:t>KNN </a:t>
            </a:r>
            <a:r>
              <a:rPr lang="zh-CN" altLang="en-US" sz="1450" dirty="0">
                <a:latin typeface="微软雅黑" panose="020B0503020204020204" charset="-122"/>
                <a:ea typeface="微软雅黑" panose="020B0503020204020204" charset="-122"/>
                <a:cs typeface="微软雅黑" panose="020B0503020204020204" charset="-122"/>
              </a:rPr>
              <a:t>的核心在于</a:t>
            </a:r>
            <a:r>
              <a:rPr lang="en-US" altLang="zh-CN" sz="1450" dirty="0">
                <a:latin typeface="微软雅黑" panose="020B0503020204020204" charset="-122"/>
                <a:ea typeface="微软雅黑" panose="020B0503020204020204" charset="-122"/>
                <a:cs typeface="微软雅黑" panose="020B0503020204020204" charset="-122"/>
              </a:rPr>
              <a:t>“</a:t>
            </a:r>
            <a:r>
              <a:rPr lang="zh-CN" altLang="en-US" sz="1450" dirty="0">
                <a:latin typeface="微软雅黑" panose="020B0503020204020204" charset="-122"/>
                <a:ea typeface="微软雅黑" panose="020B0503020204020204" charset="-122"/>
                <a:cs typeface="微软雅黑" panose="020B0503020204020204" charset="-122"/>
              </a:rPr>
              <a:t>距离</a:t>
            </a:r>
            <a:r>
              <a:rPr lang="en-US" altLang="zh-CN" sz="1450" dirty="0">
                <a:latin typeface="微软雅黑" panose="020B0503020204020204" charset="-122"/>
                <a:ea typeface="微软雅黑" panose="020B0503020204020204" charset="-122"/>
                <a:cs typeface="微软雅黑" panose="020B0503020204020204" charset="-122"/>
              </a:rPr>
              <a:t>”</a:t>
            </a:r>
            <a:r>
              <a:rPr lang="zh-CN" altLang="en-US" sz="1450" dirty="0">
                <a:latin typeface="微软雅黑" panose="020B0503020204020204" charset="-122"/>
                <a:ea typeface="微软雅黑" panose="020B0503020204020204" charset="-122"/>
                <a:cs typeface="微软雅黑" panose="020B0503020204020204" charset="-122"/>
              </a:rPr>
              <a:t>，优化应致力于让距离计算更纯粹。可以使用</a:t>
            </a:r>
            <a:r>
              <a:rPr lang="en-US" altLang="zh-CN" sz="1450" dirty="0">
                <a:latin typeface="微软雅黑" panose="020B0503020204020204" charset="-122"/>
                <a:ea typeface="微软雅黑" panose="020B0503020204020204" charset="-122"/>
                <a:cs typeface="微软雅黑" panose="020B0503020204020204" charset="-122"/>
              </a:rPr>
              <a:t> PCA</a:t>
            </a:r>
            <a:r>
              <a:rPr lang="zh-CN" altLang="en-US" sz="1450" dirty="0">
                <a:latin typeface="微软雅黑" panose="020B0503020204020204" charset="-122"/>
                <a:ea typeface="微软雅黑" panose="020B0503020204020204" charset="-122"/>
                <a:cs typeface="微软雅黑" panose="020B0503020204020204" charset="-122"/>
              </a:rPr>
              <a:t>（主成分分析）或</a:t>
            </a:r>
            <a:r>
              <a:rPr lang="en-US" altLang="zh-CN" sz="1450" dirty="0">
                <a:latin typeface="微软雅黑" panose="020B0503020204020204" charset="-122"/>
                <a:ea typeface="微软雅黑" panose="020B0503020204020204" charset="-122"/>
                <a:cs typeface="微软雅黑" panose="020B0503020204020204" charset="-122"/>
              </a:rPr>
              <a:t> LDA </a:t>
            </a:r>
            <a:r>
              <a:rPr lang="zh-CN" altLang="en-US" sz="1450" dirty="0">
                <a:latin typeface="微软雅黑" panose="020B0503020204020204" charset="-122"/>
                <a:ea typeface="微软雅黑" panose="020B0503020204020204" charset="-122"/>
                <a:cs typeface="微软雅黑" panose="020B0503020204020204" charset="-122"/>
              </a:rPr>
              <a:t>进行降维，剔除噪声特征，减少干扰；或者采用距离加权策略，给予距离更近的邻居更高的投票权重，而不是所有邻居一视同仁。</a:t>
            </a:r>
            <a:endParaRPr lang="zh-CN" altLang="en-US" sz="1450" dirty="0">
              <a:latin typeface="微软雅黑" panose="020B0503020204020204" charset="-122"/>
              <a:ea typeface="微软雅黑" panose="020B0503020204020204" charset="-122"/>
              <a:cs typeface="微软雅黑" panose="020B0503020204020204" charset="-122"/>
            </a:endParaRPr>
          </a:p>
        </p:txBody>
      </p:sp>
      <p:sp>
        <p:nvSpPr>
          <p:cNvPr id="10" name="Text 5"/>
          <p:cNvSpPr/>
          <p:nvPr/>
        </p:nvSpPr>
        <p:spPr>
          <a:xfrm>
            <a:off x="10068679" y="3476744"/>
            <a:ext cx="2494359" cy="311706"/>
          </a:xfrm>
          <a:prstGeom prst="rect">
            <a:avLst/>
          </a:prstGeom>
          <a:noFill/>
        </p:spPr>
        <p:txBody>
          <a:bodyPr wrap="none" lIns="0" tIns="0" rIns="0" bIns="0" rtlCol="0" anchor="t"/>
          <a:lstStyle/>
          <a:p>
            <a:pPr marL="0" indent="0" algn="l">
              <a:lnSpc>
                <a:spcPts val="2450"/>
              </a:lnSpc>
              <a:buNone/>
            </a:pPr>
            <a:r>
              <a:rPr lang="zh-CN" altLang="en-US" sz="1950" b="1" dirty="0">
                <a:solidFill>
                  <a:srgbClr val="384653"/>
                </a:solidFill>
                <a:latin typeface="微软雅黑" panose="020B0503020204020204" charset="-122"/>
                <a:ea typeface="微软雅黑" panose="020B0503020204020204" charset="-122"/>
                <a:cs typeface="Barlow Bold" pitchFamily="34" charset="-120"/>
              </a:rPr>
              <a:t>精细调参与特征工程</a:t>
            </a:r>
            <a:endParaRPr lang="zh-CN" altLang="en-US" sz="1950" b="1" dirty="0">
              <a:solidFill>
                <a:srgbClr val="384653"/>
              </a:solidFill>
              <a:latin typeface="微软雅黑" panose="020B0503020204020204" charset="-122"/>
              <a:ea typeface="微软雅黑" panose="020B0503020204020204" charset="-122"/>
              <a:cs typeface="Barlow Bold" pitchFamily="34" charset="-120"/>
            </a:endParaRPr>
          </a:p>
        </p:txBody>
      </p:sp>
      <p:sp>
        <p:nvSpPr>
          <p:cNvPr id="11" name="Text 6"/>
          <p:cNvSpPr/>
          <p:nvPr/>
        </p:nvSpPr>
        <p:spPr>
          <a:xfrm>
            <a:off x="10068679" y="3902154"/>
            <a:ext cx="3407807" cy="1516261"/>
          </a:xfrm>
          <a:prstGeom prst="rect">
            <a:avLst/>
          </a:prstGeom>
          <a:noFill/>
        </p:spPr>
        <p:txBody>
          <a:bodyPr wrap="square" lIns="0" tIns="0" rIns="0" bIns="0" rtlCol="0" anchor="t"/>
          <a:lstStyle/>
          <a:p>
            <a:pPr marL="0" indent="0" algn="l">
              <a:lnSpc>
                <a:spcPts val="2350"/>
              </a:lnSpc>
              <a:buNone/>
            </a:pPr>
            <a:r>
              <a:rPr lang="zh-CN" altLang="en-US" sz="1450" dirty="0">
                <a:solidFill>
                  <a:srgbClr val="384653"/>
                </a:solidFill>
                <a:latin typeface="微软雅黑" panose="020B0503020204020204" charset="-122"/>
                <a:ea typeface="微软雅黑" panose="020B0503020204020204" charset="-122"/>
                <a:cs typeface="微软雅黑" panose="020B0503020204020204" charset="-122"/>
              </a:rPr>
              <a:t>构建</a:t>
            </a:r>
            <a:r>
              <a:rPr lang="en-US" altLang="zh-CN" sz="1450" dirty="0">
                <a:solidFill>
                  <a:srgbClr val="384653"/>
                </a:solidFill>
                <a:latin typeface="微软雅黑" panose="020B0503020204020204" charset="-122"/>
                <a:ea typeface="微软雅黑" panose="020B0503020204020204" charset="-122"/>
                <a:cs typeface="微软雅黑" panose="020B0503020204020204" charset="-122"/>
              </a:rPr>
              <a:t> px_area </a:t>
            </a:r>
            <a:r>
              <a:rPr lang="zh-CN" altLang="en-US" sz="1450" dirty="0">
                <a:solidFill>
                  <a:srgbClr val="384653"/>
                </a:solidFill>
                <a:latin typeface="微软雅黑" panose="020B0503020204020204" charset="-122"/>
                <a:ea typeface="微软雅黑" panose="020B0503020204020204" charset="-122"/>
                <a:cs typeface="微软雅黑" panose="020B0503020204020204" charset="-122"/>
              </a:rPr>
              <a:t>和</a:t>
            </a:r>
            <a:r>
              <a:rPr lang="en-US" altLang="zh-CN" sz="1450" dirty="0">
                <a:solidFill>
                  <a:srgbClr val="384653"/>
                </a:solidFill>
                <a:latin typeface="微软雅黑" panose="020B0503020204020204" charset="-122"/>
                <a:ea typeface="微软雅黑" panose="020B0503020204020204" charset="-122"/>
                <a:cs typeface="微软雅黑" panose="020B0503020204020204" charset="-122"/>
              </a:rPr>
              <a:t> sc_area</a:t>
            </a:r>
            <a:r>
              <a:rPr lang="zh-CN" altLang="en-US" sz="1450" dirty="0">
                <a:solidFill>
                  <a:srgbClr val="384653"/>
                </a:solidFill>
                <a:latin typeface="微软雅黑" panose="020B0503020204020204" charset="-122"/>
                <a:ea typeface="微软雅黑" panose="020B0503020204020204" charset="-122"/>
                <a:cs typeface="微软雅黑" panose="020B0503020204020204" charset="-122"/>
              </a:rPr>
              <a:t>等强特征，直接强化模型对</a:t>
            </a:r>
            <a:r>
              <a:rPr lang="en-US" altLang="zh-CN" sz="1450" dirty="0">
                <a:solidFill>
                  <a:srgbClr val="384653"/>
                </a:solidFill>
                <a:latin typeface="微软雅黑" panose="020B0503020204020204" charset="-122"/>
                <a:ea typeface="微软雅黑" panose="020B0503020204020204" charset="-122"/>
                <a:cs typeface="微软雅黑" panose="020B0503020204020204" charset="-122"/>
              </a:rPr>
              <a:t>“</a:t>
            </a:r>
            <a:r>
              <a:rPr lang="zh-CN" altLang="en-US" sz="1450" dirty="0">
                <a:solidFill>
                  <a:srgbClr val="384653"/>
                </a:solidFill>
                <a:latin typeface="微软雅黑" panose="020B0503020204020204" charset="-122"/>
                <a:ea typeface="微软雅黑" panose="020B0503020204020204" charset="-122"/>
                <a:cs typeface="微软雅黑" panose="020B0503020204020204" charset="-122"/>
              </a:rPr>
              <a:t>高端机</a:t>
            </a:r>
            <a:r>
              <a:rPr lang="en-US" altLang="zh-CN" sz="1450" dirty="0">
                <a:solidFill>
                  <a:srgbClr val="384653"/>
                </a:solidFill>
                <a:latin typeface="微软雅黑" panose="020B0503020204020204" charset="-122"/>
                <a:ea typeface="微软雅黑" panose="020B0503020204020204" charset="-122"/>
                <a:cs typeface="微软雅黑" panose="020B0503020204020204" charset="-122"/>
              </a:rPr>
              <a:t>”</a:t>
            </a:r>
            <a:r>
              <a:rPr lang="zh-CN" altLang="en-US" sz="1450" dirty="0">
                <a:solidFill>
                  <a:srgbClr val="384653"/>
                </a:solidFill>
                <a:latin typeface="微软雅黑" panose="020B0503020204020204" charset="-122"/>
                <a:ea typeface="微软雅黑" panose="020B0503020204020204" charset="-122"/>
                <a:cs typeface="微软雅黑" panose="020B0503020204020204" charset="-122"/>
              </a:rPr>
              <a:t>的识别能力。或者将连续的</a:t>
            </a:r>
            <a:r>
              <a:rPr lang="en-US" altLang="zh-CN" sz="1450" dirty="0">
                <a:solidFill>
                  <a:srgbClr val="384653"/>
                </a:solidFill>
                <a:latin typeface="微软雅黑" panose="020B0503020204020204" charset="-122"/>
                <a:ea typeface="微软雅黑" panose="020B0503020204020204" charset="-122"/>
                <a:cs typeface="微软雅黑" panose="020B0503020204020204" charset="-122"/>
              </a:rPr>
              <a:t> battery_power </a:t>
            </a:r>
            <a:r>
              <a:rPr lang="zh-CN" altLang="en-US" sz="1450" dirty="0">
                <a:solidFill>
                  <a:srgbClr val="384653"/>
                </a:solidFill>
                <a:latin typeface="微软雅黑" panose="020B0503020204020204" charset="-122"/>
                <a:ea typeface="微软雅黑" panose="020B0503020204020204" charset="-122"/>
                <a:cs typeface="微软雅黑" panose="020B0503020204020204" charset="-122"/>
              </a:rPr>
              <a:t>等特征离散化，帮助模型更稳定地捕捉价格区间。还可以使用贝叶斯优化或网格搜索，对树的数量、树深、分裂阈值进行精细调整，在防止过拟合的前提下进一步逼近</a:t>
            </a:r>
            <a:r>
              <a:rPr lang="en-US" altLang="zh-CN" sz="1450" dirty="0">
                <a:solidFill>
                  <a:srgbClr val="384653"/>
                </a:solidFill>
                <a:latin typeface="微软雅黑" panose="020B0503020204020204" charset="-122"/>
                <a:ea typeface="微软雅黑" panose="020B0503020204020204" charset="-122"/>
                <a:cs typeface="微软雅黑" panose="020B0503020204020204" charset="-122"/>
              </a:rPr>
              <a:t> 95% </a:t>
            </a:r>
            <a:r>
              <a:rPr lang="zh-CN" altLang="en-US" sz="1450" dirty="0">
                <a:solidFill>
                  <a:srgbClr val="384653"/>
                </a:solidFill>
                <a:latin typeface="微软雅黑" panose="020B0503020204020204" charset="-122"/>
                <a:ea typeface="微软雅黑" panose="020B0503020204020204" charset="-122"/>
                <a:cs typeface="微软雅黑" panose="020B0503020204020204" charset="-122"/>
              </a:rPr>
              <a:t>的准确率。</a:t>
            </a:r>
            <a:endParaRPr lang="zh-CN" altLang="en-US" sz="1450"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12" name="Shape 7"/>
          <p:cNvSpPr/>
          <p:nvPr/>
        </p:nvSpPr>
        <p:spPr>
          <a:xfrm>
            <a:off x="802640" y="6664325"/>
            <a:ext cx="8936990" cy="805815"/>
          </a:xfrm>
          <a:prstGeom prst="roundRect">
            <a:avLst>
              <a:gd name="adj" fmla="val 35300"/>
            </a:avLst>
          </a:prstGeom>
          <a:solidFill>
            <a:srgbClr val="BEDFF3"/>
          </a:solidFill>
        </p:spPr>
      </p:sp>
      <p:pic>
        <p:nvPicPr>
          <p:cNvPr id="13" name="Image 3" descr="preencoded.png"/>
          <p:cNvPicPr>
            <a:picLocks noChangeAspect="1"/>
          </p:cNvPicPr>
          <p:nvPr/>
        </p:nvPicPr>
        <p:blipFill>
          <a:blip r:embed="rId3"/>
          <a:stretch>
            <a:fillRect/>
          </a:stretch>
        </p:blipFill>
        <p:spPr>
          <a:xfrm>
            <a:off x="992307" y="6948607"/>
            <a:ext cx="236934" cy="189548"/>
          </a:xfrm>
          <a:prstGeom prst="rect">
            <a:avLst/>
          </a:prstGeom>
        </p:spPr>
      </p:pic>
      <p:sp>
        <p:nvSpPr>
          <p:cNvPr id="14" name="Text 8"/>
          <p:cNvSpPr/>
          <p:nvPr/>
        </p:nvSpPr>
        <p:spPr>
          <a:xfrm>
            <a:off x="1418788" y="6901101"/>
            <a:ext cx="12308205" cy="303252"/>
          </a:xfrm>
          <a:prstGeom prst="rect">
            <a:avLst/>
          </a:prstGeom>
          <a:noFill/>
        </p:spPr>
        <p:txBody>
          <a:bodyPr wrap="none" lIns="0" tIns="0" rIns="0" bIns="0" rtlCol="0" anchor="t"/>
          <a:lstStyle/>
          <a:p>
            <a:pPr marL="0" indent="0" algn="l">
              <a:lnSpc>
                <a:spcPts val="2350"/>
              </a:lnSpc>
              <a:buNone/>
            </a:pPr>
            <a:r>
              <a:rPr lang="en-US" sz="1450" b="1" dirty="0">
                <a:solidFill>
                  <a:srgbClr val="000000"/>
                </a:solidFill>
                <a:latin typeface="微软雅黑" panose="020B0503020204020204" charset="-122"/>
                <a:ea typeface="微软雅黑" panose="020B0503020204020204" charset="-122"/>
                <a:cs typeface="微软雅黑" panose="020B0503020204020204" charset="-122"/>
              </a:rPr>
              <a:t>启示:</a:t>
            </a:r>
            <a:r>
              <a:rPr lang="en-US" sz="1450" dirty="0">
                <a:solidFill>
                  <a:srgbClr val="000000"/>
                </a:solidFill>
                <a:latin typeface="微软雅黑" panose="020B0503020204020204" charset="-122"/>
                <a:ea typeface="微软雅黑" panose="020B0503020204020204" charset="-122"/>
                <a:cs typeface="微软雅黑" panose="020B0503020204020204" charset="-122"/>
              </a:rPr>
              <a:t> 没有万能的算法,只有最适合数据分布的算法。模型选择必须基于对数据几何结构的深刻理解。</a:t>
            </a:r>
            <a:endParaRPr lang="en-US" sz="1450" dirty="0">
              <a:latin typeface="微软雅黑" panose="020B0503020204020204" charset="-122"/>
              <a:ea typeface="微软雅黑" panose="020B0503020204020204" charset="-122"/>
              <a:cs typeface="微软雅黑" panose="020B0503020204020204" charset="-122"/>
            </a:endParaRPr>
          </a:p>
        </p:txBody>
      </p:sp>
      <p:pic>
        <p:nvPicPr>
          <p:cNvPr id="17" name="图片 16"/>
          <p:cNvPicPr>
            <a:picLocks noChangeAspect="1"/>
          </p:cNvPicPr>
          <p:nvPr/>
        </p:nvPicPr>
        <p:blipFill>
          <a:blip r:embed="rId4"/>
          <a:stretch>
            <a:fillRect/>
          </a:stretch>
        </p:blipFill>
        <p:spPr>
          <a:xfrm>
            <a:off x="5618480" y="1320165"/>
            <a:ext cx="2437130" cy="1983105"/>
          </a:xfrm>
          <a:prstGeom prst="rect">
            <a:avLst/>
          </a:prstGeom>
        </p:spPr>
      </p:pic>
      <p:pic>
        <p:nvPicPr>
          <p:cNvPr id="18" name="图片 17"/>
          <p:cNvPicPr>
            <a:picLocks noChangeAspect="1"/>
          </p:cNvPicPr>
          <p:nvPr/>
        </p:nvPicPr>
        <p:blipFill>
          <a:blip r:embed="rId5"/>
          <a:stretch>
            <a:fillRect/>
          </a:stretch>
        </p:blipFill>
        <p:spPr>
          <a:xfrm>
            <a:off x="10057765" y="1546860"/>
            <a:ext cx="2830830" cy="1713865"/>
          </a:xfrm>
          <a:prstGeom prst="rect">
            <a:avLst/>
          </a:prstGeom>
        </p:spPr>
      </p:pic>
      <p:pic>
        <p:nvPicPr>
          <p:cNvPr id="19" name="图片 18"/>
          <p:cNvPicPr>
            <a:picLocks noChangeAspect="1"/>
          </p:cNvPicPr>
          <p:nvPr/>
        </p:nvPicPr>
        <p:blipFill>
          <a:blip r:embed="rId6"/>
          <a:stretch>
            <a:fillRect/>
          </a:stretch>
        </p:blipFill>
        <p:spPr>
          <a:xfrm>
            <a:off x="1101090" y="1263015"/>
            <a:ext cx="3660775" cy="197548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8869680" y="0"/>
            <a:ext cx="5760720" cy="8229600"/>
          </a:xfrm>
          <a:prstGeom prst="rect">
            <a:avLst/>
          </a:prstGeom>
        </p:spPr>
      </p:pic>
      <p:sp>
        <p:nvSpPr>
          <p:cNvPr id="3" name="Text 0"/>
          <p:cNvSpPr/>
          <p:nvPr/>
        </p:nvSpPr>
        <p:spPr>
          <a:xfrm>
            <a:off x="758190" y="2425065"/>
            <a:ext cx="4614545" cy="1247140"/>
          </a:xfrm>
          <a:prstGeom prst="rect">
            <a:avLst/>
          </a:prstGeom>
          <a:noFill/>
        </p:spPr>
        <p:txBody>
          <a:bodyPr wrap="none" lIns="0" tIns="0" rIns="0" bIns="0" rtlCol="0" anchor="t"/>
          <a:lstStyle/>
          <a:p>
            <a:pPr marL="0" indent="0" algn="l">
              <a:lnSpc>
                <a:spcPts val="9800"/>
              </a:lnSpc>
              <a:buNone/>
            </a:pPr>
            <a:r>
              <a:rPr lang="en-US" sz="7850" b="1" dirty="0">
                <a:solidFill>
                  <a:srgbClr val="2E3C4E"/>
                </a:solidFill>
                <a:latin typeface="微软雅黑" panose="020B0503020204020204" charset="-122"/>
                <a:ea typeface="微软雅黑" panose="020B0503020204020204" charset="-122"/>
                <a:cs typeface="Barlow Bold" pitchFamily="34" charset="-120"/>
              </a:rPr>
              <a:t>感谢聆听</a:t>
            </a:r>
            <a:endParaRPr lang="en-US" sz="7850" b="1" dirty="0">
              <a:solidFill>
                <a:srgbClr val="2E3C4E"/>
              </a:solidFill>
              <a:latin typeface="微软雅黑" panose="020B0503020204020204" charset="-122"/>
              <a:ea typeface="微软雅黑" panose="020B0503020204020204" charset="-122"/>
              <a:cs typeface="Barlow Bold" pitchFamily="34" charset="-120"/>
            </a:endParaRPr>
          </a:p>
        </p:txBody>
      </p:sp>
      <p:sp>
        <p:nvSpPr>
          <p:cNvPr id="8" name="Text 4"/>
          <p:cNvSpPr/>
          <p:nvPr/>
        </p:nvSpPr>
        <p:spPr>
          <a:xfrm>
            <a:off x="758309" y="4401860"/>
            <a:ext cx="7627382" cy="303252"/>
          </a:xfrm>
          <a:prstGeom prst="rect">
            <a:avLst/>
          </a:prstGeom>
          <a:noFill/>
        </p:spPr>
        <p:txBody>
          <a:bodyPr wrap="none" lIns="0" tIns="0" rIns="0" bIns="0" rtlCol="0" anchor="t"/>
          <a:lstStyle/>
          <a:p>
            <a:pPr marL="0" indent="0" algn="l">
              <a:lnSpc>
                <a:spcPts val="2350"/>
              </a:lnSpc>
              <a:buNone/>
            </a:pPr>
            <a:endParaRPr lang="en-US" sz="1450" dirty="0">
              <a:latin typeface="微软雅黑" panose="020B0503020204020204" charset="-122"/>
              <a:ea typeface="微软雅黑" panose="020B0503020204020204" charset="-122"/>
            </a:endParaRPr>
          </a:p>
        </p:txBody>
      </p:sp>
      <p:sp>
        <p:nvSpPr>
          <p:cNvPr id="9" name="Text 5"/>
          <p:cNvSpPr/>
          <p:nvPr/>
        </p:nvSpPr>
        <p:spPr>
          <a:xfrm>
            <a:off x="758309" y="4918353"/>
            <a:ext cx="7627382" cy="303252"/>
          </a:xfrm>
          <a:prstGeom prst="rect">
            <a:avLst/>
          </a:prstGeom>
          <a:noFill/>
        </p:spPr>
        <p:txBody>
          <a:bodyPr wrap="none" lIns="0" tIns="0" rIns="0" bIns="0" rtlCol="0" anchor="t"/>
          <a:lstStyle/>
          <a:p>
            <a:pPr marL="0" indent="0" algn="l">
              <a:lnSpc>
                <a:spcPts val="2350"/>
              </a:lnSpc>
              <a:buNone/>
            </a:pPr>
            <a:r>
              <a:rPr lang="en-US" sz="1450" b="1" dirty="0">
                <a:solidFill>
                  <a:srgbClr val="384653"/>
                </a:solidFill>
                <a:latin typeface="微软雅黑" panose="020B0503020204020204" charset="-122"/>
                <a:ea typeface="微软雅黑" panose="020B0503020204020204" charset="-122"/>
                <a:cs typeface="微软雅黑" panose="020B0503020204020204" charset="-122"/>
              </a:rPr>
              <a:t>机器学习第11小组</a:t>
            </a:r>
            <a:endParaRPr lang="en-US" sz="1450" b="1"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10" name="Text 6"/>
          <p:cNvSpPr/>
          <p:nvPr/>
        </p:nvSpPr>
        <p:spPr>
          <a:xfrm>
            <a:off x="758309" y="5434846"/>
            <a:ext cx="7627382" cy="303252"/>
          </a:xfrm>
          <a:prstGeom prst="rect">
            <a:avLst/>
          </a:prstGeom>
          <a:noFill/>
        </p:spPr>
        <p:txBody>
          <a:bodyPr wrap="none" lIns="0" tIns="0" rIns="0" bIns="0" rtlCol="0" anchor="t"/>
          <a:lstStyle/>
          <a:p>
            <a:pPr marL="0" indent="0" algn="l">
              <a:lnSpc>
                <a:spcPts val="2350"/>
              </a:lnSpc>
              <a:buNone/>
            </a:pPr>
            <a:r>
              <a:rPr lang="en-US" sz="1450" b="1" dirty="0">
                <a:solidFill>
                  <a:srgbClr val="384653"/>
                </a:solidFill>
                <a:latin typeface="微软雅黑" panose="020B0503020204020204" charset="-122"/>
                <a:ea typeface="微软雅黑" panose="020B0503020204020204" charset="-122"/>
                <a:cs typeface="微软雅黑" panose="020B0503020204020204" charset="-122"/>
              </a:rPr>
              <a:t>组员：徐华炫 刘佳鑫 毛星博</a:t>
            </a:r>
            <a:endParaRPr lang="en-US" sz="1450" b="1" dirty="0">
              <a:solidFill>
                <a:srgbClr val="384653"/>
              </a:solidFill>
              <a:latin typeface="微软雅黑" panose="020B0503020204020204" charset="-122"/>
              <a:ea typeface="微软雅黑" panose="020B0503020204020204" charset="-122"/>
              <a:cs typeface="微软雅黑" panose="020B0503020204020204" charset="-122"/>
            </a:endParaRPr>
          </a:p>
        </p:txBody>
      </p:sp>
      <p:sp>
        <p:nvSpPr>
          <p:cNvPr id="11" name="Text 7"/>
          <p:cNvSpPr/>
          <p:nvPr/>
        </p:nvSpPr>
        <p:spPr>
          <a:xfrm>
            <a:off x="758309" y="5951339"/>
            <a:ext cx="7627382" cy="303252"/>
          </a:xfrm>
          <a:prstGeom prst="rect">
            <a:avLst/>
          </a:prstGeom>
          <a:noFill/>
        </p:spPr>
        <p:txBody>
          <a:bodyPr wrap="none" lIns="0" tIns="0" rIns="0" bIns="0" rtlCol="0" anchor="t"/>
          <a:lstStyle/>
          <a:p>
            <a:pPr marL="0" indent="0" algn="l">
              <a:lnSpc>
                <a:spcPts val="2350"/>
              </a:lnSpc>
              <a:buNone/>
            </a:pPr>
            <a:r>
              <a:rPr lang="en-US" sz="1450" b="1" dirty="0">
                <a:solidFill>
                  <a:srgbClr val="384653"/>
                </a:solidFill>
                <a:latin typeface="微软雅黑" panose="020B0503020204020204" charset="-122"/>
                <a:ea typeface="微软雅黑" panose="020B0503020204020204" charset="-122"/>
                <a:cs typeface="Montserrat" pitchFamily="34" charset="-120"/>
              </a:rPr>
              <a:t>汇报人：毛星博</a:t>
            </a:r>
            <a:endParaRPr lang="en-US" sz="1450" b="1" dirty="0">
              <a:solidFill>
                <a:srgbClr val="384653"/>
              </a:solidFill>
              <a:latin typeface="微软雅黑" panose="020B0503020204020204" charset="-122"/>
              <a:ea typeface="微软雅黑" panose="020B0503020204020204" charset="-122"/>
              <a:cs typeface="Montserrat" pitchFamily="34" charset="-120"/>
            </a:endParaRPr>
          </a:p>
        </p:txBody>
      </p:sp>
      <p:sp>
        <p:nvSpPr>
          <p:cNvPr id="12" name="Text 8"/>
          <p:cNvSpPr/>
          <p:nvPr/>
        </p:nvSpPr>
        <p:spPr>
          <a:xfrm>
            <a:off x="758309" y="6467832"/>
            <a:ext cx="7627382" cy="303252"/>
          </a:xfrm>
          <a:prstGeom prst="rect">
            <a:avLst/>
          </a:prstGeom>
          <a:noFill/>
        </p:spPr>
        <p:txBody>
          <a:bodyPr wrap="none" lIns="0" tIns="0" rIns="0" bIns="0" rtlCol="0" anchor="t"/>
          <a:lstStyle/>
          <a:p>
            <a:pPr marL="0" indent="0" algn="l">
              <a:lnSpc>
                <a:spcPts val="2350"/>
              </a:lnSpc>
              <a:buNone/>
            </a:pPr>
            <a:r>
              <a:rPr lang="en-US" sz="1450" b="1" dirty="0">
                <a:solidFill>
                  <a:srgbClr val="384653"/>
                </a:solidFill>
                <a:latin typeface="微软雅黑" panose="020B0503020204020204" charset="-122"/>
                <a:ea typeface="微软雅黑" panose="020B0503020204020204" charset="-122"/>
                <a:cs typeface="微软雅黑" panose="020B0503020204020204" charset="-122"/>
              </a:rPr>
              <a:t>2025 年 12 月 1 日</a:t>
            </a:r>
            <a:endParaRPr lang="en-US" sz="1450" b="1" dirty="0">
              <a:solidFill>
                <a:srgbClr val="38465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DIAGRAM_VIRTUALLY_FRAME" val="{&quot;height&quot;:429.84370078740164,&quot;left&quot;:59.70937007874015,&quot;top&quot;:120.63748031496064,&quot;width&quot;:428.4468503937008}"/>
</p:tagLst>
</file>

<file path=ppt/tags/tag2.xml><?xml version="1.0" encoding="utf-8"?>
<p:tagLst xmlns:p="http://schemas.openxmlformats.org/presentationml/2006/main">
  <p:tag name="KSO_WM_DIAGRAM_VIRTUALLY_FRAME" val="{&quot;height&quot;:429.84370078740164,&quot;left&quot;:59.70937007874015,&quot;top&quot;:120.63748031496064,&quot;width&quot;:428.4468503937008}"/>
</p:tagLst>
</file>

<file path=ppt/tags/tag3.xml><?xml version="1.0" encoding="utf-8"?>
<p:tagLst xmlns:p="http://schemas.openxmlformats.org/presentationml/2006/main">
  <p:tag name="KSO_WM_DIAGRAM_VIRTUALLY_FRAME" val="{&quot;height&quot;:429.84370078740164,&quot;left&quot;:59.70937007874015,&quot;top&quot;:120.63748031496064,&quot;width&quot;:428.4468503937008}"/>
</p:tagLst>
</file>

<file path=ppt/tags/tag4.xml><?xml version="1.0" encoding="utf-8"?>
<p:tagLst xmlns:p="http://schemas.openxmlformats.org/presentationml/2006/main">
  <p:tag name="KSO_WM_DIAGRAM_VIRTUALLY_FRAME" val="{&quot;height&quot;:429.84370078740164,&quot;left&quot;:59.70937007874015,&quot;top&quot;:120.63748031496064,&quot;width&quot;:428.4468503937008}"/>
</p:tagLst>
</file>

<file path=ppt/tags/tag5.xml><?xml version="1.0" encoding="utf-8"?>
<p:tagLst xmlns:p="http://schemas.openxmlformats.org/presentationml/2006/main">
  <p:tag name="KSO_WM_DIAGRAM_VIRTUALLY_FRAME" val="{&quot;height&quot;:429.84370078740164,&quot;left&quot;:59.70937007874015,&quot;top&quot;:120.63748031496064,&quot;width&quot;:428.4468503937008}"/>
</p:tagLst>
</file>

<file path=ppt/tags/tag6.xml><?xml version="1.0" encoding="utf-8"?>
<p:tagLst xmlns:p="http://schemas.openxmlformats.org/presentationml/2006/main">
  <p:tag name="KSO_WM_DIAGRAM_VIRTUALLY_FRAME" val="{&quot;height&quot;:429.84370078740164,&quot;left&quot;:59.70937007874015,&quot;top&quot;:120.63748031496064,&quot;width&quot;:428.4468503937008}"/>
</p:tagLst>
</file>

<file path=ppt/tags/tag7.xml><?xml version="1.0" encoding="utf-8"?>
<p:tagLst xmlns:p="http://schemas.openxmlformats.org/presentationml/2006/main">
  <p:tag name="KSO_WM_DIAGRAM_VIRTUALLY_FRAME" val="{&quot;height&quot;:429.84370078740164,&quot;left&quot;:59.70937007874015,&quot;top&quot;:120.63748031496064,&quot;width&quot;:428.4468503937008}"/>
</p:tagLst>
</file>

<file path=ppt/tags/tag8.xml><?xml version="1.0" encoding="utf-8"?>
<p:tagLst xmlns:p="http://schemas.openxmlformats.org/presentationml/2006/main">
  <p:tag name="KSO_WM_DIAGRAM_VIRTUALLY_FRAME" val="{&quot;height&quot;:429.84370078740164,&quot;left&quot;:59.70937007874015,&quot;top&quot;:120.63748031496064,&quot;width&quot;:428.4468503937008}"/>
</p:tagLst>
</file>

<file path=ppt/tags/tag9.xml><?xml version="1.0" encoding="utf-8"?>
<p:tagLst xmlns:p="http://schemas.openxmlformats.org/presentationml/2006/main">
  <p:tag name="KSO_WM_DIAGRAM_VIRTUALLY_FRAME" val="{&quot;height&quot;:429.84370078740164,&quot;left&quot;:59.70937007874015,&quot;top&quot;:120.63748031496064,&quot;width&quot;:428.4468503937008}"/>
</p:tagLst>
</file>

<file path=ppt/tags/tag10.xml><?xml version="1.0" encoding="utf-8"?>
<p:tagLst xmlns:p="http://schemas.openxmlformats.org/presentationml/2006/main">
  <p:tag name="KSO_WM_DIAGRAM_VIRTUALLY_FRAME" val="{&quot;height&quot;:429.84370078740164,&quot;left&quot;:59.70937007874015,&quot;top&quot;:120.63748031496064,&quot;width&quot;:428.4468503937008}"/>
</p:tagLst>
</file>

<file path=ppt/tags/tag11.xml><?xml version="1.0" encoding="utf-8"?>
<p:tagLst xmlns:p="http://schemas.openxmlformats.org/presentationml/2006/main">
  <p:tag name="KSO_WM_DIAGRAM_VIRTUALLY_FRAME" val="{&quot;height&quot;:429.84370078740164,&quot;left&quot;:59.70937007874015,&quot;top&quot;:120.63748031496064,&quot;width&quot;:428.4468503937008}"/>
</p:tagLst>
</file>

<file path=ppt/tags/tag12.xml><?xml version="1.0" encoding="utf-8"?>
<p:tagLst xmlns:p="http://schemas.openxmlformats.org/presentationml/2006/main">
  <p:tag name="KSO_WM_DIAGRAM_VIRTUALLY_FRAME" val="{&quot;height&quot;:429.84370078740164,&quot;left&quot;:59.70937007874015,&quot;top&quot;:120.63748031496064,&quot;width&quot;:428.4468503937008}"/>
</p:tagLst>
</file>

<file path=ppt/tags/tag13.xml><?xml version="1.0" encoding="utf-8"?>
<p:tagLst xmlns:p="http://schemas.openxmlformats.org/presentationml/2006/main">
  <p:tag name="KSO_WM_DIAGRAM_VIRTUALLY_FRAME" val="{&quot;height&quot;:429.84370078740164,&quot;left&quot;:59.70937007874015,&quot;top&quot;:120.63748031496064,&quot;width&quot;:428.4468503937008}"/>
</p:tagLst>
</file>

<file path=ppt/tags/tag14.xml><?xml version="1.0" encoding="utf-8"?>
<p:tagLst xmlns:p="http://schemas.openxmlformats.org/presentationml/2006/main">
  <p:tag name="KSO_WM_DIAGRAM_VIRTUALLY_FRAME" val="{&quot;height&quot;:429.84370078740164,&quot;left&quot;:59.70937007874015,&quot;top&quot;:120.63748031496064,&quot;width&quot;:428.4468503937008}"/>
</p:tagLst>
</file>

<file path=ppt/tags/tag15.xml><?xml version="1.0" encoding="utf-8"?>
<p:tagLst xmlns:p="http://schemas.openxmlformats.org/presentationml/2006/main">
  <p:tag name="KSO_WM_DIAGRAM_VIRTUALLY_FRAME" val="{&quot;height&quot;:429.84370078740164,&quot;left&quot;:59.70937007874015,&quot;top&quot;:120.63748031496064,&quot;width&quot;:428.4468503937008}"/>
</p:tagLst>
</file>

<file path=ppt/tags/tag16.xml><?xml version="1.0" encoding="utf-8"?>
<p:tagLst xmlns:p="http://schemas.openxmlformats.org/presentationml/2006/main">
  <p:tag name="KSO_WM_DIAGRAM_VIRTUALLY_FRAME" val="{&quot;height&quot;:429.84370078740164,&quot;left&quot;:59.70937007874015,&quot;top&quot;:120.63748031496064,&quot;width&quot;:428.4468503937008}"/>
</p:tagLst>
</file>

<file path=ppt/tags/tag17.xml><?xml version="1.0" encoding="utf-8"?>
<p:tagLst xmlns:p="http://schemas.openxmlformats.org/presentationml/2006/main">
  <p:tag name="KSO_WM_DIAGRAM_VIRTUALLY_FRAME" val="{&quot;height&quot;:171.4530708661417,&quot;left&quot;:59.70937007874013,&quot;top&quot;:309.9750393700787,&quot;width&quot;:1032.5812598425196}"/>
</p:tagLst>
</file>

<file path=ppt/tags/tag18.xml><?xml version="1.0" encoding="utf-8"?>
<p:tagLst xmlns:p="http://schemas.openxmlformats.org/presentationml/2006/main">
  <p:tag name="KSO_WM_DIAGRAM_VIRTUALLY_FRAME" val="{&quot;height&quot;:171.4530708661417,&quot;left&quot;:59.70937007874013,&quot;top&quot;:309.9750393700787,&quot;width&quot;:1032.5812598425196}"/>
</p:tagLst>
</file>

<file path=ppt/tags/tag19.xml><?xml version="1.0" encoding="utf-8"?>
<p:tagLst xmlns:p="http://schemas.openxmlformats.org/presentationml/2006/main">
  <p:tag name="KSO_WM_DIAGRAM_VIRTUALLY_FRAME" val="{&quot;height&quot;:171.4530708661417,&quot;left&quot;:59.70937007874013,&quot;top&quot;:309.9750393700787,&quot;width&quot;:1032.5812598425196}"/>
</p:tagLst>
</file>

<file path=ppt/tags/tag20.xml><?xml version="1.0" encoding="utf-8"?>
<p:tagLst xmlns:p="http://schemas.openxmlformats.org/presentationml/2006/main">
  <p:tag name="KSO_WM_DIAGRAM_VIRTUALLY_FRAME" val="{&quot;height&quot;:171.4530708661417,&quot;left&quot;:59.70937007874013,&quot;top&quot;:309.9750393700787,&quot;width&quot;:1032.5812598425196}"/>
</p:tagLst>
</file>

<file path=ppt/tags/tag21.xml><?xml version="1.0" encoding="utf-8"?>
<p:tagLst xmlns:p="http://schemas.openxmlformats.org/presentationml/2006/main">
  <p:tag name="KSO_WM_DIAGRAM_VIRTUALLY_FRAME" val="{&quot;height&quot;:171.4530708661417,&quot;left&quot;:59.70937007874013,&quot;top&quot;:309.9750393700787,&quot;width&quot;:1032.5812598425196}"/>
</p:tagLst>
</file>

<file path=ppt/tags/tag22.xml><?xml version="1.0" encoding="utf-8"?>
<p:tagLst xmlns:p="http://schemas.openxmlformats.org/presentationml/2006/main">
  <p:tag name="KSO_WM_DIAGRAM_VIRTUALLY_FRAME" val="{&quot;height&quot;:171.4530708661417,&quot;left&quot;:59.70937007874013,&quot;top&quot;:309.9750393700787,&quot;width&quot;:1032.5812598425196}"/>
</p:tagLst>
</file>

<file path=ppt/tags/tag23.xml><?xml version="1.0" encoding="utf-8"?>
<p:tagLst xmlns:p="http://schemas.openxmlformats.org/presentationml/2006/main">
  <p:tag name="KSO_WM_DIAGRAM_VIRTUALLY_FRAME" val="{&quot;height&quot;:463.73748031496064,&quot;left&quot;:59.70937007874015,&quot;top&quot;:48.156220472440964,&quot;width&quot;:1033.5906299212597}"/>
</p:tagLst>
</file>

<file path=ppt/tags/tag24.xml><?xml version="1.0" encoding="utf-8"?>
<p:tagLst xmlns:p="http://schemas.openxmlformats.org/presentationml/2006/main">
  <p:tag name="KSO_WM_DIAGRAM_VIRTUALLY_FRAME" val="{&quot;height&quot;:463.73748031496064,&quot;left&quot;:59.70937007874015,&quot;top&quot;:48.156220472440964,&quot;width&quot;:1033.5906299212597}"/>
</p:tagLst>
</file>

<file path=ppt/tags/tag25.xml><?xml version="1.0" encoding="utf-8"?>
<p:tagLst xmlns:p="http://schemas.openxmlformats.org/presentationml/2006/main">
  <p:tag name="KSO_WM_DIAGRAM_VIRTUALLY_FRAME" val="{&quot;height&quot;:463.73748031496064,&quot;left&quot;:59.70937007874015,&quot;top&quot;:48.156220472440964,&quot;width&quot;:1033.5906299212597}"/>
</p:tagLst>
</file>

<file path=ppt/tags/tag26.xml><?xml version="1.0" encoding="utf-8"?>
<p:tagLst xmlns:p="http://schemas.openxmlformats.org/presentationml/2006/main">
  <p:tag name="KSO_WM_DIAGRAM_VIRTUALLY_FRAME" val="{&quot;height&quot;:463.73748031496064,&quot;left&quot;:59.70937007874015,&quot;top&quot;:48.156220472440964,&quot;width&quot;:1033.590629921259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4507</Words>
  <Application>WPS 演示</Application>
  <PresentationFormat>On-screen Show (16:9)</PresentationFormat>
  <Paragraphs>434</Paragraphs>
  <Slides>21</Slides>
  <Notes>22</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21</vt:i4>
      </vt:variant>
    </vt:vector>
  </HeadingPairs>
  <TitlesOfParts>
    <vt:vector size="43" baseType="lpstr">
      <vt:lpstr>Arial</vt:lpstr>
      <vt:lpstr>宋体</vt:lpstr>
      <vt:lpstr>Wingdings</vt:lpstr>
      <vt:lpstr>微软雅黑</vt:lpstr>
      <vt:lpstr>Barlow Bold</vt:lpstr>
      <vt:lpstr>MingLiU-ExtB</vt:lpstr>
      <vt:lpstr>Montserrat</vt:lpstr>
      <vt:lpstr>Arial Unicode MS</vt:lpstr>
      <vt:lpstr>Calibri</vt:lpstr>
      <vt:lpstr>等线</vt:lpstr>
      <vt:lpstr>Times New Roman</vt:lpstr>
      <vt:lpstr>Barlow Light</vt:lpstr>
      <vt:lpstr>Consolas</vt:lpstr>
      <vt:lpstr>Barlow Bold</vt:lpstr>
      <vt:lpstr>Barlow Light</vt:lpstr>
      <vt:lpstr>Consolas</vt:lpstr>
      <vt:lpstr>Montserrat</vt:lpstr>
      <vt:lpstr>Times New Roman</vt:lpstr>
      <vt:lpstr>Segoe Print</vt:lpstr>
      <vt:lpstr>Kata Bold</vt:lpstr>
      <vt:lpstr>Windsor Std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JL</cp:lastModifiedBy>
  <cp:revision>3</cp:revision>
  <dcterms:created xsi:type="dcterms:W3CDTF">2025-11-27T07:13:00Z</dcterms:created>
  <dcterms:modified xsi:type="dcterms:W3CDTF">2025-11-30T05:56:27Z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3EB04ECF4E0F4E598927F178A5FF523E_12</vt:lpwstr>
  </property>
</Properties>
</file>