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9"/>
  </p:notesMasterIdLst>
  <p:handoutMasterIdLst>
    <p:handoutMasterId r:id="rId20"/>
  </p:handoutMasterIdLst>
  <p:sldIdLst>
    <p:sldId id="256" r:id="rId4"/>
    <p:sldId id="260" r:id="rId5"/>
    <p:sldId id="258" r:id="rId6"/>
    <p:sldId id="265" r:id="rId7"/>
    <p:sldId id="271" r:id="rId8"/>
    <p:sldId id="266" r:id="rId9"/>
    <p:sldId id="268" r:id="rId10"/>
    <p:sldId id="270" r:id="rId11"/>
    <p:sldId id="272" r:id="rId12"/>
    <p:sldId id="273" r:id="rId13"/>
    <p:sldId id="275" r:id="rId14"/>
    <p:sldId id="286" r:id="rId15"/>
    <p:sldId id="287" r:id="rId16"/>
    <p:sldId id="283" r:id="rId17"/>
    <p:sldId id="285" r:id="rId18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9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2"/>
        <p:guide pos="39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36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40" y="0"/>
            <a:ext cx="12186920" cy="6858000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157288" y="1402130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en-US" altLang="zh-CN" sz="6000" b="0" i="0" u="none" strike="noStrike" kern="1200" cap="none" spc="0" normalizeH="0" baseline="0" noProof="1" dirty="0">
                <a:solidFill>
                  <a:srgbClr val="FFFFFF"/>
                </a:solidFill>
                <a:latin typeface="汉仪雅酷黑-95J" panose="00020600040101010101" charset="-122"/>
                <a:ea typeface="汉仪雅酷黑-95J" panose="00020600040101010101" charset="-122"/>
                <a:cs typeface="黑体" panose="02010609060101010101" charset="-122"/>
                <a:sym typeface="汉仪雅酷黑-95J" panose="00020600040101010101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汉仪雅酷黑-95J" panose="00020600040101010101" charset="-122"/>
                <a:ea typeface="汉仪雅酷黑-95J" panose="00020600040101010101" charset="-122"/>
                <a:sym typeface="汉仪雅酷黑-9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汉仪雅酷黑-95J" panose="00020600040101010101" charset="-122"/>
                <a:ea typeface="汉仪雅酷黑-95J" panose="00020600040101010101" charset="-122"/>
                <a:sym typeface="汉仪雅酷黑-9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汉仪雅酷黑-95J" panose="00020600040101010101" charset="-122"/>
                <a:ea typeface="汉仪雅酷黑-95J" panose="00020600040101010101" charset="-122"/>
                <a:sym typeface="汉仪雅酷黑-9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1200" y="0"/>
            <a:ext cx="12189600" cy="27178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雅酷黑-95J" panose="00020600040101010101" charset="-122"/>
              <a:ea typeface="汉仪雅酷黑-95J" panose="00020600040101010101" charset="-122"/>
              <a:cs typeface="黑体" panose="02010609060101010101" charset="-122"/>
              <a:sym typeface="汉仪雅酷黑-95J" panose="0002060004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雅酷黑-95J" panose="00020600040101010101" charset="-122"/>
                <a:ea typeface="汉仪雅酷黑-95J" panose="00020600040101010101" charset="-122"/>
                <a:sym typeface="汉仪雅酷黑-95J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雅酷黑-95J" panose="00020600040101010101" charset="-122"/>
                <a:ea typeface="汉仪雅酷黑-95J" panose="00020600040101010101" charset="-122"/>
                <a:sym typeface="汉仪雅酷黑-9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雅酷黑-95J" panose="00020600040101010101" charset="-122"/>
                <a:ea typeface="汉仪雅酷黑-95J" panose="00020600040101010101" charset="-122"/>
                <a:sym typeface="汉仪雅酷黑-95J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雅酷黑-95J" panose="00020600040101010101" charset="-122"/>
              <a:ea typeface="汉仪雅酷黑-95J" panose="00020600040101010101" charset="-122"/>
              <a:sym typeface="汉仪雅酷黑-95J" panose="00020600040101010101" charset="-122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u="none" kern="1200" spc="0">
          <a:solidFill>
            <a:schemeClr val="accent1"/>
          </a:solidFill>
          <a:effectLst/>
          <a:uFill>
            <a:solidFill>
              <a:schemeClr val="bg1"/>
            </a:solidFill>
          </a:uFill>
          <a:latin typeface="汉仪雅酷黑-95J" panose="00020600040101010101" charset="-122"/>
          <a:ea typeface="汉仪雅酷黑-95J" panose="00020600040101010101" charset="-122"/>
          <a:cs typeface="+mj-cs"/>
          <a:sym typeface="汉仪雅酷黑-95J" panose="00020600040101010101" charset="-122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汉仪雅酷黑-95J" panose="00020600040101010101" charset="-122"/>
          <a:ea typeface="汉仪雅酷黑-95J" panose="00020600040101010101" charset="-122"/>
          <a:cs typeface="+mn-cs"/>
          <a:sym typeface="汉仪雅酷黑-95J" panose="00020600040101010101" charset="-122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汉仪雅酷黑-95J" panose="00020600040101010101" charset="-122"/>
          <a:ea typeface="汉仪雅酷黑-95J" panose="00020600040101010101" charset="-122"/>
          <a:cs typeface="+mn-cs"/>
          <a:sym typeface="汉仪雅酷黑-95J" panose="00020600040101010101" charset="-122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汉仪雅酷黑-95J" panose="00020600040101010101" charset="-122"/>
          <a:ea typeface="汉仪雅酷黑-95J" panose="00020600040101010101" charset="-122"/>
          <a:cs typeface="+mn-cs"/>
          <a:sym typeface="汉仪雅酷黑-95J" panose="00020600040101010101" charset="-122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汉仪雅酷黑-95J" panose="00020600040101010101" charset="-122"/>
          <a:ea typeface="汉仪雅酷黑-95J" panose="00020600040101010101" charset="-122"/>
          <a:cs typeface="+mn-cs"/>
          <a:sym typeface="汉仪雅酷黑-95J" panose="00020600040101010101" charset="-122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汉仪雅酷黑-95J" panose="00020600040101010101" charset="-122"/>
          <a:ea typeface="汉仪雅酷黑-95J" panose="00020600040101010101" charset="-122"/>
          <a:cs typeface="+mn-cs"/>
          <a:sym typeface="汉仪雅酷黑-95J" panose="0002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4" Type="http://schemas.openxmlformats.org/officeDocument/2006/relationships/slideLayout" Target="../slideLayouts/slideLayout12.xml"/><Relationship Id="rId23" Type="http://schemas.openxmlformats.org/officeDocument/2006/relationships/tags" Target="../tags/tag34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image" Target="../media/image7.png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20.png"/><Relationship Id="rId12" Type="http://schemas.openxmlformats.org/officeDocument/2006/relationships/image" Target="../media/image19.png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30.png"/><Relationship Id="rId10" Type="http://schemas.openxmlformats.org/officeDocument/2006/relationships/image" Target="../media/image2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32.jpeg"/><Relationship Id="rId12" Type="http://schemas.openxmlformats.org/officeDocument/2006/relationships/image" Target="../media/image31.png"/><Relationship Id="rId11" Type="http://schemas.openxmlformats.org/officeDocument/2006/relationships/image" Target="../media/image30.png"/><Relationship Id="rId10" Type="http://schemas.openxmlformats.org/officeDocument/2006/relationships/image" Target="../media/image2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22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0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2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14.png"/><Relationship Id="rId4" Type="http://schemas.openxmlformats.org/officeDocument/2006/relationships/image" Target="../media/image41.png"/><Relationship Id="rId3" Type="http://schemas.openxmlformats.org/officeDocument/2006/relationships/image" Target="../media/image25.png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57.png"/><Relationship Id="rId23" Type="http://schemas.openxmlformats.org/officeDocument/2006/relationships/image" Target="../media/image56.png"/><Relationship Id="rId22" Type="http://schemas.openxmlformats.org/officeDocument/2006/relationships/image" Target="../media/image55.png"/><Relationship Id="rId21" Type="http://schemas.openxmlformats.org/officeDocument/2006/relationships/image" Target="../media/image54.png"/><Relationship Id="rId20" Type="http://schemas.openxmlformats.org/officeDocument/2006/relationships/image" Target="../media/image53.png"/><Relationship Id="rId2" Type="http://schemas.openxmlformats.org/officeDocument/2006/relationships/image" Target="../media/image21.png"/><Relationship Id="rId19" Type="http://schemas.openxmlformats.org/officeDocument/2006/relationships/image" Target="../media/image52.png"/><Relationship Id="rId18" Type="http://schemas.openxmlformats.org/officeDocument/2006/relationships/image" Target="../media/image51.png"/><Relationship Id="rId17" Type="http://schemas.openxmlformats.org/officeDocument/2006/relationships/image" Target="../media/image28.png"/><Relationship Id="rId16" Type="http://schemas.openxmlformats.org/officeDocument/2006/relationships/image" Target="../media/image50.png"/><Relationship Id="rId15" Type="http://schemas.openxmlformats.org/officeDocument/2006/relationships/image" Target="../media/image49.png"/><Relationship Id="rId14" Type="http://schemas.openxmlformats.org/officeDocument/2006/relationships/image" Target="../media/image48.png"/><Relationship Id="rId13" Type="http://schemas.openxmlformats.org/officeDocument/2006/relationships/image" Target="../media/image18.png"/><Relationship Id="rId12" Type="http://schemas.openxmlformats.org/officeDocument/2006/relationships/image" Target="../media/image47.png"/><Relationship Id="rId11" Type="http://schemas.openxmlformats.org/officeDocument/2006/relationships/image" Target="../media/image46.png"/><Relationship Id="rId10" Type="http://schemas.openxmlformats.org/officeDocument/2006/relationships/image" Target="../media/image45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1" Type="http://schemas.openxmlformats.org/officeDocument/2006/relationships/image" Target="../media/image58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73.jpeg"/><Relationship Id="rId14" Type="http://schemas.openxmlformats.org/officeDocument/2006/relationships/image" Target="../media/image72.jpeg"/><Relationship Id="rId13" Type="http://schemas.openxmlformats.org/officeDocument/2006/relationships/image" Target="../media/image71.png"/><Relationship Id="rId12" Type="http://schemas.openxmlformats.org/officeDocument/2006/relationships/image" Target="../media/image70.png"/><Relationship Id="rId11" Type="http://schemas.openxmlformats.org/officeDocument/2006/relationships/image" Target="../media/image69.png"/><Relationship Id="rId10" Type="http://schemas.openxmlformats.org/officeDocument/2006/relationships/image" Target="../media/image68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png"/><Relationship Id="rId8" Type="http://schemas.openxmlformats.org/officeDocument/2006/relationships/image" Target="../media/image26.png"/><Relationship Id="rId7" Type="http://schemas.openxmlformats.org/officeDocument/2006/relationships/image" Target="../media/image79.png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86.png"/><Relationship Id="rId14" Type="http://schemas.openxmlformats.org/officeDocument/2006/relationships/image" Target="../media/image85.jpeg"/><Relationship Id="rId13" Type="http://schemas.openxmlformats.org/officeDocument/2006/relationships/image" Target="../media/image84.png"/><Relationship Id="rId12" Type="http://schemas.openxmlformats.org/officeDocument/2006/relationships/image" Target="../media/image83.png"/><Relationship Id="rId11" Type="http://schemas.openxmlformats.org/officeDocument/2006/relationships/image" Target="../media/image82.png"/><Relationship Id="rId10" Type="http://schemas.openxmlformats.org/officeDocument/2006/relationships/image" Target="../media/image81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5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png"/><Relationship Id="rId8" Type="http://schemas.openxmlformats.org/officeDocument/2006/relationships/image" Target="../media/image93.png"/><Relationship Id="rId7" Type="http://schemas.openxmlformats.org/officeDocument/2006/relationships/image" Target="../media/image92.png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101.png"/><Relationship Id="rId16" Type="http://schemas.openxmlformats.org/officeDocument/2006/relationships/image" Target="../media/image100.png"/><Relationship Id="rId15" Type="http://schemas.openxmlformats.org/officeDocument/2006/relationships/image" Target="../media/image99.png"/><Relationship Id="rId14" Type="http://schemas.openxmlformats.org/officeDocument/2006/relationships/image" Target="../media/image98.png"/><Relationship Id="rId13" Type="http://schemas.openxmlformats.org/officeDocument/2006/relationships/image" Target="../media/image57.png"/><Relationship Id="rId12" Type="http://schemas.openxmlformats.org/officeDocument/2006/relationships/image" Target="../media/image97.png"/><Relationship Id="rId11" Type="http://schemas.openxmlformats.org/officeDocument/2006/relationships/image" Target="../media/image96.png"/><Relationship Id="rId10" Type="http://schemas.openxmlformats.org/officeDocument/2006/relationships/image" Target="../media/image95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2.svg"/><Relationship Id="rId2" Type="http://schemas.openxmlformats.org/officeDocument/2006/relationships/image" Target="../media/image3.png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3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82245" y="2953385"/>
            <a:ext cx="6724650" cy="1479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60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北斗卫星导航系统</a:t>
            </a:r>
            <a:endParaRPr sz="6000" b="1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  <a:p>
            <a:r>
              <a:rPr sz="2800">
                <a:solidFill>
                  <a:srgbClr val="A0D8FF"/>
                </a:solidFill>
                <a:latin typeface="方正姚体" panose="02010601030101010101" charset="-122"/>
                <a:ea typeface="方正姚体" panose="02010601030101010101" charset="-122"/>
                <a:sym typeface="+mn-ea"/>
              </a:rPr>
              <a:t>发展、架构、</a:t>
            </a:r>
            <a:r>
              <a:rPr lang="zh-CN" sz="2800">
                <a:solidFill>
                  <a:srgbClr val="A0D8FF"/>
                </a:solidFill>
                <a:latin typeface="方正姚体" panose="02010601030101010101" charset="-122"/>
                <a:ea typeface="方正姚体" panose="02010601030101010101" charset="-122"/>
                <a:sym typeface="+mn-ea"/>
              </a:rPr>
              <a:t>功能、</a:t>
            </a:r>
            <a:r>
              <a:rPr sz="2800">
                <a:solidFill>
                  <a:srgbClr val="A0D8FF"/>
                </a:solidFill>
                <a:latin typeface="方正姚体" panose="02010601030101010101" charset="-122"/>
                <a:ea typeface="方正姚体" panose="02010601030101010101" charset="-122"/>
                <a:sym typeface="+mn-ea"/>
              </a:rPr>
              <a:t>技术与全球战略</a:t>
            </a:r>
            <a:endParaRPr lang="zh-CN" altLang="en-US" sz="2800">
              <a:solidFill>
                <a:srgbClr val="A0D8FF"/>
              </a:solidFill>
              <a:latin typeface="方正姚体" panose="02010601030101010101" charset="-122"/>
              <a:ea typeface="方正姚体" panose="02010601030101010101" charset="-122"/>
              <a:sym typeface="+mn-ea"/>
            </a:endParaRPr>
          </a:p>
        </p:txBody>
      </p:sp>
      <p:pic>
        <p:nvPicPr>
          <p:cNvPr id="8" name="图片 7" descr="卫星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175" y="2594610"/>
            <a:ext cx="426720" cy="42672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54710" y="2696845"/>
            <a:ext cx="5621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rgbClr val="D6D9D7"/>
                </a:solidFill>
                <a:latin typeface="微软雅黑" panose="020B0503020204020204" charset="-122"/>
                <a:ea typeface="微软雅黑" panose="020B0503020204020204" charset="-122"/>
                <a:cs typeface="Eras Bold ITC" panose="020B0907030504020204" charset="0"/>
                <a:sym typeface="+mn-ea"/>
              </a:rPr>
              <a:t>BeiDou Navigation Satellite System</a:t>
            </a:r>
            <a:endParaRPr lang="en-US" altLang="zh-CN" b="1" dirty="0">
              <a:solidFill>
                <a:srgbClr val="D6D9D7"/>
              </a:solidFill>
              <a:latin typeface="微软雅黑" panose="020B0503020204020204" charset="-122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84175" y="4566920"/>
            <a:ext cx="269113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96545" y="4575175"/>
            <a:ext cx="22428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2351520  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毛星博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201920" y="1445895"/>
            <a:ext cx="6724650" cy="951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60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北斗卫星导航系统</a:t>
            </a:r>
            <a:endParaRPr lang="zh-CN" altLang="en-US" sz="2800">
              <a:solidFill>
                <a:srgbClr val="A0D8FF"/>
              </a:solidFill>
              <a:latin typeface="方正姚体" panose="02010601030101010101" charset="-122"/>
              <a:ea typeface="方正姚体" panose="02010601030101010101" charset="-122"/>
              <a:sym typeface="+mn-ea"/>
            </a:endParaRPr>
          </a:p>
        </p:txBody>
      </p:sp>
      <p:pic>
        <p:nvPicPr>
          <p:cNvPr id="8" name="图片 7" descr="卫星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3850" y="1087120"/>
            <a:ext cx="426720" cy="42672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874385" y="1189355"/>
            <a:ext cx="5621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rgbClr val="D6D9D7"/>
                </a:solidFill>
                <a:latin typeface="微软雅黑" panose="020B0503020204020204" charset="-122"/>
                <a:ea typeface="微软雅黑" panose="020B0503020204020204" charset="-122"/>
                <a:cs typeface="Eras Bold ITC" panose="020B0907030504020204" charset="0"/>
                <a:sym typeface="+mn-ea"/>
              </a:rPr>
              <a:t>BeiDou Navigation Satellite System</a:t>
            </a:r>
            <a:endParaRPr lang="en-US" altLang="zh-CN" b="1" dirty="0">
              <a:solidFill>
                <a:srgbClr val="D6D9D7"/>
              </a:solidFill>
              <a:latin typeface="微软雅黑" panose="020B0503020204020204" charset="-122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8190" y="3643630"/>
            <a:ext cx="8143875" cy="22453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北斗卫星导航系统（</a:t>
            </a:r>
            <a:r>
              <a:rPr lang="en-US" altLang="zh-CN" sz="200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BeiDou Navigation Satellite System, BDS</a:t>
            </a:r>
            <a:r>
              <a:rPr lang="zh-CN" altLang="en-US" sz="200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）</a:t>
            </a:r>
            <a:endParaRPr lang="zh-CN" altLang="en-US" sz="2000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endParaRPr lang="zh-CN" altLang="en-US" sz="2000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 sz="200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中国自主建设、独立运行的全球卫星导航系统，是为全球用户提供全天候、全天时、高精度定位、导航与授时服务的国家重要空间基础设施。</a:t>
            </a:r>
            <a:endParaRPr lang="zh-CN" altLang="en-US" sz="2000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endParaRPr lang="zh-CN" altLang="en-US" sz="2000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 sz="200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历经二十余年的发展，北斗系统不仅实现了从区域覆盖到全球服务的跨越，更在技术体制、服务模式和应用领域展现出独特的创新与优势。</a:t>
            </a:r>
            <a:endParaRPr lang="zh-CN" altLang="en-US" sz="2000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平行四边形 12"/>
          <p:cNvSpPr/>
          <p:nvPr>
            <p:custDataLst>
              <p:tags r:id="rId1"/>
            </p:custDataLst>
          </p:nvPr>
        </p:nvSpPr>
        <p:spPr>
          <a:xfrm>
            <a:off x="900244" y="5047522"/>
            <a:ext cx="4969513" cy="775418"/>
          </a:xfrm>
          <a:custGeom>
            <a:avLst/>
            <a:gdLst>
              <a:gd name="connsiteX0" fmla="*/ 6112 w 6436457"/>
              <a:gd name="connsiteY0" fmla="*/ 860751 h 1004312"/>
              <a:gd name="connsiteX1" fmla="*/ 281004 w 6436457"/>
              <a:gd name="connsiteY1" fmla="*/ 72439 h 1004312"/>
              <a:gd name="connsiteX2" fmla="*/ 382982 w 6436457"/>
              <a:gd name="connsiteY2" fmla="*/ 0 h 1004312"/>
              <a:gd name="connsiteX3" fmla="*/ 6328369 w 6436457"/>
              <a:gd name="connsiteY3" fmla="*/ 0 h 1004312"/>
              <a:gd name="connsiteX4" fmla="*/ 6430346 w 6436457"/>
              <a:gd name="connsiteY4" fmla="*/ 143561 h 1004312"/>
              <a:gd name="connsiteX5" fmla="*/ 6155455 w 6436457"/>
              <a:gd name="connsiteY5" fmla="*/ 931873 h 1004312"/>
              <a:gd name="connsiteX6" fmla="*/ 6053477 w 6436457"/>
              <a:gd name="connsiteY6" fmla="*/ 1004312 h 1004312"/>
              <a:gd name="connsiteX7" fmla="*/ 108090 w 6436457"/>
              <a:gd name="connsiteY7" fmla="*/ 1004312 h 1004312"/>
              <a:gd name="connsiteX8" fmla="*/ 6112 w 6436457"/>
              <a:gd name="connsiteY8" fmla="*/ 860751 h 1004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36457" h="1004312">
                <a:moveTo>
                  <a:pt x="6112" y="860751"/>
                </a:moveTo>
                <a:lnTo>
                  <a:pt x="281004" y="72439"/>
                </a:lnTo>
                <a:cubicBezTo>
                  <a:pt x="296135" y="29048"/>
                  <a:pt x="337028" y="0"/>
                  <a:pt x="382982" y="0"/>
                </a:cubicBezTo>
                <a:lnTo>
                  <a:pt x="6328369" y="0"/>
                </a:lnTo>
                <a:cubicBezTo>
                  <a:pt x="6402716" y="0"/>
                  <a:pt x="6454826" y="73359"/>
                  <a:pt x="6430346" y="143561"/>
                </a:cubicBezTo>
                <a:lnTo>
                  <a:pt x="6155455" y="931873"/>
                </a:lnTo>
                <a:cubicBezTo>
                  <a:pt x="6140324" y="975264"/>
                  <a:pt x="6099431" y="1004312"/>
                  <a:pt x="6053477" y="1004312"/>
                </a:cubicBezTo>
                <a:lnTo>
                  <a:pt x="108090" y="1004312"/>
                </a:lnTo>
                <a:cubicBezTo>
                  <a:pt x="33743" y="1004312"/>
                  <a:pt x="-18368" y="930952"/>
                  <a:pt x="6112" y="860751"/>
                </a:cubicBezTo>
              </a:path>
            </a:pathLst>
          </a:custGeom>
          <a:solidFill>
            <a:schemeClr val="bg2">
              <a:alpha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6" name="图片 5" descr="图片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090" y="817245"/>
            <a:ext cx="4401185" cy="1694815"/>
          </a:xfrm>
          <a:prstGeom prst="rect">
            <a:avLst/>
          </a:prstGeom>
        </p:spPr>
      </p:pic>
      <p:sp>
        <p:nvSpPr>
          <p:cNvPr id="153" name="平行四边形 12"/>
          <p:cNvSpPr/>
          <p:nvPr>
            <p:custDataLst>
              <p:tags r:id="rId3"/>
            </p:custDataLst>
          </p:nvPr>
        </p:nvSpPr>
        <p:spPr>
          <a:xfrm>
            <a:off x="1833145" y="2403118"/>
            <a:ext cx="4969513" cy="775418"/>
          </a:xfrm>
          <a:custGeom>
            <a:avLst/>
            <a:gdLst>
              <a:gd name="connsiteX0" fmla="*/ 6112 w 6436457"/>
              <a:gd name="connsiteY0" fmla="*/ 860751 h 1004312"/>
              <a:gd name="connsiteX1" fmla="*/ 281004 w 6436457"/>
              <a:gd name="connsiteY1" fmla="*/ 72439 h 1004312"/>
              <a:gd name="connsiteX2" fmla="*/ 382982 w 6436457"/>
              <a:gd name="connsiteY2" fmla="*/ 0 h 1004312"/>
              <a:gd name="connsiteX3" fmla="*/ 6328369 w 6436457"/>
              <a:gd name="connsiteY3" fmla="*/ 0 h 1004312"/>
              <a:gd name="connsiteX4" fmla="*/ 6430346 w 6436457"/>
              <a:gd name="connsiteY4" fmla="*/ 143561 h 1004312"/>
              <a:gd name="connsiteX5" fmla="*/ 6155455 w 6436457"/>
              <a:gd name="connsiteY5" fmla="*/ 931873 h 1004312"/>
              <a:gd name="connsiteX6" fmla="*/ 6053477 w 6436457"/>
              <a:gd name="connsiteY6" fmla="*/ 1004312 h 1004312"/>
              <a:gd name="connsiteX7" fmla="*/ 108090 w 6436457"/>
              <a:gd name="connsiteY7" fmla="*/ 1004312 h 1004312"/>
              <a:gd name="connsiteX8" fmla="*/ 6112 w 6436457"/>
              <a:gd name="connsiteY8" fmla="*/ 860751 h 1004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36457" h="1004312">
                <a:moveTo>
                  <a:pt x="6112" y="860751"/>
                </a:moveTo>
                <a:lnTo>
                  <a:pt x="281004" y="72439"/>
                </a:lnTo>
                <a:cubicBezTo>
                  <a:pt x="296135" y="29048"/>
                  <a:pt x="337028" y="0"/>
                  <a:pt x="382982" y="0"/>
                </a:cubicBezTo>
                <a:lnTo>
                  <a:pt x="6328369" y="0"/>
                </a:lnTo>
                <a:cubicBezTo>
                  <a:pt x="6402716" y="0"/>
                  <a:pt x="6454826" y="73359"/>
                  <a:pt x="6430346" y="143561"/>
                </a:cubicBezTo>
                <a:lnTo>
                  <a:pt x="6155455" y="931873"/>
                </a:lnTo>
                <a:cubicBezTo>
                  <a:pt x="6140324" y="975264"/>
                  <a:pt x="6099431" y="1004312"/>
                  <a:pt x="6053477" y="1004312"/>
                </a:cubicBezTo>
                <a:lnTo>
                  <a:pt x="108090" y="1004312"/>
                </a:lnTo>
                <a:cubicBezTo>
                  <a:pt x="33743" y="1004312"/>
                  <a:pt x="-18368" y="930952"/>
                  <a:pt x="6112" y="860751"/>
                </a:cubicBezTo>
              </a:path>
            </a:pathLst>
          </a:custGeom>
          <a:solidFill>
            <a:schemeClr val="bg2">
              <a:alpha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54" name="平行四边形 12"/>
          <p:cNvSpPr/>
          <p:nvPr>
            <p:custDataLst>
              <p:tags r:id="rId4"/>
            </p:custDataLst>
          </p:nvPr>
        </p:nvSpPr>
        <p:spPr>
          <a:xfrm>
            <a:off x="1530644" y="3284635"/>
            <a:ext cx="4969513" cy="775418"/>
          </a:xfrm>
          <a:custGeom>
            <a:avLst/>
            <a:gdLst>
              <a:gd name="connsiteX0" fmla="*/ 6112 w 6436457"/>
              <a:gd name="connsiteY0" fmla="*/ 860751 h 1004312"/>
              <a:gd name="connsiteX1" fmla="*/ 281004 w 6436457"/>
              <a:gd name="connsiteY1" fmla="*/ 72439 h 1004312"/>
              <a:gd name="connsiteX2" fmla="*/ 382982 w 6436457"/>
              <a:gd name="connsiteY2" fmla="*/ 0 h 1004312"/>
              <a:gd name="connsiteX3" fmla="*/ 6328369 w 6436457"/>
              <a:gd name="connsiteY3" fmla="*/ 0 h 1004312"/>
              <a:gd name="connsiteX4" fmla="*/ 6430346 w 6436457"/>
              <a:gd name="connsiteY4" fmla="*/ 143561 h 1004312"/>
              <a:gd name="connsiteX5" fmla="*/ 6155455 w 6436457"/>
              <a:gd name="connsiteY5" fmla="*/ 931873 h 1004312"/>
              <a:gd name="connsiteX6" fmla="*/ 6053477 w 6436457"/>
              <a:gd name="connsiteY6" fmla="*/ 1004312 h 1004312"/>
              <a:gd name="connsiteX7" fmla="*/ 108090 w 6436457"/>
              <a:gd name="connsiteY7" fmla="*/ 1004312 h 1004312"/>
              <a:gd name="connsiteX8" fmla="*/ 6112 w 6436457"/>
              <a:gd name="connsiteY8" fmla="*/ 860751 h 1004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36457" h="1004312">
                <a:moveTo>
                  <a:pt x="6112" y="860751"/>
                </a:moveTo>
                <a:lnTo>
                  <a:pt x="281004" y="72439"/>
                </a:lnTo>
                <a:cubicBezTo>
                  <a:pt x="296135" y="29048"/>
                  <a:pt x="337028" y="0"/>
                  <a:pt x="382982" y="0"/>
                </a:cubicBezTo>
                <a:lnTo>
                  <a:pt x="6328369" y="0"/>
                </a:lnTo>
                <a:cubicBezTo>
                  <a:pt x="6402716" y="0"/>
                  <a:pt x="6454826" y="73359"/>
                  <a:pt x="6430346" y="143561"/>
                </a:cubicBezTo>
                <a:lnTo>
                  <a:pt x="6155455" y="931873"/>
                </a:lnTo>
                <a:cubicBezTo>
                  <a:pt x="6140324" y="975264"/>
                  <a:pt x="6099431" y="1004312"/>
                  <a:pt x="6053477" y="1004312"/>
                </a:cubicBezTo>
                <a:lnTo>
                  <a:pt x="108090" y="1004312"/>
                </a:lnTo>
                <a:cubicBezTo>
                  <a:pt x="33743" y="1004312"/>
                  <a:pt x="-18368" y="930952"/>
                  <a:pt x="6112" y="860751"/>
                </a:cubicBezTo>
              </a:path>
            </a:pathLst>
          </a:custGeom>
          <a:solidFill>
            <a:schemeClr val="bg2">
              <a:alpha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55" name="平行四边形 12"/>
          <p:cNvSpPr/>
          <p:nvPr>
            <p:custDataLst>
              <p:tags r:id="rId5"/>
            </p:custDataLst>
          </p:nvPr>
        </p:nvSpPr>
        <p:spPr>
          <a:xfrm>
            <a:off x="1228144" y="4166151"/>
            <a:ext cx="4969513" cy="775418"/>
          </a:xfrm>
          <a:custGeom>
            <a:avLst/>
            <a:gdLst>
              <a:gd name="connsiteX0" fmla="*/ 6112 w 6436457"/>
              <a:gd name="connsiteY0" fmla="*/ 860751 h 1004312"/>
              <a:gd name="connsiteX1" fmla="*/ 281004 w 6436457"/>
              <a:gd name="connsiteY1" fmla="*/ 72439 h 1004312"/>
              <a:gd name="connsiteX2" fmla="*/ 382982 w 6436457"/>
              <a:gd name="connsiteY2" fmla="*/ 0 h 1004312"/>
              <a:gd name="connsiteX3" fmla="*/ 6328369 w 6436457"/>
              <a:gd name="connsiteY3" fmla="*/ 0 h 1004312"/>
              <a:gd name="connsiteX4" fmla="*/ 6430346 w 6436457"/>
              <a:gd name="connsiteY4" fmla="*/ 143561 h 1004312"/>
              <a:gd name="connsiteX5" fmla="*/ 6155455 w 6436457"/>
              <a:gd name="connsiteY5" fmla="*/ 931873 h 1004312"/>
              <a:gd name="connsiteX6" fmla="*/ 6053477 w 6436457"/>
              <a:gd name="connsiteY6" fmla="*/ 1004312 h 1004312"/>
              <a:gd name="connsiteX7" fmla="*/ 108090 w 6436457"/>
              <a:gd name="connsiteY7" fmla="*/ 1004312 h 1004312"/>
              <a:gd name="connsiteX8" fmla="*/ 6112 w 6436457"/>
              <a:gd name="connsiteY8" fmla="*/ 860751 h 1004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36457" h="1004312">
                <a:moveTo>
                  <a:pt x="6112" y="860751"/>
                </a:moveTo>
                <a:lnTo>
                  <a:pt x="281004" y="72439"/>
                </a:lnTo>
                <a:cubicBezTo>
                  <a:pt x="296135" y="29048"/>
                  <a:pt x="337028" y="0"/>
                  <a:pt x="382982" y="0"/>
                </a:cubicBezTo>
                <a:lnTo>
                  <a:pt x="6328369" y="0"/>
                </a:lnTo>
                <a:cubicBezTo>
                  <a:pt x="6402716" y="0"/>
                  <a:pt x="6454826" y="73359"/>
                  <a:pt x="6430346" y="143561"/>
                </a:cubicBezTo>
                <a:lnTo>
                  <a:pt x="6155455" y="931873"/>
                </a:lnTo>
                <a:cubicBezTo>
                  <a:pt x="6140324" y="975264"/>
                  <a:pt x="6099431" y="1004312"/>
                  <a:pt x="6053477" y="1004312"/>
                </a:cubicBezTo>
                <a:lnTo>
                  <a:pt x="108090" y="1004312"/>
                </a:lnTo>
                <a:cubicBezTo>
                  <a:pt x="33743" y="1004312"/>
                  <a:pt x="-18368" y="930952"/>
                  <a:pt x="6112" y="860751"/>
                </a:cubicBezTo>
              </a:path>
            </a:pathLst>
          </a:custGeom>
          <a:solidFill>
            <a:schemeClr val="bg2">
              <a:alpha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57" name="序号"/>
          <p:cNvSpPr txBox="1"/>
          <p:nvPr>
            <p:custDataLst>
              <p:tags r:id="rId6"/>
            </p:custDataLst>
          </p:nvPr>
        </p:nvSpPr>
        <p:spPr>
          <a:xfrm>
            <a:off x="1812063" y="3394456"/>
            <a:ext cx="892851" cy="55590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600" b="1" dirty="0">
                <a:gradFill flip="none" rotWithShape="1">
                  <a:gsLst>
                    <a:gs pos="0">
                      <a:schemeClr val="accent2">
                        <a:alpha val="100000"/>
                      </a:schemeClr>
                    </a:gs>
                    <a:gs pos="90000">
                      <a:schemeClr val="accent2">
                        <a:alpha val="100000"/>
                      </a:schemeClr>
                    </a:gs>
                  </a:gsLst>
                  <a:lin ang="2700000" scaled="1"/>
                  <a:tileRect/>
                </a:gradFill>
                <a:latin typeface="+mn-ea"/>
              </a:rPr>
              <a:t>02</a:t>
            </a:r>
            <a:endParaRPr lang="en-US" sz="3600" b="1" dirty="0">
              <a:gradFill flip="none" rotWithShape="1">
                <a:gsLst>
                  <a:gs pos="0">
                    <a:schemeClr val="accent2">
                      <a:alpha val="100000"/>
                    </a:schemeClr>
                  </a:gs>
                  <a:gs pos="90000">
                    <a:schemeClr val="accent2">
                      <a:alpha val="100000"/>
                    </a:schemeClr>
                  </a:gs>
                </a:gsLst>
                <a:lin ang="2700000" scaled="1"/>
                <a:tileRect/>
              </a:gradFill>
              <a:latin typeface="+mn-ea"/>
            </a:endParaRPr>
          </a:p>
        </p:txBody>
      </p:sp>
      <p:sp>
        <p:nvSpPr>
          <p:cNvPr id="158" name="项标题"/>
          <p:cNvSpPr txBox="1"/>
          <p:nvPr>
            <p:custDataLst>
              <p:tags r:id="rId7"/>
            </p:custDataLst>
          </p:nvPr>
        </p:nvSpPr>
        <p:spPr>
          <a:xfrm>
            <a:off x="2804382" y="3394456"/>
            <a:ext cx="3511678" cy="55590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400" spc="300" dirty="0">
                <a:latin typeface="+mn-ea"/>
                <a:sym typeface="+mn-ea"/>
              </a:rPr>
              <a:t>北斗的</a:t>
            </a:r>
            <a:r>
              <a:rPr lang="zh-CN" altLang="en-US" sz="2400" spc="300" dirty="0">
                <a:solidFill>
                  <a:schemeClr val="tx1"/>
                </a:solidFill>
                <a:latin typeface="+mj-ea"/>
                <a:ea typeface="+mj-ea"/>
              </a:rPr>
              <a:t>体系架构</a:t>
            </a:r>
            <a:endParaRPr lang="zh-CN" altLang="en-US" sz="2400" spc="3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9" name="序号"/>
          <p:cNvSpPr txBox="1"/>
          <p:nvPr>
            <p:custDataLst>
              <p:tags r:id="rId8"/>
            </p:custDataLst>
          </p:nvPr>
        </p:nvSpPr>
        <p:spPr>
          <a:xfrm>
            <a:off x="1504660" y="4275973"/>
            <a:ext cx="892851" cy="55590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600" b="1" dirty="0">
                <a:gradFill flip="none" rotWithShape="1">
                  <a:gsLst>
                    <a:gs pos="0">
                      <a:schemeClr val="accent1">
                        <a:alpha val="100000"/>
                      </a:schemeClr>
                    </a:gs>
                    <a:gs pos="90000">
                      <a:schemeClr val="accent1">
                        <a:alpha val="100000"/>
                      </a:schemeClr>
                    </a:gs>
                  </a:gsLst>
                  <a:lin ang="2700000" scaled="1"/>
                  <a:tileRect/>
                </a:gradFill>
                <a:latin typeface="+mn-ea"/>
              </a:rPr>
              <a:t>03</a:t>
            </a:r>
            <a:endParaRPr lang="en-US" sz="3600" b="1" dirty="0">
              <a:gradFill flip="none" rotWithShape="1">
                <a:gsLst>
                  <a:gs pos="0">
                    <a:schemeClr val="accent1">
                      <a:alpha val="100000"/>
                    </a:schemeClr>
                  </a:gs>
                  <a:gs pos="90000">
                    <a:schemeClr val="accent1">
                      <a:alpha val="100000"/>
                    </a:schemeClr>
                  </a:gs>
                </a:gsLst>
                <a:lin ang="2700000" scaled="1"/>
                <a:tileRect/>
              </a:gradFill>
              <a:latin typeface="+mn-ea"/>
            </a:endParaRPr>
          </a:p>
        </p:txBody>
      </p:sp>
      <p:sp>
        <p:nvSpPr>
          <p:cNvPr id="160" name="项标题"/>
          <p:cNvSpPr txBox="1"/>
          <p:nvPr>
            <p:custDataLst>
              <p:tags r:id="rId9"/>
            </p:custDataLst>
          </p:nvPr>
        </p:nvSpPr>
        <p:spPr>
          <a:xfrm>
            <a:off x="2488154" y="4275973"/>
            <a:ext cx="3511678" cy="55590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400" spc="300" dirty="0">
                <a:solidFill>
                  <a:schemeClr val="tx1"/>
                </a:solidFill>
                <a:latin typeface="+mn-ea"/>
              </a:rPr>
              <a:t>核心功能与服务</a:t>
            </a:r>
            <a:endParaRPr lang="zh-CN" altLang="en-US" sz="2400" spc="3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1" name="序号"/>
          <p:cNvSpPr txBox="1"/>
          <p:nvPr>
            <p:custDataLst>
              <p:tags r:id="rId10"/>
            </p:custDataLst>
          </p:nvPr>
        </p:nvSpPr>
        <p:spPr>
          <a:xfrm>
            <a:off x="1197747" y="5157979"/>
            <a:ext cx="892851" cy="55590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600" b="1" dirty="0">
                <a:gradFill flip="none" rotWithShape="1">
                  <a:gsLst>
                    <a:gs pos="0">
                      <a:schemeClr val="accent2">
                        <a:alpha val="100000"/>
                      </a:schemeClr>
                    </a:gs>
                    <a:gs pos="90000">
                      <a:schemeClr val="accent2">
                        <a:alpha val="100000"/>
                      </a:schemeClr>
                    </a:gs>
                  </a:gsLst>
                  <a:lin ang="2700000" scaled="1"/>
                  <a:tileRect/>
                </a:gradFill>
                <a:latin typeface="+mn-ea"/>
              </a:rPr>
              <a:t>04</a:t>
            </a:r>
            <a:endParaRPr lang="en-US" sz="3600" b="1" dirty="0">
              <a:gradFill flip="none" rotWithShape="1">
                <a:gsLst>
                  <a:gs pos="0">
                    <a:schemeClr val="accent2">
                      <a:alpha val="100000"/>
                    </a:schemeClr>
                  </a:gs>
                  <a:gs pos="90000">
                    <a:schemeClr val="accent2">
                      <a:alpha val="100000"/>
                    </a:schemeClr>
                  </a:gs>
                </a:gsLst>
                <a:lin ang="2700000" scaled="1"/>
                <a:tileRect/>
              </a:gradFill>
              <a:latin typeface="+mn-ea"/>
            </a:endParaRPr>
          </a:p>
        </p:txBody>
      </p:sp>
      <p:sp>
        <p:nvSpPr>
          <p:cNvPr id="162" name="项标题"/>
          <p:cNvSpPr txBox="1"/>
          <p:nvPr>
            <p:custDataLst>
              <p:tags r:id="rId11"/>
            </p:custDataLst>
          </p:nvPr>
        </p:nvSpPr>
        <p:spPr>
          <a:xfrm>
            <a:off x="2171435" y="5157979"/>
            <a:ext cx="3511678" cy="55590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400" spc="300" dirty="0">
                <a:solidFill>
                  <a:schemeClr val="tx1"/>
                </a:solidFill>
                <a:latin typeface="+mn-ea"/>
              </a:rPr>
              <a:t>技术创新与核心竞争力</a:t>
            </a:r>
            <a:endParaRPr lang="zh-CN" altLang="en-US" sz="2400" spc="3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3" name="序号"/>
          <p:cNvSpPr txBox="1"/>
          <p:nvPr>
            <p:custDataLst>
              <p:tags r:id="rId12"/>
            </p:custDataLst>
          </p:nvPr>
        </p:nvSpPr>
        <p:spPr>
          <a:xfrm>
            <a:off x="2118976" y="2512940"/>
            <a:ext cx="892851" cy="55590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600" b="1" dirty="0">
                <a:gradFill flip="none" rotWithShape="1">
                  <a:gsLst>
                    <a:gs pos="0">
                      <a:schemeClr val="accent1">
                        <a:alpha val="100000"/>
                      </a:schemeClr>
                    </a:gs>
                    <a:gs pos="90000">
                      <a:schemeClr val="accent1">
                        <a:alpha val="100000"/>
                      </a:schemeClr>
                    </a:gs>
                  </a:gsLst>
                  <a:lin ang="2700000" scaled="1"/>
                  <a:tileRect/>
                </a:gradFill>
                <a:latin typeface="+mn-ea"/>
              </a:rPr>
              <a:t>01</a:t>
            </a:r>
            <a:endParaRPr lang="en-US" sz="3600" b="1" dirty="0">
              <a:gradFill flip="none" rotWithShape="1">
                <a:gsLst>
                  <a:gs pos="0">
                    <a:schemeClr val="accent1">
                      <a:alpha val="100000"/>
                    </a:schemeClr>
                  </a:gs>
                  <a:gs pos="90000">
                    <a:schemeClr val="accent1">
                      <a:alpha val="100000"/>
                    </a:schemeClr>
                  </a:gs>
                </a:gsLst>
                <a:lin ang="2700000" scaled="1"/>
                <a:tileRect/>
              </a:gradFill>
              <a:latin typeface="+mn-ea"/>
            </a:endParaRPr>
          </a:p>
        </p:txBody>
      </p:sp>
      <p:sp>
        <p:nvSpPr>
          <p:cNvPr id="164" name="项标题"/>
          <p:cNvSpPr txBox="1"/>
          <p:nvPr>
            <p:custDataLst>
              <p:tags r:id="rId13"/>
            </p:custDataLst>
          </p:nvPr>
        </p:nvSpPr>
        <p:spPr>
          <a:xfrm>
            <a:off x="3121100" y="2512940"/>
            <a:ext cx="3511678" cy="55590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400" spc="300" dirty="0">
                <a:solidFill>
                  <a:schemeClr val="tx1"/>
                </a:solidFill>
                <a:latin typeface="+mn-ea"/>
              </a:rPr>
              <a:t>北斗的起源与演进</a:t>
            </a:r>
            <a:endParaRPr lang="zh-CN" altLang="en-US" sz="2400" spc="3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平行四边形 12"/>
          <p:cNvSpPr/>
          <p:nvPr>
            <p:custDataLst>
              <p:tags r:id="rId14"/>
            </p:custDataLst>
          </p:nvPr>
        </p:nvSpPr>
        <p:spPr>
          <a:xfrm>
            <a:off x="6499760" y="3715028"/>
            <a:ext cx="4969513" cy="775418"/>
          </a:xfrm>
          <a:custGeom>
            <a:avLst/>
            <a:gdLst>
              <a:gd name="connsiteX0" fmla="*/ 6112 w 6436457"/>
              <a:gd name="connsiteY0" fmla="*/ 860751 h 1004312"/>
              <a:gd name="connsiteX1" fmla="*/ 281004 w 6436457"/>
              <a:gd name="connsiteY1" fmla="*/ 72439 h 1004312"/>
              <a:gd name="connsiteX2" fmla="*/ 382982 w 6436457"/>
              <a:gd name="connsiteY2" fmla="*/ 0 h 1004312"/>
              <a:gd name="connsiteX3" fmla="*/ 6328369 w 6436457"/>
              <a:gd name="connsiteY3" fmla="*/ 0 h 1004312"/>
              <a:gd name="connsiteX4" fmla="*/ 6430346 w 6436457"/>
              <a:gd name="connsiteY4" fmla="*/ 143561 h 1004312"/>
              <a:gd name="connsiteX5" fmla="*/ 6155455 w 6436457"/>
              <a:gd name="connsiteY5" fmla="*/ 931873 h 1004312"/>
              <a:gd name="connsiteX6" fmla="*/ 6053477 w 6436457"/>
              <a:gd name="connsiteY6" fmla="*/ 1004312 h 1004312"/>
              <a:gd name="connsiteX7" fmla="*/ 108090 w 6436457"/>
              <a:gd name="connsiteY7" fmla="*/ 1004312 h 1004312"/>
              <a:gd name="connsiteX8" fmla="*/ 6112 w 6436457"/>
              <a:gd name="connsiteY8" fmla="*/ 860751 h 1004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36457" h="1004312">
                <a:moveTo>
                  <a:pt x="6112" y="860751"/>
                </a:moveTo>
                <a:lnTo>
                  <a:pt x="281004" y="72439"/>
                </a:lnTo>
                <a:cubicBezTo>
                  <a:pt x="296135" y="29048"/>
                  <a:pt x="337028" y="0"/>
                  <a:pt x="382982" y="0"/>
                </a:cubicBezTo>
                <a:lnTo>
                  <a:pt x="6328369" y="0"/>
                </a:lnTo>
                <a:cubicBezTo>
                  <a:pt x="6402716" y="0"/>
                  <a:pt x="6454826" y="73359"/>
                  <a:pt x="6430346" y="143561"/>
                </a:cubicBezTo>
                <a:lnTo>
                  <a:pt x="6155455" y="931873"/>
                </a:lnTo>
                <a:cubicBezTo>
                  <a:pt x="6140324" y="975264"/>
                  <a:pt x="6099431" y="1004312"/>
                  <a:pt x="6053477" y="1004312"/>
                </a:cubicBezTo>
                <a:lnTo>
                  <a:pt x="108090" y="1004312"/>
                </a:lnTo>
                <a:cubicBezTo>
                  <a:pt x="33743" y="1004312"/>
                  <a:pt x="-18368" y="930952"/>
                  <a:pt x="6112" y="860751"/>
                </a:cubicBezTo>
              </a:path>
            </a:pathLst>
          </a:custGeom>
          <a:solidFill>
            <a:schemeClr val="bg2">
              <a:alpha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66" name="平行四边形 12"/>
          <p:cNvSpPr/>
          <p:nvPr>
            <p:custDataLst>
              <p:tags r:id="rId15"/>
            </p:custDataLst>
          </p:nvPr>
        </p:nvSpPr>
        <p:spPr>
          <a:xfrm>
            <a:off x="6197259" y="4596545"/>
            <a:ext cx="4969513" cy="775418"/>
          </a:xfrm>
          <a:custGeom>
            <a:avLst/>
            <a:gdLst>
              <a:gd name="connsiteX0" fmla="*/ 6112 w 6436457"/>
              <a:gd name="connsiteY0" fmla="*/ 860751 h 1004312"/>
              <a:gd name="connsiteX1" fmla="*/ 281004 w 6436457"/>
              <a:gd name="connsiteY1" fmla="*/ 72439 h 1004312"/>
              <a:gd name="connsiteX2" fmla="*/ 382982 w 6436457"/>
              <a:gd name="connsiteY2" fmla="*/ 0 h 1004312"/>
              <a:gd name="connsiteX3" fmla="*/ 6328369 w 6436457"/>
              <a:gd name="connsiteY3" fmla="*/ 0 h 1004312"/>
              <a:gd name="connsiteX4" fmla="*/ 6430346 w 6436457"/>
              <a:gd name="connsiteY4" fmla="*/ 143561 h 1004312"/>
              <a:gd name="connsiteX5" fmla="*/ 6155455 w 6436457"/>
              <a:gd name="connsiteY5" fmla="*/ 931873 h 1004312"/>
              <a:gd name="connsiteX6" fmla="*/ 6053477 w 6436457"/>
              <a:gd name="connsiteY6" fmla="*/ 1004312 h 1004312"/>
              <a:gd name="connsiteX7" fmla="*/ 108090 w 6436457"/>
              <a:gd name="connsiteY7" fmla="*/ 1004312 h 1004312"/>
              <a:gd name="connsiteX8" fmla="*/ 6112 w 6436457"/>
              <a:gd name="connsiteY8" fmla="*/ 860751 h 1004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36457" h="1004312">
                <a:moveTo>
                  <a:pt x="6112" y="860751"/>
                </a:moveTo>
                <a:lnTo>
                  <a:pt x="281004" y="72439"/>
                </a:lnTo>
                <a:cubicBezTo>
                  <a:pt x="296135" y="29048"/>
                  <a:pt x="337028" y="0"/>
                  <a:pt x="382982" y="0"/>
                </a:cubicBezTo>
                <a:lnTo>
                  <a:pt x="6328369" y="0"/>
                </a:lnTo>
                <a:cubicBezTo>
                  <a:pt x="6402716" y="0"/>
                  <a:pt x="6454826" y="73359"/>
                  <a:pt x="6430346" y="143561"/>
                </a:cubicBezTo>
                <a:lnTo>
                  <a:pt x="6155455" y="931873"/>
                </a:lnTo>
                <a:cubicBezTo>
                  <a:pt x="6140324" y="975264"/>
                  <a:pt x="6099431" y="1004312"/>
                  <a:pt x="6053477" y="1004312"/>
                </a:cubicBezTo>
                <a:lnTo>
                  <a:pt x="108090" y="1004312"/>
                </a:lnTo>
                <a:cubicBezTo>
                  <a:pt x="33743" y="1004312"/>
                  <a:pt x="-18368" y="930952"/>
                  <a:pt x="6112" y="860751"/>
                </a:cubicBezTo>
              </a:path>
            </a:pathLst>
          </a:custGeom>
          <a:solidFill>
            <a:schemeClr val="bg2">
              <a:alpha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67" name="平行四边形 12"/>
          <p:cNvSpPr/>
          <p:nvPr>
            <p:custDataLst>
              <p:tags r:id="rId16"/>
            </p:custDataLst>
          </p:nvPr>
        </p:nvSpPr>
        <p:spPr>
          <a:xfrm>
            <a:off x="5894759" y="5478061"/>
            <a:ext cx="4969513" cy="775418"/>
          </a:xfrm>
          <a:custGeom>
            <a:avLst/>
            <a:gdLst>
              <a:gd name="connsiteX0" fmla="*/ 6112 w 6436457"/>
              <a:gd name="connsiteY0" fmla="*/ 860751 h 1004312"/>
              <a:gd name="connsiteX1" fmla="*/ 281004 w 6436457"/>
              <a:gd name="connsiteY1" fmla="*/ 72439 h 1004312"/>
              <a:gd name="connsiteX2" fmla="*/ 382982 w 6436457"/>
              <a:gd name="connsiteY2" fmla="*/ 0 h 1004312"/>
              <a:gd name="connsiteX3" fmla="*/ 6328369 w 6436457"/>
              <a:gd name="connsiteY3" fmla="*/ 0 h 1004312"/>
              <a:gd name="connsiteX4" fmla="*/ 6430346 w 6436457"/>
              <a:gd name="connsiteY4" fmla="*/ 143561 h 1004312"/>
              <a:gd name="connsiteX5" fmla="*/ 6155455 w 6436457"/>
              <a:gd name="connsiteY5" fmla="*/ 931873 h 1004312"/>
              <a:gd name="connsiteX6" fmla="*/ 6053477 w 6436457"/>
              <a:gd name="connsiteY6" fmla="*/ 1004312 h 1004312"/>
              <a:gd name="connsiteX7" fmla="*/ 108090 w 6436457"/>
              <a:gd name="connsiteY7" fmla="*/ 1004312 h 1004312"/>
              <a:gd name="connsiteX8" fmla="*/ 6112 w 6436457"/>
              <a:gd name="connsiteY8" fmla="*/ 860751 h 1004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36457" h="1004312">
                <a:moveTo>
                  <a:pt x="6112" y="860751"/>
                </a:moveTo>
                <a:lnTo>
                  <a:pt x="281004" y="72439"/>
                </a:lnTo>
                <a:cubicBezTo>
                  <a:pt x="296135" y="29048"/>
                  <a:pt x="337028" y="0"/>
                  <a:pt x="382982" y="0"/>
                </a:cubicBezTo>
                <a:lnTo>
                  <a:pt x="6328369" y="0"/>
                </a:lnTo>
                <a:cubicBezTo>
                  <a:pt x="6402716" y="0"/>
                  <a:pt x="6454826" y="73359"/>
                  <a:pt x="6430346" y="143561"/>
                </a:cubicBezTo>
                <a:lnTo>
                  <a:pt x="6155455" y="931873"/>
                </a:lnTo>
                <a:cubicBezTo>
                  <a:pt x="6140324" y="975264"/>
                  <a:pt x="6099431" y="1004312"/>
                  <a:pt x="6053477" y="1004312"/>
                </a:cubicBezTo>
                <a:lnTo>
                  <a:pt x="108090" y="1004312"/>
                </a:lnTo>
                <a:cubicBezTo>
                  <a:pt x="33743" y="1004312"/>
                  <a:pt x="-18368" y="930952"/>
                  <a:pt x="6112" y="860751"/>
                </a:cubicBezTo>
              </a:path>
            </a:pathLst>
          </a:custGeom>
          <a:solidFill>
            <a:schemeClr val="bg2">
              <a:alpha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68" name="序号"/>
          <p:cNvSpPr txBox="1"/>
          <p:nvPr>
            <p:custDataLst>
              <p:tags r:id="rId17"/>
            </p:custDataLst>
          </p:nvPr>
        </p:nvSpPr>
        <p:spPr>
          <a:xfrm>
            <a:off x="6478678" y="4706366"/>
            <a:ext cx="892851" cy="55590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600" b="1" dirty="0">
                <a:gradFill flip="none" rotWithShape="1">
                  <a:gsLst>
                    <a:gs pos="0">
                      <a:schemeClr val="accent2">
                        <a:alpha val="100000"/>
                      </a:schemeClr>
                    </a:gs>
                    <a:gs pos="90000">
                      <a:schemeClr val="accent2">
                        <a:alpha val="100000"/>
                      </a:schemeClr>
                    </a:gs>
                  </a:gsLst>
                  <a:lin ang="2700000" scaled="1"/>
                  <a:tileRect/>
                </a:gradFill>
                <a:latin typeface="+mn-ea"/>
              </a:rPr>
              <a:t>06</a:t>
            </a:r>
            <a:endParaRPr lang="en-US" sz="3600" b="1" dirty="0">
              <a:gradFill flip="none" rotWithShape="1">
                <a:gsLst>
                  <a:gs pos="0">
                    <a:schemeClr val="accent2">
                      <a:alpha val="100000"/>
                    </a:schemeClr>
                  </a:gs>
                  <a:gs pos="90000">
                    <a:schemeClr val="accent2">
                      <a:alpha val="100000"/>
                    </a:schemeClr>
                  </a:gs>
                </a:gsLst>
                <a:lin ang="2700000" scaled="1"/>
                <a:tileRect/>
              </a:gradFill>
              <a:latin typeface="+mn-ea"/>
            </a:endParaRPr>
          </a:p>
        </p:txBody>
      </p:sp>
      <p:sp>
        <p:nvSpPr>
          <p:cNvPr id="169" name="项标题"/>
          <p:cNvSpPr txBox="1"/>
          <p:nvPr>
            <p:custDataLst>
              <p:tags r:id="rId18"/>
            </p:custDataLst>
          </p:nvPr>
        </p:nvSpPr>
        <p:spPr>
          <a:xfrm>
            <a:off x="7470997" y="4706366"/>
            <a:ext cx="3511678" cy="55590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sym typeface="+mn-ea"/>
              </a:rPr>
              <a:t>全球GNSS格局中的北斗</a:t>
            </a:r>
            <a:endParaRPr lang="zh-CN" altLang="en-US" sz="2400" spc="3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70" name="序号"/>
          <p:cNvSpPr txBox="1"/>
          <p:nvPr>
            <p:custDataLst>
              <p:tags r:id="rId19"/>
            </p:custDataLst>
          </p:nvPr>
        </p:nvSpPr>
        <p:spPr>
          <a:xfrm>
            <a:off x="6171275" y="5587883"/>
            <a:ext cx="892851" cy="55590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600" b="1" dirty="0">
                <a:gradFill flip="none" rotWithShape="1">
                  <a:gsLst>
                    <a:gs pos="0">
                      <a:schemeClr val="accent1">
                        <a:alpha val="100000"/>
                      </a:schemeClr>
                    </a:gs>
                    <a:gs pos="90000">
                      <a:schemeClr val="accent1">
                        <a:alpha val="100000"/>
                      </a:schemeClr>
                    </a:gs>
                  </a:gsLst>
                  <a:lin ang="2700000" scaled="1"/>
                  <a:tileRect/>
                </a:gradFill>
                <a:latin typeface="+mn-ea"/>
              </a:rPr>
              <a:t>07</a:t>
            </a:r>
            <a:endParaRPr lang="en-US" sz="3600" b="1" dirty="0">
              <a:gradFill flip="none" rotWithShape="1">
                <a:gsLst>
                  <a:gs pos="0">
                    <a:schemeClr val="accent1">
                      <a:alpha val="100000"/>
                    </a:schemeClr>
                  </a:gs>
                  <a:gs pos="90000">
                    <a:schemeClr val="accent1">
                      <a:alpha val="100000"/>
                    </a:schemeClr>
                  </a:gs>
                </a:gsLst>
                <a:lin ang="2700000" scaled="1"/>
                <a:tileRect/>
              </a:gradFill>
              <a:latin typeface="+mn-ea"/>
            </a:endParaRPr>
          </a:p>
        </p:txBody>
      </p:sp>
      <p:sp>
        <p:nvSpPr>
          <p:cNvPr id="171" name="项标题"/>
          <p:cNvSpPr txBox="1"/>
          <p:nvPr>
            <p:custDataLst>
              <p:tags r:id="rId20"/>
            </p:custDataLst>
          </p:nvPr>
        </p:nvSpPr>
        <p:spPr>
          <a:xfrm>
            <a:off x="7154769" y="5587883"/>
            <a:ext cx="3511678" cy="55590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400" spc="300" dirty="0">
                <a:solidFill>
                  <a:schemeClr val="tx1"/>
                </a:solidFill>
                <a:latin typeface="+mn-ea"/>
              </a:rPr>
              <a:t>未来展望</a:t>
            </a:r>
            <a:endParaRPr lang="zh-CN" altLang="en-US" sz="2400" spc="3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4" name="序号"/>
          <p:cNvSpPr txBox="1"/>
          <p:nvPr>
            <p:custDataLst>
              <p:tags r:id="rId21"/>
            </p:custDataLst>
          </p:nvPr>
        </p:nvSpPr>
        <p:spPr>
          <a:xfrm>
            <a:off x="6785591" y="3824850"/>
            <a:ext cx="892851" cy="55590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600" b="1" dirty="0">
                <a:gradFill flip="none" rotWithShape="1">
                  <a:gsLst>
                    <a:gs pos="0">
                      <a:schemeClr val="accent1">
                        <a:alpha val="100000"/>
                      </a:schemeClr>
                    </a:gs>
                    <a:gs pos="90000">
                      <a:schemeClr val="accent1">
                        <a:alpha val="100000"/>
                      </a:schemeClr>
                    </a:gs>
                  </a:gsLst>
                  <a:lin ang="2700000" scaled="1"/>
                  <a:tileRect/>
                </a:gradFill>
                <a:latin typeface="+mn-ea"/>
              </a:rPr>
              <a:t>05</a:t>
            </a:r>
            <a:endParaRPr lang="en-US" sz="3600" b="1" dirty="0">
              <a:gradFill flip="none" rotWithShape="1">
                <a:gsLst>
                  <a:gs pos="0">
                    <a:schemeClr val="accent1">
                      <a:alpha val="100000"/>
                    </a:schemeClr>
                  </a:gs>
                  <a:gs pos="90000">
                    <a:schemeClr val="accent1">
                      <a:alpha val="100000"/>
                    </a:schemeClr>
                  </a:gs>
                </a:gsLst>
                <a:lin ang="2700000" scaled="1"/>
                <a:tileRect/>
              </a:gradFill>
              <a:latin typeface="+mn-ea"/>
            </a:endParaRPr>
          </a:p>
        </p:txBody>
      </p:sp>
      <p:sp>
        <p:nvSpPr>
          <p:cNvPr id="175" name="项标题"/>
          <p:cNvSpPr txBox="1"/>
          <p:nvPr>
            <p:custDataLst>
              <p:tags r:id="rId22"/>
            </p:custDataLst>
          </p:nvPr>
        </p:nvSpPr>
        <p:spPr>
          <a:xfrm>
            <a:off x="7787715" y="3824850"/>
            <a:ext cx="3511678" cy="55590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sym typeface="+mn-ea"/>
              </a:rPr>
              <a:t>市场应用与社会经济影响</a:t>
            </a:r>
            <a:endParaRPr lang="zh-CN" altLang="en-US" sz="2400" spc="300" dirty="0">
              <a:solidFill>
                <a:schemeClr val="tx1"/>
              </a:solidFill>
              <a:latin typeface="+mn-ea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7" name="Rounded Rectangle 2"/>
          <p:cNvSpPr/>
          <p:nvPr/>
        </p:nvSpPr>
        <p:spPr>
          <a:xfrm>
            <a:off x="6191250" y="3990975"/>
            <a:ext cx="5495925" cy="2616200"/>
          </a:xfrm>
          <a:prstGeom prst="roundRect">
            <a:avLst>
              <a:gd name="adj" fmla="val 7662"/>
            </a:avLst>
          </a:prstGeom>
          <a:solidFill>
            <a:srgbClr val="003264">
              <a:alpha val="4000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ounded Rectangle 2"/>
          <p:cNvSpPr/>
          <p:nvPr/>
        </p:nvSpPr>
        <p:spPr>
          <a:xfrm>
            <a:off x="6191250" y="1314450"/>
            <a:ext cx="5495925" cy="2486025"/>
          </a:xfrm>
          <a:prstGeom prst="roundRect">
            <a:avLst>
              <a:gd name="adj" fmla="val 7662"/>
            </a:avLst>
          </a:prstGeom>
          <a:solidFill>
            <a:srgbClr val="003264">
              <a:alpha val="4000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2666348" y="318769"/>
            <a:ext cx="6859270" cy="662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3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北斗的起源与演进："三步走"战略</a:t>
            </a:r>
            <a:endParaRPr sz="3600" b="1">
              <a:gradFill>
                <a:gsLst>
                  <a:gs pos="0">
                    <a:schemeClr val="bg1">
                      <a:lumMod val="95000"/>
                    </a:schemeClr>
                  </a:gs>
                  <a:gs pos="53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5" name="Rounded Rectangle 2"/>
          <p:cNvSpPr/>
          <p:nvPr/>
        </p:nvSpPr>
        <p:spPr>
          <a:xfrm>
            <a:off x="666733" y="1314450"/>
            <a:ext cx="5333866" cy="2486025"/>
          </a:xfrm>
          <a:prstGeom prst="roundRect">
            <a:avLst>
              <a:gd name="adj" fmla="val 7662"/>
            </a:avLst>
          </a:prstGeom>
          <a:solidFill>
            <a:srgbClr val="003264">
              <a:alpha val="4000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 Same Side Corner Rectangle 3"/>
          <p:cNvSpPr/>
          <p:nvPr/>
        </p:nvSpPr>
        <p:spPr>
          <a:xfrm rot="16200000">
            <a:off x="-510239" y="2491422"/>
            <a:ext cx="24860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4"/>
          <p:cNvSpPr/>
          <p:nvPr/>
        </p:nvSpPr>
        <p:spPr>
          <a:xfrm>
            <a:off x="895327" y="15430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0099" y="1668117"/>
            <a:ext cx="266693" cy="226115"/>
          </a:xfrm>
          <a:prstGeom prst="rect">
            <a:avLst/>
          </a:prstGeom>
        </p:spPr>
      </p:pic>
      <p:sp>
        <p:nvSpPr>
          <p:cNvPr id="9" name="TextBox 6"/>
          <p:cNvSpPr txBox="1"/>
          <p:nvPr/>
        </p:nvSpPr>
        <p:spPr>
          <a:xfrm>
            <a:off x="1514437" y="1510665"/>
            <a:ext cx="1981200" cy="29337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早期探索与"双星定位"构想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1514437" y="1819275"/>
            <a:ext cx="1331595" cy="2476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00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20世纪80年代-1994年</a:t>
            </a:r>
            <a:endParaRPr sz="900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250972"/>
            <a:ext cx="171445" cy="127204"/>
          </a:xfrm>
          <a:prstGeom prst="rect">
            <a:avLst/>
          </a:prstGeom>
        </p:spPr>
      </p:pic>
      <p:sp>
        <p:nvSpPr>
          <p:cNvPr id="12" name="TextBox 9"/>
          <p:cNvSpPr txBox="1"/>
          <p:nvPr/>
        </p:nvSpPr>
        <p:spPr>
          <a:xfrm>
            <a:off x="1162020" y="2159000"/>
            <a:ext cx="1819910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陈芳允院士</a:t>
            </a: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提出"双星定位"设想 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2536415"/>
            <a:ext cx="171445" cy="165919"/>
          </a:xfrm>
          <a:prstGeom prst="rect">
            <a:avLst/>
          </a:prstGeom>
        </p:spPr>
      </p:pic>
      <p:sp>
        <p:nvSpPr>
          <p:cNvPr id="14" name="TextBox 11"/>
          <p:cNvSpPr txBox="1"/>
          <p:nvPr/>
        </p:nvSpPr>
        <p:spPr>
          <a:xfrm>
            <a:off x="1162020" y="2463799"/>
            <a:ext cx="1814830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利用</a:t>
            </a:r>
            <a:r>
              <a:rPr sz="900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最少卫星资源</a:t>
            </a: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实现区域覆盖 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2864566"/>
            <a:ext cx="171445" cy="138266"/>
          </a:xfrm>
          <a:prstGeom prst="rect">
            <a:avLst/>
          </a:prstGeom>
        </p:spPr>
      </p:pic>
      <p:sp>
        <p:nvSpPr>
          <p:cNvPr id="16" name="TextBox 13"/>
          <p:cNvSpPr txBox="1"/>
          <p:nvPr/>
        </p:nvSpPr>
        <p:spPr>
          <a:xfrm>
            <a:off x="1162020" y="2792411"/>
            <a:ext cx="2409190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800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1983</a:t>
            </a: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提出构想 </a:t>
            </a:r>
            <a:r>
              <a:rPr sz="800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1989</a:t>
            </a: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功能演示 </a:t>
            </a:r>
            <a:r>
              <a:rPr sz="800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1994</a:t>
            </a: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立项建设 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 Same Side Corner Rectangle 18"/>
          <p:cNvSpPr/>
          <p:nvPr/>
        </p:nvSpPr>
        <p:spPr>
          <a:xfrm rot="16200000">
            <a:off x="5014123" y="2491422"/>
            <a:ext cx="24860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19"/>
          <p:cNvSpPr/>
          <p:nvPr/>
        </p:nvSpPr>
        <p:spPr>
          <a:xfrm>
            <a:off x="6419689" y="15430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24461" y="1656521"/>
            <a:ext cx="266693" cy="249306"/>
          </a:xfrm>
          <a:prstGeom prst="rect">
            <a:avLst/>
          </a:prstGeom>
        </p:spPr>
      </p:pic>
      <p:sp>
        <p:nvSpPr>
          <p:cNvPr id="23" name="TextBox 21"/>
          <p:cNvSpPr txBox="1"/>
          <p:nvPr/>
        </p:nvSpPr>
        <p:spPr>
          <a:xfrm>
            <a:off x="7038799" y="1510665"/>
            <a:ext cx="2303780" cy="29337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第一步：北斗一号——试验系统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2"/>
          <p:cNvSpPr txBox="1"/>
          <p:nvPr/>
        </p:nvSpPr>
        <p:spPr>
          <a:xfrm>
            <a:off x="7038799" y="1819275"/>
            <a:ext cx="874395" cy="2476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00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1994-2012年</a:t>
            </a:r>
            <a:endParaRPr sz="900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19689" y="2239911"/>
            <a:ext cx="171445" cy="149327"/>
          </a:xfrm>
          <a:prstGeom prst="rect">
            <a:avLst/>
          </a:prstGeom>
        </p:spPr>
      </p:pic>
      <p:sp>
        <p:nvSpPr>
          <p:cNvPr id="26" name="TextBox 24"/>
          <p:cNvSpPr txBox="1"/>
          <p:nvPr/>
        </p:nvSpPr>
        <p:spPr>
          <a:xfrm>
            <a:off x="6686382" y="2159000"/>
            <a:ext cx="2809240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建立一个区域性的有源定位试验系统，验证核心技术</a:t>
            </a: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19689" y="2544711"/>
            <a:ext cx="171445" cy="149327"/>
          </a:xfrm>
          <a:prstGeom prst="rect">
            <a:avLst/>
          </a:prstGeom>
        </p:spPr>
      </p:pic>
      <p:sp>
        <p:nvSpPr>
          <p:cNvPr id="28" name="TextBox 26"/>
          <p:cNvSpPr txBox="1"/>
          <p:nvPr/>
        </p:nvSpPr>
        <p:spPr>
          <a:xfrm>
            <a:off x="6686382" y="2463799"/>
            <a:ext cx="2141220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服务范围：东经70°-140°，北纬5°-55°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Picture 2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19689" y="2859036"/>
            <a:ext cx="171445" cy="149327"/>
          </a:xfrm>
          <a:prstGeom prst="rect">
            <a:avLst/>
          </a:prstGeom>
        </p:spPr>
      </p:pic>
      <p:sp>
        <p:nvSpPr>
          <p:cNvPr id="30" name="TextBox 28"/>
          <p:cNvSpPr txBox="1"/>
          <p:nvPr/>
        </p:nvSpPr>
        <p:spPr>
          <a:xfrm>
            <a:off x="6686382" y="2778124"/>
            <a:ext cx="3449320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有源定位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区域覆盖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通导一体（独创性地集成了短报文通信功能）</a:t>
            </a: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19689" y="3169366"/>
            <a:ext cx="171445" cy="138266"/>
          </a:xfrm>
          <a:prstGeom prst="rect">
            <a:avLst/>
          </a:prstGeom>
        </p:spPr>
      </p:pic>
      <p:sp>
        <p:nvSpPr>
          <p:cNvPr id="32" name="TextBox 30"/>
          <p:cNvSpPr txBox="1"/>
          <p:nvPr/>
        </p:nvSpPr>
        <p:spPr>
          <a:xfrm>
            <a:off x="6694170" y="3089275"/>
            <a:ext cx="4563110" cy="47561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2000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年，中国相继发射两颗地球静止轨道（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GEO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）卫星，并于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2003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年发射一颗备份星，建成了北斗一号系统</a:t>
            </a:r>
            <a:endParaRPr lang="zh-CN" alt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33"/>
          <p:cNvSpPr/>
          <p:nvPr/>
        </p:nvSpPr>
        <p:spPr>
          <a:xfrm>
            <a:off x="666750" y="3990975"/>
            <a:ext cx="5334000" cy="2546985"/>
          </a:xfrm>
          <a:prstGeom prst="roundRect">
            <a:avLst>
              <a:gd name="adj" fmla="val 7662"/>
            </a:avLst>
          </a:prstGeom>
          <a:solidFill>
            <a:srgbClr val="003264">
              <a:alpha val="4000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 Same Side Corner Rectangle 34"/>
          <p:cNvSpPr/>
          <p:nvPr/>
        </p:nvSpPr>
        <p:spPr>
          <a:xfrm rot="16200000">
            <a:off x="-541020" y="5198745"/>
            <a:ext cx="254762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5"/>
          <p:cNvSpPr/>
          <p:nvPr/>
        </p:nvSpPr>
        <p:spPr>
          <a:xfrm>
            <a:off x="895327" y="42195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Picture 3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000099" y="4333046"/>
            <a:ext cx="266693" cy="249306"/>
          </a:xfrm>
          <a:prstGeom prst="rect">
            <a:avLst/>
          </a:prstGeom>
        </p:spPr>
      </p:pic>
      <p:sp>
        <p:nvSpPr>
          <p:cNvPr id="39" name="TextBox 37"/>
          <p:cNvSpPr txBox="1"/>
          <p:nvPr/>
        </p:nvSpPr>
        <p:spPr>
          <a:xfrm>
            <a:off x="1514437" y="4187189"/>
            <a:ext cx="2608580" cy="29337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第二步：北斗二号——区域导航系统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8"/>
          <p:cNvSpPr txBox="1"/>
          <p:nvPr/>
        </p:nvSpPr>
        <p:spPr>
          <a:xfrm>
            <a:off x="1514437" y="4495800"/>
            <a:ext cx="874395" cy="2476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00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2004-2012年</a:t>
            </a:r>
            <a:endParaRPr sz="900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4916436"/>
            <a:ext cx="171445" cy="149327"/>
          </a:xfrm>
          <a:prstGeom prst="rect">
            <a:avLst/>
          </a:prstGeom>
        </p:spPr>
      </p:pic>
      <p:sp>
        <p:nvSpPr>
          <p:cNvPr id="42" name="TextBox 40"/>
          <p:cNvSpPr txBox="1"/>
          <p:nvPr/>
        </p:nvSpPr>
        <p:spPr>
          <a:xfrm>
            <a:off x="1162020" y="4835525"/>
            <a:ext cx="1700530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建成</a:t>
            </a:r>
            <a:r>
              <a:rPr sz="900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无源定位</a:t>
            </a: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的区域导航系统 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3" name="Picture 4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5212940"/>
            <a:ext cx="171445" cy="165919"/>
          </a:xfrm>
          <a:prstGeom prst="rect">
            <a:avLst/>
          </a:prstGeom>
        </p:spPr>
      </p:pic>
      <p:sp>
        <p:nvSpPr>
          <p:cNvPr id="44" name="TextBox 42"/>
          <p:cNvSpPr txBox="1"/>
          <p:nvPr/>
        </p:nvSpPr>
        <p:spPr>
          <a:xfrm>
            <a:off x="1162020" y="5140324"/>
            <a:ext cx="3091815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由</a:t>
            </a:r>
            <a:r>
              <a:rPr sz="900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14颗卫星</a:t>
            </a: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组成星座（5颗GEO、5颗IGSO、4颗MEO） 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5" name="Picture 4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95327" y="5560449"/>
            <a:ext cx="171445" cy="99551"/>
          </a:xfrm>
          <a:prstGeom prst="rect">
            <a:avLst/>
          </a:prstGeom>
        </p:spPr>
      </p:pic>
      <p:sp>
        <p:nvSpPr>
          <p:cNvPr id="46" name="TextBox 44"/>
          <p:cNvSpPr txBox="1"/>
          <p:nvPr/>
        </p:nvSpPr>
        <p:spPr>
          <a:xfrm>
            <a:off x="1162020" y="5454649"/>
            <a:ext cx="1860550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定位精度、用户容量实现质的飞跃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7" name="Picture 4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5845891"/>
            <a:ext cx="171445" cy="138266"/>
          </a:xfrm>
          <a:prstGeom prst="rect">
            <a:avLst/>
          </a:prstGeom>
        </p:spPr>
      </p:pic>
      <p:sp>
        <p:nvSpPr>
          <p:cNvPr id="48" name="TextBox 46"/>
          <p:cNvSpPr txBox="1"/>
          <p:nvPr/>
        </p:nvSpPr>
        <p:spPr>
          <a:xfrm>
            <a:off x="1162020" y="5765482"/>
            <a:ext cx="4007485" cy="65913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工程于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2004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年启动。至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2012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年底，由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颗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GEO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卫星、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颗倾斜地球同步轨道</a:t>
            </a:r>
            <a:endParaRPr lang="zh-CN" alt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IGSO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）卫星和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颗中圆地球轨道（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MEO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）卫星组成的共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颗卫星的星座部</a:t>
            </a:r>
            <a:endParaRPr lang="zh-CN" alt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署完成，正式向亚太大部分地区提供服务。</a:t>
            </a: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4983480" y="5198110"/>
            <a:ext cx="254698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419689" y="42195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524461" y="4333046"/>
            <a:ext cx="266693" cy="24930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038799" y="4187189"/>
            <a:ext cx="2303780" cy="29337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第三步：北斗三号——全球系统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38799" y="4495800"/>
            <a:ext cx="874395" cy="2476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00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2009-2020年</a:t>
            </a:r>
            <a:endParaRPr sz="900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19689" y="4916436"/>
            <a:ext cx="171445" cy="14932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86382" y="4835525"/>
            <a:ext cx="1929130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建成</a:t>
            </a:r>
            <a:r>
              <a:rPr sz="900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世界一流</a:t>
            </a: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的全球卫星导航系统 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19689" y="5212940"/>
            <a:ext cx="171445" cy="16591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686382" y="5140324"/>
            <a:ext cx="2933700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由</a:t>
            </a:r>
            <a:r>
              <a:rPr sz="900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30颗卫星</a:t>
            </a: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组成（24颗MEO、3颗GEO、3颗IGSO） 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19689" y="5538326"/>
            <a:ext cx="171445" cy="14379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686382" y="5454649"/>
            <a:ext cx="2614930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独创</a:t>
            </a:r>
            <a:r>
              <a:rPr sz="900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混合星座</a:t>
            </a: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设计，全球首个采用三种轨道类型 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19689" y="5845891"/>
            <a:ext cx="171445" cy="13826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701622" y="5749925"/>
            <a:ext cx="5062855" cy="84264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工程于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2009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年启动，自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年起进入高密度发射组网阶段。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2015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年首次实现星间链路试验；</a:t>
            </a:r>
            <a:endParaRPr lang="zh-CN" alt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年发射首组北斗三号卫星；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2018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年底，基本系统建成并开始提供全球服务</a:t>
            </a: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2019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月，全球系统核心星座部署完成</a:t>
            </a: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日，最后一颗全球组网卫星发射成功，</a:t>
            </a:r>
            <a:endParaRPr lang="zh-CN" alt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并于同年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r>
              <a:rPr lang="zh-CN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日，北斗三号全球卫星导航系统正式开通。</a:t>
            </a: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8" name="直接连接符 67"/>
          <p:cNvCxnSpPr/>
          <p:nvPr/>
        </p:nvCxnSpPr>
        <p:spPr>
          <a:xfrm flipV="1">
            <a:off x="2597150" y="990600"/>
            <a:ext cx="6865620" cy="234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/>
      <p:bldP spid="10" grpId="0"/>
      <p:bldP spid="12" grpId="0"/>
      <p:bldP spid="14" grpId="0"/>
      <p:bldP spid="16" grpId="0"/>
      <p:bldP spid="5" grpId="1" animBg="1"/>
      <p:bldP spid="6" grpId="1" animBg="1"/>
      <p:bldP spid="7" grpId="1" animBg="1"/>
      <p:bldP spid="9" grpId="1"/>
      <p:bldP spid="10" grpId="1"/>
      <p:bldP spid="12" grpId="1"/>
      <p:bldP spid="14" grpId="1"/>
      <p:bldP spid="16" grpId="1"/>
      <p:bldP spid="66" grpId="0" animBg="1"/>
      <p:bldP spid="20" grpId="0" animBg="1"/>
      <p:bldP spid="21" grpId="0" animBg="1"/>
      <p:bldP spid="23" grpId="0"/>
      <p:bldP spid="24" grpId="0"/>
      <p:bldP spid="26" grpId="0"/>
      <p:bldP spid="28" grpId="0"/>
      <p:bldP spid="30" grpId="0"/>
      <p:bldP spid="32" grpId="0"/>
      <p:bldP spid="66" grpId="1" animBg="1"/>
      <p:bldP spid="20" grpId="1" animBg="1"/>
      <p:bldP spid="21" grpId="1" animBg="1"/>
      <p:bldP spid="23" grpId="1"/>
      <p:bldP spid="24" grpId="1"/>
      <p:bldP spid="26" grpId="1"/>
      <p:bldP spid="28" grpId="1"/>
      <p:bldP spid="30" grpId="1"/>
      <p:bldP spid="32" grpId="1"/>
      <p:bldP spid="35" grpId="0" animBg="1"/>
      <p:bldP spid="36" grpId="0" animBg="1"/>
      <p:bldP spid="37" grpId="0" animBg="1"/>
      <p:bldP spid="39" grpId="0"/>
      <p:bldP spid="40" grpId="0"/>
      <p:bldP spid="42" grpId="0"/>
      <p:bldP spid="44" grpId="0"/>
      <p:bldP spid="46" grpId="0"/>
      <p:bldP spid="48" grpId="0"/>
      <p:bldP spid="35" grpId="1" animBg="1"/>
      <p:bldP spid="36" grpId="1" animBg="1"/>
      <p:bldP spid="37" grpId="1" animBg="1"/>
      <p:bldP spid="39" grpId="1"/>
      <p:bldP spid="40" grpId="1"/>
      <p:bldP spid="42" grpId="1"/>
      <p:bldP spid="44" grpId="1"/>
      <p:bldP spid="46" grpId="1"/>
      <p:bldP spid="48" grpId="1"/>
      <p:bldP spid="67" grpId="0" animBg="1"/>
      <p:bldP spid="50" grpId="0" animBg="1"/>
      <p:bldP spid="51" grpId="0" animBg="1"/>
      <p:bldP spid="53" grpId="0"/>
      <p:bldP spid="54" grpId="0"/>
      <p:bldP spid="56" grpId="0"/>
      <p:bldP spid="58" grpId="0"/>
      <p:bldP spid="60" grpId="0"/>
      <p:bldP spid="62" grpId="0"/>
      <p:bldP spid="67" grpId="1" animBg="1"/>
      <p:bldP spid="50" grpId="1" animBg="1"/>
      <p:bldP spid="51" grpId="1" animBg="1"/>
      <p:bldP spid="53" grpId="1"/>
      <p:bldP spid="54" grpId="1"/>
      <p:bldP spid="56" grpId="1"/>
      <p:bldP spid="58" grpId="1"/>
      <p:bldP spid="60" grpId="1"/>
      <p:bldP spid="6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1"/>
          <p:cNvSpPr txBox="1"/>
          <p:nvPr/>
        </p:nvSpPr>
        <p:spPr>
          <a:xfrm>
            <a:off x="1353803" y="325754"/>
            <a:ext cx="9760585" cy="6629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3600" b="1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3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北斗系统的体系架构：天、地、用户的协同设计</a:t>
            </a:r>
            <a:endParaRPr sz="3600" b="1">
              <a:gradFill>
                <a:gsLst>
                  <a:gs pos="0">
                    <a:schemeClr val="bg1">
                      <a:lumMod val="95000"/>
                    </a:schemeClr>
                  </a:gs>
                  <a:gs pos="53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5" name="Rounded Rectangle 2"/>
          <p:cNvSpPr/>
          <p:nvPr/>
        </p:nvSpPr>
        <p:spPr>
          <a:xfrm>
            <a:off x="666733" y="1314450"/>
            <a:ext cx="3495587" cy="5162550"/>
          </a:xfrm>
          <a:prstGeom prst="roundRect">
            <a:avLst>
              <a:gd name="adj" fmla="val 5449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3019349" y="4759891"/>
            <a:ext cx="1333466" cy="1292996"/>
          </a:xfrm>
          <a:prstGeom prst="rect">
            <a:avLst/>
          </a:prstGeom>
          <a:effectLst/>
        </p:spPr>
      </p:pic>
      <p:sp>
        <p:nvSpPr>
          <p:cNvPr id="7" name="Rounded Rectangle 4"/>
          <p:cNvSpPr/>
          <p:nvPr/>
        </p:nvSpPr>
        <p:spPr>
          <a:xfrm>
            <a:off x="857228" y="14605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62000" y="1585567"/>
            <a:ext cx="266693" cy="226115"/>
          </a:xfrm>
          <a:prstGeom prst="rect">
            <a:avLst/>
          </a:prstGeom>
          <a:effectLst/>
        </p:spPr>
      </p:pic>
      <p:sp>
        <p:nvSpPr>
          <p:cNvPr id="9" name="TextBox 6"/>
          <p:cNvSpPr txBox="1"/>
          <p:nvPr/>
        </p:nvSpPr>
        <p:spPr>
          <a:xfrm>
            <a:off x="1476338" y="1418908"/>
            <a:ext cx="648970" cy="31178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空间段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1476338" y="1732280"/>
            <a:ext cx="124333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5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独树一帜的混合星座</a:t>
            </a:r>
            <a:endParaRPr sz="95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1104900" y="2286635"/>
            <a:ext cx="2880360" cy="2309495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由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30颗卫星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组成，实现"全球覆盖+区域强化"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中圆地球轨道（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MEO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）卫星（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颗）：轨道高度约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21500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公里，是实现全球覆盖和全球服务的骨干力量，其功能定位类似于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GPS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Galileo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星座。</a:t>
            </a:r>
            <a:endParaRPr lang="zh-CN" altLang="en-US"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地球静止轨道（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GEO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）卫星（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颗）：定点于赤道上空，与地球保持相对静止。它们为亚太地区提供持续、高仰角的信号覆盖，是实现区域短报文通信、星基增强和精密单点定位等特色服务的关键。</a:t>
            </a:r>
            <a:endParaRPr lang="zh-CN" altLang="en-US"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倾斜地球同步轨道（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IGSO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）卫星（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颗）：其星下点轨迹在地面上呈现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“8”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字形，同样聚焦于亚太地区，与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GEO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卫星协同工作，进一步增强该区域的信号可用性和几何精度，尤其是在中高纬度地区。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215994" y="4657024"/>
            <a:ext cx="342891" cy="289691"/>
          </a:xfrm>
          <a:prstGeom prst="rect">
            <a:avLst/>
          </a:prstGeom>
          <a:effectLst/>
        </p:spPr>
      </p:pic>
      <p:sp>
        <p:nvSpPr>
          <p:cNvPr id="14" name="TextBox 11"/>
          <p:cNvSpPr txBox="1"/>
          <p:nvPr/>
        </p:nvSpPr>
        <p:spPr>
          <a:xfrm>
            <a:off x="1190272" y="4997449"/>
            <a:ext cx="40386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MEO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2"/>
          <p:cNvSpPr txBox="1"/>
          <p:nvPr/>
        </p:nvSpPr>
        <p:spPr>
          <a:xfrm>
            <a:off x="1183287" y="5197475"/>
            <a:ext cx="41783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24颗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254194" y="4657024"/>
            <a:ext cx="342891" cy="289691"/>
          </a:xfrm>
          <a:prstGeom prst="rect">
            <a:avLst/>
          </a:prstGeom>
          <a:effectLst/>
        </p:spPr>
      </p:pic>
      <p:sp>
        <p:nvSpPr>
          <p:cNvPr id="17" name="TextBox 14"/>
          <p:cNvSpPr txBox="1"/>
          <p:nvPr/>
        </p:nvSpPr>
        <p:spPr>
          <a:xfrm>
            <a:off x="2242442" y="4997449"/>
            <a:ext cx="37592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GEO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5"/>
          <p:cNvSpPr txBox="1"/>
          <p:nvPr/>
        </p:nvSpPr>
        <p:spPr>
          <a:xfrm>
            <a:off x="2258952" y="5197475"/>
            <a:ext cx="34290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3颗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292393" y="4657024"/>
            <a:ext cx="342891" cy="289691"/>
          </a:xfrm>
          <a:prstGeom prst="rect">
            <a:avLst/>
          </a:prstGeom>
          <a:effectLst/>
        </p:spPr>
      </p:pic>
      <p:sp>
        <p:nvSpPr>
          <p:cNvPr id="20" name="TextBox 17"/>
          <p:cNvSpPr txBox="1"/>
          <p:nvPr/>
        </p:nvSpPr>
        <p:spPr>
          <a:xfrm>
            <a:off x="3261273" y="4997449"/>
            <a:ext cx="414655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IGSO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18"/>
          <p:cNvSpPr txBox="1"/>
          <p:nvPr/>
        </p:nvSpPr>
        <p:spPr>
          <a:xfrm>
            <a:off x="3297151" y="5197475"/>
            <a:ext cx="34290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3颗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0"/>
          <p:cNvSpPr txBox="1"/>
          <p:nvPr/>
        </p:nvSpPr>
        <p:spPr>
          <a:xfrm>
            <a:off x="1104871" y="2076450"/>
            <a:ext cx="214757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全球首个采用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混合星座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设计的GNSS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3"/>
          <p:cNvSpPr/>
          <p:nvPr/>
        </p:nvSpPr>
        <p:spPr>
          <a:xfrm>
            <a:off x="4352816" y="1314450"/>
            <a:ext cx="3495587" cy="5162550"/>
          </a:xfrm>
          <a:prstGeom prst="roundRect">
            <a:avLst>
              <a:gd name="adj" fmla="val 5449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95907" y="4800395"/>
            <a:ext cx="1333466" cy="1211989"/>
          </a:xfrm>
          <a:prstGeom prst="rect">
            <a:avLst/>
          </a:prstGeom>
          <a:effectLst/>
        </p:spPr>
      </p:pic>
      <p:sp>
        <p:nvSpPr>
          <p:cNvPr id="28" name="Rounded Rectangle 25"/>
          <p:cNvSpPr/>
          <p:nvPr/>
        </p:nvSpPr>
        <p:spPr>
          <a:xfrm>
            <a:off x="4543311" y="14605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9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48083" y="1569623"/>
            <a:ext cx="266693" cy="258003"/>
          </a:xfrm>
          <a:prstGeom prst="rect">
            <a:avLst/>
          </a:prstGeom>
          <a:effectLst/>
        </p:spPr>
      </p:pic>
      <p:sp>
        <p:nvSpPr>
          <p:cNvPr id="30" name="TextBox 27"/>
          <p:cNvSpPr txBox="1"/>
          <p:nvPr/>
        </p:nvSpPr>
        <p:spPr>
          <a:xfrm>
            <a:off x="5162420" y="1418908"/>
            <a:ext cx="648970" cy="31178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地面段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28"/>
          <p:cNvSpPr txBox="1"/>
          <p:nvPr/>
        </p:nvSpPr>
        <p:spPr>
          <a:xfrm>
            <a:off x="5162420" y="1732280"/>
            <a:ext cx="99949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5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系统的智慧中枢</a:t>
            </a:r>
            <a:endParaRPr sz="95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0"/>
          <p:cNvSpPr txBox="1"/>
          <p:nvPr/>
        </p:nvSpPr>
        <p:spPr>
          <a:xfrm>
            <a:off x="4528699" y="2076133"/>
            <a:ext cx="2847903" cy="292100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负责维持星座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正常运行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和导航信号精确无误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1"/>
          <p:cNvSpPr/>
          <p:nvPr/>
        </p:nvSpPr>
        <p:spPr>
          <a:xfrm>
            <a:off x="4552836" y="2522855"/>
            <a:ext cx="1504912" cy="361950"/>
          </a:xfrm>
          <a:prstGeom prst="roundRect">
            <a:avLst>
              <a:gd name="adj" fmla="val 31578"/>
            </a:avLst>
          </a:prstGeom>
          <a:solidFill>
            <a:srgbClr val="00A8FF">
              <a:alpha val="10000"/>
            </a:srgbClr>
          </a:solidFill>
          <a:ln w="8255">
            <a:solidFill>
              <a:srgbClr val="00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2"/>
          <p:cNvSpPr txBox="1"/>
          <p:nvPr/>
        </p:nvSpPr>
        <p:spPr>
          <a:xfrm>
            <a:off x="5072247" y="2585084"/>
            <a:ext cx="46609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主控站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3"/>
          <p:cNvSpPr/>
          <p:nvPr/>
        </p:nvSpPr>
        <p:spPr>
          <a:xfrm>
            <a:off x="6152996" y="2522855"/>
            <a:ext cx="1504912" cy="361950"/>
          </a:xfrm>
          <a:prstGeom prst="roundRect">
            <a:avLst>
              <a:gd name="adj" fmla="val 31578"/>
            </a:avLst>
          </a:prstGeom>
          <a:solidFill>
            <a:srgbClr val="00A8FF">
              <a:alpha val="10000"/>
            </a:srgbClr>
          </a:solidFill>
          <a:ln w="8255">
            <a:solidFill>
              <a:srgbClr val="00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4"/>
          <p:cNvSpPr txBox="1"/>
          <p:nvPr/>
        </p:nvSpPr>
        <p:spPr>
          <a:xfrm>
            <a:off x="6433965" y="2585084"/>
            <a:ext cx="942975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时间同步/注入站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ounded Rectangle 35"/>
          <p:cNvSpPr/>
          <p:nvPr/>
        </p:nvSpPr>
        <p:spPr>
          <a:xfrm>
            <a:off x="4552836" y="2980055"/>
            <a:ext cx="1504912" cy="361950"/>
          </a:xfrm>
          <a:prstGeom prst="roundRect">
            <a:avLst>
              <a:gd name="adj" fmla="val 31578"/>
            </a:avLst>
          </a:prstGeom>
          <a:solidFill>
            <a:srgbClr val="00A8FF">
              <a:alpha val="10000"/>
            </a:srgbClr>
          </a:solidFill>
          <a:ln w="8255">
            <a:solidFill>
              <a:srgbClr val="00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6"/>
          <p:cNvSpPr txBox="1"/>
          <p:nvPr/>
        </p:nvSpPr>
        <p:spPr>
          <a:xfrm>
            <a:off x="5072247" y="3042285"/>
            <a:ext cx="46609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监测站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7"/>
          <p:cNvSpPr/>
          <p:nvPr/>
        </p:nvSpPr>
        <p:spPr>
          <a:xfrm>
            <a:off x="6152996" y="2980055"/>
            <a:ext cx="1504912" cy="361950"/>
          </a:xfrm>
          <a:prstGeom prst="roundRect">
            <a:avLst>
              <a:gd name="adj" fmla="val 31578"/>
            </a:avLst>
          </a:prstGeom>
          <a:solidFill>
            <a:srgbClr val="00A8FF">
              <a:alpha val="10000"/>
            </a:srgbClr>
          </a:solidFill>
          <a:ln w="8255">
            <a:solidFill>
              <a:srgbClr val="00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38"/>
          <p:cNvSpPr txBox="1"/>
          <p:nvPr/>
        </p:nvSpPr>
        <p:spPr>
          <a:xfrm>
            <a:off x="6405707" y="3042285"/>
            <a:ext cx="99949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星间链路管理设施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0"/>
          <p:cNvSpPr txBox="1"/>
          <p:nvPr/>
        </p:nvSpPr>
        <p:spPr>
          <a:xfrm>
            <a:off x="4819529" y="3384549"/>
            <a:ext cx="192532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星间链路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技术实现星座自主运行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2"/>
          <p:cNvSpPr txBox="1"/>
          <p:nvPr/>
        </p:nvSpPr>
        <p:spPr>
          <a:xfrm>
            <a:off x="4810004" y="3762375"/>
            <a:ext cx="192532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摆脱对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全球地面站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网络的强依赖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43"/>
          <p:cNvSpPr/>
          <p:nvPr/>
        </p:nvSpPr>
        <p:spPr>
          <a:xfrm>
            <a:off x="8029374" y="1314450"/>
            <a:ext cx="3495587" cy="5162550"/>
          </a:xfrm>
          <a:prstGeom prst="roundRect">
            <a:avLst>
              <a:gd name="adj" fmla="val 5449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7" name="Picture 4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381990" y="4942157"/>
            <a:ext cx="1333466" cy="928464"/>
          </a:xfrm>
          <a:prstGeom prst="rect">
            <a:avLst/>
          </a:prstGeom>
          <a:effectLst/>
        </p:spPr>
      </p:pic>
      <p:sp>
        <p:nvSpPr>
          <p:cNvPr id="48" name="Rounded Rectangle 45"/>
          <p:cNvSpPr/>
          <p:nvPr/>
        </p:nvSpPr>
        <p:spPr>
          <a:xfrm>
            <a:off x="8219869" y="14605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9" name="Picture 4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324641" y="1614556"/>
            <a:ext cx="266693" cy="168136"/>
          </a:xfrm>
          <a:prstGeom prst="rect">
            <a:avLst/>
          </a:prstGeom>
          <a:effectLst/>
        </p:spPr>
      </p:pic>
      <p:sp>
        <p:nvSpPr>
          <p:cNvPr id="50" name="TextBox 47"/>
          <p:cNvSpPr txBox="1"/>
          <p:nvPr/>
        </p:nvSpPr>
        <p:spPr>
          <a:xfrm>
            <a:off x="8838979" y="1418908"/>
            <a:ext cx="648970" cy="31178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用户段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48"/>
          <p:cNvSpPr txBox="1"/>
          <p:nvPr/>
        </p:nvSpPr>
        <p:spPr>
          <a:xfrm>
            <a:off x="8838979" y="1732280"/>
            <a:ext cx="136525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5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从核心芯片到万千应用</a:t>
            </a:r>
            <a:endParaRPr sz="95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0"/>
          <p:cNvSpPr txBox="1"/>
          <p:nvPr/>
        </p:nvSpPr>
        <p:spPr>
          <a:xfrm>
            <a:off x="8219862" y="2076450"/>
            <a:ext cx="241300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涵盖所有接收和处理北斗信号的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终端设备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ounded Rectangle 51"/>
          <p:cNvSpPr/>
          <p:nvPr/>
        </p:nvSpPr>
        <p:spPr>
          <a:xfrm>
            <a:off x="8219869" y="2441575"/>
            <a:ext cx="3114597" cy="847724"/>
          </a:xfrm>
          <a:prstGeom prst="roundRect">
            <a:avLst>
              <a:gd name="adj" fmla="val 13483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5" name="Picture 5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315117" y="2581991"/>
            <a:ext cx="171445" cy="138266"/>
          </a:xfrm>
          <a:prstGeom prst="rect">
            <a:avLst/>
          </a:prstGeom>
          <a:effectLst/>
        </p:spPr>
      </p:pic>
      <p:sp>
        <p:nvSpPr>
          <p:cNvPr id="56" name="TextBox 53"/>
          <p:cNvSpPr txBox="1"/>
          <p:nvPr/>
        </p:nvSpPr>
        <p:spPr>
          <a:xfrm>
            <a:off x="8562760" y="2522854"/>
            <a:ext cx="112141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上游（基础产品）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4"/>
          <p:cNvSpPr txBox="1"/>
          <p:nvPr/>
        </p:nvSpPr>
        <p:spPr>
          <a:xfrm>
            <a:off x="8315117" y="2884805"/>
            <a:ext cx="2924101" cy="237490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射频/基带一体化芯片、高精度板卡、天线模块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ounded Rectangle 55"/>
          <p:cNvSpPr/>
          <p:nvPr/>
        </p:nvSpPr>
        <p:spPr>
          <a:xfrm>
            <a:off x="8219869" y="3384550"/>
            <a:ext cx="3114597" cy="657225"/>
          </a:xfrm>
          <a:prstGeom prst="roundRect">
            <a:avLst>
              <a:gd name="adj" fmla="val 1739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9" name="Picture 5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315117" y="3530497"/>
            <a:ext cx="171445" cy="127204"/>
          </a:xfrm>
          <a:prstGeom prst="rect">
            <a:avLst/>
          </a:prstGeom>
          <a:effectLst/>
        </p:spPr>
      </p:pic>
      <p:sp>
        <p:nvSpPr>
          <p:cNvPr id="60" name="TextBox 57"/>
          <p:cNvSpPr txBox="1"/>
          <p:nvPr/>
        </p:nvSpPr>
        <p:spPr>
          <a:xfrm>
            <a:off x="8562760" y="3465829"/>
            <a:ext cx="112141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中游（终端产品）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Box 58"/>
          <p:cNvSpPr txBox="1"/>
          <p:nvPr/>
        </p:nvSpPr>
        <p:spPr>
          <a:xfrm>
            <a:off x="8315117" y="3732529"/>
            <a:ext cx="195961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车载导航仪、测量型接收机、智能手机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ounded Rectangle 59"/>
          <p:cNvSpPr/>
          <p:nvPr/>
        </p:nvSpPr>
        <p:spPr>
          <a:xfrm>
            <a:off x="8219869" y="4137025"/>
            <a:ext cx="3114597" cy="657225"/>
          </a:xfrm>
          <a:prstGeom prst="roundRect">
            <a:avLst>
              <a:gd name="adj" fmla="val 1739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3" name="Picture 6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315117" y="4282972"/>
            <a:ext cx="171445" cy="127204"/>
          </a:xfrm>
          <a:prstGeom prst="rect">
            <a:avLst/>
          </a:prstGeom>
          <a:effectLst/>
        </p:spPr>
      </p:pic>
      <p:sp>
        <p:nvSpPr>
          <p:cNvPr id="64" name="TextBox 61"/>
          <p:cNvSpPr txBox="1"/>
          <p:nvPr/>
        </p:nvSpPr>
        <p:spPr>
          <a:xfrm>
            <a:off x="8562760" y="4218305"/>
            <a:ext cx="112141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下游（运营服务）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TextBox 62"/>
          <p:cNvSpPr txBox="1"/>
          <p:nvPr/>
        </p:nvSpPr>
        <p:spPr>
          <a:xfrm>
            <a:off x="8315117" y="4485005"/>
            <a:ext cx="174625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物流监控平台、精准农业管理系统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8" name="直接连接符 67"/>
          <p:cNvCxnSpPr/>
          <p:nvPr/>
        </p:nvCxnSpPr>
        <p:spPr>
          <a:xfrm>
            <a:off x="1358265" y="1024255"/>
            <a:ext cx="9830435" cy="33020"/>
          </a:xfrm>
          <a:prstGeom prst="line">
            <a:avLst/>
          </a:prstGeom>
          <a:ln w="381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5296535" y="5591810"/>
            <a:ext cx="6419215" cy="1198880"/>
          </a:xfrm>
          <a:prstGeom prst="rect">
            <a:avLst/>
          </a:prstGeom>
          <a:effectLst/>
        </p:spPr>
        <p:txBody>
          <a:bodyPr wrap="square">
            <a:sp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与所有</a:t>
            </a:r>
            <a:r>
              <a:rPr lang="en-US" altLang="zh-CN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GNSS</a:t>
            </a:r>
            <a:r>
              <a:rPr lang="zh-CN" altLang="en-US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一样，</a:t>
            </a:r>
            <a:r>
              <a:rPr lang="zh-CN" altLang="en-US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北斗系统</a:t>
            </a:r>
            <a:r>
              <a:rPr lang="zh-CN" altLang="en-US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由空间段、地面段和用户段三大部分构成。然而，其在具体设计上，尤其是在空间段的星座构型和星间链路技术上，展现了深刻的创新和战略考量，使其在提供全球服务的同时，具备了独特的区域增强能力。</a:t>
            </a:r>
            <a:endParaRPr lang="zh-CN" altLang="en-US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7" grpId="1" animBg="1"/>
      <p:bldP spid="9" grpId="1" animBg="1"/>
      <p:bldP spid="10" grpId="1" animBg="1"/>
      <p:bldP spid="12" grpId="1" animBg="1"/>
      <p:bldP spid="14" grpId="1" animBg="1"/>
      <p:bldP spid="15" grpId="1" animBg="1"/>
      <p:bldP spid="17" grpId="1" animBg="1"/>
      <p:bldP spid="18" grpId="1" animBg="1"/>
      <p:bldP spid="20" grpId="1" animBg="1"/>
      <p:bldP spid="21" grpId="1" animBg="1"/>
      <p:bldP spid="23" grpId="1" animBg="1"/>
      <p:bldP spid="26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5" grpId="0" animBg="1"/>
      <p:bldP spid="26" grpId="1" animBg="1"/>
      <p:bldP spid="28" grpId="1" animBg="1"/>
      <p:bldP spid="30" grpId="1" animBg="1"/>
      <p:bldP spid="31" grpId="1" animBg="1"/>
      <p:bldP spid="33" grpId="1" animBg="1"/>
      <p:bldP spid="34" grpId="1" animBg="1"/>
      <p:bldP spid="35" grpId="1" animBg="1"/>
      <p:bldP spid="36" grpId="1" animBg="1"/>
      <p:bldP spid="37" grpId="1" animBg="1"/>
      <p:bldP spid="38" grpId="1" animBg="1"/>
      <p:bldP spid="39" grpId="1" animBg="1"/>
      <p:bldP spid="40" grpId="1" animBg="1"/>
      <p:bldP spid="41" grpId="1" animBg="1"/>
      <p:bldP spid="43" grpId="1" animBg="1"/>
      <p:bldP spid="45" grpId="1" animBg="1"/>
      <p:bldP spid="46" grpId="0" animBg="1"/>
      <p:bldP spid="48" grpId="0" animBg="1"/>
      <p:bldP spid="50" grpId="0" animBg="1"/>
      <p:bldP spid="51" grpId="0" animBg="1"/>
      <p:bldP spid="53" grpId="0" animBg="1"/>
      <p:bldP spid="54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46" grpId="1" animBg="1"/>
      <p:bldP spid="48" grpId="1" animBg="1"/>
      <p:bldP spid="50" grpId="1" animBg="1"/>
      <p:bldP spid="51" grpId="1" animBg="1"/>
      <p:bldP spid="53" grpId="1" animBg="1"/>
      <p:bldP spid="54" grpId="1" animBg="1"/>
      <p:bldP spid="56" grpId="1" animBg="1"/>
      <p:bldP spid="57" grpId="1" animBg="1"/>
      <p:bldP spid="58" grpId="1" animBg="1"/>
      <p:bldP spid="60" grpId="1" animBg="1"/>
      <p:bldP spid="61" grpId="1" animBg="1"/>
      <p:bldP spid="62" grpId="1" animBg="1"/>
      <p:bldP spid="64" grpId="1" animBg="1"/>
      <p:bldP spid="65" grpId="1" animBg="1"/>
      <p:bldP spid="66" grpId="0" animBg="1"/>
      <p:bldP spid="6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1"/>
          <p:cNvSpPr txBox="1"/>
          <p:nvPr/>
        </p:nvSpPr>
        <p:spPr>
          <a:xfrm>
            <a:off x="1353803" y="325754"/>
            <a:ext cx="9760585" cy="6629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3600" b="1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3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北斗系统的体系架构：天、地、用户的协同设计</a:t>
            </a:r>
            <a:endParaRPr sz="3600" b="1">
              <a:gradFill>
                <a:gsLst>
                  <a:gs pos="0">
                    <a:schemeClr val="bg1">
                      <a:lumMod val="95000"/>
                    </a:schemeClr>
                  </a:gs>
                  <a:gs pos="53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5" name="Rounded Rectangle 2"/>
          <p:cNvSpPr/>
          <p:nvPr/>
        </p:nvSpPr>
        <p:spPr>
          <a:xfrm>
            <a:off x="303513" y="1314450"/>
            <a:ext cx="3495587" cy="5162550"/>
          </a:xfrm>
          <a:prstGeom prst="roundRect">
            <a:avLst>
              <a:gd name="adj" fmla="val 5449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656129" y="4759891"/>
            <a:ext cx="1333466" cy="1292996"/>
          </a:xfrm>
          <a:prstGeom prst="rect">
            <a:avLst/>
          </a:prstGeom>
          <a:effectLst/>
        </p:spPr>
      </p:pic>
      <p:sp>
        <p:nvSpPr>
          <p:cNvPr id="7" name="Rounded Rectangle 4"/>
          <p:cNvSpPr/>
          <p:nvPr/>
        </p:nvSpPr>
        <p:spPr>
          <a:xfrm>
            <a:off x="494008" y="14605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98780" y="1585567"/>
            <a:ext cx="266693" cy="226115"/>
          </a:xfrm>
          <a:prstGeom prst="rect">
            <a:avLst/>
          </a:prstGeom>
          <a:effectLst/>
        </p:spPr>
      </p:pic>
      <p:sp>
        <p:nvSpPr>
          <p:cNvPr id="9" name="TextBox 6"/>
          <p:cNvSpPr txBox="1"/>
          <p:nvPr/>
        </p:nvSpPr>
        <p:spPr>
          <a:xfrm>
            <a:off x="1113118" y="1418908"/>
            <a:ext cx="648970" cy="31178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空间段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1113118" y="1732280"/>
            <a:ext cx="124333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5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独树一帜的混合星座</a:t>
            </a:r>
            <a:endParaRPr sz="95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741680" y="2279650"/>
            <a:ext cx="2880360" cy="842645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由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30颗卫星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组成，实现"全球覆盖+区域强化"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中圆地球轨道（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MEO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）卫星（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颗）</a:t>
            </a:r>
            <a:endParaRPr lang="zh-CN" altLang="en-US"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地球静止轨道（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GEO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）卫星（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颗）</a:t>
            </a:r>
            <a:endParaRPr lang="zh-CN" altLang="en-US"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倾斜地球同步轨道（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IGSO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）卫星（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颗）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2774" y="5680644"/>
            <a:ext cx="342891" cy="289691"/>
          </a:xfrm>
          <a:prstGeom prst="rect">
            <a:avLst/>
          </a:prstGeom>
          <a:effectLst/>
        </p:spPr>
      </p:pic>
      <p:sp>
        <p:nvSpPr>
          <p:cNvPr id="14" name="TextBox 11"/>
          <p:cNvSpPr txBox="1"/>
          <p:nvPr/>
        </p:nvSpPr>
        <p:spPr>
          <a:xfrm>
            <a:off x="827052" y="6021069"/>
            <a:ext cx="40386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MEO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2"/>
          <p:cNvSpPr txBox="1"/>
          <p:nvPr/>
        </p:nvSpPr>
        <p:spPr>
          <a:xfrm>
            <a:off x="820067" y="6221095"/>
            <a:ext cx="41783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24颗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890974" y="5680644"/>
            <a:ext cx="342891" cy="289691"/>
          </a:xfrm>
          <a:prstGeom prst="rect">
            <a:avLst/>
          </a:prstGeom>
          <a:effectLst/>
        </p:spPr>
      </p:pic>
      <p:sp>
        <p:nvSpPr>
          <p:cNvPr id="17" name="TextBox 14"/>
          <p:cNvSpPr txBox="1"/>
          <p:nvPr/>
        </p:nvSpPr>
        <p:spPr>
          <a:xfrm>
            <a:off x="1879222" y="6021069"/>
            <a:ext cx="37592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GEO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5"/>
          <p:cNvSpPr txBox="1"/>
          <p:nvPr/>
        </p:nvSpPr>
        <p:spPr>
          <a:xfrm>
            <a:off x="1895732" y="6221095"/>
            <a:ext cx="34290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3颗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929173" y="5680644"/>
            <a:ext cx="342891" cy="289691"/>
          </a:xfrm>
          <a:prstGeom prst="rect">
            <a:avLst/>
          </a:prstGeom>
          <a:effectLst/>
        </p:spPr>
      </p:pic>
      <p:sp>
        <p:nvSpPr>
          <p:cNvPr id="20" name="TextBox 17"/>
          <p:cNvSpPr txBox="1"/>
          <p:nvPr/>
        </p:nvSpPr>
        <p:spPr>
          <a:xfrm>
            <a:off x="2898053" y="6021069"/>
            <a:ext cx="414655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IGSO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18"/>
          <p:cNvSpPr txBox="1"/>
          <p:nvPr/>
        </p:nvSpPr>
        <p:spPr>
          <a:xfrm>
            <a:off x="2933931" y="6221095"/>
            <a:ext cx="34290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3颗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0"/>
          <p:cNvSpPr txBox="1"/>
          <p:nvPr/>
        </p:nvSpPr>
        <p:spPr>
          <a:xfrm>
            <a:off x="741651" y="2076450"/>
            <a:ext cx="214757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全球首个采用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混合星座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设计的GNSS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3"/>
          <p:cNvSpPr/>
          <p:nvPr/>
        </p:nvSpPr>
        <p:spPr>
          <a:xfrm>
            <a:off x="3989596" y="1419225"/>
            <a:ext cx="3495587" cy="5162550"/>
          </a:xfrm>
          <a:prstGeom prst="roundRect">
            <a:avLst>
              <a:gd name="adj" fmla="val 5449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17192" y="3384345"/>
            <a:ext cx="1333466" cy="1211989"/>
          </a:xfrm>
          <a:prstGeom prst="rect">
            <a:avLst/>
          </a:prstGeom>
          <a:effectLst/>
        </p:spPr>
      </p:pic>
      <p:sp>
        <p:nvSpPr>
          <p:cNvPr id="28" name="Rounded Rectangle 25"/>
          <p:cNvSpPr/>
          <p:nvPr/>
        </p:nvSpPr>
        <p:spPr>
          <a:xfrm>
            <a:off x="4180091" y="14605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9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284863" y="1569623"/>
            <a:ext cx="266693" cy="258003"/>
          </a:xfrm>
          <a:prstGeom prst="rect">
            <a:avLst/>
          </a:prstGeom>
          <a:effectLst/>
        </p:spPr>
      </p:pic>
      <p:sp>
        <p:nvSpPr>
          <p:cNvPr id="30" name="TextBox 27"/>
          <p:cNvSpPr txBox="1"/>
          <p:nvPr/>
        </p:nvSpPr>
        <p:spPr>
          <a:xfrm>
            <a:off x="4799200" y="1418908"/>
            <a:ext cx="648970" cy="31178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地面段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28"/>
          <p:cNvSpPr txBox="1"/>
          <p:nvPr/>
        </p:nvSpPr>
        <p:spPr>
          <a:xfrm>
            <a:off x="4799200" y="1732280"/>
            <a:ext cx="99949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5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系统的智慧中枢</a:t>
            </a:r>
            <a:endParaRPr sz="95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0"/>
          <p:cNvSpPr txBox="1"/>
          <p:nvPr/>
        </p:nvSpPr>
        <p:spPr>
          <a:xfrm>
            <a:off x="4165479" y="2076133"/>
            <a:ext cx="2847903" cy="292100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负责维持星座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正常运行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和导航信号精确无误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1"/>
          <p:cNvSpPr/>
          <p:nvPr/>
        </p:nvSpPr>
        <p:spPr>
          <a:xfrm>
            <a:off x="4189616" y="2522855"/>
            <a:ext cx="1504912" cy="361950"/>
          </a:xfrm>
          <a:prstGeom prst="roundRect">
            <a:avLst>
              <a:gd name="adj" fmla="val 31578"/>
            </a:avLst>
          </a:prstGeom>
          <a:solidFill>
            <a:srgbClr val="00A8FF">
              <a:alpha val="10000"/>
            </a:srgbClr>
          </a:solidFill>
          <a:ln w="8255">
            <a:solidFill>
              <a:srgbClr val="00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2"/>
          <p:cNvSpPr txBox="1"/>
          <p:nvPr/>
        </p:nvSpPr>
        <p:spPr>
          <a:xfrm>
            <a:off x="4709027" y="2585084"/>
            <a:ext cx="46609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主控站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3"/>
          <p:cNvSpPr/>
          <p:nvPr/>
        </p:nvSpPr>
        <p:spPr>
          <a:xfrm>
            <a:off x="5789776" y="2522855"/>
            <a:ext cx="1504912" cy="361950"/>
          </a:xfrm>
          <a:prstGeom prst="roundRect">
            <a:avLst>
              <a:gd name="adj" fmla="val 31578"/>
            </a:avLst>
          </a:prstGeom>
          <a:solidFill>
            <a:srgbClr val="00A8FF">
              <a:alpha val="10000"/>
            </a:srgbClr>
          </a:solidFill>
          <a:ln w="8255">
            <a:solidFill>
              <a:srgbClr val="00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4"/>
          <p:cNvSpPr txBox="1"/>
          <p:nvPr/>
        </p:nvSpPr>
        <p:spPr>
          <a:xfrm>
            <a:off x="6070745" y="2585084"/>
            <a:ext cx="942975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时间同步/注入站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ounded Rectangle 35"/>
          <p:cNvSpPr/>
          <p:nvPr/>
        </p:nvSpPr>
        <p:spPr>
          <a:xfrm>
            <a:off x="4189616" y="2980055"/>
            <a:ext cx="1504912" cy="361950"/>
          </a:xfrm>
          <a:prstGeom prst="roundRect">
            <a:avLst>
              <a:gd name="adj" fmla="val 31578"/>
            </a:avLst>
          </a:prstGeom>
          <a:solidFill>
            <a:srgbClr val="00A8FF">
              <a:alpha val="10000"/>
            </a:srgbClr>
          </a:solidFill>
          <a:ln w="8255">
            <a:solidFill>
              <a:srgbClr val="00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6"/>
          <p:cNvSpPr txBox="1"/>
          <p:nvPr/>
        </p:nvSpPr>
        <p:spPr>
          <a:xfrm>
            <a:off x="4709027" y="3042285"/>
            <a:ext cx="46609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监测站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7"/>
          <p:cNvSpPr/>
          <p:nvPr/>
        </p:nvSpPr>
        <p:spPr>
          <a:xfrm>
            <a:off x="5789776" y="2980055"/>
            <a:ext cx="1504912" cy="361950"/>
          </a:xfrm>
          <a:prstGeom prst="roundRect">
            <a:avLst>
              <a:gd name="adj" fmla="val 31578"/>
            </a:avLst>
          </a:prstGeom>
          <a:solidFill>
            <a:srgbClr val="00A8FF">
              <a:alpha val="10000"/>
            </a:srgbClr>
          </a:solidFill>
          <a:ln w="8255">
            <a:solidFill>
              <a:srgbClr val="00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38"/>
          <p:cNvSpPr txBox="1"/>
          <p:nvPr/>
        </p:nvSpPr>
        <p:spPr>
          <a:xfrm>
            <a:off x="6042487" y="3042285"/>
            <a:ext cx="99949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星间链路管理设施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7" name="Picture 4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817100" y="5929582"/>
            <a:ext cx="1333466" cy="928464"/>
          </a:xfrm>
          <a:prstGeom prst="rect">
            <a:avLst/>
          </a:prstGeom>
          <a:effectLst/>
        </p:spPr>
      </p:pic>
      <p:sp>
        <p:nvSpPr>
          <p:cNvPr id="48" name="Rounded Rectangle 45"/>
          <p:cNvSpPr/>
          <p:nvPr/>
        </p:nvSpPr>
        <p:spPr>
          <a:xfrm>
            <a:off x="4165394" y="422338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9" name="Picture 4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270166" y="4377441"/>
            <a:ext cx="266693" cy="168136"/>
          </a:xfrm>
          <a:prstGeom prst="rect">
            <a:avLst/>
          </a:prstGeom>
          <a:effectLst/>
        </p:spPr>
      </p:pic>
      <p:sp>
        <p:nvSpPr>
          <p:cNvPr id="50" name="TextBox 47"/>
          <p:cNvSpPr txBox="1"/>
          <p:nvPr/>
        </p:nvSpPr>
        <p:spPr>
          <a:xfrm>
            <a:off x="4784504" y="4181793"/>
            <a:ext cx="648970" cy="31178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用户段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48"/>
          <p:cNvSpPr txBox="1"/>
          <p:nvPr/>
        </p:nvSpPr>
        <p:spPr>
          <a:xfrm>
            <a:off x="4784504" y="4495165"/>
            <a:ext cx="136525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5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从核心芯片到万千应用</a:t>
            </a:r>
            <a:endParaRPr sz="95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0"/>
          <p:cNvSpPr txBox="1"/>
          <p:nvPr/>
        </p:nvSpPr>
        <p:spPr>
          <a:xfrm>
            <a:off x="4165387" y="4839335"/>
            <a:ext cx="241300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涵盖所有接收和处理北斗信号的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终端设备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ounded Rectangle 51"/>
          <p:cNvSpPr/>
          <p:nvPr/>
        </p:nvSpPr>
        <p:spPr>
          <a:xfrm>
            <a:off x="4165600" y="5204460"/>
            <a:ext cx="3114675" cy="394335"/>
          </a:xfrm>
          <a:prstGeom prst="roundRect">
            <a:avLst>
              <a:gd name="adj" fmla="val 13483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5" name="Picture 5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260642" y="5344876"/>
            <a:ext cx="171445" cy="138266"/>
          </a:xfrm>
          <a:prstGeom prst="rect">
            <a:avLst/>
          </a:prstGeom>
          <a:effectLst/>
        </p:spPr>
      </p:pic>
      <p:sp>
        <p:nvSpPr>
          <p:cNvPr id="56" name="TextBox 53"/>
          <p:cNvSpPr txBox="1"/>
          <p:nvPr/>
        </p:nvSpPr>
        <p:spPr>
          <a:xfrm>
            <a:off x="4508285" y="5285739"/>
            <a:ext cx="112141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上游（基础产品）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ounded Rectangle 55"/>
          <p:cNvSpPr/>
          <p:nvPr/>
        </p:nvSpPr>
        <p:spPr>
          <a:xfrm>
            <a:off x="4165600" y="5709285"/>
            <a:ext cx="3114675" cy="438150"/>
          </a:xfrm>
          <a:prstGeom prst="roundRect">
            <a:avLst>
              <a:gd name="adj" fmla="val 1739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9" name="Picture 5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260642" y="5855232"/>
            <a:ext cx="171445" cy="127204"/>
          </a:xfrm>
          <a:prstGeom prst="rect">
            <a:avLst/>
          </a:prstGeom>
          <a:effectLst/>
        </p:spPr>
      </p:pic>
      <p:sp>
        <p:nvSpPr>
          <p:cNvPr id="60" name="TextBox 57"/>
          <p:cNvSpPr txBox="1"/>
          <p:nvPr/>
        </p:nvSpPr>
        <p:spPr>
          <a:xfrm>
            <a:off x="4508285" y="5790564"/>
            <a:ext cx="112141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中游（终端产品）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ounded Rectangle 59"/>
          <p:cNvSpPr/>
          <p:nvPr/>
        </p:nvSpPr>
        <p:spPr>
          <a:xfrm>
            <a:off x="4165600" y="6289675"/>
            <a:ext cx="3114675" cy="445135"/>
          </a:xfrm>
          <a:prstGeom prst="roundRect">
            <a:avLst>
              <a:gd name="adj" fmla="val 1739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3" name="Picture 6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260642" y="6435622"/>
            <a:ext cx="171445" cy="127204"/>
          </a:xfrm>
          <a:prstGeom prst="rect">
            <a:avLst/>
          </a:prstGeom>
          <a:effectLst/>
        </p:spPr>
      </p:pic>
      <p:sp>
        <p:nvSpPr>
          <p:cNvPr id="64" name="TextBox 61"/>
          <p:cNvSpPr txBox="1"/>
          <p:nvPr/>
        </p:nvSpPr>
        <p:spPr>
          <a:xfrm>
            <a:off x="4508285" y="6370955"/>
            <a:ext cx="112141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下游（运营服务）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8" name="直接连接符 67"/>
          <p:cNvCxnSpPr/>
          <p:nvPr/>
        </p:nvCxnSpPr>
        <p:spPr>
          <a:xfrm>
            <a:off x="1358265" y="1024255"/>
            <a:ext cx="9830435" cy="33020"/>
          </a:xfrm>
          <a:prstGeom prst="line">
            <a:avLst/>
          </a:prstGeom>
          <a:ln w="381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1" name="图片 7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680" y="3122295"/>
            <a:ext cx="2585085" cy="2476500"/>
          </a:xfrm>
          <a:prstGeom prst="rect">
            <a:avLst/>
          </a:prstGeom>
        </p:spPr>
      </p:pic>
      <p:pic>
        <p:nvPicPr>
          <p:cNvPr id="72" name="图片 71"/>
          <p:cNvPicPr/>
          <p:nvPr/>
        </p:nvPicPr>
        <p:blipFill>
          <a:blip r:embed="rId13"/>
          <a:stretch>
            <a:fillRect/>
          </a:stretch>
        </p:blipFill>
        <p:spPr>
          <a:xfrm>
            <a:off x="7418070" y="1214120"/>
            <a:ext cx="4773930" cy="5643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71975" y="361314"/>
            <a:ext cx="8362315" cy="6629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3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核心</a:t>
            </a:r>
            <a:r>
              <a:rPr lang="zh-CN" sz="3600" b="1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3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功能</a:t>
            </a:r>
            <a:r>
              <a:rPr sz="3600" b="1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3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与服务：从基础PNT到特色功能</a:t>
            </a:r>
            <a:endParaRPr sz="23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67051" y="1314450"/>
            <a:ext cx="5333866" cy="866775"/>
          </a:xfrm>
          <a:prstGeom prst="roundRect">
            <a:avLst>
              <a:gd name="adj" fmla="val 21978"/>
            </a:avLst>
          </a:prstGeom>
          <a:solidFill>
            <a:srgbClr val="00326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9922" y="1504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14695" y="1639542"/>
            <a:ext cx="266693" cy="226115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1429032" y="1458913"/>
            <a:ext cx="877570" cy="3302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全球服务</a:t>
            </a:r>
            <a:endParaRPr sz="143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29032" y="1795779"/>
            <a:ext cx="185293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5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覆盖全球范围的导航与通信功能</a:t>
            </a:r>
            <a:endParaRPr sz="95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7051" y="2324100"/>
            <a:ext cx="2600259" cy="2105024"/>
          </a:xfrm>
          <a:prstGeom prst="roundRect">
            <a:avLst>
              <a:gd name="adj" fmla="val 9049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319421" y="3310572"/>
            <a:ext cx="2105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8021" y="2493645"/>
            <a:ext cx="228594" cy="194309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1171863" y="2453322"/>
            <a:ext cx="1552575" cy="27495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定位、导航与授时</a:t>
            </a: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(PNT)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8020" y="2786380"/>
            <a:ext cx="2276418" cy="475615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北斗系统最基础的核心服务，向全球用户免费开放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48021" y="3333749"/>
            <a:ext cx="1019149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021" y="3348354"/>
            <a:ext cx="888365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水平精度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 9m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943369" y="3333749"/>
            <a:ext cx="1095347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43369" y="3348354"/>
            <a:ext cx="954405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垂直精度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 10m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48021" y="3676649"/>
            <a:ext cx="1257268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8021" y="3691254"/>
            <a:ext cx="1087755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测速精度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 0.2m/s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48021" y="4019549"/>
            <a:ext cx="1123921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8021" y="4034154"/>
            <a:ext cx="97155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授时精度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 20ns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410182" y="2324100"/>
            <a:ext cx="2600259" cy="2105024"/>
          </a:xfrm>
          <a:prstGeom prst="roundRect">
            <a:avLst>
              <a:gd name="adj" fmla="val 9049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2423710" y="3310572"/>
            <a:ext cx="2105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581628" y="2493645"/>
            <a:ext cx="228594" cy="194309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3905470" y="2453322"/>
            <a:ext cx="1516380" cy="27495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全球短报文通信</a:t>
            </a: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(GSMC)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81627" y="2957830"/>
            <a:ext cx="2276418" cy="475615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北斗成为全球首个具备双向通信能力的GNSS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581628" y="3676649"/>
            <a:ext cx="1295367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81627" y="3691254"/>
            <a:ext cx="110109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支持卫星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14颗MEO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581628" y="4019549"/>
            <a:ext cx="1209644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81627" y="4034154"/>
            <a:ext cx="101600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信息长度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560比特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876996" y="4019549"/>
            <a:ext cx="866753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76995" y="4034154"/>
            <a:ext cx="73660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40个汉字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67051" y="4572000"/>
            <a:ext cx="2600259" cy="2105024"/>
          </a:xfrm>
          <a:prstGeom prst="roundRect">
            <a:avLst>
              <a:gd name="adj" fmla="val 9049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-319421" y="5558472"/>
            <a:ext cx="2105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8021" y="4750117"/>
            <a:ext cx="228594" cy="177164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1171863" y="4701222"/>
            <a:ext cx="995680" cy="27495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国际搜救</a:t>
            </a: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(SAR)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48020" y="5034280"/>
            <a:ext cx="2276418" cy="475615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加入国际"Cospas-Sarsat"卫星搜救组织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48021" y="5581649"/>
            <a:ext cx="1219169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48021" y="5596254"/>
            <a:ext cx="103505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支持卫星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6颗MEO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48021" y="5924549"/>
            <a:ext cx="1247743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48021" y="5939154"/>
            <a:ext cx="103124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返向链路 确认功能</a:t>
            </a:r>
            <a:endParaRPr sz="835" b="1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48021" y="6267449"/>
            <a:ext cx="1219169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48021" y="6282054"/>
            <a:ext cx="99949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缓解遇险人员焦虑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191413" y="1314450"/>
            <a:ext cx="5333866" cy="866775"/>
          </a:xfrm>
          <a:prstGeom prst="roundRect">
            <a:avLst>
              <a:gd name="adj" fmla="val 21978"/>
            </a:avLst>
          </a:prstGeom>
          <a:solidFill>
            <a:srgbClr val="00326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334284" y="1504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39057" y="1643890"/>
            <a:ext cx="266693" cy="217418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6953394" y="1458913"/>
            <a:ext cx="877570" cy="3302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区域服务</a:t>
            </a:r>
            <a:endParaRPr sz="143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953394" y="1795779"/>
            <a:ext cx="1731010" cy="2565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95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</a:rPr>
              <a:t>主要面向亚太地区的特色功能</a:t>
            </a:r>
            <a:endParaRPr sz="95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191413" y="2324100"/>
            <a:ext cx="2600259" cy="2105024"/>
          </a:xfrm>
          <a:prstGeom prst="roundRect">
            <a:avLst>
              <a:gd name="adj" fmla="val 9049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204941" y="3310572"/>
            <a:ext cx="2105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72383" y="2493645"/>
            <a:ext cx="228594" cy="194309"/>
          </a:xfrm>
          <a:prstGeom prst="rect">
            <a:avLst/>
          </a:prstGeom>
          <a:effectLst/>
        </p:spPr>
      </p:pic>
      <p:sp>
        <p:nvSpPr>
          <p:cNvPr id="51" name="TextBox 50"/>
          <p:cNvSpPr txBox="1"/>
          <p:nvPr/>
        </p:nvSpPr>
        <p:spPr>
          <a:xfrm>
            <a:off x="6696225" y="2453322"/>
            <a:ext cx="1508760" cy="27495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区域短报文通信</a:t>
            </a: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(RSMC)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372383" y="2786380"/>
            <a:ext cx="2276418" cy="475615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GSMC服务在亚太地区的高级版本，为授权用户提供服务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372383" y="3333749"/>
            <a:ext cx="1200119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372383" y="3348354"/>
            <a:ext cx="100711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支持卫星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3颗GEO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372383" y="3676649"/>
            <a:ext cx="1362040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372383" y="3691254"/>
            <a:ext cx="114808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信息长度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14000比特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6372383" y="4019549"/>
            <a:ext cx="1019149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372383" y="4034154"/>
            <a:ext cx="86868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1000个汉字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7467731" y="4019549"/>
            <a:ext cx="1009624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467731" y="4034154"/>
            <a:ext cx="836295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支持语音/图像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8934544" y="2324100"/>
            <a:ext cx="2600259" cy="2105024"/>
          </a:xfrm>
          <a:prstGeom prst="roundRect">
            <a:avLst>
              <a:gd name="adj" fmla="val 9049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ound Same Side Corner Rectangle 61"/>
          <p:cNvSpPr/>
          <p:nvPr/>
        </p:nvSpPr>
        <p:spPr>
          <a:xfrm rot="16200000">
            <a:off x="7948072" y="3310572"/>
            <a:ext cx="2105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105990" y="2493645"/>
            <a:ext cx="228594" cy="194309"/>
          </a:xfrm>
          <a:prstGeom prst="rect">
            <a:avLst/>
          </a:prstGeom>
          <a:effectLst/>
        </p:spPr>
      </p:pic>
      <p:sp>
        <p:nvSpPr>
          <p:cNvPr id="64" name="TextBox 63"/>
          <p:cNvSpPr txBox="1"/>
          <p:nvPr/>
        </p:nvSpPr>
        <p:spPr>
          <a:xfrm>
            <a:off x="9429832" y="2453322"/>
            <a:ext cx="1332865" cy="27495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星基增强服务</a:t>
            </a: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(SBAS)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105990" y="2957830"/>
            <a:ext cx="2276418" cy="475615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通过GEO卫星播发差分修正和完好性信息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9105990" y="3676649"/>
            <a:ext cx="1200119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105990" y="3691254"/>
            <a:ext cx="100711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支持卫星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3颗GEO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9105990" y="4019549"/>
            <a:ext cx="1057248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105990" y="4034154"/>
            <a:ext cx="91059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满足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ICAO</a:t>
            </a: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标准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10239437" y="4019549"/>
            <a:ext cx="981050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239437" y="4034154"/>
            <a:ext cx="81788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精密进近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6191413" y="4572000"/>
            <a:ext cx="2600259" cy="2105024"/>
          </a:xfrm>
          <a:prstGeom prst="roundRect">
            <a:avLst>
              <a:gd name="adj" fmla="val 9049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ound Same Side Corner Rectangle 72"/>
          <p:cNvSpPr/>
          <p:nvPr/>
        </p:nvSpPr>
        <p:spPr>
          <a:xfrm rot="16200000">
            <a:off x="5204941" y="5558472"/>
            <a:ext cx="2105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72383" y="4730115"/>
            <a:ext cx="228594" cy="217170"/>
          </a:xfrm>
          <a:prstGeom prst="rect">
            <a:avLst/>
          </a:prstGeom>
          <a:effectLst/>
        </p:spPr>
      </p:pic>
      <p:sp>
        <p:nvSpPr>
          <p:cNvPr id="75" name="TextBox 74"/>
          <p:cNvSpPr txBox="1"/>
          <p:nvPr/>
        </p:nvSpPr>
        <p:spPr>
          <a:xfrm>
            <a:off x="6696225" y="4701222"/>
            <a:ext cx="1261110" cy="27495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精密单点定位</a:t>
            </a: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(PPP)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372383" y="5034280"/>
            <a:ext cx="2276418" cy="475615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向区域内用户免费播发高精度卫星轨道和钟差改正数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6372383" y="5581649"/>
            <a:ext cx="1200119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372383" y="5596254"/>
            <a:ext cx="100711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支持卫星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3颗GEO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6372383" y="5924549"/>
            <a:ext cx="1171545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372383" y="5939154"/>
            <a:ext cx="100965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水平精度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 30cm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6372383" y="6267449"/>
            <a:ext cx="1171545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372383" y="6282054"/>
            <a:ext cx="100965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垂直精度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 60cm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8934544" y="4572000"/>
            <a:ext cx="2600259" cy="2105024"/>
          </a:xfrm>
          <a:prstGeom prst="roundRect">
            <a:avLst>
              <a:gd name="adj" fmla="val 9049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Round Same Side Corner Rectangle 83"/>
          <p:cNvSpPr/>
          <p:nvPr/>
        </p:nvSpPr>
        <p:spPr>
          <a:xfrm rot="16200000">
            <a:off x="7948072" y="5558472"/>
            <a:ext cx="2105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105990" y="4775835"/>
            <a:ext cx="228594" cy="125729"/>
          </a:xfrm>
          <a:prstGeom prst="rect">
            <a:avLst/>
          </a:prstGeom>
          <a:effectLst/>
        </p:spPr>
      </p:pic>
      <p:sp>
        <p:nvSpPr>
          <p:cNvPr id="86" name="TextBox 85"/>
          <p:cNvSpPr txBox="1"/>
          <p:nvPr/>
        </p:nvSpPr>
        <p:spPr>
          <a:xfrm>
            <a:off x="9429832" y="4701222"/>
            <a:ext cx="1350645" cy="27495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地基增强服务</a:t>
            </a: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(GBAS)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105990" y="5205730"/>
            <a:ext cx="2276418" cy="475615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65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通过在中国境内建设的密集、连续运行的基准站网络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9105990" y="5924549"/>
            <a:ext cx="847703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105990" y="5939154"/>
            <a:ext cx="71120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厘米级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10039417" y="5924549"/>
            <a:ext cx="1114397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039417" y="5939154"/>
            <a:ext cx="924560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事后处理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毫米级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9105990" y="6267449"/>
            <a:ext cx="1304892" cy="266699"/>
          </a:xfrm>
          <a:prstGeom prst="roundRect">
            <a:avLst>
              <a:gd name="adj" fmla="val 28571"/>
            </a:avLst>
          </a:prstGeom>
          <a:solidFill>
            <a:srgbClr val="00A8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9105990" y="6282054"/>
            <a:ext cx="1081405" cy="23749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 </a:t>
            </a:r>
            <a:r>
              <a:rPr sz="8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测绘/自动驾驶</a:t>
            </a:r>
            <a:endParaRPr sz="835" b="1">
              <a:solidFill>
                <a:srgbClr val="00A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4" name="直接连接符 93"/>
          <p:cNvCxnSpPr/>
          <p:nvPr/>
        </p:nvCxnSpPr>
        <p:spPr>
          <a:xfrm>
            <a:off x="1358265" y="1024255"/>
            <a:ext cx="9830435" cy="3302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2384425" y="6109335"/>
            <a:ext cx="2929890" cy="47752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835" b="1">
                <a:solidFill>
                  <a:srgbClr val="A0D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独创的返向链路功能，可以向求救者发送一条确认信息，告知其求救信号已被收到。这一“回信”功能极大地缓解了遇险人员的焦虑，为成功救援提供了重要的心理支持</a:t>
            </a:r>
            <a:endParaRPr sz="835" b="1">
              <a:solidFill>
                <a:srgbClr val="A0D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43" grpId="0" animBg="1"/>
      <p:bldP spid="44" grpId="0" animBg="1"/>
      <p:bldP spid="46" grpId="0" animBg="1"/>
      <p:bldP spid="47" grpId="0" animBg="1"/>
      <p:bldP spid="3" grpId="1" animBg="1"/>
      <p:bldP spid="4" grpId="1" animBg="1"/>
      <p:bldP spid="6" grpId="1" animBg="1"/>
      <p:bldP spid="7" grpId="1" animBg="1"/>
      <p:bldP spid="43" grpId="1" animBg="1"/>
      <p:bldP spid="44" grpId="1" animBg="1"/>
      <p:bldP spid="46" grpId="1" animBg="1"/>
      <p:bldP spid="47" grpId="1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95" grpId="0"/>
      <p:bldP spid="8" grpId="1" animBg="1"/>
      <p:bldP spid="9" grpId="1" animBg="1"/>
      <p:bldP spid="11" grpId="1" animBg="1"/>
      <p:bldP spid="12" grpId="1" animBg="1"/>
      <p:bldP spid="13" grpId="1" animBg="1"/>
      <p:bldP spid="14" grpId="1" animBg="1"/>
      <p:bldP spid="15" grpId="1" animBg="1"/>
      <p:bldP spid="16" grpId="1" animBg="1"/>
      <p:bldP spid="17" grpId="1" animBg="1"/>
      <p:bldP spid="18" grpId="1" animBg="1"/>
      <p:bldP spid="19" grpId="1" animBg="1"/>
      <p:bldP spid="20" grpId="1" animBg="1"/>
      <p:bldP spid="21" grpId="1" animBg="1"/>
      <p:bldP spid="22" grpId="1" animBg="1"/>
      <p:bldP spid="24" grpId="1" animBg="1"/>
      <p:bldP spid="25" grpId="1" animBg="1"/>
      <p:bldP spid="26" grpId="1" animBg="1"/>
      <p:bldP spid="27" grpId="1" animBg="1"/>
      <p:bldP spid="28" grpId="1" animBg="1"/>
      <p:bldP spid="29" grpId="1" animBg="1"/>
      <p:bldP spid="30" grpId="1" animBg="1"/>
      <p:bldP spid="31" grpId="1" animBg="1"/>
      <p:bldP spid="32" grpId="1" animBg="1"/>
      <p:bldP spid="33" grpId="1" animBg="1"/>
      <p:bldP spid="35" grpId="1" animBg="1"/>
      <p:bldP spid="36" grpId="1" animBg="1"/>
      <p:bldP spid="37" grpId="1" animBg="1"/>
      <p:bldP spid="38" grpId="1" animBg="1"/>
      <p:bldP spid="39" grpId="1" animBg="1"/>
      <p:bldP spid="40" grpId="1" animBg="1"/>
      <p:bldP spid="41" grpId="1" animBg="1"/>
      <p:bldP spid="42" grpId="1" animBg="1"/>
      <p:bldP spid="95" grpId="1"/>
      <p:bldP spid="48" grpId="0" animBg="1"/>
      <p:bldP spid="49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48" grpId="1" animBg="1"/>
      <p:bldP spid="49" grpId="1" animBg="1"/>
      <p:bldP spid="51" grpId="1" animBg="1"/>
      <p:bldP spid="52" grpId="1" animBg="1"/>
      <p:bldP spid="53" grpId="1" animBg="1"/>
      <p:bldP spid="54" grpId="1" animBg="1"/>
      <p:bldP spid="55" grpId="1" animBg="1"/>
      <p:bldP spid="56" grpId="1" animBg="1"/>
      <p:bldP spid="57" grpId="1" animBg="1"/>
      <p:bldP spid="58" grpId="1" animBg="1"/>
      <p:bldP spid="59" grpId="1" animBg="1"/>
      <p:bldP spid="60" grpId="1" animBg="1"/>
      <p:bldP spid="61" grpId="1" animBg="1"/>
      <p:bldP spid="62" grpId="1" animBg="1"/>
      <p:bldP spid="64" grpId="1" animBg="1"/>
      <p:bldP spid="65" grpId="1" animBg="1"/>
      <p:bldP spid="66" grpId="1" animBg="1"/>
      <p:bldP spid="67" grpId="1" animBg="1"/>
      <p:bldP spid="68" grpId="1" animBg="1"/>
      <p:bldP spid="69" grpId="1" animBg="1"/>
      <p:bldP spid="70" grpId="1" animBg="1"/>
      <p:bldP spid="71" grpId="1" animBg="1"/>
      <p:bldP spid="72" grpId="1" animBg="1"/>
      <p:bldP spid="73" grpId="1" animBg="1"/>
      <p:bldP spid="75" grpId="1" animBg="1"/>
      <p:bldP spid="76" grpId="1" animBg="1"/>
      <p:bldP spid="77" grpId="1" animBg="1"/>
      <p:bldP spid="78" grpId="1" animBg="1"/>
      <p:bldP spid="79" grpId="1" animBg="1"/>
      <p:bldP spid="80" grpId="1" animBg="1"/>
      <p:bldP spid="81" grpId="1" animBg="1"/>
      <p:bldP spid="82" grpId="1" animBg="1"/>
      <p:bldP spid="83" grpId="1" animBg="1"/>
      <p:bldP spid="84" grpId="1" animBg="1"/>
      <p:bldP spid="86" grpId="1" animBg="1"/>
      <p:bldP spid="87" grpId="1" animBg="1"/>
      <p:bldP spid="88" grpId="1" animBg="1"/>
      <p:bldP spid="89" grpId="1" animBg="1"/>
      <p:bldP spid="90" grpId="1" animBg="1"/>
      <p:bldP spid="91" grpId="1" animBg="1"/>
      <p:bldP spid="92" grpId="1" animBg="1"/>
      <p:bldP spid="9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95391" y="325754"/>
            <a:ext cx="4724400" cy="66294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3600" b="1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3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技术创新与核心竞争力</a:t>
            </a:r>
            <a:endParaRPr sz="3600" b="1">
              <a:gradFill>
                <a:gsLst>
                  <a:gs pos="0">
                    <a:schemeClr val="bg1">
                      <a:lumMod val="95000"/>
                    </a:schemeClr>
                  </a:gs>
                  <a:gs pos="53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67051" y="1314450"/>
            <a:ext cx="5333866" cy="2486025"/>
          </a:xfrm>
          <a:prstGeom prst="roundRect">
            <a:avLst>
              <a:gd name="adj" fmla="val 7662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509921" y="2491422"/>
            <a:ext cx="24860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857946" y="2677726"/>
            <a:ext cx="1333466" cy="1292996"/>
          </a:xfrm>
          <a:prstGeom prst="rect">
            <a:avLst/>
          </a:prstGeom>
          <a:effectLst/>
        </p:spPr>
      </p:pic>
      <p:sp>
        <p:nvSpPr>
          <p:cNvPr id="6" name="Rounded Rectangle 5"/>
          <p:cNvSpPr/>
          <p:nvPr/>
        </p:nvSpPr>
        <p:spPr>
          <a:xfrm>
            <a:off x="895645" y="1504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0417" y="1614073"/>
            <a:ext cx="266693" cy="258003"/>
          </a:xfrm>
          <a:prstGeom prst="rect">
            <a:avLst/>
          </a:prstGeom>
          <a:effectLst/>
        </p:spPr>
      </p:pic>
      <p:sp>
        <p:nvSpPr>
          <p:cNvPr id="8" name="TextBox 7"/>
          <p:cNvSpPr txBox="1"/>
          <p:nvPr/>
        </p:nvSpPr>
        <p:spPr>
          <a:xfrm>
            <a:off x="1514755" y="1587183"/>
            <a:ext cx="1654810" cy="31178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混合星座与星间链路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645" y="2163711"/>
            <a:ext cx="171445" cy="149327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1162338" y="2082800"/>
            <a:ext cx="266827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混合星座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：MEO、GEO、IGSO卫星协同工作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645" y="2487561"/>
            <a:ext cx="171445" cy="149327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1162337" y="2406649"/>
            <a:ext cx="457835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实现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全球覆盖+区域强化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的完美结合</a:t>
            </a:r>
            <a:r>
              <a:rPr 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提升在低纬度地区的抗遮挡能力和定位精度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645" y="2851354"/>
            <a:ext cx="171445" cy="88490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1162338" y="2740025"/>
            <a:ext cx="192532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星间链路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：建立卫星间直接联系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645" y="3139255"/>
            <a:ext cx="171445" cy="160388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1162337" y="3063874"/>
            <a:ext cx="387604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实现星座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自主运行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，降低对全球地面站依赖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，保障了系统的安全可控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91413" y="1314450"/>
            <a:ext cx="5333866" cy="2486025"/>
          </a:xfrm>
          <a:prstGeom prst="roundRect">
            <a:avLst>
              <a:gd name="adj" fmla="val 7662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5014441" y="2491422"/>
            <a:ext cx="24860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382308" y="2718230"/>
            <a:ext cx="1333466" cy="1211989"/>
          </a:xfrm>
          <a:prstGeom prst="rect">
            <a:avLst/>
          </a:prstGeom>
          <a:effectLst/>
        </p:spPr>
      </p:pic>
      <p:sp>
        <p:nvSpPr>
          <p:cNvPr id="20" name="Rounded Rectangle 19"/>
          <p:cNvSpPr/>
          <p:nvPr/>
        </p:nvSpPr>
        <p:spPr>
          <a:xfrm>
            <a:off x="6420007" y="1504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24779" y="1644511"/>
            <a:ext cx="266693" cy="197126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7039117" y="1587183"/>
            <a:ext cx="1319530" cy="31178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先进的信号体制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20007" y="2160945"/>
            <a:ext cx="171445" cy="154858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6686700" y="2082800"/>
            <a:ext cx="226949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全球首个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全星座三频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民用信号的GNSS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20007" y="2512449"/>
            <a:ext cx="171445" cy="99551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6686700" y="2406649"/>
            <a:ext cx="411988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多频信号有效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消除电离层延迟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这一主要的误差源，从而显著提升定位精度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20007" y="2826466"/>
            <a:ext cx="171445" cy="138266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6686700" y="2740025"/>
            <a:ext cx="180340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先进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调制方式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多路复用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20007" y="3169674"/>
            <a:ext cx="171445" cy="99551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6686700" y="3063874"/>
            <a:ext cx="363220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增强信号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测距精度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抗干扰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抗多径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，达到了世界一流水平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67051" y="3990974"/>
            <a:ext cx="5333866" cy="2486025"/>
          </a:xfrm>
          <a:prstGeom prst="roundRect">
            <a:avLst>
              <a:gd name="adj" fmla="val 7662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-509921" y="5167946"/>
            <a:ext cx="24860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4857946" y="5433700"/>
            <a:ext cx="1333466" cy="1134098"/>
          </a:xfrm>
          <a:prstGeom prst="rect">
            <a:avLst/>
          </a:prstGeom>
          <a:effectLst/>
        </p:spPr>
      </p:pic>
      <p:sp>
        <p:nvSpPr>
          <p:cNvPr id="34" name="Rounded Rectangle 33"/>
          <p:cNvSpPr/>
          <p:nvPr/>
        </p:nvSpPr>
        <p:spPr>
          <a:xfrm>
            <a:off x="895645" y="41814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1000417" y="4300744"/>
            <a:ext cx="266693" cy="237710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1514755" y="4263707"/>
            <a:ext cx="1487170" cy="31178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高精度自主原子钟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95645" y="4845766"/>
            <a:ext cx="171445" cy="138266"/>
          </a:xfrm>
          <a:prstGeom prst="rect">
            <a:avLst/>
          </a:prstGeom>
          <a:effectLst/>
        </p:spPr>
      </p:pic>
      <p:sp>
        <p:nvSpPr>
          <p:cNvPr id="38" name="TextBox 37"/>
          <p:cNvSpPr txBox="1"/>
          <p:nvPr/>
        </p:nvSpPr>
        <p:spPr>
          <a:xfrm>
            <a:off x="1162338" y="4759325"/>
            <a:ext cx="2312035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导航卫星的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"心脏"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，决定系统PNT性能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895645" y="5169616"/>
            <a:ext cx="171445" cy="138266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1162338" y="5083174"/>
            <a:ext cx="241300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全面装备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自主研发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的高性能星载铷原子钟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895645" y="5509905"/>
            <a:ext cx="171445" cy="124439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1162338" y="5416550"/>
            <a:ext cx="229108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天稳定度等关键指标达到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国际先进水平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895645" y="5821311"/>
            <a:ext cx="171445" cy="149327"/>
          </a:xfrm>
          <a:prstGeom prst="rect">
            <a:avLst/>
          </a:prstGeom>
          <a:effectLst/>
        </p:spPr>
      </p:pic>
      <p:sp>
        <p:nvSpPr>
          <p:cNvPr id="44" name="TextBox 43"/>
          <p:cNvSpPr txBox="1"/>
          <p:nvPr/>
        </p:nvSpPr>
        <p:spPr>
          <a:xfrm>
            <a:off x="1162337" y="5740399"/>
            <a:ext cx="399796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提供纳秒级精度的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统一时间基准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，是实现高精度定位和授时的根本保障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191413" y="3990974"/>
            <a:ext cx="5333866" cy="2486025"/>
          </a:xfrm>
          <a:prstGeom prst="roundRect">
            <a:avLst>
              <a:gd name="adj" fmla="val 7662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5014441" y="5167946"/>
            <a:ext cx="24860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10382308" y="5415007"/>
            <a:ext cx="1333466" cy="1171485"/>
          </a:xfrm>
          <a:prstGeom prst="rect">
            <a:avLst/>
          </a:prstGeom>
          <a:effectLst/>
        </p:spPr>
      </p:pic>
      <p:sp>
        <p:nvSpPr>
          <p:cNvPr id="48" name="Rounded Rectangle 47"/>
          <p:cNvSpPr/>
          <p:nvPr/>
        </p:nvSpPr>
        <p:spPr>
          <a:xfrm>
            <a:off x="6420007" y="41814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6524779" y="4294946"/>
            <a:ext cx="266693" cy="249306"/>
          </a:xfrm>
          <a:prstGeom prst="rect">
            <a:avLst/>
          </a:prstGeom>
          <a:effectLst/>
        </p:spPr>
      </p:pic>
      <p:sp>
        <p:nvSpPr>
          <p:cNvPr id="50" name="TextBox 49"/>
          <p:cNvSpPr txBox="1"/>
          <p:nvPr/>
        </p:nvSpPr>
        <p:spPr>
          <a:xfrm>
            <a:off x="7039117" y="4263707"/>
            <a:ext cx="1319530" cy="31178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彻底的技术主权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>
            <a:off x="6420007" y="4834705"/>
            <a:ext cx="171445" cy="160388"/>
          </a:xfrm>
          <a:prstGeom prst="rect">
            <a:avLst/>
          </a:prstGeom>
          <a:effectLst/>
        </p:spPr>
      </p:pic>
      <p:sp>
        <p:nvSpPr>
          <p:cNvPr id="52" name="TextBox 51"/>
          <p:cNvSpPr txBox="1"/>
          <p:nvPr/>
        </p:nvSpPr>
        <p:spPr>
          <a:xfrm>
            <a:off x="6686700" y="4759325"/>
            <a:ext cx="2385695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核心器部件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100%国产化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，完全自主可控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20007" y="5188974"/>
            <a:ext cx="171445" cy="99551"/>
          </a:xfrm>
          <a:prstGeom prst="rect">
            <a:avLst/>
          </a:prstGeom>
          <a:effectLst/>
        </p:spPr>
      </p:pic>
      <p:sp>
        <p:nvSpPr>
          <p:cNvPr id="54" name="TextBox 53"/>
          <p:cNvSpPr txBox="1"/>
          <p:nvPr/>
        </p:nvSpPr>
        <p:spPr>
          <a:xfrm>
            <a:off x="6686700" y="5083174"/>
            <a:ext cx="252730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从北斗二号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70%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到北斗三号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国产化率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3">
            <a:alphaModFix amt="100000"/>
          </a:blip>
          <a:stretch>
            <a:fillRect/>
          </a:stretch>
        </p:blipFill>
        <p:spPr>
          <a:xfrm>
            <a:off x="6420007" y="5502728"/>
            <a:ext cx="152396" cy="119742"/>
          </a:xfrm>
          <a:prstGeom prst="rect">
            <a:avLst/>
          </a:prstGeom>
          <a:effectLst/>
        </p:spPr>
      </p:pic>
      <p:sp>
        <p:nvSpPr>
          <p:cNvPr id="56" name="TextBox 55"/>
          <p:cNvSpPr txBox="1"/>
          <p:nvPr/>
        </p:nvSpPr>
        <p:spPr>
          <a:xfrm>
            <a:off x="6572403" y="5390833"/>
            <a:ext cx="4192270" cy="47561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攻克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宇航级处理器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大容量存储器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等关键技术</a:t>
            </a:r>
            <a:r>
              <a:rPr 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在用户端，支持北斗三号</a:t>
            </a:r>
            <a:endParaRPr lang="zh-CN" altLang="en-US"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新信号的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28nm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22nm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工艺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SoC</a:t>
            </a:r>
            <a:r>
              <a:rPr lang="zh-CN" altLang="en-US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芯片已实现大规模量产和应用</a:t>
            </a:r>
            <a:r>
              <a:rPr lang="en-US" altLang="zh-CN"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4">
            <a:alphaModFix amt="100000"/>
          </a:blip>
          <a:stretch>
            <a:fillRect/>
          </a:stretch>
        </p:blipFill>
        <p:spPr>
          <a:xfrm>
            <a:off x="6420007" y="5895606"/>
            <a:ext cx="171445" cy="149327"/>
          </a:xfrm>
          <a:prstGeom prst="rect">
            <a:avLst/>
          </a:prstGeom>
          <a:effectLst/>
        </p:spPr>
      </p:pic>
      <p:sp>
        <p:nvSpPr>
          <p:cNvPr id="58" name="TextBox 57"/>
          <p:cNvSpPr txBox="1"/>
          <p:nvPr/>
        </p:nvSpPr>
        <p:spPr>
          <a:xfrm>
            <a:off x="6686700" y="5814694"/>
            <a:ext cx="2676525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新技术采用比例高达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70%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，确保系统长期领先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4" name="直接连接符 93"/>
          <p:cNvCxnSpPr/>
          <p:nvPr/>
        </p:nvCxnSpPr>
        <p:spPr>
          <a:xfrm flipV="1">
            <a:off x="3804285" y="1048385"/>
            <a:ext cx="4918075" cy="14605"/>
          </a:xfrm>
          <a:prstGeom prst="line">
            <a:avLst/>
          </a:prstGeom>
          <a:ln w="381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3" grpId="1" animBg="1"/>
      <p:bldP spid="4" grpId="1" animBg="1"/>
      <p:bldP spid="6" grpId="1" animBg="1"/>
      <p:bldP spid="8" grpId="1" animBg="1"/>
      <p:bldP spid="10" grpId="1" animBg="1"/>
      <p:bldP spid="12" grpId="1" animBg="1"/>
      <p:bldP spid="14" grpId="1" animBg="1"/>
      <p:bldP spid="16" grpId="1" animBg="1"/>
      <p:bldP spid="17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17" grpId="1" animBg="1"/>
      <p:bldP spid="18" grpId="1" animBg="1"/>
      <p:bldP spid="20" grpId="1" animBg="1"/>
      <p:bldP spid="22" grpId="1" animBg="1"/>
      <p:bldP spid="24" grpId="1" animBg="1"/>
      <p:bldP spid="26" grpId="1" animBg="1"/>
      <p:bldP spid="28" grpId="1" animBg="1"/>
      <p:bldP spid="30" grpId="1" animBg="1"/>
      <p:bldP spid="31" grpId="0" animBg="1"/>
      <p:bldP spid="32" grpId="0" animBg="1"/>
      <p:bldP spid="34" grpId="0" animBg="1"/>
      <p:bldP spid="36" grpId="0" animBg="1"/>
      <p:bldP spid="38" grpId="0" animBg="1"/>
      <p:bldP spid="40" grpId="0" animBg="1"/>
      <p:bldP spid="42" grpId="0" animBg="1"/>
      <p:bldP spid="44" grpId="0" animBg="1"/>
      <p:bldP spid="31" grpId="1" animBg="1"/>
      <p:bldP spid="32" grpId="1" animBg="1"/>
      <p:bldP spid="34" grpId="1" animBg="1"/>
      <p:bldP spid="36" grpId="1" animBg="1"/>
      <p:bldP spid="38" grpId="1" animBg="1"/>
      <p:bldP spid="40" grpId="1" animBg="1"/>
      <p:bldP spid="42" grpId="1" animBg="1"/>
      <p:bldP spid="44" grpId="1" animBg="1"/>
      <p:bldP spid="45" grpId="0" animBg="1"/>
      <p:bldP spid="46" grpId="0" animBg="1"/>
      <p:bldP spid="48" grpId="0" animBg="1"/>
      <p:bldP spid="50" grpId="0" animBg="1"/>
      <p:bldP spid="52" grpId="0" animBg="1"/>
      <p:bldP spid="54" grpId="0" animBg="1"/>
      <p:bldP spid="56" grpId="0" animBg="1"/>
      <p:bldP spid="58" grpId="0" animBg="1"/>
      <p:bldP spid="45" grpId="1" animBg="1"/>
      <p:bldP spid="46" grpId="1" animBg="1"/>
      <p:bldP spid="48" grpId="1" animBg="1"/>
      <p:bldP spid="50" grpId="1" animBg="1"/>
      <p:bldP spid="52" grpId="1" animBg="1"/>
      <p:bldP spid="54" grpId="1" animBg="1"/>
      <p:bldP spid="56" grpId="1" animBg="1"/>
      <p:bldP spid="58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8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4658" y="229869"/>
            <a:ext cx="6097905" cy="662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3600" b="1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3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市场应用与社会经济影响分析</a:t>
            </a:r>
            <a:endParaRPr sz="3600" b="1">
              <a:gradFill>
                <a:gsLst>
                  <a:gs pos="0">
                    <a:schemeClr val="bg1">
                      <a:lumMod val="95000"/>
                    </a:schemeClr>
                  </a:gs>
                  <a:gs pos="53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cxnSp>
        <p:nvCxnSpPr>
          <p:cNvPr id="94" name="直接连接符 93"/>
          <p:cNvCxnSpPr/>
          <p:nvPr/>
        </p:nvCxnSpPr>
        <p:spPr>
          <a:xfrm flipV="1">
            <a:off x="2701290" y="949325"/>
            <a:ext cx="7060565" cy="20955"/>
          </a:xfrm>
          <a:prstGeom prst="line">
            <a:avLst/>
          </a:prstGeom>
          <a:ln w="381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26390" y="1950085"/>
            <a:ext cx="4512945" cy="43999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 </a:t>
            </a:r>
            <a:r>
              <a:rPr lang="zh-CN" altLang="en-US" sz="2000" b="1" i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北斗系统提供服务以来，已在交通运输、农林渔业、水文监测、气象测报、通信授时、电力调度、救灾减灾、公共安全等领域得到广泛应用，服务国家重要基础设施，产生了显著的经济效益和社会效益。基于北斗系统的导航服务已被电子商务、移动智能终端制造、位置服务等厂商采用，广泛进入中国大众消费、共享经济和民生领域，应用的新模式、新业态、新经济不断涌现，深刻改变着人们的生产生活方式。中国将持续推进北斗应用与产业化发展，服务国家现代化建设和百姓日常生活，为全球科技、经济和社会发展做出贡献。</a:t>
            </a:r>
            <a:r>
              <a:rPr lang="en-US" altLang="zh-CN" sz="2000" b="1" i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 </a:t>
            </a:r>
            <a:endParaRPr lang="en-US" altLang="zh-CN" sz="2000" b="1" i="0">
              <a:solidFill>
                <a:schemeClr val="tx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4922520" y="1333500"/>
            <a:ext cx="7146290" cy="52755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667051" y="1314450"/>
            <a:ext cx="5333866" cy="3152775"/>
          </a:xfrm>
          <a:prstGeom prst="roundRect">
            <a:avLst>
              <a:gd name="adj" fmla="val 6042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843296" y="2824797"/>
            <a:ext cx="3152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857946" y="3537647"/>
            <a:ext cx="1333466" cy="906655"/>
          </a:xfrm>
          <a:prstGeom prst="rect">
            <a:avLst/>
          </a:prstGeom>
          <a:effectLst/>
        </p:spPr>
      </p:pic>
      <p:sp>
        <p:nvSpPr>
          <p:cNvPr id="6" name="Rounded Rectangle 5"/>
          <p:cNvSpPr/>
          <p:nvPr/>
        </p:nvSpPr>
        <p:spPr>
          <a:xfrm>
            <a:off x="895645" y="1504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0417" y="1647410"/>
            <a:ext cx="266693" cy="191328"/>
          </a:xfrm>
          <a:prstGeom prst="rect">
            <a:avLst/>
          </a:prstGeom>
          <a:effectLst/>
        </p:spPr>
      </p:pic>
      <p:sp>
        <p:nvSpPr>
          <p:cNvPr id="8" name="TextBox 7"/>
          <p:cNvSpPr txBox="1"/>
          <p:nvPr/>
        </p:nvSpPr>
        <p:spPr>
          <a:xfrm>
            <a:off x="1514755" y="1587183"/>
            <a:ext cx="1151890" cy="31178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交通运输领域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645" y="2174772"/>
            <a:ext cx="171445" cy="127204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1162338" y="2129155"/>
            <a:ext cx="4648083" cy="292100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道路运输监管：</a:t>
            </a:r>
            <a:r>
              <a:rPr sz="14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700万+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重型载货汽车、长途客车和危险品运输车安装北斗终端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644" y="2533506"/>
            <a:ext cx="171445" cy="14379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1162338" y="2451100"/>
            <a:ext cx="4648083" cy="475615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铁路运输：北斗高精度定位与5G技术结合，实现列车自动驾驶和智能调度，运力提升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644" y="3068135"/>
            <a:ext cx="171445" cy="160388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1162337" y="2992755"/>
            <a:ext cx="355981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港口自动化：无人驾驶智能导引车完全依赖北斗高精度定位技术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644" y="3397516"/>
            <a:ext cx="171445" cy="149327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1162337" y="3316605"/>
            <a:ext cx="3315970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航空应用：北斗星基增强服务已通过国际民航组织技术验证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91413" y="1314450"/>
            <a:ext cx="5333866" cy="3152775"/>
          </a:xfrm>
          <a:prstGeom prst="roundRect">
            <a:avLst>
              <a:gd name="adj" fmla="val 6042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4681066" y="2824797"/>
            <a:ext cx="3152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382308" y="3495585"/>
            <a:ext cx="1333466" cy="990778"/>
          </a:xfrm>
          <a:prstGeom prst="rect">
            <a:avLst/>
          </a:prstGeom>
          <a:effectLst/>
        </p:spPr>
      </p:pic>
      <p:sp>
        <p:nvSpPr>
          <p:cNvPr id="20" name="Rounded Rectangle 19"/>
          <p:cNvSpPr/>
          <p:nvPr/>
        </p:nvSpPr>
        <p:spPr>
          <a:xfrm>
            <a:off x="6420007" y="15049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24779" y="1647410"/>
            <a:ext cx="266693" cy="191328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7039117" y="1587183"/>
            <a:ext cx="816610" cy="31178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农林渔业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20007" y="2172007"/>
            <a:ext cx="171445" cy="132735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6686700" y="2112645"/>
            <a:ext cx="4648083" cy="292100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精准农业：</a:t>
            </a:r>
            <a:r>
              <a:rPr sz="14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160万+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北斗终端应用于农业领域，平均增产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10%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，降低成本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15%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20007" y="2543144"/>
            <a:ext cx="171445" cy="141031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6686700" y="2460308"/>
            <a:ext cx="4648083" cy="292100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农机自动驾驶：厘米级精度的播种、施肥和收割，提升土地和种子利用率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20007" y="2881076"/>
            <a:ext cx="171445" cy="138266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6686700" y="2794635"/>
            <a:ext cx="3566795" cy="292100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植保无人机：利用北斗定位进行变量喷洒，节省农药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15%-30%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20007" y="3193865"/>
            <a:ext cx="171445" cy="160388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6686700" y="3148330"/>
            <a:ext cx="4648083" cy="292100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智慧渔业：</a:t>
            </a:r>
            <a:r>
              <a:rPr sz="143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10万+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海洋渔船安装北斗终端，短报文通信功能累计救助上万名渔民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1"/>
          <p:cNvSpPr txBox="1"/>
          <p:nvPr/>
        </p:nvSpPr>
        <p:spPr>
          <a:xfrm>
            <a:off x="3208638" y="347979"/>
            <a:ext cx="6097905" cy="662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3600" b="1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3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市场应用与社会经济影响分析</a:t>
            </a:r>
            <a:endParaRPr sz="3600" b="1">
              <a:gradFill>
                <a:gsLst>
                  <a:gs pos="0">
                    <a:schemeClr val="bg1">
                      <a:lumMod val="95000"/>
                    </a:schemeClr>
                  </a:gs>
                  <a:gs pos="53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cxnSp>
        <p:nvCxnSpPr>
          <p:cNvPr id="94" name="直接连接符 93"/>
          <p:cNvCxnSpPr/>
          <p:nvPr/>
        </p:nvCxnSpPr>
        <p:spPr>
          <a:xfrm flipV="1">
            <a:off x="2795270" y="1067435"/>
            <a:ext cx="7060565" cy="20955"/>
          </a:xfrm>
          <a:prstGeom prst="line">
            <a:avLst/>
          </a:prstGeom>
          <a:ln w="381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0" name="图片 59"/>
          <p:cNvPicPr/>
          <p:nvPr/>
        </p:nvPicPr>
        <p:blipFill>
          <a:blip r:embed="rId14"/>
          <a:stretch>
            <a:fillRect/>
          </a:stretch>
        </p:blipFill>
        <p:spPr>
          <a:xfrm>
            <a:off x="1068705" y="3803015"/>
            <a:ext cx="4810125" cy="2366010"/>
          </a:xfrm>
          <a:prstGeom prst="rect">
            <a:avLst/>
          </a:prstGeom>
        </p:spPr>
      </p:pic>
      <p:sp>
        <p:nvSpPr>
          <p:cNvPr id="61" name="文本框 60"/>
          <p:cNvSpPr txBox="1"/>
          <p:nvPr/>
        </p:nvSpPr>
        <p:spPr>
          <a:xfrm>
            <a:off x="2084705" y="6278245"/>
            <a:ext cx="2497455" cy="27432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95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顺义打造占地300亩的无人驾驶封闭测试场</a:t>
            </a:r>
            <a:endParaRPr sz="95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2" name="图片 61"/>
          <p:cNvPicPr/>
          <p:nvPr/>
        </p:nvPicPr>
        <p:blipFill>
          <a:blip r:embed="rId15"/>
          <a:stretch>
            <a:fillRect/>
          </a:stretch>
        </p:blipFill>
        <p:spPr>
          <a:xfrm>
            <a:off x="6635750" y="3836035"/>
            <a:ext cx="4793615" cy="2367915"/>
          </a:xfrm>
          <a:prstGeom prst="rect">
            <a:avLst/>
          </a:prstGeom>
        </p:spPr>
      </p:pic>
      <p:sp>
        <p:nvSpPr>
          <p:cNvPr id="63" name="文本框 62"/>
          <p:cNvSpPr txBox="1"/>
          <p:nvPr/>
        </p:nvSpPr>
        <p:spPr>
          <a:xfrm>
            <a:off x="6591300" y="6367463"/>
            <a:ext cx="5080000" cy="238760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sz="95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搭载北斗系统的智慧农机</a:t>
            </a:r>
            <a:endParaRPr lang="zh-CN" altLang="en-US" sz="1600" b="0" i="0">
              <a:solidFill>
                <a:srgbClr val="000000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61" grpId="0"/>
      <p:bldP spid="3" grpId="1" animBg="1"/>
      <p:bldP spid="4" grpId="1" animBg="1"/>
      <p:bldP spid="6" grpId="1" animBg="1"/>
      <p:bldP spid="8" grpId="1" animBg="1"/>
      <p:bldP spid="10" grpId="1" animBg="1"/>
      <p:bldP spid="12" grpId="1" animBg="1"/>
      <p:bldP spid="14" grpId="1" animBg="1"/>
      <p:bldP spid="16" grpId="1" animBg="1"/>
      <p:bldP spid="61" grpId="1"/>
      <p:bldP spid="17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63" grpId="0"/>
      <p:bldP spid="17" grpId="1" animBg="1"/>
      <p:bldP spid="18" grpId="1" animBg="1"/>
      <p:bldP spid="20" grpId="1" animBg="1"/>
      <p:bldP spid="22" grpId="1" animBg="1"/>
      <p:bldP spid="24" grpId="1" animBg="1"/>
      <p:bldP spid="26" grpId="1" animBg="1"/>
      <p:bldP spid="28" grpId="1" animBg="1"/>
      <p:bldP spid="30" grpId="1" animBg="1"/>
      <p:bldP spid="6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9" name="TextBox 1"/>
          <p:cNvSpPr txBox="1"/>
          <p:nvPr/>
        </p:nvSpPr>
        <p:spPr>
          <a:xfrm>
            <a:off x="3208638" y="347979"/>
            <a:ext cx="6097905" cy="662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3600" b="1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3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市场应用与社会经济影响分析</a:t>
            </a:r>
            <a:endParaRPr sz="3600" b="1">
              <a:gradFill>
                <a:gsLst>
                  <a:gs pos="0">
                    <a:schemeClr val="bg1">
                      <a:lumMod val="95000"/>
                    </a:schemeClr>
                  </a:gs>
                  <a:gs pos="53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cxnSp>
        <p:nvCxnSpPr>
          <p:cNvPr id="94" name="直接连接符 93"/>
          <p:cNvCxnSpPr/>
          <p:nvPr/>
        </p:nvCxnSpPr>
        <p:spPr>
          <a:xfrm flipV="1">
            <a:off x="2795270" y="1067435"/>
            <a:ext cx="7060565" cy="20955"/>
          </a:xfrm>
          <a:prstGeom prst="line">
            <a:avLst/>
          </a:prstGeom>
          <a:ln w="381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08326" y="1391920"/>
            <a:ext cx="5333866" cy="3152775"/>
          </a:xfrm>
          <a:prstGeom prst="roundRect">
            <a:avLst>
              <a:gd name="adj" fmla="val 6042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-802021" y="2902267"/>
            <a:ext cx="3152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899221" y="3573234"/>
            <a:ext cx="1333466" cy="1009471"/>
          </a:xfrm>
          <a:prstGeom prst="rect">
            <a:avLst/>
          </a:prstGeom>
          <a:effectLst/>
        </p:spPr>
      </p:pic>
      <p:sp>
        <p:nvSpPr>
          <p:cNvPr id="34" name="Rounded Rectangle 33"/>
          <p:cNvSpPr/>
          <p:nvPr/>
        </p:nvSpPr>
        <p:spPr>
          <a:xfrm>
            <a:off x="936920" y="158242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1692" y="1707487"/>
            <a:ext cx="266693" cy="226115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1556030" y="1664653"/>
            <a:ext cx="1654810" cy="31178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应急救援与防灾减灾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6920" y="2246711"/>
            <a:ext cx="171445" cy="138266"/>
          </a:xfrm>
          <a:prstGeom prst="rect">
            <a:avLst/>
          </a:prstGeom>
          <a:effectLst/>
        </p:spPr>
      </p:pic>
      <p:sp>
        <p:nvSpPr>
          <p:cNvPr id="38" name="TextBox 37"/>
          <p:cNvSpPr txBox="1"/>
          <p:nvPr/>
        </p:nvSpPr>
        <p:spPr>
          <a:xfrm>
            <a:off x="1203613" y="2170747"/>
            <a:ext cx="4648083" cy="292100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地震救援：汶川地震和雅安地震中，北斗终端成为与外界联系的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唯一手段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6920" y="2577854"/>
            <a:ext cx="171445" cy="99551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1203613" y="2489834"/>
            <a:ext cx="4648083" cy="475615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地质灾害监测预警：在滑坡高发区部署基于北斗的高精度形变监测站，实时监测毫米级地表位移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36920" y="3065759"/>
            <a:ext cx="171445" cy="94020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1203613" y="2959417"/>
            <a:ext cx="4648083" cy="292100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防洪抗汛：在偏远山区自动传输水文、雨量监测站的数据，解决"信息孤岛"问题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36920" y="3352656"/>
            <a:ext cx="171445" cy="143796"/>
          </a:xfrm>
          <a:prstGeom prst="rect">
            <a:avLst/>
          </a:prstGeom>
          <a:effectLst/>
        </p:spPr>
      </p:pic>
      <p:sp>
        <p:nvSpPr>
          <p:cNvPr id="44" name="TextBox 43"/>
          <p:cNvSpPr txBox="1"/>
          <p:nvPr/>
        </p:nvSpPr>
        <p:spPr>
          <a:xfrm>
            <a:off x="1203613" y="3278504"/>
            <a:ext cx="4648083" cy="475615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预警系统：多次成功预警即将发生的重大滑坡灾害，为人员安全撤离争取关键"窗口期"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232688" y="1391920"/>
            <a:ext cx="5333866" cy="3152775"/>
          </a:xfrm>
          <a:prstGeom prst="roundRect">
            <a:avLst>
              <a:gd name="adj" fmla="val 6042"/>
            </a:avLst>
          </a:prstGeom>
          <a:solidFill>
            <a:srgbClr val="00326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4722341" y="2902267"/>
            <a:ext cx="3152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423583" y="3669617"/>
            <a:ext cx="1333466" cy="928464"/>
          </a:xfrm>
          <a:prstGeom prst="rect">
            <a:avLst/>
          </a:prstGeom>
          <a:effectLst/>
        </p:spPr>
      </p:pic>
      <p:sp>
        <p:nvSpPr>
          <p:cNvPr id="48" name="Rounded Rectangle 47"/>
          <p:cNvSpPr/>
          <p:nvPr/>
        </p:nvSpPr>
        <p:spPr>
          <a:xfrm>
            <a:off x="6461282" y="158242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66054" y="1695891"/>
            <a:ext cx="266693" cy="249306"/>
          </a:xfrm>
          <a:prstGeom prst="rect">
            <a:avLst/>
          </a:prstGeom>
          <a:effectLst/>
        </p:spPr>
      </p:pic>
      <p:sp>
        <p:nvSpPr>
          <p:cNvPr id="50" name="TextBox 49"/>
          <p:cNvSpPr txBox="1"/>
          <p:nvPr/>
        </p:nvSpPr>
        <p:spPr>
          <a:xfrm>
            <a:off x="7080392" y="1664653"/>
            <a:ext cx="1151890" cy="311785"/>
          </a:xfrm>
          <a:prstGeom prst="rect">
            <a:avLst/>
          </a:prstGeom>
          <a:noFill/>
          <a:effectLst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大众消费市场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61282" y="2235650"/>
            <a:ext cx="171445" cy="160388"/>
          </a:xfrm>
          <a:prstGeom prst="rect">
            <a:avLst/>
          </a:prstGeom>
          <a:effectLst/>
        </p:spPr>
      </p:pic>
      <p:sp>
        <p:nvSpPr>
          <p:cNvPr id="52" name="TextBox 51"/>
          <p:cNvSpPr txBox="1"/>
          <p:nvPr/>
        </p:nvSpPr>
        <p:spPr>
          <a:xfrm>
            <a:off x="6727975" y="2156141"/>
            <a:ext cx="4648083" cy="475615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智能手机：中国市场出货的智能手机中，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98%+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支持北斗定位功能，日定位量超过</a:t>
            </a:r>
            <a:r>
              <a:rPr sz="1400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3000亿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61282" y="2734842"/>
            <a:ext cx="171445" cy="127204"/>
          </a:xfrm>
          <a:prstGeom prst="rect">
            <a:avLst/>
          </a:prstGeom>
          <a:effectLst/>
        </p:spPr>
      </p:pic>
      <p:sp>
        <p:nvSpPr>
          <p:cNvPr id="54" name="TextBox 53"/>
          <p:cNvSpPr txBox="1"/>
          <p:nvPr/>
        </p:nvSpPr>
        <p:spPr>
          <a:xfrm>
            <a:off x="6727975" y="2644140"/>
            <a:ext cx="4648083" cy="475615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共享经济：全国数百万辆共享单车和电动自行车应用北斗高精度定位技术，结合"电子围栏"解决乱停乱放问题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61282" y="3214451"/>
            <a:ext cx="171445" cy="138266"/>
          </a:xfrm>
          <a:prstGeom prst="rect">
            <a:avLst/>
          </a:prstGeom>
          <a:effectLst/>
        </p:spPr>
      </p:pic>
      <p:sp>
        <p:nvSpPr>
          <p:cNvPr id="56" name="TextBox 55"/>
          <p:cNvSpPr txBox="1"/>
          <p:nvPr/>
        </p:nvSpPr>
        <p:spPr>
          <a:xfrm>
            <a:off x="6727975" y="3138488"/>
            <a:ext cx="4648083" cy="292100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车道级导航：基于北斗高精度服务，高德、百度等地图应用已推出车道级导航功能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481390" y="3550920"/>
            <a:ext cx="131230" cy="171450"/>
          </a:xfrm>
          <a:prstGeom prst="rect">
            <a:avLst/>
          </a:prstGeom>
          <a:effectLst/>
        </p:spPr>
      </p:pic>
      <p:sp>
        <p:nvSpPr>
          <p:cNvPr id="58" name="TextBox 57"/>
          <p:cNvSpPr txBox="1"/>
          <p:nvPr/>
        </p:nvSpPr>
        <p:spPr>
          <a:xfrm>
            <a:off x="6727975" y="3441065"/>
            <a:ext cx="4648083" cy="475615"/>
          </a:xfrm>
          <a:prstGeom prst="rect">
            <a:avLst/>
          </a:prstGeom>
          <a:noFill/>
          <a:effectLst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可穿戴设备：北斗芯片被广泛集成到智能手表、运动手环等设备中，提供精准的运动轨迹记录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14"/>
          <a:stretch>
            <a:fillRect/>
          </a:stretch>
        </p:blipFill>
        <p:spPr>
          <a:xfrm>
            <a:off x="1108075" y="3938270"/>
            <a:ext cx="4875530" cy="2552065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3525" y="3938270"/>
            <a:ext cx="4474210" cy="25533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4" grpId="0" animBg="1"/>
      <p:bldP spid="36" grpId="0" animBg="1"/>
      <p:bldP spid="38" grpId="0" animBg="1"/>
      <p:bldP spid="40" grpId="0" animBg="1"/>
      <p:bldP spid="42" grpId="0" animBg="1"/>
      <p:bldP spid="44" grpId="0" animBg="1"/>
      <p:bldP spid="31" grpId="1" animBg="1"/>
      <p:bldP spid="32" grpId="1" animBg="1"/>
      <p:bldP spid="34" grpId="1" animBg="1"/>
      <p:bldP spid="36" grpId="1" animBg="1"/>
      <p:bldP spid="38" grpId="1" animBg="1"/>
      <p:bldP spid="40" grpId="1" animBg="1"/>
      <p:bldP spid="42" grpId="1" animBg="1"/>
      <p:bldP spid="44" grpId="1" animBg="1"/>
      <p:bldP spid="45" grpId="0" animBg="1"/>
      <p:bldP spid="46" grpId="0" animBg="1"/>
      <p:bldP spid="48" grpId="0" animBg="1"/>
      <p:bldP spid="50" grpId="0" animBg="1"/>
      <p:bldP spid="52" grpId="0" animBg="1"/>
      <p:bldP spid="54" grpId="0" animBg="1"/>
      <p:bldP spid="56" grpId="0" animBg="1"/>
      <p:bldP spid="58" grpId="0" animBg="1"/>
      <p:bldP spid="45" grpId="1" animBg="1"/>
      <p:bldP spid="46" grpId="1" animBg="1"/>
      <p:bldP spid="48" grpId="1" animBg="1"/>
      <p:bldP spid="50" grpId="1" animBg="1"/>
      <p:bldP spid="52" grpId="1" animBg="1"/>
      <p:bldP spid="54" grpId="1" animBg="1"/>
      <p:bldP spid="56" grpId="1" animBg="1"/>
      <p:bldP spid="5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3712845" y="423545"/>
            <a:ext cx="4766310" cy="4883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sz="3600" b="1">
                <a:gradFill>
                  <a:gsLst>
                    <a:gs pos="0">
                      <a:sysClr val="window" lastClr="FFFFFF">
                        <a:lumMod val="95000"/>
                      </a:sysClr>
                    </a:gs>
                    <a:gs pos="53000">
                      <a:sysClr val="window" lastClr="FFFFFF">
                        <a:lumMod val="85000"/>
                      </a:sysClr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全球GNSS格局中的北斗</a:t>
            </a:r>
            <a:endParaRPr lang="en-US" sz="3040" dirty="0"/>
          </a:p>
        </p:txBody>
      </p:sp>
      <p:sp>
        <p:nvSpPr>
          <p:cNvPr id="4" name="Text 1"/>
          <p:cNvSpPr/>
          <p:nvPr/>
        </p:nvSpPr>
        <p:spPr>
          <a:xfrm>
            <a:off x="624840" y="1212215"/>
            <a:ext cx="11255375" cy="610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ysClr val="window" lastClr="FFFFFF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随着北斗三号的全面建成，全球卫星导航领域正式进入由GPS（美国）、GLONASS（俄罗斯）、Galileo（欧盟）和北斗（中国）四强并立的“Multi-GNSS”时代。</a:t>
            </a:r>
            <a:endParaRPr lang="en-US" sz="1600" dirty="0">
              <a:solidFill>
                <a:sysClr val="window" lastClr="FFFFFF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5" name="Text 34"/>
          <p:cNvSpPr/>
          <p:nvPr/>
        </p:nvSpPr>
        <p:spPr>
          <a:xfrm>
            <a:off x="625713" y="5258613"/>
            <a:ext cx="10941844" cy="7500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algn="l">
              <a:lnSpc>
                <a:spcPts val="2350"/>
              </a:lnSpc>
              <a:buClrTx/>
              <a:buSzTx/>
              <a:buFontTx/>
              <a:buNone/>
            </a:pPr>
            <a:r>
              <a:rPr lang="en-US" sz="1600" dirty="0">
                <a:solidFill>
                  <a:sysClr val="window" lastClr="FFFFFF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竞争的焦点正在从单纯的PNT精度比拼，转向增值服务的创新。北斗的核心优势在于其独特的增值服务（短报文、搜救返向链路）以及混合星座带来的亚太地区性能优势。北斗的战略核心是“定位+通信”的融合，解决了特定场景下的刚性需求 9。相比之下，GPS虽然也在不断进行现代化升级（如L5信号），但在提供原生增值服务方面已显滞后。未来GNSS的竞争，将不再是谁比谁精确一米的问题，而是谁能为自动驾驶、物联网、应急管理等未来产业提供更丰富、更可靠的综合时空信息服务。</a:t>
            </a:r>
            <a:endParaRPr lang="en-US" sz="1600" dirty="0">
              <a:solidFill>
                <a:sysClr val="window" lastClr="FFFFFF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2795270" y="1067435"/>
            <a:ext cx="7060565" cy="2095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624840" y="1821815"/>
          <a:ext cx="11178540" cy="337756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7820"/>
                <a:gridCol w="2219960"/>
                <a:gridCol w="2352675"/>
                <a:gridCol w="1623060"/>
                <a:gridCol w="3375025"/>
              </a:tblGrid>
              <a:tr h="261620"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特征</a:t>
                      </a:r>
                      <a:endParaRPr lang="zh-CN" sz="1100" b="1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北斗</a:t>
                      </a:r>
                      <a:r>
                        <a:rPr lang="en-US" alt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(BDS)</a:t>
                      </a:r>
                      <a:endParaRPr lang="en-US" altLang="zh-CN" sz="1100" b="1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GPS</a:t>
                      </a:r>
                      <a:endParaRPr lang="en-US" altLang="zh-CN" sz="1100" b="1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GLONASS</a:t>
                      </a:r>
                      <a:endParaRPr lang="en-US" altLang="zh-CN" sz="1100" b="1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Galileo</a:t>
                      </a:r>
                      <a:endParaRPr lang="en-US" altLang="zh-CN" sz="1100" b="1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356870"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运营</a:t>
                      </a:r>
                      <a:r>
                        <a:rPr lang="en-US" alt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控制方</a:t>
                      </a:r>
                      <a:endParaRPr lang="zh-CN" altLang="en-US" sz="1100" b="1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中国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 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国家与军方</a:t>
                      </a:r>
                      <a:endParaRPr lang="zh-CN" altLang="en-US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美国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 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军方</a:t>
                      </a:r>
                      <a:endParaRPr lang="zh-CN" altLang="en-US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俄罗斯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 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军方</a:t>
                      </a:r>
                      <a:endParaRPr lang="zh-CN" altLang="en-US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欧盟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 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民用</a:t>
                      </a:r>
                      <a:endParaRPr lang="zh-CN" altLang="en-US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</a:tr>
              <a:tr h="261620"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星座规模</a:t>
                      </a:r>
                      <a:endParaRPr lang="zh-CN" sz="1100" b="1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颗 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(BDS-3)</a:t>
                      </a:r>
                      <a:endParaRPr lang="en-US" alt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31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颗 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在用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26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颗 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在用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颗 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在用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alt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轨道设计</a:t>
                      </a:r>
                      <a:endParaRPr lang="zh-CN" sz="1100" b="1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混合轨道</a:t>
                      </a:r>
                      <a:r>
                        <a:rPr lang="zh-CN" altLang="en-US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alt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(MEO, GEO, IGSO)</a:t>
                      </a:r>
                      <a:endParaRPr lang="en-US" altLang="zh-CN" sz="1100" b="1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纯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MEO</a:t>
                      </a:r>
                      <a:endParaRPr lang="en-US" alt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纯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MEO</a:t>
                      </a:r>
                      <a:endParaRPr lang="en-US" alt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纯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MEO</a:t>
                      </a:r>
                      <a:endParaRPr lang="en-US" alt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</a:tr>
              <a:tr h="357505"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轨道高度</a:t>
                      </a:r>
                      <a:r>
                        <a:rPr lang="zh-CN" altLang="en-US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alt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(MEO)</a:t>
                      </a:r>
                      <a:endParaRPr lang="en-US" altLang="zh-CN" sz="1100" b="1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约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21,500 km</a:t>
                      </a:r>
                      <a:endParaRPr lang="en-US" alt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约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20,200 km</a:t>
                      </a:r>
                      <a:endParaRPr lang="en-US" alt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约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19,100 km</a:t>
                      </a:r>
                      <a:endParaRPr lang="en-US" alt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约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23,222 km</a:t>
                      </a:r>
                      <a:endParaRPr lang="en-US" alt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</a:tr>
              <a:tr h="506730"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公开服务精度</a:t>
                      </a:r>
                      <a:r>
                        <a:rPr lang="zh-CN" altLang="en-US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alt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(95%)</a:t>
                      </a:r>
                      <a:endParaRPr lang="en-US" altLang="zh-CN" sz="1100" b="1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水平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&lt;9m, 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垂直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&lt;10m (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设计值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) </a:t>
                      </a:r>
                      <a:endParaRPr lang="en-US" altLang="zh-CN" sz="1100" baseline="30000">
                        <a:solidFill>
                          <a:srgbClr val="575B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水平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&lt;8m, 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垂直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&lt;13m </a:t>
                      </a:r>
                      <a:endParaRPr lang="en-US" altLang="zh-CN" sz="1100" baseline="30000">
                        <a:solidFill>
                          <a:srgbClr val="575B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2.8–7.38 m </a:t>
                      </a:r>
                      <a:endParaRPr lang="en-US" altLang="zh-CN" sz="1100" baseline="30000">
                        <a:solidFill>
                          <a:srgbClr val="575B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&lt;1m </a:t>
                      </a:r>
                      <a:endParaRPr lang="en-US" altLang="zh-CN" sz="1100" baseline="30000">
                        <a:solidFill>
                          <a:srgbClr val="575B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</a:tr>
              <a:tr h="356235"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授时精度</a:t>
                      </a:r>
                      <a:r>
                        <a:rPr lang="zh-CN" altLang="en-US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alt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(95%)</a:t>
                      </a:r>
                      <a:endParaRPr lang="en-US" altLang="zh-CN" sz="1100" b="1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&lt;20 ns (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设计值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) </a:t>
                      </a:r>
                      <a:endParaRPr lang="en-US" altLang="zh-CN" sz="1100" baseline="30000">
                        <a:solidFill>
                          <a:srgbClr val="575B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&lt;30 ns (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设计值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) </a:t>
                      </a:r>
                      <a:endParaRPr lang="en-US" altLang="zh-CN" sz="1100" baseline="30000">
                        <a:solidFill>
                          <a:srgbClr val="575B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约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200 ns </a:t>
                      </a:r>
                      <a:endParaRPr lang="en-US" altLang="zh-CN" sz="1100" baseline="30000">
                        <a:solidFill>
                          <a:srgbClr val="575B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高精度</a:t>
                      </a:r>
                      <a:endParaRPr 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</a:tr>
              <a:tr h="507365"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独特公共服务</a:t>
                      </a:r>
                      <a:endParaRPr lang="zh-CN" sz="1100" b="1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短报文通信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, </a:t>
                      </a:r>
                      <a:r>
                        <a:rPr 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带返向链路的搜救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, PPP</a:t>
                      </a:r>
                      <a:endParaRPr lang="en-US" alt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搜救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, 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高精度服务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(20cm), 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开放服务导航电文认证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(OSNMA)</a:t>
                      </a:r>
                      <a:endParaRPr lang="en-US" alt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</a:tr>
              <a:tr h="356870"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 b="1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民用信号频率</a:t>
                      </a:r>
                      <a:endParaRPr lang="zh-CN" sz="1100" b="1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个 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(B1, B2, B3)</a:t>
                      </a:r>
                      <a:endParaRPr lang="en-US" alt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个 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(L1, L2C, L5)</a:t>
                      </a:r>
                      <a:endParaRPr lang="en-US" alt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个 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(L1, L2)</a:t>
                      </a:r>
                      <a:endParaRPr lang="en-US" alt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altLang="en-US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个 </a:t>
                      </a:r>
                      <a:r>
                        <a:rPr lang="en-US" altLang="zh-CN" sz="1100">
                          <a:solidFill>
                            <a:srgbClr val="1B1C1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(E1, E5, E6)</a:t>
                      </a:r>
                      <a:endParaRPr lang="en-US" altLang="zh-CN" sz="1100">
                        <a:solidFill>
                          <a:srgbClr val="1B1C1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960" marR="60960" marT="35560" marB="3556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241187" y="360303"/>
            <a:ext cx="7751168" cy="454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algn="l">
              <a:lnSpc>
                <a:spcPts val="4600"/>
              </a:lnSpc>
              <a:buClrTx/>
              <a:buSzTx/>
              <a:buFontTx/>
              <a:buNone/>
            </a:pPr>
            <a:r>
              <a:rPr sz="3600" b="1">
                <a:gradFill>
                  <a:gsLst>
                    <a:gs pos="0">
                      <a:sysClr val="window" lastClr="FFFFFF">
                        <a:lumMod val="95000"/>
                      </a:sysClr>
                    </a:gs>
                    <a:gs pos="53000">
                      <a:sysClr val="window" lastClr="FFFFFF">
                        <a:lumMod val="85000"/>
                      </a:sysClr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未来展望：2035国家综合PNT体系与全球化征程</a:t>
            </a:r>
            <a:endParaRPr sz="3600" b="1">
              <a:gradFill>
                <a:gsLst>
                  <a:gs pos="0">
                    <a:sysClr val="window" lastClr="FFFFFF">
                      <a:lumMod val="95000"/>
                    </a:sysClr>
                  </a:gs>
                  <a:gs pos="53000">
                    <a:sysClr val="window" lastClr="FFFFFF">
                      <a:lumMod val="8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8" name="Text 1"/>
          <p:cNvSpPr/>
          <p:nvPr/>
        </p:nvSpPr>
        <p:spPr>
          <a:xfrm>
            <a:off x="494030" y="1212850"/>
            <a:ext cx="4036695" cy="434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ysClr val="window" lastClr="FFFFFF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 北斗三号的建成并非终点，而是中国构建未来时空信息体系的新起点。面向未来，中国提出了更为宏大的2035年发展蓝图，并正以更加开放和自信的姿态推动北斗走向世界。</a:t>
            </a:r>
            <a:endParaRPr lang="en-US" sz="2000" dirty="0">
              <a:solidFill>
                <a:sysClr val="window" lastClr="FFFFFF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cxnSp>
        <p:nvCxnSpPr>
          <p:cNvPr id="94" name="直接连接符 93"/>
          <p:cNvCxnSpPr/>
          <p:nvPr/>
        </p:nvCxnSpPr>
        <p:spPr>
          <a:xfrm>
            <a:off x="1129665" y="958850"/>
            <a:ext cx="10075545" cy="29210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25" name="Rounded Rectangle 2"/>
          <p:cNvSpPr/>
          <p:nvPr/>
        </p:nvSpPr>
        <p:spPr>
          <a:xfrm>
            <a:off x="4897738" y="1193165"/>
            <a:ext cx="7114997" cy="2667000"/>
          </a:xfrm>
          <a:prstGeom prst="roundRect">
            <a:avLst>
              <a:gd name="adj" fmla="val 7142"/>
            </a:avLst>
          </a:prstGeom>
          <a:solidFill>
            <a:srgbClr val="003264">
              <a:alpha val="4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 Same Side Corner Rectangle 3"/>
          <p:cNvSpPr/>
          <p:nvPr/>
        </p:nvSpPr>
        <p:spPr>
          <a:xfrm rot="16200000">
            <a:off x="3630278" y="2460625"/>
            <a:ext cx="2667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869764" y="2879179"/>
            <a:ext cx="1333466" cy="1009471"/>
          </a:xfrm>
          <a:prstGeom prst="rect">
            <a:avLst/>
          </a:prstGeom>
        </p:spPr>
      </p:pic>
      <p:sp>
        <p:nvSpPr>
          <p:cNvPr id="28" name="Rounded Rectangle 5"/>
          <p:cNvSpPr/>
          <p:nvPr/>
        </p:nvSpPr>
        <p:spPr>
          <a:xfrm>
            <a:off x="5126332" y="138366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9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231104" y="1549317"/>
            <a:ext cx="266693" cy="144945"/>
          </a:xfrm>
          <a:prstGeom prst="rect">
            <a:avLst/>
          </a:prstGeom>
        </p:spPr>
      </p:pic>
      <p:sp>
        <p:nvSpPr>
          <p:cNvPr id="30" name="TextBox 7"/>
          <p:cNvSpPr txBox="1"/>
          <p:nvPr/>
        </p:nvSpPr>
        <p:spPr>
          <a:xfrm>
            <a:off x="5745442" y="1465898"/>
            <a:ext cx="3096895" cy="31178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下一代蓝图：2035年国家综合PNT体系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126332" y="2059018"/>
            <a:ext cx="171445" cy="116143"/>
          </a:xfrm>
          <a:prstGeom prst="rect">
            <a:avLst/>
          </a:prstGeom>
        </p:spPr>
      </p:pic>
      <p:sp>
        <p:nvSpPr>
          <p:cNvPr id="32" name="TextBox 9"/>
          <p:cNvSpPr txBox="1"/>
          <p:nvPr/>
        </p:nvSpPr>
        <p:spPr>
          <a:xfrm>
            <a:off x="5393025" y="1961515"/>
            <a:ext cx="4501515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核心愿景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：建成以北斗系统为核心，更加泛在、融合、智能的国家综合PNT体系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126332" y="2357980"/>
            <a:ext cx="171445" cy="165919"/>
          </a:xfrm>
          <a:prstGeom prst="rect">
            <a:avLst/>
          </a:prstGeom>
        </p:spPr>
      </p:pic>
      <p:sp>
        <p:nvSpPr>
          <p:cNvPr id="34" name="TextBox 11"/>
          <p:cNvSpPr txBox="1"/>
          <p:nvPr/>
        </p:nvSpPr>
        <p:spPr>
          <a:xfrm>
            <a:off x="5393025" y="2285364"/>
            <a:ext cx="5034915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体系定义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："系统的系统"（System of Systems），融合天基、地基、空基等多种信息源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126332" y="2699651"/>
            <a:ext cx="171445" cy="149327"/>
          </a:xfrm>
          <a:prstGeom prst="rect">
            <a:avLst/>
          </a:prstGeom>
        </p:spPr>
      </p:pic>
      <p:sp>
        <p:nvSpPr>
          <p:cNvPr id="36" name="TextBox 13"/>
          <p:cNvSpPr txBox="1"/>
          <p:nvPr/>
        </p:nvSpPr>
        <p:spPr>
          <a:xfrm>
            <a:off x="5393025" y="2618740"/>
            <a:ext cx="1071880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关键技术融合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ounded Rectangle 14"/>
          <p:cNvSpPr/>
          <p:nvPr/>
        </p:nvSpPr>
        <p:spPr>
          <a:xfrm>
            <a:off x="5126332" y="2983864"/>
            <a:ext cx="3295567" cy="390525"/>
          </a:xfrm>
          <a:prstGeom prst="roundRect">
            <a:avLst>
              <a:gd name="adj" fmla="val 29268"/>
            </a:avLst>
          </a:prstGeom>
          <a:solidFill>
            <a:srgbClr val="00A8FF">
              <a:alpha val="1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Picture 1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221580" y="3091441"/>
            <a:ext cx="190495" cy="184897"/>
          </a:xfrm>
          <a:prstGeom prst="rect">
            <a:avLst/>
          </a:prstGeom>
        </p:spPr>
      </p:pic>
      <p:sp>
        <p:nvSpPr>
          <p:cNvPr id="39" name="TextBox 16"/>
          <p:cNvSpPr txBox="1"/>
          <p:nvPr/>
        </p:nvSpPr>
        <p:spPr>
          <a:xfrm>
            <a:off x="5507323" y="3055303"/>
            <a:ext cx="1281430" cy="2476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天基增强（LEO星座）</a:t>
            </a:r>
            <a:endParaRPr sz="89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17"/>
          <p:cNvSpPr/>
          <p:nvPr/>
        </p:nvSpPr>
        <p:spPr>
          <a:xfrm>
            <a:off x="8517147" y="2983864"/>
            <a:ext cx="3295567" cy="390525"/>
          </a:xfrm>
          <a:prstGeom prst="roundRect">
            <a:avLst>
              <a:gd name="adj" fmla="val 29268"/>
            </a:avLst>
          </a:prstGeom>
          <a:solidFill>
            <a:srgbClr val="00A8FF">
              <a:alpha val="1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Picture 1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612395" y="3116654"/>
            <a:ext cx="190495" cy="134470"/>
          </a:xfrm>
          <a:prstGeom prst="rect">
            <a:avLst/>
          </a:prstGeom>
        </p:spPr>
      </p:pic>
      <p:sp>
        <p:nvSpPr>
          <p:cNvPr id="42" name="TextBox 19"/>
          <p:cNvSpPr txBox="1"/>
          <p:nvPr/>
        </p:nvSpPr>
        <p:spPr>
          <a:xfrm>
            <a:off x="8898138" y="3055303"/>
            <a:ext cx="1484630" cy="2476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地基/室内定位（5G/6G）</a:t>
            </a:r>
            <a:endParaRPr sz="89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ounded Rectangle 20"/>
          <p:cNvSpPr/>
          <p:nvPr/>
        </p:nvSpPr>
        <p:spPr>
          <a:xfrm>
            <a:off x="5126332" y="3469639"/>
            <a:ext cx="3295567" cy="390525"/>
          </a:xfrm>
          <a:prstGeom prst="roundRect">
            <a:avLst>
              <a:gd name="adj" fmla="val 29268"/>
            </a:avLst>
          </a:prstGeom>
          <a:solidFill>
            <a:srgbClr val="00A8FF">
              <a:alpha val="1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4" name="Picture 2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221580" y="3588422"/>
            <a:ext cx="190495" cy="162485"/>
          </a:xfrm>
          <a:prstGeom prst="rect">
            <a:avLst/>
          </a:prstGeom>
        </p:spPr>
      </p:pic>
      <p:sp>
        <p:nvSpPr>
          <p:cNvPr id="45" name="TextBox 22"/>
          <p:cNvSpPr txBox="1"/>
          <p:nvPr/>
        </p:nvSpPr>
        <p:spPr>
          <a:xfrm>
            <a:off x="5507323" y="3541078"/>
            <a:ext cx="885825" cy="2476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深空/深海导航</a:t>
            </a:r>
            <a:endParaRPr sz="89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23"/>
          <p:cNvSpPr/>
          <p:nvPr/>
        </p:nvSpPr>
        <p:spPr>
          <a:xfrm>
            <a:off x="8517147" y="3469639"/>
            <a:ext cx="3295567" cy="390525"/>
          </a:xfrm>
          <a:prstGeom prst="roundRect">
            <a:avLst>
              <a:gd name="adj" fmla="val 29268"/>
            </a:avLst>
          </a:prstGeom>
          <a:solidFill>
            <a:srgbClr val="00A8FF">
              <a:alpha val="1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7" name="Picture 2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612395" y="3599628"/>
            <a:ext cx="190495" cy="140073"/>
          </a:xfrm>
          <a:prstGeom prst="rect">
            <a:avLst/>
          </a:prstGeom>
        </p:spPr>
      </p:pic>
      <p:sp>
        <p:nvSpPr>
          <p:cNvPr id="48" name="TextBox 25"/>
          <p:cNvSpPr txBox="1"/>
          <p:nvPr/>
        </p:nvSpPr>
        <p:spPr>
          <a:xfrm>
            <a:off x="8898138" y="3541078"/>
            <a:ext cx="885825" cy="2476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量子导航/授时</a:t>
            </a:r>
            <a:endParaRPr sz="89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ounded Rectangle 26"/>
          <p:cNvSpPr/>
          <p:nvPr/>
        </p:nvSpPr>
        <p:spPr>
          <a:xfrm>
            <a:off x="4897738" y="3943350"/>
            <a:ext cx="7114997" cy="2667000"/>
          </a:xfrm>
          <a:prstGeom prst="roundRect">
            <a:avLst>
              <a:gd name="adj" fmla="val 7142"/>
            </a:avLst>
          </a:prstGeom>
          <a:solidFill>
            <a:srgbClr val="003264">
              <a:alpha val="4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 Same Side Corner Rectangle 27"/>
          <p:cNvSpPr/>
          <p:nvPr/>
        </p:nvSpPr>
        <p:spPr>
          <a:xfrm rot="16200000">
            <a:off x="3630278" y="5210810"/>
            <a:ext cx="2667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8FF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1" name="Picture 2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10869764" y="5664840"/>
            <a:ext cx="1333466" cy="1134098"/>
          </a:xfrm>
          <a:prstGeom prst="rect">
            <a:avLst/>
          </a:prstGeom>
        </p:spPr>
      </p:pic>
      <p:sp>
        <p:nvSpPr>
          <p:cNvPr id="52" name="Rounded Rectangle 29"/>
          <p:cNvSpPr/>
          <p:nvPr/>
        </p:nvSpPr>
        <p:spPr>
          <a:xfrm>
            <a:off x="5126332" y="41338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A8FF">
              <a:alpha val="2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3" name="Picture 3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231104" y="4267614"/>
            <a:ext cx="266693" cy="208721"/>
          </a:xfrm>
          <a:prstGeom prst="rect">
            <a:avLst/>
          </a:prstGeom>
        </p:spPr>
      </p:pic>
      <p:sp>
        <p:nvSpPr>
          <p:cNvPr id="54" name="TextBox 31"/>
          <p:cNvSpPr txBox="1"/>
          <p:nvPr/>
        </p:nvSpPr>
        <p:spPr>
          <a:xfrm>
            <a:off x="5745442" y="4216083"/>
            <a:ext cx="1822450" cy="31178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国际合作与全球化战略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5" name="Picture 3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126332" y="4792611"/>
            <a:ext cx="171445" cy="149327"/>
          </a:xfrm>
          <a:prstGeom prst="rect">
            <a:avLst/>
          </a:prstGeom>
        </p:spPr>
      </p:pic>
      <p:sp>
        <p:nvSpPr>
          <p:cNvPr id="56" name="TextBox 33"/>
          <p:cNvSpPr txBox="1"/>
          <p:nvPr/>
        </p:nvSpPr>
        <p:spPr>
          <a:xfrm>
            <a:off x="5393025" y="4711699"/>
            <a:ext cx="3027680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指导理念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："中国的北斗、世界的北斗、一流的北斗"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7" name="Picture 34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126332" y="5127522"/>
            <a:ext cx="171445" cy="127204"/>
          </a:xfrm>
          <a:prstGeom prst="rect">
            <a:avLst/>
          </a:prstGeom>
        </p:spPr>
      </p:pic>
      <p:sp>
        <p:nvSpPr>
          <p:cNvPr id="58" name="TextBox 35"/>
          <p:cNvSpPr txBox="1"/>
          <p:nvPr/>
        </p:nvSpPr>
        <p:spPr>
          <a:xfrm>
            <a:off x="5393025" y="5035550"/>
            <a:ext cx="4538980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兼容互操作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：与GPS、GLONASS、Galileo开展政府间协调，确保信号兼容共用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9" name="Picture 36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5126332" y="5446149"/>
            <a:ext cx="171445" cy="99551"/>
          </a:xfrm>
          <a:prstGeom prst="rect">
            <a:avLst/>
          </a:prstGeom>
        </p:spPr>
      </p:pic>
      <p:sp>
        <p:nvSpPr>
          <p:cNvPr id="60" name="TextBox 37"/>
          <p:cNvSpPr txBox="1"/>
          <p:nvPr/>
        </p:nvSpPr>
        <p:spPr>
          <a:xfrm>
            <a:off x="5393025" y="5340349"/>
            <a:ext cx="5036820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区域合作平台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：通过"中阿北斗合作论坛"、"中国-东盟卫星导航合作论坛"等机制深化合作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1" name="Picture 38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5126332" y="5741116"/>
            <a:ext cx="171445" cy="138266"/>
          </a:xfrm>
          <a:prstGeom prst="rect">
            <a:avLst/>
          </a:prstGeom>
        </p:spPr>
      </p:pic>
      <p:sp>
        <p:nvSpPr>
          <p:cNvPr id="62" name="TextBox 39"/>
          <p:cNvSpPr txBox="1"/>
          <p:nvPr/>
        </p:nvSpPr>
        <p:spPr>
          <a:xfrm>
            <a:off x="5393025" y="5654674"/>
            <a:ext cx="4373880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融入"一带一路"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：作为"数字丝绸之路"的核心组成部分，在沿线国家落地应用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3" name="Picture 40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5126332" y="6034855"/>
            <a:ext cx="171445" cy="160388"/>
          </a:xfrm>
          <a:prstGeom prst="rect">
            <a:avLst/>
          </a:prstGeom>
        </p:spPr>
      </p:pic>
      <p:sp>
        <p:nvSpPr>
          <p:cNvPr id="64" name="TextBox 41"/>
          <p:cNvSpPr txBox="1"/>
          <p:nvPr/>
        </p:nvSpPr>
        <p:spPr>
          <a:xfrm>
            <a:off x="5393025" y="5959475"/>
            <a:ext cx="3564255" cy="292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55" b="1">
                <a:solidFill>
                  <a:srgbClr val="00A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融入国际标准</a:t>
            </a:r>
            <a:r>
              <a:rPr sz="95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：进入ICAO、IMO、3GPP等国际权威标准体系 </a:t>
            </a:r>
            <a:endParaRPr sz="95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8" grpId="0" bldLvl="0" animBg="1"/>
      <p:bldP spid="30" grpId="0"/>
      <p:bldP spid="32" grpId="0"/>
      <p:bldP spid="34" grpId="0"/>
      <p:bldP spid="36" grpId="0"/>
      <p:bldP spid="37" grpId="0" bldLvl="0" animBg="1"/>
      <p:bldP spid="39" grpId="0"/>
      <p:bldP spid="40" grpId="0" bldLvl="0" animBg="1"/>
      <p:bldP spid="42" grpId="0"/>
      <p:bldP spid="43" grpId="0" bldLvl="0" animBg="1"/>
      <p:bldP spid="45" grpId="0"/>
      <p:bldP spid="46" grpId="0" bldLvl="0" animBg="1"/>
      <p:bldP spid="48" grpId="0"/>
      <p:bldP spid="50" grpId="0" bldLvl="0" animBg="1"/>
      <p:bldP spid="52" grpId="0" bldLvl="0" animBg="1"/>
      <p:bldP spid="54" grpId="0"/>
      <p:bldP spid="56" grpId="0"/>
      <p:bldP spid="58" grpId="0"/>
      <p:bldP spid="60" grpId="0"/>
      <p:bldP spid="62" grpId="0"/>
      <p:bldP spid="64" grpId="0"/>
      <p:bldP spid="26" grpId="1" animBg="1"/>
      <p:bldP spid="28" grpId="1" animBg="1"/>
      <p:bldP spid="30" grpId="1"/>
      <p:bldP spid="32" grpId="1"/>
      <p:bldP spid="34" grpId="1"/>
      <p:bldP spid="36" grpId="1"/>
      <p:bldP spid="37" grpId="1" animBg="1"/>
      <p:bldP spid="39" grpId="1"/>
      <p:bldP spid="40" grpId="1" animBg="1"/>
      <p:bldP spid="42" grpId="1"/>
      <p:bldP spid="43" grpId="1" animBg="1"/>
      <p:bldP spid="45" grpId="1"/>
      <p:bldP spid="46" grpId="1" animBg="1"/>
      <p:bldP spid="48" grpId="1"/>
      <p:bldP spid="50" grpId="1" animBg="1"/>
      <p:bldP spid="52" grpId="1" animBg="1"/>
      <p:bldP spid="54" grpId="1"/>
      <p:bldP spid="56" grpId="1"/>
      <p:bldP spid="58" grpId="1"/>
      <p:bldP spid="60" grpId="1"/>
      <p:bldP spid="62" grpId="1"/>
      <p:bldP spid="6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201920" y="1077595"/>
            <a:ext cx="6724650" cy="951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60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北斗卫星导航系统</a:t>
            </a:r>
            <a:endParaRPr lang="zh-CN" altLang="en-US" sz="2800">
              <a:solidFill>
                <a:srgbClr val="A0D8FF"/>
              </a:solidFill>
              <a:latin typeface="方正姚体" panose="02010601030101010101" charset="-122"/>
              <a:ea typeface="方正姚体" panose="02010601030101010101" charset="-122"/>
              <a:sym typeface="+mn-ea"/>
            </a:endParaRPr>
          </a:p>
        </p:txBody>
      </p:sp>
      <p:pic>
        <p:nvPicPr>
          <p:cNvPr id="8" name="图片 7" descr="卫星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3850" y="718820"/>
            <a:ext cx="426720" cy="42672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874385" y="821055"/>
            <a:ext cx="5621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rgbClr val="D6D9D7"/>
                </a:solidFill>
                <a:latin typeface="微软雅黑" panose="020B0503020204020204" charset="-122"/>
                <a:ea typeface="微软雅黑" panose="020B0503020204020204" charset="-122"/>
                <a:cs typeface="Eras Bold ITC" panose="020B0907030504020204" charset="0"/>
                <a:sym typeface="+mn-ea"/>
              </a:rPr>
              <a:t>BeiDou Navigation Satellite System</a:t>
            </a:r>
            <a:endParaRPr lang="en-US" altLang="zh-CN" b="1" dirty="0">
              <a:solidFill>
                <a:srgbClr val="D6D9D7"/>
              </a:solidFill>
              <a:latin typeface="微软雅黑" panose="020B0503020204020204" charset="-122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6550" y="1751965"/>
            <a:ext cx="11347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sz="36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rPr>
              <a:t>结语</a:t>
            </a:r>
            <a:endParaRPr sz="3600" b="1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3095" y="2440305"/>
            <a:ext cx="11293475" cy="41541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defTabSz="266700">
              <a:lnSpc>
                <a:spcPct val="13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20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从陈芳允院士“双星定位”的巧妙构思，到“三步走”战略的稳健实施，再到北斗三号全球系统的全面建成，中国北斗卫星导航系统走出了一条独立自主、创新超越的发展道路。</a:t>
            </a:r>
            <a:endParaRPr lang="zh-CN" altLang="en-US" sz="2000" b="1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0" indent="0" defTabSz="266700">
              <a:lnSpc>
                <a:spcPct val="130000"/>
              </a:lnSpc>
              <a:spcBef>
                <a:spcPct val="0"/>
              </a:spcBef>
              <a:spcAft>
                <a:spcPts val="1200"/>
              </a:spcAft>
            </a:pPr>
            <a:r>
              <a:rPr sz="20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北斗卫星导航系统</a:t>
            </a:r>
            <a:r>
              <a:rPr lang="zh-CN" altLang="en-US" sz="20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独创的混合星座架构、星间链路技术以及通导融合的服务模式，不仅使其跻身世界一流</a:t>
            </a:r>
            <a:r>
              <a:rPr lang="en-US" altLang="zh-CN" sz="20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GNSS</a:t>
            </a:r>
            <a:r>
              <a:rPr lang="zh-CN" altLang="en-US" sz="20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行列，更在特定领域展现出领先优势。</a:t>
            </a:r>
            <a:endParaRPr lang="zh-CN" altLang="en-US" sz="2000" b="1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0" indent="0" defTabSz="266700">
              <a:lnSpc>
                <a:spcPct val="13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20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在应用层面，北斗已深度赋能中国交通运输、农林渔业、防灾减灾等关键行业，并以前所未有的广度和深度融入大众生活，创造了巨大的社会和经济效益。</a:t>
            </a:r>
            <a:endParaRPr lang="zh-CN" altLang="en-US" sz="2000" b="1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0" indent="0" defTabSz="2667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放眼全球，北斗的崛起打破了</a:t>
            </a:r>
            <a:r>
              <a:rPr lang="en-US" altLang="zh-CN" sz="20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GPS</a:t>
            </a:r>
            <a:r>
              <a:rPr lang="zh-CN" altLang="en-US" sz="20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一家独大的格局，开启了多系统共存、互为补充的新时代。面对未来，以北斗为核心的</a:t>
            </a:r>
            <a:r>
              <a:rPr lang="en-US" altLang="zh-CN" sz="20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2035</a:t>
            </a:r>
            <a:r>
              <a:rPr lang="zh-CN" altLang="en-US" sz="20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年国家综合</a:t>
            </a:r>
            <a:r>
              <a:rPr lang="en-US" altLang="zh-CN" sz="20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PNT</a:t>
            </a:r>
            <a:r>
              <a:rPr lang="zh-CN" altLang="en-US" sz="20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体系，展现了中国抢占未来智能化时代时空信息技术制高点的雄心。北斗系统的发展历程，是中国科技自立自强、服务国家战略和拥抱全球化的生动缩影。</a:t>
            </a:r>
            <a:endParaRPr lang="zh-CN" altLang="en-US" sz="2000" b="1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544195" y="2473325"/>
            <a:ext cx="0" cy="404749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296545" y="4575175"/>
            <a:ext cx="22428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2351520  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毛星博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 descr="图片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45" y="2875280"/>
            <a:ext cx="5800725" cy="16998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  <p:tag name="KSO_WM_TEMPLATE_CATEGORY" val="custom"/>
  <p:tag name="KSO_WM_TEMPLATE_INDEX" val="40495029"/>
</p:tagLst>
</file>

<file path=ppt/tags/tag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5029"/>
</p:tagLst>
</file>

<file path=ppt/tags/tag12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5029"/>
  <p:tag name="KSO_WM_TEMPLATE_CATEGORY" val="custom"/>
  <p:tag name="KSO_WM_TEMPLATE_MASTER_TYPE" val="0"/>
</p:tagLst>
</file>

<file path=ppt/tags/tag13.xml><?xml version="1.0" encoding="utf-8"?>
<p:tagLst xmlns:p="http://schemas.openxmlformats.org/presentationml/2006/main">
  <p:tag name="KSO_WM_UNIT_TYPE" val="l_h_i"/>
  <p:tag name="KSO_WM_UNIT_INDEX" val="1_4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93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DIAGRAM_MAX_ITEMCNT" val="6"/>
  <p:tag name="KSO_WM_DIAGRAM_MIN_ITEMCNT" val="2"/>
  <p:tag name="KSO_WM_DIAGRAM_VIRTUALLY_FRAME" val="{&quot;height&quot;:269.36228093184815,&quot;left&quot;:49.86078740157481,&quot;top&quot;:197.7718897637795,&quot;width&quot;:852.9394097948449}"/>
  <p:tag name="KSO_WM_DIAGRAM_COLOR_MATCH_VALUE" val="{&quot;shape&quot;:{&quot;fill&quot;:{&quot;solid&quot;:{&quot;brightness&quot;:0,&quot;colorType&quot;:1,&quot;foreColorIndex&quot;:16,&quot;transparency&quot;:0.5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UNIT_TYPE" val="l_h_i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93_4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DIAGRAM_MAX_ITEMCNT" val="6"/>
  <p:tag name="KSO_WM_DIAGRAM_MIN_ITEMCNT" val="2"/>
  <p:tag name="KSO_WM_DIAGRAM_VIRTUALLY_FRAME" val="{&quot;height&quot;:277.91228093184816,&quot;left&quot;:49.86078740157481,&quot;top&quot;:189.22188976377953,&quot;width&quot;:852.9394097948449}"/>
  <p:tag name="KSO_WM_DIAGRAM_COLOR_MATCH_VALUE" val="{&quot;shape&quot;:{&quot;fill&quot;:{&quot;solid&quot;:{&quot;brightness&quot;:0,&quot;colorType&quot;:1,&quot;foreColorIndex&quot;:16,&quot;transparency&quot;:0.5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UNIT_TYPE" val="l_h_i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93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DIAGRAM_MAX_ITEMCNT" val="6"/>
  <p:tag name="KSO_WM_DIAGRAM_MIN_ITEMCNT" val="2"/>
  <p:tag name="KSO_WM_DIAGRAM_VIRTUALLY_FRAME" val="{&quot;height&quot;:277.91228093184816,&quot;left&quot;:49.86078740157481,&quot;top&quot;:189.22188976377953,&quot;width&quot;:852.9394097948449}"/>
  <p:tag name="KSO_WM_DIAGRAM_COLOR_MATCH_VALUE" val="{&quot;shape&quot;:{&quot;fill&quot;:{&quot;solid&quot;:{&quot;brightness&quot;:0,&quot;colorType&quot;:1,&quot;foreColorIndex&quot;:16,&quot;transparency&quot;:0.5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UNIT_TYPE" val="l_h_i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93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DIAGRAM_MAX_ITEMCNT" val="6"/>
  <p:tag name="KSO_WM_DIAGRAM_MIN_ITEMCNT" val="2"/>
  <p:tag name="KSO_WM_DIAGRAM_VIRTUALLY_FRAME" val="{&quot;height&quot;:277.91228093184816,&quot;left&quot;:49.86078740157481,&quot;top&quot;:189.22188976377953,&quot;width&quot;:852.9394097948449}"/>
  <p:tag name="KSO_WM_DIAGRAM_COLOR_MATCH_VALUE" val="{&quot;shape&quot;:{&quot;fill&quot;:{&quot;solid&quot;:{&quot;brightness&quot;:0,&quot;colorType&quot;:1,&quot;foreColorIndex&quot;:16,&quot;transparency&quot;:0.5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UNIT_TYPE" val="l_h_i"/>
  <p:tag name="KSO_WM_UNIT_SUBTYPE" val="d"/>
  <p:tag name="KSO_WM_UNIT_INDEX" val="1_2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93_4*l_h_i*1_2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DIAGRAM_MAX_ITEMCNT" val="6"/>
  <p:tag name="KSO_WM_DIAGRAM_MIN_ITEMCNT" val="2"/>
  <p:tag name="KSO_WM_DIAGRAM_VIRTUALLY_FRAME" val="{&quot;height&quot;:277.91228093184816,&quot;left&quot;:49.86078740157481,&quot;top&quot;:189.22188976377953,&quot;width&quot;:852.939409794844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8,&quot;pos&quot;:0.89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UNIT_PRESET_TEXT" val="单击添加目录项标题"/>
  <p:tag name="KSO_WM_DIAGRAM_GROUP_CODE" val="l1-1"/>
  <p:tag name="KSO_WM_DIAGRAM_COLOR_TRICK" val="1"/>
  <p:tag name="KSO_WM_DIAGRAM_COLOR_TEXT_CAN_REMOVE" val="n"/>
  <p:tag name="KSO_WM_UNIT_ID" val="custom20235993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77.91228093184816,&quot;left&quot;:49.86078740157481,&quot;top&quot;:189.22188976377953,&quot;width&quot;:852.939409794844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UNIT_TYPE" val="l_h_i"/>
  <p:tag name="KSO_WM_UNIT_SUBTYPE" val="d"/>
  <p:tag name="KSO_WM_UNIT_INDEX" val="1_3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93_4*l_h_i*1_3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DIAGRAM_MAX_ITEMCNT" val="6"/>
  <p:tag name="KSO_WM_DIAGRAM_MIN_ITEMCNT" val="2"/>
  <p:tag name="KSO_WM_DIAGRAM_VIRTUALLY_FRAME" val="{&quot;height&quot;:277.91228093184816,&quot;left&quot;:49.86078740157481,&quot;top&quot;:189.22188976377953,&quot;width&quot;:852.939409794844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8,&quot;pos&quot;:0.89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UNIT_PRESET_TEXT" val="单击添加目录项标题"/>
  <p:tag name="KSO_WM_DIAGRAM_GROUP_CODE" val="l1-1"/>
  <p:tag name="KSO_WM_DIAGRAM_COLOR_TRICK" val="1"/>
  <p:tag name="KSO_WM_DIAGRAM_COLOR_TEXT_CAN_REMOVE" val="n"/>
  <p:tag name="KSO_WM_UNIT_ID" val="custom20235993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77.91228093184816,&quot;left&quot;:49.86078740157481,&quot;top&quot;:189.22188976377953,&quot;width&quot;:852.939409794844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UNIT_TYPE" val="l_h_i"/>
  <p:tag name="KSO_WM_UNIT_SUBTYPE" val="d"/>
  <p:tag name="KSO_WM_UNIT_INDEX" val="1_4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93_4*l_h_i*1_4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DIAGRAM_MAX_ITEMCNT" val="6"/>
  <p:tag name="KSO_WM_DIAGRAM_MIN_ITEMCNT" val="2"/>
  <p:tag name="KSO_WM_DIAGRAM_VIRTUALLY_FRAME" val="{&quot;height&quot;:277.91228093184816,&quot;left&quot;:49.86078740157481,&quot;top&quot;:189.22188976377953,&quot;width&quot;:852.939409794844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8,&quot;pos&quot;:0.89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UNIT_PRESET_TEXT" val="单击添加目录项标题"/>
  <p:tag name="KSO_WM_DIAGRAM_GROUP_CODE" val="l1-1"/>
  <p:tag name="KSO_WM_DIAGRAM_COLOR_TRICK" val="1"/>
  <p:tag name="KSO_WM_DIAGRAM_COLOR_TEXT_CAN_REMOVE" val="n"/>
  <p:tag name="KSO_WM_UNIT_ID" val="custom20235993_4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77.91228093184816,&quot;left&quot;:49.86078740157481,&quot;top&quot;:189.22188976377953,&quot;width&quot;:852.939409794844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UNIT_TYPE" val="l_h_i"/>
  <p:tag name="KSO_WM_UNIT_SUBTYPE" val="d"/>
  <p:tag name="KSO_WM_UNIT_INDEX" val="1_1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93_4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DIAGRAM_MAX_ITEMCNT" val="6"/>
  <p:tag name="KSO_WM_DIAGRAM_MIN_ITEMCNT" val="2"/>
  <p:tag name="KSO_WM_DIAGRAM_VIRTUALLY_FRAME" val="{&quot;height&quot;:277.91228093184816,&quot;left&quot;:49.86078740157481,&quot;top&quot;:189.22188976377953,&quot;width&quot;:852.939409794844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8,&quot;pos&quot;:0.89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UNIT_PRESET_TEXT" val="单击添加目录项标题"/>
  <p:tag name="KSO_WM_DIAGRAM_GROUP_CODE" val="l1-1"/>
  <p:tag name="KSO_WM_DIAGRAM_COLOR_TRICK" val="1"/>
  <p:tag name="KSO_WM_DIAGRAM_COLOR_TEXT_CAN_REMOVE" val="n"/>
  <p:tag name="KSO_WM_UNIT_ID" val="custom20235993_4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77.91228093184816,&quot;left&quot;:49.86078740157481,&quot;top&quot;:189.22188976377953,&quot;width&quot;:852.939409794844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UNIT_TYPE" val="l_h_i"/>
  <p:tag name="KSO_WM_UNIT_INDEX" val="1_1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93_4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DIAGRAM_MAX_ITEMCNT" val="6"/>
  <p:tag name="KSO_WM_DIAGRAM_MIN_ITEMCNT" val="2"/>
  <p:tag name="KSO_WM_DIAGRAM_VIRTUALLY_FRAME" val="{&quot;height&quot;:269.3622809318482,&quot;left&quot;:69.32153508704478,&quot;top&quot;:197.7718897637795,&quot;width&quot;:821.378662109375}"/>
  <p:tag name="KSO_WM_DIAGRAM_COLOR_MATCH_VALUE" val="{&quot;shape&quot;:{&quot;fill&quot;:{&quot;solid&quot;:{&quot;brightness&quot;:0,&quot;colorType&quot;:1,&quot;foreColorIndex&quot;:16,&quot;transparency&quot;:0.5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UNIT_TYPE" val="l_h_i"/>
  <p:tag name="KSO_WM_UNIT_INDEX" val="1_2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93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DIAGRAM_MAX_ITEMCNT" val="6"/>
  <p:tag name="KSO_WM_DIAGRAM_MIN_ITEMCNT" val="2"/>
  <p:tag name="KSO_WM_DIAGRAM_VIRTUALLY_FRAME" val="{&quot;height&quot;:269.3622809318482,&quot;left&quot;:69.32153508704478,&quot;top&quot;:197.7718897637795,&quot;width&quot;:821.378662109375}"/>
  <p:tag name="KSO_WM_DIAGRAM_COLOR_MATCH_VALUE" val="{&quot;shape&quot;:{&quot;fill&quot;:{&quot;solid&quot;:{&quot;brightness&quot;:0,&quot;colorType&quot;:1,&quot;foreColorIndex&quot;:16,&quot;transparency&quot;:0.5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UNIT_TYPE" val="l_h_i"/>
  <p:tag name="KSO_WM_UNIT_INDEX" val="1_3_1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93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DIAGRAM_MAX_ITEMCNT" val="6"/>
  <p:tag name="KSO_WM_DIAGRAM_MIN_ITEMCNT" val="2"/>
  <p:tag name="KSO_WM_DIAGRAM_VIRTUALLY_FRAME" val="{&quot;height&quot;:269.3622809318482,&quot;left&quot;:69.32153508704478,&quot;top&quot;:197.7718897637795,&quot;width&quot;:821.378662109375}"/>
  <p:tag name="KSO_WM_DIAGRAM_COLOR_MATCH_VALUE" val="{&quot;shape&quot;:{&quot;fill&quot;:{&quot;solid&quot;:{&quot;brightness&quot;:0,&quot;colorType&quot;:1,&quot;foreColorIndex&quot;:16,&quot;transparency&quot;:0.5},&quot;type&quot;:1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UNIT_TYPE" val="l_h_i"/>
  <p:tag name="KSO_WM_UNIT_SUBTYPE" val="d"/>
  <p:tag name="KSO_WM_UNIT_INDEX" val="1_2_2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93_4*l_h_i*1_2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DIAGRAM_MAX_ITEMCNT" val="6"/>
  <p:tag name="KSO_WM_DIAGRAM_MIN_ITEMCNT" val="2"/>
  <p:tag name="KSO_WM_DIAGRAM_VIRTUALLY_FRAME" val="{&quot;height&quot;:269.3622809318482,&quot;left&quot;:69.32153508704478,&quot;top&quot;:197.7718897637795,&quot;width&quot;:821.3786621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8,&quot;pos&quot;:0.89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UNIT_TYPE" val="l_h_f"/>
  <p:tag name="KSO_WM_UNIT_INDEX" val="1_2_1"/>
  <p:tag name="KSO_WM_TAG_VERSION" val="3.0"/>
  <p:tag name="KSO_WM_DIAGRAM_VERSION" val="3"/>
  <p:tag name="KSO_WM_UNIT_PRESET_TEXT" val="单击添加目录项标题"/>
  <p:tag name="KSO_WM_DIAGRAM_GROUP_CODE" val="l1-1"/>
  <p:tag name="KSO_WM_DIAGRAM_COLOR_TRICK" val="1"/>
  <p:tag name="KSO_WM_DIAGRAM_COLOR_TEXT_CAN_REMOVE" val="n"/>
  <p:tag name="KSO_WM_UNIT_ID" val="custom20235993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69.3622809318482,&quot;left&quot;:69.32153508704478,&quot;top&quot;:197.7718897637795,&quot;width&quot;:821.3786621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UNIT_TYPE" val="l_h_i"/>
  <p:tag name="KSO_WM_UNIT_SUBTYPE" val="d"/>
  <p:tag name="KSO_WM_UNIT_INDEX" val="1_3_2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93_4*l_h_i*1_3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DIAGRAM_MAX_ITEMCNT" val="6"/>
  <p:tag name="KSO_WM_DIAGRAM_MIN_ITEMCNT" val="2"/>
  <p:tag name="KSO_WM_DIAGRAM_VIRTUALLY_FRAME" val="{&quot;height&quot;:269.3622809318482,&quot;left&quot;:69.32153508704478,&quot;top&quot;:197.7718897637795,&quot;width&quot;:821.3786621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8,&quot;pos&quot;:0.89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UNIT_TYPE" val="l_h_f"/>
  <p:tag name="KSO_WM_UNIT_INDEX" val="1_3_1"/>
  <p:tag name="KSO_WM_TAG_VERSION" val="3.0"/>
  <p:tag name="KSO_WM_DIAGRAM_VERSION" val="3"/>
  <p:tag name="KSO_WM_UNIT_PRESET_TEXT" val="单击添加目录项标题"/>
  <p:tag name="KSO_WM_DIAGRAM_GROUP_CODE" val="l1-1"/>
  <p:tag name="KSO_WM_DIAGRAM_COLOR_TRICK" val="1"/>
  <p:tag name="KSO_WM_DIAGRAM_COLOR_TEXT_CAN_REMOVE" val="n"/>
  <p:tag name="KSO_WM_UNIT_ID" val="custom20235993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69.3622809318482,&quot;left&quot;:69.32153508704478,&quot;top&quot;:197.7718897637795,&quot;width&quot;:821.3786621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UNIT_TYPE" val="l_h_i"/>
  <p:tag name="KSO_WM_UNIT_SUBTYPE" val="d"/>
  <p:tag name="KSO_WM_UNIT_INDEX" val="1_1_2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93_4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DIAGRAM_MAX_ITEMCNT" val="6"/>
  <p:tag name="KSO_WM_DIAGRAM_MIN_ITEMCNT" val="2"/>
  <p:tag name="KSO_WM_DIAGRAM_VIRTUALLY_FRAME" val="{&quot;height&quot;:269.3622809318482,&quot;left&quot;:69.32153508704478,&quot;top&quot;:197.7718897637795,&quot;width&quot;:821.3786621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8,&quot;pos&quot;:0.89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UNIT_TYPE" val="l_h_f"/>
  <p:tag name="KSO_WM_UNIT_INDEX" val="1_1_1"/>
  <p:tag name="KSO_WM_TAG_VERSION" val="3.0"/>
  <p:tag name="KSO_WM_DIAGRAM_VERSION" val="3"/>
  <p:tag name="KSO_WM_UNIT_PRESET_TEXT" val="单击添加目录项标题"/>
  <p:tag name="KSO_WM_DIAGRAM_GROUP_CODE" val="l1-1"/>
  <p:tag name="KSO_WM_DIAGRAM_COLOR_TRICK" val="1"/>
  <p:tag name="KSO_WM_DIAGRAM_COLOR_TEXT_CAN_REMOVE" val="n"/>
  <p:tag name="KSO_WM_UNIT_ID" val="custom20235993_4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93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69.3622809318482,&quot;left&quot;:69.32153508704478,&quot;top&quot;:197.7718897637795,&quot;width&quot;:821.3786621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40495029"/>
  <p:tag name="KSO_WM_TEMPLATE_CATEGORY" val="custom"/>
  <p:tag name="KSO_WM_SLIDE_INDEX" val="4"/>
  <p:tag name="KSO_WM_SLIDE_ID" val="custom40495029_4"/>
  <p:tag name="KSO_WM_TEMPLATE_MASTER_TYPE" val="0"/>
  <p:tag name="KSO_WM_SLIDE_LAYOUT" val="a_l"/>
  <p:tag name="KSO_WM_SLIDE_LAYOUT_CNT" val="1_1"/>
  <p:tag name="KSO_WM_SLIDE_DIAGTYPE" val="l"/>
</p:tagLst>
</file>

<file path=ppt/tags/tag35.xml><?xml version="1.0" encoding="utf-8"?>
<p:tagLst xmlns:p="http://schemas.openxmlformats.org/presentationml/2006/main">
  <p:tag name="TABLE_ENDDRAG_ORIGIN_RECT" val="880*265"/>
  <p:tag name="TABLE_ENDDRAG_RECT" val="49*143*880*265"/>
</p:tagLst>
</file>

<file path=ppt/tags/tag36.xml><?xml version="1.0" encoding="utf-8"?>
<p:tagLst xmlns:p="http://schemas.openxmlformats.org/presentationml/2006/main">
  <p:tag name="resource_record_key" val="{&quot;10&quot;:[50019590,5000860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科技风紫色营销策划通用模板">
  <a:themeElements>
    <a:clrScheme name="自定义 753">
      <a:dk1>
        <a:srgbClr val="000000"/>
      </a:dk1>
      <a:lt1>
        <a:srgbClr val="FFFFFF"/>
      </a:lt1>
      <a:dk2>
        <a:srgbClr val="290054"/>
      </a:dk2>
      <a:lt2>
        <a:srgbClr val="FFFDFF"/>
      </a:lt2>
      <a:accent1>
        <a:srgbClr val="A647FF"/>
      </a:accent1>
      <a:accent2>
        <a:srgbClr val="ED7DF1"/>
      </a:accent2>
      <a:accent3>
        <a:srgbClr val="BA0EEC"/>
      </a:accent3>
      <a:accent4>
        <a:srgbClr val="7C84E6"/>
      </a:accent4>
      <a:accent5>
        <a:srgbClr val="64B9FB"/>
      </a:accent5>
      <a:accent6>
        <a:srgbClr val="62D1C1"/>
      </a:accent6>
      <a:hlink>
        <a:srgbClr val="4472C4"/>
      </a:hlink>
      <a:folHlink>
        <a:srgbClr val="BFBFBF"/>
      </a:folHlink>
    </a:clrScheme>
    <a:fontScheme name="自定义 8">
      <a:majorFont>
        <a:latin typeface="汉仪雅酷黑-95J"/>
        <a:ea typeface="汉仪雅酷黑-95J"/>
        <a:cs typeface=""/>
      </a:majorFont>
      <a:minorFont>
        <a:latin typeface="汉仪雅酷黑-95J"/>
        <a:ea typeface="汉仪雅酷黑-95J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5588</Words>
  <Application>WPS 演示</Application>
  <PresentationFormat>宽屏</PresentationFormat>
  <Paragraphs>536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宋体</vt:lpstr>
      <vt:lpstr>Wingdings</vt:lpstr>
      <vt:lpstr>汉仪雅酷黑-95J</vt:lpstr>
      <vt:lpstr>黑体</vt:lpstr>
      <vt:lpstr>华文新魏</vt:lpstr>
      <vt:lpstr>方正姚体</vt:lpstr>
      <vt:lpstr>微软雅黑</vt:lpstr>
      <vt:lpstr>Eras Bold ITC</vt:lpstr>
      <vt:lpstr>PingFang SC</vt:lpstr>
      <vt:lpstr>Segoe Print</vt:lpstr>
      <vt:lpstr>Arial Unicode MS</vt:lpstr>
      <vt:lpstr>Calibri</vt:lpstr>
      <vt:lpstr>WPS</vt:lpstr>
      <vt:lpstr>科技风紫色营销策划通用模板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JL</cp:lastModifiedBy>
  <cp:revision>9</cp:revision>
  <dcterms:created xsi:type="dcterms:W3CDTF">2023-08-09T12:44:00Z</dcterms:created>
  <dcterms:modified xsi:type="dcterms:W3CDTF">2025-10-12T09:15:43Z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97FCE021228746C89F5F058F5EF8C372_12</vt:lpwstr>
  </property>
</Properties>
</file>