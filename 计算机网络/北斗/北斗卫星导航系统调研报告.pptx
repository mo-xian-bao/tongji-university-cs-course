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19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Relationship Id="rId16" Type="http://schemas.openxmlformats.org/officeDocument/2006/relationships/image" Target="../media/image35.png"/><Relationship Id="rId17" Type="http://schemas.openxmlformats.org/officeDocument/2006/relationships/image" Target="../media/image36.png"/><Relationship Id="rId18" Type="http://schemas.openxmlformats.org/officeDocument/2006/relationships/image" Target="../media/image3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15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27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png"/><Relationship Id="rId13" Type="http://schemas.openxmlformats.org/officeDocument/2006/relationships/image" Target="../media/image19.png"/><Relationship Id="rId14" Type="http://schemas.openxmlformats.org/officeDocument/2006/relationships/image" Target="../media/image50.png"/><Relationship Id="rId15" Type="http://schemas.openxmlformats.org/officeDocument/2006/relationships/image" Target="../media/image51.png"/><Relationship Id="rId16" Type="http://schemas.openxmlformats.org/officeDocument/2006/relationships/image" Target="../media/image52.png"/><Relationship Id="rId17" Type="http://schemas.openxmlformats.org/officeDocument/2006/relationships/image" Target="../media/image35.png"/><Relationship Id="rId18" Type="http://schemas.openxmlformats.org/officeDocument/2006/relationships/image" Target="../media/image53.png"/><Relationship Id="rId19" Type="http://schemas.openxmlformats.org/officeDocument/2006/relationships/image" Target="../media/image54.png"/><Relationship Id="rId20" Type="http://schemas.openxmlformats.org/officeDocument/2006/relationships/image" Target="../media/image55.png"/><Relationship Id="rId21" Type="http://schemas.openxmlformats.org/officeDocument/2006/relationships/image" Target="../media/image56.png"/><Relationship Id="rId22" Type="http://schemas.openxmlformats.org/officeDocument/2006/relationships/image" Target="../media/image57.png"/><Relationship Id="rId23" Type="http://schemas.openxmlformats.org/officeDocument/2006/relationships/image" Target="../media/image58.png"/><Relationship Id="rId24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Relationship Id="rId10" Type="http://schemas.openxmlformats.org/officeDocument/2006/relationships/image" Target="../media/image67.png"/><Relationship Id="rId11" Type="http://schemas.openxmlformats.org/officeDocument/2006/relationships/image" Target="../media/image68.png"/><Relationship Id="rId12" Type="http://schemas.openxmlformats.org/officeDocument/2006/relationships/image" Target="../media/image69.png"/><Relationship Id="rId13" Type="http://schemas.openxmlformats.org/officeDocument/2006/relationships/image" Target="../media/image70.png"/><Relationship Id="rId14" Type="http://schemas.openxmlformats.org/officeDocument/2006/relationships/image" Target="../media/image71.png"/><Relationship Id="rId15" Type="http://schemas.openxmlformats.org/officeDocument/2006/relationships/image" Target="../media/image72.png"/><Relationship Id="rId16" Type="http://schemas.openxmlformats.org/officeDocument/2006/relationships/image" Target="../media/image73.png"/><Relationship Id="rId17" Type="http://schemas.openxmlformats.org/officeDocument/2006/relationships/image" Target="../media/image74.png"/><Relationship Id="rId18" Type="http://schemas.openxmlformats.org/officeDocument/2006/relationships/image" Target="../media/image75.png"/><Relationship Id="rId19" Type="http://schemas.openxmlformats.org/officeDocument/2006/relationships/image" Target="../media/image76.png"/><Relationship Id="rId20" Type="http://schemas.openxmlformats.org/officeDocument/2006/relationships/image" Target="../media/image32.png"/><Relationship Id="rId21" Type="http://schemas.openxmlformats.org/officeDocument/2006/relationships/image" Target="../media/image77.png"/><Relationship Id="rId22" Type="http://schemas.openxmlformats.org/officeDocument/2006/relationships/image" Target="../media/image78.png"/><Relationship Id="rId23" Type="http://schemas.openxmlformats.org/officeDocument/2006/relationships/image" Target="../media/image79.png"/><Relationship Id="rId24" Type="http://schemas.openxmlformats.org/officeDocument/2006/relationships/image" Target="../media/image80.png"/><Relationship Id="rId25" Type="http://schemas.openxmlformats.org/officeDocument/2006/relationships/image" Target="../media/image8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21.png"/><Relationship Id="rId5" Type="http://schemas.openxmlformats.org/officeDocument/2006/relationships/image" Target="../media/image84.png"/><Relationship Id="rId6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Relationship Id="rId8" Type="http://schemas.openxmlformats.org/officeDocument/2006/relationships/image" Target="../media/image91.png"/><Relationship Id="rId9" Type="http://schemas.openxmlformats.org/officeDocument/2006/relationships/image" Target="../media/image92.png"/><Relationship Id="rId10" Type="http://schemas.openxmlformats.org/officeDocument/2006/relationships/image" Target="../media/image93.png"/><Relationship Id="rId11" Type="http://schemas.openxmlformats.org/officeDocument/2006/relationships/image" Target="../media/image94.png"/><Relationship Id="rId12" Type="http://schemas.openxmlformats.org/officeDocument/2006/relationships/image" Target="../media/image95.png"/><Relationship Id="rId13" Type="http://schemas.openxmlformats.org/officeDocument/2006/relationships/image" Target="../media/image26.png"/><Relationship Id="rId14" Type="http://schemas.openxmlformats.org/officeDocument/2006/relationships/image" Target="../media/image96.png"/><Relationship Id="rId15" Type="http://schemas.openxmlformats.org/officeDocument/2006/relationships/image" Target="../media/image97.png"/><Relationship Id="rId16" Type="http://schemas.openxmlformats.org/officeDocument/2006/relationships/image" Target="../media/image98.png"/><Relationship Id="rId17" Type="http://schemas.openxmlformats.org/officeDocument/2006/relationships/image" Target="../media/image99.png"/><Relationship Id="rId18" Type="http://schemas.openxmlformats.org/officeDocument/2006/relationships/image" Target="../media/image100.png"/><Relationship Id="rId19" Type="http://schemas.openxmlformats.org/officeDocument/2006/relationships/image" Target="../media/image101.png"/><Relationship Id="rId20" Type="http://schemas.openxmlformats.org/officeDocument/2006/relationships/image" Target="../media/image76.png"/><Relationship Id="rId21" Type="http://schemas.openxmlformats.org/officeDocument/2006/relationships/image" Target="../media/image102.png"/><Relationship Id="rId22" Type="http://schemas.openxmlformats.org/officeDocument/2006/relationships/image" Target="../media/image103.png"/><Relationship Id="rId23" Type="http://schemas.openxmlformats.org/officeDocument/2006/relationships/image" Target="../media/image104.png"/><Relationship Id="rId24" Type="http://schemas.openxmlformats.org/officeDocument/2006/relationships/image" Target="../media/image105.png"/><Relationship Id="rId25" Type="http://schemas.openxmlformats.org/officeDocument/2006/relationships/image" Target="../media/image106.png"/><Relationship Id="rId26" Type="http://schemas.openxmlformats.org/officeDocument/2006/relationships/image" Target="../media/image107.png"/><Relationship Id="rId27" Type="http://schemas.openxmlformats.org/officeDocument/2006/relationships/image" Target="../media/image108.png"/><Relationship Id="rId28" Type="http://schemas.openxmlformats.org/officeDocument/2006/relationships/image" Target="../media/image109.png"/><Relationship Id="rId29" Type="http://schemas.openxmlformats.org/officeDocument/2006/relationships/image" Target="../media/image1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png"/><Relationship Id="rId3" Type="http://schemas.openxmlformats.org/officeDocument/2006/relationships/image" Target="../media/image112.png"/><Relationship Id="rId4" Type="http://schemas.openxmlformats.org/officeDocument/2006/relationships/image" Target="../media/image26.png"/><Relationship Id="rId5" Type="http://schemas.openxmlformats.org/officeDocument/2006/relationships/image" Target="../media/image98.png"/><Relationship Id="rId6" Type="http://schemas.openxmlformats.org/officeDocument/2006/relationships/image" Target="../media/image113.png"/><Relationship Id="rId7" Type="http://schemas.openxmlformats.org/officeDocument/2006/relationships/image" Target="../media/image90.png"/><Relationship Id="rId8" Type="http://schemas.openxmlformats.org/officeDocument/2006/relationships/image" Target="../media/image114.png"/><Relationship Id="rId9" Type="http://schemas.openxmlformats.org/officeDocument/2006/relationships/image" Target="../media/image115.png"/><Relationship Id="rId10" Type="http://schemas.openxmlformats.org/officeDocument/2006/relationships/image" Target="../media/image116.png"/><Relationship Id="rId11" Type="http://schemas.openxmlformats.org/officeDocument/2006/relationships/image" Target="../media/image117.png"/><Relationship Id="rId12" Type="http://schemas.openxmlformats.org/officeDocument/2006/relationships/image" Target="../media/image88.png"/><Relationship Id="rId13" Type="http://schemas.openxmlformats.org/officeDocument/2006/relationships/image" Target="../media/image30.png"/><Relationship Id="rId14" Type="http://schemas.openxmlformats.org/officeDocument/2006/relationships/image" Target="../media/image17.png"/><Relationship Id="rId15" Type="http://schemas.openxmlformats.org/officeDocument/2006/relationships/image" Target="../media/image31.png"/><Relationship Id="rId16" Type="http://schemas.openxmlformats.org/officeDocument/2006/relationships/image" Target="../media/image118.png"/><Relationship Id="rId17" Type="http://schemas.openxmlformats.org/officeDocument/2006/relationships/image" Target="../media/image119.png"/><Relationship Id="rId18" Type="http://schemas.openxmlformats.org/officeDocument/2006/relationships/image" Target="../media/image120.png"/><Relationship Id="rId19" Type="http://schemas.openxmlformats.org/officeDocument/2006/relationships/image" Target="../media/image67.png"/><Relationship Id="rId20" Type="http://schemas.openxmlformats.org/officeDocument/2006/relationships/image" Target="../media/image121.png"/><Relationship Id="rId21" Type="http://schemas.openxmlformats.org/officeDocument/2006/relationships/image" Target="../media/image78.png"/><Relationship Id="rId22" Type="http://schemas.openxmlformats.org/officeDocument/2006/relationships/image" Target="../media/image94.png"/><Relationship Id="rId23" Type="http://schemas.openxmlformats.org/officeDocument/2006/relationships/image" Target="../media/image122.png"/><Relationship Id="rId24" Type="http://schemas.openxmlformats.org/officeDocument/2006/relationships/image" Target="../media/image123.png"/><Relationship Id="rId25" Type="http://schemas.openxmlformats.org/officeDocument/2006/relationships/image" Target="../media/image124.png"/><Relationship Id="rId26" Type="http://schemas.openxmlformats.org/officeDocument/2006/relationships/image" Target="../media/image1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143C">
                  <a:alpha val="80000"/>
                </a:srgbClr>
              </a:gs>
              <a:gs pos="100000">
                <a:srgbClr val="00143C">
                  <a:alpha val="8000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52636" y="2352675"/>
            <a:ext cx="7086422" cy="8286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3588" b="1">
                <a:solidFill>
                  <a:srgbClr val="FFFFFF"/>
                </a:solidFill>
              </a:rPr>
              <a:t>北斗卫星导航系统调研报告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619609" y="3467100"/>
            <a:ext cx="952476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A8FF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52636" y="3790949"/>
            <a:ext cx="7086422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600"/>
              </a:spcAft>
            </a:pPr>
            <a:r>
              <a:rPr sz="1435" b="0">
                <a:solidFill>
                  <a:srgbClr val="A0D8FF"/>
                </a:solidFill>
              </a:rPr>
              <a:t>发展、架构、技术与全球战略综合分析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38659" y="6229350"/>
            <a:ext cx="9143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A0D8FF"/>
                </a:solidFill>
              </a:rPr>
              <a:t>2025年10月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439039" y="880601"/>
            <a:ext cx="761980" cy="73434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657308" y="4909676"/>
            <a:ext cx="761980" cy="7343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1A40"/>
            </a:gs>
            <a:gs pos="100000">
              <a:srgbClr val="003366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476249"/>
            <a:ext cx="761980" cy="552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228" y="1600200"/>
            <a:ext cx="28574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A8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5842" y="1657350"/>
            <a:ext cx="380990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引言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28" y="2219324"/>
            <a:ext cx="28574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A8FF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5842" y="2266950"/>
            <a:ext cx="2866953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北斗的起源与演进："三步走"战略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28" y="2838450"/>
            <a:ext cx="28574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A8FF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5842" y="2895600"/>
            <a:ext cx="171445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北斗系统的体系架构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28" y="3457575"/>
            <a:ext cx="28574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A8FF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5842" y="3505199"/>
            <a:ext cx="171445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核心能力与服务组合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28" y="4076699"/>
            <a:ext cx="28574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A8FF"/>
                </a:solidFill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5842" y="4133849"/>
            <a:ext cx="190495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技术创新与核心竞争力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342" y="1600200"/>
            <a:ext cx="28574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A8FF"/>
                </a:solidFill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4957" y="1657350"/>
            <a:ext cx="209544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市场应用与社会经济影响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342" y="2219324"/>
            <a:ext cx="28574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A8FF"/>
                </a:solidFill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4957" y="2266950"/>
            <a:ext cx="2028774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全球GNSS格局中的北斗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342" y="2838450"/>
            <a:ext cx="28574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A8FF"/>
                </a:solidFill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4957" y="2895600"/>
            <a:ext cx="761980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未来展望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342" y="3457575"/>
            <a:ext cx="28574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A8FF"/>
                </a:solidFill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4957" y="3505199"/>
            <a:ext cx="380990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结论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572485" y="5538416"/>
            <a:ext cx="952476" cy="9246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1A40"/>
            </a:gs>
            <a:gs pos="100000">
              <a:srgbClr val="003366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476249"/>
            <a:ext cx="761980" cy="552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引言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317307"/>
            <a:ext cx="228594" cy="2228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8199" y="1314450"/>
            <a:ext cx="627681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</a:t>
            </a:r>
            <a:r>
              <a:rPr sz="1196" b="0">
                <a:solidFill>
                  <a:srgbClr val="00A8FF"/>
                </a:solidFill>
              </a:rPr>
              <a:t>北斗卫星导航系统（BDS）</a:t>
            </a:r>
            <a:r>
              <a:rPr sz="1196" b="0">
                <a:solidFill>
                  <a:srgbClr val="FFFFFF"/>
                </a:solidFill>
              </a:rPr>
              <a:t>是中国自主建设、独立运行的全球卫星导航系统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1807845"/>
            <a:ext cx="228594" cy="1943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38199" y="1790700"/>
            <a:ext cx="6610184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为全球用户提供</a:t>
            </a:r>
            <a:r>
              <a:rPr sz="1196" b="0">
                <a:solidFill>
                  <a:srgbClr val="00A8FF"/>
                </a:solidFill>
              </a:rPr>
              <a:t>全天候、全天时、高精度</a:t>
            </a:r>
            <a:r>
              <a:rPr sz="1196" b="0">
                <a:solidFill>
                  <a:srgbClr val="FFFFFF"/>
                </a:solidFill>
              </a:rPr>
              <a:t>定位、导航与授时（PNT）服务的国家重要空间基础设施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2604135"/>
            <a:ext cx="228594" cy="12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38199" y="2552700"/>
            <a:ext cx="419089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历经</a:t>
            </a:r>
            <a:r>
              <a:rPr sz="1196" b="0">
                <a:solidFill>
                  <a:srgbClr val="00A8FF"/>
                </a:solidFill>
              </a:rPr>
              <a:t>二十余年</a:t>
            </a:r>
            <a:r>
              <a:rPr sz="1196" b="0">
                <a:solidFill>
                  <a:srgbClr val="FFFFFF"/>
                </a:solidFill>
              </a:rPr>
              <a:t>发展，从区域覆盖到全球服务的跨越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6733" y="3046095"/>
            <a:ext cx="228594" cy="1943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38199" y="3028950"/>
            <a:ext cx="495287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 在技术体制、服务模式和应用领域展现出</a:t>
            </a:r>
            <a:r>
              <a:rPr sz="1196" b="0">
                <a:solidFill>
                  <a:srgbClr val="00A8FF"/>
                </a:solidFill>
              </a:rPr>
              <a:t>独特的创新与优势</a:t>
            </a:r>
            <a:r>
              <a:rPr sz="1196" b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66733" y="3530917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38199" y="3505199"/>
            <a:ext cx="6610184" cy="8572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本报告全面剖析北斗系统的发展历程、系统架构、核心功能、关键技术、市场应用，并将其置于全球卫星导航系统（GNSS）的宏观格局中进行对比分析，最后展望其未来发展蓝图与全球化战略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1115397" y="1891862"/>
            <a:ext cx="342891" cy="3310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2105972" y="3225362"/>
            <a:ext cx="342891" cy="3310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1115397" y="4215962"/>
            <a:ext cx="342891" cy="331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781930" y="3225362"/>
            <a:ext cx="342891" cy="3310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24741" y="5029200"/>
            <a:ext cx="914377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2152" b="1">
                <a:solidFill>
                  <a:srgbClr val="00A8FF"/>
                </a:solidFill>
              </a:rPr>
              <a:t>30+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4741" y="5581649"/>
            <a:ext cx="9143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A0D8FF"/>
                </a:solidFill>
              </a:rPr>
              <a:t>在轨卫星数量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1A40"/>
            </a:gs>
            <a:gs pos="100000">
              <a:srgbClr val="003366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5772005" cy="552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北斗的起源与演进："三步走"战略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314450"/>
            <a:ext cx="5333866" cy="2486025"/>
          </a:xfrm>
          <a:prstGeom prst="roundRect">
            <a:avLst>
              <a:gd name="adj" fmla="val 7662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510239" y="2491422"/>
            <a:ext cx="24860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27" y="15430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00099" y="1668117"/>
            <a:ext cx="266693" cy="2261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14437" y="1504950"/>
            <a:ext cx="254311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早期探索与"双星定位"构想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4437" y="1828800"/>
            <a:ext cx="25431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956" b="0">
                <a:solidFill>
                  <a:srgbClr val="A0D8FF"/>
                </a:solidFill>
              </a:rPr>
              <a:t>20世纪80年代-1994年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250972"/>
            <a:ext cx="171445" cy="1272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62020" y="2200275"/>
            <a:ext cx="2124021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0">
                <a:solidFill>
                  <a:srgbClr val="00A8FF"/>
                </a:solidFill>
              </a:rPr>
              <a:t>陈芳允院士</a:t>
            </a:r>
            <a:r>
              <a:rPr sz="956" b="0">
                <a:solidFill>
                  <a:srgbClr val="FFFFFF"/>
                </a:solidFill>
              </a:rPr>
              <a:t>提出"双星定位"设想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2536415"/>
            <a:ext cx="171445" cy="1659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62020" y="2505074"/>
            <a:ext cx="213354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利用</a:t>
            </a:r>
            <a:r>
              <a:rPr sz="956" b="0">
                <a:solidFill>
                  <a:srgbClr val="00A8FF"/>
                </a:solidFill>
              </a:rPr>
              <a:t>最少卫星资源</a:t>
            </a:r>
            <a:r>
              <a:rPr sz="956" b="0">
                <a:solidFill>
                  <a:srgbClr val="FFFFFF"/>
                </a:solidFill>
              </a:rPr>
              <a:t>实现区域覆盖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5327" y="2864566"/>
            <a:ext cx="171445" cy="1382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62020" y="2819399"/>
            <a:ext cx="338129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837" b="0">
                <a:solidFill>
                  <a:srgbClr val="A0D8FF"/>
                </a:solidFill>
              </a:rPr>
              <a:t>1983</a:t>
            </a:r>
            <a:r>
              <a:rPr sz="956" b="0">
                <a:solidFill>
                  <a:srgbClr val="FFFFFF"/>
                </a:solidFill>
              </a:rPr>
              <a:t>提出构想 </a:t>
            </a:r>
            <a:r>
              <a:rPr sz="837" b="0">
                <a:solidFill>
                  <a:srgbClr val="A0D8FF"/>
                </a:solidFill>
              </a:rPr>
              <a:t>1989</a:t>
            </a:r>
            <a:r>
              <a:rPr sz="956" b="0">
                <a:solidFill>
                  <a:srgbClr val="FFFFFF"/>
                </a:solidFill>
              </a:rPr>
              <a:t>功能演示 </a:t>
            </a:r>
            <a:r>
              <a:rPr sz="837" b="0">
                <a:solidFill>
                  <a:srgbClr val="A0D8FF"/>
                </a:solidFill>
              </a:rPr>
              <a:t>1994</a:t>
            </a:r>
            <a:r>
              <a:rPr sz="956" b="0">
                <a:solidFill>
                  <a:srgbClr val="FFFFFF"/>
                </a:solidFill>
              </a:rPr>
              <a:t>立项建设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62020" y="2828925"/>
            <a:ext cx="447663" cy="228600"/>
          </a:xfrm>
          <a:prstGeom prst="roundRect">
            <a:avLst>
              <a:gd name="adj" fmla="val 33333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04992" y="2828925"/>
            <a:ext cx="447663" cy="228600"/>
          </a:xfrm>
          <a:prstGeom prst="roundRect">
            <a:avLst>
              <a:gd name="adj" fmla="val 33333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439" y="2828925"/>
            <a:ext cx="447663" cy="228600"/>
          </a:xfrm>
          <a:prstGeom prst="roundRect">
            <a:avLst>
              <a:gd name="adj" fmla="val 33333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1095" y="1314450"/>
            <a:ext cx="5333866" cy="2486025"/>
          </a:xfrm>
          <a:prstGeom prst="roundRect">
            <a:avLst>
              <a:gd name="adj" fmla="val 7662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014123" y="2491422"/>
            <a:ext cx="24860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19689" y="15430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24461" y="1656521"/>
            <a:ext cx="266693" cy="24930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38799" y="1504950"/>
            <a:ext cx="293362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第一步：北斗一号——试验系统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8799" y="1828800"/>
            <a:ext cx="293362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956" b="0">
                <a:solidFill>
                  <a:srgbClr val="A0D8FF"/>
                </a:solidFill>
              </a:rPr>
              <a:t>1994-2012年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19689" y="2239911"/>
            <a:ext cx="171445" cy="14932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686382" y="2200275"/>
            <a:ext cx="198115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建立区域性</a:t>
            </a:r>
            <a:r>
              <a:rPr sz="956" b="0">
                <a:solidFill>
                  <a:srgbClr val="00A8FF"/>
                </a:solidFill>
              </a:rPr>
              <a:t>有源定位</a:t>
            </a:r>
            <a:r>
              <a:rPr sz="956" b="0">
                <a:solidFill>
                  <a:srgbClr val="FFFFFF"/>
                </a:solidFill>
              </a:rPr>
              <a:t>试验系统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19689" y="2544711"/>
            <a:ext cx="171445" cy="14932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86382" y="2505074"/>
            <a:ext cx="253358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服务范围：东经70°-140°，北纬5°-55°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19689" y="2859036"/>
            <a:ext cx="171445" cy="14932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686382" y="2819399"/>
            <a:ext cx="1828754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独创性集成</a:t>
            </a:r>
            <a:r>
              <a:rPr sz="956" b="0">
                <a:solidFill>
                  <a:srgbClr val="00A8FF"/>
                </a:solidFill>
              </a:rPr>
              <a:t>短报文通信</a:t>
            </a:r>
            <a:r>
              <a:rPr sz="956" b="0">
                <a:solidFill>
                  <a:srgbClr val="FFFFFF"/>
                </a:solidFill>
              </a:rPr>
              <a:t>功能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19689" y="3169366"/>
            <a:ext cx="171445" cy="13826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686382" y="3124200"/>
            <a:ext cx="3009824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837" b="0">
                <a:solidFill>
                  <a:srgbClr val="A0D8FF"/>
                </a:solidFill>
              </a:rPr>
              <a:t>2000</a:t>
            </a:r>
            <a:r>
              <a:rPr sz="956" b="0">
                <a:solidFill>
                  <a:srgbClr val="FFFFFF"/>
                </a:solidFill>
              </a:rPr>
              <a:t>发射两颗GEO卫星 </a:t>
            </a:r>
            <a:r>
              <a:rPr sz="837" b="0">
                <a:solidFill>
                  <a:srgbClr val="A0D8FF"/>
                </a:solidFill>
              </a:rPr>
              <a:t>2003</a:t>
            </a:r>
            <a:r>
              <a:rPr sz="956" b="0">
                <a:solidFill>
                  <a:srgbClr val="FFFFFF"/>
                </a:solidFill>
              </a:rPr>
              <a:t>发射备份星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86382" y="3133724"/>
            <a:ext cx="447663" cy="228600"/>
          </a:xfrm>
          <a:prstGeom prst="roundRect">
            <a:avLst>
              <a:gd name="adj" fmla="val 33333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38939" y="3133724"/>
            <a:ext cx="447663" cy="228600"/>
          </a:xfrm>
          <a:prstGeom prst="roundRect">
            <a:avLst>
              <a:gd name="adj" fmla="val 33333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6733" y="3990974"/>
            <a:ext cx="5333866" cy="2486025"/>
          </a:xfrm>
          <a:prstGeom prst="roundRect">
            <a:avLst>
              <a:gd name="adj" fmla="val 7662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-510239" y="5167946"/>
            <a:ext cx="24860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5327" y="42195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000099" y="4333046"/>
            <a:ext cx="266693" cy="24930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514437" y="4181474"/>
            <a:ext cx="335271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第二步：北斗二号——区域导航系统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14437" y="4505325"/>
            <a:ext cx="335271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956" b="0">
                <a:solidFill>
                  <a:srgbClr val="A0D8FF"/>
                </a:solidFill>
              </a:rPr>
              <a:t>2004-2012年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5327" y="4916436"/>
            <a:ext cx="171445" cy="14932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62020" y="4876800"/>
            <a:ext cx="198115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建成</a:t>
            </a:r>
            <a:r>
              <a:rPr sz="956" b="0">
                <a:solidFill>
                  <a:srgbClr val="00A8FF"/>
                </a:solidFill>
              </a:rPr>
              <a:t>无源定位</a:t>
            </a:r>
            <a:r>
              <a:rPr sz="956" b="0">
                <a:solidFill>
                  <a:srgbClr val="FFFFFF"/>
                </a:solidFill>
              </a:rPr>
              <a:t>的区域导航系统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5212940"/>
            <a:ext cx="171445" cy="16591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162020" y="5181599"/>
            <a:ext cx="370513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由</a:t>
            </a:r>
            <a:r>
              <a:rPr sz="956" b="0">
                <a:solidFill>
                  <a:srgbClr val="00A8FF"/>
                </a:solidFill>
              </a:rPr>
              <a:t>14颗卫星</a:t>
            </a:r>
            <a:r>
              <a:rPr sz="956" b="0">
                <a:solidFill>
                  <a:srgbClr val="FFFFFF"/>
                </a:solidFill>
              </a:rPr>
              <a:t>组成星座（5颗GEO、5颗IGSO、4颗MEO） 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95327" y="5560449"/>
            <a:ext cx="171445" cy="9955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62020" y="5495924"/>
            <a:ext cx="228594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定位精度、用户容量实现质的飞跃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5327" y="5845891"/>
            <a:ext cx="171445" cy="13826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162020" y="5800725"/>
            <a:ext cx="247643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837" b="0">
                <a:solidFill>
                  <a:srgbClr val="A0D8FF"/>
                </a:solidFill>
              </a:rPr>
              <a:t>2007</a:t>
            </a:r>
            <a:r>
              <a:rPr sz="956" b="0">
                <a:solidFill>
                  <a:srgbClr val="FFFFFF"/>
                </a:solidFill>
              </a:rPr>
              <a:t>赢得与伽利略系统的频率之争 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62020" y="5810249"/>
            <a:ext cx="447663" cy="228600"/>
          </a:xfrm>
          <a:prstGeom prst="roundRect">
            <a:avLst>
              <a:gd name="adj" fmla="val 33333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91095" y="3990974"/>
            <a:ext cx="5333866" cy="2486025"/>
          </a:xfrm>
          <a:prstGeom prst="roundRect">
            <a:avLst>
              <a:gd name="adj" fmla="val 7662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5014123" y="5167946"/>
            <a:ext cx="24860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419689" y="42195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524461" y="4333046"/>
            <a:ext cx="266693" cy="24930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038799" y="4181474"/>
            <a:ext cx="293362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第三步：北斗三号——全球系统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38799" y="4505325"/>
            <a:ext cx="293362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956" b="0">
                <a:solidFill>
                  <a:srgbClr val="A0D8FF"/>
                </a:solidFill>
              </a:rPr>
              <a:t>2009-2020年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19689" y="4916436"/>
            <a:ext cx="171445" cy="14932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686382" y="4876800"/>
            <a:ext cx="228594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建成</a:t>
            </a:r>
            <a:r>
              <a:rPr sz="956" b="0">
                <a:solidFill>
                  <a:srgbClr val="00A8FF"/>
                </a:solidFill>
              </a:rPr>
              <a:t>世界一流</a:t>
            </a:r>
            <a:r>
              <a:rPr sz="956" b="0">
                <a:solidFill>
                  <a:srgbClr val="FFFFFF"/>
                </a:solidFill>
              </a:rPr>
              <a:t>的全球卫星导航系统 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19689" y="5212940"/>
            <a:ext cx="171445" cy="16591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686382" y="5181599"/>
            <a:ext cx="348606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由</a:t>
            </a:r>
            <a:r>
              <a:rPr sz="956" b="0">
                <a:solidFill>
                  <a:srgbClr val="00A8FF"/>
                </a:solidFill>
              </a:rPr>
              <a:t>30颗卫星</a:t>
            </a:r>
            <a:r>
              <a:rPr sz="956" b="0">
                <a:solidFill>
                  <a:srgbClr val="FFFFFF"/>
                </a:solidFill>
              </a:rPr>
              <a:t>组成（24颗MEO、3颗GEO、3颗IGSO） 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419689" y="5538326"/>
            <a:ext cx="171445" cy="143796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686382" y="5495924"/>
            <a:ext cx="320031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独创</a:t>
            </a:r>
            <a:r>
              <a:rPr sz="956" b="0">
                <a:solidFill>
                  <a:srgbClr val="00A8FF"/>
                </a:solidFill>
              </a:rPr>
              <a:t>混合星座</a:t>
            </a:r>
            <a:r>
              <a:rPr sz="956" b="0">
                <a:solidFill>
                  <a:srgbClr val="FFFFFF"/>
                </a:solidFill>
              </a:rPr>
              <a:t>设计，全球首个采用三种轨道类型 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19689" y="5845891"/>
            <a:ext cx="171445" cy="13826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686382" y="5800725"/>
            <a:ext cx="344796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837" b="0">
                <a:solidFill>
                  <a:srgbClr val="A0D8FF"/>
                </a:solidFill>
              </a:rPr>
              <a:t>2020.6.23</a:t>
            </a:r>
            <a:r>
              <a:rPr sz="956" b="0">
                <a:solidFill>
                  <a:srgbClr val="FFFFFF"/>
                </a:solidFill>
              </a:rPr>
              <a:t>最后一颗卫星发射 </a:t>
            </a:r>
            <a:r>
              <a:rPr sz="837" b="0">
                <a:solidFill>
                  <a:srgbClr val="A0D8FF"/>
                </a:solidFill>
              </a:rPr>
              <a:t>2020.7.31</a:t>
            </a:r>
            <a:r>
              <a:rPr sz="956" b="0">
                <a:solidFill>
                  <a:srgbClr val="FFFFFF"/>
                </a:solidFill>
              </a:rPr>
              <a:t>正式开通 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686382" y="5810249"/>
            <a:ext cx="742931" cy="228600"/>
          </a:xfrm>
          <a:prstGeom prst="roundRect">
            <a:avLst>
              <a:gd name="adj" fmla="val 33333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734206" y="5810249"/>
            <a:ext cx="742931" cy="228600"/>
          </a:xfrm>
          <a:prstGeom prst="roundRect">
            <a:avLst>
              <a:gd name="adj" fmla="val 33333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1A40"/>
            </a:gs>
            <a:gs pos="100000">
              <a:srgbClr val="003366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8000799" cy="552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北斗系统的体系架构：天、地、用户的协同设计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314450"/>
            <a:ext cx="3495587" cy="5162550"/>
          </a:xfrm>
          <a:prstGeom prst="roundRect">
            <a:avLst>
              <a:gd name="adj" fmla="val 5449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3019349" y="5354251"/>
            <a:ext cx="1333466" cy="129299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7228" y="15430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62000" y="1668117"/>
            <a:ext cx="266693" cy="2261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76338" y="1504950"/>
            <a:ext cx="137156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空间段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6338" y="1828800"/>
            <a:ext cx="13715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956" b="0">
                <a:solidFill>
                  <a:srgbClr val="A0D8FF"/>
                </a:solidFill>
              </a:rPr>
              <a:t>独树一帜的混合星座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7228" y="2239911"/>
            <a:ext cx="171445" cy="1493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3921" y="2200275"/>
            <a:ext cx="2847903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由</a:t>
            </a:r>
            <a:r>
              <a:rPr sz="956" b="0">
                <a:solidFill>
                  <a:srgbClr val="00A8FF"/>
                </a:solidFill>
              </a:rPr>
              <a:t>30颗卫星</a:t>
            </a:r>
            <a:r>
              <a:rPr sz="956" b="0">
                <a:solidFill>
                  <a:srgbClr val="FFFFFF"/>
                </a:solidFill>
              </a:rPr>
              <a:t>组成，实现"全球覆盖+区域强化"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200119" y="2769804"/>
            <a:ext cx="342891" cy="2896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7228" y="3133724"/>
            <a:ext cx="10381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MEO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28" y="3324225"/>
            <a:ext cx="1038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24颗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2238319" y="2769804"/>
            <a:ext cx="342891" cy="2896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95427" y="3133724"/>
            <a:ext cx="10381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GEO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5427" y="3324225"/>
            <a:ext cx="1038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3颗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276518" y="2769804"/>
            <a:ext cx="342891" cy="28969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933626" y="3133724"/>
            <a:ext cx="10381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IGSO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3626" y="3324225"/>
            <a:ext cx="1038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3颗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57228" y="3592461"/>
            <a:ext cx="171445" cy="14932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23921" y="3552825"/>
            <a:ext cx="237166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全球首个采用</a:t>
            </a:r>
            <a:r>
              <a:rPr sz="956" b="0">
                <a:solidFill>
                  <a:srgbClr val="00A8FF"/>
                </a:solidFill>
              </a:rPr>
              <a:t>混合星座</a:t>
            </a:r>
            <a:r>
              <a:rPr sz="956" b="0">
                <a:solidFill>
                  <a:srgbClr val="FFFFFF"/>
                </a:solidFill>
              </a:rPr>
              <a:t>设计的GNSS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57228" y="3941199"/>
            <a:ext cx="171445" cy="9955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23921" y="3876674"/>
            <a:ext cx="243833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提升亚太地区</a:t>
            </a:r>
            <a:r>
              <a:rPr sz="956" b="0">
                <a:solidFill>
                  <a:srgbClr val="00A8FF"/>
                </a:solidFill>
              </a:rPr>
              <a:t>抗遮挡能力</a:t>
            </a:r>
            <a:r>
              <a:rPr sz="956" b="0">
                <a:solidFill>
                  <a:srgbClr val="FFFFFF"/>
                </a:solidFill>
              </a:rPr>
              <a:t>和定位精度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52816" y="1314450"/>
            <a:ext cx="3495587" cy="5162550"/>
          </a:xfrm>
          <a:prstGeom prst="roundRect">
            <a:avLst>
              <a:gd name="adj" fmla="val 5449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695907" y="5394755"/>
            <a:ext cx="1333466" cy="1211989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4543311" y="15430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648083" y="1652173"/>
            <a:ext cx="266693" cy="25800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162420" y="1504950"/>
            <a:ext cx="106677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地面段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2420" y="1828800"/>
            <a:ext cx="106677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956" b="0">
                <a:solidFill>
                  <a:srgbClr val="A0D8FF"/>
                </a:solidFill>
              </a:rPr>
              <a:t>系统的智慧中枢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543311" y="2239911"/>
            <a:ext cx="171445" cy="14932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810004" y="2200275"/>
            <a:ext cx="2847903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负责维持星座</a:t>
            </a:r>
            <a:r>
              <a:rPr sz="956" b="0">
                <a:solidFill>
                  <a:srgbClr val="00A8FF"/>
                </a:solidFill>
              </a:rPr>
              <a:t>正常运行</a:t>
            </a:r>
            <a:r>
              <a:rPr sz="956" b="0">
                <a:solidFill>
                  <a:srgbClr val="FFFFFF"/>
                </a:solidFill>
              </a:rPr>
              <a:t>和导航信号精确无误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43311" y="2743200"/>
            <a:ext cx="1504912" cy="361950"/>
          </a:xfrm>
          <a:prstGeom prst="roundRect">
            <a:avLst>
              <a:gd name="adj" fmla="val 31578"/>
            </a:avLst>
          </a:prstGeom>
          <a:solidFill>
            <a:srgbClr val="00A8FF">
              <a:alpha val="10000"/>
            </a:srgbClr>
          </a:solidFill>
          <a:ln w="8255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7133" y="2828925"/>
            <a:ext cx="12572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主控站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3471" y="2743200"/>
            <a:ext cx="1504912" cy="361950"/>
          </a:xfrm>
          <a:prstGeom prst="roundRect">
            <a:avLst>
              <a:gd name="adj" fmla="val 31578"/>
            </a:avLst>
          </a:prstGeom>
          <a:solidFill>
            <a:srgbClr val="00A8FF">
              <a:alpha val="10000"/>
            </a:srgbClr>
          </a:solidFill>
          <a:ln w="8255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7293" y="2828925"/>
            <a:ext cx="12572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时间同步/注入站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43311" y="3200400"/>
            <a:ext cx="1504912" cy="361950"/>
          </a:xfrm>
          <a:prstGeom prst="roundRect">
            <a:avLst>
              <a:gd name="adj" fmla="val 31578"/>
            </a:avLst>
          </a:prstGeom>
          <a:solidFill>
            <a:srgbClr val="00A8FF">
              <a:alpha val="10000"/>
            </a:srgbClr>
          </a:solidFill>
          <a:ln w="8255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7133" y="3286125"/>
            <a:ext cx="12572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监测站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3471" y="3200400"/>
            <a:ext cx="1504912" cy="361950"/>
          </a:xfrm>
          <a:prstGeom prst="roundRect">
            <a:avLst>
              <a:gd name="adj" fmla="val 31578"/>
            </a:avLst>
          </a:prstGeom>
          <a:solidFill>
            <a:srgbClr val="00A8FF">
              <a:alpha val="10000"/>
            </a:srgbClr>
          </a:solidFill>
          <a:ln w="8255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7293" y="3286125"/>
            <a:ext cx="12572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星间链路管理设施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543311" y="3632404"/>
            <a:ext cx="171445" cy="8849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810004" y="3562349"/>
            <a:ext cx="213354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0">
                <a:solidFill>
                  <a:srgbClr val="00A8FF"/>
                </a:solidFill>
              </a:rPr>
              <a:t>星间链路</a:t>
            </a:r>
            <a:r>
              <a:rPr sz="956" b="0">
                <a:solidFill>
                  <a:srgbClr val="FFFFFF"/>
                </a:solidFill>
              </a:rPr>
              <a:t>技术实现星座自主运行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4543311" y="3920305"/>
            <a:ext cx="171445" cy="16038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810004" y="3886200"/>
            <a:ext cx="213354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摆脱对</a:t>
            </a:r>
            <a:r>
              <a:rPr sz="956" b="0">
                <a:solidFill>
                  <a:srgbClr val="00A8FF"/>
                </a:solidFill>
              </a:rPr>
              <a:t>全球地面站</a:t>
            </a:r>
            <a:r>
              <a:rPr sz="956" b="0">
                <a:solidFill>
                  <a:srgbClr val="FFFFFF"/>
                </a:solidFill>
              </a:rPr>
              <a:t>网络的强依赖 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29374" y="1314450"/>
            <a:ext cx="3495587" cy="5162550"/>
          </a:xfrm>
          <a:prstGeom prst="roundRect">
            <a:avLst>
              <a:gd name="adj" fmla="val 5449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10381990" y="5536517"/>
            <a:ext cx="1333466" cy="928464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8219869" y="15430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324641" y="1697106"/>
            <a:ext cx="266693" cy="16813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838979" y="1504950"/>
            <a:ext cx="152396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用户段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38979" y="1828800"/>
            <a:ext cx="15239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956" b="0">
                <a:solidFill>
                  <a:srgbClr val="A0D8FF"/>
                </a:solidFill>
              </a:rPr>
              <a:t>从核心芯片到万千应用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8219869" y="2245441"/>
            <a:ext cx="171445" cy="13826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486562" y="2200275"/>
            <a:ext cx="2743131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涵盖所有接收和处理北斗信号的</a:t>
            </a:r>
            <a:r>
              <a:rPr sz="956" b="0">
                <a:solidFill>
                  <a:srgbClr val="00A8FF"/>
                </a:solidFill>
              </a:rPr>
              <a:t>终端设备</a:t>
            </a:r>
            <a:r>
              <a:rPr sz="956" b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19869" y="2524125"/>
            <a:ext cx="3114597" cy="847724"/>
          </a:xfrm>
          <a:prstGeom prst="roundRect">
            <a:avLst>
              <a:gd name="adj" fmla="val 13483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8315117" y="2664541"/>
            <a:ext cx="171445" cy="13826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562760" y="2619374"/>
            <a:ext cx="12191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上游（基础产品）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15117" y="2895600"/>
            <a:ext cx="2924101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射频/基带一体化芯片、高精度板卡、天线模块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19869" y="3467100"/>
            <a:ext cx="3114597" cy="657225"/>
          </a:xfrm>
          <a:prstGeom prst="roundRect">
            <a:avLst>
              <a:gd name="adj" fmla="val 17391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8315117" y="3613047"/>
            <a:ext cx="171445" cy="12720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562760" y="3562349"/>
            <a:ext cx="12191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中游（终端产品）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15117" y="3838574"/>
            <a:ext cx="29241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车载导航仪、测量型接收机、智能手机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19869" y="4219575"/>
            <a:ext cx="3114597" cy="657225"/>
          </a:xfrm>
          <a:prstGeom prst="roundRect">
            <a:avLst>
              <a:gd name="adj" fmla="val 17391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8315117" y="4365522"/>
            <a:ext cx="171445" cy="127204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562760" y="4314825"/>
            <a:ext cx="12191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下游（运营服务）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15117" y="4591050"/>
            <a:ext cx="29241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物流监控平台、精准农业管理系统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1A40"/>
            </a:gs>
            <a:gs pos="100000">
              <a:srgbClr val="003366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7638859" cy="552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核心能力与服务组合：从基础PNT到特色功能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314450"/>
            <a:ext cx="5333866" cy="866775"/>
          </a:xfrm>
          <a:prstGeom prst="roundRect">
            <a:avLst>
              <a:gd name="adj" fmla="val 21978"/>
            </a:avLst>
          </a:prstGeom>
          <a:solidFill>
            <a:srgbClr val="00326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9604" y="15049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14377" y="1639542"/>
            <a:ext cx="266693" cy="2261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8714" y="1457325"/>
            <a:ext cx="2133546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全球服务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14" y="1809749"/>
            <a:ext cx="21335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956" b="0">
                <a:solidFill>
                  <a:srgbClr val="A0D8FF"/>
                </a:solidFill>
              </a:rPr>
              <a:t>覆盖全球范围的导航与通信功能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2324100"/>
            <a:ext cx="2600259" cy="2105024"/>
          </a:xfrm>
          <a:prstGeom prst="roundRect">
            <a:avLst>
              <a:gd name="adj" fmla="val 9049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319739" y="3310572"/>
            <a:ext cx="2105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47703" y="2493645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71545" y="2466975"/>
            <a:ext cx="1790655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定位、导航与授时</a:t>
            </a:r>
            <a:r>
              <a:rPr sz="837" b="1">
                <a:solidFill>
                  <a:srgbClr val="A0D8FF"/>
                </a:solidFill>
              </a:rPr>
              <a:t>(PNT)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03" y="2809875"/>
            <a:ext cx="2276418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FFFFFF"/>
                </a:solidFill>
              </a:rPr>
              <a:t>北斗系统最基础的核心服务，向全球用户免费开放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7703" y="3333749"/>
            <a:ext cx="1019149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703" y="3333749"/>
            <a:ext cx="10191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水平精度 </a:t>
            </a:r>
            <a:r>
              <a:rPr sz="837" b="0">
                <a:solidFill>
                  <a:srgbClr val="00A8FF"/>
                </a:solidFill>
              </a:rPr>
              <a:t>&lt; 9m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43051" y="3333749"/>
            <a:ext cx="1095347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43051" y="3333749"/>
            <a:ext cx="10953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垂直精度 </a:t>
            </a:r>
            <a:r>
              <a:rPr sz="837" b="0">
                <a:solidFill>
                  <a:srgbClr val="00A8FF"/>
                </a:solidFill>
              </a:rPr>
              <a:t>&lt; 10m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7703" y="3676649"/>
            <a:ext cx="1257268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703" y="3676649"/>
            <a:ext cx="12572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测速精度 </a:t>
            </a:r>
            <a:r>
              <a:rPr sz="837" b="0">
                <a:solidFill>
                  <a:srgbClr val="00A8FF"/>
                </a:solidFill>
              </a:rPr>
              <a:t>&lt; 0.2m/s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7703" y="4019549"/>
            <a:ext cx="1123921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703" y="4019549"/>
            <a:ext cx="11239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授时精度 </a:t>
            </a:r>
            <a:r>
              <a:rPr sz="837" b="0">
                <a:solidFill>
                  <a:srgbClr val="00A8FF"/>
                </a:solidFill>
              </a:rPr>
              <a:t>&lt; 20ns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9864" y="2324100"/>
            <a:ext cx="2600259" cy="2105024"/>
          </a:xfrm>
          <a:prstGeom prst="roundRect">
            <a:avLst>
              <a:gd name="adj" fmla="val 9049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2423392" y="3310572"/>
            <a:ext cx="2105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581310" y="2493645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905152" y="2466975"/>
            <a:ext cx="172398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全球短报文通信</a:t>
            </a:r>
            <a:r>
              <a:rPr sz="837" b="1">
                <a:solidFill>
                  <a:srgbClr val="A0D8FF"/>
                </a:solidFill>
              </a:rPr>
              <a:t>(GSMC)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1310" y="2809875"/>
            <a:ext cx="2276418" cy="7715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FFFFFF"/>
                </a:solidFill>
              </a:rPr>
              <a:t>北斗成为全球首个具备双向通信能力的GNSS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81310" y="3676649"/>
            <a:ext cx="1295367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81310" y="3676649"/>
            <a:ext cx="129536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支持卫星 </a:t>
            </a:r>
            <a:r>
              <a:rPr sz="837" b="0">
                <a:solidFill>
                  <a:srgbClr val="00A8FF"/>
                </a:solidFill>
              </a:rPr>
              <a:t>14颗MEO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81310" y="4019549"/>
            <a:ext cx="1209644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81310" y="4019549"/>
            <a:ext cx="12096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信息长度 </a:t>
            </a:r>
            <a:r>
              <a:rPr sz="837" b="0">
                <a:solidFill>
                  <a:srgbClr val="00A8FF"/>
                </a:solidFill>
              </a:rPr>
              <a:t>560比特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76678" y="4019549"/>
            <a:ext cx="866753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76678" y="4019549"/>
            <a:ext cx="8667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约 </a:t>
            </a:r>
            <a:r>
              <a:rPr sz="837" b="0">
                <a:solidFill>
                  <a:srgbClr val="00A8FF"/>
                </a:solidFill>
              </a:rPr>
              <a:t>40个汉字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6733" y="4572000"/>
            <a:ext cx="2600259" cy="2105024"/>
          </a:xfrm>
          <a:prstGeom prst="roundRect">
            <a:avLst>
              <a:gd name="adj" fmla="val 9049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-319739" y="5558472"/>
            <a:ext cx="2105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47703" y="4750117"/>
            <a:ext cx="228594" cy="17716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71545" y="4714875"/>
            <a:ext cx="109534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国际搜救</a:t>
            </a:r>
            <a:r>
              <a:rPr sz="837" b="1">
                <a:solidFill>
                  <a:srgbClr val="A0D8FF"/>
                </a:solidFill>
              </a:rPr>
              <a:t>(SAR)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703" y="5057775"/>
            <a:ext cx="2276418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FFFFFF"/>
                </a:solidFill>
              </a:rPr>
              <a:t>加入国际"Cospas-Sarsat"卫星搜救组织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7703" y="5581649"/>
            <a:ext cx="1219169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7703" y="5581649"/>
            <a:ext cx="121916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支持卫星 </a:t>
            </a:r>
            <a:r>
              <a:rPr sz="837" b="0">
                <a:solidFill>
                  <a:srgbClr val="00A8FF"/>
                </a:solidFill>
              </a:rPr>
              <a:t>6颗MEO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7703" y="5924549"/>
            <a:ext cx="1247743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7703" y="5924549"/>
            <a:ext cx="12477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返向链路 </a:t>
            </a:r>
            <a:r>
              <a:rPr sz="837" b="0">
                <a:solidFill>
                  <a:srgbClr val="00A8FF"/>
                </a:solidFill>
              </a:rPr>
              <a:t>确认功能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7703" y="6267449"/>
            <a:ext cx="1219169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7703" y="6267449"/>
            <a:ext cx="121916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缓解遇险人员焦虑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91095" y="1314450"/>
            <a:ext cx="5333866" cy="866775"/>
          </a:xfrm>
          <a:prstGeom prst="roundRect">
            <a:avLst>
              <a:gd name="adj" fmla="val 21978"/>
            </a:avLst>
          </a:prstGeom>
          <a:solidFill>
            <a:srgbClr val="00326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333966" y="15049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38739" y="1643890"/>
            <a:ext cx="266693" cy="21741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953076" y="1457325"/>
            <a:ext cx="1981150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区域服务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53076" y="1809749"/>
            <a:ext cx="198115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956" b="0">
                <a:solidFill>
                  <a:srgbClr val="A0D8FF"/>
                </a:solidFill>
              </a:rPr>
              <a:t>主要面向亚太地区的特色功能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91095" y="2324100"/>
            <a:ext cx="2600259" cy="2105024"/>
          </a:xfrm>
          <a:prstGeom prst="roundRect">
            <a:avLst>
              <a:gd name="adj" fmla="val 9049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5204623" y="3310572"/>
            <a:ext cx="2105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372065" y="2493645"/>
            <a:ext cx="228594" cy="19430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695907" y="2466975"/>
            <a:ext cx="172398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区域短报文通信</a:t>
            </a:r>
            <a:r>
              <a:rPr sz="837" b="1">
                <a:solidFill>
                  <a:srgbClr val="A0D8FF"/>
                </a:solidFill>
              </a:rPr>
              <a:t>(RSMC)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72065" y="2809875"/>
            <a:ext cx="2276418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FFFFFF"/>
                </a:solidFill>
              </a:rPr>
              <a:t>GSMC服务在亚太地区的高级版本，为授权用户提供服务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72065" y="3333749"/>
            <a:ext cx="1200119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72065" y="3333749"/>
            <a:ext cx="12001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支持卫星 </a:t>
            </a:r>
            <a:r>
              <a:rPr sz="837" b="0">
                <a:solidFill>
                  <a:srgbClr val="00A8FF"/>
                </a:solidFill>
              </a:rPr>
              <a:t>3颗GEO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72065" y="3676649"/>
            <a:ext cx="1362040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72065" y="3676649"/>
            <a:ext cx="13620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信息长度 </a:t>
            </a:r>
            <a:r>
              <a:rPr sz="837" b="0">
                <a:solidFill>
                  <a:srgbClr val="00A8FF"/>
                </a:solidFill>
              </a:rPr>
              <a:t>14000比特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72065" y="4019549"/>
            <a:ext cx="1019149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72065" y="4019549"/>
            <a:ext cx="10191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约 </a:t>
            </a:r>
            <a:r>
              <a:rPr sz="837" b="0">
                <a:solidFill>
                  <a:srgbClr val="00A8FF"/>
                </a:solidFill>
              </a:rPr>
              <a:t>1000个汉字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467413" y="4019549"/>
            <a:ext cx="1009624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67413" y="4019549"/>
            <a:ext cx="100962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支持语音/图像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34226" y="2324100"/>
            <a:ext cx="2600259" cy="2105024"/>
          </a:xfrm>
          <a:prstGeom prst="roundRect">
            <a:avLst>
              <a:gd name="adj" fmla="val 9049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 Same Side Corner Rectangle 61"/>
          <p:cNvSpPr/>
          <p:nvPr/>
        </p:nvSpPr>
        <p:spPr>
          <a:xfrm rot="16200000">
            <a:off x="7947754" y="3310572"/>
            <a:ext cx="2105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105672" y="2493645"/>
            <a:ext cx="228594" cy="194309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9429514" y="2466975"/>
            <a:ext cx="15239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星基增强服务</a:t>
            </a:r>
            <a:r>
              <a:rPr sz="837" b="1">
                <a:solidFill>
                  <a:srgbClr val="A0D8FF"/>
                </a:solidFill>
              </a:rPr>
              <a:t>(SBAS)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05672" y="2809875"/>
            <a:ext cx="2276418" cy="7715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FFFFFF"/>
                </a:solidFill>
              </a:rPr>
              <a:t>通过GEO卫星播发差分修正和完好性信息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105672" y="3676649"/>
            <a:ext cx="1200119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05672" y="3676649"/>
            <a:ext cx="12001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支持卫星 </a:t>
            </a:r>
            <a:r>
              <a:rPr sz="837" b="0">
                <a:solidFill>
                  <a:srgbClr val="00A8FF"/>
                </a:solidFill>
              </a:rPr>
              <a:t>3颗GEO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105672" y="4019549"/>
            <a:ext cx="1057248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05672" y="4019549"/>
            <a:ext cx="105724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满足 </a:t>
            </a:r>
            <a:r>
              <a:rPr sz="837" b="0">
                <a:solidFill>
                  <a:srgbClr val="00A8FF"/>
                </a:solidFill>
              </a:rPr>
              <a:t>ICAO</a:t>
            </a:r>
            <a:r>
              <a:rPr sz="837" b="0">
                <a:solidFill>
                  <a:srgbClr val="A0D8FF"/>
                </a:solidFill>
              </a:rPr>
              <a:t> 标准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239119" y="4019549"/>
            <a:ext cx="981050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239119" y="4019549"/>
            <a:ext cx="98105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支持 </a:t>
            </a:r>
            <a:r>
              <a:rPr sz="837" b="0">
                <a:solidFill>
                  <a:srgbClr val="00A8FF"/>
                </a:solidFill>
              </a:rPr>
              <a:t>精密进近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91095" y="4572000"/>
            <a:ext cx="2600259" cy="2105024"/>
          </a:xfrm>
          <a:prstGeom prst="roundRect">
            <a:avLst>
              <a:gd name="adj" fmla="val 9049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 Same Side Corner Rectangle 72"/>
          <p:cNvSpPr/>
          <p:nvPr/>
        </p:nvSpPr>
        <p:spPr>
          <a:xfrm rot="16200000">
            <a:off x="5204623" y="5558472"/>
            <a:ext cx="2105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72065" y="4730115"/>
            <a:ext cx="228594" cy="21717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695907" y="4714875"/>
            <a:ext cx="144776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精密单点定位</a:t>
            </a:r>
            <a:r>
              <a:rPr sz="837" b="1">
                <a:solidFill>
                  <a:srgbClr val="A0D8FF"/>
                </a:solidFill>
              </a:rPr>
              <a:t>(PPP)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72065" y="5057775"/>
            <a:ext cx="2276418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FFFFFF"/>
                </a:solidFill>
              </a:rPr>
              <a:t>向区域内用户免费播发高精度卫星轨道和钟差改正数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372065" y="5581649"/>
            <a:ext cx="1200119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2065" y="5581649"/>
            <a:ext cx="12001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支持卫星 </a:t>
            </a:r>
            <a:r>
              <a:rPr sz="837" b="0">
                <a:solidFill>
                  <a:srgbClr val="00A8FF"/>
                </a:solidFill>
              </a:rPr>
              <a:t>3颗GEO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372065" y="5924549"/>
            <a:ext cx="1171545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72065" y="5924549"/>
            <a:ext cx="11715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水平精度 </a:t>
            </a:r>
            <a:r>
              <a:rPr sz="837" b="0">
                <a:solidFill>
                  <a:srgbClr val="00A8FF"/>
                </a:solidFill>
              </a:rPr>
              <a:t>&lt; 30cm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372065" y="6267449"/>
            <a:ext cx="1171545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72065" y="6267449"/>
            <a:ext cx="11715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垂直精度 </a:t>
            </a:r>
            <a:r>
              <a:rPr sz="837" b="0">
                <a:solidFill>
                  <a:srgbClr val="00A8FF"/>
                </a:solidFill>
              </a:rPr>
              <a:t>&lt; 60cm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934226" y="4572000"/>
            <a:ext cx="2600259" cy="2105024"/>
          </a:xfrm>
          <a:prstGeom prst="roundRect">
            <a:avLst>
              <a:gd name="adj" fmla="val 9049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 Same Side Corner Rectangle 83"/>
          <p:cNvSpPr/>
          <p:nvPr/>
        </p:nvSpPr>
        <p:spPr>
          <a:xfrm rot="16200000">
            <a:off x="7947754" y="5558472"/>
            <a:ext cx="2105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9105672" y="4775835"/>
            <a:ext cx="228594" cy="125729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9429514" y="4714875"/>
            <a:ext cx="1533486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地基增强服务</a:t>
            </a:r>
            <a:r>
              <a:rPr sz="837" b="1">
                <a:solidFill>
                  <a:srgbClr val="A0D8FF"/>
                </a:solidFill>
              </a:rPr>
              <a:t>(GBAS)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05672" y="5057775"/>
            <a:ext cx="2276418" cy="7715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FFFFFF"/>
                </a:solidFill>
              </a:rPr>
              <a:t>通过在中国境内建设的密集、连续运行的基准站网络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105672" y="5924549"/>
            <a:ext cx="847703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105672" y="5924549"/>
            <a:ext cx="8477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实时 </a:t>
            </a:r>
            <a:r>
              <a:rPr sz="837" b="0">
                <a:solidFill>
                  <a:srgbClr val="00A8FF"/>
                </a:solidFill>
              </a:rPr>
              <a:t>厘米级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039099" y="5924549"/>
            <a:ext cx="1114397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039099" y="5924549"/>
            <a:ext cx="11143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事后处理 </a:t>
            </a:r>
            <a:r>
              <a:rPr sz="837" b="0">
                <a:solidFill>
                  <a:srgbClr val="00A8FF"/>
                </a:solidFill>
              </a:rPr>
              <a:t>毫米级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105672" y="6267449"/>
            <a:ext cx="1304892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105672" y="6267449"/>
            <a:ext cx="13048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0D8FF"/>
                </a:solidFill>
              </a:rPr>
              <a:t>应用 </a:t>
            </a:r>
            <a:r>
              <a:rPr sz="837" b="0">
                <a:solidFill>
                  <a:srgbClr val="00A8FF"/>
                </a:solidFill>
              </a:rPr>
              <a:t>测绘/自动驾驶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1A40"/>
            </a:gs>
            <a:gs pos="100000">
              <a:srgbClr val="003366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3809904" cy="552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技术创新与核心竞争力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314450"/>
            <a:ext cx="5333866" cy="2486025"/>
          </a:xfrm>
          <a:prstGeom prst="roundRect">
            <a:avLst>
              <a:gd name="adj" fmla="val 7662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510239" y="2491422"/>
            <a:ext cx="24860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857628" y="2677726"/>
            <a:ext cx="1333466" cy="12929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95327" y="15049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0099" y="1614073"/>
            <a:ext cx="266693" cy="2580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14437" y="1590675"/>
            <a:ext cx="188590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混合星座与星间链路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2163711"/>
            <a:ext cx="171445" cy="1493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62020" y="2124075"/>
            <a:ext cx="297172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0">
                <a:solidFill>
                  <a:srgbClr val="00A8FF"/>
                </a:solidFill>
              </a:rPr>
              <a:t>混合星座</a:t>
            </a:r>
            <a:r>
              <a:rPr sz="956" b="0">
                <a:solidFill>
                  <a:srgbClr val="FFFFFF"/>
                </a:solidFill>
              </a:rPr>
              <a:t>：MEO、GEO、IGSO卫星协同工作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5327" y="2487561"/>
            <a:ext cx="171445" cy="14932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62020" y="2447924"/>
            <a:ext cx="237166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实现</a:t>
            </a:r>
            <a:r>
              <a:rPr sz="956" b="0">
                <a:solidFill>
                  <a:srgbClr val="00A8FF"/>
                </a:solidFill>
              </a:rPr>
              <a:t>全球覆盖+区域强化</a:t>
            </a:r>
            <a:r>
              <a:rPr sz="956" b="0">
                <a:solidFill>
                  <a:srgbClr val="FFFFFF"/>
                </a:solidFill>
              </a:rPr>
              <a:t>的完美结合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5327" y="2851354"/>
            <a:ext cx="171445" cy="8849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62020" y="2781300"/>
            <a:ext cx="213354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0">
                <a:solidFill>
                  <a:srgbClr val="00A8FF"/>
                </a:solidFill>
              </a:rPr>
              <a:t>星间链路</a:t>
            </a:r>
            <a:r>
              <a:rPr sz="956" b="0">
                <a:solidFill>
                  <a:srgbClr val="FFFFFF"/>
                </a:solidFill>
              </a:rPr>
              <a:t>：建立卫星间直接联系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5327" y="3139255"/>
            <a:ext cx="171445" cy="1603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62020" y="3105149"/>
            <a:ext cx="289552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实现星座</a:t>
            </a:r>
            <a:r>
              <a:rPr sz="956" b="0">
                <a:solidFill>
                  <a:srgbClr val="00A8FF"/>
                </a:solidFill>
              </a:rPr>
              <a:t>自主运行</a:t>
            </a:r>
            <a:r>
              <a:rPr sz="956" b="0">
                <a:solidFill>
                  <a:srgbClr val="FFFFFF"/>
                </a:solidFill>
              </a:rPr>
              <a:t>，降低对全球地面站依赖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1095" y="1314450"/>
            <a:ext cx="5333866" cy="2486025"/>
          </a:xfrm>
          <a:prstGeom prst="roundRect">
            <a:avLst>
              <a:gd name="adj" fmla="val 7662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5014123" y="2491422"/>
            <a:ext cx="24860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381990" y="2718230"/>
            <a:ext cx="1333466" cy="1211989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19689" y="15049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24461" y="1644511"/>
            <a:ext cx="266693" cy="19712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38799" y="1590675"/>
            <a:ext cx="146681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先进的信号体制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19689" y="2160945"/>
            <a:ext cx="171445" cy="15485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86382" y="2124075"/>
            <a:ext cx="2524061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全球首个</a:t>
            </a:r>
            <a:r>
              <a:rPr sz="956" b="0">
                <a:solidFill>
                  <a:srgbClr val="00A8FF"/>
                </a:solidFill>
              </a:rPr>
              <a:t>全星座三频</a:t>
            </a:r>
            <a:r>
              <a:rPr sz="956" b="0">
                <a:solidFill>
                  <a:srgbClr val="FFFFFF"/>
                </a:solidFill>
              </a:rPr>
              <a:t>民用信号的GNSS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19689" y="2512449"/>
            <a:ext cx="171445" cy="9955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86382" y="2447924"/>
            <a:ext cx="198115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多频信号有效</a:t>
            </a:r>
            <a:r>
              <a:rPr sz="956" b="0">
                <a:solidFill>
                  <a:srgbClr val="00A8FF"/>
                </a:solidFill>
              </a:rPr>
              <a:t>消除电离层延迟</a:t>
            </a:r>
            <a:r>
              <a:rPr sz="956" b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419689" y="2826466"/>
            <a:ext cx="171445" cy="13826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86382" y="2781300"/>
            <a:ext cx="198115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先进</a:t>
            </a:r>
            <a:r>
              <a:rPr sz="956" b="0">
                <a:solidFill>
                  <a:srgbClr val="00A8FF"/>
                </a:solidFill>
              </a:rPr>
              <a:t>调制方式</a:t>
            </a:r>
            <a:r>
              <a:rPr sz="956" b="0">
                <a:solidFill>
                  <a:srgbClr val="FFFFFF"/>
                </a:solidFill>
              </a:rPr>
              <a:t>与</a:t>
            </a:r>
            <a:r>
              <a:rPr sz="956" b="0">
                <a:solidFill>
                  <a:srgbClr val="00A8FF"/>
                </a:solidFill>
              </a:rPr>
              <a:t>多路复用</a:t>
            </a:r>
            <a:r>
              <a:rPr sz="956" b="0">
                <a:solidFill>
                  <a:srgbClr val="FFFFFF"/>
                </a:solidFill>
              </a:rPr>
              <a:t>技术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419689" y="3169674"/>
            <a:ext cx="171445" cy="9955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86382" y="3105149"/>
            <a:ext cx="2743131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增强信号</a:t>
            </a:r>
            <a:r>
              <a:rPr sz="956" b="0">
                <a:solidFill>
                  <a:srgbClr val="00A8FF"/>
                </a:solidFill>
              </a:rPr>
              <a:t>测距精度</a:t>
            </a:r>
            <a:r>
              <a:rPr sz="956" b="0">
                <a:solidFill>
                  <a:srgbClr val="FFFFFF"/>
                </a:solidFill>
              </a:rPr>
              <a:t>、</a:t>
            </a:r>
            <a:r>
              <a:rPr sz="956" b="0">
                <a:solidFill>
                  <a:srgbClr val="00A8FF"/>
                </a:solidFill>
              </a:rPr>
              <a:t>抗干扰</a:t>
            </a:r>
            <a:r>
              <a:rPr sz="956" b="0">
                <a:solidFill>
                  <a:srgbClr val="FFFFFF"/>
                </a:solidFill>
              </a:rPr>
              <a:t>和</a:t>
            </a:r>
            <a:r>
              <a:rPr sz="956" b="0">
                <a:solidFill>
                  <a:srgbClr val="00A8FF"/>
                </a:solidFill>
              </a:rPr>
              <a:t>抗多径</a:t>
            </a:r>
            <a:r>
              <a:rPr sz="956" b="0">
                <a:solidFill>
                  <a:srgbClr val="FFFFFF"/>
                </a:solidFill>
              </a:rPr>
              <a:t>能力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6733" y="3990974"/>
            <a:ext cx="5333866" cy="2486025"/>
          </a:xfrm>
          <a:prstGeom prst="roundRect">
            <a:avLst>
              <a:gd name="adj" fmla="val 7662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-510239" y="5167946"/>
            <a:ext cx="24860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4857628" y="5433700"/>
            <a:ext cx="1333466" cy="1134098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95327" y="41814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1000099" y="4300744"/>
            <a:ext cx="266693" cy="23771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14437" y="4267199"/>
            <a:ext cx="167635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高精度自主原子钟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895327" y="4845766"/>
            <a:ext cx="171445" cy="13826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62020" y="4800600"/>
            <a:ext cx="259073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导航卫星的</a:t>
            </a:r>
            <a:r>
              <a:rPr sz="956" b="0">
                <a:solidFill>
                  <a:srgbClr val="00A8FF"/>
                </a:solidFill>
              </a:rPr>
              <a:t>"心脏"</a:t>
            </a:r>
            <a:r>
              <a:rPr sz="956" b="0">
                <a:solidFill>
                  <a:srgbClr val="FFFFFF"/>
                </a:solidFill>
              </a:rPr>
              <a:t>，决定系统PNT性能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895327" y="5169616"/>
            <a:ext cx="171445" cy="13826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162020" y="5124449"/>
            <a:ext cx="2743131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全面装备</a:t>
            </a:r>
            <a:r>
              <a:rPr sz="956" b="0">
                <a:solidFill>
                  <a:srgbClr val="00A8FF"/>
                </a:solidFill>
              </a:rPr>
              <a:t>自主研发</a:t>
            </a:r>
            <a:r>
              <a:rPr sz="956" b="0">
                <a:solidFill>
                  <a:srgbClr val="FFFFFF"/>
                </a:solidFill>
              </a:rPr>
              <a:t>的高性能星载铷原子钟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895327" y="5509905"/>
            <a:ext cx="171445" cy="12443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162020" y="5457825"/>
            <a:ext cx="259073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天稳定度等关键指标达到</a:t>
            </a:r>
            <a:r>
              <a:rPr sz="956" b="0">
                <a:solidFill>
                  <a:srgbClr val="00A8FF"/>
                </a:solidFill>
              </a:rPr>
              <a:t>国际先进水平</a:t>
            </a:r>
            <a:r>
              <a:rPr sz="956" b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895327" y="5821311"/>
            <a:ext cx="171445" cy="14932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162020" y="5781674"/>
            <a:ext cx="213354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提供纳秒级精度的</a:t>
            </a:r>
            <a:r>
              <a:rPr sz="956" b="0">
                <a:solidFill>
                  <a:srgbClr val="00A8FF"/>
                </a:solidFill>
              </a:rPr>
              <a:t>统一时间基准</a:t>
            </a:r>
            <a:r>
              <a:rPr sz="956" b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91095" y="3990974"/>
            <a:ext cx="5333866" cy="2486025"/>
          </a:xfrm>
          <a:prstGeom prst="roundRect">
            <a:avLst>
              <a:gd name="adj" fmla="val 7662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5014123" y="5167946"/>
            <a:ext cx="24860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10381990" y="5415007"/>
            <a:ext cx="1333466" cy="1171485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6419689" y="41814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1">
            <a:alphaModFix amt="100000"/>
          </a:blip>
          <a:stretch>
            <a:fillRect/>
          </a:stretch>
        </p:blipFill>
        <p:spPr>
          <a:xfrm>
            <a:off x="6524461" y="4294946"/>
            <a:ext cx="266693" cy="249306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038799" y="4267199"/>
            <a:ext cx="146681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彻底的技术主权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2">
            <a:alphaModFix amt="100000"/>
          </a:blip>
          <a:stretch>
            <a:fillRect/>
          </a:stretch>
        </p:blipFill>
        <p:spPr>
          <a:xfrm>
            <a:off x="6419689" y="4834705"/>
            <a:ext cx="171445" cy="16038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686382" y="4800600"/>
            <a:ext cx="268598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核心器部件</a:t>
            </a:r>
            <a:r>
              <a:rPr sz="956" b="0">
                <a:solidFill>
                  <a:srgbClr val="00A8FF"/>
                </a:solidFill>
              </a:rPr>
              <a:t>100%国产化</a:t>
            </a:r>
            <a:r>
              <a:rPr sz="956" b="0">
                <a:solidFill>
                  <a:srgbClr val="FFFFFF"/>
                </a:solidFill>
              </a:rPr>
              <a:t>，完全自主可控 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419689" y="5188974"/>
            <a:ext cx="171445" cy="9955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686382" y="5124449"/>
            <a:ext cx="285742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从北斗二号</a:t>
            </a:r>
            <a:r>
              <a:rPr sz="956" b="0">
                <a:solidFill>
                  <a:srgbClr val="00A8FF"/>
                </a:solidFill>
              </a:rPr>
              <a:t>70%</a:t>
            </a:r>
            <a:r>
              <a:rPr sz="956" b="0">
                <a:solidFill>
                  <a:srgbClr val="FFFFFF"/>
                </a:solidFill>
              </a:rPr>
              <a:t>到北斗三号</a:t>
            </a:r>
            <a:r>
              <a:rPr sz="956" b="0">
                <a:solidFill>
                  <a:srgbClr val="00A8FF"/>
                </a:solidFill>
              </a:rPr>
              <a:t>100%</a:t>
            </a:r>
            <a:r>
              <a:rPr sz="956" b="0">
                <a:solidFill>
                  <a:srgbClr val="FFFFFF"/>
                </a:solidFill>
              </a:rPr>
              <a:t>国产化率 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3">
            <a:alphaModFix amt="100000"/>
          </a:blip>
          <a:stretch>
            <a:fillRect/>
          </a:stretch>
        </p:blipFill>
        <p:spPr>
          <a:xfrm>
            <a:off x="6419689" y="5502728"/>
            <a:ext cx="152396" cy="119742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572085" y="5457825"/>
            <a:ext cx="3047923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攻克</a:t>
            </a:r>
            <a:r>
              <a:rPr sz="956" b="0">
                <a:solidFill>
                  <a:srgbClr val="00A8FF"/>
                </a:solidFill>
              </a:rPr>
              <a:t>宇航级处理器</a:t>
            </a:r>
            <a:r>
              <a:rPr sz="956" b="0">
                <a:solidFill>
                  <a:srgbClr val="FFFFFF"/>
                </a:solidFill>
              </a:rPr>
              <a:t>、</a:t>
            </a:r>
            <a:r>
              <a:rPr sz="956" b="0">
                <a:solidFill>
                  <a:srgbClr val="00A8FF"/>
                </a:solidFill>
              </a:rPr>
              <a:t>大容量存储器</a:t>
            </a:r>
            <a:r>
              <a:rPr sz="956" b="0">
                <a:solidFill>
                  <a:srgbClr val="FFFFFF"/>
                </a:solidFill>
              </a:rPr>
              <a:t>等关键技术 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4">
            <a:alphaModFix amt="100000"/>
          </a:blip>
          <a:stretch>
            <a:fillRect/>
          </a:stretch>
        </p:blipFill>
        <p:spPr>
          <a:xfrm>
            <a:off x="6419689" y="5821311"/>
            <a:ext cx="171445" cy="14932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686382" y="5781674"/>
            <a:ext cx="305744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新技术采用比例高达</a:t>
            </a:r>
            <a:r>
              <a:rPr sz="956" b="0">
                <a:solidFill>
                  <a:srgbClr val="00A8FF"/>
                </a:solidFill>
              </a:rPr>
              <a:t>70%</a:t>
            </a:r>
            <a:r>
              <a:rPr sz="956" b="0">
                <a:solidFill>
                  <a:srgbClr val="FFFFFF"/>
                </a:solidFill>
              </a:rPr>
              <a:t>，确保系统长期领先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1A40"/>
            </a:gs>
            <a:gs pos="100000">
              <a:srgbClr val="003366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5714857" cy="552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市场应用与社会经济影响深度分析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314450"/>
            <a:ext cx="5333866" cy="3152775"/>
          </a:xfrm>
          <a:prstGeom prst="roundRect">
            <a:avLst>
              <a:gd name="adj" fmla="val 6042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843614" y="2824797"/>
            <a:ext cx="3152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857628" y="3537647"/>
            <a:ext cx="1333466" cy="9066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95327" y="15049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0099" y="1647410"/>
            <a:ext cx="266693" cy="191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14437" y="1590675"/>
            <a:ext cx="125726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交通运输领域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2174772"/>
            <a:ext cx="171445" cy="1272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62020" y="2124075"/>
            <a:ext cx="4648083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道路运输监管：</a:t>
            </a:r>
            <a:r>
              <a:rPr sz="1435" b="1">
                <a:solidFill>
                  <a:srgbClr val="00A8FF"/>
                </a:solidFill>
              </a:rPr>
              <a:t>700万+</a:t>
            </a:r>
            <a:r>
              <a:rPr sz="956" b="0">
                <a:solidFill>
                  <a:srgbClr val="FFFFFF"/>
                </a:solidFill>
              </a:rPr>
              <a:t>重型载货汽车、长途客车和危险品运输车安装北斗终端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5327" y="2814176"/>
            <a:ext cx="171445" cy="1437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62020" y="2771775"/>
            <a:ext cx="4648083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铁路运输：北斗高精度定位与5G技术结合，实现列车自动驾驶和智能调度，运力提升</a:t>
            </a:r>
            <a:r>
              <a:rPr sz="956" b="0">
                <a:solidFill>
                  <a:srgbClr val="00A8FF"/>
                </a:solidFill>
              </a:rPr>
              <a:t>30%</a:t>
            </a:r>
            <a:r>
              <a:rPr sz="956" b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5327" y="3348805"/>
            <a:ext cx="171445" cy="1603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62020" y="3314700"/>
            <a:ext cx="4267093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港口自动化：无人驾驶智能导引车完全依赖北斗高精度定位技术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5327" y="3678186"/>
            <a:ext cx="171445" cy="14932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62020" y="3638550"/>
            <a:ext cx="396230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航空应用：北斗星基增强服务已通过国际民航组织技术验证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1095" y="1314450"/>
            <a:ext cx="5333866" cy="3152775"/>
          </a:xfrm>
          <a:prstGeom prst="roundRect">
            <a:avLst>
              <a:gd name="adj" fmla="val 6042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4680748" y="2824797"/>
            <a:ext cx="3152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381990" y="3495585"/>
            <a:ext cx="1333466" cy="990778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19689" y="15049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24461" y="1647410"/>
            <a:ext cx="266693" cy="1913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38799" y="1590675"/>
            <a:ext cx="83817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农林渔业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19689" y="2172007"/>
            <a:ext cx="171445" cy="1327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86382" y="2124075"/>
            <a:ext cx="4648083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精准农业：</a:t>
            </a:r>
            <a:r>
              <a:rPr sz="1435" b="1">
                <a:solidFill>
                  <a:srgbClr val="00A8FF"/>
                </a:solidFill>
              </a:rPr>
              <a:t>160万+</a:t>
            </a:r>
            <a:r>
              <a:rPr sz="956" b="0">
                <a:solidFill>
                  <a:srgbClr val="FFFFFF"/>
                </a:solidFill>
              </a:rPr>
              <a:t>北斗终端应用于农业领域，平均增产</a:t>
            </a:r>
            <a:r>
              <a:rPr sz="956" b="0">
                <a:solidFill>
                  <a:srgbClr val="00A8FF"/>
                </a:solidFill>
              </a:rPr>
              <a:t>10%</a:t>
            </a:r>
            <a:r>
              <a:rPr sz="956" b="0">
                <a:solidFill>
                  <a:srgbClr val="FFFFFF"/>
                </a:solidFill>
              </a:rPr>
              <a:t>，降低成本</a:t>
            </a:r>
            <a:r>
              <a:rPr sz="956" b="0">
                <a:solidFill>
                  <a:srgbClr val="00A8FF"/>
                </a:solidFill>
              </a:rPr>
              <a:t>15%</a:t>
            </a:r>
            <a:r>
              <a:rPr sz="956" b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19689" y="2815559"/>
            <a:ext cx="171445" cy="14103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86382" y="2771775"/>
            <a:ext cx="4648083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农机自动驾驶：厘米级精度的播种、施肥和收割，提升土地和种子利用率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419689" y="3359866"/>
            <a:ext cx="171445" cy="13826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86382" y="3314700"/>
            <a:ext cx="419089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植保无人机：利用北斗定位进行变量喷洒，节省农药</a:t>
            </a:r>
            <a:r>
              <a:rPr sz="956" b="0">
                <a:solidFill>
                  <a:srgbClr val="00A8FF"/>
                </a:solidFill>
              </a:rPr>
              <a:t>15%-30%</a:t>
            </a:r>
            <a:r>
              <a:rPr sz="956" b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419689" y="3672655"/>
            <a:ext cx="171445" cy="1603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86382" y="3638550"/>
            <a:ext cx="4648083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智慧渔业：</a:t>
            </a:r>
            <a:r>
              <a:rPr sz="1435" b="1">
                <a:solidFill>
                  <a:srgbClr val="00A8FF"/>
                </a:solidFill>
              </a:rPr>
              <a:t>10万+</a:t>
            </a:r>
            <a:r>
              <a:rPr sz="956" b="0">
                <a:solidFill>
                  <a:srgbClr val="FFFFFF"/>
                </a:solidFill>
              </a:rPr>
              <a:t>海洋渔船安装北斗终端，短报文通信功能累计救助上万名渔民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6733" y="4657725"/>
            <a:ext cx="5333866" cy="3152775"/>
          </a:xfrm>
          <a:prstGeom prst="roundRect">
            <a:avLst>
              <a:gd name="adj" fmla="val 6042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-843614" y="6168072"/>
            <a:ext cx="3152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4857628" y="6839039"/>
            <a:ext cx="1333466" cy="1009471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95327" y="484822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1000099" y="4973292"/>
            <a:ext cx="266693" cy="22611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14437" y="4933950"/>
            <a:ext cx="188590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应急救援与防灾减灾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895327" y="5512516"/>
            <a:ext cx="171445" cy="13826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62020" y="5467349"/>
            <a:ext cx="4648083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地震救援：汶川地震和雅安地震中，北斗终端成为与外界联系的</a:t>
            </a:r>
            <a:r>
              <a:rPr sz="956" b="0">
                <a:solidFill>
                  <a:srgbClr val="00A8FF"/>
                </a:solidFill>
              </a:rPr>
              <a:t>唯一手段</a:t>
            </a:r>
            <a:r>
              <a:rPr sz="956" b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895327" y="6074799"/>
            <a:ext cx="171445" cy="9955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162020" y="6010274"/>
            <a:ext cx="4648083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地质灾害监测预警：在滑坡高发区部署基于北斗的高精度形变监测站，实时监测毫米级地表位移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895327" y="6620489"/>
            <a:ext cx="171445" cy="940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162020" y="6553199"/>
            <a:ext cx="4648083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防洪抗汛：在偏远山区自动传输水文、雨量监测站的数据，解决"信息孤岛"问题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895327" y="7138526"/>
            <a:ext cx="171445" cy="14379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162020" y="7096124"/>
            <a:ext cx="4648083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预警系统：多次成功预警即将发生的重大滑坡灾害，为人员安全撤离争取关键"窗口期"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91095" y="4657725"/>
            <a:ext cx="5333866" cy="3152775"/>
          </a:xfrm>
          <a:prstGeom prst="roundRect">
            <a:avLst>
              <a:gd name="adj" fmla="val 6042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4680748" y="6168072"/>
            <a:ext cx="3152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10381990" y="6879542"/>
            <a:ext cx="1333466" cy="928464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6419689" y="484822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1">
            <a:alphaModFix amt="100000"/>
          </a:blip>
          <a:stretch>
            <a:fillRect/>
          </a:stretch>
        </p:blipFill>
        <p:spPr>
          <a:xfrm>
            <a:off x="6524461" y="4961696"/>
            <a:ext cx="266693" cy="249306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038799" y="4933950"/>
            <a:ext cx="125726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大众消费市场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2">
            <a:alphaModFix amt="100000"/>
          </a:blip>
          <a:stretch>
            <a:fillRect/>
          </a:stretch>
        </p:blipFill>
        <p:spPr>
          <a:xfrm>
            <a:off x="6419689" y="5501455"/>
            <a:ext cx="171445" cy="16038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686382" y="5467349"/>
            <a:ext cx="4648083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智能手机：中国市场出货的智能手机中，</a:t>
            </a:r>
            <a:r>
              <a:rPr sz="956" b="0">
                <a:solidFill>
                  <a:srgbClr val="00A8FF"/>
                </a:solidFill>
              </a:rPr>
              <a:t>98%+</a:t>
            </a:r>
            <a:r>
              <a:rPr sz="956" b="0">
                <a:solidFill>
                  <a:srgbClr val="FFFFFF"/>
                </a:solidFill>
              </a:rPr>
              <a:t>支持北斗定位功能，日定位量超过</a:t>
            </a:r>
            <a:r>
              <a:rPr sz="1435" b="1">
                <a:solidFill>
                  <a:srgbClr val="00A8FF"/>
                </a:solidFill>
              </a:rPr>
              <a:t>3000亿</a:t>
            </a:r>
            <a:r>
              <a:rPr sz="956" b="0">
                <a:solidFill>
                  <a:srgbClr val="FFFFFF"/>
                </a:solidFill>
              </a:rPr>
              <a:t>次 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3">
            <a:alphaModFix amt="100000"/>
          </a:blip>
          <a:stretch>
            <a:fillRect/>
          </a:stretch>
        </p:blipFill>
        <p:spPr>
          <a:xfrm>
            <a:off x="6419689" y="6165747"/>
            <a:ext cx="171445" cy="12720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686382" y="6115050"/>
            <a:ext cx="4648083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共享经济：全国数百万辆共享单车和电动自行车应用北斗高精度定位技术，结合"电子围栏"解决乱停乱放问题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4">
            <a:alphaModFix amt="100000"/>
          </a:blip>
          <a:stretch>
            <a:fillRect/>
          </a:stretch>
        </p:blipFill>
        <p:spPr>
          <a:xfrm>
            <a:off x="6419689" y="6703141"/>
            <a:ext cx="171445" cy="13826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686382" y="6657975"/>
            <a:ext cx="4648083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车道级导航：基于北斗高精度服务，高德、百度等地图应用已推出车道级导航功能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5">
            <a:alphaModFix amt="100000"/>
          </a:blip>
          <a:stretch>
            <a:fillRect/>
          </a:stretch>
        </p:blipFill>
        <p:spPr>
          <a:xfrm>
            <a:off x="6439797" y="7229475"/>
            <a:ext cx="131230" cy="17145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686382" y="7200900"/>
            <a:ext cx="4648083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可穿戴设备：北斗芯片被广泛集成到智能手表、运动手环等设备中，提供精准的运动轨迹记录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1A40"/>
            </a:gs>
            <a:gs pos="100000">
              <a:srgbClr val="003366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6743531" cy="552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全球GNSS格局中的北斗：多维对比分析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314450"/>
            <a:ext cx="6553036" cy="6267449"/>
          </a:xfrm>
          <a:prstGeom prst="roundRect">
            <a:avLst>
              <a:gd name="adj" fmla="val 3039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28" y="1504950"/>
            <a:ext cx="617204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FFFFFF"/>
                </a:solidFill>
              </a:rPr>
              <a:t> 全球四大GNSS系统核心指标对比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548764"/>
            <a:ext cx="228594" cy="21717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10264" y="1314450"/>
            <a:ext cx="4114697" cy="3038475"/>
          </a:xfrm>
          <a:prstGeom prst="roundRect">
            <a:avLst>
              <a:gd name="adj" fmla="val 6269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957067" y="2767647"/>
            <a:ext cx="30384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8859" y="1504950"/>
            <a:ext cx="369560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</a:rPr>
              <a:t> 竞争优势与定位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638859" y="1588358"/>
            <a:ext cx="209544" cy="118933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638859" y="1918826"/>
            <a:ext cx="171445" cy="143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05552" y="1876424"/>
            <a:ext cx="3428914" cy="638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0">
                <a:solidFill>
                  <a:srgbClr val="00A8FF"/>
                </a:solidFill>
              </a:rPr>
              <a:t>与GPS对比</a:t>
            </a:r>
            <a:r>
              <a:rPr sz="956" b="0">
                <a:solidFill>
                  <a:srgbClr val="FFFFFF"/>
                </a:solidFill>
              </a:rPr>
              <a:t>：核心优势在于独特的增值服务（短报文、搜救返向链路）以及混合星座带来的亚太地区性能优势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638859" y="2652251"/>
            <a:ext cx="171445" cy="1437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05552" y="2609850"/>
            <a:ext cx="3428914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0">
                <a:solidFill>
                  <a:srgbClr val="00A8FF"/>
                </a:solidFill>
              </a:rPr>
              <a:t>与GLONASS对比</a:t>
            </a:r>
            <a:r>
              <a:rPr sz="956" b="0">
                <a:solidFill>
                  <a:srgbClr val="FFFFFF"/>
                </a:solidFill>
              </a:rPr>
              <a:t>：在精度、稳定性和服务多样性上全面超越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638859" y="3176126"/>
            <a:ext cx="171445" cy="1437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05552" y="3133724"/>
            <a:ext cx="3428914" cy="638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0">
                <a:solidFill>
                  <a:srgbClr val="00A8FF"/>
                </a:solidFill>
              </a:rPr>
              <a:t>与Galileo对比</a:t>
            </a:r>
            <a:r>
              <a:rPr sz="956" b="0">
                <a:solidFill>
                  <a:srgbClr val="FFFFFF"/>
                </a:solidFill>
              </a:rPr>
              <a:t>：Galileo是技术先进性和性能上的最直接竞争对手，北斗的通导融合能力是其核心差异化优势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10264" y="4543425"/>
            <a:ext cx="4114697" cy="3038475"/>
          </a:xfrm>
          <a:prstGeom prst="roundRect">
            <a:avLst>
              <a:gd name="adj" fmla="val 6269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5957067" y="5996622"/>
            <a:ext cx="30384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8859" y="4733925"/>
            <a:ext cx="369560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</a:rPr>
              <a:t> 竞争焦点转变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638859" y="4787985"/>
            <a:ext cx="209544" cy="158578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638859" y="5145036"/>
            <a:ext cx="171445" cy="14932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905552" y="5105400"/>
            <a:ext cx="303839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从单纯的PNT精度比拼，转向</a:t>
            </a:r>
            <a:r>
              <a:rPr sz="956" b="0">
                <a:solidFill>
                  <a:srgbClr val="00A8FF"/>
                </a:solidFill>
              </a:rPr>
              <a:t>增值服务的创新</a:t>
            </a:r>
            <a:r>
              <a:rPr sz="956" b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638859" y="5449836"/>
            <a:ext cx="171445" cy="14932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905552" y="5410199"/>
            <a:ext cx="3428914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北斗战略核心：</a:t>
            </a:r>
            <a:r>
              <a:rPr sz="956" b="0">
                <a:solidFill>
                  <a:srgbClr val="00A8FF"/>
                </a:solidFill>
              </a:rPr>
              <a:t>"定位+通信"</a:t>
            </a:r>
            <a:r>
              <a:rPr sz="956" b="0">
                <a:solidFill>
                  <a:srgbClr val="FFFFFF"/>
                </a:solidFill>
              </a:rPr>
              <a:t>的融合，解决特定场景下的刚性需求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638859" y="5973711"/>
            <a:ext cx="171445" cy="14932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05552" y="5934075"/>
            <a:ext cx="3428914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Galileo战略核心：</a:t>
            </a:r>
            <a:r>
              <a:rPr sz="956" b="0">
                <a:solidFill>
                  <a:srgbClr val="00A8FF"/>
                </a:solidFill>
              </a:rPr>
              <a:t>"定位+完好性/高精度"</a:t>
            </a:r>
            <a:r>
              <a:rPr sz="956" b="0">
                <a:solidFill>
                  <a:srgbClr val="FFFFFF"/>
                </a:solidFill>
              </a:rPr>
              <a:t>，通过OSNMA服务解决信号欺骗问题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1A40"/>
            </a:gs>
            <a:gs pos="100000">
              <a:srgbClr val="003366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8153196" cy="552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未来展望：2035国家综合PNT体系与全球化征程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314450"/>
            <a:ext cx="7114997" cy="2667000"/>
          </a:xfrm>
          <a:prstGeom prst="roundRect">
            <a:avLst>
              <a:gd name="adj" fmla="val 7142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600727" y="2581910"/>
            <a:ext cx="2667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38759" y="3000464"/>
            <a:ext cx="1333466" cy="10094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95327" y="15049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0099" y="1670602"/>
            <a:ext cx="266693" cy="1449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14437" y="1590675"/>
            <a:ext cx="364798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下一代蓝图：2035年国家综合PNT体系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2180303"/>
            <a:ext cx="171445" cy="1161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62020" y="2124075"/>
            <a:ext cx="5324341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0">
                <a:solidFill>
                  <a:srgbClr val="00A8FF"/>
                </a:solidFill>
              </a:rPr>
              <a:t>核心愿景</a:t>
            </a:r>
            <a:r>
              <a:rPr sz="956" b="0">
                <a:solidFill>
                  <a:srgbClr val="FFFFFF"/>
                </a:solidFill>
              </a:rPr>
              <a:t>：建成以北斗系统为核心，更加泛在、融合、智能的国家综合PNT体系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5327" y="2479265"/>
            <a:ext cx="171445" cy="1659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62020" y="2447924"/>
            <a:ext cx="580057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0">
                <a:solidFill>
                  <a:srgbClr val="00A8FF"/>
                </a:solidFill>
              </a:rPr>
              <a:t>体系定义</a:t>
            </a:r>
            <a:r>
              <a:rPr sz="956" b="0">
                <a:solidFill>
                  <a:srgbClr val="FFFFFF"/>
                </a:solidFill>
              </a:rPr>
              <a:t>："系统的系统"（System of Systems），融合天基、地基、空基等多种信息源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5327" y="2820936"/>
            <a:ext cx="171445" cy="14932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62020" y="2781300"/>
            <a:ext cx="1066773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0">
                <a:solidFill>
                  <a:srgbClr val="00A8FF"/>
                </a:solidFill>
              </a:rPr>
              <a:t>关键技术融合</a:t>
            </a:r>
            <a:r>
              <a:rPr sz="956" b="0">
                <a:solidFill>
                  <a:srgbClr val="FFFFFF"/>
                </a:solidFill>
              </a:rPr>
              <a:t>：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27" y="3105149"/>
            <a:ext cx="3295567" cy="390525"/>
          </a:xfrm>
          <a:prstGeom prst="roundRect">
            <a:avLst>
              <a:gd name="adj" fmla="val 29268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90575" y="3212726"/>
            <a:ext cx="190495" cy="18489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76318" y="3200400"/>
            <a:ext cx="1409664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FFFFF"/>
                </a:solidFill>
              </a:rPr>
              <a:t>天基增强（LEO星座）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6142" y="3105149"/>
            <a:ext cx="3295567" cy="390525"/>
          </a:xfrm>
          <a:prstGeom prst="roundRect">
            <a:avLst>
              <a:gd name="adj" fmla="val 29268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381390" y="3237939"/>
            <a:ext cx="190495" cy="13447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67133" y="3200400"/>
            <a:ext cx="1609684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FFFFF"/>
                </a:solidFill>
              </a:rPr>
              <a:t>地基/室内定位（5G/6G）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3590924"/>
            <a:ext cx="3295567" cy="390525"/>
          </a:xfrm>
          <a:prstGeom prst="roundRect">
            <a:avLst>
              <a:gd name="adj" fmla="val 29268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90575" y="3709707"/>
            <a:ext cx="190495" cy="1624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76318" y="3686175"/>
            <a:ext cx="91437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FFFFF"/>
                </a:solidFill>
              </a:rPr>
              <a:t>深空/深海导航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6142" y="3590924"/>
            <a:ext cx="3295567" cy="390525"/>
          </a:xfrm>
          <a:prstGeom prst="roundRect">
            <a:avLst>
              <a:gd name="adj" fmla="val 29268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381390" y="3720913"/>
            <a:ext cx="190495" cy="1400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67133" y="3686175"/>
            <a:ext cx="91437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FFFFF"/>
                </a:solidFill>
              </a:rPr>
              <a:t>量子导航/授时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6733" y="4171950"/>
            <a:ext cx="7114997" cy="2667000"/>
          </a:xfrm>
          <a:prstGeom prst="roundRect">
            <a:avLst>
              <a:gd name="adj" fmla="val 7142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-600727" y="5439410"/>
            <a:ext cx="2667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638759" y="5786125"/>
            <a:ext cx="1333466" cy="1134098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895327" y="43624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1000099" y="4496214"/>
            <a:ext cx="266693" cy="20872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14437" y="4448175"/>
            <a:ext cx="209544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国际合作与全球化战略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95327" y="5021211"/>
            <a:ext cx="171445" cy="14932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62020" y="4981574"/>
            <a:ext cx="349558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0">
                <a:solidFill>
                  <a:srgbClr val="00A8FF"/>
                </a:solidFill>
              </a:rPr>
              <a:t>指导理念</a:t>
            </a:r>
            <a:r>
              <a:rPr sz="956" b="0">
                <a:solidFill>
                  <a:srgbClr val="FFFFFF"/>
                </a:solidFill>
              </a:rPr>
              <a:t>："中国的北斗、世界的北斗、一流的北斗"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95327" y="5356122"/>
            <a:ext cx="171445" cy="12720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62020" y="5305425"/>
            <a:ext cx="527671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0">
                <a:solidFill>
                  <a:srgbClr val="00A8FF"/>
                </a:solidFill>
              </a:rPr>
              <a:t>兼容互操作</a:t>
            </a:r>
            <a:r>
              <a:rPr sz="956" b="0">
                <a:solidFill>
                  <a:srgbClr val="FFFFFF"/>
                </a:solidFill>
              </a:rPr>
              <a:t>：与GPS、GLONASS、Galileo开展政府间协调，确保信号兼容共用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895327" y="5674749"/>
            <a:ext cx="171445" cy="9955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62020" y="5610224"/>
            <a:ext cx="598155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0">
                <a:solidFill>
                  <a:srgbClr val="00A8FF"/>
                </a:solidFill>
              </a:rPr>
              <a:t>区域合作平台</a:t>
            </a:r>
            <a:r>
              <a:rPr sz="956" b="0">
                <a:solidFill>
                  <a:srgbClr val="FFFFFF"/>
                </a:solidFill>
              </a:rPr>
              <a:t>：通过"中阿北斗合作论坛"、"中国-东盟卫星导航合作论坛"等机制深化合作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895327" y="5969716"/>
            <a:ext cx="171445" cy="13826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162020" y="5924549"/>
            <a:ext cx="518147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0">
                <a:solidFill>
                  <a:srgbClr val="00A8FF"/>
                </a:solidFill>
              </a:rPr>
              <a:t>融入"一带一路"</a:t>
            </a:r>
            <a:r>
              <a:rPr sz="956" b="0">
                <a:solidFill>
                  <a:srgbClr val="FFFFFF"/>
                </a:solidFill>
              </a:rPr>
              <a:t>：作为"数字丝绸之路"的核心组成部分，在沿线国家落地应用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895327" y="6263455"/>
            <a:ext cx="171445" cy="16038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162020" y="6229350"/>
            <a:ext cx="405754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0">
                <a:solidFill>
                  <a:srgbClr val="00A8FF"/>
                </a:solidFill>
              </a:rPr>
              <a:t>融入国际标准</a:t>
            </a:r>
            <a:r>
              <a:rPr sz="956" b="0">
                <a:solidFill>
                  <a:srgbClr val="FFFFFF"/>
                </a:solidFill>
              </a:rPr>
              <a:t>：进入ICAO、IMO、3GPP等国际权威标准体系 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72225" y="1314450"/>
            <a:ext cx="3552736" cy="5514975"/>
          </a:xfrm>
          <a:prstGeom prst="roundRect">
            <a:avLst>
              <a:gd name="adj" fmla="val 5361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 rot="16200000">
            <a:off x="5280778" y="4005897"/>
            <a:ext cx="55149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10381990" y="5817282"/>
            <a:ext cx="1333466" cy="1071785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8200819" y="15049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8305592" y="1643062"/>
            <a:ext cx="266693" cy="20002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819929" y="1590675"/>
            <a:ext cx="104772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挑战与机遇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00819" y="2219324"/>
            <a:ext cx="1523961" cy="1171575"/>
          </a:xfrm>
          <a:prstGeom prst="roundRect">
            <a:avLst>
              <a:gd name="adj" fmla="val 9756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96067" y="2314575"/>
            <a:ext cx="13334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FFFFFF"/>
                </a:solidFill>
              </a:rPr>
              <a:t> 面临的挑战 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8296067" y="2356976"/>
            <a:ext cx="171445" cy="143796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1">
            <a:alphaModFix amt="100000"/>
          </a:blip>
          <a:stretch>
            <a:fillRect/>
          </a:stretch>
        </p:blipFill>
        <p:spPr>
          <a:xfrm>
            <a:off x="8296067" y="2680607"/>
            <a:ext cx="152396" cy="8708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524661" y="2619374"/>
            <a:ext cx="9905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FFFFF"/>
                </a:solidFill>
              </a:rPr>
              <a:t>GPS的先发优势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2">
            <a:alphaModFix amt="100000"/>
          </a:blip>
          <a:stretch>
            <a:fillRect/>
          </a:stretch>
        </p:blipFill>
        <p:spPr>
          <a:xfrm>
            <a:off x="8296067" y="2898321"/>
            <a:ext cx="152396" cy="14695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524661" y="2857500"/>
            <a:ext cx="10000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FFFFF"/>
                </a:solidFill>
              </a:rPr>
              <a:t>地缘政治与信任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3">
            <a:alphaModFix amt="100000"/>
          </a:blip>
          <a:stretch>
            <a:fillRect/>
          </a:stretch>
        </p:blipFill>
        <p:spPr>
          <a:xfrm>
            <a:off x="8296067" y="3152775"/>
            <a:ext cx="152396" cy="1143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524661" y="3105149"/>
            <a:ext cx="8572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FFFFF"/>
                </a:solidFill>
              </a:rPr>
              <a:t>国际标准融入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810504" y="2219324"/>
            <a:ext cx="1523961" cy="1171575"/>
          </a:xfrm>
          <a:prstGeom prst="roundRect">
            <a:avLst>
              <a:gd name="adj" fmla="val 9756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05752" y="2314575"/>
            <a:ext cx="13334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FFFFFF"/>
                </a:solidFill>
              </a:rPr>
              <a:t> 拥有的机遇 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4">
            <a:alphaModFix amt="100000"/>
          </a:blip>
          <a:stretch>
            <a:fillRect/>
          </a:stretch>
        </p:blipFill>
        <p:spPr>
          <a:xfrm>
            <a:off x="9905752" y="2356976"/>
            <a:ext cx="171445" cy="143796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5">
            <a:alphaModFix amt="100000"/>
          </a:blip>
          <a:stretch>
            <a:fillRect/>
          </a:stretch>
        </p:blipFill>
        <p:spPr>
          <a:xfrm>
            <a:off x="9905752" y="2658835"/>
            <a:ext cx="152396" cy="13062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0134346" y="2619374"/>
            <a:ext cx="7143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FFFFF"/>
                </a:solidFill>
              </a:rPr>
              <a:t>差异化服务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26">
            <a:alphaModFix amt="100000"/>
          </a:blip>
          <a:stretch>
            <a:fillRect/>
          </a:stretch>
        </p:blipFill>
        <p:spPr>
          <a:xfrm>
            <a:off x="9905752" y="2928257"/>
            <a:ext cx="152396" cy="87085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134346" y="2857500"/>
            <a:ext cx="8572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FFFFF"/>
                </a:solidFill>
              </a:rPr>
              <a:t>新兴市场需求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7">
            <a:alphaModFix amt="100000"/>
          </a:blip>
          <a:stretch>
            <a:fillRect/>
          </a:stretch>
        </p:blipFill>
        <p:spPr>
          <a:xfrm>
            <a:off x="9905752" y="3152775"/>
            <a:ext cx="152396" cy="1143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0134346" y="3105149"/>
            <a:ext cx="8000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FFFFF"/>
                </a:solidFill>
              </a:rPr>
              <a:t>多GNSS共存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28">
            <a:alphaModFix amt="100000"/>
          </a:blip>
          <a:stretch>
            <a:fillRect/>
          </a:stretch>
        </p:blipFill>
        <p:spPr>
          <a:xfrm>
            <a:off x="8200819" y="3577559"/>
            <a:ext cx="171445" cy="141031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467513" y="3524250"/>
            <a:ext cx="2866953" cy="6381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北斗全球化战略：</a:t>
            </a:r>
            <a:r>
              <a:rPr sz="956" b="0">
                <a:solidFill>
                  <a:srgbClr val="00A8FF"/>
                </a:solidFill>
              </a:rPr>
              <a:t>融入标准</a:t>
            </a:r>
            <a:r>
              <a:rPr sz="956" b="0">
                <a:solidFill>
                  <a:srgbClr val="FFFFFF"/>
                </a:solidFill>
              </a:rPr>
              <a:t>确保设备兼容 → </a:t>
            </a:r>
            <a:r>
              <a:rPr sz="956" b="0">
                <a:solidFill>
                  <a:srgbClr val="00A8FF"/>
                </a:solidFill>
              </a:rPr>
              <a:t>特色服务</a:t>
            </a:r>
            <a:r>
              <a:rPr sz="956" b="0">
                <a:solidFill>
                  <a:srgbClr val="FFFFFF"/>
                </a:solidFill>
              </a:rPr>
              <a:t>构建应用生态 → </a:t>
            </a:r>
            <a:r>
              <a:rPr sz="956" b="0">
                <a:solidFill>
                  <a:srgbClr val="00A8FF"/>
                </a:solidFill>
              </a:rPr>
              <a:t>自下而上</a:t>
            </a:r>
            <a:r>
              <a:rPr sz="956" b="0">
                <a:solidFill>
                  <a:srgbClr val="FFFFFF"/>
                </a:solidFill>
              </a:rPr>
              <a:t>提升国际影响力 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29">
            <a:alphaModFix amt="100000"/>
          </a:blip>
          <a:stretch>
            <a:fillRect/>
          </a:stretch>
        </p:blipFill>
        <p:spPr>
          <a:xfrm>
            <a:off x="8200819" y="4331416"/>
            <a:ext cx="171445" cy="138266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8467513" y="4286250"/>
            <a:ext cx="2866953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通过</a:t>
            </a:r>
            <a:r>
              <a:rPr sz="956" b="0">
                <a:solidFill>
                  <a:srgbClr val="00A8FF"/>
                </a:solidFill>
              </a:rPr>
              <a:t>"农村包围城市"</a:t>
            </a:r>
            <a:r>
              <a:rPr sz="956" b="0">
                <a:solidFill>
                  <a:srgbClr val="FFFFFF"/>
                </a:solidFill>
              </a:rPr>
              <a:t>的方式，以"一带一路"为突破口，逐步提升北斗全球市场份额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1A40"/>
            </a:gs>
            <a:gs pos="100000">
              <a:srgbClr val="003366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4952876" cy="552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结论：北斗系统的成就与意义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314450"/>
            <a:ext cx="6400639" cy="3124200"/>
          </a:xfrm>
          <a:prstGeom prst="roundRect">
            <a:avLst>
              <a:gd name="adj" fmla="val 6097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829327" y="2810510"/>
            <a:ext cx="3124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924401" y="3622793"/>
            <a:ext cx="1333466" cy="6792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95327" y="15049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0099" y="1638714"/>
            <a:ext cx="266693" cy="2087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14437" y="1590675"/>
            <a:ext cx="83817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发展成就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2163711"/>
            <a:ext cx="171445" cy="1493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62020" y="2124075"/>
            <a:ext cx="488620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从</a:t>
            </a:r>
            <a:r>
              <a:rPr sz="956" b="0">
                <a:solidFill>
                  <a:srgbClr val="00A8FF"/>
                </a:solidFill>
              </a:rPr>
              <a:t>"双星定位"</a:t>
            </a:r>
            <a:r>
              <a:rPr sz="956" b="0">
                <a:solidFill>
                  <a:srgbClr val="FFFFFF"/>
                </a:solidFill>
              </a:rPr>
              <a:t>构思到</a:t>
            </a:r>
            <a:r>
              <a:rPr sz="956" b="0">
                <a:solidFill>
                  <a:srgbClr val="00A8FF"/>
                </a:solidFill>
              </a:rPr>
              <a:t>"三步走"</a:t>
            </a:r>
            <a:r>
              <a:rPr sz="956" b="0">
                <a:solidFill>
                  <a:srgbClr val="FFFFFF"/>
                </a:solidFill>
              </a:rPr>
              <a:t>战略实施，再到北斗三号全球系统全面建成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5327" y="2493091"/>
            <a:ext cx="171445" cy="1382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62020" y="2447924"/>
            <a:ext cx="289552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走出了一条</a:t>
            </a:r>
            <a:r>
              <a:rPr sz="956" b="0">
                <a:solidFill>
                  <a:srgbClr val="00A8FF"/>
                </a:solidFill>
              </a:rPr>
              <a:t>独立自主、创新超越</a:t>
            </a:r>
            <a:r>
              <a:rPr sz="956" b="0">
                <a:solidFill>
                  <a:srgbClr val="FFFFFF"/>
                </a:solidFill>
              </a:rPr>
              <a:t>的发展道路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2781300"/>
            <a:ext cx="2924101" cy="419100"/>
          </a:xfrm>
          <a:prstGeom prst="roundRect">
            <a:avLst>
              <a:gd name="adj" fmla="val 27272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09624" y="2904004"/>
            <a:ext cx="190495" cy="1736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95367" y="2895600"/>
            <a:ext cx="212402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FFFFF"/>
                </a:solidFill>
              </a:rPr>
              <a:t>2020年7月31日正式开通全球服务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62300" y="2781300"/>
            <a:ext cx="2924101" cy="419100"/>
          </a:xfrm>
          <a:prstGeom prst="roundRect">
            <a:avLst>
              <a:gd name="adj" fmla="val 27272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076598" y="2898401"/>
            <a:ext cx="190495" cy="18489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362340" y="2895600"/>
            <a:ext cx="159063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FFFFF"/>
                </a:solidFill>
              </a:rPr>
              <a:t>30颗卫星组成的混合星座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327" y="3343275"/>
            <a:ext cx="2924101" cy="419100"/>
          </a:xfrm>
          <a:prstGeom prst="roundRect">
            <a:avLst>
              <a:gd name="adj" fmla="val 27272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09624" y="3471582"/>
            <a:ext cx="190495" cy="1624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95367" y="3457575"/>
            <a:ext cx="157158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FFFFF"/>
                </a:solidFill>
              </a:rPr>
              <a:t>覆盖全球的导航定位服务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62300" y="3343275"/>
            <a:ext cx="2924101" cy="419100"/>
          </a:xfrm>
          <a:prstGeom prst="roundRect">
            <a:avLst>
              <a:gd name="adj" fmla="val 27272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076598" y="3471582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362340" y="3457575"/>
            <a:ext cx="151443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FFFFF"/>
                </a:solidFill>
              </a:rPr>
              <a:t>核心技术100%自主可控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4629150"/>
            <a:ext cx="6400639" cy="3124200"/>
          </a:xfrm>
          <a:prstGeom prst="roundRect">
            <a:avLst>
              <a:gd name="adj" fmla="val 6097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-829327" y="6125210"/>
            <a:ext cx="3124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924401" y="6700525"/>
            <a:ext cx="1333466" cy="113409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95327" y="48196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1000099" y="4933121"/>
            <a:ext cx="266693" cy="24930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514437" y="4905375"/>
            <a:ext cx="83817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技术创新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95327" y="5470115"/>
            <a:ext cx="171445" cy="16591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62020" y="5438774"/>
            <a:ext cx="3743231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0">
                <a:solidFill>
                  <a:srgbClr val="00A8FF"/>
                </a:solidFill>
              </a:rPr>
              <a:t>混合星座架构</a:t>
            </a:r>
            <a:r>
              <a:rPr sz="956" b="0">
                <a:solidFill>
                  <a:srgbClr val="FFFFFF"/>
                </a:solidFill>
              </a:rPr>
              <a:t>：全球首个采用三种轨道类型的GNSS系统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95327" y="5832679"/>
            <a:ext cx="171445" cy="8849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62020" y="5762625"/>
            <a:ext cx="396230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0">
                <a:solidFill>
                  <a:srgbClr val="00A8FF"/>
                </a:solidFill>
              </a:rPr>
              <a:t>星间链路技术</a:t>
            </a:r>
            <a:r>
              <a:rPr sz="956" b="0">
                <a:solidFill>
                  <a:srgbClr val="FFFFFF"/>
                </a:solidFill>
              </a:rPr>
              <a:t>：实现星座自主运行，降低对全球地面站依赖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95327" y="6135636"/>
            <a:ext cx="171445" cy="14932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62020" y="6095999"/>
            <a:ext cx="343843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0">
                <a:solidFill>
                  <a:srgbClr val="00A8FF"/>
                </a:solidFill>
              </a:rPr>
              <a:t>通导融合服务</a:t>
            </a:r>
            <a:r>
              <a:rPr sz="956" b="0">
                <a:solidFill>
                  <a:srgbClr val="FFFFFF"/>
                </a:solidFill>
              </a:rPr>
              <a:t>：全球首个具备双向通信能力的GNSS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895327" y="6453955"/>
            <a:ext cx="171445" cy="16038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62020" y="6419850"/>
            <a:ext cx="360035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0">
                <a:solidFill>
                  <a:srgbClr val="00A8FF"/>
                </a:solidFill>
              </a:rPr>
              <a:t>技术主权</a:t>
            </a:r>
            <a:r>
              <a:rPr sz="956" b="0">
                <a:solidFill>
                  <a:srgbClr val="FFFFFF"/>
                </a:solidFill>
              </a:rPr>
              <a:t>：从北斗二号70%到北斗三号100%国产化率 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57868" y="1314450"/>
            <a:ext cx="4267093" cy="3124200"/>
          </a:xfrm>
          <a:prstGeom prst="roundRect">
            <a:avLst>
              <a:gd name="adj" fmla="val 6097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5761808" y="2810510"/>
            <a:ext cx="3124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10381990" y="3477915"/>
            <a:ext cx="1333466" cy="968968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7486462" y="15049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7591235" y="1670602"/>
            <a:ext cx="266693" cy="14494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105572" y="1590675"/>
            <a:ext cx="83817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应用价值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7486462" y="2174772"/>
            <a:ext cx="171445" cy="12720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753156" y="2124075"/>
            <a:ext cx="3581310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0">
                <a:solidFill>
                  <a:srgbClr val="00A8FF"/>
                </a:solidFill>
              </a:rPr>
              <a:t>交通运输</a:t>
            </a:r>
            <a:r>
              <a:rPr sz="956" b="0">
                <a:solidFill>
                  <a:srgbClr val="FFFFFF"/>
                </a:solidFill>
              </a:rPr>
              <a:t>：700万+车辆安装北斗终端，铁路运力提升30% 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7486462" y="2714932"/>
            <a:ext cx="171445" cy="13273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753156" y="2667000"/>
            <a:ext cx="3581310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0">
                <a:solidFill>
                  <a:srgbClr val="00A8FF"/>
                </a:solidFill>
              </a:rPr>
              <a:t>农林渔业</a:t>
            </a:r>
            <a:r>
              <a:rPr sz="956" b="0">
                <a:solidFill>
                  <a:srgbClr val="FFFFFF"/>
                </a:solidFill>
              </a:rPr>
              <a:t>：160万+终端应用，平均增产10%，降低成本15% 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7486462" y="3249561"/>
            <a:ext cx="171445" cy="14932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753156" y="3209925"/>
            <a:ext cx="335271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0">
                <a:solidFill>
                  <a:srgbClr val="00A8FF"/>
                </a:solidFill>
              </a:rPr>
              <a:t>防灾减灾</a:t>
            </a:r>
            <a:r>
              <a:rPr sz="956" b="0">
                <a:solidFill>
                  <a:srgbClr val="FFFFFF"/>
                </a:solidFill>
              </a:rPr>
              <a:t>：地质灾害监测预警，防洪抗汛数据传输 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1">
            <a:alphaModFix amt="100000"/>
          </a:blip>
          <a:stretch>
            <a:fillRect/>
          </a:stretch>
        </p:blipFill>
        <p:spPr>
          <a:xfrm>
            <a:off x="7486462" y="3567880"/>
            <a:ext cx="171445" cy="16038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753156" y="3533774"/>
            <a:ext cx="3581310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0">
                <a:solidFill>
                  <a:srgbClr val="00A8FF"/>
                </a:solidFill>
              </a:rPr>
              <a:t>大众消费</a:t>
            </a:r>
            <a:r>
              <a:rPr sz="956" b="0">
                <a:solidFill>
                  <a:srgbClr val="FFFFFF"/>
                </a:solidFill>
              </a:rPr>
              <a:t>：98%+智能手机支持，日定位量超3000亿次 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57868" y="4629150"/>
            <a:ext cx="4267093" cy="3124200"/>
          </a:xfrm>
          <a:prstGeom prst="roundRect">
            <a:avLst>
              <a:gd name="adj" fmla="val 6097"/>
            </a:avLst>
          </a:prstGeom>
          <a:solidFill>
            <a:srgbClr val="0032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 Same Side Corner Rectangle 53"/>
          <p:cNvSpPr/>
          <p:nvPr/>
        </p:nvSpPr>
        <p:spPr>
          <a:xfrm rot="16200000">
            <a:off x="5761808" y="6125210"/>
            <a:ext cx="3124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2">
            <a:alphaModFix amt="100000"/>
          </a:blip>
          <a:stretch>
            <a:fillRect/>
          </a:stretch>
        </p:blipFill>
        <p:spPr>
          <a:xfrm>
            <a:off x="10381990" y="6700525"/>
            <a:ext cx="1333466" cy="1134098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7486462" y="48196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3">
            <a:alphaModFix amt="100000"/>
          </a:blip>
          <a:stretch>
            <a:fillRect/>
          </a:stretch>
        </p:blipFill>
        <p:spPr>
          <a:xfrm>
            <a:off x="7591235" y="4944717"/>
            <a:ext cx="266693" cy="226115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105572" y="4905375"/>
            <a:ext cx="188590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战略意义与未来展望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4">
            <a:alphaModFix amt="100000"/>
          </a:blip>
          <a:stretch>
            <a:fillRect/>
          </a:stretch>
        </p:blipFill>
        <p:spPr>
          <a:xfrm>
            <a:off x="7486462" y="5481176"/>
            <a:ext cx="171445" cy="143796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753156" y="5438774"/>
            <a:ext cx="319079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打破</a:t>
            </a:r>
            <a:r>
              <a:rPr sz="956" b="0">
                <a:solidFill>
                  <a:srgbClr val="00A8FF"/>
                </a:solidFill>
              </a:rPr>
              <a:t>GPS一家独大</a:t>
            </a:r>
            <a:r>
              <a:rPr sz="956" b="0">
                <a:solidFill>
                  <a:srgbClr val="FFFFFF"/>
                </a:solidFill>
              </a:rPr>
              <a:t>格局，开启多系统共存新时代 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7486462" y="5796730"/>
            <a:ext cx="171445" cy="16038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753156" y="5762625"/>
            <a:ext cx="289552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彰显</a:t>
            </a:r>
            <a:r>
              <a:rPr sz="956" b="0">
                <a:solidFill>
                  <a:srgbClr val="00A8FF"/>
                </a:solidFill>
              </a:rPr>
              <a:t>自主可控</a:t>
            </a:r>
            <a:r>
              <a:rPr sz="956" b="0">
                <a:solidFill>
                  <a:srgbClr val="FFFFFF"/>
                </a:solidFill>
              </a:rPr>
              <a:t>时空信息基础设施的战略价值 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486462" y="6124574"/>
            <a:ext cx="3848003" cy="923924"/>
          </a:xfrm>
          <a:prstGeom prst="roundRect">
            <a:avLst>
              <a:gd name="adj" fmla="val 12371"/>
            </a:avLst>
          </a:prstGeom>
          <a:solidFill>
            <a:srgbClr val="00A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5">
            <a:alphaModFix amt="100000"/>
          </a:blip>
          <a:stretch>
            <a:fillRect/>
          </a:stretch>
        </p:blipFill>
        <p:spPr>
          <a:xfrm>
            <a:off x="7629334" y="6456759"/>
            <a:ext cx="380990" cy="250031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153196" y="6267449"/>
            <a:ext cx="3038399" cy="6381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2035年国家综合PNT体系：融合天基、地基、空基等多种信息源，构建从深空到深海、从室外到室内无缝覆盖的时空基础设施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6">
            <a:alphaModFix amt="100000"/>
          </a:blip>
          <a:stretch>
            <a:fillRect/>
          </a:stretch>
        </p:blipFill>
        <p:spPr>
          <a:xfrm>
            <a:off x="7486462" y="7236541"/>
            <a:ext cx="171445" cy="138266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753156" y="7191375"/>
            <a:ext cx="3581310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通过</a:t>
            </a:r>
            <a:r>
              <a:rPr sz="956" b="0">
                <a:solidFill>
                  <a:srgbClr val="00A8FF"/>
                </a:solidFill>
              </a:rPr>
              <a:t>开放合作</a:t>
            </a:r>
            <a:r>
              <a:rPr sz="956" b="0">
                <a:solidFill>
                  <a:srgbClr val="FFFFFF"/>
                </a:solidFill>
              </a:rPr>
              <a:t>、融入标准和构建应用生态，北斗正稳步推进全球化进程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