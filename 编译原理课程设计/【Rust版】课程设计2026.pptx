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1286" r:id="rId2"/>
    <p:sldId id="1653" r:id="rId3"/>
    <p:sldId id="1606" r:id="rId4"/>
    <p:sldId id="1663" r:id="rId5"/>
    <p:sldId id="1664" r:id="rId6"/>
    <p:sldId id="1665" r:id="rId7"/>
    <p:sldId id="1666" r:id="rId8"/>
    <p:sldId id="1667" r:id="rId9"/>
    <p:sldId id="1671" r:id="rId10"/>
    <p:sldId id="1672" r:id="rId11"/>
    <p:sldId id="1673" r:id="rId12"/>
    <p:sldId id="1674" r:id="rId13"/>
    <p:sldId id="1675" r:id="rId14"/>
    <p:sldId id="1676" r:id="rId15"/>
    <p:sldId id="1662" r:id="rId16"/>
    <p:sldId id="1677" r:id="rId17"/>
    <p:sldId id="1678" r:id="rId18"/>
    <p:sldId id="1679" r:id="rId19"/>
    <p:sldId id="1680" r:id="rId20"/>
    <p:sldId id="1681" r:id="rId21"/>
    <p:sldId id="1682" r:id="rId22"/>
    <p:sldId id="1683" r:id="rId23"/>
    <p:sldId id="1684" r:id="rId24"/>
    <p:sldId id="1685" r:id="rId25"/>
    <p:sldId id="1686" r:id="rId26"/>
    <p:sldId id="1687" r:id="rId27"/>
    <p:sldId id="1688" r:id="rId28"/>
    <p:sldId id="1689" r:id="rId29"/>
    <p:sldId id="1656" r:id="rId30"/>
    <p:sldId id="1668" r:id="rId31"/>
    <p:sldId id="1669" r:id="rId32"/>
    <p:sldId id="1670" r:id="rId33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5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信用户_R3yuaiaE" initials="authorId_1242556366" lastIdx="1724186634" clrIdx="0"/>
  <p:cmAuthor id="2" name="qhy" initials="qhy" lastIdx="2" clrIdx="0"/>
  <p:cmAuthor id="3" name="未知用户30" initials="未" lastIdx="2" clrIdx="0"/>
  <p:cmAuthor id="4" name="Microsoft Office 用户" initials="Office" lastIdx="0" clrIdx="0"/>
  <p:cmAuthor id="5" name="熊永钢" initials="b" lastIdx="5" clrIdx="1"/>
  <p:cmAuthor id="6" name="kingdee" initials="k" lastIdx="12" clrIdx="2"/>
  <p:cmAuthor id="7" name="Administrator" initials="A" lastIdx="4" clrIdx="3"/>
  <p:cmAuthor id="8" name="Stoddart, Jill" initials="S" lastIdx="218" clrIdx="3"/>
  <p:cmAuthor id="9" name="Harry xu" initials="H" lastIdx="1" clrIdx="0"/>
  <p:cmAuthor id="10" name="Faye Treichel" initials="F" lastIdx="29" clrIdx="4"/>
  <p:cmAuthor id="11" name="huang gerrard" initials="h" lastIdx="1" clrIdx="0"/>
  <p:cmAuthor id="12" name="sarah.schaper.design@gmail.com" initials="s" lastIdx="3" clrIdx="5"/>
  <p:cmAuthor id="13" name="Unknown User24" initials="U" lastIdx="1" clrIdx="0"/>
  <p:cmAuthor id="14" name="Guest User" initials="G" lastIdx="6" clrIdx="6"/>
  <p:cmAuthor id="15" name="PMO" initials="P" lastIdx="0" clrIdx="0"/>
  <p:cmAuthor id="16" name="未知的使用者51" initials="" lastIdx="10" clrIdx="0"/>
  <p:cmAuthor id="17" name="ThinkPad" initials="T" lastIdx="5" clrIdx="50"/>
  <p:cmAuthor id="18" name="曾蓓/贝贝" initials="曾" lastIdx="0" clrIdx="0"/>
  <p:cmAuthor id="19" name="施普希（菜菜）" initials="施" lastIdx="0" clrIdx="0"/>
  <p:cmAuthor id="20" name="Hanhua Chen" initials="HC" lastIdx="1" clrIdx="51"/>
  <p:cmAuthor id="21" name="Evonlin" initials="E" lastIdx="2" clrIdx="2"/>
  <p:cmAuthor id="22" name="阿如" initials="阿如" lastIdx="2" clrIdx="52">
    <p:extLst>
      <p:ext uri="{19B8F6BF-5375-455C-9EA6-DF929625EA0E}">
        <p15:presenceInfo xmlns:p15="http://schemas.microsoft.com/office/powerpoint/2012/main" userId="4050f0914e7a0a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953735"/>
    <a:srgbClr val="0854A0"/>
    <a:srgbClr val="FFFFFF"/>
    <a:srgbClr val="155DA5"/>
    <a:srgbClr val="00007D"/>
    <a:srgbClr val="FFFF00"/>
    <a:srgbClr val="DEEBF7"/>
    <a:srgbClr val="EEF2F9"/>
    <a:srgbClr val="E2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0" autoAdjust="0"/>
    <p:restoredTop sz="93939" autoAdjust="0"/>
  </p:normalViewPr>
  <p:slideViewPr>
    <p:cSldViewPr showGuides="1">
      <p:cViewPr varScale="1">
        <p:scale>
          <a:sx n="69" d="100"/>
          <a:sy n="69" d="100"/>
        </p:scale>
        <p:origin x="720" y="56"/>
      </p:cViewPr>
      <p:guideLst>
        <p:guide orient="horz" pos="2455"/>
        <p:guide pos="37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39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3C295-9646-4A84-B6C4-043532D1CE6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1049640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41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3784F-6181-40C2-A59C-FC3D8137F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3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240A2-734F-44AC-B559-278D0725AF81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104963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63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63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3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70F4B-DBE4-4645-B749-B935A39A1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5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70F4B-DBE4-4645-B749-B935A39A121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851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984D-9718-F790-61FF-56F66BD6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1B46E3FB-FF9E-512A-BF3B-B76D4D8B8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91A99181-6902-10E7-6C36-49C52D8B3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2CE7CE7C-6450-168D-6EDA-D3F4A972E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9065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39EC-93AB-9564-AC59-C2F583E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A1AF1151-2AC1-0156-872A-BEAD17E4D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4158C173-AA14-8EDE-B9EE-A6CBF4E78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1A7C8DA0-5140-5F23-1316-E4D0AD57B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139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F52D-C3D1-DF39-3B09-260FB7CB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2183C396-D3B1-8579-3A25-B6768DAD8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F3EB671B-FB1E-0C51-7ED3-39829E0CA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8B7E7AD8-1A0D-8715-2A17-A6FA674BB4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762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B517-0EE9-1DEB-9C36-DD6F33A5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D37159FF-9C52-419A-03EC-731CD0FC3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68CA35D4-333D-41CA-2910-04F0D0633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5E91A4F9-CF34-A7EA-CB6A-BA12E1581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0987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753D-48B4-D7B2-61A4-754E36AD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66E5D1A2-725D-CC7F-5EE5-31E19B1DF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2A536BFE-2078-EE31-C277-F1C78205E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F4D10E21-4EBF-CD49-1CB6-99654821B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704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BD127-0B8A-2BBD-3C73-56648260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2D4B0673-F56E-3047-F40E-F41C734DB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F1435A8F-4936-A2CA-0A8C-9D29F0E8A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8EF4F69D-55F3-B351-EF8D-DDB2D0852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888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3D6E-7244-7EEE-978D-AA82CE62D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7122FB43-B2A2-5374-2EA2-9CB3DCC19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782C79D-59D9-8928-AC90-15216E834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C515ADD6-613D-27E2-5AA1-1D0B3214D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132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07A7-3F16-D448-1365-A62C7D87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34A333E5-1272-D7BC-44C4-CB27537B0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92F56A73-3D78-F15B-9724-4FABFC96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505716FB-9C6D-01E1-431D-F83CE24BF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996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2725-CFDC-FAF6-C523-A1B3B8E6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EDC8ECF9-A131-D169-6AC7-5DFBE2CC1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6F07796E-0183-4E5F-CDC9-C65C03280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C1A47977-3150-B9E1-2F38-C2E8A11F7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999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B0EFB-7D50-4020-E141-0588975A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E604ACF8-6E88-967D-F109-0AFEB2D40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0DA95C0-E1C5-6DAF-86C6-3B46AEB48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5743F739-2733-6F35-E756-D14BEA932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919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3F8F-CE4C-8DDE-BEA1-A58286FB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CB5874E3-F1D4-8BCF-B655-6E69C78E5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8AA9931C-342F-1BA5-FC99-D28E43F73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C103A92C-A13B-D834-993C-417C6BD75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716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83AD-DCF6-3D77-633B-3280C824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D0102FC8-C01D-9DB7-CA5F-A2891C00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DF29FDB-5A28-2787-D76E-9B666C2FF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FD33BFCF-B032-1DDA-F79B-EA784D688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402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98BC-EFD9-3FA5-3605-1080BFDD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E7836187-7729-8F25-2706-E8724979A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F1C44B5-598C-2EBE-55D5-E838CC4CB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EAA4AE81-B3CB-73E4-771C-9797C503C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580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D671-287A-F567-BF60-8AAF3CE9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A7E04FC1-096B-E15C-ADD1-70E6AE6CB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F64DEAD-6D60-E06D-FB9A-F15ABAE50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BAB3F611-D5A9-9F7C-961E-F2E8E124C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179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E1E4-B513-C49C-C407-2CF6F14A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F6AAE7D6-5748-45CF-6120-C68466D36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E1131C1-F803-F720-8AB6-D3F21329C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547003D8-D42F-663E-34E2-E4E393FB2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528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88DB-6288-49F1-B0A1-151025B2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1EAB94C8-0DF1-CEC3-BBA8-61D800587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EE6B4CFD-0CB2-B3BE-9F42-17DCFF51F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1909BB4C-3EAB-B883-3E60-636B7A1A0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343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C5141-E300-DC91-A923-49BB586F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81F3E513-4F32-05B7-156A-5061AB8B9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E0949006-ECD5-CB3F-8F71-D587BFE94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0648B5E3-0E47-BAF1-7133-E3AB96BB5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411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647B-8C9C-50A2-52B1-AB89ED5F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D4E01E47-06AF-2E64-9D94-9676DE2DE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15DBBD8D-A8FF-69D1-16C2-449B26254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872B4C27-1F11-0509-C0FE-CA489B848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991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48C4-A627-BCD9-E685-A58CAF4B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678030D8-E5BF-DEF4-A7F4-1B441D589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2353D936-BC0C-C988-D5D9-0E979A509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1BF69CC4-ED6D-77A7-7245-61FD314D9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116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1BB8-FE4D-5F11-6CA4-4245CA13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CDA85AB0-E85E-FC42-9135-CB35F7B11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1929E3CE-42F8-AFC6-142B-CAE77B121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B8172A7F-DE11-6005-852C-D2376998D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446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E32C-4F65-BB31-94BD-3AA4CBF6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45F8AA4C-DBD5-DD1D-A13F-B19C847CC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FED142D-2477-F658-668E-F87593289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E9C7F43D-2C0C-6ADD-661D-73A8C3C46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501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4B47A-6264-696D-0686-027DD566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739F91CF-CDD2-0EB8-8046-8E8353D79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047D86B7-F2B1-BD1F-9028-58465DD93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85F6A9AB-15E7-61DE-E501-83B19F976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306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EDE4-3483-53FE-604D-B848BC87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148094CE-BC46-0F5D-7057-CAFB5D9D2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7D92CD8-CA60-2DB0-F24A-508E3CD69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9660B5A6-D0CF-A05E-A440-72BAD4F58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5254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4FD6-DAA0-D9A2-6B85-E9EF189A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DF24C271-9F15-6D8A-DBDA-2B1A5ABCE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B10856D-4C05-493E-743A-1C061AEE2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173AF026-ADA0-67FE-82BC-8B29764BF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9868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9A76-E4B4-B963-A563-78BECC5BE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A980E608-E498-8F92-7A27-9E24DBA9C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786EA994-3F47-91E2-75CF-78AD34BA0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B5AF6639-1984-349A-01EA-D564E7152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676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8FD7-E5AB-505E-A6A7-24BC9E03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3FEC9260-6B55-6A95-E393-F1BCD3C60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20A5B9E0-FAC4-3DC5-170A-7A0B158FC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04AC81DC-83AE-15AA-15EF-510B9EB78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020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15F5-78BC-94FB-A56B-278D42F0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EA36325E-D7DB-6810-5169-C9393E7FB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A47B95FD-5FC6-C97D-DBF6-DDF6B80ED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3B4A464F-C867-1354-70A7-6C5D9D423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774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C9C9-53C2-FCCB-B29F-C5255F4D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8DAB627D-402E-E510-E297-BFAD296CA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744ADDB0-CAE9-2857-1006-B2A380EDD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CB3D3B25-74EA-4BDD-25F4-62D8883F1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280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CD44-F940-F1FC-F4B8-679A6BF9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8289EC49-6899-5521-A3C4-6B146BCEF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B739198D-A93E-952D-E943-8F8DDC27F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75A2D498-AC89-CF97-57B6-CEEB618F7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0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440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1613" y="-14096"/>
            <a:ext cx="943263" cy="943263"/>
          </a:xfrm>
          <a:prstGeom prst="rect">
            <a:avLst/>
          </a:prstGeom>
        </p:spPr>
      </p:pic>
      <p:pic>
        <p:nvPicPr>
          <p:cNvPr id="2097441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7547" y="209043"/>
            <a:ext cx="2021287" cy="497037"/>
          </a:xfrm>
          <a:prstGeom prst="rect">
            <a:avLst/>
          </a:prstGeom>
        </p:spPr>
      </p:pic>
      <p:sp>
        <p:nvSpPr>
          <p:cNvPr id="1049628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599017" y="209552"/>
            <a:ext cx="4783789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lvl="0"/>
            <a:r>
              <a:rPr kumimoji="1" lang="zh-CN" altLang="en-US" dirty="0"/>
              <a:t>单击此处编辑母版文本样</a:t>
            </a:r>
          </a:p>
        </p:txBody>
      </p:sp>
      <p:sp>
        <p:nvSpPr>
          <p:cNvPr id="1049629" name="Text Box 5"/>
          <p:cNvSpPr txBox="1">
            <a:spLocks noChangeArrowheads="1"/>
          </p:cNvSpPr>
          <p:nvPr userDrawn="1"/>
        </p:nvSpPr>
        <p:spPr bwMode="auto">
          <a:xfrm>
            <a:off x="11585877" y="6442457"/>
            <a:ext cx="209883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231775" fontAlgn="base">
              <a:spcBef>
                <a:spcPct val="50000"/>
              </a:spcBef>
              <a:spcAft>
                <a:spcPct val="0"/>
              </a:spcAft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panose="02000503000000020004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 panose="020005030000000200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7" y="6442457"/>
            <a:ext cx="209883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231775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panose="02000503000000020004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 panose="02000503000000020004"/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1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5" y="682625"/>
            <a:ext cx="7793672" cy="2850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副标题，微软雅黑常规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3" y="210672"/>
            <a:ext cx="8913175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5095" y="187241"/>
            <a:ext cx="2314368" cy="55992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210672"/>
            <a:ext cx="189571" cy="469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4" name="矩形 3"/>
          <p:cNvSpPr/>
          <p:nvPr userDrawn="1"/>
        </p:nvSpPr>
        <p:spPr>
          <a:xfrm>
            <a:off x="262537" y="210672"/>
            <a:ext cx="126081" cy="469413"/>
          </a:xfrm>
          <a:prstGeom prst="rect">
            <a:avLst/>
          </a:prstGeom>
          <a:solidFill>
            <a:srgbClr val="2287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1"/>
          <p:cNvSpPr txBox="1"/>
          <p:nvPr userDrawn="1"/>
        </p:nvSpPr>
        <p:spPr>
          <a:xfrm>
            <a:off x="9264352" y="6309325"/>
            <a:ext cx="27432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890B23-47D2-4A6C-9E46-40D736F2607E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sp>
        <p:nvSpPr>
          <p:cNvPr id="1048577" name="textbox 84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2000" cy="715010"/>
          </a:xfrm>
          <a:prstGeom prst="rect">
            <a:avLst/>
          </a:prstGeom>
          <a:solidFill>
            <a:srgbClr val="0854A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 2"/>
          <p:cNvSpPr/>
          <p:nvPr>
            <p:custDataLst>
              <p:tags r:id="rId1"/>
            </p:custDataLst>
          </p:nvPr>
        </p:nvSpPr>
        <p:spPr>
          <a:xfrm>
            <a:off x="0" y="476672"/>
            <a:ext cx="12192000" cy="3888431"/>
          </a:xfrm>
          <a:prstGeom prst="rect">
            <a:avLst/>
          </a:prstGeom>
          <a:solidFill>
            <a:srgbClr val="0854A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581" name="textbox 14"/>
          <p:cNvSpPr/>
          <p:nvPr>
            <p:custDataLst>
              <p:tags r:id="rId2"/>
            </p:custDataLst>
          </p:nvPr>
        </p:nvSpPr>
        <p:spPr>
          <a:xfrm>
            <a:off x="3359695" y="4757257"/>
            <a:ext cx="5887085" cy="1440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r>
              <a:rPr lang="en-US" sz="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endParaRPr sz="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33" t="18587" r="5127" b="10065"/>
          <a:stretch>
            <a:fillRect/>
          </a:stretch>
        </p:blipFill>
        <p:spPr>
          <a:xfrm>
            <a:off x="8839835" y="-4445"/>
            <a:ext cx="3345815" cy="93599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3350FFF-7F4E-4451-BA89-36D36BEBB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0663"/>
            <a:ext cx="121856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编译原理</a:t>
            </a:r>
            <a:br>
              <a:rPr kumimoji="0" lang="en-US" altLang="zh-CN" sz="6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编译原理课程设计</a:t>
            </a: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57"/>
    </mc:Choice>
    <mc:Fallback xmlns="">
      <p:transition spd="slow" advTm="163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A6D18E3-361F-431A-9D7F-5FDD959F45F1}"/>
              </a:ext>
            </a:extLst>
          </p:cNvPr>
          <p:cNvGrpSpPr/>
          <p:nvPr/>
        </p:nvGrpSpPr>
        <p:grpSpPr>
          <a:xfrm>
            <a:off x="8434022" y="4280567"/>
            <a:ext cx="3978452" cy="3886035"/>
            <a:chOff x="7562167" y="1965744"/>
            <a:chExt cx="3780000" cy="3780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5386011-EE24-49BA-BF60-F38AFE4EC811}"/>
                </a:ext>
              </a:extLst>
            </p:cNvPr>
            <p:cNvSpPr/>
            <p:nvPr/>
          </p:nvSpPr>
          <p:spPr>
            <a:xfrm>
              <a:off x="7562167" y="1965744"/>
              <a:ext cx="3780000" cy="3780000"/>
            </a:xfrm>
            <a:prstGeom prst="ellipse">
              <a:avLst/>
            </a:prstGeom>
            <a:solidFill>
              <a:srgbClr val="E7E7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AB2FB46-6879-4CC7-96A0-1B492024336D}"/>
                </a:ext>
              </a:extLst>
            </p:cNvPr>
            <p:cNvSpPr/>
            <p:nvPr/>
          </p:nvSpPr>
          <p:spPr>
            <a:xfrm>
              <a:off x="8445194" y="2145460"/>
              <a:ext cx="468000" cy="46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75000"/>
                    <a:tint val="66000"/>
                    <a:satMod val="160000"/>
                  </a:schemeClr>
                </a:gs>
                <a:gs pos="50000">
                  <a:schemeClr val="accent1">
                    <a:lumMod val="75000"/>
                    <a:tint val="44500"/>
                    <a:satMod val="160000"/>
                  </a:schemeClr>
                </a:gs>
                <a:gs pos="100000">
                  <a:schemeClr val="accent1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0E70DEE-AE1D-47A3-A35A-C24378E882FA}"/>
                </a:ext>
              </a:extLst>
            </p:cNvPr>
            <p:cNvSpPr txBox="1"/>
            <p:nvPr/>
          </p:nvSpPr>
          <p:spPr>
            <a:xfrm>
              <a:off x="8847134" y="2193327"/>
              <a:ext cx="1797506" cy="389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中国推广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F1A6067-F10C-4B26-9CB6-90F11B02924D}"/>
                </a:ext>
              </a:extLst>
            </p:cNvPr>
            <p:cNvSpPr txBox="1"/>
            <p:nvPr/>
          </p:nvSpPr>
          <p:spPr>
            <a:xfrm>
              <a:off x="8210434" y="2767660"/>
              <a:ext cx="2761026" cy="1526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华为战略支持了在中国举办的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 China Conf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大会，并推行多项社区活动。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华为也为为中国的开发者提供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教程和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编码规范等。</a:t>
              </a:r>
              <a:endPara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FCD90-A964-4D91-B016-4E73289900B5}"/>
              </a:ext>
            </a:extLst>
          </p:cNvPr>
          <p:cNvGrpSpPr/>
          <p:nvPr/>
        </p:nvGrpSpPr>
        <p:grpSpPr>
          <a:xfrm>
            <a:off x="5241420" y="4268797"/>
            <a:ext cx="3978452" cy="3888219"/>
            <a:chOff x="4136305" y="1965744"/>
            <a:chExt cx="3780000" cy="378000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4351071-B839-45CC-A44E-8E095FF24A49}"/>
                </a:ext>
              </a:extLst>
            </p:cNvPr>
            <p:cNvSpPr/>
            <p:nvPr/>
          </p:nvSpPr>
          <p:spPr>
            <a:xfrm>
              <a:off x="4136305" y="1965744"/>
              <a:ext cx="3780000" cy="3780000"/>
            </a:xfrm>
            <a:prstGeom prst="ellipse">
              <a:avLst/>
            </a:prstGeom>
            <a:solidFill>
              <a:srgbClr val="E7E7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CAB4CC0-096A-4255-9205-3AFEEAF22436}"/>
                </a:ext>
              </a:extLst>
            </p:cNvPr>
            <p:cNvSpPr/>
            <p:nvPr/>
          </p:nvSpPr>
          <p:spPr>
            <a:xfrm>
              <a:off x="5042314" y="2153116"/>
              <a:ext cx="468000" cy="4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tint val="66000"/>
                    <a:satMod val="160000"/>
                  </a:schemeClr>
                </a:gs>
                <a:gs pos="50000">
                  <a:schemeClr val="bg1">
                    <a:lumMod val="65000"/>
                    <a:tint val="44500"/>
                    <a:satMod val="160000"/>
                  </a:schemeClr>
                </a:gs>
                <a:gs pos="100000">
                  <a:schemeClr val="bg1">
                    <a:lumMod val="6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AEF0C75-AF07-4D13-8BCF-BA97915057E7}"/>
                </a:ext>
              </a:extLst>
            </p:cNvPr>
            <p:cNvSpPr txBox="1"/>
            <p:nvPr/>
          </p:nvSpPr>
          <p:spPr>
            <a:xfrm>
              <a:off x="5437458" y="2204642"/>
              <a:ext cx="1829979" cy="388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社区贡献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65B6A9-123F-4A52-A545-D8995A2E75A8}"/>
                </a:ext>
              </a:extLst>
            </p:cNvPr>
            <p:cNvSpPr txBox="1"/>
            <p:nvPr/>
          </p:nvSpPr>
          <p:spPr>
            <a:xfrm>
              <a:off x="4376741" y="2753513"/>
              <a:ext cx="2840629" cy="2004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华为深度参与了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社区中，贡献了包括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到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转换、内联汇编、交叉编译、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Parking Lot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并发库、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SIMD 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基础库、文档导航、代码多态化、热补丁、</a:t>
              </a:r>
              <a:r>
                <a:rPr lang="en-US" altLang="zh-CN" sz="1600" b="1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AOP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等特性。</a:t>
              </a:r>
              <a:endParaRPr lang="en-US" altLang="zh-CN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buFont typeface="Wingdings" panose="05000000000000000000" pitchFamily="2" charset="2"/>
                <a:buChar char="l"/>
              </a:pPr>
              <a:endParaRPr lang="zh-CN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EB3AE-BC98-4293-85C9-35572103EE47}"/>
              </a:ext>
            </a:extLst>
          </p:cNvPr>
          <p:cNvSpPr txBox="1"/>
          <p:nvPr/>
        </p:nvSpPr>
        <p:spPr>
          <a:xfrm>
            <a:off x="6453265" y="1161663"/>
            <a:ext cx="5624435" cy="879113"/>
          </a:xfrm>
          <a:prstGeom prst="rect">
            <a:avLst/>
          </a:prstGeom>
          <a:noFill/>
          <a:ln w="25400" cmpd="sng">
            <a:solidFill>
              <a:srgbClr val="003366"/>
            </a:solidFill>
            <a:headEnd/>
            <a:tailEnd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eaLnBrk="0" hangingPunct="0">
              <a:lnSpc>
                <a:spcPct val="125000"/>
              </a:lnSpc>
              <a:buClr>
                <a:schemeClr val="bg2"/>
              </a:buClr>
              <a:buSzPct val="75000"/>
              <a:defRPr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lvl="1" fontAlgn="base">
              <a:spcBef>
                <a:spcPct val="0"/>
              </a:spcBef>
              <a:spcAft>
                <a:spcPct val="0"/>
              </a:spcAft>
              <a:defRPr b="1">
                <a:solidFill>
                  <a:srgbClr val="4D4D4D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是一门能够安全高效地编写系统级程序的语言，在内存安全方面具有显著优势。</a:t>
            </a:r>
            <a:endParaRPr kumimoji="0" lang="en-US" altLang="zh-CN" sz="2200" b="1" i="0" u="none" strike="noStrike" kern="1200" cap="none" spc="0" normalizeH="0" baseline="0" noProof="1">
              <a:ln>
                <a:noFill/>
              </a:ln>
              <a:solidFill>
                <a:srgbClr val="4D4D4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CBC9B6-1693-421D-8875-1CDBF680AB9E}"/>
              </a:ext>
            </a:extLst>
          </p:cNvPr>
          <p:cNvSpPr/>
          <p:nvPr/>
        </p:nvSpPr>
        <p:spPr>
          <a:xfrm>
            <a:off x="7389586" y="2263237"/>
            <a:ext cx="4688114" cy="96316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知名问答平台</a:t>
            </a:r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StackOverflow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的调查表明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年以来，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一直是开发者最爱的编程语言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5" name="Picture 2" descr="Stack Overflow (@StackOverflow) / X">
            <a:extLst>
              <a:ext uri="{FF2B5EF4-FFF2-40B4-BE49-F238E27FC236}">
                <a16:creationId xmlns:a16="http://schemas.microsoft.com/office/drawing/2014/main" id="{238F9C14-6F73-4933-B3F5-19AF68778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2" t="15945" r="18958" b="16519"/>
          <a:stretch/>
        </p:blipFill>
        <p:spPr bwMode="auto">
          <a:xfrm>
            <a:off x="6175049" y="2263237"/>
            <a:ext cx="863398" cy="96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B5DA1F-96AB-4D24-8011-AE25FAF76677}"/>
              </a:ext>
            </a:extLst>
          </p:cNvPr>
          <p:cNvSpPr/>
          <p:nvPr/>
        </p:nvSpPr>
        <p:spPr>
          <a:xfrm>
            <a:off x="2163792" y="3500186"/>
            <a:ext cx="3739570" cy="611340"/>
          </a:xfrm>
          <a:prstGeom prst="round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996075-65EC-4F54-AFD6-A4EC88557402}"/>
              </a:ext>
            </a:extLst>
          </p:cNvPr>
          <p:cNvSpPr/>
          <p:nvPr/>
        </p:nvSpPr>
        <p:spPr>
          <a:xfrm>
            <a:off x="2172024" y="2663756"/>
            <a:ext cx="3739570" cy="612367"/>
          </a:xfrm>
          <a:prstGeom prst="round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EBBD6A-F53C-48E1-92EA-177CB4BD65CF}"/>
              </a:ext>
            </a:extLst>
          </p:cNvPr>
          <p:cNvSpPr/>
          <p:nvPr/>
        </p:nvSpPr>
        <p:spPr>
          <a:xfrm>
            <a:off x="2172024" y="1836015"/>
            <a:ext cx="3739571" cy="600165"/>
          </a:xfrm>
          <a:prstGeom prst="round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E7D4B83-64EC-4D28-9F9F-F458E8088624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1453073" y="2966316"/>
            <a:ext cx="725008" cy="249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2C26FCEB-E6B3-43BA-BE24-D4CECC1C104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1453073" y="2123221"/>
            <a:ext cx="725012" cy="84309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24461E7-73C2-45EE-BD2C-5E9A2234BE00}"/>
              </a:ext>
            </a:extLst>
          </p:cNvPr>
          <p:cNvSpPr/>
          <p:nvPr/>
        </p:nvSpPr>
        <p:spPr>
          <a:xfrm>
            <a:off x="214832" y="2666233"/>
            <a:ext cx="1238241" cy="600165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532D206-3765-4910-A143-A685BEE6ADC1}"/>
              </a:ext>
            </a:extLst>
          </p:cNvPr>
          <p:cNvSpPr/>
          <p:nvPr/>
        </p:nvSpPr>
        <p:spPr>
          <a:xfrm>
            <a:off x="2178085" y="1836856"/>
            <a:ext cx="1264631" cy="572729"/>
          </a:xfrm>
          <a:prstGeom prst="roundRect">
            <a:avLst/>
          </a:prstGeom>
          <a:solidFill>
            <a:srgbClr val="D17F7D"/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7B7FD6D-8100-425B-8875-ECF630D276BF}"/>
              </a:ext>
            </a:extLst>
          </p:cNvPr>
          <p:cNvSpPr/>
          <p:nvPr/>
        </p:nvSpPr>
        <p:spPr>
          <a:xfrm>
            <a:off x="2178081" y="2668727"/>
            <a:ext cx="1264634" cy="600165"/>
          </a:xfrm>
          <a:prstGeom prst="roundRect">
            <a:avLst/>
          </a:prstGeom>
          <a:solidFill>
            <a:srgbClr val="D17F7D"/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可靠性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9F68931-DEB4-4940-AE1D-2208C51E9BC5}"/>
              </a:ext>
            </a:extLst>
          </p:cNvPr>
          <p:cNvSpPr/>
          <p:nvPr/>
        </p:nvSpPr>
        <p:spPr>
          <a:xfrm>
            <a:off x="2169848" y="3503654"/>
            <a:ext cx="1272868" cy="600164"/>
          </a:xfrm>
          <a:prstGeom prst="roundRect">
            <a:avLst/>
          </a:prstGeom>
          <a:solidFill>
            <a:srgbClr val="D17F7D"/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生态性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138EAFC2-2886-4A22-9C93-F89013EFA226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1453073" y="2966316"/>
            <a:ext cx="716775" cy="83742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DCEED09-05C5-4CE8-9BC8-99403B7B16F2}"/>
              </a:ext>
            </a:extLst>
          </p:cNvPr>
          <p:cNvSpPr txBox="1"/>
          <p:nvPr/>
        </p:nvSpPr>
        <p:spPr>
          <a:xfrm>
            <a:off x="3485389" y="1842030"/>
            <a:ext cx="24262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速度极快，性能比肩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语言，内存效率极高，无需运行时或垃圾收集器，可以为性能关键型服务提供支持。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403A5A-0F4E-4E5D-8B94-C9BCF6422E45}"/>
              </a:ext>
            </a:extLst>
          </p:cNvPr>
          <p:cNvSpPr txBox="1"/>
          <p:nvPr/>
        </p:nvSpPr>
        <p:spPr>
          <a:xfrm>
            <a:off x="3485387" y="2675959"/>
            <a:ext cx="24993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丰富的类型系统和所有权模型保证了内存安全和线程安全，使编程人员能够在编译时消除许多类别的错误。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0ABF390-2F87-4F37-93E9-88392A9701E2}"/>
              </a:ext>
            </a:extLst>
          </p:cNvPr>
          <p:cNvSpPr txBox="1"/>
          <p:nvPr/>
        </p:nvSpPr>
        <p:spPr>
          <a:xfrm>
            <a:off x="3485386" y="3534120"/>
            <a:ext cx="24262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拥有出色的文档、带有有用错误消息的友好编译器、集成的包管理器和构建工具、自动格式化程序等。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90975FB-703A-47FE-AF87-4E629E198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551" y="3815296"/>
            <a:ext cx="1386960" cy="396274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6D8AB824-9130-484B-A411-DAA7A2583F20}"/>
              </a:ext>
            </a:extLst>
          </p:cNvPr>
          <p:cNvSpPr/>
          <p:nvPr/>
        </p:nvSpPr>
        <p:spPr>
          <a:xfrm>
            <a:off x="7389586" y="3494703"/>
            <a:ext cx="4688114" cy="963168"/>
          </a:xfrm>
          <a:prstGeom prst="rect">
            <a:avLst/>
          </a:prstGeom>
          <a:solidFill>
            <a:schemeClr val="dk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《Nature》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杂志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年尾的文章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《Why Scientists are Turning to Rust》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中也强调：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科学家极为推崇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B3CB4F9-86D4-475C-BD2C-3BF003C401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09" y="985742"/>
            <a:ext cx="2582973" cy="56519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603B28A4-2714-4629-8D21-D9849C9A0DE2}"/>
              </a:ext>
            </a:extLst>
          </p:cNvPr>
          <p:cNvSpPr txBox="1"/>
          <p:nvPr/>
        </p:nvSpPr>
        <p:spPr>
          <a:xfrm>
            <a:off x="69038" y="4697747"/>
            <a:ext cx="1872801" cy="2044429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953735"/>
            </a:solidFill>
            <a:headEnd/>
            <a:tailEnd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eaLnBrk="0" hangingPunct="0">
              <a:lnSpc>
                <a:spcPct val="125000"/>
              </a:lnSpc>
              <a:buClr>
                <a:schemeClr val="bg2"/>
              </a:buClr>
              <a:buSzPct val="75000"/>
              <a:defRPr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lvl="1" fontAlgn="base">
              <a:spcBef>
                <a:spcPct val="0"/>
              </a:spcBef>
              <a:spcAft>
                <a:spcPct val="0"/>
              </a:spcAft>
              <a:defRPr b="1">
                <a:solidFill>
                  <a:srgbClr val="4D4D4D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华为是五位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基金会创始白金会员成员之一，引领了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语言的发展。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4D4D4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A371A19-8751-4B9D-B478-1D4B851341E3}"/>
              </a:ext>
            </a:extLst>
          </p:cNvPr>
          <p:cNvGrpSpPr/>
          <p:nvPr/>
        </p:nvGrpSpPr>
        <p:grpSpPr>
          <a:xfrm>
            <a:off x="1972320" y="4271198"/>
            <a:ext cx="3978452" cy="3889140"/>
            <a:chOff x="632935" y="2126681"/>
            <a:chExt cx="3780000" cy="378000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82A8DE5-BA3E-48A0-AE92-495B3D82996E}"/>
                </a:ext>
              </a:extLst>
            </p:cNvPr>
            <p:cNvSpPr/>
            <p:nvPr/>
          </p:nvSpPr>
          <p:spPr>
            <a:xfrm>
              <a:off x="632935" y="2126681"/>
              <a:ext cx="3780000" cy="3780000"/>
            </a:xfrm>
            <a:prstGeom prst="ellipse">
              <a:avLst/>
            </a:prstGeom>
            <a:solidFill>
              <a:srgbClr val="E7E7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724CB8A-818C-44E6-B46F-6F798BBD2189}"/>
                </a:ext>
              </a:extLst>
            </p:cNvPr>
            <p:cNvSpPr/>
            <p:nvPr/>
          </p:nvSpPr>
          <p:spPr>
            <a:xfrm>
              <a:off x="1516193" y="2320982"/>
              <a:ext cx="468000" cy="46800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0D29358-AF7F-426D-AB9C-085A1CDEA665}"/>
                </a:ext>
              </a:extLst>
            </p:cNvPr>
            <p:cNvSpPr txBox="1"/>
            <p:nvPr/>
          </p:nvSpPr>
          <p:spPr>
            <a:xfrm>
              <a:off x="1921793" y="2351577"/>
              <a:ext cx="1687020" cy="982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华为内部使用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08D7C8E-974E-4EE5-A6FB-CF10531C2022}"/>
                </a:ext>
              </a:extLst>
            </p:cNvPr>
            <p:cNvSpPr txBox="1"/>
            <p:nvPr/>
          </p:nvSpPr>
          <p:spPr>
            <a:xfrm>
              <a:off x="938760" y="2823056"/>
              <a:ext cx="2942138" cy="1764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广泛用于嵌入式系统开发、系统驱动、云计算、虚拟存储、网络传输协议、并发编程框架基础库等产品中。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华为实验室正基于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探索先进的代码解析、安全分析等工具。</a:t>
              </a:r>
              <a:endPara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46EB6919-CC23-4DD7-951F-CC28FE6072A2}"/>
              </a:ext>
            </a:extLst>
          </p:cNvPr>
          <p:cNvSpPr txBox="1"/>
          <p:nvPr/>
        </p:nvSpPr>
        <p:spPr>
          <a:xfrm>
            <a:off x="87564" y="33440"/>
            <a:ext cx="62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编译器实现</a:t>
            </a:r>
          </a:p>
        </p:txBody>
      </p:sp>
    </p:spTree>
    <p:extLst>
      <p:ext uri="{BB962C8B-B14F-4D97-AF65-F5344CB8AC3E}">
        <p14:creationId xmlns:p14="http://schemas.microsoft.com/office/powerpoint/2010/main" val="52700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4C10055-75B4-4C67-9664-E6B9109E966F}"/>
              </a:ext>
            </a:extLst>
          </p:cNvPr>
          <p:cNvSpPr txBox="1">
            <a:spLocks/>
          </p:cNvSpPr>
          <p:nvPr/>
        </p:nvSpPr>
        <p:spPr bwMode="auto">
          <a:xfrm>
            <a:off x="700356" y="1867322"/>
            <a:ext cx="1079128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掌握使用高级程序语言实现一个一遍完成的、简单语言的编译器的方法；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掌握简单的词法分析器、语法分析器、符号表管理、中间代码生成以及目标代码生成的实现方法；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掌握将生成代码写入文件的技术。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53CAE6F-961E-4CEA-6858-49A55D78B892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</a:t>
            </a:r>
          </a:p>
        </p:txBody>
      </p:sp>
    </p:spTree>
    <p:extLst>
      <p:ext uri="{BB962C8B-B14F-4D97-AF65-F5344CB8AC3E}">
        <p14:creationId xmlns:p14="http://schemas.microsoft.com/office/powerpoint/2010/main" val="317925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65D7-1F56-3603-16E1-F7106EC1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96AFE1D-A281-1F49-F773-C3C3BFB8201C}"/>
              </a:ext>
            </a:extLst>
          </p:cNvPr>
          <p:cNvSpPr txBox="1">
            <a:spLocks/>
          </p:cNvSpPr>
          <p:nvPr/>
        </p:nvSpPr>
        <p:spPr bwMode="auto">
          <a:xfrm>
            <a:off x="700356" y="836712"/>
            <a:ext cx="1079128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使用高级程序语言作为实现语言，实现一个类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语言的编译器。编码实现编译器的组成部分。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要求的类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编译器是个一遍的编译程序，词法分析程序作为子程序，需要的时候被语法分析程序调用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使用语法制导的翻译技术，在语法分析的同时生成中间代码，并保存到文件中。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要求输入类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语言源程序，输出中间代码表示的程序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要求输入类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语言源程序，输出目标代码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可汇编执行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的程序。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BDFC458-B83F-D90D-3AA3-CA918740ADFD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课程设计的要求</a:t>
            </a:r>
          </a:p>
        </p:txBody>
      </p:sp>
    </p:spTree>
    <p:extLst>
      <p:ext uri="{BB962C8B-B14F-4D97-AF65-F5344CB8AC3E}">
        <p14:creationId xmlns:p14="http://schemas.microsoft.com/office/powerpoint/2010/main" val="275527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1D95-DC49-CFBD-92A5-2D91A3C3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A73600A-6386-7D17-6BA9-24E19649FA99}"/>
              </a:ext>
            </a:extLst>
          </p:cNvPr>
          <p:cNvSpPr txBox="1">
            <a:spLocks/>
          </p:cNvSpPr>
          <p:nvPr/>
        </p:nvSpPr>
        <p:spPr bwMode="auto">
          <a:xfrm>
            <a:off x="700356" y="836712"/>
            <a:ext cx="1079128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编译器源程序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编译器可执行程序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设计说明书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 defTabSz="914400">
              <a:lnSpc>
                <a:spcPct val="150000"/>
              </a:lnSpc>
              <a:buClrTx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系统方案设计说明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 defTabSz="914400">
              <a:lnSpc>
                <a:spcPct val="150000"/>
              </a:lnSpc>
              <a:buClrTx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程序功能描述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 defTabSz="914400">
              <a:lnSpc>
                <a:spcPct val="150000"/>
              </a:lnSpc>
              <a:buClrTx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程序具体实现：主要算法、基本框图、主要模块、功能函数等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 defTabSz="914400">
              <a:lnSpc>
                <a:spcPct val="150000"/>
              </a:lnSpc>
              <a:buClrTx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执行界面和运行结果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 defTabSz="914400">
              <a:lnSpc>
                <a:spcPct val="150000"/>
              </a:lnSpc>
              <a:buClrTx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设计中遇到的问题及解决方法或设计体会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1" indent="0" defTabSz="914400">
              <a:lnSpc>
                <a:spcPct val="150000"/>
              </a:lnSpc>
              <a:buClrTx/>
              <a:buNone/>
              <a:defRPr/>
            </a:pP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⑥ </a:t>
            </a: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辅助编程相关历程、启示、心得等（如有）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17EFCE-A72A-08FD-CBB7-DF529BF2F470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提交的文档</a:t>
            </a:r>
          </a:p>
        </p:txBody>
      </p:sp>
    </p:spTree>
    <p:extLst>
      <p:ext uri="{BB962C8B-B14F-4D97-AF65-F5344CB8AC3E}">
        <p14:creationId xmlns:p14="http://schemas.microsoft.com/office/powerpoint/2010/main" val="243746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7E7A-52FA-3052-0CFF-58DFF317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42A367B5-4030-DAAC-8D43-5561A5137F6C}"/>
              </a:ext>
            </a:extLst>
          </p:cNvPr>
          <p:cNvSpPr txBox="1">
            <a:spLocks/>
          </p:cNvSpPr>
          <p:nvPr/>
        </p:nvSpPr>
        <p:spPr bwMode="auto">
          <a:xfrm>
            <a:off x="700356" y="836712"/>
            <a:ext cx="1079128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需求分析能力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系统方案（算法）设计能力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编程能力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撰写报告能力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完成每组可得到对应⭐️，凑齐至少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颗⭐️可以申请优秀，否则至多为良。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CB2E80-196A-83AA-8487-3A12A17BDEE4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08A555-51A4-0420-3B4E-C4991EFE28F2}"/>
              </a:ext>
            </a:extLst>
          </p:cNvPr>
          <p:cNvSpPr/>
          <p:nvPr/>
        </p:nvSpPr>
        <p:spPr>
          <a:xfrm>
            <a:off x="1127448" y="4149080"/>
            <a:ext cx="5400600" cy="23610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0050" lvl="1" indent="-360000" defTabSz="914400">
              <a:lnSpc>
                <a:spcPct val="120000"/>
              </a:lnSpc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：⭐️⭐️</a:t>
            </a:r>
            <a:endParaRPr lang="en-US" altLang="zh-CN" sz="20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20000"/>
              </a:lnSpc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：⭐️⭐️</a:t>
            </a:r>
            <a:endParaRPr lang="en-US" altLang="zh-CN" sz="20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20000"/>
              </a:lnSpc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：⭐️⭐️⭐️⭐️</a:t>
            </a:r>
            <a:endParaRPr lang="en-US" altLang="zh-CN" sz="20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20000"/>
              </a:lnSpc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：⭐️⭐️⭐️</a:t>
            </a:r>
            <a:endParaRPr lang="en-US" altLang="zh-CN" sz="20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20000"/>
              </a:lnSpc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：⭐️⭐️⭐️</a:t>
            </a:r>
            <a:endParaRPr lang="en-US" altLang="zh-CN" sz="20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20000"/>
              </a:lnSpc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</a:t>
            </a:r>
            <a:r>
              <a:rPr lang="zh-CN" altLang="en-US" sz="20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：⭐️⭐️⭐️</a:t>
            </a:r>
            <a:endParaRPr lang="en-US" altLang="zh-CN" sz="20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1938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E72F-997F-E4FD-EEB5-11E15319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AB48EEE-0089-8384-BB62-78512869FC4E}"/>
              </a:ext>
            </a:extLst>
          </p:cNvPr>
          <p:cNvSpPr txBox="1">
            <a:spLocks/>
          </p:cNvSpPr>
          <p:nvPr/>
        </p:nvSpPr>
        <p:spPr bwMode="auto">
          <a:xfrm>
            <a:off x="700356" y="836712"/>
            <a:ext cx="1079128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设计报告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提交一个压缩包，包括：设计说明书（电子版）、源程序、可执行程序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0050" lvl="1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申请优秀者须参加线上答辩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60100" lvl="2" indent="-360000" defTabSz="914400">
              <a:lnSpc>
                <a:spcPct val="150000"/>
              </a:lnSpc>
              <a:buClrTx/>
              <a:defRPr/>
            </a:pP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线上答辩时间：讲解</a:t>
            </a:r>
            <a:r>
              <a:rPr lang="en-US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en-US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演示（录屏）</a:t>
            </a:r>
            <a:r>
              <a:rPr lang="en-US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en-US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提问</a:t>
            </a:r>
            <a:r>
              <a:rPr lang="en-US" altLang="zh-CN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3D9C00C-6186-35C3-EDBF-87D05C6984A1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考核方法</a:t>
            </a:r>
          </a:p>
        </p:txBody>
      </p:sp>
    </p:spTree>
    <p:extLst>
      <p:ext uri="{BB962C8B-B14F-4D97-AF65-F5344CB8AC3E}">
        <p14:creationId xmlns:p14="http://schemas.microsoft.com/office/powerpoint/2010/main" val="70718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BA81-F54A-0366-5657-8C96D95D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41818B0-6A79-C9D0-6694-6FB3AC36D9A1}"/>
              </a:ext>
            </a:extLst>
          </p:cNvPr>
          <p:cNvSpPr txBox="1">
            <a:spLocks/>
          </p:cNvSpPr>
          <p:nvPr/>
        </p:nvSpPr>
        <p:spPr bwMode="auto">
          <a:xfrm>
            <a:off x="700356" y="836712"/>
            <a:ext cx="10791288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含源代码、可执行代码和设计说明书文档的压缩包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提交时间：截止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00" lvl="0" indent="-360000" defTabSz="914400">
              <a:lnSpc>
                <a:spcPct val="150000"/>
              </a:lnSpc>
              <a:buClrTx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线上答辩时间：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A8BAFC5-A543-AA6B-153B-BD4F37B3B16D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上交形式和时间</a:t>
            </a:r>
          </a:p>
        </p:txBody>
      </p:sp>
    </p:spTree>
    <p:extLst>
      <p:ext uri="{BB962C8B-B14F-4D97-AF65-F5344CB8AC3E}">
        <p14:creationId xmlns:p14="http://schemas.microsoft.com/office/powerpoint/2010/main" val="168363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3DD6-38DF-5746-6EF8-BE8F7B62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258D7F0D-F807-DC9A-39F1-E73B7609A1F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967860-3E2A-4248-93EB-E8E333694AB6}"/>
              </a:ext>
            </a:extLst>
          </p:cNvPr>
          <p:cNvSpPr txBox="1"/>
          <p:nvPr/>
        </p:nvSpPr>
        <p:spPr>
          <a:xfrm>
            <a:off x="87288" y="910009"/>
            <a:ext cx="6440760" cy="4123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基础程序</a:t>
            </a:r>
            <a:endParaRPr lang="en-US" altLang="zh-CN" sz="20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Program 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声明串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声明串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声明串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   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fn &lt;ID&gt; '('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      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'{'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'}'     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语义说明：定义了一个最基础的程序结构，支持声明若干个函数，每个函数无参数且函数体为空。</a:t>
            </a: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96CA1E-75E5-64AE-AB7C-94EF80660E03}"/>
              </a:ext>
            </a:extLst>
          </p:cNvPr>
          <p:cNvSpPr txBox="1"/>
          <p:nvPr/>
        </p:nvSpPr>
        <p:spPr>
          <a:xfrm>
            <a:off x="6753334" y="836712"/>
            <a:ext cx="4968552" cy="597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mut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语义说明：允许变量被二次赋值，后续拓展的不可变变量不允许被二次赋值。</a:t>
            </a:r>
          </a:p>
          <a:p>
            <a:pPr marL="0" lvl="1">
              <a:lnSpc>
                <a:spcPct val="120000"/>
              </a:lnSpc>
            </a:pP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i32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语义说明：支持基础类型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位的整型。</a:t>
            </a: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&lt;ID&gt;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语义说明：标识符的一些属性：可作为左值、可取引用、可取元素。</a:t>
            </a:r>
            <a:endParaRPr lang="en-US" altLang="zh-CN" sz="20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F6B71F-481E-0677-B162-52CEC72F3D43}"/>
              </a:ext>
            </a:extLst>
          </p:cNvPr>
          <p:cNvSpPr txBox="1"/>
          <p:nvPr/>
        </p:nvSpPr>
        <p:spPr>
          <a:xfrm>
            <a:off x="502870" y="5417300"/>
            <a:ext cx="3720922" cy="10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program_1_1() {</a:t>
            </a:r>
          </a:p>
          <a:p>
            <a:pPr marL="0" lvl="1">
              <a:lnSpc>
                <a:spcPct val="120000"/>
              </a:lnSpc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4708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E6FFD-FC18-C69C-FB39-67E09262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42D32F61-F898-25D5-77D5-E1687ADF0F3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A9623C-4F03-9B7E-3596-A8E721CBCD44}"/>
              </a:ext>
            </a:extLst>
          </p:cNvPr>
          <p:cNvSpPr txBox="1"/>
          <p:nvPr/>
        </p:nvSpPr>
        <p:spPr>
          <a:xfrm>
            <a:off x="8472264" y="814140"/>
            <a:ext cx="371973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program_1_2()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;;;;;;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program_1_3()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program_1_4(mut a:i32)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program_1_5__1() -&gt; i32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1;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program_1_5__2() -&gt; i32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program_1_5__3()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1;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BFF234-5B90-03FD-3DB5-36E1FBA673FE}"/>
              </a:ext>
            </a:extLst>
          </p:cNvPr>
          <p:cNvSpPr txBox="1"/>
          <p:nvPr/>
        </p:nvSpPr>
        <p:spPr>
          <a:xfrm>
            <a:off x="76324" y="807368"/>
            <a:ext cx="8395940" cy="604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语句（拓展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   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语义说明：语句串由任意数量个语句构成，单个分号可以作为一个语句。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返回语句（拓展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return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用于从函数调用中退出，并将控制权交还给调用者。目前不支持返回值。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函数输入（依赖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 ':'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语义说明：函数声明时接收参数，参数具有指定的类型。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函数输出（依赖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fn &lt;ID&gt; '('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 '-&gt;'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return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支持标注返回类型，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支持返回一个表达式的值。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5EF205-2945-842B-8A32-81C95D5B38B0}"/>
              </a:ext>
            </a:extLst>
          </p:cNvPr>
          <p:cNvSpPr txBox="1"/>
          <p:nvPr/>
        </p:nvSpPr>
        <p:spPr>
          <a:xfrm>
            <a:off x="9599189" y="5025504"/>
            <a:ext cx="2305181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返回语句的类型（空）和函数声明返回类型（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84D2CC-D4F8-793D-7390-C2DC7FE7F91B}"/>
              </a:ext>
            </a:extLst>
          </p:cNvPr>
          <p:cNvSpPr txBox="1"/>
          <p:nvPr/>
        </p:nvSpPr>
        <p:spPr>
          <a:xfrm>
            <a:off x="9599189" y="6043860"/>
            <a:ext cx="2305181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返回语句的类型（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）和函数声明返回类型（空）不一致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2459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0E62-2BBE-2151-967F-12F6BF88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8AC80F4-C918-821F-9468-3E21B60B47F2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01E2BE-8CE7-D814-EB1A-21231B47BBB8}"/>
              </a:ext>
            </a:extLst>
          </p:cNvPr>
          <p:cNvSpPr txBox="1"/>
          <p:nvPr/>
        </p:nvSpPr>
        <p:spPr>
          <a:xfrm>
            <a:off x="0" y="864816"/>
            <a:ext cx="8688288" cy="4318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</a:t>
            </a:r>
          </a:p>
          <a:p>
            <a:pPr marL="990600" lvl="1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 ':'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语义说明：允许两种变量声明：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声明一个变量但不指定类型，后续需要对该变量进行赋值来支持编译器推导类型；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声明一个变量且指定类型。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变量声明语句（依赖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let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语义说明：变量声明语句需在变量声明前加上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关键字，变量允许被二次声明，每次声明隐藏之前的绑定，称为重影。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1F1FD5-D0F3-94A7-89E1-2076D5E84FEA}"/>
              </a:ext>
            </a:extLst>
          </p:cNvPr>
          <p:cNvSpPr txBox="1"/>
          <p:nvPr/>
        </p:nvSpPr>
        <p:spPr>
          <a:xfrm>
            <a:off x="8787184" y="905616"/>
            <a:ext cx="34048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program_2_1__1()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program_2_1__2()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b=1;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program_2_1__3()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program_2_1__4()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a:i32; 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a=1;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937229-094A-55E8-00FF-692A10FDB1E1}"/>
              </a:ext>
            </a:extLst>
          </p:cNvPr>
          <p:cNvSpPr txBox="1"/>
          <p:nvPr/>
        </p:nvSpPr>
        <p:spPr>
          <a:xfrm>
            <a:off x="10460847" y="3429000"/>
            <a:ext cx="1399275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后续无法推断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8B203E-52ED-5CF1-2F8A-17BEBBB89EA6}"/>
              </a:ext>
            </a:extLst>
          </p:cNvPr>
          <p:cNvSpPr txBox="1"/>
          <p:nvPr/>
        </p:nvSpPr>
        <p:spPr>
          <a:xfrm>
            <a:off x="10489592" y="4641138"/>
            <a:ext cx="1399275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可以二次声明，称为重影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68AADA-2D0C-0279-D98B-955190640554}"/>
              </a:ext>
            </a:extLst>
          </p:cNvPr>
          <p:cNvSpPr txBox="1"/>
          <p:nvPr/>
        </p:nvSpPr>
        <p:spPr>
          <a:xfrm>
            <a:off x="10489592" y="2256632"/>
            <a:ext cx="1399275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后续可以判断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的类型为整型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98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15B7-DD09-4486-E193-6C2AD9BEE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2D860A8C-CA59-3E75-282B-19718245C817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6F6278-25F6-0B52-BED0-F3569DF7C20A}"/>
              </a:ext>
            </a:extLst>
          </p:cNvPr>
          <p:cNvSpPr txBox="1"/>
          <p:nvPr/>
        </p:nvSpPr>
        <p:spPr>
          <a:xfrm>
            <a:off x="0" y="864816"/>
            <a:ext cx="8688288" cy="465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</a:t>
            </a:r>
          </a:p>
          <a:p>
            <a:pPr marL="990600" lvl="1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 ':'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语义说明：允许两种变量声明：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声明一个变量但不指定类型，后续需要对该变量进行赋值来支持编译器推导类型；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声明一个变量且指定类型。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'='&lt;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语义说明：允许将一个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的计算结果赋值给左值，从而实现变量值的修改。左值需提前声明；若左值已知类型需和表达式的类型一致；右值若为变量则需提前声明且赋值。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C9AFA0-FD46-E972-784F-3AF78E6A930C}"/>
              </a:ext>
            </a:extLst>
          </p:cNvPr>
          <p:cNvSpPr txBox="1"/>
          <p:nvPr/>
        </p:nvSpPr>
        <p:spPr>
          <a:xfrm>
            <a:off x="8787184" y="920621"/>
            <a:ext cx="34048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program_2_2__1(mut a:i32) {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a=32;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program_2_2__2() {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a=32;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program_2_2__3(mut a:i32) {</a:t>
            </a:r>
          </a:p>
          <a:p>
            <a:pPr marL="0" lvl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a=1==1;</a:t>
            </a:r>
          </a:p>
          <a:p>
            <a:pPr marL="0" lvl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program_2_2__4()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:i32=a;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program_2_2__5()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a:i32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b:i32=a;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19D36D-F478-9B4A-2FE0-5E9641C01E49}"/>
              </a:ext>
            </a:extLst>
          </p:cNvPr>
          <p:cNvSpPr txBox="1"/>
          <p:nvPr/>
        </p:nvSpPr>
        <p:spPr>
          <a:xfrm>
            <a:off x="10110815" y="2291877"/>
            <a:ext cx="1399275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变量未声明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9F8CA2-B40E-8B58-2BE4-867630AEF934}"/>
              </a:ext>
            </a:extLst>
          </p:cNvPr>
          <p:cNvSpPr txBox="1"/>
          <p:nvPr/>
        </p:nvSpPr>
        <p:spPr>
          <a:xfrm>
            <a:off x="10110815" y="3287820"/>
            <a:ext cx="1529801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变量类型不一致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C6FF70-6E4B-BE86-F8E9-4758A671B882}"/>
              </a:ext>
            </a:extLst>
          </p:cNvPr>
          <p:cNvSpPr txBox="1"/>
          <p:nvPr/>
        </p:nvSpPr>
        <p:spPr>
          <a:xfrm>
            <a:off x="10756037" y="4266936"/>
            <a:ext cx="1529801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右值未提前声明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858FA7-8136-DD51-9AAD-98159F44643F}"/>
              </a:ext>
            </a:extLst>
          </p:cNvPr>
          <p:cNvSpPr txBox="1"/>
          <p:nvPr/>
        </p:nvSpPr>
        <p:spPr>
          <a:xfrm>
            <a:off x="10756037" y="5230018"/>
            <a:ext cx="1529801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右值未提前赋值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482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09C3-5553-668B-BDE3-8E83B1E8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484F423E-1763-3329-4A3A-A407EF7B84B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18A7EC-307B-C478-04FD-FBA28B79BBF1}"/>
              </a:ext>
            </a:extLst>
          </p:cNvPr>
          <p:cNvSpPr txBox="1"/>
          <p:nvPr/>
        </p:nvSpPr>
        <p:spPr>
          <a:xfrm>
            <a:off x="0" y="864816"/>
            <a:ext cx="8688288" cy="5316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</a:t>
            </a:r>
          </a:p>
          <a:p>
            <a:pPr marL="990600" lvl="1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 ':'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语义说明：允许两种变量声明：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声明一个变量但不指定类型，后续需要对该变量进行赋值来支持编译器推导类型；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声明一个变量且指定类型。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变量声明赋值语句（依赖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变量声明赋值语句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变量声明赋值语句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let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'='&lt;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语义说明：变量声明的同时进行赋值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如果变量声明时未指定类型，则类型根据后续表达式推断；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如果变量声明时指定类型，则需检测是否与后续表达式类型一致，不一致应报错。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变量允许被二次声明，每次声明隐藏之前的绑定，称为重影。</a:t>
            </a:r>
            <a:endParaRPr lang="en-US" altLang="zh-CN" sz="1800" strike="sngStrike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FA824D-C9F5-72CA-A85F-5F1785E18C30}"/>
              </a:ext>
            </a:extLst>
          </p:cNvPr>
          <p:cNvSpPr txBox="1"/>
          <p:nvPr/>
        </p:nvSpPr>
        <p:spPr>
          <a:xfrm>
            <a:off x="8787184" y="3789040"/>
            <a:ext cx="34048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program_2_3__1()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program_2_3__2()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a:i32=3;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AF05AC-C80D-8D59-437D-B69993FEE203}"/>
              </a:ext>
            </a:extLst>
          </p:cNvPr>
          <p:cNvSpPr txBox="1"/>
          <p:nvPr/>
        </p:nvSpPr>
        <p:spPr>
          <a:xfrm>
            <a:off x="10750877" y="5653955"/>
            <a:ext cx="1399275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可以二次声明，称为重影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0133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2EEF-B58B-4A27-B4FF-9B8792A1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2491995-E9F6-A30D-7F56-23D14CD4A913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68B2F0-5535-B5E0-6017-F43080CDB41F}"/>
              </a:ext>
            </a:extLst>
          </p:cNvPr>
          <p:cNvSpPr txBox="1"/>
          <p:nvPr/>
        </p:nvSpPr>
        <p:spPr>
          <a:xfrm>
            <a:off x="0" y="797935"/>
            <a:ext cx="10128448" cy="264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基本表达式（依赖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&lt;NUM&gt;  |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'('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语义说明：提供表达式求值的能力，支持常量、变量以及带括号的嵌套表达式。</a:t>
            </a: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607CC9-BBDD-B382-438F-DA9A4AABF340}"/>
              </a:ext>
            </a:extLst>
          </p:cNvPr>
          <p:cNvSpPr txBox="1"/>
          <p:nvPr/>
        </p:nvSpPr>
        <p:spPr>
          <a:xfrm>
            <a:off x="1420824" y="3908455"/>
            <a:ext cx="34048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program_3_1__1()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0;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(1);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((2));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(((3)));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478E48-3DFB-27E0-188C-628331E9A273}"/>
              </a:ext>
            </a:extLst>
          </p:cNvPr>
          <p:cNvSpPr txBox="1"/>
          <p:nvPr/>
        </p:nvSpPr>
        <p:spPr>
          <a:xfrm>
            <a:off x="4825640" y="3908455"/>
            <a:ext cx="34048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program_3_1__2(mut a:i32) {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(a);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((a));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(((a)));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94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F207-6D36-E2BE-B4E9-1ED34C43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859C773-9135-6812-E9E6-7C24D8D60DCC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CB82CB-34DA-A0A2-D0DF-F4ED6DF1CBC7}"/>
              </a:ext>
            </a:extLst>
          </p:cNvPr>
          <p:cNvSpPr txBox="1"/>
          <p:nvPr/>
        </p:nvSpPr>
        <p:spPr>
          <a:xfrm>
            <a:off x="0" y="797935"/>
            <a:ext cx="10128448" cy="564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增加比较运算（依赖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'&lt;' | '&lt;=' | '&gt;' | '&gt;='  | '==' | ‘!=‘</a:t>
            </a:r>
          </a:p>
          <a:p>
            <a:pPr marL="457200" lvl="1">
              <a:lnSpc>
                <a:spcPct val="113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语义说明：支持比较运算，且优先级乘除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比较。</a:t>
            </a: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增加加减运算（依赖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加减运算符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加减运算符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'+' | ‘-’</a:t>
            </a:r>
          </a:p>
          <a:p>
            <a:pPr marL="457200" lvl="1">
              <a:lnSpc>
                <a:spcPct val="113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语义说明：支持加减运算，且优先级乘除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比较。</a:t>
            </a: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增加乘除运算（依赖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0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乘除运算符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乘除运算符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'*' | '/’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语义说明：支持乘除运算，且优先级乘除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</a:t>
            </a:r>
            <a:r>
              <a:rPr lang="en-US" altLang="zh-CN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比较。</a:t>
            </a: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26E6BF-8A99-7B23-523E-AB114E596FCD}"/>
              </a:ext>
            </a:extLst>
          </p:cNvPr>
          <p:cNvSpPr txBox="1"/>
          <p:nvPr/>
        </p:nvSpPr>
        <p:spPr>
          <a:xfrm>
            <a:off x="8426040" y="836712"/>
            <a:ext cx="340481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program_3_2()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1&lt;2;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3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5&gt;6;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7&gt;=8;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9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11!=12;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program_3_3()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1+2;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3-4;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program_3_4()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1*2;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3/4;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2156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54B9-3E46-3EF2-769E-D2A4A85B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1B47FF9-BDE5-9891-B541-0086DEC4F041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71D39B-7E57-19FA-0893-56D494313C05}"/>
              </a:ext>
            </a:extLst>
          </p:cNvPr>
          <p:cNvSpPr txBox="1"/>
          <p:nvPr/>
        </p:nvSpPr>
        <p:spPr>
          <a:xfrm>
            <a:off x="0" y="864816"/>
            <a:ext cx="8544172" cy="2058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&lt;ID&gt; '('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语义说明：提供函数调用表达式的能力，函数调用结果可以参与运算。实参数量与形参数量需一致；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中的每个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的类型必须与对应位置形参的类型一致；若函数无返回值，则不能参与运算或作为右值。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3BA09A-D2CF-8E51-5184-61FF9AA5EC75}"/>
              </a:ext>
            </a:extLst>
          </p:cNvPr>
          <p:cNvSpPr txBox="1"/>
          <p:nvPr/>
        </p:nvSpPr>
        <p:spPr>
          <a:xfrm>
            <a:off x="8544172" y="822645"/>
            <a:ext cx="360280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program_3_3__1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__a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program_3_3__1__b()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program_3_3__1__a();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program_3_3__2__a(mut a:i32) {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program_3_3__2__b()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program_3_3__2__a(1+2);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35E388D-C67A-56D5-DC44-81BF00A5B39E}"/>
              </a:ext>
            </a:extLst>
          </p:cNvPr>
          <p:cNvSpPr txBox="1"/>
          <p:nvPr/>
        </p:nvSpPr>
        <p:spPr>
          <a:xfrm>
            <a:off x="504056" y="4465695"/>
            <a:ext cx="34048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program_3_3__3__a() {</a:t>
            </a: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program_3_3__3__b() {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program_3_3__3__a(1);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0810C7-A5E4-AFF8-437F-AF52F4347788}"/>
              </a:ext>
            </a:extLst>
          </p:cNvPr>
          <p:cNvSpPr txBox="1"/>
          <p:nvPr/>
        </p:nvSpPr>
        <p:spPr>
          <a:xfrm>
            <a:off x="3909740" y="4465695"/>
            <a:ext cx="43371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program_3_3__4__a(mut a:i32) {</a:t>
            </a:r>
          </a:p>
          <a:p>
            <a:pPr marL="0" lvl="1" eaLnBrk="1" hangingPunct="1"/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program_3_3__4__b() {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program_3_3__4__a(program_3_3__4__a);</a:t>
            </a:r>
          </a:p>
          <a:p>
            <a:pPr marL="0" lvl="1" eaLnBrk="1" hangingPunct="1"/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6B0ABC-7C6B-0A56-87CE-5ADCAEAC08E5}"/>
              </a:ext>
            </a:extLst>
          </p:cNvPr>
          <p:cNvSpPr txBox="1"/>
          <p:nvPr/>
        </p:nvSpPr>
        <p:spPr>
          <a:xfrm>
            <a:off x="8544172" y="4465695"/>
            <a:ext cx="3980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program_3_3__5__a() {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program_3_3__5__b()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a=program_3_3__5__a();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pt-BR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4583CA-BEC0-224D-4AAF-4AC837579C19}"/>
              </a:ext>
            </a:extLst>
          </p:cNvPr>
          <p:cNvSpPr txBox="1"/>
          <p:nvPr/>
        </p:nvSpPr>
        <p:spPr>
          <a:xfrm>
            <a:off x="983432" y="5776982"/>
            <a:ext cx="2342860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实参数量与形参数量不一致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9237616-DD85-5DAB-8F15-05E518264C63}"/>
              </a:ext>
            </a:extLst>
          </p:cNvPr>
          <p:cNvSpPr txBox="1"/>
          <p:nvPr/>
        </p:nvSpPr>
        <p:spPr>
          <a:xfrm>
            <a:off x="4492320" y="5779159"/>
            <a:ext cx="2342860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实参类型与形参类型不一致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3E8BCF4-2224-FF57-D6D7-325328086983}"/>
              </a:ext>
            </a:extLst>
          </p:cNvPr>
          <p:cNvSpPr txBox="1"/>
          <p:nvPr/>
        </p:nvSpPr>
        <p:spPr>
          <a:xfrm>
            <a:off x="8977357" y="5776982"/>
            <a:ext cx="2342860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无返回值函数不能作为右值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095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2911-24C0-51F6-B9A4-E0023AA9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BB7C8F8-204F-627C-3746-B289A9C011FE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13239D-91A6-F035-7DC8-31E83DCF1109}"/>
              </a:ext>
            </a:extLst>
          </p:cNvPr>
          <p:cNvSpPr txBox="1"/>
          <p:nvPr/>
        </p:nvSpPr>
        <p:spPr>
          <a:xfrm>
            <a:off x="0" y="864816"/>
            <a:ext cx="8328248" cy="571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&lt;if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&lt;if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if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&lt;else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&lt;else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语义说明：支持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if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条件分支语句，若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为真，则执行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&lt;else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else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分支，若前一个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条件不成立，则执行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if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&lt;else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else if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&lt;else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if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分支，若前一个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if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条件不成立，则评估此分支的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，若为真则执行该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if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lvl="1" indent="457200">
              <a:lnSpc>
                <a:spcPct val="120000"/>
              </a:lnSpc>
            </a:pPr>
            <a:endParaRPr lang="zh-CN" altLang="en-US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7BDC66-BAF1-F5BB-F092-3BB1E202E2C8}"/>
              </a:ext>
            </a:extLst>
          </p:cNvPr>
          <p:cNvSpPr txBox="1"/>
          <p:nvPr/>
        </p:nvSpPr>
        <p:spPr>
          <a:xfrm>
            <a:off x="8304212" y="856357"/>
            <a:ext cx="378953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program_4_1(mut a:i32) -&gt; i32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a&gt;0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1;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program_4_2(mut a:i32) -&gt; i32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a&gt;0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1;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 else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0;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program_4_3(mut a:i32) -&gt; i32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a&gt;0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a+1;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 else if a&lt;0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a-1;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 else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0;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988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AB1A-9F15-2E89-ECC3-DF588919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8D05C3A-A6C8-2D27-4E7B-9E42EAD9E92E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E77062-4ECE-38AE-1F95-E9FF250460A9}"/>
              </a:ext>
            </a:extLst>
          </p:cNvPr>
          <p:cNvSpPr txBox="1"/>
          <p:nvPr/>
        </p:nvSpPr>
        <p:spPr>
          <a:xfrm>
            <a:off x="0" y="864816"/>
            <a:ext cx="8544272" cy="5382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or 5.2 or 5.3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while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&lt;while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&lt;while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-&gt; while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语义说明：拓展循环控制能力，实现基于条件的多次重复执行逻辑。每次循环开始时求表达式的值，若结果为真，则执行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；若为假，则跳出循环。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for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&lt;for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 for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变量声明内部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in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'..'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语义说明：拓展基于范围的迭代能力，对可迭代结构中的每一个元素进行遍历，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是左闭右开区间，即包含第一个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的值，不包含第二个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类型需要是整型。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6420B3-C479-492E-D9A1-300D20750485}"/>
              </a:ext>
            </a:extLst>
          </p:cNvPr>
          <p:cNvSpPr txBox="1"/>
          <p:nvPr/>
        </p:nvSpPr>
        <p:spPr>
          <a:xfrm>
            <a:off x="8787184" y="2028616"/>
            <a:ext cx="34048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program_5_1(mut n:i32)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while n&gt;0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n=n-1;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program_5_2__1(mut n:i32)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for mut i in 1..n+1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n=n-1;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program_5_2__2(mut n:i32)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for mut i in 1..n+0.1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n=n-1;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EBBE37-2E24-051D-BDBC-378AB516DC6A}"/>
              </a:ext>
            </a:extLst>
          </p:cNvPr>
          <p:cNvSpPr txBox="1"/>
          <p:nvPr/>
        </p:nvSpPr>
        <p:spPr>
          <a:xfrm>
            <a:off x="10056440" y="5589240"/>
            <a:ext cx="2016224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n+0.1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类型不是整型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8211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306C-E275-4211-941E-62D427BB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3B65AAEA-964C-0BAA-B43D-5B6594984079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9AAB82-328A-F0E1-00C9-A04614E3770A}"/>
              </a:ext>
            </a:extLst>
          </p:cNvPr>
          <p:cNvSpPr txBox="1"/>
          <p:nvPr/>
        </p:nvSpPr>
        <p:spPr>
          <a:xfrm>
            <a:off x="0" y="864816"/>
            <a:ext cx="8394004" cy="471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loop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&lt;loop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&lt;loop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&gt;-&gt;loop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语义说明：拓展无条件无限循环的能力，定义一个无限循环，每次迭代时执行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中的内容，只有通过显式退出指令（如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）才能终止循环。</a:t>
            </a:r>
          </a:p>
          <a:p>
            <a:pPr marL="0" lvl="1" indent="457200">
              <a:lnSpc>
                <a:spcPct val="120000"/>
              </a:lnSpc>
            </a:pPr>
            <a:endParaRPr lang="zh-CN" altLang="en-US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break ';' | continue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语义说明：增强循环逻辑的灵活性和表达能力。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';'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表示立即终止最内层当前所在的循环，控制流将跳出循环；必须出现在循环体内；在嵌套循环中使用仅跳出当前最内层循环。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 ';'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表示跳过当前循环体中剩余的代码，控制流将跳转到下一次循环；必须出现在循环体内；在嵌套循环中使用仅影响当前所在循环。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BA991A-82F3-1B32-3621-9D570428DA6E}"/>
              </a:ext>
            </a:extLst>
          </p:cNvPr>
          <p:cNvSpPr txBox="1"/>
          <p:nvPr/>
        </p:nvSpPr>
        <p:spPr>
          <a:xfrm>
            <a:off x="8775236" y="737116"/>
            <a:ext cx="340481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program_5_3()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loop {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program_5_4__1()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while 1==1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break;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program_5_4__2()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break;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program_5_4__3()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while 1==0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continue;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program_5_4__4()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continue;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2F2CC2-D8F0-839A-B8C3-E208E92CEA03}"/>
              </a:ext>
            </a:extLst>
          </p:cNvPr>
          <p:cNvSpPr txBox="1"/>
          <p:nvPr/>
        </p:nvSpPr>
        <p:spPr>
          <a:xfrm>
            <a:off x="10056440" y="3869356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break;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必须出现在循环体内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19DCAA-EB97-FBAD-E999-BD1F93EBFC31}"/>
              </a:ext>
            </a:extLst>
          </p:cNvPr>
          <p:cNvSpPr txBox="1"/>
          <p:nvPr/>
        </p:nvSpPr>
        <p:spPr>
          <a:xfrm>
            <a:off x="10056440" y="6341255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continue;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必须出现在循环体内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3964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35470-D9CD-1291-8BEE-D1B8C6B2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7F5E6E73-C51F-285C-D6A1-DD9B7EFEA525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DFECA6-584F-D470-8098-F0F071C38B8D}"/>
              </a:ext>
            </a:extLst>
          </p:cNvPr>
          <p:cNvSpPr txBox="1"/>
          <p:nvPr/>
        </p:nvSpPr>
        <p:spPr>
          <a:xfrm>
            <a:off x="0" y="810639"/>
            <a:ext cx="8394004" cy="604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变量不可变属性（拓展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语义说明：变量声明时可以不标注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关键字，如此变量不可被二次赋值；若变量是复合类型（如数组），其元素也不可被二次赋值。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不可变引用（依赖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表示一个指向对应数据类型的不可变引用类型。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表示创建一个变量的不可变引用；允许通过该引用读取但不允许修改指向数据；可以同时存在多个不可变引用。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可变引用（依赖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表示一个指向对应数据类型的可变引用类型。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表示创建一个变量的可变引用；允许通过该引用修改指向数据；不允许存在其他的不可变或可变引用；仅允许从可变变量创建可变引用。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2D832B-F95E-2FC6-901F-5E8043766E88}"/>
              </a:ext>
            </a:extLst>
          </p:cNvPr>
          <p:cNvSpPr txBox="1"/>
          <p:nvPr/>
        </p:nvSpPr>
        <p:spPr>
          <a:xfrm>
            <a:off x="8775236" y="737116"/>
            <a:ext cx="34048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program_6_1__1()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a:i32=1;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b=2;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program_6_1__2()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c:i32=1;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c=2;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program_6_2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__1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a:i32=1;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b: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i32=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program_6_2__2()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c=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84CAF4-D2AD-31A4-3059-B9D733394740}"/>
              </a:ext>
            </a:extLst>
          </p:cNvPr>
          <p:cNvSpPr txBox="1"/>
          <p:nvPr/>
        </p:nvSpPr>
        <p:spPr>
          <a:xfrm>
            <a:off x="10232582" y="2276872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不可变变量不可被二次赋值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882159-7A36-E7DB-2E88-EC74B6E6F0A2}"/>
              </a:ext>
            </a:extLst>
          </p:cNvPr>
          <p:cNvSpPr txBox="1"/>
          <p:nvPr/>
        </p:nvSpPr>
        <p:spPr>
          <a:xfrm>
            <a:off x="10344472" y="5013176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✓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可以存在多个不可变引用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414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100F-ED31-ADD4-41CB-02EB330B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BED4022B-CA43-E82A-0702-1183BDE812B7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4A267-8CCB-40E0-AAF8-8F0ABFD71B5C}"/>
              </a:ext>
            </a:extLst>
          </p:cNvPr>
          <p:cNvSpPr txBox="1"/>
          <p:nvPr/>
        </p:nvSpPr>
        <p:spPr>
          <a:xfrm>
            <a:off x="0" y="810639"/>
            <a:ext cx="8394004" cy="604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变量不可变属性（拓展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语义说明：变量声明时可以不标注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关键字，如此变量不可被二次赋值；若变量是复合类型（如数组），其元素也不可被二次赋值。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不可变引用（依赖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表示一个指向对应数据类型的不可变引用类型。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表示创建一个变量的不可变引用；允许通过该引用读取但不允许修改指向数据；可以同时存在多个不可变引用。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可变引用（依赖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表示一个指向对应数据类型的可变引用类型。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表示创建一个变量的可变引用；允许通过该引用修改指向数据；不允许存在其他的不可变或可变引用；仅允许从可变变量创建可变引用。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1E5BEC-ABC2-539C-AC65-799568C8FB4A}"/>
              </a:ext>
            </a:extLst>
          </p:cNvPr>
          <p:cNvSpPr txBox="1"/>
          <p:nvPr/>
        </p:nvSpPr>
        <p:spPr>
          <a:xfrm>
            <a:off x="8775236" y="1808410"/>
            <a:ext cx="34048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program_6_3() {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i32=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a;</a:t>
            </a:r>
          </a:p>
          <a:p>
            <a:pPr marL="0" lvl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program_6_3__4()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c=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program_6_3__5()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a:i32=1;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eaLnBrk="1" hangingPunct="1"/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E3568F-CBF0-753E-C219-53B70C956C07}"/>
              </a:ext>
            </a:extLst>
          </p:cNvPr>
          <p:cNvSpPr txBox="1"/>
          <p:nvPr/>
        </p:nvSpPr>
        <p:spPr>
          <a:xfrm>
            <a:off x="10671446" y="4204563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可变引用不能和其他的引用共存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4ABB1E-B063-C8A0-BEC2-2E8364C83BE3}"/>
              </a:ext>
            </a:extLst>
          </p:cNvPr>
          <p:cNvSpPr txBox="1"/>
          <p:nvPr/>
        </p:nvSpPr>
        <p:spPr>
          <a:xfrm>
            <a:off x="10671446" y="5445224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仅支持从可变变量创建可变引用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709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BFFF-FAEF-3FB0-B985-198F2A3D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4645C661-EAE6-F832-A067-14711AEB0F73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26CBA0-CC5A-4388-2FFE-6860D06F7C17}"/>
              </a:ext>
            </a:extLst>
          </p:cNvPr>
          <p:cNvSpPr txBox="1"/>
          <p:nvPr/>
        </p:nvSpPr>
        <p:spPr>
          <a:xfrm>
            <a:off x="0" y="810639"/>
            <a:ext cx="8394004" cy="604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不可变引用（依赖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表示一个指向对应数据类型的不可变引用类型。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'&amp;'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表示创建一个变量的不可变引用；允许通过该引用读取但不允许修改指向数据；可以同时存在多个不可变引用。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可变引用（依赖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表示一个指向对应数据类型的可变引用类型。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mut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表示创建一个变量的可变引用；允许通过该引用修改指向数据；不允许存在其他的不可变或可变引用；仅允许从可变变量创建可变引用。</a:t>
            </a: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借用（依赖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'*'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语义说明：表示对一个引用类型的值进行解引用操作，访问其指向的数据；不允许对非引用类型变量进行解引用。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54C988-4BEA-09E0-FE2D-DC78CCF0F20D}"/>
              </a:ext>
            </a:extLst>
          </p:cNvPr>
          <p:cNvSpPr txBox="1"/>
          <p:nvPr/>
        </p:nvSpPr>
        <p:spPr>
          <a:xfrm>
            <a:off x="8775236" y="2348880"/>
            <a:ext cx="340481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program_6_4__1()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b=2;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program_6_4__2()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0"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program_6_4__3()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a:i32=1;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b=2;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39DFDB-072C-12B3-323E-D752773CDB83}"/>
              </a:ext>
            </a:extLst>
          </p:cNvPr>
          <p:cNvSpPr txBox="1"/>
          <p:nvPr/>
        </p:nvSpPr>
        <p:spPr>
          <a:xfrm>
            <a:off x="10477644" y="4365104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不允许对非引用类型进行解引用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A7670E-40D9-AC32-FA29-1F1F9930DF5F}"/>
              </a:ext>
            </a:extLst>
          </p:cNvPr>
          <p:cNvSpPr txBox="1"/>
          <p:nvPr/>
        </p:nvSpPr>
        <p:spPr>
          <a:xfrm>
            <a:off x="10497636" y="5733256"/>
            <a:ext cx="1502570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不可变引用不可以修改指向数据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7671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32C7-693B-41C3-120D-4B666B7D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40132D7-DFA4-CC5C-7008-79D3F8066BFA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2BB6A3-556A-3F56-067F-29F01DA8FC44}"/>
              </a:ext>
            </a:extLst>
          </p:cNvPr>
          <p:cNvSpPr txBox="1"/>
          <p:nvPr/>
        </p:nvSpPr>
        <p:spPr>
          <a:xfrm>
            <a:off x="0" y="864816"/>
            <a:ext cx="12192000" cy="4052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函数表达式块（依赖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&gt;-&gt;'{'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函数表达式语句串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'}'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函数表达式语句串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函数表达式语句串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语义说明：允许将复杂的逻辑封装在一个块里，其中包含一系列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和一个末尾的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的代码块，末尾的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的值作为返回值。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函数表达式块作为表达式（依赖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语义说明：函数表达式语句块可以作为表达式参与计算，通常是作为右值赋值给变量。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函数表达式块作为函数体（依赖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语义说明：提供使用结构化表达式块作为函数执行内容的能力，一个完整的函数可由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函数表达式代码块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的最后一个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的值作为返回值。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56F9A9-769E-79B5-C74B-07B9F0A99E77}"/>
              </a:ext>
            </a:extLst>
          </p:cNvPr>
          <p:cNvSpPr txBox="1"/>
          <p:nvPr/>
        </p:nvSpPr>
        <p:spPr>
          <a:xfrm>
            <a:off x="1141412" y="5045516"/>
            <a:ext cx="43678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program_7_1(mut x:i32,mut y:i32)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z=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let mut t=x*x+x;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t=t+x*y;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t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7CD676-CB52-917B-5C8C-8F76036D5D35}"/>
              </a:ext>
            </a:extLst>
          </p:cNvPr>
          <p:cNvSpPr txBox="1"/>
          <p:nvPr/>
        </p:nvSpPr>
        <p:spPr>
          <a:xfrm>
            <a:off x="6744072" y="5045516"/>
            <a:ext cx="45709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program_7_2(mut x:i32,mut y:i32) -&gt; i32 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let mut t=x*x+x;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t=t+x*y;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t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304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A485-8A51-1FB2-7D21-74FA205B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25B2DE6-5CC2-D12F-C856-CBF7A4796400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EE26C5-A939-8D02-FFB9-98B623FB8919}"/>
              </a:ext>
            </a:extLst>
          </p:cNvPr>
          <p:cNvSpPr txBox="1"/>
          <p:nvPr/>
        </p:nvSpPr>
        <p:spPr>
          <a:xfrm>
            <a:off x="0" y="864816"/>
            <a:ext cx="12192000" cy="4052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if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else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语义说明：提供将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if-else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结构用作表达式并返回值的能力，一个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可以是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if-else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结构和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的组合，根据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if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的真假，决定执行哪一个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，该语句块的返回值作为该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的返回值。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循环表达式（依赖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&lt;loop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break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语义说明：提供将循环结构作表达式并返回值的能力，一个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可以是一个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&lt;loop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，其最终返回值由某个分支中的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决定。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必须出现在循环体内，否则应报错；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后的表达式必须能求值；若多个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存在于同一循环体中，它们必须返回相同类型。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30E596-489F-088A-D5CF-C05424C46DD1}"/>
              </a:ext>
            </a:extLst>
          </p:cNvPr>
          <p:cNvSpPr txBox="1"/>
          <p:nvPr/>
        </p:nvSpPr>
        <p:spPr>
          <a:xfrm>
            <a:off x="605796" y="4945889"/>
            <a:ext cx="29168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program_7_3(mut a:i32)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</a:t>
            </a:r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a&gt;0 {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1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 else {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0</a:t>
            </a:r>
          </a:p>
          <a:p>
            <a:pPr marL="0" lvl="1" eaLnBrk="1" hangingPunct="1"/>
            <a:r>
              <a:rPr lang="nn-NO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8980E0-22CE-9198-06D3-1682469E6272}"/>
              </a:ext>
            </a:extLst>
          </p:cNvPr>
          <p:cNvSpPr txBox="1"/>
          <p:nvPr/>
        </p:nvSpPr>
        <p:spPr>
          <a:xfrm>
            <a:off x="4727848" y="4945889"/>
            <a:ext cx="29168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program_7_4__1()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{</a:t>
            </a:r>
          </a:p>
          <a:p>
            <a:pPr marL="0" lvl="1" eaLnBrk="1" hangingPunct="1"/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break 1;</a:t>
            </a:r>
          </a:p>
          <a:p>
            <a:pPr marL="0" lvl="1" eaLnBrk="1" hangingPunct="1"/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63207A-A27E-32F8-18A1-67BA02CB4CD7}"/>
              </a:ext>
            </a:extLst>
          </p:cNvPr>
          <p:cNvSpPr txBox="1"/>
          <p:nvPr/>
        </p:nvSpPr>
        <p:spPr>
          <a:xfrm>
            <a:off x="8651725" y="4945889"/>
            <a:ext cx="2916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program_7_4__2()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break 2;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6067FE-FF43-C3AB-6B4D-7C4F5EF09B2A}"/>
              </a:ext>
            </a:extLst>
          </p:cNvPr>
          <p:cNvSpPr txBox="1"/>
          <p:nvPr/>
        </p:nvSpPr>
        <p:spPr>
          <a:xfrm>
            <a:off x="9912424" y="5247990"/>
            <a:ext cx="1656184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break &lt;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&gt;;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必须出现在循环体内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7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05B0-58CE-B7F2-9DAE-C3C85F13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3168C8A3-BA3D-D63B-469D-8D860068501F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C61958-F614-EE0A-47EE-F532E812C876}"/>
              </a:ext>
            </a:extLst>
          </p:cNvPr>
          <p:cNvSpPr txBox="1"/>
          <p:nvPr/>
        </p:nvSpPr>
        <p:spPr>
          <a:xfrm>
            <a:off x="0" y="864816"/>
            <a:ext cx="12072664" cy="4052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数组类型（依赖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'['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 &lt;NUM&gt;']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语义说明：拓展数组类型，产生式右边的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是数组中元素的类型，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&lt;NUM&gt; 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是数组的长度，必须是一个正整数常量。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数组表达式（依赖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'['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']'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语义说明：数组是由方括号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'[]'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包裹，逗号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的数量必须与数组的长度一致，每个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的类型要与数组元素类型一致。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D39690-8C83-9FA6-F22E-E810A31661E5}"/>
              </a:ext>
            </a:extLst>
          </p:cNvPr>
          <p:cNvSpPr txBox="1"/>
          <p:nvPr/>
        </p:nvSpPr>
        <p:spPr>
          <a:xfrm>
            <a:off x="425707" y="4716498"/>
            <a:ext cx="36793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program_8_1()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[i32;3]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[[i32;3];3]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B23869-8FC7-387B-48F8-251D001ACDE9}"/>
              </a:ext>
            </a:extLst>
          </p:cNvPr>
          <p:cNvSpPr txBox="1"/>
          <p:nvPr/>
        </p:nvSpPr>
        <p:spPr>
          <a:xfrm>
            <a:off x="4018820" y="4716499"/>
            <a:ext cx="3329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__1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(mut a:i32)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a:[i32;2]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a=[1,2,3];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B494D4-195A-8485-325A-BE1CDE785C1F}"/>
              </a:ext>
            </a:extLst>
          </p:cNvPr>
          <p:cNvSpPr txBox="1"/>
          <p:nvPr/>
        </p:nvSpPr>
        <p:spPr>
          <a:xfrm>
            <a:off x="8025014" y="4716499"/>
            <a:ext cx="29168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program_8_2__2()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a:[[i32;1];1];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a=[1];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ACB0BF-72F4-990B-CE14-72DFFBE78FF1}"/>
              </a:ext>
            </a:extLst>
          </p:cNvPr>
          <p:cNvSpPr txBox="1"/>
          <p:nvPr/>
        </p:nvSpPr>
        <p:spPr>
          <a:xfrm>
            <a:off x="6024867" y="4996735"/>
            <a:ext cx="1656184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初始化时的元素数量与数组长度不一致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74A2F3-99B6-8FF1-96F5-D77B51BFB30D}"/>
              </a:ext>
            </a:extLst>
          </p:cNvPr>
          <p:cNvSpPr txBox="1"/>
          <p:nvPr/>
        </p:nvSpPr>
        <p:spPr>
          <a:xfrm>
            <a:off x="10217471" y="4996735"/>
            <a:ext cx="1801318" cy="7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初始化时元素的类型与数组的元素类型不一致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2784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1200-EB4B-F022-BB1F-34D59DA6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37BF477E-1446-7195-3016-E628C928DE0D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805B0A-7A6E-C2FD-F09C-62EF73D11719}"/>
              </a:ext>
            </a:extLst>
          </p:cNvPr>
          <p:cNvSpPr txBox="1"/>
          <p:nvPr/>
        </p:nvSpPr>
        <p:spPr>
          <a:xfrm>
            <a:off x="0" y="864816"/>
            <a:ext cx="12072664" cy="172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'['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']' 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语义说明：提供按索引访问数组元素的能力，元素可以被取元素、可以参与计算、可以作为左值被修改。索引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的类型必须是整型；索引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必须在合法范围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</a:t>
            </a:r>
            <a:r>
              <a:rPr lang="en-US" altLang="zh-CN" sz="1800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内；若数组变量不可变，则数组或其子元素不允许被二次赋值。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A68625-1928-1D96-AA03-E58E8C156D95}"/>
              </a:ext>
            </a:extLst>
          </p:cNvPr>
          <p:cNvSpPr txBox="1"/>
          <p:nvPr/>
        </p:nvSpPr>
        <p:spPr>
          <a:xfrm>
            <a:off x="268712" y="3248062"/>
            <a:ext cx="3955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program_8_3__1(mut a:[[i32;3];3])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a[0][0]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34A560-9D23-C645-135F-F85EF2EDCB83}"/>
              </a:ext>
            </a:extLst>
          </p:cNvPr>
          <p:cNvSpPr txBox="1"/>
          <p:nvPr/>
        </p:nvSpPr>
        <p:spPr>
          <a:xfrm>
            <a:off x="199005" y="4509120"/>
            <a:ext cx="3329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program_8_3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__4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(mut a:i32)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a=[1,2,3]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b=a[a];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2F980D-AB78-CA48-4884-7D1BC7E4BD21}"/>
              </a:ext>
            </a:extLst>
          </p:cNvPr>
          <p:cNvSpPr txBox="1"/>
          <p:nvPr/>
        </p:nvSpPr>
        <p:spPr>
          <a:xfrm>
            <a:off x="4314957" y="4509120"/>
            <a:ext cx="29168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program_8_3__5()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a=[1,2,3];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b=a[3];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2CC648-BC7D-B32D-6E6B-7FC437E96E42}"/>
              </a:ext>
            </a:extLst>
          </p:cNvPr>
          <p:cNvSpPr txBox="1"/>
          <p:nvPr/>
        </p:nvSpPr>
        <p:spPr>
          <a:xfrm>
            <a:off x="2310920" y="4789356"/>
            <a:ext cx="1656184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数组的索引的类型必须是整数类型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7498F7-36E9-3C08-0CB7-7676F48D1EB3}"/>
              </a:ext>
            </a:extLst>
          </p:cNvPr>
          <p:cNvSpPr txBox="1"/>
          <p:nvPr/>
        </p:nvSpPr>
        <p:spPr>
          <a:xfrm>
            <a:off x="6423176" y="4789356"/>
            <a:ext cx="1801318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数组的索引必须在合法范围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[0,3)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B99A65-8A60-4B8F-AFE3-8399410CFE74}"/>
              </a:ext>
            </a:extLst>
          </p:cNvPr>
          <p:cNvSpPr txBox="1"/>
          <p:nvPr/>
        </p:nvSpPr>
        <p:spPr>
          <a:xfrm>
            <a:off x="8184232" y="4509120"/>
            <a:ext cx="29168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program_8_3__6()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a:[i32;3]=[1,2,3];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a[0]=4;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71781E-E5EF-D885-CEBA-0CB3943A3AE5}"/>
              </a:ext>
            </a:extLst>
          </p:cNvPr>
          <p:cNvSpPr txBox="1"/>
          <p:nvPr/>
        </p:nvSpPr>
        <p:spPr>
          <a:xfrm>
            <a:off x="10466885" y="4789356"/>
            <a:ext cx="1801318" cy="7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不可变数组的元素也不可变，不允许被二次赋值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3140AA-6E2B-ECB3-4A8B-AECBEA2CD453}"/>
              </a:ext>
            </a:extLst>
          </p:cNvPr>
          <p:cNvSpPr txBox="1"/>
          <p:nvPr/>
        </p:nvSpPr>
        <p:spPr>
          <a:xfrm>
            <a:off x="4314957" y="3248062"/>
            <a:ext cx="37390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program_8_3__2(mut a:[i32;3])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a[0]+a[1]+a[2]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EB3399-DD0F-A5FD-AF34-15A68B69702C}"/>
              </a:ext>
            </a:extLst>
          </p:cNvPr>
          <p:cNvSpPr txBox="1"/>
          <p:nvPr/>
        </p:nvSpPr>
        <p:spPr>
          <a:xfrm>
            <a:off x="8184232" y="3248062"/>
            <a:ext cx="37390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program_8_3__3(mut a:[i32;3])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B76DC8-C753-7639-E144-BBBF883C0D37}"/>
              </a:ext>
            </a:extLst>
          </p:cNvPr>
          <p:cNvSpPr txBox="1"/>
          <p:nvPr/>
        </p:nvSpPr>
        <p:spPr>
          <a:xfrm>
            <a:off x="2310920" y="3820686"/>
            <a:ext cx="1801318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元素可以被取子元素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C28728-EEA6-58C5-1089-57E414428509}"/>
              </a:ext>
            </a:extLst>
          </p:cNvPr>
          <p:cNvSpPr txBox="1"/>
          <p:nvPr/>
        </p:nvSpPr>
        <p:spPr>
          <a:xfrm>
            <a:off x="6423176" y="3820686"/>
            <a:ext cx="1801318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元素可以参与计算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DAFBAA-79BA-1016-FF01-E1DF77979F0C}"/>
              </a:ext>
            </a:extLst>
          </p:cNvPr>
          <p:cNvSpPr txBox="1"/>
          <p:nvPr/>
        </p:nvSpPr>
        <p:spPr>
          <a:xfrm>
            <a:off x="9192344" y="3820686"/>
            <a:ext cx="3075859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元素可以作为左值被修改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9682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FCD5-2DD2-3CC9-DFE5-F2DA5F1D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71472E5F-7AC8-905B-F47B-295757A6ECE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D04FBA-9706-3122-B39E-ACF0ADBD0729}"/>
              </a:ext>
            </a:extLst>
          </p:cNvPr>
          <p:cNvSpPr txBox="1"/>
          <p:nvPr/>
        </p:nvSpPr>
        <p:spPr>
          <a:xfrm>
            <a:off x="0" y="864816"/>
            <a:ext cx="12072664" cy="471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'(' 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元组类型内部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元组类型内部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语义说明：拓展元组类型，是由圆括号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'()'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包裹，逗号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分隔元素类型的结构。支持空元组类型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和非零数量元素的元组类型。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'('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元组赋值内部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元组赋值内部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元组元素列表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语义说明：元组是由圆括号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'()'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包裹，逗号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支持空元组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和带元素的元组表达式，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的数量必须与元组类型中的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数量一致；每个 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的类型要与元组对应位置元素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一致；仅有一个元素的元组的元素后必须要加逗号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 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，从而与加括号的表达式区分。</a:t>
            </a: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20000"/>
              </a:lnSpc>
            </a:pPr>
            <a:endParaRPr lang="en-US" altLang="zh-CN" sz="18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DA5465-4DD6-0714-AF40-9816CE484206}"/>
              </a:ext>
            </a:extLst>
          </p:cNvPr>
          <p:cNvSpPr txBox="1"/>
          <p:nvPr/>
        </p:nvSpPr>
        <p:spPr>
          <a:xfrm>
            <a:off x="468324" y="5454575"/>
            <a:ext cx="36793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program_9_1()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b: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(i32;i32;)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(();i32)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F8EDD8-4E7E-64CD-9055-CCDFDA1E7491}"/>
              </a:ext>
            </a:extLst>
          </p:cNvPr>
          <p:cNvSpPr txBox="1"/>
          <p:nvPr/>
        </p:nvSpPr>
        <p:spPr>
          <a:xfrm>
            <a:off x="3719736" y="5454575"/>
            <a:ext cx="3329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__1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(mut a:i32)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:(i32,i32)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a=(1,2,3);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0D79F5-9AAD-2707-D339-BFF9A77FD4F8}"/>
              </a:ext>
            </a:extLst>
          </p:cNvPr>
          <p:cNvSpPr txBox="1"/>
          <p:nvPr/>
        </p:nvSpPr>
        <p:spPr>
          <a:xfrm>
            <a:off x="7909753" y="5454575"/>
            <a:ext cx="29168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program_9_2__2()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a:((),);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a=(1,);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50EA04-0F5E-FBE2-934A-1BD6B1AAB48C}"/>
              </a:ext>
            </a:extLst>
          </p:cNvPr>
          <p:cNvSpPr txBox="1"/>
          <p:nvPr/>
        </p:nvSpPr>
        <p:spPr>
          <a:xfrm>
            <a:off x="5951984" y="5734811"/>
            <a:ext cx="1656184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初始化时的元素数量与元组长度不一致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7089FB-B891-1137-30A2-81D7A8E48AD2}"/>
              </a:ext>
            </a:extLst>
          </p:cNvPr>
          <p:cNvSpPr txBox="1"/>
          <p:nvPr/>
        </p:nvSpPr>
        <p:spPr>
          <a:xfrm>
            <a:off x="9918387" y="5734811"/>
            <a:ext cx="1801318" cy="7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初始化时元素的类型与元组定义的元素类型不一致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41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B75D-7B51-C698-35D6-1982F048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B21D62D-FE92-71A6-79BF-6ECEA5304E8E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语法和语义规则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B09A7B-9745-DE86-3E87-16B7E55D590A}"/>
              </a:ext>
            </a:extLst>
          </p:cNvPr>
          <p:cNvSpPr txBox="1"/>
          <p:nvPr/>
        </p:nvSpPr>
        <p:spPr>
          <a:xfrm>
            <a:off x="0" y="998974"/>
            <a:ext cx="12072664" cy="1393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元组元素（依赖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18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可赋值元素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&gt;-&gt;&lt;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'.' &lt;NUM&gt;</a:t>
            </a:r>
          </a:p>
          <a:p>
            <a:pPr marL="0" lvl="1" indent="457200">
              <a:lnSpc>
                <a:spcPct val="120000"/>
              </a:lnSpc>
            </a:pP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语义说明：提供按索引访问元组元素的能力，元素可以被取元素、可以参与计算、可以作为左值被修改。索引必须是整型字面量；索引必须在合法范围 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</a:t>
            </a:r>
            <a:r>
              <a:rPr lang="en-US" altLang="zh-CN" sz="1800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内；若元组变量不可变，则元组或其子元素不允许被二次赋值。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BD56AF-FD59-B47D-233F-BAE3EC93671B}"/>
              </a:ext>
            </a:extLst>
          </p:cNvPr>
          <p:cNvSpPr txBox="1"/>
          <p:nvPr/>
        </p:nvSpPr>
        <p:spPr>
          <a:xfrm>
            <a:off x="268712" y="3248062"/>
            <a:ext cx="3955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program_9_3__1(mut a:((i32,i32),)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a.0.0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CE8692-5FF8-E7FB-53C9-FBF3F3456097}"/>
              </a:ext>
            </a:extLst>
          </p:cNvPr>
          <p:cNvSpPr txBox="1"/>
          <p:nvPr/>
        </p:nvSpPr>
        <p:spPr>
          <a:xfrm>
            <a:off x="199005" y="4509120"/>
            <a:ext cx="3329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program_9_3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__4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(mut a:i32) {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a=(1,2,3)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0" lvl="1" eaLnBrk="1" hangingPunct="1"/>
            <a:r>
              <a:rPr lang="nn-NO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F0CFB3-04BC-567F-541F-1A326F5F35A6}"/>
              </a:ext>
            </a:extLst>
          </p:cNvPr>
          <p:cNvSpPr txBox="1"/>
          <p:nvPr/>
        </p:nvSpPr>
        <p:spPr>
          <a:xfrm>
            <a:off x="4182387" y="4509120"/>
            <a:ext cx="29168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program_9_3__5()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a=(1,2,3);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b=a.3;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6B66F8-DFD8-DC8B-2C01-F9C85023265B}"/>
              </a:ext>
            </a:extLst>
          </p:cNvPr>
          <p:cNvSpPr txBox="1"/>
          <p:nvPr/>
        </p:nvSpPr>
        <p:spPr>
          <a:xfrm>
            <a:off x="2310920" y="4789356"/>
            <a:ext cx="1656184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元组的索引的类型必须是整数类型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07A1A9-F383-56E4-89F5-725859A4BE2C}"/>
              </a:ext>
            </a:extLst>
          </p:cNvPr>
          <p:cNvSpPr txBox="1"/>
          <p:nvPr/>
        </p:nvSpPr>
        <p:spPr>
          <a:xfrm>
            <a:off x="6290606" y="4789356"/>
            <a:ext cx="1605594" cy="51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元组的索引必须在合法范围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[0,3)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2A4321-6934-9495-8E0F-E881D78F6111}"/>
              </a:ext>
            </a:extLst>
          </p:cNvPr>
          <p:cNvSpPr txBox="1"/>
          <p:nvPr/>
        </p:nvSpPr>
        <p:spPr>
          <a:xfrm>
            <a:off x="7897936" y="4509120"/>
            <a:ext cx="29168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program_9_3__6() {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a:(i32,i32,i32)=(1,2,3)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a.0=4;</a:t>
            </a:r>
          </a:p>
          <a:p>
            <a:pPr marL="0" lvl="1"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221E7F-05E0-4541-84D5-96984368A428}"/>
              </a:ext>
            </a:extLst>
          </p:cNvPr>
          <p:cNvSpPr txBox="1"/>
          <p:nvPr/>
        </p:nvSpPr>
        <p:spPr>
          <a:xfrm>
            <a:off x="10494350" y="4789356"/>
            <a:ext cx="1801318" cy="7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不可变元组的元素也不可变，不允许被二次赋值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7BAC0DF-A38F-6BE7-900C-E78D597B809A}"/>
              </a:ext>
            </a:extLst>
          </p:cNvPr>
          <p:cNvSpPr txBox="1"/>
          <p:nvPr/>
        </p:nvSpPr>
        <p:spPr>
          <a:xfrm>
            <a:off x="4182386" y="3248062"/>
            <a:ext cx="4013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program_9_3__2(mut a:(i32,i32,i32))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a.0+a.1+a.2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833A73-D637-CF50-3288-133CAB516346}"/>
              </a:ext>
            </a:extLst>
          </p:cNvPr>
          <p:cNvSpPr txBox="1"/>
          <p:nvPr/>
        </p:nvSpPr>
        <p:spPr>
          <a:xfrm>
            <a:off x="8304956" y="3248062"/>
            <a:ext cx="37390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program_9_3__3(mut a:[i32;3]) {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a.0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=1;</a:t>
            </a:r>
          </a:p>
          <a:p>
            <a:pPr marL="0"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nn-NO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078776-8D7E-9C78-873B-576AB58B8809}"/>
              </a:ext>
            </a:extLst>
          </p:cNvPr>
          <p:cNvSpPr txBox="1"/>
          <p:nvPr/>
        </p:nvSpPr>
        <p:spPr>
          <a:xfrm>
            <a:off x="2310920" y="3820686"/>
            <a:ext cx="1801318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元素可以被取子元素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A2A377-80C7-50C6-DEFC-CA30825E142A}"/>
              </a:ext>
            </a:extLst>
          </p:cNvPr>
          <p:cNvSpPr txBox="1"/>
          <p:nvPr/>
        </p:nvSpPr>
        <p:spPr>
          <a:xfrm>
            <a:off x="6290606" y="3820686"/>
            <a:ext cx="1801318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元素可以参与计算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B6E449-37E4-9485-80A5-DE8E680D14A8}"/>
              </a:ext>
            </a:extLst>
          </p:cNvPr>
          <p:cNvSpPr txBox="1"/>
          <p:nvPr/>
        </p:nvSpPr>
        <p:spPr>
          <a:xfrm>
            <a:off x="9264352" y="3820686"/>
            <a:ext cx="3031316" cy="29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元素可以作为左值被修改</a:t>
            </a:r>
            <a:endParaRPr lang="en-US" altLang="zh-CN" sz="1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8524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6FB9-B2D8-3D09-484D-1DB7F9AA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B5AA39BB-0C86-E08E-03AE-7462F42BD18A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373445-CAE7-39AA-0021-10D57C3B9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29147"/>
              </p:ext>
            </p:extLst>
          </p:nvPr>
        </p:nvGraphicFramePr>
        <p:xfrm>
          <a:off x="534988" y="1391384"/>
          <a:ext cx="10889604" cy="45324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实验评价内容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所占比重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</a:p>
                  </a:txBody>
                  <a:tcPr marL="68570" marR="6857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需求分析能力</a:t>
                      </a:r>
                      <a:endParaRPr lang="zh-CN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分以上）：对系统的可行性、用户需求和功能需求进行了准确完整的分析与总结；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80-89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）：对系统的可行性、用户需求和功能需求进行了较为完整的分析与总结；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70-79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 对系统的可行性与基本功能需求进行了分析与总结；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60-69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）：对系统的基本功能需求进行了简单的分析与总结；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 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分以下）：无需求分析内容</a:t>
                      </a:r>
                      <a:endParaRPr lang="zh-CN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41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3983-8165-74A3-0B9B-FD04F8DD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D3FCA6C-0C8E-C3B7-1A58-64D5B5E5D766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A91208-D08B-2242-5980-078F5740E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482105"/>
              </p:ext>
            </p:extLst>
          </p:nvPr>
        </p:nvGraphicFramePr>
        <p:xfrm>
          <a:off x="534988" y="1391384"/>
          <a:ext cx="10889604" cy="40752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实验评价内容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所占比重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</a:p>
                  </a:txBody>
                  <a:tcPr marL="68570" marR="6857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系统方案（算法）设计能力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分以上）：系统设计与实现非常完善，概要设计和详细设计完整；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80-89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）：系统设计与实现较完善，概要设计和详细设计较完整；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70-79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）：设计并实现了系统的基本功能，概要设计和详细设计基本完整；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60-69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）：仅设计并实现较简单的系统；</a:t>
                      </a:r>
                      <a:endParaRPr lang="en-US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 </a:t>
                      </a: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分以下）：无系统设计与实现。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88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49A91-A809-E68E-6B74-A9135FF7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BB20958-8269-97B0-38B2-3D81E7622349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B4A0A6E-CBCB-21DE-BB38-873EBCB6E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377539"/>
              </p:ext>
            </p:extLst>
          </p:nvPr>
        </p:nvGraphicFramePr>
        <p:xfrm>
          <a:off x="551384" y="828598"/>
          <a:ext cx="10889604" cy="59148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实验评价内容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所占比重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</a:p>
                  </a:txBody>
                  <a:tcPr marL="68570" marR="6857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编程能力</a:t>
                      </a:r>
                      <a:endParaRPr lang="zh-CN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分以上）：编程实现要求的全部功能，实现输出目标代码（可汇编执行）的程序，正确无误、界面友好；能在报告中透彻解释并论证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生成代码的底层逻辑，具备极强的审查能力以修复复杂的逻辑缺陷。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80-89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分）：编程实现要求的全部功能，实现输出中间代码表示的程序，正确无误、界面友好；能在报告中清晰解释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生成代码的实现原理，能独立审查并有效修复其中的逻辑缺陷。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70-79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分）：编程实现要求的全部功能，实现输出中间代码表示的程序，程序较正确、界面较友好；基本理解并在报告中说明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生成代码的作用，仅能修复明显的逻辑缺陷。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60-69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分）：编程基本实现要求功能，实现输出中间代码表示的程序，程序基本正确、提供交互界面；无法在报告中清楚解释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生成的代码，缺乏审查与修复逻辑缺陷的能力。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 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分以下）：未能编程实现要求的基本功能；完全无法理解或解释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生成的代码，未能修复逻辑缺陷，无法保证程序的可运行性。</a:t>
                      </a:r>
                      <a:endParaRPr lang="zh-CN" alt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211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CC63-841C-4586-A612-3DCA84A9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C372F1D-5F28-DC17-88F4-1BA91AF8FE33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966AAB6-ACD2-8F16-A967-7E85E8D11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19614"/>
              </p:ext>
            </p:extLst>
          </p:nvPr>
        </p:nvGraphicFramePr>
        <p:xfrm>
          <a:off x="551384" y="836712"/>
          <a:ext cx="10889604" cy="59148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实验评价内容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所占比重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</a:p>
                  </a:txBody>
                  <a:tcPr marL="68570" marR="6857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撰写报告能力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分以上）：表达通顺，逻辑清晰，内容完整，实验充分，提出个人想法，不存在抄袭；在报告中明确声明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工具的使用环节与用途，能深度提炼并展现基于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生成内容的独立思考与批判性见解。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80-89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分）：表达通顺，逻辑清晰，内容较为完整，实验较充分，不存在抄袭；如实说明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工具的参与情况，能对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生成的文本进行有效的审查、润色与重组，保证行文逻辑连贯。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70-79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分）：表达通顺，内容基本完整，不存在抄袭；能在报告中交代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的使用情况，对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生成内容的依赖度较高但经过了基本的核对与修改，无明显生硬拼接的痕迹。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60-69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分）：报告内容不完整，不存在抄袭；未能规范披露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工具的使用细节，或直接套用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生成的文本而缺乏必要的个人理解与实质性修改，导致部分内容脱离实际实验过程。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 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分以下）：存在大篇幅抄袭或严重学术不端行为；未做任何合规声明，直接将</a:t>
                      </a:r>
                      <a:r>
                        <a:rPr lang="en-US" alt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生成的整段报告作为个人成果提交，完全丧失独立撰写能力。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14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5a9469-ee15-499b-b5b3-61796a49bb09"/>
  <p:tag name="COMMONDATA" val="eyJoZGlkIjoiNTA2M2FkNjU1MmQ3NWM5ZTEzMzgxNjY4ZjRmNzUzMjkifQ=="/>
  <p:tag name="RESOURCE_RECORD_KEY" val="{&quot;13&quot;:[4650186,4364900,19951219],&quot;70&quot;:[331426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22457</TotalTime>
  <Words>7342</Words>
  <Application>Microsoft Office PowerPoint</Application>
  <PresentationFormat>宽屏</PresentationFormat>
  <Paragraphs>772</Paragraphs>
  <Slides>32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等线</vt:lpstr>
      <vt:lpstr>黑体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Tongji</dc:title>
  <dc:creator>Tongji</dc:creator>
  <cp:lastModifiedBy>Zhihua Wei</cp:lastModifiedBy>
  <cp:revision>507</cp:revision>
  <dcterms:created xsi:type="dcterms:W3CDTF">2025-01-31T02:10:00Z</dcterms:created>
  <dcterms:modified xsi:type="dcterms:W3CDTF">2026-06-23T03:11:02Z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94B39BF60ABD43C3BACBD483E12A7C98</vt:lpwstr>
  </property>
  <property fmtid="{D5CDD505-2E9C-101B-9397-08002B2CF9AE}" pid="3" name="KSOProductBuildVer">
    <vt:lpwstr>2052-12.1.0.19770</vt:lpwstr>
  </property>
</Properties>
</file>