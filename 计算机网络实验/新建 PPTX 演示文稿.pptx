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EF2459-DD57-457E-84E5-669B014B8F8C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chemeClr val="accent1">
              <a:lumMod val="40000"/>
              <a:lumOff val="60000"/>
              <a:alpha val="25000"/>
            </a:schemeClr>
          </a:solidFill>
        </a:fill>
      </a:tcStyle>
    </a:band2H>
    <a:band1V>
      <a:tcStyle>
        <a:tcBdr/>
        <a:fill>
          <a:solidFill>
            <a:schemeClr val="accent1">
              <a:lumMod val="40000"/>
              <a:lumOff val="60000"/>
              <a:alpha val="25000"/>
            </a:schemeClr>
          </a:solidFill>
        </a:fill>
      </a:tcStyle>
    </a:band1V>
    <a:band2V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40000"/>
              <a:lumOff val="60000"/>
              <a:alpha val="4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40000"/>
              <a:lumOff val="60000"/>
              <a:alpha val="4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  <a:tblStyle styleId="{F2D8B865-2D9C-43AD-8ACE-030A88EF8DE8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  <a:tblStyle styleId="{B8FA2376-B2D3-458E-BBAE-2827265F208F}" styleName="表样式 1 12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/>
        <a:fill>
          <a:solidFill>
            <a:schemeClr val="accent1"/>
          </a:solidFill>
        </a:fill>
      </a:tcStyle>
    </a:firstRow>
  </a:tblStyle>
  <a:tblStyle styleId="{30D336B7-4E95-4111-B689-ADEC2E94C6F5}" styleName="表样式 1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lastRow>
    <a:fir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02FB16C-0F9D-4694-BB92-06105B36EBAE}" styleName="表样式 1 12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4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/>
        </p:nvGraphicFramePr>
        <p:xfrm>
          <a:off x="515937" y="448945"/>
          <a:ext cx="11061065" cy="4785360"/>
        </p:xfrm>
        <a:graphic>
          <a:graphicData uri="http://schemas.openxmlformats.org/drawingml/2006/table">
            <a:tbl>
              <a:tblPr firstRow="1" bandRow="1">
                <a:tableStyleId>{08EF2459-DD57-457E-84E5-669B014B8F8C}</a:tableStyleId>
              </a:tblPr>
              <a:tblGrid>
                <a:gridCol w="1498600"/>
                <a:gridCol w="1625600"/>
                <a:gridCol w="1457325"/>
                <a:gridCol w="1497965"/>
                <a:gridCol w="1949450"/>
                <a:gridCol w="1498600"/>
                <a:gridCol w="1533525"/>
              </a:tblGrid>
              <a:tr h="81407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400" spc="120"/>
                        <a:t>网络分区</a:t>
                      </a:r>
                      <a:endParaRPr lang="zh-CN" altLang="en-US" sz="1400" spc="120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400" spc="120"/>
                        <a:t>区域</a:t>
                      </a:r>
                      <a:r>
                        <a:rPr lang="en-US" altLang="zh-CN" sz="1400" spc="120"/>
                        <a:t>/</a:t>
                      </a:r>
                      <a:r>
                        <a:rPr lang="zh-CN" altLang="en-US" sz="1400" spc="120"/>
                        <a:t>科室名称</a:t>
                      </a:r>
                      <a:endParaRPr lang="zh-CN" altLang="en-US" sz="1400" spc="120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400" spc="120"/>
                        <a:t>终端数量</a:t>
                      </a:r>
                      <a:endParaRPr lang="zh-CN" altLang="en-US" sz="1400" spc="120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400" spc="120"/>
                        <a:t>规划</a:t>
                      </a:r>
                      <a:r>
                        <a:rPr lang="en-US" altLang="zh-CN" sz="1400" spc="120"/>
                        <a:t> </a:t>
                      </a:r>
                      <a:endParaRPr lang="en-US" altLang="zh-CN" sz="1400" spc="120"/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400" spc="120"/>
                        <a:t>VLAN ID</a:t>
                      </a:r>
                      <a:endParaRPr lang="en-US" altLang="zh-CN" sz="1400" spc="120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400" spc="120"/>
                        <a:t>IP </a:t>
                      </a:r>
                      <a:r>
                        <a:rPr lang="zh-CN" altLang="en-US" sz="1400" spc="120"/>
                        <a:t>地址范围</a:t>
                      </a:r>
                      <a:endParaRPr lang="zh-CN" altLang="en-US" sz="1400" spc="120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400" spc="120"/>
                        <a:t>子网掩码</a:t>
                      </a:r>
                      <a:endParaRPr lang="zh-CN" altLang="en-US" sz="1400" spc="120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400" spc="120"/>
                        <a:t>默认网关</a:t>
                      </a:r>
                      <a:endParaRPr lang="zh-CN" altLang="en-US" sz="1400" spc="120"/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400" spc="120"/>
                        <a:t>（虚拟</a:t>
                      </a:r>
                      <a:r>
                        <a:rPr lang="en-US" altLang="zh-CN" sz="1400" spc="120"/>
                        <a:t>IP</a:t>
                      </a:r>
                      <a:r>
                        <a:rPr lang="zh-CN" altLang="en-US" sz="1400" spc="120"/>
                        <a:t>）</a:t>
                      </a:r>
                      <a:endParaRPr lang="zh-CN" altLang="en-US" sz="1400" spc="120"/>
                    </a:p>
                  </a:txBody>
                  <a:tcPr marL="177800" marR="177800" marT="107950" marB="107950" anchor="ctr" anchorCtr="0"/>
                </a:tc>
              </a:tr>
              <a:tr h="496570">
                <a:tc rowSpan="4"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200" b="1"/>
                        <a:t>医疗内网</a:t>
                      </a:r>
                      <a:endParaRPr lang="zh-CN" altLang="en-US" sz="1200" b="1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200" b="1"/>
                        <a:t>医生工作站（一区）</a:t>
                      </a:r>
                      <a:endParaRPr lang="zh-CN" altLang="en-US" sz="1200" b="1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200" b="1"/>
                        <a:t>150</a:t>
                      </a:r>
                      <a:r>
                        <a:rPr lang="zh-CN" altLang="en-US" sz="1200" b="1"/>
                        <a:t>台</a:t>
                      </a:r>
                      <a:endParaRPr lang="zh-CN" altLang="en-US" sz="1200" b="1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200" b="1"/>
                        <a:t>VLAN 10</a:t>
                      </a:r>
                      <a:endParaRPr lang="en-US" altLang="zh-CN" sz="1200" b="1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200" b="1"/>
                        <a:t>10.10.10.2 ~ 10.10.10.254</a:t>
                      </a:r>
                      <a:endParaRPr lang="en-US" altLang="zh-CN" sz="1200" b="1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200" b="1"/>
                        <a:t>255.255.255.0</a:t>
                      </a:r>
                      <a:endParaRPr lang="en-US" altLang="zh-CN" sz="1200" b="1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200" b="1"/>
                        <a:t>10.10.10.1</a:t>
                      </a:r>
                      <a:endParaRPr lang="en-US" altLang="zh-CN" sz="1200" b="1"/>
                    </a:p>
                  </a:txBody>
                  <a:tcPr marL="177800" marR="177800" marT="107950" marB="107950" anchor="ctr" anchorCtr="0"/>
                </a:tc>
              </a:tr>
              <a:tr h="496570">
                <a:tc vMerge="1"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200" b="1"/>
                        <a:t>医生工作站（二区）</a:t>
                      </a:r>
                      <a:endParaRPr lang="zh-CN" altLang="en-US" sz="1200" b="1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200" b="1"/>
                        <a:t>150</a:t>
                      </a:r>
                      <a:r>
                        <a:rPr lang="zh-CN" altLang="en-US" sz="1200" b="1"/>
                        <a:t>台</a:t>
                      </a:r>
                      <a:endParaRPr lang="zh-CN" altLang="en-US" sz="1200" b="1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200" b="1"/>
                        <a:t>VLAN 11</a:t>
                      </a:r>
                      <a:endParaRPr lang="en-US" altLang="zh-CN" sz="1200" b="1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200" b="1"/>
                        <a:t>10.10.11.2 ~ 10.10.11.254</a:t>
                      </a:r>
                      <a:endParaRPr lang="en-US" altLang="zh-CN" sz="1200" b="1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200" b="1"/>
                        <a:t>255.255.255.0</a:t>
                      </a:r>
                      <a:endParaRPr lang="en-US" altLang="zh-CN" sz="1200" b="1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200" b="1"/>
                        <a:t>10.10.11.1</a:t>
                      </a:r>
                      <a:endParaRPr lang="en-US" altLang="zh-CN" sz="1200" b="1"/>
                    </a:p>
                  </a:txBody>
                  <a:tcPr marL="177800" marR="177800" marT="107950" marB="107950" anchor="ctr" anchorCtr="0"/>
                </a:tc>
              </a:tr>
              <a:tr h="495935">
                <a:tc vMerge="1"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200" b="1"/>
                        <a:t>护士工作站</a:t>
                      </a:r>
                      <a:endParaRPr lang="zh-CN" altLang="en-US" sz="1200" b="1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200" b="1"/>
                        <a:t>200</a:t>
                      </a:r>
                      <a:r>
                        <a:rPr lang="zh-CN" altLang="en-US" sz="1200" b="1"/>
                        <a:t>台</a:t>
                      </a:r>
                      <a:endParaRPr lang="zh-CN" altLang="en-US" sz="1200" b="1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200" b="1"/>
                        <a:t>VLAN 20</a:t>
                      </a:r>
                      <a:endParaRPr lang="en-US" altLang="zh-CN" sz="1200" b="1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200" b="1"/>
                        <a:t>10.10.20.2 ~ 10.10.20.254</a:t>
                      </a:r>
                      <a:endParaRPr lang="en-US" altLang="zh-CN" sz="1200" b="1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200" b="1"/>
                        <a:t>255.255.255.0</a:t>
                      </a:r>
                      <a:endParaRPr lang="en-US" altLang="zh-CN" sz="1200" b="1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200" b="1"/>
                        <a:t>10.10.20.1</a:t>
                      </a:r>
                      <a:endParaRPr lang="en-US" altLang="zh-CN" sz="1200" b="1"/>
                    </a:p>
                  </a:txBody>
                  <a:tcPr marL="177800" marR="177800" marT="107950" marB="107950" anchor="ctr" anchorCtr="0"/>
                </a:tc>
              </a:tr>
              <a:tr h="496570">
                <a:tc vMerge="1"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200" b="1"/>
                        <a:t>内网核心服务器区</a:t>
                      </a:r>
                      <a:endParaRPr lang="zh-CN" altLang="en-US" sz="1200" b="1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200" b="1"/>
                        <a:t>20台</a:t>
                      </a:r>
                      <a:endParaRPr lang="zh-CN" altLang="en-US" sz="1200" b="1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200" b="1"/>
                        <a:t>VLAN 80</a:t>
                      </a:r>
                      <a:endParaRPr lang="en-US" altLang="zh-CN" sz="1200" b="1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200" b="1"/>
                        <a:t>10.10.80.2 ~ 10.10.80.254</a:t>
                      </a:r>
                      <a:endParaRPr lang="en-US" altLang="zh-CN" sz="1200" b="1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200" b="1"/>
                        <a:t>255.255.255.0</a:t>
                      </a:r>
                      <a:endParaRPr lang="en-US" altLang="zh-CN" sz="1200" b="1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200" b="1"/>
                        <a:t>10.10.80.1</a:t>
                      </a:r>
                      <a:endParaRPr lang="en-US" altLang="zh-CN" sz="1200" b="1"/>
                    </a:p>
                  </a:txBody>
                  <a:tcPr marL="177800" marR="177800" marT="107950" marB="107950" anchor="ctr" anchorCtr="0"/>
                </a:tc>
              </a:tr>
              <a:tr h="496570">
                <a:tc rowSpan="2"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200" b="1"/>
                        <a:t>办公外网</a:t>
                      </a:r>
                      <a:endParaRPr lang="zh-CN" altLang="en-US" sz="1200" b="1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200" b="1"/>
                        <a:t>行政与财务办公</a:t>
                      </a:r>
                      <a:endParaRPr lang="zh-CN" altLang="en-US" sz="1200" b="1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200" b="1"/>
                        <a:t>150</a:t>
                      </a:r>
                      <a:r>
                        <a:rPr lang="zh-CN" altLang="en-US" sz="1200" b="1"/>
                        <a:t>台</a:t>
                      </a:r>
                      <a:endParaRPr lang="zh-CN" altLang="en-US" sz="1200" b="1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200" b="1"/>
                        <a:t>VLAN 30</a:t>
                      </a:r>
                      <a:endParaRPr lang="en-US" altLang="zh-CN" sz="1200" b="1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200" b="1"/>
                        <a:t>192.168.30.2 ~ 192.168.30.254</a:t>
                      </a:r>
                      <a:endParaRPr lang="en-US" altLang="zh-CN" sz="1200" b="1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200" b="1"/>
                        <a:t>255.255.255.0</a:t>
                      </a:r>
                      <a:endParaRPr lang="en-US" altLang="zh-CN" sz="1200" b="1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200" b="1"/>
                        <a:t>192.168.30.1</a:t>
                      </a:r>
                      <a:endParaRPr lang="en-US" altLang="zh-CN" sz="1200" b="1"/>
                    </a:p>
                  </a:txBody>
                  <a:tcPr marL="177800" marR="177800" marT="107950" marB="107950" anchor="ctr" anchorCtr="0"/>
                </a:tc>
              </a:tr>
              <a:tr h="496570">
                <a:tc vMerge="1"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200" b="1"/>
                        <a:t>外网公共服务区</a:t>
                      </a:r>
                      <a:endParaRPr lang="zh-CN" altLang="en-US" sz="1200" b="1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200" b="1"/>
                        <a:t>10台</a:t>
                      </a:r>
                      <a:endParaRPr lang="zh-CN" altLang="en-US" sz="1200" b="1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200" b="1"/>
                        <a:t>VLAN 90</a:t>
                      </a:r>
                      <a:endParaRPr lang="en-US" altLang="zh-CN" sz="1200" b="1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200" b="1"/>
                        <a:t>192.168.90.2 ~ 192.168.90.254</a:t>
                      </a:r>
                      <a:endParaRPr lang="en-US" altLang="zh-CN" sz="1200" b="1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200" b="1"/>
                        <a:t>255.255.255.0</a:t>
                      </a:r>
                      <a:endParaRPr lang="en-US" altLang="zh-CN" sz="1200" b="1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200" b="1"/>
                        <a:t>192.168.90.1</a:t>
                      </a:r>
                      <a:endParaRPr lang="en-US" altLang="zh-CN" sz="1200" b="1"/>
                    </a:p>
                  </a:txBody>
                  <a:tcPr marL="177800" marR="177800" marT="107950" marB="107950" anchor="ctr" anchorCtr="0"/>
                </a:tc>
              </a:tr>
              <a:tr h="495935">
                <a:tc rowSpan="2"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200" b="1"/>
                        <a:t>设备专网</a:t>
                      </a:r>
                      <a:endParaRPr lang="zh-CN" altLang="en-US" sz="1200" b="1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200" b="1"/>
                        <a:t>移动医疗终端（无线）</a:t>
                      </a:r>
                      <a:endParaRPr lang="zh-CN" altLang="en-US" sz="1200" b="1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200" b="1"/>
                        <a:t>100</a:t>
                      </a:r>
                      <a:r>
                        <a:rPr lang="zh-CN" altLang="en-US" sz="1200" b="1"/>
                        <a:t>台</a:t>
                      </a:r>
                      <a:endParaRPr lang="zh-CN" altLang="en-US" sz="1200" b="1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200" b="1"/>
                        <a:t>VLAN 40</a:t>
                      </a:r>
                      <a:endParaRPr lang="en-US" altLang="zh-CN" sz="1200" b="1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200" b="1"/>
                        <a:t>172.16.40.2 ~ 172.16.40.254</a:t>
                      </a:r>
                      <a:endParaRPr lang="en-US" altLang="zh-CN" sz="1200" b="1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200" b="1"/>
                        <a:t>255.255.255.0</a:t>
                      </a:r>
                      <a:endParaRPr lang="en-US" altLang="zh-CN" sz="1200" b="1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200" b="1"/>
                        <a:t>172.16.40.1</a:t>
                      </a:r>
                      <a:endParaRPr lang="en-US" altLang="zh-CN" sz="1200" b="1"/>
                    </a:p>
                  </a:txBody>
                  <a:tcPr marL="177800" marR="177800" marT="107950" marB="107950" anchor="ctr" anchorCtr="0"/>
                </a:tc>
              </a:tr>
              <a:tr h="496570">
                <a:tc vMerge="1"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200" b="1"/>
                        <a:t>医疗设备</a:t>
                      </a:r>
                      <a:r>
                        <a:rPr lang="en-US" altLang="zh-CN" sz="1200" b="1"/>
                        <a:t>/</a:t>
                      </a:r>
                      <a:r>
                        <a:rPr lang="zh-CN" altLang="en-US" sz="1200" b="1"/>
                        <a:t>物联网</a:t>
                      </a:r>
                      <a:endParaRPr lang="zh-CN" altLang="en-US" sz="1200" b="1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200" b="1"/>
                        <a:t>200</a:t>
                      </a:r>
                      <a:r>
                        <a:rPr lang="zh-CN" altLang="en-US" sz="1200" b="1"/>
                        <a:t>台</a:t>
                      </a:r>
                      <a:endParaRPr lang="zh-CN" altLang="en-US" sz="1200" b="1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200" b="1"/>
                        <a:t>VLAN 50</a:t>
                      </a:r>
                      <a:endParaRPr lang="en-US" altLang="zh-CN" sz="1200" b="1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200" b="1"/>
                        <a:t>172.16.50.2 ~ 172.16.50.254</a:t>
                      </a:r>
                      <a:endParaRPr lang="en-US" altLang="zh-CN" sz="1200" b="1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200" b="1"/>
                        <a:t>255.255.255.0</a:t>
                      </a:r>
                      <a:endParaRPr lang="en-US" altLang="zh-CN" sz="1200" b="1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200" b="1"/>
                        <a:t>172.16.50.1</a:t>
                      </a:r>
                      <a:endParaRPr lang="en-US" altLang="zh-CN" sz="1200" b="1"/>
                    </a:p>
                  </a:txBody>
                  <a:tcPr marL="177800" marR="177800" marT="107950" marB="107950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565150" y="886460"/>
          <a:ext cx="8162925" cy="4449445"/>
        </p:xfrm>
        <a:graphic>
          <a:graphicData uri="http://schemas.openxmlformats.org/drawingml/2006/table">
            <a:tbl>
              <a:tblPr firstRow="1" bandRow="1">
                <a:tableStyleId>{F2D8B865-2D9C-43AD-8ACE-030A88EF8DE8}</a:tableStyleId>
              </a:tblPr>
              <a:tblGrid>
                <a:gridCol w="1443990"/>
                <a:gridCol w="1370965"/>
                <a:gridCol w="2594610"/>
                <a:gridCol w="2753360"/>
              </a:tblGrid>
              <a:tr h="867410"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zh-CN" altLang="en-US" sz="1400" spc="130"/>
                        <a:t>业务</a:t>
                      </a:r>
                      <a:r>
                        <a:rPr lang="en-US" altLang="zh-CN" sz="1400" spc="130"/>
                        <a:t> </a:t>
                      </a:r>
                      <a:endParaRPr lang="en-US" altLang="zh-CN" sz="1400" spc="130"/>
                    </a:p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en-US" altLang="zh-CN" sz="1400" spc="130"/>
                        <a:t>VLAN ID</a:t>
                      </a:r>
                      <a:endParaRPr lang="en-US" altLang="zh-CN" sz="1400" spc="130"/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400" spc="130"/>
                        <a:t>虚拟网关</a:t>
                      </a:r>
                      <a:r>
                        <a:rPr lang="en-US" altLang="zh-CN" sz="1400" spc="130"/>
                        <a:t> IP</a:t>
                      </a:r>
                      <a:endParaRPr lang="en-US" altLang="zh-CN" sz="1400" spc="130"/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400" spc="130"/>
                        <a:t>主用核心</a:t>
                      </a:r>
                      <a:endParaRPr lang="zh-CN" altLang="en-US" sz="1400" spc="130"/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400" spc="130"/>
                        <a:t>（</a:t>
                      </a:r>
                      <a:r>
                        <a:rPr lang="en-US" altLang="zh-CN" sz="1400" spc="130"/>
                        <a:t>Active Master</a:t>
                      </a:r>
                      <a:r>
                        <a:rPr lang="zh-CN" altLang="en-US" sz="1400" spc="130"/>
                        <a:t>）</a:t>
                      </a:r>
                      <a:endParaRPr lang="zh-CN" altLang="en-US" sz="1400" spc="130"/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400" spc="130"/>
                        <a:t>备用核心</a:t>
                      </a:r>
                      <a:endParaRPr lang="zh-CN" altLang="en-US" sz="1400" spc="130"/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400" spc="130"/>
                        <a:t>（</a:t>
                      </a:r>
                      <a:r>
                        <a:rPr lang="en-US" altLang="zh-CN" sz="1400" spc="130"/>
                        <a:t>Standby Backup</a:t>
                      </a:r>
                      <a:r>
                        <a:rPr lang="zh-CN" altLang="en-US" sz="1400" spc="130"/>
                        <a:t>）</a:t>
                      </a:r>
                      <a:endParaRPr lang="zh-CN" altLang="en-US" sz="1400" spc="130"/>
                    </a:p>
                  </a:txBody>
                  <a:tcPr marL="254000" marR="254000" marT="177800" marB="177800" anchor="ctr" anchorCtr="0"/>
                </a:tc>
              </a:tr>
              <a:tr h="892175"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VLAN 10</a:t>
                      </a:r>
                      <a:r>
                        <a:rPr lang="zh-CN" altLang="en-US" sz="12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（医生一区）</a:t>
                      </a:r>
                      <a:endParaRPr lang="zh-CN" altLang="en-US" sz="12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10.10.10.1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Core-A1</a:t>
                      </a:r>
                      <a:r>
                        <a:rPr lang="zh-CN" altLang="en-US" sz="12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（优先级 </a:t>
                      </a: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120</a:t>
                      </a:r>
                      <a:r>
                        <a:rPr lang="zh-CN" altLang="en-US" sz="12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  <a:endParaRPr lang="zh-CN" altLang="en-US" sz="12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Core-A2</a:t>
                      </a:r>
                      <a:r>
                        <a:rPr lang="zh-CN" altLang="en-US" sz="12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（优先级 </a:t>
                      </a: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100</a:t>
                      </a:r>
                      <a:r>
                        <a:rPr lang="zh-CN" altLang="en-US" sz="12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  <a:endParaRPr lang="zh-CN" altLang="en-US" sz="12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54000" marR="254000" marT="177800" marB="177800" anchor="ctr" anchorCtr="0"/>
                </a:tc>
              </a:tr>
              <a:tr h="893445"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VLAN 11</a:t>
                      </a:r>
                      <a:r>
                        <a:rPr lang="zh-CN" altLang="en-US" sz="12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（医生二区）</a:t>
                      </a:r>
                      <a:endParaRPr lang="zh-CN" altLang="en-US" sz="12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10.10.11.1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Core-A2</a:t>
                      </a:r>
                      <a:r>
                        <a:rPr lang="zh-CN" altLang="en-US" sz="12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（优先级 </a:t>
                      </a: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120</a:t>
                      </a:r>
                      <a:r>
                        <a:rPr lang="zh-CN" altLang="en-US" sz="12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  <a:endParaRPr lang="zh-CN" altLang="en-US" sz="12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Core-A1</a:t>
                      </a:r>
                      <a:r>
                        <a:rPr lang="zh-CN" altLang="en-US" sz="12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（优先级 </a:t>
                      </a: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100</a:t>
                      </a:r>
                      <a:r>
                        <a:rPr lang="zh-CN" altLang="en-US" sz="12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  <a:endParaRPr lang="zh-CN" altLang="en-US" sz="12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54000" marR="254000" marT="177800" marB="177800" anchor="ctr" anchorCtr="0"/>
                </a:tc>
              </a:tr>
              <a:tr h="893445"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VLAN 20</a:t>
                      </a:r>
                      <a:r>
                        <a:rPr lang="zh-CN" altLang="en-US" sz="12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（护士站）</a:t>
                      </a:r>
                      <a:endParaRPr lang="zh-CN" altLang="en-US" sz="12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10.10.20.1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Core-A2</a:t>
                      </a:r>
                      <a:r>
                        <a:rPr lang="zh-CN" altLang="en-US" sz="12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（优先级 </a:t>
                      </a: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120</a:t>
                      </a:r>
                      <a:r>
                        <a:rPr lang="zh-CN" altLang="en-US" sz="12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  <a:endParaRPr lang="zh-CN" altLang="en-US" sz="12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Core-A1</a:t>
                      </a:r>
                      <a:r>
                        <a:rPr lang="zh-CN" altLang="en-US" sz="12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（优先级 </a:t>
                      </a: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100</a:t>
                      </a:r>
                      <a:r>
                        <a:rPr lang="zh-CN" altLang="en-US" sz="12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  <a:endParaRPr lang="zh-CN" altLang="en-US" sz="12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54000" marR="254000" marT="177800" marB="177800" anchor="ctr" anchorCtr="0"/>
                </a:tc>
              </a:tr>
              <a:tr h="902970"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VLAN 80</a:t>
                      </a:r>
                      <a:r>
                        <a:rPr lang="zh-CN" altLang="en-US" sz="12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（内网服务器）</a:t>
                      </a:r>
                      <a:endParaRPr lang="zh-CN" altLang="en-US" sz="12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10.10.80.1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Core-A1</a:t>
                      </a:r>
                      <a:r>
                        <a:rPr lang="zh-CN" altLang="en-US" sz="12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（优先级 </a:t>
                      </a: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120</a:t>
                      </a:r>
                      <a:r>
                        <a:rPr lang="zh-CN" altLang="en-US" sz="12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  <a:endParaRPr lang="zh-CN" altLang="en-US" sz="12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Core-A2</a:t>
                      </a:r>
                      <a:r>
                        <a:rPr lang="zh-CN" altLang="en-US" sz="12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（优先级 </a:t>
                      </a: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100</a:t>
                      </a:r>
                      <a:r>
                        <a:rPr lang="zh-CN" altLang="en-US" sz="12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  <a:endParaRPr lang="zh-CN" altLang="en-US" sz="12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54000" marR="254000" marT="177800" marB="177800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8" name="表格 7"/>
          <p:cNvGraphicFramePr/>
          <p:nvPr>
            <p:custDataLst>
              <p:tags r:id="rId1"/>
            </p:custDataLst>
          </p:nvPr>
        </p:nvGraphicFramePr>
        <p:xfrm>
          <a:off x="1960245" y="2686050"/>
          <a:ext cx="8641715" cy="2090420"/>
        </p:xfrm>
        <a:graphic>
          <a:graphicData uri="http://schemas.openxmlformats.org/drawingml/2006/table">
            <a:tbl>
              <a:tblPr firstRow="1" bandRow="1">
                <a:tableStyleId>{B8FA2376-B2D3-458E-BBAE-2827265F208F}</a:tableStyleId>
              </a:tblPr>
              <a:tblGrid>
                <a:gridCol w="1389380"/>
                <a:gridCol w="1388745"/>
                <a:gridCol w="1389380"/>
                <a:gridCol w="1388745"/>
                <a:gridCol w="1862455"/>
                <a:gridCol w="1223010"/>
              </a:tblGrid>
              <a:tr h="522605">
                <a:tc>
                  <a:txBody>
                    <a:bodyPr/>
                    <a:p>
                      <a:pPr>
                        <a:lnSpc>
                          <a:spcPts val="1260"/>
                        </a:lnSpc>
                      </a:pPr>
                      <a:r>
                        <a:rPr lang="zh-CN" altLang="en-US" sz="1100"/>
                        <a:t>部署设备</a:t>
                      </a:r>
                      <a:endParaRPr lang="zh-CN" altLang="en-US" sz="1100"/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>
                        <a:lnSpc>
                          <a:spcPts val="1260"/>
                        </a:lnSpc>
                      </a:pPr>
                      <a:r>
                        <a:rPr lang="zh-CN" altLang="en-US" sz="1100"/>
                        <a:t>目的网段</a:t>
                      </a:r>
                      <a:endParaRPr lang="zh-CN" altLang="en-US" sz="1100"/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>
                        <a:lnSpc>
                          <a:spcPts val="1260"/>
                        </a:lnSpc>
                      </a:pPr>
                      <a:r>
                        <a:rPr lang="zh-CN" altLang="en-US" sz="1100"/>
                        <a:t>子网掩码</a:t>
                      </a:r>
                      <a:endParaRPr lang="zh-CN" altLang="en-US" sz="1100"/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>
                        <a:lnSpc>
                          <a:spcPts val="1260"/>
                        </a:lnSpc>
                      </a:pPr>
                      <a:r>
                        <a:rPr lang="zh-CN" altLang="en-US" sz="1100"/>
                        <a:t>下一跳 </a:t>
                      </a:r>
                      <a:r>
                        <a:rPr lang="en-US" altLang="zh-CN" sz="1100"/>
                        <a:t>IP</a:t>
                      </a:r>
                      <a:endParaRPr lang="en-US" altLang="zh-CN" sz="1100"/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>
                        <a:lnSpc>
                          <a:spcPts val="1260"/>
                        </a:lnSpc>
                      </a:pPr>
                      <a:r>
                        <a:rPr lang="zh-CN" altLang="en-US" sz="1100"/>
                        <a:t>出口</a:t>
                      </a:r>
                      <a:r>
                        <a:rPr lang="en-US" altLang="zh-CN" sz="1100"/>
                        <a:t>/</a:t>
                      </a:r>
                      <a:r>
                        <a:rPr lang="zh-CN" altLang="en-US" sz="1100"/>
                        <a:t>物理端口</a:t>
                      </a:r>
                      <a:endParaRPr lang="zh-CN" altLang="en-US" sz="1100"/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>
                        <a:lnSpc>
                          <a:spcPts val="1260"/>
                        </a:lnSpc>
                      </a:pPr>
                      <a:r>
                        <a:rPr lang="zh-CN" altLang="en-US" sz="1100"/>
                        <a:t>路由类型</a:t>
                      </a:r>
                      <a:endParaRPr lang="zh-CN" altLang="en-US" sz="1100"/>
                    </a:p>
                  </a:txBody>
                  <a:tcPr marL="91757" marR="91757" marT="46037" marB="46037" anchor="ctr" anchorCtr="0"/>
                </a:tc>
              </a:tr>
              <a:tr h="522605">
                <a:tc>
                  <a:txBody>
                    <a:bodyPr/>
                    <a:p>
                      <a:pPr>
                        <a:lnSpc>
                          <a:spcPts val="1260"/>
                        </a:lnSpc>
                      </a:pPr>
                      <a:r>
                        <a:rPr lang="en-US" altLang="zh-CN" sz="11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Core-B</a:t>
                      </a:r>
                      <a:endParaRPr lang="en-US" altLang="zh-CN" sz="11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>
                        <a:lnSpc>
                          <a:spcPts val="1260"/>
                        </a:lnSpc>
                      </a:pPr>
                      <a:r>
                        <a:rPr lang="en-US" altLang="zh-CN" sz="11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0.0.0.0 (</a:t>
                      </a:r>
                      <a:r>
                        <a:rPr lang="zh-CN" altLang="en-US" sz="11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默认</a:t>
                      </a:r>
                      <a:r>
                        <a:rPr lang="en-US" altLang="zh-CN" sz="11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)</a:t>
                      </a:r>
                      <a:endParaRPr lang="en-US" altLang="zh-CN" sz="11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>
                        <a:lnSpc>
                          <a:spcPts val="1260"/>
                        </a:lnSpc>
                      </a:pPr>
                      <a:r>
                        <a:rPr lang="en-US" altLang="zh-CN" sz="11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0.0.0.0</a:t>
                      </a:r>
                      <a:endParaRPr lang="en-US" altLang="zh-CN" sz="11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>
                        <a:lnSpc>
                          <a:spcPts val="1260"/>
                        </a:lnSpc>
                      </a:pPr>
                      <a:r>
                        <a:rPr lang="en-US" altLang="zh-CN" sz="11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192.168.100.1</a:t>
                      </a:r>
                      <a:endParaRPr lang="en-US" altLang="zh-CN" sz="11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>
                        <a:lnSpc>
                          <a:spcPts val="1260"/>
                        </a:lnSpc>
                      </a:pPr>
                      <a:r>
                        <a:rPr lang="en-US" altLang="zh-CN" sz="11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Gi0/1 (</a:t>
                      </a:r>
                      <a:r>
                        <a:rPr lang="zh-CN" altLang="en-US" sz="11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直连路由器</a:t>
                      </a:r>
                      <a:r>
                        <a:rPr lang="en-US" altLang="zh-CN" sz="11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)</a:t>
                      </a:r>
                      <a:endParaRPr lang="en-US" altLang="zh-CN" sz="11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>
                        <a:lnSpc>
                          <a:spcPts val="1260"/>
                        </a:lnSpc>
                      </a:pPr>
                      <a:r>
                        <a:rPr lang="zh-CN" altLang="en-US" sz="11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默认静态路由</a:t>
                      </a:r>
                      <a:endParaRPr lang="zh-CN" altLang="en-US" sz="11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757" marR="91757" marT="46037" marB="46037" anchor="ctr" anchorCtr="0"/>
                </a:tc>
              </a:tr>
              <a:tr h="522605">
                <a:tc>
                  <a:txBody>
                    <a:bodyPr/>
                    <a:p>
                      <a:pPr>
                        <a:lnSpc>
                          <a:spcPts val="1260"/>
                        </a:lnSpc>
                      </a:pPr>
                      <a:r>
                        <a:rPr lang="en-US" altLang="zh-CN" sz="11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Edge-Router-B</a:t>
                      </a:r>
                      <a:endParaRPr lang="en-US" altLang="zh-CN" sz="11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>
                        <a:lnSpc>
                          <a:spcPts val="1260"/>
                        </a:lnSpc>
                      </a:pPr>
                      <a:r>
                        <a:rPr lang="en-US" altLang="zh-CN" sz="11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192.168.30.0</a:t>
                      </a:r>
                      <a:endParaRPr lang="en-US" altLang="zh-CN" sz="11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>
                        <a:lnSpc>
                          <a:spcPts val="1260"/>
                        </a:lnSpc>
                      </a:pPr>
                      <a:r>
                        <a:rPr lang="en-US" altLang="zh-CN" sz="11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255.255.255.0</a:t>
                      </a:r>
                      <a:endParaRPr lang="en-US" altLang="zh-CN" sz="11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>
                        <a:lnSpc>
                          <a:spcPts val="1260"/>
                        </a:lnSpc>
                      </a:pPr>
                      <a:r>
                        <a:rPr lang="en-US" altLang="zh-CN" sz="11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192.168.100.2</a:t>
                      </a:r>
                      <a:endParaRPr lang="en-US" altLang="zh-CN" sz="11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>
                        <a:lnSpc>
                          <a:spcPts val="1260"/>
                        </a:lnSpc>
                      </a:pPr>
                      <a:r>
                        <a:rPr lang="en-US" altLang="zh-CN" sz="11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Gi0/0 (</a:t>
                      </a:r>
                      <a:r>
                        <a:rPr lang="zh-CN" altLang="en-US" sz="11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连接核心交换机</a:t>
                      </a:r>
                      <a:r>
                        <a:rPr lang="en-US" altLang="zh-CN" sz="11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)</a:t>
                      </a:r>
                      <a:endParaRPr lang="en-US" altLang="zh-CN" sz="11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>
                        <a:lnSpc>
                          <a:spcPts val="1260"/>
                        </a:lnSpc>
                      </a:pPr>
                      <a:r>
                        <a:rPr lang="zh-CN" altLang="en-US" sz="11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回程静态路由</a:t>
                      </a:r>
                      <a:endParaRPr lang="zh-CN" altLang="en-US" sz="11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757" marR="91757" marT="46037" marB="46037" anchor="ctr" anchorCtr="0"/>
                </a:tc>
              </a:tr>
              <a:tr h="522605">
                <a:tc>
                  <a:txBody>
                    <a:bodyPr/>
                    <a:p>
                      <a:pPr>
                        <a:lnSpc>
                          <a:spcPts val="1260"/>
                        </a:lnSpc>
                      </a:pPr>
                      <a:r>
                        <a:rPr lang="en-US" altLang="zh-CN" sz="11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Edge-Router-B</a:t>
                      </a:r>
                      <a:endParaRPr lang="en-US" altLang="zh-CN" sz="11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>
                        <a:lnSpc>
                          <a:spcPts val="1260"/>
                        </a:lnSpc>
                      </a:pPr>
                      <a:r>
                        <a:rPr lang="en-US" altLang="zh-CN" sz="11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192.168.90.0</a:t>
                      </a:r>
                      <a:endParaRPr lang="en-US" altLang="zh-CN" sz="11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>
                        <a:lnSpc>
                          <a:spcPts val="1260"/>
                        </a:lnSpc>
                      </a:pPr>
                      <a:r>
                        <a:rPr lang="en-US" altLang="zh-CN" sz="11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255.255.255.0</a:t>
                      </a:r>
                      <a:endParaRPr lang="en-US" altLang="zh-CN" sz="11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>
                        <a:lnSpc>
                          <a:spcPts val="1260"/>
                        </a:lnSpc>
                      </a:pPr>
                      <a:r>
                        <a:rPr lang="en-US" altLang="zh-CN" sz="11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192.168.100.2</a:t>
                      </a:r>
                      <a:endParaRPr lang="en-US" altLang="zh-CN" sz="11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>
                        <a:lnSpc>
                          <a:spcPts val="1260"/>
                        </a:lnSpc>
                      </a:pPr>
                      <a:r>
                        <a:rPr lang="en-US" altLang="zh-CN" sz="11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Gi0/0 (</a:t>
                      </a:r>
                      <a:r>
                        <a:rPr lang="zh-CN" altLang="en-US" sz="11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连接核心交换机</a:t>
                      </a:r>
                      <a:r>
                        <a:rPr lang="en-US" altLang="zh-CN" sz="11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)</a:t>
                      </a:r>
                      <a:endParaRPr lang="en-US" altLang="zh-CN" sz="11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>
                        <a:lnSpc>
                          <a:spcPts val="1260"/>
                        </a:lnSpc>
                      </a:pPr>
                      <a:r>
                        <a:rPr lang="zh-CN" altLang="en-US" sz="11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回程静态路由</a:t>
                      </a:r>
                      <a:endParaRPr lang="zh-CN" altLang="en-US" sz="11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757" marR="91757" marT="46037" marB="46037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1127125" y="96520"/>
          <a:ext cx="8895080" cy="11473815"/>
        </p:xfrm>
        <a:graphic>
          <a:graphicData uri="http://schemas.openxmlformats.org/drawingml/2006/table">
            <a:tbl>
              <a:tblPr firstRow="1" lastRow="1" bandRow="1">
                <a:tableStyleId>{30D336B7-4E95-4111-B689-ADEC2E94C6F5}</a:tableStyleId>
              </a:tblPr>
              <a:tblGrid>
                <a:gridCol w="895985"/>
                <a:gridCol w="1353185"/>
                <a:gridCol w="1028065"/>
                <a:gridCol w="1028065"/>
                <a:gridCol w="1028065"/>
                <a:gridCol w="822325"/>
                <a:gridCol w="852805"/>
                <a:gridCol w="1886585"/>
              </a:tblGrid>
              <a:tr h="398780"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</a:pPr>
                      <a:r>
                        <a:rPr lang="zh-CN" altLang="en-US" sz="1000" b="1">
                          <a:latin typeface="+mn-ea"/>
                        </a:rPr>
                        <a:t>网络分区</a:t>
                      </a:r>
                      <a:endParaRPr lang="zh-CN" altLang="en-US" sz="1000" b="1"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</a:pPr>
                      <a:r>
                        <a:rPr lang="zh-CN" altLang="en-US" sz="1000" b="1">
                          <a:latin typeface="+mn-ea"/>
                        </a:rPr>
                        <a:t>设备角色</a:t>
                      </a:r>
                      <a:endParaRPr lang="zh-CN" altLang="en-US" sz="1000" b="1"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</a:pPr>
                      <a:r>
                        <a:rPr lang="zh-CN" altLang="en-US" sz="1000" b="1">
                          <a:latin typeface="+mn-ea"/>
                        </a:rPr>
                        <a:t>推荐真实选型</a:t>
                      </a:r>
                      <a:endParaRPr lang="zh-CN" altLang="en-US" sz="1000" b="1"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</a:pPr>
                      <a:r>
                        <a:rPr lang="zh-CN" altLang="en-US" sz="1000" b="1">
                          <a:latin typeface="+mn-ea"/>
                        </a:rPr>
                        <a:t>仿真器组件</a:t>
                      </a:r>
                      <a:endParaRPr lang="zh-CN" altLang="en-US" sz="1000" b="1"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</a:pPr>
                      <a:r>
                        <a:rPr lang="zh-CN" altLang="en-US" sz="1000" b="1">
                          <a:latin typeface="+mn-ea"/>
                        </a:rPr>
                        <a:t>规划数量</a:t>
                      </a:r>
                      <a:endParaRPr lang="zh-CN" altLang="en-US" sz="1000" b="1"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</a:pPr>
                      <a:r>
                        <a:rPr lang="zh-CN" altLang="en-US" sz="1000" b="1">
                          <a:latin typeface="+mn-ea"/>
                          <a:cs typeface="+mn-ea"/>
                        </a:rPr>
                        <a:t>预估单价 </a:t>
                      </a:r>
                      <a:r>
                        <a:rPr lang="en-US" altLang="zh-CN" sz="1000" b="1">
                          <a:latin typeface="+mn-ea"/>
                          <a:cs typeface="+mn-ea"/>
                        </a:rPr>
                        <a:t>(</a:t>
                      </a:r>
                      <a:r>
                        <a:rPr lang="zh-CN" altLang="en-US" sz="1000" b="1">
                          <a:latin typeface="+mn-ea"/>
                          <a:cs typeface="+mn-ea"/>
                        </a:rPr>
                        <a:t>元</a:t>
                      </a:r>
                      <a:r>
                        <a:rPr lang="en-US" altLang="zh-CN" sz="1000" b="1">
                          <a:latin typeface="+mn-ea"/>
                          <a:cs typeface="+mn-ea"/>
                        </a:rPr>
                        <a:t>)</a:t>
                      </a:r>
                      <a:endParaRPr lang="en-US" altLang="zh-CN" sz="1000" b="1">
                        <a:latin typeface="+mn-ea"/>
                        <a:cs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</a:pPr>
                      <a:r>
                        <a:rPr lang="zh-CN" altLang="en-US" sz="1000" b="1">
                          <a:latin typeface="+mn-ea"/>
                          <a:cs typeface="+mn-ea"/>
                        </a:rPr>
                        <a:t>预估总价 </a:t>
                      </a:r>
                      <a:r>
                        <a:rPr lang="en-US" altLang="zh-CN" sz="1000" b="1">
                          <a:latin typeface="+mn-ea"/>
                          <a:cs typeface="+mn-ea"/>
                        </a:rPr>
                        <a:t>(</a:t>
                      </a:r>
                      <a:r>
                        <a:rPr lang="zh-CN" altLang="en-US" sz="1000" b="1">
                          <a:latin typeface="+mn-ea"/>
                          <a:cs typeface="+mn-ea"/>
                        </a:rPr>
                        <a:t>元</a:t>
                      </a:r>
                      <a:r>
                        <a:rPr lang="en-US" altLang="zh-CN" sz="1000" b="1">
                          <a:latin typeface="+mn-ea"/>
                          <a:cs typeface="+mn-ea"/>
                        </a:rPr>
                        <a:t>)</a:t>
                      </a:r>
                      <a:endParaRPr lang="en-US" altLang="zh-CN" sz="1000" b="1">
                        <a:latin typeface="+mn-ea"/>
                        <a:cs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</a:pPr>
                      <a:r>
                        <a:rPr lang="zh-CN" altLang="en-US" sz="1000" b="1">
                          <a:latin typeface="+mn-ea"/>
                        </a:rPr>
                        <a:t>作用说明与技术指标</a:t>
                      </a:r>
                      <a:endParaRPr lang="zh-CN" altLang="en-US" sz="1000" b="1"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</a:tr>
              <a:tr h="687705"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</a:pPr>
                      <a:r>
                        <a:rPr lang="zh-CN" altLang="en-US" sz="1000" b="1">
                          <a:latin typeface="+mn-ea"/>
                        </a:rPr>
                        <a:t>出口层</a:t>
                      </a:r>
                      <a:endParaRPr lang="zh-CN" altLang="en-US" sz="1000" b="1"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>
                        <a:lnSpc>
                          <a:spcPts val="1260"/>
                        </a:lnSpc>
                      </a:pPr>
                      <a:r>
                        <a:rPr lang="zh-CN" altLang="en-US" sz="1000" b="1">
                          <a:latin typeface="+mn-ea"/>
                        </a:rPr>
                        <a:t>出口网关路由器</a:t>
                      </a:r>
                      <a:endParaRPr lang="zh-CN" altLang="en-US" sz="1000" b="1"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>
                        <a:lnSpc>
                          <a:spcPts val="1260"/>
                        </a:lnSpc>
                      </a:pPr>
                      <a:r>
                        <a:rPr lang="en-US" altLang="zh-CN" sz="1000" b="1">
                          <a:latin typeface="+mn-ea"/>
                        </a:rPr>
                        <a:t>Huawei NetEngine AR6140</a:t>
                      </a:r>
                      <a:endParaRPr lang="en-US" altLang="zh-CN" sz="1000" b="1"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>
                        <a:lnSpc>
                          <a:spcPts val="1260"/>
                        </a:lnSpc>
                      </a:pPr>
                      <a:r>
                        <a:rPr lang="en-US" altLang="zh-CN" sz="1000" b="1">
                          <a:latin typeface="+mn-ea"/>
                        </a:rPr>
                        <a:t>Router 2911 / ISR4321</a:t>
                      </a:r>
                      <a:endParaRPr lang="en-US" altLang="zh-CN" sz="1000" b="1"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</a:pPr>
                      <a:r>
                        <a:rPr lang="en-US" altLang="zh-CN" sz="1000" b="1">
                          <a:latin typeface="+mn-ea"/>
                          <a:cs typeface="+mn-ea"/>
                        </a:rPr>
                        <a:t>1 </a:t>
                      </a:r>
                      <a:r>
                        <a:rPr lang="zh-CN" altLang="en-US" sz="1000" b="1">
                          <a:latin typeface="+mn-ea"/>
                          <a:cs typeface="+mn-ea"/>
                        </a:rPr>
                        <a:t>台</a:t>
                      </a:r>
                      <a:endParaRPr lang="zh-CN" altLang="en-US" sz="1000" b="1">
                        <a:latin typeface="+mn-ea"/>
                        <a:cs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</a:pPr>
                      <a:r>
                        <a:rPr lang="en-US" altLang="zh-CN" sz="1000" b="1">
                          <a:latin typeface="+mn-ea"/>
                        </a:rPr>
                        <a:t>15,000</a:t>
                      </a:r>
                      <a:endParaRPr lang="en-US" altLang="zh-CN" sz="1000" b="1"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</a:pPr>
                      <a:r>
                        <a:rPr lang="en-US" altLang="zh-CN" sz="1000" b="1">
                          <a:latin typeface="+mn-ea"/>
                        </a:rPr>
                        <a:t>15,000</a:t>
                      </a:r>
                      <a:endParaRPr lang="en-US" altLang="zh-CN" sz="1000" b="1"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>
                        <a:lnSpc>
                          <a:spcPts val="1260"/>
                        </a:lnSpc>
                      </a:pPr>
                      <a:r>
                        <a:rPr lang="zh-CN" altLang="en-US" sz="1000" b="1">
                          <a:latin typeface="+mn-ea"/>
                          <a:cs typeface="+mn-ea"/>
                        </a:rPr>
                        <a:t>办公外网出口，提供高性能 </a:t>
                      </a:r>
                      <a:r>
                        <a:rPr lang="en-US" altLang="zh-CN" sz="1000" b="1">
                          <a:latin typeface="+mn-ea"/>
                          <a:cs typeface="+mn-ea"/>
                        </a:rPr>
                        <a:t>NAT </a:t>
                      </a:r>
                      <a:r>
                        <a:rPr lang="zh-CN" altLang="en-US" sz="1000" b="1">
                          <a:latin typeface="+mn-ea"/>
                          <a:cs typeface="+mn-ea"/>
                        </a:rPr>
                        <a:t>转发与回程静态路由</a:t>
                      </a:r>
                      <a:endParaRPr lang="zh-CN" altLang="en-US" sz="1000" b="1">
                        <a:latin typeface="+mn-ea"/>
                        <a:cs typeface="+mn-ea"/>
                      </a:endParaRPr>
                    </a:p>
                  </a:txBody>
                  <a:tcPr marL="91757" marR="91757" marT="46037" marB="46037" anchor="ctr" anchorCtr="0"/>
                </a:tc>
              </a:tr>
              <a:tr h="838835">
                <a:tc rowSpan="3">
                  <a:txBody>
                    <a:bodyPr/>
                    <a:p>
                      <a:pPr algn="ctr">
                        <a:lnSpc>
                          <a:spcPts val="1260"/>
                        </a:lnSpc>
                      </a:pPr>
                      <a:r>
                        <a:rPr lang="zh-CN" altLang="en-US" sz="1000" b="1">
                          <a:latin typeface="+mn-ea"/>
                        </a:rPr>
                        <a:t>核心层</a:t>
                      </a:r>
                      <a:endParaRPr lang="zh-CN" altLang="en-US" sz="1000" b="1"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>
                        <a:lnSpc>
                          <a:spcPts val="1260"/>
                        </a:lnSpc>
                      </a:pPr>
                      <a:r>
                        <a:rPr lang="zh-CN" altLang="en-US" sz="1000" b="1">
                          <a:latin typeface="+mn-ea"/>
                        </a:rPr>
                        <a:t>医疗内网双核心</a:t>
                      </a:r>
                      <a:endParaRPr lang="zh-CN" altLang="en-US" sz="1000" b="1"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>
                        <a:lnSpc>
                          <a:spcPts val="1260"/>
                        </a:lnSpc>
                      </a:pPr>
                      <a:r>
                        <a:rPr lang="en-US" altLang="zh-CN" sz="1000" b="1">
                          <a:latin typeface="+mn-ea"/>
                        </a:rPr>
                        <a:t>Huawei CloudEngine S6730-H</a:t>
                      </a:r>
                      <a:endParaRPr lang="en-US" altLang="zh-CN" sz="1000" b="1"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>
                        <a:lnSpc>
                          <a:spcPts val="1260"/>
                        </a:lnSpc>
                      </a:pPr>
                      <a:r>
                        <a:rPr lang="en-US" altLang="zh-CN" sz="1000" b="1">
                          <a:latin typeface="+mn-ea"/>
                        </a:rPr>
                        <a:t>Multilayer Switch 3560-24PS</a:t>
                      </a:r>
                      <a:endParaRPr lang="en-US" altLang="zh-CN" sz="1000" b="1"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</a:pPr>
                      <a:r>
                        <a:rPr lang="en-US" altLang="zh-CN" sz="1000" b="1">
                          <a:latin typeface="+mn-ea"/>
                          <a:cs typeface="+mn-ea"/>
                        </a:rPr>
                        <a:t>2 </a:t>
                      </a:r>
                      <a:r>
                        <a:rPr lang="zh-CN" altLang="en-US" sz="1000" b="1">
                          <a:latin typeface="+mn-ea"/>
                          <a:cs typeface="+mn-ea"/>
                        </a:rPr>
                        <a:t>台</a:t>
                      </a:r>
                      <a:endParaRPr lang="zh-CN" altLang="en-US" sz="1000" b="1">
                        <a:latin typeface="+mn-ea"/>
                        <a:cs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</a:pPr>
                      <a:r>
                        <a:rPr lang="en-US" altLang="zh-CN" sz="1000" b="1">
                          <a:latin typeface="+mn-ea"/>
                        </a:rPr>
                        <a:t>35,000</a:t>
                      </a:r>
                      <a:endParaRPr lang="en-US" altLang="zh-CN" sz="1000" b="1"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</a:pPr>
                      <a:r>
                        <a:rPr lang="en-US" altLang="zh-CN" sz="1000" b="1">
                          <a:latin typeface="+mn-ea"/>
                        </a:rPr>
                        <a:t>70,000</a:t>
                      </a:r>
                      <a:endParaRPr lang="en-US" altLang="zh-CN" sz="1000" b="1"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>
                        <a:lnSpc>
                          <a:spcPts val="1260"/>
                        </a:lnSpc>
                      </a:pPr>
                      <a:r>
                        <a:rPr lang="zh-CN" altLang="en-US" sz="1000" b="1">
                          <a:latin typeface="+mn-ea"/>
                          <a:cs typeface="+mn-ea"/>
                        </a:rPr>
                        <a:t>承载内网双机热备（</a:t>
                      </a:r>
                      <a:r>
                        <a:rPr lang="en-US" altLang="zh-CN" sz="1000" b="1">
                          <a:latin typeface="+mn-ea"/>
                          <a:cs typeface="+mn-ea"/>
                        </a:rPr>
                        <a:t>HSRP</a:t>
                      </a:r>
                      <a:r>
                        <a:rPr lang="zh-CN" altLang="en-US" sz="1000" b="1">
                          <a:latin typeface="+mn-ea"/>
                          <a:cs typeface="+mn-ea"/>
                        </a:rPr>
                        <a:t>），提供 </a:t>
                      </a:r>
                      <a:r>
                        <a:rPr lang="en-US" altLang="zh-CN" sz="1000" b="1">
                          <a:latin typeface="+mn-ea"/>
                          <a:cs typeface="+mn-ea"/>
                        </a:rPr>
                        <a:t>LACP </a:t>
                      </a:r>
                      <a:r>
                        <a:rPr lang="zh-CN" altLang="en-US" sz="1000" b="1">
                          <a:latin typeface="+mn-ea"/>
                          <a:cs typeface="+mn-ea"/>
                        </a:rPr>
                        <a:t>聚合与三层 </a:t>
                      </a:r>
                      <a:r>
                        <a:rPr lang="en-US" altLang="zh-CN" sz="1000" b="1">
                          <a:latin typeface="+mn-ea"/>
                          <a:cs typeface="+mn-ea"/>
                        </a:rPr>
                        <a:t>SVI </a:t>
                      </a:r>
                      <a:r>
                        <a:rPr lang="zh-CN" altLang="en-US" sz="1000" b="1">
                          <a:latin typeface="+mn-ea"/>
                          <a:cs typeface="+mn-ea"/>
                        </a:rPr>
                        <a:t>路由 </a:t>
                      </a:r>
                      <a:r>
                        <a:rPr lang="en-US" altLang="zh-CN" sz="1000" b="1">
                          <a:latin typeface="+mn-ea"/>
                          <a:cs typeface="+mn-ea"/>
                        </a:rPr>
                        <a:t>[5,6]</a:t>
                      </a:r>
                      <a:endParaRPr lang="en-US" altLang="zh-CN" sz="1000" b="1">
                        <a:latin typeface="+mn-ea"/>
                        <a:cs typeface="+mn-ea"/>
                      </a:endParaRPr>
                    </a:p>
                  </a:txBody>
                  <a:tcPr marL="91757" marR="91757" marT="46037" marB="46037" anchor="ctr" anchorCtr="0"/>
                </a:tc>
              </a:tr>
              <a:tr h="837565">
                <a:tc vMerge="1">
                  <a:tcPr marL="91757" marR="91757" marT="46037" marB="46037" anchor="ctr" anchorCtr="0"/>
                </a:tc>
                <a:tc>
                  <a:txBody>
                    <a:bodyPr/>
                    <a:p>
                      <a:pPr>
                        <a:lnSpc>
                          <a:spcPts val="1260"/>
                        </a:lnSpc>
                      </a:pPr>
                      <a:r>
                        <a:rPr lang="zh-CN" altLang="en-US" sz="1000" b="1">
                          <a:latin typeface="+mn-ea"/>
                        </a:rPr>
                        <a:t>办公外网核心</a:t>
                      </a:r>
                      <a:endParaRPr lang="zh-CN" altLang="en-US" sz="1000" b="1"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>
                        <a:lnSpc>
                          <a:spcPts val="1260"/>
                        </a:lnSpc>
                      </a:pPr>
                      <a:r>
                        <a:rPr lang="en-US" altLang="zh-CN" sz="1000" b="1">
                          <a:latin typeface="+mn-ea"/>
                        </a:rPr>
                        <a:t>Huawei CloudEngine S5735-L</a:t>
                      </a:r>
                      <a:endParaRPr lang="en-US" altLang="zh-CN" sz="1000" b="1"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>
                        <a:lnSpc>
                          <a:spcPts val="1260"/>
                        </a:lnSpc>
                      </a:pPr>
                      <a:r>
                        <a:rPr lang="en-US" altLang="zh-CN" sz="1000" b="1">
                          <a:latin typeface="+mn-ea"/>
                        </a:rPr>
                        <a:t>Multilayer Switch 3560-24PS</a:t>
                      </a:r>
                      <a:endParaRPr lang="en-US" altLang="zh-CN" sz="1000" b="1"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</a:pPr>
                      <a:r>
                        <a:rPr lang="en-US" altLang="zh-CN" sz="1000" b="1">
                          <a:latin typeface="+mn-ea"/>
                          <a:cs typeface="+mn-ea"/>
                        </a:rPr>
                        <a:t>1 </a:t>
                      </a:r>
                      <a:r>
                        <a:rPr lang="zh-CN" altLang="en-US" sz="1000" b="1">
                          <a:latin typeface="+mn-ea"/>
                          <a:cs typeface="+mn-ea"/>
                        </a:rPr>
                        <a:t>台</a:t>
                      </a:r>
                      <a:endParaRPr lang="zh-CN" altLang="en-US" sz="1000" b="1">
                        <a:latin typeface="+mn-ea"/>
                        <a:cs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</a:pPr>
                      <a:r>
                        <a:rPr lang="en-US" altLang="zh-CN" sz="1000" b="1">
                          <a:latin typeface="+mn-ea"/>
                        </a:rPr>
                        <a:t>12,000</a:t>
                      </a:r>
                      <a:endParaRPr lang="en-US" altLang="zh-CN" sz="1000" b="1"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</a:pPr>
                      <a:r>
                        <a:rPr lang="en-US" altLang="zh-CN" sz="1000" b="1">
                          <a:latin typeface="+mn-ea"/>
                        </a:rPr>
                        <a:t>12,000</a:t>
                      </a:r>
                      <a:endParaRPr lang="en-US" altLang="zh-CN" sz="1000" b="1"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>
                        <a:lnSpc>
                          <a:spcPts val="1260"/>
                        </a:lnSpc>
                      </a:pPr>
                      <a:r>
                        <a:rPr lang="zh-CN" altLang="en-US" sz="1000" b="1">
                          <a:latin typeface="+mn-ea"/>
                          <a:cs typeface="+mn-ea"/>
                        </a:rPr>
                        <a:t>划分行政办公（</a:t>
                      </a:r>
                      <a:r>
                        <a:rPr lang="en-US" altLang="zh-CN" sz="1000" b="1">
                          <a:latin typeface="+mn-ea"/>
                          <a:cs typeface="+mn-ea"/>
                        </a:rPr>
                        <a:t>V30</a:t>
                      </a:r>
                      <a:r>
                        <a:rPr lang="zh-CN" altLang="en-US" sz="1000" b="1">
                          <a:latin typeface="+mn-ea"/>
                          <a:cs typeface="+mn-ea"/>
                        </a:rPr>
                        <a:t>）与 </a:t>
                      </a:r>
                      <a:r>
                        <a:rPr lang="en-US" altLang="zh-CN" sz="1000" b="1">
                          <a:latin typeface="+mn-ea"/>
                          <a:cs typeface="+mn-ea"/>
                        </a:rPr>
                        <a:t>DMZ </a:t>
                      </a:r>
                      <a:r>
                        <a:rPr lang="zh-CN" altLang="en-US" sz="1000" b="1">
                          <a:latin typeface="+mn-ea"/>
                          <a:cs typeface="+mn-ea"/>
                        </a:rPr>
                        <a:t>网站服务器区（</a:t>
                      </a:r>
                      <a:r>
                        <a:rPr lang="en-US" altLang="zh-CN" sz="1000" b="1">
                          <a:latin typeface="+mn-ea"/>
                          <a:cs typeface="+mn-ea"/>
                        </a:rPr>
                        <a:t>V90</a:t>
                      </a:r>
                      <a:r>
                        <a:rPr lang="zh-CN" altLang="en-US" sz="1000" b="1">
                          <a:latin typeface="+mn-ea"/>
                          <a:cs typeface="+mn-ea"/>
                        </a:rPr>
                        <a:t>），配置过滤 </a:t>
                      </a:r>
                      <a:r>
                        <a:rPr lang="en-US" altLang="zh-CN" sz="1000" b="1">
                          <a:latin typeface="+mn-ea"/>
                          <a:cs typeface="+mn-ea"/>
                        </a:rPr>
                        <a:t>ACL</a:t>
                      </a:r>
                      <a:endParaRPr lang="en-US" altLang="zh-CN" sz="1000" b="1">
                        <a:latin typeface="+mn-ea"/>
                        <a:cs typeface="+mn-ea"/>
                      </a:endParaRPr>
                    </a:p>
                  </a:txBody>
                  <a:tcPr marL="91757" marR="91757" marT="46037" marB="46037" anchor="ctr" anchorCtr="0"/>
                </a:tc>
              </a:tr>
              <a:tr h="686435">
                <a:tc vMerge="1">
                  <a:tcPr marL="91757" marR="91757" marT="46037" marB="46037" anchor="ctr" anchorCtr="0"/>
                </a:tc>
                <a:tc>
                  <a:txBody>
                    <a:bodyPr/>
                    <a:p>
                      <a:pPr>
                        <a:lnSpc>
                          <a:spcPts val="1260"/>
                        </a:lnSpc>
                      </a:pPr>
                      <a:r>
                        <a:rPr lang="zh-CN" altLang="en-US" sz="1000" b="1">
                          <a:latin typeface="+mn-ea"/>
                        </a:rPr>
                        <a:t>设备专网核心</a:t>
                      </a:r>
                      <a:endParaRPr lang="zh-CN" altLang="en-US" sz="1000" b="1"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>
                        <a:lnSpc>
                          <a:spcPts val="1260"/>
                        </a:lnSpc>
                      </a:pPr>
                      <a:r>
                        <a:rPr lang="en-US" altLang="zh-CN" sz="1000" b="1">
                          <a:latin typeface="+mn-ea"/>
                        </a:rPr>
                        <a:t>Huawei CloudEngine S5735-L</a:t>
                      </a:r>
                      <a:endParaRPr lang="en-US" altLang="zh-CN" sz="1000" b="1"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>
                        <a:lnSpc>
                          <a:spcPts val="1260"/>
                        </a:lnSpc>
                      </a:pPr>
                      <a:r>
                        <a:rPr lang="en-US" altLang="zh-CN" sz="1000" b="1">
                          <a:latin typeface="+mn-ea"/>
                        </a:rPr>
                        <a:t>Multilayer Switch 3560-24PS</a:t>
                      </a:r>
                      <a:endParaRPr lang="en-US" altLang="zh-CN" sz="1000" b="1"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</a:pPr>
                      <a:r>
                        <a:rPr lang="en-US" altLang="zh-CN" sz="1000" b="1">
                          <a:latin typeface="+mn-ea"/>
                          <a:cs typeface="+mn-ea"/>
                        </a:rPr>
                        <a:t>1 </a:t>
                      </a:r>
                      <a:r>
                        <a:rPr lang="zh-CN" altLang="en-US" sz="1000" b="1">
                          <a:latin typeface="+mn-ea"/>
                          <a:cs typeface="+mn-ea"/>
                        </a:rPr>
                        <a:t>台</a:t>
                      </a:r>
                      <a:endParaRPr lang="zh-CN" altLang="en-US" sz="1000" b="1">
                        <a:latin typeface="+mn-ea"/>
                        <a:cs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</a:pPr>
                      <a:r>
                        <a:rPr lang="en-US" altLang="zh-CN" sz="1000" b="1">
                          <a:latin typeface="+mn-ea"/>
                        </a:rPr>
                        <a:t>12,000</a:t>
                      </a:r>
                      <a:endParaRPr lang="en-US" altLang="zh-CN" sz="1000" b="1"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</a:pPr>
                      <a:r>
                        <a:rPr lang="en-US" altLang="zh-CN" sz="1000" b="1">
                          <a:latin typeface="+mn-ea"/>
                        </a:rPr>
                        <a:t>12,000</a:t>
                      </a:r>
                      <a:endParaRPr lang="en-US" altLang="zh-CN" sz="1000" b="1"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>
                        <a:lnSpc>
                          <a:spcPts val="1260"/>
                        </a:lnSpc>
                      </a:pPr>
                      <a:r>
                        <a:rPr lang="zh-CN" altLang="en-US" sz="1000" b="1">
                          <a:latin typeface="+mn-ea"/>
                          <a:cs typeface="+mn-ea"/>
                        </a:rPr>
                        <a:t>专网三层网关，提供 </a:t>
                      </a:r>
                      <a:r>
                        <a:rPr lang="en-US" altLang="zh-CN" sz="1000" b="1">
                          <a:latin typeface="+mn-ea"/>
                          <a:cs typeface="+mn-ea"/>
                        </a:rPr>
                        <a:t>DHCP IP </a:t>
                      </a:r>
                      <a:r>
                        <a:rPr lang="zh-CN" altLang="en-US" sz="1000" b="1">
                          <a:latin typeface="+mn-ea"/>
                          <a:cs typeface="+mn-ea"/>
                        </a:rPr>
                        <a:t>地址池分配与 </a:t>
                      </a:r>
                      <a:r>
                        <a:rPr lang="en-US" altLang="zh-CN" sz="1000" b="1">
                          <a:latin typeface="+mn-ea"/>
                          <a:cs typeface="+mn-ea"/>
                        </a:rPr>
                        <a:t>Option 43 </a:t>
                      </a:r>
                      <a:r>
                        <a:rPr lang="zh-CN" altLang="en-US" sz="1000" b="1">
                          <a:latin typeface="+mn-ea"/>
                          <a:cs typeface="+mn-ea"/>
                        </a:rPr>
                        <a:t>引导</a:t>
                      </a:r>
                      <a:endParaRPr lang="zh-CN" altLang="en-US" sz="1000" b="1">
                        <a:latin typeface="+mn-ea"/>
                        <a:cs typeface="+mn-ea"/>
                      </a:endParaRPr>
                    </a:p>
                  </a:txBody>
                  <a:tcPr marL="91757" marR="91757" marT="46037" marB="46037" anchor="ctr" anchorCtr="0"/>
                </a:tc>
              </a:tr>
              <a:tr h="838835">
                <a:tc rowSpan="3">
                  <a:txBody>
                    <a:bodyPr/>
                    <a:p>
                      <a:pPr algn="ctr">
                        <a:lnSpc>
                          <a:spcPts val="1260"/>
                        </a:lnSpc>
                      </a:pPr>
                      <a:r>
                        <a:rPr lang="zh-CN" altLang="en-US" sz="1000" b="1">
                          <a:latin typeface="+mn-ea"/>
                        </a:rPr>
                        <a:t>接入层</a:t>
                      </a:r>
                      <a:endParaRPr lang="zh-CN" altLang="en-US" sz="1000" b="1"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>
                        <a:lnSpc>
                          <a:spcPts val="1260"/>
                        </a:lnSpc>
                      </a:pPr>
                      <a:r>
                        <a:rPr lang="zh-CN" altLang="en-US" sz="1000" b="1">
                          <a:latin typeface="+mn-ea"/>
                        </a:rPr>
                        <a:t>内网有线接入</a:t>
                      </a:r>
                      <a:endParaRPr lang="zh-CN" altLang="en-US" sz="1000" b="1"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>
                        <a:lnSpc>
                          <a:spcPts val="1260"/>
                        </a:lnSpc>
                      </a:pPr>
                      <a:r>
                        <a:rPr lang="en-US" altLang="zh-CN" sz="1000" b="1">
                          <a:latin typeface="+mn-ea"/>
                        </a:rPr>
                        <a:t>Huawei CloudEngine S5735-L</a:t>
                      </a:r>
                      <a:endParaRPr lang="en-US" altLang="zh-CN" sz="1000" b="1"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>
                        <a:lnSpc>
                          <a:spcPts val="1260"/>
                        </a:lnSpc>
                      </a:pPr>
                      <a:r>
                        <a:rPr lang="en-US" altLang="zh-CN" sz="1000" b="1">
                          <a:latin typeface="+mn-ea"/>
                        </a:rPr>
                        <a:t>Switch 2960-24TT</a:t>
                      </a:r>
                      <a:endParaRPr lang="en-US" altLang="zh-CN" sz="1000" b="1"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</a:pPr>
                      <a:r>
                        <a:rPr lang="en-US" altLang="zh-CN" sz="1000" b="1">
                          <a:latin typeface="+mn-ea"/>
                          <a:cs typeface="+mn-ea"/>
                        </a:rPr>
                        <a:t>10 </a:t>
                      </a:r>
                      <a:r>
                        <a:rPr lang="zh-CN" altLang="en-US" sz="1000" b="1">
                          <a:latin typeface="+mn-ea"/>
                          <a:cs typeface="+mn-ea"/>
                        </a:rPr>
                        <a:t>台</a:t>
                      </a:r>
                      <a:endParaRPr lang="zh-CN" altLang="en-US" sz="1000" b="1">
                        <a:latin typeface="+mn-ea"/>
                        <a:cs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</a:pPr>
                      <a:r>
                        <a:rPr lang="en-US" altLang="zh-CN" sz="1000" b="1">
                          <a:latin typeface="+mn-ea"/>
                        </a:rPr>
                        <a:t>3,200</a:t>
                      </a:r>
                      <a:endParaRPr lang="en-US" altLang="zh-CN" sz="1000" b="1"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</a:pPr>
                      <a:r>
                        <a:rPr lang="en-US" altLang="zh-CN" sz="1000" b="1">
                          <a:latin typeface="+mn-ea"/>
                        </a:rPr>
                        <a:t>32,000</a:t>
                      </a:r>
                      <a:endParaRPr lang="en-US" altLang="zh-CN" sz="1000" b="1"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>
                        <a:lnSpc>
                          <a:spcPts val="1260"/>
                        </a:lnSpc>
                      </a:pPr>
                      <a:r>
                        <a:rPr lang="zh-CN" altLang="en-US" sz="1000" b="1">
                          <a:latin typeface="+mn-ea"/>
                          <a:cs typeface="+mn-ea"/>
                        </a:rPr>
                        <a:t>分布于病区和科室，用于 </a:t>
                      </a:r>
                      <a:r>
                        <a:rPr lang="en-US" altLang="zh-CN" sz="1000" b="1">
                          <a:latin typeface="+mn-ea"/>
                          <a:cs typeface="+mn-ea"/>
                        </a:rPr>
                        <a:t>300 </a:t>
                      </a:r>
                      <a:r>
                        <a:rPr lang="zh-CN" altLang="en-US" sz="1000" b="1">
                          <a:latin typeface="+mn-ea"/>
                          <a:cs typeface="+mn-ea"/>
                        </a:rPr>
                        <a:t>台医生站与 </a:t>
                      </a:r>
                      <a:r>
                        <a:rPr lang="en-US" altLang="zh-CN" sz="1000" b="1">
                          <a:latin typeface="+mn-ea"/>
                          <a:cs typeface="+mn-ea"/>
                        </a:rPr>
                        <a:t>200 </a:t>
                      </a:r>
                      <a:r>
                        <a:rPr lang="zh-CN" altLang="en-US" sz="1000" b="1">
                          <a:latin typeface="+mn-ea"/>
                          <a:cs typeface="+mn-ea"/>
                        </a:rPr>
                        <a:t>台护士站终端接入</a:t>
                      </a:r>
                      <a:endParaRPr lang="zh-CN" altLang="en-US" sz="1000" b="1">
                        <a:latin typeface="+mn-ea"/>
                        <a:cs typeface="+mn-ea"/>
                      </a:endParaRPr>
                    </a:p>
                  </a:txBody>
                  <a:tcPr marL="91757" marR="91757" marT="46037" marB="46037" anchor="ctr" anchorCtr="0"/>
                </a:tc>
              </a:tr>
              <a:tr h="687705">
                <a:tc vMerge="1">
                  <a:tcPr marL="91757" marR="91757" marT="46037" marB="46037" anchor="ctr" anchorCtr="0"/>
                </a:tc>
                <a:tc>
                  <a:txBody>
                    <a:bodyPr/>
                    <a:p>
                      <a:pPr>
                        <a:lnSpc>
                          <a:spcPts val="1260"/>
                        </a:lnSpc>
                      </a:pPr>
                      <a:r>
                        <a:rPr lang="zh-CN" altLang="en-US" sz="1000" b="1">
                          <a:latin typeface="+mn-ea"/>
                        </a:rPr>
                        <a:t>外网有线接入</a:t>
                      </a:r>
                      <a:endParaRPr lang="zh-CN" altLang="en-US" sz="1000" b="1"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>
                        <a:lnSpc>
                          <a:spcPts val="1260"/>
                        </a:lnSpc>
                      </a:pPr>
                      <a:r>
                        <a:rPr lang="en-US" altLang="zh-CN" sz="1000" b="1">
                          <a:latin typeface="+mn-ea"/>
                        </a:rPr>
                        <a:t>Huawei CloudEngine S5735-L</a:t>
                      </a:r>
                      <a:endParaRPr lang="en-US" altLang="zh-CN" sz="1000" b="1"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>
                        <a:lnSpc>
                          <a:spcPts val="1260"/>
                        </a:lnSpc>
                      </a:pPr>
                      <a:r>
                        <a:rPr lang="en-US" altLang="zh-CN" sz="1000" b="1">
                          <a:latin typeface="+mn-ea"/>
                        </a:rPr>
                        <a:t>Switch 2960-24TT</a:t>
                      </a:r>
                      <a:endParaRPr lang="en-US" altLang="zh-CN" sz="1000" b="1"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</a:pPr>
                      <a:r>
                        <a:rPr lang="en-US" altLang="zh-CN" sz="1000" b="1">
                          <a:latin typeface="+mn-ea"/>
                          <a:cs typeface="+mn-ea"/>
                        </a:rPr>
                        <a:t>4 </a:t>
                      </a:r>
                      <a:r>
                        <a:rPr lang="zh-CN" altLang="en-US" sz="1000" b="1">
                          <a:latin typeface="+mn-ea"/>
                          <a:cs typeface="+mn-ea"/>
                        </a:rPr>
                        <a:t>台</a:t>
                      </a:r>
                      <a:endParaRPr lang="zh-CN" altLang="en-US" sz="1000" b="1">
                        <a:latin typeface="+mn-ea"/>
                        <a:cs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</a:pPr>
                      <a:r>
                        <a:rPr lang="en-US" altLang="zh-CN" sz="1000" b="1">
                          <a:latin typeface="+mn-ea"/>
                        </a:rPr>
                        <a:t>3,200</a:t>
                      </a:r>
                      <a:endParaRPr lang="en-US" altLang="zh-CN" sz="1000" b="1"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</a:pPr>
                      <a:r>
                        <a:rPr lang="en-US" altLang="zh-CN" sz="1000" b="1">
                          <a:latin typeface="+mn-ea"/>
                        </a:rPr>
                        <a:t>12,800</a:t>
                      </a:r>
                      <a:endParaRPr lang="en-US" altLang="zh-CN" sz="1000" b="1"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>
                        <a:lnSpc>
                          <a:spcPts val="1260"/>
                        </a:lnSpc>
                      </a:pPr>
                      <a:r>
                        <a:rPr lang="zh-CN" altLang="en-US" sz="1000" b="1">
                          <a:latin typeface="+mn-ea"/>
                          <a:cs typeface="+mn-ea"/>
                        </a:rPr>
                        <a:t>负责 </a:t>
                      </a:r>
                      <a:r>
                        <a:rPr lang="en-US" altLang="zh-CN" sz="1000" b="1">
                          <a:latin typeface="+mn-ea"/>
                          <a:cs typeface="+mn-ea"/>
                        </a:rPr>
                        <a:t>150 </a:t>
                      </a:r>
                      <a:r>
                        <a:rPr lang="zh-CN" altLang="en-US" sz="1000" b="1">
                          <a:latin typeface="+mn-ea"/>
                          <a:cs typeface="+mn-ea"/>
                        </a:rPr>
                        <a:t>台行政办公电脑的接入（划入 </a:t>
                      </a:r>
                      <a:r>
                        <a:rPr lang="en-US" altLang="zh-CN" sz="1000" b="1">
                          <a:latin typeface="+mn-ea"/>
                          <a:cs typeface="+mn-ea"/>
                        </a:rPr>
                        <a:t>VLAN 30</a:t>
                      </a:r>
                      <a:r>
                        <a:rPr lang="zh-CN" altLang="en-US" sz="1000" b="1">
                          <a:latin typeface="+mn-ea"/>
                          <a:cs typeface="+mn-ea"/>
                        </a:rPr>
                        <a:t>）</a:t>
                      </a:r>
                      <a:endParaRPr lang="zh-CN" altLang="en-US" sz="1000" b="1">
                        <a:latin typeface="+mn-ea"/>
                        <a:cs typeface="+mn-ea"/>
                      </a:endParaRPr>
                    </a:p>
                  </a:txBody>
                  <a:tcPr marL="91757" marR="91757" marT="46037" marB="46037" anchor="ctr" anchorCtr="0"/>
                </a:tc>
              </a:tr>
              <a:tr h="838200">
                <a:tc vMerge="1">
                  <a:tcPr marL="91757" marR="91757" marT="46037" marB="46037" anchor="ctr" anchorCtr="0"/>
                </a:tc>
                <a:tc>
                  <a:txBody>
                    <a:bodyPr/>
                    <a:p>
                      <a:pPr>
                        <a:lnSpc>
                          <a:spcPts val="1260"/>
                        </a:lnSpc>
                      </a:pPr>
                      <a:r>
                        <a:rPr lang="zh-CN" altLang="en-US" sz="1000" b="1">
                          <a:latin typeface="+mn-ea"/>
                          <a:cs typeface="+mn-ea"/>
                        </a:rPr>
                        <a:t>专网无线 </a:t>
                      </a:r>
                      <a:r>
                        <a:rPr lang="en-US" altLang="zh-CN" sz="1000" b="1">
                          <a:latin typeface="+mn-ea"/>
                          <a:cs typeface="+mn-ea"/>
                        </a:rPr>
                        <a:t>AP </a:t>
                      </a:r>
                      <a:r>
                        <a:rPr lang="zh-CN" altLang="en-US" sz="1000" b="1">
                          <a:latin typeface="+mn-ea"/>
                          <a:cs typeface="+mn-ea"/>
                        </a:rPr>
                        <a:t>接入</a:t>
                      </a:r>
                      <a:endParaRPr lang="zh-CN" altLang="en-US" sz="1000" b="1">
                        <a:latin typeface="+mn-ea"/>
                        <a:cs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>
                        <a:lnSpc>
                          <a:spcPts val="1260"/>
                        </a:lnSpc>
                      </a:pPr>
                      <a:r>
                        <a:rPr lang="en-US" altLang="zh-CN" sz="1000" b="1">
                          <a:latin typeface="+mn-ea"/>
                        </a:rPr>
                        <a:t>Huawei S5735-L-PoE</a:t>
                      </a:r>
                      <a:endParaRPr lang="en-US" altLang="zh-CN" sz="1000" b="1"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>
                        <a:lnSpc>
                          <a:spcPts val="1260"/>
                        </a:lnSpc>
                      </a:pPr>
                      <a:r>
                        <a:rPr lang="en-US" altLang="zh-CN" sz="1000" b="1">
                          <a:latin typeface="+mn-ea"/>
                          <a:cs typeface="+mn-ea"/>
                        </a:rPr>
                        <a:t>Switch 2960-24TT (</a:t>
                      </a:r>
                      <a:r>
                        <a:rPr lang="zh-CN" altLang="en-US" sz="1000" b="1">
                          <a:latin typeface="+mn-ea"/>
                          <a:cs typeface="+mn-ea"/>
                        </a:rPr>
                        <a:t>带网卡</a:t>
                      </a:r>
                      <a:r>
                        <a:rPr lang="en-US" altLang="zh-CN" sz="1000" b="1">
                          <a:latin typeface="+mn-ea"/>
                          <a:cs typeface="+mn-ea"/>
                        </a:rPr>
                        <a:t>PoE)</a:t>
                      </a:r>
                      <a:endParaRPr lang="en-US" altLang="zh-CN" sz="1000" b="1">
                        <a:latin typeface="+mn-ea"/>
                        <a:cs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</a:pPr>
                      <a:r>
                        <a:rPr lang="en-US" altLang="zh-CN" sz="1000" b="1">
                          <a:latin typeface="+mn-ea"/>
                          <a:cs typeface="+mn-ea"/>
                        </a:rPr>
                        <a:t>4 </a:t>
                      </a:r>
                      <a:r>
                        <a:rPr lang="zh-CN" altLang="en-US" sz="1000" b="1">
                          <a:latin typeface="+mn-ea"/>
                          <a:cs typeface="+mn-ea"/>
                        </a:rPr>
                        <a:t>台</a:t>
                      </a:r>
                      <a:endParaRPr lang="zh-CN" altLang="en-US" sz="1000" b="1">
                        <a:latin typeface="+mn-ea"/>
                        <a:cs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</a:pPr>
                      <a:r>
                        <a:rPr lang="en-US" altLang="zh-CN" sz="1000" b="1">
                          <a:latin typeface="+mn-ea"/>
                        </a:rPr>
                        <a:t>4,500</a:t>
                      </a:r>
                      <a:endParaRPr lang="en-US" altLang="zh-CN" sz="1000" b="1"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</a:pPr>
                      <a:r>
                        <a:rPr lang="en-US" altLang="zh-CN" sz="1000" b="1">
                          <a:latin typeface="+mn-ea"/>
                        </a:rPr>
                        <a:t>18,000</a:t>
                      </a:r>
                      <a:endParaRPr lang="en-US" altLang="zh-CN" sz="1000" b="1"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>
                        <a:lnSpc>
                          <a:spcPts val="1260"/>
                        </a:lnSpc>
                      </a:pPr>
                      <a:r>
                        <a:rPr lang="zh-CN" altLang="en-US" sz="1000" b="1">
                          <a:latin typeface="+mn-ea"/>
                          <a:cs typeface="+mn-ea"/>
                        </a:rPr>
                        <a:t>部署于走廊弱电间，为无线 </a:t>
                      </a:r>
                      <a:r>
                        <a:rPr lang="en-US" altLang="zh-CN" sz="1000" b="1">
                          <a:latin typeface="+mn-ea"/>
                          <a:cs typeface="+mn-ea"/>
                        </a:rPr>
                        <a:t>AP </a:t>
                      </a:r>
                      <a:r>
                        <a:rPr lang="zh-CN" altLang="en-US" sz="1000" b="1">
                          <a:latin typeface="+mn-ea"/>
                          <a:cs typeface="+mn-ea"/>
                        </a:rPr>
                        <a:t>提供物理接入与 </a:t>
                      </a:r>
                      <a:r>
                        <a:rPr lang="en-US" altLang="zh-CN" sz="1000" b="1">
                          <a:latin typeface="+mn-ea"/>
                          <a:cs typeface="+mn-ea"/>
                        </a:rPr>
                        <a:t>PoE </a:t>
                      </a:r>
                      <a:r>
                        <a:rPr lang="zh-CN" altLang="en-US" sz="1000" b="1">
                          <a:latin typeface="+mn-ea"/>
                          <a:cs typeface="+mn-ea"/>
                        </a:rPr>
                        <a:t>远程供电</a:t>
                      </a:r>
                      <a:endParaRPr lang="zh-CN" altLang="en-US" sz="1000" b="1">
                        <a:latin typeface="+mn-ea"/>
                        <a:cs typeface="+mn-ea"/>
                      </a:endParaRPr>
                    </a:p>
                  </a:txBody>
                  <a:tcPr marL="91757" marR="91757" marT="46037" marB="46037" anchor="ctr" anchorCtr="0"/>
                </a:tc>
              </a:tr>
              <a:tr h="836930">
                <a:tc rowSpan="2">
                  <a:txBody>
                    <a:bodyPr/>
                    <a:p>
                      <a:pPr algn="ctr">
                        <a:lnSpc>
                          <a:spcPts val="1260"/>
                        </a:lnSpc>
                      </a:pPr>
                      <a:r>
                        <a:rPr lang="zh-CN" altLang="en-US" sz="1000" b="1">
                          <a:latin typeface="+mn-ea"/>
                        </a:rPr>
                        <a:t>无线区</a:t>
                      </a:r>
                      <a:endParaRPr lang="zh-CN" altLang="en-US" sz="1000" b="1"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>
                        <a:lnSpc>
                          <a:spcPts val="1260"/>
                        </a:lnSpc>
                      </a:pPr>
                      <a:r>
                        <a:rPr lang="zh-CN" altLang="en-US" sz="1000" b="1">
                          <a:latin typeface="+mn-ea"/>
                          <a:cs typeface="+mn-ea"/>
                        </a:rPr>
                        <a:t>无线控制器 </a:t>
                      </a:r>
                      <a:r>
                        <a:rPr lang="en-US" altLang="zh-CN" sz="1000" b="1">
                          <a:latin typeface="+mn-ea"/>
                          <a:cs typeface="+mn-ea"/>
                        </a:rPr>
                        <a:t>(AC)</a:t>
                      </a:r>
                      <a:endParaRPr lang="en-US" altLang="zh-CN" sz="1000" b="1">
                        <a:latin typeface="+mn-ea"/>
                        <a:cs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>
                        <a:lnSpc>
                          <a:spcPts val="1260"/>
                        </a:lnSpc>
                      </a:pPr>
                      <a:r>
                        <a:rPr lang="en-US" altLang="zh-CN" sz="1000" b="1">
                          <a:latin typeface="+mn-ea"/>
                        </a:rPr>
                        <a:t>Huawei AC6805</a:t>
                      </a:r>
                      <a:endParaRPr lang="en-US" altLang="zh-CN" sz="1000" b="1"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>
                        <a:lnSpc>
                          <a:spcPts val="1260"/>
                        </a:lnSpc>
                      </a:pPr>
                      <a:r>
                        <a:rPr lang="en-US" altLang="zh-CN" sz="1000" b="1">
                          <a:latin typeface="+mn-ea"/>
                        </a:rPr>
                        <a:t>Wireless LAN Controller 3504</a:t>
                      </a:r>
                      <a:endParaRPr lang="en-US" altLang="zh-CN" sz="1000" b="1"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</a:pPr>
                      <a:r>
                        <a:rPr lang="en-US" altLang="zh-CN" sz="1000" b="1">
                          <a:latin typeface="+mn-ea"/>
                          <a:cs typeface="+mn-ea"/>
                        </a:rPr>
                        <a:t>1 </a:t>
                      </a:r>
                      <a:r>
                        <a:rPr lang="zh-CN" altLang="en-US" sz="1000" b="1">
                          <a:latin typeface="+mn-ea"/>
                          <a:cs typeface="+mn-ea"/>
                        </a:rPr>
                        <a:t>台</a:t>
                      </a:r>
                      <a:endParaRPr lang="zh-CN" altLang="en-US" sz="1000" b="1">
                        <a:latin typeface="+mn-ea"/>
                        <a:cs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</a:pPr>
                      <a:r>
                        <a:rPr lang="en-US" altLang="zh-CN" sz="1000" b="1">
                          <a:latin typeface="+mn-ea"/>
                        </a:rPr>
                        <a:t>25,000</a:t>
                      </a:r>
                      <a:endParaRPr lang="en-US" altLang="zh-CN" sz="1000" b="1"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</a:pPr>
                      <a:r>
                        <a:rPr lang="en-US" altLang="zh-CN" sz="1000" b="1">
                          <a:latin typeface="+mn-ea"/>
                        </a:rPr>
                        <a:t>25,000</a:t>
                      </a:r>
                      <a:endParaRPr lang="en-US" altLang="zh-CN" sz="1000" b="1"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>
                        <a:lnSpc>
                          <a:spcPts val="1260"/>
                        </a:lnSpc>
                      </a:pPr>
                      <a:r>
                        <a:rPr lang="zh-CN" altLang="en-US" sz="1000" b="1">
                          <a:latin typeface="+mn-ea"/>
                          <a:cs typeface="+mn-ea"/>
                        </a:rPr>
                        <a:t>专网无线 </a:t>
                      </a:r>
                      <a:r>
                        <a:rPr lang="en-US" altLang="zh-CN" sz="1000" b="1">
                          <a:latin typeface="+mn-ea"/>
                          <a:cs typeface="+mn-ea"/>
                        </a:rPr>
                        <a:t>AC</a:t>
                      </a:r>
                      <a:r>
                        <a:rPr lang="zh-CN" altLang="en-US" sz="1000" b="1">
                          <a:latin typeface="+mn-ea"/>
                          <a:cs typeface="+mn-ea"/>
                        </a:rPr>
                        <a:t>，统一管控 </a:t>
                      </a:r>
                      <a:r>
                        <a:rPr lang="en-US" altLang="zh-CN" sz="1000" b="1">
                          <a:latin typeface="+mn-ea"/>
                          <a:cs typeface="+mn-ea"/>
                        </a:rPr>
                        <a:t>AP </a:t>
                      </a:r>
                      <a:r>
                        <a:rPr lang="zh-CN" altLang="en-US" sz="1000" b="1">
                          <a:latin typeface="+mn-ea"/>
                          <a:cs typeface="+mn-ea"/>
                        </a:rPr>
                        <a:t>注册、</a:t>
                      </a:r>
                      <a:r>
                        <a:rPr lang="en-US" altLang="zh-CN" sz="1000" b="1">
                          <a:latin typeface="+mn-ea"/>
                          <a:cs typeface="+mn-ea"/>
                        </a:rPr>
                        <a:t>SSID </a:t>
                      </a:r>
                      <a:r>
                        <a:rPr lang="zh-CN" altLang="en-US" sz="1000" b="1">
                          <a:latin typeface="+mn-ea"/>
                          <a:cs typeface="+mn-ea"/>
                        </a:rPr>
                        <a:t>广播与 </a:t>
                      </a:r>
                      <a:r>
                        <a:rPr lang="en-US" altLang="zh-CN" sz="1000" b="1">
                          <a:latin typeface="+mn-ea"/>
                          <a:cs typeface="+mn-ea"/>
                        </a:rPr>
                        <a:t>802.1X </a:t>
                      </a:r>
                      <a:r>
                        <a:rPr lang="zh-CN" altLang="en-US" sz="1000" b="1">
                          <a:latin typeface="+mn-ea"/>
                          <a:cs typeface="+mn-ea"/>
                        </a:rPr>
                        <a:t>认证 </a:t>
                      </a:r>
                      <a:r>
                        <a:rPr lang="en-US" altLang="zh-CN" sz="1000" b="1">
                          <a:latin typeface="+mn-ea"/>
                          <a:cs typeface="+mn-ea"/>
                        </a:rPr>
                        <a:t>[8]</a:t>
                      </a:r>
                      <a:endParaRPr lang="en-US" altLang="zh-CN" sz="1000" b="1">
                        <a:latin typeface="+mn-ea"/>
                        <a:cs typeface="+mn-ea"/>
                      </a:endParaRPr>
                    </a:p>
                  </a:txBody>
                  <a:tcPr marL="91757" marR="91757" marT="46037" marB="46037" anchor="ctr" anchorCtr="0"/>
                </a:tc>
              </a:tr>
              <a:tr h="838200">
                <a:tc vMerge="1">
                  <a:tcPr marL="91757" marR="91757" marT="46037" marB="46037" anchor="ctr" anchorCtr="0"/>
                </a:tc>
                <a:tc>
                  <a:txBody>
                    <a:bodyPr/>
                    <a:p>
                      <a:pPr>
                        <a:lnSpc>
                          <a:spcPts val="1260"/>
                        </a:lnSpc>
                      </a:pPr>
                      <a:r>
                        <a:rPr lang="zh-CN" altLang="en-US" sz="1000" b="1">
                          <a:latin typeface="+mn-ea"/>
                          <a:cs typeface="+mn-ea"/>
                        </a:rPr>
                        <a:t>企业级无线 </a:t>
                      </a:r>
                      <a:r>
                        <a:rPr lang="en-US" altLang="zh-CN" sz="1000" b="1">
                          <a:latin typeface="+mn-ea"/>
                          <a:cs typeface="+mn-ea"/>
                        </a:rPr>
                        <a:t>AP</a:t>
                      </a:r>
                      <a:endParaRPr lang="en-US" altLang="zh-CN" sz="1000" b="1">
                        <a:latin typeface="+mn-ea"/>
                        <a:cs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>
                        <a:lnSpc>
                          <a:spcPts val="1260"/>
                        </a:lnSpc>
                      </a:pPr>
                      <a:r>
                        <a:rPr lang="en-US" altLang="zh-CN" sz="1000" b="1">
                          <a:latin typeface="+mn-ea"/>
                        </a:rPr>
                        <a:t>Huawei AirEngine 5760-10</a:t>
                      </a:r>
                      <a:endParaRPr lang="en-US" altLang="zh-CN" sz="1000" b="1"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>
                        <a:lnSpc>
                          <a:spcPts val="1260"/>
                        </a:lnSpc>
                      </a:pPr>
                      <a:r>
                        <a:rPr lang="en-US" altLang="zh-CN" sz="1000" b="1">
                          <a:latin typeface="+mn-ea"/>
                        </a:rPr>
                        <a:t>Lightweight AP (LAP-PT)</a:t>
                      </a:r>
                      <a:endParaRPr lang="en-US" altLang="zh-CN" sz="1000" b="1"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</a:pPr>
                      <a:r>
                        <a:rPr lang="en-US" altLang="zh-CN" sz="1000" b="1">
                          <a:latin typeface="+mn-ea"/>
                          <a:cs typeface="+mn-ea"/>
                        </a:rPr>
                        <a:t>30 </a:t>
                      </a:r>
                      <a:r>
                        <a:rPr lang="zh-CN" altLang="en-US" sz="1000" b="1">
                          <a:latin typeface="+mn-ea"/>
                          <a:cs typeface="+mn-ea"/>
                        </a:rPr>
                        <a:t>台</a:t>
                      </a:r>
                      <a:endParaRPr lang="zh-CN" altLang="en-US" sz="1000" b="1">
                        <a:latin typeface="+mn-ea"/>
                        <a:cs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</a:pPr>
                      <a:r>
                        <a:rPr lang="en-US" altLang="zh-CN" sz="1000" b="1">
                          <a:latin typeface="+mn-ea"/>
                        </a:rPr>
                        <a:t>1,500</a:t>
                      </a:r>
                      <a:endParaRPr lang="en-US" altLang="zh-CN" sz="1000" b="1"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</a:pPr>
                      <a:r>
                        <a:rPr lang="en-US" altLang="zh-CN" sz="1000" b="1">
                          <a:latin typeface="+mn-ea"/>
                        </a:rPr>
                        <a:t>45,000</a:t>
                      </a:r>
                      <a:endParaRPr lang="en-US" altLang="zh-CN" sz="1000" b="1"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>
                        <a:lnSpc>
                          <a:spcPts val="1260"/>
                        </a:lnSpc>
                      </a:pPr>
                      <a:r>
                        <a:rPr lang="zh-CN" altLang="en-US" sz="1000" b="1">
                          <a:latin typeface="+mn-ea"/>
                          <a:cs typeface="+mn-ea"/>
                        </a:rPr>
                        <a:t>企业级 </a:t>
                      </a:r>
                      <a:r>
                        <a:rPr lang="en-US" altLang="zh-CN" sz="1000" b="1">
                          <a:latin typeface="+mn-ea"/>
                          <a:cs typeface="+mn-ea"/>
                        </a:rPr>
                        <a:t>Wi-Fi 6 AP</a:t>
                      </a:r>
                      <a:r>
                        <a:rPr lang="zh-CN" altLang="en-US" sz="1000" b="1">
                          <a:latin typeface="+mn-ea"/>
                          <a:cs typeface="+mn-ea"/>
                        </a:rPr>
                        <a:t>，分布于全院病房与门诊大厅，实现无缝漫游 </a:t>
                      </a:r>
                      <a:r>
                        <a:rPr lang="en-US" altLang="zh-CN" sz="1000" b="1">
                          <a:latin typeface="+mn-ea"/>
                          <a:cs typeface="+mn-ea"/>
                        </a:rPr>
                        <a:t>[8]</a:t>
                      </a:r>
                      <a:endParaRPr lang="en-US" altLang="zh-CN" sz="1000" b="1">
                        <a:latin typeface="+mn-ea"/>
                        <a:cs typeface="+mn-ea"/>
                      </a:endParaRPr>
                    </a:p>
                  </a:txBody>
                  <a:tcPr marL="91757" marR="91757" marT="46037" marB="46037" anchor="ctr" anchorCtr="0"/>
                </a:tc>
              </a:tr>
              <a:tr h="688340"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</a:pPr>
                      <a:r>
                        <a:rPr lang="zh-CN" altLang="en-US" sz="1000" b="1">
                          <a:latin typeface="+mn-ea"/>
                        </a:rPr>
                        <a:t>服务器</a:t>
                      </a:r>
                      <a:endParaRPr lang="zh-CN" altLang="en-US" sz="1000" b="1"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>
                        <a:lnSpc>
                          <a:spcPts val="1260"/>
                        </a:lnSpc>
                      </a:pPr>
                      <a:r>
                        <a:rPr lang="zh-CN" altLang="en-US" sz="1000" b="1">
                          <a:latin typeface="+mn-ea"/>
                        </a:rPr>
                        <a:t>业务与数据库服务器</a:t>
                      </a:r>
                      <a:endParaRPr lang="zh-CN" altLang="en-US" sz="1000" b="1"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>
                        <a:lnSpc>
                          <a:spcPts val="1260"/>
                        </a:lnSpc>
                      </a:pPr>
                      <a:r>
                        <a:rPr lang="en-US" altLang="zh-CN" sz="1000" b="1">
                          <a:latin typeface="+mn-ea"/>
                        </a:rPr>
                        <a:t>FusionServer Pro 2288H V5</a:t>
                      </a:r>
                      <a:endParaRPr lang="en-US" altLang="zh-CN" sz="1000" b="1"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>
                        <a:lnSpc>
                          <a:spcPts val="1260"/>
                        </a:lnSpc>
                      </a:pPr>
                      <a:r>
                        <a:rPr lang="en-US" altLang="zh-CN" sz="1000" b="1">
                          <a:latin typeface="+mn-ea"/>
                        </a:rPr>
                        <a:t>Server-PT</a:t>
                      </a:r>
                      <a:endParaRPr lang="en-US" altLang="zh-CN" sz="1000" b="1"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</a:pPr>
                      <a:r>
                        <a:rPr lang="en-US" altLang="zh-CN" sz="1000" b="1">
                          <a:latin typeface="+mn-ea"/>
                          <a:cs typeface="+mn-ea"/>
                        </a:rPr>
                        <a:t>6 </a:t>
                      </a:r>
                      <a:r>
                        <a:rPr lang="zh-CN" altLang="en-US" sz="1000" b="1">
                          <a:latin typeface="+mn-ea"/>
                          <a:cs typeface="+mn-ea"/>
                        </a:rPr>
                        <a:t>台</a:t>
                      </a:r>
                      <a:endParaRPr lang="zh-CN" altLang="en-US" sz="1000" b="1">
                        <a:latin typeface="+mn-ea"/>
                        <a:cs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</a:pPr>
                      <a:r>
                        <a:rPr lang="en-US" altLang="zh-CN" sz="1000" b="1">
                          <a:latin typeface="+mn-ea"/>
                        </a:rPr>
                        <a:t>25,000</a:t>
                      </a:r>
                      <a:endParaRPr lang="en-US" altLang="zh-CN" sz="1000" b="1"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</a:pPr>
                      <a:r>
                        <a:rPr lang="en-US" altLang="zh-CN" sz="1000" b="1">
                          <a:latin typeface="+mn-ea"/>
                        </a:rPr>
                        <a:t>150,000</a:t>
                      </a:r>
                      <a:endParaRPr lang="en-US" altLang="zh-CN" sz="1000" b="1"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>
                        <a:lnSpc>
                          <a:spcPts val="1260"/>
                        </a:lnSpc>
                      </a:pPr>
                      <a:r>
                        <a:rPr lang="zh-CN" altLang="en-US" sz="1000" b="1">
                          <a:latin typeface="+mn-ea"/>
                          <a:cs typeface="+mn-ea"/>
                        </a:rPr>
                        <a:t>承载内网 </a:t>
                      </a:r>
                      <a:r>
                        <a:rPr lang="en-US" altLang="zh-CN" sz="1000" b="1">
                          <a:latin typeface="+mn-ea"/>
                          <a:cs typeface="+mn-ea"/>
                        </a:rPr>
                        <a:t>HIS/PACS/LIS </a:t>
                      </a:r>
                      <a:r>
                        <a:rPr lang="zh-CN" altLang="en-US" sz="1000" b="1">
                          <a:latin typeface="+mn-ea"/>
                          <a:cs typeface="+mn-ea"/>
                        </a:rPr>
                        <a:t>及外网挂号 </a:t>
                      </a:r>
                      <a:r>
                        <a:rPr lang="en-US" altLang="zh-CN" sz="1000" b="1">
                          <a:latin typeface="+mn-ea"/>
                          <a:cs typeface="+mn-ea"/>
                        </a:rPr>
                        <a:t>Web </a:t>
                      </a:r>
                      <a:r>
                        <a:rPr lang="zh-CN" altLang="en-US" sz="1000" b="1">
                          <a:latin typeface="+mn-ea"/>
                          <a:cs typeface="+mn-ea"/>
                        </a:rPr>
                        <a:t>门户服务</a:t>
                      </a:r>
                      <a:endParaRPr lang="zh-CN" altLang="en-US" sz="1000" b="1">
                        <a:latin typeface="+mn-ea"/>
                        <a:cs typeface="+mn-ea"/>
                      </a:endParaRPr>
                    </a:p>
                  </a:txBody>
                  <a:tcPr marL="91757" marR="91757" marT="46037" marB="46037" anchor="ctr" anchorCtr="0"/>
                </a:tc>
              </a:tr>
              <a:tr h="686435"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</a:pPr>
                      <a:r>
                        <a:rPr lang="zh-CN" altLang="en-US" sz="1000" b="1">
                          <a:latin typeface="+mn-ea"/>
                        </a:rPr>
                        <a:t>布线辅材</a:t>
                      </a:r>
                      <a:endParaRPr lang="zh-CN" altLang="en-US" sz="1000" b="1"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>
                        <a:lnSpc>
                          <a:spcPts val="1260"/>
                        </a:lnSpc>
                      </a:pPr>
                      <a:r>
                        <a:rPr lang="zh-CN" altLang="en-US" sz="1000" b="1">
                          <a:latin typeface="+mn-ea"/>
                        </a:rPr>
                        <a:t>综合布线及辅材</a:t>
                      </a:r>
                      <a:endParaRPr lang="zh-CN" altLang="en-US" sz="1000" b="1"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>
                        <a:lnSpc>
                          <a:spcPts val="1260"/>
                        </a:lnSpc>
                      </a:pPr>
                      <a:r>
                        <a:rPr lang="zh-CN" altLang="en-US" sz="1000" b="1">
                          <a:latin typeface="+mn-ea"/>
                        </a:rPr>
                        <a:t>六类双绞线、万兆光纤、机柜等</a:t>
                      </a:r>
                      <a:endParaRPr lang="zh-CN" altLang="en-US" sz="1000" b="1"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>
                        <a:lnSpc>
                          <a:spcPts val="1260"/>
                        </a:lnSpc>
                      </a:pPr>
                      <a:r>
                        <a:rPr lang="en-US" altLang="zh-CN" sz="1000" b="1">
                          <a:latin typeface="+mn-ea"/>
                        </a:rPr>
                        <a:t>Cabling / Connections</a:t>
                      </a:r>
                      <a:endParaRPr lang="en-US" altLang="zh-CN" sz="1000" b="1"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</a:pPr>
                      <a:r>
                        <a:rPr lang="en-US" altLang="zh-CN" sz="1000" b="1">
                          <a:latin typeface="+mn-ea"/>
                          <a:cs typeface="+mn-ea"/>
                        </a:rPr>
                        <a:t>1 </a:t>
                      </a:r>
                      <a:r>
                        <a:rPr lang="zh-CN" altLang="en-US" sz="1000" b="1">
                          <a:latin typeface="+mn-ea"/>
                          <a:cs typeface="+mn-ea"/>
                        </a:rPr>
                        <a:t>批</a:t>
                      </a:r>
                      <a:endParaRPr lang="zh-CN" altLang="en-US" sz="1000" b="1">
                        <a:latin typeface="+mn-ea"/>
                        <a:cs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</a:pPr>
                      <a:r>
                        <a:rPr lang="en-US" altLang="zh-CN" sz="1000" b="1">
                          <a:latin typeface="+mn-ea"/>
                        </a:rPr>
                        <a:t>30,000</a:t>
                      </a:r>
                      <a:endParaRPr lang="en-US" altLang="zh-CN" sz="1000" b="1"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</a:pPr>
                      <a:r>
                        <a:rPr lang="en-US" altLang="zh-CN" sz="1000" b="1">
                          <a:latin typeface="+mn-ea"/>
                        </a:rPr>
                        <a:t>30,000</a:t>
                      </a:r>
                      <a:endParaRPr lang="en-US" altLang="zh-CN" sz="1000" b="1"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>
                        <a:lnSpc>
                          <a:spcPts val="1260"/>
                        </a:lnSpc>
                      </a:pPr>
                      <a:endParaRPr lang="zh-CN" altLang="en-US" sz="800" b="1"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</a:tr>
              <a:tr h="686435">
                <a:tc>
                  <a:txBody>
                    <a:bodyPr/>
                    <a:p>
                      <a:pPr algn="l">
                        <a:lnSpc>
                          <a:spcPts val="1260"/>
                        </a:lnSpc>
                        <a:buClrTx/>
                        <a:buSzTx/>
                        <a:buFontTx/>
                      </a:pPr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+mn-ea"/>
                        </a:rPr>
                        <a:t>工程服务</a:t>
                      </a:r>
                      <a:endParaRPr lang="zh-CN" altLang="en-US" sz="1000" b="1" i="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l">
                        <a:lnSpc>
                          <a:spcPts val="1260"/>
                        </a:lnSpc>
                        <a:buClrTx/>
                        <a:buSzTx/>
                        <a:buFontTx/>
                      </a:pPr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+mn-ea"/>
                        </a:rPr>
                        <a:t>有线综合布线施工人工费</a:t>
                      </a:r>
                      <a:endParaRPr lang="zh-CN" altLang="en-US" sz="1000" b="1" i="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l">
                        <a:lnSpc>
                          <a:spcPts val="1260"/>
                        </a:lnSpc>
                        <a:buClrTx/>
                        <a:buSzTx/>
                        <a:buFontTx/>
                      </a:pPr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+mn-ea"/>
                        </a:rPr>
                        <a:t>综合布线施工服务（弱电工程队）</a:t>
                      </a:r>
                      <a:endParaRPr lang="zh-CN" altLang="en-US" sz="1000" b="1" i="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l">
                        <a:lnSpc>
                          <a:spcPts val="1260"/>
                        </a:lnSpc>
                        <a:buClrTx/>
                        <a:buSzTx/>
                        <a:buFontTx/>
                      </a:pPr>
                      <a:endParaRPr lang="zh-CN" altLang="en-US" sz="1000" b="1" i="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  <a:buClrTx/>
                        <a:buSzTx/>
                        <a:buFontTx/>
                      </a:pPr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+mn-ea"/>
                        </a:rPr>
                        <a:t>1 批</a:t>
                      </a:r>
                      <a:endParaRPr lang="zh-CN" altLang="en-US" sz="1000" b="1" i="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  <a:buClrTx/>
                        <a:buSzTx/>
                        <a:buFontTx/>
                      </a:pPr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+mn-ea"/>
                        </a:rPr>
                        <a:t>15,000</a:t>
                      </a:r>
                      <a:endParaRPr lang="zh-CN" altLang="en-US" sz="1000" b="1" i="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  <a:buClrTx/>
                        <a:buSzTx/>
                        <a:buFontTx/>
                      </a:pPr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+mn-ea"/>
                        </a:rPr>
                        <a:t>15,000</a:t>
                      </a:r>
                      <a:endParaRPr lang="zh-CN" altLang="en-US" sz="1000" b="1" i="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l">
                        <a:lnSpc>
                          <a:spcPts val="1260"/>
                        </a:lnSpc>
                        <a:buClrTx/>
                        <a:buSzTx/>
                        <a:buFontTx/>
                      </a:pPr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+mn-ea"/>
                        </a:rPr>
                        <a:t>负责全院有线信息点穿墙、走线槽、端接配线架的物理施工人工费</a:t>
                      </a:r>
                      <a:endParaRPr lang="zh-CN" altLang="en-US" sz="1000" b="1" i="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</a:tr>
              <a:tr h="686435">
                <a:tc>
                  <a:txBody>
                    <a:bodyPr/>
                    <a:p>
                      <a:pPr algn="l">
                        <a:lnSpc>
                          <a:spcPts val="1260"/>
                        </a:lnSpc>
                        <a:buClrTx/>
                        <a:buSzTx/>
                        <a:buFontTx/>
                      </a:pPr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+mn-ea"/>
                        </a:rPr>
                        <a:t>工程服务</a:t>
                      </a:r>
                      <a:endParaRPr lang="zh-CN" altLang="en-US" sz="1000" b="1" i="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l">
                        <a:lnSpc>
                          <a:spcPts val="1260"/>
                        </a:lnSpc>
                        <a:buClrTx/>
                        <a:buSzTx/>
                        <a:buFontTx/>
                      </a:pPr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+mn-ea"/>
                        </a:rPr>
                        <a:t>核心网络系统集成服务费</a:t>
                      </a:r>
                      <a:endParaRPr lang="zh-CN" altLang="en-US" sz="1000" b="1" i="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l">
                        <a:lnSpc>
                          <a:spcPts val="1260"/>
                        </a:lnSpc>
                        <a:buClrTx/>
                        <a:buSzTx/>
                        <a:buFontTx/>
                      </a:pPr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+mn-ea"/>
                        </a:rPr>
                        <a:t>三层路由/双机热备/安全策略调试</a:t>
                      </a:r>
                      <a:endParaRPr lang="zh-CN" altLang="en-US" sz="1000" b="1" i="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l">
                        <a:lnSpc>
                          <a:spcPts val="1260"/>
                        </a:lnSpc>
                        <a:buClrTx/>
                        <a:buSzTx/>
                        <a:buFontTx/>
                      </a:pPr>
                      <a:endParaRPr lang="zh-CN" altLang="en-US" sz="1000" b="1" i="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  <a:buClrTx/>
                        <a:buSzTx/>
                        <a:buFontTx/>
                      </a:pPr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+mn-ea"/>
                        </a:rPr>
                        <a:t>1 批</a:t>
                      </a:r>
                      <a:endParaRPr lang="zh-CN" altLang="en-US" sz="1000" b="1" i="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  <a:buClrTx/>
                        <a:buSzTx/>
                        <a:buFontTx/>
                      </a:pPr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+mn-ea"/>
                        </a:rPr>
                        <a:t>15,000</a:t>
                      </a:r>
                      <a:endParaRPr lang="zh-CN" altLang="en-US" sz="1000" b="1" i="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  <a:buClrTx/>
                        <a:buSzTx/>
                        <a:buFontTx/>
                      </a:pPr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+mn-ea"/>
                        </a:rPr>
                        <a:t>15,000</a:t>
                      </a:r>
                      <a:endParaRPr lang="zh-CN" altLang="en-US" sz="1000" b="1" i="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l">
                        <a:lnSpc>
                          <a:spcPts val="1260"/>
                        </a:lnSpc>
                        <a:buClrTx/>
                        <a:buSzTx/>
                        <a:buFontTx/>
                      </a:pPr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+mn-ea"/>
                        </a:rPr>
                        <a:t>负责全院核心交换机、路由器和边界安全策略的高级逻辑配置与联调</a:t>
                      </a:r>
                      <a:endParaRPr lang="zh-CN" altLang="en-US" sz="1000" b="1" i="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</a:tr>
              <a:tr h="686435">
                <a:tc>
                  <a:txBody>
                    <a:bodyPr/>
                    <a:p>
                      <a:pPr algn="l">
                        <a:lnSpc>
                          <a:spcPts val="1260"/>
                        </a:lnSpc>
                        <a:buClrTx/>
                        <a:buSzTx/>
                        <a:buFontTx/>
                      </a:pPr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+mn-ea"/>
                        </a:rPr>
                        <a:t>工程服务</a:t>
                      </a:r>
                      <a:endParaRPr lang="zh-CN" altLang="en-US" sz="1000" b="1" i="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l">
                        <a:lnSpc>
                          <a:spcPts val="1260"/>
                        </a:lnSpc>
                        <a:buClrTx/>
                        <a:buSzTx/>
                        <a:buFontTx/>
                      </a:pPr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+mn-ea"/>
                        </a:rPr>
                        <a:t>无线工勘与热图调优费</a:t>
                      </a:r>
                      <a:endParaRPr lang="zh-CN" altLang="en-US" sz="1000" b="1" i="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l">
                        <a:lnSpc>
                          <a:spcPts val="1260"/>
                        </a:lnSpc>
                        <a:buClrTx/>
                        <a:buSzTx/>
                        <a:buFontTx/>
                      </a:pPr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+mn-ea"/>
                        </a:rPr>
                        <a:t>无线网络工勘、AP安装及信号优化</a:t>
                      </a:r>
                      <a:endParaRPr lang="zh-CN" altLang="en-US" sz="1000" b="1" i="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l">
                        <a:lnSpc>
                          <a:spcPts val="1260"/>
                        </a:lnSpc>
                        <a:buClrTx/>
                        <a:buSzTx/>
                        <a:buFontTx/>
                      </a:pPr>
                      <a:endParaRPr lang="zh-CN" altLang="en-US" sz="1000" b="1" i="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  <a:buClrTx/>
                        <a:buSzTx/>
                        <a:buFontTx/>
                      </a:pPr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+mn-ea"/>
                        </a:rPr>
                        <a:t>1 批</a:t>
                      </a:r>
                      <a:endParaRPr lang="zh-CN" altLang="en-US" sz="1000" b="1" i="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  <a:buClrTx/>
                        <a:buSzTx/>
                        <a:buFontTx/>
                      </a:pPr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+mn-ea"/>
                        </a:rPr>
                        <a:t>8,000</a:t>
                      </a:r>
                      <a:endParaRPr lang="zh-CN" altLang="en-US" sz="1000" b="1" i="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  <a:buClrTx/>
                        <a:buSzTx/>
                        <a:buFontTx/>
                      </a:pPr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+mn-ea"/>
                        </a:rPr>
                        <a:t>8,000</a:t>
                      </a:r>
                      <a:endParaRPr lang="zh-CN" altLang="en-US" sz="1000" b="1" i="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l">
                        <a:lnSpc>
                          <a:spcPts val="1260"/>
                        </a:lnSpc>
                        <a:buClrTx/>
                        <a:buSzTx/>
                        <a:buFontTx/>
                      </a:pPr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+mn-ea"/>
                        </a:rPr>
                        <a:t>负责全院病房、门诊区域的无线信号热图扫描、AP上墙安装及信道防干扰调优</a:t>
                      </a:r>
                      <a:endParaRPr lang="zh-CN" altLang="en-US" sz="1000" b="1" i="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</a:tr>
              <a:tr h="537845"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  <a:buClrTx/>
                        <a:buSzTx/>
                        <a:buFontTx/>
                      </a:pPr>
                      <a:r>
                        <a:rPr lang="zh-CN" altLang="en-US" sz="1000" i="0">
                          <a:solidFill>
                            <a:srgbClr val="FFFFFF"/>
                          </a:solidFill>
                          <a:latin typeface="+mn-ea"/>
                        </a:rPr>
                        <a:t>合计预算</a:t>
                      </a:r>
                      <a:endParaRPr lang="zh-CN" altLang="en-US" sz="1000" i="0">
                        <a:solidFill>
                          <a:srgbClr val="FFFFFF"/>
                        </a:solidFill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  <a:buClrTx/>
                        <a:buSzTx/>
                        <a:buFontTx/>
                      </a:pPr>
                      <a:endParaRPr lang="zh-CN" altLang="en-US" sz="1000" i="0">
                        <a:solidFill>
                          <a:srgbClr val="FFFFFF"/>
                        </a:solidFill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  <a:buClrTx/>
                        <a:buSzTx/>
                        <a:buFontTx/>
                      </a:pPr>
                      <a:endParaRPr lang="zh-CN" altLang="en-US" sz="1000" i="0">
                        <a:solidFill>
                          <a:srgbClr val="FFFFFF"/>
                        </a:solidFill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  <a:buClrTx/>
                        <a:buSzTx/>
                        <a:buFontTx/>
                      </a:pPr>
                      <a:endParaRPr lang="zh-CN" altLang="en-US" sz="1000" i="0">
                        <a:solidFill>
                          <a:srgbClr val="FFFFFF"/>
                        </a:solidFill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  <a:buClrTx/>
                        <a:buSzTx/>
                        <a:buFontTx/>
                      </a:pPr>
                      <a:endParaRPr lang="zh-CN" altLang="en-US" sz="1000" i="0">
                        <a:solidFill>
                          <a:srgbClr val="FFFFFF"/>
                        </a:solidFill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  <a:buClrTx/>
                        <a:buSzTx/>
                        <a:buFontTx/>
                      </a:pPr>
                      <a:endParaRPr lang="zh-CN" altLang="en-US" sz="1000" i="0">
                        <a:solidFill>
                          <a:srgbClr val="FFFFFF"/>
                        </a:solidFill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  <a:buClrTx/>
                        <a:buSzTx/>
                        <a:buFontTx/>
                      </a:pPr>
                      <a:r>
                        <a:rPr lang="zh-CN" altLang="en-US" sz="1000" i="0">
                          <a:solidFill>
                            <a:srgbClr val="FFFFFF"/>
                          </a:solidFill>
                          <a:latin typeface="+mn-ea"/>
                        </a:rPr>
                        <a:t>459,800 元</a:t>
                      </a:r>
                      <a:endParaRPr lang="zh-CN" altLang="en-US" sz="1000" i="0">
                        <a:solidFill>
                          <a:srgbClr val="FFFFFF"/>
                        </a:solidFill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  <a:buClrTx/>
                        <a:buSzTx/>
                        <a:buFontTx/>
                      </a:pPr>
                      <a:r>
                        <a:rPr lang="zh-CN" altLang="en-US" sz="1000" i="0">
                          <a:solidFill>
                            <a:srgbClr val="FFFFFF"/>
                          </a:solidFill>
                          <a:latin typeface="+mn-ea"/>
                        </a:rPr>
                        <a:t>全院改造工程（含硬件、施工、集成）总预算约 46 万元</a:t>
                      </a:r>
                      <a:endParaRPr lang="zh-CN" altLang="en-US" sz="1000" i="0">
                        <a:solidFill>
                          <a:srgbClr val="FFFFFF"/>
                        </a:solidFill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/>
        </p:nvGraphicFramePr>
        <p:xfrm>
          <a:off x="2426970" y="469773"/>
          <a:ext cx="7607300" cy="4601845"/>
        </p:xfrm>
        <a:graphic>
          <a:graphicData uri="http://schemas.openxmlformats.org/drawingml/2006/table">
            <a:tbl>
              <a:tblPr firstRow="1" bandRow="1">
                <a:tableStyleId>{602FB16C-0F9D-4694-BB92-06105B36EBAE}</a:tableStyleId>
              </a:tblPr>
              <a:tblGrid>
                <a:gridCol w="1026160"/>
                <a:gridCol w="1534160"/>
                <a:gridCol w="1107440"/>
                <a:gridCol w="3939540"/>
              </a:tblGrid>
              <a:tr h="175895"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  <a:buClrTx/>
                        <a:buSzTx/>
                        <a:buFontTx/>
                      </a:pPr>
                      <a:r>
                        <a:rPr lang="zh-CN" altLang="en-US" sz="1000">
                          <a:solidFill>
                            <a:srgbClr val="FFFFFF"/>
                          </a:solidFill>
                          <a:latin typeface="+mn-ea"/>
                        </a:rPr>
                        <a:t>实施阶段</a:t>
                      </a:r>
                      <a:endParaRPr lang="zh-CN" altLang="en-US" sz="1000">
                        <a:solidFill>
                          <a:srgbClr val="FFFFFF"/>
                        </a:solidFill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  <a:buClrTx/>
                        <a:buSzTx/>
                        <a:buFontTx/>
                      </a:pPr>
                      <a:r>
                        <a:rPr lang="zh-CN" altLang="en-US" sz="1000">
                          <a:solidFill>
                            <a:srgbClr val="FFFFFF"/>
                          </a:solidFill>
                          <a:latin typeface="+mn-ea"/>
                        </a:rPr>
                        <a:t>任务名称</a:t>
                      </a:r>
                      <a:endParaRPr lang="zh-CN" altLang="en-US" sz="1000">
                        <a:solidFill>
                          <a:srgbClr val="FFFFFF"/>
                        </a:solidFill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  <a:buClrTx/>
                        <a:buSzTx/>
                        <a:buFontTx/>
                      </a:pPr>
                      <a:r>
                        <a:rPr lang="zh-CN" altLang="en-US" sz="1000">
                          <a:solidFill>
                            <a:srgbClr val="FFFFFF"/>
                          </a:solidFill>
                          <a:latin typeface="+mn-ea"/>
                        </a:rPr>
                        <a:t>工期安排</a:t>
                      </a:r>
                      <a:endParaRPr lang="zh-CN" altLang="en-US" sz="1000">
                        <a:solidFill>
                          <a:srgbClr val="FFFFFF"/>
                        </a:solidFill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  <a:buClrTx/>
                        <a:buSzTx/>
                        <a:buFontTx/>
                      </a:pPr>
                      <a:r>
                        <a:rPr lang="zh-CN" altLang="en-US" sz="1000">
                          <a:solidFill>
                            <a:srgbClr val="FFFFFF"/>
                          </a:solidFill>
                          <a:latin typeface="+mn-ea"/>
                        </a:rPr>
                        <a:t>具体实施内容与关键交付物</a:t>
                      </a:r>
                      <a:endParaRPr lang="zh-CN" altLang="en-US" sz="1000">
                        <a:solidFill>
                          <a:srgbClr val="FFFFFF"/>
                        </a:solidFill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</a:tr>
              <a:tr h="735965"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  <a:buClrTx/>
                        <a:buSzTx/>
                        <a:buFontTx/>
                      </a:pPr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+mn-ea"/>
                        </a:rPr>
                        <a:t>第一阶段</a:t>
                      </a:r>
                      <a:endParaRPr lang="zh-CN" altLang="en-US" sz="1000" b="1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  <a:buClrTx/>
                        <a:buSzTx/>
                        <a:buFontTx/>
                      </a:pPr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+mn-ea"/>
                        </a:rPr>
                        <a:t>项目筹备与网络规划</a:t>
                      </a:r>
                      <a:endParaRPr lang="zh-CN" altLang="en-US" sz="1000" b="1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  <a:buClrTx/>
                        <a:buSzTx/>
                        <a:buFontTx/>
                      </a:pPr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+mn-ea"/>
                        </a:rPr>
                        <a:t>第 1 ~ 5 天</a:t>
                      </a:r>
                      <a:endParaRPr lang="zh-CN" altLang="en-US" sz="1000" b="1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l">
                        <a:lnSpc>
                          <a:spcPts val="1260"/>
                        </a:lnSpc>
                        <a:buClrTx/>
                        <a:buSzTx/>
                        <a:buFontTx/>
                      </a:pPr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+mn-ea"/>
                        </a:rPr>
                        <a:t>1. 调研门诊与住院大楼物理点位，收集各科室终端需求；2. 规划医院医疗内网、办公外网与设备专网的 VLAN 及 IP 地址空间分配；3. 交付物：</a:t>
                      </a:r>
                      <a:r>
                        <a:rPr lang="zh-CN" altLang="en-US" sz="1000" b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+mn-ea"/>
                        </a:rPr>
                        <a:t>《医院网络 IP 与 VLAN 逻辑规划方案书》</a:t>
                      </a:r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+mn-ea"/>
                        </a:rPr>
                        <a:t>。</a:t>
                      </a:r>
                      <a:endParaRPr lang="zh-CN" altLang="en-US" sz="1000" b="1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</a:tr>
              <a:tr h="847725"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  <a:buClrTx/>
                        <a:buSzTx/>
                        <a:buFontTx/>
                      </a:pPr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+mn-ea"/>
                        </a:rPr>
                        <a:t>第二阶段</a:t>
                      </a:r>
                      <a:endParaRPr lang="zh-CN" altLang="en-US" sz="1000" b="1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  <a:buClrTx/>
                        <a:buSzTx/>
                        <a:buFontTx/>
                      </a:pPr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+mn-ea"/>
                        </a:rPr>
                        <a:t>综合布线与硬件铺设</a:t>
                      </a:r>
                      <a:endParaRPr lang="zh-CN" altLang="en-US" sz="1000" b="1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  <a:buClrTx/>
                        <a:buSzTx/>
                        <a:buFontTx/>
                      </a:pPr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+mn-ea"/>
                        </a:rPr>
                        <a:t>第 6 ~ 15 天</a:t>
                      </a:r>
                      <a:endParaRPr lang="zh-CN" altLang="en-US" sz="1000" b="1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l">
                        <a:lnSpc>
                          <a:spcPts val="1260"/>
                        </a:lnSpc>
                        <a:buClrTx/>
                        <a:buSzTx/>
                        <a:buFontTx/>
                      </a:pPr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+mn-ea"/>
                        </a:rPr>
                        <a:t>1. 铺设中心机房（MDF）至各楼层弱电间（IDF）的骨干单模光纤；2. 铺设弱电间至医生站、护士站、AP 点位的水平六类非屏蔽双绞线；3. 安装机柜、配线架，完成网线端接测试；</a:t>
                      </a:r>
                      <a:endParaRPr lang="zh-CN" altLang="en-US" sz="1000" b="1">
                        <a:solidFill>
                          <a:srgbClr val="000000"/>
                        </a:solidFill>
                        <a:latin typeface="+mn-ea"/>
                      </a:endParaRPr>
                    </a:p>
                    <a:p>
                      <a:pPr algn="l">
                        <a:lnSpc>
                          <a:spcPts val="1260"/>
                        </a:lnSpc>
                        <a:buClrTx/>
                        <a:buSzTx/>
                        <a:buFontTx/>
                      </a:pPr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+mn-ea"/>
                        </a:rPr>
                        <a:t>4. 交付物：</a:t>
                      </a:r>
                      <a:r>
                        <a:rPr lang="zh-CN" altLang="en-US" sz="1000" b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+mn-ea"/>
                        </a:rPr>
                        <a:t>《综合布线系统物理链路测试报告》</a:t>
                      </a:r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+mn-ea"/>
                        </a:rPr>
                        <a:t>。</a:t>
                      </a:r>
                      <a:endParaRPr lang="zh-CN" altLang="en-US" sz="1000" b="1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</a:tr>
              <a:tr h="1071245"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  <a:buClrTx/>
                        <a:buSzTx/>
                        <a:buFontTx/>
                      </a:pPr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+mn-ea"/>
                        </a:rPr>
                        <a:t>第三阶段</a:t>
                      </a:r>
                      <a:endParaRPr lang="zh-CN" altLang="en-US" sz="1000" b="1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  <a:buClrTx/>
                        <a:buSzTx/>
                        <a:buFontTx/>
                      </a:pPr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+mn-ea"/>
                        </a:rPr>
                        <a:t>设备安装与逻辑调试</a:t>
                      </a:r>
                      <a:endParaRPr lang="zh-CN" altLang="en-US" sz="1000" b="1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  <a:buClrTx/>
                        <a:buSzTx/>
                        <a:buFontTx/>
                      </a:pPr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+mn-ea"/>
                        </a:rPr>
                        <a:t>第 16 ~ 25 天</a:t>
                      </a:r>
                      <a:endParaRPr lang="zh-CN" altLang="en-US" sz="1000" b="1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l">
                        <a:lnSpc>
                          <a:spcPts val="1260"/>
                        </a:lnSpc>
                        <a:buClrTx/>
                        <a:buSzTx/>
                        <a:buFontTx/>
                      </a:pPr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+mn-ea"/>
                        </a:rPr>
                        <a:t>1. 核心与接入层交换机、AC、路由器上架，完成物理连线；2. 配置内网双核心 LACP 链路聚合与 HSRP（VRRP平替）热备网关；3. 配置外网核心交换机 ACL 101 安全控制规则与出口静态路由；4. 配置设备专网 WLC 的 WLAN 控制参数，AP 注册上线；</a:t>
                      </a:r>
                      <a:endParaRPr lang="zh-CN" altLang="en-US" sz="1000" b="1">
                        <a:solidFill>
                          <a:srgbClr val="000000"/>
                        </a:solidFill>
                        <a:latin typeface="+mn-ea"/>
                      </a:endParaRPr>
                    </a:p>
                    <a:p>
                      <a:pPr algn="l">
                        <a:lnSpc>
                          <a:spcPts val="1260"/>
                        </a:lnSpc>
                        <a:buClrTx/>
                        <a:buSzTx/>
                        <a:buFontTx/>
                      </a:pPr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+mn-ea"/>
                        </a:rPr>
                        <a:t>5. 交付物：</a:t>
                      </a:r>
                      <a:r>
                        <a:rPr lang="zh-CN" altLang="en-US" sz="1000" b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+mn-ea"/>
                        </a:rPr>
                        <a:t>《网络设备基础配置脚本与拓扑路由表》</a:t>
                      </a:r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+mn-ea"/>
                        </a:rPr>
                        <a:t>。</a:t>
                      </a:r>
                      <a:endParaRPr lang="zh-CN" altLang="en-US" sz="1000" b="1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</a:tr>
              <a:tr h="847725"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  <a:buClrTx/>
                        <a:buSzTx/>
                        <a:buFontTx/>
                      </a:pPr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+mn-ea"/>
                        </a:rPr>
                        <a:t>第四阶段</a:t>
                      </a:r>
                      <a:endParaRPr lang="zh-CN" altLang="en-US" sz="1000" b="1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  <a:buClrTx/>
                        <a:buSzTx/>
                        <a:buFontTx/>
                      </a:pPr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+mn-ea"/>
                        </a:rPr>
                        <a:t>系统割接与联合调试</a:t>
                      </a:r>
                      <a:endParaRPr lang="zh-CN" altLang="en-US" sz="1000" b="1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  <a:buClrTx/>
                        <a:buSzTx/>
                        <a:buFontTx/>
                      </a:pPr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+mn-ea"/>
                        </a:rPr>
                        <a:t>第 26 ~ 30 天</a:t>
                      </a:r>
                      <a:endParaRPr lang="zh-CN" altLang="en-US" sz="1000" b="1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l">
                        <a:lnSpc>
                          <a:spcPts val="1260"/>
                        </a:lnSpc>
                        <a:buClrTx/>
                        <a:buSzTx/>
                        <a:buFontTx/>
                      </a:pPr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+mn-ea"/>
                        </a:rPr>
                        <a:t>1. 部署 HIS、PACS、Web 门户服务器并导入系统数据；2. 安排在夜间业务低谷期分批次进行旧网到新网的终端割接；3. 调试医生站、护士站及移动 PDA 无线网络关联，确保快速漫游正常；</a:t>
                      </a:r>
                      <a:endParaRPr lang="zh-CN" altLang="en-US" sz="1000" b="1">
                        <a:solidFill>
                          <a:srgbClr val="000000"/>
                        </a:solidFill>
                        <a:latin typeface="+mn-ea"/>
                      </a:endParaRPr>
                    </a:p>
                    <a:p>
                      <a:pPr algn="l">
                        <a:lnSpc>
                          <a:spcPts val="1260"/>
                        </a:lnSpc>
                        <a:buClrTx/>
                        <a:buSzTx/>
                        <a:buFontTx/>
                      </a:pPr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+mn-ea"/>
                        </a:rPr>
                        <a:t>4. 交付物：</a:t>
                      </a:r>
                      <a:r>
                        <a:rPr lang="zh-CN" altLang="en-US" sz="1000" b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+mn-ea"/>
                        </a:rPr>
                        <a:t>《医院网络割接实施方案及应急回滚预案》</a:t>
                      </a:r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+mn-ea"/>
                        </a:rPr>
                        <a:t>。</a:t>
                      </a:r>
                      <a:endParaRPr lang="zh-CN" altLang="en-US" sz="1000" b="1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</a:tr>
              <a:tr h="847725"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  <a:buClrTx/>
                        <a:buSzTx/>
                        <a:buFontTx/>
                      </a:pPr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+mn-ea"/>
                        </a:rPr>
                        <a:t>第五阶段</a:t>
                      </a:r>
                      <a:endParaRPr lang="zh-CN" altLang="en-US" sz="1000" b="1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  <a:buClrTx/>
                        <a:buSzTx/>
                        <a:buFontTx/>
                      </a:pPr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+mn-ea"/>
                        </a:rPr>
                        <a:t>试运行与竣工验收</a:t>
                      </a:r>
                      <a:endParaRPr lang="zh-CN" altLang="en-US" sz="1000" b="1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ctr">
                        <a:lnSpc>
                          <a:spcPts val="1260"/>
                        </a:lnSpc>
                        <a:buClrTx/>
                        <a:buSzTx/>
                        <a:buFontTx/>
                      </a:pPr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+mn-ea"/>
                        </a:rPr>
                        <a:t>第 31 ~ 35 天</a:t>
                      </a:r>
                      <a:endParaRPr lang="zh-CN" altLang="en-US" sz="1000" b="1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  <a:tc>
                  <a:txBody>
                    <a:bodyPr/>
                    <a:p>
                      <a:pPr algn="l">
                        <a:lnSpc>
                          <a:spcPts val="1260"/>
                        </a:lnSpc>
                        <a:buClrTx/>
                        <a:buSzTx/>
                        <a:buFontTx/>
                      </a:pPr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+mn-ea"/>
                        </a:rPr>
                        <a:t>1. 开展连通性测试、高可用倒换测试及安全拦截控制审计；2. 收集各科室试运行反馈，优化网络 QOS 策略；3. 进行工程验收交接，对医院信息科进行日常运维培训；</a:t>
                      </a:r>
                      <a:endParaRPr lang="zh-CN" altLang="en-US" sz="1000" b="1">
                        <a:solidFill>
                          <a:srgbClr val="000000"/>
                        </a:solidFill>
                        <a:latin typeface="+mn-ea"/>
                      </a:endParaRPr>
                    </a:p>
                    <a:p>
                      <a:pPr algn="l">
                        <a:lnSpc>
                          <a:spcPts val="1260"/>
                        </a:lnSpc>
                        <a:buClrTx/>
                        <a:buSzTx/>
                        <a:buFontTx/>
                      </a:pPr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+mn-ea"/>
                        </a:rPr>
                        <a:t>4. 交付物：</a:t>
                      </a:r>
                      <a:r>
                        <a:rPr lang="zh-CN" altLang="en-US" sz="1000" b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+mn-ea"/>
                        </a:rPr>
                        <a:t>《医院网络改造项目竣工综合验收报告》</a:t>
                      </a:r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+mn-ea"/>
                        </a:rPr>
                        <a:t>。</a:t>
                      </a:r>
                      <a:endParaRPr lang="zh-CN" altLang="en-US" sz="1000" b="1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91757" marR="91757" marT="46037" marB="46037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42*347"/>
  <p:tag name="TABLE_ENDDRAG_RECT" val="44*69*642*347"/>
</p:tagLst>
</file>

<file path=ppt/tags/tag2.xml><?xml version="1.0" encoding="utf-8"?>
<p:tagLst xmlns:p="http://schemas.openxmlformats.org/presentationml/2006/main">
  <p:tag name="TABLE_ENDDRAG_ORIGIN_RECT" val="680*164"/>
  <p:tag name="TABLE_ENDDRAG_RECT" val="154*211*680*164"/>
</p:tagLst>
</file>

<file path=ppt/tags/tag3.xml><?xml version="1.0" encoding="utf-8"?>
<p:tagLst xmlns:p="http://schemas.openxmlformats.org/presentationml/2006/main">
  <p:tag name="TABLE_ENDDRAG_ORIGIN_RECT" val="647*740"/>
  <p:tag name="TABLE_ENDDRAG_RECT" val="250*111*647*740"/>
</p:tagLst>
</file>

<file path=ppt/tags/tag4.xml><?xml version="1.0" encoding="utf-8"?>
<p:tagLst xmlns:p="http://schemas.openxmlformats.org/presentationml/2006/main">
  <p:tag name="resource_record_key" val="{&quot;29&quot;:[50053052,50000061,50000047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3311</Words>
  <Application>WPS 演示</Application>
  <PresentationFormat>宽屏</PresentationFormat>
  <Paragraphs>509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Calibri</vt:lpstr>
      <vt:lpstr>Arial Unicode MS</vt:lpstr>
      <vt:lpstr>DM Mono</vt:lpstr>
      <vt:lpstr>Segoe Print</vt:lpstr>
      <vt:lpstr>Inter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maoxingbo</dc:creator>
  <cp:lastModifiedBy>JL</cp:lastModifiedBy>
  <cp:revision>7</cp:revision>
  <dcterms:created xsi:type="dcterms:W3CDTF">2023-08-09T12:44:00Z</dcterms:created>
  <dcterms:modified xsi:type="dcterms:W3CDTF">2026-05-24T15:26:24Z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A0F2557C253E406AA01532821B8DEB09_12</vt:lpwstr>
  </property>
</Properties>
</file>