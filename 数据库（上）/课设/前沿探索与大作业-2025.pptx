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5" r:id="rId1"/>
  </p:sldMasterIdLst>
  <p:notesMasterIdLst>
    <p:notesMasterId r:id="rId15"/>
  </p:notesMasterIdLst>
  <p:handoutMasterIdLst>
    <p:handoutMasterId r:id="rId16"/>
  </p:handoutMasterIdLst>
  <p:sldIdLst>
    <p:sldId id="2657" r:id="rId2"/>
    <p:sldId id="5282" r:id="rId3"/>
    <p:sldId id="5284" r:id="rId4"/>
    <p:sldId id="5285" r:id="rId5"/>
    <p:sldId id="5286" r:id="rId6"/>
    <p:sldId id="5287" r:id="rId7"/>
    <p:sldId id="5288" r:id="rId8"/>
    <p:sldId id="5289" r:id="rId9"/>
    <p:sldId id="5290" r:id="rId10"/>
    <p:sldId id="5291" r:id="rId11"/>
    <p:sldId id="5292" r:id="rId12"/>
    <p:sldId id="5293" r:id="rId13"/>
    <p:sldId id="5294" r:id="rId14"/>
  </p:sldIdLst>
  <p:sldSz cx="9144000" cy="5143500" type="screen16x9"/>
  <p:notesSz cx="6858000" cy="9144000"/>
  <p:defaultTextStyle>
    <a:defPPr>
      <a:defRPr lang="fi-FI"/>
    </a:defPPr>
    <a:lvl1pPr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1pPr>
    <a:lvl2pPr marL="4556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2pPr>
    <a:lvl3pPr marL="9128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3pPr>
    <a:lvl4pPr marL="13700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4pPr>
    <a:lvl5pPr marL="18272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标题" id="{EB83E03E-195F-4588-BA9C-87CAE50CC123}">
          <p14:sldIdLst>
            <p14:sldId id="2657"/>
            <p14:sldId id="5282"/>
            <p14:sldId id="5284"/>
            <p14:sldId id="5285"/>
            <p14:sldId id="5286"/>
            <p14:sldId id="5287"/>
            <p14:sldId id="5288"/>
            <p14:sldId id="5289"/>
            <p14:sldId id="5290"/>
            <p14:sldId id="5291"/>
            <p14:sldId id="5292"/>
            <p14:sldId id="5293"/>
            <p14:sldId id="52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38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4" pos="5193" userDrawn="1">
          <p15:clr>
            <a:srgbClr val="A4A3A4"/>
          </p15:clr>
        </p15:guide>
        <p15:guide id="5" pos="3152" userDrawn="1">
          <p15:clr>
            <a:srgbClr val="A4A3A4"/>
          </p15:clr>
        </p15:guide>
        <p15:guide id="6" orient="horz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06BA"/>
    <a:srgbClr val="080808"/>
    <a:srgbClr val="339933"/>
    <a:srgbClr val="B5880B"/>
    <a:srgbClr val="E87071"/>
    <a:srgbClr val="00B3EE"/>
    <a:srgbClr val="93E5FF"/>
    <a:srgbClr val="F7FE98"/>
    <a:srgbClr val="FFFFFF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63" autoAdjust="0"/>
    <p:restoredTop sz="84531" autoAdjust="0"/>
  </p:normalViewPr>
  <p:slideViewPr>
    <p:cSldViewPr>
      <p:cViewPr>
        <p:scale>
          <a:sx n="106" d="100"/>
          <a:sy n="106" d="100"/>
        </p:scale>
        <p:origin x="524" y="52"/>
      </p:cViewPr>
      <p:guideLst>
        <p:guide orient="horz" pos="3838"/>
        <p:guide pos="295"/>
        <p:guide pos="5193"/>
        <p:guide pos="3152"/>
        <p:guide orient="horz" pos="287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58CD87A4-0184-412C-A44A-3DA728178AFF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3572666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i-FI" noProof="0"/>
              <a:t>Muokkaa tekstin perustyylejä napsauttamalla</a:t>
            </a:r>
          </a:p>
          <a:p>
            <a:pPr lvl="1"/>
            <a:r>
              <a:rPr lang="fi-FI" noProof="0"/>
              <a:t>toinen taso</a:t>
            </a:r>
          </a:p>
          <a:p>
            <a:pPr lvl="2"/>
            <a:r>
              <a:rPr lang="fi-FI" noProof="0"/>
              <a:t>kolmas taso</a:t>
            </a:r>
          </a:p>
          <a:p>
            <a:pPr lvl="3"/>
            <a:r>
              <a:rPr lang="fi-FI" noProof="0"/>
              <a:t>neljäs taso</a:t>
            </a:r>
          </a:p>
          <a:p>
            <a:pPr lvl="4"/>
            <a:r>
              <a:rPr lang="fi-FI" noProof="0"/>
              <a:t>viides taso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BB8C311E-5859-4E0C-A0F3-4690A095D6BE}" type="slidenum">
              <a:rPr lang="fi-FI" altLang="zh-CN"/>
              <a:pPr>
                <a:defRPr/>
              </a:pPr>
              <a:t>‹#›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17204162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572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7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1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6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1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3768680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2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2799241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3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1919262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611560" y="123478"/>
            <a:ext cx="6480720" cy="514102"/>
          </a:xfrm>
          <a:prstGeom prst="rect">
            <a:avLst/>
          </a:prstGeom>
          <a:solidFill>
            <a:schemeClr val="bg1"/>
          </a:solidFill>
        </p:spPr>
        <p:txBody>
          <a:bodyPr rtlCol="0">
            <a:noAutofit/>
          </a:bodyPr>
          <a:lstStyle>
            <a:lvl1pPr algn="l">
              <a:defRPr sz="2400" b="1" baseline="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789553"/>
            <a:ext cx="8568952" cy="3805070"/>
          </a:xfrm>
        </p:spPr>
        <p:txBody>
          <a:bodyPr/>
          <a:lstStyle>
            <a:lvl1pPr>
              <a:defRPr sz="20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3pPr>
            <a:lvl4pPr>
              <a:defRPr sz="14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4pPr>
            <a:lvl5pPr>
              <a:defRPr sz="14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D7A9122C-2794-4A95-85D5-67E362F7EF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2726" y="201457"/>
            <a:ext cx="1587734" cy="386697"/>
          </a:xfrm>
          <a:prstGeom prst="rect">
            <a:avLst/>
          </a:prstGeom>
        </p:spPr>
      </p:pic>
      <p:cxnSp>
        <p:nvCxnSpPr>
          <p:cNvPr id="5" name="PA-102211">
            <a:extLst>
              <a:ext uri="{FF2B5EF4-FFF2-40B4-BE49-F238E27FC236}">
                <a16:creationId xmlns:a16="http://schemas.microsoft.com/office/drawing/2014/main" id="{C87527B0-2AEC-439E-9D61-9F881129AF8A}"/>
              </a:ext>
            </a:extLst>
          </p:cNvPr>
          <p:cNvCxnSpPr/>
          <p:nvPr userDrawn="1">
            <p:custDataLst>
              <p:tags r:id="rId1"/>
            </p:custDataLst>
          </p:nvPr>
        </p:nvCxnSpPr>
        <p:spPr>
          <a:xfrm>
            <a:off x="355283" y="699542"/>
            <a:ext cx="8555177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等腰三角形 3">
            <a:extLst>
              <a:ext uri="{FF2B5EF4-FFF2-40B4-BE49-F238E27FC236}">
                <a16:creationId xmlns:a16="http://schemas.microsoft.com/office/drawing/2014/main" id="{85669494-41B5-4632-B1D9-01C055E75766}"/>
              </a:ext>
            </a:extLst>
          </p:cNvPr>
          <p:cNvSpPr/>
          <p:nvPr userDrawn="1"/>
        </p:nvSpPr>
        <p:spPr>
          <a:xfrm rot="5400000">
            <a:off x="319564" y="290513"/>
            <a:ext cx="273368" cy="201930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569259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864540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0E5853F-F8D3-4201-B7D6-19EE6B4D4F23}"/>
              </a:ext>
            </a:extLst>
          </p:cNvPr>
          <p:cNvSpPr txBox="1"/>
          <p:nvPr userDrawn="1"/>
        </p:nvSpPr>
        <p:spPr>
          <a:xfrm>
            <a:off x="8460432" y="4803998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C913308-F349-4B6D-A68A-DD1791B4A57B}" type="slidenum">
              <a:rPr lang="zh-CN" alt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‹#›</a:t>
            </a:fld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2" r:id="rId2"/>
  </p:sldLayoutIdLst>
  <p:transition>
    <p:fade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dmis-tongji.github.io/" TargetMode="Externa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13" Type="http://schemas.openxmlformats.org/officeDocument/2006/relationships/image" Target="../media/image22.jpeg"/><Relationship Id="rId18" Type="http://schemas.openxmlformats.org/officeDocument/2006/relationships/image" Target="../media/image27.jpeg"/><Relationship Id="rId3" Type="http://schemas.openxmlformats.org/officeDocument/2006/relationships/image" Target="../media/image12.png"/><Relationship Id="rId7" Type="http://schemas.openxmlformats.org/officeDocument/2006/relationships/image" Target="../media/image16.jpeg"/><Relationship Id="rId12" Type="http://schemas.openxmlformats.org/officeDocument/2006/relationships/image" Target="../media/image21.jpeg"/><Relationship Id="rId17" Type="http://schemas.openxmlformats.org/officeDocument/2006/relationships/image" Target="../media/image26.png"/><Relationship Id="rId2" Type="http://schemas.openxmlformats.org/officeDocument/2006/relationships/image" Target="../media/image11.jpeg"/><Relationship Id="rId16" Type="http://schemas.openxmlformats.org/officeDocument/2006/relationships/image" Target="../media/image25.jpe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eg"/><Relationship Id="rId11" Type="http://schemas.openxmlformats.org/officeDocument/2006/relationships/image" Target="../media/image20.jpeg"/><Relationship Id="rId5" Type="http://schemas.openxmlformats.org/officeDocument/2006/relationships/image" Target="../media/image14.jpeg"/><Relationship Id="rId15" Type="http://schemas.openxmlformats.org/officeDocument/2006/relationships/image" Target="../media/image24.png"/><Relationship Id="rId10" Type="http://schemas.openxmlformats.org/officeDocument/2006/relationships/image" Target="../media/image19.jpeg"/><Relationship Id="rId19" Type="http://schemas.openxmlformats.org/officeDocument/2006/relationships/image" Target="../media/image28.jpeg"/><Relationship Id="rId4" Type="http://schemas.openxmlformats.org/officeDocument/2006/relationships/image" Target="../media/image13.jpeg"/><Relationship Id="rId9" Type="http://schemas.openxmlformats.org/officeDocument/2006/relationships/image" Target="../media/image18.jpeg"/><Relationship Id="rId1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3926E56-11E2-4B2B-AA1C-5D1F684EF6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" y="4604"/>
            <a:ext cx="1871191" cy="51496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03ED0B6-5F13-43E2-B9A5-1A661161B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7717" y="1402010"/>
            <a:ext cx="9156340" cy="1299018"/>
          </a:xfrm>
          <a:prstGeom prst="rect">
            <a:avLst/>
          </a:prstGeom>
          <a:noFill/>
          <a:ln>
            <a:noFill/>
          </a:ln>
        </p:spPr>
        <p:txBody>
          <a:bodyPr lIns="92075" tIns="46038" rIns="92075" bIns="46038" anchor="ctr"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algn="ctr">
              <a:spcBef>
                <a:spcPts val="600"/>
              </a:spcBef>
              <a:defRPr/>
            </a:pPr>
            <a:r>
              <a:rPr lang="zh-CN" altLang="en-US" sz="3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前沿探索与大作业安排（</a:t>
            </a:r>
            <a:r>
              <a:rPr lang="en-US" altLang="zh-CN" sz="3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2025</a:t>
            </a:r>
            <a:r>
              <a:rPr lang="zh-CN" altLang="en-US" sz="3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en-US" altLang="zh-CN" sz="3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0B93528-A467-4049-94D4-0E3944D1AE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2154" y="64417"/>
            <a:ext cx="4296350" cy="372583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A357146B-3F07-4FE4-A783-E7261D821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824" y="2427734"/>
            <a:ext cx="3234190" cy="692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buClr>
                <a:srgbClr val="800080"/>
              </a:buClr>
              <a:buSzPct val="90000"/>
            </a:pP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张毅超</a:t>
            </a:r>
            <a:endParaRPr lang="de-CH" sz="16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75A1144-A3D3-4F34-BC9D-75D18FB96A71}"/>
              </a:ext>
            </a:extLst>
          </p:cNvPr>
          <p:cNvSpPr txBox="1"/>
          <p:nvPr/>
        </p:nvSpPr>
        <p:spPr>
          <a:xfrm>
            <a:off x="281219" y="2763108"/>
            <a:ext cx="8568952" cy="92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先进数据与机器智能系统实验室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Advanced Data and Machine Intelligence Systems (ADMIS) Lab</a:t>
            </a:r>
          </a:p>
          <a:p>
            <a:pPr algn="ctr"/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hlinkClick r:id="rId5"/>
              </a:rPr>
              <a:t>https://admis-tongji.github.io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1">
            <a:extLst>
              <a:ext uri="{FF2B5EF4-FFF2-40B4-BE49-F238E27FC236}">
                <a16:creationId xmlns:a16="http://schemas.microsoft.com/office/drawing/2014/main" id="{769A32E4-AAB8-4D86-8A6C-1D1E9C858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80" y="3668296"/>
            <a:ext cx="5731044" cy="708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2500"/>
              </a:lnSpc>
              <a:spcBef>
                <a:spcPct val="0"/>
              </a:spcBef>
              <a:buFontTx/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同济大学 计算机科学与技术学院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Heiti SC Medium" panose="02000000000000000000" charset="-122"/>
            </a:endParaRPr>
          </a:p>
          <a:p>
            <a:pPr algn="ctr" eaLnBrk="1" hangingPunct="1">
              <a:lnSpc>
                <a:spcPts val="25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2025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年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04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3704460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7CE309-153F-49BF-9119-2956333E9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前沿探索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D09151-2B8F-40CD-9DA5-A475986FE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2"/>
            <a:ext cx="8856984" cy="4302477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sz="1600" b="1" dirty="0"/>
              <a:t>方向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：蚂蚁科技</a:t>
            </a:r>
            <a:r>
              <a:rPr lang="en-US" altLang="zh-CN" sz="1600" b="1" dirty="0" err="1"/>
              <a:t>OceanBase</a:t>
            </a:r>
            <a:r>
              <a:rPr lang="zh-CN" altLang="en-US" sz="1600" b="1" dirty="0"/>
              <a:t>、华为</a:t>
            </a:r>
            <a:r>
              <a:rPr lang="en-US" altLang="zh-CN" sz="1600" b="1" dirty="0" err="1"/>
              <a:t>openGauss</a:t>
            </a:r>
            <a:r>
              <a:rPr lang="en-US" altLang="zh-CN" sz="1600" b="1" dirty="0"/>
              <a:t>/</a:t>
            </a:r>
            <a:r>
              <a:rPr lang="en-US" altLang="zh-CN" sz="1600" b="1" dirty="0" err="1"/>
              <a:t>GaussDB</a:t>
            </a:r>
            <a:r>
              <a:rPr lang="zh-CN" altLang="en-US" sz="1600" b="1" dirty="0"/>
              <a:t>（选择下列某个方面）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zh-CN" sz="1400" dirty="0"/>
              <a:t>Storage: </a:t>
            </a:r>
            <a:r>
              <a:rPr lang="zh-CN" altLang="en-US" sz="1400" dirty="0"/>
              <a:t>存储</a:t>
            </a:r>
            <a:endParaRPr lang="en-US" altLang="zh-CN" sz="1400" dirty="0"/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zh-CN" sz="1400" dirty="0"/>
              <a:t>Index: </a:t>
            </a:r>
            <a:r>
              <a:rPr lang="zh-CN" altLang="en-US" sz="1400" dirty="0"/>
              <a:t>索引</a:t>
            </a:r>
            <a:endParaRPr lang="en-US" altLang="zh-CN" sz="1400" dirty="0"/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zh-CN" sz="1400" dirty="0"/>
              <a:t>Query: </a:t>
            </a:r>
            <a:r>
              <a:rPr lang="zh-CN" altLang="en-US" sz="1400" dirty="0"/>
              <a:t>查询</a:t>
            </a:r>
            <a:endParaRPr lang="en-US" altLang="zh-CN" sz="1400" dirty="0"/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zh-CN" sz="1400" dirty="0"/>
              <a:t>Optimization: </a:t>
            </a:r>
            <a:r>
              <a:rPr lang="zh-CN" altLang="en-US" sz="1400" dirty="0"/>
              <a:t>优化</a:t>
            </a:r>
            <a:endParaRPr lang="en-US" altLang="zh-CN" sz="1400" dirty="0"/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zh-CN" sz="1400" dirty="0"/>
              <a:t>Transactions: </a:t>
            </a:r>
            <a:r>
              <a:rPr lang="zh-CN" altLang="en-US" sz="1400" dirty="0"/>
              <a:t>事务处理、并发、恢复</a:t>
            </a:r>
            <a:endParaRPr lang="en-US" altLang="zh-CN" sz="14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sz="1600" b="1" dirty="0"/>
              <a:t>方向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：多模态数据检索</a:t>
            </a:r>
            <a:r>
              <a:rPr lang="en-US" altLang="zh-CN" sz="1600" b="1" dirty="0"/>
              <a:t>(Multimodal Data Retrieval)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sz="1600" b="1" dirty="0"/>
              <a:t>方向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：向量数据库</a:t>
            </a:r>
            <a:r>
              <a:rPr lang="en-US" altLang="zh-CN" sz="1600" b="1" dirty="0"/>
              <a:t>(Vector Database)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sz="1600" b="1" dirty="0"/>
              <a:t>分组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zh-CN" altLang="en-US" sz="1400" dirty="0"/>
              <a:t>每组不超过</a:t>
            </a:r>
            <a:r>
              <a:rPr lang="en-US" altLang="zh-CN" sz="1400" dirty="0"/>
              <a:t>5</a:t>
            </a:r>
            <a:r>
              <a:rPr lang="zh-CN" altLang="en-US" sz="1400" dirty="0"/>
              <a:t>人</a:t>
            </a:r>
            <a:endParaRPr lang="en-US" altLang="zh-CN" sz="1400" dirty="0"/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zh-CN" sz="1400" dirty="0"/>
              <a:t>Choose one topic and search for related materials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zh-CN" sz="1400" dirty="0">
                <a:highlight>
                  <a:srgbClr val="FFFF00"/>
                </a:highlight>
              </a:rPr>
              <a:t>Prepare slides (20-30 pages) and give the presentation</a:t>
            </a:r>
          </a:p>
          <a:p>
            <a:pPr lvl="2">
              <a:spcBef>
                <a:spcPts val="0"/>
              </a:spcBef>
              <a:spcAft>
                <a:spcPts val="600"/>
              </a:spcAft>
            </a:pPr>
            <a:r>
              <a:rPr lang="zh-CN" altLang="en-US" sz="1200" dirty="0"/>
              <a:t>内容完整，逻辑性强；具有独立的思考；页面美观；个人分工明确</a:t>
            </a:r>
            <a:endParaRPr lang="en-US" altLang="zh-CN" sz="1200" dirty="0"/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zh-CN" altLang="en-US" sz="1400" b="1" dirty="0">
                <a:solidFill>
                  <a:srgbClr val="C00000"/>
                </a:solidFill>
              </a:rPr>
              <a:t>第</a:t>
            </a:r>
            <a:r>
              <a:rPr lang="en-US" altLang="zh-CN" sz="1400" b="1" dirty="0">
                <a:solidFill>
                  <a:srgbClr val="C00000"/>
                </a:solidFill>
              </a:rPr>
              <a:t>14</a:t>
            </a:r>
            <a:r>
              <a:rPr lang="zh-CN" altLang="en-US" sz="1400" b="1" dirty="0">
                <a:solidFill>
                  <a:srgbClr val="C00000"/>
                </a:solidFill>
              </a:rPr>
              <a:t>周提交</a:t>
            </a:r>
          </a:p>
        </p:txBody>
      </p:sp>
    </p:spTree>
    <p:extLst>
      <p:ext uri="{BB962C8B-B14F-4D97-AF65-F5344CB8AC3E}">
        <p14:creationId xmlns:p14="http://schemas.microsoft.com/office/powerpoint/2010/main" val="2494308522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32002B-B4D8-4ED4-803E-A5B3AAF7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课程大作业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09D543-F47A-484B-9855-D2F78A3A7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2"/>
            <a:ext cx="8568952" cy="4353947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sz="1800" b="1" dirty="0"/>
              <a:t>数据库应用开发选题要求</a:t>
            </a:r>
            <a:endParaRPr lang="en-US" altLang="zh-CN" sz="1800" b="1" dirty="0"/>
          </a:p>
          <a:p>
            <a:pPr lvl="1">
              <a:spcBef>
                <a:spcPts val="600"/>
              </a:spcBef>
            </a:pPr>
            <a:r>
              <a:rPr lang="zh-CN" altLang="en-US" sz="1400" dirty="0"/>
              <a:t>围绕“</a:t>
            </a:r>
            <a:r>
              <a:rPr lang="zh-CN" altLang="en-US" sz="1400" b="1" dirty="0">
                <a:solidFill>
                  <a:srgbClr val="C00000"/>
                </a:solidFill>
              </a:rPr>
              <a:t>海洋计算</a:t>
            </a:r>
            <a:r>
              <a:rPr lang="zh-CN" altLang="en-US" sz="1400" dirty="0"/>
              <a:t>”或“</a:t>
            </a:r>
            <a:r>
              <a:rPr lang="zh-CN" altLang="en-US" sz="1400" b="1" dirty="0">
                <a:solidFill>
                  <a:srgbClr val="C00000"/>
                </a:solidFill>
              </a:rPr>
              <a:t>城市计算</a:t>
            </a:r>
            <a:r>
              <a:rPr lang="zh-CN" altLang="en-US" sz="1400" dirty="0"/>
              <a:t>”的合适题目</a:t>
            </a:r>
            <a:endParaRPr lang="en-US" altLang="zh-CN" sz="1400" dirty="0"/>
          </a:p>
          <a:p>
            <a:pPr lvl="1">
              <a:spcBef>
                <a:spcPts val="600"/>
              </a:spcBef>
            </a:pPr>
            <a:r>
              <a:rPr lang="zh-CN" altLang="en-US" sz="1400" b="1" dirty="0"/>
              <a:t>海洋计算</a:t>
            </a:r>
            <a:r>
              <a:rPr lang="zh-CN" altLang="en-US" sz="1400" dirty="0"/>
              <a:t>：海洋遥感图像检索系统、海洋表面温度预测平台、碳酸盐补偿深度</a:t>
            </a:r>
            <a:r>
              <a:rPr lang="en-US" altLang="zh-CN" sz="1400" dirty="0"/>
              <a:t>CCD</a:t>
            </a:r>
            <a:r>
              <a:rPr lang="zh-CN" altLang="en-US" sz="1400" dirty="0"/>
              <a:t>空间预测系统、船舶轨迹查询系统、台风监测系统、港口集装箱管理平台等</a:t>
            </a:r>
            <a:endParaRPr lang="en-US" altLang="zh-CN" sz="1400" dirty="0"/>
          </a:p>
          <a:p>
            <a:pPr lvl="1">
              <a:spcBef>
                <a:spcPts val="600"/>
              </a:spcBef>
            </a:pPr>
            <a:r>
              <a:rPr lang="zh-CN" altLang="en-US" sz="1400" b="1" dirty="0"/>
              <a:t>城市计算</a:t>
            </a:r>
            <a:r>
              <a:rPr lang="zh-CN" altLang="en-US" sz="1400" dirty="0"/>
              <a:t>：城市交通状态查询系统、城市犯罪事件管理平台、城市基层社会治理知识图谱管理等</a:t>
            </a:r>
            <a:endParaRPr lang="en-US" altLang="zh-CN" sz="1400" dirty="0"/>
          </a:p>
          <a:p>
            <a:pPr lvl="1">
              <a:spcBef>
                <a:spcPts val="600"/>
              </a:spcBef>
            </a:pPr>
            <a:r>
              <a:rPr lang="zh-CN" altLang="en-US" sz="1400" dirty="0"/>
              <a:t>题目自拟，建议具有一定的新颖性，</a:t>
            </a:r>
            <a:r>
              <a:rPr lang="en-US" altLang="zh-CN" sz="1400" b="1" dirty="0">
                <a:solidFill>
                  <a:srgbClr val="C00000"/>
                </a:solidFill>
              </a:rPr>
              <a:t>4</a:t>
            </a:r>
            <a:r>
              <a:rPr lang="zh-CN" altLang="en-US" sz="1400" b="1" dirty="0">
                <a:solidFill>
                  <a:srgbClr val="C00000"/>
                </a:solidFill>
              </a:rPr>
              <a:t>月</a:t>
            </a:r>
            <a:r>
              <a:rPr lang="en-US" altLang="zh-CN" sz="1400" b="1" dirty="0">
                <a:solidFill>
                  <a:srgbClr val="C00000"/>
                </a:solidFill>
              </a:rPr>
              <a:t>30</a:t>
            </a:r>
            <a:r>
              <a:rPr lang="zh-CN" altLang="en-US" sz="1400" b="1" dirty="0">
                <a:solidFill>
                  <a:srgbClr val="C00000"/>
                </a:solidFill>
              </a:rPr>
              <a:t>日</a:t>
            </a:r>
            <a:r>
              <a:rPr lang="zh-CN" altLang="en-US" sz="1400" dirty="0"/>
              <a:t>前完成，在</a:t>
            </a:r>
            <a:r>
              <a:rPr lang="en-US" altLang="zh-CN" sz="1400" dirty="0"/>
              <a:t>Canvas</a:t>
            </a:r>
            <a:r>
              <a:rPr lang="zh-CN" altLang="en-US" sz="1400" dirty="0"/>
              <a:t>上录入</a:t>
            </a:r>
            <a:endParaRPr lang="en-US" altLang="zh-CN" sz="1400" dirty="0"/>
          </a:p>
          <a:p>
            <a:pPr>
              <a:spcBef>
                <a:spcPts val="600"/>
              </a:spcBef>
            </a:pPr>
            <a:r>
              <a:rPr lang="zh-CN" altLang="en-US" sz="1800" b="1" dirty="0"/>
              <a:t>个人</a:t>
            </a:r>
            <a:r>
              <a:rPr lang="en-US" altLang="zh-CN" sz="1800" b="1" dirty="0"/>
              <a:t>/</a:t>
            </a:r>
            <a:r>
              <a:rPr lang="zh-CN" altLang="en-US" sz="1800" b="1" dirty="0"/>
              <a:t>组队完成，要求涵盖以下内容：</a:t>
            </a:r>
            <a:endParaRPr lang="en-US" altLang="zh-CN" sz="1800" b="1" dirty="0"/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需求分析</a:t>
            </a:r>
            <a:endParaRPr lang="en-US" altLang="zh-CN" sz="1600" dirty="0"/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概念设计（</a:t>
            </a:r>
            <a:r>
              <a:rPr lang="en-US" altLang="zh-CN" sz="1600" dirty="0"/>
              <a:t>E-R</a:t>
            </a:r>
            <a:r>
              <a:rPr lang="zh-CN" altLang="en-US" sz="1600" dirty="0"/>
              <a:t>图）</a:t>
            </a:r>
            <a:endParaRPr lang="en-US" altLang="zh-CN" sz="1600" dirty="0"/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逻辑设计，要求数据库各个关系满足</a:t>
            </a:r>
            <a:r>
              <a:rPr lang="en-US" altLang="zh-CN" sz="1600" dirty="0"/>
              <a:t>3NF</a:t>
            </a:r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物理设计，简要阐明如何构建索引结构</a:t>
            </a:r>
            <a:endParaRPr lang="en-US" altLang="zh-CN" sz="1600" dirty="0"/>
          </a:p>
          <a:p>
            <a:pPr lvl="1">
              <a:spcBef>
                <a:spcPts val="600"/>
              </a:spcBef>
            </a:pPr>
            <a:r>
              <a:rPr lang="zh-CN" altLang="en-US" sz="1600" dirty="0">
                <a:highlight>
                  <a:srgbClr val="FFFF00"/>
                </a:highlight>
              </a:rPr>
              <a:t>系统实现（下学期课设完成，本学期不要求）</a:t>
            </a:r>
            <a:endParaRPr lang="en-US" altLang="zh-CN" sz="1600" dirty="0">
              <a:highlight>
                <a:srgbClr val="FFFF00"/>
              </a:highlight>
            </a:endParaRPr>
          </a:p>
          <a:p>
            <a:pPr>
              <a:spcBef>
                <a:spcPts val="600"/>
              </a:spcBef>
            </a:pPr>
            <a:r>
              <a:rPr lang="zh-CN" altLang="en-US" sz="1800" b="1" dirty="0"/>
              <a:t>提交一份</a:t>
            </a:r>
            <a:r>
              <a:rPr lang="en-US" altLang="zh-CN" sz="1800" b="1" dirty="0"/>
              <a:t>10</a:t>
            </a:r>
            <a:r>
              <a:rPr lang="zh-CN" altLang="en-US" sz="1800" b="1" dirty="0"/>
              <a:t>页以上，不超过</a:t>
            </a:r>
            <a:r>
              <a:rPr lang="en-US" altLang="zh-CN" sz="1800" b="1" dirty="0"/>
              <a:t>20</a:t>
            </a:r>
            <a:r>
              <a:rPr lang="zh-CN" altLang="en-US" sz="1800" b="1" dirty="0"/>
              <a:t>页（包括封面、目录和参考文献）的大作业报告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pPr lvl="1">
              <a:spcBef>
                <a:spcPts val="600"/>
              </a:spcBef>
            </a:pPr>
            <a:r>
              <a:rPr lang="zh-CN" altLang="en-US" sz="1600" b="1" dirty="0">
                <a:solidFill>
                  <a:srgbClr val="C00000"/>
                </a:solidFill>
              </a:rPr>
              <a:t>第</a:t>
            </a:r>
            <a:r>
              <a:rPr lang="en-US" altLang="zh-CN" sz="1600" b="1" dirty="0">
                <a:solidFill>
                  <a:srgbClr val="C00000"/>
                </a:solidFill>
              </a:rPr>
              <a:t>15</a:t>
            </a:r>
            <a:r>
              <a:rPr lang="zh-CN" altLang="en-US" sz="1600" b="1" dirty="0">
                <a:solidFill>
                  <a:srgbClr val="C00000"/>
                </a:solidFill>
              </a:rPr>
              <a:t>周提交</a:t>
            </a:r>
            <a:endParaRPr lang="zh-CN" altLang="en-US" sz="1400" b="1" dirty="0">
              <a:solidFill>
                <a:srgbClr val="C00000"/>
              </a:solidFill>
            </a:endParaRP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63656462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2E29C9-19A2-4816-A9BB-2655E5DD0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海洋计算（</a:t>
            </a:r>
            <a:r>
              <a:rPr lang="en-US" altLang="zh-CN" dirty="0"/>
              <a:t>Ocean Computing</a:t>
            </a:r>
            <a:r>
              <a:rPr lang="zh-CN" altLang="en-US" dirty="0"/>
              <a:t>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7DCD8FF-5935-48D2-BB7D-DFCF2DFF9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012742"/>
            <a:ext cx="6166204" cy="413075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9288A95-348C-43BD-A10E-4DD55E486BC8}"/>
              </a:ext>
            </a:extLst>
          </p:cNvPr>
          <p:cNvSpPr txBox="1"/>
          <p:nvPr/>
        </p:nvSpPr>
        <p:spPr>
          <a:xfrm>
            <a:off x="3131840" y="876255"/>
            <a:ext cx="2592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时空数据挖掘方法</a:t>
            </a:r>
          </a:p>
        </p:txBody>
      </p:sp>
    </p:spTree>
    <p:extLst>
      <p:ext uri="{BB962C8B-B14F-4D97-AF65-F5344CB8AC3E}">
        <p14:creationId xmlns:p14="http://schemas.microsoft.com/office/powerpoint/2010/main" val="259358793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8310BD-0D45-45F3-9AC9-43C0DA945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海洋计算：主要研究问题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415F0A7-AB4E-41E8-987A-FE047F1B4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800450"/>
            <a:ext cx="6271035" cy="399316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8F746CC-A280-4640-8A07-5C7C293C3744}"/>
              </a:ext>
            </a:extLst>
          </p:cNvPr>
          <p:cNvSpPr txBox="1"/>
          <p:nvPr/>
        </p:nvSpPr>
        <p:spPr>
          <a:xfrm>
            <a:off x="35496" y="4773488"/>
            <a:ext cx="9036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Hanchen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Yang, Wengen Li, </a:t>
            </a: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Shuyu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Wang, Hui Li, </a:t>
            </a: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Jihong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Guan, </a:t>
            </a: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Shuigeng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Zhou, </a:t>
            </a: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Jiannong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Cao: 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Spatial-Temporal Data Mining for Ocean Science: Data, Methodologies, and Opportunities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CoRR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abs/2307.10803 (2023)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47311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9A93CF-9235-47B4-A89D-556650FB3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可用海洋数据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835497E-A364-4642-BCE6-82751A1A4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791288"/>
            <a:ext cx="6987842" cy="4228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27673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4E0CBC-0F4C-43B9-B694-DE7C4495F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城市计算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F2DB40-2CD3-4F77-801B-7604304D4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城市计算</a:t>
            </a:r>
            <a:r>
              <a:rPr lang="en-US" altLang="zh-CN" b="1" dirty="0"/>
              <a:t>(Urban Computing) </a:t>
            </a:r>
          </a:p>
          <a:p>
            <a:endParaRPr lang="zh-CN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F6AB302-D8A5-434B-B71E-5E9F3D281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275606"/>
            <a:ext cx="3312368" cy="3642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05117bca-23b1-11eb-a27c-2ae970bafb9d" descr="05117bca-23b1-11eb-a27c-2ae970bafb9d">
            <a:hlinkClick r:id="" action="ppaction://media"/>
            <a:extLst>
              <a:ext uri="{FF2B5EF4-FFF2-40B4-BE49-F238E27FC236}">
                <a16:creationId xmlns:a16="http://schemas.microsoft.com/office/drawing/2014/main" id="{16F65788-E751-4C86-A76A-9AF1C75C0C7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152577" y="1581752"/>
            <a:ext cx="4739903" cy="268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2345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3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2" repeatCount="indefinite" fill="remove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15CE9C-89F6-4C76-9871-8D944C5D9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城市计算</a:t>
            </a:r>
          </a:p>
        </p:txBody>
      </p:sp>
      <p:pic>
        <p:nvPicPr>
          <p:cNvPr id="4" name="Picture 2" descr="baidi">
            <a:extLst>
              <a:ext uri="{FF2B5EF4-FFF2-40B4-BE49-F238E27FC236}">
                <a16:creationId xmlns:a16="http://schemas.microsoft.com/office/drawing/2014/main" id="{9A8BB974-2FFD-4AFA-9C42-270DD5995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40225"/>
            <a:ext cx="9144000" cy="2884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266DCB0-C2E7-4706-ABBE-C2B561F2FA80}"/>
              </a:ext>
            </a:extLst>
          </p:cNvPr>
          <p:cNvSpPr/>
          <p:nvPr/>
        </p:nvSpPr>
        <p:spPr>
          <a:xfrm>
            <a:off x="339779" y="987574"/>
            <a:ext cx="4572000" cy="1334533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91437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altLang="zh-CN" kern="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90204"/>
                <a:sym typeface="Arial" panose="020B0604020202090204"/>
              </a:rPr>
              <a:t>[1] </a:t>
            </a:r>
            <a:r>
              <a:rPr lang="zh-CN" altLang="en-US" b="1" kern="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90204"/>
                <a:sym typeface="Arial" panose="020B0604020202090204"/>
              </a:rPr>
              <a:t>百度</a:t>
            </a:r>
            <a:r>
              <a:rPr lang="zh-CN" altLang="en-US" kern="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90204"/>
                <a:sym typeface="Arial" panose="020B0604020202090204"/>
              </a:rPr>
              <a:t>城市大脑白皮书</a:t>
            </a:r>
          </a:p>
          <a:p>
            <a:pPr defTabSz="91437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altLang="zh-CN" kern="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90204"/>
                <a:sym typeface="Arial" panose="020B0604020202090204"/>
              </a:rPr>
              <a:t>[2] </a:t>
            </a:r>
            <a:r>
              <a:rPr lang="zh-CN" altLang="en-US" b="1" kern="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90204"/>
                <a:sym typeface="Arial" panose="020B0604020202090204"/>
              </a:rPr>
              <a:t>阿里巴巴</a:t>
            </a:r>
            <a:r>
              <a:rPr lang="zh-CN" altLang="en-US" kern="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90204"/>
                <a:sym typeface="Arial" panose="020B0604020202090204"/>
              </a:rPr>
              <a:t>区块链赋能新型智慧城市白皮书</a:t>
            </a:r>
          </a:p>
          <a:p>
            <a:pPr defTabSz="91437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altLang="zh-CN" kern="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90204"/>
                <a:sym typeface="Arial" panose="020B0604020202090204"/>
              </a:rPr>
              <a:t>[3] </a:t>
            </a:r>
            <a:r>
              <a:rPr lang="zh-CN" altLang="en-US" b="1" kern="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90204"/>
                <a:sym typeface="Arial" panose="020B0604020202090204"/>
              </a:rPr>
              <a:t>京东</a:t>
            </a:r>
            <a:r>
              <a:rPr lang="zh-CN" altLang="en-US" kern="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90204"/>
                <a:sym typeface="Arial" panose="020B0604020202090204"/>
              </a:rPr>
              <a:t>云智能城市白皮书</a:t>
            </a:r>
            <a:endParaRPr lang="en-US" altLang="zh-CN" kern="0" dirty="0">
              <a:solidFill>
                <a:srgbClr val="000000"/>
              </a:solidFill>
              <a:latin typeface="宋体" panose="02010600030101010101" pitchFamily="2" charset="-122"/>
              <a:cs typeface="Arial" panose="020B0604020202090204"/>
              <a:sym typeface="Arial" panose="020B0604020202090204"/>
            </a:endParaRPr>
          </a:p>
          <a:p>
            <a:pPr defTabSz="91437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endParaRPr lang="zh-CN" altLang="en-US" kern="0" dirty="0">
              <a:solidFill>
                <a:srgbClr val="000000"/>
              </a:solidFill>
              <a:latin typeface="宋体" panose="02010600030101010101" pitchFamily="2" charset="-122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0787C5-2829-446C-B86C-FDF5BBE713A4}"/>
              </a:ext>
            </a:extLst>
          </p:cNvPr>
          <p:cNvSpPr/>
          <p:nvPr/>
        </p:nvSpPr>
        <p:spPr>
          <a:xfrm>
            <a:off x="4338917" y="987574"/>
            <a:ext cx="4572000" cy="1334533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91437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altLang="zh-CN" kern="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90204"/>
                <a:sym typeface="Arial" panose="020B0604020202090204"/>
              </a:rPr>
              <a:t>[4] </a:t>
            </a:r>
            <a:r>
              <a:rPr lang="zh-CN" altLang="en-US" kern="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90204"/>
                <a:sym typeface="Arial" panose="020B0604020202090204"/>
              </a:rPr>
              <a:t>中国智能城市发展战略与策略研究</a:t>
            </a:r>
          </a:p>
          <a:p>
            <a:pPr defTabSz="91437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altLang="zh-CN" kern="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90204"/>
                <a:sym typeface="Arial" panose="020B0604020202090204"/>
              </a:rPr>
              <a:t>[5] </a:t>
            </a:r>
            <a:r>
              <a:rPr lang="zh-CN" altLang="en-US" kern="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90204"/>
                <a:sym typeface="Arial" panose="020B0604020202090204"/>
              </a:rPr>
              <a:t>城市交通数字化转型白皮书</a:t>
            </a:r>
          </a:p>
          <a:p>
            <a:pPr defTabSz="91437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altLang="zh-CN" kern="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90204"/>
                <a:sym typeface="Arial" panose="020B0604020202090204"/>
              </a:rPr>
              <a:t>[6] </a:t>
            </a:r>
            <a:r>
              <a:rPr lang="zh-CN" altLang="en-US" b="1" kern="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90204"/>
                <a:sym typeface="Arial" panose="020B0604020202090204"/>
              </a:rPr>
              <a:t>赛迪</a:t>
            </a:r>
            <a:r>
              <a:rPr lang="zh-CN" altLang="en-US" kern="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90204"/>
                <a:sym typeface="Arial" panose="020B0604020202090204"/>
              </a:rPr>
              <a:t>白皮书：</a:t>
            </a:r>
            <a:r>
              <a:rPr lang="en-US" altLang="zh-CN" kern="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90204"/>
                <a:sym typeface="Arial" panose="020B0604020202090204"/>
              </a:rPr>
              <a:t>2020</a:t>
            </a:r>
            <a:r>
              <a:rPr lang="zh-CN" altLang="en-US" kern="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90204"/>
                <a:sym typeface="Arial" panose="020B0604020202090204"/>
              </a:rPr>
              <a:t>城市新基建布局与发展白皮书</a:t>
            </a:r>
          </a:p>
          <a:p>
            <a:pPr defTabSz="91437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endParaRPr lang="zh-CN" altLang="en-US" kern="0" dirty="0">
              <a:solidFill>
                <a:srgbClr val="000000"/>
              </a:solidFill>
              <a:latin typeface="宋体" panose="02010600030101010101" pitchFamily="2" charset="-122"/>
              <a:cs typeface="Arial" panose="020B0604020202090204"/>
              <a:sym typeface="Arial" panose="020B0604020202090204"/>
            </a:endParaRPr>
          </a:p>
        </p:txBody>
      </p:sp>
    </p:spTree>
    <p:extLst>
      <p:ext uri="{BB962C8B-B14F-4D97-AF65-F5344CB8AC3E}">
        <p14:creationId xmlns:p14="http://schemas.microsoft.com/office/powerpoint/2010/main" val="310443999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A7B72F-E021-47ED-8BE7-50AFE25DB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多源城市交通数据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977F222-E25F-4677-BA9B-769B6437DE28}"/>
              </a:ext>
            </a:extLst>
          </p:cNvPr>
          <p:cNvGrpSpPr/>
          <p:nvPr/>
        </p:nvGrpSpPr>
        <p:grpSpPr>
          <a:xfrm>
            <a:off x="3163299" y="1400226"/>
            <a:ext cx="2631712" cy="2643012"/>
            <a:chOff x="2871531" y="1690301"/>
            <a:chExt cx="3508949" cy="3524016"/>
          </a:xfrm>
        </p:grpSpPr>
        <p:sp>
          <p:nvSpPr>
            <p:cNvPr id="5" name="任意多边形 15">
              <a:extLst>
                <a:ext uri="{FF2B5EF4-FFF2-40B4-BE49-F238E27FC236}">
                  <a16:creationId xmlns:a16="http://schemas.microsoft.com/office/drawing/2014/main" id="{48310261-BDE3-4FFE-ABED-AF809E848A95}"/>
                </a:ext>
              </a:extLst>
            </p:cNvPr>
            <p:cNvSpPr/>
            <p:nvPr/>
          </p:nvSpPr>
          <p:spPr>
            <a:xfrm>
              <a:off x="2871531" y="1690301"/>
              <a:ext cx="1714870" cy="1714870"/>
            </a:xfrm>
            <a:custGeom>
              <a:avLst/>
              <a:gdLst>
                <a:gd name="connsiteX0" fmla="*/ 0 w 1714870"/>
                <a:gd name="connsiteY0" fmla="*/ 1714870 h 1714870"/>
                <a:gd name="connsiteX1" fmla="*/ 1714870 w 1714870"/>
                <a:gd name="connsiteY1" fmla="*/ 0 h 1714870"/>
                <a:gd name="connsiteX2" fmla="*/ 1714870 w 1714870"/>
                <a:gd name="connsiteY2" fmla="*/ 1714870 h 1714870"/>
                <a:gd name="connsiteX3" fmla="*/ 0 w 1714870"/>
                <a:gd name="connsiteY3" fmla="*/ 1714870 h 1714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870" h="1714870">
                  <a:moveTo>
                    <a:pt x="0" y="1714870"/>
                  </a:moveTo>
                  <a:cubicBezTo>
                    <a:pt x="0" y="767773"/>
                    <a:pt x="767773" y="0"/>
                    <a:pt x="1714870" y="0"/>
                  </a:cubicBezTo>
                  <a:lnTo>
                    <a:pt x="1714870" y="1714870"/>
                  </a:lnTo>
                  <a:lnTo>
                    <a:pt x="0" y="171487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5">
                <a:hueOff val="0"/>
                <a:satOff val="0"/>
                <a:lumOff val="0"/>
                <a:alphaOff val="0"/>
              </a:schemeClr>
            </a:fillRef>
            <a:effectRef idx="1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472718" tIns="472718" rIns="96012" bIns="96012" numCol="1" spcCol="1270" anchor="ctr" anchorCtr="0">
              <a:noAutofit/>
            </a:bodyPr>
            <a:lstStyle/>
            <a:p>
              <a:pPr marL="0" marR="0" lvl="0" indent="0" algn="ctr" defTabSz="600075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zh-CN" altLang="en-US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交通基础数据</a:t>
              </a:r>
              <a:r>
                <a:rPr kumimoji="0" lang="en-US" altLang="en-US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Basic Data</a:t>
              </a:r>
            </a:p>
          </p:txBody>
        </p:sp>
        <p:sp>
          <p:nvSpPr>
            <p:cNvPr id="6" name="任意多边形 16">
              <a:extLst>
                <a:ext uri="{FF2B5EF4-FFF2-40B4-BE49-F238E27FC236}">
                  <a16:creationId xmlns:a16="http://schemas.microsoft.com/office/drawing/2014/main" id="{7AACF0FF-635D-4DE4-A1E1-FE29490DF84A}"/>
                </a:ext>
              </a:extLst>
            </p:cNvPr>
            <p:cNvSpPr/>
            <p:nvPr/>
          </p:nvSpPr>
          <p:spPr>
            <a:xfrm>
              <a:off x="4665610" y="1690301"/>
              <a:ext cx="1714870" cy="1714870"/>
            </a:xfrm>
            <a:custGeom>
              <a:avLst/>
              <a:gdLst>
                <a:gd name="connsiteX0" fmla="*/ 0 w 1714870"/>
                <a:gd name="connsiteY0" fmla="*/ 1714870 h 1714870"/>
                <a:gd name="connsiteX1" fmla="*/ 1714870 w 1714870"/>
                <a:gd name="connsiteY1" fmla="*/ 0 h 1714870"/>
                <a:gd name="connsiteX2" fmla="*/ 1714870 w 1714870"/>
                <a:gd name="connsiteY2" fmla="*/ 1714870 h 1714870"/>
                <a:gd name="connsiteX3" fmla="*/ 0 w 1714870"/>
                <a:gd name="connsiteY3" fmla="*/ 1714870 h 1714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870" h="1714870">
                  <a:moveTo>
                    <a:pt x="0" y="0"/>
                  </a:moveTo>
                  <a:cubicBezTo>
                    <a:pt x="947097" y="0"/>
                    <a:pt x="1714870" y="767773"/>
                    <a:pt x="1714870" y="1714870"/>
                  </a:cubicBezTo>
                  <a:lnTo>
                    <a:pt x="0" y="1714870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5">
                <a:hueOff val="-7067804"/>
                <a:satOff val="11885"/>
                <a:lumOff val="5752"/>
                <a:alphaOff val="0"/>
              </a:schemeClr>
            </a:fillRef>
            <a:effectRef idx="1">
              <a:schemeClr val="accent5">
                <a:hueOff val="-7067804"/>
                <a:satOff val="11885"/>
                <a:lumOff val="5752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96012" tIns="472718" rIns="472718" bIns="96012" numCol="1" spcCol="1270" anchor="ctr" anchorCtr="0">
              <a:noAutofit/>
            </a:bodyPr>
            <a:lstStyle/>
            <a:p>
              <a:pPr marL="0" marR="0" lvl="0" indent="0" algn="ctr" defTabSz="600075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zh-CN" altLang="en-US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动态运行数据</a:t>
              </a:r>
              <a:r>
                <a:rPr kumimoji="0" lang="en-US" altLang="en-US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Dynamic Data</a:t>
              </a:r>
            </a:p>
          </p:txBody>
        </p:sp>
        <p:sp>
          <p:nvSpPr>
            <p:cNvPr id="7" name="任意多边形 20">
              <a:extLst>
                <a:ext uri="{FF2B5EF4-FFF2-40B4-BE49-F238E27FC236}">
                  <a16:creationId xmlns:a16="http://schemas.microsoft.com/office/drawing/2014/main" id="{C13E1B0C-761A-4FC9-81DB-1BB2220A8C0D}"/>
                </a:ext>
              </a:extLst>
            </p:cNvPr>
            <p:cNvSpPr/>
            <p:nvPr/>
          </p:nvSpPr>
          <p:spPr>
            <a:xfrm>
              <a:off x="4665610" y="3499446"/>
              <a:ext cx="1714870" cy="1714871"/>
            </a:xfrm>
            <a:custGeom>
              <a:avLst/>
              <a:gdLst>
                <a:gd name="connsiteX0" fmla="*/ 0 w 1714870"/>
                <a:gd name="connsiteY0" fmla="*/ 1714870 h 1714870"/>
                <a:gd name="connsiteX1" fmla="*/ 1714870 w 1714870"/>
                <a:gd name="connsiteY1" fmla="*/ 0 h 1714870"/>
                <a:gd name="connsiteX2" fmla="*/ 1714870 w 1714870"/>
                <a:gd name="connsiteY2" fmla="*/ 1714870 h 1714870"/>
                <a:gd name="connsiteX3" fmla="*/ 0 w 1714870"/>
                <a:gd name="connsiteY3" fmla="*/ 1714870 h 1714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870" h="1714870">
                  <a:moveTo>
                    <a:pt x="1714870" y="0"/>
                  </a:moveTo>
                  <a:cubicBezTo>
                    <a:pt x="1714870" y="947097"/>
                    <a:pt x="947097" y="1714870"/>
                    <a:pt x="0" y="1714870"/>
                  </a:cubicBezTo>
                  <a:lnTo>
                    <a:pt x="0" y="0"/>
                  </a:lnTo>
                  <a:lnTo>
                    <a:pt x="171487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5">
                <a:hueOff val="-14135609"/>
                <a:satOff val="23771"/>
                <a:lumOff val="11503"/>
                <a:alphaOff val="0"/>
              </a:schemeClr>
            </a:fillRef>
            <a:effectRef idx="1">
              <a:schemeClr val="accent5">
                <a:hueOff val="-14135609"/>
                <a:satOff val="23771"/>
                <a:lumOff val="11503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96012" tIns="96013" rIns="472717" bIns="472718" numCol="1" spcCol="1270" anchor="ctr" anchorCtr="0">
              <a:noAutofit/>
            </a:bodyPr>
            <a:lstStyle/>
            <a:p>
              <a:pPr marL="0" marR="0" lvl="0" indent="0" algn="ctr" defTabSz="600075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zh-CN" altLang="en-US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交通调查数据</a:t>
              </a:r>
              <a:r>
                <a:rPr kumimoji="0" lang="en-US" altLang="en-US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Census Data</a:t>
              </a:r>
            </a:p>
          </p:txBody>
        </p:sp>
        <p:sp>
          <p:nvSpPr>
            <p:cNvPr id="8" name="任意多边形 23">
              <a:extLst>
                <a:ext uri="{FF2B5EF4-FFF2-40B4-BE49-F238E27FC236}">
                  <a16:creationId xmlns:a16="http://schemas.microsoft.com/office/drawing/2014/main" id="{D36CB4E7-9302-4528-93D0-DFD493A47A91}"/>
                </a:ext>
              </a:extLst>
            </p:cNvPr>
            <p:cNvSpPr/>
            <p:nvPr/>
          </p:nvSpPr>
          <p:spPr>
            <a:xfrm>
              <a:off x="2871531" y="3484380"/>
              <a:ext cx="1714870" cy="1714870"/>
            </a:xfrm>
            <a:custGeom>
              <a:avLst/>
              <a:gdLst>
                <a:gd name="connsiteX0" fmla="*/ 0 w 1714870"/>
                <a:gd name="connsiteY0" fmla="*/ 1714870 h 1714870"/>
                <a:gd name="connsiteX1" fmla="*/ 1714870 w 1714870"/>
                <a:gd name="connsiteY1" fmla="*/ 0 h 1714870"/>
                <a:gd name="connsiteX2" fmla="*/ 1714870 w 1714870"/>
                <a:gd name="connsiteY2" fmla="*/ 1714870 h 1714870"/>
                <a:gd name="connsiteX3" fmla="*/ 0 w 1714870"/>
                <a:gd name="connsiteY3" fmla="*/ 1714870 h 1714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870" h="1714870">
                  <a:moveTo>
                    <a:pt x="1714870" y="1714870"/>
                  </a:moveTo>
                  <a:cubicBezTo>
                    <a:pt x="767773" y="1714870"/>
                    <a:pt x="0" y="947097"/>
                    <a:pt x="0" y="0"/>
                  </a:cubicBezTo>
                  <a:lnTo>
                    <a:pt x="1714870" y="0"/>
                  </a:lnTo>
                  <a:lnTo>
                    <a:pt x="1714870" y="171487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5">
                    <a:hueOff val="3257024"/>
                    <a:satOff val="11196"/>
                    <a:lumOff val="-53726"/>
                    <a:alphaOff val="0"/>
                    <a:tint val="50000"/>
                    <a:satMod val="300000"/>
                  </a:schemeClr>
                </a:gs>
                <a:gs pos="35000">
                  <a:schemeClr val="accent5">
                    <a:hueOff val="3257024"/>
                    <a:satOff val="11196"/>
                    <a:lumOff val="-53726"/>
                    <a:alphaOff val="0"/>
                    <a:tint val="37000"/>
                    <a:satMod val="300000"/>
                  </a:schemeClr>
                </a:gs>
                <a:gs pos="3325">
                  <a:srgbClr val="AEAEE2"/>
                </a:gs>
                <a:gs pos="100000">
                  <a:schemeClr val="accent5">
                    <a:hueOff val="3257024"/>
                    <a:satOff val="11196"/>
                    <a:lumOff val="-53726"/>
                    <a:alphaOff val="0"/>
                    <a:tint val="15000"/>
                    <a:satMod val="350000"/>
                  </a:schemeClr>
                </a:gs>
              </a:gsLst>
            </a:gra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rgbClr r="0" g="0" b="0"/>
            </a:fillRef>
            <a:effectRef idx="1">
              <a:schemeClr val="accent5">
                <a:hueOff val="-21203412"/>
                <a:satOff val="35656"/>
                <a:lumOff val="17255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472718" tIns="96012" rIns="96012" bIns="472718" numCol="1" spcCol="1270" anchor="ctr" anchorCtr="0">
              <a:noAutofit/>
            </a:bodyPr>
            <a:lstStyle/>
            <a:p>
              <a:pPr marL="0" marR="0" lvl="0" indent="0" algn="ctr" defTabSz="600075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zh-CN" altLang="en-US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城市活动数据</a:t>
              </a:r>
              <a:r>
                <a:rPr kumimoji="0" lang="en-US" altLang="en-US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Context Data</a:t>
              </a:r>
            </a:p>
          </p:txBody>
        </p:sp>
        <p:sp>
          <p:nvSpPr>
            <p:cNvPr id="9" name="环形箭头 25">
              <a:extLst>
                <a:ext uri="{FF2B5EF4-FFF2-40B4-BE49-F238E27FC236}">
                  <a16:creationId xmlns:a16="http://schemas.microsoft.com/office/drawing/2014/main" id="{911E2002-F83D-4D10-8194-BC3BBC29342A}"/>
                </a:ext>
              </a:extLst>
            </p:cNvPr>
            <p:cNvSpPr/>
            <p:nvPr/>
          </p:nvSpPr>
          <p:spPr>
            <a:xfrm>
              <a:off x="4338023" y="3133312"/>
              <a:ext cx="592085" cy="514857"/>
            </a:xfrm>
            <a:prstGeom prst="circularArrow">
              <a:avLst/>
            </a:pr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1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5">
                <a:tint val="4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5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环形箭头 26">
              <a:extLst>
                <a:ext uri="{FF2B5EF4-FFF2-40B4-BE49-F238E27FC236}">
                  <a16:creationId xmlns:a16="http://schemas.microsoft.com/office/drawing/2014/main" id="{61A20AE8-4BE2-4EE7-83E7-350023DAC237}"/>
                </a:ext>
              </a:extLst>
            </p:cNvPr>
            <p:cNvSpPr/>
            <p:nvPr/>
          </p:nvSpPr>
          <p:spPr>
            <a:xfrm rot="10800000">
              <a:off x="4343307" y="3231529"/>
              <a:ext cx="592085" cy="514857"/>
            </a:xfrm>
            <a:prstGeom prst="circularArrow">
              <a:avLst/>
            </a:pr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1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5">
                <a:tint val="4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5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3F50AB88-B6DD-4CF7-973B-3AB59341F2A6}"/>
              </a:ext>
            </a:extLst>
          </p:cNvPr>
          <p:cNvGrpSpPr/>
          <p:nvPr/>
        </p:nvGrpSpPr>
        <p:grpSpPr>
          <a:xfrm>
            <a:off x="1500513" y="930702"/>
            <a:ext cx="2501675" cy="971333"/>
            <a:chOff x="86894" y="1044256"/>
            <a:chExt cx="3335567" cy="1295110"/>
          </a:xfrm>
        </p:grpSpPr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69E75A1E-8311-48BD-B66B-92F4176A07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998" y="1044256"/>
              <a:ext cx="1192308" cy="713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3">
              <a:extLst>
                <a:ext uri="{FF2B5EF4-FFF2-40B4-BE49-F238E27FC236}">
                  <a16:creationId xmlns:a16="http://schemas.microsoft.com/office/drawing/2014/main" id="{D4DD42F0-043B-4BE2-A5A6-DF0A3A22A3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2993" y="1047645"/>
              <a:ext cx="1288971" cy="7335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3EF1ECD-7152-400C-8BF1-0BA97C385B2D}"/>
                </a:ext>
              </a:extLst>
            </p:cNvPr>
            <p:cNvSpPr/>
            <p:nvPr/>
          </p:nvSpPr>
          <p:spPr>
            <a:xfrm>
              <a:off x="86894" y="1822302"/>
              <a:ext cx="3240359" cy="517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-简" panose="00000500000000000000" pitchFamily="2" charset="-122"/>
                  <a:ea typeface="黑体-简" panose="00000500000000000000" pitchFamily="2" charset="-122"/>
                  <a:cs typeface="+mn-cs"/>
                </a:rPr>
                <a:t>基础设施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-简" panose="00000500000000000000" pitchFamily="2" charset="-122"/>
                <a:ea typeface="黑体-简" panose="00000500000000000000" pitchFamily="2" charset="-122"/>
                <a:cs typeface="+mn-cs"/>
              </a:endParaRPr>
            </a:p>
            <a:p>
              <a:pPr marL="0" marR="0" lvl="0" indent="0" algn="ctr" defTabSz="6858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-简" panose="00000500000000000000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Infrastructure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5" name="Picture 11">
              <a:extLst>
                <a:ext uri="{FF2B5EF4-FFF2-40B4-BE49-F238E27FC236}">
                  <a16:creationId xmlns:a16="http://schemas.microsoft.com/office/drawing/2014/main" id="{3E54A5C6-0132-49F2-B336-D86AF48E3C9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51" r="13581"/>
            <a:stretch/>
          </p:blipFill>
          <p:spPr bwMode="auto">
            <a:xfrm>
              <a:off x="2593988" y="1085877"/>
              <a:ext cx="828473" cy="769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99FFFBF-400A-473C-A5FD-A5E9BF7CC1A6}"/>
              </a:ext>
            </a:extLst>
          </p:cNvPr>
          <p:cNvGrpSpPr/>
          <p:nvPr/>
        </p:nvGrpSpPr>
        <p:grpSpPr>
          <a:xfrm>
            <a:off x="1133889" y="1900509"/>
            <a:ext cx="2056769" cy="991521"/>
            <a:chOff x="185997" y="2526558"/>
            <a:chExt cx="2742358" cy="1322028"/>
          </a:xfrm>
        </p:grpSpPr>
        <p:pic>
          <p:nvPicPr>
            <p:cNvPr id="17" name="Picture 9">
              <a:extLst>
                <a:ext uri="{FF2B5EF4-FFF2-40B4-BE49-F238E27FC236}">
                  <a16:creationId xmlns:a16="http://schemas.microsoft.com/office/drawing/2014/main" id="{A690B708-470F-4B2C-8F4F-5ED5A4BEA5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997" y="2526558"/>
              <a:ext cx="951497" cy="656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78D29F5C-5ACB-46F6-846E-398CAC4082D2}"/>
                </a:ext>
              </a:extLst>
            </p:cNvPr>
            <p:cNvSpPr/>
            <p:nvPr/>
          </p:nvSpPr>
          <p:spPr>
            <a:xfrm>
              <a:off x="320514" y="3233033"/>
              <a:ext cx="2607841" cy="6155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-简" panose="00000500000000000000" pitchFamily="2" charset="-122"/>
                  <a:ea typeface="黑体-简" panose="00000500000000000000" pitchFamily="2" charset="-122"/>
                  <a:cs typeface="+mn-cs"/>
                </a:rPr>
                <a:t>车辆和人员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-简" panose="00000500000000000000" pitchFamily="2" charset="-122"/>
                <a:ea typeface="黑体-简" panose="00000500000000000000" pitchFamily="2" charset="-122"/>
                <a:cs typeface="+mn-cs"/>
              </a:endParaRPr>
            </a:p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Vehicles and Employees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9" name="Picture 10">
              <a:extLst>
                <a:ext uri="{FF2B5EF4-FFF2-40B4-BE49-F238E27FC236}">
                  <a16:creationId xmlns:a16="http://schemas.microsoft.com/office/drawing/2014/main" id="{835B349B-F3FC-4665-99A2-E21B80C67C8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310"/>
            <a:stretch/>
          </p:blipFill>
          <p:spPr bwMode="auto">
            <a:xfrm>
              <a:off x="1137494" y="2556064"/>
              <a:ext cx="916952" cy="656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13">
              <a:extLst>
                <a:ext uri="{FF2B5EF4-FFF2-40B4-BE49-F238E27FC236}">
                  <a16:creationId xmlns:a16="http://schemas.microsoft.com/office/drawing/2014/main" id="{5ADE8914-8393-48A9-83F9-2C8C612A2F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4446" y="2556064"/>
              <a:ext cx="871269" cy="685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B48D7023-1B8D-453D-9F75-F3B53301A782}"/>
              </a:ext>
            </a:extLst>
          </p:cNvPr>
          <p:cNvGrpSpPr/>
          <p:nvPr/>
        </p:nvGrpSpPr>
        <p:grpSpPr>
          <a:xfrm>
            <a:off x="5854417" y="2024900"/>
            <a:ext cx="2060138" cy="1060183"/>
            <a:chOff x="6204091" y="1787687"/>
            <a:chExt cx="2317084" cy="1413577"/>
          </a:xfrm>
        </p:grpSpPr>
        <p:pic>
          <p:nvPicPr>
            <p:cNvPr id="22" name="Picture 5">
              <a:extLst>
                <a:ext uri="{FF2B5EF4-FFF2-40B4-BE49-F238E27FC236}">
                  <a16:creationId xmlns:a16="http://schemas.microsoft.com/office/drawing/2014/main" id="{25385E51-0F79-4D54-B7A8-D22E6E56D2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87868" y="1787687"/>
              <a:ext cx="1139673" cy="7580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" name="Picture 6">
              <a:extLst>
                <a:ext uri="{FF2B5EF4-FFF2-40B4-BE49-F238E27FC236}">
                  <a16:creationId xmlns:a16="http://schemas.microsoft.com/office/drawing/2014/main" id="{1F7CABFF-FD26-4980-B0F8-FBD8234918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0303" y="1812472"/>
              <a:ext cx="1000130" cy="7538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" name="矩形 16">
              <a:extLst>
                <a:ext uri="{FF2B5EF4-FFF2-40B4-BE49-F238E27FC236}">
                  <a16:creationId xmlns:a16="http://schemas.microsoft.com/office/drawing/2014/main" id="{B871528E-E00E-4BDF-8285-48EEFE35D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4091" y="2585711"/>
              <a:ext cx="2317084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marL="0" marR="0" lvl="0" indent="0" algn="ctr" defTabSz="6858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-简" panose="00000500000000000000" pitchFamily="2" charset="-122"/>
                  <a:ea typeface="黑体-简" panose="00000500000000000000" pitchFamily="2" charset="-122"/>
                  <a:cs typeface="+mn-cs"/>
                </a:rPr>
                <a:t>交通行为数据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-简" panose="00000500000000000000" pitchFamily="2" charset="-122"/>
                <a:ea typeface="黑体-简" panose="00000500000000000000" pitchFamily="2" charset="-122"/>
                <a:cs typeface="+mn-cs"/>
              </a:endParaRPr>
            </a:p>
            <a:p>
              <a:pPr marL="0" marR="0" lvl="0" indent="0" algn="ctr" defTabSz="6858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Behavior Data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E45F17BA-F55B-456B-B2BC-F2F31DE80112}"/>
              </a:ext>
            </a:extLst>
          </p:cNvPr>
          <p:cNvGrpSpPr/>
          <p:nvPr/>
        </p:nvGrpSpPr>
        <p:grpSpPr>
          <a:xfrm>
            <a:off x="4975507" y="915566"/>
            <a:ext cx="2447749" cy="1136849"/>
            <a:chOff x="4904137" y="164502"/>
            <a:chExt cx="3263665" cy="1515798"/>
          </a:xfrm>
        </p:grpSpPr>
        <p:pic>
          <p:nvPicPr>
            <p:cNvPr id="26" name="Picture 2" descr="http://t3.baidu.com/it/u=3275248327,1018003636&amp;fm=11&amp;gp=0.jpg">
              <a:extLst>
                <a:ext uri="{FF2B5EF4-FFF2-40B4-BE49-F238E27FC236}">
                  <a16:creationId xmlns:a16="http://schemas.microsoft.com/office/drawing/2014/main" id="{3F0ACAA0-CB62-468D-A707-5CA8A9941F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4138" y="188497"/>
              <a:ext cx="1074245" cy="814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" name="矩形 16">
              <a:extLst>
                <a:ext uri="{FF2B5EF4-FFF2-40B4-BE49-F238E27FC236}">
                  <a16:creationId xmlns:a16="http://schemas.microsoft.com/office/drawing/2014/main" id="{1962BB47-82AD-4C6D-9F6C-2E8B455FE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4137" y="1064747"/>
              <a:ext cx="3263665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marL="0" marR="0" lvl="0" indent="0" algn="ctr" defTabSz="6858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-简" panose="00000500000000000000" pitchFamily="2" charset="-122"/>
                  <a:ea typeface="黑体-简" panose="00000500000000000000" pitchFamily="2" charset="-122"/>
                  <a:cs typeface="+mn-cs"/>
                </a:rPr>
                <a:t>交通检测数据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-简" panose="00000500000000000000" pitchFamily="2" charset="-122"/>
                <a:ea typeface="黑体-简" panose="00000500000000000000" pitchFamily="2" charset="-122"/>
                <a:cs typeface="+mn-cs"/>
              </a:endParaRPr>
            </a:p>
            <a:p>
              <a:pPr marL="0" marR="0" lvl="0" indent="0" algn="ctr" defTabSz="6858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Detection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 Devices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28" name="Picture 4">
              <a:extLst>
                <a:ext uri="{FF2B5EF4-FFF2-40B4-BE49-F238E27FC236}">
                  <a16:creationId xmlns:a16="http://schemas.microsoft.com/office/drawing/2014/main" id="{9ADFAC87-A0F5-4F54-AFED-52B0132373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6321" y="215435"/>
              <a:ext cx="1050155" cy="787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" name="Picture 7">
              <a:extLst>
                <a:ext uri="{FF2B5EF4-FFF2-40B4-BE49-F238E27FC236}">
                  <a16:creationId xmlns:a16="http://schemas.microsoft.com/office/drawing/2014/main" id="{21C57471-13F4-4693-AD6B-20D0A87764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6475" y="164502"/>
              <a:ext cx="1111327" cy="833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625F3B6E-5B66-4DDB-A1F5-522CB40E18CE}"/>
              </a:ext>
            </a:extLst>
          </p:cNvPr>
          <p:cNvGrpSpPr/>
          <p:nvPr/>
        </p:nvGrpSpPr>
        <p:grpSpPr>
          <a:xfrm>
            <a:off x="1072326" y="3028286"/>
            <a:ext cx="2448223" cy="1120023"/>
            <a:chOff x="16365" y="4083960"/>
            <a:chExt cx="3264297" cy="1493364"/>
          </a:xfrm>
        </p:grpSpPr>
        <p:pic>
          <p:nvPicPr>
            <p:cNvPr id="31" name="Picture 4">
              <a:extLst>
                <a:ext uri="{FF2B5EF4-FFF2-40B4-BE49-F238E27FC236}">
                  <a16:creationId xmlns:a16="http://schemas.microsoft.com/office/drawing/2014/main" id="{A1FD0C4A-22AA-4157-82D4-420A54421A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1289" y="4083960"/>
              <a:ext cx="866044" cy="866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" name="Picture 3">
              <a:extLst>
                <a:ext uri="{FF2B5EF4-FFF2-40B4-BE49-F238E27FC236}">
                  <a16:creationId xmlns:a16="http://schemas.microsoft.com/office/drawing/2014/main" id="{22D2ADAD-DC73-4DCF-92A9-B1493B6A3C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997" y="4117195"/>
              <a:ext cx="1946705" cy="7487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" name="矩形 16">
              <a:extLst>
                <a:ext uri="{FF2B5EF4-FFF2-40B4-BE49-F238E27FC236}">
                  <a16:creationId xmlns:a16="http://schemas.microsoft.com/office/drawing/2014/main" id="{72E59E77-5B3B-4B2E-9E9C-73CFCB157A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65" y="4961771"/>
              <a:ext cx="3264297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marL="0" marR="0" lvl="0" indent="0" algn="ctr" defTabSz="6858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-简" panose="00000500000000000000" pitchFamily="2" charset="-122"/>
                  <a:ea typeface="黑体-简" panose="00000500000000000000" pitchFamily="2" charset="-122"/>
                  <a:cs typeface="+mn-cs"/>
                </a:rPr>
                <a:t>人口、土地、经济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-简" panose="00000500000000000000" pitchFamily="2" charset="-122"/>
                <a:ea typeface="黑体-简" panose="00000500000000000000" pitchFamily="2" charset="-122"/>
                <a:cs typeface="+mn-cs"/>
              </a:endParaRPr>
            </a:p>
            <a:p>
              <a:pPr marL="0" marR="0" lvl="0" indent="0" algn="ctr" defTabSz="6858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Population, Land, 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E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conomics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9E1CF37F-9DD7-4BE3-A486-80A669B99B9A}"/>
              </a:ext>
            </a:extLst>
          </p:cNvPr>
          <p:cNvGrpSpPr/>
          <p:nvPr/>
        </p:nvGrpSpPr>
        <p:grpSpPr>
          <a:xfrm>
            <a:off x="675091" y="4179542"/>
            <a:ext cx="3608877" cy="592368"/>
            <a:chOff x="-532036" y="5326715"/>
            <a:chExt cx="4811837" cy="813982"/>
          </a:xfrm>
        </p:grpSpPr>
        <p:pic>
          <p:nvPicPr>
            <p:cNvPr id="35" name="Picture 1">
              <a:extLst>
                <a:ext uri="{FF2B5EF4-FFF2-40B4-BE49-F238E27FC236}">
                  <a16:creationId xmlns:a16="http://schemas.microsoft.com/office/drawing/2014/main" id="{88FEA676-B863-4581-A7CA-C3FBB82688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1050" y="5352327"/>
              <a:ext cx="859518" cy="730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" name="Picture 5">
              <a:extLst>
                <a:ext uri="{FF2B5EF4-FFF2-40B4-BE49-F238E27FC236}">
                  <a16:creationId xmlns:a16="http://schemas.microsoft.com/office/drawing/2014/main" id="{3476B379-D8A7-44FC-B4B5-57B125ED05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2477" y="5352327"/>
              <a:ext cx="1108556" cy="743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" name="Picture 7">
              <a:extLst>
                <a:ext uri="{FF2B5EF4-FFF2-40B4-BE49-F238E27FC236}">
                  <a16:creationId xmlns:a16="http://schemas.microsoft.com/office/drawing/2014/main" id="{5144FC15-F4DF-45A6-8728-8959863730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1660" y="5326715"/>
              <a:ext cx="628141" cy="769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" name="矩形 16">
              <a:extLst>
                <a:ext uri="{FF2B5EF4-FFF2-40B4-BE49-F238E27FC236}">
                  <a16:creationId xmlns:a16="http://schemas.microsoft.com/office/drawing/2014/main" id="{DC87C5A1-693A-4C66-A4AF-6825208B57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532036" y="5506317"/>
              <a:ext cx="2993495" cy="634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marL="0" marR="0" lvl="0" indent="0" algn="ctr" defTabSz="6858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-简" panose="00000500000000000000" pitchFamily="2" charset="-122"/>
                  <a:ea typeface="黑体-简" panose="00000500000000000000" pitchFamily="2" charset="-122"/>
                  <a:cs typeface="+mn-cs"/>
                </a:rPr>
                <a:t>气象、环境等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-简" panose="00000500000000000000" pitchFamily="2" charset="-122"/>
                <a:ea typeface="黑体-简" panose="00000500000000000000" pitchFamily="2" charset="-122"/>
                <a:cs typeface="+mn-cs"/>
              </a:endParaRPr>
            </a:p>
            <a:p>
              <a:pPr marL="0" marR="0" lvl="0" indent="0" algn="ctr" defTabSz="6858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Weather, Activities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CF8BD8D-9FA8-4F17-999F-44749181D5F1}"/>
              </a:ext>
            </a:extLst>
          </p:cNvPr>
          <p:cNvGrpSpPr/>
          <p:nvPr/>
        </p:nvGrpSpPr>
        <p:grpSpPr>
          <a:xfrm>
            <a:off x="4485200" y="3106527"/>
            <a:ext cx="3166185" cy="1721089"/>
            <a:chOff x="4874365" y="3573147"/>
            <a:chExt cx="4221580" cy="2294785"/>
          </a:xfrm>
        </p:grpSpPr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903287E8-7A45-4ABA-B8B3-F379CBACE5E9}"/>
                </a:ext>
              </a:extLst>
            </p:cNvPr>
            <p:cNvGrpSpPr/>
            <p:nvPr/>
          </p:nvGrpSpPr>
          <p:grpSpPr>
            <a:xfrm>
              <a:off x="6071609" y="3573147"/>
              <a:ext cx="3024336" cy="1788514"/>
              <a:chOff x="6084168" y="3645024"/>
              <a:chExt cx="3024336" cy="1788514"/>
            </a:xfrm>
          </p:grpSpPr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0017B8FB-5A6E-49B6-8363-EB2F3B9665C2}"/>
                  </a:ext>
                </a:extLst>
              </p:cNvPr>
              <p:cNvGrpSpPr/>
              <p:nvPr/>
            </p:nvGrpSpPr>
            <p:grpSpPr>
              <a:xfrm>
                <a:off x="6084168" y="3645024"/>
                <a:ext cx="3024336" cy="1788514"/>
                <a:chOff x="6084168" y="3645024"/>
                <a:chExt cx="3024336" cy="1788514"/>
              </a:xfrm>
            </p:grpSpPr>
            <p:pic>
              <p:nvPicPr>
                <p:cNvPr id="45" name="Picture 8">
                  <a:extLst>
                    <a:ext uri="{FF2B5EF4-FFF2-40B4-BE49-F238E27FC236}">
                      <a16:creationId xmlns:a16="http://schemas.microsoft.com/office/drawing/2014/main" id="{0FE7333C-75DD-4758-BEA4-181030C5F63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495471" y="3645024"/>
                  <a:ext cx="1544938" cy="11587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6" name="矩形 16">
                  <a:extLst>
                    <a:ext uri="{FF2B5EF4-FFF2-40B4-BE49-F238E27FC236}">
                      <a16:creationId xmlns:a16="http://schemas.microsoft.com/office/drawing/2014/main" id="{59E12DE7-5CCC-4975-AF7F-9218B9A2FA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84168" y="4817984"/>
                  <a:ext cx="3024336" cy="6155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marL="0" marR="0" lvl="0" indent="0" algn="ctr" defTabSz="685800" rtl="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charset="0"/>
                    <a:buNone/>
                    <a:tabLst/>
                    <a:defRPr/>
                  </a:pPr>
                  <a:r>
                    <a:rPr kumimoji="0" lang="zh-CN" altLang="en-US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黑体-简" panose="00000500000000000000" pitchFamily="2" charset="-122"/>
                      <a:ea typeface="黑体-简" panose="00000500000000000000" pitchFamily="2" charset="-122"/>
                      <a:cs typeface="+mn-cs"/>
                    </a:rPr>
                    <a:t>综合交通调查</a:t>
                  </a:r>
                  <a:endParaRPr kumimoji="0" lang="en-US" altLang="zh-CN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-简" panose="00000500000000000000" pitchFamily="2" charset="-122"/>
                    <a:ea typeface="黑体-简" panose="00000500000000000000" pitchFamily="2" charset="-122"/>
                    <a:cs typeface="+mn-cs"/>
                  </a:endParaRPr>
                </a:p>
                <a:p>
                  <a:pPr marL="0" marR="0" lvl="0" indent="0" algn="ctr" defTabSz="685800" rtl="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charset="0"/>
                    <a:buNone/>
                    <a:tabLst/>
                    <a:defRPr/>
                  </a:pPr>
                  <a:r>
                    <a:rPr kumimoji="0" lang="en-US" altLang="zh-CN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/>
                      <a:cs typeface="Times New Roman" panose="02020603050405020304" pitchFamily="18" charset="0"/>
                    </a:rPr>
                    <a:t>Comprehensive Census</a:t>
                  </a:r>
                  <a:endPara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pic>
            <p:nvPicPr>
              <p:cNvPr id="44" name="Picture 2">
                <a:extLst>
                  <a:ext uri="{FF2B5EF4-FFF2-40B4-BE49-F238E27FC236}">
                    <a16:creationId xmlns:a16="http://schemas.microsoft.com/office/drawing/2014/main" id="{59C880D5-690C-462F-BC90-023FC73A5A9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040409" y="3649846"/>
                <a:ext cx="854609" cy="11395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1" name="矩形 16">
              <a:extLst>
                <a:ext uri="{FF2B5EF4-FFF2-40B4-BE49-F238E27FC236}">
                  <a16:creationId xmlns:a16="http://schemas.microsoft.com/office/drawing/2014/main" id="{EC707C9D-DD47-4313-8FCB-27D3B7B468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4365" y="5498600"/>
              <a:ext cx="35288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Transportation Economic Census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2" name="Picture 2">
              <a:extLst>
                <a:ext uri="{FF2B5EF4-FFF2-40B4-BE49-F238E27FC236}">
                  <a16:creationId xmlns:a16="http://schemas.microsoft.com/office/drawing/2014/main" id="{D38E78B1-3AE3-48E2-AF0A-5CF28DDEAC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10969" y="4864985"/>
              <a:ext cx="1212628" cy="8054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9841014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DECFD6-A834-4DC8-8774-BF6710453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城市计算应用场景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5040149-76A5-4CBE-A9FD-AEBD49A27E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345" b="10797"/>
          <a:stretch/>
        </p:blipFill>
        <p:spPr>
          <a:xfrm>
            <a:off x="108837" y="1590936"/>
            <a:ext cx="2654058" cy="238314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32719F5-6309-4059-BD1F-3BD01E512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510" y="861353"/>
            <a:ext cx="1739901" cy="173990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37208CB-D938-4328-8F4D-49CFE2BF3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5926" y="855457"/>
            <a:ext cx="1739900" cy="17335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16C95C9-DF20-4FAA-9A99-ADE41AA5FE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4470" y="3043242"/>
            <a:ext cx="1623961" cy="164277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C315BEB-F22A-429E-B600-829C39A59C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9780" y="3060827"/>
            <a:ext cx="1623961" cy="168150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11E3194-E8D5-41B9-B133-A4314EF65361}"/>
              </a:ext>
            </a:extLst>
          </p:cNvPr>
          <p:cNvSpPr txBox="1"/>
          <p:nvPr/>
        </p:nvSpPr>
        <p:spPr>
          <a:xfrm>
            <a:off x="5215044" y="262021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78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kumimoji="1" lang="zh-CN" altLang="en-US" b="1" kern="0" dirty="0">
                <a:solidFill>
                  <a:srgbClr val="000000"/>
                </a:solidFill>
                <a:latin typeface="Arial" panose="020B0604020202090204"/>
                <a:cs typeface="Arial" panose="020B0604020202090204"/>
                <a:sym typeface="Arial" panose="020B0604020202090204"/>
              </a:rPr>
              <a:t>智慧环保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72ADBDE-4FE3-4B9C-8F1A-EEFE8E8F23E6}"/>
              </a:ext>
            </a:extLst>
          </p:cNvPr>
          <p:cNvSpPr txBox="1"/>
          <p:nvPr/>
        </p:nvSpPr>
        <p:spPr>
          <a:xfrm>
            <a:off x="7174203" y="261709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78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kumimoji="1" lang="zh-CN" altLang="en-US" b="1" kern="0" dirty="0">
                <a:solidFill>
                  <a:srgbClr val="000000"/>
                </a:solidFill>
                <a:latin typeface="Arial" panose="020B0604020202090204"/>
                <a:cs typeface="Arial" panose="020B0604020202090204"/>
                <a:sym typeface="Arial" panose="020B0604020202090204"/>
              </a:rPr>
              <a:t>智慧交通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6A9AAA5-F6ED-4D27-8E52-2D4309DBEC70}"/>
              </a:ext>
            </a:extLst>
          </p:cNvPr>
          <p:cNvSpPr txBox="1"/>
          <p:nvPr/>
        </p:nvSpPr>
        <p:spPr>
          <a:xfrm>
            <a:off x="5215044" y="468601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78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kumimoji="1" lang="zh-CN" altLang="en-US" b="1" kern="0" dirty="0">
                <a:solidFill>
                  <a:srgbClr val="000000"/>
                </a:solidFill>
                <a:latin typeface="Arial" panose="020B0604020202090204"/>
                <a:cs typeface="Arial" panose="020B0604020202090204"/>
                <a:sym typeface="Arial" panose="020B0604020202090204"/>
              </a:rPr>
              <a:t>智慧安防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2C9AA7B-6E98-4CD1-B770-D411A811D872}"/>
              </a:ext>
            </a:extLst>
          </p:cNvPr>
          <p:cNvSpPr txBox="1"/>
          <p:nvPr/>
        </p:nvSpPr>
        <p:spPr>
          <a:xfrm>
            <a:off x="7199818" y="468601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78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kumimoji="1" lang="zh-CN" altLang="en-US" b="1" kern="0" dirty="0">
                <a:solidFill>
                  <a:srgbClr val="000000"/>
                </a:solidFill>
                <a:latin typeface="Arial" panose="020B0604020202090204"/>
                <a:cs typeface="Arial" panose="020B0604020202090204"/>
                <a:sym typeface="Arial" panose="020B0604020202090204"/>
              </a:rPr>
              <a:t>智慧社交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556C25D-7A35-497C-BAD8-3D685A887B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3806" y="926837"/>
            <a:ext cx="1674860" cy="166217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2083D38-D5C2-493D-AB06-13E213D381E3}"/>
              </a:ext>
            </a:extLst>
          </p:cNvPr>
          <p:cNvSpPr txBox="1"/>
          <p:nvPr/>
        </p:nvSpPr>
        <p:spPr>
          <a:xfrm>
            <a:off x="3174244" y="262862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78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kumimoji="1" lang="zh-CN" altLang="en-US" b="1" kern="0" dirty="0">
                <a:solidFill>
                  <a:srgbClr val="000000"/>
                </a:solidFill>
                <a:latin typeface="Arial" panose="020B0604020202090204"/>
                <a:cs typeface="Arial" panose="020B0604020202090204"/>
                <a:sym typeface="Arial" panose="020B0604020202090204"/>
              </a:rPr>
              <a:t>智慧基建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20924D5-345B-4A07-AAC5-33A39C7C09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8797" y="2992718"/>
            <a:ext cx="1674860" cy="1751571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E72FD7E8-73DD-4161-8CB3-958903B8B570}"/>
              </a:ext>
            </a:extLst>
          </p:cNvPr>
          <p:cNvSpPr txBox="1"/>
          <p:nvPr/>
        </p:nvSpPr>
        <p:spPr>
          <a:xfrm>
            <a:off x="3187989" y="468938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78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kumimoji="1" lang="zh-CN" altLang="en-US" b="1" kern="0" dirty="0">
                <a:solidFill>
                  <a:srgbClr val="000000"/>
                </a:solidFill>
                <a:latin typeface="Arial" panose="020B0604020202090204"/>
                <a:cs typeface="Arial" panose="020B0604020202090204"/>
                <a:sym typeface="Arial" panose="020B0604020202090204"/>
              </a:rPr>
              <a:t>智慧能耗</a:t>
            </a:r>
          </a:p>
        </p:txBody>
      </p:sp>
    </p:spTree>
    <p:extLst>
      <p:ext uri="{BB962C8B-B14F-4D97-AF65-F5344CB8AC3E}">
        <p14:creationId xmlns:p14="http://schemas.microsoft.com/office/powerpoint/2010/main" val="185019887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A70858-158F-4D24-A841-B0B3EF2F7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城市计算：主要研究问题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28F430A-8C3F-4B60-A6D9-A9AF21151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987574"/>
            <a:ext cx="7126745" cy="3709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831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058EE1-1AC9-40F1-ADC9-96005210C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可用数据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ABC2BC-05D0-4ECC-BB55-29E2B52F0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b="1" dirty="0"/>
              <a:t>国内城市数据</a:t>
            </a:r>
            <a:endParaRPr lang="en-US" altLang="zh-CN" b="1" dirty="0"/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上海市公共数据开放平台：</a:t>
            </a:r>
            <a:r>
              <a:rPr lang="en-US" altLang="zh-CN" sz="1600" dirty="0"/>
              <a:t>https://data.sh.gov.cn/</a:t>
            </a:r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北京市公共数据开放平台：</a:t>
            </a:r>
            <a:r>
              <a:rPr lang="en-US" altLang="zh-CN" sz="1600" dirty="0"/>
              <a:t>https://data.beijing.gov.cn/</a:t>
            </a:r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深圳市政府数据开放平台：</a:t>
            </a:r>
            <a:r>
              <a:rPr lang="en-US" altLang="zh-CN" sz="1600" dirty="0"/>
              <a:t>https://opendata.sz.gov.cn/</a:t>
            </a:r>
          </a:p>
          <a:p>
            <a:pPr>
              <a:spcBef>
                <a:spcPts val="600"/>
              </a:spcBef>
            </a:pPr>
            <a:r>
              <a:rPr lang="zh-CN" altLang="en-US" b="1" dirty="0"/>
              <a:t>国外城市数据</a:t>
            </a:r>
            <a:endParaRPr lang="en-US" altLang="zh-CN" b="1" dirty="0"/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纽约城市数据：</a:t>
            </a:r>
            <a:r>
              <a:rPr lang="en-US" altLang="zh-CN" sz="1600" dirty="0"/>
              <a:t>https://opendata.cityofnewyork.us/data/</a:t>
            </a:r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芝加哥城市数据：</a:t>
            </a:r>
            <a:r>
              <a:rPr lang="en-US" altLang="zh-CN" sz="1600" dirty="0"/>
              <a:t>https://data.cityofchicago.org/ </a:t>
            </a:r>
          </a:p>
          <a:p>
            <a:pPr>
              <a:spcBef>
                <a:spcPts val="600"/>
              </a:spcBef>
            </a:pPr>
            <a:r>
              <a:rPr lang="zh-CN" altLang="en-US" b="1" dirty="0"/>
              <a:t>其他数据</a:t>
            </a:r>
            <a:endParaRPr lang="en-US" altLang="zh-CN" b="1" dirty="0"/>
          </a:p>
          <a:p>
            <a:pPr lvl="1">
              <a:spcBef>
                <a:spcPts val="600"/>
              </a:spcBef>
            </a:pPr>
            <a:r>
              <a:rPr lang="en-US" altLang="zh-CN" sz="1600" dirty="0"/>
              <a:t>OpenStreetMap</a:t>
            </a:r>
            <a:r>
              <a:rPr lang="zh-CN" altLang="en-US" sz="1600" dirty="0"/>
              <a:t>地图数据：</a:t>
            </a:r>
            <a:r>
              <a:rPr lang="en-US" altLang="zh-CN" sz="1600" dirty="0"/>
              <a:t>https://download.geofabrik.de/</a:t>
            </a:r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百度地图、高德地图 （</a:t>
            </a:r>
            <a:r>
              <a:rPr lang="en-US" altLang="zh-CN" sz="1600" dirty="0"/>
              <a:t>API</a:t>
            </a:r>
            <a:r>
              <a:rPr lang="zh-CN" altLang="en-US" sz="1600" dirty="0"/>
              <a:t>接口获取）</a:t>
            </a:r>
            <a:endParaRPr lang="en-US" altLang="zh-CN" sz="16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609773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EB35A-1CC1-5568-517A-0BA2C8F99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1A57E0-38B2-3256-E1FA-80D44B93C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课程大作业补充说明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1C57AE-52EB-BB64-7336-59FCF3D93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前沿探索、数据库系统开发均可以组队或个人完成；</a:t>
            </a:r>
            <a:endParaRPr lang="en-US" altLang="zh-CN" dirty="0"/>
          </a:p>
          <a:p>
            <a:r>
              <a:rPr lang="zh-CN" altLang="en-US" dirty="0"/>
              <a:t>每组不超过</a:t>
            </a:r>
            <a:r>
              <a:rPr lang="en-US" altLang="zh-CN" dirty="0"/>
              <a:t>5</a:t>
            </a:r>
            <a:r>
              <a:rPr lang="zh-CN" altLang="en-US" dirty="0"/>
              <a:t>人，请及时填写腾讯文档确定分组；</a:t>
            </a:r>
            <a:endParaRPr lang="en-US" altLang="zh-CN" dirty="0"/>
          </a:p>
          <a:p>
            <a:r>
              <a:rPr lang="zh-CN" altLang="en-US" dirty="0"/>
              <a:t>选题答辩：</a:t>
            </a:r>
            <a:endParaRPr lang="en-US" altLang="zh-CN" dirty="0"/>
          </a:p>
          <a:p>
            <a:pPr lvl="1"/>
            <a:r>
              <a:rPr lang="zh-CN" altLang="en-US" dirty="0"/>
              <a:t>时间：</a:t>
            </a:r>
            <a:r>
              <a:rPr lang="en-US" altLang="zh-CN" dirty="0"/>
              <a:t>4</a:t>
            </a:r>
            <a:r>
              <a:rPr lang="zh-CN" altLang="en-US" dirty="0"/>
              <a:t>月</a:t>
            </a:r>
            <a:r>
              <a:rPr lang="en-US" altLang="zh-CN" dirty="0"/>
              <a:t>28</a:t>
            </a:r>
            <a:r>
              <a:rPr lang="zh-CN" altLang="en-US" dirty="0"/>
              <a:t>日（下周一）；</a:t>
            </a:r>
            <a:endParaRPr lang="en-US" altLang="zh-CN" dirty="0"/>
          </a:p>
          <a:p>
            <a:pPr lvl="1"/>
            <a:r>
              <a:rPr lang="zh-CN" altLang="en-US" dirty="0"/>
              <a:t>汇报内容：</a:t>
            </a:r>
            <a:endParaRPr lang="en-US" altLang="zh-CN" dirty="0"/>
          </a:p>
          <a:p>
            <a:pPr lvl="2"/>
            <a:r>
              <a:rPr lang="zh-CN" altLang="en-US" dirty="0"/>
              <a:t>系统开发选题背景、数据库设计（</a:t>
            </a:r>
            <a:r>
              <a:rPr lang="en-US" altLang="zh-CN" dirty="0"/>
              <a:t>ER</a:t>
            </a:r>
            <a:r>
              <a:rPr lang="zh-CN" altLang="en-US" dirty="0"/>
              <a:t>图、设计方案）、进度安排等；</a:t>
            </a:r>
            <a:endParaRPr lang="en-US" altLang="zh-CN" dirty="0"/>
          </a:p>
          <a:p>
            <a:pPr lvl="2"/>
            <a:r>
              <a:rPr lang="zh-CN" altLang="en-US" dirty="0"/>
              <a:t>前沿探索相关的应用领域调研。</a:t>
            </a:r>
            <a:endParaRPr lang="en-US" altLang="zh-CN" dirty="0"/>
          </a:p>
          <a:p>
            <a:pPr lvl="1"/>
            <a:r>
              <a:rPr lang="zh-CN" altLang="en-US" dirty="0"/>
              <a:t>时长：</a:t>
            </a:r>
            <a:r>
              <a:rPr lang="en-US" altLang="zh-CN" dirty="0"/>
              <a:t>5min</a:t>
            </a:r>
            <a:r>
              <a:rPr lang="zh-CN" altLang="en-US" dirty="0"/>
              <a:t>左右。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23027172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5"/>
</p:tagLst>
</file>

<file path=ppt/theme/theme1.xml><?xml version="1.0" encoding="utf-8"?>
<a:theme xmlns:a="http://schemas.openxmlformats.org/drawingml/2006/main" name="默认设计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24693</TotalTime>
  <Words>722</Words>
  <Application>Microsoft Office PowerPoint</Application>
  <PresentationFormat>全屏显示(16:9)</PresentationFormat>
  <Paragraphs>101</Paragraphs>
  <Slides>13</Slides>
  <Notes>3</Notes>
  <HiddenSlides>0</HiddenSlides>
  <MMClips>1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黑体-简</vt:lpstr>
      <vt:lpstr>宋体</vt:lpstr>
      <vt:lpstr>微软雅黑</vt:lpstr>
      <vt:lpstr>Arial</vt:lpstr>
      <vt:lpstr>Century Gothic</vt:lpstr>
      <vt:lpstr>Times New Roman</vt:lpstr>
      <vt:lpstr>Trebuchet MS</vt:lpstr>
      <vt:lpstr>默认设计模板</vt:lpstr>
      <vt:lpstr>PowerPoint 演示文稿</vt:lpstr>
      <vt:lpstr>前沿探索</vt:lpstr>
      <vt:lpstr>课程大作业</vt:lpstr>
      <vt:lpstr>海洋计算（Ocean Computing）</vt:lpstr>
      <vt:lpstr>海洋计算：主要研究问题</vt:lpstr>
      <vt:lpstr>可用海洋数据</vt:lpstr>
      <vt:lpstr>城市计算</vt:lpstr>
      <vt:lpstr>城市计算</vt:lpstr>
      <vt:lpstr>多源城市交通数据</vt:lpstr>
      <vt:lpstr>城市计算应用场景</vt:lpstr>
      <vt:lpstr>城市计算：主要研究问题</vt:lpstr>
      <vt:lpstr>可用数据</vt:lpstr>
      <vt:lpstr>课程大作业补充说明</vt:lpstr>
    </vt:vector>
  </TitlesOfParts>
  <Company>Global Intelligence Alliance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Creating System Analysis</dc:title>
  <dc:creator>Jessie Wang</dc:creator>
  <cp:lastModifiedBy>云驰 曾</cp:lastModifiedBy>
  <cp:revision>1827</cp:revision>
  <dcterms:created xsi:type="dcterms:W3CDTF">2007-09-26T12:04:45Z</dcterms:created>
  <dcterms:modified xsi:type="dcterms:W3CDTF">2025-04-24T15:37:51Z</dcterms:modified>
</cp:coreProperties>
</file>