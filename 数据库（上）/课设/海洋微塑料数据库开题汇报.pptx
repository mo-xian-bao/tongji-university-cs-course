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20" r:id="rId3"/>
    <p:sldId id="325" r:id="rId4"/>
    <p:sldId id="260" r:id="rId5"/>
    <p:sldId id="266" r:id="rId6"/>
    <p:sldId id="329" r:id="rId7"/>
    <p:sldId id="315" r:id="rId8"/>
    <p:sldId id="330" r:id="rId9"/>
    <p:sldId id="331" r:id="rId10"/>
    <p:sldId id="316" r:id="rId11"/>
    <p:sldId id="333" r:id="rId12"/>
    <p:sldId id="318" r:id="rId13"/>
    <p:sldId id="334" r:id="rId14"/>
    <p:sldId id="335" r:id="rId15"/>
    <p:sldId id="336" r:id="rId16"/>
    <p:sldId id="317" r:id="rId17"/>
    <p:sldId id="332" r:id="rId18"/>
    <p:sldId id="321"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186A7"/>
    <a:srgbClr val="4B5C78"/>
    <a:srgbClr val="C6CEDC"/>
    <a:srgbClr val="2C4F8C"/>
    <a:srgbClr val="323D50"/>
    <a:srgbClr val="F9DFE6"/>
    <a:srgbClr val="F5C7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8" d="100"/>
          <a:sy n="88" d="100"/>
        </p:scale>
        <p:origin x="108" y="306"/>
      </p:cViewPr>
      <p:guideLst>
        <p:guide orient="horz" pos="2160"/>
        <p:guide pos="3856"/>
      </p:guideLst>
    </p:cSldViewPr>
  </p:slideViewPr>
  <p:notesTextViewPr>
    <p:cViewPr>
      <p:scale>
        <a:sx n="1" d="1"/>
        <a:sy n="1" d="1"/>
      </p:scale>
      <p:origin x="0" y="0"/>
    </p:cViewPr>
  </p:notesTextViewPr>
  <p:sorterViewPr>
    <p:cViewPr>
      <p:scale>
        <a:sx n="100" d="100"/>
        <a:sy n="100" d="100"/>
      </p:scale>
      <p:origin x="0" y="-3413"/>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gs" Target="tags/tag117.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7.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cxnSp>
        <p:nvCxnSpPr>
          <p:cNvPr id="11" name="直接连接符 10"/>
          <p:cNvCxnSpPr/>
          <p:nvPr userDrawn="1"/>
        </p:nvCxnSpPr>
        <p:spPr>
          <a:xfrm>
            <a:off x="2022932" y="5558695"/>
            <a:ext cx="8234585" cy="0"/>
          </a:xfrm>
          <a:prstGeom prst="line">
            <a:avLst/>
          </a:prstGeom>
          <a:ln w="6350">
            <a:gradFill flip="none" rotWithShape="1">
              <a:gsLst>
                <a:gs pos="0">
                  <a:schemeClr val="tx1">
                    <a:lumMod val="65000"/>
                    <a:lumOff val="35000"/>
                    <a:alpha val="0"/>
                  </a:schemeClr>
                </a:gs>
                <a:gs pos="100000">
                  <a:schemeClr val="tx1">
                    <a:lumMod val="65000"/>
                    <a:lumOff val="35000"/>
                    <a:alpha val="0"/>
                  </a:schemeClr>
                </a:gs>
                <a:gs pos="41000">
                  <a:schemeClr val="tx1">
                    <a:lumMod val="65000"/>
                    <a:lumOff val="3500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4" name="图片 13" descr="卡通人物&#10;&#10;低可信度描述已自动生成"/>
          <p:cNvPicPr>
            <a:picLocks noChangeAspect="1"/>
          </p:cNvPicPr>
          <p:nvPr userDrawn="1"/>
        </p:nvPicPr>
        <p:blipFill>
          <a:blip r:embed="rId2" cstate="print">
            <a:lum bright="70000" contrast="-70000"/>
            <a:extLst>
              <a:ext uri="{BEBA8EAE-BF5A-486C-A8C5-ECC9F3942E4B}">
                <a14:imgProps xmlns:a14="http://schemas.microsoft.com/office/drawing/2010/main">
                  <a14:imgLayer r:embed="rId3">
                    <a14:imgEffect>
                      <a14:artisticPhotocopy trans="30000" detail="2"/>
                    </a14:imgEffect>
                  </a14:imgLayer>
                </a14:imgProps>
              </a:ext>
            </a:extLst>
          </a:blip>
          <a:stretch>
            <a:fillRect/>
          </a:stretch>
        </p:blipFill>
        <p:spPr>
          <a:xfrm>
            <a:off x="4657961" y="2557919"/>
            <a:ext cx="2904016" cy="511833"/>
          </a:xfrm>
          <a:prstGeom prst="rect">
            <a:avLst/>
          </a:prstGeom>
        </p:spPr>
      </p:pic>
      <p:pic>
        <p:nvPicPr>
          <p:cNvPr id="15" name="图片 14" descr="文本&#10;&#10;描述已自动生成"/>
          <p:cNvPicPr>
            <a:picLocks noChangeAspect="1"/>
          </p:cNvPicPr>
          <p:nvPr userDrawn="1"/>
        </p:nvPicPr>
        <p:blipFill rotWithShape="1">
          <a:blip r:embed="rId4" cstate="hqprint"/>
          <a:srcRect/>
          <a:stretch>
            <a:fillRect/>
          </a:stretch>
        </p:blipFill>
        <p:spPr>
          <a:xfrm>
            <a:off x="5501315" y="1259840"/>
            <a:ext cx="1194125" cy="1243750"/>
          </a:xfrm>
          <a:prstGeom prst="rect">
            <a:avLst/>
          </a:prstGeom>
        </p:spPr>
      </p:pic>
      <p:pic>
        <p:nvPicPr>
          <p:cNvPr id="16" name="图片 15" descr="文本&#10;&#10;描述已自动生成"/>
          <p:cNvPicPr>
            <a:picLocks noChangeAspect="1"/>
          </p:cNvPicPr>
          <p:nvPr userDrawn="1"/>
        </p:nvPicPr>
        <p:blipFill rotWithShape="1">
          <a:blip r:embed="rId5" cstate="print"/>
          <a:srcRect/>
          <a:stretch>
            <a:fillRect/>
          </a:stretch>
        </p:blipFill>
        <p:spPr>
          <a:xfrm>
            <a:off x="4997185" y="3215870"/>
            <a:ext cx="2195661" cy="186656"/>
          </a:xfrm>
          <a:prstGeom prst="rect">
            <a:avLst/>
          </a:prstGeom>
        </p:spPr>
      </p:pic>
      <p:sp>
        <p:nvSpPr>
          <p:cNvPr id="21" name="任意多边形: 形状 20"/>
          <p:cNvSpPr/>
          <p:nvPr userDrawn="1"/>
        </p:nvSpPr>
        <p:spPr>
          <a:xfrm>
            <a:off x="-21303" y="0"/>
            <a:ext cx="12191999" cy="4124967"/>
          </a:xfrm>
          <a:custGeom>
            <a:avLst/>
            <a:gdLst>
              <a:gd name="connsiteX0" fmla="*/ 0 w 12191999"/>
              <a:gd name="connsiteY0" fmla="*/ 0 h 4124967"/>
              <a:gd name="connsiteX1" fmla="*/ 12191999 w 12191999"/>
              <a:gd name="connsiteY1" fmla="*/ 0 h 4124967"/>
              <a:gd name="connsiteX2" fmla="*/ 12191999 w 12191999"/>
              <a:gd name="connsiteY2" fmla="*/ 2239606 h 4124967"/>
              <a:gd name="connsiteX3" fmla="*/ 11991047 w 12191999"/>
              <a:gd name="connsiteY3" fmla="*/ 2441353 h 4124967"/>
              <a:gd name="connsiteX4" fmla="*/ 11787221 w 12191999"/>
              <a:gd name="connsiteY4" fmla="*/ 2610427 h 4124967"/>
              <a:gd name="connsiteX5" fmla="*/ 11692561 w 12191999"/>
              <a:gd name="connsiteY5" fmla="*/ 2679079 h 4124967"/>
              <a:gd name="connsiteX6" fmla="*/ 11361871 w 12191999"/>
              <a:gd name="connsiteY6" fmla="*/ 2877397 h 4124967"/>
              <a:gd name="connsiteX7" fmla="*/ 10179231 w 12191999"/>
              <a:gd name="connsiteY7" fmla="*/ 3450657 h 4124967"/>
              <a:gd name="connsiteX8" fmla="*/ 9762711 w 12191999"/>
              <a:gd name="connsiteY8" fmla="*/ 3609461 h 4124967"/>
              <a:gd name="connsiteX9" fmla="*/ 9502991 w 12191999"/>
              <a:gd name="connsiteY9" fmla="*/ 3688922 h 4124967"/>
              <a:gd name="connsiteX10" fmla="*/ 6781467 w 12191999"/>
              <a:gd name="connsiteY10" fmla="*/ 4121478 h 4124967"/>
              <a:gd name="connsiteX11" fmla="*/ 6686585 w 12191999"/>
              <a:gd name="connsiteY11" fmla="*/ 4124967 h 4124967"/>
              <a:gd name="connsiteX12" fmla="*/ 5505413 w 12191999"/>
              <a:gd name="connsiteY12" fmla="*/ 4124967 h 4124967"/>
              <a:gd name="connsiteX13" fmla="*/ 5410533 w 12191999"/>
              <a:gd name="connsiteY13" fmla="*/ 4121478 h 4124967"/>
              <a:gd name="connsiteX14" fmla="*/ 2689007 w 12191999"/>
              <a:gd name="connsiteY14" fmla="*/ 3688922 h 4124967"/>
              <a:gd name="connsiteX15" fmla="*/ 2429290 w 12191999"/>
              <a:gd name="connsiteY15" fmla="*/ 3609461 h 4124967"/>
              <a:gd name="connsiteX16" fmla="*/ 2012768 w 12191999"/>
              <a:gd name="connsiteY16" fmla="*/ 3450657 h 4124967"/>
              <a:gd name="connsiteX17" fmla="*/ 830127 w 12191999"/>
              <a:gd name="connsiteY17" fmla="*/ 2877397 h 4124967"/>
              <a:gd name="connsiteX18" fmla="*/ 499425 w 12191999"/>
              <a:gd name="connsiteY18" fmla="*/ 2679072 h 4124967"/>
              <a:gd name="connsiteX19" fmla="*/ 404776 w 12191999"/>
              <a:gd name="connsiteY19" fmla="*/ 2610427 h 4124967"/>
              <a:gd name="connsiteX20" fmla="*/ 200950 w 12191999"/>
              <a:gd name="connsiteY20" fmla="*/ 2441353 h 4124967"/>
              <a:gd name="connsiteX21" fmla="*/ 0 w 12191999"/>
              <a:gd name="connsiteY21" fmla="*/ 2239609 h 412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1999" h="4124967">
                <a:moveTo>
                  <a:pt x="0" y="0"/>
                </a:moveTo>
                <a:lnTo>
                  <a:pt x="12191999" y="0"/>
                </a:lnTo>
                <a:lnTo>
                  <a:pt x="12191999" y="2239606"/>
                </a:lnTo>
                <a:lnTo>
                  <a:pt x="11991047" y="2441353"/>
                </a:lnTo>
                <a:cubicBezTo>
                  <a:pt x="11926543" y="2498781"/>
                  <a:pt x="11858555" y="2555161"/>
                  <a:pt x="11787221" y="2610427"/>
                </a:cubicBezTo>
                <a:lnTo>
                  <a:pt x="11692561" y="2679079"/>
                </a:lnTo>
                <a:lnTo>
                  <a:pt x="11361871" y="2877397"/>
                </a:lnTo>
                <a:cubicBezTo>
                  <a:pt x="10986079" y="3091504"/>
                  <a:pt x="10590977" y="3283339"/>
                  <a:pt x="10179231" y="3450657"/>
                </a:cubicBezTo>
                <a:lnTo>
                  <a:pt x="9762711" y="3609461"/>
                </a:lnTo>
                <a:lnTo>
                  <a:pt x="9502991" y="3688922"/>
                </a:lnTo>
                <a:cubicBezTo>
                  <a:pt x="8690339" y="3921282"/>
                  <a:pt x="7767486" y="4073049"/>
                  <a:pt x="6781467" y="4121478"/>
                </a:cubicBezTo>
                <a:lnTo>
                  <a:pt x="6686585" y="4124967"/>
                </a:lnTo>
                <a:lnTo>
                  <a:pt x="5505413" y="4124967"/>
                </a:lnTo>
                <a:lnTo>
                  <a:pt x="5410533" y="4121478"/>
                </a:lnTo>
                <a:cubicBezTo>
                  <a:pt x="4424513" y="4073049"/>
                  <a:pt x="3501660" y="3921282"/>
                  <a:pt x="2689007" y="3688922"/>
                </a:cubicBezTo>
                <a:lnTo>
                  <a:pt x="2429290" y="3609461"/>
                </a:lnTo>
                <a:lnTo>
                  <a:pt x="2012768" y="3450657"/>
                </a:lnTo>
                <a:cubicBezTo>
                  <a:pt x="1601022" y="3283339"/>
                  <a:pt x="1205920" y="3091504"/>
                  <a:pt x="830127" y="2877397"/>
                </a:cubicBezTo>
                <a:lnTo>
                  <a:pt x="499425" y="2679072"/>
                </a:lnTo>
                <a:lnTo>
                  <a:pt x="404776" y="2610427"/>
                </a:lnTo>
                <a:cubicBezTo>
                  <a:pt x="333443" y="2555161"/>
                  <a:pt x="265455" y="2498781"/>
                  <a:pt x="200950" y="2441353"/>
                </a:cubicBezTo>
                <a:lnTo>
                  <a:pt x="0" y="2239609"/>
                </a:lnTo>
                <a:close/>
              </a:path>
            </a:pathLst>
          </a:custGeom>
          <a:blipFill dpi="0" rotWithShape="1">
            <a:blip r:embed="rId6"/>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sp>
        <p:nvSpPr>
          <p:cNvPr id="22" name="文本框 21"/>
          <p:cNvSpPr txBox="1"/>
          <p:nvPr userDrawn="1"/>
        </p:nvSpPr>
        <p:spPr>
          <a:xfrm>
            <a:off x="-6063" y="540"/>
            <a:ext cx="12199046" cy="4124967"/>
          </a:xfrm>
          <a:custGeom>
            <a:avLst/>
            <a:gdLst>
              <a:gd name="connsiteX0" fmla="*/ 0 w 12192000"/>
              <a:gd name="connsiteY0" fmla="*/ 0 h 3979379"/>
              <a:gd name="connsiteX1" fmla="*/ 12192000 w 12192000"/>
              <a:gd name="connsiteY1" fmla="*/ 0 h 3979379"/>
              <a:gd name="connsiteX2" fmla="*/ 12192000 w 12192000"/>
              <a:gd name="connsiteY2" fmla="*/ 2160560 h 3979379"/>
              <a:gd name="connsiteX3" fmla="*/ 11991049 w 12192000"/>
              <a:gd name="connsiteY3" fmla="*/ 2355187 h 3979379"/>
              <a:gd name="connsiteX4" fmla="*/ 6781467 w 12192000"/>
              <a:gd name="connsiteY4" fmla="*/ 3976013 h 3979379"/>
              <a:gd name="connsiteX5" fmla="*/ 6686586 w 12192000"/>
              <a:gd name="connsiteY5" fmla="*/ 3979379 h 3979379"/>
              <a:gd name="connsiteX6" fmla="*/ 5505414 w 12192000"/>
              <a:gd name="connsiteY6" fmla="*/ 3979379 h 3979379"/>
              <a:gd name="connsiteX7" fmla="*/ 5410533 w 12192000"/>
              <a:gd name="connsiteY7" fmla="*/ 3976013 h 3979379"/>
              <a:gd name="connsiteX8" fmla="*/ 200949 w 12192000"/>
              <a:gd name="connsiteY8" fmla="*/ 2355187 h 3979379"/>
              <a:gd name="connsiteX9" fmla="*/ 0 w 12192000"/>
              <a:gd name="connsiteY9" fmla="*/ 2160563 h 397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979379">
                <a:moveTo>
                  <a:pt x="0" y="0"/>
                </a:moveTo>
                <a:lnTo>
                  <a:pt x="12192000" y="0"/>
                </a:lnTo>
                <a:lnTo>
                  <a:pt x="12192000" y="2160560"/>
                </a:lnTo>
                <a:lnTo>
                  <a:pt x="11991049" y="2355187"/>
                </a:lnTo>
                <a:cubicBezTo>
                  <a:pt x="10958970" y="3241602"/>
                  <a:pt x="9035226" y="3869225"/>
                  <a:pt x="6781467" y="3976013"/>
                </a:cubicBezTo>
                <a:lnTo>
                  <a:pt x="6686586" y="3979379"/>
                </a:lnTo>
                <a:lnTo>
                  <a:pt x="5505414" y="3979379"/>
                </a:lnTo>
                <a:lnTo>
                  <a:pt x="5410533" y="3976013"/>
                </a:lnTo>
                <a:cubicBezTo>
                  <a:pt x="3156773" y="3869225"/>
                  <a:pt x="1233028" y="3241602"/>
                  <a:pt x="200949" y="2355187"/>
                </a:cubicBezTo>
                <a:lnTo>
                  <a:pt x="0" y="2160563"/>
                </a:lnTo>
                <a:close/>
              </a:path>
            </a:pathLst>
          </a:custGeom>
          <a:gradFill>
            <a:gsLst>
              <a:gs pos="0">
                <a:schemeClr val="accent1">
                  <a:lumMod val="75000"/>
                  <a:alpha val="76000"/>
                </a:schemeClr>
              </a:gs>
              <a:gs pos="100000">
                <a:schemeClr val="accent1">
                  <a:lumMod val="75000"/>
                  <a:alpha val="70000"/>
                </a:schemeClr>
              </a:gs>
            </a:gsLst>
            <a:lin ang="5400000" scaled="1"/>
          </a:gradFill>
        </p:spPr>
        <p:txBody>
          <a:bodyPr vert="horz" wrap="square"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sp>
        <p:nvSpPr>
          <p:cNvPr id="23" name="任意多边形: 形状 22"/>
          <p:cNvSpPr/>
          <p:nvPr userDrawn="1"/>
        </p:nvSpPr>
        <p:spPr>
          <a:xfrm>
            <a:off x="-21303" y="-16625"/>
            <a:ext cx="12230510" cy="4164498"/>
          </a:xfrm>
          <a:custGeom>
            <a:avLst/>
            <a:gdLst>
              <a:gd name="connsiteX0" fmla="*/ 0 w 12230510"/>
              <a:gd name="connsiteY0" fmla="*/ 0 h 4164498"/>
              <a:gd name="connsiteX1" fmla="*/ 12230510 w 12230510"/>
              <a:gd name="connsiteY1" fmla="*/ 0 h 4164498"/>
              <a:gd name="connsiteX2" fmla="*/ 12230510 w 12230510"/>
              <a:gd name="connsiteY2" fmla="*/ 2324605 h 4164498"/>
              <a:gd name="connsiteX3" fmla="*/ 12020998 w 12230510"/>
              <a:gd name="connsiteY3" fmla="*/ 2527523 h 4164498"/>
              <a:gd name="connsiteX4" fmla="*/ 6125951 w 12230510"/>
              <a:gd name="connsiteY4" fmla="*/ 4164498 h 4164498"/>
              <a:gd name="connsiteX5" fmla="*/ 230898 w 12230510"/>
              <a:gd name="connsiteY5" fmla="*/ 2527523 h 4164498"/>
              <a:gd name="connsiteX6" fmla="*/ 0 w 12230510"/>
              <a:gd name="connsiteY6" fmla="*/ 2303892 h 416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0510" h="4164498">
                <a:moveTo>
                  <a:pt x="0" y="0"/>
                </a:moveTo>
                <a:lnTo>
                  <a:pt x="12230510" y="0"/>
                </a:lnTo>
                <a:lnTo>
                  <a:pt x="12230510" y="2324605"/>
                </a:lnTo>
                <a:lnTo>
                  <a:pt x="12020998" y="2527523"/>
                </a:lnTo>
                <a:cubicBezTo>
                  <a:pt x="10885711" y="3502579"/>
                  <a:pt x="8671510" y="4164498"/>
                  <a:pt x="6125951" y="4164498"/>
                </a:cubicBezTo>
                <a:cubicBezTo>
                  <a:pt x="3580388" y="4164498"/>
                  <a:pt x="1366185" y="3502579"/>
                  <a:pt x="230898" y="2527523"/>
                </a:cubicBezTo>
                <a:lnTo>
                  <a:pt x="0" y="2303892"/>
                </a:lnTo>
                <a:close/>
              </a:path>
            </a:pathLst>
          </a:custGeom>
          <a:noFill/>
          <a:ln w="6350">
            <a:gradFill>
              <a:gsLst>
                <a:gs pos="100000">
                  <a:schemeClr val="accent1">
                    <a:lumMod val="75000"/>
                    <a:alpha val="3000"/>
                  </a:schemeClr>
                </a:gs>
                <a:gs pos="53000">
                  <a:schemeClr val="accent1">
                    <a:lumMod val="75000"/>
                    <a:alpha val="88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rPr>
              <a:t>     </a:t>
            </a:r>
            <a:endParaRPr kumimoji="0" lang="zh-CN" altLang="en-US"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简介">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Layer>
                </a14:imgProps>
              </a:ext>
            </a:extLst>
          </a:blip>
          <a:srcRect/>
          <a:stretch>
            <a:fillRect/>
          </a:stretch>
        </p:blipFill>
        <p:spPr>
          <a:xfrm>
            <a:off x="0" y="2935"/>
            <a:ext cx="12192000" cy="6858000"/>
          </a:xfrm>
          <a:prstGeom prst="rect">
            <a:avLst/>
          </a:prstGeom>
        </p:spPr>
      </p:pic>
      <p:sp>
        <p:nvSpPr>
          <p:cNvPr id="8" name="矩形 7"/>
          <p:cNvSpPr/>
          <p:nvPr userDrawn="1"/>
        </p:nvSpPr>
        <p:spPr>
          <a:xfrm>
            <a:off x="-1986" y="0"/>
            <a:ext cx="12196483" cy="6858000"/>
          </a:xfrm>
          <a:prstGeom prst="rect">
            <a:avLst/>
          </a:prstGeom>
          <a:solidFill>
            <a:schemeClr val="bg1">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grpSp>
        <p:nvGrpSpPr>
          <p:cNvPr id="47" name="组合 46"/>
          <p:cNvGrpSpPr/>
          <p:nvPr userDrawn="1"/>
        </p:nvGrpSpPr>
        <p:grpSpPr>
          <a:xfrm>
            <a:off x="766763" y="1360607"/>
            <a:ext cx="4833937" cy="50476"/>
            <a:chOff x="766763" y="1259007"/>
            <a:chExt cx="4833937" cy="50476"/>
          </a:xfrm>
        </p:grpSpPr>
        <p:sp>
          <p:nvSpPr>
            <p:cNvPr id="48" name="矩形 47"/>
            <p:cNvSpPr/>
            <p:nvPr/>
          </p:nvSpPr>
          <p:spPr>
            <a:xfrm>
              <a:off x="766763" y="1259007"/>
              <a:ext cx="497681" cy="50476"/>
            </a:xfrm>
            <a:prstGeom prst="rect">
              <a:avLst/>
            </a:prstGeom>
            <a:gradFill flip="none" rotWithShape="1">
              <a:gsLst>
                <a:gs pos="24000">
                  <a:schemeClr val="accent1">
                    <a:lumMod val="75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cxnSp>
          <p:nvCxnSpPr>
            <p:cNvPr id="49" name="直接连接符 48"/>
            <p:cNvCxnSpPr/>
            <p:nvPr/>
          </p:nvCxnSpPr>
          <p:spPr>
            <a:xfrm>
              <a:off x="1240053" y="1281725"/>
              <a:ext cx="4360647" cy="0"/>
            </a:xfrm>
            <a:prstGeom prst="line">
              <a:avLst/>
            </a:prstGeom>
            <a:ln w="9525">
              <a:gradFill flip="none" rotWithShape="1">
                <a:gsLst>
                  <a:gs pos="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50" name="矩形 49"/>
          <p:cNvSpPr/>
          <p:nvPr userDrawn="1"/>
        </p:nvSpPr>
        <p:spPr>
          <a:xfrm>
            <a:off x="-3023" y="3378318"/>
            <a:ext cx="12198046" cy="101365"/>
          </a:xfrm>
          <a:prstGeom prst="rect">
            <a:avLst/>
          </a:prstGeom>
          <a:gradFill>
            <a:gsLst>
              <a:gs pos="0">
                <a:schemeClr val="accent1">
                  <a:lumMod val="75000"/>
                </a:schemeClr>
              </a:gs>
              <a:gs pos="100000">
                <a:schemeClr val="tx2">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2548327" y="209476"/>
            <a:ext cx="9367901" cy="6439048"/>
          </a:xfrm>
          <a:prstGeom prst="rect">
            <a:avLst/>
          </a:prstGeom>
          <a:solidFill>
            <a:schemeClr val="bg1"/>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L" panose="00020600040101010101" pitchFamily="18" charset="-122"/>
            </a:endParaRPr>
          </a:p>
        </p:txBody>
      </p:sp>
      <p:sp>
        <p:nvSpPr>
          <p:cNvPr id="8" name="流程图: 手动输入 7"/>
          <p:cNvSpPr/>
          <p:nvPr userDrawn="1"/>
        </p:nvSpPr>
        <p:spPr>
          <a:xfrm rot="16200000" flipV="1">
            <a:off x="-15481" y="-3821"/>
            <a:ext cx="6858000" cy="6865642"/>
          </a:xfrm>
          <a:prstGeom prst="flowChartManualInput">
            <a:avLst/>
          </a:prstGeom>
          <a:blipFill dpi="0" rotWithShape="0">
            <a:blip r:embed="rId2">
              <a:alphaModFix amt="85000"/>
              <a:grayscl/>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L" panose="00020600040101010101" pitchFamily="18" charset="-122"/>
              <a:ea typeface="微软雅黑" panose="020B0503020204020204" charset="-122"/>
              <a:cs typeface="+mn-ea"/>
              <a:sym typeface="+mn-lt"/>
            </a:endParaRPr>
          </a:p>
        </p:txBody>
      </p:sp>
      <p:sp>
        <p:nvSpPr>
          <p:cNvPr id="9" name="流程图: 手动输入 8"/>
          <p:cNvSpPr/>
          <p:nvPr userDrawn="1"/>
        </p:nvSpPr>
        <p:spPr>
          <a:xfrm rot="16200000" flipV="1">
            <a:off x="-11418" y="-11759"/>
            <a:ext cx="6858000" cy="6865642"/>
          </a:xfrm>
          <a:prstGeom prst="flowChartManualInput">
            <a:avLst/>
          </a:prstGeom>
          <a:gradFill>
            <a:gsLst>
              <a:gs pos="0">
                <a:schemeClr val="accent1">
                  <a:lumMod val="75000"/>
                  <a:alpha val="76000"/>
                </a:schemeClr>
              </a:gs>
              <a:gs pos="100000">
                <a:schemeClr val="accent1">
                  <a:lumMod val="75000"/>
                  <a:alpha val="70000"/>
                </a:schemeClr>
              </a:gs>
            </a:gsLst>
            <a:lin ang="5400000" scaled="1"/>
          </a:gradFill>
        </p:spPr>
        <p:txBody>
          <a:bodyPr vert="horz" wrap="square" lIns="91440" tIns="45720" rIns="91440" bIns="45720" rtlCol="0">
            <a:noAutofit/>
          </a:bodyPr>
          <a:lstStyle/>
          <a:p>
            <a:pPr algn="ctr">
              <a:lnSpc>
                <a:spcPct val="90000"/>
              </a:lnSpc>
              <a:spcBef>
                <a:spcPts val="1000"/>
              </a:spcBef>
            </a:pPr>
            <a:endParaRPr lang="zh-CN" altLang="en-US" sz="2800" dirty="0">
              <a:solidFill>
                <a:schemeClr val="bg1"/>
              </a:solidFill>
              <a:latin typeface="OPPOSans L" panose="00020600040101010101" pitchFamily="18" charset="-122"/>
              <a:sym typeface="+mn-lt"/>
            </a:endParaRPr>
          </a:p>
        </p:txBody>
      </p:sp>
      <p:sp>
        <p:nvSpPr>
          <p:cNvPr id="20" name="椭圆 19"/>
          <p:cNvSpPr/>
          <p:nvPr userDrawn="1"/>
        </p:nvSpPr>
        <p:spPr>
          <a:xfrm>
            <a:off x="6328710" y="547352"/>
            <a:ext cx="801886" cy="801886"/>
          </a:xfrm>
          <a:prstGeom prst="ellipse">
            <a:avLst/>
          </a:prstGeom>
          <a:solidFill>
            <a:schemeClr val="accent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latin typeface="+mn-ea"/>
              </a:rPr>
              <a:t>01</a:t>
            </a:r>
            <a:endParaRPr lang="zh-CN" altLang="en-US" sz="2400" dirty="0">
              <a:latin typeface="+mn-ea"/>
            </a:endParaRPr>
          </a:p>
        </p:txBody>
      </p:sp>
      <p:sp>
        <p:nvSpPr>
          <p:cNvPr id="21" name="椭圆 20"/>
          <p:cNvSpPr/>
          <p:nvPr userDrawn="1"/>
        </p:nvSpPr>
        <p:spPr>
          <a:xfrm>
            <a:off x="6076307" y="1787705"/>
            <a:ext cx="801886" cy="801886"/>
          </a:xfrm>
          <a:prstGeom prst="ellipse">
            <a:avLst/>
          </a:prstGeom>
          <a:solidFill>
            <a:schemeClr val="accent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latin typeface="+mn-ea"/>
              </a:rPr>
              <a:t>02</a:t>
            </a:r>
            <a:endParaRPr lang="zh-CN" altLang="en-US" sz="2400" dirty="0">
              <a:latin typeface="+mn-ea"/>
            </a:endParaRPr>
          </a:p>
        </p:txBody>
      </p:sp>
      <p:sp>
        <p:nvSpPr>
          <p:cNvPr id="22" name="椭圆 21"/>
          <p:cNvSpPr/>
          <p:nvPr userDrawn="1"/>
        </p:nvSpPr>
        <p:spPr>
          <a:xfrm>
            <a:off x="5823904" y="3028058"/>
            <a:ext cx="801886" cy="801886"/>
          </a:xfrm>
          <a:prstGeom prst="ellipse">
            <a:avLst/>
          </a:prstGeom>
          <a:solidFill>
            <a:schemeClr val="accent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latin typeface="+mn-ea"/>
              </a:rPr>
              <a:t>03</a:t>
            </a:r>
            <a:endParaRPr lang="zh-CN" altLang="en-US" sz="2400" dirty="0">
              <a:latin typeface="+mn-ea"/>
            </a:endParaRPr>
          </a:p>
        </p:txBody>
      </p:sp>
      <p:sp>
        <p:nvSpPr>
          <p:cNvPr id="23" name="椭圆 22"/>
          <p:cNvSpPr/>
          <p:nvPr userDrawn="1"/>
        </p:nvSpPr>
        <p:spPr>
          <a:xfrm>
            <a:off x="5571501" y="4268411"/>
            <a:ext cx="801886" cy="801886"/>
          </a:xfrm>
          <a:prstGeom prst="ellipse">
            <a:avLst/>
          </a:prstGeom>
          <a:solidFill>
            <a:schemeClr val="accent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latin typeface="+mn-ea"/>
              </a:rPr>
              <a:t>04</a:t>
            </a:r>
            <a:endParaRPr lang="zh-CN" altLang="en-US" sz="2400" dirty="0">
              <a:latin typeface="+mn-ea"/>
            </a:endParaRPr>
          </a:p>
        </p:txBody>
      </p:sp>
      <p:sp>
        <p:nvSpPr>
          <p:cNvPr id="24" name="椭圆 23"/>
          <p:cNvSpPr/>
          <p:nvPr userDrawn="1"/>
        </p:nvSpPr>
        <p:spPr>
          <a:xfrm>
            <a:off x="5319098" y="5508763"/>
            <a:ext cx="801886" cy="801886"/>
          </a:xfrm>
          <a:prstGeom prst="ellipse">
            <a:avLst/>
          </a:prstGeom>
          <a:solidFill>
            <a:schemeClr val="accent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latin typeface="+mn-ea"/>
              </a:rPr>
              <a:t>05</a:t>
            </a:r>
            <a:endParaRPr lang="zh-CN" altLang="en-US" sz="2400" dirty="0">
              <a:latin typeface="+mn-ea"/>
            </a:endParaRPr>
          </a:p>
        </p:txBody>
      </p:sp>
      <p:sp>
        <p:nvSpPr>
          <p:cNvPr id="25" name="文本框 24"/>
          <p:cNvSpPr txBox="1"/>
          <p:nvPr userDrawn="1"/>
        </p:nvSpPr>
        <p:spPr>
          <a:xfrm>
            <a:off x="1059793" y="2378343"/>
            <a:ext cx="1610623" cy="830997"/>
          </a:xfrm>
          <a:prstGeom prst="rect">
            <a:avLst/>
          </a:prstGeom>
          <a:noFill/>
        </p:spPr>
        <p:txBody>
          <a:bodyPr wrap="square" lIns="0" r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schemeClr val="bg1"/>
                </a:solidFill>
                <a:effectLst/>
                <a:uLnTx/>
                <a:uFillTx/>
                <a:latin typeface="+mn-ea"/>
                <a:cs typeface="+mn-ea"/>
                <a:sym typeface="+mn-lt"/>
              </a:rPr>
              <a:t>目录</a:t>
            </a:r>
            <a:endParaRPr kumimoji="0" lang="zh-CN" altLang="en-US" sz="4800" b="0" i="0" u="none" strike="noStrike" kern="1200" cap="none" spc="0" normalizeH="0" baseline="0" noProof="0" dirty="0">
              <a:ln>
                <a:noFill/>
              </a:ln>
              <a:solidFill>
                <a:schemeClr val="bg1"/>
              </a:solidFill>
              <a:effectLst/>
              <a:uLnTx/>
              <a:uFillTx/>
              <a:latin typeface="+mn-ea"/>
              <a:cs typeface="+mn-ea"/>
              <a:sym typeface="+mn-lt"/>
            </a:endParaRPr>
          </a:p>
        </p:txBody>
      </p:sp>
      <p:cxnSp>
        <p:nvCxnSpPr>
          <p:cNvPr id="26" name="直接连接符 25"/>
          <p:cNvCxnSpPr/>
          <p:nvPr userDrawn="1"/>
        </p:nvCxnSpPr>
        <p:spPr>
          <a:xfrm>
            <a:off x="1142281" y="3360609"/>
            <a:ext cx="95937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userDrawn="1"/>
        </p:nvSpPr>
        <p:spPr>
          <a:xfrm>
            <a:off x="1142281" y="3710217"/>
            <a:ext cx="2814786" cy="769441"/>
          </a:xfrm>
          <a:prstGeom prst="rect">
            <a:avLst/>
          </a:prstGeom>
          <a:noFill/>
        </p:spPr>
        <p:txBody>
          <a:bodyPr wrap="square" lIns="0" r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chemeClr val="bg1"/>
                </a:solidFill>
                <a:effectLst/>
                <a:uLnTx/>
                <a:uFillTx/>
                <a:latin typeface="+mn-ea"/>
                <a:cs typeface="+mn-ea"/>
                <a:sym typeface="+mn-lt"/>
              </a:rPr>
              <a:t>Contents</a:t>
            </a:r>
            <a:endParaRPr kumimoji="0" lang="zh-CN" altLang="en-US" sz="4400" b="0" i="0" u="none" strike="noStrike" kern="1200" cap="none" spc="0" normalizeH="0" baseline="0" noProof="0" dirty="0">
              <a:ln>
                <a:noFill/>
              </a:ln>
              <a:solidFill>
                <a:schemeClr val="bg1"/>
              </a:solidFill>
              <a:effectLst/>
              <a:uLnTx/>
              <a:uFillTx/>
              <a:latin typeface="+mn-ea"/>
              <a:cs typeface="+mn-ea"/>
              <a:sym typeface="+mn-lt"/>
            </a:endParaRPr>
          </a:p>
        </p:txBody>
      </p:sp>
      <p:grpSp>
        <p:nvGrpSpPr>
          <p:cNvPr id="29" name="组合 28"/>
          <p:cNvGrpSpPr/>
          <p:nvPr userDrawn="1"/>
        </p:nvGrpSpPr>
        <p:grpSpPr>
          <a:xfrm flipV="1">
            <a:off x="827551" y="209476"/>
            <a:ext cx="303107" cy="303107"/>
            <a:chOff x="962675" y="5112327"/>
            <a:chExt cx="672161" cy="672161"/>
          </a:xfrm>
        </p:grpSpPr>
        <p:cxnSp>
          <p:nvCxnSpPr>
            <p:cNvPr id="30" name="直接连接符 29"/>
            <p:cNvCxnSpPr/>
            <p:nvPr/>
          </p:nvCxnSpPr>
          <p:spPr>
            <a:xfrm flipH="1">
              <a:off x="962675" y="5784488"/>
              <a:ext cx="672161" cy="0"/>
            </a:xfrm>
            <a:prstGeom prst="line">
              <a:avLst/>
            </a:prstGeom>
            <a:noFill/>
            <a:ln>
              <a:solidFill>
                <a:schemeClr val="bg1">
                  <a:alpha val="6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直接连接符 30"/>
            <p:cNvCxnSpPr/>
            <p:nvPr/>
          </p:nvCxnSpPr>
          <p:spPr>
            <a:xfrm flipV="1">
              <a:off x="962675" y="5112327"/>
              <a:ext cx="0" cy="672161"/>
            </a:xfrm>
            <a:prstGeom prst="line">
              <a:avLst/>
            </a:prstGeom>
            <a:noFill/>
            <a:ln>
              <a:solidFill>
                <a:schemeClr val="bg1">
                  <a:alpha val="65000"/>
                </a:schemeClr>
              </a:solidFill>
            </a:ln>
          </p:spPr>
          <p:style>
            <a:lnRef idx="2">
              <a:schemeClr val="accent1">
                <a:shade val="50000"/>
              </a:schemeClr>
            </a:lnRef>
            <a:fillRef idx="1">
              <a:schemeClr val="accent1"/>
            </a:fillRef>
            <a:effectRef idx="0">
              <a:schemeClr val="accent1"/>
            </a:effectRef>
            <a:fontRef idx="minor">
              <a:schemeClr val="lt1"/>
            </a:fontRef>
          </p:style>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gradFill>
            <a:gsLst>
              <a:gs pos="20000">
                <a:schemeClr val="accent1">
                  <a:lumMod val="75000"/>
                </a:schemeClr>
              </a:gs>
              <a:gs pos="100000">
                <a:schemeClr val="accent1">
                  <a:lumMod val="5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cs typeface="+mn-cs"/>
            </a:endParaRPr>
          </a:p>
        </p:txBody>
      </p:sp>
      <p:grpSp>
        <p:nvGrpSpPr>
          <p:cNvPr id="9" name="组合 8"/>
          <p:cNvGrpSpPr/>
          <p:nvPr userDrawn="1"/>
        </p:nvGrpSpPr>
        <p:grpSpPr>
          <a:xfrm flipH="1">
            <a:off x="873577" y="0"/>
            <a:ext cx="231871" cy="3276600"/>
            <a:chOff x="4399082" y="1624876"/>
            <a:chExt cx="231871" cy="3276600"/>
          </a:xfrm>
        </p:grpSpPr>
        <p:cxnSp>
          <p:nvCxnSpPr>
            <p:cNvPr id="10" name="直接连接符 9"/>
            <p:cNvCxnSpPr/>
            <p:nvPr/>
          </p:nvCxnSpPr>
          <p:spPr>
            <a:xfrm rot="5400000" flipV="1">
              <a:off x="2992653" y="3263176"/>
              <a:ext cx="3276600" cy="0"/>
            </a:xfrm>
            <a:prstGeom prst="line">
              <a:avLst/>
            </a:prstGeom>
            <a:ln w="38100">
              <a:gradFill flip="none" rotWithShape="1">
                <a:gsLst>
                  <a:gs pos="29000">
                    <a:schemeClr val="accent5">
                      <a:lumMod val="75000"/>
                    </a:schemeClr>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flipV="1">
              <a:off x="3608507" y="2415451"/>
              <a:ext cx="1581150" cy="0"/>
            </a:xfrm>
            <a:prstGeom prst="line">
              <a:avLst/>
            </a:prstGeom>
            <a:ln w="38100">
              <a:gradFill flip="none" rotWithShape="1">
                <a:gsLst>
                  <a:gs pos="29000">
                    <a:schemeClr val="accent5">
                      <a:lumMod val="75000"/>
                    </a:schemeClr>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2" name="文本占位符 11"/>
          <p:cNvSpPr>
            <a:spLocks noGrp="1"/>
          </p:cNvSpPr>
          <p:nvPr>
            <p:ph type="body" sz="quarter" idx="10" hasCustomPrompt="1"/>
          </p:nvPr>
        </p:nvSpPr>
        <p:spPr>
          <a:xfrm>
            <a:off x="1105448" y="1524184"/>
            <a:ext cx="3168459" cy="7146957"/>
          </a:xfrm>
          <a:prstGeom prst="rect">
            <a:avLst/>
          </a:prstGeom>
          <a:noFill/>
        </p:spPr>
        <p:txBody>
          <a:bodyPr wrap="square" rtlCol="0">
            <a:spAutoFit/>
          </a:bodyPr>
          <a:lstStyle>
            <a:lvl1pPr marL="0" indent="0">
              <a:buNone/>
              <a:defRPr lang="zh-CN" altLang="en-US" sz="50000" dirty="0">
                <a:gradFill>
                  <a:gsLst>
                    <a:gs pos="29000">
                      <a:srgbClr val="F9F9F9"/>
                    </a:gs>
                    <a:gs pos="80000">
                      <a:srgbClr val="F9F9F9">
                        <a:alpha val="0"/>
                      </a:srgbClr>
                    </a:gs>
                  </a:gsLst>
                  <a:lin ang="5400000" scaled="0"/>
                </a:gradFill>
                <a:latin typeface="OPPOSans L" panose="00020600040101010101" pitchFamily="18" charset="-122"/>
                <a:ea typeface="OPPOSans B" panose="00020600040101010101" pitchFamily="18" charset="-122"/>
                <a:cs typeface="Arial" panose="020B0604020202020204" pitchFamily="34" charset="0"/>
              </a:defRPr>
            </a:lvl1pPr>
          </a:lstStyle>
          <a:p>
            <a:pPr marL="0" lvl="0" algn="ctr"/>
            <a:r>
              <a:rPr lang="en-US" altLang="zh-CN" dirty="0"/>
              <a:t>1</a:t>
            </a:r>
            <a:endParaRPr lang="zh-CN" altLang="en-US" dirty="0"/>
          </a:p>
        </p:txBody>
      </p:sp>
      <p:sp>
        <p:nvSpPr>
          <p:cNvPr id="13" name="文本占位符 12"/>
          <p:cNvSpPr>
            <a:spLocks noGrp="1"/>
          </p:cNvSpPr>
          <p:nvPr>
            <p:ph type="body" sz="quarter" idx="11" hasCustomPrompt="1"/>
          </p:nvPr>
        </p:nvSpPr>
        <p:spPr>
          <a:xfrm>
            <a:off x="4251324" y="2856485"/>
            <a:ext cx="5216027" cy="854208"/>
          </a:xfrm>
          <a:prstGeom prst="rect">
            <a:avLst/>
          </a:prstGeom>
          <a:noFill/>
        </p:spPr>
        <p:txBody>
          <a:bodyPr wrap="square" rtlCol="0">
            <a:spAutoFit/>
          </a:bodyPr>
          <a:lstStyle>
            <a:lvl1pPr marL="0" indent="0">
              <a:buNone/>
              <a:defRPr lang="zh-CN" altLang="en-US" sz="5400" b="1" dirty="0">
                <a:solidFill>
                  <a:srgbClr val="FCEEE8"/>
                </a:solidFill>
                <a:latin typeface="OPPOSans M" panose="00020600040101010101" pitchFamily="18" charset="-122"/>
                <a:ea typeface="OPPOSans M" panose="00020600040101010101" pitchFamily="18" charset="-122"/>
              </a:defRPr>
            </a:lvl1pPr>
          </a:lstStyle>
          <a:p>
            <a:pPr marL="0" lvl="0" defTabSz="914400"/>
            <a:r>
              <a:rPr lang="zh-CN" altLang="en-US" dirty="0"/>
              <a:t>请输入您的标题</a:t>
            </a:r>
            <a:endParaRPr lang="zh-CN" altLang="en-US" dirty="0"/>
          </a:p>
        </p:txBody>
      </p:sp>
      <p:sp>
        <p:nvSpPr>
          <p:cNvPr id="14" name="文本占位符 13"/>
          <p:cNvSpPr>
            <a:spLocks noGrp="1"/>
          </p:cNvSpPr>
          <p:nvPr>
            <p:ph type="body" sz="quarter" idx="13" hasCustomPrompt="1"/>
          </p:nvPr>
        </p:nvSpPr>
        <p:spPr>
          <a:xfrm>
            <a:off x="4251325" y="3696715"/>
            <a:ext cx="5216027" cy="430952"/>
          </a:xfrm>
          <a:prstGeom prst="rect">
            <a:avLst/>
          </a:prstGeom>
          <a:noFill/>
        </p:spPr>
        <p:txBody>
          <a:bodyPr wrap="square" rtlCol="0">
            <a:spAutoFit/>
          </a:bodyPr>
          <a:lstStyle>
            <a:lvl1pPr marL="0" indent="0" algn="l" defTabSz="914400">
              <a:buNone/>
              <a:defRPr lang="zh-CN" altLang="en-US" sz="2400" b="0" dirty="0">
                <a:solidFill>
                  <a:srgbClr val="FCEEE8"/>
                </a:solidFill>
                <a:latin typeface="OPPOSans M" panose="00020600040101010101" pitchFamily="18" charset="-122"/>
                <a:ea typeface="OPPOSans M" panose="00020600040101010101" pitchFamily="18" charset="-122"/>
              </a:defRPr>
            </a:lvl1pPr>
          </a:lstStyle>
          <a:p>
            <a:pPr marL="0" lvl="0" defTabSz="914400"/>
            <a:r>
              <a:rPr lang="en-US" altLang="zh-CN" dirty="0"/>
              <a:t>Please Enter Your Title Here</a:t>
            </a:r>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尾页">
    <p:spTree>
      <p:nvGrpSpPr>
        <p:cNvPr id="1" name=""/>
        <p:cNvGrpSpPr/>
        <p:nvPr/>
      </p:nvGrpSpPr>
      <p:grpSpPr>
        <a:xfrm>
          <a:off x="0" y="0"/>
          <a:ext cx="0" cy="0"/>
          <a:chOff x="0" y="0"/>
          <a:chExt cx="0" cy="0"/>
        </a:xfrm>
      </p:grpSpPr>
      <p:sp>
        <p:nvSpPr>
          <p:cNvPr id="10" name="任意多边形: 形状 9"/>
          <p:cNvSpPr/>
          <p:nvPr userDrawn="1"/>
        </p:nvSpPr>
        <p:spPr>
          <a:xfrm>
            <a:off x="-21303" y="0"/>
            <a:ext cx="12191999" cy="4124967"/>
          </a:xfrm>
          <a:custGeom>
            <a:avLst/>
            <a:gdLst>
              <a:gd name="connsiteX0" fmla="*/ 0 w 12191999"/>
              <a:gd name="connsiteY0" fmla="*/ 0 h 4124967"/>
              <a:gd name="connsiteX1" fmla="*/ 12191999 w 12191999"/>
              <a:gd name="connsiteY1" fmla="*/ 0 h 4124967"/>
              <a:gd name="connsiteX2" fmla="*/ 12191999 w 12191999"/>
              <a:gd name="connsiteY2" fmla="*/ 2239606 h 4124967"/>
              <a:gd name="connsiteX3" fmla="*/ 11991047 w 12191999"/>
              <a:gd name="connsiteY3" fmla="*/ 2441353 h 4124967"/>
              <a:gd name="connsiteX4" fmla="*/ 11787221 w 12191999"/>
              <a:gd name="connsiteY4" fmla="*/ 2610427 h 4124967"/>
              <a:gd name="connsiteX5" fmla="*/ 11692561 w 12191999"/>
              <a:gd name="connsiteY5" fmla="*/ 2679079 h 4124967"/>
              <a:gd name="connsiteX6" fmla="*/ 11361871 w 12191999"/>
              <a:gd name="connsiteY6" fmla="*/ 2877397 h 4124967"/>
              <a:gd name="connsiteX7" fmla="*/ 10179231 w 12191999"/>
              <a:gd name="connsiteY7" fmla="*/ 3450657 h 4124967"/>
              <a:gd name="connsiteX8" fmla="*/ 9762711 w 12191999"/>
              <a:gd name="connsiteY8" fmla="*/ 3609461 h 4124967"/>
              <a:gd name="connsiteX9" fmla="*/ 9502991 w 12191999"/>
              <a:gd name="connsiteY9" fmla="*/ 3688922 h 4124967"/>
              <a:gd name="connsiteX10" fmla="*/ 6781467 w 12191999"/>
              <a:gd name="connsiteY10" fmla="*/ 4121478 h 4124967"/>
              <a:gd name="connsiteX11" fmla="*/ 6686585 w 12191999"/>
              <a:gd name="connsiteY11" fmla="*/ 4124967 h 4124967"/>
              <a:gd name="connsiteX12" fmla="*/ 5505413 w 12191999"/>
              <a:gd name="connsiteY12" fmla="*/ 4124967 h 4124967"/>
              <a:gd name="connsiteX13" fmla="*/ 5410533 w 12191999"/>
              <a:gd name="connsiteY13" fmla="*/ 4121478 h 4124967"/>
              <a:gd name="connsiteX14" fmla="*/ 2689007 w 12191999"/>
              <a:gd name="connsiteY14" fmla="*/ 3688922 h 4124967"/>
              <a:gd name="connsiteX15" fmla="*/ 2429290 w 12191999"/>
              <a:gd name="connsiteY15" fmla="*/ 3609461 h 4124967"/>
              <a:gd name="connsiteX16" fmla="*/ 2012768 w 12191999"/>
              <a:gd name="connsiteY16" fmla="*/ 3450657 h 4124967"/>
              <a:gd name="connsiteX17" fmla="*/ 830127 w 12191999"/>
              <a:gd name="connsiteY17" fmla="*/ 2877397 h 4124967"/>
              <a:gd name="connsiteX18" fmla="*/ 499425 w 12191999"/>
              <a:gd name="connsiteY18" fmla="*/ 2679072 h 4124967"/>
              <a:gd name="connsiteX19" fmla="*/ 404776 w 12191999"/>
              <a:gd name="connsiteY19" fmla="*/ 2610427 h 4124967"/>
              <a:gd name="connsiteX20" fmla="*/ 200950 w 12191999"/>
              <a:gd name="connsiteY20" fmla="*/ 2441353 h 4124967"/>
              <a:gd name="connsiteX21" fmla="*/ 0 w 12191999"/>
              <a:gd name="connsiteY21" fmla="*/ 2239609 h 412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1999" h="4124967">
                <a:moveTo>
                  <a:pt x="0" y="0"/>
                </a:moveTo>
                <a:lnTo>
                  <a:pt x="12191999" y="0"/>
                </a:lnTo>
                <a:lnTo>
                  <a:pt x="12191999" y="2239606"/>
                </a:lnTo>
                <a:lnTo>
                  <a:pt x="11991047" y="2441353"/>
                </a:lnTo>
                <a:cubicBezTo>
                  <a:pt x="11926543" y="2498781"/>
                  <a:pt x="11858555" y="2555161"/>
                  <a:pt x="11787221" y="2610427"/>
                </a:cubicBezTo>
                <a:lnTo>
                  <a:pt x="11692561" y="2679079"/>
                </a:lnTo>
                <a:lnTo>
                  <a:pt x="11361871" y="2877397"/>
                </a:lnTo>
                <a:cubicBezTo>
                  <a:pt x="10986079" y="3091504"/>
                  <a:pt x="10590977" y="3283339"/>
                  <a:pt x="10179231" y="3450657"/>
                </a:cubicBezTo>
                <a:lnTo>
                  <a:pt x="9762711" y="3609461"/>
                </a:lnTo>
                <a:lnTo>
                  <a:pt x="9502991" y="3688922"/>
                </a:lnTo>
                <a:cubicBezTo>
                  <a:pt x="8690339" y="3921282"/>
                  <a:pt x="7767486" y="4073049"/>
                  <a:pt x="6781467" y="4121478"/>
                </a:cubicBezTo>
                <a:lnTo>
                  <a:pt x="6686585" y="4124967"/>
                </a:lnTo>
                <a:lnTo>
                  <a:pt x="5505413" y="4124967"/>
                </a:lnTo>
                <a:lnTo>
                  <a:pt x="5410533" y="4121478"/>
                </a:lnTo>
                <a:cubicBezTo>
                  <a:pt x="4424513" y="4073049"/>
                  <a:pt x="3501660" y="3921282"/>
                  <a:pt x="2689007" y="3688922"/>
                </a:cubicBezTo>
                <a:lnTo>
                  <a:pt x="2429290" y="3609461"/>
                </a:lnTo>
                <a:lnTo>
                  <a:pt x="2012768" y="3450657"/>
                </a:lnTo>
                <a:cubicBezTo>
                  <a:pt x="1601022" y="3283339"/>
                  <a:pt x="1205920" y="3091504"/>
                  <a:pt x="830127" y="2877397"/>
                </a:cubicBezTo>
                <a:lnTo>
                  <a:pt x="499425" y="2679072"/>
                </a:lnTo>
                <a:lnTo>
                  <a:pt x="404776" y="2610427"/>
                </a:lnTo>
                <a:cubicBezTo>
                  <a:pt x="333443" y="2555161"/>
                  <a:pt x="265455" y="2498781"/>
                  <a:pt x="200950" y="2441353"/>
                </a:cubicBezTo>
                <a:lnTo>
                  <a:pt x="0" y="2239609"/>
                </a:lnTo>
                <a:close/>
              </a:path>
            </a:pathLst>
          </a:cu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cxnSp>
        <p:nvCxnSpPr>
          <p:cNvPr id="14" name="直接连接符 13"/>
          <p:cNvCxnSpPr/>
          <p:nvPr userDrawn="1"/>
        </p:nvCxnSpPr>
        <p:spPr>
          <a:xfrm>
            <a:off x="2022932" y="5558695"/>
            <a:ext cx="8234585" cy="0"/>
          </a:xfrm>
          <a:prstGeom prst="line">
            <a:avLst/>
          </a:prstGeom>
          <a:ln w="6350">
            <a:gradFill flip="none" rotWithShape="1">
              <a:gsLst>
                <a:gs pos="0">
                  <a:schemeClr val="tx1">
                    <a:lumMod val="65000"/>
                    <a:lumOff val="35000"/>
                    <a:alpha val="0"/>
                  </a:schemeClr>
                </a:gs>
                <a:gs pos="100000">
                  <a:schemeClr val="tx1">
                    <a:lumMod val="65000"/>
                    <a:lumOff val="35000"/>
                    <a:alpha val="0"/>
                  </a:schemeClr>
                </a:gs>
                <a:gs pos="41000">
                  <a:schemeClr val="tx1">
                    <a:lumMod val="65000"/>
                    <a:lumOff val="35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userDrawn="1"/>
        </p:nvSpPr>
        <p:spPr>
          <a:xfrm>
            <a:off x="-6063" y="540"/>
            <a:ext cx="12199046" cy="4124967"/>
          </a:xfrm>
          <a:custGeom>
            <a:avLst/>
            <a:gdLst>
              <a:gd name="connsiteX0" fmla="*/ 0 w 12192000"/>
              <a:gd name="connsiteY0" fmla="*/ 0 h 3979379"/>
              <a:gd name="connsiteX1" fmla="*/ 12192000 w 12192000"/>
              <a:gd name="connsiteY1" fmla="*/ 0 h 3979379"/>
              <a:gd name="connsiteX2" fmla="*/ 12192000 w 12192000"/>
              <a:gd name="connsiteY2" fmla="*/ 2160560 h 3979379"/>
              <a:gd name="connsiteX3" fmla="*/ 11991049 w 12192000"/>
              <a:gd name="connsiteY3" fmla="*/ 2355187 h 3979379"/>
              <a:gd name="connsiteX4" fmla="*/ 6781467 w 12192000"/>
              <a:gd name="connsiteY4" fmla="*/ 3976013 h 3979379"/>
              <a:gd name="connsiteX5" fmla="*/ 6686586 w 12192000"/>
              <a:gd name="connsiteY5" fmla="*/ 3979379 h 3979379"/>
              <a:gd name="connsiteX6" fmla="*/ 5505414 w 12192000"/>
              <a:gd name="connsiteY6" fmla="*/ 3979379 h 3979379"/>
              <a:gd name="connsiteX7" fmla="*/ 5410533 w 12192000"/>
              <a:gd name="connsiteY7" fmla="*/ 3976013 h 3979379"/>
              <a:gd name="connsiteX8" fmla="*/ 200949 w 12192000"/>
              <a:gd name="connsiteY8" fmla="*/ 2355187 h 3979379"/>
              <a:gd name="connsiteX9" fmla="*/ 0 w 12192000"/>
              <a:gd name="connsiteY9" fmla="*/ 2160563 h 397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979379">
                <a:moveTo>
                  <a:pt x="0" y="0"/>
                </a:moveTo>
                <a:lnTo>
                  <a:pt x="12192000" y="0"/>
                </a:lnTo>
                <a:lnTo>
                  <a:pt x="12192000" y="2160560"/>
                </a:lnTo>
                <a:lnTo>
                  <a:pt x="11991049" y="2355187"/>
                </a:lnTo>
                <a:cubicBezTo>
                  <a:pt x="10958970" y="3241602"/>
                  <a:pt x="9035226" y="3869225"/>
                  <a:pt x="6781467" y="3976013"/>
                </a:cubicBezTo>
                <a:lnTo>
                  <a:pt x="6686586" y="3979379"/>
                </a:lnTo>
                <a:lnTo>
                  <a:pt x="5505414" y="3979379"/>
                </a:lnTo>
                <a:lnTo>
                  <a:pt x="5410533" y="3976013"/>
                </a:lnTo>
                <a:cubicBezTo>
                  <a:pt x="3156773" y="3869225"/>
                  <a:pt x="1233028" y="3241602"/>
                  <a:pt x="200949" y="2355187"/>
                </a:cubicBezTo>
                <a:lnTo>
                  <a:pt x="0" y="2160563"/>
                </a:lnTo>
                <a:close/>
              </a:path>
            </a:pathLst>
          </a:custGeom>
          <a:gradFill>
            <a:gsLst>
              <a:gs pos="0">
                <a:schemeClr val="accent1">
                  <a:lumMod val="75000"/>
                  <a:alpha val="76000"/>
                </a:schemeClr>
              </a:gs>
              <a:gs pos="100000">
                <a:schemeClr val="accent1">
                  <a:lumMod val="75000"/>
                  <a:alpha val="70000"/>
                </a:schemeClr>
              </a:gs>
            </a:gsLst>
            <a:lin ang="5400000" scaled="1"/>
          </a:gradFill>
        </p:spPr>
        <p:txBody>
          <a:bodyPr vert="horz" wrap="square"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sp>
        <p:nvSpPr>
          <p:cNvPr id="16" name="任意多边形: 形状 15"/>
          <p:cNvSpPr/>
          <p:nvPr userDrawn="1"/>
        </p:nvSpPr>
        <p:spPr>
          <a:xfrm>
            <a:off x="-21303" y="-16625"/>
            <a:ext cx="12230510" cy="4164498"/>
          </a:xfrm>
          <a:custGeom>
            <a:avLst/>
            <a:gdLst>
              <a:gd name="connsiteX0" fmla="*/ 0 w 12230510"/>
              <a:gd name="connsiteY0" fmla="*/ 0 h 4164498"/>
              <a:gd name="connsiteX1" fmla="*/ 12230510 w 12230510"/>
              <a:gd name="connsiteY1" fmla="*/ 0 h 4164498"/>
              <a:gd name="connsiteX2" fmla="*/ 12230510 w 12230510"/>
              <a:gd name="connsiteY2" fmla="*/ 2324605 h 4164498"/>
              <a:gd name="connsiteX3" fmla="*/ 12020998 w 12230510"/>
              <a:gd name="connsiteY3" fmla="*/ 2527523 h 4164498"/>
              <a:gd name="connsiteX4" fmla="*/ 6125951 w 12230510"/>
              <a:gd name="connsiteY4" fmla="*/ 4164498 h 4164498"/>
              <a:gd name="connsiteX5" fmla="*/ 230898 w 12230510"/>
              <a:gd name="connsiteY5" fmla="*/ 2527523 h 4164498"/>
              <a:gd name="connsiteX6" fmla="*/ 0 w 12230510"/>
              <a:gd name="connsiteY6" fmla="*/ 2303892 h 416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0510" h="4164498">
                <a:moveTo>
                  <a:pt x="0" y="0"/>
                </a:moveTo>
                <a:lnTo>
                  <a:pt x="12230510" y="0"/>
                </a:lnTo>
                <a:lnTo>
                  <a:pt x="12230510" y="2324605"/>
                </a:lnTo>
                <a:lnTo>
                  <a:pt x="12020998" y="2527523"/>
                </a:lnTo>
                <a:cubicBezTo>
                  <a:pt x="10885711" y="3502579"/>
                  <a:pt x="8671510" y="4164498"/>
                  <a:pt x="6125951" y="4164498"/>
                </a:cubicBezTo>
                <a:cubicBezTo>
                  <a:pt x="3580388" y="4164498"/>
                  <a:pt x="1366185" y="3502579"/>
                  <a:pt x="230898" y="2527523"/>
                </a:cubicBezTo>
                <a:lnTo>
                  <a:pt x="0" y="2303892"/>
                </a:lnTo>
                <a:close/>
              </a:path>
            </a:pathLst>
          </a:custGeom>
          <a:noFill/>
          <a:ln w="6350">
            <a:gradFill>
              <a:gsLst>
                <a:gs pos="100000">
                  <a:schemeClr val="accent1">
                    <a:lumMod val="75000"/>
                    <a:alpha val="3000"/>
                  </a:schemeClr>
                </a:gs>
                <a:gs pos="53000">
                  <a:schemeClr val="accent1">
                    <a:lumMod val="75000"/>
                    <a:alpha val="88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rPr>
              <a:t>     </a:t>
            </a:r>
            <a:endParaRPr kumimoji="0" lang="zh-CN" altLang="en-US"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slideLayout" Target="../slideLayouts/slideLayout6.xml"/><Relationship Id="rId14" Type="http://schemas.openxmlformats.org/officeDocument/2006/relationships/tags" Target="../tags/tag12.xml"/><Relationship Id="rId13" Type="http://schemas.openxmlformats.org/officeDocument/2006/relationships/image" Target="../media/image12.png"/><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jpeg"/></Relationships>
</file>

<file path=ppt/slides/_rels/slide4.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5" Type="http://schemas.openxmlformats.org/officeDocument/2006/relationships/slideLayout" Target="../slideLayouts/slideLayout6.xml"/><Relationship Id="rId34" Type="http://schemas.openxmlformats.org/officeDocument/2006/relationships/tags" Target="../tags/tag44.xml"/><Relationship Id="rId33" Type="http://schemas.openxmlformats.org/officeDocument/2006/relationships/tags" Target="../tags/tag43.xml"/><Relationship Id="rId32" Type="http://schemas.openxmlformats.org/officeDocument/2006/relationships/tags" Target="../tags/tag42.xml"/><Relationship Id="rId31" Type="http://schemas.openxmlformats.org/officeDocument/2006/relationships/tags" Target="../tags/tag41.xml"/><Relationship Id="rId30" Type="http://schemas.openxmlformats.org/officeDocument/2006/relationships/tags" Target="../tags/tag40.xml"/><Relationship Id="rId3" Type="http://schemas.openxmlformats.org/officeDocument/2006/relationships/image" Target="../media/image16.png"/><Relationship Id="rId29" Type="http://schemas.openxmlformats.org/officeDocument/2006/relationships/tags" Target="../tags/tag39.xml"/><Relationship Id="rId28" Type="http://schemas.openxmlformats.org/officeDocument/2006/relationships/tags" Target="../tags/tag38.xml"/><Relationship Id="rId27" Type="http://schemas.openxmlformats.org/officeDocument/2006/relationships/tags" Target="../tags/tag37.xml"/><Relationship Id="rId26" Type="http://schemas.openxmlformats.org/officeDocument/2006/relationships/tags" Target="../tags/tag36.xml"/><Relationship Id="rId25" Type="http://schemas.openxmlformats.org/officeDocument/2006/relationships/tags" Target="../tags/tag35.xml"/><Relationship Id="rId24" Type="http://schemas.openxmlformats.org/officeDocument/2006/relationships/tags" Target="../tags/tag34.xml"/><Relationship Id="rId23" Type="http://schemas.openxmlformats.org/officeDocument/2006/relationships/tags" Target="../tags/tag33.xml"/><Relationship Id="rId22" Type="http://schemas.openxmlformats.org/officeDocument/2006/relationships/tags" Target="../tags/tag32.xml"/><Relationship Id="rId21" Type="http://schemas.openxmlformats.org/officeDocument/2006/relationships/tags" Target="../tags/tag31.xml"/><Relationship Id="rId20" Type="http://schemas.openxmlformats.org/officeDocument/2006/relationships/tags" Target="../tags/tag30.xml"/><Relationship Id="rId2" Type="http://schemas.openxmlformats.org/officeDocument/2006/relationships/tags" Target="../tags/tag13.xml"/><Relationship Id="rId19" Type="http://schemas.openxmlformats.org/officeDocument/2006/relationships/tags" Target="../tags/tag29.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image" Target="../media/image15.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8.pn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image" Target="../media/image20.jpeg"/><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image" Target="../media/image19.jpeg"/><Relationship Id="rId3" Type="http://schemas.openxmlformats.org/officeDocument/2006/relationships/tags" Target="../tags/tag47.xml"/><Relationship Id="rId20" Type="http://schemas.openxmlformats.org/officeDocument/2006/relationships/slideLayout" Target="../slideLayouts/slideLayout6.xml"/><Relationship Id="rId2" Type="http://schemas.openxmlformats.org/officeDocument/2006/relationships/tags" Target="../tags/tag46.xml"/><Relationship Id="rId19" Type="http://schemas.openxmlformats.org/officeDocument/2006/relationships/image" Target="../media/image17.png"/><Relationship Id="rId18" Type="http://schemas.openxmlformats.org/officeDocument/2006/relationships/tags" Target="../tags/tag60.xml"/><Relationship Id="rId17" Type="http://schemas.openxmlformats.org/officeDocument/2006/relationships/tags" Target="../tags/tag59.xml"/><Relationship Id="rId16" Type="http://schemas.openxmlformats.org/officeDocument/2006/relationships/tags" Target="../tags/tag58.xml"/><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tags" Target="../tags/tag45.xml"/></Relationships>
</file>

<file path=ppt/slides/_rels/slide8.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image" Target="../media/image20.jpeg"/><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image" Target="../media/image19.jpeg"/><Relationship Id="rId3" Type="http://schemas.openxmlformats.org/officeDocument/2006/relationships/tags" Target="../tags/tag63.xml"/><Relationship Id="rId20" Type="http://schemas.openxmlformats.org/officeDocument/2006/relationships/slideLayout" Target="../slideLayouts/slideLayout6.xml"/><Relationship Id="rId2" Type="http://schemas.openxmlformats.org/officeDocument/2006/relationships/tags" Target="../tags/tag62.xml"/><Relationship Id="rId19" Type="http://schemas.openxmlformats.org/officeDocument/2006/relationships/image" Target="../media/image17.png"/><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6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8.png"/><Relationship Id="rId1" Type="http://schemas.openxmlformats.org/officeDocument/2006/relationships/image" Target="../media/image2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2" Type="http://schemas.openxmlformats.org/officeDocument/2006/relationships/slideLayout" Target="../slideLayouts/slideLayout6.xml"/><Relationship Id="rId21" Type="http://schemas.openxmlformats.org/officeDocument/2006/relationships/tags" Target="../tags/tag101.xml"/><Relationship Id="rId20" Type="http://schemas.openxmlformats.org/officeDocument/2006/relationships/tags" Target="../tags/tag100.xml"/><Relationship Id="rId2" Type="http://schemas.openxmlformats.org/officeDocument/2006/relationships/tags" Target="../tags/tag82.xml"/><Relationship Id="rId19" Type="http://schemas.openxmlformats.org/officeDocument/2006/relationships/tags" Target="../tags/tag99.xml"/><Relationship Id="rId18" Type="http://schemas.openxmlformats.org/officeDocument/2006/relationships/tags" Target="../tags/tag98.xml"/><Relationship Id="rId17" Type="http://schemas.openxmlformats.org/officeDocument/2006/relationships/tags" Target="../tags/tag97.xml"/><Relationship Id="rId16" Type="http://schemas.openxmlformats.org/officeDocument/2006/relationships/tags" Target="../tags/tag96.xml"/><Relationship Id="rId15" Type="http://schemas.openxmlformats.org/officeDocument/2006/relationships/tags" Target="../tags/tag95.xml"/><Relationship Id="rId14" Type="http://schemas.openxmlformats.org/officeDocument/2006/relationships/tags" Target="../tags/tag94.xml"/><Relationship Id="rId13" Type="http://schemas.openxmlformats.org/officeDocument/2006/relationships/tags" Target="../tags/tag93.xml"/><Relationship Id="rId12" Type="http://schemas.openxmlformats.org/officeDocument/2006/relationships/tags" Target="../tags/tag9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7" Type="http://schemas.openxmlformats.org/officeDocument/2006/relationships/slideLayout" Target="../slideLayouts/slideLayout6.xml"/><Relationship Id="rId16" Type="http://schemas.openxmlformats.org/officeDocument/2006/relationships/tags" Target="../tags/tag116.xml"/><Relationship Id="rId15" Type="http://schemas.openxmlformats.org/officeDocument/2006/relationships/tags" Target="../tags/tag115.xml"/><Relationship Id="rId14" Type="http://schemas.openxmlformats.org/officeDocument/2006/relationships/tags" Target="../tags/tag114.xml"/><Relationship Id="rId13" Type="http://schemas.openxmlformats.org/officeDocument/2006/relationships/tags" Target="../tags/tag113.xml"/><Relationship Id="rId12" Type="http://schemas.openxmlformats.org/officeDocument/2006/relationships/tags" Target="../tags/tag112.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2.png"/><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8.png"/><Relationship Id="rId1"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3.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8.png"/><Relationship Id="rId1"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1"/>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295275" y="161925"/>
            <a:ext cx="11953869" cy="6305550"/>
          </a:xfrm>
          <a:prstGeom prst="rect">
            <a:avLst/>
          </a:prstGeom>
          <a:noFill/>
          <a:ln w="28575">
            <a:solidFill>
              <a:srgbClr val="7186A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752725" y="6989"/>
            <a:ext cx="231871" cy="3276600"/>
            <a:chOff x="4399082" y="1624876"/>
            <a:chExt cx="231871" cy="3276600"/>
          </a:xfrm>
        </p:grpSpPr>
        <p:cxnSp>
          <p:nvCxnSpPr>
            <p:cNvPr id="4" name="直接连接符 3"/>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flipH="1" flipV="1">
            <a:off x="11202882" y="3581400"/>
            <a:ext cx="231871" cy="3276600"/>
            <a:chOff x="4399082" y="1624876"/>
            <a:chExt cx="231871" cy="3276600"/>
          </a:xfrm>
        </p:grpSpPr>
        <p:cxnSp>
          <p:nvCxnSpPr>
            <p:cNvPr id="13" name="直接连接符 12"/>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151765" y="4847908"/>
            <a:ext cx="11282680" cy="922020"/>
          </a:xfrm>
          <a:prstGeom prst="rect">
            <a:avLst/>
          </a:prstGeom>
          <a:noFill/>
        </p:spPr>
        <p:txBody>
          <a:bodyPr vert="horz" wrap="square" lIns="91440" tIns="45720" rIns="91440" bIns="45720" rtlCol="0" anchor="ctr">
            <a:spAutoFit/>
          </a:bodyPr>
          <a:lstStyle>
            <a:defPPr>
              <a:defRPr lang="zh-CN"/>
            </a:defPPr>
            <a:lvl1pPr marL="0" indent="0" algn="l" defTabSz="914400" rtl="0" eaLnBrk="1" latinLnBrk="0" hangingPunct="1">
              <a:buNone/>
              <a:defRPr lang="zh-CN" altLang="en-US" sz="50000" kern="1200" dirty="0">
                <a:gradFill>
                  <a:gsLst>
                    <a:gs pos="29000">
                      <a:srgbClr val="F9F9F9"/>
                    </a:gs>
                    <a:gs pos="80000">
                      <a:srgbClr val="F9F9F9">
                        <a:alpha val="0"/>
                      </a:srgbClr>
                    </a:gs>
                  </a:gsLst>
                  <a:lin ang="5400000" scaled="0"/>
                </a:gradFill>
                <a:latin typeface="OPPOSans L" panose="00020600040101010101" pitchFamily="18" charset="-122"/>
                <a:ea typeface="OPPOSans H" panose="00020600040101010101" pitchFamily="18" charset="-122"/>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gradFill>
                  <a:gsLst>
                    <a:gs pos="19000">
                      <a:srgbClr val="F9F9F9"/>
                    </a:gs>
                    <a:gs pos="52000">
                      <a:srgbClr val="F9F9F9">
                        <a:alpha val="78000"/>
                      </a:srgbClr>
                    </a:gs>
                    <a:gs pos="80000">
                      <a:srgbClr val="323D50"/>
                    </a:gs>
                  </a:gsLst>
                  <a:lin ang="5400000" scaled="0"/>
                </a:gradFill>
                <a:effectLst/>
                <a:uLnTx/>
                <a:uFillTx/>
                <a:latin typeface="微软雅黑" panose="020B0503020204020204" charset="-122"/>
                <a:ea typeface="微软雅黑" panose="020B0503020204020204" charset="-122"/>
                <a:cs typeface="Arial" panose="020B0604020202020204" pitchFamily="34" charset="0"/>
              </a:rPr>
              <a:t>海洋微塑料污染动态监测与溯源系统</a:t>
            </a:r>
            <a:endParaRPr kumimoji="0" lang="zh-CN" altLang="en-US" sz="5400" b="1" i="0" u="none" strike="noStrike" kern="1200" cap="none" spc="0" normalizeH="0" baseline="0" noProof="0" dirty="0">
              <a:ln>
                <a:noFill/>
              </a:ln>
              <a:gradFill>
                <a:gsLst>
                  <a:gs pos="19000">
                    <a:srgbClr val="F9F9F9"/>
                  </a:gs>
                  <a:gs pos="52000">
                    <a:srgbClr val="F9F9F9">
                      <a:alpha val="78000"/>
                    </a:srgbClr>
                  </a:gs>
                  <a:gs pos="80000">
                    <a:srgbClr val="323D50"/>
                  </a:gs>
                </a:gsLst>
                <a:lin ang="5400000" scaled="0"/>
              </a:gradFill>
              <a:effectLst/>
              <a:uLnTx/>
              <a:uFillTx/>
              <a:latin typeface="微软雅黑" panose="020B0503020204020204" charset="-122"/>
              <a:ea typeface="微软雅黑" panose="020B0503020204020204" charset="-122"/>
              <a:cs typeface="Arial" panose="020B0604020202020204" pitchFamily="34" charset="0"/>
            </a:endParaRPr>
          </a:p>
        </p:txBody>
      </p:sp>
      <p:sp>
        <p:nvSpPr>
          <p:cNvPr id="11" name="流程图: 终止 10"/>
          <p:cNvSpPr/>
          <p:nvPr/>
        </p:nvSpPr>
        <p:spPr>
          <a:xfrm>
            <a:off x="533400" y="6216015"/>
            <a:ext cx="4562475" cy="476250"/>
          </a:xfrm>
          <a:prstGeom prst="flowChartTerminator">
            <a:avLst/>
          </a:prstGeom>
          <a:solidFill>
            <a:srgbClr val="7186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汇报人：刘佳鑫，徐华炫，毛星博</a:t>
            </a:r>
            <a:endParaRPr lang="zh-CN" altLang="en-US" dirty="0"/>
          </a:p>
        </p:txBody>
      </p:sp>
      <p:sp>
        <p:nvSpPr>
          <p:cNvPr id="16" name="文本框 15"/>
          <p:cNvSpPr txBox="1"/>
          <p:nvPr/>
        </p:nvSpPr>
        <p:spPr>
          <a:xfrm>
            <a:off x="5249225" y="6145849"/>
            <a:ext cx="2162174" cy="368300"/>
          </a:xfrm>
          <a:prstGeom prst="rect">
            <a:avLst/>
          </a:prstGeom>
          <a:noFill/>
        </p:spPr>
        <p:txBody>
          <a:bodyPr wrap="square" rtlCol="0">
            <a:spAutoFit/>
          </a:bodyPr>
          <a:lstStyle/>
          <a:p>
            <a:r>
              <a:rPr lang="zh-CN" altLang="en-US" dirty="0">
                <a:solidFill>
                  <a:srgbClr val="7186A7"/>
                </a:solidFill>
              </a:rPr>
              <a:t>时间：</a:t>
            </a:r>
            <a:r>
              <a:rPr lang="en-US" altLang="zh-CN" dirty="0">
                <a:solidFill>
                  <a:srgbClr val="7186A7"/>
                </a:solidFill>
              </a:rPr>
              <a:t>2025.4.28</a:t>
            </a:r>
            <a:endParaRPr lang="zh-CN" altLang="en-US" dirty="0">
              <a:solidFill>
                <a:srgbClr val="7186A7"/>
              </a:solidFill>
            </a:endParaRPr>
          </a:p>
        </p:txBody>
      </p:sp>
      <p:pic>
        <p:nvPicPr>
          <p:cNvPr id="20" name="图片 19"/>
          <p:cNvPicPr>
            <a:picLocks noChangeAspect="1"/>
          </p:cNvPicPr>
          <p:nvPr/>
        </p:nvPicPr>
        <p:blipFill>
          <a:blip r:embed="rId2" cstate="print"/>
          <a:stretch>
            <a:fillRect/>
          </a:stretch>
        </p:blipFill>
        <p:spPr>
          <a:xfrm>
            <a:off x="9248775" y="83185"/>
            <a:ext cx="2481580" cy="12611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8" name="矩形 27"/>
          <p:cNvSpPr/>
          <p:nvPr/>
        </p:nvSpPr>
        <p:spPr>
          <a:xfrm>
            <a:off x="2548327" y="209476"/>
            <a:ext cx="9367901" cy="6439048"/>
          </a:xfrm>
          <a:prstGeom prst="rect">
            <a:avLst/>
          </a:prstGeom>
          <a:solidFill>
            <a:srgbClr val="4B5C78">
              <a:alpha val="0"/>
            </a:srgbClr>
          </a:solidFill>
          <a:ln w="19050">
            <a:solidFill>
              <a:srgbClr val="4B5C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OPPOSans L" panose="00020600040101010101" pitchFamily="18" charset="-122"/>
            </a:endParaRPr>
          </a:p>
        </p:txBody>
      </p:sp>
      <p:sp>
        <p:nvSpPr>
          <p:cNvPr id="31" name="文本框 30"/>
          <p:cNvSpPr txBox="1"/>
          <p:nvPr>
            <p:custDataLst>
              <p:tags r:id="rId2"/>
            </p:custDataLst>
          </p:nvPr>
        </p:nvSpPr>
        <p:spPr>
          <a:xfrm>
            <a:off x="7616358" y="587459"/>
            <a:ext cx="1830818" cy="521970"/>
          </a:xfrm>
          <a:prstGeom prst="rect">
            <a:avLst/>
          </a:prstGeom>
          <a:noFill/>
        </p:spPr>
        <p:txBody>
          <a:bodyPr wrap="square" lIns="0" rtlCol="0">
            <a:spAutoFit/>
          </a:bodyPr>
          <a:lstStyle/>
          <a:p>
            <a:r>
              <a:rPr lang="zh-CN" altLang="en-US" sz="2800" b="1" dirty="0">
                <a:solidFill>
                  <a:schemeClr val="tx1"/>
                </a:solidFill>
                <a:latin typeface="微软雅黑" panose="020B0503020204020204" charset="-122"/>
                <a:ea typeface="微软雅黑" panose="020B0503020204020204" charset="-122"/>
              </a:rPr>
              <a:t>研究背景</a:t>
            </a:r>
            <a:endParaRPr lang="zh-CN" altLang="en-US" sz="2800" b="1" dirty="0">
              <a:solidFill>
                <a:schemeClr val="tx1"/>
              </a:solidFill>
              <a:latin typeface="微软雅黑" panose="020B0503020204020204" charset="-122"/>
              <a:ea typeface="微软雅黑" panose="020B0503020204020204" charset="-122"/>
            </a:endParaRPr>
          </a:p>
        </p:txBody>
      </p:sp>
      <p:sp>
        <p:nvSpPr>
          <p:cNvPr id="32" name="矩形 31"/>
          <p:cNvSpPr/>
          <p:nvPr>
            <p:custDataLst>
              <p:tags r:id="rId3"/>
            </p:custDataLst>
          </p:nvPr>
        </p:nvSpPr>
        <p:spPr>
          <a:xfrm>
            <a:off x="7616358" y="1021778"/>
            <a:ext cx="2805279" cy="275590"/>
          </a:xfrm>
          <a:prstGeom prst="rect">
            <a:avLst/>
          </a:prstGeom>
        </p:spPr>
        <p:txBody>
          <a:bodyPr wrap="square" lIns="0">
            <a:spAutoFit/>
          </a:bodyPr>
          <a:lstStyle/>
          <a:p>
            <a:pPr algn="l"/>
            <a:r>
              <a:rPr lang="en-US" altLang="zh-CN" sz="1200" b="1" dirty="0">
                <a:solidFill>
                  <a:schemeClr val="tx1"/>
                </a:solidFill>
                <a:latin typeface="微软雅黑" panose="020B0503020204020204" charset="-122"/>
                <a:ea typeface="微软雅黑" panose="020B0503020204020204" charset="-122"/>
                <a:cs typeface="OPPOSans B" panose="00020600040101010101" pitchFamily="18" charset="-122"/>
              </a:rPr>
              <a:t> Background of the study</a:t>
            </a:r>
            <a:endParaRPr lang="en-US" altLang="zh-CN" sz="1200" b="1" dirty="0">
              <a:solidFill>
                <a:schemeClr val="tx1"/>
              </a:solidFill>
              <a:latin typeface="微软雅黑" panose="020B0503020204020204" charset="-122"/>
              <a:ea typeface="微软雅黑" panose="020B0503020204020204" charset="-122"/>
              <a:cs typeface="OPPOSans B" panose="00020600040101010101" pitchFamily="18" charset="-122"/>
            </a:endParaRPr>
          </a:p>
        </p:txBody>
      </p:sp>
      <p:sp>
        <p:nvSpPr>
          <p:cNvPr id="33" name="文本框 32"/>
          <p:cNvSpPr txBox="1"/>
          <p:nvPr>
            <p:custDataLst>
              <p:tags r:id="rId4"/>
            </p:custDataLst>
          </p:nvPr>
        </p:nvSpPr>
        <p:spPr>
          <a:xfrm>
            <a:off x="7394575" y="1830705"/>
            <a:ext cx="2673350" cy="521970"/>
          </a:xfrm>
          <a:prstGeom prst="rect">
            <a:avLst/>
          </a:prstGeom>
          <a:noFill/>
        </p:spPr>
        <p:txBody>
          <a:bodyPr wrap="square" lIns="0" rtlCol="0">
            <a:spAutoFit/>
          </a:bodyPr>
          <a:lstStyle>
            <a:defPPr>
              <a:defRPr lang="zh-CN"/>
            </a:defPPr>
            <a:lvl1pPr>
              <a:defRPr sz="2800">
                <a:solidFill>
                  <a:schemeClr val="tx1">
                    <a:lumMod val="85000"/>
                    <a:lumOff val="15000"/>
                  </a:schemeClr>
                </a:solidFill>
                <a:latin typeface="+mj-ea"/>
                <a:ea typeface="+mj-ea"/>
              </a:defRPr>
            </a:lvl1pPr>
          </a:lstStyle>
          <a:p>
            <a:r>
              <a:rPr lang="zh-CN" altLang="en-US" b="1" dirty="0">
                <a:solidFill>
                  <a:schemeClr val="tx1"/>
                </a:solidFill>
                <a:latin typeface="微软雅黑" panose="020B0503020204020204" charset="-122"/>
                <a:ea typeface="微软雅黑" panose="020B0503020204020204" charset="-122"/>
              </a:rPr>
              <a:t>研究目的与方法</a:t>
            </a:r>
            <a:endParaRPr lang="zh-CN" altLang="en-US" b="1" dirty="0">
              <a:solidFill>
                <a:schemeClr val="tx1"/>
              </a:solidFill>
              <a:latin typeface="微软雅黑" panose="020B0503020204020204" charset="-122"/>
              <a:ea typeface="微软雅黑" panose="020B0503020204020204" charset="-122"/>
            </a:endParaRPr>
          </a:p>
        </p:txBody>
      </p:sp>
      <p:sp>
        <p:nvSpPr>
          <p:cNvPr id="34" name="矩形 33"/>
          <p:cNvSpPr/>
          <p:nvPr>
            <p:custDataLst>
              <p:tags r:id="rId5"/>
            </p:custDataLst>
          </p:nvPr>
        </p:nvSpPr>
        <p:spPr>
          <a:xfrm>
            <a:off x="7394681" y="2264719"/>
            <a:ext cx="2805279" cy="275590"/>
          </a:xfrm>
          <a:prstGeom prst="rect">
            <a:avLst/>
          </a:prstGeom>
        </p:spPr>
        <p:txBody>
          <a:bodyPr wrap="square" lIns="0">
            <a:spAutoFit/>
          </a:bodyPr>
          <a:lstStyle/>
          <a:p>
            <a:pPr lvl="0" algn="l">
              <a:buClrTx/>
              <a:buSzTx/>
              <a:buFontTx/>
            </a:pPr>
            <a:r>
              <a:rPr lang="en-US" altLang="zh-CN" sz="1200" b="1" dirty="0">
                <a:latin typeface="微软雅黑" panose="020B0503020204020204" charset="-122"/>
                <a:ea typeface="微软雅黑" panose="020B0503020204020204" charset="-122"/>
                <a:cs typeface="OPPOSans B" panose="00020600040101010101" pitchFamily="18" charset="-122"/>
                <a:sym typeface="+mn-ea"/>
              </a:rPr>
              <a:t>Purpose and methodology</a:t>
            </a:r>
            <a:endParaRPr lang="en-US" altLang="zh-CN" sz="1200" b="1" dirty="0">
              <a:latin typeface="微软雅黑" panose="020B0503020204020204" charset="-122"/>
              <a:ea typeface="微软雅黑" panose="020B0503020204020204" charset="-122"/>
              <a:cs typeface="OPPOSans B" panose="00020600040101010101" pitchFamily="18" charset="-122"/>
              <a:sym typeface="+mn-ea"/>
            </a:endParaRPr>
          </a:p>
        </p:txBody>
      </p:sp>
      <p:sp>
        <p:nvSpPr>
          <p:cNvPr id="36" name="文本框 35"/>
          <p:cNvSpPr txBox="1"/>
          <p:nvPr>
            <p:custDataLst>
              <p:tags r:id="rId6"/>
            </p:custDataLst>
          </p:nvPr>
        </p:nvSpPr>
        <p:spPr>
          <a:xfrm>
            <a:off x="7172960" y="3073400"/>
            <a:ext cx="2806065" cy="521970"/>
          </a:xfrm>
          <a:prstGeom prst="rect">
            <a:avLst/>
          </a:prstGeom>
          <a:noFill/>
        </p:spPr>
        <p:txBody>
          <a:bodyPr wrap="square" lIns="0" rtlCol="0">
            <a:spAutoFit/>
          </a:bodyPr>
          <a:lstStyle>
            <a:defPPr>
              <a:defRPr lang="zh-CN"/>
            </a:defPPr>
            <a:lvl1pPr>
              <a:defRPr sz="2800">
                <a:solidFill>
                  <a:schemeClr val="tx1">
                    <a:lumMod val="85000"/>
                    <a:lumOff val="15000"/>
                  </a:schemeClr>
                </a:solidFill>
                <a:latin typeface="+mj-ea"/>
                <a:ea typeface="+mj-ea"/>
              </a:defRPr>
            </a:lvl1pPr>
          </a:lstStyle>
          <a:p>
            <a:r>
              <a:rPr lang="zh-CN" altLang="en-US" b="1" dirty="0">
                <a:solidFill>
                  <a:schemeClr val="bg1"/>
                </a:solidFill>
                <a:latin typeface="微软雅黑" panose="020B0503020204020204" charset="-122"/>
                <a:ea typeface="微软雅黑" panose="020B0503020204020204" charset="-122"/>
              </a:rPr>
              <a:t>数据库设计方案</a:t>
            </a:r>
            <a:endParaRPr lang="zh-CN" altLang="en-US" b="1" dirty="0">
              <a:solidFill>
                <a:schemeClr val="bg1"/>
              </a:solidFill>
              <a:latin typeface="微软雅黑" panose="020B0503020204020204" charset="-122"/>
              <a:ea typeface="微软雅黑" panose="020B0503020204020204" charset="-122"/>
            </a:endParaRPr>
          </a:p>
        </p:txBody>
      </p:sp>
      <p:sp>
        <p:nvSpPr>
          <p:cNvPr id="37" name="矩形 36"/>
          <p:cNvSpPr/>
          <p:nvPr>
            <p:custDataLst>
              <p:tags r:id="rId7"/>
            </p:custDataLst>
          </p:nvPr>
        </p:nvSpPr>
        <p:spPr>
          <a:xfrm>
            <a:off x="7172960" y="3507740"/>
            <a:ext cx="2274570" cy="275590"/>
          </a:xfrm>
          <a:prstGeom prst="rect">
            <a:avLst/>
          </a:prstGeom>
        </p:spPr>
        <p:txBody>
          <a:bodyPr wrap="square" lIns="0">
            <a:spAutoFit/>
          </a:bodyPr>
          <a:lstStyle/>
          <a:p>
            <a:pPr algn="l"/>
            <a:r>
              <a:rPr lang="en-US" altLang="zh-CN" sz="1200" b="1" dirty="0">
                <a:solidFill>
                  <a:schemeClr val="bg1"/>
                </a:solidFill>
                <a:latin typeface="微软雅黑" panose="020B0503020204020204" charset="-122"/>
                <a:ea typeface="微软雅黑" panose="020B0503020204020204" charset="-122"/>
                <a:cs typeface="OPPOSans B" panose="00020600040101010101" pitchFamily="18" charset="-122"/>
              </a:rPr>
              <a:t>designing scheme</a:t>
            </a:r>
            <a:endParaRPr lang="en-US" altLang="zh-CN" sz="1200" b="1" dirty="0">
              <a:solidFill>
                <a:schemeClr val="bg1"/>
              </a:solidFill>
              <a:latin typeface="微软雅黑" panose="020B0503020204020204" charset="-122"/>
              <a:ea typeface="微软雅黑" panose="020B0503020204020204" charset="-122"/>
              <a:cs typeface="OPPOSans B" panose="00020600040101010101" pitchFamily="18" charset="-122"/>
            </a:endParaRPr>
          </a:p>
        </p:txBody>
      </p:sp>
      <p:sp>
        <p:nvSpPr>
          <p:cNvPr id="40" name="文本框 39"/>
          <p:cNvSpPr txBox="1"/>
          <p:nvPr>
            <p:custDataLst>
              <p:tags r:id="rId8"/>
            </p:custDataLst>
          </p:nvPr>
        </p:nvSpPr>
        <p:spPr>
          <a:xfrm>
            <a:off x="6969683" y="4292398"/>
            <a:ext cx="1830818" cy="521970"/>
          </a:xfrm>
          <a:prstGeom prst="rect">
            <a:avLst/>
          </a:prstGeom>
          <a:noFill/>
        </p:spPr>
        <p:txBody>
          <a:bodyPr wrap="square" lIns="0" rtlCol="0">
            <a:spAutoFit/>
          </a:bodyPr>
          <a:lstStyle>
            <a:defPPr>
              <a:defRPr lang="zh-CN"/>
            </a:defPPr>
            <a:lvl1pPr>
              <a:defRPr sz="2800">
                <a:solidFill>
                  <a:schemeClr val="tx1">
                    <a:lumMod val="85000"/>
                    <a:lumOff val="15000"/>
                  </a:schemeClr>
                </a:solidFill>
                <a:latin typeface="+mj-ea"/>
                <a:ea typeface="+mj-ea"/>
              </a:defRPr>
            </a:lvl1pPr>
          </a:lstStyle>
          <a:p>
            <a:r>
              <a:rPr lang="zh-CN" altLang="en-US" b="1" dirty="0">
                <a:solidFill>
                  <a:schemeClr val="bg1"/>
                </a:solidFill>
                <a:latin typeface="微软雅黑" panose="020B0503020204020204" charset="-122"/>
                <a:ea typeface="微软雅黑" panose="020B0503020204020204" charset="-122"/>
              </a:rPr>
              <a:t>进度安排</a:t>
            </a:r>
            <a:endParaRPr lang="zh-CN" altLang="en-US" b="1" dirty="0">
              <a:solidFill>
                <a:schemeClr val="bg1"/>
              </a:solidFill>
              <a:latin typeface="微软雅黑" panose="020B0503020204020204" charset="-122"/>
              <a:ea typeface="微软雅黑" panose="020B0503020204020204" charset="-122"/>
            </a:endParaRPr>
          </a:p>
        </p:txBody>
      </p:sp>
      <p:sp>
        <p:nvSpPr>
          <p:cNvPr id="42" name="椭圆 41"/>
          <p:cNvSpPr/>
          <p:nvPr>
            <p:custDataLst>
              <p:tags r:id="rId9"/>
            </p:custDataLst>
          </p:nvPr>
        </p:nvSpPr>
        <p:spPr>
          <a:xfrm>
            <a:off x="6328710" y="547352"/>
            <a:ext cx="801886" cy="801886"/>
          </a:xfrm>
          <a:prstGeom prst="ellipse">
            <a:avLst/>
          </a:prstGeom>
          <a:solidFill>
            <a:srgbClr val="4B5C7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r>
              <a:rPr lang="en-US" altLang="zh-CN" sz="2400" dirty="0">
                <a:latin typeface="+mn-ea"/>
              </a:rPr>
              <a:t>01</a:t>
            </a:r>
            <a:endParaRPr lang="zh-CN" altLang="en-US" sz="2400" dirty="0">
              <a:latin typeface="+mn-ea"/>
            </a:endParaRPr>
          </a:p>
        </p:txBody>
      </p:sp>
      <p:sp>
        <p:nvSpPr>
          <p:cNvPr id="43" name="椭圆 42"/>
          <p:cNvSpPr/>
          <p:nvPr>
            <p:custDataLst>
              <p:tags r:id="rId10"/>
            </p:custDataLst>
          </p:nvPr>
        </p:nvSpPr>
        <p:spPr>
          <a:xfrm>
            <a:off x="6076307" y="1787705"/>
            <a:ext cx="801886" cy="801886"/>
          </a:xfrm>
          <a:prstGeom prst="ellipse">
            <a:avLst/>
          </a:prstGeom>
          <a:solidFill>
            <a:srgbClr val="4B5C7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r>
              <a:rPr lang="en-US" altLang="zh-CN" sz="2400" dirty="0">
                <a:latin typeface="+mn-ea"/>
              </a:rPr>
              <a:t>02</a:t>
            </a:r>
            <a:endParaRPr lang="zh-CN" altLang="en-US" sz="2400" dirty="0">
              <a:latin typeface="+mn-ea"/>
            </a:endParaRPr>
          </a:p>
        </p:txBody>
      </p:sp>
      <p:sp>
        <p:nvSpPr>
          <p:cNvPr id="44" name="椭圆 43"/>
          <p:cNvSpPr/>
          <p:nvPr>
            <p:custDataLst>
              <p:tags r:id="rId11"/>
            </p:custDataLst>
          </p:nvPr>
        </p:nvSpPr>
        <p:spPr>
          <a:xfrm>
            <a:off x="5823904" y="3028058"/>
            <a:ext cx="801886" cy="801886"/>
          </a:xfrm>
          <a:prstGeom prst="ellipse">
            <a:avLst/>
          </a:prstGeom>
          <a:solidFill>
            <a:srgbClr val="4B5C7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r>
              <a:rPr lang="en-US" altLang="zh-CN" sz="2400" dirty="0">
                <a:latin typeface="+mn-ea"/>
              </a:rPr>
              <a:t>03</a:t>
            </a:r>
            <a:endParaRPr lang="zh-CN" altLang="en-US" sz="2400" dirty="0">
              <a:latin typeface="+mn-ea"/>
            </a:endParaRPr>
          </a:p>
        </p:txBody>
      </p:sp>
      <p:sp>
        <p:nvSpPr>
          <p:cNvPr id="45" name="椭圆 44"/>
          <p:cNvSpPr/>
          <p:nvPr>
            <p:custDataLst>
              <p:tags r:id="rId12"/>
            </p:custDataLst>
          </p:nvPr>
        </p:nvSpPr>
        <p:spPr>
          <a:xfrm>
            <a:off x="5571501" y="4268411"/>
            <a:ext cx="801886" cy="801886"/>
          </a:xfrm>
          <a:prstGeom prst="ellipse">
            <a:avLst/>
          </a:prstGeom>
          <a:solidFill>
            <a:srgbClr val="4B5C7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r>
              <a:rPr lang="en-US" altLang="zh-CN" sz="2400" dirty="0">
                <a:latin typeface="+mn-ea"/>
              </a:rPr>
              <a:t>04</a:t>
            </a:r>
            <a:endParaRPr lang="zh-CN" altLang="en-US" sz="2400" dirty="0">
              <a:latin typeface="+mn-ea"/>
            </a:endParaRPr>
          </a:p>
        </p:txBody>
      </p:sp>
      <p:sp>
        <p:nvSpPr>
          <p:cNvPr id="47" name="文本框 46"/>
          <p:cNvSpPr txBox="1"/>
          <p:nvPr/>
        </p:nvSpPr>
        <p:spPr>
          <a:xfrm>
            <a:off x="1059793" y="2378343"/>
            <a:ext cx="1610623" cy="830997"/>
          </a:xfrm>
          <a:prstGeom prst="rect">
            <a:avLst/>
          </a:prstGeom>
          <a:noFill/>
        </p:spPr>
        <p:txBody>
          <a:bodyPr wrap="square" lIns="0" r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schemeClr val="bg1"/>
                </a:solidFill>
                <a:effectLst/>
                <a:uLnTx/>
                <a:uFillTx/>
                <a:latin typeface="+mn-ea"/>
                <a:cs typeface="+mn-ea"/>
                <a:sym typeface="+mn-lt"/>
              </a:rPr>
              <a:t>目录</a:t>
            </a:r>
            <a:endParaRPr kumimoji="0" lang="zh-CN" altLang="en-US" sz="4800" b="0" i="0" u="none" strike="noStrike" kern="1200" cap="none" spc="0" normalizeH="0" baseline="0" noProof="0" dirty="0">
              <a:ln>
                <a:noFill/>
              </a:ln>
              <a:solidFill>
                <a:schemeClr val="bg1"/>
              </a:solidFill>
              <a:effectLst/>
              <a:uLnTx/>
              <a:uFillTx/>
              <a:latin typeface="+mn-ea"/>
              <a:cs typeface="+mn-ea"/>
              <a:sym typeface="+mn-lt"/>
            </a:endParaRPr>
          </a:p>
        </p:txBody>
      </p:sp>
      <p:cxnSp>
        <p:nvCxnSpPr>
          <p:cNvPr id="48" name="直接连接符 47"/>
          <p:cNvCxnSpPr/>
          <p:nvPr/>
        </p:nvCxnSpPr>
        <p:spPr>
          <a:xfrm>
            <a:off x="1142281" y="3360609"/>
            <a:ext cx="95937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1142281" y="3710217"/>
            <a:ext cx="2814786" cy="769441"/>
          </a:xfrm>
          <a:prstGeom prst="rect">
            <a:avLst/>
          </a:prstGeom>
          <a:noFill/>
        </p:spPr>
        <p:txBody>
          <a:bodyPr wrap="square" lIns="0" r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chemeClr val="bg1"/>
                </a:solidFill>
                <a:effectLst/>
                <a:uLnTx/>
                <a:uFillTx/>
                <a:latin typeface="+mn-ea"/>
                <a:cs typeface="+mn-ea"/>
                <a:sym typeface="+mn-lt"/>
              </a:rPr>
              <a:t>Contents</a:t>
            </a:r>
            <a:endParaRPr kumimoji="0" lang="zh-CN" altLang="en-US" sz="4400" b="0" i="0" u="none" strike="noStrike" kern="1200" cap="none" spc="0" normalizeH="0" baseline="0" noProof="0" dirty="0">
              <a:ln>
                <a:noFill/>
              </a:ln>
              <a:solidFill>
                <a:schemeClr val="bg1"/>
              </a:solidFill>
              <a:effectLst/>
              <a:uLnTx/>
              <a:uFillTx/>
              <a:latin typeface="+mn-ea"/>
              <a:cs typeface="+mn-ea"/>
              <a:sym typeface="+mn-lt"/>
            </a:endParaRPr>
          </a:p>
        </p:txBody>
      </p:sp>
      <p:sp>
        <p:nvSpPr>
          <p:cNvPr id="3" name="流程图: 手动输入 2"/>
          <p:cNvSpPr/>
          <p:nvPr/>
        </p:nvSpPr>
        <p:spPr>
          <a:xfrm rot="16200000" flipV="1">
            <a:off x="26795" y="-27086"/>
            <a:ext cx="7658920" cy="7712726"/>
          </a:xfrm>
          <a:prstGeom prst="flowChartManualInput">
            <a:avLst/>
          </a:prstGeom>
          <a:solidFill>
            <a:srgbClr val="4B5C78">
              <a:alpha val="4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pic>
        <p:nvPicPr>
          <p:cNvPr id="9" name="图片 8"/>
          <p:cNvPicPr>
            <a:picLocks noChangeAspect="1"/>
          </p:cNvPicPr>
          <p:nvPr/>
        </p:nvPicPr>
        <p:blipFill>
          <a:blip r:embed="rId13" cstate="print"/>
          <a:stretch>
            <a:fillRect/>
          </a:stretch>
        </p:blipFill>
        <p:spPr>
          <a:xfrm>
            <a:off x="220079" y="-10343"/>
            <a:ext cx="2960748" cy="1504174"/>
          </a:xfrm>
          <a:prstGeom prst="rect">
            <a:avLst/>
          </a:prstGeom>
        </p:spPr>
      </p:pic>
      <p:grpSp>
        <p:nvGrpSpPr>
          <p:cNvPr id="51" name="组合 50"/>
          <p:cNvGrpSpPr/>
          <p:nvPr/>
        </p:nvGrpSpPr>
        <p:grpSpPr>
          <a:xfrm flipV="1">
            <a:off x="937524" y="2251664"/>
            <a:ext cx="303107" cy="303107"/>
            <a:chOff x="962675" y="5112327"/>
            <a:chExt cx="672161" cy="672161"/>
          </a:xfrm>
        </p:grpSpPr>
        <p:cxnSp>
          <p:nvCxnSpPr>
            <p:cNvPr id="52" name="直接连接符 51"/>
            <p:cNvCxnSpPr/>
            <p:nvPr/>
          </p:nvCxnSpPr>
          <p:spPr>
            <a:xfrm flipH="1">
              <a:off x="962675" y="5784488"/>
              <a:ext cx="672161" cy="0"/>
            </a:xfrm>
            <a:prstGeom prst="line">
              <a:avLst/>
            </a:prstGeom>
            <a:noFill/>
            <a:ln w="19050">
              <a:solidFill>
                <a:schemeClr val="bg1">
                  <a:alpha val="6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直接连接符 52"/>
            <p:cNvCxnSpPr/>
            <p:nvPr/>
          </p:nvCxnSpPr>
          <p:spPr>
            <a:xfrm flipV="1">
              <a:off x="962675" y="5112327"/>
              <a:ext cx="0" cy="672161"/>
            </a:xfrm>
            <a:prstGeom prst="line">
              <a:avLst/>
            </a:prstGeom>
            <a:noFill/>
            <a:ln w="19050">
              <a:solidFill>
                <a:schemeClr val="bg1">
                  <a:alpha val="65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5" name="矩形 4"/>
          <p:cNvSpPr/>
          <p:nvPr/>
        </p:nvSpPr>
        <p:spPr>
          <a:xfrm>
            <a:off x="997514" y="2367531"/>
            <a:ext cx="2541404" cy="545502"/>
          </a:xfrm>
          <a:prstGeom prst="rect">
            <a:avLst/>
          </a:prstGeom>
        </p:spPr>
        <p:txBody>
          <a:bodyPr wrap="square" lIns="91440" tIns="45720" rIns="91440" bIns="45720">
            <a:noAutofit/>
          </a:bodyPr>
          <a:lstStyle/>
          <a:p>
            <a:r>
              <a:rPr lang="zh-CN" altLang="en-US" sz="4800" dirty="0">
                <a:solidFill>
                  <a:schemeClr val="bg1"/>
                </a:solidFill>
                <a:cs typeface="+mn-ea"/>
                <a:sym typeface="+mn-lt"/>
              </a:rPr>
              <a:t>目录</a:t>
            </a:r>
            <a:endParaRPr lang="en-US" altLang="zh-CN" sz="4800" dirty="0">
              <a:solidFill>
                <a:schemeClr val="bg1"/>
              </a:solidFill>
              <a:cs typeface="+mn-ea"/>
              <a:sym typeface="+mn-lt"/>
            </a:endParaRPr>
          </a:p>
        </p:txBody>
      </p:sp>
      <p:cxnSp>
        <p:nvCxnSpPr>
          <p:cNvPr id="7" name="直接连接符 6"/>
          <p:cNvCxnSpPr/>
          <p:nvPr/>
        </p:nvCxnSpPr>
        <p:spPr>
          <a:xfrm>
            <a:off x="1142281" y="3360609"/>
            <a:ext cx="91215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078380" y="3698725"/>
            <a:ext cx="2862774" cy="545502"/>
          </a:xfrm>
          <a:prstGeom prst="rect">
            <a:avLst/>
          </a:prstGeom>
        </p:spPr>
        <p:txBody>
          <a:bodyPr wrap="square" lIns="91440" tIns="45720" rIns="91440" bIns="45720">
            <a:noAutofit/>
          </a:bodyPr>
          <a:lstStyle/>
          <a:p>
            <a:r>
              <a:rPr lang="en-US" altLang="zh-CN" sz="4400" dirty="0">
                <a:solidFill>
                  <a:schemeClr val="bg1"/>
                </a:solidFill>
                <a:cs typeface="+mn-ea"/>
                <a:sym typeface="+mn-lt"/>
              </a:rPr>
              <a:t>Contents</a:t>
            </a:r>
            <a:endParaRPr lang="en-US" altLang="zh-CN" sz="4400" dirty="0">
              <a:solidFill>
                <a:schemeClr val="bg1"/>
              </a:solidFill>
              <a:cs typeface="+mn-ea"/>
              <a:sym typeface="+mn-lt"/>
            </a:endParaRPr>
          </a:p>
        </p:txBody>
      </p:sp>
      <p:sp>
        <p:nvSpPr>
          <p:cNvPr id="2" name="矩形 1"/>
          <p:cNvSpPr/>
          <p:nvPr>
            <p:custDataLst>
              <p:tags r:id="rId14"/>
            </p:custDataLst>
          </p:nvPr>
        </p:nvSpPr>
        <p:spPr>
          <a:xfrm>
            <a:off x="6969760" y="4751070"/>
            <a:ext cx="2274570" cy="275590"/>
          </a:xfrm>
          <a:prstGeom prst="rect">
            <a:avLst/>
          </a:prstGeom>
        </p:spPr>
        <p:txBody>
          <a:bodyPr wrap="square" lIns="0">
            <a:spAutoFit/>
          </a:bodyPr>
          <a:p>
            <a:pPr algn="l"/>
            <a:r>
              <a:rPr lang="en-US" altLang="zh-CN" sz="1200" b="1" dirty="0">
                <a:solidFill>
                  <a:schemeClr val="bg1"/>
                </a:solidFill>
                <a:latin typeface="微软雅黑" panose="020B0503020204020204" charset="-122"/>
                <a:ea typeface="微软雅黑" panose="020B0503020204020204" charset="-122"/>
                <a:cs typeface="OPPOSans B" panose="00020600040101010101" pitchFamily="18" charset="-122"/>
              </a:rPr>
              <a:t>schedule arrangement</a:t>
            </a:r>
            <a:endParaRPr lang="en-US" altLang="zh-CN" sz="1200" b="1" dirty="0">
              <a:solidFill>
                <a:schemeClr val="bg1"/>
              </a:solidFill>
              <a:latin typeface="微软雅黑" panose="020B0503020204020204" charset="-122"/>
              <a:ea typeface="微软雅黑" panose="020B0503020204020204" charset="-122"/>
              <a:cs typeface="OPPOSans B" panose="00020600040101010101" pitchFamily="18"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4B5C78"/>
        </a:solidFill>
        <a:effectLst/>
      </p:bgPr>
    </p:bg>
    <p:spTree>
      <p:nvGrpSpPr>
        <p:cNvPr id="1" name=""/>
        <p:cNvGrpSpPr/>
        <p:nvPr/>
      </p:nvGrpSpPr>
      <p:grpSpPr>
        <a:xfrm>
          <a:off x="0" y="0"/>
          <a:ext cx="0" cy="0"/>
          <a:chOff x="0" y="0"/>
          <a:chExt cx="0" cy="0"/>
        </a:xfrm>
      </p:grpSpPr>
      <p:pic>
        <p:nvPicPr>
          <p:cNvPr id="9" name="图片 8" descr="海洋4"/>
          <p:cNvPicPr>
            <a:picLocks noChangeAspect="1"/>
          </p:cNvPicPr>
          <p:nvPr/>
        </p:nvPicPr>
        <p:blipFill>
          <a:blip r:embed="rId1">
            <a:alphaModFix amt="48000"/>
          </a:blip>
          <a:srcRect t="20728" b="23422"/>
          <a:stretch>
            <a:fillRect/>
          </a:stretch>
        </p:blipFill>
        <p:spPr>
          <a:xfrm>
            <a:off x="0" y="1587500"/>
            <a:ext cx="12192000" cy="3937635"/>
          </a:xfrm>
          <a:prstGeom prst="rect">
            <a:avLst/>
          </a:prstGeom>
          <a:effectLst>
            <a:softEdge rad="596900"/>
          </a:effectLst>
        </p:spPr>
      </p:pic>
      <p:grpSp>
        <p:nvGrpSpPr>
          <p:cNvPr id="3" name="组合 2"/>
          <p:cNvGrpSpPr/>
          <p:nvPr/>
        </p:nvGrpSpPr>
        <p:grpSpPr>
          <a:xfrm flipH="1">
            <a:off x="752725" y="6989"/>
            <a:ext cx="231871" cy="3276600"/>
            <a:chOff x="4399082" y="1624876"/>
            <a:chExt cx="231871" cy="3276600"/>
          </a:xfrm>
        </p:grpSpPr>
        <p:cxnSp>
          <p:nvCxnSpPr>
            <p:cNvPr id="4" name="直接连接符 3"/>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1407597" y="1043034"/>
            <a:ext cx="3168459" cy="7786747"/>
          </a:xfrm>
          <a:prstGeom prst="rect">
            <a:avLst/>
          </a:prstGeom>
          <a:noFill/>
        </p:spPr>
        <p:txBody>
          <a:bodyPr vert="horz" wrap="square" lIns="91440" tIns="45720" rIns="91440" bIns="45720" rtlCol="0" anchor="ctr">
            <a:spAutoFit/>
          </a:bodyPr>
          <a:lstStyle>
            <a:defPPr>
              <a:defRPr lang="zh-CN"/>
            </a:defPPr>
            <a:lvl1pPr marL="0" indent="0" algn="l" defTabSz="914400" rtl="0" eaLnBrk="1" latinLnBrk="0" hangingPunct="1">
              <a:buNone/>
              <a:defRPr lang="zh-CN" altLang="en-US" sz="50000" kern="1200" dirty="0">
                <a:gradFill>
                  <a:gsLst>
                    <a:gs pos="29000">
                      <a:srgbClr val="F9F9F9"/>
                    </a:gs>
                    <a:gs pos="80000">
                      <a:srgbClr val="F9F9F9">
                        <a:alpha val="0"/>
                      </a:srgbClr>
                    </a:gs>
                  </a:gsLst>
                  <a:lin ang="5400000" scaled="0"/>
                </a:gradFill>
                <a:latin typeface="OPPOSans L" panose="00020600040101010101" pitchFamily="18" charset="-122"/>
                <a:ea typeface="OPPOSans H" panose="00020600040101010101" pitchFamily="18" charset="-122"/>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gradFill>
                  <a:gsLst>
                    <a:gs pos="29000">
                      <a:srgbClr val="F9F9F9"/>
                    </a:gs>
                    <a:gs pos="46000">
                      <a:srgbClr val="F9F9F9">
                        <a:alpha val="54000"/>
                      </a:srgbClr>
                    </a:gs>
                    <a:gs pos="80000">
                      <a:srgbClr val="F9F9F9">
                        <a:alpha val="0"/>
                      </a:srgbClr>
                    </a:gs>
                  </a:gsLst>
                  <a:lin ang="5400000" scaled="0"/>
                </a:gradFill>
                <a:latin typeface="+mj-lt"/>
                <a:ea typeface="OPPOSans B" panose="00020600040101010101" pitchFamily="18" charset="-122"/>
              </a:rPr>
              <a:t>1</a:t>
            </a:r>
            <a:endParaRPr lang="en-US" dirty="0">
              <a:gradFill>
                <a:gsLst>
                  <a:gs pos="29000">
                    <a:srgbClr val="F9F9F9"/>
                  </a:gs>
                  <a:gs pos="46000">
                    <a:srgbClr val="F9F9F9">
                      <a:alpha val="54000"/>
                    </a:srgbClr>
                  </a:gs>
                  <a:gs pos="80000">
                    <a:srgbClr val="F9F9F9">
                      <a:alpha val="0"/>
                    </a:srgbClr>
                  </a:gs>
                </a:gsLst>
                <a:lin ang="5400000" scaled="0"/>
              </a:gradFill>
              <a:latin typeface="+mj-lt"/>
              <a:ea typeface="OPPOSans B" panose="00020600040101010101" pitchFamily="18" charset="-122"/>
            </a:endParaRPr>
          </a:p>
        </p:txBody>
      </p:sp>
      <p:sp>
        <p:nvSpPr>
          <p:cNvPr id="7" name="文本框 6"/>
          <p:cNvSpPr txBox="1"/>
          <p:nvPr/>
        </p:nvSpPr>
        <p:spPr>
          <a:xfrm>
            <a:off x="4251324" y="2822579"/>
            <a:ext cx="5216027" cy="922020"/>
          </a:xfrm>
          <a:prstGeom prst="rect">
            <a:avLst/>
          </a:prstGeom>
          <a:noFill/>
        </p:spPr>
        <p:txBody>
          <a:bodyPr vert="horz" wrap="square" lIns="91440" tIns="45720" rIns="91440" bIns="45720" rtlCol="0" anchor="ctr">
            <a:spAutoFit/>
          </a:bodyPr>
          <a:lstStyle>
            <a:defPPr>
              <a:defRPr lang="zh-CN"/>
            </a:defPPr>
            <a:lvl1pPr marL="0" indent="0" algn="ctr" defTabSz="914400" rtl="0" eaLnBrk="1" latinLnBrk="0" hangingPunct="1">
              <a:buNone/>
              <a:defRPr lang="zh-CN" altLang="en-US" sz="5400" b="1" kern="1200" dirty="0">
                <a:solidFill>
                  <a:srgbClr val="FCEEE8"/>
                </a:solidFill>
                <a:latin typeface="OPPOSans M" panose="00020600040101010101" pitchFamily="18" charset="-122"/>
                <a:ea typeface="OPPOSans M" panose="00020600040101010101" pitchFamily="18"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400"/>
            <a:r>
              <a:rPr>
                <a:solidFill>
                  <a:schemeClr val="bg1"/>
                </a:solidFill>
                <a:latin typeface="+mj-ea"/>
                <a:ea typeface="+mj-ea"/>
                <a:sym typeface="+mn-ea"/>
              </a:rPr>
              <a:t>研究背景</a:t>
            </a:r>
            <a:endParaRPr lang="zh-CN" altLang="en-US" dirty="0">
              <a:solidFill>
                <a:schemeClr val="bg1"/>
              </a:solidFill>
              <a:latin typeface="+mj-ea"/>
              <a:ea typeface="+mj-ea"/>
              <a:sym typeface="+mn-ea"/>
            </a:endParaRPr>
          </a:p>
        </p:txBody>
      </p:sp>
      <p:sp>
        <p:nvSpPr>
          <p:cNvPr id="8" name="文本框 7"/>
          <p:cNvSpPr txBox="1"/>
          <p:nvPr/>
        </p:nvSpPr>
        <p:spPr>
          <a:xfrm>
            <a:off x="4378325" y="3696715"/>
            <a:ext cx="5216027" cy="423545"/>
          </a:xfrm>
          <a:prstGeom prst="rect">
            <a:avLst/>
          </a:prstGeom>
          <a:noFill/>
        </p:spPr>
        <p:txBody>
          <a:bodyPr wrap="square" rtlCol="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2400" b="0" kern="1200" dirty="0">
                <a:solidFill>
                  <a:srgbClr val="FCEEE8"/>
                </a:solidFill>
                <a:latin typeface="OPPOSans M" panose="00020600040101010101" pitchFamily="18" charset="-122"/>
                <a:ea typeface="OPPOSans M"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Background of the study</a:t>
            </a:r>
            <a:endParaRPr lang="en-US" altLang="zh-CN" dirty="0"/>
          </a:p>
        </p:txBody>
      </p:sp>
      <p:grpSp>
        <p:nvGrpSpPr>
          <p:cNvPr id="12" name="组合 11"/>
          <p:cNvGrpSpPr/>
          <p:nvPr/>
        </p:nvGrpSpPr>
        <p:grpSpPr>
          <a:xfrm flipH="1" flipV="1">
            <a:off x="11202882" y="3581400"/>
            <a:ext cx="231871" cy="3276600"/>
            <a:chOff x="4399082" y="1624876"/>
            <a:chExt cx="231871" cy="3276600"/>
          </a:xfrm>
        </p:grpSpPr>
        <p:cxnSp>
          <p:nvCxnSpPr>
            <p:cNvPr id="13" name="直接连接符 12"/>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16" name="图片 15"/>
          <p:cNvPicPr>
            <a:picLocks noChangeAspect="1"/>
          </p:cNvPicPr>
          <p:nvPr/>
        </p:nvPicPr>
        <p:blipFill>
          <a:blip r:embed="rId2" cstate="print">
            <a:alphaModFix amt="59000"/>
          </a:blip>
          <a:stretch>
            <a:fillRect/>
          </a:stretch>
        </p:blipFill>
        <p:spPr>
          <a:xfrm>
            <a:off x="9467215" y="0"/>
            <a:ext cx="2584450" cy="1313180"/>
          </a:xfrm>
          <a:prstGeom prst="rect">
            <a:avLst/>
          </a:prstGeom>
          <a:effectLst>
            <a:outerShdw blurRad="50800" dist="50800" dir="5400000" algn="ctr" rotWithShape="0">
              <a:srgbClr val="000000">
                <a:alpha val="24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54000"/>
          </a:blip>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704215" y="493395"/>
            <a:ext cx="9946640" cy="634365"/>
          </a:xfrm>
          <a:prstGeom prst="rect">
            <a:avLst/>
          </a:prstGeom>
          <a:no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4000" dirty="0">
                <a:solidFill>
                  <a:schemeClr val="accent1">
                    <a:lumMod val="75000"/>
                  </a:schemeClr>
                </a:solidFill>
                <a:latin typeface="微软雅黑" panose="020B0503020204020204" charset="-122"/>
                <a:ea typeface="微软雅黑" panose="020B0503020204020204" charset="-122"/>
                <a:sym typeface="+mn-ea"/>
              </a:rPr>
              <a:t>海洋微塑料污染</a:t>
            </a:r>
            <a:r>
              <a:rPr lang="en-US" altLang="zh-CN" sz="4000" dirty="0">
                <a:solidFill>
                  <a:schemeClr val="accent1">
                    <a:lumMod val="75000"/>
                  </a:schemeClr>
                </a:solidFill>
                <a:latin typeface="微软雅黑" panose="020B0503020204020204" charset="-122"/>
                <a:ea typeface="微软雅黑" panose="020B0503020204020204" charset="-122"/>
                <a:sym typeface="+mn-ea"/>
              </a:rPr>
              <a:t>——</a:t>
            </a:r>
            <a:r>
              <a:rPr lang="zh-CN" altLang="en-US" sz="4000" dirty="0">
                <a:solidFill>
                  <a:schemeClr val="accent1">
                    <a:lumMod val="75000"/>
                  </a:schemeClr>
                </a:solidFill>
                <a:latin typeface="微软雅黑" panose="020B0503020204020204" charset="-122"/>
                <a:ea typeface="微软雅黑" panose="020B0503020204020204" charset="-122"/>
                <a:sym typeface="+mn-ea"/>
              </a:rPr>
              <a:t>日益严峻的全球性问题</a:t>
            </a:r>
            <a:endParaRPr lang="zh-CN" altLang="en-US" sz="4000" dirty="0">
              <a:solidFill>
                <a:schemeClr val="accent1">
                  <a:lumMod val="75000"/>
                </a:schemeClr>
              </a:solidFill>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4000" i="0" u="none" strike="noStrike" kern="1200" cap="none" spc="300" normalizeH="0" baseline="0" noProof="0" dirty="0">
              <a:ln>
                <a:noFill/>
              </a:ln>
              <a:solidFill>
                <a:schemeClr val="accent1">
                  <a:lumMod val="75000"/>
                </a:schemeClr>
              </a:solidFill>
              <a:effectLst/>
              <a:uLnTx/>
              <a:uFillTx/>
              <a:latin typeface="微软雅黑" panose="020B0503020204020204" charset="-122"/>
              <a:ea typeface="微软雅黑" panose="020B0503020204020204" charset="-122"/>
              <a:cs typeface="+mn-cs"/>
              <a:sym typeface="+mn-ea"/>
            </a:endParaRPr>
          </a:p>
        </p:txBody>
      </p:sp>
      <p:sp>
        <p:nvSpPr>
          <p:cNvPr id="6" name="矩形 5"/>
          <p:cNvSpPr/>
          <p:nvPr/>
        </p:nvSpPr>
        <p:spPr>
          <a:xfrm>
            <a:off x="424193" y="437352"/>
            <a:ext cx="199785" cy="952338"/>
          </a:xfrm>
          <a:prstGeom prst="rect">
            <a:avLst/>
          </a:prstGeom>
          <a:solidFill>
            <a:srgbClr val="4B5C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4" name="图片 43"/>
          <p:cNvPicPr>
            <a:picLocks noChangeAspect="1"/>
          </p:cNvPicPr>
          <p:nvPr>
            <p:custDataLst>
              <p:tags r:id="rId2"/>
            </p:custDataLst>
          </p:nvPr>
        </p:nvPicPr>
        <p:blipFill>
          <a:blip r:embed="rId3" cstate="print">
            <a:alphaModFix amt="56000"/>
          </a:blip>
          <a:stretch>
            <a:fillRect/>
          </a:stretch>
        </p:blipFill>
        <p:spPr>
          <a:xfrm>
            <a:off x="10247413" y="6076949"/>
            <a:ext cx="1782662" cy="905661"/>
          </a:xfrm>
          <a:prstGeom prst="rect">
            <a:avLst/>
          </a:prstGeom>
        </p:spPr>
      </p:pic>
      <p:sp>
        <p:nvSpPr>
          <p:cNvPr id="9" name="矩形: 圆角 9"/>
          <p:cNvSpPr/>
          <p:nvPr>
            <p:custDataLst>
              <p:tags r:id="rId4"/>
            </p:custDataLst>
          </p:nvPr>
        </p:nvSpPr>
        <p:spPr>
          <a:xfrm>
            <a:off x="704215" y="2052320"/>
            <a:ext cx="2610485" cy="3747135"/>
          </a:xfrm>
          <a:prstGeom prst="roundRect">
            <a:avLst>
              <a:gd name="adj" fmla="val 4303"/>
            </a:avLst>
          </a:prstGeom>
          <a:solidFill>
            <a:schemeClr val="bg1"/>
          </a:solidFill>
          <a:ln>
            <a:noFill/>
          </a:ln>
          <a:effectLst>
            <a:outerShdw blurRad="241300" dist="38100" dir="2700000" sx="104000" sy="104000" algn="tl" rotWithShape="0">
              <a:prstClr val="black">
                <a:alpha val="40000"/>
              </a:prstClr>
            </a:outerShdw>
            <a:reflection blurRad="114300" stA="48000" endPos="28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38" name="弧形 37"/>
          <p:cNvSpPr/>
          <p:nvPr>
            <p:custDataLst>
              <p:tags r:id="rId5"/>
            </p:custDataLst>
          </p:nvPr>
        </p:nvSpPr>
        <p:spPr>
          <a:xfrm rot="7609396">
            <a:off x="1341422" y="1397774"/>
            <a:ext cx="1350978" cy="1350978"/>
          </a:xfrm>
          <a:prstGeom prst="arc">
            <a:avLst>
              <a:gd name="adj1" fmla="val 17154829"/>
              <a:gd name="adj2" fmla="val 8729259"/>
            </a:avLst>
          </a:prstGeom>
          <a:noFill/>
          <a:ln w="6350">
            <a:gradFill>
              <a:gsLst>
                <a:gs pos="0">
                  <a:srgbClr val="055EA0">
                    <a:alpha val="0"/>
                  </a:srgbClr>
                </a:gs>
                <a:gs pos="100000">
                  <a:srgbClr val="0070C0"/>
                </a:gs>
              </a:gsLst>
              <a:lin ang="5400000" scaled="1"/>
            </a:gra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43" name="椭圆 42"/>
          <p:cNvSpPr/>
          <p:nvPr>
            <p:custDataLst>
              <p:tags r:id="rId6"/>
            </p:custDataLst>
          </p:nvPr>
        </p:nvSpPr>
        <p:spPr>
          <a:xfrm>
            <a:off x="1555287" y="1611639"/>
            <a:ext cx="923249" cy="923249"/>
          </a:xfrm>
          <a:prstGeom prst="ellipse">
            <a:avLst/>
          </a:prstGeom>
          <a:solidFill>
            <a:srgbClr val="7186A7"/>
          </a:soli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45" name="椭圆 44"/>
          <p:cNvSpPr/>
          <p:nvPr>
            <p:custDataLst>
              <p:tags r:id="rId7"/>
            </p:custDataLst>
          </p:nvPr>
        </p:nvSpPr>
        <p:spPr>
          <a:xfrm rot="5680615">
            <a:off x="1478402" y="1534754"/>
            <a:ext cx="1077017" cy="1077017"/>
          </a:xfrm>
          <a:prstGeom prst="ellipse">
            <a:avLst/>
          </a:prstGeom>
          <a:noFill/>
          <a:ln w="22225">
            <a:gradFill flip="none" rotWithShape="1">
              <a:gsLst>
                <a:gs pos="0">
                  <a:srgbClr val="0070C0">
                    <a:alpha val="44000"/>
                  </a:srgbClr>
                </a:gs>
                <a:gs pos="100000">
                  <a:srgbClr val="00B0F0">
                    <a:alpha val="0"/>
                  </a:srgb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46" name="文本框 45"/>
          <p:cNvSpPr txBox="1"/>
          <p:nvPr>
            <p:custDataLst>
              <p:tags r:id="rId8"/>
            </p:custDataLst>
          </p:nvPr>
        </p:nvSpPr>
        <p:spPr>
          <a:xfrm>
            <a:off x="1632246" y="1842431"/>
            <a:ext cx="76933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OPPOSans B" panose="00020600040101010101" pitchFamily="18" charset="-122"/>
                <a:ea typeface="OPPOSans M" panose="00020600040101010101" pitchFamily="18" charset="-122"/>
                <a:cs typeface="+mn-cs"/>
              </a:rPr>
              <a:t>壹</a:t>
            </a:r>
            <a:endParaRPr kumimoji="0" lang="en-US" altLang="zh-CN" sz="2400" b="0" i="0" u="none" strike="noStrike" kern="1200" cap="none" spc="0" normalizeH="0" baseline="0" noProof="0" dirty="0">
              <a:ln>
                <a:noFill/>
              </a:ln>
              <a:solidFill>
                <a:prstClr val="white"/>
              </a:solidFill>
              <a:effectLst/>
              <a:uLnTx/>
              <a:uFillTx/>
              <a:latin typeface="OPPOSans B" panose="00020600040101010101" pitchFamily="18" charset="-122"/>
              <a:ea typeface="OPPOSans M" panose="00020600040101010101" pitchFamily="18" charset="-122"/>
              <a:cs typeface="+mn-cs"/>
            </a:endParaRPr>
          </a:p>
        </p:txBody>
      </p:sp>
      <p:sp>
        <p:nvSpPr>
          <p:cNvPr id="47" name="文本框 46"/>
          <p:cNvSpPr txBox="1"/>
          <p:nvPr>
            <p:custDataLst>
              <p:tags r:id="rId9"/>
            </p:custDataLst>
          </p:nvPr>
        </p:nvSpPr>
        <p:spPr>
          <a:xfrm>
            <a:off x="943610" y="2832735"/>
            <a:ext cx="2236470"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4B5C78"/>
                </a:solidFill>
                <a:effectLst/>
                <a:uLnTx/>
                <a:uFillTx/>
                <a:latin typeface="OPPOSans B" panose="00020600040101010101" pitchFamily="18" charset="-122"/>
                <a:ea typeface="OPPOSans B" panose="00020600040101010101" pitchFamily="18" charset="-122"/>
                <a:cs typeface="+mn-cs"/>
              </a:rPr>
              <a:t>什么是微塑料</a:t>
            </a:r>
            <a:r>
              <a:rPr kumimoji="0" lang="en-US" altLang="zh-CN" sz="2400" b="0" i="0" u="none" strike="noStrike" kern="1200" cap="none" spc="0" normalizeH="0" baseline="0" noProof="0" dirty="0">
                <a:ln>
                  <a:noFill/>
                </a:ln>
                <a:solidFill>
                  <a:srgbClr val="4B5C78"/>
                </a:solidFill>
                <a:effectLst/>
                <a:uLnTx/>
                <a:uFillTx/>
                <a:latin typeface="OPPOSans B" panose="00020600040101010101" pitchFamily="18" charset="-122"/>
                <a:ea typeface="OPPOSans B" panose="00020600040101010101" pitchFamily="18" charset="-122"/>
                <a:cs typeface="+mn-cs"/>
              </a:rPr>
              <a:t>?</a:t>
            </a:r>
            <a:endParaRPr kumimoji="0" lang="en-US" altLang="zh-CN" sz="2400" b="0" i="0" u="none" strike="noStrike" kern="1200" cap="none" spc="0" normalizeH="0" baseline="0" noProof="0" dirty="0">
              <a:ln>
                <a:noFill/>
              </a:ln>
              <a:solidFill>
                <a:srgbClr val="4B5C78"/>
              </a:solidFill>
              <a:effectLst/>
              <a:uLnTx/>
              <a:uFillTx/>
              <a:latin typeface="OPPOSans B" panose="00020600040101010101" pitchFamily="18" charset="-122"/>
              <a:ea typeface="OPPOSans B" panose="00020600040101010101" pitchFamily="18" charset="-122"/>
              <a:cs typeface="+mn-cs"/>
            </a:endParaRPr>
          </a:p>
        </p:txBody>
      </p:sp>
      <p:sp>
        <p:nvSpPr>
          <p:cNvPr id="48" name="文本框 47"/>
          <p:cNvSpPr txBox="1"/>
          <p:nvPr>
            <p:custDataLst>
              <p:tags r:id="rId10"/>
            </p:custDataLst>
          </p:nvPr>
        </p:nvSpPr>
        <p:spPr>
          <a:xfrm>
            <a:off x="799465" y="3361036"/>
            <a:ext cx="2438400" cy="2306955"/>
          </a:xfrm>
          <a:prstGeom prst="rect">
            <a:avLst/>
          </a:prstGeom>
          <a:noFill/>
        </p:spPr>
        <p:txBody>
          <a:bodyPr wrap="square">
            <a:spAutoFit/>
          </a:bodyPr>
          <a:lstStyle/>
          <a:p>
            <a:pPr algn="just">
              <a:lnSpc>
                <a:spcPct val="150000"/>
              </a:lnSpc>
              <a:defRPr/>
            </a:pP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微塑料（</a:t>
            </a:r>
            <a:r>
              <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Micro plastics</a:t>
            </a: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）是指直径小于</a:t>
            </a:r>
            <a:r>
              <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5</a:t>
            </a: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毫米的塑料颗粒或碎片，包括塑料纤维、薄膜、颗粒等形态，甚至包含纳米级（</a:t>
            </a:r>
            <a:r>
              <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&lt;1</a:t>
            </a: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微米）的塑料颗粒。</a:t>
            </a:r>
            <a:endPar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p:txBody>
      </p:sp>
      <p:sp>
        <p:nvSpPr>
          <p:cNvPr id="49" name="矩形: 圆角 16"/>
          <p:cNvSpPr/>
          <p:nvPr>
            <p:custDataLst>
              <p:tags r:id="rId11"/>
            </p:custDataLst>
          </p:nvPr>
        </p:nvSpPr>
        <p:spPr>
          <a:xfrm>
            <a:off x="3470275" y="2052320"/>
            <a:ext cx="2595880" cy="3107690"/>
          </a:xfrm>
          <a:prstGeom prst="roundRect">
            <a:avLst>
              <a:gd name="adj" fmla="val 4303"/>
            </a:avLst>
          </a:prstGeom>
          <a:solidFill>
            <a:schemeClr val="bg1"/>
          </a:solidFill>
          <a:ln>
            <a:noFill/>
          </a:ln>
          <a:effectLst>
            <a:outerShdw blurRad="330200" dist="38100" dir="2700000" sx="104000" sy="104000" algn="tl" rotWithShape="0">
              <a:prstClr val="black">
                <a:alpha val="40000"/>
              </a:prstClr>
            </a:outerShdw>
            <a:reflection blurRad="114300" stA="48000" endPos="28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50" name="弧形 49"/>
          <p:cNvSpPr/>
          <p:nvPr>
            <p:custDataLst>
              <p:tags r:id="rId12"/>
            </p:custDataLst>
          </p:nvPr>
        </p:nvSpPr>
        <p:spPr>
          <a:xfrm rot="7609396">
            <a:off x="4070107" y="1397774"/>
            <a:ext cx="1350978" cy="1350978"/>
          </a:xfrm>
          <a:prstGeom prst="arc">
            <a:avLst>
              <a:gd name="adj1" fmla="val 17154829"/>
              <a:gd name="adj2" fmla="val 8729259"/>
            </a:avLst>
          </a:prstGeom>
          <a:noFill/>
          <a:ln w="6350">
            <a:gradFill>
              <a:gsLst>
                <a:gs pos="0">
                  <a:srgbClr val="055EA0">
                    <a:alpha val="0"/>
                  </a:srgbClr>
                </a:gs>
                <a:gs pos="100000">
                  <a:srgbClr val="0070C0"/>
                </a:gs>
              </a:gsLst>
              <a:lin ang="5400000" scaled="1"/>
            </a:gra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solidFill>
                <a:prstClr val="white"/>
              </a:solidFill>
              <a:latin typeface="OPPOSans M" panose="00020600040101010101" pitchFamily="18" charset="-122"/>
              <a:ea typeface="OPPOSans M" panose="00020600040101010101" pitchFamily="18" charset="-122"/>
            </a:endParaRPr>
          </a:p>
        </p:txBody>
      </p:sp>
      <p:sp>
        <p:nvSpPr>
          <p:cNvPr id="51" name="椭圆 50"/>
          <p:cNvSpPr/>
          <p:nvPr>
            <p:custDataLst>
              <p:tags r:id="rId13"/>
            </p:custDataLst>
          </p:nvPr>
        </p:nvSpPr>
        <p:spPr>
          <a:xfrm>
            <a:off x="4283972" y="1611639"/>
            <a:ext cx="923249" cy="923249"/>
          </a:xfrm>
          <a:prstGeom prst="ellipse">
            <a:avLst/>
          </a:prstGeom>
          <a:solidFill>
            <a:srgbClr val="4B5C78"/>
          </a:soli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52" name="椭圆 51"/>
          <p:cNvSpPr/>
          <p:nvPr>
            <p:custDataLst>
              <p:tags r:id="rId14"/>
            </p:custDataLst>
          </p:nvPr>
        </p:nvSpPr>
        <p:spPr>
          <a:xfrm rot="5680615">
            <a:off x="4207087" y="1534754"/>
            <a:ext cx="1077017" cy="1077017"/>
          </a:xfrm>
          <a:prstGeom prst="ellipse">
            <a:avLst/>
          </a:prstGeom>
          <a:noFill/>
          <a:ln w="22225">
            <a:gradFill flip="none" rotWithShape="1">
              <a:gsLst>
                <a:gs pos="0">
                  <a:srgbClr val="0070C0">
                    <a:alpha val="44000"/>
                  </a:srgbClr>
                </a:gs>
                <a:gs pos="100000">
                  <a:srgbClr val="00B0F0">
                    <a:alpha val="0"/>
                  </a:srgb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solidFill>
                <a:prstClr val="white"/>
              </a:solidFill>
              <a:latin typeface="OPPOSans M" panose="00020600040101010101" pitchFamily="18" charset="-122"/>
              <a:ea typeface="OPPOSans M" panose="00020600040101010101" pitchFamily="18" charset="-122"/>
            </a:endParaRPr>
          </a:p>
        </p:txBody>
      </p:sp>
      <p:sp>
        <p:nvSpPr>
          <p:cNvPr id="53" name="文本框 52"/>
          <p:cNvSpPr txBox="1"/>
          <p:nvPr>
            <p:custDataLst>
              <p:tags r:id="rId15"/>
            </p:custDataLst>
          </p:nvPr>
        </p:nvSpPr>
        <p:spPr>
          <a:xfrm>
            <a:off x="4360931" y="1842431"/>
            <a:ext cx="76933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OPPOSans B" panose="00020600040101010101" pitchFamily="18" charset="-122"/>
                <a:ea typeface="OPPOSans M" panose="00020600040101010101" pitchFamily="18" charset="-122"/>
                <a:cs typeface="+mn-cs"/>
              </a:rPr>
              <a:t>贰</a:t>
            </a:r>
            <a:endParaRPr kumimoji="0" lang="en-US" altLang="zh-CN" sz="2400" b="0" i="0" u="none" strike="noStrike" kern="1200" cap="none" spc="0" normalizeH="0" baseline="0" noProof="0" dirty="0">
              <a:ln>
                <a:noFill/>
              </a:ln>
              <a:solidFill>
                <a:prstClr val="white"/>
              </a:solidFill>
              <a:effectLst/>
              <a:uLnTx/>
              <a:uFillTx/>
              <a:latin typeface="OPPOSans B" panose="00020600040101010101" pitchFamily="18" charset="-122"/>
              <a:ea typeface="OPPOSans M" panose="00020600040101010101" pitchFamily="18" charset="-122"/>
              <a:cs typeface="+mn-cs"/>
            </a:endParaRPr>
          </a:p>
        </p:txBody>
      </p:sp>
      <p:sp>
        <p:nvSpPr>
          <p:cNvPr id="54" name="文本框 53"/>
          <p:cNvSpPr txBox="1"/>
          <p:nvPr>
            <p:custDataLst>
              <p:tags r:id="rId16"/>
            </p:custDataLst>
          </p:nvPr>
        </p:nvSpPr>
        <p:spPr>
          <a:xfrm>
            <a:off x="3901046" y="2832943"/>
            <a:ext cx="1689100" cy="460375"/>
          </a:xfrm>
          <a:prstGeom prst="rect">
            <a:avLst/>
          </a:prstGeom>
          <a:noFill/>
        </p:spPr>
        <p:txBody>
          <a:bodyPr wrap="square">
            <a:spAutoFit/>
          </a:bodyPr>
          <a:lstStyle>
            <a:defPPr>
              <a:defRPr lang="zh-CN"/>
            </a:defPPr>
            <a:lvl1pPr algn="ctr">
              <a:defRPr sz="2400">
                <a:solidFill>
                  <a:prstClr val="black"/>
                </a:solidFill>
                <a:latin typeface="+mj-ea"/>
                <a:ea typeface="+mj-ea"/>
                <a:cs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4B5C78"/>
                </a:solidFill>
                <a:effectLst/>
                <a:uLnTx/>
                <a:uFillTx/>
                <a:latin typeface="OPPOSans B" panose="00020600040101010101" pitchFamily="18" charset="-122"/>
                <a:ea typeface="OPPOSans B" panose="00020600040101010101" pitchFamily="18" charset="-122"/>
              </a:rPr>
              <a:t>来源广泛</a:t>
            </a:r>
            <a:endParaRPr kumimoji="0" lang="zh-CN" altLang="en-US" b="0" i="0" u="none" strike="noStrike" kern="1200" cap="none" spc="0" normalizeH="0" baseline="0" noProof="0" dirty="0">
              <a:ln>
                <a:noFill/>
              </a:ln>
              <a:solidFill>
                <a:srgbClr val="4B5C78"/>
              </a:solidFill>
              <a:effectLst/>
              <a:uLnTx/>
              <a:uFillTx/>
              <a:latin typeface="OPPOSans B" panose="00020600040101010101" pitchFamily="18" charset="-122"/>
              <a:ea typeface="OPPOSans B" panose="00020600040101010101" pitchFamily="18" charset="-122"/>
            </a:endParaRPr>
          </a:p>
        </p:txBody>
      </p:sp>
      <p:sp>
        <p:nvSpPr>
          <p:cNvPr id="55" name="文本框 54"/>
          <p:cNvSpPr txBox="1"/>
          <p:nvPr>
            <p:custDataLst>
              <p:tags r:id="rId17"/>
            </p:custDataLst>
          </p:nvPr>
        </p:nvSpPr>
        <p:spPr>
          <a:xfrm>
            <a:off x="3529420" y="3361036"/>
            <a:ext cx="2438400" cy="2306955"/>
          </a:xfrm>
          <a:prstGeom prst="rect">
            <a:avLst/>
          </a:prstGeom>
          <a:noFill/>
        </p:spPr>
        <p:txBody>
          <a:bodyPr wrap="square">
            <a:spAutoFit/>
          </a:bodyPr>
          <a:lstStyle/>
          <a:p>
            <a:pPr algn="just">
              <a:lnSpc>
                <a:spcPct val="150000"/>
              </a:lnSpc>
              <a:defRPr/>
            </a:pP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微塑料的来源可分为原生与次生两大类，具体包括日化产品、塑料制品降解、日常用品使用释放等途径</a:t>
            </a:r>
            <a:r>
              <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a:t>
            </a: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a:t>
            </a:r>
            <a:r>
              <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a:t>
            </a:r>
            <a:endPar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a:p>
            <a:pPr algn="just">
              <a:lnSpc>
                <a:spcPct val="150000"/>
              </a:lnSpc>
              <a:defRPr/>
            </a:pPr>
            <a:endPar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p:txBody>
      </p:sp>
      <p:sp>
        <p:nvSpPr>
          <p:cNvPr id="56" name="矩形: 圆角 23"/>
          <p:cNvSpPr/>
          <p:nvPr>
            <p:custDataLst>
              <p:tags r:id="rId18"/>
            </p:custDataLst>
          </p:nvPr>
        </p:nvSpPr>
        <p:spPr>
          <a:xfrm>
            <a:off x="6184900" y="2052320"/>
            <a:ext cx="2586990" cy="4485640"/>
          </a:xfrm>
          <a:prstGeom prst="roundRect">
            <a:avLst>
              <a:gd name="adj" fmla="val 4303"/>
            </a:avLst>
          </a:prstGeom>
          <a:solidFill>
            <a:schemeClr val="bg1"/>
          </a:solidFill>
          <a:ln>
            <a:noFill/>
          </a:ln>
          <a:effectLst>
            <a:outerShdw blurRad="266700" dist="38100" dir="2700000" sx="104000" sy="104000" algn="tl" rotWithShape="0">
              <a:prstClr val="black">
                <a:alpha val="40000"/>
              </a:prstClr>
            </a:outerShdw>
            <a:reflection blurRad="114300" stA="48000" endPos="28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57" name="弧形 56"/>
          <p:cNvSpPr/>
          <p:nvPr>
            <p:custDataLst>
              <p:tags r:id="rId19"/>
            </p:custDataLst>
          </p:nvPr>
        </p:nvSpPr>
        <p:spPr>
          <a:xfrm rot="7609396">
            <a:off x="6798792" y="1397774"/>
            <a:ext cx="1350978" cy="1350978"/>
          </a:xfrm>
          <a:prstGeom prst="arc">
            <a:avLst>
              <a:gd name="adj1" fmla="val 17154829"/>
              <a:gd name="adj2" fmla="val 8729259"/>
            </a:avLst>
          </a:prstGeom>
          <a:noFill/>
          <a:ln w="6350">
            <a:gradFill>
              <a:gsLst>
                <a:gs pos="0">
                  <a:srgbClr val="055EA0">
                    <a:alpha val="0"/>
                  </a:srgbClr>
                </a:gs>
                <a:gs pos="100000">
                  <a:srgbClr val="0070C0"/>
                </a:gs>
              </a:gsLst>
              <a:lin ang="5400000" scaled="1"/>
            </a:gra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solidFill>
                <a:prstClr val="white"/>
              </a:solidFill>
              <a:latin typeface="OPPOSans M" panose="00020600040101010101" pitchFamily="18" charset="-122"/>
              <a:ea typeface="OPPOSans M" panose="00020600040101010101" pitchFamily="18" charset="-122"/>
            </a:endParaRPr>
          </a:p>
        </p:txBody>
      </p:sp>
      <p:sp>
        <p:nvSpPr>
          <p:cNvPr id="59" name="椭圆 58"/>
          <p:cNvSpPr/>
          <p:nvPr>
            <p:custDataLst>
              <p:tags r:id="rId20"/>
            </p:custDataLst>
          </p:nvPr>
        </p:nvSpPr>
        <p:spPr>
          <a:xfrm rot="5680615">
            <a:off x="6935772" y="1534754"/>
            <a:ext cx="1077017" cy="1077017"/>
          </a:xfrm>
          <a:prstGeom prst="ellipse">
            <a:avLst/>
          </a:prstGeom>
          <a:noFill/>
          <a:ln w="22225">
            <a:gradFill flip="none" rotWithShape="1">
              <a:gsLst>
                <a:gs pos="0">
                  <a:srgbClr val="0070C0">
                    <a:alpha val="44000"/>
                  </a:srgbClr>
                </a:gs>
                <a:gs pos="100000">
                  <a:srgbClr val="00B0F0">
                    <a:alpha val="0"/>
                  </a:srgb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solidFill>
                <a:prstClr val="white"/>
              </a:solidFill>
              <a:latin typeface="OPPOSans M" panose="00020600040101010101" pitchFamily="18" charset="-122"/>
              <a:ea typeface="OPPOSans M" panose="00020600040101010101" pitchFamily="18" charset="-122"/>
            </a:endParaRPr>
          </a:p>
        </p:txBody>
      </p:sp>
      <p:sp>
        <p:nvSpPr>
          <p:cNvPr id="61" name="文本框 60"/>
          <p:cNvSpPr txBox="1"/>
          <p:nvPr>
            <p:custDataLst>
              <p:tags r:id="rId21"/>
            </p:custDataLst>
          </p:nvPr>
        </p:nvSpPr>
        <p:spPr>
          <a:xfrm>
            <a:off x="6634811" y="2832943"/>
            <a:ext cx="1689100" cy="460375"/>
          </a:xfrm>
          <a:prstGeom prst="rect">
            <a:avLst/>
          </a:prstGeom>
          <a:noFill/>
        </p:spPr>
        <p:txBody>
          <a:bodyPr wrap="square">
            <a:spAutoFit/>
          </a:bodyPr>
          <a:lstStyle>
            <a:defPPr>
              <a:defRPr lang="zh-CN"/>
            </a:defPPr>
            <a:lvl1pPr algn="ctr">
              <a:defRPr sz="2400">
                <a:solidFill>
                  <a:prstClr val="black"/>
                </a:solidFill>
                <a:latin typeface="+mj-ea"/>
                <a:ea typeface="+mj-ea"/>
                <a:cs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4B5C78"/>
                </a:solidFill>
                <a:effectLst/>
                <a:uLnTx/>
                <a:uFillTx/>
                <a:latin typeface="OPPOSans B" panose="00020600040101010101" pitchFamily="18" charset="-122"/>
                <a:ea typeface="OPPOSans B" panose="00020600040101010101" pitchFamily="18" charset="-122"/>
              </a:rPr>
              <a:t>广泛分布</a:t>
            </a:r>
            <a:endParaRPr kumimoji="0" lang="en-US" altLang="zh-CN" b="0" i="0" u="none" strike="noStrike" kern="1200" cap="none" spc="0" normalizeH="0" baseline="0" noProof="0" dirty="0">
              <a:ln>
                <a:noFill/>
              </a:ln>
              <a:solidFill>
                <a:srgbClr val="4B5C78"/>
              </a:solidFill>
              <a:effectLst/>
              <a:uLnTx/>
              <a:uFillTx/>
              <a:latin typeface="OPPOSans B" panose="00020600040101010101" pitchFamily="18" charset="-122"/>
              <a:ea typeface="OPPOSans B" panose="00020600040101010101" pitchFamily="18" charset="-122"/>
            </a:endParaRPr>
          </a:p>
        </p:txBody>
      </p:sp>
      <p:sp>
        <p:nvSpPr>
          <p:cNvPr id="62" name="文本框 61"/>
          <p:cNvSpPr txBox="1"/>
          <p:nvPr>
            <p:custDataLst>
              <p:tags r:id="rId22"/>
            </p:custDataLst>
          </p:nvPr>
        </p:nvSpPr>
        <p:spPr>
          <a:xfrm>
            <a:off x="6259375" y="3361036"/>
            <a:ext cx="2438400" cy="3046095"/>
          </a:xfrm>
          <a:prstGeom prst="rect">
            <a:avLst/>
          </a:prstGeom>
          <a:noFill/>
        </p:spPr>
        <p:txBody>
          <a:bodyPr wrap="square">
            <a:spAutoFit/>
          </a:bodyPr>
          <a:lstStyle/>
          <a:p>
            <a:pPr algn="just">
              <a:lnSpc>
                <a:spcPct val="150000"/>
              </a:lnSpc>
              <a:defRPr/>
            </a:pP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微塑料（直径小于</a:t>
            </a:r>
            <a:r>
              <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5</a:t>
            </a: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毫米的塑料颗粒）已在地球各类环境中广泛检出，海洋环境、淡水系统、陆地环境、生物体与人体都有大量分布。其分布受人类活动、自然迁移和生态系统的综合影响。</a:t>
            </a:r>
            <a:endPar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p:txBody>
      </p:sp>
      <p:sp>
        <p:nvSpPr>
          <p:cNvPr id="63" name="矩形: 圆角 30"/>
          <p:cNvSpPr/>
          <p:nvPr>
            <p:custDataLst>
              <p:tags r:id="rId23"/>
            </p:custDataLst>
          </p:nvPr>
        </p:nvSpPr>
        <p:spPr>
          <a:xfrm>
            <a:off x="8892540" y="2052320"/>
            <a:ext cx="2595880" cy="4094480"/>
          </a:xfrm>
          <a:prstGeom prst="roundRect">
            <a:avLst>
              <a:gd name="adj" fmla="val 4303"/>
            </a:avLst>
          </a:prstGeom>
          <a:solidFill>
            <a:schemeClr val="bg1"/>
          </a:solidFill>
          <a:ln>
            <a:noFill/>
          </a:ln>
          <a:effectLst>
            <a:outerShdw blurRad="304800" dist="38100" dir="2700000" sx="104000" sy="104000" algn="tl" rotWithShape="0">
              <a:prstClr val="black">
                <a:alpha val="40000"/>
              </a:prstClr>
            </a:outerShdw>
            <a:reflection blurRad="114300" stA="48000" endPos="28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64" name="弧形 63"/>
          <p:cNvSpPr/>
          <p:nvPr>
            <p:custDataLst>
              <p:tags r:id="rId24"/>
            </p:custDataLst>
          </p:nvPr>
        </p:nvSpPr>
        <p:spPr>
          <a:xfrm rot="7609396">
            <a:off x="9590977" y="1397774"/>
            <a:ext cx="1350978" cy="1350978"/>
          </a:xfrm>
          <a:prstGeom prst="arc">
            <a:avLst>
              <a:gd name="adj1" fmla="val 17154829"/>
              <a:gd name="adj2" fmla="val 8729259"/>
            </a:avLst>
          </a:prstGeom>
          <a:noFill/>
          <a:ln w="6350">
            <a:gradFill>
              <a:gsLst>
                <a:gs pos="0">
                  <a:srgbClr val="055EA0">
                    <a:alpha val="0"/>
                  </a:srgbClr>
                </a:gs>
                <a:gs pos="100000">
                  <a:srgbClr val="0070C0"/>
                </a:gs>
              </a:gsLst>
              <a:lin ang="5400000" scaled="1"/>
            </a:gra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solidFill>
                <a:prstClr val="white"/>
              </a:solidFill>
              <a:latin typeface="OPPOSans M" panose="00020600040101010101" pitchFamily="18" charset="-122"/>
              <a:ea typeface="OPPOSans M" panose="00020600040101010101" pitchFamily="18" charset="-122"/>
            </a:endParaRPr>
          </a:p>
        </p:txBody>
      </p:sp>
      <p:sp>
        <p:nvSpPr>
          <p:cNvPr id="65" name="椭圆 64"/>
          <p:cNvSpPr/>
          <p:nvPr>
            <p:custDataLst>
              <p:tags r:id="rId25"/>
            </p:custDataLst>
          </p:nvPr>
        </p:nvSpPr>
        <p:spPr>
          <a:xfrm>
            <a:off x="9804842" y="1611639"/>
            <a:ext cx="923249" cy="923249"/>
          </a:xfrm>
          <a:prstGeom prst="ellipse">
            <a:avLst/>
          </a:prstGeom>
          <a:solidFill>
            <a:srgbClr val="323D50"/>
          </a:soli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66" name="椭圆 65"/>
          <p:cNvSpPr/>
          <p:nvPr>
            <p:custDataLst>
              <p:tags r:id="rId26"/>
            </p:custDataLst>
          </p:nvPr>
        </p:nvSpPr>
        <p:spPr>
          <a:xfrm rot="5680615">
            <a:off x="9727957" y="1534754"/>
            <a:ext cx="1077017" cy="1077017"/>
          </a:xfrm>
          <a:prstGeom prst="ellipse">
            <a:avLst/>
          </a:prstGeom>
          <a:noFill/>
          <a:ln w="22225">
            <a:gradFill flip="none" rotWithShape="1">
              <a:gsLst>
                <a:gs pos="0">
                  <a:srgbClr val="0070C0">
                    <a:alpha val="44000"/>
                  </a:srgbClr>
                </a:gs>
                <a:gs pos="100000">
                  <a:srgbClr val="00B0F0">
                    <a:alpha val="0"/>
                  </a:srgb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solidFill>
                <a:prstClr val="white"/>
              </a:solidFill>
              <a:latin typeface="OPPOSans M" panose="00020600040101010101" pitchFamily="18" charset="-122"/>
              <a:ea typeface="OPPOSans M" panose="00020600040101010101" pitchFamily="18" charset="-122"/>
            </a:endParaRPr>
          </a:p>
        </p:txBody>
      </p:sp>
      <p:sp>
        <p:nvSpPr>
          <p:cNvPr id="67" name="文本框 66"/>
          <p:cNvSpPr txBox="1"/>
          <p:nvPr>
            <p:custDataLst>
              <p:tags r:id="rId27"/>
            </p:custDataLst>
          </p:nvPr>
        </p:nvSpPr>
        <p:spPr>
          <a:xfrm>
            <a:off x="9881801" y="1842431"/>
            <a:ext cx="76933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OPPOSans B" panose="00020600040101010101" pitchFamily="18" charset="-122"/>
                <a:ea typeface="OPPOSans M" panose="00020600040101010101" pitchFamily="18" charset="-122"/>
                <a:cs typeface="+mn-cs"/>
              </a:rPr>
              <a:t>肆</a:t>
            </a:r>
            <a:endParaRPr kumimoji="0" lang="en-US" altLang="zh-CN" sz="2400" b="0" i="0" u="none" strike="noStrike" kern="1200" cap="none" spc="0" normalizeH="0" baseline="0" noProof="0" dirty="0">
              <a:ln>
                <a:noFill/>
              </a:ln>
              <a:solidFill>
                <a:prstClr val="white"/>
              </a:solidFill>
              <a:effectLst/>
              <a:uLnTx/>
              <a:uFillTx/>
              <a:latin typeface="OPPOSans B" panose="00020600040101010101" pitchFamily="18" charset="-122"/>
              <a:ea typeface="OPPOSans M" panose="00020600040101010101" pitchFamily="18" charset="-122"/>
              <a:cs typeface="+mn-cs"/>
            </a:endParaRPr>
          </a:p>
        </p:txBody>
      </p:sp>
      <p:sp>
        <p:nvSpPr>
          <p:cNvPr id="68" name="文本框 67"/>
          <p:cNvSpPr txBox="1"/>
          <p:nvPr>
            <p:custDataLst>
              <p:tags r:id="rId28"/>
            </p:custDataLst>
          </p:nvPr>
        </p:nvSpPr>
        <p:spPr>
          <a:xfrm>
            <a:off x="9150350" y="2832735"/>
            <a:ext cx="2232025" cy="460375"/>
          </a:xfrm>
          <a:prstGeom prst="rect">
            <a:avLst/>
          </a:prstGeom>
          <a:noFill/>
        </p:spPr>
        <p:txBody>
          <a:bodyPr wrap="square">
            <a:spAutoFit/>
          </a:bodyPr>
          <a:lstStyle>
            <a:defPPr>
              <a:defRPr lang="zh-CN"/>
            </a:defPPr>
            <a:lvl1pPr algn="ctr">
              <a:defRPr sz="2400">
                <a:solidFill>
                  <a:prstClr val="black"/>
                </a:solidFill>
                <a:latin typeface="+mj-ea"/>
                <a:ea typeface="+mj-ea"/>
                <a:cs typeface="+mn-ea"/>
              </a:defRPr>
            </a:lvl1pPr>
          </a:lstStyle>
          <a:p>
            <a:pPr marL="0" marR="0" lvl="0" algn="ctr" defTabSz="914400" rtl="0" eaLnBrk="1" fontAlgn="auto" latinLnBrk="0" hangingPunct="1">
              <a:lnSpc>
                <a:spcPct val="100000"/>
              </a:lnSpc>
              <a:spcBef>
                <a:spcPts val="0"/>
              </a:spcBef>
              <a:spcAft>
                <a:spcPts val="0"/>
              </a:spcAft>
              <a:buClrTx/>
              <a:buSzTx/>
              <a:buFontTx/>
              <a:buNone/>
              <a:defRPr/>
            </a:pPr>
            <a:r>
              <a:rPr lang="zh-CN" altLang="en-US" noProof="0" dirty="0">
                <a:ln>
                  <a:noFill/>
                </a:ln>
                <a:solidFill>
                  <a:srgbClr val="4B5C78"/>
                </a:solidFill>
                <a:effectLst/>
                <a:uLnTx/>
                <a:uFillTx/>
                <a:latin typeface="OPPOSans B" panose="00020600040101010101" pitchFamily="18" charset="-122"/>
                <a:ea typeface="OPPOSans B" panose="00020600040101010101" pitchFamily="18" charset="-122"/>
                <a:sym typeface="+mn-ea"/>
              </a:rPr>
              <a:t>危害</a:t>
            </a:r>
            <a:endParaRPr kumimoji="0" lang="zh-CN" altLang="en-US" b="0" i="0" u="none" strike="noStrike" kern="1200" cap="none" spc="0" normalizeH="0" baseline="0" noProof="0" dirty="0">
              <a:ln>
                <a:noFill/>
              </a:ln>
              <a:solidFill>
                <a:srgbClr val="4B5C78"/>
              </a:solidFill>
              <a:effectLst/>
              <a:uLnTx/>
              <a:uFillTx/>
              <a:latin typeface="OPPOSans B" panose="00020600040101010101" pitchFamily="18" charset="-122"/>
              <a:ea typeface="OPPOSans B" panose="00020600040101010101" pitchFamily="18" charset="-122"/>
            </a:endParaRPr>
          </a:p>
        </p:txBody>
      </p:sp>
      <p:sp>
        <p:nvSpPr>
          <p:cNvPr id="69" name="文本框 68"/>
          <p:cNvSpPr txBox="1"/>
          <p:nvPr>
            <p:custDataLst>
              <p:tags r:id="rId29"/>
            </p:custDataLst>
          </p:nvPr>
        </p:nvSpPr>
        <p:spPr>
          <a:xfrm>
            <a:off x="8890635" y="3361055"/>
            <a:ext cx="2630170" cy="2987040"/>
          </a:xfrm>
          <a:prstGeom prst="rect">
            <a:avLst/>
          </a:prstGeom>
          <a:noFill/>
        </p:spPr>
        <p:txBody>
          <a:bodyPr wrap="square">
            <a:noAutofit/>
          </a:bodyPr>
          <a:lstStyle/>
          <a:p>
            <a:pPr algn="just">
              <a:lnSpc>
                <a:spcPct val="150000"/>
              </a:lnSpc>
              <a:defRPr/>
            </a:pP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生态系统影响</a:t>
            </a:r>
            <a:r>
              <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a:t>
            </a:r>
            <a:endPar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a:p>
            <a:pPr algn="just">
              <a:lnSpc>
                <a:spcPct val="150000"/>
              </a:lnSpc>
              <a:defRPr/>
            </a:pP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被海洋生物误食</a:t>
            </a:r>
            <a:r>
              <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 </a:t>
            </a: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，堵塞消化道，影响摄食和生长。</a:t>
            </a:r>
            <a:endPar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a:p>
            <a:pPr algn="just">
              <a:lnSpc>
                <a:spcPct val="150000"/>
              </a:lnSpc>
              <a:defRPr/>
            </a:pP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可能在食物链中传递富集。</a:t>
            </a:r>
            <a:endPar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a:p>
            <a:pPr algn="just">
              <a:lnSpc>
                <a:spcPct val="150000"/>
              </a:lnSpc>
              <a:defRPr/>
            </a:pP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吸附和释放有毒有害物质。</a:t>
            </a:r>
            <a:endPar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a:p>
            <a:pPr algn="just">
              <a:lnSpc>
                <a:spcPct val="150000"/>
              </a:lnSpc>
              <a:defRPr/>
            </a:pP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潜在人类健康风险</a:t>
            </a:r>
            <a:r>
              <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a:t>
            </a:r>
            <a:endParaRPr kumimoji="0" lang="en-US" altLang="zh-CN"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a:p>
            <a:pPr algn="just">
              <a:lnSpc>
                <a:spcPct val="150000"/>
              </a:lnSpc>
              <a:defRPr/>
            </a:pPr>
            <a:r>
              <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rPr>
              <a:t>通过海产品进入人类食物链。</a:t>
            </a:r>
            <a:endPar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a:p>
            <a:pPr algn="just">
              <a:lnSpc>
                <a:spcPct val="150000"/>
              </a:lnSpc>
              <a:defRPr/>
            </a:pPr>
            <a:endParaRPr kumimoji="0" lang="zh-CN" altLang="en-US" sz="1600" b="0" i="0" u="none" strike="noStrike" kern="1200" cap="none" spc="0" normalizeH="0" baseline="0" noProof="0" dirty="0">
              <a:ln>
                <a:noFill/>
              </a:ln>
              <a:solidFill>
                <a:srgbClr val="4B5C78"/>
              </a:solidFill>
              <a:effectLst/>
              <a:uLnTx/>
              <a:uFillTx/>
              <a:latin typeface="OPPOSans M" panose="00020600040101010101" pitchFamily="18" charset="-122"/>
              <a:ea typeface="OPPOSans M" panose="00020600040101010101" pitchFamily="18" charset="-122"/>
              <a:cs typeface="+mn-cs"/>
            </a:endParaRPr>
          </a:p>
        </p:txBody>
      </p:sp>
      <p:grpSp>
        <p:nvGrpSpPr>
          <p:cNvPr id="70" name="组合 69"/>
          <p:cNvGrpSpPr/>
          <p:nvPr>
            <p:custDataLst>
              <p:tags r:id="rId30"/>
            </p:custDataLst>
          </p:nvPr>
        </p:nvGrpSpPr>
        <p:grpSpPr>
          <a:xfrm flipH="1" flipV="1">
            <a:off x="820585" y="3541395"/>
            <a:ext cx="231871" cy="3276600"/>
            <a:chOff x="4399082" y="1624876"/>
            <a:chExt cx="231871" cy="3276600"/>
          </a:xfrm>
        </p:grpSpPr>
        <p:cxnSp>
          <p:nvCxnSpPr>
            <p:cNvPr id="71" name="直接连接符 70"/>
            <p:cNvCxnSpPr/>
            <p:nvPr>
              <p:custDataLst>
                <p:tags r:id="rId31"/>
              </p:custDataLst>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custDataLst>
                <p:tags r:id="rId32"/>
              </p:custDataLst>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75" name="椭圆 74"/>
          <p:cNvSpPr/>
          <p:nvPr>
            <p:custDataLst>
              <p:tags r:id="rId33"/>
            </p:custDataLst>
          </p:nvPr>
        </p:nvSpPr>
        <p:spPr>
          <a:xfrm>
            <a:off x="7006127" y="1604019"/>
            <a:ext cx="923249" cy="923249"/>
          </a:xfrm>
          <a:prstGeom prst="ellipse">
            <a:avLst/>
          </a:prstGeom>
          <a:solidFill>
            <a:srgbClr val="7186A7"/>
          </a:soli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sp>
        <p:nvSpPr>
          <p:cNvPr id="60" name="文本框 59"/>
          <p:cNvSpPr txBox="1"/>
          <p:nvPr>
            <p:custDataLst>
              <p:tags r:id="rId34"/>
            </p:custDataLst>
          </p:nvPr>
        </p:nvSpPr>
        <p:spPr>
          <a:xfrm>
            <a:off x="7089616" y="1842431"/>
            <a:ext cx="76933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OPPOSans B" panose="00020600040101010101" pitchFamily="18" charset="-122"/>
                <a:ea typeface="OPPOSans M" panose="00020600040101010101" pitchFamily="18" charset="-122"/>
                <a:cs typeface="+mn-cs"/>
              </a:rPr>
              <a:t>叁</a:t>
            </a:r>
            <a:endParaRPr kumimoji="0" lang="en-US" altLang="zh-CN" sz="2400" b="0" i="0" u="none" strike="noStrike" kern="1200" cap="none" spc="0" normalizeH="0" baseline="0" noProof="0" dirty="0">
              <a:ln>
                <a:noFill/>
              </a:ln>
              <a:solidFill>
                <a:prstClr val="white"/>
              </a:solidFill>
              <a:effectLst/>
              <a:uLnTx/>
              <a:uFillTx/>
              <a:latin typeface="OPPOSans B" panose="00020600040101010101" pitchFamily="18" charset="-122"/>
              <a:ea typeface="OPPOSans M" panose="00020600040101010101" pitchFamily="18"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B5C78">
            <a:alpha val="5000"/>
          </a:srgbClr>
        </a:solidFill>
        <a:effectLst/>
      </p:bgPr>
    </p:bg>
    <p:spTree>
      <p:nvGrpSpPr>
        <p:cNvPr id="1" name=""/>
        <p:cNvGrpSpPr/>
        <p:nvPr/>
      </p:nvGrpSpPr>
      <p:grpSpPr>
        <a:xfrm>
          <a:off x="0" y="0"/>
          <a:ext cx="0" cy="0"/>
          <a:chOff x="0" y="0"/>
          <a:chExt cx="0" cy="0"/>
        </a:xfrm>
      </p:grpSpPr>
      <p:sp>
        <p:nvSpPr>
          <p:cNvPr id="3" name="矩形 2"/>
          <p:cNvSpPr/>
          <p:nvPr/>
        </p:nvSpPr>
        <p:spPr>
          <a:xfrm>
            <a:off x="690880" y="1895476"/>
            <a:ext cx="5435600" cy="3400425"/>
          </a:xfrm>
          <a:prstGeom prst="rect">
            <a:avLst/>
          </a:prstGeom>
          <a:solidFill>
            <a:srgbClr val="4B5C78">
              <a:alpha val="30000"/>
            </a:srgbClr>
          </a:solidFill>
          <a:ln w="31750">
            <a:solidFill>
              <a:srgbClr val="4B5C78"/>
            </a:solidFill>
          </a:ln>
          <a:effectLst>
            <a:outerShdw blurRad="317500" dist="38100" dir="8100000" sx="102000" sy="102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mn-cs"/>
            </a:endParaRPr>
          </a:p>
        </p:txBody>
      </p:sp>
      <p:sp>
        <p:nvSpPr>
          <p:cNvPr id="6" name="矩形 5"/>
          <p:cNvSpPr>
            <a:spLocks noChangeArrowheads="1"/>
          </p:cNvSpPr>
          <p:nvPr/>
        </p:nvSpPr>
        <p:spPr bwMode="black">
          <a:xfrm>
            <a:off x="6452455" y="1994011"/>
            <a:ext cx="2102628" cy="68127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2800" i="0" u="none" strike="noStrike" kern="1200" cap="none" spc="0" normalizeH="0" baseline="0" noProof="0" dirty="0">
                <a:ln>
                  <a:noFill/>
                </a:ln>
                <a:solidFill>
                  <a:srgbClr val="FFFFFF"/>
                </a:solidFill>
                <a:effectLst/>
                <a:uLnTx/>
                <a:uFillTx/>
                <a:latin typeface="+mj-ea"/>
                <a:ea typeface="+mj-ea"/>
                <a:cs typeface="+mn-cs"/>
              </a:rPr>
              <a:t>第二部分</a:t>
            </a:r>
            <a:endParaRPr kumimoji="0" lang="en-US" altLang="zh-CN" sz="2400" i="0" u="none" strike="noStrike" kern="1200" cap="none" spc="0" normalizeH="0" baseline="0" noProof="0" dirty="0">
              <a:ln>
                <a:noFill/>
              </a:ln>
              <a:solidFill>
                <a:srgbClr val="FFFFFF"/>
              </a:solidFill>
              <a:effectLst/>
              <a:uLnTx/>
              <a:uFillTx/>
              <a:latin typeface="+mj-ea"/>
              <a:ea typeface="+mj-ea"/>
              <a:cs typeface="+mn-cs"/>
            </a:endParaRPr>
          </a:p>
        </p:txBody>
      </p:sp>
      <p:sp>
        <p:nvSpPr>
          <p:cNvPr id="9" name="文本框 8"/>
          <p:cNvSpPr txBox="1"/>
          <p:nvPr/>
        </p:nvSpPr>
        <p:spPr>
          <a:xfrm>
            <a:off x="965200" y="1993900"/>
            <a:ext cx="2374900" cy="73723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800" i="0" u="none" strike="noStrike" kern="1200" cap="none" spc="0" normalizeH="0" baseline="0" noProof="0" dirty="0">
                <a:ln>
                  <a:noFill/>
                </a:ln>
                <a:solidFill>
                  <a:srgbClr val="4B5C78"/>
                </a:solidFill>
                <a:effectLst/>
                <a:uLnTx/>
                <a:uFillTx/>
                <a:latin typeface="+mj-ea"/>
                <a:ea typeface="+mj-ea"/>
                <a:cs typeface="+mn-cs"/>
              </a:rPr>
              <a:t>为何要监测</a:t>
            </a:r>
            <a:r>
              <a:rPr kumimoji="0" lang="en-US" altLang="zh-CN" sz="2800" i="0" u="none" strike="noStrike" kern="1200" cap="none" spc="0" normalizeH="0" baseline="0" noProof="0" dirty="0">
                <a:ln>
                  <a:noFill/>
                </a:ln>
                <a:solidFill>
                  <a:srgbClr val="4B5C78"/>
                </a:solidFill>
                <a:effectLst/>
                <a:uLnTx/>
                <a:uFillTx/>
                <a:latin typeface="+mj-ea"/>
                <a:ea typeface="+mj-ea"/>
                <a:cs typeface="+mn-cs"/>
              </a:rPr>
              <a:t>?</a:t>
            </a:r>
            <a:endParaRPr kumimoji="0" lang="en-US" altLang="zh-CN" sz="2800" i="0" u="none" strike="noStrike" kern="1200" cap="none" spc="0" normalizeH="0" baseline="0" noProof="0" dirty="0">
              <a:ln>
                <a:noFill/>
              </a:ln>
              <a:solidFill>
                <a:srgbClr val="4B5C78"/>
              </a:solidFill>
              <a:effectLst/>
              <a:uLnTx/>
              <a:uFillTx/>
              <a:latin typeface="+mj-ea"/>
              <a:ea typeface="+mj-ea"/>
              <a:cs typeface="+mn-cs"/>
            </a:endParaRPr>
          </a:p>
        </p:txBody>
      </p:sp>
      <p:sp>
        <p:nvSpPr>
          <p:cNvPr id="10" name="矩形 9"/>
          <p:cNvSpPr/>
          <p:nvPr/>
        </p:nvSpPr>
        <p:spPr>
          <a:xfrm>
            <a:off x="872490" y="2850515"/>
            <a:ext cx="5005070" cy="1753235"/>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l" defTabSz="914400">
              <a:lnSpc>
                <a:spcPct val="150000"/>
              </a:lnSpc>
              <a:buSzPct val="90000"/>
              <a:buFont typeface="Wingdings" panose="05000000000000000000" charset="0"/>
              <a:buChar char="n"/>
              <a:defRPr/>
            </a:pPr>
            <a:r>
              <a:rPr lang="zh-CN" altLang="en-US" dirty="0">
                <a:solidFill>
                  <a:srgbClr val="4B5C78"/>
                </a:solidFill>
                <a:latin typeface="+mn-ea"/>
              </a:rPr>
              <a:t>了解污染现状：分布、浓度、类型、时空变化规律。</a:t>
            </a:r>
            <a:endParaRPr lang="zh-CN" altLang="en-US" dirty="0">
              <a:solidFill>
                <a:srgbClr val="4B5C78"/>
              </a:solidFill>
              <a:latin typeface="+mn-ea"/>
            </a:endParaRPr>
          </a:p>
          <a:p>
            <a:pPr marL="285750" indent="-285750" algn="l" defTabSz="914400">
              <a:lnSpc>
                <a:spcPct val="150000"/>
              </a:lnSpc>
              <a:buSzPct val="90000"/>
              <a:buFont typeface="Wingdings" panose="05000000000000000000" charset="0"/>
              <a:buChar char="n"/>
              <a:defRPr/>
            </a:pPr>
            <a:r>
              <a:rPr lang="zh-CN" altLang="en-US" dirty="0">
                <a:solidFill>
                  <a:srgbClr val="4B5C78"/>
                </a:solidFill>
                <a:latin typeface="+mn-ea"/>
              </a:rPr>
              <a:t>评估生态风险：识别高污染区域和敏感区域。</a:t>
            </a:r>
            <a:endParaRPr lang="zh-CN" altLang="en-US" dirty="0">
              <a:solidFill>
                <a:srgbClr val="4B5C78"/>
              </a:solidFill>
              <a:latin typeface="+mn-ea"/>
            </a:endParaRPr>
          </a:p>
          <a:p>
            <a:pPr marL="285750" indent="-285750" algn="l" defTabSz="914400">
              <a:lnSpc>
                <a:spcPct val="150000"/>
              </a:lnSpc>
              <a:buSzPct val="90000"/>
              <a:buFont typeface="Wingdings" panose="05000000000000000000" charset="0"/>
              <a:buChar char="n"/>
              <a:defRPr/>
            </a:pPr>
            <a:r>
              <a:rPr lang="zh-CN" altLang="en-US" dirty="0">
                <a:solidFill>
                  <a:srgbClr val="4B5C78"/>
                </a:solidFill>
                <a:latin typeface="+mn-ea"/>
              </a:rPr>
              <a:t>评价治理效果：检验减排措施的有效性。</a:t>
            </a:r>
            <a:endParaRPr lang="zh-CN" altLang="en-US" dirty="0">
              <a:solidFill>
                <a:srgbClr val="4B5C78"/>
              </a:solidFill>
              <a:latin typeface="+mn-ea"/>
            </a:endParaRPr>
          </a:p>
        </p:txBody>
      </p:sp>
      <p:sp>
        <p:nvSpPr>
          <p:cNvPr id="13" name="文本框 12"/>
          <p:cNvSpPr txBox="1"/>
          <p:nvPr/>
        </p:nvSpPr>
        <p:spPr>
          <a:xfrm>
            <a:off x="800100" y="560070"/>
            <a:ext cx="8594090" cy="7067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300" normalizeH="0" baseline="0" noProof="0" dirty="0">
                <a:ln>
                  <a:noFill/>
                </a:ln>
                <a:solidFill>
                  <a:srgbClr val="4B5C78"/>
                </a:solidFill>
                <a:effectLst/>
                <a:uLnTx/>
                <a:uFillTx/>
                <a:latin typeface="+mj-ea"/>
                <a:ea typeface="+mj-ea"/>
                <a:cs typeface="+mn-cs"/>
              </a:rPr>
              <a:t>需求分析</a:t>
            </a:r>
            <a:r>
              <a:rPr kumimoji="0" lang="en-US" altLang="zh-CN" sz="4000" i="0" u="none" strike="noStrike" kern="1200" cap="none" spc="300" normalizeH="0" baseline="0" noProof="0" dirty="0">
                <a:ln>
                  <a:noFill/>
                </a:ln>
                <a:solidFill>
                  <a:srgbClr val="4B5C78"/>
                </a:solidFill>
                <a:effectLst/>
                <a:uLnTx/>
                <a:uFillTx/>
                <a:latin typeface="+mj-ea"/>
                <a:ea typeface="+mj-ea"/>
                <a:cs typeface="+mn-cs"/>
              </a:rPr>
              <a:t>——</a:t>
            </a:r>
            <a:r>
              <a:rPr kumimoji="0" lang="zh-CN" altLang="en-US" sz="4000" i="0" u="none" strike="noStrike" kern="1200" cap="none" spc="300" normalizeH="0" baseline="0" noProof="0" dirty="0">
                <a:ln>
                  <a:noFill/>
                </a:ln>
                <a:solidFill>
                  <a:srgbClr val="4B5C78"/>
                </a:solidFill>
                <a:effectLst/>
                <a:uLnTx/>
                <a:uFillTx/>
                <a:latin typeface="+mj-ea"/>
                <a:ea typeface="+mj-ea"/>
                <a:cs typeface="+mn-cs"/>
              </a:rPr>
              <a:t>动态监测与精准溯源</a:t>
            </a:r>
            <a:endParaRPr kumimoji="0" lang="zh-CN" altLang="en-US" sz="4000" i="0" u="none" strike="noStrike" kern="1200" cap="none" spc="300" normalizeH="0" baseline="0" noProof="0" dirty="0">
              <a:ln>
                <a:noFill/>
              </a:ln>
              <a:solidFill>
                <a:srgbClr val="4B5C78"/>
              </a:solidFill>
              <a:effectLst/>
              <a:uLnTx/>
              <a:uFillTx/>
              <a:latin typeface="+mj-ea"/>
              <a:ea typeface="+mj-ea"/>
              <a:cs typeface="+mn-cs"/>
            </a:endParaRPr>
          </a:p>
        </p:txBody>
      </p:sp>
      <p:sp>
        <p:nvSpPr>
          <p:cNvPr id="15" name="矩形 14"/>
          <p:cNvSpPr/>
          <p:nvPr/>
        </p:nvSpPr>
        <p:spPr>
          <a:xfrm>
            <a:off x="424193" y="437352"/>
            <a:ext cx="199785" cy="952338"/>
          </a:xfrm>
          <a:prstGeom prst="rect">
            <a:avLst/>
          </a:prstGeom>
          <a:solidFill>
            <a:srgbClr val="4B5C7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11435727" y="0"/>
            <a:ext cx="231871" cy="3276600"/>
            <a:chOff x="4399082" y="1624876"/>
            <a:chExt cx="231871" cy="3276600"/>
          </a:xfrm>
        </p:grpSpPr>
        <p:cxnSp>
          <p:nvCxnSpPr>
            <p:cNvPr id="19" name="直接连接符 18"/>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flipH="1" flipV="1">
            <a:off x="1158309" y="3581400"/>
            <a:ext cx="231871" cy="3276600"/>
            <a:chOff x="4399082" y="1624876"/>
            <a:chExt cx="231871" cy="3276600"/>
          </a:xfrm>
        </p:grpSpPr>
        <p:cxnSp>
          <p:nvCxnSpPr>
            <p:cNvPr id="22" name="直接连接符 21"/>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24" name="图片 23"/>
          <p:cNvPicPr>
            <a:picLocks noChangeAspect="1"/>
          </p:cNvPicPr>
          <p:nvPr/>
        </p:nvPicPr>
        <p:blipFill>
          <a:blip r:embed="rId1" cstate="print">
            <a:alphaModFix amt="56000"/>
          </a:blip>
          <a:stretch>
            <a:fillRect/>
          </a:stretch>
        </p:blipFill>
        <p:spPr>
          <a:xfrm>
            <a:off x="9466368" y="5680149"/>
            <a:ext cx="2563707" cy="1302462"/>
          </a:xfrm>
          <a:prstGeom prst="rect">
            <a:avLst/>
          </a:prstGeom>
        </p:spPr>
      </p:pic>
      <p:sp>
        <p:nvSpPr>
          <p:cNvPr id="2" name="矩形 1"/>
          <p:cNvSpPr/>
          <p:nvPr/>
        </p:nvSpPr>
        <p:spPr>
          <a:xfrm>
            <a:off x="6126480" y="1895476"/>
            <a:ext cx="5435600" cy="3400425"/>
          </a:xfrm>
          <a:prstGeom prst="rect">
            <a:avLst/>
          </a:prstGeom>
          <a:solidFill>
            <a:srgbClr val="4B5C78">
              <a:alpha val="30000"/>
            </a:srgbClr>
          </a:solidFill>
          <a:ln w="31750">
            <a:solidFill>
              <a:srgbClr val="4B5C78"/>
            </a:solidFill>
          </a:ln>
          <a:effectLst>
            <a:outerShdw blurRad="317500" dist="38100" dir="8100000" sx="102000" sy="102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mn-cs"/>
            </a:endParaRPr>
          </a:p>
        </p:txBody>
      </p:sp>
      <p:sp>
        <p:nvSpPr>
          <p:cNvPr id="8" name="文本框 7"/>
          <p:cNvSpPr txBox="1"/>
          <p:nvPr/>
        </p:nvSpPr>
        <p:spPr>
          <a:xfrm>
            <a:off x="6452235" y="1993900"/>
            <a:ext cx="2374900" cy="73723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800" i="0" u="none" strike="noStrike" kern="1200" cap="none" spc="0" normalizeH="0" baseline="0" noProof="0" dirty="0">
                <a:ln>
                  <a:noFill/>
                </a:ln>
                <a:solidFill>
                  <a:srgbClr val="4B5C78"/>
                </a:solidFill>
                <a:effectLst/>
                <a:uLnTx/>
                <a:uFillTx/>
                <a:latin typeface="+mj-ea"/>
                <a:ea typeface="+mj-ea"/>
                <a:cs typeface="+mn-cs"/>
              </a:rPr>
              <a:t>为何要溯源？</a:t>
            </a:r>
            <a:endParaRPr kumimoji="0" lang="zh-CN" altLang="en-US" sz="2800" i="0" u="none" strike="noStrike" kern="1200" cap="none" spc="0" normalizeH="0" baseline="0" noProof="0" dirty="0">
              <a:ln>
                <a:noFill/>
              </a:ln>
              <a:solidFill>
                <a:srgbClr val="4B5C78"/>
              </a:solidFill>
              <a:effectLst/>
              <a:uLnTx/>
              <a:uFillTx/>
              <a:latin typeface="+mj-ea"/>
              <a:ea typeface="+mj-ea"/>
              <a:cs typeface="+mn-cs"/>
            </a:endParaRPr>
          </a:p>
        </p:txBody>
      </p:sp>
      <p:sp>
        <p:nvSpPr>
          <p:cNvPr id="16" name="文本框 15"/>
          <p:cNvSpPr txBox="1"/>
          <p:nvPr/>
        </p:nvSpPr>
        <p:spPr>
          <a:xfrm>
            <a:off x="6304280" y="2850198"/>
            <a:ext cx="5080000" cy="2194560"/>
          </a:xfrm>
          <a:prstGeom prst="rect">
            <a:avLst/>
          </a:prstGeom>
        </p:spPr>
        <p:txBody>
          <a:bodyPr>
            <a:spAutoFit/>
          </a:bodyPr>
          <a:p>
            <a:pPr marL="285750" indent="-285750" algn="l">
              <a:lnSpc>
                <a:spcPct val="150000"/>
              </a:lnSpc>
              <a:spcBef>
                <a:spcPts val="100"/>
              </a:spcBef>
              <a:buClrTx/>
              <a:buSzPct val="90000"/>
              <a:buFont typeface="Wingdings" panose="05000000000000000000" charset="0"/>
              <a:buChar char="n"/>
              <a:defRPr/>
            </a:pPr>
            <a:r>
              <a:rPr lang="zh-CN" altLang="en-US" sz="1800" b="0" i="0" dirty="0">
                <a:solidFill>
                  <a:srgbClr val="4B5C78"/>
                </a:solidFill>
                <a:latin typeface="+mn-ea"/>
              </a:rPr>
              <a:t>识别主要污染来源：是陆源输入为主还是海上活动？特定区域的主要贡献者是谁？</a:t>
            </a:r>
            <a:endParaRPr lang="zh-CN" altLang="en-US" sz="1800" b="0" i="0" dirty="0">
              <a:solidFill>
                <a:srgbClr val="4B5C78"/>
              </a:solidFill>
              <a:latin typeface="+mn-ea"/>
            </a:endParaRPr>
          </a:p>
          <a:p>
            <a:pPr marL="285750" indent="-285750" algn="l">
              <a:lnSpc>
                <a:spcPct val="150000"/>
              </a:lnSpc>
              <a:spcBef>
                <a:spcPts val="100"/>
              </a:spcBef>
              <a:buClrTx/>
              <a:buSzPct val="90000"/>
              <a:buFont typeface="Wingdings" panose="05000000000000000000" charset="0"/>
              <a:buChar char="n"/>
              <a:defRPr/>
            </a:pPr>
            <a:r>
              <a:rPr lang="zh-CN" altLang="en-US" sz="1800" b="0" i="0" dirty="0">
                <a:solidFill>
                  <a:srgbClr val="4B5C78"/>
                </a:solidFill>
                <a:latin typeface="+mn-ea"/>
              </a:rPr>
              <a:t>制定精准防控策略：从源头减少微塑料进入海洋。</a:t>
            </a:r>
            <a:endParaRPr lang="zh-CN" altLang="en-US" sz="1800" b="0" i="0" dirty="0">
              <a:solidFill>
                <a:srgbClr val="4B5C78"/>
              </a:solidFill>
              <a:latin typeface="+mn-ea"/>
            </a:endParaRPr>
          </a:p>
          <a:p>
            <a:pPr marL="285750" indent="-285750" algn="l">
              <a:lnSpc>
                <a:spcPct val="150000"/>
              </a:lnSpc>
              <a:spcBef>
                <a:spcPts val="100"/>
              </a:spcBef>
              <a:buClrTx/>
              <a:buSzPct val="90000"/>
              <a:buFont typeface="Wingdings" panose="05000000000000000000" charset="0"/>
              <a:buChar char="n"/>
              <a:defRPr/>
            </a:pPr>
            <a:r>
              <a:rPr lang="zh-CN" altLang="en-US" sz="1800" b="0" i="0" dirty="0">
                <a:solidFill>
                  <a:srgbClr val="4B5C78"/>
                </a:solidFill>
                <a:latin typeface="+mn-ea"/>
              </a:rPr>
              <a:t>追究污染责任 (法律与管理层面)。</a:t>
            </a:r>
            <a:endParaRPr lang="zh-CN" altLang="en-US" sz="1800" b="0" i="0" dirty="0">
              <a:solidFill>
                <a:srgbClr val="4B5C78"/>
              </a:solidFill>
              <a:latin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4B5C78"/>
        </a:solidFill>
        <a:effectLst/>
      </p:bgPr>
    </p:bg>
    <p:spTree>
      <p:nvGrpSpPr>
        <p:cNvPr id="1" name=""/>
        <p:cNvGrpSpPr/>
        <p:nvPr/>
      </p:nvGrpSpPr>
      <p:grpSpPr>
        <a:xfrm>
          <a:off x="0" y="0"/>
          <a:ext cx="0" cy="0"/>
          <a:chOff x="0" y="0"/>
          <a:chExt cx="0" cy="0"/>
        </a:xfrm>
      </p:grpSpPr>
      <p:pic>
        <p:nvPicPr>
          <p:cNvPr id="12" name="图片 11" descr="海洋4"/>
          <p:cNvPicPr>
            <a:picLocks noChangeAspect="1"/>
          </p:cNvPicPr>
          <p:nvPr/>
        </p:nvPicPr>
        <p:blipFill>
          <a:blip r:embed="rId1">
            <a:alphaModFix amt="48000"/>
          </a:blip>
          <a:srcRect t="20728" b="23422"/>
          <a:stretch>
            <a:fillRect/>
          </a:stretch>
        </p:blipFill>
        <p:spPr>
          <a:xfrm>
            <a:off x="0" y="1731645"/>
            <a:ext cx="12192000" cy="3937635"/>
          </a:xfrm>
          <a:prstGeom prst="rect">
            <a:avLst/>
          </a:prstGeom>
          <a:effectLst>
            <a:softEdge rad="596900"/>
          </a:effectLst>
        </p:spPr>
      </p:pic>
      <p:grpSp>
        <p:nvGrpSpPr>
          <p:cNvPr id="3" name="组合 2"/>
          <p:cNvGrpSpPr/>
          <p:nvPr/>
        </p:nvGrpSpPr>
        <p:grpSpPr>
          <a:xfrm flipH="1">
            <a:off x="774803" y="0"/>
            <a:ext cx="231871" cy="3276600"/>
            <a:chOff x="4399082" y="1624876"/>
            <a:chExt cx="231871" cy="3276600"/>
          </a:xfrm>
        </p:grpSpPr>
        <p:cxnSp>
          <p:nvCxnSpPr>
            <p:cNvPr id="4" name="直接连接符 3"/>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7933873" y="889353"/>
            <a:ext cx="3168459" cy="7786747"/>
          </a:xfrm>
          <a:prstGeom prst="rect">
            <a:avLst/>
          </a:prstGeom>
          <a:noFill/>
        </p:spPr>
        <p:txBody>
          <a:bodyPr vert="horz" wrap="square" lIns="91440" tIns="45720" rIns="91440" bIns="45720" rtlCol="0" anchor="ctr">
            <a:spAutoFit/>
          </a:bodyPr>
          <a:lstStyle>
            <a:defPPr>
              <a:defRPr lang="zh-CN"/>
            </a:defPPr>
            <a:lvl1pPr marL="0" indent="0" algn="l" defTabSz="914400" rtl="0" eaLnBrk="1" latinLnBrk="0" hangingPunct="1">
              <a:buNone/>
              <a:defRPr lang="zh-CN" altLang="en-US" sz="50000" kern="1200" dirty="0">
                <a:gradFill>
                  <a:gsLst>
                    <a:gs pos="29000">
                      <a:srgbClr val="F9F9F9"/>
                    </a:gs>
                    <a:gs pos="80000">
                      <a:srgbClr val="F9F9F9">
                        <a:alpha val="0"/>
                      </a:srgbClr>
                    </a:gs>
                  </a:gsLst>
                  <a:lin ang="5400000" scaled="0"/>
                </a:gradFill>
                <a:latin typeface="OPPOSans L" panose="00020600040101010101" pitchFamily="18" charset="-122"/>
                <a:ea typeface="OPPOSans H" panose="00020600040101010101" pitchFamily="18" charset="-122"/>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dirty="0">
                <a:gradFill>
                  <a:gsLst>
                    <a:gs pos="29000">
                      <a:srgbClr val="F9F9F9"/>
                    </a:gs>
                    <a:gs pos="46000">
                      <a:srgbClr val="F9F9F9">
                        <a:alpha val="54000"/>
                      </a:srgbClr>
                    </a:gs>
                    <a:gs pos="80000">
                      <a:srgbClr val="F9F9F9">
                        <a:alpha val="0"/>
                      </a:srgbClr>
                    </a:gs>
                  </a:gsLst>
                  <a:lin ang="5400000" scaled="0"/>
                </a:gradFill>
                <a:latin typeface="+mj-lt"/>
                <a:ea typeface="OPPOSans B" panose="00020600040101010101" pitchFamily="18" charset="-122"/>
              </a:rPr>
              <a:t>2</a:t>
            </a:r>
            <a:endParaRPr kumimoji="0" lang="en-US" altLang="en-US" sz="50000" b="0" i="0" u="none" strike="noStrike" kern="1200" cap="none" spc="0" normalizeH="0" baseline="0" noProof="0" dirty="0">
              <a:ln>
                <a:noFill/>
              </a:ln>
              <a:gradFill>
                <a:gsLst>
                  <a:gs pos="29000">
                    <a:srgbClr val="F9F9F9"/>
                  </a:gs>
                  <a:gs pos="46000">
                    <a:srgbClr val="F9F9F9">
                      <a:alpha val="54000"/>
                    </a:srgbClr>
                  </a:gs>
                  <a:gs pos="80000">
                    <a:srgbClr val="F9F9F9">
                      <a:alpha val="0"/>
                    </a:srgbClr>
                  </a:gs>
                </a:gsLst>
                <a:lin ang="5400000" scaled="0"/>
              </a:gradFill>
              <a:effectLst/>
              <a:uLnTx/>
              <a:uFillTx/>
              <a:latin typeface="+mj-lt"/>
              <a:ea typeface="OPPOSans B" panose="00020600040101010101" pitchFamily="18" charset="-122"/>
              <a:cs typeface="Arial" panose="020B0604020202020204" pitchFamily="34" charset="0"/>
            </a:endParaRPr>
          </a:p>
        </p:txBody>
      </p:sp>
      <p:sp>
        <p:nvSpPr>
          <p:cNvPr id="7" name="文本框 6"/>
          <p:cNvSpPr txBox="1"/>
          <p:nvPr/>
        </p:nvSpPr>
        <p:spPr>
          <a:xfrm>
            <a:off x="2949232" y="3073586"/>
            <a:ext cx="5216027" cy="922020"/>
          </a:xfrm>
          <a:prstGeom prst="rect">
            <a:avLst/>
          </a:prstGeom>
          <a:noFill/>
        </p:spPr>
        <p:txBody>
          <a:bodyPr vert="horz" wrap="square" lIns="91440" tIns="45720" rIns="91440" bIns="45720" rtlCol="0" anchor="ctr">
            <a:spAutoFit/>
          </a:bodyPr>
          <a:lstStyle>
            <a:defPPr>
              <a:defRPr lang="zh-CN"/>
            </a:defPPr>
            <a:lvl1pPr marL="0" indent="0" algn="ctr" defTabSz="914400" rtl="0" eaLnBrk="1" latinLnBrk="0" hangingPunct="1">
              <a:buNone/>
              <a:defRPr lang="zh-CN" altLang="en-US" sz="5400" b="1" kern="1200" dirty="0">
                <a:solidFill>
                  <a:srgbClr val="FCEEE8"/>
                </a:solidFill>
                <a:latin typeface="OPPOSans M" panose="00020600040101010101" pitchFamily="18" charset="-122"/>
                <a:ea typeface="OPPOSans M" panose="00020600040101010101" pitchFamily="18"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prstClr val="white"/>
                </a:solidFill>
                <a:effectLst/>
                <a:uLnTx/>
                <a:uFillTx/>
                <a:ea typeface="OPPOSans M" panose="00020600040101010101" pitchFamily="18" charset="-122"/>
                <a:cs typeface="+mn-cs"/>
              </a:rPr>
              <a:t>研究目的与方法</a:t>
            </a:r>
            <a:endParaRPr kumimoji="0" lang="zh-CN" altLang="en-US" sz="5400" b="1" i="0" u="none" strike="noStrike" kern="1200" cap="none" spc="0" normalizeH="0" baseline="0" noProof="0" dirty="0">
              <a:ln>
                <a:noFill/>
              </a:ln>
              <a:solidFill>
                <a:prstClr val="white"/>
              </a:solidFill>
              <a:effectLst/>
              <a:uLnTx/>
              <a:uFillTx/>
              <a:ea typeface="OPPOSans M" panose="00020600040101010101" pitchFamily="18" charset="-122"/>
              <a:cs typeface="+mn-cs"/>
            </a:endParaRPr>
          </a:p>
        </p:txBody>
      </p:sp>
      <p:sp>
        <p:nvSpPr>
          <p:cNvPr id="8" name="文本框 7"/>
          <p:cNvSpPr txBox="1"/>
          <p:nvPr/>
        </p:nvSpPr>
        <p:spPr>
          <a:xfrm>
            <a:off x="3075305" y="3995420"/>
            <a:ext cx="6350000" cy="423545"/>
          </a:xfrm>
          <a:prstGeom prst="rect">
            <a:avLst/>
          </a:prstGeom>
          <a:noFill/>
        </p:spPr>
        <p:txBody>
          <a:bodyPr wrap="square" rtlCol="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2400" b="0" kern="1200" dirty="0">
                <a:solidFill>
                  <a:srgbClr val="FCEEE8"/>
                </a:solidFill>
                <a:latin typeface="OPPOSans M" panose="00020600040101010101" pitchFamily="18" charset="-122"/>
                <a:ea typeface="OPPOSans M"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CEEE8"/>
                </a:solidFill>
                <a:effectLst/>
                <a:uLnTx/>
                <a:uFillTx/>
                <a:ea typeface="OPPOSans M" panose="00020600040101010101" pitchFamily="18" charset="-122"/>
                <a:cs typeface="+mn-cs"/>
              </a:rPr>
              <a:t>Purpose and methodology of the study</a:t>
            </a:r>
            <a:endParaRPr kumimoji="0" lang="en-US" altLang="zh-CN" sz="2400" b="0" i="0" u="none" strike="noStrike" kern="1200" cap="none" spc="0" normalizeH="0" baseline="0" noProof="0" dirty="0">
              <a:ln>
                <a:noFill/>
              </a:ln>
              <a:solidFill>
                <a:srgbClr val="FCEEE8"/>
              </a:solidFill>
              <a:effectLst/>
              <a:uLnTx/>
              <a:uFillTx/>
              <a:ea typeface="OPPOSans M" panose="00020600040101010101" pitchFamily="18" charset="-122"/>
              <a:cs typeface="+mn-cs"/>
            </a:endParaRPr>
          </a:p>
        </p:txBody>
      </p:sp>
      <p:grpSp>
        <p:nvGrpSpPr>
          <p:cNvPr id="9" name="组合 8"/>
          <p:cNvGrpSpPr/>
          <p:nvPr/>
        </p:nvGrpSpPr>
        <p:grpSpPr>
          <a:xfrm flipH="1" flipV="1">
            <a:off x="11202882" y="3581400"/>
            <a:ext cx="231871" cy="3276600"/>
            <a:chOff x="4399082" y="1624876"/>
            <a:chExt cx="231871" cy="3276600"/>
          </a:xfrm>
        </p:grpSpPr>
        <p:cxnSp>
          <p:nvCxnSpPr>
            <p:cNvPr id="10" name="直接连接符 9"/>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13" name="图片 12"/>
          <p:cNvPicPr>
            <a:picLocks noChangeAspect="1"/>
          </p:cNvPicPr>
          <p:nvPr/>
        </p:nvPicPr>
        <p:blipFill>
          <a:blip r:embed="rId2" cstate="print">
            <a:alphaModFix amt="59000"/>
          </a:blip>
          <a:stretch>
            <a:fillRect/>
          </a:stretch>
        </p:blipFill>
        <p:spPr>
          <a:xfrm>
            <a:off x="9226966" y="514290"/>
            <a:ext cx="2869784" cy="1457961"/>
          </a:xfrm>
          <a:prstGeom prst="rect">
            <a:avLst/>
          </a:prstGeom>
          <a:effectLst>
            <a:outerShdw blurRad="50800" dist="50800" dir="5400000" algn="ctr" rotWithShape="0">
              <a:srgbClr val="000000">
                <a:alpha val="24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186A7">
            <a:alpha val="5000"/>
          </a:srgbClr>
        </a:solidFill>
        <a:effectLst/>
      </p:bgPr>
    </p:bg>
    <p:spTree>
      <p:nvGrpSpPr>
        <p:cNvPr id="1" name=""/>
        <p:cNvGrpSpPr/>
        <p:nvPr/>
      </p:nvGrpSpPr>
      <p:grpSpPr>
        <a:xfrm>
          <a:off x="0" y="0"/>
          <a:ext cx="0" cy="0"/>
          <a:chOff x="0" y="0"/>
          <a:chExt cx="0" cy="0"/>
        </a:xfrm>
      </p:grpSpPr>
      <p:grpSp>
        <p:nvGrpSpPr>
          <p:cNvPr id="2" name="组合 1"/>
          <p:cNvGrpSpPr/>
          <p:nvPr>
            <p:custDataLst>
              <p:tags r:id="rId1"/>
            </p:custDataLst>
          </p:nvPr>
        </p:nvGrpSpPr>
        <p:grpSpPr>
          <a:xfrm rot="8081364">
            <a:off x="3922258" y="1606996"/>
            <a:ext cx="4347484" cy="4351209"/>
            <a:chOff x="2824463" y="1253395"/>
            <a:chExt cx="4347484" cy="4351209"/>
          </a:xfrm>
        </p:grpSpPr>
        <p:sp>
          <p:nvSpPr>
            <p:cNvPr id="3" name="椭圆 2"/>
            <p:cNvSpPr/>
            <p:nvPr>
              <p:custDataLst>
                <p:tags r:id="rId2"/>
              </p:custDataLst>
            </p:nvPr>
          </p:nvSpPr>
          <p:spPr>
            <a:xfrm rot="2700000">
              <a:off x="3915028" y="2347685"/>
              <a:ext cx="2162629" cy="2162629"/>
            </a:xfrm>
            <a:prstGeom prst="ellipse">
              <a:avLst/>
            </a:prstGeom>
            <a:solidFill>
              <a:srgbClr val="2683C6"/>
            </a:solid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 name="椭圆 3"/>
            <p:cNvSpPr/>
            <p:nvPr>
              <p:custDataLst>
                <p:tags r:id="rId3"/>
              </p:custDataLst>
            </p:nvPr>
          </p:nvSpPr>
          <p:spPr>
            <a:xfrm>
              <a:off x="3915028" y="1253395"/>
              <a:ext cx="2162629" cy="2162629"/>
            </a:xfrm>
            <a:prstGeom prst="ellipse">
              <a:avLst/>
            </a:prstGeom>
            <a:blipFill dpi="0" rotWithShape="0">
              <a:blip r:embed="rId4" cstate="print"/>
              <a:srcRect/>
              <a:stretch>
                <a:fillRect/>
              </a:stretch>
            </a:blip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5" name="椭圆 4"/>
            <p:cNvSpPr/>
            <p:nvPr>
              <p:custDataLst>
                <p:tags r:id="rId5"/>
              </p:custDataLst>
            </p:nvPr>
          </p:nvSpPr>
          <p:spPr>
            <a:xfrm>
              <a:off x="5009318" y="2347685"/>
              <a:ext cx="2162629" cy="2162629"/>
            </a:xfrm>
            <a:prstGeom prst="ellipse">
              <a:avLst/>
            </a:prstGeom>
            <a:solidFill>
              <a:srgbClr val="778495"/>
            </a:solid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6" name="椭圆 5"/>
            <p:cNvSpPr/>
            <p:nvPr>
              <p:custDataLst>
                <p:tags r:id="rId6"/>
              </p:custDataLst>
            </p:nvPr>
          </p:nvSpPr>
          <p:spPr>
            <a:xfrm>
              <a:off x="3915028" y="3441975"/>
              <a:ext cx="2162629" cy="2162629"/>
            </a:xfrm>
            <a:prstGeom prst="ellipse">
              <a:avLst/>
            </a:prstGeom>
            <a:blipFill dpi="0" rotWithShape="1">
              <a:blip r:embed="rId7" cstate="print"/>
              <a:srcRect/>
              <a:stretch>
                <a:fillRect r="3000"/>
              </a:stretch>
            </a:blip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7" name="任意多边形: 形状 6"/>
            <p:cNvSpPr/>
            <p:nvPr>
              <p:custDataLst>
                <p:tags r:id="rId8"/>
              </p:custDataLst>
            </p:nvPr>
          </p:nvSpPr>
          <p:spPr>
            <a:xfrm rot="16200000">
              <a:off x="2824463" y="2360935"/>
              <a:ext cx="2162630" cy="2162630"/>
            </a:xfrm>
            <a:custGeom>
              <a:avLst/>
              <a:gdLst>
                <a:gd name="connsiteX0" fmla="*/ 1081315 w 2162630"/>
                <a:gd name="connsiteY0" fmla="*/ 0 h 2162630"/>
                <a:gd name="connsiteX1" fmla="*/ 2162630 w 2162630"/>
                <a:gd name="connsiteY1" fmla="*/ 1081315 h 2162630"/>
                <a:gd name="connsiteX2" fmla="*/ 2161940 w 2162630"/>
                <a:gd name="connsiteY2" fmla="*/ 1094980 h 2162630"/>
                <a:gd name="connsiteX3" fmla="*/ 2065047 w 2162630"/>
                <a:gd name="connsiteY3" fmla="*/ 1099873 h 2162630"/>
                <a:gd name="connsiteX4" fmla="*/ 1099873 w 2162630"/>
                <a:gd name="connsiteY4" fmla="*/ 2065047 h 2162630"/>
                <a:gd name="connsiteX5" fmla="*/ 1094980 w 2162630"/>
                <a:gd name="connsiteY5" fmla="*/ 2161940 h 2162630"/>
                <a:gd name="connsiteX6" fmla="*/ 1081315 w 2162630"/>
                <a:gd name="connsiteY6" fmla="*/ 2162630 h 2162630"/>
                <a:gd name="connsiteX7" fmla="*/ 0 w 2162630"/>
                <a:gd name="connsiteY7" fmla="*/ 1081315 h 2162630"/>
                <a:gd name="connsiteX8" fmla="*/ 1081315 w 2162630"/>
                <a:gd name="connsiteY8" fmla="*/ 0 h 2162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2630" h="2162630">
                  <a:moveTo>
                    <a:pt x="1081315" y="0"/>
                  </a:moveTo>
                  <a:cubicBezTo>
                    <a:pt x="1678509" y="0"/>
                    <a:pt x="2162630" y="484121"/>
                    <a:pt x="2162630" y="1081315"/>
                  </a:cubicBezTo>
                  <a:lnTo>
                    <a:pt x="2161940" y="1094980"/>
                  </a:lnTo>
                  <a:lnTo>
                    <a:pt x="2065047" y="1099873"/>
                  </a:lnTo>
                  <a:cubicBezTo>
                    <a:pt x="1556138" y="1151555"/>
                    <a:pt x="1151555" y="1556138"/>
                    <a:pt x="1099873" y="2065047"/>
                  </a:cubicBezTo>
                  <a:lnTo>
                    <a:pt x="1094980" y="2161940"/>
                  </a:lnTo>
                  <a:lnTo>
                    <a:pt x="1081315" y="2162630"/>
                  </a:lnTo>
                  <a:cubicBezTo>
                    <a:pt x="484121" y="2162630"/>
                    <a:pt x="0" y="1678509"/>
                    <a:pt x="0" y="1081315"/>
                  </a:cubicBezTo>
                  <a:cubicBezTo>
                    <a:pt x="0" y="484121"/>
                    <a:pt x="484121" y="0"/>
                    <a:pt x="1081315" y="0"/>
                  </a:cubicBezTo>
                  <a:close/>
                </a:path>
              </a:pathLst>
            </a:custGeom>
            <a:solidFill>
              <a:srgbClr val="4B5C78"/>
            </a:solid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grpSp>
        <p:nvGrpSpPr>
          <p:cNvPr id="8" name="组合 7"/>
          <p:cNvGrpSpPr/>
          <p:nvPr>
            <p:custDataLst>
              <p:tags r:id="rId9"/>
            </p:custDataLst>
          </p:nvPr>
        </p:nvGrpSpPr>
        <p:grpSpPr>
          <a:xfrm>
            <a:off x="992579" y="1895771"/>
            <a:ext cx="2756854" cy="1385832"/>
            <a:chOff x="992579" y="1895771"/>
            <a:chExt cx="2756854" cy="1385832"/>
          </a:xfrm>
        </p:grpSpPr>
        <p:sp>
          <p:nvSpPr>
            <p:cNvPr id="9" name="文本框 8"/>
            <p:cNvSpPr txBox="1"/>
            <p:nvPr>
              <p:custDataLst>
                <p:tags r:id="rId10"/>
              </p:custDataLst>
            </p:nvPr>
          </p:nvSpPr>
          <p:spPr>
            <a:xfrm>
              <a:off x="2544698" y="1895771"/>
              <a:ext cx="1198880" cy="491490"/>
            </a:xfrm>
            <a:prstGeom prst="rect">
              <a:avLst/>
            </a:prstGeom>
            <a:effectLst>
              <a:outerShdw blurRad="50800" dist="38100" dir="2700000" algn="tl" rotWithShape="0">
                <a:prstClr val="black">
                  <a:alpha val="40000"/>
                </a:prstClr>
              </a:outerShdw>
            </a:effectLst>
          </p:spPr>
          <p:txBody>
            <a:bodyPr wrap="none" rtlCol="0">
              <a:spAutoFit/>
            </a:bodyPr>
            <a:lstStyle>
              <a:defPPr>
                <a:defRPr lang="en-US"/>
              </a:defPPr>
              <a:lvl1pPr algn="ctr">
                <a:lnSpc>
                  <a:spcPct val="130000"/>
                </a:lnSpc>
                <a:defRPr sz="2000" b="1">
                  <a:solidFill>
                    <a:schemeClr val="tx2"/>
                  </a:solidFill>
                  <a:ea typeface="微软雅黑" panose="020B0503020204020204" charset="-122"/>
                </a:defRPr>
              </a:lvl1pPr>
            </a:lstStyle>
            <a:p>
              <a:pPr algn="ctr" defTabSz="457200"/>
              <a:r>
                <a:rPr lang="zh-CN" altLang="en-US" dirty="0">
                  <a:solidFill>
                    <a:srgbClr val="FF0000"/>
                  </a:solidFill>
                  <a:latin typeface="Arial" panose="020B0604020202020204"/>
                  <a:sym typeface="Arial" panose="020B0604020202020204" pitchFamily="34" charset="0"/>
                </a:rPr>
                <a:t>核心目标</a:t>
              </a:r>
              <a:endParaRPr lang="zh-CN" altLang="en-US" dirty="0">
                <a:solidFill>
                  <a:srgbClr val="FF0000"/>
                </a:solidFill>
                <a:latin typeface="Arial" panose="020B0604020202020204"/>
                <a:sym typeface="Arial" panose="020B0604020202020204" pitchFamily="34" charset="0"/>
              </a:endParaRPr>
            </a:p>
          </p:txBody>
        </p:sp>
        <p:sp>
          <p:nvSpPr>
            <p:cNvPr id="10" name="矩形 9"/>
            <p:cNvSpPr/>
            <p:nvPr>
              <p:custDataLst>
                <p:tags r:id="rId11"/>
              </p:custDataLst>
            </p:nvPr>
          </p:nvSpPr>
          <p:spPr>
            <a:xfrm>
              <a:off x="992579" y="2351963"/>
              <a:ext cx="2756854" cy="929640"/>
            </a:xfrm>
            <a:prstGeom prst="rect">
              <a:avLst/>
            </a:prstGeom>
          </p:spPr>
          <p:txBody>
            <a:bodyPr wrap="square">
              <a:spAutoFit/>
            </a:bodyPr>
            <a:lstStyle/>
            <a:p>
              <a:pPr algn="l" defTabSz="457200">
                <a:lnSpc>
                  <a:spcPct val="130000"/>
                </a:lnSpc>
              </a:pPr>
              <a:r>
                <a:rPr lang="zh-CN" altLang="en-US" sz="1400" dirty="0">
                  <a:solidFill>
                    <a:srgbClr val="4B5C78"/>
                  </a:solidFill>
                  <a:latin typeface="Arial" panose="020B0604020202020204"/>
                  <a:ea typeface="微软雅黑" panose="020B0503020204020204" charset="-122"/>
                  <a:sym typeface="Arial" panose="020B0604020202020204" pitchFamily="34" charset="0"/>
                </a:rPr>
                <a:t>设计并构建一个专门针对海洋微塑料污染的多源异构时空数据库系统。</a:t>
              </a:r>
              <a:endParaRPr lang="zh-CN" altLang="en-US" sz="1400" dirty="0">
                <a:solidFill>
                  <a:srgbClr val="4B5C78"/>
                </a:solidFill>
                <a:latin typeface="Arial" panose="020B0604020202020204"/>
                <a:ea typeface="微软雅黑" panose="020B0503020204020204" charset="-122"/>
                <a:sym typeface="Arial" panose="020B0604020202020204" pitchFamily="34" charset="0"/>
              </a:endParaRPr>
            </a:p>
          </p:txBody>
        </p:sp>
      </p:grpSp>
      <p:grpSp>
        <p:nvGrpSpPr>
          <p:cNvPr id="11" name="组合 10"/>
          <p:cNvGrpSpPr/>
          <p:nvPr>
            <p:custDataLst>
              <p:tags r:id="rId12"/>
            </p:custDataLst>
          </p:nvPr>
        </p:nvGrpSpPr>
        <p:grpSpPr>
          <a:xfrm>
            <a:off x="8543455" y="1870371"/>
            <a:ext cx="2835745" cy="1691267"/>
            <a:chOff x="8543455" y="1870371"/>
            <a:chExt cx="2835745" cy="1691267"/>
          </a:xfrm>
        </p:grpSpPr>
        <p:sp>
          <p:nvSpPr>
            <p:cNvPr id="12" name="文本框 11"/>
            <p:cNvSpPr txBox="1"/>
            <p:nvPr>
              <p:custDataLst>
                <p:tags r:id="rId13"/>
              </p:custDataLst>
            </p:nvPr>
          </p:nvSpPr>
          <p:spPr>
            <a:xfrm>
              <a:off x="8543594" y="1870371"/>
              <a:ext cx="1960880" cy="491490"/>
            </a:xfrm>
            <a:prstGeom prst="rect">
              <a:avLst/>
            </a:prstGeom>
            <a:effectLst>
              <a:outerShdw blurRad="50800" dist="38100" dir="2700000" algn="tl" rotWithShape="0">
                <a:prstClr val="black">
                  <a:alpha val="40000"/>
                </a:prstClr>
              </a:outerShdw>
            </a:effectLst>
          </p:spPr>
          <p:txBody>
            <a:bodyPr wrap="none" rtlCol="0">
              <a:spAutoFit/>
            </a:bodyPr>
            <a:lstStyle>
              <a:defPPr>
                <a:defRPr lang="en-US"/>
              </a:defPPr>
              <a:lvl1pPr algn="ctr">
                <a:lnSpc>
                  <a:spcPct val="130000"/>
                </a:lnSpc>
                <a:defRPr sz="2000" b="1">
                  <a:solidFill>
                    <a:schemeClr val="tx2"/>
                  </a:solidFill>
                  <a:ea typeface="微软雅黑" panose="020B0503020204020204" charset="-122"/>
                </a:defRPr>
              </a:lvl1pPr>
            </a:lstStyle>
            <a:p>
              <a:pPr algn="ctr" defTabSz="457200"/>
              <a:r>
                <a:rPr lang="zh-CN" altLang="en-US" dirty="0">
                  <a:solidFill>
                    <a:srgbClr val="4B5C78"/>
                  </a:solidFill>
                  <a:latin typeface="Arial" panose="020B0604020202020204"/>
                  <a:sym typeface="Arial" panose="020B0604020202020204" pitchFamily="34" charset="0"/>
                </a:rPr>
                <a:t>高效查询与分析</a:t>
              </a:r>
              <a:endParaRPr lang="zh-CN" altLang="en-US" dirty="0">
                <a:solidFill>
                  <a:srgbClr val="4B5C78"/>
                </a:solidFill>
                <a:latin typeface="Arial" panose="020B0604020202020204"/>
                <a:sym typeface="Arial" panose="020B0604020202020204" pitchFamily="34" charset="0"/>
              </a:endParaRPr>
            </a:p>
          </p:txBody>
        </p:sp>
        <p:sp>
          <p:nvSpPr>
            <p:cNvPr id="13" name="矩形 12"/>
            <p:cNvSpPr/>
            <p:nvPr>
              <p:custDataLst>
                <p:tags r:id="rId14"/>
              </p:custDataLst>
            </p:nvPr>
          </p:nvSpPr>
          <p:spPr>
            <a:xfrm>
              <a:off x="8543455" y="2351963"/>
              <a:ext cx="2835745" cy="1209675"/>
            </a:xfrm>
            <a:prstGeom prst="rect">
              <a:avLst/>
            </a:prstGeom>
          </p:spPr>
          <p:txBody>
            <a:bodyPr wrap="square">
              <a:spAutoFit/>
            </a:bodyPr>
            <a:lstStyle/>
            <a:p>
              <a:pPr defTabSz="457200">
                <a:lnSpc>
                  <a:spcPct val="130000"/>
                </a:lnSpc>
              </a:pPr>
              <a:r>
                <a:rPr lang="zh-CN" altLang="en-US" sz="1400">
                  <a:solidFill>
                    <a:srgbClr val="4B5C78"/>
                  </a:solidFill>
                  <a:latin typeface="Arial" panose="020B0604020202020204"/>
                  <a:ea typeface="微软雅黑" panose="020B0503020204020204" charset="-122"/>
                  <a:sym typeface="Arial" panose="020B0604020202020204" pitchFamily="34" charset="0"/>
                </a:rPr>
                <a:t>实现对监测数据的多维度、时空联合查询及基本统计分析功能，支持对微塑料污染动态变化的快速洞察。</a:t>
              </a:r>
              <a:endParaRPr lang="zh-CN" altLang="en-US" sz="1400">
                <a:solidFill>
                  <a:srgbClr val="4B5C78"/>
                </a:solidFill>
                <a:latin typeface="Arial" panose="020B0604020202020204"/>
                <a:ea typeface="微软雅黑" panose="020B0503020204020204" charset="-122"/>
                <a:sym typeface="Arial" panose="020B0604020202020204" pitchFamily="34" charset="0"/>
              </a:endParaRPr>
            </a:p>
          </p:txBody>
        </p:sp>
      </p:grpSp>
      <p:sp>
        <p:nvSpPr>
          <p:cNvPr id="14" name="文本框 13"/>
          <p:cNvSpPr txBox="1"/>
          <p:nvPr>
            <p:custDataLst>
              <p:tags r:id="rId15"/>
            </p:custDataLst>
          </p:nvPr>
        </p:nvSpPr>
        <p:spPr>
          <a:xfrm>
            <a:off x="2036698" y="4211095"/>
            <a:ext cx="1706880" cy="491490"/>
          </a:xfrm>
          <a:prstGeom prst="rect">
            <a:avLst/>
          </a:prstGeom>
          <a:effectLst>
            <a:outerShdw blurRad="50800" dist="38100" dir="2700000" algn="tl" rotWithShape="0">
              <a:prstClr val="black">
                <a:alpha val="40000"/>
              </a:prstClr>
            </a:outerShdw>
          </a:effectLst>
        </p:spPr>
        <p:txBody>
          <a:bodyPr wrap="none" rtlCol="0">
            <a:spAutoFit/>
          </a:bodyPr>
          <a:lstStyle>
            <a:defPPr>
              <a:defRPr lang="en-US"/>
            </a:defPPr>
            <a:lvl1pPr algn="ctr">
              <a:lnSpc>
                <a:spcPct val="130000"/>
              </a:lnSpc>
              <a:defRPr sz="2000" b="1">
                <a:solidFill>
                  <a:schemeClr val="tx2"/>
                </a:solidFill>
                <a:ea typeface="微软雅黑" panose="020B0503020204020204" charset="-122"/>
              </a:defRPr>
            </a:lvl1pPr>
          </a:lstStyle>
          <a:p>
            <a:pPr algn="ctr" defTabSz="457200"/>
            <a:r>
              <a:rPr lang="zh-CN" altLang="en-US" dirty="0">
                <a:solidFill>
                  <a:srgbClr val="4B5C78"/>
                </a:solidFill>
                <a:latin typeface="Arial" panose="020B0604020202020204"/>
                <a:sym typeface="Arial" panose="020B0604020202020204" pitchFamily="34" charset="0"/>
              </a:rPr>
              <a:t>数据模型设计</a:t>
            </a:r>
            <a:endParaRPr lang="zh-CN" altLang="en-US" dirty="0">
              <a:solidFill>
                <a:srgbClr val="4B5C78"/>
              </a:solidFill>
              <a:latin typeface="Arial" panose="020B0604020202020204"/>
              <a:sym typeface="Arial" panose="020B0604020202020204" pitchFamily="34" charset="0"/>
            </a:endParaRPr>
          </a:p>
        </p:txBody>
      </p:sp>
      <p:sp>
        <p:nvSpPr>
          <p:cNvPr id="15" name="矩形 14"/>
          <p:cNvSpPr/>
          <p:nvPr>
            <p:custDataLst>
              <p:tags r:id="rId16"/>
            </p:custDataLst>
          </p:nvPr>
        </p:nvSpPr>
        <p:spPr>
          <a:xfrm>
            <a:off x="992579" y="4667287"/>
            <a:ext cx="2756854" cy="1489075"/>
          </a:xfrm>
          <a:prstGeom prst="rect">
            <a:avLst/>
          </a:prstGeom>
        </p:spPr>
        <p:txBody>
          <a:bodyPr wrap="square">
            <a:spAutoFit/>
          </a:bodyPr>
          <a:lstStyle/>
          <a:p>
            <a:pPr algn="l" defTabSz="457200">
              <a:lnSpc>
                <a:spcPct val="130000"/>
              </a:lnSpc>
            </a:pPr>
            <a:r>
              <a:rPr lang="zh-CN" altLang="en-US" sz="1400">
                <a:solidFill>
                  <a:srgbClr val="4B5C78"/>
                </a:solidFill>
                <a:latin typeface="Arial" panose="020B0604020202020204"/>
                <a:ea typeface="微软雅黑" panose="020B0503020204020204" charset="-122"/>
                <a:sym typeface="Arial" panose="020B0604020202020204" pitchFamily="34" charset="0"/>
              </a:rPr>
              <a:t>创建一个能够有效存储、管理和融合多种来源数据（监测站、遥感影像元数据</a:t>
            </a:r>
            <a:r>
              <a:rPr lang="en-US" altLang="zh-CN" sz="1400">
                <a:solidFill>
                  <a:srgbClr val="4B5C78"/>
                </a:solidFill>
                <a:latin typeface="Arial" panose="020B0604020202020204"/>
                <a:ea typeface="微软雅黑" panose="020B0503020204020204" charset="-122"/>
                <a:sym typeface="Arial" panose="020B0604020202020204" pitchFamily="34" charset="0"/>
              </a:rPr>
              <a:t>/</a:t>
            </a:r>
            <a:r>
              <a:rPr lang="zh-CN" altLang="en-US" sz="1400">
                <a:solidFill>
                  <a:srgbClr val="4B5C78"/>
                </a:solidFill>
                <a:latin typeface="Arial" panose="020B0604020202020204"/>
                <a:ea typeface="微软雅黑" panose="020B0503020204020204" charset="-122"/>
                <a:sym typeface="Arial" panose="020B0604020202020204" pitchFamily="34" charset="0"/>
              </a:rPr>
              <a:t>结果、各类传感器数据、污染事件记录等）的数据库模式</a:t>
            </a:r>
            <a:endParaRPr lang="zh-CN" altLang="en-US" sz="1400">
              <a:solidFill>
                <a:srgbClr val="4B5C78"/>
              </a:solidFill>
              <a:latin typeface="Arial" panose="020B0604020202020204"/>
              <a:ea typeface="微软雅黑" panose="020B0503020204020204" charset="-122"/>
              <a:sym typeface="Arial" panose="020B0604020202020204" pitchFamily="34" charset="0"/>
            </a:endParaRPr>
          </a:p>
        </p:txBody>
      </p:sp>
      <p:sp>
        <p:nvSpPr>
          <p:cNvPr id="16" name="文本框 15"/>
          <p:cNvSpPr txBox="1"/>
          <p:nvPr>
            <p:custDataLst>
              <p:tags r:id="rId17"/>
            </p:custDataLst>
          </p:nvPr>
        </p:nvSpPr>
        <p:spPr>
          <a:xfrm>
            <a:off x="8543594" y="4211095"/>
            <a:ext cx="1706880" cy="491490"/>
          </a:xfrm>
          <a:prstGeom prst="rect">
            <a:avLst/>
          </a:prstGeom>
          <a:effectLst>
            <a:outerShdw blurRad="50800" dist="38100" dir="2700000" algn="tl" rotWithShape="0">
              <a:prstClr val="black">
                <a:alpha val="40000"/>
              </a:prstClr>
            </a:outerShdw>
          </a:effectLst>
        </p:spPr>
        <p:txBody>
          <a:bodyPr wrap="none" rtlCol="0">
            <a:spAutoFit/>
          </a:bodyPr>
          <a:lstStyle>
            <a:defPPr>
              <a:defRPr lang="en-US"/>
            </a:defPPr>
            <a:lvl1pPr algn="ctr">
              <a:lnSpc>
                <a:spcPct val="130000"/>
              </a:lnSpc>
              <a:defRPr sz="2000" b="1">
                <a:solidFill>
                  <a:schemeClr val="tx2"/>
                </a:solidFill>
                <a:ea typeface="微软雅黑" panose="020B0503020204020204" charset="-122"/>
              </a:defRPr>
            </a:lvl1pPr>
          </a:lstStyle>
          <a:p>
            <a:pPr algn="ctr" defTabSz="457200"/>
            <a:r>
              <a:rPr lang="zh-CN" altLang="en-US" dirty="0">
                <a:solidFill>
                  <a:srgbClr val="4B5C78"/>
                </a:solidFill>
                <a:latin typeface="Arial" panose="020B0604020202020204"/>
                <a:sym typeface="Arial" panose="020B0604020202020204" pitchFamily="34" charset="0"/>
              </a:rPr>
              <a:t>支撑溯源分析</a:t>
            </a:r>
            <a:endParaRPr lang="zh-CN" altLang="en-US" dirty="0">
              <a:solidFill>
                <a:srgbClr val="4B5C78"/>
              </a:solidFill>
              <a:latin typeface="Arial" panose="020B0604020202020204"/>
              <a:sym typeface="Arial" panose="020B0604020202020204" pitchFamily="34" charset="0"/>
            </a:endParaRPr>
          </a:p>
        </p:txBody>
      </p:sp>
      <p:sp>
        <p:nvSpPr>
          <p:cNvPr id="17" name="矩形 16"/>
          <p:cNvSpPr/>
          <p:nvPr>
            <p:custDataLst>
              <p:tags r:id="rId18"/>
            </p:custDataLst>
          </p:nvPr>
        </p:nvSpPr>
        <p:spPr>
          <a:xfrm>
            <a:off x="8543455" y="4667287"/>
            <a:ext cx="2835745" cy="1209675"/>
          </a:xfrm>
          <a:prstGeom prst="rect">
            <a:avLst/>
          </a:prstGeom>
        </p:spPr>
        <p:txBody>
          <a:bodyPr wrap="square">
            <a:spAutoFit/>
          </a:bodyPr>
          <a:lstStyle/>
          <a:p>
            <a:pPr defTabSz="457200">
              <a:lnSpc>
                <a:spcPct val="130000"/>
              </a:lnSpc>
            </a:pPr>
            <a:r>
              <a:rPr lang="zh-CN" altLang="en-US" sz="1400">
                <a:solidFill>
                  <a:srgbClr val="4B5C78"/>
                </a:solidFill>
                <a:latin typeface="Arial" panose="020B0604020202020204"/>
                <a:ea typeface="微软雅黑" panose="020B0503020204020204" charset="-122"/>
                <a:sym typeface="Arial" panose="020B0604020202020204" pitchFamily="34" charset="0"/>
              </a:rPr>
              <a:t>通过合理的数据库结构设计，建立不同数据间的关联关系，为微塑料污染事件的成因分析和来源追踪提供数据基础。</a:t>
            </a:r>
            <a:endParaRPr lang="zh-CN" altLang="en-US" sz="1400">
              <a:solidFill>
                <a:srgbClr val="4B5C78"/>
              </a:solidFill>
              <a:latin typeface="Arial" panose="020B0604020202020204"/>
              <a:ea typeface="微软雅黑" panose="020B0503020204020204" charset="-122"/>
              <a:sym typeface="Arial" panose="020B0604020202020204" pitchFamily="34" charset="0"/>
            </a:endParaRPr>
          </a:p>
        </p:txBody>
      </p:sp>
      <p:sp>
        <p:nvSpPr>
          <p:cNvPr id="18" name="文本框 17"/>
          <p:cNvSpPr txBox="1"/>
          <p:nvPr/>
        </p:nvSpPr>
        <p:spPr>
          <a:xfrm>
            <a:off x="749300" y="503555"/>
            <a:ext cx="9613265" cy="7067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300" normalizeH="0" baseline="0" noProof="0" dirty="0">
                <a:ln>
                  <a:noFill/>
                </a:ln>
                <a:solidFill>
                  <a:srgbClr val="4B5C78"/>
                </a:solidFill>
                <a:effectLst/>
                <a:uLnTx/>
                <a:uFillTx/>
                <a:latin typeface="+mj-ea"/>
                <a:ea typeface="+mj-ea"/>
                <a:cs typeface="+mn-cs"/>
              </a:rPr>
              <a:t>研究目的：构建智能化的数据管理核心</a:t>
            </a:r>
            <a:endParaRPr kumimoji="0" lang="zh-CN" altLang="en-US" sz="4000" i="0" u="none" strike="noStrike" kern="1200" cap="none" spc="300" normalizeH="0" baseline="0" noProof="0" dirty="0">
              <a:ln>
                <a:noFill/>
              </a:ln>
              <a:solidFill>
                <a:srgbClr val="4B5C78"/>
              </a:solidFill>
              <a:effectLst/>
              <a:uLnTx/>
              <a:uFillTx/>
              <a:latin typeface="+mj-ea"/>
              <a:ea typeface="+mj-ea"/>
              <a:cs typeface="+mn-cs"/>
            </a:endParaRPr>
          </a:p>
        </p:txBody>
      </p:sp>
      <p:sp>
        <p:nvSpPr>
          <p:cNvPr id="20" name="矩形 19"/>
          <p:cNvSpPr/>
          <p:nvPr/>
        </p:nvSpPr>
        <p:spPr>
          <a:xfrm>
            <a:off x="424193" y="437352"/>
            <a:ext cx="199785" cy="952338"/>
          </a:xfrm>
          <a:prstGeom prst="rect">
            <a:avLst/>
          </a:prstGeom>
          <a:solidFill>
            <a:srgbClr val="4B5C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rot="16200000" flipH="1">
            <a:off x="1522365" y="4978693"/>
            <a:ext cx="231871" cy="3276600"/>
            <a:chOff x="4399082" y="1624876"/>
            <a:chExt cx="231871" cy="3276600"/>
          </a:xfrm>
        </p:grpSpPr>
        <p:cxnSp>
          <p:nvCxnSpPr>
            <p:cNvPr id="29" name="直接连接符 28"/>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5400000" flipH="1">
            <a:off x="10437764" y="-1377843"/>
            <a:ext cx="231871" cy="3276600"/>
            <a:chOff x="4399082" y="1624876"/>
            <a:chExt cx="231871" cy="3276600"/>
          </a:xfrm>
        </p:grpSpPr>
        <p:cxnSp>
          <p:nvCxnSpPr>
            <p:cNvPr id="32" name="直接连接符 31"/>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35" name="图片 34"/>
          <p:cNvPicPr>
            <a:picLocks noChangeAspect="1"/>
          </p:cNvPicPr>
          <p:nvPr/>
        </p:nvPicPr>
        <p:blipFill>
          <a:blip r:embed="rId19" cstate="print">
            <a:alphaModFix amt="56000"/>
          </a:blip>
          <a:stretch>
            <a:fillRect/>
          </a:stretch>
        </p:blipFill>
        <p:spPr>
          <a:xfrm>
            <a:off x="9466368" y="5680149"/>
            <a:ext cx="2563707" cy="13024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186A7">
            <a:alpha val="5000"/>
          </a:srgbClr>
        </a:solidFill>
        <a:effectLst/>
      </p:bgPr>
    </p:bg>
    <p:spTree>
      <p:nvGrpSpPr>
        <p:cNvPr id="1" name=""/>
        <p:cNvGrpSpPr/>
        <p:nvPr/>
      </p:nvGrpSpPr>
      <p:grpSpPr>
        <a:xfrm>
          <a:off x="0" y="0"/>
          <a:ext cx="0" cy="0"/>
          <a:chOff x="0" y="0"/>
          <a:chExt cx="0" cy="0"/>
        </a:xfrm>
      </p:grpSpPr>
      <p:grpSp>
        <p:nvGrpSpPr>
          <p:cNvPr id="2" name="组合 1"/>
          <p:cNvGrpSpPr/>
          <p:nvPr>
            <p:custDataLst>
              <p:tags r:id="rId1"/>
            </p:custDataLst>
          </p:nvPr>
        </p:nvGrpSpPr>
        <p:grpSpPr>
          <a:xfrm rot="8081364">
            <a:off x="3922258" y="1606996"/>
            <a:ext cx="4347484" cy="4351209"/>
            <a:chOff x="2824463" y="1253395"/>
            <a:chExt cx="4347484" cy="4351209"/>
          </a:xfrm>
        </p:grpSpPr>
        <p:sp>
          <p:nvSpPr>
            <p:cNvPr id="3" name="椭圆 2"/>
            <p:cNvSpPr/>
            <p:nvPr>
              <p:custDataLst>
                <p:tags r:id="rId2"/>
              </p:custDataLst>
            </p:nvPr>
          </p:nvSpPr>
          <p:spPr>
            <a:xfrm rot="2700000">
              <a:off x="3915028" y="2347685"/>
              <a:ext cx="2162629" cy="2162629"/>
            </a:xfrm>
            <a:prstGeom prst="ellipse">
              <a:avLst/>
            </a:prstGeom>
            <a:solidFill>
              <a:srgbClr val="2683C6"/>
            </a:solid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 name="椭圆 3"/>
            <p:cNvSpPr/>
            <p:nvPr>
              <p:custDataLst>
                <p:tags r:id="rId3"/>
              </p:custDataLst>
            </p:nvPr>
          </p:nvSpPr>
          <p:spPr>
            <a:xfrm>
              <a:off x="3915028" y="1253395"/>
              <a:ext cx="2162629" cy="2162629"/>
            </a:xfrm>
            <a:prstGeom prst="ellipse">
              <a:avLst/>
            </a:prstGeom>
            <a:blipFill dpi="0" rotWithShape="0">
              <a:blip r:embed="rId4" cstate="print"/>
              <a:srcRect/>
              <a:stretch>
                <a:fillRect/>
              </a:stretch>
            </a:blip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5" name="椭圆 4"/>
            <p:cNvSpPr/>
            <p:nvPr>
              <p:custDataLst>
                <p:tags r:id="rId5"/>
              </p:custDataLst>
            </p:nvPr>
          </p:nvSpPr>
          <p:spPr>
            <a:xfrm>
              <a:off x="5009318" y="2347685"/>
              <a:ext cx="2162629" cy="2162629"/>
            </a:xfrm>
            <a:prstGeom prst="ellipse">
              <a:avLst/>
            </a:prstGeom>
            <a:solidFill>
              <a:srgbClr val="778495"/>
            </a:solid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6" name="椭圆 5"/>
            <p:cNvSpPr/>
            <p:nvPr>
              <p:custDataLst>
                <p:tags r:id="rId6"/>
              </p:custDataLst>
            </p:nvPr>
          </p:nvSpPr>
          <p:spPr>
            <a:xfrm>
              <a:off x="3915028" y="3441975"/>
              <a:ext cx="2162629" cy="2162629"/>
            </a:xfrm>
            <a:prstGeom prst="ellipse">
              <a:avLst/>
            </a:prstGeom>
            <a:blipFill dpi="0" rotWithShape="1">
              <a:blip r:embed="rId7" cstate="print"/>
              <a:srcRect/>
              <a:stretch>
                <a:fillRect r="3000"/>
              </a:stretch>
            </a:blip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7" name="任意多边形: 形状 6"/>
            <p:cNvSpPr/>
            <p:nvPr>
              <p:custDataLst>
                <p:tags r:id="rId8"/>
              </p:custDataLst>
            </p:nvPr>
          </p:nvSpPr>
          <p:spPr>
            <a:xfrm rot="16200000">
              <a:off x="2824463" y="2360935"/>
              <a:ext cx="2162630" cy="2162630"/>
            </a:xfrm>
            <a:custGeom>
              <a:avLst/>
              <a:gdLst>
                <a:gd name="connsiteX0" fmla="*/ 1081315 w 2162630"/>
                <a:gd name="connsiteY0" fmla="*/ 0 h 2162630"/>
                <a:gd name="connsiteX1" fmla="*/ 2162630 w 2162630"/>
                <a:gd name="connsiteY1" fmla="*/ 1081315 h 2162630"/>
                <a:gd name="connsiteX2" fmla="*/ 2161940 w 2162630"/>
                <a:gd name="connsiteY2" fmla="*/ 1094980 h 2162630"/>
                <a:gd name="connsiteX3" fmla="*/ 2065047 w 2162630"/>
                <a:gd name="connsiteY3" fmla="*/ 1099873 h 2162630"/>
                <a:gd name="connsiteX4" fmla="*/ 1099873 w 2162630"/>
                <a:gd name="connsiteY4" fmla="*/ 2065047 h 2162630"/>
                <a:gd name="connsiteX5" fmla="*/ 1094980 w 2162630"/>
                <a:gd name="connsiteY5" fmla="*/ 2161940 h 2162630"/>
                <a:gd name="connsiteX6" fmla="*/ 1081315 w 2162630"/>
                <a:gd name="connsiteY6" fmla="*/ 2162630 h 2162630"/>
                <a:gd name="connsiteX7" fmla="*/ 0 w 2162630"/>
                <a:gd name="connsiteY7" fmla="*/ 1081315 h 2162630"/>
                <a:gd name="connsiteX8" fmla="*/ 1081315 w 2162630"/>
                <a:gd name="connsiteY8" fmla="*/ 0 h 2162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2630" h="2162630">
                  <a:moveTo>
                    <a:pt x="1081315" y="0"/>
                  </a:moveTo>
                  <a:cubicBezTo>
                    <a:pt x="1678509" y="0"/>
                    <a:pt x="2162630" y="484121"/>
                    <a:pt x="2162630" y="1081315"/>
                  </a:cubicBezTo>
                  <a:lnTo>
                    <a:pt x="2161940" y="1094980"/>
                  </a:lnTo>
                  <a:lnTo>
                    <a:pt x="2065047" y="1099873"/>
                  </a:lnTo>
                  <a:cubicBezTo>
                    <a:pt x="1556138" y="1151555"/>
                    <a:pt x="1151555" y="1556138"/>
                    <a:pt x="1099873" y="2065047"/>
                  </a:cubicBezTo>
                  <a:lnTo>
                    <a:pt x="1094980" y="2161940"/>
                  </a:lnTo>
                  <a:lnTo>
                    <a:pt x="1081315" y="2162630"/>
                  </a:lnTo>
                  <a:cubicBezTo>
                    <a:pt x="484121" y="2162630"/>
                    <a:pt x="0" y="1678509"/>
                    <a:pt x="0" y="1081315"/>
                  </a:cubicBezTo>
                  <a:cubicBezTo>
                    <a:pt x="0" y="484121"/>
                    <a:pt x="484121" y="0"/>
                    <a:pt x="1081315" y="0"/>
                  </a:cubicBezTo>
                  <a:close/>
                </a:path>
              </a:pathLst>
            </a:custGeom>
            <a:solidFill>
              <a:srgbClr val="4B5C78"/>
            </a:solidFill>
            <a:ln w="25400" cap="flat" cmpd="sng" algn="ctr">
              <a:solidFill>
                <a:sysClr val="window" lastClr="FFFFFF"/>
              </a:solidFill>
              <a:prstDash val="solid"/>
            </a:ln>
            <a:effectLst/>
          </p:spPr>
          <p:txBody>
            <a:bodyPr rtlCol="0" anchor="ctr">
              <a:sp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grpSp>
        <p:nvGrpSpPr>
          <p:cNvPr id="8" name="组合 7"/>
          <p:cNvGrpSpPr/>
          <p:nvPr>
            <p:custDataLst>
              <p:tags r:id="rId9"/>
            </p:custDataLst>
          </p:nvPr>
        </p:nvGrpSpPr>
        <p:grpSpPr>
          <a:xfrm>
            <a:off x="992579" y="1895771"/>
            <a:ext cx="2757349" cy="1385832"/>
            <a:chOff x="992579" y="1895771"/>
            <a:chExt cx="2757349" cy="1385832"/>
          </a:xfrm>
        </p:grpSpPr>
        <p:sp>
          <p:nvSpPr>
            <p:cNvPr id="9" name="文本框 8"/>
            <p:cNvSpPr txBox="1"/>
            <p:nvPr>
              <p:custDataLst>
                <p:tags r:id="rId10"/>
              </p:custDataLst>
            </p:nvPr>
          </p:nvSpPr>
          <p:spPr>
            <a:xfrm>
              <a:off x="2297048" y="1895771"/>
              <a:ext cx="1452880" cy="491490"/>
            </a:xfrm>
            <a:prstGeom prst="rect">
              <a:avLst/>
            </a:prstGeom>
            <a:effectLst>
              <a:outerShdw blurRad="50800" dist="38100" dir="2700000" algn="tl" rotWithShape="0">
                <a:prstClr val="black">
                  <a:alpha val="40000"/>
                </a:prstClr>
              </a:outerShdw>
            </a:effectLst>
          </p:spPr>
          <p:txBody>
            <a:bodyPr wrap="none" rtlCol="0">
              <a:spAutoFit/>
            </a:bodyPr>
            <a:lstStyle>
              <a:defPPr>
                <a:defRPr lang="en-US"/>
              </a:defPPr>
              <a:lvl1pPr algn="ctr">
                <a:lnSpc>
                  <a:spcPct val="130000"/>
                </a:lnSpc>
                <a:defRPr sz="2000" b="1">
                  <a:solidFill>
                    <a:schemeClr val="tx2"/>
                  </a:solidFill>
                  <a:ea typeface="微软雅黑" panose="020B0503020204020204" charset="-122"/>
                </a:defRPr>
              </a:lvl1pPr>
            </a:lstStyle>
            <a:p>
              <a:pPr algn="ctr" defTabSz="457200"/>
              <a:r>
                <a:rPr lang="zh-CN" altLang="en-US" dirty="0">
                  <a:solidFill>
                    <a:srgbClr val="4B5C78"/>
                  </a:solidFill>
                  <a:latin typeface="Arial" panose="020B0604020202020204"/>
                  <a:sym typeface="Arial" panose="020B0604020202020204" pitchFamily="34" charset="0"/>
                </a:rPr>
                <a:t>现场监测站</a:t>
              </a:r>
              <a:endParaRPr lang="zh-CN" altLang="en-US" dirty="0">
                <a:solidFill>
                  <a:srgbClr val="4B5C78"/>
                </a:solidFill>
                <a:latin typeface="Arial" panose="020B0604020202020204"/>
                <a:sym typeface="Arial" panose="020B0604020202020204" pitchFamily="34" charset="0"/>
              </a:endParaRPr>
            </a:p>
          </p:txBody>
        </p:sp>
        <p:sp>
          <p:nvSpPr>
            <p:cNvPr id="10" name="矩形 9"/>
            <p:cNvSpPr/>
            <p:nvPr>
              <p:custDataLst>
                <p:tags r:id="rId11"/>
              </p:custDataLst>
            </p:nvPr>
          </p:nvSpPr>
          <p:spPr>
            <a:xfrm>
              <a:off x="992579" y="2351963"/>
              <a:ext cx="2756854" cy="929640"/>
            </a:xfrm>
            <a:prstGeom prst="rect">
              <a:avLst/>
            </a:prstGeom>
          </p:spPr>
          <p:txBody>
            <a:bodyPr wrap="square">
              <a:spAutoFit/>
            </a:bodyPr>
            <a:lstStyle/>
            <a:p>
              <a:pPr algn="r" defTabSz="457200">
                <a:lnSpc>
                  <a:spcPct val="130000"/>
                </a:lnSpc>
              </a:pPr>
              <a:r>
                <a:rPr lang="zh-CN" altLang="en-US" sz="1400" dirty="0">
                  <a:solidFill>
                    <a:srgbClr val="4B5C78"/>
                  </a:solidFill>
                  <a:latin typeface="Arial" panose="020B0604020202020204"/>
                  <a:ea typeface="微软雅黑" panose="020B0503020204020204" charset="-122"/>
                  <a:sym typeface="Arial" panose="020B0604020202020204" pitchFamily="34" charset="0"/>
                </a:rPr>
                <a:t>提供定点、高频的实时数据</a:t>
              </a:r>
              <a:r>
                <a:rPr lang="en-US" altLang="zh-CN" sz="1400" dirty="0">
                  <a:solidFill>
                    <a:srgbClr val="4B5C78"/>
                  </a:solidFill>
                  <a:latin typeface="Arial" panose="020B0604020202020204"/>
                  <a:ea typeface="微软雅黑" panose="020B0503020204020204" charset="-122"/>
                  <a:sym typeface="Arial" panose="020B0604020202020204" pitchFamily="34" charset="0"/>
                </a:rPr>
                <a:t> (</a:t>
              </a:r>
              <a:r>
                <a:rPr lang="zh-CN" altLang="en-US" sz="1400" dirty="0">
                  <a:solidFill>
                    <a:srgbClr val="4B5C78"/>
                  </a:solidFill>
                  <a:latin typeface="Arial" panose="020B0604020202020204"/>
                  <a:ea typeface="微软雅黑" panose="020B0503020204020204" charset="-122"/>
                  <a:sym typeface="Arial" panose="020B0604020202020204" pitchFamily="34" charset="0"/>
                </a:rPr>
                <a:t>水温、盐度、流速、浊度、特定点位浓度</a:t>
              </a:r>
              <a:r>
                <a:rPr lang="en-US" altLang="zh-CN" sz="1400" dirty="0">
                  <a:solidFill>
                    <a:srgbClr val="4B5C78"/>
                  </a:solidFill>
                  <a:latin typeface="Arial" panose="020B0604020202020204"/>
                  <a:ea typeface="微软雅黑" panose="020B0503020204020204" charset="-122"/>
                  <a:sym typeface="Arial" panose="020B0604020202020204" pitchFamily="34" charset="0"/>
                </a:rPr>
                <a:t> - </a:t>
              </a:r>
              <a:r>
                <a:rPr lang="zh-CN" altLang="en-US" sz="1400" dirty="0">
                  <a:solidFill>
                    <a:srgbClr val="4B5C78"/>
                  </a:solidFill>
                  <a:latin typeface="Arial" panose="020B0604020202020204"/>
                  <a:ea typeface="微软雅黑" panose="020B0503020204020204" charset="-122"/>
                  <a:sym typeface="Arial" panose="020B0604020202020204" pitchFamily="34" charset="0"/>
                </a:rPr>
                <a:t>需要传感器支持</a:t>
              </a:r>
              <a:r>
                <a:rPr lang="en-US" altLang="zh-CN" sz="1400" dirty="0">
                  <a:solidFill>
                    <a:srgbClr val="4B5C78"/>
                  </a:solidFill>
                  <a:latin typeface="Arial" panose="020B0604020202020204"/>
                  <a:ea typeface="微软雅黑" panose="020B0503020204020204" charset="-122"/>
                  <a:sym typeface="Arial" panose="020B0604020202020204" pitchFamily="34" charset="0"/>
                </a:rPr>
                <a:t>)</a:t>
              </a:r>
              <a:r>
                <a:rPr lang="zh-CN" altLang="en-US" sz="1400" dirty="0">
                  <a:solidFill>
                    <a:srgbClr val="4B5C78"/>
                  </a:solidFill>
                  <a:latin typeface="Arial" panose="020B0604020202020204"/>
                  <a:ea typeface="微软雅黑" panose="020B0503020204020204" charset="-122"/>
                  <a:sym typeface="Arial" panose="020B0604020202020204" pitchFamily="34" charset="0"/>
                </a:rPr>
                <a:t>。</a:t>
              </a:r>
              <a:endParaRPr lang="zh-CN" altLang="en-US" sz="1400" dirty="0">
                <a:solidFill>
                  <a:srgbClr val="4B5C78"/>
                </a:solidFill>
                <a:latin typeface="Arial" panose="020B0604020202020204"/>
                <a:ea typeface="微软雅黑" panose="020B0503020204020204" charset="-122"/>
                <a:sym typeface="Arial" panose="020B0604020202020204" pitchFamily="34" charset="0"/>
              </a:endParaRPr>
            </a:p>
          </p:txBody>
        </p:sp>
      </p:grpSp>
      <p:grpSp>
        <p:nvGrpSpPr>
          <p:cNvPr id="11" name="组合 10"/>
          <p:cNvGrpSpPr/>
          <p:nvPr>
            <p:custDataLst>
              <p:tags r:id="rId12"/>
            </p:custDataLst>
          </p:nvPr>
        </p:nvGrpSpPr>
        <p:grpSpPr>
          <a:xfrm>
            <a:off x="8514384" y="1895771"/>
            <a:ext cx="2864816" cy="1106432"/>
            <a:chOff x="8422309" y="1895771"/>
            <a:chExt cx="2864816" cy="1106432"/>
          </a:xfrm>
        </p:grpSpPr>
        <p:sp>
          <p:nvSpPr>
            <p:cNvPr id="12" name="文本框 11"/>
            <p:cNvSpPr txBox="1"/>
            <p:nvPr>
              <p:custDataLst>
                <p:tags r:id="rId13"/>
              </p:custDataLst>
            </p:nvPr>
          </p:nvSpPr>
          <p:spPr>
            <a:xfrm>
              <a:off x="8422309" y="1895771"/>
              <a:ext cx="1452880" cy="491490"/>
            </a:xfrm>
            <a:prstGeom prst="rect">
              <a:avLst/>
            </a:prstGeom>
            <a:effectLst>
              <a:outerShdw blurRad="50800" dist="38100" dir="2700000" algn="tl" rotWithShape="0">
                <a:prstClr val="black">
                  <a:alpha val="40000"/>
                </a:prstClr>
              </a:outerShdw>
            </a:effectLst>
          </p:spPr>
          <p:txBody>
            <a:bodyPr wrap="none" rtlCol="0">
              <a:spAutoFit/>
            </a:bodyPr>
            <a:lstStyle>
              <a:defPPr>
                <a:defRPr lang="en-US"/>
              </a:defPPr>
              <a:lvl1pPr algn="ctr">
                <a:lnSpc>
                  <a:spcPct val="130000"/>
                </a:lnSpc>
                <a:defRPr sz="2000" b="1">
                  <a:solidFill>
                    <a:schemeClr val="tx2"/>
                  </a:solidFill>
                  <a:ea typeface="微软雅黑" panose="020B0503020204020204" charset="-122"/>
                </a:defRPr>
              </a:lvl1pPr>
            </a:lstStyle>
            <a:p>
              <a:pPr algn="ctr" defTabSz="457200"/>
              <a:r>
                <a:rPr lang="zh-CN" altLang="en-US" dirty="0">
                  <a:solidFill>
                    <a:srgbClr val="4B5C78"/>
                  </a:solidFill>
                  <a:latin typeface="Arial" panose="020B0604020202020204"/>
                  <a:sym typeface="Arial" panose="020B0604020202020204" pitchFamily="34" charset="0"/>
                </a:rPr>
                <a:t>传感器网络</a:t>
              </a:r>
              <a:endParaRPr lang="zh-CN" altLang="en-US" dirty="0">
                <a:solidFill>
                  <a:srgbClr val="4B5C78"/>
                </a:solidFill>
                <a:latin typeface="Arial" panose="020B0604020202020204"/>
                <a:sym typeface="Arial" panose="020B0604020202020204" pitchFamily="34" charset="0"/>
              </a:endParaRPr>
            </a:p>
          </p:txBody>
        </p:sp>
        <p:sp>
          <p:nvSpPr>
            <p:cNvPr id="13" name="矩形 12"/>
            <p:cNvSpPr/>
            <p:nvPr>
              <p:custDataLst>
                <p:tags r:id="rId14"/>
              </p:custDataLst>
            </p:nvPr>
          </p:nvSpPr>
          <p:spPr>
            <a:xfrm>
              <a:off x="8451380" y="2351963"/>
              <a:ext cx="2835745" cy="650240"/>
            </a:xfrm>
            <a:prstGeom prst="rect">
              <a:avLst/>
            </a:prstGeom>
          </p:spPr>
          <p:txBody>
            <a:bodyPr wrap="square">
              <a:spAutoFit/>
            </a:bodyPr>
            <a:lstStyle/>
            <a:p>
              <a:pPr defTabSz="457200">
                <a:lnSpc>
                  <a:spcPct val="130000"/>
                </a:lnSpc>
              </a:pPr>
              <a:r>
                <a:rPr lang="zh-CN" altLang="en-US" sz="1400">
                  <a:solidFill>
                    <a:srgbClr val="4B5C78"/>
                  </a:solidFill>
                  <a:latin typeface="Arial" panose="020B0604020202020204"/>
                  <a:ea typeface="微软雅黑" panose="020B0503020204020204" charset="-122"/>
                  <a:sym typeface="Arial" panose="020B0604020202020204" pitchFamily="34" charset="0"/>
                </a:rPr>
                <a:t>布设多种传感器</a:t>
              </a:r>
              <a:r>
                <a:rPr lang="en-US" altLang="zh-CN" sz="1400">
                  <a:solidFill>
                    <a:srgbClr val="4B5C78"/>
                  </a:solidFill>
                  <a:latin typeface="Arial" panose="020B0604020202020204"/>
                  <a:ea typeface="微软雅黑" panose="020B0503020204020204" charset="-122"/>
                  <a:sym typeface="Arial" panose="020B0604020202020204" pitchFamily="34" charset="0"/>
                </a:rPr>
                <a:t> (</a:t>
              </a:r>
              <a:r>
                <a:rPr lang="zh-CN" altLang="en-US" sz="1400">
                  <a:solidFill>
                    <a:srgbClr val="4B5C78"/>
                  </a:solidFill>
                  <a:latin typeface="Arial" panose="020B0604020202020204"/>
                  <a:ea typeface="微软雅黑" panose="020B0503020204020204" charset="-122"/>
                  <a:sym typeface="Arial" panose="020B0604020202020204" pitchFamily="34" charset="0"/>
                </a:rPr>
                <a:t>温度、水流、浓度传感器</a:t>
              </a:r>
              <a:r>
                <a:rPr lang="en-US" altLang="zh-CN" sz="1400">
                  <a:solidFill>
                    <a:srgbClr val="4B5C78"/>
                  </a:solidFill>
                  <a:latin typeface="Arial" panose="020B0604020202020204"/>
                  <a:ea typeface="微软雅黑" panose="020B0503020204020204" charset="-122"/>
                  <a:sym typeface="Arial" panose="020B0604020202020204" pitchFamily="34" charset="0"/>
                </a:rPr>
                <a:t>) </a:t>
              </a:r>
              <a:r>
                <a:rPr lang="zh-CN" altLang="en-US" sz="1400">
                  <a:solidFill>
                    <a:srgbClr val="4B5C78"/>
                  </a:solidFill>
                  <a:latin typeface="Arial" panose="020B0604020202020204"/>
                  <a:ea typeface="微软雅黑" panose="020B0503020204020204" charset="-122"/>
                  <a:sym typeface="Arial" panose="020B0604020202020204" pitchFamily="34" charset="0"/>
                </a:rPr>
                <a:t>获取多维度环境参数。</a:t>
              </a:r>
              <a:endParaRPr lang="zh-CN" altLang="en-US" sz="1400">
                <a:solidFill>
                  <a:srgbClr val="4B5C78"/>
                </a:solidFill>
                <a:latin typeface="Arial" panose="020B0604020202020204"/>
                <a:ea typeface="微软雅黑" panose="020B0503020204020204" charset="-122"/>
                <a:sym typeface="Arial" panose="020B0604020202020204" pitchFamily="34" charset="0"/>
              </a:endParaRPr>
            </a:p>
          </p:txBody>
        </p:sp>
      </p:grpSp>
      <p:sp>
        <p:nvSpPr>
          <p:cNvPr id="14" name="文本框 13"/>
          <p:cNvSpPr txBox="1"/>
          <p:nvPr>
            <p:custDataLst>
              <p:tags r:id="rId15"/>
            </p:custDataLst>
          </p:nvPr>
        </p:nvSpPr>
        <p:spPr>
          <a:xfrm>
            <a:off x="2544698" y="4211095"/>
            <a:ext cx="1198880" cy="491490"/>
          </a:xfrm>
          <a:prstGeom prst="rect">
            <a:avLst/>
          </a:prstGeom>
          <a:effectLst>
            <a:outerShdw blurRad="50800" dist="38100" dir="2700000" algn="tl" rotWithShape="0">
              <a:prstClr val="black">
                <a:alpha val="40000"/>
              </a:prstClr>
            </a:outerShdw>
          </a:effectLst>
        </p:spPr>
        <p:txBody>
          <a:bodyPr wrap="none" rtlCol="0">
            <a:spAutoFit/>
          </a:bodyPr>
          <a:lstStyle>
            <a:defPPr>
              <a:defRPr lang="en-US"/>
            </a:defPPr>
            <a:lvl1pPr algn="ctr">
              <a:lnSpc>
                <a:spcPct val="130000"/>
              </a:lnSpc>
              <a:defRPr sz="2000" b="1">
                <a:solidFill>
                  <a:schemeClr val="tx2"/>
                </a:solidFill>
                <a:ea typeface="微软雅黑" panose="020B0503020204020204" charset="-122"/>
              </a:defRPr>
            </a:lvl1pPr>
          </a:lstStyle>
          <a:p>
            <a:pPr algn="ctr" defTabSz="457200"/>
            <a:r>
              <a:rPr lang="zh-CN" altLang="en-US" dirty="0">
                <a:solidFill>
                  <a:srgbClr val="4B5C78"/>
                </a:solidFill>
                <a:latin typeface="Arial" panose="020B0604020202020204"/>
                <a:sym typeface="Arial" panose="020B0604020202020204" pitchFamily="34" charset="0"/>
              </a:rPr>
              <a:t>遥感影像</a:t>
            </a:r>
            <a:endParaRPr lang="zh-CN" altLang="en-US" dirty="0">
              <a:solidFill>
                <a:srgbClr val="4B5C78"/>
              </a:solidFill>
              <a:latin typeface="Arial" panose="020B0604020202020204"/>
              <a:sym typeface="Arial" panose="020B0604020202020204" pitchFamily="34" charset="0"/>
            </a:endParaRPr>
          </a:p>
        </p:txBody>
      </p:sp>
      <p:sp>
        <p:nvSpPr>
          <p:cNvPr id="15" name="矩形 14"/>
          <p:cNvSpPr/>
          <p:nvPr>
            <p:custDataLst>
              <p:tags r:id="rId16"/>
            </p:custDataLst>
          </p:nvPr>
        </p:nvSpPr>
        <p:spPr>
          <a:xfrm>
            <a:off x="920750" y="4667250"/>
            <a:ext cx="2877820" cy="370840"/>
          </a:xfrm>
          <a:prstGeom prst="rect">
            <a:avLst/>
          </a:prstGeom>
        </p:spPr>
        <p:txBody>
          <a:bodyPr wrap="square">
            <a:spAutoFit/>
          </a:bodyPr>
          <a:lstStyle/>
          <a:p>
            <a:pPr algn="r" defTabSz="457200">
              <a:lnSpc>
                <a:spcPct val="130000"/>
              </a:lnSpc>
            </a:pPr>
            <a:r>
              <a:rPr lang="zh-CN" altLang="en-US" sz="1400">
                <a:solidFill>
                  <a:srgbClr val="4B5C78"/>
                </a:solidFill>
                <a:latin typeface="Arial" panose="020B0604020202020204"/>
                <a:ea typeface="微软雅黑" panose="020B0503020204020204" charset="-122"/>
                <a:sym typeface="Arial" panose="020B0604020202020204" pitchFamily="34" charset="0"/>
              </a:rPr>
              <a:t>提供大范围、宏观的海洋表面信息</a:t>
            </a:r>
            <a:r>
              <a:rPr lang="en-US" altLang="zh-CN" sz="1400">
                <a:solidFill>
                  <a:srgbClr val="4B5C78"/>
                </a:solidFill>
                <a:latin typeface="Arial" panose="020B0604020202020204"/>
                <a:ea typeface="微软雅黑" panose="020B0503020204020204" charset="-122"/>
                <a:sym typeface="Arial" panose="020B0604020202020204" pitchFamily="34" charset="0"/>
              </a:rPr>
              <a:t> </a:t>
            </a:r>
            <a:endParaRPr lang="zh-CN" altLang="en-US" sz="1400">
              <a:solidFill>
                <a:srgbClr val="4B5C78"/>
              </a:solidFill>
              <a:latin typeface="Arial" panose="020B0604020202020204"/>
              <a:ea typeface="微软雅黑" panose="020B0503020204020204" charset="-122"/>
              <a:sym typeface="Arial" panose="020B0604020202020204" pitchFamily="34" charset="0"/>
            </a:endParaRPr>
          </a:p>
        </p:txBody>
      </p:sp>
      <p:sp>
        <p:nvSpPr>
          <p:cNvPr id="16" name="文本框 15"/>
          <p:cNvSpPr txBox="1"/>
          <p:nvPr>
            <p:custDataLst>
              <p:tags r:id="rId17"/>
            </p:custDataLst>
          </p:nvPr>
        </p:nvSpPr>
        <p:spPr>
          <a:xfrm>
            <a:off x="8549309" y="4211095"/>
            <a:ext cx="1198880" cy="491490"/>
          </a:xfrm>
          <a:prstGeom prst="rect">
            <a:avLst/>
          </a:prstGeom>
          <a:effectLst>
            <a:outerShdw blurRad="50800" dist="38100" dir="2700000" algn="tl" rotWithShape="0">
              <a:prstClr val="black">
                <a:alpha val="40000"/>
              </a:prstClr>
            </a:outerShdw>
          </a:effectLst>
        </p:spPr>
        <p:txBody>
          <a:bodyPr wrap="none" rtlCol="0">
            <a:spAutoFit/>
          </a:bodyPr>
          <a:lstStyle>
            <a:defPPr>
              <a:defRPr lang="en-US"/>
            </a:defPPr>
            <a:lvl1pPr algn="ctr">
              <a:lnSpc>
                <a:spcPct val="130000"/>
              </a:lnSpc>
              <a:defRPr sz="2000" b="1">
                <a:solidFill>
                  <a:schemeClr val="tx2"/>
                </a:solidFill>
                <a:ea typeface="微软雅黑" panose="020B0503020204020204" charset="-122"/>
              </a:defRPr>
            </a:lvl1pPr>
          </a:lstStyle>
          <a:p>
            <a:pPr algn="ctr" defTabSz="457200"/>
            <a:r>
              <a:rPr lang="zh-CN" altLang="en-US" dirty="0">
                <a:solidFill>
                  <a:srgbClr val="4B5C78"/>
                </a:solidFill>
                <a:latin typeface="Arial" panose="020B0604020202020204"/>
                <a:sym typeface="Arial" panose="020B0604020202020204" pitchFamily="34" charset="0"/>
              </a:rPr>
              <a:t>其他数据</a:t>
            </a:r>
            <a:endParaRPr lang="zh-CN" altLang="en-US" dirty="0">
              <a:solidFill>
                <a:srgbClr val="4B5C78"/>
              </a:solidFill>
              <a:latin typeface="Arial" panose="020B0604020202020204"/>
              <a:sym typeface="Arial" panose="020B0604020202020204" pitchFamily="34" charset="0"/>
            </a:endParaRPr>
          </a:p>
        </p:txBody>
      </p:sp>
      <p:sp>
        <p:nvSpPr>
          <p:cNvPr id="17" name="矩形 16"/>
          <p:cNvSpPr/>
          <p:nvPr>
            <p:custDataLst>
              <p:tags r:id="rId18"/>
            </p:custDataLst>
          </p:nvPr>
        </p:nvSpPr>
        <p:spPr>
          <a:xfrm>
            <a:off x="8543455" y="4667287"/>
            <a:ext cx="2835745" cy="650240"/>
          </a:xfrm>
          <a:prstGeom prst="rect">
            <a:avLst/>
          </a:prstGeom>
        </p:spPr>
        <p:txBody>
          <a:bodyPr wrap="square">
            <a:spAutoFit/>
          </a:bodyPr>
          <a:lstStyle/>
          <a:p>
            <a:pPr defTabSz="457200">
              <a:lnSpc>
                <a:spcPct val="130000"/>
              </a:lnSpc>
            </a:pPr>
            <a:r>
              <a:rPr lang="zh-CN" altLang="en-US" sz="1400">
                <a:solidFill>
                  <a:srgbClr val="4B5C78"/>
                </a:solidFill>
                <a:latin typeface="Arial" panose="020B0604020202020204"/>
                <a:ea typeface="微软雅黑" panose="020B0503020204020204" charset="-122"/>
                <a:sym typeface="Arial" panose="020B0604020202020204" pitchFamily="34" charset="0"/>
              </a:rPr>
              <a:t>船舶</a:t>
            </a:r>
            <a:r>
              <a:rPr lang="en-US" altLang="zh-CN" sz="1400">
                <a:solidFill>
                  <a:srgbClr val="4B5C78"/>
                </a:solidFill>
                <a:latin typeface="Arial" panose="020B0604020202020204"/>
                <a:ea typeface="微软雅黑" panose="020B0503020204020204" charset="-122"/>
                <a:sym typeface="Arial" panose="020B0604020202020204" pitchFamily="34" charset="0"/>
              </a:rPr>
              <a:t>AIS</a:t>
            </a:r>
            <a:r>
              <a:rPr lang="zh-CN" altLang="en-US" sz="1400">
                <a:solidFill>
                  <a:srgbClr val="4B5C78"/>
                </a:solidFill>
                <a:latin typeface="Arial" panose="020B0604020202020204"/>
                <a:ea typeface="微软雅黑" panose="020B0503020204020204" charset="-122"/>
                <a:sym typeface="Arial" panose="020B0604020202020204" pitchFamily="34" charset="0"/>
              </a:rPr>
              <a:t>数据、数值模型输出、公众观测报告等。</a:t>
            </a:r>
            <a:endParaRPr lang="zh-CN" altLang="en-US" sz="1400">
              <a:solidFill>
                <a:srgbClr val="4B5C78"/>
              </a:solidFill>
              <a:latin typeface="Arial" panose="020B0604020202020204"/>
              <a:ea typeface="微软雅黑" panose="020B0503020204020204" charset="-122"/>
              <a:sym typeface="Arial" panose="020B0604020202020204" pitchFamily="34" charset="0"/>
            </a:endParaRPr>
          </a:p>
        </p:txBody>
      </p:sp>
      <p:sp>
        <p:nvSpPr>
          <p:cNvPr id="18" name="文本框 17"/>
          <p:cNvSpPr txBox="1"/>
          <p:nvPr/>
        </p:nvSpPr>
        <p:spPr>
          <a:xfrm>
            <a:off x="800100" y="560070"/>
            <a:ext cx="7094220" cy="7067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4000" spc="300" dirty="0">
                <a:solidFill>
                  <a:srgbClr val="4B5C78"/>
                </a:solidFill>
                <a:latin typeface="+mj-ea"/>
                <a:ea typeface="+mj-ea"/>
              </a:rPr>
              <a:t>研究方法</a:t>
            </a:r>
            <a:r>
              <a:rPr lang="en-US" altLang="zh-CN" sz="4000" spc="300" dirty="0">
                <a:solidFill>
                  <a:srgbClr val="4B5C78"/>
                </a:solidFill>
                <a:latin typeface="+mj-ea"/>
                <a:ea typeface="+mj-ea"/>
              </a:rPr>
              <a:t>——</a:t>
            </a:r>
            <a:r>
              <a:rPr lang="zh-CN" altLang="en-US" sz="4000" spc="300" dirty="0">
                <a:solidFill>
                  <a:srgbClr val="4B5C78"/>
                </a:solidFill>
                <a:latin typeface="+mj-ea"/>
                <a:ea typeface="+mj-ea"/>
              </a:rPr>
              <a:t>多源数据融合</a:t>
            </a:r>
            <a:endParaRPr kumimoji="0" lang="zh-CN" altLang="en-US" sz="4000" i="0" u="none" strike="noStrike" kern="1200" cap="none" spc="300" normalizeH="0" baseline="0" noProof="0" dirty="0">
              <a:ln>
                <a:noFill/>
              </a:ln>
              <a:solidFill>
                <a:srgbClr val="4B5C78"/>
              </a:solidFill>
              <a:effectLst/>
              <a:uLnTx/>
              <a:uFillTx/>
              <a:latin typeface="+mj-ea"/>
              <a:ea typeface="+mj-ea"/>
              <a:cs typeface="+mn-cs"/>
            </a:endParaRPr>
          </a:p>
        </p:txBody>
      </p:sp>
      <p:sp>
        <p:nvSpPr>
          <p:cNvPr id="20" name="矩形 19"/>
          <p:cNvSpPr/>
          <p:nvPr/>
        </p:nvSpPr>
        <p:spPr>
          <a:xfrm>
            <a:off x="424193" y="437352"/>
            <a:ext cx="199785" cy="952338"/>
          </a:xfrm>
          <a:prstGeom prst="rect">
            <a:avLst/>
          </a:prstGeom>
          <a:solidFill>
            <a:srgbClr val="4B5C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rot="16200000" flipH="1">
            <a:off x="1522365" y="4978693"/>
            <a:ext cx="231871" cy="3276600"/>
            <a:chOff x="4399082" y="1624876"/>
            <a:chExt cx="231871" cy="3276600"/>
          </a:xfrm>
        </p:grpSpPr>
        <p:cxnSp>
          <p:nvCxnSpPr>
            <p:cNvPr id="29" name="直接连接符 28"/>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5400000" flipH="1">
            <a:off x="10437764" y="-1377843"/>
            <a:ext cx="231871" cy="3276600"/>
            <a:chOff x="4399082" y="1624876"/>
            <a:chExt cx="231871" cy="3276600"/>
          </a:xfrm>
        </p:grpSpPr>
        <p:cxnSp>
          <p:nvCxnSpPr>
            <p:cNvPr id="32" name="直接连接符 31"/>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35" name="图片 34"/>
          <p:cNvPicPr>
            <a:picLocks noChangeAspect="1"/>
          </p:cNvPicPr>
          <p:nvPr/>
        </p:nvPicPr>
        <p:blipFill>
          <a:blip r:embed="rId19" cstate="print">
            <a:alphaModFix amt="56000"/>
          </a:blip>
          <a:stretch>
            <a:fillRect/>
          </a:stretch>
        </p:blipFill>
        <p:spPr>
          <a:xfrm>
            <a:off x="9466368" y="5680149"/>
            <a:ext cx="2563707" cy="13024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4B5C78"/>
        </a:solidFill>
        <a:effectLst/>
      </p:bgPr>
    </p:bg>
    <p:spTree>
      <p:nvGrpSpPr>
        <p:cNvPr id="1" name=""/>
        <p:cNvGrpSpPr/>
        <p:nvPr/>
      </p:nvGrpSpPr>
      <p:grpSpPr>
        <a:xfrm>
          <a:off x="0" y="0"/>
          <a:ext cx="0" cy="0"/>
          <a:chOff x="0" y="0"/>
          <a:chExt cx="0" cy="0"/>
        </a:xfrm>
      </p:grpSpPr>
      <p:sp>
        <p:nvSpPr>
          <p:cNvPr id="10" name="矩形 9"/>
          <p:cNvSpPr/>
          <p:nvPr/>
        </p:nvSpPr>
        <p:spPr>
          <a:xfrm>
            <a:off x="0" y="1821062"/>
            <a:ext cx="12192002" cy="3276600"/>
          </a:xfrm>
          <a:prstGeom prst="rect">
            <a:avLst/>
          </a:prstGeom>
          <a:blipFill dpi="0" rotWithShape="1">
            <a:blip r:embed="rId1" cstate="hq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cs typeface="+mn-cs"/>
            </a:endParaRPr>
          </a:p>
        </p:txBody>
      </p:sp>
      <p:grpSp>
        <p:nvGrpSpPr>
          <p:cNvPr id="3" name="组合 2"/>
          <p:cNvGrpSpPr/>
          <p:nvPr/>
        </p:nvGrpSpPr>
        <p:grpSpPr>
          <a:xfrm flipH="1">
            <a:off x="752725" y="6989"/>
            <a:ext cx="231871" cy="3276600"/>
            <a:chOff x="4399082" y="1624876"/>
            <a:chExt cx="231871" cy="3276600"/>
          </a:xfrm>
        </p:grpSpPr>
        <p:cxnSp>
          <p:nvCxnSpPr>
            <p:cNvPr id="4" name="直接连接符 3"/>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1216466" y="858616"/>
            <a:ext cx="3168459" cy="7786747"/>
          </a:xfrm>
          <a:prstGeom prst="rect">
            <a:avLst/>
          </a:prstGeom>
          <a:noFill/>
        </p:spPr>
        <p:txBody>
          <a:bodyPr vert="horz" wrap="square" lIns="91440" tIns="45720" rIns="91440" bIns="45720" rtlCol="0" anchor="ctr">
            <a:spAutoFit/>
          </a:bodyPr>
          <a:lstStyle>
            <a:defPPr>
              <a:defRPr lang="zh-CN"/>
            </a:defPPr>
            <a:lvl1pPr marL="0" indent="0" algn="l" defTabSz="914400" rtl="0" eaLnBrk="1" latinLnBrk="0" hangingPunct="1">
              <a:buNone/>
              <a:defRPr lang="zh-CN" altLang="en-US" sz="50000" kern="1200" dirty="0">
                <a:gradFill>
                  <a:gsLst>
                    <a:gs pos="29000">
                      <a:srgbClr val="F9F9F9"/>
                    </a:gs>
                    <a:gs pos="80000">
                      <a:srgbClr val="F9F9F9">
                        <a:alpha val="0"/>
                      </a:srgbClr>
                    </a:gs>
                  </a:gsLst>
                  <a:lin ang="5400000" scaled="0"/>
                </a:gradFill>
                <a:latin typeface="OPPOSans L" panose="00020600040101010101" pitchFamily="18" charset="-122"/>
                <a:ea typeface="OPPOSans H" panose="00020600040101010101" pitchFamily="18" charset="-122"/>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dirty="0">
                <a:gradFill>
                  <a:gsLst>
                    <a:gs pos="29000">
                      <a:srgbClr val="F9F9F9"/>
                    </a:gs>
                    <a:gs pos="46000">
                      <a:srgbClr val="F9F9F9">
                        <a:alpha val="54000"/>
                      </a:srgbClr>
                    </a:gs>
                    <a:gs pos="80000">
                      <a:srgbClr val="F9F9F9">
                        <a:alpha val="0"/>
                      </a:srgbClr>
                    </a:gs>
                  </a:gsLst>
                  <a:lin ang="5400000" scaled="0"/>
                </a:gradFill>
                <a:latin typeface="+mj-lt"/>
                <a:ea typeface="OPPOSans B" panose="00020600040101010101" pitchFamily="18" charset="-122"/>
              </a:rPr>
              <a:t>3</a:t>
            </a:r>
            <a:endParaRPr kumimoji="0" lang="en-US" altLang="en-US" sz="50000" b="0" i="0" u="none" strike="noStrike" kern="1200" cap="none" spc="0" normalizeH="0" baseline="0" noProof="0" dirty="0">
              <a:ln>
                <a:noFill/>
              </a:ln>
              <a:gradFill>
                <a:gsLst>
                  <a:gs pos="29000">
                    <a:srgbClr val="F9F9F9"/>
                  </a:gs>
                  <a:gs pos="46000">
                    <a:srgbClr val="F9F9F9">
                      <a:alpha val="54000"/>
                    </a:srgbClr>
                  </a:gs>
                  <a:gs pos="80000">
                    <a:srgbClr val="F9F9F9">
                      <a:alpha val="0"/>
                    </a:srgbClr>
                  </a:gs>
                </a:gsLst>
                <a:lin ang="5400000" scaled="0"/>
              </a:gradFill>
              <a:effectLst/>
              <a:uLnTx/>
              <a:uFillTx/>
              <a:latin typeface="+mj-lt"/>
              <a:ea typeface="OPPOSans B" panose="00020600040101010101" pitchFamily="18" charset="-122"/>
              <a:cs typeface="Arial" panose="020B0604020202020204" pitchFamily="34" charset="0"/>
            </a:endParaRPr>
          </a:p>
        </p:txBody>
      </p:sp>
      <p:sp>
        <p:nvSpPr>
          <p:cNvPr id="7" name="文本框 6"/>
          <p:cNvSpPr txBox="1"/>
          <p:nvPr/>
        </p:nvSpPr>
        <p:spPr>
          <a:xfrm>
            <a:off x="4274376" y="3429655"/>
            <a:ext cx="5216027" cy="922020"/>
          </a:xfrm>
          <a:prstGeom prst="rect">
            <a:avLst/>
          </a:prstGeom>
          <a:noFill/>
        </p:spPr>
        <p:txBody>
          <a:bodyPr vert="horz" wrap="square" lIns="91440" tIns="45720" rIns="91440" bIns="45720" rtlCol="0" anchor="ctr">
            <a:spAutoFit/>
          </a:bodyPr>
          <a:lstStyle>
            <a:defPPr>
              <a:defRPr lang="zh-CN"/>
            </a:defPPr>
            <a:lvl1pPr marL="0" indent="0" algn="ctr" defTabSz="914400" rtl="0" eaLnBrk="1" latinLnBrk="0" hangingPunct="1">
              <a:buNone/>
              <a:defRPr lang="zh-CN" altLang="en-US" sz="5400" b="1" kern="1200" dirty="0">
                <a:solidFill>
                  <a:srgbClr val="FCEEE8"/>
                </a:solidFill>
                <a:latin typeface="OPPOSans M" panose="00020600040101010101" pitchFamily="18" charset="-122"/>
                <a:ea typeface="OPPOSans M" panose="00020600040101010101" pitchFamily="18"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sz="5400" b="1" i="0" u="none" strike="noStrike" kern="1200" cap="none" spc="0" normalizeH="0" baseline="0" noProof="0" dirty="0">
                <a:ln>
                  <a:noFill/>
                </a:ln>
                <a:solidFill>
                  <a:prstClr val="white"/>
                </a:solidFill>
                <a:effectLst/>
                <a:uLnTx/>
                <a:uFillTx/>
                <a:ea typeface="OPPOSans M" panose="00020600040101010101" pitchFamily="18" charset="-122"/>
                <a:cs typeface="+mn-cs"/>
              </a:rPr>
              <a:t>数据库设计方案</a:t>
            </a:r>
            <a:endParaRPr kumimoji="0" sz="5400" b="1" i="0" u="none" strike="noStrike" kern="1200" cap="none" spc="0" normalizeH="0" baseline="0" noProof="0" dirty="0">
              <a:ln>
                <a:noFill/>
              </a:ln>
              <a:solidFill>
                <a:prstClr val="white"/>
              </a:solidFill>
              <a:effectLst/>
              <a:uLnTx/>
              <a:uFillTx/>
              <a:ea typeface="OPPOSans M" panose="00020600040101010101" pitchFamily="18" charset="-122"/>
              <a:cs typeface="+mn-cs"/>
            </a:endParaRPr>
          </a:p>
        </p:txBody>
      </p:sp>
      <p:sp>
        <p:nvSpPr>
          <p:cNvPr id="8" name="文本框 7"/>
          <p:cNvSpPr txBox="1"/>
          <p:nvPr/>
        </p:nvSpPr>
        <p:spPr>
          <a:xfrm>
            <a:off x="4274377" y="4303791"/>
            <a:ext cx="5216027" cy="423545"/>
          </a:xfrm>
          <a:prstGeom prst="rect">
            <a:avLst/>
          </a:prstGeom>
          <a:noFill/>
        </p:spPr>
        <p:txBody>
          <a:bodyPr wrap="square" rtlCol="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2400" b="0" kern="1200" dirty="0">
                <a:solidFill>
                  <a:srgbClr val="FCEEE8"/>
                </a:solidFill>
                <a:latin typeface="OPPOSans M" panose="00020600040101010101" pitchFamily="18" charset="-122"/>
                <a:ea typeface="OPPOSans M"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CEEE8"/>
                </a:solidFill>
                <a:effectLst/>
                <a:uLnTx/>
                <a:uFillTx/>
                <a:ea typeface="OPPOSans M" panose="00020600040101010101" pitchFamily="18" charset="-122"/>
                <a:cs typeface="+mn-cs"/>
              </a:rPr>
              <a:t>designing scheme</a:t>
            </a:r>
            <a:endParaRPr kumimoji="0" lang="en-US" altLang="zh-CN" sz="2400" b="0" i="0" u="none" strike="noStrike" kern="1200" cap="none" spc="0" normalizeH="0" baseline="0" noProof="0" dirty="0">
              <a:ln>
                <a:noFill/>
              </a:ln>
              <a:solidFill>
                <a:srgbClr val="FCEEE8"/>
              </a:solidFill>
              <a:effectLst/>
              <a:uLnTx/>
              <a:uFillTx/>
              <a:ea typeface="OPPOSans M" panose="00020600040101010101" pitchFamily="18" charset="-122"/>
              <a:cs typeface="+mn-cs"/>
            </a:endParaRPr>
          </a:p>
        </p:txBody>
      </p:sp>
      <p:grpSp>
        <p:nvGrpSpPr>
          <p:cNvPr id="12" name="组合 11"/>
          <p:cNvGrpSpPr/>
          <p:nvPr/>
        </p:nvGrpSpPr>
        <p:grpSpPr>
          <a:xfrm flipH="1" flipV="1">
            <a:off x="11202882" y="3581400"/>
            <a:ext cx="231871" cy="3276600"/>
            <a:chOff x="4399082" y="1624876"/>
            <a:chExt cx="231871" cy="3276600"/>
          </a:xfrm>
        </p:grpSpPr>
        <p:cxnSp>
          <p:nvCxnSpPr>
            <p:cNvPr id="13" name="直接连接符 12"/>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9" name="图片 8"/>
          <p:cNvPicPr>
            <a:picLocks noChangeAspect="1"/>
          </p:cNvPicPr>
          <p:nvPr/>
        </p:nvPicPr>
        <p:blipFill>
          <a:blip r:embed="rId2" cstate="print">
            <a:alphaModFix amt="59000"/>
          </a:blip>
          <a:stretch>
            <a:fillRect/>
          </a:stretch>
        </p:blipFill>
        <p:spPr>
          <a:xfrm>
            <a:off x="9226966" y="514290"/>
            <a:ext cx="2869784" cy="1457961"/>
          </a:xfrm>
          <a:prstGeom prst="rect">
            <a:avLst/>
          </a:prstGeom>
          <a:effectLst>
            <a:outerShdw blurRad="50800" dist="50800" dir="5400000" algn="ctr" rotWithShape="0">
              <a:srgbClr val="000000">
                <a:alpha val="24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B5C78">
            <a:alpha val="5000"/>
          </a:srgbClr>
        </a:solidFill>
        <a:effectLst/>
      </p:bgPr>
    </p:bg>
    <p:spTree>
      <p:nvGrpSpPr>
        <p:cNvPr id="1" name=""/>
        <p:cNvGrpSpPr/>
        <p:nvPr/>
      </p:nvGrpSpPr>
      <p:grpSpPr>
        <a:xfrm>
          <a:off x="0" y="0"/>
          <a:ext cx="0" cy="0"/>
          <a:chOff x="0" y="0"/>
          <a:chExt cx="0" cy="0"/>
        </a:xfrm>
      </p:grpSpPr>
      <p:sp>
        <p:nvSpPr>
          <p:cNvPr id="3" name="矩形 2"/>
          <p:cNvSpPr/>
          <p:nvPr/>
        </p:nvSpPr>
        <p:spPr>
          <a:xfrm>
            <a:off x="929005" y="1668145"/>
            <a:ext cx="5091430" cy="2703830"/>
          </a:xfrm>
          <a:prstGeom prst="rect">
            <a:avLst/>
          </a:prstGeom>
          <a:solidFill>
            <a:schemeClr val="bg1">
              <a:lumMod val="85000"/>
            </a:schemeClr>
          </a:solidFill>
          <a:ln w="31750">
            <a:solidFill>
              <a:srgbClr val="4B5C78"/>
            </a:solidFill>
          </a:ln>
          <a:effectLst>
            <a:outerShdw blurRad="317500" dist="38100" dir="8100000" sx="102000" sy="102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mn-cs"/>
            </a:endParaRPr>
          </a:p>
        </p:txBody>
      </p:sp>
      <p:sp>
        <p:nvSpPr>
          <p:cNvPr id="6" name="矩形 5"/>
          <p:cNvSpPr>
            <a:spLocks noChangeArrowheads="1"/>
          </p:cNvSpPr>
          <p:nvPr/>
        </p:nvSpPr>
        <p:spPr bwMode="black">
          <a:xfrm>
            <a:off x="6452455" y="1994011"/>
            <a:ext cx="2102628" cy="68127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2800" i="0" u="none" strike="noStrike" kern="1200" cap="none" spc="0" normalizeH="0" baseline="0" noProof="0" dirty="0">
                <a:ln>
                  <a:noFill/>
                </a:ln>
                <a:solidFill>
                  <a:srgbClr val="FFFFFF"/>
                </a:solidFill>
                <a:effectLst/>
                <a:uLnTx/>
                <a:uFillTx/>
                <a:latin typeface="+mj-ea"/>
                <a:ea typeface="+mj-ea"/>
                <a:cs typeface="+mn-cs"/>
              </a:rPr>
              <a:t>第二部分</a:t>
            </a:r>
            <a:endParaRPr kumimoji="0" lang="en-US" altLang="zh-CN" sz="2400" i="0" u="none" strike="noStrike" kern="1200" cap="none" spc="0" normalizeH="0" baseline="0" noProof="0" dirty="0">
              <a:ln>
                <a:noFill/>
              </a:ln>
              <a:solidFill>
                <a:srgbClr val="FFFFFF"/>
              </a:solidFill>
              <a:effectLst/>
              <a:uLnTx/>
              <a:uFillTx/>
              <a:latin typeface="+mj-ea"/>
              <a:ea typeface="+mj-ea"/>
              <a:cs typeface="+mn-cs"/>
            </a:endParaRPr>
          </a:p>
        </p:txBody>
      </p:sp>
      <p:sp>
        <p:nvSpPr>
          <p:cNvPr id="10" name="矩形 9"/>
          <p:cNvSpPr/>
          <p:nvPr/>
        </p:nvSpPr>
        <p:spPr>
          <a:xfrm>
            <a:off x="1122680" y="2334895"/>
            <a:ext cx="5029835" cy="1957070"/>
          </a:xfrm>
          <a:prstGeom prst="rect">
            <a:avLst/>
          </a:prstGeom>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l" defTabSz="914400">
              <a:lnSpc>
                <a:spcPct val="150000"/>
              </a:lnSpc>
              <a:buSzPct val="90000"/>
              <a:buFont typeface="Wingdings" panose="05000000000000000000" charset="0"/>
              <a:buChar char="n"/>
              <a:defRPr/>
            </a:pPr>
            <a:r>
              <a:rPr lang="zh-CN" altLang="en-US" dirty="0">
                <a:solidFill>
                  <a:srgbClr val="4B5C78"/>
                </a:solidFill>
                <a:highlight>
                  <a:srgbClr val="FFFF00"/>
                </a:highlight>
                <a:latin typeface="+mn-ea"/>
              </a:rPr>
              <a:t>多源数据</a:t>
            </a:r>
            <a:r>
              <a:rPr lang="zh-CN" altLang="en-US" dirty="0">
                <a:solidFill>
                  <a:srgbClr val="4B5C78"/>
                </a:solidFill>
                <a:latin typeface="+mn-ea"/>
              </a:rPr>
              <a:t>存储（遥感影像元数据、传感器时序数据）</a:t>
            </a:r>
            <a:endParaRPr lang="zh-CN" altLang="en-US" dirty="0">
              <a:solidFill>
                <a:srgbClr val="4B5C78"/>
              </a:solidFill>
              <a:latin typeface="+mn-ea"/>
            </a:endParaRPr>
          </a:p>
          <a:p>
            <a:pPr marL="285750" indent="-285750" algn="l" defTabSz="914400">
              <a:lnSpc>
                <a:spcPct val="150000"/>
              </a:lnSpc>
              <a:buSzPct val="90000"/>
              <a:buFont typeface="Wingdings" panose="05000000000000000000" charset="0"/>
              <a:buChar char="n"/>
              <a:defRPr/>
            </a:pPr>
            <a:r>
              <a:rPr lang="zh-CN" altLang="en-US" dirty="0">
                <a:solidFill>
                  <a:srgbClr val="4B5C78"/>
                </a:solidFill>
                <a:latin typeface="+mn-ea"/>
              </a:rPr>
              <a:t>支持</a:t>
            </a:r>
            <a:r>
              <a:rPr lang="zh-CN" altLang="en-US" dirty="0">
                <a:solidFill>
                  <a:srgbClr val="4B5C78"/>
                </a:solidFill>
                <a:highlight>
                  <a:srgbClr val="FFFF00"/>
                </a:highlight>
                <a:latin typeface="+mn-ea"/>
              </a:rPr>
              <a:t>时空范围</a:t>
            </a:r>
            <a:r>
              <a:rPr lang="zh-CN" altLang="en-US" dirty="0">
                <a:solidFill>
                  <a:srgbClr val="4B5C78"/>
                </a:solidFill>
                <a:latin typeface="+mn-ea"/>
              </a:rPr>
              <a:t>查询（如</a:t>
            </a:r>
            <a:r>
              <a:rPr lang="en-US" altLang="zh-CN" dirty="0">
                <a:solidFill>
                  <a:srgbClr val="4B5C78"/>
                </a:solidFill>
                <a:latin typeface="+mn-ea"/>
              </a:rPr>
              <a:t>“2023</a:t>
            </a:r>
            <a:r>
              <a:rPr lang="zh-CN" altLang="en-US" dirty="0">
                <a:solidFill>
                  <a:srgbClr val="4B5C78"/>
                </a:solidFill>
                <a:latin typeface="+mn-ea"/>
              </a:rPr>
              <a:t>年东海区域微塑料浓度</a:t>
            </a:r>
            <a:r>
              <a:rPr lang="en-US" altLang="zh-CN" dirty="0">
                <a:solidFill>
                  <a:srgbClr val="4B5C78"/>
                </a:solidFill>
                <a:latin typeface="+mn-ea"/>
              </a:rPr>
              <a:t>&gt;5mg/m</a:t>
            </a:r>
            <a:r>
              <a:rPr lang="en-US" altLang="en-US" dirty="0">
                <a:solidFill>
                  <a:srgbClr val="4B5C78"/>
                </a:solidFill>
                <a:latin typeface="+mn-ea"/>
              </a:rPr>
              <a:t>³</a:t>
            </a:r>
            <a:r>
              <a:rPr lang="zh-CN" altLang="en-US" dirty="0">
                <a:solidFill>
                  <a:srgbClr val="4B5C78"/>
                </a:solidFill>
                <a:latin typeface="+mn-ea"/>
              </a:rPr>
              <a:t>的监测点</a:t>
            </a:r>
            <a:r>
              <a:rPr lang="en-US" altLang="zh-CN" dirty="0">
                <a:solidFill>
                  <a:srgbClr val="4B5C78"/>
                </a:solidFill>
                <a:latin typeface="+mn-ea"/>
              </a:rPr>
              <a:t>”</a:t>
            </a:r>
            <a:r>
              <a:rPr lang="zh-CN" altLang="en-US" dirty="0">
                <a:solidFill>
                  <a:srgbClr val="4B5C78"/>
                </a:solidFill>
                <a:latin typeface="+mn-ea"/>
              </a:rPr>
              <a:t>）</a:t>
            </a:r>
            <a:endParaRPr lang="zh-CN" altLang="en-US" dirty="0">
              <a:solidFill>
                <a:srgbClr val="4B5C78"/>
              </a:solidFill>
              <a:latin typeface="+mn-ea"/>
            </a:endParaRPr>
          </a:p>
          <a:p>
            <a:pPr marL="285750" indent="-285750" algn="l" defTabSz="914400">
              <a:lnSpc>
                <a:spcPct val="150000"/>
              </a:lnSpc>
              <a:buSzPct val="90000"/>
              <a:buFont typeface="Wingdings" panose="05000000000000000000" charset="0"/>
              <a:buChar char="n"/>
              <a:defRPr/>
            </a:pPr>
            <a:endParaRPr lang="zh-CN" altLang="en-US" dirty="0">
              <a:solidFill>
                <a:srgbClr val="4B5C78"/>
              </a:solidFill>
              <a:latin typeface="+mn-ea"/>
            </a:endParaRPr>
          </a:p>
        </p:txBody>
      </p:sp>
      <p:sp>
        <p:nvSpPr>
          <p:cNvPr id="13" name="文本框 12"/>
          <p:cNvSpPr txBox="1"/>
          <p:nvPr/>
        </p:nvSpPr>
        <p:spPr>
          <a:xfrm>
            <a:off x="800100" y="560070"/>
            <a:ext cx="8594090" cy="7067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300" normalizeH="0" baseline="0" noProof="0" dirty="0">
                <a:ln>
                  <a:noFill/>
                </a:ln>
                <a:solidFill>
                  <a:schemeClr val="tx1">
                    <a:lumMod val="85000"/>
                    <a:lumOff val="15000"/>
                  </a:schemeClr>
                </a:solidFill>
                <a:effectLst/>
                <a:uLnTx/>
                <a:uFillTx/>
                <a:latin typeface="+mj-ea"/>
                <a:ea typeface="+mj-ea"/>
                <a:cs typeface="+mn-cs"/>
              </a:rPr>
              <a:t>系统功能</a:t>
            </a:r>
            <a:endParaRPr kumimoji="0" lang="zh-CN" altLang="en-US" sz="4000" i="0" u="none" strike="noStrike" kern="1200" cap="none" spc="300" normalizeH="0" baseline="0" noProof="0" dirty="0">
              <a:ln>
                <a:noFill/>
              </a:ln>
              <a:solidFill>
                <a:schemeClr val="tx1">
                  <a:lumMod val="85000"/>
                  <a:lumOff val="15000"/>
                </a:schemeClr>
              </a:solidFill>
              <a:effectLst/>
              <a:uLnTx/>
              <a:uFillTx/>
              <a:latin typeface="+mj-ea"/>
              <a:ea typeface="+mj-ea"/>
              <a:cs typeface="+mn-cs"/>
            </a:endParaRPr>
          </a:p>
        </p:txBody>
      </p:sp>
      <p:sp>
        <p:nvSpPr>
          <p:cNvPr id="15" name="矩形 14"/>
          <p:cNvSpPr/>
          <p:nvPr/>
        </p:nvSpPr>
        <p:spPr>
          <a:xfrm>
            <a:off x="424193" y="437352"/>
            <a:ext cx="199785" cy="952338"/>
          </a:xfrm>
          <a:prstGeom prst="rect">
            <a:avLst/>
          </a:prstGeom>
          <a:solidFill>
            <a:srgbClr val="4B5C7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11435727" y="0"/>
            <a:ext cx="231871" cy="3276600"/>
            <a:chOff x="4399082" y="1624876"/>
            <a:chExt cx="231871" cy="3276600"/>
          </a:xfrm>
        </p:grpSpPr>
        <p:cxnSp>
          <p:nvCxnSpPr>
            <p:cNvPr id="19" name="直接连接符 18"/>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flipH="1" flipV="1">
            <a:off x="1158309" y="3581400"/>
            <a:ext cx="231871" cy="3276600"/>
            <a:chOff x="4399082" y="1624876"/>
            <a:chExt cx="231871" cy="3276600"/>
          </a:xfrm>
        </p:grpSpPr>
        <p:cxnSp>
          <p:nvCxnSpPr>
            <p:cNvPr id="22" name="直接连接符 21"/>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24" name="图片 23"/>
          <p:cNvPicPr>
            <a:picLocks noChangeAspect="1"/>
          </p:cNvPicPr>
          <p:nvPr/>
        </p:nvPicPr>
        <p:blipFill>
          <a:blip r:embed="rId1" cstate="print">
            <a:alphaModFix amt="56000"/>
          </a:blip>
          <a:stretch>
            <a:fillRect/>
          </a:stretch>
        </p:blipFill>
        <p:spPr>
          <a:xfrm>
            <a:off x="9466368" y="5680149"/>
            <a:ext cx="2563707" cy="1302462"/>
          </a:xfrm>
          <a:prstGeom prst="rect">
            <a:avLst/>
          </a:prstGeom>
        </p:spPr>
      </p:pic>
      <p:sp>
        <p:nvSpPr>
          <p:cNvPr id="2" name="矩形 1"/>
          <p:cNvSpPr/>
          <p:nvPr/>
        </p:nvSpPr>
        <p:spPr>
          <a:xfrm>
            <a:off x="6170295" y="1668145"/>
            <a:ext cx="5365115" cy="4774565"/>
          </a:xfrm>
          <a:prstGeom prst="rect">
            <a:avLst/>
          </a:prstGeom>
          <a:solidFill>
            <a:schemeClr val="bg1">
              <a:lumMod val="85000"/>
            </a:schemeClr>
          </a:solidFill>
          <a:ln w="31750">
            <a:solidFill>
              <a:srgbClr val="4B5C78"/>
            </a:solidFill>
          </a:ln>
          <a:effectLst>
            <a:outerShdw blurRad="317500" dist="38100" dir="8100000" sx="102000" sy="102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mn-cs"/>
            </a:endParaRPr>
          </a:p>
        </p:txBody>
      </p:sp>
      <p:sp>
        <p:nvSpPr>
          <p:cNvPr id="8" name="文本框 7"/>
          <p:cNvSpPr txBox="1"/>
          <p:nvPr/>
        </p:nvSpPr>
        <p:spPr>
          <a:xfrm>
            <a:off x="6217285" y="1581150"/>
            <a:ext cx="4572635" cy="73723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accent1">
                    <a:lumMod val="75000"/>
                  </a:schemeClr>
                </a:solidFill>
                <a:effectLst/>
                <a:uLnTx/>
                <a:uFillTx/>
                <a:latin typeface="+mj-ea"/>
                <a:ea typeface="+mj-ea"/>
                <a:cs typeface="+mn-cs"/>
              </a:rPr>
              <a:t>系统前端动态可视化查询</a:t>
            </a:r>
            <a:endParaRPr kumimoji="0" lang="zh-CN" altLang="en-US" sz="2800" i="0" u="none" strike="noStrike" kern="1200" cap="none" spc="0" normalizeH="0" baseline="0" noProof="0" dirty="0">
              <a:ln>
                <a:noFill/>
              </a:ln>
              <a:solidFill>
                <a:schemeClr val="accent1">
                  <a:lumMod val="75000"/>
                </a:schemeClr>
              </a:solidFill>
              <a:effectLst/>
              <a:uLnTx/>
              <a:uFillTx/>
              <a:latin typeface="+mj-ea"/>
              <a:ea typeface="+mj-ea"/>
              <a:cs typeface="+mn-cs"/>
            </a:endParaRPr>
          </a:p>
        </p:txBody>
      </p:sp>
      <p:sp>
        <p:nvSpPr>
          <p:cNvPr id="16" name="文本框 15"/>
          <p:cNvSpPr txBox="1"/>
          <p:nvPr/>
        </p:nvSpPr>
        <p:spPr>
          <a:xfrm>
            <a:off x="6304280" y="2177098"/>
            <a:ext cx="5080000" cy="3869055"/>
          </a:xfrm>
          <a:prstGeom prst="rect">
            <a:avLst/>
          </a:prstGeom>
        </p:spPr>
        <p:txBody>
          <a:bodyPr>
            <a:spAutoFit/>
          </a:bodyPr>
          <a:p>
            <a:pPr marL="285750" indent="-285750" algn="l">
              <a:lnSpc>
                <a:spcPct val="150000"/>
              </a:lnSpc>
              <a:spcBef>
                <a:spcPts val="100"/>
              </a:spcBef>
              <a:buClrTx/>
              <a:buSzPct val="90000"/>
              <a:buFont typeface="Wingdings" panose="05000000000000000000" charset="0"/>
              <a:buChar char="n"/>
              <a:defRPr/>
            </a:pPr>
            <a:r>
              <a:rPr lang="zh-CN" altLang="en-US" sz="1800" b="0" i="0" dirty="0">
                <a:solidFill>
                  <a:srgbClr val="4B5C78"/>
                </a:solidFill>
                <a:highlight>
                  <a:srgbClr val="FFFF00"/>
                </a:highlight>
                <a:latin typeface="+mn-ea"/>
              </a:rPr>
              <a:t>选中某区域可以可视化查询</a:t>
            </a:r>
            <a:r>
              <a:rPr lang="zh-CN" altLang="en-US" sz="1800" b="0" i="0" dirty="0">
                <a:solidFill>
                  <a:srgbClr val="4B5C78"/>
                </a:solidFill>
                <a:latin typeface="+mn-ea"/>
              </a:rPr>
              <a:t>该区域某时段的</a:t>
            </a:r>
            <a:r>
              <a:rPr lang="zh-CN" altLang="en-US" sz="1800" b="0" i="0" dirty="0">
                <a:solidFill>
                  <a:srgbClr val="4B5C78"/>
                </a:solidFill>
                <a:highlight>
                  <a:srgbClr val="FFFF00"/>
                </a:highlight>
                <a:latin typeface="+mn-ea"/>
              </a:rPr>
              <a:t>污染热力图分布</a:t>
            </a:r>
            <a:r>
              <a:rPr lang="zh-CN" altLang="en-US" sz="1800" b="0" i="0" dirty="0">
                <a:solidFill>
                  <a:srgbClr val="4B5C78"/>
                </a:solidFill>
                <a:latin typeface="+mn-ea"/>
              </a:rPr>
              <a:t>。追究污染责任 (法律与管理层面)。</a:t>
            </a:r>
            <a:endParaRPr lang="zh-CN" altLang="en-US" sz="1800" b="0" i="0" dirty="0">
              <a:solidFill>
                <a:srgbClr val="4B5C78"/>
              </a:solidFill>
              <a:latin typeface="+mn-ea"/>
            </a:endParaRPr>
          </a:p>
          <a:p>
            <a:pPr marL="285750" indent="-285750" algn="l">
              <a:lnSpc>
                <a:spcPct val="150000"/>
              </a:lnSpc>
              <a:spcBef>
                <a:spcPts val="100"/>
              </a:spcBef>
              <a:buClrTx/>
              <a:buSzPct val="90000"/>
              <a:buFont typeface="Wingdings" panose="05000000000000000000" charset="0"/>
              <a:buChar char="n"/>
              <a:defRPr/>
            </a:pPr>
            <a:r>
              <a:rPr lang="zh-CN" altLang="en-US" sz="1800" b="0" i="0" dirty="0">
                <a:solidFill>
                  <a:srgbClr val="4B5C78"/>
                </a:solidFill>
                <a:latin typeface="+mn-ea"/>
              </a:rPr>
              <a:t>选中监测点可以</a:t>
            </a:r>
            <a:r>
              <a:rPr lang="zh-CN" altLang="en-US" sz="1800" b="0" i="0" dirty="0">
                <a:solidFill>
                  <a:srgbClr val="4B5C78"/>
                </a:solidFill>
                <a:highlight>
                  <a:srgbClr val="FFFF00"/>
                </a:highlight>
                <a:latin typeface="+mn-ea"/>
              </a:rPr>
              <a:t>从时间维度</a:t>
            </a:r>
            <a:r>
              <a:rPr lang="zh-CN" altLang="en-US" sz="1800" b="0" i="0" dirty="0">
                <a:solidFill>
                  <a:srgbClr val="4B5C78"/>
                </a:solidFill>
                <a:latin typeface="+mn-ea"/>
              </a:rPr>
              <a:t>上可视化其微塑料</a:t>
            </a:r>
            <a:r>
              <a:rPr lang="zh-CN" altLang="en-US" sz="1800" b="0" i="0" dirty="0">
                <a:solidFill>
                  <a:srgbClr val="4B5C78"/>
                </a:solidFill>
                <a:highlight>
                  <a:srgbClr val="FFFF00"/>
                </a:highlight>
                <a:latin typeface="+mn-ea"/>
              </a:rPr>
              <a:t>污染程度起伏</a:t>
            </a:r>
            <a:r>
              <a:rPr lang="zh-CN" altLang="en-US" sz="1800" b="0" i="0" dirty="0">
                <a:solidFill>
                  <a:srgbClr val="4B5C78"/>
                </a:solidFill>
                <a:latin typeface="+mn-ea"/>
              </a:rPr>
              <a:t>。</a:t>
            </a:r>
            <a:endParaRPr lang="zh-CN" altLang="en-US" sz="1800" b="0" i="0" dirty="0">
              <a:solidFill>
                <a:srgbClr val="4B5C78"/>
              </a:solidFill>
              <a:latin typeface="+mn-ea"/>
            </a:endParaRPr>
          </a:p>
          <a:p>
            <a:pPr marL="285750" indent="-285750" algn="l">
              <a:lnSpc>
                <a:spcPct val="150000"/>
              </a:lnSpc>
              <a:spcBef>
                <a:spcPts val="100"/>
              </a:spcBef>
              <a:buClrTx/>
              <a:buSzPct val="90000"/>
              <a:buFont typeface="Wingdings" panose="05000000000000000000" charset="0"/>
              <a:buChar char="n"/>
              <a:defRPr/>
            </a:pPr>
            <a:r>
              <a:rPr lang="zh-CN" altLang="en-US" sz="1800" b="0" i="0" dirty="0">
                <a:solidFill>
                  <a:srgbClr val="4B5C78"/>
                </a:solidFill>
                <a:latin typeface="+mn-ea"/>
              </a:rPr>
              <a:t>选中监测点可以</a:t>
            </a:r>
            <a:r>
              <a:rPr lang="zh-CN" altLang="en-US" sz="1800" b="0" i="0" dirty="0">
                <a:solidFill>
                  <a:srgbClr val="4B5C78"/>
                </a:solidFill>
                <a:highlight>
                  <a:srgbClr val="FFFF00"/>
                </a:highlight>
                <a:latin typeface="+mn-ea"/>
              </a:rPr>
              <a:t>查看各种可能影响因素</a:t>
            </a:r>
            <a:r>
              <a:rPr lang="zh-CN" altLang="en-US" sz="1800" b="0" i="0" dirty="0">
                <a:solidFill>
                  <a:srgbClr val="4B5C78"/>
                </a:solidFill>
                <a:latin typeface="+mn-ea"/>
              </a:rPr>
              <a:t>的柱状图以及影响权重饼状图。</a:t>
            </a:r>
            <a:endParaRPr lang="zh-CN" altLang="en-US" sz="1800" b="0" i="0" dirty="0">
              <a:solidFill>
                <a:srgbClr val="4B5C78"/>
              </a:solidFill>
              <a:latin typeface="+mn-ea"/>
            </a:endParaRPr>
          </a:p>
          <a:p>
            <a:pPr marL="285750" indent="-285750" algn="l">
              <a:lnSpc>
                <a:spcPct val="150000"/>
              </a:lnSpc>
              <a:spcBef>
                <a:spcPts val="100"/>
              </a:spcBef>
              <a:buClrTx/>
              <a:buSzPct val="90000"/>
              <a:buFont typeface="Wingdings" panose="05000000000000000000" charset="0"/>
              <a:buChar char="n"/>
              <a:defRPr/>
            </a:pPr>
            <a:r>
              <a:rPr lang="zh-CN" altLang="en-US" sz="1800" b="0" i="0" dirty="0">
                <a:solidFill>
                  <a:srgbClr val="4B5C78"/>
                </a:solidFill>
                <a:latin typeface="+mn-ea"/>
              </a:rPr>
              <a:t>可以</a:t>
            </a:r>
            <a:r>
              <a:rPr lang="zh-CN" altLang="en-US" sz="1800" b="0" i="0" dirty="0">
                <a:solidFill>
                  <a:srgbClr val="4B5C78"/>
                </a:solidFill>
                <a:highlight>
                  <a:srgbClr val="FFFF00"/>
                </a:highlight>
                <a:latin typeface="+mn-ea"/>
              </a:rPr>
              <a:t>观察指定污染事件发生之后</a:t>
            </a:r>
            <a:r>
              <a:rPr lang="zh-CN" altLang="en-US" sz="1800" b="0" i="0" dirty="0">
                <a:solidFill>
                  <a:srgbClr val="4B5C78"/>
                </a:solidFill>
                <a:latin typeface="+mn-ea"/>
              </a:rPr>
              <a:t>周边观测点的</a:t>
            </a:r>
            <a:r>
              <a:rPr lang="zh-CN" altLang="en-US" sz="1800" b="0" i="0" dirty="0">
                <a:solidFill>
                  <a:srgbClr val="4B5C78"/>
                </a:solidFill>
                <a:highlight>
                  <a:srgbClr val="FFFF00"/>
                </a:highlight>
                <a:latin typeface="+mn-ea"/>
              </a:rPr>
              <a:t>污染程度</a:t>
            </a:r>
            <a:r>
              <a:rPr lang="zh-CN" altLang="en-US" sz="1800" b="0" i="0" dirty="0">
                <a:solidFill>
                  <a:srgbClr val="4B5C78"/>
                </a:solidFill>
                <a:latin typeface="+mn-ea"/>
              </a:rPr>
              <a:t>动态变化过程。</a:t>
            </a:r>
            <a:endParaRPr lang="zh-CN" altLang="en-US" sz="1800" b="0" i="0" dirty="0">
              <a:solidFill>
                <a:srgbClr val="4B5C78"/>
              </a:solidFill>
              <a:latin typeface="+mn-ea"/>
            </a:endParaRPr>
          </a:p>
        </p:txBody>
      </p:sp>
      <p:sp>
        <p:nvSpPr>
          <p:cNvPr id="4" name="矩形 3"/>
          <p:cNvSpPr/>
          <p:nvPr/>
        </p:nvSpPr>
        <p:spPr>
          <a:xfrm>
            <a:off x="929640" y="4773295"/>
            <a:ext cx="5090160" cy="1670050"/>
          </a:xfrm>
          <a:prstGeom prst="rect">
            <a:avLst/>
          </a:prstGeom>
          <a:solidFill>
            <a:schemeClr val="bg1">
              <a:lumMod val="85000"/>
            </a:schemeClr>
          </a:solidFill>
          <a:ln w="31750">
            <a:solidFill>
              <a:srgbClr val="4B5C78"/>
            </a:solidFill>
          </a:ln>
          <a:effectLst>
            <a:outerShdw blurRad="317500" dist="38100" dir="8100000" sx="102000" sy="102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mn-cs"/>
            </a:endParaRPr>
          </a:p>
        </p:txBody>
      </p:sp>
      <p:sp>
        <p:nvSpPr>
          <p:cNvPr id="7" name="文本框 6"/>
          <p:cNvSpPr txBox="1"/>
          <p:nvPr/>
        </p:nvSpPr>
        <p:spPr>
          <a:xfrm>
            <a:off x="1122680" y="1581150"/>
            <a:ext cx="3963035" cy="73723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accent1">
                    <a:lumMod val="75000"/>
                  </a:schemeClr>
                </a:solidFill>
                <a:effectLst/>
                <a:uLnTx/>
                <a:uFillTx/>
                <a:latin typeface="+mj-ea"/>
                <a:ea typeface="+mj-ea"/>
                <a:cs typeface="+mn-cs"/>
              </a:rPr>
              <a:t>数据库基础功能</a:t>
            </a:r>
            <a:endParaRPr kumimoji="0" lang="zh-CN" altLang="en-US" sz="2800" i="0" u="none" strike="noStrike" kern="1200" cap="none" spc="0" normalizeH="0" baseline="0" noProof="0" dirty="0">
              <a:ln>
                <a:noFill/>
              </a:ln>
              <a:solidFill>
                <a:schemeClr val="accent1">
                  <a:lumMod val="75000"/>
                </a:schemeClr>
              </a:solidFill>
              <a:effectLst/>
              <a:uLnTx/>
              <a:uFillTx/>
              <a:latin typeface="+mj-ea"/>
              <a:ea typeface="+mj-ea"/>
              <a:cs typeface="+mn-cs"/>
            </a:endParaRPr>
          </a:p>
        </p:txBody>
      </p:sp>
      <p:sp>
        <p:nvSpPr>
          <p:cNvPr id="11" name="文本框 10"/>
          <p:cNvSpPr txBox="1"/>
          <p:nvPr/>
        </p:nvSpPr>
        <p:spPr>
          <a:xfrm>
            <a:off x="1268730" y="4720590"/>
            <a:ext cx="4572635" cy="73723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accent1">
                    <a:lumMod val="75000"/>
                  </a:schemeClr>
                </a:solidFill>
                <a:effectLst/>
                <a:uLnTx/>
                <a:uFillTx/>
                <a:latin typeface="+mj-ea"/>
                <a:ea typeface="+mj-ea"/>
                <a:cs typeface="+mn-cs"/>
              </a:rPr>
              <a:t>其他</a:t>
            </a:r>
            <a:endParaRPr kumimoji="0" lang="zh-CN" altLang="en-US" sz="2800" i="0" u="none" strike="noStrike" kern="1200" cap="none" spc="0" normalizeH="0" baseline="0" noProof="0" dirty="0">
              <a:ln>
                <a:noFill/>
              </a:ln>
              <a:solidFill>
                <a:schemeClr val="accent1">
                  <a:lumMod val="75000"/>
                </a:schemeClr>
              </a:solidFill>
              <a:effectLst/>
              <a:uLnTx/>
              <a:uFillTx/>
              <a:latin typeface="+mj-ea"/>
              <a:ea typeface="+mj-ea"/>
              <a:cs typeface="+mn-cs"/>
            </a:endParaRPr>
          </a:p>
        </p:txBody>
      </p:sp>
      <p:sp>
        <p:nvSpPr>
          <p:cNvPr id="12" name="矩形 11"/>
          <p:cNvSpPr/>
          <p:nvPr/>
        </p:nvSpPr>
        <p:spPr>
          <a:xfrm>
            <a:off x="1158240" y="5276850"/>
            <a:ext cx="4704080" cy="1453515"/>
          </a:xfrm>
          <a:prstGeom prst="rect">
            <a:avLst/>
          </a:prstGeom>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l" defTabSz="914400">
              <a:lnSpc>
                <a:spcPct val="150000"/>
              </a:lnSpc>
              <a:buSzPct val="90000"/>
              <a:buFont typeface="Wingdings" panose="05000000000000000000" charset="0"/>
              <a:buChar char="n"/>
              <a:defRPr/>
            </a:pPr>
            <a:r>
              <a:rPr lang="zh-CN" altLang="en-US" dirty="0">
                <a:solidFill>
                  <a:srgbClr val="4B5C78"/>
                </a:solidFill>
                <a:latin typeface="+mn-ea"/>
              </a:rPr>
              <a:t>高并发读取（可视化前端频繁调用）；</a:t>
            </a:r>
            <a:endParaRPr lang="zh-CN" altLang="en-US" dirty="0">
              <a:solidFill>
                <a:srgbClr val="4B5C78"/>
              </a:solidFill>
              <a:latin typeface="+mn-ea"/>
            </a:endParaRPr>
          </a:p>
          <a:p>
            <a:pPr marL="285750" indent="-285750" algn="l" defTabSz="914400">
              <a:lnSpc>
                <a:spcPct val="150000"/>
              </a:lnSpc>
              <a:buSzPct val="90000"/>
              <a:buFont typeface="Wingdings" panose="05000000000000000000" charset="0"/>
              <a:buChar char="n"/>
              <a:defRPr/>
            </a:pPr>
            <a:r>
              <a:rPr lang="zh-CN" altLang="en-US" dirty="0">
                <a:solidFill>
                  <a:srgbClr val="4B5C78"/>
                </a:solidFill>
                <a:latin typeface="+mn-ea"/>
              </a:rPr>
              <a:t>数据安全性（敏感地理位置加密存储）。</a:t>
            </a:r>
            <a:endParaRPr lang="zh-CN" altLang="en-US" dirty="0">
              <a:solidFill>
                <a:srgbClr val="4B5C78"/>
              </a:solidFill>
              <a:latin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186A7">
            <a:alpha val="5000"/>
          </a:srgbClr>
        </a:solidFill>
        <a:effectLst/>
      </p:bgPr>
    </p:bg>
    <p:spTree>
      <p:nvGrpSpPr>
        <p:cNvPr id="1" name=""/>
        <p:cNvGrpSpPr/>
        <p:nvPr/>
      </p:nvGrpSpPr>
      <p:grpSpPr>
        <a:xfrm>
          <a:off x="0" y="0"/>
          <a:ext cx="0" cy="0"/>
          <a:chOff x="0" y="0"/>
          <a:chExt cx="0" cy="0"/>
        </a:xfrm>
      </p:grpSpPr>
      <p:sp>
        <p:nvSpPr>
          <p:cNvPr id="18" name="文本框 17"/>
          <p:cNvSpPr txBox="1"/>
          <p:nvPr/>
        </p:nvSpPr>
        <p:spPr>
          <a:xfrm>
            <a:off x="800100" y="368196"/>
            <a:ext cx="3784729" cy="7067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300" normalizeH="0" baseline="0" noProof="0" dirty="0">
                <a:ln>
                  <a:noFill/>
                </a:ln>
                <a:solidFill>
                  <a:srgbClr val="4B5C78"/>
                </a:solidFill>
                <a:effectLst/>
                <a:uLnTx/>
                <a:uFillTx/>
                <a:latin typeface="+mj-ea"/>
                <a:ea typeface="+mj-ea"/>
                <a:cs typeface="+mn-cs"/>
              </a:rPr>
              <a:t>系统核心实体</a:t>
            </a:r>
            <a:endParaRPr kumimoji="0" lang="zh-CN" altLang="en-US" sz="4000" i="0" u="none" strike="noStrike" kern="1200" cap="none" spc="300" normalizeH="0" baseline="0" noProof="0" dirty="0">
              <a:ln>
                <a:noFill/>
              </a:ln>
              <a:solidFill>
                <a:srgbClr val="4B5C78"/>
              </a:solidFill>
              <a:effectLst/>
              <a:uLnTx/>
              <a:uFillTx/>
              <a:latin typeface="+mj-ea"/>
              <a:ea typeface="+mj-ea"/>
              <a:cs typeface="+mn-cs"/>
            </a:endParaRPr>
          </a:p>
        </p:txBody>
      </p:sp>
      <p:sp>
        <p:nvSpPr>
          <p:cNvPr id="19" name="文本框 18"/>
          <p:cNvSpPr txBox="1"/>
          <p:nvPr/>
        </p:nvSpPr>
        <p:spPr>
          <a:xfrm>
            <a:off x="800101" y="976078"/>
            <a:ext cx="3505598" cy="33718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alpha val="80000"/>
                  </a:schemeClr>
                </a:solidFill>
                <a:effectLst/>
                <a:uLnTx/>
                <a:uFillTx/>
                <a:latin typeface="+mn-ea"/>
                <a:cs typeface="+mn-cs"/>
              </a:rPr>
              <a:t>system component</a:t>
            </a:r>
            <a:endParaRPr kumimoji="0" lang="en-US" altLang="zh-CN" sz="1600" b="0" i="0" u="none" strike="noStrike" kern="1200" cap="none" spc="0" normalizeH="0" baseline="0" noProof="0" dirty="0">
              <a:ln>
                <a:noFill/>
              </a:ln>
              <a:solidFill>
                <a:schemeClr val="accent1">
                  <a:alpha val="80000"/>
                </a:schemeClr>
              </a:solidFill>
              <a:effectLst/>
              <a:uLnTx/>
              <a:uFillTx/>
              <a:latin typeface="+mn-ea"/>
              <a:cs typeface="+mn-cs"/>
            </a:endParaRPr>
          </a:p>
        </p:txBody>
      </p:sp>
      <p:sp>
        <p:nvSpPr>
          <p:cNvPr id="20" name="矩形 19"/>
          <p:cNvSpPr/>
          <p:nvPr/>
        </p:nvSpPr>
        <p:spPr>
          <a:xfrm>
            <a:off x="424193" y="437352"/>
            <a:ext cx="199785" cy="952338"/>
          </a:xfrm>
          <a:prstGeom prst="rect">
            <a:avLst/>
          </a:prstGeom>
          <a:solidFill>
            <a:srgbClr val="4B5C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rot="16200000" flipH="1">
            <a:off x="1522365" y="4978693"/>
            <a:ext cx="231871" cy="3276600"/>
            <a:chOff x="4399082" y="1624876"/>
            <a:chExt cx="231871" cy="3276600"/>
          </a:xfrm>
        </p:grpSpPr>
        <p:cxnSp>
          <p:nvCxnSpPr>
            <p:cNvPr id="29" name="直接连接符 28"/>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5400000" flipH="1">
            <a:off x="10437764" y="-1377843"/>
            <a:ext cx="231871" cy="3276600"/>
            <a:chOff x="4399082" y="1624876"/>
            <a:chExt cx="231871" cy="3276600"/>
          </a:xfrm>
        </p:grpSpPr>
        <p:cxnSp>
          <p:nvCxnSpPr>
            <p:cNvPr id="32" name="直接连接符 31"/>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35" name="图片 34"/>
          <p:cNvPicPr>
            <a:picLocks noChangeAspect="1"/>
          </p:cNvPicPr>
          <p:nvPr/>
        </p:nvPicPr>
        <p:blipFill>
          <a:blip r:embed="rId1" cstate="print">
            <a:alphaModFix amt="56000"/>
          </a:blip>
          <a:stretch>
            <a:fillRect/>
          </a:stretch>
        </p:blipFill>
        <p:spPr>
          <a:xfrm>
            <a:off x="9466368" y="5680149"/>
            <a:ext cx="2563707" cy="1302462"/>
          </a:xfrm>
          <a:prstGeom prst="rect">
            <a:avLst/>
          </a:prstGeom>
        </p:spPr>
      </p:pic>
      <p:grpSp>
        <p:nvGrpSpPr>
          <p:cNvPr id="25" name="组合 24"/>
          <p:cNvGrpSpPr/>
          <p:nvPr/>
        </p:nvGrpSpPr>
        <p:grpSpPr>
          <a:xfrm>
            <a:off x="2331720" y="1913255"/>
            <a:ext cx="2252980" cy="1807845"/>
            <a:chOff x="1613" y="3154"/>
            <a:chExt cx="3127" cy="2847"/>
          </a:xfrm>
        </p:grpSpPr>
        <p:sp>
          <p:nvSpPr>
            <p:cNvPr id="21" name="矩形 20"/>
            <p:cNvSpPr/>
            <p:nvPr/>
          </p:nvSpPr>
          <p:spPr>
            <a:xfrm>
              <a:off x="1613" y="3154"/>
              <a:ext cx="2849" cy="555"/>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矩形 21"/>
            <p:cNvSpPr/>
            <p:nvPr/>
          </p:nvSpPr>
          <p:spPr>
            <a:xfrm>
              <a:off x="1613" y="3709"/>
              <a:ext cx="2849" cy="2292"/>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2252" y="3154"/>
              <a:ext cx="2363" cy="580"/>
            </a:xfrm>
            <a:prstGeom prst="rect">
              <a:avLst/>
            </a:prstGeom>
            <a:noFill/>
          </p:spPr>
          <p:txBody>
            <a:bodyPr wrap="square" rtlCol="0">
              <a:spAutoFit/>
            </a:bodyPr>
            <a:p>
              <a:r>
                <a:rPr lang="zh-CN" altLang="en-US">
                  <a:latin typeface="华文新魏" panose="02010800040101010101" charset="-122"/>
                  <a:ea typeface="华文新魏" panose="02010800040101010101" charset="-122"/>
                </a:rPr>
                <a:t>监测站</a:t>
              </a:r>
              <a:endParaRPr lang="zh-CN" altLang="en-US">
                <a:latin typeface="华文新魏" panose="02010800040101010101" charset="-122"/>
                <a:ea typeface="华文新魏" panose="02010800040101010101" charset="-122"/>
              </a:endParaRPr>
            </a:p>
          </p:txBody>
        </p:sp>
        <p:sp>
          <p:nvSpPr>
            <p:cNvPr id="24" name="文本框 23"/>
            <p:cNvSpPr txBox="1"/>
            <p:nvPr/>
          </p:nvSpPr>
          <p:spPr>
            <a:xfrm>
              <a:off x="2044" y="3735"/>
              <a:ext cx="2696" cy="2150"/>
            </a:xfrm>
            <a:prstGeom prst="rect">
              <a:avLst/>
            </a:prstGeom>
            <a:noFill/>
          </p:spPr>
          <p:txBody>
            <a:bodyPr wrap="square" rtlCol="0">
              <a:noAutofit/>
            </a:bodyPr>
            <a:p>
              <a:r>
                <a:rPr lang="en-US" altLang="zh-CN">
                  <a:latin typeface="华文新魏" panose="02010800040101010101" charset="-122"/>
                  <a:ea typeface="华文新魏" panose="02010800040101010101" charset="-122"/>
                </a:rPr>
                <a:t>StationID(</a:t>
              </a:r>
              <a:r>
                <a:rPr lang="zh-CN" altLang="en-US">
                  <a:latin typeface="华文新魏" panose="02010800040101010101" charset="-122"/>
                  <a:ea typeface="华文新魏" panose="02010800040101010101" charset="-122"/>
                </a:rPr>
                <a:t>主键</a:t>
              </a:r>
              <a:r>
                <a:rPr lang="en-US" altLang="zh-CN">
                  <a:latin typeface="华文新魏" panose="02010800040101010101" charset="-122"/>
                  <a:ea typeface="华文新魏" panose="02010800040101010101" charset="-122"/>
                </a:rPr>
                <a:t>)</a:t>
              </a:r>
              <a:endParaRPr lang="en-US" altLang="zh-CN">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经度</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纬度</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所属海域</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部署深度</a:t>
              </a:r>
              <a:endParaRPr lang="zh-CN" altLang="en-US">
                <a:latin typeface="华文新魏" panose="02010800040101010101" charset="-122"/>
                <a:ea typeface="华文新魏" panose="02010800040101010101" charset="-122"/>
              </a:endParaRPr>
            </a:p>
          </p:txBody>
        </p:sp>
      </p:grpSp>
      <p:grpSp>
        <p:nvGrpSpPr>
          <p:cNvPr id="26" name="组合 25"/>
          <p:cNvGrpSpPr/>
          <p:nvPr>
            <p:custDataLst>
              <p:tags r:id="rId2"/>
            </p:custDataLst>
          </p:nvPr>
        </p:nvGrpSpPr>
        <p:grpSpPr>
          <a:xfrm>
            <a:off x="7377430" y="1871345"/>
            <a:ext cx="2471420" cy="1849755"/>
            <a:chOff x="1613" y="3129"/>
            <a:chExt cx="3127" cy="2872"/>
          </a:xfrm>
        </p:grpSpPr>
        <p:sp>
          <p:nvSpPr>
            <p:cNvPr id="27" name="矩形 26"/>
            <p:cNvSpPr/>
            <p:nvPr>
              <p:custDataLst>
                <p:tags r:id="rId3"/>
              </p:custDataLst>
            </p:nvPr>
          </p:nvSpPr>
          <p:spPr>
            <a:xfrm>
              <a:off x="1613" y="3154"/>
              <a:ext cx="2849" cy="555"/>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矩形 33"/>
            <p:cNvSpPr/>
            <p:nvPr>
              <p:custDataLst>
                <p:tags r:id="rId4"/>
              </p:custDataLst>
            </p:nvPr>
          </p:nvSpPr>
          <p:spPr>
            <a:xfrm>
              <a:off x="1613" y="3709"/>
              <a:ext cx="2849" cy="2292"/>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文本框 35"/>
            <p:cNvSpPr txBox="1"/>
            <p:nvPr>
              <p:custDataLst>
                <p:tags r:id="rId5"/>
              </p:custDataLst>
            </p:nvPr>
          </p:nvSpPr>
          <p:spPr>
            <a:xfrm>
              <a:off x="1947" y="3129"/>
              <a:ext cx="2363" cy="572"/>
            </a:xfrm>
            <a:prstGeom prst="rect">
              <a:avLst/>
            </a:prstGeom>
            <a:noFill/>
          </p:spPr>
          <p:txBody>
            <a:bodyPr wrap="square" rtlCol="0">
              <a:spAutoFit/>
            </a:bodyPr>
            <a:p>
              <a:r>
                <a:rPr lang="zh-CN" altLang="en-US">
                  <a:latin typeface="华文新魏" panose="02010800040101010101" charset="-122"/>
                  <a:ea typeface="华文新魏" panose="02010800040101010101" charset="-122"/>
                </a:rPr>
                <a:t>传感器设备</a:t>
              </a:r>
              <a:endParaRPr lang="zh-CN" altLang="en-US">
                <a:latin typeface="华文新魏" panose="02010800040101010101" charset="-122"/>
                <a:ea typeface="华文新魏" panose="02010800040101010101" charset="-122"/>
              </a:endParaRPr>
            </a:p>
          </p:txBody>
        </p:sp>
        <p:sp>
          <p:nvSpPr>
            <p:cNvPr id="37" name="文本框 36"/>
            <p:cNvSpPr txBox="1"/>
            <p:nvPr>
              <p:custDataLst>
                <p:tags r:id="rId6"/>
              </p:custDataLst>
            </p:nvPr>
          </p:nvSpPr>
          <p:spPr>
            <a:xfrm>
              <a:off x="2044" y="3735"/>
              <a:ext cx="2696" cy="2150"/>
            </a:xfrm>
            <a:prstGeom prst="rect">
              <a:avLst/>
            </a:prstGeom>
            <a:noFill/>
          </p:spPr>
          <p:txBody>
            <a:bodyPr wrap="square" rtlCol="0">
              <a:noAutofit/>
            </a:bodyPr>
            <a:p>
              <a:r>
                <a:rPr lang="en-US" altLang="zh-CN">
                  <a:latin typeface="华文新魏" panose="02010800040101010101" charset="-122"/>
                  <a:ea typeface="华文新魏" panose="02010800040101010101" charset="-122"/>
                </a:rPr>
                <a:t>SensorID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1)</a:t>
              </a:r>
              <a:endParaRPr lang="en-US" altLang="zh-CN">
                <a:latin typeface="华文新魏" panose="02010800040101010101" charset="-122"/>
                <a:ea typeface="华文新魏" panose="02010800040101010101" charset="-122"/>
              </a:endParaRPr>
            </a:p>
            <a:p>
              <a:r>
                <a:rPr lang="en-US" altLang="zh-CN">
                  <a:latin typeface="华文新魏" panose="02010800040101010101" charset="-122"/>
                  <a:ea typeface="华文新魏" panose="02010800040101010101" charset="-122"/>
                </a:rPr>
                <a:t>StationID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2)</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类型</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工作状态</a:t>
              </a:r>
              <a:endParaRPr lang="zh-CN" altLang="en-US">
                <a:latin typeface="华文新魏" panose="02010800040101010101" charset="-122"/>
                <a:ea typeface="华文新魏" panose="02010800040101010101" charset="-122"/>
              </a:endParaRPr>
            </a:p>
          </p:txBody>
        </p:sp>
      </p:grpSp>
      <p:sp>
        <p:nvSpPr>
          <p:cNvPr id="54" name="文本框 53"/>
          <p:cNvSpPr txBox="1"/>
          <p:nvPr/>
        </p:nvSpPr>
        <p:spPr>
          <a:xfrm>
            <a:off x="2048510" y="4262755"/>
            <a:ext cx="2665095" cy="645160"/>
          </a:xfrm>
          <a:prstGeom prst="rect">
            <a:avLst/>
          </a:prstGeom>
          <a:noFill/>
        </p:spPr>
        <p:txBody>
          <a:bodyPr wrap="square" rtlCol="0">
            <a:spAutoFit/>
          </a:bodyPr>
          <a:p>
            <a:r>
              <a:rPr lang="zh-CN" altLang="en-US">
                <a:latin typeface="华文新魏" panose="02010800040101010101" charset="-122"/>
                <a:ea typeface="华文新魏" panose="02010800040101010101" charset="-122"/>
                <a:cs typeface="华文新魏" panose="02010800040101010101" charset="-122"/>
              </a:rPr>
              <a:t>记录监测站点的地理信息，</a:t>
            </a:r>
            <a:r>
              <a:rPr lang="en-US" altLang="zh-CN">
                <a:latin typeface="华文新魏" panose="02010800040101010101" charset="-122"/>
                <a:ea typeface="华文新魏" panose="02010800040101010101" charset="-122"/>
                <a:cs typeface="华文新魏" panose="02010800040101010101" charset="-122"/>
              </a:rPr>
              <a:t>Station_ID</a:t>
            </a:r>
            <a:r>
              <a:rPr lang="zh-CN" altLang="en-US">
                <a:latin typeface="华文新魏" panose="02010800040101010101" charset="-122"/>
                <a:ea typeface="华文新魏" panose="02010800040101010101" charset="-122"/>
                <a:cs typeface="华文新魏" panose="02010800040101010101" charset="-122"/>
              </a:rPr>
              <a:t>作为主键。</a:t>
            </a:r>
            <a:endParaRPr lang="zh-CN" altLang="en-US">
              <a:latin typeface="华文新魏" panose="02010800040101010101" charset="-122"/>
              <a:ea typeface="华文新魏" panose="02010800040101010101" charset="-122"/>
              <a:cs typeface="华文新魏" panose="02010800040101010101" charset="-122"/>
            </a:endParaRPr>
          </a:p>
        </p:txBody>
      </p:sp>
      <p:sp>
        <p:nvSpPr>
          <p:cNvPr id="55" name="文本框 54"/>
          <p:cNvSpPr txBox="1"/>
          <p:nvPr/>
        </p:nvSpPr>
        <p:spPr>
          <a:xfrm>
            <a:off x="6830695" y="4257040"/>
            <a:ext cx="3018155" cy="922020"/>
          </a:xfrm>
          <a:prstGeom prst="rect">
            <a:avLst/>
          </a:prstGeom>
          <a:noFill/>
        </p:spPr>
        <p:txBody>
          <a:bodyPr wrap="square" rtlCol="0">
            <a:spAutoFit/>
          </a:bodyPr>
          <a:p>
            <a:r>
              <a:rPr lang="zh-CN" altLang="en-US">
                <a:latin typeface="华文新魏" panose="02010800040101010101" charset="-122"/>
                <a:ea typeface="华文新魏" panose="02010800040101010101" charset="-122"/>
                <a:cs typeface="华文新魏" panose="02010800040101010101" charset="-122"/>
              </a:rPr>
              <a:t>记录传感器设备的设备信息，</a:t>
            </a:r>
            <a:r>
              <a:rPr lang="en-US" altLang="zh-CN">
                <a:latin typeface="华文新魏" panose="02010800040101010101" charset="-122"/>
                <a:ea typeface="华文新魏" panose="02010800040101010101" charset="-122"/>
                <a:cs typeface="华文新魏" panose="02010800040101010101" charset="-122"/>
              </a:rPr>
              <a:t>Sensor_ID</a:t>
            </a:r>
            <a:r>
              <a:rPr lang="zh-CN" altLang="en-US">
                <a:latin typeface="华文新魏" panose="02010800040101010101" charset="-122"/>
                <a:ea typeface="华文新魏" panose="02010800040101010101" charset="-122"/>
                <a:cs typeface="华文新魏" panose="02010800040101010101" charset="-122"/>
              </a:rPr>
              <a:t>和</a:t>
            </a:r>
            <a:r>
              <a:rPr lang="en-US" altLang="zh-CN">
                <a:latin typeface="华文新魏" panose="02010800040101010101" charset="-122"/>
                <a:ea typeface="华文新魏" panose="02010800040101010101" charset="-122"/>
                <a:cs typeface="华文新魏" panose="02010800040101010101" charset="-122"/>
              </a:rPr>
              <a:t>Station_ID</a:t>
            </a:r>
            <a:r>
              <a:rPr lang="zh-CN" altLang="en-US">
                <a:latin typeface="华文新魏" panose="02010800040101010101" charset="-122"/>
                <a:ea typeface="华文新魏" panose="02010800040101010101" charset="-122"/>
                <a:cs typeface="华文新魏" panose="02010800040101010101" charset="-122"/>
              </a:rPr>
              <a:t>共同构成主键。</a:t>
            </a:r>
            <a:endParaRPr lang="zh-CN" altLang="en-US">
              <a:latin typeface="华文新魏" panose="02010800040101010101" charset="-122"/>
              <a:ea typeface="华文新魏" panose="02010800040101010101" charset="-122"/>
              <a:cs typeface="华文新魏" panose="0201080004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186A7">
            <a:alpha val="5000"/>
          </a:srgbClr>
        </a:solidFill>
        <a:effectLst/>
      </p:bgPr>
    </p:bg>
    <p:spTree>
      <p:nvGrpSpPr>
        <p:cNvPr id="1" name=""/>
        <p:cNvGrpSpPr/>
        <p:nvPr/>
      </p:nvGrpSpPr>
      <p:grpSpPr>
        <a:xfrm>
          <a:off x="0" y="0"/>
          <a:ext cx="0" cy="0"/>
          <a:chOff x="0" y="0"/>
          <a:chExt cx="0" cy="0"/>
        </a:xfrm>
      </p:grpSpPr>
      <p:sp>
        <p:nvSpPr>
          <p:cNvPr id="18" name="文本框 17"/>
          <p:cNvSpPr txBox="1"/>
          <p:nvPr/>
        </p:nvSpPr>
        <p:spPr>
          <a:xfrm>
            <a:off x="800100" y="368196"/>
            <a:ext cx="3784729" cy="7067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300" normalizeH="0" baseline="0" noProof="0" dirty="0">
                <a:ln>
                  <a:noFill/>
                </a:ln>
                <a:solidFill>
                  <a:srgbClr val="4B5C78"/>
                </a:solidFill>
                <a:effectLst/>
                <a:uLnTx/>
                <a:uFillTx/>
                <a:latin typeface="+mj-ea"/>
                <a:ea typeface="+mj-ea"/>
                <a:cs typeface="+mn-cs"/>
              </a:rPr>
              <a:t>系统核心实体</a:t>
            </a:r>
            <a:endParaRPr kumimoji="0" lang="zh-CN" altLang="en-US" sz="4000" i="0" u="none" strike="noStrike" kern="1200" cap="none" spc="300" normalizeH="0" baseline="0" noProof="0" dirty="0">
              <a:ln>
                <a:noFill/>
              </a:ln>
              <a:solidFill>
                <a:srgbClr val="4B5C78"/>
              </a:solidFill>
              <a:effectLst/>
              <a:uLnTx/>
              <a:uFillTx/>
              <a:latin typeface="+mj-ea"/>
              <a:ea typeface="+mj-ea"/>
              <a:cs typeface="+mn-cs"/>
            </a:endParaRPr>
          </a:p>
        </p:txBody>
      </p:sp>
      <p:sp>
        <p:nvSpPr>
          <p:cNvPr id="19" name="文本框 18"/>
          <p:cNvSpPr txBox="1"/>
          <p:nvPr/>
        </p:nvSpPr>
        <p:spPr>
          <a:xfrm>
            <a:off x="800101" y="976078"/>
            <a:ext cx="3505598" cy="33718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alpha val="80000"/>
                  </a:schemeClr>
                </a:solidFill>
                <a:effectLst/>
                <a:uLnTx/>
                <a:uFillTx/>
                <a:latin typeface="+mn-ea"/>
                <a:cs typeface="+mn-cs"/>
              </a:rPr>
              <a:t>system component</a:t>
            </a:r>
            <a:endParaRPr kumimoji="0" lang="en-US" altLang="zh-CN" sz="1600" b="0" i="0" u="none" strike="noStrike" kern="1200" cap="none" spc="0" normalizeH="0" baseline="0" noProof="0" dirty="0">
              <a:ln>
                <a:noFill/>
              </a:ln>
              <a:solidFill>
                <a:schemeClr val="accent1">
                  <a:alpha val="80000"/>
                </a:schemeClr>
              </a:solidFill>
              <a:effectLst/>
              <a:uLnTx/>
              <a:uFillTx/>
              <a:latin typeface="+mn-ea"/>
              <a:cs typeface="+mn-cs"/>
            </a:endParaRPr>
          </a:p>
        </p:txBody>
      </p:sp>
      <p:sp>
        <p:nvSpPr>
          <p:cNvPr id="20" name="矩形 19"/>
          <p:cNvSpPr/>
          <p:nvPr/>
        </p:nvSpPr>
        <p:spPr>
          <a:xfrm>
            <a:off x="424193" y="437352"/>
            <a:ext cx="199785" cy="952338"/>
          </a:xfrm>
          <a:prstGeom prst="rect">
            <a:avLst/>
          </a:prstGeom>
          <a:solidFill>
            <a:srgbClr val="4B5C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rot="16200000" flipH="1">
            <a:off x="1522365" y="4978693"/>
            <a:ext cx="231871" cy="3276600"/>
            <a:chOff x="4399082" y="1624876"/>
            <a:chExt cx="231871" cy="3276600"/>
          </a:xfrm>
        </p:grpSpPr>
        <p:cxnSp>
          <p:nvCxnSpPr>
            <p:cNvPr id="29" name="直接连接符 28"/>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5400000" flipH="1">
            <a:off x="10437764" y="-1377843"/>
            <a:ext cx="231871" cy="3276600"/>
            <a:chOff x="4399082" y="1624876"/>
            <a:chExt cx="231871" cy="3276600"/>
          </a:xfrm>
        </p:grpSpPr>
        <p:cxnSp>
          <p:nvCxnSpPr>
            <p:cNvPr id="32" name="直接连接符 31"/>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35" name="图片 34"/>
          <p:cNvPicPr>
            <a:picLocks noChangeAspect="1"/>
          </p:cNvPicPr>
          <p:nvPr/>
        </p:nvPicPr>
        <p:blipFill>
          <a:blip r:embed="rId1" cstate="print">
            <a:alphaModFix amt="56000"/>
          </a:blip>
          <a:stretch>
            <a:fillRect/>
          </a:stretch>
        </p:blipFill>
        <p:spPr>
          <a:xfrm>
            <a:off x="9466368" y="5680149"/>
            <a:ext cx="2563707" cy="1302462"/>
          </a:xfrm>
          <a:prstGeom prst="rect">
            <a:avLst/>
          </a:prstGeom>
        </p:spPr>
      </p:pic>
      <p:grpSp>
        <p:nvGrpSpPr>
          <p:cNvPr id="38" name="组合 37"/>
          <p:cNvGrpSpPr/>
          <p:nvPr>
            <p:custDataLst>
              <p:tags r:id="rId2"/>
            </p:custDataLst>
          </p:nvPr>
        </p:nvGrpSpPr>
        <p:grpSpPr>
          <a:xfrm>
            <a:off x="1285875" y="1511300"/>
            <a:ext cx="2776855" cy="1823720"/>
            <a:chOff x="1613" y="3129"/>
            <a:chExt cx="3594" cy="2872"/>
          </a:xfrm>
        </p:grpSpPr>
        <p:sp>
          <p:nvSpPr>
            <p:cNvPr id="39" name="矩形 38"/>
            <p:cNvSpPr/>
            <p:nvPr>
              <p:custDataLst>
                <p:tags r:id="rId3"/>
              </p:custDataLst>
            </p:nvPr>
          </p:nvSpPr>
          <p:spPr>
            <a:xfrm>
              <a:off x="1613" y="3154"/>
              <a:ext cx="2849" cy="555"/>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矩形 39"/>
            <p:cNvSpPr/>
            <p:nvPr>
              <p:custDataLst>
                <p:tags r:id="rId4"/>
              </p:custDataLst>
            </p:nvPr>
          </p:nvSpPr>
          <p:spPr>
            <a:xfrm>
              <a:off x="1613" y="3709"/>
              <a:ext cx="2849" cy="2292"/>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文本框 40"/>
            <p:cNvSpPr txBox="1"/>
            <p:nvPr>
              <p:custDataLst>
                <p:tags r:id="rId5"/>
              </p:custDataLst>
            </p:nvPr>
          </p:nvSpPr>
          <p:spPr>
            <a:xfrm>
              <a:off x="1613" y="3129"/>
              <a:ext cx="3594" cy="580"/>
            </a:xfrm>
            <a:prstGeom prst="rect">
              <a:avLst/>
            </a:prstGeom>
            <a:noFill/>
          </p:spPr>
          <p:txBody>
            <a:bodyPr wrap="square" rtlCol="0">
              <a:spAutoFit/>
            </a:bodyPr>
            <a:p>
              <a:r>
                <a:rPr lang="en-US" altLang="zh-CN">
                  <a:latin typeface="华文新魏" panose="02010800040101010101" charset="-122"/>
                  <a:ea typeface="华文新魏" panose="02010800040101010101" charset="-122"/>
                </a:rPr>
                <a:t>    </a:t>
              </a:r>
              <a:r>
                <a:rPr lang="zh-CN" altLang="en-US">
                  <a:latin typeface="华文新魏" panose="02010800040101010101" charset="-122"/>
                  <a:ea typeface="华文新魏" panose="02010800040101010101" charset="-122"/>
                </a:rPr>
                <a:t>温度传感器数据</a:t>
              </a:r>
              <a:endParaRPr lang="zh-CN" altLang="en-US">
                <a:latin typeface="华文新魏" panose="02010800040101010101" charset="-122"/>
                <a:ea typeface="华文新魏" panose="02010800040101010101" charset="-122"/>
              </a:endParaRPr>
            </a:p>
          </p:txBody>
        </p:sp>
        <p:sp>
          <p:nvSpPr>
            <p:cNvPr id="42" name="文本框 41"/>
            <p:cNvSpPr txBox="1"/>
            <p:nvPr>
              <p:custDataLst>
                <p:tags r:id="rId6"/>
              </p:custDataLst>
            </p:nvPr>
          </p:nvSpPr>
          <p:spPr>
            <a:xfrm>
              <a:off x="2044" y="3735"/>
              <a:ext cx="2696" cy="2150"/>
            </a:xfrm>
            <a:prstGeom prst="rect">
              <a:avLst/>
            </a:prstGeom>
            <a:noFill/>
          </p:spPr>
          <p:txBody>
            <a:bodyPr wrap="square" rtlCol="0">
              <a:noAutofit/>
            </a:bodyPr>
            <a:p>
              <a:r>
                <a:rPr lang="en-US" altLang="zh-CN">
                  <a:latin typeface="华文新魏" panose="02010800040101010101" charset="-122"/>
                  <a:ea typeface="华文新魏" panose="02010800040101010101" charset="-122"/>
                </a:rPr>
                <a:t>SensorID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1)</a:t>
              </a:r>
              <a:endParaRPr lang="en-US" altLang="zh-CN">
                <a:latin typeface="华文新魏" panose="02010800040101010101" charset="-122"/>
                <a:ea typeface="华文新魏" panose="02010800040101010101" charset="-122"/>
              </a:endParaRPr>
            </a:p>
            <a:p>
              <a:r>
                <a:rPr lang="en-US" altLang="zh-CN">
                  <a:latin typeface="华文新魏" panose="02010800040101010101" charset="-122"/>
                  <a:ea typeface="华文新魏" panose="02010800040101010101" charset="-122"/>
                </a:rPr>
                <a:t>StationID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2)</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时间</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3)</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温度</a:t>
              </a:r>
              <a:endParaRPr lang="zh-CN" altLang="en-US">
                <a:latin typeface="华文新魏" panose="02010800040101010101" charset="-122"/>
                <a:ea typeface="华文新魏" panose="02010800040101010101" charset="-122"/>
              </a:endParaRPr>
            </a:p>
          </p:txBody>
        </p:sp>
      </p:grpSp>
      <p:grpSp>
        <p:nvGrpSpPr>
          <p:cNvPr id="44" name="组合 43"/>
          <p:cNvGrpSpPr/>
          <p:nvPr>
            <p:custDataLst>
              <p:tags r:id="rId7"/>
            </p:custDataLst>
          </p:nvPr>
        </p:nvGrpSpPr>
        <p:grpSpPr>
          <a:xfrm>
            <a:off x="4348480" y="1245235"/>
            <a:ext cx="2887345" cy="1806575"/>
            <a:chOff x="1613" y="3129"/>
            <a:chExt cx="3594" cy="2872"/>
          </a:xfrm>
        </p:grpSpPr>
        <p:sp>
          <p:nvSpPr>
            <p:cNvPr id="45" name="矩形 44"/>
            <p:cNvSpPr/>
            <p:nvPr>
              <p:custDataLst>
                <p:tags r:id="rId8"/>
              </p:custDataLst>
            </p:nvPr>
          </p:nvSpPr>
          <p:spPr>
            <a:xfrm>
              <a:off x="1613" y="3154"/>
              <a:ext cx="2849" cy="555"/>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矩形 45"/>
            <p:cNvSpPr/>
            <p:nvPr>
              <p:custDataLst>
                <p:tags r:id="rId9"/>
              </p:custDataLst>
            </p:nvPr>
          </p:nvSpPr>
          <p:spPr>
            <a:xfrm>
              <a:off x="1613" y="3709"/>
              <a:ext cx="2849" cy="2292"/>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文本框 46"/>
            <p:cNvSpPr txBox="1"/>
            <p:nvPr>
              <p:custDataLst>
                <p:tags r:id="rId10"/>
              </p:custDataLst>
            </p:nvPr>
          </p:nvSpPr>
          <p:spPr>
            <a:xfrm>
              <a:off x="1613" y="3129"/>
              <a:ext cx="3594" cy="586"/>
            </a:xfrm>
            <a:prstGeom prst="rect">
              <a:avLst/>
            </a:prstGeom>
            <a:noFill/>
          </p:spPr>
          <p:txBody>
            <a:bodyPr wrap="square" rtlCol="0">
              <a:spAutoFit/>
            </a:bodyPr>
            <a:p>
              <a:r>
                <a:rPr lang="en-US" altLang="zh-CN">
                  <a:latin typeface="华文新魏" panose="02010800040101010101" charset="-122"/>
                  <a:ea typeface="华文新魏" panose="02010800040101010101" charset="-122"/>
                </a:rPr>
                <a:t>    </a:t>
              </a:r>
              <a:r>
                <a:rPr lang="zh-CN" altLang="en-US">
                  <a:latin typeface="华文新魏" panose="02010800040101010101" charset="-122"/>
                  <a:ea typeface="华文新魏" panose="02010800040101010101" charset="-122"/>
                </a:rPr>
                <a:t>水流传感器数据</a:t>
              </a:r>
              <a:endParaRPr lang="zh-CN" altLang="en-US">
                <a:latin typeface="华文新魏" panose="02010800040101010101" charset="-122"/>
                <a:ea typeface="华文新魏" panose="02010800040101010101" charset="-122"/>
              </a:endParaRPr>
            </a:p>
          </p:txBody>
        </p:sp>
        <p:sp>
          <p:nvSpPr>
            <p:cNvPr id="48" name="文本框 47"/>
            <p:cNvSpPr txBox="1"/>
            <p:nvPr>
              <p:custDataLst>
                <p:tags r:id="rId11"/>
              </p:custDataLst>
            </p:nvPr>
          </p:nvSpPr>
          <p:spPr>
            <a:xfrm>
              <a:off x="2044" y="3735"/>
              <a:ext cx="2696" cy="2150"/>
            </a:xfrm>
            <a:prstGeom prst="rect">
              <a:avLst/>
            </a:prstGeom>
            <a:noFill/>
          </p:spPr>
          <p:txBody>
            <a:bodyPr wrap="square" rtlCol="0">
              <a:noAutofit/>
            </a:bodyPr>
            <a:p>
              <a:r>
                <a:rPr lang="en-US" altLang="zh-CN">
                  <a:latin typeface="华文新魏" panose="02010800040101010101" charset="-122"/>
                  <a:ea typeface="华文新魏" panose="02010800040101010101" charset="-122"/>
                </a:rPr>
                <a:t>SensorID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1)</a:t>
              </a:r>
              <a:endParaRPr lang="en-US" altLang="zh-CN">
                <a:latin typeface="华文新魏" panose="02010800040101010101" charset="-122"/>
                <a:ea typeface="华文新魏" panose="02010800040101010101" charset="-122"/>
              </a:endParaRPr>
            </a:p>
            <a:p>
              <a:r>
                <a:rPr lang="en-US" altLang="zh-CN">
                  <a:latin typeface="华文新魏" panose="02010800040101010101" charset="-122"/>
                  <a:ea typeface="华文新魏" panose="02010800040101010101" charset="-122"/>
                </a:rPr>
                <a:t>StationID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2)</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时间</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3)</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流速</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流向</a:t>
              </a:r>
              <a:endParaRPr lang="zh-CN" altLang="en-US">
                <a:latin typeface="华文新魏" panose="02010800040101010101" charset="-122"/>
                <a:ea typeface="华文新魏" panose="02010800040101010101" charset="-122"/>
              </a:endParaRPr>
            </a:p>
          </p:txBody>
        </p:sp>
      </p:grpSp>
      <p:grpSp>
        <p:nvGrpSpPr>
          <p:cNvPr id="49" name="组合 48"/>
          <p:cNvGrpSpPr/>
          <p:nvPr>
            <p:custDataLst>
              <p:tags r:id="rId12"/>
            </p:custDataLst>
          </p:nvPr>
        </p:nvGrpSpPr>
        <p:grpSpPr>
          <a:xfrm>
            <a:off x="7637145" y="1454150"/>
            <a:ext cx="2790190" cy="1823720"/>
            <a:chOff x="1613" y="3129"/>
            <a:chExt cx="3594" cy="2872"/>
          </a:xfrm>
        </p:grpSpPr>
        <p:sp>
          <p:nvSpPr>
            <p:cNvPr id="50" name="矩形 49"/>
            <p:cNvSpPr/>
            <p:nvPr>
              <p:custDataLst>
                <p:tags r:id="rId13"/>
              </p:custDataLst>
            </p:nvPr>
          </p:nvSpPr>
          <p:spPr>
            <a:xfrm>
              <a:off x="1613" y="3154"/>
              <a:ext cx="2849" cy="555"/>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矩形 50"/>
            <p:cNvSpPr/>
            <p:nvPr>
              <p:custDataLst>
                <p:tags r:id="rId14"/>
              </p:custDataLst>
            </p:nvPr>
          </p:nvSpPr>
          <p:spPr>
            <a:xfrm>
              <a:off x="1613" y="3709"/>
              <a:ext cx="2849" cy="2292"/>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文本框 51"/>
            <p:cNvSpPr txBox="1"/>
            <p:nvPr>
              <p:custDataLst>
                <p:tags r:id="rId15"/>
              </p:custDataLst>
            </p:nvPr>
          </p:nvSpPr>
          <p:spPr>
            <a:xfrm>
              <a:off x="1613" y="3129"/>
              <a:ext cx="3594" cy="580"/>
            </a:xfrm>
            <a:prstGeom prst="rect">
              <a:avLst/>
            </a:prstGeom>
            <a:noFill/>
          </p:spPr>
          <p:txBody>
            <a:bodyPr wrap="square" rtlCol="0">
              <a:spAutoFit/>
            </a:bodyPr>
            <a:p>
              <a:r>
                <a:rPr lang="en-US" altLang="zh-CN">
                  <a:latin typeface="华文新魏" panose="02010800040101010101" charset="-122"/>
                  <a:ea typeface="华文新魏" panose="02010800040101010101" charset="-122"/>
                </a:rPr>
                <a:t>    </a:t>
              </a:r>
              <a:r>
                <a:rPr lang="zh-CN" altLang="en-US">
                  <a:latin typeface="华文新魏" panose="02010800040101010101" charset="-122"/>
                  <a:ea typeface="华文新魏" panose="02010800040101010101" charset="-122"/>
                </a:rPr>
                <a:t>浓度传感器数据</a:t>
              </a:r>
              <a:endParaRPr lang="zh-CN" altLang="en-US">
                <a:latin typeface="华文新魏" panose="02010800040101010101" charset="-122"/>
                <a:ea typeface="华文新魏" panose="02010800040101010101" charset="-122"/>
              </a:endParaRPr>
            </a:p>
          </p:txBody>
        </p:sp>
        <p:sp>
          <p:nvSpPr>
            <p:cNvPr id="53" name="文本框 52"/>
            <p:cNvSpPr txBox="1"/>
            <p:nvPr>
              <p:custDataLst>
                <p:tags r:id="rId16"/>
              </p:custDataLst>
            </p:nvPr>
          </p:nvSpPr>
          <p:spPr>
            <a:xfrm>
              <a:off x="2044" y="3735"/>
              <a:ext cx="2696" cy="2150"/>
            </a:xfrm>
            <a:prstGeom prst="rect">
              <a:avLst/>
            </a:prstGeom>
            <a:noFill/>
          </p:spPr>
          <p:txBody>
            <a:bodyPr wrap="square" rtlCol="0">
              <a:noAutofit/>
            </a:bodyPr>
            <a:p>
              <a:r>
                <a:rPr lang="en-US" altLang="zh-CN">
                  <a:latin typeface="华文新魏" panose="02010800040101010101" charset="-122"/>
                  <a:ea typeface="华文新魏" panose="02010800040101010101" charset="-122"/>
                </a:rPr>
                <a:t>SensorID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1)</a:t>
              </a:r>
              <a:endParaRPr lang="en-US" altLang="zh-CN">
                <a:latin typeface="华文新魏" panose="02010800040101010101" charset="-122"/>
                <a:ea typeface="华文新魏" panose="02010800040101010101" charset="-122"/>
              </a:endParaRPr>
            </a:p>
            <a:p>
              <a:r>
                <a:rPr lang="en-US" altLang="zh-CN">
                  <a:latin typeface="华文新魏" panose="02010800040101010101" charset="-122"/>
                  <a:ea typeface="华文新魏" panose="02010800040101010101" charset="-122"/>
                </a:rPr>
                <a:t>StationID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2)</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时间</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3)</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微塑料浓度</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盐度</a:t>
              </a:r>
              <a:endParaRPr lang="zh-CN" altLang="en-US">
                <a:latin typeface="华文新魏" panose="02010800040101010101" charset="-122"/>
                <a:ea typeface="华文新魏" panose="02010800040101010101" charset="-122"/>
              </a:endParaRPr>
            </a:p>
          </p:txBody>
        </p:sp>
      </p:grpSp>
      <p:grpSp>
        <p:nvGrpSpPr>
          <p:cNvPr id="3" name="组合 2"/>
          <p:cNvGrpSpPr/>
          <p:nvPr>
            <p:custDataLst>
              <p:tags r:id="rId17"/>
            </p:custDataLst>
          </p:nvPr>
        </p:nvGrpSpPr>
        <p:grpSpPr>
          <a:xfrm>
            <a:off x="4174490" y="3897630"/>
            <a:ext cx="2757805" cy="2538730"/>
            <a:chOff x="1613" y="3137"/>
            <a:chExt cx="2849" cy="2864"/>
          </a:xfrm>
        </p:grpSpPr>
        <p:sp>
          <p:nvSpPr>
            <p:cNvPr id="4" name="矩形 3"/>
            <p:cNvSpPr/>
            <p:nvPr>
              <p:custDataLst>
                <p:tags r:id="rId18"/>
              </p:custDataLst>
            </p:nvPr>
          </p:nvSpPr>
          <p:spPr>
            <a:xfrm>
              <a:off x="1613" y="3154"/>
              <a:ext cx="2849" cy="374"/>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custDataLst>
                <p:tags r:id="rId19"/>
              </p:custDataLst>
            </p:nvPr>
          </p:nvSpPr>
          <p:spPr>
            <a:xfrm>
              <a:off x="1613" y="3528"/>
              <a:ext cx="2849" cy="2473"/>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20"/>
              </p:custDataLst>
            </p:nvPr>
          </p:nvSpPr>
          <p:spPr>
            <a:xfrm>
              <a:off x="2031" y="3137"/>
              <a:ext cx="2272" cy="415"/>
            </a:xfrm>
            <a:prstGeom prst="rect">
              <a:avLst/>
            </a:prstGeom>
            <a:noFill/>
          </p:spPr>
          <p:txBody>
            <a:bodyPr wrap="square" rtlCol="0">
              <a:spAutoFit/>
            </a:bodyPr>
            <a:p>
              <a:r>
                <a:rPr lang="zh-CN" altLang="en-US">
                  <a:latin typeface="华文新魏" panose="02010800040101010101" charset="-122"/>
                  <a:ea typeface="华文新魏" panose="02010800040101010101" charset="-122"/>
                </a:rPr>
                <a:t>监测站聚合数据</a:t>
              </a:r>
              <a:endParaRPr lang="zh-CN" altLang="en-US">
                <a:latin typeface="华文新魏" panose="02010800040101010101" charset="-122"/>
                <a:ea typeface="华文新魏" panose="02010800040101010101" charset="-122"/>
              </a:endParaRPr>
            </a:p>
          </p:txBody>
        </p:sp>
        <p:sp>
          <p:nvSpPr>
            <p:cNvPr id="7" name="文本框 6"/>
            <p:cNvSpPr txBox="1"/>
            <p:nvPr>
              <p:custDataLst>
                <p:tags r:id="rId21"/>
              </p:custDataLst>
            </p:nvPr>
          </p:nvSpPr>
          <p:spPr>
            <a:xfrm>
              <a:off x="2165" y="3591"/>
              <a:ext cx="2238" cy="2285"/>
            </a:xfrm>
            <a:prstGeom prst="rect">
              <a:avLst/>
            </a:prstGeom>
            <a:noFill/>
          </p:spPr>
          <p:txBody>
            <a:bodyPr wrap="square" rtlCol="0">
              <a:noAutofit/>
            </a:bodyPr>
            <a:p>
              <a:r>
                <a:rPr lang="en-US" altLang="zh-CN">
                  <a:latin typeface="华文新魏" panose="02010800040101010101" charset="-122"/>
                  <a:ea typeface="华文新魏" panose="02010800040101010101" charset="-122"/>
                </a:rPr>
                <a:t>StationID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1)</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时间</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2)</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温度</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sym typeface="+mn-ea"/>
                </a:rPr>
                <a:t>流速</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sym typeface="+mn-ea"/>
                </a:rPr>
                <a:t>流向</a:t>
              </a:r>
              <a:endParaRPr lang="zh-CN" altLang="en-US">
                <a:latin typeface="华文新魏" panose="02010800040101010101" charset="-122"/>
                <a:ea typeface="华文新魏" panose="02010800040101010101" charset="-122"/>
                <a:sym typeface="+mn-ea"/>
              </a:endParaRPr>
            </a:p>
            <a:p>
              <a:r>
                <a:rPr lang="zh-CN" altLang="en-US">
                  <a:latin typeface="华文新魏" panose="02010800040101010101" charset="-122"/>
                  <a:ea typeface="华文新魏" panose="02010800040101010101" charset="-122"/>
                  <a:sym typeface="+mn-ea"/>
                </a:rPr>
                <a:t>微塑料浓度</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sym typeface="+mn-ea"/>
                </a:rPr>
                <a:t>盐度</a:t>
              </a:r>
              <a:endParaRPr lang="zh-CN" altLang="en-US">
                <a:latin typeface="华文新魏" panose="02010800040101010101" charset="-122"/>
                <a:ea typeface="华文新魏" panose="02010800040101010101" charset="-122"/>
              </a:endParaRPr>
            </a:p>
            <a:p>
              <a:endParaRPr lang="zh-CN" altLang="en-US">
                <a:latin typeface="华文新魏" panose="02010800040101010101" charset="-122"/>
                <a:ea typeface="华文新魏" panose="02010800040101010101" charset="-122"/>
              </a:endParaRPr>
            </a:p>
          </p:txBody>
        </p:sp>
      </p:grpSp>
      <p:cxnSp>
        <p:nvCxnSpPr>
          <p:cNvPr id="12" name="肘形连接符 11"/>
          <p:cNvCxnSpPr>
            <a:stCxn id="40" idx="2"/>
          </p:cNvCxnSpPr>
          <p:nvPr/>
        </p:nvCxnSpPr>
        <p:spPr>
          <a:xfrm rot="5400000" flipV="1">
            <a:off x="2540635" y="3181350"/>
            <a:ext cx="1483360" cy="179070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46" idx="2"/>
          </p:cNvCxnSpPr>
          <p:nvPr/>
        </p:nvCxnSpPr>
        <p:spPr>
          <a:xfrm flipH="1">
            <a:off x="5484495" y="3051810"/>
            <a:ext cx="8255" cy="6083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肘形连接符 13"/>
          <p:cNvCxnSpPr/>
          <p:nvPr/>
        </p:nvCxnSpPr>
        <p:spPr>
          <a:xfrm rot="5400000">
            <a:off x="7120890" y="3270250"/>
            <a:ext cx="1492250" cy="156845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10486390" y="1822450"/>
            <a:ext cx="1473835" cy="922020"/>
          </a:xfrm>
          <a:prstGeom prst="rect">
            <a:avLst/>
          </a:prstGeom>
          <a:noFill/>
        </p:spPr>
        <p:txBody>
          <a:bodyPr wrap="square" rtlCol="0">
            <a:spAutoFit/>
          </a:bodyPr>
          <a:p>
            <a:r>
              <a:rPr lang="zh-CN" altLang="en-US">
                <a:latin typeface="华文新魏" panose="02010800040101010101" charset="-122"/>
                <a:ea typeface="华文新魏" panose="02010800040101010101" charset="-122"/>
              </a:rPr>
              <a:t>传感器实时传回数据库的数据</a:t>
            </a:r>
            <a:endParaRPr lang="zh-CN" altLang="en-US">
              <a:latin typeface="华文新魏" panose="02010800040101010101" charset="-122"/>
              <a:ea typeface="华文新魏" panose="02010800040101010101" charset="-122"/>
            </a:endParaRPr>
          </a:p>
        </p:txBody>
      </p:sp>
      <p:sp>
        <p:nvSpPr>
          <p:cNvPr id="16" name="文本框 15"/>
          <p:cNvSpPr txBox="1"/>
          <p:nvPr/>
        </p:nvSpPr>
        <p:spPr>
          <a:xfrm>
            <a:off x="7406005" y="5029835"/>
            <a:ext cx="2470785" cy="1295400"/>
          </a:xfrm>
          <a:prstGeom prst="rect">
            <a:avLst/>
          </a:prstGeom>
          <a:noFill/>
        </p:spPr>
        <p:txBody>
          <a:bodyPr wrap="square" rtlCol="0">
            <a:noAutofit/>
          </a:bodyPr>
          <a:p>
            <a:r>
              <a:rPr lang="zh-CN" altLang="en-US">
                <a:latin typeface="华文新魏" panose="02010800040101010101" charset="-122"/>
                <a:ea typeface="华文新魏" panose="02010800040101010101" charset="-122"/>
              </a:rPr>
              <a:t>综合计算某监测站各种传感器得出的该监测站在某时间段内探测到的属性平均值</a:t>
            </a:r>
            <a:endParaRPr lang="zh-CN" altLang="en-US">
              <a:latin typeface="华文新魏" panose="02010800040101010101" charset="-122"/>
              <a:ea typeface="华文新魏" panose="020108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186A7">
            <a:alpha val="5000"/>
          </a:srgbClr>
        </a:solidFill>
        <a:effectLst/>
      </p:bgPr>
    </p:bg>
    <p:spTree>
      <p:nvGrpSpPr>
        <p:cNvPr id="1" name=""/>
        <p:cNvGrpSpPr/>
        <p:nvPr/>
      </p:nvGrpSpPr>
      <p:grpSpPr>
        <a:xfrm>
          <a:off x="0" y="0"/>
          <a:ext cx="0" cy="0"/>
          <a:chOff x="0" y="0"/>
          <a:chExt cx="0" cy="0"/>
        </a:xfrm>
      </p:grpSpPr>
      <p:sp>
        <p:nvSpPr>
          <p:cNvPr id="18" name="文本框 17"/>
          <p:cNvSpPr txBox="1"/>
          <p:nvPr/>
        </p:nvSpPr>
        <p:spPr>
          <a:xfrm>
            <a:off x="800100" y="368196"/>
            <a:ext cx="3784729" cy="7067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300" normalizeH="0" baseline="0" noProof="0" dirty="0">
                <a:ln>
                  <a:noFill/>
                </a:ln>
                <a:solidFill>
                  <a:srgbClr val="4B5C78"/>
                </a:solidFill>
                <a:effectLst/>
                <a:uLnTx/>
                <a:uFillTx/>
                <a:latin typeface="+mj-ea"/>
                <a:ea typeface="+mj-ea"/>
                <a:cs typeface="+mn-cs"/>
              </a:rPr>
              <a:t>系统核心实体</a:t>
            </a:r>
            <a:endParaRPr kumimoji="0" lang="zh-CN" altLang="en-US" sz="4000" i="0" u="none" strike="noStrike" kern="1200" cap="none" spc="300" normalizeH="0" baseline="0" noProof="0" dirty="0">
              <a:ln>
                <a:noFill/>
              </a:ln>
              <a:solidFill>
                <a:srgbClr val="4B5C78"/>
              </a:solidFill>
              <a:effectLst/>
              <a:uLnTx/>
              <a:uFillTx/>
              <a:latin typeface="+mj-ea"/>
              <a:ea typeface="+mj-ea"/>
              <a:cs typeface="+mn-cs"/>
            </a:endParaRPr>
          </a:p>
        </p:txBody>
      </p:sp>
      <p:sp>
        <p:nvSpPr>
          <p:cNvPr id="19" name="文本框 18"/>
          <p:cNvSpPr txBox="1"/>
          <p:nvPr/>
        </p:nvSpPr>
        <p:spPr>
          <a:xfrm>
            <a:off x="800101" y="976078"/>
            <a:ext cx="3505598" cy="33718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alpha val="80000"/>
                  </a:schemeClr>
                </a:solidFill>
                <a:effectLst/>
                <a:uLnTx/>
                <a:uFillTx/>
                <a:latin typeface="+mn-ea"/>
                <a:cs typeface="+mn-cs"/>
              </a:rPr>
              <a:t>system component</a:t>
            </a:r>
            <a:endParaRPr kumimoji="0" lang="en-US" altLang="zh-CN" sz="1600" b="0" i="0" u="none" strike="noStrike" kern="1200" cap="none" spc="0" normalizeH="0" baseline="0" noProof="0" dirty="0">
              <a:ln>
                <a:noFill/>
              </a:ln>
              <a:solidFill>
                <a:schemeClr val="accent1">
                  <a:alpha val="80000"/>
                </a:schemeClr>
              </a:solidFill>
              <a:effectLst/>
              <a:uLnTx/>
              <a:uFillTx/>
              <a:latin typeface="+mn-ea"/>
              <a:cs typeface="+mn-cs"/>
            </a:endParaRPr>
          </a:p>
        </p:txBody>
      </p:sp>
      <p:sp>
        <p:nvSpPr>
          <p:cNvPr id="20" name="矩形 19"/>
          <p:cNvSpPr/>
          <p:nvPr/>
        </p:nvSpPr>
        <p:spPr>
          <a:xfrm>
            <a:off x="424193" y="437352"/>
            <a:ext cx="199785" cy="952338"/>
          </a:xfrm>
          <a:prstGeom prst="rect">
            <a:avLst/>
          </a:prstGeom>
          <a:solidFill>
            <a:srgbClr val="4B5C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rot="16200000" flipH="1">
            <a:off x="1522365" y="4978693"/>
            <a:ext cx="231871" cy="3276600"/>
            <a:chOff x="4399082" y="1624876"/>
            <a:chExt cx="231871" cy="3276600"/>
          </a:xfrm>
        </p:grpSpPr>
        <p:cxnSp>
          <p:nvCxnSpPr>
            <p:cNvPr id="29" name="直接连接符 28"/>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5400000" flipH="1">
            <a:off x="10437764" y="-1377843"/>
            <a:ext cx="231871" cy="3276600"/>
            <a:chOff x="4399082" y="1624876"/>
            <a:chExt cx="231871" cy="3276600"/>
          </a:xfrm>
        </p:grpSpPr>
        <p:cxnSp>
          <p:nvCxnSpPr>
            <p:cNvPr id="32" name="直接连接符 31"/>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35" name="图片 34"/>
          <p:cNvPicPr>
            <a:picLocks noChangeAspect="1"/>
          </p:cNvPicPr>
          <p:nvPr/>
        </p:nvPicPr>
        <p:blipFill>
          <a:blip r:embed="rId1" cstate="print">
            <a:alphaModFix amt="56000"/>
          </a:blip>
          <a:stretch>
            <a:fillRect/>
          </a:stretch>
        </p:blipFill>
        <p:spPr>
          <a:xfrm>
            <a:off x="9466368" y="5680149"/>
            <a:ext cx="2563707" cy="1302462"/>
          </a:xfrm>
          <a:prstGeom prst="rect">
            <a:avLst/>
          </a:prstGeom>
        </p:spPr>
      </p:pic>
      <p:grpSp>
        <p:nvGrpSpPr>
          <p:cNvPr id="38" name="组合 37"/>
          <p:cNvGrpSpPr/>
          <p:nvPr>
            <p:custDataLst>
              <p:tags r:id="rId2"/>
            </p:custDataLst>
          </p:nvPr>
        </p:nvGrpSpPr>
        <p:grpSpPr>
          <a:xfrm>
            <a:off x="1228725" y="2122805"/>
            <a:ext cx="2660187" cy="1823720"/>
            <a:chOff x="1613" y="3129"/>
            <a:chExt cx="3443" cy="2872"/>
          </a:xfrm>
        </p:grpSpPr>
        <p:sp>
          <p:nvSpPr>
            <p:cNvPr id="39" name="矩形 38"/>
            <p:cNvSpPr/>
            <p:nvPr>
              <p:custDataLst>
                <p:tags r:id="rId3"/>
              </p:custDataLst>
            </p:nvPr>
          </p:nvSpPr>
          <p:spPr>
            <a:xfrm>
              <a:off x="1613" y="3154"/>
              <a:ext cx="2849" cy="555"/>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矩形 39"/>
            <p:cNvSpPr/>
            <p:nvPr>
              <p:custDataLst>
                <p:tags r:id="rId4"/>
              </p:custDataLst>
            </p:nvPr>
          </p:nvSpPr>
          <p:spPr>
            <a:xfrm>
              <a:off x="1613" y="3709"/>
              <a:ext cx="2849" cy="2292"/>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文本框 40"/>
            <p:cNvSpPr txBox="1"/>
            <p:nvPr>
              <p:custDataLst>
                <p:tags r:id="rId5"/>
              </p:custDataLst>
            </p:nvPr>
          </p:nvSpPr>
          <p:spPr>
            <a:xfrm>
              <a:off x="1929" y="3129"/>
              <a:ext cx="3127" cy="580"/>
            </a:xfrm>
            <a:prstGeom prst="rect">
              <a:avLst/>
            </a:prstGeom>
            <a:noFill/>
          </p:spPr>
          <p:txBody>
            <a:bodyPr wrap="square" rtlCol="0">
              <a:spAutoFit/>
            </a:bodyPr>
            <a:p>
              <a:r>
                <a:rPr lang="en-US" altLang="zh-CN">
                  <a:latin typeface="华文新魏" panose="02010800040101010101" charset="-122"/>
                  <a:ea typeface="华文新魏" panose="02010800040101010101" charset="-122"/>
                </a:rPr>
                <a:t>    </a:t>
              </a:r>
              <a:r>
                <a:rPr lang="zh-CN" altLang="en-US">
                  <a:latin typeface="华文新魏" panose="02010800040101010101" charset="-122"/>
                  <a:ea typeface="华文新魏" panose="02010800040101010101" charset="-122"/>
                </a:rPr>
                <a:t>遥感影像</a:t>
              </a:r>
              <a:endParaRPr lang="zh-CN" altLang="en-US">
                <a:latin typeface="华文新魏" panose="02010800040101010101" charset="-122"/>
                <a:ea typeface="华文新魏" panose="02010800040101010101" charset="-122"/>
              </a:endParaRPr>
            </a:p>
          </p:txBody>
        </p:sp>
        <p:sp>
          <p:nvSpPr>
            <p:cNvPr id="42" name="文本框 41"/>
            <p:cNvSpPr txBox="1"/>
            <p:nvPr>
              <p:custDataLst>
                <p:tags r:id="rId6"/>
              </p:custDataLst>
            </p:nvPr>
          </p:nvSpPr>
          <p:spPr>
            <a:xfrm>
              <a:off x="2022" y="3851"/>
              <a:ext cx="2696" cy="2150"/>
            </a:xfrm>
            <a:prstGeom prst="rect">
              <a:avLst/>
            </a:prstGeom>
            <a:noFill/>
          </p:spPr>
          <p:txBody>
            <a:bodyPr wrap="square" rtlCol="0">
              <a:noAutofit/>
            </a:bodyPr>
            <a:p>
              <a:r>
                <a:rPr lang="en-US" altLang="zh-CN">
                  <a:latin typeface="华文新魏" panose="02010800040101010101" charset="-122"/>
                  <a:ea typeface="华文新魏" panose="02010800040101010101" charset="-122"/>
                </a:rPr>
                <a:t>ImageID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a:t>
              </a:r>
              <a:endParaRPr lang="en-US" altLang="zh-CN">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sym typeface="+mn-ea"/>
                </a:rPr>
                <a:t>时间</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sym typeface="+mn-ea"/>
                </a:rPr>
                <a:t>分辨率</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存储路径</a:t>
              </a:r>
              <a:endParaRPr lang="zh-CN" altLang="en-US">
                <a:latin typeface="华文新魏" panose="02010800040101010101" charset="-122"/>
                <a:ea typeface="华文新魏" panose="02010800040101010101" charset="-122"/>
              </a:endParaRPr>
            </a:p>
          </p:txBody>
        </p:sp>
      </p:grpSp>
      <p:grpSp>
        <p:nvGrpSpPr>
          <p:cNvPr id="44" name="组合 43"/>
          <p:cNvGrpSpPr/>
          <p:nvPr>
            <p:custDataLst>
              <p:tags r:id="rId7"/>
            </p:custDataLst>
          </p:nvPr>
        </p:nvGrpSpPr>
        <p:grpSpPr>
          <a:xfrm>
            <a:off x="5041265" y="1888490"/>
            <a:ext cx="2887345" cy="2714895"/>
            <a:chOff x="1613" y="3129"/>
            <a:chExt cx="3594" cy="4316"/>
          </a:xfrm>
        </p:grpSpPr>
        <p:sp>
          <p:nvSpPr>
            <p:cNvPr id="45" name="矩形 44"/>
            <p:cNvSpPr/>
            <p:nvPr>
              <p:custDataLst>
                <p:tags r:id="rId8"/>
              </p:custDataLst>
            </p:nvPr>
          </p:nvSpPr>
          <p:spPr>
            <a:xfrm>
              <a:off x="1613" y="3154"/>
              <a:ext cx="2849" cy="555"/>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矩形 45"/>
            <p:cNvSpPr/>
            <p:nvPr>
              <p:custDataLst>
                <p:tags r:id="rId9"/>
              </p:custDataLst>
            </p:nvPr>
          </p:nvSpPr>
          <p:spPr>
            <a:xfrm>
              <a:off x="1613" y="3709"/>
              <a:ext cx="2849" cy="3736"/>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文本框 46"/>
            <p:cNvSpPr txBox="1"/>
            <p:nvPr>
              <p:custDataLst>
                <p:tags r:id="rId10"/>
              </p:custDataLst>
            </p:nvPr>
          </p:nvSpPr>
          <p:spPr>
            <a:xfrm>
              <a:off x="1613" y="3129"/>
              <a:ext cx="3594" cy="586"/>
            </a:xfrm>
            <a:prstGeom prst="rect">
              <a:avLst/>
            </a:prstGeom>
            <a:noFill/>
          </p:spPr>
          <p:txBody>
            <a:bodyPr wrap="square" rtlCol="0">
              <a:spAutoFit/>
            </a:bodyPr>
            <a:p>
              <a:r>
                <a:rPr lang="en-US" altLang="zh-CN">
                  <a:latin typeface="华文新魏" panose="02010800040101010101" charset="-122"/>
                  <a:ea typeface="华文新魏" panose="02010800040101010101" charset="-122"/>
                </a:rPr>
                <a:t>         </a:t>
              </a:r>
              <a:r>
                <a:rPr lang="zh-CN" altLang="en-US">
                  <a:latin typeface="华文新魏" panose="02010800040101010101" charset="-122"/>
                  <a:ea typeface="华文新魏" panose="02010800040101010101" charset="-122"/>
                </a:rPr>
                <a:t>影像数据</a:t>
              </a:r>
              <a:endParaRPr lang="zh-CN" altLang="en-US">
                <a:latin typeface="华文新魏" panose="02010800040101010101" charset="-122"/>
                <a:ea typeface="华文新魏" panose="02010800040101010101" charset="-122"/>
              </a:endParaRPr>
            </a:p>
          </p:txBody>
        </p:sp>
        <p:sp>
          <p:nvSpPr>
            <p:cNvPr id="48" name="文本框 47"/>
            <p:cNvSpPr txBox="1"/>
            <p:nvPr>
              <p:custDataLst>
                <p:tags r:id="rId11"/>
              </p:custDataLst>
            </p:nvPr>
          </p:nvSpPr>
          <p:spPr>
            <a:xfrm>
              <a:off x="2044" y="3735"/>
              <a:ext cx="2696" cy="2150"/>
            </a:xfrm>
            <a:prstGeom prst="rect">
              <a:avLst/>
            </a:prstGeom>
            <a:noFill/>
          </p:spPr>
          <p:txBody>
            <a:bodyPr wrap="square" rtlCol="0">
              <a:noAutofit/>
            </a:bodyPr>
            <a:p>
              <a:r>
                <a:rPr lang="en-US" altLang="zh-CN">
                  <a:latin typeface="华文新魏" panose="02010800040101010101" charset="-122"/>
                  <a:ea typeface="华文新魏" panose="02010800040101010101" charset="-122"/>
                  <a:sym typeface="+mn-ea"/>
                </a:rPr>
                <a:t>ImageID</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1)</a:t>
              </a:r>
              <a:endParaRPr lang="en-US" altLang="zh-CN">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经度</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2)</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sym typeface="+mn-ea"/>
                </a:rPr>
                <a:t>纬度</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3)</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时间</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风速</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表层温度</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洋流速度</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悬浮物浓度</a:t>
              </a:r>
              <a:endParaRPr lang="zh-CN" altLang="en-US">
                <a:latin typeface="华文新魏" panose="02010800040101010101" charset="-122"/>
                <a:ea typeface="华文新魏" panose="02010800040101010101" charset="-122"/>
              </a:endParaRPr>
            </a:p>
          </p:txBody>
        </p:sp>
      </p:grpSp>
      <p:sp>
        <p:nvSpPr>
          <p:cNvPr id="2" name="文本框 1"/>
          <p:cNvSpPr txBox="1"/>
          <p:nvPr/>
        </p:nvSpPr>
        <p:spPr>
          <a:xfrm>
            <a:off x="857885" y="4220845"/>
            <a:ext cx="2956560" cy="645160"/>
          </a:xfrm>
          <a:prstGeom prst="rect">
            <a:avLst/>
          </a:prstGeom>
          <a:noFill/>
        </p:spPr>
        <p:txBody>
          <a:bodyPr wrap="square" rtlCol="0">
            <a:spAutoFit/>
          </a:bodyPr>
          <a:p>
            <a:r>
              <a:rPr lang="zh-CN" altLang="en-US">
                <a:latin typeface="华文新魏" panose="02010800040101010101" charset="-122"/>
                <a:ea typeface="华文新魏" panose="02010800040101010101" charset="-122"/>
              </a:rPr>
              <a:t>图像存在制定磁盘内，数据库内只存储相应的存储数据</a:t>
            </a:r>
            <a:endParaRPr lang="zh-CN" altLang="en-US">
              <a:latin typeface="华文新魏" panose="02010800040101010101" charset="-122"/>
              <a:ea typeface="华文新魏" panose="02010800040101010101" charset="-122"/>
            </a:endParaRPr>
          </a:p>
        </p:txBody>
      </p:sp>
      <p:sp>
        <p:nvSpPr>
          <p:cNvPr id="8" name="文本框 7"/>
          <p:cNvSpPr txBox="1"/>
          <p:nvPr/>
        </p:nvSpPr>
        <p:spPr>
          <a:xfrm>
            <a:off x="4780915" y="4744085"/>
            <a:ext cx="3697605" cy="922020"/>
          </a:xfrm>
          <a:prstGeom prst="rect">
            <a:avLst/>
          </a:prstGeom>
          <a:noFill/>
        </p:spPr>
        <p:txBody>
          <a:bodyPr wrap="square" rtlCol="0">
            <a:spAutoFit/>
          </a:bodyPr>
          <a:p>
            <a:r>
              <a:rPr lang="zh-CN" altLang="en-US">
                <a:latin typeface="华文新魏" panose="02010800040101010101" charset="-122"/>
                <a:ea typeface="华文新魏" panose="02010800040101010101" charset="-122"/>
                <a:cs typeface="华文新魏" panose="02010800040101010101" charset="-122"/>
              </a:rPr>
              <a:t>从某一图像内获取到的有效数据，数据的获取需要调用一些遥感图像分析的</a:t>
            </a:r>
            <a:r>
              <a:rPr lang="en-US" altLang="zh-CN">
                <a:latin typeface="华文新魏" panose="02010800040101010101" charset="-122"/>
                <a:ea typeface="华文新魏" panose="02010800040101010101" charset="-122"/>
                <a:cs typeface="华文新魏" panose="02010800040101010101" charset="-122"/>
              </a:rPr>
              <a:t>API</a:t>
            </a:r>
            <a:endParaRPr lang="en-US" altLang="zh-CN">
              <a:latin typeface="华文新魏" panose="02010800040101010101" charset="-122"/>
              <a:ea typeface="华文新魏" panose="02010800040101010101" charset="-122"/>
              <a:cs typeface="华文新魏" panose="02010800040101010101" charset="-122"/>
            </a:endParaRPr>
          </a:p>
        </p:txBody>
      </p:sp>
      <p:grpSp>
        <p:nvGrpSpPr>
          <p:cNvPr id="9" name="组合 8"/>
          <p:cNvGrpSpPr/>
          <p:nvPr>
            <p:custDataLst>
              <p:tags r:id="rId12"/>
            </p:custDataLst>
          </p:nvPr>
        </p:nvGrpSpPr>
        <p:grpSpPr>
          <a:xfrm>
            <a:off x="8796655" y="2043430"/>
            <a:ext cx="2887345" cy="2202864"/>
            <a:chOff x="1613" y="3129"/>
            <a:chExt cx="3594" cy="3502"/>
          </a:xfrm>
        </p:grpSpPr>
        <p:sp>
          <p:nvSpPr>
            <p:cNvPr id="10" name="矩形 9"/>
            <p:cNvSpPr/>
            <p:nvPr>
              <p:custDataLst>
                <p:tags r:id="rId13"/>
              </p:custDataLst>
            </p:nvPr>
          </p:nvSpPr>
          <p:spPr>
            <a:xfrm>
              <a:off x="1613" y="3154"/>
              <a:ext cx="2849" cy="555"/>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矩形 10"/>
            <p:cNvSpPr/>
            <p:nvPr>
              <p:custDataLst>
                <p:tags r:id="rId14"/>
              </p:custDataLst>
            </p:nvPr>
          </p:nvSpPr>
          <p:spPr>
            <a:xfrm>
              <a:off x="1613" y="3709"/>
              <a:ext cx="2849" cy="2922"/>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custDataLst>
                <p:tags r:id="rId15"/>
              </p:custDataLst>
            </p:nvPr>
          </p:nvSpPr>
          <p:spPr>
            <a:xfrm>
              <a:off x="1613" y="3129"/>
              <a:ext cx="3594" cy="586"/>
            </a:xfrm>
            <a:prstGeom prst="rect">
              <a:avLst/>
            </a:prstGeom>
            <a:noFill/>
          </p:spPr>
          <p:txBody>
            <a:bodyPr wrap="square" rtlCol="0">
              <a:spAutoFit/>
            </a:bodyPr>
            <a:p>
              <a:r>
                <a:rPr lang="en-US" altLang="zh-CN">
                  <a:latin typeface="华文新魏" panose="02010800040101010101" charset="-122"/>
                  <a:ea typeface="华文新魏" panose="02010800040101010101" charset="-122"/>
                </a:rPr>
                <a:t>         </a:t>
              </a:r>
              <a:r>
                <a:rPr lang="zh-CN" altLang="en-US">
                  <a:latin typeface="华文新魏" panose="02010800040101010101" charset="-122"/>
                  <a:ea typeface="华文新魏" panose="02010800040101010101" charset="-122"/>
                </a:rPr>
                <a:t>污染事件</a:t>
              </a:r>
              <a:endParaRPr lang="zh-CN" altLang="en-US">
                <a:latin typeface="华文新魏" panose="02010800040101010101" charset="-122"/>
                <a:ea typeface="华文新魏" panose="02010800040101010101" charset="-122"/>
              </a:endParaRPr>
            </a:p>
          </p:txBody>
        </p:sp>
        <p:sp>
          <p:nvSpPr>
            <p:cNvPr id="16" name="文本框 15"/>
            <p:cNvSpPr txBox="1"/>
            <p:nvPr>
              <p:custDataLst>
                <p:tags r:id="rId16"/>
              </p:custDataLst>
            </p:nvPr>
          </p:nvSpPr>
          <p:spPr>
            <a:xfrm>
              <a:off x="2044" y="3735"/>
              <a:ext cx="2696" cy="2150"/>
            </a:xfrm>
            <a:prstGeom prst="rect">
              <a:avLst/>
            </a:prstGeom>
            <a:noFill/>
          </p:spPr>
          <p:txBody>
            <a:bodyPr wrap="square" rtlCol="0">
              <a:noAutofit/>
            </a:bodyPr>
            <a:p>
              <a:r>
                <a:rPr lang="en-US" altLang="zh-CN">
                  <a:latin typeface="华文新魏" panose="02010800040101010101" charset="-122"/>
                  <a:ea typeface="华文新魏" panose="02010800040101010101" charset="-122"/>
                  <a:sym typeface="+mn-ea"/>
                </a:rPr>
                <a:t>EventID(</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1)</a:t>
              </a:r>
              <a:endParaRPr lang="en-US" altLang="zh-CN">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sym typeface="+mn-ea"/>
                </a:rPr>
                <a:t>时间</a:t>
              </a:r>
              <a:r>
                <a:rPr lang="en-US" altLang="zh-CN">
                  <a:latin typeface="华文新魏" panose="02010800040101010101" charset="-122"/>
                  <a:ea typeface="华文新魏" panose="02010800040101010101" charset="-122"/>
                  <a:sym typeface="+mn-ea"/>
                </a:rPr>
                <a:t>(</a:t>
              </a:r>
              <a:r>
                <a:rPr lang="zh-CN" altLang="en-US">
                  <a:latin typeface="华文新魏" panose="02010800040101010101" charset="-122"/>
                  <a:ea typeface="华文新魏" panose="02010800040101010101" charset="-122"/>
                  <a:sym typeface="+mn-ea"/>
                </a:rPr>
                <a:t>主键</a:t>
              </a:r>
              <a:r>
                <a:rPr lang="en-US" altLang="zh-CN">
                  <a:latin typeface="华文新魏" panose="02010800040101010101" charset="-122"/>
                  <a:ea typeface="华文新魏" panose="02010800040101010101" charset="-122"/>
                  <a:sym typeface="+mn-ea"/>
                </a:rPr>
                <a:t>2)</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事件名称</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事件类型</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经度</a:t>
              </a:r>
              <a:endParaRPr lang="zh-CN" altLang="en-US">
                <a:latin typeface="华文新魏" panose="02010800040101010101" charset="-122"/>
                <a:ea typeface="华文新魏" panose="02010800040101010101" charset="-122"/>
              </a:endParaRPr>
            </a:p>
            <a:p>
              <a:r>
                <a:rPr lang="zh-CN" altLang="en-US">
                  <a:latin typeface="华文新魏" panose="02010800040101010101" charset="-122"/>
                  <a:ea typeface="华文新魏" panose="02010800040101010101" charset="-122"/>
                </a:rPr>
                <a:t>纬度</a:t>
              </a:r>
              <a:endParaRPr lang="zh-CN" altLang="en-US">
                <a:latin typeface="华文新魏" panose="02010800040101010101" charset="-122"/>
                <a:ea typeface="华文新魏" panose="02010800040101010101" charset="-122"/>
              </a:endParaRPr>
            </a:p>
            <a:p>
              <a:endParaRPr lang="zh-CN" altLang="en-US">
                <a:latin typeface="华文新魏" panose="02010800040101010101" charset="-122"/>
                <a:ea typeface="华文新魏" panose="02010800040101010101" charset="-122"/>
              </a:endParaRPr>
            </a:p>
          </p:txBody>
        </p:sp>
      </p:grpSp>
      <p:sp>
        <p:nvSpPr>
          <p:cNvPr id="17" name="文本框 16"/>
          <p:cNvSpPr txBox="1"/>
          <p:nvPr/>
        </p:nvSpPr>
        <p:spPr>
          <a:xfrm>
            <a:off x="8743315" y="4497705"/>
            <a:ext cx="2841625" cy="368300"/>
          </a:xfrm>
          <a:prstGeom prst="rect">
            <a:avLst/>
          </a:prstGeom>
          <a:noFill/>
        </p:spPr>
        <p:txBody>
          <a:bodyPr wrap="square" rtlCol="0">
            <a:spAutoFit/>
          </a:bodyPr>
          <a:p>
            <a:r>
              <a:rPr lang="zh-CN" altLang="en-US">
                <a:latin typeface="华文新魏" panose="02010800040101010101" charset="-122"/>
                <a:ea typeface="华文新魏" panose="02010800040101010101" charset="-122"/>
              </a:rPr>
              <a:t>该表记录污染事件信息</a:t>
            </a:r>
            <a:endParaRPr lang="zh-CN" altLang="en-US">
              <a:latin typeface="华文新魏" panose="02010800040101010101" charset="-122"/>
              <a:ea typeface="华文新魏" panose="020108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186A7">
            <a:alpha val="5000"/>
          </a:srgbClr>
        </a:solidFill>
        <a:effectLst/>
      </p:bgPr>
    </p:bg>
    <p:spTree>
      <p:nvGrpSpPr>
        <p:cNvPr id="1" name=""/>
        <p:cNvGrpSpPr/>
        <p:nvPr/>
      </p:nvGrpSpPr>
      <p:grpSpPr>
        <a:xfrm>
          <a:off x="0" y="0"/>
          <a:ext cx="0" cy="0"/>
          <a:chOff x="0" y="0"/>
          <a:chExt cx="0" cy="0"/>
        </a:xfrm>
      </p:grpSpPr>
      <p:sp>
        <p:nvSpPr>
          <p:cNvPr id="18" name="文本框 17"/>
          <p:cNvSpPr txBox="1"/>
          <p:nvPr/>
        </p:nvSpPr>
        <p:spPr>
          <a:xfrm>
            <a:off x="800100" y="368196"/>
            <a:ext cx="3784729" cy="7067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300" normalizeH="0" baseline="0" noProof="0" dirty="0">
                <a:ln>
                  <a:noFill/>
                </a:ln>
                <a:solidFill>
                  <a:srgbClr val="4B5C78"/>
                </a:solidFill>
                <a:effectLst/>
                <a:uLnTx/>
                <a:uFillTx/>
                <a:latin typeface="+mj-ea"/>
                <a:ea typeface="+mj-ea"/>
                <a:cs typeface="+mn-cs"/>
              </a:rPr>
              <a:t>系统核心实体</a:t>
            </a:r>
            <a:endParaRPr kumimoji="0" lang="zh-CN" altLang="en-US" sz="4000" i="0" u="none" strike="noStrike" kern="1200" cap="none" spc="300" normalizeH="0" baseline="0" noProof="0" dirty="0">
              <a:ln>
                <a:noFill/>
              </a:ln>
              <a:solidFill>
                <a:srgbClr val="4B5C78"/>
              </a:solidFill>
              <a:effectLst/>
              <a:uLnTx/>
              <a:uFillTx/>
              <a:latin typeface="+mj-ea"/>
              <a:ea typeface="+mj-ea"/>
              <a:cs typeface="+mn-cs"/>
            </a:endParaRPr>
          </a:p>
        </p:txBody>
      </p:sp>
      <p:sp>
        <p:nvSpPr>
          <p:cNvPr id="19" name="文本框 18"/>
          <p:cNvSpPr txBox="1"/>
          <p:nvPr/>
        </p:nvSpPr>
        <p:spPr>
          <a:xfrm>
            <a:off x="800101" y="976078"/>
            <a:ext cx="3505598" cy="33718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alpha val="80000"/>
                  </a:schemeClr>
                </a:solidFill>
                <a:effectLst/>
                <a:uLnTx/>
                <a:uFillTx/>
                <a:latin typeface="+mn-ea"/>
                <a:cs typeface="+mn-cs"/>
              </a:rPr>
              <a:t>system component</a:t>
            </a:r>
            <a:endParaRPr kumimoji="0" lang="en-US" altLang="zh-CN" sz="1600" b="0" i="0" u="none" strike="noStrike" kern="1200" cap="none" spc="0" normalizeH="0" baseline="0" noProof="0" dirty="0">
              <a:ln>
                <a:noFill/>
              </a:ln>
              <a:solidFill>
                <a:schemeClr val="accent1">
                  <a:alpha val="80000"/>
                </a:schemeClr>
              </a:solidFill>
              <a:effectLst/>
              <a:uLnTx/>
              <a:uFillTx/>
              <a:latin typeface="+mn-ea"/>
              <a:cs typeface="+mn-cs"/>
            </a:endParaRPr>
          </a:p>
        </p:txBody>
      </p:sp>
      <p:sp>
        <p:nvSpPr>
          <p:cNvPr id="20" name="矩形 19"/>
          <p:cNvSpPr/>
          <p:nvPr/>
        </p:nvSpPr>
        <p:spPr>
          <a:xfrm>
            <a:off x="424193" y="437352"/>
            <a:ext cx="199785" cy="952338"/>
          </a:xfrm>
          <a:prstGeom prst="rect">
            <a:avLst/>
          </a:prstGeom>
          <a:solidFill>
            <a:srgbClr val="4B5C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rot="16200000" flipH="1">
            <a:off x="1522365" y="4978693"/>
            <a:ext cx="231871" cy="3276600"/>
            <a:chOff x="4399082" y="1624876"/>
            <a:chExt cx="231871" cy="3276600"/>
          </a:xfrm>
        </p:grpSpPr>
        <p:cxnSp>
          <p:nvCxnSpPr>
            <p:cNvPr id="29" name="直接连接符 28"/>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5400000" flipH="1">
            <a:off x="10437764" y="-1377843"/>
            <a:ext cx="231871" cy="3276600"/>
            <a:chOff x="4399082" y="1624876"/>
            <a:chExt cx="231871" cy="3276600"/>
          </a:xfrm>
        </p:grpSpPr>
        <p:cxnSp>
          <p:nvCxnSpPr>
            <p:cNvPr id="32" name="直接连接符 31"/>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35" name="图片 34"/>
          <p:cNvPicPr>
            <a:picLocks noChangeAspect="1"/>
          </p:cNvPicPr>
          <p:nvPr/>
        </p:nvPicPr>
        <p:blipFill>
          <a:blip r:embed="rId1" cstate="print">
            <a:alphaModFix amt="56000"/>
          </a:blip>
          <a:stretch>
            <a:fillRect/>
          </a:stretch>
        </p:blipFill>
        <p:spPr>
          <a:xfrm>
            <a:off x="9466368" y="5680149"/>
            <a:ext cx="2563707" cy="1302462"/>
          </a:xfrm>
          <a:prstGeom prst="rect">
            <a:avLst/>
          </a:prstGeom>
        </p:spPr>
      </p:pic>
      <p:pic>
        <p:nvPicPr>
          <p:cNvPr id="3" name="图片 2" descr="ERimage"/>
          <p:cNvPicPr>
            <a:picLocks noChangeAspect="1"/>
          </p:cNvPicPr>
          <p:nvPr/>
        </p:nvPicPr>
        <p:blipFill>
          <a:blip r:embed="rId2"/>
          <a:stretch>
            <a:fillRect/>
          </a:stretch>
        </p:blipFill>
        <p:spPr>
          <a:xfrm>
            <a:off x="4366895" y="6350"/>
            <a:ext cx="6318250" cy="6494780"/>
          </a:xfrm>
          <a:prstGeom prst="rect">
            <a:avLst/>
          </a:prstGeom>
        </p:spPr>
      </p:pic>
      <p:sp>
        <p:nvSpPr>
          <p:cNvPr id="4" name="文本框 3"/>
          <p:cNvSpPr txBox="1"/>
          <p:nvPr/>
        </p:nvSpPr>
        <p:spPr>
          <a:xfrm>
            <a:off x="1579880" y="3073400"/>
            <a:ext cx="2570480" cy="517525"/>
          </a:xfrm>
          <a:prstGeom prst="rect">
            <a:avLst/>
          </a:prstGeom>
          <a:noFill/>
        </p:spPr>
        <p:txBody>
          <a:bodyPr wrap="square" rtlCol="0">
            <a:noAutofit/>
          </a:bodyPr>
          <a:p>
            <a:r>
              <a:rPr lang="zh-CN" altLang="en-US" sz="2800">
                <a:latin typeface="华文新魏" panose="02010800040101010101" charset="-122"/>
                <a:ea typeface="华文新魏" panose="02010800040101010101" charset="-122"/>
                <a:cs typeface="华文新魏" panose="02010800040101010101" charset="-122"/>
              </a:rPr>
              <a:t>数据库</a:t>
            </a:r>
            <a:r>
              <a:rPr lang="en-US" altLang="zh-CN" sz="2800">
                <a:latin typeface="华文新魏" panose="02010800040101010101" charset="-122"/>
                <a:ea typeface="华文新魏" panose="02010800040101010101" charset="-122"/>
                <a:cs typeface="华文新魏" panose="02010800040101010101" charset="-122"/>
              </a:rPr>
              <a:t>ER</a:t>
            </a:r>
            <a:r>
              <a:rPr lang="zh-CN" altLang="en-US" sz="2800">
                <a:latin typeface="华文新魏" panose="02010800040101010101" charset="-122"/>
                <a:ea typeface="华文新魏" panose="02010800040101010101" charset="-122"/>
                <a:cs typeface="华文新魏" panose="02010800040101010101" charset="-122"/>
              </a:rPr>
              <a:t>图</a:t>
            </a:r>
            <a:endParaRPr lang="zh-CN" altLang="en-US" sz="2800">
              <a:latin typeface="华文新魏" panose="02010800040101010101" charset="-122"/>
              <a:ea typeface="华文新魏" panose="02010800040101010101" charset="-122"/>
              <a:cs typeface="华文新魏" panose="02010800040101010101" charset="-122"/>
            </a:endParaRPr>
          </a:p>
          <a:p>
            <a:endParaRPr lang="zh-CN" altLang="en-US">
              <a:latin typeface="华文新魏" panose="02010800040101010101" charset="-122"/>
              <a:ea typeface="华文新魏" panose="02010800040101010101" charset="-122"/>
              <a:cs typeface="华文新魏" panose="02010800040101010101" charset="-122"/>
            </a:endParaRPr>
          </a:p>
          <a:p>
            <a:endParaRPr lang="zh-CN" altLang="en-US">
              <a:latin typeface="华文新魏" panose="02010800040101010101" charset="-122"/>
              <a:ea typeface="华文新魏" panose="02010800040101010101" charset="-122"/>
              <a:cs typeface="华文新魏" panose="020108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4B5C78"/>
        </a:solidFill>
        <a:effectLst/>
      </p:bgPr>
    </p:bg>
    <p:spTree>
      <p:nvGrpSpPr>
        <p:cNvPr id="1" name=""/>
        <p:cNvGrpSpPr/>
        <p:nvPr/>
      </p:nvGrpSpPr>
      <p:grpSpPr>
        <a:xfrm>
          <a:off x="0" y="0"/>
          <a:ext cx="0" cy="0"/>
          <a:chOff x="0" y="0"/>
          <a:chExt cx="0" cy="0"/>
        </a:xfrm>
      </p:grpSpPr>
      <p:sp>
        <p:nvSpPr>
          <p:cNvPr id="2" name="矩形 1"/>
          <p:cNvSpPr/>
          <p:nvPr/>
        </p:nvSpPr>
        <p:spPr>
          <a:xfrm>
            <a:off x="0" y="1821062"/>
            <a:ext cx="12192002" cy="3276600"/>
          </a:xfrm>
          <a:prstGeom prst="rect">
            <a:avLst/>
          </a:prstGeom>
          <a:blipFill dpi="0" rotWithShape="1">
            <a:blip r:embed="rId1" cstate="hq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cs typeface="+mn-cs"/>
            </a:endParaRPr>
          </a:p>
        </p:txBody>
      </p:sp>
      <p:grpSp>
        <p:nvGrpSpPr>
          <p:cNvPr id="3" name="组合 2"/>
          <p:cNvGrpSpPr/>
          <p:nvPr/>
        </p:nvGrpSpPr>
        <p:grpSpPr>
          <a:xfrm flipH="1">
            <a:off x="752725" y="6989"/>
            <a:ext cx="231871" cy="3276600"/>
            <a:chOff x="4399082" y="1624876"/>
            <a:chExt cx="231871" cy="3276600"/>
          </a:xfrm>
        </p:grpSpPr>
        <p:cxnSp>
          <p:nvCxnSpPr>
            <p:cNvPr id="4" name="直接连接符 3"/>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7655144" y="931973"/>
            <a:ext cx="3168459" cy="7786747"/>
          </a:xfrm>
          <a:prstGeom prst="rect">
            <a:avLst/>
          </a:prstGeom>
          <a:noFill/>
        </p:spPr>
        <p:txBody>
          <a:bodyPr vert="horz" wrap="square" lIns="91440" tIns="45720" rIns="91440" bIns="45720" rtlCol="0" anchor="ctr">
            <a:spAutoFit/>
          </a:bodyPr>
          <a:lstStyle>
            <a:defPPr>
              <a:defRPr lang="zh-CN"/>
            </a:defPPr>
            <a:lvl1pPr marL="0" indent="0" algn="l" defTabSz="914400" rtl="0" eaLnBrk="1" latinLnBrk="0" hangingPunct="1">
              <a:buNone/>
              <a:defRPr lang="zh-CN" altLang="en-US" sz="50000" kern="1200" dirty="0">
                <a:gradFill>
                  <a:gsLst>
                    <a:gs pos="29000">
                      <a:srgbClr val="F9F9F9"/>
                    </a:gs>
                    <a:gs pos="80000">
                      <a:srgbClr val="F9F9F9">
                        <a:alpha val="0"/>
                      </a:srgbClr>
                    </a:gs>
                  </a:gsLst>
                  <a:lin ang="5400000" scaled="0"/>
                </a:gradFill>
                <a:latin typeface="OPPOSans L" panose="00020600040101010101" pitchFamily="18" charset="-122"/>
                <a:ea typeface="OPPOSans H" panose="00020600040101010101" pitchFamily="18" charset="-122"/>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dirty="0">
                <a:gradFill>
                  <a:gsLst>
                    <a:gs pos="29000">
                      <a:srgbClr val="F9F9F9"/>
                    </a:gs>
                    <a:gs pos="46000">
                      <a:srgbClr val="F9F9F9">
                        <a:alpha val="54000"/>
                      </a:srgbClr>
                    </a:gs>
                    <a:gs pos="80000">
                      <a:srgbClr val="F9F9F9">
                        <a:alpha val="0"/>
                      </a:srgbClr>
                    </a:gs>
                  </a:gsLst>
                  <a:lin ang="5400000" scaled="0"/>
                </a:gradFill>
                <a:latin typeface="+mj-lt"/>
                <a:ea typeface="OPPOSans B" panose="00020600040101010101" pitchFamily="18" charset="-122"/>
              </a:rPr>
              <a:t>4</a:t>
            </a:r>
            <a:endParaRPr kumimoji="0" lang="en-US" altLang="en-US" sz="50000" b="0" i="0" u="none" strike="noStrike" kern="1200" cap="none" spc="0" normalizeH="0" baseline="0" noProof="0" dirty="0">
              <a:ln>
                <a:noFill/>
              </a:ln>
              <a:gradFill>
                <a:gsLst>
                  <a:gs pos="29000">
                    <a:srgbClr val="F9F9F9"/>
                  </a:gs>
                  <a:gs pos="46000">
                    <a:srgbClr val="F9F9F9">
                      <a:alpha val="54000"/>
                    </a:srgbClr>
                  </a:gs>
                  <a:gs pos="80000">
                    <a:srgbClr val="F9F9F9">
                      <a:alpha val="0"/>
                    </a:srgbClr>
                  </a:gs>
                </a:gsLst>
                <a:lin ang="5400000" scaled="0"/>
              </a:gradFill>
              <a:effectLst/>
              <a:uLnTx/>
              <a:uFillTx/>
              <a:latin typeface="+mj-lt"/>
              <a:ea typeface="OPPOSans B" panose="00020600040101010101" pitchFamily="18" charset="-122"/>
              <a:cs typeface="Arial" panose="020B0604020202020204" pitchFamily="34" charset="0"/>
            </a:endParaRPr>
          </a:p>
        </p:txBody>
      </p:sp>
      <p:sp>
        <p:nvSpPr>
          <p:cNvPr id="7" name="文本框 6"/>
          <p:cNvSpPr txBox="1"/>
          <p:nvPr/>
        </p:nvSpPr>
        <p:spPr>
          <a:xfrm>
            <a:off x="5555194" y="3802916"/>
            <a:ext cx="5216027" cy="922020"/>
          </a:xfrm>
          <a:prstGeom prst="rect">
            <a:avLst/>
          </a:prstGeom>
          <a:noFill/>
        </p:spPr>
        <p:txBody>
          <a:bodyPr vert="horz" wrap="square" lIns="91440" tIns="45720" rIns="91440" bIns="45720" rtlCol="0" anchor="ctr">
            <a:spAutoFit/>
          </a:bodyPr>
          <a:lstStyle>
            <a:defPPr>
              <a:defRPr lang="zh-CN"/>
            </a:defPPr>
            <a:lvl1pPr marL="0" indent="0" algn="ctr" defTabSz="914400" rtl="0" eaLnBrk="1" latinLnBrk="0" hangingPunct="1">
              <a:buNone/>
              <a:defRPr lang="zh-CN" altLang="en-US" sz="5400" b="1" kern="1200" dirty="0">
                <a:solidFill>
                  <a:srgbClr val="FCEEE8"/>
                </a:solidFill>
                <a:latin typeface="OPPOSans M" panose="00020600040101010101" pitchFamily="18" charset="-122"/>
                <a:ea typeface="OPPOSans M" panose="00020600040101010101" pitchFamily="18"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prstClr val="white"/>
                </a:solidFill>
                <a:effectLst/>
                <a:uLnTx/>
                <a:uFillTx/>
                <a:ea typeface="OPPOSans M" panose="00020600040101010101" pitchFamily="18" charset="-122"/>
                <a:cs typeface="+mn-cs"/>
              </a:rPr>
              <a:t>进度安排</a:t>
            </a:r>
            <a:endParaRPr kumimoji="0" lang="zh-CN" altLang="en-US" sz="5400" b="1" i="0" u="none" strike="noStrike" kern="1200" cap="none" spc="0" normalizeH="0" baseline="0" noProof="0" dirty="0">
              <a:ln>
                <a:noFill/>
              </a:ln>
              <a:solidFill>
                <a:prstClr val="white"/>
              </a:solidFill>
              <a:effectLst/>
              <a:uLnTx/>
              <a:uFillTx/>
              <a:ea typeface="OPPOSans M" panose="00020600040101010101" pitchFamily="18" charset="-122"/>
              <a:cs typeface="+mn-cs"/>
            </a:endParaRPr>
          </a:p>
        </p:txBody>
      </p:sp>
      <p:sp>
        <p:nvSpPr>
          <p:cNvPr id="8" name="文本框 7"/>
          <p:cNvSpPr txBox="1"/>
          <p:nvPr/>
        </p:nvSpPr>
        <p:spPr>
          <a:xfrm>
            <a:off x="5555194" y="4609871"/>
            <a:ext cx="5216027" cy="883920"/>
          </a:xfrm>
          <a:prstGeom prst="rect">
            <a:avLst/>
          </a:prstGeom>
          <a:noFill/>
        </p:spPr>
        <p:txBody>
          <a:bodyPr wrap="square" rtlCol="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2400" b="0" kern="1200" dirty="0">
                <a:solidFill>
                  <a:srgbClr val="FCEEE8"/>
                </a:solidFill>
                <a:latin typeface="OPPOSans M" panose="00020600040101010101" pitchFamily="18" charset="-122"/>
                <a:ea typeface="OPPOSans M"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b="1">
                <a:solidFill>
                  <a:schemeClr val="bg1"/>
                </a:solidFill>
                <a:latin typeface="微软雅黑" panose="020B0503020204020204" charset="-122"/>
                <a:ea typeface="微软雅黑" panose="020B0503020204020204" charset="-122"/>
                <a:cs typeface="OPPOSans B" panose="00020600040101010101" pitchFamily="18" charset="-122"/>
                <a:sym typeface="+mn-ea"/>
              </a:rPr>
              <a:t>schedule arrangement</a:t>
            </a:r>
            <a:endParaRPr lang="en-US" altLang="zh-CN" b="1" dirty="0">
              <a:solidFill>
                <a:schemeClr val="bg1"/>
              </a:solidFill>
              <a:latin typeface="微软雅黑" panose="020B0503020204020204" charset="-122"/>
              <a:ea typeface="微软雅黑" panose="020B0503020204020204" charset="-122"/>
              <a:cs typeface="OPPOSans B" panose="00020600040101010101" pitchFamily="18" charset="-122"/>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rgbClr val="FCEEE8"/>
              </a:solidFill>
              <a:effectLst/>
              <a:uLnTx/>
              <a:uFillTx/>
              <a:ea typeface="OPPOSans M" panose="00020600040101010101" pitchFamily="18" charset="-122"/>
              <a:cs typeface="+mn-cs"/>
            </a:endParaRPr>
          </a:p>
        </p:txBody>
      </p:sp>
      <p:grpSp>
        <p:nvGrpSpPr>
          <p:cNvPr id="12" name="组合 11"/>
          <p:cNvGrpSpPr/>
          <p:nvPr/>
        </p:nvGrpSpPr>
        <p:grpSpPr>
          <a:xfrm flipH="1" flipV="1">
            <a:off x="11202882" y="3581400"/>
            <a:ext cx="231871" cy="3276600"/>
            <a:chOff x="4399082" y="1624876"/>
            <a:chExt cx="231871" cy="3276600"/>
          </a:xfrm>
        </p:grpSpPr>
        <p:cxnSp>
          <p:nvCxnSpPr>
            <p:cNvPr id="13" name="直接连接符 12"/>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9" name="图片 8"/>
          <p:cNvPicPr>
            <a:picLocks noChangeAspect="1"/>
          </p:cNvPicPr>
          <p:nvPr/>
        </p:nvPicPr>
        <p:blipFill>
          <a:blip r:embed="rId2" cstate="print">
            <a:alphaModFix amt="59000"/>
          </a:blip>
          <a:stretch>
            <a:fillRect/>
          </a:stretch>
        </p:blipFill>
        <p:spPr>
          <a:xfrm>
            <a:off x="9226966" y="514290"/>
            <a:ext cx="2869784" cy="1457961"/>
          </a:xfrm>
          <a:prstGeom prst="rect">
            <a:avLst/>
          </a:prstGeom>
          <a:effectLst>
            <a:outerShdw blurRad="50800" dist="50800" dir="5400000" algn="ctr" rotWithShape="0">
              <a:srgbClr val="000000">
                <a:alpha val="24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186A7">
            <a:alpha val="5000"/>
          </a:srgbClr>
        </a:solidFill>
        <a:effectLst/>
      </p:bgPr>
    </p:bg>
    <p:spTree>
      <p:nvGrpSpPr>
        <p:cNvPr id="1" name=""/>
        <p:cNvGrpSpPr/>
        <p:nvPr/>
      </p:nvGrpSpPr>
      <p:grpSpPr>
        <a:xfrm>
          <a:off x="0" y="0"/>
          <a:ext cx="0" cy="0"/>
          <a:chOff x="0" y="0"/>
          <a:chExt cx="0" cy="0"/>
        </a:xfrm>
      </p:grpSpPr>
      <p:sp>
        <p:nvSpPr>
          <p:cNvPr id="18" name="文本框 17"/>
          <p:cNvSpPr txBox="1"/>
          <p:nvPr/>
        </p:nvSpPr>
        <p:spPr>
          <a:xfrm>
            <a:off x="800100" y="368196"/>
            <a:ext cx="3784729" cy="7067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300" normalizeH="0" baseline="0" noProof="0" dirty="0">
                <a:ln>
                  <a:noFill/>
                </a:ln>
                <a:solidFill>
                  <a:srgbClr val="4B5C78"/>
                </a:solidFill>
                <a:effectLst/>
                <a:uLnTx/>
                <a:uFillTx/>
                <a:latin typeface="+mj-ea"/>
                <a:ea typeface="+mj-ea"/>
                <a:cs typeface="+mn-cs"/>
              </a:rPr>
              <a:t>进度安排</a:t>
            </a:r>
            <a:endParaRPr kumimoji="0" lang="zh-CN" altLang="en-US" sz="4000" i="0" u="none" strike="noStrike" kern="1200" cap="none" spc="300" normalizeH="0" baseline="0" noProof="0" dirty="0">
              <a:ln>
                <a:noFill/>
              </a:ln>
              <a:solidFill>
                <a:srgbClr val="4B5C78"/>
              </a:solidFill>
              <a:effectLst/>
              <a:uLnTx/>
              <a:uFillTx/>
              <a:latin typeface="+mj-ea"/>
              <a:ea typeface="+mj-ea"/>
              <a:cs typeface="+mn-cs"/>
            </a:endParaRPr>
          </a:p>
        </p:txBody>
      </p:sp>
      <p:sp>
        <p:nvSpPr>
          <p:cNvPr id="19" name="文本框 18"/>
          <p:cNvSpPr txBox="1"/>
          <p:nvPr/>
        </p:nvSpPr>
        <p:spPr>
          <a:xfrm>
            <a:off x="800101" y="976078"/>
            <a:ext cx="3505598" cy="33718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1" dirty="0">
                <a:solidFill>
                  <a:schemeClr val="accent3"/>
                </a:solidFill>
                <a:latin typeface="微软雅黑" panose="020B0503020204020204" charset="-122"/>
                <a:ea typeface="微软雅黑" panose="020B0503020204020204" charset="-122"/>
                <a:cs typeface="OPPOSans B" panose="00020600040101010101" pitchFamily="18" charset="-122"/>
                <a:sym typeface="+mn-ea"/>
              </a:rPr>
              <a:t>schedule arrangement</a:t>
            </a:r>
            <a:endParaRPr kumimoji="0" lang="en-US" altLang="zh-CN" sz="1600" b="1" i="0" u="none" strike="noStrike" kern="1200" cap="none" spc="0" normalizeH="0" baseline="0" noProof="0" dirty="0">
              <a:ln>
                <a:noFill/>
              </a:ln>
              <a:solidFill>
                <a:schemeClr val="accent3"/>
              </a:solidFill>
              <a:effectLst/>
              <a:uLnTx/>
              <a:uFillTx/>
              <a:latin typeface="微软雅黑" panose="020B0503020204020204" charset="-122"/>
              <a:ea typeface="微软雅黑" panose="020B0503020204020204" charset="-122"/>
              <a:cs typeface="OPPOSans B" panose="00020600040101010101" pitchFamily="18" charset="-122"/>
              <a:sym typeface="+mn-ea"/>
            </a:endParaRPr>
          </a:p>
        </p:txBody>
      </p:sp>
      <p:sp>
        <p:nvSpPr>
          <p:cNvPr id="20" name="矩形 19"/>
          <p:cNvSpPr/>
          <p:nvPr/>
        </p:nvSpPr>
        <p:spPr>
          <a:xfrm>
            <a:off x="424193" y="437352"/>
            <a:ext cx="199785" cy="952338"/>
          </a:xfrm>
          <a:prstGeom prst="rect">
            <a:avLst/>
          </a:prstGeom>
          <a:solidFill>
            <a:srgbClr val="4B5C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rot="16200000" flipH="1">
            <a:off x="1522365" y="4978693"/>
            <a:ext cx="231871" cy="3276600"/>
            <a:chOff x="4399082" y="1624876"/>
            <a:chExt cx="231871" cy="3276600"/>
          </a:xfrm>
        </p:grpSpPr>
        <p:cxnSp>
          <p:nvCxnSpPr>
            <p:cNvPr id="29" name="直接连接符 28"/>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rot="5400000" flipH="1">
            <a:off x="10437764" y="-1377843"/>
            <a:ext cx="231871" cy="3276600"/>
            <a:chOff x="4399082" y="1624876"/>
            <a:chExt cx="231871" cy="3276600"/>
          </a:xfrm>
        </p:grpSpPr>
        <p:cxnSp>
          <p:nvCxnSpPr>
            <p:cNvPr id="32" name="直接连接符 31"/>
            <p:cNvCxnSpPr/>
            <p:nvPr/>
          </p:nvCxnSpPr>
          <p:spPr>
            <a:xfrm rot="5400000" flipV="1">
              <a:off x="2992653" y="3263176"/>
              <a:ext cx="327660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5400000" flipV="1">
              <a:off x="3608507" y="2415451"/>
              <a:ext cx="1581150" cy="0"/>
            </a:xfrm>
            <a:prstGeom prst="line">
              <a:avLst/>
            </a:prstGeom>
            <a:ln w="38100">
              <a:gradFill flip="none" rotWithShape="1">
                <a:gsLst>
                  <a:gs pos="0">
                    <a:srgbClr val="4B5C78"/>
                  </a:gs>
                  <a:gs pos="100000">
                    <a:schemeClr val="accent5">
                      <a:lumMod val="75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35" name="图片 34"/>
          <p:cNvPicPr>
            <a:picLocks noChangeAspect="1"/>
          </p:cNvPicPr>
          <p:nvPr/>
        </p:nvPicPr>
        <p:blipFill>
          <a:blip r:embed="rId1" cstate="print">
            <a:alphaModFix amt="56000"/>
          </a:blip>
          <a:stretch>
            <a:fillRect/>
          </a:stretch>
        </p:blipFill>
        <p:spPr>
          <a:xfrm>
            <a:off x="9466368" y="5680149"/>
            <a:ext cx="2563707" cy="1302462"/>
          </a:xfrm>
          <a:prstGeom prst="rect">
            <a:avLst/>
          </a:prstGeom>
        </p:spPr>
      </p:pic>
      <p:pic>
        <p:nvPicPr>
          <p:cNvPr id="21" name="图片 20"/>
          <p:cNvPicPr>
            <a:picLocks noChangeAspect="1"/>
          </p:cNvPicPr>
          <p:nvPr/>
        </p:nvPicPr>
        <p:blipFill>
          <a:blip r:embed="rId2"/>
          <a:stretch>
            <a:fillRect/>
          </a:stretch>
        </p:blipFill>
        <p:spPr>
          <a:xfrm>
            <a:off x="2219325" y="1323975"/>
            <a:ext cx="7247255" cy="51600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p:cNvGrpSpPr/>
        <p:nvPr/>
      </p:nvGrpSpPr>
      <p:grpSpPr>
        <a:xfrm>
          <a:off x="0" y="0"/>
          <a:ext cx="0" cy="0"/>
          <a:chOff x="0" y="0"/>
          <a:chExt cx="0" cy="0"/>
        </a:xfrm>
      </p:grpSpPr>
      <p:sp>
        <p:nvSpPr>
          <p:cNvPr id="5" name="任意多边形: 形状 4"/>
          <p:cNvSpPr/>
          <p:nvPr/>
        </p:nvSpPr>
        <p:spPr>
          <a:xfrm>
            <a:off x="-38510" y="214400"/>
            <a:ext cx="12230510" cy="4164498"/>
          </a:xfrm>
          <a:custGeom>
            <a:avLst/>
            <a:gdLst>
              <a:gd name="connsiteX0" fmla="*/ 0 w 12230510"/>
              <a:gd name="connsiteY0" fmla="*/ 0 h 4164498"/>
              <a:gd name="connsiteX1" fmla="*/ 12230510 w 12230510"/>
              <a:gd name="connsiteY1" fmla="*/ 0 h 4164498"/>
              <a:gd name="connsiteX2" fmla="*/ 12230510 w 12230510"/>
              <a:gd name="connsiteY2" fmla="*/ 2324605 h 4164498"/>
              <a:gd name="connsiteX3" fmla="*/ 12020998 w 12230510"/>
              <a:gd name="connsiteY3" fmla="*/ 2527523 h 4164498"/>
              <a:gd name="connsiteX4" fmla="*/ 6125951 w 12230510"/>
              <a:gd name="connsiteY4" fmla="*/ 4164498 h 4164498"/>
              <a:gd name="connsiteX5" fmla="*/ 230898 w 12230510"/>
              <a:gd name="connsiteY5" fmla="*/ 2527523 h 4164498"/>
              <a:gd name="connsiteX6" fmla="*/ 0 w 12230510"/>
              <a:gd name="connsiteY6" fmla="*/ 2303892 h 416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0510" h="4164498">
                <a:moveTo>
                  <a:pt x="0" y="0"/>
                </a:moveTo>
                <a:lnTo>
                  <a:pt x="12230510" y="0"/>
                </a:lnTo>
                <a:lnTo>
                  <a:pt x="12230510" y="2324605"/>
                </a:lnTo>
                <a:lnTo>
                  <a:pt x="12020998" y="2527523"/>
                </a:lnTo>
                <a:cubicBezTo>
                  <a:pt x="10885711" y="3502579"/>
                  <a:pt x="8671510" y="4164498"/>
                  <a:pt x="6125951" y="4164498"/>
                </a:cubicBezTo>
                <a:cubicBezTo>
                  <a:pt x="3580388" y="4164498"/>
                  <a:pt x="1366185" y="3502579"/>
                  <a:pt x="230898" y="2527523"/>
                </a:cubicBezTo>
                <a:lnTo>
                  <a:pt x="0" y="2303892"/>
                </a:lnTo>
                <a:close/>
              </a:path>
            </a:pathLst>
          </a:custGeom>
          <a:noFill/>
          <a:ln w="28575">
            <a:gradFill>
              <a:gsLst>
                <a:gs pos="100000">
                  <a:schemeClr val="accent1">
                    <a:alpha val="6000"/>
                    <a:lumMod val="73000"/>
                  </a:schemeClr>
                </a:gs>
                <a:gs pos="53000">
                  <a:schemeClr val="accent1">
                    <a:lumMod val="75000"/>
                    <a:alpha val="88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rPr>
              <a:t>     </a:t>
            </a:r>
            <a:endParaRPr kumimoji="0" lang="zh-CN" altLang="en-US"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sp>
        <p:nvSpPr>
          <p:cNvPr id="3" name="任意多边形: 形状 2"/>
          <p:cNvSpPr/>
          <p:nvPr/>
        </p:nvSpPr>
        <p:spPr>
          <a:xfrm>
            <a:off x="-31464" y="107200"/>
            <a:ext cx="12230510" cy="4164498"/>
          </a:xfrm>
          <a:custGeom>
            <a:avLst/>
            <a:gdLst>
              <a:gd name="connsiteX0" fmla="*/ 0 w 12230510"/>
              <a:gd name="connsiteY0" fmla="*/ 0 h 4164498"/>
              <a:gd name="connsiteX1" fmla="*/ 12230510 w 12230510"/>
              <a:gd name="connsiteY1" fmla="*/ 0 h 4164498"/>
              <a:gd name="connsiteX2" fmla="*/ 12230510 w 12230510"/>
              <a:gd name="connsiteY2" fmla="*/ 2324605 h 4164498"/>
              <a:gd name="connsiteX3" fmla="*/ 12020998 w 12230510"/>
              <a:gd name="connsiteY3" fmla="*/ 2527523 h 4164498"/>
              <a:gd name="connsiteX4" fmla="*/ 6125951 w 12230510"/>
              <a:gd name="connsiteY4" fmla="*/ 4164498 h 4164498"/>
              <a:gd name="connsiteX5" fmla="*/ 230898 w 12230510"/>
              <a:gd name="connsiteY5" fmla="*/ 2527523 h 4164498"/>
              <a:gd name="connsiteX6" fmla="*/ 0 w 12230510"/>
              <a:gd name="connsiteY6" fmla="*/ 2303892 h 416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0510" h="4164498">
                <a:moveTo>
                  <a:pt x="0" y="0"/>
                </a:moveTo>
                <a:lnTo>
                  <a:pt x="12230510" y="0"/>
                </a:lnTo>
                <a:lnTo>
                  <a:pt x="12230510" y="2324605"/>
                </a:lnTo>
                <a:lnTo>
                  <a:pt x="12020998" y="2527523"/>
                </a:lnTo>
                <a:cubicBezTo>
                  <a:pt x="10885711" y="3502579"/>
                  <a:pt x="8671510" y="4164498"/>
                  <a:pt x="6125951" y="4164498"/>
                </a:cubicBezTo>
                <a:cubicBezTo>
                  <a:pt x="3580388" y="4164498"/>
                  <a:pt x="1366185" y="3502579"/>
                  <a:pt x="230898" y="2527523"/>
                </a:cubicBezTo>
                <a:lnTo>
                  <a:pt x="0" y="2303892"/>
                </a:lnTo>
                <a:close/>
              </a:path>
            </a:pathLst>
          </a:custGeom>
          <a:noFill/>
          <a:ln w="6350">
            <a:gradFill>
              <a:gsLst>
                <a:gs pos="100000">
                  <a:schemeClr val="accent1">
                    <a:lumMod val="75000"/>
                    <a:alpha val="3000"/>
                  </a:schemeClr>
                </a:gs>
                <a:gs pos="53000">
                  <a:schemeClr val="accent1">
                    <a:lumMod val="75000"/>
                    <a:alpha val="88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rPr>
              <a:t>     </a:t>
            </a:r>
            <a:endParaRPr kumimoji="0" lang="zh-CN" altLang="en-US" sz="1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sp>
        <p:nvSpPr>
          <p:cNvPr id="30" name="矩形 29"/>
          <p:cNvSpPr/>
          <p:nvPr/>
        </p:nvSpPr>
        <p:spPr>
          <a:xfrm>
            <a:off x="-55882" y="2153273"/>
            <a:ext cx="12272300" cy="4704727"/>
          </a:xfrm>
          <a:prstGeom prst="rect">
            <a:avLst/>
          </a:prstGeom>
          <a:solidFill>
            <a:srgbClr val="7186A7">
              <a:alpha val="6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OPPOSans M"/>
              <a:cs typeface="+mn-cs"/>
            </a:endParaRPr>
          </a:p>
        </p:txBody>
      </p:sp>
      <p:sp>
        <p:nvSpPr>
          <p:cNvPr id="2" name="文本框 1"/>
          <p:cNvSpPr txBox="1"/>
          <p:nvPr/>
        </p:nvSpPr>
        <p:spPr>
          <a:xfrm>
            <a:off x="-3523" y="-6743"/>
            <a:ext cx="12199046" cy="4124967"/>
          </a:xfrm>
          <a:custGeom>
            <a:avLst/>
            <a:gdLst>
              <a:gd name="connsiteX0" fmla="*/ 0 w 12192000"/>
              <a:gd name="connsiteY0" fmla="*/ 0 h 3979379"/>
              <a:gd name="connsiteX1" fmla="*/ 12192000 w 12192000"/>
              <a:gd name="connsiteY1" fmla="*/ 0 h 3979379"/>
              <a:gd name="connsiteX2" fmla="*/ 12192000 w 12192000"/>
              <a:gd name="connsiteY2" fmla="*/ 2160560 h 3979379"/>
              <a:gd name="connsiteX3" fmla="*/ 11991049 w 12192000"/>
              <a:gd name="connsiteY3" fmla="*/ 2355187 h 3979379"/>
              <a:gd name="connsiteX4" fmla="*/ 6781467 w 12192000"/>
              <a:gd name="connsiteY4" fmla="*/ 3976013 h 3979379"/>
              <a:gd name="connsiteX5" fmla="*/ 6686586 w 12192000"/>
              <a:gd name="connsiteY5" fmla="*/ 3979379 h 3979379"/>
              <a:gd name="connsiteX6" fmla="*/ 5505414 w 12192000"/>
              <a:gd name="connsiteY6" fmla="*/ 3979379 h 3979379"/>
              <a:gd name="connsiteX7" fmla="*/ 5410533 w 12192000"/>
              <a:gd name="connsiteY7" fmla="*/ 3976013 h 3979379"/>
              <a:gd name="connsiteX8" fmla="*/ 200949 w 12192000"/>
              <a:gd name="connsiteY8" fmla="*/ 2355187 h 3979379"/>
              <a:gd name="connsiteX9" fmla="*/ 0 w 12192000"/>
              <a:gd name="connsiteY9" fmla="*/ 2160563 h 397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979379">
                <a:moveTo>
                  <a:pt x="0" y="0"/>
                </a:moveTo>
                <a:lnTo>
                  <a:pt x="12192000" y="0"/>
                </a:lnTo>
                <a:lnTo>
                  <a:pt x="12192000" y="2160560"/>
                </a:lnTo>
                <a:lnTo>
                  <a:pt x="11991049" y="2355187"/>
                </a:lnTo>
                <a:cubicBezTo>
                  <a:pt x="10958970" y="3241602"/>
                  <a:pt x="9035226" y="3869225"/>
                  <a:pt x="6781467" y="3976013"/>
                </a:cubicBezTo>
                <a:lnTo>
                  <a:pt x="6686586" y="3979379"/>
                </a:lnTo>
                <a:lnTo>
                  <a:pt x="5505414" y="3979379"/>
                </a:lnTo>
                <a:lnTo>
                  <a:pt x="5410533" y="3976013"/>
                </a:lnTo>
                <a:cubicBezTo>
                  <a:pt x="3156773" y="3869225"/>
                  <a:pt x="1233028" y="3241602"/>
                  <a:pt x="200949" y="2355187"/>
                </a:cubicBezTo>
                <a:lnTo>
                  <a:pt x="0" y="2160563"/>
                </a:lnTo>
                <a:close/>
              </a:path>
            </a:pathLst>
          </a:custGeom>
          <a:blipFill dpi="0" rotWithShape="0">
            <a:blip r:embed="rId1" cstate="print"/>
            <a:srcRect/>
            <a:stretch>
              <a:fillRect/>
            </a:stretch>
          </a:blipFill>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sp>
        <p:nvSpPr>
          <p:cNvPr id="12" name="矩形 11"/>
          <p:cNvSpPr/>
          <p:nvPr/>
        </p:nvSpPr>
        <p:spPr>
          <a:xfrm>
            <a:off x="3565921" y="3072401"/>
            <a:ext cx="5498307" cy="1715685"/>
          </a:xfrm>
          <a:prstGeom prst="rect">
            <a:avLst/>
          </a:prstGeom>
          <a:noFill/>
          <a:ln w="19050">
            <a:solidFill>
              <a:srgbClr val="7186A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0" y="-6744"/>
            <a:ext cx="12199046" cy="4124967"/>
          </a:xfrm>
          <a:custGeom>
            <a:avLst/>
            <a:gdLst>
              <a:gd name="connsiteX0" fmla="*/ 0 w 12192000"/>
              <a:gd name="connsiteY0" fmla="*/ 0 h 3979379"/>
              <a:gd name="connsiteX1" fmla="*/ 12192000 w 12192000"/>
              <a:gd name="connsiteY1" fmla="*/ 0 h 3979379"/>
              <a:gd name="connsiteX2" fmla="*/ 12192000 w 12192000"/>
              <a:gd name="connsiteY2" fmla="*/ 2160560 h 3979379"/>
              <a:gd name="connsiteX3" fmla="*/ 11991049 w 12192000"/>
              <a:gd name="connsiteY3" fmla="*/ 2355187 h 3979379"/>
              <a:gd name="connsiteX4" fmla="*/ 6781467 w 12192000"/>
              <a:gd name="connsiteY4" fmla="*/ 3976013 h 3979379"/>
              <a:gd name="connsiteX5" fmla="*/ 6686586 w 12192000"/>
              <a:gd name="connsiteY5" fmla="*/ 3979379 h 3979379"/>
              <a:gd name="connsiteX6" fmla="*/ 5505414 w 12192000"/>
              <a:gd name="connsiteY6" fmla="*/ 3979379 h 3979379"/>
              <a:gd name="connsiteX7" fmla="*/ 5410533 w 12192000"/>
              <a:gd name="connsiteY7" fmla="*/ 3976013 h 3979379"/>
              <a:gd name="connsiteX8" fmla="*/ 200949 w 12192000"/>
              <a:gd name="connsiteY8" fmla="*/ 2355187 h 3979379"/>
              <a:gd name="connsiteX9" fmla="*/ 0 w 12192000"/>
              <a:gd name="connsiteY9" fmla="*/ 2160563 h 397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979379">
                <a:moveTo>
                  <a:pt x="0" y="0"/>
                </a:moveTo>
                <a:lnTo>
                  <a:pt x="12192000" y="0"/>
                </a:lnTo>
                <a:lnTo>
                  <a:pt x="12192000" y="2160560"/>
                </a:lnTo>
                <a:lnTo>
                  <a:pt x="11991049" y="2355187"/>
                </a:lnTo>
                <a:cubicBezTo>
                  <a:pt x="10958970" y="3241602"/>
                  <a:pt x="9035226" y="3869225"/>
                  <a:pt x="6781467" y="3976013"/>
                </a:cubicBezTo>
                <a:lnTo>
                  <a:pt x="6686586" y="3979379"/>
                </a:lnTo>
                <a:lnTo>
                  <a:pt x="5505414" y="3979379"/>
                </a:lnTo>
                <a:lnTo>
                  <a:pt x="5410533" y="3976013"/>
                </a:lnTo>
                <a:cubicBezTo>
                  <a:pt x="3156773" y="3869225"/>
                  <a:pt x="1233028" y="3241602"/>
                  <a:pt x="200949" y="2355187"/>
                </a:cubicBezTo>
                <a:lnTo>
                  <a:pt x="0" y="2160563"/>
                </a:lnTo>
                <a:close/>
              </a:path>
            </a:pathLst>
          </a:custGeom>
          <a:solidFill>
            <a:srgbClr val="4B5C78">
              <a:alpha val="68000"/>
            </a:srgbClr>
          </a:solidFill>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OPPOSans L" panose="00020600040101010101" pitchFamily="18" charset="-122"/>
              <a:ea typeface="OPPOSans M"/>
              <a:cs typeface="+mn-cs"/>
            </a:endParaRPr>
          </a:p>
        </p:txBody>
      </p:sp>
      <p:sp>
        <p:nvSpPr>
          <p:cNvPr id="4" name="矩形 3"/>
          <p:cNvSpPr/>
          <p:nvPr/>
        </p:nvSpPr>
        <p:spPr>
          <a:xfrm>
            <a:off x="3346846" y="2879152"/>
            <a:ext cx="5498307" cy="1715685"/>
          </a:xfrm>
          <a:prstGeom prst="rect">
            <a:avLst/>
          </a:prstGeom>
          <a:solidFill>
            <a:srgbClr val="4B5C78">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704851" y="3029233"/>
            <a:ext cx="13601700" cy="1568450"/>
          </a:xfrm>
          <a:prstGeom prst="rect">
            <a:avLst/>
          </a:prstGeom>
          <a:noFill/>
          <a:effectLst>
            <a:outerShdw blurRad="50800" dist="38100" dir="2700000" algn="tl" rotWithShape="0">
              <a:prstClr val="black">
                <a:alpha val="40000"/>
              </a:prstClr>
            </a:outerShdw>
          </a:effectLst>
        </p:spPr>
        <p:txBody>
          <a:bodyPr vert="horz" wrap="square" lIns="91440" tIns="45720" rIns="91440" bIns="45720" rtlCol="0" anchor="ctr">
            <a:spAutoFit/>
          </a:bodyPr>
          <a:lstStyle>
            <a:defPPr>
              <a:defRPr lang="zh-CN"/>
            </a:defPPr>
            <a:lvl1pPr marL="0" indent="0" algn="l" defTabSz="914400" rtl="0" eaLnBrk="1" latinLnBrk="0" hangingPunct="1">
              <a:buNone/>
              <a:defRPr lang="zh-CN" altLang="en-US" sz="50000" kern="1200" dirty="0">
                <a:gradFill>
                  <a:gsLst>
                    <a:gs pos="29000">
                      <a:srgbClr val="F9F9F9"/>
                    </a:gs>
                    <a:gs pos="80000">
                      <a:srgbClr val="F9F9F9">
                        <a:alpha val="0"/>
                      </a:srgbClr>
                    </a:gs>
                  </a:gsLst>
                  <a:lin ang="5400000" scaled="0"/>
                </a:gradFill>
                <a:latin typeface="OPPOSans L" panose="00020600040101010101" pitchFamily="18" charset="-122"/>
                <a:ea typeface="OPPOSans H" panose="00020600040101010101" pitchFamily="18" charset="-122"/>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gradFill>
                  <a:gsLst>
                    <a:gs pos="19000">
                      <a:srgbClr val="F9F9F9"/>
                    </a:gs>
                    <a:gs pos="46000">
                      <a:srgbClr val="F9F9F9">
                        <a:alpha val="78000"/>
                      </a:srgbClr>
                    </a:gs>
                    <a:gs pos="80000">
                      <a:srgbClr val="F9F9F9">
                        <a:alpha val="11000"/>
                      </a:srgbClr>
                    </a:gs>
                  </a:gsLst>
                  <a:lin ang="5400000" scaled="0"/>
                </a:gradFill>
                <a:effectLst/>
                <a:uLnTx/>
                <a:uFillTx/>
                <a:latin typeface="微软雅黑" panose="020B0503020204020204" charset="-122"/>
                <a:ea typeface="微软雅黑" panose="020B0503020204020204" charset="-122"/>
                <a:cs typeface="Arial" panose="020B0604020202020204" pitchFamily="34" charset="0"/>
              </a:rPr>
              <a:t>THANKS</a:t>
            </a:r>
            <a:endParaRPr kumimoji="0" lang="en-US" altLang="en-US" sz="9600" b="0" i="0" u="none" strike="noStrike" kern="1200" cap="none" spc="0" normalizeH="0" baseline="0" noProof="0" dirty="0">
              <a:ln>
                <a:noFill/>
              </a:ln>
              <a:gradFill>
                <a:gsLst>
                  <a:gs pos="19000">
                    <a:srgbClr val="F9F9F9"/>
                  </a:gs>
                  <a:gs pos="50000">
                    <a:srgbClr val="F9F9F9">
                      <a:alpha val="78000"/>
                    </a:srgbClr>
                  </a:gs>
                  <a:gs pos="80000">
                    <a:srgbClr val="F9F9F9">
                      <a:alpha val="5000"/>
                    </a:srgbClr>
                  </a:gs>
                </a:gsLst>
                <a:lin ang="5400000" scaled="0"/>
              </a:gradFill>
              <a:effectLst/>
              <a:uLnTx/>
              <a:uFillTx/>
              <a:latin typeface="微软雅黑" panose="020B0503020204020204" charset="-122"/>
              <a:ea typeface="微软雅黑" panose="020B0503020204020204" charset="-122"/>
              <a:cs typeface="Arial" panose="020B0604020202020204" pitchFamily="34" charset="0"/>
            </a:endParaRPr>
          </a:p>
        </p:txBody>
      </p:sp>
      <p:cxnSp>
        <p:nvCxnSpPr>
          <p:cNvPr id="17" name="直接连接符 16"/>
          <p:cNvCxnSpPr/>
          <p:nvPr/>
        </p:nvCxnSpPr>
        <p:spPr>
          <a:xfrm>
            <a:off x="359899" y="6678043"/>
            <a:ext cx="11856519" cy="6754"/>
          </a:xfrm>
          <a:prstGeom prst="line">
            <a:avLst/>
          </a:prstGeom>
          <a:ln w="44450">
            <a:solidFill>
              <a:srgbClr val="C6CEDC"/>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2" cstate="print">
            <a:alphaModFix amt="77000"/>
          </a:blip>
          <a:stretch>
            <a:fillRect/>
          </a:stretch>
        </p:blipFill>
        <p:spPr>
          <a:xfrm>
            <a:off x="9207103" y="-90640"/>
            <a:ext cx="2869784" cy="1457961"/>
          </a:xfrm>
          <a:prstGeom prst="rect">
            <a:avLst/>
          </a:prstGeom>
          <a:effectLst>
            <a:outerShdw blurRad="50800" dist="50800" dir="5400000" algn="ctr" rotWithShape="0">
              <a:srgbClr val="000000">
                <a:alpha val="24000"/>
              </a:srgbClr>
            </a:outerShdw>
          </a:effectLst>
        </p:spPr>
      </p:pic>
      <p:cxnSp>
        <p:nvCxnSpPr>
          <p:cNvPr id="21" name="直接连接符 20" hidden="1"/>
          <p:cNvCxnSpPr/>
          <p:nvPr/>
        </p:nvCxnSpPr>
        <p:spPr>
          <a:xfrm>
            <a:off x="213121" y="-6744"/>
            <a:ext cx="0" cy="6521492"/>
          </a:xfrm>
          <a:prstGeom prst="line">
            <a:avLst/>
          </a:prstGeom>
          <a:ln w="57150">
            <a:solidFill>
              <a:srgbClr val="C6CEDC"/>
            </a:solidFill>
          </a:ln>
        </p:spPr>
        <p:style>
          <a:lnRef idx="1">
            <a:schemeClr val="accent1"/>
          </a:lnRef>
          <a:fillRef idx="0">
            <a:schemeClr val="accent1"/>
          </a:fillRef>
          <a:effectRef idx="0">
            <a:schemeClr val="accent1"/>
          </a:effectRef>
          <a:fontRef idx="minor">
            <a:schemeClr val="tx1"/>
          </a:fontRef>
        </p:style>
      </p:cxnSp>
      <p:sp>
        <p:nvSpPr>
          <p:cNvPr id="15" name="流程图: 终止 14"/>
          <p:cNvSpPr/>
          <p:nvPr/>
        </p:nvSpPr>
        <p:spPr>
          <a:xfrm>
            <a:off x="137160" y="6276340"/>
            <a:ext cx="3744595" cy="476250"/>
          </a:xfrm>
          <a:prstGeom prst="flowChartTerminator">
            <a:avLst/>
          </a:prstGeom>
          <a:solidFill>
            <a:srgbClr val="7186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137160" y="6308725"/>
            <a:ext cx="6544945" cy="368300"/>
          </a:xfrm>
          <a:prstGeom prst="rect">
            <a:avLst/>
          </a:prstGeom>
          <a:noFill/>
        </p:spPr>
        <p:txBody>
          <a:bodyPr wrap="square" rtlCol="0">
            <a:spAutoFit/>
          </a:bodyPr>
          <a:lstStyle/>
          <a:p>
            <a:r>
              <a:rPr lang="zh-CN" altLang="en-US" dirty="0">
                <a:solidFill>
                  <a:schemeClr val="bg1">
                    <a:alpha val="77000"/>
                  </a:schemeClr>
                </a:solidFill>
              </a:rPr>
              <a:t>汇报人：</a:t>
            </a:r>
            <a:r>
              <a:rPr lang="zh-CN" altLang="en-US" b="1" dirty="0">
                <a:solidFill>
                  <a:schemeClr val="bg1"/>
                </a:solidFill>
                <a:sym typeface="+mn-ea"/>
              </a:rPr>
              <a:t>刘佳鑫，徐华炫，毛星博</a:t>
            </a:r>
            <a:r>
              <a:rPr lang="en-US" altLang="zh-CN" dirty="0">
                <a:solidFill>
                  <a:schemeClr val="bg1">
                    <a:alpha val="77000"/>
                  </a:schemeClr>
                </a:solidFill>
              </a:rPr>
              <a:t>   </a:t>
            </a:r>
            <a:r>
              <a:rPr lang="zh-CN" altLang="en-US" dirty="0">
                <a:solidFill>
                  <a:schemeClr val="bg1">
                    <a:alpha val="77000"/>
                  </a:schemeClr>
                </a:solidFill>
              </a:rPr>
              <a:t>时间：</a:t>
            </a:r>
            <a:r>
              <a:rPr lang="en-US" altLang="zh-CN" dirty="0">
                <a:solidFill>
                  <a:schemeClr val="bg1">
                    <a:alpha val="77000"/>
                  </a:schemeClr>
                </a:solidFill>
              </a:rPr>
              <a:t>2024.10</a:t>
            </a:r>
            <a:endParaRPr lang="zh-CN" altLang="en-US" dirty="0">
              <a:solidFill>
                <a:schemeClr val="bg1">
                  <a:alpha val="77000"/>
                </a:schemeClr>
              </a:solidFill>
            </a:endParaRPr>
          </a:p>
        </p:txBody>
      </p:sp>
      <p:cxnSp>
        <p:nvCxnSpPr>
          <p:cNvPr id="37" name="直接连接符 36"/>
          <p:cNvCxnSpPr/>
          <p:nvPr/>
        </p:nvCxnSpPr>
        <p:spPr>
          <a:xfrm flipV="1">
            <a:off x="191313" y="0"/>
            <a:ext cx="0" cy="2495550"/>
          </a:xfrm>
          <a:prstGeom prst="line">
            <a:avLst/>
          </a:prstGeom>
          <a:ln w="57150">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2.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3.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4.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5.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6.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7.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8.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9.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10.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11.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12.xml><?xml version="1.0" encoding="utf-8"?>
<p:tagLst xmlns:p="http://schemas.openxmlformats.org/presentationml/2006/main">
  <p:tag name="KSO_WM_DIAGRAM_VIRTUALLY_FRAME" val="{&quot;height&quot;:453.80291338582674,&quot;left&quot;:418.82661417322834,&quot;top&quot;:43.09858267716535,&quot;width&quot;:401.77472440944894}"/>
</p:tagLst>
</file>

<file path=ppt/tags/tag13.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14.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15.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16.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17.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18.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19.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0.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1.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2.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3.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4.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5.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6.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7.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8.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29.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0.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1.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2.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3.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4.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5.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6.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7.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8.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39.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40.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41.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42.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43.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44.xml><?xml version="1.0" encoding="utf-8"?>
<p:tagLst xmlns:p="http://schemas.openxmlformats.org/presentationml/2006/main">
  <p:tag name="KSO_WM_DIAGRAM_VIRTUALLY_FRAME" val="{&quot;height&quot;:471.0174279969454,&quot;left&quot;:55.42874015748032,&quot;top&quot;:88.79438302667656,&quot;width&quot;:901.8212598425196}"/>
</p:tagLst>
</file>

<file path=ppt/tags/tag45.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46.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47.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48.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49.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0.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1.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2.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3.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4.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5.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6.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7.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8.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59.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60.xml><?xml version="1.0" encoding="utf-8"?>
<p:tagLst xmlns:p="http://schemas.openxmlformats.org/presentationml/2006/main">
  <p:tag name="KSO_WM_DIAGRAM_VIRTUALLY_FRAME" val="{&quot;height&quot;:484.3149724793786,&quot;left&quot;:78.15582677165352,&quot;top&quot;:55.685072815428796,&quot;width&quot;:817.8441732283466}"/>
</p:tagLst>
</file>

<file path=ppt/tags/tag61.xml><?xml version="1.0" encoding="utf-8"?>
<p:tagLst xmlns:p="http://schemas.openxmlformats.org/presentationml/2006/main">
  <p:tag name="KSO_WM_DIAGRAM_VIRTUALLY_FRAME" val="{&quot;height&quot;:484.3149724793786,&quot;left&quot;:72.5,&quot;top&quot;:55.685072815428796,&quot;width&quot;:823.5}"/>
</p:tagLst>
</file>

<file path=ppt/tags/tag62.xml><?xml version="1.0" encoding="utf-8"?>
<p:tagLst xmlns:p="http://schemas.openxmlformats.org/presentationml/2006/main">
  <p:tag name="KSO_WM_DIAGRAM_VIRTUALLY_FRAME" val="{&quot;height&quot;:484.3149724793786,&quot;left&quot;:72.5,&quot;top&quot;:55.685072815428796,&quot;width&quot;:823.5}"/>
</p:tagLst>
</file>

<file path=ppt/tags/tag63.xml><?xml version="1.0" encoding="utf-8"?>
<p:tagLst xmlns:p="http://schemas.openxmlformats.org/presentationml/2006/main">
  <p:tag name="KSO_WM_DIAGRAM_VIRTUALLY_FRAME" val="{&quot;height&quot;:484.3149724793786,&quot;left&quot;:72.5,&quot;top&quot;:55.685072815428796,&quot;width&quot;:823.5}"/>
</p:tagLst>
</file>

<file path=ppt/tags/tag64.xml><?xml version="1.0" encoding="utf-8"?>
<p:tagLst xmlns:p="http://schemas.openxmlformats.org/presentationml/2006/main">
  <p:tag name="KSO_WM_DIAGRAM_VIRTUALLY_FRAME" val="{&quot;height&quot;:484.3149724793786,&quot;left&quot;:72.5,&quot;top&quot;:55.685072815428796,&quot;width&quot;:823.5}"/>
</p:tagLst>
</file>

<file path=ppt/tags/tag65.xml><?xml version="1.0" encoding="utf-8"?>
<p:tagLst xmlns:p="http://schemas.openxmlformats.org/presentationml/2006/main">
  <p:tag name="KSO_WM_DIAGRAM_VIRTUALLY_FRAME" val="{&quot;height&quot;:484.3149724793786,&quot;left&quot;:72.5,&quot;top&quot;:55.685072815428796,&quot;width&quot;:823.5}"/>
</p:tagLst>
</file>

<file path=ppt/tags/tag66.xml><?xml version="1.0" encoding="utf-8"?>
<p:tagLst xmlns:p="http://schemas.openxmlformats.org/presentationml/2006/main">
  <p:tag name="KSO_WM_DIAGRAM_VIRTUALLY_FRAME" val="{&quot;height&quot;:484.3149724793786,&quot;left&quot;:72.5,&quot;top&quot;:55.685072815428796,&quot;width&quot;:823.5}"/>
</p:tagLst>
</file>

<file path=ppt/tags/tag67.xml><?xml version="1.0" encoding="utf-8"?>
<p:tagLst xmlns:p="http://schemas.openxmlformats.org/presentationml/2006/main">
  <p:tag name="KSO_WM_DIAGRAM_VIRTUALLY_FRAME" val="{&quot;height&quot;:484.3149724793786,&quot;left&quot;:72.5,&quot;top&quot;:55.685072815428796,&quot;width&quot;:823.5}"/>
</p:tagLst>
</file>

<file path=ppt/tags/tag68.xml><?xml version="1.0" encoding="utf-8"?>
<p:tagLst xmlns:p="http://schemas.openxmlformats.org/presentationml/2006/main">
  <p:tag name="KSO_WM_DIAGRAM_VIRTUALLY_FRAME" val="{&quot;height&quot;:484.3149724793786,&quot;left&quot;:72.5,&quot;top&quot;:55.685072815428796,&quot;width&quot;:823.5}"/>
</p:tagLst>
</file>

<file path=ppt/tags/tag69.xml><?xml version="1.0" encoding="utf-8"?>
<p:tagLst xmlns:p="http://schemas.openxmlformats.org/presentationml/2006/main">
  <p:tag name="KSO_WM_DIAGRAM_VIRTUALLY_FRAME" val="{&quot;height&quot;:484.3149724793786,&quot;left&quot;:72.5,&quot;top&quot;:55.685072815428796,&quot;width&quot;:823.5}"/>
</p:tagLst>
</file>

<file path=ppt/tags/tag70.xml><?xml version="1.0" encoding="utf-8"?>
<p:tagLst xmlns:p="http://schemas.openxmlformats.org/presentationml/2006/main">
  <p:tag name="KSO_WM_DIAGRAM_VIRTUALLY_FRAME" val="{&quot;height&quot;:484.3149724793786,&quot;left&quot;:72.5,&quot;top&quot;:55.685072815428796,&quot;width&quot;:823.5}"/>
</p:tagLst>
</file>

<file path=ppt/tags/tag71.xml><?xml version="1.0" encoding="utf-8"?>
<p:tagLst xmlns:p="http://schemas.openxmlformats.org/presentationml/2006/main">
  <p:tag name="KSO_WM_DIAGRAM_VIRTUALLY_FRAME" val="{&quot;height&quot;:484.3149724793786,&quot;left&quot;:72.5,&quot;top&quot;:55.685072815428796,&quot;width&quot;:823.5}"/>
</p:tagLst>
</file>

<file path=ppt/tags/tag72.xml><?xml version="1.0" encoding="utf-8"?>
<p:tagLst xmlns:p="http://schemas.openxmlformats.org/presentationml/2006/main">
  <p:tag name="KSO_WM_DIAGRAM_VIRTUALLY_FRAME" val="{&quot;height&quot;:484.3149724793786,&quot;left&quot;:72.5,&quot;top&quot;:55.685072815428796,&quot;width&quot;:823.5}"/>
</p:tagLst>
</file>

<file path=ppt/tags/tag73.xml><?xml version="1.0" encoding="utf-8"?>
<p:tagLst xmlns:p="http://schemas.openxmlformats.org/presentationml/2006/main">
  <p:tag name="KSO_WM_DIAGRAM_VIRTUALLY_FRAME" val="{&quot;height&quot;:484.3149724793786,&quot;left&quot;:72.5,&quot;top&quot;:55.685072815428796,&quot;width&quot;:823.5}"/>
</p:tagLst>
</file>

<file path=ppt/tags/tag74.xml><?xml version="1.0" encoding="utf-8"?>
<p:tagLst xmlns:p="http://schemas.openxmlformats.org/presentationml/2006/main">
  <p:tag name="KSO_WM_DIAGRAM_VIRTUALLY_FRAME" val="{&quot;height&quot;:484.3149724793786,&quot;left&quot;:72.5,&quot;top&quot;:55.685072815428796,&quot;width&quot;:823.5}"/>
</p:tagLst>
</file>

<file path=ppt/tags/tag75.xml><?xml version="1.0" encoding="utf-8"?>
<p:tagLst xmlns:p="http://schemas.openxmlformats.org/presentationml/2006/main">
  <p:tag name="KSO_WM_DIAGRAM_VIRTUALLY_FRAME" val="{&quot;height&quot;:484.3149724793786,&quot;left&quot;:72.5,&quot;top&quot;:55.685072815428796,&quot;width&quot;:823.5}"/>
</p:tagLst>
</file>

<file path=ppt/tags/tag76.xml><?xml version="1.0" encoding="utf-8"?>
<p:tagLst xmlns:p="http://schemas.openxmlformats.org/presentationml/2006/main">
  <p:tag name="KSO_WM_DIAGRAM_VIRTUALLY_FRAME" val="{&quot;height&quot;:484.3149724793786,&quot;left&quot;:72.5,&quot;top&quot;:55.685072815428796,&quot;width&quot;:823.5}"/>
</p:tagLst>
</file>

<file path=ppt/tags/tag77.xml><?xml version="1.0" encoding="utf-8"?>
<p:tagLst xmlns:p="http://schemas.openxmlformats.org/presentationml/2006/main">
  <p:tag name="KSO_WM_DIAGRAM_VIRTUALLY_FRAME" val="{&quot;height&quot;:152.55,&quot;left&quot;:271.65,&quot;top&quot;:148.75,&quot;width&quot;:484.35}"/>
</p:tagLst>
</file>

<file path=ppt/tags/tag78.xml><?xml version="1.0" encoding="utf-8"?>
<p:tagLst xmlns:p="http://schemas.openxmlformats.org/presentationml/2006/main">
  <p:tag name="KSO_WM_DIAGRAM_VIRTUALLY_FRAME" val="{&quot;height&quot;:152.55,&quot;left&quot;:271.65,&quot;top&quot;:148.75,&quot;width&quot;:484.35}"/>
</p:tagLst>
</file>

<file path=ppt/tags/tag79.xml><?xml version="1.0" encoding="utf-8"?>
<p:tagLst xmlns:p="http://schemas.openxmlformats.org/presentationml/2006/main">
  <p:tag name="KSO_WM_DIAGRAM_VIRTUALLY_FRAME" val="{&quot;height&quot;:152.55,&quot;left&quot;:271.65,&quot;top&quot;:148.75,&quot;width&quot;:484.35}"/>
</p:tagLst>
</file>

<file path=ppt/tags/tag80.xml><?xml version="1.0" encoding="utf-8"?>
<p:tagLst xmlns:p="http://schemas.openxmlformats.org/presentationml/2006/main">
  <p:tag name="KSO_WM_DIAGRAM_VIRTUALLY_FRAME" val="{&quot;height&quot;:152.55,&quot;left&quot;:271.65,&quot;top&quot;:148.75,&quot;width&quot;:484.35}"/>
</p:tagLst>
</file>

<file path=ppt/tags/tag81.xml><?xml version="1.0" encoding="utf-8"?>
<p:tagLst xmlns:p="http://schemas.openxmlformats.org/presentationml/2006/main">
  <p:tag name="KSO_WM_DIAGRAM_VIRTUALLY_FRAME" val="{&quot;height&quot;:152.55,&quot;left&quot;:271.65,&quot;top&quot;:148.75,&quot;width&quot;:484.35}"/>
</p:tagLst>
</file>

<file path=ppt/tags/tag82.xml><?xml version="1.0" encoding="utf-8"?>
<p:tagLst xmlns:p="http://schemas.openxmlformats.org/presentationml/2006/main">
  <p:tag name="KSO_WM_DIAGRAM_VIRTUALLY_FRAME" val="{&quot;height&quot;:146.1,&quot;left&quot;:271.65,&quot;top&quot;:155.2,&quot;width&quot;:442.1}"/>
</p:tagLst>
</file>

<file path=ppt/tags/tag83.xml><?xml version="1.0" encoding="utf-8"?>
<p:tagLst xmlns:p="http://schemas.openxmlformats.org/presentationml/2006/main">
  <p:tag name="KSO_WM_DIAGRAM_VIRTUALLY_FRAME" val="{&quot;height&quot;:146.1,&quot;left&quot;:271.65,&quot;top&quot;:155.2,&quot;width&quot;:442.1}"/>
</p:tagLst>
</file>

<file path=ppt/tags/tag84.xml><?xml version="1.0" encoding="utf-8"?>
<p:tagLst xmlns:p="http://schemas.openxmlformats.org/presentationml/2006/main">
  <p:tag name="KSO_WM_DIAGRAM_VIRTUALLY_FRAME" val="{&quot;height&quot;:146.1,&quot;left&quot;:271.65,&quot;top&quot;:155.2,&quot;width&quot;:442.1}"/>
</p:tagLst>
</file>

<file path=ppt/tags/tag85.xml><?xml version="1.0" encoding="utf-8"?>
<p:tagLst xmlns:p="http://schemas.openxmlformats.org/presentationml/2006/main">
  <p:tag name="KSO_WM_DIAGRAM_VIRTUALLY_FRAME" val="{&quot;height&quot;:146.1,&quot;left&quot;:271.65,&quot;top&quot;:155.2,&quot;width&quot;:442.1}"/>
</p:tagLst>
</file>

<file path=ppt/tags/tag86.xml><?xml version="1.0" encoding="utf-8"?>
<p:tagLst xmlns:p="http://schemas.openxmlformats.org/presentationml/2006/main">
  <p:tag name="KSO_WM_DIAGRAM_VIRTUALLY_FRAME" val="{&quot;height&quot;:146.1,&quot;left&quot;:271.65,&quot;top&quot;:155.2,&quot;width&quot;:442.1}"/>
</p:tagLst>
</file>

<file path=ppt/tags/tag87.xml><?xml version="1.0" encoding="utf-8"?>
<p:tagLst xmlns:p="http://schemas.openxmlformats.org/presentationml/2006/main">
  <p:tag name="KSO_WM_DIAGRAM_VIRTUALLY_FRAME" val="{&quot;height&quot;:144.85,&quot;left&quot;:307.1,&quot;top&quot;:156.45,&quot;width&quot;:406.65}"/>
</p:tagLst>
</file>

<file path=ppt/tags/tag88.xml><?xml version="1.0" encoding="utf-8"?>
<p:tagLst xmlns:p="http://schemas.openxmlformats.org/presentationml/2006/main">
  <p:tag name="KSO_WM_DIAGRAM_VIRTUALLY_FRAME" val="{&quot;height&quot;:144.85,&quot;left&quot;:307.1,&quot;top&quot;:156.45,&quot;width&quot;:406.65}"/>
</p:tagLst>
</file>

<file path=ppt/tags/tag89.xml><?xml version="1.0" encoding="utf-8"?>
<p:tagLst xmlns:p="http://schemas.openxmlformats.org/presentationml/2006/main">
  <p:tag name="KSO_WM_DIAGRAM_VIRTUALLY_FRAME" val="{&quot;height&quot;:144.85,&quot;left&quot;:307.1,&quot;top&quot;:156.45,&quot;width&quot;:406.65}"/>
</p:tagLst>
</file>

<file path=ppt/tags/tag90.xml><?xml version="1.0" encoding="utf-8"?>
<p:tagLst xmlns:p="http://schemas.openxmlformats.org/presentationml/2006/main">
  <p:tag name="KSO_WM_DIAGRAM_VIRTUALLY_FRAME" val="{&quot;height&quot;:144.85,&quot;left&quot;:307.1,&quot;top&quot;:156.45,&quot;width&quot;:406.65}"/>
</p:tagLst>
</file>

<file path=ppt/tags/tag91.xml><?xml version="1.0" encoding="utf-8"?>
<p:tagLst xmlns:p="http://schemas.openxmlformats.org/presentationml/2006/main">
  <p:tag name="KSO_WM_DIAGRAM_VIRTUALLY_FRAME" val="{&quot;height&quot;:144.85,&quot;left&quot;:307.1,&quot;top&quot;:156.45,&quot;width&quot;:406.65}"/>
</p:tagLst>
</file>

<file path=ppt/tags/tag92.xml><?xml version="1.0" encoding="utf-8"?>
<p:tagLst xmlns:p="http://schemas.openxmlformats.org/presentationml/2006/main">
  <p:tag name="KSO_WM_DIAGRAM_VIRTUALLY_FRAME" val="{&quot;height&quot;:144.85,&quot;left&quot;:307.1,&quot;top&quot;:156.45,&quot;width&quot;:406.65}"/>
</p:tagLst>
</file>

<file path=ppt/tags/tag93.xml><?xml version="1.0" encoding="utf-8"?>
<p:tagLst xmlns:p="http://schemas.openxmlformats.org/presentationml/2006/main">
  <p:tag name="KSO_WM_DIAGRAM_VIRTUALLY_FRAME" val="{&quot;height&quot;:144.85,&quot;left&quot;:307.1,&quot;top&quot;:156.45,&quot;width&quot;:406.65}"/>
</p:tagLst>
</file>

<file path=ppt/tags/tag94.xml><?xml version="1.0" encoding="utf-8"?>
<p:tagLst xmlns:p="http://schemas.openxmlformats.org/presentationml/2006/main">
  <p:tag name="KSO_WM_DIAGRAM_VIRTUALLY_FRAME" val="{&quot;height&quot;:144.85,&quot;left&quot;:307.1,&quot;top&quot;:156.45,&quot;width&quot;:406.65}"/>
</p:tagLst>
</file>

<file path=ppt/tags/tag95.xml><?xml version="1.0" encoding="utf-8"?>
<p:tagLst xmlns:p="http://schemas.openxmlformats.org/presentationml/2006/main">
  <p:tag name="KSO_WM_DIAGRAM_VIRTUALLY_FRAME" val="{&quot;height&quot;:144.85,&quot;left&quot;:307.1,&quot;top&quot;:156.45,&quot;width&quot;:406.65}"/>
</p:tagLst>
</file>

<file path=ppt/tags/tag96.xml><?xml version="1.0" encoding="utf-8"?>
<p:tagLst xmlns:p="http://schemas.openxmlformats.org/presentationml/2006/main">
  <p:tag name="KSO_WM_DIAGRAM_VIRTUALLY_FRAME" val="{&quot;height&quot;:144.85,&quot;left&quot;:307.1,&quot;top&quot;:156.45,&quot;width&quot;:406.65}"/>
</p:tagLst>
</file>

<file path=ppt/tags/tag97.xml><?xml version="1.0" encoding="utf-8"?>
<p:tagLst xmlns:p="http://schemas.openxmlformats.org/presentationml/2006/main">
  <p:tag name="KSO_WM_DIAGRAM_VIRTUALLY_FRAME" val="{&quot;height&quot;:146.1,&quot;left&quot;:271.65,&quot;top&quot;:155.2,&quot;width&quot;:442.1}"/>
</p:tagLst>
</file>

<file path=ppt/tags/tag98.xml><?xml version="1.0" encoding="utf-8"?>
<p:tagLst xmlns:p="http://schemas.openxmlformats.org/presentationml/2006/main">
  <p:tag name="KSO_WM_DIAGRAM_VIRTUALLY_FRAME" val="{&quot;height&quot;:146.1,&quot;left&quot;:271.65,&quot;top&quot;:155.2,&quot;width&quot;:442.1}"/>
</p:tagLst>
</file>

<file path=ppt/tags/tag99.xml><?xml version="1.0" encoding="utf-8"?>
<p:tagLst xmlns:p="http://schemas.openxmlformats.org/presentationml/2006/main">
  <p:tag name="KSO_WM_DIAGRAM_VIRTUALLY_FRAME" val="{&quot;height&quot;:146.1,&quot;left&quot;:271.65,&quot;top&quot;:155.2,&quot;width&quot;:442.1}"/>
</p:tagLst>
</file>

<file path=ppt/tags/tag100.xml><?xml version="1.0" encoding="utf-8"?>
<p:tagLst xmlns:p="http://schemas.openxmlformats.org/presentationml/2006/main">
  <p:tag name="KSO_WM_DIAGRAM_VIRTUALLY_FRAME" val="{&quot;height&quot;:146.1,&quot;left&quot;:271.65,&quot;top&quot;:155.2,&quot;width&quot;:442.1}"/>
</p:tagLst>
</file>

<file path=ppt/tags/tag101.xml><?xml version="1.0" encoding="utf-8"?>
<p:tagLst xmlns:p="http://schemas.openxmlformats.org/presentationml/2006/main">
  <p:tag name="KSO_WM_DIAGRAM_VIRTUALLY_FRAME" val="{&quot;height&quot;:146.1,&quot;left&quot;:271.65,&quot;top&quot;:155.2,&quot;width&quot;:442.1}"/>
</p:tagLst>
</file>

<file path=ppt/tags/tag102.xml><?xml version="1.0" encoding="utf-8"?>
<p:tagLst xmlns:p="http://schemas.openxmlformats.org/presentationml/2006/main">
  <p:tag name="KSO_WM_DIAGRAM_VIRTUALLY_FRAME" val="{&quot;height&quot;:146.1,&quot;left&quot;:271.65,&quot;top&quot;:155.2,&quot;width&quot;:442.1}"/>
</p:tagLst>
</file>

<file path=ppt/tags/tag103.xml><?xml version="1.0" encoding="utf-8"?>
<p:tagLst xmlns:p="http://schemas.openxmlformats.org/presentationml/2006/main">
  <p:tag name="KSO_WM_DIAGRAM_VIRTUALLY_FRAME" val="{&quot;height&quot;:146.1,&quot;left&quot;:271.65,&quot;top&quot;:155.2,&quot;width&quot;:442.1}"/>
</p:tagLst>
</file>

<file path=ppt/tags/tag104.xml><?xml version="1.0" encoding="utf-8"?>
<p:tagLst xmlns:p="http://schemas.openxmlformats.org/presentationml/2006/main">
  <p:tag name="KSO_WM_DIAGRAM_VIRTUALLY_FRAME" val="{&quot;height&quot;:146.1,&quot;left&quot;:271.65,&quot;top&quot;:155.2,&quot;width&quot;:442.1}"/>
</p:tagLst>
</file>

<file path=ppt/tags/tag105.xml><?xml version="1.0" encoding="utf-8"?>
<p:tagLst xmlns:p="http://schemas.openxmlformats.org/presentationml/2006/main">
  <p:tag name="KSO_WM_DIAGRAM_VIRTUALLY_FRAME" val="{&quot;height&quot;:146.1,&quot;left&quot;:271.65,&quot;top&quot;:155.2,&quot;width&quot;:442.1}"/>
</p:tagLst>
</file>

<file path=ppt/tags/tag106.xml><?xml version="1.0" encoding="utf-8"?>
<p:tagLst xmlns:p="http://schemas.openxmlformats.org/presentationml/2006/main">
  <p:tag name="KSO_WM_DIAGRAM_VIRTUALLY_FRAME" val="{&quot;height&quot;:146.1,&quot;left&quot;:271.65,&quot;top&quot;:155.2,&quot;width&quot;:442.1}"/>
</p:tagLst>
</file>

<file path=ppt/tags/tag107.xml><?xml version="1.0" encoding="utf-8"?>
<p:tagLst xmlns:p="http://schemas.openxmlformats.org/presentationml/2006/main">
  <p:tag name="KSO_WM_DIAGRAM_VIRTUALLY_FRAME" val="{&quot;height&quot;:144.85,&quot;left&quot;:307.1,&quot;top&quot;:156.45,&quot;width&quot;:406.65}"/>
</p:tagLst>
</file>

<file path=ppt/tags/tag108.xml><?xml version="1.0" encoding="utf-8"?>
<p:tagLst xmlns:p="http://schemas.openxmlformats.org/presentationml/2006/main">
  <p:tag name="KSO_WM_DIAGRAM_VIRTUALLY_FRAME" val="{&quot;height&quot;:144.85,&quot;left&quot;:307.1,&quot;top&quot;:156.45,&quot;width&quot;:406.65}"/>
</p:tagLst>
</file>

<file path=ppt/tags/tag109.xml><?xml version="1.0" encoding="utf-8"?>
<p:tagLst xmlns:p="http://schemas.openxmlformats.org/presentationml/2006/main">
  <p:tag name="KSO_WM_DIAGRAM_VIRTUALLY_FRAME" val="{&quot;height&quot;:144.85,&quot;left&quot;:307.1,&quot;top&quot;:156.45,&quot;width&quot;:406.65}"/>
</p:tagLst>
</file>

<file path=ppt/tags/tag110.xml><?xml version="1.0" encoding="utf-8"?>
<p:tagLst xmlns:p="http://schemas.openxmlformats.org/presentationml/2006/main">
  <p:tag name="KSO_WM_DIAGRAM_VIRTUALLY_FRAME" val="{&quot;height&quot;:144.85,&quot;left&quot;:307.1,&quot;top&quot;:156.45,&quot;width&quot;:406.65}"/>
</p:tagLst>
</file>

<file path=ppt/tags/tag111.xml><?xml version="1.0" encoding="utf-8"?>
<p:tagLst xmlns:p="http://schemas.openxmlformats.org/presentationml/2006/main">
  <p:tag name="KSO_WM_DIAGRAM_VIRTUALLY_FRAME" val="{&quot;height&quot;:144.85,&quot;left&quot;:307.1,&quot;top&quot;:156.45,&quot;width&quot;:406.65}"/>
</p:tagLst>
</file>

<file path=ppt/tags/tag112.xml><?xml version="1.0" encoding="utf-8"?>
<p:tagLst xmlns:p="http://schemas.openxmlformats.org/presentationml/2006/main">
  <p:tag name="KSO_WM_DIAGRAM_VIRTUALLY_FRAME" val="{&quot;height&quot;:144.85,&quot;left&quot;:307.1,&quot;top&quot;:156.45,&quot;width&quot;:406.65}"/>
</p:tagLst>
</file>

<file path=ppt/tags/tag113.xml><?xml version="1.0" encoding="utf-8"?>
<p:tagLst xmlns:p="http://schemas.openxmlformats.org/presentationml/2006/main">
  <p:tag name="KSO_WM_DIAGRAM_VIRTUALLY_FRAME" val="{&quot;height&quot;:144.85,&quot;left&quot;:307.1,&quot;top&quot;:156.45,&quot;width&quot;:406.65}"/>
</p:tagLst>
</file>

<file path=ppt/tags/tag114.xml><?xml version="1.0" encoding="utf-8"?>
<p:tagLst xmlns:p="http://schemas.openxmlformats.org/presentationml/2006/main">
  <p:tag name="KSO_WM_DIAGRAM_VIRTUALLY_FRAME" val="{&quot;height&quot;:144.85,&quot;left&quot;:307.1,&quot;top&quot;:156.45,&quot;width&quot;:406.65}"/>
</p:tagLst>
</file>

<file path=ppt/tags/tag115.xml><?xml version="1.0" encoding="utf-8"?>
<p:tagLst xmlns:p="http://schemas.openxmlformats.org/presentationml/2006/main">
  <p:tag name="KSO_WM_DIAGRAM_VIRTUALLY_FRAME" val="{&quot;height&quot;:144.85,&quot;left&quot;:307.1,&quot;top&quot;:156.45,&quot;width&quot;:406.65}"/>
</p:tagLst>
</file>

<file path=ppt/tags/tag116.xml><?xml version="1.0" encoding="utf-8"?>
<p:tagLst xmlns:p="http://schemas.openxmlformats.org/presentationml/2006/main">
  <p:tag name="KSO_WM_DIAGRAM_VIRTUALLY_FRAME" val="{&quot;height&quot;:144.85,&quot;left&quot;:307.1,&quot;top&quot;:156.45,&quot;width&quot;:406.65}"/>
</p:tagLst>
</file>

<file path=ppt/tags/tag117.xml><?xml version="1.0" encoding="utf-8"?>
<p:tagLst xmlns:p="http://schemas.openxmlformats.org/presentationml/2006/main">
  <p:tag name="COMMONDATA" val="eyJoZGlkIjoiZThmNjAzMWJlZjFkMmQwODUwMTJkYzE2ODFiYmFmYT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字体搭配02-旁门左道">
      <a:majorFont>
        <a:latin typeface="OPPOSans B"/>
        <a:ea typeface="OPPOSans B"/>
        <a:cs typeface=""/>
      </a:majorFont>
      <a:minorFont>
        <a:latin typeface="OPPOSans M"/>
        <a:ea typeface="OPPOSans 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2145</Words>
  <Application>WPS 演示</Application>
  <PresentationFormat>宽屏</PresentationFormat>
  <Paragraphs>298</Paragraphs>
  <Slides>17</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17</vt:i4>
      </vt:variant>
    </vt:vector>
  </HeadingPairs>
  <TitlesOfParts>
    <vt:vector size="35" baseType="lpstr">
      <vt:lpstr>Arial</vt:lpstr>
      <vt:lpstr>宋体</vt:lpstr>
      <vt:lpstr>Wingdings</vt:lpstr>
      <vt:lpstr>OPPOSans L</vt:lpstr>
      <vt:lpstr>OPPOSans M</vt:lpstr>
      <vt:lpstr>OPPOSans M</vt:lpstr>
      <vt:lpstr>微软雅黑</vt:lpstr>
      <vt:lpstr>微软雅黑 Light</vt:lpstr>
      <vt:lpstr>OPPOSans B</vt:lpstr>
      <vt:lpstr>OPPOSans H</vt:lpstr>
      <vt:lpstr>Wingdings</vt:lpstr>
      <vt:lpstr>Arial</vt:lpstr>
      <vt:lpstr>华文新魏</vt:lpstr>
      <vt:lpstr>Segoe Print</vt:lpstr>
      <vt:lpstr>Arial Unicode MS</vt:lpstr>
      <vt:lpstr>Calibri</vt:lpstr>
      <vt:lpstr>OPPOSans 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源啊圆</dc:creator>
  <cp:lastModifiedBy>染墨相思</cp:lastModifiedBy>
  <cp:revision>33</cp:revision>
  <dcterms:created xsi:type="dcterms:W3CDTF">2022-07-13T05:03:00Z</dcterms:created>
  <dcterms:modified xsi:type="dcterms:W3CDTF">2025-04-27T14:04:14Z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ED7260D331A943F1B6435C1C0CB8FDE6_12</vt:lpwstr>
  </property>
  <property fmtid="{D5CDD505-2E9C-101B-9397-08002B2CF9AE}" pid="3" name="KSOProductBuildVer">
    <vt:lpwstr>2052-12.1.0.21171</vt:lpwstr>
  </property>
</Properties>
</file>