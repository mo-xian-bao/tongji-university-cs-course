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1"/>
    <p:sldMasterId id="2147483733" r:id="rId2"/>
  </p:sldMasterIdLst>
  <p:notesMasterIdLst>
    <p:notesMasterId r:id="rId19"/>
  </p:notesMasterIdLst>
  <p:handoutMasterIdLst>
    <p:handoutMasterId r:id="rId20"/>
  </p:handoutMasterIdLst>
  <p:sldIdLst>
    <p:sldId id="2039" r:id="rId3"/>
    <p:sldId id="2656" r:id="rId4"/>
    <p:sldId id="5285" r:id="rId5"/>
    <p:sldId id="5286" r:id="rId6"/>
    <p:sldId id="5287" r:id="rId7"/>
    <p:sldId id="5288" r:id="rId8"/>
    <p:sldId id="5289" r:id="rId9"/>
    <p:sldId id="5290" r:id="rId10"/>
    <p:sldId id="5291" r:id="rId11"/>
    <p:sldId id="5292" r:id="rId12"/>
    <p:sldId id="5293" r:id="rId13"/>
    <p:sldId id="5294" r:id="rId14"/>
    <p:sldId id="5295" r:id="rId15"/>
    <p:sldId id="5296" r:id="rId16"/>
    <p:sldId id="5297" r:id="rId17"/>
    <p:sldId id="5298" r:id="rId18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1pPr>
    <a:lvl2pPr marL="4556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2pPr>
    <a:lvl3pPr marL="9128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3pPr>
    <a:lvl4pPr marL="13700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4pPr>
    <a:lvl5pPr marL="1827213" indent="1588" algn="l" rtl="0" fontAlgn="base">
      <a:spcBef>
        <a:spcPct val="20000"/>
      </a:spcBef>
      <a:spcAft>
        <a:spcPct val="0"/>
      </a:spcAft>
      <a:buFont typeface="Arial" charset="0"/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itchFamily="96" charset="0"/>
        <a:ea typeface="宋体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2039"/>
            <p14:sldId id="2656"/>
            <p14:sldId id="5285"/>
            <p14:sldId id="5286"/>
            <p14:sldId id="5287"/>
            <p14:sldId id="5288"/>
            <p14:sldId id="5289"/>
            <p14:sldId id="5290"/>
            <p14:sldId id="5291"/>
            <p14:sldId id="5292"/>
            <p14:sldId id="5293"/>
            <p14:sldId id="5294"/>
            <p14:sldId id="5295"/>
            <p14:sldId id="5296"/>
            <p14:sldId id="5297"/>
            <p14:sldId id="5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6BA"/>
    <a:srgbClr val="080808"/>
    <a:srgbClr val="339933"/>
    <a:srgbClr val="B5880B"/>
    <a:srgbClr val="E87071"/>
    <a:srgbClr val="00B3EE"/>
    <a:srgbClr val="93E5FF"/>
    <a:srgbClr val="F7FE98"/>
    <a:srgbClr val="FFFFFF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63" autoAdjust="0"/>
    <p:restoredTop sz="84531" autoAdjust="0"/>
  </p:normalViewPr>
  <p:slideViewPr>
    <p:cSldViewPr>
      <p:cViewPr varScale="1">
        <p:scale>
          <a:sx n="125" d="100"/>
          <a:sy n="125" d="100"/>
        </p:scale>
        <p:origin x="270" y="45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pPr>
                <a:defRPr/>
              </a:pPr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23572666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FontTx/>
              <a:buNone/>
              <a:defRPr sz="1200">
                <a:latin typeface="Arial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pPr>
                <a:defRPr/>
              </a:pPr>
              <a:t>‹#›</a:t>
            </a:fld>
            <a:endParaRPr lang="fi-FI" altLang="zh-CN"/>
          </a:p>
        </p:txBody>
      </p:sp>
    </p:spTree>
    <p:extLst>
      <p:ext uri="{BB962C8B-B14F-4D97-AF65-F5344CB8AC3E}">
        <p14:creationId xmlns:p14="http://schemas.microsoft.com/office/powerpoint/2010/main" val="17204162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8C311E-5859-4E0C-A0F3-4690A095D6BE}" type="slidenum">
              <a:rPr kumimoji="0" lang="fi-FI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i-FI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8680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611560" y="123478"/>
            <a:ext cx="6480720" cy="514102"/>
          </a:xfrm>
          <a:prstGeom prst="rect">
            <a:avLst/>
          </a:prstGeom>
          <a:solidFill>
            <a:schemeClr val="bg1"/>
          </a:solidFill>
        </p:spPr>
        <p:txBody>
          <a:bodyPr rtlCol="0">
            <a:noAutofit/>
          </a:bodyPr>
          <a:lstStyle>
            <a:lvl1pPr algn="l">
              <a:defRPr sz="2400" b="1" baseline="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0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>
              <a:defRPr sz="18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>
              <a:defRPr sz="16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>
              <a:defRPr sz="1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>
              <a:defRPr sz="1400"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D7A9122C-2794-4A95-85D5-67E362F7EF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22726" y="201457"/>
            <a:ext cx="1587734" cy="386697"/>
          </a:xfrm>
          <a:prstGeom prst="rect">
            <a:avLst/>
          </a:prstGeom>
        </p:spPr>
      </p:pic>
      <p:cxnSp>
        <p:nvCxnSpPr>
          <p:cNvPr id="5" name="PA-102211">
            <a:extLst>
              <a:ext uri="{FF2B5EF4-FFF2-40B4-BE49-F238E27FC236}">
                <a16:creationId xmlns:a16="http://schemas.microsoft.com/office/drawing/2014/main" id="{C87527B0-2AEC-439E-9D61-9F881129AF8A}"/>
              </a:ext>
            </a:extLst>
          </p:cNvPr>
          <p:cNvCxnSpPr/>
          <p:nvPr userDrawn="1">
            <p:custDataLst>
              <p:tags r:id="rId1"/>
            </p:custDataLst>
          </p:nvPr>
        </p:nvCxnSpPr>
        <p:spPr>
          <a:xfrm>
            <a:off x="355283" y="699542"/>
            <a:ext cx="8555177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等腰三角形 3">
            <a:extLst>
              <a:ext uri="{FF2B5EF4-FFF2-40B4-BE49-F238E27FC236}">
                <a16:creationId xmlns:a16="http://schemas.microsoft.com/office/drawing/2014/main" id="{85669494-41B5-4632-B1D9-01C055E75766}"/>
              </a:ext>
            </a:extLst>
          </p:cNvPr>
          <p:cNvSpPr/>
          <p:nvPr userDrawn="1"/>
        </p:nvSpPr>
        <p:spPr>
          <a:xfrm rot="5400000">
            <a:off x="319564" y="290513"/>
            <a:ext cx="273368" cy="20193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>
              <a:solidFill>
                <a:srgbClr val="FFFFFF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569259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64540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程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16752D73-FCE0-4C91-9046-B443BB0EE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0AB1787-2FB0-4C6A-B98A-30C644A6BEF9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81265A1D-E753-4B73-A145-8601358CF94C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A2112050-F8FB-4C93-9752-2D3FE7B75F9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5BBE3BC9-B6A4-42F2-9408-BD266AA06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E2368EDB-C388-4E28-BBE5-4F255162B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9872EB7-0880-4D4B-AB94-8A492573263B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5256"/>
            <a:ext cx="8330701" cy="3254791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C8DF600F-69D6-4B54-9FE0-7418FD2F14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2025/6/12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9F403212-3DFD-47AC-9FCD-43C4135BB60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07A37F3F-9709-495C-A02A-28A1719A375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791A760A-A8F5-4109-B3A7-90E0284994A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71880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>
            <a:extLst>
              <a:ext uri="{FF2B5EF4-FFF2-40B4-BE49-F238E27FC236}">
                <a16:creationId xmlns:a16="http://schemas.microsoft.com/office/drawing/2014/main" id="{A5457454-CD41-4EC0-92FC-4BEB76B02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20204" pitchFamily="34" charset="0"/>
              </a:rPr>
              <a:t> </a:t>
            </a:r>
            <a:fld id="{69AB6661-0E74-4BEC-A242-46590437B53C}" type="slidenum">
              <a:rPr lang="en-US" altLang="zh-CN" sz="750">
                <a:latin typeface="Arial" panose="020B0604020202020204" pitchFamily="34" charset="0"/>
              </a:rPr>
              <a:pPr algn="ctr"/>
              <a:t>‹#›</a:t>
            </a:fld>
            <a:endParaRPr lang="en-US" altLang="zh-CN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直接连接符 19">
            <a:extLst>
              <a:ext uri="{FF2B5EF4-FFF2-40B4-BE49-F238E27FC236}">
                <a16:creationId xmlns:a16="http://schemas.microsoft.com/office/drawing/2014/main" id="{35396A89-02DC-47BF-A242-E77FB2856038}"/>
              </a:ext>
            </a:extLst>
          </p:cNvPr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>
            <a:extLst>
              <a:ext uri="{FF2B5EF4-FFF2-40B4-BE49-F238E27FC236}">
                <a16:creationId xmlns:a16="http://schemas.microsoft.com/office/drawing/2014/main" id="{E84470B1-7E26-445E-8261-EF124C84FCBC}"/>
              </a:ext>
            </a:extLst>
          </p:cNvPr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>
            <a:extLst>
              <a:ext uri="{FF2B5EF4-FFF2-40B4-BE49-F238E27FC236}">
                <a16:creationId xmlns:a16="http://schemas.microsoft.com/office/drawing/2014/main" id="{DC54CF8F-955A-4A75-ADB5-E00F1353F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sp>
        <p:nvSpPr>
          <p:cNvPr id="9" name="AutoShape 23">
            <a:extLst>
              <a:ext uri="{FF2B5EF4-FFF2-40B4-BE49-F238E27FC236}">
                <a16:creationId xmlns:a16="http://schemas.microsoft.com/office/drawing/2014/main" id="{8367A01C-6193-475C-8106-FED3AEAAA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3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FEFBF47-4E4E-4907-8B9A-381E7A293BE9}"/>
              </a:ext>
            </a:extLst>
          </p:cNvPr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317865" y="1316002"/>
            <a:ext cx="8330701" cy="3276923"/>
          </a:xfrm>
        </p:spPr>
        <p:txBody>
          <a:bodyPr>
            <a:noAutofit/>
          </a:bodyPr>
          <a:lstStyle>
            <a:lvl1pPr marL="271939" indent="-271939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48" b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29" b="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>
            <a:extLst>
              <a:ext uri="{FF2B5EF4-FFF2-40B4-BE49-F238E27FC236}">
                <a16:creationId xmlns:a16="http://schemas.microsoft.com/office/drawing/2014/main" id="{8C9D253A-10DE-481D-988E-6BEC0CDA20F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2025/6/12</a:t>
            </a:fld>
            <a:endParaRPr lang="zh-CN" altLang="en-US"/>
          </a:p>
        </p:txBody>
      </p:sp>
      <p:sp>
        <p:nvSpPr>
          <p:cNvPr id="12" name="页脚占位符 4">
            <a:extLst>
              <a:ext uri="{FF2B5EF4-FFF2-40B4-BE49-F238E27FC236}">
                <a16:creationId xmlns:a16="http://schemas.microsoft.com/office/drawing/2014/main" id="{B2901E17-58DF-49C4-9DE2-A12586FCDAE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27DC25B2-A5E5-4F2C-BA98-D1B72330E66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B22652B3-2E09-4BBA-A0D6-24503131B01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00674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31A94-F931-4AAA-8DB5-6ED9F8502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88E0AB-1C0D-42C7-851F-DD65AD7B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1F0FCB-3C9B-43AF-9122-66CB9AF9BE1F}" type="datetimeFigureOut">
              <a:rPr lang="zh-CN" altLang="en-US" smtClean="0"/>
              <a:pPr>
                <a:defRPr/>
              </a:pPr>
              <a:t>2025/6/12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48D610-C3FB-43EF-84BB-9022A474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1D823-BC15-486B-873C-13E261F2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1C93-5505-452B-8265-D50E35693F6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2782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5853F-F8D3-4201-B7D6-19EE6B4D4F23}"/>
              </a:ext>
            </a:extLst>
          </p:cNvPr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algn="r"/>
              <a:t>‹#›</a:t>
            </a:fld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2" r:id="rId2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4CABCC62-743F-4022-8159-B19A201B0BB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91691" y="146447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8EE9B879-BEBD-4844-945E-D696D6281BD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16706" y="890588"/>
            <a:ext cx="8229600" cy="75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</a:t>
            </a:r>
          </a:p>
        </p:txBody>
      </p:sp>
      <p:sp>
        <p:nvSpPr>
          <p:cNvPr id="8" name="日期占位符 7">
            <a:extLst>
              <a:ext uri="{FF2B5EF4-FFF2-40B4-BE49-F238E27FC236}">
                <a16:creationId xmlns:a16="http://schemas.microsoft.com/office/drawing/2014/main" id="{C95541F1-4DC5-4655-B057-934C72C689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pPr>
                <a:defRPr/>
              </a:pPr>
              <a:t>2025/6/12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D41541A6-4A6E-4EAB-92E4-324E52AD6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00D96588-48D9-48F6-8566-84A7CB18E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noProof="1" dirty="0">
                <a:solidFill>
                  <a:srgbClr val="898989"/>
                </a:solidFill>
              </a:defRPr>
            </a:lvl1pPr>
          </a:lstStyle>
          <a:p>
            <a:fld id="{BD211C93-5505-452B-8265-D50E35693F6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152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+mj-lt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62903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6pPr>
      <a:lvl7pPr marL="72580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7pPr>
      <a:lvl8pPr marL="1088231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8pPr>
      <a:lvl9pPr marL="1451134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9pPr>
    </p:titleStyle>
    <p:bodyStyle>
      <a:lvl1pPr marL="271463" indent="-271463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Wingdings" panose="05000000000000000000" pitchFamily="2" charset="2"/>
        <a:buChar char="n"/>
        <a:defRPr sz="1575"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589360" indent="-226219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75">
          <a:solidFill>
            <a:schemeClr val="tx1"/>
          </a:solidFill>
          <a:latin typeface="+mn-lt"/>
          <a:ea typeface="+mn-ea"/>
        </a:defRPr>
      </a:lvl2pPr>
      <a:lvl3pPr marL="90606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75">
          <a:solidFill>
            <a:schemeClr val="tx1"/>
          </a:solidFill>
          <a:latin typeface="+mn-lt"/>
          <a:ea typeface="+mn-ea"/>
        </a:defRPr>
      </a:lvl3pPr>
      <a:lvl4pPr marL="1269206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75">
          <a:solidFill>
            <a:schemeClr val="tx1"/>
          </a:solidFill>
          <a:latin typeface="+mn-lt"/>
          <a:ea typeface="+mn-ea"/>
        </a:defRPr>
      </a:lvl4pPr>
      <a:lvl5pPr marL="1632347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75">
          <a:solidFill>
            <a:schemeClr val="tx1"/>
          </a:solidFill>
          <a:latin typeface="+mn-lt"/>
          <a:ea typeface="+mn-ea"/>
        </a:defRPr>
      </a:lvl5pPr>
      <a:lvl6pPr marL="1995488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6pPr>
      <a:lvl7pPr marL="2358390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7pPr>
      <a:lvl8pPr marL="2721293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8pPr>
      <a:lvl9pPr marL="3084195" indent="-181451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86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1pPr>
      <a:lvl2pPr marL="362903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3pPr>
      <a:lvl4pPr marL="108823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4pPr>
      <a:lvl5pPr marL="145113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5pPr>
      <a:lvl6pPr marL="1814036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6pPr>
      <a:lvl7pPr marL="2176939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7pPr>
      <a:lvl8pPr marL="2539841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8pPr>
      <a:lvl9pPr marL="2902744" algn="l" defTabSz="725329" rtl="0" eaLnBrk="1" latinLnBrk="0" hangingPunct="1">
        <a:defRPr sz="14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admis-tongji.github.io/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yichaozhang@tongji.edu.cn" TargetMode="External"/><Relationship Id="rId5" Type="http://schemas.openxmlformats.org/officeDocument/2006/relationships/hyperlink" Target="mailto:jhguan@tongji.edu.cn" TargetMode="External"/><Relationship Id="rId4" Type="http://schemas.openxmlformats.org/officeDocument/2006/relationships/hyperlink" Target="mailto:lwengen@tongji.edu.c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3926E56-11E2-4B2B-AA1C-5D1F684EF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89" y="15669"/>
            <a:ext cx="2015207" cy="55459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03ED0B6-5F13-43E2-B9A5-1A661161B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170" y="922185"/>
            <a:ext cx="9156340" cy="1299018"/>
          </a:xfrm>
          <a:prstGeom prst="rect">
            <a:avLst/>
          </a:prstGeom>
          <a:noFill/>
          <a:ln>
            <a:noFill/>
          </a:ln>
          <a:extLst/>
        </p:spPr>
        <p:txBody>
          <a:bodyPr lIns="92075" tIns="46038" rIns="92075" bIns="46038" anchor="ctr"/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Database System Principles</a:t>
            </a:r>
            <a:b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《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数据库系统原理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》</a:t>
            </a:r>
            <a:endParaRPr kumimoji="1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charset="0"/>
              <a:cs typeface="Arial" panose="020B060402020202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FBC9F24-FD93-49D6-BCA4-3DE0167BA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450" y="2213477"/>
            <a:ext cx="3234190" cy="11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90000"/>
              <a:buFont typeface="Arial" charset="0"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李文根</a:t>
            </a:r>
            <a:r>
              <a:rPr kumimoji="1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/Wengen Li </a:t>
            </a:r>
            <a:endParaRPr kumimoji="1" lang="en-GB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90000"/>
              <a:buFont typeface="Arial" charset="0"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副教授</a:t>
            </a:r>
            <a:r>
              <a:rPr kumimoji="1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/Ass</a:t>
            </a:r>
            <a:r>
              <a:rPr kumimoji="1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ocaite</a:t>
            </a:r>
            <a:r>
              <a:rPr kumimoji="1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Professor</a:t>
            </a: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90000"/>
              <a:buFont typeface="Arial" charset="0"/>
              <a:buNone/>
              <a:tabLst/>
              <a:defRPr/>
            </a:pPr>
            <a:r>
              <a:rPr kumimoji="1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Email: </a:t>
            </a:r>
            <a:r>
              <a:rPr kumimoji="1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hlinkClick r:id="rId4"/>
              </a:rPr>
              <a:t>lwengen@tongji.edu.cn</a:t>
            </a:r>
            <a:endParaRPr kumimoji="1" lang="de-CH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27A77F0-9603-4F7C-9225-FA3693FBE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6935" y="2213477"/>
            <a:ext cx="3019183" cy="11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90000"/>
              <a:buFont typeface="Arial" charset="0"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关佶红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kumimoji="1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Jihong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Guan</a:t>
            </a: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90000"/>
              <a:buFont typeface="Arial" charset="0"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教授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/Professor </a:t>
            </a: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90000"/>
              <a:buFont typeface="Arial" charset="0"/>
              <a:buNone/>
              <a:tabLst/>
              <a:defRPr/>
            </a:pPr>
            <a:r>
              <a:rPr kumimoji="1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Email: </a:t>
            </a:r>
            <a:r>
              <a:rPr kumimoji="1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hlinkClick r:id="rId5"/>
              </a:rPr>
              <a:t>jhguan@tongji.edu.cn</a:t>
            </a:r>
            <a:endParaRPr kumimoji="1" lang="en-GB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07C28EE7-A4D7-4836-B262-3451453E7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2254" y="2213477"/>
            <a:ext cx="3234190" cy="11034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90000"/>
              <a:buFont typeface="Arial" charset="0"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张毅超</a:t>
            </a:r>
            <a:r>
              <a:rPr kumimoji="1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kumimoji="1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Yichao</a:t>
            </a: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Zhang</a:t>
            </a:r>
            <a:r>
              <a:rPr kumimoji="1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kumimoji="1" lang="en-GB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90000"/>
              <a:buFont typeface="Arial" charset="0"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副教授</a:t>
            </a:r>
            <a:r>
              <a:rPr kumimoji="1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/Ass</a:t>
            </a:r>
            <a:r>
              <a:rPr kumimoji="1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ociate</a:t>
            </a:r>
            <a:r>
              <a:rPr kumimoji="1" lang="en-GB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Professor</a:t>
            </a:r>
          </a:p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90000"/>
              <a:buFont typeface="Arial" charset="0"/>
              <a:buNone/>
              <a:tabLst/>
              <a:defRPr/>
            </a:pPr>
            <a:r>
              <a:rPr kumimoji="1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Email: </a:t>
            </a:r>
            <a:r>
              <a:rPr kumimoji="1" lang="en-GB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hlinkClick r:id="rId6"/>
              </a:rPr>
              <a:t>yichaozhang@tongji.edu.cn</a:t>
            </a:r>
            <a:endParaRPr kumimoji="1" lang="de-CH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12B3487-BD64-48A6-AFDF-47405675EA6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137" y="78916"/>
            <a:ext cx="4296350" cy="37258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985A365-8A3E-49FB-95AA-B9EC00EE3D98}"/>
              </a:ext>
            </a:extLst>
          </p:cNvPr>
          <p:cNvSpPr txBox="1"/>
          <p:nvPr/>
        </p:nvSpPr>
        <p:spPr>
          <a:xfrm>
            <a:off x="287524" y="3226441"/>
            <a:ext cx="8568952" cy="92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先进数据与机器智能系统实验室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Advanced Data and Machine Intelligence Systems (ADMIS) Lab</a:t>
            </a:r>
          </a:p>
          <a:p>
            <a:pPr algn="ctr"/>
            <a:r>
              <a:rPr lang="en-US" altLang="zh-CN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hlinkClick r:id="rId8"/>
              </a:rPr>
              <a:t>https://admis-tongji.github.io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1">
            <a:extLst>
              <a:ext uri="{FF2B5EF4-FFF2-40B4-BE49-F238E27FC236}">
                <a16:creationId xmlns:a16="http://schemas.microsoft.com/office/drawing/2014/main" id="{49015ABD-6FF3-4A67-A15A-AFE66E6E7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1680" y="4269026"/>
            <a:ext cx="5731044" cy="708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2500"/>
              </a:lnSpc>
              <a:spcBef>
                <a:spcPct val="0"/>
              </a:spcBef>
              <a:buFontTx/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同济大学 计算机科学与技术学院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Heiti SC Medium" panose="02000000000000000000" charset="-122"/>
            </a:endParaRPr>
          </a:p>
          <a:p>
            <a:pPr algn="ctr" eaLnBrk="1" hangingPunct="1">
              <a:lnSpc>
                <a:spcPts val="2500"/>
              </a:lnSpc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2025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年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06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Heiti SC Medium" panose="02000000000000000000" charset="-122"/>
              </a:rPr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1423473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AECA98-632A-4B72-8A92-55B62B151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课程概要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E40C30C-6410-42A5-AE0E-9EB26E67D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16" y="781783"/>
            <a:ext cx="4427984" cy="3805070"/>
          </a:xfrm>
        </p:spPr>
        <p:txBody>
          <a:bodyPr/>
          <a:lstStyle/>
          <a:p>
            <a:pPr marL="252000" indent="-252000">
              <a:lnSpc>
                <a:spcPts val="15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C00000"/>
                </a:solidFill>
              </a:rPr>
              <a:t>Part 0: Overview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rgbClr val="C00000"/>
                </a:solidFill>
              </a:rPr>
              <a:t>Ch1: Introduction </a:t>
            </a:r>
          </a:p>
          <a:p>
            <a:pPr marL="252000" indent="-252000">
              <a:lnSpc>
                <a:spcPts val="15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C00000"/>
                </a:solidFill>
              </a:rPr>
              <a:t>Part 1  Relational Languages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rgbClr val="C00000"/>
                </a:solidFill>
              </a:rPr>
              <a:t>Ch2: Relational model 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rgbClr val="C00000"/>
                </a:solidFill>
              </a:rPr>
              <a:t>Ch3&amp;4: SQL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rgbClr val="C00000"/>
                </a:solidFill>
              </a:rPr>
              <a:t>Ch5: Advanced SQL </a:t>
            </a:r>
          </a:p>
          <a:p>
            <a:pPr marL="252000" indent="-252000">
              <a:lnSpc>
                <a:spcPts val="15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C00000"/>
                </a:solidFill>
              </a:rPr>
              <a:t>Part 2  Database Design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rgbClr val="C00000"/>
                </a:solidFill>
              </a:rPr>
              <a:t>Ch6: Database design via E-R model 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rgbClr val="C00000"/>
                </a:solidFill>
              </a:rPr>
              <a:t>Ch7: Relational database design </a:t>
            </a:r>
          </a:p>
          <a:p>
            <a:pPr marL="252000" indent="-252000">
              <a:lnSpc>
                <a:spcPts val="15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</a:rPr>
              <a:t>Part 3  Application Design &amp; Development 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Ch8: Complex data types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Ch9: Application development</a:t>
            </a:r>
          </a:p>
          <a:p>
            <a:pPr marL="252000" indent="-252000">
              <a:lnSpc>
                <a:spcPts val="1500"/>
              </a:lnSpc>
              <a:spcBef>
                <a:spcPts val="60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</a:rPr>
              <a:t>Part 4  Big Data Analytics 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Ch10: Big data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Ch11: Data analytics </a:t>
            </a:r>
          </a:p>
          <a:p>
            <a:pPr>
              <a:lnSpc>
                <a:spcPts val="1500"/>
              </a:lnSpc>
              <a:spcBef>
                <a:spcPts val="0"/>
              </a:spcBef>
              <a:spcAft>
                <a:spcPts val="600"/>
              </a:spcAft>
            </a:pPr>
            <a:endParaRPr lang="en-US" altLang="zh-CN" sz="18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DE32065F-0855-4814-B021-72BCB22F9565}"/>
              </a:ext>
            </a:extLst>
          </p:cNvPr>
          <p:cNvSpPr txBox="1">
            <a:spLocks/>
          </p:cNvSpPr>
          <p:nvPr/>
        </p:nvSpPr>
        <p:spPr bwMode="auto">
          <a:xfrm>
            <a:off x="4572000" y="771550"/>
            <a:ext cx="4536504" cy="3805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52000" indent="-252000">
              <a:lnSpc>
                <a:spcPts val="1500"/>
              </a:lnSpc>
              <a:spcBef>
                <a:spcPts val="600"/>
              </a:spcBef>
              <a:spcAft>
                <a:spcPts val="0"/>
              </a:spcAft>
              <a:buFontTx/>
              <a:buChar char="•"/>
            </a:pPr>
            <a:r>
              <a:rPr lang="en-US" altLang="zh-CN" sz="1600" b="1" dirty="0">
                <a:solidFill>
                  <a:srgbClr val="C00000"/>
                </a:solidFill>
              </a:rPr>
              <a:t>Part 5  Storage Management &amp; Indexing 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FontTx/>
            </a:pPr>
            <a:r>
              <a:rPr lang="en-US" altLang="zh-CN" sz="1400" kern="0" dirty="0">
                <a:solidFill>
                  <a:srgbClr val="C00000"/>
                </a:solidFill>
              </a:rPr>
              <a:t>Ch12: Physical storage systems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FontTx/>
            </a:pPr>
            <a:r>
              <a:rPr lang="en-US" altLang="zh-CN" sz="1400" kern="0" dirty="0">
                <a:solidFill>
                  <a:srgbClr val="C00000"/>
                </a:solidFill>
              </a:rPr>
              <a:t>Ch13: Data storage structures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FontTx/>
            </a:pPr>
            <a:r>
              <a:rPr lang="en-US" altLang="zh-CN" sz="1400" kern="0" dirty="0">
                <a:solidFill>
                  <a:srgbClr val="C00000"/>
                </a:solidFill>
              </a:rPr>
              <a:t>Ch14: Indexing</a:t>
            </a:r>
            <a:endParaRPr lang="en-US" altLang="zh-CN" sz="1600" b="1" kern="0" dirty="0">
              <a:solidFill>
                <a:srgbClr val="C00000"/>
              </a:solidFill>
            </a:endParaRPr>
          </a:p>
          <a:p>
            <a:pPr marL="252000" indent="-252000">
              <a:lnSpc>
                <a:spcPts val="1500"/>
              </a:lnSpc>
              <a:spcBef>
                <a:spcPts val="600"/>
              </a:spcBef>
              <a:spcAft>
                <a:spcPts val="0"/>
              </a:spcAft>
              <a:buFontTx/>
              <a:buChar char="•"/>
            </a:pPr>
            <a:r>
              <a:rPr lang="en-US" altLang="zh-CN" sz="1600" b="1" dirty="0">
                <a:solidFill>
                  <a:srgbClr val="C00000"/>
                </a:solidFill>
              </a:rPr>
              <a:t>Part 6  Query Processing &amp; Optimization 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FontTx/>
            </a:pPr>
            <a:r>
              <a:rPr lang="en-US" altLang="zh-CN" sz="1400" kern="0" dirty="0">
                <a:solidFill>
                  <a:srgbClr val="C00000"/>
                </a:solidFill>
              </a:rPr>
              <a:t>Ch15: Query processing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300"/>
              </a:spcAft>
              <a:buFontTx/>
            </a:pPr>
            <a:r>
              <a:rPr lang="en-US" altLang="zh-CN" sz="1400" kern="0" dirty="0">
                <a:solidFill>
                  <a:srgbClr val="C00000"/>
                </a:solidFill>
              </a:rPr>
              <a:t>Ch16: Query optimization </a:t>
            </a:r>
            <a:endParaRPr lang="en-US" altLang="zh-CN" sz="1600" b="1" kern="0" dirty="0">
              <a:solidFill>
                <a:srgbClr val="C00000"/>
              </a:solidFill>
            </a:endParaRPr>
          </a:p>
          <a:p>
            <a:pPr marL="252000" indent="-252000">
              <a:lnSpc>
                <a:spcPts val="1500"/>
              </a:lnSpc>
              <a:spcBef>
                <a:spcPts val="600"/>
              </a:spcBef>
              <a:spcAft>
                <a:spcPts val="0"/>
              </a:spcAft>
              <a:buFontTx/>
              <a:buChar char="•"/>
            </a:pPr>
            <a:r>
              <a:rPr lang="en-US" altLang="zh-CN" sz="1600" b="1" dirty="0">
                <a:solidFill>
                  <a:srgbClr val="C00000"/>
                </a:solidFill>
              </a:rPr>
              <a:t>Part 7 Transaction Management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Tx/>
            </a:pPr>
            <a:r>
              <a:rPr lang="en-US" altLang="zh-CN" sz="1400" kern="0" dirty="0">
                <a:solidFill>
                  <a:srgbClr val="C00000"/>
                </a:solidFill>
              </a:rPr>
              <a:t>Ch17: Transactions  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Tx/>
            </a:pPr>
            <a:r>
              <a:rPr lang="en-US" altLang="zh-CN" sz="1400" kern="0" dirty="0">
                <a:solidFill>
                  <a:srgbClr val="C00000"/>
                </a:solidFill>
              </a:rPr>
              <a:t>Ch18: Concurrency control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Tx/>
            </a:pPr>
            <a:r>
              <a:rPr lang="en-US" altLang="zh-CN" sz="1400" kern="0" dirty="0">
                <a:solidFill>
                  <a:srgbClr val="C00000"/>
                </a:solidFill>
              </a:rPr>
              <a:t>Ch19: Recovery system</a:t>
            </a:r>
          </a:p>
          <a:p>
            <a:pPr marL="252000" indent="-252000">
              <a:lnSpc>
                <a:spcPts val="1500"/>
              </a:lnSpc>
              <a:spcBef>
                <a:spcPts val="600"/>
              </a:spcBef>
              <a:spcAft>
                <a:spcPts val="0"/>
              </a:spcAft>
              <a:buFontTx/>
              <a:buChar char="•"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</a:rPr>
              <a:t>Part 8 Parallel &amp; Distributed Database 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Tx/>
            </a:pPr>
            <a:r>
              <a:rPr lang="en-US" altLang="zh-CN" sz="1400" kern="0" dirty="0">
                <a:solidFill>
                  <a:schemeClr val="bg1">
                    <a:lumMod val="50000"/>
                  </a:schemeClr>
                </a:solidFill>
              </a:rPr>
              <a:t>Ch20: Database system architecture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600"/>
              </a:spcAft>
              <a:buFontTx/>
            </a:pPr>
            <a:r>
              <a:rPr lang="en-US" altLang="zh-CN" sz="1400" kern="0" dirty="0">
                <a:solidFill>
                  <a:schemeClr val="bg1">
                    <a:lumMod val="50000"/>
                  </a:schemeClr>
                </a:solidFill>
              </a:rPr>
              <a:t>Ch21-23: Parallel &amp; distributed storage, query processing &amp; transaction processing  </a:t>
            </a:r>
          </a:p>
          <a:p>
            <a:pPr marL="252000" indent="-252000">
              <a:lnSpc>
                <a:spcPts val="1500"/>
              </a:lnSpc>
              <a:spcBef>
                <a:spcPts val="600"/>
              </a:spcBef>
              <a:spcAft>
                <a:spcPts val="0"/>
              </a:spcAft>
              <a:buFontTx/>
              <a:buChar char="•"/>
            </a:pPr>
            <a:r>
              <a:rPr lang="en-US" altLang="zh-CN" sz="1600" b="1" dirty="0">
                <a:solidFill>
                  <a:schemeClr val="bg1">
                    <a:lumMod val="50000"/>
                  </a:schemeClr>
                </a:solidFill>
              </a:rPr>
              <a:t>Advanced topics 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</a:pPr>
            <a:r>
              <a:rPr lang="en-US" altLang="zh-CN" sz="1400" kern="0" dirty="0">
                <a:solidFill>
                  <a:schemeClr val="bg1">
                    <a:lumMod val="50000"/>
                  </a:schemeClr>
                </a:solidFill>
              </a:rPr>
              <a:t>DB Platform: </a:t>
            </a:r>
            <a:r>
              <a:rPr lang="en-US" altLang="zh-CN" sz="1400" b="1" kern="0" dirty="0" err="1">
                <a:solidFill>
                  <a:schemeClr val="bg1">
                    <a:lumMod val="50000"/>
                  </a:schemeClr>
                </a:solidFill>
              </a:rPr>
              <a:t>OceanBase</a:t>
            </a:r>
            <a:r>
              <a:rPr lang="en-US" altLang="zh-CN" sz="1400" kern="0" dirty="0">
                <a:solidFill>
                  <a:schemeClr val="bg1">
                    <a:lumMod val="50000"/>
                  </a:schemeClr>
                </a:solidFill>
              </a:rPr>
              <a:t>, MongoDB, Neo4J</a:t>
            </a:r>
          </a:p>
          <a:p>
            <a:pPr lvl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FontTx/>
            </a:pPr>
            <a:r>
              <a:rPr lang="en-US" altLang="zh-CN" sz="1400" kern="0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35508260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AAD33A-62E1-41C5-9537-F26EED041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1 Introduction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9C775CD-B2F3-488A-AE67-B348DC395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18" y="854912"/>
            <a:ext cx="5071846" cy="3805070"/>
          </a:xfrm>
        </p:spPr>
        <p:txBody>
          <a:bodyPr/>
          <a:lstStyle/>
          <a:p>
            <a:r>
              <a:rPr lang="en-US" altLang="zh-CN" sz="2000" b="1" dirty="0"/>
              <a:t>Drawbacks of file-processing system</a:t>
            </a:r>
          </a:p>
          <a:p>
            <a:pPr lvl="1"/>
            <a:r>
              <a:rPr lang="en-US" altLang="zh-CN" sz="1800" dirty="0"/>
              <a:t>Data redundancy and inconsistency</a:t>
            </a:r>
          </a:p>
          <a:p>
            <a:pPr lvl="1"/>
            <a:r>
              <a:rPr lang="en-US" altLang="zh-CN" sz="1800" dirty="0"/>
              <a:t>Difficulty in accessing data </a:t>
            </a:r>
          </a:p>
          <a:p>
            <a:pPr lvl="1"/>
            <a:r>
              <a:rPr lang="en-US" altLang="zh-CN" sz="1800" dirty="0"/>
              <a:t>Data isolation</a:t>
            </a:r>
          </a:p>
          <a:p>
            <a:pPr lvl="1"/>
            <a:r>
              <a:rPr lang="en-US" altLang="zh-CN" sz="1800" dirty="0"/>
              <a:t>Integrity problems</a:t>
            </a:r>
          </a:p>
          <a:p>
            <a:pPr lvl="1"/>
            <a:r>
              <a:rPr lang="en-US" altLang="zh-CN" sz="1800" dirty="0"/>
              <a:t>Atomicity of updates</a:t>
            </a:r>
          </a:p>
          <a:p>
            <a:pPr lvl="1"/>
            <a:r>
              <a:rPr lang="en-US" altLang="zh-CN" sz="1800" dirty="0"/>
              <a:t>Concurrent access by multiple users</a:t>
            </a:r>
          </a:p>
          <a:p>
            <a:pPr lvl="1"/>
            <a:r>
              <a:rPr lang="en-US" altLang="zh-CN" sz="1800" dirty="0"/>
              <a:t>Security problems</a:t>
            </a:r>
          </a:p>
          <a:p>
            <a:r>
              <a:rPr lang="en-US" altLang="zh-CN" sz="2000" dirty="0"/>
              <a:t>Database, Database Management System (DBMS), Database system </a:t>
            </a:r>
          </a:p>
          <a:p>
            <a:endParaRPr lang="zh-CN" altLang="en-US" sz="20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8B112DF-C74E-4408-A480-D99C2603D0AF}"/>
              </a:ext>
            </a:extLst>
          </p:cNvPr>
          <p:cNvSpPr txBox="1">
            <a:spLocks/>
          </p:cNvSpPr>
          <p:nvPr/>
        </p:nvSpPr>
        <p:spPr bwMode="auto">
          <a:xfrm>
            <a:off x="5220072" y="854912"/>
            <a:ext cx="3888432" cy="3589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Abstraction for database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Physical level, logical level, view level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Schema vs. instance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DB conceptual/logical design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DB users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Different user types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The duties of DBA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Major DMBS systems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2279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38E9E-1682-4E70-8A90-5D308AAE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2 Relational Model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EA5CD3-297C-4F8C-93A5-A0F7417D8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Concepts</a:t>
            </a:r>
          </a:p>
          <a:p>
            <a:pPr lvl="1"/>
            <a:r>
              <a:rPr lang="en-US" altLang="zh-CN" dirty="0"/>
              <a:t>Relational schema, relation, relation instance, tuple, attribute</a:t>
            </a:r>
          </a:p>
          <a:p>
            <a:pPr lvl="1"/>
            <a:r>
              <a:rPr lang="en-US" altLang="zh-CN" dirty="0" err="1"/>
              <a:t>Superkey</a:t>
            </a:r>
            <a:r>
              <a:rPr lang="en-US" altLang="zh-CN" dirty="0"/>
              <a:t>, candidate key, primary key, foreign key, referencing relation, referenced relation</a:t>
            </a:r>
          </a:p>
          <a:p>
            <a:pPr lvl="1"/>
            <a:r>
              <a:rPr lang="en-US" altLang="zh-CN" dirty="0"/>
              <a:t>Query language, procedural, non-procedural, relational algebra</a:t>
            </a:r>
          </a:p>
          <a:p>
            <a:r>
              <a:rPr lang="en-US" altLang="zh-CN" b="1" dirty="0"/>
              <a:t>Relation algebra</a:t>
            </a:r>
          </a:p>
          <a:p>
            <a:pPr lvl="1"/>
            <a:r>
              <a:rPr lang="en-US" altLang="zh-CN" dirty="0"/>
              <a:t>Six basic operators of relational algebra: select, project, rename, union, set difference, cartesian product</a:t>
            </a:r>
          </a:p>
          <a:p>
            <a:pPr lvl="1"/>
            <a:r>
              <a:rPr lang="en-US" altLang="zh-CN" dirty="0"/>
              <a:t>Set intersection, natural join, assignment</a:t>
            </a:r>
          </a:p>
          <a:p>
            <a:pPr lvl="1"/>
            <a:r>
              <a:rPr lang="en-US" altLang="zh-CN" dirty="0"/>
              <a:t>Generalized projection, outer join, aggregate functions </a:t>
            </a:r>
          </a:p>
          <a:p>
            <a:pPr lvl="1"/>
            <a:r>
              <a:rPr lang="en-US" altLang="zh-CN" dirty="0"/>
              <a:t>Null values</a:t>
            </a:r>
          </a:p>
          <a:p>
            <a:pPr lvl="1"/>
            <a:r>
              <a:rPr lang="en-US" altLang="zh-CN" dirty="0"/>
              <a:t>Deletion, insertion, updating</a:t>
            </a:r>
          </a:p>
          <a:p>
            <a:pPr lvl="1"/>
            <a:r>
              <a:rPr lang="en-US" altLang="zh-CN" dirty="0"/>
              <a:t>Views</a:t>
            </a:r>
          </a:p>
        </p:txBody>
      </p:sp>
    </p:spTree>
    <p:extLst>
      <p:ext uri="{BB962C8B-B14F-4D97-AF65-F5344CB8AC3E}">
        <p14:creationId xmlns:p14="http://schemas.microsoft.com/office/powerpoint/2010/main" val="200626577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C629F8-94E5-4F0F-86DF-C8DFF89A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Chapters 3, 4 &amp; 5  SQL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EF9ED16D-1E3C-4968-9DC4-97878511F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789553"/>
            <a:ext cx="4536504" cy="3805070"/>
          </a:xfrm>
        </p:spPr>
        <p:txBody>
          <a:bodyPr/>
          <a:lstStyle/>
          <a:p>
            <a:r>
              <a:rPr lang="en-US" altLang="zh-CN" sz="2000" b="1" dirty="0"/>
              <a:t>Components of SQL</a:t>
            </a:r>
          </a:p>
          <a:p>
            <a:pPr lvl="1"/>
            <a:r>
              <a:rPr lang="en-US" altLang="zh-CN" sz="1600" dirty="0"/>
              <a:t>DDL &amp; DML</a:t>
            </a:r>
          </a:p>
          <a:p>
            <a:r>
              <a:rPr lang="en-US" altLang="zh-CN" sz="2000" b="1" dirty="0"/>
              <a:t>Domain types in SQL</a:t>
            </a:r>
          </a:p>
          <a:p>
            <a:r>
              <a:rPr lang="en-US" altLang="zh-CN" sz="2000" b="1" dirty="0"/>
              <a:t>Create table construct</a:t>
            </a:r>
          </a:p>
          <a:p>
            <a:pPr lvl="1"/>
            <a:r>
              <a:rPr lang="en-US" altLang="zh-CN" sz="1800" dirty="0"/>
              <a:t>Integrity constraints</a:t>
            </a:r>
          </a:p>
          <a:p>
            <a:pPr lvl="1"/>
            <a:r>
              <a:rPr lang="en-US" altLang="zh-CN" sz="1800" dirty="0"/>
              <a:t>Insertion and deletion</a:t>
            </a:r>
          </a:p>
          <a:p>
            <a:pPr lvl="1"/>
            <a:r>
              <a:rPr lang="en-US" altLang="zh-CN" sz="1800" dirty="0"/>
              <a:t>Drop and alter</a:t>
            </a:r>
          </a:p>
          <a:p>
            <a:r>
              <a:rPr lang="en-US" altLang="zh-CN" sz="2000" dirty="0"/>
              <a:t>select, rename, ordering of tuples, duplicates, set operations, aggregation</a:t>
            </a:r>
          </a:p>
          <a:p>
            <a:endParaRPr lang="zh-CN" altLang="en-US" sz="20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9D619AB-BBAB-4A63-B321-6C2FFE011476}"/>
              </a:ext>
            </a:extLst>
          </p:cNvPr>
          <p:cNvSpPr txBox="1">
            <a:spLocks/>
          </p:cNvSpPr>
          <p:nvPr/>
        </p:nvSpPr>
        <p:spPr bwMode="auto">
          <a:xfrm>
            <a:off x="5076056" y="795335"/>
            <a:ext cx="4054795" cy="3805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Null values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Nested subqueries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Set comparison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Views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Modification of the Database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Deletion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Insertion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Updates</a:t>
            </a:r>
          </a:p>
        </p:txBody>
      </p:sp>
    </p:spTree>
    <p:extLst>
      <p:ext uri="{BB962C8B-B14F-4D97-AF65-F5344CB8AC3E}">
        <p14:creationId xmlns:p14="http://schemas.microsoft.com/office/powerpoint/2010/main" val="109053711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BDD4F-F1BD-470D-9D94-D628F31A6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dirty="0"/>
              <a:t>Chapters 3, 4 &amp; 5  SQL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BF6C25-DF5C-4677-BC50-D4161FA1B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b="1" dirty="0"/>
              <a:t>Integrity constraints</a:t>
            </a:r>
          </a:p>
          <a:p>
            <a:pPr lvl="1"/>
            <a:r>
              <a:rPr lang="en-US" altLang="zh-CN" sz="1600" dirty="0"/>
              <a:t>Domain constrains, unique constrains, referential integrity, check, assertion</a:t>
            </a:r>
          </a:p>
          <a:p>
            <a:r>
              <a:rPr lang="en-US" altLang="zh-CN" sz="1800" b="1" dirty="0"/>
              <a:t>Security and authorization</a:t>
            </a:r>
          </a:p>
          <a:p>
            <a:pPr lvl="1"/>
            <a:r>
              <a:rPr lang="en-US" altLang="zh-CN" sz="1600" dirty="0"/>
              <a:t>Levels of security (DB,</a:t>
            </a:r>
            <a:r>
              <a:rPr lang="zh-CN" altLang="en-US" sz="1600" dirty="0"/>
              <a:t> </a:t>
            </a:r>
            <a:r>
              <a:rPr lang="en-US" altLang="zh-CN" sz="1600" dirty="0"/>
              <a:t>OS and</a:t>
            </a:r>
            <a:r>
              <a:rPr lang="zh-CN" altLang="en-US" sz="1600" dirty="0"/>
              <a:t> </a:t>
            </a:r>
            <a:r>
              <a:rPr lang="en-US" altLang="zh-CN" sz="1600" dirty="0"/>
              <a:t>Network)</a:t>
            </a:r>
          </a:p>
          <a:p>
            <a:pPr lvl="1"/>
            <a:r>
              <a:rPr lang="en-US" altLang="zh-CN" sz="1600" dirty="0"/>
              <a:t>Forms of authorization to modify DB</a:t>
            </a:r>
          </a:p>
          <a:p>
            <a:pPr lvl="1"/>
            <a:r>
              <a:rPr lang="en-US" altLang="zh-CN" sz="1600" dirty="0"/>
              <a:t>Granting privileges, role</a:t>
            </a:r>
          </a:p>
          <a:p>
            <a:pPr lvl="1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Audit trails, encryption, authentication</a:t>
            </a:r>
          </a:p>
          <a:p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Embedded SQL</a:t>
            </a:r>
          </a:p>
          <a:p>
            <a:pPr lvl="1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Update through cursors</a:t>
            </a:r>
          </a:p>
          <a:p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Dynamic SQL</a:t>
            </a:r>
          </a:p>
          <a:p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Functions and procedural constructs</a:t>
            </a:r>
          </a:p>
          <a:p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Recursive queries</a:t>
            </a:r>
          </a:p>
          <a:p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Advanced SQL features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629560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45B99-81F6-44FA-9861-93B54197B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6 Database Design and E-R Model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C2A88A1-0A0C-4AD9-860D-76EF0D588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843558"/>
            <a:ext cx="4608512" cy="3607049"/>
          </a:xfrm>
        </p:spPr>
        <p:txBody>
          <a:bodyPr/>
          <a:lstStyle/>
          <a:p>
            <a:r>
              <a:rPr lang="en-US" altLang="zh-CN" sz="2000" b="1" dirty="0"/>
              <a:t>Database Design</a:t>
            </a:r>
          </a:p>
          <a:p>
            <a:pPr lvl="1"/>
            <a:r>
              <a:rPr lang="en-US" altLang="zh-CN" sz="1800" dirty="0"/>
              <a:t>Conceptual design</a:t>
            </a:r>
          </a:p>
          <a:p>
            <a:pPr lvl="1"/>
            <a:r>
              <a:rPr lang="en-US" altLang="zh-CN" sz="1800" dirty="0"/>
              <a:t>Logical design</a:t>
            </a:r>
          </a:p>
          <a:p>
            <a:pPr lvl="1"/>
            <a:r>
              <a:rPr lang="en-US" altLang="zh-CN" sz="1800" dirty="0"/>
              <a:t>Physical design</a:t>
            </a:r>
          </a:p>
          <a:p>
            <a:r>
              <a:rPr lang="en-US" altLang="zh-CN" sz="2000" b="1" dirty="0"/>
              <a:t>Relationship set</a:t>
            </a:r>
          </a:p>
          <a:p>
            <a:pPr lvl="1"/>
            <a:r>
              <a:rPr lang="en-US" altLang="zh-CN" sz="1800" dirty="0"/>
              <a:t>Degree of mapping cardinality</a:t>
            </a:r>
          </a:p>
          <a:p>
            <a:endParaRPr lang="zh-CN" altLang="en-US" sz="20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2E9F928-DA2B-4A18-A1E4-4A0431139DB7}"/>
              </a:ext>
            </a:extLst>
          </p:cNvPr>
          <p:cNvSpPr txBox="1">
            <a:spLocks/>
          </p:cNvSpPr>
          <p:nvPr/>
        </p:nvSpPr>
        <p:spPr bwMode="auto">
          <a:xfrm>
            <a:off x="4355976" y="888562"/>
            <a:ext cx="4827865" cy="3805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ER design issues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use of entity sets vs. attributes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use of entity sets vs. relationship sets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binary vs. n-</a:t>
            </a:r>
            <a:r>
              <a:rPr kumimoji="0" lang="en-US" altLang="zh-CN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ary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 relationship sets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placement of relationship attributes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use of specialization/generalization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Symbols used in E-R diagram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Reduction of an E-R diagram to relational tables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003979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672A8-F746-4185-BC0B-137F3B3A7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7 Relational Database Design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1CC242-C0C2-4997-9079-DA4C3EB8F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 lang="en-US" altLang="zh-CN" b="1" dirty="0"/>
              <a:t>Functional Dependency/</a:t>
            </a:r>
            <a:r>
              <a:rPr lang="zh-CN" altLang="en-US" b="1" dirty="0"/>
              <a:t>函数依赖</a:t>
            </a:r>
            <a:endParaRPr lang="en-US" altLang="zh-CN" b="1" dirty="0"/>
          </a:p>
          <a:p>
            <a:pPr lvl="1">
              <a:spcBef>
                <a:spcPts val="400"/>
              </a:spcBef>
            </a:pPr>
            <a:r>
              <a:rPr lang="en-US" altLang="zh-CN" dirty="0"/>
              <a:t>Closure of functional dependency</a:t>
            </a:r>
          </a:p>
          <a:p>
            <a:pPr lvl="2"/>
            <a:r>
              <a:rPr lang="en-US" altLang="zh-CN" dirty="0"/>
              <a:t>Armstrong’s axioms: reflexivity(</a:t>
            </a:r>
            <a:r>
              <a:rPr lang="zh-CN" altLang="en-US" dirty="0"/>
              <a:t>自反</a:t>
            </a:r>
            <a:r>
              <a:rPr lang="en-US" altLang="zh-CN" dirty="0"/>
              <a:t>), augmentation(</a:t>
            </a:r>
            <a:r>
              <a:rPr lang="zh-CN" altLang="en-US" dirty="0"/>
              <a:t>增广</a:t>
            </a:r>
            <a:r>
              <a:rPr lang="en-US" altLang="zh-CN" dirty="0"/>
              <a:t>), transitivity(</a:t>
            </a:r>
            <a:r>
              <a:rPr lang="zh-CN" altLang="en-US" dirty="0"/>
              <a:t>传递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/>
              <a:t>Additional rules: union(</a:t>
            </a:r>
            <a:r>
              <a:rPr lang="zh-CN" altLang="en-US" dirty="0"/>
              <a:t>合并</a:t>
            </a:r>
            <a:r>
              <a:rPr lang="en-US" altLang="zh-CN" dirty="0"/>
              <a:t>), decomposition(</a:t>
            </a:r>
            <a:r>
              <a:rPr lang="zh-CN" altLang="en-US" dirty="0"/>
              <a:t>分解</a:t>
            </a:r>
            <a:r>
              <a:rPr lang="en-US" altLang="zh-CN" dirty="0"/>
              <a:t>), </a:t>
            </a:r>
            <a:r>
              <a:rPr lang="en-US" altLang="zh-CN" dirty="0" err="1"/>
              <a:t>pseudotransitivity</a:t>
            </a:r>
            <a:r>
              <a:rPr lang="en-US" altLang="zh-CN" dirty="0"/>
              <a:t>(</a:t>
            </a:r>
            <a:r>
              <a:rPr lang="zh-CN" altLang="en-US" dirty="0"/>
              <a:t>伪传递</a:t>
            </a:r>
            <a:r>
              <a:rPr lang="en-US" altLang="zh-CN" dirty="0"/>
              <a:t>)</a:t>
            </a:r>
          </a:p>
          <a:p>
            <a:pPr lvl="1">
              <a:spcBef>
                <a:spcPts val="400"/>
              </a:spcBef>
            </a:pPr>
            <a:r>
              <a:rPr lang="en-US" altLang="zh-CN" dirty="0"/>
              <a:t>Closure of attribute set</a:t>
            </a:r>
          </a:p>
          <a:p>
            <a:pPr lvl="1">
              <a:spcBef>
                <a:spcPts val="400"/>
              </a:spcBef>
            </a:pPr>
            <a:r>
              <a:rPr lang="en-US" altLang="zh-CN" dirty="0"/>
              <a:t>Canonical cover </a:t>
            </a:r>
          </a:p>
          <a:p>
            <a:pPr lvl="2">
              <a:spcBef>
                <a:spcPts val="400"/>
              </a:spcBef>
            </a:pPr>
            <a:r>
              <a:rPr lang="en-US" altLang="zh-CN" dirty="0"/>
              <a:t>Extraneous attribute and its testing</a:t>
            </a:r>
          </a:p>
          <a:p>
            <a:pPr lvl="1">
              <a:spcBef>
                <a:spcPts val="400"/>
              </a:spcBef>
            </a:pPr>
            <a:r>
              <a:rPr lang="en-US" altLang="zh-CN" dirty="0"/>
              <a:t>Find all candidate keys</a:t>
            </a:r>
          </a:p>
          <a:p>
            <a:pPr>
              <a:spcBef>
                <a:spcPts val="400"/>
              </a:spcBef>
            </a:pPr>
            <a:r>
              <a:rPr lang="en-US" altLang="zh-CN" b="1" dirty="0"/>
              <a:t>Decomposition</a:t>
            </a:r>
          </a:p>
          <a:p>
            <a:pPr lvl="1">
              <a:spcBef>
                <a:spcPts val="400"/>
              </a:spcBef>
            </a:pPr>
            <a:r>
              <a:rPr lang="en-US" altLang="zh-CN" dirty="0"/>
              <a:t>Lossless-join decomposition &amp; dependency preservation</a:t>
            </a:r>
          </a:p>
          <a:p>
            <a:r>
              <a:rPr lang="en-US" altLang="zh-CN" b="1" dirty="0"/>
              <a:t>Normalization &amp; Normal Forms (</a:t>
            </a:r>
            <a:r>
              <a:rPr lang="zh-CN" altLang="en-US" b="1" dirty="0"/>
              <a:t>范式</a:t>
            </a:r>
            <a:r>
              <a:rPr lang="en-US" altLang="zh-CN" b="1" dirty="0"/>
              <a:t>)</a:t>
            </a:r>
          </a:p>
          <a:p>
            <a:pPr lvl="1"/>
            <a:r>
              <a:rPr lang="en-US" altLang="zh-CN" sz="1600" dirty="0"/>
              <a:t>Normalization: 1NF, 2NF, 3NF, BCNF</a:t>
            </a:r>
          </a:p>
          <a:p>
            <a:pPr lvl="1"/>
            <a:r>
              <a:rPr lang="en-US" altLang="zh-CN" sz="1600" dirty="0"/>
              <a:t>Testing for BCNF and 3NF, and the corresponding decomposition algorithms</a:t>
            </a:r>
          </a:p>
        </p:txBody>
      </p:sp>
    </p:spTree>
    <p:extLst>
      <p:ext uri="{BB962C8B-B14F-4D97-AF65-F5344CB8AC3E}">
        <p14:creationId xmlns:p14="http://schemas.microsoft.com/office/powerpoint/2010/main" val="2746018042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DEEFE1-5BC6-40FF-922C-52BCB3DA6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Chapters 12-13 Storage and File Structure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5920CA-8C1F-4B1B-B461-85E3FE9DA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Classification of physical storage media </a:t>
            </a:r>
          </a:p>
          <a:p>
            <a:pPr lvl="1"/>
            <a:r>
              <a:rPr lang="en-US" altLang="zh-CN" sz="1600" dirty="0"/>
              <a:t>Speed, cost, reliability, volatile, non-volatile</a:t>
            </a:r>
          </a:p>
          <a:p>
            <a:pPr lvl="1"/>
            <a:r>
              <a:rPr lang="en-US" altLang="zh-CN" sz="1600" dirty="0"/>
              <a:t>Cache, main memory, flash, magnetic disk, optical storage, tape storage</a:t>
            </a:r>
          </a:p>
          <a:p>
            <a:r>
              <a:rPr lang="en-US" altLang="zh-CN" b="1" dirty="0"/>
              <a:t>Performance measure and optimization of disk access</a:t>
            </a:r>
          </a:p>
          <a:p>
            <a:pPr lvl="1"/>
            <a:r>
              <a:rPr lang="en-US" altLang="zh-CN" sz="1600" dirty="0"/>
              <a:t>Access time, data transfer rate, mean time to failure </a:t>
            </a:r>
          </a:p>
          <a:p>
            <a:pPr lvl="1"/>
            <a:r>
              <a:rPr lang="en-US" altLang="zh-CN" sz="1600" dirty="0"/>
              <a:t>Block, disk-arm-scheduling</a:t>
            </a:r>
          </a:p>
          <a:p>
            <a:r>
              <a:rPr lang="en-US" altLang="zh-CN" b="1" dirty="0"/>
              <a:t>Storage access and buffer manage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File organization</a:t>
            </a:r>
          </a:p>
          <a:p>
            <a:pPr lvl="1"/>
            <a:r>
              <a:rPr lang="en-US" altLang="zh-CN" sz="1600" dirty="0">
                <a:solidFill>
                  <a:schemeClr val="bg1">
                    <a:lumMod val="50000"/>
                  </a:schemeClr>
                </a:solidFill>
              </a:rPr>
              <a:t>Fixed-length, variable-length records, organization of records in files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Data dictionary storage</a:t>
            </a:r>
          </a:p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Raid levels 1-6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535961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4098B6-C99E-4DF1-BACD-A20780296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14 Indexing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DD1A6C-CDE7-4AB9-8881-1A0F12DE6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800" b="1" dirty="0"/>
              <a:t>Basic concepts</a:t>
            </a:r>
          </a:p>
          <a:p>
            <a:pPr lvl="1"/>
            <a:r>
              <a:rPr lang="en-US" altLang="zh-CN" sz="1600" dirty="0"/>
              <a:t>Search key and index file, ordered index and hashed index</a:t>
            </a:r>
          </a:p>
          <a:p>
            <a:pPr lvl="1"/>
            <a:r>
              <a:rPr lang="en-US" altLang="zh-CN" sz="1600" dirty="0"/>
              <a:t>Equal query and range query</a:t>
            </a:r>
          </a:p>
          <a:p>
            <a:pPr lvl="1"/>
            <a:r>
              <a:rPr lang="en-US" altLang="zh-CN" sz="1600" dirty="0"/>
              <a:t>Primary index or clustering index</a:t>
            </a:r>
          </a:p>
          <a:p>
            <a:pPr lvl="1"/>
            <a:r>
              <a:rPr lang="en-US" altLang="zh-CN" sz="1600" dirty="0"/>
              <a:t>Secondary index or non-clustering index</a:t>
            </a:r>
          </a:p>
          <a:p>
            <a:pPr lvl="1"/>
            <a:r>
              <a:rPr lang="en-US" altLang="zh-CN" sz="1600" dirty="0"/>
              <a:t>Dense, sparse, multilevel indices</a:t>
            </a:r>
          </a:p>
          <a:p>
            <a:r>
              <a:rPr lang="en-US" altLang="zh-CN" sz="1800" b="1" dirty="0"/>
              <a:t>Ordered index</a:t>
            </a:r>
          </a:p>
          <a:p>
            <a:pPr lvl="1"/>
            <a:r>
              <a:rPr lang="en-US" altLang="zh-CN" sz="1400" dirty="0"/>
              <a:t>B</a:t>
            </a:r>
            <a:r>
              <a:rPr lang="en-US" altLang="zh-CN" sz="1400" baseline="30000" dirty="0"/>
              <a:t>+</a:t>
            </a:r>
            <a:r>
              <a:rPr lang="en-US" altLang="zh-CN" sz="1400" dirty="0"/>
              <a:t>-tree index,</a:t>
            </a:r>
            <a:r>
              <a:rPr lang="zh-CN" altLang="en-US" sz="1400" dirty="0"/>
              <a:t> </a:t>
            </a:r>
            <a:r>
              <a:rPr lang="en-US" altLang="zh-CN" sz="1400" dirty="0"/>
              <a:t>B-tree index</a:t>
            </a:r>
          </a:p>
          <a:p>
            <a:r>
              <a:rPr lang="en-US" altLang="zh-CN" sz="1800" b="1" dirty="0"/>
              <a:t>Hash index</a:t>
            </a:r>
          </a:p>
          <a:p>
            <a:pPr lvl="1"/>
            <a:r>
              <a:rPr lang="en-US" altLang="zh-CN" sz="1400" dirty="0"/>
              <a:t>Static hashing</a:t>
            </a:r>
          </a:p>
          <a:p>
            <a:pPr lvl="1"/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Dynamic hashing: extendable hashing </a:t>
            </a:r>
          </a:p>
          <a:p>
            <a:r>
              <a:rPr lang="en-US" altLang="zh-CN" sz="1800" b="1" dirty="0"/>
              <a:t>Ordered indexing vs. hashing </a:t>
            </a:r>
          </a:p>
          <a:p>
            <a:r>
              <a:rPr lang="en-US" altLang="zh-CN" sz="1800" b="1" dirty="0"/>
              <a:t>Index definition in SQL</a:t>
            </a:r>
          </a:p>
          <a:p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Multiple-key access: grid files and bitmap index</a:t>
            </a:r>
          </a:p>
        </p:txBody>
      </p:sp>
    </p:spTree>
    <p:extLst>
      <p:ext uri="{BB962C8B-B14F-4D97-AF65-F5344CB8AC3E}">
        <p14:creationId xmlns:p14="http://schemas.microsoft.com/office/powerpoint/2010/main" val="161201685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E2873-6189-4261-8314-BB4DA9421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15 Query Processing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0FFFF9-CA35-4B97-AA1F-5B23D440A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Basic steps in query processing</a:t>
            </a:r>
          </a:p>
          <a:p>
            <a:pPr lvl="1"/>
            <a:r>
              <a:rPr lang="en-US" altLang="zh-CN" dirty="0"/>
              <a:t>Parsing and translation, optimization, evaluation </a:t>
            </a:r>
          </a:p>
          <a:p>
            <a:r>
              <a:rPr lang="en-US" altLang="zh-CN" b="1" dirty="0"/>
              <a:t>Measures of query cost</a:t>
            </a:r>
          </a:p>
          <a:p>
            <a:pPr lvl="1"/>
            <a:r>
              <a:rPr lang="en-US" altLang="zh-CN" dirty="0"/>
              <a:t>Seek time, number of data transfers</a:t>
            </a:r>
          </a:p>
          <a:p>
            <a:r>
              <a:rPr lang="en-US" altLang="zh-CN" b="1" dirty="0"/>
              <a:t>Selection operation</a:t>
            </a:r>
          </a:p>
          <a:p>
            <a:pPr lvl="1"/>
            <a:r>
              <a:rPr lang="en-US" altLang="zh-CN" dirty="0"/>
              <a:t>File scan vs. index scan</a:t>
            </a:r>
          </a:p>
          <a:p>
            <a:pPr lvl="1"/>
            <a:r>
              <a:rPr lang="en-US" altLang="zh-CN" dirty="0"/>
              <a:t>A1-A10</a:t>
            </a:r>
          </a:p>
          <a:p>
            <a:r>
              <a:rPr lang="en-US" altLang="zh-CN" b="1" dirty="0"/>
              <a:t>Sorting</a:t>
            </a:r>
          </a:p>
          <a:p>
            <a:pPr lvl="1"/>
            <a:r>
              <a:rPr lang="en-US" altLang="zh-CN" dirty="0"/>
              <a:t>External sort-merge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775785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C6C3B-3E2A-4180-992F-99B38C5F1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15 Query Processing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74D2A-B6EE-4384-9F69-28792906C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Join operation</a:t>
            </a:r>
          </a:p>
          <a:p>
            <a:pPr lvl="1"/>
            <a:r>
              <a:rPr lang="en-US" altLang="zh-CN" dirty="0"/>
              <a:t>Nested-loop join</a:t>
            </a:r>
          </a:p>
          <a:p>
            <a:pPr lvl="1"/>
            <a:r>
              <a:rPr lang="en-US" altLang="zh-CN" dirty="0"/>
              <a:t>Block nested-loop join</a:t>
            </a:r>
          </a:p>
          <a:p>
            <a:pPr lvl="1"/>
            <a:r>
              <a:rPr lang="en-US" altLang="zh-CN" dirty="0"/>
              <a:t>Indexed nested-loop join</a:t>
            </a: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Merge-join</a:t>
            </a: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Hash-join </a:t>
            </a:r>
          </a:p>
          <a:p>
            <a:r>
              <a:rPr lang="en-US" altLang="zh-CN" b="1" dirty="0">
                <a:solidFill>
                  <a:schemeClr val="bg1">
                    <a:lumMod val="50000"/>
                  </a:schemeClr>
                </a:solidFill>
              </a:rPr>
              <a:t>Other operations</a:t>
            </a:r>
          </a:p>
          <a:p>
            <a:pPr lvl="1"/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Duplicate elimination, aggregation, set operations, outer join,  </a:t>
            </a:r>
          </a:p>
          <a:p>
            <a:r>
              <a:rPr lang="en-US" altLang="zh-CN" b="1" dirty="0"/>
              <a:t>Evaluation of expressions</a:t>
            </a:r>
          </a:p>
          <a:p>
            <a:pPr lvl="1"/>
            <a:r>
              <a:rPr lang="en-US" altLang="zh-CN" dirty="0"/>
              <a:t>Materialization(</a:t>
            </a:r>
            <a:r>
              <a:rPr lang="zh-CN" altLang="en-US" dirty="0"/>
              <a:t>物化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Pipelining(</a:t>
            </a:r>
            <a:r>
              <a:rPr lang="zh-CN" altLang="en-US" dirty="0"/>
              <a:t>流水线）</a:t>
            </a:r>
          </a:p>
        </p:txBody>
      </p:sp>
    </p:spTree>
    <p:extLst>
      <p:ext uri="{BB962C8B-B14F-4D97-AF65-F5344CB8AC3E}">
        <p14:creationId xmlns:p14="http://schemas.microsoft.com/office/powerpoint/2010/main" val="1267717027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8077D-B07A-4213-B75B-98A7F6695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16 Query Optimization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069390-0D01-49CD-8ECB-FBE20D260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Evaluating a given query</a:t>
            </a:r>
          </a:p>
          <a:p>
            <a:pPr lvl="1"/>
            <a:r>
              <a:rPr lang="en-US" altLang="zh-CN" dirty="0"/>
              <a:t>Equivalent expressions: equivalence results</a:t>
            </a:r>
          </a:p>
          <a:p>
            <a:pPr lvl="1"/>
            <a:r>
              <a:rPr lang="en-US" altLang="zh-CN" dirty="0"/>
              <a:t>Different algorithms: measure of cost</a:t>
            </a:r>
          </a:p>
          <a:p>
            <a:r>
              <a:rPr lang="en-US" altLang="zh-CN" b="1" dirty="0"/>
              <a:t>Measures of cost</a:t>
            </a:r>
          </a:p>
          <a:p>
            <a:pPr lvl="1"/>
            <a:r>
              <a:rPr lang="en-US" altLang="zh-CN" dirty="0"/>
              <a:t>Select size</a:t>
            </a:r>
          </a:p>
          <a:p>
            <a:pPr lvl="1"/>
            <a:r>
              <a:rPr lang="en-US" altLang="zh-CN" dirty="0"/>
              <a:t>Join size</a:t>
            </a:r>
          </a:p>
          <a:p>
            <a:pPr lvl="1"/>
            <a:r>
              <a:rPr lang="en-US" altLang="zh-CN" dirty="0"/>
              <a:t>Distinct values</a:t>
            </a:r>
          </a:p>
          <a:p>
            <a:r>
              <a:rPr lang="en-US" altLang="zh-CN" dirty="0"/>
              <a:t>Evaluation plan</a:t>
            </a:r>
          </a:p>
          <a:p>
            <a:r>
              <a:rPr lang="en-US" altLang="zh-CN" dirty="0"/>
              <a:t>Practical query optimizers combine the following two approaches</a:t>
            </a:r>
          </a:p>
          <a:p>
            <a:pPr lvl="1"/>
            <a:r>
              <a:rPr lang="en-US" altLang="zh-CN" dirty="0"/>
              <a:t>Search all the plans and choose the best plan in a cost-based fashion: dynamic programming</a:t>
            </a:r>
          </a:p>
          <a:p>
            <a:pPr lvl="1"/>
            <a:r>
              <a:rPr lang="en-US" altLang="zh-CN" dirty="0"/>
              <a:t>Use heuristics to choose a plan</a:t>
            </a:r>
          </a:p>
        </p:txBody>
      </p:sp>
    </p:spTree>
    <p:extLst>
      <p:ext uri="{BB962C8B-B14F-4D97-AF65-F5344CB8AC3E}">
        <p14:creationId xmlns:p14="http://schemas.microsoft.com/office/powerpoint/2010/main" val="262794557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65752-B182-4C86-A7E8-EDE2177D0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17 Transactions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69B1D-FC31-4CCB-B9B7-2E9ACF36D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Transaction</a:t>
            </a:r>
          </a:p>
          <a:p>
            <a:pPr lvl="1"/>
            <a:r>
              <a:rPr lang="en-US" altLang="zh-CN" dirty="0"/>
              <a:t>What’s transaction and the two main issues to deal with?</a:t>
            </a:r>
          </a:p>
          <a:p>
            <a:pPr lvl="1"/>
            <a:r>
              <a:rPr lang="en-US" altLang="zh-CN" dirty="0"/>
              <a:t>Properties: ACID</a:t>
            </a:r>
          </a:p>
          <a:p>
            <a:pPr lvl="1"/>
            <a:r>
              <a:rPr lang="en-US" altLang="zh-CN" dirty="0"/>
              <a:t>Transaction state</a:t>
            </a:r>
          </a:p>
          <a:p>
            <a:pPr lvl="1"/>
            <a:r>
              <a:rPr lang="en-US" altLang="zh-CN" dirty="0"/>
              <a:t>Concurrent execution</a:t>
            </a:r>
            <a:endParaRPr lang="en-US" altLang="zh-CN" sz="1600" dirty="0"/>
          </a:p>
          <a:p>
            <a:r>
              <a:rPr lang="en-US" altLang="zh-CN" b="1" dirty="0"/>
              <a:t>Serializability</a:t>
            </a:r>
          </a:p>
          <a:p>
            <a:pPr lvl="1"/>
            <a:r>
              <a:rPr lang="en-US" altLang="zh-CN" dirty="0"/>
              <a:t>Conflict serializability</a:t>
            </a:r>
          </a:p>
          <a:p>
            <a:pPr lvl="1"/>
            <a:r>
              <a:rPr lang="en-US" altLang="zh-CN" dirty="0"/>
              <a:t>View serializability</a:t>
            </a:r>
          </a:p>
          <a:p>
            <a:r>
              <a:rPr lang="en-US" altLang="zh-CN" dirty="0"/>
              <a:t>Recoverability, cascading rollback, </a:t>
            </a:r>
            <a:r>
              <a:rPr lang="en-US" altLang="zh-CN" dirty="0" err="1"/>
              <a:t>cascadeless</a:t>
            </a:r>
            <a:r>
              <a:rPr lang="en-US" altLang="zh-CN" dirty="0"/>
              <a:t> schedule</a:t>
            </a:r>
          </a:p>
          <a:p>
            <a:r>
              <a:rPr lang="en-US" altLang="zh-CN" b="1" dirty="0"/>
              <a:t>Testing for Serializability</a:t>
            </a:r>
          </a:p>
          <a:p>
            <a:pPr lvl="1"/>
            <a:r>
              <a:rPr lang="en-US" altLang="zh-CN" dirty="0"/>
              <a:t>Precedence graph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1993529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D3CBA-E89E-49C4-B368-B5C706AFF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18 Concurrency Control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5029D3A7-9870-4ECE-BC30-E274F8FC0F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789553"/>
            <a:ext cx="4680520" cy="3805070"/>
          </a:xfrm>
        </p:spPr>
        <p:txBody>
          <a:bodyPr/>
          <a:lstStyle/>
          <a:p>
            <a:r>
              <a:rPr lang="en-US" altLang="zh-CN" sz="2000" b="1" dirty="0"/>
              <a:t>Lock-based protocols</a:t>
            </a:r>
          </a:p>
          <a:p>
            <a:pPr lvl="1"/>
            <a:r>
              <a:rPr lang="en-US" altLang="zh-CN" sz="1800" dirty="0"/>
              <a:t>Lock-compatibility matrix</a:t>
            </a:r>
          </a:p>
          <a:p>
            <a:pPr lvl="1"/>
            <a:r>
              <a:rPr lang="en-US" altLang="zh-CN" sz="1800" dirty="0"/>
              <a:t>Deadlock and starvation</a:t>
            </a:r>
          </a:p>
          <a:p>
            <a:pPr lvl="1"/>
            <a:r>
              <a:rPr lang="en-US" altLang="zh-CN" sz="1800" dirty="0"/>
              <a:t>Two-phase locking protocol</a:t>
            </a:r>
          </a:p>
          <a:p>
            <a:pPr lvl="2"/>
            <a:r>
              <a:rPr lang="en-US" altLang="zh-CN" sz="1600" dirty="0"/>
              <a:t>Strict two-phase locking</a:t>
            </a:r>
          </a:p>
          <a:p>
            <a:pPr lvl="2"/>
            <a:r>
              <a:rPr lang="en-US" altLang="zh-CN" sz="1600" dirty="0"/>
              <a:t>Rigorous two-phase locking</a:t>
            </a:r>
          </a:p>
          <a:p>
            <a:pPr lvl="1"/>
            <a:r>
              <a:rPr lang="en-US" altLang="zh-CN" sz="1800" dirty="0"/>
              <a:t>Lock manager and lock table </a:t>
            </a:r>
          </a:p>
          <a:p>
            <a:pPr lvl="1"/>
            <a:r>
              <a:rPr lang="en-US" altLang="zh-CN" sz="1800" dirty="0"/>
              <a:t>Graph based protocol: impose a partial ordering </a:t>
            </a:r>
          </a:p>
          <a:p>
            <a:pPr lvl="1"/>
            <a:r>
              <a:rPr lang="en-US" altLang="zh-CN" sz="1800" dirty="0"/>
              <a:t>Timestamp-based protocols</a:t>
            </a:r>
          </a:p>
          <a:p>
            <a:endParaRPr lang="zh-CN" altLang="en-US" sz="2000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3C62D59-89D2-4F5E-9877-82B58616757D}"/>
              </a:ext>
            </a:extLst>
          </p:cNvPr>
          <p:cNvSpPr txBox="1">
            <a:spLocks/>
          </p:cNvSpPr>
          <p:nvPr/>
        </p:nvSpPr>
        <p:spPr bwMode="auto">
          <a:xfrm>
            <a:off x="4211960" y="789553"/>
            <a:ext cx="4824536" cy="3805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Multiple granularity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Intention lock modes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Compatibility matrix with intention lock modes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Deadlock handling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Deadlock prevention protocols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graph-based protocol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schemes use transaction timestamps: wait-die scheme 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非抢占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) and wound-wait (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抢占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)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timeout-based schemes</a:t>
            </a:r>
          </a:p>
          <a:p>
            <a:pPr lvl="1" indent="-228600">
              <a:buFontTx/>
              <a:buChar char="•"/>
            </a:pPr>
            <a:r>
              <a:rPr lang="en-US" altLang="zh-CN" sz="1800" kern="0" dirty="0">
                <a:solidFill>
                  <a:prstClr val="black"/>
                </a:solidFill>
              </a:rPr>
              <a:t>Deadlock detection</a:t>
            </a: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itchFamily="34" charset="-122"/>
              <a:cs typeface="Arial" panose="020B0604020202020204" pitchFamily="34" charset="0"/>
            </a:endParaRP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rPr>
              <a:t>wait-for graph</a:t>
            </a:r>
          </a:p>
        </p:txBody>
      </p:sp>
    </p:spTree>
    <p:extLst>
      <p:ext uri="{BB962C8B-B14F-4D97-AF65-F5344CB8AC3E}">
        <p14:creationId xmlns:p14="http://schemas.microsoft.com/office/powerpoint/2010/main" val="4131143868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D5624-1A7E-42EC-9ADA-55B374E8D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Chapter 19 Recovery System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5ACA3D-64EA-445E-A8AD-4C7C64983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Two approaches for recovery</a:t>
            </a:r>
          </a:p>
          <a:p>
            <a:pPr lvl="1"/>
            <a:r>
              <a:rPr lang="en-US" altLang="zh-CN" dirty="0"/>
              <a:t>log-based recovery </a:t>
            </a:r>
          </a:p>
          <a:p>
            <a:pPr lvl="2"/>
            <a:r>
              <a:rPr lang="en-US" altLang="zh-CN" dirty="0"/>
              <a:t>Deferred database modification </a:t>
            </a:r>
          </a:p>
          <a:p>
            <a:pPr lvl="2"/>
            <a:r>
              <a:rPr lang="en-US" altLang="zh-CN" dirty="0"/>
              <a:t>Immediate database modification </a:t>
            </a:r>
          </a:p>
          <a:p>
            <a:pPr lvl="2"/>
            <a:r>
              <a:rPr lang="en-US" altLang="zh-CN" dirty="0"/>
              <a:t>Checkpoint</a:t>
            </a:r>
          </a:p>
          <a:p>
            <a:r>
              <a:rPr lang="en-US" altLang="zh-CN" b="1" dirty="0"/>
              <a:t>Recovery with concurrent transactions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62412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5"/>
</p:tagLst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>
          <a:solidFill>
            <a:srgbClr val="FF0000"/>
          </a:solidFill>
          <a:prstDash val="sysDash"/>
          <a:round/>
        </a:ln>
      </a:spPr>
      <a:bodyPr anchor="ctr"/>
      <a:lstStyle>
        <a:defPPr>
          <a:defRPr/>
        </a:defPPr>
      </a:lstStyle>
    </a:sp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第1章 绪论.potx" id="{A4F0AC33-72D4-4097-837F-93641403082A}" vid="{4062CE69-8121-4E25-9D20-76EC1D6FDB85}"/>
    </a:ext>
  </a:extLst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24451</TotalTime>
  <Words>1111</Words>
  <Application>Microsoft Office PowerPoint</Application>
  <PresentationFormat>全屏显示(16:9)</PresentationFormat>
  <Paragraphs>239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Heiti SC Medium</vt:lpstr>
      <vt:lpstr>ＭＳ Ｐゴシック</vt:lpstr>
      <vt:lpstr>ＭＳ Ｐゴシック</vt:lpstr>
      <vt:lpstr>黑体</vt:lpstr>
      <vt:lpstr>华文楷体</vt:lpstr>
      <vt:lpstr>宋体</vt:lpstr>
      <vt:lpstr>微软雅黑</vt:lpstr>
      <vt:lpstr>Arial</vt:lpstr>
      <vt:lpstr>Calibri</vt:lpstr>
      <vt:lpstr>Times New Roman</vt:lpstr>
      <vt:lpstr>Trebuchet MS</vt:lpstr>
      <vt:lpstr>Wingdings</vt:lpstr>
      <vt:lpstr>默认设计模板</vt:lpstr>
      <vt:lpstr>2_Office 主题</vt:lpstr>
      <vt:lpstr>PowerPoint 演示文稿</vt:lpstr>
      <vt:lpstr>课程概要</vt:lpstr>
      <vt:lpstr>Chapter 1 Introduction</vt:lpstr>
      <vt:lpstr>Chapter 2 Relational Model</vt:lpstr>
      <vt:lpstr>Chapters 3, 4 &amp; 5  SQL</vt:lpstr>
      <vt:lpstr>Chapters 3, 4 &amp; 5  SQL (续)</vt:lpstr>
      <vt:lpstr>Chapter 6 Database Design and E-R Model</vt:lpstr>
      <vt:lpstr>Chapter 7 Relational Database Design</vt:lpstr>
      <vt:lpstr>Chapters 12-13 Storage and File Structure</vt:lpstr>
      <vt:lpstr>Chapter 14 Indexing</vt:lpstr>
      <vt:lpstr>Chapter 15 Query Processing</vt:lpstr>
      <vt:lpstr>Chapter 15 Query Processing</vt:lpstr>
      <vt:lpstr>Chapter 16 Query Optimization</vt:lpstr>
      <vt:lpstr>Chapter 17 Transactions</vt:lpstr>
      <vt:lpstr>Chapter 18 Concurrency Control</vt:lpstr>
      <vt:lpstr>Chapter 19 Recovery System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lwg</cp:lastModifiedBy>
  <cp:revision>1833</cp:revision>
  <dcterms:created xsi:type="dcterms:W3CDTF">2007-09-26T12:04:45Z</dcterms:created>
  <dcterms:modified xsi:type="dcterms:W3CDTF">2025-06-12T01:04:52Z</dcterms:modified>
</cp:coreProperties>
</file>