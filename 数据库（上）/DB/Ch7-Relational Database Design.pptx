
<file path=[Content_Types].xml><?xml version="1.0" encoding="utf-8"?>
<Types xmlns="http://schemas.openxmlformats.org/package/2006/content-types">
  <Default Extension="png" ContentType="image/png"/>
  <Default Extension="svg" ContentType="image/svg+xml"/>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Lst>
  <p:notesMasterIdLst>
    <p:notesMasterId r:id="rId121"/>
  </p:notesMasterIdLst>
  <p:handoutMasterIdLst>
    <p:handoutMasterId r:id="rId122"/>
  </p:handoutMasterIdLst>
  <p:sldIdLst>
    <p:sldId id="1750" r:id="rId2"/>
    <p:sldId id="1798" r:id="rId3"/>
    <p:sldId id="1771" r:id="rId4"/>
    <p:sldId id="1929" r:id="rId5"/>
    <p:sldId id="1924" r:id="rId6"/>
    <p:sldId id="1776" r:id="rId7"/>
    <p:sldId id="1780" r:id="rId8"/>
    <p:sldId id="1925" r:id="rId9"/>
    <p:sldId id="1781" r:id="rId10"/>
    <p:sldId id="1782" r:id="rId11"/>
    <p:sldId id="1783" r:id="rId12"/>
    <p:sldId id="1784" r:id="rId13"/>
    <p:sldId id="1785" r:id="rId14"/>
    <p:sldId id="1778" r:id="rId15"/>
    <p:sldId id="1779" r:id="rId16"/>
    <p:sldId id="1926" r:id="rId17"/>
    <p:sldId id="1789" r:id="rId18"/>
    <p:sldId id="1790" r:id="rId19"/>
    <p:sldId id="1791" r:id="rId20"/>
    <p:sldId id="1792" r:id="rId21"/>
    <p:sldId id="1793" r:id="rId22"/>
    <p:sldId id="1917" r:id="rId23"/>
    <p:sldId id="1794" r:id="rId24"/>
    <p:sldId id="1795" r:id="rId25"/>
    <p:sldId id="1796" r:id="rId26"/>
    <p:sldId id="1797" r:id="rId27"/>
    <p:sldId id="1918" r:id="rId28"/>
    <p:sldId id="1802" r:id="rId29"/>
    <p:sldId id="1803" r:id="rId30"/>
    <p:sldId id="1804" r:id="rId31"/>
    <p:sldId id="1805" r:id="rId32"/>
    <p:sldId id="1806" r:id="rId33"/>
    <p:sldId id="1807" r:id="rId34"/>
    <p:sldId id="1808" r:id="rId35"/>
    <p:sldId id="1810" r:id="rId36"/>
    <p:sldId id="1811" r:id="rId37"/>
    <p:sldId id="1812" r:id="rId38"/>
    <p:sldId id="1813" r:id="rId39"/>
    <p:sldId id="1814" r:id="rId40"/>
    <p:sldId id="1815" r:id="rId41"/>
    <p:sldId id="1919" r:id="rId42"/>
    <p:sldId id="1816" r:id="rId43"/>
    <p:sldId id="1927" r:id="rId44"/>
    <p:sldId id="1817" r:id="rId45"/>
    <p:sldId id="1818" r:id="rId46"/>
    <p:sldId id="1819" r:id="rId47"/>
    <p:sldId id="1820" r:id="rId48"/>
    <p:sldId id="1822" r:id="rId49"/>
    <p:sldId id="1930" r:id="rId50"/>
    <p:sldId id="1823" r:id="rId51"/>
    <p:sldId id="1931" r:id="rId52"/>
    <p:sldId id="1920" r:id="rId53"/>
    <p:sldId id="1825" r:id="rId54"/>
    <p:sldId id="1826" r:id="rId55"/>
    <p:sldId id="1827" r:id="rId56"/>
    <p:sldId id="1921" r:id="rId57"/>
    <p:sldId id="1828" r:id="rId58"/>
    <p:sldId id="1829" r:id="rId59"/>
    <p:sldId id="1831" r:id="rId60"/>
    <p:sldId id="1774" r:id="rId61"/>
    <p:sldId id="1775" r:id="rId62"/>
    <p:sldId id="1832" r:id="rId63"/>
    <p:sldId id="1833" r:id="rId64"/>
    <p:sldId id="1834" r:id="rId65"/>
    <p:sldId id="1835" r:id="rId66"/>
    <p:sldId id="1836" r:id="rId67"/>
    <p:sldId id="1837" r:id="rId68"/>
    <p:sldId id="1903" r:id="rId69"/>
    <p:sldId id="1904" r:id="rId70"/>
    <p:sldId id="1905" r:id="rId71"/>
    <p:sldId id="1843" r:id="rId72"/>
    <p:sldId id="1844" r:id="rId73"/>
    <p:sldId id="1906" r:id="rId74"/>
    <p:sldId id="1847" r:id="rId75"/>
    <p:sldId id="1848" r:id="rId76"/>
    <p:sldId id="1849" r:id="rId77"/>
    <p:sldId id="1850" r:id="rId78"/>
    <p:sldId id="1851" r:id="rId79"/>
    <p:sldId id="1853" r:id="rId80"/>
    <p:sldId id="1854" r:id="rId81"/>
    <p:sldId id="1856" r:id="rId82"/>
    <p:sldId id="1857" r:id="rId83"/>
    <p:sldId id="1858" r:id="rId84"/>
    <p:sldId id="1860" r:id="rId85"/>
    <p:sldId id="1861" r:id="rId86"/>
    <p:sldId id="1862" r:id="rId87"/>
    <p:sldId id="1868" r:id="rId88"/>
    <p:sldId id="1869" r:id="rId89"/>
    <p:sldId id="1870" r:id="rId90"/>
    <p:sldId id="1871" r:id="rId91"/>
    <p:sldId id="1872" r:id="rId92"/>
    <p:sldId id="1873" r:id="rId93"/>
    <p:sldId id="1874" r:id="rId94"/>
    <p:sldId id="1875" r:id="rId95"/>
    <p:sldId id="1876" r:id="rId96"/>
    <p:sldId id="1877" r:id="rId97"/>
    <p:sldId id="1922" r:id="rId98"/>
    <p:sldId id="1878" r:id="rId99"/>
    <p:sldId id="1880" r:id="rId100"/>
    <p:sldId id="1881" r:id="rId101"/>
    <p:sldId id="1882" r:id="rId102"/>
    <p:sldId id="1883" r:id="rId103"/>
    <p:sldId id="1884" r:id="rId104"/>
    <p:sldId id="1885" r:id="rId105"/>
    <p:sldId id="1886" r:id="rId106"/>
    <p:sldId id="1887" r:id="rId107"/>
    <p:sldId id="1888" r:id="rId108"/>
    <p:sldId id="1889" r:id="rId109"/>
    <p:sldId id="1890" r:id="rId110"/>
    <p:sldId id="1891" r:id="rId111"/>
    <p:sldId id="1892" r:id="rId112"/>
    <p:sldId id="1893" r:id="rId113"/>
    <p:sldId id="1923" r:id="rId114"/>
    <p:sldId id="1895" r:id="rId115"/>
    <p:sldId id="1899" r:id="rId116"/>
    <p:sldId id="1900" r:id="rId117"/>
    <p:sldId id="1901" r:id="rId118"/>
    <p:sldId id="1928" r:id="rId119"/>
    <p:sldId id="1910" r:id="rId120"/>
  </p:sldIdLst>
  <p:sldSz cx="9144000" cy="5143500" type="screen16x9"/>
  <p:notesSz cx="6858000" cy="9144000"/>
  <p:defaultTextStyle>
    <a:defPPr>
      <a:defRPr lang="fi-FI"/>
    </a:defPPr>
    <a:lvl1pPr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1pPr>
    <a:lvl2pPr marL="4556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2pPr>
    <a:lvl3pPr marL="9128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3pPr>
    <a:lvl4pPr marL="13700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4pPr>
    <a:lvl5pPr marL="18272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5pPr>
    <a:lvl6pPr marL="2286000" algn="l" defTabSz="914400" rtl="0" eaLnBrk="1" latinLnBrk="0" hangingPunct="1">
      <a:defRPr sz="1400" kern="1200">
        <a:solidFill>
          <a:schemeClr val="tx1"/>
        </a:solidFill>
        <a:latin typeface="Trebuchet MS" pitchFamily="96" charset="0"/>
        <a:ea typeface="宋体" charset="-122"/>
        <a:cs typeface="+mn-cs"/>
      </a:defRPr>
    </a:lvl6pPr>
    <a:lvl7pPr marL="2743200" algn="l" defTabSz="914400" rtl="0" eaLnBrk="1" latinLnBrk="0" hangingPunct="1">
      <a:defRPr sz="1400" kern="1200">
        <a:solidFill>
          <a:schemeClr val="tx1"/>
        </a:solidFill>
        <a:latin typeface="Trebuchet MS" pitchFamily="96" charset="0"/>
        <a:ea typeface="宋体" charset="-122"/>
        <a:cs typeface="+mn-cs"/>
      </a:defRPr>
    </a:lvl7pPr>
    <a:lvl8pPr marL="3200400" algn="l" defTabSz="914400" rtl="0" eaLnBrk="1" latinLnBrk="0" hangingPunct="1">
      <a:defRPr sz="1400" kern="1200">
        <a:solidFill>
          <a:schemeClr val="tx1"/>
        </a:solidFill>
        <a:latin typeface="Trebuchet MS" pitchFamily="96" charset="0"/>
        <a:ea typeface="宋体" charset="-122"/>
        <a:cs typeface="+mn-cs"/>
      </a:defRPr>
    </a:lvl8pPr>
    <a:lvl9pPr marL="3657600" algn="l" defTabSz="914400" rtl="0" eaLnBrk="1" latinLnBrk="0" hangingPunct="1">
      <a:defRPr sz="1400" kern="1200">
        <a:solidFill>
          <a:schemeClr val="tx1"/>
        </a:solidFill>
        <a:latin typeface="Trebuchet MS" pitchFamily="96" charset="0"/>
        <a:ea typeface="宋体" charset="-122"/>
        <a:cs typeface="+mn-cs"/>
      </a:defRPr>
    </a:lvl9pPr>
  </p:defaultTextStyle>
  <p:extLst>
    <p:ext uri="{521415D9-36F7-43E2-AB2F-B90AF26B5E84}">
      <p14:sectionLst xmlns:p14="http://schemas.microsoft.com/office/powerpoint/2010/main">
        <p14:section name="标题" id="{EB83E03E-195F-4588-BA9C-87CAE50CC123}">
          <p14:sldIdLst>
            <p14:sldId id="1750"/>
            <p14:sldId id="1798"/>
            <p14:sldId id="1771"/>
            <p14:sldId id="1929"/>
            <p14:sldId id="1924"/>
            <p14:sldId id="1776"/>
            <p14:sldId id="1780"/>
            <p14:sldId id="1925"/>
            <p14:sldId id="1781"/>
            <p14:sldId id="1782"/>
            <p14:sldId id="1783"/>
            <p14:sldId id="1784"/>
            <p14:sldId id="1785"/>
            <p14:sldId id="1778"/>
            <p14:sldId id="1779"/>
            <p14:sldId id="1926"/>
            <p14:sldId id="1789"/>
            <p14:sldId id="1790"/>
            <p14:sldId id="1791"/>
            <p14:sldId id="1792"/>
            <p14:sldId id="1793"/>
            <p14:sldId id="1917"/>
            <p14:sldId id="1794"/>
            <p14:sldId id="1795"/>
            <p14:sldId id="1796"/>
            <p14:sldId id="1797"/>
            <p14:sldId id="1918"/>
            <p14:sldId id="1802"/>
            <p14:sldId id="1803"/>
            <p14:sldId id="1804"/>
            <p14:sldId id="1805"/>
            <p14:sldId id="1806"/>
            <p14:sldId id="1807"/>
            <p14:sldId id="1808"/>
            <p14:sldId id="1810"/>
            <p14:sldId id="1811"/>
            <p14:sldId id="1812"/>
            <p14:sldId id="1813"/>
            <p14:sldId id="1814"/>
            <p14:sldId id="1815"/>
            <p14:sldId id="1919"/>
            <p14:sldId id="1816"/>
            <p14:sldId id="1927"/>
            <p14:sldId id="1817"/>
            <p14:sldId id="1818"/>
            <p14:sldId id="1819"/>
            <p14:sldId id="1820"/>
            <p14:sldId id="1822"/>
            <p14:sldId id="1930"/>
            <p14:sldId id="1823"/>
            <p14:sldId id="1931"/>
            <p14:sldId id="1920"/>
            <p14:sldId id="1825"/>
            <p14:sldId id="1826"/>
            <p14:sldId id="1827"/>
            <p14:sldId id="1921"/>
            <p14:sldId id="1828"/>
            <p14:sldId id="1829"/>
            <p14:sldId id="1831"/>
            <p14:sldId id="1774"/>
            <p14:sldId id="1775"/>
            <p14:sldId id="1832"/>
            <p14:sldId id="1833"/>
            <p14:sldId id="1834"/>
            <p14:sldId id="1835"/>
            <p14:sldId id="1836"/>
            <p14:sldId id="1837"/>
            <p14:sldId id="1903"/>
            <p14:sldId id="1904"/>
            <p14:sldId id="1905"/>
            <p14:sldId id="1843"/>
            <p14:sldId id="1844"/>
            <p14:sldId id="1906"/>
            <p14:sldId id="1847"/>
            <p14:sldId id="1848"/>
            <p14:sldId id="1849"/>
            <p14:sldId id="1850"/>
            <p14:sldId id="1851"/>
            <p14:sldId id="1853"/>
            <p14:sldId id="1854"/>
            <p14:sldId id="1856"/>
            <p14:sldId id="1857"/>
            <p14:sldId id="1858"/>
            <p14:sldId id="1860"/>
            <p14:sldId id="1861"/>
            <p14:sldId id="1862"/>
            <p14:sldId id="1868"/>
            <p14:sldId id="1869"/>
            <p14:sldId id="1870"/>
            <p14:sldId id="1871"/>
            <p14:sldId id="1872"/>
            <p14:sldId id="1873"/>
            <p14:sldId id="1874"/>
            <p14:sldId id="1875"/>
            <p14:sldId id="1876"/>
            <p14:sldId id="1877"/>
            <p14:sldId id="1922"/>
            <p14:sldId id="1878"/>
            <p14:sldId id="1880"/>
            <p14:sldId id="1881"/>
            <p14:sldId id="1882"/>
            <p14:sldId id="1883"/>
            <p14:sldId id="1884"/>
            <p14:sldId id="1885"/>
            <p14:sldId id="1886"/>
            <p14:sldId id="1887"/>
            <p14:sldId id="1888"/>
            <p14:sldId id="1889"/>
            <p14:sldId id="1890"/>
            <p14:sldId id="1891"/>
            <p14:sldId id="1892"/>
            <p14:sldId id="1893"/>
            <p14:sldId id="1923"/>
            <p14:sldId id="1895"/>
            <p14:sldId id="1899"/>
            <p14:sldId id="1900"/>
            <p14:sldId id="1901"/>
            <p14:sldId id="1928"/>
            <p14:sldId id="1910"/>
          </p14:sldIdLst>
        </p14:section>
      </p14:sectionLst>
    </p:ext>
    <p:ext uri="{EFAFB233-063F-42B5-8137-9DF3F51BA10A}">
      <p15:sldGuideLst xmlns:p15="http://schemas.microsoft.com/office/powerpoint/2012/main">
        <p15:guide id="1" orient="horz" pos="3838" userDrawn="1">
          <p15:clr>
            <a:srgbClr val="A4A3A4"/>
          </p15:clr>
        </p15:guide>
        <p15:guide id="2" pos="295" userDrawn="1">
          <p15:clr>
            <a:srgbClr val="A4A3A4"/>
          </p15:clr>
        </p15:guide>
        <p15:guide id="4" pos="5193" userDrawn="1">
          <p15:clr>
            <a:srgbClr val="A4A3A4"/>
          </p15:clr>
        </p15:guide>
        <p15:guide id="5" pos="3152" userDrawn="1">
          <p15:clr>
            <a:srgbClr val="A4A3A4"/>
          </p15:clr>
        </p15:guide>
        <p15:guide id="6" orient="horz" pos="287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0808"/>
    <a:srgbClr val="FFFFFF"/>
    <a:srgbClr val="1B06BA"/>
    <a:srgbClr val="339933"/>
    <a:srgbClr val="B5880B"/>
    <a:srgbClr val="E87071"/>
    <a:srgbClr val="00B3EE"/>
    <a:srgbClr val="93E5FF"/>
    <a:srgbClr val="F7FE98"/>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89422" autoAdjust="0"/>
  </p:normalViewPr>
  <p:slideViewPr>
    <p:cSldViewPr>
      <p:cViewPr varScale="1">
        <p:scale>
          <a:sx n="136" d="100"/>
          <a:sy n="136" d="100"/>
        </p:scale>
        <p:origin x="894" y="108"/>
      </p:cViewPr>
      <p:guideLst>
        <p:guide orient="horz" pos="3838"/>
        <p:guide pos="295"/>
        <p:guide pos="5193"/>
        <p:guide pos="3152"/>
        <p:guide orient="horz" pos="2879"/>
      </p:guideLst>
    </p:cSldViewPr>
  </p:slideViewPr>
  <p:notesTextViewPr>
    <p:cViewPr>
      <p:scale>
        <a:sx n="200" d="100"/>
        <a:sy n="200" d="100"/>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image" Target="../media/image3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GB" altLang="zh-CN"/>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58CD87A4-0184-412C-A44A-3DA728178AFF}" type="slidenum">
              <a:rPr lang="en-GB" altLang="zh-CN"/>
              <a:pPr>
                <a:defRPr/>
              </a:pPr>
              <a:t>‹#›</a:t>
            </a:fld>
            <a:endParaRPr lang="en-GB" altLang="zh-CN"/>
          </a:p>
        </p:txBody>
      </p:sp>
    </p:spTree>
    <p:extLst>
      <p:ext uri="{BB962C8B-B14F-4D97-AF65-F5344CB8AC3E}">
        <p14:creationId xmlns:p14="http://schemas.microsoft.com/office/powerpoint/2010/main" val="2357266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i-FI" noProof="0"/>
              <a:t>Muokkaa tekstin perustyylejä napsauttamalla</a:t>
            </a:r>
          </a:p>
          <a:p>
            <a:pPr lvl="1"/>
            <a:r>
              <a:rPr lang="fi-FI" noProof="0"/>
              <a:t>toinen taso</a:t>
            </a:r>
          </a:p>
          <a:p>
            <a:pPr lvl="2"/>
            <a:r>
              <a:rPr lang="fi-FI" noProof="0"/>
              <a:t>kolmas taso</a:t>
            </a:r>
          </a:p>
          <a:p>
            <a:pPr lvl="3"/>
            <a:r>
              <a:rPr lang="fi-FI" noProof="0"/>
              <a:t>neljäs taso</a:t>
            </a:r>
          </a:p>
          <a:p>
            <a:pPr lvl="4"/>
            <a:r>
              <a:rPr lang="fi-FI" noProof="0"/>
              <a:t>viides taso</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BB8C311E-5859-4E0C-A0F3-4690A095D6BE}" type="slidenum">
              <a:rPr lang="fi-FI" altLang="zh-CN"/>
              <a:pPr>
                <a:defRPr/>
              </a:pPr>
              <a:t>‹#›</a:t>
            </a:fld>
            <a:endParaRPr lang="fi-FI" altLang="zh-CN"/>
          </a:p>
        </p:txBody>
      </p:sp>
    </p:spTree>
    <p:extLst>
      <p:ext uri="{BB962C8B-B14F-4D97-AF65-F5344CB8AC3E}">
        <p14:creationId xmlns:p14="http://schemas.microsoft.com/office/powerpoint/2010/main" val="1720416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613" algn="l" rtl="0" eaLnBrk="0" fontAlgn="base" hangingPunct="0">
      <a:spcBef>
        <a:spcPct val="30000"/>
      </a:spcBef>
      <a:spcAft>
        <a:spcPct val="0"/>
      </a:spcAft>
      <a:defRPr sz="1200" kern="1200">
        <a:solidFill>
          <a:schemeClr val="tx1"/>
        </a:solidFill>
        <a:latin typeface="Arial" charset="0"/>
        <a:ea typeface="+mn-ea"/>
        <a:cs typeface="+mn-cs"/>
      </a:defRPr>
    </a:lvl2pPr>
    <a:lvl3pPr marL="912813" algn="l" rtl="0" eaLnBrk="0" fontAlgn="base" hangingPunct="0">
      <a:spcBef>
        <a:spcPct val="30000"/>
      </a:spcBef>
      <a:spcAft>
        <a:spcPct val="0"/>
      </a:spcAft>
      <a:defRPr sz="1200" kern="1200">
        <a:solidFill>
          <a:schemeClr val="tx1"/>
        </a:solidFill>
        <a:latin typeface="Arial" charset="0"/>
        <a:ea typeface="+mn-ea"/>
        <a:cs typeface="+mn-cs"/>
      </a:defRPr>
    </a:lvl3pPr>
    <a:lvl4pPr marL="1370013" algn="l" rtl="0" eaLnBrk="0" fontAlgn="base" hangingPunct="0">
      <a:spcBef>
        <a:spcPct val="30000"/>
      </a:spcBef>
      <a:spcAft>
        <a:spcPct val="0"/>
      </a:spcAft>
      <a:defRPr sz="1200" kern="1200">
        <a:solidFill>
          <a:schemeClr val="tx1"/>
        </a:solidFill>
        <a:latin typeface="Arial" charset="0"/>
        <a:ea typeface="+mn-ea"/>
        <a:cs typeface="+mn-cs"/>
      </a:defRPr>
    </a:lvl4pPr>
    <a:lvl5pPr marL="1827213" algn="l" rtl="0" eaLnBrk="0" fontAlgn="base" hangingPunct="0">
      <a:spcBef>
        <a:spcPct val="30000"/>
      </a:spcBef>
      <a:spcAft>
        <a:spcPct val="0"/>
      </a:spcAft>
      <a:defRPr sz="1200" kern="1200">
        <a:solidFill>
          <a:schemeClr val="tx1"/>
        </a:solidFill>
        <a:latin typeface="Arial" charset="0"/>
        <a:ea typeface="+mn-ea"/>
        <a:cs typeface="+mn-cs"/>
      </a:defRPr>
    </a:lvl5pPr>
    <a:lvl6pPr marL="2285726" algn="l" defTabSz="914290" rtl="0" eaLnBrk="1" latinLnBrk="0" hangingPunct="1">
      <a:defRPr sz="1200" kern="1200">
        <a:solidFill>
          <a:schemeClr val="tx1"/>
        </a:solidFill>
        <a:latin typeface="+mn-lt"/>
        <a:ea typeface="+mn-ea"/>
        <a:cs typeface="+mn-cs"/>
      </a:defRPr>
    </a:lvl6pPr>
    <a:lvl7pPr marL="2742871" algn="l" defTabSz="914290" rtl="0" eaLnBrk="1" latinLnBrk="0" hangingPunct="1">
      <a:defRPr sz="1200" kern="1200">
        <a:solidFill>
          <a:schemeClr val="tx1"/>
        </a:solidFill>
        <a:latin typeface="+mn-lt"/>
        <a:ea typeface="+mn-ea"/>
        <a:cs typeface="+mn-cs"/>
      </a:defRPr>
    </a:lvl7pPr>
    <a:lvl8pPr marL="3200016" algn="l" defTabSz="914290" rtl="0" eaLnBrk="1" latinLnBrk="0" hangingPunct="1">
      <a:defRPr sz="1200" kern="1200">
        <a:solidFill>
          <a:schemeClr val="tx1"/>
        </a:solidFill>
        <a:latin typeface="+mn-lt"/>
        <a:ea typeface="+mn-ea"/>
        <a:cs typeface="+mn-cs"/>
      </a:defRPr>
    </a:lvl8pPr>
    <a:lvl9pPr marL="3657161" algn="l" defTabSz="9142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a:t>
            </a:fld>
            <a:endParaRPr lang="fi-FI" altLang="zh-CN"/>
          </a:p>
        </p:txBody>
      </p:sp>
    </p:spTree>
    <p:extLst>
      <p:ext uri="{BB962C8B-B14F-4D97-AF65-F5344CB8AC3E}">
        <p14:creationId xmlns:p14="http://schemas.microsoft.com/office/powerpoint/2010/main" val="376868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a:t>
            </a:fld>
            <a:endParaRPr lang="fi-FI" altLang="zh-CN"/>
          </a:p>
        </p:txBody>
      </p:sp>
    </p:spTree>
    <p:extLst>
      <p:ext uri="{BB962C8B-B14F-4D97-AF65-F5344CB8AC3E}">
        <p14:creationId xmlns:p14="http://schemas.microsoft.com/office/powerpoint/2010/main" val="2743657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某些用户可能更新一条元组里的预算金额而不是所有元组中预算金额，因此会产生不一致的风险。</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a:t>
            </a:fld>
            <a:endParaRPr lang="fi-FI" altLang="zh-CN"/>
          </a:p>
        </p:txBody>
      </p:sp>
    </p:spTree>
    <p:extLst>
      <p:ext uri="{BB962C8B-B14F-4D97-AF65-F5344CB8AC3E}">
        <p14:creationId xmlns:p14="http://schemas.microsoft.com/office/powerpoint/2010/main" val="1102623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11</a:t>
            </a:fld>
            <a:endParaRPr lang="fi-FI" altLang="zh-CN"/>
          </a:p>
        </p:txBody>
      </p:sp>
    </p:spTree>
    <p:extLst>
      <p:ext uri="{BB962C8B-B14F-4D97-AF65-F5344CB8AC3E}">
        <p14:creationId xmlns:p14="http://schemas.microsoft.com/office/powerpoint/2010/main" val="1761050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12</a:t>
            </a:fld>
            <a:endParaRPr lang="fi-FI" altLang="zh-CN"/>
          </a:p>
        </p:txBody>
      </p:sp>
    </p:spTree>
    <p:extLst>
      <p:ext uri="{BB962C8B-B14F-4D97-AF65-F5344CB8AC3E}">
        <p14:creationId xmlns:p14="http://schemas.microsoft.com/office/powerpoint/2010/main" val="34496352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17</a:t>
            </a:fld>
            <a:endParaRPr lang="fi-FI" altLang="zh-CN"/>
          </a:p>
        </p:txBody>
      </p:sp>
    </p:spTree>
    <p:extLst>
      <p:ext uri="{BB962C8B-B14F-4D97-AF65-F5344CB8AC3E}">
        <p14:creationId xmlns:p14="http://schemas.microsoft.com/office/powerpoint/2010/main" val="3868719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19</a:t>
            </a:fld>
            <a:endParaRPr lang="fi-FI" altLang="zh-CN"/>
          </a:p>
        </p:txBody>
      </p:sp>
    </p:spTree>
    <p:extLst>
      <p:ext uri="{BB962C8B-B14F-4D97-AF65-F5344CB8AC3E}">
        <p14:creationId xmlns:p14="http://schemas.microsoft.com/office/powerpoint/2010/main" val="3822343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20</a:t>
            </a:fld>
            <a:endParaRPr lang="fi-FI" altLang="zh-CN"/>
          </a:p>
        </p:txBody>
      </p:sp>
    </p:spTree>
    <p:extLst>
      <p:ext uri="{BB962C8B-B14F-4D97-AF65-F5344CB8AC3E}">
        <p14:creationId xmlns:p14="http://schemas.microsoft.com/office/powerpoint/2010/main" val="2022091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29</a:t>
            </a:fld>
            <a:endParaRPr lang="fi-FI" altLang="zh-CN"/>
          </a:p>
        </p:txBody>
      </p:sp>
    </p:spTree>
    <p:extLst>
      <p:ext uri="{BB962C8B-B14F-4D97-AF65-F5344CB8AC3E}">
        <p14:creationId xmlns:p14="http://schemas.microsoft.com/office/powerpoint/2010/main" val="466022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39</a:t>
            </a:fld>
            <a:endParaRPr lang="fi-FI" altLang="zh-CN"/>
          </a:p>
        </p:txBody>
      </p:sp>
    </p:spTree>
    <p:extLst>
      <p:ext uri="{BB962C8B-B14F-4D97-AF65-F5344CB8AC3E}">
        <p14:creationId xmlns:p14="http://schemas.microsoft.com/office/powerpoint/2010/main" val="1996750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47</a:t>
            </a:fld>
            <a:endParaRPr lang="fi-FI" altLang="zh-CN"/>
          </a:p>
        </p:txBody>
      </p:sp>
    </p:spTree>
    <p:extLst>
      <p:ext uri="{BB962C8B-B14F-4D97-AF65-F5344CB8AC3E}">
        <p14:creationId xmlns:p14="http://schemas.microsoft.com/office/powerpoint/2010/main" val="42702577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49</a:t>
            </a:fld>
            <a:endParaRPr lang="fi-FI" altLang="zh-CN"/>
          </a:p>
        </p:txBody>
      </p:sp>
    </p:spTree>
    <p:extLst>
      <p:ext uri="{BB962C8B-B14F-4D97-AF65-F5344CB8AC3E}">
        <p14:creationId xmlns:p14="http://schemas.microsoft.com/office/powerpoint/2010/main" val="7549855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highlight>
                <a:srgbClr val="FFFF00"/>
              </a:highligh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highlight>
                <a:srgbClr val="FFFF00"/>
              </a:highligh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highlight>
                <a:srgbClr val="FFFF00"/>
              </a:highligh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50</a:t>
            </a:fld>
            <a:endParaRPr lang="fi-FI" altLang="zh-CN"/>
          </a:p>
        </p:txBody>
      </p:sp>
    </p:spTree>
    <p:extLst>
      <p:ext uri="{BB962C8B-B14F-4D97-AF65-F5344CB8AC3E}">
        <p14:creationId xmlns:p14="http://schemas.microsoft.com/office/powerpoint/2010/main" val="1850160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51</a:t>
            </a:fld>
            <a:endParaRPr lang="fi-FI" altLang="zh-CN"/>
          </a:p>
        </p:txBody>
      </p:sp>
    </p:spTree>
    <p:extLst>
      <p:ext uri="{BB962C8B-B14F-4D97-AF65-F5344CB8AC3E}">
        <p14:creationId xmlns:p14="http://schemas.microsoft.com/office/powerpoint/2010/main" val="3452867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保持依赖测试：用依赖关系中的左侧属性</a:t>
            </a:r>
            <a:r>
              <a:rPr lang="en-US" altLang="zh-CN" dirty="0"/>
              <a:t>a</a:t>
            </a:r>
            <a:r>
              <a:rPr lang="zh-CN" altLang="en-US" dirty="0"/>
              <a:t>滚动各个关系合并可决定的属性，最后检查是否包含</a:t>
            </a:r>
            <a:r>
              <a:rPr lang="en-US" altLang="zh-CN" dirty="0"/>
              <a:t>b</a:t>
            </a:r>
            <a:r>
              <a:rPr lang="zh-CN" altLang="en-US" dirty="0"/>
              <a:t>中所有属性</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55</a:t>
            </a:fld>
            <a:endParaRPr lang="fi-FI" altLang="zh-CN"/>
          </a:p>
        </p:txBody>
      </p:sp>
    </p:spTree>
    <p:extLst>
      <p:ext uri="{BB962C8B-B14F-4D97-AF65-F5344CB8AC3E}">
        <p14:creationId xmlns:p14="http://schemas.microsoft.com/office/powerpoint/2010/main" val="36725497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zh-CN"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58</a:t>
            </a:fld>
            <a:endParaRPr lang="fi-FI" altLang="zh-CN"/>
          </a:p>
        </p:txBody>
      </p:sp>
    </p:spTree>
    <p:extLst>
      <p:ext uri="{BB962C8B-B14F-4D97-AF65-F5344CB8AC3E}">
        <p14:creationId xmlns:p14="http://schemas.microsoft.com/office/powerpoint/2010/main" val="19095994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BC</a:t>
            </a:r>
            <a:r>
              <a:rPr lang="zh-CN" altLang="en-US" dirty="0"/>
              <a:t>范式到第四范式是去除了一些非平凡的多值依赖，并非完全去除多值依赖</a:t>
            </a:r>
            <a:endParaRPr lang="zh-CN" altLang="zh-CN"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59</a:t>
            </a:fld>
            <a:endParaRPr lang="fi-FI" altLang="zh-CN"/>
          </a:p>
        </p:txBody>
      </p:sp>
    </p:spTree>
    <p:extLst>
      <p:ext uri="{BB962C8B-B14F-4D97-AF65-F5344CB8AC3E}">
        <p14:creationId xmlns:p14="http://schemas.microsoft.com/office/powerpoint/2010/main" val="29313509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60</a:t>
            </a:fld>
            <a:endParaRPr lang="fi-FI" altLang="zh-CN"/>
          </a:p>
        </p:txBody>
      </p:sp>
    </p:spTree>
    <p:extLst>
      <p:ext uri="{BB962C8B-B14F-4D97-AF65-F5344CB8AC3E}">
        <p14:creationId xmlns:p14="http://schemas.microsoft.com/office/powerpoint/2010/main" val="3405964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“决定属性”</a:t>
            </a:r>
            <a:r>
              <a:rPr lang="en-US" altLang="zh-CN" dirty="0"/>
              <a:t>(Determinant)</a:t>
            </a:r>
          </a:p>
          <a:p>
            <a:r>
              <a:rPr lang="en-US" altLang="zh-CN" dirty="0"/>
              <a:t>BCNF</a:t>
            </a:r>
            <a:r>
              <a:rPr lang="zh-CN" altLang="en-US" dirty="0"/>
              <a:t>是指关系表中，主要功能依赖</a:t>
            </a:r>
            <a:r>
              <a:rPr lang="en-US" altLang="zh-CN" dirty="0"/>
              <a:t>A→B</a:t>
            </a:r>
            <a:r>
              <a:rPr lang="zh-CN" altLang="en-US" dirty="0"/>
              <a:t>的左边属性</a:t>
            </a:r>
            <a:r>
              <a:rPr lang="en-US" altLang="zh-CN" dirty="0"/>
              <a:t>A</a:t>
            </a:r>
            <a:r>
              <a:rPr lang="zh-CN" altLang="en-US" dirty="0"/>
              <a:t>称为“决定属性”</a:t>
            </a:r>
            <a:r>
              <a:rPr lang="en-US" altLang="zh-CN" dirty="0"/>
              <a:t>(Determinant)</a:t>
            </a:r>
            <a:r>
              <a:rPr lang="zh-CN" altLang="en-US" dirty="0"/>
              <a:t>，决定属性一定是候选键或主键。如果关系表拥有不符合上述规则的功能依赖，就表示有不同的数据储存在同一个关系表，需要分割关系表</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73</a:t>
            </a:fld>
            <a:endParaRPr lang="fi-FI" altLang="zh-CN"/>
          </a:p>
        </p:txBody>
      </p:sp>
    </p:spTree>
    <p:extLst>
      <p:ext uri="{BB962C8B-B14F-4D97-AF65-F5344CB8AC3E}">
        <p14:creationId xmlns:p14="http://schemas.microsoft.com/office/powerpoint/2010/main" val="1359276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只用</a:t>
            </a:r>
            <a:r>
              <a:rPr lang="en-US" altLang="zh-CN" dirty="0"/>
              <a:t>F</a:t>
            </a:r>
            <a:r>
              <a:rPr lang="zh-CN" altLang="en-US" dirty="0"/>
              <a:t>测试是否</a:t>
            </a:r>
            <a:r>
              <a:rPr lang="en-US" altLang="zh-CN" dirty="0"/>
              <a:t>BCNF</a:t>
            </a:r>
            <a:r>
              <a:rPr lang="zh-CN" altLang="en-US" dirty="0"/>
              <a:t>是可以的，但用来判断</a:t>
            </a:r>
            <a:r>
              <a:rPr lang="zh-CN" altLang="en-US"/>
              <a:t>分解后子模式</a:t>
            </a:r>
            <a:r>
              <a:rPr lang="zh-CN" altLang="en-US" dirty="0"/>
              <a:t>是否是</a:t>
            </a:r>
            <a:r>
              <a:rPr lang="en-US" altLang="zh-CN" dirty="0"/>
              <a:t>BCNF</a:t>
            </a:r>
            <a:r>
              <a:rPr lang="zh-CN" altLang="en-US" dirty="0"/>
              <a:t>就不够了</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76</a:t>
            </a:fld>
            <a:endParaRPr lang="fi-FI" altLang="zh-CN"/>
          </a:p>
        </p:txBody>
      </p:sp>
    </p:spTree>
    <p:extLst>
      <p:ext uri="{BB962C8B-B14F-4D97-AF65-F5344CB8AC3E}">
        <p14:creationId xmlns:p14="http://schemas.microsoft.com/office/powerpoint/2010/main" val="6054858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(R</a:t>
            </a:r>
            <a:r>
              <a:rPr lang="en-US" altLang="zh-CN" sz="1800" i="1" kern="0" baseline="-2500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i </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Greek Symbols" pitchFamily="18" charset="2"/>
              </a:rPr>
              <a:t> )=</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zh-CN" altLang="en-US"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zh-CN" altLang="en-US"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，说明分解无损。请参考</a:t>
            </a:r>
            <a:r>
              <a:rPr lang="en-US" altLang="zh-CN"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ppt 43</a:t>
            </a:r>
            <a:r>
              <a:rPr lang="zh-CN" altLang="en-US" sz="1800" i="1" kern="0" dirty="0">
                <a:solidFill>
                  <a:schemeClr val="tx1"/>
                </a:solidFill>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页</a:t>
            </a:r>
            <a:endParaRPr lang="zh-CN" altLang="en-US" sz="1800" i="1" kern="0" dirty="0">
              <a:solidFill>
                <a:schemeClr val="tx1"/>
              </a:solidFill>
              <a:latin typeface="Arial" panose="020B0604020202020204" pitchFamily="34" charset="0"/>
              <a:ea typeface="宋体" panose="02010600030101010101" pitchFamily="2" charset="-122"/>
              <a:cs typeface="Arial" panose="020B0604020202020204" pitchFamily="34" charset="0"/>
            </a:endParaRP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78</a:t>
            </a:fld>
            <a:endParaRPr lang="fi-FI" altLang="zh-CN"/>
          </a:p>
        </p:txBody>
      </p:sp>
    </p:spTree>
    <p:extLst>
      <p:ext uri="{BB962C8B-B14F-4D97-AF65-F5344CB8AC3E}">
        <p14:creationId xmlns:p14="http://schemas.microsoft.com/office/powerpoint/2010/main" val="9842364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无损分解：对</a:t>
            </a:r>
            <a:endParaRPr lang="en-US" altLang="zh-CN" dirty="0"/>
          </a:p>
          <a:p>
            <a:r>
              <a:rPr lang="zh-CN" altLang="en-US" dirty="0"/>
              <a:t>保持依赖：不对。这里的例子：</a:t>
            </a:r>
            <a:r>
              <a:rPr lang="en-US" altLang="zh-CN" dirty="0"/>
              <a:t>LK,JL</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81</a:t>
            </a:fld>
            <a:endParaRPr lang="fi-FI" altLang="zh-CN"/>
          </a:p>
        </p:txBody>
      </p:sp>
    </p:spTree>
    <p:extLst>
      <p:ext uri="{BB962C8B-B14F-4D97-AF65-F5344CB8AC3E}">
        <p14:creationId xmlns:p14="http://schemas.microsoft.com/office/powerpoint/2010/main" val="646183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是否无损用表格法，是否函数依赖保持用代码检验</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82</a:t>
            </a:fld>
            <a:endParaRPr lang="fi-FI" altLang="zh-CN"/>
          </a:p>
        </p:txBody>
      </p:sp>
    </p:spTree>
    <p:extLst>
      <p:ext uri="{BB962C8B-B14F-4D97-AF65-F5344CB8AC3E}">
        <p14:creationId xmlns:p14="http://schemas.microsoft.com/office/powerpoint/2010/main" val="36230201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a:r>
              <a:rPr lang="en-US" altLang="zh-CN" sz="2000" b="1" dirty="0">
                <a:sym typeface="Greek Symbols" pitchFamily="18" charset="2"/>
              </a:rPr>
              <a:t>Each </a:t>
            </a:r>
            <a:r>
              <a:rPr lang="en-US" altLang="zh-CN" sz="2000" b="1" dirty="0" err="1">
                <a:sym typeface="Greek Symbols" pitchFamily="18" charset="2"/>
              </a:rPr>
              <a:t>attr</a:t>
            </a:r>
            <a:r>
              <a:rPr lang="en-US" altLang="zh-CN" sz="2000" b="1" dirty="0">
                <a:sym typeface="Greek Symbols" pitchFamily="18" charset="2"/>
              </a:rPr>
              <a:t>. </a:t>
            </a:r>
            <a:r>
              <a:rPr lang="en-US" altLang="zh-CN" sz="2000" b="1" i="1" dirty="0">
                <a:sym typeface="Greek Symbols" pitchFamily="18" charset="2"/>
              </a:rPr>
              <a:t>A</a:t>
            </a:r>
            <a:r>
              <a:rPr lang="en-US" altLang="zh-CN" sz="2000" b="1" dirty="0">
                <a:sym typeface="Greek Symbols" pitchFamily="18" charset="2"/>
              </a:rPr>
              <a:t> in </a:t>
            </a:r>
            <a:r>
              <a:rPr lang="en-US" altLang="zh-CN" sz="2000" b="1" i="1" dirty="0">
                <a:sym typeface="Symbol" panose="05050102010706020507" pitchFamily="18" charset="2"/>
              </a:rPr>
              <a:t></a:t>
            </a:r>
            <a:r>
              <a:rPr lang="en-US" altLang="zh-CN" sz="2000" b="1" dirty="0">
                <a:sym typeface="Greek Symbols" pitchFamily="18" charset="2"/>
              </a:rPr>
              <a:t> </a:t>
            </a:r>
            <a:r>
              <a:rPr lang="en-US" altLang="zh-CN" sz="2000" b="1" dirty="0">
                <a:latin typeface="Helvetica" panose="020B0604020202020204" pitchFamily="34" charset="0"/>
                <a:sym typeface="Greek Symbols" pitchFamily="18" charset="2"/>
              </a:rPr>
              <a:t>–</a:t>
            </a:r>
            <a:r>
              <a:rPr lang="en-US" altLang="zh-CN" sz="2000" b="1" dirty="0">
                <a:sym typeface="Greek Symbols" pitchFamily="18" charset="2"/>
              </a:rPr>
              <a:t> </a:t>
            </a:r>
            <a:r>
              <a:rPr lang="en-US" altLang="zh-CN" sz="2000" b="1" dirty="0">
                <a:sym typeface="Symbol" panose="05050102010706020507" pitchFamily="18" charset="2"/>
              </a:rPr>
              <a:t></a:t>
            </a:r>
            <a:r>
              <a:rPr lang="en-US" altLang="zh-CN" sz="2000" b="1" dirty="0">
                <a:sym typeface="Greek Symbols" pitchFamily="18" charset="2"/>
              </a:rPr>
              <a:t> is contained in a candidate key for </a:t>
            </a:r>
            <a:r>
              <a:rPr lang="en-US" altLang="zh-CN" sz="2000" b="1" i="1" dirty="0">
                <a:sym typeface="Greek Symbols" pitchFamily="18" charset="2"/>
              </a:rPr>
              <a:t>R.</a:t>
            </a:r>
            <a:r>
              <a:rPr lang="zh-CN" altLang="en-US" sz="2000" b="1" i="1" dirty="0">
                <a:sym typeface="Greek Symbols" pitchFamily="18" charset="2"/>
              </a:rPr>
              <a:t>意思是，如果</a:t>
            </a:r>
            <a:r>
              <a:rPr lang="en-US" altLang="zh-CN" sz="2000" b="1" dirty="0">
                <a:sym typeface="Symbol" panose="05050102010706020507" pitchFamily="18" charset="2"/>
              </a:rPr>
              <a:t></a:t>
            </a:r>
            <a:r>
              <a:rPr lang="en-US" altLang="zh-CN" sz="2000" b="1" i="1" dirty="0">
                <a:sym typeface="Symbol" panose="05050102010706020507" pitchFamily="18" charset="2"/>
              </a:rPr>
              <a:t></a:t>
            </a:r>
            <a:r>
              <a:rPr lang="en-US" altLang="zh-CN" sz="2000" b="1" i="1" dirty="0">
                <a:sym typeface="Greek Symbols" pitchFamily="18" charset="2"/>
              </a:rPr>
              <a:t> </a:t>
            </a:r>
            <a:r>
              <a:rPr lang="zh-CN" altLang="en-US" sz="2000" b="1" i="1" dirty="0">
                <a:sym typeface="Greek Symbols" pitchFamily="18" charset="2"/>
              </a:rPr>
              <a:t>中</a:t>
            </a:r>
            <a:r>
              <a:rPr lang="en-US" altLang="zh-CN" sz="2000" b="1" dirty="0">
                <a:sym typeface="Symbol" panose="05050102010706020507" pitchFamily="18" charset="2"/>
              </a:rPr>
              <a:t></a:t>
            </a:r>
            <a:r>
              <a:rPr lang="zh-CN" altLang="en-US" sz="2000" b="1" dirty="0">
                <a:sym typeface="Symbol" panose="05050102010706020507" pitchFamily="18" charset="2"/>
              </a:rPr>
              <a:t>不是</a:t>
            </a:r>
            <a:r>
              <a:rPr lang="en-US" altLang="zh-CN" sz="2000" b="1" dirty="0">
                <a:sym typeface="Symbol" panose="05050102010706020507" pitchFamily="18" charset="2"/>
              </a:rPr>
              <a:t>candidate keys,</a:t>
            </a:r>
            <a:r>
              <a:rPr lang="zh-CN" altLang="en-US" sz="2000" b="1" dirty="0">
                <a:sym typeface="Symbol" panose="05050102010706020507" pitchFamily="18" charset="2"/>
              </a:rPr>
              <a:t>那么如果</a:t>
            </a:r>
            <a:r>
              <a:rPr lang="en-US" altLang="zh-CN" sz="2000" b="1" i="1" dirty="0">
                <a:sym typeface="Symbol" panose="05050102010706020507" pitchFamily="18" charset="2"/>
              </a:rPr>
              <a:t></a:t>
            </a:r>
            <a:r>
              <a:rPr lang="en-US" altLang="zh-CN" sz="2000" b="1" dirty="0">
                <a:sym typeface="Greek Symbols" pitchFamily="18" charset="2"/>
              </a:rPr>
              <a:t> </a:t>
            </a:r>
            <a:r>
              <a:rPr lang="en-US" altLang="zh-CN" sz="2000" b="1" dirty="0">
                <a:latin typeface="Helvetica" panose="020B0604020202020204" pitchFamily="34" charset="0"/>
                <a:sym typeface="Greek Symbols" pitchFamily="18" charset="2"/>
              </a:rPr>
              <a:t>–</a:t>
            </a:r>
            <a:r>
              <a:rPr lang="en-US" altLang="zh-CN" sz="2000" b="1" dirty="0">
                <a:sym typeface="Greek Symbols" pitchFamily="18" charset="2"/>
              </a:rPr>
              <a:t> </a:t>
            </a:r>
            <a:r>
              <a:rPr lang="en-US" altLang="zh-CN" sz="2000" b="1" dirty="0">
                <a:sym typeface="Symbol" panose="05050102010706020507" pitchFamily="18" charset="2"/>
              </a:rPr>
              <a:t></a:t>
            </a:r>
            <a:r>
              <a:rPr lang="en-US" altLang="zh-CN" sz="2000" b="1" dirty="0">
                <a:sym typeface="Greek Symbols" pitchFamily="18" charset="2"/>
              </a:rPr>
              <a:t> </a:t>
            </a:r>
            <a:r>
              <a:rPr lang="zh-CN" altLang="en-US" sz="2000" b="1" dirty="0">
                <a:sym typeface="Greek Symbols" pitchFamily="18" charset="2"/>
              </a:rPr>
              <a:t>是主属性则是</a:t>
            </a:r>
            <a:r>
              <a:rPr lang="en-US" altLang="zh-CN" sz="2000" b="1" dirty="0">
                <a:sym typeface="Greek Symbols" pitchFamily="18" charset="2"/>
              </a:rPr>
              <a:t>3NF</a:t>
            </a:r>
            <a:r>
              <a:rPr lang="zh-CN" altLang="en-US" sz="2000" b="1" dirty="0">
                <a:sym typeface="Greek Symbols" pitchFamily="18" charset="2"/>
              </a:rPr>
              <a:t>，否则不是。而</a:t>
            </a:r>
            <a:r>
              <a:rPr lang="en-US" altLang="zh-CN" sz="2000" b="1" dirty="0">
                <a:sym typeface="Greek Symbols" pitchFamily="18" charset="2"/>
              </a:rPr>
              <a:t>BCNF</a:t>
            </a:r>
            <a:r>
              <a:rPr lang="zh-CN" altLang="en-US" sz="2000" b="1" dirty="0">
                <a:sym typeface="Greek Symbols" pitchFamily="18" charset="2"/>
              </a:rPr>
              <a:t>即使</a:t>
            </a:r>
            <a:r>
              <a:rPr lang="en-US" altLang="zh-CN" sz="2000" b="1" i="1" dirty="0">
                <a:sym typeface="Symbol" panose="05050102010706020507" pitchFamily="18" charset="2"/>
              </a:rPr>
              <a:t></a:t>
            </a:r>
            <a:r>
              <a:rPr lang="en-US" altLang="zh-CN" sz="2000" b="1" dirty="0">
                <a:sym typeface="Greek Symbols" pitchFamily="18" charset="2"/>
              </a:rPr>
              <a:t> </a:t>
            </a:r>
            <a:r>
              <a:rPr lang="en-US" altLang="zh-CN" sz="2000" b="1" dirty="0">
                <a:latin typeface="Helvetica" panose="020B0604020202020204" pitchFamily="34" charset="0"/>
                <a:sym typeface="Greek Symbols" pitchFamily="18" charset="2"/>
              </a:rPr>
              <a:t>–</a:t>
            </a:r>
            <a:r>
              <a:rPr lang="en-US" altLang="zh-CN" sz="2000" b="1" dirty="0">
                <a:sym typeface="Greek Symbols" pitchFamily="18" charset="2"/>
              </a:rPr>
              <a:t> </a:t>
            </a:r>
            <a:r>
              <a:rPr lang="en-US" altLang="zh-CN" sz="2000" b="1" dirty="0">
                <a:sym typeface="Symbol" panose="05050102010706020507" pitchFamily="18" charset="2"/>
              </a:rPr>
              <a:t></a:t>
            </a:r>
            <a:r>
              <a:rPr lang="en-US" altLang="zh-CN" sz="2000" b="1" dirty="0">
                <a:sym typeface="Greek Symbols" pitchFamily="18" charset="2"/>
              </a:rPr>
              <a:t> </a:t>
            </a:r>
            <a:r>
              <a:rPr lang="zh-CN" altLang="en-US" sz="2000" b="1" dirty="0">
                <a:sym typeface="Greek Symbols" pitchFamily="18" charset="2"/>
              </a:rPr>
              <a:t>是主属性也不行，</a:t>
            </a:r>
            <a:r>
              <a:rPr lang="en-US" altLang="zh-CN" sz="2000" b="1" dirty="0">
                <a:sym typeface="Symbol" panose="05050102010706020507" pitchFamily="18" charset="2"/>
              </a:rPr>
              <a:t></a:t>
            </a:r>
            <a:r>
              <a:rPr lang="zh-CN" altLang="en-US" sz="2000" b="1">
                <a:sym typeface="Symbol" panose="05050102010706020507" pitchFamily="18" charset="2"/>
              </a:rPr>
              <a:t>必须是超键</a:t>
            </a:r>
            <a:r>
              <a:rPr lang="zh-CN" altLang="en-US" sz="2000" b="1" dirty="0">
                <a:sym typeface="Symbol" panose="05050102010706020507" pitchFamily="18" charset="2"/>
              </a:rPr>
              <a:t>。</a:t>
            </a:r>
            <a:endParaRPr lang="en-US" altLang="zh-CN" sz="2000" b="1" i="1" dirty="0">
              <a:sym typeface="Greek Symbols" pitchFamily="18" charset="2"/>
            </a:endParaRP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83</a:t>
            </a:fld>
            <a:endParaRPr lang="fi-FI" altLang="zh-CN"/>
          </a:p>
        </p:txBody>
      </p:sp>
    </p:spTree>
    <p:extLst>
      <p:ext uri="{BB962C8B-B14F-4D97-AF65-F5344CB8AC3E}">
        <p14:creationId xmlns:p14="http://schemas.microsoft.com/office/powerpoint/2010/main" val="15705173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87</a:t>
            </a:fld>
            <a:endParaRPr lang="fi-FI" altLang="zh-CN"/>
          </a:p>
        </p:txBody>
      </p:sp>
    </p:spTree>
    <p:extLst>
      <p:ext uri="{BB962C8B-B14F-4D97-AF65-F5344CB8AC3E}">
        <p14:creationId xmlns:p14="http://schemas.microsoft.com/office/powerpoint/2010/main" val="38593766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sym typeface="Monotype Sorts" pitchFamily="96" charset="2"/>
              </a:rPr>
              <a:t>Indeed we have (in above notation) z1 = z2</a:t>
            </a:r>
            <a:r>
              <a:rPr lang="zh-CN" altLang="en-US" b="1" dirty="0">
                <a:sym typeface="Monotype Sorts" pitchFamily="96" charset="2"/>
              </a:rPr>
              <a:t>，意思就是假设是多个元组，但相同</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105</a:t>
            </a:fld>
            <a:endParaRPr lang="fi-FI" altLang="zh-CN"/>
          </a:p>
        </p:txBody>
      </p:sp>
    </p:spTree>
    <p:extLst>
      <p:ext uri="{BB962C8B-B14F-4D97-AF65-F5344CB8AC3E}">
        <p14:creationId xmlns:p14="http://schemas.microsoft.com/office/powerpoint/2010/main" val="348110106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solidFill>
                  <a:srgbClr val="FF0000"/>
                </a:solidFill>
                <a:sym typeface="Symbol" panose="05050102010706020507" pitchFamily="18" charset="2"/>
              </a:rPr>
              <a:t>adding tuples</a:t>
            </a:r>
            <a:r>
              <a:rPr lang="en-US" altLang="zh-CN" b="1" dirty="0">
                <a:sym typeface="Symbol" panose="05050102010706020507" pitchFamily="18" charset="2"/>
              </a:rPr>
              <a:t> to </a:t>
            </a:r>
            <a:r>
              <a:rPr lang="en-US" altLang="zh-CN" b="1" i="1" dirty="0">
                <a:solidFill>
                  <a:srgbClr val="0000FF"/>
                </a:solidFill>
                <a:sym typeface="Symbol" panose="05050102010706020507" pitchFamily="18" charset="2"/>
              </a:rPr>
              <a:t>r</a:t>
            </a:r>
            <a:r>
              <a:rPr lang="zh-CN" altLang="en-US" b="1" i="1" dirty="0">
                <a:solidFill>
                  <a:srgbClr val="0000FF"/>
                </a:solidFill>
                <a:sym typeface="Symbol" panose="05050102010706020507" pitchFamily="18" charset="2"/>
              </a:rPr>
              <a:t>：意思是不满足一定是缺少一些交换的元组，填上就满足多值依赖了</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106</a:t>
            </a:fld>
            <a:endParaRPr lang="fi-FI" altLang="zh-CN"/>
          </a:p>
        </p:txBody>
      </p:sp>
    </p:spTree>
    <p:extLst>
      <p:ext uri="{BB962C8B-B14F-4D97-AF65-F5344CB8AC3E}">
        <p14:creationId xmlns:p14="http://schemas.microsoft.com/office/powerpoint/2010/main" val="3344412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4NF</a:t>
            </a:r>
            <a:r>
              <a:rPr lang="zh-CN" altLang="en-US" dirty="0"/>
              <a:t>就是要求没有非平凡的多值依赖</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108</a:t>
            </a:fld>
            <a:endParaRPr lang="fi-FI" altLang="zh-CN"/>
          </a:p>
        </p:txBody>
      </p:sp>
    </p:spTree>
    <p:extLst>
      <p:ext uri="{BB962C8B-B14F-4D97-AF65-F5344CB8AC3E}">
        <p14:creationId xmlns:p14="http://schemas.microsoft.com/office/powerpoint/2010/main" val="39743312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要检查每个分解是否是</a:t>
            </a:r>
            <a:r>
              <a:rPr lang="en-US" altLang="zh-CN" dirty="0"/>
              <a:t>4NF</a:t>
            </a:r>
            <a:r>
              <a:rPr lang="zh-CN" altLang="en-US" dirty="0"/>
              <a:t>，必须要求分解后，</a:t>
            </a:r>
            <a:r>
              <a:rPr lang="en-US" altLang="zh-CN" dirty="0"/>
              <a:t>D+</a:t>
            </a:r>
            <a:r>
              <a:rPr lang="zh-CN" altLang="en-US" dirty="0"/>
              <a:t>在各个子表中的投影也满足</a:t>
            </a:r>
            <a:r>
              <a:rPr lang="en-US" altLang="zh-CN" dirty="0"/>
              <a:t>4NF</a:t>
            </a:r>
            <a:r>
              <a:rPr lang="zh-CN" altLang="en-US" dirty="0"/>
              <a:t>的判定条件</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109</a:t>
            </a:fld>
            <a:endParaRPr lang="fi-FI" altLang="zh-CN"/>
          </a:p>
        </p:txBody>
      </p:sp>
    </p:spTree>
    <p:extLst>
      <p:ext uri="{BB962C8B-B14F-4D97-AF65-F5344CB8AC3E}">
        <p14:creationId xmlns:p14="http://schemas.microsoft.com/office/powerpoint/2010/main" val="5283635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无损连接，但不一定保持依赖</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110</a:t>
            </a:fld>
            <a:endParaRPr lang="fi-FI" altLang="zh-CN"/>
          </a:p>
        </p:txBody>
      </p:sp>
    </p:spTree>
    <p:extLst>
      <p:ext uri="{BB962C8B-B14F-4D97-AF65-F5344CB8AC3E}">
        <p14:creationId xmlns:p14="http://schemas.microsoft.com/office/powerpoint/2010/main" val="28619449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115</a:t>
            </a:fld>
            <a:endParaRPr lang="fi-FI" altLang="zh-CN"/>
          </a:p>
        </p:txBody>
      </p:sp>
    </p:spTree>
    <p:extLst>
      <p:ext uri="{BB962C8B-B14F-4D97-AF65-F5344CB8AC3E}">
        <p14:creationId xmlns:p14="http://schemas.microsoft.com/office/powerpoint/2010/main" val="5378014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1" dirty="0">
                <a:solidFill>
                  <a:srgbClr val="FF0000"/>
                </a:solidFill>
              </a:rPr>
              <a:t>Crosstab:</a:t>
            </a:r>
            <a:r>
              <a:rPr lang="zh-CN" altLang="en-US" b="1" dirty="0"/>
              <a:t>交叉表</a:t>
            </a:r>
            <a:endParaRPr lang="en-US" altLang="zh-CN" b="1" dirty="0"/>
          </a:p>
          <a:p>
            <a:r>
              <a:rPr lang="en-US" altLang="zh-CN" b="1" dirty="0"/>
              <a:t>Spreadsheets:</a:t>
            </a:r>
            <a:r>
              <a:rPr lang="zh-CN" altLang="en-US" b="1" dirty="0"/>
              <a:t>电子数据表</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116</a:t>
            </a:fld>
            <a:endParaRPr lang="fi-FI" altLang="zh-CN"/>
          </a:p>
        </p:txBody>
      </p:sp>
    </p:spTree>
    <p:extLst>
      <p:ext uri="{BB962C8B-B14F-4D97-AF65-F5344CB8AC3E}">
        <p14:creationId xmlns:p14="http://schemas.microsoft.com/office/powerpoint/2010/main" val="3480490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117</a:t>
            </a:fld>
            <a:endParaRPr lang="fi-FI" altLang="zh-CN"/>
          </a:p>
        </p:txBody>
      </p:sp>
    </p:spTree>
    <p:extLst>
      <p:ext uri="{BB962C8B-B14F-4D97-AF65-F5344CB8AC3E}">
        <p14:creationId xmlns:p14="http://schemas.microsoft.com/office/powerpoint/2010/main" val="4093832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0" y="-20538"/>
            <a:ext cx="9144000" cy="637580"/>
          </a:xfrm>
          <a:prstGeom prst="rect">
            <a:avLst/>
          </a:prstGeom>
          <a:solidFill>
            <a:srgbClr val="0070C0"/>
          </a:solidFill>
        </p:spPr>
        <p:txBody>
          <a:bodyPr rtlCol="0">
            <a:noAutofit/>
          </a:bodyPr>
          <a:lstStyle>
            <a:lvl1pPr algn="ctr">
              <a:defRPr sz="3200" b="1" baseline="0">
                <a:solidFill>
                  <a:schemeClr val="bg1"/>
                </a:solidFill>
                <a:latin typeface="Arial" panose="020B0604020202020204" pitchFamily="34" charset="0"/>
                <a:ea typeface="微软雅黑" pitchFamily="34" charset="-122"/>
                <a:cs typeface="Arial" panose="020B0604020202020204" pitchFamily="34" charset="0"/>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251520" y="789553"/>
            <a:ext cx="8568952" cy="3805070"/>
          </a:xfrm>
        </p:spPr>
        <p:txBody>
          <a:bodyPr/>
          <a:lstStyle>
            <a:lvl1pPr>
              <a:defRPr sz="2400">
                <a:latin typeface="Arial" panose="020B0604020202020204" pitchFamily="34" charset="0"/>
                <a:ea typeface="微软雅黑" pitchFamily="34" charset="-122"/>
                <a:cs typeface="Arial" panose="020B0604020202020204" pitchFamily="34" charset="0"/>
              </a:defRPr>
            </a:lvl1pPr>
            <a:lvl2pPr>
              <a:defRPr sz="2000">
                <a:latin typeface="Arial" panose="020B0604020202020204" pitchFamily="34" charset="0"/>
                <a:ea typeface="微软雅黑" pitchFamily="34" charset="-122"/>
                <a:cs typeface="Arial" panose="020B0604020202020204" pitchFamily="34" charset="0"/>
              </a:defRPr>
            </a:lvl2pPr>
            <a:lvl3pPr>
              <a:defRPr sz="1800">
                <a:latin typeface="Arial" panose="020B0604020202020204" pitchFamily="34" charset="0"/>
                <a:ea typeface="微软雅黑" pitchFamily="34" charset="-122"/>
                <a:cs typeface="Arial" panose="020B0604020202020204" pitchFamily="34" charset="0"/>
              </a:defRPr>
            </a:lvl3pPr>
            <a:lvl4pPr>
              <a:defRPr sz="1600">
                <a:latin typeface="Arial" panose="020B0604020202020204" pitchFamily="34" charset="0"/>
                <a:ea typeface="微软雅黑" pitchFamily="34" charset="-122"/>
                <a:cs typeface="Arial" panose="020B0604020202020204" pitchFamily="34" charset="0"/>
              </a:defRPr>
            </a:lvl4pPr>
            <a:lvl5pPr>
              <a:defRPr sz="1600">
                <a:latin typeface="Arial" panose="020B0604020202020204" pitchFamily="34" charset="0"/>
                <a:ea typeface="微软雅黑" pitchFamily="34" charset="-122"/>
                <a:cs typeface="Arial" panose="020B0604020202020204" pitchFamily="34"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115569259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9525" y="3072"/>
            <a:ext cx="9144000" cy="583072"/>
          </a:xfrm>
          <a:prstGeom prst="rect">
            <a:avLst/>
          </a:prstGeom>
          <a:solidFill>
            <a:schemeClr val="bg1"/>
          </a:solidFill>
        </p:spPr>
        <p:txBody>
          <a:bodyPr rtlCol="0">
            <a:noAutofit/>
          </a:bodyPr>
          <a:lstStyle>
            <a:lvl1pPr algn="ctr">
              <a:defRPr sz="3200" b="1">
                <a:solidFill>
                  <a:schemeClr val="tx1"/>
                </a:solidFill>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382717142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64540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97C38C-D414-4266-B351-EA95CA0D0684}"/>
              </a:ext>
            </a:extLst>
          </p:cNvPr>
          <p:cNvSpPr>
            <a:spLocks noChangeArrowheads="1"/>
          </p:cNvSpPr>
          <p:nvPr/>
        </p:nvSpPr>
        <p:spPr bwMode="auto">
          <a:xfrm>
            <a:off x="0" y="1476375"/>
            <a:ext cx="9142810" cy="1626394"/>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buFontTx/>
              <a:buNone/>
              <a:defRPr/>
            </a:pPr>
            <a:endParaRPr lang="zh-CN" altLang="en-US" sz="713" dirty="0">
              <a:solidFill>
                <a:schemeClr val="bg1"/>
              </a:solidFill>
              <a:latin typeface="Calibri" panose="020F0502020204030204"/>
              <a:cs typeface="宋体" panose="02010600030101010101" pitchFamily="2" charset="-122"/>
            </a:endParaRPr>
          </a:p>
        </p:txBody>
      </p:sp>
      <p:sp>
        <p:nvSpPr>
          <p:cNvPr id="15" name="标题 14"/>
          <p:cNvSpPr>
            <a:spLocks noGrp="1"/>
          </p:cNvSpPr>
          <p:nvPr>
            <p:ph type="title"/>
          </p:nvPr>
        </p:nvSpPr>
        <p:spPr>
          <a:xfrm>
            <a:off x="4178105" y="2029612"/>
            <a:ext cx="4683967" cy="519113"/>
          </a:xfrm>
        </p:spPr>
        <p:txBody>
          <a:bodyPr/>
          <a:lstStyle>
            <a:lvl1pPr algn="ctr">
              <a:defRPr sz="2700" b="1" baseline="0">
                <a:solidFill>
                  <a:schemeClr val="bg1"/>
                </a:solidFill>
                <a:latin typeface="Times New Roman" panose="02020603050405020304" pitchFamily="18" charset="0"/>
              </a:defRPr>
            </a:lvl1pPr>
          </a:lstStyle>
          <a:p>
            <a:r>
              <a:rPr lang="zh-CN" altLang="en-US" noProof="1"/>
              <a:t>单击此处编辑母版标题样式</a:t>
            </a:r>
          </a:p>
        </p:txBody>
      </p:sp>
      <p:sp>
        <p:nvSpPr>
          <p:cNvPr id="4" name="日期占位符 29">
            <a:extLst>
              <a:ext uri="{FF2B5EF4-FFF2-40B4-BE49-F238E27FC236}">
                <a16:creationId xmlns:a16="http://schemas.microsoft.com/office/drawing/2014/main" id="{3CDAD826-20E7-4438-B5DD-D3AA4ED66200}"/>
              </a:ext>
            </a:extLst>
          </p:cNvPr>
          <p:cNvSpPr>
            <a:spLocks noGrp="1"/>
          </p:cNvSpPr>
          <p:nvPr>
            <p:ph type="dt" sz="half" idx="10"/>
          </p:nvPr>
        </p:nvSpPr>
        <p:spPr>
          <a:xfrm>
            <a:off x="5497116" y="2744391"/>
            <a:ext cx="1503759" cy="273844"/>
          </a:xfrm>
        </p:spPr>
        <p:txBody>
          <a:bodyPr/>
          <a:lstStyle>
            <a:lvl1pPr algn="r">
              <a:defRPr sz="1800" b="1">
                <a:solidFill>
                  <a:schemeClr val="bg1"/>
                </a:solidFill>
                <a:latin typeface="微软雅黑" panose="020B0503020204020204" pitchFamily="34" charset="-122"/>
                <a:ea typeface="微软雅黑" panose="020B0503020204020204" pitchFamily="34" charset="-122"/>
              </a:defRPr>
            </a:lvl1pPr>
          </a:lstStyle>
          <a:p>
            <a:pPr>
              <a:defRPr/>
            </a:pPr>
            <a:fld id="{C5EFD6F6-2F20-4B1A-A667-B95C1338A7FC}" type="datetime5">
              <a:rPr lang="zh-CN" altLang="en-US"/>
              <a:pPr>
                <a:defRPr/>
              </a:pPr>
              <a:t>2025/4/8</a:t>
            </a:fld>
            <a:endParaRPr lang="zh-CN" altLang="en-US" dirty="0"/>
          </a:p>
        </p:txBody>
      </p:sp>
      <p:sp>
        <p:nvSpPr>
          <p:cNvPr id="5" name="页脚占位符 1">
            <a:extLst>
              <a:ext uri="{FF2B5EF4-FFF2-40B4-BE49-F238E27FC236}">
                <a16:creationId xmlns:a16="http://schemas.microsoft.com/office/drawing/2014/main" id="{9AB88EAB-A34D-4476-93DF-3FF872F77EE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2">
            <a:extLst>
              <a:ext uri="{FF2B5EF4-FFF2-40B4-BE49-F238E27FC236}">
                <a16:creationId xmlns:a16="http://schemas.microsoft.com/office/drawing/2014/main" id="{A2800A24-BF08-446B-9251-F108E901EDFC}"/>
              </a:ext>
            </a:extLst>
          </p:cNvPr>
          <p:cNvSpPr>
            <a:spLocks noGrp="1"/>
          </p:cNvSpPr>
          <p:nvPr>
            <p:ph type="sldNum" sz="quarter" idx="12"/>
          </p:nvPr>
        </p:nvSpPr>
        <p:spPr/>
        <p:txBody>
          <a:bodyPr/>
          <a:lstStyle>
            <a:lvl1pPr>
              <a:defRPr/>
            </a:lvl1pPr>
          </a:lstStyle>
          <a:p>
            <a:fld id="{858CD63E-90B4-4137-BE3E-A082E383778B}" type="slidenum">
              <a:rPr lang="zh-CN" altLang="en-US"/>
              <a:pPr/>
              <a:t>‹#›</a:t>
            </a:fld>
            <a:endParaRPr lang="zh-CN" altLang="en-US"/>
          </a:p>
        </p:txBody>
      </p:sp>
    </p:spTree>
    <p:extLst>
      <p:ext uri="{BB962C8B-B14F-4D97-AF65-F5344CB8AC3E}">
        <p14:creationId xmlns:p14="http://schemas.microsoft.com/office/powerpoint/2010/main" val="3081944279"/>
      </p:ext>
    </p:extLst>
  </p:cSld>
  <p:clrMapOvr>
    <a:masterClrMapping/>
  </p:clrMapOvr>
  <p:hf sldNum="0" hdr="0" ftr="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文本框 1">
            <a:extLst>
              <a:ext uri="{FF2B5EF4-FFF2-40B4-BE49-F238E27FC236}">
                <a16:creationId xmlns:a16="http://schemas.microsoft.com/office/drawing/2014/main" id="{E0E5853F-F8D3-4201-B7D6-19EE6B4D4F23}"/>
              </a:ext>
            </a:extLst>
          </p:cNvPr>
          <p:cNvSpPr txBox="1"/>
          <p:nvPr userDrawn="1"/>
        </p:nvSpPr>
        <p:spPr>
          <a:xfrm>
            <a:off x="8460432" y="4803998"/>
            <a:ext cx="576064" cy="307777"/>
          </a:xfrm>
          <a:prstGeom prst="rect">
            <a:avLst/>
          </a:prstGeom>
          <a:noFill/>
        </p:spPr>
        <p:txBody>
          <a:bodyPr wrap="square" rtlCol="0">
            <a:spAutoFit/>
          </a:bodyPr>
          <a:lstStyle/>
          <a:p>
            <a:pPr algn="r"/>
            <a:fld id="{0C913308-F349-4B6D-A68A-DD1791B4A57B}" type="slidenum">
              <a:rPr lang="zh-CN" altLang="en-US" b="1" smtClean="0">
                <a:latin typeface="Times New Roman" panose="02020603050405020304" pitchFamily="18" charset="0"/>
                <a:cs typeface="Times New Roman" panose="02020603050405020304" pitchFamily="18" charset="0"/>
              </a:rPr>
              <a:pPr algn="r"/>
              <a:t>‹#›</a:t>
            </a:fld>
            <a:endParaRPr lang="zh-CN" altLang="en-US" b="1" dirty="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Lst>
  <p:transition>
    <p:fade/>
  </p:transition>
  <p:hf hdr="0" ftr="0" dt="0"/>
  <p:txStyles>
    <p:titleStyle>
      <a:lvl1pPr algn="ctr" rtl="0" eaLnBrk="0" fontAlgn="base" hangingPunct="0">
        <a:spcBef>
          <a:spcPct val="0"/>
        </a:spcBef>
        <a:spcAft>
          <a:spcPct val="0"/>
        </a:spcAft>
        <a:defRPr sz="4400">
          <a:solidFill>
            <a:schemeClr val="tx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10.png"/><Relationship Id="rId1" Type="http://schemas.openxmlformats.org/officeDocument/2006/relationships/slideLayout" Target="../slideLayouts/slideLayout1.xml"/><Relationship Id="rId4" Type="http://schemas.openxmlformats.org/officeDocument/2006/relationships/image" Target="../media/image7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40.png"/><Relationship Id="rId5" Type="http://schemas.openxmlformats.org/officeDocument/2006/relationships/oleObject" Target="../embeddings/oleObject2.bin"/><Relationship Id="rId4" Type="http://schemas.openxmlformats.org/officeDocument/2006/relationships/image" Target="../media/image3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A77F71E-B605-4820-B913-56173A09A2E7}"/>
              </a:ext>
            </a:extLst>
          </p:cNvPr>
          <p:cNvSpPr txBox="1">
            <a:spLocks noChangeArrowheads="1"/>
          </p:cNvSpPr>
          <p:nvPr/>
        </p:nvSpPr>
        <p:spPr bwMode="auto">
          <a:xfrm>
            <a:off x="-12605" y="1851670"/>
            <a:ext cx="9156340" cy="1116356"/>
          </a:xfrm>
          <a:prstGeom prst="rect">
            <a:avLst/>
          </a:prstGeom>
          <a:noFill/>
          <a:ln>
            <a:noFill/>
          </a:ln>
          <a:extLst/>
        </p:spPr>
        <p:txBody>
          <a:bodyPr lIns="92075" tIns="46038" rIns="92075" bIns="46038" anchor="ctr"/>
          <a:lstStyle>
            <a:lvl1pPr>
              <a:defRPr kumimoji="1" sz="2400">
                <a:solidFill>
                  <a:schemeClr val="tx1"/>
                </a:solidFill>
                <a:latin typeface="Arial" charset="0"/>
                <a:ea typeface="MS PGothic" charset="0"/>
                <a:cs typeface="MS PGothic" charset="0"/>
              </a:defRPr>
            </a:lvl1pPr>
            <a:lvl2pPr marL="742950" indent="-285750">
              <a:defRPr kumimoji="1" sz="2400">
                <a:solidFill>
                  <a:schemeClr val="tx1"/>
                </a:solidFill>
                <a:latin typeface="Arial" charset="0"/>
                <a:ea typeface="MS PGothic" charset="0"/>
                <a:cs typeface="MS PGothic" charset="0"/>
              </a:defRPr>
            </a:lvl2pPr>
            <a:lvl3pPr marL="1143000" indent="-228600">
              <a:defRPr kumimoji="1" sz="2400">
                <a:solidFill>
                  <a:schemeClr val="tx1"/>
                </a:solidFill>
                <a:latin typeface="Arial" charset="0"/>
                <a:ea typeface="MS PGothic" charset="0"/>
                <a:cs typeface="MS PGothic" charset="0"/>
              </a:defRPr>
            </a:lvl3pPr>
            <a:lvl4pPr marL="1600200" indent="-228600">
              <a:defRPr kumimoji="1" sz="2400">
                <a:solidFill>
                  <a:schemeClr val="tx1"/>
                </a:solidFill>
                <a:latin typeface="Arial" charset="0"/>
                <a:ea typeface="MS PGothic" charset="0"/>
                <a:cs typeface="MS PGothic" charset="0"/>
              </a:defRPr>
            </a:lvl4pPr>
            <a:lvl5pPr marL="2057400" indent="-228600">
              <a:defRPr kumimoji="1" sz="2400">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9pPr>
          </a:lstStyle>
          <a:p>
            <a:pPr algn="ctr">
              <a:spcBef>
                <a:spcPts val="600"/>
              </a:spcBef>
              <a:defRPr/>
            </a:pPr>
            <a:r>
              <a:rPr lang="en-US" altLang="zh-CN" sz="2800" b="1" dirty="0">
                <a:solidFill>
                  <a:prstClr val="black"/>
                </a:solidFill>
                <a:latin typeface="Arial" panose="020B0604020202020204" pitchFamily="34" charset="0"/>
                <a:ea typeface="华文楷体" panose="02010600040101010101" pitchFamily="2" charset="-122"/>
                <a:cs typeface="Arial" panose="020B0604020202020204" pitchFamily="34" charset="0"/>
              </a:rPr>
              <a:t>Relational Database Design</a:t>
            </a:r>
            <a:endParaRPr lang="en-US" altLang="zh-CN" sz="2800" b="1" dirty="0">
              <a:latin typeface="Arial" panose="020B0604020202020204" pitchFamily="34" charset="0"/>
              <a:ea typeface="华文楷体" panose="02010600040101010101" pitchFamily="2" charset="-122"/>
              <a:cs typeface="Arial" panose="020B0604020202020204" pitchFamily="34" charset="0"/>
            </a:endParaRPr>
          </a:p>
          <a:p>
            <a:pPr algn="ctr">
              <a:spcBef>
                <a:spcPts val="600"/>
              </a:spcBef>
              <a:defRPr/>
            </a:pPr>
            <a:r>
              <a:rPr lang="en-US" altLang="zh-CN" dirty="0">
                <a:solidFill>
                  <a:prstClr val="black"/>
                </a:solidFill>
                <a:latin typeface="Arial" panose="020B0604020202020204" pitchFamily="34" charset="0"/>
                <a:ea typeface="华文楷体" panose="02010600040101010101" pitchFamily="2" charset="-122"/>
                <a:cs typeface="Arial" panose="020B0604020202020204" pitchFamily="34" charset="0"/>
              </a:rPr>
              <a:t>Chapter 7</a:t>
            </a:r>
          </a:p>
        </p:txBody>
      </p:sp>
      <p:sp>
        <p:nvSpPr>
          <p:cNvPr id="18" name="Subtitle 2">
            <a:extLst>
              <a:ext uri="{FF2B5EF4-FFF2-40B4-BE49-F238E27FC236}">
                <a16:creationId xmlns:a16="http://schemas.microsoft.com/office/drawing/2014/main" id="{5B0D7027-3D69-4E35-939E-995F28B50482}"/>
              </a:ext>
            </a:extLst>
          </p:cNvPr>
          <p:cNvSpPr txBox="1">
            <a:spLocks noChangeArrowheads="1"/>
          </p:cNvSpPr>
          <p:nvPr/>
        </p:nvSpPr>
        <p:spPr bwMode="auto">
          <a:xfrm>
            <a:off x="0" y="3244417"/>
            <a:ext cx="9156340" cy="11034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0"/>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0"/>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0"/>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0"/>
              </a:defRPr>
            </a:lvl9pPr>
          </a:lstStyle>
          <a:p>
            <a:pPr algn="ctr">
              <a:buClr>
                <a:srgbClr val="800080"/>
              </a:buClr>
              <a:buSzPct val="90000"/>
            </a:pP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a:t>
            </a: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 Zhang</a:t>
            </a:r>
          </a:p>
          <a:p>
            <a:pPr algn="ctr">
              <a:buClr>
                <a:srgbClr val="800080"/>
              </a:buClr>
              <a:buSzPct val="90000"/>
            </a:pPr>
            <a:r>
              <a:rPr lang="en-GB" altLang="zh-CN" sz="1800" dirty="0">
                <a:latin typeface="Arial" panose="020B0604020202020204" pitchFamily="34" charset="0"/>
                <a:ea typeface="华文楷体" panose="02010600040101010101" pitchFamily="2" charset="-122"/>
                <a:cs typeface="Arial" panose="020B0604020202020204" pitchFamily="34" charset="0"/>
              </a:rPr>
              <a:t>Email: </a:t>
            </a: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yichaozhang</a:t>
            </a:r>
            <a:r>
              <a:rPr lang="en-GB" altLang="zh-CN" sz="1800" dirty="0">
                <a:latin typeface="Arial" panose="020B0604020202020204" pitchFamily="34" charset="0"/>
                <a:ea typeface="华文楷体" panose="02010600040101010101" pitchFamily="2" charset="-122"/>
                <a:cs typeface="Arial" panose="020B0604020202020204" pitchFamily="34" charset="0"/>
              </a:rPr>
              <a:t>@tongji.edu.cn</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Department of Computer Science and Technology</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Tongji University</a:t>
            </a:r>
          </a:p>
          <a:p>
            <a:pPr algn="ctr">
              <a:buClr>
                <a:srgbClr val="800080"/>
              </a:buClr>
              <a:buSzPct val="90000"/>
            </a:pPr>
            <a:endParaRPr lang="de-CH" sz="1800" dirty="0">
              <a:solidFill>
                <a:srgbClr val="000000"/>
              </a:solidFill>
              <a:latin typeface="Arial" panose="020B0604020202020204" pitchFamily="34" charset="0"/>
              <a:ea typeface="华文楷体" panose="02010600040101010101" pitchFamily="2" charset="-122"/>
              <a:cs typeface="Arial" panose="020B0604020202020204" pitchFamily="34" charset="0"/>
            </a:endParaRPr>
          </a:p>
        </p:txBody>
      </p:sp>
      <p:pic>
        <p:nvPicPr>
          <p:cNvPr id="6" name="图片 5">
            <a:extLst>
              <a:ext uri="{FF2B5EF4-FFF2-40B4-BE49-F238E27FC236}">
                <a16:creationId xmlns:a16="http://schemas.microsoft.com/office/drawing/2014/main" id="{E3926E56-11E2-4B2B-AA1C-5D1F684EF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3" y="78916"/>
            <a:ext cx="2448272" cy="673776"/>
          </a:xfrm>
          <a:prstGeom prst="rect">
            <a:avLst/>
          </a:prstGeom>
        </p:spPr>
      </p:pic>
      <p:grpSp>
        <p:nvGrpSpPr>
          <p:cNvPr id="7" name="组合 6">
            <a:extLst>
              <a:ext uri="{FF2B5EF4-FFF2-40B4-BE49-F238E27FC236}">
                <a16:creationId xmlns:a16="http://schemas.microsoft.com/office/drawing/2014/main" id="{32F6A10C-3978-4571-8E11-512EBE350881}"/>
              </a:ext>
            </a:extLst>
          </p:cNvPr>
          <p:cNvGrpSpPr/>
          <p:nvPr/>
        </p:nvGrpSpPr>
        <p:grpSpPr>
          <a:xfrm>
            <a:off x="6820780" y="34612"/>
            <a:ext cx="2323220" cy="626967"/>
            <a:chOff x="5853448" y="-22066"/>
            <a:chExt cx="2967025" cy="835954"/>
          </a:xfrm>
        </p:grpSpPr>
        <p:sp>
          <p:nvSpPr>
            <p:cNvPr id="8" name="文本框 7">
              <a:extLst>
                <a:ext uri="{FF2B5EF4-FFF2-40B4-BE49-F238E27FC236}">
                  <a16:creationId xmlns:a16="http://schemas.microsoft.com/office/drawing/2014/main" id="{3BF37CBE-EBFF-4522-B25D-114F7C120EEF}"/>
                </a:ext>
              </a:extLst>
            </p:cNvPr>
            <p:cNvSpPr txBox="1"/>
            <p:nvPr/>
          </p:nvSpPr>
          <p:spPr>
            <a:xfrm>
              <a:off x="5853448" y="25982"/>
              <a:ext cx="2967025" cy="787906"/>
            </a:xfrm>
            <a:prstGeom prst="rect">
              <a:avLst/>
            </a:prstGeom>
            <a:noFill/>
          </p:spPr>
          <p:txBody>
            <a:bodyPr wrap="square" rtlCol="0">
              <a:spAutoFit/>
            </a:bodyPr>
            <a:lstStyle/>
            <a:p>
              <a:r>
                <a:rPr lang="en-US" altLang="zh-CN" sz="1800" b="1" dirty="0">
                  <a:solidFill>
                    <a:srgbClr val="0070C0"/>
                  </a:solidFill>
                </a:rPr>
                <a:t>             ADMIS Lab</a:t>
              </a:r>
              <a:endParaRPr lang="en-US" altLang="zh-CN" sz="1200" b="1" dirty="0">
                <a:solidFill>
                  <a:srgbClr val="0070C0"/>
                </a:solidFill>
              </a:endParaRPr>
            </a:p>
            <a:p>
              <a:r>
                <a:rPr lang="zh-CN" altLang="en-US" sz="1200" b="1" dirty="0">
                  <a:solidFill>
                    <a:srgbClr val="0070C0"/>
                  </a:solidFill>
                  <a:latin typeface="华文行楷" panose="02010800040101010101" pitchFamily="2" charset="-122"/>
                  <a:ea typeface="华文行楷" panose="02010800040101010101" pitchFamily="2" charset="-122"/>
                </a:rPr>
                <a:t>先进数据与机器智能系统实验室</a:t>
              </a:r>
            </a:p>
          </p:txBody>
        </p:sp>
        <p:pic>
          <p:nvPicPr>
            <p:cNvPr id="9" name="图形 8" descr="原子">
              <a:extLst>
                <a:ext uri="{FF2B5EF4-FFF2-40B4-BE49-F238E27FC236}">
                  <a16:creationId xmlns:a16="http://schemas.microsoft.com/office/drawing/2014/main" id="{366732EC-C279-4260-B05C-265B78B278A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51999" y="-22066"/>
              <a:ext cx="1189248" cy="524648"/>
            </a:xfrm>
            <a:prstGeom prst="rect">
              <a:avLst/>
            </a:prstGeom>
          </p:spPr>
        </p:pic>
      </p:grpSp>
    </p:spTree>
    <p:extLst>
      <p:ext uri="{BB962C8B-B14F-4D97-AF65-F5344CB8AC3E}">
        <p14:creationId xmlns:p14="http://schemas.microsoft.com/office/powerpoint/2010/main" val="27580685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a:solidFill>
            <a:srgbClr val="0070C0"/>
          </a:solidFill>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843558"/>
            <a:ext cx="8568952" cy="3600400"/>
          </a:xfrm>
        </p:spPr>
        <p:txBody>
          <a:bodyPr/>
          <a:lstStyle/>
          <a:p>
            <a:pPr>
              <a:spcBef>
                <a:spcPts val="400"/>
              </a:spcBef>
            </a:pPr>
            <a:r>
              <a:rPr lang="en-US" altLang="zh-CN" sz="2000" b="1" dirty="0">
                <a:solidFill>
                  <a:srgbClr val="C00000"/>
                </a:solidFill>
              </a:rPr>
              <a:t>Features of Good Relational Designs</a:t>
            </a:r>
          </a:p>
          <a:p>
            <a:pPr>
              <a:spcBef>
                <a:spcPts val="400"/>
              </a:spcBef>
            </a:pPr>
            <a:r>
              <a:rPr lang="en-US" altLang="zh-CN" sz="2000" b="1" dirty="0"/>
              <a:t>Functional Dependency/</a:t>
            </a:r>
            <a:r>
              <a:rPr lang="zh-CN" altLang="en-US" sz="2000" b="1" dirty="0"/>
              <a:t>函数依赖</a:t>
            </a:r>
            <a:endParaRPr lang="en-US" altLang="zh-CN" sz="2000" b="1" dirty="0"/>
          </a:p>
          <a:p>
            <a:pPr lvl="1">
              <a:spcBef>
                <a:spcPts val="400"/>
              </a:spcBef>
            </a:pPr>
            <a:r>
              <a:rPr lang="en-US" altLang="zh-CN" sz="1800" dirty="0"/>
              <a:t>Decomposition using functional dependency</a:t>
            </a:r>
          </a:p>
          <a:p>
            <a:pPr lvl="1">
              <a:spcBef>
                <a:spcPts val="400"/>
              </a:spcBef>
            </a:pPr>
            <a:r>
              <a:rPr lang="en-US" altLang="zh-CN" sz="1800" dirty="0"/>
              <a:t>Closure of functional dependency</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b="1" dirty="0"/>
              <a:t>Normalization &amp; Normal Forms (</a:t>
            </a:r>
            <a:r>
              <a:rPr lang="zh-CN" altLang="en-US" sz="2000" b="1" dirty="0"/>
              <a:t>范式</a:t>
            </a:r>
            <a:r>
              <a:rPr lang="en-US" altLang="zh-CN" sz="2000" b="1" dirty="0"/>
              <a:t>)</a:t>
            </a:r>
          </a:p>
          <a:p>
            <a:pPr>
              <a:spcBef>
                <a:spcPts val="400"/>
              </a:spcBef>
            </a:pPr>
            <a:r>
              <a:rPr lang="en-US" altLang="zh-CN" sz="2000" b="1" dirty="0"/>
              <a:t>Multivalued Dependencies</a:t>
            </a:r>
            <a:r>
              <a:rPr lang="zh-CN" altLang="en-US" sz="2000" b="1" dirty="0"/>
              <a:t>*</a:t>
            </a:r>
            <a:endParaRPr lang="en-US" altLang="zh-CN" sz="2000" b="1" dirty="0"/>
          </a:p>
          <a:p>
            <a:pPr>
              <a:spcBef>
                <a:spcPts val="400"/>
              </a:spcBef>
            </a:pPr>
            <a:r>
              <a:rPr lang="en-US" altLang="zh-CN" sz="2000" b="1" dirty="0"/>
              <a:t>Database Design Process</a:t>
            </a:r>
          </a:p>
        </p:txBody>
      </p:sp>
    </p:spTree>
    <p:extLst>
      <p:ext uri="{BB962C8B-B14F-4D97-AF65-F5344CB8AC3E}">
        <p14:creationId xmlns:p14="http://schemas.microsoft.com/office/powerpoint/2010/main" val="414667678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76B20-A6DF-47E2-8B96-D601AB71E17E}"/>
              </a:ext>
            </a:extLst>
          </p:cNvPr>
          <p:cNvSpPr>
            <a:spLocks noGrp="1"/>
          </p:cNvSpPr>
          <p:nvPr>
            <p:ph type="title"/>
          </p:nvPr>
        </p:nvSpPr>
        <p:spPr>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r>
              <a:rPr lang="en-US" altLang="zh-CN" dirty="0"/>
              <a:t>Larger Relation Schema/</a:t>
            </a:r>
            <a:r>
              <a:rPr lang="zh-CN" altLang="en-US" dirty="0"/>
              <a:t>更大的模式</a:t>
            </a:r>
          </a:p>
        </p:txBody>
      </p:sp>
      <p:sp>
        <p:nvSpPr>
          <p:cNvPr id="3" name="内容占位符 2">
            <a:extLst>
              <a:ext uri="{FF2B5EF4-FFF2-40B4-BE49-F238E27FC236}">
                <a16:creationId xmlns:a16="http://schemas.microsoft.com/office/drawing/2014/main" id="{5C44C4AA-AA83-4052-A4AF-34C30D3B6A96}"/>
              </a:ext>
            </a:extLst>
          </p:cNvPr>
          <p:cNvSpPr>
            <a:spLocks noGrp="1"/>
          </p:cNvSpPr>
          <p:nvPr>
            <p:ph idx="1"/>
          </p:nvPr>
        </p:nvSpPr>
        <p:spPr>
          <a:xfrm>
            <a:off x="179512" y="699542"/>
            <a:ext cx="8568952" cy="3805070"/>
          </a:xfrm>
        </p:spPr>
        <p:txBody>
          <a:bodyPr/>
          <a:lstStyle/>
          <a:p>
            <a:r>
              <a:rPr lang="en-US" altLang="zh-CN" sz="1800" dirty="0" err="1">
                <a:solidFill>
                  <a:srgbClr val="C00000"/>
                </a:solidFill>
              </a:rPr>
              <a:t>in_dep</a:t>
            </a:r>
            <a:r>
              <a:rPr lang="en-US" altLang="zh-CN" sz="1800" dirty="0">
                <a:solidFill>
                  <a:srgbClr val="C00000"/>
                </a:solidFill>
              </a:rPr>
              <a:t> </a:t>
            </a:r>
            <a:r>
              <a:rPr lang="en-US" altLang="zh-CN" sz="1800" dirty="0"/>
              <a:t>(ID, name, salary, </a:t>
            </a:r>
            <a:r>
              <a:rPr lang="en-US" altLang="zh-CN" sz="1800" dirty="0" err="1"/>
              <a:t>dept_name</a:t>
            </a:r>
            <a:r>
              <a:rPr lang="en-US" altLang="zh-CN" sz="1800" dirty="0"/>
              <a:t>, building, budget) </a:t>
            </a:r>
          </a:p>
          <a:p>
            <a:pPr lvl="1"/>
            <a:r>
              <a:rPr lang="en-US" altLang="zh-CN" sz="1600" dirty="0"/>
              <a:t>Instructor + department</a:t>
            </a:r>
          </a:p>
        </p:txBody>
      </p:sp>
      <p:pic>
        <p:nvPicPr>
          <p:cNvPr id="4" name="Picture 5" descr="8">
            <a:extLst>
              <a:ext uri="{FF2B5EF4-FFF2-40B4-BE49-F238E27FC236}">
                <a16:creationId xmlns:a16="http://schemas.microsoft.com/office/drawing/2014/main" id="{42E3E1B8-8B39-49A5-AC05-2E21449905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63688" y="1519245"/>
            <a:ext cx="5112568" cy="3067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22632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76B20-A6DF-47E2-8B96-D601AB71E17E}"/>
              </a:ext>
            </a:extLst>
          </p:cNvPr>
          <p:cNvSpPr>
            <a:spLocks noGrp="1"/>
          </p:cNvSpPr>
          <p:nvPr>
            <p:ph type="title"/>
          </p:nvPr>
        </p:nvSpPr>
        <p:spPr>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r>
              <a:rPr lang="en-US" altLang="zh-CN" dirty="0"/>
              <a:t>Larger Relation Schema/</a:t>
            </a:r>
            <a:r>
              <a:rPr lang="zh-CN" altLang="en-US" dirty="0"/>
              <a:t>更大的模式</a:t>
            </a:r>
          </a:p>
        </p:txBody>
      </p:sp>
      <p:sp>
        <p:nvSpPr>
          <p:cNvPr id="3" name="内容占位符 2">
            <a:extLst>
              <a:ext uri="{FF2B5EF4-FFF2-40B4-BE49-F238E27FC236}">
                <a16:creationId xmlns:a16="http://schemas.microsoft.com/office/drawing/2014/main" id="{5C44C4AA-AA83-4052-A4AF-34C30D3B6A96}"/>
              </a:ext>
            </a:extLst>
          </p:cNvPr>
          <p:cNvSpPr>
            <a:spLocks noGrp="1"/>
          </p:cNvSpPr>
          <p:nvPr>
            <p:ph idx="1"/>
          </p:nvPr>
        </p:nvSpPr>
        <p:spPr>
          <a:xfrm>
            <a:off x="179512" y="699542"/>
            <a:ext cx="8568952" cy="3805070"/>
          </a:xfrm>
        </p:spPr>
        <p:txBody>
          <a:bodyPr/>
          <a:lstStyle/>
          <a:p>
            <a:r>
              <a:rPr lang="en-US" altLang="zh-CN" sz="1800" dirty="0" err="1">
                <a:solidFill>
                  <a:srgbClr val="C00000"/>
                </a:solidFill>
              </a:rPr>
              <a:t>in_dep</a:t>
            </a:r>
            <a:r>
              <a:rPr lang="en-US" altLang="zh-CN" sz="1800" dirty="0">
                <a:solidFill>
                  <a:srgbClr val="C00000"/>
                </a:solidFill>
              </a:rPr>
              <a:t> </a:t>
            </a:r>
            <a:r>
              <a:rPr lang="en-US" altLang="zh-CN" sz="1800" dirty="0"/>
              <a:t>(ID, name, salary, </a:t>
            </a:r>
            <a:r>
              <a:rPr lang="en-US" altLang="zh-CN" sz="1800" dirty="0" err="1"/>
              <a:t>dept_name</a:t>
            </a:r>
            <a:r>
              <a:rPr lang="en-US" altLang="zh-CN" sz="1800" dirty="0"/>
              <a:t>, building, budget) </a:t>
            </a:r>
          </a:p>
          <a:p>
            <a:pPr lvl="1"/>
            <a:r>
              <a:rPr lang="en-US" altLang="zh-CN" sz="1600" b="1" dirty="0"/>
              <a:t>Redundant</a:t>
            </a:r>
            <a:r>
              <a:rPr lang="zh-CN" altLang="en-US" sz="1600" dirty="0"/>
              <a:t>（冗余）</a:t>
            </a:r>
            <a:r>
              <a:rPr lang="en-US" altLang="zh-CN" sz="1600" dirty="0"/>
              <a:t>: </a:t>
            </a:r>
            <a:r>
              <a:rPr lang="en-US" altLang="zh-CN" sz="1600" dirty="0" err="1"/>
              <a:t>dept_name</a:t>
            </a:r>
            <a:r>
              <a:rPr lang="en-US" altLang="zh-CN" sz="1600" dirty="0"/>
              <a:t>, building, budget</a:t>
            </a:r>
          </a:p>
          <a:p>
            <a:pPr lvl="1"/>
            <a:r>
              <a:rPr lang="en-US" altLang="zh-CN" sz="1600" b="1" dirty="0"/>
              <a:t>Inconsistent</a:t>
            </a:r>
            <a:r>
              <a:rPr lang="zh-CN" altLang="en-US" sz="1600" dirty="0"/>
              <a:t>（不一致）</a:t>
            </a:r>
            <a:r>
              <a:rPr lang="en-US" altLang="zh-CN" sz="1600" dirty="0"/>
              <a:t>: </a:t>
            </a:r>
            <a:r>
              <a:rPr lang="en-US" altLang="zh-CN" sz="1600" dirty="0" err="1"/>
              <a:t>dept_name</a:t>
            </a:r>
            <a:r>
              <a:rPr lang="en-US" altLang="zh-CN" sz="1600" dirty="0"/>
              <a:t>, building, budget </a:t>
            </a:r>
          </a:p>
          <a:p>
            <a:pPr lvl="1"/>
            <a:r>
              <a:rPr lang="en-US" altLang="zh-CN" sz="1600" b="1" dirty="0"/>
              <a:t>Insert failure</a:t>
            </a:r>
            <a:r>
              <a:rPr lang="en-US" altLang="zh-CN" sz="1600" dirty="0"/>
              <a:t>: cannot insert a tuple without ID, name, salary </a:t>
            </a:r>
          </a:p>
          <a:p>
            <a:r>
              <a:rPr lang="en-US" altLang="zh-CN" sz="1800" dirty="0"/>
              <a:t>Functional dependency is needed</a:t>
            </a:r>
          </a:p>
          <a:p>
            <a:pPr lvl="1"/>
            <a:r>
              <a:rPr lang="en-US" altLang="zh-CN" sz="1600" dirty="0" err="1"/>
              <a:t>dept_name</a:t>
            </a:r>
            <a:r>
              <a:rPr lang="en-US" altLang="zh-CN" sz="1600" dirty="0"/>
              <a:t> → budget </a:t>
            </a:r>
          </a:p>
          <a:p>
            <a:r>
              <a:rPr lang="en-US" altLang="zh-CN" sz="1800" dirty="0"/>
              <a:t>Decomposition</a:t>
            </a:r>
          </a:p>
          <a:p>
            <a:pPr lvl="1"/>
            <a:r>
              <a:rPr lang="en-US" altLang="zh-CN" sz="1600" b="1" dirty="0"/>
              <a:t>instructor</a:t>
            </a:r>
            <a:r>
              <a:rPr lang="en-US" altLang="zh-CN" sz="1600" dirty="0"/>
              <a:t>(ID, name, salary, </a:t>
            </a:r>
            <a:r>
              <a:rPr lang="en-US" altLang="zh-CN" sz="1600" dirty="0" err="1"/>
              <a:t>dept_name</a:t>
            </a:r>
            <a:r>
              <a:rPr lang="en-US" altLang="zh-CN" sz="1600" dirty="0"/>
              <a:t>)</a:t>
            </a:r>
          </a:p>
          <a:p>
            <a:pPr lvl="1"/>
            <a:r>
              <a:rPr lang="en-US" altLang="zh-CN" sz="1600" b="1" dirty="0"/>
              <a:t>department</a:t>
            </a:r>
            <a:r>
              <a:rPr lang="en-US" altLang="zh-CN" sz="1600" dirty="0"/>
              <a:t>(</a:t>
            </a:r>
            <a:r>
              <a:rPr lang="en-US" altLang="zh-CN" sz="1600" dirty="0" err="1"/>
              <a:t>dept_name</a:t>
            </a:r>
            <a:r>
              <a:rPr lang="en-US" altLang="zh-CN" sz="1600" dirty="0"/>
              <a:t>, building, budget)</a:t>
            </a:r>
          </a:p>
        </p:txBody>
      </p:sp>
      <p:pic>
        <p:nvPicPr>
          <p:cNvPr id="4" name="Picture 5" descr="8">
            <a:extLst>
              <a:ext uri="{FF2B5EF4-FFF2-40B4-BE49-F238E27FC236}">
                <a16:creationId xmlns:a16="http://schemas.microsoft.com/office/drawing/2014/main" id="{42E3E1B8-8B39-49A5-AC05-2E214499057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4514" y="2426642"/>
            <a:ext cx="3600400" cy="2160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84863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arn(inVertical)">
                                      <p:cBhvr>
                                        <p:cTn id="35" dur="500"/>
                                        <p:tgtEl>
                                          <p:spTgt spid="3">
                                            <p:txEl>
                                              <p:pRg st="6" end="6"/>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barn(inVertical)">
                                      <p:cBhvr>
                                        <p:cTn id="38" dur="500"/>
                                        <p:tgtEl>
                                          <p:spTgt spid="3">
                                            <p:txEl>
                                              <p:pRg st="7" end="7"/>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barn(inVertical)">
                                      <p:cBhvr>
                                        <p:cTn id="41" dur="500"/>
                                        <p:tgtEl>
                                          <p:spTgt spid="3">
                                            <p:txEl>
                                              <p:pRg st="8" end="8"/>
                                            </p:txEl>
                                          </p:spTgt>
                                        </p:tgtEl>
                                      </p:cBhvr>
                                    </p:animEffect>
                                  </p:childTnLst>
                                </p:cTn>
                              </p:par>
                              <p:par>
                                <p:cTn id="42" presetID="1" presetClass="entr" presetSubtype="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E278AF-9242-4FC5-8779-13C25DF33843}"/>
              </a:ext>
            </a:extLst>
          </p:cNvPr>
          <p:cNvSpPr>
            <a:spLocks noGrp="1"/>
          </p:cNvSpPr>
          <p:nvPr>
            <p:ph type="title"/>
          </p:nvPr>
        </p:nvSpPr>
        <p:spPr>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r>
              <a:rPr lang="en-US" altLang="zh-CN" dirty="0"/>
              <a:t>Smaller Relation Schema/</a:t>
            </a:r>
            <a:r>
              <a:rPr lang="zh-CN" altLang="en-US" dirty="0"/>
              <a:t>更小的模式</a:t>
            </a:r>
          </a:p>
        </p:txBody>
      </p:sp>
      <p:pic>
        <p:nvPicPr>
          <p:cNvPr id="4" name="Picture 9">
            <a:extLst>
              <a:ext uri="{FF2B5EF4-FFF2-40B4-BE49-F238E27FC236}">
                <a16:creationId xmlns:a16="http://schemas.microsoft.com/office/drawing/2014/main" id="{29236E5F-DAE8-4AE4-A451-D0D1D6F2DF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596"/>
          <a:stretch/>
        </p:blipFill>
        <p:spPr bwMode="auto">
          <a:xfrm>
            <a:off x="1691680" y="679004"/>
            <a:ext cx="5036344" cy="446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B4E1AA84-39D3-409E-B8EB-4871C53A6DC1}"/>
              </a:ext>
            </a:extLst>
          </p:cNvPr>
          <p:cNvSpPr txBox="1"/>
          <p:nvPr/>
        </p:nvSpPr>
        <p:spPr>
          <a:xfrm>
            <a:off x="5724128" y="3851476"/>
            <a:ext cx="2376264" cy="584775"/>
          </a:xfrm>
          <a:prstGeom prst="rect">
            <a:avLst/>
          </a:prstGeom>
          <a:noFill/>
        </p:spPr>
        <p:txBody>
          <a:bodyPr wrap="square" rtlCol="0">
            <a:spAutoFit/>
          </a:bodyPr>
          <a:lstStyle/>
          <a:p>
            <a:r>
              <a:rPr lang="en-US" altLang="zh-CN" sz="1600" b="1" dirty="0">
                <a:latin typeface="Arial" panose="020B0604020202020204" pitchFamily="34" charset="0"/>
                <a:cs typeface="Arial" panose="020B0604020202020204" pitchFamily="34" charset="0"/>
              </a:rPr>
              <a:t>More tuples mean lossy decompositions </a:t>
            </a:r>
          </a:p>
        </p:txBody>
      </p:sp>
    </p:spTree>
    <p:extLst>
      <p:ext uri="{BB962C8B-B14F-4D97-AF65-F5344CB8AC3E}">
        <p14:creationId xmlns:p14="http://schemas.microsoft.com/office/powerpoint/2010/main" val="282844573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3FED5A-60C2-4CA9-919A-BA5240FEF268}"/>
              </a:ext>
            </a:extLst>
          </p:cNvPr>
          <p:cNvSpPr>
            <a:spLocks noGrp="1"/>
          </p:cNvSpPr>
          <p:nvPr>
            <p:ph type="title"/>
          </p:nvPr>
        </p:nvSpPr>
        <p:spPr>
          <a:xfrm>
            <a:off x="-21096" y="-20538"/>
            <a:ext cx="9144000" cy="637580"/>
          </a:xfr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noAutofit/>
          </a:bodyPr>
          <a:lstStyle/>
          <a:p>
            <a:r>
              <a:rPr lang="en-US" altLang="zh-CN" dirty="0"/>
              <a:t>Good Relation Schema</a:t>
            </a:r>
            <a:endParaRPr lang="zh-CN" altLang="en-US" dirty="0"/>
          </a:p>
        </p:txBody>
      </p:sp>
      <p:sp>
        <p:nvSpPr>
          <p:cNvPr id="3" name="内容占位符 2">
            <a:extLst>
              <a:ext uri="{FF2B5EF4-FFF2-40B4-BE49-F238E27FC236}">
                <a16:creationId xmlns:a16="http://schemas.microsoft.com/office/drawing/2014/main" id="{07742C98-C699-46B2-8781-09811B93A042}"/>
              </a:ext>
            </a:extLst>
          </p:cNvPr>
          <p:cNvSpPr>
            <a:spLocks noGrp="1"/>
          </p:cNvSpPr>
          <p:nvPr>
            <p:ph idx="1"/>
          </p:nvPr>
        </p:nvSpPr>
        <p:spPr>
          <a:xfrm>
            <a:off x="230424" y="789553"/>
            <a:ext cx="8568952" cy="3805070"/>
          </a:xfrm>
        </p:spPr>
        <p:txBody>
          <a:bodyPr/>
          <a:lstStyle/>
          <a:p>
            <a:r>
              <a:rPr lang="en-US" altLang="zh-CN" sz="2000" b="1" dirty="0"/>
              <a:t>RDB design is to find a “</a:t>
            </a:r>
            <a:r>
              <a:rPr lang="en-US" altLang="zh-CN" sz="2000" b="1" dirty="0">
                <a:solidFill>
                  <a:srgbClr val="C00000"/>
                </a:solidFill>
              </a:rPr>
              <a:t>good</a:t>
            </a:r>
            <a:r>
              <a:rPr lang="en-US" altLang="zh-CN" sz="2000" b="1" dirty="0"/>
              <a:t>” collection of schemas. A bad design may lead to </a:t>
            </a:r>
          </a:p>
          <a:p>
            <a:pPr lvl="1"/>
            <a:r>
              <a:rPr lang="en-US" altLang="zh-CN" sz="1800" dirty="0"/>
              <a:t>Repetition of information</a:t>
            </a:r>
          </a:p>
          <a:p>
            <a:pPr lvl="1"/>
            <a:r>
              <a:rPr lang="en-US" altLang="zh-CN" sz="1800" dirty="0"/>
              <a:t>Inability to represent certain information</a:t>
            </a:r>
          </a:p>
          <a:p>
            <a:pPr lvl="1"/>
            <a:endParaRPr lang="en-US" altLang="zh-CN" sz="1800" dirty="0"/>
          </a:p>
          <a:p>
            <a:r>
              <a:rPr lang="en-US" altLang="zh-CN" sz="2000" b="1" dirty="0"/>
              <a:t>Design goals</a:t>
            </a:r>
          </a:p>
          <a:p>
            <a:pPr lvl="1"/>
            <a:r>
              <a:rPr lang="en-US" altLang="zh-CN" sz="1800" dirty="0"/>
              <a:t>Avoid redundant data</a:t>
            </a:r>
          </a:p>
          <a:p>
            <a:pPr lvl="1"/>
            <a:r>
              <a:rPr lang="en-US" altLang="zh-CN" sz="1800" dirty="0"/>
              <a:t>Ensure that relationships among attributes are represented </a:t>
            </a:r>
          </a:p>
          <a:p>
            <a:pPr lvl="1"/>
            <a:r>
              <a:rPr lang="en-US" altLang="zh-CN" sz="1800" dirty="0"/>
              <a:t>Facilitate the checking of updates for violation of database integrity constraints</a:t>
            </a:r>
          </a:p>
          <a:p>
            <a:endParaRPr lang="zh-CN" altLang="en-US" sz="2000" dirty="0"/>
          </a:p>
        </p:txBody>
      </p:sp>
    </p:spTree>
    <p:extLst>
      <p:ext uri="{BB962C8B-B14F-4D97-AF65-F5344CB8AC3E}">
        <p14:creationId xmlns:p14="http://schemas.microsoft.com/office/powerpoint/2010/main" val="5133391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18A352-A937-46A1-A591-3589258DBA7E}"/>
              </a:ext>
            </a:extLst>
          </p:cNvPr>
          <p:cNvSpPr>
            <a:spLocks noGrp="1"/>
          </p:cNvSpPr>
          <p:nvPr>
            <p:ph type="title"/>
          </p:nvPr>
        </p:nvSpPr>
        <p:spPr/>
        <p:txBody>
          <a:bodyPr/>
          <a:lstStyle/>
          <a:p>
            <a:pPr algn="ctr"/>
            <a:r>
              <a:rPr lang="en-US" altLang="zh-CN" dirty="0"/>
              <a:t>Goal - Devise a Method for the Following</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B0BC70D-63BA-4B1D-A7D7-91AA8D62D1C6}"/>
                  </a:ext>
                </a:extLst>
              </p:cNvPr>
              <p:cNvSpPr>
                <a:spLocks noGrp="1"/>
              </p:cNvSpPr>
              <p:nvPr>
                <p:ph idx="1"/>
              </p:nvPr>
            </p:nvSpPr>
            <p:spPr/>
            <p:txBody>
              <a:bodyPr/>
              <a:lstStyle/>
              <a:p>
                <a:r>
                  <a:rPr lang="en-US" altLang="zh-CN" sz="2000" b="1" dirty="0"/>
                  <a:t>Normal Forms, </a:t>
                </a:r>
                <a:r>
                  <a:rPr lang="zh-CN" altLang="en-US" sz="2000" b="1" dirty="0"/>
                  <a:t>范式</a:t>
                </a:r>
                <a:endParaRPr lang="en-US" altLang="zh-CN" sz="2000" b="1" dirty="0"/>
              </a:p>
              <a:p>
                <a:pPr lvl="1"/>
                <a:r>
                  <a:rPr lang="en-US" altLang="zh-CN" sz="1600" dirty="0"/>
                  <a:t>Decide whether a particular relation </a:t>
                </a:r>
                <a14:m>
                  <m:oMath xmlns:m="http://schemas.openxmlformats.org/officeDocument/2006/math">
                    <m:r>
                      <a:rPr lang="en-US" altLang="zh-CN" sz="1600" b="0" i="1" smtClean="0">
                        <a:latin typeface="Cambria Math" panose="02040503050406030204" pitchFamily="18" charset="0"/>
                      </a:rPr>
                      <m:t>𝑅</m:t>
                    </m:r>
                  </m:oMath>
                </a14:m>
                <a:r>
                  <a:rPr lang="en-US" altLang="zh-CN" sz="1600" dirty="0"/>
                  <a:t> is in good form</a:t>
                </a:r>
              </a:p>
              <a:p>
                <a:r>
                  <a:rPr lang="en-US" altLang="zh-CN" sz="2000" b="1" dirty="0"/>
                  <a:t>Decomposition</a:t>
                </a:r>
              </a:p>
              <a:p>
                <a:pPr lvl="1"/>
                <a:r>
                  <a:rPr lang="en-US" altLang="zh-CN" sz="1600" dirty="0"/>
                  <a:t>In the case that </a:t>
                </a:r>
                <a14:m>
                  <m:oMath xmlns:m="http://schemas.openxmlformats.org/officeDocument/2006/math">
                    <m:r>
                      <a:rPr lang="en-US" altLang="zh-CN" sz="1600" i="1">
                        <a:latin typeface="Cambria Math" panose="02040503050406030204" pitchFamily="18" charset="0"/>
                      </a:rPr>
                      <m:t>𝑅</m:t>
                    </m:r>
                  </m:oMath>
                </a14:m>
                <a:r>
                  <a:rPr lang="en-US" altLang="zh-CN" sz="1600" dirty="0"/>
                  <a:t> is not in “good” form, decompose it into a set of relations </a:t>
                </a:r>
                <a14:m>
                  <m:oMath xmlns:m="http://schemas.openxmlformats.org/officeDocument/2006/math">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𝑛</m:t>
                        </m:r>
                      </m:sub>
                    </m:sSub>
                    <m:r>
                      <a:rPr lang="en-US" altLang="zh-CN" sz="1600" b="0" i="1" smtClean="0">
                        <a:latin typeface="Cambria Math" panose="02040503050406030204" pitchFamily="18" charset="0"/>
                      </a:rPr>
                      <m:t>}</m:t>
                    </m:r>
                  </m:oMath>
                </a14:m>
                <a:r>
                  <a:rPr lang="en-US" altLang="zh-CN" sz="1600" dirty="0"/>
                  <a:t> such that </a:t>
                </a:r>
              </a:p>
              <a:p>
                <a:pPr lvl="2"/>
                <a:r>
                  <a:rPr lang="en-US" altLang="zh-CN" sz="1600" dirty="0"/>
                  <a:t>each relation is in good form </a:t>
                </a:r>
              </a:p>
              <a:p>
                <a:pPr lvl="2"/>
                <a:r>
                  <a:rPr lang="en-US" altLang="zh-CN" sz="1600" dirty="0"/>
                  <a:t>the decomposition is a </a:t>
                </a:r>
                <a:r>
                  <a:rPr lang="en-US" altLang="zh-CN" sz="1600" dirty="0">
                    <a:solidFill>
                      <a:srgbClr val="C00000"/>
                    </a:solidFill>
                  </a:rPr>
                  <a:t>lossless-join decomposition</a:t>
                </a:r>
              </a:p>
              <a:p>
                <a:pPr lvl="2"/>
                <a:r>
                  <a:rPr lang="en-US" altLang="zh-CN" sz="1600" dirty="0"/>
                  <a:t>the decomposition is </a:t>
                </a:r>
                <a:r>
                  <a:rPr lang="en-US" altLang="zh-CN" sz="1600" dirty="0">
                    <a:solidFill>
                      <a:srgbClr val="C00000"/>
                    </a:solidFill>
                  </a:rPr>
                  <a:t>dependency-preservation</a:t>
                </a:r>
              </a:p>
              <a:p>
                <a:r>
                  <a:rPr lang="en-US" altLang="zh-CN" sz="2000" dirty="0"/>
                  <a:t>Our theory is based on:</a:t>
                </a:r>
              </a:p>
              <a:p>
                <a:pPr lvl="1"/>
                <a:r>
                  <a:rPr lang="en-US" altLang="zh-CN" sz="1800" dirty="0"/>
                  <a:t>functional dependency</a:t>
                </a:r>
              </a:p>
              <a:p>
                <a:pPr lvl="1"/>
                <a:r>
                  <a:rPr lang="en-US" altLang="zh-CN" sz="1800" dirty="0"/>
                  <a:t>multi-valued dependency*</a:t>
                </a:r>
                <a:endParaRPr lang="zh-CN" altLang="en-US" sz="1800" dirty="0"/>
              </a:p>
            </p:txBody>
          </p:sp>
        </mc:Choice>
        <mc:Fallback xmlns="">
          <p:sp>
            <p:nvSpPr>
              <p:cNvPr id="3" name="内容占位符 2">
                <a:extLst>
                  <a:ext uri="{FF2B5EF4-FFF2-40B4-BE49-F238E27FC236}">
                    <a16:creationId xmlns:a16="http://schemas.microsoft.com/office/drawing/2014/main" id="{8B0BC70D-63BA-4B1D-A7D7-91AA8D62D1C6}"/>
                  </a:ext>
                </a:extLst>
              </p:cNvPr>
              <p:cNvSpPr>
                <a:spLocks noGrp="1" noRot="1" noChangeAspect="1" noMove="1" noResize="1" noEditPoints="1" noAdjustHandles="1" noChangeArrowheads="1" noChangeShapeType="1" noTextEdit="1"/>
              </p:cNvSpPr>
              <p:nvPr>
                <p:ph idx="1"/>
              </p:nvPr>
            </p:nvSpPr>
            <p:spPr>
              <a:blipFill>
                <a:blip r:embed="rId2"/>
                <a:stretch>
                  <a:fillRect l="-640"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517859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barn(inVertical)">
                                      <p:cBhvr>
                                        <p:cTn id="19" dur="500"/>
                                        <p:tgtEl>
                                          <p:spTgt spid="3">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arn(inVertical)">
                                      <p:cBhvr>
                                        <p:cTn id="24" dur="500"/>
                                        <p:tgtEl>
                                          <p:spTgt spid="3">
                                            <p:txEl>
                                              <p:pRg st="7" end="7"/>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barn(inVertical)">
                                      <p:cBhvr>
                                        <p:cTn id="30"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699542"/>
            <a:ext cx="8568952" cy="3744416"/>
          </a:xfrm>
        </p:spPr>
        <p:txBody>
          <a:bodyPr/>
          <a:lstStyle/>
          <a:p>
            <a:pPr>
              <a:spcBef>
                <a:spcPts val="400"/>
              </a:spcBef>
            </a:pPr>
            <a:r>
              <a:rPr lang="en-US" altLang="zh-CN" sz="2000" b="1" dirty="0"/>
              <a:t>Features of Good Relational Designs</a:t>
            </a:r>
          </a:p>
          <a:p>
            <a:pPr>
              <a:spcBef>
                <a:spcPts val="400"/>
              </a:spcBef>
            </a:pPr>
            <a:r>
              <a:rPr lang="en-US" altLang="zh-CN" sz="2000" b="1" dirty="0">
                <a:solidFill>
                  <a:srgbClr val="C00000"/>
                </a:solidFill>
              </a:rPr>
              <a:t>Functional Dependency/</a:t>
            </a:r>
            <a:r>
              <a:rPr lang="zh-CN" altLang="en-US" sz="2000" b="1" dirty="0">
                <a:solidFill>
                  <a:srgbClr val="C00000"/>
                </a:solidFill>
              </a:rPr>
              <a:t>函数依赖</a:t>
            </a:r>
            <a:endParaRPr lang="en-US" altLang="zh-CN" sz="2000" b="1" dirty="0">
              <a:solidFill>
                <a:srgbClr val="C00000"/>
              </a:solidFill>
            </a:endParaRPr>
          </a:p>
          <a:p>
            <a:pPr lvl="1">
              <a:spcBef>
                <a:spcPts val="400"/>
              </a:spcBef>
            </a:pPr>
            <a:r>
              <a:rPr lang="en-US" altLang="zh-CN" sz="1800" dirty="0">
                <a:solidFill>
                  <a:srgbClr val="C00000"/>
                </a:solidFill>
              </a:rPr>
              <a:t>Decomposition using functional dependency</a:t>
            </a:r>
          </a:p>
          <a:p>
            <a:pPr lvl="1">
              <a:spcBef>
                <a:spcPts val="400"/>
              </a:spcBef>
            </a:pPr>
            <a:r>
              <a:rPr lang="en-US" altLang="zh-CN" sz="1800" dirty="0"/>
              <a:t>Closure of functional dependency</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b="1" dirty="0"/>
              <a:t>Normalization &amp; Normal Forms (</a:t>
            </a:r>
            <a:r>
              <a:rPr lang="zh-CN" altLang="en-US" sz="2000" b="1" dirty="0"/>
              <a:t>范式</a:t>
            </a:r>
            <a:r>
              <a:rPr lang="en-US" altLang="zh-CN" sz="2000" b="1" dirty="0"/>
              <a:t>)</a:t>
            </a:r>
          </a:p>
          <a:p>
            <a:pPr>
              <a:spcBef>
                <a:spcPts val="400"/>
              </a:spcBef>
            </a:pPr>
            <a:r>
              <a:rPr lang="en-US" altLang="zh-CN" sz="2000" b="1" dirty="0"/>
              <a:t>Multivalued Dependencies</a:t>
            </a:r>
            <a:r>
              <a:rPr lang="zh-CN" altLang="en-US" sz="2000" b="1" dirty="0"/>
              <a:t>*</a:t>
            </a:r>
            <a:endParaRPr lang="en-US" altLang="zh-CN" sz="2000" b="1" dirty="0"/>
          </a:p>
          <a:p>
            <a:pPr>
              <a:spcBef>
                <a:spcPts val="400"/>
              </a:spcBef>
            </a:pPr>
            <a:r>
              <a:rPr lang="en-US" altLang="zh-CN" sz="2000" b="1" dirty="0"/>
              <a:t>Database Design Process</a:t>
            </a:r>
          </a:p>
        </p:txBody>
      </p:sp>
    </p:spTree>
    <p:extLst>
      <p:ext uri="{BB962C8B-B14F-4D97-AF65-F5344CB8AC3E}">
        <p14:creationId xmlns:p14="http://schemas.microsoft.com/office/powerpoint/2010/main" val="386082569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817FC6-CFEF-4625-A6CF-254C8209CAC8}"/>
              </a:ext>
            </a:extLst>
          </p:cNvPr>
          <p:cNvSpPr>
            <a:spLocks noGrp="1"/>
          </p:cNvSpPr>
          <p:nvPr>
            <p:ph type="title"/>
          </p:nvPr>
        </p:nvSpPr>
        <p:spPr/>
        <p:txBody>
          <a:bodyPr/>
          <a:lstStyle/>
          <a:p>
            <a:pPr algn="ctr"/>
            <a:r>
              <a:rPr lang="en-US" altLang="zh-CN" dirty="0"/>
              <a:t>Functional Dependency (</a:t>
            </a:r>
            <a:r>
              <a:rPr lang="zh-CN" altLang="en-US" dirty="0"/>
              <a:t>函数依赖</a:t>
            </a:r>
            <a:r>
              <a:rPr lang="en-US" altLang="zh-CN" dirty="0"/>
              <a:t>)</a:t>
            </a:r>
            <a:endParaRPr lang="zh-CN" altLang="en-US" dirty="0"/>
          </a:p>
        </p:txBody>
      </p:sp>
      <p:sp>
        <p:nvSpPr>
          <p:cNvPr id="3" name="内容占位符 2">
            <a:extLst>
              <a:ext uri="{FF2B5EF4-FFF2-40B4-BE49-F238E27FC236}">
                <a16:creationId xmlns:a16="http://schemas.microsoft.com/office/drawing/2014/main" id="{B6AFEC2A-C6C8-4C5F-AE79-F73809AFE196}"/>
              </a:ext>
            </a:extLst>
          </p:cNvPr>
          <p:cNvSpPr>
            <a:spLocks noGrp="1"/>
          </p:cNvSpPr>
          <p:nvPr>
            <p:ph idx="1"/>
          </p:nvPr>
        </p:nvSpPr>
        <p:spPr>
          <a:xfrm>
            <a:off x="251520" y="789553"/>
            <a:ext cx="8424936" cy="3805070"/>
          </a:xfrm>
        </p:spPr>
        <p:txBody>
          <a:bodyPr/>
          <a:lstStyle/>
          <a:p>
            <a:pPr>
              <a:spcBef>
                <a:spcPts val="600"/>
              </a:spcBef>
            </a:pPr>
            <a:r>
              <a:rPr lang="en-US" altLang="zh-CN" sz="2000" b="1" dirty="0"/>
              <a:t>Functional dependency</a:t>
            </a:r>
          </a:p>
          <a:p>
            <a:pPr lvl="1">
              <a:spcBef>
                <a:spcPts val="600"/>
              </a:spcBef>
            </a:pPr>
            <a:r>
              <a:rPr lang="en-US" altLang="zh-CN" sz="1600" dirty="0"/>
              <a:t>The value for a certain set of attributes determines uniquely the value for another set of attributes</a:t>
            </a:r>
          </a:p>
          <a:p>
            <a:pPr lvl="1">
              <a:spcBef>
                <a:spcPts val="600"/>
              </a:spcBef>
            </a:pPr>
            <a:r>
              <a:rPr lang="en-US" altLang="zh-CN" sz="1600" dirty="0"/>
              <a:t>A functional dependency is a generalization of the notion of key</a:t>
            </a:r>
          </a:p>
          <a:p>
            <a:pPr>
              <a:spcBef>
                <a:spcPts val="600"/>
              </a:spcBef>
            </a:pPr>
            <a:endParaRPr lang="zh-CN" altLang="en-US" sz="2000" dirty="0"/>
          </a:p>
        </p:txBody>
      </p:sp>
      <p:pic>
        <p:nvPicPr>
          <p:cNvPr id="4" name="Picture 5" descr="8">
            <a:extLst>
              <a:ext uri="{FF2B5EF4-FFF2-40B4-BE49-F238E27FC236}">
                <a16:creationId xmlns:a16="http://schemas.microsoft.com/office/drawing/2014/main" id="{4CA83F25-CC96-42D1-9082-A899602756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2571750"/>
            <a:ext cx="4080518" cy="2448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任意多边形: 形状 12">
            <a:extLst>
              <a:ext uri="{FF2B5EF4-FFF2-40B4-BE49-F238E27FC236}">
                <a16:creationId xmlns:a16="http://schemas.microsoft.com/office/drawing/2014/main" id="{32B77B3C-A12F-4119-A49F-50C0CE926FF9}"/>
              </a:ext>
            </a:extLst>
          </p:cNvPr>
          <p:cNvSpPr/>
          <p:nvPr/>
        </p:nvSpPr>
        <p:spPr>
          <a:xfrm>
            <a:off x="2267744" y="2230215"/>
            <a:ext cx="481032" cy="356140"/>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形状 13">
            <a:extLst>
              <a:ext uri="{FF2B5EF4-FFF2-40B4-BE49-F238E27FC236}">
                <a16:creationId xmlns:a16="http://schemas.microsoft.com/office/drawing/2014/main" id="{D4641D45-60F5-4025-8246-96011C17DABB}"/>
              </a:ext>
            </a:extLst>
          </p:cNvPr>
          <p:cNvSpPr/>
          <p:nvPr/>
        </p:nvSpPr>
        <p:spPr>
          <a:xfrm>
            <a:off x="2267744" y="2227063"/>
            <a:ext cx="1152128" cy="362444"/>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a:extLst>
              <a:ext uri="{FF2B5EF4-FFF2-40B4-BE49-F238E27FC236}">
                <a16:creationId xmlns:a16="http://schemas.microsoft.com/office/drawing/2014/main" id="{66A576E1-4D18-4EF8-A904-EC64EE652B9B}"/>
              </a:ext>
            </a:extLst>
          </p:cNvPr>
          <p:cNvSpPr/>
          <p:nvPr/>
        </p:nvSpPr>
        <p:spPr>
          <a:xfrm>
            <a:off x="2267744" y="2227062"/>
            <a:ext cx="1944216" cy="368749"/>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形状 15">
            <a:extLst>
              <a:ext uri="{FF2B5EF4-FFF2-40B4-BE49-F238E27FC236}">
                <a16:creationId xmlns:a16="http://schemas.microsoft.com/office/drawing/2014/main" id="{B0FEA883-9DE4-4FC8-8127-1043FCE0FA41}"/>
              </a:ext>
            </a:extLst>
          </p:cNvPr>
          <p:cNvSpPr/>
          <p:nvPr/>
        </p:nvSpPr>
        <p:spPr>
          <a:xfrm>
            <a:off x="2284614" y="2223911"/>
            <a:ext cx="2719434" cy="362444"/>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形状 16">
            <a:extLst>
              <a:ext uri="{FF2B5EF4-FFF2-40B4-BE49-F238E27FC236}">
                <a16:creationId xmlns:a16="http://schemas.microsoft.com/office/drawing/2014/main" id="{0ED7104F-9777-4F9F-96C6-21EB03568E55}"/>
              </a:ext>
            </a:extLst>
          </p:cNvPr>
          <p:cNvSpPr/>
          <p:nvPr/>
        </p:nvSpPr>
        <p:spPr>
          <a:xfrm>
            <a:off x="2267744" y="2283718"/>
            <a:ext cx="3327319" cy="278576"/>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a:extLst>
              <a:ext uri="{FF2B5EF4-FFF2-40B4-BE49-F238E27FC236}">
                <a16:creationId xmlns:a16="http://schemas.microsoft.com/office/drawing/2014/main" id="{65841B7D-712A-4577-8C80-46ACB31CEFD6}"/>
              </a:ext>
            </a:extLst>
          </p:cNvPr>
          <p:cNvSpPr/>
          <p:nvPr/>
        </p:nvSpPr>
        <p:spPr>
          <a:xfrm>
            <a:off x="4228830" y="2221169"/>
            <a:ext cx="631202" cy="374642"/>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形状 19">
            <a:extLst>
              <a:ext uri="{FF2B5EF4-FFF2-40B4-BE49-F238E27FC236}">
                <a16:creationId xmlns:a16="http://schemas.microsoft.com/office/drawing/2014/main" id="{9D473E54-D3B2-40F4-92C1-065FD92C2044}"/>
              </a:ext>
            </a:extLst>
          </p:cNvPr>
          <p:cNvSpPr/>
          <p:nvPr/>
        </p:nvSpPr>
        <p:spPr>
          <a:xfrm>
            <a:off x="4283968" y="2221169"/>
            <a:ext cx="1224136" cy="384098"/>
          </a:xfrm>
          <a:custGeom>
            <a:avLst/>
            <a:gdLst>
              <a:gd name="connsiteX0" fmla="*/ 0 w 591015"/>
              <a:gd name="connsiteY0" fmla="*/ 362444 h 362444"/>
              <a:gd name="connsiteX1" fmla="*/ 312234 w 591015"/>
              <a:gd name="connsiteY1" fmla="*/ 29 h 362444"/>
              <a:gd name="connsiteX2" fmla="*/ 591015 w 591015"/>
              <a:gd name="connsiteY2" fmla="*/ 340141 h 362444"/>
              <a:gd name="connsiteX3" fmla="*/ 591015 w 591015"/>
              <a:gd name="connsiteY3" fmla="*/ 340141 h 362444"/>
            </a:gdLst>
            <a:ahLst/>
            <a:cxnLst>
              <a:cxn ang="0">
                <a:pos x="connsiteX0" y="connsiteY0"/>
              </a:cxn>
              <a:cxn ang="0">
                <a:pos x="connsiteX1" y="connsiteY1"/>
              </a:cxn>
              <a:cxn ang="0">
                <a:pos x="connsiteX2" y="connsiteY2"/>
              </a:cxn>
              <a:cxn ang="0">
                <a:pos x="connsiteX3" y="connsiteY3"/>
              </a:cxn>
            </a:cxnLst>
            <a:rect l="l" t="t" r="r" b="b"/>
            <a:pathLst>
              <a:path w="591015" h="362444">
                <a:moveTo>
                  <a:pt x="0" y="362444"/>
                </a:moveTo>
                <a:cubicBezTo>
                  <a:pt x="106866" y="183095"/>
                  <a:pt x="213732" y="3746"/>
                  <a:pt x="312234" y="29"/>
                </a:cubicBezTo>
                <a:cubicBezTo>
                  <a:pt x="410736" y="-3688"/>
                  <a:pt x="591015" y="340141"/>
                  <a:pt x="591015" y="340141"/>
                </a:cubicBezTo>
                <a:lnTo>
                  <a:pt x="591015" y="340141"/>
                </a:lnTo>
              </a:path>
            </a:pathLst>
          </a:custGeom>
          <a:noFill/>
          <a:ln w="12700">
            <a:solidFill>
              <a:schemeClr val="accent6">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30904350"/>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1F5393-A9FE-4D54-B935-7138B9E1D6DA}"/>
              </a:ext>
            </a:extLst>
          </p:cNvPr>
          <p:cNvSpPr>
            <a:spLocks noGrp="1"/>
          </p:cNvSpPr>
          <p:nvPr>
            <p:ph type="title"/>
          </p:nvPr>
        </p:nvSpPr>
        <p:spPr/>
        <p:txBody>
          <a:bodyPr/>
          <a:lstStyle/>
          <a:p>
            <a:pPr algn="ctr"/>
            <a:r>
              <a:rPr lang="en-US" altLang="zh-CN" dirty="0"/>
              <a:t>Functional Dependency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4839A6-C0E3-4DF3-8236-900692470F80}"/>
                  </a:ext>
                </a:extLst>
              </p:cNvPr>
              <p:cNvSpPr>
                <a:spLocks noGrp="1"/>
              </p:cNvSpPr>
              <p:nvPr>
                <p:ph idx="1"/>
              </p:nvPr>
            </p:nvSpPr>
            <p:spPr>
              <a:xfrm>
                <a:off x="251520" y="789553"/>
                <a:ext cx="7992888" cy="3805070"/>
              </a:xfrm>
            </p:spPr>
            <p:txBody>
              <a:bodyPr/>
              <a:lstStyle/>
              <a:p>
                <a:r>
                  <a:rPr lang="en-US" altLang="zh-CN" sz="1800" dirty="0"/>
                  <a:t>Let </a:t>
                </a:r>
                <a14:m>
                  <m:oMath xmlns:m="http://schemas.openxmlformats.org/officeDocument/2006/math">
                    <m:r>
                      <a:rPr lang="en-US" altLang="zh-CN" sz="1800" b="0" i="1" smtClean="0">
                        <a:latin typeface="Cambria Math" panose="02040503050406030204" pitchFamily="18" charset="0"/>
                      </a:rPr>
                      <m:t>𝑅</m:t>
                    </m:r>
                  </m:oMath>
                </a14:m>
                <a:r>
                  <a:rPr lang="en-US" altLang="zh-CN" sz="1800" dirty="0"/>
                  <a:t> be a relation schema,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en-US" altLang="zh-CN" sz="1800" b="0" i="1" smtClean="0">
                        <a:latin typeface="Cambria Math" panose="02040503050406030204" pitchFamily="18" charset="0"/>
                      </a:rPr>
                      <m:t>𝑅</m:t>
                    </m:r>
                  </m:oMath>
                </a14:m>
                <a:r>
                  <a:rPr lang="en-US" altLang="zh-CN" sz="1800" dirty="0"/>
                  <a:t> and </a:t>
                </a:r>
                <a14:m>
                  <m:oMath xmlns:m="http://schemas.openxmlformats.org/officeDocument/2006/math">
                    <m:r>
                      <a:rPr lang="zh-CN" altLang="en-US" sz="1800" i="1" smtClean="0">
                        <a:latin typeface="Cambria Math" panose="02040503050406030204" pitchFamily="18" charset="0"/>
                      </a:rPr>
                      <m:t>𝛽</m:t>
                    </m:r>
                    <m:r>
                      <a:rPr lang="zh-CN" altLang="en-US" sz="1800" i="1" smtClean="0">
                        <a:latin typeface="Cambria Math" panose="02040503050406030204" pitchFamily="18" charset="0"/>
                      </a:rPr>
                      <m:t>⊆</m:t>
                    </m:r>
                    <m:r>
                      <a:rPr lang="en-US" altLang="zh-CN" sz="1800" b="0" i="1" smtClean="0">
                        <a:latin typeface="Cambria Math" panose="02040503050406030204" pitchFamily="18" charset="0"/>
                      </a:rPr>
                      <m:t>𝑅</m:t>
                    </m:r>
                  </m:oMath>
                </a14:m>
                <a:endParaRPr lang="en-US" altLang="zh-CN" sz="1800" dirty="0"/>
              </a:p>
              <a:p>
                <a:r>
                  <a:rPr lang="en-US" altLang="zh-CN" sz="1800" dirty="0"/>
                  <a:t>The functional dependency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𝛽</m:t>
                    </m:r>
                  </m:oMath>
                </a14:m>
                <a:r>
                  <a:rPr lang="en-US" altLang="zh-CN" sz="1800" dirty="0"/>
                  <a:t> holds on </a:t>
                </a:r>
                <a14:m>
                  <m:oMath xmlns:m="http://schemas.openxmlformats.org/officeDocument/2006/math">
                    <m:r>
                      <a:rPr lang="en-US" altLang="zh-CN" sz="1800" i="1">
                        <a:latin typeface="Cambria Math" panose="02040503050406030204" pitchFamily="18" charset="0"/>
                      </a:rPr>
                      <m:t>𝑅</m:t>
                    </m:r>
                  </m:oMath>
                </a14:m>
                <a:r>
                  <a:rPr lang="en-US" altLang="zh-CN" sz="1800" dirty="0"/>
                  <a:t> </a:t>
                </a:r>
              </a:p>
              <a:p>
                <a:pPr lvl="1"/>
                <a:r>
                  <a:rPr lang="en-US" altLang="zh-CN" sz="1600" dirty="0"/>
                  <a:t>for </a:t>
                </a:r>
                <a:r>
                  <a:rPr lang="en-US" altLang="zh-CN" sz="1600" b="1" dirty="0">
                    <a:solidFill>
                      <a:srgbClr val="C00000"/>
                    </a:solidFill>
                  </a:rPr>
                  <a:t>ANY</a:t>
                </a:r>
                <a:r>
                  <a:rPr lang="en-US" altLang="zh-CN" sz="1600" dirty="0"/>
                  <a:t> legal relation </a:t>
                </a:r>
                <a14:m>
                  <m:oMath xmlns:m="http://schemas.openxmlformats.org/officeDocument/2006/math">
                    <m:r>
                      <a:rPr lang="en-US" altLang="zh-CN" sz="1600" b="0" i="1" smtClean="0">
                        <a:latin typeface="Cambria Math" panose="02040503050406030204" pitchFamily="18" charset="0"/>
                      </a:rPr>
                      <m:t>𝑟</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𝑅</m:t>
                    </m:r>
                    <m:r>
                      <a:rPr lang="en-US" altLang="zh-CN" sz="1600" b="0" i="1" smtClean="0">
                        <a:latin typeface="Cambria Math" panose="02040503050406030204" pitchFamily="18" charset="0"/>
                      </a:rPr>
                      <m:t>)</m:t>
                    </m:r>
                  </m:oMath>
                </a14:m>
                <a:r>
                  <a:rPr lang="en-US" altLang="zh-CN" sz="1600" dirty="0"/>
                  <a:t>, whenever any two tuples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oMath>
                </a14:m>
                <a:r>
                  <a:rPr lang="en-US" altLang="zh-CN" sz="1600" dirty="0"/>
                  <a:t> and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b="0" i="1" smtClean="0">
                            <a:latin typeface="Cambria Math" panose="02040503050406030204" pitchFamily="18" charset="0"/>
                          </a:rPr>
                          <m:t>2</m:t>
                        </m:r>
                      </m:sub>
                    </m:sSub>
                    <m:r>
                      <a:rPr lang="en-US" altLang="zh-CN" sz="1600" i="1">
                        <a:latin typeface="Cambria Math" panose="02040503050406030204" pitchFamily="18" charset="0"/>
                      </a:rPr>
                      <m:t> </m:t>
                    </m:r>
                  </m:oMath>
                </a14:m>
                <a:r>
                  <a:rPr lang="en-US" altLang="zh-CN" sz="1600" dirty="0"/>
                  <a:t>of </a:t>
                </a:r>
                <a14:m>
                  <m:oMath xmlns:m="http://schemas.openxmlformats.org/officeDocument/2006/math">
                    <m:r>
                      <a:rPr lang="en-US" altLang="zh-CN" sz="1600" b="0" i="1" smtClean="0">
                        <a:latin typeface="Cambria Math" panose="02040503050406030204" pitchFamily="18" charset="0"/>
                      </a:rPr>
                      <m:t>𝑟</m:t>
                    </m:r>
                  </m:oMath>
                </a14:m>
                <a:r>
                  <a:rPr lang="en-US" altLang="zh-CN" sz="1600" dirty="0"/>
                  <a:t> agree on the attributes </a:t>
                </a:r>
                <a14:m>
                  <m:oMath xmlns:m="http://schemas.openxmlformats.org/officeDocument/2006/math">
                    <m:r>
                      <a:rPr lang="zh-CN" altLang="en-US" sz="1600" i="1" smtClean="0">
                        <a:latin typeface="Cambria Math" panose="02040503050406030204" pitchFamily="18" charset="0"/>
                      </a:rPr>
                      <m:t>𝛼</m:t>
                    </m:r>
                  </m:oMath>
                </a14:m>
                <a:r>
                  <a:rPr lang="en-US" altLang="zh-CN" sz="1600" dirty="0"/>
                  <a:t>, they also agree on the attributes </a:t>
                </a:r>
                <a14:m>
                  <m:oMath xmlns:m="http://schemas.openxmlformats.org/officeDocument/2006/math">
                    <m:r>
                      <a:rPr lang="zh-CN" altLang="en-US" sz="1600" i="1" smtClean="0">
                        <a:latin typeface="Cambria Math" panose="02040503050406030204" pitchFamily="18" charset="0"/>
                      </a:rPr>
                      <m:t>𝛽</m:t>
                    </m:r>
                  </m:oMath>
                </a14:m>
                <a:r>
                  <a:rPr lang="en-US" altLang="zh-CN" sz="1600" dirty="0"/>
                  <a:t>, i.e.,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1</m:t>
                        </m:r>
                      </m:sub>
                    </m:sSub>
                    <m:d>
                      <m:dPr>
                        <m:begChr m:val="["/>
                        <m:endChr m:val="]"/>
                        <m:ctrlPr>
                          <a:rPr lang="en-US" altLang="zh-CN" sz="1600" b="0" i="1" smtClean="0">
                            <a:latin typeface="Cambria Math" panose="02040503050406030204" pitchFamily="18" charset="0"/>
                          </a:rPr>
                        </m:ctrlPr>
                      </m:dPr>
                      <m:e>
                        <m:r>
                          <a:rPr lang="zh-CN" altLang="en-US" sz="1600" b="0" i="1" smtClean="0">
                            <a:latin typeface="Cambria Math" panose="02040503050406030204" pitchFamily="18" charset="0"/>
                          </a:rPr>
                          <m:t>𝛼</m:t>
                        </m:r>
                      </m:e>
                    </m:d>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r>
                      <a:rPr lang="zh-CN" altLang="en-US" sz="1600" b="0" i="1" smtClean="0">
                        <a:latin typeface="Cambria Math" panose="02040503050406030204" pitchFamily="18" charset="0"/>
                      </a:rPr>
                      <m:t>𝛼</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1</m:t>
                        </m:r>
                      </m:sub>
                    </m:sSub>
                    <m:d>
                      <m:dPr>
                        <m:begChr m:val="["/>
                        <m:endChr m:val="]"/>
                        <m:ctrlPr>
                          <a:rPr lang="en-US" altLang="zh-CN" sz="1600" i="1">
                            <a:latin typeface="Cambria Math" panose="02040503050406030204" pitchFamily="18" charset="0"/>
                          </a:rPr>
                        </m:ctrlPr>
                      </m:dPr>
                      <m:e>
                        <m:r>
                          <a:rPr lang="zh-CN" altLang="en-US" sz="1600" i="1" smtClean="0">
                            <a:latin typeface="Cambria Math" panose="02040503050406030204" pitchFamily="18" charset="0"/>
                          </a:rPr>
                          <m:t>𝛽</m:t>
                        </m:r>
                      </m:e>
                    </m:d>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𝑡</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r>
                      <a:rPr lang="zh-CN" altLang="en-US" sz="1600" i="1" smtClean="0">
                        <a:latin typeface="Cambria Math" panose="02040503050406030204" pitchFamily="18" charset="0"/>
                      </a:rPr>
                      <m:t>𝛽</m:t>
                    </m:r>
                    <m:r>
                      <a:rPr lang="en-US" altLang="zh-CN" sz="1600" i="1">
                        <a:latin typeface="Cambria Math" panose="02040503050406030204" pitchFamily="18" charset="0"/>
                      </a:rPr>
                      <m:t>]</m:t>
                    </m:r>
                  </m:oMath>
                </a14:m>
                <a:endParaRPr lang="en-US" altLang="zh-CN" sz="1600" dirty="0"/>
              </a:p>
              <a:p>
                <a:pPr lvl="1"/>
                <a:r>
                  <a:rPr lang="en-US" altLang="zh-CN" sz="1600" dirty="0"/>
                  <a:t>e.g., considering </a:t>
                </a:r>
                <a14:m>
                  <m:oMath xmlns:m="http://schemas.openxmlformats.org/officeDocument/2006/math">
                    <m:r>
                      <a:rPr lang="en-US" altLang="zh-CN" sz="1600" b="0" i="1" smtClean="0">
                        <a:latin typeface="Cambria Math" panose="02040503050406030204" pitchFamily="18" charset="0"/>
                      </a:rPr>
                      <m:t>𝑟</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𝐵</m:t>
                    </m:r>
                    <m:r>
                      <a:rPr lang="en-US" altLang="zh-CN" sz="1600" b="0" i="1" smtClean="0">
                        <a:latin typeface="Cambria Math" panose="02040503050406030204" pitchFamily="18" charset="0"/>
                      </a:rPr>
                      <m:t>)</m:t>
                    </m:r>
                  </m:oMath>
                </a14:m>
                <a:r>
                  <a:rPr lang="en-US" altLang="zh-CN" sz="1600" dirty="0"/>
                  <a:t> with the following instance of </a:t>
                </a:r>
                <a14:m>
                  <m:oMath xmlns:m="http://schemas.openxmlformats.org/officeDocument/2006/math">
                    <m:r>
                      <a:rPr lang="en-US" altLang="zh-CN" sz="1600" b="0" i="1" smtClean="0">
                        <a:latin typeface="Cambria Math" panose="02040503050406030204" pitchFamily="18" charset="0"/>
                      </a:rPr>
                      <m:t>𝑟</m:t>
                    </m:r>
                  </m:oMath>
                </a14:m>
                <a:r>
                  <a:rPr lang="en-US" altLang="zh-CN" sz="1600" dirty="0"/>
                  <a:t>, the functional dependency </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𝐵</m:t>
                    </m:r>
                  </m:oMath>
                </a14:m>
                <a:r>
                  <a:rPr lang="en-US" altLang="zh-CN" sz="1600" dirty="0"/>
                  <a:t> does NOT hold, but </a:t>
                </a:r>
                <a14:m>
                  <m:oMath xmlns:m="http://schemas.openxmlformats.org/officeDocument/2006/math">
                    <m:r>
                      <a:rPr lang="en-US" altLang="zh-CN" sz="1600" i="1">
                        <a:latin typeface="Cambria Math" panose="02040503050406030204" pitchFamily="18" charset="0"/>
                      </a:rPr>
                      <m:t>𝐵</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ea typeface="Cambria Math" panose="02040503050406030204" pitchFamily="18" charset="0"/>
                      </a:rPr>
                      <m:t>𝐴</m:t>
                    </m:r>
                  </m:oMath>
                </a14:m>
                <a:r>
                  <a:rPr lang="en-US" altLang="zh-CN" sz="1600" dirty="0"/>
                  <a:t> holds</a:t>
                </a:r>
              </a:p>
              <a:p>
                <a:pPr lvl="1"/>
                <a:endParaRPr lang="en-US" altLang="zh-CN" sz="1600" dirty="0"/>
              </a:p>
              <a:p>
                <a:endParaRPr lang="en-US" altLang="zh-CN" sz="1800" dirty="0"/>
              </a:p>
              <a:p>
                <a:endParaRPr lang="en-US" altLang="zh-CN" sz="1800" dirty="0"/>
              </a:p>
              <a:p>
                <a:endParaRPr lang="en-US" altLang="zh-CN" sz="1800" dirty="0"/>
              </a:p>
              <a:p>
                <a:endParaRPr lang="zh-CN" altLang="en-US" sz="1800" dirty="0"/>
              </a:p>
            </p:txBody>
          </p:sp>
        </mc:Choice>
        <mc:Fallback xmlns="">
          <p:sp>
            <p:nvSpPr>
              <p:cNvPr id="3" name="内容占位符 2">
                <a:extLst>
                  <a:ext uri="{FF2B5EF4-FFF2-40B4-BE49-F238E27FC236}">
                    <a16:creationId xmlns:a16="http://schemas.microsoft.com/office/drawing/2014/main" id="{1D4839A6-C0E3-4DF3-8236-900692470F80}"/>
                  </a:ext>
                </a:extLst>
              </p:cNvPr>
              <p:cNvSpPr>
                <a:spLocks noGrp="1" noRot="1" noChangeAspect="1" noMove="1" noResize="1" noEditPoints="1" noAdjustHandles="1" noChangeArrowheads="1" noChangeShapeType="1" noTextEdit="1"/>
              </p:cNvSpPr>
              <p:nvPr>
                <p:ph idx="1"/>
              </p:nvPr>
            </p:nvSpPr>
            <p:spPr>
              <a:xfrm>
                <a:off x="251520" y="789553"/>
                <a:ext cx="7992888" cy="3805070"/>
              </a:xfrm>
              <a:blipFill>
                <a:blip r:embed="rId2"/>
                <a:stretch>
                  <a:fillRect l="-458" t="-962"/>
                </a:stretch>
              </a:blipFill>
            </p:spPr>
            <p:txBody>
              <a:bodyPr/>
              <a:lstStyle/>
              <a:p>
                <a:r>
                  <a:rPr lang="zh-CN" altLang="en-US">
                    <a:noFill/>
                  </a:rPr>
                  <a:t> </a:t>
                </a:r>
              </a:p>
            </p:txBody>
          </p:sp>
        </mc:Fallback>
      </mc:AlternateContent>
      <p:sp>
        <p:nvSpPr>
          <p:cNvPr id="5" name="Text Box 4">
            <a:extLst>
              <a:ext uri="{FF2B5EF4-FFF2-40B4-BE49-F238E27FC236}">
                <a16:creationId xmlns:a16="http://schemas.microsoft.com/office/drawing/2014/main" id="{F3014957-9627-4FF0-AC9B-0127611895C8}"/>
              </a:ext>
            </a:extLst>
          </p:cNvPr>
          <p:cNvSpPr txBox="1">
            <a:spLocks noChangeArrowheads="1"/>
          </p:cNvSpPr>
          <p:nvPr/>
        </p:nvSpPr>
        <p:spPr bwMode="auto">
          <a:xfrm>
            <a:off x="3203848" y="3003798"/>
            <a:ext cx="627095" cy="71558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marL="457200" indent="-457200">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342900" indent="-342900" defTabSz="685800" eaLnBrk="0" hangingPunct="0">
              <a:spcBef>
                <a:spcPct val="0"/>
              </a:spcBef>
              <a:buClrTx/>
              <a:buSzTx/>
              <a:buFontTx/>
              <a:buAutoNum type="arabicPlain"/>
            </a:pPr>
            <a:r>
              <a:rPr kumimoji="0" lang="en-US" altLang="zh-CN" sz="1350" b="1" dirty="0">
                <a:solidFill>
                  <a:srgbClr val="000000"/>
                </a:solidFill>
                <a:latin typeface="Helvetica" panose="020B0604020202020204" pitchFamily="34" charset="0"/>
                <a:ea typeface="宋体" panose="02010600030101010101" pitchFamily="2" charset="-122"/>
              </a:rPr>
              <a:t>4</a:t>
            </a:r>
          </a:p>
          <a:p>
            <a:pPr marL="342900" indent="-342900" defTabSz="685800" eaLnBrk="0" hangingPunct="0">
              <a:spcBef>
                <a:spcPct val="0"/>
              </a:spcBef>
              <a:buClrTx/>
              <a:buSzTx/>
              <a:buNone/>
            </a:pPr>
            <a:r>
              <a:rPr kumimoji="0" lang="en-US" altLang="zh-CN" sz="1350" b="1" dirty="0">
                <a:solidFill>
                  <a:srgbClr val="000000"/>
                </a:solidFill>
                <a:latin typeface="Helvetica" panose="020B0604020202020204" pitchFamily="34" charset="0"/>
                <a:ea typeface="宋体" panose="02010600030101010101" pitchFamily="2" charset="-122"/>
              </a:rPr>
              <a:t>1     5</a:t>
            </a:r>
          </a:p>
          <a:p>
            <a:pPr marL="342900" indent="-342900" defTabSz="685800" eaLnBrk="0" hangingPunct="0">
              <a:spcBef>
                <a:spcPct val="0"/>
              </a:spcBef>
              <a:buClrTx/>
              <a:buSzTx/>
              <a:buNone/>
            </a:pPr>
            <a:r>
              <a:rPr kumimoji="0" lang="en-US" altLang="zh-CN" sz="1350" b="1" dirty="0">
                <a:solidFill>
                  <a:srgbClr val="000000"/>
                </a:solidFill>
                <a:latin typeface="Helvetica" panose="020B0604020202020204" pitchFamily="34" charset="0"/>
                <a:ea typeface="宋体" panose="02010600030101010101" pitchFamily="2" charset="-122"/>
              </a:rPr>
              <a:t>3	7</a:t>
            </a:r>
          </a:p>
        </p:txBody>
      </p:sp>
    </p:spTree>
    <p:extLst>
      <p:ext uri="{BB962C8B-B14F-4D97-AF65-F5344CB8AC3E}">
        <p14:creationId xmlns:p14="http://schemas.microsoft.com/office/powerpoint/2010/main" val="3406578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arn(inVertic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additive="base">
                                        <p:cTn id="20" dur="500" fill="hold"/>
                                        <p:tgtEl>
                                          <p:spTgt spid="5"/>
                                        </p:tgtEl>
                                        <p:attrNameLst>
                                          <p:attrName>ppt_x</p:attrName>
                                        </p:attrNameLst>
                                      </p:cBhvr>
                                      <p:tavLst>
                                        <p:tav tm="0">
                                          <p:val>
                                            <p:strVal val="#ppt_x"/>
                                          </p:val>
                                        </p:tav>
                                        <p:tav tm="100000">
                                          <p:val>
                                            <p:strVal val="#ppt_x"/>
                                          </p:val>
                                        </p:tav>
                                      </p:tavLst>
                                    </p:anim>
                                    <p:anim calcmode="lin" valueType="num">
                                      <p:cBhvr additive="base">
                                        <p:cTn id="2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5B8FB-5921-4C8B-A92E-252371B3F41D}"/>
              </a:ext>
            </a:extLst>
          </p:cNvPr>
          <p:cNvSpPr>
            <a:spLocks noGrp="1"/>
          </p:cNvSpPr>
          <p:nvPr>
            <p:ph type="title"/>
          </p:nvPr>
        </p:nvSpPr>
        <p:spPr/>
        <p:txBody>
          <a:bodyPr/>
          <a:lstStyle/>
          <a:p>
            <a:pPr algn="ctr"/>
            <a:r>
              <a:rPr lang="en-US" altLang="zh-CN" dirty="0"/>
              <a:t>Functional Dependency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23CDF59-85AD-4E08-A003-FE7221BA8766}"/>
                  </a:ext>
                </a:extLst>
              </p:cNvPr>
              <p:cNvSpPr>
                <a:spLocks noGrp="1"/>
              </p:cNvSpPr>
              <p:nvPr>
                <p:ph idx="1"/>
              </p:nvPr>
            </p:nvSpPr>
            <p:spPr/>
            <p:txBody>
              <a:bodyPr/>
              <a:lstStyle/>
              <a:p>
                <a14:m>
                  <m:oMath xmlns:m="http://schemas.openxmlformats.org/officeDocument/2006/math">
                    <m:r>
                      <a:rPr lang="en-US" altLang="zh-CN" sz="1800" b="0" i="1" smtClean="0">
                        <a:latin typeface="Cambria Math" panose="02040503050406030204" pitchFamily="18" charset="0"/>
                      </a:rPr>
                      <m:t>𝐾</m:t>
                    </m:r>
                  </m:oMath>
                </a14:m>
                <a:r>
                  <a:rPr lang="en-US" altLang="zh-CN" sz="1800" dirty="0"/>
                  <a:t> is a </a:t>
                </a:r>
                <a:r>
                  <a:rPr lang="en-US" altLang="zh-CN" sz="1800" u="sng" dirty="0" err="1">
                    <a:solidFill>
                      <a:srgbClr val="C00000"/>
                    </a:solidFill>
                  </a:rPr>
                  <a:t>superkey</a:t>
                </a:r>
                <a:r>
                  <a:rPr lang="en-US" altLang="zh-CN" sz="1800" dirty="0"/>
                  <a:t> for relation schema </a:t>
                </a:r>
                <a14:m>
                  <m:oMath xmlns:m="http://schemas.openxmlformats.org/officeDocument/2006/math">
                    <m:r>
                      <a:rPr lang="en-US" altLang="zh-CN" sz="1800" b="0" i="1" smtClean="0">
                        <a:latin typeface="Cambria Math" panose="02040503050406030204" pitchFamily="18" charset="0"/>
                      </a:rPr>
                      <m:t>𝑅</m:t>
                    </m:r>
                  </m:oMath>
                </a14:m>
                <a:r>
                  <a:rPr lang="en-US" altLang="zh-CN" sz="1800" dirty="0"/>
                  <a:t> </a:t>
                </a:r>
                <a:r>
                  <a:rPr lang="en-US" altLang="zh-CN" sz="1800" dirty="0" err="1"/>
                  <a:t>iff</a:t>
                </a:r>
                <a:r>
                  <a:rPr lang="en-US" altLang="zh-CN" sz="1800" dirty="0"/>
                  <a:t> </a:t>
                </a:r>
                <a14:m>
                  <m:oMath xmlns:m="http://schemas.openxmlformats.org/officeDocument/2006/math">
                    <m:r>
                      <a:rPr lang="en-US" altLang="zh-CN" sz="1800" b="0" i="1" smtClean="0">
                        <a:latin typeface="Cambria Math" panose="02040503050406030204" pitchFamily="18" charset="0"/>
                      </a:rPr>
                      <m:t>𝐾</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𝑅</m:t>
                    </m:r>
                  </m:oMath>
                </a14:m>
                <a:endParaRPr lang="en-US" altLang="zh-CN" sz="1800" dirty="0"/>
              </a:p>
              <a:p>
                <a14:m>
                  <m:oMath xmlns:m="http://schemas.openxmlformats.org/officeDocument/2006/math">
                    <m:r>
                      <a:rPr lang="en-US" altLang="zh-CN" sz="1800" i="1">
                        <a:latin typeface="Cambria Math" panose="02040503050406030204" pitchFamily="18" charset="0"/>
                      </a:rPr>
                      <m:t>𝐾</m:t>
                    </m:r>
                  </m:oMath>
                </a14:m>
                <a:r>
                  <a:rPr lang="en-US" altLang="zh-CN" sz="1800" dirty="0"/>
                  <a:t> is a </a:t>
                </a:r>
                <a:r>
                  <a:rPr lang="en-US" altLang="zh-CN" sz="1800" u="sng" dirty="0">
                    <a:solidFill>
                      <a:srgbClr val="C00000"/>
                    </a:solidFill>
                  </a:rPr>
                  <a:t>candidate key</a:t>
                </a:r>
                <a:r>
                  <a:rPr lang="en-US" altLang="zh-CN" sz="1800" dirty="0"/>
                  <a:t> for </a:t>
                </a:r>
                <a14:m>
                  <m:oMath xmlns:m="http://schemas.openxmlformats.org/officeDocument/2006/math">
                    <m:r>
                      <a:rPr lang="en-US" altLang="zh-CN" sz="1800" i="1">
                        <a:latin typeface="Cambria Math" panose="02040503050406030204" pitchFamily="18" charset="0"/>
                      </a:rPr>
                      <m:t>𝑅</m:t>
                    </m:r>
                  </m:oMath>
                </a14:m>
                <a:r>
                  <a:rPr lang="en-US" altLang="zh-CN" sz="1800" dirty="0"/>
                  <a:t> </a:t>
                </a:r>
                <a:r>
                  <a:rPr lang="en-US" altLang="zh-CN" sz="1800" dirty="0" err="1"/>
                  <a:t>iff</a:t>
                </a:r>
                <a:endParaRPr lang="en-US" altLang="zh-CN" sz="1800" dirty="0"/>
              </a:p>
              <a:p>
                <a:pPr lvl="1"/>
                <a14:m>
                  <m:oMath xmlns:m="http://schemas.openxmlformats.org/officeDocument/2006/math">
                    <m:r>
                      <a:rPr lang="en-US" altLang="zh-CN" sz="1400" i="1">
                        <a:latin typeface="Cambria Math" panose="02040503050406030204" pitchFamily="18" charset="0"/>
                      </a:rPr>
                      <m:t>𝐾</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𝑅</m:t>
                    </m:r>
                  </m:oMath>
                </a14:m>
                <a:r>
                  <a:rPr lang="en-US" altLang="zh-CN" sz="1400" dirty="0"/>
                  <a:t>, and</a:t>
                </a:r>
              </a:p>
              <a:p>
                <a:pPr lvl="1"/>
                <a:r>
                  <a:rPr lang="en-US" altLang="zh-CN" sz="1400" dirty="0"/>
                  <a:t>No </a:t>
                </a:r>
                <a14:m>
                  <m:oMath xmlns:m="http://schemas.openxmlformats.org/officeDocument/2006/math">
                    <m:r>
                      <a:rPr lang="zh-CN" altLang="en-US" sz="1400" i="1" smtClean="0">
                        <a:latin typeface="Cambria Math" panose="02040503050406030204" pitchFamily="18" charset="0"/>
                      </a:rPr>
                      <m:t>𝛼</m:t>
                    </m:r>
                    <m:r>
                      <a:rPr lang="zh-CN" altLang="en-US" sz="1400" i="1" smtClean="0">
                        <a:latin typeface="Cambria Math" panose="02040503050406030204" pitchFamily="18" charset="0"/>
                      </a:rPr>
                      <m:t>⊂</m:t>
                    </m:r>
                    <m:r>
                      <a:rPr lang="en-US" altLang="zh-CN" sz="1400" b="0" i="1" smtClean="0">
                        <a:latin typeface="Cambria Math" panose="02040503050406030204" pitchFamily="18" charset="0"/>
                      </a:rPr>
                      <m:t>𝐾</m:t>
                    </m:r>
                  </m:oMath>
                </a14:m>
                <a:r>
                  <a:rPr lang="en-US" altLang="zh-CN" sz="1400" dirty="0"/>
                  <a:t>, </a:t>
                </a:r>
                <a14:m>
                  <m:oMath xmlns:m="http://schemas.openxmlformats.org/officeDocument/2006/math">
                    <m:r>
                      <a:rPr lang="zh-CN" altLang="en-US" sz="1400" i="1" smtClean="0">
                        <a:latin typeface="Cambria Math" panose="02040503050406030204" pitchFamily="18" charset="0"/>
                      </a:rPr>
                      <m:t>𝛼</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𝑅</m:t>
                    </m:r>
                  </m:oMath>
                </a14:m>
                <a:endParaRPr lang="en-US" altLang="zh-CN" sz="1400" dirty="0"/>
              </a:p>
              <a:p>
                <a:r>
                  <a:rPr lang="en-US" altLang="zh-CN" sz="1800" dirty="0"/>
                  <a:t>FD allows us to express constraints that cannot be expressed using superkeys. Consider the following schema:</a:t>
                </a:r>
              </a:p>
              <a:p>
                <a:pPr marL="0" indent="0">
                  <a:buNone/>
                </a:pPr>
                <a:r>
                  <a:rPr lang="en-US" altLang="zh-CN" sz="1600" i="1" dirty="0"/>
                  <a:t>       </a:t>
                </a:r>
                <a:r>
                  <a:rPr lang="en-US" altLang="zh-CN" sz="1600" i="1" dirty="0" err="1"/>
                  <a:t>in_dep</a:t>
                </a:r>
                <a:r>
                  <a:rPr lang="en-US" altLang="zh-CN" sz="1600" i="1" dirty="0"/>
                  <a:t> (ID, name, salary, </a:t>
                </a:r>
                <a:r>
                  <a:rPr lang="en-US" altLang="zh-CN" sz="1600" i="1" dirty="0" err="1"/>
                  <a:t>dept_name</a:t>
                </a:r>
                <a:r>
                  <a:rPr lang="en-US" altLang="zh-CN" sz="1600" i="1" dirty="0"/>
                  <a:t>, building, budget) </a:t>
                </a:r>
              </a:p>
              <a:p>
                <a:pPr marL="0" indent="0">
                  <a:buNone/>
                </a:pPr>
                <a:r>
                  <a:rPr lang="en-US" altLang="zh-CN" sz="1800" dirty="0"/>
                  <a:t>     We expect the following FDs to hold:</a:t>
                </a:r>
              </a:p>
              <a:p>
                <a:pPr marL="0" indent="0">
                  <a:buNone/>
                </a:pPr>
                <a:r>
                  <a:rPr lang="en-US" altLang="zh-CN" sz="1600" dirty="0"/>
                  <a:t>      </a:t>
                </a:r>
                <a:r>
                  <a:rPr lang="en-US" altLang="zh-CN" sz="1600" i="1" dirty="0" err="1"/>
                  <a:t>dept_name</a:t>
                </a:r>
                <a:r>
                  <a:rPr lang="en-US" altLang="zh-CN" sz="1600" i="1" dirty="0"/>
                  <a:t>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i="1" dirty="0"/>
                  <a:t> building</a:t>
                </a:r>
                <a:br>
                  <a:rPr lang="en-US" altLang="zh-CN" sz="1600" i="1" dirty="0"/>
                </a:br>
                <a:r>
                  <a:rPr lang="en-US" altLang="zh-CN" sz="1600" i="1" dirty="0"/>
                  <a:t>      </a:t>
                </a:r>
                <a:r>
                  <a:rPr lang="en-US" altLang="zh-CN" sz="1600" i="1" dirty="0" err="1"/>
                  <a:t>dept_name</a:t>
                </a:r>
                <a:r>
                  <a:rPr lang="en-US" altLang="zh-CN" sz="1600" i="1" dirty="0"/>
                  <a:t> </a:t>
                </a:r>
                <a14:m>
                  <m:oMath xmlns:m="http://schemas.openxmlformats.org/officeDocument/2006/math">
                    <m:r>
                      <a:rPr lang="en-US" altLang="zh-CN" sz="1600" b="0" i="1" smtClean="0">
                        <a:latin typeface="Cambria Math" panose="02040503050406030204" pitchFamily="18" charset="0"/>
                        <a:ea typeface="Cambria Math" panose="02040503050406030204" pitchFamily="18" charset="0"/>
                      </a:rPr>
                      <m:t> </m:t>
                    </m:r>
                    <m:r>
                      <a:rPr lang="en-US" altLang="zh-CN" sz="1600" i="1">
                        <a:latin typeface="Cambria Math" panose="02040503050406030204" pitchFamily="18" charset="0"/>
                        <a:ea typeface="Cambria Math" panose="02040503050406030204" pitchFamily="18" charset="0"/>
                      </a:rPr>
                      <m:t>→</m:t>
                    </m:r>
                  </m:oMath>
                </a14:m>
                <a:r>
                  <a:rPr lang="en-US" altLang="zh-CN" sz="1600" i="1" dirty="0"/>
                  <a:t> budget</a:t>
                </a:r>
              </a:p>
              <a:p>
                <a:endParaRPr lang="zh-CN" altLang="en-US" sz="1800" dirty="0"/>
              </a:p>
            </p:txBody>
          </p:sp>
        </mc:Choice>
        <mc:Fallback xmlns="">
          <p:sp>
            <p:nvSpPr>
              <p:cNvPr id="3" name="内容占位符 2">
                <a:extLst>
                  <a:ext uri="{FF2B5EF4-FFF2-40B4-BE49-F238E27FC236}">
                    <a16:creationId xmlns:a16="http://schemas.microsoft.com/office/drawing/2014/main" id="{D23CDF59-85AD-4E08-A003-FE7221BA8766}"/>
                  </a:ext>
                </a:extLst>
              </p:cNvPr>
              <p:cNvSpPr>
                <a:spLocks noGrp="1" noRot="1" noChangeAspect="1" noMove="1" noResize="1" noEditPoints="1" noAdjustHandles="1" noChangeArrowheads="1" noChangeShapeType="1" noTextEdit="1"/>
              </p:cNvSpPr>
              <p:nvPr>
                <p:ph idx="1"/>
              </p:nvPr>
            </p:nvSpPr>
            <p:spPr>
              <a:blipFill>
                <a:blip r:embed="rId3"/>
                <a:stretch>
                  <a:fillRect l="-498" t="-962" r="-8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121798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CF1172-8BD1-401E-AD77-2DD6C98C9377}"/>
              </a:ext>
            </a:extLst>
          </p:cNvPr>
          <p:cNvSpPr>
            <a:spLocks noGrp="1"/>
          </p:cNvSpPr>
          <p:nvPr>
            <p:ph type="title"/>
          </p:nvPr>
        </p:nvSpPr>
        <p:spPr/>
        <p:txBody>
          <a:bodyPr/>
          <a:lstStyle/>
          <a:p>
            <a:pPr algn="ctr"/>
            <a:r>
              <a:rPr lang="en-US" altLang="zh-CN" dirty="0"/>
              <a:t>Applications of Functional Dependencies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E428C6E-4B19-497F-BCD5-2B300D554D92}"/>
                  </a:ext>
                </a:extLst>
              </p:cNvPr>
              <p:cNvSpPr>
                <a:spLocks noGrp="1"/>
              </p:cNvSpPr>
              <p:nvPr>
                <p:ph idx="1"/>
              </p:nvPr>
            </p:nvSpPr>
            <p:spPr/>
            <p:txBody>
              <a:bodyPr/>
              <a:lstStyle/>
              <a:p>
                <a:pPr>
                  <a:spcBef>
                    <a:spcPts val="600"/>
                  </a:spcBef>
                </a:pPr>
                <a:r>
                  <a:rPr lang="en-US" altLang="zh-CN" sz="1800" dirty="0"/>
                  <a:t>Functional dependency can be used to:</a:t>
                </a:r>
              </a:p>
              <a:p>
                <a:pPr lvl="1">
                  <a:spcBef>
                    <a:spcPts val="600"/>
                  </a:spcBef>
                </a:pPr>
                <a:r>
                  <a:rPr lang="en-US" altLang="zh-CN" sz="1600" dirty="0"/>
                  <a:t>test relations to see if they are legal under a given set of functional dependencies</a:t>
                </a:r>
              </a:p>
              <a:p>
                <a:pPr lvl="1">
                  <a:spcBef>
                    <a:spcPts val="600"/>
                  </a:spcBef>
                </a:pPr>
                <a:r>
                  <a:rPr lang="en-US" altLang="zh-CN" sz="1600" dirty="0"/>
                  <a:t>specify constraints on the set of legal relations</a:t>
                </a:r>
              </a:p>
              <a:p>
                <a:pPr>
                  <a:spcBef>
                    <a:spcPts val="600"/>
                  </a:spcBef>
                </a:pPr>
                <a:r>
                  <a:rPr lang="en-US" altLang="zh-CN" sz="1800" b="1" dirty="0"/>
                  <a:t>Note</a:t>
                </a:r>
                <a:r>
                  <a:rPr lang="en-US" altLang="zh-CN" sz="1800" dirty="0"/>
                  <a:t>: A specific instance of a relation schema may satisfy a functional dependency even if the functional dependency does not holds on all legal instances.  </a:t>
                </a:r>
              </a:p>
              <a:p>
                <a:pPr lvl="1">
                  <a:spcBef>
                    <a:spcPts val="600"/>
                  </a:spcBef>
                </a:pPr>
                <a:r>
                  <a:rPr lang="en-US" altLang="zh-CN" sz="1600" dirty="0"/>
                  <a:t>For example, a specific instance of </a:t>
                </a:r>
                <a:r>
                  <a:rPr lang="en-US" altLang="zh-CN" sz="1600" i="1" dirty="0"/>
                  <a:t>classroom</a:t>
                </a:r>
                <a:r>
                  <a:rPr lang="en-US" altLang="zh-CN" sz="1600" dirty="0"/>
                  <a:t> may satisfy </a:t>
                </a:r>
              </a:p>
              <a:p>
                <a:pPr marL="457200" lvl="1" indent="0">
                  <a:spcBef>
                    <a:spcPts val="600"/>
                  </a:spcBef>
                  <a:buNone/>
                </a:pPr>
                <a:r>
                  <a:rPr lang="en-US" altLang="zh-CN" sz="1600" i="1" dirty="0"/>
                  <a:t>     </a:t>
                </a:r>
                <a:r>
                  <a:rPr lang="en-US" altLang="zh-CN" sz="1600" i="1" dirty="0">
                    <a:solidFill>
                      <a:srgbClr val="C00000"/>
                    </a:solidFill>
                  </a:rPr>
                  <a:t>room_number </a:t>
                </a:r>
                <a14:m>
                  <m:oMath xmlns:m="http://schemas.openxmlformats.org/officeDocument/2006/math">
                    <m:r>
                      <a:rPr lang="en-US" altLang="zh-CN" sz="1600" i="1">
                        <a:solidFill>
                          <a:srgbClr val="C00000"/>
                        </a:solidFill>
                        <a:latin typeface="Cambria Math" panose="02040503050406030204" pitchFamily="18" charset="0"/>
                        <a:ea typeface="Cambria Math" panose="02040503050406030204" pitchFamily="18" charset="0"/>
                      </a:rPr>
                      <m:t>→</m:t>
                    </m:r>
                  </m:oMath>
                </a14:m>
                <a:r>
                  <a:rPr lang="en-US" altLang="zh-CN" sz="1600" i="1" dirty="0">
                    <a:solidFill>
                      <a:srgbClr val="C00000"/>
                    </a:solidFill>
                  </a:rPr>
                  <a:t> capacity</a:t>
                </a:r>
                <a:endParaRPr lang="en-US" altLang="zh-CN" sz="1600" i="1" dirty="0"/>
              </a:p>
              <a:p>
                <a:pPr>
                  <a:spcBef>
                    <a:spcPts val="600"/>
                  </a:spcBef>
                </a:pPr>
                <a:endParaRPr lang="zh-CN" altLang="en-US" sz="1800" dirty="0"/>
              </a:p>
            </p:txBody>
          </p:sp>
        </mc:Choice>
        <mc:Fallback xmlns="">
          <p:sp>
            <p:nvSpPr>
              <p:cNvPr id="3" name="内容占位符 2">
                <a:extLst>
                  <a:ext uri="{FF2B5EF4-FFF2-40B4-BE49-F238E27FC236}">
                    <a16:creationId xmlns:a16="http://schemas.microsoft.com/office/drawing/2014/main" id="{5E428C6E-4B19-497F-BCD5-2B300D554D92}"/>
                  </a:ext>
                </a:extLst>
              </p:cNvPr>
              <p:cNvSpPr>
                <a:spLocks noGrp="1" noRot="1" noChangeAspect="1" noMove="1" noResize="1" noEditPoints="1" noAdjustHandles="1" noChangeArrowheads="1" noChangeShapeType="1" noTextEdit="1"/>
              </p:cNvSpPr>
              <p:nvPr>
                <p:ph idx="1"/>
              </p:nvPr>
            </p:nvSpPr>
            <p:spPr>
              <a:blipFill>
                <a:blip r:embed="rId3"/>
                <a:stretch>
                  <a:fillRect l="-427" t="-962"/>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11DF2B8E-690C-4EAF-B7B8-52C02D96F220}"/>
              </a:ext>
            </a:extLst>
          </p:cNvPr>
          <p:cNvPicPr>
            <a:picLocks noChangeAspect="1"/>
          </p:cNvPicPr>
          <p:nvPr/>
        </p:nvPicPr>
        <p:blipFill>
          <a:blip r:embed="rId4"/>
          <a:stretch>
            <a:fillRect/>
          </a:stretch>
        </p:blipFill>
        <p:spPr>
          <a:xfrm>
            <a:off x="2915816" y="3658819"/>
            <a:ext cx="2598241" cy="1390256"/>
          </a:xfrm>
          <a:prstGeom prst="rect">
            <a:avLst/>
          </a:prstGeom>
        </p:spPr>
      </p:pic>
    </p:spTree>
    <p:extLst>
      <p:ext uri="{BB962C8B-B14F-4D97-AF65-F5344CB8AC3E}">
        <p14:creationId xmlns:p14="http://schemas.microsoft.com/office/powerpoint/2010/main" val="11801529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inVertical)">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64176-BDB4-4721-B52F-B72F8632070E}"/>
              </a:ext>
            </a:extLst>
          </p:cNvPr>
          <p:cNvSpPr>
            <a:spLocks noGrp="1"/>
          </p:cNvSpPr>
          <p:nvPr>
            <p:ph type="title"/>
          </p:nvPr>
        </p:nvSpPr>
        <p:spPr/>
        <p:txBody>
          <a:bodyPr/>
          <a:lstStyle/>
          <a:p>
            <a:pPr algn="ctr"/>
            <a:r>
              <a:rPr lang="en-US" altLang="zh-CN" dirty="0"/>
              <a:t>Functional Dependencies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ADF1B17-2107-4E54-A13B-329814FC815F}"/>
                  </a:ext>
                </a:extLst>
              </p:cNvPr>
              <p:cNvSpPr>
                <a:spLocks noGrp="1"/>
              </p:cNvSpPr>
              <p:nvPr>
                <p:ph idx="1"/>
              </p:nvPr>
            </p:nvSpPr>
            <p:spPr/>
            <p:txBody>
              <a:bodyPr/>
              <a:lstStyle/>
              <a:p>
                <a:r>
                  <a:rPr lang="en-US" altLang="zh-CN" sz="1800" dirty="0"/>
                  <a:t>A functional dependency is trivial(</a:t>
                </a:r>
                <a:r>
                  <a:rPr lang="zh-CN" altLang="en-US" sz="1800" dirty="0"/>
                  <a:t>平凡的</a:t>
                </a:r>
                <a:r>
                  <a:rPr lang="en-US" altLang="zh-CN" sz="1800" dirty="0"/>
                  <a:t>) if it is satisfied by all instances of a relation, e.g., </a:t>
                </a:r>
                <a:endParaRPr lang="en-US" altLang="zh-CN" sz="1600" dirty="0"/>
              </a:p>
              <a:p>
                <a:pPr marL="914400" lvl="2" indent="0">
                  <a:buNone/>
                </a:pPr>
                <a:r>
                  <a:rPr lang="en-US" altLang="zh-CN" sz="1600" i="1" dirty="0"/>
                  <a:t>building, </a:t>
                </a:r>
                <a:r>
                  <a:rPr lang="en-US" altLang="zh-CN" sz="1600" i="1" dirty="0" err="1"/>
                  <a:t>room_number</a:t>
                </a:r>
                <a:r>
                  <a:rPr lang="en-US" altLang="zh-CN" sz="1600" i="1" dirty="0"/>
                  <a:t> </a:t>
                </a:r>
                <a14:m>
                  <m:oMath xmlns:m="http://schemas.openxmlformats.org/officeDocument/2006/math">
                    <m:r>
                      <a:rPr lang="en-US" altLang="zh-CN" sz="16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600" i="1" dirty="0"/>
                  <a:t> capacity</a:t>
                </a:r>
              </a:p>
              <a:p>
                <a:pPr marL="914400" lvl="2" indent="0">
                  <a:buNone/>
                </a:pPr>
                <a:r>
                  <a:rPr lang="en-US" altLang="zh-CN" sz="1600" i="1" dirty="0" err="1"/>
                  <a:t>dept_name</a:t>
                </a:r>
                <a:r>
                  <a:rPr lang="en-US" altLang="zh-CN" sz="1600" i="1" dirty="0"/>
                  <a:t>, building </a:t>
                </a:r>
                <a14:m>
                  <m:oMath xmlns:m="http://schemas.openxmlformats.org/officeDocument/2006/math">
                    <m:r>
                      <a:rPr lang="en-US" altLang="zh-CN" sz="1600" i="1"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600" i="1" dirty="0"/>
                  <a:t> building</a:t>
                </a:r>
              </a:p>
              <a:p>
                <a:pPr marL="914400" lvl="2" indent="0">
                  <a:buNone/>
                </a:pPr>
                <a:r>
                  <a:rPr lang="en-US" altLang="zh-CN" sz="1600" i="1" dirty="0" err="1"/>
                  <a:t>dept_name</a:t>
                </a:r>
                <a:r>
                  <a:rPr lang="en-US" altLang="zh-CN" sz="1600" i="1" dirty="0"/>
                  <a:t> </a:t>
                </a:r>
                <a14:m>
                  <m:oMath xmlns:m="http://schemas.openxmlformats.org/officeDocument/2006/math">
                    <m:r>
                      <a:rPr lang="en-US" altLang="zh-CN" sz="1600" i="1">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1600" i="1" dirty="0"/>
                  <a:t> dept_</a:t>
                </a:r>
                <a:r>
                  <a:rPr lang="en-US" altLang="zh-CN" sz="1600" i="1" dirty="0" err="1"/>
                  <a:t>name</a:t>
                </a:r>
                <a:endParaRPr lang="en-US" altLang="zh-CN" sz="1600" i="1" dirty="0"/>
              </a:p>
              <a:p>
                <a:pPr lvl="1"/>
                <a:r>
                  <a:rPr lang="en-US" altLang="zh-CN" sz="1600" dirty="0"/>
                  <a:t>In general, </a:t>
                </a:r>
                <a14:m>
                  <m:oMath xmlns:m="http://schemas.openxmlformats.org/officeDocument/2006/math">
                    <m:r>
                      <m:rPr>
                        <m:sty m:val="p"/>
                      </m:rPr>
                      <a:rPr lang="el-GR" altLang="zh-CN" sz="1600" i="1" smtClean="0">
                        <a:latin typeface="Cambria Math" panose="02040503050406030204" pitchFamily="18" charset="0"/>
                        <a:ea typeface="Cambria Math" panose="02040503050406030204" pitchFamily="18" charset="0"/>
                      </a:rPr>
                      <m:t>α</m:t>
                    </m:r>
                    <m:r>
                      <a:rPr lang="en-US" altLang="zh-CN" sz="1600" i="1" smtClean="0">
                        <a:latin typeface="Cambria Math" panose="02040503050406030204" pitchFamily="18" charset="0"/>
                        <a:ea typeface="Cambria Math" panose="02040503050406030204" pitchFamily="18" charset="0"/>
                      </a:rPr>
                      <m:t>→</m:t>
                    </m:r>
                    <m:r>
                      <a:rPr lang="zh-CN" altLang="en-US" sz="1600" i="1" smtClean="0">
                        <a:latin typeface="Cambria Math" panose="02040503050406030204" pitchFamily="18" charset="0"/>
                        <a:ea typeface="Cambria Math" panose="02040503050406030204" pitchFamily="18" charset="0"/>
                      </a:rPr>
                      <m:t>𝛽</m:t>
                    </m:r>
                  </m:oMath>
                </a14:m>
                <a:r>
                  <a:rPr lang="en-US" altLang="zh-CN" sz="1600" dirty="0"/>
                  <a:t> is trivial if </a:t>
                </a:r>
                <a14:m>
                  <m:oMath xmlns:m="http://schemas.openxmlformats.org/officeDocument/2006/math">
                    <m:r>
                      <a:rPr lang="zh-CN" altLang="el-GR" sz="1600" i="1" smtClean="0">
                        <a:latin typeface="Cambria Math" panose="02040503050406030204" pitchFamily="18" charset="0"/>
                        <a:ea typeface="Cambria Math" panose="02040503050406030204" pitchFamily="18" charset="0"/>
                      </a:rPr>
                      <m:t>𝛽</m:t>
                    </m:r>
                    <m:r>
                      <a:rPr lang="en-US" altLang="zh-CN" sz="1600" i="1" smtClean="0">
                        <a:latin typeface="Cambria Math" panose="02040503050406030204" pitchFamily="18" charset="0"/>
                        <a:ea typeface="Cambria Math" panose="02040503050406030204" pitchFamily="18" charset="0"/>
                      </a:rPr>
                      <m:t>⊆</m:t>
                    </m:r>
                    <m:r>
                      <m:rPr>
                        <m:sty m:val="p"/>
                      </m:rPr>
                      <a:rPr lang="el-GR" altLang="zh-CN" sz="1600" i="1">
                        <a:latin typeface="Cambria Math" panose="02040503050406030204" pitchFamily="18" charset="0"/>
                        <a:ea typeface="Cambria Math" panose="02040503050406030204" pitchFamily="18" charset="0"/>
                      </a:rPr>
                      <m:t>α</m:t>
                    </m:r>
                  </m:oMath>
                </a14:m>
                <a:r>
                  <a:rPr lang="en-US" altLang="zh-CN" sz="1600" dirty="0"/>
                  <a:t> </a:t>
                </a:r>
              </a:p>
              <a:p>
                <a:pPr>
                  <a:spcBef>
                    <a:spcPts val="1200"/>
                  </a:spcBef>
                </a:pPr>
                <a:r>
                  <a:rPr lang="en-US" altLang="zh-CN" sz="1800" b="1" dirty="0">
                    <a:ea typeface="Cambria Math" panose="02040503050406030204" pitchFamily="18" charset="0"/>
                  </a:rPr>
                  <a:t>Full dependency and partially dependency</a:t>
                </a:r>
              </a:p>
              <a:p>
                <a:pPr lvl="1"/>
                <a14:m>
                  <m:oMath xmlns:m="http://schemas.openxmlformats.org/officeDocument/2006/math">
                    <m:r>
                      <a:rPr lang="zh-CN" altLang="en-US" sz="1600" i="1">
                        <a:latin typeface="Cambria Math" panose="02040503050406030204" pitchFamily="18" charset="0"/>
                        <a:ea typeface="Cambria Math" panose="02040503050406030204" pitchFamily="18" charset="0"/>
                      </a:rPr>
                      <m:t>𝛽</m:t>
                    </m:r>
                  </m:oMath>
                </a14:m>
                <a:r>
                  <a:rPr lang="en-US" altLang="zh-CN" sz="1600" dirty="0"/>
                  <a:t> is </a:t>
                </a:r>
                <a:r>
                  <a:rPr lang="en-US" altLang="zh-CN" sz="1600" b="1" dirty="0">
                    <a:solidFill>
                      <a:srgbClr val="C00000"/>
                    </a:solidFill>
                  </a:rPr>
                  <a:t>fully dependent </a:t>
                </a:r>
                <a:r>
                  <a:rPr lang="en-US" altLang="zh-CN" sz="1600" dirty="0"/>
                  <a:t>on </a:t>
                </a:r>
                <a14:m>
                  <m:oMath xmlns:m="http://schemas.openxmlformats.org/officeDocument/2006/math">
                    <m:r>
                      <m:rPr>
                        <m:sty m:val="p"/>
                      </m:rPr>
                      <a:rPr lang="el-GR" altLang="zh-CN" sz="1600" i="1">
                        <a:latin typeface="Cambria Math" panose="02040503050406030204" pitchFamily="18" charset="0"/>
                        <a:ea typeface="Cambria Math" panose="02040503050406030204" pitchFamily="18" charset="0"/>
                      </a:rPr>
                      <m:t>α</m:t>
                    </m:r>
                  </m:oMath>
                </a14:m>
                <a:r>
                  <a:rPr lang="en-US" altLang="zh-CN" sz="1600" dirty="0"/>
                  <a:t>, if there exits no subset </a:t>
                </a:r>
                <a14:m>
                  <m:oMath xmlns:m="http://schemas.openxmlformats.org/officeDocument/2006/math">
                    <m:sSup>
                      <m:sSupPr>
                        <m:ctrlPr>
                          <a:rPr lang="en-US" altLang="zh-CN" sz="1600" i="1" smtClean="0">
                            <a:latin typeface="Cambria Math" panose="02040503050406030204" pitchFamily="18" charset="0"/>
                          </a:rPr>
                        </m:ctrlPr>
                      </m:sSupPr>
                      <m:e>
                        <m:r>
                          <a:rPr lang="zh-CN" altLang="en-US" sz="1600" i="1" smtClean="0">
                            <a:latin typeface="Cambria Math" panose="02040503050406030204" pitchFamily="18" charset="0"/>
                          </a:rPr>
                          <m:t>𝛼</m:t>
                        </m:r>
                      </m:e>
                      <m:sup>
                        <m:r>
                          <a:rPr lang="en-US" altLang="zh-CN" sz="1600" b="0" i="1" smtClean="0">
                            <a:latin typeface="Cambria Math" panose="02040503050406030204" pitchFamily="18" charset="0"/>
                          </a:rPr>
                          <m:t>′</m:t>
                        </m:r>
                      </m:sup>
                    </m:sSup>
                  </m:oMath>
                </a14:m>
                <a:r>
                  <a:rPr lang="en-US" altLang="zh-CN" sz="1600" dirty="0"/>
                  <a:t> of </a:t>
                </a:r>
                <a14:m>
                  <m:oMath xmlns:m="http://schemas.openxmlformats.org/officeDocument/2006/math">
                    <m:r>
                      <m:rPr>
                        <m:sty m:val="p"/>
                      </m:rPr>
                      <a:rPr lang="el-GR" altLang="zh-CN" sz="1600" i="1">
                        <a:latin typeface="Cambria Math" panose="02040503050406030204" pitchFamily="18" charset="0"/>
                        <a:ea typeface="Cambria Math" panose="02040503050406030204" pitchFamily="18" charset="0"/>
                      </a:rPr>
                      <m:t>α</m:t>
                    </m:r>
                  </m:oMath>
                </a14:m>
                <a:r>
                  <a:rPr lang="en-US" altLang="zh-CN" sz="1600" dirty="0"/>
                  <a:t> such that </a:t>
                </a:r>
                <a14:m>
                  <m:oMath xmlns:m="http://schemas.openxmlformats.org/officeDocument/2006/math">
                    <m:sSup>
                      <m:sSupPr>
                        <m:ctrlPr>
                          <a:rPr lang="en-US" altLang="zh-CN" sz="1600" i="1">
                            <a:latin typeface="Cambria Math" panose="02040503050406030204" pitchFamily="18" charset="0"/>
                          </a:rPr>
                        </m:ctrlPr>
                      </m:sSupPr>
                      <m:e>
                        <m:r>
                          <a:rPr lang="zh-CN" altLang="en-US" sz="1600" i="1">
                            <a:latin typeface="Cambria Math" panose="02040503050406030204" pitchFamily="18" charset="0"/>
                          </a:rPr>
                          <m:t>𝛼</m:t>
                        </m:r>
                      </m:e>
                      <m:sup>
                        <m:r>
                          <a:rPr lang="en-US" altLang="zh-CN" sz="1600" i="1">
                            <a:latin typeface="Cambria Math" panose="02040503050406030204" pitchFamily="18" charset="0"/>
                          </a:rPr>
                          <m:t>′</m:t>
                        </m:r>
                      </m:sup>
                    </m:sSup>
                    <m:r>
                      <a:rPr lang="en-US" altLang="zh-CN" sz="1600" i="1">
                        <a:latin typeface="Cambria Math" panose="02040503050406030204" pitchFamily="18" charset="0"/>
                        <a:ea typeface="Cambria Math" panose="02040503050406030204" pitchFamily="18" charset="0"/>
                      </a:rPr>
                      <m:t>→</m:t>
                    </m:r>
                    <m:r>
                      <a:rPr lang="zh-CN" altLang="en-US" sz="1600" i="1">
                        <a:latin typeface="Cambria Math" panose="02040503050406030204" pitchFamily="18" charset="0"/>
                      </a:rPr>
                      <m:t>𝛽</m:t>
                    </m:r>
                  </m:oMath>
                </a14:m>
                <a:r>
                  <a:rPr lang="en-US" altLang="zh-CN" sz="1600" dirty="0"/>
                  <a:t>. Otherwise, </a:t>
                </a:r>
                <a14:m>
                  <m:oMath xmlns:m="http://schemas.openxmlformats.org/officeDocument/2006/math">
                    <m:r>
                      <a:rPr lang="en-US" altLang="zh-CN" sz="1600" b="0" i="0" smtClean="0">
                        <a:latin typeface="Cambria Math" panose="02040503050406030204" pitchFamily="18" charset="0"/>
                      </a:rPr>
                      <m:t> </m:t>
                    </m:r>
                    <m:r>
                      <a:rPr lang="zh-CN" altLang="en-US" sz="1600" i="1">
                        <a:latin typeface="Cambria Math" panose="02040503050406030204" pitchFamily="18" charset="0"/>
                      </a:rPr>
                      <m:t>𝛽</m:t>
                    </m:r>
                  </m:oMath>
                </a14:m>
                <a:r>
                  <a:rPr lang="en-US" altLang="zh-CN" sz="1600" dirty="0"/>
                  <a:t> is </a:t>
                </a:r>
                <a:r>
                  <a:rPr lang="en-US" altLang="zh-CN" sz="1600" b="1" dirty="0">
                    <a:solidFill>
                      <a:srgbClr val="C00000"/>
                    </a:solidFill>
                  </a:rPr>
                  <a:t>partially dependent </a:t>
                </a:r>
                <a:r>
                  <a:rPr lang="en-US" altLang="zh-CN" sz="1600" dirty="0"/>
                  <a:t>on </a:t>
                </a:r>
                <a14:m>
                  <m:oMath xmlns:m="http://schemas.openxmlformats.org/officeDocument/2006/math">
                    <m:r>
                      <m:rPr>
                        <m:sty m:val="p"/>
                      </m:rPr>
                      <a:rPr lang="el-GR" altLang="zh-CN" sz="1600" i="1">
                        <a:latin typeface="Cambria Math" panose="02040503050406030204" pitchFamily="18" charset="0"/>
                        <a:ea typeface="Cambria Math" panose="02040503050406030204" pitchFamily="18" charset="0"/>
                      </a:rPr>
                      <m:t>α</m:t>
                    </m:r>
                  </m:oMath>
                </a14:m>
                <a:endParaRPr lang="en-US" altLang="zh-CN" sz="1400" dirty="0"/>
              </a:p>
              <a:p>
                <a:endParaRPr lang="zh-CN" altLang="en-US" sz="1800" dirty="0"/>
              </a:p>
            </p:txBody>
          </p:sp>
        </mc:Choice>
        <mc:Fallback xmlns="">
          <p:sp>
            <p:nvSpPr>
              <p:cNvPr id="3" name="内容占位符 2">
                <a:extLst>
                  <a:ext uri="{FF2B5EF4-FFF2-40B4-BE49-F238E27FC236}">
                    <a16:creationId xmlns:a16="http://schemas.microsoft.com/office/drawing/2014/main" id="{6ADF1B17-2107-4E54-A13B-329814FC815F}"/>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634923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arn(inVertical)">
                                      <p:cBhvr>
                                        <p:cTn id="7" dur="500"/>
                                        <p:tgtEl>
                                          <p:spTgt spid="3">
                                            <p:txEl>
                                              <p:pRg st="5" end="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arn(inVertical)">
                                      <p:cBhvr>
                                        <p:cTn id="10"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965F23-7A7D-4A1A-B002-388CAE230CF5}"/>
              </a:ext>
            </a:extLst>
          </p:cNvPr>
          <p:cNvSpPr>
            <a:spLocks noGrp="1"/>
          </p:cNvSpPr>
          <p:nvPr>
            <p:ph type="title"/>
          </p:nvPr>
        </p:nvSpPr>
        <p:spPr>
          <a:xfrm>
            <a:off x="-17242" y="-20538"/>
            <a:ext cx="9144000" cy="637580"/>
          </a:xfrm>
        </p:spPr>
        <p:txBody>
          <a:bodyPr/>
          <a:lstStyle/>
          <a:p>
            <a:pPr algn="ctr"/>
            <a:r>
              <a:rPr lang="en-US" altLang="zh-CN" dirty="0"/>
              <a:t>Decomposition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9E833FA-A211-47E2-AD5C-9DD3E2A5970B}"/>
                  </a:ext>
                </a:extLst>
              </p:cNvPr>
              <p:cNvSpPr>
                <a:spLocks noGrp="1"/>
              </p:cNvSpPr>
              <p:nvPr>
                <p:ph idx="1"/>
              </p:nvPr>
            </p:nvSpPr>
            <p:spPr>
              <a:xfrm>
                <a:off x="234278" y="789553"/>
                <a:ext cx="8802218" cy="3805070"/>
              </a:xfrm>
            </p:spPr>
            <p:txBody>
              <a:bodyPr/>
              <a:lstStyle/>
              <a:p>
                <a:pPr>
                  <a:spcBef>
                    <a:spcPts val="600"/>
                  </a:spcBef>
                </a:pPr>
                <a:r>
                  <a:rPr lang="en-US" altLang="zh-CN" sz="1800" dirty="0"/>
                  <a:t>Decompose the relation schema </a:t>
                </a:r>
                <a:r>
                  <a:rPr lang="en-US" altLang="zh-CN" sz="1800" b="1" dirty="0" err="1">
                    <a:solidFill>
                      <a:srgbClr val="C00000"/>
                    </a:solidFill>
                  </a:rPr>
                  <a:t>in_dep</a:t>
                </a:r>
                <a:r>
                  <a:rPr lang="en-US" altLang="zh-CN" sz="1800" b="1" dirty="0">
                    <a:solidFill>
                      <a:srgbClr val="C00000"/>
                    </a:solidFill>
                  </a:rPr>
                  <a:t> </a:t>
                </a:r>
                <a:r>
                  <a:rPr lang="en-US" altLang="zh-CN" sz="1800" dirty="0"/>
                  <a:t>into:</a:t>
                </a:r>
              </a:p>
              <a:p>
                <a:pPr marL="0" indent="0">
                  <a:spcBef>
                    <a:spcPts val="600"/>
                  </a:spcBef>
                  <a:buNone/>
                </a:pPr>
                <a:r>
                  <a:rPr lang="en-US" altLang="zh-CN" sz="1800" dirty="0"/>
                  <a:t>      </a:t>
                </a:r>
                <a:r>
                  <a:rPr lang="en-US" altLang="zh-CN" sz="1600" b="1" dirty="0"/>
                  <a:t>instructor</a:t>
                </a:r>
                <a:r>
                  <a:rPr lang="en-US" altLang="zh-CN" sz="1600" dirty="0"/>
                  <a:t>(ID, name, salary, </a:t>
                </a:r>
                <a:r>
                  <a:rPr lang="en-US" altLang="zh-CN" sz="1600" dirty="0" err="1"/>
                  <a:t>dept_name</a:t>
                </a:r>
                <a:r>
                  <a:rPr lang="en-US" altLang="zh-CN" sz="1600" dirty="0"/>
                  <a:t>)</a:t>
                </a:r>
              </a:p>
              <a:p>
                <a:pPr marL="0" indent="0">
                  <a:spcBef>
                    <a:spcPts val="600"/>
                  </a:spcBef>
                  <a:buNone/>
                </a:pPr>
                <a:r>
                  <a:rPr lang="en-US" altLang="zh-CN" sz="1600" dirty="0"/>
                  <a:t>       </a:t>
                </a:r>
                <a:r>
                  <a:rPr lang="en-US" altLang="zh-CN" sz="1600" b="1" dirty="0"/>
                  <a:t>department</a:t>
                </a:r>
                <a:r>
                  <a:rPr lang="en-US" altLang="zh-CN" sz="1600" dirty="0"/>
                  <a:t>(</a:t>
                </a:r>
                <a:r>
                  <a:rPr lang="en-US" altLang="zh-CN" sz="1600" dirty="0" err="1"/>
                  <a:t>dept_name</a:t>
                </a:r>
                <a:r>
                  <a:rPr lang="en-US" altLang="zh-CN" sz="1600" dirty="0"/>
                  <a:t>, building, budget)</a:t>
                </a:r>
              </a:p>
              <a:p>
                <a:pPr marL="0" indent="0">
                  <a:spcBef>
                    <a:spcPts val="600"/>
                  </a:spcBef>
                  <a:buNone/>
                </a:pPr>
                <a:endParaRPr lang="en-US" altLang="zh-CN" sz="1400" i="1" dirty="0"/>
              </a:p>
              <a:p>
                <a:pPr>
                  <a:spcBef>
                    <a:spcPts val="600"/>
                  </a:spcBef>
                </a:pPr>
                <a:r>
                  <a:rPr lang="en-US" altLang="zh-CN" sz="1800" dirty="0"/>
                  <a:t>All attributes of an original schema </a:t>
                </a:r>
                <a14:m>
                  <m:oMath xmlns:m="http://schemas.openxmlformats.org/officeDocument/2006/math">
                    <m:r>
                      <a:rPr lang="en-US" altLang="zh-CN" sz="1800" b="0" i="1" dirty="0" smtClean="0">
                        <a:latin typeface="Cambria Math" panose="02040503050406030204" pitchFamily="18" charset="0"/>
                      </a:rPr>
                      <m:t>𝑅</m:t>
                    </m:r>
                  </m:oMath>
                </a14:m>
                <a:r>
                  <a:rPr lang="en-US" altLang="zh-CN" sz="1800" dirty="0"/>
                  <a:t> must appear in the decomposition </a:t>
                </a:r>
                <a14:m>
                  <m:oMath xmlns:m="http://schemas.openxmlformats.org/officeDocument/2006/math">
                    <m:r>
                      <a:rPr lang="en-US" altLang="zh-CN" sz="1800" i="1" dirty="0">
                        <a:latin typeface="Cambria Math" panose="02040503050406030204" pitchFamily="18" charset="0"/>
                      </a:rPr>
                      <m:t>(</m:t>
                    </m:r>
                    <m:sSub>
                      <m:sSubPr>
                        <m:ctrlPr>
                          <a:rPr lang="en-US" altLang="zh-CN" sz="1800" i="1" dirty="0" smtClean="0">
                            <a:latin typeface="Cambria Math" panose="02040503050406030204" pitchFamily="18" charset="0"/>
                          </a:rPr>
                        </m:ctrlPr>
                      </m:sSubPr>
                      <m:e>
                        <m:r>
                          <a:rPr lang="en-US" altLang="zh-CN" sz="1800" b="0" i="1" dirty="0" smtClean="0">
                            <a:latin typeface="Cambria Math" panose="02040503050406030204" pitchFamily="18" charset="0"/>
                          </a:rPr>
                          <m:t>𝑅</m:t>
                        </m:r>
                      </m:e>
                      <m:sub>
                        <m:r>
                          <a:rPr lang="en-US" altLang="zh-CN" sz="1800" b="0" i="1" dirty="0" smtClean="0">
                            <a:latin typeface="Cambria Math" panose="02040503050406030204" pitchFamily="18" charset="0"/>
                          </a:rPr>
                          <m:t>1</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𝑅</m:t>
                        </m:r>
                      </m:e>
                      <m:sub>
                        <m:r>
                          <a:rPr lang="en-US" altLang="zh-CN" sz="1800" b="0" i="1" dirty="0" smtClean="0">
                            <a:latin typeface="Cambria Math" panose="02040503050406030204" pitchFamily="18" charset="0"/>
                          </a:rPr>
                          <m:t>2</m:t>
                        </m:r>
                      </m:sub>
                    </m:sSub>
                    <m:r>
                      <a:rPr lang="en-US" altLang="zh-CN" sz="1800" i="1" dirty="0">
                        <a:latin typeface="Cambria Math" panose="02040503050406030204" pitchFamily="18" charset="0"/>
                      </a:rPr>
                      <m:t>)</m:t>
                    </m:r>
                  </m:oMath>
                </a14:m>
                <a:r>
                  <a:rPr lang="en-US" altLang="zh-CN" sz="1800" dirty="0"/>
                  <a:t>:</a:t>
                </a:r>
              </a:p>
              <a:p>
                <a:pPr marL="0" indent="0">
                  <a:spcBef>
                    <a:spcPts val="600"/>
                  </a:spcBef>
                  <a:buNone/>
                </a:pPr>
                <a:r>
                  <a:rPr lang="en-US" altLang="zh-CN" sz="1800" dirty="0"/>
                  <a:t>	</a:t>
                </a:r>
                <a14:m>
                  <m:oMath xmlns:m="http://schemas.openxmlformats.org/officeDocument/2006/math">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𝑅</m:t>
                        </m:r>
                      </m:e>
                      <m:sub>
                        <m:r>
                          <a:rPr lang="en-US" altLang="zh-CN" sz="1800" i="1" dirty="0">
                            <a:latin typeface="Cambria Math" panose="02040503050406030204" pitchFamily="18" charset="0"/>
                          </a:rPr>
                          <m:t>1</m:t>
                        </m:r>
                      </m:sub>
                    </m:sSub>
                    <m:r>
                      <a:rPr lang="en-US" altLang="zh-CN" sz="1800" i="1" dirty="0" smtClean="0">
                        <a:latin typeface="Cambria Math" panose="02040503050406030204" pitchFamily="18" charset="0"/>
                        <a:ea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𝑅</m:t>
                        </m:r>
                      </m:e>
                      <m:sub>
                        <m:r>
                          <a:rPr lang="en-US" altLang="zh-CN" sz="1800" i="1" dirty="0">
                            <a:latin typeface="Cambria Math" panose="02040503050406030204" pitchFamily="18" charset="0"/>
                          </a:rPr>
                          <m:t>2</m:t>
                        </m:r>
                      </m:sub>
                    </m:sSub>
                  </m:oMath>
                </a14:m>
                <a:endParaRPr lang="en-US" altLang="zh-CN" sz="1800" dirty="0"/>
              </a:p>
              <a:p>
                <a:pPr>
                  <a:spcBef>
                    <a:spcPts val="600"/>
                  </a:spcBef>
                </a:pPr>
                <a:r>
                  <a:rPr lang="en-US" altLang="zh-CN" sz="1800" b="1" dirty="0"/>
                  <a:t>Lossless-join decomposition (</a:t>
                </a:r>
                <a:r>
                  <a:rPr lang="zh-CN" altLang="en-US" sz="1800" b="1" dirty="0"/>
                  <a:t>无损连接分解</a:t>
                </a:r>
                <a:r>
                  <a:rPr lang="en-US" altLang="zh-CN" sz="1800" b="1" dirty="0"/>
                  <a:t>)</a:t>
                </a:r>
              </a:p>
              <a:p>
                <a:pPr lvl="1">
                  <a:spcBef>
                    <a:spcPts val="600"/>
                  </a:spcBef>
                </a:pPr>
                <a:r>
                  <a:rPr lang="en-US" altLang="zh-CN" sz="1600" dirty="0"/>
                  <a:t>For all possible relations </a:t>
                </a:r>
                <a14:m>
                  <m:oMath xmlns:m="http://schemas.openxmlformats.org/officeDocument/2006/math">
                    <m:r>
                      <a:rPr lang="en-US" altLang="zh-CN" sz="1600" i="1">
                        <a:latin typeface="Cambria Math" panose="02040503050406030204" pitchFamily="18" charset="0"/>
                      </a:rPr>
                      <m:t>𝑟</m:t>
                    </m:r>
                  </m:oMath>
                </a14:m>
                <a:r>
                  <a:rPr lang="en-US" altLang="zh-CN" sz="1600" dirty="0"/>
                  <a:t> on schema </a:t>
                </a:r>
                <a14:m>
                  <m:oMath xmlns:m="http://schemas.openxmlformats.org/officeDocument/2006/math">
                    <m:r>
                      <a:rPr lang="en-US" altLang="zh-CN" sz="1600" b="0" i="1" smtClean="0">
                        <a:latin typeface="Cambria Math" panose="02040503050406030204" pitchFamily="18" charset="0"/>
                      </a:rPr>
                      <m:t>𝑅</m:t>
                    </m:r>
                  </m:oMath>
                </a14:m>
                <a:r>
                  <a:rPr lang="en-US" altLang="zh-CN" sz="1600" dirty="0"/>
                  <a:t>: </a:t>
                </a:r>
                <a14:m>
                  <m:oMath xmlns:m="http://schemas.openxmlformats.org/officeDocument/2006/math">
                    <m:r>
                      <a:rPr lang="en-US" altLang="zh-CN" sz="1600" b="0" i="1" smtClean="0">
                        <a:latin typeface="Cambria Math" panose="02040503050406030204" pitchFamily="18" charset="0"/>
                      </a:rPr>
                      <m:t>𝑟</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sty m:val="p"/>
                          </m:rPr>
                          <a:rPr lang="el-GR" altLang="zh-CN" sz="1600" b="0" i="1" smtClean="0">
                            <a:latin typeface="Cambria Math" panose="02040503050406030204" pitchFamily="18" charset="0"/>
                            <a:ea typeface="Cambria Math" panose="02040503050406030204" pitchFamily="18" charset="0"/>
                          </a:rPr>
                          <m:t>Π</m:t>
                        </m:r>
                      </m:e>
                      <m:sub>
                        <m:r>
                          <a:rPr lang="en-US" altLang="zh-CN" sz="1600" b="0" i="1" smtClean="0">
                            <a:latin typeface="Cambria Math" panose="02040503050406030204" pitchFamily="18" charset="0"/>
                          </a:rPr>
                          <m:t>𝑅</m:t>
                        </m:r>
                        <m:r>
                          <a:rPr lang="en-US" altLang="zh-CN" sz="1600" b="0" i="1" baseline="-25000" smtClean="0">
                            <a:latin typeface="Cambria Math" panose="02040503050406030204" pitchFamily="18" charset="0"/>
                          </a:rPr>
                          <m:t>1</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𝑟</m:t>
                    </m:r>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m:rPr>
                            <m:sty m:val="p"/>
                          </m:rPr>
                          <a:rPr lang="el-GR" altLang="zh-CN" sz="1600" i="1">
                            <a:latin typeface="Cambria Math" panose="02040503050406030204" pitchFamily="18" charset="0"/>
                            <a:ea typeface="Cambria Math" panose="02040503050406030204" pitchFamily="18" charset="0"/>
                          </a:rPr>
                          <m:t>Π</m:t>
                        </m:r>
                      </m:e>
                      <m:sub>
                        <m:r>
                          <a:rPr lang="en-US" altLang="zh-CN" sz="1600" i="1">
                            <a:latin typeface="Cambria Math" panose="02040503050406030204" pitchFamily="18" charset="0"/>
                          </a:rPr>
                          <m:t>𝑅</m:t>
                        </m:r>
                        <m:r>
                          <a:rPr lang="en-US" altLang="zh-CN" sz="1600" b="0" i="1" baseline="-25000" smtClean="0">
                            <a:latin typeface="Cambria Math" panose="02040503050406030204" pitchFamily="18" charset="0"/>
                          </a:rPr>
                          <m:t>2</m:t>
                        </m:r>
                      </m:sub>
                    </m:sSub>
                    <m:r>
                      <a:rPr lang="en-US" altLang="zh-CN" sz="1600" i="1">
                        <a:latin typeface="Cambria Math" panose="02040503050406030204" pitchFamily="18" charset="0"/>
                      </a:rPr>
                      <m:t>(</m:t>
                    </m:r>
                    <m:r>
                      <a:rPr lang="en-US" altLang="zh-CN" sz="1600" i="1">
                        <a:latin typeface="Cambria Math" panose="02040503050406030204" pitchFamily="18" charset="0"/>
                      </a:rPr>
                      <m:t>𝑟</m:t>
                    </m:r>
                    <m:r>
                      <a:rPr lang="en-US" altLang="zh-CN" sz="1600" i="1">
                        <a:latin typeface="Cambria Math" panose="02040503050406030204" pitchFamily="18" charset="0"/>
                      </a:rPr>
                      <m:t>)</m:t>
                    </m:r>
                  </m:oMath>
                </a14:m>
                <a:endParaRPr lang="en-US" altLang="zh-CN" sz="1600" dirty="0"/>
              </a:p>
            </p:txBody>
          </p:sp>
        </mc:Choice>
        <mc:Fallback xmlns="">
          <p:sp>
            <p:nvSpPr>
              <p:cNvPr id="3" name="内容占位符 2">
                <a:extLst>
                  <a:ext uri="{FF2B5EF4-FFF2-40B4-BE49-F238E27FC236}">
                    <a16:creationId xmlns:a16="http://schemas.microsoft.com/office/drawing/2014/main" id="{D9E833FA-A211-47E2-AD5C-9DD3E2A5970B}"/>
                  </a:ext>
                </a:extLst>
              </p:cNvPr>
              <p:cNvSpPr>
                <a:spLocks noGrp="1" noRot="1" noChangeAspect="1" noMove="1" noResize="1" noEditPoints="1" noAdjustHandles="1" noChangeArrowheads="1" noChangeShapeType="1" noTextEdit="1"/>
              </p:cNvSpPr>
              <p:nvPr>
                <p:ph idx="1"/>
              </p:nvPr>
            </p:nvSpPr>
            <p:spPr>
              <a:xfrm>
                <a:off x="234278" y="789553"/>
                <a:ext cx="8802218" cy="3805070"/>
              </a:xfrm>
              <a:blipFill>
                <a:blip r:embed="rId2"/>
                <a:stretch>
                  <a:fillRect l="-416"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293514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 calcmode="lin" valueType="num">
                                      <p:cBhvr additive="base">
                                        <p:cTn id="1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C2773-1FFB-4E25-8839-44E44BA6C9DD}"/>
              </a:ext>
            </a:extLst>
          </p:cNvPr>
          <p:cNvSpPr>
            <a:spLocks noGrp="1"/>
          </p:cNvSpPr>
          <p:nvPr>
            <p:ph type="title"/>
          </p:nvPr>
        </p:nvSpPr>
        <p:spPr/>
        <p:txBody>
          <a:bodyPr/>
          <a:lstStyle/>
          <a:p>
            <a:pPr algn="ctr"/>
            <a:r>
              <a:rPr lang="en-US" altLang="zh-CN" dirty="0"/>
              <a:t>Lossy-join Decomposition </a:t>
            </a:r>
            <a:endParaRPr lang="zh-CN" altLang="en-US" dirty="0"/>
          </a:p>
        </p:txBody>
      </p:sp>
      <p:sp>
        <p:nvSpPr>
          <p:cNvPr id="3" name="内容占位符 2">
            <a:extLst>
              <a:ext uri="{FF2B5EF4-FFF2-40B4-BE49-F238E27FC236}">
                <a16:creationId xmlns:a16="http://schemas.microsoft.com/office/drawing/2014/main" id="{2637397D-10B8-4752-8117-0B95B657FDC0}"/>
              </a:ext>
            </a:extLst>
          </p:cNvPr>
          <p:cNvSpPr>
            <a:spLocks noGrp="1"/>
          </p:cNvSpPr>
          <p:nvPr>
            <p:ph idx="1"/>
          </p:nvPr>
        </p:nvSpPr>
        <p:spPr/>
        <p:txBody>
          <a:bodyPr/>
          <a:lstStyle/>
          <a:p>
            <a:r>
              <a:rPr lang="en-US" altLang="zh-CN" sz="2000" b="1" dirty="0"/>
              <a:t>Decomposition of R = (A, B, C)</a:t>
            </a:r>
          </a:p>
          <a:p>
            <a:pPr lvl="1"/>
            <a:r>
              <a:rPr lang="pt-BR" altLang="zh-CN" sz="1800" dirty="0"/>
              <a:t>R</a:t>
            </a:r>
            <a:r>
              <a:rPr lang="pt-BR" altLang="zh-CN" sz="1800" baseline="-25000" dirty="0"/>
              <a:t>1</a:t>
            </a:r>
            <a:r>
              <a:rPr lang="pt-BR" altLang="zh-CN" sz="1800" dirty="0"/>
              <a:t> = (A,C), R</a:t>
            </a:r>
            <a:r>
              <a:rPr lang="pt-BR" altLang="zh-CN" sz="1800" baseline="-25000" dirty="0"/>
              <a:t>2</a:t>
            </a:r>
            <a:r>
              <a:rPr lang="pt-BR" altLang="zh-CN" sz="1800" dirty="0"/>
              <a:t> = (B,C) </a:t>
            </a:r>
            <a:br>
              <a:rPr lang="en-US" altLang="zh-CN" sz="1800" dirty="0"/>
            </a:br>
            <a:endParaRPr lang="zh-CN" altLang="en-US" sz="1800" dirty="0"/>
          </a:p>
        </p:txBody>
      </p:sp>
      <p:graphicFrame>
        <p:nvGraphicFramePr>
          <p:cNvPr id="4" name="表格 3">
            <a:extLst>
              <a:ext uri="{FF2B5EF4-FFF2-40B4-BE49-F238E27FC236}">
                <a16:creationId xmlns:a16="http://schemas.microsoft.com/office/drawing/2014/main" id="{59265602-0DE7-4D7E-8BF7-BF19E14D3490}"/>
              </a:ext>
            </a:extLst>
          </p:cNvPr>
          <p:cNvGraphicFramePr>
            <a:graphicFrameLocks noGrp="1"/>
          </p:cNvGraphicFramePr>
          <p:nvPr>
            <p:extLst/>
          </p:nvPr>
        </p:nvGraphicFramePr>
        <p:xfrm>
          <a:off x="1400555" y="1981061"/>
          <a:ext cx="965597" cy="1127760"/>
        </p:xfrm>
        <a:graphic>
          <a:graphicData uri="http://schemas.openxmlformats.org/drawingml/2006/table">
            <a:tbl>
              <a:tblPr/>
              <a:tblGrid>
                <a:gridCol w="321469">
                  <a:extLst>
                    <a:ext uri="{9D8B030D-6E8A-4147-A177-3AD203B41FA5}">
                      <a16:colId xmlns:a16="http://schemas.microsoft.com/office/drawing/2014/main" val="20000"/>
                    </a:ext>
                  </a:extLst>
                </a:gridCol>
                <a:gridCol w="322659">
                  <a:extLst>
                    <a:ext uri="{9D8B030D-6E8A-4147-A177-3AD203B41FA5}">
                      <a16:colId xmlns:a16="http://schemas.microsoft.com/office/drawing/2014/main" val="20001"/>
                    </a:ext>
                  </a:extLst>
                </a:gridCol>
                <a:gridCol w="321469">
                  <a:extLst>
                    <a:ext uri="{9D8B030D-6E8A-4147-A177-3AD203B41FA5}">
                      <a16:colId xmlns:a16="http://schemas.microsoft.com/office/drawing/2014/main" val="20002"/>
                    </a:ext>
                  </a:extLst>
                </a:gridCol>
              </a:tblGrid>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A</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C</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rPr>
                        <a:t>1</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extLst>
                  <a:ext uri="{0D108BD9-81ED-4DB2-BD59-A6C34878D82A}">
                    <a16:rowId xmlns:a16="http://schemas.microsoft.com/office/drawing/2014/main" val="10001"/>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extLst>
                  <a:ext uri="{0D108BD9-81ED-4DB2-BD59-A6C34878D82A}">
                    <a16:rowId xmlns:a16="http://schemas.microsoft.com/office/drawing/2014/main" val="10002"/>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rPr>
                        <a:t>1</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dirty="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extLst>
                  <a:ext uri="{0D108BD9-81ED-4DB2-BD59-A6C34878D82A}">
                    <a16:rowId xmlns:a16="http://schemas.microsoft.com/office/drawing/2014/main" val="10003"/>
                  </a:ext>
                </a:extLst>
              </a:tr>
            </a:tbl>
          </a:graphicData>
        </a:graphic>
      </p:graphicFrame>
      <p:graphicFrame>
        <p:nvGraphicFramePr>
          <p:cNvPr id="5" name="表格 4">
            <a:extLst>
              <a:ext uri="{FF2B5EF4-FFF2-40B4-BE49-F238E27FC236}">
                <a16:creationId xmlns:a16="http://schemas.microsoft.com/office/drawing/2014/main" id="{B43025B9-98B7-4C4C-9F58-F2AEE5F383ED}"/>
              </a:ext>
            </a:extLst>
          </p:cNvPr>
          <p:cNvGraphicFramePr>
            <a:graphicFrameLocks noGrp="1"/>
          </p:cNvGraphicFramePr>
          <p:nvPr>
            <p:extLst/>
          </p:nvPr>
        </p:nvGraphicFramePr>
        <p:xfrm>
          <a:off x="3915898" y="2050177"/>
          <a:ext cx="667941" cy="845820"/>
        </p:xfrm>
        <a:graphic>
          <a:graphicData uri="http://schemas.openxmlformats.org/drawingml/2006/table">
            <a:tbl>
              <a:tblPr/>
              <a:tblGrid>
                <a:gridCol w="333375">
                  <a:extLst>
                    <a:ext uri="{9D8B030D-6E8A-4147-A177-3AD203B41FA5}">
                      <a16:colId xmlns:a16="http://schemas.microsoft.com/office/drawing/2014/main" val="20000"/>
                    </a:ext>
                  </a:extLst>
                </a:gridCol>
                <a:gridCol w="334566">
                  <a:extLst>
                    <a:ext uri="{9D8B030D-6E8A-4147-A177-3AD203B41FA5}">
                      <a16:colId xmlns:a16="http://schemas.microsoft.com/office/drawing/2014/main" val="20001"/>
                    </a:ext>
                  </a:extLst>
                </a:gridCol>
              </a:tblGrid>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A</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C</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extLst>
                  <a:ext uri="{0D108BD9-81ED-4DB2-BD59-A6C34878D82A}">
                    <a16:rowId xmlns:a16="http://schemas.microsoft.com/office/drawing/2014/main" val="10001"/>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extLst>
                  <a:ext uri="{0D108BD9-81ED-4DB2-BD59-A6C34878D82A}">
                    <a16:rowId xmlns:a16="http://schemas.microsoft.com/office/drawing/2014/main" val="10002"/>
                  </a:ext>
                </a:extLst>
              </a:tr>
            </a:tbl>
          </a:graphicData>
        </a:graphic>
      </p:graphicFrame>
      <p:graphicFrame>
        <p:nvGraphicFramePr>
          <p:cNvPr id="6" name="表格 5">
            <a:extLst>
              <a:ext uri="{FF2B5EF4-FFF2-40B4-BE49-F238E27FC236}">
                <a16:creationId xmlns:a16="http://schemas.microsoft.com/office/drawing/2014/main" id="{340DB12A-CE85-4389-BC06-C28B531238A1}"/>
              </a:ext>
            </a:extLst>
          </p:cNvPr>
          <p:cNvGraphicFramePr>
            <a:graphicFrameLocks noGrp="1"/>
          </p:cNvGraphicFramePr>
          <p:nvPr>
            <p:extLst/>
          </p:nvPr>
        </p:nvGraphicFramePr>
        <p:xfrm>
          <a:off x="4923616" y="2055093"/>
          <a:ext cx="669131" cy="845820"/>
        </p:xfrm>
        <a:graphic>
          <a:graphicData uri="http://schemas.openxmlformats.org/drawingml/2006/table">
            <a:tbl>
              <a:tblPr/>
              <a:tblGrid>
                <a:gridCol w="334566">
                  <a:extLst>
                    <a:ext uri="{9D8B030D-6E8A-4147-A177-3AD203B41FA5}">
                      <a16:colId xmlns:a16="http://schemas.microsoft.com/office/drawing/2014/main" val="20000"/>
                    </a:ext>
                  </a:extLst>
                </a:gridCol>
                <a:gridCol w="334565">
                  <a:extLst>
                    <a:ext uri="{9D8B030D-6E8A-4147-A177-3AD203B41FA5}">
                      <a16:colId xmlns:a16="http://schemas.microsoft.com/office/drawing/2014/main" val="20001"/>
                    </a:ext>
                  </a:extLst>
                </a:gridCol>
              </a:tblGrid>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C</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1</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extLst>
                  <a:ext uri="{0D108BD9-81ED-4DB2-BD59-A6C34878D82A}">
                    <a16:rowId xmlns:a16="http://schemas.microsoft.com/office/drawing/2014/main" val="10001"/>
                  </a:ext>
                </a:extLst>
              </a:tr>
              <a:tr h="2786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2</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extLst>
                  <a:ext uri="{0D108BD9-81ED-4DB2-BD59-A6C34878D82A}">
                    <a16:rowId xmlns:a16="http://schemas.microsoft.com/office/drawing/2014/main" val="10002"/>
                  </a:ext>
                </a:extLst>
              </a:tr>
            </a:tbl>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F0D2496-9DF8-47A2-B479-26D6B7380C96}"/>
                  </a:ext>
                </a:extLst>
              </p:cNvPr>
              <p:cNvSpPr txBox="1"/>
              <p:nvPr/>
            </p:nvSpPr>
            <p:spPr>
              <a:xfrm>
                <a:off x="1559318" y="1687909"/>
                <a:ext cx="64807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𝑟</m:t>
                      </m:r>
                    </m:oMath>
                  </m:oMathPara>
                </a14:m>
                <a:endParaRPr lang="zh-CN" altLang="en-US" dirty="0"/>
              </a:p>
            </p:txBody>
          </p:sp>
        </mc:Choice>
        <mc:Fallback xmlns="">
          <p:sp>
            <p:nvSpPr>
              <p:cNvPr id="7" name="文本框 6">
                <a:extLst>
                  <a:ext uri="{FF2B5EF4-FFF2-40B4-BE49-F238E27FC236}">
                    <a16:creationId xmlns:a16="http://schemas.microsoft.com/office/drawing/2014/main" id="{5F0D2496-9DF8-47A2-B479-26D6B7380C96}"/>
                  </a:ext>
                </a:extLst>
              </p:cNvPr>
              <p:cNvSpPr txBox="1">
                <a:spLocks noRot="1" noChangeAspect="1" noMove="1" noResize="1" noEditPoints="1" noAdjustHandles="1" noChangeArrowheads="1" noChangeShapeType="1" noTextEdit="1"/>
              </p:cNvSpPr>
              <p:nvPr/>
            </p:nvSpPr>
            <p:spPr>
              <a:xfrm>
                <a:off x="1559318" y="1687909"/>
                <a:ext cx="648072" cy="30777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B3F69F45-2DB4-4A81-92FA-B4DEE6FCFE2E}"/>
                  </a:ext>
                </a:extLst>
              </p:cNvPr>
              <p:cNvSpPr txBox="1"/>
              <p:nvPr/>
            </p:nvSpPr>
            <p:spPr>
              <a:xfrm>
                <a:off x="3851920" y="1733733"/>
                <a:ext cx="648072" cy="317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Π</m:t>
                          </m:r>
                        </m:e>
                        <m:sub>
                          <m:r>
                            <a:rPr lang="en-US" altLang="zh-CN" b="0" i="1" smtClean="0">
                              <a:latin typeface="Cambria Math" panose="02040503050406030204" pitchFamily="18" charset="0"/>
                            </a:rPr>
                            <m:t>𝐴</m:t>
                          </m:r>
                          <m:r>
                            <a:rPr lang="en-US" altLang="zh-CN" b="0" i="1" smtClean="0">
                              <a:latin typeface="Cambria Math" panose="02040503050406030204" pitchFamily="18" charset="0"/>
                            </a:rPr>
                            <m:t>,</m:t>
                          </m:r>
                          <m:r>
                            <a:rPr lang="en-US" altLang="zh-CN" b="0" i="1" smtClean="0">
                              <a:latin typeface="Cambria Math" panose="02040503050406030204" pitchFamily="18" charset="0"/>
                            </a:rPr>
                            <m:t>𝐶</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m:oMathPara>
                </a14:m>
                <a:endParaRPr lang="zh-CN" altLang="en-US" dirty="0"/>
              </a:p>
            </p:txBody>
          </p:sp>
        </mc:Choice>
        <mc:Fallback xmlns="">
          <p:sp>
            <p:nvSpPr>
              <p:cNvPr id="8" name="文本框 7">
                <a:extLst>
                  <a:ext uri="{FF2B5EF4-FFF2-40B4-BE49-F238E27FC236}">
                    <a16:creationId xmlns:a16="http://schemas.microsoft.com/office/drawing/2014/main" id="{B3F69F45-2DB4-4A81-92FA-B4DEE6FCFE2E}"/>
                  </a:ext>
                </a:extLst>
              </p:cNvPr>
              <p:cNvSpPr txBox="1">
                <a:spLocks noRot="1" noChangeAspect="1" noMove="1" noResize="1" noEditPoints="1" noAdjustHandles="1" noChangeArrowheads="1" noChangeShapeType="1" noTextEdit="1"/>
              </p:cNvSpPr>
              <p:nvPr/>
            </p:nvSpPr>
            <p:spPr>
              <a:xfrm>
                <a:off x="3851920" y="1733733"/>
                <a:ext cx="648072" cy="317203"/>
              </a:xfrm>
              <a:prstGeom prst="rect">
                <a:avLst/>
              </a:prstGeom>
              <a:blipFill>
                <a:blip r:embed="rId3"/>
                <a:stretch>
                  <a:fillRect r="-12264"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A32C0A1-A357-4CDC-9411-F1ECDD149F31}"/>
                  </a:ext>
                </a:extLst>
              </p:cNvPr>
              <p:cNvSpPr txBox="1"/>
              <p:nvPr/>
            </p:nvSpPr>
            <p:spPr>
              <a:xfrm>
                <a:off x="4923616" y="1733733"/>
                <a:ext cx="648072" cy="3172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m:rPr>
                              <m:sty m:val="p"/>
                            </m:rPr>
                            <a:rPr lang="el-GR" altLang="zh-CN" b="0" i="1" smtClean="0">
                              <a:latin typeface="Cambria Math" panose="02040503050406030204" pitchFamily="18" charset="0"/>
                              <a:ea typeface="Cambria Math" panose="02040503050406030204" pitchFamily="18" charset="0"/>
                            </a:rPr>
                            <m:t>Π</m:t>
                          </m:r>
                        </m:e>
                        <m:sub>
                          <m:r>
                            <a:rPr lang="en-US" altLang="zh-CN" b="0" i="1" smtClean="0">
                              <a:latin typeface="Cambria Math" panose="02040503050406030204" pitchFamily="18" charset="0"/>
                            </a:rPr>
                            <m:t>𝐵</m:t>
                          </m:r>
                          <m:r>
                            <a:rPr lang="en-US" altLang="zh-CN" b="0" i="1" smtClean="0">
                              <a:latin typeface="Cambria Math" panose="02040503050406030204" pitchFamily="18" charset="0"/>
                            </a:rPr>
                            <m:t>,</m:t>
                          </m:r>
                          <m:r>
                            <a:rPr lang="en-US" altLang="zh-CN" b="0" i="1" smtClean="0">
                              <a:latin typeface="Cambria Math" panose="02040503050406030204" pitchFamily="18" charset="0"/>
                            </a:rPr>
                            <m:t>𝐶</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𝑟</m:t>
                      </m:r>
                      <m:r>
                        <a:rPr lang="en-US" altLang="zh-CN" b="0" i="1" smtClean="0">
                          <a:latin typeface="Cambria Math" panose="02040503050406030204" pitchFamily="18" charset="0"/>
                        </a:rPr>
                        <m:t>)</m:t>
                      </m:r>
                    </m:oMath>
                  </m:oMathPara>
                </a14:m>
                <a:endParaRPr lang="zh-CN" altLang="en-US" dirty="0"/>
              </a:p>
            </p:txBody>
          </p:sp>
        </mc:Choice>
        <mc:Fallback xmlns="">
          <p:sp>
            <p:nvSpPr>
              <p:cNvPr id="9" name="文本框 8">
                <a:extLst>
                  <a:ext uri="{FF2B5EF4-FFF2-40B4-BE49-F238E27FC236}">
                    <a16:creationId xmlns:a16="http://schemas.microsoft.com/office/drawing/2014/main" id="{DA32C0A1-A357-4CDC-9411-F1ECDD149F31}"/>
                  </a:ext>
                </a:extLst>
              </p:cNvPr>
              <p:cNvSpPr txBox="1">
                <a:spLocks noRot="1" noChangeAspect="1" noMove="1" noResize="1" noEditPoints="1" noAdjustHandles="1" noChangeArrowheads="1" noChangeShapeType="1" noTextEdit="1"/>
              </p:cNvSpPr>
              <p:nvPr/>
            </p:nvSpPr>
            <p:spPr>
              <a:xfrm>
                <a:off x="4923616" y="1733733"/>
                <a:ext cx="648072" cy="317203"/>
              </a:xfrm>
              <a:prstGeom prst="rect">
                <a:avLst/>
              </a:prstGeom>
              <a:blipFill>
                <a:blip r:embed="rId4"/>
                <a:stretch>
                  <a:fillRect r="-14151" b="-5769"/>
                </a:stretch>
              </a:blipFill>
            </p:spPr>
            <p:txBody>
              <a:bodyPr/>
              <a:lstStyle/>
              <a:p>
                <a:r>
                  <a:rPr lang="zh-CN" altLang="en-US">
                    <a:noFill/>
                  </a:rPr>
                  <a:t> </a:t>
                </a:r>
              </a:p>
            </p:txBody>
          </p:sp>
        </mc:Fallback>
      </mc:AlternateContent>
      <p:graphicFrame>
        <p:nvGraphicFramePr>
          <p:cNvPr id="10" name="表格 9">
            <a:extLst>
              <a:ext uri="{FF2B5EF4-FFF2-40B4-BE49-F238E27FC236}">
                <a16:creationId xmlns:a16="http://schemas.microsoft.com/office/drawing/2014/main" id="{054C8443-12CC-485A-A73F-590FB30CDD4B}"/>
              </a:ext>
            </a:extLst>
          </p:cNvPr>
          <p:cNvGraphicFramePr>
            <a:graphicFrameLocks noGrp="1"/>
          </p:cNvGraphicFramePr>
          <p:nvPr>
            <p:extLst/>
          </p:nvPr>
        </p:nvGraphicFramePr>
        <p:xfrm>
          <a:off x="2987824" y="3642549"/>
          <a:ext cx="973931" cy="1422795"/>
        </p:xfrm>
        <a:graphic>
          <a:graphicData uri="http://schemas.openxmlformats.org/drawingml/2006/table">
            <a:tbl>
              <a:tblPr/>
              <a:tblGrid>
                <a:gridCol w="325041">
                  <a:extLst>
                    <a:ext uri="{9D8B030D-6E8A-4147-A177-3AD203B41FA5}">
                      <a16:colId xmlns:a16="http://schemas.microsoft.com/office/drawing/2014/main" val="20000"/>
                    </a:ext>
                  </a:extLst>
                </a:gridCol>
                <a:gridCol w="323850">
                  <a:extLst>
                    <a:ext uri="{9D8B030D-6E8A-4147-A177-3AD203B41FA5}">
                      <a16:colId xmlns:a16="http://schemas.microsoft.com/office/drawing/2014/main" val="20001"/>
                    </a:ext>
                  </a:extLst>
                </a:gridCol>
                <a:gridCol w="325040">
                  <a:extLst>
                    <a:ext uri="{9D8B030D-6E8A-4147-A177-3AD203B41FA5}">
                      <a16:colId xmlns:a16="http://schemas.microsoft.com/office/drawing/2014/main" val="20002"/>
                    </a:ext>
                  </a:extLst>
                </a:gridCol>
              </a:tblGrid>
              <a:tr h="284559">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A</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B</a:t>
                      </a:r>
                      <a:endParaRPr kumimoji="0" lang="zh-CN" altLang="en-US" sz="14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C</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38100" cap="flat" cmpd="sng" algn="ctr">
                      <a:solidFill>
                        <a:srgbClr val="CCECFF"/>
                      </a:solidFill>
                      <a:prstDash val="solid"/>
                      <a:round/>
                      <a:headEnd type="none" w="med" len="med"/>
                      <a:tailEnd type="none" w="med" len="med"/>
                    </a:lnB>
                    <a:lnTlToBr>
                      <a:noFill/>
                    </a:lnTlToBr>
                    <a:lnBlToTr>
                      <a:noFill/>
                    </a:lnBlToTr>
                    <a:solidFill>
                      <a:srgbClr val="FFCCCC"/>
                    </a:solidFill>
                  </a:tcPr>
                </a:tc>
                <a:extLst>
                  <a:ext uri="{0D108BD9-81ED-4DB2-BD59-A6C34878D82A}">
                    <a16:rowId xmlns:a16="http://schemas.microsoft.com/office/drawing/2014/main" val="10000"/>
                  </a:ext>
                </a:extLst>
              </a:tr>
              <a:tr h="284559">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rPr>
                        <a:t>1</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381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extLst>
                  <a:ext uri="{0D108BD9-81ED-4DB2-BD59-A6C34878D82A}">
                    <a16:rowId xmlns:a16="http://schemas.microsoft.com/office/drawing/2014/main" val="10001"/>
                  </a:ext>
                </a:extLst>
              </a:tr>
              <a:tr h="284559">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2</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extLst>
                  <a:ext uri="{0D108BD9-81ED-4DB2-BD59-A6C34878D82A}">
                    <a16:rowId xmlns:a16="http://schemas.microsoft.com/office/drawing/2014/main" val="10002"/>
                  </a:ext>
                </a:extLst>
              </a:tr>
              <a:tr h="284559">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sym typeface="Greek Symbols" pitchFamily="18" charset="2"/>
                        </a:rPr>
                        <a:t>1</a:t>
                      </a:r>
                      <a:endParaRPr kumimoji="0" lang="zh-CN" altLang="en-US" sz="14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ECEC"/>
                    </a:solidFill>
                  </a:tcPr>
                </a:tc>
                <a:extLst>
                  <a:ext uri="{0D108BD9-81ED-4DB2-BD59-A6C34878D82A}">
                    <a16:rowId xmlns:a16="http://schemas.microsoft.com/office/drawing/2014/main" val="10003"/>
                  </a:ext>
                </a:extLst>
              </a:tr>
              <a:tr h="284559">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400" b="1" i="1" u="none" strike="noStrike" cap="none" normalizeH="0" baseline="0">
                          <a:ln>
                            <a:noFill/>
                          </a:ln>
                          <a:solidFill>
                            <a:srgbClr val="FF0000"/>
                          </a:solidFill>
                          <a:effectLst/>
                          <a:latin typeface="Comic Sans MS" panose="030F0702030302020204" pitchFamily="66" charset="0"/>
                          <a:ea typeface="宋体" panose="02010600030101010101" pitchFamily="2" charset="-122"/>
                          <a:sym typeface="Symbol" panose="05050102010706020507" pitchFamily="18" charset="2"/>
                        </a:rPr>
                        <a:t></a:t>
                      </a:r>
                      <a:endParaRPr kumimoji="0" lang="zh-CN" altLang="en-US" sz="1400" b="1" i="1" u="none" strike="noStrike" cap="none" normalizeH="0" baseline="0">
                        <a:ln>
                          <a:noFill/>
                        </a:ln>
                        <a:solidFill>
                          <a:srgbClr val="FF0000"/>
                        </a:solidFill>
                        <a:effectLst/>
                        <a:latin typeface="Comic Sans MS" panose="030F0702030302020204" pitchFamily="66" charset="0"/>
                        <a:ea typeface="宋体" panose="02010600030101010101" pitchFamily="2" charset="-122"/>
                        <a:sym typeface="Greek Symbols" pitchFamily="18" charset="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sym typeface="Greek Symbols" pitchFamily="18" charset="2"/>
                        </a:rPr>
                        <a:t>2</a:t>
                      </a:r>
                      <a:endParaRPr kumimoji="0" lang="zh-CN" altLang="en-US" sz="1400" b="1" i="0" u="none" strike="noStrike" cap="none" normalizeH="0" baseline="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a:ln>
                            <a:noFill/>
                          </a:ln>
                          <a:solidFill>
                            <a:srgbClr val="FF0000"/>
                          </a:solidFill>
                          <a:effectLst/>
                          <a:latin typeface="Comic Sans MS" panose="030F0702030302020204" pitchFamily="66" charset="0"/>
                          <a:ea typeface="宋体" panose="02010600030101010101" pitchFamily="2" charset="-122"/>
                        </a:rPr>
                        <a:t>1</a:t>
                      </a:r>
                      <a:endParaRPr kumimoji="0" lang="zh-CN" altLang="en-US" sz="1400" b="1" i="0" u="none" strike="noStrike" cap="none" normalizeH="0" baseline="0" dirty="0">
                        <a:ln>
                          <a:noFill/>
                        </a:ln>
                        <a:solidFill>
                          <a:srgbClr val="FF0000"/>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CCECFF"/>
                      </a:solidFill>
                      <a:prstDash val="solid"/>
                      <a:round/>
                      <a:headEnd type="none" w="med" len="med"/>
                      <a:tailEnd type="none" w="med" len="med"/>
                    </a:lnL>
                    <a:lnR w="12700" cap="flat" cmpd="sng" algn="ctr">
                      <a:solidFill>
                        <a:srgbClr val="CCECFF"/>
                      </a:solidFill>
                      <a:prstDash val="solid"/>
                      <a:round/>
                      <a:headEnd type="none" w="med" len="med"/>
                      <a:tailEnd type="none" w="med" len="med"/>
                    </a:lnR>
                    <a:lnT w="12700" cap="flat" cmpd="sng" algn="ctr">
                      <a:solidFill>
                        <a:srgbClr val="CCECFF"/>
                      </a:solidFill>
                      <a:prstDash val="solid"/>
                      <a:round/>
                      <a:headEnd type="none" w="med" len="med"/>
                      <a:tailEnd type="none" w="med" len="med"/>
                    </a:lnT>
                    <a:lnB w="12700" cap="flat" cmpd="sng" algn="ctr">
                      <a:solidFill>
                        <a:srgbClr val="CCECFF"/>
                      </a:solidFill>
                      <a:prstDash val="solid"/>
                      <a:round/>
                      <a:headEnd type="none" w="med" len="med"/>
                      <a:tailEnd type="none" w="med" len="med"/>
                    </a:lnB>
                    <a:lnTlToBr>
                      <a:noFill/>
                    </a:lnTlToBr>
                    <a:lnBlToTr>
                      <a:noFill/>
                    </a:lnBlToTr>
                    <a:solidFill>
                      <a:srgbClr val="FFF6F6"/>
                    </a:solidFill>
                  </a:tcPr>
                </a:tc>
                <a:extLst>
                  <a:ext uri="{0D108BD9-81ED-4DB2-BD59-A6C34878D82A}">
                    <a16:rowId xmlns:a16="http://schemas.microsoft.com/office/drawing/2014/main" val="10004"/>
                  </a:ext>
                </a:extLst>
              </a:tr>
            </a:tbl>
          </a:graphicData>
        </a:graphic>
      </p:graphicFrame>
      <p:sp>
        <p:nvSpPr>
          <p:cNvPr id="11" name="Rounded Rectangle 27">
            <a:extLst>
              <a:ext uri="{FF2B5EF4-FFF2-40B4-BE49-F238E27FC236}">
                <a16:creationId xmlns:a16="http://schemas.microsoft.com/office/drawing/2014/main" id="{2C65C845-6116-4A9A-B4C0-1A518DD64158}"/>
              </a:ext>
            </a:extLst>
          </p:cNvPr>
          <p:cNvSpPr>
            <a:spLocks noChangeArrowheads="1"/>
          </p:cNvSpPr>
          <p:nvPr/>
        </p:nvSpPr>
        <p:spPr bwMode="auto">
          <a:xfrm>
            <a:off x="2910434" y="4817696"/>
            <a:ext cx="1120378" cy="229791"/>
          </a:xfrm>
          <a:prstGeom prst="roundRect">
            <a:avLst>
              <a:gd name="adj" fmla="val 16667"/>
            </a:avLst>
          </a:prstGeom>
          <a:noFill/>
          <a:ln w="9525" algn="ctr">
            <a:solidFill>
              <a:srgbClr val="CC0099"/>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endParaRPr kumimoji="0" lang="zh-CN" altLang="en-US" sz="1350">
              <a:solidFill>
                <a:srgbClr val="000000"/>
              </a:solidFill>
              <a:latin typeface="Helvetica" panose="020B0604020202020204" pitchFamily="34" charset="0"/>
              <a:ea typeface="宋体" panose="02010600030101010101" pitchFamily="2" charset="-122"/>
            </a:endParaRPr>
          </a:p>
        </p:txBody>
      </p:sp>
      <p:grpSp>
        <p:nvGrpSpPr>
          <p:cNvPr id="12" name="Group 23">
            <a:extLst>
              <a:ext uri="{FF2B5EF4-FFF2-40B4-BE49-F238E27FC236}">
                <a16:creationId xmlns:a16="http://schemas.microsoft.com/office/drawing/2014/main" id="{10AD3CF9-02E3-462E-9625-5C796FAED93C}"/>
              </a:ext>
            </a:extLst>
          </p:cNvPr>
          <p:cNvGrpSpPr>
            <a:grpSpLocks/>
          </p:cNvGrpSpPr>
          <p:nvPr/>
        </p:nvGrpSpPr>
        <p:grpSpPr bwMode="auto">
          <a:xfrm>
            <a:off x="4007338" y="4123500"/>
            <a:ext cx="2233613" cy="434579"/>
            <a:chOff x="212" y="2862"/>
            <a:chExt cx="1876" cy="365"/>
          </a:xfrm>
        </p:grpSpPr>
        <p:sp>
          <p:nvSpPr>
            <p:cNvPr id="13" name="Rectangle 15">
              <a:extLst>
                <a:ext uri="{FF2B5EF4-FFF2-40B4-BE49-F238E27FC236}">
                  <a16:creationId xmlns:a16="http://schemas.microsoft.com/office/drawing/2014/main" id="{799196CD-3401-4172-8CA3-AEE3D6E3F576}"/>
                </a:ext>
              </a:extLst>
            </p:cNvPr>
            <p:cNvSpPr>
              <a:spLocks noChangeArrowheads="1"/>
            </p:cNvSpPr>
            <p:nvPr/>
          </p:nvSpPr>
          <p:spPr bwMode="auto">
            <a:xfrm>
              <a:off x="212" y="2862"/>
              <a:ext cx="1876"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FF0000"/>
                </a:buClr>
                <a:buSzPct val="80000"/>
                <a:buFont typeface="Wingdings" panose="05000000000000000000" pitchFamily="2" charset="2"/>
                <a:buChar char="p"/>
                <a:tabLst>
                  <a:tab pos="2336800" algn="l"/>
                  <a:tab pos="3765550" algn="l"/>
                </a:tabLst>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tabLst>
                  <a:tab pos="2336800" algn="l"/>
                  <a:tab pos="3765550" algn="l"/>
                </a:tabLst>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tabLst>
                  <a:tab pos="2336800" algn="l"/>
                  <a:tab pos="3765550" algn="l"/>
                </a:tabLst>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tabLst>
                  <a:tab pos="2336800" algn="l"/>
                  <a:tab pos="3765550" algn="l"/>
                </a:tabLst>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tabLst>
                  <a:tab pos="2336800" algn="l"/>
                  <a:tab pos="3765550" algn="l"/>
                </a:tabLst>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tabLst>
                  <a:tab pos="2336800" algn="l"/>
                  <a:tab pos="3765550" algn="l"/>
                </a:tabLst>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tabLst>
                  <a:tab pos="2336800" algn="l"/>
                  <a:tab pos="3765550" algn="l"/>
                </a:tabLst>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tabLst>
                  <a:tab pos="2336800" algn="l"/>
                  <a:tab pos="3765550" algn="l"/>
                </a:tabLst>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tabLst>
                  <a:tab pos="2336800" algn="l"/>
                  <a:tab pos="3765550" algn="l"/>
                </a:tabLst>
                <a:defRPr kumimoji="1" sz="2000">
                  <a:solidFill>
                    <a:schemeClr val="tx1"/>
                  </a:solidFill>
                  <a:latin typeface="Comic Sans MS" panose="030F0702030302020204" pitchFamily="66" charset="0"/>
                </a:defRPr>
              </a:lvl9pPr>
            </a:lstStyle>
            <a:p>
              <a:pPr marL="257175" indent="-257175" defTabSz="685800" eaLnBrk="0" hangingPunct="0">
                <a:buClr>
                  <a:srgbClr val="CC3300"/>
                </a:buClr>
                <a:buSzTx/>
                <a:buNone/>
                <a:tabLst>
                  <a:tab pos="1752600" algn="l"/>
                  <a:tab pos="2824163" algn="l"/>
                </a:tabLst>
              </a:pPr>
              <a:r>
                <a:rPr lang="zh-CN" altLang="en-US" sz="1500" b="1" dirty="0">
                  <a:solidFill>
                    <a:srgbClr val="000000"/>
                  </a:solidFill>
                  <a:latin typeface="Helvetica" panose="020B0604020202020204" pitchFamily="34" charset="0"/>
                  <a:ea typeface="宋体" panose="02010600030101010101" pitchFamily="2" charset="-122"/>
                  <a:sym typeface="Symbol" panose="05050102010706020507" pitchFamily="18" charset="2"/>
                </a:rPr>
                <a:t>  </a:t>
              </a:r>
              <a:r>
                <a:rPr lang="en-US" altLang="zh-CN" sz="1500" b="1" baseline="-25000" dirty="0">
                  <a:solidFill>
                    <a:srgbClr val="000000"/>
                  </a:solidFill>
                  <a:latin typeface="Helvetica" panose="020B0604020202020204" pitchFamily="34" charset="0"/>
                  <a:ea typeface="宋体" panose="02010600030101010101" pitchFamily="2" charset="-122"/>
                  <a:sym typeface="Symbol" panose="05050102010706020507" pitchFamily="18" charset="2"/>
                </a:rPr>
                <a:t>A, </a:t>
              </a:r>
              <a:r>
                <a:rPr lang="en-US" altLang="zh-CN" sz="1500" b="1" baseline="-25000" dirty="0">
                  <a:solidFill>
                    <a:srgbClr val="FF0000"/>
                  </a:solidFill>
                  <a:latin typeface="Helvetica" panose="020B0604020202020204" pitchFamily="34" charset="0"/>
                  <a:ea typeface="宋体" panose="02010600030101010101" pitchFamily="2" charset="-122"/>
                  <a:sym typeface="Symbol" panose="05050102010706020507" pitchFamily="18" charset="2"/>
                </a:rPr>
                <a:t>C</a:t>
              </a:r>
              <a:r>
                <a:rPr lang="en-US" altLang="zh-CN" sz="1500" b="1" dirty="0">
                  <a:solidFill>
                    <a:srgbClr val="000000"/>
                  </a:solidFill>
                  <a:latin typeface="Helvetica" panose="020B0604020202020204" pitchFamily="34" charset="0"/>
                  <a:ea typeface="宋体" panose="02010600030101010101" pitchFamily="2" charset="-122"/>
                  <a:sym typeface="Symbol" panose="05050102010706020507" pitchFamily="18" charset="2"/>
                </a:rPr>
                <a:t> (r)      </a:t>
              </a:r>
              <a:r>
                <a:rPr lang="en-US" altLang="zh-CN" sz="1500" b="1" baseline="-25000" dirty="0">
                  <a:solidFill>
                    <a:srgbClr val="000000"/>
                  </a:solidFill>
                  <a:latin typeface="Helvetica" panose="020B0604020202020204" pitchFamily="34" charset="0"/>
                  <a:ea typeface="宋体" panose="02010600030101010101" pitchFamily="2" charset="-122"/>
                  <a:sym typeface="Symbol" panose="05050102010706020507" pitchFamily="18" charset="2"/>
                </a:rPr>
                <a:t>B, </a:t>
              </a:r>
              <a:r>
                <a:rPr lang="en-US" altLang="zh-CN" sz="1500" b="1" baseline="-25000" dirty="0">
                  <a:solidFill>
                    <a:srgbClr val="FF0000"/>
                  </a:solidFill>
                  <a:latin typeface="Helvetica" panose="020B0604020202020204" pitchFamily="34" charset="0"/>
                  <a:ea typeface="宋体" panose="02010600030101010101" pitchFamily="2" charset="-122"/>
                  <a:sym typeface="Symbol" panose="05050102010706020507" pitchFamily="18" charset="2"/>
                </a:rPr>
                <a:t>C</a:t>
              </a:r>
              <a:r>
                <a:rPr lang="en-US" altLang="zh-CN" sz="1500" b="1" dirty="0">
                  <a:solidFill>
                    <a:srgbClr val="000000"/>
                  </a:solidFill>
                  <a:latin typeface="Helvetica" panose="020B0604020202020204" pitchFamily="34" charset="0"/>
                  <a:ea typeface="宋体" panose="02010600030101010101" pitchFamily="2" charset="-122"/>
                  <a:sym typeface="Symbol" panose="05050102010706020507" pitchFamily="18" charset="2"/>
                </a:rPr>
                <a:t> (r) </a:t>
              </a:r>
              <a:endParaRPr lang="en-US" altLang="zh-CN" sz="1800" b="1" dirty="0">
                <a:solidFill>
                  <a:srgbClr val="FF0000"/>
                </a:solidFill>
                <a:latin typeface="Helvetica" panose="020B0604020202020204" pitchFamily="34" charset="0"/>
                <a:ea typeface="宋体" panose="02010600030101010101" pitchFamily="2" charset="-122"/>
                <a:sym typeface="Symbol" panose="05050102010706020507" pitchFamily="18" charset="2"/>
              </a:endParaRPr>
            </a:p>
          </p:txBody>
        </p:sp>
        <p:sp>
          <p:nvSpPr>
            <p:cNvPr id="14" name="Freeform 22">
              <a:extLst>
                <a:ext uri="{FF2B5EF4-FFF2-40B4-BE49-F238E27FC236}">
                  <a16:creationId xmlns:a16="http://schemas.microsoft.com/office/drawing/2014/main" id="{75B92FD3-2D29-4DE7-BCE0-5C9EEF3DFE5F}"/>
                </a:ext>
              </a:extLst>
            </p:cNvPr>
            <p:cNvSpPr>
              <a:spLocks/>
            </p:cNvSpPr>
            <p:nvPr/>
          </p:nvSpPr>
          <p:spPr bwMode="auto">
            <a:xfrm>
              <a:off x="1049" y="2978"/>
              <a:ext cx="90" cy="90"/>
            </a:xfrm>
            <a:custGeom>
              <a:avLst/>
              <a:gdLst>
                <a:gd name="T0" fmla="*/ 0 w 182"/>
                <a:gd name="T1" fmla="*/ 0 h 182"/>
                <a:gd name="T2" fmla="*/ 0 w 182"/>
                <a:gd name="T3" fmla="*/ 0 h 182"/>
                <a:gd name="T4" fmla="*/ 0 w 182"/>
                <a:gd name="T5" fmla="*/ 0 h 182"/>
                <a:gd name="T6" fmla="*/ 0 w 182"/>
                <a:gd name="T7" fmla="*/ 0 h 182"/>
                <a:gd name="T8" fmla="*/ 0 w 182"/>
                <a:gd name="T9" fmla="*/ 0 h 182"/>
                <a:gd name="T10" fmla="*/ 0 60000 65536"/>
                <a:gd name="T11" fmla="*/ 0 60000 65536"/>
                <a:gd name="T12" fmla="*/ 0 60000 65536"/>
                <a:gd name="T13" fmla="*/ 0 60000 65536"/>
                <a:gd name="T14" fmla="*/ 0 60000 65536"/>
                <a:gd name="T15" fmla="*/ 0 w 182"/>
                <a:gd name="T16" fmla="*/ 0 h 182"/>
                <a:gd name="T17" fmla="*/ 182 w 182"/>
                <a:gd name="T18" fmla="*/ 182 h 182"/>
              </a:gdLst>
              <a:ahLst/>
              <a:cxnLst>
                <a:cxn ang="T10">
                  <a:pos x="T0" y="T1"/>
                </a:cxn>
                <a:cxn ang="T11">
                  <a:pos x="T2" y="T3"/>
                </a:cxn>
                <a:cxn ang="T12">
                  <a:pos x="T4" y="T5"/>
                </a:cxn>
                <a:cxn ang="T13">
                  <a:pos x="T6" y="T7"/>
                </a:cxn>
                <a:cxn ang="T14">
                  <a:pos x="T8" y="T9"/>
                </a:cxn>
              </a:cxnLst>
              <a:rect l="T15" t="T16" r="T17" b="T18"/>
              <a:pathLst>
                <a:path w="182" h="182">
                  <a:moveTo>
                    <a:pt x="0" y="0"/>
                  </a:moveTo>
                  <a:lnTo>
                    <a:pt x="0" y="182"/>
                  </a:lnTo>
                  <a:lnTo>
                    <a:pt x="182" y="0"/>
                  </a:lnTo>
                  <a:lnTo>
                    <a:pt x="182" y="182"/>
                  </a:lnTo>
                  <a:lnTo>
                    <a:pt x="0"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defTabSz="685800" eaLnBrk="0" hangingPunct="0">
                <a:spcBef>
                  <a:spcPct val="0"/>
                </a:spcBef>
                <a:defRPr/>
              </a:pPr>
              <a:endParaRPr lang="zh-CN" altLang="en-US" sz="1350" b="1">
                <a:solidFill>
                  <a:srgbClr val="000000"/>
                </a:solidFill>
                <a:latin typeface="Helvetica" panose="020B0604020202020204" pitchFamily="34" charset="0"/>
                <a:ea typeface="+mn-ea"/>
              </a:endParaRPr>
            </a:p>
          </p:txBody>
        </p:sp>
      </p:grpSp>
      <p:sp>
        <p:nvSpPr>
          <p:cNvPr id="15" name="不等号 14">
            <a:extLst>
              <a:ext uri="{FF2B5EF4-FFF2-40B4-BE49-F238E27FC236}">
                <a16:creationId xmlns:a16="http://schemas.microsoft.com/office/drawing/2014/main" id="{62FFA17E-3246-413A-A1C5-99BF87EDFD82}"/>
              </a:ext>
            </a:extLst>
          </p:cNvPr>
          <p:cNvSpPr/>
          <p:nvPr/>
        </p:nvSpPr>
        <p:spPr>
          <a:xfrm rot="2629609">
            <a:off x="2393959" y="3174392"/>
            <a:ext cx="602581" cy="367566"/>
          </a:xfrm>
          <a:prstGeom prst="mathNotEqual">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6007924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additive="base">
                                        <p:cTn id="17" dur="500" fill="hold"/>
                                        <p:tgtEl>
                                          <p:spTgt spid="15"/>
                                        </p:tgtEl>
                                        <p:attrNameLst>
                                          <p:attrName>ppt_x</p:attrName>
                                        </p:attrNameLst>
                                      </p:cBhvr>
                                      <p:tavLst>
                                        <p:tav tm="0">
                                          <p:val>
                                            <p:strVal val="#ppt_x"/>
                                          </p:val>
                                        </p:tav>
                                        <p:tav tm="100000">
                                          <p:val>
                                            <p:strVal val="#ppt_x"/>
                                          </p:val>
                                        </p:tav>
                                      </p:tavLst>
                                    </p:anim>
                                    <p:anim calcmode="lin" valueType="num">
                                      <p:cBhvr additive="base">
                                        <p:cTn id="1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843558"/>
            <a:ext cx="8568952" cy="3600400"/>
          </a:xfrm>
        </p:spPr>
        <p:txBody>
          <a:bodyPr/>
          <a:lstStyle/>
          <a:p>
            <a:pPr>
              <a:spcBef>
                <a:spcPts val="400"/>
              </a:spcBef>
            </a:pPr>
            <a:r>
              <a:rPr lang="en-US" altLang="zh-CN" sz="2000" b="1" dirty="0"/>
              <a:t>Features of Good Relational Designs</a:t>
            </a:r>
          </a:p>
          <a:p>
            <a:pPr>
              <a:spcBef>
                <a:spcPts val="400"/>
              </a:spcBef>
            </a:pPr>
            <a:r>
              <a:rPr lang="en-US" altLang="zh-CN" sz="2000" b="1" dirty="0">
                <a:solidFill>
                  <a:srgbClr val="C00000"/>
                </a:solidFill>
              </a:rPr>
              <a:t>Functional Dependency/</a:t>
            </a:r>
            <a:r>
              <a:rPr lang="zh-CN" altLang="en-US" sz="2000" b="1" dirty="0">
                <a:solidFill>
                  <a:srgbClr val="C00000"/>
                </a:solidFill>
              </a:rPr>
              <a:t>函数依赖</a:t>
            </a:r>
            <a:endParaRPr lang="en-US" altLang="zh-CN" sz="2000" b="1" dirty="0">
              <a:solidFill>
                <a:srgbClr val="C00000"/>
              </a:solidFill>
            </a:endParaRPr>
          </a:p>
          <a:p>
            <a:pPr lvl="1">
              <a:spcBef>
                <a:spcPts val="400"/>
              </a:spcBef>
            </a:pPr>
            <a:r>
              <a:rPr lang="en-US" altLang="zh-CN" sz="1800" dirty="0"/>
              <a:t>Decomposition using functional dependency</a:t>
            </a:r>
          </a:p>
          <a:p>
            <a:pPr lvl="1">
              <a:spcBef>
                <a:spcPts val="400"/>
              </a:spcBef>
            </a:pPr>
            <a:r>
              <a:rPr lang="en-US" altLang="zh-CN" sz="1800" dirty="0">
                <a:solidFill>
                  <a:srgbClr val="C00000"/>
                </a:solidFill>
              </a:rPr>
              <a:t>Closure of functional dependency</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b="1" dirty="0"/>
              <a:t>Normalization &amp; Normal Forms (</a:t>
            </a:r>
            <a:r>
              <a:rPr lang="zh-CN" altLang="en-US" sz="2000" b="1" dirty="0"/>
              <a:t>范式</a:t>
            </a:r>
            <a:r>
              <a:rPr lang="en-US" altLang="zh-CN" sz="2000" b="1" dirty="0"/>
              <a:t>)</a:t>
            </a:r>
          </a:p>
          <a:p>
            <a:pPr>
              <a:spcBef>
                <a:spcPts val="400"/>
              </a:spcBef>
            </a:pPr>
            <a:r>
              <a:rPr lang="en-US" altLang="zh-CN" sz="2000" b="1" dirty="0"/>
              <a:t>Multivalued Dependencies</a:t>
            </a:r>
            <a:r>
              <a:rPr lang="zh-CN" altLang="en-US" sz="2000" b="1" dirty="0"/>
              <a:t>*</a:t>
            </a:r>
            <a:endParaRPr lang="en-US" altLang="zh-CN" sz="2000" b="1" dirty="0"/>
          </a:p>
          <a:p>
            <a:pPr>
              <a:spcBef>
                <a:spcPts val="400"/>
              </a:spcBef>
            </a:pPr>
            <a:r>
              <a:rPr lang="en-US" altLang="zh-CN" sz="2000" b="1" dirty="0"/>
              <a:t>Database Design Process</a:t>
            </a:r>
          </a:p>
        </p:txBody>
      </p:sp>
    </p:spTree>
    <p:extLst>
      <p:ext uri="{BB962C8B-B14F-4D97-AF65-F5344CB8AC3E}">
        <p14:creationId xmlns:p14="http://schemas.microsoft.com/office/powerpoint/2010/main" val="351311212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EF0DA0-39E8-4A72-96EF-4035CEE8D99E}"/>
              </a:ext>
            </a:extLst>
          </p:cNvPr>
          <p:cNvSpPr>
            <a:spLocks noGrp="1"/>
          </p:cNvSpPr>
          <p:nvPr>
            <p:ph type="title"/>
          </p:nvPr>
        </p:nvSpPr>
        <p:spPr/>
        <p:txBody>
          <a:bodyPr/>
          <a:lstStyle/>
          <a:p>
            <a:pPr algn="ctr"/>
            <a:r>
              <a:rPr lang="en-US" altLang="zh-CN" dirty="0"/>
              <a:t>Closure of a Set of Functional Dependencies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7EF5F99-3C18-4B04-9FF1-34530D5870BC}"/>
                  </a:ext>
                </a:extLst>
              </p:cNvPr>
              <p:cNvSpPr>
                <a:spLocks noGrp="1"/>
              </p:cNvSpPr>
              <p:nvPr>
                <p:ph idx="1"/>
              </p:nvPr>
            </p:nvSpPr>
            <p:spPr>
              <a:xfrm>
                <a:off x="251520" y="789553"/>
                <a:ext cx="8424936" cy="3805070"/>
              </a:xfrm>
            </p:spPr>
            <p:txBody>
              <a:bodyPr/>
              <a:lstStyle/>
              <a:p>
                <a:r>
                  <a:rPr lang="en-US" altLang="zh-CN" sz="1800" dirty="0"/>
                  <a:t>Given a set </a:t>
                </a:r>
                <a14:m>
                  <m:oMath xmlns:m="http://schemas.openxmlformats.org/officeDocument/2006/math">
                    <m:r>
                      <a:rPr lang="en-US" altLang="zh-CN" sz="1800" b="0" i="1" dirty="0" smtClean="0">
                        <a:latin typeface="Cambria Math" panose="02040503050406030204" pitchFamily="18" charset="0"/>
                      </a:rPr>
                      <m:t>𝐹</m:t>
                    </m:r>
                  </m:oMath>
                </a14:m>
                <a:r>
                  <a:rPr lang="en-US" altLang="zh-CN" sz="1800" dirty="0"/>
                  <a:t> of FDs, there are some other FDs that are logically implied (</a:t>
                </a:r>
                <a:r>
                  <a:rPr lang="zh-CN" altLang="en-US" sz="1800" dirty="0"/>
                  <a:t>逻辑蕴涵</a:t>
                </a:r>
                <a:r>
                  <a:rPr lang="en-US" altLang="zh-CN" sz="1800" dirty="0"/>
                  <a:t>) by </a:t>
                </a:r>
                <a14:m>
                  <m:oMath xmlns:m="http://schemas.openxmlformats.org/officeDocument/2006/math">
                    <m:r>
                      <a:rPr lang="en-US" altLang="zh-CN" sz="1800" b="0" i="1" smtClean="0">
                        <a:latin typeface="Cambria Math" panose="02040503050406030204" pitchFamily="18" charset="0"/>
                      </a:rPr>
                      <m:t>𝐹</m:t>
                    </m:r>
                  </m:oMath>
                </a14:m>
                <a:endParaRPr lang="en-US" altLang="zh-CN" sz="1800" dirty="0"/>
              </a:p>
              <a:p>
                <a:pPr lvl="1"/>
                <a:r>
                  <a:rPr lang="en-US" altLang="zh-CN" sz="1600" dirty="0"/>
                  <a:t>e.g., if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𝐵</m:t>
                    </m:r>
                  </m:oMath>
                </a14:m>
                <a:r>
                  <a:rPr lang="en-US" altLang="zh-CN" sz="1600" dirty="0"/>
                  <a:t> and </a:t>
                </a:r>
                <a14:m>
                  <m:oMath xmlns:m="http://schemas.openxmlformats.org/officeDocument/2006/math">
                    <m:r>
                      <a:rPr lang="en-US" altLang="zh-CN" sz="1600" b="0" i="1" smtClean="0">
                        <a:latin typeface="Cambria Math" panose="02040503050406030204" pitchFamily="18" charset="0"/>
                      </a:rPr>
                      <m:t>𝐵</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𝐶</m:t>
                    </m:r>
                  </m:oMath>
                </a14:m>
                <a:r>
                  <a:rPr lang="en-US" altLang="zh-CN" sz="1600" dirty="0"/>
                  <a:t>, then we can infer that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𝐶</m:t>
                    </m:r>
                  </m:oMath>
                </a14:m>
                <a:endParaRPr lang="en-US" altLang="zh-CN" sz="1600" dirty="0"/>
              </a:p>
              <a:p>
                <a:pPr lvl="1"/>
                <a:r>
                  <a:rPr lang="en-US" altLang="zh-CN" sz="1600" dirty="0"/>
                  <a:t>the set of all FDs logically implied by </a:t>
                </a:r>
                <a14:m>
                  <m:oMath xmlns:m="http://schemas.openxmlformats.org/officeDocument/2006/math">
                    <m:r>
                      <a:rPr lang="en-US" altLang="zh-CN" sz="1600" b="0" i="1" smtClean="0">
                        <a:latin typeface="Cambria Math" panose="02040503050406030204" pitchFamily="18" charset="0"/>
                      </a:rPr>
                      <m:t>𝐹</m:t>
                    </m:r>
                  </m:oMath>
                </a14:m>
                <a:r>
                  <a:rPr lang="en-US" altLang="zh-CN" sz="1600" dirty="0"/>
                  <a:t> is the </a:t>
                </a:r>
                <a:r>
                  <a:rPr lang="en-US" altLang="zh-CN" sz="1600" b="1" dirty="0">
                    <a:solidFill>
                      <a:srgbClr val="C00000"/>
                    </a:solidFill>
                  </a:rPr>
                  <a:t>closure(</a:t>
                </a:r>
                <a:r>
                  <a:rPr lang="zh-CN" altLang="en-US" sz="1600" b="1" dirty="0">
                    <a:solidFill>
                      <a:srgbClr val="C00000"/>
                    </a:solidFill>
                  </a:rPr>
                  <a:t>闭包</a:t>
                </a:r>
                <a:r>
                  <a:rPr lang="en-US" altLang="zh-CN" sz="1600" b="1" dirty="0">
                    <a:solidFill>
                      <a:srgbClr val="C00000"/>
                    </a:solidFill>
                  </a:rPr>
                  <a:t>) </a:t>
                </a:r>
                <a:r>
                  <a:rPr lang="en-US" altLang="zh-CN" sz="1600" dirty="0"/>
                  <a:t>of </a:t>
                </a:r>
                <a14:m>
                  <m:oMath xmlns:m="http://schemas.openxmlformats.org/officeDocument/2006/math">
                    <m:r>
                      <a:rPr lang="en-US" altLang="zh-CN" sz="1600" b="0" i="1" smtClean="0">
                        <a:latin typeface="Cambria Math" panose="02040503050406030204" pitchFamily="18" charset="0"/>
                      </a:rPr>
                      <m:t>𝐹</m:t>
                    </m:r>
                  </m:oMath>
                </a14:m>
                <a:endParaRPr lang="en-US" altLang="zh-CN" sz="1600" dirty="0"/>
              </a:p>
              <a:p>
                <a:pPr lvl="1"/>
                <a:r>
                  <a:rPr lang="en-US" altLang="zh-CN" sz="1600" dirty="0"/>
                  <a:t>we denote the closure of </a:t>
                </a:r>
                <a14:m>
                  <m:oMath xmlns:m="http://schemas.openxmlformats.org/officeDocument/2006/math">
                    <m:r>
                      <a:rPr lang="en-US" altLang="zh-CN" sz="1600" b="0" i="1" smtClean="0">
                        <a:latin typeface="Cambria Math" panose="02040503050406030204" pitchFamily="18" charset="0"/>
                      </a:rPr>
                      <m:t>𝐹</m:t>
                    </m:r>
                  </m:oMath>
                </a14:m>
                <a:r>
                  <a:rPr lang="en-US" altLang="zh-CN" sz="1600" dirty="0"/>
                  <a:t> by </a:t>
                </a: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b="0" i="1" smtClean="0">
                            <a:latin typeface="Cambria Math" panose="02040503050406030204" pitchFamily="18" charset="0"/>
                          </a:rPr>
                          <m:t>+</m:t>
                        </m:r>
                      </m:sup>
                    </m:sSup>
                  </m:oMath>
                </a14:m>
                <a:endParaRPr lang="en-US" altLang="zh-CN" sz="1400" dirty="0"/>
              </a:p>
              <a:p>
                <a:r>
                  <a:rPr lang="en-US" altLang="zh-CN" sz="1800" dirty="0"/>
                  <a:t>Can find </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𝐹</m:t>
                        </m:r>
                      </m:e>
                      <m:sup>
                        <m:r>
                          <a:rPr lang="en-US" altLang="zh-CN" sz="1800" i="1">
                            <a:latin typeface="Cambria Math" panose="02040503050406030204" pitchFamily="18" charset="0"/>
                          </a:rPr>
                          <m:t>+</m:t>
                        </m:r>
                      </m:sup>
                    </m:sSup>
                  </m:oMath>
                </a14:m>
                <a:r>
                  <a:rPr lang="en-US" altLang="zh-CN" sz="1800" dirty="0"/>
                  <a:t> by applying Armstrong’s Axiom</a:t>
                </a:r>
                <a:r>
                  <a:rPr lang="zh-CN" altLang="en-US" sz="1800" dirty="0"/>
                  <a:t>（公理）</a:t>
                </a:r>
                <a:r>
                  <a:rPr lang="en-US" altLang="zh-CN" sz="1800" dirty="0"/>
                  <a:t>:</a:t>
                </a:r>
              </a:p>
              <a:p>
                <a:pPr lvl="1"/>
                <a:r>
                  <a:rPr lang="en-US" altLang="zh-CN" sz="1600" dirty="0"/>
                  <a:t>if </a:t>
                </a:r>
                <a14:m>
                  <m:oMath xmlns:m="http://schemas.openxmlformats.org/officeDocument/2006/math">
                    <m:r>
                      <a:rPr lang="zh-CN" altLang="en-US" sz="1600" i="1" smtClean="0">
                        <a:latin typeface="Cambria Math" panose="02040503050406030204" pitchFamily="18" charset="0"/>
                      </a:rPr>
                      <m:t>𝛽</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𝛼</m:t>
                    </m:r>
                  </m:oMath>
                </a14:m>
                <a:r>
                  <a:rPr lang="en-US" altLang="zh-CN" sz="1600" dirty="0"/>
                  <a:t>, then </a:t>
                </a:r>
                <a14:m>
                  <m:oMath xmlns:m="http://schemas.openxmlformats.org/officeDocument/2006/math">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oMath>
                </a14:m>
                <a:r>
                  <a:rPr lang="en-US" altLang="zh-CN" sz="1600" dirty="0"/>
                  <a:t>     (reflexivity:</a:t>
                </a:r>
                <a:r>
                  <a:rPr lang="zh-CN" altLang="en-US" sz="1600" dirty="0"/>
                  <a:t>自反律</a:t>
                </a:r>
                <a:r>
                  <a:rPr lang="en-US" altLang="zh-CN" sz="1600" dirty="0"/>
                  <a:t>)</a:t>
                </a:r>
              </a:p>
              <a:p>
                <a:pPr lvl="1"/>
                <a:r>
                  <a:rPr lang="en-US" altLang="zh-CN" sz="1600" dirty="0"/>
                  <a:t>if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m:t>
                    </m:r>
                  </m:oMath>
                </a14:m>
                <a:r>
                  <a:rPr lang="en-US" altLang="zh-CN" sz="1600" dirty="0"/>
                  <a:t>, then </a:t>
                </a:r>
                <a14:m>
                  <m:oMath xmlns:m="http://schemas.openxmlformats.org/officeDocument/2006/math">
                    <m:r>
                      <m:rPr>
                        <m:sty m:val="p"/>
                      </m:rPr>
                      <a:rPr lang="el-GR" altLang="zh-CN" sz="1600" i="1" smtClean="0">
                        <a:latin typeface="Cambria Math" panose="02040503050406030204" pitchFamily="18" charset="0"/>
                        <a:ea typeface="Cambria Math" panose="02040503050406030204" pitchFamily="18" charset="0"/>
                      </a:rPr>
                      <m:t>γ</m:t>
                    </m:r>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smtClean="0">
                        <a:latin typeface="Cambria Math" panose="02040503050406030204" pitchFamily="18" charset="0"/>
                      </a:rPr>
                      <m:t>𝛾</m:t>
                    </m:r>
                    <m:r>
                      <a:rPr lang="zh-CN" altLang="en-US" sz="1600" i="1">
                        <a:latin typeface="Cambria Math" panose="02040503050406030204" pitchFamily="18" charset="0"/>
                      </a:rPr>
                      <m:t>𝛽</m:t>
                    </m:r>
                  </m:oMath>
                </a14:m>
                <a:r>
                  <a:rPr lang="en-US" altLang="zh-CN" sz="1600" dirty="0"/>
                  <a:t>    (augmentation:</a:t>
                </a:r>
                <a:r>
                  <a:rPr lang="zh-CN" altLang="en-US" sz="1600" dirty="0"/>
                  <a:t>增广律</a:t>
                </a:r>
                <a:r>
                  <a:rPr lang="en-US" altLang="zh-CN" sz="1600" dirty="0"/>
                  <a:t>)</a:t>
                </a:r>
              </a:p>
              <a:p>
                <a:pPr lvl="1"/>
                <a:r>
                  <a:rPr lang="en-US" altLang="zh-CN" sz="1600" dirty="0"/>
                  <a:t>if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m:t>
                    </m:r>
                  </m:oMath>
                </a14:m>
                <a:r>
                  <a:rPr lang="en-US" altLang="zh-CN" sz="1600" dirty="0"/>
                  <a:t>, and </a:t>
                </a:r>
                <a14:m>
                  <m:oMath xmlns:m="http://schemas.openxmlformats.org/officeDocument/2006/math">
                    <m:r>
                      <a:rPr lang="zh-CN" altLang="en-US" sz="1600" i="1">
                        <a:latin typeface="Cambria Math" panose="02040503050406030204" pitchFamily="18" charset="0"/>
                      </a:rPr>
                      <m:t>𝛽</m:t>
                    </m:r>
                    <m:r>
                      <a:rPr lang="zh-CN" altLang="en-US" sz="1600" i="1">
                        <a:latin typeface="Cambria Math" panose="02040503050406030204" pitchFamily="18" charset="0"/>
                      </a:rPr>
                      <m:t>→</m:t>
                    </m:r>
                    <m:r>
                      <a:rPr lang="zh-CN" altLang="en-US" sz="1600" i="1" smtClean="0">
                        <a:latin typeface="Cambria Math" panose="02040503050406030204" pitchFamily="18" charset="0"/>
                      </a:rPr>
                      <m:t>𝛾</m:t>
                    </m:r>
                  </m:oMath>
                </a14:m>
                <a:r>
                  <a:rPr lang="en-US" altLang="zh-CN" sz="1600" dirty="0"/>
                  <a:t>, then </a:t>
                </a:r>
                <a14:m>
                  <m:oMath xmlns:m="http://schemas.openxmlformats.org/officeDocument/2006/math">
                    <m:r>
                      <a:rPr lang="zh-CN" altLang="en-US" sz="1600" i="1" smtClean="0">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𝛾</m:t>
                    </m:r>
                  </m:oMath>
                </a14:m>
                <a:r>
                  <a:rPr lang="en-US" altLang="zh-CN" sz="1600" dirty="0"/>
                  <a:t>     (transitivity:</a:t>
                </a:r>
                <a:r>
                  <a:rPr lang="zh-CN" altLang="en-US" sz="1600" dirty="0"/>
                  <a:t>传递律</a:t>
                </a:r>
                <a:r>
                  <a:rPr lang="en-US" altLang="zh-CN" sz="1600" dirty="0"/>
                  <a:t>)</a:t>
                </a:r>
              </a:p>
              <a:p>
                <a:r>
                  <a:rPr lang="en-US" altLang="zh-CN" sz="1800" dirty="0"/>
                  <a:t>These rules are correct and complete (</a:t>
                </a:r>
                <a:r>
                  <a:rPr lang="zh-CN" altLang="en-US" sz="1800" dirty="0"/>
                  <a:t>正确且完备</a:t>
                </a:r>
                <a:r>
                  <a:rPr lang="en-US" altLang="zh-CN" sz="1800" dirty="0"/>
                  <a:t>)</a:t>
                </a:r>
              </a:p>
              <a:p>
                <a:pPr lvl="1"/>
                <a:r>
                  <a:rPr lang="en-US" altLang="zh-CN" sz="1600" b="1" dirty="0">
                    <a:solidFill>
                      <a:srgbClr val="C00000"/>
                    </a:solidFill>
                  </a:rPr>
                  <a:t>correct</a:t>
                </a:r>
                <a:r>
                  <a:rPr lang="en-US" altLang="zh-CN" sz="1600" dirty="0"/>
                  <a:t>: generate only FDs that actually hold </a:t>
                </a:r>
              </a:p>
              <a:p>
                <a:pPr lvl="1"/>
                <a:r>
                  <a:rPr lang="en-US" altLang="zh-CN" sz="1600" b="1" dirty="0">
                    <a:solidFill>
                      <a:srgbClr val="C00000"/>
                    </a:solidFill>
                  </a:rPr>
                  <a:t>complete</a:t>
                </a:r>
                <a:r>
                  <a:rPr lang="en-US" altLang="zh-CN" sz="1600" dirty="0"/>
                  <a:t>: can generate all FDs that hold</a:t>
                </a:r>
                <a:endParaRPr lang="zh-CN" altLang="en-US" sz="1600" dirty="0"/>
              </a:p>
            </p:txBody>
          </p:sp>
        </mc:Choice>
        <mc:Fallback xmlns="">
          <p:sp>
            <p:nvSpPr>
              <p:cNvPr id="3" name="内容占位符 2">
                <a:extLst>
                  <a:ext uri="{FF2B5EF4-FFF2-40B4-BE49-F238E27FC236}">
                    <a16:creationId xmlns:a16="http://schemas.microsoft.com/office/drawing/2014/main" id="{37EF5F99-3C18-4B04-9FF1-34530D5870BC}"/>
                  </a:ext>
                </a:extLst>
              </p:cNvPr>
              <p:cNvSpPr>
                <a:spLocks noGrp="1" noRot="1" noChangeAspect="1" noMove="1" noResize="1" noEditPoints="1" noAdjustHandles="1" noChangeArrowheads="1" noChangeShapeType="1" noTextEdit="1"/>
              </p:cNvSpPr>
              <p:nvPr>
                <p:ph idx="1"/>
              </p:nvPr>
            </p:nvSpPr>
            <p:spPr>
              <a:xfrm>
                <a:off x="251520" y="789553"/>
                <a:ext cx="8424936" cy="3805070"/>
              </a:xfrm>
              <a:blipFill>
                <a:blip r:embed="rId3"/>
                <a:stretch>
                  <a:fillRect l="-434"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14148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barn(inVertical)">
                                      <p:cBhvr>
                                        <p:cTn id="25" dur="500"/>
                                        <p:tgtEl>
                                          <p:spTgt spid="3">
                                            <p:txEl>
                                              <p:pRg st="4" end="4"/>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barn(inVertical)">
                                      <p:cBhvr>
                                        <p:cTn id="28" dur="500"/>
                                        <p:tgtEl>
                                          <p:spTgt spid="3">
                                            <p:txEl>
                                              <p:pRg st="5" end="5"/>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barn(inVertical)">
                                      <p:cBhvr>
                                        <p:cTn id="31" dur="500"/>
                                        <p:tgtEl>
                                          <p:spTgt spid="3">
                                            <p:txEl>
                                              <p:pRg st="6" end="6"/>
                                            </p:txEl>
                                          </p:spTgt>
                                        </p:tgtEl>
                                      </p:cBhvr>
                                    </p:animEffect>
                                  </p:childTnLst>
                                </p:cTn>
                              </p:par>
                              <p:par>
                                <p:cTn id="32" presetID="16" presetClass="entr" presetSubtype="21"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barn(inVertical)">
                                      <p:cBhvr>
                                        <p:cTn id="34" dur="500"/>
                                        <p:tgtEl>
                                          <p:spTgt spid="3">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barn(inVertical)">
                                      <p:cBhvr>
                                        <p:cTn id="39" dur="500"/>
                                        <p:tgtEl>
                                          <p:spTgt spid="3">
                                            <p:txEl>
                                              <p:pRg st="8" end="8"/>
                                            </p:txEl>
                                          </p:spTgt>
                                        </p:tgtEl>
                                      </p:cBhvr>
                                    </p:animEffect>
                                  </p:childTnLst>
                                </p:cTn>
                              </p:par>
                              <p:par>
                                <p:cTn id="40" presetID="16" presetClass="entr" presetSubtype="21" fill="hold"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arn(inVertical)">
                                      <p:cBhvr>
                                        <p:cTn id="42" dur="500"/>
                                        <p:tgtEl>
                                          <p:spTgt spid="3">
                                            <p:txEl>
                                              <p:pRg st="9" end="9"/>
                                            </p:txEl>
                                          </p:spTgt>
                                        </p:tgtEl>
                                      </p:cBhvr>
                                    </p:animEffect>
                                  </p:childTnLst>
                                </p:cTn>
                              </p:par>
                              <p:par>
                                <p:cTn id="43" presetID="16" presetClass="entr" presetSubtype="21"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barn(inVertical)">
                                      <p:cBhvr>
                                        <p:cTn id="4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2C98D8-053F-4C85-8133-9E4D8D780759}"/>
              </a:ext>
            </a:extLst>
          </p:cNvPr>
          <p:cNvSpPr>
            <a:spLocks noGrp="1"/>
          </p:cNvSpPr>
          <p:nvPr>
            <p:ph type="title"/>
          </p:nvPr>
        </p:nvSpPr>
        <p:spPr>
          <a:xfrm>
            <a:off x="0" y="13134"/>
            <a:ext cx="9144000" cy="637580"/>
          </a:xfrm>
        </p:spPr>
        <p:txBody>
          <a:bodyPr/>
          <a:lstStyle/>
          <a:p>
            <a:pPr algn="ctr"/>
            <a:r>
              <a:rPr lang="en-US" altLang="zh-CN" dirty="0"/>
              <a:t>Closure of Functional Dependencies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A77142B-158F-4F10-A2F7-AFF672E957D0}"/>
                  </a:ext>
                </a:extLst>
              </p:cNvPr>
              <p:cNvSpPr>
                <a:spLocks noGrp="1"/>
              </p:cNvSpPr>
              <p:nvPr>
                <p:ph idx="1"/>
              </p:nvPr>
            </p:nvSpPr>
            <p:spPr>
              <a:xfrm>
                <a:off x="251520" y="823225"/>
                <a:ext cx="8352928" cy="3805070"/>
              </a:xfrm>
            </p:spPr>
            <p:txBody>
              <a:bodyPr/>
              <a:lstStyle/>
              <a:p>
                <a:r>
                  <a:rPr lang="en-US" altLang="zh-CN" sz="1800" dirty="0"/>
                  <a:t>Further simplify manual computation of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𝐹</m:t>
                        </m:r>
                      </m:e>
                      <m:sup>
                        <m:r>
                          <a:rPr lang="en-US" altLang="zh-CN" sz="1800" b="0" i="1" smtClean="0">
                            <a:latin typeface="Cambria Math" panose="02040503050406030204" pitchFamily="18" charset="0"/>
                          </a:rPr>
                          <m:t>+</m:t>
                        </m:r>
                      </m:sup>
                    </m:sSup>
                  </m:oMath>
                </a14:m>
                <a:r>
                  <a:rPr lang="en-US" altLang="zh-CN" sz="1800" dirty="0"/>
                  <a:t> with the following additional rules.</a:t>
                </a:r>
              </a:p>
              <a:p>
                <a:pPr lvl="1"/>
                <a:r>
                  <a:rPr lang="en-US" altLang="zh-CN" sz="1600" dirty="0"/>
                  <a:t>If </a:t>
                </a:r>
                <a14:m>
                  <m:oMath xmlns:m="http://schemas.openxmlformats.org/officeDocument/2006/math">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oMath>
                </a14:m>
                <a:r>
                  <a:rPr lang="en-US" altLang="zh-CN" sz="1600" dirty="0"/>
                  <a:t> holds and </a:t>
                </a:r>
                <a14:m>
                  <m:oMath xmlns:m="http://schemas.openxmlformats.org/officeDocument/2006/math">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𝛾</m:t>
                    </m:r>
                  </m:oMath>
                </a14:m>
                <a:r>
                  <a:rPr lang="en-US" altLang="zh-CN" sz="1600" dirty="0"/>
                  <a:t> holds, then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𝛽𝛾</m:t>
                    </m:r>
                  </m:oMath>
                </a14:m>
                <a:r>
                  <a:rPr lang="en-US" altLang="zh-CN" sz="1600" dirty="0"/>
                  <a:t> holds (union</a:t>
                </a:r>
                <a:r>
                  <a:rPr lang="zh-CN" altLang="en-US" sz="1600" dirty="0"/>
                  <a:t>：合并规则</a:t>
                </a:r>
                <a:r>
                  <a:rPr lang="en-US" altLang="zh-CN" sz="1600" dirty="0"/>
                  <a:t>)</a:t>
                </a:r>
              </a:p>
              <a:p>
                <a:pPr lvl="1"/>
                <a:r>
                  <a:rPr lang="en-US" altLang="zh-CN" sz="1600" dirty="0"/>
                  <a:t>If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𝛽𝛾</m:t>
                    </m:r>
                  </m:oMath>
                </a14:m>
                <a:r>
                  <a:rPr lang="en-US" altLang="zh-CN" sz="1600" dirty="0"/>
                  <a:t> holds, then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m:t>
                    </m:r>
                  </m:oMath>
                </a14:m>
                <a:r>
                  <a:rPr lang="en-US" altLang="zh-CN" sz="1600" dirty="0"/>
                  <a:t> holds and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smtClean="0">
                        <a:latin typeface="Cambria Math" panose="02040503050406030204" pitchFamily="18" charset="0"/>
                      </a:rPr>
                      <m:t>𝛾</m:t>
                    </m:r>
                  </m:oMath>
                </a14:m>
                <a:r>
                  <a:rPr lang="en-US" altLang="zh-CN" sz="1600" dirty="0"/>
                  <a:t> holds (decomposition</a:t>
                </a:r>
                <a:r>
                  <a:rPr lang="zh-CN" altLang="en-US" sz="1600" dirty="0"/>
                  <a:t>：分解规则</a:t>
                </a:r>
                <a:r>
                  <a:rPr lang="en-US" altLang="zh-CN" sz="1600" dirty="0"/>
                  <a:t>)</a:t>
                </a:r>
              </a:p>
              <a:p>
                <a:pPr lvl="1"/>
                <a:r>
                  <a:rPr lang="en-US" altLang="zh-CN" sz="1600" dirty="0"/>
                  <a:t>If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m:t>
                    </m:r>
                  </m:oMath>
                </a14:m>
                <a:r>
                  <a:rPr lang="en-US" altLang="zh-CN" sz="1600" dirty="0"/>
                  <a:t> holds and </a:t>
                </a:r>
                <a14:m>
                  <m:oMath xmlns:m="http://schemas.openxmlformats.org/officeDocument/2006/math">
                    <m:r>
                      <a:rPr lang="zh-CN" altLang="en-US" sz="1600" i="1" smtClean="0">
                        <a:latin typeface="Cambria Math" panose="02040503050406030204" pitchFamily="18" charset="0"/>
                      </a:rPr>
                      <m:t>𝛾𝛽</m:t>
                    </m:r>
                    <m:r>
                      <a:rPr lang="zh-CN" altLang="en-US" sz="1600" i="1">
                        <a:latin typeface="Cambria Math" panose="02040503050406030204" pitchFamily="18" charset="0"/>
                      </a:rPr>
                      <m:t>→</m:t>
                    </m:r>
                    <m:r>
                      <a:rPr lang="zh-CN" altLang="en-US" sz="1600" i="1" smtClean="0">
                        <a:latin typeface="Cambria Math" panose="02040503050406030204" pitchFamily="18" charset="0"/>
                      </a:rPr>
                      <m:t>𝛿</m:t>
                    </m:r>
                  </m:oMath>
                </a14:m>
                <a:r>
                  <a:rPr lang="en-US" altLang="zh-CN" sz="1600" dirty="0"/>
                  <a:t> holds, then </a:t>
                </a:r>
                <a14:m>
                  <m:oMath xmlns:m="http://schemas.openxmlformats.org/officeDocument/2006/math">
                    <m:r>
                      <a:rPr lang="zh-CN" altLang="en-US" sz="1600" i="1" smtClean="0">
                        <a:latin typeface="Cambria Math" panose="02040503050406030204" pitchFamily="18" charset="0"/>
                      </a:rPr>
                      <m:t>𝛼𝛾</m:t>
                    </m:r>
                    <m:r>
                      <a:rPr lang="zh-CN" altLang="en-US" sz="1600" i="1">
                        <a:latin typeface="Cambria Math" panose="02040503050406030204" pitchFamily="18" charset="0"/>
                      </a:rPr>
                      <m:t>→</m:t>
                    </m:r>
                    <m:r>
                      <a:rPr lang="zh-CN" altLang="en-US" sz="1600" i="1">
                        <a:latin typeface="Cambria Math" panose="02040503050406030204" pitchFamily="18" charset="0"/>
                      </a:rPr>
                      <m:t>𝛿</m:t>
                    </m:r>
                  </m:oMath>
                </a14:m>
                <a:r>
                  <a:rPr lang="en-US" altLang="zh-CN" sz="1600" dirty="0"/>
                  <a:t> holds (</a:t>
                </a:r>
                <a:r>
                  <a:rPr lang="en-US" altLang="zh-CN" sz="1600" dirty="0" err="1"/>
                  <a:t>pseudotransitivity</a:t>
                </a:r>
                <a:r>
                  <a:rPr lang="zh-CN" altLang="en-US" sz="1600" dirty="0"/>
                  <a:t>：伪传递规则</a:t>
                </a:r>
                <a:r>
                  <a:rPr lang="en-US" altLang="zh-CN" sz="1600" dirty="0"/>
                  <a:t>)</a:t>
                </a:r>
              </a:p>
              <a:p>
                <a:endParaRPr lang="en-US" altLang="zh-CN" sz="1800" dirty="0"/>
              </a:p>
              <a:p>
                <a:pPr marL="457200" lvl="1" indent="0">
                  <a:buNone/>
                </a:pPr>
                <a:r>
                  <a:rPr lang="en-US" altLang="zh-CN" sz="1600" dirty="0"/>
                  <a:t>The above rules can be inferred from Armstrong’s axioms.</a:t>
                </a:r>
              </a:p>
              <a:p>
                <a:endParaRPr lang="zh-CN" altLang="en-US" sz="1800" dirty="0"/>
              </a:p>
            </p:txBody>
          </p:sp>
        </mc:Choice>
        <mc:Fallback xmlns="">
          <p:sp>
            <p:nvSpPr>
              <p:cNvPr id="3" name="内容占位符 2">
                <a:extLst>
                  <a:ext uri="{FF2B5EF4-FFF2-40B4-BE49-F238E27FC236}">
                    <a16:creationId xmlns:a16="http://schemas.microsoft.com/office/drawing/2014/main" id="{4A77142B-158F-4F10-A2F7-AFF672E957D0}"/>
                  </a:ext>
                </a:extLst>
              </p:cNvPr>
              <p:cNvSpPr>
                <a:spLocks noGrp="1" noRot="1" noChangeAspect="1" noMove="1" noResize="1" noEditPoints="1" noAdjustHandles="1" noChangeArrowheads="1" noChangeShapeType="1" noTextEdit="1"/>
              </p:cNvSpPr>
              <p:nvPr>
                <p:ph idx="1"/>
              </p:nvPr>
            </p:nvSpPr>
            <p:spPr>
              <a:xfrm>
                <a:off x="251520" y="823225"/>
                <a:ext cx="8352928" cy="3805070"/>
              </a:xfrm>
              <a:blipFill>
                <a:blip r:embed="rId2"/>
                <a:stretch>
                  <a:fillRect l="-438"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54629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9030D3-C491-49D8-A6A3-81657F1AA2A5}"/>
              </a:ext>
            </a:extLst>
          </p:cNvPr>
          <p:cNvSpPr>
            <a:spLocks noGrp="1"/>
          </p:cNvSpPr>
          <p:nvPr>
            <p:ph type="title"/>
          </p:nvPr>
        </p:nvSpPr>
        <p:spPr/>
        <p:txBody>
          <a:bodyPr/>
          <a:lstStyle/>
          <a:p>
            <a:pPr algn="ctr"/>
            <a:r>
              <a:rPr lang="en-US" altLang="zh-CN" dirty="0"/>
              <a:t>Example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80D8CCF-971F-4590-A081-562AF47E281D}"/>
                  </a:ext>
                </a:extLst>
              </p:cNvPr>
              <p:cNvSpPr>
                <a:spLocks noGrp="1"/>
              </p:cNvSpPr>
              <p:nvPr>
                <p:ph idx="1"/>
              </p:nvPr>
            </p:nvSpPr>
            <p:spPr>
              <a:xfrm>
                <a:off x="251520" y="710896"/>
                <a:ext cx="8640960" cy="3805070"/>
              </a:xfrm>
            </p:spPr>
            <p:txBody>
              <a:bodyPr/>
              <a:lstStyle/>
              <a:p>
                <a14:m>
                  <m:oMath xmlns:m="http://schemas.openxmlformats.org/officeDocument/2006/math">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𝐺</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𝐼</m:t>
                    </m:r>
                    <m:r>
                      <a:rPr lang="en-US" altLang="zh-CN" sz="1800" b="0" i="1" smtClean="0">
                        <a:latin typeface="Cambria Math" panose="02040503050406030204" pitchFamily="18" charset="0"/>
                      </a:rPr>
                      <m:t>)</m:t>
                    </m:r>
                  </m:oMath>
                </a14:m>
                <a:br>
                  <a:rPr lang="en-US" altLang="zh-CN" sz="1800" dirty="0"/>
                </a:br>
                <a14:m>
                  <m:oMath xmlns:m="http://schemas.openxmlformats.org/officeDocument/2006/math">
                    <m:r>
                      <a:rPr lang="en-US" altLang="zh-CN" sz="1800" b="0" i="1" smtClean="0">
                        <a:latin typeface="Cambria Math" panose="02040503050406030204" pitchFamily="18" charset="0"/>
                      </a:rPr>
                      <m:t>𝐹</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𝐶𝐺</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𝐶𝐺</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𝐼</m:t>
                    </m:r>
                    <m:r>
                      <a:rPr lang="en-US" altLang="zh-CN" sz="1800" b="0" i="1" smtClean="0">
                        <a:latin typeface="Cambria Math" panose="02040503050406030204" pitchFamily="18" charset="0"/>
                      </a:rPr>
                      <m:t>, </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oMath>
                </a14:m>
                <a:r>
                  <a:rPr lang="en-US" altLang="zh-CN" sz="1800" dirty="0"/>
                  <a:t>}</a:t>
                </a:r>
              </a:p>
              <a:p>
                <a:r>
                  <a:rPr lang="en-US" altLang="zh-CN" sz="1800" dirty="0"/>
                  <a:t>Some members of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𝐹</m:t>
                        </m:r>
                      </m:e>
                      <m:sup>
                        <m:r>
                          <a:rPr lang="en-US" altLang="zh-CN" sz="1800" b="0" i="1" smtClean="0">
                            <a:latin typeface="Cambria Math" panose="02040503050406030204" pitchFamily="18" charset="0"/>
                          </a:rPr>
                          <m:t>+</m:t>
                        </m:r>
                      </m:sup>
                    </m:sSup>
                  </m:oMath>
                </a14:m>
                <a:endParaRPr lang="en-US" altLang="zh-CN" sz="1800" dirty="0"/>
              </a:p>
              <a:p>
                <a:pPr lvl="1"/>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𝐻</m:t>
                    </m:r>
                  </m:oMath>
                </a14:m>
                <a:endParaRPr lang="en-US" altLang="zh-CN" sz="1600" dirty="0"/>
              </a:p>
              <a:p>
                <a:pPr lvl="2"/>
                <a:r>
                  <a:rPr lang="en-US" altLang="zh-CN" sz="1400" dirty="0"/>
                  <a:t>by transitivity from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𝐵</m:t>
                    </m:r>
                    <m:r>
                      <a:rPr lang="en-US" altLang="zh-CN" sz="1400" i="1">
                        <a:latin typeface="Cambria Math" panose="02040503050406030204" pitchFamily="18" charset="0"/>
                      </a:rPr>
                      <m:t> </m:t>
                    </m:r>
                  </m:oMath>
                </a14:m>
                <a:r>
                  <a:rPr lang="en-US" altLang="zh-CN" sz="1400" dirty="0"/>
                  <a:t>and </a:t>
                </a:r>
                <a14:m>
                  <m:oMath xmlns:m="http://schemas.openxmlformats.org/officeDocument/2006/math">
                    <m:r>
                      <a:rPr lang="en-US" altLang="zh-CN" sz="1400" i="1">
                        <a:latin typeface="Cambria Math" panose="02040503050406030204" pitchFamily="18" charset="0"/>
                      </a:rPr>
                      <m:t>𝐵</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𝐻</m:t>
                    </m:r>
                    <m:r>
                      <a:rPr lang="en-US" altLang="zh-CN" sz="1400" i="1">
                        <a:latin typeface="Cambria Math" panose="02040503050406030204" pitchFamily="18" charset="0"/>
                      </a:rPr>
                      <m:t> </m:t>
                    </m:r>
                  </m:oMath>
                </a14:m>
                <a:endParaRPr lang="en-US" altLang="zh-CN" sz="1400" dirty="0"/>
              </a:p>
              <a:p>
                <a:pPr lvl="1"/>
                <a14:m>
                  <m:oMath xmlns:m="http://schemas.openxmlformats.org/officeDocument/2006/math">
                    <m:r>
                      <a:rPr lang="en-US" altLang="zh-CN" sz="1600" i="1">
                        <a:latin typeface="Cambria Math" panose="02040503050406030204" pitchFamily="18" charset="0"/>
                      </a:rPr>
                      <m:t>𝐴</m:t>
                    </m:r>
                    <m:r>
                      <a:rPr lang="en-US" altLang="zh-CN" sz="1600" b="0" i="1" smtClean="0">
                        <a:latin typeface="Cambria Math" panose="02040503050406030204" pitchFamily="18" charset="0"/>
                      </a:rPr>
                      <m:t>𝐺</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𝐼</m:t>
                    </m:r>
                  </m:oMath>
                </a14:m>
                <a:r>
                  <a:rPr lang="en-US" altLang="zh-CN" sz="1600" dirty="0"/>
                  <a:t>       </a:t>
                </a:r>
              </a:p>
              <a:p>
                <a:pPr lvl="2"/>
                <a:r>
                  <a:rPr lang="en-US" altLang="zh-CN" sz="1400" dirty="0"/>
                  <a:t>by augmenting </a:t>
                </a:r>
                <a14:m>
                  <m:oMath xmlns:m="http://schemas.openxmlformats.org/officeDocument/2006/math">
                    <m:r>
                      <a:rPr lang="en-US" altLang="zh-CN" sz="1400" i="1">
                        <a:latin typeface="Cambria Math" panose="02040503050406030204" pitchFamily="18" charset="0"/>
                      </a:rPr>
                      <m:t>𝐴</m:t>
                    </m:r>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𝐶</m:t>
                    </m:r>
                  </m:oMath>
                </a14:m>
                <a:r>
                  <a:rPr lang="en-US" altLang="zh-CN" sz="1400" dirty="0"/>
                  <a:t> with </a:t>
                </a:r>
                <a14:m>
                  <m:oMath xmlns:m="http://schemas.openxmlformats.org/officeDocument/2006/math">
                    <m:r>
                      <a:rPr lang="en-US" altLang="zh-CN" sz="1400" b="0" i="1" smtClean="0">
                        <a:latin typeface="Cambria Math" panose="02040503050406030204" pitchFamily="18" charset="0"/>
                      </a:rPr>
                      <m:t>𝐺</m:t>
                    </m:r>
                  </m:oMath>
                </a14:m>
                <a:r>
                  <a:rPr lang="en-US" altLang="zh-CN" sz="1400" dirty="0"/>
                  <a:t> to get </a:t>
                </a:r>
                <a14:m>
                  <m:oMath xmlns:m="http://schemas.openxmlformats.org/officeDocument/2006/math">
                    <m:r>
                      <a:rPr lang="en-US" altLang="zh-CN" sz="1400" i="1">
                        <a:latin typeface="Cambria Math" panose="02040503050406030204" pitchFamily="18" charset="0"/>
                      </a:rPr>
                      <m:t>𝐴𝐺</m:t>
                    </m:r>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𝐶𝐺</m:t>
                    </m:r>
                  </m:oMath>
                </a14:m>
                <a:r>
                  <a:rPr lang="en-US" altLang="zh-CN" sz="1400" dirty="0"/>
                  <a:t> and then transitivity with </a:t>
                </a:r>
                <a14:m>
                  <m:oMath xmlns:m="http://schemas.openxmlformats.org/officeDocument/2006/math">
                    <m:r>
                      <a:rPr lang="en-US" altLang="zh-CN" sz="1400" b="0" i="1" smtClean="0">
                        <a:latin typeface="Cambria Math" panose="02040503050406030204" pitchFamily="18" charset="0"/>
                      </a:rPr>
                      <m:t>𝐶</m:t>
                    </m:r>
                    <m:r>
                      <a:rPr lang="en-US" altLang="zh-CN" sz="1400" i="1">
                        <a:latin typeface="Cambria Math" panose="02040503050406030204" pitchFamily="18" charset="0"/>
                      </a:rPr>
                      <m:t>𝐺</m:t>
                    </m:r>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𝐼</m:t>
                    </m:r>
                  </m:oMath>
                </a14:m>
                <a:r>
                  <a:rPr lang="en-US" altLang="zh-CN" sz="1400" dirty="0"/>
                  <a:t> </a:t>
                </a:r>
              </a:p>
              <a:p>
                <a:pPr lvl="1"/>
                <a14:m>
                  <m:oMath xmlns:m="http://schemas.openxmlformats.org/officeDocument/2006/math">
                    <m:r>
                      <a:rPr lang="en-US" altLang="zh-CN" sz="1600" b="0" i="1" smtClean="0">
                        <a:latin typeface="Cambria Math" panose="02040503050406030204" pitchFamily="18" charset="0"/>
                      </a:rPr>
                      <m:t>𝐶</m:t>
                    </m:r>
                    <m:r>
                      <a:rPr lang="en-US" altLang="zh-CN" sz="1600" i="1">
                        <a:latin typeface="Cambria Math" panose="02040503050406030204" pitchFamily="18" charset="0"/>
                      </a:rPr>
                      <m:t>𝐺</m:t>
                    </m:r>
                    <m:r>
                      <a:rPr lang="en-US" altLang="zh-CN" sz="160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𝐻𝐼</m:t>
                    </m:r>
                    <m:r>
                      <a:rPr lang="en-US" altLang="zh-CN" sz="1600" i="1">
                        <a:latin typeface="Cambria Math" panose="02040503050406030204" pitchFamily="18" charset="0"/>
                      </a:rPr>
                      <m:t> </m:t>
                    </m:r>
                  </m:oMath>
                </a14:m>
                <a:r>
                  <a:rPr lang="en-US" altLang="zh-CN" sz="1600" dirty="0"/>
                  <a:t>     </a:t>
                </a:r>
              </a:p>
              <a:p>
                <a:pPr lvl="2"/>
                <a:r>
                  <a:rPr lang="en-US" altLang="zh-CN" sz="1400" dirty="0"/>
                  <a:t>from </a:t>
                </a:r>
                <a14:m>
                  <m:oMath xmlns:m="http://schemas.openxmlformats.org/officeDocument/2006/math">
                    <m:r>
                      <a:rPr lang="en-US" altLang="zh-CN" sz="1400" b="0" i="1" smtClean="0">
                        <a:latin typeface="Cambria Math" panose="02040503050406030204" pitchFamily="18" charset="0"/>
                      </a:rPr>
                      <m:t>𝐶</m:t>
                    </m:r>
                    <m:r>
                      <a:rPr lang="en-US" altLang="zh-CN" sz="1400" i="1">
                        <a:latin typeface="Cambria Math" panose="02040503050406030204" pitchFamily="18" charset="0"/>
                      </a:rPr>
                      <m:t>𝐺</m:t>
                    </m:r>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𝐻</m:t>
                    </m:r>
                  </m:oMath>
                </a14:m>
                <a:r>
                  <a:rPr lang="en-US" altLang="zh-CN" sz="1400" dirty="0"/>
                  <a:t> and </a:t>
                </a:r>
                <a14:m>
                  <m:oMath xmlns:m="http://schemas.openxmlformats.org/officeDocument/2006/math">
                    <m:r>
                      <a:rPr lang="en-US" altLang="zh-CN" sz="1400" b="0" i="1" smtClean="0">
                        <a:latin typeface="Cambria Math" panose="02040503050406030204" pitchFamily="18" charset="0"/>
                      </a:rPr>
                      <m:t>𝐶</m:t>
                    </m:r>
                    <m:r>
                      <a:rPr lang="en-US" altLang="zh-CN" sz="1400" i="1">
                        <a:latin typeface="Cambria Math" panose="02040503050406030204" pitchFamily="18" charset="0"/>
                      </a:rPr>
                      <m:t>𝐺</m:t>
                    </m:r>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𝐼</m:t>
                    </m:r>
                  </m:oMath>
                </a14:m>
                <a:r>
                  <a:rPr lang="en-US" altLang="zh-CN" sz="1400" dirty="0"/>
                  <a:t>: union rule can be inferred from</a:t>
                </a:r>
              </a:p>
              <a:p>
                <a:pPr lvl="3"/>
                <a:r>
                  <a:rPr lang="en-US" altLang="zh-CN" sz="1200" dirty="0"/>
                  <a:t>definition of functional dependencies, or </a:t>
                </a:r>
              </a:p>
              <a:p>
                <a:pPr lvl="3"/>
                <a:r>
                  <a:rPr lang="en-US" altLang="zh-CN" sz="1200" dirty="0"/>
                  <a:t>augmentation of </a:t>
                </a:r>
                <a14:m>
                  <m:oMath xmlns:m="http://schemas.openxmlformats.org/officeDocument/2006/math">
                    <m:r>
                      <a:rPr lang="en-US" altLang="zh-CN" sz="1200" b="0" i="1" smtClean="0">
                        <a:latin typeface="Cambria Math" panose="02040503050406030204" pitchFamily="18" charset="0"/>
                      </a:rPr>
                      <m:t>𝐶</m:t>
                    </m:r>
                    <m:r>
                      <a:rPr lang="en-US" altLang="zh-CN" sz="1200" i="1">
                        <a:latin typeface="Cambria Math" panose="02040503050406030204" pitchFamily="18" charset="0"/>
                      </a:rPr>
                      <m:t>𝐺</m:t>
                    </m:r>
                    <m:r>
                      <a:rPr lang="en-US" altLang="zh-CN" sz="120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𝐼</m:t>
                    </m:r>
                  </m:oMath>
                </a14:m>
                <a:r>
                  <a:rPr lang="en-US" altLang="zh-CN" sz="1200" dirty="0"/>
                  <a:t> to infer </a:t>
                </a:r>
                <a14:m>
                  <m:oMath xmlns:m="http://schemas.openxmlformats.org/officeDocument/2006/math">
                    <m:r>
                      <a:rPr lang="en-US" altLang="zh-CN" sz="1200" b="0" i="1" smtClean="0">
                        <a:latin typeface="Cambria Math" panose="02040503050406030204" pitchFamily="18" charset="0"/>
                      </a:rPr>
                      <m:t>𝐶</m:t>
                    </m:r>
                    <m:r>
                      <a:rPr lang="en-US" altLang="zh-CN" sz="1200" i="1">
                        <a:latin typeface="Cambria Math" panose="02040503050406030204" pitchFamily="18" charset="0"/>
                      </a:rPr>
                      <m:t>𝐺</m:t>
                    </m:r>
                    <m:r>
                      <a:rPr lang="en-US" altLang="zh-CN" sz="120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𝐶𝐺𝐼</m:t>
                    </m:r>
                  </m:oMath>
                </a14:m>
                <a:r>
                  <a:rPr lang="en-US" altLang="zh-CN" sz="1200" dirty="0"/>
                  <a:t>, augmentation of </a:t>
                </a:r>
                <a14:m>
                  <m:oMath xmlns:m="http://schemas.openxmlformats.org/officeDocument/2006/math">
                    <m:r>
                      <a:rPr lang="en-US" altLang="zh-CN" sz="1200" b="0" i="1" smtClean="0">
                        <a:latin typeface="Cambria Math" panose="02040503050406030204" pitchFamily="18" charset="0"/>
                      </a:rPr>
                      <m:t>𝐶</m:t>
                    </m:r>
                    <m:r>
                      <a:rPr lang="en-US" altLang="zh-CN" sz="1200" i="1">
                        <a:latin typeface="Cambria Math" panose="02040503050406030204" pitchFamily="18" charset="0"/>
                      </a:rPr>
                      <m:t>𝐺</m:t>
                    </m:r>
                    <m:r>
                      <a:rPr lang="en-US" altLang="zh-CN" sz="120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ea typeface="Cambria Math" panose="02040503050406030204" pitchFamily="18" charset="0"/>
                      </a:rPr>
                      <m:t>𝐻</m:t>
                    </m:r>
                  </m:oMath>
                </a14:m>
                <a:r>
                  <a:rPr lang="en-US" altLang="zh-CN" sz="1200" dirty="0"/>
                  <a:t> to infer </a:t>
                </a:r>
                <a14:m>
                  <m:oMath xmlns:m="http://schemas.openxmlformats.org/officeDocument/2006/math">
                    <m:r>
                      <a:rPr lang="en-US" altLang="zh-CN" sz="1200" b="0" i="1" smtClean="0">
                        <a:latin typeface="Cambria Math" panose="02040503050406030204" pitchFamily="18" charset="0"/>
                      </a:rPr>
                      <m:t>𝐶</m:t>
                    </m:r>
                    <m:r>
                      <a:rPr lang="en-US" altLang="zh-CN" sz="1200" i="1">
                        <a:latin typeface="Cambria Math" panose="02040503050406030204" pitchFamily="18" charset="0"/>
                      </a:rPr>
                      <m:t>𝐺</m:t>
                    </m:r>
                    <m:r>
                      <a:rPr lang="en-US" altLang="zh-CN" sz="1200" b="0" i="1" smtClean="0">
                        <a:latin typeface="Cambria Math" panose="02040503050406030204" pitchFamily="18" charset="0"/>
                      </a:rPr>
                      <m:t>𝐼</m:t>
                    </m:r>
                    <m:r>
                      <a:rPr lang="en-US" altLang="zh-CN" sz="1200" b="0" i="1" smtClean="0">
                        <a:latin typeface="Cambria Math" panose="02040503050406030204" pitchFamily="18" charset="0"/>
                        <a:ea typeface="Cambria Math" panose="02040503050406030204" pitchFamily="18" charset="0"/>
                      </a:rPr>
                      <m:t>→</m:t>
                    </m:r>
                    <m:r>
                      <a:rPr lang="en-US" altLang="zh-CN" sz="1200" b="0" i="1" smtClean="0">
                        <a:latin typeface="Cambria Math" panose="02040503050406030204" pitchFamily="18" charset="0"/>
                      </a:rPr>
                      <m:t>𝐻𝐼</m:t>
                    </m:r>
                  </m:oMath>
                </a14:m>
                <a:r>
                  <a:rPr lang="en-US" altLang="zh-CN" sz="1200" dirty="0"/>
                  <a:t>, and then transitivity</a:t>
                </a:r>
              </a:p>
              <a:p>
                <a:endParaRPr lang="zh-CN" altLang="en-US" sz="1800" dirty="0"/>
              </a:p>
            </p:txBody>
          </p:sp>
        </mc:Choice>
        <mc:Fallback xmlns="">
          <p:sp>
            <p:nvSpPr>
              <p:cNvPr id="3" name="内容占位符 2">
                <a:extLst>
                  <a:ext uri="{FF2B5EF4-FFF2-40B4-BE49-F238E27FC236}">
                    <a16:creationId xmlns:a16="http://schemas.microsoft.com/office/drawing/2014/main" id="{A80D8CCF-971F-4590-A081-562AF47E281D}"/>
                  </a:ext>
                </a:extLst>
              </p:cNvPr>
              <p:cNvSpPr>
                <a:spLocks noGrp="1" noRot="1" noChangeAspect="1" noMove="1" noResize="1" noEditPoints="1" noAdjustHandles="1" noChangeArrowheads="1" noChangeShapeType="1" noTextEdit="1"/>
              </p:cNvSpPr>
              <p:nvPr>
                <p:ph idx="1"/>
              </p:nvPr>
            </p:nvSpPr>
            <p:spPr>
              <a:xfrm>
                <a:off x="251520" y="710896"/>
                <a:ext cx="8640960" cy="3805070"/>
              </a:xfrm>
              <a:blipFill>
                <a:blip r:embed="rId3"/>
                <a:stretch>
                  <a:fillRect l="-494" t="-64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00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arn(inVertical)">
                                      <p:cBhvr>
                                        <p:cTn id="37" dur="500"/>
                                        <p:tgtEl>
                                          <p:spTgt spid="3">
                                            <p:txEl>
                                              <p:pRg st="7" end="7"/>
                                            </p:txEl>
                                          </p:spTgt>
                                        </p:tgtEl>
                                      </p:cBhvr>
                                    </p:animEffect>
                                  </p:childTnLst>
                                </p:cTn>
                              </p:par>
                              <p:par>
                                <p:cTn id="38" presetID="16" presetClass="entr" presetSubtype="21"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barn(inVertical)">
                                      <p:cBhvr>
                                        <p:cTn id="40" dur="500"/>
                                        <p:tgtEl>
                                          <p:spTgt spid="3">
                                            <p:txEl>
                                              <p:pRg st="8" end="8"/>
                                            </p:txEl>
                                          </p:spTgt>
                                        </p:tgtEl>
                                      </p:cBhvr>
                                    </p:animEffect>
                                  </p:childTnLst>
                                </p:cTn>
                              </p:par>
                              <p:par>
                                <p:cTn id="41" presetID="16" presetClass="entr" presetSubtype="21"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barn(inVertical)">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5D34A7C5-5540-448F-A896-F794FBB18E02}"/>
                  </a:ext>
                </a:extLst>
              </p:cNvPr>
              <p:cNvSpPr>
                <a:spLocks noGrp="1"/>
              </p:cNvSpPr>
              <p:nvPr>
                <p:ph type="title"/>
              </p:nvPr>
            </p:nvSpPr>
            <p:spPr/>
            <p:txBody>
              <a:bodyPr/>
              <a:lstStyle/>
              <a:p>
                <a:pPr algn="ctr"/>
                <a:r>
                  <a:rPr lang="en-US" altLang="zh-CN" dirty="0"/>
                  <a:t>Procedure for Computing </a:t>
                </a:r>
                <a14:m>
                  <m:oMath xmlns:m="http://schemas.openxmlformats.org/officeDocument/2006/math">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𝑭</m:t>
                        </m:r>
                      </m:e>
                      <m:sup>
                        <m:r>
                          <a:rPr lang="en-US" altLang="zh-CN" b="1" i="1" smtClean="0">
                            <a:latin typeface="Cambria Math" panose="02040503050406030204" pitchFamily="18" charset="0"/>
                          </a:rPr>
                          <m:t>+</m:t>
                        </m:r>
                      </m:sup>
                    </m:sSup>
                  </m:oMath>
                </a14:m>
                <a:endParaRPr lang="zh-CN" altLang="en-US" dirty="0"/>
              </a:p>
            </p:txBody>
          </p:sp>
        </mc:Choice>
        <mc:Fallback xmlns="">
          <p:sp>
            <p:nvSpPr>
              <p:cNvPr id="2" name="标题 1">
                <a:extLst>
                  <a:ext uri="{FF2B5EF4-FFF2-40B4-BE49-F238E27FC236}">
                    <a16:creationId xmlns:a16="http://schemas.microsoft.com/office/drawing/2014/main" id="{5D34A7C5-5540-448F-A896-F794FBB18E02}"/>
                  </a:ext>
                </a:extLst>
              </p:cNvPr>
              <p:cNvSpPr>
                <a:spLocks noGrp="1" noRot="1" noChangeAspect="1" noMove="1" noResize="1" noEditPoints="1" noAdjustHandles="1" noChangeArrowheads="1" noChangeShapeType="1" noTextEdit="1"/>
              </p:cNvSpPr>
              <p:nvPr>
                <p:ph type="title"/>
              </p:nvPr>
            </p:nvSpPr>
            <p:spPr>
              <a:blipFill>
                <a:blip r:embed="rId3"/>
                <a:stretch>
                  <a:fillRect t="-8654" b="-269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91EC41D-5580-4340-B3B3-76E43EBAE1F6}"/>
                  </a:ext>
                </a:extLst>
              </p:cNvPr>
              <p:cNvSpPr>
                <a:spLocks noGrp="1"/>
              </p:cNvSpPr>
              <p:nvPr>
                <p:ph idx="1"/>
              </p:nvPr>
            </p:nvSpPr>
            <p:spPr/>
            <p:txBody>
              <a:bodyPr/>
              <a:lstStyle/>
              <a:p>
                <a:r>
                  <a:rPr lang="en-US" altLang="zh-CN" sz="1800" dirty="0"/>
                  <a:t>To compute the closure of a set of FDs </a:t>
                </a:r>
                <a14:m>
                  <m:oMath xmlns:m="http://schemas.openxmlformats.org/officeDocument/2006/math">
                    <m:r>
                      <a:rPr lang="en-US" altLang="zh-CN" sz="1800" b="0" i="1" smtClean="0">
                        <a:latin typeface="Cambria Math" panose="02040503050406030204" pitchFamily="18" charset="0"/>
                      </a:rPr>
                      <m:t>𝐹</m:t>
                    </m:r>
                  </m:oMath>
                </a14:m>
                <a:r>
                  <a:rPr lang="en-US" altLang="zh-CN" sz="1800" dirty="0"/>
                  <a:t>:</a:t>
                </a:r>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pPr marL="0" indent="0">
                  <a:buNone/>
                </a:pPr>
                <a:r>
                  <a:rPr lang="en-US" altLang="zh-CN" sz="1600" b="1" dirty="0"/>
                  <a:t>    NOTE: </a:t>
                </a:r>
                <a:r>
                  <a:rPr lang="en-US" altLang="zh-CN" sz="1600" dirty="0"/>
                  <a:t>We will see an alternative way for this task later</a:t>
                </a:r>
              </a:p>
              <a:p>
                <a:endParaRPr lang="zh-CN" altLang="en-US" sz="2000" dirty="0"/>
              </a:p>
            </p:txBody>
          </p:sp>
        </mc:Choice>
        <mc:Fallback xmlns="">
          <p:sp>
            <p:nvSpPr>
              <p:cNvPr id="3" name="内容占位符 2">
                <a:extLst>
                  <a:ext uri="{FF2B5EF4-FFF2-40B4-BE49-F238E27FC236}">
                    <a16:creationId xmlns:a16="http://schemas.microsoft.com/office/drawing/2014/main" id="{391EC41D-5580-4340-B3B3-76E43EBAE1F6}"/>
                  </a:ext>
                </a:extLst>
              </p:cNvPr>
              <p:cNvSpPr>
                <a:spLocks noGrp="1" noRot="1" noChangeAspect="1" noMove="1" noResize="1" noEditPoints="1" noAdjustHandles="1" noChangeArrowheads="1" noChangeShapeType="1" noTextEdit="1"/>
              </p:cNvSpPr>
              <p:nvPr>
                <p:ph idx="1"/>
              </p:nvPr>
            </p:nvSpPr>
            <p:spPr>
              <a:blipFill>
                <a:blip r:embed="rId4"/>
                <a:stretch>
                  <a:fillRect l="-427" t="-96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2CF742F7-3DF5-4F39-97DF-74244DF87745}"/>
                  </a:ext>
                </a:extLst>
              </p:cNvPr>
              <p:cNvSpPr txBox="1"/>
              <p:nvPr/>
            </p:nvSpPr>
            <p:spPr>
              <a:xfrm>
                <a:off x="611560" y="1284010"/>
                <a:ext cx="7560840" cy="2539157"/>
              </a:xfrm>
              <a:prstGeom prst="rect">
                <a:avLst/>
              </a:prstGeom>
              <a:noFill/>
            </p:spPr>
            <p:txBody>
              <a:bodyPr wrap="square" rtlCol="0">
                <a:spAutoFit/>
              </a:bodyPr>
              <a:lstStyle/>
              <a:p>
                <a:pPr>
                  <a:spcBef>
                    <a:spcPts val="600"/>
                  </a:spcBef>
                </a:pPr>
                <a14:m>
                  <m:oMathPara xmlns:m="http://schemas.openxmlformats.org/officeDocument/2006/math">
                    <m:oMathParaPr>
                      <m:jc m:val="left"/>
                    </m:oMathParaPr>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𝐹</m:t>
                      </m:r>
                    </m:oMath>
                  </m:oMathPara>
                </a14:m>
                <a:br>
                  <a:rPr lang="en-US" altLang="zh-CN" sz="1600" dirty="0">
                    <a:latin typeface="Arial" panose="020B0604020202020204" pitchFamily="34" charset="0"/>
                    <a:cs typeface="Arial" panose="020B0604020202020204" pitchFamily="34" charset="0"/>
                  </a:rPr>
                </a:br>
                <a:r>
                  <a:rPr lang="en-US" altLang="zh-CN" sz="1600" dirty="0">
                    <a:latin typeface="Arial" panose="020B0604020202020204" pitchFamily="34" charset="0"/>
                    <a:cs typeface="Arial" panose="020B0604020202020204" pitchFamily="34" charset="0"/>
                  </a:rPr>
                  <a:t>repeat</a:t>
                </a:r>
                <a:br>
                  <a:rPr lang="en-US" altLang="zh-CN" sz="1600" dirty="0">
                    <a:latin typeface="Arial" panose="020B0604020202020204" pitchFamily="34" charset="0"/>
                    <a:cs typeface="Arial" panose="020B0604020202020204" pitchFamily="34" charset="0"/>
                  </a:rPr>
                </a:br>
                <a:r>
                  <a:rPr lang="en-US" altLang="zh-CN" sz="1600" dirty="0">
                    <a:latin typeface="Arial" panose="020B0604020202020204" pitchFamily="34" charset="0"/>
                    <a:cs typeface="Arial" panose="020B0604020202020204" pitchFamily="34" charset="0"/>
                  </a:rPr>
                  <a:t>       for each FD </a:t>
                </a:r>
                <a14:m>
                  <m:oMath xmlns:m="http://schemas.openxmlformats.org/officeDocument/2006/math">
                    <m:r>
                      <a:rPr lang="en-US" altLang="zh-CN" sz="1600" b="0" i="1" smtClean="0">
                        <a:latin typeface="Cambria Math" panose="02040503050406030204" pitchFamily="18" charset="0"/>
                      </a:rPr>
                      <m:t>𝑓</m:t>
                    </m:r>
                  </m:oMath>
                </a14:m>
                <a:r>
                  <a:rPr lang="en-US" altLang="zh-CN" sz="1600" dirty="0">
                    <a:latin typeface="Arial" panose="020B0604020202020204" pitchFamily="34" charset="0"/>
                    <a:cs typeface="Arial" panose="020B0604020202020204" pitchFamily="34" charset="0"/>
                  </a:rPr>
                  <a:t> in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i="1">
                            <a:latin typeface="Cambria Math" panose="02040503050406030204" pitchFamily="18" charset="0"/>
                          </a:rPr>
                          <m:t>+</m:t>
                        </m:r>
                      </m:sup>
                    </m:sSup>
                  </m:oMath>
                </a14:m>
                <a:br>
                  <a:rPr lang="en-US" altLang="zh-CN" sz="1600" dirty="0">
                    <a:latin typeface="Arial" panose="020B0604020202020204" pitchFamily="34" charset="0"/>
                    <a:cs typeface="Arial" panose="020B0604020202020204" pitchFamily="34" charset="0"/>
                  </a:rPr>
                </a:br>
                <a:r>
                  <a:rPr lang="en-US" altLang="zh-CN" sz="1600" dirty="0">
                    <a:latin typeface="Arial" panose="020B0604020202020204" pitchFamily="34" charset="0"/>
                    <a:cs typeface="Arial" panose="020B0604020202020204" pitchFamily="34" charset="0"/>
                  </a:rPr>
                  <a:t>             apply </a:t>
                </a:r>
                <a:r>
                  <a:rPr lang="en-US" altLang="zh-CN" sz="1600" dirty="0">
                    <a:solidFill>
                      <a:srgbClr val="C00000"/>
                    </a:solidFill>
                    <a:latin typeface="Arial" panose="020B0604020202020204" pitchFamily="34" charset="0"/>
                    <a:cs typeface="Arial" panose="020B0604020202020204" pitchFamily="34" charset="0"/>
                  </a:rPr>
                  <a:t>reflexivity</a:t>
                </a:r>
                <a:r>
                  <a:rPr lang="en-US" altLang="zh-CN" sz="1600" dirty="0">
                    <a:latin typeface="Arial" panose="020B0604020202020204" pitchFamily="34" charset="0"/>
                    <a:cs typeface="Arial" panose="020B0604020202020204" pitchFamily="34" charset="0"/>
                  </a:rPr>
                  <a:t> and </a:t>
                </a:r>
                <a:r>
                  <a:rPr lang="en-US" altLang="zh-CN" sz="1600" dirty="0">
                    <a:solidFill>
                      <a:srgbClr val="C00000"/>
                    </a:solidFill>
                    <a:latin typeface="Arial" panose="020B0604020202020204" pitchFamily="34" charset="0"/>
                    <a:cs typeface="Arial" panose="020B0604020202020204" pitchFamily="34" charset="0"/>
                  </a:rPr>
                  <a:t>augmentation</a:t>
                </a:r>
                <a:r>
                  <a:rPr lang="en-US" altLang="zh-CN" sz="1600" dirty="0">
                    <a:latin typeface="Arial" panose="020B0604020202020204" pitchFamily="34" charset="0"/>
                    <a:cs typeface="Arial" panose="020B0604020202020204" pitchFamily="34" charset="0"/>
                  </a:rPr>
                  <a:t> rules on </a:t>
                </a:r>
                <a14:m>
                  <m:oMath xmlns:m="http://schemas.openxmlformats.org/officeDocument/2006/math">
                    <m:r>
                      <a:rPr lang="en-US" altLang="zh-CN" sz="1600" b="0" i="1" smtClean="0">
                        <a:latin typeface="Cambria Math" panose="02040503050406030204" pitchFamily="18" charset="0"/>
                      </a:rPr>
                      <m:t>𝑓</m:t>
                    </m:r>
                  </m:oMath>
                </a14:m>
                <a:endParaRPr lang="en-US" altLang="zh-CN" sz="1600" dirty="0">
                  <a:latin typeface="Arial" panose="020B0604020202020204" pitchFamily="34" charset="0"/>
                  <a:cs typeface="Arial" panose="020B0604020202020204" pitchFamily="34" charset="0"/>
                </a:endParaRPr>
              </a:p>
              <a:p>
                <a:pPr>
                  <a:spcBef>
                    <a:spcPts val="600"/>
                  </a:spcBef>
                </a:pPr>
                <a:r>
                  <a:rPr lang="en-US" altLang="zh-CN" sz="1600" dirty="0">
                    <a:latin typeface="Arial" panose="020B0604020202020204" pitchFamily="34" charset="0"/>
                    <a:cs typeface="Arial" panose="020B0604020202020204" pitchFamily="34" charset="0"/>
                  </a:rPr>
                  <a:t>             add the resulting FDs to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i="1">
                            <a:latin typeface="Cambria Math" panose="02040503050406030204" pitchFamily="18" charset="0"/>
                          </a:rPr>
                          <m:t>+</m:t>
                        </m:r>
                      </m:sup>
                    </m:sSup>
                  </m:oMath>
                </a14:m>
                <a:br>
                  <a:rPr lang="en-US" altLang="zh-CN" sz="1600" dirty="0">
                    <a:latin typeface="Arial" panose="020B0604020202020204" pitchFamily="34" charset="0"/>
                    <a:cs typeface="Arial" panose="020B0604020202020204" pitchFamily="34" charset="0"/>
                  </a:rPr>
                </a:br>
                <a:r>
                  <a:rPr lang="en-US" altLang="zh-CN" sz="1600" dirty="0">
                    <a:latin typeface="Arial" panose="020B0604020202020204" pitchFamily="34" charset="0"/>
                    <a:cs typeface="Arial" panose="020B0604020202020204" pitchFamily="34" charset="0"/>
                  </a:rPr>
                  <a:t>       for each pair of FDs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𝑓</m:t>
                        </m:r>
                      </m:e>
                      <m:sub>
                        <m:r>
                          <a:rPr lang="en-US" altLang="zh-CN" sz="1600" b="0" i="1" smtClean="0">
                            <a:latin typeface="Cambria Math" panose="02040503050406030204" pitchFamily="18" charset="0"/>
                          </a:rPr>
                          <m:t>1</m:t>
                        </m:r>
                      </m:sub>
                    </m:sSub>
                  </m:oMath>
                </a14:m>
                <a:r>
                  <a:rPr lang="en-US" altLang="zh-CN" sz="16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b="0" i="1" smtClean="0">
                            <a:latin typeface="Cambria Math" panose="02040503050406030204" pitchFamily="18" charset="0"/>
                          </a:rPr>
                          <m:t>2</m:t>
                        </m:r>
                      </m:sub>
                    </m:sSub>
                  </m:oMath>
                </a14:m>
                <a:r>
                  <a:rPr lang="en-US" altLang="zh-CN" sz="1600" dirty="0">
                    <a:latin typeface="Arial" panose="020B0604020202020204" pitchFamily="34" charset="0"/>
                    <a:cs typeface="Arial" panose="020B0604020202020204" pitchFamily="34" charset="0"/>
                  </a:rPr>
                  <a:t> in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i="1">
                            <a:latin typeface="Cambria Math" panose="02040503050406030204" pitchFamily="18" charset="0"/>
                          </a:rPr>
                          <m:t>+</m:t>
                        </m:r>
                      </m:sup>
                    </m:sSup>
                  </m:oMath>
                </a14:m>
                <a:endParaRPr lang="en-US" altLang="zh-CN" sz="1600" dirty="0">
                  <a:latin typeface="Arial" panose="020B0604020202020204" pitchFamily="34" charset="0"/>
                  <a:cs typeface="Arial" panose="020B0604020202020204" pitchFamily="34" charset="0"/>
                </a:endParaRPr>
              </a:p>
              <a:p>
                <a:pPr>
                  <a:spcBef>
                    <a:spcPts val="600"/>
                  </a:spcBef>
                </a:pPr>
                <a:r>
                  <a:rPr lang="en-US" altLang="zh-CN" sz="1600" dirty="0">
                    <a:latin typeface="Arial" panose="020B0604020202020204" pitchFamily="34" charset="0"/>
                    <a:cs typeface="Arial" panose="020B0604020202020204" pitchFamily="34" charset="0"/>
                  </a:rPr>
                  <a:t>             if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1</m:t>
                        </m:r>
                      </m:sub>
                    </m:sSub>
                  </m:oMath>
                </a14:m>
                <a:r>
                  <a:rPr lang="en-US" altLang="zh-CN" sz="1600" dirty="0">
                    <a:latin typeface="Arial" panose="020B0604020202020204" pitchFamily="34" charset="0"/>
                    <a:cs typeface="Arial" panose="020B0604020202020204" pitchFamily="34" charset="0"/>
                  </a:rPr>
                  <a:t> and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𝑓</m:t>
                        </m:r>
                      </m:e>
                      <m:sub>
                        <m:r>
                          <a:rPr lang="en-US" altLang="zh-CN" sz="1600" i="1">
                            <a:latin typeface="Cambria Math" panose="02040503050406030204" pitchFamily="18" charset="0"/>
                          </a:rPr>
                          <m:t>2</m:t>
                        </m:r>
                      </m:sub>
                    </m:sSub>
                  </m:oMath>
                </a14:m>
                <a:r>
                  <a:rPr lang="en-US" altLang="zh-CN" sz="1600" dirty="0">
                    <a:latin typeface="Arial" panose="020B0604020202020204" pitchFamily="34" charset="0"/>
                    <a:cs typeface="Arial" panose="020B0604020202020204" pitchFamily="34" charset="0"/>
                  </a:rPr>
                  <a:t> can be combined using </a:t>
                </a:r>
                <a:r>
                  <a:rPr lang="en-US" altLang="zh-CN" sz="1600" dirty="0">
                    <a:solidFill>
                      <a:srgbClr val="C00000"/>
                    </a:solidFill>
                    <a:latin typeface="Arial" panose="020B0604020202020204" pitchFamily="34" charset="0"/>
                    <a:cs typeface="Arial" panose="020B0604020202020204" pitchFamily="34" charset="0"/>
                  </a:rPr>
                  <a:t>transitivity</a:t>
                </a:r>
                <a:br>
                  <a:rPr lang="en-US" altLang="zh-CN" sz="1600" dirty="0">
                    <a:latin typeface="Arial" panose="020B0604020202020204" pitchFamily="34" charset="0"/>
                    <a:cs typeface="Arial" panose="020B0604020202020204" pitchFamily="34" charset="0"/>
                  </a:rPr>
                </a:br>
                <a:r>
                  <a:rPr lang="en-US" altLang="zh-CN" sz="1600" dirty="0">
                    <a:latin typeface="Arial" panose="020B0604020202020204" pitchFamily="34" charset="0"/>
                    <a:cs typeface="Arial" panose="020B0604020202020204" pitchFamily="34" charset="0"/>
                  </a:rPr>
                  <a:t>                   add the resulting FD to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i="1">
                            <a:latin typeface="Cambria Math" panose="02040503050406030204" pitchFamily="18" charset="0"/>
                          </a:rPr>
                          <m:t>+</m:t>
                        </m:r>
                      </m:sup>
                    </m:sSup>
                    <m:r>
                      <a:rPr lang="en-US" altLang="zh-CN" sz="1600" i="1">
                        <a:latin typeface="Cambria Math" panose="02040503050406030204" pitchFamily="18" charset="0"/>
                      </a:rPr>
                      <m:t> </m:t>
                    </m:r>
                  </m:oMath>
                </a14:m>
                <a:br>
                  <a:rPr lang="en-US" altLang="zh-CN" sz="1600" dirty="0">
                    <a:latin typeface="Arial" panose="020B0604020202020204" pitchFamily="34" charset="0"/>
                    <a:cs typeface="Arial" panose="020B0604020202020204" pitchFamily="34" charset="0"/>
                  </a:rPr>
                </a:br>
                <a:r>
                  <a:rPr lang="en-US" altLang="zh-CN" sz="1600" dirty="0">
                    <a:latin typeface="Arial" panose="020B0604020202020204" pitchFamily="34" charset="0"/>
                    <a:cs typeface="Arial" panose="020B0604020202020204" pitchFamily="34" charset="0"/>
                  </a:rPr>
                  <a:t>until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𝐹</m:t>
                        </m:r>
                      </m:e>
                      <m:sup>
                        <m:r>
                          <a:rPr lang="en-US" altLang="zh-CN" sz="1600" i="1">
                            <a:latin typeface="Cambria Math" panose="02040503050406030204" pitchFamily="18" charset="0"/>
                          </a:rPr>
                          <m:t>+</m:t>
                        </m:r>
                      </m:sup>
                    </m:sSup>
                    <m:r>
                      <a:rPr lang="en-US" altLang="zh-CN" sz="1600" i="1">
                        <a:latin typeface="Cambria Math" panose="02040503050406030204" pitchFamily="18" charset="0"/>
                      </a:rPr>
                      <m:t> </m:t>
                    </m:r>
                  </m:oMath>
                </a14:m>
                <a:r>
                  <a:rPr lang="en-US" altLang="zh-CN" sz="1600" dirty="0">
                    <a:latin typeface="Arial" panose="020B0604020202020204" pitchFamily="34" charset="0"/>
                    <a:cs typeface="Arial" panose="020B0604020202020204" pitchFamily="34" charset="0"/>
                  </a:rPr>
                  <a:t>does not change any more</a:t>
                </a:r>
                <a:endParaRPr lang="zh-CN" altLang="en-US" sz="1600" dirty="0">
                  <a:latin typeface="Arial" panose="020B0604020202020204" pitchFamily="34" charset="0"/>
                  <a:cs typeface="Arial" panose="020B0604020202020204" pitchFamily="34" charset="0"/>
                </a:endParaRPr>
              </a:p>
            </p:txBody>
          </p:sp>
        </mc:Choice>
        <mc:Fallback xmlns="">
          <p:sp>
            <p:nvSpPr>
              <p:cNvPr id="5" name="文本框 4">
                <a:extLst>
                  <a:ext uri="{FF2B5EF4-FFF2-40B4-BE49-F238E27FC236}">
                    <a16:creationId xmlns:a16="http://schemas.microsoft.com/office/drawing/2014/main" id="{2CF742F7-3DF5-4F39-97DF-74244DF87745}"/>
                  </a:ext>
                </a:extLst>
              </p:cNvPr>
              <p:cNvSpPr txBox="1">
                <a:spLocks noRot="1" noChangeAspect="1" noMove="1" noResize="1" noEditPoints="1" noAdjustHandles="1" noChangeArrowheads="1" noChangeShapeType="1" noTextEdit="1"/>
              </p:cNvSpPr>
              <p:nvPr/>
            </p:nvSpPr>
            <p:spPr>
              <a:xfrm>
                <a:off x="611560" y="1284010"/>
                <a:ext cx="7560840" cy="2539157"/>
              </a:xfrm>
              <a:prstGeom prst="rect">
                <a:avLst/>
              </a:prstGeom>
              <a:blipFill>
                <a:blip r:embed="rId5"/>
                <a:stretch>
                  <a:fillRect l="-403" b="-240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7865468"/>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FDA96FF0-14BE-4A8C-BCF0-DB90CC11C4B1}"/>
                  </a:ext>
                </a:extLst>
              </p:cNvPr>
              <p:cNvSpPr>
                <a:spLocks noGrp="1"/>
              </p:cNvSpPr>
              <p:nvPr>
                <p:ph type="title"/>
              </p:nvPr>
            </p:nvSpPr>
            <p:spPr/>
            <p:txBody>
              <a:bodyPr/>
              <a:lstStyle/>
              <a:p>
                <a:pPr/>
                <a14:m>
                  <m:oMathPara xmlns:m="http://schemas.openxmlformats.org/officeDocument/2006/math">
                    <m:oMathParaPr>
                      <m:jc m:val="centerGroup"/>
                    </m:oMathParaPr>
                    <m:oMath xmlns:m="http://schemas.openxmlformats.org/officeDocument/2006/math">
                      <m:sSup>
                        <m:sSupPr>
                          <m:ctrlPr>
                            <a:rPr lang="en-US" altLang="zh-CN" i="1" smtClean="0">
                              <a:latin typeface="Cambria Math" panose="02040503050406030204" pitchFamily="18" charset="0"/>
                            </a:rPr>
                          </m:ctrlPr>
                        </m:sSupPr>
                        <m:e>
                          <m:r>
                            <a:rPr lang="en-US" altLang="zh-CN" b="1" i="1" smtClean="0">
                              <a:latin typeface="Cambria Math" panose="02040503050406030204" pitchFamily="18" charset="0"/>
                            </a:rPr>
                            <m:t>𝑭</m:t>
                          </m:r>
                        </m:e>
                        <m:sup>
                          <m:r>
                            <a:rPr lang="en-US" altLang="zh-CN" b="1" i="1" smtClean="0">
                              <a:latin typeface="Cambria Math" panose="02040503050406030204" pitchFamily="18" charset="0"/>
                            </a:rPr>
                            <m:t>+</m:t>
                          </m:r>
                        </m:sup>
                      </m:sSup>
                    </m:oMath>
                  </m:oMathPara>
                </a14:m>
                <a:endParaRPr lang="zh-CN" altLang="en-US" dirty="0"/>
              </a:p>
            </p:txBody>
          </p:sp>
        </mc:Choice>
        <mc:Fallback xmlns="">
          <p:sp>
            <p:nvSpPr>
              <p:cNvPr id="2" name="标题 1">
                <a:extLst>
                  <a:ext uri="{FF2B5EF4-FFF2-40B4-BE49-F238E27FC236}">
                    <a16:creationId xmlns:a16="http://schemas.microsoft.com/office/drawing/2014/main" id="{FDA96FF0-14BE-4A8C-BCF0-DB90CC11C4B1}"/>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zh-CN" altLang="en-US">
                    <a:noFill/>
                  </a:rPr>
                  <a:t> </a:t>
                </a:r>
              </a:p>
            </p:txBody>
          </p:sp>
        </mc:Fallback>
      </mc:AlternateContent>
      <p:sp>
        <p:nvSpPr>
          <p:cNvPr id="4" name="Rectangle 3">
            <a:extLst>
              <a:ext uri="{FF2B5EF4-FFF2-40B4-BE49-F238E27FC236}">
                <a16:creationId xmlns:a16="http://schemas.microsoft.com/office/drawing/2014/main" id="{414CF3EF-A4E6-40F9-95D8-79EF05DA9BD0}"/>
              </a:ext>
            </a:extLst>
          </p:cNvPr>
          <p:cNvSpPr txBox="1">
            <a:spLocks noChangeArrowheads="1"/>
          </p:cNvSpPr>
          <p:nvPr/>
        </p:nvSpPr>
        <p:spPr bwMode="auto">
          <a:xfrm>
            <a:off x="744015" y="778092"/>
            <a:ext cx="7860433" cy="3718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00FF00"/>
              </a:buClr>
              <a:buSzPct val="80000"/>
              <a:buFont typeface="Wingdings" panose="05000000000000000000" pitchFamily="2" charset="2"/>
              <a:buChar char="l"/>
              <a:defRPr kumimoji="1" sz="1500">
                <a:solidFill>
                  <a:schemeClr val="tx1"/>
                </a:solidFill>
                <a:latin typeface="+mn-lt"/>
              </a:defRPr>
            </a:lvl3pPr>
            <a:lvl4pPr marL="1071563" indent="-171450" algn="l" rtl="0" eaLnBrk="0" fontAlgn="base" hangingPunct="0">
              <a:spcBef>
                <a:spcPct val="35000"/>
              </a:spcBef>
              <a:spcAft>
                <a:spcPct val="0"/>
              </a:spcAft>
              <a:buClr>
                <a:srgbClr val="CC0099"/>
              </a:buClr>
              <a:buSzPct val="80000"/>
              <a:buFont typeface="Times New Roman" panose="02020603050405020304" pitchFamily="18" charset="0"/>
              <a:buChar char="•"/>
              <a:defRPr kumimoji="1" sz="1500">
                <a:solidFill>
                  <a:schemeClr val="tx1"/>
                </a:solidFill>
                <a:latin typeface="+mn-lt"/>
              </a:defRPr>
            </a:lvl4pPr>
            <a:lvl5pPr marL="1328738" indent="-171450" algn="l" rtl="0" eaLnBrk="0" fontAlgn="base" hangingPunct="0">
              <a:spcBef>
                <a:spcPct val="35000"/>
              </a:spcBef>
              <a:spcAft>
                <a:spcPct val="0"/>
              </a:spcAft>
              <a:buClr>
                <a:srgbClr val="000000"/>
              </a:buClr>
              <a:buSzPct val="80000"/>
              <a:buFont typeface="Times New Roman" panose="02020603050405020304" pitchFamily="18" charset="0"/>
              <a:buChar char="»"/>
              <a:defRPr kumimoji="1" sz="1500">
                <a:solidFill>
                  <a:schemeClr val="tx1"/>
                </a:solidFill>
                <a:latin typeface="+mn-lt"/>
              </a:defRPr>
            </a:lvl5pPr>
            <a:lvl6pPr marL="16716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6pPr>
            <a:lvl7pPr marL="20145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7pPr>
            <a:lvl8pPr marL="23574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8pPr>
            <a:lvl9pPr marL="27003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9pPr>
          </a:lstStyle>
          <a:p>
            <a:pPr>
              <a:lnSpc>
                <a:spcPct val="110000"/>
              </a:lnSpc>
              <a:buFont typeface="Wingdings" panose="05000000000000000000" pitchFamily="2" charset="2"/>
              <a:buNone/>
            </a:pPr>
            <a:r>
              <a:rPr lang="en-US" altLang="zh-CN"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R(X,Y,Z), F = {X→Y, Y→Z},</a:t>
            </a:r>
            <a:r>
              <a:rPr lang="zh-CN" altLang="en-US"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 </a:t>
            </a:r>
            <a:r>
              <a:rPr lang="en-US" altLang="zh-CN"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F</a:t>
            </a:r>
            <a:r>
              <a:rPr lang="en-US" altLang="zh-CN" sz="1400" b="1" kern="0" baseline="30000" dirty="0">
                <a:solidFill>
                  <a:srgbClr val="C00000"/>
                </a:solidFill>
                <a:latin typeface="Arial" panose="020B0604020202020204" pitchFamily="34" charset="0"/>
                <a:ea typeface="华文中宋" panose="02010600040101010101" pitchFamily="2" charset="-122"/>
                <a:cs typeface="Arial" panose="020B0604020202020204" pitchFamily="34" charset="0"/>
              </a:rPr>
              <a:t>+ </a:t>
            </a:r>
            <a:r>
              <a:rPr lang="zh-CN" altLang="en-US"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F</a:t>
            </a:r>
            <a:r>
              <a:rPr lang="en-US" altLang="zh-CN" sz="1400" b="1" kern="0" baseline="30000" dirty="0">
                <a:latin typeface="Arial" panose="020B0604020202020204" pitchFamily="34" charset="0"/>
                <a:ea typeface="华文中宋" panose="02010600040101010101" pitchFamily="2" charset="-122"/>
                <a:cs typeface="Arial" panose="020B0604020202020204" pitchFamily="34" charset="0"/>
              </a:rPr>
              <a:t>+ </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X→</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Y→</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Z→</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XY→</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XZ→</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YZ→</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XYZ→</a:t>
            </a:r>
            <a:r>
              <a:rPr lang="el-GR" altLang="zh-CN" sz="1400" b="1" kern="0" dirty="0">
                <a:latin typeface="Arial" panose="020B0604020202020204" pitchFamily="34" charset="0"/>
                <a:ea typeface="华文中宋" panose="02010600040101010101" pitchFamily="2" charset="-122"/>
                <a:cs typeface="Arial" panose="020B0604020202020204" pitchFamily="34" charset="0"/>
              </a:rPr>
              <a:t>Φ</a:t>
            </a:r>
            <a:r>
              <a:rPr lang="en-US" altLang="zh-CN" sz="1400" b="1" kern="0" dirty="0">
                <a:latin typeface="Arial" panose="020B0604020202020204" pitchFamily="34" charset="0"/>
                <a:ea typeface="华文中宋" panose="02010600040101010101" pitchFamily="2" charset="-122"/>
                <a:cs typeface="Arial" panose="020B0604020202020204" pitchFamily="34" charset="0"/>
              </a:rPr>
              <a:t>, </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X→X, 	Y→Y, 	Z→Z, 	XY→X, 	XZ→X, 	YZ→Y, 	XYZ→X,</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X→Y, 	Y→Z, 	XY→Y, 	XZ→Y, 	YZ→Z, 	 XYZ→Y,	X→Z,</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Y→YZ,	XY→Z,	XZ→Z, 	YZ→YZ, 	XYZ→Z,    X→XY,      XY→XY,    </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XZ→XY,    XYZ→XY,   X→XZ,    XY→YZ,   XZ→XZ,   XYZ→YZ,   X→YZ, </a:t>
            </a:r>
          </a:p>
          <a:p>
            <a:pPr>
              <a:lnSpc>
                <a:spcPct val="110000"/>
              </a:lnSpc>
              <a:buFont typeface="Wingdings" panose="05000000000000000000" pitchFamily="2" charset="2"/>
              <a:buNone/>
            </a:pPr>
            <a:r>
              <a:rPr lang="en-US" altLang="zh-CN" sz="1400" b="1" kern="0" dirty="0">
                <a:latin typeface="Arial" panose="020B0604020202020204" pitchFamily="34" charset="0"/>
                <a:ea typeface="华文中宋" panose="02010600040101010101" pitchFamily="2" charset="-122"/>
                <a:cs typeface="Arial" panose="020B0604020202020204" pitchFamily="34" charset="0"/>
              </a:rPr>
              <a:t>XY→XZ,    XZ→YZ,  XYZ→XZ,    X→XYZ,    XY→XYZ,   XZ→XYZ,  XYZ→XYZ}</a:t>
            </a:r>
          </a:p>
          <a:p>
            <a:pPr>
              <a:lnSpc>
                <a:spcPct val="110000"/>
              </a:lnSpc>
              <a:buFont typeface="Wingdings" panose="05000000000000000000" pitchFamily="2" charset="2"/>
              <a:buNone/>
            </a:pPr>
            <a:endParaRPr lang="en-US" altLang="zh-CN" sz="1400" b="1" kern="0" dirty="0">
              <a:latin typeface="Arial" panose="020B0604020202020204" pitchFamily="34" charset="0"/>
              <a:ea typeface="华文中宋" panose="02010600040101010101" pitchFamily="2" charset="-122"/>
              <a:cs typeface="Arial" panose="020B0604020202020204" pitchFamily="34" charset="0"/>
            </a:endParaRPr>
          </a:p>
          <a:p>
            <a:pPr>
              <a:lnSpc>
                <a:spcPct val="110000"/>
              </a:lnSpc>
              <a:buFont typeface="Wingdings" panose="05000000000000000000" pitchFamily="2" charset="2"/>
              <a:buNone/>
            </a:pPr>
            <a:r>
              <a:rPr lang="en-US" altLang="zh-CN"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F={X→A</a:t>
            </a:r>
            <a:r>
              <a:rPr lang="en-US" altLang="zh-CN" sz="1400" b="1" kern="0" baseline="-25000" dirty="0">
                <a:solidFill>
                  <a:srgbClr val="C00000"/>
                </a:solidFill>
                <a:latin typeface="Arial" panose="020B0604020202020204" pitchFamily="34" charset="0"/>
                <a:ea typeface="华文中宋" panose="02010600040101010101" pitchFamily="2" charset="-122"/>
                <a:cs typeface="Arial" panose="020B0604020202020204" pitchFamily="34" charset="0"/>
              </a:rPr>
              <a:t>1</a:t>
            </a:r>
            <a:r>
              <a:rPr lang="en-US" altLang="zh-CN"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 …… , </a:t>
            </a:r>
            <a:r>
              <a:rPr lang="en-US" altLang="zh-CN" sz="1400" b="1" kern="0" dirty="0" err="1">
                <a:solidFill>
                  <a:srgbClr val="C00000"/>
                </a:solidFill>
                <a:latin typeface="Arial" panose="020B0604020202020204" pitchFamily="34" charset="0"/>
                <a:ea typeface="华文中宋" panose="02010600040101010101" pitchFamily="2" charset="-122"/>
                <a:cs typeface="Arial" panose="020B0604020202020204" pitchFamily="34" charset="0"/>
              </a:rPr>
              <a:t>X→A</a:t>
            </a:r>
            <a:r>
              <a:rPr lang="en-US" altLang="zh-CN" sz="1400" b="1" kern="0" baseline="-25000" dirty="0" err="1">
                <a:solidFill>
                  <a:srgbClr val="C00000"/>
                </a:solidFill>
                <a:latin typeface="Arial" panose="020B0604020202020204" pitchFamily="34" charset="0"/>
                <a:ea typeface="华文中宋" panose="02010600040101010101" pitchFamily="2" charset="-122"/>
                <a:cs typeface="Arial" panose="020B0604020202020204" pitchFamily="34" charset="0"/>
              </a:rPr>
              <a:t>n</a:t>
            </a:r>
            <a:r>
              <a:rPr lang="en-US" altLang="zh-CN"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 computing F</a:t>
            </a:r>
            <a:r>
              <a:rPr lang="en-US" altLang="zh-CN" sz="1400" b="1" kern="0" baseline="30000" dirty="0">
                <a:solidFill>
                  <a:srgbClr val="C00000"/>
                </a:solidFill>
                <a:latin typeface="Arial" panose="020B0604020202020204" pitchFamily="34" charset="0"/>
                <a:ea typeface="华文中宋" panose="02010600040101010101" pitchFamily="2" charset="-122"/>
                <a:cs typeface="Arial" panose="020B0604020202020204" pitchFamily="34" charset="0"/>
              </a:rPr>
              <a:t>+ </a:t>
            </a:r>
            <a:r>
              <a:rPr lang="en-US" altLang="zh-CN"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rPr>
              <a:t>is a NP problem</a:t>
            </a:r>
            <a:endParaRPr lang="zh-CN" altLang="en-US" sz="1400" b="1" kern="0" dirty="0">
              <a:solidFill>
                <a:srgbClr val="C00000"/>
              </a:solidFill>
              <a:latin typeface="Arial" panose="020B0604020202020204" pitchFamily="34" charset="0"/>
              <a:ea typeface="华文中宋" panose="02010600040101010101" pitchFamily="2" charset="-122"/>
              <a:cs typeface="Arial" panose="020B0604020202020204" pitchFamily="34" charset="0"/>
            </a:endParaRPr>
          </a:p>
        </p:txBody>
      </p:sp>
    </p:spTree>
    <p:extLst>
      <p:ext uri="{BB962C8B-B14F-4D97-AF65-F5344CB8AC3E}">
        <p14:creationId xmlns:p14="http://schemas.microsoft.com/office/powerpoint/2010/main" val="4026678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arn(inVertical)">
                                      <p:cBhvr>
                                        <p:cTn id="7" dur="500"/>
                                        <p:tgtEl>
                                          <p:spTgt spid="4">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4">
                                            <p:txEl>
                                              <p:pRg st="2" end="2"/>
                                            </p:txEl>
                                          </p:spTgt>
                                        </p:tgtEl>
                                        <p:attrNameLst>
                                          <p:attrName>style.visibility</p:attrName>
                                        </p:attrNameLst>
                                      </p:cBhvr>
                                      <p:to>
                                        <p:strVal val="visible"/>
                                      </p:to>
                                    </p:set>
                                    <p:animEffect transition="in" filter="barn(inVertical)">
                                      <p:cBhvr>
                                        <p:cTn id="10" dur="500"/>
                                        <p:tgtEl>
                                          <p:spTgt spid="4">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animEffect transition="in" filter="barn(inVertical)">
                                      <p:cBhvr>
                                        <p:cTn id="13" dur="500"/>
                                        <p:tgtEl>
                                          <p:spTgt spid="4">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4">
                                            <p:txEl>
                                              <p:pRg st="4" end="4"/>
                                            </p:txEl>
                                          </p:spTgt>
                                        </p:tgtEl>
                                        <p:attrNameLst>
                                          <p:attrName>style.visibility</p:attrName>
                                        </p:attrNameLst>
                                      </p:cBhvr>
                                      <p:to>
                                        <p:strVal val="visible"/>
                                      </p:to>
                                    </p:set>
                                    <p:animEffect transition="in" filter="barn(inVertical)">
                                      <p:cBhvr>
                                        <p:cTn id="16" dur="500"/>
                                        <p:tgtEl>
                                          <p:spTgt spid="4">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Effect transition="in" filter="barn(inVertical)">
                                      <p:cBhvr>
                                        <p:cTn id="19" dur="500"/>
                                        <p:tgtEl>
                                          <p:spTgt spid="4">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barn(inVertical)">
                                      <p:cBhvr>
                                        <p:cTn id="22" dur="500"/>
                                        <p:tgtEl>
                                          <p:spTgt spid="4">
                                            <p:txEl>
                                              <p:pRg st="6" end="6"/>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barn(inVertical)">
                                      <p:cBhvr>
                                        <p:cTn id="25" dur="500"/>
                                        <p:tgtEl>
                                          <p:spTgt spid="4">
                                            <p:txEl>
                                              <p:pRg st="7" end="7"/>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
                                            <p:txEl>
                                              <p:pRg st="9" end="9"/>
                                            </p:txEl>
                                          </p:spTgt>
                                        </p:tgtEl>
                                        <p:attrNameLst>
                                          <p:attrName>style.visibility</p:attrName>
                                        </p:attrNameLst>
                                      </p:cBhvr>
                                      <p:to>
                                        <p:strVal val="visible"/>
                                      </p:to>
                                    </p:set>
                                    <p:anim calcmode="lin" valueType="num">
                                      <p:cBhvr additive="base">
                                        <p:cTn id="30"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854912"/>
            <a:ext cx="8568952" cy="3805070"/>
          </a:xfrm>
        </p:spPr>
        <p:txBody>
          <a:bodyPr/>
          <a:lstStyle/>
          <a:p>
            <a:pPr>
              <a:spcBef>
                <a:spcPts val="400"/>
              </a:spcBef>
            </a:pPr>
            <a:r>
              <a:rPr lang="en-US" altLang="zh-CN" sz="2000" b="1" dirty="0"/>
              <a:t>Features of Good Relational Designs</a:t>
            </a:r>
          </a:p>
          <a:p>
            <a:pPr>
              <a:spcBef>
                <a:spcPts val="400"/>
              </a:spcBef>
            </a:pPr>
            <a:r>
              <a:rPr lang="en-US" altLang="zh-CN" sz="2000" b="1" dirty="0">
                <a:solidFill>
                  <a:srgbClr val="C00000"/>
                </a:solidFill>
              </a:rPr>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b="1" dirty="0">
                <a:solidFill>
                  <a:srgbClr val="C00000"/>
                </a:solidFill>
              </a:rPr>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b="1" dirty="0"/>
              <a:t>Normalization &amp; Normal Forms (</a:t>
            </a:r>
            <a:r>
              <a:rPr lang="zh-CN" altLang="en-US" sz="2000" b="1" dirty="0"/>
              <a:t>范式</a:t>
            </a:r>
            <a:r>
              <a:rPr lang="en-US" altLang="zh-CN" sz="2000" b="1" dirty="0"/>
              <a:t>)</a:t>
            </a:r>
          </a:p>
          <a:p>
            <a:pPr>
              <a:spcBef>
                <a:spcPts val="400"/>
              </a:spcBef>
            </a:pPr>
            <a:r>
              <a:rPr lang="en-US" altLang="zh-CN" sz="2000" b="1" dirty="0"/>
              <a:t>Multivalued Dependencies</a:t>
            </a:r>
            <a:r>
              <a:rPr lang="zh-CN" altLang="en-US" sz="2000" b="1" dirty="0"/>
              <a:t>*</a:t>
            </a:r>
            <a:endParaRPr lang="en-US" altLang="zh-CN" sz="2000" b="1" dirty="0"/>
          </a:p>
          <a:p>
            <a:pPr>
              <a:spcBef>
                <a:spcPts val="400"/>
              </a:spcBef>
            </a:pPr>
            <a:r>
              <a:rPr lang="en-US" altLang="zh-CN" sz="2000" b="1" dirty="0"/>
              <a:t>Database Design Process</a:t>
            </a:r>
          </a:p>
        </p:txBody>
      </p:sp>
    </p:spTree>
    <p:extLst>
      <p:ext uri="{BB962C8B-B14F-4D97-AF65-F5344CB8AC3E}">
        <p14:creationId xmlns:p14="http://schemas.microsoft.com/office/powerpoint/2010/main" val="95307125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09E467-9A74-4713-A370-8086737D0B8B}"/>
              </a:ext>
            </a:extLst>
          </p:cNvPr>
          <p:cNvSpPr>
            <a:spLocks noGrp="1"/>
          </p:cNvSpPr>
          <p:nvPr>
            <p:ph type="title"/>
          </p:nvPr>
        </p:nvSpPr>
        <p:spPr/>
        <p:txBody>
          <a:bodyPr/>
          <a:lstStyle/>
          <a:p>
            <a:pPr algn="ctr"/>
            <a:r>
              <a:rPr lang="en-US" altLang="zh-CN" dirty="0"/>
              <a:t>Closure of Attribute Set (</a:t>
            </a:r>
            <a:r>
              <a:rPr lang="zh-CN" altLang="en-US" dirty="0"/>
              <a:t>属性集的闭包</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98681A0-E6FB-45D5-ABD4-D5C4F7033BB6}"/>
                  </a:ext>
                </a:extLst>
              </p:cNvPr>
              <p:cNvSpPr>
                <a:spLocks noGrp="1"/>
              </p:cNvSpPr>
              <p:nvPr>
                <p:ph idx="1"/>
              </p:nvPr>
            </p:nvSpPr>
            <p:spPr>
              <a:xfrm>
                <a:off x="107504" y="789553"/>
                <a:ext cx="8856984" cy="3805070"/>
              </a:xfrm>
            </p:spPr>
            <p:txBody>
              <a:bodyPr/>
              <a:lstStyle/>
              <a:p>
                <a:r>
                  <a:rPr lang="en-US" altLang="zh-CN" sz="1800" dirty="0"/>
                  <a:t>Given a set of attributes </a:t>
                </a:r>
                <a14:m>
                  <m:oMath xmlns:m="http://schemas.openxmlformats.org/officeDocument/2006/math">
                    <m:r>
                      <a:rPr lang="zh-CN" altLang="en-US" sz="1800" i="1" smtClean="0">
                        <a:latin typeface="Cambria Math" panose="02040503050406030204" pitchFamily="18" charset="0"/>
                      </a:rPr>
                      <m:t>𝛼</m:t>
                    </m:r>
                  </m:oMath>
                </a14:m>
                <a:r>
                  <a:rPr lang="en-US" altLang="zh-CN" sz="1800" dirty="0"/>
                  <a:t>, define the closure of </a:t>
                </a:r>
                <a14:m>
                  <m:oMath xmlns:m="http://schemas.openxmlformats.org/officeDocument/2006/math">
                    <m:r>
                      <a:rPr lang="zh-CN" altLang="en-US" sz="1800" i="1">
                        <a:latin typeface="Cambria Math" panose="02040503050406030204" pitchFamily="18" charset="0"/>
                      </a:rPr>
                      <m:t>𝛼</m:t>
                    </m:r>
                  </m:oMath>
                </a14:m>
                <a:r>
                  <a:rPr lang="en-US" altLang="zh-CN" sz="1800" dirty="0"/>
                  <a:t> under </a:t>
                </a:r>
                <a14:m>
                  <m:oMath xmlns:m="http://schemas.openxmlformats.org/officeDocument/2006/math">
                    <m:r>
                      <a:rPr lang="en-US" altLang="zh-CN" sz="1800" b="0" i="1" dirty="0" smtClean="0">
                        <a:latin typeface="Cambria Math" panose="02040503050406030204" pitchFamily="18" charset="0"/>
                      </a:rPr>
                      <m:t>𝐹</m:t>
                    </m:r>
                  </m:oMath>
                </a14:m>
                <a:r>
                  <a:rPr lang="en-US" altLang="zh-CN" sz="1800" dirty="0"/>
                  <a:t> (denoted by </a:t>
                </a:r>
                <a14:m>
                  <m:oMath xmlns:m="http://schemas.openxmlformats.org/officeDocument/2006/math">
                    <m:sSup>
                      <m:sSupPr>
                        <m:ctrlPr>
                          <a:rPr lang="en-US" altLang="zh-CN" sz="1800" i="1" smtClean="0">
                            <a:latin typeface="Cambria Math" panose="02040503050406030204" pitchFamily="18" charset="0"/>
                          </a:rPr>
                        </m:ctrlPr>
                      </m:sSupPr>
                      <m:e>
                        <m:r>
                          <a:rPr lang="zh-CN" altLang="en-US" sz="1800" i="1" smtClean="0">
                            <a:latin typeface="Cambria Math" panose="02040503050406030204" pitchFamily="18" charset="0"/>
                          </a:rPr>
                          <m:t>𝛼</m:t>
                        </m:r>
                      </m:e>
                      <m:sup>
                        <m:r>
                          <a:rPr lang="en-US" altLang="zh-CN" sz="1800" b="0" i="1" smtClean="0">
                            <a:latin typeface="Cambria Math" panose="02040503050406030204" pitchFamily="18" charset="0"/>
                          </a:rPr>
                          <m:t>+</m:t>
                        </m:r>
                      </m:sup>
                    </m:sSup>
                  </m:oMath>
                </a14:m>
                <a:r>
                  <a:rPr lang="en-US" altLang="zh-CN" sz="1800" dirty="0"/>
                  <a:t>) as the set of </a:t>
                </a:r>
                <a:r>
                  <a:rPr lang="en-US" altLang="zh-CN" sz="1800" b="1" dirty="0">
                    <a:solidFill>
                      <a:srgbClr val="C00000"/>
                    </a:solidFill>
                  </a:rPr>
                  <a:t>attributes</a:t>
                </a:r>
                <a:r>
                  <a:rPr lang="en-US" altLang="zh-CN" sz="1800" dirty="0"/>
                  <a:t> that are functionally determined by </a:t>
                </a:r>
                <a14:m>
                  <m:oMath xmlns:m="http://schemas.openxmlformats.org/officeDocument/2006/math">
                    <m:r>
                      <a:rPr lang="zh-CN" altLang="en-US" sz="1800" i="1">
                        <a:latin typeface="Cambria Math" panose="02040503050406030204" pitchFamily="18" charset="0"/>
                      </a:rPr>
                      <m:t>𝛼</m:t>
                    </m:r>
                  </m:oMath>
                </a14:m>
                <a:r>
                  <a:rPr lang="en-US" altLang="zh-CN" sz="1800" dirty="0"/>
                  <a:t> under </a:t>
                </a:r>
                <a14:m>
                  <m:oMath xmlns:m="http://schemas.openxmlformats.org/officeDocument/2006/math">
                    <m:r>
                      <a:rPr lang="en-US" altLang="zh-CN" sz="1800" b="0" i="1" smtClean="0">
                        <a:latin typeface="Cambria Math" panose="02040503050406030204" pitchFamily="18" charset="0"/>
                      </a:rPr>
                      <m:t>𝐹</m:t>
                    </m:r>
                  </m:oMath>
                </a14:m>
                <a:r>
                  <a:rPr lang="en-US" altLang="zh-CN" sz="1800" dirty="0"/>
                  <a:t>:</a:t>
                </a:r>
              </a:p>
              <a:p>
                <a:pPr marL="0" indent="0">
                  <a:buNone/>
                </a:pPr>
                <a:r>
                  <a:rPr lang="en-US" altLang="zh-CN" sz="1800" dirty="0"/>
                  <a:t>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𝛽</m:t>
                    </m:r>
                  </m:oMath>
                </a14:m>
                <a:r>
                  <a:rPr lang="en-US" altLang="zh-CN" sz="1800" dirty="0"/>
                  <a:t> is in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𝐹</m:t>
                        </m:r>
                      </m:e>
                      <m:sup>
                        <m:r>
                          <a:rPr lang="en-US" altLang="zh-CN" sz="1800" b="0" i="1" smtClean="0">
                            <a:latin typeface="Cambria Math" panose="02040503050406030204" pitchFamily="18" charset="0"/>
                          </a:rPr>
                          <m:t>+</m:t>
                        </m:r>
                      </m:sup>
                    </m:sSup>
                  </m:oMath>
                </a14:m>
                <a:r>
                  <a:rPr lang="en-US" altLang="zh-CN" sz="1800" dirty="0"/>
                  <a:t> </a:t>
                </a:r>
                <a14:m>
                  <m:oMath xmlns:m="http://schemas.openxmlformats.org/officeDocument/2006/math">
                    <m:r>
                      <a:rPr lang="en-US" altLang="zh-CN" sz="1800" i="1" dirty="0" smtClean="0">
                        <a:latin typeface="Cambria Math" panose="02040503050406030204" pitchFamily="18" charset="0"/>
                        <a:ea typeface="Cambria Math" panose="02040503050406030204" pitchFamily="18" charset="0"/>
                      </a:rPr>
                      <m:t>⟺</m:t>
                    </m:r>
                  </m:oMath>
                </a14:m>
                <a:r>
                  <a:rPr lang="en-US" altLang="zh-CN" sz="1800" dirty="0"/>
                  <a:t> </a:t>
                </a:r>
                <a14:m>
                  <m:oMath xmlns:m="http://schemas.openxmlformats.org/officeDocument/2006/math">
                    <m:r>
                      <a:rPr lang="zh-CN" altLang="en-US" sz="1800" i="1" dirty="0" smtClean="0">
                        <a:latin typeface="Cambria Math" panose="02040503050406030204" pitchFamily="18" charset="0"/>
                      </a:rPr>
                      <m:t>𝛽</m:t>
                    </m:r>
                    <m:r>
                      <a:rPr lang="zh-CN" altLang="en-US" sz="1800" i="1" dirty="0" smtClean="0">
                        <a:latin typeface="Cambria Math" panose="02040503050406030204" pitchFamily="18" charset="0"/>
                      </a:rPr>
                      <m:t>⊆</m:t>
                    </m:r>
                    <m:sSup>
                      <m:sSupPr>
                        <m:ctrlPr>
                          <a:rPr lang="en-US" altLang="zh-CN" sz="1800" i="1" dirty="0" smtClean="0">
                            <a:latin typeface="Cambria Math" panose="02040503050406030204" pitchFamily="18" charset="0"/>
                          </a:rPr>
                        </m:ctrlPr>
                      </m:sSupPr>
                      <m:e>
                        <m:r>
                          <a:rPr lang="zh-CN" altLang="en-US" sz="1800" i="1" dirty="0" smtClean="0">
                            <a:latin typeface="Cambria Math" panose="02040503050406030204" pitchFamily="18" charset="0"/>
                          </a:rPr>
                          <m:t>𝛼</m:t>
                        </m:r>
                      </m:e>
                      <m:sup>
                        <m:r>
                          <a:rPr lang="en-US" altLang="zh-CN" sz="1800" b="0" i="1" dirty="0" smtClean="0">
                            <a:latin typeface="Cambria Math" panose="02040503050406030204" pitchFamily="18" charset="0"/>
                          </a:rPr>
                          <m:t>+</m:t>
                        </m:r>
                      </m:sup>
                    </m:sSup>
                  </m:oMath>
                </a14:m>
                <a:endParaRPr lang="en-US" altLang="zh-CN" sz="1800" dirty="0"/>
              </a:p>
              <a:p>
                <a:pPr marL="0" indent="0">
                  <a:buNone/>
                </a:pPr>
                <a:endParaRPr lang="en-US" altLang="zh-CN" sz="1800" dirty="0"/>
              </a:p>
              <a:p>
                <a:r>
                  <a:rPr lang="en-US" altLang="zh-CN" sz="1800" dirty="0"/>
                  <a:t>Algorithm to compute </a:t>
                </a:r>
                <a14:m>
                  <m:oMath xmlns:m="http://schemas.openxmlformats.org/officeDocument/2006/math">
                    <m:sSup>
                      <m:sSupPr>
                        <m:ctrlPr>
                          <a:rPr lang="en-US" altLang="zh-CN" sz="1800" i="1">
                            <a:latin typeface="Cambria Math" panose="02040503050406030204" pitchFamily="18" charset="0"/>
                          </a:rPr>
                        </m:ctrlPr>
                      </m:sSupPr>
                      <m:e>
                        <m:r>
                          <a:rPr lang="zh-CN" altLang="en-US" sz="1800" i="1">
                            <a:latin typeface="Cambria Math" panose="02040503050406030204" pitchFamily="18" charset="0"/>
                          </a:rPr>
                          <m:t>𝛼</m:t>
                        </m:r>
                      </m:e>
                      <m:sup>
                        <m:r>
                          <a:rPr lang="en-US" altLang="zh-CN" sz="1800" i="1">
                            <a:latin typeface="Cambria Math" panose="02040503050406030204" pitchFamily="18" charset="0"/>
                          </a:rPr>
                          <m:t>+</m:t>
                        </m:r>
                      </m:sup>
                    </m:sSup>
                    <m:r>
                      <a:rPr lang="en-US" altLang="zh-CN" sz="1800" i="1">
                        <a:latin typeface="Cambria Math" panose="02040503050406030204" pitchFamily="18" charset="0"/>
                      </a:rPr>
                      <m:t> </m:t>
                    </m:r>
                  </m:oMath>
                </a14:m>
                <a:r>
                  <a:rPr lang="en-US" altLang="zh-CN" sz="1800" dirty="0"/>
                  <a:t>:</a:t>
                </a:r>
                <a:br>
                  <a:rPr lang="en-US" altLang="zh-CN" sz="1800" dirty="0"/>
                </a:br>
                <a:r>
                  <a:rPr lang="en-US" altLang="zh-CN" sz="1800" dirty="0"/>
                  <a:t>	result:=</a:t>
                </a:r>
                <a14:m>
                  <m:oMath xmlns:m="http://schemas.openxmlformats.org/officeDocument/2006/math">
                    <m:r>
                      <a:rPr lang="zh-CN" altLang="en-US" sz="1800" i="1">
                        <a:latin typeface="Cambria Math" panose="02040503050406030204" pitchFamily="18" charset="0"/>
                      </a:rPr>
                      <m:t>𝛼</m:t>
                    </m:r>
                  </m:oMath>
                </a14:m>
                <a:br>
                  <a:rPr lang="en-US" altLang="zh-CN" sz="1800" dirty="0"/>
                </a:br>
                <a:r>
                  <a:rPr lang="en-US" altLang="zh-CN" sz="1800" dirty="0"/>
                  <a:t>	</a:t>
                </a:r>
                <a:r>
                  <a:rPr lang="en-US" altLang="zh-CN" sz="1800" b="1" dirty="0"/>
                  <a:t>while</a:t>
                </a:r>
                <a:r>
                  <a:rPr lang="en-US" altLang="zh-CN" sz="1800" dirty="0"/>
                  <a:t> (changes to result) </a:t>
                </a:r>
                <a:r>
                  <a:rPr lang="en-US" altLang="zh-CN" sz="1800" b="1" dirty="0"/>
                  <a:t>do</a:t>
                </a:r>
                <a:br>
                  <a:rPr lang="en-US" altLang="zh-CN" sz="1800" dirty="0"/>
                </a:br>
                <a:r>
                  <a:rPr lang="en-US" altLang="zh-CN" sz="1800" dirty="0"/>
                  <a:t>	      </a:t>
                </a:r>
                <a:r>
                  <a:rPr lang="en-US" altLang="zh-CN" sz="1800" b="1" dirty="0"/>
                  <a:t>for each </a:t>
                </a:r>
                <a14:m>
                  <m:oMath xmlns:m="http://schemas.openxmlformats.org/officeDocument/2006/math">
                    <m:r>
                      <a:rPr lang="zh-CN" altLang="en-US" sz="1800" i="1" smtClean="0">
                        <a:latin typeface="Cambria Math" panose="02040503050406030204" pitchFamily="18" charset="0"/>
                      </a:rPr>
                      <m:t>𝛽</m:t>
                    </m:r>
                    <m:r>
                      <a:rPr lang="zh-CN" altLang="en-US" sz="1800" i="1">
                        <a:latin typeface="Cambria Math" panose="02040503050406030204" pitchFamily="18" charset="0"/>
                      </a:rPr>
                      <m:t>→</m:t>
                    </m:r>
                    <m:r>
                      <a:rPr lang="zh-CN" altLang="en-US" sz="1800" i="1" smtClean="0">
                        <a:latin typeface="Cambria Math" panose="02040503050406030204" pitchFamily="18" charset="0"/>
                      </a:rPr>
                      <m:t>𝛾</m:t>
                    </m:r>
                  </m:oMath>
                </a14:m>
                <a:r>
                  <a:rPr lang="en-US" altLang="zh-CN" sz="1800" dirty="0"/>
                  <a:t> in </a:t>
                </a:r>
                <a14:m>
                  <m:oMath xmlns:m="http://schemas.openxmlformats.org/officeDocument/2006/math">
                    <m:r>
                      <a:rPr lang="en-US" altLang="zh-CN" sz="1800" b="0" i="1" smtClean="0">
                        <a:latin typeface="Cambria Math" panose="02040503050406030204" pitchFamily="18" charset="0"/>
                      </a:rPr>
                      <m:t>𝐹</m:t>
                    </m:r>
                  </m:oMath>
                </a14:m>
                <a:r>
                  <a:rPr lang="en-US" altLang="zh-CN" sz="1800" dirty="0"/>
                  <a:t> </a:t>
                </a:r>
                <a:r>
                  <a:rPr lang="en-US" altLang="zh-CN" sz="1800" b="1" dirty="0"/>
                  <a:t>do</a:t>
                </a:r>
                <a:br>
                  <a:rPr lang="en-US" altLang="zh-CN" sz="1800" dirty="0"/>
                </a:br>
                <a:r>
                  <a:rPr lang="en-US" altLang="zh-CN" sz="1800" dirty="0"/>
                  <a:t>		</a:t>
                </a:r>
                <a:r>
                  <a:rPr lang="en-US" altLang="zh-CN" sz="1800" b="1" dirty="0"/>
                  <a:t>begin</a:t>
                </a:r>
                <a:br>
                  <a:rPr lang="en-US" altLang="zh-CN" sz="1800" dirty="0"/>
                </a:br>
                <a:r>
                  <a:rPr lang="en-US" altLang="zh-CN" sz="1800" dirty="0"/>
                  <a:t>		      </a:t>
                </a:r>
                <a:r>
                  <a:rPr lang="en-US" altLang="zh-CN" sz="1800" b="1" dirty="0"/>
                  <a:t>if</a:t>
                </a:r>
                <a:r>
                  <a:rPr lang="en-US" altLang="zh-CN" sz="1800" dirty="0"/>
                  <a:t> </a:t>
                </a:r>
                <a14:m>
                  <m:oMath xmlns:m="http://schemas.openxmlformats.org/officeDocument/2006/math">
                    <m:r>
                      <a:rPr lang="zh-CN" altLang="en-US" sz="1800" i="1" smtClean="0">
                        <a:latin typeface="Cambria Math" panose="02040503050406030204" pitchFamily="18" charset="0"/>
                      </a:rPr>
                      <m:t>𝛽</m:t>
                    </m:r>
                    <m:r>
                      <a:rPr lang="zh-CN" altLang="en-US" sz="1800" i="1" smtClean="0">
                        <a:latin typeface="Cambria Math" panose="02040503050406030204" pitchFamily="18" charset="0"/>
                      </a:rPr>
                      <m:t>⊆</m:t>
                    </m:r>
                  </m:oMath>
                </a14:m>
                <a:r>
                  <a:rPr lang="en-US" altLang="zh-CN" sz="1800" dirty="0"/>
                  <a:t>result, </a:t>
                </a:r>
                <a:r>
                  <a:rPr lang="en-US" altLang="zh-CN" sz="1800" b="1" dirty="0"/>
                  <a:t>then</a:t>
                </a:r>
                <a:r>
                  <a:rPr lang="en-US" altLang="zh-CN" sz="1800" dirty="0"/>
                  <a:t> result:=result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 </m:t>
                    </m:r>
                    <m:r>
                      <a:rPr lang="zh-CN" altLang="en-US" sz="1800" b="0" i="1" smtClean="0">
                        <a:latin typeface="Cambria Math" panose="02040503050406030204" pitchFamily="18" charset="0"/>
                        <a:ea typeface="Cambria Math" panose="02040503050406030204" pitchFamily="18" charset="0"/>
                      </a:rPr>
                      <m:t>𝛾</m:t>
                    </m:r>
                  </m:oMath>
                </a14:m>
                <a:r>
                  <a:rPr lang="en-US" altLang="zh-CN" sz="1800" dirty="0"/>
                  <a:t> </a:t>
                </a:r>
                <a:br>
                  <a:rPr lang="en-US" altLang="zh-CN" sz="1800" dirty="0"/>
                </a:br>
                <a:r>
                  <a:rPr lang="en-US" altLang="zh-CN" sz="1800" dirty="0"/>
                  <a:t>		</a:t>
                </a:r>
                <a:r>
                  <a:rPr lang="en-US" altLang="zh-CN" sz="1800" b="1" dirty="0"/>
                  <a:t>end</a:t>
                </a:r>
              </a:p>
              <a:p>
                <a:endParaRPr lang="zh-CN" altLang="en-US" sz="1800" dirty="0"/>
              </a:p>
            </p:txBody>
          </p:sp>
        </mc:Choice>
        <mc:Fallback xmlns="">
          <p:sp>
            <p:nvSpPr>
              <p:cNvPr id="3" name="内容占位符 2">
                <a:extLst>
                  <a:ext uri="{FF2B5EF4-FFF2-40B4-BE49-F238E27FC236}">
                    <a16:creationId xmlns:a16="http://schemas.microsoft.com/office/drawing/2014/main" id="{A98681A0-E6FB-45D5-ABD4-D5C4F7033BB6}"/>
                  </a:ext>
                </a:extLst>
              </p:cNvPr>
              <p:cNvSpPr>
                <a:spLocks noGrp="1" noRot="1" noChangeAspect="1" noMove="1" noResize="1" noEditPoints="1" noAdjustHandles="1" noChangeArrowheads="1" noChangeShapeType="1" noTextEdit="1"/>
              </p:cNvSpPr>
              <p:nvPr>
                <p:ph idx="1"/>
              </p:nvPr>
            </p:nvSpPr>
            <p:spPr>
              <a:xfrm>
                <a:off x="107504" y="789553"/>
                <a:ext cx="8856984" cy="3805070"/>
              </a:xfrm>
              <a:blipFill>
                <a:blip r:embed="rId2"/>
                <a:stretch>
                  <a:fillRect l="-482" t="-962" r="-34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960533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878F26-9AB8-4CFF-B194-258E2015C806}"/>
              </a:ext>
            </a:extLst>
          </p:cNvPr>
          <p:cNvSpPr>
            <a:spLocks noGrp="1"/>
          </p:cNvSpPr>
          <p:nvPr>
            <p:ph type="title"/>
          </p:nvPr>
        </p:nvSpPr>
        <p:spPr/>
        <p:txBody>
          <a:bodyPr/>
          <a:lstStyle/>
          <a:p>
            <a:pPr algn="ctr"/>
            <a:r>
              <a:rPr lang="en-US" altLang="zh-CN" dirty="0"/>
              <a:t>Example of Attribute Set Closure</a:t>
            </a:r>
            <a:endParaRPr lang="zh-CN" altLang="en-US" dirty="0"/>
          </a:p>
        </p:txBody>
      </p:sp>
      <p:sp>
        <p:nvSpPr>
          <p:cNvPr id="4" name="Rectangle 3">
            <a:extLst>
              <a:ext uri="{FF2B5EF4-FFF2-40B4-BE49-F238E27FC236}">
                <a16:creationId xmlns:a16="http://schemas.microsoft.com/office/drawing/2014/main" id="{4CEF4B05-9276-46D6-9AB2-4C015F157202}"/>
              </a:ext>
            </a:extLst>
          </p:cNvPr>
          <p:cNvSpPr txBox="1">
            <a:spLocks noChangeArrowheads="1"/>
          </p:cNvSpPr>
          <p:nvPr/>
        </p:nvSpPr>
        <p:spPr bwMode="auto">
          <a:xfrm>
            <a:off x="539552" y="779860"/>
            <a:ext cx="8064896" cy="3951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00FF00"/>
              </a:buClr>
              <a:buSzPct val="80000"/>
              <a:buFont typeface="Wingdings" panose="05000000000000000000" pitchFamily="2" charset="2"/>
              <a:buChar char="l"/>
              <a:defRPr kumimoji="1" sz="1500">
                <a:solidFill>
                  <a:schemeClr val="tx1"/>
                </a:solidFill>
                <a:latin typeface="+mn-lt"/>
              </a:defRPr>
            </a:lvl3pPr>
            <a:lvl4pPr marL="1071563" indent="-171450" algn="l" rtl="0" eaLnBrk="0" fontAlgn="base" hangingPunct="0">
              <a:spcBef>
                <a:spcPct val="35000"/>
              </a:spcBef>
              <a:spcAft>
                <a:spcPct val="0"/>
              </a:spcAft>
              <a:buClr>
                <a:srgbClr val="CC0099"/>
              </a:buClr>
              <a:buSzPct val="80000"/>
              <a:buFont typeface="Times New Roman" panose="02020603050405020304" pitchFamily="18" charset="0"/>
              <a:buChar char="•"/>
              <a:defRPr kumimoji="1" sz="1500">
                <a:solidFill>
                  <a:schemeClr val="tx1"/>
                </a:solidFill>
                <a:latin typeface="+mn-lt"/>
              </a:defRPr>
            </a:lvl4pPr>
            <a:lvl5pPr marL="1328738" indent="-171450" algn="l" rtl="0" eaLnBrk="0" fontAlgn="base" hangingPunct="0">
              <a:spcBef>
                <a:spcPct val="35000"/>
              </a:spcBef>
              <a:spcAft>
                <a:spcPct val="0"/>
              </a:spcAft>
              <a:buClr>
                <a:srgbClr val="000000"/>
              </a:buClr>
              <a:buSzPct val="80000"/>
              <a:buFont typeface="Times New Roman" panose="02020603050405020304" pitchFamily="18" charset="0"/>
              <a:buChar char="»"/>
              <a:defRPr kumimoji="1" sz="1500">
                <a:solidFill>
                  <a:schemeClr val="tx1"/>
                </a:solidFill>
                <a:latin typeface="+mn-lt"/>
              </a:defRPr>
            </a:lvl5pPr>
            <a:lvl6pPr marL="16716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6pPr>
            <a:lvl7pPr marL="20145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7pPr>
            <a:lvl8pPr marL="23574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8pPr>
            <a:lvl9pPr marL="27003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9pPr>
          </a:lstStyle>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Given R&lt;U, F&gt;, U = {A, B, C, D, E}, F={AB→C, B→D, C→E, EC→B, AC→B};</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Compute: (AB)</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(AC)</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(EC)</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endPar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endParaRP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(0)</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 B}</a:t>
            </a:r>
            <a:r>
              <a:rPr kumimoji="1" lang="zh-CN" altLang="en-US"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First loop:</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(1)</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for each FD in F, find FDs that the left hand side(LHS) is </a:t>
            </a:r>
            <a:r>
              <a:rPr kumimoji="1" lang="en-US" altLang="zh-CN" sz="1600" i="0" u="none" strike="noStrike" kern="0" cap="none" spc="0" normalizeH="0" baseline="0" noProof="0" dirty="0">
                <a:ln>
                  <a:noFill/>
                </a:ln>
                <a:solidFill>
                  <a:srgbClr val="0000FF"/>
                </a:solidFill>
                <a:effectLst/>
                <a:uLnTx/>
                <a:uFillTx/>
                <a:latin typeface="Arial" panose="020B0604020202020204" pitchFamily="34" charset="0"/>
                <a:ea typeface="华文中宋" panose="02010600040101010101" pitchFamily="2" charset="-122"/>
                <a:cs typeface="Arial" panose="020B0604020202020204" pitchFamily="34" charset="0"/>
              </a:rPr>
              <a:t>A,B or AB, then </a:t>
            </a:r>
            <a:r>
              <a:rPr kumimoji="1" lang="en-US" altLang="zh-CN" sz="1600" i="0" u="none" strike="noStrike" kern="0" cap="none" spc="0" normalizeH="0" baseline="0" noProof="0" dirty="0">
                <a:ln>
                  <a:noFill/>
                </a:ln>
                <a:solidFill>
                  <a:srgbClr val="FF0000"/>
                </a:solidFill>
                <a:effectLst/>
                <a:uLnTx/>
                <a:uFillTx/>
                <a:latin typeface="Arial" panose="020B0604020202020204" pitchFamily="34" charset="0"/>
                <a:ea typeface="华文中宋" panose="02010600040101010101" pitchFamily="2" charset="-122"/>
                <a:cs typeface="Arial" panose="020B0604020202020204" pitchFamily="34" charset="0"/>
              </a:rPr>
              <a:t>AB→C, B→D, and </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(1)</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 B}∪{C, D}={A, B, C, D};</a:t>
            </a:r>
            <a:endParaRPr kumimoji="1" lang="zh-CN" altLang="en-US"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endParaRP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Second loop:</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(1)</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(0)</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find FDs that the left hand side is the subset of {</a:t>
            </a:r>
            <a:r>
              <a:rPr kumimoji="1" lang="en-US" altLang="zh-CN" sz="1600" i="0" u="none" strike="noStrike" kern="0" cap="none" spc="0" normalizeH="0" baseline="0" noProof="0" dirty="0">
                <a:ln>
                  <a:noFill/>
                </a:ln>
                <a:solidFill>
                  <a:srgbClr val="CC3300"/>
                </a:solidFill>
                <a:effectLst/>
                <a:uLnTx/>
                <a:uFillTx/>
                <a:latin typeface="Arial" panose="020B0604020202020204" pitchFamily="34" charset="0"/>
                <a:ea typeface="华文中宋" panose="02010600040101010101" pitchFamily="2" charset="-122"/>
                <a:cs typeface="Arial" panose="020B0604020202020204" pitchFamily="34" charset="0"/>
              </a:rPr>
              <a:t>ABCD}, then </a:t>
            </a:r>
            <a:r>
              <a:rPr kumimoji="1" lang="en-US" altLang="zh-CN" sz="1600" i="0" u="none" strike="noStrike" kern="0" cap="none" spc="0" normalizeH="0" baseline="0" noProof="0" dirty="0">
                <a:ln>
                  <a:noFill/>
                </a:ln>
                <a:solidFill>
                  <a:srgbClr val="FF0000"/>
                </a:solidFill>
                <a:effectLst/>
                <a:uLnTx/>
                <a:uFillTx/>
                <a:latin typeface="Arial" panose="020B0604020202020204" pitchFamily="34" charset="0"/>
                <a:ea typeface="华文中宋" panose="02010600040101010101" pitchFamily="2" charset="-122"/>
                <a:cs typeface="Arial" panose="020B0604020202020204" pitchFamily="34" charset="0"/>
              </a:rPr>
              <a:t>AB→C, B→D, C→E, AC→B, and </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(2)</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(1)</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∪{C, D, E, B}={A, B, C, D, E};</a:t>
            </a:r>
            <a:endParaRPr kumimoji="1" lang="zh-CN" altLang="en-US"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endParaRP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(2)</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=U, all attributes are in X</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(2)</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s</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sym typeface="Wingdings" panose="05000000000000000000" pitchFamily="2" charset="2"/>
              </a:rPr>
              <a:t>o (</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AB)</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 {A, B, C, D, E}.</a:t>
            </a:r>
            <a:r>
              <a:rPr kumimoji="1" lang="zh-CN" altLang="en-US"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endPar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endParaRP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(AC)</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r>
              <a:rPr kumimoji="1" lang="en-US" altLang="zh-CN" sz="1600" i="0" u="none" strike="noStrike" kern="0" cap="none" spc="0" normalizeH="0" baseline="0" noProof="0" dirty="0">
                <a:ln>
                  <a:noFill/>
                </a:ln>
                <a:solidFill>
                  <a:srgbClr val="FF0000"/>
                </a:solidFill>
                <a:effectLst/>
                <a:uLnTx/>
                <a:uFillTx/>
                <a:latin typeface="Arial" panose="020B0604020202020204" pitchFamily="34" charset="0"/>
                <a:ea typeface="华文中宋" panose="02010600040101010101" pitchFamily="2" charset="-122"/>
                <a:cs typeface="Arial" panose="020B0604020202020204" pitchFamily="34" charset="0"/>
              </a:rPr>
              <a:t>= ???   </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(EC)</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r>
              <a:rPr kumimoji="1" lang="en-US" altLang="zh-CN" sz="1600" i="0" u="none" strike="noStrike" kern="0" cap="none" spc="0" normalizeH="0" baseline="0" noProof="0" dirty="0">
                <a:ln>
                  <a:noFill/>
                </a:ln>
                <a:solidFill>
                  <a:srgbClr val="FF0000"/>
                </a:solidFill>
                <a:effectLst/>
                <a:uLnTx/>
                <a:uFillTx/>
                <a:latin typeface="Arial" panose="020B0604020202020204" pitchFamily="34" charset="0"/>
                <a:ea typeface="华文中宋" panose="02010600040101010101" pitchFamily="2" charset="-122"/>
                <a:cs typeface="Arial" panose="020B0604020202020204" pitchFamily="34" charset="0"/>
              </a:rPr>
              <a:t>= ???   </a:t>
            </a: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endPar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endParaRPr>
          </a:p>
          <a:p>
            <a:pPr marL="400050" marR="0" lvl="0" indent="-400050" algn="l" defTabSz="914400" rtl="0" eaLnBrk="0" fontAlgn="base" latinLnBrk="0" hangingPunct="0">
              <a:lnSpc>
                <a:spcPct val="80000"/>
              </a:lnSpc>
              <a:spcBef>
                <a:spcPct val="35000"/>
              </a:spcBef>
              <a:spcAft>
                <a:spcPct val="0"/>
              </a:spcAft>
              <a:buClr>
                <a:srgbClr val="FF0000"/>
              </a:buClr>
              <a:buSzPct val="80000"/>
              <a:buFont typeface="Wingdings" panose="05000000000000000000" pitchFamily="2" charset="2"/>
              <a:buNone/>
              <a:tabLst/>
              <a:defRPr/>
            </a:pP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(AC)</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r>
              <a:rPr kumimoji="1" lang="en-US" altLang="zh-CN" sz="1600" i="0" u="none" strike="noStrike" kern="0" cap="none" spc="0" normalizeH="0" baseline="0" noProof="0" dirty="0">
                <a:ln>
                  <a:noFill/>
                </a:ln>
                <a:solidFill>
                  <a:srgbClr val="FF0000"/>
                </a:solidFill>
                <a:effectLst/>
                <a:uLnTx/>
                <a:uFillTx/>
                <a:latin typeface="Arial" panose="020B0604020202020204" pitchFamily="34" charset="0"/>
                <a:ea typeface="华文中宋" panose="02010600040101010101" pitchFamily="2" charset="-122"/>
                <a:cs typeface="Arial" panose="020B0604020202020204" pitchFamily="34" charset="0"/>
              </a:rPr>
              <a:t>= {A,B,C,D,E}</a:t>
            </a:r>
            <a:r>
              <a:rPr kumimoji="1" lang="zh-CN" altLang="en-US"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r>
              <a:rPr kumimoji="1" lang="en-US" altLang="zh-CN" sz="1600" i="0" u="none" strike="noStrike" kern="0" cap="none" spc="0" normalizeH="0" baseline="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(EC)</a:t>
            </a:r>
            <a:r>
              <a:rPr kumimoji="1" lang="en-US" altLang="zh-CN" sz="1600" i="0" u="none" strike="noStrike" kern="0" cap="none" spc="0" normalizeH="0" baseline="-25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F</a:t>
            </a:r>
            <a:r>
              <a:rPr kumimoji="1" lang="en-US" altLang="zh-CN" sz="1600" i="0" u="none" strike="noStrike" kern="0" cap="none" spc="0" normalizeH="0" baseline="30000" noProof="0" dirty="0">
                <a:ln>
                  <a:noFill/>
                </a:ln>
                <a:solidFill>
                  <a:srgbClr val="000000"/>
                </a:solidFill>
                <a:effectLst/>
                <a:uLnTx/>
                <a:uFillTx/>
                <a:latin typeface="Arial" panose="020B0604020202020204" pitchFamily="34" charset="0"/>
                <a:ea typeface="华文中宋" panose="02010600040101010101" pitchFamily="2" charset="-122"/>
                <a:cs typeface="Arial" panose="020B0604020202020204" pitchFamily="34" charset="0"/>
              </a:rPr>
              <a:t>+ </a:t>
            </a:r>
            <a:r>
              <a:rPr kumimoji="1" lang="en-US" altLang="zh-CN" sz="1600" i="0" u="none" strike="noStrike" kern="0" cap="none" spc="0" normalizeH="0" baseline="0" noProof="0" dirty="0">
                <a:ln>
                  <a:noFill/>
                </a:ln>
                <a:solidFill>
                  <a:srgbClr val="FF0000"/>
                </a:solidFill>
                <a:effectLst/>
                <a:uLnTx/>
                <a:uFillTx/>
                <a:latin typeface="Arial" panose="020B0604020202020204" pitchFamily="34" charset="0"/>
                <a:ea typeface="华文中宋" panose="02010600040101010101" pitchFamily="2" charset="-122"/>
                <a:cs typeface="Arial" panose="020B0604020202020204" pitchFamily="34" charset="0"/>
              </a:rPr>
              <a:t>= {B,C,D,E}</a:t>
            </a:r>
          </a:p>
        </p:txBody>
      </p:sp>
    </p:spTree>
    <p:extLst>
      <p:ext uri="{BB962C8B-B14F-4D97-AF65-F5344CB8AC3E}">
        <p14:creationId xmlns:p14="http://schemas.microsoft.com/office/powerpoint/2010/main" val="3970581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animEffect transition="in" filter="blinds(horizontal)">
                                      <p:cBhvr>
                                        <p:cTn id="7" dur="500"/>
                                        <p:tgtEl>
                                          <p:spTgt spid="4">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4" end="4"/>
                                            </p:txEl>
                                          </p:spTgt>
                                        </p:tgtEl>
                                        <p:attrNameLst>
                                          <p:attrName>style.visibility</p:attrName>
                                        </p:attrNameLst>
                                      </p:cBhvr>
                                      <p:to>
                                        <p:strVal val="visible"/>
                                      </p:to>
                                    </p:set>
                                    <p:animEffect transition="in" filter="blinds(horizontal)">
                                      <p:cBhvr>
                                        <p:cTn id="12" dur="500"/>
                                        <p:tgtEl>
                                          <p:spTgt spid="4">
                                            <p:txEl>
                                              <p:pRg st="4" end="4"/>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animEffect transition="in" filter="blinds(horizontal)">
                                      <p:cBhvr>
                                        <p:cTn id="15" dur="500"/>
                                        <p:tgtEl>
                                          <p:spTgt spid="4">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
                                            <p:txEl>
                                              <p:pRg st="6" end="6"/>
                                            </p:txEl>
                                          </p:spTgt>
                                        </p:tgtEl>
                                        <p:attrNameLst>
                                          <p:attrName>style.visibility</p:attrName>
                                        </p:attrNameLst>
                                      </p:cBhvr>
                                      <p:to>
                                        <p:strVal val="visible"/>
                                      </p:to>
                                    </p:set>
                                    <p:animEffect transition="in" filter="blinds(horizontal)">
                                      <p:cBhvr>
                                        <p:cTn id="20" dur="500"/>
                                        <p:tgtEl>
                                          <p:spTgt spid="4">
                                            <p:txEl>
                                              <p:pRg st="6" end="6"/>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animEffect transition="in" filter="blinds(horizontal)">
                                      <p:cBhvr>
                                        <p:cTn id="23" dur="500"/>
                                        <p:tgtEl>
                                          <p:spTgt spid="4">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blinds(horizontal)">
                                      <p:cBhvr>
                                        <p:cTn id="28" dur="500"/>
                                        <p:tgtEl>
                                          <p:spTgt spid="4">
                                            <p:txEl>
                                              <p:pRg st="8" end="8"/>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
                                            <p:txEl>
                                              <p:pRg st="10" end="10"/>
                                            </p:txEl>
                                          </p:spTgt>
                                        </p:tgtEl>
                                        <p:attrNameLst>
                                          <p:attrName>style.visibility</p:attrName>
                                        </p:attrNameLst>
                                      </p:cBhvr>
                                      <p:to>
                                        <p:strVal val="visible"/>
                                      </p:to>
                                    </p:set>
                                    <p:animEffect transition="in" filter="blinds(horizontal)">
                                      <p:cBhvr>
                                        <p:cTn id="33" dur="500"/>
                                        <p:tgtEl>
                                          <p:spTgt spid="4">
                                            <p:txEl>
                                              <p:pRg st="10" end="1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4">
                                            <p:txEl>
                                              <p:pRg st="12" end="12"/>
                                            </p:txEl>
                                          </p:spTgt>
                                        </p:tgtEl>
                                        <p:attrNameLst>
                                          <p:attrName>style.visibility</p:attrName>
                                        </p:attrNameLst>
                                      </p:cBhvr>
                                      <p:to>
                                        <p:strVal val="visible"/>
                                      </p:to>
                                    </p:set>
                                    <p:animEffect transition="in" filter="blinds(horizontal)">
                                      <p:cBhvr>
                                        <p:cTn id="38" dur="500"/>
                                        <p:tgtEl>
                                          <p:spTgt spid="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4B5961-1450-4B9C-AF0B-8FC222F02019}"/>
              </a:ext>
            </a:extLst>
          </p:cNvPr>
          <p:cNvSpPr>
            <a:spLocks noGrp="1"/>
          </p:cNvSpPr>
          <p:nvPr>
            <p:ph type="title"/>
          </p:nvPr>
        </p:nvSpPr>
        <p:spPr/>
        <p:txBody>
          <a:bodyPr/>
          <a:lstStyle/>
          <a:p>
            <a:pPr algn="ctr"/>
            <a:r>
              <a:rPr lang="en-US" altLang="zh-CN" dirty="0"/>
              <a:t>Example of Attribute Set Closure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B7C971A-594F-4EC0-8AC2-8AC6FC230CEA}"/>
                  </a:ext>
                </a:extLst>
              </p:cNvPr>
              <p:cNvSpPr>
                <a:spLocks noGrp="1"/>
              </p:cNvSpPr>
              <p:nvPr>
                <p:ph idx="1"/>
              </p:nvPr>
            </p:nvSpPr>
            <p:spPr>
              <a:xfrm>
                <a:off x="251520" y="710896"/>
                <a:ext cx="8568952" cy="3805070"/>
              </a:xfrm>
            </p:spPr>
            <p:txBody>
              <a:bodyPr/>
              <a:lstStyle/>
              <a:p>
                <a14:m>
                  <m:oMath xmlns:m="http://schemas.openxmlformats.org/officeDocument/2006/math">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d>
                      <m:dPr>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𝐺</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𝐼</m:t>
                        </m:r>
                      </m:e>
                    </m:d>
                  </m:oMath>
                </a14:m>
                <a:r>
                  <a:rPr lang="en-US" altLang="zh-CN" sz="1800" b="0" dirty="0"/>
                  <a:t>, </a:t>
                </a:r>
                <a14:m>
                  <m:oMath xmlns:m="http://schemas.openxmlformats.org/officeDocument/2006/math">
                    <m:r>
                      <a:rPr lang="en-US" altLang="zh-CN" sz="1800" b="0" i="1" smtClean="0">
                        <a:latin typeface="Cambria Math" panose="02040503050406030204" pitchFamily="18" charset="0"/>
                      </a:rPr>
                      <m:t>𝐹</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𝐶𝐺</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𝐶𝐺</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𝐼</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oMath>
                </a14:m>
                <a:endParaRPr lang="en-US" altLang="zh-CN" sz="1800" dirty="0"/>
              </a:p>
              <a:p>
                <a:r>
                  <a:rPr lang="en-US" altLang="zh-CN" sz="1800" dirty="0"/>
                  <a:t>Calculate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𝐴𝐺</m:t>
                        </m:r>
                        <m:r>
                          <a:rPr lang="en-US" altLang="zh-CN" sz="1800" b="0" i="1" smtClean="0">
                            <a:latin typeface="Cambria Math" panose="02040503050406030204" pitchFamily="18" charset="0"/>
                          </a:rPr>
                          <m:t>)</m:t>
                        </m:r>
                      </m:e>
                      <m:sup>
                        <m:r>
                          <a:rPr lang="en-US" altLang="zh-CN" sz="1800" b="0" i="1" smtClean="0">
                            <a:latin typeface="Cambria Math" panose="02040503050406030204" pitchFamily="18" charset="0"/>
                          </a:rPr>
                          <m:t>+</m:t>
                        </m:r>
                      </m:sup>
                    </m:sSup>
                  </m:oMath>
                </a14:m>
                <a:endParaRPr lang="en-US" altLang="zh-CN" sz="1800" dirty="0"/>
              </a:p>
              <a:p>
                <a:pPr lvl="1"/>
                <a:r>
                  <a:rPr lang="en-US" altLang="zh-CN" sz="1600" dirty="0"/>
                  <a:t>result = AG</a:t>
                </a:r>
              </a:p>
              <a:p>
                <a:pPr lvl="1"/>
                <a:r>
                  <a:rPr lang="en-US" altLang="zh-CN" sz="1600" dirty="0"/>
                  <a:t>result = ABCG	(</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oMath>
                </a14:m>
                <a:r>
                  <a:rPr lang="en-US" altLang="zh-CN" sz="1600" dirty="0"/>
                  <a:t> and </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𝐵</m:t>
                    </m:r>
                  </m:oMath>
                </a14:m>
                <a:r>
                  <a:rPr lang="en-US" altLang="zh-CN" sz="1600" dirty="0"/>
                  <a:t>)</a:t>
                </a:r>
              </a:p>
              <a:p>
                <a:pPr lvl="1"/>
                <a:r>
                  <a:rPr lang="en-US" altLang="zh-CN" sz="1600" dirty="0"/>
                  <a:t>result = ABCGH 	(</a:t>
                </a:r>
                <a14:m>
                  <m:oMath xmlns:m="http://schemas.openxmlformats.org/officeDocument/2006/math">
                    <m:r>
                      <a:rPr lang="en-US" altLang="zh-CN" sz="1600" i="1">
                        <a:latin typeface="Cambria Math" panose="02040503050406030204" pitchFamily="18" charset="0"/>
                      </a:rPr>
                      <m:t>𝐶𝐺</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𝐻</m:t>
                    </m:r>
                  </m:oMath>
                </a14:m>
                <a:r>
                  <a:rPr lang="en-US" altLang="zh-CN" sz="1600" dirty="0"/>
                  <a:t> and </a:t>
                </a:r>
                <a14:m>
                  <m:oMath xmlns:m="http://schemas.openxmlformats.org/officeDocument/2006/math">
                    <m:r>
                      <a:rPr lang="en-US" altLang="zh-CN" sz="1600" b="0" i="1" dirty="0" smtClean="0">
                        <a:latin typeface="Cambria Math" panose="02040503050406030204" pitchFamily="18" charset="0"/>
                      </a:rPr>
                      <m:t>𝐶𝐺</m:t>
                    </m:r>
                    <m:r>
                      <a:rPr lang="en-US" altLang="zh-CN" sz="1600" b="0" i="1" dirty="0" smtClean="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rPr>
                      <m:t>𝐴𝐵𝐶𝐺</m:t>
                    </m:r>
                  </m:oMath>
                </a14:m>
                <a:r>
                  <a:rPr lang="en-US" altLang="zh-CN" sz="1600" dirty="0"/>
                  <a:t>)</a:t>
                </a:r>
              </a:p>
              <a:p>
                <a:pPr lvl="1"/>
                <a:r>
                  <a:rPr lang="en-US" altLang="zh-CN" sz="1600" dirty="0"/>
                  <a:t>result = ABCGHI	(</a:t>
                </a:r>
                <a14:m>
                  <m:oMath xmlns:m="http://schemas.openxmlformats.org/officeDocument/2006/math">
                    <m:r>
                      <a:rPr lang="en-US" altLang="zh-CN" sz="1600" i="1">
                        <a:latin typeface="Cambria Math" panose="02040503050406030204" pitchFamily="18" charset="0"/>
                      </a:rPr>
                      <m:t>𝐶𝐺</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𝐼</m:t>
                    </m:r>
                  </m:oMath>
                </a14:m>
                <a:r>
                  <a:rPr lang="en-US" altLang="zh-CN" sz="1600" dirty="0"/>
                  <a:t> and </a:t>
                </a:r>
                <a14:m>
                  <m:oMath xmlns:m="http://schemas.openxmlformats.org/officeDocument/2006/math">
                    <m:r>
                      <a:rPr lang="en-US" altLang="zh-CN" sz="1600" i="1" dirty="0">
                        <a:latin typeface="Cambria Math" panose="02040503050406030204" pitchFamily="18" charset="0"/>
                      </a:rPr>
                      <m:t>𝐶𝐺</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𝐴𝐵𝐶𝐺</m:t>
                    </m:r>
                    <m:r>
                      <a:rPr lang="en-US" altLang="zh-CN" sz="1600" b="0" i="1" dirty="0" smtClean="0">
                        <a:latin typeface="Cambria Math" panose="02040503050406030204" pitchFamily="18" charset="0"/>
                      </a:rPr>
                      <m:t>𝐻</m:t>
                    </m:r>
                  </m:oMath>
                </a14:m>
                <a:r>
                  <a:rPr lang="en-US" altLang="zh-CN" sz="1600" dirty="0"/>
                  <a:t>)</a:t>
                </a:r>
              </a:p>
              <a:p>
                <a:pPr lvl="1"/>
                <a:endParaRPr lang="en-US" altLang="zh-CN" sz="1600" dirty="0"/>
              </a:p>
              <a:p>
                <a:r>
                  <a:rPr lang="en-US" altLang="zh-CN" sz="1800" b="1" dirty="0"/>
                  <a:t>Is AG a candidate key?  </a:t>
                </a:r>
              </a:p>
              <a:p>
                <a:pPr lvl="1"/>
                <a:r>
                  <a:rPr lang="en-US" altLang="zh-CN" sz="1600" dirty="0"/>
                  <a:t>Is AG a </a:t>
                </a:r>
                <a:r>
                  <a:rPr lang="en-US" altLang="zh-CN" sz="1600" dirty="0" err="1"/>
                  <a:t>superkey</a:t>
                </a:r>
                <a:r>
                  <a:rPr lang="en-US" altLang="zh-CN" sz="1600" dirty="0"/>
                  <a:t>?</a:t>
                </a:r>
              </a:p>
              <a:p>
                <a:pPr lvl="2"/>
                <a:r>
                  <a:rPr lang="en-US" altLang="zh-CN" sz="1400" dirty="0"/>
                  <a:t>Does </a:t>
                </a:r>
                <a14:m>
                  <m:oMath xmlns:m="http://schemas.openxmlformats.org/officeDocument/2006/math">
                    <m:r>
                      <a:rPr lang="en-US" altLang="zh-CN" sz="1400" b="0" i="1" smtClean="0">
                        <a:latin typeface="Cambria Math" panose="02040503050406030204" pitchFamily="18" charset="0"/>
                      </a:rPr>
                      <m:t>𝐴𝐺</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rPr>
                      <m:t>𝑅</m:t>
                    </m:r>
                  </m:oMath>
                </a14:m>
                <a:r>
                  <a:rPr lang="en-US" altLang="zh-CN" sz="1400" dirty="0"/>
                  <a:t>?  ==  Is </a:t>
                </a:r>
                <a14:m>
                  <m:oMath xmlns:m="http://schemas.openxmlformats.org/officeDocument/2006/math">
                    <m:sSup>
                      <m:sSupPr>
                        <m:ctrlPr>
                          <a:rPr lang="en-US" altLang="zh-CN" sz="1400" i="1" smtClean="0">
                            <a:latin typeface="Cambria Math" panose="02040503050406030204" pitchFamily="18" charset="0"/>
                          </a:rPr>
                        </m:ctrlPr>
                      </m:sSupPr>
                      <m:e>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𝐴𝐺</m:t>
                        </m:r>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m:t>
                        </m:r>
                      </m:sup>
                    </m:sSup>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𝑅</m:t>
                    </m:r>
                  </m:oMath>
                </a14:m>
                <a:endParaRPr lang="en-US" altLang="zh-CN" sz="1400" dirty="0"/>
              </a:p>
              <a:p>
                <a:pPr lvl="1"/>
                <a:r>
                  <a:rPr lang="en-US" altLang="zh-CN" sz="1600" dirty="0"/>
                  <a:t>Is any subset of AG a </a:t>
                </a:r>
                <a:r>
                  <a:rPr lang="en-US" altLang="zh-CN" sz="1600" dirty="0" err="1"/>
                  <a:t>superkey</a:t>
                </a:r>
                <a:r>
                  <a:rPr lang="en-US" altLang="zh-CN" sz="1600" dirty="0"/>
                  <a:t>?</a:t>
                </a:r>
              </a:p>
              <a:p>
                <a:pPr lvl="2"/>
                <a:r>
                  <a:rPr lang="en-US" altLang="zh-CN" sz="1400" dirty="0"/>
                  <a:t>Does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𝑅</m:t>
                    </m:r>
                  </m:oMath>
                </a14:m>
                <a:r>
                  <a:rPr lang="en-US" altLang="zh-CN" sz="1400" dirty="0"/>
                  <a:t>?  ==  Is </a:t>
                </a:r>
                <a14:m>
                  <m:oMath xmlns:m="http://schemas.openxmlformats.org/officeDocument/2006/math">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m:t>
                        </m:r>
                        <m:r>
                          <a:rPr lang="en-US" altLang="zh-CN" sz="1400" i="1">
                            <a:latin typeface="Cambria Math" panose="02040503050406030204" pitchFamily="18" charset="0"/>
                          </a:rPr>
                          <m:t>𝐴</m:t>
                        </m:r>
                        <m:r>
                          <a:rPr lang="en-US" altLang="zh-CN" sz="1400" i="1">
                            <a:latin typeface="Cambria Math" panose="02040503050406030204" pitchFamily="18" charset="0"/>
                          </a:rPr>
                          <m:t>)</m:t>
                        </m:r>
                      </m:e>
                      <m:sup>
                        <m:r>
                          <a:rPr lang="en-US" altLang="zh-CN" sz="1400" i="1">
                            <a:latin typeface="Cambria Math" panose="02040503050406030204" pitchFamily="18" charset="0"/>
                          </a:rPr>
                          <m:t>+</m:t>
                        </m:r>
                      </m:sup>
                    </m:sSup>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ea typeface="Cambria Math" panose="02040503050406030204" pitchFamily="18" charset="0"/>
                      </a:rPr>
                      <m:t>𝑅</m:t>
                    </m:r>
                  </m:oMath>
                </a14:m>
                <a:endParaRPr lang="en-US" altLang="zh-CN" sz="1400" dirty="0"/>
              </a:p>
              <a:p>
                <a:pPr lvl="2"/>
                <a:r>
                  <a:rPr lang="en-US" altLang="zh-CN" sz="1400" dirty="0"/>
                  <a:t>Does </a:t>
                </a:r>
                <a14:m>
                  <m:oMath xmlns:m="http://schemas.openxmlformats.org/officeDocument/2006/math">
                    <m:r>
                      <a:rPr lang="en-US" altLang="zh-CN" sz="1400" i="1">
                        <a:latin typeface="Cambria Math" panose="02040503050406030204" pitchFamily="18" charset="0"/>
                      </a:rPr>
                      <m:t>𝐺</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𝑅</m:t>
                    </m:r>
                  </m:oMath>
                </a14:m>
                <a:r>
                  <a:rPr lang="en-US" altLang="zh-CN" sz="1400" dirty="0"/>
                  <a:t>?  ==  Is </a:t>
                </a:r>
                <a14:m>
                  <m:oMath xmlns:m="http://schemas.openxmlformats.org/officeDocument/2006/math">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m:t>
                        </m:r>
                        <m:r>
                          <a:rPr lang="en-US" altLang="zh-CN" sz="1400" i="1">
                            <a:latin typeface="Cambria Math" panose="02040503050406030204" pitchFamily="18" charset="0"/>
                          </a:rPr>
                          <m:t>𝐺</m:t>
                        </m:r>
                        <m:r>
                          <a:rPr lang="en-US" altLang="zh-CN" sz="1400" i="1">
                            <a:latin typeface="Cambria Math" panose="02040503050406030204" pitchFamily="18" charset="0"/>
                          </a:rPr>
                          <m:t>)</m:t>
                        </m:r>
                      </m:e>
                      <m:sup>
                        <m:r>
                          <a:rPr lang="en-US" altLang="zh-CN" sz="1400" i="1">
                            <a:latin typeface="Cambria Math" panose="02040503050406030204" pitchFamily="18" charset="0"/>
                          </a:rPr>
                          <m:t>+</m:t>
                        </m:r>
                      </m:sup>
                    </m:sSup>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ea typeface="Cambria Math" panose="02040503050406030204" pitchFamily="18" charset="0"/>
                      </a:rPr>
                      <m:t>𝑅</m:t>
                    </m:r>
                  </m:oMath>
                </a14:m>
                <a:endParaRPr lang="en-US" altLang="zh-CN" sz="1400" dirty="0"/>
              </a:p>
            </p:txBody>
          </p:sp>
        </mc:Choice>
        <mc:Fallback xmlns="">
          <p:sp>
            <p:nvSpPr>
              <p:cNvPr id="3" name="内容占位符 2">
                <a:extLst>
                  <a:ext uri="{FF2B5EF4-FFF2-40B4-BE49-F238E27FC236}">
                    <a16:creationId xmlns:a16="http://schemas.microsoft.com/office/drawing/2014/main" id="{1B7C971A-594F-4EC0-8AC2-8AC6FC230CEA}"/>
                  </a:ext>
                </a:extLst>
              </p:cNvPr>
              <p:cNvSpPr>
                <a:spLocks noGrp="1" noRot="1" noChangeAspect="1" noMove="1" noResize="1" noEditPoints="1" noAdjustHandles="1" noChangeArrowheads="1" noChangeShapeType="1" noTextEdit="1"/>
              </p:cNvSpPr>
              <p:nvPr>
                <p:ph idx="1"/>
              </p:nvPr>
            </p:nvSpPr>
            <p:spPr>
              <a:xfrm>
                <a:off x="251520" y="710896"/>
                <a:ext cx="8568952" cy="3805070"/>
              </a:xfrm>
              <a:blipFill>
                <a:blip r:embed="rId2"/>
                <a:stretch>
                  <a:fillRect l="-498" t="-962" b="-256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921269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 calcmode="lin" valueType="num">
                                      <p:cBhvr additive="base">
                                        <p:cTn id="2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barn(inVertical)">
                                      <p:cBhvr>
                                        <p:cTn id="27" dur="500"/>
                                        <p:tgtEl>
                                          <p:spTgt spid="3">
                                            <p:txEl>
                                              <p:pRg st="8" end="8"/>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barn(inVertical)">
                                      <p:cBhvr>
                                        <p:cTn id="30" dur="500"/>
                                        <p:tgtEl>
                                          <p:spTgt spid="3">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barn(inVertical)">
                                      <p:cBhvr>
                                        <p:cTn id="35" dur="500"/>
                                        <p:tgtEl>
                                          <p:spTgt spid="3">
                                            <p:txEl>
                                              <p:pRg st="10" end="10"/>
                                            </p:txEl>
                                          </p:spTgt>
                                        </p:tgtEl>
                                      </p:cBhvr>
                                    </p:animEffect>
                                  </p:childTnLst>
                                </p:cTn>
                              </p:par>
                              <p:par>
                                <p:cTn id="36" presetID="16" presetClass="entr" presetSubtype="21" fill="hold"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barn(inVertical)">
                                      <p:cBhvr>
                                        <p:cTn id="38" dur="500"/>
                                        <p:tgtEl>
                                          <p:spTgt spid="3">
                                            <p:txEl>
                                              <p:pRg st="11" end="11"/>
                                            </p:txEl>
                                          </p:spTgt>
                                        </p:tgtEl>
                                      </p:cBhvr>
                                    </p:animEffect>
                                  </p:childTnLst>
                                </p:cTn>
                              </p:par>
                              <p:par>
                                <p:cTn id="39" presetID="16" presetClass="entr" presetSubtype="21" fill="hold"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Effect transition="in" filter="barn(inVertical)">
                                      <p:cBhvr>
                                        <p:cTn id="41"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C38393-DCF9-40B3-B327-7A165A09AE26}"/>
              </a:ext>
            </a:extLst>
          </p:cNvPr>
          <p:cNvSpPr>
            <a:spLocks noGrp="1"/>
          </p:cNvSpPr>
          <p:nvPr>
            <p:ph type="title"/>
          </p:nvPr>
        </p:nvSpPr>
        <p:spPr/>
        <p:txBody>
          <a:bodyPr/>
          <a:lstStyle/>
          <a:p>
            <a:pPr algn="ctr"/>
            <a:r>
              <a:rPr lang="en-US" altLang="zh-CN" dirty="0"/>
              <a:t>Applications of Attribute Closure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0A462C2-3E7F-4F54-8311-B4B40984EFFB}"/>
                  </a:ext>
                </a:extLst>
              </p:cNvPr>
              <p:cNvSpPr>
                <a:spLocks noGrp="1"/>
              </p:cNvSpPr>
              <p:nvPr>
                <p:ph idx="1"/>
              </p:nvPr>
            </p:nvSpPr>
            <p:spPr>
              <a:xfrm>
                <a:off x="251520" y="789553"/>
                <a:ext cx="8424936" cy="3805070"/>
              </a:xfrm>
            </p:spPr>
            <p:txBody>
              <a:bodyPr/>
              <a:lstStyle/>
              <a:p>
                <a:r>
                  <a:rPr lang="en-US" altLang="zh-CN" sz="1800" b="1" dirty="0"/>
                  <a:t>Test for </a:t>
                </a:r>
                <a:r>
                  <a:rPr lang="en-US" altLang="zh-CN" sz="1800" b="1" dirty="0" err="1"/>
                  <a:t>superkey</a:t>
                </a:r>
                <a:endParaRPr lang="en-US" altLang="zh-CN" sz="1800" b="1" dirty="0"/>
              </a:p>
              <a:p>
                <a:r>
                  <a:rPr lang="en-US" altLang="zh-CN" sz="1800" b="1" dirty="0"/>
                  <a:t>Test functional dependencies</a:t>
                </a:r>
              </a:p>
              <a:p>
                <a:pPr lvl="1"/>
                <a:r>
                  <a:rPr lang="en-US" altLang="zh-CN" sz="1600" dirty="0"/>
                  <a:t>To check if a functional dependency </a:t>
                </a:r>
                <a14:m>
                  <m:oMath xmlns:m="http://schemas.openxmlformats.org/officeDocument/2006/math">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oMath>
                </a14:m>
                <a:r>
                  <a:rPr lang="en-US" altLang="zh-CN" sz="1600" dirty="0"/>
                  <a:t> holds (or, in other words, is in </a:t>
                </a: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b="0" i="1" smtClean="0">
                            <a:latin typeface="Cambria Math" panose="02040503050406030204" pitchFamily="18" charset="0"/>
                          </a:rPr>
                          <m:t>+</m:t>
                        </m:r>
                      </m:sup>
                    </m:sSup>
                  </m:oMath>
                </a14:m>
                <a:r>
                  <a:rPr lang="en-US" altLang="zh-CN" sz="1600" dirty="0"/>
                  <a:t>), just check if </a:t>
                </a:r>
                <a14:m>
                  <m:oMath xmlns:m="http://schemas.openxmlformats.org/officeDocument/2006/math">
                    <m:r>
                      <a:rPr lang="zh-CN" altLang="en-US" sz="1600" i="1" smtClean="0">
                        <a:latin typeface="Cambria Math" panose="02040503050406030204" pitchFamily="18" charset="0"/>
                        <a:ea typeface="Cambria Math" panose="02040503050406030204" pitchFamily="18" charset="0"/>
                      </a:rPr>
                      <m:t>𝛽</m:t>
                    </m:r>
                    <m:r>
                      <a:rPr lang="zh-CN" altLang="en-US" sz="1600" i="1" smtClean="0">
                        <a:latin typeface="Cambria Math" panose="02040503050406030204" pitchFamily="18" charset="0"/>
                        <a:ea typeface="Cambria Math" panose="02040503050406030204" pitchFamily="18" charset="0"/>
                      </a:rPr>
                      <m:t>⊆</m:t>
                    </m:r>
                    <m:sSup>
                      <m:sSupPr>
                        <m:ctrlPr>
                          <a:rPr lang="en-US" altLang="zh-CN" sz="1600" i="1" smtClean="0">
                            <a:latin typeface="Cambria Math" panose="02040503050406030204" pitchFamily="18" charset="0"/>
                            <a:ea typeface="Cambria Math" panose="02040503050406030204" pitchFamily="18" charset="0"/>
                          </a:rPr>
                        </m:ctrlPr>
                      </m:sSupPr>
                      <m:e>
                        <m:r>
                          <a:rPr lang="zh-CN" altLang="en-US" sz="1600" i="1" smtClean="0">
                            <a:latin typeface="Cambria Math" panose="02040503050406030204" pitchFamily="18" charset="0"/>
                            <a:ea typeface="Cambria Math" panose="02040503050406030204" pitchFamily="18" charset="0"/>
                          </a:rPr>
                          <m:t>𝛼</m:t>
                        </m:r>
                      </m:e>
                      <m:sup>
                        <m:r>
                          <a:rPr lang="en-US" altLang="zh-CN" sz="1600" b="0" i="1" smtClean="0">
                            <a:latin typeface="Cambria Math" panose="02040503050406030204" pitchFamily="18" charset="0"/>
                            <a:ea typeface="Cambria Math" panose="02040503050406030204" pitchFamily="18" charset="0"/>
                          </a:rPr>
                          <m:t>+</m:t>
                        </m:r>
                      </m:sup>
                    </m:sSup>
                  </m:oMath>
                </a14:m>
                <a:r>
                  <a:rPr lang="en-US" altLang="zh-CN" sz="1600" dirty="0"/>
                  <a:t> </a:t>
                </a:r>
              </a:p>
              <a:p>
                <a:pPr lvl="1"/>
                <a:r>
                  <a:rPr lang="en-US" altLang="zh-CN" sz="1600" dirty="0"/>
                  <a:t>Compute </a:t>
                </a:r>
                <a14:m>
                  <m:oMath xmlns:m="http://schemas.openxmlformats.org/officeDocument/2006/math">
                    <m:sSup>
                      <m:sSupPr>
                        <m:ctrlPr>
                          <a:rPr lang="en-US" altLang="zh-CN" sz="1600" i="1">
                            <a:latin typeface="Cambria Math" panose="02040503050406030204" pitchFamily="18" charset="0"/>
                            <a:ea typeface="Cambria Math" panose="02040503050406030204" pitchFamily="18" charset="0"/>
                          </a:rPr>
                        </m:ctrlPr>
                      </m:sSupPr>
                      <m:e>
                        <m:r>
                          <a:rPr lang="zh-CN" altLang="en-US" sz="1600" i="1">
                            <a:latin typeface="Cambria Math" panose="02040503050406030204" pitchFamily="18" charset="0"/>
                            <a:ea typeface="Cambria Math" panose="02040503050406030204" pitchFamily="18" charset="0"/>
                          </a:rPr>
                          <m:t>𝛼</m:t>
                        </m:r>
                      </m:e>
                      <m:sup>
                        <m:r>
                          <a:rPr lang="en-US" altLang="zh-CN" sz="1600" i="1">
                            <a:latin typeface="Cambria Math" panose="02040503050406030204" pitchFamily="18" charset="0"/>
                            <a:ea typeface="Cambria Math" panose="02040503050406030204" pitchFamily="18" charset="0"/>
                          </a:rPr>
                          <m:t>+</m:t>
                        </m:r>
                      </m:sup>
                    </m:sSup>
                  </m:oMath>
                </a14:m>
                <a:r>
                  <a:rPr lang="en-US" altLang="zh-CN" sz="1600" dirty="0"/>
                  <a:t> by using attribute closure, and then check if it contains </a:t>
                </a:r>
                <a14:m>
                  <m:oMath xmlns:m="http://schemas.openxmlformats.org/officeDocument/2006/math">
                    <m:r>
                      <a:rPr lang="zh-CN" altLang="en-US" sz="1600" i="1">
                        <a:latin typeface="Cambria Math" panose="02040503050406030204" pitchFamily="18" charset="0"/>
                        <a:ea typeface="Cambria Math" panose="02040503050406030204" pitchFamily="18" charset="0"/>
                      </a:rPr>
                      <m:t>𝛽</m:t>
                    </m:r>
                  </m:oMath>
                </a14:m>
                <a:r>
                  <a:rPr lang="en-US" altLang="zh-CN" sz="1600" dirty="0"/>
                  <a:t> </a:t>
                </a:r>
              </a:p>
              <a:p>
                <a:pPr lvl="1"/>
                <a:r>
                  <a:rPr lang="en-US" altLang="zh-CN" sz="1600" dirty="0"/>
                  <a:t>A simple and cheap test</a:t>
                </a:r>
              </a:p>
              <a:p>
                <a:r>
                  <a:rPr lang="en-US" altLang="zh-CN" sz="1800" b="1" dirty="0"/>
                  <a:t>Compute the closure of </a:t>
                </a:r>
                <a14:m>
                  <m:oMath xmlns:m="http://schemas.openxmlformats.org/officeDocument/2006/math">
                    <m:r>
                      <a:rPr lang="en-US" altLang="zh-CN" sz="1800" b="1" i="1" smtClean="0">
                        <a:latin typeface="Cambria Math" panose="02040503050406030204" pitchFamily="18" charset="0"/>
                      </a:rPr>
                      <m:t>𝑭</m:t>
                    </m:r>
                  </m:oMath>
                </a14:m>
                <a:endParaRPr lang="en-US" altLang="zh-CN" sz="1800" b="1" dirty="0"/>
              </a:p>
              <a:p>
                <a:pPr lvl="1"/>
                <a:r>
                  <a:rPr lang="en-US" altLang="zh-CN" sz="1600" dirty="0"/>
                  <a:t>For each </a:t>
                </a:r>
                <a14:m>
                  <m:oMath xmlns:m="http://schemas.openxmlformats.org/officeDocument/2006/math">
                    <m:r>
                      <a:rPr lang="zh-CN" altLang="en-US" sz="1600" i="1" smtClean="0">
                        <a:latin typeface="Cambria Math" panose="02040503050406030204" pitchFamily="18" charset="0"/>
                      </a:rPr>
                      <m:t>𝛾</m:t>
                    </m:r>
                    <m:r>
                      <a:rPr lang="zh-CN" altLang="en-US" sz="1600" i="1" smtClean="0">
                        <a:latin typeface="Cambria Math" panose="02040503050406030204" pitchFamily="18" charset="0"/>
                      </a:rPr>
                      <m:t>⊆</m:t>
                    </m:r>
                    <m:r>
                      <a:rPr lang="en-US" altLang="zh-CN" sz="1600" b="0" i="1" smtClean="0">
                        <a:latin typeface="Cambria Math" panose="02040503050406030204" pitchFamily="18" charset="0"/>
                      </a:rPr>
                      <m:t>𝑅</m:t>
                    </m:r>
                  </m:oMath>
                </a14:m>
                <a:r>
                  <a:rPr lang="en-US" altLang="zh-CN" sz="1600" dirty="0"/>
                  <a:t>, find the attribute closure </a:t>
                </a:r>
                <a14:m>
                  <m:oMath xmlns:m="http://schemas.openxmlformats.org/officeDocument/2006/math">
                    <m:sSup>
                      <m:sSupPr>
                        <m:ctrlPr>
                          <a:rPr lang="en-US" altLang="zh-CN" sz="1600" i="1" smtClean="0">
                            <a:latin typeface="Cambria Math" panose="02040503050406030204" pitchFamily="18" charset="0"/>
                          </a:rPr>
                        </m:ctrlPr>
                      </m:sSupPr>
                      <m:e>
                        <m:r>
                          <a:rPr lang="zh-CN" altLang="en-US" sz="1600" i="1" smtClean="0">
                            <a:latin typeface="Cambria Math" panose="02040503050406030204" pitchFamily="18" charset="0"/>
                          </a:rPr>
                          <m:t>𝛾</m:t>
                        </m:r>
                      </m:e>
                      <m:sup>
                        <m:r>
                          <a:rPr lang="en-US" altLang="zh-CN" sz="1600" b="0" i="1" smtClean="0">
                            <a:latin typeface="Cambria Math" panose="02040503050406030204" pitchFamily="18" charset="0"/>
                          </a:rPr>
                          <m:t>+</m:t>
                        </m:r>
                      </m:sup>
                    </m:sSup>
                  </m:oMath>
                </a14:m>
                <a:r>
                  <a:rPr lang="en-US" altLang="zh-CN" sz="1600" dirty="0"/>
                  <a:t>, and for each </a:t>
                </a:r>
                <a14:m>
                  <m:oMath xmlns:m="http://schemas.openxmlformats.org/officeDocument/2006/math">
                    <m:r>
                      <a:rPr lang="en-US" altLang="zh-CN" sz="1600" b="0" i="1" smtClean="0">
                        <a:latin typeface="Cambria Math" panose="02040503050406030204" pitchFamily="18" charset="0"/>
                      </a:rPr>
                      <m:t>𝑆</m:t>
                    </m:r>
                    <m:r>
                      <a:rPr lang="en-US" altLang="zh-CN" sz="1600" b="0" i="1" smtClean="0">
                        <a:latin typeface="Cambria Math" panose="02040503050406030204" pitchFamily="18" charset="0"/>
                        <a:ea typeface="Cambria Math" panose="02040503050406030204" pitchFamily="18" charset="0"/>
                      </a:rPr>
                      <m:t>⊆</m:t>
                    </m:r>
                    <m:sSup>
                      <m:sSupPr>
                        <m:ctrlPr>
                          <a:rPr lang="en-US" altLang="zh-CN" sz="1600" b="0" i="1" smtClean="0">
                            <a:latin typeface="Cambria Math" panose="02040503050406030204" pitchFamily="18" charset="0"/>
                            <a:ea typeface="Cambria Math" panose="02040503050406030204" pitchFamily="18" charset="0"/>
                          </a:rPr>
                        </m:ctrlPr>
                      </m:sSupPr>
                      <m:e>
                        <m:r>
                          <a:rPr lang="zh-CN" altLang="en-US" sz="1600" b="0" i="1" smtClean="0">
                            <a:latin typeface="Cambria Math" panose="02040503050406030204" pitchFamily="18" charset="0"/>
                            <a:ea typeface="Cambria Math" panose="02040503050406030204" pitchFamily="18" charset="0"/>
                          </a:rPr>
                          <m:t>𝛾</m:t>
                        </m:r>
                      </m:e>
                      <m:sup>
                        <m:r>
                          <a:rPr lang="en-US" altLang="zh-CN" sz="1600" b="0" i="1" smtClean="0">
                            <a:latin typeface="Cambria Math" panose="02040503050406030204" pitchFamily="18" charset="0"/>
                            <a:ea typeface="Cambria Math" panose="02040503050406030204" pitchFamily="18" charset="0"/>
                          </a:rPr>
                          <m:t>+</m:t>
                        </m:r>
                      </m:sup>
                    </m:sSup>
                  </m:oMath>
                </a14:m>
                <a:r>
                  <a:rPr lang="en-US" altLang="zh-CN" sz="1600" dirty="0"/>
                  <a:t>, output a functional dependency </a:t>
                </a:r>
                <a14:m>
                  <m:oMath xmlns:m="http://schemas.openxmlformats.org/officeDocument/2006/math">
                    <m:r>
                      <a:rPr lang="zh-CN" altLang="en-US" sz="1600" i="1" smtClean="0">
                        <a:latin typeface="Cambria Math" panose="02040503050406030204" pitchFamily="18" charset="0"/>
                      </a:rPr>
                      <m:t>𝛾</m:t>
                    </m:r>
                    <m:r>
                      <a:rPr lang="zh-CN" altLang="en-US" sz="1600" i="1" smtClean="0">
                        <a:latin typeface="Cambria Math" panose="02040503050406030204" pitchFamily="18" charset="0"/>
                      </a:rPr>
                      <m:t>→</m:t>
                    </m:r>
                    <m:r>
                      <a:rPr lang="en-US" altLang="zh-CN" sz="1600" b="0" i="1" smtClean="0">
                        <a:latin typeface="Cambria Math" panose="02040503050406030204" pitchFamily="18" charset="0"/>
                      </a:rPr>
                      <m:t>𝑆</m:t>
                    </m:r>
                  </m:oMath>
                </a14:m>
                <a:endParaRPr lang="en-US" altLang="zh-CN" sz="1600" dirty="0"/>
              </a:p>
              <a:p>
                <a:endParaRPr lang="zh-CN" altLang="en-US" sz="1800" dirty="0"/>
              </a:p>
            </p:txBody>
          </p:sp>
        </mc:Choice>
        <mc:Fallback xmlns="">
          <p:sp>
            <p:nvSpPr>
              <p:cNvPr id="3" name="内容占位符 2">
                <a:extLst>
                  <a:ext uri="{FF2B5EF4-FFF2-40B4-BE49-F238E27FC236}">
                    <a16:creationId xmlns:a16="http://schemas.microsoft.com/office/drawing/2014/main" id="{00A462C2-3E7F-4F54-8311-B4B40984EFFB}"/>
                  </a:ext>
                </a:extLst>
              </p:cNvPr>
              <p:cNvSpPr>
                <a:spLocks noGrp="1" noRot="1" noChangeAspect="1" noMove="1" noResize="1" noEditPoints="1" noAdjustHandles="1" noChangeArrowheads="1" noChangeShapeType="1" noTextEdit="1"/>
              </p:cNvSpPr>
              <p:nvPr>
                <p:ph idx="1"/>
              </p:nvPr>
            </p:nvSpPr>
            <p:spPr>
              <a:xfrm>
                <a:off x="251520" y="789553"/>
                <a:ext cx="8424936" cy="3805070"/>
              </a:xfrm>
              <a:blipFill>
                <a:blip r:embed="rId2"/>
                <a:stretch>
                  <a:fillRect l="-434"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938452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barn(inVertical)">
                                      <p:cBhvr>
                                        <p:cTn id="21" dur="500"/>
                                        <p:tgtEl>
                                          <p:spTgt spid="3">
                                            <p:txEl>
                                              <p:pRg st="5" end="5"/>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arn(inVertical)">
                                      <p:cBhvr>
                                        <p:cTn id="24"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782904"/>
            <a:ext cx="8568952" cy="3805070"/>
          </a:xfrm>
        </p:spPr>
        <p:txBody>
          <a:bodyPr/>
          <a:lstStyle/>
          <a:p>
            <a:pPr>
              <a:spcBef>
                <a:spcPts val="400"/>
              </a:spcBef>
            </a:pPr>
            <a:r>
              <a:rPr lang="en-US" altLang="zh-CN" sz="2000" dirty="0"/>
              <a:t>Features of Good Relational Designs</a:t>
            </a:r>
          </a:p>
          <a:p>
            <a:pPr>
              <a:spcBef>
                <a:spcPts val="400"/>
              </a:spcBef>
            </a:pPr>
            <a:r>
              <a:rPr lang="en-US" altLang="zh-CN" sz="2000" b="1" dirty="0">
                <a:solidFill>
                  <a:srgbClr val="C00000"/>
                </a:solidFill>
              </a:rPr>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dirty="0"/>
              <a:t>Closure of Attribute Sets</a:t>
            </a:r>
          </a:p>
          <a:p>
            <a:pPr lvl="1">
              <a:spcBef>
                <a:spcPts val="400"/>
              </a:spcBef>
            </a:pPr>
            <a:r>
              <a:rPr lang="en-US" altLang="zh-CN" sz="1800" dirty="0">
                <a:solidFill>
                  <a:srgbClr val="C00000"/>
                </a:solidFill>
              </a:rPr>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dirty="0"/>
              <a:t>Normalization &amp; Normal Forms (</a:t>
            </a:r>
            <a:r>
              <a:rPr lang="zh-CN" altLang="en-US" sz="2000" dirty="0"/>
              <a:t>范式</a:t>
            </a:r>
            <a:r>
              <a:rPr lang="en-US" altLang="zh-CN" sz="2000" dirty="0"/>
              <a:t>)</a:t>
            </a:r>
          </a:p>
          <a:p>
            <a:pPr>
              <a:spcBef>
                <a:spcPts val="400"/>
              </a:spcBef>
            </a:pPr>
            <a:r>
              <a:rPr lang="en-US" altLang="zh-CN" sz="2000" dirty="0"/>
              <a:t>Multivalued Dependencies</a:t>
            </a:r>
            <a:r>
              <a:rPr lang="zh-CN" altLang="en-US" sz="2000" dirty="0"/>
              <a:t>*</a:t>
            </a:r>
            <a:endParaRPr lang="en-US" altLang="zh-CN" sz="2000" dirty="0"/>
          </a:p>
          <a:p>
            <a:pPr>
              <a:spcBef>
                <a:spcPts val="400"/>
              </a:spcBef>
            </a:pPr>
            <a:r>
              <a:rPr lang="en-US" altLang="zh-CN" sz="2000" dirty="0"/>
              <a:t>Database Design Process</a:t>
            </a:r>
          </a:p>
        </p:txBody>
      </p:sp>
    </p:spTree>
    <p:extLst>
      <p:ext uri="{BB962C8B-B14F-4D97-AF65-F5344CB8AC3E}">
        <p14:creationId xmlns:p14="http://schemas.microsoft.com/office/powerpoint/2010/main" val="177808513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53B0FE-3AE6-42A6-BA35-3F3ABB026FD5}"/>
              </a:ext>
            </a:extLst>
          </p:cNvPr>
          <p:cNvSpPr>
            <a:spLocks noGrp="1"/>
          </p:cNvSpPr>
          <p:nvPr>
            <p:ph type="title"/>
          </p:nvPr>
        </p:nvSpPr>
        <p:spPr/>
        <p:txBody>
          <a:bodyPr/>
          <a:lstStyle/>
          <a:p>
            <a:pPr algn="ctr"/>
            <a:r>
              <a:rPr lang="en-US" altLang="zh-CN" dirty="0"/>
              <a:t>Redundancy in FDs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83E4694-ACB3-45E6-B008-D168929F075A}"/>
                  </a:ext>
                </a:extLst>
              </p:cNvPr>
              <p:cNvSpPr>
                <a:spLocks noGrp="1"/>
              </p:cNvSpPr>
              <p:nvPr>
                <p:ph idx="1"/>
              </p:nvPr>
            </p:nvSpPr>
            <p:spPr>
              <a:xfrm>
                <a:off x="251520" y="843558"/>
                <a:ext cx="8280920" cy="3589046"/>
              </a:xfrm>
            </p:spPr>
            <p:txBody>
              <a:bodyPr/>
              <a:lstStyle/>
              <a:p>
                <a:r>
                  <a:rPr lang="en-US" altLang="zh-CN" sz="1800" dirty="0"/>
                  <a:t>One set of FDs may contain redundant FDs that can be inferred from the others</a:t>
                </a:r>
              </a:p>
              <a:p>
                <a:pPr lvl="1"/>
                <a:r>
                  <a:rPr lang="en-US" altLang="zh-CN" sz="1600" dirty="0"/>
                  <a:t>e.g., </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oMath>
                </a14:m>
                <a:r>
                  <a:rPr lang="en-US" altLang="zh-CN" sz="1600" dirty="0"/>
                  <a:t> is redundant in: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𝐵</m:t>
                    </m:r>
                  </m:oMath>
                </a14:m>
                <a:r>
                  <a:rPr lang="en-US" altLang="zh-CN" sz="1600" dirty="0"/>
                  <a:t>, </a:t>
                </a:r>
                <a14:m>
                  <m:oMath xmlns:m="http://schemas.openxmlformats.org/officeDocument/2006/math">
                    <m:r>
                      <a:rPr lang="en-US" altLang="zh-CN" sz="1600" b="0" i="1" smtClean="0">
                        <a:latin typeface="Cambria Math" panose="02040503050406030204" pitchFamily="18" charset="0"/>
                      </a:rPr>
                      <m:t>𝐵</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𝐶</m:t>
                    </m:r>
                  </m:oMath>
                </a14:m>
                <a:r>
                  <a:rPr lang="en-US" altLang="zh-CN" sz="1600" dirty="0"/>
                  <a:t>,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𝐶</m:t>
                    </m:r>
                  </m:oMath>
                </a14:m>
                <a:r>
                  <a:rPr lang="en-US" altLang="zh-CN" sz="1600" dirty="0"/>
                  <a:t>}</a:t>
                </a:r>
              </a:p>
              <a:p>
                <a:pPr lvl="1"/>
                <a:r>
                  <a:rPr lang="en-US" altLang="zh-CN" sz="1600" dirty="0"/>
                  <a:t>parts of a FD may be redundant</a:t>
                </a:r>
              </a:p>
              <a:p>
                <a:pPr lvl="2"/>
                <a:r>
                  <a:rPr lang="en-US" altLang="zh-CN" sz="1400" dirty="0"/>
                  <a:t>e.g., on RHS: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𝐵</m:t>
                    </m:r>
                  </m:oMath>
                </a14:m>
                <a:r>
                  <a:rPr lang="en-US" altLang="zh-CN" sz="1400" dirty="0"/>
                  <a:t>, </a:t>
                </a:r>
                <a14:m>
                  <m:oMath xmlns:m="http://schemas.openxmlformats.org/officeDocument/2006/math">
                    <m:r>
                      <a:rPr lang="en-US" altLang="zh-CN" sz="1400" i="1">
                        <a:latin typeface="Cambria Math" panose="02040503050406030204" pitchFamily="18" charset="0"/>
                      </a:rPr>
                      <m:t>𝐵</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𝐶</m:t>
                    </m:r>
                  </m:oMath>
                </a14:m>
                <a:r>
                  <a:rPr lang="en-US" altLang="zh-CN" sz="1400" dirty="0"/>
                  <a:t>,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𝐶</m:t>
                    </m:r>
                    <m:r>
                      <a:rPr lang="en-US" altLang="zh-CN" sz="1400" b="0" i="1" smtClean="0">
                        <a:latin typeface="Cambria Math" panose="02040503050406030204" pitchFamily="18" charset="0"/>
                      </a:rPr>
                      <m:t>𝐷</m:t>
                    </m:r>
                  </m:oMath>
                </a14:m>
                <a:r>
                  <a:rPr lang="en-US" altLang="zh-CN" sz="1400" dirty="0"/>
                  <a:t>}  can be simplified to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𝐵</m:t>
                    </m:r>
                  </m:oMath>
                </a14:m>
                <a:r>
                  <a:rPr lang="en-US" altLang="zh-CN" sz="1400" dirty="0"/>
                  <a:t>, </a:t>
                </a:r>
                <a14:m>
                  <m:oMath xmlns:m="http://schemas.openxmlformats.org/officeDocument/2006/math">
                    <m:r>
                      <a:rPr lang="en-US" altLang="zh-CN" sz="1400" i="1">
                        <a:latin typeface="Cambria Math" panose="02040503050406030204" pitchFamily="18" charset="0"/>
                      </a:rPr>
                      <m:t>𝐵</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𝐶</m:t>
                    </m:r>
                  </m:oMath>
                </a14:m>
                <a:r>
                  <a:rPr lang="en-US" altLang="zh-CN" sz="1400" dirty="0"/>
                  <a:t>,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𝐷</m:t>
                    </m:r>
                  </m:oMath>
                </a14:m>
                <a:r>
                  <a:rPr lang="en-US" altLang="zh-CN" sz="1400" dirty="0"/>
                  <a:t>} </a:t>
                </a:r>
              </a:p>
              <a:p>
                <a:pPr lvl="2"/>
                <a:r>
                  <a:rPr lang="en-US" altLang="zh-CN" sz="1400" dirty="0"/>
                  <a:t>e.g., on LHS: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𝐵</m:t>
                    </m:r>
                  </m:oMath>
                </a14:m>
                <a:r>
                  <a:rPr lang="en-US" altLang="zh-CN" sz="1400" dirty="0"/>
                  <a:t>, </a:t>
                </a:r>
                <a14:m>
                  <m:oMath xmlns:m="http://schemas.openxmlformats.org/officeDocument/2006/math">
                    <m:r>
                      <a:rPr lang="en-US" altLang="zh-CN" sz="1400" i="1">
                        <a:latin typeface="Cambria Math" panose="02040503050406030204" pitchFamily="18" charset="0"/>
                      </a:rPr>
                      <m:t>𝐵</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𝐶</m:t>
                    </m:r>
                  </m:oMath>
                </a14:m>
                <a:r>
                  <a:rPr lang="en-US" altLang="zh-CN" sz="1400" dirty="0"/>
                  <a:t>, </a:t>
                </a:r>
                <a14:m>
                  <m:oMath xmlns:m="http://schemas.openxmlformats.org/officeDocument/2006/math">
                    <m:r>
                      <a:rPr lang="en-US" altLang="zh-CN" sz="1400" i="1">
                        <a:latin typeface="Cambria Math" panose="02040503050406030204" pitchFamily="18" charset="0"/>
                      </a:rPr>
                      <m:t>𝐴</m:t>
                    </m:r>
                    <m:r>
                      <a:rPr lang="en-US" altLang="zh-CN" sz="1400" b="0" i="1" smtClean="0">
                        <a:latin typeface="Cambria Math" panose="02040503050406030204" pitchFamily="18" charset="0"/>
                      </a:rPr>
                      <m:t>𝐶</m:t>
                    </m:r>
                    <m:r>
                      <a:rPr lang="en-US" altLang="zh-CN" sz="1400" i="1">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𝐷</m:t>
                    </m:r>
                  </m:oMath>
                </a14:m>
                <a:r>
                  <a:rPr lang="en-US" altLang="zh-CN" sz="1400" dirty="0"/>
                  <a:t>}  can be simplified to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𝐵</m:t>
                    </m:r>
                  </m:oMath>
                </a14:m>
                <a:r>
                  <a:rPr lang="en-US" altLang="zh-CN" sz="1400" dirty="0"/>
                  <a:t>, </a:t>
                </a:r>
                <a14:m>
                  <m:oMath xmlns:m="http://schemas.openxmlformats.org/officeDocument/2006/math">
                    <m:r>
                      <a:rPr lang="en-US" altLang="zh-CN" sz="1400" i="1">
                        <a:latin typeface="Cambria Math" panose="02040503050406030204" pitchFamily="18" charset="0"/>
                      </a:rPr>
                      <m:t>𝐵</m:t>
                    </m:r>
                    <m:r>
                      <a:rPr lang="en-US" altLang="zh-CN" sz="1400" i="1">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𝐶</m:t>
                    </m:r>
                  </m:oMath>
                </a14:m>
                <a:r>
                  <a:rPr lang="en-US" altLang="zh-CN" sz="1400" dirty="0"/>
                  <a:t>, </a:t>
                </a:r>
                <a14:m>
                  <m:oMath xmlns:m="http://schemas.openxmlformats.org/officeDocument/2006/math">
                    <m:r>
                      <a:rPr lang="en-US" altLang="zh-CN" sz="1400" i="1">
                        <a:latin typeface="Cambria Math" panose="02040503050406030204" pitchFamily="18" charset="0"/>
                      </a:rPr>
                      <m:t>𝐴</m:t>
                    </m:r>
                    <m:r>
                      <a:rPr lang="en-US" altLang="zh-CN" sz="1400" i="1">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𝐷</m:t>
                    </m:r>
                  </m:oMath>
                </a14:m>
                <a:r>
                  <a:rPr lang="en-US" altLang="zh-CN" sz="1400" dirty="0"/>
                  <a:t>} </a:t>
                </a:r>
              </a:p>
              <a:p>
                <a:pPr lvl="2"/>
                <a:endParaRPr lang="en-US" altLang="zh-CN" sz="1400" dirty="0"/>
              </a:p>
              <a:p>
                <a:endParaRPr lang="zh-CN" altLang="en-US" sz="1800" dirty="0"/>
              </a:p>
            </p:txBody>
          </p:sp>
        </mc:Choice>
        <mc:Fallback xmlns="">
          <p:sp>
            <p:nvSpPr>
              <p:cNvPr id="3" name="内容占位符 2">
                <a:extLst>
                  <a:ext uri="{FF2B5EF4-FFF2-40B4-BE49-F238E27FC236}">
                    <a16:creationId xmlns:a16="http://schemas.microsoft.com/office/drawing/2014/main" id="{983E4694-ACB3-45E6-B008-D168929F075A}"/>
                  </a:ext>
                </a:extLst>
              </p:cNvPr>
              <p:cNvSpPr>
                <a:spLocks noGrp="1" noRot="1" noChangeAspect="1" noMove="1" noResize="1" noEditPoints="1" noAdjustHandles="1" noChangeArrowheads="1" noChangeShapeType="1" noTextEdit="1"/>
              </p:cNvSpPr>
              <p:nvPr>
                <p:ph idx="1"/>
              </p:nvPr>
            </p:nvSpPr>
            <p:spPr>
              <a:xfrm>
                <a:off x="251520" y="843558"/>
                <a:ext cx="8280920" cy="3589046"/>
              </a:xfrm>
              <a:blipFill>
                <a:blip r:embed="rId2"/>
                <a:stretch>
                  <a:fillRect l="-442" t="-84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250543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744D42-35DE-4B15-BD4E-491B67454CD7}"/>
              </a:ext>
            </a:extLst>
          </p:cNvPr>
          <p:cNvSpPr>
            <a:spLocks noGrp="1"/>
          </p:cNvSpPr>
          <p:nvPr>
            <p:ph type="title"/>
          </p:nvPr>
        </p:nvSpPr>
        <p:spPr/>
        <p:txBody>
          <a:bodyPr/>
          <a:lstStyle/>
          <a:p>
            <a:pPr algn="ctr"/>
            <a:r>
              <a:rPr lang="en-US" altLang="zh-CN" dirty="0"/>
              <a:t>Extraneous Attributes (</a:t>
            </a:r>
            <a:r>
              <a:rPr lang="zh-CN" altLang="en-US" dirty="0"/>
              <a:t>无关属性</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BA5D4BE-E61E-4F18-9D3B-828C57C75F24}"/>
                  </a:ext>
                </a:extLst>
              </p:cNvPr>
              <p:cNvSpPr>
                <a:spLocks noGrp="1"/>
              </p:cNvSpPr>
              <p:nvPr>
                <p:ph idx="1"/>
              </p:nvPr>
            </p:nvSpPr>
            <p:spPr>
              <a:xfrm>
                <a:off x="251520" y="710896"/>
                <a:ext cx="8568952" cy="3805070"/>
              </a:xfrm>
            </p:spPr>
            <p:txBody>
              <a:bodyPr/>
              <a:lstStyle/>
              <a:p>
                <a:r>
                  <a:rPr lang="en-US" altLang="zh-CN" sz="1800" dirty="0"/>
                  <a:t>Consider a set </a:t>
                </a:r>
                <a14:m>
                  <m:oMath xmlns:m="http://schemas.openxmlformats.org/officeDocument/2006/math">
                    <m:r>
                      <a:rPr lang="en-US" altLang="zh-CN" sz="1800" b="0" i="1" smtClean="0">
                        <a:latin typeface="Cambria Math" panose="02040503050406030204" pitchFamily="18" charset="0"/>
                      </a:rPr>
                      <m:t>𝐹</m:t>
                    </m:r>
                  </m:oMath>
                </a14:m>
                <a:r>
                  <a:rPr lang="en-US" altLang="zh-CN" sz="1800" dirty="0"/>
                  <a:t> of FDs and the FD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𝛽</m:t>
                    </m:r>
                  </m:oMath>
                </a14:m>
                <a:r>
                  <a:rPr lang="en-US" altLang="zh-CN" sz="1800" dirty="0"/>
                  <a:t> in F</a:t>
                </a:r>
              </a:p>
              <a:p>
                <a:pPr lvl="1"/>
                <a:r>
                  <a:rPr lang="en-US" altLang="zh-CN" sz="1600" dirty="0"/>
                  <a:t>Attribute A is extraneous (</a:t>
                </a:r>
                <a:r>
                  <a:rPr lang="zh-CN" altLang="en-US" sz="1600" dirty="0"/>
                  <a:t>无关的</a:t>
                </a:r>
                <a:r>
                  <a:rPr lang="en-US" altLang="zh-CN" sz="1600" dirty="0"/>
                  <a:t>) in </a:t>
                </a:r>
                <a14:m>
                  <m:oMath xmlns:m="http://schemas.openxmlformats.org/officeDocument/2006/math">
                    <m:r>
                      <a:rPr lang="zh-CN" altLang="en-US" sz="1600" i="1">
                        <a:latin typeface="Cambria Math" panose="02040503050406030204" pitchFamily="18" charset="0"/>
                      </a:rPr>
                      <m:t>𝛼</m:t>
                    </m:r>
                  </m:oMath>
                </a14:m>
                <a:r>
                  <a:rPr lang="en-US" altLang="zh-CN" sz="1600" dirty="0"/>
                  <a:t> if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zh-CN" altLang="en-US" sz="1600" b="0" i="1" smtClean="0">
                        <a:latin typeface="Cambria Math" panose="02040503050406030204" pitchFamily="18" charset="0"/>
                        <a:ea typeface="Cambria Math" panose="02040503050406030204" pitchFamily="18" charset="0"/>
                      </a:rPr>
                      <m:t>𝛼</m:t>
                    </m:r>
                  </m:oMath>
                </a14:m>
                <a:r>
                  <a:rPr lang="en-US" altLang="zh-CN" sz="1600" dirty="0"/>
                  <a:t> and </a:t>
                </a:r>
                <a14:m>
                  <m:oMath xmlns:m="http://schemas.openxmlformats.org/officeDocument/2006/math">
                    <m:r>
                      <a:rPr lang="en-US" altLang="zh-CN" sz="1600" b="0" i="1" smtClean="0">
                        <a:latin typeface="Cambria Math" panose="02040503050406030204" pitchFamily="18" charset="0"/>
                      </a:rPr>
                      <m:t>𝐹</m:t>
                    </m:r>
                  </m:oMath>
                </a14:m>
                <a:r>
                  <a:rPr lang="en-US" altLang="zh-CN" sz="1600" dirty="0"/>
                  <a:t> logically implies </a:t>
                </a:r>
                <a14:m>
                  <m:oMath xmlns:m="http://schemas.openxmlformats.org/officeDocument/2006/math">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𝐹</m:t>
                        </m:r>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ea typeface="Cambria Math" panose="02040503050406030204" pitchFamily="18" charset="0"/>
                              </a:rPr>
                            </m:ctrlPr>
                          </m:dPr>
                          <m:e>
                            <m:r>
                              <a:rPr lang="zh-CN" altLang="en-US" sz="1600" b="0" i="1" smtClean="0">
                                <a:latin typeface="Cambria Math" panose="02040503050406030204" pitchFamily="18" charset="0"/>
                                <a:ea typeface="Cambria Math" panose="02040503050406030204" pitchFamily="18" charset="0"/>
                              </a:rPr>
                              <m:t>𝛼</m:t>
                            </m:r>
                            <m:r>
                              <a:rPr lang="zh-CN" altLang="en-US" sz="1600" b="0" i="1" smtClean="0">
                                <a:latin typeface="Cambria Math" panose="02040503050406030204" pitchFamily="18" charset="0"/>
                                <a:ea typeface="Cambria Math" panose="02040503050406030204" pitchFamily="18" charset="0"/>
                              </a:rPr>
                              <m:t>→</m:t>
                            </m:r>
                            <m:r>
                              <a:rPr lang="zh-CN" altLang="en-US" sz="1600" b="0" i="1" smtClean="0">
                                <a:latin typeface="Cambria Math" panose="02040503050406030204" pitchFamily="18" charset="0"/>
                                <a:ea typeface="Cambria Math" panose="02040503050406030204" pitchFamily="18" charset="0"/>
                              </a:rPr>
                              <m:t>𝛽</m:t>
                            </m:r>
                          </m:e>
                        </m:d>
                      </m:e>
                    </m:d>
                    <m:r>
                      <a:rPr lang="en-US" altLang="zh-CN" sz="1600" b="0" i="1" smtClean="0">
                        <a:latin typeface="Cambria Math" panose="02040503050406030204" pitchFamily="18" charset="0"/>
                        <a:ea typeface="Cambria Math" panose="02040503050406030204" pitchFamily="18" charset="0"/>
                      </a:rPr>
                      <m:t>∪{(</m:t>
                    </m:r>
                    <m:r>
                      <a:rPr lang="zh-CN" altLang="en-US" sz="1600" b="0" i="1" smtClean="0">
                        <a:latin typeface="Cambria Math" panose="02040503050406030204" pitchFamily="18" charset="0"/>
                        <a:ea typeface="Cambria Math" panose="02040503050406030204" pitchFamily="18" charset="0"/>
                      </a:rPr>
                      <m:t>𝛼</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zh-CN" altLang="en-US" sz="1600" b="0" i="1" smtClean="0">
                        <a:latin typeface="Cambria Math" panose="02040503050406030204" pitchFamily="18" charset="0"/>
                        <a:ea typeface="Cambria Math" panose="02040503050406030204" pitchFamily="18" charset="0"/>
                      </a:rPr>
                      <m:t>𝛽</m:t>
                    </m:r>
                    <m:r>
                      <a:rPr lang="en-US" altLang="zh-CN" sz="1600" b="0" i="1" smtClean="0">
                        <a:latin typeface="Cambria Math" panose="02040503050406030204" pitchFamily="18" charset="0"/>
                        <a:ea typeface="Cambria Math" panose="02040503050406030204" pitchFamily="18" charset="0"/>
                      </a:rPr>
                      <m:t>}</m:t>
                    </m:r>
                  </m:oMath>
                </a14:m>
                <a:endParaRPr lang="en-US" altLang="zh-CN" sz="1600" dirty="0"/>
              </a:p>
              <a:p>
                <a:pPr lvl="1"/>
                <a:r>
                  <a:rPr lang="en-US" altLang="zh-CN" sz="1600" dirty="0"/>
                  <a:t>Attribute A is extraneous in </a:t>
                </a:r>
                <a14:m>
                  <m:oMath xmlns:m="http://schemas.openxmlformats.org/officeDocument/2006/math">
                    <m:r>
                      <a:rPr lang="zh-CN" altLang="en-US" sz="1600" i="1" smtClean="0">
                        <a:latin typeface="Cambria Math" panose="02040503050406030204" pitchFamily="18" charset="0"/>
                      </a:rPr>
                      <m:t>𝛽</m:t>
                    </m:r>
                  </m:oMath>
                </a14:m>
                <a:r>
                  <a:rPr lang="en-US" altLang="zh-CN" sz="1600" dirty="0"/>
                  <a:t> if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zh-CN" altLang="en-US" sz="1600" b="0" i="1" smtClean="0">
                        <a:latin typeface="Cambria Math" panose="02040503050406030204" pitchFamily="18" charset="0"/>
                      </a:rPr>
                      <m:t>𝛽</m:t>
                    </m:r>
                  </m:oMath>
                </a14:m>
                <a:r>
                  <a:rPr lang="en-US" altLang="zh-CN" sz="1600" dirty="0"/>
                  <a:t> and the set of FDs </a:t>
                </a:r>
                <a14:m>
                  <m:oMath xmlns:m="http://schemas.openxmlformats.org/officeDocument/2006/math">
                    <m:d>
                      <m:dPr>
                        <m:ctrlPr>
                          <a:rPr lang="en-US" altLang="zh-CN" sz="1600" i="1">
                            <a:latin typeface="Cambria Math" panose="02040503050406030204" pitchFamily="18" charset="0"/>
                          </a:rPr>
                        </m:ctrlPr>
                      </m:dPr>
                      <m:e>
                        <m:r>
                          <a:rPr lang="en-US" altLang="zh-CN" sz="1600" i="1">
                            <a:latin typeface="Cambria Math" panose="02040503050406030204" pitchFamily="18" charset="0"/>
                          </a:rPr>
                          <m:t>𝐹</m:t>
                        </m:r>
                        <m:r>
                          <a:rPr lang="en-US" altLang="zh-CN" sz="1600" i="1">
                            <a:latin typeface="Cambria Math" panose="02040503050406030204" pitchFamily="18" charset="0"/>
                          </a:rPr>
                          <m:t>−</m:t>
                        </m:r>
                        <m:d>
                          <m:dPr>
                            <m:begChr m:val="{"/>
                            <m:endChr m:val="}"/>
                            <m:ctrlPr>
                              <a:rPr lang="en-US" altLang="zh-CN" sz="1600" i="1">
                                <a:latin typeface="Cambria Math" panose="02040503050406030204" pitchFamily="18" charset="0"/>
                                <a:ea typeface="Cambria Math" panose="02040503050406030204" pitchFamily="18" charset="0"/>
                              </a:rPr>
                            </m:ctrlPr>
                          </m:dPr>
                          <m:e>
                            <m:r>
                              <a:rPr lang="zh-CN" altLang="en-US" sz="1600" i="1">
                                <a:latin typeface="Cambria Math" panose="02040503050406030204" pitchFamily="18" charset="0"/>
                                <a:ea typeface="Cambria Math" panose="02040503050406030204" pitchFamily="18" charset="0"/>
                              </a:rPr>
                              <m:t>𝛼</m:t>
                            </m:r>
                            <m:r>
                              <a:rPr lang="zh-CN" altLang="en-US" sz="1600" i="1">
                                <a:latin typeface="Cambria Math" panose="02040503050406030204" pitchFamily="18" charset="0"/>
                                <a:ea typeface="Cambria Math" panose="02040503050406030204" pitchFamily="18" charset="0"/>
                              </a:rPr>
                              <m:t>→</m:t>
                            </m:r>
                            <m:r>
                              <a:rPr lang="zh-CN" altLang="en-US" sz="1600" i="1">
                                <a:latin typeface="Cambria Math" panose="02040503050406030204" pitchFamily="18" charset="0"/>
                                <a:ea typeface="Cambria Math" panose="02040503050406030204" pitchFamily="18" charset="0"/>
                              </a:rPr>
                              <m:t>𝛽</m:t>
                            </m:r>
                          </m:e>
                        </m:d>
                      </m:e>
                    </m:d>
                    <m:r>
                      <a:rPr lang="en-US" altLang="zh-CN" sz="1600" i="1">
                        <a:latin typeface="Cambria Math" panose="02040503050406030204" pitchFamily="18" charset="0"/>
                        <a:ea typeface="Cambria Math" panose="02040503050406030204" pitchFamily="18" charset="0"/>
                      </a:rPr>
                      <m:t>∪{(</m:t>
                    </m:r>
                    <m:r>
                      <a:rPr lang="zh-CN" altLang="en-US" sz="1600" i="1">
                        <a:latin typeface="Cambria Math" panose="02040503050406030204" pitchFamily="18" charset="0"/>
                        <a:ea typeface="Cambria Math" panose="02040503050406030204" pitchFamily="18" charset="0"/>
                      </a:rPr>
                      <m:t>𝛼</m:t>
                    </m:r>
                    <m:r>
                      <a:rPr lang="en-US" altLang="zh-CN" sz="1600" i="1">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m:t>
                    </m:r>
                    <m:r>
                      <a:rPr lang="zh-CN" altLang="en-US" sz="1600" i="1">
                        <a:latin typeface="Cambria Math" panose="02040503050406030204" pitchFamily="18" charset="0"/>
                        <a:ea typeface="Cambria Math" panose="02040503050406030204" pitchFamily="18" charset="0"/>
                      </a:rPr>
                      <m:t>𝛽</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oMath>
                </a14:m>
                <a:r>
                  <a:rPr lang="en-US" altLang="zh-CN" sz="1600" dirty="0"/>
                  <a:t> logically implies F</a:t>
                </a:r>
              </a:p>
              <a:p>
                <a:endParaRPr lang="en-US" altLang="zh-CN" sz="1800" dirty="0"/>
              </a:p>
              <a:p>
                <a:r>
                  <a:rPr lang="en-US" altLang="zh-CN" sz="1800" dirty="0"/>
                  <a:t>E.g., given </a:t>
                </a:r>
                <a14:m>
                  <m:oMath xmlns:m="http://schemas.openxmlformats.org/officeDocument/2006/math">
                    <m:r>
                      <a:rPr lang="en-US" altLang="zh-CN" sz="1800" b="0" i="1" smtClean="0">
                        <a:latin typeface="Cambria Math" panose="02040503050406030204" pitchFamily="18" charset="0"/>
                      </a:rPr>
                      <m:t>𝐹</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 </m:t>
                    </m:r>
                    <m:r>
                      <a:rPr lang="en-US" altLang="zh-CN" sz="1800" b="0" i="1" smtClean="0">
                        <a:latin typeface="Cambria Math" panose="02040503050406030204" pitchFamily="18" charset="0"/>
                      </a:rPr>
                      <m:t>𝐴𝐵</m:t>
                    </m:r>
                    <m:r>
                      <a:rPr lang="en-US" altLang="zh-CN" sz="1800" b="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oMath>
                </a14:m>
                <a:endParaRPr lang="en-US" altLang="zh-CN" sz="1800" dirty="0"/>
              </a:p>
              <a:p>
                <a:pPr lvl="1"/>
                <a14:m>
                  <m:oMath xmlns:m="http://schemas.openxmlformats.org/officeDocument/2006/math">
                    <m:r>
                      <a:rPr lang="en-US" altLang="zh-CN" sz="1600" b="0" i="1" smtClean="0">
                        <a:latin typeface="Cambria Math" panose="02040503050406030204" pitchFamily="18" charset="0"/>
                      </a:rPr>
                      <m:t>𝐵</m:t>
                    </m:r>
                  </m:oMath>
                </a14:m>
                <a:r>
                  <a:rPr lang="en-US" altLang="zh-CN" sz="1600" dirty="0"/>
                  <a:t> is extraneous in </a:t>
                </a:r>
                <a14:m>
                  <m:oMath xmlns:m="http://schemas.openxmlformats.org/officeDocument/2006/math">
                    <m:r>
                      <a:rPr lang="en-US" altLang="zh-CN" sz="1600" i="1">
                        <a:latin typeface="Cambria Math" panose="02040503050406030204" pitchFamily="18" charset="0"/>
                      </a:rPr>
                      <m:t>𝐴𝐵</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oMath>
                </a14:m>
                <a:r>
                  <a:rPr lang="en-US" altLang="zh-CN" sz="1600" dirty="0"/>
                  <a:t> because {</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r>
                      <a:rPr lang="en-US" altLang="zh-CN" sz="1600" i="1">
                        <a:latin typeface="Cambria Math" panose="02040503050406030204" pitchFamily="18" charset="0"/>
                      </a:rPr>
                      <m:t>, </m:t>
                    </m:r>
                    <m:r>
                      <a:rPr lang="en-US" altLang="zh-CN" sz="1600" i="1">
                        <a:latin typeface="Cambria Math" panose="02040503050406030204" pitchFamily="18" charset="0"/>
                      </a:rPr>
                      <m:t>𝐴𝐵</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oMath>
                </a14:m>
                <a:r>
                  <a:rPr lang="en-US" altLang="zh-CN" sz="1600" dirty="0"/>
                  <a:t>} logically implies </a:t>
                </a:r>
                <a14:m>
                  <m:oMath xmlns:m="http://schemas.openxmlformats.org/officeDocument/2006/math">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oMath>
                </a14:m>
                <a:r>
                  <a:rPr lang="en-US" altLang="zh-CN" sz="1600" dirty="0"/>
                  <a:t> (i.e., the result of dropping </a:t>
                </a:r>
                <a14:m>
                  <m:oMath xmlns:m="http://schemas.openxmlformats.org/officeDocument/2006/math">
                    <m:r>
                      <a:rPr lang="en-US" altLang="zh-CN" sz="1600" b="0" i="1" smtClean="0">
                        <a:latin typeface="Cambria Math" panose="02040503050406030204" pitchFamily="18" charset="0"/>
                      </a:rPr>
                      <m:t>𝐵</m:t>
                    </m:r>
                  </m:oMath>
                </a14:m>
                <a:r>
                  <a:rPr lang="en-US" altLang="zh-CN" sz="1600" dirty="0"/>
                  <a:t> from </a:t>
                </a:r>
                <a14:m>
                  <m:oMath xmlns:m="http://schemas.openxmlformats.org/officeDocument/2006/math">
                    <m:r>
                      <a:rPr lang="en-US" altLang="zh-CN" sz="1600" i="1">
                        <a:latin typeface="Cambria Math" panose="02040503050406030204" pitchFamily="18" charset="0"/>
                      </a:rPr>
                      <m:t>𝐴𝐵</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oMath>
                </a14:m>
                <a:r>
                  <a:rPr lang="en-US" altLang="zh-CN" sz="1600" dirty="0"/>
                  <a:t>)</a:t>
                </a:r>
              </a:p>
              <a:p>
                <a:r>
                  <a:rPr lang="en-US" altLang="zh-CN" sz="1800" dirty="0"/>
                  <a:t>E.g., given </a:t>
                </a:r>
                <a14:m>
                  <m:oMath xmlns:m="http://schemas.openxmlformats.org/officeDocument/2006/math">
                    <m:r>
                      <a:rPr lang="en-US" altLang="zh-CN" sz="1800" i="1">
                        <a:latin typeface="Cambria Math" panose="02040503050406030204" pitchFamily="18" charset="0"/>
                      </a:rPr>
                      <m:t>𝐹</m:t>
                    </m:r>
                    <m:r>
                      <a:rPr lang="en-US" altLang="zh-CN" sz="1800" i="1">
                        <a:latin typeface="Cambria Math" panose="02040503050406030204" pitchFamily="18" charset="0"/>
                      </a:rPr>
                      <m:t>={</m:t>
                    </m:r>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𝐶</m:t>
                    </m:r>
                    <m:r>
                      <a:rPr lang="en-US" altLang="zh-CN" sz="1800" i="1">
                        <a:latin typeface="Cambria Math" panose="02040503050406030204" pitchFamily="18" charset="0"/>
                      </a:rPr>
                      <m:t>, </m:t>
                    </m:r>
                    <m:r>
                      <a:rPr lang="en-US" altLang="zh-CN" sz="1800" i="1">
                        <a:latin typeface="Cambria Math" panose="02040503050406030204" pitchFamily="18" charset="0"/>
                      </a:rPr>
                      <m:t>𝐴𝐵</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𝐶</m:t>
                    </m:r>
                    <m:r>
                      <a:rPr lang="en-US" altLang="zh-CN" sz="1800" b="0" i="1" smtClean="0">
                        <a:latin typeface="Cambria Math" panose="02040503050406030204" pitchFamily="18" charset="0"/>
                      </a:rPr>
                      <m:t>𝐷</m:t>
                    </m:r>
                    <m:r>
                      <a:rPr lang="en-US" altLang="zh-CN" sz="1800" i="1">
                        <a:latin typeface="Cambria Math" panose="02040503050406030204" pitchFamily="18" charset="0"/>
                      </a:rPr>
                      <m:t>}</m:t>
                    </m:r>
                  </m:oMath>
                </a14:m>
                <a:endParaRPr lang="en-US" altLang="zh-CN" sz="1800" dirty="0"/>
              </a:p>
              <a:p>
                <a:pPr lvl="1"/>
                <a14:m>
                  <m:oMath xmlns:m="http://schemas.openxmlformats.org/officeDocument/2006/math">
                    <m:r>
                      <a:rPr lang="en-US" altLang="zh-CN" sz="1600" b="0" i="1" smtClean="0">
                        <a:latin typeface="Cambria Math" panose="02040503050406030204" pitchFamily="18" charset="0"/>
                      </a:rPr>
                      <m:t>𝐶</m:t>
                    </m:r>
                  </m:oMath>
                </a14:m>
                <a:r>
                  <a:rPr lang="en-US" altLang="zh-CN" sz="1600" dirty="0"/>
                  <a:t> is extraneous in </a:t>
                </a:r>
                <a14:m>
                  <m:oMath xmlns:m="http://schemas.openxmlformats.org/officeDocument/2006/math">
                    <m:r>
                      <a:rPr lang="en-US" altLang="zh-CN" sz="1600" i="1">
                        <a:latin typeface="Cambria Math" panose="02040503050406030204" pitchFamily="18" charset="0"/>
                      </a:rPr>
                      <m:t>𝐴𝐵</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𝐶𝐷</m:t>
                    </m:r>
                    <m:r>
                      <a:rPr lang="en-US" altLang="zh-CN" sz="1600" i="1">
                        <a:latin typeface="Cambria Math" panose="02040503050406030204" pitchFamily="18" charset="0"/>
                      </a:rPr>
                      <m:t> </m:t>
                    </m:r>
                  </m:oMath>
                </a14:m>
                <a:r>
                  <a:rPr lang="en-US" altLang="zh-CN" sz="1600" dirty="0"/>
                  <a:t>since it can be inferred from </a:t>
                </a:r>
                <a14:m>
                  <m:oMath xmlns:m="http://schemas.openxmlformats.org/officeDocument/2006/math">
                    <m:r>
                      <a:rPr lang="en-US" altLang="zh-CN" sz="1600" i="1">
                        <a:latin typeface="Cambria Math" panose="02040503050406030204" pitchFamily="18" charset="0"/>
                      </a:rPr>
                      <m:t>={</m:t>
                    </m:r>
                    <m:r>
                      <a:rPr lang="en-US" altLang="zh-CN" sz="1600" i="1">
                        <a:latin typeface="Cambria Math" panose="02040503050406030204" pitchFamily="18" charset="0"/>
                      </a:rPr>
                      <m:t>𝐴</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𝐶</m:t>
                    </m:r>
                    <m:r>
                      <a:rPr lang="en-US" altLang="zh-CN" sz="1600" i="1">
                        <a:latin typeface="Cambria Math" panose="02040503050406030204" pitchFamily="18" charset="0"/>
                      </a:rPr>
                      <m:t>, </m:t>
                    </m:r>
                    <m:r>
                      <a:rPr lang="en-US" altLang="zh-CN" sz="1600" i="1">
                        <a:latin typeface="Cambria Math" panose="02040503050406030204" pitchFamily="18" charset="0"/>
                      </a:rPr>
                      <m:t>𝐴𝐵</m:t>
                    </m:r>
                    <m:r>
                      <a:rPr lang="en-US" altLang="zh-CN" sz="1600" i="1">
                        <a:latin typeface="Cambria Math" panose="02040503050406030204" pitchFamily="18" charset="0"/>
                        <a:ea typeface="Cambria Math" panose="02040503050406030204" pitchFamily="18" charset="0"/>
                      </a:rPr>
                      <m:t>→</m:t>
                    </m:r>
                    <m:r>
                      <a:rPr lang="en-US" altLang="zh-CN" sz="1600" i="1">
                        <a:latin typeface="Cambria Math" panose="02040503050406030204" pitchFamily="18" charset="0"/>
                      </a:rPr>
                      <m:t>𝐷</m:t>
                    </m:r>
                    <m:r>
                      <a:rPr lang="en-US" altLang="zh-CN" sz="1600" i="1">
                        <a:latin typeface="Cambria Math" panose="02040503050406030204" pitchFamily="18" charset="0"/>
                      </a:rPr>
                      <m:t>}</m:t>
                    </m:r>
                  </m:oMath>
                </a14:m>
                <a:endParaRPr lang="en-US" altLang="zh-CN" sz="1400" dirty="0"/>
              </a:p>
            </p:txBody>
          </p:sp>
        </mc:Choice>
        <mc:Fallback xmlns="">
          <p:sp>
            <p:nvSpPr>
              <p:cNvPr id="3" name="内容占位符 2">
                <a:extLst>
                  <a:ext uri="{FF2B5EF4-FFF2-40B4-BE49-F238E27FC236}">
                    <a16:creationId xmlns:a16="http://schemas.microsoft.com/office/drawing/2014/main" id="{6BA5D4BE-E61E-4F18-9D3B-828C57C75F24}"/>
                  </a:ext>
                </a:extLst>
              </p:cNvPr>
              <p:cNvSpPr>
                <a:spLocks noGrp="1" noRot="1" noChangeAspect="1" noMove="1" noResize="1" noEditPoints="1" noAdjustHandles="1" noChangeArrowheads="1" noChangeShapeType="1" noTextEdit="1"/>
              </p:cNvSpPr>
              <p:nvPr>
                <p:ph idx="1"/>
              </p:nvPr>
            </p:nvSpPr>
            <p:spPr>
              <a:xfrm>
                <a:off x="251520" y="710896"/>
                <a:ext cx="8568952" cy="3805070"/>
              </a:xfrm>
              <a:blipFill>
                <a:blip r:embed="rId3"/>
                <a:stretch>
                  <a:fillRect l="-427" t="-11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75533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barn(inVertical)">
                                      <p:cBhvr>
                                        <p:cTn id="19" dur="500"/>
                                        <p:tgtEl>
                                          <p:spTgt spid="3">
                                            <p:txEl>
                                              <p:pRg st="4" end="4"/>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arn(inVertical)">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barn(inVertical)">
                                      <p:cBhvr>
                                        <p:cTn id="27" dur="500"/>
                                        <p:tgtEl>
                                          <p:spTgt spid="3">
                                            <p:txEl>
                                              <p:pRg st="6" end="6"/>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barn(inVertical)">
                                      <p:cBhvr>
                                        <p:cTn id="30"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1C38C9-7EC5-47FC-B2D9-916A2CACC18E}"/>
              </a:ext>
            </a:extLst>
          </p:cNvPr>
          <p:cNvSpPr>
            <a:spLocks noGrp="1"/>
          </p:cNvSpPr>
          <p:nvPr>
            <p:ph type="title"/>
          </p:nvPr>
        </p:nvSpPr>
        <p:spPr/>
        <p:txBody>
          <a:bodyPr/>
          <a:lstStyle/>
          <a:p>
            <a:pPr algn="ctr"/>
            <a:r>
              <a:rPr lang="en-US" altLang="zh-CN" dirty="0"/>
              <a:t>Testing Extraneous Attributes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FC307F8-50AA-41DF-B39B-8D7E7E96BBC9}"/>
                  </a:ext>
                </a:extLst>
              </p:cNvPr>
              <p:cNvSpPr>
                <a:spLocks noGrp="1"/>
              </p:cNvSpPr>
              <p:nvPr>
                <p:ph idx="1"/>
              </p:nvPr>
            </p:nvSpPr>
            <p:spPr/>
            <p:txBody>
              <a:bodyPr/>
              <a:lstStyle/>
              <a:p>
                <a:pPr>
                  <a:spcBef>
                    <a:spcPts val="600"/>
                  </a:spcBef>
                </a:pPr>
                <a:r>
                  <a:rPr lang="en-US" altLang="zh-CN" sz="1800" dirty="0"/>
                  <a:t>Consider a set </a:t>
                </a:r>
                <a14:m>
                  <m:oMath xmlns:m="http://schemas.openxmlformats.org/officeDocument/2006/math">
                    <m:r>
                      <a:rPr lang="en-US" altLang="zh-CN" sz="1800" b="0" i="1" dirty="0" smtClean="0">
                        <a:latin typeface="Cambria Math" panose="02040503050406030204" pitchFamily="18" charset="0"/>
                      </a:rPr>
                      <m:t>𝐹</m:t>
                    </m:r>
                  </m:oMath>
                </a14:m>
                <a:r>
                  <a:rPr lang="en-US" altLang="zh-CN" sz="1800" dirty="0"/>
                  <a:t> of FDs and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𝛽</m:t>
                    </m:r>
                  </m:oMath>
                </a14:m>
                <a:r>
                  <a:rPr lang="en-US" altLang="zh-CN" sz="1800" dirty="0"/>
                  <a:t> in </a:t>
                </a:r>
                <a14:m>
                  <m:oMath xmlns:m="http://schemas.openxmlformats.org/officeDocument/2006/math">
                    <m:r>
                      <a:rPr lang="en-US" altLang="zh-CN" sz="1800" i="1" dirty="0">
                        <a:latin typeface="Cambria Math" panose="02040503050406030204" pitchFamily="18" charset="0"/>
                      </a:rPr>
                      <m:t>𝐹</m:t>
                    </m:r>
                  </m:oMath>
                </a14:m>
                <a:endParaRPr lang="en-US" altLang="zh-CN" sz="1800" dirty="0"/>
              </a:p>
              <a:p>
                <a:pPr>
                  <a:spcBef>
                    <a:spcPts val="600"/>
                  </a:spcBef>
                </a:pPr>
                <a:r>
                  <a:rPr lang="en-US" altLang="zh-CN" sz="1800" dirty="0"/>
                  <a:t>To test if attribute </a:t>
                </a:r>
                <a14:m>
                  <m:oMath xmlns:m="http://schemas.openxmlformats.org/officeDocument/2006/math">
                    <m:r>
                      <a:rPr lang="en-US" altLang="zh-CN" sz="1800" b="0" i="1" smtClean="0">
                        <a:latin typeface="Cambria Math" panose="02040503050406030204" pitchFamily="18" charset="0"/>
                      </a:rPr>
                      <m:t>𝐴</m:t>
                    </m:r>
                    <m:r>
                      <a:rPr lang="en-US" altLang="zh-CN" sz="1800" b="0" i="1" smtClean="0">
                        <a:latin typeface="Cambria Math" panose="02040503050406030204" pitchFamily="18" charset="0"/>
                        <a:ea typeface="Cambria Math" panose="02040503050406030204" pitchFamily="18" charset="0"/>
                      </a:rPr>
                      <m:t>∈</m:t>
                    </m:r>
                    <m:r>
                      <a:rPr lang="zh-CN" altLang="en-US" sz="1800" b="0" i="1" smtClean="0">
                        <a:latin typeface="Cambria Math" panose="02040503050406030204" pitchFamily="18" charset="0"/>
                        <a:ea typeface="Cambria Math" panose="02040503050406030204" pitchFamily="18" charset="0"/>
                      </a:rPr>
                      <m:t>𝛼</m:t>
                    </m:r>
                  </m:oMath>
                </a14:m>
                <a:r>
                  <a:rPr lang="en-US" altLang="zh-CN" sz="1800" dirty="0"/>
                  <a:t> is extraneous in </a:t>
                </a:r>
                <a14:m>
                  <m:oMath xmlns:m="http://schemas.openxmlformats.org/officeDocument/2006/math">
                    <m:r>
                      <a:rPr lang="zh-CN" altLang="en-US" sz="1800" i="1" smtClean="0">
                        <a:latin typeface="Cambria Math" panose="02040503050406030204" pitchFamily="18" charset="0"/>
                      </a:rPr>
                      <m:t>𝛼</m:t>
                    </m:r>
                  </m:oMath>
                </a14:m>
                <a:r>
                  <a:rPr lang="en-US" altLang="zh-CN" sz="1800" dirty="0"/>
                  <a:t> </a:t>
                </a:r>
              </a:p>
              <a:p>
                <a:pPr lvl="1">
                  <a:spcBef>
                    <a:spcPts val="600"/>
                  </a:spcBef>
                </a:pPr>
                <a:r>
                  <a:rPr lang="en-US" altLang="zh-CN" sz="1600" dirty="0"/>
                  <a:t>compute </a:t>
                </a: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r>
                              <a:rPr lang="zh-CN" altLang="en-US" sz="1600" b="0" i="1" smtClean="0">
                                <a:latin typeface="Cambria Math" panose="02040503050406030204" pitchFamily="18" charset="0"/>
                              </a:rPr>
                              <m:t>𝛼</m:t>
                            </m:r>
                          </m:e>
                        </m:d>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𝐴</m:t>
                        </m:r>
                        <m:r>
                          <a:rPr lang="en-US" altLang="zh-CN" sz="1600" b="0" i="1" smtClean="0">
                            <a:latin typeface="Cambria Math" panose="02040503050406030204" pitchFamily="18" charset="0"/>
                          </a:rPr>
                          <m:t>)</m:t>
                        </m:r>
                      </m:e>
                      <m:sup>
                        <m:r>
                          <a:rPr lang="en-US" altLang="zh-CN" sz="1600" b="0" i="1" smtClean="0">
                            <a:latin typeface="Cambria Math" panose="02040503050406030204" pitchFamily="18" charset="0"/>
                          </a:rPr>
                          <m:t>+</m:t>
                        </m:r>
                      </m:sup>
                    </m:sSup>
                  </m:oMath>
                </a14:m>
                <a:r>
                  <a:rPr lang="en-US" altLang="zh-CN" sz="1600" dirty="0"/>
                  <a:t> using the dependencies in </a:t>
                </a:r>
                <a14:m>
                  <m:oMath xmlns:m="http://schemas.openxmlformats.org/officeDocument/2006/math">
                    <m:r>
                      <a:rPr lang="en-US" altLang="zh-CN" sz="1600" b="0" i="1" smtClean="0">
                        <a:latin typeface="Cambria Math" panose="02040503050406030204" pitchFamily="18" charset="0"/>
                      </a:rPr>
                      <m:t>𝐹</m:t>
                    </m:r>
                  </m:oMath>
                </a14:m>
                <a:r>
                  <a:rPr lang="en-US" altLang="zh-CN" sz="1600" dirty="0"/>
                  <a:t> </a:t>
                </a:r>
              </a:p>
              <a:p>
                <a:pPr lvl="1">
                  <a:spcBef>
                    <a:spcPts val="600"/>
                  </a:spcBef>
                </a:pPr>
                <a:r>
                  <a:rPr lang="en-US" altLang="zh-CN" sz="1600" dirty="0"/>
                  <a:t>if </a:t>
                </a:r>
                <a14:m>
                  <m:oMath xmlns:m="http://schemas.openxmlformats.org/officeDocument/2006/math">
                    <m:sSup>
                      <m:sSupPr>
                        <m:ctrlPr>
                          <a:rPr lang="en-US" altLang="zh-CN" sz="1600" i="1" smtClean="0">
                            <a:solidFill>
                              <a:srgbClr val="C00000"/>
                            </a:solidFill>
                            <a:latin typeface="Cambria Math" panose="02040503050406030204" pitchFamily="18" charset="0"/>
                          </a:rPr>
                        </m:ctrlPr>
                      </m:sSupPr>
                      <m:e>
                        <m:r>
                          <a:rPr lang="en-US" altLang="zh-CN" sz="1600" i="1">
                            <a:solidFill>
                              <a:srgbClr val="C00000"/>
                            </a:solidFill>
                            <a:latin typeface="Cambria Math" panose="02040503050406030204" pitchFamily="18" charset="0"/>
                          </a:rPr>
                          <m:t>(</m:t>
                        </m:r>
                        <m:d>
                          <m:dPr>
                            <m:begChr m:val="{"/>
                            <m:endChr m:val="}"/>
                            <m:ctrlPr>
                              <a:rPr lang="en-US" altLang="zh-CN" sz="1600" i="1">
                                <a:solidFill>
                                  <a:srgbClr val="C00000"/>
                                </a:solidFill>
                                <a:latin typeface="Cambria Math" panose="02040503050406030204" pitchFamily="18" charset="0"/>
                              </a:rPr>
                            </m:ctrlPr>
                          </m:dPr>
                          <m:e>
                            <m:r>
                              <a:rPr lang="zh-CN" altLang="en-US" sz="1600" i="1">
                                <a:solidFill>
                                  <a:srgbClr val="C00000"/>
                                </a:solidFill>
                                <a:latin typeface="Cambria Math" panose="02040503050406030204" pitchFamily="18" charset="0"/>
                              </a:rPr>
                              <m:t>𝛼</m:t>
                            </m:r>
                          </m:e>
                        </m:d>
                        <m:r>
                          <a:rPr lang="en-US" altLang="zh-CN" sz="1600" i="1">
                            <a:solidFill>
                              <a:srgbClr val="C00000"/>
                            </a:solidFill>
                            <a:latin typeface="Cambria Math" panose="02040503050406030204" pitchFamily="18" charset="0"/>
                          </a:rPr>
                          <m:t>−</m:t>
                        </m:r>
                        <m:r>
                          <a:rPr lang="en-US" altLang="zh-CN" sz="1600" i="1">
                            <a:solidFill>
                              <a:srgbClr val="C00000"/>
                            </a:solidFill>
                            <a:latin typeface="Cambria Math" panose="02040503050406030204" pitchFamily="18" charset="0"/>
                          </a:rPr>
                          <m:t>𝐴</m:t>
                        </m:r>
                        <m:r>
                          <a:rPr lang="en-US" altLang="zh-CN" sz="1600" i="1">
                            <a:solidFill>
                              <a:srgbClr val="C00000"/>
                            </a:solidFill>
                            <a:latin typeface="Cambria Math" panose="02040503050406030204" pitchFamily="18" charset="0"/>
                          </a:rPr>
                          <m:t>)</m:t>
                        </m:r>
                      </m:e>
                      <m:sup>
                        <m:r>
                          <a:rPr lang="en-US" altLang="zh-CN" sz="1600" i="1">
                            <a:solidFill>
                              <a:srgbClr val="C00000"/>
                            </a:solidFill>
                            <a:latin typeface="Cambria Math" panose="02040503050406030204" pitchFamily="18" charset="0"/>
                          </a:rPr>
                          <m:t>+</m:t>
                        </m:r>
                      </m:sup>
                    </m:sSup>
                  </m:oMath>
                </a14:m>
                <a:r>
                  <a:rPr lang="en-US" altLang="zh-CN" sz="1600" dirty="0">
                    <a:solidFill>
                      <a:srgbClr val="C00000"/>
                    </a:solidFill>
                  </a:rPr>
                  <a:t> </a:t>
                </a:r>
                <a:r>
                  <a:rPr lang="en-US" altLang="zh-CN" sz="1600" dirty="0"/>
                  <a:t>contains </a:t>
                </a:r>
                <a14:m>
                  <m:oMath xmlns:m="http://schemas.openxmlformats.org/officeDocument/2006/math">
                    <m:r>
                      <a:rPr lang="zh-CN" altLang="en-US" sz="1600" i="1" smtClean="0">
                        <a:latin typeface="Cambria Math" panose="02040503050406030204" pitchFamily="18" charset="0"/>
                      </a:rPr>
                      <m:t>𝛽</m:t>
                    </m:r>
                  </m:oMath>
                </a14:m>
                <a:r>
                  <a:rPr lang="en-US" altLang="zh-CN" sz="1600" dirty="0"/>
                  <a:t>, </a:t>
                </a:r>
                <a14:m>
                  <m:oMath xmlns:m="http://schemas.openxmlformats.org/officeDocument/2006/math">
                    <m:r>
                      <a:rPr lang="en-US" altLang="zh-CN" sz="1600" b="0" i="1" dirty="0" smtClean="0">
                        <a:latin typeface="Cambria Math" panose="02040503050406030204" pitchFamily="18" charset="0"/>
                      </a:rPr>
                      <m:t>𝐴</m:t>
                    </m:r>
                  </m:oMath>
                </a14:m>
                <a:r>
                  <a:rPr lang="en-US" altLang="zh-CN" sz="1600" dirty="0"/>
                  <a:t> is extraneous</a:t>
                </a:r>
              </a:p>
              <a:p>
                <a:pPr lvl="1">
                  <a:spcBef>
                    <a:spcPts val="600"/>
                  </a:spcBef>
                </a:pPr>
                <a:endParaRPr lang="en-US" altLang="zh-CN" sz="1600" dirty="0"/>
              </a:p>
              <a:p>
                <a:pPr>
                  <a:spcBef>
                    <a:spcPts val="600"/>
                  </a:spcBef>
                </a:pPr>
                <a:r>
                  <a:rPr lang="en-US" altLang="zh-CN" sz="1800" dirty="0"/>
                  <a:t>To test if attribute </a:t>
                </a:r>
                <a14:m>
                  <m:oMath xmlns:m="http://schemas.openxmlformats.org/officeDocument/2006/math">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zh-CN" altLang="en-US" sz="1800" i="1" smtClean="0">
                        <a:latin typeface="Cambria Math" panose="02040503050406030204" pitchFamily="18" charset="0"/>
                        <a:ea typeface="Cambria Math" panose="02040503050406030204" pitchFamily="18" charset="0"/>
                      </a:rPr>
                      <m:t>𝛽</m:t>
                    </m:r>
                  </m:oMath>
                </a14:m>
                <a:r>
                  <a:rPr lang="en-US" altLang="zh-CN" sz="1800" dirty="0"/>
                  <a:t> is extraneous in </a:t>
                </a:r>
                <a14:m>
                  <m:oMath xmlns:m="http://schemas.openxmlformats.org/officeDocument/2006/math">
                    <m:r>
                      <a:rPr lang="zh-CN" altLang="en-US" sz="1800" i="1">
                        <a:latin typeface="Cambria Math" panose="02040503050406030204" pitchFamily="18" charset="0"/>
                        <a:ea typeface="Cambria Math" panose="02040503050406030204" pitchFamily="18" charset="0"/>
                      </a:rPr>
                      <m:t>𝛽</m:t>
                    </m:r>
                  </m:oMath>
                </a14:m>
                <a:endParaRPr lang="en-US" altLang="zh-CN" sz="1800" dirty="0"/>
              </a:p>
              <a:p>
                <a:pPr lvl="1">
                  <a:spcBef>
                    <a:spcPts val="600"/>
                  </a:spcBef>
                </a:pPr>
                <a:r>
                  <a:rPr lang="en-US" altLang="zh-CN" sz="1600" dirty="0"/>
                  <a:t>compute </a:t>
                </a:r>
                <a14:m>
                  <m:oMath xmlns:m="http://schemas.openxmlformats.org/officeDocument/2006/math">
                    <m:sSup>
                      <m:sSupPr>
                        <m:ctrlPr>
                          <a:rPr lang="en-US" altLang="zh-CN" sz="1600" i="1" smtClean="0">
                            <a:latin typeface="Cambria Math" panose="02040503050406030204" pitchFamily="18" charset="0"/>
                          </a:rPr>
                        </m:ctrlPr>
                      </m:sSupPr>
                      <m:e>
                        <m:r>
                          <a:rPr lang="zh-CN" altLang="en-US" sz="1600" i="1" smtClean="0">
                            <a:latin typeface="Cambria Math" panose="02040503050406030204" pitchFamily="18" charset="0"/>
                          </a:rPr>
                          <m:t>𝛼</m:t>
                        </m:r>
                      </m:e>
                      <m:sup>
                        <m:r>
                          <a:rPr lang="en-US" altLang="zh-CN" sz="1600" b="0" i="1" smtClean="0">
                            <a:latin typeface="Cambria Math" panose="02040503050406030204" pitchFamily="18" charset="0"/>
                          </a:rPr>
                          <m:t>+</m:t>
                        </m:r>
                      </m:sup>
                    </m:sSup>
                  </m:oMath>
                </a14:m>
                <a:r>
                  <a:rPr lang="en-US" altLang="zh-CN" sz="1600" dirty="0"/>
                  <a:t> using only the dependencies in </a:t>
                </a: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b="0" i="1" smtClean="0">
                            <a:latin typeface="Cambria Math" panose="02040503050406030204" pitchFamily="18" charset="0"/>
                          </a:rPr>
                          <m:t>′</m:t>
                        </m:r>
                      </m:sup>
                    </m:sSup>
                    <m:r>
                      <a:rPr lang="en-US" altLang="zh-CN" sz="1600" b="0" i="1" smtClean="0">
                        <a:latin typeface="Cambria Math" panose="02040503050406030204" pitchFamily="18" charset="0"/>
                      </a:rPr>
                      <m:t>=</m:t>
                    </m:r>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𝐹</m:t>
                        </m:r>
                        <m:r>
                          <a:rPr lang="en-US" altLang="zh-CN" sz="1600" b="0" i="1" smtClean="0">
                            <a:latin typeface="Cambria Math" panose="02040503050406030204" pitchFamily="18" charset="0"/>
                          </a:rPr>
                          <m:t>−</m:t>
                        </m:r>
                        <m:d>
                          <m:dPr>
                            <m:begChr m:val="{"/>
                            <m:endChr m:val="}"/>
                            <m:ctrlPr>
                              <a:rPr lang="en-US" altLang="zh-CN" sz="1600" b="0" i="1" smtClean="0">
                                <a:latin typeface="Cambria Math" panose="02040503050406030204" pitchFamily="18" charset="0"/>
                              </a:rPr>
                            </m:ctrlPr>
                          </m:dPr>
                          <m:e>
                            <m:r>
                              <a:rPr lang="zh-CN" altLang="en-US" sz="1600" b="0" i="1" smtClean="0">
                                <a:latin typeface="Cambria Math" panose="02040503050406030204" pitchFamily="18" charset="0"/>
                              </a:rPr>
                              <m:t>𝛼</m:t>
                            </m:r>
                            <m:r>
                              <a:rPr lang="zh-CN" altLang="en-US" sz="1600" b="0" i="1" smtClean="0">
                                <a:latin typeface="Cambria Math" panose="02040503050406030204" pitchFamily="18" charset="0"/>
                              </a:rPr>
                              <m:t>→</m:t>
                            </m:r>
                            <m:r>
                              <a:rPr lang="zh-CN" altLang="en-US" sz="1600" b="0" i="1" smtClean="0">
                                <a:latin typeface="Cambria Math" panose="02040503050406030204" pitchFamily="18" charset="0"/>
                              </a:rPr>
                              <m:t>𝛽</m:t>
                            </m:r>
                          </m:e>
                        </m:d>
                      </m:e>
                    </m:d>
                    <m:r>
                      <a:rPr lang="en-US" altLang="zh-CN" sz="1600" b="0" i="1" smtClean="0">
                        <a:latin typeface="Cambria Math" panose="02040503050406030204" pitchFamily="18" charset="0"/>
                        <a:ea typeface="Cambria Math" panose="02040503050406030204" pitchFamily="18" charset="0"/>
                      </a:rPr>
                      <m:t>∪{</m:t>
                    </m:r>
                    <m:r>
                      <a:rPr lang="zh-CN" altLang="en-US" sz="1600" b="0" i="1" smtClean="0">
                        <a:latin typeface="Cambria Math" panose="02040503050406030204" pitchFamily="18" charset="0"/>
                        <a:ea typeface="Cambria Math" panose="02040503050406030204" pitchFamily="18" charset="0"/>
                      </a:rPr>
                      <m:t>𝛼</m:t>
                    </m:r>
                    <m:r>
                      <a:rPr lang="zh-CN" altLang="en-US" sz="1600" b="0" i="1" smtClean="0">
                        <a:latin typeface="Cambria Math" panose="02040503050406030204" pitchFamily="18" charset="0"/>
                        <a:ea typeface="Cambria Math" panose="02040503050406030204" pitchFamily="18" charset="0"/>
                      </a:rPr>
                      <m:t>→</m:t>
                    </m:r>
                    <m:d>
                      <m:dPr>
                        <m:ctrlPr>
                          <a:rPr lang="en-US" altLang="zh-CN" sz="1600" b="0" i="1" smtClean="0">
                            <a:latin typeface="Cambria Math" panose="02040503050406030204" pitchFamily="18" charset="0"/>
                            <a:ea typeface="Cambria Math" panose="02040503050406030204" pitchFamily="18" charset="0"/>
                          </a:rPr>
                        </m:ctrlPr>
                      </m:dPr>
                      <m:e>
                        <m:r>
                          <a:rPr lang="zh-CN" altLang="en-US" sz="1600" b="0" i="1" smtClean="0">
                            <a:latin typeface="Cambria Math" panose="02040503050406030204" pitchFamily="18" charset="0"/>
                            <a:ea typeface="Cambria Math" panose="02040503050406030204" pitchFamily="18" charset="0"/>
                          </a:rPr>
                          <m:t>𝛽</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𝐴</m:t>
                        </m:r>
                      </m:e>
                    </m:d>
                    <m:r>
                      <a:rPr lang="en-US" altLang="zh-CN" sz="1600" b="0" i="1" smtClean="0">
                        <a:latin typeface="Cambria Math" panose="02040503050406030204" pitchFamily="18" charset="0"/>
                        <a:ea typeface="Cambria Math" panose="02040503050406030204" pitchFamily="18" charset="0"/>
                      </a:rPr>
                      <m:t>}</m:t>
                    </m:r>
                  </m:oMath>
                </a14:m>
                <a:endParaRPr lang="en-US" altLang="zh-CN" sz="1600" dirty="0"/>
              </a:p>
              <a:p>
                <a:pPr lvl="1">
                  <a:spcBef>
                    <a:spcPts val="600"/>
                  </a:spcBef>
                </a:pPr>
                <a:r>
                  <a:rPr lang="en-US" altLang="zh-CN" sz="1600" dirty="0"/>
                  <a:t>if </a:t>
                </a:r>
                <a14:m>
                  <m:oMath xmlns:m="http://schemas.openxmlformats.org/officeDocument/2006/math">
                    <m:sSup>
                      <m:sSupPr>
                        <m:ctrlPr>
                          <a:rPr lang="en-US" altLang="zh-CN" sz="1600" i="1" smtClean="0">
                            <a:solidFill>
                              <a:srgbClr val="C00000"/>
                            </a:solidFill>
                            <a:latin typeface="Cambria Math" panose="02040503050406030204" pitchFamily="18" charset="0"/>
                          </a:rPr>
                        </m:ctrlPr>
                      </m:sSupPr>
                      <m:e>
                        <m:r>
                          <a:rPr lang="zh-CN" altLang="en-US" sz="1600" i="1">
                            <a:solidFill>
                              <a:srgbClr val="C00000"/>
                            </a:solidFill>
                            <a:latin typeface="Cambria Math" panose="02040503050406030204" pitchFamily="18" charset="0"/>
                          </a:rPr>
                          <m:t>𝛼</m:t>
                        </m:r>
                      </m:e>
                      <m:sup>
                        <m:r>
                          <a:rPr lang="en-US" altLang="zh-CN" sz="1600" i="1">
                            <a:solidFill>
                              <a:srgbClr val="C00000"/>
                            </a:solidFill>
                            <a:latin typeface="Cambria Math" panose="02040503050406030204" pitchFamily="18" charset="0"/>
                          </a:rPr>
                          <m:t>+</m:t>
                        </m:r>
                      </m:sup>
                    </m:sSup>
                  </m:oMath>
                </a14:m>
                <a:r>
                  <a:rPr lang="en-US" altLang="zh-CN" sz="1600" dirty="0">
                    <a:solidFill>
                      <a:srgbClr val="C00000"/>
                    </a:solidFill>
                  </a:rPr>
                  <a:t> </a:t>
                </a:r>
                <a:r>
                  <a:rPr lang="en-US" altLang="zh-CN" sz="1600" dirty="0"/>
                  <a:t>contains </a:t>
                </a:r>
                <a14:m>
                  <m:oMath xmlns:m="http://schemas.openxmlformats.org/officeDocument/2006/math">
                    <m:r>
                      <a:rPr lang="en-US" altLang="zh-CN" sz="1600" i="1">
                        <a:latin typeface="Cambria Math" panose="02040503050406030204" pitchFamily="18" charset="0"/>
                      </a:rPr>
                      <m:t>𝐴</m:t>
                    </m:r>
                  </m:oMath>
                </a14:m>
                <a:r>
                  <a:rPr lang="en-US" altLang="zh-CN" sz="1600" dirty="0"/>
                  <a:t>, </a:t>
                </a:r>
                <a14:m>
                  <m:oMath xmlns:m="http://schemas.openxmlformats.org/officeDocument/2006/math">
                    <m:r>
                      <a:rPr lang="en-US" altLang="zh-CN" sz="1600" i="1">
                        <a:latin typeface="Cambria Math" panose="02040503050406030204" pitchFamily="18" charset="0"/>
                      </a:rPr>
                      <m:t>𝐴</m:t>
                    </m:r>
                  </m:oMath>
                </a14:m>
                <a:r>
                  <a:rPr lang="en-US" altLang="zh-CN" sz="1600" dirty="0"/>
                  <a:t> is extraneous</a:t>
                </a:r>
              </a:p>
              <a:p>
                <a:pPr>
                  <a:spcBef>
                    <a:spcPts val="600"/>
                  </a:spcBef>
                </a:pPr>
                <a:endParaRPr lang="zh-CN" altLang="en-US" sz="1800" dirty="0"/>
              </a:p>
            </p:txBody>
          </p:sp>
        </mc:Choice>
        <mc:Fallback xmlns="">
          <p:sp>
            <p:nvSpPr>
              <p:cNvPr id="3" name="内容占位符 2">
                <a:extLst>
                  <a:ext uri="{FF2B5EF4-FFF2-40B4-BE49-F238E27FC236}">
                    <a16:creationId xmlns:a16="http://schemas.microsoft.com/office/drawing/2014/main" id="{CFC307F8-50AA-41DF-B39B-8D7E7E96BBC9}"/>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20758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arn(inVertical)">
                                      <p:cBhvr>
                                        <p:cTn id="21" dur="500"/>
                                        <p:tgtEl>
                                          <p:spTgt spid="3">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arn(inVertical)">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0C028-CCDE-419E-B08C-40B7123E7123}"/>
              </a:ext>
            </a:extLst>
          </p:cNvPr>
          <p:cNvSpPr>
            <a:spLocks noGrp="1"/>
          </p:cNvSpPr>
          <p:nvPr>
            <p:ph type="title"/>
          </p:nvPr>
        </p:nvSpPr>
        <p:spPr>
          <a:xfrm>
            <a:off x="13184" y="-20943"/>
            <a:ext cx="9144000" cy="637580"/>
          </a:xfrm>
        </p:spPr>
        <p:txBody>
          <a:bodyPr/>
          <a:lstStyle/>
          <a:p>
            <a:pPr algn="ctr"/>
            <a:r>
              <a:rPr lang="en-US" altLang="zh-CN" dirty="0"/>
              <a:t>Canonical Cover (</a:t>
            </a:r>
            <a:r>
              <a:rPr lang="zh-CN" altLang="en-US" dirty="0"/>
              <a:t>正则覆盖</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6EA6CC-93DB-42A6-8DEE-232A3C50C179}"/>
                  </a:ext>
                </a:extLst>
              </p:cNvPr>
              <p:cNvSpPr>
                <a:spLocks noGrp="1"/>
              </p:cNvSpPr>
              <p:nvPr>
                <p:ph idx="1"/>
              </p:nvPr>
            </p:nvSpPr>
            <p:spPr>
              <a:xfrm>
                <a:off x="179512" y="771550"/>
                <a:ext cx="8568952" cy="3805070"/>
              </a:xfrm>
            </p:spPr>
            <p:txBody>
              <a:bodyPr/>
              <a:lstStyle/>
              <a:p>
                <a:r>
                  <a:rPr lang="en-US" altLang="zh-CN" sz="1800" b="1" dirty="0"/>
                  <a:t>A canonical cover for F is a set of FDs </a:t>
                </a:r>
                <a14:m>
                  <m:oMath xmlns:m="http://schemas.openxmlformats.org/officeDocument/2006/math">
                    <m:sSub>
                      <m:sSubPr>
                        <m:ctrlPr>
                          <a:rPr lang="en-US" altLang="zh-CN" sz="1800" b="1" i="1" smtClean="0">
                            <a:latin typeface="Cambria Math" panose="02040503050406030204" pitchFamily="18" charset="0"/>
                          </a:rPr>
                        </m:ctrlPr>
                      </m:sSubPr>
                      <m:e>
                        <m:r>
                          <a:rPr lang="en-US" altLang="zh-CN" sz="1800" b="1" i="1" smtClean="0">
                            <a:latin typeface="Cambria Math" panose="02040503050406030204" pitchFamily="18" charset="0"/>
                          </a:rPr>
                          <m:t>𝑭</m:t>
                        </m:r>
                      </m:e>
                      <m:sub>
                        <m:r>
                          <a:rPr lang="en-US" altLang="zh-CN" sz="1800" b="1" i="1" smtClean="0">
                            <a:latin typeface="Cambria Math" panose="02040503050406030204" pitchFamily="18" charset="0"/>
                          </a:rPr>
                          <m:t>𝒄</m:t>
                        </m:r>
                      </m:sub>
                    </m:sSub>
                  </m:oMath>
                </a14:m>
                <a:r>
                  <a:rPr lang="en-US" altLang="zh-CN" sz="1800" b="1" dirty="0"/>
                  <a:t> such that </a:t>
                </a:r>
              </a:p>
              <a:p>
                <a:pPr lvl="1"/>
                <a14:m>
                  <m:oMath xmlns:m="http://schemas.openxmlformats.org/officeDocument/2006/math">
                    <m:r>
                      <a:rPr lang="en-US" altLang="zh-CN" sz="1600" b="0" i="1" smtClean="0">
                        <a:latin typeface="Cambria Math" panose="02040503050406030204" pitchFamily="18" charset="0"/>
                      </a:rPr>
                      <m:t>𝐹</m:t>
                    </m:r>
                  </m:oMath>
                </a14:m>
                <a:r>
                  <a:rPr lang="en-US" altLang="zh-CN" sz="1600" dirty="0"/>
                  <a:t> logically implies all dependencies in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𝐹</m:t>
                        </m:r>
                      </m:e>
                      <m:sub>
                        <m:r>
                          <a:rPr lang="en-US" altLang="zh-CN" sz="1600" b="0" i="1" smtClean="0">
                            <a:latin typeface="Cambria Math" panose="02040503050406030204" pitchFamily="18" charset="0"/>
                          </a:rPr>
                          <m:t>𝑐</m:t>
                        </m:r>
                      </m:sub>
                    </m:sSub>
                  </m:oMath>
                </a14:m>
                <a:r>
                  <a:rPr lang="en-US" altLang="zh-CN" sz="1600" dirty="0"/>
                  <a:t>, and </a:t>
                </a:r>
              </a:p>
              <a:p>
                <a:pPr lvl="1"/>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𝑐</m:t>
                        </m:r>
                      </m:sub>
                    </m:sSub>
                    <m:r>
                      <a:rPr lang="en-US" altLang="zh-CN" sz="1600" i="1">
                        <a:latin typeface="Cambria Math" panose="02040503050406030204" pitchFamily="18" charset="0"/>
                      </a:rPr>
                      <m:t> </m:t>
                    </m:r>
                  </m:oMath>
                </a14:m>
                <a:r>
                  <a:rPr lang="en-US" altLang="zh-CN" sz="1600" dirty="0"/>
                  <a:t>logically implies all dependencies in </a:t>
                </a:r>
                <a14:m>
                  <m:oMath xmlns:m="http://schemas.openxmlformats.org/officeDocument/2006/math">
                    <m:r>
                      <a:rPr lang="en-US" altLang="zh-CN" sz="1600" b="0" i="1" smtClean="0">
                        <a:latin typeface="Cambria Math" panose="02040503050406030204" pitchFamily="18" charset="0"/>
                      </a:rPr>
                      <m:t>𝐹</m:t>
                    </m:r>
                  </m:oMath>
                </a14:m>
                <a:r>
                  <a:rPr lang="en-US" altLang="zh-CN" sz="1600" dirty="0"/>
                  <a:t>, and</a:t>
                </a:r>
              </a:p>
              <a:p>
                <a:pPr lvl="1"/>
                <a:r>
                  <a:rPr lang="en-US" altLang="zh-CN" sz="1600" dirty="0"/>
                  <a:t>no FD in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𝑐</m:t>
                        </m:r>
                      </m:sub>
                    </m:sSub>
                  </m:oMath>
                </a14:m>
                <a:r>
                  <a:rPr lang="en-US" altLang="zh-CN" sz="1600" dirty="0"/>
                  <a:t> contains an extraneous attribute, and</a:t>
                </a:r>
              </a:p>
              <a:p>
                <a:pPr lvl="1"/>
                <a:r>
                  <a:rPr lang="en-US" altLang="zh-CN" sz="1600" dirty="0"/>
                  <a:t>each left side of FD in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𝑐</m:t>
                        </m:r>
                      </m:sub>
                    </m:sSub>
                  </m:oMath>
                </a14:m>
                <a:r>
                  <a:rPr lang="en-US" altLang="zh-CN" sz="1600" dirty="0"/>
                  <a:t> is </a:t>
                </a:r>
                <a:r>
                  <a:rPr lang="en-US" altLang="zh-CN" sz="1600" dirty="0">
                    <a:solidFill>
                      <a:srgbClr val="C00000"/>
                    </a:solidFill>
                  </a:rPr>
                  <a:t>unique</a:t>
                </a:r>
                <a:r>
                  <a:rPr lang="en-US" altLang="zh-CN" sz="1600" dirty="0"/>
                  <a:t>, i.e., there are no two FDs </a:t>
                </a:r>
                <a14:m>
                  <m:oMath xmlns:m="http://schemas.openxmlformats.org/officeDocument/2006/math">
                    <m:sSub>
                      <m:sSubPr>
                        <m:ctrlPr>
                          <a:rPr lang="en-US" altLang="zh-CN" sz="1600" i="1" smtClean="0">
                            <a:latin typeface="Cambria Math" panose="02040503050406030204" pitchFamily="18" charset="0"/>
                          </a:rPr>
                        </m:ctrlPr>
                      </m:sSubPr>
                      <m:e>
                        <m:r>
                          <a:rPr lang="zh-CN" altLang="en-US" sz="1600" i="1" smtClean="0">
                            <a:latin typeface="Cambria Math" panose="02040503050406030204" pitchFamily="18" charset="0"/>
                          </a:rPr>
                          <m:t>𝛼</m:t>
                        </m:r>
                      </m:e>
                      <m:sub>
                        <m:r>
                          <a:rPr lang="en-US" altLang="zh-CN" sz="1600" b="0" i="1" smtClean="0">
                            <a:latin typeface="Cambria Math" panose="02040503050406030204" pitchFamily="18" charset="0"/>
                          </a:rPr>
                          <m:t>1</m:t>
                        </m:r>
                      </m:sub>
                    </m:sSub>
                    <m:sSub>
                      <m:sSubPr>
                        <m:ctrlPr>
                          <a:rPr lang="en-US" altLang="zh-CN" sz="1600" i="1" smtClean="0">
                            <a:latin typeface="Cambria Math" panose="02040503050406030204" pitchFamily="18" charset="0"/>
                          </a:rPr>
                        </m:ctrlPr>
                      </m:sSubPr>
                      <m:e>
                        <m:r>
                          <a:rPr lang="en-US" altLang="zh-CN" sz="1600" i="1" smtClean="0">
                            <a:latin typeface="Cambria Math" panose="02040503050406030204" pitchFamily="18" charset="0"/>
                            <a:ea typeface="Cambria Math" panose="02040503050406030204" pitchFamily="18" charset="0"/>
                          </a:rPr>
                          <m:t>→</m:t>
                        </m:r>
                        <m:r>
                          <a:rPr lang="zh-CN" altLang="en-US" sz="1600" i="1" smtClean="0">
                            <a:latin typeface="Cambria Math" panose="02040503050406030204" pitchFamily="18" charset="0"/>
                          </a:rPr>
                          <m:t>𝛽</m:t>
                        </m:r>
                      </m:e>
                      <m:sub>
                        <m:r>
                          <a:rPr lang="en-US" altLang="zh-CN" sz="1600" b="0" i="1" smtClean="0">
                            <a:latin typeface="Cambria Math" panose="02040503050406030204" pitchFamily="18" charset="0"/>
                          </a:rPr>
                          <m:t>1</m:t>
                        </m:r>
                      </m:sub>
                    </m:sSub>
                  </m:oMath>
                </a14:m>
                <a:r>
                  <a:rPr lang="en-US" altLang="zh-CN" sz="1600" dirty="0"/>
                  <a:t> and </a:t>
                </a:r>
                <a14:m>
                  <m:oMath xmlns:m="http://schemas.openxmlformats.org/officeDocument/2006/math">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𝛼</m:t>
                        </m:r>
                      </m:e>
                      <m:sub>
                        <m:r>
                          <a:rPr lang="en-US" altLang="zh-CN" sz="1600" b="0" i="1" smtClean="0">
                            <a:latin typeface="Cambria Math" panose="02040503050406030204" pitchFamily="18" charset="0"/>
                          </a:rPr>
                          <m:t>2</m:t>
                        </m:r>
                      </m:sub>
                    </m:sSub>
                    <m:sSub>
                      <m:sSubPr>
                        <m:ctrlPr>
                          <a:rPr lang="en-US" altLang="zh-CN" sz="1600" i="1">
                            <a:latin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m:t>
                        </m:r>
                        <m:r>
                          <a:rPr lang="zh-CN" altLang="en-US" sz="1600" i="1">
                            <a:latin typeface="Cambria Math" panose="02040503050406030204" pitchFamily="18" charset="0"/>
                          </a:rPr>
                          <m:t>𝛽</m:t>
                        </m:r>
                      </m:e>
                      <m:sub>
                        <m:r>
                          <a:rPr lang="en-US" altLang="zh-CN" sz="1600" b="0" i="1" smtClean="0">
                            <a:latin typeface="Cambria Math" panose="02040503050406030204" pitchFamily="18" charset="0"/>
                          </a:rPr>
                          <m:t>2</m:t>
                        </m:r>
                      </m:sub>
                    </m:sSub>
                  </m:oMath>
                </a14:m>
                <a:r>
                  <a:rPr lang="en-US" altLang="zh-CN" sz="1600" dirty="0"/>
                  <a:t> such that </a:t>
                </a:r>
                <a14:m>
                  <m:oMath xmlns:m="http://schemas.openxmlformats.org/officeDocument/2006/math">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𝛼</m:t>
                        </m:r>
                      </m:e>
                      <m:sub>
                        <m:r>
                          <a:rPr lang="en-US" altLang="zh-CN" sz="1600" i="1">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𝛼</m:t>
                        </m:r>
                      </m:e>
                      <m:sub>
                        <m:r>
                          <a:rPr lang="en-US" altLang="zh-CN" sz="1600" b="0" i="1" smtClean="0">
                            <a:latin typeface="Cambria Math" panose="02040503050406030204" pitchFamily="18" charset="0"/>
                          </a:rPr>
                          <m:t>2</m:t>
                        </m:r>
                      </m:sub>
                    </m:sSub>
                  </m:oMath>
                </a14:m>
                <a:endParaRPr lang="en-US" altLang="zh-CN" sz="1600" dirty="0"/>
              </a:p>
              <a:p>
                <a:pPr marL="457200" lvl="1" indent="0">
                  <a:buNone/>
                </a:pPr>
                <a:endParaRPr lang="en-US" altLang="zh-CN" sz="1600" dirty="0"/>
              </a:p>
              <a:p>
                <a:r>
                  <a:rPr lang="en-US" altLang="zh-CN" sz="1800" dirty="0"/>
                  <a:t>To compute a canonical cover for </a:t>
                </a:r>
                <a14:m>
                  <m:oMath xmlns:m="http://schemas.openxmlformats.org/officeDocument/2006/math">
                    <m:r>
                      <a:rPr lang="en-US" altLang="zh-CN" sz="1800" b="0" i="1" smtClean="0">
                        <a:latin typeface="Cambria Math" panose="02040503050406030204" pitchFamily="18" charset="0"/>
                      </a:rPr>
                      <m:t>𝐹</m:t>
                    </m:r>
                  </m:oMath>
                </a14:m>
                <a:r>
                  <a:rPr lang="en-US" altLang="zh-CN" sz="1800" dirty="0"/>
                  <a:t>:</a:t>
                </a:r>
              </a:p>
              <a:p>
                <a:pPr marL="400050" lvl="1" indent="0">
                  <a:buNone/>
                </a:pPr>
                <a:endParaRPr lang="en-US" altLang="zh-CN" sz="1400" i="1" dirty="0"/>
              </a:p>
              <a:p>
                <a:pPr marL="400050" lvl="1" indent="0">
                  <a:buNone/>
                </a:pPr>
                <a14:m>
                  <m:oMathPara xmlns:m="http://schemas.openxmlformats.org/officeDocument/2006/math">
                    <m:oMathParaPr>
                      <m:jc m:val="left"/>
                    </m:oMathParaPr>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𝐹</m:t>
                          </m:r>
                        </m:e>
                        <m:sub>
                          <m:r>
                            <a:rPr lang="en-US" altLang="zh-CN" sz="1400" i="1">
                              <a:latin typeface="Cambria Math" panose="02040503050406030204" pitchFamily="18" charset="0"/>
                            </a:rPr>
                            <m:t>𝑐</m:t>
                          </m:r>
                        </m:sub>
                      </m:sSub>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𝐹</m:t>
                      </m:r>
                    </m:oMath>
                  </m:oMathPara>
                </a14:m>
                <a:endParaRPr lang="en-US" altLang="zh-CN" sz="1400" b="1" i="1" dirty="0"/>
              </a:p>
              <a:p>
                <a:pPr marL="400050" lvl="1" indent="0">
                  <a:buNone/>
                </a:pPr>
                <a:r>
                  <a:rPr lang="en-US" altLang="zh-CN" sz="1400" b="1" i="1" dirty="0"/>
                  <a:t>repeat</a:t>
                </a:r>
                <a:br>
                  <a:rPr lang="en-US" altLang="zh-CN" sz="1400" i="1" dirty="0"/>
                </a:br>
                <a:r>
                  <a:rPr lang="en-US" altLang="zh-CN" sz="1400" i="1" dirty="0"/>
                  <a:t>    use the union rule to replace </a:t>
                </a:r>
                <a14:m>
                  <m:oMath xmlns:m="http://schemas.openxmlformats.org/officeDocument/2006/math">
                    <m:sSub>
                      <m:sSubPr>
                        <m:ctrlPr>
                          <a:rPr lang="en-US" altLang="zh-CN" sz="1400" i="1">
                            <a:latin typeface="Cambria Math" panose="02040503050406030204" pitchFamily="18" charset="0"/>
                            <a:cs typeface="Times New Roman" panose="02020603050405020304" pitchFamily="18" charset="0"/>
                          </a:rPr>
                        </m:ctrlPr>
                      </m:sSubPr>
                      <m:e>
                        <m:r>
                          <a:rPr lang="zh-CN" altLang="en-US" sz="1400" i="1">
                            <a:latin typeface="Cambria Math" panose="02040503050406030204" pitchFamily="18" charset="0"/>
                            <a:cs typeface="Times New Roman" panose="02020603050405020304" pitchFamily="18" charset="0"/>
                          </a:rPr>
                          <m:t>𝛼</m:t>
                        </m:r>
                      </m:e>
                      <m:sub>
                        <m:r>
                          <a:rPr lang="en-US" altLang="zh-CN" sz="1400" i="1">
                            <a:latin typeface="Cambria Math" panose="02040503050406030204" pitchFamily="18" charset="0"/>
                            <a:cs typeface="Times New Roman" panose="02020603050405020304" pitchFamily="18" charset="0"/>
                          </a:rPr>
                          <m:t>1</m:t>
                        </m:r>
                      </m:sub>
                    </m:sSub>
                    <m:sSub>
                      <m:sSubPr>
                        <m:ctrlPr>
                          <a:rPr lang="en-US" altLang="zh-CN" sz="1400" i="1">
                            <a:latin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Cambria Math" panose="02040503050406030204" pitchFamily="18" charset="0"/>
                            <a:cs typeface="Times New Roman" panose="02020603050405020304" pitchFamily="18" charset="0"/>
                          </a:rPr>
                          <m:t>→</m:t>
                        </m:r>
                        <m:r>
                          <a:rPr lang="zh-CN" altLang="en-US" sz="1400" i="1">
                            <a:latin typeface="Cambria Math" panose="02040503050406030204" pitchFamily="18" charset="0"/>
                            <a:cs typeface="Times New Roman" panose="02020603050405020304" pitchFamily="18" charset="0"/>
                          </a:rPr>
                          <m:t>𝛽</m:t>
                        </m:r>
                      </m:e>
                      <m:sub>
                        <m:r>
                          <a:rPr lang="en-US" altLang="zh-CN" sz="1400" i="1">
                            <a:latin typeface="Cambria Math" panose="02040503050406030204" pitchFamily="18" charset="0"/>
                            <a:cs typeface="Times New Roman" panose="02020603050405020304" pitchFamily="18" charset="0"/>
                          </a:rPr>
                          <m:t>1</m:t>
                        </m:r>
                      </m:sub>
                    </m:sSub>
                  </m:oMath>
                </a14:m>
                <a:r>
                  <a:rPr lang="en-US" altLang="zh-CN" sz="1400" i="1" dirty="0"/>
                  <a:t> and </a:t>
                </a:r>
                <a14:m>
                  <m:oMath xmlns:m="http://schemas.openxmlformats.org/officeDocument/2006/math">
                    <m:sSub>
                      <m:sSubPr>
                        <m:ctrlPr>
                          <a:rPr lang="en-US" altLang="zh-CN" sz="1400" i="1">
                            <a:latin typeface="Cambria Math" panose="02040503050406030204" pitchFamily="18" charset="0"/>
                            <a:cs typeface="Times New Roman" panose="02020603050405020304" pitchFamily="18" charset="0"/>
                          </a:rPr>
                        </m:ctrlPr>
                      </m:sSubPr>
                      <m:e>
                        <m:r>
                          <a:rPr lang="zh-CN" altLang="en-US" sz="1400" i="1">
                            <a:latin typeface="Cambria Math" panose="02040503050406030204" pitchFamily="18" charset="0"/>
                            <a:cs typeface="Times New Roman" panose="02020603050405020304" pitchFamily="18" charset="0"/>
                          </a:rPr>
                          <m:t>𝛼</m:t>
                        </m:r>
                      </m:e>
                      <m:sub>
                        <m:r>
                          <a:rPr lang="en-US" altLang="zh-CN" sz="1400" i="1">
                            <a:latin typeface="Cambria Math" panose="02040503050406030204" pitchFamily="18" charset="0"/>
                            <a:cs typeface="Times New Roman" panose="02020603050405020304" pitchFamily="18" charset="0"/>
                          </a:rPr>
                          <m:t>1</m:t>
                        </m:r>
                      </m:sub>
                    </m:sSub>
                    <m:sSub>
                      <m:sSubPr>
                        <m:ctrlPr>
                          <a:rPr lang="en-US" altLang="zh-CN" sz="1400" i="1">
                            <a:latin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Cambria Math" panose="02040503050406030204" pitchFamily="18" charset="0"/>
                            <a:cs typeface="Times New Roman" panose="02020603050405020304" pitchFamily="18" charset="0"/>
                          </a:rPr>
                          <m:t>→</m:t>
                        </m:r>
                        <m:r>
                          <a:rPr lang="zh-CN" altLang="en-US" sz="1400" i="1">
                            <a:latin typeface="Cambria Math" panose="02040503050406030204" pitchFamily="18" charset="0"/>
                            <a:ea typeface="Cambria Math" panose="02040503050406030204" pitchFamily="18" charset="0"/>
                            <a:cs typeface="Times New Roman" panose="02020603050405020304" pitchFamily="18" charset="0"/>
                          </a:rPr>
                          <m:t>𝛽</m:t>
                        </m:r>
                      </m:e>
                      <m:sub>
                        <m:r>
                          <a:rPr lang="en-US" altLang="zh-CN" sz="1400" i="1">
                            <a:latin typeface="Cambria Math" panose="02040503050406030204" pitchFamily="18" charset="0"/>
                            <a:cs typeface="Times New Roman" panose="02020603050405020304" pitchFamily="18" charset="0"/>
                          </a:rPr>
                          <m:t>2</m:t>
                        </m:r>
                      </m:sub>
                    </m:sSub>
                  </m:oMath>
                </a14:m>
                <a:r>
                  <a:rPr lang="en-US" altLang="zh-CN" sz="1400" i="1" dirty="0"/>
                  <a:t> with </a:t>
                </a:r>
                <a14:m>
                  <m:oMath xmlns:m="http://schemas.openxmlformats.org/officeDocument/2006/math">
                    <m:sSub>
                      <m:sSubPr>
                        <m:ctrlPr>
                          <a:rPr lang="en-US" altLang="zh-CN" sz="1400" i="1">
                            <a:latin typeface="Cambria Math" panose="02040503050406030204" pitchFamily="18" charset="0"/>
                            <a:cs typeface="Times New Roman" panose="02020603050405020304" pitchFamily="18" charset="0"/>
                          </a:rPr>
                        </m:ctrlPr>
                      </m:sSubPr>
                      <m:e>
                        <m:r>
                          <a:rPr lang="zh-CN" altLang="en-US" sz="1400" i="1">
                            <a:latin typeface="Cambria Math" panose="02040503050406030204" pitchFamily="18" charset="0"/>
                            <a:cs typeface="Times New Roman" panose="02020603050405020304" pitchFamily="18" charset="0"/>
                          </a:rPr>
                          <m:t>𝛼</m:t>
                        </m:r>
                      </m:e>
                      <m:sub>
                        <m:r>
                          <a:rPr lang="en-US" altLang="zh-CN" sz="1400" i="1">
                            <a:latin typeface="Cambria Math" panose="02040503050406030204" pitchFamily="18" charset="0"/>
                            <a:cs typeface="Times New Roman" panose="02020603050405020304" pitchFamily="18" charset="0"/>
                          </a:rPr>
                          <m:t>1</m:t>
                        </m:r>
                      </m:sub>
                    </m:sSub>
                    <m:sSub>
                      <m:sSubPr>
                        <m:ctrlPr>
                          <a:rPr lang="en-US" altLang="zh-CN" sz="1400" i="1">
                            <a:latin typeface="Cambria Math" panose="02040503050406030204" pitchFamily="18" charset="0"/>
                            <a:cs typeface="Times New Roman" panose="02020603050405020304" pitchFamily="18" charset="0"/>
                          </a:rPr>
                        </m:ctrlPr>
                      </m:sSubPr>
                      <m:e>
                        <m:r>
                          <a:rPr lang="en-US" altLang="zh-CN" sz="1400" i="1">
                            <a:latin typeface="Cambria Math" panose="02040503050406030204" pitchFamily="18" charset="0"/>
                            <a:ea typeface="Cambria Math" panose="02040503050406030204" pitchFamily="18" charset="0"/>
                            <a:cs typeface="Times New Roman" panose="02020603050405020304" pitchFamily="18" charset="0"/>
                          </a:rPr>
                          <m:t>→</m:t>
                        </m:r>
                        <m:r>
                          <a:rPr lang="zh-CN" altLang="en-US" sz="1400" i="1">
                            <a:latin typeface="Cambria Math" panose="02040503050406030204" pitchFamily="18" charset="0"/>
                            <a:ea typeface="Cambria Math" panose="02040503050406030204" pitchFamily="18" charset="0"/>
                            <a:cs typeface="Times New Roman" panose="02020603050405020304" pitchFamily="18" charset="0"/>
                          </a:rPr>
                          <m:t>𝛽</m:t>
                        </m:r>
                      </m:e>
                      <m:sub>
                        <m:r>
                          <a:rPr lang="en-US" altLang="zh-CN" sz="1400" i="1">
                            <a:latin typeface="Cambria Math" panose="02040503050406030204" pitchFamily="18" charset="0"/>
                            <a:cs typeface="Times New Roman" panose="02020603050405020304" pitchFamily="18" charset="0"/>
                          </a:rPr>
                          <m:t>1</m:t>
                        </m:r>
                      </m:sub>
                    </m:sSub>
                    <m:sSub>
                      <m:sSubPr>
                        <m:ctrlPr>
                          <a:rPr lang="en-US" altLang="zh-CN" sz="1400" i="1">
                            <a:latin typeface="Cambria Math" panose="02040503050406030204" pitchFamily="18" charset="0"/>
                            <a:cs typeface="Times New Roman" panose="02020603050405020304" pitchFamily="18" charset="0"/>
                          </a:rPr>
                        </m:ctrlPr>
                      </m:sSubPr>
                      <m:e>
                        <m:r>
                          <a:rPr lang="zh-CN" altLang="en-US" sz="1400" i="1">
                            <a:latin typeface="Cambria Math" panose="02040503050406030204" pitchFamily="18" charset="0"/>
                            <a:cs typeface="Times New Roman" panose="02020603050405020304" pitchFamily="18" charset="0"/>
                          </a:rPr>
                          <m:t>𝛽</m:t>
                        </m:r>
                      </m:e>
                      <m:sub>
                        <m:r>
                          <a:rPr lang="en-US" altLang="zh-CN" sz="1400" i="1">
                            <a:latin typeface="Cambria Math" panose="02040503050406030204" pitchFamily="18" charset="0"/>
                            <a:cs typeface="Times New Roman" panose="02020603050405020304" pitchFamily="18" charset="0"/>
                          </a:rPr>
                          <m:t>2</m:t>
                        </m:r>
                      </m:sub>
                    </m:sSub>
                    <m:r>
                      <a:rPr lang="en-US" altLang="zh-CN" sz="1400" i="1">
                        <a:latin typeface="Cambria Math" panose="02040503050406030204" pitchFamily="18" charset="0"/>
                        <a:cs typeface="Times New Roman" panose="02020603050405020304" pitchFamily="18" charset="0"/>
                      </a:rPr>
                      <m:t> </m:t>
                    </m:r>
                  </m:oMath>
                </a14:m>
                <a:r>
                  <a:rPr lang="en-US" altLang="zh-CN" sz="1400" i="1" dirty="0"/>
                  <a:t>in F</a:t>
                </a:r>
                <a:br>
                  <a:rPr lang="en-US" altLang="zh-CN" sz="1400" i="1" dirty="0"/>
                </a:br>
                <a:r>
                  <a:rPr lang="en-US" altLang="zh-CN" sz="1400" i="1" dirty="0"/>
                  <a:t>    find a FD </a:t>
                </a:r>
                <a14:m>
                  <m:oMath xmlns:m="http://schemas.openxmlformats.org/officeDocument/2006/math">
                    <m:r>
                      <a:rPr lang="zh-CN" altLang="en-US" sz="1400" i="1" smtClean="0">
                        <a:latin typeface="Cambria Math" panose="02040503050406030204" pitchFamily="18" charset="0"/>
                        <a:cs typeface="Times New Roman" panose="02020603050405020304" pitchFamily="18" charset="0"/>
                      </a:rPr>
                      <m:t>𝛼</m:t>
                    </m:r>
                    <m:r>
                      <a:rPr lang="zh-CN" altLang="en-US" sz="1400" i="1" smtClean="0">
                        <a:latin typeface="Cambria Math" panose="02040503050406030204" pitchFamily="18" charset="0"/>
                        <a:cs typeface="Times New Roman" panose="02020603050405020304" pitchFamily="18" charset="0"/>
                      </a:rPr>
                      <m:t>→</m:t>
                    </m:r>
                    <m:r>
                      <a:rPr lang="zh-CN" altLang="en-US" sz="1400" i="1" smtClean="0">
                        <a:latin typeface="Cambria Math" panose="02040503050406030204" pitchFamily="18" charset="0"/>
                        <a:cs typeface="Times New Roman" panose="02020603050405020304" pitchFamily="18" charset="0"/>
                      </a:rPr>
                      <m:t>𝛽</m:t>
                    </m:r>
                  </m:oMath>
                </a14:m>
                <a:r>
                  <a:rPr lang="en-US" altLang="zh-CN" sz="1400" i="1" dirty="0"/>
                  <a:t> with an extraneous attribute either in </a:t>
                </a:r>
                <a14:m>
                  <m:oMath xmlns:m="http://schemas.openxmlformats.org/officeDocument/2006/math">
                    <m:r>
                      <a:rPr lang="zh-CN" altLang="en-US" sz="1400" i="1" smtClean="0">
                        <a:latin typeface="Cambria Math" panose="02040503050406030204" pitchFamily="18" charset="0"/>
                        <a:cs typeface="Times New Roman" panose="02020603050405020304" pitchFamily="18" charset="0"/>
                      </a:rPr>
                      <m:t>𝛼</m:t>
                    </m:r>
                  </m:oMath>
                </a14:m>
                <a:r>
                  <a:rPr lang="en-US" altLang="zh-CN" sz="1400" i="1" dirty="0"/>
                  <a:t> or in </a:t>
                </a:r>
                <a14:m>
                  <m:oMath xmlns:m="http://schemas.openxmlformats.org/officeDocument/2006/math">
                    <m:r>
                      <a:rPr lang="zh-CN" altLang="en-US" sz="1400" i="1" smtClean="0">
                        <a:latin typeface="Cambria Math" panose="02040503050406030204" pitchFamily="18" charset="0"/>
                        <a:cs typeface="Times New Roman" panose="02020603050405020304" pitchFamily="18" charset="0"/>
                      </a:rPr>
                      <m:t>𝛽</m:t>
                    </m:r>
                  </m:oMath>
                </a14:m>
                <a:r>
                  <a:rPr lang="en-US" altLang="zh-CN" sz="1400" i="1" dirty="0"/>
                  <a:t> </a:t>
                </a:r>
                <a:br>
                  <a:rPr lang="en-US" altLang="zh-CN" sz="1400" i="1" dirty="0"/>
                </a:br>
                <a:r>
                  <a:rPr lang="en-US" altLang="zh-CN" sz="1400" i="1" dirty="0"/>
                  <a:t>	if an extraneous attribute is found, delete it from </a:t>
                </a:r>
                <a14:m>
                  <m:oMath xmlns:m="http://schemas.openxmlformats.org/officeDocument/2006/math">
                    <m:r>
                      <a:rPr lang="zh-CN" altLang="en-US" sz="1400" i="1">
                        <a:latin typeface="Cambria Math" panose="02040503050406030204" pitchFamily="18" charset="0"/>
                        <a:cs typeface="Times New Roman" panose="02020603050405020304" pitchFamily="18" charset="0"/>
                      </a:rPr>
                      <m:t>𝛼</m:t>
                    </m:r>
                    <m:r>
                      <a:rPr lang="zh-CN" altLang="en-US" sz="1400" i="1">
                        <a:latin typeface="Cambria Math" panose="02040503050406030204" pitchFamily="18" charset="0"/>
                        <a:cs typeface="Times New Roman" panose="02020603050405020304" pitchFamily="18" charset="0"/>
                      </a:rPr>
                      <m:t>→</m:t>
                    </m:r>
                    <m:r>
                      <a:rPr lang="zh-CN" altLang="en-US" sz="1400" i="1">
                        <a:latin typeface="Cambria Math" panose="02040503050406030204" pitchFamily="18" charset="0"/>
                        <a:cs typeface="Times New Roman" panose="02020603050405020304" pitchFamily="18" charset="0"/>
                      </a:rPr>
                      <m:t>𝛽</m:t>
                    </m:r>
                  </m:oMath>
                </a14:m>
                <a:r>
                  <a:rPr lang="en-US" altLang="zh-CN" sz="1400" i="1" dirty="0"/>
                  <a:t> </a:t>
                </a:r>
                <a:br>
                  <a:rPr lang="en-US" altLang="zh-CN" sz="1400" i="1" dirty="0"/>
                </a:br>
                <a:r>
                  <a:rPr lang="en-US" altLang="zh-CN" sz="1400" b="1" i="1" dirty="0"/>
                  <a:t>until</a:t>
                </a:r>
                <a:r>
                  <a:rPr lang="en-US" altLang="zh-CN" sz="1400" i="1" dirty="0"/>
                  <a:t>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𝐹</m:t>
                        </m:r>
                      </m:e>
                      <m:sub>
                        <m:r>
                          <a:rPr lang="en-US" altLang="zh-CN" sz="1400" i="1">
                            <a:latin typeface="Cambria Math" panose="02040503050406030204" pitchFamily="18" charset="0"/>
                          </a:rPr>
                          <m:t>𝑐</m:t>
                        </m:r>
                      </m:sub>
                    </m:sSub>
                  </m:oMath>
                </a14:m>
                <a:r>
                  <a:rPr lang="en-US" altLang="zh-CN" sz="1400" i="1" dirty="0"/>
                  <a:t> does not change</a:t>
                </a:r>
                <a:endParaRPr lang="en-US" altLang="zh-CN" sz="1200" i="1" dirty="0"/>
              </a:p>
              <a:p>
                <a:endParaRPr lang="zh-CN" altLang="en-US" sz="1800" dirty="0"/>
              </a:p>
            </p:txBody>
          </p:sp>
        </mc:Choice>
        <mc:Fallback xmlns="">
          <p:sp>
            <p:nvSpPr>
              <p:cNvPr id="3" name="内容占位符 2">
                <a:extLst>
                  <a:ext uri="{FF2B5EF4-FFF2-40B4-BE49-F238E27FC236}">
                    <a16:creationId xmlns:a16="http://schemas.microsoft.com/office/drawing/2014/main" id="{866EA6CC-93DB-42A6-8DEE-232A3C50C179}"/>
                  </a:ext>
                </a:extLst>
              </p:cNvPr>
              <p:cNvSpPr>
                <a:spLocks noGrp="1" noRot="1" noChangeAspect="1" noMove="1" noResize="1" noEditPoints="1" noAdjustHandles="1" noChangeArrowheads="1" noChangeShapeType="1" noTextEdit="1"/>
              </p:cNvSpPr>
              <p:nvPr>
                <p:ph idx="1"/>
              </p:nvPr>
            </p:nvSpPr>
            <p:spPr>
              <a:xfrm>
                <a:off x="179512" y="771550"/>
                <a:ext cx="8568952" cy="3805070"/>
              </a:xfrm>
              <a:blipFill>
                <a:blip r:embed="rId2"/>
                <a:stretch>
                  <a:fillRect l="-427" t="-962" b="-625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76106160"/>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A7B39-CC75-4C7A-A4E3-C90F8977243F}"/>
              </a:ext>
            </a:extLst>
          </p:cNvPr>
          <p:cNvSpPr>
            <a:spLocks noGrp="1"/>
          </p:cNvSpPr>
          <p:nvPr>
            <p:ph type="title"/>
          </p:nvPr>
        </p:nvSpPr>
        <p:spPr/>
        <p:txBody>
          <a:bodyPr/>
          <a:lstStyle/>
          <a:p>
            <a:pPr algn="ctr"/>
            <a:r>
              <a:rPr lang="en-US" altLang="zh-CN" dirty="0"/>
              <a:t>Example of Computing a Canonical Cover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9DE6DF4-4CAC-410E-AFA2-3ACE4159C371}"/>
                  </a:ext>
                </a:extLst>
              </p:cNvPr>
              <p:cNvSpPr>
                <a:spLocks noGrp="1"/>
              </p:cNvSpPr>
              <p:nvPr>
                <p:ph idx="1"/>
              </p:nvPr>
            </p:nvSpPr>
            <p:spPr/>
            <p:txBody>
              <a:bodyPr/>
              <a:lstStyle/>
              <a:p>
                <a14:m>
                  <m:oMath xmlns:m="http://schemas.openxmlformats.org/officeDocument/2006/math">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oMath>
                </a14:m>
                <a:r>
                  <a:rPr lang="en-US" altLang="zh-CN" sz="1800" dirty="0"/>
                  <a:t>, </a:t>
                </a:r>
                <a14:m>
                  <m:oMath xmlns:m="http://schemas.openxmlformats.org/officeDocument/2006/math">
                    <m:r>
                      <a:rPr lang="en-US" altLang="zh-CN" sz="1800" b="0" i="1" dirty="0" smtClean="0">
                        <a:latin typeface="Cambria Math" panose="02040503050406030204" pitchFamily="18" charset="0"/>
                      </a:rPr>
                      <m:t>𝐹</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𝐴</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𝐵𝐶</m:t>
                    </m:r>
                    <m:r>
                      <a:rPr lang="en-US" altLang="zh-CN" sz="1800" b="0" i="1" dirty="0" smtClean="0">
                        <a:latin typeface="Cambria Math" panose="02040503050406030204" pitchFamily="18" charset="0"/>
                      </a:rPr>
                      <m:t>, </m:t>
                    </m:r>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𝐶</m:t>
                    </m:r>
                    <m:r>
                      <a:rPr lang="en-US" altLang="zh-CN" sz="1800" b="0" i="1" dirty="0" smtClean="0">
                        <a:latin typeface="Cambria Math" panose="02040503050406030204" pitchFamily="18" charset="0"/>
                      </a:rPr>
                      <m:t>, </m:t>
                    </m:r>
                    <m:r>
                      <a:rPr lang="en-US" altLang="zh-CN" sz="1800" b="0" i="1" dirty="0" smtClean="0">
                        <a:latin typeface="Cambria Math" panose="02040503050406030204" pitchFamily="18" charset="0"/>
                      </a:rPr>
                      <m:t>𝐴</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 </m:t>
                    </m:r>
                    <m:r>
                      <a:rPr lang="en-US" altLang="zh-CN" sz="1800" b="0" i="1" dirty="0" smtClean="0">
                        <a:latin typeface="Cambria Math" panose="02040503050406030204" pitchFamily="18" charset="0"/>
                      </a:rPr>
                      <m:t>𝐴𝐵</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𝐶</m:t>
                    </m:r>
                    <m:r>
                      <a:rPr lang="en-US" altLang="zh-CN" sz="1800" b="0" i="1" dirty="0" smtClean="0">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𝑐</m:t>
                        </m:r>
                      </m:sub>
                    </m:sSub>
                  </m:oMath>
                </a14:m>
                <a:r>
                  <a:rPr lang="en-US" altLang="zh-CN" sz="1800" dirty="0"/>
                  <a:t>?</a:t>
                </a:r>
              </a:p>
              <a:p>
                <a:pPr lvl="1"/>
                <a:r>
                  <a:rPr lang="en-US" altLang="zh-CN" sz="1600" dirty="0"/>
                  <a:t>Combine </a:t>
                </a:r>
                <a14:m>
                  <m:oMath xmlns:m="http://schemas.openxmlformats.org/officeDocument/2006/math">
                    <m:r>
                      <a:rPr lang="en-US" altLang="zh-CN" sz="1600" i="1" dirty="0">
                        <a:latin typeface="Cambria Math" panose="02040503050406030204" pitchFamily="18" charset="0"/>
                      </a:rPr>
                      <m:t>𝐴</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𝐵𝐶</m:t>
                    </m:r>
                    <m:r>
                      <a:rPr lang="en-US" altLang="zh-CN" sz="1600" i="1" dirty="0">
                        <a:latin typeface="Cambria Math" panose="02040503050406030204" pitchFamily="18" charset="0"/>
                      </a:rPr>
                      <m:t> </m:t>
                    </m:r>
                  </m:oMath>
                </a14:m>
                <a:r>
                  <a:rPr lang="en-US" altLang="zh-CN" sz="1600" dirty="0"/>
                  <a:t>and </a:t>
                </a:r>
                <a14:m>
                  <m:oMath xmlns:m="http://schemas.openxmlformats.org/officeDocument/2006/math">
                    <m:r>
                      <a:rPr lang="en-US" altLang="zh-CN" sz="1600" i="1" dirty="0">
                        <a:latin typeface="Cambria Math" panose="02040503050406030204" pitchFamily="18" charset="0"/>
                      </a:rPr>
                      <m:t>𝐴</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𝐵</m:t>
                    </m:r>
                  </m:oMath>
                </a14:m>
                <a:r>
                  <a:rPr lang="en-US" altLang="zh-CN" sz="1600" dirty="0"/>
                  <a:t> into </a:t>
                </a:r>
                <a14:m>
                  <m:oMath xmlns:m="http://schemas.openxmlformats.org/officeDocument/2006/math">
                    <m:r>
                      <a:rPr lang="en-US" altLang="zh-CN" sz="1600" i="1" dirty="0">
                        <a:latin typeface="Cambria Math" panose="02040503050406030204" pitchFamily="18" charset="0"/>
                      </a:rPr>
                      <m:t>𝐴</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𝐵</m:t>
                    </m:r>
                    <m:r>
                      <a:rPr lang="en-US" altLang="zh-CN" sz="1600" b="0" i="1" dirty="0" smtClean="0">
                        <a:latin typeface="Cambria Math" panose="02040503050406030204" pitchFamily="18" charset="0"/>
                      </a:rPr>
                      <m:t>𝐶</m:t>
                    </m:r>
                  </m:oMath>
                </a14:m>
                <a:endParaRPr lang="en-US" altLang="zh-CN" sz="1600" dirty="0"/>
              </a:p>
              <a:p>
                <a:pPr lvl="2"/>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𝐹</m:t>
                        </m:r>
                      </m:e>
                      <m:sub>
                        <m:r>
                          <a:rPr lang="en-US" altLang="zh-CN" sz="1400" i="1">
                            <a:latin typeface="Cambria Math" panose="02040503050406030204" pitchFamily="18" charset="0"/>
                          </a:rPr>
                          <m:t>𝑐</m:t>
                        </m:r>
                      </m:sub>
                    </m:sSub>
                    <m:r>
                      <a:rPr lang="en-US" altLang="zh-CN" sz="1400" i="1">
                        <a:latin typeface="Cambria Math" panose="02040503050406030204" pitchFamily="18" charset="0"/>
                      </a:rPr>
                      <m:t> </m:t>
                    </m:r>
                  </m:oMath>
                </a14:m>
                <a:r>
                  <a:rPr lang="en-US" altLang="zh-CN" sz="1400" dirty="0"/>
                  <a:t>is now {</a:t>
                </a:r>
                <a14:m>
                  <m:oMath xmlns:m="http://schemas.openxmlformats.org/officeDocument/2006/math">
                    <m:r>
                      <a:rPr lang="en-US" altLang="zh-CN" sz="1400" i="1" dirty="0">
                        <a:latin typeface="Cambria Math" panose="02040503050406030204" pitchFamily="18" charset="0"/>
                      </a:rPr>
                      <m:t>𝐴</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𝐵𝐶</m:t>
                    </m:r>
                    <m:r>
                      <a:rPr lang="en-US" altLang="zh-CN" sz="1400" i="1" dirty="0">
                        <a:latin typeface="Cambria Math" panose="02040503050406030204" pitchFamily="18" charset="0"/>
                      </a:rPr>
                      <m:t>, </m:t>
                    </m:r>
                    <m:r>
                      <a:rPr lang="en-US" altLang="zh-CN" sz="1400" i="1" dirty="0">
                        <a:latin typeface="Cambria Math" panose="02040503050406030204" pitchFamily="18" charset="0"/>
                      </a:rPr>
                      <m:t>𝐵</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𝐶</m:t>
                    </m:r>
                    <m:r>
                      <a:rPr lang="en-US" altLang="zh-CN" sz="1400" i="1" dirty="0">
                        <a:latin typeface="Cambria Math" panose="02040503050406030204" pitchFamily="18" charset="0"/>
                      </a:rPr>
                      <m:t>, </m:t>
                    </m:r>
                    <m:r>
                      <a:rPr lang="en-US" altLang="zh-CN" sz="1400" i="1" dirty="0">
                        <a:latin typeface="Cambria Math" panose="02040503050406030204" pitchFamily="18" charset="0"/>
                      </a:rPr>
                      <m:t>𝐴𝐵</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𝐶</m:t>
                    </m:r>
                  </m:oMath>
                </a14:m>
                <a:r>
                  <a:rPr lang="en-US" altLang="zh-CN" sz="1400" dirty="0"/>
                  <a:t>}</a:t>
                </a:r>
              </a:p>
              <a:p>
                <a:pPr lvl="1"/>
                <a14:m>
                  <m:oMath xmlns:m="http://schemas.openxmlformats.org/officeDocument/2006/math">
                    <m:r>
                      <a:rPr lang="en-US" altLang="zh-CN" sz="1600" b="0" i="1" smtClean="0">
                        <a:latin typeface="Cambria Math" panose="02040503050406030204" pitchFamily="18" charset="0"/>
                      </a:rPr>
                      <m:t>𝐴</m:t>
                    </m:r>
                  </m:oMath>
                </a14:m>
                <a:r>
                  <a:rPr lang="en-US" altLang="zh-CN" sz="1600" dirty="0"/>
                  <a:t> is extraneous in </a:t>
                </a:r>
                <a14:m>
                  <m:oMath xmlns:m="http://schemas.openxmlformats.org/officeDocument/2006/math">
                    <m:r>
                      <a:rPr lang="en-US" altLang="zh-CN" sz="1600" i="1" dirty="0">
                        <a:latin typeface="Cambria Math" panose="02040503050406030204" pitchFamily="18" charset="0"/>
                      </a:rPr>
                      <m:t>𝐴𝐵</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𝐶</m:t>
                    </m:r>
                  </m:oMath>
                </a14:m>
                <a:endParaRPr lang="en-US" altLang="zh-CN" sz="1600" dirty="0"/>
              </a:p>
              <a:p>
                <a:pPr lvl="2"/>
                <a:r>
                  <a:rPr lang="en-US" altLang="zh-CN" sz="1400" dirty="0"/>
                  <a:t>Check if the result of deleting </a:t>
                </a:r>
                <a14:m>
                  <m:oMath xmlns:m="http://schemas.openxmlformats.org/officeDocument/2006/math">
                    <m:r>
                      <a:rPr lang="en-US" altLang="zh-CN" sz="1400" i="1">
                        <a:latin typeface="Cambria Math" panose="02040503050406030204" pitchFamily="18" charset="0"/>
                      </a:rPr>
                      <m:t>𝐴</m:t>
                    </m:r>
                  </m:oMath>
                </a14:m>
                <a:r>
                  <a:rPr lang="en-US" altLang="zh-CN" sz="1400" dirty="0"/>
                  <a:t> from </a:t>
                </a:r>
                <a14:m>
                  <m:oMath xmlns:m="http://schemas.openxmlformats.org/officeDocument/2006/math">
                    <m:r>
                      <a:rPr lang="en-US" altLang="zh-CN" sz="1400" i="1" dirty="0">
                        <a:latin typeface="Cambria Math" panose="02040503050406030204" pitchFamily="18" charset="0"/>
                      </a:rPr>
                      <m:t>𝐴𝐵</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𝐶</m:t>
                    </m:r>
                  </m:oMath>
                </a14:m>
                <a:r>
                  <a:rPr lang="en-US" altLang="zh-CN" sz="1400" dirty="0"/>
                  <a:t> is implied by the other dependencies</a:t>
                </a:r>
              </a:p>
              <a:p>
                <a:pPr lvl="2"/>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𝐹</m:t>
                        </m:r>
                      </m:e>
                      <m:sub>
                        <m:r>
                          <a:rPr lang="en-US" altLang="zh-CN" sz="1400" i="1">
                            <a:latin typeface="Cambria Math" panose="02040503050406030204" pitchFamily="18" charset="0"/>
                          </a:rPr>
                          <m:t>𝑐</m:t>
                        </m:r>
                      </m:sub>
                    </m:sSub>
                  </m:oMath>
                </a14:m>
                <a:r>
                  <a:rPr lang="en-US" altLang="zh-CN" sz="1400" dirty="0"/>
                  <a:t> is now {</a:t>
                </a:r>
                <a14:m>
                  <m:oMath xmlns:m="http://schemas.openxmlformats.org/officeDocument/2006/math">
                    <m:r>
                      <a:rPr lang="en-US" altLang="zh-CN" sz="1400" i="1" dirty="0">
                        <a:latin typeface="Cambria Math" panose="02040503050406030204" pitchFamily="18" charset="0"/>
                      </a:rPr>
                      <m:t>𝐴</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𝐵𝐶</m:t>
                    </m:r>
                    <m:r>
                      <a:rPr lang="en-US" altLang="zh-CN" sz="1400" i="1" dirty="0">
                        <a:latin typeface="Cambria Math" panose="02040503050406030204" pitchFamily="18" charset="0"/>
                      </a:rPr>
                      <m:t>, </m:t>
                    </m:r>
                    <m:r>
                      <a:rPr lang="en-US" altLang="zh-CN" sz="1400" i="1" dirty="0">
                        <a:latin typeface="Cambria Math" panose="02040503050406030204" pitchFamily="18" charset="0"/>
                      </a:rPr>
                      <m:t>𝐵</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𝐶</m:t>
                    </m:r>
                  </m:oMath>
                </a14:m>
                <a:r>
                  <a:rPr lang="en-US" altLang="zh-CN" sz="1400" dirty="0"/>
                  <a:t>}</a:t>
                </a:r>
              </a:p>
              <a:p>
                <a:pPr lvl="1"/>
                <a14:m>
                  <m:oMath xmlns:m="http://schemas.openxmlformats.org/officeDocument/2006/math">
                    <m:r>
                      <a:rPr lang="en-US" altLang="zh-CN" sz="1600" b="0" i="1" smtClean="0">
                        <a:latin typeface="Cambria Math" panose="02040503050406030204" pitchFamily="18" charset="0"/>
                      </a:rPr>
                      <m:t>𝐶</m:t>
                    </m:r>
                  </m:oMath>
                </a14:m>
                <a:r>
                  <a:rPr lang="en-US" altLang="zh-CN" sz="1600" dirty="0"/>
                  <a:t> is extraneous in </a:t>
                </a:r>
                <a14:m>
                  <m:oMath xmlns:m="http://schemas.openxmlformats.org/officeDocument/2006/math">
                    <m:r>
                      <a:rPr lang="en-US" altLang="zh-CN" sz="1600" i="1" dirty="0">
                        <a:latin typeface="Cambria Math" panose="02040503050406030204" pitchFamily="18" charset="0"/>
                      </a:rPr>
                      <m:t>𝐴</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𝐵𝐶</m:t>
                    </m:r>
                  </m:oMath>
                </a14:m>
                <a:endParaRPr lang="en-US" altLang="zh-CN" sz="1600" dirty="0"/>
              </a:p>
              <a:p>
                <a:pPr lvl="2"/>
                <a:r>
                  <a:rPr lang="en-US" altLang="zh-CN" sz="1400" dirty="0"/>
                  <a:t>Check if </a:t>
                </a:r>
                <a14:m>
                  <m:oMath xmlns:m="http://schemas.openxmlformats.org/officeDocument/2006/math">
                    <m:r>
                      <a:rPr lang="en-US" altLang="zh-CN" sz="1400" i="1" dirty="0">
                        <a:latin typeface="Cambria Math" panose="02040503050406030204" pitchFamily="18" charset="0"/>
                      </a:rPr>
                      <m:t>𝐴</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𝐶</m:t>
                    </m:r>
                  </m:oMath>
                </a14:m>
                <a:r>
                  <a:rPr lang="en-US" altLang="zh-CN" sz="1400" dirty="0"/>
                  <a:t> is logically implied by </a:t>
                </a:r>
                <a14:m>
                  <m:oMath xmlns:m="http://schemas.openxmlformats.org/officeDocument/2006/math">
                    <m:r>
                      <a:rPr lang="en-US" altLang="zh-CN" sz="1400" i="1" dirty="0">
                        <a:latin typeface="Cambria Math" panose="02040503050406030204" pitchFamily="18" charset="0"/>
                      </a:rPr>
                      <m:t>𝐴</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𝐵</m:t>
                    </m:r>
                  </m:oMath>
                </a14:m>
                <a:r>
                  <a:rPr lang="en-US" altLang="zh-CN" sz="1400" dirty="0"/>
                  <a:t> and </a:t>
                </a:r>
                <a14:m>
                  <m:oMath xmlns:m="http://schemas.openxmlformats.org/officeDocument/2006/math">
                    <m:r>
                      <a:rPr lang="en-US" altLang="zh-CN" sz="1400" i="1" dirty="0">
                        <a:latin typeface="Cambria Math" panose="02040503050406030204" pitchFamily="18" charset="0"/>
                      </a:rPr>
                      <m:t>𝐵</m:t>
                    </m:r>
                    <m:r>
                      <a:rPr lang="en-US" altLang="zh-CN" sz="1400" i="1" dirty="0">
                        <a:latin typeface="Cambria Math" panose="02040503050406030204" pitchFamily="18" charset="0"/>
                        <a:ea typeface="Cambria Math" panose="02040503050406030204" pitchFamily="18" charset="0"/>
                      </a:rPr>
                      <m:t>→</m:t>
                    </m:r>
                    <m:r>
                      <a:rPr lang="en-US" altLang="zh-CN" sz="1400" i="1" dirty="0">
                        <a:latin typeface="Cambria Math" panose="02040503050406030204" pitchFamily="18" charset="0"/>
                      </a:rPr>
                      <m:t>𝐶</m:t>
                    </m:r>
                  </m:oMath>
                </a14:m>
                <a:endParaRPr lang="en-US" altLang="zh-CN" sz="1400" dirty="0"/>
              </a:p>
              <a:p>
                <a:pPr lvl="1"/>
                <a:r>
                  <a:rPr lang="en-US" altLang="zh-CN" sz="1600" dirty="0"/>
                  <a:t>The canonical cover is: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𝑐</m:t>
                        </m:r>
                      </m:sub>
                    </m:sSub>
                    <m:r>
                      <a:rPr lang="en-US" altLang="zh-CN" sz="1600" i="1" dirty="0">
                        <a:latin typeface="Cambria Math" panose="02040503050406030204" pitchFamily="18" charset="0"/>
                      </a:rPr>
                      <m:t>={</m:t>
                    </m:r>
                    <m:r>
                      <a:rPr lang="en-US" altLang="zh-CN" sz="1600" i="1" dirty="0">
                        <a:latin typeface="Cambria Math" panose="02040503050406030204" pitchFamily="18" charset="0"/>
                      </a:rPr>
                      <m:t>𝐴</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𝐵</m:t>
                    </m:r>
                    <m:r>
                      <a:rPr lang="en-US" altLang="zh-CN" sz="1600" i="1" dirty="0">
                        <a:latin typeface="Cambria Math" panose="02040503050406030204" pitchFamily="18" charset="0"/>
                      </a:rPr>
                      <m:t>, </m:t>
                    </m:r>
                    <m:r>
                      <a:rPr lang="en-US" altLang="zh-CN" sz="1600" i="1" dirty="0" smtClean="0">
                        <a:latin typeface="Cambria Math" panose="02040503050406030204" pitchFamily="18" charset="0"/>
                      </a:rPr>
                      <m:t>𝐵</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𝐶</m:t>
                    </m:r>
                    <m:r>
                      <a:rPr lang="en-US" altLang="zh-CN" sz="1600" b="0" i="1" dirty="0" smtClean="0">
                        <a:latin typeface="Cambria Math" panose="02040503050406030204" pitchFamily="18" charset="0"/>
                      </a:rPr>
                      <m:t>}</m:t>
                    </m:r>
                    <m:r>
                      <a:rPr lang="en-US" altLang="zh-CN" sz="1600" i="1" dirty="0">
                        <a:latin typeface="Cambria Math" panose="02040503050406030204" pitchFamily="18" charset="0"/>
                      </a:rPr>
                      <m:t> </m:t>
                    </m:r>
                  </m:oMath>
                </a14:m>
                <a:endParaRPr lang="en-US" altLang="zh-CN" sz="1600" dirty="0"/>
              </a:p>
              <a:p>
                <a:pPr lvl="1"/>
                <a:r>
                  <a:rPr lang="en-US" altLang="zh-CN" sz="1600" dirty="0"/>
                  <a:t>A canonical cover might not be unique</a:t>
                </a:r>
              </a:p>
              <a:p>
                <a:pPr lvl="2"/>
                <a:r>
                  <a:rPr lang="en-US" altLang="zh-CN" sz="1400" dirty="0"/>
                  <a:t>For </a:t>
                </a:r>
                <a14:m>
                  <m:oMath xmlns:m="http://schemas.openxmlformats.org/officeDocument/2006/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𝐴</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rPr>
                      <m:t>𝐶</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𝐵</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rPr>
                      <m:t>𝐴𝐶</m:t>
                    </m:r>
                    <m:r>
                      <a:rPr lang="en-US" altLang="zh-CN" sz="1400" b="0" i="1" smtClean="0">
                        <a:latin typeface="Cambria Math" panose="02040503050406030204" pitchFamily="18" charset="0"/>
                      </a:rPr>
                      <m:t>, </m:t>
                    </m:r>
                    <m:r>
                      <a:rPr lang="en-US" altLang="zh-CN" sz="1400" b="0" i="1" smtClean="0">
                        <a:latin typeface="Cambria Math" panose="02040503050406030204" pitchFamily="18" charset="0"/>
                      </a:rPr>
                      <m:t>𝐶</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rPr>
                      <m:t>𝐴𝐵</m:t>
                    </m:r>
                    <m:r>
                      <a:rPr lang="en-US" altLang="zh-CN" sz="1400" b="0" i="1" smtClean="0">
                        <a:latin typeface="Cambria Math" panose="02040503050406030204" pitchFamily="18" charset="0"/>
                      </a:rPr>
                      <m:t>}</m:t>
                    </m:r>
                  </m:oMath>
                </a14:m>
                <a:r>
                  <a:rPr lang="en-US" altLang="zh-CN" sz="1400" dirty="0"/>
                  <a:t>, </a:t>
                </a:r>
                <a14:m>
                  <m:oMath xmlns:m="http://schemas.openxmlformats.org/officeDocument/2006/math">
                    <m:sSub>
                      <m:sSubPr>
                        <m:ctrlPr>
                          <a:rPr lang="en-US" altLang="zh-CN" sz="1400" i="1" dirty="0" smtClean="0">
                            <a:latin typeface="Cambria Math" panose="02040503050406030204" pitchFamily="18" charset="0"/>
                          </a:rPr>
                        </m:ctrlPr>
                      </m:sSubPr>
                      <m:e>
                        <m:r>
                          <a:rPr lang="en-US" altLang="zh-CN" sz="1400" b="0" i="1" dirty="0" smtClean="0">
                            <a:latin typeface="Cambria Math" panose="02040503050406030204" pitchFamily="18" charset="0"/>
                          </a:rPr>
                          <m:t>𝐹</m:t>
                        </m:r>
                      </m:e>
                      <m:sub>
                        <m:r>
                          <a:rPr lang="en-US" altLang="zh-CN" sz="1400" b="0" i="1" dirty="0" smtClean="0">
                            <a:latin typeface="Cambria Math" panose="02040503050406030204" pitchFamily="18" charset="0"/>
                          </a:rPr>
                          <m:t>𝑐</m:t>
                        </m:r>
                      </m:sub>
                    </m:sSub>
                    <m:r>
                      <a:rPr lang="en-US" altLang="zh-CN" sz="1400" b="0" i="1" dirty="0" smtClean="0">
                        <a:latin typeface="Cambria Math" panose="02040503050406030204" pitchFamily="18" charset="0"/>
                      </a:rPr>
                      <m:t>={</m:t>
                    </m:r>
                    <m:r>
                      <a:rPr lang="en-US" altLang="zh-CN" sz="1400" b="0" i="1" dirty="0" smtClean="0">
                        <a:latin typeface="Cambria Math" panose="02040503050406030204" pitchFamily="18" charset="0"/>
                      </a:rPr>
                      <m:t>𝐴</m:t>
                    </m:r>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rPr>
                      <m:t>𝐶</m:t>
                    </m:r>
                    <m:r>
                      <a:rPr lang="en-US" altLang="zh-CN" sz="1400" b="0" i="1" dirty="0" smtClean="0">
                        <a:latin typeface="Cambria Math" panose="02040503050406030204" pitchFamily="18" charset="0"/>
                      </a:rPr>
                      <m:t>, </m:t>
                    </m:r>
                    <m:r>
                      <a:rPr lang="en-US" altLang="zh-CN" sz="1400" b="0" i="1" dirty="0" smtClean="0">
                        <a:latin typeface="Cambria Math" panose="02040503050406030204" pitchFamily="18" charset="0"/>
                      </a:rPr>
                      <m:t>𝐵</m:t>
                    </m:r>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rPr>
                      <m:t>𝐶</m:t>
                    </m:r>
                    <m:r>
                      <a:rPr lang="en-US" altLang="zh-CN" sz="1400" b="0" i="1" dirty="0" smtClean="0">
                        <a:latin typeface="Cambria Math" panose="02040503050406030204" pitchFamily="18" charset="0"/>
                      </a:rPr>
                      <m:t>, </m:t>
                    </m:r>
                    <m:r>
                      <a:rPr lang="en-US" altLang="zh-CN" sz="1400" b="0" i="1" dirty="0" smtClean="0">
                        <a:latin typeface="Cambria Math" panose="02040503050406030204" pitchFamily="18" charset="0"/>
                      </a:rPr>
                      <m:t>𝐶</m:t>
                    </m:r>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rPr>
                      <m:t>𝐴𝐵</m:t>
                    </m:r>
                    <m:r>
                      <a:rPr lang="en-US" altLang="zh-CN" sz="1400" b="0" i="1" dirty="0" smtClean="0">
                        <a:latin typeface="Cambria Math" panose="02040503050406030204" pitchFamily="18" charset="0"/>
                      </a:rPr>
                      <m:t>}</m:t>
                    </m:r>
                  </m:oMath>
                </a14:m>
                <a:r>
                  <a:rPr lang="en-US" altLang="zh-CN" sz="1400" dirty="0"/>
                  <a:t> or </a:t>
                </a:r>
                <a14:m>
                  <m:oMath xmlns:m="http://schemas.openxmlformats.org/officeDocument/2006/math">
                    <m:sSub>
                      <m:sSubPr>
                        <m:ctrlPr>
                          <a:rPr lang="en-US" altLang="zh-CN" sz="1400" i="1" dirty="0">
                            <a:latin typeface="Cambria Math" panose="02040503050406030204" pitchFamily="18" charset="0"/>
                          </a:rPr>
                        </m:ctrlPr>
                      </m:sSubPr>
                      <m:e>
                        <m:r>
                          <a:rPr lang="en-US" altLang="zh-CN" sz="1400" i="1" dirty="0">
                            <a:latin typeface="Cambria Math" panose="02040503050406030204" pitchFamily="18" charset="0"/>
                          </a:rPr>
                          <m:t>𝐹</m:t>
                        </m:r>
                      </m:e>
                      <m:sub>
                        <m:r>
                          <a:rPr lang="en-US" altLang="zh-CN" sz="1400" i="1" dirty="0">
                            <a:latin typeface="Cambria Math" panose="02040503050406030204" pitchFamily="18" charset="0"/>
                          </a:rPr>
                          <m:t>𝑐</m:t>
                        </m:r>
                      </m:sub>
                    </m:sSub>
                    <m:r>
                      <a:rPr lang="en-US" altLang="zh-CN" sz="1400" i="1" dirty="0">
                        <a:latin typeface="Cambria Math" panose="02040503050406030204" pitchFamily="18" charset="0"/>
                      </a:rPr>
                      <m:t>={</m:t>
                    </m:r>
                    <m:r>
                      <a:rPr lang="en-US" altLang="zh-CN" sz="1400" b="0" i="1" dirty="0" smtClean="0">
                        <a:latin typeface="Cambria Math" panose="02040503050406030204" pitchFamily="18" charset="0"/>
                      </a:rPr>
                      <m:t>𝐴</m:t>
                    </m:r>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rPr>
                      <m:t>𝐶</m:t>
                    </m:r>
                    <m:r>
                      <a:rPr lang="en-US" altLang="zh-CN" sz="1400" b="0" i="1" dirty="0" smtClean="0">
                        <a:latin typeface="Cambria Math" panose="02040503050406030204" pitchFamily="18" charset="0"/>
                      </a:rPr>
                      <m:t>, </m:t>
                    </m:r>
                    <m:r>
                      <a:rPr lang="en-US" altLang="zh-CN" sz="1400" b="0" i="1" dirty="0" smtClean="0">
                        <a:latin typeface="Cambria Math" panose="02040503050406030204" pitchFamily="18" charset="0"/>
                      </a:rPr>
                      <m:t>𝐵</m:t>
                    </m:r>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ea typeface="Cambria Math" panose="02040503050406030204" pitchFamily="18" charset="0"/>
                      </a:rPr>
                      <m:t>𝐴𝐶</m:t>
                    </m:r>
                    <m:r>
                      <a:rPr lang="en-US" altLang="zh-CN" sz="1400" b="0" i="1" dirty="0" smtClean="0">
                        <a:latin typeface="Cambria Math" panose="02040503050406030204" pitchFamily="18" charset="0"/>
                      </a:rPr>
                      <m:t>, </m:t>
                    </m:r>
                    <m:r>
                      <a:rPr lang="en-US" altLang="zh-CN" sz="1400" b="0" i="1" dirty="0" smtClean="0">
                        <a:latin typeface="Cambria Math" panose="02040503050406030204" pitchFamily="18" charset="0"/>
                      </a:rPr>
                      <m:t>𝐶</m:t>
                    </m:r>
                    <m:r>
                      <a:rPr lang="en-US" altLang="zh-CN" sz="1400" b="0" i="1" dirty="0" smtClean="0">
                        <a:latin typeface="Cambria Math" panose="02040503050406030204" pitchFamily="18" charset="0"/>
                        <a:ea typeface="Cambria Math" panose="02040503050406030204" pitchFamily="18" charset="0"/>
                      </a:rPr>
                      <m:t>→</m:t>
                    </m:r>
                    <m:r>
                      <a:rPr lang="en-US" altLang="zh-CN" sz="1400" b="0" i="1" dirty="0" smtClean="0">
                        <a:latin typeface="Cambria Math" panose="02040503050406030204" pitchFamily="18" charset="0"/>
                      </a:rPr>
                      <m:t>𝐵</m:t>
                    </m:r>
                    <m:r>
                      <a:rPr lang="en-US" altLang="zh-CN" sz="1400" i="1" dirty="0">
                        <a:latin typeface="Cambria Math" panose="02040503050406030204" pitchFamily="18" charset="0"/>
                      </a:rPr>
                      <m:t>}</m:t>
                    </m:r>
                  </m:oMath>
                </a14:m>
                <a:endParaRPr lang="zh-CN" altLang="en-US" sz="1400" dirty="0"/>
              </a:p>
            </p:txBody>
          </p:sp>
        </mc:Choice>
        <mc:Fallback xmlns="">
          <p:sp>
            <p:nvSpPr>
              <p:cNvPr id="3" name="内容占位符 2">
                <a:extLst>
                  <a:ext uri="{FF2B5EF4-FFF2-40B4-BE49-F238E27FC236}">
                    <a16:creationId xmlns:a16="http://schemas.microsoft.com/office/drawing/2014/main" id="{69DE6DF4-4CAC-410E-AFA2-3ACE4159C371}"/>
                  </a:ext>
                </a:extLst>
              </p:cNvPr>
              <p:cNvSpPr>
                <a:spLocks noGrp="1" noRot="1" noChangeAspect="1" noMove="1" noResize="1" noEditPoints="1" noAdjustHandles="1" noChangeArrowheads="1" noChangeShapeType="1" noTextEdit="1"/>
              </p:cNvSpPr>
              <p:nvPr>
                <p:ph idx="1"/>
              </p:nvPr>
            </p:nvSpPr>
            <p:spPr>
              <a:blipFill>
                <a:blip r:embed="rId2"/>
                <a:stretch>
                  <a:fillRect l="-498"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338665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CDA2B7-791E-4EF2-B833-CE721D49A296}"/>
              </a:ext>
            </a:extLst>
          </p:cNvPr>
          <p:cNvSpPr>
            <a:spLocks noGrp="1"/>
          </p:cNvSpPr>
          <p:nvPr>
            <p:ph type="title"/>
          </p:nvPr>
        </p:nvSpPr>
        <p:spPr/>
        <p:txBody>
          <a:bodyPr/>
          <a:lstStyle/>
          <a:p>
            <a:pPr algn="ctr"/>
            <a:r>
              <a:rPr lang="en-US" altLang="zh-CN" dirty="0"/>
              <a:t>Example of Computing a Canonical Cover</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50E59B7-9036-468B-9807-E954F20AE06D}"/>
                  </a:ext>
                </a:extLst>
              </p:cNvPr>
              <p:cNvSpPr>
                <a:spLocks noGrp="1"/>
              </p:cNvSpPr>
              <p:nvPr>
                <p:ph idx="1"/>
              </p:nvPr>
            </p:nvSpPr>
            <p:spPr>
              <a:xfrm>
                <a:off x="251520" y="789553"/>
                <a:ext cx="8712968" cy="3805070"/>
              </a:xfrm>
            </p:spPr>
            <p:txBody>
              <a:bodyPr/>
              <a:lstStyle/>
              <a:p>
                <a:pPr>
                  <a:spcBef>
                    <a:spcPts val="1200"/>
                  </a:spcBef>
                </a:pPr>
                <a:r>
                  <a:rPr lang="en-US" altLang="zh-CN" sz="1800" dirty="0"/>
                  <a:t>R&lt;U,F&gt;, U={A,B,C}, F={A→BC, B→C, A→B, AB→C}.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𝐹</m:t>
                        </m:r>
                      </m:e>
                      <m:sub>
                        <m:r>
                          <a:rPr lang="en-US" altLang="zh-CN" sz="1800" b="0" i="1" smtClean="0">
                            <a:latin typeface="Cambria Math" panose="02040503050406030204" pitchFamily="18" charset="0"/>
                          </a:rPr>
                          <m:t>𝑐</m:t>
                        </m:r>
                      </m:sub>
                    </m:sSub>
                  </m:oMath>
                </a14:m>
                <a:r>
                  <a:rPr lang="en-US" altLang="zh-CN" sz="1800" dirty="0"/>
                  <a:t>?</a:t>
                </a:r>
              </a:p>
              <a:p>
                <a:pPr marL="914400" lvl="1" indent="-457200">
                  <a:spcBef>
                    <a:spcPts val="1200"/>
                  </a:spcBef>
                  <a:buFont typeface="+mj-lt"/>
                  <a:buAutoNum type="alphaLcParenR"/>
                </a:pPr>
                <a:r>
                  <a:rPr lang="en-US" altLang="zh-CN" sz="1600" dirty="0"/>
                  <a:t>For each FD in F</a:t>
                </a:r>
                <a:r>
                  <a:rPr lang="zh-CN" altLang="en-US" sz="1600" dirty="0"/>
                  <a:t>：</a:t>
                </a:r>
                <a:r>
                  <a:rPr lang="en-US" altLang="zh-CN" sz="1600" dirty="0"/>
                  <a:t>F={A→B, A→C, B→C, A→B, AB→C}</a:t>
                </a:r>
              </a:p>
              <a:p>
                <a:pPr marL="914400" lvl="1" indent="-457200">
                  <a:spcBef>
                    <a:spcPts val="1200"/>
                  </a:spcBef>
                  <a:buFont typeface="+mj-lt"/>
                  <a:buAutoNum type="alphaLcParenR"/>
                </a:pPr>
                <a:r>
                  <a:rPr lang="en-US" altLang="zh-CN" sz="1600" dirty="0"/>
                  <a:t>Once A→B can be deleted, F={A→B, A→C, B→C, AB→C}</a:t>
                </a:r>
              </a:p>
              <a:p>
                <a:pPr marL="914400" lvl="1" indent="-457200">
                  <a:spcBef>
                    <a:spcPts val="1200"/>
                  </a:spcBef>
                  <a:buFont typeface="+mj-lt"/>
                  <a:buAutoNum type="alphaLcParenR"/>
                </a:pPr>
                <a:r>
                  <a:rPr lang="en-US" altLang="zh-CN" sz="1600" dirty="0"/>
                  <a:t>A→C is implied by A→B and B→C. So A→C is extraneous. Then F={A→B, B→C, AB→C}</a:t>
                </a:r>
              </a:p>
              <a:p>
                <a:pPr marL="914400" lvl="1" indent="-457200">
                  <a:spcBef>
                    <a:spcPts val="1200"/>
                  </a:spcBef>
                  <a:buFont typeface="+mj-lt"/>
                  <a:buAutoNum type="alphaLcParenR"/>
                </a:pPr>
                <a:r>
                  <a:rPr lang="en-US" altLang="zh-CN" sz="1600" dirty="0"/>
                  <a:t>AB→C is implied by B→C, then AB→C is extraneous, so we have F</a:t>
                </a:r>
                <a:r>
                  <a:rPr lang="en-US" altLang="zh-CN" sz="1600" baseline="-25000" dirty="0"/>
                  <a:t>c</a:t>
                </a:r>
                <a:r>
                  <a:rPr lang="en-US" altLang="zh-CN" sz="1600" dirty="0"/>
                  <a:t>={A→B, B→C}</a:t>
                </a:r>
                <a:endParaRPr lang="zh-CN" altLang="en-US" sz="1600" dirty="0"/>
              </a:p>
              <a:p>
                <a:pPr>
                  <a:spcBef>
                    <a:spcPts val="1200"/>
                  </a:spcBef>
                </a:pPr>
                <a:endParaRPr lang="zh-CN" altLang="en-US" sz="1800" dirty="0"/>
              </a:p>
            </p:txBody>
          </p:sp>
        </mc:Choice>
        <mc:Fallback xmlns="">
          <p:sp>
            <p:nvSpPr>
              <p:cNvPr id="3" name="内容占位符 2">
                <a:extLst>
                  <a:ext uri="{FF2B5EF4-FFF2-40B4-BE49-F238E27FC236}">
                    <a16:creationId xmlns:a16="http://schemas.microsoft.com/office/drawing/2014/main" id="{050E59B7-9036-468B-9807-E954F20AE06D}"/>
                  </a:ext>
                </a:extLst>
              </p:cNvPr>
              <p:cNvSpPr>
                <a:spLocks noGrp="1" noRot="1" noChangeAspect="1" noMove="1" noResize="1" noEditPoints="1" noAdjustHandles="1" noChangeArrowheads="1" noChangeShapeType="1" noTextEdit="1"/>
              </p:cNvSpPr>
              <p:nvPr>
                <p:ph idx="1"/>
              </p:nvPr>
            </p:nvSpPr>
            <p:spPr>
              <a:xfrm>
                <a:off x="251520" y="789553"/>
                <a:ext cx="8712968" cy="3805070"/>
              </a:xfrm>
              <a:blipFill>
                <a:blip r:embed="rId2"/>
                <a:stretch>
                  <a:fillRect l="-420"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5194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C1C7A-75BF-46D6-9747-11843092A433}"/>
              </a:ext>
            </a:extLst>
          </p:cNvPr>
          <p:cNvSpPr>
            <a:spLocks noGrp="1"/>
          </p:cNvSpPr>
          <p:nvPr>
            <p:ph type="title"/>
          </p:nvPr>
        </p:nvSpPr>
        <p:spPr/>
        <p:txBody>
          <a:bodyPr/>
          <a:lstStyle/>
          <a:p>
            <a:pPr algn="ctr"/>
            <a:r>
              <a:rPr lang="en-US" altLang="zh-CN" dirty="0"/>
              <a:t>Example of Computing a Canonical Cover</a:t>
            </a:r>
            <a:endParaRPr lang="zh-CN" altLang="en-US" dirty="0"/>
          </a:p>
        </p:txBody>
      </p:sp>
      <p:sp>
        <p:nvSpPr>
          <p:cNvPr id="3" name="内容占位符 2">
            <a:extLst>
              <a:ext uri="{FF2B5EF4-FFF2-40B4-BE49-F238E27FC236}">
                <a16:creationId xmlns:a16="http://schemas.microsoft.com/office/drawing/2014/main" id="{23A66418-09C4-49F3-8F96-019062BA6DE2}"/>
              </a:ext>
            </a:extLst>
          </p:cNvPr>
          <p:cNvSpPr>
            <a:spLocks noGrp="1"/>
          </p:cNvSpPr>
          <p:nvPr>
            <p:ph idx="1"/>
          </p:nvPr>
        </p:nvSpPr>
        <p:spPr/>
        <p:txBody>
          <a:bodyPr/>
          <a:lstStyle/>
          <a:p>
            <a:pPr>
              <a:spcBef>
                <a:spcPts val="1200"/>
              </a:spcBef>
            </a:pPr>
            <a:r>
              <a:rPr lang="en-US" altLang="zh-CN" sz="1800" dirty="0"/>
              <a:t>R&lt;U, F&gt;, U={X, Y, Z, W}, F={W→Y,Y→W, X→WY, Z→WY, XZ→W}, F</a:t>
            </a:r>
            <a:r>
              <a:rPr lang="en-US" altLang="zh-CN" sz="1800" baseline="-25000" dirty="0"/>
              <a:t>c</a:t>
            </a:r>
            <a:r>
              <a:rPr lang="en-US" altLang="zh-CN" sz="1800" dirty="0"/>
              <a:t>?</a:t>
            </a:r>
          </a:p>
          <a:p>
            <a:pPr marL="457200" lvl="1" indent="0">
              <a:spcBef>
                <a:spcPts val="1200"/>
              </a:spcBef>
              <a:buNone/>
            </a:pPr>
            <a:r>
              <a:rPr lang="en-US" altLang="zh-CN" sz="1600" dirty="0"/>
              <a:t>(1) F={W→Y, Y→W, X→W, X→Y, Z→W, Z→Y, XZ→W}</a:t>
            </a:r>
          </a:p>
          <a:p>
            <a:pPr marL="457200" lvl="1" indent="0">
              <a:spcBef>
                <a:spcPts val="1200"/>
              </a:spcBef>
              <a:buNone/>
            </a:pPr>
            <a:r>
              <a:rPr lang="en-US" altLang="zh-CN" sz="1600" dirty="0"/>
              <a:t>(2) For LHS, F={W→Y, Y→W, X→W, X→Y, Z→W, Z→Y}</a:t>
            </a:r>
          </a:p>
          <a:p>
            <a:pPr marL="457200" lvl="1" indent="0">
              <a:spcBef>
                <a:spcPts val="1200"/>
              </a:spcBef>
              <a:buNone/>
            </a:pPr>
            <a:r>
              <a:rPr lang="en-US" altLang="zh-CN" sz="1600" dirty="0"/>
              <a:t>(3) Delete redundant FDs,</a:t>
            </a:r>
          </a:p>
          <a:p>
            <a:pPr marL="457200" lvl="1" indent="0">
              <a:spcBef>
                <a:spcPts val="1200"/>
              </a:spcBef>
              <a:buNone/>
            </a:pPr>
            <a:r>
              <a:rPr lang="en-US" altLang="zh-CN" sz="1600" dirty="0"/>
              <a:t>F</a:t>
            </a:r>
            <a:r>
              <a:rPr lang="en-US" altLang="zh-CN" sz="1600" baseline="-25000" dirty="0"/>
              <a:t>c</a:t>
            </a:r>
            <a:r>
              <a:rPr lang="en-US" altLang="zh-CN" sz="1600" dirty="0"/>
              <a:t>={W→Y, Y→W, X→Y, Z→Y}  or {W→Y, Y→W, X→W, Z→W}</a:t>
            </a:r>
          </a:p>
          <a:p>
            <a:pPr>
              <a:spcBef>
                <a:spcPts val="1200"/>
              </a:spcBef>
            </a:pPr>
            <a:endParaRPr lang="zh-CN" altLang="en-US" sz="1800" dirty="0"/>
          </a:p>
        </p:txBody>
      </p:sp>
    </p:spTree>
    <p:extLst>
      <p:ext uri="{BB962C8B-B14F-4D97-AF65-F5344CB8AC3E}">
        <p14:creationId xmlns:p14="http://schemas.microsoft.com/office/powerpoint/2010/main" val="23202903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arn(inVertical)">
                                      <p:cBhvr>
                                        <p:cTn id="17" dur="500"/>
                                        <p:tgtEl>
                                          <p:spTgt spid="3">
                                            <p:txEl>
                                              <p:pRg st="3" end="3"/>
                                            </p:txEl>
                                          </p:spTgt>
                                        </p:tgtEl>
                                      </p:cBhvr>
                                    </p:animEffect>
                                  </p:childTnLst>
                                </p:cTn>
                              </p:par>
                              <p:par>
                                <p:cTn id="18" presetID="16" presetClass="entr" presetSubtype="21"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arn(inVertical)">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488B7D-51BF-4EFB-B41D-512A23BD2C34}"/>
              </a:ext>
            </a:extLst>
          </p:cNvPr>
          <p:cNvSpPr>
            <a:spLocks noGrp="1"/>
          </p:cNvSpPr>
          <p:nvPr>
            <p:ph type="title"/>
          </p:nvPr>
        </p:nvSpPr>
        <p:spPr/>
        <p:txBody>
          <a:bodyPr/>
          <a:lstStyle/>
          <a:p>
            <a:pPr algn="ctr"/>
            <a:r>
              <a:rPr lang="en-US" altLang="zh-CN" dirty="0"/>
              <a:t>Find Candidate Keys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1D66AD3-3A10-42FE-832A-80F42CA61C29}"/>
                  </a:ext>
                </a:extLst>
              </p:cNvPr>
              <p:cNvSpPr>
                <a:spLocks noGrp="1"/>
              </p:cNvSpPr>
              <p:nvPr>
                <p:ph idx="1"/>
              </p:nvPr>
            </p:nvSpPr>
            <p:spPr/>
            <p:txBody>
              <a:bodyPr/>
              <a:lstStyle/>
              <a:p>
                <a:pPr>
                  <a:spcBef>
                    <a:spcPts val="1200"/>
                  </a:spcBef>
                </a:pPr>
                <a:r>
                  <a:rPr lang="en-US" altLang="zh-CN" sz="1800" dirty="0"/>
                  <a:t>For </a:t>
                </a:r>
                <a14:m>
                  <m:oMath xmlns:m="http://schemas.openxmlformats.org/officeDocument/2006/math">
                    <m:r>
                      <a:rPr lang="en-US" altLang="zh-CN" sz="1800" b="0" i="1" smtClean="0">
                        <a:latin typeface="Cambria Math" panose="02040503050406030204" pitchFamily="18" charset="0"/>
                      </a:rPr>
                      <m:t>𝐻</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𝐴</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𝐴</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𝐴</m:t>
                        </m:r>
                      </m:e>
                      <m:sub>
                        <m:r>
                          <a:rPr lang="en-US" altLang="zh-CN" sz="1800" b="0" i="1" smtClean="0">
                            <a:latin typeface="Cambria Math" panose="02040503050406030204" pitchFamily="18" charset="0"/>
                          </a:rPr>
                          <m:t>𝑛</m:t>
                        </m:r>
                      </m:sub>
                    </m:sSub>
                    <m:r>
                      <a:rPr lang="en-US" altLang="zh-CN" sz="1800" b="0" i="1" smtClean="0">
                        <a:latin typeface="Cambria Math" panose="02040503050406030204" pitchFamily="18" charset="0"/>
                      </a:rPr>
                      <m:t>)</m:t>
                    </m:r>
                  </m:oMath>
                </a14:m>
                <a:r>
                  <a:rPr lang="en-US" altLang="zh-CN" sz="1800" dirty="0"/>
                  <a:t> and FDs in </a:t>
                </a:r>
                <a14:m>
                  <m:oMath xmlns:m="http://schemas.openxmlformats.org/officeDocument/2006/math">
                    <m:r>
                      <a:rPr lang="en-US" altLang="zh-CN" sz="1800" b="0" i="1" smtClean="0">
                        <a:latin typeface="Cambria Math" panose="02040503050406030204" pitchFamily="18" charset="0"/>
                      </a:rPr>
                      <m:t>𝐹</m:t>
                    </m:r>
                  </m:oMath>
                </a14:m>
                <a:r>
                  <a:rPr lang="en-US" altLang="zh-CN" sz="1800" dirty="0"/>
                  <a:t>, all attributes can be classified into 4 types</a:t>
                </a:r>
                <a:r>
                  <a:rPr lang="zh-CN" altLang="en-US" sz="1800" dirty="0"/>
                  <a:t>：</a:t>
                </a:r>
              </a:p>
              <a:p>
                <a:pPr lvl="1">
                  <a:spcBef>
                    <a:spcPts val="1200"/>
                  </a:spcBef>
                </a:pPr>
                <a:r>
                  <a:rPr lang="en-US" altLang="zh-CN" sz="1600" dirty="0"/>
                  <a:t>L</a:t>
                </a:r>
                <a:r>
                  <a:rPr lang="zh-CN" altLang="en-US" sz="1600" dirty="0"/>
                  <a:t>：</a:t>
                </a:r>
                <a:r>
                  <a:rPr lang="en-US" altLang="zh-CN" sz="1600" dirty="0"/>
                  <a:t>only exists in LHS</a:t>
                </a:r>
              </a:p>
              <a:p>
                <a:pPr lvl="1">
                  <a:spcBef>
                    <a:spcPts val="1200"/>
                  </a:spcBef>
                </a:pPr>
                <a:r>
                  <a:rPr lang="en-US" altLang="zh-CN" sz="1600" dirty="0"/>
                  <a:t>R</a:t>
                </a:r>
                <a:r>
                  <a:rPr lang="zh-CN" altLang="en-US" sz="1600" dirty="0"/>
                  <a:t>：</a:t>
                </a:r>
                <a:r>
                  <a:rPr lang="en-US" altLang="zh-CN" sz="1600" dirty="0"/>
                  <a:t>only exists in RHS</a:t>
                </a:r>
              </a:p>
              <a:p>
                <a:pPr lvl="1">
                  <a:spcBef>
                    <a:spcPts val="1200"/>
                  </a:spcBef>
                </a:pPr>
                <a:r>
                  <a:rPr lang="en-US" altLang="zh-CN" sz="1600" dirty="0"/>
                  <a:t>N</a:t>
                </a:r>
                <a:r>
                  <a:rPr lang="zh-CN" altLang="en-US" sz="1600" dirty="0"/>
                  <a:t>：</a:t>
                </a:r>
                <a:r>
                  <a:rPr lang="en-US" altLang="zh-CN" sz="1600" dirty="0"/>
                  <a:t>not exists in either LHS or RHS</a:t>
                </a:r>
              </a:p>
              <a:p>
                <a:pPr lvl="1">
                  <a:spcBef>
                    <a:spcPts val="1200"/>
                  </a:spcBef>
                </a:pPr>
                <a:r>
                  <a:rPr lang="en-US" altLang="zh-CN" sz="1600" dirty="0"/>
                  <a:t>LR</a:t>
                </a:r>
                <a:r>
                  <a:rPr lang="zh-CN" altLang="en-US" sz="1600" dirty="0"/>
                  <a:t>：</a:t>
                </a:r>
                <a:r>
                  <a:rPr lang="en-US" altLang="zh-CN" sz="1600" dirty="0"/>
                  <a:t>exists in both LHS and RHS</a:t>
                </a:r>
              </a:p>
              <a:p>
                <a:pPr>
                  <a:spcBef>
                    <a:spcPts val="1200"/>
                  </a:spcBef>
                </a:pPr>
                <a:endParaRPr lang="zh-CN" altLang="en-US" sz="1800" dirty="0"/>
              </a:p>
            </p:txBody>
          </p:sp>
        </mc:Choice>
        <mc:Fallback xmlns="">
          <p:sp>
            <p:nvSpPr>
              <p:cNvPr id="3" name="内容占位符 2">
                <a:extLst>
                  <a:ext uri="{FF2B5EF4-FFF2-40B4-BE49-F238E27FC236}">
                    <a16:creationId xmlns:a16="http://schemas.microsoft.com/office/drawing/2014/main" id="{B1D66AD3-3A10-42FE-832A-80F42CA61C29}"/>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9053692"/>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83B4D6-7CC3-43CC-856E-0E5C04AFE587}"/>
              </a:ext>
            </a:extLst>
          </p:cNvPr>
          <p:cNvSpPr>
            <a:spLocks noGrp="1"/>
          </p:cNvSpPr>
          <p:nvPr>
            <p:ph type="title"/>
          </p:nvPr>
        </p:nvSpPr>
        <p:spPr/>
        <p:txBody>
          <a:bodyPr/>
          <a:lstStyle/>
          <a:p>
            <a:pPr algn="ctr"/>
            <a:r>
              <a:rPr lang="en-US" altLang="zh-CN" dirty="0"/>
              <a:t>Find Candidate Keys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2D25118-0B3E-424C-A1EB-F6EDE505071A}"/>
                  </a:ext>
                </a:extLst>
              </p:cNvPr>
              <p:cNvSpPr>
                <a:spLocks noGrp="1"/>
              </p:cNvSpPr>
              <p:nvPr>
                <p:ph idx="1"/>
              </p:nvPr>
            </p:nvSpPr>
            <p:spPr>
              <a:xfrm>
                <a:off x="179512" y="699542"/>
                <a:ext cx="8568952" cy="3805070"/>
              </a:xfrm>
            </p:spPr>
            <p:txBody>
              <a:bodyPr/>
              <a:lstStyle/>
              <a:p>
                <a:pPr>
                  <a:spcBef>
                    <a:spcPts val="600"/>
                  </a:spcBef>
                </a:pPr>
                <a:r>
                  <a:rPr lang="en-US" altLang="zh-CN" sz="1800" b="1" dirty="0"/>
                  <a:t>Algorithm</a:t>
                </a:r>
                <a:r>
                  <a:rPr lang="zh-CN" altLang="en-US" sz="1800" b="1" dirty="0"/>
                  <a:t>：</a:t>
                </a:r>
                <a:r>
                  <a:rPr lang="en-US" altLang="zh-CN" sz="1800" dirty="0"/>
                  <a:t>find candidate keys for relation H</a:t>
                </a:r>
              </a:p>
              <a:p>
                <a:pPr>
                  <a:spcBef>
                    <a:spcPts val="600"/>
                  </a:spcBef>
                </a:pPr>
                <a:r>
                  <a:rPr lang="en-US" altLang="zh-CN" sz="1800" b="1" dirty="0"/>
                  <a:t>Input</a:t>
                </a:r>
                <a:r>
                  <a:rPr lang="zh-CN" altLang="en-US" sz="1800" b="1" dirty="0"/>
                  <a:t>：</a:t>
                </a:r>
                <a:r>
                  <a:rPr lang="en-US" altLang="zh-CN" sz="1800" dirty="0"/>
                  <a:t>H and its FDs set F</a:t>
                </a:r>
              </a:p>
              <a:p>
                <a:pPr>
                  <a:spcBef>
                    <a:spcPts val="600"/>
                  </a:spcBef>
                </a:pPr>
                <a:r>
                  <a:rPr lang="en-US" altLang="zh-CN" sz="1800" b="1" dirty="0"/>
                  <a:t>Output</a:t>
                </a:r>
                <a:r>
                  <a:rPr lang="zh-CN" altLang="en-US" sz="1800" b="1" dirty="0"/>
                  <a:t>：</a:t>
                </a:r>
                <a:r>
                  <a:rPr lang="en-US" altLang="zh-CN" sz="1800" dirty="0"/>
                  <a:t>all candidate keys for H</a:t>
                </a:r>
              </a:p>
              <a:p>
                <a:pPr marL="457200" lvl="1" indent="0">
                  <a:spcBef>
                    <a:spcPts val="600"/>
                  </a:spcBef>
                  <a:buNone/>
                </a:pPr>
                <a:r>
                  <a:rPr lang="en-US" altLang="zh-CN" sz="1400" dirty="0"/>
                  <a:t>(1) Classify all attributes into two parts: X represents for L and N types, Y for LR type</a:t>
                </a:r>
              </a:p>
              <a:p>
                <a:pPr marL="457200" lvl="1" indent="0">
                  <a:spcBef>
                    <a:spcPts val="600"/>
                  </a:spcBef>
                  <a:buNone/>
                </a:pPr>
                <a:r>
                  <a:rPr lang="en-US" altLang="zh-CN" sz="1400" dirty="0"/>
                  <a:t>(2) Compute </a:t>
                </a:r>
                <a14:m>
                  <m:oMath xmlns:m="http://schemas.openxmlformats.org/officeDocument/2006/math">
                    <m:sSup>
                      <m:sSupPr>
                        <m:ctrlPr>
                          <a:rPr lang="en-US" altLang="zh-CN" sz="1400" i="1" smtClean="0">
                            <a:latin typeface="Cambria Math" panose="02040503050406030204" pitchFamily="18" charset="0"/>
                          </a:rPr>
                        </m:ctrlPr>
                      </m:sSupPr>
                      <m:e>
                        <m:r>
                          <a:rPr lang="en-US" altLang="zh-CN" sz="1400" b="0" i="1" smtClean="0">
                            <a:latin typeface="Cambria Math" panose="02040503050406030204" pitchFamily="18" charset="0"/>
                          </a:rPr>
                          <m:t>𝑋</m:t>
                        </m:r>
                      </m:e>
                      <m:sup>
                        <m:r>
                          <a:rPr lang="en-US" altLang="zh-CN" sz="1400" b="0" i="1" smtClean="0">
                            <a:latin typeface="Cambria Math" panose="02040503050406030204" pitchFamily="18" charset="0"/>
                          </a:rPr>
                          <m:t>+</m:t>
                        </m:r>
                      </m:sup>
                    </m:sSup>
                  </m:oMath>
                </a14:m>
                <a:r>
                  <a:rPr lang="en-US" altLang="zh-CN" sz="1400" dirty="0"/>
                  <a:t>, if </a:t>
                </a:r>
                <a14:m>
                  <m:oMath xmlns:m="http://schemas.openxmlformats.org/officeDocument/2006/math">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𝑋</m:t>
                        </m:r>
                      </m:e>
                      <m:sup>
                        <m:r>
                          <a:rPr lang="en-US" altLang="zh-CN" sz="1400" i="1">
                            <a:latin typeface="Cambria Math" panose="02040503050406030204" pitchFamily="18" charset="0"/>
                          </a:rPr>
                          <m:t>+</m:t>
                        </m:r>
                      </m:sup>
                    </m:sSup>
                  </m:oMath>
                </a14:m>
                <a:r>
                  <a:rPr lang="en-US" altLang="zh-CN" sz="1400" dirty="0"/>
                  <a:t> contains all attributes of H, then X is the only candidate key for H, then goes to (5); otherwise goes to (3)</a:t>
                </a:r>
              </a:p>
              <a:p>
                <a:pPr marL="457200" lvl="1" indent="0">
                  <a:spcBef>
                    <a:spcPts val="600"/>
                  </a:spcBef>
                  <a:buNone/>
                </a:pPr>
                <a:r>
                  <a:rPr lang="en-US" altLang="zh-CN" sz="1400" dirty="0"/>
                  <a:t>(3) Take attribute A from Y, compute </a:t>
                </a:r>
                <a14:m>
                  <m:oMath xmlns:m="http://schemas.openxmlformats.org/officeDocument/2006/math">
                    <m:sSup>
                      <m:sSupPr>
                        <m:ctrlPr>
                          <a:rPr lang="en-US" altLang="zh-CN" sz="1400" i="1" smtClean="0">
                            <a:latin typeface="Cambria Math" panose="02040503050406030204" pitchFamily="18" charset="0"/>
                          </a:rPr>
                        </m:ctrlPr>
                      </m:sSupPr>
                      <m:e>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𝑋𝐴</m:t>
                        </m:r>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m:t>
                        </m:r>
                      </m:sup>
                    </m:sSup>
                  </m:oMath>
                </a14:m>
                <a:r>
                  <a:rPr lang="en-US" altLang="zh-CN" sz="1400" dirty="0"/>
                  <a:t>. If </a:t>
                </a:r>
                <a14:m>
                  <m:oMath xmlns:m="http://schemas.openxmlformats.org/officeDocument/2006/math">
                    <m:sSup>
                      <m:sSupPr>
                        <m:ctrlPr>
                          <a:rPr lang="en-US" altLang="zh-CN" sz="1400" i="1">
                            <a:latin typeface="Cambria Math" panose="02040503050406030204" pitchFamily="18" charset="0"/>
                          </a:rPr>
                        </m:ctrlPr>
                      </m:sSupPr>
                      <m:e>
                        <m:r>
                          <a:rPr lang="en-US" altLang="zh-CN" sz="1400" i="1">
                            <a:latin typeface="Cambria Math" panose="02040503050406030204" pitchFamily="18" charset="0"/>
                          </a:rPr>
                          <m:t>(</m:t>
                        </m:r>
                        <m:r>
                          <a:rPr lang="en-US" altLang="zh-CN" sz="1400" i="1">
                            <a:latin typeface="Cambria Math" panose="02040503050406030204" pitchFamily="18" charset="0"/>
                          </a:rPr>
                          <m:t>𝑋𝐴</m:t>
                        </m:r>
                        <m:r>
                          <a:rPr lang="en-US" altLang="zh-CN" sz="1400" i="1">
                            <a:latin typeface="Cambria Math" panose="02040503050406030204" pitchFamily="18" charset="0"/>
                          </a:rPr>
                          <m:t>)</m:t>
                        </m:r>
                      </m:e>
                      <m:sup>
                        <m:r>
                          <a:rPr lang="en-US" altLang="zh-CN" sz="1400" i="1">
                            <a:latin typeface="Cambria Math" panose="02040503050406030204" pitchFamily="18" charset="0"/>
                          </a:rPr>
                          <m:t>+</m:t>
                        </m:r>
                      </m:sup>
                    </m:sSup>
                  </m:oMath>
                </a14:m>
                <a:r>
                  <a:rPr lang="en-US" altLang="zh-CN" sz="1400" dirty="0"/>
                  <a:t> contains all attributes of H, then XA is a candidate key for H. Then take another attribute from Y, continue with the process until all attributes in Y are tested</a:t>
                </a:r>
              </a:p>
              <a:p>
                <a:pPr marL="457200" lvl="1" indent="0">
                  <a:spcBef>
                    <a:spcPts val="600"/>
                  </a:spcBef>
                  <a:buNone/>
                </a:pPr>
                <a:r>
                  <a:rPr lang="en-US" altLang="zh-CN" sz="1400" dirty="0"/>
                  <a:t>(4) If all candidate keys are found in step (3), then goes to (5); otherwise take 2 or 3 or more attributes from Y, and compute the corresponding attribute closure (the attribute group should not contain any candidate keys already found), till the attribute closure contains all attributes of H</a:t>
                </a:r>
              </a:p>
              <a:p>
                <a:pPr marL="457200" lvl="1" indent="0">
                  <a:spcBef>
                    <a:spcPts val="600"/>
                  </a:spcBef>
                  <a:buNone/>
                </a:pPr>
                <a:r>
                  <a:rPr lang="en-US" altLang="zh-CN" sz="1400" dirty="0"/>
                  <a:t>(5) Finish and output the result</a:t>
                </a:r>
              </a:p>
            </p:txBody>
          </p:sp>
        </mc:Choice>
        <mc:Fallback xmlns="">
          <p:sp>
            <p:nvSpPr>
              <p:cNvPr id="3" name="内容占位符 2">
                <a:extLst>
                  <a:ext uri="{FF2B5EF4-FFF2-40B4-BE49-F238E27FC236}">
                    <a16:creationId xmlns:a16="http://schemas.microsoft.com/office/drawing/2014/main" id="{52D25118-0B3E-424C-A1EB-F6EDE505071A}"/>
                  </a:ext>
                </a:extLst>
              </p:cNvPr>
              <p:cNvSpPr>
                <a:spLocks noGrp="1" noRot="1" noChangeAspect="1" noMove="1" noResize="1" noEditPoints="1" noAdjustHandles="1" noChangeArrowheads="1" noChangeShapeType="1" noTextEdit="1"/>
              </p:cNvSpPr>
              <p:nvPr>
                <p:ph idx="1"/>
              </p:nvPr>
            </p:nvSpPr>
            <p:spPr>
              <a:xfrm>
                <a:off x="179512" y="699542"/>
                <a:ext cx="8568952" cy="3805070"/>
              </a:xfrm>
              <a:blipFill>
                <a:blip r:embed="rId2"/>
                <a:stretch>
                  <a:fillRect l="-427" t="-962" r="-6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848744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FA1F74-0786-4D9E-B2B6-67C602DCF471}"/>
              </a:ext>
            </a:extLst>
          </p:cNvPr>
          <p:cNvSpPr>
            <a:spLocks noGrp="1"/>
          </p:cNvSpPr>
          <p:nvPr>
            <p:ph type="title"/>
          </p:nvPr>
        </p:nvSpPr>
        <p:spPr>
          <a:xfrm>
            <a:off x="14807" y="-38541"/>
            <a:ext cx="9144000" cy="637580"/>
          </a:xfrm>
        </p:spPr>
        <p:txBody>
          <a:bodyPr/>
          <a:lstStyle/>
          <a:p>
            <a:pPr algn="ctr"/>
            <a:r>
              <a:rPr lang="en-US" altLang="zh-CN" dirty="0"/>
              <a:t>Find Candidate Keys (Cont.)</a:t>
            </a:r>
            <a:endParaRPr lang="zh-CN" altLang="en-US" dirty="0"/>
          </a:p>
        </p:txBody>
      </p:sp>
      <p:sp>
        <p:nvSpPr>
          <p:cNvPr id="3" name="内容占位符 2">
            <a:extLst>
              <a:ext uri="{FF2B5EF4-FFF2-40B4-BE49-F238E27FC236}">
                <a16:creationId xmlns:a16="http://schemas.microsoft.com/office/drawing/2014/main" id="{AB4B1D22-E8D7-4628-BA4C-1551DB9466A4}"/>
              </a:ext>
            </a:extLst>
          </p:cNvPr>
          <p:cNvSpPr>
            <a:spLocks noGrp="1"/>
          </p:cNvSpPr>
          <p:nvPr>
            <p:ph idx="1"/>
          </p:nvPr>
        </p:nvSpPr>
        <p:spPr>
          <a:xfrm>
            <a:off x="266327" y="771550"/>
            <a:ext cx="8568952" cy="3805070"/>
          </a:xfrm>
        </p:spPr>
        <p:txBody>
          <a:bodyPr/>
          <a:lstStyle/>
          <a:p>
            <a:pPr>
              <a:spcBef>
                <a:spcPts val="1200"/>
              </a:spcBef>
            </a:pPr>
            <a:r>
              <a:rPr lang="en-US" altLang="zh-CN" sz="1600" dirty="0"/>
              <a:t>Given R&lt;U, F&gt;, U={X, Y, Z, W}, and F={W→Y, Y→W, X→WY, Z→WY, XZ→W}, find all candidate keys of R </a:t>
            </a:r>
          </a:p>
          <a:p>
            <a:pPr marL="800100" lvl="1" indent="-342900">
              <a:spcBef>
                <a:spcPts val="1200"/>
              </a:spcBef>
              <a:buFont typeface="+mj-lt"/>
              <a:buAutoNum type="alphaLcParenR"/>
            </a:pPr>
            <a:r>
              <a:rPr lang="en-US" altLang="zh-CN" sz="1400" dirty="0"/>
              <a:t>F</a:t>
            </a:r>
            <a:r>
              <a:rPr lang="en-US" altLang="zh-CN" sz="1400" baseline="-25000" dirty="0"/>
              <a:t>c</a:t>
            </a:r>
            <a:r>
              <a:rPr lang="en-US" altLang="zh-CN" sz="1400" dirty="0"/>
              <a:t>={W→Y, Y→W, X→Y, Z→Y} </a:t>
            </a:r>
          </a:p>
          <a:p>
            <a:pPr marL="800100" lvl="1" indent="-342900">
              <a:spcBef>
                <a:spcPts val="1200"/>
              </a:spcBef>
              <a:buFont typeface="+mj-lt"/>
              <a:buAutoNum type="alphaLcParenR"/>
            </a:pPr>
            <a:r>
              <a:rPr lang="en-US" altLang="zh-CN" sz="1400" dirty="0"/>
              <a:t>X</a:t>
            </a:r>
            <a:r>
              <a:rPr lang="en-US" altLang="zh-CN" sz="1400" baseline="-25000" dirty="0"/>
              <a:t>LN</a:t>
            </a:r>
            <a:r>
              <a:rPr lang="en-US" altLang="zh-CN" sz="1400" dirty="0"/>
              <a:t>=X</a:t>
            </a:r>
            <a:r>
              <a:rPr lang="en-US" altLang="zh-CN" sz="1400" baseline="-25000" dirty="0"/>
              <a:t>L</a:t>
            </a:r>
            <a:r>
              <a:rPr lang="en-US" altLang="zh-CN" sz="1400" dirty="0"/>
              <a:t>=XZ</a:t>
            </a:r>
            <a:r>
              <a:rPr lang="zh-CN" altLang="en-US" sz="1400" dirty="0"/>
              <a:t>，</a:t>
            </a:r>
            <a:r>
              <a:rPr lang="en-US" altLang="zh-CN" sz="1400" dirty="0"/>
              <a:t>Y</a:t>
            </a:r>
            <a:r>
              <a:rPr lang="en-US" altLang="zh-CN" sz="1400" baseline="-25000" dirty="0"/>
              <a:t>LR</a:t>
            </a:r>
            <a:r>
              <a:rPr lang="en-US" altLang="zh-CN" sz="1400" dirty="0"/>
              <a:t>=YW</a:t>
            </a:r>
          </a:p>
          <a:p>
            <a:pPr marL="800100" lvl="1" indent="-342900">
              <a:spcBef>
                <a:spcPts val="1200"/>
              </a:spcBef>
              <a:buFont typeface="+mj-lt"/>
              <a:buAutoNum type="alphaLcParenR"/>
            </a:pPr>
            <a:r>
              <a:rPr lang="en-US" altLang="zh-CN" sz="1400" dirty="0"/>
              <a:t>X</a:t>
            </a:r>
            <a:r>
              <a:rPr lang="en-US" altLang="zh-CN" sz="1400" baseline="-25000" dirty="0"/>
              <a:t>LN</a:t>
            </a:r>
            <a:r>
              <a:rPr lang="en-US" altLang="zh-CN" sz="1400" baseline="30000" dirty="0"/>
              <a:t>+</a:t>
            </a:r>
            <a:r>
              <a:rPr lang="en-US" altLang="zh-CN" sz="1400" dirty="0"/>
              <a:t>={X,Y,Z,W}=U</a:t>
            </a:r>
            <a:r>
              <a:rPr lang="zh-CN" altLang="en-US" sz="1400" dirty="0"/>
              <a:t>，</a:t>
            </a:r>
            <a:r>
              <a:rPr lang="en-US" altLang="zh-CN" sz="1400" dirty="0"/>
              <a:t>so (XZ) is the only candidate key of R</a:t>
            </a:r>
          </a:p>
          <a:p>
            <a:pPr>
              <a:spcBef>
                <a:spcPts val="1200"/>
              </a:spcBef>
            </a:pPr>
            <a:endParaRPr lang="zh-CN" altLang="en-US" sz="1600" dirty="0"/>
          </a:p>
        </p:txBody>
      </p:sp>
    </p:spTree>
    <p:extLst>
      <p:ext uri="{BB962C8B-B14F-4D97-AF65-F5344CB8AC3E}">
        <p14:creationId xmlns:p14="http://schemas.microsoft.com/office/powerpoint/2010/main" val="5670100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B22628-7A14-4E5D-A7D5-B0DB8CAEBE66}"/>
              </a:ext>
            </a:extLst>
          </p:cNvPr>
          <p:cNvSpPr>
            <a:spLocks noGrp="1"/>
          </p:cNvSpPr>
          <p:nvPr>
            <p:ph type="title"/>
          </p:nvPr>
        </p:nvSpPr>
        <p:spPr/>
        <p:txBody>
          <a:bodyPr/>
          <a:lstStyle/>
          <a:p>
            <a:pPr algn="ctr"/>
            <a:r>
              <a:rPr lang="en-US" altLang="zh-CN" dirty="0"/>
              <a:t>Find Candidate Keys (Cont.)</a:t>
            </a:r>
            <a:endParaRPr lang="zh-CN" altLang="en-US" dirty="0"/>
          </a:p>
        </p:txBody>
      </p:sp>
      <p:sp>
        <p:nvSpPr>
          <p:cNvPr id="3" name="内容占位符 2">
            <a:extLst>
              <a:ext uri="{FF2B5EF4-FFF2-40B4-BE49-F238E27FC236}">
                <a16:creationId xmlns:a16="http://schemas.microsoft.com/office/drawing/2014/main" id="{4940FCD0-52EC-4351-BC40-A70347603DD2}"/>
              </a:ext>
            </a:extLst>
          </p:cNvPr>
          <p:cNvSpPr>
            <a:spLocks noGrp="1"/>
          </p:cNvSpPr>
          <p:nvPr>
            <p:ph idx="1"/>
          </p:nvPr>
        </p:nvSpPr>
        <p:spPr>
          <a:xfrm>
            <a:off x="251520" y="789553"/>
            <a:ext cx="8424936" cy="3805070"/>
          </a:xfrm>
        </p:spPr>
        <p:txBody>
          <a:bodyPr/>
          <a:lstStyle/>
          <a:p>
            <a:pPr>
              <a:spcBef>
                <a:spcPts val="1200"/>
              </a:spcBef>
            </a:pPr>
            <a:r>
              <a:rPr lang="en-US" altLang="zh-CN" sz="1800" dirty="0"/>
              <a:t>Given R&lt;U,F&gt;, U={A,B,C,D}, and F={AB→C, C→D, D→A}, find all candidate keys of R</a:t>
            </a:r>
          </a:p>
          <a:p>
            <a:pPr marL="800100" lvl="1" indent="-342900">
              <a:spcBef>
                <a:spcPts val="1200"/>
              </a:spcBef>
              <a:buFont typeface="+mj-lt"/>
              <a:buAutoNum type="alphaLcParenR"/>
            </a:pPr>
            <a:r>
              <a:rPr lang="en-US" altLang="zh-CN" sz="1600" dirty="0"/>
              <a:t>F</a:t>
            </a:r>
            <a:r>
              <a:rPr lang="en-US" altLang="zh-CN" sz="1600" baseline="-25000" dirty="0"/>
              <a:t>c</a:t>
            </a:r>
            <a:r>
              <a:rPr lang="en-US" altLang="zh-CN" sz="1600" dirty="0"/>
              <a:t>={AB→C, C→D, D→A} </a:t>
            </a:r>
          </a:p>
          <a:p>
            <a:pPr marL="800100" lvl="1" indent="-342900">
              <a:spcBef>
                <a:spcPts val="1200"/>
              </a:spcBef>
              <a:buFont typeface="+mj-lt"/>
              <a:buAutoNum type="alphaLcParenR"/>
            </a:pPr>
            <a:r>
              <a:rPr lang="en-US" altLang="zh-CN" sz="1600" dirty="0"/>
              <a:t>X</a:t>
            </a:r>
            <a:r>
              <a:rPr lang="en-US" altLang="zh-CN" sz="1600" baseline="-25000" dirty="0"/>
              <a:t>LN</a:t>
            </a:r>
            <a:r>
              <a:rPr lang="en-US" altLang="zh-CN" sz="1600" dirty="0"/>
              <a:t>=X</a:t>
            </a:r>
            <a:r>
              <a:rPr lang="en-US" altLang="zh-CN" sz="1600" baseline="-25000" dirty="0"/>
              <a:t>L</a:t>
            </a:r>
            <a:r>
              <a:rPr lang="en-US" altLang="zh-CN" sz="1600" dirty="0"/>
              <a:t>=B</a:t>
            </a:r>
            <a:r>
              <a:rPr lang="zh-CN" altLang="en-US" sz="1600" dirty="0"/>
              <a:t>，</a:t>
            </a:r>
            <a:r>
              <a:rPr lang="en-US" altLang="zh-CN" sz="1600" dirty="0"/>
              <a:t>Y</a:t>
            </a:r>
            <a:r>
              <a:rPr lang="en-US" altLang="zh-CN" sz="1600" baseline="-25000" dirty="0"/>
              <a:t>LR</a:t>
            </a:r>
            <a:r>
              <a:rPr lang="en-US" altLang="zh-CN" sz="1600" dirty="0"/>
              <a:t>=ACD</a:t>
            </a:r>
          </a:p>
          <a:p>
            <a:pPr marL="800100" lvl="1" indent="-342900">
              <a:spcBef>
                <a:spcPts val="1200"/>
              </a:spcBef>
              <a:buFont typeface="+mj-lt"/>
              <a:buAutoNum type="alphaLcParenR"/>
            </a:pPr>
            <a:r>
              <a:rPr lang="en-US" altLang="zh-CN" sz="1600" dirty="0"/>
              <a:t>X</a:t>
            </a:r>
            <a:r>
              <a:rPr lang="en-US" altLang="zh-CN" sz="1600" baseline="-25000" dirty="0"/>
              <a:t>LN</a:t>
            </a:r>
            <a:r>
              <a:rPr lang="en-US" altLang="zh-CN" sz="1600" baseline="30000" dirty="0"/>
              <a:t>+</a:t>
            </a:r>
            <a:r>
              <a:rPr lang="en-US" altLang="zh-CN" sz="1600" dirty="0"/>
              <a:t>={B}≠U</a:t>
            </a:r>
          </a:p>
          <a:p>
            <a:pPr marL="800100" lvl="1" indent="-342900">
              <a:spcBef>
                <a:spcPts val="1200"/>
              </a:spcBef>
              <a:buFont typeface="+mj-lt"/>
              <a:buAutoNum type="alphaLcParenR"/>
            </a:pPr>
            <a:r>
              <a:rPr lang="en-US" altLang="zh-CN" sz="1600" dirty="0"/>
              <a:t>(AB)</a:t>
            </a:r>
            <a:r>
              <a:rPr lang="en-US" altLang="zh-CN" sz="1600" baseline="30000" dirty="0"/>
              <a:t>+</a:t>
            </a:r>
            <a:r>
              <a:rPr lang="en-US" altLang="zh-CN" sz="1600" dirty="0"/>
              <a:t>={ABCD}=U, (BC)</a:t>
            </a:r>
            <a:r>
              <a:rPr lang="en-US" altLang="zh-CN" sz="1600" baseline="30000" dirty="0"/>
              <a:t>+</a:t>
            </a:r>
            <a:r>
              <a:rPr lang="en-US" altLang="zh-CN" sz="1600" dirty="0"/>
              <a:t>={ABCD}=U, (BD)</a:t>
            </a:r>
            <a:r>
              <a:rPr lang="en-US" altLang="zh-CN" sz="1600" baseline="30000" dirty="0"/>
              <a:t>+</a:t>
            </a:r>
            <a:r>
              <a:rPr lang="en-US" altLang="zh-CN" sz="1600" dirty="0"/>
              <a:t>={ABCD}=U,  then (AB)</a:t>
            </a:r>
            <a:r>
              <a:rPr lang="zh-CN" altLang="en-US" sz="1600" dirty="0"/>
              <a:t>、</a:t>
            </a:r>
            <a:r>
              <a:rPr lang="en-US" altLang="zh-CN" sz="1600" dirty="0"/>
              <a:t>(BC)</a:t>
            </a:r>
            <a:r>
              <a:rPr lang="zh-CN" altLang="en-US" sz="1600" dirty="0"/>
              <a:t>、</a:t>
            </a:r>
            <a:r>
              <a:rPr lang="en-US" altLang="zh-CN" sz="1600" dirty="0"/>
              <a:t>(BD) are all candidate keys of R</a:t>
            </a:r>
          </a:p>
          <a:p>
            <a:pPr marL="0" indent="0">
              <a:spcBef>
                <a:spcPts val="1200"/>
              </a:spcBef>
              <a:buNone/>
            </a:pPr>
            <a:endParaRPr lang="zh-CN" altLang="en-US" sz="1800" dirty="0"/>
          </a:p>
        </p:txBody>
      </p:sp>
    </p:spTree>
    <p:extLst>
      <p:ext uri="{BB962C8B-B14F-4D97-AF65-F5344CB8AC3E}">
        <p14:creationId xmlns:p14="http://schemas.microsoft.com/office/powerpoint/2010/main" val="636955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E79B1F-1C03-4E3C-A049-339240906B46}"/>
              </a:ext>
            </a:extLst>
          </p:cNvPr>
          <p:cNvSpPr>
            <a:spLocks noGrp="1"/>
          </p:cNvSpPr>
          <p:nvPr>
            <p:ph type="title"/>
          </p:nvPr>
        </p:nvSpPr>
        <p:spPr/>
        <p:txBody>
          <a:bodyPr/>
          <a:lstStyle/>
          <a:p>
            <a:pPr algn="ctr"/>
            <a:r>
              <a:rPr lang="en-US" altLang="zh-CN" dirty="0"/>
              <a:t>Find Candidate Keys (Cont.)</a:t>
            </a:r>
            <a:endParaRPr lang="zh-CN" altLang="en-US" dirty="0"/>
          </a:p>
        </p:txBody>
      </p:sp>
      <p:sp>
        <p:nvSpPr>
          <p:cNvPr id="3" name="内容占位符 2">
            <a:extLst>
              <a:ext uri="{FF2B5EF4-FFF2-40B4-BE49-F238E27FC236}">
                <a16:creationId xmlns:a16="http://schemas.microsoft.com/office/drawing/2014/main" id="{3034D2EC-EDE4-4DD2-8FBF-985CEB13A028}"/>
              </a:ext>
            </a:extLst>
          </p:cNvPr>
          <p:cNvSpPr>
            <a:spLocks noGrp="1"/>
          </p:cNvSpPr>
          <p:nvPr>
            <p:ph idx="1"/>
          </p:nvPr>
        </p:nvSpPr>
        <p:spPr/>
        <p:txBody>
          <a:bodyPr/>
          <a:lstStyle/>
          <a:p>
            <a:pPr>
              <a:spcBef>
                <a:spcPts val="600"/>
              </a:spcBef>
            </a:pPr>
            <a:r>
              <a:rPr lang="en-US" altLang="zh-CN" sz="1800" dirty="0"/>
              <a:t>Given R&lt;U,F&gt;, U={OBISQD}, F={S→D, D→S, I→B, B→I, B→O, O→B}, find all candidate keys of R  </a:t>
            </a:r>
          </a:p>
          <a:p>
            <a:pPr marL="457200" lvl="1" indent="0">
              <a:spcBef>
                <a:spcPts val="600"/>
              </a:spcBef>
              <a:buNone/>
            </a:pPr>
            <a:r>
              <a:rPr lang="en-US" altLang="zh-CN" sz="1600" dirty="0"/>
              <a:t>(1) F</a:t>
            </a:r>
            <a:r>
              <a:rPr lang="en-US" altLang="zh-CN" sz="1600" baseline="-25000" dirty="0"/>
              <a:t>c</a:t>
            </a:r>
            <a:r>
              <a:rPr lang="en-US" altLang="zh-CN" sz="1600" dirty="0"/>
              <a:t>= { </a:t>
            </a:r>
            <a:r>
              <a:rPr lang="zh-CN" altLang="en-US" sz="1600" dirty="0"/>
              <a:t>？</a:t>
            </a:r>
            <a:r>
              <a:rPr lang="en-US" altLang="zh-CN" sz="1600" dirty="0"/>
              <a:t>}</a:t>
            </a:r>
          </a:p>
          <a:p>
            <a:pPr marL="457200" lvl="1" indent="0">
              <a:spcBef>
                <a:spcPts val="600"/>
              </a:spcBef>
              <a:buNone/>
            </a:pPr>
            <a:r>
              <a:rPr lang="en-US" altLang="zh-CN" sz="1600" dirty="0"/>
              <a:t>(2) X</a:t>
            </a:r>
            <a:r>
              <a:rPr lang="en-US" altLang="zh-CN" sz="1600" baseline="-25000" dirty="0"/>
              <a:t>LN</a:t>
            </a:r>
            <a:r>
              <a:rPr lang="en-US" altLang="zh-CN" sz="1600" dirty="0"/>
              <a:t>= </a:t>
            </a:r>
            <a:r>
              <a:rPr lang="zh-CN" altLang="en-US" sz="1600" dirty="0"/>
              <a:t>？，</a:t>
            </a:r>
            <a:r>
              <a:rPr lang="en-US" altLang="zh-CN" sz="1600" dirty="0"/>
              <a:t>Y</a:t>
            </a:r>
            <a:r>
              <a:rPr lang="en-US" altLang="zh-CN" sz="1600" baseline="-25000" dirty="0"/>
              <a:t>LR</a:t>
            </a:r>
            <a:r>
              <a:rPr lang="en-US" altLang="zh-CN" sz="1600" dirty="0"/>
              <a:t>= </a:t>
            </a:r>
            <a:r>
              <a:rPr lang="zh-CN" altLang="en-US" sz="1600" dirty="0"/>
              <a:t>？</a:t>
            </a:r>
          </a:p>
          <a:p>
            <a:pPr marL="457200" lvl="1" indent="0">
              <a:spcBef>
                <a:spcPts val="600"/>
              </a:spcBef>
              <a:buNone/>
            </a:pPr>
            <a:r>
              <a:rPr lang="en-US" altLang="zh-CN" sz="1600" dirty="0"/>
              <a:t>(3) X</a:t>
            </a:r>
            <a:r>
              <a:rPr lang="en-US" altLang="zh-CN" sz="1600" baseline="-25000" dirty="0"/>
              <a:t>LN</a:t>
            </a:r>
            <a:r>
              <a:rPr lang="en-US" altLang="zh-CN" sz="1600" baseline="30000" dirty="0"/>
              <a:t>+</a:t>
            </a:r>
            <a:r>
              <a:rPr lang="en-US" altLang="zh-CN" sz="1600" dirty="0"/>
              <a:t>={ </a:t>
            </a:r>
            <a:r>
              <a:rPr lang="zh-CN" altLang="en-US" sz="1600" dirty="0"/>
              <a:t>？</a:t>
            </a:r>
            <a:r>
              <a:rPr lang="en-US" altLang="zh-CN" sz="1600" dirty="0"/>
              <a:t>}</a:t>
            </a:r>
          </a:p>
          <a:p>
            <a:pPr marL="457200" lvl="1" indent="0">
              <a:spcBef>
                <a:spcPts val="600"/>
              </a:spcBef>
              <a:buNone/>
            </a:pPr>
            <a:r>
              <a:rPr lang="en-US" altLang="zh-CN" sz="1600" dirty="0"/>
              <a:t>(4) … </a:t>
            </a:r>
          </a:p>
          <a:p>
            <a:pPr marL="457200" lvl="1" indent="0">
              <a:spcBef>
                <a:spcPts val="600"/>
              </a:spcBef>
              <a:buNone/>
            </a:pPr>
            <a:endParaRPr lang="zh-CN" altLang="en-US" sz="1600" dirty="0"/>
          </a:p>
        </p:txBody>
      </p:sp>
    </p:spTree>
    <p:extLst>
      <p:ext uri="{BB962C8B-B14F-4D97-AF65-F5344CB8AC3E}">
        <p14:creationId xmlns:p14="http://schemas.microsoft.com/office/powerpoint/2010/main" val="2190984590"/>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4A0605-5548-4E0E-A936-C006C0E4BB80}"/>
              </a:ext>
            </a:extLst>
          </p:cNvPr>
          <p:cNvSpPr>
            <a:spLocks noGrp="1"/>
          </p:cNvSpPr>
          <p:nvPr>
            <p:ph type="title"/>
          </p:nvPr>
        </p:nvSpPr>
        <p:spPr/>
        <p:txBody>
          <a:bodyPr/>
          <a:lstStyle/>
          <a:p>
            <a:pPr algn="ctr"/>
            <a:r>
              <a:rPr lang="en-US" altLang="zh-CN" dirty="0"/>
              <a:t>Find Candidate Keys (Cont.)</a:t>
            </a:r>
            <a:endParaRPr lang="zh-CN" altLang="en-US" dirty="0"/>
          </a:p>
        </p:txBody>
      </p:sp>
      <p:sp>
        <p:nvSpPr>
          <p:cNvPr id="3" name="内容占位符 2">
            <a:extLst>
              <a:ext uri="{FF2B5EF4-FFF2-40B4-BE49-F238E27FC236}">
                <a16:creationId xmlns:a16="http://schemas.microsoft.com/office/drawing/2014/main" id="{224EF68D-6462-45FB-9AFC-CC795023ABA7}"/>
              </a:ext>
            </a:extLst>
          </p:cNvPr>
          <p:cNvSpPr>
            <a:spLocks noGrp="1"/>
          </p:cNvSpPr>
          <p:nvPr>
            <p:ph idx="1"/>
          </p:nvPr>
        </p:nvSpPr>
        <p:spPr>
          <a:xfrm>
            <a:off x="222004" y="843557"/>
            <a:ext cx="8814491" cy="3630727"/>
          </a:xfrm>
        </p:spPr>
        <p:txBody>
          <a:bodyPr/>
          <a:lstStyle/>
          <a:p>
            <a:pPr>
              <a:spcBef>
                <a:spcPts val="600"/>
              </a:spcBef>
            </a:pPr>
            <a:r>
              <a:rPr lang="en-US" altLang="zh-CN" sz="1800" dirty="0"/>
              <a:t>Given R&lt;U,F&gt;, U={OBISQD}, F={S→D, D→S, I→B, B→I, B→O, O→B}, find all candidate keys of R </a:t>
            </a:r>
          </a:p>
          <a:p>
            <a:pPr marL="457200" lvl="1" indent="0">
              <a:spcBef>
                <a:spcPts val="600"/>
              </a:spcBef>
              <a:buNone/>
            </a:pPr>
            <a:r>
              <a:rPr lang="en-US" altLang="zh-CN" sz="1400" dirty="0"/>
              <a:t>(1) F</a:t>
            </a:r>
            <a:r>
              <a:rPr lang="en-US" altLang="zh-CN" sz="1400" baseline="-25000" dirty="0"/>
              <a:t>c</a:t>
            </a:r>
            <a:r>
              <a:rPr lang="en-US" altLang="zh-CN" sz="1400" dirty="0"/>
              <a:t>={S→D, D→S, I→B, B→IO, O→B}</a:t>
            </a:r>
          </a:p>
          <a:p>
            <a:pPr marL="457200" lvl="1" indent="0">
              <a:spcBef>
                <a:spcPts val="600"/>
              </a:spcBef>
              <a:buNone/>
            </a:pPr>
            <a:r>
              <a:rPr lang="en-US" altLang="zh-CN" sz="1400" dirty="0"/>
              <a:t>(2) X</a:t>
            </a:r>
            <a:r>
              <a:rPr lang="en-US" altLang="zh-CN" sz="1400" baseline="-25000" dirty="0"/>
              <a:t>LN</a:t>
            </a:r>
            <a:r>
              <a:rPr lang="en-US" altLang="zh-CN" sz="1400" dirty="0"/>
              <a:t>= Q</a:t>
            </a:r>
            <a:r>
              <a:rPr lang="zh-CN" altLang="en-US" sz="1400" dirty="0"/>
              <a:t>，</a:t>
            </a:r>
            <a:r>
              <a:rPr lang="en-US" altLang="zh-CN" sz="1400" dirty="0"/>
              <a:t>Y</a:t>
            </a:r>
            <a:r>
              <a:rPr lang="en-US" altLang="zh-CN" sz="1400" baseline="-25000" dirty="0"/>
              <a:t>LR</a:t>
            </a:r>
            <a:r>
              <a:rPr lang="en-US" altLang="zh-CN" sz="1400" dirty="0"/>
              <a:t>= SDBIO</a:t>
            </a:r>
          </a:p>
          <a:p>
            <a:pPr marL="457200" lvl="1" indent="0">
              <a:spcBef>
                <a:spcPts val="600"/>
              </a:spcBef>
              <a:buNone/>
            </a:pPr>
            <a:r>
              <a:rPr lang="en-US" altLang="zh-CN" sz="1400" dirty="0"/>
              <a:t>(3) X</a:t>
            </a:r>
            <a:r>
              <a:rPr lang="en-US" altLang="zh-CN" sz="1400" baseline="-25000" dirty="0"/>
              <a:t>LN</a:t>
            </a:r>
            <a:r>
              <a:rPr lang="en-US" altLang="zh-CN" sz="1400" baseline="30000" dirty="0"/>
              <a:t>+</a:t>
            </a:r>
            <a:r>
              <a:rPr lang="en-US" altLang="zh-CN" sz="1400" dirty="0"/>
              <a:t>={Q} ≠U</a:t>
            </a:r>
          </a:p>
          <a:p>
            <a:pPr marL="457200" lvl="1" indent="0">
              <a:spcBef>
                <a:spcPts val="600"/>
              </a:spcBef>
              <a:buNone/>
            </a:pPr>
            <a:r>
              <a:rPr lang="en-US" altLang="zh-CN" sz="1400" dirty="0"/>
              <a:t>(4)(QS)</a:t>
            </a:r>
            <a:r>
              <a:rPr lang="en-US" altLang="zh-CN" sz="1400" baseline="30000" dirty="0"/>
              <a:t>+</a:t>
            </a:r>
            <a:r>
              <a:rPr lang="en-US" altLang="zh-CN" sz="1400" dirty="0"/>
              <a:t>={QSD}, (QD)</a:t>
            </a:r>
            <a:r>
              <a:rPr lang="en-US" altLang="zh-CN" sz="1400" baseline="30000" dirty="0"/>
              <a:t>+</a:t>
            </a:r>
            <a:r>
              <a:rPr lang="en-US" altLang="zh-CN" sz="1400" dirty="0"/>
              <a:t>={QSD}, (QB)</a:t>
            </a:r>
            <a:r>
              <a:rPr lang="en-US" altLang="zh-CN" sz="1400" baseline="30000" dirty="0"/>
              <a:t>+</a:t>
            </a:r>
            <a:r>
              <a:rPr lang="en-US" altLang="zh-CN" sz="1400" dirty="0"/>
              <a:t>={QBIO}, (QI)</a:t>
            </a:r>
            <a:r>
              <a:rPr lang="en-US" altLang="zh-CN" sz="1400" baseline="30000" dirty="0"/>
              <a:t>+</a:t>
            </a:r>
            <a:r>
              <a:rPr lang="en-US" altLang="zh-CN" sz="1400" dirty="0"/>
              <a:t>={QBIO}, (QO)</a:t>
            </a:r>
            <a:r>
              <a:rPr lang="en-US" altLang="zh-CN" sz="1400" baseline="30000" dirty="0"/>
              <a:t>+</a:t>
            </a:r>
            <a:r>
              <a:rPr lang="en-US" altLang="zh-CN" sz="1400" dirty="0"/>
              <a:t>={QBIO}; ≠U</a:t>
            </a:r>
          </a:p>
          <a:p>
            <a:pPr marL="457200" lvl="1" indent="0">
              <a:spcBef>
                <a:spcPts val="600"/>
              </a:spcBef>
              <a:buNone/>
            </a:pPr>
            <a:r>
              <a:rPr lang="en-US" altLang="zh-CN" sz="1400" dirty="0"/>
              <a:t>  (QSO)</a:t>
            </a:r>
            <a:r>
              <a:rPr lang="en-US" altLang="zh-CN" sz="1400" baseline="30000" dirty="0"/>
              <a:t>+</a:t>
            </a:r>
            <a:r>
              <a:rPr lang="zh-CN" altLang="en-US" sz="1400" dirty="0"/>
              <a:t>、</a:t>
            </a:r>
            <a:r>
              <a:rPr lang="en-US" altLang="zh-CN" sz="1400" dirty="0"/>
              <a:t>(QSB)</a:t>
            </a:r>
            <a:r>
              <a:rPr lang="en-US" altLang="zh-CN" sz="1400" baseline="30000" dirty="0"/>
              <a:t>+</a:t>
            </a:r>
            <a:r>
              <a:rPr lang="zh-CN" altLang="en-US" sz="1400" dirty="0"/>
              <a:t>、</a:t>
            </a:r>
            <a:r>
              <a:rPr lang="en-US" altLang="zh-CN" sz="1400" dirty="0"/>
              <a:t>(QSI)</a:t>
            </a:r>
            <a:r>
              <a:rPr lang="en-US" altLang="zh-CN" sz="1400" baseline="30000" dirty="0"/>
              <a:t>+</a:t>
            </a:r>
            <a:r>
              <a:rPr lang="zh-CN" altLang="en-US" sz="1400" dirty="0"/>
              <a:t>、</a:t>
            </a:r>
            <a:r>
              <a:rPr lang="en-US" altLang="zh-CN" sz="1400" dirty="0"/>
              <a:t>(QSD)</a:t>
            </a:r>
            <a:r>
              <a:rPr lang="en-US" altLang="zh-CN" sz="1400" baseline="30000" dirty="0"/>
              <a:t>+</a:t>
            </a:r>
            <a:r>
              <a:rPr lang="en-US" altLang="zh-CN" sz="1400" dirty="0"/>
              <a:t> </a:t>
            </a:r>
            <a:r>
              <a:rPr lang="zh-CN" altLang="en-US" sz="1400" dirty="0"/>
              <a:t>、</a:t>
            </a:r>
            <a:r>
              <a:rPr lang="en-US" altLang="zh-CN" sz="1400" dirty="0"/>
              <a:t>(QDO)</a:t>
            </a:r>
            <a:r>
              <a:rPr lang="en-US" altLang="zh-CN" sz="1400" baseline="30000" dirty="0"/>
              <a:t>+</a:t>
            </a:r>
            <a:r>
              <a:rPr lang="zh-CN" altLang="en-US" sz="1400" dirty="0"/>
              <a:t>、</a:t>
            </a:r>
            <a:r>
              <a:rPr lang="en-US" altLang="zh-CN" sz="1400" dirty="0"/>
              <a:t>(QDB)</a:t>
            </a:r>
            <a:r>
              <a:rPr lang="en-US" altLang="zh-CN" sz="1400" baseline="30000" dirty="0"/>
              <a:t>+</a:t>
            </a:r>
            <a:r>
              <a:rPr lang="zh-CN" altLang="en-US" sz="1400" dirty="0"/>
              <a:t>、</a:t>
            </a:r>
            <a:r>
              <a:rPr lang="en-US" altLang="zh-CN" sz="1400" dirty="0"/>
              <a:t>(QDI)</a:t>
            </a:r>
            <a:r>
              <a:rPr lang="en-US" altLang="zh-CN" sz="1400" baseline="30000" dirty="0"/>
              <a:t>+</a:t>
            </a:r>
            <a:r>
              <a:rPr lang="en-US" altLang="zh-CN" sz="1400" dirty="0"/>
              <a:t> </a:t>
            </a:r>
            <a:r>
              <a:rPr lang="zh-CN" altLang="en-US" sz="1400" dirty="0"/>
              <a:t>、</a:t>
            </a:r>
            <a:r>
              <a:rPr lang="en-US" altLang="zh-CN" sz="1400" dirty="0"/>
              <a:t>(QDS)</a:t>
            </a:r>
            <a:r>
              <a:rPr lang="en-US" altLang="zh-CN" sz="1400" baseline="30000" dirty="0"/>
              <a:t>+</a:t>
            </a:r>
            <a:r>
              <a:rPr lang="zh-CN" altLang="en-US" sz="1400" dirty="0"/>
              <a:t>、</a:t>
            </a:r>
          </a:p>
          <a:p>
            <a:pPr marL="457200" lvl="1" indent="0">
              <a:spcBef>
                <a:spcPts val="600"/>
              </a:spcBef>
              <a:buNone/>
            </a:pPr>
            <a:r>
              <a:rPr lang="zh-CN" altLang="en-US" sz="1400" dirty="0"/>
              <a:t>  </a:t>
            </a:r>
            <a:r>
              <a:rPr lang="en-US" altLang="zh-CN" sz="1400" dirty="0"/>
              <a:t>(QBO)</a:t>
            </a:r>
            <a:r>
              <a:rPr lang="en-US" altLang="zh-CN" sz="1400" baseline="30000" dirty="0"/>
              <a:t>+</a:t>
            </a:r>
            <a:r>
              <a:rPr lang="zh-CN" altLang="en-US" sz="1400" dirty="0"/>
              <a:t>、</a:t>
            </a:r>
            <a:r>
              <a:rPr lang="en-US" altLang="zh-CN" sz="1400" dirty="0"/>
              <a:t>(QBI)</a:t>
            </a:r>
            <a:r>
              <a:rPr lang="en-US" altLang="zh-CN" sz="1400" baseline="30000" dirty="0"/>
              <a:t>+</a:t>
            </a:r>
            <a:r>
              <a:rPr lang="zh-CN" altLang="en-US" sz="1400" dirty="0"/>
              <a:t>、</a:t>
            </a:r>
            <a:r>
              <a:rPr lang="en-US" altLang="zh-CN" sz="1400" dirty="0"/>
              <a:t>(QBS)</a:t>
            </a:r>
            <a:r>
              <a:rPr lang="en-US" altLang="zh-CN" sz="1400" baseline="30000" dirty="0"/>
              <a:t>+</a:t>
            </a:r>
            <a:r>
              <a:rPr lang="zh-CN" altLang="en-US" sz="1400" dirty="0"/>
              <a:t>、</a:t>
            </a:r>
            <a:r>
              <a:rPr lang="en-US" altLang="zh-CN" sz="1400" dirty="0"/>
              <a:t>(QBD)</a:t>
            </a:r>
            <a:r>
              <a:rPr lang="en-US" altLang="zh-CN" sz="1400" baseline="30000" dirty="0"/>
              <a:t>+</a:t>
            </a:r>
            <a:r>
              <a:rPr lang="en-US" altLang="zh-CN" sz="1400" dirty="0"/>
              <a:t> </a:t>
            </a:r>
            <a:r>
              <a:rPr lang="zh-CN" altLang="en-US" sz="1400" dirty="0"/>
              <a:t>、</a:t>
            </a:r>
            <a:r>
              <a:rPr lang="en-US" altLang="zh-CN" sz="1400" dirty="0"/>
              <a:t>(QIO)</a:t>
            </a:r>
            <a:r>
              <a:rPr lang="en-US" altLang="zh-CN" sz="1400" baseline="30000" dirty="0"/>
              <a:t>+</a:t>
            </a:r>
            <a:r>
              <a:rPr lang="zh-CN" altLang="en-US" sz="1400" dirty="0"/>
              <a:t>、</a:t>
            </a:r>
            <a:r>
              <a:rPr lang="en-US" altLang="zh-CN" sz="1400" dirty="0"/>
              <a:t>(QIB)</a:t>
            </a:r>
            <a:r>
              <a:rPr lang="en-US" altLang="zh-CN" sz="1400" baseline="30000" dirty="0"/>
              <a:t>+</a:t>
            </a:r>
            <a:r>
              <a:rPr lang="zh-CN" altLang="en-US" sz="1400" dirty="0"/>
              <a:t>、</a:t>
            </a:r>
            <a:r>
              <a:rPr lang="en-US" altLang="zh-CN" sz="1400" dirty="0"/>
              <a:t>(QSI)</a:t>
            </a:r>
            <a:r>
              <a:rPr lang="en-US" altLang="zh-CN" sz="1400" baseline="30000" dirty="0"/>
              <a:t>+</a:t>
            </a:r>
            <a:r>
              <a:rPr lang="zh-CN" altLang="en-US" sz="1400" dirty="0"/>
              <a:t>、</a:t>
            </a:r>
            <a:r>
              <a:rPr lang="en-US" altLang="zh-CN" sz="1400" dirty="0"/>
              <a:t>(QID)</a:t>
            </a:r>
            <a:r>
              <a:rPr lang="en-US" altLang="zh-CN" sz="1400" baseline="30000" dirty="0"/>
              <a:t>+</a:t>
            </a:r>
            <a:r>
              <a:rPr lang="en-US" altLang="zh-CN" sz="1400" dirty="0"/>
              <a:t> </a:t>
            </a:r>
            <a:r>
              <a:rPr lang="zh-CN" altLang="en-US" sz="1400" dirty="0"/>
              <a:t>、</a:t>
            </a:r>
          </a:p>
          <a:p>
            <a:pPr marL="457200" lvl="1" indent="0">
              <a:spcBef>
                <a:spcPts val="600"/>
              </a:spcBef>
              <a:buNone/>
            </a:pPr>
            <a:r>
              <a:rPr lang="zh-CN" altLang="en-US" sz="1400" dirty="0"/>
              <a:t>  </a:t>
            </a:r>
            <a:r>
              <a:rPr lang="en-US" altLang="zh-CN" sz="1400" dirty="0"/>
              <a:t>(QOB)</a:t>
            </a:r>
            <a:r>
              <a:rPr lang="en-US" altLang="zh-CN" sz="1400" baseline="30000" dirty="0"/>
              <a:t>+</a:t>
            </a:r>
            <a:r>
              <a:rPr lang="zh-CN" altLang="en-US" sz="1400" dirty="0"/>
              <a:t>、</a:t>
            </a:r>
            <a:r>
              <a:rPr lang="en-US" altLang="zh-CN" sz="1400" dirty="0"/>
              <a:t>(QOI)</a:t>
            </a:r>
            <a:r>
              <a:rPr lang="en-US" altLang="zh-CN" sz="1400" baseline="30000" dirty="0"/>
              <a:t>+</a:t>
            </a:r>
            <a:r>
              <a:rPr lang="zh-CN" altLang="en-US" sz="1400" dirty="0"/>
              <a:t>、</a:t>
            </a:r>
            <a:r>
              <a:rPr lang="en-US" altLang="zh-CN" sz="1400" dirty="0"/>
              <a:t>(QOS)</a:t>
            </a:r>
            <a:r>
              <a:rPr lang="en-US" altLang="zh-CN" sz="1400" baseline="30000" dirty="0"/>
              <a:t>+</a:t>
            </a:r>
            <a:r>
              <a:rPr lang="zh-CN" altLang="en-US" sz="1400" dirty="0"/>
              <a:t>、</a:t>
            </a:r>
            <a:r>
              <a:rPr lang="en-US" altLang="zh-CN" sz="1400" dirty="0"/>
              <a:t>(QOD)</a:t>
            </a:r>
            <a:r>
              <a:rPr lang="en-US" altLang="zh-CN" sz="1400" baseline="30000" dirty="0"/>
              <a:t>+</a:t>
            </a:r>
            <a:r>
              <a:rPr lang="en-US" altLang="zh-CN" sz="1400" dirty="0"/>
              <a:t> …</a:t>
            </a:r>
            <a:endParaRPr lang="zh-CN" altLang="en-US" sz="1400" dirty="0"/>
          </a:p>
          <a:p>
            <a:pPr marL="457200" lvl="1" indent="0">
              <a:spcBef>
                <a:spcPts val="600"/>
              </a:spcBef>
              <a:buNone/>
            </a:pPr>
            <a:r>
              <a:rPr lang="en-US" altLang="zh-CN" sz="1400" dirty="0"/>
              <a:t>candidate keys of R: </a:t>
            </a:r>
          </a:p>
          <a:p>
            <a:pPr marL="457200" lvl="1" indent="0">
              <a:spcBef>
                <a:spcPts val="600"/>
              </a:spcBef>
              <a:buNone/>
            </a:pPr>
            <a:r>
              <a:rPr lang="en-US" altLang="zh-CN" sz="1400" dirty="0"/>
              <a:t>(QSO)</a:t>
            </a:r>
            <a:r>
              <a:rPr lang="zh-CN" altLang="en-US" sz="1400" dirty="0"/>
              <a:t>、</a:t>
            </a:r>
            <a:r>
              <a:rPr lang="en-US" altLang="zh-CN" sz="1400" dirty="0"/>
              <a:t>(QDO)</a:t>
            </a:r>
            <a:r>
              <a:rPr lang="zh-CN" altLang="en-US" sz="1400" dirty="0"/>
              <a:t>、</a:t>
            </a:r>
            <a:r>
              <a:rPr lang="en-US" altLang="zh-CN" sz="1400" dirty="0"/>
              <a:t>(QSB)</a:t>
            </a:r>
            <a:r>
              <a:rPr lang="zh-CN" altLang="en-US" sz="1400" dirty="0"/>
              <a:t>、</a:t>
            </a:r>
            <a:r>
              <a:rPr lang="en-US" altLang="zh-CN" sz="1400" dirty="0"/>
              <a:t>(QDB)</a:t>
            </a:r>
            <a:r>
              <a:rPr lang="zh-CN" altLang="en-US" sz="1400" dirty="0"/>
              <a:t>、</a:t>
            </a:r>
            <a:r>
              <a:rPr lang="en-US" altLang="zh-CN" sz="1400" dirty="0"/>
              <a:t>(QSI)</a:t>
            </a:r>
            <a:r>
              <a:rPr lang="zh-CN" altLang="en-US" sz="1400" dirty="0"/>
              <a:t>、</a:t>
            </a:r>
            <a:r>
              <a:rPr lang="en-US" altLang="zh-CN" sz="1400" dirty="0"/>
              <a:t>(QDI)</a:t>
            </a:r>
            <a:endParaRPr lang="zh-CN" altLang="en-US" sz="1400" dirty="0"/>
          </a:p>
        </p:txBody>
      </p:sp>
    </p:spTree>
    <p:extLst>
      <p:ext uri="{BB962C8B-B14F-4D97-AF65-F5344CB8AC3E}">
        <p14:creationId xmlns:p14="http://schemas.microsoft.com/office/powerpoint/2010/main" val="170670471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782904"/>
            <a:ext cx="8568952" cy="3805070"/>
          </a:xfrm>
        </p:spPr>
        <p:txBody>
          <a:bodyPr/>
          <a:lstStyle/>
          <a:p>
            <a:pPr>
              <a:spcBef>
                <a:spcPts val="400"/>
              </a:spcBef>
            </a:pPr>
            <a:r>
              <a:rPr lang="en-US" altLang="zh-CN" sz="2000" dirty="0"/>
              <a:t>Features of Good Relational Designs</a:t>
            </a:r>
          </a:p>
          <a:p>
            <a:pPr>
              <a:spcBef>
                <a:spcPts val="400"/>
              </a:spcBef>
            </a:pPr>
            <a:r>
              <a:rPr lang="en-US" altLang="zh-CN" sz="2000" b="1" dirty="0">
                <a:solidFill>
                  <a:srgbClr val="C00000"/>
                </a:solidFill>
              </a:rPr>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b="1" dirty="0">
                <a:solidFill>
                  <a:srgbClr val="C00000"/>
                </a:solidFill>
              </a:rPr>
              <a:t>Lossless-join Decomposition</a:t>
            </a:r>
          </a:p>
          <a:p>
            <a:pPr lvl="1">
              <a:spcBef>
                <a:spcPts val="400"/>
              </a:spcBef>
            </a:pPr>
            <a:r>
              <a:rPr lang="en-US" altLang="zh-CN" sz="1800" dirty="0"/>
              <a:t>Dependency Preservation</a:t>
            </a:r>
          </a:p>
          <a:p>
            <a:pPr>
              <a:spcBef>
                <a:spcPts val="400"/>
              </a:spcBef>
            </a:pPr>
            <a:r>
              <a:rPr lang="en-US" altLang="zh-CN" sz="2000" dirty="0"/>
              <a:t>Normalization &amp; Normal Forms (</a:t>
            </a:r>
            <a:r>
              <a:rPr lang="zh-CN" altLang="en-US" sz="2000" dirty="0"/>
              <a:t>范式</a:t>
            </a:r>
            <a:r>
              <a:rPr lang="en-US" altLang="zh-CN" sz="2000" dirty="0"/>
              <a:t>)</a:t>
            </a:r>
          </a:p>
          <a:p>
            <a:pPr>
              <a:spcBef>
                <a:spcPts val="400"/>
              </a:spcBef>
            </a:pPr>
            <a:r>
              <a:rPr lang="en-US" altLang="zh-CN" sz="2000" dirty="0"/>
              <a:t>Multivalued Dependencies</a:t>
            </a:r>
            <a:r>
              <a:rPr lang="zh-CN" altLang="en-US" sz="2000" dirty="0"/>
              <a:t>*</a:t>
            </a:r>
            <a:endParaRPr lang="en-US" altLang="zh-CN" sz="2000" dirty="0"/>
          </a:p>
          <a:p>
            <a:pPr>
              <a:spcBef>
                <a:spcPts val="400"/>
              </a:spcBef>
            </a:pPr>
            <a:r>
              <a:rPr lang="en-US" altLang="zh-CN" sz="2000" dirty="0"/>
              <a:t>Database Design Process</a:t>
            </a:r>
          </a:p>
        </p:txBody>
      </p:sp>
    </p:spTree>
    <p:extLst>
      <p:ext uri="{BB962C8B-B14F-4D97-AF65-F5344CB8AC3E}">
        <p14:creationId xmlns:p14="http://schemas.microsoft.com/office/powerpoint/2010/main" val="240642142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09692-1AA1-48A3-A580-D2637560F9D9}"/>
              </a:ext>
            </a:extLst>
          </p:cNvPr>
          <p:cNvSpPr>
            <a:spLocks noGrp="1"/>
          </p:cNvSpPr>
          <p:nvPr>
            <p:ph type="title"/>
          </p:nvPr>
        </p:nvSpPr>
        <p:spPr/>
        <p:txBody>
          <a:bodyPr/>
          <a:lstStyle/>
          <a:p>
            <a:pPr algn="ctr"/>
            <a:r>
              <a:rPr lang="en-US" altLang="zh-CN" dirty="0"/>
              <a:t>Decomposition</a:t>
            </a:r>
            <a:endParaRPr lang="zh-CN" altLang="en-US" dirty="0"/>
          </a:p>
        </p:txBody>
      </p:sp>
      <p:sp>
        <p:nvSpPr>
          <p:cNvPr id="3" name="内容占位符 2">
            <a:extLst>
              <a:ext uri="{FF2B5EF4-FFF2-40B4-BE49-F238E27FC236}">
                <a16:creationId xmlns:a16="http://schemas.microsoft.com/office/drawing/2014/main" id="{3F9634E2-8768-4EFE-9DC0-A46F48AD46E7}"/>
              </a:ext>
            </a:extLst>
          </p:cNvPr>
          <p:cNvSpPr>
            <a:spLocks noGrp="1"/>
          </p:cNvSpPr>
          <p:nvPr>
            <p:ph idx="1"/>
          </p:nvPr>
        </p:nvSpPr>
        <p:spPr>
          <a:xfrm>
            <a:off x="107504" y="1059581"/>
            <a:ext cx="9036496" cy="3414703"/>
          </a:xfrm>
        </p:spPr>
        <p:txBody>
          <a:bodyPr/>
          <a:lstStyle/>
          <a:p>
            <a:pPr marL="0" indent="0" algn="ctr">
              <a:spcBef>
                <a:spcPts val="600"/>
              </a:spcBef>
              <a:buNone/>
            </a:pPr>
            <a:r>
              <a:rPr lang="en-US" altLang="zh-CN" sz="2000" b="1" i="1" dirty="0" err="1"/>
              <a:t>in_dep_schema</a:t>
            </a:r>
            <a:r>
              <a:rPr lang="en-US" altLang="zh-CN" sz="2000" b="1" i="1" dirty="0"/>
              <a:t> </a:t>
            </a:r>
            <a:r>
              <a:rPr lang="en-US" altLang="zh-CN" sz="2000" i="1" dirty="0"/>
              <a:t>(ID, name, salary, </a:t>
            </a:r>
            <a:r>
              <a:rPr lang="en-US" altLang="zh-CN" sz="2000" i="1" dirty="0" err="1"/>
              <a:t>dept_name</a:t>
            </a:r>
            <a:r>
              <a:rPr lang="en-US" altLang="zh-CN" sz="2000" i="1" dirty="0"/>
              <a:t>, building, budget) </a:t>
            </a:r>
          </a:p>
          <a:p>
            <a:pPr marL="0" indent="0" algn="ctr">
              <a:spcBef>
                <a:spcPts val="600"/>
              </a:spcBef>
              <a:buNone/>
            </a:pPr>
            <a:endParaRPr lang="en-US" altLang="zh-CN" sz="2000" i="1" dirty="0"/>
          </a:p>
          <a:p>
            <a:pPr>
              <a:spcBef>
                <a:spcPts val="600"/>
              </a:spcBef>
            </a:pPr>
            <a:r>
              <a:rPr lang="en-US" altLang="zh-CN" sz="2000" dirty="0"/>
              <a:t>Decompose the relation schema </a:t>
            </a:r>
            <a:r>
              <a:rPr lang="en-US" altLang="zh-CN" sz="2000" i="1" dirty="0" err="1"/>
              <a:t>in_dep_schema</a:t>
            </a:r>
            <a:r>
              <a:rPr lang="en-US" altLang="zh-CN" sz="2000" dirty="0"/>
              <a:t> into two relations:</a:t>
            </a:r>
          </a:p>
          <a:p>
            <a:pPr lvl="1">
              <a:spcBef>
                <a:spcPts val="600"/>
              </a:spcBef>
            </a:pPr>
            <a:r>
              <a:rPr lang="en-US" altLang="zh-CN" sz="1800" b="1" i="1" dirty="0"/>
              <a:t>instructor</a:t>
            </a:r>
            <a:r>
              <a:rPr lang="en-US" altLang="zh-CN" sz="1800" i="1" dirty="0"/>
              <a:t>(ID, name, salary, </a:t>
            </a:r>
            <a:r>
              <a:rPr lang="en-US" altLang="zh-CN" sz="1800" i="1" dirty="0" err="1"/>
              <a:t>dept_name</a:t>
            </a:r>
            <a:r>
              <a:rPr lang="en-US" altLang="zh-CN" sz="1800" i="1" dirty="0"/>
              <a:t>)</a:t>
            </a:r>
          </a:p>
          <a:p>
            <a:pPr lvl="1">
              <a:spcBef>
                <a:spcPts val="600"/>
              </a:spcBef>
            </a:pPr>
            <a:r>
              <a:rPr lang="en-US" altLang="zh-CN" sz="1800" b="1" i="1" dirty="0"/>
              <a:t>department</a:t>
            </a:r>
            <a:r>
              <a:rPr lang="en-US" altLang="zh-CN" sz="1800" i="1" dirty="0"/>
              <a:t>(</a:t>
            </a:r>
            <a:r>
              <a:rPr lang="en-US" altLang="zh-CN" sz="1800" i="1" dirty="0" err="1"/>
              <a:t>dept_name</a:t>
            </a:r>
            <a:r>
              <a:rPr lang="en-US" altLang="zh-CN" sz="1800" i="1" dirty="0"/>
              <a:t>, building, budget)</a:t>
            </a:r>
          </a:p>
          <a:p>
            <a:pPr lvl="1">
              <a:spcBef>
                <a:spcPts val="600"/>
              </a:spcBef>
            </a:pPr>
            <a:endParaRPr lang="en-US" altLang="zh-CN" sz="1600" dirty="0"/>
          </a:p>
        </p:txBody>
      </p:sp>
    </p:spTree>
    <p:extLst>
      <p:ext uri="{BB962C8B-B14F-4D97-AF65-F5344CB8AC3E}">
        <p14:creationId xmlns:p14="http://schemas.microsoft.com/office/powerpoint/2010/main" val="338109819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109692-1AA1-48A3-A580-D2637560F9D9}"/>
              </a:ext>
            </a:extLst>
          </p:cNvPr>
          <p:cNvSpPr>
            <a:spLocks noGrp="1"/>
          </p:cNvSpPr>
          <p:nvPr>
            <p:ph type="title"/>
          </p:nvPr>
        </p:nvSpPr>
        <p:spPr/>
        <p:txBody>
          <a:bodyPr/>
          <a:lstStyle/>
          <a:p>
            <a:pPr algn="ctr"/>
            <a:r>
              <a:rPr lang="en-US" altLang="zh-CN" dirty="0"/>
              <a:t>Decomposition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F9634E2-8768-4EFE-9DC0-A46F48AD46E7}"/>
                  </a:ext>
                </a:extLst>
              </p:cNvPr>
              <p:cNvSpPr>
                <a:spLocks noGrp="1"/>
              </p:cNvSpPr>
              <p:nvPr>
                <p:ph idx="1"/>
              </p:nvPr>
            </p:nvSpPr>
            <p:spPr>
              <a:xfrm>
                <a:off x="107504" y="843557"/>
                <a:ext cx="9036496" cy="3630727"/>
              </a:xfrm>
            </p:spPr>
            <p:txBody>
              <a:bodyPr/>
              <a:lstStyle/>
              <a:p>
                <a:pPr>
                  <a:spcBef>
                    <a:spcPts val="1200"/>
                  </a:spcBef>
                </a:pPr>
                <a:r>
                  <a:rPr lang="en-US" altLang="zh-CN" sz="1800" dirty="0"/>
                  <a:t>All attributes of an original schema </a:t>
                </a:r>
                <a14:m>
                  <m:oMath xmlns:m="http://schemas.openxmlformats.org/officeDocument/2006/math">
                    <m:r>
                      <a:rPr lang="en-US" altLang="zh-CN" sz="1800" b="0" i="1" smtClean="0">
                        <a:latin typeface="Cambria Math" panose="02040503050406030204" pitchFamily="18" charset="0"/>
                      </a:rPr>
                      <m:t>𝑅</m:t>
                    </m:r>
                  </m:oMath>
                </a14:m>
                <a:r>
                  <a:rPr lang="en-US" altLang="zh-CN" sz="1800" dirty="0"/>
                  <a:t> must appear in the decomposition </a:t>
                </a:r>
                <a14:m>
                  <m:oMath xmlns:m="http://schemas.openxmlformats.org/officeDocument/2006/math">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oMath>
                </a14:m>
                <a:r>
                  <a:rPr lang="en-US" altLang="zh-CN" sz="1800" dirty="0"/>
                  <a:t>, i.e., </a:t>
                </a:r>
                <a14:m>
                  <m:oMath xmlns:m="http://schemas.openxmlformats.org/officeDocument/2006/math">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1</m:t>
                        </m:r>
                      </m:sub>
                    </m:sSub>
                    <m:r>
                      <a:rPr lang="en-US" altLang="zh-CN" sz="1800" i="1" smtClean="0">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2</m:t>
                        </m:r>
                      </m:sub>
                    </m:sSub>
                  </m:oMath>
                </a14:m>
                <a:endParaRPr lang="en-US" altLang="zh-CN" sz="1800" dirty="0"/>
              </a:p>
              <a:p>
                <a:pPr>
                  <a:spcBef>
                    <a:spcPts val="1200"/>
                  </a:spcBef>
                </a:pPr>
                <a:r>
                  <a:rPr lang="en-US" altLang="zh-CN" sz="1800" dirty="0"/>
                  <a:t>Lossless-join decomposition(</a:t>
                </a:r>
                <a:r>
                  <a:rPr lang="zh-CN" altLang="en-US" sz="1800" dirty="0"/>
                  <a:t>无损分解</a:t>
                </a:r>
                <a:r>
                  <a:rPr lang="en-US" altLang="zh-CN" sz="1800" dirty="0"/>
                  <a:t>): For all possible relations </a:t>
                </a:r>
                <a14:m>
                  <m:oMath xmlns:m="http://schemas.openxmlformats.org/officeDocument/2006/math">
                    <m:r>
                      <a:rPr lang="en-US" altLang="zh-CN" sz="1800" b="0" i="1" smtClean="0">
                        <a:latin typeface="Cambria Math" panose="02040503050406030204" pitchFamily="18" charset="0"/>
                      </a:rPr>
                      <m:t>𝑟</m:t>
                    </m:r>
                  </m:oMath>
                </a14:m>
                <a:r>
                  <a:rPr lang="en-US" altLang="zh-CN" sz="1800" dirty="0"/>
                  <a:t> on schema </a:t>
                </a:r>
                <a14:m>
                  <m:oMath xmlns:m="http://schemas.openxmlformats.org/officeDocument/2006/math">
                    <m:r>
                      <a:rPr lang="en-US" altLang="zh-CN" sz="1800" i="1">
                        <a:latin typeface="Cambria Math" panose="02040503050406030204" pitchFamily="18" charset="0"/>
                      </a:rPr>
                      <m:t>𝑅</m:t>
                    </m:r>
                  </m:oMath>
                </a14:m>
                <a:r>
                  <a:rPr lang="en-US" altLang="zh-CN" sz="1800" dirty="0"/>
                  <a:t>, </a:t>
                </a:r>
                <a14:m>
                  <m:oMath xmlns:m="http://schemas.openxmlformats.org/officeDocument/2006/math">
                    <m:r>
                      <a:rPr lang="en-US" altLang="zh-CN" sz="1800" b="0" i="1" smtClean="0">
                        <a:latin typeface="Cambria Math" panose="02040503050406030204" pitchFamily="18" charset="0"/>
                      </a:rPr>
                      <m:t>𝑟</m:t>
                    </m:r>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m:rPr>
                            <m:sty m:val="p"/>
                          </m:rPr>
                          <a:rPr lang="el-GR" altLang="zh-CN" sz="1800" b="0" i="1" smtClean="0">
                            <a:latin typeface="Cambria Math" panose="02040503050406030204" pitchFamily="18" charset="0"/>
                            <a:ea typeface="Cambria Math" panose="02040503050406030204" pitchFamily="18" charset="0"/>
                          </a:rPr>
                          <m:t>Π</m:t>
                        </m:r>
                      </m:e>
                      <m:sub>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𝑟</m:t>
                    </m:r>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m:rPr>
                            <m:sty m:val="p"/>
                          </m:rPr>
                          <a:rPr lang="el-GR" altLang="zh-CN" sz="1800" i="1">
                            <a:latin typeface="Cambria Math" panose="02040503050406030204" pitchFamily="18" charset="0"/>
                            <a:ea typeface="Cambria Math" panose="02040503050406030204" pitchFamily="18" charset="0"/>
                          </a:rPr>
                          <m:t>Π</m:t>
                        </m:r>
                      </m:e>
                      <m:sub>
                        <m:r>
                          <a:rPr lang="en-US" altLang="zh-CN" sz="1800" i="1">
                            <a:latin typeface="Cambria Math" panose="02040503050406030204" pitchFamily="18" charset="0"/>
                          </a:rPr>
                          <m:t>𝑅</m:t>
                        </m:r>
                        <m:r>
                          <a:rPr lang="en-US" altLang="zh-CN" sz="1800" b="0" i="1" smtClean="0">
                            <a:latin typeface="Cambria Math" panose="02040503050406030204" pitchFamily="18" charset="0"/>
                          </a:rPr>
                          <m:t>2</m:t>
                        </m:r>
                      </m:sub>
                    </m:sSub>
                    <m:r>
                      <a:rPr lang="en-US" altLang="zh-CN" sz="1800" i="1">
                        <a:latin typeface="Cambria Math" panose="02040503050406030204" pitchFamily="18" charset="0"/>
                      </a:rPr>
                      <m:t>(</m:t>
                    </m:r>
                    <m:r>
                      <a:rPr lang="en-US" altLang="zh-CN" sz="1800" i="1">
                        <a:latin typeface="Cambria Math" panose="02040503050406030204" pitchFamily="18" charset="0"/>
                      </a:rPr>
                      <m:t>𝑟</m:t>
                    </m:r>
                    <m:r>
                      <a:rPr lang="en-US" altLang="zh-CN" sz="1800" i="1">
                        <a:latin typeface="Cambria Math" panose="02040503050406030204" pitchFamily="18" charset="0"/>
                      </a:rPr>
                      <m:t>)</m:t>
                    </m:r>
                  </m:oMath>
                </a14:m>
                <a:endParaRPr lang="en-US" altLang="zh-CN" sz="1800" dirty="0"/>
              </a:p>
              <a:p>
                <a:pPr>
                  <a:spcBef>
                    <a:spcPts val="1200"/>
                  </a:spcBef>
                </a:pPr>
                <a:r>
                  <a:rPr lang="en-US" altLang="zh-CN" sz="1800" dirty="0"/>
                  <a:t>A decomposition of </a:t>
                </a:r>
                <a14:m>
                  <m:oMath xmlns:m="http://schemas.openxmlformats.org/officeDocument/2006/math">
                    <m:r>
                      <a:rPr lang="en-US" altLang="zh-CN" sz="1800" i="1">
                        <a:latin typeface="Cambria Math" panose="02040503050406030204" pitchFamily="18" charset="0"/>
                      </a:rPr>
                      <m:t>𝑅</m:t>
                    </m:r>
                  </m:oMath>
                </a14:m>
                <a:r>
                  <a:rPr lang="en-US" altLang="zh-CN" sz="1800" dirty="0"/>
                  <a:t> into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1</m:t>
                        </m:r>
                      </m:sub>
                    </m:sSub>
                  </m:oMath>
                </a14:m>
                <a:r>
                  <a:rPr lang="en-US" altLang="zh-CN" sz="1800" dirty="0"/>
                  <a:t> and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b="0" i="1" smtClean="0">
                            <a:latin typeface="Cambria Math" panose="02040503050406030204" pitchFamily="18" charset="0"/>
                          </a:rPr>
                          <m:t>2</m:t>
                        </m:r>
                      </m:sub>
                    </m:sSub>
                  </m:oMath>
                </a14:m>
                <a:r>
                  <a:rPr lang="en-US" altLang="zh-CN" sz="1800" dirty="0"/>
                  <a:t> is lossless-join </a:t>
                </a:r>
                <a:r>
                  <a:rPr lang="en-US" altLang="zh-CN" sz="1800" dirty="0" err="1"/>
                  <a:t>iff</a:t>
                </a:r>
                <a:r>
                  <a:rPr lang="en-US" altLang="zh-CN" sz="1800" dirty="0"/>
                  <a:t> at least one of the following dependencies is in </a:t>
                </a:r>
                <a14:m>
                  <m:oMath xmlns:m="http://schemas.openxmlformats.org/officeDocument/2006/math">
                    <m:sSup>
                      <m:sSupPr>
                        <m:ctrlPr>
                          <a:rPr lang="en-US" altLang="zh-CN" sz="1800" i="1" smtClean="0">
                            <a:latin typeface="Cambria Math" panose="02040503050406030204" pitchFamily="18" charset="0"/>
                          </a:rPr>
                        </m:ctrlPr>
                      </m:sSupPr>
                      <m:e>
                        <m:r>
                          <a:rPr lang="en-US" altLang="zh-CN" sz="1800" b="0" i="1" smtClean="0">
                            <a:latin typeface="Cambria Math" panose="02040503050406030204" pitchFamily="18" charset="0"/>
                          </a:rPr>
                          <m:t>𝐹</m:t>
                        </m:r>
                      </m:e>
                      <m:sup>
                        <m:r>
                          <a:rPr lang="en-US" altLang="zh-CN" sz="1800" b="0" i="1" smtClean="0">
                            <a:latin typeface="Cambria Math" panose="02040503050406030204" pitchFamily="18" charset="0"/>
                          </a:rPr>
                          <m:t>+</m:t>
                        </m:r>
                      </m:sup>
                    </m:sSup>
                  </m:oMath>
                </a14:m>
                <a:r>
                  <a:rPr lang="en-US" altLang="zh-CN" sz="1800" dirty="0"/>
                  <a:t>:</a:t>
                </a:r>
              </a:p>
              <a:p>
                <a:pPr lvl="1">
                  <a:spcBef>
                    <a:spcPts val="1200"/>
                  </a:spcBef>
                </a:pP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𝑅</m:t>
                        </m:r>
                      </m:e>
                      <m:sub>
                        <m:r>
                          <a:rPr lang="en-US" altLang="zh-CN" sz="1400" b="0" i="1" smtClean="0">
                            <a:latin typeface="Cambria Math" panose="02040503050406030204" pitchFamily="18" charset="0"/>
                          </a:rPr>
                          <m:t>1</m:t>
                        </m:r>
                      </m:sub>
                    </m:sSub>
                    <m:r>
                      <a:rPr lang="en-US" altLang="zh-CN" sz="1400" i="1" smtClean="0">
                        <a:latin typeface="Cambria Math" panose="02040503050406030204" pitchFamily="18" charset="0"/>
                        <a:ea typeface="Cambria Math" panose="02040503050406030204" pitchFamily="18" charset="0"/>
                      </a:rPr>
                      <m:t>∩</m:t>
                    </m:r>
                    <m:sSub>
                      <m:sSubPr>
                        <m:ctrlPr>
                          <a:rPr lang="en-US" altLang="zh-CN" sz="140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𝑅</m:t>
                        </m:r>
                      </m:e>
                      <m:sub>
                        <m:r>
                          <a:rPr lang="en-US" altLang="zh-CN" sz="1400" b="0" i="1" smtClean="0">
                            <a:latin typeface="Cambria Math" panose="02040503050406030204" pitchFamily="18" charset="0"/>
                            <a:ea typeface="Cambria Math" panose="02040503050406030204" pitchFamily="18" charset="0"/>
                          </a:rPr>
                          <m:t>2</m:t>
                        </m:r>
                      </m:sub>
                    </m:sSub>
                    <m:r>
                      <a:rPr lang="en-US" altLang="zh-CN" sz="1400" i="1" smtClean="0">
                        <a:latin typeface="Cambria Math" panose="02040503050406030204" pitchFamily="18" charset="0"/>
                        <a:ea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𝑅</m:t>
                        </m:r>
                      </m:e>
                      <m:sub>
                        <m:r>
                          <a:rPr lang="en-US" altLang="zh-CN" sz="1400" i="1">
                            <a:latin typeface="Cambria Math" panose="02040503050406030204" pitchFamily="18" charset="0"/>
                          </a:rPr>
                          <m:t>1</m:t>
                        </m:r>
                      </m:sub>
                    </m:sSub>
                  </m:oMath>
                </a14:m>
                <a:endParaRPr lang="en-US" altLang="zh-CN" sz="1400" dirty="0"/>
              </a:p>
              <a:p>
                <a:pPr lvl="1">
                  <a:spcBef>
                    <a:spcPts val="1200"/>
                  </a:spcBef>
                </a:pP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𝑅</m:t>
                        </m:r>
                      </m:e>
                      <m:sub>
                        <m:r>
                          <a:rPr lang="en-US" altLang="zh-CN" sz="1400" i="1">
                            <a:latin typeface="Cambria Math" panose="02040503050406030204" pitchFamily="18" charset="0"/>
                          </a:rPr>
                          <m:t>1</m:t>
                        </m:r>
                      </m:sub>
                    </m:sSub>
                    <m:r>
                      <a:rPr lang="en-US" altLang="zh-CN" sz="1400" i="1">
                        <a:latin typeface="Cambria Math" panose="02040503050406030204" pitchFamily="18" charset="0"/>
                        <a:ea typeface="Cambria Math" panose="02040503050406030204" pitchFamily="18" charset="0"/>
                      </a:rPr>
                      <m:t>∩</m:t>
                    </m:r>
                    <m:sSub>
                      <m:sSubPr>
                        <m:ctrlPr>
                          <a:rPr lang="en-US" altLang="zh-CN" sz="1400" i="1">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Cambria Math" panose="02040503050406030204" pitchFamily="18" charset="0"/>
                          </a:rPr>
                          <m:t>𝑅</m:t>
                        </m:r>
                      </m:e>
                      <m:sub>
                        <m:r>
                          <a:rPr lang="en-US" altLang="zh-CN" sz="1400" i="1">
                            <a:latin typeface="Cambria Math" panose="02040503050406030204" pitchFamily="18" charset="0"/>
                            <a:ea typeface="Cambria Math" panose="02040503050406030204" pitchFamily="18" charset="0"/>
                          </a:rPr>
                          <m:t>2</m:t>
                        </m:r>
                      </m:sub>
                    </m:sSub>
                    <m:r>
                      <a:rPr lang="en-US" altLang="zh-CN" sz="1400" i="1">
                        <a:latin typeface="Cambria Math" panose="02040503050406030204" pitchFamily="18" charset="0"/>
                        <a:ea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𝑅</m:t>
                        </m:r>
                      </m:e>
                      <m:sub>
                        <m:r>
                          <a:rPr lang="en-US" altLang="zh-CN" sz="1400" b="0" i="1" smtClean="0">
                            <a:latin typeface="Cambria Math" panose="02040503050406030204" pitchFamily="18" charset="0"/>
                          </a:rPr>
                          <m:t>2</m:t>
                        </m:r>
                      </m:sub>
                    </m:sSub>
                  </m:oMath>
                </a14:m>
                <a:endParaRPr lang="en-US" altLang="zh-CN" sz="1400" dirty="0"/>
              </a:p>
              <a:p>
                <a:pPr lvl="1">
                  <a:spcBef>
                    <a:spcPts val="1200"/>
                  </a:spcBef>
                </a:pPr>
                <a:endParaRPr lang="en-US" altLang="zh-CN" sz="1400" dirty="0"/>
              </a:p>
            </p:txBody>
          </p:sp>
        </mc:Choice>
        <mc:Fallback xmlns="">
          <p:sp>
            <p:nvSpPr>
              <p:cNvPr id="3" name="内容占位符 2">
                <a:extLst>
                  <a:ext uri="{FF2B5EF4-FFF2-40B4-BE49-F238E27FC236}">
                    <a16:creationId xmlns:a16="http://schemas.microsoft.com/office/drawing/2014/main" id="{3F9634E2-8768-4EFE-9DC0-A46F48AD46E7}"/>
                  </a:ext>
                </a:extLst>
              </p:cNvPr>
              <p:cNvSpPr>
                <a:spLocks noGrp="1" noRot="1" noChangeAspect="1" noMove="1" noResize="1" noEditPoints="1" noAdjustHandles="1" noChangeArrowheads="1" noChangeShapeType="1" noTextEdit="1"/>
              </p:cNvSpPr>
              <p:nvPr>
                <p:ph idx="1"/>
              </p:nvPr>
            </p:nvSpPr>
            <p:spPr>
              <a:xfrm>
                <a:off x="107504" y="843557"/>
                <a:ext cx="9036496" cy="3630727"/>
              </a:xfrm>
              <a:blipFill>
                <a:blip r:embed="rId2"/>
                <a:stretch>
                  <a:fillRect l="-472" t="-83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269672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B47340-0862-4D57-AB47-079FD5CFF0CD}"/>
              </a:ext>
            </a:extLst>
          </p:cNvPr>
          <p:cNvSpPr>
            <a:spLocks noGrp="1"/>
          </p:cNvSpPr>
          <p:nvPr>
            <p:ph type="title"/>
          </p:nvPr>
        </p:nvSpPr>
        <p:spPr/>
        <p:txBody>
          <a:bodyPr/>
          <a:lstStyle/>
          <a:p>
            <a:pPr algn="ctr"/>
            <a:r>
              <a:rPr lang="en-US" altLang="zh-CN" dirty="0"/>
              <a:t>Example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F16BBD5-E958-4A75-8210-CD7EEC0D1474}"/>
                  </a:ext>
                </a:extLst>
              </p:cNvPr>
              <p:cNvSpPr>
                <a:spLocks noGrp="1"/>
              </p:cNvSpPr>
              <p:nvPr>
                <p:ph idx="1"/>
              </p:nvPr>
            </p:nvSpPr>
            <p:spPr/>
            <p:txBody>
              <a:bodyPr/>
              <a:lstStyle/>
              <a:p>
                <a:pPr>
                  <a:spcBef>
                    <a:spcPts val="1200"/>
                  </a:spcBef>
                </a:pPr>
                <a:r>
                  <a:rPr lang="en-US" altLang="zh-CN" sz="1800" dirty="0"/>
                  <a:t>R = (A, B, C), F = {A →B, B → C)</a:t>
                </a:r>
              </a:p>
              <a:p>
                <a:pPr lvl="1">
                  <a:spcBef>
                    <a:spcPts val="1200"/>
                  </a:spcBef>
                </a:pPr>
                <a:r>
                  <a:rPr lang="en-US" altLang="zh-CN" sz="1600" dirty="0"/>
                  <a:t>Can be decomposed in two different ways</a:t>
                </a:r>
              </a:p>
              <a:p>
                <a:pPr>
                  <a:spcBef>
                    <a:spcPts val="1200"/>
                  </a:spcBef>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b="0" i="1" smtClean="0">
                            <a:latin typeface="Cambria Math" panose="02040503050406030204" pitchFamily="18" charset="0"/>
                          </a:rPr>
                          <m:t>2</m:t>
                        </m:r>
                      </m:sub>
                    </m:sSub>
                    <m:r>
                      <a:rPr lang="en-US" altLang="zh-CN" sz="1800" i="1">
                        <a:latin typeface="Cambria Math" panose="02040503050406030204" pitchFamily="18" charset="0"/>
                      </a:rPr>
                      <m:t>=(</m:t>
                    </m:r>
                    <m:r>
                      <a:rPr lang="en-US" altLang="zh-CN" sz="1800" i="1">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m:t>
                    </m:r>
                    <m:r>
                      <a:rPr lang="en-US" altLang="zh-CN" sz="1800" i="1">
                        <a:latin typeface="Cambria Math" panose="02040503050406030204" pitchFamily="18" charset="0"/>
                      </a:rPr>
                      <m:t>)</m:t>
                    </m:r>
                  </m:oMath>
                </a14:m>
                <a:endParaRPr lang="en-US" altLang="zh-CN" sz="1800" dirty="0"/>
              </a:p>
              <a:p>
                <a:pPr lvl="1">
                  <a:spcBef>
                    <a:spcPts val="1200"/>
                  </a:spcBef>
                </a:pPr>
                <a:r>
                  <a:rPr lang="en-US" altLang="zh-CN" sz="1600" dirty="0"/>
                  <a:t>Lossless-join decomposition: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1</m:t>
                        </m:r>
                      </m:sub>
                    </m:sSub>
                    <m:r>
                      <a:rPr lang="en-US" altLang="zh-CN" sz="1600" i="1" smtClean="0">
                        <a:latin typeface="Cambria Math" panose="02040503050406030204" pitchFamily="18" charset="0"/>
                        <a:ea typeface="Cambria Math" panose="02040503050406030204" pitchFamily="18" charset="0"/>
                      </a:rPr>
                      <m:t>∩</m:t>
                    </m:r>
                    <m:sSub>
                      <m:sSubPr>
                        <m:ctrlPr>
                          <a:rPr lang="en-US" altLang="zh-CN" sz="160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𝑅</m:t>
                        </m:r>
                      </m:e>
                      <m:sub>
                        <m:r>
                          <a:rPr lang="en-US" altLang="zh-CN" sz="1600" b="0" i="1" smtClean="0">
                            <a:latin typeface="Cambria Math" panose="02040503050406030204" pitchFamily="18" charset="0"/>
                            <a:ea typeface="Cambria Math" panose="02040503050406030204" pitchFamily="18" charset="0"/>
                          </a:rPr>
                          <m:t>2</m:t>
                        </m:r>
                      </m:sub>
                    </m:sSub>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𝐵</m:t>
                    </m:r>
                    <m:r>
                      <a:rPr lang="en-US" altLang="zh-CN" sz="1600" b="0" i="1" smtClean="0">
                        <a:latin typeface="Cambria Math" panose="02040503050406030204" pitchFamily="18" charset="0"/>
                        <a:ea typeface="Cambria Math" panose="02040503050406030204" pitchFamily="18" charset="0"/>
                      </a:rPr>
                      <m:t>}</m:t>
                    </m:r>
                  </m:oMath>
                </a14:m>
                <a:r>
                  <a:rPr lang="en-US" altLang="zh-CN" sz="1600" dirty="0"/>
                  <a:t> and </a:t>
                </a:r>
                <a14:m>
                  <m:oMath xmlns:m="http://schemas.openxmlformats.org/officeDocument/2006/math">
                    <m:r>
                      <a:rPr lang="en-US" altLang="zh-CN" sz="1600" b="0" i="1" smtClean="0">
                        <a:latin typeface="Cambria Math" panose="02040503050406030204" pitchFamily="18" charset="0"/>
                      </a:rPr>
                      <m:t>𝐵</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𝐵𝐶</m:t>
                    </m:r>
                  </m:oMath>
                </a14:m>
                <a:r>
                  <a:rPr lang="en-US" altLang="zh-CN" sz="1600" dirty="0"/>
                  <a:t> </a:t>
                </a:r>
              </a:p>
              <a:p>
                <a:pPr>
                  <a:spcBef>
                    <a:spcPts val="120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i="1">
                        <a:latin typeface="Cambria Math" panose="02040503050406030204" pitchFamily="18" charset="0"/>
                      </a:rPr>
                      <m:t>𝐴</m:t>
                    </m:r>
                    <m:r>
                      <a:rPr lang="en-US" altLang="zh-CN" sz="1800" i="1">
                        <a:latin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𝐴</m:t>
                    </m:r>
                    <m:r>
                      <a:rPr lang="en-US" altLang="zh-CN" sz="1800" i="1">
                        <a:latin typeface="Cambria Math" panose="02040503050406030204" pitchFamily="18" charset="0"/>
                      </a:rPr>
                      <m:t>,</m:t>
                    </m:r>
                    <m:r>
                      <a:rPr lang="en-US" altLang="zh-CN" sz="1800" i="1">
                        <a:latin typeface="Cambria Math" panose="02040503050406030204" pitchFamily="18" charset="0"/>
                      </a:rPr>
                      <m:t>𝐶</m:t>
                    </m:r>
                    <m:r>
                      <a:rPr lang="en-US" altLang="zh-CN" sz="1800" i="1">
                        <a:latin typeface="Cambria Math" panose="02040503050406030204" pitchFamily="18" charset="0"/>
                      </a:rPr>
                      <m:t>)</m:t>
                    </m:r>
                  </m:oMath>
                </a14:m>
                <a:endParaRPr lang="en-US" altLang="zh-CN" sz="1800" dirty="0"/>
              </a:p>
              <a:p>
                <a:pPr lvl="1">
                  <a:spcBef>
                    <a:spcPts val="1200"/>
                  </a:spcBef>
                </a:pPr>
                <a:r>
                  <a:rPr lang="en-US" altLang="zh-CN" sz="1600" dirty="0"/>
                  <a:t>Lossless-join decomposition: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1</m:t>
                        </m:r>
                      </m:sub>
                    </m:sSub>
                    <m:r>
                      <a:rPr lang="en-US" altLang="zh-CN" sz="1600" i="1" smtClean="0">
                        <a:latin typeface="Cambria Math" panose="02040503050406030204" pitchFamily="18" charset="0"/>
                        <a:ea typeface="Cambria Math" panose="02040503050406030204" pitchFamily="18" charset="0"/>
                      </a:rPr>
                      <m:t>∩</m:t>
                    </m:r>
                    <m:sSub>
                      <m:sSubPr>
                        <m:ctrlPr>
                          <a:rPr lang="en-US" altLang="zh-CN" sz="1600" i="1" smtClean="0">
                            <a:latin typeface="Cambria Math" panose="02040503050406030204" pitchFamily="18" charset="0"/>
                            <a:ea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𝑅</m:t>
                        </m:r>
                      </m:e>
                      <m:sub>
                        <m:r>
                          <a:rPr lang="en-US" altLang="zh-CN" sz="1600" b="0" i="1" smtClean="0">
                            <a:latin typeface="Cambria Math" panose="02040503050406030204" pitchFamily="18" charset="0"/>
                            <a:ea typeface="Cambria Math" panose="02040503050406030204" pitchFamily="18" charset="0"/>
                          </a:rPr>
                          <m:t>2</m:t>
                        </m:r>
                      </m:sub>
                    </m:sSub>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ea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oMath>
                </a14:m>
                <a:r>
                  <a:rPr lang="en-US" altLang="zh-CN" sz="1600" dirty="0"/>
                  <a:t> and </a:t>
                </a:r>
                <a14:m>
                  <m:oMath xmlns:m="http://schemas.openxmlformats.org/officeDocument/2006/math">
                    <m:r>
                      <a:rPr lang="en-US" altLang="zh-CN" sz="1600" b="0" i="1" smtClean="0">
                        <a:latin typeface="Cambria Math" panose="02040503050406030204" pitchFamily="18" charset="0"/>
                      </a:rPr>
                      <m:t>𝐴</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𝐴𝐵</m:t>
                    </m:r>
                  </m:oMath>
                </a14:m>
                <a:endParaRPr lang="en-US" altLang="zh-CN" sz="1600" dirty="0"/>
              </a:p>
            </p:txBody>
          </p:sp>
        </mc:Choice>
        <mc:Fallback xmlns="">
          <p:sp>
            <p:nvSpPr>
              <p:cNvPr id="3" name="内容占位符 2">
                <a:extLst>
                  <a:ext uri="{FF2B5EF4-FFF2-40B4-BE49-F238E27FC236}">
                    <a16:creationId xmlns:a16="http://schemas.microsoft.com/office/drawing/2014/main" id="{DF16BBD5-E958-4A75-8210-CD7EEC0D1474}"/>
                  </a:ext>
                </a:extLst>
              </p:cNvPr>
              <p:cNvSpPr>
                <a:spLocks noGrp="1" noRot="1" noChangeAspect="1" noMove="1" noResize="1" noEditPoints="1" noAdjustHandles="1" noChangeArrowheads="1" noChangeShapeType="1" noTextEdit="1"/>
              </p:cNvSpPr>
              <p:nvPr>
                <p:ph idx="1"/>
              </p:nvPr>
            </p:nvSpPr>
            <p:spPr>
              <a:blipFill>
                <a:blip r:embed="rId2"/>
                <a:stretch>
                  <a:fillRect l="-498"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615613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2B8502-0D2D-4C36-81DD-6ECA77AF71B8}"/>
              </a:ext>
            </a:extLst>
          </p:cNvPr>
          <p:cNvSpPr>
            <a:spLocks noGrp="1"/>
          </p:cNvSpPr>
          <p:nvPr>
            <p:ph type="title"/>
          </p:nvPr>
        </p:nvSpPr>
        <p:spPr/>
        <p:txBody>
          <a:bodyPr/>
          <a:lstStyle/>
          <a:p>
            <a:pPr algn="ctr"/>
            <a:r>
              <a:rPr lang="en-US" altLang="zh-CN" dirty="0"/>
              <a:t>Example</a:t>
            </a:r>
            <a:endParaRPr lang="zh-CN" altLang="en-US" dirty="0"/>
          </a:p>
        </p:txBody>
      </p:sp>
      <p:sp>
        <p:nvSpPr>
          <p:cNvPr id="3" name="内容占位符 2">
            <a:extLst>
              <a:ext uri="{FF2B5EF4-FFF2-40B4-BE49-F238E27FC236}">
                <a16:creationId xmlns:a16="http://schemas.microsoft.com/office/drawing/2014/main" id="{D80BF6D8-60CA-4375-81AF-010E2A64C21D}"/>
              </a:ext>
            </a:extLst>
          </p:cNvPr>
          <p:cNvSpPr>
            <a:spLocks noGrp="1"/>
          </p:cNvSpPr>
          <p:nvPr>
            <p:ph idx="1"/>
          </p:nvPr>
        </p:nvSpPr>
        <p:spPr/>
        <p:txBody>
          <a:bodyPr/>
          <a:lstStyle/>
          <a:p>
            <a:pPr>
              <a:spcBef>
                <a:spcPts val="1200"/>
              </a:spcBef>
            </a:pPr>
            <a:r>
              <a:rPr lang="en-US" altLang="zh-CN" sz="1800" dirty="0"/>
              <a:t>Given R&lt;U,F&gt;, U={A,B,C,D,E}, F={AB→C, C→D, D→E}, and a decomposition </a:t>
            </a:r>
            <a:r>
              <a:rPr lang="el-GR" altLang="zh-CN" sz="1800" dirty="0"/>
              <a:t>ρ </a:t>
            </a:r>
            <a:r>
              <a:rPr lang="en-US" altLang="zh-CN" sz="1800" dirty="0"/>
              <a:t>of R into: </a:t>
            </a:r>
          </a:p>
          <a:p>
            <a:pPr lvl="1">
              <a:spcBef>
                <a:spcPts val="1200"/>
              </a:spcBef>
            </a:pPr>
            <a:r>
              <a:rPr lang="en-US" altLang="zh-CN" sz="1600" dirty="0"/>
              <a:t>R</a:t>
            </a:r>
            <a:r>
              <a:rPr lang="en-US" altLang="zh-CN" sz="1600" baseline="-25000" dirty="0"/>
              <a:t>1</a:t>
            </a:r>
            <a:r>
              <a:rPr lang="en-US" altLang="zh-CN" sz="1600" dirty="0"/>
              <a:t>(A,B,C), R</a:t>
            </a:r>
            <a:r>
              <a:rPr lang="en-US" altLang="zh-CN" sz="1600" baseline="-25000" dirty="0"/>
              <a:t>2</a:t>
            </a:r>
            <a:r>
              <a:rPr lang="en-US" altLang="zh-CN" sz="1600" dirty="0"/>
              <a:t>(C,D), R</a:t>
            </a:r>
            <a:r>
              <a:rPr lang="en-US" altLang="zh-CN" sz="1600" baseline="-25000" dirty="0"/>
              <a:t>3</a:t>
            </a:r>
            <a:r>
              <a:rPr lang="en-US" altLang="zh-CN" sz="1600" dirty="0"/>
              <a:t>(D,E)</a:t>
            </a:r>
          </a:p>
          <a:p>
            <a:pPr lvl="1">
              <a:spcBef>
                <a:spcPts val="1200"/>
              </a:spcBef>
            </a:pPr>
            <a:r>
              <a:rPr lang="en-US" altLang="zh-CN" sz="1600" dirty="0"/>
              <a:t>Is </a:t>
            </a:r>
            <a:r>
              <a:rPr lang="el-GR" altLang="zh-CN" sz="1600" dirty="0"/>
              <a:t>ρ </a:t>
            </a:r>
            <a:r>
              <a:rPr lang="en-US" altLang="zh-CN" sz="1600" dirty="0"/>
              <a:t>a lossless-join decomposition or a lossy one?</a:t>
            </a:r>
          </a:p>
          <a:p>
            <a:pPr>
              <a:spcBef>
                <a:spcPts val="1200"/>
              </a:spcBef>
            </a:pPr>
            <a:endParaRPr lang="zh-CN" altLang="en-US" sz="1800" dirty="0"/>
          </a:p>
        </p:txBody>
      </p:sp>
    </p:spTree>
    <p:extLst>
      <p:ext uri="{BB962C8B-B14F-4D97-AF65-F5344CB8AC3E}">
        <p14:creationId xmlns:p14="http://schemas.microsoft.com/office/powerpoint/2010/main" val="1153179095"/>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C74417-440B-4D04-9F49-CE7F359C4F11}"/>
              </a:ext>
            </a:extLst>
          </p:cNvPr>
          <p:cNvSpPr>
            <a:spLocks noGrp="1"/>
          </p:cNvSpPr>
          <p:nvPr>
            <p:ph type="title"/>
          </p:nvPr>
        </p:nvSpPr>
        <p:spPr/>
        <p:txBody>
          <a:bodyPr/>
          <a:lstStyle/>
          <a:p>
            <a:pPr algn="ctr"/>
            <a:r>
              <a:rPr lang="en-US" altLang="zh-CN" dirty="0"/>
              <a:t>Test for Lossless-join Decomposition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025EBBC-7294-4C1C-B0F9-21C84A3C41DA}"/>
                  </a:ext>
                </a:extLst>
              </p:cNvPr>
              <p:cNvSpPr>
                <a:spLocks noGrp="1"/>
              </p:cNvSpPr>
              <p:nvPr>
                <p:ph idx="1"/>
              </p:nvPr>
            </p:nvSpPr>
            <p:spPr>
              <a:xfrm>
                <a:off x="251520" y="710896"/>
                <a:ext cx="8892480" cy="3805070"/>
              </a:xfrm>
            </p:spPr>
            <p:txBody>
              <a:bodyPr/>
              <a:lstStyle/>
              <a:p>
                <a:pPr>
                  <a:spcBef>
                    <a:spcPts val="600"/>
                  </a:spcBef>
                </a:pPr>
                <a:r>
                  <a:rPr lang="en-US" altLang="zh-CN" sz="1600" b="1" dirty="0"/>
                  <a:t>Input:</a:t>
                </a:r>
                <a:r>
                  <a:rPr lang="en-US" altLang="zh-CN" sz="1600" dirty="0"/>
                  <a:t> </a:t>
                </a:r>
                <a14:m>
                  <m:oMath xmlns:m="http://schemas.openxmlformats.org/officeDocument/2006/math">
                    <m:r>
                      <a:rPr lang="en-US" altLang="zh-CN" sz="1600" b="0" i="1" smtClean="0">
                        <a:latin typeface="Cambria Math" panose="02040503050406030204" pitchFamily="18" charset="0"/>
                      </a:rPr>
                      <m:t>𝑅</m:t>
                    </m:r>
                    <m:r>
                      <a:rPr lang="en-US" altLang="zh-CN" sz="1600" b="0" i="1" smtClean="0">
                        <a:latin typeface="Cambria Math" panose="02040503050406030204" pitchFamily="18" charset="0"/>
                      </a:rPr>
                      <m:t>&lt;</m:t>
                    </m:r>
                    <m:r>
                      <a:rPr lang="en-US" altLang="zh-CN" sz="1600" b="0" i="1" smtClean="0">
                        <a:latin typeface="Cambria Math" panose="02040503050406030204" pitchFamily="18" charset="0"/>
                      </a:rPr>
                      <m:t>𝑈</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𝐹</m:t>
                    </m:r>
                    <m:r>
                      <a:rPr lang="en-US" altLang="zh-CN" sz="1600" b="0" i="1" smtClean="0">
                        <a:latin typeface="Cambria Math" panose="02040503050406030204" pitchFamily="18" charset="0"/>
                      </a:rPr>
                      <m:t>&gt;</m:t>
                    </m:r>
                  </m:oMath>
                </a14:m>
                <a:r>
                  <a:rPr lang="en-US" altLang="zh-CN" sz="1600" dirty="0"/>
                  <a:t>, </a:t>
                </a:r>
                <a14:m>
                  <m:oMath xmlns:m="http://schemas.openxmlformats.org/officeDocument/2006/math">
                    <m:r>
                      <a:rPr lang="en-US" altLang="zh-CN" sz="1600" b="0" i="1" dirty="0" smtClean="0">
                        <a:latin typeface="Cambria Math" panose="02040503050406030204" pitchFamily="18" charset="0"/>
                      </a:rPr>
                      <m:t>𝑈</m:t>
                    </m:r>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𝐴</m:t>
                        </m:r>
                      </m:e>
                      <m:sub>
                        <m:r>
                          <a:rPr lang="en-US" altLang="zh-CN" sz="1600" b="0" i="1" dirty="0" smtClean="0">
                            <a:latin typeface="Cambria Math" panose="02040503050406030204" pitchFamily="18" charset="0"/>
                          </a:rPr>
                          <m:t>1</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𝐴</m:t>
                        </m:r>
                      </m:e>
                      <m:sub>
                        <m:r>
                          <a:rPr lang="en-US" altLang="zh-CN" sz="1600" b="0" i="1" dirty="0" smtClean="0">
                            <a:latin typeface="Cambria Math" panose="02040503050406030204" pitchFamily="18" charset="0"/>
                          </a:rPr>
                          <m:t>2</m:t>
                        </m:r>
                      </m:sub>
                    </m:sSub>
                    <m:r>
                      <a:rPr lang="en-US" altLang="zh-CN" sz="1600" b="0" i="1" dirty="0" smtClean="0">
                        <a:latin typeface="Cambria Math" panose="02040503050406030204" pitchFamily="18" charset="0"/>
                      </a:rPr>
                      <m:t>,…,</m:t>
                    </m:r>
                    <m:sSub>
                      <m:sSubPr>
                        <m:ctrlPr>
                          <a:rPr lang="en-US" altLang="zh-CN" sz="1600" b="0" i="1" dirty="0" smtClean="0">
                            <a:latin typeface="Cambria Math" panose="02040503050406030204" pitchFamily="18" charset="0"/>
                          </a:rPr>
                        </m:ctrlPr>
                      </m:sSubPr>
                      <m:e>
                        <m:r>
                          <a:rPr lang="en-US" altLang="zh-CN" sz="1600" b="0" i="1" dirty="0" smtClean="0">
                            <a:latin typeface="Cambria Math" panose="02040503050406030204" pitchFamily="18" charset="0"/>
                          </a:rPr>
                          <m:t>𝐴</m:t>
                        </m:r>
                      </m:e>
                      <m:sub>
                        <m:r>
                          <a:rPr lang="en-US" altLang="zh-CN" sz="1600" b="0" i="1" dirty="0" smtClean="0">
                            <a:latin typeface="Cambria Math" panose="02040503050406030204" pitchFamily="18" charset="0"/>
                          </a:rPr>
                          <m:t>𝑛</m:t>
                        </m:r>
                      </m:sub>
                    </m:sSub>
                    <m:r>
                      <a:rPr lang="en-US" altLang="zh-CN" sz="1600" b="0" i="1" dirty="0" smtClean="0">
                        <a:latin typeface="Cambria Math" panose="02040503050406030204" pitchFamily="18" charset="0"/>
                      </a:rPr>
                      <m:t>}</m:t>
                    </m:r>
                  </m:oMath>
                </a14:m>
                <a:r>
                  <a:rPr lang="en-US" altLang="zh-CN" sz="1600" dirty="0"/>
                  <a:t>, a decomposition of </a:t>
                </a:r>
                <a14:m>
                  <m:oMath xmlns:m="http://schemas.openxmlformats.org/officeDocument/2006/math">
                    <m:r>
                      <a:rPr lang="en-US" altLang="zh-CN" sz="1600" b="0" i="1" smtClean="0">
                        <a:latin typeface="Cambria Math" panose="02040503050406030204" pitchFamily="18" charset="0"/>
                      </a:rPr>
                      <m:t>𝑅</m:t>
                    </m:r>
                  </m:oMath>
                </a14:m>
                <a:r>
                  <a:rPr lang="en-US" altLang="zh-CN" sz="1600" dirty="0"/>
                  <a:t>: </a:t>
                </a:r>
                <a14:m>
                  <m:oMath xmlns:m="http://schemas.openxmlformats.org/officeDocument/2006/math">
                    <m:r>
                      <a:rPr lang="zh-CN" altLang="en-US" sz="1600" i="1" smtClean="0">
                        <a:latin typeface="Cambria Math" panose="02040503050406030204" pitchFamily="18" charset="0"/>
                      </a:rPr>
                      <m:t>𝜌</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&lt;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𝐹</m:t>
                        </m:r>
                      </m:e>
                      <m:sub>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&gt;,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&lt;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𝐹</m:t>
                        </m:r>
                      </m:e>
                      <m:sub>
                        <m:r>
                          <a:rPr lang="en-US" altLang="zh-CN" sz="1600" b="0" i="1" smtClean="0">
                            <a:latin typeface="Cambria Math" panose="02040503050406030204" pitchFamily="18" charset="0"/>
                          </a:rPr>
                          <m:t>2</m:t>
                        </m:r>
                      </m:sub>
                    </m:sSub>
                    <m:r>
                      <a:rPr lang="en-US" altLang="zh-CN" sz="1600" b="0" i="1" smtClean="0">
                        <a:latin typeface="Cambria Math" panose="02040503050406030204" pitchFamily="18" charset="0"/>
                      </a:rPr>
                      <m:t>&gt;,…,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𝑘</m:t>
                        </m:r>
                      </m:sub>
                    </m:sSub>
                    <m:r>
                      <a:rPr lang="en-US" altLang="zh-CN" sz="1600" b="0" i="1" smtClean="0">
                        <a:latin typeface="Cambria Math" panose="02040503050406030204" pitchFamily="18" charset="0"/>
                      </a:rPr>
                      <m:t>&lt;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𝑈</m:t>
                        </m:r>
                      </m:e>
                      <m:sub>
                        <m:r>
                          <a:rPr lang="en-US" altLang="zh-CN" sz="1600" b="0" i="1" smtClean="0">
                            <a:latin typeface="Cambria Math" panose="02040503050406030204" pitchFamily="18" charset="0"/>
                          </a:rPr>
                          <m:t>𝑘</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𝐹</m:t>
                        </m:r>
                      </m:e>
                      <m:sub>
                        <m:r>
                          <a:rPr lang="en-US" altLang="zh-CN" sz="1600" b="0" i="1" smtClean="0">
                            <a:latin typeface="Cambria Math" panose="02040503050406030204" pitchFamily="18" charset="0"/>
                          </a:rPr>
                          <m:t>𝑘</m:t>
                        </m:r>
                      </m:sub>
                    </m:sSub>
                    <m:r>
                      <a:rPr lang="en-US" altLang="zh-CN" sz="1600" b="0" i="1" smtClean="0">
                        <a:latin typeface="Cambria Math" panose="02040503050406030204" pitchFamily="18" charset="0"/>
                      </a:rPr>
                      <m:t>&gt;}</m:t>
                    </m:r>
                  </m:oMath>
                </a14:m>
                <a:endParaRPr lang="en-US" altLang="zh-CN" sz="1600" dirty="0"/>
              </a:p>
              <a:p>
                <a:pPr>
                  <a:spcBef>
                    <a:spcPts val="600"/>
                  </a:spcBef>
                </a:pPr>
                <a:r>
                  <a:rPr lang="en-US" altLang="zh-CN" sz="1600" b="1" dirty="0"/>
                  <a:t>Output:</a:t>
                </a:r>
                <a:r>
                  <a:rPr lang="en-US" altLang="zh-CN" sz="1600" dirty="0"/>
                  <a:t> </a:t>
                </a:r>
                <a14:m>
                  <m:oMath xmlns:m="http://schemas.openxmlformats.org/officeDocument/2006/math">
                    <m:r>
                      <a:rPr lang="zh-CN" altLang="en-US" sz="1600" i="1" smtClean="0">
                        <a:latin typeface="Cambria Math" panose="02040503050406030204" pitchFamily="18" charset="0"/>
                      </a:rPr>
                      <m:t>𝜌</m:t>
                    </m:r>
                  </m:oMath>
                </a14:m>
                <a:r>
                  <a:rPr lang="en-US" altLang="zh-CN" sz="1600" dirty="0"/>
                  <a:t> is a lossless-join decomposition or a lossy one</a:t>
                </a:r>
              </a:p>
              <a:p>
                <a:pPr marL="457200" lvl="1" indent="0">
                  <a:spcBef>
                    <a:spcPts val="600"/>
                  </a:spcBef>
                  <a:buNone/>
                </a:pPr>
                <a:r>
                  <a:rPr lang="en-US" altLang="zh-CN" sz="1400" dirty="0"/>
                  <a:t>(1) Construct a table </a:t>
                </a:r>
                <a14:m>
                  <m:oMath xmlns:m="http://schemas.openxmlformats.org/officeDocument/2006/math">
                    <m:r>
                      <a:rPr lang="en-US" altLang="zh-CN" sz="1400" b="0" i="1" smtClean="0">
                        <a:latin typeface="Cambria Math" panose="02040503050406030204" pitchFamily="18" charset="0"/>
                      </a:rPr>
                      <m:t>𝐿</m:t>
                    </m:r>
                  </m:oMath>
                </a14:m>
                <a:r>
                  <a:rPr lang="en-US" altLang="zh-CN" sz="1400" dirty="0"/>
                  <a:t> with </a:t>
                </a:r>
                <a14:m>
                  <m:oMath xmlns:m="http://schemas.openxmlformats.org/officeDocument/2006/math">
                    <m:r>
                      <a:rPr lang="en-US" altLang="zh-CN" sz="1400" b="0" i="1" smtClean="0">
                        <a:latin typeface="Cambria Math" panose="02040503050406030204" pitchFamily="18" charset="0"/>
                      </a:rPr>
                      <m:t>𝑘</m:t>
                    </m:r>
                  </m:oMath>
                </a14:m>
                <a:r>
                  <a:rPr lang="en-US" altLang="zh-CN" sz="1400" dirty="0"/>
                  <a:t> rows and </a:t>
                </a:r>
                <a14:m>
                  <m:oMath xmlns:m="http://schemas.openxmlformats.org/officeDocument/2006/math">
                    <m:r>
                      <a:rPr lang="en-US" altLang="zh-CN" sz="1400" b="0" i="1" smtClean="0">
                        <a:latin typeface="Cambria Math" panose="02040503050406030204" pitchFamily="18" charset="0"/>
                      </a:rPr>
                      <m:t>𝑛</m:t>
                    </m:r>
                  </m:oMath>
                </a14:m>
                <a:r>
                  <a:rPr lang="en-US" altLang="zh-CN" sz="1400" dirty="0"/>
                  <a:t> columns, and each column corresponds to an attribute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𝐴</m:t>
                        </m:r>
                      </m:e>
                      <m:sub>
                        <m:r>
                          <a:rPr lang="en-US" altLang="zh-CN" sz="1400" b="0" i="1" smtClean="0">
                            <a:latin typeface="Cambria Math" panose="02040503050406030204" pitchFamily="18" charset="0"/>
                          </a:rPr>
                          <m:t>𝑗</m:t>
                        </m:r>
                      </m:sub>
                    </m:sSub>
                    <m:r>
                      <a:rPr lang="en-US" altLang="zh-CN" sz="1400" b="0" i="1" smtClean="0">
                        <a:latin typeface="Cambria Math" panose="02040503050406030204" pitchFamily="18" charset="0"/>
                      </a:rPr>
                      <m:t>(1</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rPr>
                      <m:t>𝑗</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rPr>
                      <m:t>𝑛</m:t>
                    </m:r>
                    <m:r>
                      <a:rPr lang="en-US" altLang="zh-CN" sz="1400" b="0" i="1" smtClean="0">
                        <a:latin typeface="Cambria Math" panose="02040503050406030204" pitchFamily="18" charset="0"/>
                      </a:rPr>
                      <m:t>)</m:t>
                    </m:r>
                  </m:oMath>
                </a14:m>
                <a:r>
                  <a:rPr lang="en-US" altLang="zh-CN" sz="1400" dirty="0"/>
                  <a:t>, and each row corresponds to a schema </a:t>
                </a:r>
                <a14:m>
                  <m:oMath xmlns:m="http://schemas.openxmlformats.org/officeDocument/2006/math">
                    <m:sSub>
                      <m:sSubPr>
                        <m:ctrlPr>
                          <a:rPr lang="en-US" altLang="zh-CN" sz="1400" i="1">
                            <a:latin typeface="Cambria Math" panose="02040503050406030204" pitchFamily="18" charset="0"/>
                          </a:rPr>
                        </m:ctrlPr>
                      </m:sSubPr>
                      <m:e>
                        <m:r>
                          <a:rPr lang="en-US" altLang="zh-CN" sz="1400" b="0" i="1" smtClean="0">
                            <a:latin typeface="Cambria Math" panose="02040503050406030204" pitchFamily="18" charset="0"/>
                          </a:rPr>
                          <m:t>𝑅</m:t>
                        </m:r>
                      </m:e>
                      <m:sub>
                        <m:r>
                          <a:rPr lang="en-US" altLang="zh-CN" sz="1400" b="0" i="1" smtClean="0">
                            <a:latin typeface="Cambria Math" panose="02040503050406030204" pitchFamily="18" charset="0"/>
                          </a:rPr>
                          <m:t>𝑖</m:t>
                        </m:r>
                      </m:sub>
                    </m:sSub>
                    <m:r>
                      <a:rPr lang="en-US" altLang="zh-CN" sz="1400" i="1">
                        <a:latin typeface="Cambria Math" panose="02040503050406030204" pitchFamily="18" charset="0"/>
                      </a:rPr>
                      <m:t>(1</m:t>
                    </m:r>
                    <m:r>
                      <a:rPr lang="en-US" altLang="zh-CN" sz="1400" i="1">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𝑖</m:t>
                    </m:r>
                    <m:r>
                      <a:rPr lang="en-US" altLang="zh-CN" sz="1400" i="1">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𝑘</m:t>
                    </m:r>
                    <m:r>
                      <a:rPr lang="en-US" altLang="zh-CN" sz="1400" i="1">
                        <a:latin typeface="Cambria Math" panose="02040503050406030204" pitchFamily="18" charset="0"/>
                      </a:rPr>
                      <m:t>)</m:t>
                    </m:r>
                  </m:oMath>
                </a14:m>
                <a:r>
                  <a:rPr lang="en-US" altLang="zh-CN" sz="1400" dirty="0"/>
                  <a:t>. If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𝐴</m:t>
                        </m:r>
                      </m:e>
                      <m:sub>
                        <m:r>
                          <a:rPr lang="en-US" altLang="zh-CN" sz="1400" i="1">
                            <a:latin typeface="Cambria Math" panose="02040503050406030204" pitchFamily="18" charset="0"/>
                          </a:rPr>
                          <m:t>𝑗</m:t>
                        </m:r>
                      </m:sub>
                    </m:sSub>
                  </m:oMath>
                </a14:m>
                <a:r>
                  <a:rPr lang="en-US" altLang="zh-CN" sz="1400" dirty="0"/>
                  <a:t> is in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𝑅</m:t>
                        </m:r>
                      </m:e>
                      <m:sub>
                        <m:r>
                          <a:rPr lang="en-US" altLang="zh-CN" sz="1400" i="1">
                            <a:latin typeface="Cambria Math" panose="02040503050406030204" pitchFamily="18" charset="0"/>
                          </a:rPr>
                          <m:t>𝑖</m:t>
                        </m:r>
                      </m:sub>
                    </m:sSub>
                  </m:oMath>
                </a14:m>
                <a:r>
                  <a:rPr lang="en-US" altLang="zh-CN" sz="1400" dirty="0"/>
                  <a:t> (</a:t>
                </a:r>
                <a14:m>
                  <m:oMath xmlns:m="http://schemas.openxmlformats.org/officeDocument/2006/math">
                    <m:sSub>
                      <m:sSubPr>
                        <m:ctrlPr>
                          <a:rPr lang="en-US" altLang="zh-CN" sz="1400" i="1">
                            <a:latin typeface="Cambria Math" panose="02040503050406030204" pitchFamily="18" charset="0"/>
                          </a:rPr>
                        </m:ctrlPr>
                      </m:sSubPr>
                      <m:e>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𝐴</m:t>
                            </m:r>
                          </m:e>
                          <m:sub>
                            <m:r>
                              <a:rPr lang="en-US" altLang="zh-CN" sz="1400" b="0" i="1" smtClean="0">
                                <a:latin typeface="Cambria Math" panose="02040503050406030204" pitchFamily="18" charset="0"/>
                              </a:rPr>
                              <m:t>𝑗</m:t>
                            </m:r>
                          </m:sub>
                        </m:sSub>
                        <m:r>
                          <a:rPr lang="en-US" altLang="zh-CN" sz="1400" i="1" smtClean="0">
                            <a:latin typeface="Cambria Math" panose="02040503050406030204" pitchFamily="18" charset="0"/>
                            <a:ea typeface="Cambria Math" panose="02040503050406030204" pitchFamily="18" charset="0"/>
                          </a:rPr>
                          <m:t>∈</m:t>
                        </m:r>
                        <m:r>
                          <a:rPr lang="en-US" altLang="zh-CN" sz="1400" i="1">
                            <a:latin typeface="Cambria Math" panose="02040503050406030204" pitchFamily="18" charset="0"/>
                          </a:rPr>
                          <m:t>𝑅</m:t>
                        </m:r>
                      </m:e>
                      <m:sub>
                        <m:r>
                          <a:rPr lang="en-US" altLang="zh-CN" sz="1400" i="1">
                            <a:latin typeface="Cambria Math" panose="02040503050406030204" pitchFamily="18" charset="0"/>
                          </a:rPr>
                          <m:t>𝑖</m:t>
                        </m:r>
                      </m:sub>
                    </m:sSub>
                  </m:oMath>
                </a14:m>
                <a:r>
                  <a:rPr lang="en-US" altLang="zh-CN" sz="1400" dirty="0"/>
                  <a:t>), then fill the form with </a:t>
                </a:r>
                <a14:m>
                  <m:oMath xmlns:m="http://schemas.openxmlformats.org/officeDocument/2006/math">
                    <m:sSub>
                      <m:sSubPr>
                        <m:ctrlPr>
                          <a:rPr lang="en-US" altLang="zh-CN" sz="1400" i="1">
                            <a:latin typeface="Cambria Math" panose="02040503050406030204" pitchFamily="18" charset="0"/>
                          </a:rPr>
                        </m:ctrlPr>
                      </m:sSubPr>
                      <m:e>
                        <m:r>
                          <a:rPr lang="en-US" altLang="zh-CN" sz="1400" b="0" i="1" smtClean="0">
                            <a:latin typeface="Cambria Math" panose="02040503050406030204" pitchFamily="18" charset="0"/>
                          </a:rPr>
                          <m:t>𝑎</m:t>
                        </m:r>
                      </m:e>
                      <m:sub>
                        <m:r>
                          <a:rPr lang="en-US" altLang="zh-CN" sz="1400" b="0" i="1" smtClean="0">
                            <a:latin typeface="Cambria Math" panose="02040503050406030204" pitchFamily="18" charset="0"/>
                          </a:rPr>
                          <m:t>𝑗</m:t>
                        </m:r>
                      </m:sub>
                    </m:sSub>
                  </m:oMath>
                </a14:m>
                <a:r>
                  <a:rPr lang="en-US" altLang="zh-CN" sz="1400" dirty="0"/>
                  <a:t> at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𝐿</m:t>
                        </m:r>
                      </m:e>
                      <m:sub>
                        <m:r>
                          <a:rPr lang="en-US" altLang="zh-CN" sz="1400" b="0" i="1" smtClean="0">
                            <a:latin typeface="Cambria Math" panose="02040503050406030204" pitchFamily="18" charset="0"/>
                          </a:rPr>
                          <m:t>𝑖</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𝑗</m:t>
                        </m:r>
                      </m:sub>
                    </m:sSub>
                  </m:oMath>
                </a14:m>
                <a:r>
                  <a:rPr lang="en-US" altLang="zh-CN" sz="1400" dirty="0"/>
                  <a:t>, otherwise fill it with </a:t>
                </a:r>
                <a14:m>
                  <m:oMath xmlns:m="http://schemas.openxmlformats.org/officeDocument/2006/math">
                    <m:sSub>
                      <m:sSubPr>
                        <m:ctrlPr>
                          <a:rPr lang="en-US" altLang="zh-CN" sz="1400" i="1">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i="1">
                            <a:latin typeface="Cambria Math" panose="02040503050406030204" pitchFamily="18" charset="0"/>
                          </a:rPr>
                          <m:t>𝑖</m:t>
                        </m:r>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𝑗</m:t>
                        </m:r>
                      </m:sub>
                    </m:sSub>
                  </m:oMath>
                </a14:m>
                <a:r>
                  <a:rPr lang="en-US" altLang="zh-CN" sz="1400" dirty="0"/>
                  <a:t>. </a:t>
                </a:r>
              </a:p>
              <a:p>
                <a:pPr marL="457200" lvl="1" indent="0">
                  <a:spcBef>
                    <a:spcPts val="600"/>
                  </a:spcBef>
                  <a:buNone/>
                </a:pPr>
                <a:r>
                  <a:rPr lang="en-US" altLang="zh-CN" sz="1400" dirty="0"/>
                  <a:t>(2) Regard table L as a relation on schema R, and check for each FD in F whether the FD is satisfied or not. If the FD is not satisfied, rewrite the table as:</a:t>
                </a:r>
              </a:p>
              <a:p>
                <a:pPr lvl="1">
                  <a:spcBef>
                    <a:spcPts val="600"/>
                  </a:spcBef>
                </a:pPr>
                <a:r>
                  <a:rPr lang="en-US" altLang="zh-CN" sz="1400" dirty="0"/>
                  <a:t>For a FD in F</a:t>
                </a:r>
                <a:r>
                  <a:rPr lang="zh-CN" altLang="en-US" sz="1400" dirty="0"/>
                  <a:t>：</a:t>
                </a:r>
                <a:r>
                  <a:rPr lang="en-US" altLang="zh-CN" sz="1400" dirty="0"/>
                  <a:t>X→Y, if t[x1]=t[x2], and t[y1]≠t[y2], then rewrite y with the same value</a:t>
                </a:r>
              </a:p>
              <a:p>
                <a:pPr lvl="2">
                  <a:spcBef>
                    <a:spcPts val="0"/>
                  </a:spcBef>
                </a:pPr>
                <a:r>
                  <a:rPr lang="en-US" altLang="zh-CN" sz="1400" dirty="0"/>
                  <a:t>If there is an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𝑎</m:t>
                        </m:r>
                      </m:e>
                      <m:sub>
                        <m:r>
                          <a:rPr lang="en-US" altLang="zh-CN" sz="1400" i="1">
                            <a:latin typeface="Cambria Math" panose="02040503050406030204" pitchFamily="18" charset="0"/>
                          </a:rPr>
                          <m:t>𝑗</m:t>
                        </m:r>
                      </m:sub>
                    </m:sSub>
                  </m:oMath>
                </a14:m>
                <a:r>
                  <a:rPr lang="en-US" altLang="zh-CN" sz="1400" dirty="0"/>
                  <a:t> for y, then another y is set to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𝑎</m:t>
                        </m:r>
                      </m:e>
                      <m:sub>
                        <m:r>
                          <a:rPr lang="en-US" altLang="zh-CN" sz="1400" i="1">
                            <a:latin typeface="Cambria Math" panose="02040503050406030204" pitchFamily="18" charset="0"/>
                          </a:rPr>
                          <m:t>𝑗</m:t>
                        </m:r>
                      </m:sub>
                    </m:sSub>
                  </m:oMath>
                </a14:m>
                <a:r>
                  <a:rPr lang="en-US" altLang="zh-CN" sz="1400" dirty="0"/>
                  <a:t>;</a:t>
                </a:r>
              </a:p>
              <a:p>
                <a:pPr lvl="2">
                  <a:spcBef>
                    <a:spcPts val="0"/>
                  </a:spcBef>
                </a:pPr>
                <a:r>
                  <a:rPr lang="en-US" altLang="zh-CN" sz="1400" dirty="0"/>
                  <a:t>If there is not an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𝑎</m:t>
                        </m:r>
                      </m:e>
                      <m:sub>
                        <m:r>
                          <a:rPr lang="en-US" altLang="zh-CN" sz="1400" i="1">
                            <a:latin typeface="Cambria Math" panose="02040503050406030204" pitchFamily="18" charset="0"/>
                          </a:rPr>
                          <m:t>𝑗</m:t>
                        </m:r>
                      </m:sub>
                    </m:sSub>
                  </m:oMath>
                </a14:m>
                <a:r>
                  <a:rPr lang="en-US" altLang="zh-CN" sz="1400" dirty="0"/>
                  <a:t>, then use one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𝑖𝑗</m:t>
                        </m:r>
                      </m:sub>
                    </m:sSub>
                  </m:oMath>
                </a14:m>
                <a:r>
                  <a:rPr lang="en-US" altLang="zh-CN" sz="1400" dirty="0"/>
                  <a:t> to replace the other y;</a:t>
                </a:r>
              </a:p>
              <a:p>
                <a:pPr lvl="1">
                  <a:spcBef>
                    <a:spcPts val="600"/>
                  </a:spcBef>
                </a:pPr>
                <a:r>
                  <a:rPr lang="en-US" altLang="zh-CN" sz="1400" dirty="0"/>
                  <a:t>Till no changes occur on form </a:t>
                </a:r>
                <a14:m>
                  <m:oMath xmlns:m="http://schemas.openxmlformats.org/officeDocument/2006/math">
                    <m:r>
                      <a:rPr lang="en-US" altLang="zh-CN" sz="1400" i="1">
                        <a:latin typeface="Cambria Math" panose="02040503050406030204" pitchFamily="18" charset="0"/>
                      </a:rPr>
                      <m:t>𝐿</m:t>
                    </m:r>
                  </m:oMath>
                </a14:m>
                <a:endParaRPr lang="en-US" altLang="zh-CN" sz="1400" dirty="0"/>
              </a:p>
              <a:p>
                <a:pPr marL="457200" lvl="1" indent="0">
                  <a:spcBef>
                    <a:spcPts val="600"/>
                  </a:spcBef>
                  <a:buNone/>
                </a:pPr>
                <a:r>
                  <a:rPr lang="en-US" altLang="zh-CN" sz="1400" dirty="0"/>
                  <a:t>(3) If there is a row of all </a:t>
                </a:r>
                <a14:m>
                  <m:oMath xmlns:m="http://schemas.openxmlformats.org/officeDocument/2006/math">
                    <m:sSub>
                      <m:sSubPr>
                        <m:ctrlPr>
                          <a:rPr lang="en-US" altLang="zh-CN" sz="1400" i="1">
                            <a:latin typeface="Cambria Math" panose="02040503050406030204" pitchFamily="18" charset="0"/>
                          </a:rPr>
                        </m:ctrlPr>
                      </m:sSubPr>
                      <m:e>
                        <m:r>
                          <a:rPr lang="en-US" altLang="zh-CN" sz="1400">
                            <a:latin typeface="Cambria Math" panose="02040503050406030204" pitchFamily="18" charset="0"/>
                          </a:rPr>
                          <m:t>𝑎</m:t>
                        </m:r>
                      </m:e>
                      <m:sub>
                        <m:r>
                          <a:rPr lang="en-US" altLang="zh-CN" sz="1400">
                            <a:latin typeface="Cambria Math" panose="02040503050406030204" pitchFamily="18" charset="0"/>
                          </a:rPr>
                          <m:t>𝑖</m:t>
                        </m:r>
                      </m:sub>
                    </m:sSub>
                  </m:oMath>
                </a14:m>
                <a:r>
                  <a:rPr lang="en-US" altLang="zh-CN" sz="1400" dirty="0"/>
                  <a:t> (i.e., </a:t>
                </a:r>
                <a14:m>
                  <m:oMath xmlns:m="http://schemas.openxmlformats.org/officeDocument/2006/math">
                    <m:sSub>
                      <m:sSubPr>
                        <m:ctrlPr>
                          <a:rPr lang="en-US" altLang="zh-CN" sz="1400" i="1">
                            <a:latin typeface="Cambria Math" panose="02040503050406030204" pitchFamily="18" charset="0"/>
                          </a:rPr>
                        </m:ctrlPr>
                      </m:sSubPr>
                      <m:e>
                        <m:r>
                          <a:rPr lang="en-US" altLang="zh-CN" sz="1400">
                            <a:latin typeface="Cambria Math" panose="02040503050406030204" pitchFamily="18" charset="0"/>
                          </a:rPr>
                          <m:t>𝑎</m:t>
                        </m:r>
                      </m:e>
                      <m:sub>
                        <m:r>
                          <a:rPr lang="en-US" altLang="zh-CN" sz="1400">
                            <a:latin typeface="Cambria Math" panose="02040503050406030204" pitchFamily="18" charset="0"/>
                          </a:rPr>
                          <m:t>1</m:t>
                        </m:r>
                      </m:sub>
                    </m:sSub>
                    <m:sSub>
                      <m:sSubPr>
                        <m:ctrlPr>
                          <a:rPr lang="en-US" altLang="zh-CN" sz="1400" i="1">
                            <a:latin typeface="Cambria Math" panose="02040503050406030204" pitchFamily="18" charset="0"/>
                          </a:rPr>
                        </m:ctrlPr>
                      </m:sSubPr>
                      <m:e>
                        <m:r>
                          <a:rPr lang="en-US" altLang="zh-CN" sz="1400">
                            <a:latin typeface="Cambria Math" panose="02040503050406030204" pitchFamily="18" charset="0"/>
                          </a:rPr>
                          <m:t>𝑎</m:t>
                        </m:r>
                      </m:e>
                      <m:sub>
                        <m:r>
                          <a:rPr lang="en-US" altLang="zh-CN" sz="1400">
                            <a:latin typeface="Cambria Math" panose="02040503050406030204" pitchFamily="18" charset="0"/>
                          </a:rPr>
                          <m:t>2</m:t>
                        </m:r>
                      </m:sub>
                    </m:sSub>
                    <m:r>
                      <a:rPr lang="en-US" altLang="zh-CN" sz="1400">
                        <a:latin typeface="Cambria Math" panose="02040503050406030204" pitchFamily="18" charset="0"/>
                      </a:rPr>
                      <m:t>…</m:t>
                    </m:r>
                  </m:oMath>
                </a14:m>
                <a:r>
                  <a:rPr lang="en-US" altLang="zh-CN" sz="1400" dirty="0"/>
                  <a:t> </a:t>
                </a:r>
                <a14:m>
                  <m:oMath xmlns:m="http://schemas.openxmlformats.org/officeDocument/2006/math">
                    <m:sSub>
                      <m:sSubPr>
                        <m:ctrlPr>
                          <a:rPr lang="en-US" altLang="zh-CN" sz="1400" i="1">
                            <a:latin typeface="Cambria Math" panose="02040503050406030204" pitchFamily="18" charset="0"/>
                          </a:rPr>
                        </m:ctrlPr>
                      </m:sSubPr>
                      <m:e>
                        <m:r>
                          <a:rPr lang="en-US" altLang="zh-CN" sz="1400">
                            <a:latin typeface="Cambria Math" panose="02040503050406030204" pitchFamily="18" charset="0"/>
                          </a:rPr>
                          <m:t>𝑎</m:t>
                        </m:r>
                      </m:e>
                      <m:sub>
                        <m:r>
                          <a:rPr lang="en-US" altLang="zh-CN" sz="1400">
                            <a:latin typeface="Cambria Math" panose="02040503050406030204" pitchFamily="18" charset="0"/>
                          </a:rPr>
                          <m:t>𝑛</m:t>
                        </m:r>
                      </m:sub>
                    </m:sSub>
                  </m:oMath>
                </a14:m>
                <a:r>
                  <a:rPr lang="en-US" altLang="zh-CN" sz="1400" dirty="0"/>
                  <a:t>), then ρ is a lossless-join decomposition. Otherwise, ρ is a lossy decomposition</a:t>
                </a:r>
              </a:p>
              <a:p>
                <a:pPr>
                  <a:spcBef>
                    <a:spcPts val="600"/>
                  </a:spcBef>
                </a:pPr>
                <a:endParaRPr lang="zh-CN" altLang="en-US" sz="1600" dirty="0"/>
              </a:p>
            </p:txBody>
          </p:sp>
        </mc:Choice>
        <mc:Fallback xmlns="">
          <p:sp>
            <p:nvSpPr>
              <p:cNvPr id="3" name="内容占位符 2">
                <a:extLst>
                  <a:ext uri="{FF2B5EF4-FFF2-40B4-BE49-F238E27FC236}">
                    <a16:creationId xmlns:a16="http://schemas.microsoft.com/office/drawing/2014/main" id="{6025EBBC-7294-4C1C-B0F9-21C84A3C41DA}"/>
                  </a:ext>
                </a:extLst>
              </p:cNvPr>
              <p:cNvSpPr>
                <a:spLocks noGrp="1" noRot="1" noChangeAspect="1" noMove="1" noResize="1" noEditPoints="1" noAdjustHandles="1" noChangeArrowheads="1" noChangeShapeType="1" noTextEdit="1"/>
              </p:cNvSpPr>
              <p:nvPr>
                <p:ph idx="1"/>
              </p:nvPr>
            </p:nvSpPr>
            <p:spPr>
              <a:xfrm>
                <a:off x="251520" y="710896"/>
                <a:ext cx="8892480" cy="3805070"/>
              </a:xfrm>
              <a:blipFill>
                <a:blip r:embed="rId2"/>
                <a:stretch>
                  <a:fillRect l="-274" t="-481" r="-2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47106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anim calcmode="lin" valueType="num">
                                      <p:cBhvr additive="base">
                                        <p:cTn id="2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06D169-41B9-4621-86EE-5F923DD6496A}"/>
              </a:ext>
            </a:extLst>
          </p:cNvPr>
          <p:cNvSpPr>
            <a:spLocks noGrp="1"/>
          </p:cNvSpPr>
          <p:nvPr>
            <p:ph type="title"/>
          </p:nvPr>
        </p:nvSpPr>
        <p:spPr/>
        <p:txBody>
          <a:bodyPr/>
          <a:lstStyle/>
          <a:p>
            <a:pPr algn="ctr"/>
            <a:r>
              <a:rPr lang="en-US" altLang="zh-CN" dirty="0"/>
              <a:t>Example</a:t>
            </a:r>
            <a:endParaRPr lang="zh-CN" altLang="en-US" dirty="0"/>
          </a:p>
        </p:txBody>
      </p:sp>
      <p:sp>
        <p:nvSpPr>
          <p:cNvPr id="3" name="内容占位符 2">
            <a:extLst>
              <a:ext uri="{FF2B5EF4-FFF2-40B4-BE49-F238E27FC236}">
                <a16:creationId xmlns:a16="http://schemas.microsoft.com/office/drawing/2014/main" id="{15B8E21A-6625-4A0C-B88B-507AA8757035}"/>
              </a:ext>
            </a:extLst>
          </p:cNvPr>
          <p:cNvSpPr>
            <a:spLocks noGrp="1"/>
          </p:cNvSpPr>
          <p:nvPr>
            <p:ph idx="1"/>
          </p:nvPr>
        </p:nvSpPr>
        <p:spPr>
          <a:xfrm>
            <a:off x="251520" y="789553"/>
            <a:ext cx="8640960" cy="3805070"/>
          </a:xfrm>
        </p:spPr>
        <p:txBody>
          <a:bodyPr/>
          <a:lstStyle/>
          <a:p>
            <a:pPr>
              <a:spcBef>
                <a:spcPts val="600"/>
              </a:spcBef>
            </a:pPr>
            <a:r>
              <a:rPr lang="en-US" altLang="zh-CN" sz="1600" dirty="0"/>
              <a:t>Given R&lt;U, F&gt;, U={A, B, C, D, E}, F={AB→C, C→D, D→E}, and a decomposition ρ of R into: R</a:t>
            </a:r>
            <a:r>
              <a:rPr lang="en-US" altLang="zh-CN" sz="1600" baseline="-25000" dirty="0"/>
              <a:t>1</a:t>
            </a:r>
            <a:r>
              <a:rPr lang="en-US" altLang="zh-CN" sz="1600" dirty="0"/>
              <a:t>(A, B, C), R</a:t>
            </a:r>
            <a:r>
              <a:rPr lang="en-US" altLang="zh-CN" sz="1600" baseline="-25000" dirty="0"/>
              <a:t>2</a:t>
            </a:r>
            <a:r>
              <a:rPr lang="en-US" altLang="zh-CN" sz="1600" dirty="0"/>
              <a:t>(C, D), R</a:t>
            </a:r>
            <a:r>
              <a:rPr lang="en-US" altLang="zh-CN" sz="1600" baseline="-25000" dirty="0"/>
              <a:t>3</a:t>
            </a:r>
            <a:r>
              <a:rPr lang="en-US" altLang="zh-CN" sz="1600" dirty="0"/>
              <a:t>(D, E). Is ρ a lossless-join decomposition or a lossy one?</a:t>
            </a:r>
          </a:p>
          <a:p>
            <a:pPr marL="0" indent="0">
              <a:spcBef>
                <a:spcPts val="600"/>
              </a:spcBef>
              <a:buNone/>
            </a:pPr>
            <a:r>
              <a:rPr lang="en-US" altLang="zh-CN" sz="1600" dirty="0"/>
              <a:t>    (1) First, construct a table as:</a:t>
            </a:r>
          </a:p>
          <a:p>
            <a:pPr>
              <a:spcBef>
                <a:spcPts val="600"/>
              </a:spcBef>
            </a:pPr>
            <a:endParaRPr lang="zh-CN" altLang="en-US" sz="1600" dirty="0"/>
          </a:p>
        </p:txBody>
      </p:sp>
      <p:graphicFrame>
        <p:nvGraphicFramePr>
          <p:cNvPr id="5" name="Group 54">
            <a:extLst>
              <a:ext uri="{FF2B5EF4-FFF2-40B4-BE49-F238E27FC236}">
                <a16:creationId xmlns:a16="http://schemas.microsoft.com/office/drawing/2014/main" id="{B699606B-E409-4196-B04F-1C4D10D47F4C}"/>
              </a:ext>
            </a:extLst>
          </p:cNvPr>
          <p:cNvGraphicFramePr>
            <a:graphicFrameLocks/>
          </p:cNvGraphicFramePr>
          <p:nvPr>
            <p:extLst>
              <p:ext uri="{D42A27DB-BD31-4B8C-83A1-F6EECF244321}">
                <p14:modId xmlns:p14="http://schemas.microsoft.com/office/powerpoint/2010/main" val="3525664764"/>
              </p:ext>
            </p:extLst>
          </p:nvPr>
        </p:nvGraphicFramePr>
        <p:xfrm>
          <a:off x="1547664" y="2536224"/>
          <a:ext cx="5562601" cy="1727597"/>
        </p:xfrm>
        <a:graphic>
          <a:graphicData uri="http://schemas.openxmlformats.org/drawingml/2006/table">
            <a:tbl>
              <a:tblPr/>
              <a:tblGrid>
                <a:gridCol w="1241822">
                  <a:extLst>
                    <a:ext uri="{9D8B030D-6E8A-4147-A177-3AD203B41FA5}">
                      <a16:colId xmlns:a16="http://schemas.microsoft.com/office/drawing/2014/main" val="20000"/>
                    </a:ext>
                  </a:extLst>
                </a:gridCol>
                <a:gridCol w="917972">
                  <a:extLst>
                    <a:ext uri="{9D8B030D-6E8A-4147-A177-3AD203B41FA5}">
                      <a16:colId xmlns:a16="http://schemas.microsoft.com/office/drawing/2014/main" val="20001"/>
                    </a:ext>
                  </a:extLst>
                </a:gridCol>
                <a:gridCol w="837009">
                  <a:extLst>
                    <a:ext uri="{9D8B030D-6E8A-4147-A177-3AD203B41FA5}">
                      <a16:colId xmlns:a16="http://schemas.microsoft.com/office/drawing/2014/main" val="20002"/>
                    </a:ext>
                  </a:extLst>
                </a:gridCol>
                <a:gridCol w="837010">
                  <a:extLst>
                    <a:ext uri="{9D8B030D-6E8A-4147-A177-3AD203B41FA5}">
                      <a16:colId xmlns:a16="http://schemas.microsoft.com/office/drawing/2014/main" val="20003"/>
                    </a:ext>
                  </a:extLst>
                </a:gridCol>
                <a:gridCol w="864394">
                  <a:extLst>
                    <a:ext uri="{9D8B030D-6E8A-4147-A177-3AD203B41FA5}">
                      <a16:colId xmlns:a16="http://schemas.microsoft.com/office/drawing/2014/main" val="20004"/>
                    </a:ext>
                  </a:extLst>
                </a:gridCol>
                <a:gridCol w="864394">
                  <a:extLst>
                    <a:ext uri="{9D8B030D-6E8A-4147-A177-3AD203B41FA5}">
                      <a16:colId xmlns:a16="http://schemas.microsoft.com/office/drawing/2014/main" val="20005"/>
                    </a:ext>
                  </a:extLst>
                </a:gridCol>
              </a:tblGrid>
              <a:tr h="432197">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A</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C</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D</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E</a:t>
                      </a: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2197">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R</a:t>
                      </a:r>
                      <a:r>
                        <a:rPr kumimoji="0" lang="en-US" altLang="zh-CN" sz="1800" b="1" i="0" u="none" strike="noStrike" cap="none" normalizeH="0" baseline="-25000" dirty="0">
                          <a:ln>
                            <a:noFill/>
                          </a:ln>
                          <a:solidFill>
                            <a:schemeClr val="tx1"/>
                          </a:solidFill>
                          <a:effectLst/>
                          <a:latin typeface="Comic Sans MS" panose="030F0702030302020204" pitchFamily="66" charset="0"/>
                          <a:ea typeface="华文中宋" panose="02010600040101010101" pitchFamily="2" charset="-122"/>
                        </a:rPr>
                        <a:t>1</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r>
                        <a:rPr kumimoji="0" lang="en-US" altLang="zh-CN" sz="1800" b="1" i="0" u="none" strike="noStrike" cap="none" normalizeH="0" baseline="0" dirty="0">
                          <a:ln>
                            <a:noFill/>
                          </a:ln>
                          <a:solidFill>
                            <a:srgbClr val="0000FF"/>
                          </a:solidFill>
                          <a:effectLst/>
                          <a:latin typeface="Comic Sans MS" panose="030F0702030302020204" pitchFamily="66" charset="0"/>
                          <a:ea typeface="华文中宋" panose="02010600040101010101" pitchFamily="2" charset="-122"/>
                        </a:rPr>
                        <a:t>A,B,C</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0000FF"/>
                          </a:solidFill>
                          <a:effectLst/>
                          <a:latin typeface="Comic Sans MS" panose="030F0702030302020204" pitchFamily="66" charset="0"/>
                          <a:ea typeface="宋体" panose="02010600030101010101" pitchFamily="2" charset="-122"/>
                        </a:rPr>
                        <a:t>1</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0000FF"/>
                          </a:solidFill>
                          <a:effectLst/>
                          <a:latin typeface="Comic Sans MS" panose="030F0702030302020204" pitchFamily="66" charset="0"/>
                          <a:ea typeface="宋体" panose="02010600030101010101" pitchFamily="2" charset="-122"/>
                        </a:rPr>
                        <a:t>2</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00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dirty="0">
                          <a:ln>
                            <a:noFill/>
                          </a:ln>
                          <a:solidFill>
                            <a:srgbClr val="0000FF"/>
                          </a:solidFill>
                          <a:effectLst/>
                          <a:latin typeface="Comic Sans MS" panose="030F0702030302020204" pitchFamily="66" charset="0"/>
                          <a:ea typeface="宋体" panose="02010600030101010101" pitchFamily="2" charset="-122"/>
                        </a:rPr>
                        <a:t>3</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00B050"/>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dirty="0">
                          <a:ln>
                            <a:noFill/>
                          </a:ln>
                          <a:solidFill>
                            <a:srgbClr val="00B050"/>
                          </a:solidFill>
                          <a:effectLst/>
                          <a:latin typeface="Comic Sans MS" panose="030F0702030302020204" pitchFamily="66" charset="0"/>
                          <a:ea typeface="宋体" panose="02010600030101010101" pitchFamily="2" charset="-122"/>
                        </a:rPr>
                        <a:t>14</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00B050"/>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dirty="0">
                          <a:ln>
                            <a:noFill/>
                          </a:ln>
                          <a:solidFill>
                            <a:srgbClr val="00B050"/>
                          </a:solidFill>
                          <a:effectLst/>
                          <a:latin typeface="Comic Sans MS" panose="030F0702030302020204" pitchFamily="66" charset="0"/>
                          <a:ea typeface="宋体" panose="02010600030101010101" pitchFamily="2" charset="-122"/>
                        </a:rPr>
                        <a:t>15</a:t>
                      </a: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2197">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R</a:t>
                      </a:r>
                      <a:r>
                        <a:rPr kumimoji="0" lang="en-US" altLang="zh-CN" sz="1800" b="1" i="0" u="none" strike="noStrike" kern="1200" cap="none" normalizeH="0" baseline="-25000" dirty="0">
                          <a:ln>
                            <a:noFill/>
                          </a:ln>
                          <a:solidFill>
                            <a:schemeClr val="tx1"/>
                          </a:solidFill>
                          <a:effectLst/>
                          <a:latin typeface="Comic Sans MS" panose="030F0702030302020204" pitchFamily="66" charset="0"/>
                          <a:ea typeface="华文中宋" panose="02010600040101010101" pitchFamily="2" charset="-122"/>
                          <a:cs typeface="+mn-cs"/>
                        </a:rPr>
                        <a:t>2</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r>
                        <a:rPr kumimoji="0" lang="en-US" altLang="zh-CN" sz="1800" b="1" i="0" u="none" strike="noStrike" cap="none" normalizeH="0" baseline="0" dirty="0">
                          <a:ln>
                            <a:noFill/>
                          </a:ln>
                          <a:solidFill>
                            <a:srgbClr val="FF0000"/>
                          </a:solidFill>
                          <a:effectLst/>
                          <a:latin typeface="Comic Sans MS" panose="030F0702030302020204" pitchFamily="66" charset="0"/>
                          <a:ea typeface="华文中宋" panose="02010600040101010101" pitchFamily="2" charset="-122"/>
                        </a:rPr>
                        <a:t>C,D</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21</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22</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00"/>
                          </a:solidFill>
                          <a:effectLst/>
                          <a:latin typeface="Comic Sans MS" panose="030F0702030302020204" pitchFamily="66" charset="0"/>
                          <a:ea typeface="宋体" panose="02010600030101010101" pitchFamily="2" charset="-122"/>
                        </a:rPr>
                        <a:t>3</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dirty="0">
                          <a:ln>
                            <a:noFill/>
                          </a:ln>
                          <a:solidFill>
                            <a:srgbClr val="FF0000"/>
                          </a:solidFill>
                          <a:effectLst/>
                          <a:latin typeface="Comic Sans MS" panose="030F0702030302020204" pitchFamily="66" charset="0"/>
                          <a:ea typeface="宋体" panose="02010600030101010101" pitchFamily="2" charset="-122"/>
                        </a:rPr>
                        <a:t>4</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00B050"/>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dirty="0">
                          <a:ln>
                            <a:noFill/>
                          </a:ln>
                          <a:solidFill>
                            <a:srgbClr val="00B050"/>
                          </a:solidFill>
                          <a:effectLst/>
                          <a:latin typeface="Comic Sans MS" panose="030F0702030302020204" pitchFamily="66" charset="0"/>
                          <a:ea typeface="宋体" panose="02010600030101010101" pitchFamily="2" charset="-122"/>
                        </a:rPr>
                        <a:t>25</a:t>
                      </a: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1006">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R</a:t>
                      </a:r>
                      <a:r>
                        <a:rPr kumimoji="0" lang="en-US" altLang="zh-CN" sz="1800" b="1" i="0" u="none" strike="noStrike" kern="1200" cap="none" normalizeH="0" baseline="-25000" dirty="0">
                          <a:ln>
                            <a:noFill/>
                          </a:ln>
                          <a:solidFill>
                            <a:schemeClr val="tx1"/>
                          </a:solidFill>
                          <a:effectLst/>
                          <a:latin typeface="Comic Sans MS" panose="030F0702030302020204" pitchFamily="66" charset="0"/>
                          <a:ea typeface="华文中宋" panose="02010600040101010101" pitchFamily="2" charset="-122"/>
                          <a:cs typeface="+mn-cs"/>
                        </a:rPr>
                        <a:t>3</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r>
                        <a:rPr kumimoji="0" lang="en-US" altLang="zh-CN" sz="1800" b="1" i="0" u="none" strike="noStrike" cap="none" normalizeH="0" baseline="0" dirty="0">
                          <a:ln>
                            <a:noFill/>
                          </a:ln>
                          <a:solidFill>
                            <a:srgbClr val="FF00FF"/>
                          </a:solidFill>
                          <a:effectLst/>
                          <a:latin typeface="Comic Sans MS" panose="030F0702030302020204" pitchFamily="66" charset="0"/>
                          <a:ea typeface="华文中宋" panose="02010600040101010101" pitchFamily="2" charset="-122"/>
                        </a:rPr>
                        <a:t>D,E</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dirty="0">
                          <a:ln>
                            <a:noFill/>
                          </a:ln>
                          <a:solidFill>
                            <a:schemeClr val="tx1"/>
                          </a:solidFill>
                          <a:effectLst/>
                          <a:latin typeface="Comic Sans MS" panose="030F0702030302020204" pitchFamily="66" charset="0"/>
                          <a:ea typeface="宋体" panose="02010600030101010101" pitchFamily="2" charset="-122"/>
                        </a:rPr>
                        <a:t>31</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32</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33</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FF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FF"/>
                          </a:solidFill>
                          <a:effectLst/>
                          <a:latin typeface="Comic Sans MS" panose="030F0702030302020204" pitchFamily="66" charset="0"/>
                          <a:ea typeface="宋体" panose="02010600030101010101" pitchFamily="2" charset="-122"/>
                        </a:rPr>
                        <a:t>4</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FF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dirty="0">
                          <a:ln>
                            <a:noFill/>
                          </a:ln>
                          <a:solidFill>
                            <a:srgbClr val="FF00FF"/>
                          </a:solidFill>
                          <a:effectLst/>
                          <a:latin typeface="Comic Sans MS" panose="030F0702030302020204" pitchFamily="66" charset="0"/>
                          <a:ea typeface="宋体" panose="02010600030101010101" pitchFamily="2" charset="-122"/>
                        </a:rPr>
                        <a:t>5</a:t>
                      </a: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33829441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E93E1E-06AE-4DD8-B811-3054B53443B2}"/>
              </a:ext>
            </a:extLst>
          </p:cNvPr>
          <p:cNvSpPr>
            <a:spLocks noGrp="1"/>
          </p:cNvSpPr>
          <p:nvPr>
            <p:ph type="title"/>
          </p:nvPr>
        </p:nvSpPr>
        <p:spPr/>
        <p:txBody>
          <a:bodyPr/>
          <a:lstStyle/>
          <a:p>
            <a:pPr algn="ctr"/>
            <a:r>
              <a:rPr lang="en-US" altLang="zh-CN" dirty="0"/>
              <a:t>Example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9BCF108-2E8E-4244-8C83-C6D5940BFD98}"/>
                  </a:ext>
                </a:extLst>
              </p:cNvPr>
              <p:cNvSpPr>
                <a:spLocks noGrp="1"/>
              </p:cNvSpPr>
              <p:nvPr>
                <p:ph idx="1"/>
              </p:nvPr>
            </p:nvSpPr>
            <p:spPr/>
            <p:txBody>
              <a:bodyPr/>
              <a:lstStyle/>
              <a:p>
                <a:pPr marL="0" indent="0">
                  <a:buNone/>
                </a:pPr>
                <a:r>
                  <a:rPr lang="en-US" altLang="zh-CN" sz="1800" dirty="0"/>
                  <a:t>(2) For AB→C in F, no change occurs; for C→D, rewrite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14</m:t>
                        </m:r>
                      </m:sub>
                    </m:sSub>
                  </m:oMath>
                </a14:m>
                <a:r>
                  <a:rPr lang="en-US" altLang="zh-CN" sz="1800" dirty="0"/>
                  <a:t> with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4</m:t>
                        </m:r>
                      </m:sub>
                    </m:sSub>
                  </m:oMath>
                </a14:m>
                <a:r>
                  <a:rPr lang="en-US" altLang="zh-CN" sz="1800" dirty="0"/>
                  <a:t>, and for D→E, rewrite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15</m:t>
                        </m:r>
                      </m:sub>
                    </m:sSub>
                  </m:oMath>
                </a14:m>
                <a:r>
                  <a:rPr lang="en-US" altLang="zh-CN" sz="1800" dirty="0"/>
                  <a:t> and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25</m:t>
                        </m:r>
                      </m:sub>
                    </m:sSub>
                  </m:oMath>
                </a14:m>
                <a:r>
                  <a:rPr lang="en-US" altLang="zh-CN" sz="1800" dirty="0"/>
                  <a:t> as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5</m:t>
                        </m:r>
                      </m:sub>
                    </m:sSub>
                  </m:oMath>
                </a14:m>
                <a:r>
                  <a:rPr lang="en-US" altLang="zh-CN" sz="1800" dirty="0"/>
                  <a:t>. Then we have a row as: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1</m:t>
                        </m:r>
                      </m:sub>
                    </m:sSub>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2</m:t>
                        </m:r>
                      </m:sub>
                    </m:sSub>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3</m:t>
                        </m:r>
                      </m:sub>
                    </m:sSub>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4</m:t>
                        </m:r>
                      </m:sub>
                    </m:sSub>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𝑎</m:t>
                        </m:r>
                      </m:e>
                      <m:sub>
                        <m:r>
                          <a:rPr lang="en-US" altLang="zh-CN" sz="1800" b="0" i="1" smtClean="0">
                            <a:latin typeface="Cambria Math" panose="02040503050406030204" pitchFamily="18" charset="0"/>
                          </a:rPr>
                          <m:t>5</m:t>
                        </m:r>
                      </m:sub>
                    </m:sSub>
                  </m:oMath>
                </a14:m>
                <a:r>
                  <a:rPr lang="en-US" altLang="zh-CN" sz="1800" dirty="0"/>
                  <a:t>. The decomposition of R into R</a:t>
                </a:r>
                <a:r>
                  <a:rPr lang="en-US" altLang="zh-CN" sz="1800" baseline="-25000" dirty="0"/>
                  <a:t>1</a:t>
                </a:r>
                <a:r>
                  <a:rPr lang="en-US" altLang="zh-CN" sz="1800" dirty="0"/>
                  <a:t>, R</a:t>
                </a:r>
                <a:r>
                  <a:rPr lang="en-US" altLang="zh-CN" sz="1800" baseline="-25000" dirty="0"/>
                  <a:t>2</a:t>
                </a:r>
                <a:r>
                  <a:rPr lang="en-US" altLang="zh-CN" sz="1800" dirty="0"/>
                  <a:t>, and R</a:t>
                </a:r>
                <a:r>
                  <a:rPr lang="en-US" altLang="zh-CN" sz="1800" baseline="-25000" dirty="0"/>
                  <a:t>3</a:t>
                </a:r>
                <a:r>
                  <a:rPr lang="en-US" altLang="zh-CN" sz="1800" dirty="0"/>
                  <a:t> is a lossless-join one. </a:t>
                </a:r>
              </a:p>
              <a:p>
                <a:endParaRPr lang="zh-CN" altLang="en-US" sz="1800" dirty="0"/>
              </a:p>
            </p:txBody>
          </p:sp>
        </mc:Choice>
        <mc:Fallback xmlns="">
          <p:sp>
            <p:nvSpPr>
              <p:cNvPr id="3" name="内容占位符 2">
                <a:extLst>
                  <a:ext uri="{FF2B5EF4-FFF2-40B4-BE49-F238E27FC236}">
                    <a16:creationId xmlns:a16="http://schemas.microsoft.com/office/drawing/2014/main" id="{F9BCF108-2E8E-4244-8C83-C6D5940BFD98}"/>
                  </a:ext>
                </a:extLst>
              </p:cNvPr>
              <p:cNvSpPr>
                <a:spLocks noGrp="1" noRot="1" noChangeAspect="1" noMove="1" noResize="1" noEditPoints="1" noAdjustHandles="1" noChangeArrowheads="1" noChangeShapeType="1" noTextEdit="1"/>
              </p:cNvSpPr>
              <p:nvPr>
                <p:ph idx="1"/>
              </p:nvPr>
            </p:nvSpPr>
            <p:spPr>
              <a:blipFill>
                <a:blip r:embed="rId2"/>
                <a:stretch>
                  <a:fillRect l="-569" t="-962" r="-427"/>
                </a:stretch>
              </a:blipFill>
            </p:spPr>
            <p:txBody>
              <a:bodyPr/>
              <a:lstStyle/>
              <a:p>
                <a:r>
                  <a:rPr lang="zh-CN" altLang="en-US">
                    <a:noFill/>
                  </a:rPr>
                  <a:t> </a:t>
                </a:r>
              </a:p>
            </p:txBody>
          </p:sp>
        </mc:Fallback>
      </mc:AlternateContent>
      <p:graphicFrame>
        <p:nvGraphicFramePr>
          <p:cNvPr id="4" name="Group 44">
            <a:extLst>
              <a:ext uri="{FF2B5EF4-FFF2-40B4-BE49-F238E27FC236}">
                <a16:creationId xmlns:a16="http://schemas.microsoft.com/office/drawing/2014/main" id="{FEB02239-351E-41C0-B38F-20C39C890E51}"/>
              </a:ext>
            </a:extLst>
          </p:cNvPr>
          <p:cNvGraphicFramePr>
            <a:graphicFrameLocks/>
          </p:cNvGraphicFramePr>
          <p:nvPr>
            <p:extLst>
              <p:ext uri="{D42A27DB-BD31-4B8C-83A1-F6EECF244321}">
                <p14:modId xmlns:p14="http://schemas.microsoft.com/office/powerpoint/2010/main" val="3603338590"/>
              </p:ext>
            </p:extLst>
          </p:nvPr>
        </p:nvGraphicFramePr>
        <p:xfrm>
          <a:off x="1259632" y="2211710"/>
          <a:ext cx="6525816" cy="1831182"/>
        </p:xfrm>
        <a:graphic>
          <a:graphicData uri="http://schemas.openxmlformats.org/drawingml/2006/table">
            <a:tbl>
              <a:tblPr/>
              <a:tblGrid>
                <a:gridCol w="1457325">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982266">
                  <a:extLst>
                    <a:ext uri="{9D8B030D-6E8A-4147-A177-3AD203B41FA5}">
                      <a16:colId xmlns:a16="http://schemas.microsoft.com/office/drawing/2014/main" val="20002"/>
                    </a:ext>
                  </a:extLst>
                </a:gridCol>
                <a:gridCol w="982265">
                  <a:extLst>
                    <a:ext uri="{9D8B030D-6E8A-4147-A177-3AD203B41FA5}">
                      <a16:colId xmlns:a16="http://schemas.microsoft.com/office/drawing/2014/main" val="20003"/>
                    </a:ext>
                  </a:extLst>
                </a:gridCol>
                <a:gridCol w="1013222">
                  <a:extLst>
                    <a:ext uri="{9D8B030D-6E8A-4147-A177-3AD203B41FA5}">
                      <a16:colId xmlns:a16="http://schemas.microsoft.com/office/drawing/2014/main" val="20004"/>
                    </a:ext>
                  </a:extLst>
                </a:gridCol>
                <a:gridCol w="1014413">
                  <a:extLst>
                    <a:ext uri="{9D8B030D-6E8A-4147-A177-3AD203B41FA5}">
                      <a16:colId xmlns:a16="http://schemas.microsoft.com/office/drawing/2014/main" val="20005"/>
                    </a:ext>
                  </a:extLst>
                </a:gridCol>
              </a:tblGrid>
              <a:tr h="419100">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endParaRPr kumimoji="0" lang="zh-CN"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A</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C</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D</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E</a:t>
                      </a: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5072">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R</a:t>
                      </a:r>
                      <a:r>
                        <a:rPr kumimoji="0" lang="en-US" altLang="zh-CN" sz="1800" b="1" i="0" u="none" strike="noStrike" cap="none" normalizeH="0" baseline="-25000" dirty="0">
                          <a:ln>
                            <a:noFill/>
                          </a:ln>
                          <a:solidFill>
                            <a:schemeClr val="tx1"/>
                          </a:solidFill>
                          <a:effectLst/>
                          <a:latin typeface="Comic Sans MS" panose="030F0702030302020204" pitchFamily="66" charset="0"/>
                          <a:ea typeface="华文中宋" panose="02010600040101010101" pitchFamily="2" charset="-122"/>
                        </a:rPr>
                        <a:t>1</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r>
                        <a:rPr kumimoji="0" lang="en-US" altLang="zh-CN" sz="1800" b="1" i="0" u="none" strike="noStrike" cap="none" normalizeH="0" baseline="0" dirty="0">
                          <a:ln>
                            <a:noFill/>
                          </a:ln>
                          <a:solidFill>
                            <a:srgbClr val="0000FF"/>
                          </a:solidFill>
                          <a:effectLst/>
                          <a:latin typeface="Comic Sans MS" panose="030F0702030302020204" pitchFamily="66" charset="0"/>
                          <a:ea typeface="华文中宋" panose="02010600040101010101" pitchFamily="2" charset="-122"/>
                        </a:rPr>
                        <a:t>A,B,C</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0000FF"/>
                          </a:solidFill>
                          <a:effectLst/>
                          <a:latin typeface="Comic Sans MS" panose="030F0702030302020204" pitchFamily="66" charset="0"/>
                          <a:ea typeface="宋体" panose="02010600030101010101" pitchFamily="2" charset="-122"/>
                        </a:rPr>
                        <a:t>1</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0000FF"/>
                          </a:solidFill>
                          <a:effectLst/>
                          <a:latin typeface="Comic Sans MS" panose="030F0702030302020204" pitchFamily="66" charset="0"/>
                          <a:ea typeface="宋体" panose="02010600030101010101" pitchFamily="2" charset="-122"/>
                        </a:rPr>
                        <a:t>2</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00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0000FF"/>
                          </a:solidFill>
                          <a:effectLst/>
                          <a:latin typeface="Comic Sans MS" panose="030F0702030302020204" pitchFamily="66" charset="0"/>
                          <a:ea typeface="宋体" panose="02010600030101010101" pitchFamily="2" charset="-122"/>
                        </a:rPr>
                        <a:t>3</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100" b="1" i="0" u="none" strike="noStrike" cap="none" normalizeH="0" baseline="-25000" dirty="0">
                          <a:ln>
                            <a:noFill/>
                          </a:ln>
                          <a:solidFill>
                            <a:srgbClr val="00B050"/>
                          </a:solidFill>
                          <a:effectLst/>
                          <a:latin typeface="Comic Sans MS" panose="030F0702030302020204" pitchFamily="66" charset="0"/>
                          <a:ea typeface="宋体" panose="02010600030101010101" pitchFamily="2" charset="-122"/>
                        </a:rPr>
                        <a:t>B14   </a:t>
                      </a:r>
                      <a:r>
                        <a:rPr kumimoji="0" lang="en-US" altLang="zh-CN" sz="2000" b="1" i="0" u="none" strike="noStrike" cap="none" normalizeH="0" baseline="0" dirty="0">
                          <a:ln>
                            <a:noFill/>
                          </a:ln>
                          <a:solidFill>
                            <a:srgbClr val="FF0000"/>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dirty="0">
                          <a:ln>
                            <a:noFill/>
                          </a:ln>
                          <a:solidFill>
                            <a:srgbClr val="FF0000"/>
                          </a:solidFill>
                          <a:effectLst/>
                          <a:latin typeface="Comic Sans MS" panose="030F0702030302020204" pitchFamily="66" charset="0"/>
                          <a:ea typeface="宋体" panose="02010600030101010101" pitchFamily="2" charset="-122"/>
                        </a:rPr>
                        <a:t>4</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1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b15   </a:t>
                      </a:r>
                      <a:r>
                        <a:rPr kumimoji="0" lang="en-US" altLang="zh-CN" sz="2000" b="1" i="0" u="none" strike="noStrike" cap="none" normalizeH="0" baseline="0">
                          <a:ln>
                            <a:noFill/>
                          </a:ln>
                          <a:solidFill>
                            <a:srgbClr val="FF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FF"/>
                          </a:solidFill>
                          <a:effectLst/>
                          <a:latin typeface="Comic Sans MS" panose="030F0702030302020204" pitchFamily="66" charset="0"/>
                          <a:ea typeface="宋体" panose="02010600030101010101" pitchFamily="2" charset="-122"/>
                        </a:rPr>
                        <a:t>5</a:t>
                      </a:r>
                      <a:endPar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9100">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R</a:t>
                      </a:r>
                      <a:r>
                        <a:rPr kumimoji="0" lang="en-US" altLang="zh-CN" sz="1800" b="1" i="0" u="none" strike="noStrike" kern="1200" cap="none" normalizeH="0" baseline="-25000" dirty="0">
                          <a:ln>
                            <a:noFill/>
                          </a:ln>
                          <a:solidFill>
                            <a:schemeClr val="tx1"/>
                          </a:solidFill>
                          <a:effectLst/>
                          <a:latin typeface="Comic Sans MS" panose="030F0702030302020204" pitchFamily="66" charset="0"/>
                          <a:ea typeface="华文中宋" panose="02010600040101010101" pitchFamily="2" charset="-122"/>
                          <a:cs typeface="+mn-cs"/>
                        </a:rPr>
                        <a:t>2</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r>
                        <a:rPr kumimoji="0" lang="en-US" altLang="zh-CN" sz="1800" b="1" i="0" u="none" strike="noStrike" cap="none" normalizeH="0" baseline="0" dirty="0">
                          <a:ln>
                            <a:noFill/>
                          </a:ln>
                          <a:solidFill>
                            <a:srgbClr val="FF0000"/>
                          </a:solidFill>
                          <a:effectLst/>
                          <a:latin typeface="Comic Sans MS" panose="030F0702030302020204" pitchFamily="66" charset="0"/>
                          <a:ea typeface="华文中宋" panose="02010600040101010101" pitchFamily="2" charset="-122"/>
                        </a:rPr>
                        <a:t>C,D</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21</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22</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00"/>
                          </a:solidFill>
                          <a:effectLst/>
                          <a:latin typeface="Comic Sans MS" panose="030F0702030302020204" pitchFamily="66" charset="0"/>
                          <a:ea typeface="宋体" panose="02010600030101010101" pitchFamily="2" charset="-122"/>
                        </a:rPr>
                        <a:t>3</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FF0000"/>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00"/>
                          </a:solidFill>
                          <a:effectLst/>
                          <a:latin typeface="Comic Sans MS" panose="030F0702030302020204" pitchFamily="66" charset="0"/>
                          <a:ea typeface="宋体" panose="02010600030101010101" pitchFamily="2" charset="-122"/>
                        </a:rPr>
                        <a:t>4</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1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b25   </a:t>
                      </a:r>
                      <a:r>
                        <a:rPr kumimoji="0" lang="en-US" altLang="zh-CN" sz="2000" b="1" i="0" u="none" strike="noStrike" cap="none" normalizeH="0" baseline="0">
                          <a:ln>
                            <a:noFill/>
                          </a:ln>
                          <a:solidFill>
                            <a:srgbClr val="FF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FF"/>
                          </a:solidFill>
                          <a:effectLst/>
                          <a:latin typeface="Comic Sans MS" panose="030F0702030302020204" pitchFamily="66" charset="0"/>
                          <a:ea typeface="宋体" panose="02010600030101010101" pitchFamily="2" charset="-122"/>
                        </a:rPr>
                        <a:t>5</a:t>
                      </a:r>
                      <a:endPar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endParaRP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7910">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R</a:t>
                      </a:r>
                      <a:r>
                        <a:rPr kumimoji="0" lang="en-US" altLang="zh-CN" sz="1800" b="1" i="0" u="none" strike="noStrike" kern="1200" cap="none" normalizeH="0" baseline="-25000" dirty="0">
                          <a:ln>
                            <a:noFill/>
                          </a:ln>
                          <a:solidFill>
                            <a:schemeClr val="tx1"/>
                          </a:solidFill>
                          <a:effectLst/>
                          <a:latin typeface="Comic Sans MS" panose="030F0702030302020204" pitchFamily="66" charset="0"/>
                          <a:ea typeface="华文中宋" panose="02010600040101010101" pitchFamily="2" charset="-122"/>
                          <a:cs typeface="+mn-cs"/>
                        </a:rPr>
                        <a:t>3</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r>
                        <a:rPr kumimoji="0" lang="en-US" altLang="zh-CN" sz="1800" b="1" i="0" u="none" strike="noStrike" cap="none" normalizeH="0" baseline="0" dirty="0">
                          <a:ln>
                            <a:noFill/>
                          </a:ln>
                          <a:solidFill>
                            <a:srgbClr val="FF00FF"/>
                          </a:solidFill>
                          <a:effectLst/>
                          <a:latin typeface="Comic Sans MS" panose="030F0702030302020204" pitchFamily="66" charset="0"/>
                          <a:ea typeface="华文中宋" panose="02010600040101010101" pitchFamily="2" charset="-122"/>
                        </a:rPr>
                        <a:t>D,E</a:t>
                      </a:r>
                      <a:r>
                        <a:rPr kumimoji="0" lang="en-US" altLang="zh-CN" sz="1800" b="1" i="0" u="none" strike="noStrike" cap="none" normalizeH="0" baseline="0" dirty="0">
                          <a:ln>
                            <a:noFill/>
                          </a:ln>
                          <a:solidFill>
                            <a:schemeClr val="tx1"/>
                          </a:solidFill>
                          <a:effectLst/>
                          <a:latin typeface="Comic Sans MS" panose="030F0702030302020204" pitchFamily="66" charset="0"/>
                          <a:ea typeface="华文中宋" panose="02010600040101010101" pitchFamily="2" charset="-122"/>
                        </a:rPr>
                        <a:t>)</a:t>
                      </a:r>
                    </a:p>
                  </a:txBody>
                  <a:tcPr marL="68580" marR="68580" marT="34290" marB="3429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31</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32</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Comic Sans MS" panose="030F0702030302020204" pitchFamily="66" charset="0"/>
                          <a:ea typeface="宋体" panose="02010600030101010101" pitchFamily="2" charset="-122"/>
                        </a:rPr>
                        <a:t>b</a:t>
                      </a:r>
                      <a:r>
                        <a:rPr kumimoji="0" lang="en-US" altLang="zh-CN" sz="2000" b="1" i="0" u="none" strike="noStrike" cap="none" normalizeH="0" baseline="-25000">
                          <a:ln>
                            <a:noFill/>
                          </a:ln>
                          <a:solidFill>
                            <a:schemeClr val="tx1"/>
                          </a:solidFill>
                          <a:effectLst/>
                          <a:latin typeface="Comic Sans MS" panose="030F0702030302020204" pitchFamily="66" charset="0"/>
                          <a:ea typeface="宋体" panose="02010600030101010101" pitchFamily="2" charset="-122"/>
                        </a:rPr>
                        <a:t>33</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a:ln>
                            <a:noFill/>
                          </a:ln>
                          <a:solidFill>
                            <a:srgbClr val="FF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a:ln>
                            <a:noFill/>
                          </a:ln>
                          <a:solidFill>
                            <a:srgbClr val="FF00FF"/>
                          </a:solidFill>
                          <a:effectLst/>
                          <a:latin typeface="Comic Sans MS" panose="030F0702030302020204" pitchFamily="66" charset="0"/>
                          <a:ea typeface="宋体" panose="02010600030101010101" pitchFamily="2" charset="-122"/>
                        </a:rPr>
                        <a:t>4</a:t>
                      </a:r>
                    </a:p>
                  </a:txBody>
                  <a:tcPr marL="68580" marR="68580" marT="34290" marB="3429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spcBef>
                          <a:spcPct val="35000"/>
                        </a:spcBef>
                        <a:buClr>
                          <a:srgbClr val="FF0000"/>
                        </a:buClr>
                        <a:buSzPct val="80000"/>
                        <a:buFont typeface="Wingdings" panose="05000000000000000000" pitchFamily="2" charset="2"/>
                        <a:defRPr kumimoji="1" sz="2400" kern="1200">
                          <a:solidFill>
                            <a:schemeClr val="tx1"/>
                          </a:solidFill>
                          <a:latin typeface="Comic Sans MS" panose="030F0702030302020204" pitchFamily="66" charset="0"/>
                        </a:defRPr>
                      </a:lvl1pPr>
                      <a:lvl2pPr marL="742950" indent="-285750" algn="l" defTabSz="914400" rtl="0" eaLnBrk="1" latinLnBrk="0" hangingPunct="1">
                        <a:spcBef>
                          <a:spcPct val="35000"/>
                        </a:spcBef>
                        <a:buClr>
                          <a:srgbClr val="0000FF"/>
                        </a:buClr>
                        <a:buSzPct val="80000"/>
                        <a:buFont typeface="Wingdings" panose="05000000000000000000" pitchFamily="2" charset="2"/>
                        <a:defRPr kumimoji="1" sz="2000" kern="1200">
                          <a:solidFill>
                            <a:schemeClr val="tx1"/>
                          </a:solidFill>
                          <a:latin typeface="Comic Sans MS" panose="030F0702030302020204" pitchFamily="66" charset="0"/>
                        </a:defRPr>
                      </a:lvl2pPr>
                      <a:lvl3pPr marL="1143000" indent="-228600" algn="l" defTabSz="914400" rtl="0" eaLnBrk="1" latinLnBrk="0" hangingPunct="1">
                        <a:spcBef>
                          <a:spcPct val="35000"/>
                        </a:spcBef>
                        <a:buClr>
                          <a:srgbClr val="00FF00"/>
                        </a:buClr>
                        <a:buSzPct val="80000"/>
                        <a:buFont typeface="Wingdings" panose="05000000000000000000" pitchFamily="2" charset="2"/>
                        <a:defRPr kumimoji="1" sz="1800" kern="1200">
                          <a:solidFill>
                            <a:schemeClr val="tx1"/>
                          </a:solidFill>
                          <a:latin typeface="Comic Sans MS" panose="030F0702030302020204" pitchFamily="66" charset="0"/>
                        </a:defRPr>
                      </a:lvl3pPr>
                      <a:lvl4pPr marL="1600200" indent="-228600" algn="l" defTabSz="914400" rtl="0" eaLnBrk="1" latinLnBrk="0" hangingPunct="1">
                        <a:spcBef>
                          <a:spcPct val="35000"/>
                        </a:spcBef>
                        <a:buClr>
                          <a:srgbClr val="CC0099"/>
                        </a:buClr>
                        <a:buSzPct val="80000"/>
                        <a:buFont typeface="Times New Roman" panose="02020603050405020304" pitchFamily="18" charset="0"/>
                        <a:defRPr kumimoji="1" sz="1800" kern="1200">
                          <a:solidFill>
                            <a:schemeClr val="tx1"/>
                          </a:solidFill>
                          <a:latin typeface="Comic Sans MS" panose="030F0702030302020204" pitchFamily="66" charset="0"/>
                        </a:defRPr>
                      </a:lvl4pPr>
                      <a:lvl5pPr marL="2057400" indent="-228600" algn="l" defTabSz="914400" rtl="0" eaLnBrk="1" latinLnBrk="0" hangingPunct="1">
                        <a:spcBef>
                          <a:spcPct val="35000"/>
                        </a:spcBef>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5pPr>
                      <a:lvl6pPr marL="25146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6pPr>
                      <a:lvl7pPr marL="29718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7pPr>
                      <a:lvl8pPr marL="34290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8pPr>
                      <a:lvl9pPr marL="3886200" indent="-228600" algn="l" defTabSz="914400" rtl="0" eaLnBrk="0" fontAlgn="base" latinLnBrk="0" hangingPunct="0">
                        <a:spcBef>
                          <a:spcPct val="35000"/>
                        </a:spcBef>
                        <a:spcAft>
                          <a:spcPct val="0"/>
                        </a:spcAft>
                        <a:buClr>
                          <a:srgbClr val="000000"/>
                        </a:buClr>
                        <a:buSzPct val="80000"/>
                        <a:buFont typeface="Times New Roman" panose="02020603050405020304" pitchFamily="18" charset="0"/>
                        <a:defRPr kumimoji="1" sz="1800" kern="1200">
                          <a:solidFill>
                            <a:schemeClr val="tx1"/>
                          </a:solidFill>
                          <a:latin typeface="Comic Sans MS" panose="030F0702030302020204" pitchFamily="66" charset="0"/>
                        </a:defRPr>
                      </a:lvl9p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None/>
                        <a:tabLst/>
                      </a:pPr>
                      <a:r>
                        <a:rPr kumimoji="0" lang="en-US" altLang="zh-CN" sz="2000" b="1" i="0" u="none" strike="noStrike" cap="none" normalizeH="0" baseline="0" dirty="0">
                          <a:ln>
                            <a:noFill/>
                          </a:ln>
                          <a:solidFill>
                            <a:srgbClr val="FF00FF"/>
                          </a:solidFill>
                          <a:effectLst/>
                          <a:latin typeface="Comic Sans MS" panose="030F0702030302020204" pitchFamily="66" charset="0"/>
                          <a:ea typeface="宋体" panose="02010600030101010101" pitchFamily="2" charset="-122"/>
                        </a:rPr>
                        <a:t>a</a:t>
                      </a:r>
                      <a:r>
                        <a:rPr kumimoji="0" lang="en-US" altLang="zh-CN" sz="2000" b="1" i="0" u="none" strike="noStrike" cap="none" normalizeH="0" baseline="-25000" dirty="0">
                          <a:ln>
                            <a:noFill/>
                          </a:ln>
                          <a:solidFill>
                            <a:srgbClr val="FF00FF"/>
                          </a:solidFill>
                          <a:effectLst/>
                          <a:latin typeface="Comic Sans MS" panose="030F0702030302020204" pitchFamily="66" charset="0"/>
                          <a:ea typeface="宋体" panose="02010600030101010101" pitchFamily="2" charset="-122"/>
                        </a:rPr>
                        <a:t>5</a:t>
                      </a:r>
                    </a:p>
                  </a:txBody>
                  <a:tcPr marL="68580" marR="68580" marT="34290" marB="3429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 name="Rectangle 45">
            <a:extLst>
              <a:ext uri="{FF2B5EF4-FFF2-40B4-BE49-F238E27FC236}">
                <a16:creationId xmlns:a16="http://schemas.microsoft.com/office/drawing/2014/main" id="{C11A8F1B-1987-4617-883E-C5ABD0F142BA}"/>
              </a:ext>
            </a:extLst>
          </p:cNvPr>
          <p:cNvSpPr>
            <a:spLocks noChangeArrowheads="1"/>
          </p:cNvSpPr>
          <p:nvPr/>
        </p:nvSpPr>
        <p:spPr bwMode="auto">
          <a:xfrm>
            <a:off x="1292969" y="2642716"/>
            <a:ext cx="6492479" cy="564356"/>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endParaRPr kumimoji="0" lang="zh-CN" altLang="en-US" sz="1350" b="1">
              <a:solidFill>
                <a:srgbClr val="000000"/>
              </a:solidFill>
              <a:latin typeface="Helvetica" panose="020B0604020202020204" pitchFamily="34" charset="0"/>
              <a:ea typeface="宋体" panose="02010600030101010101" pitchFamily="2" charset="-122"/>
            </a:endParaRPr>
          </a:p>
        </p:txBody>
      </p:sp>
      <p:cxnSp>
        <p:nvCxnSpPr>
          <p:cNvPr id="6" name="Curved Connector 12">
            <a:extLst>
              <a:ext uri="{FF2B5EF4-FFF2-40B4-BE49-F238E27FC236}">
                <a16:creationId xmlns:a16="http://schemas.microsoft.com/office/drawing/2014/main" id="{8B69AFC2-1011-4EB0-9E36-C3B2D0ABA3B8}"/>
              </a:ext>
            </a:extLst>
          </p:cNvPr>
          <p:cNvCxnSpPr>
            <a:cxnSpLocks noChangeShapeType="1"/>
          </p:cNvCxnSpPr>
          <p:nvPr/>
        </p:nvCxnSpPr>
        <p:spPr bwMode="auto">
          <a:xfrm flipV="1">
            <a:off x="6181675" y="2841550"/>
            <a:ext cx="244079" cy="55959"/>
          </a:xfrm>
          <a:prstGeom prst="curvedConnector3">
            <a:avLst>
              <a:gd name="adj1" fmla="val 50000"/>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7" name="Curved Connector 15">
            <a:extLst>
              <a:ext uri="{FF2B5EF4-FFF2-40B4-BE49-F238E27FC236}">
                <a16:creationId xmlns:a16="http://schemas.microsoft.com/office/drawing/2014/main" id="{702BDA3D-1615-4499-AA32-041262F2AF75}"/>
              </a:ext>
            </a:extLst>
          </p:cNvPr>
          <p:cNvCxnSpPr>
            <a:cxnSpLocks noChangeShapeType="1"/>
          </p:cNvCxnSpPr>
          <p:nvPr/>
        </p:nvCxnSpPr>
        <p:spPr bwMode="auto">
          <a:xfrm flipV="1">
            <a:off x="7224663" y="2834407"/>
            <a:ext cx="244079" cy="55959"/>
          </a:xfrm>
          <a:prstGeom prst="curvedConnector3">
            <a:avLst>
              <a:gd name="adj1" fmla="val 50000"/>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cxnSp>
        <p:nvCxnSpPr>
          <p:cNvPr id="8" name="Curved Connector 16">
            <a:extLst>
              <a:ext uri="{FF2B5EF4-FFF2-40B4-BE49-F238E27FC236}">
                <a16:creationId xmlns:a16="http://schemas.microsoft.com/office/drawing/2014/main" id="{B11C55C3-1BD7-4377-8215-1A91BAA7C30A}"/>
              </a:ext>
            </a:extLst>
          </p:cNvPr>
          <p:cNvCxnSpPr>
            <a:cxnSpLocks noChangeShapeType="1"/>
          </p:cNvCxnSpPr>
          <p:nvPr/>
        </p:nvCxnSpPr>
        <p:spPr bwMode="auto">
          <a:xfrm flipV="1">
            <a:off x="7203232" y="3432101"/>
            <a:ext cx="242888" cy="54769"/>
          </a:xfrm>
          <a:prstGeom prst="curvedConnector3">
            <a:avLst>
              <a:gd name="adj1" fmla="val 50000"/>
            </a:avLst>
          </a:prstGeom>
          <a:noFill/>
          <a:ln w="9525" algn="ctr">
            <a:solidFill>
              <a:srgbClr val="00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7647577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81614-1FA1-44F5-A6DE-A9A5E89983ED}"/>
              </a:ext>
            </a:extLst>
          </p:cNvPr>
          <p:cNvSpPr>
            <a:spLocks noGrp="1"/>
          </p:cNvSpPr>
          <p:nvPr>
            <p:ph type="title"/>
          </p:nvPr>
        </p:nvSpPr>
        <p:spPr/>
        <p:txBody>
          <a:bodyPr/>
          <a:lstStyle/>
          <a:p>
            <a:pPr algn="ctr"/>
            <a:r>
              <a:rPr lang="en-US" altLang="zh-CN" dirty="0"/>
              <a:t>More Examples</a:t>
            </a:r>
            <a:endParaRPr lang="zh-CN" altLang="en-US" dirty="0"/>
          </a:p>
        </p:txBody>
      </p:sp>
      <p:sp>
        <p:nvSpPr>
          <p:cNvPr id="3" name="内容占位符 2">
            <a:extLst>
              <a:ext uri="{FF2B5EF4-FFF2-40B4-BE49-F238E27FC236}">
                <a16:creationId xmlns:a16="http://schemas.microsoft.com/office/drawing/2014/main" id="{FFCE19D0-9F7D-4AB3-BB68-62775ECB38A6}"/>
              </a:ext>
            </a:extLst>
          </p:cNvPr>
          <p:cNvSpPr>
            <a:spLocks noGrp="1"/>
          </p:cNvSpPr>
          <p:nvPr>
            <p:ph idx="1"/>
          </p:nvPr>
        </p:nvSpPr>
        <p:spPr>
          <a:xfrm>
            <a:off x="251520" y="789553"/>
            <a:ext cx="8496944" cy="3805070"/>
          </a:xfrm>
        </p:spPr>
        <p:txBody>
          <a:bodyPr/>
          <a:lstStyle/>
          <a:p>
            <a:pPr>
              <a:spcBef>
                <a:spcPts val="600"/>
              </a:spcBef>
            </a:pPr>
            <a:r>
              <a:rPr lang="en-US" altLang="zh-CN" sz="1800" dirty="0"/>
              <a:t>R&lt;U,F&gt;, U={A,B,C,D,E}, F={A→C, B→C, C→D, DE→C, CE→A}, and a decomposition of R: </a:t>
            </a:r>
            <a:r>
              <a:rPr lang="el-GR" altLang="zh-CN" sz="1800" dirty="0"/>
              <a:t>ρ={</a:t>
            </a:r>
            <a:r>
              <a:rPr lang="en-US" altLang="zh-CN" sz="1800" dirty="0"/>
              <a:t>R</a:t>
            </a:r>
            <a:r>
              <a:rPr lang="en-US" altLang="zh-CN" sz="1800" baseline="-25000" dirty="0"/>
              <a:t>1</a:t>
            </a:r>
            <a:r>
              <a:rPr lang="en-US" altLang="zh-CN" sz="1800" dirty="0"/>
              <a:t>(A,D), R</a:t>
            </a:r>
            <a:r>
              <a:rPr lang="en-US" altLang="zh-CN" sz="1800" baseline="-25000" dirty="0"/>
              <a:t>2</a:t>
            </a:r>
            <a:r>
              <a:rPr lang="en-US" altLang="zh-CN" sz="1800" dirty="0"/>
              <a:t>(A,B), R</a:t>
            </a:r>
            <a:r>
              <a:rPr lang="en-US" altLang="zh-CN" sz="1800" baseline="-25000" dirty="0"/>
              <a:t>3</a:t>
            </a:r>
            <a:r>
              <a:rPr lang="en-US" altLang="zh-CN" sz="1800" dirty="0"/>
              <a:t>(B,E), R</a:t>
            </a:r>
            <a:r>
              <a:rPr lang="en-US" altLang="zh-CN" sz="1800" baseline="-25000" dirty="0"/>
              <a:t>4</a:t>
            </a:r>
            <a:r>
              <a:rPr lang="en-US" altLang="zh-CN" sz="1800" dirty="0"/>
              <a:t>(C,D,E), R</a:t>
            </a:r>
            <a:r>
              <a:rPr lang="en-US" altLang="zh-CN" sz="1800" baseline="-25000" dirty="0"/>
              <a:t>5</a:t>
            </a:r>
            <a:r>
              <a:rPr lang="en-US" altLang="zh-CN" sz="1800" dirty="0"/>
              <a:t>(A,E)}. </a:t>
            </a:r>
            <a:r>
              <a:rPr lang="el-GR" altLang="zh-CN" sz="1800" dirty="0"/>
              <a:t>ρ </a:t>
            </a:r>
            <a:r>
              <a:rPr lang="en-US" altLang="zh-CN" sz="1800" dirty="0"/>
              <a:t>is a lossless-join decomposition or a lossy one ?</a:t>
            </a:r>
          </a:p>
          <a:p>
            <a:pPr lvl="1">
              <a:spcBef>
                <a:spcPts val="600"/>
              </a:spcBef>
            </a:pPr>
            <a:r>
              <a:rPr lang="el-GR" altLang="zh-CN" sz="1600" dirty="0"/>
              <a:t>ρ </a:t>
            </a:r>
            <a:r>
              <a:rPr lang="en-US" altLang="zh-CN" sz="1600" dirty="0"/>
              <a:t>is a lossless-join decomposition</a:t>
            </a:r>
          </a:p>
          <a:p>
            <a:pPr lvl="1">
              <a:spcBef>
                <a:spcPts val="600"/>
              </a:spcBef>
            </a:pPr>
            <a:endParaRPr lang="en-US" altLang="zh-CN" sz="1600" dirty="0"/>
          </a:p>
          <a:p>
            <a:pPr>
              <a:spcBef>
                <a:spcPts val="600"/>
              </a:spcBef>
            </a:pPr>
            <a:r>
              <a:rPr lang="en-US" altLang="zh-CN" sz="1800" dirty="0"/>
              <a:t>R&lt;U,F&gt;, U={A,B,C,D}, F={A→B, A→C, C→D}, </a:t>
            </a:r>
            <a:r>
              <a:rPr lang="el-GR" altLang="zh-CN" sz="1800" dirty="0"/>
              <a:t>ρ={</a:t>
            </a:r>
            <a:r>
              <a:rPr lang="en-US" altLang="zh-CN" sz="1800" dirty="0"/>
              <a:t>R</a:t>
            </a:r>
            <a:r>
              <a:rPr lang="en-US" altLang="zh-CN" sz="1800" baseline="-25000" dirty="0"/>
              <a:t>1</a:t>
            </a:r>
            <a:r>
              <a:rPr lang="en-US" altLang="zh-CN" sz="1800" dirty="0"/>
              <a:t>(A,B), R</a:t>
            </a:r>
            <a:r>
              <a:rPr lang="en-US" altLang="zh-CN" sz="1800" baseline="-25000" dirty="0"/>
              <a:t>2</a:t>
            </a:r>
            <a:r>
              <a:rPr lang="en-US" altLang="zh-CN" sz="1800" dirty="0"/>
              <a:t>(B,C), R</a:t>
            </a:r>
            <a:r>
              <a:rPr lang="en-US" altLang="zh-CN" sz="1800" baseline="-25000" dirty="0"/>
              <a:t>3</a:t>
            </a:r>
            <a:r>
              <a:rPr lang="en-US" altLang="zh-CN" sz="1800" dirty="0"/>
              <a:t>(C,D)}. </a:t>
            </a:r>
            <a:r>
              <a:rPr lang="el-GR" altLang="zh-CN" sz="1800" dirty="0"/>
              <a:t>ρ </a:t>
            </a:r>
            <a:r>
              <a:rPr lang="en-US" altLang="zh-CN" sz="1800" dirty="0"/>
              <a:t>is a lossless-join decomposition or a lossy one?</a:t>
            </a:r>
          </a:p>
          <a:p>
            <a:pPr lvl="1">
              <a:spcBef>
                <a:spcPts val="600"/>
              </a:spcBef>
            </a:pPr>
            <a:r>
              <a:rPr lang="el-GR" altLang="zh-CN" sz="1600" dirty="0"/>
              <a:t>ρ </a:t>
            </a:r>
            <a:r>
              <a:rPr lang="en-US" altLang="zh-CN" sz="1600" dirty="0"/>
              <a:t>is a lossy-join decomposition</a:t>
            </a:r>
            <a:endParaRPr lang="zh-CN" altLang="en-US" sz="1400" dirty="0"/>
          </a:p>
        </p:txBody>
      </p:sp>
    </p:spTree>
    <p:extLst>
      <p:ext uri="{BB962C8B-B14F-4D97-AF65-F5344CB8AC3E}">
        <p14:creationId xmlns:p14="http://schemas.microsoft.com/office/powerpoint/2010/main" val="26639397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81614-1FA1-44F5-A6DE-A9A5E89983ED}"/>
              </a:ext>
            </a:extLst>
          </p:cNvPr>
          <p:cNvSpPr>
            <a:spLocks noGrp="1"/>
          </p:cNvSpPr>
          <p:nvPr>
            <p:ph type="title"/>
          </p:nvPr>
        </p:nvSpPr>
        <p:spPr/>
        <p:txBody>
          <a:bodyPr/>
          <a:lstStyle/>
          <a:p>
            <a:pPr algn="ctr"/>
            <a:r>
              <a:rPr lang="en-US" altLang="zh-CN" dirty="0"/>
              <a:t>More Examples</a:t>
            </a:r>
            <a:endParaRPr lang="zh-CN" altLang="en-US" dirty="0"/>
          </a:p>
        </p:txBody>
      </p:sp>
      <p:sp>
        <p:nvSpPr>
          <p:cNvPr id="3" name="内容占位符 2">
            <a:extLst>
              <a:ext uri="{FF2B5EF4-FFF2-40B4-BE49-F238E27FC236}">
                <a16:creationId xmlns:a16="http://schemas.microsoft.com/office/drawing/2014/main" id="{FFCE19D0-9F7D-4AB3-BB68-62775ECB38A6}"/>
              </a:ext>
            </a:extLst>
          </p:cNvPr>
          <p:cNvSpPr>
            <a:spLocks noGrp="1"/>
          </p:cNvSpPr>
          <p:nvPr>
            <p:ph idx="1"/>
          </p:nvPr>
        </p:nvSpPr>
        <p:spPr>
          <a:xfrm>
            <a:off x="251520" y="627534"/>
            <a:ext cx="8496944" cy="1224136"/>
          </a:xfrm>
        </p:spPr>
        <p:txBody>
          <a:bodyPr/>
          <a:lstStyle/>
          <a:p>
            <a:pPr>
              <a:spcBef>
                <a:spcPts val="600"/>
              </a:spcBef>
            </a:pPr>
            <a:r>
              <a:rPr lang="en-US" altLang="zh-CN" sz="1800" dirty="0"/>
              <a:t>R&lt;U,F&gt;, U={A,B,C,D,E}, F={A→C, B→C, C→D, DE→C, CE→A}, and a decomposition of R: </a:t>
            </a:r>
            <a:r>
              <a:rPr lang="el-GR" altLang="zh-CN" sz="1800" dirty="0"/>
              <a:t>ρ={</a:t>
            </a:r>
            <a:r>
              <a:rPr lang="en-US" altLang="zh-CN" sz="1800" dirty="0"/>
              <a:t>R</a:t>
            </a:r>
            <a:r>
              <a:rPr lang="en-US" altLang="zh-CN" sz="1800" baseline="-25000" dirty="0"/>
              <a:t>1</a:t>
            </a:r>
            <a:r>
              <a:rPr lang="en-US" altLang="zh-CN" sz="1800" dirty="0"/>
              <a:t>(A,D), R</a:t>
            </a:r>
            <a:r>
              <a:rPr lang="en-US" altLang="zh-CN" sz="1800" baseline="-25000" dirty="0"/>
              <a:t>2</a:t>
            </a:r>
            <a:r>
              <a:rPr lang="en-US" altLang="zh-CN" sz="1800" dirty="0"/>
              <a:t>(A,B), R</a:t>
            </a:r>
            <a:r>
              <a:rPr lang="en-US" altLang="zh-CN" sz="1800" baseline="-25000" dirty="0"/>
              <a:t>3</a:t>
            </a:r>
            <a:r>
              <a:rPr lang="en-US" altLang="zh-CN" sz="1800" dirty="0"/>
              <a:t>(B,E), R</a:t>
            </a:r>
            <a:r>
              <a:rPr lang="en-US" altLang="zh-CN" sz="1800" baseline="-25000" dirty="0"/>
              <a:t>4</a:t>
            </a:r>
            <a:r>
              <a:rPr lang="en-US" altLang="zh-CN" sz="1800" dirty="0"/>
              <a:t>(C,D,E), R</a:t>
            </a:r>
            <a:r>
              <a:rPr lang="en-US" altLang="zh-CN" sz="1800" baseline="-25000" dirty="0"/>
              <a:t>5</a:t>
            </a:r>
            <a:r>
              <a:rPr lang="en-US" altLang="zh-CN" sz="1800" dirty="0"/>
              <a:t>(A,E)}. </a:t>
            </a:r>
            <a:r>
              <a:rPr lang="el-GR" altLang="zh-CN" sz="1800" dirty="0"/>
              <a:t>ρ </a:t>
            </a:r>
            <a:r>
              <a:rPr lang="en-US" altLang="zh-CN" sz="1800" dirty="0"/>
              <a:t>is a lossless-join decomposition or a lossy one ?</a:t>
            </a:r>
          </a:p>
          <a:p>
            <a:pPr lvl="1">
              <a:spcBef>
                <a:spcPts val="600"/>
              </a:spcBef>
            </a:pPr>
            <a:r>
              <a:rPr lang="el-GR" altLang="zh-CN" sz="1600" dirty="0"/>
              <a:t>ρ </a:t>
            </a:r>
            <a:r>
              <a:rPr lang="en-US" altLang="zh-CN" sz="1600" dirty="0"/>
              <a:t>is a lossless-join decomposition</a:t>
            </a:r>
          </a:p>
          <a:p>
            <a:pPr lvl="1">
              <a:spcBef>
                <a:spcPts val="600"/>
              </a:spcBef>
            </a:pPr>
            <a:endParaRPr lang="en-US" altLang="zh-CN" sz="1600" dirty="0"/>
          </a:p>
        </p:txBody>
      </p:sp>
      <p:graphicFrame>
        <p:nvGraphicFramePr>
          <p:cNvPr id="8" name="表格 7">
            <a:extLst>
              <a:ext uri="{FF2B5EF4-FFF2-40B4-BE49-F238E27FC236}">
                <a16:creationId xmlns:a16="http://schemas.microsoft.com/office/drawing/2014/main" id="{56373032-10DB-44DF-8ADC-621B1B68CA87}"/>
              </a:ext>
            </a:extLst>
          </p:cNvPr>
          <p:cNvGraphicFramePr>
            <a:graphicFrameLocks noGrp="1"/>
          </p:cNvGraphicFramePr>
          <p:nvPr>
            <p:extLst>
              <p:ext uri="{D42A27DB-BD31-4B8C-83A1-F6EECF244321}">
                <p14:modId xmlns:p14="http://schemas.microsoft.com/office/powerpoint/2010/main" val="359154635"/>
              </p:ext>
            </p:extLst>
          </p:nvPr>
        </p:nvGraphicFramePr>
        <p:xfrm>
          <a:off x="107504" y="1923678"/>
          <a:ext cx="8928992" cy="3189714"/>
        </p:xfrm>
        <a:graphic>
          <a:graphicData uri="http://schemas.openxmlformats.org/drawingml/2006/table">
            <a:tbl>
              <a:tblPr firstRow="1" bandRow="1">
                <a:tableStyleId>{5940675A-B579-460E-94D1-54222C63F5DA}</a:tableStyleId>
              </a:tblPr>
              <a:tblGrid>
                <a:gridCol w="1020699">
                  <a:extLst>
                    <a:ext uri="{9D8B030D-6E8A-4147-A177-3AD203B41FA5}">
                      <a16:colId xmlns:a16="http://schemas.microsoft.com/office/drawing/2014/main" val="664030070"/>
                    </a:ext>
                  </a:extLst>
                </a:gridCol>
                <a:gridCol w="1427573">
                  <a:extLst>
                    <a:ext uri="{9D8B030D-6E8A-4147-A177-3AD203B41FA5}">
                      <a16:colId xmlns:a16="http://schemas.microsoft.com/office/drawing/2014/main" val="1572298289"/>
                    </a:ext>
                  </a:extLst>
                </a:gridCol>
                <a:gridCol w="1584176">
                  <a:extLst>
                    <a:ext uri="{9D8B030D-6E8A-4147-A177-3AD203B41FA5}">
                      <a16:colId xmlns:a16="http://schemas.microsoft.com/office/drawing/2014/main" val="4112954908"/>
                    </a:ext>
                  </a:extLst>
                </a:gridCol>
                <a:gridCol w="2304256">
                  <a:extLst>
                    <a:ext uri="{9D8B030D-6E8A-4147-A177-3AD203B41FA5}">
                      <a16:colId xmlns:a16="http://schemas.microsoft.com/office/drawing/2014/main" val="1589510874"/>
                    </a:ext>
                  </a:extLst>
                </a:gridCol>
                <a:gridCol w="1728192">
                  <a:extLst>
                    <a:ext uri="{9D8B030D-6E8A-4147-A177-3AD203B41FA5}">
                      <a16:colId xmlns:a16="http://schemas.microsoft.com/office/drawing/2014/main" val="1776183446"/>
                    </a:ext>
                  </a:extLst>
                </a:gridCol>
                <a:gridCol w="864096">
                  <a:extLst>
                    <a:ext uri="{9D8B030D-6E8A-4147-A177-3AD203B41FA5}">
                      <a16:colId xmlns:a16="http://schemas.microsoft.com/office/drawing/2014/main" val="4224265771"/>
                    </a:ext>
                  </a:extLst>
                </a:gridCol>
              </a:tblGrid>
              <a:tr h="0">
                <a:tc>
                  <a:txBody>
                    <a:bodyPr/>
                    <a:lstStyle/>
                    <a:p>
                      <a:endParaRPr lang="zh-CN" altLang="en-US" sz="2000" dirty="0"/>
                    </a:p>
                  </a:txBody>
                  <a:tcPr marL="121920" marR="121920" marT="60960" marB="60960">
                    <a:solidFill>
                      <a:schemeClr val="bg1"/>
                    </a:solidFill>
                  </a:tcPr>
                </a:tc>
                <a:tc>
                  <a:txBody>
                    <a:bodyPr/>
                    <a:lstStyle/>
                    <a:p>
                      <a:r>
                        <a:rPr lang="en-US" altLang="zh-CN" sz="2000" dirty="0"/>
                        <a:t>A</a:t>
                      </a:r>
                      <a:endParaRPr lang="zh-CN" altLang="en-US" sz="2000" dirty="0"/>
                    </a:p>
                  </a:txBody>
                  <a:tcPr marL="121920" marR="121920" marT="60960" marB="60960">
                    <a:solidFill>
                      <a:schemeClr val="accent2">
                        <a:lumMod val="20000"/>
                        <a:lumOff val="80000"/>
                      </a:schemeClr>
                    </a:solidFill>
                  </a:tcPr>
                </a:tc>
                <a:tc>
                  <a:txBody>
                    <a:bodyPr/>
                    <a:lstStyle/>
                    <a:p>
                      <a:r>
                        <a:rPr lang="en-US" altLang="zh-CN" sz="2000" dirty="0"/>
                        <a:t>B</a:t>
                      </a:r>
                      <a:endParaRPr lang="zh-CN" altLang="en-US" sz="2000" dirty="0"/>
                    </a:p>
                  </a:txBody>
                  <a:tcPr marL="121920" marR="121920" marT="60960" marB="60960">
                    <a:solidFill>
                      <a:schemeClr val="accent2">
                        <a:lumMod val="20000"/>
                        <a:lumOff val="80000"/>
                      </a:schemeClr>
                    </a:solidFill>
                  </a:tcPr>
                </a:tc>
                <a:tc>
                  <a:txBody>
                    <a:bodyPr/>
                    <a:lstStyle/>
                    <a:p>
                      <a:r>
                        <a:rPr lang="en-US" altLang="zh-CN" sz="2000" dirty="0"/>
                        <a:t>C</a:t>
                      </a:r>
                      <a:endParaRPr lang="zh-CN" altLang="en-US" sz="2000" dirty="0"/>
                    </a:p>
                  </a:txBody>
                  <a:tcPr marL="121920" marR="121920" marT="60960" marB="60960">
                    <a:solidFill>
                      <a:schemeClr val="accent2">
                        <a:lumMod val="20000"/>
                        <a:lumOff val="80000"/>
                      </a:schemeClr>
                    </a:solidFill>
                  </a:tcPr>
                </a:tc>
                <a:tc>
                  <a:txBody>
                    <a:bodyPr/>
                    <a:lstStyle/>
                    <a:p>
                      <a:r>
                        <a:rPr lang="en-US" altLang="zh-CN" sz="2000" dirty="0"/>
                        <a:t>D</a:t>
                      </a:r>
                      <a:endParaRPr lang="zh-CN" altLang="en-US" sz="2000" dirty="0"/>
                    </a:p>
                  </a:txBody>
                  <a:tcPr marL="121920" marR="121920" marT="60960" marB="60960">
                    <a:solidFill>
                      <a:schemeClr val="accent2">
                        <a:lumMod val="20000"/>
                        <a:lumOff val="80000"/>
                      </a:schemeClr>
                    </a:solidFill>
                  </a:tcPr>
                </a:tc>
                <a:tc>
                  <a:txBody>
                    <a:bodyPr/>
                    <a:lstStyle/>
                    <a:p>
                      <a:r>
                        <a:rPr lang="en-US" altLang="zh-CN" sz="2000" dirty="0"/>
                        <a:t>E</a:t>
                      </a:r>
                      <a:endParaRPr lang="zh-CN" altLang="en-US" sz="2000" dirty="0"/>
                    </a:p>
                  </a:txBody>
                  <a:tcPr marL="121920" marR="121920" marT="60960" marB="60960">
                    <a:solidFill>
                      <a:schemeClr val="accent2">
                        <a:lumMod val="20000"/>
                        <a:lumOff val="80000"/>
                      </a:schemeClr>
                    </a:solidFill>
                  </a:tcPr>
                </a:tc>
                <a:extLst>
                  <a:ext uri="{0D108BD9-81ED-4DB2-BD59-A6C34878D82A}">
                    <a16:rowId xmlns:a16="http://schemas.microsoft.com/office/drawing/2014/main" val="2838101394"/>
                  </a:ext>
                </a:extLst>
              </a:tr>
              <a:tr h="433318">
                <a:tc>
                  <a:txBody>
                    <a:bodyPr/>
                    <a:lstStyle/>
                    <a:p>
                      <a:r>
                        <a:rPr lang="en-US" altLang="zh-CN" sz="2000" dirty="0"/>
                        <a:t>R</a:t>
                      </a:r>
                      <a:r>
                        <a:rPr lang="en-US" altLang="zh-CN" sz="2000" baseline="-25000" dirty="0"/>
                        <a:t>1</a:t>
                      </a:r>
                      <a:endParaRPr lang="zh-CN" altLang="en-US" sz="2000" baseline="-25000" dirty="0"/>
                    </a:p>
                  </a:txBody>
                  <a:tcPr marL="121920" marR="121920" marT="60960" marB="60960">
                    <a:solidFill>
                      <a:schemeClr val="accent5">
                        <a:lumMod val="20000"/>
                        <a:lumOff val="80000"/>
                      </a:schemeClr>
                    </a:solidFill>
                  </a:tcPr>
                </a:tc>
                <a:tc>
                  <a:txBody>
                    <a:bodyPr/>
                    <a:lstStyle/>
                    <a:p>
                      <a:r>
                        <a:rPr lang="en-US" altLang="zh-CN" sz="2000" dirty="0">
                          <a:highlight>
                            <a:srgbClr val="FFFFFF"/>
                          </a:highlight>
                        </a:rPr>
                        <a:t>a1</a:t>
                      </a:r>
                      <a:endParaRPr lang="zh-CN" altLang="en-US" sz="2000" dirty="0">
                        <a:highlight>
                          <a:srgbClr val="FFFFFF"/>
                        </a:highlight>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highlight>
                            <a:srgbClr val="FFFFFF"/>
                          </a:highlight>
                        </a:rPr>
                        <a:t>b12</a:t>
                      </a:r>
                      <a:r>
                        <a:rPr lang="en-US" altLang="zh-CN" sz="2000" dirty="0">
                          <a:solidFill>
                            <a:srgbClr val="FF0000"/>
                          </a:solidFill>
                          <a:highlight>
                            <a:srgbClr val="FFFFFF"/>
                          </a:highlight>
                        </a:rPr>
                        <a:t>→a2</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b13</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a4</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b15</a:t>
                      </a:r>
                      <a:r>
                        <a:rPr lang="en-US" altLang="zh-CN" sz="2000" dirty="0">
                          <a:solidFill>
                            <a:srgbClr val="FF0000"/>
                          </a:solidFill>
                          <a:highlight>
                            <a:srgbClr val="FFFFFF"/>
                          </a:highlight>
                        </a:rPr>
                        <a:t>→a5</a:t>
                      </a:r>
                      <a:endParaRPr lang="zh-CN" altLang="en-US" sz="2000" dirty="0">
                        <a:highlight>
                          <a:srgbClr val="FFFFFF"/>
                        </a:highlight>
                      </a:endParaRPr>
                    </a:p>
                  </a:txBody>
                  <a:tcPr marL="121920" marR="121920" marT="60960" marB="60960"/>
                </a:tc>
                <a:extLst>
                  <a:ext uri="{0D108BD9-81ED-4DB2-BD59-A6C34878D82A}">
                    <a16:rowId xmlns:a16="http://schemas.microsoft.com/office/drawing/2014/main" val="269594213"/>
                  </a:ext>
                </a:extLst>
              </a:tr>
              <a:tr h="433318">
                <a:tc>
                  <a:txBody>
                    <a:bodyPr/>
                    <a:lstStyle/>
                    <a:p>
                      <a:r>
                        <a:rPr lang="en-US" altLang="zh-CN" sz="2000" dirty="0"/>
                        <a:t>R</a:t>
                      </a:r>
                      <a:r>
                        <a:rPr lang="en-US" altLang="zh-CN" sz="2000" baseline="-25000" dirty="0"/>
                        <a:t>2</a:t>
                      </a:r>
                      <a:endParaRPr lang="zh-CN" altLang="en-US" sz="2000" baseline="-25000" dirty="0"/>
                    </a:p>
                  </a:txBody>
                  <a:tcPr marL="121920" marR="121920" marT="60960" marB="60960">
                    <a:solidFill>
                      <a:schemeClr val="accent5">
                        <a:lumMod val="20000"/>
                        <a:lumOff val="80000"/>
                      </a:schemeClr>
                    </a:solidFill>
                  </a:tcPr>
                </a:tc>
                <a:tc>
                  <a:txBody>
                    <a:bodyPr/>
                    <a:lstStyle/>
                    <a:p>
                      <a:r>
                        <a:rPr lang="en-US" altLang="zh-CN" sz="2000" dirty="0">
                          <a:solidFill>
                            <a:schemeClr val="tx1"/>
                          </a:solidFill>
                        </a:rPr>
                        <a:t>a1</a:t>
                      </a:r>
                      <a:endParaRPr lang="zh-CN" altLang="en-US" sz="2000" dirty="0">
                        <a:solidFill>
                          <a:schemeClr val="tx1"/>
                        </a:solidFill>
                      </a:endParaRPr>
                    </a:p>
                  </a:txBody>
                  <a:tcPr marL="121920" marR="121920" marT="60960" marB="60960"/>
                </a:tc>
                <a:tc>
                  <a:txBody>
                    <a:bodyPr/>
                    <a:lstStyle/>
                    <a:p>
                      <a:r>
                        <a:rPr lang="en-US" altLang="zh-CN" sz="2000" dirty="0">
                          <a:solidFill>
                            <a:schemeClr val="tx1"/>
                          </a:solidFill>
                        </a:rPr>
                        <a:t>a2</a:t>
                      </a:r>
                      <a:endParaRPr lang="zh-CN" altLang="en-US" sz="2000" dirty="0">
                        <a:solidFill>
                          <a:schemeClr val="tx1"/>
                        </a:solidFill>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rPr>
                        <a:t>b23</a:t>
                      </a:r>
                      <a:r>
                        <a:rPr lang="en-US" altLang="zh-CN" sz="2000" dirty="0">
                          <a:solidFill>
                            <a:srgbClr val="FF0000"/>
                          </a:solidFill>
                        </a:rPr>
                        <a:t>→</a:t>
                      </a:r>
                      <a:r>
                        <a:rPr lang="en-US" altLang="zh-CN" sz="2000" dirty="0">
                          <a:solidFill>
                            <a:srgbClr val="FF0000"/>
                          </a:solidFill>
                          <a:highlight>
                            <a:srgbClr val="FFFFFF"/>
                          </a:highlight>
                        </a:rPr>
                        <a:t>b13</a:t>
                      </a:r>
                      <a:endParaRPr lang="zh-CN" altLang="en-US" sz="2000" dirty="0">
                        <a:solidFill>
                          <a:srgbClr val="FF0000"/>
                        </a:solidFill>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rPr>
                        <a:t>b24</a:t>
                      </a:r>
                      <a:r>
                        <a:rPr lang="en-US" altLang="zh-CN" sz="2000" dirty="0">
                          <a:solidFill>
                            <a:srgbClr val="FF0000"/>
                          </a:solidFill>
                        </a:rPr>
                        <a:t>→</a:t>
                      </a:r>
                      <a:r>
                        <a:rPr lang="en-US" altLang="zh-CN" sz="2000" dirty="0">
                          <a:solidFill>
                            <a:srgbClr val="FF0000"/>
                          </a:solidFill>
                          <a:highlight>
                            <a:srgbClr val="FFFFFF"/>
                          </a:highlight>
                        </a:rPr>
                        <a:t>a4</a:t>
                      </a:r>
                      <a:endParaRPr lang="zh-CN" altLang="en-US" sz="2000" dirty="0">
                        <a:solidFill>
                          <a:srgbClr val="FF0000"/>
                        </a:solidFill>
                      </a:endParaRPr>
                    </a:p>
                  </a:txBody>
                  <a:tcPr marL="121920" marR="121920" marT="60960" marB="60960"/>
                </a:tc>
                <a:tc>
                  <a:txBody>
                    <a:bodyPr/>
                    <a:lstStyle/>
                    <a:p>
                      <a:r>
                        <a:rPr lang="en-US" altLang="zh-CN" sz="2000">
                          <a:solidFill>
                            <a:schemeClr val="tx1"/>
                          </a:solidFill>
                        </a:rPr>
                        <a:t>b25</a:t>
                      </a:r>
                      <a:r>
                        <a:rPr lang="en-US" altLang="zh-CN" sz="2000">
                          <a:solidFill>
                            <a:srgbClr val="FF0000"/>
                          </a:solidFill>
                          <a:highlight>
                            <a:srgbClr val="FFFFFF"/>
                          </a:highlight>
                        </a:rPr>
                        <a:t>→a5</a:t>
                      </a:r>
                      <a:endParaRPr lang="zh-CN" altLang="en-US" sz="2000" dirty="0">
                        <a:solidFill>
                          <a:schemeClr val="tx1"/>
                        </a:solidFill>
                      </a:endParaRPr>
                    </a:p>
                  </a:txBody>
                  <a:tcPr marL="121920" marR="121920" marT="60960" marB="60960"/>
                </a:tc>
                <a:extLst>
                  <a:ext uri="{0D108BD9-81ED-4DB2-BD59-A6C34878D82A}">
                    <a16:rowId xmlns:a16="http://schemas.microsoft.com/office/drawing/2014/main" val="2183119837"/>
                  </a:ext>
                </a:extLst>
              </a:tr>
              <a:tr h="433318">
                <a:tc>
                  <a:txBody>
                    <a:bodyPr/>
                    <a:lstStyle/>
                    <a:p>
                      <a:r>
                        <a:rPr lang="en-US" altLang="zh-CN" sz="2000" dirty="0">
                          <a:solidFill>
                            <a:srgbClr val="FF0000"/>
                          </a:solidFill>
                        </a:rPr>
                        <a:t>R</a:t>
                      </a:r>
                      <a:r>
                        <a:rPr lang="en-US" altLang="zh-CN" sz="2000" baseline="-25000" dirty="0">
                          <a:solidFill>
                            <a:srgbClr val="FF0000"/>
                          </a:solidFill>
                        </a:rPr>
                        <a:t>3</a:t>
                      </a:r>
                      <a:endParaRPr lang="zh-CN" altLang="en-US" sz="2000" baseline="-25000" dirty="0">
                        <a:solidFill>
                          <a:srgbClr val="FF0000"/>
                        </a:solidFill>
                      </a:endParaRPr>
                    </a:p>
                  </a:txBody>
                  <a:tcPr marL="121920" marR="121920" marT="60960" marB="60960">
                    <a:solidFill>
                      <a:schemeClr val="accent5">
                        <a:lumMod val="20000"/>
                        <a:lumOff val="80000"/>
                      </a:schemeClr>
                    </a:solidFill>
                  </a:tcPr>
                </a:tc>
                <a:tc>
                  <a:txBody>
                    <a:bodyPr/>
                    <a:lstStyle/>
                    <a:p>
                      <a:r>
                        <a:rPr lang="en-US" altLang="zh-CN" sz="2000" dirty="0">
                          <a:highlight>
                            <a:srgbClr val="FFFFFF"/>
                          </a:highlight>
                        </a:rPr>
                        <a:t>b31</a:t>
                      </a:r>
                      <a:r>
                        <a:rPr lang="en-US" altLang="zh-CN" sz="2000" dirty="0">
                          <a:solidFill>
                            <a:srgbClr val="FF0000"/>
                          </a:solidFill>
                          <a:highlight>
                            <a:srgbClr val="FFFFFF"/>
                          </a:highlight>
                        </a:rPr>
                        <a:t>→a1</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a2</a:t>
                      </a:r>
                      <a:endParaRPr lang="zh-CN" altLang="en-US" sz="2000" dirty="0">
                        <a:highlight>
                          <a:srgbClr val="FFFFFF"/>
                        </a:highlight>
                      </a:endParaRP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dirty="0">
                          <a:highlight>
                            <a:srgbClr val="FFFFFF"/>
                          </a:highlight>
                        </a:rPr>
                        <a:t>b33</a:t>
                      </a:r>
                      <a:r>
                        <a:rPr lang="en-US" altLang="zh-CN" sz="2000" dirty="0">
                          <a:solidFill>
                            <a:srgbClr val="FF0000"/>
                          </a:solidFill>
                          <a:highlight>
                            <a:srgbClr val="FFFFFF"/>
                          </a:highlight>
                        </a:rPr>
                        <a:t>→b13→a3</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b34</a:t>
                      </a:r>
                      <a:r>
                        <a:rPr lang="en-US" altLang="zh-CN" sz="2000" dirty="0">
                          <a:solidFill>
                            <a:srgbClr val="FF0000"/>
                          </a:solidFill>
                          <a:highlight>
                            <a:srgbClr val="FFFFFF"/>
                          </a:highlight>
                        </a:rPr>
                        <a:t>→a4</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a5</a:t>
                      </a:r>
                      <a:endParaRPr lang="zh-CN" altLang="en-US" sz="2000" dirty="0">
                        <a:highlight>
                          <a:srgbClr val="FFFFFF"/>
                        </a:highlight>
                      </a:endParaRPr>
                    </a:p>
                  </a:txBody>
                  <a:tcPr marL="121920" marR="121920" marT="60960" marB="60960"/>
                </a:tc>
                <a:extLst>
                  <a:ext uri="{0D108BD9-81ED-4DB2-BD59-A6C34878D82A}">
                    <a16:rowId xmlns:a16="http://schemas.microsoft.com/office/drawing/2014/main" val="1625629658"/>
                  </a:ext>
                </a:extLst>
              </a:tr>
              <a:tr h="433318">
                <a:tc>
                  <a:txBody>
                    <a:bodyPr/>
                    <a:lstStyle/>
                    <a:p>
                      <a:r>
                        <a:rPr lang="en-US" altLang="zh-CN" sz="2000" dirty="0"/>
                        <a:t>R</a:t>
                      </a:r>
                      <a:r>
                        <a:rPr lang="en-US" altLang="zh-CN" sz="2000" baseline="-25000" dirty="0"/>
                        <a:t>4</a:t>
                      </a:r>
                      <a:endParaRPr lang="zh-CN" altLang="en-US" sz="2000" baseline="-25000" dirty="0"/>
                    </a:p>
                  </a:txBody>
                  <a:tcPr marL="121920" marR="121920" marT="60960" marB="60960">
                    <a:solidFill>
                      <a:schemeClr val="accent5">
                        <a:lumMod val="20000"/>
                        <a:lumOff val="80000"/>
                      </a:schemeClr>
                    </a:solidFill>
                  </a:tcPr>
                </a:tc>
                <a:tc>
                  <a:txBody>
                    <a:bodyPr/>
                    <a:lstStyle/>
                    <a:p>
                      <a:r>
                        <a:rPr lang="en-US" altLang="zh-CN" sz="2000" dirty="0">
                          <a:highlight>
                            <a:srgbClr val="FFFFFF"/>
                          </a:highlight>
                        </a:rPr>
                        <a:t>b41</a:t>
                      </a:r>
                      <a:r>
                        <a:rPr lang="en-US" altLang="zh-CN" sz="2000" dirty="0">
                          <a:solidFill>
                            <a:srgbClr val="FF0000"/>
                          </a:solidFill>
                          <a:highlight>
                            <a:srgbClr val="FFFFFF"/>
                          </a:highlight>
                        </a:rPr>
                        <a:t>→a1</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b42</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a3</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a4</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a5</a:t>
                      </a:r>
                      <a:endParaRPr lang="zh-CN" altLang="en-US" sz="2000" dirty="0">
                        <a:highlight>
                          <a:srgbClr val="FFFFFF"/>
                        </a:highlight>
                      </a:endParaRPr>
                    </a:p>
                  </a:txBody>
                  <a:tcPr marL="121920" marR="121920" marT="60960" marB="60960"/>
                </a:tc>
                <a:extLst>
                  <a:ext uri="{0D108BD9-81ED-4DB2-BD59-A6C34878D82A}">
                    <a16:rowId xmlns:a16="http://schemas.microsoft.com/office/drawing/2014/main" val="2376580638"/>
                  </a:ext>
                </a:extLst>
              </a:tr>
              <a:tr h="433318">
                <a:tc>
                  <a:txBody>
                    <a:bodyPr/>
                    <a:lstStyle/>
                    <a:p>
                      <a:r>
                        <a:rPr lang="en-US" altLang="zh-CN" sz="2000" dirty="0"/>
                        <a:t>R</a:t>
                      </a:r>
                      <a:r>
                        <a:rPr lang="en-US" altLang="zh-CN" sz="2000" baseline="-25000" dirty="0"/>
                        <a:t>5</a:t>
                      </a:r>
                      <a:endParaRPr lang="zh-CN" altLang="en-US" sz="2000" baseline="-25000" dirty="0"/>
                    </a:p>
                  </a:txBody>
                  <a:tcPr marL="121920" marR="121920" marT="60960" marB="60960">
                    <a:solidFill>
                      <a:schemeClr val="accent5">
                        <a:lumMod val="20000"/>
                        <a:lumOff val="80000"/>
                      </a:schemeClr>
                    </a:solidFill>
                  </a:tcPr>
                </a:tc>
                <a:tc>
                  <a:txBody>
                    <a:bodyPr/>
                    <a:lstStyle/>
                    <a:p>
                      <a:r>
                        <a:rPr lang="en-US" altLang="zh-CN" sz="2000" dirty="0">
                          <a:highlight>
                            <a:srgbClr val="FFFFFF"/>
                          </a:highlight>
                        </a:rPr>
                        <a:t>a1</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b52</a:t>
                      </a:r>
                      <a:r>
                        <a:rPr lang="en-US" altLang="zh-CN" sz="2000" dirty="0">
                          <a:solidFill>
                            <a:srgbClr val="FF0000"/>
                          </a:solidFill>
                          <a:highlight>
                            <a:srgbClr val="FFFFFF"/>
                          </a:highlight>
                        </a:rPr>
                        <a:t>→a2</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b53</a:t>
                      </a:r>
                      <a:r>
                        <a:rPr lang="en-US" altLang="zh-CN" sz="2000" dirty="0">
                          <a:solidFill>
                            <a:srgbClr val="FF0000"/>
                          </a:solidFill>
                          <a:highlight>
                            <a:srgbClr val="FFFFFF"/>
                          </a:highlight>
                        </a:rPr>
                        <a:t>→b13→a3</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b54</a:t>
                      </a:r>
                      <a:r>
                        <a:rPr lang="en-US" altLang="zh-CN" sz="2000" dirty="0">
                          <a:solidFill>
                            <a:srgbClr val="FF0000"/>
                          </a:solidFill>
                          <a:highlight>
                            <a:srgbClr val="FFFFFF"/>
                          </a:highlight>
                        </a:rPr>
                        <a:t>→a4</a:t>
                      </a:r>
                      <a:endParaRPr lang="zh-CN" altLang="en-US" sz="2000" dirty="0">
                        <a:highlight>
                          <a:srgbClr val="FFFFFF"/>
                        </a:highlight>
                      </a:endParaRPr>
                    </a:p>
                  </a:txBody>
                  <a:tcPr marL="121920" marR="121920" marT="60960" marB="60960"/>
                </a:tc>
                <a:tc>
                  <a:txBody>
                    <a:bodyPr/>
                    <a:lstStyle/>
                    <a:p>
                      <a:r>
                        <a:rPr lang="en-US" altLang="zh-CN" sz="2000" dirty="0">
                          <a:highlight>
                            <a:srgbClr val="FFFFFF"/>
                          </a:highlight>
                        </a:rPr>
                        <a:t>a5</a:t>
                      </a:r>
                      <a:endParaRPr lang="zh-CN" altLang="en-US" sz="2000" dirty="0">
                        <a:highlight>
                          <a:srgbClr val="FFFFFF"/>
                        </a:highlight>
                      </a:endParaRPr>
                    </a:p>
                  </a:txBody>
                  <a:tcPr marL="121920" marR="121920" marT="60960" marB="60960"/>
                </a:tc>
                <a:extLst>
                  <a:ext uri="{0D108BD9-81ED-4DB2-BD59-A6C34878D82A}">
                    <a16:rowId xmlns:a16="http://schemas.microsoft.com/office/drawing/2014/main" val="2043764195"/>
                  </a:ext>
                </a:extLst>
              </a:tr>
            </a:tbl>
          </a:graphicData>
        </a:graphic>
      </p:graphicFrame>
    </p:spTree>
    <p:extLst>
      <p:ext uri="{BB962C8B-B14F-4D97-AF65-F5344CB8AC3E}">
        <p14:creationId xmlns:p14="http://schemas.microsoft.com/office/powerpoint/2010/main" val="4210221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881614-1FA1-44F5-A6DE-A9A5E89983ED}"/>
              </a:ext>
            </a:extLst>
          </p:cNvPr>
          <p:cNvSpPr>
            <a:spLocks noGrp="1"/>
          </p:cNvSpPr>
          <p:nvPr>
            <p:ph type="title"/>
          </p:nvPr>
        </p:nvSpPr>
        <p:spPr/>
        <p:txBody>
          <a:bodyPr/>
          <a:lstStyle/>
          <a:p>
            <a:pPr algn="ctr"/>
            <a:r>
              <a:rPr lang="en-US" altLang="zh-CN" dirty="0"/>
              <a:t>More Examples</a:t>
            </a:r>
            <a:endParaRPr lang="zh-CN" altLang="en-US" dirty="0"/>
          </a:p>
        </p:txBody>
      </p:sp>
      <p:sp>
        <p:nvSpPr>
          <p:cNvPr id="3" name="内容占位符 2">
            <a:extLst>
              <a:ext uri="{FF2B5EF4-FFF2-40B4-BE49-F238E27FC236}">
                <a16:creationId xmlns:a16="http://schemas.microsoft.com/office/drawing/2014/main" id="{FFCE19D0-9F7D-4AB3-BB68-62775ECB38A6}"/>
              </a:ext>
            </a:extLst>
          </p:cNvPr>
          <p:cNvSpPr>
            <a:spLocks noGrp="1"/>
          </p:cNvSpPr>
          <p:nvPr>
            <p:ph idx="1"/>
          </p:nvPr>
        </p:nvSpPr>
        <p:spPr>
          <a:xfrm>
            <a:off x="251520" y="789553"/>
            <a:ext cx="8496944" cy="3805070"/>
          </a:xfrm>
        </p:spPr>
        <p:txBody>
          <a:bodyPr/>
          <a:lstStyle/>
          <a:p>
            <a:pPr>
              <a:spcBef>
                <a:spcPts val="600"/>
              </a:spcBef>
            </a:pPr>
            <a:r>
              <a:rPr lang="en-US" altLang="zh-CN" sz="1800" dirty="0"/>
              <a:t>R&lt;U,F&gt;, U={A,B,C,D}, F={A→B, A→C, C→D}, </a:t>
            </a:r>
            <a:r>
              <a:rPr lang="el-GR" altLang="zh-CN" sz="1800" dirty="0"/>
              <a:t>ρ={</a:t>
            </a:r>
            <a:r>
              <a:rPr lang="en-US" altLang="zh-CN" sz="1800" dirty="0"/>
              <a:t>R</a:t>
            </a:r>
            <a:r>
              <a:rPr lang="en-US" altLang="zh-CN" sz="1800" baseline="-25000" dirty="0"/>
              <a:t>1</a:t>
            </a:r>
            <a:r>
              <a:rPr lang="en-US" altLang="zh-CN" sz="1800" dirty="0"/>
              <a:t>(A,B), R</a:t>
            </a:r>
            <a:r>
              <a:rPr lang="en-US" altLang="zh-CN" sz="1800" baseline="-25000" dirty="0"/>
              <a:t>2</a:t>
            </a:r>
            <a:r>
              <a:rPr lang="en-US" altLang="zh-CN" sz="1800" dirty="0"/>
              <a:t>(B,C), R</a:t>
            </a:r>
            <a:r>
              <a:rPr lang="en-US" altLang="zh-CN" sz="1800" baseline="-25000" dirty="0"/>
              <a:t>3</a:t>
            </a:r>
            <a:r>
              <a:rPr lang="en-US" altLang="zh-CN" sz="1800" dirty="0"/>
              <a:t>(C,D)}. </a:t>
            </a:r>
            <a:r>
              <a:rPr lang="el-GR" altLang="zh-CN" sz="1800" dirty="0"/>
              <a:t>ρ </a:t>
            </a:r>
            <a:r>
              <a:rPr lang="en-US" altLang="zh-CN" sz="1800" dirty="0"/>
              <a:t>is a lossless-join decomposition or a lossy one?</a:t>
            </a:r>
          </a:p>
          <a:p>
            <a:pPr lvl="1">
              <a:spcBef>
                <a:spcPts val="600"/>
              </a:spcBef>
            </a:pPr>
            <a:r>
              <a:rPr lang="el-GR" altLang="zh-CN" sz="1600" dirty="0"/>
              <a:t>ρ </a:t>
            </a:r>
            <a:r>
              <a:rPr lang="en-US" altLang="zh-CN" sz="1600" dirty="0"/>
              <a:t>is a lossy-join decomposition</a:t>
            </a:r>
            <a:endParaRPr lang="zh-CN" altLang="en-US" sz="1400" dirty="0"/>
          </a:p>
        </p:txBody>
      </p:sp>
      <p:graphicFrame>
        <p:nvGraphicFramePr>
          <p:cNvPr id="4" name="表格 3">
            <a:extLst>
              <a:ext uri="{FF2B5EF4-FFF2-40B4-BE49-F238E27FC236}">
                <a16:creationId xmlns:a16="http://schemas.microsoft.com/office/drawing/2014/main" id="{487B09E8-4152-4F87-A676-BA6C76F85A2A}"/>
              </a:ext>
            </a:extLst>
          </p:cNvPr>
          <p:cNvGraphicFramePr>
            <a:graphicFrameLocks noGrp="1"/>
          </p:cNvGraphicFramePr>
          <p:nvPr>
            <p:extLst>
              <p:ext uri="{D42A27DB-BD31-4B8C-83A1-F6EECF244321}">
                <p14:modId xmlns:p14="http://schemas.microsoft.com/office/powerpoint/2010/main" val="2874563644"/>
              </p:ext>
            </p:extLst>
          </p:nvPr>
        </p:nvGraphicFramePr>
        <p:xfrm>
          <a:off x="1547664" y="2355726"/>
          <a:ext cx="5080000" cy="1478280"/>
        </p:xfrm>
        <a:graphic>
          <a:graphicData uri="http://schemas.openxmlformats.org/drawingml/2006/table">
            <a:tbl>
              <a:tblPr firstRow="1" bandRow="1">
                <a:tableStyleId>{5940675A-B579-460E-94D1-54222C63F5DA}</a:tableStyleId>
              </a:tblPr>
              <a:tblGrid>
                <a:gridCol w="1016000">
                  <a:extLst>
                    <a:ext uri="{9D8B030D-6E8A-4147-A177-3AD203B41FA5}">
                      <a16:colId xmlns:a16="http://schemas.microsoft.com/office/drawing/2014/main" val="664030070"/>
                    </a:ext>
                  </a:extLst>
                </a:gridCol>
                <a:gridCol w="1016000">
                  <a:extLst>
                    <a:ext uri="{9D8B030D-6E8A-4147-A177-3AD203B41FA5}">
                      <a16:colId xmlns:a16="http://schemas.microsoft.com/office/drawing/2014/main" val="1572298289"/>
                    </a:ext>
                  </a:extLst>
                </a:gridCol>
                <a:gridCol w="1016000">
                  <a:extLst>
                    <a:ext uri="{9D8B030D-6E8A-4147-A177-3AD203B41FA5}">
                      <a16:colId xmlns:a16="http://schemas.microsoft.com/office/drawing/2014/main" val="4112954908"/>
                    </a:ext>
                  </a:extLst>
                </a:gridCol>
                <a:gridCol w="1016000">
                  <a:extLst>
                    <a:ext uri="{9D8B030D-6E8A-4147-A177-3AD203B41FA5}">
                      <a16:colId xmlns:a16="http://schemas.microsoft.com/office/drawing/2014/main" val="1589510874"/>
                    </a:ext>
                  </a:extLst>
                </a:gridCol>
                <a:gridCol w="1016000">
                  <a:extLst>
                    <a:ext uri="{9D8B030D-6E8A-4147-A177-3AD203B41FA5}">
                      <a16:colId xmlns:a16="http://schemas.microsoft.com/office/drawing/2014/main" val="1776183446"/>
                    </a:ext>
                  </a:extLst>
                </a:gridCol>
              </a:tblGrid>
              <a:tr h="0">
                <a:tc>
                  <a:txBody>
                    <a:bodyPr/>
                    <a:lstStyle/>
                    <a:p>
                      <a:endParaRPr lang="zh-CN" altLang="en-US" dirty="0"/>
                    </a:p>
                  </a:txBody>
                  <a:tcPr>
                    <a:solidFill>
                      <a:schemeClr val="bg1"/>
                    </a:solidFill>
                  </a:tcPr>
                </a:tc>
                <a:tc>
                  <a:txBody>
                    <a:bodyPr/>
                    <a:lstStyle/>
                    <a:p>
                      <a:r>
                        <a:rPr lang="en-US" altLang="zh-CN" dirty="0"/>
                        <a:t>A</a:t>
                      </a:r>
                      <a:endParaRPr lang="zh-CN" altLang="en-US" dirty="0"/>
                    </a:p>
                  </a:txBody>
                  <a:tcPr>
                    <a:solidFill>
                      <a:schemeClr val="accent2">
                        <a:lumMod val="20000"/>
                        <a:lumOff val="80000"/>
                      </a:schemeClr>
                    </a:solidFill>
                  </a:tcPr>
                </a:tc>
                <a:tc>
                  <a:txBody>
                    <a:bodyPr/>
                    <a:lstStyle/>
                    <a:p>
                      <a:r>
                        <a:rPr lang="en-US" altLang="zh-CN" dirty="0"/>
                        <a:t>B</a:t>
                      </a:r>
                      <a:endParaRPr lang="zh-CN" altLang="en-US" dirty="0"/>
                    </a:p>
                  </a:txBody>
                  <a:tcPr>
                    <a:solidFill>
                      <a:schemeClr val="accent2">
                        <a:lumMod val="20000"/>
                        <a:lumOff val="80000"/>
                      </a:schemeClr>
                    </a:solidFill>
                  </a:tcPr>
                </a:tc>
                <a:tc>
                  <a:txBody>
                    <a:bodyPr/>
                    <a:lstStyle/>
                    <a:p>
                      <a:r>
                        <a:rPr lang="en-US" altLang="zh-CN" dirty="0"/>
                        <a:t>C</a:t>
                      </a:r>
                      <a:endParaRPr lang="zh-CN" altLang="en-US" dirty="0"/>
                    </a:p>
                  </a:txBody>
                  <a:tcPr>
                    <a:solidFill>
                      <a:schemeClr val="accent2">
                        <a:lumMod val="20000"/>
                        <a:lumOff val="80000"/>
                      </a:schemeClr>
                    </a:solidFill>
                  </a:tcPr>
                </a:tc>
                <a:tc>
                  <a:txBody>
                    <a:bodyPr/>
                    <a:lstStyle/>
                    <a:p>
                      <a:r>
                        <a:rPr lang="en-US" altLang="zh-CN" dirty="0"/>
                        <a:t>D</a:t>
                      </a:r>
                      <a:endParaRPr lang="zh-CN" altLang="en-US" dirty="0"/>
                    </a:p>
                  </a:txBody>
                  <a:tcPr>
                    <a:solidFill>
                      <a:schemeClr val="accent2">
                        <a:lumMod val="20000"/>
                        <a:lumOff val="80000"/>
                      </a:schemeClr>
                    </a:solidFill>
                  </a:tcPr>
                </a:tc>
                <a:extLst>
                  <a:ext uri="{0D108BD9-81ED-4DB2-BD59-A6C34878D82A}">
                    <a16:rowId xmlns:a16="http://schemas.microsoft.com/office/drawing/2014/main" val="2838101394"/>
                  </a:ext>
                </a:extLst>
              </a:tr>
              <a:tr h="370840">
                <a:tc>
                  <a:txBody>
                    <a:bodyPr/>
                    <a:lstStyle/>
                    <a:p>
                      <a:r>
                        <a:rPr lang="en-US" altLang="zh-CN" dirty="0"/>
                        <a:t>R</a:t>
                      </a:r>
                      <a:r>
                        <a:rPr lang="en-US" altLang="zh-CN" baseline="-25000" dirty="0"/>
                        <a:t>1</a:t>
                      </a:r>
                      <a:endParaRPr lang="zh-CN" altLang="en-US" baseline="-25000" dirty="0"/>
                    </a:p>
                  </a:txBody>
                  <a:tcPr>
                    <a:solidFill>
                      <a:schemeClr val="accent5">
                        <a:lumMod val="20000"/>
                        <a:lumOff val="80000"/>
                      </a:schemeClr>
                    </a:solidFill>
                  </a:tcPr>
                </a:tc>
                <a:tc>
                  <a:txBody>
                    <a:bodyPr/>
                    <a:lstStyle/>
                    <a:p>
                      <a:r>
                        <a:rPr lang="en-US" altLang="zh-CN" dirty="0"/>
                        <a:t>a</a:t>
                      </a:r>
                      <a:r>
                        <a:rPr lang="en-US" altLang="zh-CN" baseline="-25000" dirty="0"/>
                        <a:t>1</a:t>
                      </a:r>
                      <a:endParaRPr lang="zh-CN" altLang="en-US" baseline="-25000" dirty="0"/>
                    </a:p>
                  </a:txBody>
                  <a:tcPr/>
                </a:tc>
                <a:tc>
                  <a:txBody>
                    <a:bodyPr/>
                    <a:lstStyle/>
                    <a:p>
                      <a:r>
                        <a:rPr lang="en-US" altLang="zh-CN" dirty="0"/>
                        <a:t>a</a:t>
                      </a:r>
                      <a:r>
                        <a:rPr lang="en-US" altLang="zh-CN" baseline="-25000" dirty="0"/>
                        <a:t>2</a:t>
                      </a:r>
                      <a:endParaRPr lang="zh-CN" altLang="en-US" baseline="-25000" dirty="0"/>
                    </a:p>
                  </a:txBody>
                  <a:tcPr/>
                </a:tc>
                <a:tc>
                  <a:txBody>
                    <a:bodyPr/>
                    <a:lstStyle/>
                    <a:p>
                      <a:r>
                        <a:rPr lang="en-US" altLang="zh-CN" dirty="0"/>
                        <a:t>b</a:t>
                      </a:r>
                      <a:r>
                        <a:rPr lang="en-US" altLang="zh-CN" baseline="-25000" dirty="0"/>
                        <a:t>13</a:t>
                      </a:r>
                      <a:endParaRPr lang="zh-CN" altLang="en-US" baseline="-25000" dirty="0"/>
                    </a:p>
                  </a:txBody>
                  <a:tcPr/>
                </a:tc>
                <a:tc>
                  <a:txBody>
                    <a:bodyPr/>
                    <a:lstStyle/>
                    <a:p>
                      <a:r>
                        <a:rPr lang="en-US" altLang="zh-CN" dirty="0"/>
                        <a:t>b</a:t>
                      </a:r>
                      <a:r>
                        <a:rPr lang="en-US" altLang="zh-CN" baseline="-25000" dirty="0"/>
                        <a:t>14</a:t>
                      </a:r>
                      <a:endParaRPr lang="zh-CN" altLang="en-US" baseline="-25000" dirty="0"/>
                    </a:p>
                  </a:txBody>
                  <a:tcPr/>
                </a:tc>
                <a:extLst>
                  <a:ext uri="{0D108BD9-81ED-4DB2-BD59-A6C34878D82A}">
                    <a16:rowId xmlns:a16="http://schemas.microsoft.com/office/drawing/2014/main" val="269594213"/>
                  </a:ext>
                </a:extLst>
              </a:tr>
              <a:tr h="370840">
                <a:tc>
                  <a:txBody>
                    <a:bodyPr/>
                    <a:lstStyle/>
                    <a:p>
                      <a:r>
                        <a:rPr lang="en-US" altLang="zh-CN" dirty="0"/>
                        <a:t>R</a:t>
                      </a:r>
                      <a:r>
                        <a:rPr lang="en-US" altLang="zh-CN" baseline="-25000" dirty="0"/>
                        <a:t>2</a:t>
                      </a:r>
                      <a:endParaRPr lang="zh-CN" altLang="en-US" baseline="-25000" dirty="0"/>
                    </a:p>
                  </a:txBody>
                  <a:tcPr>
                    <a:solidFill>
                      <a:schemeClr val="accent5">
                        <a:lumMod val="20000"/>
                        <a:lumOff val="80000"/>
                      </a:schemeClr>
                    </a:solidFill>
                  </a:tcPr>
                </a:tc>
                <a:tc>
                  <a:txBody>
                    <a:bodyPr/>
                    <a:lstStyle/>
                    <a:p>
                      <a:r>
                        <a:rPr lang="en-US" altLang="zh-CN" dirty="0"/>
                        <a:t>b</a:t>
                      </a:r>
                      <a:r>
                        <a:rPr lang="en-US" altLang="zh-CN" baseline="-25000" dirty="0"/>
                        <a:t>21</a:t>
                      </a:r>
                      <a:endParaRPr lang="zh-CN" altLang="en-US" baseline="-25000" dirty="0"/>
                    </a:p>
                  </a:txBody>
                  <a:tcPr/>
                </a:tc>
                <a:tc>
                  <a:txBody>
                    <a:bodyPr/>
                    <a:lstStyle/>
                    <a:p>
                      <a:r>
                        <a:rPr lang="en-US" altLang="zh-CN" dirty="0"/>
                        <a:t>a</a:t>
                      </a:r>
                      <a:r>
                        <a:rPr lang="en-US" altLang="zh-CN" baseline="-25000" dirty="0"/>
                        <a:t>2</a:t>
                      </a:r>
                      <a:endParaRPr lang="zh-CN" altLang="en-US" baseline="-25000" dirty="0"/>
                    </a:p>
                  </a:txBody>
                  <a:tcPr/>
                </a:tc>
                <a:tc>
                  <a:txBody>
                    <a:bodyPr/>
                    <a:lstStyle/>
                    <a:p>
                      <a:r>
                        <a:rPr lang="en-US" altLang="zh-CN" dirty="0"/>
                        <a:t>a</a:t>
                      </a:r>
                      <a:r>
                        <a:rPr lang="en-US" altLang="zh-CN" baseline="-25000" dirty="0"/>
                        <a:t>3</a:t>
                      </a:r>
                      <a:endParaRPr lang="zh-CN" altLang="en-US" baseline="-25000" dirty="0"/>
                    </a:p>
                  </a:txBody>
                  <a:tcPr/>
                </a:tc>
                <a:tc>
                  <a:txBody>
                    <a:bodyPr/>
                    <a:lstStyle/>
                    <a:p>
                      <a:r>
                        <a:rPr lang="en-US" altLang="zh-CN" strike="sngStrike" dirty="0">
                          <a:solidFill>
                            <a:srgbClr val="C00000"/>
                          </a:solidFill>
                        </a:rPr>
                        <a:t>b</a:t>
                      </a:r>
                      <a:r>
                        <a:rPr lang="en-US" altLang="zh-CN" strike="sngStrike" baseline="-25000" dirty="0">
                          <a:solidFill>
                            <a:srgbClr val="C00000"/>
                          </a:solidFill>
                        </a:rPr>
                        <a:t>24</a:t>
                      </a:r>
                      <a:r>
                        <a:rPr lang="en-US" altLang="zh-CN" dirty="0"/>
                        <a:t>a</a:t>
                      </a:r>
                      <a:r>
                        <a:rPr lang="en-US" altLang="zh-CN" baseline="-25000" dirty="0"/>
                        <a:t>4</a:t>
                      </a:r>
                      <a:endParaRPr lang="zh-CN" altLang="en-US" baseline="-25000" dirty="0"/>
                    </a:p>
                  </a:txBody>
                  <a:tcPr/>
                </a:tc>
                <a:extLst>
                  <a:ext uri="{0D108BD9-81ED-4DB2-BD59-A6C34878D82A}">
                    <a16:rowId xmlns:a16="http://schemas.microsoft.com/office/drawing/2014/main" val="2183119837"/>
                  </a:ext>
                </a:extLst>
              </a:tr>
              <a:tr h="370840">
                <a:tc>
                  <a:txBody>
                    <a:bodyPr/>
                    <a:lstStyle/>
                    <a:p>
                      <a:r>
                        <a:rPr lang="en-US" altLang="zh-CN" dirty="0"/>
                        <a:t>R</a:t>
                      </a:r>
                      <a:r>
                        <a:rPr lang="en-US" altLang="zh-CN" baseline="-25000" dirty="0"/>
                        <a:t>3</a:t>
                      </a:r>
                      <a:endParaRPr lang="zh-CN" altLang="en-US" baseline="-25000" dirty="0"/>
                    </a:p>
                  </a:txBody>
                  <a:tcPr>
                    <a:solidFill>
                      <a:schemeClr val="accent5">
                        <a:lumMod val="20000"/>
                        <a:lumOff val="80000"/>
                      </a:schemeClr>
                    </a:solidFill>
                  </a:tcPr>
                </a:tc>
                <a:tc>
                  <a:txBody>
                    <a:bodyPr/>
                    <a:lstStyle/>
                    <a:p>
                      <a:r>
                        <a:rPr lang="en-US" altLang="zh-CN" dirty="0"/>
                        <a:t>b</a:t>
                      </a:r>
                      <a:r>
                        <a:rPr lang="en-US" altLang="zh-CN" baseline="-25000" dirty="0"/>
                        <a:t>31</a:t>
                      </a:r>
                      <a:endParaRPr lang="zh-CN" altLang="en-US" baseline="-25000" dirty="0"/>
                    </a:p>
                  </a:txBody>
                  <a:tcPr/>
                </a:tc>
                <a:tc>
                  <a:txBody>
                    <a:bodyPr/>
                    <a:lstStyle/>
                    <a:p>
                      <a:r>
                        <a:rPr lang="en-US" altLang="zh-CN" dirty="0"/>
                        <a:t>b</a:t>
                      </a:r>
                      <a:r>
                        <a:rPr lang="en-US" altLang="zh-CN" baseline="-25000" dirty="0"/>
                        <a:t>32</a:t>
                      </a:r>
                      <a:endParaRPr lang="zh-CN" altLang="en-US" baseline="-25000" dirty="0"/>
                    </a:p>
                  </a:txBody>
                  <a:tcPr/>
                </a:tc>
                <a:tc>
                  <a:txBody>
                    <a:bodyPr/>
                    <a:lstStyle/>
                    <a:p>
                      <a:r>
                        <a:rPr lang="en-US" altLang="zh-CN" dirty="0"/>
                        <a:t>a</a:t>
                      </a:r>
                      <a:r>
                        <a:rPr lang="en-US" altLang="zh-CN" baseline="-25000" dirty="0"/>
                        <a:t>3</a:t>
                      </a:r>
                      <a:endParaRPr lang="zh-CN" altLang="en-US" baseline="-25000" dirty="0"/>
                    </a:p>
                  </a:txBody>
                  <a:tcPr/>
                </a:tc>
                <a:tc>
                  <a:txBody>
                    <a:bodyPr/>
                    <a:lstStyle/>
                    <a:p>
                      <a:r>
                        <a:rPr lang="en-US" altLang="zh-CN" dirty="0"/>
                        <a:t>a</a:t>
                      </a:r>
                      <a:r>
                        <a:rPr lang="en-US" altLang="zh-CN" baseline="-25000" dirty="0"/>
                        <a:t>4</a:t>
                      </a:r>
                      <a:endParaRPr lang="zh-CN" altLang="en-US" baseline="-25000" dirty="0"/>
                    </a:p>
                  </a:txBody>
                  <a:tcPr/>
                </a:tc>
                <a:extLst>
                  <a:ext uri="{0D108BD9-81ED-4DB2-BD59-A6C34878D82A}">
                    <a16:rowId xmlns:a16="http://schemas.microsoft.com/office/drawing/2014/main" val="1625629658"/>
                  </a:ext>
                </a:extLst>
              </a:tr>
            </a:tbl>
          </a:graphicData>
        </a:graphic>
      </p:graphicFrame>
    </p:spTree>
    <p:extLst>
      <p:ext uri="{BB962C8B-B14F-4D97-AF65-F5344CB8AC3E}">
        <p14:creationId xmlns:p14="http://schemas.microsoft.com/office/powerpoint/2010/main" val="465535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782904"/>
            <a:ext cx="8568952" cy="3805070"/>
          </a:xfrm>
        </p:spPr>
        <p:txBody>
          <a:bodyPr/>
          <a:lstStyle/>
          <a:p>
            <a:pPr>
              <a:spcBef>
                <a:spcPts val="400"/>
              </a:spcBef>
            </a:pPr>
            <a:r>
              <a:rPr lang="en-US" altLang="zh-CN" sz="2000" dirty="0"/>
              <a:t>Features of Good Relational Designs</a:t>
            </a:r>
          </a:p>
          <a:p>
            <a:pPr>
              <a:spcBef>
                <a:spcPts val="400"/>
              </a:spcBef>
            </a:pPr>
            <a:r>
              <a:rPr lang="en-US" altLang="zh-CN" sz="2000" b="1" dirty="0">
                <a:solidFill>
                  <a:srgbClr val="C00000"/>
                </a:solidFill>
              </a:rPr>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b="1" dirty="0">
                <a:solidFill>
                  <a:srgbClr val="C00000"/>
                </a:solidFill>
              </a:rPr>
              <a:t>Dependency Preservation</a:t>
            </a:r>
          </a:p>
          <a:p>
            <a:pPr>
              <a:spcBef>
                <a:spcPts val="400"/>
              </a:spcBef>
            </a:pPr>
            <a:r>
              <a:rPr lang="en-US" altLang="zh-CN" sz="2000" dirty="0"/>
              <a:t>Normalization &amp; Normal Forms (</a:t>
            </a:r>
            <a:r>
              <a:rPr lang="zh-CN" altLang="en-US" sz="2000" dirty="0"/>
              <a:t>范式</a:t>
            </a:r>
            <a:r>
              <a:rPr lang="en-US" altLang="zh-CN" sz="2000" dirty="0"/>
              <a:t>)</a:t>
            </a:r>
          </a:p>
          <a:p>
            <a:pPr>
              <a:spcBef>
                <a:spcPts val="400"/>
              </a:spcBef>
            </a:pPr>
            <a:r>
              <a:rPr lang="en-US" altLang="zh-CN" sz="2000" dirty="0"/>
              <a:t>Multivalued Dependencies</a:t>
            </a:r>
            <a:r>
              <a:rPr lang="zh-CN" altLang="en-US" sz="2000" dirty="0"/>
              <a:t>*</a:t>
            </a:r>
            <a:endParaRPr lang="en-US" altLang="zh-CN" sz="2000" dirty="0"/>
          </a:p>
          <a:p>
            <a:pPr>
              <a:spcBef>
                <a:spcPts val="400"/>
              </a:spcBef>
            </a:pPr>
            <a:r>
              <a:rPr lang="en-US" altLang="zh-CN" sz="2000" dirty="0"/>
              <a:t>Database Design Process</a:t>
            </a:r>
          </a:p>
        </p:txBody>
      </p:sp>
    </p:spTree>
    <p:extLst>
      <p:ext uri="{BB962C8B-B14F-4D97-AF65-F5344CB8AC3E}">
        <p14:creationId xmlns:p14="http://schemas.microsoft.com/office/powerpoint/2010/main" val="1155808102"/>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4A4DD1-1462-4E6C-87E8-576527F5DA18}"/>
              </a:ext>
            </a:extLst>
          </p:cNvPr>
          <p:cNvSpPr>
            <a:spLocks noGrp="1"/>
          </p:cNvSpPr>
          <p:nvPr>
            <p:ph type="title"/>
          </p:nvPr>
        </p:nvSpPr>
        <p:spPr/>
        <p:txBody>
          <a:bodyPr/>
          <a:lstStyle/>
          <a:p>
            <a:pPr algn="ctr"/>
            <a:r>
              <a:rPr lang="en-US" altLang="zh-CN" dirty="0"/>
              <a:t>Goal of Decomposition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E38D37D-687E-4319-B653-E246FEA15400}"/>
                  </a:ext>
                </a:extLst>
              </p:cNvPr>
              <p:cNvSpPr>
                <a:spLocks noGrp="1"/>
              </p:cNvSpPr>
              <p:nvPr>
                <p:ph idx="1"/>
              </p:nvPr>
            </p:nvSpPr>
            <p:spPr>
              <a:xfrm>
                <a:off x="287524" y="771550"/>
                <a:ext cx="8568952" cy="3805070"/>
              </a:xfrm>
            </p:spPr>
            <p:txBody>
              <a:bodyPr/>
              <a:lstStyle/>
              <a:p>
                <a:r>
                  <a:rPr lang="en-US" altLang="zh-CN" sz="1800" dirty="0"/>
                  <a:t>When decomposing a relation schema </a:t>
                </a:r>
                <a14:m>
                  <m:oMath xmlns:m="http://schemas.openxmlformats.org/officeDocument/2006/math">
                    <m:r>
                      <a:rPr lang="en-US" altLang="zh-CN" sz="1800" b="0" i="1" dirty="0" smtClean="0">
                        <a:latin typeface="Cambria Math" panose="02040503050406030204" pitchFamily="18" charset="0"/>
                      </a:rPr>
                      <m:t>𝑅</m:t>
                    </m:r>
                  </m:oMath>
                </a14:m>
                <a:r>
                  <a:rPr lang="en-US" altLang="zh-CN" sz="1800" dirty="0"/>
                  <a:t> with a set of FDs F into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1</m:t>
                        </m:r>
                      </m:sub>
                    </m:sSub>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2</m:t>
                        </m:r>
                      </m:sub>
                    </m:sSub>
                  </m:oMath>
                </a14:m>
                <a:r>
                  <a:rPr lang="en-US" altLang="zh-CN" sz="1800" dirty="0"/>
                  <a: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𝑛</m:t>
                        </m:r>
                      </m:sub>
                    </m:sSub>
                  </m:oMath>
                </a14:m>
                <a:r>
                  <a:rPr lang="en-US" altLang="zh-CN" sz="1800" dirty="0"/>
                  <a:t>, we want</a:t>
                </a:r>
              </a:p>
              <a:p>
                <a:pPr lvl="1"/>
                <a:r>
                  <a:rPr lang="en-US" altLang="zh-CN" sz="1600" b="1" dirty="0">
                    <a:solidFill>
                      <a:srgbClr val="C00000"/>
                    </a:solidFill>
                  </a:rPr>
                  <a:t>Lossless-join decomposition: </a:t>
                </a:r>
                <a:r>
                  <a:rPr lang="en-US" altLang="zh-CN" sz="1600" dirty="0"/>
                  <a:t>Otherwise decomposition would result in information loss</a:t>
                </a:r>
              </a:p>
              <a:p>
                <a:pPr lvl="1"/>
                <a:r>
                  <a:rPr lang="en-US" altLang="zh-CN" sz="1600" b="1" dirty="0">
                    <a:solidFill>
                      <a:srgbClr val="C00000"/>
                    </a:solidFill>
                  </a:rPr>
                  <a:t>No redundancy: </a:t>
                </a:r>
                <a:r>
                  <a:rPr lang="en-US" altLang="zh-CN" sz="1600" dirty="0"/>
                  <a:t>The relations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𝑖</m:t>
                        </m:r>
                      </m:sub>
                    </m:sSub>
                  </m:oMath>
                </a14:m>
                <a:r>
                  <a:rPr lang="en-US" altLang="zh-CN" sz="1600" dirty="0"/>
                  <a:t> preferably should be in either BCNF or 3NF</a:t>
                </a:r>
              </a:p>
              <a:p>
                <a:pPr lvl="1"/>
                <a:r>
                  <a:rPr lang="en-US" altLang="zh-CN" sz="1600" b="1" dirty="0">
                    <a:solidFill>
                      <a:srgbClr val="C00000"/>
                    </a:solidFill>
                  </a:rPr>
                  <a:t>Dependency preservation:</a:t>
                </a:r>
                <a:r>
                  <a:rPr lang="en-US" altLang="zh-CN" sz="1600" dirty="0"/>
                  <a:t> Let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𝐹</m:t>
                        </m:r>
                      </m:e>
                      <m:sub>
                        <m:r>
                          <a:rPr lang="en-US" altLang="zh-CN" sz="1600" b="0" i="1" smtClean="0">
                            <a:latin typeface="Cambria Math" panose="02040503050406030204" pitchFamily="18" charset="0"/>
                          </a:rPr>
                          <m:t>𝑖</m:t>
                        </m:r>
                      </m:sub>
                    </m:sSub>
                  </m:oMath>
                </a14:m>
                <a:r>
                  <a:rPr lang="en-US" altLang="zh-CN" sz="1600" dirty="0"/>
                  <a:t> be the subset of dependencies </a:t>
                </a:r>
                <a14:m>
                  <m:oMath xmlns:m="http://schemas.openxmlformats.org/officeDocument/2006/math">
                    <m:sSup>
                      <m:sSupPr>
                        <m:ctrlPr>
                          <a:rPr lang="en-US" altLang="zh-CN" sz="1600" i="1" smtClean="0">
                            <a:latin typeface="Cambria Math" panose="02040503050406030204" pitchFamily="18" charset="0"/>
                          </a:rPr>
                        </m:ctrlPr>
                      </m:sSupPr>
                      <m:e>
                        <m:r>
                          <a:rPr lang="en-US" altLang="zh-CN" sz="1600" b="0" i="1" smtClean="0">
                            <a:latin typeface="Cambria Math" panose="02040503050406030204" pitchFamily="18" charset="0"/>
                          </a:rPr>
                          <m:t>𝐹</m:t>
                        </m:r>
                      </m:e>
                      <m:sup>
                        <m:r>
                          <a:rPr lang="en-US" altLang="zh-CN" sz="1600" i="1">
                            <a:latin typeface="Cambria Math" panose="02040503050406030204" pitchFamily="18" charset="0"/>
                          </a:rPr>
                          <m:t>+</m:t>
                        </m:r>
                      </m:sup>
                    </m:sSup>
                  </m:oMath>
                </a14:m>
                <a:r>
                  <a:rPr lang="en-US" altLang="zh-CN" sz="1600" dirty="0"/>
                  <a:t> that include only attributes in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𝑖</m:t>
                        </m:r>
                      </m:sub>
                    </m:sSub>
                  </m:oMath>
                </a14:m>
                <a:r>
                  <a:rPr lang="en-US" altLang="zh-CN" sz="1600" dirty="0"/>
                  <a:t> </a:t>
                </a:r>
              </a:p>
              <a:p>
                <a:pPr lvl="2"/>
                <a14:m>
                  <m:oMath xmlns:m="http://schemas.openxmlformats.org/officeDocument/2006/math">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m:t>
                        </m:r>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𝐹</m:t>
                            </m:r>
                          </m:e>
                          <m:sub>
                            <m:r>
                              <a:rPr lang="en-US" altLang="zh-CN" sz="1400" i="1">
                                <a:latin typeface="Cambria Math" panose="02040503050406030204" pitchFamily="18" charset="0"/>
                              </a:rPr>
                              <m:t>1</m:t>
                            </m:r>
                          </m:sub>
                        </m:sSub>
                        <m:r>
                          <a:rPr lang="en-US" altLang="zh-CN" sz="1400" i="1">
                            <a:latin typeface="Cambria Math" panose="02040503050406030204" pitchFamily="18" charset="0"/>
                            <a:ea typeface="Cambria Math" panose="02040503050406030204" pitchFamily="18" charset="0"/>
                          </a:rPr>
                          <m:t>∪</m:t>
                        </m:r>
                        <m:sSub>
                          <m:sSubPr>
                            <m:ctrlPr>
                              <a:rPr lang="en-US" altLang="zh-CN" sz="1400" i="1">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Cambria Math" panose="02040503050406030204" pitchFamily="18" charset="0"/>
                              </a:rPr>
                              <m:t>𝐹</m:t>
                            </m:r>
                          </m:e>
                          <m:sub>
                            <m:r>
                              <a:rPr lang="en-US" altLang="zh-CN" sz="1400" i="1">
                                <a:latin typeface="Cambria Math" panose="02040503050406030204" pitchFamily="18" charset="0"/>
                                <a:ea typeface="Cambria Math" panose="02040503050406030204" pitchFamily="18" charset="0"/>
                              </a:rPr>
                              <m:t>2</m:t>
                            </m:r>
                          </m:sub>
                        </m:sSub>
                        <m:r>
                          <a:rPr lang="en-US" altLang="zh-CN" sz="1400" i="1">
                            <a:latin typeface="Cambria Math" panose="02040503050406030204" pitchFamily="18" charset="0"/>
                            <a:ea typeface="Cambria Math" panose="02040503050406030204" pitchFamily="18" charset="0"/>
                          </a:rPr>
                          <m:t>∪…∪</m:t>
                        </m:r>
                        <m:sSub>
                          <m:sSubPr>
                            <m:ctrlPr>
                              <a:rPr lang="en-US" altLang="zh-CN" sz="1400" i="1">
                                <a:latin typeface="Cambria Math" panose="02040503050406030204" pitchFamily="18" charset="0"/>
                                <a:ea typeface="Cambria Math" panose="02040503050406030204" pitchFamily="18" charset="0"/>
                              </a:rPr>
                            </m:ctrlPr>
                          </m:sSubPr>
                          <m:e>
                            <m:r>
                              <a:rPr lang="en-US" altLang="zh-CN" sz="1400" i="1">
                                <a:latin typeface="Cambria Math" panose="02040503050406030204" pitchFamily="18" charset="0"/>
                                <a:ea typeface="Cambria Math" panose="02040503050406030204" pitchFamily="18" charset="0"/>
                              </a:rPr>
                              <m:t>𝐹</m:t>
                            </m:r>
                          </m:e>
                          <m:sub>
                            <m:r>
                              <a:rPr lang="en-US" altLang="zh-CN" sz="1400" i="1">
                                <a:latin typeface="Cambria Math" panose="02040503050406030204" pitchFamily="18" charset="0"/>
                                <a:ea typeface="Cambria Math" panose="02040503050406030204" pitchFamily="18" charset="0"/>
                              </a:rPr>
                              <m:t>𝑛</m:t>
                            </m:r>
                          </m:sub>
                        </m:sSub>
                        <m:r>
                          <a:rPr lang="en-US" altLang="zh-CN" sz="1400" b="0" i="1" smtClean="0">
                            <a:latin typeface="Cambria Math" panose="02040503050406030204" pitchFamily="18" charset="0"/>
                          </a:rPr>
                          <m:t>)</m:t>
                        </m:r>
                      </m:e>
                      <m:sup>
                        <m:r>
                          <a:rPr lang="en-US" altLang="zh-CN" sz="1400" b="0" i="1" smtClean="0">
                            <a:latin typeface="Cambria Math" panose="02040503050406030204" pitchFamily="18" charset="0"/>
                          </a:rPr>
                          <m:t>+</m:t>
                        </m:r>
                      </m:sup>
                    </m:sSup>
                    <m:r>
                      <a:rPr lang="en-US" altLang="zh-CN" sz="1400" b="0" i="1" smtClean="0">
                        <a:latin typeface="Cambria Math" panose="02040503050406030204" pitchFamily="18" charset="0"/>
                      </a:rPr>
                      <m:t>=</m:t>
                    </m:r>
                    <m:sSup>
                      <m:sSupPr>
                        <m:ctrlPr>
                          <a:rPr lang="en-US" altLang="zh-CN" sz="1400" b="0" i="1" smtClean="0">
                            <a:latin typeface="Cambria Math" panose="02040503050406030204" pitchFamily="18" charset="0"/>
                          </a:rPr>
                        </m:ctrlPr>
                      </m:sSupPr>
                      <m:e>
                        <m:r>
                          <a:rPr lang="en-US" altLang="zh-CN" sz="1400" b="0" i="1" smtClean="0">
                            <a:latin typeface="Cambria Math" panose="02040503050406030204" pitchFamily="18" charset="0"/>
                          </a:rPr>
                          <m:t>𝐹</m:t>
                        </m:r>
                      </m:e>
                      <m:sup>
                        <m:r>
                          <a:rPr lang="en-US" altLang="zh-CN" sz="1400" b="0" i="1" smtClean="0">
                            <a:latin typeface="Cambria Math" panose="02040503050406030204" pitchFamily="18" charset="0"/>
                          </a:rPr>
                          <m:t>+</m:t>
                        </m:r>
                      </m:sup>
                    </m:sSup>
                  </m:oMath>
                </a14:m>
                <a:endParaRPr lang="en-US" altLang="zh-CN" sz="1400" dirty="0"/>
              </a:p>
              <a:p>
                <a:pPr lvl="2"/>
                <a:r>
                  <a:rPr lang="en-US" altLang="zh-CN" sz="1400" dirty="0"/>
                  <a:t>Otherwise, checking updates for violation of FDs may require computing joins, which is expensive</a:t>
                </a:r>
              </a:p>
              <a:p>
                <a:endParaRPr lang="zh-CN" altLang="en-US" sz="1800" dirty="0"/>
              </a:p>
            </p:txBody>
          </p:sp>
        </mc:Choice>
        <mc:Fallback xmlns="">
          <p:sp>
            <p:nvSpPr>
              <p:cNvPr id="3" name="内容占位符 2">
                <a:extLst>
                  <a:ext uri="{FF2B5EF4-FFF2-40B4-BE49-F238E27FC236}">
                    <a16:creationId xmlns:a16="http://schemas.microsoft.com/office/drawing/2014/main" id="{7E38D37D-687E-4319-B653-E246FEA15400}"/>
                  </a:ext>
                </a:extLst>
              </p:cNvPr>
              <p:cNvSpPr>
                <a:spLocks noGrp="1" noRot="1" noChangeAspect="1" noMove="1" noResize="1" noEditPoints="1" noAdjustHandles="1" noChangeArrowheads="1" noChangeShapeType="1" noTextEdit="1"/>
              </p:cNvSpPr>
              <p:nvPr>
                <p:ph idx="1"/>
              </p:nvPr>
            </p:nvSpPr>
            <p:spPr>
              <a:xfrm>
                <a:off x="287524" y="771550"/>
                <a:ext cx="8568952" cy="3805070"/>
              </a:xfrm>
              <a:blipFill>
                <a:blip r:embed="rId2"/>
                <a:stretch>
                  <a:fillRect l="-427" t="-962" r="-8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675666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51F71E-9F78-44BB-8EC6-38F0294ED684}"/>
              </a:ext>
            </a:extLst>
          </p:cNvPr>
          <p:cNvSpPr>
            <a:spLocks noGrp="1"/>
          </p:cNvSpPr>
          <p:nvPr>
            <p:ph type="title"/>
          </p:nvPr>
        </p:nvSpPr>
        <p:spPr/>
        <p:txBody>
          <a:bodyPr/>
          <a:lstStyle/>
          <a:p>
            <a:pPr algn="ctr"/>
            <a:r>
              <a:rPr lang="en-US" altLang="zh-CN" dirty="0"/>
              <a:t>Example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9EE6430-3EED-4281-8166-AC9BFE7C9469}"/>
                  </a:ext>
                </a:extLst>
              </p:cNvPr>
              <p:cNvSpPr>
                <a:spLocks noGrp="1"/>
              </p:cNvSpPr>
              <p:nvPr>
                <p:ph idx="1"/>
              </p:nvPr>
            </p:nvSpPr>
            <p:spPr/>
            <p:txBody>
              <a:bodyPr/>
              <a:lstStyle/>
              <a:p>
                <a:pPr>
                  <a:spcBef>
                    <a:spcPts val="600"/>
                  </a:spcBef>
                </a:pPr>
                <a14:m>
                  <m:oMath xmlns:m="http://schemas.openxmlformats.org/officeDocument/2006/math">
                    <m:r>
                      <a:rPr lang="en-US" altLang="zh-CN" sz="1800" b="0" i="1" smtClean="0">
                        <a:latin typeface="Cambria Math" panose="02040503050406030204" pitchFamily="18" charset="0"/>
                      </a:rPr>
                      <m:t>𝑅</m:t>
                    </m:r>
                    <m:r>
                      <a:rPr lang="en-US" altLang="zh-CN" sz="1800" i="1">
                        <a:latin typeface="Cambria Math" panose="02040503050406030204" pitchFamily="18" charset="0"/>
                      </a:rPr>
                      <m:t>=</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𝐶</m:t>
                    </m:r>
                    <m:r>
                      <a:rPr lang="en-US" altLang="zh-CN" sz="1800" b="0" i="1" smtClean="0">
                        <a:latin typeface="Cambria Math" panose="02040503050406030204" pitchFamily="18" charset="0"/>
                      </a:rPr>
                      <m:t>)</m:t>
                    </m:r>
                  </m:oMath>
                </a14:m>
                <a:r>
                  <a:rPr lang="en-US" altLang="zh-CN" sz="1800" dirty="0"/>
                  <a:t>, </a:t>
                </a:r>
                <a14:m>
                  <m:oMath xmlns:m="http://schemas.openxmlformats.org/officeDocument/2006/math">
                    <m:r>
                      <a:rPr lang="en-US" altLang="zh-CN" sz="1800" b="0" i="1" dirty="0" smtClean="0">
                        <a:latin typeface="Cambria Math" panose="02040503050406030204" pitchFamily="18" charset="0"/>
                      </a:rPr>
                      <m:t>𝐹</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𝐴</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rPr>
                      <m:t>,</m:t>
                    </m:r>
                    <m:r>
                      <a:rPr lang="en-US" altLang="zh-CN" sz="1800" b="0" i="1" dirty="0" smtClean="0">
                        <a:latin typeface="Cambria Math" panose="02040503050406030204" pitchFamily="18" charset="0"/>
                      </a:rPr>
                      <m:t>𝐵</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𝐶</m:t>
                    </m:r>
                    <m:r>
                      <a:rPr lang="en-US" altLang="zh-CN" sz="1800" b="0" i="1" dirty="0" smtClean="0">
                        <a:latin typeface="Cambria Math" panose="02040503050406030204" pitchFamily="18" charset="0"/>
                      </a:rPr>
                      <m:t>}</m:t>
                    </m:r>
                  </m:oMath>
                </a14:m>
                <a:endParaRPr lang="en-US" altLang="zh-CN" sz="1800" dirty="0"/>
              </a:p>
              <a:p>
                <a:pPr lvl="1">
                  <a:spcBef>
                    <a:spcPts val="600"/>
                  </a:spcBef>
                </a:pPr>
                <a:r>
                  <a:rPr lang="en-US" altLang="zh-CN" sz="1600" dirty="0"/>
                  <a:t>Can be decomposed in two different ways</a:t>
                </a:r>
              </a:p>
              <a:p>
                <a:pPr>
                  <a:spcBef>
                    <a:spcPts val="600"/>
                  </a:spcBef>
                </a:pP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𝐴</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𝐵</m:t>
                    </m:r>
                    <m:r>
                      <a:rPr lang="en-US" altLang="zh-CN" sz="1800" b="0" i="1" smtClean="0">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b="0" i="1" smtClean="0">
                            <a:latin typeface="Cambria Math" panose="02040503050406030204" pitchFamily="18" charset="0"/>
                          </a:rPr>
                          <m:t>2</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𝐵</m:t>
                    </m:r>
                    <m:r>
                      <a:rPr lang="en-US" altLang="zh-CN" sz="1800" i="1">
                        <a:latin typeface="Cambria Math" panose="02040503050406030204" pitchFamily="18" charset="0"/>
                      </a:rPr>
                      <m:t>,</m:t>
                    </m:r>
                    <m:r>
                      <a:rPr lang="en-US" altLang="zh-CN" sz="1800" b="0" i="1" smtClean="0">
                        <a:latin typeface="Cambria Math" panose="02040503050406030204" pitchFamily="18" charset="0"/>
                      </a:rPr>
                      <m:t>𝐶</m:t>
                    </m:r>
                    <m:r>
                      <a:rPr lang="en-US" altLang="zh-CN" sz="1800" i="1">
                        <a:latin typeface="Cambria Math" panose="02040503050406030204" pitchFamily="18" charset="0"/>
                      </a:rPr>
                      <m:t>)</m:t>
                    </m:r>
                  </m:oMath>
                </a14:m>
                <a:endParaRPr lang="en-US" altLang="zh-CN" sz="1800" dirty="0"/>
              </a:p>
              <a:p>
                <a:pPr lvl="1">
                  <a:spcBef>
                    <a:spcPts val="600"/>
                  </a:spcBef>
                </a:pPr>
                <a:r>
                  <a:rPr lang="en-US" altLang="zh-CN" sz="1600" dirty="0"/>
                  <a:t>Lossless-join decomposition: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1</m:t>
                        </m:r>
                      </m:sub>
                    </m:sSub>
                    <m:r>
                      <a:rPr lang="en-US" altLang="zh-CN" sz="1600" i="1" smtClean="0">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b="0" i="1" smtClean="0">
                            <a:latin typeface="Cambria Math" panose="02040503050406030204" pitchFamily="18" charset="0"/>
                          </a:rPr>
                          <m:t>2</m:t>
                        </m:r>
                      </m:sub>
                    </m:sSub>
                    <m:r>
                      <a:rPr lang="en-US" altLang="zh-CN" sz="1600" i="1" smtClean="0">
                        <a:latin typeface="Cambria Math" panose="02040503050406030204" pitchFamily="18" charset="0"/>
                      </a:rPr>
                      <m:t>=</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𝐵</m:t>
                    </m:r>
                    <m:r>
                      <a:rPr lang="en-US" altLang="zh-CN" sz="1600" b="0" i="1" smtClean="0">
                        <a:latin typeface="Cambria Math" panose="02040503050406030204" pitchFamily="18" charset="0"/>
                      </a:rPr>
                      <m:t>}</m:t>
                    </m:r>
                  </m:oMath>
                </a14:m>
                <a:r>
                  <a:rPr lang="en-US" altLang="zh-CN" sz="1600" dirty="0"/>
                  <a:t> and </a:t>
                </a:r>
                <a14:m>
                  <m:oMath xmlns:m="http://schemas.openxmlformats.org/officeDocument/2006/math">
                    <m:r>
                      <a:rPr lang="en-US" altLang="zh-CN" sz="1600" i="1" dirty="0">
                        <a:latin typeface="Cambria Math" panose="02040503050406030204" pitchFamily="18" charset="0"/>
                      </a:rPr>
                      <m:t>𝐵</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𝐶</m:t>
                    </m:r>
                  </m:oMath>
                </a14:m>
                <a:endParaRPr lang="en-US" altLang="zh-CN" sz="1600" dirty="0"/>
              </a:p>
              <a:p>
                <a:pPr lvl="1">
                  <a:spcBef>
                    <a:spcPts val="600"/>
                  </a:spcBef>
                </a:pPr>
                <a:r>
                  <a:rPr lang="en-US" altLang="zh-CN" sz="1600" dirty="0">
                    <a:solidFill>
                      <a:srgbClr val="C00000"/>
                    </a:solidFill>
                  </a:rPr>
                  <a:t>Dependency preserving</a:t>
                </a:r>
              </a:p>
              <a:p>
                <a:pPr>
                  <a:spcBef>
                    <a:spcPts val="600"/>
                  </a:spcBef>
                </a:pP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r>
                      <a:rPr lang="en-US" altLang="zh-CN" sz="1800" i="1">
                        <a:latin typeface="Cambria Math" panose="02040503050406030204" pitchFamily="18" charset="0"/>
                      </a:rPr>
                      <m:t>𝐴</m:t>
                    </m:r>
                    <m:r>
                      <a:rPr lang="en-US" altLang="zh-CN" sz="1800" i="1">
                        <a:latin typeface="Cambria Math" panose="02040503050406030204" pitchFamily="18" charset="0"/>
                      </a:rPr>
                      <m:t>,</m:t>
                    </m:r>
                    <m:r>
                      <a:rPr lang="en-US" altLang="zh-CN" sz="1800" i="1">
                        <a:latin typeface="Cambria Math" panose="02040503050406030204" pitchFamily="18" charset="0"/>
                      </a:rPr>
                      <m:t>𝐵</m:t>
                    </m:r>
                    <m:r>
                      <a:rPr lang="en-US" altLang="zh-CN" sz="1800" i="1">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𝐴</m:t>
                    </m:r>
                    <m:r>
                      <a:rPr lang="en-US" altLang="zh-CN" sz="1800" i="1">
                        <a:latin typeface="Cambria Math" panose="02040503050406030204" pitchFamily="18" charset="0"/>
                      </a:rPr>
                      <m:t>,</m:t>
                    </m:r>
                    <m:r>
                      <a:rPr lang="en-US" altLang="zh-CN" sz="1800" i="1">
                        <a:latin typeface="Cambria Math" panose="02040503050406030204" pitchFamily="18" charset="0"/>
                      </a:rPr>
                      <m:t>𝐶</m:t>
                    </m:r>
                    <m:r>
                      <a:rPr lang="en-US" altLang="zh-CN" sz="1800" i="1">
                        <a:latin typeface="Cambria Math" panose="02040503050406030204" pitchFamily="18" charset="0"/>
                      </a:rPr>
                      <m:t>)</m:t>
                    </m:r>
                  </m:oMath>
                </a14:m>
                <a:endParaRPr lang="en-US" altLang="zh-CN" sz="1800" dirty="0"/>
              </a:p>
              <a:p>
                <a:pPr lvl="1">
                  <a:spcBef>
                    <a:spcPts val="600"/>
                  </a:spcBef>
                </a:pPr>
                <a:r>
                  <a:rPr lang="en-US" altLang="zh-CN" sz="1600" dirty="0"/>
                  <a:t>Lossless-join decomposition: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1</m:t>
                        </m:r>
                      </m:sub>
                    </m:sSub>
                    <m:r>
                      <a:rPr lang="en-US" altLang="zh-CN" sz="1600" i="1">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r>
                      <a:rPr lang="en-US" altLang="zh-CN" sz="1600" b="0" i="1" smtClean="0">
                        <a:latin typeface="Cambria Math" panose="02040503050406030204" pitchFamily="18" charset="0"/>
                      </a:rPr>
                      <m:t>𝐴</m:t>
                    </m:r>
                    <m:r>
                      <a:rPr lang="en-US" altLang="zh-CN" sz="1600" i="1">
                        <a:latin typeface="Cambria Math" panose="02040503050406030204" pitchFamily="18" charset="0"/>
                      </a:rPr>
                      <m:t>}</m:t>
                    </m:r>
                  </m:oMath>
                </a14:m>
                <a:r>
                  <a:rPr lang="en-US" altLang="zh-CN" sz="1600" dirty="0"/>
                  <a:t> and </a:t>
                </a:r>
                <a14:m>
                  <m:oMath xmlns:m="http://schemas.openxmlformats.org/officeDocument/2006/math">
                    <m:r>
                      <a:rPr lang="en-US" altLang="zh-CN" sz="1600" b="0" i="1" dirty="0" smtClean="0">
                        <a:latin typeface="Cambria Math" panose="02040503050406030204" pitchFamily="18" charset="0"/>
                      </a:rPr>
                      <m:t>𝐴</m:t>
                    </m:r>
                    <m:r>
                      <a:rPr lang="en-US" altLang="zh-CN" sz="1600" i="1" dirty="0">
                        <a:latin typeface="Cambria Math" panose="02040503050406030204" pitchFamily="18" charset="0"/>
                        <a:ea typeface="Cambria Math" panose="02040503050406030204" pitchFamily="18" charset="0"/>
                      </a:rPr>
                      <m:t>→</m:t>
                    </m:r>
                    <m:r>
                      <a:rPr lang="en-US" altLang="zh-CN" sz="1600" b="0" i="1" dirty="0" smtClean="0">
                        <a:latin typeface="Cambria Math" panose="02040503050406030204" pitchFamily="18" charset="0"/>
                        <a:ea typeface="Cambria Math" panose="02040503050406030204" pitchFamily="18" charset="0"/>
                      </a:rPr>
                      <m:t>𝐵</m:t>
                    </m:r>
                  </m:oMath>
                </a14:m>
                <a:endParaRPr lang="en-US" altLang="zh-CN" sz="1600" dirty="0"/>
              </a:p>
              <a:p>
                <a:pPr lvl="1">
                  <a:spcBef>
                    <a:spcPts val="600"/>
                  </a:spcBef>
                </a:pPr>
                <a:r>
                  <a:rPr lang="en-US" altLang="zh-CN" sz="1600" dirty="0">
                    <a:solidFill>
                      <a:srgbClr val="C00000"/>
                    </a:solidFill>
                  </a:rPr>
                  <a:t>Not dependency preserving </a:t>
                </a:r>
                <a:br>
                  <a:rPr lang="en-US" altLang="zh-CN" sz="1600" dirty="0"/>
                </a:br>
                <a:r>
                  <a:rPr lang="en-US" altLang="zh-CN" sz="1600" dirty="0"/>
                  <a:t>(cannot check </a:t>
                </a:r>
                <a14:m>
                  <m:oMath xmlns:m="http://schemas.openxmlformats.org/officeDocument/2006/math">
                    <m:r>
                      <a:rPr lang="en-US" altLang="zh-CN" sz="1600" i="1" dirty="0">
                        <a:latin typeface="Cambria Math" panose="02040503050406030204" pitchFamily="18" charset="0"/>
                      </a:rPr>
                      <m:t>𝐵</m:t>
                    </m:r>
                    <m:r>
                      <a:rPr lang="en-US" altLang="zh-CN" sz="1600" i="1" dirty="0">
                        <a:latin typeface="Cambria Math" panose="02040503050406030204" pitchFamily="18" charset="0"/>
                        <a:ea typeface="Cambria Math" panose="02040503050406030204" pitchFamily="18" charset="0"/>
                      </a:rPr>
                      <m:t>→</m:t>
                    </m:r>
                    <m:r>
                      <a:rPr lang="en-US" altLang="zh-CN" sz="1600" i="1" dirty="0">
                        <a:latin typeface="Cambria Math" panose="02040503050406030204" pitchFamily="18" charset="0"/>
                      </a:rPr>
                      <m:t>𝐶</m:t>
                    </m:r>
                    <m:r>
                      <a:rPr lang="en-US" altLang="zh-CN" sz="1600" i="1" dirty="0">
                        <a:latin typeface="Cambria Math" panose="02040503050406030204" pitchFamily="18" charset="0"/>
                      </a:rPr>
                      <m:t> </m:t>
                    </m:r>
                  </m:oMath>
                </a14:m>
                <a:r>
                  <a:rPr lang="en-US" altLang="zh-CN" sz="1600" dirty="0"/>
                  <a:t>without computing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1</m:t>
                        </m:r>
                      </m:sub>
                    </m:sSub>
                    <m:r>
                      <a:rPr lang="en-US" altLang="zh-CN" sz="1600" i="1" smtClean="0">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𝑅</m:t>
                        </m:r>
                      </m:e>
                      <m:sub>
                        <m:r>
                          <a:rPr lang="en-US" altLang="zh-CN" sz="1600" i="1">
                            <a:latin typeface="Cambria Math" panose="02040503050406030204" pitchFamily="18" charset="0"/>
                          </a:rPr>
                          <m:t>2</m:t>
                        </m:r>
                      </m:sub>
                    </m:sSub>
                  </m:oMath>
                </a14:m>
                <a:r>
                  <a:rPr lang="en-US" altLang="zh-CN" sz="1600" dirty="0"/>
                  <a:t>)</a:t>
                </a:r>
              </a:p>
              <a:p>
                <a:pPr>
                  <a:spcBef>
                    <a:spcPts val="600"/>
                  </a:spcBef>
                </a:pPr>
                <a:endParaRPr lang="zh-CN" altLang="en-US" sz="1800" dirty="0"/>
              </a:p>
            </p:txBody>
          </p:sp>
        </mc:Choice>
        <mc:Fallback xmlns="">
          <p:sp>
            <p:nvSpPr>
              <p:cNvPr id="3" name="内容占位符 2">
                <a:extLst>
                  <a:ext uri="{FF2B5EF4-FFF2-40B4-BE49-F238E27FC236}">
                    <a16:creationId xmlns:a16="http://schemas.microsoft.com/office/drawing/2014/main" id="{89EE6430-3EED-4281-8166-AC9BFE7C9469}"/>
                  </a:ext>
                </a:extLst>
              </p:cNvPr>
              <p:cNvSpPr>
                <a:spLocks noGrp="1" noRot="1" noChangeAspect="1" noMove="1" noResize="1" noEditPoints="1" noAdjustHandles="1" noChangeArrowheads="1" noChangeShapeType="1" noTextEdit="1"/>
              </p:cNvSpPr>
              <p:nvPr>
                <p:ph idx="1"/>
              </p:nvPr>
            </p:nvSpPr>
            <p:spPr>
              <a:blipFill>
                <a:blip r:embed="rId2"/>
                <a:stretch>
                  <a:fillRect l="-498"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8384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barn(inVertical)">
                                      <p:cBhvr>
                                        <p:cTn id="18" dur="500"/>
                                        <p:tgtEl>
                                          <p:spTgt spid="3">
                                            <p:txEl>
                                              <p:pRg st="5" end="5"/>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arn(inVertical)">
                                      <p:cBhvr>
                                        <p:cTn id="21" dur="500"/>
                                        <p:tgtEl>
                                          <p:spTgt spid="3">
                                            <p:txEl>
                                              <p:pRg st="6" end="6"/>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barn(inVertical)">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738F8-B7F6-476B-B29F-FE02AA7154B5}"/>
              </a:ext>
            </a:extLst>
          </p:cNvPr>
          <p:cNvSpPr>
            <a:spLocks noGrp="1"/>
          </p:cNvSpPr>
          <p:nvPr>
            <p:ph type="title"/>
          </p:nvPr>
        </p:nvSpPr>
        <p:spPr/>
        <p:txBody>
          <a:bodyPr/>
          <a:lstStyle/>
          <a:p>
            <a:pPr algn="ctr"/>
            <a:r>
              <a:rPr lang="en-US" altLang="zh-CN" dirty="0"/>
              <a:t>Testing for Dependency Preservation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5A8063E-3282-4FF1-935F-5D302DE9B92D}"/>
                  </a:ext>
                </a:extLst>
              </p:cNvPr>
              <p:cNvSpPr>
                <a:spLocks noGrp="1"/>
              </p:cNvSpPr>
              <p:nvPr>
                <p:ph idx="1"/>
              </p:nvPr>
            </p:nvSpPr>
            <p:spPr>
              <a:xfrm>
                <a:off x="251520" y="782904"/>
                <a:ext cx="8568952" cy="3805070"/>
              </a:xfrm>
            </p:spPr>
            <p:txBody>
              <a:bodyPr/>
              <a:lstStyle/>
              <a:p>
                <a:r>
                  <a:rPr lang="en-US" altLang="zh-CN" sz="1600" dirty="0"/>
                  <a:t>To check if FD </a:t>
                </a:r>
                <a14:m>
                  <m:oMath xmlns:m="http://schemas.openxmlformats.org/officeDocument/2006/math">
                    <m:r>
                      <a:rPr lang="zh-CN" altLang="en-US" sz="1600" i="1" smtClean="0">
                        <a:solidFill>
                          <a:srgbClr val="C00000"/>
                        </a:solidFill>
                        <a:latin typeface="Cambria Math" panose="02040503050406030204" pitchFamily="18" charset="0"/>
                      </a:rPr>
                      <m:t>𝛼</m:t>
                    </m:r>
                    <m:r>
                      <a:rPr lang="zh-CN" altLang="en-US" sz="1600" i="1" smtClean="0">
                        <a:solidFill>
                          <a:srgbClr val="C00000"/>
                        </a:solidFill>
                        <a:latin typeface="Cambria Math" panose="02040503050406030204" pitchFamily="18" charset="0"/>
                      </a:rPr>
                      <m:t>→</m:t>
                    </m:r>
                    <m:r>
                      <a:rPr lang="zh-CN" altLang="en-US" sz="1600" i="1" smtClean="0">
                        <a:solidFill>
                          <a:srgbClr val="C00000"/>
                        </a:solidFill>
                        <a:latin typeface="Cambria Math" panose="02040503050406030204" pitchFamily="18" charset="0"/>
                      </a:rPr>
                      <m:t>𝛽</m:t>
                    </m:r>
                  </m:oMath>
                </a14:m>
                <a:r>
                  <a:rPr lang="en-US" altLang="zh-CN" sz="1600" dirty="0">
                    <a:solidFill>
                      <a:srgbClr val="C00000"/>
                    </a:solidFill>
                  </a:rPr>
                  <a:t> </a:t>
                </a:r>
                <a:r>
                  <a:rPr lang="en-US" altLang="zh-CN" sz="1600" dirty="0"/>
                  <a:t>is preserved in a decomposition of </a:t>
                </a:r>
                <a14:m>
                  <m:oMath xmlns:m="http://schemas.openxmlformats.org/officeDocument/2006/math">
                    <m:r>
                      <a:rPr lang="en-US" altLang="zh-CN" sz="1600" b="0" i="1" smtClean="0">
                        <a:solidFill>
                          <a:srgbClr val="C00000"/>
                        </a:solidFill>
                        <a:latin typeface="Cambria Math" panose="02040503050406030204" pitchFamily="18" charset="0"/>
                      </a:rPr>
                      <m:t>𝑅</m:t>
                    </m:r>
                  </m:oMath>
                </a14:m>
                <a:r>
                  <a:rPr lang="en-US" altLang="zh-CN" sz="1600" dirty="0"/>
                  <a:t> into </a:t>
                </a:r>
                <a14:m>
                  <m:oMath xmlns:m="http://schemas.openxmlformats.org/officeDocument/2006/math">
                    <m:sSub>
                      <m:sSubPr>
                        <m:ctrlPr>
                          <a:rPr lang="en-US" altLang="zh-CN" sz="1600" i="1" smtClean="0">
                            <a:solidFill>
                              <a:srgbClr val="C00000"/>
                            </a:solidFill>
                            <a:latin typeface="Cambria Math" panose="02040503050406030204" pitchFamily="18" charset="0"/>
                          </a:rPr>
                        </m:ctrlPr>
                      </m:sSubPr>
                      <m:e>
                        <m:r>
                          <a:rPr lang="en-US" altLang="zh-CN" sz="1600" b="0" i="1" smtClean="0">
                            <a:solidFill>
                              <a:srgbClr val="C00000"/>
                            </a:solidFill>
                            <a:latin typeface="Cambria Math" panose="02040503050406030204" pitchFamily="18" charset="0"/>
                          </a:rPr>
                          <m:t>𝑅</m:t>
                        </m:r>
                      </m:e>
                      <m:sub>
                        <m:r>
                          <a:rPr lang="en-US" altLang="zh-CN" sz="1600" b="0" i="1" smtClean="0">
                            <a:solidFill>
                              <a:srgbClr val="C00000"/>
                            </a:solidFill>
                            <a:latin typeface="Cambria Math" panose="02040503050406030204" pitchFamily="18" charset="0"/>
                          </a:rPr>
                          <m:t>1</m:t>
                        </m:r>
                      </m:sub>
                    </m:sSub>
                  </m:oMath>
                </a14:m>
                <a:r>
                  <a:rPr lang="en-US" altLang="zh-CN" sz="1600" dirty="0">
                    <a:solidFill>
                      <a:srgbClr val="C00000"/>
                    </a:solidFill>
                  </a:rPr>
                  <a:t>, </a:t>
                </a:r>
                <a14:m>
                  <m:oMath xmlns:m="http://schemas.openxmlformats.org/officeDocument/2006/math">
                    <m:sSub>
                      <m:sSubPr>
                        <m:ctrlPr>
                          <a:rPr lang="en-US"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𝑅</m:t>
                        </m:r>
                      </m:e>
                      <m:sub>
                        <m:r>
                          <a:rPr lang="en-US" altLang="zh-CN" sz="1600" b="0" i="1" smtClean="0">
                            <a:solidFill>
                              <a:srgbClr val="C00000"/>
                            </a:solidFill>
                            <a:latin typeface="Cambria Math" panose="02040503050406030204" pitchFamily="18" charset="0"/>
                          </a:rPr>
                          <m:t>2</m:t>
                        </m:r>
                      </m:sub>
                    </m:sSub>
                  </m:oMath>
                </a14:m>
                <a:r>
                  <a:rPr lang="en-US" altLang="zh-CN" sz="1600" dirty="0">
                    <a:solidFill>
                      <a:srgbClr val="C00000"/>
                    </a:solidFill>
                  </a:rPr>
                  <a:t>,…, </a:t>
                </a:r>
                <a14:m>
                  <m:oMath xmlns:m="http://schemas.openxmlformats.org/officeDocument/2006/math">
                    <m:sSub>
                      <m:sSubPr>
                        <m:ctrlPr>
                          <a:rPr lang="en-US"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𝑅</m:t>
                        </m:r>
                      </m:e>
                      <m:sub>
                        <m:r>
                          <a:rPr lang="en-US" altLang="zh-CN" sz="1600" b="0" i="1" smtClean="0">
                            <a:solidFill>
                              <a:srgbClr val="C00000"/>
                            </a:solidFill>
                            <a:latin typeface="Cambria Math" panose="02040503050406030204" pitchFamily="18" charset="0"/>
                          </a:rPr>
                          <m:t>𝑛</m:t>
                        </m:r>
                      </m:sub>
                    </m:sSub>
                  </m:oMath>
                </a14:m>
                <a:r>
                  <a:rPr lang="en-US" altLang="zh-CN" sz="1600" dirty="0"/>
                  <a:t>, we apply the following simplified testing</a:t>
                </a:r>
              </a:p>
              <a:p>
                <a:pPr marL="0" indent="0">
                  <a:buNone/>
                </a:pPr>
                <a:r>
                  <a:rPr lang="en-US" altLang="zh-CN" sz="1400" dirty="0"/>
                  <a:t>         </a:t>
                </a:r>
                <a:r>
                  <a:rPr lang="en-US" altLang="zh-CN" sz="1400" i="1" dirty="0"/>
                  <a:t>result = </a:t>
                </a:r>
                <a14:m>
                  <m:oMath xmlns:m="http://schemas.openxmlformats.org/officeDocument/2006/math">
                    <m:r>
                      <a:rPr lang="zh-CN" altLang="en-US" sz="1400" i="1" smtClean="0">
                        <a:latin typeface="Cambria Math" panose="02040503050406030204" pitchFamily="18" charset="0"/>
                      </a:rPr>
                      <m:t>𝛼</m:t>
                    </m:r>
                  </m:oMath>
                </a14:m>
                <a:br>
                  <a:rPr lang="en-US" altLang="zh-CN" sz="1400" i="1" dirty="0"/>
                </a:br>
                <a:r>
                  <a:rPr lang="en-US" altLang="zh-CN" sz="1400" i="1" dirty="0"/>
                  <a:t>         while (changes to result) do</a:t>
                </a:r>
                <a:br>
                  <a:rPr lang="en-US" altLang="zh-CN" sz="1400" i="1" dirty="0"/>
                </a:br>
                <a:r>
                  <a:rPr lang="en-US" altLang="zh-CN" sz="1400" i="1" dirty="0"/>
                  <a:t>	for each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𝑅</m:t>
                        </m:r>
                      </m:e>
                      <m:sub>
                        <m:r>
                          <a:rPr lang="en-US" altLang="zh-CN" sz="1400" b="0" i="1" smtClean="0">
                            <a:latin typeface="Cambria Math" panose="02040503050406030204" pitchFamily="18" charset="0"/>
                          </a:rPr>
                          <m:t>𝑖</m:t>
                        </m:r>
                      </m:sub>
                    </m:sSub>
                  </m:oMath>
                </a14:m>
                <a:r>
                  <a:rPr lang="en-US" altLang="zh-CN" sz="1400" i="1" dirty="0"/>
                  <a:t> in the decomposition</a:t>
                </a:r>
                <a:br>
                  <a:rPr lang="en-US" altLang="zh-CN" sz="1400" i="1" dirty="0"/>
                </a:br>
                <a:r>
                  <a:rPr lang="en-US" altLang="zh-CN" sz="1400" i="1" dirty="0"/>
                  <a:t>	     </a:t>
                </a:r>
                <a14:m>
                  <m:oMath xmlns:m="http://schemas.openxmlformats.org/officeDocument/2006/math">
                    <m:r>
                      <a:rPr lang="en-US" altLang="zh-CN" sz="1400" b="0" i="1" smtClean="0">
                        <a:latin typeface="Cambria Math" panose="02040503050406030204" pitchFamily="18" charset="0"/>
                      </a:rPr>
                      <m:t>𝑡</m:t>
                    </m:r>
                  </m:oMath>
                </a14:m>
                <a:r>
                  <a:rPr lang="en-US" altLang="zh-CN" sz="1400" i="1" dirty="0"/>
                  <a:t> = (result </a:t>
                </a:r>
                <a14:m>
                  <m:oMath xmlns:m="http://schemas.openxmlformats.org/officeDocument/2006/math">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 </m:t>
                    </m:r>
                    <m:sSub>
                      <m:sSubPr>
                        <m:ctrlPr>
                          <a:rPr lang="en-US" altLang="zh-CN" sz="1400" b="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𝑅</m:t>
                        </m:r>
                      </m:e>
                      <m:sub>
                        <m:r>
                          <a:rPr lang="en-US" altLang="zh-CN" sz="1400" b="0" i="1" smtClean="0">
                            <a:latin typeface="Cambria Math" panose="02040503050406030204" pitchFamily="18" charset="0"/>
                            <a:ea typeface="Cambria Math" panose="02040503050406030204" pitchFamily="18" charset="0"/>
                          </a:rPr>
                          <m:t>𝑖</m:t>
                        </m:r>
                      </m:sub>
                    </m:sSub>
                  </m:oMath>
                </a14:m>
                <a:r>
                  <a:rPr lang="en-US" altLang="zh-CN" sz="1400" i="1" dirty="0"/>
                  <a:t>)</a:t>
                </a:r>
                <a:r>
                  <a:rPr lang="en-US" altLang="zh-CN" sz="1400" i="1" baseline="30000" dirty="0"/>
                  <a:t>+</a:t>
                </a:r>
                <a:r>
                  <a:rPr lang="en-US" altLang="zh-CN" sz="1400" i="1" dirty="0"/>
                  <a:t> </a:t>
                </a:r>
                <a14:m>
                  <m:oMath xmlns:m="http://schemas.openxmlformats.org/officeDocument/2006/math">
                    <m:r>
                      <a:rPr lang="en-US" altLang="zh-CN" sz="1400" i="1" smtClean="0">
                        <a:latin typeface="Cambria Math" panose="02040503050406030204" pitchFamily="18" charset="0"/>
                        <a:ea typeface="Cambria Math" panose="02040503050406030204" pitchFamily="18" charset="0"/>
                      </a:rPr>
                      <m:t>∩</m:t>
                    </m:r>
                    <m:sSub>
                      <m:sSubPr>
                        <m:ctrlPr>
                          <a:rPr lang="en-US" altLang="zh-CN" sz="140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𝑅</m:t>
                        </m:r>
                      </m:e>
                      <m:sub>
                        <m:r>
                          <a:rPr lang="en-US" altLang="zh-CN" sz="1400" b="0" i="1" smtClean="0">
                            <a:latin typeface="Cambria Math" panose="02040503050406030204" pitchFamily="18" charset="0"/>
                            <a:ea typeface="Cambria Math" panose="02040503050406030204" pitchFamily="18" charset="0"/>
                          </a:rPr>
                          <m:t>𝑖</m:t>
                        </m:r>
                      </m:sub>
                    </m:sSub>
                  </m:oMath>
                </a14:m>
                <a:br>
                  <a:rPr lang="en-US" altLang="zh-CN" sz="1400" i="1" dirty="0"/>
                </a:br>
                <a:r>
                  <a:rPr lang="en-US" altLang="zh-CN" sz="1400" i="1" dirty="0"/>
                  <a:t>	     result = result </a:t>
                </a:r>
                <a14:m>
                  <m:oMath xmlns:m="http://schemas.openxmlformats.org/officeDocument/2006/math">
                    <m:r>
                      <a:rPr lang="en-US" altLang="zh-CN" sz="140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𝑡</m:t>
                    </m:r>
                  </m:oMath>
                </a14:m>
                <a:endParaRPr lang="en-US" altLang="zh-CN" sz="1400" i="1" dirty="0"/>
              </a:p>
              <a:p>
                <a:pPr marL="457200" lvl="1" indent="0">
                  <a:buNone/>
                </a:pPr>
                <a:r>
                  <a:rPr lang="en-US" altLang="zh-CN" sz="1400" dirty="0"/>
                  <a:t> if result contains all attributes in </a:t>
                </a:r>
                <a14:m>
                  <m:oMath xmlns:m="http://schemas.openxmlformats.org/officeDocument/2006/math">
                    <m:r>
                      <a:rPr lang="zh-CN" altLang="en-US" sz="1400" i="1">
                        <a:latin typeface="Cambria Math" panose="02040503050406030204" pitchFamily="18" charset="0"/>
                      </a:rPr>
                      <m:t>𝛽</m:t>
                    </m:r>
                  </m:oMath>
                </a14:m>
                <a:r>
                  <a:rPr lang="en-US" altLang="zh-CN" sz="1400" dirty="0"/>
                  <a:t>, then the functional dependency </a:t>
                </a:r>
                <a14:m>
                  <m:oMath xmlns:m="http://schemas.openxmlformats.org/officeDocument/2006/math">
                    <m:r>
                      <a:rPr lang="zh-CN" altLang="en-US" sz="1400" i="1">
                        <a:latin typeface="Cambria Math" panose="02040503050406030204" pitchFamily="18" charset="0"/>
                      </a:rPr>
                      <m:t>𝛼</m:t>
                    </m:r>
                    <m:r>
                      <a:rPr lang="zh-CN" altLang="en-US" sz="1400" i="1">
                        <a:latin typeface="Cambria Math" panose="02040503050406030204" pitchFamily="18" charset="0"/>
                      </a:rPr>
                      <m:t>→</m:t>
                    </m:r>
                    <m:r>
                      <a:rPr lang="zh-CN" altLang="en-US" sz="1400" i="1">
                        <a:latin typeface="Cambria Math" panose="02040503050406030204" pitchFamily="18" charset="0"/>
                      </a:rPr>
                      <m:t>𝛽</m:t>
                    </m:r>
                  </m:oMath>
                </a14:m>
                <a:r>
                  <a:rPr lang="en-US" altLang="zh-CN" sz="1400" dirty="0"/>
                  <a:t> is preserved</a:t>
                </a:r>
              </a:p>
              <a:p>
                <a:pPr marL="457200" lvl="1" indent="0">
                  <a:buNone/>
                </a:pPr>
                <a:endParaRPr lang="en-US" altLang="zh-CN" sz="1400" dirty="0"/>
              </a:p>
              <a:p>
                <a:r>
                  <a:rPr lang="en-US" altLang="zh-CN" sz="1600" dirty="0"/>
                  <a:t>We apply the test on all dependencies in F to check if a decomposition is dependency preserving</a:t>
                </a:r>
              </a:p>
              <a:p>
                <a:r>
                  <a:rPr lang="en-US" altLang="zh-CN" sz="1600" dirty="0"/>
                  <a:t>This procedure takes polynomial time, instead of the exponential time required to compute F</a:t>
                </a:r>
                <a:r>
                  <a:rPr lang="en-US" altLang="zh-CN" sz="1600" baseline="30000" dirty="0"/>
                  <a:t>+</a:t>
                </a:r>
                <a:r>
                  <a:rPr lang="en-US" altLang="zh-CN" sz="1600" dirty="0"/>
                  <a:t> and </a:t>
                </a:r>
                <a14:m>
                  <m:oMath xmlns:m="http://schemas.openxmlformats.org/officeDocument/2006/math">
                    <m:sSup>
                      <m:sSupPr>
                        <m:ctrlPr>
                          <a:rPr lang="en-US" altLang="zh-CN" sz="1600" i="1">
                            <a:latin typeface="Cambria Math" panose="02040503050406030204" pitchFamily="18" charset="0"/>
                          </a:rPr>
                        </m:ctrlPr>
                      </m:sSupPr>
                      <m:e>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𝐹</m:t>
                            </m:r>
                          </m:e>
                          <m:sub>
                            <m:r>
                              <a:rPr lang="en-US" altLang="zh-CN" sz="1600" i="1">
                                <a:latin typeface="Cambria Math" panose="02040503050406030204" pitchFamily="18" charset="0"/>
                              </a:rPr>
                              <m:t>1</m:t>
                            </m:r>
                          </m:sub>
                        </m:sSub>
                        <m:r>
                          <a:rPr lang="en-US" altLang="zh-CN" sz="1600" i="1">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𝐹</m:t>
                            </m:r>
                          </m:e>
                          <m:sub>
                            <m:r>
                              <a:rPr lang="en-US" altLang="zh-CN" sz="1600" i="1">
                                <a:latin typeface="Cambria Math" panose="02040503050406030204" pitchFamily="18" charset="0"/>
                                <a:ea typeface="Cambria Math" panose="02040503050406030204" pitchFamily="18" charset="0"/>
                              </a:rPr>
                              <m:t>2</m:t>
                            </m:r>
                          </m:sub>
                        </m:sSub>
                        <m:r>
                          <a:rPr lang="en-US" altLang="zh-CN" sz="1600" i="1">
                            <a:latin typeface="Cambria Math" panose="02040503050406030204" pitchFamily="18" charset="0"/>
                            <a:ea typeface="Cambria Math" panose="02040503050406030204" pitchFamily="18" charset="0"/>
                          </a:rPr>
                          <m:t>∪…∪</m:t>
                        </m:r>
                        <m:sSub>
                          <m:sSubPr>
                            <m:ctrlPr>
                              <a:rPr lang="en-US" altLang="zh-CN" sz="1600" i="1">
                                <a:latin typeface="Cambria Math" panose="02040503050406030204" pitchFamily="18" charset="0"/>
                                <a:ea typeface="Cambria Math" panose="02040503050406030204" pitchFamily="18" charset="0"/>
                              </a:rPr>
                            </m:ctrlPr>
                          </m:sSubPr>
                          <m:e>
                            <m:r>
                              <a:rPr lang="en-US" altLang="zh-CN" sz="1600" i="1">
                                <a:latin typeface="Cambria Math" panose="02040503050406030204" pitchFamily="18" charset="0"/>
                                <a:ea typeface="Cambria Math" panose="02040503050406030204" pitchFamily="18" charset="0"/>
                              </a:rPr>
                              <m:t>𝐹</m:t>
                            </m:r>
                          </m:e>
                          <m:sub>
                            <m:r>
                              <a:rPr lang="en-US" altLang="zh-CN" sz="1600" i="1">
                                <a:latin typeface="Cambria Math" panose="02040503050406030204" pitchFamily="18" charset="0"/>
                                <a:ea typeface="Cambria Math" panose="02040503050406030204" pitchFamily="18" charset="0"/>
                              </a:rPr>
                              <m:t>𝑛</m:t>
                            </m:r>
                          </m:sub>
                        </m:sSub>
                        <m:r>
                          <a:rPr lang="en-US" altLang="zh-CN" sz="1600" i="1">
                            <a:latin typeface="Cambria Math" panose="02040503050406030204" pitchFamily="18" charset="0"/>
                          </a:rPr>
                          <m:t>)</m:t>
                        </m:r>
                      </m:e>
                      <m:sup>
                        <m:r>
                          <a:rPr lang="en-US" altLang="zh-CN" sz="1600" i="1">
                            <a:latin typeface="Cambria Math" panose="02040503050406030204" pitchFamily="18" charset="0"/>
                          </a:rPr>
                          <m:t>+</m:t>
                        </m:r>
                      </m:sup>
                    </m:sSup>
                  </m:oMath>
                </a14:m>
                <a:endParaRPr lang="en-US" altLang="zh-CN" sz="1600" dirty="0"/>
              </a:p>
              <a:p>
                <a:endParaRPr lang="zh-CN" altLang="en-US" sz="1600" dirty="0"/>
              </a:p>
            </p:txBody>
          </p:sp>
        </mc:Choice>
        <mc:Fallback xmlns="">
          <p:sp>
            <p:nvSpPr>
              <p:cNvPr id="3" name="内容占位符 2">
                <a:extLst>
                  <a:ext uri="{FF2B5EF4-FFF2-40B4-BE49-F238E27FC236}">
                    <a16:creationId xmlns:a16="http://schemas.microsoft.com/office/drawing/2014/main" id="{05A8063E-3282-4FF1-935F-5D302DE9B92D}"/>
                  </a:ext>
                </a:extLst>
              </p:cNvPr>
              <p:cNvSpPr>
                <a:spLocks noGrp="1" noRot="1" noChangeAspect="1" noMove="1" noResize="1" noEditPoints="1" noAdjustHandles="1" noChangeArrowheads="1" noChangeShapeType="1" noTextEdit="1"/>
              </p:cNvSpPr>
              <p:nvPr>
                <p:ph idx="1"/>
              </p:nvPr>
            </p:nvSpPr>
            <p:spPr>
              <a:xfrm>
                <a:off x="251520" y="782904"/>
                <a:ext cx="8568952" cy="3805070"/>
              </a:xfrm>
              <a:blipFill>
                <a:blip r:embed="rId3"/>
                <a:stretch>
                  <a:fillRect l="-284" t="-4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1080829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782904"/>
            <a:ext cx="8568952" cy="3805070"/>
          </a:xfrm>
        </p:spPr>
        <p:txBody>
          <a:bodyPr/>
          <a:lstStyle/>
          <a:p>
            <a:pPr>
              <a:spcBef>
                <a:spcPts val="400"/>
              </a:spcBef>
            </a:pPr>
            <a:r>
              <a:rPr lang="en-US" altLang="zh-CN" sz="2000" dirty="0"/>
              <a:t>Features of Good Relational Designs</a:t>
            </a:r>
          </a:p>
          <a:p>
            <a:pPr>
              <a:spcBef>
                <a:spcPts val="400"/>
              </a:spcBef>
            </a:pPr>
            <a:r>
              <a:rPr lang="en-US" altLang="zh-CN" sz="2000" dirty="0"/>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b="1" dirty="0">
                <a:solidFill>
                  <a:srgbClr val="C00000"/>
                </a:solidFill>
              </a:rPr>
              <a:t>Normalization &amp; Normal Forms (</a:t>
            </a:r>
            <a:r>
              <a:rPr lang="zh-CN" altLang="en-US" sz="2000" b="1" dirty="0">
                <a:solidFill>
                  <a:srgbClr val="C00000"/>
                </a:solidFill>
              </a:rPr>
              <a:t>范式</a:t>
            </a:r>
            <a:r>
              <a:rPr lang="en-US" altLang="zh-CN" sz="2000" b="1" dirty="0">
                <a:solidFill>
                  <a:srgbClr val="C00000"/>
                </a:solidFill>
              </a:rPr>
              <a:t>)</a:t>
            </a:r>
          </a:p>
          <a:p>
            <a:pPr>
              <a:spcBef>
                <a:spcPts val="400"/>
              </a:spcBef>
            </a:pPr>
            <a:r>
              <a:rPr lang="en-US" altLang="zh-CN" sz="2000" dirty="0"/>
              <a:t>Multivalued Dependencies</a:t>
            </a:r>
            <a:r>
              <a:rPr lang="zh-CN" altLang="en-US" sz="2000" dirty="0"/>
              <a:t>*</a:t>
            </a:r>
            <a:endParaRPr lang="en-US" altLang="zh-CN" sz="2000" dirty="0"/>
          </a:p>
          <a:p>
            <a:pPr>
              <a:spcBef>
                <a:spcPts val="400"/>
              </a:spcBef>
            </a:pPr>
            <a:r>
              <a:rPr lang="en-US" altLang="zh-CN" sz="2000" dirty="0"/>
              <a:t>Database Design Process</a:t>
            </a:r>
          </a:p>
        </p:txBody>
      </p:sp>
    </p:spTree>
    <p:extLst>
      <p:ext uri="{BB962C8B-B14F-4D97-AF65-F5344CB8AC3E}">
        <p14:creationId xmlns:p14="http://schemas.microsoft.com/office/powerpoint/2010/main" val="4249051600"/>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9AEAA5-7EAA-4BB8-9806-CA38308E6526}"/>
              </a:ext>
            </a:extLst>
          </p:cNvPr>
          <p:cNvSpPr>
            <a:spLocks noGrp="1"/>
          </p:cNvSpPr>
          <p:nvPr>
            <p:ph type="title"/>
          </p:nvPr>
        </p:nvSpPr>
        <p:spPr/>
        <p:txBody>
          <a:bodyPr/>
          <a:lstStyle/>
          <a:p>
            <a:pPr algn="ctr"/>
            <a:r>
              <a:rPr lang="en-US" altLang="zh-CN" dirty="0"/>
              <a:t>Data Normalization (</a:t>
            </a:r>
            <a:r>
              <a:rPr lang="zh-CN" altLang="en-US" dirty="0"/>
              <a:t>规范化</a:t>
            </a:r>
            <a:r>
              <a:rPr lang="en-US" altLang="zh-CN" dirty="0"/>
              <a:t>)</a:t>
            </a:r>
            <a:endParaRPr lang="zh-CN" altLang="en-US" dirty="0"/>
          </a:p>
        </p:txBody>
      </p:sp>
      <p:sp>
        <p:nvSpPr>
          <p:cNvPr id="3" name="内容占位符 2">
            <a:extLst>
              <a:ext uri="{FF2B5EF4-FFF2-40B4-BE49-F238E27FC236}">
                <a16:creationId xmlns:a16="http://schemas.microsoft.com/office/drawing/2014/main" id="{C1FAAB93-C68B-4A4C-9165-0FCFCAF833E5}"/>
              </a:ext>
            </a:extLst>
          </p:cNvPr>
          <p:cNvSpPr>
            <a:spLocks noGrp="1"/>
          </p:cNvSpPr>
          <p:nvPr>
            <p:ph idx="1"/>
          </p:nvPr>
        </p:nvSpPr>
        <p:spPr>
          <a:xfrm>
            <a:off x="251520" y="789553"/>
            <a:ext cx="8640960" cy="3805070"/>
          </a:xfrm>
        </p:spPr>
        <p:txBody>
          <a:bodyPr/>
          <a:lstStyle/>
          <a:p>
            <a:r>
              <a:rPr lang="en-US" altLang="zh-CN" sz="1800" b="1" dirty="0"/>
              <a:t>Normalization</a:t>
            </a:r>
            <a:r>
              <a:rPr lang="en-US" altLang="zh-CN" sz="1800" dirty="0"/>
              <a:t>: The process of decomposing relations with anomalies to </a:t>
            </a:r>
          </a:p>
          <a:p>
            <a:pPr lvl="1"/>
            <a:r>
              <a:rPr lang="en-US" altLang="zh-CN" sz="1600" dirty="0"/>
              <a:t>produce </a:t>
            </a:r>
            <a:r>
              <a:rPr lang="en-US" altLang="zh-CN" sz="1600" b="1" dirty="0">
                <a:solidFill>
                  <a:srgbClr val="C00000"/>
                </a:solidFill>
              </a:rPr>
              <a:t>smaller</a:t>
            </a:r>
            <a:r>
              <a:rPr lang="en-US" altLang="zh-CN" sz="1600" dirty="0"/>
              <a:t> and </a:t>
            </a:r>
            <a:r>
              <a:rPr lang="en-US" altLang="zh-CN" sz="1600" b="1" dirty="0">
                <a:solidFill>
                  <a:srgbClr val="C00000"/>
                </a:solidFill>
              </a:rPr>
              <a:t>well-structured</a:t>
            </a:r>
            <a:r>
              <a:rPr lang="en-US" altLang="zh-CN" sz="1600" dirty="0"/>
              <a:t> relations</a:t>
            </a:r>
          </a:p>
          <a:p>
            <a:pPr lvl="1"/>
            <a:r>
              <a:rPr lang="en-US" altLang="zh-CN" sz="1600" dirty="0"/>
              <a:t>validate and improve a logical design so that it satisfies certain constraints that avoid unnecessary </a:t>
            </a:r>
            <a:r>
              <a:rPr lang="en-US" altLang="zh-CN" sz="1600" b="1" dirty="0">
                <a:solidFill>
                  <a:srgbClr val="C00000"/>
                </a:solidFill>
              </a:rPr>
              <a:t>duplication</a:t>
            </a:r>
            <a:r>
              <a:rPr lang="en-US" altLang="zh-CN" sz="1600" dirty="0"/>
              <a:t> of data</a:t>
            </a:r>
          </a:p>
          <a:p>
            <a:r>
              <a:rPr lang="en-US" altLang="zh-CN" sz="1800" dirty="0"/>
              <a:t>The problems of having duplication of data</a:t>
            </a:r>
          </a:p>
          <a:p>
            <a:pPr lvl="1"/>
            <a:r>
              <a:rPr lang="en-US" altLang="zh-CN" sz="1600" dirty="0"/>
              <a:t>Waste of space</a:t>
            </a:r>
          </a:p>
          <a:p>
            <a:pPr lvl="1"/>
            <a:r>
              <a:rPr lang="en-US" altLang="zh-CN" sz="1600" dirty="0"/>
              <a:t>Difficulty in consistency control</a:t>
            </a:r>
          </a:p>
          <a:p>
            <a:endParaRPr lang="zh-CN" altLang="en-US" sz="1800" dirty="0"/>
          </a:p>
        </p:txBody>
      </p:sp>
    </p:spTree>
    <p:extLst>
      <p:ext uri="{BB962C8B-B14F-4D97-AF65-F5344CB8AC3E}">
        <p14:creationId xmlns:p14="http://schemas.microsoft.com/office/powerpoint/2010/main" val="30050569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F1132E-E8B9-4736-998D-73C93BEBDA85}"/>
              </a:ext>
            </a:extLst>
          </p:cNvPr>
          <p:cNvSpPr>
            <a:spLocks noGrp="1"/>
          </p:cNvSpPr>
          <p:nvPr>
            <p:ph type="title"/>
          </p:nvPr>
        </p:nvSpPr>
        <p:spPr/>
        <p:txBody>
          <a:bodyPr/>
          <a:lstStyle/>
          <a:p>
            <a:pPr algn="ctr"/>
            <a:r>
              <a:rPr lang="en-US" altLang="zh-CN" dirty="0"/>
              <a:t>Well-structured Relations</a:t>
            </a:r>
            <a:endParaRPr lang="zh-CN" altLang="en-US" dirty="0"/>
          </a:p>
        </p:txBody>
      </p:sp>
      <p:sp>
        <p:nvSpPr>
          <p:cNvPr id="3" name="内容占位符 2">
            <a:extLst>
              <a:ext uri="{FF2B5EF4-FFF2-40B4-BE49-F238E27FC236}">
                <a16:creationId xmlns:a16="http://schemas.microsoft.com/office/drawing/2014/main" id="{FCF65436-19B0-4E2C-8A9F-7FBCA5ED5E7B}"/>
              </a:ext>
            </a:extLst>
          </p:cNvPr>
          <p:cNvSpPr>
            <a:spLocks noGrp="1"/>
          </p:cNvSpPr>
          <p:nvPr>
            <p:ph idx="1"/>
          </p:nvPr>
        </p:nvSpPr>
        <p:spPr>
          <a:xfrm>
            <a:off x="251520" y="789553"/>
            <a:ext cx="8568952" cy="3805070"/>
          </a:xfrm>
        </p:spPr>
        <p:txBody>
          <a:bodyPr/>
          <a:lstStyle/>
          <a:p>
            <a:r>
              <a:rPr lang="en-US" altLang="zh-CN" sz="1800" dirty="0"/>
              <a:t>A relation that contains minimal data redundancy and allows users to insert, delete, and update rows without causing data inconsistencies</a:t>
            </a:r>
          </a:p>
          <a:p>
            <a:r>
              <a:rPr lang="en-US" altLang="zh-CN" sz="1800" dirty="0"/>
              <a:t>Goal is to avoid anomalies</a:t>
            </a:r>
          </a:p>
          <a:p>
            <a:pPr lvl="1"/>
            <a:r>
              <a:rPr lang="en-US" altLang="zh-CN" sz="1600" b="1" dirty="0"/>
              <a:t>Insertion anomaly </a:t>
            </a:r>
            <a:r>
              <a:rPr lang="en-US" altLang="zh-CN" sz="1600" dirty="0"/>
              <a:t>– adding new rows forces user to create duplicate data</a:t>
            </a:r>
          </a:p>
          <a:p>
            <a:pPr lvl="1"/>
            <a:r>
              <a:rPr lang="en-US" altLang="zh-CN" sz="1600" b="1" dirty="0"/>
              <a:t>Deletion anomaly </a:t>
            </a:r>
            <a:r>
              <a:rPr lang="en-US" altLang="zh-CN" sz="1600" dirty="0"/>
              <a:t>– deleting rows may cause a loss of data that would be needed for other future rows</a:t>
            </a:r>
          </a:p>
          <a:p>
            <a:pPr lvl="1"/>
            <a:r>
              <a:rPr lang="en-US" altLang="zh-CN" sz="1600" b="1" dirty="0"/>
              <a:t>Modification anomaly </a:t>
            </a:r>
            <a:r>
              <a:rPr lang="en-US" altLang="zh-CN" sz="1600" dirty="0"/>
              <a:t>– changing data in a row forces changes to other rows because of duplication</a:t>
            </a:r>
          </a:p>
          <a:p>
            <a:endParaRPr lang="zh-CN" altLang="en-US" sz="1800" dirty="0"/>
          </a:p>
        </p:txBody>
      </p:sp>
    </p:spTree>
    <p:extLst>
      <p:ext uri="{BB962C8B-B14F-4D97-AF65-F5344CB8AC3E}">
        <p14:creationId xmlns:p14="http://schemas.microsoft.com/office/powerpoint/2010/main" val="269715036"/>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06_22">
            <a:extLst>
              <a:ext uri="{FF2B5EF4-FFF2-40B4-BE49-F238E27FC236}">
                <a16:creationId xmlns:a16="http://schemas.microsoft.com/office/drawing/2014/main" id="{ACDA4727-8EA6-4F5F-80FC-5D6F4BBAFAEA}"/>
              </a:ext>
            </a:extLst>
          </p:cNvPr>
          <p:cNvPicPr>
            <a:picLocks noChangeAspect="1" noChangeArrowheads="1"/>
          </p:cNvPicPr>
          <p:nvPr/>
        </p:nvPicPr>
        <p:blipFill>
          <a:blip r:embed="rId3">
            <a:clrChange>
              <a:clrFrom>
                <a:srgbClr val="D9F7FF"/>
              </a:clrFrom>
              <a:clrTo>
                <a:srgbClr val="D9F7FF">
                  <a:alpha val="0"/>
                </a:srgbClr>
              </a:clrTo>
            </a:clrChange>
            <a:extLst>
              <a:ext uri="{28A0092B-C50C-407E-A947-70E740481C1C}">
                <a14:useLocalDpi xmlns:a14="http://schemas.microsoft.com/office/drawing/2010/main" val="0"/>
              </a:ext>
            </a:extLst>
          </a:blip>
          <a:srcRect/>
          <a:stretch>
            <a:fillRect/>
          </a:stretch>
        </p:blipFill>
        <p:spPr bwMode="auto">
          <a:xfrm>
            <a:off x="3623221" y="226324"/>
            <a:ext cx="3829099" cy="4690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3">
            <a:extLst>
              <a:ext uri="{FF2B5EF4-FFF2-40B4-BE49-F238E27FC236}">
                <a16:creationId xmlns:a16="http://schemas.microsoft.com/office/drawing/2014/main" id="{1C282E53-4F0F-4B3A-80B2-C12C5C8C1AFC}"/>
              </a:ext>
            </a:extLst>
          </p:cNvPr>
          <p:cNvSpPr txBox="1">
            <a:spLocks noChangeArrowheads="1"/>
          </p:cNvSpPr>
          <p:nvPr/>
        </p:nvSpPr>
        <p:spPr bwMode="auto">
          <a:xfrm>
            <a:off x="1691680" y="2320684"/>
            <a:ext cx="189785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0"/>
              </a:spcBef>
              <a:buClrTx/>
              <a:buSzTx/>
              <a:buNone/>
            </a:pPr>
            <a:r>
              <a:rPr kumimoji="0" lang="en-US" altLang="zh-CN" sz="2000" b="1" dirty="0">
                <a:solidFill>
                  <a:srgbClr val="C00000"/>
                </a:solidFill>
                <a:latin typeface="Arial" panose="020B0604020202020204" pitchFamily="34" charset="0"/>
                <a:ea typeface="宋体" panose="02010600030101010101" pitchFamily="2" charset="-122"/>
                <a:cs typeface="Arial" panose="020B0604020202020204" pitchFamily="34" charset="0"/>
              </a:rPr>
              <a:t>Steps in Normalization</a:t>
            </a:r>
          </a:p>
        </p:txBody>
      </p:sp>
    </p:spTree>
    <p:extLst>
      <p:ext uri="{BB962C8B-B14F-4D97-AF65-F5344CB8AC3E}">
        <p14:creationId xmlns:p14="http://schemas.microsoft.com/office/powerpoint/2010/main" val="4145010198"/>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246DE9-5090-4B41-BCEE-BCDDA619DAF3}"/>
              </a:ext>
            </a:extLst>
          </p:cNvPr>
          <p:cNvSpPr>
            <a:spLocks noGrp="1"/>
          </p:cNvSpPr>
          <p:nvPr>
            <p:ph type="title"/>
          </p:nvPr>
        </p:nvSpPr>
        <p:spPr/>
        <p:txBody>
          <a:bodyPr/>
          <a:lstStyle/>
          <a:p>
            <a:pPr algn="ctr"/>
            <a:r>
              <a:rPr lang="en-US" altLang="zh-CN" dirty="0"/>
              <a:t>Atomic Domains and 1st Normal Form </a:t>
            </a:r>
            <a:endParaRPr lang="zh-CN" altLang="en-US" dirty="0"/>
          </a:p>
        </p:txBody>
      </p:sp>
      <p:sp>
        <p:nvSpPr>
          <p:cNvPr id="3" name="内容占位符 2">
            <a:extLst>
              <a:ext uri="{FF2B5EF4-FFF2-40B4-BE49-F238E27FC236}">
                <a16:creationId xmlns:a16="http://schemas.microsoft.com/office/drawing/2014/main" id="{05F09FB6-2167-467D-A1CC-60D3286A2840}"/>
              </a:ext>
            </a:extLst>
          </p:cNvPr>
          <p:cNvSpPr>
            <a:spLocks noGrp="1"/>
          </p:cNvSpPr>
          <p:nvPr>
            <p:ph idx="1"/>
          </p:nvPr>
        </p:nvSpPr>
        <p:spPr/>
        <p:txBody>
          <a:bodyPr/>
          <a:lstStyle/>
          <a:p>
            <a:r>
              <a:rPr lang="en-US" altLang="zh-CN" sz="2000" dirty="0"/>
              <a:t>Domain is atomic if its elements are considered to be indivisible units </a:t>
            </a:r>
          </a:p>
          <a:p>
            <a:pPr lvl="1"/>
            <a:r>
              <a:rPr lang="en-US" altLang="zh-CN" sz="1800" dirty="0"/>
              <a:t>attributes do not have any substructures</a:t>
            </a:r>
          </a:p>
          <a:p>
            <a:r>
              <a:rPr lang="en-US" altLang="zh-CN" sz="2000" dirty="0"/>
              <a:t>A relational schema R is in 1NF if the domains of all attributes of R are atomic</a:t>
            </a:r>
          </a:p>
          <a:p>
            <a:r>
              <a:rPr lang="en-US" altLang="zh-CN" sz="2000" dirty="0"/>
              <a:t>Non-atomic values complicate storage and result in redundant storage of data</a:t>
            </a:r>
          </a:p>
          <a:p>
            <a:pPr lvl="1"/>
            <a:r>
              <a:rPr lang="en-US" altLang="zh-CN" sz="1800" dirty="0"/>
              <a:t>E.g., composite attribute/ multivalued attributes </a:t>
            </a:r>
          </a:p>
          <a:p>
            <a:pPr marL="0" indent="0">
              <a:buNone/>
            </a:pPr>
            <a:endParaRPr lang="zh-CN" altLang="en-US" sz="2000" dirty="0"/>
          </a:p>
        </p:txBody>
      </p:sp>
    </p:spTree>
    <p:extLst>
      <p:ext uri="{BB962C8B-B14F-4D97-AF65-F5344CB8AC3E}">
        <p14:creationId xmlns:p14="http://schemas.microsoft.com/office/powerpoint/2010/main" val="19420586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D3ACB7-51E5-4BEC-9642-83224A259E2D}"/>
              </a:ext>
            </a:extLst>
          </p:cNvPr>
          <p:cNvSpPr>
            <a:spLocks noGrp="1"/>
          </p:cNvSpPr>
          <p:nvPr>
            <p:ph type="title"/>
          </p:nvPr>
        </p:nvSpPr>
        <p:spPr/>
        <p:txBody>
          <a:bodyPr/>
          <a:lstStyle/>
          <a:p>
            <a:pPr algn="ctr"/>
            <a:r>
              <a:rPr lang="en-US" altLang="zh-CN" dirty="0"/>
              <a:t>First Normal Form (Cont.)</a:t>
            </a:r>
            <a:endParaRPr lang="zh-CN" altLang="en-US" dirty="0"/>
          </a:p>
        </p:txBody>
      </p:sp>
      <p:sp>
        <p:nvSpPr>
          <p:cNvPr id="3" name="内容占位符 2">
            <a:extLst>
              <a:ext uri="{FF2B5EF4-FFF2-40B4-BE49-F238E27FC236}">
                <a16:creationId xmlns:a16="http://schemas.microsoft.com/office/drawing/2014/main" id="{C0251D5E-5A6F-4A83-B697-C362009B472D}"/>
              </a:ext>
            </a:extLst>
          </p:cNvPr>
          <p:cNvSpPr>
            <a:spLocks noGrp="1"/>
          </p:cNvSpPr>
          <p:nvPr>
            <p:ph idx="1"/>
          </p:nvPr>
        </p:nvSpPr>
        <p:spPr/>
        <p:txBody>
          <a:bodyPr/>
          <a:lstStyle/>
          <a:p>
            <a:r>
              <a:rPr lang="en-US" altLang="zh-CN" sz="2000" dirty="0"/>
              <a:t>Atomicity (</a:t>
            </a:r>
            <a:r>
              <a:rPr lang="zh-CN" altLang="en-US" sz="2000" dirty="0"/>
              <a:t>原子性</a:t>
            </a:r>
            <a:r>
              <a:rPr lang="en-US" altLang="zh-CN" sz="2000" dirty="0"/>
              <a:t>) is actually a property of how the elements of the domain are used</a:t>
            </a:r>
          </a:p>
          <a:p>
            <a:pPr lvl="1"/>
            <a:r>
              <a:rPr lang="en-US" altLang="zh-CN" sz="1800" dirty="0"/>
              <a:t>E.g., strings would normally be considered indivisible </a:t>
            </a:r>
          </a:p>
          <a:p>
            <a:pPr lvl="2"/>
            <a:r>
              <a:rPr lang="en-US" altLang="zh-CN" sz="1600" dirty="0"/>
              <a:t>Suppose that students are given roll numbers which are strings of the form 0372001</a:t>
            </a:r>
          </a:p>
          <a:p>
            <a:pPr lvl="2"/>
            <a:r>
              <a:rPr lang="en-US" altLang="zh-CN" sz="1600" dirty="0"/>
              <a:t>If the first four characters are extracted to identify the department, the domain of roll numbers is not atomic</a:t>
            </a:r>
          </a:p>
          <a:p>
            <a:pPr lvl="3"/>
            <a:r>
              <a:rPr lang="en-US" altLang="zh-CN" sz="1400" dirty="0"/>
              <a:t>Doing so is a bad idea: lead to encoding of information in application program rather than in the database</a:t>
            </a:r>
          </a:p>
          <a:p>
            <a:endParaRPr lang="zh-CN" altLang="en-US" sz="2000" dirty="0"/>
          </a:p>
        </p:txBody>
      </p:sp>
    </p:spTree>
    <p:extLst>
      <p:ext uri="{BB962C8B-B14F-4D97-AF65-F5344CB8AC3E}">
        <p14:creationId xmlns:p14="http://schemas.microsoft.com/office/powerpoint/2010/main" val="3746730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A6B50B-2BBF-4FE9-934E-F8889A32A4EB}"/>
              </a:ext>
            </a:extLst>
          </p:cNvPr>
          <p:cNvSpPr>
            <a:spLocks noGrp="1"/>
          </p:cNvSpPr>
          <p:nvPr>
            <p:ph type="title"/>
          </p:nvPr>
        </p:nvSpPr>
        <p:spPr/>
        <p:txBody>
          <a:bodyPr/>
          <a:lstStyle/>
          <a:p>
            <a:pPr algn="ctr"/>
            <a:r>
              <a:rPr lang="en-US" altLang="zh-CN" dirty="0"/>
              <a:t>First Normal Form (1NF)</a:t>
            </a:r>
            <a:endParaRPr lang="zh-CN" altLang="en-US" dirty="0"/>
          </a:p>
        </p:txBody>
      </p:sp>
      <p:sp>
        <p:nvSpPr>
          <p:cNvPr id="3" name="内容占位符 2">
            <a:extLst>
              <a:ext uri="{FF2B5EF4-FFF2-40B4-BE49-F238E27FC236}">
                <a16:creationId xmlns:a16="http://schemas.microsoft.com/office/drawing/2014/main" id="{191BD5DC-FC72-4B57-B223-3C7CDA368417}"/>
              </a:ext>
            </a:extLst>
          </p:cNvPr>
          <p:cNvSpPr>
            <a:spLocks noGrp="1"/>
          </p:cNvSpPr>
          <p:nvPr>
            <p:ph idx="1"/>
          </p:nvPr>
        </p:nvSpPr>
        <p:spPr/>
        <p:txBody>
          <a:bodyPr/>
          <a:lstStyle/>
          <a:p>
            <a:r>
              <a:rPr lang="en-US" altLang="zh-CN" sz="2000" b="1" dirty="0"/>
              <a:t>Requirements</a:t>
            </a:r>
          </a:p>
          <a:p>
            <a:pPr lvl="1"/>
            <a:r>
              <a:rPr lang="en-US" altLang="zh-CN" sz="1600" dirty="0"/>
              <a:t>No multivalued attributes</a:t>
            </a:r>
          </a:p>
          <a:p>
            <a:pPr lvl="1"/>
            <a:r>
              <a:rPr lang="en-US" altLang="zh-CN" sz="1600" dirty="0"/>
              <a:t>Every attribute value is atomic</a:t>
            </a:r>
          </a:p>
          <a:p>
            <a:r>
              <a:rPr lang="en-US" altLang="zh-CN" sz="2000" dirty="0"/>
              <a:t>E.g.,</a:t>
            </a:r>
          </a:p>
          <a:p>
            <a:pPr lvl="1"/>
            <a:r>
              <a:rPr lang="en-US" altLang="zh-CN" sz="1600" dirty="0"/>
              <a:t>Table 1 is not in 1st Normal Form (multivalued attributes) </a:t>
            </a:r>
          </a:p>
          <a:p>
            <a:pPr lvl="1"/>
            <a:r>
              <a:rPr lang="en-US" altLang="zh-CN" sz="1600" dirty="0"/>
              <a:t>Table 2 is in 1st Normal form</a:t>
            </a:r>
          </a:p>
          <a:p>
            <a:r>
              <a:rPr lang="en-US" altLang="zh-CN" sz="2000" dirty="0"/>
              <a:t>All relations are in 1st Normal Form</a:t>
            </a:r>
            <a:endParaRPr lang="zh-CN" altLang="en-US" sz="2000" dirty="0"/>
          </a:p>
        </p:txBody>
      </p:sp>
    </p:spTree>
    <p:extLst>
      <p:ext uri="{BB962C8B-B14F-4D97-AF65-F5344CB8AC3E}">
        <p14:creationId xmlns:p14="http://schemas.microsoft.com/office/powerpoint/2010/main" val="1935718758"/>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89E0BE49-ABBD-4250-A805-66410C9BC9BA}"/>
              </a:ext>
            </a:extLst>
          </p:cNvPr>
          <p:cNvGraphicFramePr>
            <a:graphicFrameLocks noChangeAspect="1"/>
          </p:cNvGraphicFramePr>
          <p:nvPr>
            <p:extLst>
              <p:ext uri="{D42A27DB-BD31-4B8C-83A1-F6EECF244321}">
                <p14:modId xmlns:p14="http://schemas.microsoft.com/office/powerpoint/2010/main" val="4012154947"/>
              </p:ext>
            </p:extLst>
          </p:nvPr>
        </p:nvGraphicFramePr>
        <p:xfrm>
          <a:off x="1143000" y="115491"/>
          <a:ext cx="6858000" cy="2185988"/>
        </p:xfrm>
        <a:graphic>
          <a:graphicData uri="http://schemas.openxmlformats.org/presentationml/2006/ole">
            <mc:AlternateContent xmlns:mc="http://schemas.openxmlformats.org/markup-compatibility/2006">
              <mc:Choice xmlns:v="urn:schemas-microsoft-com:vml" Requires="v">
                <p:oleObj spid="_x0000_s2612" name="Photo Editor Photo" r:id="rId3" imgW="7621064" imgH="2429214" progId="MSPhotoEd.3">
                  <p:embed/>
                </p:oleObj>
              </mc:Choice>
              <mc:Fallback>
                <p:oleObj name="Photo Editor Photo" r:id="rId3" imgW="7621064" imgH="2429214" progId="MSPhotoEd.3">
                  <p:embed/>
                  <p:pic>
                    <p:nvPicPr>
                      <p:cNvPr id="78850" name="Object 2">
                        <a:extLst>
                          <a:ext uri="{FF2B5EF4-FFF2-40B4-BE49-F238E27FC236}">
                            <a16:creationId xmlns:a16="http://schemas.microsoft.com/office/drawing/2014/main" id="{8E32E3B5-FF52-4BC2-8439-C3B1A1D1B6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15491"/>
                        <a:ext cx="6858000" cy="218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3">
            <a:extLst>
              <a:ext uri="{FF2B5EF4-FFF2-40B4-BE49-F238E27FC236}">
                <a16:creationId xmlns:a16="http://schemas.microsoft.com/office/drawing/2014/main" id="{7AAE5E47-F06C-4B60-99A9-E66220ACE51F}"/>
              </a:ext>
            </a:extLst>
          </p:cNvPr>
          <p:cNvGraphicFramePr>
            <a:graphicFrameLocks noChangeAspect="1"/>
          </p:cNvGraphicFramePr>
          <p:nvPr/>
        </p:nvGraphicFramePr>
        <p:xfrm>
          <a:off x="1169194" y="2518173"/>
          <a:ext cx="6777038" cy="2507456"/>
        </p:xfrm>
        <a:graphic>
          <a:graphicData uri="http://schemas.openxmlformats.org/presentationml/2006/ole">
            <mc:AlternateContent xmlns:mc="http://schemas.openxmlformats.org/markup-compatibility/2006">
              <mc:Choice xmlns:v="urn:schemas-microsoft-com:vml" Requires="v">
                <p:oleObj spid="_x0000_s2613" name="Photo Editor Photo" r:id="rId5" imgW="7621064" imgH="2819794" progId="MSPhotoEd.3">
                  <p:embed/>
                </p:oleObj>
              </mc:Choice>
              <mc:Fallback>
                <p:oleObj name="Photo Editor Photo" r:id="rId5" imgW="7621064" imgH="2819794" progId="MSPhotoEd.3">
                  <p:embed/>
                  <p:pic>
                    <p:nvPicPr>
                      <p:cNvPr id="78851" name="Object 3">
                        <a:extLst>
                          <a:ext uri="{FF2B5EF4-FFF2-40B4-BE49-F238E27FC236}">
                            <a16:creationId xmlns:a16="http://schemas.microsoft.com/office/drawing/2014/main" id="{F051D1A4-D6F4-4720-BE9F-EA34BB442CF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9194" y="2518173"/>
                        <a:ext cx="6777038" cy="2507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4">
            <a:extLst>
              <a:ext uri="{FF2B5EF4-FFF2-40B4-BE49-F238E27FC236}">
                <a16:creationId xmlns:a16="http://schemas.microsoft.com/office/drawing/2014/main" id="{767777AA-E9A7-4892-84B8-A1F3EEC4F42A}"/>
              </a:ext>
            </a:extLst>
          </p:cNvPr>
          <p:cNvSpPr>
            <a:spLocks noChangeArrowheads="1"/>
          </p:cNvSpPr>
          <p:nvPr/>
        </p:nvSpPr>
        <p:spPr bwMode="auto">
          <a:xfrm>
            <a:off x="1277542" y="195263"/>
            <a:ext cx="6506765" cy="27027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800" b="1" dirty="0">
                <a:solidFill>
                  <a:srgbClr val="000000"/>
                </a:solidFill>
                <a:latin typeface="Arial" panose="020B0604020202020204" pitchFamily="34" charset="0"/>
                <a:ea typeface="宋体" panose="02010600030101010101" pitchFamily="2" charset="-122"/>
                <a:cs typeface="Arial" panose="020B0604020202020204" pitchFamily="34" charset="0"/>
              </a:rPr>
              <a:t>Table 1</a:t>
            </a:r>
          </a:p>
        </p:txBody>
      </p:sp>
      <p:sp>
        <p:nvSpPr>
          <p:cNvPr id="5" name="Rectangle 5">
            <a:extLst>
              <a:ext uri="{FF2B5EF4-FFF2-40B4-BE49-F238E27FC236}">
                <a16:creationId xmlns:a16="http://schemas.microsoft.com/office/drawing/2014/main" id="{B4CA75EC-660B-4127-83F2-712E7E00DFC7}"/>
              </a:ext>
            </a:extLst>
          </p:cNvPr>
          <p:cNvSpPr>
            <a:spLocks noChangeArrowheads="1"/>
          </p:cNvSpPr>
          <p:nvPr/>
        </p:nvSpPr>
        <p:spPr bwMode="auto">
          <a:xfrm>
            <a:off x="1277542" y="2625328"/>
            <a:ext cx="6506765" cy="270272"/>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800" b="1" dirty="0">
                <a:solidFill>
                  <a:srgbClr val="000000"/>
                </a:solidFill>
                <a:latin typeface="Arial" panose="020B0604020202020204" pitchFamily="34" charset="0"/>
                <a:ea typeface="宋体" panose="02010600030101010101" pitchFamily="2" charset="-122"/>
                <a:cs typeface="Arial" panose="020B0604020202020204" pitchFamily="34" charset="0"/>
              </a:rPr>
              <a:t>Table 2</a:t>
            </a:r>
          </a:p>
        </p:txBody>
      </p:sp>
      <p:sp>
        <p:nvSpPr>
          <p:cNvPr id="6" name="Oval 8">
            <a:extLst>
              <a:ext uri="{FF2B5EF4-FFF2-40B4-BE49-F238E27FC236}">
                <a16:creationId xmlns:a16="http://schemas.microsoft.com/office/drawing/2014/main" id="{A08A4441-5741-41F8-B472-DA9A2B4DBA2E}"/>
              </a:ext>
            </a:extLst>
          </p:cNvPr>
          <p:cNvSpPr>
            <a:spLocks noChangeArrowheads="1"/>
          </p:cNvSpPr>
          <p:nvPr/>
        </p:nvSpPr>
        <p:spPr bwMode="auto">
          <a:xfrm>
            <a:off x="5442348" y="788194"/>
            <a:ext cx="1044178" cy="347663"/>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endParaRPr kumimoji="0" lang="zh-CN" altLang="en-US" sz="1350">
              <a:solidFill>
                <a:srgbClr val="000000"/>
              </a:solidFill>
              <a:latin typeface="Helvetica" panose="020B0604020202020204" pitchFamily="34" charset="0"/>
              <a:ea typeface="宋体" panose="02010600030101010101" pitchFamily="2" charset="-122"/>
            </a:endParaRPr>
          </a:p>
        </p:txBody>
      </p:sp>
      <p:sp>
        <p:nvSpPr>
          <p:cNvPr id="7" name="Oval 9">
            <a:extLst>
              <a:ext uri="{FF2B5EF4-FFF2-40B4-BE49-F238E27FC236}">
                <a16:creationId xmlns:a16="http://schemas.microsoft.com/office/drawing/2014/main" id="{AC15FD92-3B3E-4E0B-98B1-37BA2269C23A}"/>
              </a:ext>
            </a:extLst>
          </p:cNvPr>
          <p:cNvSpPr>
            <a:spLocks noChangeArrowheads="1"/>
          </p:cNvSpPr>
          <p:nvPr/>
        </p:nvSpPr>
        <p:spPr bwMode="auto">
          <a:xfrm>
            <a:off x="5443537" y="1289448"/>
            <a:ext cx="1044179" cy="350044"/>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endParaRPr kumimoji="0" lang="zh-CN" altLang="en-US" sz="1350">
              <a:solidFill>
                <a:srgbClr val="000000"/>
              </a:solidFill>
              <a:latin typeface="Helvetica" panose="020B0604020202020204" pitchFamily="34" charset="0"/>
              <a:ea typeface="宋体" panose="02010600030101010101" pitchFamily="2" charset="-122"/>
            </a:endParaRPr>
          </a:p>
        </p:txBody>
      </p:sp>
    </p:spTree>
    <p:extLst>
      <p:ext uri="{BB962C8B-B14F-4D97-AF65-F5344CB8AC3E}">
        <p14:creationId xmlns:p14="http://schemas.microsoft.com/office/powerpoint/2010/main" val="1840232471"/>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0EE266-11E6-4106-A8A2-B3B2F0226D38}"/>
              </a:ext>
            </a:extLst>
          </p:cNvPr>
          <p:cNvSpPr>
            <a:spLocks noGrp="1"/>
          </p:cNvSpPr>
          <p:nvPr>
            <p:ph type="title"/>
          </p:nvPr>
        </p:nvSpPr>
        <p:spPr/>
        <p:txBody>
          <a:bodyPr/>
          <a:lstStyle/>
          <a:p>
            <a:pPr algn="ctr"/>
            <a:r>
              <a:rPr lang="en-US" altLang="zh-CN" dirty="0"/>
              <a:t>Second Normal Form</a:t>
            </a:r>
            <a:endParaRPr lang="zh-CN" altLang="en-US" dirty="0"/>
          </a:p>
        </p:txBody>
      </p:sp>
      <p:sp>
        <p:nvSpPr>
          <p:cNvPr id="3" name="内容占位符 2">
            <a:extLst>
              <a:ext uri="{FF2B5EF4-FFF2-40B4-BE49-F238E27FC236}">
                <a16:creationId xmlns:a16="http://schemas.microsoft.com/office/drawing/2014/main" id="{6EE73AE4-2DBF-499D-BFAB-2145B26BB213}"/>
              </a:ext>
            </a:extLst>
          </p:cNvPr>
          <p:cNvSpPr>
            <a:spLocks noGrp="1"/>
          </p:cNvSpPr>
          <p:nvPr>
            <p:ph idx="1"/>
          </p:nvPr>
        </p:nvSpPr>
        <p:spPr>
          <a:xfrm>
            <a:off x="251520" y="789553"/>
            <a:ext cx="7992888" cy="3805070"/>
          </a:xfrm>
        </p:spPr>
        <p:txBody>
          <a:bodyPr/>
          <a:lstStyle/>
          <a:p>
            <a:pPr>
              <a:spcBef>
                <a:spcPts val="600"/>
              </a:spcBef>
            </a:pPr>
            <a:r>
              <a:rPr lang="en-US" altLang="zh-CN" sz="2000" b="1" dirty="0"/>
              <a:t>2</a:t>
            </a:r>
            <a:r>
              <a:rPr lang="en-US" altLang="zh-CN" sz="2000" b="1" baseline="30000" dirty="0"/>
              <a:t>nd</a:t>
            </a:r>
            <a:r>
              <a:rPr lang="en-US" altLang="zh-CN" sz="2000" b="1" dirty="0"/>
              <a:t> Normal Form</a:t>
            </a:r>
          </a:p>
          <a:p>
            <a:pPr lvl="1">
              <a:spcBef>
                <a:spcPts val="600"/>
              </a:spcBef>
            </a:pPr>
            <a:r>
              <a:rPr lang="en-US" altLang="zh-CN" sz="1600" dirty="0"/>
              <a:t>1NF </a:t>
            </a:r>
          </a:p>
          <a:p>
            <a:pPr lvl="1">
              <a:spcBef>
                <a:spcPts val="600"/>
              </a:spcBef>
            </a:pPr>
            <a:r>
              <a:rPr lang="en-US" altLang="zh-CN" sz="1600" dirty="0"/>
              <a:t>Every non-key attribute is fully functionally dependent on the </a:t>
            </a:r>
            <a:r>
              <a:rPr lang="en-US" altLang="zh-CN" sz="1600" b="1" dirty="0">
                <a:solidFill>
                  <a:srgbClr val="C00000"/>
                </a:solidFill>
              </a:rPr>
              <a:t>Entire</a:t>
            </a:r>
            <a:r>
              <a:rPr lang="en-US" altLang="zh-CN" sz="1600" dirty="0"/>
              <a:t> primary key, i.e., no partial functional dependencies</a:t>
            </a:r>
          </a:p>
          <a:p>
            <a:pPr lvl="1">
              <a:spcBef>
                <a:spcPts val="600"/>
              </a:spcBef>
            </a:pPr>
            <a:endParaRPr lang="en-US" altLang="zh-CN" sz="1600" dirty="0"/>
          </a:p>
          <a:p>
            <a:pPr>
              <a:spcBef>
                <a:spcPts val="600"/>
              </a:spcBef>
            </a:pPr>
            <a:r>
              <a:rPr lang="en-US" altLang="zh-CN" sz="2000" b="1" dirty="0"/>
              <a:t>Partial functional dependency</a:t>
            </a:r>
          </a:p>
          <a:p>
            <a:pPr lvl="1">
              <a:spcBef>
                <a:spcPts val="600"/>
              </a:spcBef>
            </a:pPr>
            <a:r>
              <a:rPr lang="en-US" altLang="zh-CN" sz="1600" dirty="0"/>
              <a:t>A function dependency in which one or more non-key attributes are functionally dependent on part (but not all) of the primary key</a:t>
            </a:r>
            <a:endParaRPr lang="zh-CN" altLang="en-US" sz="1600" dirty="0"/>
          </a:p>
        </p:txBody>
      </p:sp>
    </p:spTree>
    <p:extLst>
      <p:ext uri="{BB962C8B-B14F-4D97-AF65-F5344CB8AC3E}">
        <p14:creationId xmlns:p14="http://schemas.microsoft.com/office/powerpoint/2010/main" val="36656592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anim calcmode="lin" valueType="num">
                                      <p:cBhvr additive="base">
                                        <p:cTn id="1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8BE55E-097A-46B3-BF77-1D534E1CD270}"/>
              </a:ext>
            </a:extLst>
          </p:cNvPr>
          <p:cNvSpPr>
            <a:spLocks noGrp="1"/>
          </p:cNvSpPr>
          <p:nvPr>
            <p:ph type="title"/>
          </p:nvPr>
        </p:nvSpPr>
        <p:spPr>
          <a:xfrm>
            <a:off x="0" y="-20538"/>
            <a:ext cx="9144000" cy="637580"/>
          </a:xfrm>
        </p:spPr>
        <p:txBody>
          <a:bodyPr/>
          <a:lstStyle/>
          <a:p>
            <a:pPr algn="ctr"/>
            <a:r>
              <a:rPr lang="en-US" altLang="zh-CN" dirty="0"/>
              <a:t>Functional Dependencies in Employee</a:t>
            </a:r>
            <a:endParaRPr lang="zh-CN" altLang="en-US" dirty="0"/>
          </a:p>
        </p:txBody>
      </p:sp>
      <p:grpSp>
        <p:nvGrpSpPr>
          <p:cNvPr id="13" name="Group 3">
            <a:extLst>
              <a:ext uri="{FF2B5EF4-FFF2-40B4-BE49-F238E27FC236}">
                <a16:creationId xmlns:a16="http://schemas.microsoft.com/office/drawing/2014/main" id="{0FB82650-AF09-4C04-B2AB-F301D55059CA}"/>
              </a:ext>
            </a:extLst>
          </p:cNvPr>
          <p:cNvGrpSpPr>
            <a:grpSpLocks/>
          </p:cNvGrpSpPr>
          <p:nvPr/>
        </p:nvGrpSpPr>
        <p:grpSpPr bwMode="auto">
          <a:xfrm>
            <a:off x="1266825" y="945356"/>
            <a:ext cx="6629400" cy="2228850"/>
            <a:chOff x="52" y="1584"/>
            <a:chExt cx="5568" cy="1872"/>
          </a:xfrm>
        </p:grpSpPr>
        <p:sp>
          <p:nvSpPr>
            <p:cNvPr id="14" name="Rectangle 4">
              <a:extLst>
                <a:ext uri="{FF2B5EF4-FFF2-40B4-BE49-F238E27FC236}">
                  <a16:creationId xmlns:a16="http://schemas.microsoft.com/office/drawing/2014/main" id="{F07279CF-CCFB-4AC5-BAD1-A2E7652E2E6E}"/>
                </a:ext>
              </a:extLst>
            </p:cNvPr>
            <p:cNvSpPr>
              <a:spLocks noChangeArrowheads="1"/>
            </p:cNvSpPr>
            <p:nvPr/>
          </p:nvSpPr>
          <p:spPr bwMode="auto">
            <a:xfrm>
              <a:off x="52" y="1584"/>
              <a:ext cx="5568" cy="1872"/>
            </a:xfrm>
            <a:prstGeom prst="rect">
              <a:avLst/>
            </a:prstGeom>
            <a:solidFill>
              <a:srgbClr val="CCFFFF"/>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endParaRPr kumimoji="0" lang="zh-CN" altLang="en-US" sz="1350" b="1">
                <a:solidFill>
                  <a:srgbClr val="000000"/>
                </a:solidFill>
                <a:latin typeface="Helvetica" panose="020B0604020202020204" pitchFamily="34" charset="0"/>
                <a:ea typeface="宋体" panose="02010600030101010101" pitchFamily="2" charset="-122"/>
              </a:endParaRPr>
            </a:p>
          </p:txBody>
        </p:sp>
        <p:grpSp>
          <p:nvGrpSpPr>
            <p:cNvPr id="15" name="Group 5">
              <a:extLst>
                <a:ext uri="{FF2B5EF4-FFF2-40B4-BE49-F238E27FC236}">
                  <a16:creationId xmlns:a16="http://schemas.microsoft.com/office/drawing/2014/main" id="{D505B7CA-3968-4DB2-9641-C230925EE4E5}"/>
                </a:ext>
              </a:extLst>
            </p:cNvPr>
            <p:cNvGrpSpPr>
              <a:grpSpLocks/>
            </p:cNvGrpSpPr>
            <p:nvPr/>
          </p:nvGrpSpPr>
          <p:grpSpPr bwMode="auto">
            <a:xfrm>
              <a:off x="288" y="2400"/>
              <a:ext cx="5119" cy="291"/>
              <a:chOff x="0" y="2064"/>
              <a:chExt cx="5119" cy="291"/>
            </a:xfrm>
          </p:grpSpPr>
          <p:sp>
            <p:nvSpPr>
              <p:cNvPr id="16" name="Text Box 6">
                <a:extLst>
                  <a:ext uri="{FF2B5EF4-FFF2-40B4-BE49-F238E27FC236}">
                    <a16:creationId xmlns:a16="http://schemas.microsoft.com/office/drawing/2014/main" id="{9F5F6892-495F-4FEC-916C-62EDD94E3FA3}"/>
                  </a:ext>
                </a:extLst>
              </p:cNvPr>
              <p:cNvSpPr txBox="1">
                <a:spLocks noChangeArrowheads="1"/>
              </p:cNvSpPr>
              <p:nvPr/>
            </p:nvSpPr>
            <p:spPr bwMode="auto">
              <a:xfrm>
                <a:off x="0" y="2064"/>
                <a:ext cx="720" cy="29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650" b="1" u="sng">
                    <a:solidFill>
                      <a:srgbClr val="0000FF"/>
                    </a:solidFill>
                    <a:latin typeface="Times New Roman" panose="02020603050405020304" pitchFamily="18" charset="0"/>
                    <a:ea typeface="宋体" panose="02010600030101010101" pitchFamily="2" charset="-122"/>
                  </a:rPr>
                  <a:t>EmpID</a:t>
                </a:r>
              </a:p>
            </p:txBody>
          </p:sp>
          <p:sp>
            <p:nvSpPr>
              <p:cNvPr id="17" name="Text Box 7">
                <a:extLst>
                  <a:ext uri="{FF2B5EF4-FFF2-40B4-BE49-F238E27FC236}">
                    <a16:creationId xmlns:a16="http://schemas.microsoft.com/office/drawing/2014/main" id="{7535C16B-7FCE-402D-ADE1-39A3AB638AE4}"/>
                  </a:ext>
                </a:extLst>
              </p:cNvPr>
              <p:cNvSpPr txBox="1">
                <a:spLocks noChangeArrowheads="1"/>
              </p:cNvSpPr>
              <p:nvPr/>
            </p:nvSpPr>
            <p:spPr bwMode="auto">
              <a:xfrm>
                <a:off x="720" y="2064"/>
                <a:ext cx="1071" cy="291"/>
              </a:xfrm>
              <a:prstGeom prst="rect">
                <a:avLst/>
              </a:prstGeom>
              <a:solidFill>
                <a:schemeClr val="bg1"/>
              </a:solidFill>
              <a:ln w="9525">
                <a:solidFill>
                  <a:srgbClr val="0000FF"/>
                </a:solidFill>
                <a:miter lim="800000"/>
                <a:headEnd/>
                <a:tailEnd/>
              </a:ln>
            </p:spPr>
            <p:txBody>
              <a:bodyPr wrap="squar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650" b="1" u="sng" dirty="0" err="1">
                    <a:solidFill>
                      <a:srgbClr val="0000FF"/>
                    </a:solidFill>
                    <a:latin typeface="Times New Roman" panose="02020603050405020304" pitchFamily="18" charset="0"/>
                    <a:ea typeface="宋体" panose="02010600030101010101" pitchFamily="2" charset="-122"/>
                  </a:rPr>
                  <a:t>CourseTitle</a:t>
                </a:r>
                <a:endParaRPr kumimoji="0" lang="en-US" altLang="zh-CN" sz="1650" b="1" u="sng" dirty="0">
                  <a:solidFill>
                    <a:srgbClr val="0000FF"/>
                  </a:solidFill>
                  <a:latin typeface="Times New Roman" panose="02020603050405020304" pitchFamily="18" charset="0"/>
                  <a:ea typeface="宋体" panose="02010600030101010101" pitchFamily="2" charset="-122"/>
                </a:endParaRPr>
              </a:p>
            </p:txBody>
          </p:sp>
          <p:sp>
            <p:nvSpPr>
              <p:cNvPr id="18" name="Text Box 8">
                <a:extLst>
                  <a:ext uri="{FF2B5EF4-FFF2-40B4-BE49-F238E27FC236}">
                    <a16:creationId xmlns:a16="http://schemas.microsoft.com/office/drawing/2014/main" id="{ECF80EEA-8DB8-4028-BB9C-318B4266D025}"/>
                  </a:ext>
                </a:extLst>
              </p:cNvPr>
              <p:cNvSpPr txBox="1">
                <a:spLocks noChangeArrowheads="1"/>
              </p:cNvSpPr>
              <p:nvPr/>
            </p:nvSpPr>
            <p:spPr bwMode="auto">
              <a:xfrm>
                <a:off x="3792" y="2064"/>
                <a:ext cx="1327" cy="29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650" b="1">
                    <a:solidFill>
                      <a:srgbClr val="0000FF"/>
                    </a:solidFill>
                    <a:latin typeface="Times New Roman" panose="02020603050405020304" pitchFamily="18" charset="0"/>
                    <a:ea typeface="宋体" panose="02010600030101010101" pitchFamily="2" charset="-122"/>
                  </a:rPr>
                  <a:t>DateCompleted</a:t>
                </a:r>
              </a:p>
            </p:txBody>
          </p:sp>
          <p:sp>
            <p:nvSpPr>
              <p:cNvPr id="19" name="Text Box 9">
                <a:extLst>
                  <a:ext uri="{FF2B5EF4-FFF2-40B4-BE49-F238E27FC236}">
                    <a16:creationId xmlns:a16="http://schemas.microsoft.com/office/drawing/2014/main" id="{4664BC11-ED5A-40D4-91C5-4D0ED2BE4255}"/>
                  </a:ext>
                </a:extLst>
              </p:cNvPr>
              <p:cNvSpPr txBox="1">
                <a:spLocks noChangeArrowheads="1"/>
              </p:cNvSpPr>
              <p:nvPr/>
            </p:nvSpPr>
            <p:spPr bwMode="auto">
              <a:xfrm>
                <a:off x="3216" y="2064"/>
                <a:ext cx="648" cy="29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650" b="1">
                    <a:solidFill>
                      <a:srgbClr val="0000FF"/>
                    </a:solidFill>
                    <a:latin typeface="Times New Roman" panose="02020603050405020304" pitchFamily="18" charset="0"/>
                    <a:ea typeface="宋体" panose="02010600030101010101" pitchFamily="2" charset="-122"/>
                  </a:rPr>
                  <a:t>Salary</a:t>
                </a:r>
              </a:p>
            </p:txBody>
          </p:sp>
          <p:sp>
            <p:nvSpPr>
              <p:cNvPr id="20" name="Text Box 10">
                <a:extLst>
                  <a:ext uri="{FF2B5EF4-FFF2-40B4-BE49-F238E27FC236}">
                    <a16:creationId xmlns:a16="http://schemas.microsoft.com/office/drawing/2014/main" id="{AA2FB869-F617-4191-B6DD-606EDF74D8C5}"/>
                  </a:ext>
                </a:extLst>
              </p:cNvPr>
              <p:cNvSpPr txBox="1">
                <a:spLocks noChangeArrowheads="1"/>
              </p:cNvSpPr>
              <p:nvPr/>
            </p:nvSpPr>
            <p:spPr bwMode="auto">
              <a:xfrm>
                <a:off x="2304" y="2064"/>
                <a:ext cx="975" cy="29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650" b="1">
                    <a:solidFill>
                      <a:srgbClr val="0000FF"/>
                    </a:solidFill>
                    <a:latin typeface="Times New Roman" panose="02020603050405020304" pitchFamily="18" charset="0"/>
                    <a:ea typeface="宋体" panose="02010600030101010101" pitchFamily="2" charset="-122"/>
                  </a:rPr>
                  <a:t>DeptName</a:t>
                </a:r>
              </a:p>
            </p:txBody>
          </p:sp>
          <p:sp>
            <p:nvSpPr>
              <p:cNvPr id="21" name="Text Box 11">
                <a:extLst>
                  <a:ext uri="{FF2B5EF4-FFF2-40B4-BE49-F238E27FC236}">
                    <a16:creationId xmlns:a16="http://schemas.microsoft.com/office/drawing/2014/main" id="{49878685-8A23-4815-83CC-94570E57B70A}"/>
                  </a:ext>
                </a:extLst>
              </p:cNvPr>
              <p:cNvSpPr txBox="1">
                <a:spLocks noChangeArrowheads="1"/>
              </p:cNvSpPr>
              <p:nvPr/>
            </p:nvSpPr>
            <p:spPr bwMode="auto">
              <a:xfrm>
                <a:off x="1728" y="2064"/>
                <a:ext cx="617" cy="291"/>
              </a:xfrm>
              <a:prstGeom prst="rect">
                <a:avLst/>
              </a:prstGeom>
              <a:solidFill>
                <a:schemeClr val="bg1"/>
              </a:solidFill>
              <a:ln w="9525">
                <a:solidFill>
                  <a:srgbClr val="0000FF"/>
                </a:solidFill>
                <a:miter lim="800000"/>
                <a:headEnd/>
                <a:tailEnd/>
              </a:ln>
            </p:spPr>
            <p:txBody>
              <a:bodyPr wrap="squar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650" b="1" dirty="0">
                    <a:solidFill>
                      <a:srgbClr val="0000FF"/>
                    </a:solidFill>
                    <a:latin typeface="Times New Roman" panose="02020603050405020304" pitchFamily="18" charset="0"/>
                    <a:ea typeface="宋体" panose="02010600030101010101" pitchFamily="2" charset="-122"/>
                  </a:rPr>
                  <a:t>Name</a:t>
                </a:r>
              </a:p>
            </p:txBody>
          </p:sp>
        </p:grpSp>
      </p:grpSp>
      <p:sp>
        <p:nvSpPr>
          <p:cNvPr id="22" name="Text Box 12">
            <a:extLst>
              <a:ext uri="{FF2B5EF4-FFF2-40B4-BE49-F238E27FC236}">
                <a16:creationId xmlns:a16="http://schemas.microsoft.com/office/drawing/2014/main" id="{407A67EB-07D8-4177-B206-DAF4581B33A5}"/>
              </a:ext>
            </a:extLst>
          </p:cNvPr>
          <p:cNvSpPr txBox="1">
            <a:spLocks noChangeArrowheads="1"/>
          </p:cNvSpPr>
          <p:nvPr/>
        </p:nvSpPr>
        <p:spPr bwMode="auto">
          <a:xfrm>
            <a:off x="2543222" y="1258151"/>
            <a:ext cx="4283865"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950" b="1" dirty="0">
                <a:solidFill>
                  <a:srgbClr val="C00000"/>
                </a:solidFill>
                <a:latin typeface="Times New Roman" panose="02020603050405020304" pitchFamily="18" charset="0"/>
                <a:ea typeface="宋体" panose="02010600030101010101" pitchFamily="2" charset="-122"/>
              </a:rPr>
              <a:t>Dependency on the entire primary key</a:t>
            </a:r>
          </a:p>
        </p:txBody>
      </p:sp>
      <p:sp>
        <p:nvSpPr>
          <p:cNvPr id="23" name="Text Box 13">
            <a:extLst>
              <a:ext uri="{FF2B5EF4-FFF2-40B4-BE49-F238E27FC236}">
                <a16:creationId xmlns:a16="http://schemas.microsoft.com/office/drawing/2014/main" id="{2CAD545E-8023-43F8-A56E-1D4B87316DCD}"/>
              </a:ext>
            </a:extLst>
          </p:cNvPr>
          <p:cNvSpPr txBox="1">
            <a:spLocks noChangeArrowheads="1"/>
          </p:cNvSpPr>
          <p:nvPr/>
        </p:nvSpPr>
        <p:spPr bwMode="auto">
          <a:xfrm>
            <a:off x="2620090" y="2525561"/>
            <a:ext cx="4873450" cy="3924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950" b="1" dirty="0">
                <a:solidFill>
                  <a:srgbClr val="C00000"/>
                </a:solidFill>
                <a:latin typeface="Times New Roman" panose="02020603050405020304" pitchFamily="18" charset="0"/>
                <a:ea typeface="宋体" panose="02010600030101010101" pitchFamily="2" charset="-122"/>
              </a:rPr>
              <a:t>Dependency on only </a:t>
            </a:r>
            <a:r>
              <a:rPr kumimoji="0" lang="en-US" altLang="zh-CN" sz="1950" b="1" i="1" dirty="0">
                <a:solidFill>
                  <a:srgbClr val="00B050"/>
                </a:solidFill>
                <a:latin typeface="Times New Roman" panose="02020603050405020304" pitchFamily="18" charset="0"/>
                <a:ea typeface="宋体" panose="02010600030101010101" pitchFamily="2" charset="-122"/>
              </a:rPr>
              <a:t>part</a:t>
            </a:r>
            <a:r>
              <a:rPr kumimoji="0" lang="en-US" altLang="zh-CN" sz="1950" b="1" dirty="0">
                <a:solidFill>
                  <a:srgbClr val="C00000"/>
                </a:solidFill>
                <a:latin typeface="Times New Roman" panose="02020603050405020304" pitchFamily="18" charset="0"/>
                <a:ea typeface="宋体" panose="02010600030101010101" pitchFamily="2" charset="-122"/>
              </a:rPr>
              <a:t> of the primary key</a:t>
            </a:r>
          </a:p>
        </p:txBody>
      </p:sp>
      <p:grpSp>
        <p:nvGrpSpPr>
          <p:cNvPr id="24" name="Group 14">
            <a:extLst>
              <a:ext uri="{FF2B5EF4-FFF2-40B4-BE49-F238E27FC236}">
                <a16:creationId xmlns:a16="http://schemas.microsoft.com/office/drawing/2014/main" id="{B6220E1C-FDC4-4BF6-B08C-98A7D13F6E89}"/>
              </a:ext>
            </a:extLst>
          </p:cNvPr>
          <p:cNvGrpSpPr>
            <a:grpSpLocks/>
          </p:cNvGrpSpPr>
          <p:nvPr/>
        </p:nvGrpSpPr>
        <p:grpSpPr bwMode="auto">
          <a:xfrm>
            <a:off x="1983581" y="1909762"/>
            <a:ext cx="4875611" cy="1734740"/>
            <a:chOff x="706" y="1582"/>
            <a:chExt cx="4095" cy="1457"/>
          </a:xfrm>
        </p:grpSpPr>
        <p:grpSp>
          <p:nvGrpSpPr>
            <p:cNvPr id="25" name="Group 15">
              <a:extLst>
                <a:ext uri="{FF2B5EF4-FFF2-40B4-BE49-F238E27FC236}">
                  <a16:creationId xmlns:a16="http://schemas.microsoft.com/office/drawing/2014/main" id="{47551A0E-6EEA-495E-877F-92A572F22798}"/>
                </a:ext>
              </a:extLst>
            </p:cNvPr>
            <p:cNvGrpSpPr>
              <a:grpSpLocks/>
            </p:cNvGrpSpPr>
            <p:nvPr/>
          </p:nvGrpSpPr>
          <p:grpSpPr bwMode="auto">
            <a:xfrm>
              <a:off x="706" y="1582"/>
              <a:ext cx="4095" cy="11"/>
              <a:chOff x="654" y="2372"/>
              <a:chExt cx="4095" cy="11"/>
            </a:xfrm>
          </p:grpSpPr>
          <p:cxnSp>
            <p:nvCxnSpPr>
              <p:cNvPr id="27" name="AutoShape 16">
                <a:extLst>
                  <a:ext uri="{FF2B5EF4-FFF2-40B4-BE49-F238E27FC236}">
                    <a16:creationId xmlns:a16="http://schemas.microsoft.com/office/drawing/2014/main" id="{5A16D961-858C-42C8-A4C2-FF578BDF0B54}"/>
                  </a:ext>
                </a:extLst>
              </p:cNvPr>
              <p:cNvCxnSpPr>
                <a:cxnSpLocks noChangeShapeType="1"/>
                <a:stCxn id="16" idx="0"/>
                <a:endCxn id="18" idx="0"/>
              </p:cNvCxnSpPr>
              <p:nvPr/>
            </p:nvCxnSpPr>
            <p:spPr bwMode="auto">
              <a:xfrm rot="5400000" flipH="1" flipV="1">
                <a:off x="2696" y="330"/>
                <a:ext cx="11" cy="4095"/>
              </a:xfrm>
              <a:prstGeom prst="bentConnector3">
                <a:avLst>
                  <a:gd name="adj1" fmla="val 1800000"/>
                </a:avLst>
              </a:prstGeom>
              <a:noFill/>
              <a:ln w="28575">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28" name="AutoShape 17">
                <a:extLst>
                  <a:ext uri="{FF2B5EF4-FFF2-40B4-BE49-F238E27FC236}">
                    <a16:creationId xmlns:a16="http://schemas.microsoft.com/office/drawing/2014/main" id="{B938EEFF-ACC9-4DBE-A6C4-2B283792B14D}"/>
                  </a:ext>
                </a:extLst>
              </p:cNvPr>
              <p:cNvCxnSpPr>
                <a:cxnSpLocks noChangeShapeType="1"/>
                <a:stCxn id="17" idx="0"/>
                <a:endCxn id="18" idx="0"/>
              </p:cNvCxnSpPr>
              <p:nvPr/>
            </p:nvCxnSpPr>
            <p:spPr bwMode="auto">
              <a:xfrm rot="5400000" flipH="1" flipV="1">
                <a:off x="3143" y="778"/>
                <a:ext cx="11" cy="3200"/>
              </a:xfrm>
              <a:prstGeom prst="bentConnector3">
                <a:avLst>
                  <a:gd name="adj1" fmla="val 1800000"/>
                </a:avLst>
              </a:prstGeom>
              <a:noFill/>
              <a:ln w="9525">
                <a:solidFill>
                  <a:schemeClr val="hlink"/>
                </a:solidFill>
                <a:miter lim="800000"/>
                <a:headEnd/>
                <a:tailEnd type="triangle" w="med" len="med"/>
              </a:ln>
              <a:extLst>
                <a:ext uri="{909E8E84-426E-40DD-AFC4-6F175D3DCCD1}">
                  <a14:hiddenFill xmlns:a14="http://schemas.microsoft.com/office/drawing/2010/main">
                    <a:noFill/>
                  </a14:hiddenFill>
                </a:ext>
              </a:extLst>
            </p:spPr>
          </p:cxnSp>
        </p:grpSp>
        <p:sp>
          <p:nvSpPr>
            <p:cNvPr id="26" name="Text Box 18">
              <a:extLst>
                <a:ext uri="{FF2B5EF4-FFF2-40B4-BE49-F238E27FC236}">
                  <a16:creationId xmlns:a16="http://schemas.microsoft.com/office/drawing/2014/main" id="{372471B3-B54A-44E9-8324-2A8D8C4CAD67}"/>
                </a:ext>
              </a:extLst>
            </p:cNvPr>
            <p:cNvSpPr txBox="1">
              <a:spLocks noChangeArrowheads="1"/>
            </p:cNvSpPr>
            <p:nvPr/>
          </p:nvSpPr>
          <p:spPr bwMode="auto">
            <a:xfrm>
              <a:off x="821" y="2709"/>
              <a:ext cx="371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950" b="1" dirty="0" err="1">
                  <a:solidFill>
                    <a:srgbClr val="0000FF"/>
                  </a:solidFill>
                  <a:latin typeface="Times New Roman" panose="02020603050405020304" pitchFamily="18" charset="0"/>
                  <a:ea typeface="宋体" panose="02010600030101010101" pitchFamily="2" charset="-122"/>
                </a:rPr>
                <a:t>EmpID</a:t>
              </a:r>
              <a:r>
                <a:rPr kumimoji="0" lang="en-US" altLang="zh-CN" sz="1950" b="1" dirty="0">
                  <a:solidFill>
                    <a:srgbClr val="0000FF"/>
                  </a:solidFill>
                  <a:latin typeface="Times New Roman" panose="02020603050405020304" pitchFamily="18" charset="0"/>
                  <a:ea typeface="宋体" panose="02010600030101010101" pitchFamily="2" charset="-122"/>
                </a:rPr>
                <a:t>, </a:t>
              </a:r>
              <a:r>
                <a:rPr kumimoji="0" lang="en-US" altLang="zh-CN" sz="1950" b="1" dirty="0" err="1">
                  <a:solidFill>
                    <a:srgbClr val="0000FF"/>
                  </a:solidFill>
                  <a:latin typeface="Times New Roman" panose="02020603050405020304" pitchFamily="18" charset="0"/>
                  <a:ea typeface="宋体" panose="02010600030101010101" pitchFamily="2" charset="-122"/>
                </a:rPr>
                <a:t>CourseTitle</a:t>
              </a:r>
              <a:r>
                <a:rPr kumimoji="0" lang="en-US" altLang="zh-CN" sz="1950" b="1" dirty="0">
                  <a:solidFill>
                    <a:srgbClr val="0000FF"/>
                  </a:solidFill>
                  <a:latin typeface="Times New Roman" panose="02020603050405020304" pitchFamily="18" charset="0"/>
                  <a:ea typeface="宋体" panose="02010600030101010101" pitchFamily="2" charset="-122"/>
                </a:rPr>
                <a:t> </a:t>
              </a:r>
              <a:r>
                <a:rPr kumimoji="0" lang="en-US" altLang="zh-CN" sz="1950" b="1" dirty="0">
                  <a:solidFill>
                    <a:srgbClr val="0000FF"/>
                  </a:solidFill>
                  <a:latin typeface="Times New Roman" panose="02020603050405020304" pitchFamily="18" charset="0"/>
                  <a:ea typeface="宋体" panose="02010600030101010101" pitchFamily="2" charset="-122"/>
                  <a:sym typeface="Wingdings" panose="05000000000000000000" pitchFamily="2" charset="2"/>
                </a:rPr>
                <a:t> </a:t>
              </a:r>
              <a:r>
                <a:rPr kumimoji="0" lang="en-US" altLang="zh-CN" sz="1950" b="1" dirty="0" err="1">
                  <a:solidFill>
                    <a:srgbClr val="0000FF"/>
                  </a:solidFill>
                  <a:latin typeface="Times New Roman" panose="02020603050405020304" pitchFamily="18" charset="0"/>
                  <a:ea typeface="宋体" panose="02010600030101010101" pitchFamily="2" charset="-122"/>
                  <a:sym typeface="Wingdings" panose="05000000000000000000" pitchFamily="2" charset="2"/>
                </a:rPr>
                <a:t>DateCompleted</a:t>
              </a:r>
              <a:endParaRPr kumimoji="0" lang="en-US" altLang="zh-CN" sz="1950" b="1" dirty="0">
                <a:solidFill>
                  <a:srgbClr val="0000FF"/>
                </a:solidFill>
                <a:latin typeface="Times New Roman" panose="02020603050405020304" pitchFamily="18" charset="0"/>
                <a:ea typeface="宋体" panose="02010600030101010101" pitchFamily="2" charset="-122"/>
              </a:endParaRPr>
            </a:p>
          </p:txBody>
        </p:sp>
      </p:grpSp>
      <p:grpSp>
        <p:nvGrpSpPr>
          <p:cNvPr id="29" name="Group 19">
            <a:extLst>
              <a:ext uri="{FF2B5EF4-FFF2-40B4-BE49-F238E27FC236}">
                <a16:creationId xmlns:a16="http://schemas.microsoft.com/office/drawing/2014/main" id="{6376C8AA-3EF3-42E3-9163-9C4DAF35E693}"/>
              </a:ext>
            </a:extLst>
          </p:cNvPr>
          <p:cNvGrpSpPr>
            <a:grpSpLocks/>
          </p:cNvGrpSpPr>
          <p:nvPr/>
        </p:nvGrpSpPr>
        <p:grpSpPr bwMode="auto">
          <a:xfrm>
            <a:off x="1982391" y="2256236"/>
            <a:ext cx="4491038" cy="1806179"/>
            <a:chOff x="705" y="1895"/>
            <a:chExt cx="3772" cy="1517"/>
          </a:xfrm>
        </p:grpSpPr>
        <p:grpSp>
          <p:nvGrpSpPr>
            <p:cNvPr id="30" name="Group 20">
              <a:extLst>
                <a:ext uri="{FF2B5EF4-FFF2-40B4-BE49-F238E27FC236}">
                  <a16:creationId xmlns:a16="http://schemas.microsoft.com/office/drawing/2014/main" id="{85E8EAD5-2BA0-4770-85BD-B192E47D647F}"/>
                </a:ext>
              </a:extLst>
            </p:cNvPr>
            <p:cNvGrpSpPr>
              <a:grpSpLocks/>
            </p:cNvGrpSpPr>
            <p:nvPr/>
          </p:nvGrpSpPr>
          <p:grpSpPr bwMode="auto">
            <a:xfrm>
              <a:off x="705" y="1895"/>
              <a:ext cx="3181" cy="12"/>
              <a:chOff x="653" y="2685"/>
              <a:chExt cx="3181" cy="12"/>
            </a:xfrm>
          </p:grpSpPr>
          <p:cxnSp>
            <p:nvCxnSpPr>
              <p:cNvPr id="32" name="AutoShape 21">
                <a:extLst>
                  <a:ext uri="{FF2B5EF4-FFF2-40B4-BE49-F238E27FC236}">
                    <a16:creationId xmlns:a16="http://schemas.microsoft.com/office/drawing/2014/main" id="{71271CA1-8E7A-44E1-99C8-3937CC7F3D2B}"/>
                  </a:ext>
                </a:extLst>
              </p:cNvPr>
              <p:cNvCxnSpPr>
                <a:cxnSpLocks noChangeShapeType="1"/>
                <a:stCxn id="16" idx="2"/>
                <a:endCxn id="21" idx="2"/>
              </p:cNvCxnSpPr>
              <p:nvPr/>
            </p:nvCxnSpPr>
            <p:spPr bwMode="auto">
              <a:xfrm rot="16200000" flipH="1">
                <a:off x="1486" y="1853"/>
                <a:ext cx="11" cy="1677"/>
              </a:xfrm>
              <a:prstGeom prst="bentConnector3">
                <a:avLst>
                  <a:gd name="adj1" fmla="val 1800000"/>
                </a:avLst>
              </a:prstGeom>
              <a:noFill/>
              <a:ln w="25400">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33" name="AutoShape 22">
                <a:extLst>
                  <a:ext uri="{FF2B5EF4-FFF2-40B4-BE49-F238E27FC236}">
                    <a16:creationId xmlns:a16="http://schemas.microsoft.com/office/drawing/2014/main" id="{61502ED3-6BF4-4F29-A246-7989041A8BA3}"/>
                  </a:ext>
                </a:extLst>
              </p:cNvPr>
              <p:cNvCxnSpPr>
                <a:cxnSpLocks noChangeShapeType="1"/>
                <a:stCxn id="16" idx="2"/>
                <a:endCxn id="20" idx="2"/>
              </p:cNvCxnSpPr>
              <p:nvPr/>
            </p:nvCxnSpPr>
            <p:spPr bwMode="auto">
              <a:xfrm rot="16200000" flipH="1">
                <a:off x="1864" y="1475"/>
                <a:ext cx="11" cy="2432"/>
              </a:xfrm>
              <a:prstGeom prst="bentConnector3">
                <a:avLst>
                  <a:gd name="adj1" fmla="val 1800000"/>
                </a:avLst>
              </a:prstGeom>
              <a:noFill/>
              <a:ln w="25400">
                <a:solidFill>
                  <a:schemeClr val="hlink"/>
                </a:solidFill>
                <a:miter lim="800000"/>
                <a:headEnd/>
                <a:tailEnd type="triangle" w="med" len="med"/>
              </a:ln>
              <a:extLst>
                <a:ext uri="{909E8E84-426E-40DD-AFC4-6F175D3DCCD1}">
                  <a14:hiddenFill xmlns:a14="http://schemas.microsoft.com/office/drawing/2010/main">
                    <a:noFill/>
                  </a14:hiddenFill>
                </a:ext>
              </a:extLst>
            </p:spPr>
          </p:cxnSp>
          <p:cxnSp>
            <p:nvCxnSpPr>
              <p:cNvPr id="34" name="AutoShape 23">
                <a:extLst>
                  <a:ext uri="{FF2B5EF4-FFF2-40B4-BE49-F238E27FC236}">
                    <a16:creationId xmlns:a16="http://schemas.microsoft.com/office/drawing/2014/main" id="{6A899486-D33E-4C48-B174-9807CAA1560E}"/>
                  </a:ext>
                </a:extLst>
              </p:cNvPr>
              <p:cNvCxnSpPr>
                <a:cxnSpLocks noChangeShapeType="1"/>
                <a:stCxn id="16" idx="2"/>
                <a:endCxn id="19" idx="2"/>
              </p:cNvCxnSpPr>
              <p:nvPr/>
            </p:nvCxnSpPr>
            <p:spPr bwMode="auto">
              <a:xfrm rot="16200000" flipH="1">
                <a:off x="2238" y="1101"/>
                <a:ext cx="11" cy="3180"/>
              </a:xfrm>
              <a:prstGeom prst="bentConnector3">
                <a:avLst>
                  <a:gd name="adj1" fmla="val 1800000"/>
                </a:avLst>
              </a:prstGeom>
              <a:noFill/>
              <a:ln w="25400">
                <a:solidFill>
                  <a:schemeClr val="hlink"/>
                </a:solidFill>
                <a:miter lim="800000"/>
                <a:headEnd/>
                <a:tailEnd type="triangle" w="med" len="med"/>
              </a:ln>
              <a:extLst>
                <a:ext uri="{909E8E84-426E-40DD-AFC4-6F175D3DCCD1}">
                  <a14:hiddenFill xmlns:a14="http://schemas.microsoft.com/office/drawing/2010/main">
                    <a:noFill/>
                  </a14:hiddenFill>
                </a:ext>
              </a:extLst>
            </p:spPr>
          </p:cxnSp>
        </p:grpSp>
        <p:sp>
          <p:nvSpPr>
            <p:cNvPr id="31" name="Text Box 24">
              <a:extLst>
                <a:ext uri="{FF2B5EF4-FFF2-40B4-BE49-F238E27FC236}">
                  <a16:creationId xmlns:a16="http://schemas.microsoft.com/office/drawing/2014/main" id="{AE0FD5A3-3EFF-4745-9329-6CA6B264B48A}"/>
                </a:ext>
              </a:extLst>
            </p:cNvPr>
            <p:cNvSpPr txBox="1">
              <a:spLocks noChangeArrowheads="1"/>
            </p:cNvSpPr>
            <p:nvPr/>
          </p:nvSpPr>
          <p:spPr bwMode="auto">
            <a:xfrm>
              <a:off x="839" y="3082"/>
              <a:ext cx="363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950" b="1" dirty="0" err="1">
                  <a:solidFill>
                    <a:srgbClr val="0000FF"/>
                  </a:solidFill>
                  <a:latin typeface="Arial" panose="020B0604020202020204" pitchFamily="34" charset="0"/>
                  <a:ea typeface="宋体" panose="02010600030101010101" pitchFamily="2" charset="-122"/>
                  <a:cs typeface="Arial" panose="020B0604020202020204" pitchFamily="34" charset="0"/>
                </a:rPr>
                <a:t>EmpID</a:t>
              </a:r>
              <a:r>
                <a:rPr kumimoji="0" lang="en-US" altLang="zh-CN" sz="1950" b="1" dirty="0">
                  <a:solidFill>
                    <a:srgbClr val="0000FF"/>
                  </a:solidFill>
                  <a:latin typeface="Arial" panose="020B0604020202020204" pitchFamily="34" charset="0"/>
                  <a:ea typeface="宋体" panose="02010600030101010101" pitchFamily="2" charset="-122"/>
                  <a:cs typeface="Arial" panose="020B0604020202020204" pitchFamily="34" charset="0"/>
                </a:rPr>
                <a:t> </a:t>
              </a:r>
              <a:r>
                <a:rPr kumimoji="0" lang="en-US" altLang="zh-CN" sz="195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Name, </a:t>
              </a:r>
              <a:r>
                <a:rPr kumimoji="0" lang="en-US" altLang="zh-CN" sz="1950" b="1" dirty="0" err="1">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DeptName</a:t>
              </a:r>
              <a:r>
                <a:rPr kumimoji="0" lang="en-US" altLang="zh-CN" sz="195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Salary</a:t>
              </a:r>
              <a:endParaRPr kumimoji="0" lang="en-US" altLang="zh-CN" sz="1950" b="1" dirty="0">
                <a:solidFill>
                  <a:srgbClr val="0000FF"/>
                </a:solidFill>
                <a:latin typeface="Arial" panose="020B0604020202020204" pitchFamily="34" charset="0"/>
                <a:ea typeface="宋体" panose="02010600030101010101" pitchFamily="2" charset="-122"/>
                <a:cs typeface="Arial" panose="020B0604020202020204" pitchFamily="34" charset="0"/>
              </a:endParaRPr>
            </a:p>
          </p:txBody>
        </p:sp>
      </p:grpSp>
      <p:sp>
        <p:nvSpPr>
          <p:cNvPr id="35" name="Text Box 25">
            <a:extLst>
              <a:ext uri="{FF2B5EF4-FFF2-40B4-BE49-F238E27FC236}">
                <a16:creationId xmlns:a16="http://schemas.microsoft.com/office/drawing/2014/main" id="{F420B514-A781-4B6F-A8EC-5F24AED5153A}"/>
              </a:ext>
            </a:extLst>
          </p:cNvPr>
          <p:cNvSpPr txBox="1">
            <a:spLocks noChangeArrowheads="1"/>
          </p:cNvSpPr>
          <p:nvPr/>
        </p:nvSpPr>
        <p:spPr bwMode="auto">
          <a:xfrm>
            <a:off x="2328172" y="4315301"/>
            <a:ext cx="39260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800" b="1" dirty="0">
                <a:solidFill>
                  <a:srgbClr val="C00000"/>
                </a:solidFill>
                <a:latin typeface="Arial" panose="020B0604020202020204" pitchFamily="34" charset="0"/>
                <a:ea typeface="宋体" panose="02010600030101010101" pitchFamily="2" charset="-122"/>
                <a:cs typeface="Arial" panose="020B0604020202020204" pitchFamily="34" charset="0"/>
              </a:rPr>
              <a:t>As such, NOT in 2</a:t>
            </a:r>
            <a:r>
              <a:rPr kumimoji="0" lang="en-US" altLang="zh-CN" sz="1800" b="1" baseline="30000" dirty="0">
                <a:solidFill>
                  <a:srgbClr val="C00000"/>
                </a:solidFill>
                <a:latin typeface="Arial" panose="020B0604020202020204" pitchFamily="34" charset="0"/>
                <a:ea typeface="宋体" panose="02010600030101010101" pitchFamily="2" charset="-122"/>
                <a:cs typeface="Arial" panose="020B0604020202020204" pitchFamily="34" charset="0"/>
              </a:rPr>
              <a:t>nd</a:t>
            </a:r>
            <a:r>
              <a:rPr kumimoji="0" lang="en-US" altLang="zh-CN" sz="1800" b="1" dirty="0">
                <a:solidFill>
                  <a:srgbClr val="C00000"/>
                </a:solidFill>
                <a:latin typeface="Arial" panose="020B0604020202020204" pitchFamily="34" charset="0"/>
                <a:ea typeface="宋体" panose="02010600030101010101" pitchFamily="2" charset="-122"/>
                <a:cs typeface="Arial" panose="020B0604020202020204" pitchFamily="34" charset="0"/>
              </a:rPr>
              <a:t> Normal Form!</a:t>
            </a:r>
          </a:p>
        </p:txBody>
      </p:sp>
    </p:spTree>
    <p:extLst>
      <p:ext uri="{BB962C8B-B14F-4D97-AF65-F5344CB8AC3E}">
        <p14:creationId xmlns:p14="http://schemas.microsoft.com/office/powerpoint/2010/main" val="7490529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ox(in)">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box(in)">
                                      <p:cBhvr>
                                        <p:cTn id="12" dur="5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linds(horizontal)">
                                      <p:cBhvr>
                                        <p:cTn id="21" dur="50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 calcmode="lin" valueType="num">
                                      <p:cBhvr additive="base">
                                        <p:cTn id="26" dur="500" fill="hold"/>
                                        <p:tgtEl>
                                          <p:spTgt spid="35"/>
                                        </p:tgtEl>
                                        <p:attrNameLst>
                                          <p:attrName>ppt_x</p:attrName>
                                        </p:attrNameLst>
                                      </p:cBhvr>
                                      <p:tavLst>
                                        <p:tav tm="0">
                                          <p:val>
                                            <p:strVal val="#ppt_x"/>
                                          </p:val>
                                        </p:tav>
                                        <p:tav tm="100000">
                                          <p:val>
                                            <p:strVal val="#ppt_x"/>
                                          </p:val>
                                        </p:tav>
                                      </p:tavLst>
                                    </p:anim>
                                    <p:anim calcmode="lin" valueType="num">
                                      <p:cBhvr additive="base">
                                        <p:cTn id="2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utoUpdateAnimBg="0"/>
      <p:bldP spid="23" grpId="0" autoUpdateAnimBg="0"/>
      <p:bldP spid="35"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01B7FE-29F1-4973-A881-544DFD630330}"/>
              </a:ext>
            </a:extLst>
          </p:cNvPr>
          <p:cNvSpPr>
            <a:spLocks noGrp="1"/>
          </p:cNvSpPr>
          <p:nvPr>
            <p:ph type="title"/>
          </p:nvPr>
        </p:nvSpPr>
        <p:spPr/>
        <p:txBody>
          <a:bodyPr/>
          <a:lstStyle/>
          <a:p>
            <a:pPr algn="ctr"/>
            <a:r>
              <a:rPr lang="en-US" altLang="zh-CN" dirty="0"/>
              <a:t>Decompose a Relation to 2nd Normal Form</a:t>
            </a:r>
            <a:endParaRPr lang="zh-CN" altLang="en-US" dirty="0"/>
          </a:p>
        </p:txBody>
      </p:sp>
      <p:sp>
        <p:nvSpPr>
          <p:cNvPr id="3" name="内容占位符 2">
            <a:extLst>
              <a:ext uri="{FF2B5EF4-FFF2-40B4-BE49-F238E27FC236}">
                <a16:creationId xmlns:a16="http://schemas.microsoft.com/office/drawing/2014/main" id="{6FAB1A4B-BC62-4183-83AF-702A2EB32429}"/>
              </a:ext>
            </a:extLst>
          </p:cNvPr>
          <p:cNvSpPr>
            <a:spLocks noGrp="1"/>
          </p:cNvSpPr>
          <p:nvPr>
            <p:ph idx="1"/>
          </p:nvPr>
        </p:nvSpPr>
        <p:spPr/>
        <p:txBody>
          <a:bodyPr/>
          <a:lstStyle/>
          <a:p>
            <a:r>
              <a:rPr lang="en-US" altLang="zh-CN" sz="2000" dirty="0"/>
              <a:t>Decompose the relation into two separate relations</a:t>
            </a:r>
          </a:p>
          <a:p>
            <a:endParaRPr lang="zh-CN" altLang="en-US" sz="2000" dirty="0"/>
          </a:p>
        </p:txBody>
      </p:sp>
      <p:sp>
        <p:nvSpPr>
          <p:cNvPr id="4" name="Text Box 21">
            <a:extLst>
              <a:ext uri="{FF2B5EF4-FFF2-40B4-BE49-F238E27FC236}">
                <a16:creationId xmlns:a16="http://schemas.microsoft.com/office/drawing/2014/main" id="{526D0DAA-EC3D-4976-8FBD-70CDFD9149DF}"/>
              </a:ext>
            </a:extLst>
          </p:cNvPr>
          <p:cNvSpPr txBox="1">
            <a:spLocks noChangeArrowheads="1"/>
          </p:cNvSpPr>
          <p:nvPr/>
        </p:nvSpPr>
        <p:spPr bwMode="auto">
          <a:xfrm>
            <a:off x="5592367" y="1726407"/>
            <a:ext cx="3084089"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950" b="1" dirty="0">
                <a:solidFill>
                  <a:srgbClr val="C00000"/>
                </a:solidFill>
                <a:latin typeface="Arial" panose="020B0604020202020204" pitchFamily="34" charset="0"/>
                <a:ea typeface="宋体" panose="02010600030101010101" pitchFamily="2" charset="-122"/>
                <a:cs typeface="Arial" panose="020B0604020202020204" pitchFamily="34" charset="0"/>
              </a:rPr>
              <a:t>Both are full functional dependencies</a:t>
            </a:r>
          </a:p>
        </p:txBody>
      </p:sp>
      <p:grpSp>
        <p:nvGrpSpPr>
          <p:cNvPr id="5" name="Group 4">
            <a:extLst>
              <a:ext uri="{FF2B5EF4-FFF2-40B4-BE49-F238E27FC236}">
                <a16:creationId xmlns:a16="http://schemas.microsoft.com/office/drawing/2014/main" id="{925BEF70-D164-4CA5-B5B6-C7C2686F43FB}"/>
              </a:ext>
            </a:extLst>
          </p:cNvPr>
          <p:cNvGrpSpPr>
            <a:grpSpLocks/>
          </p:cNvGrpSpPr>
          <p:nvPr/>
        </p:nvGrpSpPr>
        <p:grpSpPr bwMode="auto">
          <a:xfrm>
            <a:off x="1943100" y="2571750"/>
            <a:ext cx="3607171" cy="322660"/>
            <a:chOff x="576" y="2448"/>
            <a:chExt cx="2875" cy="271"/>
          </a:xfrm>
        </p:grpSpPr>
        <p:sp>
          <p:nvSpPr>
            <p:cNvPr id="6" name="Text Box 5">
              <a:extLst>
                <a:ext uri="{FF2B5EF4-FFF2-40B4-BE49-F238E27FC236}">
                  <a16:creationId xmlns:a16="http://schemas.microsoft.com/office/drawing/2014/main" id="{B63B937E-2A23-42B6-87FF-28E1E67A7E38}"/>
                </a:ext>
              </a:extLst>
            </p:cNvPr>
            <p:cNvSpPr txBox="1">
              <a:spLocks noChangeArrowheads="1"/>
            </p:cNvSpPr>
            <p:nvPr/>
          </p:nvSpPr>
          <p:spPr bwMode="auto">
            <a:xfrm>
              <a:off x="576" y="2448"/>
              <a:ext cx="720" cy="27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u="sng">
                  <a:solidFill>
                    <a:srgbClr val="0000FF"/>
                  </a:solidFill>
                  <a:latin typeface="Times New Roman" panose="02020603050405020304" pitchFamily="18" charset="0"/>
                  <a:ea typeface="宋体" panose="02010600030101010101" pitchFamily="2" charset="-122"/>
                </a:rPr>
                <a:t>EmpID</a:t>
              </a:r>
            </a:p>
          </p:txBody>
        </p:sp>
        <p:sp>
          <p:nvSpPr>
            <p:cNvPr id="7" name="Text Box 6">
              <a:extLst>
                <a:ext uri="{FF2B5EF4-FFF2-40B4-BE49-F238E27FC236}">
                  <a16:creationId xmlns:a16="http://schemas.microsoft.com/office/drawing/2014/main" id="{37661E52-62B2-4A4A-A65C-42AB7DD34893}"/>
                </a:ext>
              </a:extLst>
            </p:cNvPr>
            <p:cNvSpPr txBox="1">
              <a:spLocks noChangeArrowheads="1"/>
            </p:cNvSpPr>
            <p:nvPr/>
          </p:nvSpPr>
          <p:spPr bwMode="auto">
            <a:xfrm>
              <a:off x="2784" y="2448"/>
              <a:ext cx="667" cy="271"/>
            </a:xfrm>
            <a:prstGeom prst="rect">
              <a:avLst/>
            </a:prstGeom>
            <a:solidFill>
              <a:schemeClr val="bg1"/>
            </a:solidFill>
            <a:ln w="9525">
              <a:solidFill>
                <a:srgbClr val="0000FF"/>
              </a:solidFill>
              <a:miter lim="800000"/>
              <a:headEnd/>
              <a:tailEnd/>
            </a:ln>
          </p:spPr>
          <p:txBody>
            <a:bodyPr wrap="squar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a:solidFill>
                    <a:srgbClr val="0000FF"/>
                  </a:solidFill>
                  <a:latin typeface="Times New Roman" panose="02020603050405020304" pitchFamily="18" charset="0"/>
                  <a:ea typeface="宋体" panose="02010600030101010101" pitchFamily="2" charset="-122"/>
                </a:rPr>
                <a:t>Salary</a:t>
              </a:r>
            </a:p>
          </p:txBody>
        </p:sp>
        <p:sp>
          <p:nvSpPr>
            <p:cNvPr id="8" name="Text Box 7">
              <a:extLst>
                <a:ext uri="{FF2B5EF4-FFF2-40B4-BE49-F238E27FC236}">
                  <a16:creationId xmlns:a16="http://schemas.microsoft.com/office/drawing/2014/main" id="{72196DA4-10E4-4962-B3CA-B5C2BBB29D2B}"/>
                </a:ext>
              </a:extLst>
            </p:cNvPr>
            <p:cNvSpPr txBox="1">
              <a:spLocks noChangeArrowheads="1"/>
            </p:cNvSpPr>
            <p:nvPr/>
          </p:nvSpPr>
          <p:spPr bwMode="auto">
            <a:xfrm>
              <a:off x="1872" y="2448"/>
              <a:ext cx="912" cy="27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a:solidFill>
                    <a:srgbClr val="0000FF"/>
                  </a:solidFill>
                  <a:latin typeface="Times New Roman" panose="02020603050405020304" pitchFamily="18" charset="0"/>
                  <a:ea typeface="宋体" panose="02010600030101010101" pitchFamily="2" charset="-122"/>
                </a:rPr>
                <a:t>DeptName</a:t>
              </a:r>
            </a:p>
          </p:txBody>
        </p:sp>
        <p:sp>
          <p:nvSpPr>
            <p:cNvPr id="9" name="Text Box 8">
              <a:extLst>
                <a:ext uri="{FF2B5EF4-FFF2-40B4-BE49-F238E27FC236}">
                  <a16:creationId xmlns:a16="http://schemas.microsoft.com/office/drawing/2014/main" id="{3EA6DC63-CDE4-4DB9-8006-0A1FB7709A55}"/>
                </a:ext>
              </a:extLst>
            </p:cNvPr>
            <p:cNvSpPr txBox="1">
              <a:spLocks noChangeArrowheads="1"/>
            </p:cNvSpPr>
            <p:nvPr/>
          </p:nvSpPr>
          <p:spPr bwMode="auto">
            <a:xfrm>
              <a:off x="1296" y="2448"/>
              <a:ext cx="576" cy="27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a:solidFill>
                    <a:srgbClr val="0000FF"/>
                  </a:solidFill>
                  <a:latin typeface="Times New Roman" panose="02020603050405020304" pitchFamily="18" charset="0"/>
                  <a:ea typeface="宋体" panose="02010600030101010101" pitchFamily="2" charset="-122"/>
                </a:rPr>
                <a:t>Name</a:t>
              </a:r>
            </a:p>
          </p:txBody>
        </p:sp>
      </p:grpSp>
      <p:grpSp>
        <p:nvGrpSpPr>
          <p:cNvPr id="10" name="Group 9">
            <a:extLst>
              <a:ext uri="{FF2B5EF4-FFF2-40B4-BE49-F238E27FC236}">
                <a16:creationId xmlns:a16="http://schemas.microsoft.com/office/drawing/2014/main" id="{48DA5160-14BA-4CCB-989E-8E59C3E3B9AA}"/>
              </a:ext>
            </a:extLst>
          </p:cNvPr>
          <p:cNvGrpSpPr>
            <a:grpSpLocks/>
          </p:cNvGrpSpPr>
          <p:nvPr/>
        </p:nvGrpSpPr>
        <p:grpSpPr bwMode="auto">
          <a:xfrm>
            <a:off x="2743200" y="3486150"/>
            <a:ext cx="3543300" cy="322660"/>
            <a:chOff x="528" y="3360"/>
            <a:chExt cx="2976" cy="271"/>
          </a:xfrm>
        </p:grpSpPr>
        <p:sp>
          <p:nvSpPr>
            <p:cNvPr id="11" name="Text Box 10">
              <a:extLst>
                <a:ext uri="{FF2B5EF4-FFF2-40B4-BE49-F238E27FC236}">
                  <a16:creationId xmlns:a16="http://schemas.microsoft.com/office/drawing/2014/main" id="{F75E9C7C-B6A0-4C9A-9C1D-BF04F4057B08}"/>
                </a:ext>
              </a:extLst>
            </p:cNvPr>
            <p:cNvSpPr txBox="1">
              <a:spLocks noChangeArrowheads="1"/>
            </p:cNvSpPr>
            <p:nvPr/>
          </p:nvSpPr>
          <p:spPr bwMode="auto">
            <a:xfrm>
              <a:off x="1248" y="3360"/>
              <a:ext cx="1008" cy="27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u="sng">
                  <a:solidFill>
                    <a:srgbClr val="0000FF"/>
                  </a:solidFill>
                  <a:latin typeface="Times New Roman" panose="02020603050405020304" pitchFamily="18" charset="0"/>
                  <a:ea typeface="宋体" panose="02010600030101010101" pitchFamily="2" charset="-122"/>
                </a:rPr>
                <a:t>CourseTitle</a:t>
              </a:r>
            </a:p>
          </p:txBody>
        </p:sp>
        <p:sp>
          <p:nvSpPr>
            <p:cNvPr id="12" name="Text Box 11">
              <a:extLst>
                <a:ext uri="{FF2B5EF4-FFF2-40B4-BE49-F238E27FC236}">
                  <a16:creationId xmlns:a16="http://schemas.microsoft.com/office/drawing/2014/main" id="{E4ECADC6-382D-4E94-BB6F-DB5B0F8B3816}"/>
                </a:ext>
              </a:extLst>
            </p:cNvPr>
            <p:cNvSpPr txBox="1">
              <a:spLocks noChangeArrowheads="1"/>
            </p:cNvSpPr>
            <p:nvPr/>
          </p:nvSpPr>
          <p:spPr bwMode="auto">
            <a:xfrm>
              <a:off x="2256" y="3360"/>
              <a:ext cx="1248" cy="27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a:solidFill>
                    <a:srgbClr val="0000FF"/>
                  </a:solidFill>
                  <a:latin typeface="Times New Roman" panose="02020603050405020304" pitchFamily="18" charset="0"/>
                  <a:ea typeface="宋体" panose="02010600030101010101" pitchFamily="2" charset="-122"/>
                </a:rPr>
                <a:t>DateCompleted</a:t>
              </a:r>
            </a:p>
          </p:txBody>
        </p:sp>
        <p:sp>
          <p:nvSpPr>
            <p:cNvPr id="13" name="Text Box 12">
              <a:extLst>
                <a:ext uri="{FF2B5EF4-FFF2-40B4-BE49-F238E27FC236}">
                  <a16:creationId xmlns:a16="http://schemas.microsoft.com/office/drawing/2014/main" id="{13623DE5-20C9-4B15-A184-56B7FCF4B42E}"/>
                </a:ext>
              </a:extLst>
            </p:cNvPr>
            <p:cNvSpPr txBox="1">
              <a:spLocks noChangeArrowheads="1"/>
            </p:cNvSpPr>
            <p:nvPr/>
          </p:nvSpPr>
          <p:spPr bwMode="auto">
            <a:xfrm>
              <a:off x="528" y="3360"/>
              <a:ext cx="720" cy="271"/>
            </a:xfrm>
            <a:prstGeom prst="rect">
              <a:avLst/>
            </a:prstGeom>
            <a:solidFill>
              <a:schemeClr val="bg1"/>
            </a:solidFill>
            <a:ln w="9525">
              <a:solidFill>
                <a:srgbClr val="0000FF"/>
              </a:solidFill>
              <a:miter lim="800000"/>
              <a:headEnd/>
              <a:tailEnd/>
            </a:ln>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500" b="1" u="sng">
                  <a:solidFill>
                    <a:srgbClr val="0000FF"/>
                  </a:solidFill>
                  <a:latin typeface="Times New Roman" panose="02020603050405020304" pitchFamily="18" charset="0"/>
                  <a:ea typeface="宋体" panose="02010600030101010101" pitchFamily="2" charset="-122"/>
                </a:rPr>
                <a:t>EmpID</a:t>
              </a:r>
            </a:p>
          </p:txBody>
        </p:sp>
      </p:grpSp>
      <p:cxnSp>
        <p:nvCxnSpPr>
          <p:cNvPr id="14" name="AutoShape 13">
            <a:extLst>
              <a:ext uri="{FF2B5EF4-FFF2-40B4-BE49-F238E27FC236}">
                <a16:creationId xmlns:a16="http://schemas.microsoft.com/office/drawing/2014/main" id="{32115E4C-6871-478A-8ECF-44F96710A785}"/>
              </a:ext>
            </a:extLst>
          </p:cNvPr>
          <p:cNvCxnSpPr>
            <a:cxnSpLocks noChangeShapeType="1"/>
            <a:stCxn id="13" idx="0"/>
            <a:endCxn id="6" idx="2"/>
          </p:cNvCxnSpPr>
          <p:nvPr/>
        </p:nvCxnSpPr>
        <p:spPr bwMode="auto">
          <a:xfrm rot="16200000" flipV="1">
            <a:off x="2487434" y="2801759"/>
            <a:ext cx="591738" cy="777044"/>
          </a:xfrm>
          <a:prstGeom prst="curvedConnector3">
            <a:avLst>
              <a:gd name="adj1" fmla="val 50000"/>
            </a:avLst>
          </a:prstGeom>
          <a:noFill/>
          <a:ln w="31750">
            <a:solidFill>
              <a:srgbClr val="0000FF"/>
            </a:solidFill>
            <a:round/>
            <a:headEnd/>
            <a:tailEnd type="triangle" w="lg" len="lg"/>
          </a:ln>
          <a:extLst>
            <a:ext uri="{909E8E84-426E-40DD-AFC4-6F175D3DCCD1}">
              <a14:hiddenFill xmlns:a14="http://schemas.microsoft.com/office/drawing/2010/main">
                <a:noFill/>
              </a14:hiddenFill>
            </a:ext>
          </a:extLst>
        </p:spPr>
      </p:cxnSp>
      <p:cxnSp>
        <p:nvCxnSpPr>
          <p:cNvPr id="15" name="AutoShape 15">
            <a:extLst>
              <a:ext uri="{FF2B5EF4-FFF2-40B4-BE49-F238E27FC236}">
                <a16:creationId xmlns:a16="http://schemas.microsoft.com/office/drawing/2014/main" id="{1838DE8A-BFD4-482F-AF61-E7140CB463C8}"/>
              </a:ext>
            </a:extLst>
          </p:cNvPr>
          <p:cNvCxnSpPr>
            <a:cxnSpLocks noChangeShapeType="1"/>
          </p:cNvCxnSpPr>
          <p:nvPr/>
        </p:nvCxnSpPr>
        <p:spPr bwMode="auto">
          <a:xfrm rot="5400000" flipV="1">
            <a:off x="2734271" y="2198489"/>
            <a:ext cx="1191" cy="771525"/>
          </a:xfrm>
          <a:prstGeom prst="bentConnector3">
            <a:avLst>
              <a:gd name="adj1" fmla="val -48400014"/>
            </a:avLst>
          </a:prstGeom>
          <a:noFill/>
          <a:ln w="25400">
            <a:solidFill>
              <a:srgbClr val="0000FF"/>
            </a:solidFill>
            <a:miter lim="800000"/>
            <a:headEnd/>
            <a:tailEnd type="triangle" w="lg" len="lg"/>
          </a:ln>
          <a:extLst>
            <a:ext uri="{909E8E84-426E-40DD-AFC4-6F175D3DCCD1}">
              <a14:hiddenFill xmlns:a14="http://schemas.microsoft.com/office/drawing/2010/main">
                <a:noFill/>
              </a14:hiddenFill>
            </a:ext>
          </a:extLst>
        </p:spPr>
      </p:cxnSp>
      <p:cxnSp>
        <p:nvCxnSpPr>
          <p:cNvPr id="16" name="AutoShape 16">
            <a:extLst>
              <a:ext uri="{FF2B5EF4-FFF2-40B4-BE49-F238E27FC236}">
                <a16:creationId xmlns:a16="http://schemas.microsoft.com/office/drawing/2014/main" id="{519747FF-1C01-4E36-8DC0-2393406AE82F}"/>
              </a:ext>
            </a:extLst>
          </p:cNvPr>
          <p:cNvCxnSpPr>
            <a:cxnSpLocks noChangeShapeType="1"/>
          </p:cNvCxnSpPr>
          <p:nvPr/>
        </p:nvCxnSpPr>
        <p:spPr bwMode="auto">
          <a:xfrm rot="5400000" flipV="1">
            <a:off x="3180755" y="1743671"/>
            <a:ext cx="1191" cy="1657350"/>
          </a:xfrm>
          <a:prstGeom prst="bentConnector3">
            <a:avLst>
              <a:gd name="adj1" fmla="val -47300014"/>
            </a:avLst>
          </a:prstGeom>
          <a:noFill/>
          <a:ln w="25400">
            <a:solidFill>
              <a:srgbClr val="0000FF"/>
            </a:solidFill>
            <a:miter lim="800000"/>
            <a:headEnd/>
            <a:tailEnd type="triangle" w="lg" len="lg"/>
          </a:ln>
          <a:extLst>
            <a:ext uri="{909E8E84-426E-40DD-AFC4-6F175D3DCCD1}">
              <a14:hiddenFill xmlns:a14="http://schemas.microsoft.com/office/drawing/2010/main">
                <a:noFill/>
              </a14:hiddenFill>
            </a:ext>
          </a:extLst>
        </p:spPr>
      </p:cxnSp>
      <p:cxnSp>
        <p:nvCxnSpPr>
          <p:cNvPr id="17" name="AutoShape 17">
            <a:extLst>
              <a:ext uri="{FF2B5EF4-FFF2-40B4-BE49-F238E27FC236}">
                <a16:creationId xmlns:a16="http://schemas.microsoft.com/office/drawing/2014/main" id="{B519B455-7EE8-461E-BE9B-A7E1C213BD30}"/>
              </a:ext>
            </a:extLst>
          </p:cNvPr>
          <p:cNvCxnSpPr>
            <a:cxnSpLocks noChangeShapeType="1"/>
          </p:cNvCxnSpPr>
          <p:nvPr/>
        </p:nvCxnSpPr>
        <p:spPr bwMode="auto">
          <a:xfrm rot="5400000" flipV="1">
            <a:off x="3623667" y="1300758"/>
            <a:ext cx="1191" cy="2543175"/>
          </a:xfrm>
          <a:prstGeom prst="bentConnector3">
            <a:avLst>
              <a:gd name="adj1" fmla="val -47100014"/>
            </a:avLst>
          </a:prstGeom>
          <a:noFill/>
          <a:ln w="25400">
            <a:solidFill>
              <a:srgbClr val="0000FF"/>
            </a:solidFill>
            <a:miter lim="800000"/>
            <a:headEnd/>
            <a:tailEnd type="triangle" w="lg" len="lg"/>
          </a:ln>
          <a:extLst>
            <a:ext uri="{909E8E84-426E-40DD-AFC4-6F175D3DCCD1}">
              <a14:hiddenFill xmlns:a14="http://schemas.microsoft.com/office/drawing/2010/main">
                <a:noFill/>
              </a14:hiddenFill>
            </a:ext>
          </a:extLst>
        </p:spPr>
      </p:cxnSp>
      <p:grpSp>
        <p:nvGrpSpPr>
          <p:cNvPr id="18" name="Group 18">
            <a:extLst>
              <a:ext uri="{FF2B5EF4-FFF2-40B4-BE49-F238E27FC236}">
                <a16:creationId xmlns:a16="http://schemas.microsoft.com/office/drawing/2014/main" id="{0BD18171-EFF1-4C33-B126-3363F4402A52}"/>
              </a:ext>
            </a:extLst>
          </p:cNvPr>
          <p:cNvGrpSpPr>
            <a:grpSpLocks/>
          </p:cNvGrpSpPr>
          <p:nvPr/>
        </p:nvGrpSpPr>
        <p:grpSpPr bwMode="auto">
          <a:xfrm>
            <a:off x="3178970" y="3801739"/>
            <a:ext cx="2371725" cy="13093"/>
            <a:chOff x="1614" y="3481"/>
            <a:chExt cx="1992" cy="11"/>
          </a:xfrm>
        </p:grpSpPr>
        <p:cxnSp>
          <p:nvCxnSpPr>
            <p:cNvPr id="19" name="AutoShape 19">
              <a:extLst>
                <a:ext uri="{FF2B5EF4-FFF2-40B4-BE49-F238E27FC236}">
                  <a16:creationId xmlns:a16="http://schemas.microsoft.com/office/drawing/2014/main" id="{43B3C4BB-9D48-4397-9DB0-AC38D89C1677}"/>
                </a:ext>
              </a:extLst>
            </p:cNvPr>
            <p:cNvCxnSpPr>
              <a:cxnSpLocks noChangeShapeType="1"/>
              <a:stCxn id="13" idx="2"/>
              <a:endCxn id="12" idx="2"/>
            </p:cNvCxnSpPr>
            <p:nvPr/>
          </p:nvCxnSpPr>
          <p:spPr bwMode="auto">
            <a:xfrm rot="16200000" flipH="1">
              <a:off x="2604" y="2491"/>
              <a:ext cx="11" cy="1992"/>
            </a:xfrm>
            <a:prstGeom prst="bentConnector3">
              <a:avLst>
                <a:gd name="adj1" fmla="val 1800000"/>
              </a:avLst>
            </a:prstGeom>
            <a:noFill/>
            <a:ln w="25400">
              <a:solidFill>
                <a:srgbClr val="0000FF"/>
              </a:solidFill>
              <a:miter lim="800000"/>
              <a:headEnd/>
              <a:tailEnd type="triangle" w="lg" len="lg"/>
            </a:ln>
            <a:extLst>
              <a:ext uri="{909E8E84-426E-40DD-AFC4-6F175D3DCCD1}">
                <a14:hiddenFill xmlns:a14="http://schemas.microsoft.com/office/drawing/2010/main">
                  <a:noFill/>
                </a14:hiddenFill>
              </a:ext>
            </a:extLst>
          </p:spPr>
        </p:cxnSp>
        <p:cxnSp>
          <p:nvCxnSpPr>
            <p:cNvPr id="20" name="AutoShape 20">
              <a:extLst>
                <a:ext uri="{FF2B5EF4-FFF2-40B4-BE49-F238E27FC236}">
                  <a16:creationId xmlns:a16="http://schemas.microsoft.com/office/drawing/2014/main" id="{BD4E347E-9EB0-49AA-88B2-4C8A9953F21C}"/>
                </a:ext>
              </a:extLst>
            </p:cNvPr>
            <p:cNvCxnSpPr>
              <a:cxnSpLocks noChangeShapeType="1"/>
              <a:stCxn id="11" idx="2"/>
              <a:endCxn id="12" idx="2"/>
            </p:cNvCxnSpPr>
            <p:nvPr/>
          </p:nvCxnSpPr>
          <p:spPr bwMode="auto">
            <a:xfrm rot="16200000" flipH="1">
              <a:off x="3036" y="2923"/>
              <a:ext cx="11" cy="1128"/>
            </a:xfrm>
            <a:prstGeom prst="bentConnector3">
              <a:avLst>
                <a:gd name="adj1" fmla="val 1800000"/>
              </a:avLst>
            </a:prstGeom>
            <a:noFill/>
            <a:ln w="25400">
              <a:solidFill>
                <a:srgbClr val="0000FF"/>
              </a:solidFill>
              <a:miter lim="800000"/>
              <a:headEnd/>
              <a:tailEnd type="triangle" w="lg" len="lg"/>
            </a:ln>
            <a:extLst>
              <a:ext uri="{909E8E84-426E-40DD-AFC4-6F175D3DCCD1}">
                <a14:hiddenFill xmlns:a14="http://schemas.microsoft.com/office/drawing/2010/main">
                  <a:noFill/>
                </a14:hiddenFill>
              </a:ext>
            </a:extLst>
          </p:spPr>
        </p:cxnSp>
      </p:grpSp>
      <p:sp>
        <p:nvSpPr>
          <p:cNvPr id="21" name="Text Box 22">
            <a:extLst>
              <a:ext uri="{FF2B5EF4-FFF2-40B4-BE49-F238E27FC236}">
                <a16:creationId xmlns:a16="http://schemas.microsoft.com/office/drawing/2014/main" id="{B0B89D5C-986D-4C0A-BE1F-3407E7FD63C7}"/>
              </a:ext>
            </a:extLst>
          </p:cNvPr>
          <p:cNvSpPr txBox="1">
            <a:spLocks noChangeArrowheads="1"/>
          </p:cNvSpPr>
          <p:nvPr/>
        </p:nvSpPr>
        <p:spPr bwMode="auto">
          <a:xfrm>
            <a:off x="1416844" y="2237185"/>
            <a:ext cx="7729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a:spcBef>
                <a:spcPct val="0"/>
              </a:spcBef>
              <a:buClrTx/>
              <a:buSzTx/>
              <a:buNone/>
            </a:pPr>
            <a:r>
              <a:rPr kumimoji="0" lang="en-US" altLang="zh-CN" sz="1500" b="1">
                <a:solidFill>
                  <a:srgbClr val="C00000"/>
                </a:solidFill>
                <a:latin typeface="Arial" panose="020B0604020202020204" pitchFamily="34" charset="0"/>
                <a:ea typeface="宋体" panose="02010600030101010101" pitchFamily="2" charset="-122"/>
              </a:rPr>
              <a:t>Emp_t</a:t>
            </a:r>
          </a:p>
        </p:txBody>
      </p:sp>
      <p:sp>
        <p:nvSpPr>
          <p:cNvPr id="22" name="Text Box 23">
            <a:extLst>
              <a:ext uri="{FF2B5EF4-FFF2-40B4-BE49-F238E27FC236}">
                <a16:creationId xmlns:a16="http://schemas.microsoft.com/office/drawing/2014/main" id="{B11CA80B-9FE1-42EC-A2DF-D4ABC6FC736F}"/>
              </a:ext>
            </a:extLst>
          </p:cNvPr>
          <p:cNvSpPr txBox="1">
            <a:spLocks noChangeArrowheads="1"/>
          </p:cNvSpPr>
          <p:nvPr/>
        </p:nvSpPr>
        <p:spPr bwMode="auto">
          <a:xfrm>
            <a:off x="1314450" y="3221832"/>
            <a:ext cx="1544012"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a:spcBef>
                <a:spcPct val="0"/>
              </a:spcBef>
              <a:buClrTx/>
              <a:buSzTx/>
              <a:buNone/>
            </a:pPr>
            <a:r>
              <a:rPr kumimoji="0" lang="en-US" altLang="zh-CN" sz="1500" b="1">
                <a:solidFill>
                  <a:srgbClr val="C00000"/>
                </a:solidFill>
                <a:latin typeface="Arial" panose="020B0604020202020204" pitchFamily="34" charset="0"/>
                <a:ea typeface="宋体" panose="02010600030101010101" pitchFamily="2" charset="-122"/>
              </a:rPr>
              <a:t>Emp_Course_t</a:t>
            </a:r>
          </a:p>
        </p:txBody>
      </p:sp>
    </p:spTree>
    <p:extLst>
      <p:ext uri="{BB962C8B-B14F-4D97-AF65-F5344CB8AC3E}">
        <p14:creationId xmlns:p14="http://schemas.microsoft.com/office/powerpoint/2010/main" val="13084823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9DB3F-B115-45ED-ADD2-7377EDB64052}"/>
              </a:ext>
            </a:extLst>
          </p:cNvPr>
          <p:cNvSpPr>
            <a:spLocks noGrp="1"/>
          </p:cNvSpPr>
          <p:nvPr>
            <p:ph type="title"/>
          </p:nvPr>
        </p:nvSpPr>
        <p:spPr/>
        <p:txBody>
          <a:bodyPr/>
          <a:lstStyle/>
          <a:p>
            <a:pPr algn="ctr"/>
            <a:r>
              <a:rPr lang="en-US" altLang="zh-CN" dirty="0"/>
              <a:t>Third Normal Form</a:t>
            </a:r>
            <a:endParaRPr lang="zh-CN" altLang="en-US" dirty="0"/>
          </a:p>
        </p:txBody>
      </p:sp>
      <p:sp>
        <p:nvSpPr>
          <p:cNvPr id="3" name="内容占位符 2">
            <a:extLst>
              <a:ext uri="{FF2B5EF4-FFF2-40B4-BE49-F238E27FC236}">
                <a16:creationId xmlns:a16="http://schemas.microsoft.com/office/drawing/2014/main" id="{1936C9BC-6DA7-46F8-A9A1-3ABB9B2F81BA}"/>
              </a:ext>
            </a:extLst>
          </p:cNvPr>
          <p:cNvSpPr>
            <a:spLocks noGrp="1"/>
          </p:cNvSpPr>
          <p:nvPr>
            <p:ph idx="1"/>
          </p:nvPr>
        </p:nvSpPr>
        <p:spPr/>
        <p:txBody>
          <a:bodyPr/>
          <a:lstStyle/>
          <a:p>
            <a:r>
              <a:rPr lang="en-US" altLang="zh-CN" sz="2000" b="1" dirty="0"/>
              <a:t>Requirements</a:t>
            </a:r>
          </a:p>
          <a:p>
            <a:pPr lvl="1"/>
            <a:r>
              <a:rPr lang="en-US" altLang="zh-CN" sz="1800" dirty="0"/>
              <a:t>2NF </a:t>
            </a:r>
          </a:p>
          <a:p>
            <a:pPr lvl="1"/>
            <a:r>
              <a:rPr lang="en-US" altLang="zh-CN" sz="1800" dirty="0">
                <a:solidFill>
                  <a:srgbClr val="C00000"/>
                </a:solidFill>
              </a:rPr>
              <a:t>No transitive dependencies </a:t>
            </a:r>
          </a:p>
          <a:p>
            <a:r>
              <a:rPr lang="en-US" altLang="zh-CN" sz="2000" dirty="0"/>
              <a:t>A </a:t>
            </a:r>
            <a:r>
              <a:rPr lang="en-US" altLang="zh-CN" sz="2000" dirty="0">
                <a:solidFill>
                  <a:srgbClr val="C00000"/>
                </a:solidFill>
              </a:rPr>
              <a:t>transitive dependency </a:t>
            </a:r>
            <a:r>
              <a:rPr lang="en-US" altLang="zh-CN" sz="2000" dirty="0"/>
              <a:t>is a functional dependency between two (or more) non-key attributes</a:t>
            </a:r>
          </a:p>
          <a:p>
            <a:endParaRPr lang="zh-CN" altLang="en-US" sz="2000" dirty="0"/>
          </a:p>
        </p:txBody>
      </p:sp>
    </p:spTree>
    <p:extLst>
      <p:ext uri="{BB962C8B-B14F-4D97-AF65-F5344CB8AC3E}">
        <p14:creationId xmlns:p14="http://schemas.microsoft.com/office/powerpoint/2010/main" val="1003455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A037D0-D54F-4007-B87A-5DCE5E2DE881}"/>
              </a:ext>
            </a:extLst>
          </p:cNvPr>
          <p:cNvSpPr>
            <a:spLocks noGrp="1"/>
          </p:cNvSpPr>
          <p:nvPr>
            <p:ph type="title"/>
          </p:nvPr>
        </p:nvSpPr>
        <p:spPr>
          <a:xfrm>
            <a:off x="0" y="-20538"/>
            <a:ext cx="9144000" cy="637580"/>
          </a:xfrm>
        </p:spPr>
        <p:txBody>
          <a:bodyPr/>
          <a:lstStyle/>
          <a:p>
            <a:pPr algn="ctr"/>
            <a:r>
              <a:rPr lang="en-US" altLang="zh-CN" dirty="0"/>
              <a:t>Relation with Transitive Dependency</a:t>
            </a:r>
            <a:endParaRPr lang="zh-CN" altLang="en-US" dirty="0"/>
          </a:p>
        </p:txBody>
      </p:sp>
      <p:sp>
        <p:nvSpPr>
          <p:cNvPr id="5" name="文本框 4">
            <a:extLst>
              <a:ext uri="{FF2B5EF4-FFF2-40B4-BE49-F238E27FC236}">
                <a16:creationId xmlns:a16="http://schemas.microsoft.com/office/drawing/2014/main" id="{374B55E8-6901-4F0D-A124-6689E9546E6C}"/>
              </a:ext>
            </a:extLst>
          </p:cNvPr>
          <p:cNvSpPr txBox="1"/>
          <p:nvPr/>
        </p:nvSpPr>
        <p:spPr>
          <a:xfrm>
            <a:off x="2267744" y="3971840"/>
            <a:ext cx="4536504" cy="400110"/>
          </a:xfrm>
          <a:prstGeom prst="rect">
            <a:avLst/>
          </a:prstGeom>
          <a:noFill/>
        </p:spPr>
        <p:txBody>
          <a:bodyPr wrap="square" rtlCol="0">
            <a:spAutoFit/>
          </a:bodyPr>
          <a:lstStyle/>
          <a:p>
            <a:pPr algn="ctr"/>
            <a:r>
              <a:rPr lang="en-US" altLang="zh-CN" sz="2000" b="1" dirty="0">
                <a:latin typeface="Arial" panose="020B0604020202020204" pitchFamily="34" charset="0"/>
                <a:cs typeface="Arial" panose="020B0604020202020204" pitchFamily="34" charset="0"/>
              </a:rPr>
              <a:t>Sales relation</a:t>
            </a:r>
            <a:endParaRPr lang="zh-CN" altLang="en-US" sz="2000" b="1" dirty="0">
              <a:latin typeface="Arial" panose="020B0604020202020204" pitchFamily="34" charset="0"/>
              <a:cs typeface="Arial" panose="020B0604020202020204" pitchFamily="34" charset="0"/>
            </a:endParaRPr>
          </a:p>
        </p:txBody>
      </p:sp>
      <p:graphicFrame>
        <p:nvGraphicFramePr>
          <p:cNvPr id="3" name="表格 2">
            <a:extLst>
              <a:ext uri="{FF2B5EF4-FFF2-40B4-BE49-F238E27FC236}">
                <a16:creationId xmlns:a16="http://schemas.microsoft.com/office/drawing/2014/main" id="{9246EB2E-E7AD-4716-B7DA-39F7FC416D3A}"/>
              </a:ext>
            </a:extLst>
          </p:cNvPr>
          <p:cNvGraphicFramePr>
            <a:graphicFrameLocks noGrp="1"/>
          </p:cNvGraphicFramePr>
          <p:nvPr>
            <p:extLst>
              <p:ext uri="{D42A27DB-BD31-4B8C-83A1-F6EECF244321}">
                <p14:modId xmlns:p14="http://schemas.microsoft.com/office/powerpoint/2010/main" val="3734287526"/>
              </p:ext>
            </p:extLst>
          </p:nvPr>
        </p:nvGraphicFramePr>
        <p:xfrm>
          <a:off x="1209384" y="1273810"/>
          <a:ext cx="6725232" cy="2595880"/>
        </p:xfrm>
        <a:graphic>
          <a:graphicData uri="http://schemas.openxmlformats.org/drawingml/2006/table">
            <a:tbl>
              <a:tblPr firstRow="1" bandRow="1">
                <a:tableStyleId>{5940675A-B579-460E-94D1-54222C63F5DA}</a:tableStyleId>
              </a:tblPr>
              <a:tblGrid>
                <a:gridCol w="1681308">
                  <a:extLst>
                    <a:ext uri="{9D8B030D-6E8A-4147-A177-3AD203B41FA5}">
                      <a16:colId xmlns:a16="http://schemas.microsoft.com/office/drawing/2014/main" val="1941045606"/>
                    </a:ext>
                  </a:extLst>
                </a:gridCol>
                <a:gridCol w="1681308">
                  <a:extLst>
                    <a:ext uri="{9D8B030D-6E8A-4147-A177-3AD203B41FA5}">
                      <a16:colId xmlns:a16="http://schemas.microsoft.com/office/drawing/2014/main" val="1732541583"/>
                    </a:ext>
                  </a:extLst>
                </a:gridCol>
                <a:gridCol w="1681308">
                  <a:extLst>
                    <a:ext uri="{9D8B030D-6E8A-4147-A177-3AD203B41FA5}">
                      <a16:colId xmlns:a16="http://schemas.microsoft.com/office/drawing/2014/main" val="1049506678"/>
                    </a:ext>
                  </a:extLst>
                </a:gridCol>
                <a:gridCol w="1681308">
                  <a:extLst>
                    <a:ext uri="{9D8B030D-6E8A-4147-A177-3AD203B41FA5}">
                      <a16:colId xmlns:a16="http://schemas.microsoft.com/office/drawing/2014/main" val="202538371"/>
                    </a:ext>
                  </a:extLst>
                </a:gridCol>
              </a:tblGrid>
              <a:tr h="370840">
                <a:tc>
                  <a:txBody>
                    <a:bodyPr/>
                    <a:lstStyle/>
                    <a:p>
                      <a:r>
                        <a:rPr lang="en-US" altLang="zh-CN" b="1" dirty="0" err="1"/>
                        <a:t>Cust_ID</a:t>
                      </a:r>
                      <a:endParaRPr lang="zh-CN" altLang="en-US" b="1" dirty="0"/>
                    </a:p>
                  </a:txBody>
                  <a:tcPr>
                    <a:solidFill>
                      <a:schemeClr val="bg2">
                        <a:lumMod val="90000"/>
                      </a:schemeClr>
                    </a:solidFill>
                  </a:tcPr>
                </a:tc>
                <a:tc>
                  <a:txBody>
                    <a:bodyPr/>
                    <a:lstStyle/>
                    <a:p>
                      <a:r>
                        <a:rPr lang="en-US" altLang="zh-CN" b="1" dirty="0"/>
                        <a:t>Name</a:t>
                      </a:r>
                      <a:endParaRPr lang="zh-CN" altLang="en-US" b="1" dirty="0"/>
                    </a:p>
                  </a:txBody>
                  <a:tcPr>
                    <a:solidFill>
                      <a:schemeClr val="bg2">
                        <a:lumMod val="90000"/>
                      </a:schemeClr>
                    </a:solidFill>
                  </a:tcPr>
                </a:tc>
                <a:tc>
                  <a:txBody>
                    <a:bodyPr/>
                    <a:lstStyle/>
                    <a:p>
                      <a:r>
                        <a:rPr lang="en-US" altLang="zh-CN" b="1" dirty="0"/>
                        <a:t>Salesperson</a:t>
                      </a:r>
                      <a:endParaRPr lang="zh-CN" altLang="en-US" b="1" dirty="0"/>
                    </a:p>
                  </a:txBody>
                  <a:tcPr>
                    <a:solidFill>
                      <a:schemeClr val="bg2">
                        <a:lumMod val="90000"/>
                      </a:schemeClr>
                    </a:solidFill>
                  </a:tcPr>
                </a:tc>
                <a:tc>
                  <a:txBody>
                    <a:bodyPr/>
                    <a:lstStyle/>
                    <a:p>
                      <a:r>
                        <a:rPr lang="en-US" altLang="zh-CN" b="1" dirty="0"/>
                        <a:t>Region</a:t>
                      </a:r>
                      <a:endParaRPr lang="zh-CN" altLang="en-US" b="1" dirty="0"/>
                    </a:p>
                  </a:txBody>
                  <a:tcPr>
                    <a:solidFill>
                      <a:schemeClr val="bg2">
                        <a:lumMod val="90000"/>
                      </a:schemeClr>
                    </a:solidFill>
                  </a:tcPr>
                </a:tc>
                <a:extLst>
                  <a:ext uri="{0D108BD9-81ED-4DB2-BD59-A6C34878D82A}">
                    <a16:rowId xmlns:a16="http://schemas.microsoft.com/office/drawing/2014/main" val="3445078011"/>
                  </a:ext>
                </a:extLst>
              </a:tr>
              <a:tr h="370840">
                <a:tc>
                  <a:txBody>
                    <a:bodyPr/>
                    <a:lstStyle/>
                    <a:p>
                      <a:r>
                        <a:rPr lang="en-US" altLang="zh-CN" dirty="0"/>
                        <a:t>8023</a:t>
                      </a:r>
                      <a:endParaRPr lang="zh-CN" altLang="en-US" dirty="0"/>
                    </a:p>
                  </a:txBody>
                  <a:tcPr/>
                </a:tc>
                <a:tc>
                  <a:txBody>
                    <a:bodyPr/>
                    <a:lstStyle/>
                    <a:p>
                      <a:r>
                        <a:rPr lang="en-US" altLang="zh-CN" dirty="0"/>
                        <a:t>Anderson</a:t>
                      </a:r>
                      <a:endParaRPr lang="zh-CN" altLang="en-US" dirty="0"/>
                    </a:p>
                  </a:txBody>
                  <a:tcPr/>
                </a:tc>
                <a:tc>
                  <a:txBody>
                    <a:bodyPr/>
                    <a:lstStyle/>
                    <a:p>
                      <a:r>
                        <a:rPr lang="en-US" altLang="zh-CN" dirty="0"/>
                        <a:t>Smith</a:t>
                      </a:r>
                      <a:endParaRPr lang="zh-CN" altLang="en-US" dirty="0"/>
                    </a:p>
                  </a:txBody>
                  <a:tcPr/>
                </a:tc>
                <a:tc>
                  <a:txBody>
                    <a:bodyPr/>
                    <a:lstStyle/>
                    <a:p>
                      <a:r>
                        <a:rPr lang="en-US" altLang="zh-CN" dirty="0"/>
                        <a:t>South</a:t>
                      </a:r>
                      <a:endParaRPr lang="zh-CN" altLang="en-US" dirty="0"/>
                    </a:p>
                  </a:txBody>
                  <a:tcPr/>
                </a:tc>
                <a:extLst>
                  <a:ext uri="{0D108BD9-81ED-4DB2-BD59-A6C34878D82A}">
                    <a16:rowId xmlns:a16="http://schemas.microsoft.com/office/drawing/2014/main" val="2761381302"/>
                  </a:ext>
                </a:extLst>
              </a:tr>
              <a:tr h="370840">
                <a:tc>
                  <a:txBody>
                    <a:bodyPr/>
                    <a:lstStyle/>
                    <a:p>
                      <a:r>
                        <a:rPr lang="en-US" altLang="zh-CN" dirty="0"/>
                        <a:t>9167</a:t>
                      </a:r>
                      <a:endParaRPr lang="zh-CN" altLang="en-US" dirty="0"/>
                    </a:p>
                  </a:txBody>
                  <a:tcPr/>
                </a:tc>
                <a:tc>
                  <a:txBody>
                    <a:bodyPr/>
                    <a:lstStyle/>
                    <a:p>
                      <a:r>
                        <a:rPr lang="en-US" altLang="zh-CN" dirty="0"/>
                        <a:t>Bancroft</a:t>
                      </a:r>
                      <a:endParaRPr lang="zh-CN" altLang="en-US" dirty="0"/>
                    </a:p>
                  </a:txBody>
                  <a:tcPr/>
                </a:tc>
                <a:tc>
                  <a:txBody>
                    <a:bodyPr/>
                    <a:lstStyle/>
                    <a:p>
                      <a:r>
                        <a:rPr lang="en-US" altLang="zh-CN" dirty="0"/>
                        <a:t>Hicks</a:t>
                      </a:r>
                      <a:endParaRPr lang="zh-CN" altLang="en-US" dirty="0"/>
                    </a:p>
                  </a:txBody>
                  <a:tcPr/>
                </a:tc>
                <a:tc>
                  <a:txBody>
                    <a:bodyPr/>
                    <a:lstStyle/>
                    <a:p>
                      <a:r>
                        <a:rPr lang="en-US" altLang="zh-CN" dirty="0"/>
                        <a:t>West</a:t>
                      </a:r>
                      <a:endParaRPr lang="zh-CN" altLang="en-US" dirty="0"/>
                    </a:p>
                  </a:txBody>
                  <a:tcPr/>
                </a:tc>
                <a:extLst>
                  <a:ext uri="{0D108BD9-81ED-4DB2-BD59-A6C34878D82A}">
                    <a16:rowId xmlns:a16="http://schemas.microsoft.com/office/drawing/2014/main" val="960160432"/>
                  </a:ext>
                </a:extLst>
              </a:tr>
              <a:tr h="370840">
                <a:tc>
                  <a:txBody>
                    <a:bodyPr/>
                    <a:lstStyle/>
                    <a:p>
                      <a:r>
                        <a:rPr lang="en-US" altLang="zh-CN" dirty="0"/>
                        <a:t>7924</a:t>
                      </a:r>
                      <a:endParaRPr lang="zh-CN" altLang="en-US" dirty="0"/>
                    </a:p>
                  </a:txBody>
                  <a:tcPr/>
                </a:tc>
                <a:tc>
                  <a:txBody>
                    <a:bodyPr/>
                    <a:lstStyle/>
                    <a:p>
                      <a:r>
                        <a:rPr lang="en-US" altLang="zh-CN" dirty="0"/>
                        <a:t>Hobbs</a:t>
                      </a:r>
                      <a:endParaRPr lang="zh-CN" altLang="en-US" dirty="0"/>
                    </a:p>
                  </a:txBody>
                  <a:tcPr/>
                </a:tc>
                <a:tc>
                  <a:txBody>
                    <a:bodyPr/>
                    <a:lstStyle/>
                    <a:p>
                      <a:r>
                        <a:rPr lang="en-US" altLang="zh-CN" dirty="0"/>
                        <a:t>Smith</a:t>
                      </a:r>
                      <a:endParaRPr lang="zh-CN" altLang="en-US" dirty="0"/>
                    </a:p>
                  </a:txBody>
                  <a:tcPr/>
                </a:tc>
                <a:tc>
                  <a:txBody>
                    <a:bodyPr/>
                    <a:lstStyle/>
                    <a:p>
                      <a:r>
                        <a:rPr lang="en-US" altLang="zh-CN" dirty="0"/>
                        <a:t>South</a:t>
                      </a:r>
                      <a:endParaRPr lang="zh-CN" altLang="en-US" dirty="0"/>
                    </a:p>
                  </a:txBody>
                  <a:tcPr/>
                </a:tc>
                <a:extLst>
                  <a:ext uri="{0D108BD9-81ED-4DB2-BD59-A6C34878D82A}">
                    <a16:rowId xmlns:a16="http://schemas.microsoft.com/office/drawing/2014/main" val="2180425771"/>
                  </a:ext>
                </a:extLst>
              </a:tr>
              <a:tr h="370840">
                <a:tc>
                  <a:txBody>
                    <a:bodyPr/>
                    <a:lstStyle/>
                    <a:p>
                      <a:r>
                        <a:rPr lang="en-US" altLang="zh-CN" dirty="0"/>
                        <a:t>6837</a:t>
                      </a:r>
                      <a:endParaRPr lang="zh-CN" altLang="en-US" dirty="0"/>
                    </a:p>
                  </a:txBody>
                  <a:tcPr/>
                </a:tc>
                <a:tc>
                  <a:txBody>
                    <a:bodyPr/>
                    <a:lstStyle/>
                    <a:p>
                      <a:r>
                        <a:rPr lang="en-US" altLang="zh-CN" dirty="0"/>
                        <a:t>Tucker</a:t>
                      </a:r>
                      <a:endParaRPr lang="zh-CN" altLang="en-US" dirty="0"/>
                    </a:p>
                  </a:txBody>
                  <a:tcPr/>
                </a:tc>
                <a:tc>
                  <a:txBody>
                    <a:bodyPr/>
                    <a:lstStyle/>
                    <a:p>
                      <a:r>
                        <a:rPr lang="en-US" altLang="zh-CN" dirty="0"/>
                        <a:t>Hernandez</a:t>
                      </a:r>
                      <a:endParaRPr lang="zh-CN" altLang="en-US" dirty="0"/>
                    </a:p>
                  </a:txBody>
                  <a:tcPr/>
                </a:tc>
                <a:tc>
                  <a:txBody>
                    <a:bodyPr/>
                    <a:lstStyle/>
                    <a:p>
                      <a:r>
                        <a:rPr lang="en-US" altLang="zh-CN" dirty="0"/>
                        <a:t>East</a:t>
                      </a:r>
                      <a:endParaRPr lang="zh-CN" altLang="en-US" dirty="0"/>
                    </a:p>
                  </a:txBody>
                  <a:tcPr/>
                </a:tc>
                <a:extLst>
                  <a:ext uri="{0D108BD9-81ED-4DB2-BD59-A6C34878D82A}">
                    <a16:rowId xmlns:a16="http://schemas.microsoft.com/office/drawing/2014/main" val="1542799290"/>
                  </a:ext>
                </a:extLst>
              </a:tr>
              <a:tr h="370840">
                <a:tc>
                  <a:txBody>
                    <a:bodyPr/>
                    <a:lstStyle/>
                    <a:p>
                      <a:r>
                        <a:rPr lang="en-US" altLang="zh-CN" dirty="0"/>
                        <a:t>8596</a:t>
                      </a:r>
                      <a:endParaRPr lang="zh-CN" altLang="en-US" dirty="0"/>
                    </a:p>
                  </a:txBody>
                  <a:tcPr/>
                </a:tc>
                <a:tc>
                  <a:txBody>
                    <a:bodyPr/>
                    <a:lstStyle/>
                    <a:p>
                      <a:r>
                        <a:rPr lang="en-US" altLang="zh-CN" dirty="0"/>
                        <a:t>Eckersley</a:t>
                      </a:r>
                      <a:endParaRPr lang="zh-CN" altLang="en-US" dirty="0"/>
                    </a:p>
                  </a:txBody>
                  <a:tcPr/>
                </a:tc>
                <a:tc>
                  <a:txBody>
                    <a:bodyPr/>
                    <a:lstStyle/>
                    <a:p>
                      <a:r>
                        <a:rPr lang="en-US" altLang="zh-CN" dirty="0"/>
                        <a:t>Hicks</a:t>
                      </a:r>
                      <a:endParaRPr lang="zh-CN" altLang="en-US" dirty="0"/>
                    </a:p>
                  </a:txBody>
                  <a:tcPr/>
                </a:tc>
                <a:tc>
                  <a:txBody>
                    <a:bodyPr/>
                    <a:lstStyle/>
                    <a:p>
                      <a:r>
                        <a:rPr lang="en-US" altLang="zh-CN" dirty="0"/>
                        <a:t>West</a:t>
                      </a:r>
                      <a:endParaRPr lang="zh-CN" altLang="en-US" dirty="0"/>
                    </a:p>
                  </a:txBody>
                  <a:tcPr/>
                </a:tc>
                <a:extLst>
                  <a:ext uri="{0D108BD9-81ED-4DB2-BD59-A6C34878D82A}">
                    <a16:rowId xmlns:a16="http://schemas.microsoft.com/office/drawing/2014/main" val="1091229736"/>
                  </a:ext>
                </a:extLst>
              </a:tr>
              <a:tr h="370840">
                <a:tc>
                  <a:txBody>
                    <a:bodyPr/>
                    <a:lstStyle/>
                    <a:p>
                      <a:r>
                        <a:rPr lang="en-US" altLang="zh-CN" dirty="0"/>
                        <a:t>7018</a:t>
                      </a:r>
                      <a:endParaRPr lang="zh-CN" altLang="en-US" dirty="0"/>
                    </a:p>
                  </a:txBody>
                  <a:tcPr/>
                </a:tc>
                <a:tc>
                  <a:txBody>
                    <a:bodyPr/>
                    <a:lstStyle/>
                    <a:p>
                      <a:r>
                        <a:rPr lang="en-US" altLang="zh-CN" dirty="0"/>
                        <a:t>Arnold</a:t>
                      </a:r>
                      <a:endParaRPr lang="zh-CN" altLang="en-US" dirty="0"/>
                    </a:p>
                  </a:txBody>
                  <a:tcPr/>
                </a:tc>
                <a:tc>
                  <a:txBody>
                    <a:bodyPr/>
                    <a:lstStyle/>
                    <a:p>
                      <a:r>
                        <a:rPr lang="en-US" altLang="zh-CN" dirty="0" err="1"/>
                        <a:t>Faulb</a:t>
                      </a:r>
                      <a:endParaRPr lang="zh-CN" altLang="en-US" dirty="0"/>
                    </a:p>
                  </a:txBody>
                  <a:tcPr/>
                </a:tc>
                <a:tc>
                  <a:txBody>
                    <a:bodyPr/>
                    <a:lstStyle/>
                    <a:p>
                      <a:r>
                        <a:rPr lang="en-US" altLang="zh-CN" dirty="0"/>
                        <a:t>North</a:t>
                      </a:r>
                      <a:endParaRPr lang="zh-CN" altLang="en-US" dirty="0"/>
                    </a:p>
                  </a:txBody>
                  <a:tcPr/>
                </a:tc>
                <a:extLst>
                  <a:ext uri="{0D108BD9-81ED-4DB2-BD59-A6C34878D82A}">
                    <a16:rowId xmlns:a16="http://schemas.microsoft.com/office/drawing/2014/main" val="3375483458"/>
                  </a:ext>
                </a:extLst>
              </a:tr>
            </a:tbl>
          </a:graphicData>
        </a:graphic>
      </p:graphicFrame>
    </p:spTree>
    <p:extLst>
      <p:ext uri="{BB962C8B-B14F-4D97-AF65-F5344CB8AC3E}">
        <p14:creationId xmlns:p14="http://schemas.microsoft.com/office/powerpoint/2010/main" val="1389368591"/>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A037D0-D54F-4007-B87A-5DCE5E2DE881}"/>
              </a:ext>
            </a:extLst>
          </p:cNvPr>
          <p:cNvSpPr>
            <a:spLocks noGrp="1"/>
          </p:cNvSpPr>
          <p:nvPr>
            <p:ph type="title"/>
          </p:nvPr>
        </p:nvSpPr>
        <p:spPr>
          <a:xfrm>
            <a:off x="0" y="-20538"/>
            <a:ext cx="9144000" cy="637580"/>
          </a:xfrm>
        </p:spPr>
        <p:txBody>
          <a:bodyPr/>
          <a:lstStyle/>
          <a:p>
            <a:pPr algn="ctr"/>
            <a:r>
              <a:rPr lang="en-US" altLang="zh-CN" dirty="0"/>
              <a:t>Relation with Transitive Dependency</a:t>
            </a:r>
            <a:endParaRPr lang="zh-CN" altLang="en-US" dirty="0"/>
          </a:p>
        </p:txBody>
      </p:sp>
      <p:pic>
        <p:nvPicPr>
          <p:cNvPr id="6" name="Picture 3" descr="06_24b">
            <a:extLst>
              <a:ext uri="{FF2B5EF4-FFF2-40B4-BE49-F238E27FC236}">
                <a16:creationId xmlns:a16="http://schemas.microsoft.com/office/drawing/2014/main" id="{40716F2E-389B-44E3-83C8-E3141AEB45A4}"/>
              </a:ext>
            </a:extLst>
          </p:cNvPr>
          <p:cNvPicPr>
            <a:picLocks noChangeAspect="1" noChangeArrowheads="1"/>
          </p:cNvPicPr>
          <p:nvPr/>
        </p:nvPicPr>
        <p:blipFill>
          <a:blip r:embed="rId2">
            <a:clrChange>
              <a:clrFrom>
                <a:srgbClr val="DCFAFF"/>
              </a:clrFrom>
              <a:clrTo>
                <a:srgbClr val="DCFAFF">
                  <a:alpha val="0"/>
                </a:srgbClr>
              </a:clrTo>
            </a:clrChange>
            <a:extLst>
              <a:ext uri="{28A0092B-C50C-407E-A947-70E740481C1C}">
                <a14:useLocalDpi xmlns:a14="http://schemas.microsoft.com/office/drawing/2010/main" val="0"/>
              </a:ext>
            </a:extLst>
          </a:blip>
          <a:srcRect/>
          <a:stretch>
            <a:fillRect/>
          </a:stretch>
        </p:blipFill>
        <p:spPr bwMode="auto">
          <a:xfrm>
            <a:off x="1861573" y="1491630"/>
            <a:ext cx="4961629" cy="14686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a:extLst>
              <a:ext uri="{FF2B5EF4-FFF2-40B4-BE49-F238E27FC236}">
                <a16:creationId xmlns:a16="http://schemas.microsoft.com/office/drawing/2014/main" id="{08580278-A6F9-4631-961E-D4F5367A52AC}"/>
              </a:ext>
            </a:extLst>
          </p:cNvPr>
          <p:cNvSpPr txBox="1">
            <a:spLocks noChangeArrowheads="1"/>
          </p:cNvSpPr>
          <p:nvPr/>
        </p:nvSpPr>
        <p:spPr bwMode="auto">
          <a:xfrm>
            <a:off x="1485900" y="3124200"/>
            <a:ext cx="2400016" cy="1246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b="1" dirty="0" err="1">
                <a:solidFill>
                  <a:srgbClr val="0000FF"/>
                </a:solidFill>
                <a:latin typeface="Arial" panose="020B0604020202020204" pitchFamily="34" charset="0"/>
                <a:ea typeface="宋体" panose="02010600030101010101" pitchFamily="2" charset="-122"/>
                <a:cs typeface="Arial" panose="020B0604020202020204" pitchFamily="34" charset="0"/>
              </a:rPr>
              <a:t>Cust_ID</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rPr>
              <a:t> </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Name</a:t>
            </a:r>
          </a:p>
          <a:p>
            <a:pPr defTabSz="685800" eaLnBrk="0" hangingPunct="0">
              <a:spcBef>
                <a:spcPct val="0"/>
              </a:spcBef>
              <a:buClrTx/>
              <a:buSzTx/>
              <a:buNone/>
            </a:pPr>
            <a:r>
              <a:rPr kumimoji="0" lang="en-US" altLang="zh-CN" sz="1500" b="1" dirty="0" err="1">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Cust_ID</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 Salesperson</a:t>
            </a:r>
          </a:p>
          <a:p>
            <a:pPr defTabSz="685800" eaLnBrk="0" hangingPunct="0">
              <a:spcBef>
                <a:spcPct val="0"/>
              </a:spcBef>
              <a:buClrTx/>
              <a:buSzTx/>
              <a:buNone/>
            </a:pPr>
            <a:r>
              <a:rPr kumimoji="0" lang="en-US" altLang="zh-CN" sz="1500" b="1" dirty="0" err="1">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Cust_ID</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 Region</a:t>
            </a:r>
          </a:p>
          <a:p>
            <a:pPr defTabSz="685800" eaLnBrk="0" hangingPunct="0">
              <a:spcBef>
                <a:spcPct val="0"/>
              </a:spcBef>
              <a:buClrTx/>
              <a:buSzTx/>
              <a:buNone/>
            </a:pPr>
            <a:endPar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endParaRPr>
          </a:p>
          <a:p>
            <a:pPr defTabSz="685800" eaLnBrk="0" hangingPunct="0">
              <a:spcBef>
                <a:spcPct val="0"/>
              </a:spcBef>
              <a:buClrTx/>
              <a:buSzTx/>
              <a:buNone/>
            </a:pP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(2</a:t>
            </a:r>
            <a:r>
              <a:rPr kumimoji="0" lang="en-US" altLang="zh-CN" sz="1500" b="1" baseline="30000"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nd</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NF)</a:t>
            </a:r>
            <a:endPar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endParaRPr>
          </a:p>
        </p:txBody>
      </p:sp>
      <p:grpSp>
        <p:nvGrpSpPr>
          <p:cNvPr id="8" name="Group 5">
            <a:extLst>
              <a:ext uri="{FF2B5EF4-FFF2-40B4-BE49-F238E27FC236}">
                <a16:creationId xmlns:a16="http://schemas.microsoft.com/office/drawing/2014/main" id="{F896EBE1-B737-41A6-9BA8-274F4FF03BB4}"/>
              </a:ext>
            </a:extLst>
          </p:cNvPr>
          <p:cNvGrpSpPr>
            <a:grpSpLocks/>
          </p:cNvGrpSpPr>
          <p:nvPr/>
        </p:nvGrpSpPr>
        <p:grpSpPr bwMode="auto">
          <a:xfrm>
            <a:off x="4427984" y="3062197"/>
            <a:ext cx="3371850" cy="1308498"/>
            <a:chOff x="2640" y="2976"/>
            <a:chExt cx="2832" cy="1099"/>
          </a:xfrm>
        </p:grpSpPr>
        <p:sp>
          <p:nvSpPr>
            <p:cNvPr id="9" name="Text Box 6">
              <a:extLst>
                <a:ext uri="{FF2B5EF4-FFF2-40B4-BE49-F238E27FC236}">
                  <a16:creationId xmlns:a16="http://schemas.microsoft.com/office/drawing/2014/main" id="{1EAD7CC2-8127-4D72-A4E5-0DCE54B5837B}"/>
                </a:ext>
              </a:extLst>
            </p:cNvPr>
            <p:cNvSpPr txBox="1">
              <a:spLocks noChangeArrowheads="1"/>
            </p:cNvSpPr>
            <p:nvPr/>
          </p:nvSpPr>
          <p:spPr bwMode="auto">
            <a:xfrm>
              <a:off x="3792" y="2976"/>
              <a:ext cx="488"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b="1">
                  <a:solidFill>
                    <a:srgbClr val="FF3300"/>
                  </a:solidFill>
                  <a:latin typeface="Arial" panose="020B0604020202020204" pitchFamily="34" charset="0"/>
                  <a:ea typeface="宋体" panose="02010600030101010101" pitchFamily="2" charset="-122"/>
                  <a:cs typeface="Arial" panose="020B0604020202020204" pitchFamily="34" charset="0"/>
                </a:rPr>
                <a:t>BUT</a:t>
              </a:r>
            </a:p>
          </p:txBody>
        </p:sp>
        <p:sp>
          <p:nvSpPr>
            <p:cNvPr id="10" name="Text Box 7">
              <a:extLst>
                <a:ext uri="{FF2B5EF4-FFF2-40B4-BE49-F238E27FC236}">
                  <a16:creationId xmlns:a16="http://schemas.microsoft.com/office/drawing/2014/main" id="{39BC96AE-A64B-4F19-AEFB-856F0AACA657}"/>
                </a:ext>
              </a:extLst>
            </p:cNvPr>
            <p:cNvSpPr txBox="1">
              <a:spLocks noChangeArrowheads="1"/>
            </p:cNvSpPr>
            <p:nvPr/>
          </p:nvSpPr>
          <p:spPr bwMode="auto">
            <a:xfrm>
              <a:off x="2640" y="3312"/>
              <a:ext cx="281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b="1">
                  <a:solidFill>
                    <a:srgbClr val="FF0000"/>
                  </a:solidFill>
                  <a:latin typeface="Arial" panose="020B0604020202020204" pitchFamily="34" charset="0"/>
                  <a:ea typeface="宋体" panose="02010600030101010101" pitchFamily="2" charset="-122"/>
                  <a:cs typeface="Arial" panose="020B0604020202020204" pitchFamily="34" charset="0"/>
                </a:rPr>
                <a:t>Cust_ID </a:t>
              </a:r>
              <a:r>
                <a:rPr kumimoji="0" lang="en-US" altLang="zh-CN" sz="1500" b="1">
                  <a:solidFill>
                    <a:srgbClr val="FF0000"/>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Salesperson  Region</a:t>
              </a:r>
              <a:endParaRPr kumimoji="0" lang="en-US" altLang="zh-CN" sz="1500" b="1">
                <a:solidFill>
                  <a:srgbClr val="FF0000"/>
                </a:solidFill>
                <a:latin typeface="Arial" panose="020B0604020202020204" pitchFamily="34" charset="0"/>
                <a:ea typeface="宋体" panose="02010600030101010101" pitchFamily="2" charset="-122"/>
                <a:cs typeface="Arial" panose="020B0604020202020204" pitchFamily="34" charset="0"/>
              </a:endParaRPr>
            </a:p>
          </p:txBody>
        </p:sp>
        <p:sp>
          <p:nvSpPr>
            <p:cNvPr id="11" name="Text Box 8">
              <a:extLst>
                <a:ext uri="{FF2B5EF4-FFF2-40B4-BE49-F238E27FC236}">
                  <a16:creationId xmlns:a16="http://schemas.microsoft.com/office/drawing/2014/main" id="{BF34BC5E-DBE3-4B3A-AA85-4826DA581CCE}"/>
                </a:ext>
              </a:extLst>
            </p:cNvPr>
            <p:cNvSpPr txBox="1">
              <a:spLocks noChangeArrowheads="1"/>
            </p:cNvSpPr>
            <p:nvPr/>
          </p:nvSpPr>
          <p:spPr bwMode="auto">
            <a:xfrm>
              <a:off x="3350" y="3610"/>
              <a:ext cx="2122"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500" b="1" i="1" dirty="0">
                  <a:solidFill>
                    <a:srgbClr val="000000"/>
                  </a:solidFill>
                  <a:latin typeface="Arial" panose="020B0604020202020204" pitchFamily="34" charset="0"/>
                  <a:ea typeface="宋体" panose="02010600030101010101" pitchFamily="2" charset="-122"/>
                  <a:cs typeface="Arial" panose="020B0604020202020204" pitchFamily="34" charset="0"/>
                </a:rPr>
                <a:t>Transitive dependency</a:t>
              </a:r>
            </a:p>
            <a:p>
              <a:pPr defTabSz="685800" eaLnBrk="0" hangingPunct="0">
                <a:spcBef>
                  <a:spcPct val="0"/>
                </a:spcBef>
                <a:buClrTx/>
                <a:buSzTx/>
                <a:buNone/>
              </a:pPr>
              <a:r>
                <a:rPr kumimoji="0" lang="en-US" altLang="zh-CN" sz="1500" b="1" i="1" dirty="0">
                  <a:solidFill>
                    <a:srgbClr val="000000"/>
                  </a:solidFill>
                  <a:latin typeface="Arial" panose="020B0604020202020204" pitchFamily="34" charset="0"/>
                  <a:ea typeface="宋体" panose="02010600030101010101" pitchFamily="2" charset="-122"/>
                  <a:cs typeface="Arial" panose="020B0604020202020204" pitchFamily="34" charset="0"/>
                </a:rPr>
                <a:t>(not 3</a:t>
              </a:r>
              <a:r>
                <a:rPr kumimoji="0" lang="en-US" altLang="zh-CN" sz="1500" b="1" i="1" baseline="30000" dirty="0">
                  <a:solidFill>
                    <a:srgbClr val="000000"/>
                  </a:solidFill>
                  <a:latin typeface="Arial" panose="020B0604020202020204" pitchFamily="34" charset="0"/>
                  <a:ea typeface="宋体" panose="02010600030101010101" pitchFamily="2" charset="-122"/>
                  <a:cs typeface="Arial" panose="020B0604020202020204" pitchFamily="34" charset="0"/>
                </a:rPr>
                <a:t>rd</a:t>
              </a:r>
              <a:r>
                <a:rPr kumimoji="0" lang="en-US" altLang="zh-CN" sz="1500" b="1" i="1" dirty="0">
                  <a:solidFill>
                    <a:srgbClr val="000000"/>
                  </a:solidFill>
                  <a:latin typeface="Arial" panose="020B0604020202020204" pitchFamily="34" charset="0"/>
                  <a:ea typeface="宋体" panose="02010600030101010101" pitchFamily="2" charset="-122"/>
                  <a:cs typeface="Arial" panose="020B0604020202020204" pitchFamily="34" charset="0"/>
                </a:rPr>
                <a:t> NF)</a:t>
              </a:r>
            </a:p>
          </p:txBody>
        </p:sp>
      </p:grpSp>
    </p:spTree>
    <p:extLst>
      <p:ext uri="{BB962C8B-B14F-4D97-AF65-F5344CB8AC3E}">
        <p14:creationId xmlns:p14="http://schemas.microsoft.com/office/powerpoint/2010/main" val="921568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A037D0-D54F-4007-B87A-5DCE5E2DE881}"/>
              </a:ext>
            </a:extLst>
          </p:cNvPr>
          <p:cNvSpPr>
            <a:spLocks noGrp="1"/>
          </p:cNvSpPr>
          <p:nvPr>
            <p:ph type="title"/>
          </p:nvPr>
        </p:nvSpPr>
        <p:spPr>
          <a:xfrm>
            <a:off x="0" y="-20538"/>
            <a:ext cx="9144000" cy="637580"/>
          </a:xfrm>
        </p:spPr>
        <p:txBody>
          <a:bodyPr/>
          <a:lstStyle/>
          <a:p>
            <a:pPr algn="ctr"/>
            <a:r>
              <a:rPr lang="en-US" altLang="zh-CN" dirty="0"/>
              <a:t>Relation with Transitive Dependency</a:t>
            </a:r>
            <a:endParaRPr lang="zh-CN" altLang="en-US" dirty="0"/>
          </a:p>
        </p:txBody>
      </p:sp>
      <p:sp>
        <p:nvSpPr>
          <p:cNvPr id="5" name="文本框 4">
            <a:extLst>
              <a:ext uri="{FF2B5EF4-FFF2-40B4-BE49-F238E27FC236}">
                <a16:creationId xmlns:a16="http://schemas.microsoft.com/office/drawing/2014/main" id="{374B55E8-6901-4F0D-A124-6689E9546E6C}"/>
              </a:ext>
            </a:extLst>
          </p:cNvPr>
          <p:cNvSpPr txBox="1"/>
          <p:nvPr/>
        </p:nvSpPr>
        <p:spPr>
          <a:xfrm>
            <a:off x="2483768" y="4257595"/>
            <a:ext cx="4536504" cy="400110"/>
          </a:xfrm>
          <a:prstGeom prst="rect">
            <a:avLst/>
          </a:prstGeom>
          <a:noFill/>
        </p:spPr>
        <p:txBody>
          <a:bodyPr wrap="square" rtlCol="0">
            <a:spAutoFit/>
          </a:bodyPr>
          <a:lstStyle/>
          <a:p>
            <a:pPr algn="ctr"/>
            <a:r>
              <a:rPr lang="en-US" altLang="zh-CN" sz="2000" b="1" dirty="0">
                <a:latin typeface="Arial" panose="020B0604020202020204" pitchFamily="34" charset="0"/>
                <a:cs typeface="Arial" panose="020B0604020202020204" pitchFamily="34" charset="0"/>
              </a:rPr>
              <a:t>Decompose the Sales relation</a:t>
            </a:r>
            <a:endParaRPr lang="zh-CN" altLang="en-US" sz="2000" b="1" dirty="0">
              <a:latin typeface="Arial" panose="020B0604020202020204" pitchFamily="34" charset="0"/>
              <a:cs typeface="Arial" panose="020B0604020202020204" pitchFamily="34" charset="0"/>
            </a:endParaRPr>
          </a:p>
        </p:txBody>
      </p:sp>
      <p:graphicFrame>
        <p:nvGraphicFramePr>
          <p:cNvPr id="7" name="表格 6">
            <a:extLst>
              <a:ext uri="{FF2B5EF4-FFF2-40B4-BE49-F238E27FC236}">
                <a16:creationId xmlns:a16="http://schemas.microsoft.com/office/drawing/2014/main" id="{AAA4A6AB-9C03-4EC2-938D-4C7EE37140AB}"/>
              </a:ext>
            </a:extLst>
          </p:cNvPr>
          <p:cNvGraphicFramePr>
            <a:graphicFrameLocks noGrp="1"/>
          </p:cNvGraphicFramePr>
          <p:nvPr>
            <p:extLst>
              <p:ext uri="{D42A27DB-BD31-4B8C-83A1-F6EECF244321}">
                <p14:modId xmlns:p14="http://schemas.microsoft.com/office/powerpoint/2010/main" val="3285791247"/>
              </p:ext>
            </p:extLst>
          </p:nvPr>
        </p:nvGraphicFramePr>
        <p:xfrm>
          <a:off x="249839" y="1069683"/>
          <a:ext cx="4970232" cy="2346960"/>
        </p:xfrm>
        <a:graphic>
          <a:graphicData uri="http://schemas.openxmlformats.org/drawingml/2006/table">
            <a:tbl>
              <a:tblPr firstRow="1" bandRow="1">
                <a:tableStyleId>{5940675A-B579-460E-94D1-54222C63F5DA}</a:tableStyleId>
              </a:tblPr>
              <a:tblGrid>
                <a:gridCol w="1656744">
                  <a:extLst>
                    <a:ext uri="{9D8B030D-6E8A-4147-A177-3AD203B41FA5}">
                      <a16:colId xmlns:a16="http://schemas.microsoft.com/office/drawing/2014/main" val="1941045606"/>
                    </a:ext>
                  </a:extLst>
                </a:gridCol>
                <a:gridCol w="1656744">
                  <a:extLst>
                    <a:ext uri="{9D8B030D-6E8A-4147-A177-3AD203B41FA5}">
                      <a16:colId xmlns:a16="http://schemas.microsoft.com/office/drawing/2014/main" val="1732541583"/>
                    </a:ext>
                  </a:extLst>
                </a:gridCol>
                <a:gridCol w="1656744">
                  <a:extLst>
                    <a:ext uri="{9D8B030D-6E8A-4147-A177-3AD203B41FA5}">
                      <a16:colId xmlns:a16="http://schemas.microsoft.com/office/drawing/2014/main" val="1049506678"/>
                    </a:ext>
                  </a:extLst>
                </a:gridCol>
              </a:tblGrid>
              <a:tr h="317450">
                <a:tc>
                  <a:txBody>
                    <a:bodyPr/>
                    <a:lstStyle/>
                    <a:p>
                      <a:r>
                        <a:rPr lang="en-US" altLang="zh-CN" sz="1600" b="1" dirty="0" err="1"/>
                        <a:t>Cust_ID</a:t>
                      </a:r>
                      <a:endParaRPr lang="zh-CN" altLang="en-US" sz="1600" b="1" dirty="0"/>
                    </a:p>
                  </a:txBody>
                  <a:tcPr>
                    <a:solidFill>
                      <a:schemeClr val="bg2">
                        <a:lumMod val="90000"/>
                      </a:schemeClr>
                    </a:solidFill>
                  </a:tcPr>
                </a:tc>
                <a:tc>
                  <a:txBody>
                    <a:bodyPr/>
                    <a:lstStyle/>
                    <a:p>
                      <a:r>
                        <a:rPr lang="en-US" altLang="zh-CN" sz="1600" b="1" dirty="0"/>
                        <a:t>Name</a:t>
                      </a:r>
                      <a:endParaRPr lang="zh-CN" altLang="en-US" sz="1600" b="1" dirty="0"/>
                    </a:p>
                  </a:txBody>
                  <a:tcPr>
                    <a:solidFill>
                      <a:schemeClr val="bg2">
                        <a:lumMod val="90000"/>
                      </a:schemeClr>
                    </a:solidFill>
                  </a:tcPr>
                </a:tc>
                <a:tc>
                  <a:txBody>
                    <a:bodyPr/>
                    <a:lstStyle/>
                    <a:p>
                      <a:r>
                        <a:rPr lang="en-US" altLang="zh-CN" sz="1600" b="1" dirty="0"/>
                        <a:t>Salesperson</a:t>
                      </a:r>
                      <a:endParaRPr lang="zh-CN" altLang="en-US" sz="1600" b="1" dirty="0"/>
                    </a:p>
                  </a:txBody>
                  <a:tcPr>
                    <a:solidFill>
                      <a:schemeClr val="bg2">
                        <a:lumMod val="90000"/>
                      </a:schemeClr>
                    </a:solidFill>
                  </a:tcPr>
                </a:tc>
                <a:extLst>
                  <a:ext uri="{0D108BD9-81ED-4DB2-BD59-A6C34878D82A}">
                    <a16:rowId xmlns:a16="http://schemas.microsoft.com/office/drawing/2014/main" val="3445078011"/>
                  </a:ext>
                </a:extLst>
              </a:tr>
              <a:tr h="317450">
                <a:tc>
                  <a:txBody>
                    <a:bodyPr/>
                    <a:lstStyle/>
                    <a:p>
                      <a:r>
                        <a:rPr lang="en-US" altLang="zh-CN" sz="1600" dirty="0"/>
                        <a:t>8023</a:t>
                      </a:r>
                      <a:endParaRPr lang="zh-CN" altLang="en-US" sz="1600" dirty="0"/>
                    </a:p>
                  </a:txBody>
                  <a:tcPr/>
                </a:tc>
                <a:tc>
                  <a:txBody>
                    <a:bodyPr/>
                    <a:lstStyle/>
                    <a:p>
                      <a:r>
                        <a:rPr lang="en-US" altLang="zh-CN" sz="1600" dirty="0"/>
                        <a:t>Anderson</a:t>
                      </a:r>
                      <a:endParaRPr lang="zh-CN" altLang="en-US" sz="1600" dirty="0"/>
                    </a:p>
                  </a:txBody>
                  <a:tcPr/>
                </a:tc>
                <a:tc>
                  <a:txBody>
                    <a:bodyPr/>
                    <a:lstStyle/>
                    <a:p>
                      <a:r>
                        <a:rPr lang="en-US" altLang="zh-CN" sz="1600" dirty="0"/>
                        <a:t>Smith</a:t>
                      </a:r>
                      <a:endParaRPr lang="zh-CN" altLang="en-US" sz="1600" dirty="0"/>
                    </a:p>
                  </a:txBody>
                  <a:tcPr/>
                </a:tc>
                <a:extLst>
                  <a:ext uri="{0D108BD9-81ED-4DB2-BD59-A6C34878D82A}">
                    <a16:rowId xmlns:a16="http://schemas.microsoft.com/office/drawing/2014/main" val="2761381302"/>
                  </a:ext>
                </a:extLst>
              </a:tr>
              <a:tr h="317450">
                <a:tc>
                  <a:txBody>
                    <a:bodyPr/>
                    <a:lstStyle/>
                    <a:p>
                      <a:r>
                        <a:rPr lang="en-US" altLang="zh-CN" sz="1600" dirty="0"/>
                        <a:t>9167</a:t>
                      </a:r>
                      <a:endParaRPr lang="zh-CN" altLang="en-US" sz="1600" dirty="0"/>
                    </a:p>
                  </a:txBody>
                  <a:tcPr/>
                </a:tc>
                <a:tc>
                  <a:txBody>
                    <a:bodyPr/>
                    <a:lstStyle/>
                    <a:p>
                      <a:r>
                        <a:rPr lang="en-US" altLang="zh-CN" sz="1600" dirty="0"/>
                        <a:t>Bancroft</a:t>
                      </a:r>
                      <a:endParaRPr lang="zh-CN" altLang="en-US" sz="1600" dirty="0"/>
                    </a:p>
                  </a:txBody>
                  <a:tcPr/>
                </a:tc>
                <a:tc>
                  <a:txBody>
                    <a:bodyPr/>
                    <a:lstStyle/>
                    <a:p>
                      <a:r>
                        <a:rPr lang="en-US" altLang="zh-CN" sz="1600" dirty="0"/>
                        <a:t>Hicks</a:t>
                      </a:r>
                      <a:endParaRPr lang="zh-CN" altLang="en-US" sz="1600" dirty="0"/>
                    </a:p>
                  </a:txBody>
                  <a:tcPr/>
                </a:tc>
                <a:extLst>
                  <a:ext uri="{0D108BD9-81ED-4DB2-BD59-A6C34878D82A}">
                    <a16:rowId xmlns:a16="http://schemas.microsoft.com/office/drawing/2014/main" val="960160432"/>
                  </a:ext>
                </a:extLst>
              </a:tr>
              <a:tr h="317450">
                <a:tc>
                  <a:txBody>
                    <a:bodyPr/>
                    <a:lstStyle/>
                    <a:p>
                      <a:r>
                        <a:rPr lang="en-US" altLang="zh-CN" sz="1600" dirty="0"/>
                        <a:t>7924</a:t>
                      </a:r>
                      <a:endParaRPr lang="zh-CN" altLang="en-US" sz="1600" dirty="0"/>
                    </a:p>
                  </a:txBody>
                  <a:tcPr/>
                </a:tc>
                <a:tc>
                  <a:txBody>
                    <a:bodyPr/>
                    <a:lstStyle/>
                    <a:p>
                      <a:r>
                        <a:rPr lang="en-US" altLang="zh-CN" sz="1600" dirty="0"/>
                        <a:t>Hobbs</a:t>
                      </a:r>
                      <a:endParaRPr lang="zh-CN" altLang="en-US" sz="1600" dirty="0"/>
                    </a:p>
                  </a:txBody>
                  <a:tcPr/>
                </a:tc>
                <a:tc>
                  <a:txBody>
                    <a:bodyPr/>
                    <a:lstStyle/>
                    <a:p>
                      <a:r>
                        <a:rPr lang="en-US" altLang="zh-CN" sz="1600" dirty="0"/>
                        <a:t>Smith</a:t>
                      </a:r>
                      <a:endParaRPr lang="zh-CN" altLang="en-US" sz="1600" dirty="0"/>
                    </a:p>
                  </a:txBody>
                  <a:tcPr/>
                </a:tc>
                <a:extLst>
                  <a:ext uri="{0D108BD9-81ED-4DB2-BD59-A6C34878D82A}">
                    <a16:rowId xmlns:a16="http://schemas.microsoft.com/office/drawing/2014/main" val="2180425771"/>
                  </a:ext>
                </a:extLst>
              </a:tr>
              <a:tr h="317450">
                <a:tc>
                  <a:txBody>
                    <a:bodyPr/>
                    <a:lstStyle/>
                    <a:p>
                      <a:r>
                        <a:rPr lang="en-US" altLang="zh-CN" sz="1600" dirty="0"/>
                        <a:t>6837</a:t>
                      </a:r>
                      <a:endParaRPr lang="zh-CN" altLang="en-US" sz="1600" dirty="0"/>
                    </a:p>
                  </a:txBody>
                  <a:tcPr/>
                </a:tc>
                <a:tc>
                  <a:txBody>
                    <a:bodyPr/>
                    <a:lstStyle/>
                    <a:p>
                      <a:r>
                        <a:rPr lang="en-US" altLang="zh-CN" sz="1600" dirty="0"/>
                        <a:t>Tucker</a:t>
                      </a:r>
                      <a:endParaRPr lang="zh-CN" altLang="en-US" sz="1600" dirty="0"/>
                    </a:p>
                  </a:txBody>
                  <a:tcPr/>
                </a:tc>
                <a:tc>
                  <a:txBody>
                    <a:bodyPr/>
                    <a:lstStyle/>
                    <a:p>
                      <a:r>
                        <a:rPr lang="en-US" altLang="zh-CN" sz="1600" dirty="0"/>
                        <a:t>Hernandez</a:t>
                      </a:r>
                      <a:endParaRPr lang="zh-CN" altLang="en-US" sz="1600" dirty="0"/>
                    </a:p>
                  </a:txBody>
                  <a:tcPr/>
                </a:tc>
                <a:extLst>
                  <a:ext uri="{0D108BD9-81ED-4DB2-BD59-A6C34878D82A}">
                    <a16:rowId xmlns:a16="http://schemas.microsoft.com/office/drawing/2014/main" val="1542799290"/>
                  </a:ext>
                </a:extLst>
              </a:tr>
              <a:tr h="317450">
                <a:tc>
                  <a:txBody>
                    <a:bodyPr/>
                    <a:lstStyle/>
                    <a:p>
                      <a:r>
                        <a:rPr lang="en-US" altLang="zh-CN" sz="1600" dirty="0"/>
                        <a:t>8596</a:t>
                      </a:r>
                      <a:endParaRPr lang="zh-CN" altLang="en-US" sz="1600" dirty="0"/>
                    </a:p>
                  </a:txBody>
                  <a:tcPr/>
                </a:tc>
                <a:tc>
                  <a:txBody>
                    <a:bodyPr/>
                    <a:lstStyle/>
                    <a:p>
                      <a:r>
                        <a:rPr lang="en-US" altLang="zh-CN" sz="1600" dirty="0"/>
                        <a:t>Eckersley</a:t>
                      </a:r>
                      <a:endParaRPr lang="zh-CN" altLang="en-US" sz="1600" dirty="0"/>
                    </a:p>
                  </a:txBody>
                  <a:tcPr/>
                </a:tc>
                <a:tc>
                  <a:txBody>
                    <a:bodyPr/>
                    <a:lstStyle/>
                    <a:p>
                      <a:r>
                        <a:rPr lang="en-US" altLang="zh-CN" sz="1600" dirty="0"/>
                        <a:t>Hicks</a:t>
                      </a:r>
                      <a:endParaRPr lang="zh-CN" altLang="en-US" sz="1600" dirty="0"/>
                    </a:p>
                  </a:txBody>
                  <a:tcPr/>
                </a:tc>
                <a:extLst>
                  <a:ext uri="{0D108BD9-81ED-4DB2-BD59-A6C34878D82A}">
                    <a16:rowId xmlns:a16="http://schemas.microsoft.com/office/drawing/2014/main" val="1091229736"/>
                  </a:ext>
                </a:extLst>
              </a:tr>
              <a:tr h="317450">
                <a:tc>
                  <a:txBody>
                    <a:bodyPr/>
                    <a:lstStyle/>
                    <a:p>
                      <a:r>
                        <a:rPr lang="en-US" altLang="zh-CN" sz="1600" dirty="0"/>
                        <a:t>7018</a:t>
                      </a:r>
                      <a:endParaRPr lang="zh-CN" altLang="en-US" sz="1600" dirty="0"/>
                    </a:p>
                  </a:txBody>
                  <a:tcPr/>
                </a:tc>
                <a:tc>
                  <a:txBody>
                    <a:bodyPr/>
                    <a:lstStyle/>
                    <a:p>
                      <a:r>
                        <a:rPr lang="en-US" altLang="zh-CN" sz="1600" dirty="0"/>
                        <a:t>Arnold</a:t>
                      </a:r>
                      <a:endParaRPr lang="zh-CN" altLang="en-US" sz="1600" dirty="0"/>
                    </a:p>
                  </a:txBody>
                  <a:tcPr/>
                </a:tc>
                <a:tc>
                  <a:txBody>
                    <a:bodyPr/>
                    <a:lstStyle/>
                    <a:p>
                      <a:r>
                        <a:rPr lang="en-US" altLang="zh-CN" sz="1600" dirty="0" err="1"/>
                        <a:t>Faulb</a:t>
                      </a:r>
                      <a:endParaRPr lang="zh-CN" altLang="en-US" sz="1600" dirty="0"/>
                    </a:p>
                  </a:txBody>
                  <a:tcPr/>
                </a:tc>
                <a:extLst>
                  <a:ext uri="{0D108BD9-81ED-4DB2-BD59-A6C34878D82A}">
                    <a16:rowId xmlns:a16="http://schemas.microsoft.com/office/drawing/2014/main" val="3375483458"/>
                  </a:ext>
                </a:extLst>
              </a:tr>
            </a:tbl>
          </a:graphicData>
        </a:graphic>
      </p:graphicFrame>
      <p:graphicFrame>
        <p:nvGraphicFramePr>
          <p:cNvPr id="8" name="表格 7">
            <a:extLst>
              <a:ext uri="{FF2B5EF4-FFF2-40B4-BE49-F238E27FC236}">
                <a16:creationId xmlns:a16="http://schemas.microsoft.com/office/drawing/2014/main" id="{5874A11D-1FAF-4E42-A11C-26BF5779C0C7}"/>
              </a:ext>
            </a:extLst>
          </p:cNvPr>
          <p:cNvGraphicFramePr>
            <a:graphicFrameLocks noGrp="1"/>
          </p:cNvGraphicFramePr>
          <p:nvPr>
            <p:extLst>
              <p:ext uri="{D42A27DB-BD31-4B8C-83A1-F6EECF244321}">
                <p14:modId xmlns:p14="http://schemas.microsoft.com/office/powerpoint/2010/main" val="2390380763"/>
              </p:ext>
            </p:extLst>
          </p:nvPr>
        </p:nvGraphicFramePr>
        <p:xfrm>
          <a:off x="5868143" y="1507773"/>
          <a:ext cx="3026018" cy="1676400"/>
        </p:xfrm>
        <a:graphic>
          <a:graphicData uri="http://schemas.openxmlformats.org/drawingml/2006/table">
            <a:tbl>
              <a:tblPr firstRow="1" bandRow="1">
                <a:tableStyleId>{5940675A-B579-460E-94D1-54222C63F5DA}</a:tableStyleId>
              </a:tblPr>
              <a:tblGrid>
                <a:gridCol w="1513009">
                  <a:extLst>
                    <a:ext uri="{9D8B030D-6E8A-4147-A177-3AD203B41FA5}">
                      <a16:colId xmlns:a16="http://schemas.microsoft.com/office/drawing/2014/main" val="1049506678"/>
                    </a:ext>
                  </a:extLst>
                </a:gridCol>
                <a:gridCol w="1513009">
                  <a:extLst>
                    <a:ext uri="{9D8B030D-6E8A-4147-A177-3AD203B41FA5}">
                      <a16:colId xmlns:a16="http://schemas.microsoft.com/office/drawing/2014/main" val="202538371"/>
                    </a:ext>
                  </a:extLst>
                </a:gridCol>
              </a:tblGrid>
              <a:tr h="314815">
                <a:tc>
                  <a:txBody>
                    <a:bodyPr/>
                    <a:lstStyle/>
                    <a:p>
                      <a:r>
                        <a:rPr lang="en-US" altLang="zh-CN" sz="1600" b="1" dirty="0"/>
                        <a:t>Salesperson</a:t>
                      </a:r>
                      <a:endParaRPr lang="zh-CN" altLang="en-US" sz="1600" b="1" dirty="0"/>
                    </a:p>
                  </a:txBody>
                  <a:tcPr>
                    <a:solidFill>
                      <a:schemeClr val="bg2">
                        <a:lumMod val="90000"/>
                      </a:schemeClr>
                    </a:solidFill>
                  </a:tcPr>
                </a:tc>
                <a:tc>
                  <a:txBody>
                    <a:bodyPr/>
                    <a:lstStyle/>
                    <a:p>
                      <a:r>
                        <a:rPr lang="en-US" altLang="zh-CN" sz="1600" b="1" dirty="0"/>
                        <a:t>Region</a:t>
                      </a:r>
                      <a:endParaRPr lang="zh-CN" altLang="en-US" sz="1600" b="1" dirty="0"/>
                    </a:p>
                  </a:txBody>
                  <a:tcPr>
                    <a:solidFill>
                      <a:schemeClr val="bg2">
                        <a:lumMod val="90000"/>
                      </a:schemeClr>
                    </a:solidFill>
                  </a:tcPr>
                </a:tc>
                <a:extLst>
                  <a:ext uri="{0D108BD9-81ED-4DB2-BD59-A6C34878D82A}">
                    <a16:rowId xmlns:a16="http://schemas.microsoft.com/office/drawing/2014/main" val="3445078011"/>
                  </a:ext>
                </a:extLst>
              </a:tr>
              <a:tr h="314815">
                <a:tc>
                  <a:txBody>
                    <a:bodyPr/>
                    <a:lstStyle/>
                    <a:p>
                      <a:r>
                        <a:rPr lang="en-US" altLang="zh-CN" sz="1600" dirty="0"/>
                        <a:t>Smith</a:t>
                      </a:r>
                      <a:endParaRPr lang="zh-CN" altLang="en-US" sz="1600" dirty="0"/>
                    </a:p>
                  </a:txBody>
                  <a:tcPr/>
                </a:tc>
                <a:tc>
                  <a:txBody>
                    <a:bodyPr/>
                    <a:lstStyle/>
                    <a:p>
                      <a:r>
                        <a:rPr lang="en-US" altLang="zh-CN" sz="1600" dirty="0"/>
                        <a:t>South</a:t>
                      </a:r>
                      <a:endParaRPr lang="zh-CN" altLang="en-US" sz="1600" dirty="0"/>
                    </a:p>
                  </a:txBody>
                  <a:tcPr/>
                </a:tc>
                <a:extLst>
                  <a:ext uri="{0D108BD9-81ED-4DB2-BD59-A6C34878D82A}">
                    <a16:rowId xmlns:a16="http://schemas.microsoft.com/office/drawing/2014/main" val="2761381302"/>
                  </a:ext>
                </a:extLst>
              </a:tr>
              <a:tr h="314815">
                <a:tc>
                  <a:txBody>
                    <a:bodyPr/>
                    <a:lstStyle/>
                    <a:p>
                      <a:r>
                        <a:rPr lang="en-US" altLang="zh-CN" sz="1600" dirty="0"/>
                        <a:t>Hicks</a:t>
                      </a:r>
                      <a:endParaRPr lang="zh-CN" altLang="en-US" sz="1600" dirty="0"/>
                    </a:p>
                  </a:txBody>
                  <a:tcPr/>
                </a:tc>
                <a:tc>
                  <a:txBody>
                    <a:bodyPr/>
                    <a:lstStyle/>
                    <a:p>
                      <a:r>
                        <a:rPr lang="en-US" altLang="zh-CN" sz="1600" dirty="0"/>
                        <a:t>West</a:t>
                      </a:r>
                      <a:endParaRPr lang="zh-CN" altLang="en-US" sz="1600" dirty="0"/>
                    </a:p>
                  </a:txBody>
                  <a:tcPr/>
                </a:tc>
                <a:extLst>
                  <a:ext uri="{0D108BD9-81ED-4DB2-BD59-A6C34878D82A}">
                    <a16:rowId xmlns:a16="http://schemas.microsoft.com/office/drawing/2014/main" val="960160432"/>
                  </a:ext>
                </a:extLst>
              </a:tr>
              <a:tr h="314815">
                <a:tc>
                  <a:txBody>
                    <a:bodyPr/>
                    <a:lstStyle/>
                    <a:p>
                      <a:r>
                        <a:rPr lang="en-US" altLang="zh-CN" sz="1600" dirty="0"/>
                        <a:t>Hernandez</a:t>
                      </a:r>
                      <a:endParaRPr lang="zh-CN" altLang="en-US" sz="1600" dirty="0"/>
                    </a:p>
                  </a:txBody>
                  <a:tcPr/>
                </a:tc>
                <a:tc>
                  <a:txBody>
                    <a:bodyPr/>
                    <a:lstStyle/>
                    <a:p>
                      <a:r>
                        <a:rPr lang="en-US" altLang="zh-CN" sz="1600" dirty="0"/>
                        <a:t>East</a:t>
                      </a:r>
                      <a:endParaRPr lang="zh-CN" altLang="en-US" sz="1600" dirty="0"/>
                    </a:p>
                  </a:txBody>
                  <a:tcPr/>
                </a:tc>
                <a:extLst>
                  <a:ext uri="{0D108BD9-81ED-4DB2-BD59-A6C34878D82A}">
                    <a16:rowId xmlns:a16="http://schemas.microsoft.com/office/drawing/2014/main" val="1542799290"/>
                  </a:ext>
                </a:extLst>
              </a:tr>
              <a:tr h="314815">
                <a:tc>
                  <a:txBody>
                    <a:bodyPr/>
                    <a:lstStyle/>
                    <a:p>
                      <a:r>
                        <a:rPr lang="en-US" altLang="zh-CN" sz="1600" dirty="0" err="1"/>
                        <a:t>Faulb</a:t>
                      </a:r>
                      <a:endParaRPr lang="zh-CN" altLang="en-US" sz="1600" dirty="0"/>
                    </a:p>
                  </a:txBody>
                  <a:tcPr/>
                </a:tc>
                <a:tc>
                  <a:txBody>
                    <a:bodyPr/>
                    <a:lstStyle/>
                    <a:p>
                      <a:r>
                        <a:rPr lang="en-US" altLang="zh-CN" sz="1600" dirty="0"/>
                        <a:t>North</a:t>
                      </a:r>
                      <a:endParaRPr lang="zh-CN" altLang="en-US" sz="1600" dirty="0"/>
                    </a:p>
                  </a:txBody>
                  <a:tcPr/>
                </a:tc>
                <a:extLst>
                  <a:ext uri="{0D108BD9-81ED-4DB2-BD59-A6C34878D82A}">
                    <a16:rowId xmlns:a16="http://schemas.microsoft.com/office/drawing/2014/main" val="3375483458"/>
                  </a:ext>
                </a:extLst>
              </a:tr>
            </a:tbl>
          </a:graphicData>
        </a:graphic>
      </p:graphicFrame>
      <p:sp>
        <p:nvSpPr>
          <p:cNvPr id="3" name="文本框 2">
            <a:extLst>
              <a:ext uri="{FF2B5EF4-FFF2-40B4-BE49-F238E27FC236}">
                <a16:creationId xmlns:a16="http://schemas.microsoft.com/office/drawing/2014/main" id="{C18C4F50-D0CB-4E09-A2B3-2AA19B234804}"/>
              </a:ext>
            </a:extLst>
          </p:cNvPr>
          <p:cNvSpPr txBox="1"/>
          <p:nvPr/>
        </p:nvSpPr>
        <p:spPr>
          <a:xfrm>
            <a:off x="1763688" y="3575837"/>
            <a:ext cx="1728192" cy="369332"/>
          </a:xfrm>
          <a:prstGeom prst="rect">
            <a:avLst/>
          </a:prstGeom>
          <a:noFill/>
        </p:spPr>
        <p:txBody>
          <a:bodyPr wrap="square" rtlCol="0">
            <a:spAutoFit/>
          </a:bodyPr>
          <a:lstStyle/>
          <a:p>
            <a:pPr algn="ctr"/>
            <a:r>
              <a:rPr lang="en-US" altLang="zh-CN" sz="1800" dirty="0" err="1">
                <a:latin typeface="Arial" panose="020B0604020202020204" pitchFamily="34" charset="0"/>
                <a:cs typeface="Arial" panose="020B0604020202020204" pitchFamily="34" charset="0"/>
              </a:rPr>
              <a:t>Sales_new</a:t>
            </a:r>
            <a:endParaRPr lang="zh-CN" altLang="en-US" sz="18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BF5B7CBD-E134-49EB-860B-B6E5CDCA05C4}"/>
              </a:ext>
            </a:extLst>
          </p:cNvPr>
          <p:cNvSpPr txBox="1"/>
          <p:nvPr/>
        </p:nvSpPr>
        <p:spPr>
          <a:xfrm>
            <a:off x="6444208" y="3575837"/>
            <a:ext cx="1728192" cy="369332"/>
          </a:xfrm>
          <a:prstGeom prst="rect">
            <a:avLst/>
          </a:prstGeom>
          <a:noFill/>
        </p:spPr>
        <p:txBody>
          <a:bodyPr wrap="square" rtlCol="0">
            <a:spAutoFit/>
          </a:bodyPr>
          <a:lstStyle/>
          <a:p>
            <a:pPr algn="ctr"/>
            <a:r>
              <a:rPr lang="en-US" altLang="zh-CN" sz="1800" dirty="0">
                <a:latin typeface="Arial" panose="020B0604020202020204" pitchFamily="34" charset="0"/>
                <a:cs typeface="Arial" panose="020B0604020202020204" pitchFamily="34" charset="0"/>
              </a:rPr>
              <a:t>Salesperson</a:t>
            </a:r>
            <a:endParaRPr lang="zh-CN" alt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95300934"/>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B9DB3F-B115-45ED-ADD2-7377EDB64052}"/>
              </a:ext>
            </a:extLst>
          </p:cNvPr>
          <p:cNvSpPr>
            <a:spLocks noGrp="1"/>
          </p:cNvSpPr>
          <p:nvPr>
            <p:ph type="title"/>
          </p:nvPr>
        </p:nvSpPr>
        <p:spPr/>
        <p:txBody>
          <a:bodyPr/>
          <a:lstStyle/>
          <a:p>
            <a:pPr algn="ctr"/>
            <a:r>
              <a:rPr lang="en-US" altLang="zh-CN" dirty="0"/>
              <a:t>Relations in 3NF</a:t>
            </a:r>
            <a:endParaRPr lang="zh-CN" altLang="en-US" dirty="0"/>
          </a:p>
        </p:txBody>
      </p:sp>
      <p:pic>
        <p:nvPicPr>
          <p:cNvPr id="6" name="Picture 2" descr="06_25b">
            <a:extLst>
              <a:ext uri="{FF2B5EF4-FFF2-40B4-BE49-F238E27FC236}">
                <a16:creationId xmlns:a16="http://schemas.microsoft.com/office/drawing/2014/main" id="{9AF231DB-1D26-4487-B576-08DFE4BAD178}"/>
              </a:ext>
            </a:extLst>
          </p:cNvPr>
          <p:cNvPicPr>
            <a:picLocks noChangeAspect="1" noChangeArrowheads="1"/>
          </p:cNvPicPr>
          <p:nvPr/>
        </p:nvPicPr>
        <p:blipFill>
          <a:blip r:embed="rId2">
            <a:clrChange>
              <a:clrFrom>
                <a:srgbClr val="DAF8FF"/>
              </a:clrFrom>
              <a:clrTo>
                <a:srgbClr val="DAF8FF">
                  <a:alpha val="0"/>
                </a:srgbClr>
              </a:clrTo>
            </a:clrChange>
            <a:extLst>
              <a:ext uri="{28A0092B-C50C-407E-A947-70E740481C1C}">
                <a14:useLocalDpi xmlns:a14="http://schemas.microsoft.com/office/drawing/2010/main" val="0"/>
              </a:ext>
            </a:extLst>
          </a:blip>
          <a:srcRect/>
          <a:stretch>
            <a:fillRect/>
          </a:stretch>
        </p:blipFill>
        <p:spPr bwMode="auto">
          <a:xfrm>
            <a:off x="1691680" y="787778"/>
            <a:ext cx="5221188" cy="2231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a:extLst>
              <a:ext uri="{FF2B5EF4-FFF2-40B4-BE49-F238E27FC236}">
                <a16:creationId xmlns:a16="http://schemas.microsoft.com/office/drawing/2014/main" id="{566B726E-A66E-4E41-99D5-FC872AD0A4DE}"/>
              </a:ext>
            </a:extLst>
          </p:cNvPr>
          <p:cNvSpPr txBox="1">
            <a:spLocks noChangeArrowheads="1"/>
          </p:cNvSpPr>
          <p:nvPr/>
        </p:nvSpPr>
        <p:spPr bwMode="auto">
          <a:xfrm>
            <a:off x="1885951" y="3943350"/>
            <a:ext cx="5559535"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950" b="1" dirty="0">
                <a:solidFill>
                  <a:srgbClr val="CC3300"/>
                </a:solidFill>
                <a:latin typeface="Arial" panose="020B0604020202020204" pitchFamily="34" charset="0"/>
                <a:ea typeface="宋体" panose="02010600030101010101" pitchFamily="2" charset="-122"/>
                <a:cs typeface="Arial" panose="020B0604020202020204" pitchFamily="34" charset="0"/>
              </a:rPr>
              <a:t>Now, there are no transitive dependencies…</a:t>
            </a:r>
          </a:p>
          <a:p>
            <a:pPr defTabSz="685800" eaLnBrk="0" hangingPunct="0">
              <a:spcBef>
                <a:spcPct val="0"/>
              </a:spcBef>
              <a:buClrTx/>
              <a:buSzTx/>
              <a:buNone/>
            </a:pPr>
            <a:r>
              <a:rPr kumimoji="0" lang="en-US" altLang="zh-CN" sz="1950" b="1" dirty="0">
                <a:solidFill>
                  <a:srgbClr val="CC3300"/>
                </a:solidFill>
                <a:latin typeface="Arial" panose="020B0604020202020204" pitchFamily="34" charset="0"/>
                <a:ea typeface="宋体" panose="02010600030101010101" pitchFamily="2" charset="-122"/>
                <a:cs typeface="Arial" panose="020B0604020202020204" pitchFamily="34" charset="0"/>
              </a:rPr>
              <a:t>Both relations are in 3NF</a:t>
            </a:r>
          </a:p>
        </p:txBody>
      </p:sp>
      <p:sp>
        <p:nvSpPr>
          <p:cNvPr id="8" name="Rectangle 5">
            <a:extLst>
              <a:ext uri="{FF2B5EF4-FFF2-40B4-BE49-F238E27FC236}">
                <a16:creationId xmlns:a16="http://schemas.microsoft.com/office/drawing/2014/main" id="{7284D3F3-8810-421A-BADC-6EEB8712DC3B}"/>
              </a:ext>
            </a:extLst>
          </p:cNvPr>
          <p:cNvSpPr>
            <a:spLocks noChangeArrowheads="1"/>
          </p:cNvSpPr>
          <p:nvPr/>
        </p:nvSpPr>
        <p:spPr bwMode="auto">
          <a:xfrm>
            <a:off x="4697975" y="3103200"/>
            <a:ext cx="2628900" cy="669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50000"/>
              </a:spcBef>
              <a:buClrTx/>
              <a:buSzTx/>
              <a:buNone/>
            </a:pPr>
            <a:r>
              <a:rPr kumimoji="0" lang="en-US" altLang="zh-CN" sz="1500" b="1" dirty="0" err="1">
                <a:solidFill>
                  <a:srgbClr val="0000FF"/>
                </a:solidFill>
                <a:latin typeface="Arial" panose="020B0604020202020204" pitchFamily="34" charset="0"/>
                <a:ea typeface="宋体" panose="02010600030101010101" pitchFamily="2" charset="-122"/>
                <a:cs typeface="Arial" panose="020B0604020202020204" pitchFamily="34" charset="0"/>
              </a:rPr>
              <a:t>Cust_ID</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rPr>
              <a:t> </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Name</a:t>
            </a:r>
          </a:p>
          <a:p>
            <a:pPr defTabSz="685800" eaLnBrk="0" hangingPunct="0">
              <a:spcBef>
                <a:spcPct val="50000"/>
              </a:spcBef>
              <a:buClrTx/>
              <a:buSzTx/>
              <a:buNone/>
            </a:pPr>
            <a:r>
              <a:rPr kumimoji="0" lang="en-US" altLang="zh-CN" sz="1500" b="1" dirty="0" err="1">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Cust_ID</a:t>
            </a:r>
            <a:r>
              <a:rPr kumimoji="0" lang="en-US" altLang="zh-CN" sz="1500" b="1" dirty="0">
                <a:solidFill>
                  <a:srgbClr val="0000FF"/>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  Salesperson</a:t>
            </a:r>
          </a:p>
        </p:txBody>
      </p:sp>
      <p:sp>
        <p:nvSpPr>
          <p:cNvPr id="9" name="Rectangle 6">
            <a:extLst>
              <a:ext uri="{FF2B5EF4-FFF2-40B4-BE49-F238E27FC236}">
                <a16:creationId xmlns:a16="http://schemas.microsoft.com/office/drawing/2014/main" id="{2D21ED3C-9DF2-46ED-ADDF-CBE5CE83D344}"/>
              </a:ext>
            </a:extLst>
          </p:cNvPr>
          <p:cNvSpPr>
            <a:spLocks noChangeArrowheads="1"/>
          </p:cNvSpPr>
          <p:nvPr/>
        </p:nvSpPr>
        <p:spPr bwMode="auto">
          <a:xfrm>
            <a:off x="5372100" y="1143000"/>
            <a:ext cx="2332435"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50000"/>
              </a:spcBef>
              <a:buClrTx/>
              <a:buSzTx/>
              <a:buNone/>
            </a:pPr>
            <a:r>
              <a:rPr kumimoji="0" lang="en-US" altLang="zh-CN" sz="1500" b="1">
                <a:solidFill>
                  <a:srgbClr val="FF3300"/>
                </a:solidFill>
                <a:latin typeface="Arial" panose="020B0604020202020204" pitchFamily="34" charset="0"/>
                <a:ea typeface="宋体" panose="02010600030101010101" pitchFamily="2" charset="-122"/>
                <a:cs typeface="Arial" panose="020B0604020202020204" pitchFamily="34" charset="0"/>
                <a:sym typeface="Wingdings" panose="05000000000000000000" pitchFamily="2" charset="2"/>
              </a:rPr>
              <a:t>Salesperson  Region</a:t>
            </a:r>
          </a:p>
        </p:txBody>
      </p:sp>
    </p:spTree>
    <p:extLst>
      <p:ext uri="{BB962C8B-B14F-4D97-AF65-F5344CB8AC3E}">
        <p14:creationId xmlns:p14="http://schemas.microsoft.com/office/powerpoint/2010/main" val="937819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6CF041-86EA-4A61-917E-272B00BBFCCB}"/>
              </a:ext>
            </a:extLst>
          </p:cNvPr>
          <p:cNvSpPr>
            <a:spLocks noGrp="1"/>
          </p:cNvSpPr>
          <p:nvPr>
            <p:ph type="title"/>
          </p:nvPr>
        </p:nvSpPr>
        <p:spPr/>
        <p:txBody>
          <a:bodyPr/>
          <a:lstStyle/>
          <a:p>
            <a:pPr algn="ctr"/>
            <a:r>
              <a:rPr lang="en-US" altLang="zh-CN" dirty="0"/>
              <a:t>Data Normalization</a:t>
            </a:r>
            <a:endParaRPr lang="zh-CN" altLang="en-US" dirty="0"/>
          </a:p>
        </p:txBody>
      </p:sp>
      <p:sp>
        <p:nvSpPr>
          <p:cNvPr id="3" name="内容占位符 2">
            <a:extLst>
              <a:ext uri="{FF2B5EF4-FFF2-40B4-BE49-F238E27FC236}">
                <a16:creationId xmlns:a16="http://schemas.microsoft.com/office/drawing/2014/main" id="{BA734580-9E87-414C-81E1-6C2952A148A2}"/>
              </a:ext>
            </a:extLst>
          </p:cNvPr>
          <p:cNvSpPr>
            <a:spLocks noGrp="1"/>
          </p:cNvSpPr>
          <p:nvPr>
            <p:ph idx="1"/>
          </p:nvPr>
        </p:nvSpPr>
        <p:spPr>
          <a:xfrm>
            <a:off x="179512" y="874747"/>
            <a:ext cx="4392488" cy="3805070"/>
          </a:xfrm>
        </p:spPr>
        <p:txBody>
          <a:bodyPr/>
          <a:lstStyle/>
          <a:p>
            <a:pPr>
              <a:spcBef>
                <a:spcPts val="600"/>
              </a:spcBef>
            </a:pPr>
            <a:r>
              <a:rPr lang="en-US" altLang="zh-CN" sz="2000" b="1" dirty="0"/>
              <a:t>1st Normal Form</a:t>
            </a:r>
          </a:p>
          <a:p>
            <a:pPr lvl="1">
              <a:spcBef>
                <a:spcPts val="600"/>
              </a:spcBef>
            </a:pPr>
            <a:r>
              <a:rPr lang="en-US" altLang="zh-CN" sz="1800" dirty="0"/>
              <a:t>No multivalued attributes, and every attribute value is atomic</a:t>
            </a:r>
          </a:p>
          <a:p>
            <a:pPr lvl="1">
              <a:spcBef>
                <a:spcPts val="600"/>
              </a:spcBef>
            </a:pPr>
            <a:r>
              <a:rPr lang="en-US" altLang="zh-CN" sz="1800" dirty="0"/>
              <a:t>All relations are in 1st Normal Form</a:t>
            </a:r>
          </a:p>
          <a:p>
            <a:pPr>
              <a:spcBef>
                <a:spcPts val="600"/>
              </a:spcBef>
            </a:pPr>
            <a:r>
              <a:rPr lang="en-US" altLang="zh-CN" sz="2000" b="1" dirty="0"/>
              <a:t>2nd Normal Form</a:t>
            </a:r>
          </a:p>
          <a:p>
            <a:pPr lvl="1">
              <a:spcBef>
                <a:spcPts val="600"/>
              </a:spcBef>
            </a:pPr>
            <a:r>
              <a:rPr lang="en-US" altLang="zh-CN" sz="1800" dirty="0"/>
              <a:t>1NF + every non-key attribute is fully functionally dependent on the </a:t>
            </a:r>
            <a:r>
              <a:rPr lang="en-US" altLang="zh-CN" sz="1800" b="1" dirty="0"/>
              <a:t>ENTIRE</a:t>
            </a:r>
            <a:r>
              <a:rPr lang="en-US" altLang="zh-CN" sz="1800" dirty="0"/>
              <a:t> primary key</a:t>
            </a:r>
          </a:p>
          <a:p>
            <a:pPr>
              <a:spcBef>
                <a:spcPts val="600"/>
              </a:spcBef>
            </a:pPr>
            <a:r>
              <a:rPr lang="en-US" altLang="zh-CN" sz="2000" b="1" dirty="0"/>
              <a:t>3rd Normal Form</a:t>
            </a:r>
          </a:p>
          <a:p>
            <a:pPr lvl="1">
              <a:spcBef>
                <a:spcPts val="600"/>
              </a:spcBef>
            </a:pPr>
            <a:r>
              <a:rPr lang="en-US" altLang="zh-CN" sz="1800" dirty="0"/>
              <a:t>2NF + no transitive dependency</a:t>
            </a:r>
          </a:p>
          <a:p>
            <a:pPr marL="0" indent="0">
              <a:spcBef>
                <a:spcPts val="600"/>
              </a:spcBef>
              <a:buNone/>
            </a:pPr>
            <a:endParaRPr lang="zh-CN" altLang="en-US" sz="2000" dirty="0"/>
          </a:p>
        </p:txBody>
      </p:sp>
      <p:sp>
        <p:nvSpPr>
          <p:cNvPr id="5" name="内容占位符 2">
            <a:extLst>
              <a:ext uri="{FF2B5EF4-FFF2-40B4-BE49-F238E27FC236}">
                <a16:creationId xmlns:a16="http://schemas.microsoft.com/office/drawing/2014/main" id="{8664D687-ADB0-4DAF-9700-9689D4D53BB9}"/>
              </a:ext>
            </a:extLst>
          </p:cNvPr>
          <p:cNvSpPr txBox="1">
            <a:spLocks/>
          </p:cNvSpPr>
          <p:nvPr/>
        </p:nvSpPr>
        <p:spPr bwMode="auto">
          <a:xfrm>
            <a:off x="4788024" y="874747"/>
            <a:ext cx="4320480" cy="3805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spcBef>
                <a:spcPts val="600"/>
              </a:spcBef>
              <a:buFontTx/>
            </a:pPr>
            <a:r>
              <a:rPr lang="en-US" altLang="zh-CN" sz="2000" b="1" kern="0" dirty="0"/>
              <a:t>Boyce-Codd NF</a:t>
            </a:r>
          </a:p>
          <a:p>
            <a:pPr lvl="1">
              <a:spcBef>
                <a:spcPts val="600"/>
              </a:spcBef>
              <a:buFontTx/>
            </a:pPr>
            <a:r>
              <a:rPr lang="en-US" altLang="zh-CN" sz="1800" kern="0" dirty="0"/>
              <a:t>All determinants (</a:t>
            </a:r>
            <a:r>
              <a:rPr lang="zh-CN" altLang="en-US" sz="1800" kern="0" dirty="0"/>
              <a:t>决定属性</a:t>
            </a:r>
            <a:r>
              <a:rPr lang="en-US" altLang="zh-CN" sz="1800" kern="0" dirty="0"/>
              <a:t>) are </a:t>
            </a:r>
            <a:r>
              <a:rPr lang="en-US" altLang="zh-CN" sz="1800" kern="0" dirty="0" err="1"/>
              <a:t>superkeys</a:t>
            </a:r>
            <a:endParaRPr lang="en-US" altLang="zh-CN" sz="1800" kern="0" dirty="0"/>
          </a:p>
          <a:p>
            <a:pPr>
              <a:spcBef>
                <a:spcPts val="600"/>
              </a:spcBef>
              <a:buFontTx/>
            </a:pPr>
            <a:r>
              <a:rPr lang="en-US" altLang="zh-CN" sz="2000" b="1" kern="0" dirty="0"/>
              <a:t>4th NF</a:t>
            </a:r>
          </a:p>
          <a:p>
            <a:pPr lvl="1">
              <a:spcBef>
                <a:spcPts val="600"/>
              </a:spcBef>
              <a:buFontTx/>
            </a:pPr>
            <a:r>
              <a:rPr lang="en-US" altLang="zh-CN" sz="1800" kern="0" dirty="0"/>
              <a:t>No multivalued dependencies</a:t>
            </a:r>
          </a:p>
          <a:p>
            <a:pPr>
              <a:spcBef>
                <a:spcPts val="600"/>
              </a:spcBef>
              <a:buFontTx/>
            </a:pPr>
            <a:r>
              <a:rPr lang="en-US" altLang="zh-CN" sz="2000" b="1" kern="0" dirty="0"/>
              <a:t>5th NF </a:t>
            </a:r>
          </a:p>
          <a:p>
            <a:pPr lvl="1">
              <a:spcBef>
                <a:spcPts val="600"/>
              </a:spcBef>
              <a:buFontTx/>
            </a:pPr>
            <a:r>
              <a:rPr lang="zh-CN" altLang="en-US" sz="1800" kern="0" dirty="0"/>
              <a:t>投影</a:t>
            </a:r>
            <a:r>
              <a:rPr lang="en-US" altLang="zh-CN" sz="1800" kern="0" dirty="0"/>
              <a:t>-</a:t>
            </a:r>
            <a:r>
              <a:rPr lang="zh-CN" altLang="en-US" sz="1800" kern="0" dirty="0"/>
              <a:t>连接范式（</a:t>
            </a:r>
            <a:r>
              <a:rPr lang="en-US" altLang="zh-CN" sz="1800" kern="0" dirty="0"/>
              <a:t>project-join normal from, PJNF</a:t>
            </a:r>
            <a:r>
              <a:rPr lang="zh-CN" altLang="en-US" sz="1800" kern="0" dirty="0"/>
              <a:t>）</a:t>
            </a:r>
            <a:endParaRPr lang="en-US" altLang="zh-CN" sz="1800" kern="0" dirty="0"/>
          </a:p>
          <a:p>
            <a:pPr lvl="1">
              <a:spcBef>
                <a:spcPts val="600"/>
              </a:spcBef>
              <a:buFontTx/>
            </a:pPr>
            <a:r>
              <a:rPr lang="en-US" altLang="zh-CN" sz="1800" kern="0" dirty="0"/>
              <a:t>Minimize redundancy by separating semantically connected relationships</a:t>
            </a:r>
          </a:p>
        </p:txBody>
      </p:sp>
    </p:spTree>
    <p:extLst>
      <p:ext uri="{BB962C8B-B14F-4D97-AF65-F5344CB8AC3E}">
        <p14:creationId xmlns:p14="http://schemas.microsoft.com/office/powerpoint/2010/main" val="38785999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 calcmode="lin" valueType="num">
                                      <p:cBhvr additive="base">
                                        <p:cTn id="1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 calcmode="lin" valueType="num">
                                      <p:cBhvr additive="base">
                                        <p:cTn id="2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AC5F2D-9AE6-478D-8CAC-CE548D621E73}"/>
              </a:ext>
            </a:extLst>
          </p:cNvPr>
          <p:cNvSpPr>
            <a:spLocks noGrp="1"/>
          </p:cNvSpPr>
          <p:nvPr>
            <p:ph type="title"/>
          </p:nvPr>
        </p:nvSpPr>
        <p:spPr/>
        <p:txBody>
          <a:bodyPr/>
          <a:lstStyle/>
          <a:p>
            <a:pPr algn="ctr"/>
            <a:r>
              <a:rPr lang="en-US" altLang="zh-CN" dirty="0"/>
              <a:t>Boyce-Codd Normal Form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1F45771-CA46-4160-A93A-915B5C47F3E8}"/>
                  </a:ext>
                </a:extLst>
              </p:cNvPr>
              <p:cNvSpPr>
                <a:spLocks noGrp="1"/>
              </p:cNvSpPr>
              <p:nvPr>
                <p:ph idx="1"/>
              </p:nvPr>
            </p:nvSpPr>
            <p:spPr>
              <a:xfrm>
                <a:off x="251520" y="789553"/>
                <a:ext cx="8280920" cy="3805070"/>
              </a:xfrm>
            </p:spPr>
            <p:txBody>
              <a:bodyPr/>
              <a:lstStyle/>
              <a:p>
                <a:pPr>
                  <a:spcBef>
                    <a:spcPts val="1200"/>
                  </a:spcBef>
                </a:pPr>
                <a:r>
                  <a:rPr lang="en-US" altLang="zh-CN" sz="2000" dirty="0"/>
                  <a:t>Given relation schema </a:t>
                </a:r>
                <a:r>
                  <a:rPr lang="en-US" altLang="zh-CN" sz="2000" dirty="0">
                    <a:solidFill>
                      <a:srgbClr val="C00000"/>
                    </a:solidFill>
                  </a:rPr>
                  <a:t>R</a:t>
                </a:r>
                <a:r>
                  <a:rPr lang="en-US" altLang="zh-CN" sz="2000" dirty="0"/>
                  <a:t> and FDs </a:t>
                </a:r>
                <a:r>
                  <a:rPr lang="en-US" altLang="zh-CN" sz="2000" dirty="0">
                    <a:solidFill>
                      <a:srgbClr val="C00000"/>
                    </a:solidFill>
                  </a:rPr>
                  <a:t>F</a:t>
                </a:r>
                <a:r>
                  <a:rPr lang="en-US" altLang="zh-CN" sz="2000" dirty="0"/>
                  <a:t>, R is in BCNF if at least one of the following condition holds for every FD </a:t>
                </a:r>
                <a14:m>
                  <m:oMath xmlns:m="http://schemas.openxmlformats.org/officeDocument/2006/math">
                    <m:r>
                      <a:rPr lang="zh-CN" altLang="en-US" sz="2000" i="1">
                        <a:solidFill>
                          <a:srgbClr val="C00000"/>
                        </a:solidFill>
                        <a:latin typeface="Cambria Math" panose="02040503050406030204" pitchFamily="18" charset="0"/>
                      </a:rPr>
                      <m:t>𝛼</m:t>
                    </m:r>
                    <m:r>
                      <a:rPr lang="zh-CN" altLang="en-US" sz="2000" i="1">
                        <a:solidFill>
                          <a:srgbClr val="C00000"/>
                        </a:solidFill>
                        <a:latin typeface="Cambria Math" panose="02040503050406030204" pitchFamily="18" charset="0"/>
                      </a:rPr>
                      <m:t>→</m:t>
                    </m:r>
                    <m:r>
                      <a:rPr lang="zh-CN" altLang="en-US" sz="2000" i="1">
                        <a:solidFill>
                          <a:srgbClr val="C00000"/>
                        </a:solidFill>
                        <a:latin typeface="Cambria Math" panose="02040503050406030204" pitchFamily="18" charset="0"/>
                      </a:rPr>
                      <m:t>𝛽</m:t>
                    </m:r>
                  </m:oMath>
                </a14:m>
                <a:r>
                  <a:rPr lang="en-US" altLang="zh-CN" sz="2000" dirty="0"/>
                  <a:t> in F</a:t>
                </a:r>
                <a:r>
                  <a:rPr lang="en-US" altLang="zh-CN" sz="2000" baseline="30000" dirty="0"/>
                  <a:t>+</a:t>
                </a:r>
                <a:r>
                  <a:rPr lang="en-US" altLang="zh-CN" sz="2000" dirty="0"/>
                  <a:t>:</a:t>
                </a:r>
              </a:p>
              <a:p>
                <a:pPr lvl="1">
                  <a:spcBef>
                    <a:spcPts val="1200"/>
                  </a:spcBef>
                </a:pPr>
                <a14:m>
                  <m:oMath xmlns:m="http://schemas.openxmlformats.org/officeDocument/2006/math">
                    <m:r>
                      <a:rPr lang="zh-CN" altLang="en-US" sz="1800" i="1">
                        <a:solidFill>
                          <a:srgbClr val="C00000"/>
                        </a:solidFill>
                        <a:latin typeface="Cambria Math" panose="02040503050406030204" pitchFamily="18" charset="0"/>
                      </a:rPr>
                      <m:t>𝛼</m:t>
                    </m:r>
                    <m:r>
                      <a:rPr lang="zh-CN" altLang="en-US" sz="1800" i="1">
                        <a:solidFill>
                          <a:srgbClr val="C00000"/>
                        </a:solidFill>
                        <a:latin typeface="Cambria Math" panose="02040503050406030204" pitchFamily="18" charset="0"/>
                      </a:rPr>
                      <m:t>→</m:t>
                    </m:r>
                    <m:r>
                      <a:rPr lang="zh-CN" altLang="en-US" sz="1800" i="1">
                        <a:solidFill>
                          <a:srgbClr val="C00000"/>
                        </a:solidFill>
                        <a:latin typeface="Cambria Math" panose="02040503050406030204" pitchFamily="18" charset="0"/>
                      </a:rPr>
                      <m:t>𝛽</m:t>
                    </m:r>
                  </m:oMath>
                </a14:m>
                <a:r>
                  <a:rPr lang="en-US" altLang="zh-CN" sz="1800" dirty="0"/>
                  <a:t> is trivial (i.e., </a:t>
                </a:r>
                <a14:m>
                  <m:oMath xmlns:m="http://schemas.openxmlformats.org/officeDocument/2006/math">
                    <m:r>
                      <a:rPr lang="zh-CN" altLang="en-US" sz="1800" i="1">
                        <a:solidFill>
                          <a:srgbClr val="C00000"/>
                        </a:solidFill>
                        <a:latin typeface="Cambria Math" panose="02040503050406030204" pitchFamily="18" charset="0"/>
                      </a:rPr>
                      <m:t>𝛽</m:t>
                    </m:r>
                    <m:r>
                      <a:rPr lang="zh-CN" altLang="en-US" sz="1800" i="1" smtClean="0">
                        <a:solidFill>
                          <a:srgbClr val="C00000"/>
                        </a:solidFill>
                        <a:latin typeface="Cambria Math" panose="02040503050406030204" pitchFamily="18" charset="0"/>
                      </a:rPr>
                      <m:t>⊆</m:t>
                    </m:r>
                    <m:r>
                      <a:rPr lang="zh-CN" altLang="en-US" sz="1800" i="1" smtClean="0">
                        <a:solidFill>
                          <a:srgbClr val="C00000"/>
                        </a:solidFill>
                        <a:latin typeface="Cambria Math" panose="02040503050406030204" pitchFamily="18" charset="0"/>
                      </a:rPr>
                      <m:t>𝛼</m:t>
                    </m:r>
                  </m:oMath>
                </a14:m>
                <a:r>
                  <a:rPr lang="en-US" altLang="zh-CN" sz="1800" dirty="0"/>
                  <a:t>)</a:t>
                </a:r>
              </a:p>
              <a:p>
                <a:pPr lvl="1">
                  <a:spcBef>
                    <a:spcPts val="1200"/>
                  </a:spcBef>
                </a:pPr>
                <a14:m>
                  <m:oMath xmlns:m="http://schemas.openxmlformats.org/officeDocument/2006/math">
                    <m:r>
                      <a:rPr lang="zh-CN" altLang="en-US" sz="1800" i="1">
                        <a:solidFill>
                          <a:srgbClr val="C00000"/>
                        </a:solidFill>
                        <a:latin typeface="Cambria Math" panose="02040503050406030204" pitchFamily="18" charset="0"/>
                      </a:rPr>
                      <m:t>𝛼</m:t>
                    </m:r>
                  </m:oMath>
                </a14:m>
                <a:r>
                  <a:rPr lang="en-US" altLang="zh-CN" sz="1800" dirty="0"/>
                  <a:t> is a </a:t>
                </a:r>
                <a:r>
                  <a:rPr lang="en-US" altLang="zh-CN" sz="1800" dirty="0" err="1"/>
                  <a:t>superkey</a:t>
                </a:r>
                <a:r>
                  <a:rPr lang="en-US" altLang="zh-CN" sz="1800" dirty="0"/>
                  <a:t> for R</a:t>
                </a:r>
              </a:p>
              <a:p>
                <a:pPr>
                  <a:spcBef>
                    <a:spcPts val="1200"/>
                  </a:spcBef>
                </a:pPr>
                <a:endParaRPr lang="zh-CN" altLang="en-US" sz="2000" dirty="0"/>
              </a:p>
            </p:txBody>
          </p:sp>
        </mc:Choice>
        <mc:Fallback xmlns="">
          <p:sp>
            <p:nvSpPr>
              <p:cNvPr id="3" name="内容占位符 2">
                <a:extLst>
                  <a:ext uri="{FF2B5EF4-FFF2-40B4-BE49-F238E27FC236}">
                    <a16:creationId xmlns:a16="http://schemas.microsoft.com/office/drawing/2014/main" id="{A1F45771-CA46-4160-A93A-915B5C47F3E8}"/>
                  </a:ext>
                </a:extLst>
              </p:cNvPr>
              <p:cNvSpPr>
                <a:spLocks noGrp="1" noRot="1" noChangeAspect="1" noMove="1" noResize="1" noEditPoints="1" noAdjustHandles="1" noChangeArrowheads="1" noChangeShapeType="1" noTextEdit="1"/>
              </p:cNvSpPr>
              <p:nvPr>
                <p:ph idx="1"/>
              </p:nvPr>
            </p:nvSpPr>
            <p:spPr>
              <a:xfrm>
                <a:off x="251520" y="789553"/>
                <a:ext cx="8280920" cy="3805070"/>
              </a:xfrm>
              <a:blipFill>
                <a:blip r:embed="rId3"/>
                <a:stretch>
                  <a:fillRect l="-662"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79617683"/>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EB0942-BC47-4ECC-AC9D-50F19048B9D6}"/>
              </a:ext>
            </a:extLst>
          </p:cNvPr>
          <p:cNvSpPr>
            <a:spLocks noGrp="1"/>
          </p:cNvSpPr>
          <p:nvPr>
            <p:ph type="title"/>
          </p:nvPr>
        </p:nvSpPr>
        <p:spPr/>
        <p:txBody>
          <a:bodyPr/>
          <a:lstStyle/>
          <a:p>
            <a:pPr algn="ctr"/>
            <a:r>
              <a:rPr lang="en-US" altLang="zh-CN" dirty="0"/>
              <a:t>Example</a:t>
            </a:r>
            <a:endParaRPr lang="zh-CN" altLang="en-US" dirty="0"/>
          </a:p>
        </p:txBody>
      </p:sp>
      <p:sp>
        <p:nvSpPr>
          <p:cNvPr id="3" name="内容占位符 2">
            <a:extLst>
              <a:ext uri="{FF2B5EF4-FFF2-40B4-BE49-F238E27FC236}">
                <a16:creationId xmlns:a16="http://schemas.microsoft.com/office/drawing/2014/main" id="{232586F7-DC8B-4CE4-83A7-5557C8C5D934}"/>
              </a:ext>
            </a:extLst>
          </p:cNvPr>
          <p:cNvSpPr>
            <a:spLocks noGrp="1"/>
          </p:cNvSpPr>
          <p:nvPr>
            <p:ph idx="1"/>
          </p:nvPr>
        </p:nvSpPr>
        <p:spPr/>
        <p:txBody>
          <a:bodyPr/>
          <a:lstStyle/>
          <a:p>
            <a:r>
              <a:rPr lang="en-US" altLang="zh-CN" sz="2000" dirty="0"/>
              <a:t>R = (A, B, C), F = {A</a:t>
            </a:r>
            <a:r>
              <a:rPr lang="en-US" altLang="zh-CN" sz="2000" b="1" dirty="0">
                <a:ea typeface="宋体" panose="02010600030101010101" pitchFamily="2" charset="-122"/>
                <a:sym typeface="Symbol" panose="05050102010706020507" pitchFamily="18" charset="2"/>
              </a:rPr>
              <a:t>  </a:t>
            </a:r>
            <a:r>
              <a:rPr lang="en-US" altLang="zh-CN" sz="2000" dirty="0"/>
              <a:t>B, B</a:t>
            </a:r>
            <a:r>
              <a:rPr lang="en-US" altLang="zh-CN" sz="2000" b="1" dirty="0">
                <a:ea typeface="宋体" panose="02010600030101010101" pitchFamily="2" charset="-122"/>
                <a:sym typeface="Symbol" panose="05050102010706020507" pitchFamily="18" charset="2"/>
              </a:rPr>
              <a:t>  </a:t>
            </a:r>
            <a:r>
              <a:rPr lang="en-US" altLang="zh-CN" sz="2000" dirty="0"/>
              <a:t>C }, Key = {A}</a:t>
            </a:r>
          </a:p>
          <a:p>
            <a:pPr lvl="1"/>
            <a:r>
              <a:rPr lang="en-US" altLang="zh-CN" sz="1800" dirty="0"/>
              <a:t>R is not in BCNF since B</a:t>
            </a:r>
            <a:r>
              <a:rPr lang="en-US" altLang="zh-CN" sz="1800" b="1" dirty="0">
                <a:ea typeface="宋体" panose="02010600030101010101" pitchFamily="2" charset="-122"/>
                <a:sym typeface="Symbol" panose="05050102010706020507" pitchFamily="18" charset="2"/>
              </a:rPr>
              <a:t>  </a:t>
            </a:r>
            <a:r>
              <a:rPr lang="en-US" altLang="zh-CN" sz="1800" dirty="0"/>
              <a:t>C but B is not the key </a:t>
            </a:r>
          </a:p>
          <a:p>
            <a:r>
              <a:rPr lang="en-US" altLang="zh-CN" sz="2000" dirty="0"/>
              <a:t>Decomposition R</a:t>
            </a:r>
            <a:r>
              <a:rPr lang="en-US" altLang="zh-CN" sz="2000" baseline="-25000" dirty="0"/>
              <a:t>1</a:t>
            </a:r>
            <a:r>
              <a:rPr lang="en-US" altLang="zh-CN" sz="2000" dirty="0"/>
              <a:t> = (A, B),  R</a:t>
            </a:r>
            <a:r>
              <a:rPr lang="en-US" altLang="zh-CN" sz="2000" baseline="-25000" dirty="0"/>
              <a:t>2</a:t>
            </a:r>
            <a:r>
              <a:rPr lang="en-US" altLang="zh-CN" sz="2000" dirty="0"/>
              <a:t> = (B, C)</a:t>
            </a:r>
          </a:p>
          <a:p>
            <a:pPr lvl="1"/>
            <a:r>
              <a:rPr lang="en-US" altLang="zh-CN" sz="1800" dirty="0"/>
              <a:t>R</a:t>
            </a:r>
            <a:r>
              <a:rPr lang="en-US" altLang="zh-CN" sz="1800" baseline="-25000" dirty="0"/>
              <a:t>1 </a:t>
            </a:r>
            <a:r>
              <a:rPr lang="en-US" altLang="zh-CN" sz="1800" dirty="0"/>
              <a:t>and R</a:t>
            </a:r>
            <a:r>
              <a:rPr lang="en-US" altLang="zh-CN" sz="1800" baseline="-25000" dirty="0"/>
              <a:t>2</a:t>
            </a:r>
            <a:r>
              <a:rPr lang="en-US" altLang="zh-CN" sz="1800" dirty="0"/>
              <a:t> in BCNF</a:t>
            </a:r>
          </a:p>
          <a:p>
            <a:pPr lvl="1"/>
            <a:r>
              <a:rPr lang="en-US" altLang="zh-CN" sz="1800" dirty="0"/>
              <a:t>Lossless-join decomposition</a:t>
            </a:r>
          </a:p>
          <a:p>
            <a:pPr lvl="1"/>
            <a:r>
              <a:rPr lang="en-US" altLang="zh-CN" sz="1800" dirty="0"/>
              <a:t>Dependency preserving</a:t>
            </a:r>
            <a:endParaRPr lang="zh-CN" altLang="en-US" sz="1800" dirty="0"/>
          </a:p>
        </p:txBody>
      </p:sp>
    </p:spTree>
    <p:extLst>
      <p:ext uri="{BB962C8B-B14F-4D97-AF65-F5344CB8AC3E}">
        <p14:creationId xmlns:p14="http://schemas.microsoft.com/office/powerpoint/2010/main" val="22852802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barn(inVertical)">
                                      <p:cBhvr>
                                        <p:cTn id="13" dur="500"/>
                                        <p:tgtEl>
                                          <p:spTgt spid="3">
                                            <p:txEl>
                                              <p:pRg st="4" end="4"/>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arn(inVertical)">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DC3A36-39B6-4371-A3E4-DEEAD9089E1A}"/>
              </a:ext>
            </a:extLst>
          </p:cNvPr>
          <p:cNvSpPr>
            <a:spLocks noGrp="1"/>
          </p:cNvSpPr>
          <p:nvPr>
            <p:ph type="title"/>
          </p:nvPr>
        </p:nvSpPr>
        <p:spPr/>
        <p:txBody>
          <a:bodyPr/>
          <a:lstStyle/>
          <a:p>
            <a:pPr algn="ctr"/>
            <a:r>
              <a:rPr lang="en-US" altLang="zh-CN" dirty="0"/>
              <a:t>Testing for BCNF</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65D8CC3-163C-492C-A6A6-96C0422893AF}"/>
                  </a:ext>
                </a:extLst>
              </p:cNvPr>
              <p:cNvSpPr>
                <a:spLocks noGrp="1"/>
              </p:cNvSpPr>
              <p:nvPr>
                <p:ph idx="1"/>
              </p:nvPr>
            </p:nvSpPr>
            <p:spPr>
              <a:xfrm>
                <a:off x="251520" y="789553"/>
                <a:ext cx="8568952" cy="3805070"/>
              </a:xfrm>
            </p:spPr>
            <p:txBody>
              <a:bodyPr/>
              <a:lstStyle/>
              <a:p>
                <a:pPr>
                  <a:spcBef>
                    <a:spcPts val="600"/>
                  </a:spcBef>
                </a:pPr>
                <a:r>
                  <a:rPr lang="en-US" altLang="zh-CN" sz="2000" dirty="0"/>
                  <a:t>To check if a non-trivial dependency </a:t>
                </a:r>
                <a14:m>
                  <m:oMath xmlns:m="http://schemas.openxmlformats.org/officeDocument/2006/math">
                    <m:r>
                      <a:rPr lang="zh-CN" altLang="en-US" sz="2000" i="1" smtClean="0">
                        <a:latin typeface="Cambria Math" panose="02040503050406030204" pitchFamily="18" charset="0"/>
                      </a:rPr>
                      <m:t>𝛼</m:t>
                    </m:r>
                    <m:r>
                      <a:rPr lang="zh-CN" altLang="en-US" sz="2000" i="1" smtClean="0">
                        <a:latin typeface="Cambria Math" panose="02040503050406030204" pitchFamily="18" charset="0"/>
                      </a:rPr>
                      <m:t>→</m:t>
                    </m:r>
                    <m:r>
                      <a:rPr lang="zh-CN" altLang="en-US" sz="2000" i="1" smtClean="0">
                        <a:latin typeface="Cambria Math" panose="02040503050406030204" pitchFamily="18" charset="0"/>
                      </a:rPr>
                      <m:t>𝛽</m:t>
                    </m:r>
                  </m:oMath>
                </a14:m>
                <a:r>
                  <a:rPr lang="en-US" altLang="zh-CN" sz="2000" dirty="0"/>
                  <a:t> causes a violation of BCNF</a:t>
                </a:r>
              </a:p>
              <a:p>
                <a:pPr lvl="1">
                  <a:spcBef>
                    <a:spcPts val="600"/>
                  </a:spcBef>
                </a:pPr>
                <a:r>
                  <a:rPr lang="en-US" altLang="zh-CN" sz="1800" dirty="0"/>
                  <a:t>Compute </a:t>
                </a:r>
                <a14:m>
                  <m:oMath xmlns:m="http://schemas.openxmlformats.org/officeDocument/2006/math">
                    <m:sSup>
                      <m:sSupPr>
                        <m:ctrlPr>
                          <a:rPr lang="en-US" altLang="zh-CN" sz="1800" i="1" smtClean="0">
                            <a:latin typeface="Cambria Math" panose="02040503050406030204" pitchFamily="18" charset="0"/>
                          </a:rPr>
                        </m:ctrlPr>
                      </m:sSupPr>
                      <m:e>
                        <m:r>
                          <a:rPr lang="zh-CN" altLang="en-US" sz="1800" i="1" smtClean="0">
                            <a:latin typeface="Cambria Math" panose="02040503050406030204" pitchFamily="18" charset="0"/>
                          </a:rPr>
                          <m:t>𝛼</m:t>
                        </m:r>
                      </m:e>
                      <m:sup>
                        <m:r>
                          <a:rPr lang="en-US" altLang="zh-CN" sz="1800" b="0" i="1" smtClean="0">
                            <a:latin typeface="Cambria Math" panose="02040503050406030204" pitchFamily="18" charset="0"/>
                          </a:rPr>
                          <m:t>+</m:t>
                        </m:r>
                      </m:sup>
                    </m:sSup>
                  </m:oMath>
                </a14:m>
                <a:r>
                  <a:rPr lang="en-US" altLang="zh-CN" sz="1800" dirty="0"/>
                  <a:t> (the attribute closure of </a:t>
                </a:r>
                <a14:m>
                  <m:oMath xmlns:m="http://schemas.openxmlformats.org/officeDocument/2006/math">
                    <m:r>
                      <a:rPr lang="zh-CN" altLang="en-US" sz="1800" i="1" smtClean="0">
                        <a:latin typeface="Cambria Math" panose="02040503050406030204" pitchFamily="18" charset="0"/>
                      </a:rPr>
                      <m:t>𝛼</m:t>
                    </m:r>
                  </m:oMath>
                </a14:m>
                <a:r>
                  <a:rPr lang="en-US" altLang="zh-CN" sz="1800" dirty="0"/>
                  <a:t>), and </a:t>
                </a:r>
              </a:p>
              <a:p>
                <a:pPr lvl="1">
                  <a:spcBef>
                    <a:spcPts val="600"/>
                  </a:spcBef>
                </a:pPr>
                <a:r>
                  <a:rPr lang="en-US" altLang="zh-CN" sz="1800" dirty="0"/>
                  <a:t>Verify that it includes all the attributes of R, i.e., a </a:t>
                </a:r>
                <a:r>
                  <a:rPr lang="en-US" altLang="zh-CN" sz="1800" dirty="0" err="1"/>
                  <a:t>superkey</a:t>
                </a:r>
                <a:r>
                  <a:rPr lang="en-US" altLang="zh-CN" sz="1800" dirty="0"/>
                  <a:t> of R</a:t>
                </a:r>
              </a:p>
              <a:p>
                <a:pPr>
                  <a:spcBef>
                    <a:spcPts val="600"/>
                  </a:spcBef>
                </a:pPr>
                <a:r>
                  <a:rPr lang="en-US" altLang="zh-CN" sz="2000" b="1" dirty="0"/>
                  <a:t>Simplified test</a:t>
                </a:r>
              </a:p>
              <a:p>
                <a:pPr lvl="1">
                  <a:spcBef>
                    <a:spcPts val="600"/>
                  </a:spcBef>
                </a:pPr>
                <a:r>
                  <a:rPr lang="en-US" altLang="zh-CN" sz="1800" dirty="0"/>
                  <a:t>Check only the FDs </a:t>
                </a:r>
                <a:r>
                  <a:rPr lang="en-US" altLang="zh-CN" sz="1800" b="1" dirty="0">
                    <a:solidFill>
                      <a:srgbClr val="C00000"/>
                    </a:solidFill>
                  </a:rPr>
                  <a:t>F</a:t>
                </a:r>
                <a:r>
                  <a:rPr lang="en-US" altLang="zh-CN" sz="1800" dirty="0"/>
                  <a:t> for violation of BCNF, rather than checking all dependencies in </a:t>
                </a:r>
                <a:r>
                  <a:rPr lang="en-US" altLang="zh-CN" sz="1800" b="1" dirty="0">
                    <a:solidFill>
                      <a:srgbClr val="C00000"/>
                    </a:solidFill>
                  </a:rPr>
                  <a:t>F</a:t>
                </a:r>
                <a:r>
                  <a:rPr lang="en-US" altLang="zh-CN" sz="1800" b="1" baseline="30000" dirty="0">
                    <a:solidFill>
                      <a:srgbClr val="C00000"/>
                    </a:solidFill>
                  </a:rPr>
                  <a:t>+</a:t>
                </a:r>
                <a:endParaRPr lang="en-US" altLang="zh-CN" sz="1800" b="1" dirty="0">
                  <a:solidFill>
                    <a:srgbClr val="C00000"/>
                  </a:solidFill>
                </a:endParaRPr>
              </a:p>
              <a:p>
                <a:pPr lvl="1">
                  <a:spcBef>
                    <a:spcPts val="600"/>
                  </a:spcBef>
                </a:pPr>
                <a:r>
                  <a:rPr lang="en-US" altLang="zh-CN" sz="1800" dirty="0"/>
                  <a:t>If none of the dependencies in F causes a violation of BCNF, then none of the dependencies in F</a:t>
                </a:r>
                <a:r>
                  <a:rPr lang="en-US" altLang="zh-CN" sz="1800" baseline="30000" dirty="0"/>
                  <a:t>+</a:t>
                </a:r>
                <a:r>
                  <a:rPr lang="en-US" altLang="zh-CN" sz="1800" dirty="0"/>
                  <a:t> will cause a violation of BCNF either</a:t>
                </a:r>
              </a:p>
              <a:p>
                <a:pPr>
                  <a:spcBef>
                    <a:spcPts val="600"/>
                  </a:spcBef>
                </a:pPr>
                <a:endParaRPr lang="zh-CN" altLang="en-US" sz="2000" dirty="0"/>
              </a:p>
            </p:txBody>
          </p:sp>
        </mc:Choice>
        <mc:Fallback xmlns="">
          <p:sp>
            <p:nvSpPr>
              <p:cNvPr id="3" name="内容占位符 2">
                <a:extLst>
                  <a:ext uri="{FF2B5EF4-FFF2-40B4-BE49-F238E27FC236}">
                    <a16:creationId xmlns:a16="http://schemas.microsoft.com/office/drawing/2014/main" id="{865D8CC3-163C-492C-A6A6-96C0422893AF}"/>
                  </a:ext>
                </a:extLst>
              </p:cNvPr>
              <p:cNvSpPr>
                <a:spLocks noGrp="1" noRot="1" noChangeAspect="1" noMove="1" noResize="1" noEditPoints="1" noAdjustHandles="1" noChangeArrowheads="1" noChangeShapeType="1" noTextEdit="1"/>
              </p:cNvSpPr>
              <p:nvPr>
                <p:ph idx="1"/>
              </p:nvPr>
            </p:nvSpPr>
            <p:spPr>
              <a:xfrm>
                <a:off x="251520" y="789553"/>
                <a:ext cx="8568952" cy="3805070"/>
              </a:xfrm>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74975571"/>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CAAC5E-C20D-43A5-84C1-D4C27FDC2423}"/>
              </a:ext>
            </a:extLst>
          </p:cNvPr>
          <p:cNvSpPr>
            <a:spLocks noGrp="1"/>
          </p:cNvSpPr>
          <p:nvPr>
            <p:ph type="title"/>
          </p:nvPr>
        </p:nvSpPr>
        <p:spPr/>
        <p:txBody>
          <a:bodyPr/>
          <a:lstStyle/>
          <a:p>
            <a:pPr algn="ctr"/>
            <a:r>
              <a:rPr lang="en-US" altLang="zh-CN" dirty="0"/>
              <a:t>Testing for BCNF (Cont.)</a:t>
            </a:r>
            <a:endParaRPr lang="zh-CN" altLang="en-US" dirty="0"/>
          </a:p>
        </p:txBody>
      </p:sp>
      <p:sp>
        <p:nvSpPr>
          <p:cNvPr id="3" name="内容占位符 2">
            <a:extLst>
              <a:ext uri="{FF2B5EF4-FFF2-40B4-BE49-F238E27FC236}">
                <a16:creationId xmlns:a16="http://schemas.microsoft.com/office/drawing/2014/main" id="{915ABB82-8154-4086-B439-A712F8F60C5A}"/>
              </a:ext>
            </a:extLst>
          </p:cNvPr>
          <p:cNvSpPr>
            <a:spLocks noGrp="1"/>
          </p:cNvSpPr>
          <p:nvPr>
            <p:ph idx="1"/>
          </p:nvPr>
        </p:nvSpPr>
        <p:spPr>
          <a:xfrm>
            <a:off x="251520" y="789553"/>
            <a:ext cx="8784976" cy="3805070"/>
          </a:xfrm>
        </p:spPr>
        <p:txBody>
          <a:bodyPr/>
          <a:lstStyle/>
          <a:p>
            <a:r>
              <a:rPr lang="en-US" altLang="zh-CN" sz="2000" dirty="0"/>
              <a:t>Checking only F is </a:t>
            </a:r>
            <a:r>
              <a:rPr lang="en-US" altLang="zh-CN" sz="2000" b="1" dirty="0">
                <a:solidFill>
                  <a:srgbClr val="C00000"/>
                </a:solidFill>
              </a:rPr>
              <a:t>incorrect</a:t>
            </a:r>
            <a:r>
              <a:rPr lang="en-US" altLang="zh-CN" sz="2000" dirty="0"/>
              <a:t> when testing a relation in a </a:t>
            </a:r>
            <a:r>
              <a:rPr lang="en-US" altLang="zh-CN" sz="2000" b="1" dirty="0">
                <a:solidFill>
                  <a:srgbClr val="C00000"/>
                </a:solidFill>
              </a:rPr>
              <a:t>decomposition</a:t>
            </a:r>
            <a:r>
              <a:rPr lang="en-US" altLang="zh-CN" sz="2000" dirty="0"/>
              <a:t> of R</a:t>
            </a:r>
          </a:p>
          <a:p>
            <a:pPr lvl="1"/>
            <a:r>
              <a:rPr lang="en-US" altLang="zh-CN" sz="1600" dirty="0"/>
              <a:t>E.g., consider R(A, B, C, D) with F = {A</a:t>
            </a:r>
            <a:r>
              <a:rPr lang="en-US" altLang="zh-CN" sz="1600" b="1" i="1" dirty="0">
                <a:ea typeface="宋体" panose="02010600030101010101" pitchFamily="2" charset="-122"/>
                <a:sym typeface="Symbol" panose="05050102010706020507" pitchFamily="18" charset="2"/>
              </a:rPr>
              <a:t>  </a:t>
            </a:r>
            <a:r>
              <a:rPr lang="en-US" altLang="zh-CN" sz="1600" dirty="0"/>
              <a:t>B, B</a:t>
            </a:r>
            <a:r>
              <a:rPr lang="en-US" altLang="zh-CN" sz="1600" b="1" i="1" dirty="0">
                <a:ea typeface="宋体" panose="02010600030101010101" pitchFamily="2" charset="-122"/>
                <a:sym typeface="Symbol" panose="05050102010706020507" pitchFamily="18" charset="2"/>
              </a:rPr>
              <a:t>  </a:t>
            </a:r>
            <a:r>
              <a:rPr lang="en-US" altLang="zh-CN" sz="1600" dirty="0"/>
              <a:t>C}</a:t>
            </a:r>
          </a:p>
          <a:p>
            <a:pPr lvl="2"/>
            <a:r>
              <a:rPr lang="en-US" altLang="zh-CN" sz="1600" dirty="0"/>
              <a:t>Decompose R into R</a:t>
            </a:r>
            <a:r>
              <a:rPr lang="en-US" altLang="zh-CN" sz="1600" baseline="-25000" dirty="0"/>
              <a:t>1</a:t>
            </a:r>
            <a:r>
              <a:rPr lang="en-US" altLang="zh-CN" sz="1600" dirty="0"/>
              <a:t>(A,B) and R</a:t>
            </a:r>
            <a:r>
              <a:rPr lang="en-US" altLang="zh-CN" sz="1600" baseline="-25000" dirty="0"/>
              <a:t>2</a:t>
            </a:r>
            <a:r>
              <a:rPr lang="en-US" altLang="zh-CN" sz="1600" dirty="0"/>
              <a:t>(A,C,D) </a:t>
            </a:r>
          </a:p>
          <a:p>
            <a:pPr lvl="2"/>
            <a:r>
              <a:rPr lang="en-US" altLang="zh-CN" sz="1600" dirty="0"/>
              <a:t>Neither of the dependencies in F contain only attributes from (A,C,D) and we might be mislead into thinking that R</a:t>
            </a:r>
            <a:r>
              <a:rPr lang="en-US" altLang="zh-CN" sz="1600" baseline="-25000" dirty="0"/>
              <a:t>2</a:t>
            </a:r>
            <a:r>
              <a:rPr lang="en-US" altLang="zh-CN" sz="1600" dirty="0"/>
              <a:t> satisfies BCNF</a:t>
            </a:r>
          </a:p>
          <a:p>
            <a:pPr lvl="2"/>
            <a:r>
              <a:rPr lang="en-US" altLang="zh-CN" sz="1600" dirty="0"/>
              <a:t>However, dependency A </a:t>
            </a:r>
            <a:r>
              <a:rPr lang="en-US" altLang="zh-CN" sz="1600" b="1" i="1" dirty="0">
                <a:ea typeface="宋体" panose="02010600030101010101" pitchFamily="2" charset="-122"/>
                <a:sym typeface="Symbol" panose="05050102010706020507" pitchFamily="18" charset="2"/>
              </a:rPr>
              <a:t></a:t>
            </a:r>
            <a:r>
              <a:rPr lang="en-US" altLang="zh-CN" sz="1600" dirty="0"/>
              <a:t> C in F</a:t>
            </a:r>
            <a:r>
              <a:rPr lang="en-US" altLang="zh-CN" sz="1600" baseline="30000" dirty="0"/>
              <a:t>+</a:t>
            </a:r>
            <a:r>
              <a:rPr lang="en-US" altLang="zh-CN" sz="1600" dirty="0"/>
              <a:t> shows that R</a:t>
            </a:r>
            <a:r>
              <a:rPr lang="en-US" altLang="zh-CN" sz="1600" baseline="-25000" dirty="0"/>
              <a:t>2</a:t>
            </a:r>
            <a:r>
              <a:rPr lang="en-US" altLang="zh-CN" sz="1600" dirty="0"/>
              <a:t> is not in BCNF</a:t>
            </a:r>
          </a:p>
          <a:p>
            <a:endParaRPr lang="zh-CN" altLang="en-US" sz="2000" dirty="0"/>
          </a:p>
        </p:txBody>
      </p:sp>
    </p:spTree>
    <p:extLst>
      <p:ext uri="{BB962C8B-B14F-4D97-AF65-F5344CB8AC3E}">
        <p14:creationId xmlns:p14="http://schemas.microsoft.com/office/powerpoint/2010/main" val="2150180913"/>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7230D-6732-4C8B-AEE7-DA9638752B20}"/>
              </a:ext>
            </a:extLst>
          </p:cNvPr>
          <p:cNvSpPr>
            <a:spLocks noGrp="1"/>
          </p:cNvSpPr>
          <p:nvPr>
            <p:ph type="title"/>
          </p:nvPr>
        </p:nvSpPr>
        <p:spPr/>
        <p:txBody>
          <a:bodyPr/>
          <a:lstStyle/>
          <a:p>
            <a:pPr algn="ctr"/>
            <a:r>
              <a:rPr lang="en-US" altLang="zh-CN" dirty="0"/>
              <a:t>Testing Decomposition for BCNF</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310C321-62F5-443C-B037-DF7112D42010}"/>
                  </a:ext>
                </a:extLst>
              </p:cNvPr>
              <p:cNvSpPr>
                <a:spLocks noGrp="1"/>
              </p:cNvSpPr>
              <p:nvPr>
                <p:ph idx="1"/>
              </p:nvPr>
            </p:nvSpPr>
            <p:spPr/>
            <p:txBody>
              <a:bodyPr/>
              <a:lstStyle/>
              <a:p>
                <a:r>
                  <a:rPr lang="en-US" altLang="zh-CN" sz="2000" b="1" dirty="0"/>
                  <a:t>To check if a relation </a:t>
                </a:r>
                <a14:m>
                  <m:oMath xmlns:m="http://schemas.openxmlformats.org/officeDocument/2006/math">
                    <m:sSub>
                      <m:sSubPr>
                        <m:ctrlPr>
                          <a:rPr lang="en-US" altLang="zh-CN" sz="2000" b="1" i="1" smtClean="0">
                            <a:latin typeface="Cambria Math" panose="02040503050406030204" pitchFamily="18" charset="0"/>
                          </a:rPr>
                        </m:ctrlPr>
                      </m:sSubPr>
                      <m:e>
                        <m:r>
                          <a:rPr lang="en-US" altLang="zh-CN" sz="2000" b="1" i="1" smtClean="0">
                            <a:latin typeface="Cambria Math" panose="02040503050406030204" pitchFamily="18" charset="0"/>
                          </a:rPr>
                          <m:t>𝑹</m:t>
                        </m:r>
                      </m:e>
                      <m:sub>
                        <m:r>
                          <a:rPr lang="en-US" altLang="zh-CN" sz="2000" b="1" i="1" smtClean="0">
                            <a:latin typeface="Cambria Math" panose="02040503050406030204" pitchFamily="18" charset="0"/>
                          </a:rPr>
                          <m:t>𝒊</m:t>
                        </m:r>
                      </m:sub>
                    </m:sSub>
                  </m:oMath>
                </a14:m>
                <a:r>
                  <a:rPr lang="en-US" altLang="zh-CN" sz="2000" b="1" dirty="0"/>
                  <a:t> in a decomposition of </a:t>
                </a:r>
                <a14:m>
                  <m:oMath xmlns:m="http://schemas.openxmlformats.org/officeDocument/2006/math">
                    <m:r>
                      <a:rPr lang="en-US" altLang="zh-CN" sz="2000" b="1" i="1" smtClean="0">
                        <a:latin typeface="Cambria Math" panose="02040503050406030204" pitchFamily="18" charset="0"/>
                      </a:rPr>
                      <m:t>𝑹</m:t>
                    </m:r>
                  </m:oMath>
                </a14:m>
                <a:r>
                  <a:rPr lang="en-US" altLang="zh-CN" sz="2000" b="1" dirty="0"/>
                  <a:t> is in BCNF</a:t>
                </a:r>
              </a:p>
              <a:p>
                <a:pPr lvl="1"/>
                <a:r>
                  <a:rPr lang="en-US" altLang="zh-CN" sz="1800" dirty="0"/>
                  <a:t>either test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for BCNF </a:t>
                </a:r>
                <a:r>
                  <a:rPr lang="en-US" altLang="zh-CN" sz="1800" dirty="0" err="1"/>
                  <a:t>w.r.t.</a:t>
                </a:r>
                <a:r>
                  <a:rPr lang="en-US" altLang="zh-CN" sz="1800" dirty="0"/>
                  <a:t> the restriction of F to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(that is, all FDs in F</a:t>
                </a:r>
                <a:r>
                  <a:rPr lang="en-US" altLang="zh-CN" sz="1800" baseline="30000" dirty="0"/>
                  <a:t>+</a:t>
                </a:r>
                <a:r>
                  <a:rPr lang="en-US" altLang="zh-CN" sz="1800" dirty="0"/>
                  <a:t> that contain only attributes from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or</a:t>
                </a:r>
              </a:p>
              <a:p>
                <a:pPr lvl="1"/>
                <a:r>
                  <a:rPr lang="en-US" altLang="zh-CN" sz="1800" dirty="0"/>
                  <a:t>use the original set of dependencies F that hold on R, but with the following test:</a:t>
                </a:r>
              </a:p>
              <a:p>
                <a:pPr lvl="2"/>
                <a:r>
                  <a:rPr lang="en-US" altLang="zh-CN" dirty="0"/>
                  <a:t>for every set of attributes </a:t>
                </a:r>
                <a14:m>
                  <m:oMath xmlns:m="http://schemas.openxmlformats.org/officeDocument/2006/math">
                    <m:r>
                      <a:rPr lang="zh-CN" altLang="en-US" i="1" smtClean="0">
                        <a:latin typeface="Cambria Math" panose="02040503050406030204" pitchFamily="18" charset="0"/>
                      </a:rPr>
                      <m:t>𝛼</m:t>
                    </m:r>
                    <m:r>
                      <a:rPr lang="zh-CN" altLang="en-US" i="1" smtClean="0">
                        <a:latin typeface="Cambria Math" panose="02040503050406030204" pitchFamily="18" charset="0"/>
                      </a:rPr>
                      <m:t>⊆</m:t>
                    </m:r>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𝑅</m:t>
                        </m:r>
                      </m:e>
                      <m:sub>
                        <m:r>
                          <a:rPr lang="en-US" altLang="zh-CN" b="0" i="1" smtClean="0">
                            <a:latin typeface="Cambria Math" panose="02040503050406030204" pitchFamily="18" charset="0"/>
                          </a:rPr>
                          <m:t>𝑖</m:t>
                        </m:r>
                      </m:sub>
                    </m:sSub>
                  </m:oMath>
                </a14:m>
                <a:r>
                  <a:rPr lang="en-US" altLang="zh-CN" dirty="0"/>
                  <a:t>, check that </a:t>
                </a:r>
                <a14:m>
                  <m:oMath xmlns:m="http://schemas.openxmlformats.org/officeDocument/2006/math">
                    <m:sSup>
                      <m:sSupPr>
                        <m:ctrlPr>
                          <a:rPr lang="en-US" altLang="zh-CN" i="1" smtClean="0">
                            <a:latin typeface="Cambria Math" panose="02040503050406030204" pitchFamily="18" charset="0"/>
                          </a:rPr>
                        </m:ctrlPr>
                      </m:sSupPr>
                      <m:e>
                        <m:r>
                          <a:rPr lang="zh-CN" altLang="en-US" i="1" smtClean="0">
                            <a:latin typeface="Cambria Math" panose="02040503050406030204" pitchFamily="18" charset="0"/>
                          </a:rPr>
                          <m:t>𝛼</m:t>
                        </m:r>
                      </m:e>
                      <m:sup>
                        <m:r>
                          <a:rPr lang="en-US" altLang="zh-CN" b="0" i="1" smtClean="0">
                            <a:latin typeface="Cambria Math" panose="02040503050406030204" pitchFamily="18" charset="0"/>
                          </a:rPr>
                          <m:t>+</m:t>
                        </m:r>
                      </m:sup>
                    </m:sSup>
                  </m:oMath>
                </a14:m>
                <a:r>
                  <a:rPr lang="en-US" altLang="zh-CN" dirty="0"/>
                  <a:t> either includes no attributes of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r>
                      <a:rPr lang="en-US" altLang="zh-CN" b="0" i="1" smtClean="0">
                        <a:latin typeface="Cambria Math" panose="02040503050406030204" pitchFamily="18" charset="0"/>
                      </a:rPr>
                      <m:t>−</m:t>
                    </m:r>
                    <m:r>
                      <a:rPr lang="zh-CN" altLang="en-US" b="0" i="1" smtClean="0">
                        <a:latin typeface="Cambria Math" panose="02040503050406030204" pitchFamily="18" charset="0"/>
                      </a:rPr>
                      <m:t>𝛼</m:t>
                    </m:r>
                  </m:oMath>
                </a14:m>
                <a:r>
                  <a:rPr lang="zh-CN" altLang="en-US" dirty="0"/>
                  <a:t>（要么不是决定属性）</a:t>
                </a:r>
                <a:r>
                  <a:rPr lang="en-US" altLang="zh-CN" dirty="0"/>
                  <a:t>, or includes all attributes of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r>
                      <a:rPr lang="en-US" altLang="zh-CN" i="1">
                        <a:latin typeface="Cambria Math" panose="02040503050406030204" pitchFamily="18" charset="0"/>
                      </a:rPr>
                      <m:t> </m:t>
                    </m:r>
                  </m:oMath>
                </a14:m>
                <a:r>
                  <a:rPr lang="zh-CN" altLang="en-US" dirty="0"/>
                  <a:t>（要么是</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oMath>
                </a14:m>
                <a:r>
                  <a:rPr lang="zh-CN" altLang="en-US" dirty="0"/>
                  <a:t>的超码）</a:t>
                </a:r>
                <a:endParaRPr lang="en-US" altLang="zh-CN" dirty="0"/>
              </a:p>
              <a:p>
                <a:pPr lvl="2"/>
                <a:r>
                  <a:rPr lang="en-US" altLang="zh-CN" dirty="0"/>
                  <a:t>If the condition is violated by some </a:t>
                </a:r>
                <a14:m>
                  <m:oMath xmlns:m="http://schemas.openxmlformats.org/officeDocument/2006/math">
                    <m:r>
                      <a:rPr lang="zh-CN" altLang="en-US" i="1" smtClean="0">
                        <a:latin typeface="Cambria Math" panose="02040503050406030204" pitchFamily="18" charset="0"/>
                      </a:rPr>
                      <m:t>𝛼</m:t>
                    </m:r>
                    <m:r>
                      <a:rPr lang="zh-CN" altLang="en-US" i="1" smtClean="0">
                        <a:latin typeface="Cambria Math" panose="02040503050406030204" pitchFamily="18" charset="0"/>
                      </a:rPr>
                      <m:t>→</m:t>
                    </m:r>
                    <m:r>
                      <a:rPr lang="zh-CN" altLang="en-US" i="1" smtClean="0">
                        <a:latin typeface="Cambria Math" panose="02040503050406030204" pitchFamily="18" charset="0"/>
                      </a:rPr>
                      <m:t>𝛽</m:t>
                    </m:r>
                  </m:oMath>
                </a14:m>
                <a:r>
                  <a:rPr lang="en-US" altLang="zh-CN" dirty="0"/>
                  <a:t> in F, the FD </a:t>
                </a:r>
                <a14:m>
                  <m:oMath xmlns:m="http://schemas.openxmlformats.org/officeDocument/2006/math">
                    <m:r>
                      <a:rPr lang="zh-CN" altLang="en-US" i="1">
                        <a:latin typeface="Cambria Math" panose="02040503050406030204" pitchFamily="18" charset="0"/>
                      </a:rPr>
                      <m:t>𝛼</m:t>
                    </m:r>
                    <m:r>
                      <a:rPr lang="zh-CN" altLang="en-US" i="1">
                        <a:latin typeface="Cambria Math" panose="02040503050406030204" pitchFamily="18" charset="0"/>
                      </a:rPr>
                      <m:t>→(</m:t>
                    </m:r>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𝛼</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r>
                      <a:rPr lang="zh-CN" altLang="en-US" b="0" i="1" smtClean="0">
                        <a:latin typeface="Cambria Math" panose="02040503050406030204" pitchFamily="18" charset="0"/>
                      </a:rPr>
                      <m:t>𝛼</m:t>
                    </m:r>
                    <m:r>
                      <a:rPr lang="zh-CN" altLang="en-US" b="0" i="1" smtClean="0">
                        <a:latin typeface="Cambria Math" panose="02040503050406030204" pitchFamily="18" charset="0"/>
                      </a:rPr>
                      <m:t>)⋂</m:t>
                    </m:r>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𝑅</m:t>
                        </m:r>
                      </m:e>
                      <m:sub>
                        <m:r>
                          <a:rPr lang="en-US" altLang="zh-CN" b="0" i="1" smtClean="0">
                            <a:latin typeface="Cambria Math" panose="02040503050406030204" pitchFamily="18" charset="0"/>
                            <a:ea typeface="Cambria Math" panose="02040503050406030204" pitchFamily="18" charset="0"/>
                          </a:rPr>
                          <m:t>𝑖</m:t>
                        </m:r>
                      </m:sub>
                    </m:sSub>
                  </m:oMath>
                </a14:m>
                <a:r>
                  <a:rPr lang="en-US" altLang="zh-CN" dirty="0"/>
                  <a:t> can be shown to hold on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oMath>
                </a14:m>
                <a:r>
                  <a:rPr lang="en-US" altLang="zh-CN" dirty="0"/>
                  <a:t>, and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𝑅</m:t>
                        </m:r>
                      </m:e>
                      <m:sub>
                        <m:r>
                          <a:rPr lang="en-US" altLang="zh-CN" i="1">
                            <a:latin typeface="Cambria Math" panose="02040503050406030204" pitchFamily="18" charset="0"/>
                          </a:rPr>
                          <m:t>𝑖</m:t>
                        </m:r>
                      </m:sub>
                    </m:sSub>
                  </m:oMath>
                </a14:m>
                <a:r>
                  <a:rPr lang="en-US" altLang="zh-CN" dirty="0"/>
                  <a:t> violates BCNF</a:t>
                </a:r>
              </a:p>
              <a:p>
                <a:endParaRPr lang="zh-CN" altLang="en-US" sz="2000" dirty="0"/>
              </a:p>
            </p:txBody>
          </p:sp>
        </mc:Choice>
        <mc:Fallback xmlns="">
          <p:sp>
            <p:nvSpPr>
              <p:cNvPr id="3" name="内容占位符 2">
                <a:extLst>
                  <a:ext uri="{FF2B5EF4-FFF2-40B4-BE49-F238E27FC236}">
                    <a16:creationId xmlns:a16="http://schemas.microsoft.com/office/drawing/2014/main" id="{9310C321-62F5-443C-B037-DF7112D42010}"/>
                  </a:ext>
                </a:extLst>
              </p:cNvPr>
              <p:cNvSpPr>
                <a:spLocks noGrp="1" noRot="1" noChangeAspect="1" noMove="1" noResize="1" noEditPoints="1" noAdjustHandles="1" noChangeArrowheads="1" noChangeShapeType="1" noTextEdit="1"/>
              </p:cNvSpPr>
              <p:nvPr>
                <p:ph idx="1"/>
              </p:nvPr>
            </p:nvSpPr>
            <p:spPr>
              <a:blipFill>
                <a:blip r:embed="rId2"/>
                <a:stretch>
                  <a:fillRect l="-640" t="-801" r="-7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9436555"/>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066770-9782-4A0A-A43E-5AD69A614ACD}"/>
              </a:ext>
            </a:extLst>
          </p:cNvPr>
          <p:cNvSpPr>
            <a:spLocks noGrp="1"/>
          </p:cNvSpPr>
          <p:nvPr>
            <p:ph type="title"/>
          </p:nvPr>
        </p:nvSpPr>
        <p:spPr/>
        <p:txBody>
          <a:bodyPr/>
          <a:lstStyle/>
          <a:p>
            <a:pPr algn="ctr"/>
            <a:r>
              <a:rPr lang="en-US" altLang="zh-CN" dirty="0"/>
              <a:t>BCNF Decomposition Algorithm</a:t>
            </a:r>
            <a:endParaRPr lang="zh-CN" altLang="en-US" dirty="0"/>
          </a:p>
        </p:txBody>
      </p:sp>
      <p:sp>
        <p:nvSpPr>
          <p:cNvPr id="4" name="Rectangle 3">
            <a:extLst>
              <a:ext uri="{FF2B5EF4-FFF2-40B4-BE49-F238E27FC236}">
                <a16:creationId xmlns:a16="http://schemas.microsoft.com/office/drawing/2014/main" id="{2B586BAA-3D88-430A-9753-60B1F9CEBF4A}"/>
              </a:ext>
            </a:extLst>
          </p:cNvPr>
          <p:cNvSpPr txBox="1">
            <a:spLocks noChangeArrowheads="1"/>
          </p:cNvSpPr>
          <p:nvPr/>
        </p:nvSpPr>
        <p:spPr bwMode="auto">
          <a:xfrm>
            <a:off x="899592" y="843558"/>
            <a:ext cx="6984776" cy="36968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Arial" panose="020B0604020202020204" pitchFamily="34" charset="0"/>
                <a:ea typeface="微软雅黑" pitchFamily="34" charset="-122"/>
                <a:cs typeface="Arial" panose="020B0604020202020204" pitchFamily="34" charset="0"/>
              </a:defRPr>
            </a:lvl1pPr>
            <a:lvl2pPr marL="742950" indent="-285750" algn="l" rtl="0" eaLnBrk="0" fontAlgn="base" hangingPunct="0">
              <a:spcBef>
                <a:spcPct val="20000"/>
              </a:spcBef>
              <a:spcAft>
                <a:spcPct val="0"/>
              </a:spcAft>
              <a:buChar char="–"/>
              <a:defRPr sz="2000">
                <a:solidFill>
                  <a:schemeClr val="tx1"/>
                </a:solidFill>
                <a:latin typeface="Arial" panose="020B0604020202020204" pitchFamily="34" charset="0"/>
                <a:ea typeface="微软雅黑" pitchFamily="34" charset="-122"/>
                <a:cs typeface="Arial" panose="020B0604020202020204" pitchFamily="34" charset="0"/>
              </a:defRPr>
            </a:lvl2pPr>
            <a:lvl3pPr marL="1143000" indent="-228600" algn="l" rtl="0" eaLnBrk="0" fontAlgn="base" hangingPunct="0">
              <a:spcBef>
                <a:spcPct val="20000"/>
              </a:spcBef>
              <a:spcAft>
                <a:spcPct val="0"/>
              </a:spcAft>
              <a:buChar char="•"/>
              <a:defRPr sz="1800">
                <a:solidFill>
                  <a:schemeClr val="tx1"/>
                </a:solidFill>
                <a:latin typeface="Arial" panose="020B0604020202020204" pitchFamily="34" charset="0"/>
                <a:ea typeface="微软雅黑" pitchFamily="34" charset="-122"/>
                <a:cs typeface="Arial" panose="020B0604020202020204" pitchFamily="34" charset="0"/>
              </a:defRPr>
            </a:lvl3pPr>
            <a:lvl4pPr marL="16002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4pPr>
            <a:lvl5pPr marL="2057400" indent="-228600" algn="l" rtl="0" eaLnBrk="0" fontAlgn="base" hangingPunct="0">
              <a:spcBef>
                <a:spcPct val="20000"/>
              </a:spcBef>
              <a:spcAft>
                <a:spcPct val="0"/>
              </a:spcAft>
              <a:buChar char="»"/>
              <a:defRPr sz="1600">
                <a:solidFill>
                  <a:schemeClr val="tx1"/>
                </a:solidFill>
                <a:latin typeface="Arial" panose="020B0604020202020204" pitchFamily="34" charset="0"/>
                <a:ea typeface="微软雅黑" pitchFamily="34" charset="-122"/>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spcBef>
                <a:spcPts val="600"/>
              </a:spcBef>
              <a:buFontTx/>
              <a:buNone/>
              <a:tabLst>
                <a:tab pos="423863" algn="l"/>
                <a:tab pos="602456" algn="l"/>
                <a:tab pos="1116806" algn="l"/>
                <a:tab pos="1328738" algn="l"/>
              </a:tabLst>
            </a:pPr>
            <a:r>
              <a:rPr lang="zh-CN" altLang="en-US" sz="1800" i="1" kern="0" dirty="0">
                <a:ea typeface="宋体" panose="02010600030101010101" pitchFamily="2" charset="-122"/>
              </a:rPr>
              <a:t>	</a:t>
            </a:r>
            <a:r>
              <a:rPr lang="en-US" altLang="zh-CN" sz="1800" i="1" kern="0" dirty="0">
                <a:ea typeface="宋体" panose="02010600030101010101" pitchFamily="2" charset="-122"/>
              </a:rPr>
              <a:t>result </a:t>
            </a:r>
            <a:r>
              <a:rPr lang="en-US" altLang="zh-CN" sz="1800" kern="0" dirty="0">
                <a:ea typeface="宋体" panose="02010600030101010101" pitchFamily="2" charset="-122"/>
              </a:rPr>
              <a:t>:= {</a:t>
            </a:r>
            <a:r>
              <a:rPr lang="en-US" altLang="zh-CN" sz="1800" i="1" kern="0" dirty="0">
                <a:ea typeface="宋体" panose="02010600030101010101" pitchFamily="2" charset="-122"/>
              </a:rPr>
              <a:t>R</a:t>
            </a:r>
            <a:r>
              <a:rPr lang="en-US" altLang="zh-CN" sz="1800" kern="0" dirty="0">
                <a:ea typeface="宋体" panose="02010600030101010101" pitchFamily="2" charset="-122"/>
              </a:rPr>
              <a:t>};</a:t>
            </a:r>
            <a:br>
              <a:rPr lang="en-US" altLang="zh-CN" sz="1800" kern="0" dirty="0">
                <a:ea typeface="宋体" panose="02010600030101010101" pitchFamily="2" charset="-122"/>
              </a:rPr>
            </a:br>
            <a:r>
              <a:rPr lang="en-US" altLang="zh-CN" sz="1800" i="1" kern="0" dirty="0">
                <a:ea typeface="宋体" panose="02010600030101010101" pitchFamily="2" charset="-122"/>
              </a:rPr>
              <a:t>done </a:t>
            </a:r>
            <a:r>
              <a:rPr lang="en-US" altLang="zh-CN" sz="1800" kern="0" dirty="0">
                <a:ea typeface="宋体" panose="02010600030101010101" pitchFamily="2" charset="-122"/>
              </a:rPr>
              <a:t>:= false;</a:t>
            </a:r>
            <a:br>
              <a:rPr lang="en-US" altLang="zh-CN" sz="1800" kern="0" dirty="0">
                <a:ea typeface="宋体" panose="02010600030101010101" pitchFamily="2" charset="-122"/>
              </a:rPr>
            </a:br>
            <a:r>
              <a:rPr lang="en-US" altLang="zh-CN" sz="1800" kern="0" dirty="0">
                <a:ea typeface="宋体" panose="02010600030101010101" pitchFamily="2" charset="-122"/>
              </a:rPr>
              <a:t>compute </a:t>
            </a:r>
            <a:r>
              <a:rPr lang="en-US" altLang="zh-CN" sz="1800" i="1" kern="0" dirty="0">
                <a:ea typeface="宋体" panose="02010600030101010101" pitchFamily="2" charset="-122"/>
              </a:rPr>
              <a:t>F</a:t>
            </a:r>
            <a:r>
              <a:rPr lang="en-US" altLang="zh-CN" sz="1800" i="1" kern="0" baseline="30000" dirty="0">
                <a:ea typeface="宋体" panose="02010600030101010101" pitchFamily="2" charset="-122"/>
              </a:rPr>
              <a:t>+</a:t>
            </a:r>
            <a:r>
              <a:rPr lang="en-US" altLang="zh-CN" sz="1800" kern="0" dirty="0">
                <a:ea typeface="宋体" panose="02010600030101010101" pitchFamily="2" charset="-122"/>
              </a:rPr>
              <a:t>;</a:t>
            </a:r>
            <a:br>
              <a:rPr lang="en-US" altLang="zh-CN" sz="1800" kern="0" dirty="0">
                <a:ea typeface="宋体" panose="02010600030101010101" pitchFamily="2" charset="-122"/>
              </a:rPr>
            </a:br>
            <a:r>
              <a:rPr lang="en-US" altLang="zh-CN" sz="1800" kern="0" dirty="0">
                <a:solidFill>
                  <a:srgbClr val="0000FF"/>
                </a:solidFill>
                <a:ea typeface="宋体" panose="02010600030101010101" pitchFamily="2" charset="-122"/>
              </a:rPr>
              <a:t>while (not</a:t>
            </a:r>
            <a:r>
              <a:rPr lang="en-US" altLang="zh-CN" sz="1800" kern="0" dirty="0">
                <a:ea typeface="宋体" panose="02010600030101010101" pitchFamily="2" charset="-122"/>
              </a:rPr>
              <a:t> </a:t>
            </a:r>
            <a:r>
              <a:rPr lang="en-US" altLang="zh-CN" sz="1800" i="1" kern="0" dirty="0">
                <a:ea typeface="宋体" panose="02010600030101010101" pitchFamily="2" charset="-122"/>
              </a:rPr>
              <a:t>done) </a:t>
            </a:r>
            <a:r>
              <a:rPr lang="en-US" altLang="zh-CN" sz="1800" kern="0" dirty="0">
                <a:solidFill>
                  <a:srgbClr val="0000FF"/>
                </a:solidFill>
                <a:ea typeface="宋体" panose="02010600030101010101" pitchFamily="2" charset="-122"/>
              </a:rPr>
              <a:t>do</a:t>
            </a:r>
            <a:br>
              <a:rPr lang="en-US" altLang="zh-CN" sz="1800" kern="0" dirty="0">
                <a:ea typeface="宋体" panose="02010600030101010101" pitchFamily="2" charset="-122"/>
              </a:rPr>
            </a:br>
            <a:r>
              <a:rPr lang="en-US" altLang="zh-CN" sz="1800" kern="0" dirty="0">
                <a:ea typeface="宋体" panose="02010600030101010101" pitchFamily="2" charset="-122"/>
              </a:rPr>
              <a:t>	  </a:t>
            </a:r>
            <a:r>
              <a:rPr lang="en-US" altLang="zh-CN" sz="1800" kern="0" dirty="0">
                <a:solidFill>
                  <a:srgbClr val="0000FF"/>
                </a:solidFill>
                <a:ea typeface="宋体" panose="02010600030101010101" pitchFamily="2" charset="-122"/>
              </a:rPr>
              <a:t>if</a:t>
            </a:r>
            <a:r>
              <a:rPr lang="en-US" altLang="zh-CN" sz="1800" kern="0" dirty="0">
                <a:ea typeface="宋体" panose="02010600030101010101" pitchFamily="2" charset="-122"/>
              </a:rPr>
              <a:t> (there is a schema </a:t>
            </a:r>
            <a:r>
              <a:rPr lang="en-US" altLang="zh-CN" sz="1800" i="1" kern="0" dirty="0">
                <a:ea typeface="宋体" panose="02010600030101010101" pitchFamily="2" charset="-122"/>
              </a:rPr>
              <a:t>R</a:t>
            </a:r>
            <a:r>
              <a:rPr lang="en-US" altLang="zh-CN" sz="1800" i="1" kern="0" baseline="-25000" dirty="0">
                <a:ea typeface="宋体" panose="02010600030101010101" pitchFamily="2" charset="-122"/>
              </a:rPr>
              <a:t>i</a:t>
            </a:r>
            <a:r>
              <a:rPr lang="en-US" altLang="zh-CN" sz="1800" i="1" kern="0" dirty="0">
                <a:ea typeface="宋体" panose="02010600030101010101" pitchFamily="2" charset="-122"/>
              </a:rPr>
              <a:t> </a:t>
            </a:r>
            <a:r>
              <a:rPr lang="en-US" altLang="zh-CN" sz="1800" kern="0" dirty="0">
                <a:ea typeface="宋体" panose="02010600030101010101" pitchFamily="2" charset="-122"/>
              </a:rPr>
              <a:t>in </a:t>
            </a:r>
            <a:r>
              <a:rPr lang="en-US" altLang="zh-CN" sz="1800" i="1" kern="0" dirty="0">
                <a:ea typeface="宋体" panose="02010600030101010101" pitchFamily="2" charset="-122"/>
              </a:rPr>
              <a:t>result </a:t>
            </a:r>
            <a:r>
              <a:rPr lang="en-US" altLang="zh-CN" sz="1800" kern="0" dirty="0">
                <a:ea typeface="宋体" panose="02010600030101010101" pitchFamily="2" charset="-122"/>
              </a:rPr>
              <a:t> that is not in BCNF)</a:t>
            </a:r>
            <a:br>
              <a:rPr lang="en-US" altLang="zh-CN" sz="1800" kern="0" dirty="0">
                <a:ea typeface="宋体" panose="02010600030101010101" pitchFamily="2" charset="-122"/>
              </a:rPr>
            </a:br>
            <a:r>
              <a:rPr lang="en-US" altLang="zh-CN" sz="1800" kern="0" dirty="0">
                <a:ea typeface="宋体" panose="02010600030101010101" pitchFamily="2" charset="-122"/>
              </a:rPr>
              <a:t>		  </a:t>
            </a:r>
            <a:r>
              <a:rPr lang="en-US" altLang="zh-CN" sz="1800" kern="0" dirty="0">
                <a:solidFill>
                  <a:srgbClr val="0000FF"/>
                </a:solidFill>
                <a:ea typeface="宋体" panose="02010600030101010101" pitchFamily="2" charset="-122"/>
              </a:rPr>
              <a:t>then begin</a:t>
            </a:r>
            <a:br>
              <a:rPr lang="en-US" altLang="zh-CN" sz="1800" kern="0" dirty="0">
                <a:ea typeface="宋体" panose="02010600030101010101" pitchFamily="2" charset="-122"/>
              </a:rPr>
            </a:br>
            <a:r>
              <a:rPr lang="en-US" altLang="zh-CN" sz="1800" kern="0" dirty="0">
                <a:ea typeface="宋体" panose="02010600030101010101" pitchFamily="2" charset="-122"/>
              </a:rPr>
              <a:t>			let </a:t>
            </a:r>
            <a:r>
              <a:rPr lang="en-US" altLang="zh-CN" sz="1800" kern="0" dirty="0">
                <a:ea typeface="宋体" panose="02010600030101010101" pitchFamily="2" charset="-122"/>
                <a:sym typeface="Symbol" panose="05050102010706020507" pitchFamily="18" charset="2"/>
              </a:rPr>
              <a:t></a:t>
            </a:r>
            <a:r>
              <a:rPr lang="en-US" altLang="zh-CN" sz="1800" i="1" kern="0" dirty="0">
                <a:ea typeface="宋体" panose="02010600030101010101" pitchFamily="2" charset="-122"/>
                <a:sym typeface="Symbol" panose="05050102010706020507" pitchFamily="18" charset="2"/>
              </a:rPr>
              <a:t></a:t>
            </a:r>
            <a:r>
              <a:rPr lang="en-US" altLang="zh-CN" sz="1800" i="1" kern="0" dirty="0">
                <a:ea typeface="宋体" panose="02010600030101010101" pitchFamily="2" charset="-122"/>
                <a:sym typeface="Greek Symbols" pitchFamily="18" charset="2"/>
              </a:rPr>
              <a:t> </a:t>
            </a:r>
            <a:r>
              <a:rPr lang="en-US" altLang="zh-CN" sz="1800" kern="0" dirty="0">
                <a:ea typeface="宋体" panose="02010600030101010101" pitchFamily="2" charset="-122"/>
                <a:sym typeface="Greek Symbols" pitchFamily="18" charset="2"/>
              </a:rPr>
              <a:t> be a non-trivial FD that holds on </a:t>
            </a:r>
            <a:r>
              <a:rPr lang="en-US" altLang="zh-CN" sz="1800" i="1" kern="0" dirty="0">
                <a:ea typeface="宋体" panose="02010600030101010101" pitchFamily="2" charset="-122"/>
                <a:sym typeface="Greek Symbols" pitchFamily="18" charset="2"/>
              </a:rPr>
              <a:t>R</a:t>
            </a:r>
            <a:r>
              <a:rPr lang="en-US" altLang="zh-CN" sz="1800" i="1" kern="0" baseline="-25000" dirty="0">
                <a:ea typeface="宋体" panose="02010600030101010101" pitchFamily="2" charset="-122"/>
                <a:sym typeface="Greek Symbols" pitchFamily="18" charset="2"/>
              </a:rPr>
              <a:t>i</a:t>
            </a:r>
            <a:br>
              <a:rPr lang="en-US" altLang="zh-CN" sz="1800" i="1" kern="0" dirty="0">
                <a:ea typeface="宋体" panose="02010600030101010101" pitchFamily="2" charset="-122"/>
                <a:sym typeface="Greek Symbols" pitchFamily="18" charset="2"/>
              </a:rPr>
            </a:br>
            <a:r>
              <a:rPr lang="en-US" altLang="zh-CN" sz="1800" i="1" kern="0" dirty="0">
                <a:ea typeface="宋体" panose="02010600030101010101" pitchFamily="2" charset="-122"/>
                <a:sym typeface="Greek Symbols" pitchFamily="18" charset="2"/>
              </a:rPr>
              <a:t>				</a:t>
            </a:r>
            <a:r>
              <a:rPr lang="en-US" altLang="zh-CN" sz="1800" kern="0" dirty="0">
                <a:ea typeface="宋体" panose="02010600030101010101" pitchFamily="2" charset="-122"/>
                <a:sym typeface="Greek Symbols" pitchFamily="18" charset="2"/>
              </a:rPr>
              <a:t>such that </a:t>
            </a:r>
            <a:r>
              <a:rPr lang="en-US" altLang="zh-CN" sz="1800" kern="0" dirty="0">
                <a:ea typeface="宋体" panose="02010600030101010101" pitchFamily="2" charset="-122"/>
                <a:sym typeface="Symbol" panose="05050102010706020507" pitchFamily="18" charset="2"/>
              </a:rPr>
              <a:t></a:t>
            </a:r>
            <a:r>
              <a:rPr lang="en-US" altLang="zh-CN" sz="1800" i="1" kern="0" dirty="0">
                <a:ea typeface="宋体" panose="02010600030101010101" pitchFamily="2" charset="-122"/>
                <a:sym typeface="Greek Symbols" pitchFamily="18" charset="2"/>
              </a:rPr>
              <a:t>R</a:t>
            </a:r>
            <a:r>
              <a:rPr lang="en-US" altLang="zh-CN" sz="1800" i="1" kern="0" baseline="-25000" dirty="0">
                <a:ea typeface="宋体" panose="02010600030101010101" pitchFamily="2" charset="-122"/>
                <a:sym typeface="Greek Symbols" pitchFamily="18" charset="2"/>
              </a:rPr>
              <a:t>i</a:t>
            </a:r>
            <a:r>
              <a:rPr lang="en-US" altLang="zh-CN" sz="1800" i="1" kern="0" dirty="0">
                <a:ea typeface="宋体" panose="02010600030101010101" pitchFamily="2" charset="-122"/>
                <a:sym typeface="Greek Symbols" pitchFamily="18" charset="2"/>
              </a:rPr>
              <a:t> </a:t>
            </a:r>
            <a:r>
              <a:rPr lang="en-US" altLang="zh-CN" sz="1800" kern="0" dirty="0">
                <a:ea typeface="宋体" panose="02010600030101010101" pitchFamily="2" charset="-122"/>
                <a:sym typeface="Greek Symbols" pitchFamily="18" charset="2"/>
              </a:rPr>
              <a:t>is not in </a:t>
            </a:r>
            <a:r>
              <a:rPr lang="en-US" altLang="zh-CN" sz="1800" i="1" kern="0" dirty="0">
                <a:ea typeface="宋体" panose="02010600030101010101" pitchFamily="2" charset="-122"/>
                <a:sym typeface="Greek Symbols" pitchFamily="18" charset="2"/>
              </a:rPr>
              <a:t>F</a:t>
            </a:r>
            <a:r>
              <a:rPr lang="en-US" altLang="zh-CN" sz="1800" i="1" kern="0" baseline="30000" dirty="0">
                <a:ea typeface="宋体" panose="02010600030101010101" pitchFamily="2" charset="-122"/>
                <a:sym typeface="Greek Symbols" pitchFamily="18" charset="2"/>
              </a:rPr>
              <a:t>+</a:t>
            </a:r>
            <a:r>
              <a:rPr lang="en-US" altLang="zh-CN" sz="1800" kern="0" dirty="0">
                <a:ea typeface="宋体" panose="02010600030101010101" pitchFamily="2" charset="-122"/>
                <a:sym typeface="Greek Symbols" pitchFamily="18" charset="2"/>
              </a:rPr>
              <a:t>, and </a:t>
            </a:r>
            <a:r>
              <a:rPr lang="en-US" altLang="zh-CN" sz="1800" kern="0" dirty="0">
                <a:ea typeface="宋体" panose="02010600030101010101" pitchFamily="2" charset="-122"/>
                <a:sym typeface="Symbol" panose="05050102010706020507" pitchFamily="18" charset="2"/>
              </a:rPr>
              <a:t></a:t>
            </a:r>
            <a:r>
              <a:rPr lang="en-US" altLang="zh-CN" sz="1800" i="1" kern="0" dirty="0">
                <a:ea typeface="宋体" panose="02010600030101010101" pitchFamily="2" charset="-122"/>
                <a:sym typeface="Symbol" panose="05050102010706020507" pitchFamily="18" charset="2"/>
              </a:rPr>
              <a:t></a:t>
            </a:r>
            <a:r>
              <a:rPr lang="en-US" altLang="zh-CN" sz="1800" i="1" kern="0" dirty="0">
                <a:ea typeface="宋体" panose="02010600030101010101" pitchFamily="2" charset="-122"/>
                <a:sym typeface="Greek Symbols" pitchFamily="18" charset="2"/>
              </a:rPr>
              <a:t> = </a:t>
            </a:r>
            <a:r>
              <a:rPr lang="en-US" altLang="zh-CN" sz="1800" kern="0" dirty="0">
                <a:ea typeface="宋体" panose="02010600030101010101" pitchFamily="2" charset="-122"/>
                <a:sym typeface="Symbol" panose="05050102010706020507" pitchFamily="18" charset="2"/>
              </a:rPr>
              <a:t>;</a:t>
            </a:r>
            <a:br>
              <a:rPr lang="en-US" altLang="zh-CN" sz="1800" kern="0" dirty="0">
                <a:ea typeface="宋体" panose="02010600030101010101" pitchFamily="2" charset="-122"/>
                <a:sym typeface="Symbol" panose="05050102010706020507" pitchFamily="18" charset="2"/>
              </a:rPr>
            </a:br>
            <a:r>
              <a:rPr lang="en-US" altLang="zh-CN" sz="1800" kern="0" dirty="0">
                <a:ea typeface="宋体" panose="02010600030101010101" pitchFamily="2" charset="-122"/>
                <a:sym typeface="Symbol" panose="05050102010706020507" pitchFamily="18" charset="2"/>
              </a:rPr>
              <a:t>			   </a:t>
            </a:r>
            <a:r>
              <a:rPr lang="en-US" altLang="zh-CN" sz="1800" i="1" kern="0" dirty="0">
                <a:ea typeface="宋体" panose="02010600030101010101" pitchFamily="2" charset="-122"/>
                <a:sym typeface="Symbol" panose="05050102010706020507" pitchFamily="18" charset="2"/>
              </a:rPr>
              <a:t>result </a:t>
            </a:r>
            <a:r>
              <a:rPr lang="en-US" altLang="zh-CN" sz="1800" kern="0" dirty="0">
                <a:ea typeface="宋体" panose="02010600030101010101" pitchFamily="2" charset="-122"/>
                <a:sym typeface="Symbol" panose="05050102010706020507" pitchFamily="18" charset="2"/>
              </a:rPr>
              <a:t>:= (</a:t>
            </a:r>
            <a:r>
              <a:rPr lang="en-US" altLang="zh-CN" sz="1800" i="1" kern="0" dirty="0">
                <a:ea typeface="宋体" panose="02010600030101010101" pitchFamily="2" charset="-122"/>
                <a:sym typeface="Symbol" panose="05050102010706020507" pitchFamily="18" charset="2"/>
              </a:rPr>
              <a:t>result – R</a:t>
            </a:r>
            <a:r>
              <a:rPr lang="en-US" altLang="zh-CN" sz="1800" i="1" kern="0" baseline="-25000" dirty="0">
                <a:ea typeface="宋体" panose="02010600030101010101" pitchFamily="2" charset="-122"/>
                <a:sym typeface="Symbol" panose="05050102010706020507" pitchFamily="18" charset="2"/>
              </a:rPr>
              <a:t>i</a:t>
            </a:r>
            <a:r>
              <a:rPr lang="en-US" altLang="zh-CN" sz="1800" i="1" kern="0" dirty="0">
                <a:ea typeface="宋体" panose="02010600030101010101" pitchFamily="2" charset="-122"/>
                <a:sym typeface="Symbol" panose="05050102010706020507" pitchFamily="18" charset="2"/>
              </a:rPr>
              <a:t>) </a:t>
            </a:r>
            <a:r>
              <a:rPr lang="en-US" altLang="zh-CN" sz="1800" kern="0" dirty="0">
                <a:ea typeface="宋体" panose="02010600030101010101" pitchFamily="2" charset="-122"/>
                <a:sym typeface="Symbol" panose="05050102010706020507" pitchFamily="18" charset="2"/>
              </a:rPr>
              <a:t> (</a:t>
            </a:r>
            <a:r>
              <a:rPr lang="en-US" altLang="zh-CN" sz="1800" i="1" kern="0" dirty="0">
                <a:ea typeface="宋体" panose="02010600030101010101" pitchFamily="2" charset="-122"/>
                <a:sym typeface="Symbol" panose="05050102010706020507" pitchFamily="18" charset="2"/>
              </a:rPr>
              <a:t>R</a:t>
            </a:r>
            <a:r>
              <a:rPr lang="en-US" altLang="zh-CN" sz="1800" i="1" kern="0" baseline="-25000" dirty="0">
                <a:ea typeface="宋体" panose="02010600030101010101" pitchFamily="2" charset="-122"/>
                <a:sym typeface="Symbol" panose="05050102010706020507" pitchFamily="18" charset="2"/>
              </a:rPr>
              <a:t>i</a:t>
            </a:r>
            <a:r>
              <a:rPr lang="en-US" altLang="zh-CN" sz="1800" i="1" kern="0" dirty="0">
                <a:ea typeface="宋体" panose="02010600030101010101" pitchFamily="2" charset="-122"/>
                <a:sym typeface="Symbol" panose="05050102010706020507" pitchFamily="18" charset="2"/>
              </a:rPr>
              <a:t> – </a:t>
            </a:r>
            <a:r>
              <a:rPr lang="en-US" altLang="zh-CN" sz="1800" kern="0" dirty="0">
                <a:ea typeface="宋体" panose="02010600030101010101" pitchFamily="2" charset="-122"/>
                <a:sym typeface="Greek Symbols" pitchFamily="18" charset="2"/>
              </a:rPr>
              <a:t>) </a:t>
            </a:r>
            <a:r>
              <a:rPr lang="en-US" altLang="zh-CN" sz="1800" kern="0" dirty="0">
                <a:ea typeface="宋体" panose="02010600030101010101" pitchFamily="2" charset="-122"/>
                <a:sym typeface="Symbol" panose="05050102010706020507" pitchFamily="18" charset="2"/>
              </a:rPr>
              <a:t> (</a:t>
            </a:r>
            <a:r>
              <a:rPr lang="en-US" altLang="zh-CN" sz="1800" kern="0" dirty="0">
                <a:ea typeface="宋体" panose="02010600030101010101" pitchFamily="2" charset="-122"/>
                <a:sym typeface="Greek Symbols" pitchFamily="18" charset="2"/>
              </a:rPr>
              <a:t>, </a:t>
            </a:r>
            <a:r>
              <a:rPr lang="en-US" altLang="zh-CN" sz="1800" i="1" kern="0" dirty="0">
                <a:ea typeface="宋体" panose="02010600030101010101" pitchFamily="2" charset="-122"/>
                <a:sym typeface="Symbol" panose="05050102010706020507" pitchFamily="18" charset="2"/>
              </a:rPr>
              <a:t></a:t>
            </a:r>
            <a:r>
              <a:rPr lang="en-US" altLang="zh-CN" sz="1800" i="1" kern="0" dirty="0">
                <a:ea typeface="宋体" panose="02010600030101010101" pitchFamily="2" charset="-122"/>
                <a:sym typeface="Greek Symbols" pitchFamily="18" charset="2"/>
              </a:rPr>
              <a:t>);</a:t>
            </a:r>
            <a:br>
              <a:rPr lang="en-US" altLang="zh-CN" sz="1800" i="1" kern="0" dirty="0">
                <a:ea typeface="宋体" panose="02010600030101010101" pitchFamily="2" charset="-122"/>
                <a:sym typeface="Greek Symbols" pitchFamily="18" charset="2"/>
              </a:rPr>
            </a:br>
            <a:r>
              <a:rPr lang="en-US" altLang="zh-CN" sz="1800" i="1" kern="0" dirty="0">
                <a:ea typeface="宋体" panose="02010600030101010101" pitchFamily="2" charset="-122"/>
                <a:sym typeface="Greek Symbols" pitchFamily="18" charset="2"/>
              </a:rPr>
              <a:t>	    </a:t>
            </a:r>
            <a:r>
              <a:rPr lang="en-US" altLang="zh-CN" sz="1800" kern="0" dirty="0">
                <a:solidFill>
                  <a:srgbClr val="0000FF"/>
                </a:solidFill>
                <a:ea typeface="宋体" panose="02010600030101010101" pitchFamily="2" charset="-122"/>
                <a:sym typeface="Greek Symbols" pitchFamily="18" charset="2"/>
              </a:rPr>
              <a:t>end</a:t>
            </a:r>
            <a:br>
              <a:rPr lang="en-US" altLang="zh-CN" sz="1800" kern="0" dirty="0">
                <a:ea typeface="宋体" panose="02010600030101010101" pitchFamily="2" charset="-122"/>
                <a:sym typeface="Greek Symbols" pitchFamily="18" charset="2"/>
              </a:rPr>
            </a:br>
            <a:r>
              <a:rPr lang="en-US" altLang="zh-CN" sz="1800" kern="0" dirty="0">
                <a:ea typeface="宋体" panose="02010600030101010101" pitchFamily="2" charset="-122"/>
                <a:sym typeface="Greek Symbols" pitchFamily="18" charset="2"/>
              </a:rPr>
              <a:t>	 </a:t>
            </a:r>
            <a:r>
              <a:rPr lang="en-US" altLang="zh-CN" sz="1800" kern="0" dirty="0">
                <a:solidFill>
                  <a:srgbClr val="0000FF"/>
                </a:solidFill>
                <a:ea typeface="宋体" panose="02010600030101010101" pitchFamily="2" charset="-122"/>
                <a:sym typeface="Greek Symbols" pitchFamily="18" charset="2"/>
              </a:rPr>
              <a:t>else</a:t>
            </a:r>
            <a:r>
              <a:rPr lang="en-US" altLang="zh-CN" sz="1800" i="1" kern="0" dirty="0">
                <a:ea typeface="宋体" panose="02010600030101010101" pitchFamily="2" charset="-122"/>
                <a:sym typeface="Greek Symbols" pitchFamily="18" charset="2"/>
              </a:rPr>
              <a:t> done </a:t>
            </a:r>
            <a:r>
              <a:rPr lang="en-US" altLang="zh-CN" sz="1800" kern="0" dirty="0">
                <a:ea typeface="宋体" panose="02010600030101010101" pitchFamily="2" charset="-122"/>
                <a:sym typeface="Greek Symbols" pitchFamily="18" charset="2"/>
              </a:rPr>
              <a:t>:= </a:t>
            </a:r>
            <a:r>
              <a:rPr lang="en-US" altLang="zh-CN" sz="1800" kern="0" dirty="0">
                <a:solidFill>
                  <a:srgbClr val="0000FF"/>
                </a:solidFill>
                <a:ea typeface="宋体" panose="02010600030101010101" pitchFamily="2" charset="-122"/>
                <a:sym typeface="Greek Symbols" pitchFamily="18" charset="2"/>
              </a:rPr>
              <a:t>true</a:t>
            </a:r>
            <a:r>
              <a:rPr lang="en-US" altLang="zh-CN" sz="1800" kern="0" dirty="0">
                <a:ea typeface="宋体" panose="02010600030101010101" pitchFamily="2" charset="-122"/>
                <a:sym typeface="Greek Symbols" pitchFamily="18" charset="2"/>
              </a:rPr>
              <a:t>;</a:t>
            </a:r>
          </a:p>
          <a:p>
            <a:pPr>
              <a:spcBef>
                <a:spcPts val="600"/>
              </a:spcBef>
              <a:buFontTx/>
              <a:buNone/>
              <a:tabLst>
                <a:tab pos="423863" algn="l"/>
                <a:tab pos="602456" algn="l"/>
                <a:tab pos="1116806" algn="l"/>
                <a:tab pos="1328738" algn="l"/>
              </a:tabLst>
            </a:pPr>
            <a:r>
              <a:rPr lang="en-US" altLang="zh-CN" sz="1800" b="1" kern="0" dirty="0">
                <a:solidFill>
                  <a:srgbClr val="FF0000"/>
                </a:solidFill>
                <a:ea typeface="宋体" panose="02010600030101010101" pitchFamily="2" charset="-122"/>
                <a:sym typeface="Greek Symbols" pitchFamily="18" charset="2"/>
              </a:rPr>
              <a:t>Note</a:t>
            </a:r>
            <a:r>
              <a:rPr lang="en-US" altLang="zh-CN" sz="1800" kern="0" dirty="0">
                <a:solidFill>
                  <a:srgbClr val="FF0000"/>
                </a:solidFill>
                <a:ea typeface="宋体" panose="02010600030101010101" pitchFamily="2" charset="-122"/>
                <a:sym typeface="Greek Symbols" pitchFamily="18" charset="2"/>
              </a:rPr>
              <a:t>: each </a:t>
            </a:r>
            <a:r>
              <a:rPr lang="en-US" altLang="zh-CN" sz="1800" i="1" kern="0" dirty="0">
                <a:solidFill>
                  <a:srgbClr val="FF0000"/>
                </a:solidFill>
                <a:ea typeface="宋体" panose="02010600030101010101" pitchFamily="2" charset="-122"/>
                <a:sym typeface="Greek Symbols" pitchFamily="18" charset="2"/>
              </a:rPr>
              <a:t>R</a:t>
            </a:r>
            <a:r>
              <a:rPr lang="en-US" altLang="zh-CN" sz="1800" i="1" kern="0" baseline="-25000" dirty="0">
                <a:solidFill>
                  <a:srgbClr val="FF0000"/>
                </a:solidFill>
                <a:ea typeface="宋体" panose="02010600030101010101" pitchFamily="2" charset="-122"/>
                <a:sym typeface="Greek Symbols" pitchFamily="18" charset="2"/>
              </a:rPr>
              <a:t>i</a:t>
            </a:r>
            <a:r>
              <a:rPr lang="en-US" altLang="zh-CN" sz="1800" i="1" kern="0" dirty="0">
                <a:solidFill>
                  <a:srgbClr val="FF0000"/>
                </a:solidFill>
                <a:ea typeface="宋体" panose="02010600030101010101" pitchFamily="2" charset="-122"/>
                <a:sym typeface="Greek Symbols" pitchFamily="18" charset="2"/>
              </a:rPr>
              <a:t> </a:t>
            </a:r>
            <a:r>
              <a:rPr lang="en-US" altLang="zh-CN" sz="1800" kern="0" dirty="0">
                <a:solidFill>
                  <a:srgbClr val="FF0000"/>
                </a:solidFill>
                <a:ea typeface="宋体" panose="02010600030101010101" pitchFamily="2" charset="-122"/>
                <a:sym typeface="Greek Symbols" pitchFamily="18" charset="2"/>
              </a:rPr>
              <a:t>is in BCNF, and the decomposition is lossless-join.</a:t>
            </a:r>
          </a:p>
        </p:txBody>
      </p:sp>
    </p:spTree>
    <p:extLst>
      <p:ext uri="{BB962C8B-B14F-4D97-AF65-F5344CB8AC3E}">
        <p14:creationId xmlns:p14="http://schemas.microsoft.com/office/powerpoint/2010/main" val="139978194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DB3415-C172-404E-940E-07BCC5C9A61E}"/>
              </a:ext>
            </a:extLst>
          </p:cNvPr>
          <p:cNvSpPr>
            <a:spLocks noGrp="1"/>
          </p:cNvSpPr>
          <p:nvPr>
            <p:ph type="title"/>
          </p:nvPr>
        </p:nvSpPr>
        <p:spPr/>
        <p:txBody>
          <a:bodyPr/>
          <a:lstStyle/>
          <a:p>
            <a:pPr algn="ctr"/>
            <a:r>
              <a:rPr lang="en-US" altLang="zh-CN" dirty="0"/>
              <a:t>Example</a:t>
            </a:r>
            <a:endParaRPr lang="zh-CN" altLang="en-US" dirty="0"/>
          </a:p>
        </p:txBody>
      </p:sp>
      <p:sp>
        <p:nvSpPr>
          <p:cNvPr id="3" name="内容占位符 2">
            <a:extLst>
              <a:ext uri="{FF2B5EF4-FFF2-40B4-BE49-F238E27FC236}">
                <a16:creationId xmlns:a16="http://schemas.microsoft.com/office/drawing/2014/main" id="{4FED2097-5F1B-4A04-A32C-44D75DDC2A2A}"/>
              </a:ext>
            </a:extLst>
          </p:cNvPr>
          <p:cNvSpPr>
            <a:spLocks noGrp="1"/>
          </p:cNvSpPr>
          <p:nvPr>
            <p:ph idx="1"/>
          </p:nvPr>
        </p:nvSpPr>
        <p:spPr>
          <a:xfrm>
            <a:off x="251520" y="789553"/>
            <a:ext cx="8640960" cy="3805070"/>
          </a:xfrm>
        </p:spPr>
        <p:txBody>
          <a:bodyPr/>
          <a:lstStyle/>
          <a:p>
            <a:r>
              <a:rPr lang="en-US" altLang="zh-CN" sz="1800" dirty="0"/>
              <a:t>Consider the relation scheme {C, T, H, R, S, G}, where C=course, T=teacher, H=hour, R=room, S=student, and G=grade. </a:t>
            </a:r>
          </a:p>
          <a:p>
            <a:r>
              <a:rPr lang="en-US" altLang="zh-CN" sz="1800" dirty="0"/>
              <a:t>The functional dependencies F are:</a:t>
            </a:r>
          </a:p>
          <a:p>
            <a:pPr lvl="1"/>
            <a:r>
              <a:rPr lang="en-US" altLang="zh-CN" sz="1600" dirty="0"/>
              <a:t>CS→G: each student has one grade in each course</a:t>
            </a:r>
          </a:p>
          <a:p>
            <a:pPr lvl="1"/>
            <a:r>
              <a:rPr lang="en-US" altLang="zh-CN" sz="1600" dirty="0"/>
              <a:t>C→T: each course has one teacher</a:t>
            </a:r>
          </a:p>
          <a:p>
            <a:pPr lvl="1"/>
            <a:r>
              <a:rPr lang="en-US" altLang="zh-CN" sz="1600" dirty="0"/>
              <a:t>HR→C: only one course can meet in a room at one time</a:t>
            </a:r>
          </a:p>
          <a:p>
            <a:pPr lvl="1"/>
            <a:r>
              <a:rPr lang="en-US" altLang="zh-CN" sz="1600" dirty="0"/>
              <a:t>HS→R: a student can be in only one room at one time</a:t>
            </a:r>
          </a:p>
          <a:p>
            <a:pPr lvl="1"/>
            <a:r>
              <a:rPr lang="en-US" altLang="zh-CN" sz="1600" dirty="0"/>
              <a:t>TH→R: a teacher can be in only one room at one time</a:t>
            </a:r>
            <a:endParaRPr lang="zh-CN" altLang="en-US" sz="1600" dirty="0"/>
          </a:p>
        </p:txBody>
      </p:sp>
    </p:spTree>
    <p:extLst>
      <p:ext uri="{BB962C8B-B14F-4D97-AF65-F5344CB8AC3E}">
        <p14:creationId xmlns:p14="http://schemas.microsoft.com/office/powerpoint/2010/main" val="106067730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D47819-EBDA-492C-888A-AE3FFB67DC52}"/>
              </a:ext>
            </a:extLst>
          </p:cNvPr>
          <p:cNvSpPr>
            <a:spLocks noGrp="1"/>
          </p:cNvSpPr>
          <p:nvPr>
            <p:ph type="title"/>
          </p:nvPr>
        </p:nvSpPr>
        <p:spPr/>
        <p:txBody>
          <a:bodyPr/>
          <a:lstStyle/>
          <a:p>
            <a:pPr algn="ctr"/>
            <a:r>
              <a:rPr lang="en-US" altLang="zh-CN" dirty="0"/>
              <a:t>Decomposition Tree</a:t>
            </a:r>
            <a:endParaRPr lang="zh-CN" altLang="en-US" dirty="0"/>
          </a:p>
        </p:txBody>
      </p:sp>
      <p:sp>
        <p:nvSpPr>
          <p:cNvPr id="19" name="Oval 3">
            <a:extLst>
              <a:ext uri="{FF2B5EF4-FFF2-40B4-BE49-F238E27FC236}">
                <a16:creationId xmlns:a16="http://schemas.microsoft.com/office/drawing/2014/main" id="{5CFF5CC8-410A-4EF8-8A2D-BB982F0B3731}"/>
              </a:ext>
            </a:extLst>
          </p:cNvPr>
          <p:cNvSpPr>
            <a:spLocks noChangeArrowheads="1"/>
          </p:cNvSpPr>
          <p:nvPr/>
        </p:nvSpPr>
        <p:spPr bwMode="auto">
          <a:xfrm>
            <a:off x="1871662" y="1110854"/>
            <a:ext cx="1234679" cy="1040606"/>
          </a:xfrm>
          <a:prstGeom prst="ellipse">
            <a:avLst/>
          </a:prstGeom>
          <a:solidFill>
            <a:srgbClr val="FFCCCC"/>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CTHRSG</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Key=HS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00CC00"/>
                </a:solidFill>
                <a:effectLst/>
                <a:uLnTx/>
                <a:uFillTx/>
                <a:latin typeface="Comic Sans MS" panose="030F0702030302020204" pitchFamily="66" charset="0"/>
                <a:ea typeface="宋体" panose="02010600030101010101" pitchFamily="2" charset="-122"/>
              </a:rPr>
              <a:t>CS→G  </a:t>
            </a: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C→T</a:t>
            </a:r>
            <a:endParaRPr kumimoji="0" lang="en-US" altLang="zh-CN" sz="1200" b="1" i="0" u="none" strike="noStrike" kern="0" cap="none" spc="0" normalizeH="0" baseline="0" noProof="0" dirty="0">
              <a:ln>
                <a:noFill/>
              </a:ln>
              <a:solidFill>
                <a:srgbClr val="00CC00"/>
              </a:solidFill>
              <a:effectLst/>
              <a:uLnTx/>
              <a:uFillTx/>
              <a:latin typeface="Comic Sans MS" panose="030F0702030302020204" pitchFamily="66" charset="0"/>
              <a:ea typeface="宋体" panose="02010600030101010101" pitchFamily="2" charset="-122"/>
            </a:endParaRP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HR→C  HS→R</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TH→R</a:t>
            </a:r>
          </a:p>
        </p:txBody>
      </p:sp>
      <p:sp>
        <p:nvSpPr>
          <p:cNvPr id="20" name="Oval 4">
            <a:extLst>
              <a:ext uri="{FF2B5EF4-FFF2-40B4-BE49-F238E27FC236}">
                <a16:creationId xmlns:a16="http://schemas.microsoft.com/office/drawing/2014/main" id="{899CAF32-6075-42F4-8756-77D1546FA95A}"/>
              </a:ext>
            </a:extLst>
          </p:cNvPr>
          <p:cNvSpPr>
            <a:spLocks noChangeArrowheads="1"/>
          </p:cNvSpPr>
          <p:nvPr/>
        </p:nvSpPr>
        <p:spPr bwMode="auto">
          <a:xfrm>
            <a:off x="1282304" y="2245519"/>
            <a:ext cx="1082278" cy="969169"/>
          </a:xfrm>
          <a:prstGeom prst="ellipse">
            <a:avLst/>
          </a:prstGeom>
          <a:solidFill>
            <a:srgbClr val="FFCC99"/>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CSG</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Key=CS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CS→G</a:t>
            </a:r>
          </a:p>
        </p:txBody>
      </p:sp>
      <p:sp>
        <p:nvSpPr>
          <p:cNvPr id="21" name="Oval 5">
            <a:extLst>
              <a:ext uri="{FF2B5EF4-FFF2-40B4-BE49-F238E27FC236}">
                <a16:creationId xmlns:a16="http://schemas.microsoft.com/office/drawing/2014/main" id="{E5F0D81A-971E-4638-87C8-95734B30240C}"/>
              </a:ext>
            </a:extLst>
          </p:cNvPr>
          <p:cNvSpPr>
            <a:spLocks noChangeArrowheads="1"/>
          </p:cNvSpPr>
          <p:nvPr/>
        </p:nvSpPr>
        <p:spPr bwMode="auto">
          <a:xfrm>
            <a:off x="3432573" y="1631156"/>
            <a:ext cx="1193006" cy="1034654"/>
          </a:xfrm>
          <a:prstGeom prst="ellipse">
            <a:avLst/>
          </a:prstGeom>
          <a:solidFill>
            <a:srgbClr val="FFCCCC"/>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CTHRS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Key=HS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CC00"/>
                </a:solidFill>
                <a:effectLst/>
                <a:uLnTx/>
                <a:uFillTx/>
                <a:latin typeface="Comic Sans MS" panose="030F0702030302020204" pitchFamily="66" charset="0"/>
                <a:ea typeface="宋体" panose="02010600030101010101" pitchFamily="2" charset="-122"/>
              </a:rPr>
              <a:t>C→T</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HR→C  HS→R</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TH→R</a:t>
            </a:r>
          </a:p>
        </p:txBody>
      </p:sp>
      <p:sp>
        <p:nvSpPr>
          <p:cNvPr id="22" name="Oval 6">
            <a:extLst>
              <a:ext uri="{FF2B5EF4-FFF2-40B4-BE49-F238E27FC236}">
                <a16:creationId xmlns:a16="http://schemas.microsoft.com/office/drawing/2014/main" id="{E1CDBC44-94C0-4D0D-8238-E93DA0F6A57A}"/>
              </a:ext>
            </a:extLst>
          </p:cNvPr>
          <p:cNvSpPr>
            <a:spLocks noChangeArrowheads="1"/>
          </p:cNvSpPr>
          <p:nvPr/>
        </p:nvSpPr>
        <p:spPr bwMode="auto">
          <a:xfrm>
            <a:off x="2803923" y="2940844"/>
            <a:ext cx="953690" cy="990600"/>
          </a:xfrm>
          <a:prstGeom prst="ellipse">
            <a:avLst/>
          </a:prstGeom>
          <a:solidFill>
            <a:srgbClr val="FFCC99"/>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CT</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Key=C</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C→T</a:t>
            </a:r>
          </a:p>
        </p:txBody>
      </p:sp>
      <p:sp>
        <p:nvSpPr>
          <p:cNvPr id="23" name="Oval 7">
            <a:extLst>
              <a:ext uri="{FF2B5EF4-FFF2-40B4-BE49-F238E27FC236}">
                <a16:creationId xmlns:a16="http://schemas.microsoft.com/office/drawing/2014/main" id="{C52393CC-48DD-4F3E-9600-802DE5DFDBB1}"/>
              </a:ext>
            </a:extLst>
          </p:cNvPr>
          <p:cNvSpPr>
            <a:spLocks noChangeArrowheads="1"/>
          </p:cNvSpPr>
          <p:nvPr/>
        </p:nvSpPr>
        <p:spPr bwMode="auto">
          <a:xfrm>
            <a:off x="4947047" y="2184797"/>
            <a:ext cx="1243013" cy="1071563"/>
          </a:xfrm>
          <a:prstGeom prst="ellipse">
            <a:avLst/>
          </a:prstGeom>
          <a:solidFill>
            <a:srgbClr val="FFCCCC"/>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CHRS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Key=HS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CC00"/>
                </a:solidFill>
                <a:effectLst/>
                <a:uLnTx/>
                <a:uFillTx/>
                <a:latin typeface="Comic Sans MS" panose="030F0702030302020204" pitchFamily="66" charset="0"/>
                <a:ea typeface="宋体" panose="02010600030101010101" pitchFamily="2" charset="-122"/>
              </a:rPr>
              <a:t>HR→C</a:t>
            </a: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  HS→R</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FF"/>
                </a:solidFill>
                <a:effectLst/>
                <a:uLnTx/>
                <a:uFillTx/>
                <a:latin typeface="Comic Sans MS" panose="030F0702030302020204" pitchFamily="66" charset="0"/>
                <a:ea typeface="宋体" panose="02010600030101010101" pitchFamily="2" charset="-122"/>
              </a:rPr>
              <a:t>CH→R</a:t>
            </a:r>
          </a:p>
        </p:txBody>
      </p:sp>
      <p:sp>
        <p:nvSpPr>
          <p:cNvPr id="24" name="Oval 8">
            <a:extLst>
              <a:ext uri="{FF2B5EF4-FFF2-40B4-BE49-F238E27FC236}">
                <a16:creationId xmlns:a16="http://schemas.microsoft.com/office/drawing/2014/main" id="{1D8DD24D-F7C5-4AA1-AFE5-4ECBFBC906DF}"/>
              </a:ext>
            </a:extLst>
          </p:cNvPr>
          <p:cNvSpPr>
            <a:spLocks noChangeArrowheads="1"/>
          </p:cNvSpPr>
          <p:nvPr/>
        </p:nvSpPr>
        <p:spPr bwMode="auto">
          <a:xfrm>
            <a:off x="4239815" y="3431364"/>
            <a:ext cx="1360885" cy="1253729"/>
          </a:xfrm>
          <a:prstGeom prst="ellipse">
            <a:avLst/>
          </a:prstGeom>
          <a:solidFill>
            <a:srgbClr val="FFCC99"/>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FF0000"/>
                </a:solidFill>
                <a:effectLst/>
                <a:uLnTx/>
                <a:uFillTx/>
                <a:latin typeface="Comic Sans MS" panose="030F0702030302020204" pitchFamily="66" charset="0"/>
                <a:ea typeface="宋体" panose="02010600030101010101" pitchFamily="2" charset="-122"/>
              </a:rPr>
              <a:t>CHR</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Key=HR</a:t>
            </a:r>
            <a:r>
              <a:rPr kumimoji="0" lang="zh-CN" altLang="en-US"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或</a:t>
            </a: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CH</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HR→C</a:t>
            </a:r>
            <a:r>
              <a:rPr kumimoji="0" lang="zh-CN" altLang="en-US"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或</a:t>
            </a:r>
            <a:r>
              <a:rPr kumimoji="0" lang="en-US" altLang="zh-CN" sz="1200" b="1"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CH→R</a:t>
            </a:r>
          </a:p>
        </p:txBody>
      </p:sp>
      <p:sp>
        <p:nvSpPr>
          <p:cNvPr id="25" name="Oval 9">
            <a:extLst>
              <a:ext uri="{FF2B5EF4-FFF2-40B4-BE49-F238E27FC236}">
                <a16:creationId xmlns:a16="http://schemas.microsoft.com/office/drawing/2014/main" id="{13158CB3-580F-43E6-883E-BA70C252C331}"/>
              </a:ext>
            </a:extLst>
          </p:cNvPr>
          <p:cNvSpPr>
            <a:spLocks noChangeArrowheads="1"/>
          </p:cNvSpPr>
          <p:nvPr/>
        </p:nvSpPr>
        <p:spPr bwMode="auto">
          <a:xfrm>
            <a:off x="6082903" y="3880247"/>
            <a:ext cx="1138238" cy="838200"/>
          </a:xfrm>
          <a:prstGeom prst="ellipse">
            <a:avLst/>
          </a:prstGeom>
          <a:solidFill>
            <a:srgbClr val="FFCC99"/>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CHS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Key=HS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HS→C</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endParaRPr kumimoji="0" lang="zh-CN" altLang="en-US"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cxnSp>
        <p:nvCxnSpPr>
          <p:cNvPr id="26" name="AutoShape 10">
            <a:extLst>
              <a:ext uri="{FF2B5EF4-FFF2-40B4-BE49-F238E27FC236}">
                <a16:creationId xmlns:a16="http://schemas.microsoft.com/office/drawing/2014/main" id="{AACB798A-7FC8-4A00-82F6-1CAD3C597757}"/>
              </a:ext>
            </a:extLst>
          </p:cNvPr>
          <p:cNvCxnSpPr>
            <a:cxnSpLocks noChangeShapeType="1"/>
            <a:stCxn id="19" idx="3"/>
            <a:endCxn id="20" idx="0"/>
          </p:cNvCxnSpPr>
          <p:nvPr/>
        </p:nvCxnSpPr>
        <p:spPr bwMode="auto">
          <a:xfrm flipH="1">
            <a:off x="1824038" y="1999060"/>
            <a:ext cx="228600" cy="24645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7" name="AutoShape 11">
            <a:extLst>
              <a:ext uri="{FF2B5EF4-FFF2-40B4-BE49-F238E27FC236}">
                <a16:creationId xmlns:a16="http://schemas.microsoft.com/office/drawing/2014/main" id="{41388435-5DF4-4BAC-A956-A7C7D94128E0}"/>
              </a:ext>
            </a:extLst>
          </p:cNvPr>
          <p:cNvCxnSpPr>
            <a:cxnSpLocks noChangeShapeType="1"/>
            <a:stCxn id="19" idx="6"/>
            <a:endCxn id="21" idx="1"/>
          </p:cNvCxnSpPr>
          <p:nvPr/>
        </p:nvCxnSpPr>
        <p:spPr bwMode="auto">
          <a:xfrm>
            <a:off x="3106341" y="1631156"/>
            <a:ext cx="501253" cy="1524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 name="AutoShape 12">
            <a:extLst>
              <a:ext uri="{FF2B5EF4-FFF2-40B4-BE49-F238E27FC236}">
                <a16:creationId xmlns:a16="http://schemas.microsoft.com/office/drawing/2014/main" id="{DDB009A1-C3B3-48D9-9CED-0EA1034ACE47}"/>
              </a:ext>
            </a:extLst>
          </p:cNvPr>
          <p:cNvCxnSpPr>
            <a:cxnSpLocks noChangeShapeType="1"/>
            <a:stCxn id="21" idx="3"/>
            <a:endCxn id="22" idx="0"/>
          </p:cNvCxnSpPr>
          <p:nvPr/>
        </p:nvCxnSpPr>
        <p:spPr bwMode="auto">
          <a:xfrm flipH="1">
            <a:off x="3280173" y="2514600"/>
            <a:ext cx="326231" cy="42624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9" name="AutoShape 13">
            <a:extLst>
              <a:ext uri="{FF2B5EF4-FFF2-40B4-BE49-F238E27FC236}">
                <a16:creationId xmlns:a16="http://schemas.microsoft.com/office/drawing/2014/main" id="{38A47014-EC3B-4BF1-8922-0761CB29E82D}"/>
              </a:ext>
            </a:extLst>
          </p:cNvPr>
          <p:cNvCxnSpPr>
            <a:cxnSpLocks noChangeShapeType="1"/>
            <a:stCxn id="21" idx="6"/>
            <a:endCxn id="23" idx="1"/>
          </p:cNvCxnSpPr>
          <p:nvPr/>
        </p:nvCxnSpPr>
        <p:spPr bwMode="auto">
          <a:xfrm>
            <a:off x="4625579" y="2149079"/>
            <a:ext cx="502444" cy="19288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 name="AutoShape 14">
            <a:extLst>
              <a:ext uri="{FF2B5EF4-FFF2-40B4-BE49-F238E27FC236}">
                <a16:creationId xmlns:a16="http://schemas.microsoft.com/office/drawing/2014/main" id="{5CE9A5A8-218A-49CE-ABE9-882E5A7DC298}"/>
              </a:ext>
            </a:extLst>
          </p:cNvPr>
          <p:cNvCxnSpPr>
            <a:cxnSpLocks noChangeShapeType="1"/>
            <a:stCxn id="23" idx="3"/>
            <a:endCxn id="24" idx="0"/>
          </p:cNvCxnSpPr>
          <p:nvPr/>
        </p:nvCxnSpPr>
        <p:spPr bwMode="auto">
          <a:xfrm flipH="1">
            <a:off x="4920258" y="3099433"/>
            <a:ext cx="208824" cy="33193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1" name="AutoShape 15">
            <a:extLst>
              <a:ext uri="{FF2B5EF4-FFF2-40B4-BE49-F238E27FC236}">
                <a16:creationId xmlns:a16="http://schemas.microsoft.com/office/drawing/2014/main" id="{06E4EBC5-A913-467E-8B88-943319C92732}"/>
              </a:ext>
            </a:extLst>
          </p:cNvPr>
          <p:cNvCxnSpPr>
            <a:cxnSpLocks noChangeShapeType="1"/>
            <a:endCxn id="32" idx="1"/>
          </p:cNvCxnSpPr>
          <p:nvPr/>
        </p:nvCxnSpPr>
        <p:spPr bwMode="auto">
          <a:xfrm>
            <a:off x="6190060" y="2806303"/>
            <a:ext cx="385763" cy="1762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2" name="Oval 9">
            <a:extLst>
              <a:ext uri="{FF2B5EF4-FFF2-40B4-BE49-F238E27FC236}">
                <a16:creationId xmlns:a16="http://schemas.microsoft.com/office/drawing/2014/main" id="{7B5AFBF6-E2AB-4277-9B03-DADDFA0D51C4}"/>
              </a:ext>
            </a:extLst>
          </p:cNvPr>
          <p:cNvSpPr>
            <a:spLocks noChangeArrowheads="1"/>
          </p:cNvSpPr>
          <p:nvPr/>
        </p:nvSpPr>
        <p:spPr bwMode="auto">
          <a:xfrm>
            <a:off x="6409135" y="2859881"/>
            <a:ext cx="1138238" cy="838200"/>
          </a:xfrm>
          <a:prstGeom prst="ellipse">
            <a:avLst/>
          </a:prstGeom>
          <a:solidFill>
            <a:srgbClr val="FFCC99"/>
          </a:solidFill>
          <a:ln w="9525">
            <a:solidFill>
              <a:srgbClr val="000000"/>
            </a:solidFill>
            <a:round/>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FF0000"/>
                </a:solidFill>
                <a:effectLst/>
                <a:uLnTx/>
                <a:uFillTx/>
                <a:latin typeface="Comic Sans MS" panose="030F0702030302020204" pitchFamily="66" charset="0"/>
                <a:ea typeface="宋体" panose="02010600030101010101" pitchFamily="2" charset="-122"/>
              </a:rPr>
              <a:t>HSR</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Key=HS</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r>
              <a:rPr kumimoji="0" lang="en-US" altLang="zh-CN"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HS→R</a:t>
            </a:r>
          </a:p>
          <a:p>
            <a:pPr marL="0" marR="0" lvl="0" indent="0" algn="ctr" defTabSz="685800" eaLnBrk="1" fontAlgn="auto" latinLnBrk="0" hangingPunct="1">
              <a:lnSpc>
                <a:spcPct val="100000"/>
              </a:lnSpc>
              <a:spcBef>
                <a:spcPct val="0"/>
              </a:spcBef>
              <a:spcAft>
                <a:spcPts val="0"/>
              </a:spcAft>
              <a:buClrTx/>
              <a:buSzTx/>
              <a:buFont typeface="Wingdings" panose="05000000000000000000" pitchFamily="2" charset="2"/>
              <a:buNone/>
              <a:tabLst/>
              <a:defRPr/>
            </a:pPr>
            <a:endParaRPr kumimoji="0" lang="zh-CN" altLang="en-US" sz="1200" b="1"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3" name="TextBox 1">
            <a:extLst>
              <a:ext uri="{FF2B5EF4-FFF2-40B4-BE49-F238E27FC236}">
                <a16:creationId xmlns:a16="http://schemas.microsoft.com/office/drawing/2014/main" id="{395D2A00-B1B9-4DA1-9E12-E046253E794E}"/>
              </a:ext>
            </a:extLst>
          </p:cNvPr>
          <p:cNvSpPr txBox="1">
            <a:spLocks noChangeArrowheads="1"/>
          </p:cNvSpPr>
          <p:nvPr/>
        </p:nvSpPr>
        <p:spPr bwMode="auto">
          <a:xfrm>
            <a:off x="6444853" y="3601641"/>
            <a:ext cx="357790" cy="300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r>
              <a:rPr kumimoji="0" lang="en-US" altLang="zh-CN" sz="1350" b="1">
                <a:solidFill>
                  <a:srgbClr val="000000"/>
                </a:solidFill>
                <a:latin typeface="Helvetica" panose="020B0604020202020204" pitchFamily="34" charset="0"/>
                <a:ea typeface="宋体" panose="02010600030101010101" pitchFamily="2" charset="-122"/>
              </a:rPr>
              <a:t>or</a:t>
            </a:r>
            <a:endParaRPr kumimoji="0" lang="zh-CN" altLang="en-US" sz="1350" b="1">
              <a:solidFill>
                <a:srgbClr val="000000"/>
              </a:solidFill>
              <a:latin typeface="Helvetica"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1210077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7DCD08-E42D-4F25-A912-53029BBB20CD}"/>
              </a:ext>
            </a:extLst>
          </p:cNvPr>
          <p:cNvSpPr>
            <a:spLocks noGrp="1"/>
          </p:cNvSpPr>
          <p:nvPr>
            <p:ph type="title"/>
          </p:nvPr>
        </p:nvSpPr>
        <p:spPr/>
        <p:txBody>
          <a:bodyPr/>
          <a:lstStyle/>
          <a:p>
            <a:pPr algn="ctr"/>
            <a:r>
              <a:rPr lang="en-US" altLang="zh-CN" dirty="0"/>
              <a:t>BCNF and Dependency Preservation</a:t>
            </a:r>
            <a:endParaRPr lang="zh-CN" altLang="en-US" dirty="0"/>
          </a:p>
        </p:txBody>
      </p:sp>
      <p:sp>
        <p:nvSpPr>
          <p:cNvPr id="3" name="内容占位符 2">
            <a:extLst>
              <a:ext uri="{FF2B5EF4-FFF2-40B4-BE49-F238E27FC236}">
                <a16:creationId xmlns:a16="http://schemas.microsoft.com/office/drawing/2014/main" id="{A80EAD92-427A-4EC3-9CEC-3DA67938136F}"/>
              </a:ext>
            </a:extLst>
          </p:cNvPr>
          <p:cNvSpPr>
            <a:spLocks noGrp="1"/>
          </p:cNvSpPr>
          <p:nvPr>
            <p:ph idx="1"/>
          </p:nvPr>
        </p:nvSpPr>
        <p:spPr>
          <a:xfrm>
            <a:off x="395536" y="1851670"/>
            <a:ext cx="8568952" cy="2670945"/>
          </a:xfrm>
        </p:spPr>
        <p:txBody>
          <a:bodyPr/>
          <a:lstStyle/>
          <a:p>
            <a:pPr>
              <a:spcBef>
                <a:spcPts val="600"/>
              </a:spcBef>
            </a:pPr>
            <a:r>
              <a:rPr lang="en-US" altLang="zh-CN" sz="1800" dirty="0"/>
              <a:t>R = (J, K, L), F = {JK </a:t>
            </a:r>
            <a:r>
              <a:rPr lang="en-US" altLang="zh-CN" sz="1800" b="1" dirty="0">
                <a:ea typeface="宋体" panose="02010600030101010101" pitchFamily="2" charset="-122"/>
                <a:sym typeface="Symbol" panose="05050102010706020507" pitchFamily="18" charset="2"/>
              </a:rPr>
              <a:t></a:t>
            </a:r>
            <a:r>
              <a:rPr lang="en-US" altLang="zh-CN" sz="1800" dirty="0"/>
              <a:t> L, L </a:t>
            </a:r>
            <a:r>
              <a:rPr lang="en-US" altLang="zh-CN" sz="1800" b="1" dirty="0">
                <a:ea typeface="宋体" panose="02010600030101010101" pitchFamily="2" charset="-122"/>
                <a:sym typeface="Symbol" panose="05050102010706020507" pitchFamily="18" charset="2"/>
              </a:rPr>
              <a:t></a:t>
            </a:r>
            <a:r>
              <a:rPr lang="en-US" altLang="zh-CN" sz="1800" dirty="0"/>
              <a:t> K}, two candidate keys = JK and JL</a:t>
            </a:r>
          </a:p>
          <a:p>
            <a:pPr lvl="1">
              <a:spcBef>
                <a:spcPts val="600"/>
              </a:spcBef>
            </a:pPr>
            <a:r>
              <a:rPr lang="en-US" altLang="zh-CN" sz="1600" dirty="0"/>
              <a:t>R is not in BCNF</a:t>
            </a:r>
          </a:p>
          <a:p>
            <a:pPr>
              <a:spcBef>
                <a:spcPts val="600"/>
              </a:spcBef>
            </a:pPr>
            <a:r>
              <a:rPr lang="en-US" altLang="zh-CN" sz="1800" dirty="0"/>
              <a:t>Any decomposition of R will fail to preserve</a:t>
            </a:r>
          </a:p>
          <a:p>
            <a:pPr lvl="1">
              <a:spcBef>
                <a:spcPts val="600"/>
              </a:spcBef>
            </a:pPr>
            <a:r>
              <a:rPr lang="en-US" altLang="zh-CN" sz="1600" dirty="0"/>
              <a:t>JK </a:t>
            </a:r>
            <a:r>
              <a:rPr lang="en-US" altLang="zh-CN" sz="1600" b="1" dirty="0">
                <a:ea typeface="宋体" panose="02010600030101010101" pitchFamily="2" charset="-122"/>
                <a:sym typeface="Symbol" panose="05050102010706020507" pitchFamily="18" charset="2"/>
              </a:rPr>
              <a:t></a:t>
            </a:r>
            <a:r>
              <a:rPr lang="en-US" altLang="zh-CN" sz="1600" dirty="0"/>
              <a:t> L </a:t>
            </a:r>
            <a:r>
              <a:rPr lang="zh-CN" altLang="en-US" sz="1600" dirty="0"/>
              <a:t>或者 </a:t>
            </a:r>
            <a:r>
              <a:rPr lang="en-US" altLang="zh-CN" sz="1600" dirty="0"/>
              <a:t>L </a:t>
            </a:r>
            <a:r>
              <a:rPr lang="en-US" altLang="zh-CN" sz="1600" b="1" dirty="0">
                <a:ea typeface="宋体" panose="02010600030101010101" pitchFamily="2" charset="-122"/>
                <a:sym typeface="Symbol" panose="05050102010706020507" pitchFamily="18" charset="2"/>
              </a:rPr>
              <a:t></a:t>
            </a:r>
            <a:r>
              <a:rPr lang="en-US" altLang="zh-CN" sz="1600" dirty="0"/>
              <a:t> K</a:t>
            </a:r>
          </a:p>
          <a:p>
            <a:pPr>
              <a:spcBef>
                <a:spcPts val="600"/>
              </a:spcBef>
            </a:pPr>
            <a:endParaRPr lang="zh-CN" altLang="en-US" sz="1800" dirty="0"/>
          </a:p>
        </p:txBody>
      </p:sp>
      <p:sp>
        <p:nvSpPr>
          <p:cNvPr id="4" name="Text Box 6">
            <a:extLst>
              <a:ext uri="{FF2B5EF4-FFF2-40B4-BE49-F238E27FC236}">
                <a16:creationId xmlns:a16="http://schemas.microsoft.com/office/drawing/2014/main" id="{32F63E26-0443-495B-9645-3365E6DD9959}"/>
              </a:ext>
            </a:extLst>
          </p:cNvPr>
          <p:cNvSpPr txBox="1">
            <a:spLocks noChangeArrowheads="1"/>
          </p:cNvSpPr>
          <p:nvPr/>
        </p:nvSpPr>
        <p:spPr bwMode="auto">
          <a:xfrm>
            <a:off x="539552" y="987574"/>
            <a:ext cx="8208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r>
              <a:rPr kumimoji="0" lang="en-US" altLang="zh-CN" sz="1800" b="1" dirty="0">
                <a:solidFill>
                  <a:srgbClr val="C00000"/>
                </a:solidFill>
                <a:latin typeface="Arial" panose="020B0604020202020204" pitchFamily="34" charset="0"/>
                <a:ea typeface="宋体" panose="02010600030101010101" pitchFamily="2" charset="-122"/>
                <a:cs typeface="Arial" panose="020B0604020202020204" pitchFamily="34" charset="0"/>
              </a:rPr>
              <a:t>It is not always possible to get a BCNF decomposition that is dependency preserving</a:t>
            </a:r>
          </a:p>
        </p:txBody>
      </p:sp>
    </p:spTree>
    <p:extLst>
      <p:ext uri="{BB962C8B-B14F-4D97-AF65-F5344CB8AC3E}">
        <p14:creationId xmlns:p14="http://schemas.microsoft.com/office/powerpoint/2010/main" val="25151971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barn(inVertical)">
                                      <p:cBhvr>
                                        <p:cTn id="15" dur="500"/>
                                        <p:tgtEl>
                                          <p:spTgt spid="3">
                                            <p:txEl>
                                              <p:pRg st="2" end="2"/>
                                            </p:txEl>
                                          </p:spTgt>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barn(inVertical)">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16CE73-39E4-4D74-9202-B07D837E7B44}"/>
              </a:ext>
            </a:extLst>
          </p:cNvPr>
          <p:cNvSpPr>
            <a:spLocks noGrp="1"/>
          </p:cNvSpPr>
          <p:nvPr>
            <p:ph type="title"/>
          </p:nvPr>
        </p:nvSpPr>
        <p:spPr/>
        <p:txBody>
          <a:bodyPr/>
          <a:lstStyle/>
          <a:p>
            <a:pPr algn="ctr"/>
            <a:r>
              <a:rPr lang="en-US" altLang="zh-CN" dirty="0"/>
              <a:t>Third Normal Form: Motivation</a:t>
            </a:r>
            <a:endParaRPr lang="zh-CN" altLang="en-US" dirty="0"/>
          </a:p>
        </p:txBody>
      </p:sp>
      <p:sp>
        <p:nvSpPr>
          <p:cNvPr id="3" name="内容占位符 2">
            <a:extLst>
              <a:ext uri="{FF2B5EF4-FFF2-40B4-BE49-F238E27FC236}">
                <a16:creationId xmlns:a16="http://schemas.microsoft.com/office/drawing/2014/main" id="{10769609-7B2F-44E3-B4BD-494776FBD340}"/>
              </a:ext>
            </a:extLst>
          </p:cNvPr>
          <p:cNvSpPr>
            <a:spLocks noGrp="1"/>
          </p:cNvSpPr>
          <p:nvPr>
            <p:ph idx="1"/>
          </p:nvPr>
        </p:nvSpPr>
        <p:spPr/>
        <p:txBody>
          <a:bodyPr/>
          <a:lstStyle/>
          <a:p>
            <a:pPr>
              <a:spcBef>
                <a:spcPts val="600"/>
              </a:spcBef>
            </a:pPr>
            <a:r>
              <a:rPr lang="en-US" altLang="zh-CN" sz="2000" dirty="0"/>
              <a:t>There are some situations where </a:t>
            </a:r>
          </a:p>
          <a:p>
            <a:pPr lvl="1">
              <a:spcBef>
                <a:spcPts val="600"/>
              </a:spcBef>
            </a:pPr>
            <a:r>
              <a:rPr lang="en-US" altLang="zh-CN" sz="1800" dirty="0"/>
              <a:t>BCNF decomposition is not dependency preserving</a:t>
            </a:r>
          </a:p>
          <a:p>
            <a:pPr lvl="1">
              <a:spcBef>
                <a:spcPts val="600"/>
              </a:spcBef>
            </a:pPr>
            <a:r>
              <a:rPr lang="en-US" altLang="zh-CN" sz="1800" dirty="0"/>
              <a:t>Efficient checking for FD violation on updates is important</a:t>
            </a:r>
          </a:p>
          <a:p>
            <a:pPr>
              <a:spcBef>
                <a:spcPts val="600"/>
              </a:spcBef>
            </a:pPr>
            <a:r>
              <a:rPr lang="en-US" altLang="zh-CN" sz="2000" b="1" dirty="0"/>
              <a:t>Solution: define a weaker normal form, i.e., Third Normal Form</a:t>
            </a:r>
          </a:p>
          <a:p>
            <a:pPr lvl="1">
              <a:spcBef>
                <a:spcPts val="600"/>
              </a:spcBef>
            </a:pPr>
            <a:r>
              <a:rPr lang="en-US" altLang="zh-CN" sz="1800" dirty="0"/>
              <a:t>Allow some redundancy</a:t>
            </a:r>
          </a:p>
          <a:p>
            <a:pPr lvl="1">
              <a:spcBef>
                <a:spcPts val="600"/>
              </a:spcBef>
            </a:pPr>
            <a:r>
              <a:rPr lang="en-US" altLang="zh-CN" sz="1800" dirty="0"/>
              <a:t>But FDs can be checked on individual relations without computing a join</a:t>
            </a:r>
          </a:p>
          <a:p>
            <a:pPr lvl="1">
              <a:spcBef>
                <a:spcPts val="600"/>
              </a:spcBef>
            </a:pPr>
            <a:r>
              <a:rPr lang="en-US" altLang="zh-CN" sz="1800" dirty="0"/>
              <a:t>There is always a lossless-join and dependency-preserving decomposition into 3NF</a:t>
            </a:r>
          </a:p>
          <a:p>
            <a:pPr>
              <a:spcBef>
                <a:spcPts val="600"/>
              </a:spcBef>
            </a:pPr>
            <a:endParaRPr lang="zh-CN" altLang="en-US" sz="2000" dirty="0"/>
          </a:p>
        </p:txBody>
      </p:sp>
    </p:spTree>
    <p:extLst>
      <p:ext uri="{BB962C8B-B14F-4D97-AF65-F5344CB8AC3E}">
        <p14:creationId xmlns:p14="http://schemas.microsoft.com/office/powerpoint/2010/main" val="18131159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 calcmode="lin" valueType="num">
                                      <p:cBhvr additive="base">
                                        <p:cTn id="1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85C648-95BA-47DC-8AF5-A461F2BBBC66}"/>
              </a:ext>
            </a:extLst>
          </p:cNvPr>
          <p:cNvSpPr>
            <a:spLocks noGrp="1"/>
          </p:cNvSpPr>
          <p:nvPr>
            <p:ph type="title"/>
          </p:nvPr>
        </p:nvSpPr>
        <p:spPr/>
        <p:txBody>
          <a:bodyPr/>
          <a:lstStyle/>
          <a:p>
            <a:pPr algn="ctr"/>
            <a:r>
              <a:rPr lang="en-US" altLang="zh-CN" dirty="0"/>
              <a:t>Third Normal Form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D3DDB15-D160-48BF-9751-442351ADAE7C}"/>
                  </a:ext>
                </a:extLst>
              </p:cNvPr>
              <p:cNvSpPr>
                <a:spLocks noGrp="1"/>
              </p:cNvSpPr>
              <p:nvPr>
                <p:ph idx="1"/>
              </p:nvPr>
            </p:nvSpPr>
            <p:spPr>
              <a:xfrm>
                <a:off x="251520" y="789553"/>
                <a:ext cx="8784976" cy="3805070"/>
              </a:xfrm>
            </p:spPr>
            <p:txBody>
              <a:bodyPr/>
              <a:lstStyle/>
              <a:p>
                <a:r>
                  <a:rPr lang="en-US" altLang="zh-CN" sz="2000" dirty="0"/>
                  <a:t>A relation schema R is in 3NF if for every </a:t>
                </a:r>
                <a14:m>
                  <m:oMath xmlns:m="http://schemas.openxmlformats.org/officeDocument/2006/math">
                    <m:r>
                      <a:rPr lang="zh-CN" altLang="en-US" sz="2000" i="1" smtClean="0">
                        <a:latin typeface="Cambria Math" panose="02040503050406030204" pitchFamily="18" charset="0"/>
                      </a:rPr>
                      <m:t>𝛼</m:t>
                    </m:r>
                    <m:r>
                      <a:rPr lang="zh-CN" altLang="en-US" sz="2000" i="1" smtClean="0">
                        <a:latin typeface="Cambria Math" panose="02040503050406030204" pitchFamily="18" charset="0"/>
                      </a:rPr>
                      <m:t>→</m:t>
                    </m:r>
                    <m:r>
                      <a:rPr lang="zh-CN" altLang="en-US" sz="2000" i="1" smtClean="0">
                        <a:latin typeface="Cambria Math" panose="02040503050406030204" pitchFamily="18" charset="0"/>
                      </a:rPr>
                      <m:t>𝛽</m:t>
                    </m:r>
                  </m:oMath>
                </a14:m>
                <a:r>
                  <a:rPr lang="en-US" altLang="zh-CN" sz="2000" dirty="0"/>
                  <a:t> in F</a:t>
                </a:r>
                <a:r>
                  <a:rPr lang="en-US" altLang="zh-CN" sz="2000" baseline="30000" dirty="0"/>
                  <a:t>+ </a:t>
                </a:r>
                <a:r>
                  <a:rPr lang="en-US" altLang="zh-CN" sz="2000" dirty="0"/>
                  <a:t>at least one of the following conditions holds:</a:t>
                </a:r>
              </a:p>
              <a:p>
                <a:pPr lvl="1"/>
                <a14:m>
                  <m:oMath xmlns:m="http://schemas.openxmlformats.org/officeDocument/2006/math">
                    <m:r>
                      <a:rPr lang="zh-CN" altLang="en-US" sz="1800" i="1">
                        <a:latin typeface="Cambria Math" panose="02040503050406030204" pitchFamily="18" charset="0"/>
                      </a:rPr>
                      <m:t>𝛼</m:t>
                    </m:r>
                    <m:r>
                      <a:rPr lang="zh-CN" altLang="en-US" sz="1800" i="1">
                        <a:latin typeface="Cambria Math" panose="02040503050406030204" pitchFamily="18" charset="0"/>
                      </a:rPr>
                      <m:t>→</m:t>
                    </m:r>
                    <m:r>
                      <a:rPr lang="zh-CN" altLang="en-US" sz="1800" i="1">
                        <a:latin typeface="Cambria Math" panose="02040503050406030204" pitchFamily="18" charset="0"/>
                      </a:rPr>
                      <m:t>𝛽</m:t>
                    </m:r>
                  </m:oMath>
                </a14:m>
                <a:r>
                  <a:rPr lang="en-US" altLang="zh-CN" sz="1800" dirty="0"/>
                  <a:t> is trivial (i.e., </a:t>
                </a:r>
                <a14:m>
                  <m:oMath xmlns:m="http://schemas.openxmlformats.org/officeDocument/2006/math">
                    <m:r>
                      <a:rPr lang="zh-CN" altLang="en-US" sz="1800" i="1" smtClean="0">
                        <a:latin typeface="Cambria Math" panose="02040503050406030204" pitchFamily="18" charset="0"/>
                      </a:rPr>
                      <m:t>𝛽</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𝛼</m:t>
                    </m:r>
                  </m:oMath>
                </a14:m>
                <a:r>
                  <a:rPr lang="en-US" altLang="zh-CN" sz="1800" dirty="0"/>
                  <a:t>)</a:t>
                </a:r>
              </a:p>
              <a:p>
                <a:pPr lvl="1"/>
                <a14:m>
                  <m:oMath xmlns:m="http://schemas.openxmlformats.org/officeDocument/2006/math">
                    <m:r>
                      <a:rPr lang="zh-CN" altLang="en-US" sz="1800" i="1">
                        <a:latin typeface="Cambria Math" panose="02040503050406030204" pitchFamily="18" charset="0"/>
                      </a:rPr>
                      <m:t>𝛼</m:t>
                    </m:r>
                  </m:oMath>
                </a14:m>
                <a:r>
                  <a:rPr lang="en-US" altLang="zh-CN" sz="1800" dirty="0"/>
                  <a:t> is a </a:t>
                </a:r>
                <a:r>
                  <a:rPr lang="en-US" altLang="zh-CN" sz="1800" dirty="0" err="1"/>
                  <a:t>superkey</a:t>
                </a:r>
                <a:r>
                  <a:rPr lang="en-US" altLang="zh-CN" sz="1800" dirty="0">
                    <a:solidFill>
                      <a:srgbClr val="FF0000"/>
                    </a:solidFill>
                  </a:rPr>
                  <a:t> </a:t>
                </a:r>
                <a:r>
                  <a:rPr lang="en-US" altLang="zh-CN" sz="1800" dirty="0"/>
                  <a:t>for R</a:t>
                </a:r>
              </a:p>
              <a:p>
                <a:pPr lvl="1"/>
                <a:r>
                  <a:rPr lang="en-US" altLang="zh-CN" sz="1800" dirty="0">
                    <a:solidFill>
                      <a:srgbClr val="C00000"/>
                    </a:solidFill>
                  </a:rPr>
                  <a:t>each attribute A in </a:t>
                </a:r>
                <a14:m>
                  <m:oMath xmlns:m="http://schemas.openxmlformats.org/officeDocument/2006/math">
                    <m:r>
                      <a:rPr lang="zh-CN" altLang="en-US" sz="1800" i="1">
                        <a:solidFill>
                          <a:srgbClr val="C00000"/>
                        </a:solidFill>
                        <a:latin typeface="Cambria Math" panose="02040503050406030204" pitchFamily="18" charset="0"/>
                      </a:rPr>
                      <m:t>𝛽</m:t>
                    </m:r>
                    <m:r>
                      <a:rPr lang="en-US" altLang="zh-CN" sz="1800" b="0" i="1" smtClean="0">
                        <a:solidFill>
                          <a:srgbClr val="C00000"/>
                        </a:solidFill>
                        <a:latin typeface="Cambria Math" panose="02040503050406030204" pitchFamily="18" charset="0"/>
                      </a:rPr>
                      <m:t>−</m:t>
                    </m:r>
                    <m:r>
                      <a:rPr lang="zh-CN" altLang="en-US" sz="1800" i="1">
                        <a:solidFill>
                          <a:srgbClr val="C00000"/>
                        </a:solidFill>
                        <a:latin typeface="Cambria Math" panose="02040503050406030204" pitchFamily="18" charset="0"/>
                      </a:rPr>
                      <m:t>𝛼</m:t>
                    </m:r>
                  </m:oMath>
                </a14:m>
                <a:r>
                  <a:rPr lang="en-US" altLang="zh-CN" sz="1800" dirty="0">
                    <a:solidFill>
                      <a:srgbClr val="C00000"/>
                    </a:solidFill>
                  </a:rPr>
                  <a:t> is contained in a candidate key for R</a:t>
                </a:r>
              </a:p>
              <a:p>
                <a:pPr marL="457200" lvl="1" indent="0">
                  <a:buNone/>
                </a:pPr>
                <a:r>
                  <a:rPr lang="en-US" altLang="zh-CN" sz="1800" dirty="0"/>
                  <a:t>(NOTE: each attribute may be in different candidate keys)</a:t>
                </a:r>
              </a:p>
              <a:p>
                <a:r>
                  <a:rPr lang="en-US" altLang="zh-CN" sz="2000" dirty="0"/>
                  <a:t>If a relation is in BCNF, it is in 3NF (since one of the first two conditions above must hold in BCNF)</a:t>
                </a:r>
              </a:p>
              <a:p>
                <a:r>
                  <a:rPr lang="en-US" altLang="zh-CN" sz="2000" dirty="0"/>
                  <a:t>The third condition is a relaxation of BCNF to ensure dependency preservation</a:t>
                </a:r>
              </a:p>
              <a:p>
                <a:endParaRPr lang="zh-CN" altLang="en-US" sz="2000" dirty="0"/>
              </a:p>
            </p:txBody>
          </p:sp>
        </mc:Choice>
        <mc:Fallback xmlns="">
          <p:sp>
            <p:nvSpPr>
              <p:cNvPr id="3" name="内容占位符 2">
                <a:extLst>
                  <a:ext uri="{FF2B5EF4-FFF2-40B4-BE49-F238E27FC236}">
                    <a16:creationId xmlns:a16="http://schemas.microsoft.com/office/drawing/2014/main" id="{6D3DDB15-D160-48BF-9751-442351ADAE7C}"/>
                  </a:ext>
                </a:extLst>
              </p:cNvPr>
              <p:cNvSpPr>
                <a:spLocks noGrp="1" noRot="1" noChangeAspect="1" noMove="1" noResize="1" noEditPoints="1" noAdjustHandles="1" noChangeArrowheads="1" noChangeShapeType="1" noTextEdit="1"/>
              </p:cNvSpPr>
              <p:nvPr>
                <p:ph idx="1"/>
              </p:nvPr>
            </p:nvSpPr>
            <p:spPr>
              <a:xfrm>
                <a:off x="251520" y="789553"/>
                <a:ext cx="8784976" cy="3805070"/>
              </a:xfrm>
              <a:blipFill>
                <a:blip r:embed="rId3"/>
                <a:stretch>
                  <a:fillRect l="-625"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93944782"/>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231D21-5E5A-45CD-8AE9-4C1A161C0C2F}"/>
              </a:ext>
            </a:extLst>
          </p:cNvPr>
          <p:cNvSpPr>
            <a:spLocks noGrp="1"/>
          </p:cNvSpPr>
          <p:nvPr>
            <p:ph type="title"/>
          </p:nvPr>
        </p:nvSpPr>
        <p:spPr/>
        <p:txBody>
          <a:bodyPr/>
          <a:lstStyle/>
          <a:p>
            <a:pPr algn="ctr"/>
            <a:r>
              <a:rPr lang="en-US" altLang="zh-CN" dirty="0"/>
              <a:t>3NF (Cont.)</a:t>
            </a:r>
            <a:endParaRPr lang="zh-CN" altLang="en-US" dirty="0"/>
          </a:p>
        </p:txBody>
      </p:sp>
      <p:sp>
        <p:nvSpPr>
          <p:cNvPr id="3" name="内容占位符 2">
            <a:extLst>
              <a:ext uri="{FF2B5EF4-FFF2-40B4-BE49-F238E27FC236}">
                <a16:creationId xmlns:a16="http://schemas.microsoft.com/office/drawing/2014/main" id="{7CB52391-4097-4108-BD2B-B3BE4EDFD6EF}"/>
              </a:ext>
            </a:extLst>
          </p:cNvPr>
          <p:cNvSpPr>
            <a:spLocks noGrp="1"/>
          </p:cNvSpPr>
          <p:nvPr>
            <p:ph idx="1"/>
          </p:nvPr>
        </p:nvSpPr>
        <p:spPr>
          <a:xfrm>
            <a:off x="251520" y="710896"/>
            <a:ext cx="8568952" cy="3805070"/>
          </a:xfrm>
        </p:spPr>
        <p:txBody>
          <a:bodyPr/>
          <a:lstStyle/>
          <a:p>
            <a:r>
              <a:rPr lang="en-US" altLang="zh-CN" sz="1800" b="1" dirty="0"/>
              <a:t>Example</a:t>
            </a:r>
          </a:p>
          <a:p>
            <a:pPr lvl="1"/>
            <a:r>
              <a:rPr lang="en-US" altLang="zh-CN" sz="1600" dirty="0"/>
              <a:t>R = (J, K, L), F = {JK </a:t>
            </a:r>
            <a:r>
              <a:rPr lang="en-US" altLang="zh-CN" sz="1600" b="1" dirty="0">
                <a:ea typeface="宋体" panose="02010600030101010101" pitchFamily="2" charset="-122"/>
                <a:sym typeface="Symbol" panose="05050102010706020507" pitchFamily="18" charset="2"/>
              </a:rPr>
              <a:t></a:t>
            </a:r>
            <a:r>
              <a:rPr lang="en-US" altLang="zh-CN" sz="1600" dirty="0"/>
              <a:t> L, L </a:t>
            </a:r>
            <a:r>
              <a:rPr lang="en-US" altLang="zh-CN" sz="1600" b="1" dirty="0">
                <a:ea typeface="宋体" panose="02010600030101010101" pitchFamily="2" charset="-122"/>
                <a:sym typeface="Symbol" panose="05050102010706020507" pitchFamily="18" charset="2"/>
              </a:rPr>
              <a:t></a:t>
            </a:r>
            <a:r>
              <a:rPr lang="en-US" altLang="zh-CN" sz="1600" dirty="0"/>
              <a:t> K}, two candidate keys:  JK and JL</a:t>
            </a:r>
          </a:p>
          <a:p>
            <a:pPr lvl="1"/>
            <a:r>
              <a:rPr lang="en-US" altLang="zh-CN" sz="1600" dirty="0"/>
              <a:t>R is in 3NF</a:t>
            </a:r>
          </a:p>
          <a:p>
            <a:pPr marL="914400" lvl="2" indent="0">
              <a:buNone/>
            </a:pPr>
            <a:r>
              <a:rPr lang="en-US" altLang="zh-CN" sz="1400" dirty="0"/>
              <a:t>JK</a:t>
            </a:r>
            <a:r>
              <a:rPr lang="en-US" altLang="zh-CN" sz="1400" b="1" dirty="0">
                <a:ea typeface="宋体" panose="02010600030101010101" pitchFamily="2" charset="-122"/>
                <a:sym typeface="Symbol" panose="05050102010706020507" pitchFamily="18" charset="2"/>
              </a:rPr>
              <a:t> </a:t>
            </a:r>
            <a:r>
              <a:rPr lang="en-US" altLang="zh-CN" sz="1400" dirty="0"/>
              <a:t> L	JK is a </a:t>
            </a:r>
            <a:r>
              <a:rPr lang="en-US" altLang="zh-CN" sz="1400" dirty="0" err="1"/>
              <a:t>superkey</a:t>
            </a:r>
            <a:endParaRPr lang="en-US" altLang="zh-CN" sz="1400" dirty="0"/>
          </a:p>
          <a:p>
            <a:pPr marL="914400" lvl="2" indent="0">
              <a:buNone/>
            </a:pPr>
            <a:r>
              <a:rPr lang="en-US" altLang="zh-CN" sz="1400" dirty="0"/>
              <a:t>L</a:t>
            </a:r>
            <a:r>
              <a:rPr lang="en-US" altLang="zh-CN" sz="1400" b="1" dirty="0">
                <a:ea typeface="宋体" panose="02010600030101010101" pitchFamily="2" charset="-122"/>
                <a:sym typeface="Symbol" panose="05050102010706020507" pitchFamily="18" charset="2"/>
              </a:rPr>
              <a:t> </a:t>
            </a:r>
            <a:r>
              <a:rPr lang="en-US" altLang="zh-CN" sz="1400" dirty="0"/>
              <a:t> K	K is contained in a candidate key</a:t>
            </a:r>
            <a:endParaRPr lang="en-US" altLang="zh-CN" sz="1600" dirty="0"/>
          </a:p>
          <a:p>
            <a:r>
              <a:rPr lang="en-US" altLang="zh-CN" sz="1800" dirty="0"/>
              <a:t>There is some redundancy in this schema</a:t>
            </a:r>
          </a:p>
          <a:p>
            <a:r>
              <a:rPr lang="en-US" altLang="zh-CN" sz="1800" dirty="0"/>
              <a:t>Equivalent to example:</a:t>
            </a:r>
          </a:p>
          <a:p>
            <a:pPr marL="457200" lvl="1" indent="0">
              <a:buNone/>
            </a:pPr>
            <a:r>
              <a:rPr lang="en-US" altLang="zh-CN" sz="1600" i="1" dirty="0"/>
              <a:t>banker-schema = (</a:t>
            </a:r>
            <a:r>
              <a:rPr lang="en-US" altLang="zh-CN" sz="1600" i="1" dirty="0" err="1"/>
              <a:t>branch_name</a:t>
            </a:r>
            <a:r>
              <a:rPr lang="en-US" altLang="zh-CN" sz="1600" i="1" dirty="0"/>
              <a:t>, </a:t>
            </a:r>
            <a:r>
              <a:rPr lang="en-US" altLang="zh-CN" sz="1600" i="1" dirty="0" err="1"/>
              <a:t>customer_name</a:t>
            </a:r>
            <a:r>
              <a:rPr lang="en-US" altLang="zh-CN" sz="1600" i="1" dirty="0"/>
              <a:t>, </a:t>
            </a:r>
            <a:r>
              <a:rPr lang="en-US" altLang="zh-CN" sz="1600" i="1" dirty="0" err="1"/>
              <a:t>banker_name</a:t>
            </a:r>
            <a:r>
              <a:rPr lang="en-US" altLang="zh-CN" sz="1600" i="1" dirty="0"/>
              <a:t>)</a:t>
            </a:r>
          </a:p>
          <a:p>
            <a:pPr marL="457200" lvl="1" indent="0">
              <a:buNone/>
            </a:pPr>
            <a:r>
              <a:rPr lang="en-US" altLang="zh-CN" sz="1600" i="1" dirty="0" err="1"/>
              <a:t>banker_name</a:t>
            </a:r>
            <a:r>
              <a:rPr lang="en-US" altLang="zh-CN" sz="1600" b="1" i="1" dirty="0">
                <a:ea typeface="宋体" panose="02010600030101010101" pitchFamily="2" charset="-122"/>
                <a:sym typeface="Symbol" panose="05050102010706020507" pitchFamily="18" charset="2"/>
              </a:rPr>
              <a:t>  </a:t>
            </a:r>
            <a:r>
              <a:rPr lang="en-US" altLang="zh-CN" sz="1600" i="1" dirty="0" err="1"/>
              <a:t>branch_name</a:t>
            </a:r>
            <a:endParaRPr lang="en-US" altLang="zh-CN" sz="1600" i="1" dirty="0"/>
          </a:p>
          <a:p>
            <a:pPr marL="457200" lvl="1" indent="0">
              <a:buNone/>
            </a:pPr>
            <a:r>
              <a:rPr lang="en-US" altLang="zh-CN" sz="1600" i="1" dirty="0" err="1"/>
              <a:t>branch_name</a:t>
            </a:r>
            <a:r>
              <a:rPr lang="en-US" altLang="zh-CN" sz="1600" i="1" dirty="0"/>
              <a:t>, </a:t>
            </a:r>
            <a:r>
              <a:rPr lang="en-US" altLang="zh-CN" sz="1600" i="1" dirty="0" err="1"/>
              <a:t>customer_name</a:t>
            </a:r>
            <a:r>
              <a:rPr lang="en-US" altLang="zh-CN" sz="1600" i="1" dirty="0"/>
              <a:t> </a:t>
            </a:r>
            <a:r>
              <a:rPr lang="en-US" altLang="zh-CN" sz="1600" b="1" i="1" dirty="0">
                <a:ea typeface="宋体" panose="02010600030101010101" pitchFamily="2" charset="-122"/>
                <a:sym typeface="Symbol" panose="05050102010706020507" pitchFamily="18" charset="2"/>
              </a:rPr>
              <a:t> </a:t>
            </a:r>
            <a:r>
              <a:rPr lang="en-US" altLang="zh-CN" sz="1600" i="1" dirty="0"/>
              <a:t> </a:t>
            </a:r>
            <a:r>
              <a:rPr lang="en-US" altLang="zh-CN" sz="1600" i="1" dirty="0" err="1"/>
              <a:t>banker_name</a:t>
            </a:r>
            <a:endParaRPr lang="en-US" altLang="zh-CN" sz="1600" i="1" dirty="0"/>
          </a:p>
          <a:p>
            <a:endParaRPr lang="zh-CN" altLang="en-US" sz="1800" dirty="0"/>
          </a:p>
        </p:txBody>
      </p:sp>
    </p:spTree>
    <p:extLst>
      <p:ext uri="{BB962C8B-B14F-4D97-AF65-F5344CB8AC3E}">
        <p14:creationId xmlns:p14="http://schemas.microsoft.com/office/powerpoint/2010/main" val="733010525"/>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9DB0A3-EC09-439B-85FD-7572DE4DF825}"/>
              </a:ext>
            </a:extLst>
          </p:cNvPr>
          <p:cNvSpPr>
            <a:spLocks noGrp="1"/>
          </p:cNvSpPr>
          <p:nvPr>
            <p:ph type="title"/>
          </p:nvPr>
        </p:nvSpPr>
        <p:spPr/>
        <p:txBody>
          <a:bodyPr/>
          <a:lstStyle/>
          <a:p>
            <a:pPr algn="ctr"/>
            <a:r>
              <a:rPr lang="en-US" altLang="zh-CN" dirty="0"/>
              <a:t>Testing for 3NF</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A487F1E-762D-46F4-AC20-33F1ED1EEF79}"/>
                  </a:ext>
                </a:extLst>
              </p:cNvPr>
              <p:cNvSpPr>
                <a:spLocks noGrp="1"/>
              </p:cNvSpPr>
              <p:nvPr>
                <p:ph idx="1"/>
              </p:nvPr>
            </p:nvSpPr>
            <p:spPr/>
            <p:txBody>
              <a:bodyPr/>
              <a:lstStyle/>
              <a:p>
                <a:r>
                  <a:rPr lang="en-US" altLang="zh-CN" sz="1800" dirty="0"/>
                  <a:t>Use attribute closure to check for each dependency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𝛽</m:t>
                    </m:r>
                  </m:oMath>
                </a14:m>
                <a:r>
                  <a:rPr lang="en-US" altLang="zh-CN" sz="1800" dirty="0"/>
                  <a:t> to see if </a:t>
                </a:r>
                <a14:m>
                  <m:oMath xmlns:m="http://schemas.openxmlformats.org/officeDocument/2006/math">
                    <m:r>
                      <a:rPr lang="zh-CN" altLang="en-US" sz="1800" i="1">
                        <a:latin typeface="Cambria Math" panose="02040503050406030204" pitchFamily="18" charset="0"/>
                      </a:rPr>
                      <m:t>𝛼</m:t>
                    </m:r>
                  </m:oMath>
                </a14:m>
                <a:r>
                  <a:rPr lang="en-US" altLang="zh-CN" sz="1800" dirty="0"/>
                  <a:t> is a </a:t>
                </a:r>
                <a:r>
                  <a:rPr lang="en-US" altLang="zh-CN" sz="1800" dirty="0" err="1"/>
                  <a:t>superkey</a:t>
                </a:r>
                <a:r>
                  <a:rPr lang="en-US" altLang="zh-CN" sz="1800" dirty="0"/>
                  <a:t>.</a:t>
                </a:r>
              </a:p>
              <a:p>
                <a:r>
                  <a:rPr lang="en-US" altLang="zh-CN" sz="1800" dirty="0"/>
                  <a:t>If </a:t>
                </a:r>
                <a14:m>
                  <m:oMath xmlns:m="http://schemas.openxmlformats.org/officeDocument/2006/math">
                    <m:r>
                      <a:rPr lang="zh-CN" altLang="en-US" sz="1800" i="1">
                        <a:latin typeface="Cambria Math" panose="02040503050406030204" pitchFamily="18" charset="0"/>
                      </a:rPr>
                      <m:t>𝛼</m:t>
                    </m:r>
                  </m:oMath>
                </a14:m>
                <a:r>
                  <a:rPr lang="en-US" altLang="zh-CN" sz="1800" dirty="0"/>
                  <a:t> is not a </a:t>
                </a:r>
                <a:r>
                  <a:rPr lang="en-US" altLang="zh-CN" sz="1800" dirty="0" err="1"/>
                  <a:t>superkey</a:t>
                </a:r>
                <a:r>
                  <a:rPr lang="en-US" altLang="zh-CN" sz="1800" dirty="0"/>
                  <a:t>, further verify if each attribute in </a:t>
                </a:r>
                <a14:m>
                  <m:oMath xmlns:m="http://schemas.openxmlformats.org/officeDocument/2006/math">
                    <m:r>
                      <a:rPr lang="zh-CN" altLang="en-US" sz="1800" i="1">
                        <a:latin typeface="Cambria Math" panose="02040503050406030204" pitchFamily="18" charset="0"/>
                      </a:rPr>
                      <m:t>𝛽</m:t>
                    </m:r>
                  </m:oMath>
                </a14:m>
                <a:r>
                  <a:rPr lang="en-US" altLang="zh-CN" sz="1800" dirty="0"/>
                  <a:t>-</a:t>
                </a:r>
                <a14:m>
                  <m:oMath xmlns:m="http://schemas.openxmlformats.org/officeDocument/2006/math">
                    <m:r>
                      <a:rPr lang="zh-CN" altLang="en-US" sz="1800" i="1" dirty="0" smtClean="0">
                        <a:latin typeface="Cambria Math" panose="02040503050406030204" pitchFamily="18" charset="0"/>
                      </a:rPr>
                      <m:t>𝛼</m:t>
                    </m:r>
                  </m:oMath>
                </a14:m>
                <a:r>
                  <a:rPr lang="en-US" altLang="zh-CN" sz="1800" dirty="0"/>
                  <a:t> is contained in a candidate key of R</a:t>
                </a:r>
              </a:p>
              <a:p>
                <a:pPr lvl="1"/>
                <a:r>
                  <a:rPr lang="en-US" altLang="zh-CN" sz="1600" dirty="0"/>
                  <a:t>this test is rather more expensive, since it involve finding candidate keys</a:t>
                </a:r>
              </a:p>
              <a:p>
                <a:pPr lvl="1"/>
                <a:r>
                  <a:rPr lang="en-US" altLang="zh-CN" sz="1600" dirty="0"/>
                  <a:t>testing for 3NF is NP-hard</a:t>
                </a:r>
              </a:p>
              <a:p>
                <a:pPr lvl="1"/>
                <a:r>
                  <a:rPr lang="en-US" altLang="zh-CN" sz="1600" dirty="0"/>
                  <a:t>decomposition into 3NF can be done in polynomial time </a:t>
                </a:r>
              </a:p>
              <a:p>
                <a:endParaRPr lang="zh-CN" altLang="en-US" sz="1800" dirty="0"/>
              </a:p>
            </p:txBody>
          </p:sp>
        </mc:Choice>
        <mc:Fallback xmlns="">
          <p:sp>
            <p:nvSpPr>
              <p:cNvPr id="3" name="内容占位符 2">
                <a:extLst>
                  <a:ext uri="{FF2B5EF4-FFF2-40B4-BE49-F238E27FC236}">
                    <a16:creationId xmlns:a16="http://schemas.microsoft.com/office/drawing/2014/main" id="{0A487F1E-762D-46F4-AC20-33F1ED1EEF79}"/>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20924320"/>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2F4F89-28D0-490F-ADCF-CD37F5AFCF7B}"/>
              </a:ext>
            </a:extLst>
          </p:cNvPr>
          <p:cNvSpPr>
            <a:spLocks noGrp="1"/>
          </p:cNvSpPr>
          <p:nvPr>
            <p:ph type="title"/>
          </p:nvPr>
        </p:nvSpPr>
        <p:spPr/>
        <p:txBody>
          <a:bodyPr/>
          <a:lstStyle/>
          <a:p>
            <a:pPr algn="ctr"/>
            <a:r>
              <a:rPr lang="en-US" altLang="zh-CN" dirty="0"/>
              <a:t>3NF Decomposition Algorithm</a:t>
            </a:r>
            <a:endParaRPr lang="zh-CN" altLang="en-US" dirty="0"/>
          </a:p>
        </p:txBody>
      </p:sp>
      <p:sp>
        <p:nvSpPr>
          <p:cNvPr id="4" name="Rectangle 3">
            <a:extLst>
              <a:ext uri="{FF2B5EF4-FFF2-40B4-BE49-F238E27FC236}">
                <a16:creationId xmlns:a16="http://schemas.microsoft.com/office/drawing/2014/main" id="{F4083DE7-914A-43CD-8FA1-8359CCF96467}"/>
              </a:ext>
            </a:extLst>
          </p:cNvPr>
          <p:cNvSpPr txBox="1">
            <a:spLocks noChangeArrowheads="1"/>
          </p:cNvSpPr>
          <p:nvPr/>
        </p:nvSpPr>
        <p:spPr bwMode="auto">
          <a:xfrm>
            <a:off x="-11040" y="776883"/>
            <a:ext cx="6743280" cy="3589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00FF00"/>
              </a:buClr>
              <a:buSzPct val="80000"/>
              <a:buFont typeface="Wingdings" panose="05000000000000000000" pitchFamily="2" charset="2"/>
              <a:buChar char="l"/>
              <a:defRPr kumimoji="1" sz="1500">
                <a:solidFill>
                  <a:schemeClr val="tx1"/>
                </a:solidFill>
                <a:latin typeface="+mn-lt"/>
              </a:defRPr>
            </a:lvl3pPr>
            <a:lvl4pPr marL="1071563" indent="-171450" algn="l" rtl="0" eaLnBrk="0" fontAlgn="base" hangingPunct="0">
              <a:spcBef>
                <a:spcPct val="35000"/>
              </a:spcBef>
              <a:spcAft>
                <a:spcPct val="0"/>
              </a:spcAft>
              <a:buClr>
                <a:srgbClr val="CC0099"/>
              </a:buClr>
              <a:buSzPct val="80000"/>
              <a:buFont typeface="Times New Roman" panose="02020603050405020304" pitchFamily="18" charset="0"/>
              <a:buChar char="•"/>
              <a:defRPr kumimoji="1" sz="1500">
                <a:solidFill>
                  <a:schemeClr val="tx1"/>
                </a:solidFill>
                <a:latin typeface="+mn-lt"/>
              </a:defRPr>
            </a:lvl4pPr>
            <a:lvl5pPr marL="1328738" indent="-171450" algn="l" rtl="0" eaLnBrk="0" fontAlgn="base" hangingPunct="0">
              <a:spcBef>
                <a:spcPct val="35000"/>
              </a:spcBef>
              <a:spcAft>
                <a:spcPct val="0"/>
              </a:spcAft>
              <a:buClr>
                <a:srgbClr val="000000"/>
              </a:buClr>
              <a:buSzPct val="80000"/>
              <a:buFont typeface="Times New Roman" panose="02020603050405020304" pitchFamily="18" charset="0"/>
              <a:buChar char="»"/>
              <a:defRPr kumimoji="1" sz="1500">
                <a:solidFill>
                  <a:schemeClr val="tx1"/>
                </a:solidFill>
                <a:latin typeface="+mn-lt"/>
              </a:defRPr>
            </a:lvl5pPr>
            <a:lvl6pPr marL="16716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6pPr>
            <a:lvl7pPr marL="20145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7pPr>
            <a:lvl8pPr marL="23574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8pPr>
            <a:lvl9pPr marL="27003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9pPr>
          </a:lstStyle>
          <a:p>
            <a:pPr>
              <a:lnSpc>
                <a:spcPct val="130000"/>
              </a:lnSpc>
              <a:buFont typeface="Wingdings" panose="05000000000000000000" pitchFamily="2" charset="2"/>
              <a:buNone/>
              <a:tabLst>
                <a:tab pos="346472" algn="l"/>
                <a:tab pos="770335" algn="l"/>
                <a:tab pos="982266" algn="l"/>
                <a:tab pos="1283494" algn="l"/>
              </a:tabLst>
            </a:pPr>
            <a:r>
              <a:rPr lang="zh-CN" altLang="en-US" sz="1600"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rPr>
              <a:t>Let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rPr>
              <a:t>F</a:t>
            </a:r>
            <a:r>
              <a:rPr lang="en-US" altLang="zh-CN" sz="2000" i="1" kern="0" baseline="-25000" dirty="0">
                <a:latin typeface="Times New Roman" panose="02020603050405020304" pitchFamily="18" charset="0"/>
                <a:ea typeface="宋体" panose="02010600030101010101" pitchFamily="2" charset="-122"/>
                <a:cs typeface="Times New Roman" panose="02020603050405020304" pitchFamily="18" charset="0"/>
              </a:rPr>
              <a:t>c</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rPr>
              <a:t>be a </a:t>
            </a:r>
            <a:r>
              <a:rPr lang="en-US" altLang="zh-CN" sz="1600"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canonical cover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rPr>
              <a:t>for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rPr>
              <a:t>F;</a:t>
            </a:r>
            <a:b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rPr>
            </a:b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rPr>
              <a:t>:= 0;</a:t>
            </a:r>
            <a:br>
              <a:rPr lang="en-US" altLang="zh-CN" sz="1600" kern="0" dirty="0">
                <a:latin typeface="Times New Roman" panose="02020603050405020304" pitchFamily="18" charset="0"/>
                <a:ea typeface="宋体" panose="02010600030101010101" pitchFamily="2" charset="-122"/>
                <a:cs typeface="Times New Roman" panose="02020603050405020304" pitchFamily="18" charset="0"/>
              </a:rPr>
            </a:br>
            <a:r>
              <a:rPr lang="en-US" altLang="zh-CN" sz="16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for each</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rPr>
              <a:t>  FD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in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F</a:t>
            </a:r>
            <a:r>
              <a:rPr lang="en-US" altLang="zh-CN" sz="2000" i="1" kern="0" baseline="-2500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c</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do</a:t>
            </a:r>
            <a:b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b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1;</a:t>
            </a:r>
            <a:b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b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R</a:t>
            </a:r>
            <a:r>
              <a:rPr lang="en-US" altLang="zh-CN" sz="1600" i="1" kern="0" baseline="-2500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i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b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br>
            <a:r>
              <a:rPr lang="en-US" altLang="zh-CN" sz="16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if</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none of the schemas </a:t>
            </a: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R</a:t>
            </a:r>
            <a:r>
              <a:rPr lang="en-US" altLang="zh-CN" sz="2400" i="1" kern="0" baseline="-25000" dirty="0" err="1">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j</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1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j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contains a candidate key for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b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err="1">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+ 1;</a:t>
            </a:r>
            <a:b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400" i="1" kern="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any candidate key for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br>
              <a:rPr lang="en-US" altLang="zh-CN" sz="16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br>
            <a:r>
              <a:rPr lang="en-US" altLang="zh-CN" sz="1600" kern="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return</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000" kern="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000" kern="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en-US" altLang="zh-CN" sz="1600"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 ..., </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400" i="1" kern="0" baseline="-25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i</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600" i="1" kern="0" dirty="0">
                <a:latin typeface="Times New Roman" panose="02020603050405020304" pitchFamily="18" charset="0"/>
                <a:ea typeface="宋体" panose="02010600030101010101" pitchFamily="2" charset="-122"/>
                <a:cs typeface="Times New Roman" panose="02020603050405020304" pitchFamily="18" charset="0"/>
                <a:sym typeface="Greek Symbols" pitchFamily="18" charset="2"/>
              </a:rPr>
              <a:t>		    </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DE0EA8E2-2C7E-47C2-A43A-F5B5659D63B5}"/>
                  </a:ext>
                </a:extLst>
              </p:cNvPr>
              <p:cNvSpPr>
                <a:spLocks noGrp="1"/>
              </p:cNvSpPr>
              <p:nvPr>
                <p:ph idx="1"/>
              </p:nvPr>
            </p:nvSpPr>
            <p:spPr>
              <a:xfrm>
                <a:off x="971600" y="3959435"/>
                <a:ext cx="6948772" cy="567023"/>
              </a:xfrm>
              <a:solidFill>
                <a:schemeClr val="accent6">
                  <a:lumMod val="60000"/>
                  <a:lumOff val="40000"/>
                </a:schemeClr>
              </a:solidFill>
            </p:spPr>
            <p:txBody>
              <a:bodyPr/>
              <a:lstStyle/>
              <a:p>
                <a:pPr marL="0" indent="0">
                  <a:buNone/>
                </a:pPr>
                <a:r>
                  <a:rPr lang="en-US" altLang="zh-CN" sz="1600" b="1" dirty="0"/>
                  <a:t>The algorithm ensures that each relation schema </a:t>
                </a:r>
                <a14:m>
                  <m:oMath xmlns:m="http://schemas.openxmlformats.org/officeDocument/2006/math">
                    <m:sSub>
                      <m:sSubPr>
                        <m:ctrlPr>
                          <a:rPr lang="en-US" altLang="zh-CN" sz="1600" b="1" i="1" smtClean="0">
                            <a:latin typeface="Cambria Math" panose="02040503050406030204" pitchFamily="18" charset="0"/>
                          </a:rPr>
                        </m:ctrlPr>
                      </m:sSubPr>
                      <m:e>
                        <m:r>
                          <a:rPr lang="en-US" altLang="zh-CN" sz="1600" b="1" i="1" smtClean="0">
                            <a:latin typeface="Cambria Math" panose="02040503050406030204" pitchFamily="18" charset="0"/>
                          </a:rPr>
                          <m:t>𝑹</m:t>
                        </m:r>
                      </m:e>
                      <m:sub>
                        <m:r>
                          <a:rPr lang="en-US" altLang="zh-CN" sz="1600" b="1" i="1" smtClean="0">
                            <a:latin typeface="Cambria Math" panose="02040503050406030204" pitchFamily="18" charset="0"/>
                          </a:rPr>
                          <m:t>𝒊</m:t>
                        </m:r>
                      </m:sub>
                    </m:sSub>
                  </m:oMath>
                </a14:m>
                <a:r>
                  <a:rPr lang="en-US" altLang="zh-CN" sz="1600" b="1" dirty="0"/>
                  <a:t> is in 3NF, and the decomposition is dependency preserving and lossless-join</a:t>
                </a:r>
              </a:p>
            </p:txBody>
          </p:sp>
        </mc:Choice>
        <mc:Fallback xmlns="">
          <p:sp>
            <p:nvSpPr>
              <p:cNvPr id="5" name="内容占位符 2">
                <a:extLst>
                  <a:ext uri="{FF2B5EF4-FFF2-40B4-BE49-F238E27FC236}">
                    <a16:creationId xmlns:a16="http://schemas.microsoft.com/office/drawing/2014/main" id="{DE0EA8E2-2C7E-47C2-A43A-F5B5659D63B5}"/>
                  </a:ext>
                </a:extLst>
              </p:cNvPr>
              <p:cNvSpPr>
                <a:spLocks noGrp="1" noRot="1" noChangeAspect="1" noMove="1" noResize="1" noEditPoints="1" noAdjustHandles="1" noChangeArrowheads="1" noChangeShapeType="1" noTextEdit="1"/>
              </p:cNvSpPr>
              <p:nvPr>
                <p:ph idx="1"/>
              </p:nvPr>
            </p:nvSpPr>
            <p:spPr>
              <a:xfrm>
                <a:off x="971600" y="3959435"/>
                <a:ext cx="6948772" cy="567023"/>
              </a:xfrm>
              <a:blipFill>
                <a:blip r:embed="rId2"/>
                <a:stretch>
                  <a:fillRect l="-439" t="-3226" r="-965" b="-1612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575353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barn(inVertical)">
                                      <p:cBhvr>
                                        <p:cTn id="7" dur="500"/>
                                        <p:tgtEl>
                                          <p:spTgt spid="5">
                                            <p:bg/>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barn(inVertical)">
                                      <p:cBhvr>
                                        <p:cTn id="12"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3NF Decomposition Example 1</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107504" y="699542"/>
                <a:ext cx="8784976" cy="3805070"/>
              </a:xfrm>
            </p:spPr>
            <p:txBody>
              <a:bodyPr/>
              <a:lstStyle/>
              <a:p>
                <a:r>
                  <a:rPr lang="en-US" altLang="zh-CN" sz="1800" dirty="0"/>
                  <a:t>R&lt;U, F&gt;, U={A,B,C,D,E}, F={AB</a:t>
                </a:r>
                <a:r>
                  <a:rPr lang="en-US" altLang="zh-CN" sz="1800" b="1" dirty="0">
                    <a:ea typeface="华文中宋" panose="02010600040101010101" pitchFamily="2" charset="-122"/>
                    <a:sym typeface="Symbol" panose="05050102010706020507" pitchFamily="18" charset="2"/>
                  </a:rPr>
                  <a:t></a:t>
                </a:r>
                <a:r>
                  <a:rPr lang="en-US" altLang="zh-CN" sz="1800" dirty="0"/>
                  <a:t>CDE, AC</a:t>
                </a:r>
                <a:r>
                  <a:rPr lang="en-US" altLang="zh-CN" sz="1800" b="1" dirty="0">
                    <a:ea typeface="华文中宋" panose="02010600040101010101" pitchFamily="2" charset="-122"/>
                    <a:sym typeface="Symbol" panose="05050102010706020507" pitchFamily="18" charset="2"/>
                  </a:rPr>
                  <a:t></a:t>
                </a:r>
                <a:r>
                  <a:rPr lang="en-US" altLang="zh-CN" sz="1800" dirty="0"/>
                  <a:t>BDE, B</a:t>
                </a:r>
                <a:r>
                  <a:rPr lang="en-US" altLang="zh-CN" sz="1800" b="1" dirty="0">
                    <a:ea typeface="华文中宋" panose="02010600040101010101" pitchFamily="2" charset="-122"/>
                    <a:sym typeface="Symbol" panose="05050102010706020507" pitchFamily="18" charset="2"/>
                  </a:rPr>
                  <a:t></a:t>
                </a:r>
                <a:r>
                  <a:rPr lang="en-US" altLang="zh-CN" sz="1800" dirty="0"/>
                  <a:t>C, C</a:t>
                </a:r>
                <a:r>
                  <a:rPr lang="en-US" altLang="zh-CN" sz="1800" b="1" dirty="0">
                    <a:ea typeface="华文中宋" panose="02010600040101010101" pitchFamily="2" charset="-122"/>
                    <a:sym typeface="Symbol" panose="05050102010706020507" pitchFamily="18" charset="2"/>
                  </a:rPr>
                  <a:t></a:t>
                </a:r>
                <a:r>
                  <a:rPr lang="en-US" altLang="zh-CN" sz="1800" dirty="0"/>
                  <a:t>D, B</a:t>
                </a:r>
                <a:r>
                  <a:rPr lang="en-US" altLang="zh-CN" sz="1800" b="1" dirty="0">
                    <a:ea typeface="华文中宋" panose="02010600040101010101" pitchFamily="2" charset="-122"/>
                    <a:sym typeface="Symbol" panose="05050102010706020507" pitchFamily="18" charset="2"/>
                  </a:rPr>
                  <a:t>  </a:t>
                </a:r>
                <a:r>
                  <a:rPr lang="en-US" altLang="zh-CN" sz="1800" dirty="0"/>
                  <a:t>E}</a:t>
                </a:r>
              </a:p>
              <a:p>
                <a:pPr lvl="1"/>
                <a:r>
                  <a:rPr lang="en-US" altLang="zh-CN" sz="1600" dirty="0"/>
                  <a:t>R is in which NF? Decompose R into 3NF, and the decomposition is dependency preserving and lossless-join</a:t>
                </a:r>
              </a:p>
              <a:p>
                <a:pPr marL="457200" lvl="1" indent="0">
                  <a:buNone/>
                </a:pPr>
                <a:r>
                  <a:rPr lang="en-US" altLang="zh-CN" sz="1400" dirty="0"/>
                  <a:t>1) Fc={AC</a:t>
                </a:r>
                <a:r>
                  <a:rPr lang="en-US" altLang="zh-CN" sz="1400" b="1" dirty="0">
                    <a:ea typeface="华文中宋" panose="02010600040101010101" pitchFamily="2" charset="-122"/>
                    <a:sym typeface="Symbol" panose="05050102010706020507" pitchFamily="18" charset="2"/>
                  </a:rPr>
                  <a:t></a:t>
                </a:r>
                <a:r>
                  <a:rPr lang="en-US" altLang="zh-CN" sz="1400" dirty="0"/>
                  <a:t>B, B</a:t>
                </a:r>
                <a:r>
                  <a:rPr lang="en-US" altLang="zh-CN" sz="1400" b="1" dirty="0">
                    <a:ea typeface="华文中宋" panose="02010600040101010101" pitchFamily="2" charset="-122"/>
                    <a:sym typeface="Symbol" panose="05050102010706020507" pitchFamily="18" charset="2"/>
                  </a:rPr>
                  <a:t></a:t>
                </a:r>
                <a:r>
                  <a:rPr lang="en-US" altLang="zh-CN" sz="1400" dirty="0"/>
                  <a:t>CE, C</a:t>
                </a:r>
                <a:r>
                  <a:rPr lang="en-US" altLang="zh-CN" sz="1400" b="1" dirty="0">
                    <a:ea typeface="华文中宋" panose="02010600040101010101" pitchFamily="2" charset="-122"/>
                    <a:sym typeface="Symbol" panose="05050102010706020507" pitchFamily="18" charset="2"/>
                  </a:rPr>
                  <a:t></a:t>
                </a:r>
                <a:r>
                  <a:rPr lang="en-US" altLang="zh-CN" sz="1400" dirty="0"/>
                  <a:t>D};</a:t>
                </a:r>
              </a:p>
              <a:p>
                <a:pPr marL="457200" lvl="1" indent="0">
                  <a:buNone/>
                </a:pPr>
                <a:r>
                  <a:rPr lang="en-US" altLang="zh-CN" sz="1400" dirty="0"/>
                  <a:t>2) Find candidate keys: AC</a:t>
                </a:r>
                <a:r>
                  <a:rPr lang="zh-CN" altLang="en-US" sz="1400" dirty="0"/>
                  <a:t>、</a:t>
                </a:r>
                <a:r>
                  <a:rPr lang="en-US" altLang="zh-CN" sz="1400" dirty="0"/>
                  <a:t>AB; </a:t>
                </a:r>
              </a:p>
              <a:p>
                <a:pPr lvl="2"/>
                <a:r>
                  <a:rPr lang="en-US" altLang="zh-CN" sz="1400" dirty="0"/>
                  <a:t>key-attributes are: A</a:t>
                </a:r>
                <a:r>
                  <a:rPr lang="zh-CN" altLang="en-US" sz="1400" dirty="0"/>
                  <a:t>、</a:t>
                </a:r>
                <a:r>
                  <a:rPr lang="en-US" altLang="zh-CN" sz="1400" dirty="0"/>
                  <a:t>B</a:t>
                </a:r>
                <a:r>
                  <a:rPr lang="zh-CN" altLang="en-US" sz="1400" dirty="0"/>
                  <a:t>、</a:t>
                </a:r>
                <a:r>
                  <a:rPr lang="en-US" altLang="zh-CN" sz="1400" dirty="0"/>
                  <a:t>C;</a:t>
                </a:r>
              </a:p>
              <a:p>
                <a:pPr lvl="2"/>
                <a:r>
                  <a:rPr lang="en-US" altLang="zh-CN" sz="1400" dirty="0"/>
                  <a:t>for C</a:t>
                </a:r>
                <a:r>
                  <a:rPr lang="en-US" altLang="zh-CN" sz="1400" b="1" dirty="0">
                    <a:ea typeface="华文中宋" panose="02010600040101010101" pitchFamily="2" charset="-122"/>
                    <a:sym typeface="Symbol" panose="05050102010706020507" pitchFamily="18" charset="2"/>
                  </a:rPr>
                  <a:t></a:t>
                </a:r>
                <a:r>
                  <a:rPr lang="en-US" altLang="zh-CN" sz="1400" dirty="0"/>
                  <a:t>D, non-key attribute D is partial dependent on key AC, so R</a:t>
                </a:r>
                <a:r>
                  <a:rPr lang="en-US" altLang="zh-CN" sz="1400" dirty="0">
                    <a:ea typeface="Cambria Math" panose="02040503050406030204" pitchFamily="18" charset="0"/>
                  </a:rPr>
                  <a:t> </a:t>
                </a:r>
                <a14:m>
                  <m:oMath xmlns:m="http://schemas.openxmlformats.org/officeDocument/2006/math">
                    <m:r>
                      <a:rPr lang="en-US" altLang="zh-CN" sz="1400" i="1" dirty="0">
                        <a:latin typeface="Cambria Math" panose="02040503050406030204" pitchFamily="18" charset="0"/>
                        <a:ea typeface="Cambria Math" panose="02040503050406030204" pitchFamily="18" charset="0"/>
                      </a:rPr>
                      <m:t>∉ </m:t>
                    </m:r>
                  </m:oMath>
                </a14:m>
                <a:r>
                  <a:rPr lang="en-US" altLang="zh-CN" sz="1400" dirty="0"/>
                  <a:t>2NF, R</a:t>
                </a:r>
                <a14:m>
                  <m:oMath xmlns:m="http://schemas.openxmlformats.org/officeDocument/2006/math">
                    <m:r>
                      <a:rPr lang="en-US" altLang="zh-CN" sz="1400" i="1" smtClean="0">
                        <a:latin typeface="Cambria Math" panose="02040503050406030204" pitchFamily="18" charset="0"/>
                        <a:ea typeface="Cambria Math" panose="02040503050406030204" pitchFamily="18" charset="0"/>
                      </a:rPr>
                      <m:t>∈</m:t>
                    </m:r>
                  </m:oMath>
                </a14:m>
                <a:r>
                  <a:rPr lang="en-US" altLang="zh-CN" sz="1400" dirty="0"/>
                  <a:t>1NF.</a:t>
                </a:r>
              </a:p>
              <a:p>
                <a:pPr marL="457200" lvl="1" indent="0">
                  <a:buNone/>
                </a:pPr>
                <a:r>
                  <a:rPr lang="en-US" altLang="zh-CN" sz="1400" dirty="0"/>
                  <a:t>3) Decompose R into 3NF</a:t>
                </a:r>
                <a:r>
                  <a:rPr lang="zh-CN" altLang="en-US" sz="1400" dirty="0"/>
                  <a:t>：</a:t>
                </a:r>
              </a:p>
              <a:p>
                <a:pPr lvl="2"/>
                <a:r>
                  <a:rPr lang="en-US" altLang="zh-CN" sz="1200" dirty="0"/>
                  <a:t>All attributes exist in F, and does not exist X→Y</a:t>
                </a:r>
                <a:r>
                  <a:rPr lang="en-US" altLang="zh-CN" sz="1200" dirty="0">
                    <a:ea typeface="Cambria Math" panose="02040503050406030204" pitchFamily="18" charset="0"/>
                  </a:rPr>
                  <a:t> </a:t>
                </a:r>
                <a14:m>
                  <m:oMath xmlns:m="http://schemas.openxmlformats.org/officeDocument/2006/math">
                    <m:r>
                      <a:rPr lang="en-US" altLang="zh-CN" sz="1200" i="1">
                        <a:latin typeface="Cambria Math" panose="02040503050406030204" pitchFamily="18" charset="0"/>
                        <a:ea typeface="Cambria Math" panose="02040503050406030204" pitchFamily="18" charset="0"/>
                      </a:rPr>
                      <m:t>∈ </m:t>
                    </m:r>
                  </m:oMath>
                </a14:m>
                <a:r>
                  <a:rPr lang="en-US" altLang="zh-CN" sz="1200" dirty="0"/>
                  <a:t>F and XY=U</a:t>
                </a:r>
              </a:p>
              <a:p>
                <a:pPr lvl="2"/>
                <a:r>
                  <a:rPr lang="en-US" altLang="zh-CN" sz="1200" dirty="0"/>
                  <a:t>So decompose R into (Same LHS attributes): </a:t>
                </a:r>
              </a:p>
              <a:p>
                <a:pPr lvl="3"/>
                <a:r>
                  <a:rPr lang="en-US" altLang="zh-CN" sz="1100" dirty="0"/>
                  <a:t>U1={A,B,C}, F1={AC → B, B → C}</a:t>
                </a:r>
              </a:p>
              <a:p>
                <a:pPr lvl="3"/>
                <a:r>
                  <a:rPr lang="en-US" altLang="zh-CN" sz="1100" dirty="0"/>
                  <a:t>U2={B,C,E}, F2={B → CE}</a:t>
                </a:r>
              </a:p>
              <a:p>
                <a:pPr lvl="3"/>
                <a:r>
                  <a:rPr lang="en-US" altLang="zh-CN" sz="1100" dirty="0"/>
                  <a:t>U3={C,D},   F3={C → D}</a:t>
                </a:r>
              </a:p>
              <a:p>
                <a:pPr lvl="2"/>
                <a14:m>
                  <m:oMath xmlns:m="http://schemas.openxmlformats.org/officeDocument/2006/math">
                    <m:r>
                      <a:rPr lang="zh-CN" altLang="en-US" sz="1200" i="1" smtClean="0">
                        <a:latin typeface="Cambria Math" panose="02040503050406030204" pitchFamily="18" charset="0"/>
                      </a:rPr>
                      <m:t>𝜌</m:t>
                    </m:r>
                  </m:oMath>
                </a14:m>
                <a:r>
                  <a:rPr lang="en-US" altLang="zh-CN" sz="1200" dirty="0"/>
                  <a:t>={R1&lt;U1,F1&gt;, R2&lt;U2,F2&gt;, R3&lt;U3,F3&gt;}, the decomposition is dependency preserving. Since candidate keys AC</a:t>
                </a:r>
                <a:r>
                  <a:rPr lang="zh-CN" altLang="en-US" sz="1200" dirty="0"/>
                  <a:t>、</a:t>
                </a:r>
                <a:r>
                  <a:rPr lang="en-US" altLang="zh-CN" sz="1200" dirty="0"/>
                  <a:t>AB are all in U1, a row can be found as a1, a2, a3, a4, a5 for testing lossless-join form. So </a:t>
                </a:r>
                <a14:m>
                  <m:oMath xmlns:m="http://schemas.openxmlformats.org/officeDocument/2006/math">
                    <m:r>
                      <a:rPr lang="zh-CN" altLang="en-US" sz="1200" i="1">
                        <a:latin typeface="Cambria Math" panose="02040503050406030204" pitchFamily="18" charset="0"/>
                      </a:rPr>
                      <m:t>𝜌</m:t>
                    </m:r>
                  </m:oMath>
                </a14:m>
                <a:r>
                  <a:rPr lang="en-US" altLang="zh-CN" sz="1200" dirty="0"/>
                  <a:t> is lossless-join.</a:t>
                </a:r>
              </a:p>
              <a:p>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107504" y="699542"/>
                <a:ext cx="8784976" cy="3805070"/>
              </a:xfrm>
              <a:blipFill>
                <a:blip r:embed="rId3"/>
                <a:stretch>
                  <a:fillRect l="-486" t="-962" b="-12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04246799"/>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3NF Decomposition Example 2</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51520" y="789553"/>
                <a:ext cx="8784976" cy="3805070"/>
              </a:xfrm>
            </p:spPr>
            <p:txBody>
              <a:bodyPr/>
              <a:lstStyle/>
              <a:p>
                <a:r>
                  <a:rPr lang="en-US" altLang="zh-CN" sz="1800" dirty="0"/>
                  <a:t>R&lt;U, F&gt;, U={A,B,C,D}, F={A</a:t>
                </a:r>
                <a:r>
                  <a:rPr lang="en-US" altLang="zh-CN" sz="1800" b="1" dirty="0">
                    <a:ea typeface="华文中宋" panose="02010600040101010101" pitchFamily="2" charset="-122"/>
                    <a:sym typeface="Symbol" panose="05050102010706020507" pitchFamily="18" charset="2"/>
                  </a:rPr>
                  <a:t>  </a:t>
                </a:r>
                <a:r>
                  <a:rPr lang="en-US" altLang="zh-CN" sz="1800" dirty="0"/>
                  <a:t>C, C</a:t>
                </a:r>
                <a:r>
                  <a:rPr lang="en-US" altLang="zh-CN" sz="1800" b="1" dirty="0">
                    <a:ea typeface="华文中宋" panose="02010600040101010101" pitchFamily="2" charset="-122"/>
                    <a:sym typeface="Symbol" panose="05050102010706020507" pitchFamily="18" charset="2"/>
                  </a:rPr>
                  <a:t>  </a:t>
                </a:r>
                <a:r>
                  <a:rPr lang="en-US" altLang="zh-CN" sz="1800" dirty="0"/>
                  <a:t>A, B</a:t>
                </a:r>
                <a:r>
                  <a:rPr lang="en-US" altLang="zh-CN" sz="1800" b="1" dirty="0">
                    <a:ea typeface="华文中宋" panose="02010600040101010101" pitchFamily="2" charset="-122"/>
                    <a:sym typeface="Symbol" panose="05050102010706020507" pitchFamily="18" charset="2"/>
                  </a:rPr>
                  <a:t>  </a:t>
                </a:r>
                <a:r>
                  <a:rPr lang="en-US" altLang="zh-CN" sz="1800" dirty="0"/>
                  <a:t>AC, D</a:t>
                </a:r>
                <a:r>
                  <a:rPr lang="en-US" altLang="zh-CN" sz="1800" b="1" dirty="0">
                    <a:ea typeface="华文中宋" panose="02010600040101010101" pitchFamily="2" charset="-122"/>
                    <a:sym typeface="Symbol" panose="05050102010706020507" pitchFamily="18" charset="2"/>
                  </a:rPr>
                  <a:t>  </a:t>
                </a:r>
                <a:r>
                  <a:rPr lang="en-US" altLang="zh-CN" sz="1800" dirty="0"/>
                  <a:t>AC, BD</a:t>
                </a:r>
                <a:r>
                  <a:rPr lang="en-US" altLang="zh-CN" sz="1800" b="1" dirty="0">
                    <a:ea typeface="华文中宋" panose="02010600040101010101" pitchFamily="2" charset="-122"/>
                    <a:sym typeface="Symbol" panose="05050102010706020507" pitchFamily="18" charset="2"/>
                  </a:rPr>
                  <a:t>  </a:t>
                </a:r>
                <a:r>
                  <a:rPr lang="en-US" altLang="zh-CN" sz="1800" dirty="0"/>
                  <a:t>A}. </a:t>
                </a:r>
              </a:p>
              <a:p>
                <a:pPr lvl="1"/>
                <a:r>
                  <a:rPr lang="en-US" altLang="zh-CN" sz="1400" dirty="0"/>
                  <a:t>R is in which NF? Decompose R into 3NF, and the decomposition is dependency preserving and lossless-join</a:t>
                </a:r>
              </a:p>
              <a:p>
                <a:pPr marL="457200" lvl="1" indent="0">
                  <a:buNone/>
                </a:pPr>
                <a:r>
                  <a:rPr lang="en-US" altLang="zh-CN" sz="1400" dirty="0"/>
                  <a:t>1) Fc={A</a:t>
                </a:r>
                <a:r>
                  <a:rPr lang="en-US" altLang="zh-CN" sz="1400" b="1" dirty="0">
                    <a:ea typeface="华文中宋" panose="02010600040101010101" pitchFamily="2" charset="-122"/>
                    <a:sym typeface="Symbol" panose="05050102010706020507" pitchFamily="18" charset="2"/>
                  </a:rPr>
                  <a:t>  </a:t>
                </a:r>
                <a:r>
                  <a:rPr lang="en-US" altLang="zh-CN" sz="1400" dirty="0"/>
                  <a:t>C, C</a:t>
                </a:r>
                <a:r>
                  <a:rPr lang="en-US" altLang="zh-CN" sz="1400" b="1" dirty="0">
                    <a:ea typeface="华文中宋" panose="02010600040101010101" pitchFamily="2" charset="-122"/>
                    <a:sym typeface="Symbol" panose="05050102010706020507" pitchFamily="18" charset="2"/>
                  </a:rPr>
                  <a:t>  </a:t>
                </a:r>
                <a:r>
                  <a:rPr lang="en-US" altLang="zh-CN" sz="1400" dirty="0"/>
                  <a:t>A, B</a:t>
                </a:r>
                <a:r>
                  <a:rPr lang="en-US" altLang="zh-CN" sz="1400" b="1" dirty="0">
                    <a:ea typeface="华文中宋" panose="02010600040101010101" pitchFamily="2" charset="-122"/>
                    <a:sym typeface="Symbol" panose="05050102010706020507" pitchFamily="18" charset="2"/>
                  </a:rPr>
                  <a:t>  </a:t>
                </a:r>
                <a:r>
                  <a:rPr lang="en-US" altLang="zh-CN" sz="1400" dirty="0"/>
                  <a:t>A, D</a:t>
                </a:r>
                <a:r>
                  <a:rPr lang="en-US" altLang="zh-CN" sz="1400" b="1" dirty="0">
                    <a:ea typeface="华文中宋" panose="02010600040101010101" pitchFamily="2" charset="-122"/>
                    <a:sym typeface="Symbol" panose="05050102010706020507" pitchFamily="18" charset="2"/>
                  </a:rPr>
                  <a:t>  </a:t>
                </a:r>
                <a:r>
                  <a:rPr lang="en-US" altLang="zh-CN" sz="1400" dirty="0"/>
                  <a:t>A}</a:t>
                </a:r>
              </a:p>
              <a:p>
                <a:pPr marL="457200" lvl="1" indent="0">
                  <a:buNone/>
                </a:pPr>
                <a:r>
                  <a:rPr lang="en-US" altLang="zh-CN" sz="1400" dirty="0"/>
                  <a:t>2) Candidate keys of R</a:t>
                </a:r>
                <a:r>
                  <a:rPr lang="zh-CN" altLang="en-US" sz="1400" dirty="0"/>
                  <a:t>：</a:t>
                </a:r>
                <a:r>
                  <a:rPr lang="en-US" altLang="zh-CN" sz="1400" dirty="0"/>
                  <a:t>BD; key-attributes: B</a:t>
                </a:r>
                <a:r>
                  <a:rPr lang="zh-CN" altLang="en-US" sz="1400" dirty="0"/>
                  <a:t>、</a:t>
                </a:r>
                <a:r>
                  <a:rPr lang="en-US" altLang="zh-CN" sz="1400" dirty="0"/>
                  <a:t>D;</a:t>
                </a:r>
              </a:p>
              <a:p>
                <a:pPr lvl="2"/>
                <a:r>
                  <a:rPr lang="en-US" altLang="zh-CN" sz="1200" dirty="0"/>
                  <a:t>For B</a:t>
                </a:r>
                <a:r>
                  <a:rPr lang="en-US" altLang="zh-CN" sz="1200" b="1" dirty="0">
                    <a:ea typeface="华文中宋" panose="02010600040101010101" pitchFamily="2" charset="-122"/>
                    <a:sym typeface="Symbol" panose="05050102010706020507" pitchFamily="18" charset="2"/>
                  </a:rPr>
                  <a:t></a:t>
                </a:r>
                <a:r>
                  <a:rPr lang="en-US" altLang="zh-CN" sz="1200" dirty="0"/>
                  <a:t>A and D</a:t>
                </a:r>
                <a:r>
                  <a:rPr lang="en-US" altLang="zh-CN" sz="1200" b="1" dirty="0">
                    <a:ea typeface="华文中宋" panose="02010600040101010101" pitchFamily="2" charset="-122"/>
                    <a:sym typeface="Symbol" panose="05050102010706020507" pitchFamily="18" charset="2"/>
                  </a:rPr>
                  <a:t></a:t>
                </a:r>
                <a:r>
                  <a:rPr lang="en-US" altLang="zh-CN" sz="1200" dirty="0"/>
                  <a:t>A, non-key attribute A is partial dependent on key BD, so R</a:t>
                </a:r>
                <a14:m>
                  <m:oMath xmlns:m="http://schemas.openxmlformats.org/officeDocument/2006/math">
                    <m:r>
                      <a:rPr lang="en-US" altLang="zh-CN" sz="1200" i="1" dirty="0">
                        <a:latin typeface="Cambria Math" panose="02040503050406030204" pitchFamily="18" charset="0"/>
                        <a:ea typeface="Cambria Math" panose="02040503050406030204" pitchFamily="18" charset="0"/>
                      </a:rPr>
                      <m:t>∉</m:t>
                    </m:r>
                  </m:oMath>
                </a14:m>
                <a:r>
                  <a:rPr lang="en-US" altLang="zh-CN" sz="1200" dirty="0"/>
                  <a:t>2NF, R</a:t>
                </a:r>
                <a14:m>
                  <m:oMath xmlns:m="http://schemas.openxmlformats.org/officeDocument/2006/math">
                    <m:r>
                      <a:rPr lang="en-US" altLang="zh-CN" sz="1200" i="1">
                        <a:latin typeface="Cambria Math" panose="02040503050406030204" pitchFamily="18" charset="0"/>
                        <a:ea typeface="Cambria Math" panose="02040503050406030204" pitchFamily="18" charset="0"/>
                      </a:rPr>
                      <m:t>∈ </m:t>
                    </m:r>
                  </m:oMath>
                </a14:m>
                <a:r>
                  <a:rPr lang="en-US" altLang="zh-CN" sz="1200" dirty="0"/>
                  <a:t>1NF</a:t>
                </a:r>
              </a:p>
              <a:p>
                <a:pPr marL="457200" lvl="1" indent="0">
                  <a:buNone/>
                </a:pPr>
                <a:r>
                  <a:rPr lang="en-US" altLang="zh-CN" sz="1400" dirty="0"/>
                  <a:t>3) Decompose R into 3NF</a:t>
                </a:r>
                <a:r>
                  <a:rPr lang="zh-CN" altLang="en-US" sz="1400" dirty="0"/>
                  <a:t>：</a:t>
                </a:r>
              </a:p>
              <a:p>
                <a:pPr lvl="2"/>
                <a:r>
                  <a:rPr lang="en-US" altLang="zh-CN" sz="1200" dirty="0"/>
                  <a:t>All attributes exist in F, and does not exist X→Y</a:t>
                </a:r>
                <a:r>
                  <a:rPr lang="en-US" altLang="zh-CN" sz="1200" dirty="0">
                    <a:ea typeface="Cambria Math" panose="02040503050406030204" pitchFamily="18" charset="0"/>
                  </a:rPr>
                  <a:t> </a:t>
                </a:r>
                <a14:m>
                  <m:oMath xmlns:m="http://schemas.openxmlformats.org/officeDocument/2006/math">
                    <m:r>
                      <a:rPr lang="en-US" altLang="zh-CN" sz="1200" i="1">
                        <a:latin typeface="Cambria Math" panose="02040503050406030204" pitchFamily="18" charset="0"/>
                        <a:ea typeface="Cambria Math" panose="02040503050406030204" pitchFamily="18" charset="0"/>
                      </a:rPr>
                      <m:t>∈ </m:t>
                    </m:r>
                  </m:oMath>
                </a14:m>
                <a:r>
                  <a:rPr lang="en-US" altLang="zh-CN" sz="1200" dirty="0"/>
                  <a:t>F and XY=U</a:t>
                </a:r>
              </a:p>
              <a:p>
                <a:pPr lvl="2"/>
                <a:r>
                  <a:rPr lang="en-US" altLang="zh-CN" sz="1200" dirty="0"/>
                  <a:t>So decompose R into (Same LHS attributes):</a:t>
                </a:r>
              </a:p>
              <a:p>
                <a:pPr lvl="3"/>
                <a:r>
                  <a:rPr lang="en-US" altLang="zh-CN" sz="1100" dirty="0"/>
                  <a:t>U1={A,C}, F1={ A</a:t>
                </a:r>
                <a:r>
                  <a:rPr lang="en-US" altLang="zh-CN" sz="1100" b="1" dirty="0">
                    <a:ea typeface="华文中宋" panose="02010600040101010101" pitchFamily="2" charset="-122"/>
                    <a:sym typeface="Symbol" panose="05050102010706020507" pitchFamily="18" charset="2"/>
                  </a:rPr>
                  <a:t>  </a:t>
                </a:r>
                <a:r>
                  <a:rPr lang="en-US" altLang="zh-CN" sz="1100" dirty="0"/>
                  <a:t>C, C</a:t>
                </a:r>
                <a:r>
                  <a:rPr lang="en-US" altLang="zh-CN" sz="1100" b="1" dirty="0">
                    <a:ea typeface="华文中宋" panose="02010600040101010101" pitchFamily="2" charset="-122"/>
                    <a:sym typeface="Symbol" panose="05050102010706020507" pitchFamily="18" charset="2"/>
                  </a:rPr>
                  <a:t>  </a:t>
                </a:r>
                <a:r>
                  <a:rPr lang="en-US" altLang="zh-CN" sz="1100" dirty="0"/>
                  <a:t>A }</a:t>
                </a:r>
              </a:p>
              <a:p>
                <a:pPr lvl="3"/>
                <a:r>
                  <a:rPr lang="en-US" altLang="zh-CN" sz="1100" dirty="0"/>
                  <a:t>U2={A,B}, F2={ B</a:t>
                </a:r>
                <a:r>
                  <a:rPr lang="en-US" altLang="zh-CN" sz="1100" b="1" dirty="0">
                    <a:ea typeface="华文中宋" panose="02010600040101010101" pitchFamily="2" charset="-122"/>
                    <a:sym typeface="Symbol" panose="05050102010706020507" pitchFamily="18" charset="2"/>
                  </a:rPr>
                  <a:t>  </a:t>
                </a:r>
                <a:r>
                  <a:rPr lang="en-US" altLang="zh-CN" sz="1100" dirty="0"/>
                  <a:t>A }</a:t>
                </a:r>
              </a:p>
              <a:p>
                <a:pPr lvl="3"/>
                <a:r>
                  <a:rPr lang="en-US" altLang="zh-CN" sz="1100" dirty="0"/>
                  <a:t>U3={A,D}, F3={ D</a:t>
                </a:r>
                <a:r>
                  <a:rPr lang="en-US" altLang="zh-CN" sz="1100" b="1" dirty="0">
                    <a:ea typeface="华文中宋" panose="02010600040101010101" pitchFamily="2" charset="-122"/>
                    <a:sym typeface="Symbol" panose="05050102010706020507" pitchFamily="18" charset="2"/>
                  </a:rPr>
                  <a:t>  </a:t>
                </a:r>
                <a:r>
                  <a:rPr lang="en-US" altLang="zh-CN" sz="1100" dirty="0"/>
                  <a:t>A }</a:t>
                </a:r>
              </a:p>
              <a:p>
                <a:pPr lvl="2"/>
                <a14:m>
                  <m:oMath xmlns:m="http://schemas.openxmlformats.org/officeDocument/2006/math">
                    <m:r>
                      <a:rPr lang="zh-CN" altLang="en-US" sz="1200" i="1">
                        <a:latin typeface="Cambria Math" panose="02040503050406030204" pitchFamily="18" charset="0"/>
                      </a:rPr>
                      <m:t>𝜌</m:t>
                    </m:r>
                  </m:oMath>
                </a14:m>
                <a:r>
                  <a:rPr lang="en-US" altLang="zh-CN" sz="1200" dirty="0"/>
                  <a:t>={R1&lt;U1,F1&gt;, R2&lt;U2,F2&gt;, R3&lt;U3,F3&gt;}, the decomposition is dependency preserving. But candidate key BD is not in any </a:t>
                </a:r>
                <a:r>
                  <a:rPr lang="en-US" altLang="zh-CN" sz="1200" dirty="0" err="1"/>
                  <a:t>Ui</a:t>
                </a:r>
                <a:r>
                  <a:rPr lang="en-US" altLang="zh-CN" sz="1200" dirty="0"/>
                  <a:t>, so </a:t>
                </a:r>
                <a:r>
                  <a:rPr lang="el-GR" altLang="zh-CN" sz="1200" dirty="0"/>
                  <a:t>τ =</a:t>
                </a:r>
                <a:r>
                  <a:rPr lang="en-US" altLang="zh-CN" sz="1200" dirty="0"/>
                  <a:t> </a:t>
                </a:r>
                <a:r>
                  <a:rPr lang="el-GR" altLang="zh-CN" sz="1200" dirty="0"/>
                  <a:t>ρ </a:t>
                </a:r>
                <a14:m>
                  <m:oMath xmlns:m="http://schemas.openxmlformats.org/officeDocument/2006/math">
                    <m:r>
                      <a:rPr lang="el-GR" altLang="zh-CN" sz="1200" i="1" dirty="0">
                        <a:latin typeface="Cambria Math" panose="02040503050406030204" pitchFamily="18" charset="0"/>
                        <a:ea typeface="Cambria Math" panose="02040503050406030204" pitchFamily="18" charset="0"/>
                      </a:rPr>
                      <m:t>∪</m:t>
                    </m:r>
                  </m:oMath>
                </a14:m>
                <a:r>
                  <a:rPr lang="el-GR" altLang="zh-CN" sz="1200" dirty="0"/>
                  <a:t> {</a:t>
                </a:r>
                <a:r>
                  <a:rPr lang="en-US" altLang="zh-CN" sz="1200" dirty="0"/>
                  <a:t>R4&lt;{B,D},</a:t>
                </a:r>
                <a:r>
                  <a:rPr lang="el-GR" altLang="zh-CN" sz="1200" dirty="0"/>
                  <a:t>Φ&gt;}, </a:t>
                </a:r>
                <a:r>
                  <a:rPr lang="en-US" altLang="zh-CN" sz="1200" dirty="0"/>
                  <a:t>and </a:t>
                </a:r>
                <a:r>
                  <a:rPr lang="el-GR" altLang="zh-CN" sz="1200" dirty="0"/>
                  <a:t>τ </a:t>
                </a:r>
                <a:r>
                  <a:rPr lang="en-US" altLang="zh-CN" sz="1200" dirty="0"/>
                  <a:t>is the decomposition that is dependency preserving and lossless-join</a:t>
                </a:r>
              </a:p>
              <a:p>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51520" y="789553"/>
                <a:ext cx="8784976" cy="3805070"/>
              </a:xfrm>
              <a:blipFill>
                <a:blip r:embed="rId2"/>
                <a:stretch>
                  <a:fillRect l="-416" t="-962" r="-41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86415258"/>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Example</a:t>
            </a:r>
            <a:endParaRPr lang="zh-CN" altLang="en-US" dirty="0"/>
          </a:p>
        </p:txBody>
      </p:sp>
      <p:sp>
        <p:nvSpPr>
          <p:cNvPr id="3" name="内容占位符 2"/>
          <p:cNvSpPr>
            <a:spLocks noGrp="1"/>
          </p:cNvSpPr>
          <p:nvPr>
            <p:ph idx="1"/>
          </p:nvPr>
        </p:nvSpPr>
        <p:spPr>
          <a:xfrm>
            <a:off x="251520" y="789553"/>
            <a:ext cx="8784976" cy="3805070"/>
          </a:xfrm>
        </p:spPr>
        <p:txBody>
          <a:bodyPr/>
          <a:lstStyle/>
          <a:p>
            <a:r>
              <a:rPr lang="en-US" altLang="zh-CN" sz="1800" dirty="0"/>
              <a:t>Relation schema:</a:t>
            </a:r>
          </a:p>
          <a:p>
            <a:pPr marL="457200" lvl="1" indent="0">
              <a:buNone/>
            </a:pPr>
            <a:r>
              <a:rPr lang="en-US" altLang="zh-CN" sz="1600" i="1" dirty="0"/>
              <a:t>banker-info-schema = (branch-name, customer-name, banker-name, office-number)</a:t>
            </a:r>
          </a:p>
          <a:p>
            <a:r>
              <a:rPr lang="en-US" altLang="zh-CN" sz="1800" dirty="0"/>
              <a:t>The FDs for this relation schema are:</a:t>
            </a:r>
          </a:p>
          <a:p>
            <a:pPr marL="457200" lvl="1" indent="0">
              <a:buNone/>
            </a:pPr>
            <a:r>
              <a:rPr lang="en-US" altLang="zh-CN" sz="1600" i="1" dirty="0"/>
              <a:t>banker-name </a:t>
            </a:r>
            <a:r>
              <a:rPr lang="en-US" altLang="zh-CN" sz="1600" b="1" dirty="0">
                <a:ea typeface="华文中宋" panose="02010600040101010101" pitchFamily="2" charset="-122"/>
                <a:sym typeface="Symbol" panose="05050102010706020507" pitchFamily="18" charset="2"/>
              </a:rPr>
              <a:t></a:t>
            </a:r>
            <a:r>
              <a:rPr lang="en-US" altLang="zh-CN" sz="1600" i="1" dirty="0"/>
              <a:t> branch-name, office-number</a:t>
            </a:r>
            <a:br>
              <a:rPr lang="en-US" altLang="zh-CN" sz="1600" i="1" dirty="0"/>
            </a:br>
            <a:r>
              <a:rPr lang="en-US" altLang="zh-CN" sz="1600" i="1" dirty="0"/>
              <a:t>customer-name, branch-name </a:t>
            </a:r>
            <a:r>
              <a:rPr lang="en-US" altLang="zh-CN" sz="1600" b="1" dirty="0">
                <a:ea typeface="华文中宋" panose="02010600040101010101" pitchFamily="2" charset="-122"/>
                <a:sym typeface="Symbol" panose="05050102010706020507" pitchFamily="18" charset="2"/>
              </a:rPr>
              <a:t> </a:t>
            </a:r>
            <a:r>
              <a:rPr lang="en-US" altLang="zh-CN" sz="1600" i="1" dirty="0"/>
              <a:t>banker-name</a:t>
            </a:r>
          </a:p>
          <a:p>
            <a:r>
              <a:rPr lang="en-US" altLang="zh-CN" sz="1800" dirty="0"/>
              <a:t>The key is:</a:t>
            </a:r>
          </a:p>
          <a:p>
            <a:pPr marL="457200" lvl="1" indent="0">
              <a:buNone/>
            </a:pPr>
            <a:r>
              <a:rPr lang="en-US" altLang="zh-CN" sz="1600" i="1" dirty="0"/>
              <a:t>{customer-name, branch-name}</a:t>
            </a:r>
          </a:p>
          <a:p>
            <a:endParaRPr lang="zh-CN" altLang="en-US" sz="1800" dirty="0"/>
          </a:p>
        </p:txBody>
      </p:sp>
    </p:spTree>
    <p:extLst>
      <p:ext uri="{BB962C8B-B14F-4D97-AF65-F5344CB8AC3E}">
        <p14:creationId xmlns:p14="http://schemas.microsoft.com/office/powerpoint/2010/main" val="3846567294"/>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Applying 3NF to </a:t>
            </a:r>
            <a:r>
              <a:rPr lang="en-US" altLang="zh-CN" i="1" dirty="0"/>
              <a:t>banker-info-schema</a:t>
            </a:r>
            <a:endParaRPr lang="zh-CN" altLang="en-US" i="1" dirty="0"/>
          </a:p>
        </p:txBody>
      </p:sp>
      <p:sp>
        <p:nvSpPr>
          <p:cNvPr id="3" name="内容占位符 2"/>
          <p:cNvSpPr>
            <a:spLocks noGrp="1"/>
          </p:cNvSpPr>
          <p:nvPr>
            <p:ph idx="1"/>
          </p:nvPr>
        </p:nvSpPr>
        <p:spPr>
          <a:xfrm>
            <a:off x="251520" y="789553"/>
            <a:ext cx="8784976" cy="3805070"/>
          </a:xfrm>
        </p:spPr>
        <p:txBody>
          <a:bodyPr/>
          <a:lstStyle/>
          <a:p>
            <a:r>
              <a:rPr lang="en-US" altLang="zh-CN" sz="1800" dirty="0"/>
              <a:t>The for loop in the algorithm causes us to include the following schemas in our decomposition:</a:t>
            </a:r>
          </a:p>
          <a:p>
            <a:pPr marL="457200" lvl="1" indent="0">
              <a:buNone/>
            </a:pPr>
            <a:r>
              <a:rPr lang="en-US" altLang="zh-CN" sz="1600" i="1" dirty="0"/>
              <a:t>banker-office-schema = (banker-name, branch-name, office-number)</a:t>
            </a:r>
            <a:br>
              <a:rPr lang="en-US" altLang="zh-CN" sz="1600" i="1" dirty="0"/>
            </a:br>
            <a:r>
              <a:rPr lang="en-US" altLang="zh-CN" sz="1600" i="1" dirty="0"/>
              <a:t>banker-schema = (customer-name, branch-name, banker-name)</a:t>
            </a:r>
          </a:p>
          <a:p>
            <a:r>
              <a:rPr lang="en-US" altLang="zh-CN" sz="1800" dirty="0"/>
              <a:t>Since banker-schema contains a candidate key for </a:t>
            </a:r>
            <a:br>
              <a:rPr lang="en-US" altLang="zh-CN" sz="1800" dirty="0"/>
            </a:br>
            <a:r>
              <a:rPr lang="en-US" altLang="zh-CN" sz="1800" dirty="0"/>
              <a:t>banker-info-schema, we are done with the decomposition process</a:t>
            </a:r>
          </a:p>
          <a:p>
            <a:endParaRPr lang="zh-CN" altLang="en-US" sz="1800" dirty="0"/>
          </a:p>
        </p:txBody>
      </p:sp>
    </p:spTree>
    <p:extLst>
      <p:ext uri="{BB962C8B-B14F-4D97-AF65-F5344CB8AC3E}">
        <p14:creationId xmlns:p14="http://schemas.microsoft.com/office/powerpoint/2010/main" val="2646003407"/>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Comparison of BCNF and 3NF</a:t>
            </a:r>
            <a:endParaRPr lang="zh-CN" altLang="en-US" dirty="0"/>
          </a:p>
        </p:txBody>
      </p:sp>
      <p:sp>
        <p:nvSpPr>
          <p:cNvPr id="3" name="内容占位符 2"/>
          <p:cNvSpPr>
            <a:spLocks noGrp="1"/>
          </p:cNvSpPr>
          <p:nvPr>
            <p:ph idx="1"/>
          </p:nvPr>
        </p:nvSpPr>
        <p:spPr/>
        <p:txBody>
          <a:bodyPr/>
          <a:lstStyle/>
          <a:p>
            <a:r>
              <a:rPr lang="en-US" altLang="zh-CN" sz="2000" dirty="0"/>
              <a:t>It is always possible to decompose a relation into relations in 3NF and </a:t>
            </a:r>
          </a:p>
          <a:p>
            <a:pPr lvl="1"/>
            <a:r>
              <a:rPr lang="en-US" altLang="zh-CN" sz="1800" dirty="0"/>
              <a:t>the decomposition is lossless-join</a:t>
            </a:r>
          </a:p>
          <a:p>
            <a:pPr lvl="1"/>
            <a:r>
              <a:rPr lang="en-US" altLang="zh-CN" sz="1800" dirty="0"/>
              <a:t>the dependencies are preserved</a:t>
            </a:r>
          </a:p>
          <a:p>
            <a:r>
              <a:rPr lang="en-US" altLang="zh-CN" sz="2000" dirty="0"/>
              <a:t>It is always possible to decompose a relation into relations in BCNF and </a:t>
            </a:r>
          </a:p>
          <a:p>
            <a:pPr lvl="1"/>
            <a:r>
              <a:rPr lang="en-US" altLang="zh-CN" sz="1800" dirty="0"/>
              <a:t>the decomposition is lossless-join</a:t>
            </a:r>
          </a:p>
          <a:p>
            <a:pPr lvl="1"/>
            <a:r>
              <a:rPr lang="en-US" altLang="zh-CN" sz="1800" dirty="0"/>
              <a:t>it may not be possible to preserve dependencies</a:t>
            </a:r>
          </a:p>
          <a:p>
            <a:endParaRPr lang="zh-CN" altLang="en-US" sz="2000" dirty="0"/>
          </a:p>
        </p:txBody>
      </p:sp>
    </p:spTree>
    <p:extLst>
      <p:ext uri="{BB962C8B-B14F-4D97-AF65-F5344CB8AC3E}">
        <p14:creationId xmlns:p14="http://schemas.microsoft.com/office/powerpoint/2010/main" val="700981499"/>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Comparison of BCNF and 3NF (Cont.)</a:t>
            </a:r>
            <a:endParaRPr lang="zh-CN" altLang="en-US" dirty="0"/>
          </a:p>
        </p:txBody>
      </p:sp>
      <p:sp>
        <p:nvSpPr>
          <p:cNvPr id="3" name="内容占位符 2"/>
          <p:cNvSpPr>
            <a:spLocks noGrp="1"/>
          </p:cNvSpPr>
          <p:nvPr>
            <p:ph idx="1"/>
          </p:nvPr>
        </p:nvSpPr>
        <p:spPr>
          <a:xfrm>
            <a:off x="251520" y="789553"/>
            <a:ext cx="8712968" cy="3805070"/>
          </a:xfrm>
        </p:spPr>
        <p:txBody>
          <a:bodyPr/>
          <a:lstStyle/>
          <a:p>
            <a:r>
              <a:rPr lang="en-US" altLang="zh-CN" sz="2000" dirty="0"/>
              <a:t>Example of problems due to redundancy in 3NF</a:t>
            </a:r>
          </a:p>
          <a:p>
            <a:pPr lvl="1"/>
            <a:r>
              <a:rPr lang="en-US" altLang="zh-CN" sz="1800" dirty="0"/>
              <a:t>R = (J, K, L)</a:t>
            </a:r>
            <a:br>
              <a:rPr lang="en-US" altLang="zh-CN" sz="1800" dirty="0"/>
            </a:br>
            <a:r>
              <a:rPr lang="en-US" altLang="zh-CN" sz="1800" dirty="0"/>
              <a:t>F = {JK </a:t>
            </a:r>
            <a:r>
              <a:rPr lang="en-US" altLang="zh-CN" sz="1800" b="1" dirty="0">
                <a:ea typeface="华文中宋" panose="02010600040101010101" pitchFamily="2" charset="-122"/>
                <a:sym typeface="Symbol" panose="05050102010706020507" pitchFamily="18" charset="2"/>
              </a:rPr>
              <a:t></a:t>
            </a:r>
            <a:r>
              <a:rPr lang="en-US" altLang="zh-CN" sz="1800" dirty="0"/>
              <a:t> L, L </a:t>
            </a:r>
            <a:r>
              <a:rPr lang="en-US" altLang="zh-CN" sz="1800" b="1" dirty="0">
                <a:ea typeface="华文中宋" panose="02010600040101010101" pitchFamily="2" charset="-122"/>
                <a:sym typeface="Symbol" panose="05050102010706020507" pitchFamily="18" charset="2"/>
              </a:rPr>
              <a:t></a:t>
            </a:r>
            <a:r>
              <a:rPr lang="en-US" altLang="zh-CN" sz="1800" dirty="0"/>
              <a:t> K}</a:t>
            </a:r>
          </a:p>
          <a:p>
            <a:pPr lvl="1"/>
            <a:endParaRPr lang="en-US" altLang="zh-CN" sz="1800" dirty="0"/>
          </a:p>
          <a:p>
            <a:pPr marL="457200" lvl="1" indent="0">
              <a:buNone/>
            </a:pPr>
            <a:endParaRPr lang="en-US" altLang="zh-CN" sz="1800" dirty="0"/>
          </a:p>
          <a:p>
            <a:pPr marL="457200" lvl="1" indent="0">
              <a:buNone/>
            </a:pPr>
            <a:endParaRPr lang="en-US" altLang="zh-CN" sz="1800" dirty="0"/>
          </a:p>
          <a:p>
            <a:pPr marL="457200" lvl="1" indent="0">
              <a:buNone/>
            </a:pPr>
            <a:endParaRPr lang="en-US" altLang="zh-CN" sz="1800" dirty="0"/>
          </a:p>
          <a:p>
            <a:pPr marL="342900" lvl="1" indent="-342900">
              <a:buChar char="•"/>
            </a:pPr>
            <a:r>
              <a:rPr lang="en-US" altLang="zh-CN" dirty="0"/>
              <a:t>A schema that is in 3NF but not in BCNF has the repetition issue </a:t>
            </a:r>
          </a:p>
          <a:p>
            <a:pPr lvl="1"/>
            <a:r>
              <a:rPr lang="en-US" altLang="zh-CN" sz="1800" dirty="0"/>
              <a:t>information (e.g., the relationship l</a:t>
            </a:r>
            <a:r>
              <a:rPr lang="en-US" altLang="zh-CN" sz="1800" baseline="-25000" dirty="0"/>
              <a:t>1</a:t>
            </a:r>
            <a:r>
              <a:rPr lang="en-US" altLang="zh-CN" sz="1800" dirty="0"/>
              <a:t>, k</a:t>
            </a:r>
            <a:r>
              <a:rPr lang="en-US" altLang="zh-CN" sz="1800" baseline="-25000" dirty="0"/>
              <a:t>1</a:t>
            </a:r>
            <a:r>
              <a:rPr lang="en-US" altLang="zh-CN" sz="1800" dirty="0"/>
              <a:t>) </a:t>
            </a:r>
          </a:p>
          <a:p>
            <a:pPr lvl="1"/>
            <a:r>
              <a:rPr lang="en-US" altLang="zh-CN" sz="1800" dirty="0"/>
              <a:t>need to use null values (e.g., to represent the relationship l</a:t>
            </a:r>
            <a:r>
              <a:rPr lang="en-US" altLang="zh-CN" sz="1800" baseline="-25000" dirty="0"/>
              <a:t>2</a:t>
            </a:r>
            <a:r>
              <a:rPr lang="en-US" altLang="zh-CN" sz="1800" dirty="0"/>
              <a:t>, k</a:t>
            </a:r>
            <a:r>
              <a:rPr lang="en-US" altLang="zh-CN" sz="1800" baseline="-25000" dirty="0"/>
              <a:t>2</a:t>
            </a:r>
            <a:r>
              <a:rPr lang="en-US" altLang="zh-CN" sz="1800" dirty="0"/>
              <a:t> where there is no corresponding value for J)</a:t>
            </a:r>
          </a:p>
          <a:p>
            <a:pPr marL="342900" lvl="1" indent="-342900">
              <a:buChar char="•"/>
            </a:pPr>
            <a:endParaRPr lang="en-US" altLang="zh-CN" dirty="0"/>
          </a:p>
        </p:txBody>
      </p:sp>
      <p:grpSp>
        <p:nvGrpSpPr>
          <p:cNvPr id="4" name="Group 16">
            <a:extLst>
              <a:ext uri="{FF2B5EF4-FFF2-40B4-BE49-F238E27FC236}">
                <a16:creationId xmlns:a16="http://schemas.microsoft.com/office/drawing/2014/main" id="{6ADD4134-06F0-46F4-B96E-E33B6119898B}"/>
              </a:ext>
            </a:extLst>
          </p:cNvPr>
          <p:cNvGrpSpPr>
            <a:grpSpLocks/>
          </p:cNvGrpSpPr>
          <p:nvPr/>
        </p:nvGrpSpPr>
        <p:grpSpPr bwMode="auto">
          <a:xfrm>
            <a:off x="4788024" y="1275606"/>
            <a:ext cx="1143000" cy="1485900"/>
            <a:chOff x="3112" y="1408"/>
            <a:chExt cx="960" cy="1248"/>
          </a:xfrm>
        </p:grpSpPr>
        <p:sp>
          <p:nvSpPr>
            <p:cNvPr id="5" name="Rectangle 4">
              <a:extLst>
                <a:ext uri="{FF2B5EF4-FFF2-40B4-BE49-F238E27FC236}">
                  <a16:creationId xmlns:a16="http://schemas.microsoft.com/office/drawing/2014/main" id="{2AEFF522-7AE0-4626-BB0E-C953728A9443}"/>
                </a:ext>
              </a:extLst>
            </p:cNvPr>
            <p:cNvSpPr>
              <a:spLocks noChangeArrowheads="1"/>
            </p:cNvSpPr>
            <p:nvPr/>
          </p:nvSpPr>
          <p:spPr bwMode="auto">
            <a:xfrm>
              <a:off x="3112" y="1408"/>
              <a:ext cx="384" cy="240"/>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a:t>
              </a:r>
            </a:p>
          </p:txBody>
        </p:sp>
        <p:sp>
          <p:nvSpPr>
            <p:cNvPr id="6" name="Rectangle 5">
              <a:extLst>
                <a:ext uri="{FF2B5EF4-FFF2-40B4-BE49-F238E27FC236}">
                  <a16:creationId xmlns:a16="http://schemas.microsoft.com/office/drawing/2014/main" id="{20B77141-30AF-4538-BF67-68DFC5F7AF17}"/>
                </a:ext>
              </a:extLst>
            </p:cNvPr>
            <p:cNvSpPr>
              <a:spLocks noChangeArrowheads="1"/>
            </p:cNvSpPr>
            <p:nvPr/>
          </p:nvSpPr>
          <p:spPr bwMode="auto">
            <a:xfrm>
              <a:off x="3112" y="1696"/>
              <a:ext cx="384" cy="960"/>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2</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j</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3</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null</a:t>
              </a:r>
              <a:endParaRPr kumimoji="0" lang="en-US" altLang="zh-CN" sz="120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7" name="Rectangle 6">
              <a:extLst>
                <a:ext uri="{FF2B5EF4-FFF2-40B4-BE49-F238E27FC236}">
                  <a16:creationId xmlns:a16="http://schemas.microsoft.com/office/drawing/2014/main" id="{B52E2BE7-E666-4444-A585-449AFC9494CA}"/>
                </a:ext>
              </a:extLst>
            </p:cNvPr>
            <p:cNvSpPr>
              <a:spLocks noChangeArrowheads="1"/>
            </p:cNvSpPr>
            <p:nvPr/>
          </p:nvSpPr>
          <p:spPr bwMode="auto">
            <a:xfrm>
              <a:off x="3496" y="1408"/>
              <a:ext cx="288" cy="240"/>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a:t>
              </a:r>
            </a:p>
          </p:txBody>
        </p:sp>
        <p:sp>
          <p:nvSpPr>
            <p:cNvPr id="8" name="Rectangle 7">
              <a:extLst>
                <a:ext uri="{FF2B5EF4-FFF2-40B4-BE49-F238E27FC236}">
                  <a16:creationId xmlns:a16="http://schemas.microsoft.com/office/drawing/2014/main" id="{E4DCBAC8-5C25-4425-AE95-5D44FDADACB7}"/>
                </a:ext>
              </a:extLst>
            </p:cNvPr>
            <p:cNvSpPr>
              <a:spLocks noChangeArrowheads="1"/>
            </p:cNvSpPr>
            <p:nvPr/>
          </p:nvSpPr>
          <p:spPr bwMode="auto">
            <a:xfrm>
              <a:off x="3496" y="1696"/>
              <a:ext cx="288" cy="960"/>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l</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2</a:t>
              </a:r>
            </a:p>
          </p:txBody>
        </p:sp>
        <p:sp>
          <p:nvSpPr>
            <p:cNvPr id="9" name="Rectangle 8">
              <a:extLst>
                <a:ext uri="{FF2B5EF4-FFF2-40B4-BE49-F238E27FC236}">
                  <a16:creationId xmlns:a16="http://schemas.microsoft.com/office/drawing/2014/main" id="{3911B3B9-CE37-473E-9FF8-6A8AB7C3F1FB}"/>
                </a:ext>
              </a:extLst>
            </p:cNvPr>
            <p:cNvSpPr>
              <a:spLocks noChangeArrowheads="1"/>
            </p:cNvSpPr>
            <p:nvPr/>
          </p:nvSpPr>
          <p:spPr bwMode="auto">
            <a:xfrm>
              <a:off x="3784" y="1408"/>
              <a:ext cx="288" cy="240"/>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a:t>
              </a:r>
            </a:p>
          </p:txBody>
        </p:sp>
        <p:sp>
          <p:nvSpPr>
            <p:cNvPr id="10" name="Rectangle 9">
              <a:extLst>
                <a:ext uri="{FF2B5EF4-FFF2-40B4-BE49-F238E27FC236}">
                  <a16:creationId xmlns:a16="http://schemas.microsoft.com/office/drawing/2014/main" id="{46861CC4-BB68-44A3-B300-B8B487B1ED43}"/>
                </a:ext>
              </a:extLst>
            </p:cNvPr>
            <p:cNvSpPr>
              <a:spLocks noChangeArrowheads="1"/>
            </p:cNvSpPr>
            <p:nvPr/>
          </p:nvSpPr>
          <p:spPr bwMode="auto">
            <a:xfrm>
              <a:off x="3784" y="1696"/>
              <a:ext cx="288" cy="960"/>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1</a:t>
              </a: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endPar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a:p>
              <a:pPr marL="0" marR="0" lvl="0" indent="0" algn="ctr" defTabSz="685800" eaLnBrk="0" fontAlgn="auto" latinLnBrk="0" hangingPunct="0">
                <a:lnSpc>
                  <a:spcPct val="8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k</a:t>
              </a:r>
              <a:r>
                <a:rPr kumimoji="0" lang="en-US" altLang="zh-CN" sz="1350" b="0" i="0" u="none" strike="noStrike" kern="0" cap="none" spc="0" normalizeH="0" baseline="-25000" noProof="0">
                  <a:ln>
                    <a:noFill/>
                  </a:ln>
                  <a:solidFill>
                    <a:srgbClr val="000000"/>
                  </a:solidFill>
                  <a:effectLst/>
                  <a:uLnTx/>
                  <a:uFillTx/>
                  <a:latin typeface="Comic Sans MS" panose="030F0702030302020204" pitchFamily="66" charset="0"/>
                  <a:ea typeface="宋体" panose="02010600030101010101" pitchFamily="2" charset="-122"/>
                </a:rPr>
                <a:t>2</a:t>
              </a:r>
            </a:p>
          </p:txBody>
        </p:sp>
      </p:grpSp>
    </p:spTree>
    <p:extLst>
      <p:ext uri="{BB962C8B-B14F-4D97-AF65-F5344CB8AC3E}">
        <p14:creationId xmlns:p14="http://schemas.microsoft.com/office/powerpoint/2010/main" val="3087828540"/>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Design Goals</a:t>
            </a:r>
            <a:endParaRPr lang="zh-CN" altLang="en-US" dirty="0"/>
          </a:p>
        </p:txBody>
      </p:sp>
      <p:sp>
        <p:nvSpPr>
          <p:cNvPr id="3" name="内容占位符 2"/>
          <p:cNvSpPr>
            <a:spLocks noGrp="1"/>
          </p:cNvSpPr>
          <p:nvPr>
            <p:ph idx="1"/>
          </p:nvPr>
        </p:nvSpPr>
        <p:spPr/>
        <p:txBody>
          <a:bodyPr/>
          <a:lstStyle/>
          <a:p>
            <a:r>
              <a:rPr lang="en-US" altLang="zh-CN" sz="2000" dirty="0"/>
              <a:t>Goal for a relational database design:</a:t>
            </a:r>
          </a:p>
          <a:p>
            <a:pPr lvl="1"/>
            <a:r>
              <a:rPr lang="en-US" altLang="zh-CN" sz="1800" dirty="0"/>
              <a:t>BCNF</a:t>
            </a:r>
          </a:p>
          <a:p>
            <a:pPr lvl="1"/>
            <a:r>
              <a:rPr lang="en-US" altLang="zh-CN" sz="1800" dirty="0"/>
              <a:t>lossless join</a:t>
            </a:r>
          </a:p>
          <a:p>
            <a:pPr lvl="1"/>
            <a:r>
              <a:rPr lang="en-US" altLang="zh-CN" sz="1800" dirty="0"/>
              <a:t>dependency preservation</a:t>
            </a:r>
          </a:p>
          <a:p>
            <a:r>
              <a:rPr lang="en-US" altLang="zh-CN" sz="2000" dirty="0"/>
              <a:t>If cannot achieve this, we accept one of</a:t>
            </a:r>
          </a:p>
          <a:p>
            <a:pPr lvl="1"/>
            <a:r>
              <a:rPr lang="en-US" altLang="zh-CN" sz="1800" dirty="0"/>
              <a:t>lack of dependency preservation or</a:t>
            </a:r>
          </a:p>
          <a:p>
            <a:pPr lvl="1"/>
            <a:r>
              <a:rPr lang="en-US" altLang="zh-CN" sz="1800" dirty="0"/>
              <a:t>redundancy due to use of 3NF</a:t>
            </a:r>
          </a:p>
          <a:p>
            <a:endParaRPr lang="zh-CN" altLang="en-US" sz="2000" dirty="0"/>
          </a:p>
        </p:txBody>
      </p:sp>
    </p:spTree>
    <p:extLst>
      <p:ext uri="{BB962C8B-B14F-4D97-AF65-F5344CB8AC3E}">
        <p14:creationId xmlns:p14="http://schemas.microsoft.com/office/powerpoint/2010/main" val="3609826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Design Goals (Cont.)</a:t>
            </a:r>
            <a:endParaRPr lang="zh-CN" altLang="en-US" dirty="0"/>
          </a:p>
        </p:txBody>
      </p:sp>
      <p:sp>
        <p:nvSpPr>
          <p:cNvPr id="3" name="内容占位符 2"/>
          <p:cNvSpPr>
            <a:spLocks noGrp="1"/>
          </p:cNvSpPr>
          <p:nvPr>
            <p:ph idx="1"/>
          </p:nvPr>
        </p:nvSpPr>
        <p:spPr>
          <a:xfrm>
            <a:off x="251520" y="789553"/>
            <a:ext cx="8280920" cy="3805070"/>
          </a:xfrm>
        </p:spPr>
        <p:txBody>
          <a:bodyPr/>
          <a:lstStyle/>
          <a:p>
            <a:r>
              <a:rPr lang="en-US" altLang="zh-CN" sz="2000" dirty="0"/>
              <a:t>SQL does not provide a direct way to specify FDs other than </a:t>
            </a:r>
            <a:r>
              <a:rPr lang="en-US" altLang="zh-CN" sz="2000" dirty="0" err="1"/>
              <a:t>superkeys</a:t>
            </a:r>
            <a:endParaRPr lang="en-US" altLang="zh-CN" sz="2000" dirty="0"/>
          </a:p>
          <a:p>
            <a:pPr lvl="1"/>
            <a:r>
              <a:rPr lang="en-US" altLang="zh-CN" sz="1800" dirty="0"/>
              <a:t>can specify FDs using assertions, but they are expensive to test</a:t>
            </a:r>
          </a:p>
          <a:p>
            <a:r>
              <a:rPr lang="en-US" altLang="zh-CN" sz="2000" dirty="0"/>
              <a:t>For a dependency preserving decomposition, we would </a:t>
            </a:r>
            <a:r>
              <a:rPr lang="en-US" altLang="zh-CN" sz="2000" dirty="0">
                <a:solidFill>
                  <a:srgbClr val="C00000"/>
                </a:solidFill>
              </a:rPr>
              <a:t>not</a:t>
            </a:r>
            <a:r>
              <a:rPr lang="en-US" altLang="zh-CN" sz="2000" dirty="0"/>
              <a:t> be able to use SQL to efficiently test a FD whose left hand side is not a key</a:t>
            </a:r>
          </a:p>
          <a:p>
            <a:pPr lvl="1"/>
            <a:r>
              <a:rPr lang="en-US" altLang="zh-CN" sz="1600" dirty="0"/>
              <a:t>R = (J, K, L), F = {JK </a:t>
            </a:r>
            <a:r>
              <a:rPr lang="en-US" altLang="zh-CN" sz="1600" b="1" dirty="0">
                <a:ea typeface="华文中宋" panose="02010600040101010101" pitchFamily="2" charset="-122"/>
                <a:sym typeface="Symbol" panose="05050102010706020507" pitchFamily="18" charset="2"/>
              </a:rPr>
              <a:t></a:t>
            </a:r>
            <a:r>
              <a:rPr lang="en-US" altLang="zh-CN" sz="1600" dirty="0"/>
              <a:t> L, </a:t>
            </a:r>
            <a:r>
              <a:rPr lang="en-US" altLang="zh-CN" sz="1600" dirty="0">
                <a:solidFill>
                  <a:srgbClr val="C00000"/>
                </a:solidFill>
              </a:rPr>
              <a:t>L </a:t>
            </a:r>
            <a:r>
              <a:rPr lang="en-US" altLang="zh-CN" sz="1600" b="1" dirty="0">
                <a:solidFill>
                  <a:srgbClr val="C00000"/>
                </a:solidFill>
                <a:ea typeface="华文中宋" panose="02010600040101010101" pitchFamily="2" charset="-122"/>
                <a:sym typeface="Symbol" panose="05050102010706020507" pitchFamily="18" charset="2"/>
              </a:rPr>
              <a:t></a:t>
            </a:r>
            <a:r>
              <a:rPr lang="en-US" altLang="zh-CN" sz="1600" dirty="0">
                <a:solidFill>
                  <a:srgbClr val="C00000"/>
                </a:solidFill>
              </a:rPr>
              <a:t> K</a:t>
            </a:r>
            <a:r>
              <a:rPr lang="en-US" altLang="zh-CN" sz="1600" dirty="0"/>
              <a:t>}</a:t>
            </a:r>
          </a:p>
          <a:p>
            <a:endParaRPr lang="en-US" altLang="zh-CN" sz="2000" dirty="0"/>
          </a:p>
          <a:p>
            <a:endParaRPr lang="zh-CN" altLang="en-US" sz="2000" dirty="0"/>
          </a:p>
        </p:txBody>
      </p:sp>
    </p:spTree>
    <p:extLst>
      <p:ext uri="{BB962C8B-B14F-4D97-AF65-F5344CB8AC3E}">
        <p14:creationId xmlns:p14="http://schemas.microsoft.com/office/powerpoint/2010/main" val="3210740708"/>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Testing for FDs Across Relations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spcBef>
                    <a:spcPts val="1200"/>
                  </a:spcBef>
                </a:pPr>
                <a:r>
                  <a:rPr lang="en-US" altLang="zh-CN" sz="2000" dirty="0"/>
                  <a:t>If decomposition is not dependency preserving, we can have an extra </a:t>
                </a:r>
                <a:r>
                  <a:rPr lang="en-US" altLang="zh-CN" sz="2000" dirty="0">
                    <a:solidFill>
                      <a:srgbClr val="C00000"/>
                    </a:solidFill>
                  </a:rPr>
                  <a:t>materialized view</a:t>
                </a:r>
                <a:r>
                  <a:rPr lang="en-US" altLang="zh-CN" sz="2000" dirty="0"/>
                  <a:t> for each dependency </a:t>
                </a:r>
                <a14:m>
                  <m:oMath xmlns:m="http://schemas.openxmlformats.org/officeDocument/2006/math">
                    <m:r>
                      <a:rPr lang="zh-CN" altLang="en-US" sz="2000" i="1" smtClean="0">
                        <a:latin typeface="Cambria Math" panose="02040503050406030204" pitchFamily="18" charset="0"/>
                      </a:rPr>
                      <m:t>𝛼</m:t>
                    </m:r>
                    <m:r>
                      <a:rPr lang="zh-CN" altLang="en-US" sz="2000" i="1" smtClean="0">
                        <a:latin typeface="Cambria Math" panose="02040503050406030204" pitchFamily="18" charset="0"/>
                      </a:rPr>
                      <m:t>→</m:t>
                    </m:r>
                    <m:r>
                      <a:rPr lang="zh-CN" altLang="en-US" sz="2000" i="1" smtClean="0">
                        <a:latin typeface="Cambria Math" panose="02040503050406030204" pitchFamily="18" charset="0"/>
                      </a:rPr>
                      <m:t>𝛽</m:t>
                    </m:r>
                  </m:oMath>
                </a14:m>
                <a:r>
                  <a:rPr lang="en-US" altLang="zh-CN" sz="2000" dirty="0"/>
                  <a:t> in F</a:t>
                </a:r>
                <a:r>
                  <a:rPr lang="en-US" altLang="zh-CN" sz="2000" baseline="-25000" dirty="0"/>
                  <a:t>c</a:t>
                </a:r>
                <a:r>
                  <a:rPr lang="en-US" altLang="zh-CN" sz="2000" dirty="0"/>
                  <a:t> that is not preserved in the decomposition</a:t>
                </a:r>
              </a:p>
              <a:p>
                <a:pPr>
                  <a:spcBef>
                    <a:spcPts val="1200"/>
                  </a:spcBef>
                </a:pPr>
                <a:r>
                  <a:rPr lang="en-US" altLang="zh-CN" sz="2000" dirty="0"/>
                  <a:t>The materialized view is defined as a projection on </a:t>
                </a:r>
                <a14:m>
                  <m:oMath xmlns:m="http://schemas.openxmlformats.org/officeDocument/2006/math">
                    <m:r>
                      <a:rPr lang="zh-CN" altLang="en-US" sz="2000" i="1" dirty="0" smtClean="0">
                        <a:latin typeface="Cambria Math" panose="02040503050406030204" pitchFamily="18" charset="0"/>
                      </a:rPr>
                      <m:t>𝛼𝛽</m:t>
                    </m:r>
                  </m:oMath>
                </a14:m>
                <a:r>
                  <a:rPr lang="en-US" altLang="zh-CN" sz="2000" dirty="0"/>
                  <a:t> of the join of the relations in the decomposition</a:t>
                </a:r>
              </a:p>
              <a:p>
                <a:pPr>
                  <a:spcBef>
                    <a:spcPts val="1200"/>
                  </a:spcBef>
                </a:pPr>
                <a:r>
                  <a:rPr lang="en-US" altLang="zh-CN" sz="2000" dirty="0"/>
                  <a:t>Many new database systems support materialized views and maintain the view when the relations are updated</a:t>
                </a:r>
              </a:p>
              <a:p>
                <a:pPr lvl="1">
                  <a:spcBef>
                    <a:spcPts val="1200"/>
                  </a:spcBef>
                </a:pPr>
                <a:r>
                  <a:rPr lang="en-US" altLang="zh-CN" sz="1800" dirty="0"/>
                  <a:t>No extra coding effort for programmers</a:t>
                </a:r>
              </a:p>
              <a:p>
                <a:pPr>
                  <a:spcBef>
                    <a:spcPts val="1200"/>
                  </a:spcBef>
                </a:pPr>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0" t="-801" r="-42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15232409"/>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Testing for FDs Across Relations (Cont.)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sz="2000" dirty="0"/>
                  <a:t>The functional dependency </a:t>
                </a:r>
                <a14:m>
                  <m:oMath xmlns:m="http://schemas.openxmlformats.org/officeDocument/2006/math">
                    <m:r>
                      <a:rPr lang="zh-CN" altLang="en-US" sz="2000" i="1">
                        <a:latin typeface="Cambria Math" panose="02040503050406030204" pitchFamily="18" charset="0"/>
                      </a:rPr>
                      <m:t>𝛼</m:t>
                    </m:r>
                    <m:r>
                      <a:rPr lang="zh-CN" altLang="en-US" sz="2000" i="1">
                        <a:latin typeface="Cambria Math" panose="02040503050406030204" pitchFamily="18" charset="0"/>
                      </a:rPr>
                      <m:t>→</m:t>
                    </m:r>
                    <m:r>
                      <a:rPr lang="zh-CN" altLang="en-US" sz="2000" i="1">
                        <a:latin typeface="Cambria Math" panose="02040503050406030204" pitchFamily="18" charset="0"/>
                      </a:rPr>
                      <m:t>𝛽</m:t>
                    </m:r>
                  </m:oMath>
                </a14:m>
                <a:r>
                  <a:rPr lang="en-US" altLang="zh-CN" sz="2000" dirty="0"/>
                  <a:t> is expressed by declaring </a:t>
                </a:r>
                <a14:m>
                  <m:oMath xmlns:m="http://schemas.openxmlformats.org/officeDocument/2006/math">
                    <m:r>
                      <a:rPr lang="zh-CN" altLang="en-US" sz="2000" i="1">
                        <a:latin typeface="Cambria Math" panose="02040503050406030204" pitchFamily="18" charset="0"/>
                      </a:rPr>
                      <m:t>𝛼</m:t>
                    </m:r>
                  </m:oMath>
                </a14:m>
                <a:r>
                  <a:rPr lang="en-US" altLang="zh-CN" sz="2000" dirty="0"/>
                  <a:t> as a candidate key on the materialized view</a:t>
                </a:r>
              </a:p>
              <a:p>
                <a:r>
                  <a:rPr lang="en-US" altLang="zh-CN" sz="2000" dirty="0"/>
                  <a:t>Checking for candidate key is cheaper than checking </a:t>
                </a:r>
                <a14:m>
                  <m:oMath xmlns:m="http://schemas.openxmlformats.org/officeDocument/2006/math">
                    <m:r>
                      <a:rPr lang="zh-CN" altLang="en-US" sz="2000" i="1">
                        <a:latin typeface="Cambria Math" panose="02040503050406030204" pitchFamily="18" charset="0"/>
                      </a:rPr>
                      <m:t>𝛼</m:t>
                    </m:r>
                    <m:r>
                      <a:rPr lang="zh-CN" altLang="en-US" sz="2000" i="1">
                        <a:latin typeface="Cambria Math" panose="02040503050406030204" pitchFamily="18" charset="0"/>
                      </a:rPr>
                      <m:t>→</m:t>
                    </m:r>
                    <m:r>
                      <a:rPr lang="zh-CN" altLang="en-US" sz="2000" i="1">
                        <a:latin typeface="Cambria Math" panose="02040503050406030204" pitchFamily="18" charset="0"/>
                      </a:rPr>
                      <m:t>𝛽</m:t>
                    </m:r>
                  </m:oMath>
                </a14:m>
                <a:r>
                  <a:rPr lang="en-US" altLang="zh-CN" sz="2000" dirty="0"/>
                  <a:t> </a:t>
                </a:r>
              </a:p>
              <a:p>
                <a:r>
                  <a:rPr lang="en-US" altLang="zh-CN" sz="2000" dirty="0"/>
                  <a:t>BUT:</a:t>
                </a:r>
              </a:p>
              <a:p>
                <a:pPr lvl="1"/>
                <a:r>
                  <a:rPr lang="en-US" altLang="zh-CN" sz="1800" b="1" dirty="0"/>
                  <a:t>Space overhead</a:t>
                </a:r>
                <a:r>
                  <a:rPr lang="en-US" altLang="zh-CN" sz="1800" dirty="0"/>
                  <a:t>: for storing the materialized view</a:t>
                </a:r>
              </a:p>
              <a:p>
                <a:pPr lvl="1"/>
                <a:r>
                  <a:rPr lang="en-US" altLang="zh-CN" sz="1800" b="1" dirty="0"/>
                  <a:t>Time overhead</a:t>
                </a:r>
                <a:r>
                  <a:rPr lang="en-US" altLang="zh-CN" sz="1800" dirty="0"/>
                  <a:t>: need to keep materialized view up to date when relations are updated</a:t>
                </a:r>
              </a:p>
              <a:p>
                <a:pPr lvl="1"/>
                <a:r>
                  <a:rPr lang="en-US" altLang="zh-CN" sz="1800" dirty="0"/>
                  <a:t>Database system may not support key declarations on materialized views</a:t>
                </a:r>
              </a:p>
              <a:p>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62899263"/>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710896"/>
            <a:ext cx="8568952" cy="3805070"/>
          </a:xfrm>
        </p:spPr>
        <p:txBody>
          <a:bodyPr/>
          <a:lstStyle/>
          <a:p>
            <a:pPr>
              <a:spcBef>
                <a:spcPts val="400"/>
              </a:spcBef>
            </a:pPr>
            <a:r>
              <a:rPr lang="en-US" altLang="zh-CN" sz="2000" dirty="0"/>
              <a:t>Features of Good Relational Designs</a:t>
            </a:r>
          </a:p>
          <a:p>
            <a:pPr>
              <a:spcBef>
                <a:spcPts val="400"/>
              </a:spcBef>
            </a:pPr>
            <a:r>
              <a:rPr lang="en-US" altLang="zh-CN" sz="2000" dirty="0"/>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dirty="0"/>
              <a:t>Normalization &amp; Normal Forms (</a:t>
            </a:r>
            <a:r>
              <a:rPr lang="zh-CN" altLang="en-US" sz="2000" dirty="0"/>
              <a:t>范式</a:t>
            </a:r>
            <a:r>
              <a:rPr lang="en-US" altLang="zh-CN" sz="2000" dirty="0"/>
              <a:t>)</a:t>
            </a:r>
          </a:p>
          <a:p>
            <a:pPr>
              <a:spcBef>
                <a:spcPts val="400"/>
              </a:spcBef>
            </a:pPr>
            <a:r>
              <a:rPr lang="en-US" altLang="zh-CN" sz="2000" b="1" dirty="0">
                <a:solidFill>
                  <a:srgbClr val="C00000"/>
                </a:solidFill>
              </a:rPr>
              <a:t>Multivalued Dependencies</a:t>
            </a:r>
            <a:r>
              <a:rPr lang="zh-CN" altLang="en-US" sz="2000" b="1" dirty="0">
                <a:solidFill>
                  <a:srgbClr val="C00000"/>
                </a:solidFill>
              </a:rPr>
              <a:t>*</a:t>
            </a:r>
            <a:endParaRPr lang="en-US" altLang="zh-CN" sz="2000" b="1" dirty="0">
              <a:solidFill>
                <a:srgbClr val="C00000"/>
              </a:solidFill>
            </a:endParaRPr>
          </a:p>
          <a:p>
            <a:pPr>
              <a:spcBef>
                <a:spcPts val="400"/>
              </a:spcBef>
            </a:pPr>
            <a:r>
              <a:rPr lang="en-US" altLang="zh-CN" sz="2000" dirty="0"/>
              <a:t>Database Design Process</a:t>
            </a:r>
          </a:p>
        </p:txBody>
      </p:sp>
    </p:spTree>
    <p:extLst>
      <p:ext uri="{BB962C8B-B14F-4D97-AF65-F5344CB8AC3E}">
        <p14:creationId xmlns:p14="http://schemas.microsoft.com/office/powerpoint/2010/main" val="2039784136"/>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Multivalued Dependencies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sz="2000" dirty="0"/>
                  <a:t>There are database schemas in BCNF that do not seem to be sufficiently normalized </a:t>
                </a:r>
              </a:p>
              <a:p>
                <a:r>
                  <a:rPr lang="en-US" altLang="zh-CN" sz="2000" dirty="0"/>
                  <a:t>Consider a database </a:t>
                </a:r>
              </a:p>
              <a:p>
                <a:pPr marL="457200" lvl="1" indent="0">
                  <a:buNone/>
                </a:pPr>
                <a:r>
                  <a:rPr lang="en-US" altLang="zh-CN" sz="1800" i="1" dirty="0">
                    <a:solidFill>
                      <a:srgbClr val="C00000"/>
                    </a:solidFill>
                  </a:rPr>
                  <a:t>classes(course, teacher, book)</a:t>
                </a:r>
                <a:br>
                  <a:rPr lang="en-US" altLang="zh-CN" sz="1800" dirty="0"/>
                </a:br>
                <a:r>
                  <a:rPr lang="en-US" altLang="zh-CN" sz="1800" dirty="0"/>
                  <a:t>such that </a:t>
                </a:r>
                <a:r>
                  <a:rPr lang="en-US" altLang="zh-CN" sz="1800" dirty="0">
                    <a:solidFill>
                      <a:srgbClr val="C00000"/>
                    </a:solidFill>
                  </a:rPr>
                  <a:t>(c, t, b)</a:t>
                </a:r>
                <a14:m>
                  <m:oMath xmlns:m="http://schemas.openxmlformats.org/officeDocument/2006/math">
                    <m:r>
                      <a:rPr lang="en-US" altLang="zh-CN" sz="1800" i="1" smtClean="0">
                        <a:solidFill>
                          <a:srgbClr val="C00000"/>
                        </a:solidFill>
                        <a:latin typeface="Cambria Math" panose="02040503050406030204" pitchFamily="18" charset="0"/>
                        <a:ea typeface="Cambria Math" panose="02040503050406030204" pitchFamily="18" charset="0"/>
                      </a:rPr>
                      <m:t>∈</m:t>
                    </m:r>
                  </m:oMath>
                </a14:m>
                <a:r>
                  <a:rPr lang="en-US" altLang="zh-CN" sz="1800" dirty="0">
                    <a:solidFill>
                      <a:srgbClr val="C00000"/>
                    </a:solidFill>
                  </a:rPr>
                  <a:t> classes</a:t>
                </a:r>
                <a:r>
                  <a:rPr lang="en-US" altLang="zh-CN" sz="1800" dirty="0"/>
                  <a:t> means that t is qualified to teach c, and b is a required textbook for c</a:t>
                </a:r>
              </a:p>
              <a:p>
                <a:r>
                  <a:rPr lang="en-US" altLang="zh-CN" sz="2000" dirty="0"/>
                  <a:t>The database is supposed to list for each course the set of teachers any one of which can be the course’s instructor, and the set of books, all of which are required for the course</a:t>
                </a:r>
              </a:p>
              <a:p>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65592180"/>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p:cNvSpPr txBox="1">
            <a:spLocks/>
          </p:cNvSpPr>
          <p:nvPr/>
        </p:nvSpPr>
        <p:spPr>
          <a:xfrm>
            <a:off x="395536" y="3003799"/>
            <a:ext cx="8568952" cy="201622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buFontTx/>
            </a:pPr>
            <a:r>
              <a:rPr lang="en-US" altLang="zh-CN" sz="2000" kern="0" dirty="0"/>
              <a:t>There are no non-trivial functional dependencies and therefore the relation is in BCNF </a:t>
            </a:r>
          </a:p>
          <a:p>
            <a:pPr>
              <a:buFontTx/>
            </a:pPr>
            <a:r>
              <a:rPr lang="en-US" altLang="zh-CN" sz="2000" kern="0" dirty="0"/>
              <a:t>Insertion anomalies – i.e., if Sara is a new teacher that can teach database, two tuples need to be inserted </a:t>
            </a:r>
          </a:p>
          <a:p>
            <a:pPr lvl="1">
              <a:buFontTx/>
            </a:pPr>
            <a:r>
              <a:rPr lang="en-US" altLang="zh-CN" sz="1600" kern="0" dirty="0"/>
              <a:t>(database, Sara, DB Concepts) </a:t>
            </a:r>
          </a:p>
          <a:p>
            <a:pPr lvl="1">
              <a:buFontTx/>
            </a:pPr>
            <a:r>
              <a:rPr lang="en-US" altLang="zh-CN" sz="1600" kern="0" dirty="0"/>
              <a:t>(database, Sara, Ullman)</a:t>
            </a:r>
          </a:p>
        </p:txBody>
      </p:sp>
      <p:grpSp>
        <p:nvGrpSpPr>
          <p:cNvPr id="3" name="Group 13">
            <a:extLst>
              <a:ext uri="{FF2B5EF4-FFF2-40B4-BE49-F238E27FC236}">
                <a16:creationId xmlns:a16="http://schemas.microsoft.com/office/drawing/2014/main" id="{37D7CA36-6B06-4D69-B299-3EE15ED94B8F}"/>
              </a:ext>
            </a:extLst>
          </p:cNvPr>
          <p:cNvGrpSpPr>
            <a:grpSpLocks/>
          </p:cNvGrpSpPr>
          <p:nvPr/>
        </p:nvGrpSpPr>
        <p:grpSpPr bwMode="auto">
          <a:xfrm>
            <a:off x="2195736" y="304651"/>
            <a:ext cx="4800600" cy="2699147"/>
            <a:chOff x="864" y="541"/>
            <a:chExt cx="4032" cy="2267"/>
          </a:xfrm>
        </p:grpSpPr>
        <p:sp>
          <p:nvSpPr>
            <p:cNvPr id="4" name="Rectangle 4">
              <a:extLst>
                <a:ext uri="{FF2B5EF4-FFF2-40B4-BE49-F238E27FC236}">
                  <a16:creationId xmlns:a16="http://schemas.microsoft.com/office/drawing/2014/main" id="{BC0B7AC9-6AE6-4C47-9793-8DA284AB5A8E}"/>
                </a:ext>
              </a:extLst>
            </p:cNvPr>
            <p:cNvSpPr>
              <a:spLocks noChangeArrowheads="1"/>
            </p:cNvSpPr>
            <p:nvPr/>
          </p:nvSpPr>
          <p:spPr bwMode="auto">
            <a:xfrm>
              <a:off x="864" y="541"/>
              <a:ext cx="1344" cy="192"/>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course</a:t>
              </a:r>
            </a:p>
          </p:txBody>
        </p:sp>
        <p:sp>
          <p:nvSpPr>
            <p:cNvPr id="5" name="Rectangle 5">
              <a:extLst>
                <a:ext uri="{FF2B5EF4-FFF2-40B4-BE49-F238E27FC236}">
                  <a16:creationId xmlns:a16="http://schemas.microsoft.com/office/drawing/2014/main" id="{AE9C6056-C195-49B8-8C0C-7BB74EAAC71F}"/>
                </a:ext>
              </a:extLst>
            </p:cNvPr>
            <p:cNvSpPr>
              <a:spLocks noChangeArrowheads="1"/>
            </p:cNvSpPr>
            <p:nvPr/>
          </p:nvSpPr>
          <p:spPr bwMode="auto">
            <a:xfrm>
              <a:off x="2208" y="541"/>
              <a:ext cx="1344" cy="192"/>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teacher</a:t>
              </a:r>
            </a:p>
          </p:txBody>
        </p:sp>
        <p:sp>
          <p:nvSpPr>
            <p:cNvPr id="6" name="Rectangle 6">
              <a:extLst>
                <a:ext uri="{FF2B5EF4-FFF2-40B4-BE49-F238E27FC236}">
                  <a16:creationId xmlns:a16="http://schemas.microsoft.com/office/drawing/2014/main" id="{AB773D22-B3DC-4A67-BFF8-A6EFC89F383A}"/>
                </a:ext>
              </a:extLst>
            </p:cNvPr>
            <p:cNvSpPr>
              <a:spLocks noChangeArrowheads="1"/>
            </p:cNvSpPr>
            <p:nvPr/>
          </p:nvSpPr>
          <p:spPr bwMode="auto">
            <a:xfrm>
              <a:off x="3552" y="541"/>
              <a:ext cx="1344" cy="192"/>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algn="ctr"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book</a:t>
              </a:r>
            </a:p>
          </p:txBody>
        </p:sp>
        <p:sp>
          <p:nvSpPr>
            <p:cNvPr id="7" name="Rectangle 7">
              <a:extLst>
                <a:ext uri="{FF2B5EF4-FFF2-40B4-BE49-F238E27FC236}">
                  <a16:creationId xmlns:a16="http://schemas.microsoft.com/office/drawing/2014/main" id="{DC9FF82C-E211-49A7-8C68-38639FCF134E}"/>
                </a:ext>
              </a:extLst>
            </p:cNvPr>
            <p:cNvSpPr>
              <a:spLocks noChangeArrowheads="1"/>
            </p:cNvSpPr>
            <p:nvPr/>
          </p:nvSpPr>
          <p:spPr bwMode="auto">
            <a:xfrm>
              <a:off x="864" y="781"/>
              <a:ext cx="1344" cy="1776"/>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database</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database</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database</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database</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database</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database</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operating systems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operating systems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operating systems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operating systems</a:t>
              </a:r>
            </a:p>
          </p:txBody>
        </p:sp>
        <p:sp>
          <p:nvSpPr>
            <p:cNvPr id="8" name="Rectangle 8">
              <a:extLst>
                <a:ext uri="{FF2B5EF4-FFF2-40B4-BE49-F238E27FC236}">
                  <a16:creationId xmlns:a16="http://schemas.microsoft.com/office/drawing/2014/main" id="{8F985227-8F9E-4F5B-8ACC-C9256FD1AA2C}"/>
                </a:ext>
              </a:extLst>
            </p:cNvPr>
            <p:cNvSpPr>
              <a:spLocks noChangeArrowheads="1"/>
            </p:cNvSpPr>
            <p:nvPr/>
          </p:nvSpPr>
          <p:spPr bwMode="auto">
            <a:xfrm>
              <a:off x="2208" y="781"/>
              <a:ext cx="1344" cy="1776"/>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Avi</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Avi</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Hank</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Hank</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Sudarshan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Sudarshan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Avi</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Avi </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Jim </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Jim </a:t>
              </a:r>
            </a:p>
          </p:txBody>
        </p:sp>
        <p:sp>
          <p:nvSpPr>
            <p:cNvPr id="9" name="Rectangle 9">
              <a:extLst>
                <a:ext uri="{FF2B5EF4-FFF2-40B4-BE49-F238E27FC236}">
                  <a16:creationId xmlns:a16="http://schemas.microsoft.com/office/drawing/2014/main" id="{E8ED2D76-1A83-40DC-BEAD-7561C060153F}"/>
                </a:ext>
              </a:extLst>
            </p:cNvPr>
            <p:cNvSpPr>
              <a:spLocks noChangeArrowheads="1"/>
            </p:cNvSpPr>
            <p:nvPr/>
          </p:nvSpPr>
          <p:spPr bwMode="auto">
            <a:xfrm>
              <a:off x="3552" y="781"/>
              <a:ext cx="1344" cy="1776"/>
            </a:xfrm>
            <a:prstGeom prst="rect">
              <a:avLst/>
            </a:prstGeom>
            <a:solidFill>
              <a:srgbClr val="CCECFF"/>
            </a:solidFill>
            <a:ln w="9525">
              <a:solidFill>
                <a:srgbClr val="000000"/>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DB Concepts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Ullman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DB Concepts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Ullman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DB Concepts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Ullman</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OS Concepts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Shaw</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OS Concepts</a:t>
              </a:r>
            </a:p>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Shaw</a:t>
              </a:r>
            </a:p>
          </p:txBody>
        </p:sp>
        <p:sp>
          <p:nvSpPr>
            <p:cNvPr id="10" name="Text Box 10">
              <a:extLst>
                <a:ext uri="{FF2B5EF4-FFF2-40B4-BE49-F238E27FC236}">
                  <a16:creationId xmlns:a16="http://schemas.microsoft.com/office/drawing/2014/main" id="{39CE4703-D9D3-4C0B-9422-734BB5EBE9C5}"/>
                </a:ext>
              </a:extLst>
            </p:cNvPr>
            <p:cNvSpPr txBox="1">
              <a:spLocks noChangeArrowheads="1"/>
            </p:cNvSpPr>
            <p:nvPr/>
          </p:nvSpPr>
          <p:spPr bwMode="auto">
            <a:xfrm>
              <a:off x="2630" y="2556"/>
              <a:ext cx="637"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marL="0" marR="0" lvl="0" indent="0" defTabSz="685800" eaLnBrk="0" fontAlgn="auto" latinLnBrk="0" hangingPunct="0">
                <a:lnSpc>
                  <a:spcPct val="100000"/>
                </a:lnSpc>
                <a:spcBef>
                  <a:spcPct val="0"/>
                </a:spcBef>
                <a:spcAft>
                  <a:spcPts val="0"/>
                </a:spcAft>
                <a:buClrTx/>
                <a:buSzTx/>
                <a:buFont typeface="Wingdings" panose="05000000000000000000" pitchFamily="2" charset="2"/>
                <a:buNone/>
                <a:tabLst/>
                <a:defRPr/>
              </a:pPr>
              <a:r>
                <a:rPr kumimoji="0" lang="en-US" altLang="zh-CN" sz="1350" b="0" i="1"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rPr>
                <a:t>classes</a:t>
              </a:r>
              <a:endParaRPr kumimoji="0" lang="en-US" altLang="zh-CN" sz="135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Tree>
    <p:extLst>
      <p:ext uri="{BB962C8B-B14F-4D97-AF65-F5344CB8AC3E}">
        <p14:creationId xmlns:p14="http://schemas.microsoft.com/office/powerpoint/2010/main" val="2677154663"/>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Multivalued Dependencies (Cont.)</a:t>
            </a:r>
            <a:endParaRPr lang="zh-CN" altLang="en-US" dirty="0"/>
          </a:p>
        </p:txBody>
      </p:sp>
      <p:sp>
        <p:nvSpPr>
          <p:cNvPr id="3" name="内容占位符 2"/>
          <p:cNvSpPr>
            <a:spLocks noGrp="1"/>
          </p:cNvSpPr>
          <p:nvPr>
            <p:ph idx="1"/>
          </p:nvPr>
        </p:nvSpPr>
        <p:spPr/>
        <p:txBody>
          <a:bodyPr/>
          <a:lstStyle/>
          <a:p>
            <a:r>
              <a:rPr lang="en-US" altLang="zh-CN" sz="2000" dirty="0"/>
              <a:t>Therefore, it is better to decompose classes into:</a:t>
            </a:r>
          </a:p>
          <a:p>
            <a:endParaRPr lang="zh-CN" altLang="en-US" sz="2000" dirty="0"/>
          </a:p>
        </p:txBody>
      </p:sp>
      <p:grpSp>
        <p:nvGrpSpPr>
          <p:cNvPr id="4" name="Group 17">
            <a:extLst>
              <a:ext uri="{FF2B5EF4-FFF2-40B4-BE49-F238E27FC236}">
                <a16:creationId xmlns:a16="http://schemas.microsoft.com/office/drawing/2014/main" id="{E6BA94BB-CB5D-4B2F-94C9-804C335DF570}"/>
              </a:ext>
            </a:extLst>
          </p:cNvPr>
          <p:cNvGrpSpPr>
            <a:grpSpLocks/>
          </p:cNvGrpSpPr>
          <p:nvPr/>
        </p:nvGrpSpPr>
        <p:grpSpPr bwMode="auto">
          <a:xfrm>
            <a:off x="2956322" y="1478756"/>
            <a:ext cx="3086100" cy="1679972"/>
            <a:chOff x="1067" y="994"/>
            <a:chExt cx="2592" cy="1411"/>
          </a:xfrm>
        </p:grpSpPr>
        <p:sp>
          <p:nvSpPr>
            <p:cNvPr id="5" name="Rectangle 4">
              <a:extLst>
                <a:ext uri="{FF2B5EF4-FFF2-40B4-BE49-F238E27FC236}">
                  <a16:creationId xmlns:a16="http://schemas.microsoft.com/office/drawing/2014/main" id="{F4F1524F-9074-4FB6-AD5D-6F284FFB18DD}"/>
                </a:ext>
              </a:extLst>
            </p:cNvPr>
            <p:cNvSpPr>
              <a:spLocks noChangeArrowheads="1"/>
            </p:cNvSpPr>
            <p:nvPr/>
          </p:nvSpPr>
          <p:spPr bwMode="auto">
            <a:xfrm>
              <a:off x="1067" y="994"/>
              <a:ext cx="1488" cy="19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0"/>
                </a:spcBef>
                <a:buClrTx/>
                <a:buSzTx/>
                <a:buNone/>
              </a:pPr>
              <a:r>
                <a:rPr kumimoji="0" lang="en-US" altLang="zh-CN" sz="1350" i="1">
                  <a:solidFill>
                    <a:srgbClr val="000000"/>
                  </a:solidFill>
                  <a:ea typeface="宋体" panose="02010600030101010101" pitchFamily="2" charset="-122"/>
                </a:rPr>
                <a:t>course</a:t>
              </a:r>
            </a:p>
          </p:txBody>
        </p:sp>
        <p:sp>
          <p:nvSpPr>
            <p:cNvPr id="6" name="Rectangle 5">
              <a:extLst>
                <a:ext uri="{FF2B5EF4-FFF2-40B4-BE49-F238E27FC236}">
                  <a16:creationId xmlns:a16="http://schemas.microsoft.com/office/drawing/2014/main" id="{A8D52C0B-D40F-45D3-9629-6D89556CD83D}"/>
                </a:ext>
              </a:extLst>
            </p:cNvPr>
            <p:cNvSpPr>
              <a:spLocks noChangeArrowheads="1"/>
            </p:cNvSpPr>
            <p:nvPr/>
          </p:nvSpPr>
          <p:spPr bwMode="auto">
            <a:xfrm>
              <a:off x="2555" y="994"/>
              <a:ext cx="1104" cy="19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0"/>
                </a:spcBef>
                <a:buClrTx/>
                <a:buSzTx/>
                <a:buNone/>
              </a:pPr>
              <a:r>
                <a:rPr kumimoji="0" lang="en-US" altLang="zh-CN" sz="1350" i="1">
                  <a:solidFill>
                    <a:srgbClr val="000000"/>
                  </a:solidFill>
                  <a:ea typeface="宋体" panose="02010600030101010101" pitchFamily="2" charset="-122"/>
                </a:rPr>
                <a:t>teacher</a:t>
              </a:r>
            </a:p>
          </p:txBody>
        </p:sp>
        <p:sp>
          <p:nvSpPr>
            <p:cNvPr id="7" name="Rectangle 6">
              <a:extLst>
                <a:ext uri="{FF2B5EF4-FFF2-40B4-BE49-F238E27FC236}">
                  <a16:creationId xmlns:a16="http://schemas.microsoft.com/office/drawing/2014/main" id="{FB1AD047-3257-47FE-ACE9-14B184EF1817}"/>
                </a:ext>
              </a:extLst>
            </p:cNvPr>
            <p:cNvSpPr>
              <a:spLocks noChangeArrowheads="1"/>
            </p:cNvSpPr>
            <p:nvPr/>
          </p:nvSpPr>
          <p:spPr bwMode="auto">
            <a:xfrm>
              <a:off x="1067" y="1234"/>
              <a:ext cx="1488" cy="91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350" dirty="0">
                  <a:solidFill>
                    <a:srgbClr val="000000"/>
                  </a:solidFill>
                  <a:ea typeface="宋体" panose="02010600030101010101" pitchFamily="2" charset="-122"/>
                </a:rPr>
                <a:t>database</a:t>
              </a:r>
            </a:p>
            <a:p>
              <a:pPr defTabSz="685800" eaLnBrk="0" hangingPunct="0">
                <a:spcBef>
                  <a:spcPct val="0"/>
                </a:spcBef>
                <a:buClrTx/>
                <a:buSzTx/>
                <a:buNone/>
              </a:pPr>
              <a:r>
                <a:rPr kumimoji="0" lang="en-US" altLang="zh-CN" sz="1350" dirty="0">
                  <a:solidFill>
                    <a:srgbClr val="000000"/>
                  </a:solidFill>
                  <a:ea typeface="宋体" panose="02010600030101010101" pitchFamily="2" charset="-122"/>
                </a:rPr>
                <a:t>database</a:t>
              </a:r>
            </a:p>
            <a:p>
              <a:pPr defTabSz="685800" eaLnBrk="0" hangingPunct="0">
                <a:spcBef>
                  <a:spcPct val="0"/>
                </a:spcBef>
                <a:buClrTx/>
                <a:buSzTx/>
                <a:buNone/>
              </a:pPr>
              <a:r>
                <a:rPr kumimoji="0" lang="en-US" altLang="zh-CN" sz="1350" dirty="0">
                  <a:solidFill>
                    <a:srgbClr val="000000"/>
                  </a:solidFill>
                  <a:ea typeface="宋体" panose="02010600030101010101" pitchFamily="2" charset="-122"/>
                </a:rPr>
                <a:t>database</a:t>
              </a:r>
            </a:p>
            <a:p>
              <a:pPr defTabSz="685800" eaLnBrk="0" hangingPunct="0">
                <a:spcBef>
                  <a:spcPct val="0"/>
                </a:spcBef>
                <a:buClrTx/>
                <a:buSzTx/>
                <a:buNone/>
              </a:pPr>
              <a:r>
                <a:rPr kumimoji="0" lang="en-US" altLang="zh-CN" sz="1350" dirty="0">
                  <a:solidFill>
                    <a:srgbClr val="000000"/>
                  </a:solidFill>
                  <a:ea typeface="宋体" panose="02010600030101010101" pitchFamily="2" charset="-122"/>
                </a:rPr>
                <a:t>operating systems</a:t>
              </a:r>
            </a:p>
            <a:p>
              <a:pPr defTabSz="685800" eaLnBrk="0" hangingPunct="0">
                <a:spcBef>
                  <a:spcPct val="0"/>
                </a:spcBef>
                <a:buClrTx/>
                <a:buSzTx/>
                <a:buNone/>
              </a:pPr>
              <a:r>
                <a:rPr kumimoji="0" lang="en-US" altLang="zh-CN" sz="1350" dirty="0">
                  <a:solidFill>
                    <a:srgbClr val="000000"/>
                  </a:solidFill>
                  <a:ea typeface="宋体" panose="02010600030101010101" pitchFamily="2" charset="-122"/>
                </a:rPr>
                <a:t>operating systems</a:t>
              </a:r>
            </a:p>
          </p:txBody>
        </p:sp>
        <p:sp>
          <p:nvSpPr>
            <p:cNvPr id="8" name="Rectangle 7">
              <a:extLst>
                <a:ext uri="{FF2B5EF4-FFF2-40B4-BE49-F238E27FC236}">
                  <a16:creationId xmlns:a16="http://schemas.microsoft.com/office/drawing/2014/main" id="{06076A1C-F499-4DE2-A6C3-C8DA47157B0D}"/>
                </a:ext>
              </a:extLst>
            </p:cNvPr>
            <p:cNvSpPr>
              <a:spLocks noChangeArrowheads="1"/>
            </p:cNvSpPr>
            <p:nvPr/>
          </p:nvSpPr>
          <p:spPr bwMode="auto">
            <a:xfrm>
              <a:off x="2555" y="1234"/>
              <a:ext cx="1104" cy="91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350">
                  <a:solidFill>
                    <a:srgbClr val="000000"/>
                  </a:solidFill>
                  <a:ea typeface="宋体" panose="02010600030101010101" pitchFamily="2" charset="-122"/>
                </a:rPr>
                <a:t>Avi</a:t>
              </a:r>
            </a:p>
            <a:p>
              <a:pPr defTabSz="685800" eaLnBrk="0" hangingPunct="0">
                <a:spcBef>
                  <a:spcPct val="0"/>
                </a:spcBef>
                <a:buClrTx/>
                <a:buSzTx/>
                <a:buNone/>
              </a:pPr>
              <a:r>
                <a:rPr kumimoji="0" lang="en-US" altLang="zh-CN" sz="1350">
                  <a:solidFill>
                    <a:srgbClr val="000000"/>
                  </a:solidFill>
                  <a:ea typeface="宋体" panose="02010600030101010101" pitchFamily="2" charset="-122"/>
                </a:rPr>
                <a:t>Hank</a:t>
              </a:r>
            </a:p>
            <a:p>
              <a:pPr defTabSz="685800" eaLnBrk="0" hangingPunct="0">
                <a:spcBef>
                  <a:spcPct val="0"/>
                </a:spcBef>
                <a:buClrTx/>
                <a:buSzTx/>
                <a:buNone/>
              </a:pPr>
              <a:r>
                <a:rPr kumimoji="0" lang="en-US" altLang="zh-CN" sz="1350">
                  <a:solidFill>
                    <a:srgbClr val="000000"/>
                  </a:solidFill>
                  <a:ea typeface="宋体" panose="02010600030101010101" pitchFamily="2" charset="-122"/>
                </a:rPr>
                <a:t>Sudarshan</a:t>
              </a:r>
            </a:p>
            <a:p>
              <a:pPr defTabSz="685800" eaLnBrk="0" hangingPunct="0">
                <a:spcBef>
                  <a:spcPct val="0"/>
                </a:spcBef>
                <a:buClrTx/>
                <a:buSzTx/>
                <a:buNone/>
              </a:pPr>
              <a:r>
                <a:rPr kumimoji="0" lang="en-US" altLang="zh-CN" sz="1350">
                  <a:solidFill>
                    <a:srgbClr val="000000"/>
                  </a:solidFill>
                  <a:ea typeface="宋体" panose="02010600030101010101" pitchFamily="2" charset="-122"/>
                </a:rPr>
                <a:t>Avi </a:t>
              </a:r>
            </a:p>
            <a:p>
              <a:pPr defTabSz="685800" eaLnBrk="0" hangingPunct="0">
                <a:spcBef>
                  <a:spcPct val="0"/>
                </a:spcBef>
                <a:buClrTx/>
                <a:buSzTx/>
                <a:buNone/>
              </a:pPr>
              <a:r>
                <a:rPr kumimoji="0" lang="en-US" altLang="zh-CN" sz="1350">
                  <a:solidFill>
                    <a:srgbClr val="000000"/>
                  </a:solidFill>
                  <a:ea typeface="宋体" panose="02010600030101010101" pitchFamily="2" charset="-122"/>
                </a:rPr>
                <a:t>Jim</a:t>
              </a:r>
            </a:p>
          </p:txBody>
        </p:sp>
        <p:sp>
          <p:nvSpPr>
            <p:cNvPr id="9" name="Text Box 8">
              <a:extLst>
                <a:ext uri="{FF2B5EF4-FFF2-40B4-BE49-F238E27FC236}">
                  <a16:creationId xmlns:a16="http://schemas.microsoft.com/office/drawing/2014/main" id="{015960BC-24BF-47BE-B593-D656039CBE15}"/>
                </a:ext>
              </a:extLst>
            </p:cNvPr>
            <p:cNvSpPr txBox="1">
              <a:spLocks noChangeArrowheads="1"/>
            </p:cNvSpPr>
            <p:nvPr/>
          </p:nvSpPr>
          <p:spPr bwMode="auto">
            <a:xfrm>
              <a:off x="2142" y="2153"/>
              <a:ext cx="6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350" i="1">
                  <a:solidFill>
                    <a:srgbClr val="000000"/>
                  </a:solidFill>
                  <a:ea typeface="宋体" panose="02010600030101010101" pitchFamily="2" charset="-122"/>
                </a:rPr>
                <a:t>teaches</a:t>
              </a:r>
            </a:p>
          </p:txBody>
        </p:sp>
      </p:grpSp>
      <p:grpSp>
        <p:nvGrpSpPr>
          <p:cNvPr id="10" name="Group 18">
            <a:extLst>
              <a:ext uri="{FF2B5EF4-FFF2-40B4-BE49-F238E27FC236}">
                <a16:creationId xmlns:a16="http://schemas.microsoft.com/office/drawing/2014/main" id="{5C6DC0CA-7A1F-44E7-95A3-67187DC35AC6}"/>
              </a:ext>
            </a:extLst>
          </p:cNvPr>
          <p:cNvGrpSpPr>
            <a:grpSpLocks/>
          </p:cNvGrpSpPr>
          <p:nvPr/>
        </p:nvGrpSpPr>
        <p:grpSpPr bwMode="auto">
          <a:xfrm>
            <a:off x="2946797" y="3145630"/>
            <a:ext cx="3086100" cy="1429940"/>
            <a:chOff x="1115" y="2434"/>
            <a:chExt cx="2592" cy="1201"/>
          </a:xfrm>
        </p:grpSpPr>
        <p:sp>
          <p:nvSpPr>
            <p:cNvPr id="11" name="Rectangle 9">
              <a:extLst>
                <a:ext uri="{FF2B5EF4-FFF2-40B4-BE49-F238E27FC236}">
                  <a16:creationId xmlns:a16="http://schemas.microsoft.com/office/drawing/2014/main" id="{59626FC9-3508-45D0-9CC3-071CD776047C}"/>
                </a:ext>
              </a:extLst>
            </p:cNvPr>
            <p:cNvSpPr>
              <a:spLocks noChangeArrowheads="1"/>
            </p:cNvSpPr>
            <p:nvPr/>
          </p:nvSpPr>
          <p:spPr bwMode="auto">
            <a:xfrm>
              <a:off x="1115" y="2434"/>
              <a:ext cx="1488" cy="19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0"/>
                </a:spcBef>
                <a:buClrTx/>
                <a:buSzTx/>
                <a:buNone/>
              </a:pPr>
              <a:r>
                <a:rPr kumimoji="0" lang="en-US" altLang="zh-CN" sz="1350" i="1">
                  <a:solidFill>
                    <a:srgbClr val="000000"/>
                  </a:solidFill>
                  <a:ea typeface="宋体" panose="02010600030101010101" pitchFamily="2" charset="-122"/>
                </a:rPr>
                <a:t>course</a:t>
              </a:r>
            </a:p>
          </p:txBody>
        </p:sp>
        <p:sp>
          <p:nvSpPr>
            <p:cNvPr id="12" name="Rectangle 10">
              <a:extLst>
                <a:ext uri="{FF2B5EF4-FFF2-40B4-BE49-F238E27FC236}">
                  <a16:creationId xmlns:a16="http://schemas.microsoft.com/office/drawing/2014/main" id="{5785EEB6-434A-4F05-B282-92DF917DA601}"/>
                </a:ext>
              </a:extLst>
            </p:cNvPr>
            <p:cNvSpPr>
              <a:spLocks noChangeArrowheads="1"/>
            </p:cNvSpPr>
            <p:nvPr/>
          </p:nvSpPr>
          <p:spPr bwMode="auto">
            <a:xfrm>
              <a:off x="2603" y="2434"/>
              <a:ext cx="1104" cy="192"/>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0"/>
                </a:spcBef>
                <a:buClrTx/>
                <a:buSzTx/>
                <a:buNone/>
              </a:pPr>
              <a:r>
                <a:rPr kumimoji="0" lang="en-US" altLang="zh-CN" sz="1350" i="1">
                  <a:solidFill>
                    <a:srgbClr val="000000"/>
                  </a:solidFill>
                  <a:ea typeface="宋体" panose="02010600030101010101" pitchFamily="2" charset="-122"/>
                </a:rPr>
                <a:t>book</a:t>
              </a:r>
            </a:p>
          </p:txBody>
        </p:sp>
        <p:sp>
          <p:nvSpPr>
            <p:cNvPr id="13" name="Rectangle 11">
              <a:extLst>
                <a:ext uri="{FF2B5EF4-FFF2-40B4-BE49-F238E27FC236}">
                  <a16:creationId xmlns:a16="http://schemas.microsoft.com/office/drawing/2014/main" id="{D6579DF3-D2CE-4903-8690-40F8A47D658F}"/>
                </a:ext>
              </a:extLst>
            </p:cNvPr>
            <p:cNvSpPr>
              <a:spLocks noChangeArrowheads="1"/>
            </p:cNvSpPr>
            <p:nvPr/>
          </p:nvSpPr>
          <p:spPr bwMode="auto">
            <a:xfrm>
              <a:off x="1115" y="2674"/>
              <a:ext cx="1488" cy="720"/>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350">
                  <a:solidFill>
                    <a:srgbClr val="000000"/>
                  </a:solidFill>
                  <a:ea typeface="宋体" panose="02010600030101010101" pitchFamily="2" charset="-122"/>
                </a:rPr>
                <a:t>database</a:t>
              </a:r>
            </a:p>
            <a:p>
              <a:pPr defTabSz="685800" eaLnBrk="0" hangingPunct="0">
                <a:spcBef>
                  <a:spcPct val="0"/>
                </a:spcBef>
                <a:buClrTx/>
                <a:buSzTx/>
                <a:buNone/>
              </a:pPr>
              <a:r>
                <a:rPr kumimoji="0" lang="en-US" altLang="zh-CN" sz="1350">
                  <a:solidFill>
                    <a:srgbClr val="000000"/>
                  </a:solidFill>
                  <a:ea typeface="宋体" panose="02010600030101010101" pitchFamily="2" charset="-122"/>
                </a:rPr>
                <a:t>database</a:t>
              </a:r>
            </a:p>
            <a:p>
              <a:pPr defTabSz="685800" eaLnBrk="0" hangingPunct="0">
                <a:spcBef>
                  <a:spcPct val="0"/>
                </a:spcBef>
                <a:buClrTx/>
                <a:buSzTx/>
                <a:buNone/>
              </a:pPr>
              <a:r>
                <a:rPr kumimoji="0" lang="en-US" altLang="zh-CN" sz="1350">
                  <a:solidFill>
                    <a:srgbClr val="000000"/>
                  </a:solidFill>
                  <a:ea typeface="宋体" panose="02010600030101010101" pitchFamily="2" charset="-122"/>
                </a:rPr>
                <a:t>operating systems</a:t>
              </a:r>
            </a:p>
            <a:p>
              <a:pPr defTabSz="685800" eaLnBrk="0" hangingPunct="0">
                <a:spcBef>
                  <a:spcPct val="0"/>
                </a:spcBef>
                <a:buClrTx/>
                <a:buSzTx/>
                <a:buNone/>
              </a:pPr>
              <a:r>
                <a:rPr kumimoji="0" lang="en-US" altLang="zh-CN" sz="1350">
                  <a:solidFill>
                    <a:srgbClr val="000000"/>
                  </a:solidFill>
                  <a:ea typeface="宋体" panose="02010600030101010101" pitchFamily="2" charset="-122"/>
                </a:rPr>
                <a:t>operating systems</a:t>
              </a:r>
            </a:p>
          </p:txBody>
        </p:sp>
        <p:sp>
          <p:nvSpPr>
            <p:cNvPr id="14" name="Rectangle 12">
              <a:extLst>
                <a:ext uri="{FF2B5EF4-FFF2-40B4-BE49-F238E27FC236}">
                  <a16:creationId xmlns:a16="http://schemas.microsoft.com/office/drawing/2014/main" id="{085B1DF3-2BF0-4CE9-A6F0-A39E0A94FD61}"/>
                </a:ext>
              </a:extLst>
            </p:cNvPr>
            <p:cNvSpPr>
              <a:spLocks noChangeArrowheads="1"/>
            </p:cNvSpPr>
            <p:nvPr/>
          </p:nvSpPr>
          <p:spPr bwMode="auto">
            <a:xfrm>
              <a:off x="2603" y="2674"/>
              <a:ext cx="1104" cy="720"/>
            </a:xfrm>
            <a:prstGeom prst="rect">
              <a:avLst/>
            </a:prstGeom>
            <a:solidFill>
              <a:schemeClr val="bg1"/>
            </a:solidFill>
            <a:ln w="9525">
              <a:solidFill>
                <a:schemeClr val="tx1"/>
              </a:solidFill>
              <a:miter lim="800000"/>
              <a:headEnd/>
              <a:tailEnd/>
            </a:ln>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ct val="0"/>
                </a:spcBef>
                <a:buClrTx/>
                <a:buSzTx/>
                <a:buNone/>
              </a:pPr>
              <a:r>
                <a:rPr kumimoji="0" lang="en-US" altLang="zh-CN" sz="1350">
                  <a:solidFill>
                    <a:srgbClr val="000000"/>
                  </a:solidFill>
                  <a:ea typeface="宋体" panose="02010600030101010101" pitchFamily="2" charset="-122"/>
                </a:rPr>
                <a:t>DB Concepts</a:t>
              </a:r>
            </a:p>
            <a:p>
              <a:pPr defTabSz="685800" eaLnBrk="0" hangingPunct="0">
                <a:spcBef>
                  <a:spcPct val="0"/>
                </a:spcBef>
                <a:buClrTx/>
                <a:buSzTx/>
                <a:buNone/>
              </a:pPr>
              <a:r>
                <a:rPr kumimoji="0" lang="en-US" altLang="zh-CN" sz="1350">
                  <a:solidFill>
                    <a:srgbClr val="000000"/>
                  </a:solidFill>
                  <a:ea typeface="宋体" panose="02010600030101010101" pitchFamily="2" charset="-122"/>
                </a:rPr>
                <a:t>Ullman</a:t>
              </a:r>
            </a:p>
            <a:p>
              <a:pPr defTabSz="685800" eaLnBrk="0" hangingPunct="0">
                <a:spcBef>
                  <a:spcPct val="0"/>
                </a:spcBef>
                <a:buClrTx/>
                <a:buSzTx/>
                <a:buNone/>
              </a:pPr>
              <a:r>
                <a:rPr kumimoji="0" lang="en-US" altLang="zh-CN" sz="1350">
                  <a:solidFill>
                    <a:srgbClr val="000000"/>
                  </a:solidFill>
                  <a:ea typeface="宋体" panose="02010600030101010101" pitchFamily="2" charset="-122"/>
                </a:rPr>
                <a:t>OS Concepts</a:t>
              </a:r>
            </a:p>
            <a:p>
              <a:pPr defTabSz="685800" eaLnBrk="0" hangingPunct="0">
                <a:spcBef>
                  <a:spcPct val="0"/>
                </a:spcBef>
                <a:buClrTx/>
                <a:buSzTx/>
                <a:buNone/>
              </a:pPr>
              <a:r>
                <a:rPr kumimoji="0" lang="en-US" altLang="zh-CN" sz="1350">
                  <a:solidFill>
                    <a:srgbClr val="000000"/>
                  </a:solidFill>
                  <a:ea typeface="宋体" panose="02010600030101010101" pitchFamily="2" charset="-122"/>
                </a:rPr>
                <a:t>Shaw</a:t>
              </a:r>
            </a:p>
          </p:txBody>
        </p:sp>
        <p:sp>
          <p:nvSpPr>
            <p:cNvPr id="15" name="Text Box 13">
              <a:extLst>
                <a:ext uri="{FF2B5EF4-FFF2-40B4-BE49-F238E27FC236}">
                  <a16:creationId xmlns:a16="http://schemas.microsoft.com/office/drawing/2014/main" id="{32EAA9DF-A42B-42EE-A491-786C529C7684}"/>
                </a:ext>
              </a:extLst>
            </p:cNvPr>
            <p:cNvSpPr txBox="1">
              <a:spLocks noChangeArrowheads="1"/>
            </p:cNvSpPr>
            <p:nvPr/>
          </p:nvSpPr>
          <p:spPr bwMode="auto">
            <a:xfrm>
              <a:off x="2300" y="3383"/>
              <a:ext cx="4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350" i="1">
                  <a:solidFill>
                    <a:srgbClr val="000000"/>
                  </a:solidFill>
                  <a:ea typeface="宋体" panose="02010600030101010101" pitchFamily="2" charset="-122"/>
                </a:rPr>
                <a:t>text</a:t>
              </a:r>
            </a:p>
          </p:txBody>
        </p:sp>
      </p:grpSp>
      <p:sp>
        <p:nvSpPr>
          <p:cNvPr id="16" name="Rectangle 14">
            <a:extLst>
              <a:ext uri="{FF2B5EF4-FFF2-40B4-BE49-F238E27FC236}">
                <a16:creationId xmlns:a16="http://schemas.microsoft.com/office/drawing/2014/main" id="{01D9101C-FBD1-4995-A271-098120809E55}"/>
              </a:ext>
            </a:extLst>
          </p:cNvPr>
          <p:cNvSpPr>
            <a:spLocks noChangeArrowheads="1"/>
          </p:cNvSpPr>
          <p:nvPr/>
        </p:nvSpPr>
        <p:spPr bwMode="auto">
          <a:xfrm>
            <a:off x="1239155" y="4591648"/>
            <a:ext cx="6593681" cy="311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algn="ctr" defTabSz="685800" eaLnBrk="0" hangingPunct="0">
              <a:spcBef>
                <a:spcPct val="0"/>
              </a:spcBef>
              <a:buClrTx/>
              <a:buSzTx/>
              <a:buNone/>
            </a:pPr>
            <a:r>
              <a:rPr kumimoji="0" lang="en-US" altLang="zh-CN" sz="1500" b="1">
                <a:solidFill>
                  <a:srgbClr val="FF0000"/>
                </a:solidFill>
                <a:latin typeface="Arial" panose="020B0604020202020204" pitchFamily="34" charset="0"/>
                <a:ea typeface="宋体" panose="02010600030101010101" pitchFamily="2" charset="-122"/>
                <a:cs typeface="Arial" panose="020B0604020202020204" pitchFamily="34" charset="0"/>
              </a:rPr>
              <a:t>We shall see that these two relations are in 4NF</a:t>
            </a:r>
          </a:p>
        </p:txBody>
      </p:sp>
    </p:spTree>
    <p:extLst>
      <p:ext uri="{BB962C8B-B14F-4D97-AF65-F5344CB8AC3E}">
        <p14:creationId xmlns:p14="http://schemas.microsoft.com/office/powerpoint/2010/main" val="1875413017"/>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Multivalued Dependencies (MVDs)</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sz="2000" dirty="0"/>
                  <a:t>Let R be a relation schema and let </a:t>
                </a:r>
                <a14:m>
                  <m:oMath xmlns:m="http://schemas.openxmlformats.org/officeDocument/2006/math">
                    <m:r>
                      <a:rPr lang="zh-CN" altLang="en-US" sz="2000" i="1" smtClean="0">
                        <a:latin typeface="Cambria Math" panose="02040503050406030204" pitchFamily="18" charset="0"/>
                      </a:rPr>
                      <m:t>𝛼</m:t>
                    </m:r>
                    <m:r>
                      <a:rPr lang="zh-CN" altLang="en-US" sz="2000" i="1" smtClean="0">
                        <a:latin typeface="Cambria Math" panose="02040503050406030204" pitchFamily="18" charset="0"/>
                      </a:rPr>
                      <m:t>⊆</m:t>
                    </m:r>
                    <m:r>
                      <a:rPr lang="en-US" altLang="zh-CN" sz="2000" b="0" i="1" smtClean="0">
                        <a:latin typeface="Cambria Math" panose="02040503050406030204" pitchFamily="18" charset="0"/>
                      </a:rPr>
                      <m:t>𝑅</m:t>
                    </m:r>
                  </m:oMath>
                </a14:m>
                <a:r>
                  <a:rPr lang="en-US" altLang="zh-CN" sz="2000" dirty="0"/>
                  <a:t> and </a:t>
                </a:r>
                <a14:m>
                  <m:oMath xmlns:m="http://schemas.openxmlformats.org/officeDocument/2006/math">
                    <m:r>
                      <a:rPr lang="zh-CN" altLang="en-US" sz="2000" i="1" smtClean="0">
                        <a:latin typeface="Cambria Math" panose="02040503050406030204" pitchFamily="18" charset="0"/>
                      </a:rPr>
                      <m:t>𝛽</m:t>
                    </m:r>
                    <m:r>
                      <a:rPr lang="zh-CN" altLang="en-US" sz="2000" i="1">
                        <a:latin typeface="Cambria Math" panose="02040503050406030204" pitchFamily="18" charset="0"/>
                      </a:rPr>
                      <m:t>⊆</m:t>
                    </m:r>
                    <m:r>
                      <a:rPr lang="en-US" altLang="zh-CN" sz="2000" i="1">
                        <a:latin typeface="Cambria Math" panose="02040503050406030204" pitchFamily="18" charset="0"/>
                      </a:rPr>
                      <m:t>𝑅</m:t>
                    </m:r>
                  </m:oMath>
                </a14:m>
                <a:r>
                  <a:rPr lang="en-US" altLang="zh-CN" sz="2000" dirty="0"/>
                  <a:t> . The </a:t>
                </a:r>
                <a:r>
                  <a:rPr lang="en-US" altLang="zh-CN" sz="2000" dirty="0">
                    <a:solidFill>
                      <a:srgbClr val="C00000"/>
                    </a:solidFill>
                  </a:rPr>
                  <a:t>multivalued dependency </a:t>
                </a:r>
              </a:p>
              <a:p>
                <a:pPr marL="0" indent="0">
                  <a:buNone/>
                </a:pPr>
                <a14:m>
                  <m:oMathPara xmlns:m="http://schemas.openxmlformats.org/officeDocument/2006/math">
                    <m:oMathParaPr>
                      <m:jc m:val="centerGroup"/>
                    </m:oMathParaPr>
                    <m:oMath xmlns:m="http://schemas.openxmlformats.org/officeDocument/2006/math">
                      <m:r>
                        <a:rPr lang="zh-CN" altLang="en-US" sz="2000" i="1" smtClean="0">
                          <a:solidFill>
                            <a:srgbClr val="C00000"/>
                          </a:solidFill>
                          <a:latin typeface="Cambria Math" panose="02040503050406030204" pitchFamily="18" charset="0"/>
                        </a:rPr>
                        <m:t>𝛼</m:t>
                      </m:r>
                      <m:r>
                        <a:rPr lang="zh-CN" altLang="en-US" sz="2000" i="1" smtClean="0">
                          <a:solidFill>
                            <a:srgbClr val="C00000"/>
                          </a:solidFill>
                          <a:latin typeface="Cambria Math" panose="02040503050406030204" pitchFamily="18" charset="0"/>
                        </a:rPr>
                        <m:t>↠</m:t>
                      </m:r>
                      <m:r>
                        <a:rPr lang="zh-CN" altLang="en-US" sz="2000" i="1" smtClean="0">
                          <a:solidFill>
                            <a:srgbClr val="C00000"/>
                          </a:solidFill>
                          <a:latin typeface="Cambria Math" panose="02040503050406030204" pitchFamily="18" charset="0"/>
                        </a:rPr>
                        <m:t>𝛽</m:t>
                      </m:r>
                    </m:oMath>
                  </m:oMathPara>
                </a14:m>
                <a:endParaRPr lang="en-US" altLang="zh-CN" sz="2000" dirty="0">
                  <a:solidFill>
                    <a:srgbClr val="C00000"/>
                  </a:solidFill>
                </a:endParaRPr>
              </a:p>
              <a:p>
                <a:pPr marL="457200" lvl="1" indent="0">
                  <a:buNone/>
                </a:pPr>
                <a:r>
                  <a:rPr lang="en-US" altLang="zh-CN" sz="1800" dirty="0"/>
                  <a:t>holds on R if in any legal relation r(R), for all pairs for tuples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1</m:t>
                        </m:r>
                      </m:sub>
                    </m:sSub>
                  </m:oMath>
                </a14:m>
                <a:r>
                  <a:rPr lang="en-US" altLang="zh-CN" sz="1800" dirty="0"/>
                  <a:t> and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2</m:t>
                        </m:r>
                      </m:sub>
                    </m:sSub>
                  </m:oMath>
                </a14:m>
                <a:r>
                  <a:rPr lang="en-US" altLang="zh-CN" sz="1800" dirty="0"/>
                  <a:t> in r such that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1</m:t>
                        </m:r>
                      </m:sub>
                    </m:sSub>
                    <m:d>
                      <m:dPr>
                        <m:begChr m:val="["/>
                        <m:endChr m:val="]"/>
                        <m:ctrlPr>
                          <a:rPr lang="en-US" altLang="zh-CN" sz="1800" b="0" i="1" smtClean="0">
                            <a:latin typeface="Cambria Math" panose="02040503050406030204" pitchFamily="18" charset="0"/>
                          </a:rPr>
                        </m:ctrlPr>
                      </m:dPr>
                      <m:e>
                        <m:r>
                          <a:rPr lang="zh-CN" altLang="en-US" sz="1800" b="0" i="1" smtClean="0">
                            <a:latin typeface="Cambria Math" panose="02040503050406030204" pitchFamily="18" charset="0"/>
                          </a:rPr>
                          <m:t>𝛼</m:t>
                        </m:r>
                      </m:e>
                    </m:d>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2</m:t>
                        </m:r>
                      </m:sub>
                    </m:sSub>
                    <m:r>
                      <a:rPr lang="en-US" altLang="zh-CN" sz="1800" b="0" i="1" smtClean="0">
                        <a:latin typeface="Cambria Math" panose="02040503050406030204" pitchFamily="18" charset="0"/>
                      </a:rPr>
                      <m:t>[</m:t>
                    </m:r>
                    <m:r>
                      <a:rPr lang="zh-CN" altLang="en-US" sz="1800" b="0" i="1" smtClean="0">
                        <a:latin typeface="Cambria Math" panose="02040503050406030204" pitchFamily="18" charset="0"/>
                      </a:rPr>
                      <m:t>𝛼</m:t>
                    </m:r>
                    <m:r>
                      <a:rPr lang="en-US" altLang="zh-CN" sz="1800" b="0" i="1" smtClean="0">
                        <a:latin typeface="Cambria Math" panose="02040503050406030204" pitchFamily="18" charset="0"/>
                      </a:rPr>
                      <m:t>]</m:t>
                    </m:r>
                  </m:oMath>
                </a14:m>
                <a:r>
                  <a:rPr lang="en-US" altLang="zh-CN" sz="1800" dirty="0"/>
                  <a:t>, there exist tuples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3</m:t>
                        </m:r>
                      </m:sub>
                    </m:sSub>
                  </m:oMath>
                </a14:m>
                <a:r>
                  <a:rPr lang="en-US" altLang="zh-CN" sz="1800" dirty="0"/>
                  <a:t> and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4</m:t>
                        </m:r>
                      </m:sub>
                    </m:sSub>
                  </m:oMath>
                </a14:m>
                <a:r>
                  <a:rPr lang="en-US" altLang="zh-CN" sz="1800" dirty="0"/>
                  <a:t> in r such that: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1</m:t>
                        </m:r>
                      </m:sub>
                    </m:sSub>
                    <m:d>
                      <m:dPr>
                        <m:begChr m:val="["/>
                        <m:endChr m:val="]"/>
                        <m:ctrlPr>
                          <a:rPr lang="en-US" altLang="zh-CN" sz="1800" i="1">
                            <a:latin typeface="Cambria Math" panose="02040503050406030204" pitchFamily="18" charset="0"/>
                          </a:rPr>
                        </m:ctrlPr>
                      </m:dPr>
                      <m:e>
                        <m:r>
                          <a:rPr lang="zh-CN" altLang="en-US" sz="1800" i="1">
                            <a:latin typeface="Cambria Math" panose="02040503050406030204" pitchFamily="18" charset="0"/>
                          </a:rPr>
                          <m:t>𝛼</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2</m:t>
                        </m:r>
                      </m:sub>
                    </m:sSub>
                    <m:d>
                      <m:dPr>
                        <m:begChr m:val="["/>
                        <m:endChr m:val="]"/>
                        <m:ctrlPr>
                          <a:rPr lang="en-US" altLang="zh-CN" sz="1800" i="1">
                            <a:latin typeface="Cambria Math" panose="02040503050406030204" pitchFamily="18" charset="0"/>
                          </a:rPr>
                        </m:ctrlPr>
                      </m:dPr>
                      <m:e>
                        <m:r>
                          <a:rPr lang="zh-CN" altLang="en-US" sz="1800" i="1">
                            <a:latin typeface="Cambria Math" panose="02040503050406030204" pitchFamily="18" charset="0"/>
                          </a:rPr>
                          <m:t>𝛼</m:t>
                        </m:r>
                      </m:e>
                    </m:d>
                    <m:r>
                      <a:rPr lang="en-US" altLang="zh-CN" sz="1800" b="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3</m:t>
                        </m:r>
                      </m:sub>
                    </m:sSub>
                    <m:d>
                      <m:dPr>
                        <m:begChr m:val="["/>
                        <m:endChr m:val="]"/>
                        <m:ctrlPr>
                          <a:rPr lang="en-US" altLang="zh-CN" sz="1800" i="1">
                            <a:latin typeface="Cambria Math" panose="02040503050406030204" pitchFamily="18" charset="0"/>
                          </a:rPr>
                        </m:ctrlPr>
                      </m:dPr>
                      <m:e>
                        <m:r>
                          <a:rPr lang="zh-CN" altLang="en-US" sz="1800" i="1">
                            <a:latin typeface="Cambria Math" panose="02040503050406030204" pitchFamily="18" charset="0"/>
                          </a:rPr>
                          <m:t>𝛼</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4</m:t>
                        </m:r>
                      </m:sub>
                    </m:sSub>
                    <m:d>
                      <m:dPr>
                        <m:begChr m:val="["/>
                        <m:endChr m:val="]"/>
                        <m:ctrlPr>
                          <a:rPr lang="en-US" altLang="zh-CN" sz="1800" i="1">
                            <a:latin typeface="Cambria Math" panose="02040503050406030204" pitchFamily="18" charset="0"/>
                          </a:rPr>
                        </m:ctrlPr>
                      </m:dPr>
                      <m:e>
                        <m:r>
                          <a:rPr lang="zh-CN" altLang="en-US" sz="1800" i="1">
                            <a:latin typeface="Cambria Math" panose="02040503050406030204" pitchFamily="18" charset="0"/>
                          </a:rPr>
                          <m:t>𝛼</m:t>
                        </m:r>
                      </m:e>
                    </m:d>
                  </m:oMath>
                </a14:m>
                <a:endParaRPr lang="en-US" altLang="zh-CN" sz="1800" i="1" dirty="0"/>
              </a:p>
              <a:p>
                <a:pPr marL="457200" lvl="1" indent="0">
                  <a:buNone/>
                </a:pPr>
                <a14:m>
                  <m:oMathPara xmlns:m="http://schemas.openxmlformats.org/officeDocument/2006/math">
                    <m:oMathParaPr>
                      <m:jc m:val="left"/>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3</m:t>
                          </m:r>
                        </m:sub>
                      </m:sSub>
                      <m:d>
                        <m:dPr>
                          <m:begChr m:val="["/>
                          <m:endChr m:val="]"/>
                          <m:ctrlPr>
                            <a:rPr lang="en-US" altLang="zh-CN" sz="1800" i="1">
                              <a:latin typeface="Cambria Math" panose="02040503050406030204" pitchFamily="18" charset="0"/>
                            </a:rPr>
                          </m:ctrlPr>
                        </m:dPr>
                        <m:e>
                          <m:r>
                            <a:rPr lang="zh-CN" altLang="en-US" sz="1800" i="1" smtClean="0">
                              <a:latin typeface="Cambria Math" panose="02040503050406030204" pitchFamily="18" charset="0"/>
                            </a:rPr>
                            <m:t>𝛽</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1</m:t>
                          </m:r>
                        </m:sub>
                      </m:sSub>
                      <m:d>
                        <m:dPr>
                          <m:begChr m:val="["/>
                          <m:endChr m:val="]"/>
                          <m:ctrlPr>
                            <a:rPr lang="en-US" altLang="zh-CN" sz="1800" i="1" smtClean="0">
                              <a:latin typeface="Cambria Math" panose="02040503050406030204" pitchFamily="18" charset="0"/>
                            </a:rPr>
                          </m:ctrlPr>
                        </m:dPr>
                        <m:e>
                          <m:r>
                            <a:rPr lang="zh-CN" altLang="en-US" sz="1800" i="1" smtClean="0">
                              <a:latin typeface="Cambria Math" panose="02040503050406030204" pitchFamily="18" charset="0"/>
                            </a:rPr>
                            <m:t>𝛽</m:t>
                          </m:r>
                        </m:e>
                      </m:d>
                    </m:oMath>
                  </m:oMathPara>
                </a14:m>
                <a:endParaRPr lang="en-US" altLang="zh-CN" sz="1800" dirty="0"/>
              </a:p>
              <a:p>
                <a:pPr marL="457200" lvl="1" indent="0">
                  <a:buNone/>
                </a:pPr>
                <a14:m>
                  <m:oMathPara xmlns:m="http://schemas.openxmlformats.org/officeDocument/2006/math">
                    <m:oMathParaPr>
                      <m:jc m:val="left"/>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3</m:t>
                          </m:r>
                        </m:sub>
                      </m:sSub>
                      <m:d>
                        <m:dPr>
                          <m:begChr m:val="["/>
                          <m:endChr m:val="]"/>
                          <m:ctrlPr>
                            <a:rPr lang="en-US" altLang="zh-CN" sz="1800" i="1">
                              <a:latin typeface="Cambria Math" panose="02040503050406030204" pitchFamily="18" charset="0"/>
                            </a:rPr>
                          </m:ctrlPr>
                        </m:dPr>
                        <m:e>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r>
                            <a:rPr lang="zh-CN" altLang="en-US" sz="1800" i="1">
                              <a:latin typeface="Cambria Math" panose="02040503050406030204" pitchFamily="18" charset="0"/>
                            </a:rPr>
                            <m:t>𝛽</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r>
                        <a:rPr lang="zh-CN" altLang="en-US" sz="1800" i="1">
                          <a:latin typeface="Cambria Math" panose="02040503050406030204" pitchFamily="18" charset="0"/>
                        </a:rPr>
                        <m:t>𝛽</m:t>
                      </m:r>
                      <m:r>
                        <a:rPr lang="en-US" altLang="zh-CN" sz="1800" i="1">
                          <a:latin typeface="Cambria Math" panose="02040503050406030204" pitchFamily="18" charset="0"/>
                        </a:rPr>
                        <m:t>]</m:t>
                      </m:r>
                    </m:oMath>
                  </m:oMathPara>
                </a14:m>
                <a:endParaRPr lang="en-US" altLang="zh-CN" sz="1800" dirty="0"/>
              </a:p>
              <a:p>
                <a:pPr marL="457200" lvl="1" indent="0">
                  <a:buNone/>
                </a:pPr>
                <a14:m>
                  <m:oMathPara xmlns:m="http://schemas.openxmlformats.org/officeDocument/2006/math">
                    <m:oMathParaPr>
                      <m:jc m:val="left"/>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4</m:t>
                          </m:r>
                        </m:sub>
                      </m:sSub>
                      <m:d>
                        <m:dPr>
                          <m:begChr m:val="["/>
                          <m:endChr m:val="]"/>
                          <m:ctrlPr>
                            <a:rPr lang="en-US" altLang="zh-CN" sz="1800" i="1">
                              <a:latin typeface="Cambria Math" panose="02040503050406030204" pitchFamily="18" charset="0"/>
                            </a:rPr>
                          </m:ctrlPr>
                        </m:dPr>
                        <m:e>
                          <m:r>
                            <a:rPr lang="zh-CN" altLang="en-US" sz="1800" i="1">
                              <a:latin typeface="Cambria Math" panose="02040503050406030204" pitchFamily="18" charset="0"/>
                            </a:rPr>
                            <m:t>𝛽</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r>
                        <a:rPr lang="zh-CN" altLang="en-US" sz="1800" i="1">
                          <a:latin typeface="Cambria Math" panose="02040503050406030204" pitchFamily="18" charset="0"/>
                        </a:rPr>
                        <m:t>𝛽</m:t>
                      </m:r>
                      <m:r>
                        <a:rPr lang="en-US" altLang="zh-CN" sz="1800" i="1">
                          <a:latin typeface="Cambria Math" panose="02040503050406030204" pitchFamily="18" charset="0"/>
                        </a:rPr>
                        <m:t>]</m:t>
                      </m:r>
                    </m:oMath>
                  </m:oMathPara>
                </a14:m>
                <a:endParaRPr lang="en-US" altLang="zh-CN" sz="1800" dirty="0"/>
              </a:p>
              <a:p>
                <a:pPr marL="457200" lvl="1" indent="0">
                  <a:buNone/>
                </a:pPr>
                <a14:m>
                  <m:oMathPara xmlns:m="http://schemas.openxmlformats.org/officeDocument/2006/math">
                    <m:oMathParaPr>
                      <m:jc m:val="left"/>
                    </m:oMathParaPr>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4</m:t>
                          </m:r>
                        </m:sub>
                      </m:sSub>
                      <m:d>
                        <m:dPr>
                          <m:begChr m:val="["/>
                          <m:endChr m:val="]"/>
                          <m:ctrlPr>
                            <a:rPr lang="en-US" altLang="zh-CN" sz="1800" i="1">
                              <a:latin typeface="Cambria Math" panose="02040503050406030204" pitchFamily="18" charset="0"/>
                            </a:rPr>
                          </m:ctrlPr>
                        </m:dPr>
                        <m:e>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r>
                            <a:rPr lang="zh-CN" altLang="en-US" sz="1800" i="1">
                              <a:latin typeface="Cambria Math" panose="02040503050406030204" pitchFamily="18" charset="0"/>
                            </a:rPr>
                            <m:t>𝛽</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1</m:t>
                          </m:r>
                        </m:sub>
                      </m:sSub>
                      <m:r>
                        <a:rPr lang="en-US" altLang="zh-CN" sz="1800" i="1">
                          <a:latin typeface="Cambria Math" panose="02040503050406030204" pitchFamily="18" charset="0"/>
                        </a:rPr>
                        <m:t>[</m:t>
                      </m:r>
                      <m:r>
                        <a:rPr lang="en-US" altLang="zh-CN" sz="1800" b="0" i="1" smtClean="0">
                          <a:latin typeface="Cambria Math" panose="02040503050406030204" pitchFamily="18" charset="0"/>
                        </a:rPr>
                        <m:t>𝑅</m:t>
                      </m:r>
                      <m:r>
                        <a:rPr lang="en-US" altLang="zh-CN" sz="1800" b="0" i="1" smtClean="0">
                          <a:latin typeface="Cambria Math" panose="02040503050406030204" pitchFamily="18" charset="0"/>
                        </a:rPr>
                        <m:t>−</m:t>
                      </m:r>
                      <m:r>
                        <a:rPr lang="zh-CN" altLang="en-US" sz="1800" i="1">
                          <a:latin typeface="Cambria Math" panose="02040503050406030204" pitchFamily="18" charset="0"/>
                        </a:rPr>
                        <m:t>𝛽</m:t>
                      </m:r>
                      <m:r>
                        <a:rPr lang="en-US" altLang="zh-CN" sz="1800" i="1">
                          <a:latin typeface="Cambria Math" panose="02040503050406030204" pitchFamily="18" charset="0"/>
                        </a:rPr>
                        <m:t>]</m:t>
                      </m:r>
                    </m:oMath>
                  </m:oMathPara>
                </a14:m>
                <a:endParaRPr lang="en-US" altLang="zh-CN" sz="1800" dirty="0"/>
              </a:p>
              <a:p>
                <a:pPr marL="0" indent="0">
                  <a:buNone/>
                </a:pPr>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0" t="-801" r="-9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06647990"/>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MVD (Cont.)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en-US" altLang="zh-CN" sz="2000" dirty="0"/>
                  <a:t>Tabular representation of </a:t>
                </a:r>
                <a14:m>
                  <m:oMath xmlns:m="http://schemas.openxmlformats.org/officeDocument/2006/math">
                    <m:r>
                      <a:rPr lang="zh-CN" altLang="en-US" sz="2000" i="1">
                        <a:solidFill>
                          <a:srgbClr val="C00000"/>
                        </a:solidFill>
                        <a:latin typeface="Cambria Math" panose="02040503050406030204" pitchFamily="18" charset="0"/>
                      </a:rPr>
                      <m:t>𝛼</m:t>
                    </m:r>
                    <m:r>
                      <a:rPr lang="zh-CN" altLang="en-US" sz="2000" i="1">
                        <a:solidFill>
                          <a:srgbClr val="C00000"/>
                        </a:solidFill>
                        <a:latin typeface="Cambria Math" panose="02040503050406030204" pitchFamily="18" charset="0"/>
                      </a:rPr>
                      <m:t>↠</m:t>
                    </m:r>
                    <m:r>
                      <a:rPr lang="zh-CN" altLang="en-US" sz="2000" i="1">
                        <a:solidFill>
                          <a:srgbClr val="C00000"/>
                        </a:solidFill>
                        <a:latin typeface="Cambria Math" panose="02040503050406030204" pitchFamily="18" charset="0"/>
                      </a:rPr>
                      <m:t>𝛽</m:t>
                    </m:r>
                  </m:oMath>
                </a14:m>
                <a:endParaRPr lang="en-US" altLang="zh-CN" sz="2000" dirty="0">
                  <a:solidFill>
                    <a:srgbClr val="C00000"/>
                  </a:solidFill>
                </a:endParaRPr>
              </a:p>
              <a:p>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711" t="-801"/>
                </a:stretch>
              </a:blipFill>
            </p:spPr>
            <p:txBody>
              <a:bodyPr/>
              <a:lstStyle/>
              <a:p>
                <a:r>
                  <a:rPr lang="zh-CN" altLang="en-US">
                    <a:noFill/>
                  </a:rPr>
                  <a:t> </a:t>
                </a:r>
              </a:p>
            </p:txBody>
          </p:sp>
        </mc:Fallback>
      </mc:AlternateContent>
      <p:pic>
        <p:nvPicPr>
          <p:cNvPr id="4" name="Picture 23">
            <a:extLst>
              <a:ext uri="{FF2B5EF4-FFF2-40B4-BE49-F238E27FC236}">
                <a16:creationId xmlns:a16="http://schemas.microsoft.com/office/drawing/2014/main" id="{1D1C46D2-6396-4063-BD12-B9B2CA69A8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608" t="26994" b="26076"/>
          <a:stretch>
            <a:fillRect/>
          </a:stretch>
        </p:blipFill>
        <p:spPr bwMode="auto">
          <a:xfrm>
            <a:off x="1993106" y="1634729"/>
            <a:ext cx="5135166" cy="1837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
        <p:nvSpPr>
          <p:cNvPr id="5" name="Line 25">
            <a:extLst>
              <a:ext uri="{FF2B5EF4-FFF2-40B4-BE49-F238E27FC236}">
                <a16:creationId xmlns:a16="http://schemas.microsoft.com/office/drawing/2014/main" id="{CED30E66-C4EB-4738-8070-C596D3493C8D}"/>
              </a:ext>
            </a:extLst>
          </p:cNvPr>
          <p:cNvSpPr>
            <a:spLocks noChangeShapeType="1"/>
          </p:cNvSpPr>
          <p:nvPr/>
        </p:nvSpPr>
        <p:spPr bwMode="auto">
          <a:xfrm>
            <a:off x="2651522" y="2141935"/>
            <a:ext cx="0" cy="1117997"/>
          </a:xfrm>
          <a:prstGeom prst="line">
            <a:avLst/>
          </a:prstGeom>
          <a:noFill/>
          <a:ln w="38100">
            <a:solidFill>
              <a:srgbClr val="CC3300"/>
            </a:solidFill>
            <a:round/>
            <a:headEnd/>
            <a:tailEnd/>
          </a:ln>
          <a:extLst>
            <a:ext uri="{909E8E84-426E-40DD-AFC4-6F175D3DCCD1}">
              <a14:hiddenFill xmlns:a14="http://schemas.microsoft.com/office/drawing/2010/main">
                <a:noFill/>
              </a14:hiddenFill>
            </a:ext>
          </a:extLst>
        </p:spPr>
        <p:txBody>
          <a:bodyPr wrap="none"/>
          <a:lstStyle/>
          <a:p>
            <a:pPr marL="0" marR="0" lvl="0" indent="0" defTabSz="685800" eaLnBrk="0" fontAlgn="auto" latinLnBrk="0" hangingPunct="0">
              <a:lnSpc>
                <a:spcPct val="100000"/>
              </a:lnSpc>
              <a:spcBef>
                <a:spcPct val="0"/>
              </a:spcBef>
              <a:spcAft>
                <a:spcPts val="0"/>
              </a:spcAft>
              <a:buClrTx/>
              <a:buSzTx/>
              <a:buFontTx/>
              <a:buNone/>
              <a:tabLst/>
              <a:defRPr/>
            </a:pPr>
            <a:endParaRPr kumimoji="0" lang="zh-CN" altLang="en-US" sz="1350" b="1" i="0" u="none" strike="noStrike" kern="0" cap="none" spc="0" normalizeH="0" baseline="0" noProof="0">
              <a:ln>
                <a:noFill/>
              </a:ln>
              <a:solidFill>
                <a:srgbClr val="000000"/>
              </a:solidFill>
              <a:effectLst/>
              <a:uLnTx/>
              <a:uFillTx/>
              <a:latin typeface="Helvetica" panose="020B0604020202020204" pitchFamily="34" charset="0"/>
              <a:ea typeface="+mn-ea"/>
            </a:endParaRPr>
          </a:p>
        </p:txBody>
      </p:sp>
      <p:sp>
        <p:nvSpPr>
          <p:cNvPr id="6" name="Freeform 27">
            <a:extLst>
              <a:ext uri="{FF2B5EF4-FFF2-40B4-BE49-F238E27FC236}">
                <a16:creationId xmlns:a16="http://schemas.microsoft.com/office/drawing/2014/main" id="{76B642EB-11D0-4BA2-BBD8-563A69B105CE}"/>
              </a:ext>
            </a:extLst>
          </p:cNvPr>
          <p:cNvSpPr>
            <a:spLocks/>
          </p:cNvSpPr>
          <p:nvPr/>
        </p:nvSpPr>
        <p:spPr bwMode="auto">
          <a:xfrm>
            <a:off x="3767137" y="2183607"/>
            <a:ext cx="234554" cy="675085"/>
          </a:xfrm>
          <a:custGeom>
            <a:avLst/>
            <a:gdLst>
              <a:gd name="T0" fmla="*/ 2147483646 w 135"/>
              <a:gd name="T1" fmla="*/ 0 h 567"/>
              <a:gd name="T2" fmla="*/ 2147483646 w 135"/>
              <a:gd name="T3" fmla="*/ 2147483646 h 567"/>
              <a:gd name="T4" fmla="*/ 2147483646 w 135"/>
              <a:gd name="T5" fmla="*/ 2147483646 h 567"/>
              <a:gd name="T6" fmla="*/ 0 60000 65536"/>
              <a:gd name="T7" fmla="*/ 0 60000 65536"/>
              <a:gd name="T8" fmla="*/ 0 60000 65536"/>
              <a:gd name="T9" fmla="*/ 0 w 135"/>
              <a:gd name="T10" fmla="*/ 0 h 567"/>
              <a:gd name="T11" fmla="*/ 135 w 135"/>
              <a:gd name="T12" fmla="*/ 567 h 567"/>
            </a:gdLst>
            <a:ahLst/>
            <a:cxnLst>
              <a:cxn ang="T6">
                <a:pos x="T0" y="T1"/>
              </a:cxn>
              <a:cxn ang="T7">
                <a:pos x="T2" y="T3"/>
              </a:cxn>
              <a:cxn ang="T8">
                <a:pos x="T4" y="T5"/>
              </a:cxn>
            </a:cxnLst>
            <a:rect l="T9" t="T10" r="T11" b="T12"/>
            <a:pathLst>
              <a:path w="135" h="567">
                <a:moveTo>
                  <a:pt x="118" y="0"/>
                </a:moveTo>
                <a:cubicBezTo>
                  <a:pt x="59" y="81"/>
                  <a:pt x="0" y="163"/>
                  <a:pt x="3" y="257"/>
                </a:cubicBezTo>
                <a:cubicBezTo>
                  <a:pt x="6" y="351"/>
                  <a:pt x="112" y="514"/>
                  <a:pt x="135" y="567"/>
                </a:cubicBezTo>
              </a:path>
            </a:pathLst>
          </a:custGeom>
          <a:noFill/>
          <a:ln w="38100">
            <a:solidFill>
              <a:srgbClr val="0000FF"/>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a typeface="+mn-ea"/>
            </a:endParaRPr>
          </a:p>
        </p:txBody>
      </p:sp>
      <p:sp>
        <p:nvSpPr>
          <p:cNvPr id="7" name="Freeform 28">
            <a:extLst>
              <a:ext uri="{FF2B5EF4-FFF2-40B4-BE49-F238E27FC236}">
                <a16:creationId xmlns:a16="http://schemas.microsoft.com/office/drawing/2014/main" id="{C1E5ED03-26B8-4A7A-BE02-EBB6D842B145}"/>
              </a:ext>
            </a:extLst>
          </p:cNvPr>
          <p:cNvSpPr>
            <a:spLocks/>
          </p:cNvSpPr>
          <p:nvPr/>
        </p:nvSpPr>
        <p:spPr bwMode="auto">
          <a:xfrm>
            <a:off x="3789760" y="2527697"/>
            <a:ext cx="255984" cy="675084"/>
          </a:xfrm>
          <a:custGeom>
            <a:avLst/>
            <a:gdLst>
              <a:gd name="T0" fmla="*/ 2147483646 w 135"/>
              <a:gd name="T1" fmla="*/ 0 h 567"/>
              <a:gd name="T2" fmla="*/ 2147483646 w 135"/>
              <a:gd name="T3" fmla="*/ 2147483646 h 567"/>
              <a:gd name="T4" fmla="*/ 2147483646 w 135"/>
              <a:gd name="T5" fmla="*/ 2147483646 h 567"/>
              <a:gd name="T6" fmla="*/ 0 60000 65536"/>
              <a:gd name="T7" fmla="*/ 0 60000 65536"/>
              <a:gd name="T8" fmla="*/ 0 60000 65536"/>
              <a:gd name="T9" fmla="*/ 0 w 135"/>
              <a:gd name="T10" fmla="*/ 0 h 567"/>
              <a:gd name="T11" fmla="*/ 135 w 135"/>
              <a:gd name="T12" fmla="*/ 567 h 567"/>
            </a:gdLst>
            <a:ahLst/>
            <a:cxnLst>
              <a:cxn ang="T6">
                <a:pos x="T0" y="T1"/>
              </a:cxn>
              <a:cxn ang="T7">
                <a:pos x="T2" y="T3"/>
              </a:cxn>
              <a:cxn ang="T8">
                <a:pos x="T4" y="T5"/>
              </a:cxn>
            </a:cxnLst>
            <a:rect l="T9" t="T10" r="T11" b="T12"/>
            <a:pathLst>
              <a:path w="135" h="567">
                <a:moveTo>
                  <a:pt x="118" y="0"/>
                </a:moveTo>
                <a:cubicBezTo>
                  <a:pt x="59" y="81"/>
                  <a:pt x="0" y="163"/>
                  <a:pt x="3" y="257"/>
                </a:cubicBezTo>
                <a:cubicBezTo>
                  <a:pt x="6" y="351"/>
                  <a:pt x="112" y="514"/>
                  <a:pt x="135" y="567"/>
                </a:cubicBezTo>
              </a:path>
            </a:pathLst>
          </a:custGeom>
          <a:noFill/>
          <a:ln w="38100">
            <a:solidFill>
              <a:srgbClr val="0000FF"/>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a typeface="+mn-ea"/>
            </a:endParaRPr>
          </a:p>
        </p:txBody>
      </p:sp>
      <p:sp>
        <p:nvSpPr>
          <p:cNvPr id="8" name="Freeform 29">
            <a:extLst>
              <a:ext uri="{FF2B5EF4-FFF2-40B4-BE49-F238E27FC236}">
                <a16:creationId xmlns:a16="http://schemas.microsoft.com/office/drawing/2014/main" id="{5B67D58B-48AA-48D1-A374-BF689C1B4BD6}"/>
              </a:ext>
            </a:extLst>
          </p:cNvPr>
          <p:cNvSpPr>
            <a:spLocks/>
          </p:cNvSpPr>
          <p:nvPr/>
        </p:nvSpPr>
        <p:spPr bwMode="auto">
          <a:xfrm flipH="1">
            <a:off x="6805612" y="2451497"/>
            <a:ext cx="196454" cy="570309"/>
          </a:xfrm>
          <a:custGeom>
            <a:avLst/>
            <a:gdLst>
              <a:gd name="T0" fmla="*/ 2147483646 w 135"/>
              <a:gd name="T1" fmla="*/ 0 h 567"/>
              <a:gd name="T2" fmla="*/ 2147483646 w 135"/>
              <a:gd name="T3" fmla="*/ 2147483646 h 567"/>
              <a:gd name="T4" fmla="*/ 2147483646 w 135"/>
              <a:gd name="T5" fmla="*/ 2147483646 h 567"/>
              <a:gd name="T6" fmla="*/ 0 60000 65536"/>
              <a:gd name="T7" fmla="*/ 0 60000 65536"/>
              <a:gd name="T8" fmla="*/ 0 60000 65536"/>
              <a:gd name="T9" fmla="*/ 0 w 135"/>
              <a:gd name="T10" fmla="*/ 0 h 567"/>
              <a:gd name="T11" fmla="*/ 135 w 135"/>
              <a:gd name="T12" fmla="*/ 567 h 567"/>
            </a:gdLst>
            <a:ahLst/>
            <a:cxnLst>
              <a:cxn ang="T6">
                <a:pos x="T0" y="T1"/>
              </a:cxn>
              <a:cxn ang="T7">
                <a:pos x="T2" y="T3"/>
              </a:cxn>
              <a:cxn ang="T8">
                <a:pos x="T4" y="T5"/>
              </a:cxn>
            </a:cxnLst>
            <a:rect l="T9" t="T10" r="T11" b="T12"/>
            <a:pathLst>
              <a:path w="135" h="567">
                <a:moveTo>
                  <a:pt x="118" y="0"/>
                </a:moveTo>
                <a:cubicBezTo>
                  <a:pt x="59" y="81"/>
                  <a:pt x="0" y="163"/>
                  <a:pt x="3" y="257"/>
                </a:cubicBezTo>
                <a:cubicBezTo>
                  <a:pt x="6" y="351"/>
                  <a:pt x="112" y="514"/>
                  <a:pt x="135" y="567"/>
                </a:cubicBezTo>
              </a:path>
            </a:pathLst>
          </a:custGeom>
          <a:noFill/>
          <a:ln w="38100">
            <a:solidFill>
              <a:srgbClr val="CC0099"/>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a typeface="+mn-ea"/>
            </a:endParaRPr>
          </a:p>
        </p:txBody>
      </p:sp>
      <p:sp>
        <p:nvSpPr>
          <p:cNvPr id="9" name="Freeform 30">
            <a:extLst>
              <a:ext uri="{FF2B5EF4-FFF2-40B4-BE49-F238E27FC236}">
                <a16:creationId xmlns:a16="http://schemas.microsoft.com/office/drawing/2014/main" id="{EF064BC1-A554-4AA9-95B4-37EE053D55C6}"/>
              </a:ext>
            </a:extLst>
          </p:cNvPr>
          <p:cNvSpPr>
            <a:spLocks/>
          </p:cNvSpPr>
          <p:nvPr/>
        </p:nvSpPr>
        <p:spPr bwMode="auto">
          <a:xfrm>
            <a:off x="5406629" y="2187179"/>
            <a:ext cx="183356" cy="1159669"/>
          </a:xfrm>
          <a:custGeom>
            <a:avLst/>
            <a:gdLst>
              <a:gd name="T0" fmla="*/ 2147483646 w 135"/>
              <a:gd name="T1" fmla="*/ 0 h 567"/>
              <a:gd name="T2" fmla="*/ 2147483646 w 135"/>
              <a:gd name="T3" fmla="*/ 2147483646 h 567"/>
              <a:gd name="T4" fmla="*/ 2147483646 w 135"/>
              <a:gd name="T5" fmla="*/ 2147483646 h 567"/>
              <a:gd name="T6" fmla="*/ 0 60000 65536"/>
              <a:gd name="T7" fmla="*/ 0 60000 65536"/>
              <a:gd name="T8" fmla="*/ 0 60000 65536"/>
              <a:gd name="T9" fmla="*/ 0 w 135"/>
              <a:gd name="T10" fmla="*/ 0 h 567"/>
              <a:gd name="T11" fmla="*/ 135 w 135"/>
              <a:gd name="T12" fmla="*/ 567 h 567"/>
            </a:gdLst>
            <a:ahLst/>
            <a:cxnLst>
              <a:cxn ang="T6">
                <a:pos x="T0" y="T1"/>
              </a:cxn>
              <a:cxn ang="T7">
                <a:pos x="T2" y="T3"/>
              </a:cxn>
              <a:cxn ang="T8">
                <a:pos x="T4" y="T5"/>
              </a:cxn>
            </a:cxnLst>
            <a:rect l="T9" t="T10" r="T11" b="T12"/>
            <a:pathLst>
              <a:path w="135" h="567">
                <a:moveTo>
                  <a:pt x="118" y="0"/>
                </a:moveTo>
                <a:cubicBezTo>
                  <a:pt x="59" y="81"/>
                  <a:pt x="0" y="163"/>
                  <a:pt x="3" y="257"/>
                </a:cubicBezTo>
                <a:cubicBezTo>
                  <a:pt x="6" y="351"/>
                  <a:pt x="112" y="514"/>
                  <a:pt x="135" y="567"/>
                </a:cubicBezTo>
              </a:path>
            </a:pathLst>
          </a:custGeom>
          <a:noFill/>
          <a:ln w="38100">
            <a:solidFill>
              <a:srgbClr val="CC0099"/>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a typeface="+mn-ea"/>
            </a:endParaRPr>
          </a:p>
        </p:txBody>
      </p:sp>
      <p:sp>
        <p:nvSpPr>
          <p:cNvPr id="10" name="TextBox 1">
            <a:extLst>
              <a:ext uri="{FF2B5EF4-FFF2-40B4-BE49-F238E27FC236}">
                <a16:creationId xmlns:a16="http://schemas.microsoft.com/office/drawing/2014/main" id="{AD4CF6E4-53E1-4BD5-B4F9-FDE97A9B9677}"/>
              </a:ext>
            </a:extLst>
          </p:cNvPr>
          <p:cNvSpPr txBox="1">
            <a:spLocks noChangeArrowheads="1"/>
          </p:cNvSpPr>
          <p:nvPr/>
        </p:nvSpPr>
        <p:spPr bwMode="auto">
          <a:xfrm>
            <a:off x="827584" y="3791315"/>
            <a:ext cx="7431012" cy="661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00FF00"/>
              </a:buClr>
              <a:buSzPct val="80000"/>
              <a:buFont typeface="Wingdings" panose="05000000000000000000" pitchFamily="2" charset="2"/>
              <a:buChar char="l"/>
              <a:defRPr kumimoji="1" sz="2000">
                <a:solidFill>
                  <a:schemeClr val="tx1"/>
                </a:solidFill>
                <a:latin typeface="Comic Sans MS" panose="030F0702030302020204" pitchFamily="66" charset="0"/>
              </a:defRPr>
            </a:lvl3pPr>
            <a:lvl4pPr marL="1600200" indent="-228600">
              <a:spcBef>
                <a:spcPct val="35000"/>
              </a:spcBef>
              <a:buClr>
                <a:srgbClr val="CC0099"/>
              </a:buClr>
              <a:buSzPct val="80000"/>
              <a:buFont typeface="Times New Roman" panose="02020603050405020304" pitchFamily="18" charset="0"/>
              <a:buChar char="•"/>
              <a:defRPr kumimoji="1" sz="2000">
                <a:solidFill>
                  <a:schemeClr val="tx1"/>
                </a:solidFill>
                <a:latin typeface="Comic Sans MS" panose="030F0702030302020204" pitchFamily="66" charset="0"/>
              </a:defRPr>
            </a:lvl4pPr>
            <a:lvl5pPr marL="2057400" indent="-228600">
              <a:spcBef>
                <a:spcPct val="35000"/>
              </a:spcBef>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000000"/>
              </a:buClr>
              <a:buSzPct val="80000"/>
              <a:buFont typeface="Times New Roman" panose="02020603050405020304" pitchFamily="18" charset="0"/>
              <a:buChar char="»"/>
              <a:defRPr kumimoji="1" sz="2000">
                <a:solidFill>
                  <a:schemeClr val="tx1"/>
                </a:solidFill>
                <a:latin typeface="Comic Sans MS" panose="030F0702030302020204" pitchFamily="66" charset="0"/>
              </a:defRPr>
            </a:lvl9pPr>
          </a:lstStyle>
          <a:p>
            <a:pPr defTabSz="685800" eaLnBrk="0" hangingPunct="0">
              <a:spcBef>
                <a:spcPts val="600"/>
              </a:spcBef>
              <a:buClrTx/>
              <a:buSzTx/>
              <a:buFont typeface="Wingdings" panose="05000000000000000000" pitchFamily="2" charset="2"/>
              <a:buNone/>
            </a:pPr>
            <a:r>
              <a:rPr kumimoji="0" lang="en-US" altLang="zh-CN" sz="1600" b="1" dirty="0">
                <a:latin typeface="Arial" panose="020B0604020202020204" pitchFamily="34" charset="0"/>
                <a:ea typeface="宋体" panose="02010600030101010101" pitchFamily="2" charset="-122"/>
                <a:cs typeface="Arial" panose="020B0604020202020204" pitchFamily="34" charset="0"/>
              </a:rPr>
              <a:t>Functional dependencies: </a:t>
            </a:r>
            <a:r>
              <a:rPr kumimoji="0" lang="en-US" altLang="zh-CN" sz="1600" dirty="0">
                <a:latin typeface="Arial" panose="020B0604020202020204" pitchFamily="34" charset="0"/>
                <a:ea typeface="宋体" panose="02010600030101010101" pitchFamily="2" charset="-122"/>
                <a:cs typeface="Arial" panose="020B0604020202020204" pitchFamily="34" charset="0"/>
              </a:rPr>
              <a:t>equality-generating dependencies </a:t>
            </a:r>
            <a:r>
              <a:rPr kumimoji="0" lang="zh-CN" altLang="en-US" sz="1600" dirty="0">
                <a:latin typeface="Arial" panose="020B0604020202020204" pitchFamily="34" charset="0"/>
                <a:ea typeface="宋体" panose="02010600030101010101" pitchFamily="2" charset="-122"/>
                <a:cs typeface="Arial" panose="020B0604020202020204" pitchFamily="34" charset="0"/>
              </a:rPr>
              <a:t>相等产生依赖</a:t>
            </a:r>
            <a:endParaRPr kumimoji="0" lang="en-US" altLang="zh-CN" sz="1600" dirty="0">
              <a:latin typeface="Arial" panose="020B0604020202020204" pitchFamily="34" charset="0"/>
              <a:ea typeface="宋体" panose="02010600030101010101" pitchFamily="2" charset="-122"/>
              <a:cs typeface="Arial" panose="020B0604020202020204" pitchFamily="34" charset="0"/>
            </a:endParaRPr>
          </a:p>
          <a:p>
            <a:pPr defTabSz="685800" eaLnBrk="0" hangingPunct="0">
              <a:spcBef>
                <a:spcPts val="600"/>
              </a:spcBef>
              <a:buClrTx/>
              <a:buSzTx/>
              <a:buFont typeface="Wingdings" panose="05000000000000000000" pitchFamily="2" charset="2"/>
              <a:buNone/>
            </a:pPr>
            <a:r>
              <a:rPr kumimoji="0" lang="en-US" altLang="zh-CN" sz="1600" b="1" dirty="0">
                <a:latin typeface="Arial" panose="020B0604020202020204" pitchFamily="34" charset="0"/>
                <a:ea typeface="宋体" panose="02010600030101010101" pitchFamily="2" charset="-122"/>
                <a:cs typeface="Arial" panose="020B0604020202020204" pitchFamily="34" charset="0"/>
              </a:rPr>
              <a:t>Multivalued dependencies: </a:t>
            </a:r>
            <a:r>
              <a:rPr kumimoji="0" lang="en-US" altLang="zh-CN" sz="1600" dirty="0">
                <a:latin typeface="Arial" panose="020B0604020202020204" pitchFamily="34" charset="0"/>
                <a:ea typeface="宋体" panose="02010600030101010101" pitchFamily="2" charset="-122"/>
                <a:cs typeface="Arial" panose="020B0604020202020204" pitchFamily="34" charset="0"/>
              </a:rPr>
              <a:t>tuple-generating dependencies </a:t>
            </a:r>
            <a:r>
              <a:rPr kumimoji="0" lang="zh-CN" altLang="en-US" sz="1600" dirty="0">
                <a:latin typeface="Arial" panose="020B0604020202020204" pitchFamily="34" charset="0"/>
                <a:ea typeface="宋体" panose="02010600030101010101" pitchFamily="2" charset="-122"/>
                <a:cs typeface="Arial" panose="020B0604020202020204" pitchFamily="34" charset="0"/>
              </a:rPr>
              <a:t>元组产生依赖</a:t>
            </a:r>
            <a:endParaRPr kumimoji="0" lang="en-US" altLang="zh-CN" sz="1600" dirty="0">
              <a:latin typeface="Arial" panose="020B0604020202020204" pitchFamily="34" charset="0"/>
              <a:ea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635384788"/>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a:t>MVD (Cont.)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r>
                  <a:rPr lang="en-US" altLang="zh-CN" sz="2000" b="1" dirty="0"/>
                  <a:t>Properties of MVD</a:t>
                </a:r>
              </a:p>
              <a:p>
                <a:pPr lvl="1"/>
                <a:r>
                  <a:rPr lang="en-US" altLang="zh-CN" sz="1800" dirty="0"/>
                  <a:t>Symmetry: if X</a:t>
                </a:r>
                <a14:m>
                  <m:oMath xmlns:m="http://schemas.openxmlformats.org/officeDocument/2006/math">
                    <m:r>
                      <a:rPr lang="zh-CN" altLang="en-US" sz="1800" i="1" smtClean="0">
                        <a:solidFill>
                          <a:schemeClr val="tx1"/>
                        </a:solidFill>
                        <a:latin typeface="Cambria Math" panose="02040503050406030204" pitchFamily="18" charset="0"/>
                      </a:rPr>
                      <m:t>↠</m:t>
                    </m:r>
                  </m:oMath>
                </a14:m>
                <a:r>
                  <a:rPr lang="en-US" altLang="zh-CN" sz="1800" dirty="0"/>
                  <a:t>Y then X</a:t>
                </a:r>
                <a14:m>
                  <m:oMath xmlns:m="http://schemas.openxmlformats.org/officeDocument/2006/math">
                    <m:r>
                      <a:rPr lang="zh-CN" altLang="en-US" sz="1800" i="1">
                        <a:latin typeface="Cambria Math" panose="02040503050406030204" pitchFamily="18" charset="0"/>
                      </a:rPr>
                      <m:t>↠</m:t>
                    </m:r>
                  </m:oMath>
                </a14:m>
                <a:r>
                  <a:rPr lang="en-US" altLang="zh-CN" sz="1800" dirty="0"/>
                  <a:t>Z, here Z=U-X-Y</a:t>
                </a:r>
              </a:p>
              <a:p>
                <a:pPr lvl="1"/>
                <a:r>
                  <a:rPr lang="en-US" altLang="zh-CN" sz="1800" dirty="0"/>
                  <a:t>Transitivity: if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 Y</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Z, then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Z-Y</a:t>
                </a:r>
              </a:p>
              <a:p>
                <a:pPr lvl="1"/>
                <a:r>
                  <a:rPr lang="en-US" altLang="zh-CN" sz="1800" dirty="0"/>
                  <a:t>If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Z, then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YZ</a:t>
                </a:r>
              </a:p>
              <a:p>
                <a:pPr lvl="1"/>
                <a:r>
                  <a:rPr lang="en-US" altLang="zh-CN" sz="1800" dirty="0"/>
                  <a:t>If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Z, then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Y∩Z</a:t>
                </a:r>
              </a:p>
              <a:p>
                <a:pPr lvl="1"/>
                <a:r>
                  <a:rPr lang="en-US" altLang="zh-CN" sz="1800" dirty="0"/>
                  <a:t>If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Z, then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Y-Z, X</a:t>
                </a:r>
                <a:r>
                  <a:rPr lang="zh-CN" altLang="en-US" sz="1800" dirty="0"/>
                  <a:t> </a:t>
                </a:r>
                <a14:m>
                  <m:oMath xmlns:m="http://schemas.openxmlformats.org/officeDocument/2006/math">
                    <m:r>
                      <a:rPr lang="zh-CN" altLang="en-US" sz="1800" i="1">
                        <a:latin typeface="Cambria Math" panose="02040503050406030204" pitchFamily="18" charset="0"/>
                      </a:rPr>
                      <m:t>↠ </m:t>
                    </m:r>
                  </m:oMath>
                </a14:m>
                <a:r>
                  <a:rPr lang="en-US" altLang="zh-CN" sz="1800" dirty="0"/>
                  <a:t>Z-Y</a:t>
                </a:r>
              </a:p>
              <a:p>
                <a:pPr lvl="1"/>
                <a:r>
                  <a:rPr lang="en-US" altLang="zh-CN" sz="1800" dirty="0"/>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4063117"/>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5490C0-832B-4A7A-AECC-98E757A53C73}"/>
              </a:ext>
            </a:extLst>
          </p:cNvPr>
          <p:cNvSpPr>
            <a:spLocks noGrp="1"/>
          </p:cNvSpPr>
          <p:nvPr>
            <p:ph type="title"/>
          </p:nvPr>
        </p:nvSpPr>
        <p:spPr/>
        <p:txBody>
          <a:bodyPr/>
          <a:lstStyle/>
          <a:p>
            <a:pPr algn="ctr"/>
            <a:r>
              <a:rPr lang="en-US" altLang="zh-CN" dirty="0"/>
              <a:t>Example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A6D2BBF-9D3D-4695-BA01-93D86AAE893D}"/>
                  </a:ext>
                </a:extLst>
              </p:cNvPr>
              <p:cNvSpPr>
                <a:spLocks noGrp="1"/>
              </p:cNvSpPr>
              <p:nvPr>
                <p:ph idx="1"/>
              </p:nvPr>
            </p:nvSpPr>
            <p:spPr/>
            <p:txBody>
              <a:bodyPr/>
              <a:lstStyle/>
              <a:p>
                <a:r>
                  <a:rPr lang="en-US" altLang="zh-CN" sz="2000" dirty="0"/>
                  <a:t>Let R be a relation schema with a set of attributes that are partitioned into 3 nonempty subsets.</a:t>
                </a:r>
              </a:p>
              <a:p>
                <a:pPr marL="457200" lvl="1" indent="0">
                  <a:buNone/>
                </a:pPr>
                <a:r>
                  <a:rPr lang="en-US" altLang="zh-CN" sz="1800" dirty="0"/>
                  <a:t>				Y, Z, W</a:t>
                </a:r>
              </a:p>
              <a:p>
                <a:r>
                  <a:rPr lang="en-US" altLang="zh-CN" sz="2000" dirty="0"/>
                  <a:t>We say that Y</a:t>
                </a:r>
                <a14:m>
                  <m:oMath xmlns:m="http://schemas.openxmlformats.org/officeDocument/2006/math">
                    <m:r>
                      <a:rPr lang="zh-CN" altLang="en-US" sz="2000" i="1">
                        <a:solidFill>
                          <a:schemeClr val="tx1"/>
                        </a:solidFill>
                        <a:latin typeface="Cambria Math" panose="02040503050406030204" pitchFamily="18" charset="0"/>
                      </a:rPr>
                      <m:t>↠</m:t>
                    </m:r>
                  </m:oMath>
                </a14:m>
                <a:r>
                  <a:rPr lang="en-US" altLang="zh-CN" sz="2000" dirty="0"/>
                  <a:t>Z (Y multi-determines Z)</a:t>
                </a:r>
                <a:br>
                  <a:rPr lang="en-US" altLang="zh-CN" sz="2000" dirty="0"/>
                </a:br>
                <a:r>
                  <a:rPr lang="en-US" altLang="zh-CN" sz="2000" dirty="0" err="1"/>
                  <a:t>iff</a:t>
                </a:r>
                <a:r>
                  <a:rPr lang="en-US" altLang="zh-CN" sz="2000" dirty="0"/>
                  <a:t> for all possible relations r(R)</a:t>
                </a:r>
              </a:p>
              <a:p>
                <a:pPr lvl="1"/>
                <a14:m>
                  <m:oMath xmlns:m="http://schemas.openxmlformats.org/officeDocument/2006/math">
                    <m:r>
                      <a:rPr lang="en-US" altLang="zh-CN" sz="1800" b="0" i="1" dirty="0" smtClean="0">
                        <a:latin typeface="Cambria Math" panose="02040503050406030204" pitchFamily="18" charset="0"/>
                      </a:rPr>
                      <m:t>&lt;</m:t>
                    </m:r>
                    <m:r>
                      <a:rPr lang="en-US" altLang="zh-CN" sz="1800" b="0" i="1" dirty="0" smtClean="0">
                        <a:latin typeface="Cambria Math" panose="02040503050406030204" pitchFamily="18" charset="0"/>
                      </a:rPr>
                      <m:t>𝑦</m:t>
                    </m:r>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𝑧</m:t>
                        </m:r>
                      </m:e>
                      <m:sub>
                        <m:r>
                          <a:rPr lang="en-US" altLang="zh-CN" sz="1800" b="0" i="1" dirty="0" smtClean="0">
                            <a:latin typeface="Cambria Math" panose="02040503050406030204" pitchFamily="18" charset="0"/>
                          </a:rPr>
                          <m:t>1</m:t>
                        </m:r>
                      </m:sub>
                    </m:sSub>
                    <m:r>
                      <a:rPr lang="en-US" altLang="zh-CN" sz="1800" b="0" i="1" dirty="0" smtClean="0">
                        <a:latin typeface="Cambria Math" panose="02040503050406030204" pitchFamily="18" charset="0"/>
                      </a:rPr>
                      <m:t>,</m:t>
                    </m:r>
                    <m:sSub>
                      <m:sSubPr>
                        <m:ctrlPr>
                          <a:rPr lang="en-US" altLang="zh-CN" sz="1800" b="0" i="1" dirty="0" smtClean="0">
                            <a:latin typeface="Cambria Math" panose="02040503050406030204" pitchFamily="18" charset="0"/>
                          </a:rPr>
                        </m:ctrlPr>
                      </m:sSubPr>
                      <m:e>
                        <m:r>
                          <a:rPr lang="en-US" altLang="zh-CN" sz="1800" b="0" i="1" dirty="0" smtClean="0">
                            <a:latin typeface="Cambria Math" panose="02040503050406030204" pitchFamily="18" charset="0"/>
                          </a:rPr>
                          <m:t>𝑤</m:t>
                        </m:r>
                      </m:e>
                      <m:sub>
                        <m:r>
                          <a:rPr lang="en-US" altLang="zh-CN" sz="1800" b="0" i="1" dirty="0" smtClean="0">
                            <a:latin typeface="Cambria Math" panose="02040503050406030204" pitchFamily="18" charset="0"/>
                          </a:rPr>
                          <m:t>1</m:t>
                        </m:r>
                      </m:sub>
                    </m:sSub>
                    <m:r>
                      <a:rPr lang="en-US" altLang="zh-CN" sz="1800" b="0" i="1" dirty="0" smtClean="0">
                        <a:latin typeface="Cambria Math" panose="02040503050406030204" pitchFamily="18" charset="0"/>
                      </a:rPr>
                      <m:t>&gt;</m:t>
                    </m:r>
                    <m:r>
                      <a:rPr lang="en-US" altLang="zh-CN" sz="1800" b="0" i="1" dirty="0" smtClean="0">
                        <a:latin typeface="Cambria Math" panose="02040503050406030204" pitchFamily="18" charset="0"/>
                        <a:ea typeface="Cambria Math" panose="02040503050406030204" pitchFamily="18" charset="0"/>
                      </a:rPr>
                      <m:t>∈</m:t>
                    </m:r>
                    <m:r>
                      <a:rPr lang="en-US" altLang="zh-CN" sz="1800" b="0" i="1" dirty="0" smtClean="0">
                        <a:latin typeface="Cambria Math" panose="02040503050406030204" pitchFamily="18" charset="0"/>
                      </a:rPr>
                      <m:t>𝑟</m:t>
                    </m:r>
                  </m:oMath>
                </a14:m>
                <a:r>
                  <a:rPr lang="en-US" altLang="zh-CN" sz="1800" dirty="0"/>
                  <a:t>  and </a:t>
                </a:r>
                <a14:m>
                  <m:oMath xmlns:m="http://schemas.openxmlformats.org/officeDocument/2006/math">
                    <m:r>
                      <a:rPr lang="en-US" altLang="zh-CN" sz="1800" i="1" dirty="0">
                        <a:latin typeface="Cambria Math" panose="02040503050406030204" pitchFamily="18" charset="0"/>
                      </a:rPr>
                      <m:t>&lt;</m:t>
                    </m:r>
                    <m:r>
                      <a:rPr lang="en-US" altLang="zh-CN" sz="1800" i="1" dirty="0">
                        <a:latin typeface="Cambria Math" panose="02040503050406030204" pitchFamily="18" charset="0"/>
                      </a:rPr>
                      <m:t>𝑦</m:t>
                    </m:r>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𝑧</m:t>
                        </m:r>
                      </m:e>
                      <m:sub>
                        <m:r>
                          <a:rPr lang="en-US" altLang="zh-CN" sz="1800" b="0" i="1" dirty="0" smtClean="0">
                            <a:latin typeface="Cambria Math" panose="02040503050406030204" pitchFamily="18" charset="0"/>
                          </a:rPr>
                          <m:t>2</m:t>
                        </m:r>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𝑤</m:t>
                        </m:r>
                      </m:e>
                      <m:sub>
                        <m:r>
                          <a:rPr lang="en-US" altLang="zh-CN" sz="1800" b="0" i="1" dirty="0" smtClean="0">
                            <a:latin typeface="Cambria Math" panose="02040503050406030204" pitchFamily="18" charset="0"/>
                          </a:rPr>
                          <m:t>2</m:t>
                        </m:r>
                      </m:sub>
                    </m:sSub>
                    <m:r>
                      <a:rPr lang="en-US" altLang="zh-CN" sz="1800" i="1" dirty="0">
                        <a:latin typeface="Cambria Math" panose="02040503050406030204" pitchFamily="18" charset="0"/>
                      </a:rPr>
                      <m:t>&gt;</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rPr>
                      <m:t>𝑟</m:t>
                    </m:r>
                  </m:oMath>
                </a14:m>
                <a:r>
                  <a:rPr lang="en-US" altLang="zh-CN" sz="1800" dirty="0"/>
                  <a:t> then</a:t>
                </a:r>
              </a:p>
              <a:p>
                <a:pPr lvl="1"/>
                <a14:m>
                  <m:oMath xmlns:m="http://schemas.openxmlformats.org/officeDocument/2006/math">
                    <m:r>
                      <a:rPr lang="en-US" altLang="zh-CN" sz="1800" i="1" dirty="0">
                        <a:latin typeface="Cambria Math" panose="02040503050406030204" pitchFamily="18" charset="0"/>
                      </a:rPr>
                      <m:t>&lt;</m:t>
                    </m:r>
                    <m:r>
                      <a:rPr lang="en-US" altLang="zh-CN" sz="1800" i="1" dirty="0">
                        <a:latin typeface="Cambria Math" panose="02040503050406030204" pitchFamily="18" charset="0"/>
                      </a:rPr>
                      <m:t>𝑦</m:t>
                    </m:r>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𝑧</m:t>
                        </m:r>
                      </m:e>
                      <m:sub>
                        <m:r>
                          <a:rPr lang="en-US" altLang="zh-CN" sz="1800" i="1" dirty="0">
                            <a:latin typeface="Cambria Math" panose="02040503050406030204" pitchFamily="18" charset="0"/>
                          </a:rPr>
                          <m:t>1</m:t>
                        </m:r>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𝑤</m:t>
                        </m:r>
                      </m:e>
                      <m:sub>
                        <m:r>
                          <a:rPr lang="en-US" altLang="zh-CN" sz="1800" b="0" i="1" dirty="0" smtClean="0">
                            <a:latin typeface="Cambria Math" panose="02040503050406030204" pitchFamily="18" charset="0"/>
                          </a:rPr>
                          <m:t>2</m:t>
                        </m:r>
                      </m:sub>
                    </m:sSub>
                    <m:r>
                      <a:rPr lang="en-US" altLang="zh-CN" sz="1800" i="1" dirty="0">
                        <a:latin typeface="Cambria Math" panose="02040503050406030204" pitchFamily="18" charset="0"/>
                      </a:rPr>
                      <m:t>&gt;</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rPr>
                      <m:t>𝑟</m:t>
                    </m:r>
                  </m:oMath>
                </a14:m>
                <a:r>
                  <a:rPr lang="en-US" altLang="zh-CN" sz="1800" dirty="0"/>
                  <a:t>  and </a:t>
                </a:r>
                <a14:m>
                  <m:oMath xmlns:m="http://schemas.openxmlformats.org/officeDocument/2006/math">
                    <m:r>
                      <a:rPr lang="en-US" altLang="zh-CN" sz="1800" i="1" dirty="0">
                        <a:latin typeface="Cambria Math" panose="02040503050406030204" pitchFamily="18" charset="0"/>
                      </a:rPr>
                      <m:t>&lt;</m:t>
                    </m:r>
                    <m:r>
                      <a:rPr lang="en-US" altLang="zh-CN" sz="1800" i="1" dirty="0">
                        <a:latin typeface="Cambria Math" panose="02040503050406030204" pitchFamily="18" charset="0"/>
                      </a:rPr>
                      <m:t>𝑦</m:t>
                    </m:r>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𝑧</m:t>
                        </m:r>
                      </m:e>
                      <m:sub>
                        <m:r>
                          <a:rPr lang="en-US" altLang="zh-CN" sz="1800" b="0" i="1" dirty="0" smtClean="0">
                            <a:latin typeface="Cambria Math" panose="02040503050406030204" pitchFamily="18" charset="0"/>
                          </a:rPr>
                          <m:t>2</m:t>
                        </m:r>
                      </m:sub>
                    </m:sSub>
                    <m:r>
                      <a:rPr lang="en-US" altLang="zh-CN" sz="1800" i="1" dirty="0">
                        <a:latin typeface="Cambria Math" panose="02040503050406030204" pitchFamily="18" charset="0"/>
                      </a:rPr>
                      <m:t>,</m:t>
                    </m:r>
                    <m:sSub>
                      <m:sSubPr>
                        <m:ctrlPr>
                          <a:rPr lang="en-US" altLang="zh-CN" sz="1800" i="1" dirty="0">
                            <a:latin typeface="Cambria Math" panose="02040503050406030204" pitchFamily="18" charset="0"/>
                          </a:rPr>
                        </m:ctrlPr>
                      </m:sSubPr>
                      <m:e>
                        <m:r>
                          <a:rPr lang="en-US" altLang="zh-CN" sz="1800" i="1" dirty="0">
                            <a:latin typeface="Cambria Math" panose="02040503050406030204" pitchFamily="18" charset="0"/>
                          </a:rPr>
                          <m:t>𝑤</m:t>
                        </m:r>
                      </m:e>
                      <m:sub>
                        <m:r>
                          <a:rPr lang="en-US" altLang="zh-CN" sz="1800" i="1" dirty="0">
                            <a:latin typeface="Cambria Math" panose="02040503050406030204" pitchFamily="18" charset="0"/>
                          </a:rPr>
                          <m:t>1</m:t>
                        </m:r>
                      </m:sub>
                    </m:sSub>
                    <m:r>
                      <a:rPr lang="en-US" altLang="zh-CN" sz="1800" i="1" dirty="0">
                        <a:latin typeface="Cambria Math" panose="02040503050406030204" pitchFamily="18" charset="0"/>
                      </a:rPr>
                      <m:t>&gt;</m:t>
                    </m:r>
                    <m:r>
                      <a:rPr lang="en-US" altLang="zh-CN" sz="1800" i="1" dirty="0">
                        <a:latin typeface="Cambria Math" panose="02040503050406030204" pitchFamily="18" charset="0"/>
                        <a:ea typeface="Cambria Math" panose="02040503050406030204" pitchFamily="18" charset="0"/>
                      </a:rPr>
                      <m:t>∈</m:t>
                    </m:r>
                    <m:r>
                      <a:rPr lang="en-US" altLang="zh-CN" sz="1800" i="1" dirty="0">
                        <a:latin typeface="Cambria Math" panose="02040503050406030204" pitchFamily="18" charset="0"/>
                      </a:rPr>
                      <m:t>𝑟</m:t>
                    </m:r>
                  </m:oMath>
                </a14:m>
                <a:endParaRPr lang="en-US" altLang="zh-CN" sz="1800" dirty="0"/>
              </a:p>
              <a:p>
                <a:r>
                  <a:rPr lang="en-US" altLang="zh-CN" sz="2000" dirty="0"/>
                  <a:t>Note that since the behavior of Z and W are identical it follows that Y</a:t>
                </a:r>
                <a14:m>
                  <m:oMath xmlns:m="http://schemas.openxmlformats.org/officeDocument/2006/math">
                    <m:r>
                      <a:rPr lang="zh-CN" altLang="en-US" sz="2000" i="1">
                        <a:latin typeface="Cambria Math" panose="02040503050406030204" pitchFamily="18" charset="0"/>
                      </a:rPr>
                      <m:t>↠ </m:t>
                    </m:r>
                  </m:oMath>
                </a14:m>
                <a:r>
                  <a:rPr lang="en-US" altLang="zh-CN" sz="2000" dirty="0"/>
                  <a:t>Z if Y</a:t>
                </a:r>
                <a14:m>
                  <m:oMath xmlns:m="http://schemas.openxmlformats.org/officeDocument/2006/math">
                    <m:r>
                      <a:rPr lang="zh-CN" altLang="en-US" sz="2000" i="1">
                        <a:latin typeface="Cambria Math" panose="02040503050406030204" pitchFamily="18" charset="0"/>
                      </a:rPr>
                      <m:t>↠</m:t>
                    </m:r>
                  </m:oMath>
                </a14:m>
                <a:r>
                  <a:rPr lang="en-US" altLang="zh-CN" sz="2000" dirty="0"/>
                  <a:t>W </a:t>
                </a:r>
              </a:p>
              <a:p>
                <a:endParaRPr lang="zh-CN" altLang="en-US" sz="2000" dirty="0"/>
              </a:p>
            </p:txBody>
          </p:sp>
        </mc:Choice>
        <mc:Fallback xmlns="">
          <p:sp>
            <p:nvSpPr>
              <p:cNvPr id="3" name="内容占位符 2">
                <a:extLst>
                  <a:ext uri="{FF2B5EF4-FFF2-40B4-BE49-F238E27FC236}">
                    <a16:creationId xmlns:a16="http://schemas.microsoft.com/office/drawing/2014/main" id="{EA6D2BBF-9D3D-4695-BA01-93D86AAE893D}"/>
                  </a:ext>
                </a:extLst>
              </p:cNvPr>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3053723"/>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B94F17-93D1-455B-9DCF-D8C36CA75180}"/>
              </a:ext>
            </a:extLst>
          </p:cNvPr>
          <p:cNvSpPr>
            <a:spLocks noGrp="1"/>
          </p:cNvSpPr>
          <p:nvPr>
            <p:ph type="title"/>
          </p:nvPr>
        </p:nvSpPr>
        <p:spPr/>
        <p:txBody>
          <a:bodyPr/>
          <a:lstStyle/>
          <a:p>
            <a:pPr algn="ctr"/>
            <a:r>
              <a:rPr lang="en-US" altLang="zh-CN" dirty="0"/>
              <a:t>Example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E6162AE-CB32-4C7A-8E3B-1A5D24337E2C}"/>
                  </a:ext>
                </a:extLst>
              </p:cNvPr>
              <p:cNvSpPr>
                <a:spLocks noGrp="1"/>
              </p:cNvSpPr>
              <p:nvPr>
                <p:ph idx="1"/>
              </p:nvPr>
            </p:nvSpPr>
            <p:spPr>
              <a:xfrm>
                <a:off x="251520" y="627534"/>
                <a:ext cx="8712968" cy="3805070"/>
              </a:xfrm>
            </p:spPr>
            <p:txBody>
              <a:bodyPr/>
              <a:lstStyle/>
              <a:p>
                <a:r>
                  <a:rPr lang="en-US" altLang="zh-CN" sz="2000" dirty="0"/>
                  <a:t>In our example:</a:t>
                </a:r>
              </a:p>
              <a:p>
                <a:pPr lvl="1"/>
                <a:r>
                  <a:rPr lang="en-US" altLang="zh-CN" sz="1800" dirty="0"/>
                  <a:t>course</a:t>
                </a:r>
                <a:r>
                  <a:rPr lang="zh-CN" altLang="en-US" sz="1800" dirty="0"/>
                  <a:t> </a:t>
                </a:r>
                <a14:m>
                  <m:oMath xmlns:m="http://schemas.openxmlformats.org/officeDocument/2006/math">
                    <m:r>
                      <a:rPr lang="zh-CN" altLang="en-US" sz="1800" i="1">
                        <a:latin typeface="Cambria Math" panose="02040503050406030204" pitchFamily="18" charset="0"/>
                      </a:rPr>
                      <m:t>↠</m:t>
                    </m:r>
                  </m:oMath>
                </a14:m>
                <a:r>
                  <a:rPr lang="en-US" altLang="zh-CN" sz="1800" dirty="0"/>
                  <a:t> teacher	</a:t>
                </a:r>
              </a:p>
              <a:p>
                <a:pPr lvl="1"/>
                <a:r>
                  <a:rPr lang="en-US" altLang="zh-CN" sz="1800" dirty="0"/>
                  <a:t>course</a:t>
                </a:r>
                <a:r>
                  <a:rPr lang="zh-CN" altLang="en-US" sz="1800" dirty="0"/>
                  <a:t> </a:t>
                </a:r>
                <a14:m>
                  <m:oMath xmlns:m="http://schemas.openxmlformats.org/officeDocument/2006/math">
                    <m:r>
                      <a:rPr lang="zh-CN" altLang="en-US" sz="1800" i="1">
                        <a:latin typeface="Cambria Math" panose="02040503050406030204" pitchFamily="18" charset="0"/>
                      </a:rPr>
                      <m:t>↠</m:t>
                    </m:r>
                  </m:oMath>
                </a14:m>
                <a:r>
                  <a:rPr lang="en-US" altLang="zh-CN" sz="1800" dirty="0"/>
                  <a:t> book</a:t>
                </a:r>
              </a:p>
              <a:p>
                <a:r>
                  <a:rPr lang="en-US" altLang="zh-CN" sz="2000" dirty="0"/>
                  <a:t>The above formal definition is supposed to formalize the notion that given a particular value of Y (course) it has associated with it a set of values of Z (teacher) and a set of values of W (book), and these two sets are in some sense independent of each other</a:t>
                </a:r>
              </a:p>
              <a:p>
                <a:r>
                  <a:rPr lang="en-US" altLang="zh-CN" sz="2000" dirty="0"/>
                  <a:t>Note: </a:t>
                </a:r>
              </a:p>
              <a:p>
                <a:pPr lvl="1"/>
                <a:r>
                  <a:rPr lang="en-US" altLang="zh-CN" sz="1800" dirty="0"/>
                  <a:t>If Y</a:t>
                </a:r>
                <a14:m>
                  <m:oMath xmlns:m="http://schemas.openxmlformats.org/officeDocument/2006/math">
                    <m:r>
                      <a:rPr lang="zh-CN" altLang="en-US" sz="1800" i="1">
                        <a:latin typeface="Cambria Math" panose="02040503050406030204" pitchFamily="18" charset="0"/>
                      </a:rPr>
                      <m:t>→</m:t>
                    </m:r>
                  </m:oMath>
                </a14:m>
                <a:r>
                  <a:rPr lang="en-US" altLang="zh-CN" sz="1800" dirty="0"/>
                  <a:t> Z  then  Y </a:t>
                </a:r>
                <a14:m>
                  <m:oMath xmlns:m="http://schemas.openxmlformats.org/officeDocument/2006/math">
                    <m:r>
                      <a:rPr lang="zh-CN" altLang="en-US" sz="1800" i="1">
                        <a:latin typeface="Cambria Math" panose="02040503050406030204" pitchFamily="18" charset="0"/>
                      </a:rPr>
                      <m:t>↠ </m:t>
                    </m:r>
                  </m:oMath>
                </a14:m>
                <a:r>
                  <a:rPr lang="en-US" altLang="zh-CN" sz="1800" dirty="0"/>
                  <a:t> Z</a:t>
                </a:r>
              </a:p>
              <a:p>
                <a:pPr lvl="1"/>
                <a:r>
                  <a:rPr lang="en-US" altLang="zh-CN" sz="1800" dirty="0"/>
                  <a:t>Indeed we have (in above notation)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𝑧</m:t>
                        </m:r>
                      </m:e>
                      <m:sub>
                        <m:r>
                          <a:rPr lang="en-US" altLang="zh-CN" sz="1800" b="0" i="1" smtClean="0">
                            <a:latin typeface="Cambria Math" panose="02040503050406030204" pitchFamily="18" charset="0"/>
                          </a:rPr>
                          <m:t>1</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𝑧</m:t>
                        </m:r>
                      </m:e>
                      <m:sub>
                        <m:r>
                          <a:rPr lang="en-US" altLang="zh-CN" sz="1800" b="0" i="1" smtClean="0">
                            <a:latin typeface="Cambria Math" panose="02040503050406030204" pitchFamily="18" charset="0"/>
                          </a:rPr>
                          <m:t>2</m:t>
                        </m:r>
                      </m:sub>
                    </m:sSub>
                  </m:oMath>
                </a14:m>
                <a:br>
                  <a:rPr lang="en-US" altLang="zh-CN" sz="1800" dirty="0"/>
                </a:br>
                <a:r>
                  <a:rPr lang="en-US" altLang="zh-CN" sz="1800" dirty="0"/>
                  <a:t>The claim follows</a:t>
                </a:r>
              </a:p>
              <a:p>
                <a:endParaRPr lang="zh-CN" altLang="en-US" sz="2000" dirty="0"/>
              </a:p>
            </p:txBody>
          </p:sp>
        </mc:Choice>
        <mc:Fallback xmlns="">
          <p:sp>
            <p:nvSpPr>
              <p:cNvPr id="3" name="内容占位符 2">
                <a:extLst>
                  <a:ext uri="{FF2B5EF4-FFF2-40B4-BE49-F238E27FC236}">
                    <a16:creationId xmlns:a16="http://schemas.microsoft.com/office/drawing/2014/main" id="{4E6162AE-CB32-4C7A-8E3B-1A5D24337E2C}"/>
                  </a:ext>
                </a:extLst>
              </p:cNvPr>
              <p:cNvSpPr>
                <a:spLocks noGrp="1" noRot="1" noChangeAspect="1" noMove="1" noResize="1" noEditPoints="1" noAdjustHandles="1" noChangeArrowheads="1" noChangeShapeType="1" noTextEdit="1"/>
              </p:cNvSpPr>
              <p:nvPr>
                <p:ph idx="1"/>
              </p:nvPr>
            </p:nvSpPr>
            <p:spPr>
              <a:xfrm>
                <a:off x="251520" y="627534"/>
                <a:ext cx="8712968" cy="3805070"/>
              </a:xfrm>
              <a:blipFill>
                <a:blip r:embed="rId3"/>
                <a:stretch>
                  <a:fillRect l="-629" t="-801" r="-11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78560358"/>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AE8B26-C012-44C6-A5D1-2508527CDAAD}"/>
              </a:ext>
            </a:extLst>
          </p:cNvPr>
          <p:cNvSpPr>
            <a:spLocks noGrp="1"/>
          </p:cNvSpPr>
          <p:nvPr>
            <p:ph type="title"/>
          </p:nvPr>
        </p:nvSpPr>
        <p:spPr/>
        <p:txBody>
          <a:bodyPr/>
          <a:lstStyle/>
          <a:p>
            <a:pPr algn="ctr"/>
            <a:r>
              <a:rPr lang="en-US" altLang="zh-CN" dirty="0"/>
              <a:t>Use of Multivalued Dependencies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F387146-ADC7-4AD4-B182-E8DAF5E6F423}"/>
                  </a:ext>
                </a:extLst>
              </p:cNvPr>
              <p:cNvSpPr>
                <a:spLocks noGrp="1"/>
              </p:cNvSpPr>
              <p:nvPr>
                <p:ph idx="1"/>
              </p:nvPr>
            </p:nvSpPr>
            <p:spPr>
              <a:xfrm>
                <a:off x="179512" y="789553"/>
                <a:ext cx="8280920" cy="3805070"/>
              </a:xfrm>
            </p:spPr>
            <p:txBody>
              <a:bodyPr/>
              <a:lstStyle/>
              <a:p>
                <a:r>
                  <a:rPr lang="en-US" altLang="zh-CN" sz="2000" dirty="0"/>
                  <a:t>We use MVDs in two ways: </a:t>
                </a:r>
              </a:p>
              <a:p>
                <a:pPr lvl="1"/>
                <a:r>
                  <a:rPr lang="en-US" altLang="zh-CN" sz="1800" dirty="0"/>
                  <a:t>To test relations to determine whether they are legal under a given set of FDs and MVDs</a:t>
                </a:r>
              </a:p>
              <a:p>
                <a:pPr lvl="1"/>
                <a:r>
                  <a:rPr lang="en-US" altLang="zh-CN" sz="1800" dirty="0"/>
                  <a:t>To specify constraints on the set of legal relations.  We shall concern ourselves with relations that satisfy a given set of FDs and MVDs.</a:t>
                </a:r>
              </a:p>
              <a:p>
                <a:r>
                  <a:rPr lang="en-US" altLang="zh-CN" sz="2000" dirty="0"/>
                  <a:t>If a relation </a:t>
                </a:r>
                <a14:m>
                  <m:oMath xmlns:m="http://schemas.openxmlformats.org/officeDocument/2006/math">
                    <m:r>
                      <a:rPr lang="en-US" altLang="zh-CN" sz="2000" b="0" i="1" smtClean="0">
                        <a:latin typeface="Cambria Math" panose="02040503050406030204" pitchFamily="18" charset="0"/>
                      </a:rPr>
                      <m:t>𝑟</m:t>
                    </m:r>
                  </m:oMath>
                </a14:m>
                <a:r>
                  <a:rPr lang="en-US" altLang="zh-CN" sz="2000" dirty="0"/>
                  <a:t> fails to satisfy a given MVD, we can construct a relations </a:t>
                </a:r>
                <a14:m>
                  <m:oMath xmlns:m="http://schemas.openxmlformats.org/officeDocument/2006/math">
                    <m:sSup>
                      <m:sSupPr>
                        <m:ctrlPr>
                          <a:rPr lang="en-US" altLang="zh-CN" sz="2000" i="1" smtClean="0">
                            <a:latin typeface="Cambria Math" panose="02040503050406030204" pitchFamily="18" charset="0"/>
                          </a:rPr>
                        </m:ctrlPr>
                      </m:sSupPr>
                      <m:e>
                        <m:r>
                          <a:rPr lang="en-US" altLang="zh-CN" sz="2000" b="0" i="1" smtClean="0">
                            <a:latin typeface="Cambria Math" panose="02040503050406030204" pitchFamily="18" charset="0"/>
                          </a:rPr>
                          <m:t>𝑟</m:t>
                        </m:r>
                      </m:e>
                      <m:sup>
                        <m:r>
                          <a:rPr lang="en-US" altLang="zh-CN" sz="2000" b="0" i="1" smtClean="0">
                            <a:latin typeface="Cambria Math" panose="02040503050406030204" pitchFamily="18" charset="0"/>
                          </a:rPr>
                          <m:t>′</m:t>
                        </m:r>
                      </m:sup>
                    </m:sSup>
                  </m:oMath>
                </a14:m>
                <a:r>
                  <a:rPr lang="en-US" altLang="zh-CN" sz="2000" dirty="0"/>
                  <a:t> that does satisfy the MVD by adding tuples to </a:t>
                </a:r>
                <a14:m>
                  <m:oMath xmlns:m="http://schemas.openxmlformats.org/officeDocument/2006/math">
                    <m:r>
                      <a:rPr lang="en-US" altLang="zh-CN" sz="2000" b="0" i="1" smtClean="0">
                        <a:latin typeface="Cambria Math" panose="02040503050406030204" pitchFamily="18" charset="0"/>
                      </a:rPr>
                      <m:t>𝑟</m:t>
                    </m:r>
                  </m:oMath>
                </a14:m>
                <a:endParaRPr lang="en-US" altLang="zh-CN" sz="2000" dirty="0"/>
              </a:p>
              <a:p>
                <a:endParaRPr lang="zh-CN" altLang="en-US" sz="2000" dirty="0"/>
              </a:p>
            </p:txBody>
          </p:sp>
        </mc:Choice>
        <mc:Fallback xmlns="">
          <p:sp>
            <p:nvSpPr>
              <p:cNvPr id="3" name="内容占位符 2">
                <a:extLst>
                  <a:ext uri="{FF2B5EF4-FFF2-40B4-BE49-F238E27FC236}">
                    <a16:creationId xmlns:a16="http://schemas.microsoft.com/office/drawing/2014/main" id="{6F387146-ADC7-4AD4-B182-E8DAF5E6F423}"/>
                  </a:ext>
                </a:extLst>
              </p:cNvPr>
              <p:cNvSpPr>
                <a:spLocks noGrp="1" noRot="1" noChangeAspect="1" noMove="1" noResize="1" noEditPoints="1" noAdjustHandles="1" noChangeArrowheads="1" noChangeShapeType="1" noTextEdit="1"/>
              </p:cNvSpPr>
              <p:nvPr>
                <p:ph idx="1"/>
              </p:nvPr>
            </p:nvSpPr>
            <p:spPr>
              <a:xfrm>
                <a:off x="179512" y="789553"/>
                <a:ext cx="8280920" cy="3805070"/>
              </a:xfrm>
              <a:blipFill>
                <a:blip r:embed="rId3"/>
                <a:stretch>
                  <a:fillRect l="-662" t="-801" r="-12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49175951"/>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295A09-2AE3-4E74-9669-9E6E82372715}"/>
              </a:ext>
            </a:extLst>
          </p:cNvPr>
          <p:cNvSpPr>
            <a:spLocks noGrp="1"/>
          </p:cNvSpPr>
          <p:nvPr>
            <p:ph type="title"/>
          </p:nvPr>
        </p:nvSpPr>
        <p:spPr/>
        <p:txBody>
          <a:bodyPr/>
          <a:lstStyle/>
          <a:p>
            <a:pPr algn="ctr"/>
            <a:r>
              <a:rPr lang="en-US" altLang="zh-CN" dirty="0"/>
              <a:t>Theory of MVDs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AFB25B5-22DC-4732-8BFB-1AAD3FE515F2}"/>
                  </a:ext>
                </a:extLst>
              </p:cNvPr>
              <p:cNvSpPr>
                <a:spLocks noGrp="1"/>
              </p:cNvSpPr>
              <p:nvPr>
                <p:ph idx="1"/>
              </p:nvPr>
            </p:nvSpPr>
            <p:spPr>
              <a:xfrm>
                <a:off x="251520" y="771550"/>
                <a:ext cx="8712968" cy="3672408"/>
              </a:xfrm>
            </p:spPr>
            <p:txBody>
              <a:bodyPr/>
              <a:lstStyle/>
              <a:p>
                <a:r>
                  <a:rPr lang="en-US" altLang="zh-CN" sz="1800" dirty="0"/>
                  <a:t>From the definition of multivalued dependency, we can derive the following rule:</a:t>
                </a:r>
              </a:p>
              <a:p>
                <a:pPr lvl="1"/>
                <a:r>
                  <a:rPr lang="en-US" altLang="zh-CN" sz="1600" dirty="0"/>
                  <a:t>If </a:t>
                </a:r>
                <a14:m>
                  <m:oMath xmlns:m="http://schemas.openxmlformats.org/officeDocument/2006/math">
                    <m:r>
                      <a:rPr lang="zh-CN" altLang="en-US" sz="1600" i="1" smtClean="0">
                        <a:latin typeface="Cambria Math" panose="02040503050406030204" pitchFamily="18" charset="0"/>
                      </a:rPr>
                      <m:t>𝛼</m:t>
                    </m:r>
                    <m:r>
                      <a:rPr lang="zh-CN" altLang="en-US" sz="1600" i="1" smtClean="0">
                        <a:latin typeface="Cambria Math" panose="02040503050406030204" pitchFamily="18" charset="0"/>
                      </a:rPr>
                      <m:t>→</m:t>
                    </m:r>
                    <m:r>
                      <a:rPr lang="zh-CN" altLang="en-US" sz="1600" i="1" smtClean="0">
                        <a:latin typeface="Cambria Math" panose="02040503050406030204" pitchFamily="18" charset="0"/>
                      </a:rPr>
                      <m:t>𝛽</m:t>
                    </m:r>
                  </m:oMath>
                </a14:m>
                <a:r>
                  <a:rPr lang="en-US" altLang="zh-CN" sz="1600" dirty="0"/>
                  <a:t>, then </a:t>
                </a:r>
                <a14:m>
                  <m:oMath xmlns:m="http://schemas.openxmlformats.org/officeDocument/2006/math">
                    <m:r>
                      <a:rPr lang="zh-CN" altLang="en-US" sz="1600" i="1">
                        <a:latin typeface="Cambria Math" panose="02040503050406030204" pitchFamily="18" charset="0"/>
                      </a:rPr>
                      <m:t>𝛼</m:t>
                    </m:r>
                    <m:r>
                      <a:rPr lang="zh-CN" altLang="en-US" sz="1600" i="1">
                        <a:latin typeface="Cambria Math" panose="02040503050406030204" pitchFamily="18" charset="0"/>
                      </a:rPr>
                      <m:t>↠</m:t>
                    </m:r>
                    <m:r>
                      <a:rPr lang="zh-CN" altLang="en-US" sz="1600" i="1">
                        <a:latin typeface="Cambria Math" panose="02040503050406030204" pitchFamily="18" charset="0"/>
                      </a:rPr>
                      <m:t>𝛽</m:t>
                    </m:r>
                  </m:oMath>
                </a14:m>
                <a:r>
                  <a:rPr lang="en-US" altLang="zh-CN" sz="1600" dirty="0"/>
                  <a:t>; That is, every FD is also a MVD</a:t>
                </a:r>
              </a:p>
              <a:p>
                <a:r>
                  <a:rPr lang="en-US" altLang="zh-CN" sz="1800" dirty="0"/>
                  <a:t>The closure D</a:t>
                </a:r>
                <a:r>
                  <a:rPr lang="en-US" altLang="zh-CN" sz="1800" baseline="30000" dirty="0"/>
                  <a:t>+</a:t>
                </a:r>
                <a:r>
                  <a:rPr lang="en-US" altLang="zh-CN" sz="1800" dirty="0"/>
                  <a:t> of D is the set of all FDs and MVDs logically implied by D. </a:t>
                </a:r>
              </a:p>
              <a:p>
                <a:r>
                  <a:rPr lang="en-US" altLang="zh-CN" sz="1800" dirty="0"/>
                  <a:t>We can compute D</a:t>
                </a:r>
                <a:r>
                  <a:rPr lang="en-US" altLang="zh-CN" sz="1800" baseline="30000" dirty="0"/>
                  <a:t>+</a:t>
                </a:r>
                <a:r>
                  <a:rPr lang="en-US" altLang="zh-CN" sz="1800" dirty="0"/>
                  <a:t> from D, using the formal definitions of FDs and MVDs.</a:t>
                </a:r>
              </a:p>
              <a:p>
                <a:r>
                  <a:rPr lang="en-US" altLang="zh-CN" sz="1800" dirty="0"/>
                  <a:t>We can manage with such reasoning for very simple MVDs, which seem to be common in practice</a:t>
                </a:r>
              </a:p>
              <a:p>
                <a:r>
                  <a:rPr lang="en-US" altLang="zh-CN" sz="1800" dirty="0"/>
                  <a:t>For complex MVDs, it is better to reason about sets of dependencies using a system of inference rules</a:t>
                </a:r>
              </a:p>
            </p:txBody>
          </p:sp>
        </mc:Choice>
        <mc:Fallback xmlns="">
          <p:sp>
            <p:nvSpPr>
              <p:cNvPr id="3" name="内容占位符 2">
                <a:extLst>
                  <a:ext uri="{FF2B5EF4-FFF2-40B4-BE49-F238E27FC236}">
                    <a16:creationId xmlns:a16="http://schemas.microsoft.com/office/drawing/2014/main" id="{FAFB25B5-22DC-4732-8BFB-1AAD3FE515F2}"/>
                  </a:ext>
                </a:extLst>
              </p:cNvPr>
              <p:cNvSpPr>
                <a:spLocks noGrp="1" noRot="1" noChangeAspect="1" noMove="1" noResize="1" noEditPoints="1" noAdjustHandles="1" noChangeArrowheads="1" noChangeShapeType="1" noTextEdit="1"/>
              </p:cNvSpPr>
              <p:nvPr>
                <p:ph idx="1"/>
              </p:nvPr>
            </p:nvSpPr>
            <p:spPr>
              <a:xfrm>
                <a:off x="251520" y="771550"/>
                <a:ext cx="8712968" cy="3672408"/>
              </a:xfrm>
              <a:blipFill>
                <a:blip r:embed="rId2"/>
                <a:stretch>
                  <a:fillRect l="-420" t="-9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09236613"/>
      </p:ext>
    </p:extLst>
  </p:cSld>
  <p:clrMapOvr>
    <a:masterClrMapping/>
  </p:clrMapOvr>
  <p:transition>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206C09-91BA-4F9E-B613-25BBA8A2FBD8}"/>
              </a:ext>
            </a:extLst>
          </p:cNvPr>
          <p:cNvSpPr>
            <a:spLocks noGrp="1"/>
          </p:cNvSpPr>
          <p:nvPr>
            <p:ph type="title"/>
          </p:nvPr>
        </p:nvSpPr>
        <p:spPr/>
        <p:txBody>
          <a:bodyPr/>
          <a:lstStyle/>
          <a:p>
            <a:pPr algn="ctr"/>
            <a:r>
              <a:rPr lang="en-US" altLang="zh-CN" dirty="0"/>
              <a:t>Fourth Normal Form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F348ADF-C7AC-4178-8AB6-563FE84F239A}"/>
                  </a:ext>
                </a:extLst>
              </p:cNvPr>
              <p:cNvSpPr>
                <a:spLocks noGrp="1"/>
              </p:cNvSpPr>
              <p:nvPr>
                <p:ph idx="1"/>
              </p:nvPr>
            </p:nvSpPr>
            <p:spPr/>
            <p:txBody>
              <a:bodyPr/>
              <a:lstStyle/>
              <a:p>
                <a:pPr>
                  <a:spcBef>
                    <a:spcPts val="1200"/>
                  </a:spcBef>
                </a:pPr>
                <a:r>
                  <a:rPr lang="en-US" altLang="zh-CN" sz="2000" dirty="0"/>
                  <a:t>A relation schema R is in 4NF </a:t>
                </a:r>
                <a:r>
                  <a:rPr lang="en-US" altLang="zh-CN" sz="2000" dirty="0" err="1"/>
                  <a:t>w.r.t.</a:t>
                </a:r>
                <a:r>
                  <a:rPr lang="en-US" altLang="zh-CN" sz="2000" dirty="0"/>
                  <a:t> a set D of FDs and MVDs if for all MVDs in D</a:t>
                </a:r>
                <a:r>
                  <a:rPr lang="en-US" altLang="zh-CN" sz="2000" baseline="30000" dirty="0"/>
                  <a:t>+</a:t>
                </a:r>
                <a:r>
                  <a:rPr lang="en-US" altLang="zh-CN" sz="2000" dirty="0"/>
                  <a:t> of the form </a:t>
                </a:r>
                <a14:m>
                  <m:oMath xmlns:m="http://schemas.openxmlformats.org/officeDocument/2006/math">
                    <m:r>
                      <m:rPr>
                        <m:sty m:val="p"/>
                      </m:rPr>
                      <a:rPr lang="el-GR" altLang="zh-CN" sz="2000" i="1" smtClean="0">
                        <a:latin typeface="Cambria Math" panose="02040503050406030204" pitchFamily="18" charset="0"/>
                        <a:ea typeface="Cambria Math" panose="02040503050406030204" pitchFamily="18" charset="0"/>
                      </a:rPr>
                      <m:t>α</m:t>
                    </m:r>
                    <m:r>
                      <a:rPr lang="zh-CN" altLang="en-US" sz="2000" i="1">
                        <a:latin typeface="Cambria Math" panose="02040503050406030204" pitchFamily="18" charset="0"/>
                      </a:rPr>
                      <m:t>↠</m:t>
                    </m:r>
                    <m:r>
                      <a:rPr lang="zh-CN" altLang="en-US" sz="2000" i="1" smtClean="0">
                        <a:latin typeface="Cambria Math" panose="02040503050406030204" pitchFamily="18" charset="0"/>
                      </a:rPr>
                      <m:t>𝛽</m:t>
                    </m:r>
                  </m:oMath>
                </a14:m>
                <a:r>
                  <a:rPr lang="en-US" altLang="zh-CN" sz="2000" dirty="0"/>
                  <a:t>, where </a:t>
                </a:r>
                <a14:m>
                  <m:oMath xmlns:m="http://schemas.openxmlformats.org/officeDocument/2006/math">
                    <m:r>
                      <a:rPr lang="zh-CN" altLang="en-US" sz="2000" i="1" smtClean="0">
                        <a:latin typeface="Cambria Math" panose="02040503050406030204" pitchFamily="18" charset="0"/>
                      </a:rPr>
                      <m:t>𝛼</m:t>
                    </m:r>
                    <m:r>
                      <a:rPr lang="zh-CN" altLang="en-US" sz="2000" i="1" smtClean="0">
                        <a:latin typeface="Cambria Math" panose="02040503050406030204" pitchFamily="18" charset="0"/>
                      </a:rPr>
                      <m:t>⊆</m:t>
                    </m:r>
                    <m:r>
                      <a:rPr lang="en-US" altLang="zh-CN" sz="2000" b="0" i="1" smtClean="0">
                        <a:latin typeface="Cambria Math" panose="02040503050406030204" pitchFamily="18" charset="0"/>
                      </a:rPr>
                      <m:t>𝑅</m:t>
                    </m:r>
                  </m:oMath>
                </a14:m>
                <a:r>
                  <a:rPr lang="en-US" altLang="zh-CN" sz="2000" dirty="0"/>
                  <a:t> and </a:t>
                </a:r>
                <a14:m>
                  <m:oMath xmlns:m="http://schemas.openxmlformats.org/officeDocument/2006/math">
                    <m:r>
                      <a:rPr lang="zh-CN" altLang="en-US" sz="2000" i="1" smtClean="0">
                        <a:latin typeface="Cambria Math" panose="02040503050406030204" pitchFamily="18" charset="0"/>
                      </a:rPr>
                      <m:t>𝛽</m:t>
                    </m:r>
                    <m:r>
                      <a:rPr lang="zh-CN" altLang="en-US" sz="2000" i="1">
                        <a:latin typeface="Cambria Math" panose="02040503050406030204" pitchFamily="18" charset="0"/>
                      </a:rPr>
                      <m:t>⊆</m:t>
                    </m:r>
                    <m:r>
                      <a:rPr lang="en-US" altLang="zh-CN" sz="2000" i="1">
                        <a:latin typeface="Cambria Math" panose="02040503050406030204" pitchFamily="18" charset="0"/>
                      </a:rPr>
                      <m:t>𝑅</m:t>
                    </m:r>
                  </m:oMath>
                </a14:m>
                <a:r>
                  <a:rPr lang="en-US" altLang="zh-CN" sz="2000" dirty="0"/>
                  <a:t>, at least one of the following hold:</a:t>
                </a:r>
              </a:p>
              <a:p>
                <a:pPr lvl="1">
                  <a:spcBef>
                    <a:spcPts val="1200"/>
                  </a:spcBef>
                </a:pPr>
                <a14:m>
                  <m:oMath xmlns:m="http://schemas.openxmlformats.org/officeDocument/2006/math">
                    <m:r>
                      <m:rPr>
                        <m:sty m:val="p"/>
                      </m:rPr>
                      <a:rPr lang="el-GR" altLang="zh-CN" sz="1800" i="1">
                        <a:latin typeface="Cambria Math" panose="02040503050406030204" pitchFamily="18" charset="0"/>
                        <a:ea typeface="Cambria Math" panose="02040503050406030204" pitchFamily="18" charset="0"/>
                      </a:rPr>
                      <m:t>α</m:t>
                    </m:r>
                    <m:r>
                      <a:rPr lang="zh-CN" altLang="en-US" sz="1800" i="1">
                        <a:latin typeface="Cambria Math" panose="02040503050406030204" pitchFamily="18" charset="0"/>
                      </a:rPr>
                      <m:t>↠</m:t>
                    </m:r>
                    <m:r>
                      <a:rPr lang="zh-CN" altLang="en-US" sz="1800" i="1">
                        <a:latin typeface="Cambria Math" panose="02040503050406030204" pitchFamily="18" charset="0"/>
                      </a:rPr>
                      <m:t>𝛽</m:t>
                    </m:r>
                  </m:oMath>
                </a14:m>
                <a:r>
                  <a:rPr lang="en-US" altLang="zh-CN" sz="1800" dirty="0"/>
                  <a:t> is trivial (i.e., </a:t>
                </a:r>
                <a14:m>
                  <m:oMath xmlns:m="http://schemas.openxmlformats.org/officeDocument/2006/math">
                    <m:r>
                      <a:rPr lang="zh-CN" altLang="en-US" sz="1800" i="1">
                        <a:latin typeface="Cambria Math" panose="02040503050406030204" pitchFamily="18" charset="0"/>
                      </a:rPr>
                      <m:t>𝛽</m:t>
                    </m:r>
                    <m:r>
                      <a:rPr lang="zh-CN" altLang="en-US" sz="1800" i="1">
                        <a:latin typeface="Cambria Math" panose="02040503050406030204" pitchFamily="18" charset="0"/>
                      </a:rPr>
                      <m:t>⊆</m:t>
                    </m:r>
                    <m:r>
                      <a:rPr lang="zh-CN" altLang="en-US" sz="1800" i="1" smtClean="0">
                        <a:latin typeface="Cambria Math" panose="02040503050406030204" pitchFamily="18" charset="0"/>
                      </a:rPr>
                      <m:t>𝛼</m:t>
                    </m:r>
                  </m:oMath>
                </a14:m>
                <a:r>
                  <a:rPr lang="en-US" altLang="zh-CN" sz="1800" dirty="0"/>
                  <a:t> or </a:t>
                </a:r>
                <a14:m>
                  <m:oMath xmlns:m="http://schemas.openxmlformats.org/officeDocument/2006/math">
                    <m:r>
                      <m:rPr>
                        <m:sty m:val="p"/>
                      </m:rPr>
                      <a:rPr lang="el-GR" altLang="zh-CN" sz="1800" i="1">
                        <a:latin typeface="Cambria Math" panose="02040503050406030204" pitchFamily="18" charset="0"/>
                        <a:ea typeface="Cambria Math" panose="02040503050406030204" pitchFamily="18" charset="0"/>
                      </a:rPr>
                      <m:t>α</m:t>
                    </m:r>
                    <m:r>
                      <a:rPr lang="zh-CN" altLang="en-US" sz="1800" i="1">
                        <a:latin typeface="Cambria Math" panose="02040503050406030204" pitchFamily="18" charset="0"/>
                        <a:ea typeface="Cambria Math" panose="02040503050406030204" pitchFamily="18" charset="0"/>
                      </a:rPr>
                      <m:t>∪</m:t>
                    </m:r>
                    <m:r>
                      <a:rPr lang="zh-CN" altLang="en-US" sz="1800" i="1">
                        <a:latin typeface="Cambria Math" panose="02040503050406030204" pitchFamily="18" charset="0"/>
                      </a:rPr>
                      <m:t>𝛽</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𝑅</m:t>
                    </m:r>
                  </m:oMath>
                </a14:m>
                <a:r>
                  <a:rPr lang="en-US" altLang="zh-CN" sz="1800" dirty="0"/>
                  <a:t>)</a:t>
                </a:r>
              </a:p>
              <a:p>
                <a:pPr lvl="1">
                  <a:spcBef>
                    <a:spcPts val="1200"/>
                  </a:spcBef>
                </a:pPr>
                <a14:m>
                  <m:oMath xmlns:m="http://schemas.openxmlformats.org/officeDocument/2006/math">
                    <m:r>
                      <a:rPr lang="zh-CN" altLang="en-US" sz="1800" i="1">
                        <a:latin typeface="Cambria Math" panose="02040503050406030204" pitchFamily="18" charset="0"/>
                        <a:ea typeface="Cambria Math" panose="02040503050406030204" pitchFamily="18" charset="0"/>
                      </a:rPr>
                      <m:t>𝛼</m:t>
                    </m:r>
                  </m:oMath>
                </a14:m>
                <a:r>
                  <a:rPr lang="en-US" altLang="zh-CN" sz="1800" i="1" dirty="0">
                    <a:latin typeface="Cambria Math" panose="02040503050406030204" pitchFamily="18" charset="0"/>
                    <a:ea typeface="Cambria Math" panose="02040503050406030204" pitchFamily="18" charset="0"/>
                  </a:rPr>
                  <a:t> is a </a:t>
                </a:r>
                <a:r>
                  <a:rPr lang="en-US" altLang="zh-CN" sz="1800" i="1" dirty="0" err="1">
                    <a:latin typeface="Cambria Math" panose="02040503050406030204" pitchFamily="18" charset="0"/>
                    <a:ea typeface="Cambria Math" panose="02040503050406030204" pitchFamily="18" charset="0"/>
                  </a:rPr>
                  <a:t>superkey</a:t>
                </a:r>
                <a:r>
                  <a:rPr lang="en-US" altLang="zh-CN" sz="1800" i="1" dirty="0">
                    <a:latin typeface="Cambria Math" panose="02040503050406030204" pitchFamily="18" charset="0"/>
                    <a:ea typeface="Cambria Math" panose="02040503050406030204" pitchFamily="18" charset="0"/>
                  </a:rPr>
                  <a:t> for schema R</a:t>
                </a:r>
              </a:p>
              <a:p>
                <a:pPr>
                  <a:spcBef>
                    <a:spcPts val="1200"/>
                  </a:spcBef>
                </a:pPr>
                <a:r>
                  <a:rPr lang="en-US" altLang="zh-CN" sz="2000" dirty="0"/>
                  <a:t>If a relation is in 4NF it is in BCNF</a:t>
                </a:r>
              </a:p>
              <a:p>
                <a:pPr>
                  <a:spcBef>
                    <a:spcPts val="1200"/>
                  </a:spcBef>
                </a:pPr>
                <a:endParaRPr lang="zh-CN" altLang="en-US" sz="2000" dirty="0"/>
              </a:p>
            </p:txBody>
          </p:sp>
        </mc:Choice>
        <mc:Fallback xmlns="">
          <p:sp>
            <p:nvSpPr>
              <p:cNvPr id="3" name="内容占位符 2">
                <a:extLst>
                  <a:ext uri="{FF2B5EF4-FFF2-40B4-BE49-F238E27FC236}">
                    <a16:creationId xmlns:a16="http://schemas.microsoft.com/office/drawing/2014/main" id="{9F348ADF-C7AC-4178-8AB6-563FE84F239A}"/>
                  </a:ext>
                </a:extLst>
              </p:cNvPr>
              <p:cNvSpPr>
                <a:spLocks noGrp="1" noRot="1" noChangeAspect="1" noMove="1" noResize="1" noEditPoints="1" noAdjustHandles="1" noChangeArrowheads="1" noChangeShapeType="1" noTextEdit="1"/>
              </p:cNvSpPr>
              <p:nvPr>
                <p:ph idx="1"/>
              </p:nvPr>
            </p:nvSpPr>
            <p:spPr>
              <a:blipFill>
                <a:blip r:embed="rId3"/>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87436361"/>
      </p:ext>
    </p:extLst>
  </p:cSld>
  <p:clrMapOvr>
    <a:masterClrMapping/>
  </p:clrMapOvr>
  <p:transition>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4B598D-C044-4B37-8E2B-F9571F787EDB}"/>
              </a:ext>
            </a:extLst>
          </p:cNvPr>
          <p:cNvSpPr>
            <a:spLocks noGrp="1"/>
          </p:cNvSpPr>
          <p:nvPr>
            <p:ph type="title"/>
          </p:nvPr>
        </p:nvSpPr>
        <p:spPr/>
        <p:txBody>
          <a:bodyPr/>
          <a:lstStyle/>
          <a:p>
            <a:pPr algn="ctr"/>
            <a:r>
              <a:rPr lang="en-US" altLang="zh-CN" dirty="0"/>
              <a:t>Restriction of Multivalued Dependencies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27DC8AF-5B27-4D20-8009-2774581136B7}"/>
                  </a:ext>
                </a:extLst>
              </p:cNvPr>
              <p:cNvSpPr>
                <a:spLocks noGrp="1"/>
              </p:cNvSpPr>
              <p:nvPr>
                <p:ph idx="1"/>
              </p:nvPr>
            </p:nvSpPr>
            <p:spPr/>
            <p:txBody>
              <a:bodyPr/>
              <a:lstStyle/>
              <a:p>
                <a:r>
                  <a:rPr lang="en-US" altLang="zh-CN" sz="2000" dirty="0"/>
                  <a:t>The restriction of  D to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𝑖</m:t>
                        </m:r>
                      </m:sub>
                    </m:sSub>
                  </m:oMath>
                </a14:m>
                <a:r>
                  <a:rPr lang="en-US" altLang="zh-CN" sz="2000" dirty="0"/>
                  <a:t> is the set </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𝐷</m:t>
                        </m:r>
                      </m:e>
                      <m:sub>
                        <m:r>
                          <a:rPr lang="en-US" altLang="zh-CN" sz="2000" b="0" i="1" smtClean="0">
                            <a:latin typeface="Cambria Math" panose="02040503050406030204" pitchFamily="18" charset="0"/>
                          </a:rPr>
                          <m:t>𝑖</m:t>
                        </m:r>
                      </m:sub>
                    </m:sSub>
                  </m:oMath>
                </a14:m>
                <a:r>
                  <a:rPr lang="en-US" altLang="zh-CN" sz="2000" dirty="0"/>
                  <a:t> consisting of</a:t>
                </a:r>
              </a:p>
              <a:p>
                <a:pPr lvl="1"/>
                <a:r>
                  <a:rPr lang="en-US" altLang="zh-CN" sz="1800" dirty="0"/>
                  <a:t>All FDs in D</a:t>
                </a:r>
                <a:r>
                  <a:rPr lang="en-US" altLang="zh-CN" sz="1800" baseline="30000" dirty="0"/>
                  <a:t>+</a:t>
                </a:r>
                <a:r>
                  <a:rPr lang="en-US" altLang="zh-CN" sz="1800" dirty="0"/>
                  <a:t> that include only attributes of Ri</a:t>
                </a:r>
              </a:p>
              <a:p>
                <a:pPr lvl="1"/>
                <a:r>
                  <a:rPr lang="en-US" altLang="zh-CN" sz="1800" dirty="0"/>
                  <a:t>All MVDs of the form</a:t>
                </a:r>
              </a:p>
              <a:p>
                <a:pPr marL="0" indent="0">
                  <a:buNone/>
                </a:pPr>
                <a:r>
                  <a:rPr lang="en-US" altLang="zh-CN" sz="2000" dirty="0">
                    <a:ea typeface="Cambria Math" panose="02040503050406030204" pitchFamily="18" charset="0"/>
                  </a:rPr>
                  <a:t>	</a:t>
                </a:r>
                <a14:m>
                  <m:oMath xmlns:m="http://schemas.openxmlformats.org/officeDocument/2006/math">
                    <m:r>
                      <m:rPr>
                        <m:sty m:val="p"/>
                      </m:rPr>
                      <a:rPr lang="el-GR" altLang="zh-CN" sz="2000" i="1">
                        <a:latin typeface="Cambria Math" panose="02040503050406030204" pitchFamily="18" charset="0"/>
                        <a:ea typeface="Cambria Math" panose="02040503050406030204" pitchFamily="18" charset="0"/>
                      </a:rPr>
                      <m:t>α</m:t>
                    </m:r>
                    <m:r>
                      <a:rPr lang="zh-CN" altLang="en-US" sz="2000" i="1">
                        <a:latin typeface="Cambria Math" panose="02040503050406030204" pitchFamily="18" charset="0"/>
                      </a:rPr>
                      <m:t>↠</m:t>
                    </m:r>
                    <m:r>
                      <a:rPr lang="zh-CN" altLang="en-US" sz="2000" i="1">
                        <a:latin typeface="Cambria Math" panose="02040503050406030204" pitchFamily="18" charset="0"/>
                      </a:rPr>
                      <m:t>𝛽</m:t>
                    </m:r>
                  </m:oMath>
                </a14:m>
                <a:r>
                  <a:rPr lang="en-US" altLang="zh-CN" sz="2000" dirty="0"/>
                  <a:t>(</a:t>
                </a:r>
                <a14:m>
                  <m:oMath xmlns:m="http://schemas.openxmlformats.org/officeDocument/2006/math">
                    <m:r>
                      <a:rPr lang="zh-CN" altLang="en-US" sz="2000" i="1" dirty="0" smtClean="0">
                        <a:latin typeface="Cambria Math" panose="02040503050406030204" pitchFamily="18" charset="0"/>
                      </a:rPr>
                      <m:t>𝛽</m:t>
                    </m:r>
                    <m:r>
                      <a:rPr lang="zh-CN" altLang="en-US" sz="2000" i="1" dirty="0" smtClean="0">
                        <a:latin typeface="Cambria Math" panose="02040503050406030204" pitchFamily="18" charset="0"/>
                      </a:rPr>
                      <m:t>∩</m:t>
                    </m:r>
                    <m:sSub>
                      <m:sSubPr>
                        <m:ctrlPr>
                          <a:rPr lang="en-US" altLang="zh-CN" sz="2000" i="1" dirty="0" smtClean="0">
                            <a:latin typeface="Cambria Math" panose="02040503050406030204" pitchFamily="18" charset="0"/>
                          </a:rPr>
                        </m:ctrlPr>
                      </m:sSubPr>
                      <m:e>
                        <m:r>
                          <a:rPr lang="en-US" altLang="zh-CN" sz="2000" b="0" i="1" dirty="0" smtClean="0">
                            <a:latin typeface="Cambria Math" panose="02040503050406030204" pitchFamily="18" charset="0"/>
                          </a:rPr>
                          <m:t>𝑅</m:t>
                        </m:r>
                      </m:e>
                      <m:sub>
                        <m:r>
                          <a:rPr lang="en-US" altLang="zh-CN" sz="2000" b="0" i="1" dirty="0" smtClean="0">
                            <a:latin typeface="Cambria Math" panose="02040503050406030204" pitchFamily="18" charset="0"/>
                          </a:rPr>
                          <m:t>𝑖</m:t>
                        </m:r>
                      </m:sub>
                    </m:sSub>
                  </m:oMath>
                </a14:m>
                <a:r>
                  <a:rPr lang="en-US" altLang="zh-CN" sz="2000" dirty="0"/>
                  <a:t>)</a:t>
                </a:r>
              </a:p>
              <a:p>
                <a:pPr marL="457200" lvl="1" indent="0">
                  <a:buNone/>
                </a:pPr>
                <a:r>
                  <a:rPr lang="en-US" altLang="zh-CN" sz="1800" dirty="0"/>
                  <a:t>where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𝑖</m:t>
                        </m:r>
                      </m:sub>
                    </m:sSub>
                  </m:oMath>
                </a14:m>
                <a:r>
                  <a:rPr lang="en-US" altLang="zh-CN" sz="1800" dirty="0"/>
                  <a:t> and </a:t>
                </a:r>
                <a14:m>
                  <m:oMath xmlns:m="http://schemas.openxmlformats.org/officeDocument/2006/math">
                    <m:r>
                      <m:rPr>
                        <m:sty m:val="p"/>
                      </m:rPr>
                      <a:rPr lang="el-GR" altLang="zh-CN" sz="1800" i="1">
                        <a:latin typeface="Cambria Math" panose="02040503050406030204" pitchFamily="18" charset="0"/>
                        <a:ea typeface="Cambria Math" panose="02040503050406030204" pitchFamily="18" charset="0"/>
                      </a:rPr>
                      <m:t>α</m:t>
                    </m:r>
                    <m:r>
                      <a:rPr lang="zh-CN" altLang="en-US" sz="1800" i="1">
                        <a:latin typeface="Cambria Math" panose="02040503050406030204" pitchFamily="18" charset="0"/>
                      </a:rPr>
                      <m:t>↠</m:t>
                    </m:r>
                    <m:r>
                      <a:rPr lang="zh-CN" altLang="en-US" sz="1800" i="1">
                        <a:latin typeface="Cambria Math" panose="02040503050406030204" pitchFamily="18" charset="0"/>
                      </a:rPr>
                      <m:t>𝛽</m:t>
                    </m:r>
                  </m:oMath>
                </a14:m>
                <a:r>
                  <a:rPr lang="en-US" altLang="zh-CN" sz="1800" dirty="0"/>
                  <a:t> is in D</a:t>
                </a:r>
                <a:r>
                  <a:rPr lang="en-US" altLang="zh-CN" sz="1800" baseline="30000" dirty="0"/>
                  <a:t>+</a:t>
                </a:r>
                <a:r>
                  <a:rPr lang="en-US" altLang="zh-CN" sz="1800" dirty="0"/>
                  <a:t> </a:t>
                </a:r>
              </a:p>
              <a:p>
                <a:endParaRPr lang="zh-CN" altLang="en-US" sz="2000" dirty="0"/>
              </a:p>
            </p:txBody>
          </p:sp>
        </mc:Choice>
        <mc:Fallback xmlns="">
          <p:sp>
            <p:nvSpPr>
              <p:cNvPr id="3" name="内容占位符 2">
                <a:extLst>
                  <a:ext uri="{FF2B5EF4-FFF2-40B4-BE49-F238E27FC236}">
                    <a16:creationId xmlns:a16="http://schemas.microsoft.com/office/drawing/2014/main" id="{D27DC8AF-5B27-4D20-8009-2774581136B7}"/>
                  </a:ext>
                </a:extLst>
              </p:cNvPr>
              <p:cNvSpPr>
                <a:spLocks noGrp="1" noRot="1" noChangeAspect="1" noMove="1" noResize="1" noEditPoints="1" noAdjustHandles="1" noChangeArrowheads="1" noChangeShapeType="1" noTextEdit="1"/>
              </p:cNvSpPr>
              <p:nvPr>
                <p:ph idx="1"/>
              </p:nvPr>
            </p:nvSpPr>
            <p:spPr>
              <a:blipFill>
                <a:blip r:embed="rId3"/>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6634707"/>
      </p:ext>
    </p:extLst>
  </p:cSld>
  <p:clrMapOvr>
    <a:masterClrMapping/>
  </p:clrMapOvr>
  <p:transition>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D5FBEC-D734-4005-A4CE-9B36A4867815}"/>
              </a:ext>
            </a:extLst>
          </p:cNvPr>
          <p:cNvSpPr>
            <a:spLocks noGrp="1"/>
          </p:cNvSpPr>
          <p:nvPr>
            <p:ph type="title"/>
          </p:nvPr>
        </p:nvSpPr>
        <p:spPr/>
        <p:txBody>
          <a:bodyPr/>
          <a:lstStyle/>
          <a:p>
            <a:pPr algn="ctr"/>
            <a:r>
              <a:rPr lang="en-US" altLang="zh-CN" dirty="0"/>
              <a:t>4NF Decomposition Algorithm</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C5F4590-BA89-428F-9D05-6536E4DBA04A}"/>
                  </a:ext>
                </a:extLst>
              </p:cNvPr>
              <p:cNvSpPr>
                <a:spLocks noGrp="1"/>
              </p:cNvSpPr>
              <p:nvPr>
                <p:ph idx="1"/>
              </p:nvPr>
            </p:nvSpPr>
            <p:spPr>
              <a:xfrm>
                <a:off x="539552" y="710896"/>
                <a:ext cx="8280920" cy="3805070"/>
              </a:xfrm>
            </p:spPr>
            <p:txBody>
              <a:bodyPr/>
              <a:lstStyle/>
              <a:p>
                <a:pPr marL="0" indent="0">
                  <a:buNone/>
                </a:pPr>
                <a:r>
                  <a:rPr lang="en-US" altLang="zh-CN" sz="1800" dirty="0"/>
                  <a:t>result: = {R};</a:t>
                </a:r>
                <a:br>
                  <a:rPr lang="en-US" altLang="zh-CN" sz="1800" dirty="0"/>
                </a:br>
                <a:r>
                  <a:rPr lang="en-US" altLang="zh-CN" sz="1800" dirty="0"/>
                  <a:t>done := false;</a:t>
                </a:r>
                <a:br>
                  <a:rPr lang="en-US" altLang="zh-CN" sz="1800" dirty="0"/>
                </a:br>
                <a:r>
                  <a:rPr lang="en-US" altLang="zh-CN" sz="1800" dirty="0"/>
                  <a:t>compute D+;</a:t>
                </a:r>
                <a:br>
                  <a:rPr lang="en-US" altLang="zh-CN" sz="1800" dirty="0"/>
                </a:br>
                <a:r>
                  <a:rPr lang="en-US" altLang="zh-CN" sz="1800" dirty="0"/>
                  <a:t>Let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𝑖</m:t>
                        </m:r>
                      </m:sub>
                    </m:sSub>
                  </m:oMath>
                </a14:m>
                <a:r>
                  <a:rPr lang="en-US" altLang="zh-CN" sz="1800" dirty="0"/>
                  <a:t> denote the restriction of D</a:t>
                </a:r>
                <a:r>
                  <a:rPr lang="en-US" altLang="zh-CN" sz="1800" baseline="30000" dirty="0"/>
                  <a:t>+</a:t>
                </a:r>
                <a:r>
                  <a:rPr lang="en-US" altLang="zh-CN" sz="1800" dirty="0"/>
                  <a:t> to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𝑅</m:t>
                        </m:r>
                      </m:e>
                      <m:sub>
                        <m:r>
                          <a:rPr lang="en-US" altLang="zh-CN" sz="1800" b="0" i="1" smtClean="0">
                            <a:latin typeface="Cambria Math" panose="02040503050406030204" pitchFamily="18" charset="0"/>
                          </a:rPr>
                          <m:t>𝑖</m:t>
                        </m:r>
                      </m:sub>
                    </m:sSub>
                  </m:oMath>
                </a14:m>
                <a:endParaRPr lang="en-US" altLang="zh-CN" sz="1800" dirty="0"/>
              </a:p>
              <a:p>
                <a:pPr marL="0" indent="0">
                  <a:buNone/>
                </a:pPr>
                <a:r>
                  <a:rPr lang="en-US" altLang="zh-CN" sz="1800" dirty="0">
                    <a:solidFill>
                      <a:srgbClr val="C00000"/>
                    </a:solidFill>
                  </a:rPr>
                  <a:t>while</a:t>
                </a:r>
                <a:r>
                  <a:rPr lang="en-US" altLang="zh-CN" sz="1800" dirty="0"/>
                  <a:t> (</a:t>
                </a:r>
                <a:r>
                  <a:rPr lang="en-US" altLang="zh-CN" sz="1800" dirty="0">
                    <a:solidFill>
                      <a:srgbClr val="C00000"/>
                    </a:solidFill>
                  </a:rPr>
                  <a:t>not</a:t>
                </a:r>
                <a:r>
                  <a:rPr lang="en-US" altLang="zh-CN" sz="1800" dirty="0"/>
                  <a:t> done) </a:t>
                </a:r>
                <a:br>
                  <a:rPr lang="en-US" altLang="zh-CN" sz="1800" dirty="0"/>
                </a:br>
                <a:r>
                  <a:rPr lang="en-US" altLang="zh-CN" sz="1800" dirty="0"/>
                  <a:t>    </a:t>
                </a:r>
                <a:r>
                  <a:rPr lang="en-US" altLang="zh-CN" sz="1800" dirty="0">
                    <a:solidFill>
                      <a:srgbClr val="C00000"/>
                    </a:solidFill>
                  </a:rPr>
                  <a:t>if</a:t>
                </a:r>
                <a:r>
                  <a:rPr lang="en-US" altLang="zh-CN" sz="1800" dirty="0"/>
                  <a:t> (there is a schema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in result that is not in 4NF) </a:t>
                </a:r>
                <a:r>
                  <a:rPr lang="en-US" altLang="zh-CN" sz="1800" dirty="0">
                    <a:solidFill>
                      <a:srgbClr val="C00000"/>
                    </a:solidFill>
                  </a:rPr>
                  <a:t>then</a:t>
                </a:r>
                <a:br>
                  <a:rPr lang="en-US" altLang="zh-CN" sz="1800" dirty="0"/>
                </a:br>
                <a:r>
                  <a:rPr lang="en-US" altLang="zh-CN" sz="1800" dirty="0"/>
                  <a:t>       </a:t>
                </a:r>
                <a:r>
                  <a:rPr lang="en-US" altLang="zh-CN" sz="1800" dirty="0">
                    <a:solidFill>
                      <a:srgbClr val="C00000"/>
                    </a:solidFill>
                  </a:rPr>
                  <a:t>begin</a:t>
                </a:r>
              </a:p>
              <a:p>
                <a:pPr marL="0" indent="0">
                  <a:buNone/>
                </a:pPr>
                <a:r>
                  <a:rPr lang="en-US" altLang="zh-CN" sz="1800" dirty="0"/>
                  <a:t>	 let </a:t>
                </a:r>
                <a14:m>
                  <m:oMath xmlns:m="http://schemas.openxmlformats.org/officeDocument/2006/math">
                    <m:r>
                      <m:rPr>
                        <m:sty m:val="p"/>
                      </m:rPr>
                      <a:rPr lang="el-GR" altLang="zh-CN" sz="1800" i="1">
                        <a:latin typeface="Cambria Math" panose="02040503050406030204" pitchFamily="18" charset="0"/>
                        <a:ea typeface="Cambria Math" panose="02040503050406030204" pitchFamily="18" charset="0"/>
                      </a:rPr>
                      <m:t>α</m:t>
                    </m:r>
                    <m:r>
                      <a:rPr lang="zh-CN" altLang="en-US" sz="1800" i="1">
                        <a:latin typeface="Cambria Math" panose="02040503050406030204" pitchFamily="18" charset="0"/>
                      </a:rPr>
                      <m:t>↠</m:t>
                    </m:r>
                    <m:r>
                      <a:rPr lang="zh-CN" altLang="en-US" sz="1800" i="1">
                        <a:latin typeface="Cambria Math" panose="02040503050406030204" pitchFamily="18" charset="0"/>
                      </a:rPr>
                      <m:t>𝛽</m:t>
                    </m:r>
                  </m:oMath>
                </a14:m>
                <a:r>
                  <a:rPr lang="en-US" altLang="zh-CN" sz="1800" dirty="0"/>
                  <a:t> be a nontrivial MVD that holds on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 </m:t>
                    </m:r>
                  </m:oMath>
                </a14:m>
                <a:r>
                  <a:rPr lang="en-US" altLang="zh-CN" sz="1800" dirty="0"/>
                  <a:t>such that </a:t>
                </a:r>
                <a14:m>
                  <m:oMath xmlns:m="http://schemas.openxmlformats.org/officeDocument/2006/math">
                    <m:r>
                      <a:rPr lang="zh-CN" altLang="en-US" sz="1800" i="1">
                        <a:latin typeface="Cambria Math" panose="02040503050406030204" pitchFamily="18" charset="0"/>
                      </a:rPr>
                      <m:t>𝛼</m:t>
                    </m:r>
                    <m:r>
                      <a:rPr lang="zh-CN" altLang="en-US" sz="1800" i="1" smtClean="0">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a:t>
                </a:r>
              </a:p>
              <a:p>
                <a:pPr marL="0" indent="0">
                  <a:buNone/>
                </a:pPr>
                <a:r>
                  <a:rPr lang="en-US" altLang="zh-CN" sz="1800" dirty="0"/>
                  <a:t>              is not in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𝐷</m:t>
                        </m:r>
                      </m:e>
                      <m:sub>
                        <m:r>
                          <a:rPr lang="en-US" altLang="zh-CN" sz="1800" b="0" i="1" smtClean="0">
                            <a:latin typeface="Cambria Math" panose="02040503050406030204" pitchFamily="18" charset="0"/>
                          </a:rPr>
                          <m:t>𝑖</m:t>
                        </m:r>
                      </m:sub>
                    </m:sSub>
                  </m:oMath>
                </a14:m>
                <a:r>
                  <a:rPr lang="en-US" altLang="zh-CN" sz="1800" dirty="0"/>
                  <a:t>, and </a:t>
                </a:r>
                <a14:m>
                  <m:oMath xmlns:m="http://schemas.openxmlformats.org/officeDocument/2006/math">
                    <m:r>
                      <a:rPr lang="zh-CN" altLang="en-US" sz="1800" i="1" smtClean="0">
                        <a:latin typeface="Cambria Math" panose="02040503050406030204" pitchFamily="18" charset="0"/>
                      </a:rPr>
                      <m:t>𝛼</m:t>
                    </m:r>
                    <m:r>
                      <a:rPr lang="zh-CN" altLang="en-US" sz="1800" i="1" smtClean="0">
                        <a:latin typeface="Cambria Math" panose="02040503050406030204" pitchFamily="18" charset="0"/>
                      </a:rPr>
                      <m:t>∩</m:t>
                    </m:r>
                    <m:r>
                      <a:rPr lang="zh-CN" altLang="en-US" sz="1800" i="1" smtClean="0">
                        <a:latin typeface="Cambria Math" panose="02040503050406030204" pitchFamily="18" charset="0"/>
                      </a:rPr>
                      <m:t>𝛽</m:t>
                    </m:r>
                    <m:r>
                      <a:rPr lang="en-US" altLang="zh-CN" sz="1800" b="0" i="1" smtClean="0">
                        <a:latin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oMath>
                </a14:m>
                <a:r>
                  <a:rPr lang="en-US" altLang="zh-CN" sz="1800" dirty="0"/>
                  <a:t>; </a:t>
                </a:r>
                <a:br>
                  <a:rPr lang="en-US" altLang="zh-CN" sz="1800" dirty="0"/>
                </a:br>
                <a:r>
                  <a:rPr lang="en-US" altLang="zh-CN" sz="1800" dirty="0"/>
                  <a:t>          result :=  (result -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a:t>
                </a:r>
                <a14:m>
                  <m:oMath xmlns:m="http://schemas.openxmlformats.org/officeDocument/2006/math">
                    <m:r>
                      <a:rPr lang="en-US" altLang="zh-CN" sz="1800" i="1" dirty="0" smtClean="0">
                        <a:latin typeface="Cambria Math" panose="02040503050406030204" pitchFamily="18" charset="0"/>
                        <a:ea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oMath>
                </a14:m>
                <a:r>
                  <a:rPr lang="en-US" altLang="zh-CN" sz="1800" dirty="0"/>
                  <a:t> -</a:t>
                </a:r>
                <a14:m>
                  <m:oMath xmlns:m="http://schemas.openxmlformats.org/officeDocument/2006/math">
                    <m:r>
                      <a:rPr lang="zh-CN" altLang="en-US" sz="1800" i="1">
                        <a:latin typeface="Cambria Math" panose="02040503050406030204" pitchFamily="18" charset="0"/>
                      </a:rPr>
                      <m:t>𝛽</m:t>
                    </m:r>
                  </m:oMath>
                </a14:m>
                <a:r>
                  <a:rPr lang="en-US" altLang="zh-CN" sz="1800" dirty="0"/>
                  <a:t>) </a:t>
                </a:r>
                <a14:m>
                  <m:oMath xmlns:m="http://schemas.openxmlformats.org/officeDocument/2006/math">
                    <m:r>
                      <a:rPr lang="zh-CN" altLang="en-US" sz="1800" i="1">
                        <a:latin typeface="Cambria Math" panose="02040503050406030204" pitchFamily="18" charset="0"/>
                      </a:rPr>
                      <m:t>∩</m:t>
                    </m:r>
                  </m:oMath>
                </a14:m>
                <a:r>
                  <a:rPr lang="en-US" altLang="zh-CN" sz="1800" dirty="0"/>
                  <a:t> (</a:t>
                </a:r>
                <a14:m>
                  <m:oMath xmlns:m="http://schemas.openxmlformats.org/officeDocument/2006/math">
                    <m:r>
                      <a:rPr lang="zh-CN" altLang="en-US" sz="1800" i="1">
                        <a:latin typeface="Cambria Math" panose="02040503050406030204" pitchFamily="18" charset="0"/>
                      </a:rPr>
                      <m:t>𝛼</m:t>
                    </m:r>
                  </m:oMath>
                </a14:m>
                <a:r>
                  <a:rPr lang="en-US" altLang="zh-CN" sz="1800" dirty="0"/>
                  <a:t>, </a:t>
                </a:r>
                <a14:m>
                  <m:oMath xmlns:m="http://schemas.openxmlformats.org/officeDocument/2006/math">
                    <m:r>
                      <a:rPr lang="zh-CN" altLang="en-US" sz="1800" i="1">
                        <a:latin typeface="Cambria Math" panose="02040503050406030204" pitchFamily="18" charset="0"/>
                      </a:rPr>
                      <m:t>𝛽</m:t>
                    </m:r>
                  </m:oMath>
                </a14:m>
                <a:r>
                  <a:rPr lang="en-US" altLang="zh-CN" sz="1800" dirty="0"/>
                  <a:t>)); </a:t>
                </a:r>
                <a:br>
                  <a:rPr lang="en-US" altLang="zh-CN" sz="1800" dirty="0"/>
                </a:br>
                <a:r>
                  <a:rPr lang="en-US" altLang="zh-CN" sz="1800" dirty="0"/>
                  <a:t>       </a:t>
                </a:r>
                <a:r>
                  <a:rPr lang="en-US" altLang="zh-CN" sz="1800" dirty="0">
                    <a:solidFill>
                      <a:srgbClr val="C00000"/>
                    </a:solidFill>
                  </a:rPr>
                  <a:t>end</a:t>
                </a:r>
                <a:br>
                  <a:rPr lang="en-US" altLang="zh-CN" sz="1800" dirty="0"/>
                </a:br>
                <a:r>
                  <a:rPr lang="en-US" altLang="zh-CN" sz="1800" dirty="0"/>
                  <a:t>    </a:t>
                </a:r>
                <a:r>
                  <a:rPr lang="en-US" altLang="zh-CN" sz="1800" dirty="0">
                    <a:solidFill>
                      <a:srgbClr val="C00000"/>
                    </a:solidFill>
                  </a:rPr>
                  <a:t>else</a:t>
                </a:r>
                <a:r>
                  <a:rPr lang="en-US" altLang="zh-CN" sz="1800" dirty="0"/>
                  <a:t> done:= true;</a:t>
                </a:r>
              </a:p>
              <a:p>
                <a:pPr marL="0" indent="0">
                  <a:buNone/>
                </a:pPr>
                <a:r>
                  <a:rPr lang="en-US" altLang="zh-CN" sz="1800" b="1" dirty="0"/>
                  <a:t>Note:</a:t>
                </a:r>
                <a:r>
                  <a:rPr lang="en-US" altLang="zh-CN" sz="1800" dirty="0"/>
                  <a:t> each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 </m:t>
                    </m:r>
                  </m:oMath>
                </a14:m>
                <a:r>
                  <a:rPr lang="en-US" altLang="zh-CN" sz="1800" dirty="0"/>
                  <a:t>is in 4NF, and decomposition is lossless-join</a:t>
                </a:r>
                <a:endParaRPr lang="zh-CN" altLang="en-US" sz="1800" dirty="0"/>
              </a:p>
            </p:txBody>
          </p:sp>
        </mc:Choice>
        <mc:Fallback xmlns="">
          <p:sp>
            <p:nvSpPr>
              <p:cNvPr id="3" name="内容占位符 2">
                <a:extLst>
                  <a:ext uri="{FF2B5EF4-FFF2-40B4-BE49-F238E27FC236}">
                    <a16:creationId xmlns:a16="http://schemas.microsoft.com/office/drawing/2014/main" id="{7C5F4590-BA89-428F-9D05-6536E4DBA04A}"/>
                  </a:ext>
                </a:extLst>
              </p:cNvPr>
              <p:cNvSpPr>
                <a:spLocks noGrp="1" noRot="1" noChangeAspect="1" noMove="1" noResize="1" noEditPoints="1" noAdjustHandles="1" noChangeArrowheads="1" noChangeShapeType="1" noTextEdit="1"/>
              </p:cNvSpPr>
              <p:nvPr>
                <p:ph idx="1"/>
              </p:nvPr>
            </p:nvSpPr>
            <p:spPr>
              <a:xfrm>
                <a:off x="539552" y="710896"/>
                <a:ext cx="8280920" cy="3805070"/>
              </a:xfrm>
              <a:blipFill>
                <a:blip r:embed="rId3"/>
                <a:stretch>
                  <a:fillRect l="-663" t="-962" b="-44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82535924"/>
      </p:ext>
    </p:extLst>
  </p:cSld>
  <p:clrMapOvr>
    <a:masterClrMapping/>
  </p:clrMapOvr>
  <p:transition>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3166E-1A07-40C2-BF4E-44F12C1B5E3A}"/>
              </a:ext>
            </a:extLst>
          </p:cNvPr>
          <p:cNvSpPr>
            <a:spLocks noGrp="1"/>
          </p:cNvSpPr>
          <p:nvPr>
            <p:ph type="title"/>
          </p:nvPr>
        </p:nvSpPr>
        <p:spPr/>
        <p:txBody>
          <a:bodyPr/>
          <a:lstStyle/>
          <a:p>
            <a:pPr algn="ctr"/>
            <a:r>
              <a:rPr lang="en-US" altLang="zh-CN" dirty="0"/>
              <a:t>Example</a:t>
            </a:r>
            <a:endParaRPr lang="zh-CN" altLang="en-US" dirty="0"/>
          </a:p>
        </p:txBody>
      </p:sp>
      <p:sp>
        <p:nvSpPr>
          <p:cNvPr id="4" name="Rectangle 3">
            <a:extLst>
              <a:ext uri="{FF2B5EF4-FFF2-40B4-BE49-F238E27FC236}">
                <a16:creationId xmlns:a16="http://schemas.microsoft.com/office/drawing/2014/main" id="{4D06DAF7-FA10-41E5-B698-2CAFE4A89CC3}"/>
              </a:ext>
            </a:extLst>
          </p:cNvPr>
          <p:cNvSpPr txBox="1">
            <a:spLocks noChangeArrowheads="1"/>
          </p:cNvSpPr>
          <p:nvPr/>
        </p:nvSpPr>
        <p:spPr bwMode="auto">
          <a:xfrm>
            <a:off x="1685926" y="1066800"/>
            <a:ext cx="6099572"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00FF00"/>
              </a:buClr>
              <a:buSzPct val="80000"/>
              <a:buFont typeface="Wingdings" panose="05000000000000000000" pitchFamily="2" charset="2"/>
              <a:buChar char="l"/>
              <a:defRPr kumimoji="1" sz="1500">
                <a:solidFill>
                  <a:schemeClr val="tx1"/>
                </a:solidFill>
                <a:latin typeface="+mn-lt"/>
              </a:defRPr>
            </a:lvl3pPr>
            <a:lvl4pPr marL="1071563" indent="-171450" algn="l" rtl="0" eaLnBrk="0" fontAlgn="base" hangingPunct="0">
              <a:spcBef>
                <a:spcPct val="35000"/>
              </a:spcBef>
              <a:spcAft>
                <a:spcPct val="0"/>
              </a:spcAft>
              <a:buClr>
                <a:srgbClr val="CC0099"/>
              </a:buClr>
              <a:buSzPct val="80000"/>
              <a:buFont typeface="Times New Roman" panose="02020603050405020304" pitchFamily="18" charset="0"/>
              <a:buChar char="•"/>
              <a:defRPr kumimoji="1" sz="1500">
                <a:solidFill>
                  <a:schemeClr val="tx1"/>
                </a:solidFill>
                <a:latin typeface="+mn-lt"/>
              </a:defRPr>
            </a:lvl4pPr>
            <a:lvl5pPr marL="1328738" indent="-171450" algn="l" rtl="0" eaLnBrk="0" fontAlgn="base" hangingPunct="0">
              <a:spcBef>
                <a:spcPct val="35000"/>
              </a:spcBef>
              <a:spcAft>
                <a:spcPct val="0"/>
              </a:spcAft>
              <a:buClr>
                <a:srgbClr val="000000"/>
              </a:buClr>
              <a:buSzPct val="80000"/>
              <a:buFont typeface="Times New Roman" panose="02020603050405020304" pitchFamily="18" charset="0"/>
              <a:buChar char="»"/>
              <a:defRPr kumimoji="1" sz="1500">
                <a:solidFill>
                  <a:schemeClr val="tx1"/>
                </a:solidFill>
                <a:latin typeface="+mn-lt"/>
              </a:defRPr>
            </a:lvl5pPr>
            <a:lvl6pPr marL="16716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6pPr>
            <a:lvl7pPr marL="20145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7pPr>
            <a:lvl8pPr marL="23574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8pPr>
            <a:lvl9pPr marL="2700338" indent="-171450" algn="l" rtl="0" eaLnBrk="0" fontAlgn="base" hangingPunct="0">
              <a:spcBef>
                <a:spcPct val="35000"/>
              </a:spcBef>
              <a:spcAft>
                <a:spcPct val="0"/>
              </a:spcAft>
              <a:buClr>
                <a:srgbClr val="000000"/>
              </a:buClr>
              <a:buSzPct val="80000"/>
              <a:buFont typeface="Times New Roman" pitchFamily="18" charset="0"/>
              <a:buChar char="»"/>
              <a:defRPr kumimoji="1" sz="1500">
                <a:solidFill>
                  <a:schemeClr val="tx1"/>
                </a:solidFill>
                <a:latin typeface="+mn-lt"/>
              </a:defRPr>
            </a:lvl9pPr>
          </a:lstStyle>
          <a:p>
            <a:pPr>
              <a:lnSpc>
                <a:spcPct val="80000"/>
              </a:lnSpc>
            </a:pP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A, B, C, G, H, I</a:t>
            </a:r>
            <a:r>
              <a:rPr lang="en-US" altLang="zh-CN" sz="1500" kern="0" dirty="0">
                <a:latin typeface="Arial" panose="020B0604020202020204" pitchFamily="34" charset="0"/>
                <a:ea typeface="宋体" panose="02010600030101010101" pitchFamily="2" charset="-122"/>
                <a:cs typeface="Arial" panose="020B0604020202020204" pitchFamily="34" charset="0"/>
              </a:rPr>
              <a:t>)</a:t>
            </a:r>
          </a:p>
          <a:p>
            <a:pPr>
              <a:lnSpc>
                <a:spcPct val="80000"/>
              </a:lnSpc>
              <a:buFont typeface="Wingdings" panose="05000000000000000000" pitchFamily="2" charset="2"/>
              <a:buNone/>
            </a:pPr>
            <a:r>
              <a:rPr lang="en-US" altLang="zh-CN" sz="1500" i="1" kern="0" dirty="0">
                <a:latin typeface="Arial" panose="020B0604020202020204" pitchFamily="34" charset="0"/>
                <a:ea typeface="宋体" panose="02010600030101010101" pitchFamily="2" charset="-122"/>
                <a:cs typeface="Arial" panose="020B0604020202020204" pitchFamily="34" charset="0"/>
              </a:rPr>
              <a:t>	F </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A </a:t>
            </a:r>
            <a:r>
              <a:rPr lang="en-US" altLang="zh-CN" sz="135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8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B</a:t>
            </a:r>
            <a:endParaRPr lang="en-US" altLang="zh-CN" sz="1500" kern="0" dirty="0">
              <a:latin typeface="Arial" panose="020B0604020202020204" pitchFamily="34" charset="0"/>
              <a:ea typeface="宋体" panose="02010600030101010101" pitchFamily="2" charset="-122"/>
              <a:cs typeface="Arial" panose="020B0604020202020204" pitchFamily="34" charset="0"/>
            </a:endParaRPr>
          </a:p>
          <a:p>
            <a:pPr>
              <a:lnSpc>
                <a:spcPct val="80000"/>
              </a:lnSpc>
              <a:buFont typeface="Wingdings" panose="05000000000000000000" pitchFamily="2" charset="2"/>
              <a:buNone/>
            </a:pPr>
            <a:r>
              <a:rPr lang="en-US" altLang="zh-CN" sz="1500" i="1" kern="0" dirty="0">
                <a:latin typeface="Arial" panose="020B0604020202020204" pitchFamily="34" charset="0"/>
                <a:ea typeface="宋体" panose="02010600030101010101" pitchFamily="2" charset="-122"/>
                <a:cs typeface="Arial" panose="020B0604020202020204" pitchFamily="34" charset="0"/>
              </a:rPr>
              <a:t>		B</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35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HI</a:t>
            </a:r>
            <a:endParaRPr lang="en-US" altLang="zh-CN" sz="1500" kern="0" dirty="0">
              <a:latin typeface="Arial" panose="020B0604020202020204" pitchFamily="34" charset="0"/>
              <a:ea typeface="宋体" panose="02010600030101010101" pitchFamily="2" charset="-122"/>
              <a:cs typeface="Arial" panose="020B0604020202020204" pitchFamily="34" charset="0"/>
            </a:endParaRPr>
          </a:p>
          <a:p>
            <a:pPr>
              <a:lnSpc>
                <a:spcPct val="80000"/>
              </a:lnSpc>
              <a:buFont typeface="Wingdings" panose="05000000000000000000" pitchFamily="2" charset="2"/>
              <a:buNone/>
            </a:pPr>
            <a:r>
              <a:rPr lang="en-US" altLang="zh-CN" sz="1500" i="1" kern="0" dirty="0">
                <a:latin typeface="Arial" panose="020B0604020202020204" pitchFamily="34" charset="0"/>
                <a:ea typeface="宋体" panose="02010600030101010101" pitchFamily="2" charset="-122"/>
                <a:cs typeface="Arial" panose="020B0604020202020204" pitchFamily="34" charset="0"/>
              </a:rPr>
              <a:t>		CG </a:t>
            </a:r>
            <a:r>
              <a:rPr lang="en-US" altLang="zh-CN" sz="135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H</a:t>
            </a:r>
            <a:r>
              <a:rPr lang="en-US" altLang="zh-CN" sz="1500" kern="0" dirty="0">
                <a:latin typeface="Arial" panose="020B0604020202020204" pitchFamily="34" charset="0"/>
                <a:ea typeface="宋体" panose="02010600030101010101" pitchFamily="2" charset="-122"/>
                <a:cs typeface="Arial" panose="020B0604020202020204" pitchFamily="34" charset="0"/>
              </a:rPr>
              <a:t> }</a:t>
            </a:r>
          </a:p>
          <a:p>
            <a:pPr>
              <a:lnSpc>
                <a:spcPct val="80000"/>
              </a:lnSpc>
            </a:pP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kern="0" dirty="0">
                <a:latin typeface="Arial" panose="020B0604020202020204" pitchFamily="34" charset="0"/>
                <a:ea typeface="宋体" panose="02010600030101010101" pitchFamily="2" charset="-122"/>
                <a:cs typeface="Arial" panose="020B0604020202020204" pitchFamily="34" charset="0"/>
              </a:rPr>
              <a:t> is not in 4NF since </a:t>
            </a:r>
            <a:r>
              <a:rPr lang="en-US" altLang="zh-CN" sz="1500" i="1" kern="0" dirty="0">
                <a:latin typeface="Arial" panose="020B0604020202020204" pitchFamily="34" charset="0"/>
                <a:ea typeface="宋体" panose="02010600030101010101" pitchFamily="2" charset="-122"/>
                <a:cs typeface="Arial" panose="020B0604020202020204" pitchFamily="34" charset="0"/>
              </a:rPr>
              <a:t>A</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2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B</a:t>
            </a:r>
            <a:r>
              <a:rPr lang="en-US" altLang="zh-CN" sz="1500" kern="0" dirty="0">
                <a:latin typeface="Arial" panose="020B0604020202020204" pitchFamily="34" charset="0"/>
                <a:ea typeface="宋体" panose="02010600030101010101" pitchFamily="2" charset="-122"/>
                <a:cs typeface="Arial" panose="020B0604020202020204" pitchFamily="34" charset="0"/>
              </a:rPr>
              <a:t> and </a:t>
            </a:r>
            <a:r>
              <a:rPr lang="en-US" altLang="zh-CN" sz="1500" i="1" kern="0" dirty="0">
                <a:latin typeface="Arial" panose="020B0604020202020204" pitchFamily="34" charset="0"/>
                <a:ea typeface="宋体" panose="02010600030101010101" pitchFamily="2" charset="-122"/>
                <a:cs typeface="Arial" panose="020B0604020202020204" pitchFamily="34" charset="0"/>
              </a:rPr>
              <a:t>A</a:t>
            </a:r>
            <a:r>
              <a:rPr lang="en-US" altLang="zh-CN" sz="1500" kern="0" dirty="0">
                <a:latin typeface="Arial" panose="020B0604020202020204" pitchFamily="34" charset="0"/>
                <a:ea typeface="宋体" panose="02010600030101010101" pitchFamily="2" charset="-122"/>
                <a:cs typeface="Arial" panose="020B0604020202020204" pitchFamily="34" charset="0"/>
              </a:rPr>
              <a:t> is not a </a:t>
            </a:r>
            <a:r>
              <a:rPr lang="en-US" altLang="zh-CN" sz="1500" kern="0" dirty="0" err="1">
                <a:latin typeface="Arial" panose="020B0604020202020204" pitchFamily="34" charset="0"/>
                <a:ea typeface="宋体" panose="02010600030101010101" pitchFamily="2" charset="-122"/>
                <a:cs typeface="Arial" panose="020B0604020202020204" pitchFamily="34" charset="0"/>
              </a:rPr>
              <a:t>superkey</a:t>
            </a:r>
            <a:r>
              <a:rPr lang="en-US" altLang="zh-CN" sz="1500" kern="0" dirty="0">
                <a:latin typeface="Arial" panose="020B0604020202020204" pitchFamily="34" charset="0"/>
                <a:ea typeface="宋体" panose="02010600030101010101" pitchFamily="2" charset="-122"/>
                <a:cs typeface="Arial" panose="020B0604020202020204" pitchFamily="34" charset="0"/>
              </a:rPr>
              <a:t> for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endParaRPr lang="en-US" altLang="zh-CN" sz="1500" kern="0" dirty="0">
              <a:latin typeface="Arial" panose="020B0604020202020204" pitchFamily="34" charset="0"/>
              <a:ea typeface="宋体" panose="02010600030101010101" pitchFamily="2" charset="-122"/>
              <a:cs typeface="Arial" panose="020B0604020202020204" pitchFamily="34" charset="0"/>
            </a:endParaRPr>
          </a:p>
          <a:p>
            <a:pPr>
              <a:lnSpc>
                <a:spcPct val="80000"/>
              </a:lnSpc>
            </a:pPr>
            <a:r>
              <a:rPr lang="en-US" altLang="zh-CN" sz="1500" kern="0" dirty="0">
                <a:latin typeface="Arial" panose="020B0604020202020204" pitchFamily="34" charset="0"/>
                <a:ea typeface="宋体" panose="02010600030101010101" pitchFamily="2" charset="-122"/>
                <a:cs typeface="Arial" panose="020B0604020202020204" pitchFamily="34" charset="0"/>
              </a:rPr>
              <a:t>Decomposition</a:t>
            </a:r>
          </a:p>
          <a:p>
            <a:pPr>
              <a:lnSpc>
                <a:spcPct val="80000"/>
              </a:lnSpc>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	a)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1</a:t>
            </a:r>
            <a:r>
              <a:rPr lang="en-US" altLang="zh-CN" sz="1500" kern="0" dirty="0">
                <a:latin typeface="Arial" panose="020B0604020202020204" pitchFamily="34" charset="0"/>
                <a:ea typeface="宋体" panose="02010600030101010101" pitchFamily="2" charset="-122"/>
                <a:cs typeface="Arial" panose="020B0604020202020204" pitchFamily="34" charset="0"/>
              </a:rPr>
              <a:t> = (</a:t>
            </a:r>
            <a:r>
              <a:rPr lang="en-US" altLang="zh-CN" sz="1500" i="1" kern="0" dirty="0">
                <a:latin typeface="Arial" panose="020B0604020202020204" pitchFamily="34" charset="0"/>
                <a:ea typeface="宋体" panose="02010600030101010101" pitchFamily="2" charset="-122"/>
                <a:cs typeface="Arial" panose="020B0604020202020204" pitchFamily="34" charset="0"/>
              </a:rPr>
              <a:t>A, B</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1</a:t>
            </a:r>
            <a:r>
              <a:rPr lang="en-US" altLang="zh-CN" sz="1500" kern="0" dirty="0">
                <a:latin typeface="Arial" panose="020B0604020202020204" pitchFamily="34" charset="0"/>
                <a:ea typeface="宋体" panose="02010600030101010101" pitchFamily="2" charset="-122"/>
                <a:cs typeface="Arial" panose="020B0604020202020204" pitchFamily="34" charset="0"/>
              </a:rPr>
              <a:t> is in 4NF)</a:t>
            </a:r>
          </a:p>
          <a:p>
            <a:pPr>
              <a:lnSpc>
                <a:spcPct val="80000"/>
              </a:lnSpc>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	b)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kern="0" baseline="-25000" dirty="0">
                <a:latin typeface="Arial" panose="020B0604020202020204" pitchFamily="34" charset="0"/>
                <a:ea typeface="宋体" panose="02010600030101010101" pitchFamily="2" charset="-122"/>
                <a:cs typeface="Arial" panose="020B0604020202020204" pitchFamily="34" charset="0"/>
              </a:rPr>
              <a:t>2</a:t>
            </a:r>
            <a:r>
              <a:rPr lang="en-US" altLang="zh-CN" sz="1500" kern="0" dirty="0">
                <a:latin typeface="Arial" panose="020B0604020202020204" pitchFamily="34" charset="0"/>
                <a:ea typeface="宋体" panose="02010600030101010101" pitchFamily="2" charset="-122"/>
                <a:cs typeface="Arial" panose="020B0604020202020204" pitchFamily="34" charset="0"/>
              </a:rPr>
              <a:t> = (</a:t>
            </a:r>
            <a:r>
              <a:rPr lang="en-US" altLang="zh-CN" sz="1500" i="1" kern="0" dirty="0">
                <a:latin typeface="Arial" panose="020B0604020202020204" pitchFamily="34" charset="0"/>
                <a:ea typeface="宋体" panose="02010600030101010101" pitchFamily="2" charset="-122"/>
                <a:cs typeface="Arial" panose="020B0604020202020204" pitchFamily="34" charset="0"/>
              </a:rPr>
              <a:t>A, C, G, H, I</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2</a:t>
            </a:r>
            <a:r>
              <a:rPr lang="en-US" altLang="zh-CN" sz="1500" kern="0" dirty="0">
                <a:latin typeface="Arial" panose="020B0604020202020204" pitchFamily="34" charset="0"/>
                <a:ea typeface="宋体" panose="02010600030101010101" pitchFamily="2" charset="-122"/>
                <a:cs typeface="Arial" panose="020B0604020202020204" pitchFamily="34" charset="0"/>
              </a:rPr>
              <a:t> is not in 4NF)</a:t>
            </a:r>
          </a:p>
          <a:p>
            <a:pPr>
              <a:lnSpc>
                <a:spcPct val="80000"/>
              </a:lnSpc>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	c)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kern="0" baseline="-25000" dirty="0">
                <a:latin typeface="Arial" panose="020B0604020202020204" pitchFamily="34" charset="0"/>
                <a:ea typeface="宋体" panose="02010600030101010101" pitchFamily="2" charset="-122"/>
                <a:cs typeface="Arial" panose="020B0604020202020204" pitchFamily="34" charset="0"/>
              </a:rPr>
              <a:t>3</a:t>
            </a:r>
            <a:r>
              <a:rPr lang="en-US" altLang="zh-CN" sz="1500" kern="0" dirty="0">
                <a:latin typeface="Arial" panose="020B0604020202020204" pitchFamily="34" charset="0"/>
                <a:ea typeface="宋体" panose="02010600030101010101" pitchFamily="2" charset="-122"/>
                <a:cs typeface="Arial" panose="020B0604020202020204" pitchFamily="34" charset="0"/>
              </a:rPr>
              <a:t> = (</a:t>
            </a:r>
            <a:r>
              <a:rPr lang="en-US" altLang="zh-CN" sz="1500" i="1" kern="0" dirty="0">
                <a:latin typeface="Arial" panose="020B0604020202020204" pitchFamily="34" charset="0"/>
                <a:ea typeface="宋体" panose="02010600030101010101" pitchFamily="2" charset="-122"/>
                <a:cs typeface="Arial" panose="020B0604020202020204" pitchFamily="34" charset="0"/>
              </a:rPr>
              <a:t>C, G, H</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kern="0" baseline="-25000" dirty="0">
                <a:latin typeface="Arial" panose="020B0604020202020204" pitchFamily="34" charset="0"/>
                <a:ea typeface="宋体" panose="02010600030101010101" pitchFamily="2" charset="-122"/>
                <a:cs typeface="Arial" panose="020B0604020202020204" pitchFamily="34" charset="0"/>
              </a:rPr>
              <a:t>3</a:t>
            </a:r>
            <a:r>
              <a:rPr lang="en-US" altLang="zh-CN" sz="1500" kern="0" dirty="0">
                <a:latin typeface="Arial" panose="020B0604020202020204" pitchFamily="34" charset="0"/>
                <a:ea typeface="宋体" panose="02010600030101010101" pitchFamily="2" charset="-122"/>
                <a:cs typeface="Arial" panose="020B0604020202020204" pitchFamily="34" charset="0"/>
              </a:rPr>
              <a:t> is in 4NF)</a:t>
            </a:r>
          </a:p>
          <a:p>
            <a:pPr>
              <a:lnSpc>
                <a:spcPct val="80000"/>
              </a:lnSpc>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	d)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4</a:t>
            </a:r>
            <a:r>
              <a:rPr lang="en-US" altLang="zh-CN" sz="1500" kern="0" dirty="0">
                <a:latin typeface="Arial" panose="020B0604020202020204" pitchFamily="34" charset="0"/>
                <a:ea typeface="宋体" panose="02010600030101010101" pitchFamily="2" charset="-122"/>
                <a:cs typeface="Arial" panose="020B0604020202020204" pitchFamily="34" charset="0"/>
              </a:rPr>
              <a:t> = (</a:t>
            </a:r>
            <a:r>
              <a:rPr lang="en-US" altLang="zh-CN" sz="1500" i="1" kern="0" dirty="0">
                <a:latin typeface="Arial" panose="020B0604020202020204" pitchFamily="34" charset="0"/>
                <a:ea typeface="宋体" panose="02010600030101010101" pitchFamily="2" charset="-122"/>
                <a:cs typeface="Arial" panose="020B0604020202020204" pitchFamily="34" charset="0"/>
              </a:rPr>
              <a:t>A, C, G, I</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4</a:t>
            </a:r>
            <a:r>
              <a:rPr lang="en-US" altLang="zh-CN" sz="1500" kern="0" dirty="0">
                <a:latin typeface="Arial" panose="020B0604020202020204" pitchFamily="34" charset="0"/>
                <a:ea typeface="宋体" panose="02010600030101010101" pitchFamily="2" charset="-122"/>
                <a:cs typeface="Arial" panose="020B0604020202020204" pitchFamily="34" charset="0"/>
              </a:rPr>
              <a:t> is not in 4NF)</a:t>
            </a:r>
          </a:p>
          <a:p>
            <a:pPr>
              <a:lnSpc>
                <a:spcPct val="80000"/>
              </a:lnSpc>
            </a:pPr>
            <a:r>
              <a:rPr lang="en-US" altLang="zh-CN" sz="1500" kern="0" dirty="0">
                <a:latin typeface="Arial" panose="020B0604020202020204" pitchFamily="34" charset="0"/>
                <a:ea typeface="宋体" panose="02010600030101010101" pitchFamily="2" charset="-122"/>
                <a:cs typeface="Arial" panose="020B0604020202020204" pitchFamily="34" charset="0"/>
              </a:rPr>
              <a:t>Since </a:t>
            </a:r>
            <a:r>
              <a:rPr lang="en-US" altLang="zh-CN" sz="1500" i="1" kern="0" dirty="0">
                <a:latin typeface="Arial" panose="020B0604020202020204" pitchFamily="34" charset="0"/>
                <a:ea typeface="宋体" panose="02010600030101010101" pitchFamily="2" charset="-122"/>
                <a:cs typeface="Arial" panose="020B0604020202020204" pitchFamily="34" charset="0"/>
              </a:rPr>
              <a:t>A</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2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B</a:t>
            </a:r>
            <a:r>
              <a:rPr lang="en-US" altLang="zh-CN" sz="1500" kern="0" dirty="0">
                <a:latin typeface="Arial" panose="020B0604020202020204" pitchFamily="34" charset="0"/>
                <a:ea typeface="宋体" panose="02010600030101010101" pitchFamily="2" charset="-122"/>
                <a:cs typeface="Arial" panose="020B0604020202020204" pitchFamily="34" charset="0"/>
              </a:rPr>
              <a:t> and </a:t>
            </a:r>
            <a:r>
              <a:rPr lang="en-US" altLang="zh-CN" sz="1500" i="1" kern="0" dirty="0">
                <a:latin typeface="Arial" panose="020B0604020202020204" pitchFamily="34" charset="0"/>
                <a:ea typeface="宋体" panose="02010600030101010101" pitchFamily="2" charset="-122"/>
                <a:cs typeface="Arial" panose="020B0604020202020204" pitchFamily="34" charset="0"/>
              </a:rPr>
              <a:t>B</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2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HI</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A</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2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HI</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A</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2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a:t>
            </a:r>
            <a:r>
              <a:rPr lang="en-US" altLang="zh-CN" sz="1500" kern="0" dirty="0">
                <a:latin typeface="Arial" panose="020B0604020202020204" pitchFamily="34" charset="0"/>
                <a:ea typeface="宋体" panose="02010600030101010101" pitchFamily="2" charset="-122"/>
                <a:cs typeface="Arial" panose="020B0604020202020204" pitchFamily="34" charset="0"/>
                <a:sym typeface="Symbol" panose="05050102010706020507" pitchFamily="18" charset="2"/>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I</a:t>
            </a:r>
            <a:endParaRPr lang="en-US" altLang="zh-CN" sz="1500" kern="0" dirty="0">
              <a:latin typeface="Arial" panose="020B0604020202020204" pitchFamily="34" charset="0"/>
              <a:ea typeface="宋体" panose="02010600030101010101" pitchFamily="2" charset="-122"/>
              <a:cs typeface="Arial" panose="020B0604020202020204" pitchFamily="34" charset="0"/>
            </a:endParaRPr>
          </a:p>
          <a:p>
            <a:pPr>
              <a:lnSpc>
                <a:spcPct val="80000"/>
              </a:lnSpc>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	e)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5</a:t>
            </a:r>
            <a:r>
              <a:rPr lang="en-US" altLang="zh-CN" sz="1500" kern="0" dirty="0">
                <a:latin typeface="Arial" panose="020B0604020202020204" pitchFamily="34" charset="0"/>
                <a:ea typeface="宋体" panose="02010600030101010101" pitchFamily="2" charset="-122"/>
                <a:cs typeface="Arial" panose="020B0604020202020204" pitchFamily="34" charset="0"/>
              </a:rPr>
              <a:t> = (</a:t>
            </a:r>
            <a:r>
              <a:rPr lang="en-US" altLang="zh-CN" sz="1500" i="1" kern="0" dirty="0">
                <a:latin typeface="Arial" panose="020B0604020202020204" pitchFamily="34" charset="0"/>
                <a:ea typeface="宋体" panose="02010600030101010101" pitchFamily="2" charset="-122"/>
                <a:cs typeface="Arial" panose="020B0604020202020204" pitchFamily="34" charset="0"/>
              </a:rPr>
              <a:t>A, I</a:t>
            </a:r>
            <a:r>
              <a:rPr lang="en-US" altLang="zh-CN" sz="1500" kern="0" dirty="0">
                <a:latin typeface="Arial" panose="020B0604020202020204" pitchFamily="34" charset="0"/>
                <a:ea typeface="宋体" panose="02010600030101010101" pitchFamily="2" charset="-122"/>
                <a:cs typeface="Arial" panose="020B0604020202020204" pitchFamily="34" charset="0"/>
              </a:rPr>
              <a:t>)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5</a:t>
            </a:r>
            <a:r>
              <a:rPr lang="en-US" altLang="zh-CN" sz="1500" kern="0" dirty="0">
                <a:latin typeface="Arial" panose="020B0604020202020204" pitchFamily="34" charset="0"/>
                <a:ea typeface="宋体" panose="02010600030101010101" pitchFamily="2" charset="-122"/>
                <a:cs typeface="Arial" panose="020B0604020202020204" pitchFamily="34" charset="0"/>
              </a:rPr>
              <a:t> is in 4NF)</a:t>
            </a:r>
          </a:p>
          <a:p>
            <a:pPr>
              <a:lnSpc>
                <a:spcPct val="80000"/>
              </a:lnSpc>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	f)</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i="1" kern="0" baseline="-25000" dirty="0">
                <a:latin typeface="Arial" panose="020B0604020202020204" pitchFamily="34" charset="0"/>
                <a:ea typeface="宋体" panose="02010600030101010101" pitchFamily="2" charset="-122"/>
                <a:cs typeface="Arial" panose="020B0604020202020204" pitchFamily="34" charset="0"/>
              </a:rPr>
              <a:t>6</a:t>
            </a:r>
            <a:r>
              <a:rPr lang="en-US" altLang="zh-CN" sz="1500" kern="0" dirty="0">
                <a:latin typeface="Arial" panose="020B0604020202020204" pitchFamily="34" charset="0"/>
                <a:ea typeface="宋体" panose="02010600030101010101" pitchFamily="2" charset="-122"/>
                <a:cs typeface="Arial" panose="020B0604020202020204" pitchFamily="34" charset="0"/>
              </a:rPr>
              <a:t> = (A, C, G)  		(R</a:t>
            </a:r>
            <a:r>
              <a:rPr lang="en-US" altLang="zh-CN" sz="1500" kern="0" baseline="-25000" dirty="0">
                <a:latin typeface="Arial" panose="020B0604020202020204" pitchFamily="34" charset="0"/>
                <a:ea typeface="宋体" panose="02010600030101010101" pitchFamily="2" charset="-122"/>
                <a:cs typeface="Arial" panose="020B0604020202020204" pitchFamily="34" charset="0"/>
              </a:rPr>
              <a:t>6</a:t>
            </a:r>
            <a:r>
              <a:rPr lang="en-US" altLang="zh-CN" sz="1500" kern="0" dirty="0">
                <a:latin typeface="Arial" panose="020B0604020202020204" pitchFamily="34" charset="0"/>
                <a:ea typeface="宋体" panose="02010600030101010101" pitchFamily="2" charset="-122"/>
                <a:cs typeface="Arial" panose="020B0604020202020204" pitchFamily="34" charset="0"/>
              </a:rPr>
              <a:t> is in 4NF)</a:t>
            </a:r>
          </a:p>
        </p:txBody>
      </p:sp>
      <p:sp>
        <p:nvSpPr>
          <p:cNvPr id="5" name="Freeform 28">
            <a:extLst>
              <a:ext uri="{FF2B5EF4-FFF2-40B4-BE49-F238E27FC236}">
                <a16:creationId xmlns:a16="http://schemas.microsoft.com/office/drawing/2014/main" id="{17F48428-EAAA-4BA6-B326-425EA6CF8DB9}"/>
              </a:ext>
            </a:extLst>
          </p:cNvPr>
          <p:cNvSpPr>
            <a:spLocks/>
          </p:cNvSpPr>
          <p:nvPr/>
        </p:nvSpPr>
        <p:spPr bwMode="auto">
          <a:xfrm>
            <a:off x="1294210" y="1191816"/>
            <a:ext cx="682228" cy="1646634"/>
          </a:xfrm>
          <a:custGeom>
            <a:avLst/>
            <a:gdLst>
              <a:gd name="T0" fmla="*/ 2147483646 w 573"/>
              <a:gd name="T1" fmla="*/ 0 h 1383"/>
              <a:gd name="T2" fmla="*/ 2147483646 w 573"/>
              <a:gd name="T3" fmla="*/ 2147483646 h 1383"/>
              <a:gd name="T4" fmla="*/ 2147483646 w 573"/>
              <a:gd name="T5" fmla="*/ 2147483646 h 1383"/>
              <a:gd name="T6" fmla="*/ 0 60000 65536"/>
              <a:gd name="T7" fmla="*/ 0 60000 65536"/>
              <a:gd name="T8" fmla="*/ 0 60000 65536"/>
              <a:gd name="T9" fmla="*/ 0 w 573"/>
              <a:gd name="T10" fmla="*/ 0 h 1383"/>
              <a:gd name="T11" fmla="*/ 573 w 573"/>
              <a:gd name="T12" fmla="*/ 1383 h 1383"/>
            </a:gdLst>
            <a:ahLst/>
            <a:cxnLst>
              <a:cxn ang="T6">
                <a:pos x="T0" y="T1"/>
              </a:cxn>
              <a:cxn ang="T7">
                <a:pos x="T2" y="T3"/>
              </a:cxn>
              <a:cxn ang="T8">
                <a:pos x="T4" y="T5"/>
              </a:cxn>
            </a:cxnLst>
            <a:rect l="T9" t="T10" r="T11" b="T12"/>
            <a:pathLst>
              <a:path w="573" h="1383">
                <a:moveTo>
                  <a:pt x="272" y="0"/>
                </a:moveTo>
                <a:cubicBezTo>
                  <a:pt x="136" y="354"/>
                  <a:pt x="0" y="709"/>
                  <a:pt x="50" y="940"/>
                </a:cubicBezTo>
                <a:cubicBezTo>
                  <a:pt x="100" y="1171"/>
                  <a:pt x="336" y="1277"/>
                  <a:pt x="573" y="1383"/>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ndParaRPr>
          </a:p>
        </p:txBody>
      </p:sp>
      <p:sp>
        <p:nvSpPr>
          <p:cNvPr id="6" name="Freeform 29">
            <a:extLst>
              <a:ext uri="{FF2B5EF4-FFF2-40B4-BE49-F238E27FC236}">
                <a16:creationId xmlns:a16="http://schemas.microsoft.com/office/drawing/2014/main" id="{0BED01D9-6BC8-44DC-9904-09B964AF5264}"/>
              </a:ext>
            </a:extLst>
          </p:cNvPr>
          <p:cNvSpPr>
            <a:spLocks/>
          </p:cNvSpPr>
          <p:nvPr/>
        </p:nvSpPr>
        <p:spPr bwMode="auto">
          <a:xfrm>
            <a:off x="1306116" y="1238250"/>
            <a:ext cx="682228" cy="1804988"/>
          </a:xfrm>
          <a:custGeom>
            <a:avLst/>
            <a:gdLst>
              <a:gd name="T0" fmla="*/ 2147483646 w 573"/>
              <a:gd name="T1" fmla="*/ 0 h 1383"/>
              <a:gd name="T2" fmla="*/ 2147483646 w 573"/>
              <a:gd name="T3" fmla="*/ 2147483646 h 1383"/>
              <a:gd name="T4" fmla="*/ 2147483646 w 573"/>
              <a:gd name="T5" fmla="*/ 2147483646 h 1383"/>
              <a:gd name="T6" fmla="*/ 0 60000 65536"/>
              <a:gd name="T7" fmla="*/ 0 60000 65536"/>
              <a:gd name="T8" fmla="*/ 0 60000 65536"/>
              <a:gd name="T9" fmla="*/ 0 w 573"/>
              <a:gd name="T10" fmla="*/ 0 h 1383"/>
              <a:gd name="T11" fmla="*/ 573 w 573"/>
              <a:gd name="T12" fmla="*/ 1383 h 1383"/>
            </a:gdLst>
            <a:ahLst/>
            <a:cxnLst>
              <a:cxn ang="T6">
                <a:pos x="T0" y="T1"/>
              </a:cxn>
              <a:cxn ang="T7">
                <a:pos x="T2" y="T3"/>
              </a:cxn>
              <a:cxn ang="T8">
                <a:pos x="T4" y="T5"/>
              </a:cxn>
            </a:cxnLst>
            <a:rect l="T9" t="T10" r="T11" b="T12"/>
            <a:pathLst>
              <a:path w="573" h="1383">
                <a:moveTo>
                  <a:pt x="272" y="0"/>
                </a:moveTo>
                <a:cubicBezTo>
                  <a:pt x="136" y="354"/>
                  <a:pt x="0" y="709"/>
                  <a:pt x="50" y="940"/>
                </a:cubicBezTo>
                <a:cubicBezTo>
                  <a:pt x="100" y="1171"/>
                  <a:pt x="336" y="1277"/>
                  <a:pt x="573" y="1383"/>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ndParaRPr>
          </a:p>
        </p:txBody>
      </p:sp>
      <p:sp>
        <p:nvSpPr>
          <p:cNvPr id="7" name="Freeform 32">
            <a:extLst>
              <a:ext uri="{FF2B5EF4-FFF2-40B4-BE49-F238E27FC236}">
                <a16:creationId xmlns:a16="http://schemas.microsoft.com/office/drawing/2014/main" id="{DD7C7CEC-358A-4753-B9EB-1C5DEA486149}"/>
              </a:ext>
            </a:extLst>
          </p:cNvPr>
          <p:cNvSpPr>
            <a:spLocks/>
          </p:cNvSpPr>
          <p:nvPr/>
        </p:nvSpPr>
        <p:spPr bwMode="auto">
          <a:xfrm>
            <a:off x="1625204" y="3090863"/>
            <a:ext cx="351234" cy="496491"/>
          </a:xfrm>
          <a:custGeom>
            <a:avLst/>
            <a:gdLst>
              <a:gd name="T0" fmla="*/ 2147483646 w 295"/>
              <a:gd name="T1" fmla="*/ 0 h 417"/>
              <a:gd name="T2" fmla="*/ 2147483646 w 295"/>
              <a:gd name="T3" fmla="*/ 2147483646 h 417"/>
              <a:gd name="T4" fmla="*/ 2147483646 w 295"/>
              <a:gd name="T5" fmla="*/ 2147483646 h 417"/>
              <a:gd name="T6" fmla="*/ 0 60000 65536"/>
              <a:gd name="T7" fmla="*/ 0 60000 65536"/>
              <a:gd name="T8" fmla="*/ 0 60000 65536"/>
              <a:gd name="T9" fmla="*/ 0 w 295"/>
              <a:gd name="T10" fmla="*/ 0 h 417"/>
              <a:gd name="T11" fmla="*/ 295 w 295"/>
              <a:gd name="T12" fmla="*/ 417 h 417"/>
            </a:gdLst>
            <a:ahLst/>
            <a:cxnLst>
              <a:cxn ang="T6">
                <a:pos x="T0" y="T1"/>
              </a:cxn>
              <a:cxn ang="T7">
                <a:pos x="T2" y="T3"/>
              </a:cxn>
              <a:cxn ang="T8">
                <a:pos x="T4" y="T5"/>
              </a:cxn>
            </a:cxnLst>
            <a:rect l="T9" t="T10" r="T11" b="T12"/>
            <a:pathLst>
              <a:path w="295" h="417">
                <a:moveTo>
                  <a:pt x="295" y="0"/>
                </a:moveTo>
                <a:cubicBezTo>
                  <a:pt x="150" y="63"/>
                  <a:pt x="6" y="126"/>
                  <a:pt x="3" y="195"/>
                </a:cubicBezTo>
                <a:cubicBezTo>
                  <a:pt x="0" y="264"/>
                  <a:pt x="228" y="380"/>
                  <a:pt x="277" y="4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ndParaRPr>
          </a:p>
        </p:txBody>
      </p:sp>
      <p:sp>
        <p:nvSpPr>
          <p:cNvPr id="8" name="Freeform 33">
            <a:extLst>
              <a:ext uri="{FF2B5EF4-FFF2-40B4-BE49-F238E27FC236}">
                <a16:creationId xmlns:a16="http://schemas.microsoft.com/office/drawing/2014/main" id="{DD6186B4-AC12-4476-8C84-F07C22F6A671}"/>
              </a:ext>
            </a:extLst>
          </p:cNvPr>
          <p:cNvSpPr>
            <a:spLocks/>
          </p:cNvSpPr>
          <p:nvPr/>
        </p:nvSpPr>
        <p:spPr bwMode="auto">
          <a:xfrm>
            <a:off x="1679972" y="3113485"/>
            <a:ext cx="351234" cy="242888"/>
          </a:xfrm>
          <a:custGeom>
            <a:avLst/>
            <a:gdLst>
              <a:gd name="T0" fmla="*/ 2147483646 w 295"/>
              <a:gd name="T1" fmla="*/ 0 h 417"/>
              <a:gd name="T2" fmla="*/ 2147483646 w 295"/>
              <a:gd name="T3" fmla="*/ 2147483646 h 417"/>
              <a:gd name="T4" fmla="*/ 2147483646 w 295"/>
              <a:gd name="T5" fmla="*/ 2147483646 h 417"/>
              <a:gd name="T6" fmla="*/ 0 60000 65536"/>
              <a:gd name="T7" fmla="*/ 0 60000 65536"/>
              <a:gd name="T8" fmla="*/ 0 60000 65536"/>
              <a:gd name="T9" fmla="*/ 0 w 295"/>
              <a:gd name="T10" fmla="*/ 0 h 417"/>
              <a:gd name="T11" fmla="*/ 295 w 295"/>
              <a:gd name="T12" fmla="*/ 417 h 417"/>
            </a:gdLst>
            <a:ahLst/>
            <a:cxnLst>
              <a:cxn ang="T6">
                <a:pos x="T0" y="T1"/>
              </a:cxn>
              <a:cxn ang="T7">
                <a:pos x="T2" y="T3"/>
              </a:cxn>
              <a:cxn ang="T8">
                <a:pos x="T4" y="T5"/>
              </a:cxn>
            </a:cxnLst>
            <a:rect l="T9" t="T10" r="T11" b="T12"/>
            <a:pathLst>
              <a:path w="295" h="417">
                <a:moveTo>
                  <a:pt x="295" y="0"/>
                </a:moveTo>
                <a:cubicBezTo>
                  <a:pt x="150" y="63"/>
                  <a:pt x="6" y="126"/>
                  <a:pt x="3" y="195"/>
                </a:cubicBezTo>
                <a:cubicBezTo>
                  <a:pt x="0" y="264"/>
                  <a:pt x="228" y="380"/>
                  <a:pt x="277" y="4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ndParaRPr>
          </a:p>
        </p:txBody>
      </p:sp>
      <p:sp>
        <p:nvSpPr>
          <p:cNvPr id="9" name="Freeform 34">
            <a:extLst>
              <a:ext uri="{FF2B5EF4-FFF2-40B4-BE49-F238E27FC236}">
                <a16:creationId xmlns:a16="http://schemas.microsoft.com/office/drawing/2014/main" id="{2271F172-1140-40A5-A58B-348167367633}"/>
              </a:ext>
            </a:extLst>
          </p:cNvPr>
          <p:cNvSpPr>
            <a:spLocks/>
          </p:cNvSpPr>
          <p:nvPr/>
        </p:nvSpPr>
        <p:spPr bwMode="auto">
          <a:xfrm>
            <a:off x="1583532" y="3638550"/>
            <a:ext cx="351235" cy="496491"/>
          </a:xfrm>
          <a:custGeom>
            <a:avLst/>
            <a:gdLst>
              <a:gd name="T0" fmla="*/ 2147483646 w 295"/>
              <a:gd name="T1" fmla="*/ 0 h 417"/>
              <a:gd name="T2" fmla="*/ 2147483646 w 295"/>
              <a:gd name="T3" fmla="*/ 2147483646 h 417"/>
              <a:gd name="T4" fmla="*/ 2147483646 w 295"/>
              <a:gd name="T5" fmla="*/ 2147483646 h 417"/>
              <a:gd name="T6" fmla="*/ 0 60000 65536"/>
              <a:gd name="T7" fmla="*/ 0 60000 65536"/>
              <a:gd name="T8" fmla="*/ 0 60000 65536"/>
              <a:gd name="T9" fmla="*/ 0 w 295"/>
              <a:gd name="T10" fmla="*/ 0 h 417"/>
              <a:gd name="T11" fmla="*/ 295 w 295"/>
              <a:gd name="T12" fmla="*/ 417 h 417"/>
            </a:gdLst>
            <a:ahLst/>
            <a:cxnLst>
              <a:cxn ang="T6">
                <a:pos x="T0" y="T1"/>
              </a:cxn>
              <a:cxn ang="T7">
                <a:pos x="T2" y="T3"/>
              </a:cxn>
              <a:cxn ang="T8">
                <a:pos x="T4" y="T5"/>
              </a:cxn>
            </a:cxnLst>
            <a:rect l="T9" t="T10" r="T11" b="T12"/>
            <a:pathLst>
              <a:path w="295" h="417">
                <a:moveTo>
                  <a:pt x="295" y="0"/>
                </a:moveTo>
                <a:cubicBezTo>
                  <a:pt x="150" y="63"/>
                  <a:pt x="6" y="126"/>
                  <a:pt x="3" y="195"/>
                </a:cubicBezTo>
                <a:cubicBezTo>
                  <a:pt x="0" y="264"/>
                  <a:pt x="228" y="380"/>
                  <a:pt x="277" y="4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ndParaRPr>
          </a:p>
        </p:txBody>
      </p:sp>
      <p:sp>
        <p:nvSpPr>
          <p:cNvPr id="10" name="Freeform 35">
            <a:extLst>
              <a:ext uri="{FF2B5EF4-FFF2-40B4-BE49-F238E27FC236}">
                <a16:creationId xmlns:a16="http://schemas.microsoft.com/office/drawing/2014/main" id="{5429BB09-41EF-4CCC-B957-1B0CD8CF01E0}"/>
              </a:ext>
            </a:extLst>
          </p:cNvPr>
          <p:cNvSpPr>
            <a:spLocks/>
          </p:cNvSpPr>
          <p:nvPr/>
        </p:nvSpPr>
        <p:spPr bwMode="auto">
          <a:xfrm>
            <a:off x="1679972" y="3638551"/>
            <a:ext cx="351234" cy="813197"/>
          </a:xfrm>
          <a:custGeom>
            <a:avLst/>
            <a:gdLst>
              <a:gd name="T0" fmla="*/ 2147483646 w 295"/>
              <a:gd name="T1" fmla="*/ 0 h 417"/>
              <a:gd name="T2" fmla="*/ 2147483646 w 295"/>
              <a:gd name="T3" fmla="*/ 2147483646 h 417"/>
              <a:gd name="T4" fmla="*/ 2147483646 w 295"/>
              <a:gd name="T5" fmla="*/ 2147483646 h 417"/>
              <a:gd name="T6" fmla="*/ 0 60000 65536"/>
              <a:gd name="T7" fmla="*/ 0 60000 65536"/>
              <a:gd name="T8" fmla="*/ 0 60000 65536"/>
              <a:gd name="T9" fmla="*/ 0 w 295"/>
              <a:gd name="T10" fmla="*/ 0 h 417"/>
              <a:gd name="T11" fmla="*/ 295 w 295"/>
              <a:gd name="T12" fmla="*/ 417 h 417"/>
            </a:gdLst>
            <a:ahLst/>
            <a:cxnLst>
              <a:cxn ang="T6">
                <a:pos x="T0" y="T1"/>
              </a:cxn>
              <a:cxn ang="T7">
                <a:pos x="T2" y="T3"/>
              </a:cxn>
              <a:cxn ang="T8">
                <a:pos x="T4" y="T5"/>
              </a:cxn>
            </a:cxnLst>
            <a:rect l="T9" t="T10" r="T11" b="T12"/>
            <a:pathLst>
              <a:path w="295" h="417">
                <a:moveTo>
                  <a:pt x="295" y="0"/>
                </a:moveTo>
                <a:cubicBezTo>
                  <a:pt x="150" y="63"/>
                  <a:pt x="6" y="126"/>
                  <a:pt x="3" y="195"/>
                </a:cubicBezTo>
                <a:cubicBezTo>
                  <a:pt x="0" y="264"/>
                  <a:pt x="228" y="380"/>
                  <a:pt x="277" y="417"/>
                </a:cubicBezTo>
              </a:path>
            </a:pathLst>
          </a:custGeom>
          <a:noFill/>
          <a:ln w="2857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lstStyle/>
          <a:p>
            <a:pPr defTabSz="685800" eaLnBrk="0" hangingPunct="0">
              <a:spcBef>
                <a:spcPct val="0"/>
              </a:spcBef>
            </a:pPr>
            <a:endParaRPr lang="zh-CN" altLang="en-US" sz="1350" b="1">
              <a:solidFill>
                <a:srgbClr val="000000"/>
              </a:solidFill>
              <a:latin typeface="Helvetica" panose="020B0604020202020204" pitchFamily="34" charset="0"/>
            </a:endParaRPr>
          </a:p>
        </p:txBody>
      </p:sp>
    </p:spTree>
    <p:extLst>
      <p:ext uri="{BB962C8B-B14F-4D97-AF65-F5344CB8AC3E}">
        <p14:creationId xmlns:p14="http://schemas.microsoft.com/office/powerpoint/2010/main" val="276027409"/>
      </p:ext>
    </p:extLst>
  </p:cSld>
  <p:clrMapOvr>
    <a:masterClrMapping/>
  </p:clrMapOvr>
  <p:transition>
    <p:fad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D77400-F9C8-426D-A59C-5ACE3EAFF8AB}"/>
              </a:ext>
            </a:extLst>
          </p:cNvPr>
          <p:cNvSpPr>
            <a:spLocks noGrp="1"/>
          </p:cNvSpPr>
          <p:nvPr>
            <p:ph type="title"/>
          </p:nvPr>
        </p:nvSpPr>
        <p:spPr>
          <a:xfrm>
            <a:off x="-13591" y="-22566"/>
            <a:ext cx="9144000" cy="637580"/>
          </a:xfrm>
        </p:spPr>
        <p:txBody>
          <a:bodyPr/>
          <a:lstStyle/>
          <a:p>
            <a:pPr algn="ctr"/>
            <a:r>
              <a:rPr lang="en-US" altLang="zh-CN" dirty="0"/>
              <a:t>Further Normal Forms</a:t>
            </a:r>
            <a:endParaRPr lang="zh-CN" altLang="en-US" dirty="0"/>
          </a:p>
        </p:txBody>
      </p:sp>
      <p:sp>
        <p:nvSpPr>
          <p:cNvPr id="3" name="内容占位符 2">
            <a:extLst>
              <a:ext uri="{FF2B5EF4-FFF2-40B4-BE49-F238E27FC236}">
                <a16:creationId xmlns:a16="http://schemas.microsoft.com/office/drawing/2014/main" id="{2FD561E4-C5A6-47A6-B82D-29F539E07FA3}"/>
              </a:ext>
            </a:extLst>
          </p:cNvPr>
          <p:cNvSpPr>
            <a:spLocks noGrp="1"/>
          </p:cNvSpPr>
          <p:nvPr>
            <p:ph idx="1"/>
          </p:nvPr>
        </p:nvSpPr>
        <p:spPr>
          <a:xfrm>
            <a:off x="237929" y="787525"/>
            <a:ext cx="8280920" cy="3805070"/>
          </a:xfrm>
        </p:spPr>
        <p:txBody>
          <a:bodyPr/>
          <a:lstStyle/>
          <a:p>
            <a:r>
              <a:rPr lang="en-US" altLang="zh-CN" sz="2000" dirty="0"/>
              <a:t>Join dependencies generalize MVDs</a:t>
            </a:r>
          </a:p>
          <a:p>
            <a:pPr lvl="1"/>
            <a:r>
              <a:rPr lang="en-US" altLang="zh-CN" sz="1800" dirty="0"/>
              <a:t>lead to project-join normal form (PJNF) (also called fifth normal form) </a:t>
            </a:r>
            <a:r>
              <a:rPr lang="zh-CN" altLang="en-US" sz="1800" dirty="0"/>
              <a:t>投影</a:t>
            </a:r>
            <a:r>
              <a:rPr lang="en-US" altLang="zh-CN" sz="1800" dirty="0"/>
              <a:t>-</a:t>
            </a:r>
            <a:r>
              <a:rPr lang="zh-CN" altLang="en-US" sz="1800" dirty="0"/>
              <a:t>连接范式</a:t>
            </a:r>
          </a:p>
          <a:p>
            <a:r>
              <a:rPr lang="en-US" altLang="zh-CN" sz="2000" dirty="0"/>
              <a:t>A class of even more general constraints, leads to a normal form called domain-key normal form (DKNF) </a:t>
            </a:r>
            <a:r>
              <a:rPr lang="zh-CN" altLang="en-US" sz="2000" dirty="0"/>
              <a:t>域</a:t>
            </a:r>
            <a:r>
              <a:rPr lang="en-US" altLang="zh-CN" sz="2000" dirty="0"/>
              <a:t>-</a:t>
            </a:r>
            <a:r>
              <a:rPr lang="zh-CN" altLang="en-US" sz="2000" dirty="0"/>
              <a:t>码范式</a:t>
            </a:r>
          </a:p>
          <a:p>
            <a:r>
              <a:rPr lang="en-US" altLang="zh-CN" sz="2000" dirty="0"/>
              <a:t>Problem with these generalized constraints:  are hard to reason with, and no set of sound and complete set of inference rules exists</a:t>
            </a:r>
          </a:p>
          <a:p>
            <a:r>
              <a:rPr lang="en-US" altLang="zh-CN" sz="2000" dirty="0"/>
              <a:t>Hence rarely used</a:t>
            </a:r>
            <a:endParaRPr lang="zh-CN" altLang="en-US" sz="2000" dirty="0"/>
          </a:p>
        </p:txBody>
      </p:sp>
    </p:spTree>
    <p:extLst>
      <p:ext uri="{BB962C8B-B14F-4D97-AF65-F5344CB8AC3E}">
        <p14:creationId xmlns:p14="http://schemas.microsoft.com/office/powerpoint/2010/main" val="275738830"/>
      </p:ext>
    </p:extLst>
  </p:cSld>
  <p:clrMapOvr>
    <a:masterClrMapping/>
  </p:clrMapOvr>
  <p:transition>
    <p:fad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51520" y="782904"/>
            <a:ext cx="8568952" cy="3805070"/>
          </a:xfrm>
        </p:spPr>
        <p:txBody>
          <a:bodyPr/>
          <a:lstStyle/>
          <a:p>
            <a:pPr>
              <a:spcBef>
                <a:spcPts val="400"/>
              </a:spcBef>
            </a:pPr>
            <a:r>
              <a:rPr lang="en-US" altLang="zh-CN" sz="2000" b="1" dirty="0"/>
              <a:t>Features of Good Relational Designs</a:t>
            </a:r>
          </a:p>
          <a:p>
            <a:pPr>
              <a:spcBef>
                <a:spcPts val="400"/>
              </a:spcBef>
            </a:pPr>
            <a:r>
              <a:rPr lang="en-US" altLang="zh-CN" sz="2000" b="1" dirty="0"/>
              <a:t>Functional Dependencies</a:t>
            </a:r>
          </a:p>
          <a:p>
            <a:pPr lvl="1">
              <a:spcBef>
                <a:spcPts val="400"/>
              </a:spcBef>
            </a:pPr>
            <a:r>
              <a:rPr lang="en-US" altLang="zh-CN" sz="1800" dirty="0"/>
              <a:t>Decomposition using Functional Dependencies</a:t>
            </a:r>
          </a:p>
          <a:p>
            <a:pPr lvl="1">
              <a:spcBef>
                <a:spcPts val="400"/>
              </a:spcBef>
            </a:pPr>
            <a:r>
              <a:rPr lang="en-US" altLang="zh-CN" sz="1800" dirty="0"/>
              <a:t>Closure of Functional Dependencies</a:t>
            </a:r>
          </a:p>
          <a:p>
            <a:pPr lvl="1">
              <a:spcBef>
                <a:spcPts val="400"/>
              </a:spcBef>
            </a:pPr>
            <a:r>
              <a:rPr lang="en-US" altLang="zh-CN" sz="1800" dirty="0"/>
              <a:t>Closure of Attribute Sets</a:t>
            </a:r>
          </a:p>
          <a:p>
            <a:pPr lvl="1">
              <a:spcBef>
                <a:spcPts val="400"/>
              </a:spcBef>
            </a:pPr>
            <a:r>
              <a:rPr lang="en-US" altLang="zh-CN" sz="1800" dirty="0"/>
              <a:t>Canonical Cover </a:t>
            </a:r>
          </a:p>
          <a:p>
            <a:pPr lvl="1">
              <a:spcBef>
                <a:spcPts val="400"/>
              </a:spcBef>
            </a:pPr>
            <a:r>
              <a:rPr lang="en-US" altLang="zh-CN" sz="1800" dirty="0"/>
              <a:t>Lossless-join Decomposition</a:t>
            </a:r>
          </a:p>
          <a:p>
            <a:pPr lvl="1">
              <a:spcBef>
                <a:spcPts val="400"/>
              </a:spcBef>
            </a:pPr>
            <a:r>
              <a:rPr lang="en-US" altLang="zh-CN" sz="1800" dirty="0"/>
              <a:t>Dependency Preservation</a:t>
            </a:r>
          </a:p>
          <a:p>
            <a:pPr>
              <a:spcBef>
                <a:spcPts val="400"/>
              </a:spcBef>
            </a:pPr>
            <a:r>
              <a:rPr lang="en-US" altLang="zh-CN" sz="2000" b="1" dirty="0"/>
              <a:t>Normalization &amp; Normal Forms (</a:t>
            </a:r>
            <a:r>
              <a:rPr lang="zh-CN" altLang="en-US" sz="2000" b="1" dirty="0"/>
              <a:t>范式</a:t>
            </a:r>
            <a:r>
              <a:rPr lang="en-US" altLang="zh-CN" sz="2000" b="1" dirty="0"/>
              <a:t>)</a:t>
            </a:r>
          </a:p>
          <a:p>
            <a:pPr>
              <a:spcBef>
                <a:spcPts val="400"/>
              </a:spcBef>
            </a:pPr>
            <a:r>
              <a:rPr lang="en-US" altLang="zh-CN" sz="2000" b="1" dirty="0"/>
              <a:t>Multivalued Dependencies</a:t>
            </a:r>
            <a:r>
              <a:rPr lang="zh-CN" altLang="en-US" sz="2000" b="1" dirty="0"/>
              <a:t>*</a:t>
            </a:r>
            <a:endParaRPr lang="en-US" altLang="zh-CN" sz="2000" b="1" dirty="0"/>
          </a:p>
          <a:p>
            <a:pPr>
              <a:spcBef>
                <a:spcPts val="400"/>
              </a:spcBef>
            </a:pPr>
            <a:r>
              <a:rPr lang="en-US" altLang="zh-CN" sz="2000" b="1" dirty="0">
                <a:solidFill>
                  <a:srgbClr val="C00000"/>
                </a:solidFill>
              </a:rPr>
              <a:t>Database Design Process</a:t>
            </a:r>
          </a:p>
        </p:txBody>
      </p:sp>
    </p:spTree>
    <p:extLst>
      <p:ext uri="{BB962C8B-B14F-4D97-AF65-F5344CB8AC3E}">
        <p14:creationId xmlns:p14="http://schemas.microsoft.com/office/powerpoint/2010/main" val="314144501"/>
      </p:ext>
    </p:extLst>
  </p:cSld>
  <p:clrMapOvr>
    <a:masterClrMapping/>
  </p:clrMapOvr>
  <p:transition>
    <p:fad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0E0652-FE52-4A8C-BD56-7BF9170D0582}"/>
              </a:ext>
            </a:extLst>
          </p:cNvPr>
          <p:cNvSpPr>
            <a:spLocks noGrp="1"/>
          </p:cNvSpPr>
          <p:nvPr>
            <p:ph type="title"/>
          </p:nvPr>
        </p:nvSpPr>
        <p:spPr/>
        <p:txBody>
          <a:bodyPr/>
          <a:lstStyle/>
          <a:p>
            <a:pPr algn="ctr"/>
            <a:r>
              <a:rPr lang="en-US" altLang="zh-CN" dirty="0"/>
              <a:t>E-R Model and Normalization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AB5C343-6E51-4409-A9FA-0120ED09D038}"/>
                  </a:ext>
                </a:extLst>
              </p:cNvPr>
              <p:cNvSpPr>
                <a:spLocks noGrp="1"/>
              </p:cNvSpPr>
              <p:nvPr>
                <p:ph idx="1"/>
              </p:nvPr>
            </p:nvSpPr>
            <p:spPr>
              <a:xfrm>
                <a:off x="232860" y="783870"/>
                <a:ext cx="8587612" cy="3804104"/>
              </a:xfrm>
            </p:spPr>
            <p:txBody>
              <a:bodyPr/>
              <a:lstStyle/>
              <a:p>
                <a:r>
                  <a:rPr lang="en-US" altLang="zh-CN" sz="1800" dirty="0"/>
                  <a:t>When an E-R diagram is carefully designed, identifying all entities correctly, the tables generated from the E-R diagram should not need further normalization</a:t>
                </a:r>
              </a:p>
              <a:p>
                <a:r>
                  <a:rPr lang="en-US" altLang="zh-CN" sz="1800" dirty="0"/>
                  <a:t>However, in a real (imperfect) design, there can be FDs from non-key attributes of an entity to other attributes of the entity</a:t>
                </a:r>
              </a:p>
              <a:p>
                <a:pPr lvl="1"/>
                <a:r>
                  <a:rPr lang="en-US" altLang="zh-CN" sz="1400" dirty="0"/>
                  <a:t>E.g., employee entity with attributes </a:t>
                </a:r>
                <a:r>
                  <a:rPr lang="en-US" altLang="zh-CN" sz="1400" dirty="0" err="1"/>
                  <a:t>dept_name</a:t>
                </a:r>
                <a:r>
                  <a:rPr lang="en-US" altLang="zh-CN" sz="1400" dirty="0"/>
                  <a:t> and </a:t>
                </a:r>
                <a:r>
                  <a:rPr lang="en-US" altLang="zh-CN" sz="1400" dirty="0" err="1"/>
                  <a:t>dept_address</a:t>
                </a:r>
                <a:r>
                  <a:rPr lang="en-US" altLang="zh-CN" sz="1400" dirty="0"/>
                  <a:t>, and an FD </a:t>
                </a:r>
                <a:br>
                  <a:rPr lang="en-US" altLang="zh-CN" sz="1400" dirty="0"/>
                </a:br>
                <a:r>
                  <a:rPr lang="en-US" altLang="zh-CN" sz="1400" dirty="0"/>
                  <a:t>	</a:t>
                </a:r>
                <a:r>
                  <a:rPr lang="en-US" altLang="zh-CN" sz="1400" i="1" dirty="0" err="1"/>
                  <a:t>dept_name</a:t>
                </a:r>
                <a:r>
                  <a:rPr lang="en-US" altLang="zh-CN" sz="1400" i="1" dirty="0"/>
                  <a:t> </a:t>
                </a:r>
                <a14:m>
                  <m:oMath xmlns:m="http://schemas.openxmlformats.org/officeDocument/2006/math">
                    <m:r>
                      <a:rPr lang="en-US" altLang="zh-CN" sz="1400" i="1" smtClean="0">
                        <a:latin typeface="Cambria Math" panose="02040503050406030204" pitchFamily="18" charset="0"/>
                        <a:ea typeface="Cambria Math" panose="02040503050406030204" pitchFamily="18" charset="0"/>
                      </a:rPr>
                      <m:t>→</m:t>
                    </m:r>
                  </m:oMath>
                </a14:m>
                <a:r>
                  <a:rPr lang="en-US" altLang="zh-CN" sz="1400" i="1" dirty="0"/>
                  <a:t> dept_address</a:t>
                </a:r>
              </a:p>
              <a:p>
                <a:pPr lvl="1"/>
                <a:r>
                  <a:rPr lang="en-US" altLang="zh-CN" sz="1400" dirty="0"/>
                  <a:t>Good design would have made department an entity</a:t>
                </a:r>
              </a:p>
              <a:p>
                <a:r>
                  <a:rPr lang="en-US" altLang="zh-CN" sz="1800" dirty="0"/>
                  <a:t>FDs from non-key attributes of a relationship set are possible, but rare</a:t>
                </a:r>
              </a:p>
            </p:txBody>
          </p:sp>
        </mc:Choice>
        <mc:Fallback xmlns="">
          <p:sp>
            <p:nvSpPr>
              <p:cNvPr id="3" name="内容占位符 2">
                <a:extLst>
                  <a:ext uri="{FF2B5EF4-FFF2-40B4-BE49-F238E27FC236}">
                    <a16:creationId xmlns:a16="http://schemas.microsoft.com/office/drawing/2014/main" id="{0AB5C343-6E51-4409-A9FA-0120ED09D038}"/>
                  </a:ext>
                </a:extLst>
              </p:cNvPr>
              <p:cNvSpPr>
                <a:spLocks noGrp="1" noRot="1" noChangeAspect="1" noMove="1" noResize="1" noEditPoints="1" noAdjustHandles="1" noChangeArrowheads="1" noChangeShapeType="1" noTextEdit="1"/>
              </p:cNvSpPr>
              <p:nvPr>
                <p:ph idx="1"/>
              </p:nvPr>
            </p:nvSpPr>
            <p:spPr>
              <a:xfrm>
                <a:off x="232860" y="783870"/>
                <a:ext cx="8587612" cy="3804104"/>
              </a:xfrm>
              <a:blipFill>
                <a:blip r:embed="rId2"/>
                <a:stretch>
                  <a:fillRect l="-426" t="-962" r="-7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47428053"/>
      </p:ext>
    </p:extLst>
  </p:cSld>
  <p:clrMapOvr>
    <a:masterClrMapping/>
  </p:clrMapOvr>
  <p:transition>
    <p:fad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3F268F-096E-4F04-BC53-7B60FC7E4453}"/>
              </a:ext>
            </a:extLst>
          </p:cNvPr>
          <p:cNvSpPr>
            <a:spLocks noGrp="1"/>
          </p:cNvSpPr>
          <p:nvPr>
            <p:ph type="title"/>
          </p:nvPr>
        </p:nvSpPr>
        <p:spPr/>
        <p:txBody>
          <a:bodyPr/>
          <a:lstStyle/>
          <a:p>
            <a:pPr algn="ctr"/>
            <a:r>
              <a:rPr lang="en-US" altLang="zh-CN" dirty="0"/>
              <a:t>Denormalization for Performance</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5409072-7FBC-46D4-A0AC-457E4ACE9E08}"/>
                  </a:ext>
                </a:extLst>
              </p:cNvPr>
              <p:cNvSpPr>
                <a:spLocks noGrp="1"/>
              </p:cNvSpPr>
              <p:nvPr>
                <p:ph idx="1"/>
              </p:nvPr>
            </p:nvSpPr>
            <p:spPr/>
            <p:txBody>
              <a:bodyPr/>
              <a:lstStyle/>
              <a:p>
                <a:r>
                  <a:rPr lang="en-US" altLang="zh-CN" sz="2000" dirty="0"/>
                  <a:t>Use non-normalized schema for performance</a:t>
                </a:r>
              </a:p>
              <a:p>
                <a:pPr lvl="1"/>
                <a:r>
                  <a:rPr lang="en-US" altLang="zh-CN" sz="1800" dirty="0"/>
                  <a:t>E.g., displaying </a:t>
                </a:r>
                <a:r>
                  <a:rPr lang="en-US" altLang="zh-CN" sz="1800" dirty="0">
                    <a:solidFill>
                      <a:srgbClr val="C00000"/>
                    </a:solidFill>
                  </a:rPr>
                  <a:t>customer-name</a:t>
                </a:r>
                <a:r>
                  <a:rPr lang="en-US" altLang="zh-CN" sz="1800" dirty="0"/>
                  <a:t> along with </a:t>
                </a:r>
                <a:r>
                  <a:rPr lang="en-US" altLang="zh-CN" sz="1800" dirty="0">
                    <a:solidFill>
                      <a:srgbClr val="C00000"/>
                    </a:solidFill>
                  </a:rPr>
                  <a:t>account-number</a:t>
                </a:r>
                <a:r>
                  <a:rPr lang="en-US" altLang="zh-CN" sz="1800" dirty="0"/>
                  <a:t> and </a:t>
                </a:r>
                <a:r>
                  <a:rPr lang="en-US" altLang="zh-CN" sz="1800" dirty="0">
                    <a:solidFill>
                      <a:srgbClr val="C00000"/>
                    </a:solidFill>
                  </a:rPr>
                  <a:t>balance</a:t>
                </a:r>
                <a:r>
                  <a:rPr lang="en-US" altLang="zh-CN" sz="1800" dirty="0"/>
                  <a:t> requires join of </a:t>
                </a:r>
                <a:r>
                  <a:rPr lang="en-US" altLang="zh-CN" sz="1800" dirty="0">
                    <a:solidFill>
                      <a:srgbClr val="C00000"/>
                    </a:solidFill>
                  </a:rPr>
                  <a:t>account</a:t>
                </a:r>
                <a:r>
                  <a:rPr lang="en-US" altLang="zh-CN" sz="1800" dirty="0"/>
                  <a:t> with </a:t>
                </a:r>
                <a:r>
                  <a:rPr lang="en-US" altLang="zh-CN" sz="1800" dirty="0">
                    <a:solidFill>
                      <a:srgbClr val="C00000"/>
                    </a:solidFill>
                  </a:rPr>
                  <a:t>depositor</a:t>
                </a:r>
              </a:p>
              <a:p>
                <a:pPr lvl="1"/>
                <a:r>
                  <a:rPr lang="en-US" altLang="zh-CN" sz="1800" b="1" dirty="0"/>
                  <a:t>Alternative 1</a:t>
                </a:r>
                <a:r>
                  <a:rPr lang="en-US" altLang="zh-CN" sz="1800" dirty="0"/>
                  <a:t>:  use a denormalized relation that contains attributes of  both account and depositor</a:t>
                </a:r>
              </a:p>
              <a:p>
                <a:pPr lvl="2"/>
                <a:r>
                  <a:rPr lang="en-US" altLang="zh-CN" sz="1600" dirty="0"/>
                  <a:t>faster lookup</a:t>
                </a:r>
              </a:p>
              <a:p>
                <a:pPr lvl="2"/>
                <a:r>
                  <a:rPr lang="en-US" altLang="zh-CN" sz="1600" dirty="0"/>
                  <a:t>extra space and extra execution time for updates</a:t>
                </a:r>
              </a:p>
              <a:p>
                <a:pPr lvl="2"/>
                <a:r>
                  <a:rPr lang="en-US" altLang="zh-CN" sz="1600" dirty="0"/>
                  <a:t>extra coding work for programmers and possibility of error in extra code</a:t>
                </a:r>
              </a:p>
              <a:p>
                <a:pPr lvl="1"/>
                <a:r>
                  <a:rPr lang="en-US" altLang="zh-CN" sz="1800" b="1" dirty="0"/>
                  <a:t>Alternative 2</a:t>
                </a:r>
                <a:r>
                  <a:rPr lang="en-US" altLang="zh-CN" sz="1800" dirty="0"/>
                  <a:t>: use a materialized view defined as account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a:t> depositor</a:t>
                </a:r>
              </a:p>
              <a:p>
                <a:pPr lvl="2"/>
                <a:r>
                  <a:rPr lang="en-US" altLang="zh-CN" sz="1600" dirty="0"/>
                  <a:t>benefits and drawbacks same as above, except no extra coding work for programmers and avoids possible errors</a:t>
                </a:r>
              </a:p>
              <a:p>
                <a:endParaRPr lang="zh-CN" altLang="en-US" sz="2000" dirty="0"/>
              </a:p>
            </p:txBody>
          </p:sp>
        </mc:Choice>
        <mc:Fallback xmlns="">
          <p:sp>
            <p:nvSpPr>
              <p:cNvPr id="3" name="内容占位符 2">
                <a:extLst>
                  <a:ext uri="{FF2B5EF4-FFF2-40B4-BE49-F238E27FC236}">
                    <a16:creationId xmlns:a16="http://schemas.microsoft.com/office/drawing/2014/main" id="{25409072-7FBC-46D4-A0AC-457E4ACE9E08}"/>
                  </a:ext>
                </a:extLst>
              </p:cNvPr>
              <p:cNvSpPr>
                <a:spLocks noGrp="1" noRot="1" noChangeAspect="1" noMove="1" noResize="1" noEditPoints="1" noAdjustHandles="1" noChangeArrowheads="1" noChangeShapeType="1" noTextEdit="1"/>
              </p:cNvSpPr>
              <p:nvPr>
                <p:ph idx="1"/>
              </p:nvPr>
            </p:nvSpPr>
            <p:spPr>
              <a:blipFill>
                <a:blip r:embed="rId3"/>
                <a:stretch>
                  <a:fillRect l="-640" t="-801" r="-3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4834331"/>
      </p:ext>
    </p:extLst>
  </p:cSld>
  <p:clrMapOvr>
    <a:masterClrMapping/>
  </p:clrMapOvr>
  <p:transition>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1CA73E-5DE2-4883-8568-4AFCEFFDAEC6}"/>
              </a:ext>
            </a:extLst>
          </p:cNvPr>
          <p:cNvSpPr>
            <a:spLocks noGrp="1"/>
          </p:cNvSpPr>
          <p:nvPr>
            <p:ph type="title"/>
          </p:nvPr>
        </p:nvSpPr>
        <p:spPr/>
        <p:txBody>
          <a:bodyPr/>
          <a:lstStyle/>
          <a:p>
            <a:pPr algn="ctr"/>
            <a:r>
              <a:rPr lang="en-US" altLang="zh-CN" dirty="0"/>
              <a:t>Other Design Issues</a:t>
            </a:r>
            <a:endParaRPr lang="zh-CN" altLang="en-US" dirty="0"/>
          </a:p>
        </p:txBody>
      </p:sp>
      <p:sp>
        <p:nvSpPr>
          <p:cNvPr id="3" name="内容占位符 2">
            <a:extLst>
              <a:ext uri="{FF2B5EF4-FFF2-40B4-BE49-F238E27FC236}">
                <a16:creationId xmlns:a16="http://schemas.microsoft.com/office/drawing/2014/main" id="{2B9D4181-8D03-4550-B293-34DB7ACAE89C}"/>
              </a:ext>
            </a:extLst>
          </p:cNvPr>
          <p:cNvSpPr>
            <a:spLocks noGrp="1"/>
          </p:cNvSpPr>
          <p:nvPr>
            <p:ph idx="1"/>
          </p:nvPr>
        </p:nvSpPr>
        <p:spPr>
          <a:xfrm>
            <a:off x="287524" y="669215"/>
            <a:ext cx="8748972" cy="3805070"/>
          </a:xfrm>
        </p:spPr>
        <p:txBody>
          <a:bodyPr/>
          <a:lstStyle/>
          <a:p>
            <a:r>
              <a:rPr lang="en-US" altLang="zh-CN" sz="1800" dirty="0"/>
              <a:t>Some aspects of database design are not caught by normalization</a:t>
            </a:r>
          </a:p>
          <a:p>
            <a:r>
              <a:rPr lang="en-US" altLang="zh-CN" sz="1800" dirty="0"/>
              <a:t>Examples of bad database design to be avoided: Instead of earnings(company-id, year, amount), use </a:t>
            </a:r>
          </a:p>
          <a:p>
            <a:pPr lvl="1"/>
            <a:r>
              <a:rPr lang="en-US" altLang="zh-CN" sz="1600" dirty="0"/>
              <a:t>earnings-2000, earnings-2001, earnings-2002, etc., all on the schema (company-id, earnings)</a:t>
            </a:r>
          </a:p>
          <a:p>
            <a:pPr lvl="2"/>
            <a:r>
              <a:rPr lang="en-US" altLang="zh-CN" sz="1400" dirty="0"/>
              <a:t>Above are in BCNF, but make querying across years difficult and needs a new table each year</a:t>
            </a:r>
          </a:p>
          <a:p>
            <a:pPr lvl="1"/>
            <a:r>
              <a:rPr lang="en-US" altLang="zh-CN" sz="1600" dirty="0"/>
              <a:t>company-year(company-id, earnings-2000, earnings-2001, earnings-2002)</a:t>
            </a:r>
          </a:p>
          <a:p>
            <a:pPr lvl="2"/>
            <a:r>
              <a:rPr lang="en-US" altLang="zh-CN" sz="1400" dirty="0"/>
              <a:t>Also in BCNF, but make querying across years difficult and requires new attribute each year.</a:t>
            </a:r>
          </a:p>
          <a:p>
            <a:pPr lvl="2"/>
            <a:r>
              <a:rPr lang="en-US" altLang="zh-CN" sz="1400" dirty="0"/>
              <a:t>Is an example of a crosstab, where values for one attribute become column names</a:t>
            </a:r>
          </a:p>
          <a:p>
            <a:pPr lvl="2"/>
            <a:r>
              <a:rPr lang="en-US" altLang="zh-CN" sz="1400" dirty="0"/>
              <a:t>Used in spreadsheets, and in data analysis tools</a:t>
            </a:r>
            <a:endParaRPr lang="zh-CN" altLang="en-US" sz="1400" dirty="0"/>
          </a:p>
        </p:txBody>
      </p:sp>
    </p:spTree>
    <p:extLst>
      <p:ext uri="{BB962C8B-B14F-4D97-AF65-F5344CB8AC3E}">
        <p14:creationId xmlns:p14="http://schemas.microsoft.com/office/powerpoint/2010/main" val="2010303104"/>
      </p:ext>
    </p:extLst>
  </p:cSld>
  <p:clrMapOvr>
    <a:masterClrMapping/>
  </p:clrMapOvr>
  <p:transition>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D574F-D0D6-4957-AED2-D57001397D30}"/>
              </a:ext>
            </a:extLst>
          </p:cNvPr>
          <p:cNvSpPr>
            <a:spLocks noGrp="1"/>
          </p:cNvSpPr>
          <p:nvPr>
            <p:ph type="title"/>
          </p:nvPr>
        </p:nvSpPr>
        <p:spPr/>
        <p:txBody>
          <a:bodyPr/>
          <a:lstStyle/>
          <a:p>
            <a:pPr algn="ctr"/>
            <a:r>
              <a:rPr lang="en-US" altLang="zh-CN" dirty="0"/>
              <a:t>Quiz</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6CA0677-31A0-4063-947A-B566053E2C23}"/>
                  </a:ext>
                </a:extLst>
              </p:cNvPr>
              <p:cNvSpPr>
                <a:spLocks noGrp="1"/>
              </p:cNvSpPr>
              <p:nvPr>
                <p:ph idx="1"/>
              </p:nvPr>
            </p:nvSpPr>
            <p:spPr>
              <a:xfrm>
                <a:off x="251520" y="699542"/>
                <a:ext cx="8640960" cy="3805070"/>
              </a:xfrm>
            </p:spPr>
            <p:txBody>
              <a:bodyPr/>
              <a:lstStyle/>
              <a:p>
                <a:r>
                  <a:rPr lang="en-US" altLang="zh-CN" sz="1800" b="1" dirty="0"/>
                  <a:t>Given the relational schema R&lt;U, F&gt;, U={A,B,C,D</a:t>
                </a:r>
                <a:r>
                  <a:rPr lang="en-US" altLang="zh-CN" sz="1800" b="1"/>
                  <a:t>,E}, </a:t>
                </a:r>
                <a:r>
                  <a:rPr lang="en-US" altLang="zh-CN" sz="1800" b="1" dirty="0"/>
                  <a:t>F={AC</a:t>
                </a:r>
                <a14:m>
                  <m:oMath xmlns:m="http://schemas.openxmlformats.org/officeDocument/2006/math">
                    <m:r>
                      <a:rPr lang="en-US" altLang="zh-CN" sz="1800" b="1" i="1" smtClean="0">
                        <a:latin typeface="Cambria Math" panose="02040503050406030204" pitchFamily="18" charset="0"/>
                        <a:ea typeface="Cambria Math" panose="02040503050406030204" pitchFamily="18" charset="0"/>
                      </a:rPr>
                      <m:t>→</m:t>
                    </m:r>
                  </m:oMath>
                </a14:m>
                <a:r>
                  <a:rPr lang="en-US" altLang="zh-CN" sz="1800" b="1" dirty="0"/>
                  <a:t>BD, B</a:t>
                </a:r>
                <a:r>
                  <a:rPr lang="en-US" altLang="zh-CN" sz="1800" b="1" dirty="0">
                    <a:ea typeface="Cambria Math" panose="02040503050406030204" pitchFamily="18" charset="0"/>
                  </a:rPr>
                  <a:t> </a:t>
                </a:r>
                <a14:m>
                  <m:oMath xmlns:m="http://schemas.openxmlformats.org/officeDocument/2006/math">
                    <m:r>
                      <a:rPr lang="en-US" altLang="zh-CN" sz="1800" b="1" i="1">
                        <a:latin typeface="Cambria Math" panose="02040503050406030204" pitchFamily="18" charset="0"/>
                        <a:ea typeface="Cambria Math" panose="02040503050406030204" pitchFamily="18" charset="0"/>
                      </a:rPr>
                      <m:t>→ </m:t>
                    </m:r>
                  </m:oMath>
                </a14:m>
                <a:r>
                  <a:rPr lang="en-US" altLang="zh-CN" sz="1800" b="1" dirty="0"/>
                  <a:t>C, C</a:t>
                </a:r>
                <a:r>
                  <a:rPr lang="en-US" altLang="zh-CN" sz="1800" b="1" dirty="0">
                    <a:ea typeface="Cambria Math" panose="02040503050406030204" pitchFamily="18" charset="0"/>
                  </a:rPr>
                  <a:t> </a:t>
                </a:r>
                <a14:m>
                  <m:oMath xmlns:m="http://schemas.openxmlformats.org/officeDocument/2006/math">
                    <m:r>
                      <a:rPr lang="en-US" altLang="zh-CN" sz="1800" b="1" i="1">
                        <a:latin typeface="Cambria Math" panose="02040503050406030204" pitchFamily="18" charset="0"/>
                        <a:ea typeface="Cambria Math" panose="02040503050406030204" pitchFamily="18" charset="0"/>
                      </a:rPr>
                      <m:t>→ </m:t>
                    </m:r>
                  </m:oMath>
                </a14:m>
                <a:r>
                  <a:rPr lang="en-US" altLang="zh-CN" sz="1800" b="1" dirty="0"/>
                  <a:t>D, B</a:t>
                </a:r>
                <a:r>
                  <a:rPr lang="en-US" altLang="zh-CN" sz="1800" b="1" dirty="0">
                    <a:ea typeface="Cambria Math" panose="02040503050406030204" pitchFamily="18" charset="0"/>
                  </a:rPr>
                  <a:t> </a:t>
                </a:r>
                <a14:m>
                  <m:oMath xmlns:m="http://schemas.openxmlformats.org/officeDocument/2006/math">
                    <m:r>
                      <a:rPr lang="en-US" altLang="zh-CN" sz="1800" b="1" i="1">
                        <a:latin typeface="Cambria Math" panose="02040503050406030204" pitchFamily="18" charset="0"/>
                        <a:ea typeface="Cambria Math" panose="02040503050406030204" pitchFamily="18" charset="0"/>
                      </a:rPr>
                      <m:t>→ </m:t>
                    </m:r>
                  </m:oMath>
                </a14:m>
                <a:r>
                  <a:rPr lang="en-US" altLang="zh-CN" sz="1800" b="1" dirty="0"/>
                  <a:t>E}</a:t>
                </a:r>
              </a:p>
              <a:p>
                <a:pPr marL="800100" lvl="1" indent="-342900">
                  <a:buFont typeface="+mj-lt"/>
                  <a:buAutoNum type="alphaLcParenR"/>
                </a:pPr>
                <a:r>
                  <a:rPr lang="en-US" altLang="zh-CN" sz="1600" dirty="0"/>
                  <a:t>use Armstrong axioms and related rules to prove the functional dependency AC</a:t>
                </a:r>
                <a:r>
                  <a:rPr lang="en-US" altLang="zh-CN" sz="1600" dirty="0">
                    <a:ea typeface="Cambria Math" panose="02040503050406030204" pitchFamily="18" charset="0"/>
                  </a:rPr>
                  <a:t> </a:t>
                </a:r>
                <a14:m>
                  <m:oMath xmlns:m="http://schemas.openxmlformats.org/officeDocument/2006/math">
                    <m:r>
                      <a:rPr lang="en-US" altLang="zh-CN" sz="1600" i="1">
                        <a:latin typeface="Cambria Math" panose="02040503050406030204" pitchFamily="18" charset="0"/>
                        <a:ea typeface="Cambria Math" panose="02040503050406030204" pitchFamily="18" charset="0"/>
                      </a:rPr>
                      <m:t>→ </m:t>
                    </m:r>
                  </m:oMath>
                </a14:m>
                <a:r>
                  <a:rPr lang="en-US" altLang="zh-CN" sz="1600" dirty="0"/>
                  <a:t>E</a:t>
                </a:r>
              </a:p>
              <a:p>
                <a:pPr marL="800100" lvl="1" indent="-342900">
                  <a:buFont typeface="+mj-lt"/>
                  <a:buAutoNum type="alphaLcParenR"/>
                </a:pPr>
                <a:r>
                  <a:rPr lang="en-US" altLang="zh-CN" sz="1600" dirty="0"/>
                  <a:t>compute (A)</a:t>
                </a:r>
                <a:r>
                  <a:rPr lang="en-US" altLang="zh-CN" sz="1600" baseline="30000" dirty="0"/>
                  <a:t>+</a:t>
                </a:r>
                <a:r>
                  <a:rPr lang="en-US" altLang="zh-CN" sz="1600" dirty="0"/>
                  <a:t> and (AC)</a:t>
                </a:r>
                <a:r>
                  <a:rPr lang="en-US" altLang="zh-CN" sz="1600" baseline="30000" dirty="0"/>
                  <a:t>+</a:t>
                </a:r>
                <a:endParaRPr lang="en-US" altLang="zh-CN" sz="1600" dirty="0"/>
              </a:p>
              <a:p>
                <a:pPr marL="800100" lvl="1" indent="-342900">
                  <a:buFont typeface="+mj-lt"/>
                  <a:buAutoNum type="alphaLcParenR"/>
                </a:pPr>
                <a:r>
                  <a:rPr lang="en-US" altLang="zh-CN" sz="1600" dirty="0"/>
                  <a:t>find a canonical cover F</a:t>
                </a:r>
                <a:r>
                  <a:rPr lang="en-US" altLang="zh-CN" sz="1600" baseline="-25000" dirty="0"/>
                  <a:t>c</a:t>
                </a:r>
                <a:r>
                  <a:rPr lang="en-US" altLang="zh-CN" sz="1600" dirty="0"/>
                  <a:t> of F</a:t>
                </a:r>
              </a:p>
              <a:p>
                <a:pPr marL="800100" lvl="1" indent="-342900">
                  <a:buFont typeface="+mj-lt"/>
                  <a:buAutoNum type="alphaLcParenR"/>
                </a:pPr>
                <a:r>
                  <a:rPr lang="en-US" altLang="zh-CN" sz="1600" dirty="0"/>
                  <a:t>find all candidate keys, and point out R is in which normal form</a:t>
                </a:r>
              </a:p>
              <a:p>
                <a:pPr marL="800100" lvl="1" indent="-342900">
                  <a:buFont typeface="+mj-lt"/>
                  <a:buAutoNum type="alphaLcParenR"/>
                </a:pPr>
                <a:r>
                  <a:rPr lang="en-US" altLang="zh-CN" sz="1600" dirty="0"/>
                  <a:t>decompose R into 3NF such that the decomposition is lossless-join and dependency preserving. </a:t>
                </a:r>
              </a:p>
              <a:p>
                <a:pPr marL="800100" lvl="1" indent="-342900">
                  <a:buFont typeface="+mj-lt"/>
                  <a:buAutoNum type="alphaLcParenR"/>
                </a:pPr>
                <a:r>
                  <a:rPr lang="en-US" altLang="zh-CN" sz="1600" dirty="0"/>
                  <a:t>give related explanation or proof that the above decomposition is lossless-join and dependency preserving</a:t>
                </a:r>
              </a:p>
              <a:p>
                <a:pPr marL="800100" lvl="1" indent="-342900">
                  <a:buFont typeface="+mj-lt"/>
                  <a:buAutoNum type="alphaLcParenR"/>
                </a:pPr>
                <a:r>
                  <a:rPr lang="en-US" altLang="zh-CN" sz="1600" dirty="0"/>
                  <a:t>*decompose the relation into relations in BCNF</a:t>
                </a:r>
              </a:p>
            </p:txBody>
          </p:sp>
        </mc:Choice>
        <mc:Fallback xmlns="">
          <p:sp>
            <p:nvSpPr>
              <p:cNvPr id="3" name="内容占位符 2">
                <a:extLst>
                  <a:ext uri="{FF2B5EF4-FFF2-40B4-BE49-F238E27FC236}">
                    <a16:creationId xmlns:a16="http://schemas.microsoft.com/office/drawing/2014/main" id="{06CA0677-31A0-4063-947A-B566053E2C23}"/>
                  </a:ext>
                </a:extLst>
              </p:cNvPr>
              <p:cNvSpPr>
                <a:spLocks noGrp="1" noRot="1" noChangeAspect="1" noMove="1" noResize="1" noEditPoints="1" noAdjustHandles="1" noChangeArrowheads="1" noChangeShapeType="1" noTextEdit="1"/>
              </p:cNvSpPr>
              <p:nvPr>
                <p:ph idx="1"/>
              </p:nvPr>
            </p:nvSpPr>
            <p:spPr>
              <a:xfrm>
                <a:off x="251520" y="699542"/>
                <a:ext cx="8640960" cy="3805070"/>
              </a:xfrm>
              <a:blipFill>
                <a:blip r:embed="rId3"/>
                <a:stretch>
                  <a:fillRect l="-423" t="-962" r="-21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58148193"/>
      </p:ext>
    </p:extLst>
  </p:cSld>
  <p:clrMapOvr>
    <a:masterClrMapping/>
  </p:clrMapOvr>
  <p:transition>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E3441F-9C6E-45C4-BE73-2C152666A09E}"/>
              </a:ext>
            </a:extLst>
          </p:cNvPr>
          <p:cNvSpPr>
            <a:spLocks noGrp="1"/>
          </p:cNvSpPr>
          <p:nvPr>
            <p:ph type="title"/>
          </p:nvPr>
        </p:nvSpPr>
        <p:spPr/>
        <p:txBody>
          <a:bodyPr/>
          <a:lstStyle/>
          <a:p>
            <a:pPr algn="ctr"/>
            <a:r>
              <a:rPr lang="en-US" altLang="zh-CN" dirty="0"/>
              <a:t>Homework</a:t>
            </a:r>
            <a:endParaRPr lang="zh-CN" altLang="en-US" dirty="0"/>
          </a:p>
        </p:txBody>
      </p:sp>
      <p:sp>
        <p:nvSpPr>
          <p:cNvPr id="3" name="内容占位符 2">
            <a:extLst>
              <a:ext uri="{FF2B5EF4-FFF2-40B4-BE49-F238E27FC236}">
                <a16:creationId xmlns:a16="http://schemas.microsoft.com/office/drawing/2014/main" id="{A4CC6037-97D0-474F-B4AD-344AE8B0BD76}"/>
              </a:ext>
            </a:extLst>
          </p:cNvPr>
          <p:cNvSpPr>
            <a:spLocks noGrp="1"/>
          </p:cNvSpPr>
          <p:nvPr>
            <p:ph idx="1"/>
          </p:nvPr>
        </p:nvSpPr>
        <p:spPr>
          <a:xfrm>
            <a:off x="251520" y="699542"/>
            <a:ext cx="8568952" cy="3805070"/>
          </a:xfrm>
        </p:spPr>
        <p:txBody>
          <a:bodyPr/>
          <a:lstStyle/>
          <a:p>
            <a:pPr>
              <a:spcBef>
                <a:spcPts val="600"/>
              </a:spcBef>
            </a:pPr>
            <a:r>
              <a:rPr lang="en-US" altLang="zh-CN" sz="2000" b="1" dirty="0"/>
              <a:t>Exercises</a:t>
            </a:r>
            <a:endParaRPr lang="en-US" altLang="zh-CN" sz="2000" b="1" dirty="0">
              <a:solidFill>
                <a:srgbClr val="FF0000"/>
              </a:solidFill>
            </a:endParaRPr>
          </a:p>
          <a:p>
            <a:pPr lvl="1">
              <a:spcBef>
                <a:spcPts val="600"/>
              </a:spcBef>
            </a:pPr>
            <a:r>
              <a:rPr lang="en-US" altLang="zh-CN" dirty="0"/>
              <a:t>7.1, 7.6</a:t>
            </a:r>
            <a:r>
              <a:rPr lang="zh-CN" altLang="en-US" dirty="0"/>
              <a:t>，</a:t>
            </a:r>
            <a:r>
              <a:rPr lang="en-US" altLang="zh-CN" dirty="0"/>
              <a:t>7.30(a,</a:t>
            </a:r>
            <a:r>
              <a:rPr lang="zh-CN" altLang="en-US" dirty="0"/>
              <a:t> </a:t>
            </a:r>
            <a:r>
              <a:rPr lang="en-US" altLang="zh-CN" dirty="0"/>
              <a:t>b,</a:t>
            </a:r>
            <a:r>
              <a:rPr lang="zh-CN" altLang="en-US" dirty="0"/>
              <a:t> </a:t>
            </a:r>
            <a:r>
              <a:rPr lang="en-US" altLang="zh-CN" dirty="0"/>
              <a:t>c,</a:t>
            </a:r>
            <a:r>
              <a:rPr lang="zh-CN" altLang="en-US" dirty="0"/>
              <a:t> </a:t>
            </a:r>
            <a:r>
              <a:rPr lang="en-US" altLang="zh-CN" dirty="0"/>
              <a:t>d)</a:t>
            </a:r>
          </a:p>
          <a:p>
            <a:pPr>
              <a:spcBef>
                <a:spcPts val="600"/>
              </a:spcBef>
            </a:pPr>
            <a:r>
              <a:rPr lang="en-US" altLang="zh-CN" sz="2000" b="1" dirty="0"/>
              <a:t>Submission</a:t>
            </a:r>
          </a:p>
          <a:p>
            <a:pPr lvl="1">
              <a:spcBef>
                <a:spcPts val="600"/>
              </a:spcBef>
            </a:pPr>
            <a:r>
              <a:rPr lang="en-US" altLang="zh-CN" dirty="0"/>
              <a:t>Canvas</a:t>
            </a:r>
            <a:r>
              <a:rPr lang="zh-CN" altLang="en-US" dirty="0"/>
              <a:t>上提交，上传单个</a:t>
            </a:r>
            <a:r>
              <a:rPr lang="en-US" altLang="zh-CN" dirty="0"/>
              <a:t>PDF</a:t>
            </a:r>
            <a:r>
              <a:rPr lang="zh-CN" altLang="en-US"/>
              <a:t>文件</a:t>
            </a:r>
            <a:endParaRPr lang="en-US" altLang="zh-CN" dirty="0"/>
          </a:p>
        </p:txBody>
      </p:sp>
    </p:spTree>
    <p:extLst>
      <p:ext uri="{BB962C8B-B14F-4D97-AF65-F5344CB8AC3E}">
        <p14:creationId xmlns:p14="http://schemas.microsoft.com/office/powerpoint/2010/main" val="3355988850"/>
      </p:ext>
    </p:extLst>
  </p:cSld>
  <p:clrMapOvr>
    <a:masterClrMapping/>
  </p:clrMapOvr>
  <p:transition>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995686"/>
            <a:ext cx="7386416" cy="519113"/>
          </a:xfrm>
        </p:spPr>
        <p:txBody>
          <a:bodyPr/>
          <a:lstStyle/>
          <a:p>
            <a:r>
              <a:rPr lang="en-US" altLang="zh-CN" sz="3600" dirty="0">
                <a:latin typeface="Arial" panose="020B0604020202020204" pitchFamily="34" charset="0"/>
                <a:ea typeface="宋体" pitchFamily="2" charset="-122"/>
              </a:rPr>
              <a:t>End of Chapter 7</a:t>
            </a:r>
            <a:endParaRPr lang="zh-CN" altLang="en-US" sz="3600" dirty="0">
              <a:latin typeface="Arial" panose="020B0604020202020204" pitchFamily="34" charset="0"/>
            </a:endParaRPr>
          </a:p>
        </p:txBody>
      </p:sp>
    </p:spTree>
    <p:extLst>
      <p:ext uri="{BB962C8B-B14F-4D97-AF65-F5344CB8AC3E}">
        <p14:creationId xmlns:p14="http://schemas.microsoft.com/office/powerpoint/2010/main" val="667907772"/>
      </p:ext>
    </p:extLst>
  </p:cSld>
  <p:clrMapOvr>
    <a:masterClrMapping/>
  </p:clrMapOvr>
</p:sld>
</file>

<file path=ppt/theme/theme1.xml><?xml version="1.0" encoding="utf-8"?>
<a:theme xmlns:a="http://schemas.openxmlformats.org/drawingml/2006/main" name="默认设计模板">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36892</TotalTime>
  <Words>11288</Words>
  <Application>Microsoft Office PowerPoint</Application>
  <PresentationFormat>全屏显示(16:9)</PresentationFormat>
  <Paragraphs>1264</Paragraphs>
  <Slides>119</Slides>
  <Notes>33</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1</vt:i4>
      </vt:variant>
      <vt:variant>
        <vt:lpstr>幻灯片标题</vt:lpstr>
      </vt:variant>
      <vt:variant>
        <vt:i4>119</vt:i4>
      </vt:variant>
    </vt:vector>
  </HeadingPairs>
  <TitlesOfParts>
    <vt:vector size="137" baseType="lpstr">
      <vt:lpstr>Greek Symbols</vt:lpstr>
      <vt:lpstr>Monotype Sorts</vt:lpstr>
      <vt:lpstr>华文楷体</vt:lpstr>
      <vt:lpstr>华文行楷</vt:lpstr>
      <vt:lpstr>华文中宋</vt:lpstr>
      <vt:lpstr>宋体</vt:lpstr>
      <vt:lpstr>微软雅黑</vt:lpstr>
      <vt:lpstr>Arial</vt:lpstr>
      <vt:lpstr>Calibri</vt:lpstr>
      <vt:lpstr>Cambria Math</vt:lpstr>
      <vt:lpstr>Comic Sans MS</vt:lpstr>
      <vt:lpstr>Helvetica</vt:lpstr>
      <vt:lpstr>Symbol</vt:lpstr>
      <vt:lpstr>Times New Roman</vt:lpstr>
      <vt:lpstr>Trebuchet MS</vt:lpstr>
      <vt:lpstr>Wingdings</vt:lpstr>
      <vt:lpstr>默认设计模板</vt:lpstr>
      <vt:lpstr>Photo Editor Photo</vt:lpstr>
      <vt:lpstr>PowerPoint 演示文稿</vt:lpstr>
      <vt:lpstr>Outline</vt:lpstr>
      <vt:lpstr>Larger Relation Schema/更大的模式</vt:lpstr>
      <vt:lpstr>Larger Relation Schema/更大的模式</vt:lpstr>
      <vt:lpstr>Smaller Relation Schema/更小的模式</vt:lpstr>
      <vt:lpstr>Good Relation Schema</vt:lpstr>
      <vt:lpstr>Goal - Devise a Method for the Following</vt:lpstr>
      <vt:lpstr>Outline</vt:lpstr>
      <vt:lpstr>Functional Dependency (函数依赖)</vt:lpstr>
      <vt:lpstr>Functional Dependency (Cont.)</vt:lpstr>
      <vt:lpstr>Functional Dependency (Cont.)</vt:lpstr>
      <vt:lpstr>Applications of Functional Dependencies</vt:lpstr>
      <vt:lpstr>Functional Dependencies (Cont.)</vt:lpstr>
      <vt:lpstr>Decomposition</vt:lpstr>
      <vt:lpstr>Lossy-join Decomposition </vt:lpstr>
      <vt:lpstr>Outline</vt:lpstr>
      <vt:lpstr>Closure of a Set of Functional Dependencies</vt:lpstr>
      <vt:lpstr>Closure of Functional Dependencies (Cont.)</vt:lpstr>
      <vt:lpstr>Example</vt:lpstr>
      <vt:lpstr>Procedure for Computing F^+</vt:lpstr>
      <vt:lpstr>F^+</vt:lpstr>
      <vt:lpstr>Outline</vt:lpstr>
      <vt:lpstr>Closure of Attribute Set (属性集的闭包)</vt:lpstr>
      <vt:lpstr>Example of Attribute Set Closure</vt:lpstr>
      <vt:lpstr>Example of Attribute Set Closure</vt:lpstr>
      <vt:lpstr>Applications of Attribute Closure</vt:lpstr>
      <vt:lpstr>Outline</vt:lpstr>
      <vt:lpstr>Redundancy in FDs</vt:lpstr>
      <vt:lpstr>Extraneous Attributes (无关属性)</vt:lpstr>
      <vt:lpstr>Testing Extraneous Attributes</vt:lpstr>
      <vt:lpstr>Canonical Cover (正则覆盖)</vt:lpstr>
      <vt:lpstr>Example of Computing a Canonical Cover</vt:lpstr>
      <vt:lpstr>Example of Computing a Canonical Cover</vt:lpstr>
      <vt:lpstr>Example of Computing a Canonical Cover</vt:lpstr>
      <vt:lpstr>Find Candidate Keys</vt:lpstr>
      <vt:lpstr>Find Candidate Keys (Cont.)</vt:lpstr>
      <vt:lpstr>Find Candidate Keys (Cont.)</vt:lpstr>
      <vt:lpstr>Find Candidate Keys (Cont.)</vt:lpstr>
      <vt:lpstr>Find Candidate Keys (Cont.)</vt:lpstr>
      <vt:lpstr>Find Candidate Keys (Cont.)</vt:lpstr>
      <vt:lpstr>Outline</vt:lpstr>
      <vt:lpstr>Decomposition</vt:lpstr>
      <vt:lpstr>Decomposition</vt:lpstr>
      <vt:lpstr>Example</vt:lpstr>
      <vt:lpstr>Example</vt:lpstr>
      <vt:lpstr>Test for Lossless-join Decomposition</vt:lpstr>
      <vt:lpstr>Example</vt:lpstr>
      <vt:lpstr>Example (cont.)</vt:lpstr>
      <vt:lpstr>More Examples</vt:lpstr>
      <vt:lpstr>More Examples</vt:lpstr>
      <vt:lpstr>More Examples</vt:lpstr>
      <vt:lpstr>Outline</vt:lpstr>
      <vt:lpstr>Goal of Decomposition</vt:lpstr>
      <vt:lpstr>Example</vt:lpstr>
      <vt:lpstr>Testing for Dependency Preservation</vt:lpstr>
      <vt:lpstr>Outline</vt:lpstr>
      <vt:lpstr>Data Normalization (规范化)</vt:lpstr>
      <vt:lpstr>Well-structured Relations</vt:lpstr>
      <vt:lpstr>PowerPoint 演示文稿</vt:lpstr>
      <vt:lpstr>Atomic Domains and 1st Normal Form </vt:lpstr>
      <vt:lpstr>First Normal Form (Cont.)</vt:lpstr>
      <vt:lpstr>First Normal Form (1NF)</vt:lpstr>
      <vt:lpstr>PowerPoint 演示文稿</vt:lpstr>
      <vt:lpstr>Second Normal Form</vt:lpstr>
      <vt:lpstr>Functional Dependencies in Employee</vt:lpstr>
      <vt:lpstr>Decompose a Relation to 2nd Normal Form</vt:lpstr>
      <vt:lpstr>Third Normal Form</vt:lpstr>
      <vt:lpstr>Relation with Transitive Dependency</vt:lpstr>
      <vt:lpstr>Relation with Transitive Dependency</vt:lpstr>
      <vt:lpstr>Relation with Transitive Dependency</vt:lpstr>
      <vt:lpstr>Relations in 3NF</vt:lpstr>
      <vt:lpstr>Data Normalization</vt:lpstr>
      <vt:lpstr>Boyce-Codd Normal Form</vt:lpstr>
      <vt:lpstr>Example</vt:lpstr>
      <vt:lpstr>Testing for BCNF</vt:lpstr>
      <vt:lpstr>Testing for BCNF (Cont.)</vt:lpstr>
      <vt:lpstr>Testing Decomposition for BCNF</vt:lpstr>
      <vt:lpstr>BCNF Decomposition Algorithm</vt:lpstr>
      <vt:lpstr>Example</vt:lpstr>
      <vt:lpstr>Decomposition Tree</vt:lpstr>
      <vt:lpstr>BCNF and Dependency Preservation</vt:lpstr>
      <vt:lpstr>Third Normal Form: Motivation</vt:lpstr>
      <vt:lpstr>Third Normal Form</vt:lpstr>
      <vt:lpstr>3NF (Cont.)</vt:lpstr>
      <vt:lpstr>Testing for 3NF</vt:lpstr>
      <vt:lpstr>3NF Decomposition Algorithm</vt:lpstr>
      <vt:lpstr>3NF Decomposition Example 1</vt:lpstr>
      <vt:lpstr>3NF Decomposition Example 2</vt:lpstr>
      <vt:lpstr>Example</vt:lpstr>
      <vt:lpstr>Applying 3NF to banker-info-schema</vt:lpstr>
      <vt:lpstr>Comparison of BCNF and 3NF</vt:lpstr>
      <vt:lpstr>Comparison of BCNF and 3NF (Cont.)</vt:lpstr>
      <vt:lpstr>Design Goals</vt:lpstr>
      <vt:lpstr>Design Goals (Cont.)</vt:lpstr>
      <vt:lpstr>Testing for FDs Across Relations</vt:lpstr>
      <vt:lpstr>Testing for FDs Across Relations (Cont.)</vt:lpstr>
      <vt:lpstr>Outline</vt:lpstr>
      <vt:lpstr>Multivalued Dependencies</vt:lpstr>
      <vt:lpstr>PowerPoint 演示文稿</vt:lpstr>
      <vt:lpstr>Multivalued Dependencies (Cont.)</vt:lpstr>
      <vt:lpstr>Multivalued Dependencies (MVDs)</vt:lpstr>
      <vt:lpstr>MVD (Cont.)</vt:lpstr>
      <vt:lpstr>MVD (Cont.)</vt:lpstr>
      <vt:lpstr>Example</vt:lpstr>
      <vt:lpstr>Example (Cont.)</vt:lpstr>
      <vt:lpstr>Use of Multivalued Dependencies</vt:lpstr>
      <vt:lpstr>Theory of MVDs</vt:lpstr>
      <vt:lpstr>Fourth Normal Form</vt:lpstr>
      <vt:lpstr>Restriction of Multivalued Dependencies</vt:lpstr>
      <vt:lpstr>4NF Decomposition Algorithm</vt:lpstr>
      <vt:lpstr>Example</vt:lpstr>
      <vt:lpstr>Further Normal Forms</vt:lpstr>
      <vt:lpstr>Outline</vt:lpstr>
      <vt:lpstr>E-R Model and Normalization</vt:lpstr>
      <vt:lpstr>Denormalization for Performance</vt:lpstr>
      <vt:lpstr>Other Design Issues</vt:lpstr>
      <vt:lpstr>Quiz</vt:lpstr>
      <vt:lpstr>Homework</vt:lpstr>
      <vt:lpstr>End of Chapter 7</vt:lpstr>
    </vt:vector>
  </TitlesOfParts>
  <Company>Global Intelligence 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Creating System Analysis</dc:title>
  <dc:creator>Jessie Wang</dc:creator>
  <cp:lastModifiedBy>ZYC</cp:lastModifiedBy>
  <cp:revision>2271</cp:revision>
  <dcterms:created xsi:type="dcterms:W3CDTF">2007-09-26T12:04:45Z</dcterms:created>
  <dcterms:modified xsi:type="dcterms:W3CDTF">2025-04-08T14:54:37Z</dcterms:modified>
</cp:coreProperties>
</file>