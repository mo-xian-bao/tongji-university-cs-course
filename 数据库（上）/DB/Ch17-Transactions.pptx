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  <p:sldMasterId id="2147483735" r:id="rId2"/>
  </p:sldMasterIdLst>
  <p:notesMasterIdLst>
    <p:notesMasterId r:id="rId37"/>
  </p:notesMasterIdLst>
  <p:handoutMasterIdLst>
    <p:handoutMasterId r:id="rId38"/>
  </p:handoutMasterIdLst>
  <p:sldIdLst>
    <p:sldId id="1842" r:id="rId3"/>
    <p:sldId id="1798" r:id="rId4"/>
    <p:sldId id="1801" r:id="rId5"/>
    <p:sldId id="1802" r:id="rId6"/>
    <p:sldId id="1803" r:id="rId7"/>
    <p:sldId id="1804" r:id="rId8"/>
    <p:sldId id="1805" r:id="rId9"/>
    <p:sldId id="1838" r:id="rId10"/>
    <p:sldId id="1810" r:id="rId11"/>
    <p:sldId id="1811" r:id="rId12"/>
    <p:sldId id="1813" r:id="rId13"/>
    <p:sldId id="1814" r:id="rId14"/>
    <p:sldId id="1815" r:id="rId15"/>
    <p:sldId id="1839" r:id="rId16"/>
    <p:sldId id="1817" r:id="rId17"/>
    <p:sldId id="1818" r:id="rId18"/>
    <p:sldId id="1819" r:id="rId19"/>
    <p:sldId id="1820" r:id="rId20"/>
    <p:sldId id="1821" r:id="rId21"/>
    <p:sldId id="1822" r:id="rId22"/>
    <p:sldId id="1823" r:id="rId23"/>
    <p:sldId id="1824" r:id="rId24"/>
    <p:sldId id="1825" r:id="rId25"/>
    <p:sldId id="1840" r:id="rId26"/>
    <p:sldId id="1827" r:id="rId27"/>
    <p:sldId id="1828" r:id="rId28"/>
    <p:sldId id="1829" r:id="rId29"/>
    <p:sldId id="1831" r:id="rId30"/>
    <p:sldId id="1841" r:id="rId31"/>
    <p:sldId id="1833" r:id="rId32"/>
    <p:sldId id="1834" r:id="rId33"/>
    <p:sldId id="1835" r:id="rId34"/>
    <p:sldId id="1837" r:id="rId35"/>
    <p:sldId id="1910" r:id="rId36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1842"/>
            <p14:sldId id="1798"/>
            <p14:sldId id="1801"/>
            <p14:sldId id="1802"/>
            <p14:sldId id="1803"/>
            <p14:sldId id="1804"/>
            <p14:sldId id="1805"/>
            <p14:sldId id="1838"/>
            <p14:sldId id="1810"/>
            <p14:sldId id="1811"/>
            <p14:sldId id="1813"/>
            <p14:sldId id="1814"/>
            <p14:sldId id="1815"/>
            <p14:sldId id="1839"/>
            <p14:sldId id="1817"/>
            <p14:sldId id="1818"/>
            <p14:sldId id="1819"/>
            <p14:sldId id="1820"/>
            <p14:sldId id="1821"/>
            <p14:sldId id="1822"/>
            <p14:sldId id="1823"/>
            <p14:sldId id="1824"/>
            <p14:sldId id="1825"/>
            <p14:sldId id="1840"/>
            <p14:sldId id="1827"/>
            <p14:sldId id="1828"/>
            <p14:sldId id="1829"/>
            <p14:sldId id="1831"/>
            <p14:sldId id="1841"/>
            <p14:sldId id="1833"/>
            <p14:sldId id="1834"/>
            <p14:sldId id="1835"/>
            <p14:sldId id="1837"/>
            <p14:sldId id="19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81919" autoAdjust="0"/>
  </p:normalViewPr>
  <p:slideViewPr>
    <p:cSldViewPr>
      <p:cViewPr varScale="1">
        <p:scale>
          <a:sx n="125" d="100"/>
          <a:sy n="125" d="100"/>
        </p:scale>
        <p:origin x="1194" y="144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7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094149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17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4168213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哪个事务先读视图等价的调度中还是哪个事务先读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你读了谁写的变量视图等价的调度中还是读他写的</a:t>
            </a:r>
            <a:endParaRPr lang="en-US" altLang="zh-CN" dirty="0"/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哪个事务最后写的视图等价的调度中还是哪个事务最后写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21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6977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23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061798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读了</a:t>
            </a:r>
            <a:r>
              <a:rPr lang="en-US" altLang="zh-CN" dirty="0"/>
              <a:t>B</a:t>
            </a:r>
            <a:r>
              <a:rPr lang="zh-CN" altLang="en-US" dirty="0"/>
              <a:t>写的，</a:t>
            </a:r>
            <a:r>
              <a:rPr lang="en-US" altLang="zh-CN" dirty="0"/>
              <a:t>A</a:t>
            </a:r>
            <a:r>
              <a:rPr lang="zh-CN" altLang="en-US" dirty="0"/>
              <a:t>必须在</a:t>
            </a:r>
            <a:r>
              <a:rPr lang="en-US" altLang="zh-CN" dirty="0"/>
              <a:t>B</a:t>
            </a:r>
            <a:r>
              <a:rPr lang="zh-CN" altLang="en-US" dirty="0"/>
              <a:t>后提交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25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933257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26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698030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9525" y="3072"/>
            <a:ext cx="9144000" cy="583072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717142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7024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040413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2025/5/19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566267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197C38C-D414-4266-B351-EA95CA0D0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3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>
            <a:extLst>
              <a:ext uri="{FF2B5EF4-FFF2-40B4-BE49-F238E27FC236}">
                <a16:creationId xmlns:a16="http://schemas.microsoft.com/office/drawing/2014/main" id="{3CDAD826-20E7-4438-B5DD-D3AA4ED6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pPr>
                <a:defRPr/>
              </a:pPr>
              <a:t>2025/5/19</a:t>
            </a:fld>
            <a:endParaRPr lang="zh-CN" altLang="en-US" dirty="0"/>
          </a:p>
        </p:txBody>
      </p:sp>
      <p:sp>
        <p:nvSpPr>
          <p:cNvPr id="5" name="页脚占位符 1">
            <a:extLst>
              <a:ext uri="{FF2B5EF4-FFF2-40B4-BE49-F238E27FC236}">
                <a16:creationId xmlns:a16="http://schemas.microsoft.com/office/drawing/2014/main" id="{9AB88EAB-A34D-4476-93DF-3FF872F7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2800A24-BF08-446B-9251-F108E901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492431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16752D73-FCE0-4C91-9046-B443BB0E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81265A1D-E753-4B73-A145-8601358CF94C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A2112050-F8FB-4C93-9752-2D3FE7B75F9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5BBE3BC9-B6A4-42F2-9408-BD266AA0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E2368EDB-C388-4E28-BBE5-4F255162B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9872EB7-0880-4D4B-AB94-8A492573263B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8DF600F-69D6-4B54-9FE0-7418FD2F14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2025/5/19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9F403212-3DFD-47AC-9FCD-43C4135BB6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07A37F3F-9709-495C-A02A-28A1719A37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4092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A5457454-CD41-4EC0-92FC-4BEB76B0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35396A89-02DC-47BF-A242-E77FB2856038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E84470B1-7E26-445E-8261-EF124C84FCB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DC54CF8F-955A-4A75-ADB5-E00F1353F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8367A01C-6193-475C-8106-FED3AEAAA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FEFBF47-4E4E-4907-8B9A-381E7A293BE9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8C9D253A-10DE-481D-988E-6BEC0CDA20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2025/5/19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B2901E17-58DF-49C4-9DE2-A12586FCDA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27DC25B2-A5E5-4F2C-BA98-D1B72330E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7282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31A94-F931-4AAA-8DB5-6ED9F850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88E0AB-1C0D-42C7-851F-DD65AD7B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  <a:pPr>
                <a:defRPr/>
              </a:pPr>
              <a:t>2025/5/19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48D610-C3FB-43EF-84BB-9022A474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1D823-BC15-486B-873C-13E261F2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12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4" r:id="rId4"/>
    <p:sldLayoutId id="2147483741" r:id="rId5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CABCC62-743F-4022-8159-B19A201B0B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EE9B879-BEBD-4844-945E-D696D6281B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95541F1-4DC5-4655-B057-934C72C68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2025/5/19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D41541A6-4A6E-4EAB-92E4-324E52AD6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00D96588-48D9-48F6-8566-84A7CB18E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4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40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62903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7pPr>
      <a:lvl8pPr marL="1088231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8pPr>
      <a:lvl9pPr marL="1451134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589360" indent="-22621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06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20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347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488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6pPr>
      <a:lvl7pPr marL="2358390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7pPr>
      <a:lvl8pPr marL="2721293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8pPr>
      <a:lvl9pPr marL="3084195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62903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08823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4pPr>
      <a:lvl5pPr marL="145113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5pPr>
      <a:lvl6pPr marL="1814036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6pPr>
      <a:lvl7pPr marL="2176939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7pPr>
      <a:lvl8pPr marL="253984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8pPr>
      <a:lvl9pPr marL="290274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A77F71E-B605-4820-B913-56173A09A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605" y="1851670"/>
            <a:ext cx="9156340" cy="1116356"/>
          </a:xfrm>
          <a:prstGeom prst="rect">
            <a:avLst/>
          </a:prstGeom>
          <a:noFill/>
          <a:ln>
            <a:noFill/>
          </a:ln>
          <a:extLst/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ts val="600"/>
              </a:spcBef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Transactions (</a:t>
            </a:r>
            <a:r>
              <a:rPr lang="zh-CN" altLang="en-US" sz="2800" b="1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事务</a:t>
            </a:r>
            <a:r>
              <a:rPr lang="en-US" altLang="zh-CN" sz="2800" b="1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)</a:t>
            </a:r>
            <a:endParaRPr lang="en-US" altLang="zh-CN" sz="2800" b="1" dirty="0"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defRPr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Chapter 17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B0D7027-3D69-4E35-939E-995F28B50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44417"/>
            <a:ext cx="915634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Zhang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Email: 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yichaozhang</a:t>
            </a:r>
            <a:r>
              <a:rPr lang="en-GB" altLang="zh-CN" sz="1800" dirty="0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@tongji.edu.cn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Department of Computer Science and Technology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Tongji University</a:t>
            </a:r>
          </a:p>
          <a:p>
            <a:pPr algn="ctr">
              <a:buClr>
                <a:srgbClr val="800080"/>
              </a:buClr>
              <a:buSzPct val="90000"/>
            </a:pPr>
            <a:endParaRPr lang="de-CH" sz="1800" dirty="0">
              <a:solidFill>
                <a:srgbClr val="000000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2F6A10C-3978-4571-8E11-512EBE350881}"/>
              </a:ext>
            </a:extLst>
          </p:cNvPr>
          <p:cNvGrpSpPr/>
          <p:nvPr/>
        </p:nvGrpSpPr>
        <p:grpSpPr>
          <a:xfrm>
            <a:off x="6820780" y="34612"/>
            <a:ext cx="2323220" cy="626967"/>
            <a:chOff x="5853448" y="-22066"/>
            <a:chExt cx="2967025" cy="83595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BF37CBE-EBFF-4522-B25D-114F7C120EEF}"/>
                </a:ext>
              </a:extLst>
            </p:cNvPr>
            <p:cNvSpPr txBox="1"/>
            <p:nvPr/>
          </p:nvSpPr>
          <p:spPr>
            <a:xfrm>
              <a:off x="5853448" y="25982"/>
              <a:ext cx="2967025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Lab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9" name="图形 8" descr="原子">
              <a:extLst>
                <a:ext uri="{FF2B5EF4-FFF2-40B4-BE49-F238E27FC236}">
                  <a16:creationId xmlns:a16="http://schemas.microsoft.com/office/drawing/2014/main" id="{366732EC-C279-4260-B05C-265B78B2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288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347614"/>
            <a:ext cx="8568952" cy="33010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Transaction Concept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Schedules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Serializable Schedule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Recoverable Schedule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Testing for Serializability</a:t>
            </a:r>
          </a:p>
        </p:txBody>
      </p:sp>
    </p:spTree>
    <p:extLst>
      <p:ext uri="{BB962C8B-B14F-4D97-AF65-F5344CB8AC3E}">
        <p14:creationId xmlns:p14="http://schemas.microsoft.com/office/powerpoint/2010/main" val="41466767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8B15C-DD15-4D60-89E3-9C8299F9C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Transaction Concept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379B5E-6095-4F6C-A5DA-34A6A0A4D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A transaction is a unit of program execution consisting of multiple operations</a:t>
            </a:r>
          </a:p>
          <a:p>
            <a:pPr lvl="1"/>
            <a:r>
              <a:rPr lang="en-US" altLang="zh-CN" sz="1600" dirty="0"/>
              <a:t>During transaction execution, the database may be </a:t>
            </a:r>
            <a:r>
              <a:rPr lang="en-US" altLang="zh-CN" sz="1600" b="1" dirty="0">
                <a:solidFill>
                  <a:srgbClr val="C00000"/>
                </a:solidFill>
              </a:rPr>
              <a:t>inconsistent</a:t>
            </a:r>
          </a:p>
          <a:p>
            <a:pPr lvl="1"/>
            <a:r>
              <a:rPr lang="en-US" altLang="zh-CN" sz="1600" dirty="0"/>
              <a:t>After the transaction is committed, the database must be </a:t>
            </a:r>
            <a:r>
              <a:rPr lang="en-US" altLang="zh-CN" sz="1600" b="1" dirty="0">
                <a:solidFill>
                  <a:srgbClr val="C00000"/>
                </a:solidFill>
              </a:rPr>
              <a:t>consistent</a:t>
            </a:r>
          </a:p>
          <a:p>
            <a:r>
              <a:rPr lang="en-US" altLang="zh-CN" sz="1800" b="1" dirty="0"/>
              <a:t>Two main issues</a:t>
            </a:r>
          </a:p>
          <a:p>
            <a:pPr lvl="1"/>
            <a:r>
              <a:rPr lang="en-US" altLang="zh-CN" sz="1600" dirty="0"/>
              <a:t>Concurrent execution of multiple transactions-&gt;</a:t>
            </a:r>
            <a:r>
              <a:rPr lang="en-US" altLang="zh-CN" sz="1600" b="1" dirty="0">
                <a:solidFill>
                  <a:srgbClr val="C00000"/>
                </a:solidFill>
              </a:rPr>
              <a:t>Concurrency control</a:t>
            </a:r>
          </a:p>
          <a:p>
            <a:pPr lvl="1"/>
            <a:r>
              <a:rPr lang="en-US" altLang="zh-CN" sz="1600" dirty="0"/>
              <a:t>Hardware failures and system crashes-&gt;</a:t>
            </a:r>
            <a:r>
              <a:rPr lang="en-US" altLang="zh-CN" sz="1600" b="1" dirty="0">
                <a:solidFill>
                  <a:srgbClr val="C00000"/>
                </a:solidFill>
              </a:rPr>
              <a:t>Recovery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2298243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33224-5A42-4EE8-88C2-A88DAE8D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ACID Properties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5D7353-5541-4965-A40B-F8F11122E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424936" cy="3805070"/>
          </a:xfrm>
        </p:spPr>
        <p:txBody>
          <a:bodyPr/>
          <a:lstStyle/>
          <a:p>
            <a:r>
              <a:rPr lang="en-US" altLang="zh-CN" sz="1800" b="1" dirty="0"/>
              <a:t>Atomicity</a:t>
            </a:r>
            <a:r>
              <a:rPr lang="zh-CN" altLang="en-US" sz="1800" b="1" dirty="0"/>
              <a:t>（原子性） </a:t>
            </a:r>
          </a:p>
          <a:p>
            <a:pPr lvl="1"/>
            <a:r>
              <a:rPr lang="en-US" altLang="zh-CN" sz="1600" dirty="0"/>
              <a:t>Either all operations of the transaction are properly reflected in the database or none are</a:t>
            </a:r>
          </a:p>
          <a:p>
            <a:r>
              <a:rPr lang="en-US" altLang="zh-CN" sz="1800" b="1" dirty="0"/>
              <a:t>Consistency</a:t>
            </a:r>
            <a:r>
              <a:rPr lang="zh-CN" altLang="en-US" sz="1800" b="1" dirty="0"/>
              <a:t>（一致性）  </a:t>
            </a:r>
          </a:p>
          <a:p>
            <a:pPr lvl="1"/>
            <a:r>
              <a:rPr lang="en-US" altLang="zh-CN" sz="1600" dirty="0"/>
              <a:t>Execution of a transaction in isolation preserves the consistency of the database</a:t>
            </a:r>
          </a:p>
          <a:p>
            <a:r>
              <a:rPr lang="en-US" altLang="zh-CN" sz="1800" b="1" dirty="0"/>
              <a:t>Isolation</a:t>
            </a:r>
            <a:r>
              <a:rPr lang="zh-CN" altLang="en-US" sz="1800" b="1" dirty="0"/>
              <a:t>（隔离性）  </a:t>
            </a:r>
          </a:p>
          <a:p>
            <a:pPr lvl="1"/>
            <a:r>
              <a:rPr lang="en-US" altLang="zh-CN" sz="1600" dirty="0"/>
              <a:t>Although multiple transactions may execute concurrently, each transaction must be unaware of other transactions </a:t>
            </a:r>
          </a:p>
          <a:p>
            <a:r>
              <a:rPr lang="en-US" altLang="zh-CN" sz="1800" b="1" dirty="0"/>
              <a:t>Durability</a:t>
            </a:r>
            <a:r>
              <a:rPr lang="zh-CN" altLang="en-US" sz="1800" b="1" dirty="0"/>
              <a:t>（持久性）  </a:t>
            </a:r>
          </a:p>
          <a:p>
            <a:pPr lvl="1"/>
            <a:r>
              <a:rPr lang="en-US" altLang="zh-CN" sz="1600" dirty="0"/>
              <a:t>After a transaction completes successfully, the changes it has made to the database persist, even if there are system failures 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4477953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C63A9-1E5B-43D7-9858-D4AD59E4E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Fund Transfer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7A8882-438D-4510-81D5-B55602497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A transaction to transfer $50 from account A to account B:</a:t>
            </a:r>
          </a:p>
          <a:p>
            <a:pPr marL="400050" lvl="1" indent="0">
              <a:buNone/>
            </a:pPr>
            <a:r>
              <a:rPr lang="en-US" altLang="zh-CN" sz="1400" dirty="0">
                <a:solidFill>
                  <a:srgbClr val="C00000"/>
                </a:solidFill>
              </a:rPr>
              <a:t>1. read(A)</a:t>
            </a:r>
          </a:p>
          <a:p>
            <a:pPr marL="400050" lvl="1" indent="0">
              <a:buNone/>
            </a:pPr>
            <a:r>
              <a:rPr lang="en-US" altLang="zh-CN" sz="1400" dirty="0">
                <a:solidFill>
                  <a:srgbClr val="C00000"/>
                </a:solidFill>
              </a:rPr>
              <a:t>2. A := A – 50</a:t>
            </a:r>
          </a:p>
          <a:p>
            <a:pPr marL="400050" lvl="1" indent="0">
              <a:buNone/>
            </a:pPr>
            <a:r>
              <a:rPr lang="en-US" altLang="zh-CN" sz="1400" dirty="0">
                <a:solidFill>
                  <a:srgbClr val="C00000"/>
                </a:solidFill>
              </a:rPr>
              <a:t>3. write(A)</a:t>
            </a:r>
          </a:p>
          <a:p>
            <a:pPr marL="400050" lvl="1" indent="0">
              <a:buNone/>
            </a:pPr>
            <a:r>
              <a:rPr lang="en-US" altLang="zh-CN" sz="1400" dirty="0">
                <a:solidFill>
                  <a:srgbClr val="C00000"/>
                </a:solidFill>
              </a:rPr>
              <a:t>4. read(B)</a:t>
            </a:r>
          </a:p>
          <a:p>
            <a:pPr marL="400050" lvl="1" indent="0">
              <a:buNone/>
            </a:pPr>
            <a:r>
              <a:rPr lang="en-US" altLang="zh-CN" sz="1400" dirty="0">
                <a:solidFill>
                  <a:srgbClr val="C00000"/>
                </a:solidFill>
              </a:rPr>
              <a:t>5. B := B + 50</a:t>
            </a:r>
          </a:p>
          <a:p>
            <a:pPr marL="400050" lvl="1" indent="0">
              <a:buNone/>
            </a:pPr>
            <a:r>
              <a:rPr lang="en-US" altLang="zh-CN" sz="1400" dirty="0">
                <a:solidFill>
                  <a:srgbClr val="C00000"/>
                </a:solidFill>
              </a:rPr>
              <a:t>6. write(B)</a:t>
            </a:r>
          </a:p>
          <a:p>
            <a:r>
              <a:rPr lang="en-US" altLang="zh-CN" sz="2000" b="1" dirty="0"/>
              <a:t>Consistency requirement</a:t>
            </a:r>
          </a:p>
          <a:p>
            <a:pPr lvl="1"/>
            <a:r>
              <a:rPr lang="en-US" altLang="zh-CN" sz="1800" dirty="0"/>
              <a:t>The sum of A and B is unchanged after the execution of the transaction</a:t>
            </a:r>
            <a:endParaRPr lang="en-US" altLang="zh-CN" sz="1600" dirty="0"/>
          </a:p>
          <a:p>
            <a:r>
              <a:rPr lang="en-US" altLang="zh-CN" sz="2000" b="1" dirty="0"/>
              <a:t>Atomicity requirement</a:t>
            </a:r>
          </a:p>
          <a:p>
            <a:pPr lvl="1"/>
            <a:r>
              <a:rPr lang="en-US" altLang="zh-CN" sz="1800" dirty="0"/>
              <a:t>If the transaction fails after step 3 and before step 6, the system should ensure that its updates are not reflected in the database. Otherwise, an inconsistency will occur</a:t>
            </a:r>
          </a:p>
        </p:txBody>
      </p:sp>
    </p:spTree>
    <p:extLst>
      <p:ext uri="{BB962C8B-B14F-4D97-AF65-F5344CB8AC3E}">
        <p14:creationId xmlns:p14="http://schemas.microsoft.com/office/powerpoint/2010/main" val="78508301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2C328-4830-447F-8DFA-3C67EAFC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of Fund Transfer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92C8FA-AD69-4842-BB2E-C31E8D361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Durability requirement</a:t>
            </a:r>
          </a:p>
          <a:p>
            <a:pPr lvl="1"/>
            <a:r>
              <a:rPr lang="en-US" altLang="zh-CN" sz="1800" dirty="0"/>
              <a:t>Once the transaction has completed, the updates to the database by the transaction must persist despite failures</a:t>
            </a:r>
          </a:p>
          <a:p>
            <a:r>
              <a:rPr lang="en-US" altLang="zh-CN" sz="2000" b="1" dirty="0"/>
              <a:t>Isolation requirement</a:t>
            </a:r>
          </a:p>
          <a:p>
            <a:pPr lvl="1"/>
            <a:r>
              <a:rPr lang="en-US" altLang="zh-CN" sz="1800" dirty="0"/>
              <a:t>If between steps 3 and 6, another transaction is allowed to access the partially updated database, it will see an inconsistent database</a:t>
            </a:r>
          </a:p>
          <a:p>
            <a:pPr lvl="1"/>
            <a:r>
              <a:rPr lang="en-US" altLang="zh-CN" sz="1800" dirty="0"/>
              <a:t>Can be ensured trivially by running transactions serially, i.e., one after the other. However, executing multiple transactions concurrently has significant benefits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7389854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030474-DBD3-4EAC-8286-23CF53C4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Transaction State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023721-31F8-4A51-A94C-964B7D6A8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16" y="843557"/>
            <a:ext cx="5982844" cy="3630727"/>
          </a:xfrm>
        </p:spPr>
        <p:txBody>
          <a:bodyPr/>
          <a:lstStyle/>
          <a:p>
            <a:r>
              <a:rPr lang="en-US" altLang="zh-CN" sz="1600" b="1" dirty="0"/>
              <a:t>Active(</a:t>
            </a:r>
            <a:r>
              <a:rPr lang="zh-CN" altLang="en-US" sz="1600" b="1" dirty="0"/>
              <a:t>活跃</a:t>
            </a:r>
            <a:r>
              <a:rPr lang="en-US" altLang="zh-CN" sz="1600" b="1" dirty="0"/>
              <a:t>)</a:t>
            </a:r>
          </a:p>
          <a:p>
            <a:pPr lvl="1"/>
            <a:r>
              <a:rPr lang="en-US" altLang="zh-CN" sz="1200" dirty="0"/>
              <a:t>The initial state. The transaction stays in this state while it is executing</a:t>
            </a:r>
          </a:p>
          <a:p>
            <a:r>
              <a:rPr lang="en-US" altLang="zh-CN" sz="1600" b="1" dirty="0"/>
              <a:t>Partially committed(</a:t>
            </a:r>
            <a:r>
              <a:rPr lang="zh-CN" altLang="en-US" sz="1600" b="1" dirty="0"/>
              <a:t>部分提交</a:t>
            </a:r>
            <a:r>
              <a:rPr lang="en-US" altLang="zh-CN" sz="1600" b="1" dirty="0"/>
              <a:t>)</a:t>
            </a:r>
          </a:p>
          <a:p>
            <a:pPr lvl="1"/>
            <a:r>
              <a:rPr lang="en-US" altLang="zh-CN" sz="1200" dirty="0"/>
              <a:t>After the final statement has been executed</a:t>
            </a:r>
          </a:p>
          <a:p>
            <a:r>
              <a:rPr lang="en-US" altLang="zh-CN" sz="1600" b="1" dirty="0"/>
              <a:t>Failed(</a:t>
            </a:r>
            <a:r>
              <a:rPr lang="zh-CN" altLang="en-US" sz="1600" b="1" dirty="0"/>
              <a:t>失败</a:t>
            </a:r>
            <a:r>
              <a:rPr lang="en-US" altLang="zh-CN" sz="1600" b="1" dirty="0"/>
              <a:t>)</a:t>
            </a:r>
          </a:p>
          <a:p>
            <a:pPr lvl="1"/>
            <a:r>
              <a:rPr lang="en-US" altLang="zh-CN" sz="1200" dirty="0"/>
              <a:t>After discovering that normal execution can no longer proceed</a:t>
            </a:r>
          </a:p>
          <a:p>
            <a:r>
              <a:rPr lang="en-US" altLang="zh-CN" sz="1600" b="1" dirty="0"/>
              <a:t>Aborted(</a:t>
            </a:r>
            <a:r>
              <a:rPr lang="zh-CN" altLang="en-US" sz="1600" b="1" dirty="0"/>
              <a:t>中止</a:t>
            </a:r>
            <a:r>
              <a:rPr lang="en-US" altLang="zh-CN" sz="1600" b="1" dirty="0"/>
              <a:t>)</a:t>
            </a:r>
          </a:p>
          <a:p>
            <a:pPr lvl="1"/>
            <a:r>
              <a:rPr lang="en-US" altLang="zh-CN" sz="1200" dirty="0"/>
              <a:t>After the transaction has been rolled back and the database restored to its state prior to the start of the transaction</a:t>
            </a:r>
          </a:p>
          <a:p>
            <a:pPr lvl="2"/>
            <a:r>
              <a:rPr lang="en-US" altLang="zh-CN" sz="1050" dirty="0"/>
              <a:t>Restart the transaction – only if no internal logical error happens in the transaction</a:t>
            </a:r>
          </a:p>
          <a:p>
            <a:pPr lvl="2"/>
            <a:r>
              <a:rPr lang="en-US" altLang="zh-CN" sz="1050" dirty="0"/>
              <a:t>Kill the transaction – problems arising with the transaction, input data, no desirable data found in the database  </a:t>
            </a:r>
          </a:p>
          <a:p>
            <a:r>
              <a:rPr lang="en-US" altLang="zh-CN" sz="1600" b="1" dirty="0"/>
              <a:t>Committed(</a:t>
            </a:r>
            <a:r>
              <a:rPr lang="zh-CN" altLang="en-US" sz="1600" b="1" dirty="0"/>
              <a:t>提交</a:t>
            </a:r>
            <a:r>
              <a:rPr lang="en-US" altLang="zh-CN" sz="1600" b="1" dirty="0"/>
              <a:t>)</a:t>
            </a:r>
          </a:p>
          <a:p>
            <a:pPr lvl="1"/>
            <a:r>
              <a:rPr lang="en-US" altLang="zh-CN" sz="1200" dirty="0"/>
              <a:t>After successful completion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2E80CF32-50B1-4BD0-B558-8550B13DB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059582"/>
            <a:ext cx="3358053" cy="230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213793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347614"/>
            <a:ext cx="8568952" cy="33010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/>
              <a:t>Transaction Concept</a:t>
            </a:r>
          </a:p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Schedules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Serializable Schedule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Recoverable Schedule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Testing for Serializability</a:t>
            </a:r>
          </a:p>
        </p:txBody>
      </p:sp>
    </p:spTree>
    <p:extLst>
      <p:ext uri="{BB962C8B-B14F-4D97-AF65-F5344CB8AC3E}">
        <p14:creationId xmlns:p14="http://schemas.microsoft.com/office/powerpoint/2010/main" val="214099505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4F8BB4-64BA-4A94-B8F9-A7B3A602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Concurrent Executions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75313C-D36A-4AAA-A780-9E1B291C7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Concurrent execution</a:t>
            </a:r>
          </a:p>
          <a:p>
            <a:pPr lvl="1"/>
            <a:r>
              <a:rPr lang="en-US" altLang="zh-CN" sz="1800" dirty="0"/>
              <a:t>Multiple transactions run concurrently in the system</a:t>
            </a:r>
          </a:p>
          <a:p>
            <a:pPr lvl="1"/>
            <a:r>
              <a:rPr lang="en-US" altLang="zh-CN" sz="1800" dirty="0"/>
              <a:t>Advantages</a:t>
            </a:r>
          </a:p>
          <a:p>
            <a:pPr lvl="2"/>
            <a:r>
              <a:rPr lang="en-US" altLang="zh-CN" dirty="0"/>
              <a:t>Increase processor and disk utilization</a:t>
            </a:r>
          </a:p>
          <a:p>
            <a:pPr lvl="2"/>
            <a:r>
              <a:rPr lang="en-US" altLang="zh-CN" dirty="0"/>
              <a:t>Reduce average response time</a:t>
            </a:r>
          </a:p>
          <a:p>
            <a:r>
              <a:rPr lang="en-US" altLang="zh-CN" sz="2000" b="1" dirty="0"/>
              <a:t>Concurrency control </a:t>
            </a:r>
          </a:p>
          <a:p>
            <a:pPr lvl="1"/>
            <a:r>
              <a:rPr lang="en-US" altLang="zh-CN" sz="1800" dirty="0"/>
              <a:t>Mechanisms to achieve isolation, i.e., to control the interaction among the concurrent transactions in order to prevent them from destroying the consistency of the database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4713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86C29-7D1F-472D-B1A7-7B6F57FC6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Schedule (</a:t>
            </a:r>
            <a:r>
              <a:rPr lang="zh-CN" altLang="en-US" dirty="0"/>
              <a:t>调度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97F8D7-57F3-49D1-86BD-897BB7DB9F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5328592" cy="3805070"/>
              </a:xfrm>
            </p:spPr>
            <p:txBody>
              <a:bodyPr/>
              <a:lstStyle/>
              <a:p>
                <a:r>
                  <a:rPr lang="en-US" altLang="zh-CN" sz="2000" b="1" dirty="0"/>
                  <a:t>Schedule</a:t>
                </a:r>
              </a:p>
              <a:p>
                <a:pPr lvl="1"/>
                <a:r>
                  <a:rPr lang="en-US" altLang="zh-CN" sz="1600" dirty="0"/>
                  <a:t>Sequences that indicate the chronological order in which instructions of concurrent transactions are executed</a:t>
                </a:r>
              </a:p>
              <a:p>
                <a:pPr lvl="1"/>
                <a:r>
                  <a:rPr lang="en-US" altLang="zh-CN" sz="1600" dirty="0"/>
                  <a:t>A schedule for a set of transactions must consist of all the instructions of those transactions</a:t>
                </a:r>
              </a:p>
              <a:p>
                <a:pPr lvl="1"/>
                <a:r>
                  <a:rPr lang="en-US" altLang="zh-CN" sz="1600" dirty="0"/>
                  <a:t>Must preserve the order in which the instructions appear in each individual transaction</a:t>
                </a:r>
              </a:p>
              <a:p>
                <a:r>
                  <a:rPr lang="en-US" altLang="zh-CN" sz="2000" b="1" dirty="0"/>
                  <a:t>Example</a:t>
                </a:r>
              </a:p>
              <a:p>
                <a:pPr lvl="1"/>
                <a:r>
                  <a:rPr lang="en-US" altLang="zh-CN" sz="16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 transfer $50 from A to B,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/>
                  <a:t> transfer 10% of the balance from A to B</a:t>
                </a:r>
              </a:p>
              <a:p>
                <a:pPr lvl="1"/>
                <a:r>
                  <a:rPr lang="en-US" altLang="zh-CN" sz="1600" dirty="0"/>
                  <a:t>Schedule 1 is a serial schedule (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串行调度</a:t>
                </a:r>
                <a:r>
                  <a:rPr lang="en-US" altLang="zh-CN" sz="1600" dirty="0"/>
                  <a:t>),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 is followed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97F8D7-57F3-49D1-86BD-897BB7DB9F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5328592" cy="3805070"/>
              </a:xfrm>
              <a:blipFill>
                <a:blip r:embed="rId2"/>
                <a:stretch>
                  <a:fillRect l="-1030" t="-801" r="-12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9C1FAB67-DC49-493E-8E14-9D1A4E43FE64}"/>
              </a:ext>
            </a:extLst>
          </p:cNvPr>
          <p:cNvSpPr txBox="1"/>
          <p:nvPr/>
        </p:nvSpPr>
        <p:spPr>
          <a:xfrm>
            <a:off x="6444208" y="4366532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Schedule 1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A5E27779-0299-4881-9E04-62BDD35EF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987574"/>
            <a:ext cx="2613514" cy="3271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34030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ACA57-F759-4890-9EF9-599D6EAB0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Schedule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069F0A-9290-4868-B16F-2184747E2F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Another serial schedule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/>
                  <a:t> is followed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069F0A-9290-4868-B16F-2184747E2F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头: 右 5">
            <a:extLst>
              <a:ext uri="{FF2B5EF4-FFF2-40B4-BE49-F238E27FC236}">
                <a16:creationId xmlns:a16="http://schemas.microsoft.com/office/drawing/2014/main" id="{26AEA81F-30D6-4380-BAEF-EC13127DCEC4}"/>
              </a:ext>
            </a:extLst>
          </p:cNvPr>
          <p:cNvSpPr/>
          <p:nvPr/>
        </p:nvSpPr>
        <p:spPr>
          <a:xfrm>
            <a:off x="3687403" y="2571750"/>
            <a:ext cx="576064" cy="576064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ECAA32-0355-4FBC-A2D2-ECC17E402814}"/>
              </a:ext>
            </a:extLst>
          </p:cNvPr>
          <p:cNvSpPr txBox="1"/>
          <p:nvPr/>
        </p:nvSpPr>
        <p:spPr>
          <a:xfrm>
            <a:off x="1181547" y="4428580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Schedule 1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B07FFB-07CE-4A96-8539-FDB695112FE0}"/>
              </a:ext>
            </a:extLst>
          </p:cNvPr>
          <p:cNvSpPr txBox="1"/>
          <p:nvPr/>
        </p:nvSpPr>
        <p:spPr>
          <a:xfrm>
            <a:off x="4975821" y="4443519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Schedule 2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8AF4AF88-CDF3-4570-9389-05B638593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51" y="1419622"/>
            <a:ext cx="2380517" cy="297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D46B8B-C2A6-448E-890B-A2704661C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224" y="1371391"/>
            <a:ext cx="2472064" cy="3075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542025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E9E756-1099-4D11-BFC4-7D7C47FD1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Schedule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078EAC-496A-437C-8616-EE48FF0A04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4320480" cy="3805070"/>
              </a:xfrm>
            </p:spPr>
            <p:txBody>
              <a:bodyPr/>
              <a:lstStyle/>
              <a:p>
                <a:r>
                  <a:rPr lang="en-US" altLang="zh-CN" sz="2000" b="1" dirty="0"/>
                  <a:t>Non-serial schedule</a:t>
                </a:r>
              </a:p>
              <a:p>
                <a:pPr lvl="1"/>
                <a:r>
                  <a:rPr lang="en-US" altLang="zh-CN" sz="1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/>
                  <a:t> be the transactions defined previously</a:t>
                </a:r>
              </a:p>
              <a:p>
                <a:pPr lvl="1"/>
                <a:r>
                  <a:rPr lang="en-US" altLang="zh-CN" sz="1800" dirty="0"/>
                  <a:t>Schedule 3 is not a serial schedule, but equivalent to Schedule 1</a:t>
                </a:r>
              </a:p>
              <a:p>
                <a:pPr lvl="2"/>
                <a:r>
                  <a:rPr lang="en-US" altLang="zh-CN" sz="1600" dirty="0"/>
                  <a:t>A’=(A-50)*0.9</a:t>
                </a:r>
              </a:p>
              <a:p>
                <a:pPr lvl="2"/>
                <a:r>
                  <a:rPr lang="en-US" altLang="zh-CN" sz="1600" dirty="0"/>
                  <a:t>B’=B+50+(A-50)*0.1</a:t>
                </a:r>
              </a:p>
              <a:p>
                <a:pPr lvl="2"/>
                <a:r>
                  <a:rPr lang="en-US" altLang="zh-CN" sz="1600" dirty="0"/>
                  <a:t>A’+B’=A+B</a:t>
                </a:r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078EAC-496A-437C-8616-EE48FF0A0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4320480" cy="3805070"/>
              </a:xfrm>
              <a:blipFill>
                <a:blip r:embed="rId2"/>
                <a:stretch>
                  <a:fillRect l="-1269" t="-801" r="-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A396A6E4-85FA-43F5-BF8F-ED13AC7DD1B7}"/>
              </a:ext>
            </a:extLst>
          </p:cNvPr>
          <p:cNvSpPr txBox="1"/>
          <p:nvPr/>
        </p:nvSpPr>
        <p:spPr>
          <a:xfrm>
            <a:off x="5580112" y="4425346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Schedule 3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245FE488-59D5-4FCE-94D1-6D07D0584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843558"/>
            <a:ext cx="2779712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671900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5">
            <a:extLst>
              <a:ext uri="{FF2B5EF4-FFF2-40B4-BE49-F238E27FC236}">
                <a16:creationId xmlns:a16="http://schemas.microsoft.com/office/drawing/2014/main" id="{151BBD77-1AF7-4976-841F-ACBFB8B82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555" y="884435"/>
            <a:ext cx="2713038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746200E-8B86-40D8-BC61-83CFD6860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Example Schedule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5D5527-EA6B-404D-B83C-53558A7D4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132" y="1371947"/>
            <a:ext cx="4248472" cy="2718301"/>
          </a:xfrm>
        </p:spPr>
        <p:txBody>
          <a:bodyPr/>
          <a:lstStyle/>
          <a:p>
            <a:r>
              <a:rPr lang="en-US" altLang="zh-CN" sz="1800" dirty="0"/>
              <a:t>The following concurrent schedule does not preserve the value of the sum A + B.</a:t>
            </a:r>
          </a:p>
          <a:p>
            <a:pPr lvl="1"/>
            <a:r>
              <a:rPr lang="en-US" altLang="zh-CN" sz="1400" dirty="0"/>
              <a:t>A’=A-50</a:t>
            </a:r>
          </a:p>
          <a:p>
            <a:pPr lvl="1"/>
            <a:r>
              <a:rPr lang="en-US" altLang="zh-CN" sz="1400" dirty="0"/>
              <a:t>B’=B+A*0.1</a:t>
            </a:r>
          </a:p>
          <a:p>
            <a:pPr lvl="1"/>
            <a:r>
              <a:rPr lang="en-US" altLang="zh-CN" sz="1400" dirty="0"/>
              <a:t>A’+B’=A+B-50+A*0.1≠A+B</a:t>
            </a:r>
          </a:p>
          <a:p>
            <a:pPr lvl="1"/>
            <a:endParaRPr lang="zh-CN" altLang="en-US" sz="1400" dirty="0"/>
          </a:p>
        </p:txBody>
      </p:sp>
      <p:sp>
        <p:nvSpPr>
          <p:cNvPr id="5" name="椭圆 2">
            <a:extLst>
              <a:ext uri="{FF2B5EF4-FFF2-40B4-BE49-F238E27FC236}">
                <a16:creationId xmlns:a16="http://schemas.microsoft.com/office/drawing/2014/main" id="{0BCB4C4C-4507-42FC-BF7E-D3AB5AEAB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8" y="2601552"/>
            <a:ext cx="1044178" cy="272653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椭圆 8">
            <a:extLst>
              <a:ext uri="{FF2B5EF4-FFF2-40B4-BE49-F238E27FC236}">
                <a16:creationId xmlns:a16="http://schemas.microsoft.com/office/drawing/2014/main" id="{BDE2D313-E13C-4234-A6D6-81E277D2F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3795886"/>
            <a:ext cx="1044179" cy="272653"/>
          </a:xfrm>
          <a:prstGeom prst="ellipse">
            <a:avLst/>
          </a:prstGeom>
          <a:noFill/>
          <a:ln w="2540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椭圆 9">
            <a:extLst>
              <a:ext uri="{FF2B5EF4-FFF2-40B4-BE49-F238E27FC236}">
                <a16:creationId xmlns:a16="http://schemas.microsoft.com/office/drawing/2014/main" id="{6E087EBB-7962-4B28-A5BB-872AAA74F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1203598"/>
            <a:ext cx="1044178" cy="272654"/>
          </a:xfrm>
          <a:prstGeom prst="ellipse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椭圆 10">
            <a:extLst>
              <a:ext uri="{FF2B5EF4-FFF2-40B4-BE49-F238E27FC236}">
                <a16:creationId xmlns:a16="http://schemas.microsoft.com/office/drawing/2014/main" id="{CE8BE07F-5063-4854-90C8-B1BD85D39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192" y="2436018"/>
            <a:ext cx="1044179" cy="271463"/>
          </a:xfrm>
          <a:prstGeom prst="ellipse">
            <a:avLst/>
          </a:prstGeom>
          <a:noFill/>
          <a:ln w="25400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9C1087-847D-4579-80AD-B143EDFF432D}"/>
              </a:ext>
            </a:extLst>
          </p:cNvPr>
          <p:cNvSpPr txBox="1"/>
          <p:nvPr/>
        </p:nvSpPr>
        <p:spPr>
          <a:xfrm>
            <a:off x="5597790" y="4467820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Schedule 4</a:t>
            </a:r>
            <a:endParaRPr lang="zh-CN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17552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347614"/>
            <a:ext cx="8568952" cy="33010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/>
              <a:t>Transaction Concept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Schedules</a:t>
            </a:r>
          </a:p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Serializable Schedule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Recoverable Schedule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Testing for Serializability</a:t>
            </a:r>
          </a:p>
        </p:txBody>
      </p:sp>
    </p:spTree>
    <p:extLst>
      <p:ext uri="{BB962C8B-B14F-4D97-AF65-F5344CB8AC3E}">
        <p14:creationId xmlns:p14="http://schemas.microsoft.com/office/powerpoint/2010/main" val="361572545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7AAC0-6D14-48E1-BF8C-1A3C2C72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Serializability</a:t>
            </a:r>
            <a:r>
              <a:rPr lang="zh-CN" altLang="en-US" dirty="0"/>
              <a:t>（可串行化）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8506E2-C9A6-4B47-826F-E26AC9468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/>
              <a:t>Assumption</a:t>
            </a:r>
          </a:p>
          <a:p>
            <a:pPr lvl="1"/>
            <a:r>
              <a:rPr lang="en-US" altLang="zh-CN" sz="1800" dirty="0"/>
              <a:t>Each transaction preserves database consistency, thus serial execution of a set of transactions preserves database consistency</a:t>
            </a:r>
            <a:endParaRPr lang="en-US" altLang="zh-CN" sz="1600" dirty="0"/>
          </a:p>
          <a:p>
            <a:r>
              <a:rPr lang="en-US" altLang="zh-CN" sz="2000" b="1" dirty="0"/>
              <a:t>Serializability</a:t>
            </a:r>
          </a:p>
          <a:p>
            <a:pPr lvl="1"/>
            <a:r>
              <a:rPr lang="en-US" altLang="zh-CN" sz="1800" dirty="0"/>
              <a:t>A schedule is serializable if it is equivalent to a serial schedule</a:t>
            </a:r>
            <a:endParaRPr lang="en-US" altLang="zh-CN" sz="1600" dirty="0"/>
          </a:p>
          <a:p>
            <a:pPr lvl="2"/>
            <a:r>
              <a:rPr lang="en-US" altLang="zh-CN" sz="1600" b="1" dirty="0">
                <a:solidFill>
                  <a:srgbClr val="C00000"/>
                </a:solidFill>
              </a:rPr>
              <a:t>Conflict serializability</a:t>
            </a:r>
            <a:r>
              <a:rPr lang="zh-CN" altLang="en-US" sz="1600" b="1" dirty="0">
                <a:solidFill>
                  <a:srgbClr val="C00000"/>
                </a:solidFill>
              </a:rPr>
              <a:t>（冲突可串行性）</a:t>
            </a:r>
          </a:p>
          <a:p>
            <a:pPr lvl="2"/>
            <a:r>
              <a:rPr lang="en-US" altLang="zh-CN" sz="1600" b="1" dirty="0">
                <a:solidFill>
                  <a:srgbClr val="C00000"/>
                </a:solidFill>
              </a:rPr>
              <a:t>View serializability</a:t>
            </a:r>
            <a:r>
              <a:rPr lang="zh-CN" altLang="en-US" sz="1600" b="1" dirty="0">
                <a:solidFill>
                  <a:srgbClr val="C00000"/>
                </a:solidFill>
              </a:rPr>
              <a:t>（视图可串行性）</a:t>
            </a:r>
          </a:p>
          <a:p>
            <a:r>
              <a:rPr lang="en-US" altLang="zh-CN" sz="2000" b="1" dirty="0"/>
              <a:t>Note</a:t>
            </a:r>
          </a:p>
          <a:p>
            <a:pPr lvl="1"/>
            <a:r>
              <a:rPr lang="en-US" altLang="zh-CN" sz="1800" dirty="0"/>
              <a:t>We ignore operations other than </a:t>
            </a:r>
            <a:r>
              <a:rPr lang="en-US" altLang="zh-CN" sz="1800" b="1" dirty="0">
                <a:solidFill>
                  <a:srgbClr val="C00000"/>
                </a:solidFill>
              </a:rPr>
              <a:t>read</a:t>
            </a:r>
            <a:r>
              <a:rPr lang="en-US" altLang="zh-CN" sz="1800" dirty="0"/>
              <a:t> and </a:t>
            </a:r>
            <a:r>
              <a:rPr lang="en-US" altLang="zh-CN" sz="1800" b="1" dirty="0">
                <a:solidFill>
                  <a:srgbClr val="C00000"/>
                </a:solidFill>
              </a:rPr>
              <a:t>write</a:t>
            </a:r>
            <a:r>
              <a:rPr lang="en-US" altLang="zh-CN" sz="1800" dirty="0"/>
              <a:t> instructions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094348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7C3C4-DC94-4E4D-A3A5-C5C4CD58E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Conflict Serializability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F02A54-173B-4232-8E24-E462504D9C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71550"/>
                <a:ext cx="8568952" cy="3661054"/>
              </a:xfrm>
            </p:spPr>
            <p:txBody>
              <a:bodyPr/>
              <a:lstStyle/>
              <a:p>
                <a:r>
                  <a:rPr lang="en-US" altLang="zh-CN" sz="1800" b="1" dirty="0"/>
                  <a:t>Conflict</a:t>
                </a:r>
                <a:r>
                  <a:rPr lang="en-US" altLang="zh-CN" sz="1800" dirty="0"/>
                  <a:t> </a:t>
                </a:r>
              </a:p>
              <a:p>
                <a:pPr lvl="1"/>
                <a:r>
                  <a:rPr lang="en-US" altLang="zh-CN" sz="1400" dirty="0"/>
                  <a:t>Given instructions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 of transactions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 respectively, conflict occurs </a:t>
                </a:r>
                <a:r>
                  <a:rPr lang="en-US" altLang="zh-CN" sz="1400" dirty="0" err="1"/>
                  <a:t>iff</a:t>
                </a:r>
                <a:r>
                  <a:rPr lang="en-US" altLang="zh-CN" sz="1400" dirty="0"/>
                  <a:t> there exists some item Q accessed by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, and at least one of these instructions wrote Q</a:t>
                </a:r>
              </a:p>
              <a:p>
                <a:pPr lvl="1"/>
                <a:r>
                  <a:rPr lang="en-US" altLang="zh-CN" sz="1400" b="1" dirty="0"/>
                  <a:t>Four cases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= read(Q),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 = read(Q).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 (</a:t>
                </a:r>
                <a:r>
                  <a:rPr lang="en-US" altLang="zh-CN" sz="1400" b="1" dirty="0"/>
                  <a:t>no conflict</a:t>
                </a:r>
                <a:r>
                  <a:rPr lang="en-US" altLang="zh-CN" sz="1400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= read(Q),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 = write(Q). (</a:t>
                </a:r>
                <a:r>
                  <a:rPr lang="en-US" altLang="zh-CN" sz="1400" b="1" dirty="0"/>
                  <a:t>conflict</a:t>
                </a:r>
                <a:r>
                  <a:rPr lang="en-US" altLang="zh-CN" sz="1400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= write(Q),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 = read(Q). (</a:t>
                </a:r>
                <a:r>
                  <a:rPr lang="en-US" altLang="zh-CN" sz="1400" b="1" dirty="0"/>
                  <a:t>conflict</a:t>
                </a:r>
                <a:r>
                  <a:rPr lang="en-US" altLang="zh-CN" sz="1400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= write(Q),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 = write(Q). (</a:t>
                </a:r>
                <a:r>
                  <a:rPr lang="en-US" altLang="zh-CN" sz="1400" b="1" dirty="0"/>
                  <a:t>conflict</a:t>
                </a:r>
                <a:r>
                  <a:rPr lang="en-US" altLang="zh-CN" sz="1400" dirty="0"/>
                  <a:t>)</a:t>
                </a:r>
              </a:p>
              <a:p>
                <a:r>
                  <a:rPr lang="en-US" altLang="zh-CN" sz="1800" dirty="0"/>
                  <a:t>Intuitively, a conflict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/>
                  <a:t> forces a (logical) temporal order between them</a:t>
                </a:r>
              </a:p>
              <a:p>
                <a:r>
                  <a:rPr lang="en-US" altLang="zh-CN"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/>
                  <a:t> are consecutive in a schedule and do not conflict, their results would remain the same even if they are interchanged in the schedule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F02A54-173B-4232-8E24-E462504D9C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71550"/>
                <a:ext cx="8568952" cy="3661054"/>
              </a:xfrm>
              <a:blipFill>
                <a:blip r:embed="rId2"/>
                <a:stretch>
                  <a:fillRect l="-427" t="-1000" r="-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7184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C5F37-714E-49C2-944E-3E9FBB9F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Conflict Serializability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656705-98F2-4E47-B6C1-318B484BDE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771549"/>
                <a:ext cx="8568952" cy="3698231"/>
              </a:xfrm>
            </p:spPr>
            <p:txBody>
              <a:bodyPr/>
              <a:lstStyle/>
              <a:p>
                <a:r>
                  <a:rPr lang="en-US" altLang="zh-CN" sz="1800" b="1" dirty="0"/>
                  <a:t>Conflict equivalent (</a:t>
                </a:r>
                <a:r>
                  <a:rPr lang="zh-CN" altLang="en-US" sz="1800" b="1" dirty="0"/>
                  <a:t>冲突等价</a:t>
                </a:r>
                <a:r>
                  <a:rPr lang="en-US" altLang="zh-CN" sz="1800" b="1" dirty="0"/>
                  <a:t>)</a:t>
                </a:r>
              </a:p>
              <a:p>
                <a:pPr lvl="1"/>
                <a:r>
                  <a:rPr lang="en-US" altLang="zh-CN" sz="1600" dirty="0"/>
                  <a:t>If a schedule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600" dirty="0"/>
                  <a:t> can be transformed into a schedule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1600" dirty="0"/>
                  <a:t> by a series of swaps of non-conflicting instructions, we say that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6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1600" dirty="0"/>
                  <a:t> are </a:t>
                </a:r>
                <a:r>
                  <a:rPr lang="en-US" altLang="zh-CN" sz="1600" b="1" dirty="0">
                    <a:solidFill>
                      <a:srgbClr val="C00000"/>
                    </a:solidFill>
                  </a:rPr>
                  <a:t>conflict equivalent</a:t>
                </a:r>
              </a:p>
              <a:p>
                <a:pPr lvl="1"/>
                <a:r>
                  <a:rPr lang="en-US" altLang="zh-CN" sz="1600" dirty="0"/>
                  <a:t>A schedule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1600" dirty="0"/>
                  <a:t> is 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conflict serializable (</a:t>
                </a:r>
                <a:r>
                  <a:rPr lang="zh-CN" altLang="en-US" sz="1600" dirty="0">
                    <a:solidFill>
                      <a:srgbClr val="C00000"/>
                    </a:solidFill>
                  </a:rPr>
                  <a:t>冲突可串行化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) </a:t>
                </a:r>
                <a:r>
                  <a:rPr lang="en-US" altLang="zh-CN" sz="1600" dirty="0"/>
                  <a:t>if it is </a:t>
                </a:r>
                <a:r>
                  <a:rPr lang="en-US" altLang="zh-CN" sz="1600" dirty="0">
                    <a:solidFill>
                      <a:srgbClr val="C00000"/>
                    </a:solidFill>
                  </a:rPr>
                  <a:t>conflict equivalent </a:t>
                </a:r>
                <a:r>
                  <a:rPr lang="en-US" altLang="zh-CN" sz="1600" dirty="0"/>
                  <a:t>to a serial schedule (</a:t>
                </a:r>
                <a:r>
                  <a:rPr lang="zh-CN" altLang="en-US" sz="1600" dirty="0"/>
                  <a:t>串行调度</a:t>
                </a:r>
                <a:r>
                  <a:rPr lang="en-US" altLang="zh-CN" sz="1600" dirty="0"/>
                  <a:t>)</a:t>
                </a:r>
              </a:p>
              <a:p>
                <a:r>
                  <a:rPr lang="en-US" altLang="zh-CN" sz="1800" dirty="0"/>
                  <a:t>Example of a schedule that is not conflict serializable</a:t>
                </a:r>
              </a:p>
              <a:p>
                <a:pPr lvl="1"/>
                <a:r>
                  <a:rPr lang="en-US" altLang="zh-CN" sz="1600" dirty="0"/>
                  <a:t>Cannot swap instructions in the following schedule to obtain either the serial schedule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1600" dirty="0"/>
                  <a:t>&gt;, or the serial schedule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600" dirty="0"/>
                  <a:t>&gt;.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	</a:t>
                </a:r>
                <a:r>
                  <a:rPr lang="en-US" altLang="zh-CN" sz="1800" dirty="0"/>
                  <a:t>	</a:t>
                </a:r>
              </a:p>
              <a:p>
                <a:pPr marL="0" indent="0">
                  <a:buNone/>
                </a:pPr>
                <a:r>
                  <a:rPr lang="en-US" altLang="zh-CN" sz="1800" dirty="0"/>
                  <a:t>		</a:t>
                </a:r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656705-98F2-4E47-B6C1-318B484BDE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771549"/>
                <a:ext cx="8568952" cy="3698231"/>
              </a:xfrm>
              <a:blipFill>
                <a:blip r:embed="rId3"/>
                <a:stretch>
                  <a:fillRect l="-427" t="-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8">
            <a:extLst>
              <a:ext uri="{FF2B5EF4-FFF2-40B4-BE49-F238E27FC236}">
                <a16:creationId xmlns:a16="http://schemas.microsoft.com/office/drawing/2014/main" id="{ADA65420-E947-4204-BF00-D991FD9AE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298959"/>
            <a:ext cx="2840037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307134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1F34D-4B74-47C4-A759-167E0B591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Conflict Serializability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E039B9-BD95-4636-8B86-FD18A56E1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2191" y="1500631"/>
                <a:ext cx="4392488" cy="2142237"/>
              </a:xfrm>
            </p:spPr>
            <p:txBody>
              <a:bodyPr/>
              <a:lstStyle/>
              <a:p>
                <a:r>
                  <a:rPr lang="en-US" altLang="zh-CN" sz="1800" dirty="0"/>
                  <a:t>Schedule 1 can be transformed into Schedule 2, a serial schedule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/>
                  <a:t> follows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/>
                  <a:t>, by a series of swaps of non-conflicting instructions</a:t>
                </a:r>
              </a:p>
              <a:p>
                <a:r>
                  <a:rPr lang="en-US" altLang="zh-CN" sz="1800" dirty="0"/>
                  <a:t>Therefore, Schedule 1 is conflict serializable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E039B9-BD95-4636-8B86-FD18A56E1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2191" y="1500631"/>
                <a:ext cx="4392488" cy="2142237"/>
              </a:xfrm>
              <a:blipFill>
                <a:blip r:embed="rId2"/>
                <a:stretch>
                  <a:fillRect l="-972" t="-1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464B07C8-E4CE-44CD-AC77-0EFDDCF45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6" t="4988" r="19949" b="5469"/>
          <a:stretch>
            <a:fillRect/>
          </a:stretch>
        </p:blipFill>
        <p:spPr bwMode="auto">
          <a:xfrm>
            <a:off x="5001444" y="1355751"/>
            <a:ext cx="1478756" cy="1864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72662156-4470-469B-B0BD-85B89219A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6" t="4988" r="19949" b="5469"/>
          <a:stretch>
            <a:fillRect/>
          </a:stretch>
        </p:blipFill>
        <p:spPr bwMode="auto">
          <a:xfrm>
            <a:off x="6625456" y="1362895"/>
            <a:ext cx="1478756" cy="1864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8">
            <a:extLst>
              <a:ext uri="{FF2B5EF4-FFF2-40B4-BE49-F238E27FC236}">
                <a16:creationId xmlns:a16="http://schemas.microsoft.com/office/drawing/2014/main" id="{6664FF27-9F66-4DD3-87C3-BB6E67B3A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968" y="3489351"/>
            <a:ext cx="110479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Schedule 1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0860FFC3-F912-47ED-9671-326354E4B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4765" y="3486969"/>
            <a:ext cx="110479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Schedule 2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FBDF9D2D-A08D-48B5-9982-87FFBD396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124" y="2035598"/>
            <a:ext cx="708848" cy="113107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050" b="1" dirty="0">
                <a:solidFill>
                  <a:srgbClr val="FF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Read(B)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050" b="1" dirty="0">
                <a:solidFill>
                  <a:srgbClr val="FF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Write(B)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1050" b="1" dirty="0">
              <a:solidFill>
                <a:srgbClr val="FF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1200" b="1" dirty="0">
              <a:solidFill>
                <a:srgbClr val="FF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1200" b="1" dirty="0">
              <a:solidFill>
                <a:srgbClr val="FF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1200" b="1" dirty="0">
              <a:solidFill>
                <a:srgbClr val="FF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6693E570-9D81-4C6B-8953-039DC131A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312" y="1923678"/>
            <a:ext cx="708848" cy="9002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1050" b="1" dirty="0">
              <a:solidFill>
                <a:srgbClr val="FF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1050" b="1" dirty="0">
              <a:solidFill>
                <a:srgbClr val="FF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1050" b="1" dirty="0">
              <a:solidFill>
                <a:srgbClr val="FF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050" b="1" dirty="0">
                <a:solidFill>
                  <a:srgbClr val="FF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Read(A)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050" b="1" dirty="0">
                <a:solidFill>
                  <a:srgbClr val="FF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Write(A)</a:t>
            </a:r>
            <a:endParaRPr kumimoji="0" lang="en-US" altLang="zh-CN" sz="1200" b="1" dirty="0">
              <a:solidFill>
                <a:srgbClr val="FF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18820760-121A-4263-84F2-F9A0439A3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6381" y="2302298"/>
            <a:ext cx="228600" cy="364331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CC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FB70A4B8-19FC-4C11-9D96-4F6EB857A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2271" y="2368972"/>
            <a:ext cx="83344" cy="353616"/>
          </a:xfrm>
          <a:prstGeom prst="downArrow">
            <a:avLst>
              <a:gd name="adj1" fmla="val 50000"/>
              <a:gd name="adj2" fmla="val 106072"/>
            </a:avLst>
          </a:prstGeom>
          <a:solidFill>
            <a:srgbClr val="FFCC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958EAD9C-3B6C-4E16-9C36-809D94B5B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671" y="2102273"/>
            <a:ext cx="77391" cy="313135"/>
          </a:xfrm>
          <a:prstGeom prst="upArrow">
            <a:avLst>
              <a:gd name="adj1" fmla="val 50000"/>
              <a:gd name="adj2" fmla="val 101153"/>
            </a:avLst>
          </a:prstGeom>
          <a:solidFill>
            <a:srgbClr val="FFCC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47279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148F38-29F6-429D-BB43-83DC76A88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Conflict Serializability (Cont.)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FC9B8F-AD3D-40DF-AE93-524A3B229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879873"/>
            <a:ext cx="8208912" cy="3744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+mn-lt"/>
              </a:defRPr>
            </a:lvl2pPr>
            <a:lvl3pPr marL="81438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1800">
                <a:solidFill>
                  <a:schemeClr val="tx1"/>
                </a:solidFill>
                <a:latin typeface="+mn-lt"/>
              </a:defRPr>
            </a:lvl3pPr>
            <a:lvl4pPr marL="1071563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1800">
                <a:solidFill>
                  <a:schemeClr val="tx1"/>
                </a:solidFill>
                <a:latin typeface="+mn-lt"/>
              </a:defRPr>
            </a:lvl4pPr>
            <a:lvl5pPr marL="13287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5pPr>
            <a:lvl6pPr marL="16716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6pPr>
            <a:lvl7pPr marL="20145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7pPr>
            <a:lvl8pPr marL="23574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8pPr>
            <a:lvl9pPr marL="27003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Example</a:t>
            </a:r>
            <a:endParaRPr lang="zh-CN" altLang="en-US" sz="2000" b="1" dirty="0"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None/>
            </a:pPr>
            <a:r>
              <a:rPr lang="zh-CN" altLang="en-US" sz="1800" kern="0" dirty="0">
                <a:ea typeface="华文中宋" panose="02010600040101010101" pitchFamily="2" charset="-122"/>
              </a:rPr>
              <a:t>     </a:t>
            </a:r>
            <a:r>
              <a:rPr lang="en-US" altLang="zh-CN" sz="1800" kern="0" dirty="0">
                <a:ea typeface="华文中宋" panose="02010600040101010101" pitchFamily="2" charset="-122"/>
              </a:rPr>
              <a:t>Sc1=r1(A)w1(A)r2(A)</a:t>
            </a:r>
            <a:r>
              <a:rPr lang="en-US" altLang="zh-CN" sz="1800" u="sng" kern="0" dirty="0">
                <a:solidFill>
                  <a:srgbClr val="FF0000"/>
                </a:solidFill>
                <a:ea typeface="华文中宋" panose="02010600040101010101" pitchFamily="2" charset="-122"/>
              </a:rPr>
              <a:t>w2(A)</a:t>
            </a:r>
            <a:r>
              <a:rPr lang="en-US" altLang="zh-CN" sz="1800" kern="0" dirty="0">
                <a:solidFill>
                  <a:srgbClr val="0000CC"/>
                </a:solidFill>
                <a:ea typeface="华文中宋" panose="02010600040101010101" pitchFamily="2" charset="-122"/>
              </a:rPr>
              <a:t>r1(B)w1(B)</a:t>
            </a:r>
            <a:r>
              <a:rPr lang="en-US" altLang="zh-CN" sz="1800" kern="0" dirty="0">
                <a:ea typeface="华文中宋" panose="02010600040101010101" pitchFamily="2" charset="-122"/>
              </a:rPr>
              <a:t>r2(B)w2(B)</a:t>
            </a:r>
          </a:p>
          <a:p>
            <a:pPr lvl="1">
              <a:lnSpc>
                <a:spcPct val="150000"/>
              </a:lnSpc>
              <a:spcBef>
                <a:spcPts val="450"/>
              </a:spcBef>
            </a:pPr>
            <a:r>
              <a:rPr lang="en-US" altLang="zh-CN" kern="0" dirty="0">
                <a:ea typeface="华文中宋" panose="02010600040101010101" pitchFamily="2" charset="-122"/>
              </a:rPr>
              <a:t>Swap w2(A) and r1(B)w1(B), then we have</a:t>
            </a:r>
            <a:endParaRPr lang="zh-CN" altLang="en-US" kern="0" dirty="0">
              <a:ea typeface="华文中宋" panose="0201060004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ea typeface="华文中宋" panose="02010600040101010101" pitchFamily="2" charset="-122"/>
              </a:rPr>
              <a:t>   </a:t>
            </a:r>
            <a:r>
              <a:rPr lang="en-US" altLang="zh-CN" kern="0" dirty="0">
                <a:ea typeface="华文中宋" panose="02010600040101010101" pitchFamily="2" charset="-122"/>
              </a:rPr>
              <a:t>r1(A)w1(A)</a:t>
            </a:r>
            <a:r>
              <a:rPr lang="en-US" altLang="zh-CN" u="sng" kern="0" dirty="0">
                <a:solidFill>
                  <a:srgbClr val="FF0066"/>
                </a:solidFill>
                <a:ea typeface="华文中宋" panose="02010600040101010101" pitchFamily="2" charset="-122"/>
              </a:rPr>
              <a:t>r2(A)</a:t>
            </a:r>
            <a:r>
              <a:rPr lang="en-US" altLang="zh-CN" kern="0" dirty="0">
                <a:solidFill>
                  <a:srgbClr val="0000CC"/>
                </a:solidFill>
                <a:ea typeface="华文中宋" panose="02010600040101010101" pitchFamily="2" charset="-122"/>
              </a:rPr>
              <a:t>r1(B)w1(B)</a:t>
            </a:r>
            <a:r>
              <a:rPr lang="en-US" altLang="zh-CN" u="sng" kern="0" dirty="0">
                <a:solidFill>
                  <a:srgbClr val="FF0000"/>
                </a:solidFill>
                <a:ea typeface="华文中宋" panose="02010600040101010101" pitchFamily="2" charset="-122"/>
              </a:rPr>
              <a:t>w2(A)</a:t>
            </a:r>
            <a:r>
              <a:rPr lang="en-US" altLang="zh-CN" kern="0" dirty="0">
                <a:ea typeface="华文中宋" panose="02010600040101010101" pitchFamily="2" charset="-122"/>
              </a:rPr>
              <a:t>r2(B)w2(B)</a:t>
            </a:r>
          </a:p>
          <a:p>
            <a:pPr lvl="1">
              <a:lnSpc>
                <a:spcPct val="150000"/>
              </a:lnSpc>
              <a:spcBef>
                <a:spcPts val="450"/>
              </a:spcBef>
            </a:pPr>
            <a:r>
              <a:rPr lang="en-US" altLang="zh-CN" kern="0" dirty="0">
                <a:ea typeface="华文中宋" panose="02010600040101010101" pitchFamily="2" charset="-122"/>
              </a:rPr>
              <a:t>Swap r2(A) and r1(B)w1(B), then</a:t>
            </a:r>
            <a:r>
              <a:rPr lang="zh-CN" altLang="en-US" kern="0" dirty="0">
                <a:ea typeface="华文中宋" panose="02010600040101010101" pitchFamily="2" charset="-122"/>
              </a:rPr>
              <a:t>：</a:t>
            </a:r>
          </a:p>
          <a:p>
            <a:pPr lvl="1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ea typeface="华文中宋" panose="02010600040101010101" pitchFamily="2" charset="-122"/>
              </a:rPr>
              <a:t>   </a:t>
            </a:r>
            <a:r>
              <a:rPr lang="en-US" altLang="zh-CN" kern="0" dirty="0">
                <a:ea typeface="华文中宋" panose="02010600040101010101" pitchFamily="2" charset="-122"/>
              </a:rPr>
              <a:t>Sc2</a:t>
            </a:r>
            <a:r>
              <a:rPr lang="zh-CN" altLang="en-US" kern="0" dirty="0">
                <a:ea typeface="华文中宋" panose="02010600040101010101" pitchFamily="2" charset="-122"/>
              </a:rPr>
              <a:t>＝</a:t>
            </a:r>
            <a:r>
              <a:rPr lang="en-US" altLang="zh-CN" kern="0" dirty="0">
                <a:ea typeface="华文中宋" panose="02010600040101010101" pitchFamily="2" charset="-122"/>
              </a:rPr>
              <a:t>r1(A)w1(A)</a:t>
            </a:r>
            <a:r>
              <a:rPr lang="en-US" altLang="zh-CN" kern="0" dirty="0">
                <a:solidFill>
                  <a:srgbClr val="0000CC"/>
                </a:solidFill>
                <a:ea typeface="华文中宋" panose="02010600040101010101" pitchFamily="2" charset="-122"/>
              </a:rPr>
              <a:t>r1(B)w1(B) </a:t>
            </a:r>
            <a:r>
              <a:rPr lang="en-US" altLang="zh-CN" u="sng" kern="0" dirty="0">
                <a:solidFill>
                  <a:srgbClr val="FF0066"/>
                </a:solidFill>
                <a:ea typeface="华文中宋" panose="02010600040101010101" pitchFamily="2" charset="-122"/>
              </a:rPr>
              <a:t>r2(A)</a:t>
            </a:r>
            <a:r>
              <a:rPr lang="en-US" altLang="zh-CN" kern="0" dirty="0">
                <a:solidFill>
                  <a:srgbClr val="FF0000"/>
                </a:solidFill>
                <a:ea typeface="华文中宋" panose="02010600040101010101" pitchFamily="2" charset="-122"/>
              </a:rPr>
              <a:t>w2(A)</a:t>
            </a:r>
            <a:r>
              <a:rPr lang="en-US" altLang="zh-CN" kern="0" dirty="0">
                <a:ea typeface="华文中宋" panose="02010600040101010101" pitchFamily="2" charset="-122"/>
              </a:rPr>
              <a:t>r2(B)w2(B)</a:t>
            </a:r>
          </a:p>
          <a:p>
            <a:pPr lvl="1">
              <a:lnSpc>
                <a:spcPct val="150000"/>
              </a:lnSpc>
              <a:spcBef>
                <a:spcPts val="450"/>
              </a:spcBef>
            </a:pPr>
            <a:r>
              <a:rPr lang="en-US" altLang="zh-CN" kern="0" dirty="0">
                <a:ea typeface="华文中宋" panose="02010600040101010101" pitchFamily="2" charset="-122"/>
              </a:rPr>
              <a:t>Sc2 is </a:t>
            </a:r>
            <a:r>
              <a:rPr lang="en-US" altLang="zh-CN" kern="0" dirty="0">
                <a:solidFill>
                  <a:srgbClr val="FF0000"/>
                </a:solidFill>
                <a:ea typeface="宋体" panose="02010600030101010101" pitchFamily="2" charset="-122"/>
              </a:rPr>
              <a:t>equivalent to a serializable schedule </a:t>
            </a:r>
            <a:r>
              <a:rPr lang="en-US" altLang="zh-CN" kern="0" dirty="0">
                <a:ea typeface="华文中宋" panose="02010600040101010101" pitchFamily="2" charset="-122"/>
              </a:rPr>
              <a:t>T</a:t>
            </a:r>
            <a:r>
              <a:rPr lang="en-US" altLang="zh-CN" kern="0" baseline="-25000" dirty="0">
                <a:ea typeface="华文中宋" panose="02010600040101010101" pitchFamily="2" charset="-122"/>
              </a:rPr>
              <a:t>1</a:t>
            </a:r>
            <a:r>
              <a:rPr lang="en-US" altLang="zh-CN" kern="0" dirty="0">
                <a:ea typeface="华文中宋" panose="02010600040101010101" pitchFamily="2" charset="-122"/>
              </a:rPr>
              <a:t>,T</a:t>
            </a:r>
            <a:r>
              <a:rPr lang="en-US" altLang="zh-CN" kern="0" baseline="-25000" dirty="0">
                <a:ea typeface="华文中宋" panose="02010600040101010101" pitchFamily="2" charset="-122"/>
              </a:rPr>
              <a:t>2</a:t>
            </a:r>
          </a:p>
          <a:p>
            <a:pPr lvl="1">
              <a:lnSpc>
                <a:spcPct val="150000"/>
              </a:lnSpc>
              <a:spcBef>
                <a:spcPts val="450"/>
              </a:spcBef>
            </a:pPr>
            <a:r>
              <a:rPr lang="en-US" altLang="zh-CN" kern="0" dirty="0">
                <a:ea typeface="华文中宋" panose="02010600040101010101" pitchFamily="2" charset="-122"/>
              </a:rPr>
              <a:t>Then Sc1 is </a:t>
            </a:r>
            <a:r>
              <a:rPr lang="en-US" altLang="zh-CN" kern="0" dirty="0">
                <a:ea typeface="宋体" panose="02010600030101010101" pitchFamily="2" charset="-122"/>
              </a:rPr>
              <a:t>conflict serializable</a:t>
            </a:r>
            <a:endParaRPr lang="zh-CN" altLang="en-US" kern="0" dirty="0">
              <a:ea typeface="华文中宋" panose="02010600040101010101" pitchFamily="2" charset="-122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709575E-9FBA-4140-8030-8EA0A330A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79" y="1102817"/>
            <a:ext cx="1079897" cy="323850"/>
          </a:xfrm>
          <a:prstGeom prst="curvedDownArrow">
            <a:avLst>
              <a:gd name="adj1" fmla="val 66691"/>
              <a:gd name="adj2" fmla="val 133382"/>
              <a:gd name="adj3" fmla="val 33333"/>
            </a:avLst>
          </a:prstGeom>
          <a:gradFill rotWithShape="0">
            <a:gsLst>
              <a:gs pos="0">
                <a:srgbClr val="FFCCCC"/>
              </a:gs>
              <a:gs pos="100000">
                <a:srgbClr val="CCECFF"/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9B0BB5B-6D64-4859-91AE-2E54990DC65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14742" y="1719560"/>
            <a:ext cx="1025128" cy="377429"/>
          </a:xfrm>
          <a:prstGeom prst="curvedUpArrow">
            <a:avLst>
              <a:gd name="adj1" fmla="val 47355"/>
              <a:gd name="adj2" fmla="val 108643"/>
              <a:gd name="adj3" fmla="val 33333"/>
            </a:avLst>
          </a:prstGeom>
          <a:gradFill rotWithShape="0">
            <a:gsLst>
              <a:gs pos="0">
                <a:srgbClr val="FFCCCC"/>
              </a:gs>
              <a:gs pos="100000">
                <a:srgbClr val="CCECFF"/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EE2256B-BCDE-47C0-8E39-88EA0BDA2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1966" y="2096989"/>
            <a:ext cx="1079897" cy="323850"/>
          </a:xfrm>
          <a:prstGeom prst="curvedDownArrow">
            <a:avLst>
              <a:gd name="adj1" fmla="val 66691"/>
              <a:gd name="adj2" fmla="val 133382"/>
              <a:gd name="adj3" fmla="val 33333"/>
            </a:avLst>
          </a:prstGeom>
          <a:gradFill rotWithShape="0">
            <a:gsLst>
              <a:gs pos="0">
                <a:srgbClr val="FFCCCC"/>
              </a:gs>
              <a:gs pos="100000">
                <a:srgbClr val="CCECFF"/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B164A25-ADC2-4292-8B6D-9156B000ABF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38388" y="2714923"/>
            <a:ext cx="1025128" cy="377429"/>
          </a:xfrm>
          <a:prstGeom prst="curvedUpArrow">
            <a:avLst>
              <a:gd name="adj1" fmla="val 47355"/>
              <a:gd name="adj2" fmla="val 108643"/>
              <a:gd name="adj3" fmla="val 33333"/>
            </a:avLst>
          </a:prstGeom>
          <a:gradFill rotWithShape="0">
            <a:gsLst>
              <a:gs pos="0">
                <a:srgbClr val="FFCCCC"/>
              </a:gs>
              <a:gs pos="100000">
                <a:srgbClr val="CCECFF"/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1E764E9C-7F28-43E2-A62D-81544A8A0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3211116"/>
            <a:ext cx="2347838" cy="59412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D7293A81-CA3E-47DF-AB84-40891217A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526" y="3190876"/>
            <a:ext cx="2347838" cy="594122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66156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982D5-F1CA-4424-87B7-449E3E642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Conflict Serializability (Cont.)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0E4B49-C1F4-4F73-BB79-013B817F0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843558"/>
            <a:ext cx="8136904" cy="383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+mn-lt"/>
              </a:defRPr>
            </a:lvl2pPr>
            <a:lvl3pPr marL="81438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1800">
                <a:solidFill>
                  <a:schemeClr val="tx1"/>
                </a:solidFill>
                <a:latin typeface="+mn-lt"/>
              </a:defRPr>
            </a:lvl3pPr>
            <a:lvl4pPr marL="1071563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1800">
                <a:solidFill>
                  <a:schemeClr val="tx1"/>
                </a:solidFill>
                <a:latin typeface="+mn-lt"/>
              </a:defRPr>
            </a:lvl4pPr>
            <a:lvl5pPr marL="13287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5pPr>
            <a:lvl6pPr marL="16716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6pPr>
            <a:lvl7pPr marL="20145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7pPr>
            <a:lvl8pPr marL="23574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8pPr>
            <a:lvl9pPr marL="27003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1350"/>
              </a:spcBef>
            </a:pPr>
            <a:r>
              <a:rPr lang="en-US" altLang="zh-CN" sz="1800" kern="0" dirty="0">
                <a:ea typeface="华文中宋" panose="02010600040101010101" pitchFamily="2" charset="-122"/>
              </a:rPr>
              <a:t>A conflict serializable schedule is a serializable schedule, but a serializable schedule is not always conflict serializable.</a:t>
            </a:r>
          </a:p>
          <a:p>
            <a:pPr>
              <a:spcBef>
                <a:spcPts val="1350"/>
              </a:spcBef>
            </a:pPr>
            <a:r>
              <a:rPr lang="en-US" altLang="zh-CN" sz="1650" b="1" kern="0" dirty="0">
                <a:ea typeface="华文中宋" panose="02010600040101010101" pitchFamily="2" charset="-122"/>
              </a:rPr>
              <a:t>E.g., three transactions</a:t>
            </a:r>
            <a:endParaRPr lang="zh-CN" altLang="en-US" sz="1650" b="1" kern="0" dirty="0">
              <a:ea typeface="华文中宋" panose="02010600040101010101" pitchFamily="2" charset="-122"/>
            </a:endParaRPr>
          </a:p>
          <a:p>
            <a:pPr>
              <a:spcBef>
                <a:spcPts val="1350"/>
              </a:spcBef>
              <a:buFont typeface="Wingdings" panose="05000000000000000000" pitchFamily="2" charset="2"/>
              <a:buNone/>
            </a:pPr>
            <a:r>
              <a:rPr lang="zh-CN" altLang="en-US" sz="1650" b="1" kern="0" dirty="0">
                <a:ea typeface="华文中宋" panose="02010600040101010101" pitchFamily="2" charset="-122"/>
              </a:rPr>
              <a:t>       </a:t>
            </a:r>
            <a:r>
              <a:rPr lang="en-US" altLang="zh-CN" sz="1650" b="1" kern="0" dirty="0">
                <a:ea typeface="华文中宋" panose="02010600040101010101" pitchFamily="2" charset="-122"/>
              </a:rPr>
              <a:t>T1=W1(Y)W1(X)</a:t>
            </a:r>
            <a:r>
              <a:rPr lang="zh-CN" altLang="en-US" sz="1650" b="1" kern="0" dirty="0">
                <a:ea typeface="华文中宋" panose="02010600040101010101" pitchFamily="2" charset="-122"/>
              </a:rPr>
              <a:t>，</a:t>
            </a:r>
            <a:r>
              <a:rPr lang="en-US" altLang="zh-CN" sz="1650" b="1" kern="0" dirty="0">
                <a:ea typeface="华文中宋" panose="02010600040101010101" pitchFamily="2" charset="-122"/>
              </a:rPr>
              <a:t>T2=W2(Y)W2(X)</a:t>
            </a:r>
            <a:r>
              <a:rPr lang="zh-CN" altLang="en-US" sz="1650" b="1" kern="0" dirty="0">
                <a:ea typeface="华文中宋" panose="02010600040101010101" pitchFamily="2" charset="-122"/>
              </a:rPr>
              <a:t>，</a:t>
            </a:r>
            <a:r>
              <a:rPr lang="en-US" altLang="zh-CN" sz="1650" b="1" kern="0" dirty="0">
                <a:ea typeface="华文中宋" panose="02010600040101010101" pitchFamily="2" charset="-122"/>
              </a:rPr>
              <a:t>T3=W3(X)</a:t>
            </a:r>
          </a:p>
          <a:p>
            <a:pPr lvl="1">
              <a:spcBef>
                <a:spcPts val="1350"/>
              </a:spcBef>
            </a:pPr>
            <a:r>
              <a:rPr lang="en-US" altLang="zh-CN" sz="1650" b="1" kern="0" dirty="0">
                <a:ea typeface="华文中宋" panose="02010600040101010101" pitchFamily="2" charset="-122"/>
              </a:rPr>
              <a:t>S1=W1(Y)</a:t>
            </a:r>
            <a:r>
              <a:rPr lang="en-US" altLang="zh-CN" sz="1650" b="1" u="sng" kern="0" dirty="0">
                <a:solidFill>
                  <a:srgbClr val="FF0000"/>
                </a:solidFill>
                <a:ea typeface="华文中宋" panose="02010600040101010101" pitchFamily="2" charset="-122"/>
              </a:rPr>
              <a:t>W1(X)</a:t>
            </a:r>
            <a:r>
              <a:rPr lang="en-US" altLang="zh-CN" sz="1650" b="1" kern="0" dirty="0">
                <a:ea typeface="华文中宋" panose="02010600040101010101" pitchFamily="2" charset="-122"/>
              </a:rPr>
              <a:t>W2(Y)W2(X)W3(X) is serializable</a:t>
            </a:r>
            <a:endParaRPr lang="zh-CN" altLang="en-US" sz="1650" b="1" kern="0" dirty="0">
              <a:ea typeface="华文中宋" panose="02010600040101010101" pitchFamily="2" charset="-122"/>
            </a:endParaRPr>
          </a:p>
          <a:p>
            <a:pPr lvl="1">
              <a:spcBef>
                <a:spcPts val="1350"/>
              </a:spcBef>
            </a:pPr>
            <a:r>
              <a:rPr lang="en-US" altLang="zh-CN" sz="1650" b="1" kern="0" dirty="0">
                <a:ea typeface="华文中宋" panose="02010600040101010101" pitchFamily="2" charset="-122"/>
              </a:rPr>
              <a:t>S2=</a:t>
            </a:r>
            <a:r>
              <a:rPr lang="en-US" altLang="zh-CN" sz="1650" b="1" kern="0" dirty="0">
                <a:solidFill>
                  <a:srgbClr val="0000CC"/>
                </a:solidFill>
                <a:ea typeface="华文中宋" panose="02010600040101010101" pitchFamily="2" charset="-122"/>
              </a:rPr>
              <a:t>W1(Y)W2(Y)</a:t>
            </a:r>
            <a:r>
              <a:rPr lang="en-US" altLang="zh-CN" sz="1650" b="1" kern="0" dirty="0">
                <a:ea typeface="华文中宋" panose="02010600040101010101" pitchFamily="2" charset="-122"/>
              </a:rPr>
              <a:t>W2(X)</a:t>
            </a:r>
            <a:r>
              <a:rPr lang="en-US" altLang="zh-CN" sz="1650" b="1" u="sng" kern="0" dirty="0">
                <a:solidFill>
                  <a:srgbClr val="FF0000"/>
                </a:solidFill>
                <a:ea typeface="华文中宋" panose="02010600040101010101" pitchFamily="2" charset="-122"/>
              </a:rPr>
              <a:t>W1(X)</a:t>
            </a:r>
            <a:r>
              <a:rPr lang="en-US" altLang="zh-CN" sz="1650" b="1" kern="0" dirty="0">
                <a:solidFill>
                  <a:srgbClr val="FF0066"/>
                </a:solidFill>
                <a:ea typeface="华文中宋" panose="02010600040101010101" pitchFamily="2" charset="-122"/>
              </a:rPr>
              <a:t>W3(X) </a:t>
            </a:r>
            <a:r>
              <a:rPr lang="en-US" altLang="zh-CN" sz="1650" b="1" kern="0" dirty="0">
                <a:ea typeface="华文中宋" panose="02010600040101010101" pitchFamily="2" charset="-122"/>
              </a:rPr>
              <a:t>is </a:t>
            </a:r>
            <a:r>
              <a:rPr lang="en-US" altLang="zh-CN" sz="1650" b="1" kern="0" dirty="0">
                <a:solidFill>
                  <a:srgbClr val="C00000"/>
                </a:solidFill>
                <a:ea typeface="华文中宋" panose="02010600040101010101" pitchFamily="2" charset="-122"/>
              </a:rPr>
              <a:t>not conflict equivalent </a:t>
            </a:r>
            <a:r>
              <a:rPr lang="en-US" altLang="zh-CN" sz="1650" b="1" kern="0" dirty="0">
                <a:ea typeface="华文中宋" panose="02010600040101010101" pitchFamily="2" charset="-122"/>
              </a:rPr>
              <a:t>to S1, and not conflict serializable</a:t>
            </a:r>
            <a:endParaRPr lang="zh-CN" altLang="en-US" sz="1650" b="1" kern="0" dirty="0">
              <a:ea typeface="华文中宋" panose="02010600040101010101" pitchFamily="2" charset="-122"/>
            </a:endParaRPr>
          </a:p>
          <a:p>
            <a:pPr lvl="1">
              <a:spcBef>
                <a:spcPts val="1350"/>
              </a:spcBef>
            </a:pPr>
            <a:r>
              <a:rPr lang="en-US" altLang="zh-CN" sz="1650" b="1" kern="0" dirty="0">
                <a:ea typeface="华文中宋" panose="02010600040101010101" pitchFamily="2" charset="-122"/>
              </a:rPr>
              <a:t>S2 is serializable, and its result is </a:t>
            </a:r>
            <a:r>
              <a:rPr lang="en-US" altLang="zh-CN" sz="1500" b="1" kern="0" dirty="0">
                <a:solidFill>
                  <a:srgbClr val="C00000"/>
                </a:solidFill>
                <a:ea typeface="宋体" panose="02010600030101010101" pitchFamily="2" charset="-122"/>
              </a:rPr>
              <a:t>equivalent to </a:t>
            </a:r>
            <a:r>
              <a:rPr lang="en-US" altLang="zh-CN" sz="1650" b="1" kern="0" dirty="0">
                <a:ea typeface="华文中宋" panose="02010600040101010101" pitchFamily="2" charset="-122"/>
              </a:rPr>
              <a:t>S1</a:t>
            </a:r>
            <a:endParaRPr lang="zh-CN" altLang="en-US" sz="1650" b="1" kern="0" dirty="0">
              <a:ea typeface="华文中宋" panose="02010600040101010101" pitchFamily="2" charset="-122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E46647-B565-44C3-840E-21F7D76C4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9429" y="2374007"/>
            <a:ext cx="1296591" cy="485775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2E256C-5410-41C9-B448-B6BBACC25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6020" y="2332336"/>
            <a:ext cx="1157908" cy="485775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A0CA00-AB27-4227-B3DD-B34C390FF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9531" y="2353767"/>
            <a:ext cx="702469" cy="485775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4000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AEAD1-D9AB-442E-97AE-71C2A866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View Serializability</a:t>
            </a:r>
            <a:r>
              <a:rPr lang="zh-CN" altLang="en-US" dirty="0"/>
              <a:t>（视图可串行化）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F30910-A9B2-4460-AD39-5F2882B9E5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352928" cy="380507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1800" b="1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1800" b="1" dirty="0"/>
                  <a:t> are view equivalent if the following three conditions are met:</a:t>
                </a:r>
              </a:p>
              <a:p>
                <a:pPr lvl="1"/>
                <a:r>
                  <a:rPr lang="en-US" altLang="zh-CN" sz="1400" dirty="0"/>
                  <a:t>For each data item Q, if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reads the initial value of Q in schedule S, then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in schedule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1400" dirty="0"/>
                  <a:t> should also read the initial value of Q.</a:t>
                </a:r>
              </a:p>
              <a:p>
                <a:pPr lvl="1"/>
                <a:r>
                  <a:rPr lang="en-US" altLang="zh-CN" sz="1400" dirty="0"/>
                  <a:t>For each data item Q, if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executes read(Q) in schedule S, and that value was produced by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 (if any), then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400" dirty="0"/>
                  <a:t> in schedule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sz="1400" dirty="0"/>
                  <a:t> should also read the value of Q that was produced by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400" dirty="0"/>
                  <a:t>.</a:t>
                </a:r>
              </a:p>
              <a:p>
                <a:pPr lvl="1"/>
                <a:r>
                  <a:rPr lang="en-US" altLang="zh-CN" sz="1400" dirty="0"/>
                  <a:t>For each data item Q, the transaction (if any) that performs the final write(Q) operation in schedule S must perform the final write(Q) operation in schedule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sz="1400" dirty="0"/>
              </a:p>
              <a:p>
                <a:r>
                  <a:rPr lang="en-US" altLang="zh-CN" sz="1800" dirty="0"/>
                  <a:t>View equivalence is also based purely on reads and writes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0F30910-A9B2-4460-AD39-5F2882B9E5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352928" cy="3805070"/>
              </a:xfrm>
              <a:blipFill>
                <a:blip r:embed="rId3"/>
                <a:stretch>
                  <a:fillRect l="-511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124774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37B53-E794-4069-9317-D78724DD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View Serializability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F578CD-0238-4F66-8968-24260D3C4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43558"/>
            <a:ext cx="8568952" cy="3589046"/>
          </a:xfrm>
        </p:spPr>
        <p:txBody>
          <a:bodyPr/>
          <a:lstStyle/>
          <a:p>
            <a:r>
              <a:rPr lang="en-US" altLang="zh-CN" sz="1600" dirty="0"/>
              <a:t>If a schedule S is view serializable, it is view equivalent to a serial schedule</a:t>
            </a:r>
          </a:p>
          <a:p>
            <a:r>
              <a:rPr lang="en-US" altLang="zh-CN" sz="1600" dirty="0"/>
              <a:t>Every conflict serializable schedule is also view serializable</a:t>
            </a:r>
          </a:p>
          <a:p>
            <a:r>
              <a:rPr lang="en-US" altLang="zh-CN" sz="1600" dirty="0"/>
              <a:t>E.g., the following schedule, equivalent to T</a:t>
            </a:r>
            <a:r>
              <a:rPr lang="en-US" altLang="zh-CN" sz="1600" baseline="-25000" dirty="0"/>
              <a:t>3</a:t>
            </a:r>
            <a:r>
              <a:rPr lang="en-US" altLang="zh-CN" sz="1600" dirty="0"/>
              <a:t>, T</a:t>
            </a:r>
            <a:r>
              <a:rPr lang="en-US" altLang="zh-CN" sz="1600" baseline="-25000" dirty="0"/>
              <a:t>4</a:t>
            </a:r>
            <a:r>
              <a:rPr lang="en-US" altLang="zh-CN" sz="1600" dirty="0"/>
              <a:t>, T</a:t>
            </a:r>
            <a:r>
              <a:rPr lang="en-US" altLang="zh-CN" sz="1600" baseline="-25000" dirty="0"/>
              <a:t>6</a:t>
            </a:r>
            <a:r>
              <a:rPr lang="en-US" altLang="zh-CN" sz="1600" dirty="0"/>
              <a:t>, is view-serializable but not conflict serializable</a:t>
            </a:r>
            <a:br>
              <a:rPr lang="en-US" altLang="zh-CN" sz="1600" dirty="0"/>
            </a:b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48D0AD5C-4542-4F86-9E17-E1299FC16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" t="21306" r="1083" b="22182"/>
          <a:stretch>
            <a:fillRect/>
          </a:stretch>
        </p:blipFill>
        <p:spPr bwMode="auto">
          <a:xfrm>
            <a:off x="899592" y="2452861"/>
            <a:ext cx="32861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FBE37EC0-397A-4CB3-AB86-7144E1485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" t="21306" r="1083" b="22182"/>
          <a:stretch>
            <a:fillRect/>
          </a:stretch>
        </p:blipFill>
        <p:spPr bwMode="auto">
          <a:xfrm>
            <a:off x="4396458" y="2442145"/>
            <a:ext cx="3286125" cy="1337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155BAC2E-AA33-432B-BABB-F8881B905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0516" y="3058889"/>
            <a:ext cx="945579" cy="66941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b="1" dirty="0">
                <a:solidFill>
                  <a:srgbClr val="00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Write(Q)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1200" b="1" dirty="0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1200" b="1" dirty="0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D14B008D-2D0C-40A8-8D3D-2EDD6E956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3504" y="2911252"/>
            <a:ext cx="945578" cy="7155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1350" b="1" dirty="0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kumimoji="0" lang="en-US" altLang="zh-CN" sz="1350" b="1" dirty="0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b="1" dirty="0">
                <a:solidFill>
                  <a:srgbClr val="00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Write(Q)</a:t>
            </a:r>
            <a:endParaRPr kumimoji="0" lang="en-US" altLang="zh-CN" sz="1200" b="1" dirty="0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38954A97-B341-41B9-9283-3D4EB49AF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473" y="3162225"/>
            <a:ext cx="244079" cy="364331"/>
          </a:xfrm>
          <a:prstGeom prst="leftRightArrow">
            <a:avLst>
              <a:gd name="adj1" fmla="val 50000"/>
              <a:gd name="adj2" fmla="val 20000"/>
            </a:avLst>
          </a:prstGeom>
          <a:solidFill>
            <a:srgbClr val="FFCC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614640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447B6-F50C-458E-802F-E7070CE5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Other Notions of Serializability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7EDCF8-CB05-4E7F-A97D-8BD5D1DB2B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600" dirty="0"/>
                  <a:t>The following schedule produces the same outcome as the serial schedule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sz="1600" dirty="0"/>
                  <a:t>&gt;, yet it is not conflict equivalent or view equivalent</a:t>
                </a:r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en-US" altLang="zh-CN" sz="1600" dirty="0"/>
                  <a:t>Determining such equivalence requires analysis of operations other than read and write</a:t>
                </a:r>
              </a:p>
              <a:p>
                <a:endParaRPr lang="zh-CN" altLang="en-US" sz="16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7EDCF8-CB05-4E7F-A97D-8BD5D1DB2B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84" t="-481" r="-1067" b="-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1">
            <a:extLst>
              <a:ext uri="{FF2B5EF4-FFF2-40B4-BE49-F238E27FC236}">
                <a16:creationId xmlns:a16="http://schemas.microsoft.com/office/drawing/2014/main" id="{DC6169AF-5B3C-4C72-875C-61DEB01EF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491630"/>
            <a:ext cx="2542646" cy="2615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328130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347614"/>
            <a:ext cx="8568952" cy="33010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/>
              <a:t>Transaction Concept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Schedules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Serializable Schedule</a:t>
            </a:r>
          </a:p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Recoverable Schedule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Testing for Serializability</a:t>
            </a:r>
          </a:p>
        </p:txBody>
      </p:sp>
    </p:spTree>
    <p:extLst>
      <p:ext uri="{BB962C8B-B14F-4D97-AF65-F5344CB8AC3E}">
        <p14:creationId xmlns:p14="http://schemas.microsoft.com/office/powerpoint/2010/main" val="163595280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B1BE64-E5F4-43BF-846B-1BA89F282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Recoverability (</a:t>
            </a:r>
            <a:r>
              <a:rPr lang="zh-CN" altLang="en-US" dirty="0"/>
              <a:t>可恢复性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150CDF-4D0D-4565-B0D8-8DAAEB6D38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b="1" dirty="0"/>
                  <a:t>Recoverable schedule</a:t>
                </a:r>
                <a:r>
                  <a:rPr lang="zh-CN" altLang="en-US" sz="1800" b="1" dirty="0"/>
                  <a:t>（可恢复调度）</a:t>
                </a:r>
                <a:endParaRPr lang="en-US" altLang="zh-CN" sz="1800" b="1" dirty="0"/>
              </a:p>
              <a:p>
                <a:pPr lvl="1"/>
                <a:r>
                  <a:rPr lang="en-US" altLang="zh-CN" sz="1600" dirty="0"/>
                  <a:t>If a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600" dirty="0"/>
                  <a:t> reads a data item previously written by a transaction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, the commit operation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should appear before the commit operation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sz="1400" dirty="0"/>
              </a:p>
              <a:p>
                <a:pPr lvl="1"/>
                <a:r>
                  <a:rPr lang="en-US" altLang="zh-CN" sz="1600" dirty="0"/>
                  <a:t>The following schedule is not recoverable if T</a:t>
                </a:r>
                <a:r>
                  <a:rPr lang="en-US" altLang="zh-CN" sz="1600" baseline="-25000" dirty="0"/>
                  <a:t>9</a:t>
                </a:r>
                <a:r>
                  <a:rPr lang="en-US" altLang="zh-CN" sz="1600" dirty="0"/>
                  <a:t> commits immediately after the read</a:t>
                </a:r>
                <a:br>
                  <a:rPr lang="en-US" altLang="zh-CN" sz="1600" dirty="0"/>
                </a:br>
                <a:r>
                  <a:rPr lang="en-US" altLang="zh-CN" sz="1600" dirty="0"/>
                  <a:t>		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150CDF-4D0D-4565-B0D8-8DAAEB6D38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27" t="-962" r="-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11">
            <a:extLst>
              <a:ext uri="{FF2B5EF4-FFF2-40B4-BE49-F238E27FC236}">
                <a16:creationId xmlns:a16="http://schemas.microsoft.com/office/drawing/2014/main" id="{6DCFCEBB-4E10-48B2-A68E-59D80D06C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571750"/>
            <a:ext cx="2913063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904150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F50750-282E-45E2-9E77-664EAA4AC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Recoverability (Cont.)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787D10-3D33-42D8-BDE8-6946D987A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b="1" dirty="0"/>
              <a:t>Cascading rollback(</a:t>
            </a:r>
            <a:r>
              <a:rPr lang="zh-CN" altLang="en-US" sz="1800" b="1" dirty="0"/>
              <a:t>级联回滚</a:t>
            </a:r>
            <a:r>
              <a:rPr lang="en-US" altLang="zh-CN" sz="1800" b="1" dirty="0"/>
              <a:t>) </a:t>
            </a:r>
          </a:p>
          <a:p>
            <a:pPr lvl="1"/>
            <a:r>
              <a:rPr lang="en-US" altLang="zh-CN" sz="1400" dirty="0"/>
              <a:t>A single transaction failure leads to a series of transaction rollbacks</a:t>
            </a:r>
          </a:p>
          <a:p>
            <a:pPr lvl="1"/>
            <a:r>
              <a:rPr lang="en-US" altLang="zh-CN" sz="1400" dirty="0"/>
              <a:t>Consider the following schedule where none of the transactions has yet committed</a:t>
            </a:r>
          </a:p>
          <a:p>
            <a:pPr lvl="1"/>
            <a:endParaRPr lang="en-US" altLang="zh-CN" sz="1400" dirty="0"/>
          </a:p>
          <a:p>
            <a:pPr lvl="1"/>
            <a:endParaRPr lang="en-US" altLang="zh-CN" sz="1400" dirty="0"/>
          </a:p>
          <a:p>
            <a:pPr lvl="1"/>
            <a:endParaRPr lang="en-US" altLang="zh-CN" sz="1400" dirty="0"/>
          </a:p>
          <a:p>
            <a:pPr lvl="1"/>
            <a:endParaRPr lang="en-US" altLang="zh-CN" sz="1400" dirty="0"/>
          </a:p>
          <a:p>
            <a:pPr lvl="1"/>
            <a:endParaRPr lang="en-US" altLang="zh-CN" sz="1400" dirty="0"/>
          </a:p>
          <a:p>
            <a:pPr lvl="1"/>
            <a:endParaRPr lang="en-US" altLang="zh-CN" sz="1400" dirty="0"/>
          </a:p>
          <a:p>
            <a:pPr lvl="1"/>
            <a:endParaRPr lang="en-US" altLang="zh-CN" sz="1400" dirty="0"/>
          </a:p>
          <a:p>
            <a:pPr lvl="1"/>
            <a:endParaRPr lang="en-US" altLang="zh-CN" sz="1400" dirty="0"/>
          </a:p>
          <a:p>
            <a:pPr lvl="1"/>
            <a:endParaRPr lang="en-US" altLang="zh-CN" sz="1400" dirty="0"/>
          </a:p>
          <a:p>
            <a:pPr lvl="1"/>
            <a:endParaRPr lang="en-US" altLang="zh-CN" sz="1400" dirty="0"/>
          </a:p>
          <a:p>
            <a:pPr lvl="1"/>
            <a:r>
              <a:rPr lang="en-US" altLang="zh-CN" sz="1400" dirty="0"/>
              <a:t>If T</a:t>
            </a:r>
            <a:r>
              <a:rPr lang="en-US" altLang="zh-CN" sz="1400" baseline="-25000" dirty="0"/>
              <a:t>10</a:t>
            </a:r>
            <a:r>
              <a:rPr lang="en-US" altLang="zh-CN" sz="1400" dirty="0"/>
              <a:t> fails, T</a:t>
            </a:r>
            <a:r>
              <a:rPr lang="en-US" altLang="zh-CN" sz="1400" baseline="-25000" dirty="0"/>
              <a:t>11</a:t>
            </a:r>
            <a:r>
              <a:rPr lang="en-US" altLang="zh-CN" sz="1400" dirty="0"/>
              <a:t> and T</a:t>
            </a:r>
            <a:r>
              <a:rPr lang="en-US" altLang="zh-CN" sz="1400" baseline="-25000" dirty="0"/>
              <a:t>12</a:t>
            </a:r>
            <a:r>
              <a:rPr lang="en-US" altLang="zh-CN" sz="1400" dirty="0"/>
              <a:t> must also be rolled back</a:t>
            </a:r>
            <a:endParaRPr lang="en-US" altLang="zh-CN" sz="1800" dirty="0"/>
          </a:p>
          <a:p>
            <a:r>
              <a:rPr lang="en-US" altLang="zh-CN" sz="1800" b="1" dirty="0"/>
              <a:t>Can lead to the undoing of a significant amount of work</a:t>
            </a:r>
          </a:p>
          <a:p>
            <a:endParaRPr lang="zh-CN" altLang="en-US" sz="1800" dirty="0"/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3B522CA8-A653-449D-870E-4EA8BEB09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779662"/>
            <a:ext cx="342900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678358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153E6B-C331-4F86-B017-9718AD962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Recoverability (Cont.)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63F91BD-DA4F-4BEF-88B1-376D422CDF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789553"/>
                <a:ext cx="8136904" cy="3805070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altLang="zh-CN" sz="2000" b="1" dirty="0"/>
                  <a:t>Cascadeless schedules (</a:t>
                </a:r>
                <a:r>
                  <a:rPr lang="zh-CN" altLang="en-US" sz="2000" b="1" dirty="0"/>
                  <a:t>无级联回滚调度</a:t>
                </a:r>
                <a:r>
                  <a:rPr lang="en-US" altLang="zh-CN" sz="2000" b="1" dirty="0"/>
                  <a:t>) 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/>
                  <a:t>For each pair of transactions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8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 dirty="0"/>
                  <a:t>reads a data item previously written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/>
                  <a:t>, the commit operation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800" dirty="0"/>
                  <a:t>should appear before the read operation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sz="1800" dirty="0"/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/>
                  <a:t>Cascading rollbacks cannot occur and every </a:t>
                </a:r>
                <a:r>
                  <a:rPr lang="en-US" altLang="zh-CN" sz="1800" dirty="0" err="1"/>
                  <a:t>cascadeless</a:t>
                </a:r>
                <a:r>
                  <a:rPr lang="en-US" altLang="zh-CN" sz="1800" dirty="0"/>
                  <a:t> schedule is also recoverable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/>
                  <a:t>It is desirable to restrict the schedules to those that are </a:t>
                </a:r>
                <a:r>
                  <a:rPr lang="en-US" altLang="zh-CN" sz="1800" dirty="0" err="1"/>
                  <a:t>cascadeless</a:t>
                </a:r>
                <a:endParaRPr lang="en-US" altLang="zh-CN" sz="1800" dirty="0"/>
              </a:p>
              <a:p>
                <a:pPr>
                  <a:spcBef>
                    <a:spcPts val="600"/>
                  </a:spcBef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63F91BD-DA4F-4BEF-88B1-376D422CDF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789553"/>
                <a:ext cx="8136904" cy="3805070"/>
              </a:xfrm>
              <a:blipFill>
                <a:blip r:embed="rId2"/>
                <a:stretch>
                  <a:fillRect l="-674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24857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0638B-E32B-480E-992E-31C385C5C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Transaction Definition in SQL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6A0BF0-A2DE-405C-8062-B118B032B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DML must include a construct for specifying the set of actions that comprise a transaction</a:t>
            </a:r>
          </a:p>
          <a:p>
            <a:r>
              <a:rPr lang="en-US" altLang="zh-CN" sz="1800" dirty="0"/>
              <a:t>In SQL, a transaction begins implicitly</a:t>
            </a:r>
          </a:p>
          <a:p>
            <a:r>
              <a:rPr lang="en-US" altLang="zh-CN" sz="1800" dirty="0"/>
              <a:t>A transaction in SQL ends by:</a:t>
            </a:r>
          </a:p>
          <a:p>
            <a:pPr lvl="1"/>
            <a:r>
              <a:rPr lang="en-US" altLang="zh-CN" sz="1400" dirty="0"/>
              <a:t>Commit work: commits current transaction and starts a new one</a:t>
            </a:r>
          </a:p>
          <a:p>
            <a:pPr lvl="1"/>
            <a:r>
              <a:rPr lang="en-US" altLang="zh-CN" sz="1400" dirty="0"/>
              <a:t>Rollback work: causes current transaction to abort</a:t>
            </a:r>
          </a:p>
          <a:p>
            <a:r>
              <a:rPr lang="en-US" altLang="zh-CN" sz="1800" dirty="0"/>
              <a:t>Levels of isolation specified by SQL-92</a:t>
            </a:r>
          </a:p>
          <a:p>
            <a:pPr lvl="1"/>
            <a:r>
              <a:rPr lang="en-US" altLang="zh-CN" sz="1400" dirty="0"/>
              <a:t>Serializable – </a:t>
            </a:r>
            <a:r>
              <a:rPr lang="en-US" altLang="zh-CN" sz="1400" dirty="0">
                <a:solidFill>
                  <a:srgbClr val="C00000"/>
                </a:solidFill>
              </a:rPr>
              <a:t>default</a:t>
            </a:r>
            <a:r>
              <a:rPr lang="zh-CN" altLang="en-US" sz="1400" dirty="0">
                <a:solidFill>
                  <a:srgbClr val="C00000"/>
                </a:solidFill>
              </a:rPr>
              <a:t>：</a:t>
            </a:r>
            <a:r>
              <a:rPr lang="zh-CN" altLang="en-US" sz="1400" dirty="0"/>
              <a:t>保证可串行化调度</a:t>
            </a:r>
            <a:endParaRPr lang="en-US" altLang="zh-CN" sz="1400" dirty="0"/>
          </a:p>
          <a:p>
            <a:pPr lvl="1"/>
            <a:r>
              <a:rPr lang="en-US" altLang="zh-CN" sz="1400" dirty="0"/>
              <a:t>Repeatable read</a:t>
            </a:r>
            <a:r>
              <a:rPr lang="zh-CN" altLang="en-US" sz="1400" dirty="0"/>
              <a:t>：只允许读取已提交数据，两次读取之间数据不能更新</a:t>
            </a:r>
            <a:endParaRPr lang="en-US" altLang="zh-CN" sz="1400" dirty="0"/>
          </a:p>
          <a:p>
            <a:pPr lvl="1"/>
            <a:r>
              <a:rPr lang="en-US" altLang="zh-CN" sz="1400" dirty="0"/>
              <a:t>Read committed</a:t>
            </a:r>
            <a:r>
              <a:rPr lang="zh-CN" altLang="en-US" sz="1400" dirty="0"/>
              <a:t>：只允许读取已提交数据，不要求可重复读</a:t>
            </a:r>
            <a:endParaRPr lang="en-US" altLang="zh-CN" sz="1400" dirty="0"/>
          </a:p>
          <a:p>
            <a:pPr lvl="1"/>
            <a:r>
              <a:rPr lang="en-US" altLang="zh-CN" sz="1400" dirty="0"/>
              <a:t>Read uncommitted</a:t>
            </a:r>
            <a:r>
              <a:rPr lang="zh-CN" altLang="en-US" sz="1400" dirty="0"/>
              <a:t>：允许读取未提交数据</a:t>
            </a:r>
          </a:p>
        </p:txBody>
      </p:sp>
    </p:spTree>
    <p:extLst>
      <p:ext uri="{BB962C8B-B14F-4D97-AF65-F5344CB8AC3E}">
        <p14:creationId xmlns:p14="http://schemas.microsoft.com/office/powerpoint/2010/main" val="210809536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F2846-FA2A-4BAA-9362-7D602E41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7556-C772-4881-AE79-DA30A245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4" y="1347614"/>
            <a:ext cx="8568952" cy="33010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/>
              <a:t>Transaction Concept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Schedules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Serializable Schedule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Recoverable Schedule</a:t>
            </a:r>
          </a:p>
          <a:p>
            <a:pPr>
              <a:spcBef>
                <a:spcPts val="600"/>
              </a:spcBef>
            </a:pPr>
            <a:r>
              <a:rPr lang="en-US" altLang="zh-CN" b="1" dirty="0">
                <a:solidFill>
                  <a:srgbClr val="C00000"/>
                </a:solidFill>
              </a:rPr>
              <a:t>Testing for Serializability</a:t>
            </a:r>
          </a:p>
        </p:txBody>
      </p:sp>
    </p:spTree>
    <p:extLst>
      <p:ext uri="{BB962C8B-B14F-4D97-AF65-F5344CB8AC3E}">
        <p14:creationId xmlns:p14="http://schemas.microsoft.com/office/powerpoint/2010/main" val="275277124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0EDF5F-C306-4F68-B360-069FD6E33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Testing for Serializability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6731FC-6DBD-4492-B774-4C1F710E60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1800" dirty="0"/>
                  <a:t>Given a set of transactions T</a:t>
                </a:r>
                <a:r>
                  <a:rPr lang="en-US" altLang="zh-CN" sz="1800" baseline="-25000" dirty="0"/>
                  <a:t>1</a:t>
                </a:r>
                <a:r>
                  <a:rPr lang="en-US" altLang="zh-CN" sz="1800" dirty="0"/>
                  <a:t>, T</a:t>
                </a:r>
                <a:r>
                  <a:rPr lang="en-US" altLang="zh-CN" sz="1800" baseline="-25000" dirty="0"/>
                  <a:t>2</a:t>
                </a:r>
                <a:r>
                  <a:rPr lang="en-US" altLang="zh-CN" sz="1800" dirty="0"/>
                  <a:t>, ..., T</a:t>
                </a:r>
                <a:r>
                  <a:rPr lang="en-US" altLang="zh-CN" sz="1800" baseline="-25000" dirty="0"/>
                  <a:t>n</a:t>
                </a:r>
              </a:p>
              <a:p>
                <a:r>
                  <a:rPr lang="en-US" altLang="zh-CN" sz="1800" b="1" dirty="0"/>
                  <a:t>Precedence graph</a:t>
                </a:r>
                <a:r>
                  <a:rPr lang="zh-CN" altLang="en-US" sz="1800" b="1" dirty="0"/>
                  <a:t>（优先图）</a:t>
                </a:r>
                <a:endParaRPr lang="en-US" altLang="zh-CN" sz="1800" b="1" dirty="0"/>
              </a:p>
              <a:p>
                <a:pPr lvl="1"/>
                <a:r>
                  <a:rPr lang="en-US" altLang="zh-CN" sz="1600" dirty="0"/>
                  <a:t>A direct graph where the vertices are the transactions</a:t>
                </a:r>
                <a:endParaRPr lang="en-US" altLang="zh-CN" sz="1400" dirty="0"/>
              </a:p>
              <a:p>
                <a:pPr lvl="1"/>
                <a:r>
                  <a:rPr lang="en-US" altLang="zh-CN" sz="1600" dirty="0"/>
                  <a:t>Draw an arc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1600" dirty="0"/>
                  <a:t> if the two transactions conflict,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/>
                  <a:t> accessed the data item on which the conflict arose earlier</a:t>
                </a:r>
                <a:endParaRPr lang="en-US" altLang="zh-CN" sz="1400" dirty="0"/>
              </a:p>
              <a:p>
                <a:pPr lvl="1"/>
                <a:r>
                  <a:rPr lang="en-US" altLang="zh-CN" sz="1600" dirty="0"/>
                  <a:t>We label the arc by the data item that was accessed</a:t>
                </a:r>
                <a:endParaRPr lang="en-US" altLang="zh-CN" sz="1400" dirty="0"/>
              </a:p>
              <a:p>
                <a:r>
                  <a:rPr lang="en-US" altLang="zh-CN" sz="1800" b="1" dirty="0"/>
                  <a:t>Example</a:t>
                </a:r>
                <a:endParaRPr lang="zh-CN" altLang="en-US" sz="1800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6731FC-6DBD-4492-B774-4C1F710E60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27" t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8">
            <a:extLst>
              <a:ext uri="{FF2B5EF4-FFF2-40B4-BE49-F238E27FC236}">
                <a16:creationId xmlns:a16="http://schemas.microsoft.com/office/drawing/2014/main" id="{5B2F349A-37A8-47A2-9532-B929D68E9563}"/>
              </a:ext>
            </a:extLst>
          </p:cNvPr>
          <p:cNvGrpSpPr>
            <a:grpSpLocks/>
          </p:cNvGrpSpPr>
          <p:nvPr/>
        </p:nvGrpSpPr>
        <p:grpSpPr bwMode="auto">
          <a:xfrm>
            <a:off x="2195736" y="3178840"/>
            <a:ext cx="2009775" cy="1588294"/>
            <a:chOff x="2663" y="2728"/>
            <a:chExt cx="1688" cy="1334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7D657AE6-3983-477D-8923-E1014C2C6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4" y="2728"/>
              <a:ext cx="2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85800" eaLnBrk="0" hangingPunct="0">
                <a:spcBef>
                  <a:spcPct val="50000"/>
                </a:spcBef>
                <a:buClrTx/>
                <a:buSzTx/>
                <a:buNone/>
              </a:pPr>
              <a:r>
                <a:rPr kumimoji="0" lang="en-US" altLang="zh-CN" sz="1350" dirty="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33758082-A63E-4442-B75D-A873E9CE6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0" y="3810"/>
              <a:ext cx="2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defTabSz="685800" eaLnBrk="0" hangingPunct="0">
                <a:spcBef>
                  <a:spcPct val="50000"/>
                </a:spcBef>
                <a:buClrTx/>
                <a:buSzTx/>
                <a:buNone/>
              </a:pPr>
              <a:r>
                <a:rPr kumimoji="0" lang="en-US" altLang="zh-CN" sz="1350">
                  <a:solidFill>
                    <a:srgbClr val="000000"/>
                  </a:solidFill>
                  <a:latin typeface="Helvetica" panose="020B060402020202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943098A8-753D-4602-992D-386712EA99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46" t="19949" r="4726" b="19949"/>
            <a:stretch>
              <a:fillRect/>
            </a:stretch>
          </p:blipFill>
          <p:spPr bwMode="auto">
            <a:xfrm>
              <a:off x="2663" y="2987"/>
              <a:ext cx="1688" cy="8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 Box 9">
            <a:extLst>
              <a:ext uri="{FF2B5EF4-FFF2-40B4-BE49-F238E27FC236}">
                <a16:creationId xmlns:a16="http://schemas.microsoft.com/office/drawing/2014/main" id="{9DB1C627-38AE-4D8E-9B4E-9E3BB0A6A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3328859"/>
            <a:ext cx="1991251" cy="127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zh-CN" sz="1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T1 write(x) before T2 read(x)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zh-CN" sz="1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T1 write(x) before T2 write(x)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zh-CN" sz="1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T1 read(x) before T2 write(x)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endParaRPr kumimoji="0" lang="en-US" altLang="zh-CN" sz="11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zh-CN" sz="1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T2 write(y) before T1 read(y)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zh-CN" sz="1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T2 write(y) before T1 write(y)</a:t>
            </a:r>
          </a:p>
          <a:p>
            <a:pPr defTabSz="685800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zh-CN" sz="1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T2 read(y) before T1 write(y)</a:t>
            </a:r>
          </a:p>
        </p:txBody>
      </p:sp>
    </p:spTree>
    <p:extLst>
      <p:ext uri="{BB962C8B-B14F-4D97-AF65-F5344CB8AC3E}">
        <p14:creationId xmlns:p14="http://schemas.microsoft.com/office/powerpoint/2010/main" val="896623450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C2F3D-E991-4F69-A6A3-B1D8F6D3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2800" dirty="0"/>
              <a:t>Example Schedule A</a:t>
            </a:r>
            <a:endParaRPr lang="zh-CN" altLang="en-US" sz="28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7871D68-1063-452F-97C6-B81A966C5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2" y="778669"/>
            <a:ext cx="5043488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+mn-lt"/>
              </a:defRPr>
            </a:lvl2pPr>
            <a:lvl3pPr marL="81438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1800">
                <a:solidFill>
                  <a:schemeClr val="tx1"/>
                </a:solidFill>
                <a:latin typeface="+mn-lt"/>
              </a:defRPr>
            </a:lvl3pPr>
            <a:lvl4pPr marL="1071563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1800">
                <a:solidFill>
                  <a:schemeClr val="tx1"/>
                </a:solidFill>
                <a:latin typeface="+mn-lt"/>
              </a:defRPr>
            </a:lvl4pPr>
            <a:lvl5pPr marL="13287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5pPr>
            <a:lvl6pPr marL="16716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6pPr>
            <a:lvl7pPr marL="20145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7pPr>
            <a:lvl8pPr marL="23574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8pPr>
            <a:lvl9pPr marL="2700338" indent="-1714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1800">
                <a:solidFill>
                  <a:schemeClr val="tx1"/>
                </a:solidFill>
                <a:latin typeface="+mn-lt"/>
              </a:defRPr>
            </a:lvl9pPr>
          </a:lstStyle>
          <a:p>
            <a:pPr marL="259556" indent="0">
              <a:lnSpc>
                <a:spcPct val="110000"/>
              </a:lnSpc>
              <a:buFont typeface="Wingdings" panose="05000000000000000000" pitchFamily="2" charset="2"/>
              <a:buNone/>
              <a:tabLst>
                <a:tab pos="476250" algn="l"/>
                <a:tab pos="1114425" algn="l"/>
                <a:tab pos="1288256" algn="l"/>
                <a:tab pos="2013347" algn="l"/>
                <a:tab pos="2230041" algn="l"/>
                <a:tab pos="2825354" algn="l"/>
                <a:tab pos="2955131" algn="l"/>
                <a:tab pos="3604022" algn="l"/>
                <a:tab pos="3733800" algn="l"/>
              </a:tabLst>
            </a:pPr>
            <a:r>
              <a:rPr lang="en-US" altLang="zh-CN" sz="1200" kern="0">
                <a:ea typeface="宋体" panose="02010600030101010101" pitchFamily="2" charset="-122"/>
              </a:rPr>
              <a:t>	</a:t>
            </a:r>
            <a:r>
              <a:rPr lang="en-US" altLang="zh-CN" sz="1200" i="1" kern="0">
                <a:ea typeface="宋体" panose="02010600030101010101" pitchFamily="2" charset="-122"/>
              </a:rPr>
              <a:t>T</a:t>
            </a:r>
            <a:r>
              <a:rPr lang="en-US" altLang="zh-CN" sz="1200" kern="0" baseline="-25000">
                <a:ea typeface="宋体" panose="02010600030101010101" pitchFamily="2" charset="-122"/>
              </a:rPr>
              <a:t>1		 </a:t>
            </a:r>
            <a:r>
              <a:rPr lang="en-US" altLang="zh-CN" sz="1200" i="1" kern="0">
                <a:ea typeface="宋体" panose="02010600030101010101" pitchFamily="2" charset="-122"/>
              </a:rPr>
              <a:t>T</a:t>
            </a:r>
            <a:r>
              <a:rPr lang="en-US" altLang="zh-CN" sz="1200" kern="0" baseline="-25000">
                <a:ea typeface="宋体" panose="02010600030101010101" pitchFamily="2" charset="-122"/>
              </a:rPr>
              <a:t>2		 </a:t>
            </a:r>
            <a:r>
              <a:rPr lang="en-US" altLang="zh-CN" sz="1200" i="1" kern="0">
                <a:ea typeface="宋体" panose="02010600030101010101" pitchFamily="2" charset="-122"/>
              </a:rPr>
              <a:t>T</a:t>
            </a:r>
            <a:r>
              <a:rPr lang="en-US" altLang="zh-CN" sz="1200" kern="0" baseline="-25000">
                <a:ea typeface="宋体" panose="02010600030101010101" pitchFamily="2" charset="-122"/>
              </a:rPr>
              <a:t>3		 </a:t>
            </a:r>
            <a:r>
              <a:rPr lang="en-US" altLang="zh-CN" sz="1200" i="1" kern="0">
                <a:ea typeface="宋体" panose="02010600030101010101" pitchFamily="2" charset="-122"/>
              </a:rPr>
              <a:t>T</a:t>
            </a:r>
            <a:r>
              <a:rPr lang="en-US" altLang="zh-CN" sz="1200" kern="0" baseline="-25000">
                <a:ea typeface="宋体" panose="02010600030101010101" pitchFamily="2" charset="-122"/>
              </a:rPr>
              <a:t>4		 </a:t>
            </a:r>
            <a:r>
              <a:rPr lang="en-US" altLang="zh-CN" sz="1200" i="1" kern="0">
                <a:ea typeface="宋体" panose="02010600030101010101" pitchFamily="2" charset="-122"/>
              </a:rPr>
              <a:t>T</a:t>
            </a:r>
            <a:r>
              <a:rPr lang="en-US" altLang="zh-CN" sz="1200" kern="0" baseline="-25000">
                <a:ea typeface="宋体" panose="02010600030101010101" pitchFamily="2" charset="-122"/>
              </a:rPr>
              <a:t>5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		read(X)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read(Y)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read(Z)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								read(V)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								read(W)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								read(W)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		read(Y)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		write(Y)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				write(Z)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read(U)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						read(Y)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						write(Y)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						read(Z)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						write(Z)</a:t>
            </a:r>
          </a:p>
          <a:p>
            <a:pPr marL="259556" indent="0">
              <a:lnSpc>
                <a:spcPct val="110000"/>
              </a:lnSpc>
              <a:buFont typeface="Wingdings" panose="05000000000000000000" pitchFamily="2" charset="2"/>
              <a:buNone/>
              <a:tabLst>
                <a:tab pos="476250" algn="l"/>
                <a:tab pos="1114425" algn="l"/>
                <a:tab pos="1288256" algn="l"/>
                <a:tab pos="2013347" algn="l"/>
                <a:tab pos="2230041" algn="l"/>
                <a:tab pos="2825354" algn="l"/>
                <a:tab pos="2955131" algn="l"/>
                <a:tab pos="3604022" algn="l"/>
                <a:tab pos="3733800" algn="l"/>
              </a:tabLst>
            </a:pPr>
            <a:r>
              <a:rPr lang="en-US" altLang="zh-CN" sz="1200" kern="0">
                <a:ea typeface="宋体" panose="02010600030101010101" pitchFamily="2" charset="-122"/>
              </a:rPr>
              <a:t>read(U)</a:t>
            </a:r>
            <a:br>
              <a:rPr lang="en-US" altLang="zh-CN" sz="1200" kern="0">
                <a:ea typeface="宋体" panose="02010600030101010101" pitchFamily="2" charset="-122"/>
              </a:rPr>
            </a:br>
            <a:r>
              <a:rPr lang="en-US" altLang="zh-CN" sz="1200" kern="0">
                <a:ea typeface="宋体" panose="02010600030101010101" pitchFamily="2" charset="-122"/>
              </a:rPr>
              <a:t>write(U)</a:t>
            </a:r>
            <a:endParaRPr lang="en-US" altLang="zh-CN" sz="1200" kern="0" baseline="-25000" dirty="0">
              <a:ea typeface="宋体" panose="02010600030101010101" pitchFamily="2" charset="-122"/>
            </a:endParaRPr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id="{82A00E19-2CB8-4784-AEA6-F8D95B6D7469}"/>
              </a:ext>
            </a:extLst>
          </p:cNvPr>
          <p:cNvGrpSpPr>
            <a:grpSpLocks/>
          </p:cNvGrpSpPr>
          <p:nvPr/>
        </p:nvGrpSpPr>
        <p:grpSpPr bwMode="auto">
          <a:xfrm>
            <a:off x="1853804" y="806053"/>
            <a:ext cx="4082653" cy="3605213"/>
            <a:chOff x="997" y="485"/>
            <a:chExt cx="3429" cy="3028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F3ACD7FF-AF17-431C-9D68-C0A6D0465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9" y="682"/>
              <a:ext cx="340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</a:endParaRPr>
            </a:p>
          </p:txBody>
        </p:sp>
        <p:grpSp>
          <p:nvGrpSpPr>
            <p:cNvPr id="8" name="Group 11">
              <a:extLst>
                <a:ext uri="{FF2B5EF4-FFF2-40B4-BE49-F238E27FC236}">
                  <a16:creationId xmlns:a16="http://schemas.microsoft.com/office/drawing/2014/main" id="{A9E787AC-FFA8-4ACF-B476-D502BE72A3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7" y="485"/>
              <a:ext cx="3427" cy="3028"/>
              <a:chOff x="1005" y="485"/>
              <a:chExt cx="3427" cy="3696"/>
            </a:xfrm>
          </p:grpSpPr>
          <p:sp>
            <p:nvSpPr>
              <p:cNvPr id="9" name="Line 5">
                <a:extLst>
                  <a:ext uri="{FF2B5EF4-FFF2-40B4-BE49-F238E27FC236}">
                    <a16:creationId xmlns:a16="http://schemas.microsoft.com/office/drawing/2014/main" id="{6BDE4DA1-3366-4864-A61E-C0DD344FC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" y="485"/>
                <a:ext cx="0" cy="3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</a:endParaRPr>
              </a:p>
            </p:txBody>
          </p:sp>
          <p:sp>
            <p:nvSpPr>
              <p:cNvPr id="10" name="Line 6">
                <a:extLst>
                  <a:ext uri="{FF2B5EF4-FFF2-40B4-BE49-F238E27FC236}">
                    <a16:creationId xmlns:a16="http://schemas.microsoft.com/office/drawing/2014/main" id="{FA9C0AD4-9D34-41A2-8FEB-4C3EA50B09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1" y="485"/>
                <a:ext cx="0" cy="36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</a:endParaRPr>
              </a:p>
            </p:txBody>
          </p:sp>
          <p:sp>
            <p:nvSpPr>
              <p:cNvPr id="11" name="Line 7">
                <a:extLst>
                  <a:ext uri="{FF2B5EF4-FFF2-40B4-BE49-F238E27FC236}">
                    <a16:creationId xmlns:a16="http://schemas.microsoft.com/office/drawing/2014/main" id="{B0AD08E5-7E20-4A57-9BEB-5E5D8777D6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8" y="485"/>
                <a:ext cx="0" cy="365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</a:endParaRPr>
              </a:p>
            </p:txBody>
          </p:sp>
          <p:sp>
            <p:nvSpPr>
              <p:cNvPr id="12" name="Line 8">
                <a:extLst>
                  <a:ext uri="{FF2B5EF4-FFF2-40B4-BE49-F238E27FC236}">
                    <a16:creationId xmlns:a16="http://schemas.microsoft.com/office/drawing/2014/main" id="{AFFE0C0E-4A64-432B-9A70-26D08920A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" y="485"/>
                <a:ext cx="0" cy="36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</a:endParaRPr>
              </a:p>
            </p:txBody>
          </p:sp>
          <p:sp>
            <p:nvSpPr>
              <p:cNvPr id="13" name="Line 9">
                <a:extLst>
                  <a:ext uri="{FF2B5EF4-FFF2-40B4-BE49-F238E27FC236}">
                    <a16:creationId xmlns:a16="http://schemas.microsoft.com/office/drawing/2014/main" id="{66D6C62A-1052-4AF4-A312-16292D1D2E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1" y="485"/>
                <a:ext cx="0" cy="36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</a:endParaRPr>
              </a:p>
            </p:txBody>
          </p:sp>
          <p:sp>
            <p:nvSpPr>
              <p:cNvPr id="14" name="Line 10">
                <a:extLst>
                  <a:ext uri="{FF2B5EF4-FFF2-40B4-BE49-F238E27FC236}">
                    <a16:creationId xmlns:a16="http://schemas.microsoft.com/office/drawing/2014/main" id="{C5B83CB5-5D41-4046-85CE-AC23BB9E5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32" y="485"/>
                <a:ext cx="0" cy="36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685800" eaLnBrk="0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6841613-D484-4604-8930-180185AD1431}"/>
              </a:ext>
            </a:extLst>
          </p:cNvPr>
          <p:cNvGrpSpPr>
            <a:grpSpLocks/>
          </p:cNvGrpSpPr>
          <p:nvPr/>
        </p:nvGrpSpPr>
        <p:grpSpPr bwMode="auto">
          <a:xfrm>
            <a:off x="6535712" y="1737123"/>
            <a:ext cx="1923871" cy="1732855"/>
            <a:chOff x="1833" y="1184"/>
            <a:chExt cx="1835" cy="1807"/>
          </a:xfrm>
        </p:grpSpPr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CE3F1C82-7CC0-4ED7-AAED-9440F2985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1" y="2606"/>
              <a:ext cx="46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8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3</a:t>
              </a:r>
              <a:endParaRPr kumimoji="0" lang="en-US" altLang="zh-CN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48C995E9-0FAA-4C7C-AF7C-633FFCB9ED1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309" y="2688"/>
              <a:ext cx="991" cy="300"/>
            </a:xfrm>
            <a:custGeom>
              <a:avLst/>
              <a:gdLst>
                <a:gd name="T0" fmla="*/ 0 w 36403"/>
                <a:gd name="T1" fmla="*/ 0 h 21600"/>
                <a:gd name="T2" fmla="*/ 0 w 36403"/>
                <a:gd name="T3" fmla="*/ 0 h 21600"/>
                <a:gd name="T4" fmla="*/ 0 w 36403"/>
                <a:gd name="T5" fmla="*/ 0 h 21600"/>
                <a:gd name="T6" fmla="*/ 0 60000 65536"/>
                <a:gd name="T7" fmla="*/ 0 60000 65536"/>
                <a:gd name="T8" fmla="*/ 0 60000 65536"/>
                <a:gd name="T9" fmla="*/ 0 w 36403"/>
                <a:gd name="T10" fmla="*/ 0 h 21600"/>
                <a:gd name="T11" fmla="*/ 36403 w 3640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403" h="21600" fill="none" extrusionOk="0">
                  <a:moveTo>
                    <a:pt x="-1" y="14913"/>
                  </a:moveTo>
                  <a:cubicBezTo>
                    <a:pt x="2895" y="6020"/>
                    <a:pt x="11185" y="-1"/>
                    <a:pt x="20539" y="0"/>
                  </a:cubicBezTo>
                  <a:cubicBezTo>
                    <a:pt x="26563" y="0"/>
                    <a:pt x="32314" y="2516"/>
                    <a:pt x="36403" y="6940"/>
                  </a:cubicBezTo>
                </a:path>
                <a:path w="36403" h="21600" stroke="0" extrusionOk="0">
                  <a:moveTo>
                    <a:pt x="-1" y="14913"/>
                  </a:moveTo>
                  <a:cubicBezTo>
                    <a:pt x="2895" y="6020"/>
                    <a:pt x="11185" y="-1"/>
                    <a:pt x="20539" y="0"/>
                  </a:cubicBezTo>
                  <a:cubicBezTo>
                    <a:pt x="26563" y="0"/>
                    <a:pt x="32314" y="2516"/>
                    <a:pt x="36403" y="6940"/>
                  </a:cubicBezTo>
                  <a:lnTo>
                    <a:pt x="20539" y="21600"/>
                  </a:lnTo>
                  <a:lnTo>
                    <a:pt x="-1" y="14913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lg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</a:endParaRP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A62C29DA-9ED5-44A8-9F27-4ED1854DE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7" y="2566"/>
              <a:ext cx="481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8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4</a:t>
              </a:r>
              <a:endParaRPr kumimoji="0" lang="en-US" altLang="zh-CN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ACA34472-795A-402D-B54B-7F48416AD9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" y="1228"/>
              <a:ext cx="481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8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1</a:t>
              </a:r>
              <a:endParaRPr kumimoji="0" lang="en-US" altLang="zh-CN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B6C582B4-92B9-4A11-8C65-4D626C9681B8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2929" y="1865"/>
              <a:ext cx="923" cy="352"/>
            </a:xfrm>
            <a:custGeom>
              <a:avLst/>
              <a:gdLst>
                <a:gd name="T0" fmla="*/ 0 w 33913"/>
                <a:gd name="T1" fmla="*/ 0 h 21600"/>
                <a:gd name="T2" fmla="*/ 0 w 33913"/>
                <a:gd name="T3" fmla="*/ 0 h 21600"/>
                <a:gd name="T4" fmla="*/ 0 w 33913"/>
                <a:gd name="T5" fmla="*/ 0 h 21600"/>
                <a:gd name="T6" fmla="*/ 0 60000 65536"/>
                <a:gd name="T7" fmla="*/ 0 60000 65536"/>
                <a:gd name="T8" fmla="*/ 0 60000 65536"/>
                <a:gd name="T9" fmla="*/ 0 w 33913"/>
                <a:gd name="T10" fmla="*/ 0 h 21600"/>
                <a:gd name="T11" fmla="*/ 33913 w 339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913" h="21600" fill="none" extrusionOk="0">
                  <a:moveTo>
                    <a:pt x="0" y="8547"/>
                  </a:moveTo>
                  <a:cubicBezTo>
                    <a:pt x="4083" y="3162"/>
                    <a:pt x="10452" y="-1"/>
                    <a:pt x="17210" y="0"/>
                  </a:cubicBezTo>
                  <a:cubicBezTo>
                    <a:pt x="23680" y="0"/>
                    <a:pt x="29810" y="2900"/>
                    <a:pt x="33912" y="7904"/>
                  </a:cubicBezTo>
                </a:path>
                <a:path w="33913" h="21600" stroke="0" extrusionOk="0">
                  <a:moveTo>
                    <a:pt x="0" y="8547"/>
                  </a:moveTo>
                  <a:cubicBezTo>
                    <a:pt x="4083" y="3162"/>
                    <a:pt x="10452" y="-1"/>
                    <a:pt x="17210" y="0"/>
                  </a:cubicBezTo>
                  <a:cubicBezTo>
                    <a:pt x="23680" y="0"/>
                    <a:pt x="29810" y="2900"/>
                    <a:pt x="33912" y="7904"/>
                  </a:cubicBezTo>
                  <a:lnTo>
                    <a:pt x="17210" y="21600"/>
                  </a:lnTo>
                  <a:lnTo>
                    <a:pt x="0" y="8547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lg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</a:endParaRP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BEEA32C8-5157-4E6D-8B63-5EE7C84F0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6" y="1228"/>
              <a:ext cx="44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35000"/>
                </a:spcBef>
                <a:buClr>
                  <a:srgbClr val="FF0000"/>
                </a:buClr>
                <a:buSzPct val="80000"/>
                <a:buFont typeface="Wingdings" panose="05000000000000000000" pitchFamily="2" charset="2"/>
                <a:buChar char="p"/>
                <a:defRPr kumimoji="1"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FFFF00"/>
                </a:buClr>
                <a:buSzPct val="8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35000"/>
                </a:spcBef>
                <a:buClr>
                  <a:srgbClr val="00CC00"/>
                </a:buClr>
                <a:buSzPct val="80000"/>
                <a:buFont typeface="Times New Roman" panose="02020603050405020304" pitchFamily="18" charset="0"/>
                <a:buChar char="•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00"/>
                </a:buClr>
                <a:buSzPct val="80000"/>
                <a:buChar char="»"/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marL="0" marR="0" lvl="0" indent="0" algn="ctr" defTabSz="685800" eaLnBrk="0" fontAlgn="auto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T</a:t>
              </a:r>
              <a:r>
                <a:rPr kumimoji="0" lang="en-US" altLang="zh-CN" sz="18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宋体" panose="02010600030101010101" pitchFamily="2" charset="-122"/>
                </a:rPr>
                <a:t>2</a:t>
              </a:r>
              <a:endParaRPr kumimoji="0" lang="en-US" altLang="zh-CN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E6B0882-55AB-47E5-BD9B-A46C3A9E1C85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2142" y="1184"/>
              <a:ext cx="1081" cy="345"/>
            </a:xfrm>
            <a:custGeom>
              <a:avLst/>
              <a:gdLst>
                <a:gd name="T0" fmla="*/ 0 w 39702"/>
                <a:gd name="T1" fmla="*/ 0 h 21600"/>
                <a:gd name="T2" fmla="*/ 0 w 39702"/>
                <a:gd name="T3" fmla="*/ 0 h 21600"/>
                <a:gd name="T4" fmla="*/ 0 w 39702"/>
                <a:gd name="T5" fmla="*/ 0 h 21600"/>
                <a:gd name="T6" fmla="*/ 0 60000 65536"/>
                <a:gd name="T7" fmla="*/ 0 60000 65536"/>
                <a:gd name="T8" fmla="*/ 0 60000 65536"/>
                <a:gd name="T9" fmla="*/ 0 w 39702"/>
                <a:gd name="T10" fmla="*/ 0 h 21600"/>
                <a:gd name="T11" fmla="*/ 39702 w 3970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702" h="21600" fill="none" extrusionOk="0">
                  <a:moveTo>
                    <a:pt x="-1" y="14913"/>
                  </a:moveTo>
                  <a:cubicBezTo>
                    <a:pt x="2895" y="6020"/>
                    <a:pt x="11185" y="-1"/>
                    <a:pt x="20539" y="0"/>
                  </a:cubicBezTo>
                  <a:cubicBezTo>
                    <a:pt x="28596" y="0"/>
                    <a:pt x="35984" y="4484"/>
                    <a:pt x="39701" y="11633"/>
                  </a:cubicBezTo>
                </a:path>
                <a:path w="39702" h="21600" stroke="0" extrusionOk="0">
                  <a:moveTo>
                    <a:pt x="-1" y="14913"/>
                  </a:moveTo>
                  <a:cubicBezTo>
                    <a:pt x="2895" y="6020"/>
                    <a:pt x="11185" y="-1"/>
                    <a:pt x="20539" y="0"/>
                  </a:cubicBezTo>
                  <a:cubicBezTo>
                    <a:pt x="28596" y="0"/>
                    <a:pt x="35984" y="4484"/>
                    <a:pt x="39701" y="11633"/>
                  </a:cubicBezTo>
                  <a:lnTo>
                    <a:pt x="20539" y="21600"/>
                  </a:lnTo>
                  <a:lnTo>
                    <a:pt x="-1" y="14913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lg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</a:endParaRPr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C5533FD9-402F-40B1-A29C-D35B76E0C887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397" y="1944"/>
              <a:ext cx="1151" cy="280"/>
            </a:xfrm>
            <a:custGeom>
              <a:avLst/>
              <a:gdLst>
                <a:gd name="T0" fmla="*/ 0 w 42266"/>
                <a:gd name="T1" fmla="*/ 0 h 22982"/>
                <a:gd name="T2" fmla="*/ 0 w 42266"/>
                <a:gd name="T3" fmla="*/ 0 h 22982"/>
                <a:gd name="T4" fmla="*/ 0 w 42266"/>
                <a:gd name="T5" fmla="*/ 0 h 22982"/>
                <a:gd name="T6" fmla="*/ 0 60000 65536"/>
                <a:gd name="T7" fmla="*/ 0 60000 65536"/>
                <a:gd name="T8" fmla="*/ 0 60000 65536"/>
                <a:gd name="T9" fmla="*/ 0 w 42266"/>
                <a:gd name="T10" fmla="*/ 0 h 22982"/>
                <a:gd name="T11" fmla="*/ 42266 w 42266"/>
                <a:gd name="T12" fmla="*/ 22982 h 229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266" h="22982" fill="none" extrusionOk="0">
                  <a:moveTo>
                    <a:pt x="44" y="22981"/>
                  </a:moveTo>
                  <a:cubicBezTo>
                    <a:pt x="14" y="22521"/>
                    <a:pt x="0" y="2206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108" y="-1"/>
                    <a:pt x="39499" y="6218"/>
                    <a:pt x="42265" y="15316"/>
                  </a:cubicBezTo>
                </a:path>
                <a:path w="42266" h="22982" stroke="0" extrusionOk="0">
                  <a:moveTo>
                    <a:pt x="44" y="22981"/>
                  </a:moveTo>
                  <a:cubicBezTo>
                    <a:pt x="14" y="22521"/>
                    <a:pt x="0" y="2206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108" y="-1"/>
                    <a:pt x="39499" y="6218"/>
                    <a:pt x="42265" y="15316"/>
                  </a:cubicBezTo>
                  <a:lnTo>
                    <a:pt x="21600" y="21600"/>
                  </a:lnTo>
                  <a:lnTo>
                    <a:pt x="44" y="2298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stealth" w="lg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68580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</a:endParaRPr>
            </a:p>
          </p:txBody>
        </p:sp>
      </p:grpSp>
      <p:sp>
        <p:nvSpPr>
          <p:cNvPr id="24" name="Line 23">
            <a:extLst>
              <a:ext uri="{FF2B5EF4-FFF2-40B4-BE49-F238E27FC236}">
                <a16:creationId xmlns:a16="http://schemas.microsoft.com/office/drawing/2014/main" id="{D98B6578-C40D-49C4-9D7C-25B59174A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0043" y="2112169"/>
            <a:ext cx="1138238" cy="9632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68580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anose="020B0604020202020204" pitchFamily="34" charset="0"/>
            </a:endParaRP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DBFD0F75-7D62-4E70-AC1E-CA0B30678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0556" y="1435894"/>
            <a:ext cx="39528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i="1">
                <a:solidFill>
                  <a:srgbClr val="00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Y</a:t>
            </a: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B1D9DF0-BEE8-451B-A512-0D4502F0F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9978" y="2396728"/>
            <a:ext cx="39647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i="1">
                <a:solidFill>
                  <a:srgbClr val="00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Y</a:t>
            </a: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B9DDC07-FE14-4E41-8C51-7AFC649D8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478" y="2536031"/>
            <a:ext cx="39528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i="1">
                <a:solidFill>
                  <a:srgbClr val="00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Z</a:t>
            </a: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6C19E0B-48F5-413E-AF67-A75CDECC7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6293" y="3464719"/>
            <a:ext cx="39528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i="1">
                <a:solidFill>
                  <a:srgbClr val="00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Z</a:t>
            </a:r>
            <a:endParaRPr kumimoji="0" lang="zh-CN" altLang="en-US" sz="1350" i="1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54A5835-B60F-4E9A-9CE4-D10E402B4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4861" y="2318147"/>
            <a:ext cx="52695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 kumimoji="1"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35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35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35000"/>
              </a:spcBef>
              <a:buClr>
                <a:srgbClr val="00CC00"/>
              </a:buClr>
              <a:buSzPct val="80000"/>
              <a:buFont typeface="Times New Roman" panose="02020603050405020304" pitchFamily="18" charset="0"/>
              <a:buChar char="•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35000"/>
              </a:spcBef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00"/>
              </a:buClr>
              <a:buSzPct val="80000"/>
              <a:buChar char="»"/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defTabSz="6858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en-US" altLang="zh-CN" sz="1350" i="1" dirty="0">
                <a:solidFill>
                  <a:srgbClr val="000000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Y,Z</a:t>
            </a:r>
            <a:endParaRPr kumimoji="0" lang="zh-CN" altLang="en-US" sz="1350" i="1" dirty="0">
              <a:solidFill>
                <a:srgbClr val="000000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240181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8EEAC-6B4D-41FB-A956-880AB800C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Test for Conflict Serializability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2A4B1D-6131-4FAD-A72D-BA1F36E9B7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915565"/>
                <a:ext cx="5976664" cy="3554591"/>
              </a:xfrm>
            </p:spPr>
            <p:txBody>
              <a:bodyPr/>
              <a:lstStyle/>
              <a:p>
                <a:r>
                  <a:rPr lang="en-US" altLang="zh-CN" sz="1800" dirty="0"/>
                  <a:t>A schedule is conflict serializable if and only if its precedence graph is acyclic</a:t>
                </a:r>
                <a:r>
                  <a:rPr lang="zh-CN" altLang="en-US" sz="1800" dirty="0"/>
                  <a:t>（无环）</a:t>
                </a:r>
                <a:endParaRPr lang="en-US" altLang="zh-CN" sz="1800" dirty="0"/>
              </a:p>
              <a:p>
                <a:r>
                  <a:rPr lang="en-US" altLang="zh-CN" sz="1800" dirty="0"/>
                  <a:t>If precedence graph is acyclic, the serializability order can be obtained by a topological sorting of the graph</a:t>
                </a:r>
              </a:p>
              <a:p>
                <a:pPr lvl="1"/>
                <a:r>
                  <a:rPr lang="en-US" altLang="zh-CN" sz="1400" dirty="0"/>
                  <a:t>For example, a serializability order for Schedule A would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sz="1400" dirty="0"/>
              </a:p>
              <a:p>
                <a:pPr lvl="2"/>
                <a:r>
                  <a:rPr lang="en-US" altLang="zh-CN" sz="1400" dirty="0"/>
                  <a:t>Any others?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B2A4B1D-6131-4FAD-A72D-BA1F36E9B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15565"/>
                <a:ext cx="5976664" cy="3554591"/>
              </a:xfrm>
              <a:blipFill>
                <a:blip r:embed="rId2"/>
                <a:stretch>
                  <a:fillRect l="-612" t="-858" r="-12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2A035950-E255-46C7-91AE-A70556E22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2692860"/>
            <a:ext cx="1823499" cy="2035896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203A89A3-D560-4B64-915A-B45F09381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771550"/>
            <a:ext cx="2313716" cy="418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338989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AAB7A-62F6-4054-843E-5FF36875D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Concurrency Control vs. Serializability Tests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D876C-255F-4929-8E98-7AE252F27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136904" cy="3805070"/>
          </a:xfrm>
        </p:spPr>
        <p:txBody>
          <a:bodyPr/>
          <a:lstStyle/>
          <a:p>
            <a:r>
              <a:rPr lang="en-US" altLang="zh-CN" sz="1800" b="1" dirty="0"/>
              <a:t>Concurrency control</a:t>
            </a:r>
          </a:p>
          <a:p>
            <a:pPr lvl="1"/>
            <a:r>
              <a:rPr lang="en-US" altLang="zh-CN" sz="1600" dirty="0"/>
              <a:t>Develop concurrency control protocols to assure serializability</a:t>
            </a:r>
          </a:p>
          <a:p>
            <a:pPr lvl="1"/>
            <a:r>
              <a:rPr lang="en-US" altLang="zh-CN" sz="1600" dirty="0"/>
              <a:t>Not examine the precedence graph as it is being created</a:t>
            </a:r>
          </a:p>
          <a:p>
            <a:r>
              <a:rPr lang="en-US" altLang="zh-CN" sz="1800" dirty="0"/>
              <a:t>Testing for serializability helps understand why a concurrency control protocol is correct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0255969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1995686"/>
            <a:ext cx="7386416" cy="519113"/>
          </a:xfrm>
        </p:spPr>
        <p:txBody>
          <a:bodyPr/>
          <a:lstStyle/>
          <a:p>
            <a:r>
              <a:rPr lang="en-US" altLang="zh-CN" sz="3600" dirty="0">
                <a:latin typeface="Arial" panose="020B0604020202020204" pitchFamily="34" charset="0"/>
                <a:ea typeface="宋体" pitchFamily="2" charset="-122"/>
              </a:rPr>
              <a:t>End of Chapter 17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0777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 绪论.potx" id="{A4F0AC33-72D4-4097-837F-93641403082A}" vid="{4062CE69-8121-4E25-9D20-76EC1D6FDB85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36505</TotalTime>
  <Words>2456</Words>
  <Application>Microsoft Office PowerPoint</Application>
  <PresentationFormat>全屏显示(16:9)</PresentationFormat>
  <Paragraphs>294</Paragraphs>
  <Slides>34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黑体</vt:lpstr>
      <vt:lpstr>华文楷体</vt:lpstr>
      <vt:lpstr>华文行楷</vt:lpstr>
      <vt:lpstr>华文中宋</vt:lpstr>
      <vt:lpstr>宋体</vt:lpstr>
      <vt:lpstr>微软雅黑</vt:lpstr>
      <vt:lpstr>Arial</vt:lpstr>
      <vt:lpstr>Calibri</vt:lpstr>
      <vt:lpstr>Cambria Math</vt:lpstr>
      <vt:lpstr>Helvetica</vt:lpstr>
      <vt:lpstr>Times New Roman</vt:lpstr>
      <vt:lpstr>Trebuchet MS</vt:lpstr>
      <vt:lpstr>Wingdings</vt:lpstr>
      <vt:lpstr>默认设计模板</vt:lpstr>
      <vt:lpstr>2_Office 主题</vt:lpstr>
      <vt:lpstr>PowerPoint 演示文稿</vt:lpstr>
      <vt:lpstr>Outline</vt:lpstr>
      <vt:lpstr>Transaction Concept</vt:lpstr>
      <vt:lpstr>ACID Properties</vt:lpstr>
      <vt:lpstr>Example of Fund Transfer</vt:lpstr>
      <vt:lpstr>Example of Fund Transfer (Cont.)</vt:lpstr>
      <vt:lpstr>Transaction State</vt:lpstr>
      <vt:lpstr>Outline</vt:lpstr>
      <vt:lpstr>Concurrent Executions</vt:lpstr>
      <vt:lpstr>Schedule (调度)</vt:lpstr>
      <vt:lpstr>Example Schedule (Cont.)</vt:lpstr>
      <vt:lpstr>Example Schedule (Cont.)</vt:lpstr>
      <vt:lpstr>Example Schedule (Cont.)</vt:lpstr>
      <vt:lpstr>Outline</vt:lpstr>
      <vt:lpstr>Serializability（可串行化）</vt:lpstr>
      <vt:lpstr>Conflict Serializability</vt:lpstr>
      <vt:lpstr>Conflict Serializability (Cont.)</vt:lpstr>
      <vt:lpstr>Conflict Serializability (Cont.)</vt:lpstr>
      <vt:lpstr>Conflict Serializability (Cont.)</vt:lpstr>
      <vt:lpstr>Conflict Serializability (Cont.)</vt:lpstr>
      <vt:lpstr>View Serializability（视图可串行化）</vt:lpstr>
      <vt:lpstr>View Serializability (Cont.)</vt:lpstr>
      <vt:lpstr>Other Notions of Serializability</vt:lpstr>
      <vt:lpstr>Outline</vt:lpstr>
      <vt:lpstr>Recoverability (可恢复性)</vt:lpstr>
      <vt:lpstr>Recoverability (Cont.)</vt:lpstr>
      <vt:lpstr>Recoverability (Cont.)</vt:lpstr>
      <vt:lpstr>Transaction Definition in SQL</vt:lpstr>
      <vt:lpstr>Outline</vt:lpstr>
      <vt:lpstr>Testing for Serializability</vt:lpstr>
      <vt:lpstr>Example Schedule A</vt:lpstr>
      <vt:lpstr>Test for Conflict Serializability</vt:lpstr>
      <vt:lpstr>Concurrency Control vs. Serializability Tests</vt:lpstr>
      <vt:lpstr>End of Chapter 17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ZYC</cp:lastModifiedBy>
  <cp:revision>2306</cp:revision>
  <dcterms:created xsi:type="dcterms:W3CDTF">2007-09-26T12:04:45Z</dcterms:created>
  <dcterms:modified xsi:type="dcterms:W3CDTF">2025-05-19T05:55:11Z</dcterms:modified>
</cp:coreProperties>
</file>