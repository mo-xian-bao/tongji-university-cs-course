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50"/>
  </p:notesMasterIdLst>
  <p:handoutMasterIdLst>
    <p:handoutMasterId r:id="rId51"/>
  </p:handoutMasterIdLst>
  <p:sldIdLst>
    <p:sldId id="1848" r:id="rId3"/>
    <p:sldId id="1798" r:id="rId4"/>
    <p:sldId id="1799" r:id="rId5"/>
    <p:sldId id="1800" r:id="rId6"/>
    <p:sldId id="1801" r:id="rId7"/>
    <p:sldId id="1802" r:id="rId8"/>
    <p:sldId id="1844" r:id="rId9"/>
    <p:sldId id="1804" r:id="rId10"/>
    <p:sldId id="1805" r:id="rId11"/>
    <p:sldId id="1806" r:id="rId12"/>
    <p:sldId id="1807" r:id="rId13"/>
    <p:sldId id="1808" r:id="rId14"/>
    <p:sldId id="1809" r:id="rId15"/>
    <p:sldId id="1810" r:id="rId16"/>
    <p:sldId id="1811" r:id="rId17"/>
    <p:sldId id="1812" r:id="rId18"/>
    <p:sldId id="1814" r:id="rId19"/>
    <p:sldId id="1815" r:id="rId20"/>
    <p:sldId id="1816" r:id="rId21"/>
    <p:sldId id="1817" r:id="rId22"/>
    <p:sldId id="1818" r:id="rId23"/>
    <p:sldId id="1819" r:id="rId24"/>
    <p:sldId id="1820" r:id="rId25"/>
    <p:sldId id="1821" r:id="rId26"/>
    <p:sldId id="1845" r:id="rId27"/>
    <p:sldId id="1823" r:id="rId28"/>
    <p:sldId id="1824" r:id="rId29"/>
    <p:sldId id="1825" r:id="rId30"/>
    <p:sldId id="1826" r:id="rId31"/>
    <p:sldId id="1827" r:id="rId32"/>
    <p:sldId id="1828" r:id="rId33"/>
    <p:sldId id="1829" r:id="rId34"/>
    <p:sldId id="1846" r:id="rId35"/>
    <p:sldId id="1831" r:id="rId36"/>
    <p:sldId id="1832" r:id="rId37"/>
    <p:sldId id="1833" r:id="rId38"/>
    <p:sldId id="1834" r:id="rId39"/>
    <p:sldId id="1835" r:id="rId40"/>
    <p:sldId id="1847" r:id="rId41"/>
    <p:sldId id="1837" r:id="rId42"/>
    <p:sldId id="1838" r:id="rId43"/>
    <p:sldId id="1839" r:id="rId44"/>
    <p:sldId id="1840" r:id="rId45"/>
    <p:sldId id="1841" r:id="rId46"/>
    <p:sldId id="1842" r:id="rId47"/>
    <p:sldId id="1843" r:id="rId48"/>
    <p:sldId id="1910" r:id="rId49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848"/>
            <p14:sldId id="1798"/>
            <p14:sldId id="1799"/>
            <p14:sldId id="1800"/>
            <p14:sldId id="1801"/>
            <p14:sldId id="1802"/>
            <p14:sldId id="1844"/>
            <p14:sldId id="1804"/>
            <p14:sldId id="1805"/>
            <p14:sldId id="1806"/>
            <p14:sldId id="1807"/>
            <p14:sldId id="1808"/>
            <p14:sldId id="1809"/>
            <p14:sldId id="1810"/>
            <p14:sldId id="1811"/>
            <p14:sldId id="1812"/>
            <p14:sldId id="1814"/>
            <p14:sldId id="1815"/>
            <p14:sldId id="1816"/>
            <p14:sldId id="1817"/>
            <p14:sldId id="1818"/>
            <p14:sldId id="1819"/>
            <p14:sldId id="1820"/>
            <p14:sldId id="1821"/>
            <p14:sldId id="1845"/>
            <p14:sldId id="1823"/>
            <p14:sldId id="1824"/>
            <p14:sldId id="1825"/>
            <p14:sldId id="1826"/>
            <p14:sldId id="1827"/>
            <p14:sldId id="1828"/>
            <p14:sldId id="1829"/>
            <p14:sldId id="1846"/>
            <p14:sldId id="1831"/>
            <p14:sldId id="1832"/>
            <p14:sldId id="1833"/>
            <p14:sldId id="1834"/>
            <p14:sldId id="1835"/>
            <p14:sldId id="1847"/>
            <p14:sldId id="1837"/>
            <p14:sldId id="1838"/>
            <p14:sldId id="1839"/>
            <p14:sldId id="1840"/>
            <p14:sldId id="1841"/>
            <p14:sldId id="1842"/>
            <p14:sldId id="1843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78598" autoAdjust="0"/>
  </p:normalViewPr>
  <p:slideViewPr>
    <p:cSldViewPr>
      <p:cViewPr varScale="1">
        <p:scale>
          <a:sx n="91" d="100"/>
          <a:sy n="91" d="100"/>
        </p:scale>
        <p:origin x="1210" y="67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3086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升级只能发生在增长阶段，而锁降级只能发生在缩减阶段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20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928408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对于</a:t>
                </a:r>
                <a:r>
                  <a:rPr lang="en-US" altLang="zh-CN" sz="1200" dirty="0"/>
                  <a:t>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 dirty="0"/>
                  <a:t>) 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1200" dirty="0"/>
                  <a:t> W-timestamp(Q)</a:t>
                </a:r>
                <a:r>
                  <a:rPr lang="zh-CN" altLang="en-US" sz="1200" dirty="0"/>
                  <a:t>这种</a:t>
                </a:r>
                <a:r>
                  <a:rPr lang="zh-CN" altLang="en-US" dirty="0"/>
                  <a:t>情况，在</a:t>
                </a:r>
                <a:r>
                  <a:rPr lang="en-US" altLang="zh-CN" sz="1200" dirty="0"/>
                  <a:t>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 dirty="0"/>
                  <a:t>)</a:t>
                </a:r>
                <a14:m>
                  <m:oMath xmlns:m="http://schemas.openxmlformats.org/officeDocument/2006/math">
                    <m:r>
                      <a:rPr lang="zh-CN" altLang="en-US" sz="1200" i="1" dirty="0" smtClean="0">
                        <a:latin typeface="Cambria Math" panose="02040503050406030204" pitchFamily="18" charset="0"/>
                      </a:rPr>
                      <m:t>之后，</m:t>
                    </m:r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执行</m:t>
                    </m:r>
                    <m:r>
                      <m:rPr>
                        <m:nor/>
                      </m:rPr>
                      <a:rPr lang="en-US" altLang="zh-CN" sz="1200" dirty="0" smtClean="0"/>
                      <m:t>read</m:t>
                    </m:r>
                    <m:r>
                      <m:rPr>
                        <m:nor/>
                      </m:rPr>
                      <a:rPr lang="en-US" altLang="zh-CN" sz="1200" dirty="0" smtClean="0"/>
                      <m:t>(</m:t>
                    </m:r>
                    <m:r>
                      <m:rPr>
                        <m:nor/>
                      </m:rPr>
                      <a:rPr lang="en-US" altLang="zh-CN" sz="1200" dirty="0" smtClean="0"/>
                      <m:t>Q</m:t>
                    </m:r>
                    <m:r>
                      <m:rPr>
                        <m:nor/>
                      </m:rPr>
                      <a:rPr lang="en-US" altLang="zh-CN" sz="1200" dirty="0" smtClean="0"/>
                      <m:t>)</m:t>
                    </m:r>
                    <m:r>
                      <a:rPr lang="zh-CN" altLang="en-US" sz="1200" i="1" dirty="0" smtClean="0">
                        <a:latin typeface="Cambria Math" panose="02040503050406030204" pitchFamily="18" charset="0"/>
                      </a:rPr>
                      <m:t>之前，有一个</m:t>
                    </m:r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又</m:t>
                    </m:r>
                  </m:oMath>
                </a14:m>
                <a:r>
                  <a:rPr lang="en-US" altLang="zh-CN" sz="1200" dirty="0"/>
                  <a:t>read(Q)</a:t>
                </a:r>
                <a:r>
                  <a:rPr lang="zh-CN" altLang="en-US" sz="1200" dirty="0"/>
                  <a:t>了，那么</a:t>
                </a:r>
                <a:r>
                  <a:rPr lang="en-US" altLang="zh-CN" sz="1200" dirty="0"/>
                  <a:t>R-timestamp(Q)=TS(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200" dirty="0"/>
                  <a:t>)</a:t>
                </a:r>
                <a:r>
                  <a:rPr lang="zh-CN" altLang="en-US" sz="1200" dirty="0"/>
                  <a:t>且</a:t>
                </a:r>
                <a:r>
                  <a:rPr lang="en-US" altLang="zh-CN" sz="1200" dirty="0"/>
                  <a:t>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200" dirty="0"/>
                  <a:t>)&gt;TS(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 dirty="0"/>
                  <a:t>)</a:t>
                </a:r>
                <a:r>
                  <a:rPr lang="zh-CN" altLang="en-US" sz="1200" dirty="0"/>
                  <a:t>，此时</a:t>
                </a:r>
                <a:r>
                  <a:rPr lang="en-US" altLang="zh-CN" sz="1200" dirty="0"/>
                  <a:t>max(R-timestamp(Q),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 dirty="0"/>
                  <a:t>))=TS(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200" dirty="0"/>
                  <a:t>)</a:t>
                </a:r>
                <a:r>
                  <a:rPr lang="zh-CN" altLang="en-US" sz="1200" dirty="0"/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i="0">
                    <a:latin typeface="Cambria Math" panose="02040503050406030204" pitchFamily="18" charset="0"/>
                  </a:rPr>
                  <a:t>𝑇_𝑖</a:t>
                </a:r>
                <a:r>
                  <a:rPr lang="zh-CN" altLang="en-US" dirty="0"/>
                  <a:t>对于</a:t>
                </a:r>
                <a:r>
                  <a:rPr lang="en-US" altLang="zh-CN" sz="1200" dirty="0"/>
                  <a:t>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𝑇_𝑖</a:t>
                </a:r>
                <a:r>
                  <a:rPr lang="en-US" altLang="zh-CN" sz="1200" dirty="0"/>
                  <a:t>) </a:t>
                </a:r>
                <a:r>
                  <a:rPr lang="en-US" altLang="zh-CN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CN" sz="1200" dirty="0"/>
                  <a:t> W-timestamp(Q)</a:t>
                </a:r>
                <a:r>
                  <a:rPr lang="zh-CN" altLang="en-US" sz="1200" dirty="0"/>
                  <a:t>这种</a:t>
                </a:r>
                <a:r>
                  <a:rPr lang="zh-CN" altLang="en-US" dirty="0"/>
                  <a:t>情况，在</a:t>
                </a:r>
                <a:r>
                  <a:rPr lang="en-US" altLang="zh-CN" sz="1200" dirty="0"/>
                  <a:t>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𝑇_𝑖</a:t>
                </a:r>
                <a:r>
                  <a:rPr lang="en-US" altLang="zh-CN" sz="1200" dirty="0"/>
                  <a:t>)</a:t>
                </a:r>
                <a:r>
                  <a:rPr lang="zh-CN" altLang="en-US" sz="1200" i="0" dirty="0">
                    <a:latin typeface="Cambria Math" panose="02040503050406030204" pitchFamily="18" charset="0"/>
                  </a:rPr>
                  <a:t>之后，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𝑇_𝑖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 执行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"read(Q)</a:t>
                </a:r>
                <a:r>
                  <a:rPr lang="zh-CN" altLang="en-US" sz="1200" i="0" dirty="0">
                    <a:latin typeface="Cambria Math" panose="02040503050406030204" pitchFamily="18" charset="0"/>
                  </a:rPr>
                  <a:t>" 之前，有一个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𝑘</a:t>
                </a:r>
                <a:r>
                  <a:rPr lang="zh-CN" altLang="en-US" sz="1200" b="0" i="0">
                    <a:latin typeface="Cambria Math" panose="02040503050406030204" pitchFamily="18" charset="0"/>
                  </a:rPr>
                  <a:t> 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又</a:t>
                </a:r>
                <a:r>
                  <a:rPr lang="en-US" altLang="zh-CN" sz="1200" dirty="0"/>
                  <a:t>read(Q)</a:t>
                </a:r>
                <a:r>
                  <a:rPr lang="zh-CN" altLang="en-US" sz="1200" dirty="0"/>
                  <a:t>了，那么</a:t>
                </a:r>
                <a:r>
                  <a:rPr lang="en-US" altLang="zh-CN" sz="1200" dirty="0"/>
                  <a:t>R-timestamp(Q)=TS(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𝑘</a:t>
                </a:r>
                <a:r>
                  <a:rPr lang="en-US" altLang="zh-CN" sz="1200" dirty="0"/>
                  <a:t>)</a:t>
                </a:r>
                <a:r>
                  <a:rPr lang="zh-CN" altLang="en-US" sz="1200" dirty="0"/>
                  <a:t>且</a:t>
                </a:r>
                <a:r>
                  <a:rPr lang="en-US" altLang="zh-CN" sz="1200" dirty="0"/>
                  <a:t>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𝑘</a:t>
                </a:r>
                <a:r>
                  <a:rPr lang="en-US" altLang="zh-CN" sz="1200" dirty="0"/>
                  <a:t>)&gt;TS(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𝑇_𝑖</a:t>
                </a:r>
                <a:r>
                  <a:rPr lang="en-US" altLang="zh-CN" sz="1200" dirty="0"/>
                  <a:t>)</a:t>
                </a:r>
                <a:r>
                  <a:rPr lang="zh-CN" altLang="en-US" sz="1200" dirty="0"/>
                  <a:t>，此时</a:t>
                </a:r>
                <a:r>
                  <a:rPr lang="en-US" altLang="zh-CN" sz="1200" dirty="0"/>
                  <a:t>max(R-timestamp(Q), 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𝑇_𝑖</a:t>
                </a:r>
                <a:r>
                  <a:rPr lang="en-US" altLang="zh-CN" sz="1200" dirty="0"/>
                  <a:t>))=TS(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𝑘</a:t>
                </a:r>
                <a:r>
                  <a:rPr lang="en-US" altLang="zh-CN" sz="1200" dirty="0"/>
                  <a:t>)</a:t>
                </a:r>
                <a:r>
                  <a:rPr lang="zh-CN" altLang="en-US" sz="1200" dirty="0"/>
                  <a:t>。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30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652658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Obsolete</a:t>
            </a:r>
            <a:r>
              <a:rPr lang="zh-CN" altLang="en-US" sz="1200" dirty="0"/>
              <a:t>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废弃的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90562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防止死锁的两种</a:t>
            </a:r>
            <a:r>
              <a:rPr lang="zh-CN" altLang="en-US" dirty="0"/>
              <a:t>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898555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/>
              <a:t>wait-die scheme</a:t>
            </a:r>
            <a:r>
              <a:rPr lang="zh-CN" altLang="en-US" sz="1200" b="1" dirty="0"/>
              <a:t>：</a:t>
            </a:r>
            <a:r>
              <a:rPr lang="zh-CN" altLang="en-US" dirty="0"/>
              <a:t>老事务等到死</a:t>
            </a:r>
            <a:endParaRPr lang="en-US" altLang="zh-CN" dirty="0"/>
          </a:p>
          <a:p>
            <a:r>
              <a:rPr lang="en-US" altLang="zh-CN" sz="1200" b="1" dirty="0"/>
              <a:t>wound-wait scheme </a:t>
            </a:r>
            <a:r>
              <a:rPr lang="zh-CN" altLang="en-US" sz="1200" b="1"/>
              <a:t>：让新事务等到死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24619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2024/5/11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23847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2024/5/11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2024/5/11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2024/5/11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2024/5/11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  <p:sldLayoutId id="2147483741" r:id="rId5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2024/5/11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Concurrency Control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18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750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203598"/>
            <a:ext cx="8568952" cy="34450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Concurrent Control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Lock-based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Graph-based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Multiple Granularity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Deadlock Handling</a:t>
            </a:r>
          </a:p>
          <a:p>
            <a:pPr>
              <a:spcBef>
                <a:spcPts val="120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6676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EE4DC-7472-44D6-9A14-185C28BC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Problems in Concurrent Control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DC46B-2611-49D1-98DB-E17B3EA04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Problems caused by concurrent transactions</a:t>
            </a:r>
          </a:p>
          <a:p>
            <a:pPr lvl="1"/>
            <a:r>
              <a:rPr lang="en-US" altLang="zh-CN" sz="1800" dirty="0"/>
              <a:t>Lost Update (</a:t>
            </a:r>
            <a:r>
              <a:rPr lang="zh-CN" altLang="en-US" sz="1800" dirty="0"/>
              <a:t>丢失修改 </a:t>
            </a:r>
            <a:r>
              <a:rPr lang="en-US" altLang="zh-CN" sz="1800" dirty="0"/>
              <a:t>)</a:t>
            </a:r>
          </a:p>
          <a:p>
            <a:pPr lvl="1"/>
            <a:r>
              <a:rPr lang="en-US" altLang="zh-CN" sz="1800" dirty="0"/>
              <a:t>Non-repeatable Read (</a:t>
            </a:r>
            <a:r>
              <a:rPr lang="zh-CN" altLang="en-US" sz="1800" dirty="0"/>
              <a:t>不可重复读 </a:t>
            </a:r>
            <a:r>
              <a:rPr lang="en-US" altLang="zh-CN" sz="1800" dirty="0"/>
              <a:t>)</a:t>
            </a:r>
          </a:p>
          <a:p>
            <a:pPr lvl="1"/>
            <a:r>
              <a:rPr lang="en-US" altLang="zh-CN" sz="1800" dirty="0"/>
              <a:t>Dirty Read (</a:t>
            </a:r>
            <a:r>
              <a:rPr lang="zh-CN" altLang="en-US" sz="1800" dirty="0"/>
              <a:t>读“脏”数据 </a:t>
            </a:r>
            <a:r>
              <a:rPr lang="en-US" altLang="zh-CN" sz="1800" dirty="0"/>
              <a:t>)</a:t>
            </a:r>
          </a:p>
          <a:p>
            <a:r>
              <a:rPr lang="en-US" altLang="zh-CN" sz="2000" b="1" dirty="0"/>
              <a:t>Symbols</a:t>
            </a:r>
          </a:p>
          <a:p>
            <a:pPr lvl="1"/>
            <a:r>
              <a:rPr lang="en-US" altLang="zh-CN" sz="1800" dirty="0"/>
              <a:t>R(x): read x</a:t>
            </a:r>
          </a:p>
          <a:p>
            <a:pPr lvl="1"/>
            <a:r>
              <a:rPr lang="en-US" altLang="zh-CN" sz="1800" dirty="0"/>
              <a:t>W(x): write x 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031618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7A3A5-30A8-4314-8F43-88A0B7F7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Lost Update (</a:t>
            </a:r>
            <a:r>
              <a:rPr lang="zh-CN" altLang="en-US" dirty="0"/>
              <a:t>丢失修改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EA86CC-F3C9-4BEA-AB47-DC67E4B40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937993"/>
            <a:ext cx="4176464" cy="1641894"/>
          </a:xfrm>
        </p:spPr>
        <p:txBody>
          <a:bodyPr/>
          <a:lstStyle/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and 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read the same data item and modify it</a:t>
            </a:r>
          </a:p>
          <a:p>
            <a:r>
              <a:rPr lang="en-US" altLang="zh-CN" sz="1800" dirty="0"/>
              <a:t>The committed result of 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eliminates the update of T</a:t>
            </a:r>
            <a:r>
              <a:rPr lang="en-US" altLang="zh-CN" sz="1800" baseline="-25000" dirty="0"/>
              <a:t>1</a:t>
            </a:r>
            <a:endParaRPr lang="zh-CN" altLang="en-US" sz="1800" dirty="0"/>
          </a:p>
        </p:txBody>
      </p:sp>
      <p:graphicFrame>
        <p:nvGraphicFramePr>
          <p:cNvPr id="4" name="Group 56">
            <a:extLst>
              <a:ext uri="{FF2B5EF4-FFF2-40B4-BE49-F238E27FC236}">
                <a16:creationId xmlns:a16="http://schemas.microsoft.com/office/drawing/2014/main" id="{640C2914-B9D1-4B08-B9BF-8112FDD9D1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036553"/>
              </p:ext>
            </p:extLst>
          </p:nvPr>
        </p:nvGraphicFramePr>
        <p:xfrm>
          <a:off x="5076056" y="956788"/>
          <a:ext cx="2481262" cy="3604304"/>
        </p:xfrm>
        <a:graphic>
          <a:graphicData uri="http://schemas.openxmlformats.org/drawingml/2006/table">
            <a:tbl>
              <a:tblPr/>
              <a:tblGrid>
                <a:gridCol w="1354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6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7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7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① R(A)=16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②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R(A)=16 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③ A←A-1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W(A)=15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④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A←A-1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W(A)=15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val 58">
            <a:extLst>
              <a:ext uri="{FF2B5EF4-FFF2-40B4-BE49-F238E27FC236}">
                <a16:creationId xmlns:a16="http://schemas.microsoft.com/office/drawing/2014/main" id="{C6D27DB9-6923-4C7E-B2D9-F82EA5D4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409" y="2522461"/>
            <a:ext cx="1188244" cy="81081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59">
            <a:extLst>
              <a:ext uri="{FF2B5EF4-FFF2-40B4-BE49-F238E27FC236}">
                <a16:creationId xmlns:a16="http://schemas.microsoft.com/office/drawing/2014/main" id="{F397FE62-1524-4DFD-B19A-E7A6B251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75" y="3440432"/>
            <a:ext cx="1188244" cy="810816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8036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C7DEF-12CD-4DFA-8B07-68EA872D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Non-repeatable Read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C470E2-E89A-4195-B0E6-EC364FB95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040" y="1329204"/>
            <a:ext cx="4032448" cy="2736304"/>
          </a:xfrm>
        </p:spPr>
        <p:txBody>
          <a:bodyPr/>
          <a:lstStyle/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reads B=100</a:t>
            </a:r>
          </a:p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reads B, then updates B=200, and writes B back</a:t>
            </a:r>
          </a:p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reads B again, and B=200, not the same as the first read</a:t>
            </a:r>
          </a:p>
          <a:p>
            <a:r>
              <a:rPr lang="en-US" altLang="zh-CN" sz="1800" dirty="0"/>
              <a:t>Phantom Phenomenon (</a:t>
            </a:r>
            <a:r>
              <a:rPr lang="zh-CN" altLang="en-US" sz="1800" dirty="0"/>
              <a:t>幻影现象</a:t>
            </a:r>
            <a:r>
              <a:rPr lang="en-US" altLang="zh-CN" sz="1800" dirty="0"/>
              <a:t>)</a:t>
            </a:r>
          </a:p>
          <a:p>
            <a:pPr lvl="1"/>
            <a:r>
              <a:rPr lang="en-US" altLang="zh-CN" sz="1400" dirty="0"/>
              <a:t>records disappear or new records appear for the same query</a:t>
            </a:r>
          </a:p>
        </p:txBody>
      </p:sp>
      <p:graphicFrame>
        <p:nvGraphicFramePr>
          <p:cNvPr id="4" name="Group 184">
            <a:extLst>
              <a:ext uri="{FF2B5EF4-FFF2-40B4-BE49-F238E27FC236}">
                <a16:creationId xmlns:a16="http://schemas.microsoft.com/office/drawing/2014/main" id="{54B722C5-F131-4D40-A3D2-AA3BFE7FEA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8985827"/>
              </p:ext>
            </p:extLst>
          </p:nvPr>
        </p:nvGraphicFramePr>
        <p:xfrm>
          <a:off x="1403648" y="765686"/>
          <a:ext cx="2755106" cy="3863340"/>
        </p:xfrm>
        <a:graphic>
          <a:graphicData uri="http://schemas.openxmlformats.org/drawingml/2006/table">
            <a:tbl>
              <a:tblPr/>
              <a:tblGrid>
                <a:gridCol w="1488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7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7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① R(A)=50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R(B)=100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sum=150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②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R(B)=100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B←B*2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W(B)=200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③ R(A)=50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R(B)=200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sum=250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(sum is not correct)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val 185">
            <a:extLst>
              <a:ext uri="{FF2B5EF4-FFF2-40B4-BE49-F238E27FC236}">
                <a16:creationId xmlns:a16="http://schemas.microsoft.com/office/drawing/2014/main" id="{E01D70D9-6C91-47E1-95B0-732C80355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816" y="2363505"/>
            <a:ext cx="1350169" cy="702469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186">
            <a:extLst>
              <a:ext uri="{FF2B5EF4-FFF2-40B4-BE49-F238E27FC236}">
                <a16:creationId xmlns:a16="http://schemas.microsoft.com/office/drawing/2014/main" id="{23E65C99-2706-46B7-B399-9AFFB3BF3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994" y="3283858"/>
            <a:ext cx="1350169" cy="431006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187">
            <a:extLst>
              <a:ext uri="{FF2B5EF4-FFF2-40B4-BE49-F238E27FC236}">
                <a16:creationId xmlns:a16="http://schemas.microsoft.com/office/drawing/2014/main" id="{E14919A7-8F46-434A-B0AE-493F00F35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994" y="1338377"/>
            <a:ext cx="1350169" cy="431006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0394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43450-525D-4B64-8F19-087CAF98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Dirty Read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950E3-B14B-4DEB-9E7A-5F2ACF8FD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9621"/>
            <a:ext cx="4248472" cy="2592289"/>
          </a:xfrm>
        </p:spPr>
        <p:txBody>
          <a:bodyPr/>
          <a:lstStyle/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modifies C to 200, 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reads C as 200</a:t>
            </a:r>
          </a:p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rolls back for some reason and its modification also rolls back. Then C recovers to 100</a:t>
            </a:r>
          </a:p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reads C as 200, which is not consistent with the database</a:t>
            </a:r>
          </a:p>
          <a:p>
            <a:endParaRPr lang="zh-CN" altLang="en-US" sz="1800" dirty="0"/>
          </a:p>
        </p:txBody>
      </p:sp>
      <p:graphicFrame>
        <p:nvGraphicFramePr>
          <p:cNvPr id="4" name="Group 187">
            <a:extLst>
              <a:ext uri="{FF2B5EF4-FFF2-40B4-BE49-F238E27FC236}">
                <a16:creationId xmlns:a16="http://schemas.microsoft.com/office/drawing/2014/main" id="{1866EC3F-81A6-466E-884F-A29D8FD209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3287602"/>
              </p:ext>
            </p:extLst>
          </p:nvPr>
        </p:nvGraphicFramePr>
        <p:xfrm>
          <a:off x="5292080" y="987574"/>
          <a:ext cx="2808684" cy="3498061"/>
        </p:xfrm>
        <a:graphic>
          <a:graphicData uri="http://schemas.openxmlformats.org/drawingml/2006/table">
            <a:tbl>
              <a:tblPr/>
              <a:tblGrid>
                <a:gridCol w="1502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① R(C)=100</a:t>
                      </a: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C←C*2</a:t>
                      </a: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W(C)=200</a:t>
                      </a: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②</a:t>
                      </a: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R(C)=200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③ ROLLBACK</a:t>
                      </a: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8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C</a:t>
                      </a: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recover to 100</a:t>
                      </a: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val 188">
            <a:extLst>
              <a:ext uri="{FF2B5EF4-FFF2-40B4-BE49-F238E27FC236}">
                <a16:creationId xmlns:a16="http://schemas.microsoft.com/office/drawing/2014/main" id="{8AF9C660-2090-476C-96A2-D26E455FA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501" y="2931865"/>
            <a:ext cx="1566863" cy="96559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189">
            <a:extLst>
              <a:ext uri="{FF2B5EF4-FFF2-40B4-BE49-F238E27FC236}">
                <a16:creationId xmlns:a16="http://schemas.microsoft.com/office/drawing/2014/main" id="{DEB1EB9E-9D65-4CBC-98C4-A5AD58068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017" y="2068662"/>
            <a:ext cx="1243013" cy="53935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190">
            <a:extLst>
              <a:ext uri="{FF2B5EF4-FFF2-40B4-BE49-F238E27FC236}">
                <a16:creationId xmlns:a16="http://schemas.microsoft.com/office/drawing/2014/main" id="{C74C3131-8690-4630-84A5-E59A0BED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005" y="1529308"/>
            <a:ext cx="1243013" cy="701279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967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203598"/>
            <a:ext cx="8568952" cy="34450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dirty="0"/>
              <a:t>Concurrent Control</a:t>
            </a:r>
          </a:p>
          <a:p>
            <a:pPr>
              <a:spcBef>
                <a:spcPts val="12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Lock-based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Graph-based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Multiple Granularity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Deadlock Handling</a:t>
            </a:r>
          </a:p>
          <a:p>
            <a:pPr>
              <a:spcBef>
                <a:spcPts val="120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490603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CF596-EE8F-48E3-859D-9F520434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Lock-based Protocols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78DDB-17E3-4A55-85BC-C04015D54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1800" dirty="0"/>
              <a:t>A lock is a mechanism to control concurrent access to a data item</a:t>
            </a:r>
          </a:p>
          <a:p>
            <a:r>
              <a:rPr lang="en-US" altLang="zh-CN" sz="1800" dirty="0"/>
              <a:t>Data items can be locked in two modes</a:t>
            </a:r>
          </a:p>
          <a:p>
            <a:pPr lvl="1"/>
            <a:r>
              <a:rPr lang="en-US" altLang="zh-CN" sz="1600" b="1" dirty="0"/>
              <a:t>exclusive (X) mode (</a:t>
            </a:r>
            <a:r>
              <a:rPr lang="zh-CN" altLang="en-US" sz="1600" b="1" dirty="0"/>
              <a:t>排他型</a:t>
            </a:r>
            <a:r>
              <a:rPr lang="en-US" altLang="zh-CN" sz="1600" b="1" dirty="0"/>
              <a:t>): </a:t>
            </a:r>
            <a:r>
              <a:rPr lang="en-US" altLang="zh-CN" sz="1600" dirty="0"/>
              <a:t>Data item can be read and written. X-lock is requested using lock-X instruction</a:t>
            </a:r>
          </a:p>
          <a:p>
            <a:pPr lvl="1"/>
            <a:r>
              <a:rPr lang="en-US" altLang="zh-CN" sz="1600" b="1" dirty="0"/>
              <a:t>shared (S) mode (</a:t>
            </a:r>
            <a:r>
              <a:rPr lang="zh-CN" altLang="en-US" sz="1600" b="1" dirty="0"/>
              <a:t>共享型</a:t>
            </a:r>
            <a:r>
              <a:rPr lang="en-US" altLang="zh-CN" sz="1600" b="1" dirty="0"/>
              <a:t>):</a:t>
            </a:r>
            <a:r>
              <a:rPr lang="en-US" altLang="zh-CN" sz="1600" dirty="0"/>
              <a:t> Data item can only be read. S-lock is requested using lock-S instruction</a:t>
            </a:r>
          </a:p>
          <a:p>
            <a:r>
              <a:rPr lang="en-US" altLang="zh-CN" sz="1800" b="1" dirty="0"/>
              <a:t>Lock requests </a:t>
            </a:r>
          </a:p>
          <a:p>
            <a:pPr lvl="1"/>
            <a:r>
              <a:rPr lang="en-US" altLang="zh-CN" sz="1400" dirty="0"/>
              <a:t>Made to concurrency control manager (</a:t>
            </a:r>
            <a:r>
              <a:rPr lang="zh-CN" altLang="en-US" sz="1400" dirty="0"/>
              <a:t>并发控制管理器</a:t>
            </a:r>
            <a:r>
              <a:rPr lang="en-US" altLang="zh-CN" sz="1400" dirty="0"/>
              <a:t>)</a:t>
            </a:r>
          </a:p>
          <a:p>
            <a:pPr lvl="1"/>
            <a:r>
              <a:rPr lang="en-US" altLang="zh-CN" sz="1400" dirty="0"/>
              <a:t>Transaction can proceed only after the request is granted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78956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C3629-9EB0-45FD-9EDB-6BF9B477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Lock-based Protocols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026E4-F1B9-408F-9553-09A60A18F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805070"/>
          </a:xfrm>
        </p:spPr>
        <p:txBody>
          <a:bodyPr/>
          <a:lstStyle/>
          <a:p>
            <a:r>
              <a:rPr lang="en-US" altLang="zh-CN" sz="1800" b="1" dirty="0"/>
              <a:t>Lock-compatibility matrix (</a:t>
            </a:r>
            <a:r>
              <a:rPr lang="zh-CN" altLang="en-US" sz="1800" b="1" dirty="0"/>
              <a:t>锁相容性矩阵</a:t>
            </a:r>
            <a:r>
              <a:rPr lang="en-US" altLang="zh-CN" sz="1800" b="1" dirty="0"/>
              <a:t>)</a:t>
            </a:r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en-US" altLang="zh-CN" sz="1800" dirty="0"/>
              <a:t>A transaction may be granted a lock on a data item if the requested lock is compatible with the locks already held on the data item by other transactions</a:t>
            </a:r>
          </a:p>
          <a:p>
            <a:r>
              <a:rPr lang="en-US" altLang="zh-CN" sz="1800" dirty="0"/>
              <a:t>If a lock cannot be granted, the requesting transaction </a:t>
            </a:r>
            <a:r>
              <a:rPr lang="en-US" altLang="zh-CN" sz="1800" b="1" dirty="0">
                <a:solidFill>
                  <a:srgbClr val="C00000"/>
                </a:solidFill>
              </a:rPr>
              <a:t>waits</a:t>
            </a:r>
            <a:r>
              <a:rPr lang="en-US" altLang="zh-CN" sz="1800" dirty="0"/>
              <a:t> till all the incompatible locks have been released</a:t>
            </a:r>
          </a:p>
          <a:p>
            <a:endParaRPr lang="zh-CN" altLang="en-US" sz="1800" dirty="0"/>
          </a:p>
        </p:txBody>
      </p:sp>
      <p:pic>
        <p:nvPicPr>
          <p:cNvPr id="5" name="Picture 23">
            <a:extLst>
              <a:ext uri="{FF2B5EF4-FFF2-40B4-BE49-F238E27FC236}">
                <a16:creationId xmlns:a16="http://schemas.microsoft.com/office/drawing/2014/main" id="{BDCF9221-5284-49B3-8837-E1938EA89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346897"/>
            <a:ext cx="2142160" cy="1224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33300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1C03A-33C9-4BD5-8FA5-6AF83DC6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No Lost Update</a:t>
            </a:r>
            <a:endParaRPr lang="zh-CN" altLang="en-US" dirty="0"/>
          </a:p>
        </p:txBody>
      </p:sp>
      <p:graphicFrame>
        <p:nvGraphicFramePr>
          <p:cNvPr id="4" name="Group 249">
            <a:extLst>
              <a:ext uri="{FF2B5EF4-FFF2-40B4-BE49-F238E27FC236}">
                <a16:creationId xmlns:a16="http://schemas.microsoft.com/office/drawing/2014/main" id="{8C42187F-871A-43E9-9C15-5240A27A74BB}"/>
              </a:ext>
            </a:extLst>
          </p:cNvPr>
          <p:cNvGraphicFramePr>
            <a:graphicFrameLocks/>
          </p:cNvGraphicFramePr>
          <p:nvPr/>
        </p:nvGraphicFramePr>
        <p:xfrm>
          <a:off x="2952751" y="837010"/>
          <a:ext cx="2699147" cy="3947300"/>
        </p:xfrm>
        <a:graphic>
          <a:graphicData uri="http://schemas.openxmlformats.org/drawingml/2006/table">
            <a:tbl>
              <a:tblPr/>
              <a:tblGrid>
                <a:gridCol w="119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①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A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② R(A)=16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 A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③ A←A-1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W(A)=15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Commit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Unlock A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④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Get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A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R(A)=15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A←A-1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⑤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W(A)=14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Commit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 A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val 250">
            <a:extLst>
              <a:ext uri="{FF2B5EF4-FFF2-40B4-BE49-F238E27FC236}">
                <a16:creationId xmlns:a16="http://schemas.microsoft.com/office/drawing/2014/main" id="{00FBD5F7-13FF-4007-A41C-C9DE0F895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098" y="1108472"/>
            <a:ext cx="1025128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251">
            <a:extLst>
              <a:ext uri="{FF2B5EF4-FFF2-40B4-BE49-F238E27FC236}">
                <a16:creationId xmlns:a16="http://schemas.microsoft.com/office/drawing/2014/main" id="{F5C57822-B3AB-4172-A40E-F20F03951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9069" y="1647826"/>
            <a:ext cx="1025129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252">
            <a:extLst>
              <a:ext uri="{FF2B5EF4-FFF2-40B4-BE49-F238E27FC236}">
                <a16:creationId xmlns:a16="http://schemas.microsoft.com/office/drawing/2014/main" id="{93D24EE4-0B66-4C1B-942C-B831D61D8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1918098"/>
            <a:ext cx="540544" cy="1188244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Oval 253">
            <a:extLst>
              <a:ext uri="{FF2B5EF4-FFF2-40B4-BE49-F238E27FC236}">
                <a16:creationId xmlns:a16="http://schemas.microsoft.com/office/drawing/2014/main" id="{B090D67F-B14C-4E31-B17E-AAD46B568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7519" y="2782491"/>
            <a:ext cx="1025129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254">
            <a:extLst>
              <a:ext uri="{FF2B5EF4-FFF2-40B4-BE49-F238E27FC236}">
                <a16:creationId xmlns:a16="http://schemas.microsoft.com/office/drawing/2014/main" id="{3B93882F-A700-4DCB-AFC3-35A72A0C1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2997994"/>
            <a:ext cx="1133475" cy="32385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55517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2A402-1E10-4C6E-8F40-EB576AE26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Repeatable Read</a:t>
            </a:r>
            <a:endParaRPr lang="zh-CN" altLang="en-US" dirty="0"/>
          </a:p>
        </p:txBody>
      </p:sp>
      <p:graphicFrame>
        <p:nvGraphicFramePr>
          <p:cNvPr id="4" name="Group 785">
            <a:extLst>
              <a:ext uri="{FF2B5EF4-FFF2-40B4-BE49-F238E27FC236}">
                <a16:creationId xmlns:a16="http://schemas.microsoft.com/office/drawing/2014/main" id="{4BD07345-85E3-45B1-91FE-501B6ED01B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333847"/>
              </p:ext>
            </p:extLst>
          </p:nvPr>
        </p:nvGraphicFramePr>
        <p:xfrm>
          <a:off x="3006329" y="735806"/>
          <a:ext cx="2430065" cy="4300548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2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2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① Slock A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Slock B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R(A)=50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R(B)=100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sum=150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②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 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③ R(A)=50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R(B)=100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sum=150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Commit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Unlock A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Unlock B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④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get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XlockB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R(B)=100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B←B*2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⑤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W(B)=200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Commit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4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 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Oval 787">
            <a:extLst>
              <a:ext uri="{FF2B5EF4-FFF2-40B4-BE49-F238E27FC236}">
                <a16:creationId xmlns:a16="http://schemas.microsoft.com/office/drawing/2014/main" id="{D20FE733-6F53-489C-B84C-896548C6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485" y="897732"/>
            <a:ext cx="916781" cy="43219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788">
            <a:extLst>
              <a:ext uri="{FF2B5EF4-FFF2-40B4-BE49-F238E27FC236}">
                <a16:creationId xmlns:a16="http://schemas.microsoft.com/office/drawing/2014/main" id="{C5D02823-0354-4B0B-B2B1-8699AE20B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7879" y="1869282"/>
            <a:ext cx="1025128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790">
            <a:extLst>
              <a:ext uri="{FF2B5EF4-FFF2-40B4-BE49-F238E27FC236}">
                <a16:creationId xmlns:a16="http://schemas.microsoft.com/office/drawing/2014/main" id="{6359ACBF-B2CC-46B0-AC02-7783A7195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485" y="3327798"/>
            <a:ext cx="916781" cy="48696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Oval 791">
            <a:extLst>
              <a:ext uri="{FF2B5EF4-FFF2-40B4-BE49-F238E27FC236}">
                <a16:creationId xmlns:a16="http://schemas.microsoft.com/office/drawing/2014/main" id="{8369DF27-B724-4E9E-BE9F-52A54E9D2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416" y="3759994"/>
            <a:ext cx="1025128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792">
            <a:extLst>
              <a:ext uri="{FF2B5EF4-FFF2-40B4-BE49-F238E27FC236}">
                <a16:creationId xmlns:a16="http://schemas.microsoft.com/office/drawing/2014/main" id="{DACAFA42-0210-4F05-BA0D-83805197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2138363"/>
            <a:ext cx="539354" cy="167521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48150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461E0-1C2E-480C-BB74-26A18E0E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No Dirty Read</a:t>
            </a:r>
            <a:endParaRPr lang="zh-CN" altLang="en-US" dirty="0"/>
          </a:p>
        </p:txBody>
      </p:sp>
      <p:graphicFrame>
        <p:nvGraphicFramePr>
          <p:cNvPr id="4" name="Group 227">
            <a:extLst>
              <a:ext uri="{FF2B5EF4-FFF2-40B4-BE49-F238E27FC236}">
                <a16:creationId xmlns:a16="http://schemas.microsoft.com/office/drawing/2014/main" id="{C1D16A44-EE9F-4A95-8AC2-431E278DF94F}"/>
              </a:ext>
            </a:extLst>
          </p:cNvPr>
          <p:cNvGraphicFramePr>
            <a:graphicFrameLocks/>
          </p:cNvGraphicFramePr>
          <p:nvPr/>
        </p:nvGraphicFramePr>
        <p:xfrm>
          <a:off x="3000375" y="762001"/>
          <a:ext cx="2653903" cy="3983840"/>
        </p:xfrm>
        <a:graphic>
          <a:graphicData uri="http://schemas.openxmlformats.org/drawingml/2006/table">
            <a:tbl>
              <a:tblPr/>
              <a:tblGrid>
                <a:gridCol w="1451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①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Xlock C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R(C)=100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C←C*2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W(C)=200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②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Slock 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③ ROLLBACK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(C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rec. 100)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  Unlock C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④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Get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Slock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 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R(C)=100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⑤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Commit 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 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val 228">
            <a:extLst>
              <a:ext uri="{FF2B5EF4-FFF2-40B4-BE49-F238E27FC236}">
                <a16:creationId xmlns:a16="http://schemas.microsoft.com/office/drawing/2014/main" id="{B224B322-2E61-4979-922B-E33D80862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531" y="1032272"/>
            <a:ext cx="1025129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229">
            <a:extLst>
              <a:ext uri="{FF2B5EF4-FFF2-40B4-BE49-F238E27FC236}">
                <a16:creationId xmlns:a16="http://schemas.microsoft.com/office/drawing/2014/main" id="{FAF07833-89D1-4099-8B9C-4B9D59388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2166938"/>
            <a:ext cx="1025129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230">
            <a:extLst>
              <a:ext uri="{FF2B5EF4-FFF2-40B4-BE49-F238E27FC236}">
                <a16:creationId xmlns:a16="http://schemas.microsoft.com/office/drawing/2014/main" id="{B5285AA5-8462-46E1-B0F6-6FCB6491D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891" y="2437210"/>
            <a:ext cx="539353" cy="118705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Oval 231">
            <a:extLst>
              <a:ext uri="{FF2B5EF4-FFF2-40B4-BE49-F238E27FC236}">
                <a16:creationId xmlns:a16="http://schemas.microsoft.com/office/drawing/2014/main" id="{66AD5F42-AB51-4DB4-BC7E-21174FF04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300413"/>
            <a:ext cx="1025129" cy="27027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232">
            <a:extLst>
              <a:ext uri="{FF2B5EF4-FFF2-40B4-BE49-F238E27FC236}">
                <a16:creationId xmlns:a16="http://schemas.microsoft.com/office/drawing/2014/main" id="{87907357-22EA-48C8-9405-9D2876F4C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891" y="3570685"/>
            <a:ext cx="1133475" cy="32504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0552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0627D-DF14-4A88-B977-ECB4FB27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Lock-based Protocols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F77D7-700F-4F1C-8CAC-C3CBFC43C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896" y="1059582"/>
            <a:ext cx="5112568" cy="2664296"/>
          </a:xfrm>
        </p:spPr>
        <p:txBody>
          <a:bodyPr/>
          <a:lstStyle/>
          <a:p>
            <a:r>
              <a:rPr lang="en-US" altLang="zh-CN" sz="1800" dirty="0"/>
              <a:t>This locking is not sufficient to guarantee serializability. If A and B get updated in-between the read of A and B, the displayed sum would be wrong</a:t>
            </a:r>
          </a:p>
          <a:p>
            <a:r>
              <a:rPr lang="en-US" altLang="zh-CN" sz="1800" dirty="0"/>
              <a:t>A locking protocol is a set of rules </a:t>
            </a:r>
          </a:p>
          <a:p>
            <a:pPr lvl="1"/>
            <a:r>
              <a:rPr lang="en-US" altLang="zh-CN" sz="1400" dirty="0"/>
              <a:t>followed by all transactions while requesting and releasing locks</a:t>
            </a:r>
          </a:p>
          <a:p>
            <a:pPr lvl="1"/>
            <a:r>
              <a:rPr lang="en-US" altLang="zh-CN" sz="1400" dirty="0"/>
              <a:t>locking protocols restrict the set of possible schedules</a:t>
            </a:r>
          </a:p>
          <a:p>
            <a:endParaRPr lang="zh-CN" altLang="en-US" sz="18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7425D39-9DC2-480F-A513-84A9CD18C6FA}"/>
              </a:ext>
            </a:extLst>
          </p:cNvPr>
          <p:cNvSpPr txBox="1">
            <a:spLocks/>
          </p:cNvSpPr>
          <p:nvPr/>
        </p:nvSpPr>
        <p:spPr bwMode="auto">
          <a:xfrm>
            <a:off x="-324544" y="1275606"/>
            <a:ext cx="4096072" cy="344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kern="0" dirty="0"/>
              <a:t>	</a:t>
            </a:r>
            <a:r>
              <a:rPr lang="en-US" altLang="zh-CN" sz="1800" kern="0" dirty="0"/>
              <a:t>T: lock-S(A);</a:t>
            </a:r>
          </a:p>
          <a:p>
            <a:pPr marL="0" indent="0">
              <a:buFontTx/>
              <a:buNone/>
            </a:pPr>
            <a:r>
              <a:rPr lang="en-US" altLang="zh-CN" sz="1800" kern="0" dirty="0"/>
              <a:t>	    read (A);</a:t>
            </a:r>
          </a:p>
          <a:p>
            <a:pPr marL="0" indent="0">
              <a:buFontTx/>
              <a:buNone/>
            </a:pPr>
            <a:r>
              <a:rPr lang="en-US" altLang="zh-CN" sz="1800" kern="0" dirty="0"/>
              <a:t>                   unlock(A);</a:t>
            </a:r>
          </a:p>
          <a:p>
            <a:pPr marL="0" indent="0">
              <a:buFontTx/>
              <a:buNone/>
            </a:pPr>
            <a:r>
              <a:rPr lang="en-US" altLang="zh-CN" sz="1800" kern="0" dirty="0"/>
              <a:t>                   lock-S(B);</a:t>
            </a:r>
          </a:p>
          <a:p>
            <a:pPr marL="0" indent="0">
              <a:buFontTx/>
              <a:buNone/>
            </a:pPr>
            <a:r>
              <a:rPr lang="en-US" altLang="zh-CN" sz="1800" kern="0" dirty="0"/>
              <a:t>                   read (B);</a:t>
            </a:r>
          </a:p>
          <a:p>
            <a:pPr marL="0" indent="0">
              <a:buFontTx/>
              <a:buNone/>
            </a:pPr>
            <a:r>
              <a:rPr lang="en-US" altLang="zh-CN" sz="1800" kern="0" dirty="0"/>
              <a:t>                   unlock(B);</a:t>
            </a:r>
          </a:p>
          <a:p>
            <a:pPr marL="0" indent="0">
              <a:buFontTx/>
              <a:buNone/>
            </a:pPr>
            <a:r>
              <a:rPr lang="en-US" altLang="zh-CN" sz="1800" kern="0" dirty="0"/>
              <a:t>                   display(A+B)</a:t>
            </a:r>
          </a:p>
          <a:p>
            <a:pPr>
              <a:buFontTx/>
            </a:pPr>
            <a:endParaRPr lang="en-US" altLang="zh-CN" sz="1600" kern="0" dirty="0"/>
          </a:p>
          <a:p>
            <a:pPr>
              <a:buFontTx/>
            </a:pPr>
            <a:endParaRPr lang="zh-CN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004674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4725A-864D-4C0A-A1B4-7AF3FC82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(</a:t>
            </a:r>
            <a:r>
              <a:rPr lang="zh-CN" altLang="en-US" dirty="0"/>
              <a:t>死锁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FBD9CC-A004-4310-8ABF-B1B018EEB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2000" dirty="0"/>
              <a:t>Consider the following partial schedule</a:t>
            </a:r>
          </a:p>
          <a:p>
            <a:endParaRPr lang="en-US" altLang="zh-CN" sz="2000" dirty="0"/>
          </a:p>
          <a:p>
            <a:pPr marL="0" indent="0">
              <a:buNone/>
            </a:pPr>
            <a:br>
              <a:rPr lang="en-US" altLang="zh-CN" sz="2000" dirty="0"/>
            </a:b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Such a situation is called a </a:t>
            </a:r>
            <a:r>
              <a:rPr lang="en-US" altLang="zh-CN" sz="2000" b="1" dirty="0">
                <a:solidFill>
                  <a:srgbClr val="C00000"/>
                </a:solidFill>
              </a:rPr>
              <a:t>deadlock</a:t>
            </a:r>
          </a:p>
          <a:p>
            <a:pPr lvl="1"/>
            <a:r>
              <a:rPr lang="en-US" altLang="zh-CN" sz="1800" dirty="0"/>
              <a:t>To handle the deadlock, T</a:t>
            </a:r>
            <a:r>
              <a:rPr lang="en-US" altLang="zh-CN" sz="1800" baseline="-25000" dirty="0"/>
              <a:t>3</a:t>
            </a:r>
            <a:r>
              <a:rPr lang="en-US" altLang="zh-CN" sz="1800" dirty="0"/>
              <a:t> or T</a:t>
            </a:r>
            <a:r>
              <a:rPr lang="en-US" altLang="zh-CN" sz="1800" baseline="-25000" dirty="0"/>
              <a:t>4</a:t>
            </a:r>
            <a:r>
              <a:rPr lang="en-US" altLang="zh-CN" sz="1800" dirty="0"/>
              <a:t> must be rolled back and release its locks</a:t>
            </a:r>
          </a:p>
          <a:p>
            <a:pPr lvl="1"/>
            <a:r>
              <a:rPr lang="en-US" altLang="zh-CN" sz="1800" dirty="0"/>
              <a:t>Deadlock exists in most locking protocols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106EC28-4654-4E10-A473-7E719F7E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1760" y="1203598"/>
            <a:ext cx="2243874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754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E610E-FFD0-41E9-A32E-0DB75E12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Starvation (</a:t>
            </a:r>
            <a:r>
              <a:rPr lang="zh-CN" altLang="en-US" dirty="0"/>
              <a:t>饥饿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173D31-804E-4A99-9B76-F69F9926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2000" b="1" dirty="0"/>
              <a:t>Starvation </a:t>
            </a:r>
          </a:p>
          <a:p>
            <a:pPr lvl="1"/>
            <a:r>
              <a:rPr lang="en-US" altLang="zh-CN" sz="1800" dirty="0"/>
              <a:t>E.g., a transaction may be waiting for an X-lock on a data item, while a sequence of other transactions request and are granted an S-lock on the same data item</a:t>
            </a:r>
          </a:p>
          <a:p>
            <a:pPr lvl="1"/>
            <a:r>
              <a:rPr lang="en-US" altLang="zh-CN" sz="1800" dirty="0"/>
              <a:t>The same transaction is repeatedly rolled back due to deadlocks</a:t>
            </a:r>
          </a:p>
          <a:p>
            <a:r>
              <a:rPr lang="en-US" altLang="zh-CN" sz="2000" dirty="0"/>
              <a:t>Concurrency control manager can be designed to prevent starvation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8257713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4E6D6-DEE8-4D89-B60C-5402A8AB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Two-Phase Locking Protocol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A0A120-09BB-45E9-83D8-3EC8BA1AF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A protocol which ensures conflict-serializable schedules</a:t>
            </a:r>
          </a:p>
          <a:p>
            <a:pPr lvl="1"/>
            <a:r>
              <a:rPr lang="en-US" altLang="zh-CN" sz="1800" b="1" dirty="0"/>
              <a:t>Phase 1: Growing Phase (</a:t>
            </a:r>
            <a:r>
              <a:rPr lang="zh-CN" altLang="en-US" sz="1800" b="1" dirty="0"/>
              <a:t>增长阶段</a:t>
            </a:r>
            <a:r>
              <a:rPr lang="en-US" altLang="zh-CN" sz="1800" b="1" dirty="0"/>
              <a:t>)</a:t>
            </a:r>
          </a:p>
          <a:p>
            <a:pPr lvl="2"/>
            <a:r>
              <a:rPr lang="en-US" altLang="zh-CN" sz="1600" dirty="0"/>
              <a:t>transaction can obtain locks but cannot release locks</a:t>
            </a:r>
          </a:p>
          <a:p>
            <a:pPr lvl="1"/>
            <a:r>
              <a:rPr lang="en-US" altLang="zh-CN" sz="1800" b="1" dirty="0"/>
              <a:t>Phase 2: Shrinking Phase (</a:t>
            </a:r>
            <a:r>
              <a:rPr lang="zh-CN" altLang="en-US" sz="1800" b="1" dirty="0"/>
              <a:t>缩减阶段）</a:t>
            </a:r>
            <a:endParaRPr lang="en-US" altLang="zh-CN" sz="1800" b="1" dirty="0"/>
          </a:p>
          <a:p>
            <a:pPr lvl="2"/>
            <a:r>
              <a:rPr lang="en-US" altLang="zh-CN" sz="1600" dirty="0"/>
              <a:t>transaction can release locks but cannot obtain locks</a:t>
            </a:r>
          </a:p>
          <a:p>
            <a:r>
              <a:rPr lang="en-US" altLang="zh-CN" sz="1800" dirty="0"/>
              <a:t>The protocol assures serializability. It can be proved that the transactions can be serialized in the order of their lock points (</a:t>
            </a:r>
            <a:r>
              <a:rPr lang="zh-CN" altLang="en-US" sz="1800" dirty="0"/>
              <a:t>封锁点</a:t>
            </a:r>
            <a:r>
              <a:rPr lang="en-US" altLang="zh-CN" sz="1800" dirty="0"/>
              <a:t>)</a:t>
            </a:r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Lock point</a:t>
            </a:r>
            <a:r>
              <a:rPr lang="en-US" altLang="zh-CN" sz="1400" dirty="0"/>
              <a:t>: </a:t>
            </a:r>
            <a:r>
              <a:rPr lang="zh-CN" altLang="en-US" sz="1400" dirty="0"/>
              <a:t>事务获得最后加锁的位置</a:t>
            </a:r>
            <a:r>
              <a:rPr lang="en-US" altLang="zh-CN" sz="1400" dirty="0"/>
              <a:t> 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4651226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13E45-7D12-4BAC-A1FE-81FC1C9AA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Two-Phase Locking Protocol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676119-A25A-452F-B39E-DAB99F7BD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15566"/>
            <a:ext cx="7848872" cy="3805070"/>
          </a:xfrm>
        </p:spPr>
        <p:txBody>
          <a:bodyPr/>
          <a:lstStyle/>
          <a:p>
            <a:r>
              <a:rPr lang="en-US" altLang="zh-CN" sz="2000" b="1" dirty="0"/>
              <a:t>Satisfy 2PL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600" b="1" dirty="0" err="1">
                <a:solidFill>
                  <a:srgbClr val="0000CC"/>
                </a:solidFill>
                <a:ea typeface="华文中宋" panose="02010600040101010101" pitchFamily="2" charset="-122"/>
              </a:rPr>
              <a:t>Slock</a:t>
            </a:r>
            <a:r>
              <a:rPr lang="en-US" altLang="zh-CN" sz="1600" b="1" dirty="0">
                <a:solidFill>
                  <a:srgbClr val="0000CC"/>
                </a:solidFill>
                <a:ea typeface="华文中宋" panose="02010600040101010101" pitchFamily="2" charset="-122"/>
              </a:rPr>
              <a:t> A  </a:t>
            </a:r>
            <a:r>
              <a:rPr lang="en-US" altLang="zh-CN" sz="1600" b="1" dirty="0" err="1">
                <a:solidFill>
                  <a:srgbClr val="0000CC"/>
                </a:solidFill>
                <a:ea typeface="华文中宋" panose="02010600040101010101" pitchFamily="2" charset="-122"/>
              </a:rPr>
              <a:t>Slock</a:t>
            </a:r>
            <a:r>
              <a:rPr lang="en-US" altLang="zh-CN" sz="1600" b="1" dirty="0">
                <a:solidFill>
                  <a:srgbClr val="0000CC"/>
                </a:solidFill>
                <a:ea typeface="华文中宋" panose="02010600040101010101" pitchFamily="2" charset="-122"/>
              </a:rPr>
              <a:t> B  </a:t>
            </a:r>
            <a:r>
              <a:rPr lang="en-US" altLang="zh-CN" sz="1600" b="1" dirty="0" err="1">
                <a:solidFill>
                  <a:srgbClr val="0000CC"/>
                </a:solidFill>
                <a:ea typeface="华文中宋" panose="02010600040101010101" pitchFamily="2" charset="-122"/>
              </a:rPr>
              <a:t>Xlock</a:t>
            </a:r>
            <a:r>
              <a:rPr lang="en-US" altLang="zh-CN" sz="1600" b="1" dirty="0">
                <a:solidFill>
                  <a:srgbClr val="0000CC"/>
                </a:solidFill>
                <a:ea typeface="华文中宋" panose="02010600040101010101" pitchFamily="2" charset="-122"/>
              </a:rPr>
              <a:t> C</a:t>
            </a:r>
            <a:r>
              <a:rPr lang="en-US" altLang="zh-CN" sz="1600" b="1" dirty="0">
                <a:ea typeface="华文中宋" panose="02010600040101010101" pitchFamily="2" charset="-122"/>
              </a:rPr>
              <a:t>  </a:t>
            </a:r>
            <a:r>
              <a:rPr lang="en-US" altLang="zh-CN" sz="1600" b="1" dirty="0">
                <a:solidFill>
                  <a:srgbClr val="FF0000"/>
                </a:solidFill>
                <a:ea typeface="华文中宋" panose="02010600040101010101" pitchFamily="2" charset="-122"/>
              </a:rPr>
              <a:t>Unlock B  Unlock A  Unlock C</a:t>
            </a:r>
            <a:r>
              <a:rPr lang="zh-CN" altLang="en-US" sz="1600" b="1" dirty="0">
                <a:ea typeface="华文中宋" panose="02010600040101010101" pitchFamily="2" charset="-122"/>
              </a:rPr>
              <a:t>；</a:t>
            </a:r>
          </a:p>
          <a:p>
            <a:pPr>
              <a:lnSpc>
                <a:spcPct val="200000"/>
              </a:lnSpc>
              <a:buNone/>
            </a:pPr>
            <a:r>
              <a:rPr lang="en-US" altLang="zh-CN" sz="1600" b="1" dirty="0">
                <a:solidFill>
                  <a:srgbClr val="0000CC"/>
                </a:solidFill>
                <a:ea typeface="华文中宋" panose="02010600040101010101" pitchFamily="2" charset="-122"/>
              </a:rPr>
              <a:t>|←	   Growing</a:t>
            </a:r>
            <a:r>
              <a:rPr lang="zh-CN" altLang="en-US" sz="1600" b="1" dirty="0">
                <a:solidFill>
                  <a:srgbClr val="0000CC"/>
                </a:solidFill>
                <a:ea typeface="华文中宋" panose="02010600040101010101" pitchFamily="2" charset="-122"/>
              </a:rPr>
              <a:t>	    →</a:t>
            </a:r>
            <a:r>
              <a:rPr lang="en-US" altLang="zh-CN" sz="1600" b="1" dirty="0">
                <a:solidFill>
                  <a:srgbClr val="0000CC"/>
                </a:solidFill>
                <a:ea typeface="华文中宋" panose="02010600040101010101" pitchFamily="2" charset="-122"/>
              </a:rPr>
              <a:t>|</a:t>
            </a:r>
            <a:r>
              <a:rPr lang="en-US" altLang="zh-CN" sz="1600" b="1" dirty="0">
                <a:ea typeface="华文中宋" panose="02010600040101010101" pitchFamily="2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ea typeface="华文中宋" panose="02010600040101010101" pitchFamily="2" charset="-122"/>
              </a:rPr>
              <a:t>|←         Shrinking        </a:t>
            </a:r>
            <a:r>
              <a:rPr lang="zh-CN" altLang="en-US" sz="1600" b="1" dirty="0">
                <a:solidFill>
                  <a:srgbClr val="FF0000"/>
                </a:solidFill>
                <a:ea typeface="华文中宋" panose="02010600040101010101" pitchFamily="2" charset="-122"/>
              </a:rPr>
              <a:t>→</a:t>
            </a:r>
            <a:r>
              <a:rPr lang="en-US" altLang="zh-CN" sz="1800" b="1" dirty="0">
                <a:solidFill>
                  <a:srgbClr val="FF0000"/>
                </a:solidFill>
                <a:ea typeface="华文中宋" panose="02010600040101010101" pitchFamily="2" charset="-122"/>
              </a:rPr>
              <a:t>|</a:t>
            </a:r>
            <a:endParaRPr lang="en-US" altLang="zh-CN" sz="2000" dirty="0"/>
          </a:p>
          <a:p>
            <a:endParaRPr lang="en-US" altLang="zh-CN" sz="2000" b="1" dirty="0"/>
          </a:p>
          <a:p>
            <a:r>
              <a:rPr lang="en-US" altLang="zh-CN" sz="2000" b="1" dirty="0"/>
              <a:t>Not satisfy 2PL </a:t>
            </a:r>
          </a:p>
          <a:p>
            <a:pPr marL="0" indent="0">
              <a:buNone/>
            </a:pPr>
            <a:r>
              <a:rPr lang="en-US" altLang="zh-CN" sz="1800" b="1" dirty="0" err="1">
                <a:solidFill>
                  <a:srgbClr val="0000CC"/>
                </a:solidFill>
                <a:ea typeface="华文中宋" panose="02010600040101010101" pitchFamily="2" charset="-122"/>
              </a:rPr>
              <a:t>Slock</a:t>
            </a:r>
            <a:r>
              <a:rPr lang="en-US" altLang="zh-CN" sz="1800" b="1" dirty="0">
                <a:solidFill>
                  <a:srgbClr val="0000CC"/>
                </a:solidFill>
                <a:ea typeface="华文中宋" panose="02010600040101010101" pitchFamily="2" charset="-122"/>
              </a:rPr>
              <a:t> A</a:t>
            </a:r>
            <a:r>
              <a:rPr lang="en-US" altLang="zh-CN" sz="1800" b="1" dirty="0">
                <a:ea typeface="华文中宋" panose="020106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ea typeface="华文中宋" panose="02010600040101010101" pitchFamily="2" charset="-122"/>
              </a:rPr>
              <a:t>Unlock A</a:t>
            </a:r>
            <a:r>
              <a:rPr lang="en-US" altLang="zh-CN" sz="1800" b="1" dirty="0">
                <a:ea typeface="华文中宋" panose="02010600040101010101" pitchFamily="2" charset="-122"/>
              </a:rPr>
              <a:t>  </a:t>
            </a:r>
            <a:r>
              <a:rPr lang="en-US" altLang="zh-CN" sz="1800" b="1" dirty="0" err="1">
                <a:solidFill>
                  <a:srgbClr val="0000CC"/>
                </a:solidFill>
                <a:ea typeface="华文中宋" panose="02010600040101010101" pitchFamily="2" charset="-122"/>
              </a:rPr>
              <a:t>Slock</a:t>
            </a:r>
            <a:r>
              <a:rPr lang="en-US" altLang="zh-CN" sz="1800" b="1" dirty="0">
                <a:solidFill>
                  <a:srgbClr val="0000CC"/>
                </a:solidFill>
                <a:ea typeface="华文中宋" panose="02010600040101010101" pitchFamily="2" charset="-122"/>
              </a:rPr>
              <a:t> B</a:t>
            </a:r>
            <a:r>
              <a:rPr lang="en-US" altLang="zh-CN" sz="1800" b="1" dirty="0">
                <a:ea typeface="华文中宋" panose="02010600040101010101" pitchFamily="2" charset="-122"/>
              </a:rPr>
              <a:t>  </a:t>
            </a:r>
            <a:r>
              <a:rPr lang="en-US" altLang="zh-CN" sz="1800" b="1" dirty="0" err="1">
                <a:solidFill>
                  <a:srgbClr val="0000CC"/>
                </a:solidFill>
                <a:ea typeface="华文中宋" panose="02010600040101010101" pitchFamily="2" charset="-122"/>
              </a:rPr>
              <a:t>Xlock</a:t>
            </a:r>
            <a:r>
              <a:rPr lang="en-US" altLang="zh-CN" sz="1800" b="1" dirty="0">
                <a:solidFill>
                  <a:srgbClr val="0000CC"/>
                </a:solidFill>
                <a:ea typeface="华文中宋" panose="02010600040101010101" pitchFamily="2" charset="-122"/>
              </a:rPr>
              <a:t> C</a:t>
            </a:r>
            <a:r>
              <a:rPr lang="en-US" altLang="zh-CN" sz="1800" b="1" dirty="0">
                <a:ea typeface="华文中宋" panose="020106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ea typeface="华文中宋" panose="02010600040101010101" pitchFamily="2" charset="-122"/>
              </a:rPr>
              <a:t>Unlock C  Unlock B</a:t>
            </a:r>
            <a:r>
              <a:rPr lang="zh-CN" altLang="en-US" sz="1800" b="1" dirty="0">
                <a:ea typeface="华文中宋" panose="02010600040101010101" pitchFamily="2" charset="-122"/>
              </a:rPr>
              <a:t>；</a:t>
            </a:r>
            <a:endParaRPr lang="zh-CN" altLang="en-US" sz="2000" b="1" dirty="0"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58184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F4196-9FA2-4469-ACA5-7500A2BB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Two-Phase Locking Protocol</a:t>
            </a:r>
            <a:endParaRPr lang="zh-CN" altLang="en-US" dirty="0"/>
          </a:p>
        </p:txBody>
      </p:sp>
      <p:graphicFrame>
        <p:nvGraphicFramePr>
          <p:cNvPr id="4" name="Group 604">
            <a:extLst>
              <a:ext uri="{FF2B5EF4-FFF2-40B4-BE49-F238E27FC236}">
                <a16:creationId xmlns:a16="http://schemas.microsoft.com/office/drawing/2014/main" id="{74E69BC0-046B-4DE0-9018-A18711F2E52B}"/>
              </a:ext>
            </a:extLst>
          </p:cNvPr>
          <p:cNvGraphicFramePr>
            <a:graphicFrameLocks/>
          </p:cNvGraphicFramePr>
          <p:nvPr/>
        </p:nvGraphicFramePr>
        <p:xfrm>
          <a:off x="1601391" y="820342"/>
          <a:ext cx="3132534" cy="4144836"/>
        </p:xfrm>
        <a:graphic>
          <a:graphicData uri="http://schemas.openxmlformats.org/drawingml/2006/table">
            <a:tbl>
              <a:tblPr/>
              <a:tblGrid>
                <a:gridCol w="1512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2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kumimoji="0" lang="en-US" altLang="zh-CN" sz="12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Slock(A)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R(A=260)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Slock(C)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R(C=300)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Xlock(A)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W(A=160)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Xlock( C 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W(C=250)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Slock(A)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Slock(B)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R(B=1000)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Xlock(B)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W(B=1100)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Unlock(A)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wait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R(A=160)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Xlock(A)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Unlock(B)</a:t>
                      </a: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W(A=210)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288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华文中宋" pitchFamily="2" charset="-122"/>
                      </a:endParaRPr>
                    </a:p>
                  </a:txBody>
                  <a:tcPr marL="68580" marR="68580" marT="33269" marB="33269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Unlock( C )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华文中宋" pitchFamily="2" charset="-122"/>
                          <a:cs typeface="Times New Roman" pitchFamily="18" charset="0"/>
                        </a:rPr>
                        <a:t>Unlock( A )</a:t>
                      </a:r>
                    </a:p>
                  </a:txBody>
                  <a:tcPr marL="68580" marR="68580" marT="33269" marB="332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Oval 605">
            <a:extLst>
              <a:ext uri="{FF2B5EF4-FFF2-40B4-BE49-F238E27FC236}">
                <a16:creationId xmlns:a16="http://schemas.microsoft.com/office/drawing/2014/main" id="{891B62FE-6D07-4D3F-848B-5D9AD9C02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391" y="982266"/>
            <a:ext cx="756047" cy="21550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606">
            <a:extLst>
              <a:ext uri="{FF2B5EF4-FFF2-40B4-BE49-F238E27FC236}">
                <a16:creationId xmlns:a16="http://schemas.microsoft.com/office/drawing/2014/main" id="{9046B52E-2CF6-4945-A454-6800F5761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485" y="1359694"/>
            <a:ext cx="756047" cy="215504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607">
            <a:extLst>
              <a:ext uri="{FF2B5EF4-FFF2-40B4-BE49-F238E27FC236}">
                <a16:creationId xmlns:a16="http://schemas.microsoft.com/office/drawing/2014/main" id="{37D575BA-3922-41A3-AFF6-8C489A19B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391" y="1793081"/>
            <a:ext cx="756047" cy="215504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Oval 608">
            <a:extLst>
              <a:ext uri="{FF2B5EF4-FFF2-40B4-BE49-F238E27FC236}">
                <a16:creationId xmlns:a16="http://schemas.microsoft.com/office/drawing/2014/main" id="{C86FEE8C-91F4-4806-8F69-1572AB323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391" y="2764631"/>
            <a:ext cx="756047" cy="215504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609">
            <a:extLst>
              <a:ext uri="{FF2B5EF4-FFF2-40B4-BE49-F238E27FC236}">
                <a16:creationId xmlns:a16="http://schemas.microsoft.com/office/drawing/2014/main" id="{2E65AA40-EF24-4749-AE72-EF802448A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391" y="3220641"/>
            <a:ext cx="756047" cy="21550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610">
            <a:extLst>
              <a:ext uri="{FF2B5EF4-FFF2-40B4-BE49-F238E27FC236}">
                <a16:creationId xmlns:a16="http://schemas.microsoft.com/office/drawing/2014/main" id="{82BF6258-FEAB-4033-BE7F-72D12344A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391" y="3598069"/>
            <a:ext cx="863203" cy="270272"/>
          </a:xfrm>
          <a:prstGeom prst="ellipse">
            <a:avLst/>
          </a:prstGeom>
          <a:noFill/>
          <a:ln w="254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Oval 611">
            <a:extLst>
              <a:ext uri="{FF2B5EF4-FFF2-40B4-BE49-F238E27FC236}">
                <a16:creationId xmlns:a16="http://schemas.microsoft.com/office/drawing/2014/main" id="{5129A2E5-56E3-44CE-9CD5-038124D96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391" y="4192191"/>
            <a:ext cx="863203" cy="270272"/>
          </a:xfrm>
          <a:prstGeom prst="ellipse">
            <a:avLst/>
          </a:prstGeom>
          <a:noFill/>
          <a:ln w="254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Oval 612">
            <a:extLst>
              <a:ext uri="{FF2B5EF4-FFF2-40B4-BE49-F238E27FC236}">
                <a16:creationId xmlns:a16="http://schemas.microsoft.com/office/drawing/2014/main" id="{4633BCF6-7FBA-45AC-A36D-AF0554E79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485" y="2194323"/>
            <a:ext cx="756047" cy="215503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Oval 613">
            <a:extLst>
              <a:ext uri="{FF2B5EF4-FFF2-40B4-BE49-F238E27FC236}">
                <a16:creationId xmlns:a16="http://schemas.microsoft.com/office/drawing/2014/main" id="{7164F5EB-1C9C-424A-83CC-1D02D6C8B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485" y="2626519"/>
            <a:ext cx="756047" cy="215504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Oval 614">
            <a:extLst>
              <a:ext uri="{FF2B5EF4-FFF2-40B4-BE49-F238E27FC236}">
                <a16:creationId xmlns:a16="http://schemas.microsoft.com/office/drawing/2014/main" id="{3C988CC6-D9E7-4904-88E0-F3CCAFF8E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485" y="4030266"/>
            <a:ext cx="756047" cy="215503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Oval 615">
            <a:extLst>
              <a:ext uri="{FF2B5EF4-FFF2-40B4-BE49-F238E27FC236}">
                <a16:creationId xmlns:a16="http://schemas.microsoft.com/office/drawing/2014/main" id="{A2F7F42F-861E-4D43-80C3-BD527D3BA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329" y="4624388"/>
            <a:ext cx="1133475" cy="432197"/>
          </a:xfrm>
          <a:prstGeom prst="ellipse">
            <a:avLst/>
          </a:prstGeom>
          <a:noFill/>
          <a:ln w="254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Oval 617">
            <a:extLst>
              <a:ext uri="{FF2B5EF4-FFF2-40B4-BE49-F238E27FC236}">
                <a16:creationId xmlns:a16="http://schemas.microsoft.com/office/drawing/2014/main" id="{9F4648DB-64D1-423E-A8B0-70ED91740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906" y="2764631"/>
            <a:ext cx="539354" cy="971550"/>
          </a:xfrm>
          <a:prstGeom prst="ellips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Text Box 586">
            <a:extLst>
              <a:ext uri="{FF2B5EF4-FFF2-40B4-BE49-F238E27FC236}">
                <a16:creationId xmlns:a16="http://schemas.microsoft.com/office/drawing/2014/main" id="{A14B34A1-1DF9-490E-9BFF-CBCB9E4B3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775" y="2523428"/>
            <a:ext cx="367240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BBBBBB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1" fontAlgn="auto" latinLnBrk="0" hangingPunct="1">
              <a:spcBef>
                <a:spcPct val="0"/>
              </a:spcBef>
              <a:spcAft>
                <a:spcPts val="0"/>
              </a:spcAft>
              <a:buClr>
                <a:srgbClr val="FFCCCC"/>
              </a:buClr>
              <a:buSz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2PL ensures serializable schedules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274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9F83B-585A-470E-A6BD-0B8DDEE5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Two-Phase Locking Protocol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793730-6EF3-4825-9EBA-80490E85C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100900" cy="3805070"/>
          </a:xfrm>
        </p:spPr>
        <p:txBody>
          <a:bodyPr/>
          <a:lstStyle/>
          <a:p>
            <a:r>
              <a:rPr lang="en-US" altLang="zh-CN" sz="2000" dirty="0"/>
              <a:t>Two-phase locking cannot avoid deadlocks</a:t>
            </a:r>
          </a:p>
          <a:p>
            <a:r>
              <a:rPr lang="en-US" altLang="zh-CN" sz="2000" b="1" dirty="0">
                <a:solidFill>
                  <a:srgbClr val="C00000"/>
                </a:solidFill>
              </a:rPr>
              <a:t>Strict two-phase locking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严格两阶段封锁</a:t>
            </a:r>
            <a:r>
              <a:rPr lang="en-US" altLang="zh-CN" sz="2000" b="1" dirty="0"/>
              <a:t>) </a:t>
            </a:r>
          </a:p>
          <a:p>
            <a:pPr lvl="1"/>
            <a:r>
              <a:rPr lang="en-US" altLang="zh-CN" sz="1800" dirty="0"/>
              <a:t>Cascading roll-back is possible under two-phase locking </a:t>
            </a:r>
            <a:r>
              <a:rPr lang="zh-CN" altLang="en-US" sz="1800" dirty="0"/>
              <a:t>（</a:t>
            </a:r>
            <a:r>
              <a:rPr lang="zh-CN" altLang="en-US" sz="1800" b="1" dirty="0"/>
              <a:t>严格两阶段封锁可以避免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en-US" altLang="zh-CN" sz="1800" dirty="0"/>
              <a:t>In strict two-phase locking, a transaction must hold all its </a:t>
            </a:r>
            <a:r>
              <a:rPr lang="en-US" altLang="zh-CN" sz="1800" b="1" dirty="0"/>
              <a:t>exclusive locks </a:t>
            </a:r>
            <a:r>
              <a:rPr lang="en-US" altLang="zh-CN" sz="1800" dirty="0"/>
              <a:t>till it commits</a:t>
            </a:r>
          </a:p>
          <a:p>
            <a:r>
              <a:rPr lang="en-US" altLang="zh-CN" sz="2000" b="1" dirty="0">
                <a:solidFill>
                  <a:srgbClr val="C00000"/>
                </a:solidFill>
              </a:rPr>
              <a:t>Rigorous two-phase locking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强两阶段封锁</a:t>
            </a:r>
            <a:r>
              <a:rPr lang="en-US" altLang="zh-CN" sz="2000" b="1" dirty="0"/>
              <a:t>)</a:t>
            </a:r>
          </a:p>
          <a:p>
            <a:pPr lvl="1"/>
            <a:r>
              <a:rPr lang="en-US" altLang="zh-CN" sz="1800" dirty="0"/>
              <a:t>All locks are held till the transaction commits</a:t>
            </a:r>
          </a:p>
          <a:p>
            <a:pPr lvl="1"/>
            <a:r>
              <a:rPr lang="en-US" altLang="zh-CN" sz="1800" dirty="0"/>
              <a:t>Transactions can be serialized in the order in which they commit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3575419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9B935-206E-4DF3-B421-6B1A82F1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Lock Conversions (</a:t>
            </a:r>
            <a:r>
              <a:rPr lang="zh-CN" altLang="en-US" dirty="0"/>
              <a:t>锁转换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7D52AF-F6E3-4B31-AB87-C6F511D5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9621"/>
            <a:ext cx="8568952" cy="3175001"/>
          </a:xfrm>
        </p:spPr>
        <p:txBody>
          <a:bodyPr/>
          <a:lstStyle/>
          <a:p>
            <a:r>
              <a:rPr lang="en-US" altLang="zh-CN" sz="2000" dirty="0"/>
              <a:t>Two-phase locking with lock conversions</a:t>
            </a:r>
          </a:p>
          <a:p>
            <a:pPr lvl="1"/>
            <a:r>
              <a:rPr lang="en-US" altLang="zh-CN" sz="1600" dirty="0"/>
              <a:t>Upgrade (</a:t>
            </a:r>
            <a:r>
              <a:rPr lang="zh-CN" altLang="en-US" sz="1600" dirty="0"/>
              <a:t>升级</a:t>
            </a:r>
            <a:r>
              <a:rPr lang="en-US" altLang="zh-CN" sz="1600" dirty="0"/>
              <a:t>)</a:t>
            </a:r>
          </a:p>
          <a:p>
            <a:pPr lvl="2"/>
            <a:r>
              <a:rPr lang="en-US" altLang="zh-CN" sz="1600" dirty="0"/>
              <a:t>lock-S -&gt; lock-X</a:t>
            </a:r>
          </a:p>
          <a:p>
            <a:pPr lvl="1"/>
            <a:r>
              <a:rPr lang="en-US" altLang="zh-CN" sz="1600" dirty="0"/>
              <a:t>Downgrade (</a:t>
            </a:r>
            <a:r>
              <a:rPr lang="zh-CN" altLang="en-US" sz="1600" dirty="0"/>
              <a:t>降级</a:t>
            </a:r>
            <a:r>
              <a:rPr lang="en-US" altLang="zh-CN" sz="1600" dirty="0"/>
              <a:t>)</a:t>
            </a:r>
          </a:p>
          <a:p>
            <a:pPr lvl="2"/>
            <a:r>
              <a:rPr lang="en-US" altLang="zh-CN" sz="1600" dirty="0"/>
              <a:t>lock-X -&gt; lock-S</a:t>
            </a:r>
          </a:p>
          <a:p>
            <a:r>
              <a:rPr lang="en-US" altLang="zh-CN" sz="2000" dirty="0"/>
              <a:t>This protocol assures serializability</a:t>
            </a:r>
          </a:p>
          <a:p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FCB7E2-4F56-4731-8D98-597A65BAE519}"/>
              </a:ext>
            </a:extLst>
          </p:cNvPr>
          <p:cNvSpPr txBox="1"/>
          <p:nvPr/>
        </p:nvSpPr>
        <p:spPr>
          <a:xfrm>
            <a:off x="6372200" y="1347614"/>
            <a:ext cx="2088232" cy="270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T8</a:t>
            </a: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read(a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read(a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…</a:t>
            </a: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read(a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write(a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T9: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read(a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read(a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       display(a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+a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378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ADAC8-8B9E-41CF-B182-0145B411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Automatic Acquisition of Locks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B489C3-2E53-442E-803A-7C264043E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71550"/>
                <a:ext cx="8568952" cy="3672408"/>
              </a:xfrm>
            </p:spPr>
            <p:txBody>
              <a:bodyPr/>
              <a:lstStyle/>
              <a:p>
                <a:r>
                  <a:rPr lang="en-US" altLang="zh-CN" sz="2000" dirty="0"/>
                  <a:t>A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 issues the standard read/write instruction, without explicit locking calls</a:t>
                </a:r>
              </a:p>
              <a:p>
                <a:r>
                  <a:rPr lang="en-US" altLang="zh-CN" sz="2000" dirty="0"/>
                  <a:t>read(D) is processed as: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	</a:t>
                </a: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has a lock on D, then</a:t>
                </a:r>
              </a:p>
              <a:p>
                <a:pPr marL="0" indent="0"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	     read(D); </a:t>
                </a:r>
              </a:p>
              <a:p>
                <a:pPr marL="0" indent="0"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else</a:t>
                </a:r>
              </a:p>
              <a:p>
                <a:pPr marL="0" indent="0"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     wait until no other transactions have a lock-X on D;</a:t>
                </a:r>
              </a:p>
              <a:p>
                <a:pPr marL="0" indent="0"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     grant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a lock-S on D;</a:t>
                </a:r>
              </a:p>
              <a:p>
                <a:pPr marL="0" indent="0"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     read(D)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B489C3-2E53-442E-803A-7C264043E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71550"/>
                <a:ext cx="8568952" cy="3672408"/>
              </a:xfrm>
              <a:blipFill>
                <a:blip r:embed="rId2"/>
                <a:stretch>
                  <a:fillRect l="-640" t="-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62969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6007C-01CA-45DB-8E03-7907D2F6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Automatic Acquisition of Locks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154096-C3AD-453B-8144-D9FF04677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7574"/>
                <a:ext cx="8568952" cy="3506546"/>
              </a:xfrm>
            </p:spPr>
            <p:txBody>
              <a:bodyPr/>
              <a:lstStyle/>
              <a:p>
                <a:r>
                  <a:rPr lang="en-US" altLang="zh-CN" sz="2000" dirty="0"/>
                  <a:t>write(D) is processed as: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000" i="1" dirty="0">
                    <a:solidFill>
                      <a:schemeClr val="tx2">
                        <a:lumMod val="75000"/>
                      </a:schemeClr>
                    </a:solidFill>
                  </a:rPr>
                  <a:t>     </a:t>
                </a: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has a lock-X on D, then 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write(D);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else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wait until no other transactions have any lock on D;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has a lock-S on D, then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  upgrade lock on D to lock-X;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else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  grant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a lock-X on D;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600" i="1" dirty="0">
                    <a:solidFill>
                      <a:schemeClr val="tx2">
                        <a:lumMod val="75000"/>
                      </a:schemeClr>
                    </a:solidFill>
                  </a:rPr>
                  <a:t>                  write(D);</a:t>
                </a:r>
              </a:p>
              <a:p>
                <a:r>
                  <a:rPr lang="en-US" altLang="zh-CN" sz="2000" dirty="0"/>
                  <a:t>All locks are released after the transaction commits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154096-C3AD-453B-8144-D9FF04677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7574"/>
                <a:ext cx="8568952" cy="3506546"/>
              </a:xfrm>
              <a:blipFill>
                <a:blip r:embed="rId2"/>
                <a:stretch>
                  <a:fillRect l="-640" t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311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530CC-5118-427E-8F29-C87F9E66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Implementation of Locking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3219DC-0A53-4455-ADC4-66D0A0194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99542"/>
            <a:ext cx="8496944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b="1" dirty="0"/>
              <a:t>Lock manager (</a:t>
            </a:r>
            <a:r>
              <a:rPr lang="zh-CN" altLang="en-US" sz="2000" b="1" dirty="0"/>
              <a:t>锁管理器</a:t>
            </a:r>
            <a:r>
              <a:rPr lang="en-US" altLang="zh-CN" sz="2000" b="1" dirty="0"/>
              <a:t>)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/>
              <a:t>A lock manager can be implemented as a separate process to which transactions send lock and unlock requests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/>
              <a:t>The lock manager replies to a lock request by sending a lock grant messages (or a message asking the transaction to roll back, in case of a deadlock)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/>
              <a:t>The requesting transaction waits until its request is answered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/>
              <a:t>The lock manager maintains a data-structure called a </a:t>
            </a:r>
            <a:r>
              <a:rPr lang="en-US" altLang="zh-CN" sz="1600" b="1" dirty="0"/>
              <a:t>lock table (</a:t>
            </a:r>
            <a:r>
              <a:rPr lang="zh-CN" altLang="en-US" sz="1600" b="1" dirty="0"/>
              <a:t>锁表</a:t>
            </a:r>
            <a:r>
              <a:rPr lang="en-US" altLang="zh-CN" sz="1600" b="1" dirty="0"/>
              <a:t>)</a:t>
            </a:r>
            <a:r>
              <a:rPr lang="en-US" altLang="zh-CN" sz="1600" dirty="0"/>
              <a:t> to record granted locks and pending requests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/>
              <a:t>The lock table is usually implemented as an in-memory hash table </a:t>
            </a:r>
            <a:r>
              <a:rPr lang="en-US" altLang="zh-CN" sz="1600" dirty="0">
                <a:solidFill>
                  <a:srgbClr val="FF0000"/>
                </a:solidFill>
              </a:rPr>
              <a:t>indexed on the name of the data item </a:t>
            </a:r>
            <a:r>
              <a:rPr lang="en-US" altLang="zh-CN" sz="1600" dirty="0"/>
              <a:t>being locked</a:t>
            </a:r>
          </a:p>
          <a:p>
            <a:pPr>
              <a:spcBef>
                <a:spcPts val="1200"/>
              </a:spcBef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010590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6234E-C88E-4C1F-AB94-BCDF4417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Lock 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90252-A7CC-4112-B75C-B78FE9705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5328592" cy="3805070"/>
          </a:xfrm>
        </p:spPr>
        <p:txBody>
          <a:bodyPr/>
          <a:lstStyle/>
          <a:p>
            <a:r>
              <a:rPr lang="en-US" altLang="zh-CN" sz="1800" dirty="0"/>
              <a:t>Dark blue rectangles indicate granted locks, and light blue ones indicate waiting requests</a:t>
            </a:r>
          </a:p>
          <a:p>
            <a:r>
              <a:rPr lang="en-US" altLang="zh-CN" sz="1800" dirty="0"/>
              <a:t>Lock table also records the type of lock granted or requested</a:t>
            </a:r>
          </a:p>
          <a:p>
            <a:r>
              <a:rPr lang="en-US" altLang="zh-CN" sz="1800" dirty="0"/>
              <a:t>New request is added to the end of the queue of requests for the data item, and granted if it is compatible with all earlier locks</a:t>
            </a:r>
          </a:p>
          <a:p>
            <a:r>
              <a:rPr lang="en-US" altLang="zh-CN" sz="1800" dirty="0"/>
              <a:t>Unlock requests result in the request being deleted, and later requests are checked to see if they can now be granted</a:t>
            </a:r>
          </a:p>
          <a:p>
            <a:r>
              <a:rPr lang="en-US" altLang="zh-CN" sz="1800" dirty="0"/>
              <a:t>If transaction aborts, all waiting or granted requests of the transaction are deleted </a:t>
            </a:r>
          </a:p>
          <a:p>
            <a:pPr lvl="1"/>
            <a:r>
              <a:rPr lang="en-US" altLang="zh-CN" sz="1400" dirty="0"/>
              <a:t>lock manager may keep a list of locks held by each transaction, to implement this operation efficiently</a:t>
            </a:r>
          </a:p>
          <a:p>
            <a:endParaRPr lang="zh-CN" altLang="en-US" sz="1800" dirty="0"/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7837BC0C-40AC-4932-83F0-8E305F276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915566"/>
            <a:ext cx="2800927" cy="40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461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203598"/>
            <a:ext cx="8568952" cy="34450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dirty="0"/>
              <a:t>Concurrent Control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Lock-based Protocols</a:t>
            </a:r>
          </a:p>
          <a:p>
            <a:pPr>
              <a:spcBef>
                <a:spcPts val="12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Graph-based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Multiple Granularity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Deadlock Handling</a:t>
            </a:r>
          </a:p>
          <a:p>
            <a:pPr>
              <a:spcBef>
                <a:spcPts val="120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219043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EDFB0-A86A-425A-BDA7-8E0A7D00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Graph-based Protocols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642D88-97B9-4013-A94D-2B0DF94425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/>
                  <a:t>Graph-based protocols are an alternative to two-phase locking</a:t>
                </a:r>
              </a:p>
              <a:p>
                <a:pPr lvl="1"/>
                <a:r>
                  <a:rPr lang="en-US" altLang="zh-CN" sz="1800" dirty="0"/>
                  <a:t>Impose a partial ordering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800" dirty="0"/>
                  <a:t>(</a:t>
                </a:r>
                <a:r>
                  <a:rPr lang="zh-CN" altLang="en-US" sz="1800" dirty="0"/>
                  <a:t>偏序</a:t>
                </a:r>
                <a:r>
                  <a:rPr lang="en-US" altLang="zh-CN" sz="1800" dirty="0"/>
                  <a:t>) on the set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800" dirty="0"/>
                  <a:t> of all data items</a:t>
                </a:r>
              </a:p>
              <a:p>
                <a:pPr lvl="1"/>
                <a:r>
                  <a:rPr lang="en-US" altLang="zh-CN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, then any transaction accessing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 must access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before accessing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800" dirty="0"/>
                  <a:t>Implies that the set D may now be viewed as a directed acyclic graph, called a </a:t>
                </a:r>
                <a:r>
                  <a:rPr lang="en-US" altLang="zh-CN" sz="1800" b="1" dirty="0"/>
                  <a:t>database graph</a:t>
                </a:r>
                <a:endParaRPr lang="en-US" altLang="zh-CN" sz="1600" b="1" dirty="0"/>
              </a:p>
              <a:p>
                <a:r>
                  <a:rPr lang="en-US" altLang="zh-CN" sz="2000" dirty="0"/>
                  <a:t>The tree-protocol is a simple kind of graph protocol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642D88-97B9-4013-A94D-2B0DF94425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191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13B2D-6D4A-4C89-BD91-12104150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Tree Protocol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CBC4E0-3903-4D25-8C44-DC7465895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5400600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Only exclusive locks are allowed</a:t>
                </a:r>
              </a:p>
              <a:p>
                <a:pPr lvl="1"/>
                <a:r>
                  <a:rPr lang="en-US" altLang="zh-CN" sz="1800" dirty="0"/>
                  <a:t>The first lock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may be on any data item</a:t>
                </a:r>
              </a:p>
              <a:p>
                <a:pPr lvl="1"/>
                <a:r>
                  <a:rPr lang="en-US" altLang="zh-CN" sz="1800" dirty="0"/>
                  <a:t>Subsequently, a data Q can be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/>
                  <a:t>only if the parent of Q is currently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800" dirty="0"/>
                  <a:t>Data items may be unlocked at any time</a:t>
                </a:r>
              </a:p>
              <a:p>
                <a:pPr lvl="1"/>
                <a:r>
                  <a:rPr lang="en-US" altLang="zh-CN" sz="1800" dirty="0"/>
                  <a:t>An unlocked data item cannot be relocked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CBC4E0-3903-4D25-8C44-DC7465895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5400600" cy="3805070"/>
              </a:xfrm>
              <a:blipFill>
                <a:blip r:embed="rId2"/>
                <a:stretch>
                  <a:fillRect l="-1016" t="-801" r="-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7">
            <a:extLst>
              <a:ext uri="{FF2B5EF4-FFF2-40B4-BE49-F238E27FC236}">
                <a16:creationId xmlns:a16="http://schemas.microsoft.com/office/drawing/2014/main" id="{99345F3A-B1FB-4A1A-B158-89895E5D5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573694"/>
            <a:ext cx="2460625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253379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C914E-3BFC-4A3F-83E4-5AFABB3F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Graph-based Protocols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FA5A9-6590-45A8-AF68-40E9DEF9C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69215"/>
            <a:ext cx="8064896" cy="3805070"/>
          </a:xfrm>
        </p:spPr>
        <p:txBody>
          <a:bodyPr/>
          <a:lstStyle/>
          <a:p>
            <a:r>
              <a:rPr lang="en-US" altLang="zh-CN" sz="2000" b="1" dirty="0"/>
              <a:t>Advantages</a:t>
            </a:r>
          </a:p>
          <a:p>
            <a:pPr lvl="1"/>
            <a:r>
              <a:rPr lang="en-US" altLang="zh-CN" sz="1800" dirty="0"/>
              <a:t>The tree protocol ensures conflict serializability as well as </a:t>
            </a:r>
            <a:r>
              <a:rPr lang="en-US" altLang="zh-CN" sz="1800" dirty="0">
                <a:solidFill>
                  <a:srgbClr val="C00000"/>
                </a:solidFill>
              </a:rPr>
              <a:t>freedom from deadlock</a:t>
            </a:r>
          </a:p>
          <a:p>
            <a:pPr lvl="1"/>
            <a:r>
              <a:rPr lang="en-US" altLang="zh-CN" sz="1800" dirty="0"/>
              <a:t>Unlocking may occur earlier than two-phase locking protocol, hence shorter waiting time and higher concurrency </a:t>
            </a:r>
          </a:p>
          <a:p>
            <a:r>
              <a:rPr lang="en-US" altLang="zh-CN" sz="2000" b="1" dirty="0"/>
              <a:t>Disadvantages</a:t>
            </a:r>
          </a:p>
          <a:p>
            <a:pPr lvl="1"/>
            <a:r>
              <a:rPr lang="en-US" altLang="zh-CN" sz="1800" dirty="0"/>
              <a:t>The abort of a transaction can still lead to cascading rollbacks</a:t>
            </a:r>
          </a:p>
          <a:p>
            <a:pPr lvl="1"/>
            <a:r>
              <a:rPr lang="en-US" altLang="zh-CN" sz="1800" dirty="0"/>
              <a:t>May have to lock data items that it does not access, thus increasing locking overhead, and incurring additional waiting time</a:t>
            </a:r>
          </a:p>
        </p:txBody>
      </p:sp>
    </p:spTree>
    <p:extLst>
      <p:ext uri="{BB962C8B-B14F-4D97-AF65-F5344CB8AC3E}">
        <p14:creationId xmlns:p14="http://schemas.microsoft.com/office/powerpoint/2010/main" val="46011009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DD619-5B94-4DDF-A771-229F03D9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Timestamp-based Protocol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CEEB3F-BCFD-44AE-9E33-BAEB3FF3C4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Timestamp of a transaction</a:t>
                </a:r>
              </a:p>
              <a:p>
                <a:pPr lvl="1"/>
                <a:r>
                  <a:rPr lang="en-US" altLang="zh-CN" sz="1600" dirty="0"/>
                  <a:t>Each transaction is issued a timestamp when it enters the system. If an old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has timestamp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), a new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is assigned timestamp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) such that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) &lt;TS(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). </a:t>
                </a:r>
              </a:p>
              <a:p>
                <a:r>
                  <a:rPr lang="en-US" altLang="zh-CN" sz="2000" b="1" dirty="0"/>
                  <a:t>Timestamp-based protocol</a:t>
                </a:r>
              </a:p>
              <a:p>
                <a:pPr lvl="1"/>
                <a:r>
                  <a:rPr lang="en-US" altLang="zh-CN" sz="1600" dirty="0"/>
                  <a:t>The protocol manages concurrent execution such that the timestamps determine the serializability order</a:t>
                </a:r>
              </a:p>
              <a:p>
                <a:pPr lvl="1"/>
                <a:r>
                  <a:rPr lang="en-US" altLang="zh-CN" sz="1600" dirty="0"/>
                  <a:t>In order to assure such behavior, the protocol maintains two timestamp values for each data Q:</a:t>
                </a:r>
              </a:p>
              <a:p>
                <a:pPr lvl="2"/>
                <a:r>
                  <a:rPr lang="en-US" altLang="zh-CN" sz="1400" b="1" dirty="0"/>
                  <a:t>W-timestamp(Q)</a:t>
                </a:r>
                <a:r>
                  <a:rPr lang="en-US" altLang="zh-CN" sz="1400" dirty="0"/>
                  <a:t>: the largest time-stamp of any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transaction</a:t>
                </a:r>
                <a:r>
                  <a:rPr lang="en-US" altLang="zh-CN" sz="1400" dirty="0"/>
                  <a:t> that executed write(Q) successfully</a:t>
                </a:r>
              </a:p>
              <a:p>
                <a:pPr lvl="2"/>
                <a:r>
                  <a:rPr lang="en-US" altLang="zh-CN" sz="1400" b="1" dirty="0"/>
                  <a:t>R-timestamp(Q)</a:t>
                </a:r>
                <a:r>
                  <a:rPr lang="en-US" altLang="zh-CN" sz="1400" dirty="0"/>
                  <a:t>: the largest time-stamp of any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transaction</a:t>
                </a:r>
                <a:r>
                  <a:rPr lang="en-US" altLang="zh-CN" sz="1400" dirty="0"/>
                  <a:t> that executed read(Q) successfully</a:t>
                </a:r>
              </a:p>
              <a:p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CEEB3F-BCFD-44AE-9E33-BAEB3FF3C4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 r="-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1970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34A41-5365-4035-BB2C-612411AC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Timestamp-based Protocols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073592-9A9E-481D-B678-591DFE873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/>
                  <a:t>The timestamp-based protocol ensures that any conflicting read and write operations are executed in timestamp order</a:t>
                </a:r>
              </a:p>
              <a:p>
                <a:r>
                  <a:rPr lang="en-US" altLang="zh-CN" sz="2000" dirty="0"/>
                  <a:t>Suppose that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 issues a read(Q)</a:t>
                </a:r>
              </a:p>
              <a:p>
                <a:pPr lvl="1"/>
                <a:r>
                  <a:rPr lang="en-US" altLang="zh-CN" sz="1800" dirty="0"/>
                  <a:t>If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1800" dirty="0"/>
                  <a:t> W-timestamp(Q),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needs to read a value of Q  that was already overwritten</a:t>
                </a:r>
              </a:p>
              <a:p>
                <a:pPr lvl="2"/>
                <a:r>
                  <a:rPr lang="en-US" altLang="zh-CN" sz="1600" dirty="0"/>
                  <a:t>the read operation is rejected,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rolled back</a:t>
                </a:r>
              </a:p>
              <a:p>
                <a:pPr lvl="1"/>
                <a:r>
                  <a:rPr lang="en-US" altLang="zh-CN" sz="1800" dirty="0"/>
                  <a:t>If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1800" dirty="0"/>
                  <a:t> W-timestamp(Q), then the read operation is executed, and R-timestamp(Q) is set to max(R-timestamp(Q),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))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073592-9A9E-481D-B678-591DFE873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63037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4E9F9-B7A5-4AEE-964F-E5736525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Timestamp-based Protocols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CD2F3C-A415-4209-9BA2-63D3D595C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</p:spPr>
            <p:txBody>
              <a:bodyPr/>
              <a:lstStyle/>
              <a:p>
                <a:r>
                  <a:rPr lang="en-US" altLang="zh-CN" sz="2000" dirty="0"/>
                  <a:t>Suppose that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 issues write(Q)</a:t>
                </a:r>
              </a:p>
              <a:p>
                <a:pPr lvl="1"/>
                <a:r>
                  <a:rPr lang="en-US" altLang="zh-CN" sz="1800" dirty="0"/>
                  <a:t>If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 &lt; R-timestamp(Q), then the value of Q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is producing was needed previously, and the system assumed that that value would never be produced. </a:t>
                </a:r>
              </a:p>
              <a:p>
                <a:pPr lvl="2"/>
                <a:r>
                  <a:rPr lang="en-US" altLang="zh-CN" sz="1600" dirty="0"/>
                  <a:t>Hence, the write operation is rejected,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rolled back.</a:t>
                </a:r>
              </a:p>
              <a:p>
                <a:pPr lvl="1"/>
                <a:r>
                  <a:rPr lang="en-US" altLang="zh-CN" sz="1800" dirty="0"/>
                  <a:t>If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 &lt; W-timestamp(Q),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is attempting to write an obsolete value of Q. </a:t>
                </a:r>
              </a:p>
              <a:p>
                <a:pPr lvl="2"/>
                <a:r>
                  <a:rPr lang="en-US" altLang="zh-CN" sz="1600" dirty="0"/>
                  <a:t>Hence, this write operation is rejected,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rolled back.</a:t>
                </a:r>
              </a:p>
              <a:p>
                <a:pPr lvl="1"/>
                <a:r>
                  <a:rPr lang="en-US" altLang="zh-CN" sz="1800" dirty="0"/>
                  <a:t>Otherwise, the  write operation is executed, and W-timestamp(Q) is set to 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).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CD2F3C-A415-4209-9BA2-63D3D595C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  <a:blipFill>
                <a:blip r:embed="rId3"/>
                <a:stretch>
                  <a:fillRect l="-68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47852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7B188-3BAE-4211-9D36-934ACDC2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Timestamp-based Protocols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0D1B9-A3D1-468E-A2A9-F868478D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The timestamp-ordering protocol guarantees serializability since all the arcs in the precedence graph are of the form:</a:t>
            </a:r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pPr lvl="1"/>
            <a:r>
              <a:rPr lang="en-US" altLang="zh-CN" sz="1600" dirty="0"/>
              <a:t>There will be no cycles in the precedence graph</a:t>
            </a:r>
          </a:p>
          <a:p>
            <a:r>
              <a:rPr lang="en-US" altLang="zh-CN" sz="1800" dirty="0"/>
              <a:t>Timestamp protocol ensures </a:t>
            </a:r>
            <a:r>
              <a:rPr lang="en-US" altLang="zh-CN" sz="1800" dirty="0">
                <a:solidFill>
                  <a:srgbClr val="C00000"/>
                </a:solidFill>
              </a:rPr>
              <a:t>freedom from deadlock </a:t>
            </a:r>
            <a:r>
              <a:rPr lang="en-US" altLang="zh-CN" sz="1800" dirty="0"/>
              <a:t>as no transaction ever waits</a:t>
            </a:r>
          </a:p>
          <a:p>
            <a:r>
              <a:rPr lang="en-US" altLang="zh-CN" sz="1800" dirty="0"/>
              <a:t>But the schedule may not be cascade-free, and may not even be recoverable</a:t>
            </a:r>
          </a:p>
          <a:p>
            <a:endParaRPr lang="zh-CN" altLang="en-US" sz="18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C7158B-D2A6-409A-9B82-9824FDFCB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1491630"/>
            <a:ext cx="1314450" cy="13716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2AC68F-F966-48B9-928D-9AA97F0A2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814" y="1491630"/>
            <a:ext cx="1314450" cy="13716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5FC75E8-FFEA-4E44-8E68-19354D9CE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120" y="1778571"/>
            <a:ext cx="1199367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</a:rPr>
              <a:t>transaction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</a:rPr>
              <a:t>with smaller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</a:rPr>
              <a:t>timestamp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07040620-2D97-4C6D-815A-301BFB2E2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967" y="1778571"/>
            <a:ext cx="1119217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</a:rPr>
              <a:t>transaction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</a:rPr>
              <a:t>with larger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</a:rPr>
              <a:t>timestamp 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5EFADFC1-490D-4C9B-BF28-2C50BDA35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114" y="2177430"/>
            <a:ext cx="217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93918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203598"/>
            <a:ext cx="8568952" cy="34450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dirty="0"/>
              <a:t>Concurrent Control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Lock-based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Graph-based Protocols</a:t>
            </a:r>
          </a:p>
          <a:p>
            <a:pPr>
              <a:spcBef>
                <a:spcPts val="12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Multiple Granularity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Deadlock Handling</a:t>
            </a:r>
          </a:p>
          <a:p>
            <a:pPr>
              <a:spcBef>
                <a:spcPts val="120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026256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E21AE-47A5-4020-B5A9-892E147A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Multiple Granularity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9FAAC-2BE3-4E63-8A22-57B3CB91B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Allow data items to be of various sizes and define a hierarchy of data granularities</a:t>
            </a:r>
          </a:p>
          <a:p>
            <a:r>
              <a:rPr lang="en-US" altLang="zh-CN" sz="2000" dirty="0"/>
              <a:t>Can be represented as a tree. When a transaction locks a node in the tree explicitly, it implicitly locks all the node's descendants in the same mode</a:t>
            </a:r>
          </a:p>
          <a:p>
            <a:r>
              <a:rPr lang="en-US" altLang="zh-CN" sz="2000" b="1" dirty="0"/>
              <a:t>Granularity of locking</a:t>
            </a:r>
          </a:p>
          <a:p>
            <a:pPr lvl="1"/>
            <a:r>
              <a:rPr lang="en-US" altLang="zh-CN" sz="1800" dirty="0"/>
              <a:t>fine granularity (lower in tree): high concurrency, high locking overhead</a:t>
            </a:r>
          </a:p>
          <a:p>
            <a:pPr lvl="1"/>
            <a:r>
              <a:rPr lang="en-US" altLang="zh-CN" sz="1800" dirty="0"/>
              <a:t>coarse granularity  (higher in tree): low locking overhead, low concurrency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034658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FDB6F-6961-4057-A94B-FC8C3484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Granularity Hierarchy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549CB-C5F8-4F76-9A1C-6F1481B5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The highest level in the example hierarchy is the entire database</a:t>
            </a:r>
          </a:p>
          <a:p>
            <a:r>
              <a:rPr lang="en-US" altLang="zh-CN" sz="2000" dirty="0"/>
              <a:t>The levels below are of type area, file and record in that order</a:t>
            </a:r>
          </a:p>
          <a:p>
            <a:endParaRPr lang="zh-CN" altLang="en-US" sz="2000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AE62C6DE-D6A9-43E7-8150-CA859BA99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39762"/>
            <a:ext cx="5745163" cy="263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293244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E719B-A386-44C6-AFD9-D26C8F75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Intention Lock (</a:t>
            </a:r>
            <a:r>
              <a:rPr lang="zh-CN" altLang="en-US" dirty="0"/>
              <a:t>意向锁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Modes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14322-4F5C-439E-9DF6-95DF372E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Three additional lock modes with multiple granularity</a:t>
            </a:r>
          </a:p>
          <a:p>
            <a:pPr lvl="1"/>
            <a:r>
              <a:rPr lang="en-US" altLang="zh-CN" sz="1800" dirty="0"/>
              <a:t>intention-shared (IS)</a:t>
            </a:r>
          </a:p>
          <a:p>
            <a:pPr lvl="2"/>
            <a:r>
              <a:rPr lang="en-US" altLang="zh-CN" sz="1600" dirty="0"/>
              <a:t>indicates explicit locking at a lower level of the tree but only with shared locks</a:t>
            </a:r>
          </a:p>
          <a:p>
            <a:pPr lvl="1"/>
            <a:r>
              <a:rPr lang="en-US" altLang="zh-CN" sz="1800" dirty="0"/>
              <a:t>intention-exclusive (IX)</a:t>
            </a:r>
          </a:p>
          <a:p>
            <a:pPr lvl="2"/>
            <a:r>
              <a:rPr lang="en-US" altLang="zh-CN" sz="1600" dirty="0"/>
              <a:t>indicates explicit locking at a lower level with exclusive or shared locks</a:t>
            </a:r>
          </a:p>
          <a:p>
            <a:pPr lvl="1"/>
            <a:r>
              <a:rPr lang="en-US" altLang="zh-CN" sz="1800" dirty="0"/>
              <a:t>shared and intention-exclusive (SIX)</a:t>
            </a:r>
          </a:p>
          <a:p>
            <a:pPr lvl="2"/>
            <a:r>
              <a:rPr lang="en-US" altLang="zh-CN" sz="1600" dirty="0"/>
              <a:t>the subtree rooted by that node is locked explicitly in shared mode and explicit locking is being done at a lower level with exclusive-mode locks</a:t>
            </a:r>
          </a:p>
          <a:p>
            <a:r>
              <a:rPr lang="en-US" altLang="zh-CN" sz="2000" dirty="0"/>
              <a:t>Intention locks allow a higher level node to be locked in S or X mode without having to check all descendent nodes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5851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C6BE3-2D41-485A-9A61-03653613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2800" dirty="0"/>
              <a:t>Compatibility Matrix with Intention Lock Modes</a:t>
            </a:r>
            <a:endParaRPr lang="zh-CN" altLang="en-US" sz="2800" dirty="0"/>
          </a:p>
        </p:txBody>
      </p:sp>
      <p:pic>
        <p:nvPicPr>
          <p:cNvPr id="52" name="Picture 102">
            <a:extLst>
              <a:ext uri="{FF2B5EF4-FFF2-40B4-BE49-F238E27FC236}">
                <a16:creationId xmlns:a16="http://schemas.microsoft.com/office/drawing/2014/main" id="{3392E917-A017-4F73-948A-29E3AE260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9622"/>
            <a:ext cx="5881687" cy="261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115534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A76A3-E2E7-476C-87D6-70AE5458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Multiple Granularity Locking Scheme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E60499-319D-43BA-83E6-4C137FAAD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/>
                  <a:t>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 can lock a node Q, using the following rules:</a:t>
                </a:r>
              </a:p>
              <a:p>
                <a:pPr lvl="1"/>
                <a:r>
                  <a:rPr lang="en-US" altLang="zh-CN" sz="1600" dirty="0"/>
                  <a:t>The lock compatibility matrix must be observed</a:t>
                </a:r>
              </a:p>
              <a:p>
                <a:pPr lvl="1"/>
                <a:r>
                  <a:rPr lang="en-US" altLang="zh-CN" sz="1600" dirty="0"/>
                  <a:t>The root of the tree must be locked first, and may be locked in any mode.</a:t>
                </a:r>
              </a:p>
              <a:p>
                <a:pPr lvl="1"/>
                <a:r>
                  <a:rPr lang="en-US" altLang="zh-CN" sz="1600" dirty="0"/>
                  <a:t>A node Q can be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in S or IS mode only if the parent of Q is currently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dirty="0"/>
                  <a:t>in either IX or IS  mode.</a:t>
                </a:r>
              </a:p>
              <a:p>
                <a:pPr lvl="1"/>
                <a:r>
                  <a:rPr lang="en-US" altLang="zh-CN" sz="1600" dirty="0"/>
                  <a:t>A node Q can be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in X, SIX, or IX mode only if the parent of Q is currently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in either IX or SIX mode.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can lock a node only if it has not previously unlocked any node (that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two-phase).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can unlock a node Q only if none of the children of Q are currently 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2000" dirty="0"/>
                  <a:t>Locks are acquired in root-to-leaf order, whereas they are released in leaf-to-root order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E60499-319D-43BA-83E6-4C137FAAD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3082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203598"/>
            <a:ext cx="8568952" cy="34450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dirty="0"/>
              <a:t>Concurrent Control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Lock-based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Graph-based Protocols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Multiple Granularity</a:t>
            </a:r>
          </a:p>
          <a:p>
            <a:pPr>
              <a:spcBef>
                <a:spcPts val="12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Deadlock Handling</a:t>
            </a:r>
          </a:p>
          <a:p>
            <a:pPr>
              <a:spcBef>
                <a:spcPts val="120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21976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5B938-197A-4660-9FF2-62B42C05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Handling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0C3D30-A9AE-443A-A916-59CF8BA33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Consider the following two transactions:</a:t>
            </a:r>
          </a:p>
          <a:p>
            <a:pPr marL="0" indent="0">
              <a:buNone/>
            </a:pPr>
            <a:r>
              <a:rPr lang="en-US" altLang="zh-CN" sz="1800" dirty="0"/>
              <a:t>	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: write(X)         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: write(Y)</a:t>
            </a:r>
          </a:p>
          <a:p>
            <a:pPr marL="0" indent="0">
              <a:buNone/>
            </a:pPr>
            <a:r>
              <a:rPr lang="en-US" altLang="zh-CN" sz="1800" dirty="0"/>
              <a:t>	      write(Y)              write(X)</a:t>
            </a:r>
          </a:p>
          <a:p>
            <a:r>
              <a:rPr lang="en-US" altLang="zh-CN" sz="1800" dirty="0"/>
              <a:t>Schedule with deadlock</a:t>
            </a:r>
          </a:p>
          <a:p>
            <a:endParaRPr lang="zh-CN" altLang="en-US" sz="180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7A511E5-DAC2-453E-94E6-79B83E5C3D13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571750"/>
            <a:ext cx="4561186" cy="2045494"/>
            <a:chOff x="960" y="2258"/>
            <a:chExt cx="3451" cy="1718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E3D897AE-594E-4E48-A9DF-D66CC18BD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36"/>
              <a:ext cx="3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F9836276-7310-4852-8DA6-443588ACE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296"/>
              <a:ext cx="0" cy="16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75B66632-D2BA-4BAD-B165-E5EB5CBB5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296"/>
              <a:ext cx="0" cy="1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BA07E844-C71D-4558-B17A-5A137A7A3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2258"/>
              <a:ext cx="3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–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1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E93F7C41-F4A7-4E57-A951-E85F79787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" y="2261"/>
              <a:ext cx="3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–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2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5F15DBF3-BAA4-4C3F-84E8-091DF8B05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2642"/>
              <a:ext cx="989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–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lock-X on </a:t>
              </a:r>
              <a:r>
                <a:rPr kumimoji="0" lang="en-US" altLang="zh-CN" sz="15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X</a:t>
              </a:r>
            </a:p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write (</a:t>
              </a:r>
              <a:r>
                <a:rPr kumimoji="0" lang="en-US" altLang="zh-CN" sz="15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) 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1CCF2185-4A61-471E-AEF9-7E7A4D434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81"/>
              <a:ext cx="1627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–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lock-X on </a:t>
              </a: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Y</a:t>
              </a:r>
            </a:p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write (</a:t>
              </a: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)  </a:t>
              </a:r>
            </a:p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wait for lock-X on </a:t>
              </a: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X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89BFD8AD-663F-405C-A7C5-B7752EA70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320"/>
              <a:ext cx="0" cy="16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EA6245BE-FA72-4BA2-A73E-5F983F0C3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569"/>
              <a:ext cx="16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–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wait for lock-X on </a:t>
              </a: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445187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A2B4D-1E2D-460C-9420-FCE96238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Handling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0D796-4BDF-4B50-9E9C-AD90DAA5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1800" dirty="0"/>
              <a:t>System is deadlocked if there is a set of transactions such that every transaction in the set is waiting for another transaction in the set</a:t>
            </a:r>
          </a:p>
          <a:p>
            <a:r>
              <a:rPr lang="en-US" altLang="zh-CN" sz="1800" dirty="0"/>
              <a:t>Deadlock prevention protocols ensure that the system will never enter into a deadlock state.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600" dirty="0"/>
              <a:t>Require that each transaction locks all its data items before it starts execution (pre-declaration)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600" dirty="0"/>
              <a:t>Impose partial ordering of all data items and require that a transaction can lock data items only in the order specified by the partial order (graph-based protocol)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1319529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8BF20-4CB8-4BB5-9F01-319CE649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More Deadlock Prevention Strategies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EA871-F1B1-4FD1-B144-316875734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1800" dirty="0"/>
              <a:t>Following schemes use transaction timestamps for the sake of deadlock prevention</a:t>
            </a:r>
          </a:p>
          <a:p>
            <a:pPr lvl="1"/>
            <a:r>
              <a:rPr lang="en-US" altLang="zh-CN" sz="1600" b="1" dirty="0"/>
              <a:t>wait-die scheme — non-preemptive(</a:t>
            </a:r>
            <a:r>
              <a:rPr lang="zh-CN" altLang="en-US" sz="1600" b="1" dirty="0"/>
              <a:t>非抢占</a:t>
            </a:r>
            <a:r>
              <a:rPr lang="en-US" altLang="zh-CN" sz="1600" b="1" dirty="0"/>
              <a:t>)</a:t>
            </a:r>
          </a:p>
          <a:p>
            <a:pPr lvl="2"/>
            <a:r>
              <a:rPr lang="en-US" altLang="zh-CN" sz="1600" dirty="0"/>
              <a:t>older transactions wait for younger ones to release data items. Younger transactions never wait for older ones and roll back instead</a:t>
            </a:r>
          </a:p>
          <a:p>
            <a:pPr lvl="2"/>
            <a:r>
              <a:rPr lang="en-US" altLang="zh-CN" sz="1600" dirty="0"/>
              <a:t>one transaction may die several times before acquiring the needed data item</a:t>
            </a:r>
          </a:p>
          <a:p>
            <a:pPr lvl="1"/>
            <a:r>
              <a:rPr lang="en-US" altLang="zh-CN" sz="1600" b="1" dirty="0"/>
              <a:t>wound-wait scheme — preemptive(</a:t>
            </a:r>
            <a:r>
              <a:rPr lang="zh-CN" altLang="en-US" sz="1600" b="1" dirty="0"/>
              <a:t>抢占</a:t>
            </a:r>
            <a:r>
              <a:rPr lang="en-US" altLang="zh-CN" sz="1600" b="1" dirty="0"/>
              <a:t>)</a:t>
            </a:r>
          </a:p>
          <a:p>
            <a:pPr lvl="2"/>
            <a:r>
              <a:rPr lang="en-US" altLang="zh-CN" sz="1600" dirty="0"/>
              <a:t>older transactions would force the rollback of younger transactions instead of waiting for them. Younger transactions may wait for older ones.</a:t>
            </a:r>
          </a:p>
          <a:p>
            <a:pPr lvl="2"/>
            <a:r>
              <a:rPr lang="en-US" altLang="zh-CN" sz="1600" dirty="0"/>
              <a:t>may be fewer rollbacks than wait-die scheme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3851585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BA177-03D4-4A5E-8790-C2B98B99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Prevention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64B5C-6AEC-48BF-8506-840F47E1B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Both in wait-die and in wound-wait schemes</a:t>
            </a:r>
          </a:p>
          <a:p>
            <a:pPr lvl="1"/>
            <a:r>
              <a:rPr lang="en-US" altLang="zh-CN" sz="1600" dirty="0"/>
              <a:t>a rolled back transactions is restarted with its original timestamp</a:t>
            </a:r>
          </a:p>
          <a:p>
            <a:pPr lvl="1"/>
            <a:r>
              <a:rPr lang="en-US" altLang="zh-CN" sz="1600" dirty="0"/>
              <a:t>older transactions thus have precedence over newer ones, and starvation is hence avoided</a:t>
            </a:r>
          </a:p>
          <a:p>
            <a:r>
              <a:rPr lang="en-US" altLang="zh-CN" sz="1800" b="1" dirty="0"/>
              <a:t>Timeout-based schemes (</a:t>
            </a:r>
            <a:r>
              <a:rPr lang="zh-CN" altLang="en-US" sz="1800" b="1" dirty="0"/>
              <a:t>基于超时的机制</a:t>
            </a:r>
            <a:r>
              <a:rPr lang="en-US" altLang="zh-CN" sz="1800" b="1" dirty="0"/>
              <a:t>)</a:t>
            </a:r>
            <a:endParaRPr lang="zh-CN" altLang="en-US" sz="1800" b="1" dirty="0"/>
          </a:p>
          <a:p>
            <a:pPr lvl="1"/>
            <a:r>
              <a:rPr lang="en-US" altLang="zh-CN" sz="1600" dirty="0"/>
              <a:t>a transaction waits for a lock for a specified amount of time. After that, the transaction is rolled back, thus deadlocks are not possible</a:t>
            </a:r>
          </a:p>
          <a:p>
            <a:pPr lvl="1"/>
            <a:r>
              <a:rPr lang="en-US" altLang="zh-CN" sz="1600" dirty="0"/>
              <a:t>simple to implement but starvation is possible. Also difficult to determine the good value of the timeout interval.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673280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BCB14-44A3-45A2-9DD2-594060A1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Detection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A9D938-965A-4A92-BE1B-6019A41658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352928" cy="3805070"/>
              </a:xfrm>
            </p:spPr>
            <p:txBody>
              <a:bodyPr/>
              <a:lstStyle/>
              <a:p>
                <a:r>
                  <a:rPr lang="en-US" altLang="zh-CN" sz="2000" dirty="0"/>
                  <a:t>Deadlocks can be described as a wait-for graph(</a:t>
                </a:r>
                <a:r>
                  <a:rPr lang="zh-CN" altLang="en-US" sz="2000" dirty="0"/>
                  <a:t>等待图</a:t>
                </a:r>
                <a:r>
                  <a:rPr lang="en-US" altLang="zh-CN" sz="2000" dirty="0"/>
                  <a:t>) G = (V,E)</a:t>
                </a:r>
              </a:p>
              <a:p>
                <a:pPr lvl="1"/>
                <a:r>
                  <a:rPr lang="en-US" altLang="zh-CN" sz="1600" dirty="0"/>
                  <a:t>V is a set of vertices (all the transactions in the system)</a:t>
                </a:r>
              </a:p>
              <a:p>
                <a:pPr lvl="1"/>
                <a:r>
                  <a:rPr lang="en-US" altLang="zh-CN" sz="1600" dirty="0"/>
                  <a:t>E is a set of edges and each edge is an ordered pair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 </a:t>
                </a:r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is in E, then there is a directed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, implying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waiting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to release a data item</a:t>
                </a:r>
              </a:p>
              <a:p>
                <a:r>
                  <a:rPr lang="en-US" altLang="zh-CN" sz="2000" dirty="0"/>
                  <a:t>The system is in a deadlock state </a:t>
                </a:r>
                <a:r>
                  <a:rPr lang="en-US" altLang="zh-CN" sz="2000" dirty="0" err="1"/>
                  <a:t>iff</a:t>
                </a:r>
                <a:r>
                  <a:rPr lang="en-US" altLang="zh-CN" sz="2000" dirty="0"/>
                  <a:t> the wait-for graph has a cycle.  Must invoke a deadlock-detection algorithm periodically to look for cycles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A9D938-965A-4A92-BE1B-6019A4165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352928" cy="3805070"/>
              </a:xfrm>
              <a:blipFill>
                <a:blip r:embed="rId2"/>
                <a:stretch>
                  <a:fillRect l="-65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50282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37C98-D600-480D-A287-A8207CF0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Detection (Cont.)</a:t>
            </a:r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BD6D042-7A94-4611-82BB-8C9B5B2AB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354" y="3700463"/>
            <a:ext cx="29722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>
                <a:solidFill>
                  <a:srgbClr val="000000"/>
                </a:solidFill>
                <a:ea typeface="宋体" panose="02010600030101010101" pitchFamily="2" charset="-122"/>
              </a:rPr>
              <a:t>Wait-for graph without a cycle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A1E996E-1AB6-43FD-A205-CDFD37329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716" y="3675460"/>
            <a:ext cx="268054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–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>
                <a:solidFill>
                  <a:srgbClr val="000000"/>
                </a:solidFill>
                <a:ea typeface="宋体" panose="02010600030101010101" pitchFamily="2" charset="-122"/>
              </a:rPr>
              <a:t>Wait-for graph with a cycle</a:t>
            </a: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9E6DE4A4-4D87-4010-AA01-AE17AA1E1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01069"/>
            <a:ext cx="2239962" cy="165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7883DCB0-CC17-40E2-9C93-AB7251DB7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265" y="1851670"/>
            <a:ext cx="2153443" cy="157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0646522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EC4DB-A8B8-4846-95BB-79364583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Deadlock Recovery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83C99-D087-4FB2-A408-A9DF932A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08912" cy="3805070"/>
          </a:xfrm>
        </p:spPr>
        <p:txBody>
          <a:bodyPr/>
          <a:lstStyle/>
          <a:p>
            <a:r>
              <a:rPr lang="en-US" altLang="zh-CN" sz="2000" b="1" dirty="0"/>
              <a:t>When deadlock is detected</a:t>
            </a:r>
          </a:p>
          <a:p>
            <a:pPr lvl="1"/>
            <a:r>
              <a:rPr lang="en-US" altLang="zh-CN" sz="1800" dirty="0"/>
              <a:t>Some transaction needs to roll back</a:t>
            </a:r>
          </a:p>
          <a:p>
            <a:pPr lvl="1"/>
            <a:r>
              <a:rPr lang="en-US" altLang="zh-CN" sz="1800" dirty="0"/>
              <a:t>Rollback -- determine how far to roll back the transaction</a:t>
            </a:r>
          </a:p>
          <a:p>
            <a:pPr lvl="2"/>
            <a:r>
              <a:rPr lang="en-US" altLang="zh-CN" sz="1600" b="1" dirty="0"/>
              <a:t>Total rollback</a:t>
            </a:r>
            <a:r>
              <a:rPr lang="en-US" altLang="zh-CN" sz="1600" dirty="0"/>
              <a:t>: abort the transaction and then restart it</a:t>
            </a:r>
          </a:p>
          <a:p>
            <a:pPr lvl="2"/>
            <a:r>
              <a:rPr lang="en-US" altLang="zh-CN" sz="1600" b="1" dirty="0"/>
              <a:t>Partial rollback</a:t>
            </a:r>
            <a:r>
              <a:rPr lang="en-US" altLang="zh-CN" sz="1600" dirty="0"/>
              <a:t>: more effective to roll back transaction only as far as necessary to break the deadlock</a:t>
            </a:r>
          </a:p>
          <a:p>
            <a:pPr lvl="1"/>
            <a:r>
              <a:rPr lang="en-US" altLang="zh-CN" sz="1800" dirty="0"/>
              <a:t>Starvation happens if the same transaction is always chosen as victim</a:t>
            </a:r>
          </a:p>
          <a:p>
            <a:pPr lvl="1"/>
            <a:r>
              <a:rPr lang="en-US" altLang="zh-CN" sz="1800" dirty="0"/>
              <a:t>Include the number of rollbacks in the cost factor to avoid starvation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0331012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Chapter 18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0777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38450</TotalTime>
  <Words>3303</Words>
  <Application>Microsoft Office PowerPoint</Application>
  <PresentationFormat>全屏显示(16:9)</PresentationFormat>
  <Paragraphs>462</Paragraphs>
  <Slides>47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黑体</vt:lpstr>
      <vt:lpstr>华文楷体</vt:lpstr>
      <vt:lpstr>华文行楷</vt:lpstr>
      <vt:lpstr>华文中宋</vt:lpstr>
      <vt:lpstr>宋体</vt:lpstr>
      <vt:lpstr>微软雅黑</vt:lpstr>
      <vt:lpstr>Arial</vt:lpstr>
      <vt:lpstr>Calibri</vt:lpstr>
      <vt:lpstr>Cambria Math</vt:lpstr>
      <vt:lpstr>Comic Sans MS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Outline</vt:lpstr>
      <vt:lpstr>Problems in Concurrent Control</vt:lpstr>
      <vt:lpstr>Lost Update (丢失修改)</vt:lpstr>
      <vt:lpstr>Non-repeatable Read</vt:lpstr>
      <vt:lpstr>Dirty Read</vt:lpstr>
      <vt:lpstr>Outline</vt:lpstr>
      <vt:lpstr>Lock-based Protocols</vt:lpstr>
      <vt:lpstr>Lock-based Protocols (Cont.)</vt:lpstr>
      <vt:lpstr>No Lost Update</vt:lpstr>
      <vt:lpstr>Repeatable Read</vt:lpstr>
      <vt:lpstr>No Dirty Read</vt:lpstr>
      <vt:lpstr>Lock-based Protocols</vt:lpstr>
      <vt:lpstr>Deadlock (死锁)</vt:lpstr>
      <vt:lpstr>Starvation (饥饿)</vt:lpstr>
      <vt:lpstr>Two-Phase Locking Protocol</vt:lpstr>
      <vt:lpstr>The Two-Phase Locking Protocol</vt:lpstr>
      <vt:lpstr>The Two-Phase Locking Protocol</vt:lpstr>
      <vt:lpstr>The Two-Phase Locking Protocol</vt:lpstr>
      <vt:lpstr>Lock Conversions (锁转换)</vt:lpstr>
      <vt:lpstr>Automatic Acquisition of Locks</vt:lpstr>
      <vt:lpstr>Automatic Acquisition of Locks (Cont.)</vt:lpstr>
      <vt:lpstr>Implementation of Locking</vt:lpstr>
      <vt:lpstr>Lock Table</vt:lpstr>
      <vt:lpstr>Outline</vt:lpstr>
      <vt:lpstr>Graph-based Protocols</vt:lpstr>
      <vt:lpstr>Tree Protocol</vt:lpstr>
      <vt:lpstr>Graph-based Protocols</vt:lpstr>
      <vt:lpstr>Timestamp-based Protocol</vt:lpstr>
      <vt:lpstr>Timestamp-based Protocols (Cont.)</vt:lpstr>
      <vt:lpstr>Timestamp-based Protocols (Cont.)</vt:lpstr>
      <vt:lpstr>Timestamp-based Protocols (Cont.)</vt:lpstr>
      <vt:lpstr>Outline</vt:lpstr>
      <vt:lpstr>Multiple Granularity</vt:lpstr>
      <vt:lpstr>Example of Granularity Hierarchy</vt:lpstr>
      <vt:lpstr>Intention Lock (意向锁) Modes</vt:lpstr>
      <vt:lpstr>Compatibility Matrix with Intention Lock Modes</vt:lpstr>
      <vt:lpstr>Multiple Granularity Locking Scheme</vt:lpstr>
      <vt:lpstr>Outline</vt:lpstr>
      <vt:lpstr>Deadlock Handling</vt:lpstr>
      <vt:lpstr>Deadlock Handling</vt:lpstr>
      <vt:lpstr>More Deadlock Prevention Strategies</vt:lpstr>
      <vt:lpstr>Deadlock Prevention (Cont.)</vt:lpstr>
      <vt:lpstr>Deadlock Detection</vt:lpstr>
      <vt:lpstr>Deadlock Detection (Cont.)</vt:lpstr>
      <vt:lpstr>Deadlock Recovery</vt:lpstr>
      <vt:lpstr>End of Chapter 18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2336</cp:revision>
  <dcterms:created xsi:type="dcterms:W3CDTF">2007-09-26T12:04:45Z</dcterms:created>
  <dcterms:modified xsi:type="dcterms:W3CDTF">2024-05-11T13:57:13Z</dcterms:modified>
</cp:coreProperties>
</file>