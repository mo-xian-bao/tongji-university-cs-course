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90"/>
  </p:notesMasterIdLst>
  <p:handoutMasterIdLst>
    <p:handoutMasterId r:id="rId91"/>
  </p:handoutMasterIdLst>
  <p:sldIdLst>
    <p:sldId xmlns:deepml="http://www.deepl.com/document-translation/deepml" id="2021" r:id="R7cf814599c164364" deepml:banner=""/>
    <p:sldId id="2020" r:id="rId2"/>
    <p:sldId id="1798" r:id="rId3"/>
    <p:sldId id="1923" r:id="rId4"/>
    <p:sldId id="1924" r:id="rId5"/>
    <p:sldId id="1926" r:id="rId6"/>
    <p:sldId id="2011" r:id="rId7"/>
    <p:sldId id="1927" r:id="rId8"/>
    <p:sldId id="1928" r:id="rId9"/>
    <p:sldId id="1929" r:id="rId10"/>
    <p:sldId id="1930" r:id="rId11"/>
    <p:sldId id="1931" r:id="rId12"/>
    <p:sldId id="1932" r:id="rId13"/>
    <p:sldId id="1933" r:id="rId14"/>
    <p:sldId id="1934" r:id="rId15"/>
    <p:sldId id="1935" r:id="rId16"/>
    <p:sldId id="2017" r:id="rId17"/>
    <p:sldId id="1937" r:id="rId18"/>
    <p:sldId id="1938" r:id="rId19"/>
    <p:sldId id="1939" r:id="rId20"/>
    <p:sldId id="1940" r:id="rId21"/>
    <p:sldId id="1941" r:id="rId22"/>
    <p:sldId id="2012" r:id="rId23"/>
    <p:sldId id="1942" r:id="rId24"/>
    <p:sldId id="2019" r:id="rId25"/>
    <p:sldId id="1943" r:id="rId26"/>
    <p:sldId id="1944" r:id="rId27"/>
    <p:sldId id="1945" r:id="rId28"/>
    <p:sldId id="1946" r:id="rId29"/>
    <p:sldId id="1947" r:id="rId30"/>
    <p:sldId id="1948" r:id="rId31"/>
    <p:sldId id="1949" r:id="rId32"/>
    <p:sldId id="1950" r:id="rId33"/>
    <p:sldId id="1951" r:id="rId34"/>
    <p:sldId id="2018" r:id="rId35"/>
    <p:sldId id="1952" r:id="rId36"/>
    <p:sldId id="1953" r:id="rId37"/>
    <p:sldId id="1954" r:id="rId38"/>
    <p:sldId id="1955" r:id="rId39"/>
    <p:sldId id="1956" r:id="rId40"/>
    <p:sldId id="1957" r:id="rId41"/>
    <p:sldId id="1958" r:id="rId42"/>
    <p:sldId id="1959" r:id="rId43"/>
    <p:sldId id="1960" r:id="rId44"/>
    <p:sldId id="1961" r:id="rId45"/>
    <p:sldId id="1962" r:id="rId46"/>
    <p:sldId id="1963" r:id="rId47"/>
    <p:sldId id="1964" r:id="rId48"/>
    <p:sldId id="1965" r:id="rId49"/>
    <p:sldId id="1966" r:id="rId50"/>
    <p:sldId id="2013" r:id="rId51"/>
    <p:sldId id="1967" r:id="rId52"/>
    <p:sldId id="1968" r:id="rId53"/>
    <p:sldId id="1969" r:id="rId54"/>
    <p:sldId id="1970" r:id="rId55"/>
    <p:sldId id="1971" r:id="rId56"/>
    <p:sldId id="1972" r:id="rId57"/>
    <p:sldId id="1973" r:id="rId58"/>
    <p:sldId id="1974" r:id="rId59"/>
    <p:sldId id="1975" r:id="rId60"/>
    <p:sldId id="1976" r:id="rId61"/>
    <p:sldId id="1977" r:id="rId62"/>
    <p:sldId id="1978" r:id="rId63"/>
    <p:sldId id="1979" r:id="rId64"/>
    <p:sldId id="1980" r:id="rId65"/>
    <p:sldId id="1981" r:id="rId66"/>
    <p:sldId id="1982" r:id="rId67"/>
    <p:sldId id="1983" r:id="rId68"/>
    <p:sldId id="1984" r:id="rId69"/>
    <p:sldId id="1985" r:id="rId70"/>
    <p:sldId id="1986" r:id="rId71"/>
    <p:sldId id="2014" r:id="rId72"/>
    <p:sldId id="1987" r:id="rId73"/>
    <p:sldId id="2015" r:id="rId74"/>
    <p:sldId id="1988" r:id="rId75"/>
    <p:sldId id="2016" r:id="rId76"/>
    <p:sldId id="1989" r:id="rId77"/>
    <p:sldId id="1990" r:id="rId78"/>
    <p:sldId id="1991" r:id="rId79"/>
    <p:sldId id="1992" r:id="rId80"/>
    <p:sldId id="1993" r:id="rId81"/>
    <p:sldId id="1994" r:id="rId82"/>
    <p:sldId id="1995" r:id="rId83"/>
    <p:sldId id="1996" r:id="rId84"/>
    <p:sldId id="1997" r:id="rId85"/>
    <p:sldId id="1998" r:id="rId86"/>
    <p:sldId id="2002" r:id="rId87"/>
    <p:sldId id="2000" r:id="rId88"/>
    <p:sldId id="1910" r:id="rId89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modifyVerifier cryptProviderType="rsaAES" cryptAlgorithmClass="hash" cryptAlgorithmType="typeAny" cryptAlgorithmSid="14" spinCount="100000" saltData="rLc289m98e2nu1rZwxn8RQ==" hashData="jl31I+FZfeL3Da0RWjDsWJ2KAcjcNQYNNNRC5PJm8VIGc75Z01xRsS7AMK0y6Q/BGsMylPB72fPI5Y8B5FFi7w=="/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020"/>
            <p14:sldId id="1798"/>
            <p14:sldId id="1923"/>
            <p14:sldId id="1924"/>
            <p14:sldId id="1926"/>
            <p14:sldId id="2011"/>
            <p14:sldId id="1927"/>
            <p14:sldId id="1928"/>
            <p14:sldId id="1929"/>
            <p14:sldId id="1930"/>
            <p14:sldId id="1931"/>
            <p14:sldId id="1932"/>
            <p14:sldId id="1933"/>
            <p14:sldId id="1934"/>
            <p14:sldId id="1935"/>
            <p14:sldId id="2017"/>
            <p14:sldId id="1937"/>
            <p14:sldId id="1938"/>
            <p14:sldId id="1939"/>
            <p14:sldId id="1940"/>
            <p14:sldId id="1941"/>
            <p14:sldId id="2012"/>
            <p14:sldId id="1942"/>
            <p14:sldId id="2019"/>
            <p14:sldId id="1943"/>
            <p14:sldId id="1944"/>
            <p14:sldId id="1945"/>
            <p14:sldId id="1946"/>
            <p14:sldId id="1947"/>
            <p14:sldId id="1948"/>
            <p14:sldId id="1949"/>
            <p14:sldId id="1950"/>
            <p14:sldId id="1951"/>
            <p14:sldId id="2018"/>
            <p14:sldId id="1952"/>
            <p14:sldId id="1953"/>
            <p14:sldId id="1954"/>
            <p14:sldId id="1955"/>
            <p14:sldId id="1956"/>
            <p14:sldId id="1957"/>
            <p14:sldId id="1958"/>
            <p14:sldId id="1959"/>
            <p14:sldId id="1960"/>
            <p14:sldId id="1961"/>
            <p14:sldId id="1962"/>
            <p14:sldId id="1963"/>
            <p14:sldId id="1964"/>
            <p14:sldId id="1965"/>
            <p14:sldId id="1966"/>
            <p14:sldId id="2013"/>
            <p14:sldId id="1967"/>
            <p14:sldId id="1968"/>
            <p14:sldId id="1969"/>
            <p14:sldId id="1970"/>
            <p14:sldId id="1971"/>
            <p14:sldId id="1972"/>
            <p14:sldId id="1973"/>
            <p14:sldId id="1974"/>
            <p14:sldId id="1975"/>
            <p14:sldId id="1976"/>
            <p14:sldId id="1977"/>
            <p14:sldId id="1978"/>
            <p14:sldId id="1979"/>
            <p14:sldId id="1980"/>
            <p14:sldId id="1981"/>
            <p14:sldId id="1982"/>
            <p14:sldId id="1983"/>
            <p14:sldId id="1984"/>
            <p14:sldId id="1985"/>
            <p14:sldId id="1986"/>
            <p14:sldId id="2014"/>
            <p14:sldId id="1987"/>
            <p14:sldId id="2015"/>
            <p14:sldId id="1988"/>
            <p14:sldId id="2016"/>
            <p14:sldId id="1989"/>
            <p14:sldId id="1990"/>
            <p14:sldId id="1991"/>
            <p14:sldId id="1992"/>
            <p14:sldId id="1993"/>
            <p14:sldId id="1994"/>
            <p14:sldId id="1995"/>
            <p14:sldId id="1996"/>
            <p14:sldId id="1997"/>
            <p14:sldId id="1998"/>
            <p14:sldId id="2002"/>
            <p14:sldId id="2000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77994" autoAdjust="0"/>
  </p:normalViewPr>
  <p:slideViewPr>
    <p:cSldViewPr>
      <p:cViewPr varScale="1">
        <p:scale>
          <a:sx n="119" d="100"/>
          <a:sy n="119" d="100"/>
        </p:scale>
        <p:origin x="1380" y="78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25.xml" Id="rId26" /><Relationship Type="http://schemas.openxmlformats.org/officeDocument/2006/relationships/slide" Target="slides/slide20.xml" Id="rId21" /><Relationship Type="http://schemas.openxmlformats.org/officeDocument/2006/relationships/slide" Target="slides/slide41.xml" Id="rId42" /><Relationship Type="http://schemas.openxmlformats.org/officeDocument/2006/relationships/slide" Target="slides/slide46.xml" Id="rId47" /><Relationship Type="http://schemas.openxmlformats.org/officeDocument/2006/relationships/slide" Target="slides/slide62.xml" Id="rId63" /><Relationship Type="http://schemas.openxmlformats.org/officeDocument/2006/relationships/slide" Target="slides/slide67.xml" Id="rId68" /><Relationship Type="http://schemas.openxmlformats.org/officeDocument/2006/relationships/slide" Target="slides/slide83.xml" Id="rId84" /><Relationship Type="http://schemas.openxmlformats.org/officeDocument/2006/relationships/slide" Target="slides/slide88.xml" Id="rId89" /><Relationship Type="http://schemas.openxmlformats.org/officeDocument/2006/relationships/slide" Target="slides/slide15.xml" Id="rId16" /><Relationship Type="http://schemas.openxmlformats.org/officeDocument/2006/relationships/slide" Target="slides/slide10.xml" Id="rId11" /><Relationship Type="http://schemas.openxmlformats.org/officeDocument/2006/relationships/slide" Target="slides/slide31.xml" Id="rId32" /><Relationship Type="http://schemas.openxmlformats.org/officeDocument/2006/relationships/slide" Target="slides/slide36.xml" Id="rId37" /><Relationship Type="http://schemas.openxmlformats.org/officeDocument/2006/relationships/slide" Target="slides/slide52.xml" Id="rId53" /><Relationship Type="http://schemas.openxmlformats.org/officeDocument/2006/relationships/slide" Target="slides/slide57.xml" Id="rId58" /><Relationship Type="http://schemas.openxmlformats.org/officeDocument/2006/relationships/slide" Target="slides/slide73.xml" Id="rId74" /><Relationship Type="http://schemas.openxmlformats.org/officeDocument/2006/relationships/slide" Target="slides/slide78.xml" Id="rId79" /><Relationship Type="http://schemas.openxmlformats.org/officeDocument/2006/relationships/slide" Target="slides/slide4.xml" Id="rId5" /><Relationship Type="http://schemas.openxmlformats.org/officeDocument/2006/relationships/notesMaster" Target="notesMasters/notesMaster1.xml" Id="rId90" /><Relationship Type="http://schemas.openxmlformats.org/officeDocument/2006/relationships/tableStyles" Target="tableStyles.xml" Id="rId95" /><Relationship Type="http://schemas.openxmlformats.org/officeDocument/2006/relationships/slide" Target="slides/slide21.xml" Id="rId22" /><Relationship Type="http://schemas.openxmlformats.org/officeDocument/2006/relationships/slide" Target="slides/slide26.xml" Id="rId27" /><Relationship Type="http://schemas.openxmlformats.org/officeDocument/2006/relationships/slide" Target="slides/slide42.xml" Id="rId43" /><Relationship Type="http://schemas.openxmlformats.org/officeDocument/2006/relationships/slide" Target="slides/slide47.xml" Id="rId48" /><Relationship Type="http://schemas.openxmlformats.org/officeDocument/2006/relationships/slide" Target="slides/slide63.xml" Id="rId64" /><Relationship Type="http://schemas.openxmlformats.org/officeDocument/2006/relationships/slide" Target="slides/slide68.xml" Id="rId69" /><Relationship Type="http://schemas.openxmlformats.org/officeDocument/2006/relationships/slide" Target="slides/slide7.xml" Id="rId8" /><Relationship Type="http://schemas.openxmlformats.org/officeDocument/2006/relationships/slide" Target="slides/slide50.xml" Id="rId51" /><Relationship Type="http://schemas.openxmlformats.org/officeDocument/2006/relationships/slide" Target="slides/slide71.xml" Id="rId72" /><Relationship Type="http://schemas.openxmlformats.org/officeDocument/2006/relationships/slide" Target="slides/slide79.xml" Id="rId80" /><Relationship Type="http://schemas.openxmlformats.org/officeDocument/2006/relationships/slide" Target="slides/slide84.xml" Id="rId85" /><Relationship Type="http://schemas.openxmlformats.org/officeDocument/2006/relationships/viewProps" Target="viewProps.xml" Id="rId93" /><Relationship Type="http://schemas.openxmlformats.org/officeDocument/2006/relationships/slide" Target="slides/slide2.xml" Id="rId3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24.xml" Id="rId25" /><Relationship Type="http://schemas.openxmlformats.org/officeDocument/2006/relationships/slide" Target="slides/slide32.xml" Id="rId33" /><Relationship Type="http://schemas.openxmlformats.org/officeDocument/2006/relationships/slide" Target="slides/slide37.xml" Id="rId38" /><Relationship Type="http://schemas.openxmlformats.org/officeDocument/2006/relationships/slide" Target="slides/slide45.xml" Id="rId46" /><Relationship Type="http://schemas.openxmlformats.org/officeDocument/2006/relationships/slide" Target="slides/slide58.xml" Id="rId59" /><Relationship Type="http://schemas.openxmlformats.org/officeDocument/2006/relationships/slide" Target="slides/slide66.xml" Id="rId67" /><Relationship Type="http://schemas.openxmlformats.org/officeDocument/2006/relationships/slide" Target="slides/slide19.xml" Id="rId20" /><Relationship Type="http://schemas.openxmlformats.org/officeDocument/2006/relationships/slide" Target="slides/slide40.xml" Id="rId41" /><Relationship Type="http://schemas.openxmlformats.org/officeDocument/2006/relationships/slide" Target="slides/slide53.xml" Id="rId54" /><Relationship Type="http://schemas.openxmlformats.org/officeDocument/2006/relationships/slide" Target="slides/slide61.xml" Id="rId62" /><Relationship Type="http://schemas.openxmlformats.org/officeDocument/2006/relationships/slide" Target="slides/slide69.xml" Id="rId70" /><Relationship Type="http://schemas.openxmlformats.org/officeDocument/2006/relationships/slide" Target="slides/slide74.xml" Id="rId75" /><Relationship Type="http://schemas.openxmlformats.org/officeDocument/2006/relationships/slide" Target="slides/slide82.xml" Id="rId83" /><Relationship Type="http://schemas.openxmlformats.org/officeDocument/2006/relationships/slide" Target="slides/slide87.xml" Id="rId88" /><Relationship Type="http://schemas.openxmlformats.org/officeDocument/2006/relationships/handoutMaster" Target="handoutMasters/handoutMaster1.xml" Id="rId91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slide" Target="slides/slide27.xml" Id="rId28" /><Relationship Type="http://schemas.openxmlformats.org/officeDocument/2006/relationships/slide" Target="slides/slide35.xml" Id="rId36" /><Relationship Type="http://schemas.openxmlformats.org/officeDocument/2006/relationships/slide" Target="slides/slide48.xml" Id="rId49" /><Relationship Type="http://schemas.openxmlformats.org/officeDocument/2006/relationships/slide" Target="slides/slide56.xml" Id="rId57" /><Relationship Type="http://schemas.openxmlformats.org/officeDocument/2006/relationships/slide" Target="slides/slide9.xml" Id="rId10" /><Relationship Type="http://schemas.openxmlformats.org/officeDocument/2006/relationships/slide" Target="slides/slide30.xml" Id="rId31" /><Relationship Type="http://schemas.openxmlformats.org/officeDocument/2006/relationships/slide" Target="slides/slide43.xml" Id="rId44" /><Relationship Type="http://schemas.openxmlformats.org/officeDocument/2006/relationships/slide" Target="slides/slide51.xml" Id="rId52" /><Relationship Type="http://schemas.openxmlformats.org/officeDocument/2006/relationships/slide" Target="slides/slide59.xml" Id="rId60" /><Relationship Type="http://schemas.openxmlformats.org/officeDocument/2006/relationships/slide" Target="slides/slide64.xml" Id="rId65" /><Relationship Type="http://schemas.openxmlformats.org/officeDocument/2006/relationships/slide" Target="slides/slide72.xml" Id="rId73" /><Relationship Type="http://schemas.openxmlformats.org/officeDocument/2006/relationships/slide" Target="slides/slide77.xml" Id="rId78" /><Relationship Type="http://schemas.openxmlformats.org/officeDocument/2006/relationships/slide" Target="slides/slide80.xml" Id="rId81" /><Relationship Type="http://schemas.openxmlformats.org/officeDocument/2006/relationships/slide" Target="slides/slide85.xml" Id="rId86" /><Relationship Type="http://schemas.openxmlformats.org/officeDocument/2006/relationships/theme" Target="theme/theme1.xml" Id="rId94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slide" Target="slides/slide38.xml" Id="rId39" /><Relationship Type="http://schemas.openxmlformats.org/officeDocument/2006/relationships/slide" Target="slides/slide33.xml" Id="rId34" /><Relationship Type="http://schemas.openxmlformats.org/officeDocument/2006/relationships/slide" Target="slides/slide49.xml" Id="rId50" /><Relationship Type="http://schemas.openxmlformats.org/officeDocument/2006/relationships/slide" Target="slides/slide54.xml" Id="rId55" /><Relationship Type="http://schemas.openxmlformats.org/officeDocument/2006/relationships/slide" Target="slides/slide75.xml" Id="rId76" /><Relationship Type="http://schemas.openxmlformats.org/officeDocument/2006/relationships/slide" Target="slides/slide6.xml" Id="rId7" /><Relationship Type="http://schemas.openxmlformats.org/officeDocument/2006/relationships/slide" Target="slides/slide70.xml" Id="rId71" /><Relationship Type="http://schemas.openxmlformats.org/officeDocument/2006/relationships/presProps" Target="presProps.xml" Id="rId92" /><Relationship Type="http://schemas.openxmlformats.org/officeDocument/2006/relationships/slide" Target="slides/slide1.xml" Id="rId2" /><Relationship Type="http://schemas.openxmlformats.org/officeDocument/2006/relationships/slide" Target="slides/slide28.xml" Id="rId29" /><Relationship Type="http://schemas.openxmlformats.org/officeDocument/2006/relationships/slide" Target="slides/slide23.xml" Id="rId24" /><Relationship Type="http://schemas.openxmlformats.org/officeDocument/2006/relationships/slide" Target="slides/slide39.xml" Id="rId40" /><Relationship Type="http://schemas.openxmlformats.org/officeDocument/2006/relationships/slide" Target="slides/slide44.xml" Id="rId45" /><Relationship Type="http://schemas.openxmlformats.org/officeDocument/2006/relationships/slide" Target="slides/slide65.xml" Id="rId66" /><Relationship Type="http://schemas.openxmlformats.org/officeDocument/2006/relationships/slide" Target="slides/slide86.xml" Id="rId87" /><Relationship Type="http://schemas.openxmlformats.org/officeDocument/2006/relationships/slide" Target="slides/slide60.xml" Id="rId61" /><Relationship Type="http://schemas.openxmlformats.org/officeDocument/2006/relationships/slide" Target="slides/slide81.xml" Id="rId82" /><Relationship Type="http://schemas.openxmlformats.org/officeDocument/2006/relationships/slide" Target="slides/slide18.xml" Id="rId19" /><Relationship Type="http://schemas.openxmlformats.org/officeDocument/2006/relationships/slide" Target="slides/slide13.xml" Id="rId14" /><Relationship Type="http://schemas.openxmlformats.org/officeDocument/2006/relationships/slide" Target="slides/slide29.xml" Id="rId30" /><Relationship Type="http://schemas.openxmlformats.org/officeDocument/2006/relationships/slide" Target="slides/slide34.xml" Id="rId35" /><Relationship Type="http://schemas.openxmlformats.org/officeDocument/2006/relationships/slide" Target="slides/slide55.xml" Id="rId56" /><Relationship Type="http://schemas.openxmlformats.org/officeDocument/2006/relationships/slide" Target="slides/slide76.xml" Id="rId77" /><Relationship Type="http://schemas.openxmlformats.org/officeDocument/2006/relationships/slide" Target="/ppt/slides/slide89.xml" Id="R7cf814599c164364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技术信息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联系我们</a:t>
            </a:r>
          </a:p>
          <a:p>
            <a:pPr lvl="4"/>
            <a:r>
              <a:rPr lang="fi-FI" noProof="0"/>
              <a:t>眩晕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t>'#'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41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737630950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有序索引</a:t>
            </a:r>
            <a:r>
              <a:rPr lang="zh-CN" altLang="en-US" dirty="0"/>
              <a:t>：顺序索引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72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620578100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84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376522168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Existence bitmap </a:t>
            </a:r>
            <a:r>
              <a:rPr lang="zh-CN" altLang="en-US" sz="1200" dirty="0"/>
              <a:t>：存在位图，如记录存在相应位取值为1，反之为0。如记录存在但A属性取值为Null，则需要用</a:t>
            </a:r>
            <a:r>
              <a:rPr lang="en-US" altLang="zh-CN" sz="1200" dirty="0"/>
              <a:t>NOTmap-A-Null来补全位图检索语句：not</a:t>
            </a:r>
            <a:r>
              <a:rPr lang="en-US" altLang="zh-CN" sz="1200" dirty="0"/>
              <a:t>(A=v)。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85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111165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spcBef>
                <a:spcPts val="600"/>
              </a:spcBef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spcBef>
                <a:spcPts val="600"/>
              </a:spcBef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spcBef>
                <a:spcPts val="600"/>
              </a:spcBef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spcBef>
                <a:spcPts val="600"/>
              </a:spcBef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2025/4/25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946766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'#'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  <p:sldLayoutId id="2147483733" r:id="rId3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0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36d8d7fb4ce3" /><Relationship Type="http://schemas.openxmlformats.org/officeDocument/2006/relationships/hyperlink" Target="https://www.deepl.com/pro?cta=edit-document" TargetMode="External" Id="R1ed78036b6ed45aa" /><Relationship Type="http://schemas.openxmlformats.org/officeDocument/2006/relationships/image" Target="/ppt/media/image57.png" Id="R6b4e2fb7c52d48b1" /></Relationships>
</file>

<file path=ppt/slides/slide1.xml><?xml version="1.0" encoding="utf-8"?>
<p:sld xmlns:a16="http://schemas.microsoft.com/office/drawing/2014/main" xmlns:a14="http://schemas.microsoft.com/office/drawing/2010/main" xmlns:asvg="http://schemas.microsoft.com/office/drawing/2016/SVG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索引和散列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 14 章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张轶超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电子邮件： 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计算机科学与技术系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同济大学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实验室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先进数据与智能机器系统实验室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59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>
      <p:transition/>
    </mc:Fallback>
  </mc:AlternateContent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51663-1634-436A-8DD3-D8FDF1A1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索引块与数据块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1D780-6EE6-4F1C-BD75-5407DF0B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1800" b="1" dirty="0"/>
              <a:t>索引可提高检索效率，其结构</a:t>
            </a:r>
            <a:r>
              <a:rPr lang="en-US" altLang="zh-CN" sz="1800" b="1" dirty="0"/>
              <a:t>(二叉树、B</a:t>
            </a:r>
            <a:r>
              <a:rPr lang="en-US" altLang="zh-CN" sz="1800" b="1" baseline="30000" dirty="0"/>
              <a:t>+</a:t>
            </a:r>
            <a:r>
              <a:rPr lang="zh-CN" altLang="en-US" sz="1800" b="1" dirty="0"/>
              <a:t> 树等</a:t>
            </a:r>
            <a:r>
              <a:rPr lang="en-US" altLang="zh-CN" sz="1800" b="1" dirty="0"/>
              <a:t>)占用空间小，访问速度快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/>
              <a:t>如果表中一条记录在</a:t>
            </a:r>
            <a:r>
              <a:rPr lang="en-US" altLang="zh-CN" sz="1600" dirty="0"/>
              <a:t>磁盘上占用 </a:t>
            </a:r>
            <a:r>
              <a:rPr lang="en-US" altLang="zh-CN" sz="1600" dirty="0"/>
              <a:t>1000字节，对其中10字节的一个字段建立索引，那么该记录对应的索引项的大小只有10字节。如SQL </a:t>
            </a:r>
            <a:r>
              <a:rPr lang="en-US" altLang="zh-CN" sz="1600" dirty="0"/>
              <a:t>Server的最小空间分配单元是</a:t>
            </a:r>
            <a:r>
              <a:rPr lang="zh-CN" altLang="en-US" sz="1600" dirty="0"/>
              <a:t> "页Page</a:t>
            </a:r>
            <a:r>
              <a:rPr lang="en-US" altLang="zh-CN" sz="1600" dirty="0"/>
              <a:t>"，一个页在磁盘上占用8K空间，可以存储上述记录8条，但可以存储索引800条。</a:t>
            </a:r>
          </a:p>
          <a:p>
            <a:pPr lvl="1">
              <a:spcBef>
                <a:spcPts val="1200"/>
              </a:spcBef>
            </a:pPr>
          </a:p>
          <a:p>
            <a:pPr>
              <a:spcBef>
                <a:spcPts val="12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49763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4B8A8-262D-4481-BC4D-406EA9EB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基本概念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A0A7C-F0C5-4367-84F2-C48856B2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索引机制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加快</a:t>
            </a:r>
            <a:r>
              <a:rPr lang="en-US" altLang="zh-CN" sz="1800" dirty="0"/>
              <a:t>所需数据的访问速度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索引文件通常比原始文件小得多 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搜索</a:t>
            </a:r>
            <a:r>
              <a:rPr lang="en-US" altLang="zh-CN" sz="2000" b="1" dirty="0">
                <a:solidFill>
                  <a:srgbClr val="C00000"/>
                </a:solidFill>
              </a:rPr>
              <a:t>关键字</a:t>
            </a:r>
            <a:r>
              <a:rPr lang="en-US" altLang="zh-CN" sz="2000" b="1" dirty="0"/>
              <a:t>(搜索码/关键字</a:t>
            </a:r>
            <a:r>
              <a:rPr lang="en-US" altLang="zh-CN" sz="2000" b="1" dirty="0"/>
              <a:t>)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用于查找文件/表中记录的属性集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索引文件由</a:t>
            </a:r>
            <a:r>
              <a:rPr lang="en-US" altLang="zh-CN" sz="1800" dirty="0"/>
              <a:t>格式为（</a:t>
            </a:r>
            <a:r>
              <a:rPr lang="en-US" altLang="zh-CN" sz="1800" dirty="0">
                <a:solidFill>
                  <a:srgbClr val="C00000"/>
                </a:solidFill>
              </a:rPr>
              <a:t>检索键</a:t>
            </a:r>
            <a:r>
              <a:rPr lang="en-US" altLang="zh-CN" sz="1800" dirty="0"/>
              <a:t>，</a:t>
            </a:r>
            <a:r>
              <a:rPr lang="en-US" altLang="zh-CN" sz="1800" dirty="0">
                <a:solidFill>
                  <a:srgbClr val="C00000"/>
                </a:solidFill>
              </a:rPr>
              <a:t>指针</a:t>
            </a:r>
            <a:r>
              <a:rPr lang="en-US" altLang="zh-CN" sz="1800" dirty="0"/>
              <a:t>）的</a:t>
            </a:r>
            <a:r>
              <a:rPr lang="en-US" altLang="zh-CN" sz="1800" dirty="0"/>
              <a:t>记录（称为</a:t>
            </a:r>
            <a:r>
              <a:rPr lang="en-US" altLang="zh-CN" sz="1800" dirty="0">
                <a:solidFill>
                  <a:srgbClr val="C00000"/>
                </a:solidFill>
              </a:rPr>
              <a:t>索引项</a:t>
            </a:r>
            <a:r>
              <a:rPr lang="en-US" altLang="zh-CN" sz="1800" dirty="0"/>
              <a:t>，</a:t>
            </a:r>
            <a:r>
              <a:rPr lang="zh-CN" altLang="en-US" sz="1800" dirty="0">
                <a:solidFill>
                  <a:srgbClr val="C00000"/>
                </a:solidFill>
              </a:rPr>
              <a:t>索引项</a:t>
            </a:r>
            <a:r>
              <a:rPr lang="en-US" altLang="zh-CN" sz="1800" dirty="0"/>
              <a:t>）</a:t>
            </a:r>
            <a:r>
              <a:rPr lang="en-US" altLang="zh-CN" sz="1800" dirty="0"/>
              <a:t>组成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两种指数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有序索引（ordered index</a:t>
            </a:r>
            <a:r>
              <a:rPr lang="en-US" altLang="zh-CN" sz="1800" b="1" dirty="0">
                <a:solidFill>
                  <a:srgbClr val="C00000"/>
                </a:solidFill>
              </a:rPr>
              <a:t>）：</a:t>
            </a:r>
            <a:r>
              <a:rPr lang="en-US" altLang="zh-CN" sz="1800" dirty="0"/>
              <a:t>搜索键按排序顺序存储</a:t>
            </a:r>
            <a:endParaRPr lang="zh-CN" altLang="en-US" sz="1800" dirty="0"/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散列索引（hash index</a:t>
            </a:r>
            <a:r>
              <a:rPr lang="en-US" altLang="zh-CN" sz="1800" b="1" dirty="0">
                <a:solidFill>
                  <a:srgbClr val="C00000"/>
                </a:solidFill>
              </a:rPr>
              <a:t>）：</a:t>
            </a:r>
            <a:r>
              <a:rPr lang="en-US" altLang="zh-CN" sz="1800" dirty="0"/>
              <a:t>使用 "散列函数 "将搜索键均匀分布到各个 "桶 "中</a:t>
            </a:r>
            <a:endParaRPr lang="zh-CN" altLang="en-US" sz="1800" dirty="0"/>
          </a:p>
          <a:p>
            <a:pPr>
              <a:spcBef>
                <a:spcPts val="600"/>
              </a:spcBef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0762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5BDFA-0681-401D-B1EF-9047F550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指数评估指标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C5BDB-4554-43E4-A6C6-0065BB3B6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数据访问类型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能支持的访问类型，如找到具有特定属性</a:t>
            </a:r>
            <a:r>
              <a:rPr lang="en-US" altLang="zh-CN" sz="1600" dirty="0"/>
              <a:t>值的</a:t>
            </a:r>
            <a:r>
              <a:rPr lang="en-US" altLang="zh-CN" sz="1600" dirty="0"/>
              <a:t>所有记录</a:t>
            </a:r>
            <a:r>
              <a:rPr lang="en-US" altLang="zh-CN" sz="1600" dirty="0"/>
              <a:t>（</a:t>
            </a:r>
            <a:r>
              <a:rPr lang="en-US" altLang="zh-CN" sz="1600" dirty="0"/>
              <a:t>Equal Query 等值查询</a:t>
            </a:r>
            <a:r>
              <a:rPr lang="en-US" altLang="zh-CN" sz="1600" dirty="0"/>
              <a:t>）</a:t>
            </a:r>
            <a:r>
              <a:rPr lang="en-US" altLang="zh-CN" sz="1600" dirty="0"/>
              <a:t>、找到其属性值在某个特定范围内的所有记录</a:t>
            </a:r>
            <a:r>
              <a:rPr lang="en-US" altLang="zh-CN" sz="1600" dirty="0"/>
              <a:t>（Range Query 范围查询）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数据访问时间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在查询中使用索引找到一个特定数据所需时间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数据插入时间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插入一个新数据项</a:t>
            </a:r>
            <a:r>
              <a:rPr lang="zh-CN" altLang="en-US" sz="1600" dirty="0"/>
              <a:t>时间，包括</a:t>
            </a:r>
            <a:r>
              <a:rPr lang="en-US" altLang="zh-CN" sz="1600" dirty="0"/>
              <a:t>: </a:t>
            </a:r>
            <a:r>
              <a:rPr lang="zh-CN" altLang="en-US" sz="1600" dirty="0"/>
              <a:t>找到插入位置时间 </a:t>
            </a:r>
            <a:r>
              <a:rPr lang="en-US" altLang="zh-CN" sz="1600" dirty="0"/>
              <a:t>+ </a:t>
            </a:r>
            <a:r>
              <a:rPr lang="zh-CN" altLang="en-US" sz="1600" dirty="0"/>
              <a:t>更新结构索引时间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数据删除时间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删除一个数据项</a:t>
            </a:r>
            <a:r>
              <a:rPr lang="zh-CN" altLang="en-US" sz="1600" dirty="0"/>
              <a:t>时间，包括</a:t>
            </a:r>
            <a:r>
              <a:rPr lang="en-US" altLang="zh-CN" sz="1600" dirty="0"/>
              <a:t>: </a:t>
            </a:r>
            <a:r>
              <a:rPr lang="zh-CN" altLang="en-US" sz="1600" dirty="0"/>
              <a:t>找到待删除项时间 </a:t>
            </a:r>
            <a:r>
              <a:rPr lang="en-US" altLang="zh-CN" sz="1600" dirty="0"/>
              <a:t>+ </a:t>
            </a:r>
            <a:r>
              <a:rPr lang="zh-CN" altLang="en-US" sz="1600" dirty="0"/>
              <a:t>更新结构索引时间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存储空间开销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索引结构占用的额外存储空间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41093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492580033"/>
      </p:ext>
    </p:extLst>
  </p:cSld>
  <p:clrMapOvr>
    <a:masterClrMapping/>
  </p:clrMapOvr>
  <p:transition>
    <p:fade/>
  </p:transition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0E792-DB16-4146-8F8D-808CED78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有序索引--顺序索引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DF15E-91E7-4196-A3D2-DC2C4974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352928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有序索引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索引条目根据搜索键值排序 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一级索引和二级索引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主索引（</a:t>
            </a:r>
            <a:r>
              <a:rPr lang="en-US" altLang="zh-CN" sz="1800" b="1" dirty="0">
                <a:solidFill>
                  <a:srgbClr val="C00000"/>
                </a:solidFill>
              </a:rPr>
              <a:t>Primary </a:t>
            </a:r>
            <a:r>
              <a:rPr lang="en-US" altLang="zh-CN" sz="1800" b="1" dirty="0"/>
              <a:t>Index</a:t>
            </a:r>
            <a:r>
              <a:rPr lang="en-US" altLang="zh-CN" sz="1800" b="1" dirty="0"/>
              <a:t>），</a:t>
            </a:r>
            <a:r>
              <a:rPr lang="en-US" altLang="zh-CN" sz="1800" b="1" dirty="0"/>
              <a:t>聚类索引（Clustering </a:t>
            </a:r>
            <a:r>
              <a:rPr lang="zh-CN" altLang="en-US" sz="1800" b="1" dirty="0"/>
              <a:t>Index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包含记录的文件按某个搜索码指定的顺序排序，该搜索码对应的索引称为</a:t>
            </a:r>
            <a:r>
              <a:rPr lang="en-US" altLang="zh-CN" sz="1600" dirty="0"/>
              <a:t>分类索引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辅助索引</a:t>
            </a:r>
            <a:r>
              <a:rPr lang="en-US" altLang="zh-CN" sz="1800" b="1" dirty="0"/>
              <a:t>、非聚集索引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索引的搜索键指定的顺序与文件的顺序不同</a:t>
            </a:r>
            <a:endParaRPr lang="zh-CN" altLang="en-US" sz="1600" dirty="0"/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索引顺序文件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带主索引的有序顺序文件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89931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A34C7-A7DC-4924-8D17-B4532E5D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一级索引：聚类</a:t>
            </a:r>
            <a:r>
              <a:rPr lang="en-US" altLang="zh-CN" dirty="0"/>
              <a:t>索引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1CB70-F073-4E45-B578-B78101E2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聚集索引的叶节点就是数据节点，索引顺序就是数据物理存储顺序。一个表最多只能有一个聚集索引</a:t>
            </a:r>
          </a:p>
          <a:p>
            <a:endParaRPr lang="zh-CN" altLang="en-US" sz="1800" dirty="0"/>
          </a:p>
        </p:txBody>
      </p:sp>
      <p:pic>
        <p:nvPicPr>
          <p:cNvPr id="4" name="图片 6" descr="http://files.jb51.net/file_images/article/201202/2012021522200014.jpg">
            <a:extLst>
              <a:ext uri="{FF2B5EF4-FFF2-40B4-BE49-F238E27FC236}">
                <a16:creationId xmlns:a16="http://schemas.microsoft.com/office/drawing/2014/main" id="{FE2137CF-2FB1-49B6-81C4-5DD19C58D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73" y="1995686"/>
            <a:ext cx="4810845" cy="290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153915"/>
      </p:ext>
    </p:extLst>
  </p:cSld>
  <p:clrMapOvr>
    <a:masterClrMapping/>
  </p:clrMapOvr>
  <p:transition>
    <p:fade/>
  </p:transition>
</p:sld>
</file>

<file path=ppt/slides/slide9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98286-6B39-40E1-8502-6592AE3D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二级指数：非聚类</a:t>
            </a:r>
            <a:r>
              <a:rPr lang="en-US" altLang="zh-CN" dirty="0"/>
              <a:t>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F2252-9A4F-4CF7-8A6F-A3A7F4BC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非聚集索引的叶节点仍然是索引节点，有一个指针指向对应的数据块。</a:t>
            </a:r>
          </a:p>
          <a:p>
            <a:endParaRPr lang="zh-CN" altLang="en-US" sz="1800" dirty="0"/>
          </a:p>
        </p:txBody>
      </p:sp>
      <p:pic>
        <p:nvPicPr>
          <p:cNvPr id="4" name="图片 7" descr="http://files.jb51.net/file_images/article/201202/2012021522200013.jpg">
            <a:extLst>
              <a:ext uri="{FF2B5EF4-FFF2-40B4-BE49-F238E27FC236}">
                <a16:creationId xmlns:a16="http://schemas.microsoft.com/office/drawing/2014/main" id="{3FEE4EC9-D500-4650-954A-53126C03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675668"/>
            <a:ext cx="4881810" cy="289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0792768"/>
      </p:ext>
    </p:extLst>
  </p:cSld>
  <p:clrMapOvr>
    <a:masterClrMapping/>
  </p:clrMapOvr>
  <p:transition>
    <p:fade/>
  </p:transition>
</p:sld>
</file>

<file path=ppt/slides/slide10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3C319-3376-4916-8DF1-9B323894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密集指数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BAFCB-418E-4AA0-9F40-C67A1D83D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稠密</a:t>
            </a:r>
            <a:r>
              <a:rPr lang="en-US" altLang="zh-CN" sz="2000" b="1" dirty="0">
                <a:solidFill>
                  <a:srgbClr val="C00000"/>
                </a:solidFill>
              </a:rPr>
              <a:t>指数</a:t>
            </a:r>
            <a:r>
              <a:rPr lang="en-US" altLang="zh-CN" sz="2000" b="1" dirty="0"/>
              <a:t>（稠密索引）</a:t>
            </a:r>
          </a:p>
          <a:p>
            <a:pPr lvl="1"/>
            <a:r>
              <a:rPr lang="en-US" altLang="zh-CN" sz="1600" dirty="0"/>
              <a:t>文件中的每个搜索键值都会出现索引记录</a:t>
            </a:r>
          </a:p>
          <a:p>
            <a:endParaRPr lang="zh-CN" altLang="en-US" sz="18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46EFD67-F772-4EB4-AFEC-87A13CD0B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22444" r="1115" b="22662"/>
          <a:stretch>
            <a:fillRect/>
          </a:stretch>
        </p:blipFill>
        <p:spPr bwMode="auto">
          <a:xfrm>
            <a:off x="1331640" y="1779662"/>
            <a:ext cx="6233916" cy="262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212504"/>
      </p:ext>
    </p:extLst>
  </p:cSld>
  <p:clrMapOvr>
    <a:masterClrMapping/>
  </p:clrMapOvr>
  <p:transition>
    <p:fade/>
  </p:transition>
</p:sld>
</file>

<file path=ppt/slides/slide1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17D7C-6C91-4C61-A10B-ED80C097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稀疏索引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B214C-4EFE-4279-9C98-A3E67D7F0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稀疏索引</a:t>
            </a:r>
          </a:p>
          <a:p>
            <a:pPr lvl="1"/>
            <a:r>
              <a:rPr lang="en-US" altLang="zh-CN" sz="1600" dirty="0"/>
              <a:t>当记录按搜索关键字顺序排列时，只包含某些搜索</a:t>
            </a:r>
            <a:r>
              <a:rPr lang="en-US" altLang="zh-CN" sz="1600" dirty="0"/>
              <a:t>关键字</a:t>
            </a:r>
            <a:r>
              <a:rPr lang="en-US" altLang="zh-CN" sz="1600" dirty="0"/>
              <a:t>值的索引记录（</a:t>
            </a:r>
            <a:r>
              <a:rPr lang="en-US" altLang="zh-CN" sz="1600" b="1" dirty="0">
                <a:solidFill>
                  <a:srgbClr val="C00000"/>
                </a:solidFill>
              </a:rPr>
              <a:t>为什么？）</a:t>
            </a:r>
          </a:p>
          <a:p>
            <a:endParaRPr lang="zh-CN" altLang="en-US" sz="18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6F7E948-6B65-4750-AEE7-753DC6D17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21043" r="821" b="20781"/>
          <a:stretch>
            <a:fillRect/>
          </a:stretch>
        </p:blipFill>
        <p:spPr bwMode="auto">
          <a:xfrm>
            <a:off x="1403648" y="1995686"/>
            <a:ext cx="5832648" cy="273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816006"/>
      </p:ext>
    </p:extLst>
  </p:cSld>
  <p:clrMapOvr>
    <a:masterClrMapping/>
  </p:clrMapOvr>
  <p:transition>
    <p:fade/>
  </p:transition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D69E3-7F16-4B5E-B0BD-C5A78589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多级索引 (Multilevel Index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6D9097-EFEC-4F8B-8FEE-1AE04666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/>
              <a:t>如果主索引不适合内存，数据访问就会变得昂贵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要减少磁盘访问索引记录的次数，可将主索引视为顺序文件，并在其上构建稀疏索引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外索引</a:t>
            </a:r>
            <a:r>
              <a:rPr lang="en-US" altLang="zh-CN" sz="1800" dirty="0"/>
              <a:t>--主索引的稀疏索引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内部索引 </a:t>
            </a:r>
            <a:r>
              <a:rPr lang="en-US" altLang="zh-CN" sz="1800" dirty="0"/>
              <a:t>- 主索引文件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如果外层索引仍然太大，主内存无法容纳，还可以创建另一级索引，依此类推</a:t>
            </a:r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87574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F2F21-51CF-4637-82DF-D7A1B590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多级指数（续）</a:t>
            </a:r>
            <a:endParaRPr lang="zh-CN" altLang="en-US" dirty="0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689A261E-E978-44DB-967C-C63EBDF4E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t="1575" r="18895" b="1268"/>
          <a:stretch/>
        </p:blipFill>
        <p:spPr bwMode="auto">
          <a:xfrm>
            <a:off x="2339753" y="843558"/>
            <a:ext cx="4032448" cy="398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612066"/>
      </p:ext>
    </p:extLst>
  </p:cSld>
  <p:clrMapOvr>
    <a:masterClrMapping/>
  </p:clrMapOvr>
  <p:transition>
    <p:fade/>
  </p:transition>
</p:sld>
</file>

<file path=ppt/slides/slide14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F4CCA-0373-4FBF-B52E-B92E232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密集索引与稀疏索引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5927BB-7FF3-4891-BADC-DDBB8AF0F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要查找搜索键值为</a:t>
                </a:r>
                <a14:m xmlns:a14="http://schemas.microsoft.com/office/drawing/2010/main"/>
                <a:r>
                  <a:rPr lang="en-US" altLang="zh-CN" sz="2000" dirty="0"/>
                  <a:t> 的记录：</a:t>
                </a:r>
              </a:p>
              <a:p>
                <a:pPr lvl="1"/>
                <a:r>
                  <a:rPr lang="en-US" altLang="zh-CN" sz="1800" b="1" dirty="0">
                    <a:solidFill>
                      <a:srgbClr val="C00000"/>
                    </a:solidFill>
                  </a:rPr>
                  <a:t>密度指数</a:t>
                </a:r>
                <a:endParaRPr lang="en-US" altLang="zh-CN" sz="1800" dirty="0"/>
              </a:p>
              <a:p>
                <a:pPr lvl="2"/>
                <a:r>
                  <a:rPr lang="en-US" altLang="zh-CN" sz="1600" dirty="0"/>
                  <a:t>查找搜索键值 = K 的索引记录</a:t>
                </a:r>
              </a:p>
              <a:p>
                <a:pPr lvl="1"/>
                <a:r>
                  <a:rPr lang="en-US" altLang="zh-CN" sz="1800" b="1" dirty="0">
                    <a:solidFill>
                      <a:srgbClr val="C00000"/>
                    </a:solidFill>
                  </a:rPr>
                  <a:t>稀疏索引</a:t>
                </a:r>
              </a:p>
              <a:p>
                <a:pPr lvl="2"/>
                <a:r>
                  <a:rPr lang="en-US" altLang="zh-CN" sz="1600" dirty="0"/>
                  <a:t>查找搜索键值 &lt;= K 的最大索引记录</a:t>
                </a:r>
              </a:p>
              <a:p>
                <a:pPr lvl="2"/>
                <a:r>
                  <a:rPr lang="en-US" altLang="zh-CN" sz="1600" dirty="0"/>
                  <a:t>从索引记录指向的记录开始顺序搜索文件</a:t>
                </a:r>
              </a:p>
              <a:p>
                <a:pPr lvl="1"/>
                <a:r>
                  <a:rPr lang="en-US" altLang="zh-CN" sz="1800" dirty="0"/>
                  <a:t>稀疏索引</a:t>
                </a:r>
                <a:r>
                  <a:rPr lang="en-US" altLang="zh-CN" sz="1800" dirty="0"/>
                  <a:t>查找记录的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速度</a:t>
                </a:r>
                <a:r>
                  <a:rPr lang="en-US" altLang="zh-CN" sz="1800" dirty="0"/>
                  <a:t>通常</a:t>
                </a:r>
                <a:r>
                  <a:rPr lang="en-US" altLang="zh-CN" sz="1800" dirty="0"/>
                  <a:t>比密集索引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慢</a:t>
                </a:r>
                <a:r>
                  <a:rPr lang="en-US" altLang="zh-CN" sz="1800" dirty="0"/>
                  <a:t>，但能节省更多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存储空间</a:t>
                </a: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5927BB-7FF3-4891-BADC-DDBB8AF0F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  <a:blipFill>
                <a:blip r:embed="rId2"/>
                <a:stretch>
                  <a:fillRect l="-680" t="-801" r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8493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15821-8E2D-4118-AC86-FCE92CC3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索引更新：删除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597CB-EFDD-4139-9DC8-448DEAA7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单级索引删除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密集索引</a:t>
            </a:r>
            <a:r>
              <a:rPr lang="en-US" altLang="zh-CN" sz="1800" dirty="0"/>
              <a:t>--删除索引中的搜索键类似于删除文件记录</a:t>
            </a:r>
          </a:p>
          <a:p>
            <a:endParaRPr lang="zh-CN" altLang="en-US" sz="20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FC6F7BD-B43A-4C0B-8DDE-13D2007DA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22444" r="1115" b="22662"/>
          <a:stretch>
            <a:fillRect/>
          </a:stretch>
        </p:blipFill>
        <p:spPr bwMode="auto">
          <a:xfrm>
            <a:off x="1763688" y="2165654"/>
            <a:ext cx="5252598" cy="2207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128213"/>
      </p:ext>
    </p:extLst>
  </p:cSld>
  <p:clrMapOvr>
    <a:masterClrMapping/>
  </p:clrMapOvr>
  <p:transition>
    <p:fade/>
  </p:transition>
</p:sld>
</file>

<file path=ppt/slides/slide1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15821-8E2D-4118-AC86-FCE92CC3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索引更新：删除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597CB-EFDD-4139-9DC8-448DEAA74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2000" b="1" dirty="0"/>
              <a:t>单级索引删除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稀疏指数 </a:t>
            </a:r>
          </a:p>
          <a:p>
            <a:pPr lvl="2"/>
            <a:r>
              <a:rPr lang="en-US" altLang="zh-CN" sz="1600" dirty="0"/>
              <a:t>如果索引中存在搜索关键字的条目，则用文件中的下一个搜索关键字值替换索引中的条目，从而将其删除</a:t>
            </a:r>
          </a:p>
          <a:p>
            <a:pPr lvl="2"/>
            <a:r>
              <a:rPr lang="en-US" altLang="zh-CN" sz="1600" dirty="0"/>
              <a:t>如果下一个搜索关键字值已有索引条目，该条目将被删除而不是替换</a:t>
            </a:r>
          </a:p>
          <a:p>
            <a:endParaRPr lang="zh-CN" altLang="en-US" sz="20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C2C8F65-0A76-4D4E-8A50-784526FCC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21043" r="821" b="20781"/>
          <a:stretch>
            <a:fillRect/>
          </a:stretch>
        </p:blipFill>
        <p:spPr bwMode="auto">
          <a:xfrm>
            <a:off x="2267744" y="2715766"/>
            <a:ext cx="4536504" cy="2125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767068"/>
      </p:ext>
    </p:extLst>
  </p:cSld>
  <p:clrMapOvr>
    <a:masterClrMapping/>
  </p:clrMapOvr>
  <p:transition>
    <p:fade/>
  </p:transition>
</p:sld>
</file>

<file path=ppt/slides/slide1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C69D4-338E-4F40-866E-31F3B34B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索引更新：插入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07CB8-4284-4A3A-B909-D08C78061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2000" b="1" dirty="0"/>
              <a:t>单级索引插入</a:t>
            </a:r>
          </a:p>
          <a:p>
            <a:pPr lvl="1"/>
            <a:r>
              <a:rPr lang="en-US" altLang="zh-CN" sz="1800" dirty="0"/>
              <a:t>使用搜索键值进行查找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密集索引</a:t>
            </a:r>
            <a:r>
              <a:rPr lang="en-US" altLang="zh-CN" sz="1800" dirty="0"/>
              <a:t>--如果搜索键值未出现在索引中，则插入该值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稀疏索引</a:t>
            </a:r>
            <a:r>
              <a:rPr lang="en-US" altLang="zh-CN" sz="1800" dirty="0"/>
              <a:t>--如果索引为文件的每个数据块存储了一个条目，那么除非创建了新的数据块，否则无需更改索引。在这种情况下，新块中出现的第一个搜索键值会被插入到索引中</a:t>
            </a:r>
          </a:p>
          <a:p>
            <a:r>
              <a:rPr lang="en-US" altLang="zh-CN" sz="2000" b="1" dirty="0"/>
              <a:t>多级插入/删除 </a:t>
            </a:r>
          </a:p>
          <a:p>
            <a:pPr lvl="1"/>
            <a:r>
              <a:rPr lang="en-US" altLang="zh-CN" sz="1800" dirty="0"/>
              <a:t>单级算法的扩展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32400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48850-14C2-43B5-979E-1570599F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密集索引与稀疏索引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5400F-D522-40A4-BF82-1C6DC666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插入和删除的空间和维护</a:t>
            </a:r>
          </a:p>
          <a:p>
            <a:pPr lvl="1"/>
            <a:r>
              <a:rPr lang="en-US" altLang="zh-CN" sz="1800" dirty="0"/>
              <a:t>稀疏索引需要</a:t>
            </a:r>
            <a:r>
              <a:rPr lang="en-US" altLang="zh-CN" sz="1800" dirty="0">
                <a:solidFill>
                  <a:srgbClr val="C00000"/>
                </a:solidFill>
              </a:rPr>
              <a:t>的空间更少</a:t>
            </a:r>
            <a:r>
              <a:rPr lang="en-US" altLang="zh-CN" sz="1800" dirty="0"/>
              <a:t>，</a:t>
            </a:r>
            <a:r>
              <a:rPr lang="en-US" altLang="zh-CN" sz="1800" dirty="0"/>
              <a:t>插入和删除的</a:t>
            </a:r>
            <a:r>
              <a:rPr lang="en-US" altLang="zh-CN" sz="1800" dirty="0">
                <a:solidFill>
                  <a:srgbClr val="C00000"/>
                </a:solidFill>
              </a:rPr>
              <a:t>维护</a:t>
            </a:r>
            <a:r>
              <a:rPr lang="en-US" altLang="zh-CN" sz="1800" dirty="0"/>
              <a:t>开销也</a:t>
            </a:r>
            <a:r>
              <a:rPr lang="en-US" altLang="zh-CN" sz="1800" dirty="0">
                <a:solidFill>
                  <a:srgbClr val="C00000"/>
                </a:solidFill>
              </a:rPr>
              <a:t>更少</a:t>
            </a:r>
          </a:p>
          <a:p>
            <a:pPr lvl="1"/>
            <a:r>
              <a:rPr lang="en-US" altLang="zh-CN" sz="1800" dirty="0"/>
              <a:t>很好的折衷：稀疏索引，</a:t>
            </a:r>
            <a:r>
              <a:rPr lang="en-US" altLang="zh-CN" sz="1800" dirty="0"/>
              <a:t>文件中的</a:t>
            </a:r>
            <a:r>
              <a:rPr lang="en-US" altLang="zh-CN" sz="1800" dirty="0">
                <a:solidFill>
                  <a:srgbClr val="C00000"/>
                </a:solidFill>
              </a:rPr>
              <a:t>每个数据块都</a:t>
            </a:r>
            <a:r>
              <a:rPr lang="en-US" altLang="zh-CN" sz="1800" dirty="0"/>
              <a:t>有一个索引条目</a:t>
            </a:r>
            <a:r>
              <a:rPr lang="en-US" altLang="zh-CN" sz="1800" dirty="0"/>
              <a:t>，与数据块中最小的搜索键值相对应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51554624"/>
      </p:ext>
    </p:extLst>
  </p:cSld>
  <p:clrMapOvr>
    <a:masterClrMapping/>
  </p:clrMapOvr>
  <p:transition>
    <p:fade/>
  </p:transition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9A7A9-845F-4C35-8DDE-F5BD2379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二级指数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700DC-4B5A-4F87-9D46-096D2745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查找数值在一定范围内的所有记录</a:t>
            </a:r>
          </a:p>
          <a:p>
            <a:pPr lvl="1"/>
            <a:r>
              <a:rPr lang="en-US" altLang="zh-CN" sz="1800" dirty="0"/>
              <a:t>例 1：在按账号顺序存储的账户关系中，我们可能想查找某个</a:t>
            </a:r>
            <a:r>
              <a:rPr lang="en-US" altLang="zh-CN" sz="1800" dirty="0">
                <a:solidFill>
                  <a:srgbClr val="C00000"/>
                </a:solidFill>
              </a:rPr>
              <a:t>分支机构</a:t>
            </a:r>
            <a:r>
              <a:rPr lang="en-US" altLang="zh-CN" sz="1800" dirty="0"/>
              <a:t>的所有账户</a:t>
            </a:r>
          </a:p>
          <a:p>
            <a:pPr lvl="1"/>
            <a:r>
              <a:rPr lang="en-US" altLang="zh-CN" sz="1800" dirty="0"/>
              <a:t>例 2：查找具有指定</a:t>
            </a:r>
            <a:r>
              <a:rPr lang="en-US" altLang="zh-CN" sz="1800" dirty="0">
                <a:solidFill>
                  <a:srgbClr val="C00000"/>
                </a:solidFill>
              </a:rPr>
              <a:t>余额</a:t>
            </a:r>
            <a:r>
              <a:rPr lang="en-US" altLang="zh-CN" sz="1800" dirty="0"/>
              <a:t>或余额范围的</a:t>
            </a:r>
            <a:r>
              <a:rPr lang="en-US" altLang="zh-CN" sz="1800" dirty="0"/>
              <a:t>所有账户</a:t>
            </a:r>
          </a:p>
          <a:p>
            <a:r>
              <a:rPr lang="en-US" altLang="zh-CN" sz="2000" b="1" dirty="0"/>
              <a:t>二级指数</a:t>
            </a:r>
          </a:p>
          <a:p>
            <a:pPr lvl="1"/>
            <a:r>
              <a:rPr lang="en-US" altLang="zh-CN" sz="1800" dirty="0"/>
              <a:t>建立二级索引，为</a:t>
            </a:r>
            <a:r>
              <a:rPr lang="en-US" altLang="zh-CN" sz="1800" b="1" dirty="0">
                <a:solidFill>
                  <a:srgbClr val="C00000"/>
                </a:solidFill>
              </a:rPr>
              <a:t>每个搜索键值</a:t>
            </a:r>
            <a:r>
              <a:rPr lang="en-US" altLang="zh-CN" sz="1800" dirty="0"/>
              <a:t>建立索引记录</a:t>
            </a:r>
            <a:endParaRPr lang="en-US" altLang="zh-CN" sz="1800" b="1" dirty="0"/>
          </a:p>
          <a:p>
            <a:pPr lvl="1"/>
            <a:r>
              <a:rPr lang="en-US" altLang="zh-CN" sz="1800" dirty="0"/>
              <a:t>索引记录指向一个</a:t>
            </a:r>
            <a:r>
              <a:rPr lang="en-US" altLang="zh-CN" sz="1800" b="1" dirty="0">
                <a:solidFill>
                  <a:srgbClr val="C00000"/>
                </a:solidFill>
              </a:rPr>
              <a:t>存储桶</a:t>
            </a:r>
            <a:r>
              <a:rPr lang="en-US" altLang="zh-CN" sz="1800" dirty="0"/>
              <a:t>，该</a:t>
            </a:r>
            <a:r>
              <a:rPr lang="en-US" altLang="zh-CN" sz="1800" b="1" dirty="0">
                <a:solidFill>
                  <a:srgbClr val="C00000"/>
                </a:solidFill>
              </a:rPr>
              <a:t>存储桶</a:t>
            </a:r>
            <a:r>
              <a:rPr lang="en-US" altLang="zh-CN" sz="1800" dirty="0"/>
              <a:t>包含</a:t>
            </a:r>
            <a:r>
              <a:rPr lang="en-US" altLang="zh-CN" sz="1800" dirty="0"/>
              <a:t>指向具有特定搜索键值的所有实际记录的</a:t>
            </a:r>
            <a:r>
              <a:rPr lang="en-US" altLang="zh-CN" sz="1800" b="1" dirty="0">
                <a:solidFill>
                  <a:srgbClr val="C00000"/>
                </a:solidFill>
              </a:rPr>
              <a:t>指针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5831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645FB-FA55-499F-ADF2-7E01D64A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账户余额栏二级索引</a:t>
            </a:r>
            <a:endParaRPr lang="zh-CN" alt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8B62680-5417-4088-AC29-3F1EFE9A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" t="21115" r="627" b="20573"/>
          <a:stretch>
            <a:fillRect/>
          </a:stretch>
        </p:blipFill>
        <p:spPr bwMode="auto">
          <a:xfrm>
            <a:off x="1664494" y="998935"/>
            <a:ext cx="5788819" cy="302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9BFDD232-7DD6-41F6-BE89-AC07A27F7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052" y="4070747"/>
            <a:ext cx="10878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2000" b="1" i="1" dirty="0">
                <a:solidFill>
                  <a:srgbClr val="C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水桶</a:t>
            </a:r>
          </a:p>
        </p:txBody>
      </p:sp>
    </p:spTree>
    <p:extLst>
      <p:ext uri="{BB962C8B-B14F-4D97-AF65-F5344CB8AC3E}">
        <p14:creationId xmlns:p14="http://schemas.microsoft.com/office/powerpoint/2010/main" val="611585531"/>
      </p:ext>
    </p:extLst>
  </p:cSld>
  <p:clrMapOvr>
    <a:masterClrMapping/>
  </p:clrMapOvr>
  <p:transition>
    <p:fade/>
  </p:transition>
</p:sld>
</file>

<file path=ppt/slides/slide2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701C2-A1C4-4989-B9EB-67ACAB6B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一级和二级指数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19C48-4760-4E71-AEA5-5F250A185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二级指数必须密集（</a:t>
            </a:r>
            <a:r>
              <a:rPr lang="en-US" altLang="zh-CN" sz="2000" b="1" dirty="0">
                <a:solidFill>
                  <a:srgbClr val="C00000"/>
                </a:solidFill>
              </a:rPr>
              <a:t>为什么？）</a:t>
            </a:r>
          </a:p>
          <a:p>
            <a:r>
              <a:rPr lang="en-US" altLang="zh-CN" sz="2000" dirty="0"/>
              <a:t>修改文件时，文件上的每个索引都必须更新。更新索引会增加数据库修改的开销。</a:t>
            </a:r>
          </a:p>
          <a:p>
            <a:r>
              <a:rPr lang="en-US" altLang="zh-CN" sz="2000" dirty="0"/>
              <a:t>使用一级索引进行顺序扫描效率高，但使用二级索引进行顺序扫描成本高 </a:t>
            </a:r>
          </a:p>
          <a:p>
            <a:pPr lvl="1"/>
            <a:r>
              <a:rPr lang="en-US" altLang="zh-CN" sz="1800" dirty="0"/>
              <a:t>每次记录访问都可能从磁盘获取一个新的数据块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49898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B</a:t>
            </a:r>
            <a:r>
              <a:rPr lang="en-US" altLang="zh-CN" sz="2000" b="1" baseline="30000" dirty="0">
                <a:solidFill>
                  <a:srgbClr val="C00000"/>
                </a:solidFill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</a:rPr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4202940295"/>
      </p:ext>
    </p:extLst>
  </p:cSld>
  <p:clrMapOvr>
    <a:masterClrMapping/>
  </p:clrMapOvr>
  <p:transition>
    <p:fade/>
  </p:transition>
</p:sld>
</file>

<file path=ppt/slides/slide2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9014D-EE4E-4707-9E91-75F031D8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-树索引文件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617B0-CA8F-4DD5-9AA0-461F8F4C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B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 -tree 是索引顺序文件的替代方案</a:t>
            </a:r>
          </a:p>
          <a:p>
            <a:r>
              <a:rPr lang="en-US" altLang="zh-CN" sz="1800" dirty="0"/>
              <a:t>索引顺序文件的缺点</a:t>
            </a:r>
          </a:p>
          <a:p>
            <a:pPr lvl="1"/>
            <a:r>
              <a:rPr lang="en-US" altLang="zh-CN" sz="1600" dirty="0"/>
              <a:t>文件越大，性能越差，因为</a:t>
            </a:r>
            <a:r>
              <a:rPr lang="en-US" altLang="zh-CN" sz="1600" dirty="0"/>
              <a:t>会产生</a:t>
            </a:r>
            <a:r>
              <a:rPr lang="en-US" altLang="zh-CN" sz="1600" dirty="0"/>
              <a:t>很多</a:t>
            </a:r>
            <a:r>
              <a:rPr lang="en-US" altLang="zh-CN" sz="1600" dirty="0"/>
              <a:t>溢出块（overflow</a:t>
            </a:r>
            <a:r>
              <a:rPr lang="en-US" altLang="zh-CN" sz="1600" b="1" dirty="0">
                <a:solidFill>
                  <a:srgbClr val="C00000"/>
                </a:solidFill>
              </a:rPr>
              <a:t> block</a:t>
            </a:r>
            <a:r>
              <a:rPr lang="en-US" altLang="zh-CN" sz="1600" dirty="0"/>
              <a:t>）。需要定期重组整个文件</a:t>
            </a:r>
            <a:endParaRPr lang="en-US" altLang="zh-CN" sz="1400" dirty="0"/>
          </a:p>
          <a:p>
            <a:r>
              <a:rPr lang="en-US" altLang="zh-CN" sz="1800" b="1" dirty="0">
                <a:solidFill>
                  <a:srgbClr val="C00000"/>
                </a:solidFill>
              </a:rPr>
              <a:t>B</a:t>
            </a:r>
            <a:r>
              <a:rPr lang="en-US" altLang="zh-CN" sz="1800" b="1" baseline="30000" dirty="0">
                <a:solidFill>
                  <a:srgbClr val="C00000"/>
                </a:solidFill>
              </a:rPr>
              <a:t>+</a:t>
            </a:r>
            <a:r>
              <a:rPr lang="en-US" altLang="zh-CN" sz="1800" b="1" dirty="0">
                <a:solidFill>
                  <a:srgbClr val="C00000"/>
                </a:solidFill>
              </a:rPr>
              <a:t> -tree 索引文件</a:t>
            </a:r>
          </a:p>
          <a:p>
            <a:pPr lvl="1"/>
            <a:r>
              <a:rPr lang="en-US" altLang="zh-CN" sz="1600" b="1" dirty="0"/>
              <a:t>优点</a:t>
            </a:r>
            <a:r>
              <a:rPr lang="en-US" altLang="zh-CN" sz="1600" dirty="0"/>
              <a:t>：面对插入和删除，可根据小的局部变化自动重组。为保持性能，无需重组整个文件</a:t>
            </a:r>
          </a:p>
          <a:p>
            <a:pPr lvl="1"/>
            <a:r>
              <a:rPr lang="en-US" altLang="zh-CN" sz="1600" b="1" dirty="0"/>
              <a:t>缺点</a:t>
            </a:r>
            <a:r>
              <a:rPr lang="en-US" altLang="zh-CN" sz="1600" dirty="0"/>
              <a:t>：额外的插入和删除开销、空间开销</a:t>
            </a:r>
          </a:p>
          <a:p>
            <a:pPr lvl="1"/>
            <a:r>
              <a:rPr lang="en-US" altLang="zh-CN" sz="1600" dirty="0"/>
              <a:t>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- 树的优点</a:t>
            </a:r>
            <a:r>
              <a:rPr lang="en-US" altLang="zh-CN" sz="1600" dirty="0" err="1"/>
              <a:t>大于</a:t>
            </a:r>
            <a:r>
              <a:rPr lang="en-US" altLang="zh-CN" sz="1600" dirty="0"/>
              <a:t>缺点</a:t>
            </a:r>
            <a:r>
              <a:rPr lang="en-US" altLang="zh-CN" sz="1600" dirty="0"/>
              <a:t>，因此被广泛使用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077298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0B817-5BE0-4854-A6B4-EC2B8F91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树示例</a:t>
            </a:r>
            <a:endParaRPr lang="zh-CN" altLang="en-US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843558"/>
            <a:ext cx="7182098" cy="4171578"/>
            <a:chOff x="141288" y="1176338"/>
            <a:chExt cx="8891587" cy="5030787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046231"/>
      </p:ext>
    </p:extLst>
  </p:cSld>
  <p:clrMapOvr>
    <a:masterClrMapping/>
  </p:clrMapOvr>
  <p:transition>
    <p:fade/>
  </p:transition>
</p:sld>
</file>

<file path=ppt/slides/slide25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A93A7-6D48-42FB-9A81-9CFEB1A0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-树索引文件（续）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FAAC54-FF39-4B11-BBBD-2BEB825A7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典型 B</a:t>
                </a:r>
                <a:r>
                  <a:rPr lang="en-US" altLang="zh-CN" sz="2000" b="1" baseline="30000" dirty="0"/>
                  <a:t>+</a:t>
                </a:r>
                <a:r>
                  <a:rPr lang="en-US" altLang="zh-CN" sz="2000" b="1" dirty="0"/>
                  <a:t> - 树节点</a:t>
                </a:r>
                <a:br>
                  <a:rPr lang="en-US" altLang="zh-CN" sz="2000" dirty="0"/>
                </a:br>
                <a:br>
                  <a:rPr lang="en-US" altLang="zh-CN" sz="2000" dirty="0"/>
                </a:br>
                <a:br>
                  <a:rPr lang="en-US" altLang="zh-CN" sz="2000" dirty="0"/>
                </a:br>
                <a:endParaRPr lang="en-US" altLang="zh-CN" sz="2000" dirty="0"/>
              </a:p>
              <a:p>
                <a:pPr lvl="1"/>
                <a14:m xmlns:a14="http://schemas.microsoft.com/office/drawing/2010/main"/>
                <a:r>
                  <a:rPr lang="en-US" altLang="zh-CN" sz="1800" dirty="0"/>
                  <a:t> 是搜索键值。节点中的搜索键是有序的，即 </a:t>
                </a:r>
              </a:p>
              <a:p>
                <a:pPr marL="457200" lvl="1" indent="0">
                  <a:buNone/>
                </a:pPr>
                <a:r>
                  <a:rPr lang="en-US" altLang="zh-CN" sz="1800" dirty="0"/>
                  <a:t>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xmlns:a="http://schemas.openxmlformats.org/drawingml/2006/main"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xmlns:a="http://schemas.openxmlformats.org/drawingml/2006/main"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xmlns:a="http://schemas.openxmlformats.org/drawingml/2006/main"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xmlns:a="http://schemas.openxmlformats.org/drawingml/2006/main"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⋯&lt;</m:t>
                    </m:r>
                    <m:sSub>
                      <m:sSubPr>
                        <m:ctrlP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xmlns:a="http://schemas.openxmlformats.org/drawingml/2006/main"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14:m xmlns:a14="http://schemas.microsoft.com/office/drawing/2010/main"/>
                <a:r>
                  <a:rPr lang="en-US" altLang="zh-CN" sz="1800" dirty="0"/>
                  <a:t> 是指向子节点的指针（对于非叶节点），或者是指向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记录</a:t>
                </a:r>
                <a:r>
                  <a:rPr lang="en-US" altLang="zh-CN" sz="1800" dirty="0"/>
                  <a:t>或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记录组的</a:t>
                </a:r>
                <a:r>
                  <a:rPr lang="en-US" altLang="zh-CN" sz="1800" dirty="0"/>
                  <a:t>指针</a:t>
                </a:r>
                <a:r>
                  <a:rPr lang="en-US" altLang="zh-CN" sz="1800" dirty="0"/>
                  <a:t>（对于叶节点）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FAAC54-FF39-4B11-BBBD-2BEB825A7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84" y="1419622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3575580"/>
      </p:ext>
    </p:extLst>
  </p:cSld>
  <p:clrMapOvr>
    <a:masterClrMapping/>
  </p:clrMapOvr>
  <p:transition>
    <p:fade/>
  </p:transition>
</p:sld>
</file>

<file path=ppt/slides/slide26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51287-ED83-4960-9838-C88653B0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-树索引文件（续）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4EC0FF-EC52-40AB-B3E3-DD1409A2A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B</a:t>
                </a:r>
                <a:r>
                  <a:rPr lang="en-US" altLang="zh-CN" sz="2000" baseline="30000" dirty="0"/>
                  <a:t>+</a:t>
                </a:r>
                <a:r>
                  <a:rPr lang="en-US" altLang="zh-CN" sz="2000" dirty="0"/>
                  <a:t> -树是一棵有根的树，</a:t>
                </a:r>
                <a:r>
                  <a:rPr lang="en-US" altLang="zh-CN" sz="2000" dirty="0"/>
                  <a:t>满足以下属性：</a:t>
                </a:r>
              </a:p>
              <a:p>
                <a:pPr lvl="1"/>
                <a:r>
                  <a:rPr lang="en-US" altLang="zh-CN" sz="1800" dirty="0"/>
                  <a:t>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 -树是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一棵平衡树</a:t>
                </a:r>
                <a:r>
                  <a:rPr lang="en-US" altLang="zh-CN" sz="1800" dirty="0"/>
                  <a:t>，从根节点到叶节点的所有路径长度相同</a:t>
                </a:r>
                <a:endParaRPr lang="en-US" altLang="zh-CN" sz="1800" b="1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altLang="zh-CN" sz="1800" b="1" dirty="0"/>
                  <a:t>内部节点</a:t>
                </a:r>
              </a:p>
              <a:p>
                <a:pPr lvl="2"/>
                <a:r>
                  <a:rPr lang="en-US" altLang="zh-CN" sz="1600" dirty="0"/>
                  <a:t>每个节点都有</a:t>
                </a:r>
                <a14:m xmlns:a14="http://schemas.microsoft.com/office/drawing/2010/main"/>
                <a:r>
                  <a:rPr lang="en-US" altLang="zh-CN" sz="1600" dirty="0"/>
                  <a:t> 至</a:t>
                </a:r>
                <a14:m xmlns:a14="http://schemas.microsoft.com/office/drawing/2010/main"/>
                <a:r>
                  <a:rPr lang="en-US" altLang="zh-CN" sz="1600" dirty="0"/>
                  <a:t> 个子</a:t>
                </a:r>
                <a:r>
                  <a:rPr lang="en-US" altLang="zh-CN" sz="1600" dirty="0"/>
                  <a:t>节点</a:t>
                </a:r>
                <a:r>
                  <a:rPr lang="en-US" altLang="zh-CN" sz="1600" dirty="0"/>
                  <a:t>（指针）</a:t>
                </a:r>
              </a:p>
              <a:p>
                <a:pPr lvl="1"/>
                <a:r>
                  <a:rPr lang="en-US" altLang="zh-CN" sz="1800" b="1" dirty="0"/>
                  <a:t>叶节点</a:t>
                </a:r>
              </a:p>
              <a:p>
                <a:pPr lvl="2"/>
                <a:r>
                  <a:rPr lang="en-US" altLang="zh-CN" sz="1600" dirty="0"/>
                  <a:t>每个节点的</a:t>
                </a:r>
                <a:r>
                  <a:rPr lang="en-US" altLang="zh-CN" sz="1600" dirty="0"/>
                  <a:t>值</a:t>
                </a:r>
                <a:r>
                  <a:rPr lang="en-US" altLang="zh-CN" sz="1600" dirty="0"/>
                  <a:t>介于</a:t>
                </a:r>
                <a14:m xmlns:a14="http://schemas.microsoft.com/office/drawing/2010/main"/>
                <a:r>
                  <a:rPr lang="en-US" altLang="zh-CN" sz="1600" dirty="0"/>
                  <a:t> 和</a:t>
                </a:r>
                <a14:m xmlns:a14="http://schemas.microsoft.com/office/drawing/2010/main"/>
                <a:r>
                  <a:rPr lang="en-US" altLang="zh-CN" sz="1600" dirty="0"/>
                  <a:t> 之间</a:t>
                </a:r>
              </a:p>
              <a:p>
                <a:pPr lvl="1"/>
                <a:r>
                  <a:rPr lang="en-US" altLang="zh-CN" sz="1800" b="1" dirty="0"/>
                  <a:t>根节点 </a:t>
                </a:r>
              </a:p>
              <a:p>
                <a:pPr lvl="2"/>
                <a:r>
                  <a:rPr lang="en-US" altLang="zh-CN" sz="1600" dirty="0"/>
                  <a:t>如果根不是叶子，它至少有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2 </a:t>
                </a:r>
                <a:r>
                  <a:rPr lang="en-US" altLang="zh-CN" sz="1600" dirty="0"/>
                  <a:t>个子节点</a:t>
                </a:r>
              </a:p>
              <a:p>
                <a:pPr lvl="2"/>
                <a:r>
                  <a:rPr lang="en-US" altLang="zh-CN" sz="1600" dirty="0"/>
                  <a:t>如果根节点是树叶（即树中没有其他节点），那么它的</a:t>
                </a:r>
                <a:r>
                  <a:rPr lang="en-US" altLang="zh-CN" sz="1600" dirty="0"/>
                  <a:t>值</a:t>
                </a:r>
                <a:r>
                  <a:rPr lang="en-US" altLang="zh-CN" sz="1600" dirty="0"/>
                  <a:t>可以在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0 </a:t>
                </a:r>
                <a:r>
                  <a:rPr lang="en-US" altLang="zh-CN" sz="1600" dirty="0"/>
                  <a:t>到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n-1 之间</a:t>
                </a: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4EC0FF-EC52-40AB-B3E3-DD1409A2A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527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C97A4-6786-4D2A-A90A-6C1E8813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树示例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1F4FFA-13BA-433F-8960-A0E80583F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24" y="3579862"/>
                <a:ext cx="8820980" cy="1443714"/>
              </a:xfrm>
            </p:spPr>
            <p:txBody>
              <a:bodyPr/>
              <a:lstStyle/>
              <a:p>
                <a:r>
                  <a:rPr lang="en-US" altLang="zh-CN" sz="1800" dirty="0"/>
                  <a:t>叶节点必须有 1 到 2 个值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(</a:t>
                </a:r>
                <a14:m xmlns:a14="http://schemas.microsoft.com/office/drawing/2010/main"/>
                <a:r>
                  <a:rPr lang="en-US" altLang="zh-CN" sz="1800" b="1" dirty="0">
                    <a:solidFill>
                      <a:srgbClr val="C00000"/>
                    </a:solidFill>
                  </a:rPr>
                  <a:t> 和 )</a:t>
                </a:r>
                <a14:m xmlns:a14="http://schemas.microsoft.com/office/drawing/2010/main"/>
              </a:p>
              <a:p>
                <a:r>
                  <a:rPr lang="en-US" altLang="zh-CN" sz="1800" dirty="0"/>
                  <a:t>根节点以外的非叶节点必须有 2 到 3 个子节点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(</a:t>
                </a:r>
                <a14:m xmlns:a14="http://schemas.microsoft.com/office/drawing/2010/main"/>
                <a:r>
                  <a:rPr lang="en-US" altLang="zh-CN" sz="1800" b="1" dirty="0">
                    <a:solidFill>
                      <a:srgbClr val="C00000"/>
                    </a:solidFill>
                  </a:rPr>
                  <a:t> 和 )</a:t>
                </a:r>
                <a14:m xmlns:a14="http://schemas.microsoft.com/office/drawing/2010/main"/>
              </a:p>
              <a:p>
                <a:r>
                  <a:rPr lang="en-US" altLang="zh-CN" sz="1800" dirty="0"/>
                  <a:t>根部必须至少有两个孩子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1F4FFA-13BA-433F-8960-A0E80583F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3579862"/>
                <a:ext cx="8820980" cy="1443714"/>
              </a:xfrm>
              <a:blipFill>
                <a:blip r:embed="rId2"/>
                <a:stretch>
                  <a:fillRect l="-415" t="-2110" r="-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D8CE5926-CFAB-4559-AD0E-1C84BA13F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" t="29007" r="1608" b="29750"/>
          <a:stretch>
            <a:fillRect/>
          </a:stretch>
        </p:blipFill>
        <p:spPr bwMode="auto">
          <a:xfrm>
            <a:off x="1691680" y="1146383"/>
            <a:ext cx="5599409" cy="178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40E3F016-0B75-4513-BCA2-405B91140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709" y="2922498"/>
            <a:ext cx="34099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kumimoji="0" lang="en-US" altLang="zh-CN" sz="1800" b="1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1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-账户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文件树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kumimoji="0" lang="en-US" altLang="zh-CN" sz="1800" b="1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= 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3）</a:t>
            </a:r>
          </a:p>
        </p:txBody>
      </p:sp>
    </p:spTree>
    <p:extLst>
      <p:ext uri="{BB962C8B-B14F-4D97-AF65-F5344CB8AC3E}">
        <p14:creationId xmlns:p14="http://schemas.microsoft.com/office/powerpoint/2010/main" val="2686997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61776-31ED-4F31-BCC9-75CE2E9F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-树中的叶节点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DBA4F1-269F-4171-929F-ECCA70E88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叶节点的属性</a:t>
                </a:r>
              </a:p>
              <a:p>
                <a:pPr lvl="1"/>
                <a:r>
                  <a:rPr lang="en-US" altLang="zh-CN" sz="1600" dirty="0"/>
                  <a:t>指针</a:t>
                </a:r>
                <a14:m xmlns:a14="http://schemas.microsoft.com/office/drawing/2010/main"/>
                <a:r>
                  <a:rPr lang="en-US" altLang="zh-CN" sz="1600" dirty="0"/>
                  <a:t> 要么指向</a:t>
                </a:r>
                <a:r>
                  <a:rPr lang="en-US" altLang="zh-CN" sz="1600" dirty="0"/>
                  <a:t>搜索键值为</a:t>
                </a:r>
                <a14:m xmlns:a14="http://schemas.microsoft.com/office/drawing/2010/main"/>
                <a:r>
                  <a:rPr lang="en-US" altLang="zh-CN" sz="1600" dirty="0">
                    <a:solidFill>
                      <a:srgbClr val="C00000"/>
                    </a:solidFill>
                  </a:rPr>
                  <a:t> 的文件记录，</a:t>
                </a:r>
                <a:r>
                  <a:rPr lang="en-US" altLang="zh-CN" sz="1600" dirty="0"/>
                  <a:t>要么指向指向</a:t>
                </a:r>
                <a:r>
                  <a:rPr lang="en-US" altLang="zh-CN" sz="1600" dirty="0"/>
                  <a:t>文件记录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的指针桶</a:t>
                </a:r>
                <a:r>
                  <a:rPr lang="en-US" altLang="zh-CN" sz="1600" dirty="0"/>
                  <a:t>，每条记录的搜索键值为</a:t>
                </a:r>
                <a14:m xmlns:a14="http://schemas.microsoft.com/office/drawing/2010/main"/>
                <a:r>
                  <a:rPr lang="en-US" altLang="zh-CN" sz="1600" dirty="0"/>
                  <a:t> 。只有当搜索关键字不构成主键时才需要桶结构（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为什么？）</a:t>
                </a:r>
              </a:p>
              <a:p>
                <a:pPr lvl="1"/>
                <a14:m xmlns:a14="http://schemas.microsoft.com/office/drawing/2010/main"/>
                <a:r>
                  <a:rPr lang="en-US" altLang="zh-CN" sz="1600" dirty="0"/>
                  <a:t> 按搜索关键字顺序指向下一个叶节点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DBA4F1-269F-4171-929F-ECCA70E88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448A9708-2E8F-4EE6-9F5C-BBCA3C42D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576" y="3579862"/>
                <a:ext cx="11749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 kumimoji="1"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FFFF00"/>
                  </a:buClr>
                  <a:buSzPct val="8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rgbClr val="00CC00"/>
                  </a:buClr>
                  <a:buSzPct val="80000"/>
                  <a:buFont typeface="Times New Roman" panose="02020603050405020304" pitchFamily="18" charset="0"/>
                  <a:buChar char="•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685800" eaLnBrk="0" hangingPunct="0">
                  <a:spcBef>
                    <a:spcPct val="0"/>
                  </a:spcBef>
                  <a:buClrTx/>
                  <a:buSzTx/>
                  <a:buNone/>
                </a:pPr>
                <a14:m xmlns:a14="http://schemas.microsoft.com/office/drawing/2010/main"/>
                <a:r>
                  <a:rPr kumimoji="0" lang="en-US" altLang="zh-CN" sz="2000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宋体" panose="02010600030101010101" pitchFamily="2" charset="-122"/>
                  </a:rPr>
                  <a:t>=4</a:t>
                </a:r>
                <a:endParaRPr kumimoji="0" lang="zh-CN" altLang="en-US" sz="2000" i="1" dirty="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448A9708-2E8F-4EE6-9F5C-BBCA3C42D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3579862"/>
                <a:ext cx="1174973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3">
            <a:extLst>
              <a:ext uri="{FF2B5EF4-FFF2-40B4-BE49-F238E27FC236}">
                <a16:creationId xmlns:a16="http://schemas.microsoft.com/office/drawing/2014/main" id="{67D559DF-06E1-44F8-9A93-13366C78A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" t="43663" r="1903" b="43663"/>
          <a:stretch>
            <a:fillRect/>
          </a:stretch>
        </p:blipFill>
        <p:spPr bwMode="auto">
          <a:xfrm>
            <a:off x="4514953" y="617042"/>
            <a:ext cx="4554959" cy="449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1592503" y="2520464"/>
            <a:ext cx="5697066" cy="2378397"/>
            <a:chOff x="961" y="2239"/>
            <a:chExt cx="4527" cy="1961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4463B08-52C6-4E5C-AD33-8D86E75A6E09}"/>
              </a:ext>
            </a:extLst>
          </p:cNvPr>
          <p:cNvSpPr txBox="1"/>
          <p:nvPr/>
        </p:nvSpPr>
        <p:spPr>
          <a:xfrm>
            <a:off x="7461663" y="3452817"/>
            <a:ext cx="1115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教员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档案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818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F7AA0-5F8B-4193-9BF5-04248F8E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-树中的非叶节点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661D20-A0B6-4CCE-8154-9D1D20C4D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非叶节点</a:t>
                </a:r>
                <a:r>
                  <a:rPr lang="en-US" altLang="zh-CN" sz="1800" dirty="0"/>
                  <a:t>在叶节点上</a:t>
                </a:r>
                <a:r>
                  <a:rPr lang="en-US" altLang="zh-CN" sz="1800" dirty="0"/>
                  <a:t>形成一个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多级稀疏索引</a:t>
                </a:r>
                <a:r>
                  <a:rPr lang="en-US" altLang="zh-CN" sz="1800" dirty="0"/>
                  <a:t>。对于带有</a:t>
                </a:r>
                <a14:m xmlns:a14="http://schemas.microsoft.com/office/drawing/2010/main"/>
                <a:r>
                  <a:rPr lang="en-US" altLang="zh-CN" sz="1800" dirty="0"/>
                  <a:t> 指针</a:t>
                </a:r>
                <a:r>
                  <a:rPr lang="en-US" altLang="zh-CN" sz="1800" dirty="0"/>
                  <a:t>的非叶节点</a:t>
                </a:r>
                <a:r>
                  <a:rPr lang="en-US" altLang="zh-CN" sz="1800" dirty="0"/>
                  <a:t>：</a:t>
                </a:r>
              </a:p>
              <a:p>
                <a:pPr lvl="1"/>
                <a14:m xmlns:a14="http://schemas.microsoft.com/office/drawing/2010/main"/>
                <a:r>
                  <a:rPr lang="en-US" altLang="zh-CN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600" dirty="0"/>
                  <a:t>指向</a:t>
                </a:r>
                <a:r>
                  <a:rPr lang="en-US" altLang="zh-CN" sz="1600" dirty="0"/>
                  <a:t>的子树上的所有搜索键都</a:t>
                </a:r>
                <a:r>
                  <a:rPr lang="en-US" altLang="zh-CN" sz="1600" dirty="0"/>
                  <a:t>小于 </a:t>
                </a:r>
                <a14:m xmlns:a14="http://schemas.microsoft.com/office/drawing/2010/main"/>
                <a:endParaRPr lang="en-US" altLang="zh-CN" sz="1600" baseline="-25000" dirty="0"/>
              </a:p>
              <a:p>
                <a:pPr lvl="1"/>
                <a:r>
                  <a:rPr lang="en-US" altLang="zh-CN" sz="1600" dirty="0"/>
                  <a:t>对于 ，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所指向</a:t>
                </a:r>
                <a:r>
                  <a:rPr lang="en-US" altLang="zh-CN" sz="1600" dirty="0"/>
                  <a:t>子树中的所有搜索键的</a:t>
                </a:r>
                <a:r>
                  <a:rPr lang="en-US" altLang="zh-CN" sz="1600" dirty="0"/>
                  <a:t>值都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大于或等于</a:t>
                </a:r>
                <a14:m xmlns:a14="http://schemas.microsoft.com/office/drawing/2010/main"/>
                <a:r>
                  <a:rPr lang="en-US" altLang="zh-CN" sz="1600" dirty="0"/>
                  <a:t> ，且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小于 </a:t>
                </a:r>
                <a14:m xmlns:a14="http://schemas.microsoft.com/office/drawing/2010/main"/>
                <a:endParaRPr lang="en-US" altLang="zh-CN" sz="1600" dirty="0"/>
              </a:p>
              <a:p>
                <a:pPr lvl="1"/>
                <a14:m xmlns:a14="http://schemas.microsoft.com/office/drawing/2010/main"/>
                <a:r>
                  <a:rPr lang="en-US" altLang="zh-CN" sz="1600" dirty="0"/>
                  <a:t> 指向</a:t>
                </a:r>
                <a:r>
                  <a:rPr lang="en-US" altLang="zh-CN" sz="1600" dirty="0"/>
                  <a:t>的子树中的所有搜索键</a:t>
                </a:r>
                <a:r>
                  <a:rPr lang="en-US" altLang="zh-CN" sz="1600" dirty="0"/>
                  <a:t>都大于或等于 </a:t>
                </a:r>
                <a14:m xmlns:a14="http://schemas.microsoft.com/office/drawing/2010/main"/>
                <a:endParaRPr lang="en-US" altLang="zh-CN" sz="1600" dirty="0"/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661D20-A0B6-4CCE-8154-9D1D20C4D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634D6228-43A5-4F44-A92A-D0DCA63A8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147814"/>
            <a:ext cx="5354984" cy="41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950534"/>
      </p:ext>
    </p:extLst>
  </p:cSld>
  <p:clrMapOvr>
    <a:masterClrMapping/>
  </p:clrMapOvr>
  <p:transition>
    <p:fade/>
  </p:transition>
</p:sld>
</file>

<file path=ppt/slides/slide30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7FBDE-1AF3-4E04-BA77-C7DC5F7B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-tree 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5975F8-22CD-4AFF-9213-31DC02BE5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2571749"/>
                <a:ext cx="7848872" cy="2022873"/>
              </a:xfrm>
            </p:spPr>
            <p:txBody>
              <a:bodyPr/>
              <a:lstStyle/>
              <a:p>
                <a:r>
                  <a:rPr lang="en-US" altLang="zh-CN" sz="1800" dirty="0"/>
                  <a:t>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 -tree for </a:t>
                </a:r>
                <a:r>
                  <a:rPr lang="en-US" altLang="zh-CN" sz="18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account </a:t>
                </a:r>
                <a:r>
                  <a:rPr lang="en-US" altLang="zh-CN" sz="1800" dirty="0"/>
                  <a:t>file (</a:t>
                </a:r>
                <a14:m xmlns:a14="http://schemas.microsoft.com/office/drawing/2010/main"/>
                <a:r>
                  <a:rPr lang="en-US" altLang="zh-CN" sz="1800" dirty="0"/>
                  <a:t> = 6)</a:t>
                </a:r>
              </a:p>
              <a:p>
                <a:pPr lvl="1"/>
                <a:r>
                  <a:rPr lang="en-US" altLang="zh-CN" sz="1600" dirty="0"/>
                  <a:t>叶节点必须有 3 到 5 个值 </a:t>
                </a:r>
                <a:br>
                  <a:rPr lang="en-US" altLang="zh-CN" sz="1600" dirty="0"/>
                </a:br>
                <a:r>
                  <a:rPr lang="en-US" altLang="zh-CN" sz="1600" dirty="0"/>
                  <a:t>(</a:t>
                </a:r>
                <a14:m xmlns:a14="http://schemas.microsoft.com/office/drawing/2010/main"/>
                <a:r>
                  <a:rPr lang="en-US" altLang="zh-CN" sz="1600" dirty="0"/>
                  <a:t> 和 )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根节点以外的非叶节点必须有 3 到 6 个子节点 (</a:t>
                </a:r>
                <a14:m xmlns:a14="http://schemas.microsoft.com/office/drawing/2010/main"/>
                <a:r>
                  <a:rPr lang="en-US" altLang="zh-CN" sz="1600" dirty="0"/>
                  <a:t> 和 )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根部必须至少有两个孩子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5975F8-22CD-4AFF-9213-31DC02BE5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571749"/>
                <a:ext cx="7848872" cy="2022873"/>
              </a:xfrm>
              <a:blipFill>
                <a:blip r:embed="rId2"/>
                <a:stretch>
                  <a:fillRect l="-466" t="-1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E59C93-0CEF-4D96-8460-72B75099999B}"/>
                  </a:ext>
                </a:extLst>
              </p:cNvPr>
              <p:cNvSpPr txBox="1"/>
              <p:nvPr/>
            </p:nvSpPr>
            <p:spPr>
              <a:xfrm>
                <a:off x="7139410" y="1043596"/>
                <a:ext cx="15121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 xmlns:a14="http://schemas.microsoft.com/office/drawing/2010/main"/>
                <a:r>
                  <a:rPr lang="en-US" altLang="zh-CN" sz="2800" b="1" dirty="0">
                    <a:solidFill>
                      <a:srgbClr val="C00000"/>
                    </a:solidFill>
                  </a:rPr>
                  <a:t>=?</a:t>
                </a:r>
                <a:endParaRPr lang="zh-CN" alt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E59C93-0CEF-4D96-8460-72B750999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410" y="1043596"/>
                <a:ext cx="1512168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908819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829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3B9F9-A7AD-447D-B6BD-98EDD0D4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关于 B</a:t>
            </a:r>
            <a:r>
              <a:rPr lang="en-US" altLang="zh-CN" baseline="30000" dirty="0"/>
              <a:t>+</a:t>
            </a:r>
            <a:r>
              <a:rPr lang="en-US" altLang="zh-CN" dirty="0"/>
              <a:t> -tree 的意见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1E5A4D-FE52-4416-9F4C-E4C4591F6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由于节点间的连接是通过指针实现的，因此 "逻辑上 "相近的区块不必 "物理上 "相近</a:t>
                </a:r>
              </a:p>
              <a:p>
                <a:r>
                  <a:rPr lang="en-US" altLang="zh-CN" sz="1600" dirty="0"/>
                  <a:t>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 -树的非叶级</a:t>
                </a:r>
                <a:r>
                  <a:rPr lang="en-US" altLang="zh-CN" sz="1600" dirty="0"/>
                  <a:t>构成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稀疏索引</a:t>
                </a:r>
                <a:r>
                  <a:rPr lang="en-US" altLang="zh-CN" sz="1600" dirty="0"/>
                  <a:t>的层次结构</a:t>
                </a:r>
              </a:p>
              <a:p>
                <a:r>
                  <a:rPr lang="en-US" altLang="zh-CN" sz="1600" dirty="0"/>
                  <a:t>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 -tree 包含的层数相对较少，可以高效地进行搜索</a:t>
                </a:r>
              </a:p>
              <a:p>
                <a:pPr lvl="1"/>
                <a:r>
                  <a:rPr lang="en-US" altLang="zh-CN" sz="1400" dirty="0"/>
                  <a:t>如果</a:t>
                </a:r>
                <a:r>
                  <a:rPr lang="en-US" altLang="zh-CN" sz="1400" dirty="0"/>
                  <a:t>文件中有</a:t>
                </a:r>
                <a14:m xmlns:a14="http://schemas.microsoft.com/office/drawing/2010/main"/>
                <a:r>
                  <a:rPr lang="en-US" altLang="zh-CN" sz="1400" dirty="0"/>
                  <a:t> 搜索关键值，树的高度不会超过 </a:t>
                </a:r>
                <a14:m xmlns:a14="http://schemas.microsoft.com/office/drawing/2010/main"/>
                <a:endParaRPr lang="en-US" altLang="zh-CN" sz="1400" dirty="0"/>
              </a:p>
              <a:p>
                <a:pPr lvl="2"/>
                <a:r>
                  <a:rPr lang="en-US" altLang="zh-CN" sz="1200" dirty="0"/>
                  <a:t>根下面的层至少有</a:t>
                </a:r>
                <a14:m xmlns:a14="http://schemas.microsoft.com/office/drawing/2010/main"/>
                <a:r>
                  <a:rPr lang="en-US" altLang="zh-CN" sz="1200" dirty="0"/>
                  <a:t> 值</a:t>
                </a:r>
              </a:p>
              <a:p>
                <a:pPr lvl="2"/>
                <a:r>
                  <a:rPr lang="en-US" altLang="zh-CN" sz="1200" dirty="0"/>
                  <a:t>下一级至少有</a:t>
                </a:r>
                <a14:m xmlns:a14="http://schemas.microsoft.com/office/drawing/2010/main"/>
                <a:r>
                  <a:rPr lang="en-US" altLang="zh-CN" sz="1200" dirty="0"/>
                  <a:t> 值</a:t>
                </a:r>
              </a:p>
              <a:p>
                <a:pPr lvl="2"/>
                <a:r>
                  <a:rPr lang="en-US" altLang="zh-CN" sz="1200" dirty="0"/>
                  <a:t>...</a:t>
                </a:r>
              </a:p>
              <a:p>
                <a:r>
                  <a:rPr lang="en-US" altLang="zh-CN" sz="1600" dirty="0"/>
                  <a:t>可高效处理索引文件的插入和删除</a:t>
                </a:r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1E5A4D-FE52-4416-9F4C-E4C4591F6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12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4F1F4-EFF1-48A2-B2C2-FCDD4CC7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查询 B - 树</a:t>
            </a:r>
            <a:r>
              <a:rPr lang="en-US" altLang="zh-CN" baseline="30000" dirty="0"/>
              <a:t>+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95A21C-8F87-4C64-8836-006A12A30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查找搜索键值为 </a:t>
                </a:r>
                <a14:m xmlns:a14="http://schemas.microsoft.com/office/drawing/2010/main"/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从根节点开始</a:t>
                </a:r>
              </a:p>
              <a:p>
                <a:pPr lvl="2"/>
                <a:r>
                  <a:rPr lang="en-US" altLang="zh-CN" sz="1400" dirty="0"/>
                  <a:t>检查节点的最小搜索键值&gt;k</a:t>
                </a:r>
              </a:p>
              <a:p>
                <a:pPr lvl="2"/>
                <a:r>
                  <a:rPr lang="en-US" altLang="zh-CN" sz="1400" dirty="0"/>
                  <a:t>如果存在这样一个值，则假定它是</a:t>
                </a:r>
                <a14:m xmlns:a14="http://schemas.microsoft.com/office/drawing/2010/main"/>
                <a:r>
                  <a:rPr lang="en-US" altLang="zh-CN" sz="1400" dirty="0"/>
                  <a:t> 。然后按照</a:t>
                </a:r>
                <a14:m xmlns:a14="http://schemas.microsoft.com/office/drawing/2010/main"/>
                <a:r>
                  <a:rPr lang="en-US" altLang="zh-CN" sz="1400" dirty="0"/>
                  <a:t> 进入子节点</a:t>
                </a:r>
              </a:p>
              <a:p>
                <a:pPr lvl="2"/>
                <a:r>
                  <a:rPr lang="en-US" altLang="zh-CN" sz="1400" dirty="0"/>
                  <a:t>否则</a:t>
                </a:r>
                <a14:m xmlns:a14="http://schemas.microsoft.com/office/drawing/2010/main"/>
                <a:r>
                  <a:rPr lang="en-US" altLang="zh-CN" sz="1400" dirty="0"/>
                  <a:t> ，节点中有</a:t>
                </a:r>
                <a14:m xmlns:a14="http://schemas.microsoft.com/office/drawing/2010/main"/>
                <a:r>
                  <a:rPr lang="en-US" altLang="zh-CN" sz="1400" dirty="0"/>
                  <a:t> 指针。然后按照</a:t>
                </a:r>
                <a14:m xmlns:a14="http://schemas.microsoft.com/office/drawing/2010/main"/>
                <a:r>
                  <a:rPr lang="en-US" altLang="zh-CN" sz="1400" dirty="0"/>
                  <a:t> 进入子节点</a:t>
                </a:r>
              </a:p>
              <a:p>
                <a:pPr lvl="1"/>
                <a:r>
                  <a:rPr lang="en-US" altLang="zh-CN" sz="1600" dirty="0"/>
                  <a:t>如果通过上述指针到达的节点不是叶节点，则在该节点上重复上述步骤，并按照相应的指针进行操作</a:t>
                </a:r>
              </a:p>
              <a:p>
                <a:pPr lvl="1"/>
                <a:r>
                  <a:rPr lang="en-US" altLang="zh-CN" sz="1600" dirty="0"/>
                  <a:t>最终到达叶节点。如果某个</a:t>
                </a:r>
                <a14:m xmlns:a14="http://schemas.microsoft.com/office/drawing/2010/main"/>
                <a:r>
                  <a:rPr lang="en-US" altLang="zh-CN" sz="1600" dirty="0"/>
                  <a:t> ，关键字</a:t>
                </a:r>
                <a14:m xmlns:a14="http://schemas.microsoft.com/office/drawing/2010/main"/>
                <a:r>
                  <a:rPr lang="en-US" altLang="zh-CN" sz="1600" dirty="0"/>
                  <a:t> ，则按照指针</a:t>
                </a:r>
                <a14:m xmlns:a14="http://schemas.microsoft.com/office/drawing/2010/main"/>
                <a:r>
                  <a:rPr lang="en-US" altLang="zh-CN" sz="1600" dirty="0"/>
                  <a:t> 找到所需的记录或桶。否则不</a:t>
                </a:r>
                <a:r>
                  <a:rPr lang="en-US" altLang="zh-CN" sz="1600" dirty="0"/>
                  <a:t>存在</a:t>
                </a:r>
                <a:r>
                  <a:rPr lang="en-US" altLang="zh-CN" sz="1600" dirty="0"/>
                  <a:t>搜索键值为</a:t>
                </a:r>
                <a14:m xmlns:a14="http://schemas.microsoft.com/office/drawing/2010/main"/>
                <a:r>
                  <a:rPr lang="en-US" altLang="zh-CN" sz="1600" dirty="0"/>
                  <a:t> 的记录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95A21C-8F87-4C64-8836-006A12A30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>
            <a:extLst>
              <a:ext uri="{FF2B5EF4-FFF2-40B4-BE49-F238E27FC236}">
                <a16:creationId xmlns:a16="http://schemas.microsoft.com/office/drawing/2014/main" id="{0CF6C698-0F21-49B1-A891-58A8A4BF0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23878"/>
            <a:ext cx="5040560" cy="39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764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EFFE-6C17-465E-83F4-B74B5A87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示例：对 B</a:t>
            </a:r>
            <a:r>
              <a:rPr lang="en-US" altLang="zh-CN" baseline="30000" dirty="0"/>
              <a:t>+</a:t>
            </a:r>
            <a:r>
              <a:rPr lang="en-US" altLang="zh-CN" dirty="0"/>
              <a:t> - 树的查询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053E-89C9-4939-A8E1-BF671114D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搜索从根开始，关键字比较将搜索导向叶</a:t>
            </a:r>
          </a:p>
          <a:p>
            <a:pPr lvl="1"/>
            <a:r>
              <a:rPr lang="en-US" altLang="zh-CN" sz="1800" dirty="0"/>
              <a:t>搜索</a:t>
            </a:r>
            <a:r>
              <a:rPr lang="en-US" altLang="zh-CN" sz="1800" dirty="0" err="1"/>
              <a:t>佩里里奇</a:t>
            </a:r>
            <a:endParaRPr lang="en-US" altLang="zh-CN" sz="1800" dirty="0"/>
          </a:p>
          <a:p>
            <a:endParaRPr lang="zh-CN" altLang="en-US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B604EB8-8D2F-4F1E-863E-27A94146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" t="30812" r="401" b="31081"/>
          <a:stretch>
            <a:fillRect/>
          </a:stretch>
        </p:blipFill>
        <p:spPr bwMode="auto">
          <a:xfrm>
            <a:off x="971600" y="1851670"/>
            <a:ext cx="6264696" cy="1808876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985551"/>
      </p:ext>
    </p:extLst>
  </p:cSld>
  <p:clrMapOvr>
    <a:masterClrMapping/>
  </p:clrMapOvr>
  <p:transition>
    <p:fade/>
  </p:transition>
</p:sld>
</file>

<file path=ppt/slides/slide3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EFFE-6C17-465E-83F4-B74B5A87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示例：对 B</a:t>
            </a:r>
            <a:r>
              <a:rPr lang="en-US" altLang="zh-CN" baseline="30000" dirty="0"/>
              <a:t>+</a:t>
            </a:r>
            <a:r>
              <a:rPr lang="en-US" altLang="zh-CN" dirty="0"/>
              <a:t> - 树的查询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053E-89C9-4939-A8E1-BF671114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2000" dirty="0"/>
              <a:t>搜索从根开始，关键字比较将搜索导向叶</a:t>
            </a:r>
          </a:p>
          <a:p>
            <a:pPr lvl="1"/>
            <a:r>
              <a:rPr lang="en-US" altLang="zh-CN" sz="1800" dirty="0"/>
              <a:t>搜索 </a:t>
            </a:r>
            <a:r>
              <a:rPr lang="en-US" altLang="zh-CN" sz="180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5*、15*、所有 &gt;= 24* 的数据项 </a:t>
            </a:r>
            <a:endParaRPr lang="en-US" altLang="zh-CN" sz="1600" dirty="0"/>
          </a:p>
          <a:p>
            <a:endParaRPr lang="zh-CN" alt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C5FC0-81D2-4BD4-A76D-6EECA53BA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3676898"/>
            <a:ext cx="1428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1CFFC-B698-4629-8A1A-BA807986C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3676898"/>
            <a:ext cx="2171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E0BA6A7-1D85-4B8F-841B-4DBFD4F73053}"/>
              </a:ext>
            </a:extLst>
          </p:cNvPr>
          <p:cNvSpPr>
            <a:spLocks/>
          </p:cNvSpPr>
          <p:nvPr/>
        </p:nvSpPr>
        <p:spPr bwMode="auto">
          <a:xfrm>
            <a:off x="3596879" y="2206476"/>
            <a:ext cx="417909" cy="348854"/>
          </a:xfrm>
          <a:custGeom>
            <a:avLst/>
            <a:gdLst>
              <a:gd name="T0" fmla="*/ 0 w 351"/>
              <a:gd name="T1" fmla="*/ 2147483646 h 293"/>
              <a:gd name="T2" fmla="*/ 0 w 351"/>
              <a:gd name="T3" fmla="*/ 0 h 293"/>
              <a:gd name="T4" fmla="*/ 2147483646 w 351"/>
              <a:gd name="T5" fmla="*/ 0 h 293"/>
              <a:gd name="T6" fmla="*/ 2147483646 w 351"/>
              <a:gd name="T7" fmla="*/ 2147483646 h 293"/>
              <a:gd name="T8" fmla="*/ 0 w 351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"/>
              <a:gd name="T16" fmla="*/ 0 h 293"/>
              <a:gd name="T17" fmla="*/ 351 w 351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" h="293">
                <a:moveTo>
                  <a:pt x="0" y="292"/>
                </a:moveTo>
                <a:lnTo>
                  <a:pt x="0" y="0"/>
                </a:lnTo>
                <a:lnTo>
                  <a:pt x="350" y="0"/>
                </a:lnTo>
                <a:lnTo>
                  <a:pt x="350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F1588E8-C085-4B0D-90CB-6344A52C1B8A}"/>
              </a:ext>
            </a:extLst>
          </p:cNvPr>
          <p:cNvSpPr>
            <a:spLocks/>
          </p:cNvSpPr>
          <p:nvPr/>
        </p:nvSpPr>
        <p:spPr bwMode="auto">
          <a:xfrm>
            <a:off x="3667125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2DC60DC-F591-4017-95AD-AAE7B4085C6E}"/>
              </a:ext>
            </a:extLst>
          </p:cNvPr>
          <p:cNvSpPr>
            <a:spLocks/>
          </p:cNvSpPr>
          <p:nvPr/>
        </p:nvSpPr>
        <p:spPr bwMode="auto">
          <a:xfrm>
            <a:off x="4013598" y="2206476"/>
            <a:ext cx="420290" cy="348854"/>
          </a:xfrm>
          <a:custGeom>
            <a:avLst/>
            <a:gdLst>
              <a:gd name="T0" fmla="*/ 0 w 353"/>
              <a:gd name="T1" fmla="*/ 2147483646 h 293"/>
              <a:gd name="T2" fmla="*/ 0 w 353"/>
              <a:gd name="T3" fmla="*/ 0 h 293"/>
              <a:gd name="T4" fmla="*/ 2147483646 w 353"/>
              <a:gd name="T5" fmla="*/ 0 h 293"/>
              <a:gd name="T6" fmla="*/ 2147483646 w 353"/>
              <a:gd name="T7" fmla="*/ 2147483646 h 293"/>
              <a:gd name="T8" fmla="*/ 0 w 353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E746B-75D2-4A2C-8C45-CE31C80B35DF}"/>
              </a:ext>
            </a:extLst>
          </p:cNvPr>
          <p:cNvSpPr>
            <a:spLocks/>
          </p:cNvSpPr>
          <p:nvPr/>
        </p:nvSpPr>
        <p:spPr bwMode="auto">
          <a:xfrm>
            <a:off x="4085035" y="2206476"/>
            <a:ext cx="1190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C966908-F904-4420-90B3-6B9512A9915A}"/>
              </a:ext>
            </a:extLst>
          </p:cNvPr>
          <p:cNvSpPr>
            <a:spLocks/>
          </p:cNvSpPr>
          <p:nvPr/>
        </p:nvSpPr>
        <p:spPr bwMode="auto">
          <a:xfrm>
            <a:off x="4432697" y="2206476"/>
            <a:ext cx="419100" cy="348854"/>
          </a:xfrm>
          <a:custGeom>
            <a:avLst/>
            <a:gdLst>
              <a:gd name="T0" fmla="*/ 0 w 352"/>
              <a:gd name="T1" fmla="*/ 2147483646 h 293"/>
              <a:gd name="T2" fmla="*/ 0 w 352"/>
              <a:gd name="T3" fmla="*/ 0 h 293"/>
              <a:gd name="T4" fmla="*/ 2147483646 w 352"/>
              <a:gd name="T5" fmla="*/ 0 h 293"/>
              <a:gd name="T6" fmla="*/ 2147483646 w 352"/>
              <a:gd name="T7" fmla="*/ 2147483646 h 293"/>
              <a:gd name="T8" fmla="*/ 0 w 352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"/>
              <a:gd name="T16" fmla="*/ 0 h 293"/>
              <a:gd name="T17" fmla="*/ 352 w 352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" h="293">
                <a:moveTo>
                  <a:pt x="0" y="292"/>
                </a:moveTo>
                <a:lnTo>
                  <a:pt x="0" y="0"/>
                </a:lnTo>
                <a:lnTo>
                  <a:pt x="351" y="0"/>
                </a:lnTo>
                <a:lnTo>
                  <a:pt x="351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90C562D-637F-4A35-8AE2-5A7FCC435D5D}"/>
              </a:ext>
            </a:extLst>
          </p:cNvPr>
          <p:cNvSpPr>
            <a:spLocks/>
          </p:cNvSpPr>
          <p:nvPr/>
        </p:nvSpPr>
        <p:spPr bwMode="auto">
          <a:xfrm>
            <a:off x="4502944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F5779B-52DA-4317-BEAC-8FD91BA6D69D}"/>
              </a:ext>
            </a:extLst>
          </p:cNvPr>
          <p:cNvSpPr>
            <a:spLocks/>
          </p:cNvSpPr>
          <p:nvPr/>
        </p:nvSpPr>
        <p:spPr bwMode="auto">
          <a:xfrm>
            <a:off x="4850606" y="2206476"/>
            <a:ext cx="420291" cy="348854"/>
          </a:xfrm>
          <a:custGeom>
            <a:avLst/>
            <a:gdLst>
              <a:gd name="T0" fmla="*/ 0 w 353"/>
              <a:gd name="T1" fmla="*/ 2147483646 h 293"/>
              <a:gd name="T2" fmla="*/ 0 w 353"/>
              <a:gd name="T3" fmla="*/ 0 h 293"/>
              <a:gd name="T4" fmla="*/ 2147483646 w 353"/>
              <a:gd name="T5" fmla="*/ 0 h 293"/>
              <a:gd name="T6" fmla="*/ 2147483646 w 353"/>
              <a:gd name="T7" fmla="*/ 2147483646 h 293"/>
              <a:gd name="T8" fmla="*/ 0 w 353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2B2847-6F46-4FFB-AD19-A23AB2211BD7}"/>
              </a:ext>
            </a:extLst>
          </p:cNvPr>
          <p:cNvSpPr>
            <a:spLocks/>
          </p:cNvSpPr>
          <p:nvPr/>
        </p:nvSpPr>
        <p:spPr bwMode="auto">
          <a:xfrm>
            <a:off x="4919663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507847-2D19-4336-B2F2-92FF0FC64AE2}"/>
              </a:ext>
            </a:extLst>
          </p:cNvPr>
          <p:cNvSpPr>
            <a:spLocks/>
          </p:cNvSpPr>
          <p:nvPr/>
        </p:nvSpPr>
        <p:spPr bwMode="auto">
          <a:xfrm>
            <a:off x="5269707" y="2206476"/>
            <a:ext cx="70247" cy="348854"/>
          </a:xfrm>
          <a:custGeom>
            <a:avLst/>
            <a:gdLst>
              <a:gd name="T0" fmla="*/ 0 w 59"/>
              <a:gd name="T1" fmla="*/ 2147483646 h 293"/>
              <a:gd name="T2" fmla="*/ 0 w 59"/>
              <a:gd name="T3" fmla="*/ 0 h 293"/>
              <a:gd name="T4" fmla="*/ 2147483646 w 59"/>
              <a:gd name="T5" fmla="*/ 0 h 293"/>
              <a:gd name="T6" fmla="*/ 2147483646 w 59"/>
              <a:gd name="T7" fmla="*/ 2147483646 h 293"/>
              <a:gd name="T8" fmla="*/ 0 w 59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293"/>
              <a:gd name="T17" fmla="*/ 59 w 59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293">
                <a:moveTo>
                  <a:pt x="0" y="292"/>
                </a:moveTo>
                <a:lnTo>
                  <a:pt x="0" y="0"/>
                </a:lnTo>
                <a:lnTo>
                  <a:pt x="58" y="0"/>
                </a:lnTo>
                <a:lnTo>
                  <a:pt x="58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5494173-FDA5-4B7E-A452-A515C4D68C44}"/>
              </a:ext>
            </a:extLst>
          </p:cNvPr>
          <p:cNvSpPr>
            <a:spLocks/>
          </p:cNvSpPr>
          <p:nvPr/>
        </p:nvSpPr>
        <p:spPr bwMode="auto">
          <a:xfrm>
            <a:off x="6418660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4D1757D-9456-4212-9C7F-9D0EEF8873F8}"/>
              </a:ext>
            </a:extLst>
          </p:cNvPr>
          <p:cNvSpPr>
            <a:spLocks/>
          </p:cNvSpPr>
          <p:nvPr/>
        </p:nvSpPr>
        <p:spPr bwMode="auto">
          <a:xfrm>
            <a:off x="6697266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5585C35-3595-41C0-85EE-350AECB88278}"/>
              </a:ext>
            </a:extLst>
          </p:cNvPr>
          <p:cNvSpPr>
            <a:spLocks/>
          </p:cNvSpPr>
          <p:nvPr/>
        </p:nvSpPr>
        <p:spPr bwMode="auto">
          <a:xfrm>
            <a:off x="6975872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CB446FD-1897-4F70-93C4-C0BE5761AC05}"/>
              </a:ext>
            </a:extLst>
          </p:cNvPr>
          <p:cNvSpPr>
            <a:spLocks/>
          </p:cNvSpPr>
          <p:nvPr/>
        </p:nvSpPr>
        <p:spPr bwMode="auto">
          <a:xfrm>
            <a:off x="7255669" y="3282802"/>
            <a:ext cx="278606" cy="279797"/>
          </a:xfrm>
          <a:custGeom>
            <a:avLst/>
            <a:gdLst>
              <a:gd name="T0" fmla="*/ 0 w 234"/>
              <a:gd name="T1" fmla="*/ 2147483646 h 235"/>
              <a:gd name="T2" fmla="*/ 0 w 234"/>
              <a:gd name="T3" fmla="*/ 0 h 235"/>
              <a:gd name="T4" fmla="*/ 2147483646 w 234"/>
              <a:gd name="T5" fmla="*/ 0 h 235"/>
              <a:gd name="T6" fmla="*/ 2147483646 w 234"/>
              <a:gd name="T7" fmla="*/ 2147483646 h 235"/>
              <a:gd name="T8" fmla="*/ 0 w 234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"/>
              <a:gd name="T16" fmla="*/ 0 h 235"/>
              <a:gd name="T17" fmla="*/ 234 w 234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" h="235">
                <a:moveTo>
                  <a:pt x="0" y="234"/>
                </a:moveTo>
                <a:lnTo>
                  <a:pt x="0" y="0"/>
                </a:lnTo>
                <a:lnTo>
                  <a:pt x="233" y="0"/>
                </a:lnTo>
                <a:lnTo>
                  <a:pt x="233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345C1F25-1CF2-405E-A7E2-F2BFAF05E90B}"/>
              </a:ext>
            </a:extLst>
          </p:cNvPr>
          <p:cNvSpPr>
            <a:spLocks/>
          </p:cNvSpPr>
          <p:nvPr/>
        </p:nvSpPr>
        <p:spPr bwMode="auto">
          <a:xfrm>
            <a:off x="1402557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95C3530-6CA5-4DE5-B67F-26391BD54104}"/>
              </a:ext>
            </a:extLst>
          </p:cNvPr>
          <p:cNvSpPr>
            <a:spLocks/>
          </p:cNvSpPr>
          <p:nvPr/>
        </p:nvSpPr>
        <p:spPr bwMode="auto">
          <a:xfrm>
            <a:off x="168116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82E5D6E-5CCE-44ED-ACBE-A7EE9CA66F99}"/>
              </a:ext>
            </a:extLst>
          </p:cNvPr>
          <p:cNvSpPr>
            <a:spLocks/>
          </p:cNvSpPr>
          <p:nvPr/>
        </p:nvSpPr>
        <p:spPr bwMode="auto">
          <a:xfrm>
            <a:off x="1959769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C608CF6-8385-40A0-BD1A-6EE61887BA0C}"/>
              </a:ext>
            </a:extLst>
          </p:cNvPr>
          <p:cNvSpPr>
            <a:spLocks/>
          </p:cNvSpPr>
          <p:nvPr/>
        </p:nvSpPr>
        <p:spPr bwMode="auto">
          <a:xfrm>
            <a:off x="2238376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58EC30-A42B-471D-8EDD-F870B301C3FA}"/>
              </a:ext>
            </a:extLst>
          </p:cNvPr>
          <p:cNvSpPr>
            <a:spLocks/>
          </p:cNvSpPr>
          <p:nvPr/>
        </p:nvSpPr>
        <p:spPr bwMode="auto">
          <a:xfrm>
            <a:off x="2656285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9E9F76A8-54C5-4426-BCD7-979CBA9352E1}"/>
              </a:ext>
            </a:extLst>
          </p:cNvPr>
          <p:cNvSpPr>
            <a:spLocks/>
          </p:cNvSpPr>
          <p:nvPr/>
        </p:nvSpPr>
        <p:spPr bwMode="auto">
          <a:xfrm>
            <a:off x="2934891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8D864684-D999-4B80-88F5-A8606B7735D4}"/>
              </a:ext>
            </a:extLst>
          </p:cNvPr>
          <p:cNvSpPr>
            <a:spLocks/>
          </p:cNvSpPr>
          <p:nvPr/>
        </p:nvSpPr>
        <p:spPr bwMode="auto">
          <a:xfrm>
            <a:off x="3213497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01C9B2C0-11CD-4D62-B272-A658DF8DE76B}"/>
              </a:ext>
            </a:extLst>
          </p:cNvPr>
          <p:cNvSpPr>
            <a:spLocks/>
          </p:cNvSpPr>
          <p:nvPr/>
        </p:nvSpPr>
        <p:spPr bwMode="auto">
          <a:xfrm>
            <a:off x="349210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DA3E4C9-1AB0-403D-867F-5CB0DAE5B0D8}"/>
              </a:ext>
            </a:extLst>
          </p:cNvPr>
          <p:cNvSpPr>
            <a:spLocks/>
          </p:cNvSpPr>
          <p:nvPr/>
        </p:nvSpPr>
        <p:spPr bwMode="auto">
          <a:xfrm>
            <a:off x="391001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C5BE6388-3878-4949-958C-CD621830EA0F}"/>
              </a:ext>
            </a:extLst>
          </p:cNvPr>
          <p:cNvSpPr>
            <a:spLocks/>
          </p:cNvSpPr>
          <p:nvPr/>
        </p:nvSpPr>
        <p:spPr bwMode="auto">
          <a:xfrm>
            <a:off x="4188619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D258073-195F-4B1F-B5D9-D8FE808B29AA}"/>
              </a:ext>
            </a:extLst>
          </p:cNvPr>
          <p:cNvSpPr>
            <a:spLocks/>
          </p:cNvSpPr>
          <p:nvPr/>
        </p:nvSpPr>
        <p:spPr bwMode="auto">
          <a:xfrm>
            <a:off x="4467225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0306585-0405-439D-B56C-7C2E0EB6D1E1}"/>
              </a:ext>
            </a:extLst>
          </p:cNvPr>
          <p:cNvSpPr>
            <a:spLocks/>
          </p:cNvSpPr>
          <p:nvPr/>
        </p:nvSpPr>
        <p:spPr bwMode="auto">
          <a:xfrm>
            <a:off x="4747022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05B8BB72-D2FC-4BAF-969B-0BAEA5E18738}"/>
              </a:ext>
            </a:extLst>
          </p:cNvPr>
          <p:cNvSpPr>
            <a:spLocks/>
          </p:cNvSpPr>
          <p:nvPr/>
        </p:nvSpPr>
        <p:spPr bwMode="auto">
          <a:xfrm>
            <a:off x="5163741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B33D9151-0844-4E98-B06A-35E6973A07DD}"/>
              </a:ext>
            </a:extLst>
          </p:cNvPr>
          <p:cNvSpPr>
            <a:spLocks/>
          </p:cNvSpPr>
          <p:nvPr/>
        </p:nvSpPr>
        <p:spPr bwMode="auto">
          <a:xfrm>
            <a:off x="5443538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5CED962-76CA-4639-B400-DC269B7639BD}"/>
              </a:ext>
            </a:extLst>
          </p:cNvPr>
          <p:cNvSpPr>
            <a:spLocks/>
          </p:cNvSpPr>
          <p:nvPr/>
        </p:nvSpPr>
        <p:spPr bwMode="auto">
          <a:xfrm>
            <a:off x="5722144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D34E241E-672B-427D-8936-29E439CD0476}"/>
              </a:ext>
            </a:extLst>
          </p:cNvPr>
          <p:cNvSpPr>
            <a:spLocks/>
          </p:cNvSpPr>
          <p:nvPr/>
        </p:nvSpPr>
        <p:spPr bwMode="auto">
          <a:xfrm>
            <a:off x="6000751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6120D12-B9DB-470A-8624-17760E30EDBC}"/>
              </a:ext>
            </a:extLst>
          </p:cNvPr>
          <p:cNvSpPr>
            <a:spLocks/>
          </p:cNvSpPr>
          <p:nvPr/>
        </p:nvSpPr>
        <p:spPr bwMode="auto">
          <a:xfrm>
            <a:off x="1782367" y="2510086"/>
            <a:ext cx="1850231" cy="757238"/>
          </a:xfrm>
          <a:custGeom>
            <a:avLst/>
            <a:gdLst>
              <a:gd name="T0" fmla="*/ 2147483646 w 1398"/>
              <a:gd name="T1" fmla="*/ 0 h 636"/>
              <a:gd name="T2" fmla="*/ 0 w 1398"/>
              <a:gd name="T3" fmla="*/ 2147483646 h 636"/>
              <a:gd name="T4" fmla="*/ 2147483646 w 1398"/>
              <a:gd name="T5" fmla="*/ 0 h 636"/>
              <a:gd name="T6" fmla="*/ 0 60000 65536"/>
              <a:gd name="T7" fmla="*/ 0 60000 65536"/>
              <a:gd name="T8" fmla="*/ 0 60000 65536"/>
              <a:gd name="T9" fmla="*/ 0 w 1398"/>
              <a:gd name="T10" fmla="*/ 0 h 636"/>
              <a:gd name="T11" fmla="*/ 1398 w 1398"/>
              <a:gd name="T12" fmla="*/ 636 h 6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6">
                <a:moveTo>
                  <a:pt x="1397" y="0"/>
                </a:moveTo>
                <a:lnTo>
                  <a:pt x="0" y="635"/>
                </a:lnTo>
                <a:lnTo>
                  <a:pt x="139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36058C6-AEB0-46AF-9C17-8CE30306F694}"/>
              </a:ext>
            </a:extLst>
          </p:cNvPr>
          <p:cNvSpPr>
            <a:spLocks/>
          </p:cNvSpPr>
          <p:nvPr/>
        </p:nvSpPr>
        <p:spPr bwMode="auto">
          <a:xfrm>
            <a:off x="1739503" y="3229223"/>
            <a:ext cx="89297" cy="57150"/>
          </a:xfrm>
          <a:custGeom>
            <a:avLst/>
            <a:gdLst>
              <a:gd name="T0" fmla="*/ 2147483646 w 75"/>
              <a:gd name="T1" fmla="*/ 2147483646 h 48"/>
              <a:gd name="T2" fmla="*/ 0 w 75"/>
              <a:gd name="T3" fmla="*/ 2147483646 h 48"/>
              <a:gd name="T4" fmla="*/ 2147483646 w 75"/>
              <a:gd name="T5" fmla="*/ 0 h 48"/>
              <a:gd name="T6" fmla="*/ 2147483646 w 75"/>
              <a:gd name="T7" fmla="*/ 2147483646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8"/>
              <a:gd name="T14" fmla="*/ 75 w 75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8">
                <a:moveTo>
                  <a:pt x="74" y="33"/>
                </a:moveTo>
                <a:lnTo>
                  <a:pt x="0" y="47"/>
                </a:lnTo>
                <a:lnTo>
                  <a:pt x="59" y="0"/>
                </a:lnTo>
                <a:lnTo>
                  <a:pt x="74" y="3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E43E728F-9D2A-4372-9600-CD8A790C6009}"/>
              </a:ext>
            </a:extLst>
          </p:cNvPr>
          <p:cNvSpPr>
            <a:spLocks/>
          </p:cNvSpPr>
          <p:nvPr/>
        </p:nvSpPr>
        <p:spPr bwMode="auto">
          <a:xfrm>
            <a:off x="3077767" y="2538661"/>
            <a:ext cx="954881" cy="708422"/>
          </a:xfrm>
          <a:custGeom>
            <a:avLst/>
            <a:gdLst>
              <a:gd name="T0" fmla="*/ 2147483646 w 696"/>
              <a:gd name="T1" fmla="*/ 0 h 628"/>
              <a:gd name="T2" fmla="*/ 0 w 696"/>
              <a:gd name="T3" fmla="*/ 2147483646 h 628"/>
              <a:gd name="T4" fmla="*/ 2147483646 w 696"/>
              <a:gd name="T5" fmla="*/ 0 h 628"/>
              <a:gd name="T6" fmla="*/ 0 60000 65536"/>
              <a:gd name="T7" fmla="*/ 0 60000 65536"/>
              <a:gd name="T8" fmla="*/ 0 60000 65536"/>
              <a:gd name="T9" fmla="*/ 0 w 696"/>
              <a:gd name="T10" fmla="*/ 0 h 628"/>
              <a:gd name="T11" fmla="*/ 696 w 696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628">
                <a:moveTo>
                  <a:pt x="695" y="0"/>
                </a:moveTo>
                <a:lnTo>
                  <a:pt x="0" y="627"/>
                </a:lnTo>
                <a:lnTo>
                  <a:pt x="69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F07A1BC-FD12-4B9A-87C0-DDD44AC851EF}"/>
              </a:ext>
            </a:extLst>
          </p:cNvPr>
          <p:cNvSpPr>
            <a:spLocks/>
          </p:cNvSpPr>
          <p:nvPr/>
        </p:nvSpPr>
        <p:spPr bwMode="auto">
          <a:xfrm>
            <a:off x="2990850" y="3230414"/>
            <a:ext cx="80963" cy="76200"/>
          </a:xfrm>
          <a:custGeom>
            <a:avLst/>
            <a:gdLst>
              <a:gd name="T0" fmla="*/ 2147483646 w 68"/>
              <a:gd name="T1" fmla="*/ 2147483646 h 64"/>
              <a:gd name="T2" fmla="*/ 0 w 68"/>
              <a:gd name="T3" fmla="*/ 2147483646 h 64"/>
              <a:gd name="T4" fmla="*/ 2147483646 w 68"/>
              <a:gd name="T5" fmla="*/ 0 h 64"/>
              <a:gd name="T6" fmla="*/ 2147483646 w 68"/>
              <a:gd name="T7" fmla="*/ 2147483646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64"/>
              <a:gd name="T14" fmla="*/ 68 w 68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64">
                <a:moveTo>
                  <a:pt x="67" y="27"/>
                </a:moveTo>
                <a:lnTo>
                  <a:pt x="0" y="63"/>
                </a:lnTo>
                <a:lnTo>
                  <a:pt x="42" y="0"/>
                </a:lnTo>
                <a:lnTo>
                  <a:pt x="67" y="27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9FF0D823-5762-40E2-820D-2B003B8A4E30}"/>
              </a:ext>
            </a:extLst>
          </p:cNvPr>
          <p:cNvSpPr>
            <a:spLocks/>
          </p:cNvSpPr>
          <p:nvPr/>
        </p:nvSpPr>
        <p:spPr bwMode="auto">
          <a:xfrm>
            <a:off x="4458892" y="2519611"/>
            <a:ext cx="1190" cy="739378"/>
          </a:xfrm>
          <a:custGeom>
            <a:avLst/>
            <a:gdLst>
              <a:gd name="T0" fmla="*/ 0 w 1"/>
              <a:gd name="T1" fmla="*/ 0 h 621"/>
              <a:gd name="T2" fmla="*/ 0 w 1"/>
              <a:gd name="T3" fmla="*/ 2147483646 h 621"/>
              <a:gd name="T4" fmla="*/ 0 w 1"/>
              <a:gd name="T5" fmla="*/ 0 h 621"/>
              <a:gd name="T6" fmla="*/ 0 60000 65536"/>
              <a:gd name="T7" fmla="*/ 0 60000 65536"/>
              <a:gd name="T8" fmla="*/ 0 60000 65536"/>
              <a:gd name="T9" fmla="*/ 0 w 1"/>
              <a:gd name="T10" fmla="*/ 0 h 621"/>
              <a:gd name="T11" fmla="*/ 1 w 1"/>
              <a:gd name="T12" fmla="*/ 621 h 6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1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AFB7A2C7-36CE-4AA4-83B1-CFD05802E0A1}"/>
              </a:ext>
            </a:extLst>
          </p:cNvPr>
          <p:cNvSpPr>
            <a:spLocks/>
          </p:cNvSpPr>
          <p:nvPr/>
        </p:nvSpPr>
        <p:spPr bwMode="auto">
          <a:xfrm>
            <a:off x="4436269" y="3169692"/>
            <a:ext cx="45244" cy="89297"/>
          </a:xfrm>
          <a:custGeom>
            <a:avLst/>
            <a:gdLst>
              <a:gd name="T0" fmla="*/ 2147483646 w 38"/>
              <a:gd name="T1" fmla="*/ 0 h 75"/>
              <a:gd name="T2" fmla="*/ 2147483646 w 38"/>
              <a:gd name="T3" fmla="*/ 2147483646 h 75"/>
              <a:gd name="T4" fmla="*/ 0 w 38"/>
              <a:gd name="T5" fmla="*/ 0 h 75"/>
              <a:gd name="T6" fmla="*/ 2147483646 w 38"/>
              <a:gd name="T7" fmla="*/ 0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5"/>
              <a:gd name="T14" fmla="*/ 38 w 38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5">
                <a:moveTo>
                  <a:pt x="37" y="0"/>
                </a:moveTo>
                <a:lnTo>
                  <a:pt x="19" y="74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5D1E167C-3E9D-428B-8022-C4AB45093ACA}"/>
              </a:ext>
            </a:extLst>
          </p:cNvPr>
          <p:cNvSpPr>
            <a:spLocks/>
          </p:cNvSpPr>
          <p:nvPr/>
        </p:nvSpPr>
        <p:spPr bwMode="auto">
          <a:xfrm>
            <a:off x="4885135" y="2510086"/>
            <a:ext cx="820340" cy="748903"/>
          </a:xfrm>
          <a:custGeom>
            <a:avLst/>
            <a:gdLst>
              <a:gd name="T0" fmla="*/ 0 w 689"/>
              <a:gd name="T1" fmla="*/ 0 h 629"/>
              <a:gd name="T2" fmla="*/ 2147483646 w 689"/>
              <a:gd name="T3" fmla="*/ 2147483646 h 629"/>
              <a:gd name="T4" fmla="*/ 0 w 689"/>
              <a:gd name="T5" fmla="*/ 0 h 629"/>
              <a:gd name="T6" fmla="*/ 0 60000 65536"/>
              <a:gd name="T7" fmla="*/ 0 60000 65536"/>
              <a:gd name="T8" fmla="*/ 0 60000 65536"/>
              <a:gd name="T9" fmla="*/ 0 w 689"/>
              <a:gd name="T10" fmla="*/ 0 h 629"/>
              <a:gd name="T11" fmla="*/ 689 w 689"/>
              <a:gd name="T12" fmla="*/ 629 h 6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9" h="629">
                <a:moveTo>
                  <a:pt x="0" y="0"/>
                </a:moveTo>
                <a:lnTo>
                  <a:pt x="688" y="62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A1CE3A33-EE0C-4037-ABFB-F291C516786D}"/>
              </a:ext>
            </a:extLst>
          </p:cNvPr>
          <p:cNvSpPr>
            <a:spLocks/>
          </p:cNvSpPr>
          <p:nvPr/>
        </p:nvSpPr>
        <p:spPr bwMode="auto">
          <a:xfrm>
            <a:off x="5625703" y="3182789"/>
            <a:ext cx="79772" cy="76200"/>
          </a:xfrm>
          <a:custGeom>
            <a:avLst/>
            <a:gdLst>
              <a:gd name="T0" fmla="*/ 2147483646 w 67"/>
              <a:gd name="T1" fmla="*/ 0 h 64"/>
              <a:gd name="T2" fmla="*/ 2147483646 w 67"/>
              <a:gd name="T3" fmla="*/ 2147483646 h 64"/>
              <a:gd name="T4" fmla="*/ 0 w 67"/>
              <a:gd name="T5" fmla="*/ 2147483646 h 64"/>
              <a:gd name="T6" fmla="*/ 2147483646 w 67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4"/>
              <a:gd name="T14" fmla="*/ 67 w 67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4">
                <a:moveTo>
                  <a:pt x="25" y="0"/>
                </a:moveTo>
                <a:lnTo>
                  <a:pt x="66" y="63"/>
                </a:lnTo>
                <a:lnTo>
                  <a:pt x="0" y="27"/>
                </a:lnTo>
                <a:lnTo>
                  <a:pt x="2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9DD6874E-5104-4A39-BFE9-D4B85372FBA2}"/>
              </a:ext>
            </a:extLst>
          </p:cNvPr>
          <p:cNvSpPr>
            <a:spLocks/>
          </p:cNvSpPr>
          <p:nvPr/>
        </p:nvSpPr>
        <p:spPr bwMode="auto">
          <a:xfrm>
            <a:off x="5304235" y="2500561"/>
            <a:ext cx="1664494" cy="758428"/>
          </a:xfrm>
          <a:custGeom>
            <a:avLst/>
            <a:gdLst>
              <a:gd name="T0" fmla="*/ 0 w 1398"/>
              <a:gd name="T1" fmla="*/ 0 h 637"/>
              <a:gd name="T2" fmla="*/ 2147483646 w 1398"/>
              <a:gd name="T3" fmla="*/ 2147483646 h 637"/>
              <a:gd name="T4" fmla="*/ 0 w 1398"/>
              <a:gd name="T5" fmla="*/ 0 h 637"/>
              <a:gd name="T6" fmla="*/ 0 60000 65536"/>
              <a:gd name="T7" fmla="*/ 0 60000 65536"/>
              <a:gd name="T8" fmla="*/ 0 60000 65536"/>
              <a:gd name="T9" fmla="*/ 0 w 1398"/>
              <a:gd name="T10" fmla="*/ 0 h 637"/>
              <a:gd name="T11" fmla="*/ 1398 w 1398"/>
              <a:gd name="T12" fmla="*/ 637 h 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7">
                <a:moveTo>
                  <a:pt x="0" y="0"/>
                </a:moveTo>
                <a:lnTo>
                  <a:pt x="1397" y="63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E0443E26-D170-4E9B-B90B-379DAE883B9B}"/>
              </a:ext>
            </a:extLst>
          </p:cNvPr>
          <p:cNvSpPr>
            <a:spLocks/>
          </p:cNvSpPr>
          <p:nvPr/>
        </p:nvSpPr>
        <p:spPr bwMode="auto">
          <a:xfrm>
            <a:off x="6879432" y="3200649"/>
            <a:ext cx="89297" cy="58340"/>
          </a:xfrm>
          <a:custGeom>
            <a:avLst/>
            <a:gdLst>
              <a:gd name="T0" fmla="*/ 2147483646 w 75"/>
              <a:gd name="T1" fmla="*/ 0 h 49"/>
              <a:gd name="T2" fmla="*/ 2147483646 w 75"/>
              <a:gd name="T3" fmla="*/ 2147483646 h 49"/>
              <a:gd name="T4" fmla="*/ 0 w 75"/>
              <a:gd name="T5" fmla="*/ 2147483646 h 49"/>
              <a:gd name="T6" fmla="*/ 2147483646 w 75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9"/>
              <a:gd name="T14" fmla="*/ 75 w 75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9">
                <a:moveTo>
                  <a:pt x="15" y="0"/>
                </a:moveTo>
                <a:lnTo>
                  <a:pt x="74" y="48"/>
                </a:lnTo>
                <a:lnTo>
                  <a:pt x="0" y="34"/>
                </a:lnTo>
                <a:lnTo>
                  <a:pt x="1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D8CB94-A734-4F58-92EF-4281FC6F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188" y="1950676"/>
            <a:ext cx="428804" cy="22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000000"/>
                </a:solidFill>
                <a:ea typeface="宋体" panose="02010600030101010101" pitchFamily="2" charset="-122"/>
              </a:rPr>
              <a:t>根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CD94D0-38F2-4CD7-A3DF-68BC68498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41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5AF211-9C5A-4079-8351-5896BF85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32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7402C41-BD82-45DC-8A50-0256C825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2251720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88FB3F-5093-445A-B7B3-5D3B94B64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748" y="3293517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9461F6D-51C6-4EFE-A3E3-F132647A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498" y="3285183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D483A9-2E50-41E5-93E9-5EEAA96AE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294" y="3285183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5*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1D5997-1528-4142-BB64-2B88607D0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1" y="3293517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7*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C36B81-6A53-49AB-853F-830F5D844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14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14*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2D8457C-97C2-4421-A93B-8BD7B969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16*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5A3931-F6F1-443F-A87C-B3423812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729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19*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F4120A-148F-4C2B-B50F-7C47423EB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6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20*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717C7B-1D17-43E4-AD37-8563F48A7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22*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0EE490-76B9-41D2-AC52-E47CDFB32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24*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6B841A-6446-4943-BE6F-34D6FD128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394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 dirty="0">
                <a:solidFill>
                  <a:srgbClr val="000000"/>
                </a:solidFill>
                <a:ea typeface="宋体" panose="02010600030101010101" pitchFamily="2" charset="-122"/>
              </a:rPr>
              <a:t>27*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06E5A92-8FD9-4D0E-9F53-0C9D34EDD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14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29*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97E6CD-5802-47B7-BB32-A9A229107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18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33*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916DAC-40D7-4A17-9ED4-AC6D6C200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979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34*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E87495B-D116-4F2F-B78B-7D3F77ADA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060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38*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0CC1818-EE0D-4D36-AF1E-5EEFB2828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667" y="3276849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39*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CE94FEA-8C6C-45D1-B0A6-5441FE34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36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68" name="Arc 68">
            <a:extLst>
              <a:ext uri="{FF2B5EF4-FFF2-40B4-BE49-F238E27FC236}">
                <a16:creationId xmlns:a16="http://schemas.microsoft.com/office/drawing/2014/main" id="{C874BFC5-6059-4D46-ABE0-EC603889DBE2}"/>
              </a:ext>
            </a:extLst>
          </p:cNvPr>
          <p:cNvSpPr>
            <a:spLocks/>
          </p:cNvSpPr>
          <p:nvPr/>
        </p:nvSpPr>
        <p:spPr bwMode="auto">
          <a:xfrm rot="19020000">
            <a:off x="371475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69" name="Arc 69">
            <a:extLst>
              <a:ext uri="{FF2B5EF4-FFF2-40B4-BE49-F238E27FC236}">
                <a16:creationId xmlns:a16="http://schemas.microsoft.com/office/drawing/2014/main" id="{21A373C0-5D5F-4089-904C-F31B56C83E72}"/>
              </a:ext>
            </a:extLst>
          </p:cNvPr>
          <p:cNvSpPr>
            <a:spLocks/>
          </p:cNvSpPr>
          <p:nvPr/>
        </p:nvSpPr>
        <p:spPr bwMode="auto">
          <a:xfrm rot="19020000">
            <a:off x="24003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0" name="Arc 70">
            <a:extLst>
              <a:ext uri="{FF2B5EF4-FFF2-40B4-BE49-F238E27FC236}">
                <a16:creationId xmlns:a16="http://schemas.microsoft.com/office/drawing/2014/main" id="{42A9E473-7474-478E-B0A9-4F2D5169D62B}"/>
              </a:ext>
            </a:extLst>
          </p:cNvPr>
          <p:cNvSpPr>
            <a:spLocks/>
          </p:cNvSpPr>
          <p:nvPr/>
        </p:nvSpPr>
        <p:spPr bwMode="auto">
          <a:xfrm rot="19020000">
            <a:off x="49149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1" name="Arc 71">
            <a:extLst>
              <a:ext uri="{FF2B5EF4-FFF2-40B4-BE49-F238E27FC236}">
                <a16:creationId xmlns:a16="http://schemas.microsoft.com/office/drawing/2014/main" id="{18EE4C2F-87BB-474C-96A5-5B28DC07272B}"/>
              </a:ext>
            </a:extLst>
          </p:cNvPr>
          <p:cNvSpPr>
            <a:spLocks/>
          </p:cNvSpPr>
          <p:nvPr/>
        </p:nvSpPr>
        <p:spPr bwMode="auto">
          <a:xfrm rot="19020000">
            <a:off x="61722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3" name="Line 67">
            <a:extLst>
              <a:ext uri="{FF2B5EF4-FFF2-40B4-BE49-F238E27FC236}">
                <a16:creationId xmlns:a16="http://schemas.microsoft.com/office/drawing/2014/main" id="{8593B05C-814F-493D-9D16-8A25AFCB8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851670"/>
            <a:ext cx="28575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4490171"/>
      </p:ext>
    </p:extLst>
  </p:cSld>
  <p:clrMapOvr>
    <a:masterClrMapping/>
  </p:clrMapOvr>
  <p:transition>
    <p:fade/>
  </p:transition>
</p:sld>
</file>

<file path=ppt/slides/slide35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EEEC-E9E8-42F1-9781-B3661E57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查询 B</a:t>
            </a:r>
            <a:r>
              <a:rPr lang="en-US" altLang="zh-CN" baseline="30000" dirty="0"/>
              <a:t>+</a:t>
            </a:r>
            <a:r>
              <a:rPr lang="en-US" altLang="zh-CN" dirty="0"/>
              <a:t> - 树（续）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19A890-902C-4AD1-86CA-2BBAAB4E9C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71550"/>
                <a:ext cx="8712968" cy="3661054"/>
              </a:xfrm>
            </p:spPr>
            <p:txBody>
              <a:bodyPr/>
              <a:lstStyle/>
              <a:p>
                <a:r>
                  <a:rPr lang="en-US" altLang="zh-CN" sz="1800" dirty="0"/>
                  <a:t>在处理查询时，会在树中遍历一条从根节点到某个叶节点的路径</a:t>
                </a:r>
              </a:p>
              <a:p>
                <a:r>
                  <a:rPr lang="en-US" altLang="zh-CN" sz="1800" dirty="0"/>
                  <a:t>如果</a:t>
                </a:r>
                <a:r>
                  <a:rPr lang="en-US" altLang="zh-CN" sz="1800" dirty="0"/>
                  <a:t>文件中有</a:t>
                </a:r>
                <a14:m xmlns:a14="http://schemas.microsoft.com/office/drawing/2010/main"/>
                <a:r>
                  <a:rPr lang="en-US" altLang="zh-CN" sz="1800" dirty="0"/>
                  <a:t> 搜索关键值，则路径不超过 </a:t>
                </a:r>
                <a14:m xmlns:a14="http://schemas.microsoft.com/office/drawing/2010/main"/>
                <a:endParaRPr lang="en-US" altLang="zh-CN" sz="1800" dirty="0"/>
              </a:p>
              <a:p>
                <a:pPr lvl="1"/>
                <a:r>
                  <a:rPr lang="en-US" altLang="zh-CN" sz="1600" dirty="0"/>
                  <a:t>例如，节点的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大小</a:t>
                </a:r>
                <a:r>
                  <a:rPr lang="en-US" altLang="zh-CN" sz="1600" dirty="0"/>
                  <a:t>一般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与磁盘块相同</a:t>
                </a:r>
                <a:r>
                  <a:rPr lang="en-US" altLang="zh-CN" sz="1600" dirty="0"/>
                  <a:t>，通常为 4 KB，</a:t>
                </a:r>
                <a14:m xmlns:a14="http://schemas.microsoft.com/office/drawing/2010/main"/>
                <a:r>
                  <a:rPr lang="en-US" altLang="zh-CN" sz="1600" dirty="0"/>
                  <a:t> </a:t>
                </a:r>
                <a:r>
                  <a:rPr lang="en-US" altLang="zh-CN" sz="1600" dirty="0"/>
                  <a:t>，</a:t>
                </a:r>
                <a:r>
                  <a:rPr lang="en-US" altLang="zh-CN" sz="1600" dirty="0"/>
                  <a:t>通常约为 100（每个索引条目 40 字节）。</a:t>
                </a:r>
              </a:p>
              <a:p>
                <a:pPr lvl="2"/>
                <a:r>
                  <a:rPr lang="en-US" altLang="zh-CN" sz="1400" dirty="0"/>
                  <a:t>在 100 万个搜索键值和</a:t>
                </a:r>
                <a14:m xmlns:a14="http://schemas.microsoft.com/office/drawing/2010/main"/>
                <a:r>
                  <a:rPr lang="en-US" altLang="zh-CN" sz="1400" dirty="0"/>
                  <a:t> = 100 </a:t>
                </a:r>
                <a:r>
                  <a:rPr lang="en-US" altLang="zh-CN" sz="1400" dirty="0"/>
                  <a:t>的情况下</a:t>
                </a:r>
                <a:r>
                  <a:rPr lang="en-US" altLang="zh-CN" sz="1400" dirty="0"/>
                  <a:t>，</a:t>
                </a:r>
                <a:r>
                  <a:rPr lang="en-US" altLang="zh-CN" sz="1400" dirty="0"/>
                  <a:t>一次查询</a:t>
                </a:r>
                <a:r>
                  <a:rPr lang="en-US" altLang="zh-CN" sz="1400" dirty="0"/>
                  <a:t>最多</a:t>
                </a:r>
                <a:r>
                  <a:rPr lang="en-US" altLang="zh-CN" sz="1400" dirty="0"/>
                  <a:t>访问 </a:t>
                </a:r>
                <a:r>
                  <a:rPr lang="en-US" altLang="zh-CN" sz="1400" dirty="0"/>
                  <a:t>log</a:t>
                </a:r>
                <a:r>
                  <a:rPr lang="en-US" altLang="zh-CN" sz="1400" baseline="-25000" dirty="0"/>
                  <a:t>50</a:t>
                </a:r>
                <a:r>
                  <a:rPr lang="en-US" altLang="zh-CN" sz="1400" dirty="0"/>
                  <a:t> (1,000,000) = </a:t>
                </a:r>
                <a:r>
                  <a:rPr lang="en-US" altLang="zh-CN" sz="1400" dirty="0">
                    <a:solidFill>
                      <a:srgbClr val="C00000"/>
                    </a:solidFill>
                  </a:rPr>
                  <a:t>4 个节点</a:t>
                </a:r>
                <a:r>
                  <a:rPr lang="en-US" altLang="zh-CN" sz="1400" dirty="0"/>
                  <a:t>。</a:t>
                </a:r>
              </a:p>
              <a:p>
                <a:pPr lvl="2"/>
                <a:r>
                  <a:rPr lang="en-US" altLang="zh-CN" sz="1400" dirty="0"/>
                  <a:t>对于一棵有 100 万个搜索键值的平衡二叉树来说</a:t>
                </a:r>
                <a:r>
                  <a:rPr lang="en-US" altLang="zh-CN" sz="1400" dirty="0"/>
                  <a:t>，一次查找</a:t>
                </a:r>
                <a:r>
                  <a:rPr lang="en-US" altLang="zh-CN" sz="1400" dirty="0"/>
                  <a:t>大约</a:t>
                </a:r>
                <a:r>
                  <a:rPr lang="en-US" altLang="zh-CN" sz="1400" dirty="0"/>
                  <a:t>需要访问 </a:t>
                </a:r>
                <a:r>
                  <a:rPr lang="en-US" altLang="zh-CN" sz="1400" dirty="0">
                    <a:solidFill>
                      <a:srgbClr val="C00000"/>
                    </a:solidFill>
                  </a:rPr>
                  <a:t>20 个节点</a:t>
                </a:r>
                <a:r>
                  <a:rPr lang="en-US" altLang="zh-CN" sz="1400" dirty="0"/>
                  <a:t>（即 log</a:t>
                </a:r>
                <a:r>
                  <a:rPr lang="en-US" altLang="zh-CN" sz="1400" baseline="-25000" dirty="0"/>
                  <a:t>2</a:t>
                </a:r>
                <a:r>
                  <a:rPr lang="en-US" altLang="zh-CN" sz="1400" dirty="0"/>
                  <a:t> (1,000,000)）。</a:t>
                </a:r>
              </a:p>
              <a:p>
                <a:pPr lvl="2"/>
                <a:r>
                  <a:rPr lang="en-US" altLang="zh-CN" sz="1400" dirty="0"/>
                  <a:t>上述差异很大，因为每次节点访问都可能需要磁盘 I/O，耗时约 10 </a:t>
                </a:r>
                <a:r>
                  <a:rPr lang="en-US" altLang="zh-CN" sz="1400" dirty="0" err="1"/>
                  <a:t>毫秒</a:t>
                </a:r>
                <a:endParaRPr lang="en-US" altLang="zh-CN" sz="1400" dirty="0"/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19A890-902C-4AD1-86CA-2BBAAB4E9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71550"/>
                <a:ext cx="8712968" cy="3661054"/>
              </a:xfrm>
              <a:blipFill>
                <a:blip r:embed="rId2"/>
                <a:stretch>
                  <a:fillRect l="-420" t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25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54E8C-7150-4941-A8CF-72C29772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插入 B -Tree</a:t>
            </a:r>
            <a:r>
              <a:rPr lang="en-US" altLang="zh-CN" baseline="30000" dirty="0"/>
              <a:t>+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E0454-6CF7-49CF-89F6-460EC3AC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查找搜索键值所在的叶节点</a:t>
            </a:r>
          </a:p>
          <a:p>
            <a:pPr lvl="1"/>
            <a:r>
              <a:rPr lang="en-US" altLang="zh-CN" sz="1800" dirty="0"/>
              <a:t>如果搜索键值已在叶节点中</a:t>
            </a:r>
            <a:endParaRPr lang="en-US" altLang="zh-CN" sz="1600" dirty="0"/>
          </a:p>
          <a:p>
            <a:pPr lvl="2"/>
            <a:r>
              <a:rPr lang="en-US" altLang="zh-CN" sz="1600" dirty="0"/>
              <a:t>记录被添加到文件</a:t>
            </a:r>
          </a:p>
          <a:p>
            <a:pPr lvl="2"/>
            <a:r>
              <a:rPr lang="en-US" altLang="zh-CN" sz="1600" dirty="0"/>
              <a:t>如果有必要，会将指针插入水桶中</a:t>
            </a:r>
          </a:p>
          <a:p>
            <a:pPr lvl="1"/>
            <a:r>
              <a:rPr lang="en-US" altLang="zh-CN" sz="1800" dirty="0"/>
              <a:t>如果搜索键值不在某个节点中，则将记录添加到主文件中，必要时创建一个数据桶。然后：</a:t>
            </a:r>
          </a:p>
          <a:p>
            <a:pPr lvl="2"/>
            <a:r>
              <a:rPr lang="en-US" altLang="zh-CN" sz="1600" dirty="0"/>
              <a:t>如果叶节点有空间，则</a:t>
            </a:r>
            <a:r>
              <a:rPr lang="en-US" altLang="zh-CN" sz="1600" dirty="0"/>
              <a:t>在叶节点中</a:t>
            </a:r>
            <a:r>
              <a:rPr lang="en-US" altLang="zh-CN" sz="1600" dirty="0"/>
              <a:t>插入（</a:t>
            </a:r>
            <a:r>
              <a:rPr lang="en-US" altLang="zh-CN" sz="1600" dirty="0">
                <a:solidFill>
                  <a:srgbClr val="C00000"/>
                </a:solidFill>
              </a:rPr>
              <a:t>键值、指针</a:t>
            </a:r>
            <a:r>
              <a:rPr lang="en-US" altLang="zh-CN" sz="1600" dirty="0"/>
              <a:t>）对</a:t>
            </a:r>
          </a:p>
          <a:p>
            <a:pPr lvl="2"/>
            <a:r>
              <a:rPr lang="en-US" altLang="zh-CN" sz="1600" dirty="0"/>
              <a:t>否则，</a:t>
            </a:r>
            <a:r>
              <a:rPr lang="en-US" altLang="zh-CN" sz="1600" dirty="0">
                <a:solidFill>
                  <a:srgbClr val="C00000"/>
                </a:solidFill>
              </a:rPr>
              <a:t>拆分</a:t>
            </a:r>
            <a:r>
              <a:rPr lang="en-US" altLang="zh-CN" sz="1600" dirty="0"/>
              <a:t>节点和新的（键值、指针）条目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72881273"/>
      </p:ext>
    </p:extLst>
  </p:cSld>
  <p:clrMapOvr>
    <a:masterClrMapping/>
  </p:clrMapOvr>
  <p:transition>
    <p:fade/>
  </p:transition>
</p:sld>
</file>

<file path=ppt/slides/slide37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B0B71-DCEB-43DB-80C1-FB3F7FEF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插入 B</a:t>
            </a:r>
            <a:r>
              <a:rPr lang="en-US" altLang="zh-CN" baseline="30000" dirty="0"/>
              <a:t>+</a:t>
            </a:r>
            <a:r>
              <a:rPr lang="en-US" altLang="zh-CN" dirty="0"/>
              <a:t> -树（续）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F8A91F-AD2C-443B-9CC5-74B6BB47D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749762"/>
                <a:ext cx="8208912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拆分叶节点</a:t>
                </a:r>
              </a:p>
              <a:p>
                <a:pPr lvl="1"/>
                <a:r>
                  <a:rPr lang="en-US" altLang="zh-CN" sz="1400" dirty="0"/>
                  <a:t>以排序方式</a:t>
                </a:r>
                <a:r>
                  <a:rPr lang="en-US" altLang="zh-CN" sz="1400" dirty="0"/>
                  <a:t>获取</a:t>
                </a:r>
                <a14:m xmlns:a14="http://schemas.microsoft.com/office/drawing/2010/main"/>
                <a:r>
                  <a:rPr lang="en-US" altLang="zh-CN" sz="1400" dirty="0"/>
                  <a:t> （搜索键值，指针）对（包括正在插入的）。将第一个</a:t>
                </a:r>
                <a14:m xmlns:a14="http://schemas.microsoft.com/office/drawing/2010/main"/>
                <a:r>
                  <a:rPr lang="en-US" altLang="zh-CN" sz="1400" dirty="0"/>
                  <a:t> 放在原始节点中，其余的放在新节点中</a:t>
                </a:r>
              </a:p>
              <a:p>
                <a:pPr lvl="1"/>
                <a:r>
                  <a:rPr lang="en-US" altLang="zh-CN" sz="1400" dirty="0"/>
                  <a:t>让新节点为</a:t>
                </a:r>
                <a14:m xmlns:a14="http://schemas.microsoft.com/office/drawing/2010/main"/>
                <a:r>
                  <a:rPr lang="en-US" altLang="zh-CN" sz="1400" dirty="0"/>
                  <a:t> ，让</a:t>
                </a:r>
                <a14:m xmlns:a14="http://schemas.microsoft.com/office/drawing/2010/main"/>
                <a:r>
                  <a:rPr lang="en-US" altLang="zh-CN" sz="1400" dirty="0"/>
                  <a:t> 成为 p 中最小的键值。</a:t>
                </a:r>
                <a:r>
                  <a:rPr lang="en-US" altLang="zh-CN" sz="1400" dirty="0"/>
                  <a:t>在被拆分节点的父节点</a:t>
                </a:r>
                <a:r>
                  <a:rPr lang="en-US" altLang="zh-CN" sz="1400" dirty="0"/>
                  <a:t>中插入 ( , )</a:t>
                </a:r>
                <a14:m xmlns:a14="http://schemas.microsoft.com/office/drawing/2010/main"/>
                <a14:m xmlns:a14="http://schemas.microsoft.com/office/drawing/2010/main"/>
              </a:p>
              <a:p>
                <a:pPr lvl="1"/>
                <a:r>
                  <a:rPr lang="en-US" altLang="zh-CN" sz="1400" dirty="0"/>
                  <a:t>如果父级已满，则将其拆分，并将拆分结果进一步向上传播</a:t>
                </a:r>
                <a:endParaRPr lang="en-US" altLang="zh-CN" sz="1800" b="1" dirty="0"/>
              </a:p>
              <a:p>
                <a:r>
                  <a:rPr lang="en-US" altLang="zh-CN" sz="1800" b="1" dirty="0"/>
                  <a:t>节点拆分一直向上进行，直到找到一个未满的节点</a:t>
                </a:r>
              </a:p>
              <a:p>
                <a:pPr lvl="1"/>
                <a:r>
                  <a:rPr lang="en-US" altLang="zh-CN" sz="1400" dirty="0"/>
                  <a:t>在最坏的情况下，根节点可能会被拆分，从而使树的高度增加 1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F8A91F-AD2C-443B-9CC5-74B6BB47D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749762"/>
                <a:ext cx="8208912" cy="3805070"/>
              </a:xfrm>
              <a:blipFill>
                <a:blip r:embed="rId2"/>
                <a:stretch>
                  <a:fillRect l="-520" t="-962" r="-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2AD11847-531C-41BB-BBAE-AF461C24C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23878"/>
            <a:ext cx="5040560" cy="39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7862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B455D-5236-4EC2-BC40-5F076F3D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插入 B</a:t>
            </a:r>
            <a:r>
              <a:rPr lang="en-US" altLang="zh-CN" baseline="30000" dirty="0"/>
              <a:t>+</a:t>
            </a:r>
            <a:r>
              <a:rPr lang="en-US" altLang="zh-CN" dirty="0"/>
              <a:t> -树（续）</a:t>
            </a:r>
            <a:endParaRPr lang="zh-CN" altLang="en-US" dirty="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00D7F539-C59F-44B8-8550-9B209E9B6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896" y="4525127"/>
            <a:ext cx="44807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135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r>
              <a:rPr kumimoji="0" lang="en-US" altLang="zh-CN" sz="1350" b="1" i="1" baseline="30000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+</a:t>
            </a:r>
            <a:r>
              <a:rPr kumimoji="0" lang="en-US" altLang="zh-CN" sz="135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 -插入</a:t>
            </a:r>
            <a:r>
              <a:rPr kumimoji="0" lang="en-US" altLang="zh-CN" sz="1350" b="1" i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 "Clearview "</a:t>
            </a:r>
            <a:r>
              <a:rPr kumimoji="0" lang="en-US" altLang="zh-CN" sz="135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前后的树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2E76E63B-FC5B-4C61-8B38-6F4F30CF7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" t="30952" r="714" b="31429"/>
          <a:stretch>
            <a:fillRect/>
          </a:stretch>
        </p:blipFill>
        <p:spPr bwMode="auto">
          <a:xfrm>
            <a:off x="1818085" y="2738438"/>
            <a:ext cx="5900738" cy="169426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21C8D95C-4A9D-4316-B776-B018EF9E4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" t="29016" r="1619" b="29736"/>
          <a:stretch>
            <a:fillRect/>
          </a:stretch>
        </p:blipFill>
        <p:spPr bwMode="auto">
          <a:xfrm>
            <a:off x="1797844" y="937023"/>
            <a:ext cx="5462588" cy="1739503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D4740E11-9E26-4245-91A1-409F5EC4CB34}"/>
              </a:ext>
            </a:extLst>
          </p:cNvPr>
          <p:cNvSpPr/>
          <p:nvPr/>
        </p:nvSpPr>
        <p:spPr>
          <a:xfrm>
            <a:off x="1547664" y="2041900"/>
            <a:ext cx="1800200" cy="7732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2493CE5-B2AE-47A8-B495-9AADC5D9B15E}"/>
              </a:ext>
            </a:extLst>
          </p:cNvPr>
          <p:cNvSpPr/>
          <p:nvPr/>
        </p:nvSpPr>
        <p:spPr>
          <a:xfrm>
            <a:off x="1727684" y="3819842"/>
            <a:ext cx="2556284" cy="7732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49670"/>
      </p:ext>
    </p:extLst>
  </p:cSld>
  <p:clrMapOvr>
    <a:masterClrMapping/>
  </p:clrMapOvr>
  <p:transition>
    <p:fade/>
  </p:transition>
</p:sld>
</file>

<file path=ppt/slides/slide39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AB296-F1A8-4486-A48B-6347B1A9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插入 B+ 树（续）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303EE1-2BFF-45B6-9253-3480EF1E0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拆分非叶节点：</a:t>
                </a:r>
                <a:r>
                  <a:rPr lang="en-US" altLang="zh-CN" sz="1800" dirty="0"/>
                  <a:t>将 (</a:t>
                </a:r>
                <a14:m xmlns:a14="http://schemas.microsoft.com/office/drawing/2010/main"/>
                <a:r>
                  <a:rPr lang="en-US" altLang="zh-CN" sz="1800" dirty="0"/>
                  <a:t> ,</a:t>
                </a:r>
                <a14:m xmlns:a14="http://schemas.microsoft.com/office/drawing/2010/main"/>
                <a:r>
                  <a:rPr lang="en-US" altLang="zh-CN" sz="1800" dirty="0"/>
                  <a:t> ) 插入</a:t>
                </a:r>
                <a:r>
                  <a:rPr lang="en-US" altLang="zh-CN" sz="1800" dirty="0"/>
                  <a:t>一个完整的内部节点</a:t>
                </a:r>
                <a:r>
                  <a:rPr lang="en-US" altLang="zh-CN" sz="1800" dirty="0"/>
                  <a:t>时 </a:t>
                </a:r>
                <a14:m xmlns:a14="http://schemas.microsoft.com/office/drawing/2010/main"/>
                <a:endParaRPr lang="en-US" altLang="zh-CN" sz="1800" dirty="0"/>
              </a:p>
              <a:p>
                <a:pPr lvl="1"/>
                <a:r>
                  <a:rPr lang="en-US" altLang="zh-CN" sz="1600" dirty="0"/>
                  <a:t>将</a:t>
                </a:r>
                <a14:m xmlns:a14="http://schemas.microsoft.com/office/drawing/2010/main"/>
                <a:r>
                  <a:rPr lang="en-US" altLang="zh-CN" sz="1600" dirty="0"/>
                  <a:t> 复制到内存区域</a:t>
                </a:r>
                <a14:m xmlns:a14="http://schemas.microsoft.com/office/drawing/2010/main"/>
                <a:r>
                  <a:rPr lang="en-US" altLang="zh-CN" sz="1600" dirty="0"/>
                  <a:t> ，并为</a:t>
                </a:r>
                <a14:m xmlns:a14="http://schemas.microsoft.com/office/drawing/2010/main"/>
                <a:r>
                  <a:rPr lang="en-US" altLang="zh-CN" sz="1600" dirty="0">
                    <a:solidFill>
                      <a:srgbClr val="C00000"/>
                    </a:solidFill>
                  </a:rPr>
                  <a:t> 指针</a:t>
                </a:r>
                <a:r>
                  <a:rPr lang="en-US" altLang="zh-CN" sz="1600" dirty="0"/>
                  <a:t>和</a:t>
                </a:r>
                <a14:m xmlns:a14="http://schemas.microsoft.com/office/drawing/2010/main"/>
                <a:r>
                  <a:rPr lang="en-US" altLang="zh-CN" sz="1600" dirty="0">
                    <a:solidFill>
                      <a:srgbClr val="C00000"/>
                    </a:solidFill>
                  </a:rPr>
                  <a:t> 键</a:t>
                </a:r>
                <a:r>
                  <a:rPr lang="en-US" altLang="zh-CN" sz="1600" dirty="0"/>
                  <a:t>留出空间</a:t>
                </a:r>
                <a:endParaRPr lang="en-US" altLang="zh-CN" sz="1600" dirty="0"/>
              </a:p>
              <a:p>
                <a:pPr lvl="1"/>
                <a:r>
                  <a:rPr lang="en-US" altLang="zh-CN" sz="1600" dirty="0"/>
                  <a:t>将 (</a:t>
                </a:r>
                <a14:m xmlns:a14="http://schemas.microsoft.com/office/drawing/2010/main"/>
                <a:r>
                  <a:rPr lang="en-US" altLang="zh-CN" sz="1600" dirty="0"/>
                  <a:t> ,</a:t>
                </a:r>
                <a14:m xmlns:a14="http://schemas.microsoft.com/office/drawing/2010/main"/>
                <a:r>
                  <a:rPr lang="en-US" altLang="zh-CN" sz="1600" dirty="0"/>
                  <a:t> ) 插入 </a:t>
                </a:r>
                <a14:m xmlns:a14="http://schemas.microsoft.com/office/drawing/2010/main"/>
                <a:endParaRPr lang="en-US" altLang="zh-CN" sz="1600" dirty="0"/>
              </a:p>
              <a:p>
                <a:pPr lvl="1"/>
                <a:r>
                  <a:rPr lang="en-US" altLang="zh-CN" sz="1600" dirty="0"/>
                  <a:t>将 ,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, ..., ,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从</a:t>
                </a:r>
                <a14:m xmlns:a14="http://schemas.microsoft.com/office/drawing/2010/main"/>
                <a:r>
                  <a:rPr lang="en-US" altLang="zh-CN" sz="1600" dirty="0"/>
                  <a:t> 复制</a:t>
                </a:r>
                <a:r>
                  <a:rPr lang="en-US" altLang="zh-CN" sz="1600" dirty="0"/>
                  <a:t>回节点 </a:t>
                </a:r>
                <a14:m xmlns:a14="http://schemas.microsoft.com/office/drawing/2010/main"/>
                <a:endParaRPr lang="en-US" altLang="zh-CN" sz="1600" dirty="0"/>
              </a:p>
              <a:p>
                <a:pPr lvl="1"/>
                <a:r>
                  <a:rPr lang="en-US" altLang="zh-CN" sz="1600" dirty="0"/>
                  <a:t>将</a:t>
                </a:r>
                <a14:m xmlns:a14="http://schemas.microsoft.com/office/drawing/2010/main"/>
                <a:r>
                  <a:rPr lang="en-US" altLang="zh-CN" sz="1600" dirty="0"/>
                  <a:t> 中的</a:t>
                </a:r>
                <a14:m xmlns:a14="http://schemas.microsoft.com/office/drawing/2010/main"/>
                <a:r>
                  <a:rPr lang="en-US" altLang="zh-CN" sz="1600" dirty="0"/>
                  <a:t> ,</a:t>
                </a:r>
                <a14:m xmlns:a14="http://schemas.microsoft.com/office/drawing/2010/main"/>
                <a:r>
                  <a:rPr lang="en-US" altLang="zh-CN" sz="1600" dirty="0"/>
                  <a:t> ,...,</a:t>
                </a:r>
                <a14:m xmlns:a14="http://schemas.microsoft.com/office/drawing/2010/main"/>
                <a:r>
                  <a:rPr lang="en-US" altLang="zh-CN" sz="1600" dirty="0"/>
                  <a:t> ,</a:t>
                </a:r>
                <a14:m xmlns:a14="http://schemas.microsoft.com/office/drawing/2010/main"/>
                <a:r>
                  <a:rPr lang="en-US" altLang="zh-CN" sz="1600" dirty="0"/>
                  <a:t> 复制到新分配的节点中 </a:t>
                </a:r>
                <a14:m xmlns:a14="http://schemas.microsoft.com/office/drawing/2010/main"/>
                <a:endParaRPr lang="en-US" altLang="zh-CN" sz="1600" dirty="0"/>
              </a:p>
              <a:p>
                <a:pPr lvl="1"/>
                <a:r>
                  <a:rPr lang="en-US" altLang="zh-CN" sz="1600"/>
                  <a:t>将 </a:t>
                </a:r>
                <a:r>
                  <a:rPr lang="en-US" altLang="zh-CN" sz="1600" dirty="0"/>
                  <a:t>( ,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) 插入 </a:t>
                </a:r>
                <a14:m xmlns:a14="http://schemas.microsoft.com/office/drawing/2010/main"/>
                <a:endParaRPr lang="en-US" altLang="zh-CN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303EE1-2BFF-45B6-9253-3480EF1E0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FCF18C37-04A2-4866-9756-9A5840900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291830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96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BDA54-AF9D-4A92-B175-1110C94E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删除 B -Tree</a:t>
            </a:r>
            <a:r>
              <a:rPr lang="en-US" altLang="zh-CN" baseline="30000" dirty="0"/>
              <a:t>+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5F97F1-76AF-45DA-AA8D-C964F85AB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找到要删除的记录，并将其从主文件和数据桶中删除</a:t>
                </a:r>
              </a:p>
              <a:p>
                <a:r>
                  <a:rPr lang="en-US" altLang="zh-CN" sz="1800" dirty="0"/>
                  <a:t>如果没有邮筒或邮筒已空，则从叶节点移除（搜索键值，指针</a:t>
                </a:r>
              </a:p>
              <a:p>
                <a:r>
                  <a:rPr lang="en-US" altLang="zh-CN" sz="1800" dirty="0"/>
                  <a:t>如果节点中的条目因删除而过少，而该节点和一个同胞节点中的条目又适合合并为一个节点，则合并同胞节点</a:t>
                </a:r>
              </a:p>
              <a:p>
                <a:pPr lvl="1"/>
                <a:r>
                  <a:rPr lang="en-US" altLang="zh-CN" sz="1600" dirty="0"/>
                  <a:t>将两个节点中的所有搜索键值插入一个节点（左边的节点），并删除另一个节点</a:t>
                </a:r>
              </a:p>
              <a:p>
                <a:pPr lvl="1"/>
                <a:r>
                  <a:rPr lang="en-US" altLang="zh-CN" sz="1600" dirty="0"/>
                  <a:t>使用上述程序递归地从父节点中</a:t>
                </a:r>
                <a:r>
                  <a:rPr lang="en-US" altLang="zh-CN" sz="1600" dirty="0"/>
                  <a:t>删除</a:t>
                </a:r>
                <a:r>
                  <a:rPr lang="en-US" altLang="zh-CN" sz="1600" dirty="0"/>
                  <a:t>节点</a:t>
                </a:r>
                <a:r>
                  <a:rPr lang="en-US" altLang="zh-CN" sz="1600" dirty="0"/>
                  <a:t>对 ( ,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)，其中</a:t>
                </a:r>
                <a14:m xmlns:a14="http://schemas.microsoft.com/office/drawing/2010/main"/>
                <a:r>
                  <a:rPr lang="en-US" altLang="zh-CN" sz="1600" dirty="0"/>
                  <a:t> 是指向被删除节点的指针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5F97F1-76AF-45DA-AA8D-C964F85AB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79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16="http://schemas.microsoft.com/office/drawing/2014/main" xmlns:a14="http://schemas.microsoft.com/office/drawing/2010/main"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944A9-39E0-41AF-BFA4-F9A7FBB1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 树删除</a:t>
            </a:r>
            <a:r>
              <a:rPr lang="en-US" altLang="zh-CN" dirty="0"/>
              <a:t>示例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7DF37-99E9-4ECD-B957-AEA098FCE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3723878"/>
            <a:ext cx="8568952" cy="1350149"/>
          </a:xfrm>
        </p:spPr>
        <p:txBody>
          <a:bodyPr/>
          <a:lstStyle/>
          <a:p>
            <a:r>
              <a:rPr lang="en-US" altLang="zh-CN" sz="1800" dirty="0"/>
              <a:t>删除 "下城 "会导致合并未满的树叶</a:t>
            </a:r>
          </a:p>
          <a:p>
            <a:r>
              <a:rPr lang="en-US" altLang="zh-CN" sz="1800" dirty="0"/>
              <a:t>删除包含 "Downtown "的叶节点并没有导致其父节点的指针过少。因此，级联删除在删除叶节点的父节点时停止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BA19CE7-DCC0-4F63-9E4A-795456119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416" y="852086"/>
            <a:ext cx="156805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删除 "下城 "之前和之后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18B3172-D415-466C-8461-423393C6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29356" r="1083" b="27650"/>
          <a:stretch>
            <a:fillRect/>
          </a:stretch>
        </p:blipFill>
        <p:spPr bwMode="auto">
          <a:xfrm>
            <a:off x="2915841" y="2036862"/>
            <a:ext cx="4243388" cy="139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5724F59F-FDF7-4878-9492-5C82B9D6E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2833688" y="770037"/>
            <a:ext cx="4312444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8">
            <a:extLst>
              <a:ext uri="{FF2B5EF4-FFF2-40B4-BE49-F238E27FC236}">
                <a16:creationId xmlns:a16="http://schemas.microsoft.com/office/drawing/2014/main" id="{F0F9A124-6F5F-4FAF-92A6-43E8BE17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628" y="1686818"/>
            <a:ext cx="1927622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85C68C2-3C11-4004-8F73-3AA830F07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004" y="1220093"/>
            <a:ext cx="638175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13073743-28DC-4BD4-A820-F7C0AF9BCF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1548" y="902196"/>
                <a:ext cx="106203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 kumimoji="1"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FFFF00"/>
                  </a:buClr>
                  <a:buSzPct val="8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rgbClr val="00CC00"/>
                  </a:buClr>
                  <a:buSzPct val="80000"/>
                  <a:buFont typeface="Times New Roman" panose="02020603050405020304" pitchFamily="18" charset="0"/>
                  <a:buChar char="•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685800" eaLnBrk="0" hangingPunct="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14:m xmlns:a14="http://schemas.microsoft.com/office/drawing/2010/main"/>
                <a:r>
                  <a:rPr kumimoji="0" lang="en-US" altLang="zh-CN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宋体" panose="02010600030101010101" pitchFamily="2" charset="-122"/>
                  </a:rPr>
                  <a:t>= 3</a:t>
                </a:r>
              </a:p>
            </p:txBody>
          </p:sp>
        </mc:Choice>
        <mc:Fallback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13073743-28DC-4BD4-A820-F7C0AF9BC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1548" y="902196"/>
                <a:ext cx="1062036" cy="338554"/>
              </a:xfrm>
              <a:prstGeom prst="rect">
                <a:avLst/>
              </a:prstGeom>
              <a:blipFill>
                <a:blip r:embed="rId5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321332"/>
      </p:ext>
    </p:extLst>
  </p:cSld>
  <p:clrMapOvr>
    <a:masterClrMapping/>
  </p:clrMapOvr>
  <p:transition>
    <p:fade/>
  </p:transition>
</p:sld>
</file>

<file path=ppt/slides/slide42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E568E-0B36-4E06-A1EF-0085462C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删除 B</a:t>
            </a:r>
            <a:r>
              <a:rPr lang="en-US" altLang="zh-CN" baseline="30000" dirty="0"/>
              <a:t>+</a:t>
            </a:r>
            <a:r>
              <a:rPr lang="en-US" altLang="zh-CN" dirty="0"/>
              <a:t> -树（续）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B27122-F1BC-49C3-A7FC-8FF4576C9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如果节点中的条目因删除而过少，且节点和同级节点中的条目无法合并为一个节点，则重新分配指针</a:t>
                </a:r>
              </a:p>
              <a:p>
                <a:pPr lvl="1"/>
                <a:r>
                  <a:rPr lang="en-US" altLang="zh-CN" sz="1800" dirty="0"/>
                  <a:t>在节点和同级节点之间重新分配指针，使两者的条目数都超过最小值</a:t>
                </a:r>
              </a:p>
              <a:p>
                <a:pPr lvl="1"/>
                <a:r>
                  <a:rPr lang="en-US" altLang="zh-CN" sz="1800" dirty="0"/>
                  <a:t>更新节点父节点中相应的搜索键值</a:t>
                </a:r>
              </a:p>
              <a:p>
                <a:r>
                  <a:rPr lang="en-US" altLang="zh-CN" sz="2000" dirty="0"/>
                  <a:t>节点的删除可能会逐级进行，直到</a:t>
                </a:r>
                <a:r>
                  <a:rPr lang="en-US" altLang="zh-CN" sz="2000" dirty="0"/>
                  <a:t>找到</a:t>
                </a:r>
                <a:r>
                  <a:rPr lang="en-US" altLang="zh-CN" sz="2000" dirty="0"/>
                  <a:t>一个拥有</a:t>
                </a:r>
                <a14:m xmlns:a14="http://schemas.microsoft.com/office/drawing/2010/main"/>
                <a:r>
                  <a:rPr lang="en-US" altLang="zh-CN" sz="2000" dirty="0"/>
                  <a:t> 或更多指针的</a:t>
                </a:r>
                <a:r>
                  <a:rPr lang="en-US" altLang="zh-CN" sz="2000" dirty="0"/>
                  <a:t>节点。 </a:t>
                </a:r>
              </a:p>
              <a:p>
                <a:r>
                  <a:rPr lang="en-US" altLang="zh-CN" sz="2000" dirty="0"/>
                  <a:t>如果根节点在删除后只有一个指针，则将其删除，唯一的子节点成为根节点</a:t>
                </a: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B27122-F1BC-49C3-A7FC-8FF4576C9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  <a:blipFill>
                <a:blip r:embed="rId2"/>
                <a:stretch>
                  <a:fillRect l="-635" t="-801" r="-1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4710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3C943-A1AC-474F-BACB-09CB08F2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 树删除</a:t>
            </a:r>
            <a:r>
              <a:rPr lang="en-US" altLang="zh-CN" dirty="0"/>
              <a:t>示例</a:t>
            </a:r>
            <a:r>
              <a:rPr lang="en-US" altLang="zh-CN" dirty="0"/>
              <a:t>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F748F3-C3C5-4F91-A0D3-69CA9920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3170754"/>
            <a:ext cx="8568952" cy="1518817"/>
          </a:xfrm>
        </p:spPr>
        <p:txBody>
          <a:bodyPr/>
          <a:lstStyle/>
          <a:p>
            <a:r>
              <a:rPr lang="en-US" altLang="zh-CN" sz="1800" dirty="0"/>
              <a:t>带有 "</a:t>
            </a:r>
            <a:r>
              <a:rPr lang="en-US" altLang="zh-CN" sz="1800" dirty="0" err="1"/>
              <a:t>Perryridge</a:t>
            </a:r>
            <a:r>
              <a:rPr lang="en-US" altLang="zh-CN" sz="1800" dirty="0"/>
              <a:t> "</a:t>
            </a:r>
            <a:r>
              <a:rPr lang="en-US" altLang="zh-CN" sz="1800" dirty="0"/>
              <a:t>的节点</a:t>
            </a:r>
            <a:r>
              <a:rPr lang="en-US" altLang="zh-CN" sz="1800" dirty="0"/>
              <a:t>变得</a:t>
            </a:r>
            <a:r>
              <a:rPr lang="en-US" altLang="zh-CN" sz="1800" dirty="0" err="1"/>
              <a:t>不全</a:t>
            </a:r>
            <a:r>
              <a:rPr lang="en-US" altLang="zh-CN" sz="1800" dirty="0"/>
              <a:t>（在这种特殊情况下实际上是空），并与其兄弟</a:t>
            </a:r>
            <a:r>
              <a:rPr lang="en-US" altLang="zh-CN" sz="1800" dirty="0"/>
              <a:t>节点</a:t>
            </a:r>
            <a:r>
              <a:rPr lang="en-US" altLang="zh-CN" sz="1800" dirty="0"/>
              <a:t>合并</a:t>
            </a:r>
          </a:p>
          <a:p>
            <a:r>
              <a:rPr lang="en-US" altLang="zh-CN" sz="1800" dirty="0"/>
              <a:t>因此，"</a:t>
            </a:r>
            <a:r>
              <a:rPr lang="en-US" altLang="zh-CN" sz="1800" dirty="0" err="1"/>
              <a:t>Perryridge</a:t>
            </a:r>
            <a:r>
              <a:rPr lang="en-US" altLang="zh-CN" sz="1800" dirty="0"/>
              <a:t> "节点的父节点变得</a:t>
            </a:r>
            <a:r>
              <a:rPr lang="en-US" altLang="zh-CN" sz="1800" dirty="0" err="1"/>
              <a:t>不满</a:t>
            </a:r>
            <a:r>
              <a:rPr lang="en-US" altLang="zh-CN" sz="1800" dirty="0"/>
              <a:t>，并与其兄弟</a:t>
            </a:r>
            <a:r>
              <a:rPr lang="en-US" altLang="zh-CN" sz="1800" dirty="0"/>
              <a:t>节点</a:t>
            </a:r>
            <a:r>
              <a:rPr lang="en-US" altLang="zh-CN" sz="1800" dirty="0"/>
              <a:t>合并（同时从其父</a:t>
            </a:r>
            <a:r>
              <a:rPr lang="en-US" altLang="zh-CN" sz="1800" dirty="0"/>
              <a:t>节点</a:t>
            </a:r>
            <a:r>
              <a:rPr lang="en-US" altLang="zh-CN" sz="1800" dirty="0"/>
              <a:t>中删除了一个条目）。</a:t>
            </a:r>
          </a:p>
          <a:p>
            <a:r>
              <a:rPr lang="en-US" altLang="zh-CN" sz="1800" dirty="0"/>
              <a:t>根节点只有一个子节点，因此被删除，其子节点成为新的根节点</a:t>
            </a:r>
          </a:p>
          <a:p>
            <a:endParaRPr lang="zh-CN" altLang="en-US" sz="18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301CB1B-3563-491F-9F85-7532FA40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03332"/>
            <a:ext cx="26875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删除 "</a:t>
            </a:r>
            <a:r>
              <a:rPr kumimoji="0" lang="en-US" altLang="zh-CN" sz="1500" b="1" dirty="0" err="1">
                <a:solidFill>
                  <a:srgbClr val="0000FF"/>
                </a:solidFill>
                <a:ea typeface="宋体" panose="02010600030101010101" pitchFamily="2" charset="-122"/>
              </a:rPr>
              <a:t>佩里里奇</a:t>
            </a: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"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0F3B79D-307F-4C31-8556-B365AFB30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" t="36313" r="919" b="36531"/>
          <a:stretch>
            <a:fillRect/>
          </a:stretch>
        </p:blipFill>
        <p:spPr bwMode="auto">
          <a:xfrm>
            <a:off x="3360466" y="2170360"/>
            <a:ext cx="4018360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E57B91CF-1FF4-4604-AD89-98CCD45D5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29356" r="1083" b="27650"/>
          <a:stretch>
            <a:fillRect/>
          </a:stretch>
        </p:blipFill>
        <p:spPr bwMode="auto">
          <a:xfrm>
            <a:off x="3449762" y="883296"/>
            <a:ext cx="3832622" cy="1264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>
            <a:extLst>
              <a:ext uri="{FF2B5EF4-FFF2-40B4-BE49-F238E27FC236}">
                <a16:creationId xmlns:a16="http://schemas.microsoft.com/office/drawing/2014/main" id="{AA655468-AD1C-40E5-824F-E508121B3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718" y="933217"/>
            <a:ext cx="7056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600" i="1" dirty="0">
                <a:solidFill>
                  <a:srgbClr val="000000"/>
                </a:solidFill>
                <a:ea typeface="宋体" panose="02010600030101010101" pitchFamily="2" charset="-122"/>
              </a:rPr>
              <a:t>n </a:t>
            </a:r>
            <a:r>
              <a:rPr kumimoji="0" lang="en-US" altLang="zh-CN" sz="1600" i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= 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193BC38-DFD7-4693-9CBA-17BE44218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2966" y="1735783"/>
            <a:ext cx="2007394" cy="392906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51D9A23E-9B2E-41E2-93A7-8C26B88D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419" y="1307158"/>
            <a:ext cx="2445544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D6D7DD-E1EC-49BC-8A7E-D71EECB48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228" y="886867"/>
            <a:ext cx="1801416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2349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2C002-EFCD-4EB7-8095-EB2609DB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-tree 删除</a:t>
            </a:r>
            <a:r>
              <a:rPr lang="en-US" altLang="zh-CN" dirty="0"/>
              <a:t>示例</a:t>
            </a:r>
            <a:r>
              <a:rPr lang="en-US" altLang="zh-CN" dirty="0"/>
              <a:t>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DC360-40E6-4D7A-8451-F45A0A378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548186"/>
            <a:ext cx="8568952" cy="1230785"/>
          </a:xfrm>
        </p:spPr>
        <p:txBody>
          <a:bodyPr/>
          <a:lstStyle/>
          <a:p>
            <a:r>
              <a:rPr lang="en-US" altLang="zh-CN" sz="2000" dirty="0"/>
              <a:t>包含 </a:t>
            </a:r>
            <a:r>
              <a:rPr lang="en-US" altLang="zh-CN" sz="2000" dirty="0" err="1"/>
              <a:t>Perryridge </a:t>
            </a:r>
            <a:r>
              <a:rPr lang="en-US" altLang="zh-CN" sz="2000" dirty="0"/>
              <a:t>的</a:t>
            </a:r>
            <a:r>
              <a:rPr lang="en-US" altLang="zh-CN" sz="2000" dirty="0"/>
              <a:t>叶片的父叶</a:t>
            </a:r>
            <a:r>
              <a:rPr lang="en-US" altLang="zh-CN" sz="2000" dirty="0" err="1"/>
              <a:t>未满</a:t>
            </a:r>
            <a:r>
              <a:rPr lang="en-US" altLang="zh-CN" sz="2000" dirty="0"/>
              <a:t>，向左叶借用了一个指针</a:t>
            </a:r>
          </a:p>
          <a:p>
            <a:r>
              <a:rPr lang="en-US" altLang="zh-CN" sz="2000" dirty="0"/>
              <a:t>父节点的父节点中的搜索键值因此发生变化</a:t>
            </a:r>
          </a:p>
          <a:p>
            <a:endParaRPr lang="zh-CN" altLang="en-US" sz="2000" dirty="0"/>
          </a:p>
        </p:txBody>
      </p:sp>
      <p:pic>
        <p:nvPicPr>
          <p:cNvPr id="4" name="Picture 1028">
            <a:extLst>
              <a:ext uri="{FF2B5EF4-FFF2-40B4-BE49-F238E27FC236}">
                <a16:creationId xmlns:a16="http://schemas.microsoft.com/office/drawing/2014/main" id="{2F313124-1909-4BA9-9CD7-06312892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" t="29881" r="1706" b="29138"/>
          <a:stretch>
            <a:fillRect/>
          </a:stretch>
        </p:blipFill>
        <p:spPr bwMode="auto">
          <a:xfrm>
            <a:off x="3518298" y="2027089"/>
            <a:ext cx="4217194" cy="134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29">
            <a:extLst>
              <a:ext uri="{FF2B5EF4-FFF2-40B4-BE49-F238E27FC236}">
                <a16:creationId xmlns:a16="http://schemas.microsoft.com/office/drawing/2014/main" id="{F7B019A4-93F9-494C-9EC2-AA6BD0B21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37005"/>
            <a:ext cx="28537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删除 "</a:t>
            </a:r>
            <a:r>
              <a:rPr kumimoji="0" lang="en-US" altLang="zh-CN" sz="1500" b="1" dirty="0" err="1">
                <a:solidFill>
                  <a:srgbClr val="0000FF"/>
                </a:solidFill>
                <a:ea typeface="宋体" panose="02010600030101010101" pitchFamily="2" charset="-122"/>
              </a:rPr>
              <a:t>佩里里奇</a:t>
            </a: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"</a:t>
            </a:r>
          </a:p>
        </p:txBody>
      </p:sp>
      <p:pic>
        <p:nvPicPr>
          <p:cNvPr id="6" name="Picture 1030">
            <a:extLst>
              <a:ext uri="{FF2B5EF4-FFF2-40B4-BE49-F238E27FC236}">
                <a16:creationId xmlns:a16="http://schemas.microsoft.com/office/drawing/2014/main" id="{1CD15DA9-39FF-470C-9853-E6E24824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3455194" y="726926"/>
            <a:ext cx="4245769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9">
            <a:extLst>
              <a:ext uri="{FF2B5EF4-FFF2-40B4-BE49-F238E27FC236}">
                <a16:creationId xmlns:a16="http://schemas.microsoft.com/office/drawing/2014/main" id="{6D80AD0A-05EA-42E6-952A-F41A1032C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969" y="1629420"/>
            <a:ext cx="1677591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2CAFC4D-1766-4F35-A06C-87EFC5E98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1149598"/>
            <a:ext cx="1677591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1F2EF82A-B6D2-4BA6-90BC-BD9CED72F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767" y="699542"/>
            <a:ext cx="839390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118007"/>
      </p:ext>
    </p:extLst>
  </p:cSld>
  <p:clrMapOvr>
    <a:masterClrMapping/>
  </p:clrMapOvr>
  <p:transition>
    <p:fade/>
  </p:transition>
</p:sld>
</file>

<file path=ppt/slides/slide4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3B6D1-343C-41A9-913D-9968880E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 树状文件组织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D7054-5BEA-446F-BA7A-5200FC25A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索引文件退化（退化</a:t>
            </a:r>
            <a:r>
              <a:rPr lang="en-US" altLang="zh-CN" sz="1800" dirty="0"/>
              <a:t>）问题可通过使用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-树索引</a:t>
            </a:r>
            <a:r>
              <a:rPr lang="en-US" altLang="zh-CN" sz="1800" dirty="0"/>
              <a:t>来解决。</a:t>
            </a:r>
            <a:r>
              <a:rPr lang="en-US" altLang="zh-CN" sz="1800" dirty="0"/>
              <a:t>数据文件退化问题可通过使用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-Tree File Organization（B</a:t>
            </a:r>
            <a:r>
              <a:rPr lang="en-US" altLang="zh-CN" sz="1800" baseline="30000" dirty="0"/>
              <a:t>+</a:t>
            </a:r>
            <a:r>
              <a:rPr lang="zh-CN" altLang="en-US" sz="1800" dirty="0"/>
              <a:t> 树文件组织）</a:t>
            </a:r>
            <a:r>
              <a:rPr lang="en-US" altLang="zh-CN" sz="1800" dirty="0"/>
              <a:t>来解决。</a:t>
            </a:r>
            <a:endParaRPr lang="en-US" altLang="zh-CN" sz="1800" dirty="0"/>
          </a:p>
          <a:p>
            <a:r>
              <a:rPr lang="en-US" altLang="zh-CN" sz="1800" dirty="0"/>
              <a:t>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-tree 文件组织</a:t>
            </a:r>
            <a:r>
              <a:rPr lang="en-US" altLang="zh-CN" sz="1800" dirty="0"/>
              <a:t>中的叶节点</a:t>
            </a:r>
            <a:r>
              <a:rPr lang="en-US" altLang="zh-CN" sz="1800" dirty="0"/>
              <a:t>存储记录，而不是指针</a:t>
            </a:r>
          </a:p>
          <a:p>
            <a:r>
              <a:rPr lang="en-US" altLang="zh-CN" sz="1800" dirty="0"/>
              <a:t>由于记录比指针大，因此叶节点中可存储的最大记录数少于非叶节点中的指针数</a:t>
            </a:r>
          </a:p>
          <a:p>
            <a:r>
              <a:rPr lang="en-US" altLang="zh-CN" sz="1800" dirty="0"/>
              <a:t>叶节点仍然需要半满</a:t>
            </a:r>
          </a:p>
          <a:p>
            <a:r>
              <a:rPr lang="en-US" altLang="zh-CN" sz="1800" dirty="0"/>
              <a:t>插入和删除的处理方式与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-tree 索引</a:t>
            </a:r>
            <a:r>
              <a:rPr lang="en-US" altLang="zh-CN" sz="1800" dirty="0"/>
              <a:t>中条目插入和删除的处理方式相同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178062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68AD7-8B2A-4B96-A580-C0804EA1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 -树形文件组织（续）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E8BAD-01A5-47CA-A5E7-285787FB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3010992"/>
            <a:ext cx="8676964" cy="1871663"/>
          </a:xfrm>
        </p:spPr>
        <p:txBody>
          <a:bodyPr/>
          <a:lstStyle/>
          <a:p>
            <a:r>
              <a:rPr lang="en-US" altLang="zh-CN" sz="1800" dirty="0"/>
              <a:t>良好的空间利用率非常重要，因为记录比指针占用更多空间。  </a:t>
            </a:r>
          </a:p>
          <a:p>
            <a:r>
              <a:rPr lang="en-US" altLang="zh-CN" sz="1800" dirty="0"/>
              <a:t>为提高空间利用率，让更多兄弟节点参与重新分配</a:t>
            </a:r>
          </a:p>
          <a:p>
            <a:pPr lvl="1"/>
            <a:r>
              <a:rPr lang="en-US" altLang="zh-CN" sz="1600" dirty="0"/>
              <a:t>让两个或更多兄弟姐妹参与重新分配，尽可能避免拆分/合并</a:t>
            </a:r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2BC3C54-396F-4587-9B3F-533CB8284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" t="28349" r="1115" b="28745"/>
          <a:stretch>
            <a:fillRect/>
          </a:stretch>
        </p:blipFill>
        <p:spPr bwMode="auto">
          <a:xfrm>
            <a:off x="1727597" y="843558"/>
            <a:ext cx="5688806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07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1B9F1-2B38-4953-A0D1-CB40A2C3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 树索引文件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2C7273-09D3-4041-A6B8-AEEBA4356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与 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 -tree 类似</a:t>
                </a:r>
                <a:r>
                  <a:rPr lang="en-US" altLang="zh-CN" sz="1800" dirty="0"/>
                  <a:t>，但 B 树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只</a:t>
                </a:r>
                <a:r>
                  <a:rPr lang="en-US" altLang="zh-CN" sz="1800" dirty="0"/>
                  <a:t>允许搜索键值出现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一次</a:t>
                </a:r>
                <a:r>
                  <a:rPr lang="en-US" altLang="zh-CN" sz="1800" dirty="0"/>
                  <a:t>，从而消除了搜索键的冗余存储</a:t>
                </a:r>
              </a:p>
              <a:p>
                <a:r>
                  <a:rPr lang="en-US" altLang="zh-CN" sz="1800" dirty="0"/>
                  <a:t>非叶节点中的搜索关键字不会出现在 B 树的其他地方；非叶节点中的每个搜索关键字都包含一个额外的指针字段</a:t>
                </a:r>
              </a:p>
              <a:p>
                <a:r>
                  <a:rPr lang="en-US" altLang="zh-CN" sz="1800" dirty="0"/>
                  <a:t>广义 B 树叶节点</a:t>
                </a:r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en-US" altLang="zh-CN" sz="1800" dirty="0" err="1"/>
                  <a:t>非叶</a:t>
                </a:r>
                <a:r>
                  <a:rPr lang="en-US" altLang="zh-CN" sz="1800" dirty="0"/>
                  <a:t>节点 - 指针</a:t>
                </a:r>
                <a14:m xmlns:a14="http://schemas.microsoft.com/office/drawing/2010/main"/>
                <a:r>
                  <a:rPr lang="en-US" altLang="zh-CN" sz="1800" dirty="0"/>
                  <a:t> 是邮筒或文件记录指针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2C7273-09D3-4041-A6B8-AEEBA4356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853" b="-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7">
            <a:extLst>
              <a:ext uri="{FF2B5EF4-FFF2-40B4-BE49-F238E27FC236}">
                <a16:creationId xmlns:a16="http://schemas.microsoft.com/office/drawing/2014/main" id="{7D8355BB-DF10-45C1-922A-425755CE0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32419" r="1083" b="31718"/>
          <a:stretch>
            <a:fillRect/>
          </a:stretch>
        </p:blipFill>
        <p:spPr bwMode="auto">
          <a:xfrm>
            <a:off x="1763688" y="2643758"/>
            <a:ext cx="4969669" cy="1372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F7968CD3-6515-420C-83CE-8806C5172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257" y="2990230"/>
            <a:ext cx="97975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FF0000"/>
                </a:solidFill>
                <a:ea typeface="宋体" panose="02010600030101010101" pitchFamily="2" charset="-122"/>
              </a:rPr>
              <a:t>叶节点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C34E8CC-5C4B-4562-BD1C-7E3D3A62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053" y="3761755"/>
            <a:ext cx="13260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FF0000"/>
                </a:solidFill>
                <a:ea typeface="宋体" panose="02010600030101010101" pitchFamily="2" charset="-122"/>
              </a:rPr>
              <a:t>非叶节点</a:t>
            </a:r>
          </a:p>
        </p:txBody>
      </p:sp>
      <p:sp>
        <p:nvSpPr>
          <p:cNvPr id="7" name="椭圆 1">
            <a:extLst>
              <a:ext uri="{FF2B5EF4-FFF2-40B4-BE49-F238E27FC236}">
                <a16:creationId xmlns:a16="http://schemas.microsoft.com/office/drawing/2014/main" id="{810888D5-D4F5-4B54-AF0B-C3A6EFDF0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740" y="3340274"/>
            <a:ext cx="338138" cy="43219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11">
            <a:extLst>
              <a:ext uri="{FF2B5EF4-FFF2-40B4-BE49-F238E27FC236}">
                <a16:creationId xmlns:a16="http://schemas.microsoft.com/office/drawing/2014/main" id="{C04E4659-4B28-4A74-A749-50129A2B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415" y="3352180"/>
            <a:ext cx="338138" cy="43219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椭圆 12">
            <a:extLst>
              <a:ext uri="{FF2B5EF4-FFF2-40B4-BE49-F238E27FC236}">
                <a16:creationId xmlns:a16="http://schemas.microsoft.com/office/drawing/2014/main" id="{324F251A-78F1-41BE-BCD9-DB97B42E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63" y="3342656"/>
            <a:ext cx="336947" cy="431006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599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4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101C0-FE81-46FC-B231-EA2CEFEF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 树索引文件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EE20C95-4FE2-47F8-B6BE-A13D84801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" t="24326" r="1050" b="24937"/>
          <a:stretch>
            <a:fillRect/>
          </a:stretch>
        </p:blipFill>
        <p:spPr bwMode="auto">
          <a:xfrm>
            <a:off x="2235994" y="884635"/>
            <a:ext cx="4804172" cy="1882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E85B7A8-23FF-4D45-B0C7-E3B94ABC5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2182416" y="3380185"/>
            <a:ext cx="4966097" cy="1426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C995ADB0-1E07-4E99-B5EE-DEC8D6CAE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716" y="2944416"/>
            <a:ext cx="54959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5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相同数据的 </a:t>
            </a:r>
            <a:r>
              <a:rPr kumimoji="0" lang="en-US" altLang="zh-CN" sz="15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B 树（上图）和 B</a:t>
            </a:r>
            <a:r>
              <a:rPr kumimoji="0" lang="en-US" altLang="zh-CN" sz="1500" b="1" kern="0" baseline="30000" dirty="0">
                <a:solidFill>
                  <a:srgbClr val="0000FF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15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 - 树（下图</a:t>
            </a:r>
          </a:p>
        </p:txBody>
      </p:sp>
    </p:spTree>
    <p:extLst>
      <p:ext uri="{BB962C8B-B14F-4D97-AF65-F5344CB8AC3E}">
        <p14:creationId xmlns:p14="http://schemas.microsoft.com/office/powerpoint/2010/main" val="534295734"/>
      </p:ext>
    </p:extLst>
  </p:cSld>
  <p:clrMapOvr>
    <a:masterClrMapping/>
  </p:clrMapOvr>
  <p:transition>
    <p:fade/>
  </p:transition>
</p:sld>
</file>

<file path=ppt/slides/slide4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CAE9C-4BCD-4A89-AB51-C30EEB10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 树索引文件（续）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A8139-5F51-4126-9344-883F8D00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b="1" dirty="0"/>
              <a:t>B 树指数的优势</a:t>
            </a:r>
          </a:p>
          <a:p>
            <a:pPr lvl="1"/>
            <a:r>
              <a:rPr lang="en-US" altLang="zh-CN" sz="1600" dirty="0"/>
              <a:t>使用比 B 少的树节点 -Tree</a:t>
            </a:r>
            <a:r>
              <a:rPr lang="en-US" altLang="zh-CN" sz="1600" baseline="30000" dirty="0"/>
              <a:t>+</a:t>
            </a:r>
          </a:p>
          <a:p>
            <a:pPr lvl="1"/>
            <a:r>
              <a:rPr lang="en-US" altLang="zh-CN" sz="1600" dirty="0"/>
              <a:t>有时可以在到达叶节点之前找到搜索键值</a:t>
            </a:r>
          </a:p>
          <a:p>
            <a:r>
              <a:rPr lang="en-US" altLang="zh-CN" sz="1800" b="1" dirty="0"/>
              <a:t>B 树指数的缺点</a:t>
            </a:r>
          </a:p>
          <a:p>
            <a:pPr lvl="1"/>
            <a:r>
              <a:rPr lang="en-US" altLang="zh-CN" sz="1600" dirty="0"/>
              <a:t>所有搜索关键值中只有一小部分能尽早找到 </a:t>
            </a:r>
          </a:p>
          <a:p>
            <a:pPr lvl="1"/>
            <a:r>
              <a:rPr lang="en-US" altLang="zh-CN" sz="1600" dirty="0"/>
              <a:t>非叶节点较大，因此扇出减少。因此，B 树的深度通常大于 B -tree</a:t>
            </a:r>
            <a:r>
              <a:rPr lang="en-US" altLang="zh-CN" sz="1600" baseline="30000" dirty="0"/>
              <a:t>+</a:t>
            </a:r>
          </a:p>
          <a:p>
            <a:pPr lvl="1"/>
            <a:r>
              <a:rPr lang="en-US" altLang="zh-CN" sz="1600" dirty="0"/>
              <a:t>插入和删除比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- 树更复杂 </a:t>
            </a:r>
          </a:p>
          <a:p>
            <a:pPr lvl="1"/>
            <a:r>
              <a:rPr lang="en-US" altLang="zh-CN" sz="1600" dirty="0"/>
              <a:t>实施比 B 更难 -Trees</a:t>
            </a:r>
            <a:r>
              <a:rPr lang="en-US" altLang="zh-CN" sz="1600" baseline="30000" dirty="0"/>
              <a:t>+</a:t>
            </a:r>
          </a:p>
          <a:p>
            <a:r>
              <a:rPr lang="en-US" altLang="zh-CN" sz="1800" dirty="0"/>
              <a:t>通常情况下，B 树的优点不会超过缺点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778741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1705272402"/>
      </p:ext>
    </p:extLst>
  </p:cSld>
  <p:clrMapOvr>
    <a:masterClrMapping/>
  </p:clrMapOvr>
  <p:transition>
    <p:fade/>
  </p:transition>
</p:sld>
</file>

<file path=ppt/slides/slide51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7FBC4-A657-455B-8A58-DEDF0B8E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静态加密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54B258-D3C1-4D4D-ADE6-21CFEEE76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存储桶是包含一个或多个记录的存储单元（一个存储桶通常是一个磁盘块）</a:t>
                </a:r>
              </a:p>
              <a:p>
                <a:r>
                  <a:rPr lang="en-US" altLang="zh-CN" sz="1800" dirty="0"/>
                  <a:t>在哈希文件组织中，我们使用哈希函数直接从记录的搜索键值中获取记录桶的值</a:t>
                </a:r>
              </a:p>
              <a:p>
                <a:r>
                  <a:rPr lang="en-US" altLang="zh-CN" sz="1800" dirty="0"/>
                  <a:t>哈希函数</a:t>
                </a:r>
                <a14:m xmlns:a14="http://schemas.microsoft.com/office/drawing/2010/main"/>
                <a:r>
                  <a:rPr lang="en-US" altLang="zh-CN" sz="1800" dirty="0"/>
                  <a:t> 是一个从所有搜索键值集</a:t>
                </a:r>
                <a14:m xmlns:a14="http://schemas.microsoft.com/office/drawing/2010/main"/>
                <a:r>
                  <a:rPr lang="en-US" altLang="zh-CN" sz="1800" dirty="0"/>
                  <a:t> 到邮筒地址集</a:t>
                </a:r>
                <a:r>
                  <a:rPr lang="en-US" altLang="zh-CN" sz="1800" dirty="0"/>
                  <a:t>的函数</a:t>
                </a:r>
              </a:p>
              <a:p>
                <a:r>
                  <a:rPr lang="en-US" altLang="zh-CN" sz="1800" dirty="0"/>
                  <a:t>哈希函数用于定位记录的访问、插入和删除</a:t>
                </a:r>
              </a:p>
              <a:p>
                <a:r>
                  <a:rPr lang="en-US" altLang="zh-CN" sz="1800" dirty="0"/>
                  <a:t>具有不同搜索关键字值的记录可能会被映射到同一个存储桶中；因此，必须按顺序搜索整个存储桶才能找到一条记录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54B258-D3C1-4D4D-ADE6-21CFEEE76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803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B501D-0242-40E3-9394-BEE22541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哈希文件组织示例（续）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5C678-1380-45BF-B3BF-1FAA1A6C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账户</a:t>
            </a:r>
            <a:r>
              <a:rPr lang="en-US" altLang="zh-CN" sz="1800" dirty="0"/>
              <a:t>文件</a:t>
            </a:r>
            <a:r>
              <a:rPr lang="en-US" altLang="zh-CN" sz="1800" dirty="0"/>
              <a:t>的哈希</a:t>
            </a:r>
            <a:r>
              <a:rPr lang="en-US" altLang="zh-CN" sz="1800" dirty="0"/>
              <a:t>文件组织，使用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分支名称</a:t>
            </a:r>
            <a:r>
              <a:rPr lang="en-US" altLang="zh-CN" sz="1800" dirty="0"/>
              <a:t>作为键（见下一张幻灯片中的图）</a:t>
            </a:r>
          </a:p>
          <a:p>
            <a:pPr lvl="1"/>
            <a:r>
              <a:rPr lang="en-US" altLang="zh-CN" sz="1800" dirty="0"/>
              <a:t>共有 10 个桶</a:t>
            </a:r>
          </a:p>
          <a:p>
            <a:pPr lvl="2"/>
            <a:r>
              <a:rPr lang="en-US" altLang="zh-CN" sz="1600" dirty="0"/>
              <a:t>假定</a:t>
            </a:r>
            <a:r>
              <a:rPr lang="en-US" altLang="zh-CN" sz="1600" dirty="0" err="1"/>
              <a:t>第 i </a:t>
            </a:r>
            <a:r>
              <a:rPr lang="en-US" altLang="zh-CN" sz="1600" dirty="0"/>
              <a:t>个字符</a:t>
            </a:r>
            <a:r>
              <a:rPr lang="en-US" altLang="zh-CN" sz="1600" dirty="0"/>
              <a:t>的二进制表示</a:t>
            </a:r>
            <a:r>
              <a:rPr lang="en-US" altLang="zh-CN" sz="1600" dirty="0"/>
              <a:t>为整数 </a:t>
            </a:r>
            <a:r>
              <a:rPr lang="en-US" altLang="zh-CN" sz="1600" dirty="0" err="1"/>
              <a:t>i</a:t>
            </a:r>
            <a:endParaRPr lang="en-US" altLang="zh-CN" sz="1600" dirty="0"/>
          </a:p>
          <a:p>
            <a:pPr lvl="2"/>
            <a:r>
              <a:rPr lang="en-US" altLang="zh-CN" sz="1600" dirty="0"/>
              <a:t>哈希函数返回</a:t>
            </a:r>
            <a:r>
              <a:rPr lang="en-US" altLang="zh-CN" sz="1600"/>
              <a:t>字符</a:t>
            </a:r>
            <a:r>
              <a:rPr lang="en-US" altLang="zh-CN" sz="1600" dirty="0"/>
              <a:t>二进制表示</a:t>
            </a:r>
            <a:r>
              <a:rPr lang="en-US" altLang="zh-CN" sz="1600"/>
              <a:t>形式 mod </a:t>
            </a:r>
            <a:r>
              <a:rPr lang="en-US" altLang="zh-CN" sz="1600" dirty="0"/>
              <a:t>10 </a:t>
            </a:r>
            <a:r>
              <a:rPr lang="en-US" altLang="zh-CN" sz="1600" dirty="0"/>
              <a:t>的总和</a:t>
            </a:r>
          </a:p>
          <a:p>
            <a:pPr lvl="2"/>
            <a:r>
              <a:rPr lang="en-US" altLang="zh-CN" sz="1600" dirty="0"/>
              <a:t>例如 </a:t>
            </a:r>
            <a:br>
              <a:rPr lang="en-US" altLang="zh-CN" sz="1600" dirty="0"/>
            </a:br>
            <a:r>
              <a:rPr lang="en-US" altLang="zh-CN" sz="1600" dirty="0"/>
              <a:t>h（</a:t>
            </a:r>
            <a:r>
              <a:rPr lang="en-US" altLang="zh-CN" sz="1600" dirty="0" err="1"/>
              <a:t>佩里里奇</a:t>
            </a:r>
            <a:r>
              <a:rPr lang="en-US" altLang="zh-CN" sz="1600" dirty="0"/>
              <a:t>）= 125 mod 10 = 5 </a:t>
            </a:r>
            <a:br>
              <a:rPr lang="en-US" altLang="zh-CN" sz="1600" dirty="0"/>
            </a:br>
            <a:r>
              <a:rPr lang="en-US" altLang="zh-CN" sz="1600" dirty="0"/>
              <a:t>h（圆山）= 113 mod 10 = 3 </a:t>
            </a:r>
            <a:br>
              <a:rPr lang="en-US" altLang="zh-CN" sz="1600" dirty="0"/>
            </a:br>
            <a:r>
              <a:rPr lang="en-US" altLang="zh-CN" sz="1600" dirty="0"/>
              <a:t>h（布莱顿）= 93 mod 10 = 3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46664715"/>
      </p:ext>
    </p:extLst>
  </p:cSld>
  <p:clrMapOvr>
    <a:masterClrMapping/>
  </p:clrMapOvr>
  <p:transition>
    <p:fade/>
  </p:transition>
</p:sld>
</file>

<file path=ppt/slides/slide5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8A03B-6C7D-4F06-9A0C-E0BAD97A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哈希文件组织示例 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3D8216B-82A3-4EE3-96D1-8580E3FC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2" t="1094" r="15619" b="874"/>
          <a:stretch>
            <a:fillRect/>
          </a:stretch>
        </p:blipFill>
        <p:spPr bwMode="auto">
          <a:xfrm>
            <a:off x="3635896" y="843558"/>
            <a:ext cx="3854054" cy="393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9F2290BE-C6A0-42F0-A96A-3C0D7C51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211710"/>
            <a:ext cx="236101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500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账户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文件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的哈希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文件组织，使用</a:t>
            </a:r>
            <a:r>
              <a:rPr kumimoji="0" lang="en-US" altLang="zh-CN" sz="1500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分支名称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作为关键字</a:t>
            </a:r>
          </a:p>
        </p:txBody>
      </p:sp>
    </p:spTree>
    <p:extLst>
      <p:ext uri="{BB962C8B-B14F-4D97-AF65-F5344CB8AC3E}">
        <p14:creationId xmlns:p14="http://schemas.microsoft.com/office/powerpoint/2010/main" val="694956626"/>
      </p:ext>
    </p:extLst>
  </p:cSld>
  <p:clrMapOvr>
    <a:masterClrMapping/>
  </p:clrMapOvr>
  <p:transition>
    <p:fade/>
  </p:transition>
</p:sld>
</file>

<file path=ppt/slides/slide5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C381B-E1E9-4C1A-95C7-C2E3C1BF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哈希函数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EBA73-1108-430D-BEDC-923E1121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最差的哈希函数会将所有搜索键值映射到同一个存储桶中</a:t>
            </a:r>
          </a:p>
          <a:p>
            <a:r>
              <a:rPr lang="en-US" altLang="zh-CN" sz="2000" dirty="0"/>
              <a:t>理想的哈希函数是</a:t>
            </a:r>
            <a:r>
              <a:rPr lang="en-US" altLang="zh-CN" sz="2000" dirty="0">
                <a:solidFill>
                  <a:srgbClr val="C00000"/>
                </a:solidFill>
              </a:rPr>
              <a:t>统一的</a:t>
            </a:r>
            <a:r>
              <a:rPr lang="en-US" altLang="zh-CN" sz="2000" dirty="0"/>
              <a:t>，即从</a:t>
            </a:r>
            <a:r>
              <a:rPr lang="en-US" altLang="zh-CN" sz="2000" dirty="0">
                <a:solidFill>
                  <a:srgbClr val="C00000"/>
                </a:solidFill>
              </a:rPr>
              <a:t>所有可能的值</a:t>
            </a:r>
            <a:r>
              <a:rPr lang="en-US" altLang="zh-CN" sz="2000" dirty="0"/>
              <a:t>集合中为每个桶分配相同数量的搜索键值</a:t>
            </a:r>
          </a:p>
          <a:p>
            <a:r>
              <a:rPr lang="en-US" altLang="zh-CN" sz="2000" dirty="0"/>
              <a:t>理想的哈希函数是</a:t>
            </a:r>
            <a:r>
              <a:rPr lang="en-US" altLang="zh-CN" sz="2000" dirty="0">
                <a:solidFill>
                  <a:srgbClr val="C00000"/>
                </a:solidFill>
              </a:rPr>
              <a:t>随机的</a:t>
            </a:r>
            <a:r>
              <a:rPr lang="en-US" altLang="zh-CN" sz="2000" dirty="0"/>
              <a:t>，因此无论文件中搜索键值的实际分布情况如何，分配给每个存储桶的记录数都是相同的</a:t>
            </a:r>
          </a:p>
          <a:p>
            <a:r>
              <a:rPr lang="en-US" altLang="zh-CN" sz="2000" dirty="0"/>
              <a:t>典型的散列函数对搜索密钥的内部二进制表示进行计算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8256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C0E5D-D3A6-4D6E-AE43-96579903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处理水桶溢出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21C4A-C026-470B-B9A3-6F3772FD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发生水桶溢流的原因可能是 </a:t>
            </a:r>
          </a:p>
          <a:p>
            <a:pPr lvl="1"/>
            <a:r>
              <a:rPr lang="en-US" altLang="zh-CN" sz="1800" dirty="0"/>
              <a:t>水桶不足 </a:t>
            </a:r>
          </a:p>
          <a:p>
            <a:pPr lvl="1"/>
            <a:r>
              <a:rPr lang="en-US" altLang="zh-CN" sz="1800" dirty="0"/>
              <a:t>记录分布偏差。出现这种情况有两个原因：</a:t>
            </a:r>
          </a:p>
          <a:p>
            <a:pPr lvl="2"/>
            <a:r>
              <a:rPr lang="en-US" altLang="zh-CN" sz="1600" dirty="0"/>
              <a:t>多条记录具有相同的搜索键值</a:t>
            </a:r>
          </a:p>
          <a:p>
            <a:pPr lvl="2"/>
            <a:r>
              <a:rPr lang="en-US" altLang="zh-CN" sz="1600" dirty="0"/>
              <a:t>选择的哈希函数会导致密钥值分布不均匀</a:t>
            </a:r>
          </a:p>
          <a:p>
            <a:r>
              <a:rPr lang="en-US" altLang="zh-CN" sz="2000" dirty="0"/>
              <a:t>虽然可以降低水桶溢出的概率，但无法消除这种情况；处理方法是使用溢出水桶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2981611"/>
      </p:ext>
    </p:extLst>
  </p:cSld>
  <p:clrMapOvr>
    <a:masterClrMapping/>
  </p:clrMapOvr>
  <p:transition>
    <p:fade/>
  </p:transition>
</p:sld>
</file>

<file path=ppt/slides/slide5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3BAE9-2B03-4CD1-9C12-6AF9FA35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处理水桶溢水（续）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B7D40-CA57-4D09-AAAF-C245484C6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溢出链 - 在链接列表中将给定水桶的溢出水桶链在一起</a:t>
            </a:r>
          </a:p>
          <a:p>
            <a:endParaRPr lang="zh-CN" altLang="en-US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411B08A-A59C-4869-B8A2-C0719B204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" t="12950" r="2068" b="12032"/>
          <a:stretch>
            <a:fillRect/>
          </a:stretch>
        </p:blipFill>
        <p:spPr bwMode="auto">
          <a:xfrm>
            <a:off x="2123728" y="1809894"/>
            <a:ext cx="4613672" cy="257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5987298"/>
      </p:ext>
    </p:extLst>
  </p:cSld>
  <p:clrMapOvr>
    <a:masterClrMapping/>
  </p:clrMapOvr>
  <p:transition>
    <p:fade/>
  </p:transition>
</p:sld>
</file>

<file path=ppt/slides/slide5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E7295-896C-4052-B250-501D8286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哈希指数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B45AB0-32C8-456C-ABBE-372AC2475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散列不仅可用于文件组织，还可用于创建索引结构 </a:t>
            </a:r>
          </a:p>
          <a:p>
            <a:r>
              <a:rPr lang="en-US" altLang="zh-CN" sz="1800" dirty="0"/>
              <a:t>散列索引将搜索键及其相关记录指针组织成一个散列文件结构</a:t>
            </a:r>
          </a:p>
          <a:p>
            <a:r>
              <a:rPr lang="en-US" altLang="zh-CN" sz="1800" dirty="0"/>
              <a:t>严格来说，哈希索引总是二级索引 </a:t>
            </a:r>
          </a:p>
          <a:p>
            <a:pPr lvl="1"/>
            <a:r>
              <a:rPr lang="en-US" altLang="zh-CN" sz="1600" dirty="0"/>
              <a:t>如果文件本身是使用散列方式组织的，就没有必要使用相同的搜索键在文件上建立单独的主散列索引 </a:t>
            </a:r>
          </a:p>
          <a:p>
            <a:pPr lvl="1"/>
            <a:r>
              <a:rPr lang="en-US" altLang="zh-CN" sz="1600" dirty="0"/>
              <a:t>不过，我们使用散列索引一词来指二级索引结构和散列组织的文件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0716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4613-8B8B-419F-9701-E04C33C5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哈希索引示例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0D7B183-0218-472B-9F60-734C190ED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9" t="963" r="11353" b="963"/>
          <a:stretch>
            <a:fillRect/>
          </a:stretch>
        </p:blipFill>
        <p:spPr bwMode="auto">
          <a:xfrm>
            <a:off x="1577578" y="883444"/>
            <a:ext cx="4604147" cy="395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006F0D26-5D96-4CEB-A4F9-67D34D42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622" y="3275410"/>
            <a:ext cx="388677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账户文件的二级哈希索引，用于搜索关键字 </a:t>
            </a:r>
            <a:r>
              <a:rPr kumimoji="0" lang="en-US" altLang="zh-CN" sz="135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account_number</a:t>
            </a: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。哈希函数计算的是账户号码的数字之和取模 7。</a:t>
            </a:r>
            <a:r>
              <a:rPr kumimoji="0" lang="en-US" altLang="zh-CN" sz="135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哈希索引有 7 个桶，每个桶的大小为 2</a:t>
            </a: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。其中有一个溢出桶。</a:t>
            </a:r>
            <a:endParaRPr kumimoji="0" lang="zh-CN" altLang="en-US" sz="135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02925"/>
      </p:ext>
    </p:extLst>
  </p:cSld>
  <p:clrMapOvr>
    <a:masterClrMapping/>
  </p:clrMapOvr>
  <p:transition>
    <p:fade/>
  </p:transition>
</p:sld>
</file>

<file path=ppt/slides/slide59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873F9-D39D-4C40-A9A9-DB696ADE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静态加密的缺陷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7FE1D-FF1B-4547-94D2-793DB41EE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在静态散列中，函数</a:t>
                </a:r>
                <a14:m xmlns:a14="http://schemas.microsoft.com/office/drawing/2010/main"/>
                <a:r>
                  <a:rPr lang="en-US" altLang="zh-CN" sz="1800" dirty="0"/>
                  <a:t> 将搜索密钥值映射到一组固定的 B 桶地址</a:t>
                </a:r>
                <a:r>
                  <a:rPr lang="en-US" altLang="zh-CN" sz="1800" dirty="0"/>
                  <a:t>中</a:t>
                </a:r>
              </a:p>
              <a:p>
                <a:pPr lvl="1"/>
                <a:r>
                  <a:rPr lang="en-US" altLang="zh-CN" sz="1600" dirty="0"/>
                  <a:t>数据库会随着时间而增长。如果最初的数据桶数量太少，性能会因溢出过多而下降</a:t>
                </a:r>
              </a:p>
              <a:p>
                <a:pPr lvl="1"/>
                <a:r>
                  <a:rPr lang="en-US" altLang="zh-CN" sz="1600" dirty="0"/>
                  <a:t>如果预计未来某个时间点的文件大小，并据此选择分配的文件桶数量，那么最初将浪费大量空间</a:t>
                </a:r>
              </a:p>
              <a:p>
                <a:pPr lvl="1"/>
                <a:r>
                  <a:rPr lang="en-US" altLang="zh-CN" sz="1600" dirty="0"/>
                  <a:t>如果数据库缩小，将再次浪费空间</a:t>
                </a:r>
              </a:p>
              <a:p>
                <a:pPr lvl="1"/>
                <a:r>
                  <a:rPr lang="en-US" altLang="zh-CN" sz="1600" dirty="0"/>
                  <a:t>一种方法是使用新的哈希函数定期重新组织文件，但这种方法非常昂贵。</a:t>
                </a:r>
              </a:p>
              <a:p>
                <a:r>
                  <a:rPr lang="en-US" altLang="zh-CN" sz="1800" dirty="0"/>
                  <a:t>这些问题可以通过使用允许动态修改桶数的技术来避免</a:t>
                </a: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7FE1D-FF1B-4547-94D2-793DB41EE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739209"/>
      </p:ext>
    </p:extLst>
  </p:cSld>
  <p:clrMapOvr>
    <a:masterClrMapping/>
  </p:clrMapOvr>
  <p:transition>
    <p:fade/>
  </p:transition>
</p:sld>
</file>

<file path=ppt/slides/slide60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F39E-A1CF-4C1E-BD3F-707AD4D6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动态散列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C49AE-32C8-4BBE-95F9-A8219BDE2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10896"/>
                <a:ext cx="8784976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适用于规模时大时小的数据库</a:t>
                </a:r>
              </a:p>
              <a:p>
                <a:pPr lvl="1"/>
                <a:r>
                  <a:rPr lang="en-US" altLang="zh-CN" sz="1600" dirty="0"/>
                  <a:t>允许动态修改哈希函数</a:t>
                </a:r>
              </a:p>
              <a:p>
                <a:pPr lvl="1"/>
                <a:r>
                  <a:rPr lang="en-US" altLang="zh-CN" sz="1600" dirty="0"/>
                  <a:t>可扩充散列</a:t>
                </a:r>
                <a:r>
                  <a:rPr lang="en-US" altLang="zh-CN" sz="1600" dirty="0"/>
                  <a:t>--动态散列</a:t>
                </a:r>
                <a:r>
                  <a:rPr lang="en-US" altLang="zh-CN" sz="1600" dirty="0"/>
                  <a:t>的</a:t>
                </a:r>
                <a:r>
                  <a:rPr lang="en-US" altLang="zh-CN" sz="1600" dirty="0"/>
                  <a:t>一种形式 </a:t>
                </a:r>
              </a:p>
              <a:p>
                <a:pPr lvl="1"/>
                <a:r>
                  <a:rPr lang="en-US" altLang="zh-CN" sz="1600" dirty="0"/>
                  <a:t>哈希函数生成的值范围很大，通常是 b 位整数，b = 32（则 2</a:t>
                </a:r>
                <a:r>
                  <a:rPr lang="en-US" altLang="zh-CN" sz="1600" baseline="30000" dirty="0"/>
                  <a:t>32</a:t>
                </a:r>
                <a:r>
                  <a:rPr lang="en-US" altLang="zh-CN" sz="1600" dirty="0"/>
                  <a:t> 哈希值）。</a:t>
                </a:r>
              </a:p>
              <a:p>
                <a:pPr lvl="1"/>
                <a:r>
                  <a:rPr lang="en-US" altLang="zh-CN" sz="1600" dirty="0"/>
                  <a:t>在任何时候，只需使用哈希函数的一个前缀，就能索引到一个桶地址表。   </a:t>
                </a:r>
              </a:p>
              <a:p>
                <a:pPr lvl="1"/>
                <a:r>
                  <a:rPr lang="en-US" altLang="zh-CN" sz="1600" dirty="0"/>
                  <a:t>假设前缀长度为</a:t>
                </a:r>
                <a14:m xmlns:a14="http://schemas.microsoft.com/office/drawing/2010/main"/>
                <a:r>
                  <a:rPr lang="en-US" altLang="zh-CN" sz="1600" dirty="0"/>
                  <a:t> 比特，</a:t>
                </a:r>
                <a14:m xmlns:a14="http://schemas.microsoft.com/office/drawing/2010/main"/>
                <a:r>
                  <a:rPr lang="en-US" altLang="zh-CN" sz="1600" dirty="0"/>
                  <a:t> </a:t>
                </a:r>
              </a:p>
              <a:p>
                <a:pPr lvl="1"/>
                <a:r>
                  <a:rPr lang="en-US" altLang="zh-CN" sz="1600" dirty="0"/>
                  <a:t>最初的</a:t>
                </a:r>
                <a:r>
                  <a:rPr lang="en-US" altLang="zh-CN" sz="1600" dirty="0"/>
                  <a:t>桶地址表大小 = . </a:t>
                </a:r>
                <a14:m xmlns:a14="http://schemas.microsoft.com/office/drawing/2010/main"/>
                <a14:m xmlns:a14="http://schemas.microsoft.com/office/drawing/2010/main"/>
                <a:endParaRPr lang="en-US" altLang="zh-CN" sz="1600" dirty="0"/>
              </a:p>
              <a:p>
                <a:pPr lvl="1"/>
                <a14:m xmlns:a14="http://schemas.microsoft.com/office/drawing/2010/main"/>
                <a:r>
                  <a:rPr lang="en-US" altLang="zh-CN" sz="1600" dirty="0"/>
                  <a:t> </a:t>
                </a:r>
                <a:r>
                  <a:rPr lang="en-US" altLang="zh-CN" sz="1600" dirty="0"/>
                  <a:t>的值</a:t>
                </a:r>
                <a:r>
                  <a:rPr lang="en-US" altLang="zh-CN" sz="1600" dirty="0"/>
                  <a:t>随着数据库规模的增大和缩小而增大和缩小。</a:t>
                </a:r>
              </a:p>
              <a:p>
                <a:pPr lvl="1"/>
                <a:r>
                  <a:rPr lang="en-US" altLang="zh-CN" sz="1600" dirty="0"/>
                  <a:t>水桶地址表中的多个条目可能指向一个水桶 </a:t>
                </a:r>
              </a:p>
              <a:p>
                <a:pPr lvl="1"/>
                <a:r>
                  <a:rPr lang="en-US" altLang="zh-CN" sz="1600" dirty="0"/>
                  <a:t>因此，桶的实际数量 &lt; </a:t>
                </a:r>
                <a14:m xmlns:a14="http://schemas.microsoft.com/office/drawing/2010/main"/>
                <a:endParaRPr lang="en-US" altLang="zh-CN" sz="1600" dirty="0"/>
              </a:p>
              <a:p>
                <a:pPr lvl="2"/>
                <a:r>
                  <a:rPr lang="en-US" altLang="zh-CN" sz="1400" dirty="0"/>
                  <a:t>由于桶的聚合和拆分，桶的数量也会发生动态变化。 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C49AE-32C8-4BBE-95F9-A8219BDE2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10896"/>
                <a:ext cx="8784976" cy="3805070"/>
              </a:xfrm>
              <a:blipFill>
                <a:blip r:embed="rId2"/>
                <a:stretch>
                  <a:fillRect l="-416" t="-962" r="-278" b="-7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822866"/>
      </p:ext>
    </p:extLst>
  </p:cSld>
  <p:clrMapOvr>
    <a:masterClrMapping/>
  </p:clrMapOvr>
  <p:transition>
    <p:fade/>
  </p:transition>
</p:sld>
</file>

<file path=ppt/slides/slide6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FAE70-3624-4B49-B601-B225A71C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通用可扩展哈希结构 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DF4D661-4C26-462E-ACCD-1CF3F7813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" t="7219" r="1936" b="8269"/>
          <a:stretch>
            <a:fillRect/>
          </a:stretch>
        </p:blipFill>
        <p:spPr bwMode="auto">
          <a:xfrm>
            <a:off x="1953817" y="908447"/>
            <a:ext cx="5041106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994851"/>
      </p:ext>
    </p:extLst>
  </p:cSld>
  <p:clrMapOvr>
    <a:masterClrMapping/>
  </p:clrMapOvr>
  <p:transition>
    <p:fade/>
  </p:transition>
</p:sld>
</file>

<file path=ppt/slides/slide62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6054E-6F1F-445C-B50D-ED3BEDCF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可扩展哈希结构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2D5C31-725C-4FDC-A8B1-B8DF6C8F7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每个邮筒</a:t>
                </a:r>
                <a14:m xmlns:a14="http://schemas.microsoft.com/office/drawing/2010/main"/>
                <a:r>
                  <a:rPr lang="en-US" altLang="zh-CN" sz="1800" dirty="0"/>
                  <a:t> 存储一个值</a:t>
                </a:r>
                <a14:m xmlns:a14="http://schemas.microsoft.com/office/drawing/2010/main"/>
                <a:r>
                  <a:rPr lang="en-US" altLang="zh-CN" sz="1800" dirty="0"/>
                  <a:t> ；所有指向同一个邮筒的条目在第一个</a:t>
                </a:r>
                <a14:m xmlns:a14="http://schemas.microsoft.com/office/drawing/2010/main"/>
                <a:r>
                  <a:rPr lang="en-US" altLang="zh-CN" sz="1800" dirty="0"/>
                  <a:t> 位上</a:t>
                </a:r>
                <a:r>
                  <a:rPr lang="en-US" altLang="zh-CN" sz="1800" dirty="0"/>
                  <a:t>都有相同的值。 </a:t>
                </a:r>
              </a:p>
              <a:p>
                <a:r>
                  <a:rPr lang="en-US" altLang="zh-CN" sz="1800" dirty="0"/>
                  <a:t>查找包含搜索关键字的数据桶 ：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1.计算 </a:t>
                </a:r>
                <a14:m xmlns:a14="http://schemas.microsoft.com/office/drawing/2010/main"/>
                <a:endParaRPr lang="en-US" altLang="zh-CN" sz="1600" dirty="0"/>
              </a:p>
              <a:p>
                <a:pPr lvl="1"/>
                <a:r>
                  <a:rPr lang="en-US" altLang="zh-CN" sz="1600" dirty="0"/>
                  <a:t>2.使用 </a:t>
                </a:r>
                <a:r>
                  <a:rPr lang="en-US" altLang="zh-CN" sz="1600" dirty="0"/>
                  <a:t>X 的</a:t>
                </a:r>
                <a:r>
                  <a:rPr lang="en-US" altLang="zh-CN" sz="1600" dirty="0"/>
                  <a:t>前</a:t>
                </a:r>
                <a14:m xmlns:a14="http://schemas.microsoft.com/office/drawing/2010/main"/>
                <a:r>
                  <a:rPr lang="en-US" altLang="zh-CN" sz="1600" dirty="0"/>
                  <a:t> 个高阶位作为进入邮筒地址表的位移，并根据指针进入相应的邮筒</a:t>
                </a:r>
              </a:p>
              <a:p>
                <a:r>
                  <a:rPr lang="en-US" altLang="zh-CN" sz="1800" dirty="0"/>
                  <a:t>插入搜索键值为</a:t>
                </a:r>
                <a14:m xmlns:a14="http://schemas.microsoft.com/office/drawing/2010/main"/>
                <a:r>
                  <a:rPr lang="en-US" altLang="zh-CN" sz="1800" dirty="0"/>
                  <a:t> 的记录 </a:t>
                </a:r>
              </a:p>
              <a:p>
                <a:pPr lvl="1"/>
                <a:r>
                  <a:rPr lang="en-US" altLang="zh-CN" sz="1600" dirty="0"/>
                  <a:t>按照与查找相同的程序，找到水桶，如 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如果数据桶中还有空间，</a:t>
                </a:r>
                <a14:m xmlns:a14="http://schemas.microsoft.com/office/drawing/2010/main"/>
                <a:r>
                  <a:rPr lang="en-US" altLang="zh-CN" sz="1600" dirty="0"/>
                  <a:t> 在数据桶中插入记录。  </a:t>
                </a:r>
              </a:p>
              <a:p>
                <a:pPr lvl="1"/>
                <a:r>
                  <a:rPr lang="en-US" altLang="zh-CN" sz="1600" dirty="0"/>
                  <a:t>否则，必须拆分水桶并重新插入（下一张幻灯片）。</a:t>
                </a:r>
              </a:p>
              <a:p>
                <a:pPr lvl="2"/>
                <a:r>
                  <a:rPr lang="en-US" altLang="zh-CN" sz="1400" dirty="0"/>
                  <a:t>在某些情况下使用溢出桶代替（稍后将看到）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2D5C31-725C-4FDC-A8B1-B8DF6C8F7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107030"/>
      </p:ext>
    </p:extLst>
  </p:cSld>
  <p:clrMapOvr>
    <a:masterClrMapping/>
  </p:clrMapOvr>
  <p:transition>
    <p:fade/>
  </p:transition>
</p:sld>
</file>

<file path=ppt/slides/slide63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F8BAA-972E-430C-AB00-3666AD2A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可扩展哈希结构中的更新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B0D5FE-8B4D-4B75-8070-0D413F961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1800" dirty="0"/>
                  <a:t>在插入搜索关键字值为</a:t>
                </a:r>
                <a14:m xmlns:a14="http://schemas.microsoft.com/office/drawing/2010/main"/>
                <a:r>
                  <a:rPr lang="en-US" altLang="zh-CN" sz="1800" dirty="0"/>
                  <a:t> 的记录时，要分割数据桶 j：</a:t>
                </a:r>
              </a:p>
              <a:p>
                <a:pPr lvl="1"/>
                <a:r>
                  <a:rPr lang="en-US" altLang="zh-CN" sz="1600" dirty="0"/>
                  <a:t>如果</a:t>
                </a:r>
                <a14:m xmlns:a14="http://schemas.microsoft.com/office/drawing/2010/main"/>
                <a:r>
                  <a:rPr lang="en-US" altLang="zh-CN" sz="1600" dirty="0"/>
                  <a:t> （指向水桶的指针不止一个 )</a:t>
                </a:r>
                <a14:m xmlns:a14="http://schemas.microsoft.com/office/drawing/2010/main"/>
              </a:p>
              <a:p>
                <a:pPr lvl="2"/>
                <a:r>
                  <a:rPr lang="en-US" altLang="zh-CN" sz="1400" dirty="0"/>
                  <a:t>分配一个新的水桶</a:t>
                </a:r>
                <a14:m xmlns:a14="http://schemas.microsoft.com/office/drawing/2010/main"/>
                <a:r>
                  <a:rPr lang="en-US" altLang="zh-CN" sz="1400" dirty="0"/>
                  <a:t> ，并将</a:t>
                </a:r>
                <a14:m xmlns:a14="http://schemas.microsoft.com/office/drawing/2010/main"/>
                <a:r>
                  <a:rPr lang="en-US" altLang="zh-CN" sz="1400" dirty="0"/>
                  <a:t> 和</a:t>
                </a:r>
                <a14:m xmlns:a14="http://schemas.microsoft.com/office/drawing/2010/main"/>
                <a:r>
                  <a:rPr lang="en-US" altLang="zh-CN" sz="1400" dirty="0"/>
                  <a:t> 设置</a:t>
                </a:r>
                <a:r>
                  <a:rPr lang="en-US" altLang="zh-CN" sz="1400" dirty="0"/>
                  <a:t>为旧的</a:t>
                </a:r>
                <a:r>
                  <a:rPr lang="en-US" altLang="zh-CN" sz="1400" dirty="0"/>
                  <a:t>水桶</a:t>
                </a:r>
                <a:r>
                  <a:rPr lang="en-US" altLang="zh-CN" sz="1400" dirty="0"/>
                  <a:t>。 </a:t>
                </a:r>
                <a14:m xmlns:a14="http://schemas.microsoft.com/office/drawing/2010/main"/>
                <a:endParaRPr lang="en-US" altLang="zh-CN" sz="1400" dirty="0"/>
              </a:p>
              <a:p>
                <a:pPr lvl="2"/>
                <a:r>
                  <a:rPr lang="en-US" altLang="zh-CN" sz="1400" dirty="0"/>
                  <a:t>使指向</a:t>
                </a:r>
                <a14:m xmlns:a14="http://schemas.microsoft.com/office/drawing/2010/main"/>
                <a:r>
                  <a:rPr lang="en-US" altLang="zh-CN" sz="1400" dirty="0"/>
                  <a:t> 的</a:t>
                </a:r>
                <a:r>
                  <a:rPr lang="en-US" altLang="zh-CN" sz="1400" dirty="0"/>
                  <a:t>水桶地址表项的后半部分</a:t>
                </a:r>
                <a:r>
                  <a:rPr lang="en-US" altLang="zh-CN" sz="1400" dirty="0"/>
                  <a:t>指向 </a:t>
                </a:r>
                <a14:m xmlns:a14="http://schemas.microsoft.com/office/drawing/2010/main"/>
                <a:endParaRPr lang="en-US" altLang="zh-CN" sz="1400" dirty="0"/>
              </a:p>
              <a:p>
                <a:pPr lvl="2"/>
                <a:r>
                  <a:rPr lang="en-US" altLang="zh-CN" sz="1400" dirty="0"/>
                  <a:t>删除并重新插入水桶中的每条记录 </a:t>
                </a:r>
                <a14:m xmlns:a14="http://schemas.microsoft.com/office/drawing/2010/main"/>
                <a:endParaRPr lang="en-US" altLang="zh-CN" sz="1400" dirty="0"/>
              </a:p>
              <a:p>
                <a:pPr lvl="2"/>
                <a:r>
                  <a:rPr lang="en-US" altLang="zh-CN" sz="1400" dirty="0"/>
                  <a:t>为</a:t>
                </a:r>
                <a14:m xmlns:a14="http://schemas.microsoft.com/office/drawing/2010/main"/>
                <a:r>
                  <a:rPr lang="en-US" altLang="zh-CN" sz="1400" dirty="0"/>
                  <a:t> 重新计算新的</a:t>
                </a:r>
                <a:r>
                  <a:rPr lang="en-US" altLang="zh-CN" sz="1400" dirty="0"/>
                  <a:t>数据桶，并在数据桶中插入记录（如果数据桶仍满，则需要进一步拆分）</a:t>
                </a:r>
              </a:p>
              <a:p>
                <a:pPr lvl="1"/>
                <a:r>
                  <a:rPr lang="en-US" altLang="zh-CN" sz="1600" dirty="0"/>
                  <a:t>如果</a:t>
                </a:r>
                <a14:m xmlns:a14="http://schemas.microsoft.com/office/drawing/2010/main"/>
                <a:r>
                  <a:rPr lang="en-US" altLang="zh-CN" sz="1600" dirty="0"/>
                  <a:t> （只有一个指针指向水桶 )</a:t>
                </a:r>
                <a14:m xmlns:a14="http://schemas.microsoft.com/office/drawing/2010/main"/>
              </a:p>
              <a:p>
                <a:pPr lvl="2"/>
                <a:r>
                  <a:rPr lang="en-US" altLang="zh-CN" sz="1400" dirty="0"/>
                  <a:t>增加</a:t>
                </a:r>
                <a14:m xmlns:a14="http://schemas.microsoft.com/office/drawing/2010/main"/>
                <a:r>
                  <a:rPr lang="en-US" altLang="zh-CN" sz="1400" dirty="0"/>
                  <a:t> ，并将水桶地址表的大小增加一倍。</a:t>
                </a:r>
              </a:p>
              <a:p>
                <a:pPr lvl="2"/>
                <a:r>
                  <a:rPr lang="en-US" altLang="zh-CN" sz="1400" dirty="0"/>
                  <a:t>将表中的每个条目替换为指向同一个桶的两个条目。</a:t>
                </a:r>
              </a:p>
              <a:p>
                <a:pPr lvl="2"/>
                <a:r>
                  <a:rPr lang="en-US" altLang="zh-CN" sz="1400" dirty="0"/>
                  <a:t>重新计算新的水桶地址表项 </a:t>
                </a:r>
                <a14:m xmlns:a14="http://schemas.microsoft.com/office/drawing/2010/main"/>
                <a:br>
                  <a:rPr lang="en-US" altLang="zh-CN" sz="1400" dirty="0"/>
                </a:br>
                <a:r>
                  <a:rPr lang="en-US" altLang="zh-CN" sz="1400" dirty="0"/>
                  <a:t>现在</a:t>
                </a:r>
                <a14:m xmlns:a14="http://schemas.microsoft.com/office/drawing/2010/main"/>
                <a:r>
                  <a:rPr lang="en-US" altLang="zh-CN" sz="1400" dirty="0"/>
                  <a:t> ，因此使用上述第一种情况。 </a:t>
                </a:r>
                <a:endParaRPr lang="zh-CN" altLang="en-US" sz="1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B0D5FE-8B4D-4B75-8070-0D413F961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445" t="-962" r="-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82850"/>
      </p:ext>
    </p:extLst>
  </p:cSld>
  <p:clrMapOvr>
    <a:masterClrMapping/>
  </p:clrMapOvr>
  <p:transition>
    <p:fade/>
  </p:transition>
</p:sld>
</file>

<file path=ppt/slides/slide64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6E0EC-5064-4FA4-B3F5-7B43DCC7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可扩展哈希结构中的更新（续）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0D53D-56ED-4D18-8F5A-874171D9E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插入数值时，如果经过几次分割后桶已满（即</a:t>
                </a:r>
                <a14:m xmlns:a14="http://schemas.microsoft.com/office/drawing/2010/main"/>
                <a:r>
                  <a:rPr lang="en-US" altLang="zh-CN" sz="1800" dirty="0"/>
                  <a:t> 达到某个限制 b），则创建一个溢出桶，而不是进一步分割桶入口表。</a:t>
                </a:r>
              </a:p>
              <a:p>
                <a:r>
                  <a:rPr lang="en-US" altLang="zh-CN" sz="1800" dirty="0"/>
                  <a:t>删除键值、 </a:t>
                </a:r>
              </a:p>
              <a:p>
                <a:pPr lvl="1"/>
                <a:r>
                  <a:rPr lang="en-US" altLang="zh-CN" sz="1600" dirty="0"/>
                  <a:t>将其放入桶中并取出。 </a:t>
                </a:r>
              </a:p>
              <a:p>
                <a:pPr lvl="1"/>
                <a:r>
                  <a:rPr lang="en-US" altLang="zh-CN" sz="1600" dirty="0"/>
                  <a:t>如果水桶变空，水桶本身也可以移除（对水桶地址表进行适当更新）。 </a:t>
                </a:r>
              </a:p>
              <a:p>
                <a:pPr lvl="1"/>
                <a:r>
                  <a:rPr lang="en-US" altLang="zh-CN" sz="1600" dirty="0"/>
                  <a:t>可以对桶进行聚合（如果存在 "好友 "桶，则只能与之聚合） </a:t>
                </a:r>
              </a:p>
              <a:p>
                <a:pPr lvl="1"/>
                <a:r>
                  <a:rPr lang="en-US" altLang="zh-CN" sz="1600" dirty="0"/>
                  <a:t>也可以减少邮筒地址表的大小</a:t>
                </a:r>
              </a:p>
              <a:p>
                <a:pPr lvl="1"/>
                <a:r>
                  <a:rPr lang="en-US" altLang="zh-CN" sz="1600" dirty="0"/>
                  <a:t>注意：减少水桶地址表的大小是一项昂贵的操作，只有当水桶的数量远小于表的大小时才可执行。 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0D53D-56ED-4D18-8F5A-874171D9E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794489"/>
      </p:ext>
    </p:extLst>
  </p:cSld>
  <p:clrMapOvr>
    <a:masterClrMapping/>
  </p:clrMapOvr>
  <p:transition>
    <p:fade/>
  </p:transition>
</p:sld>
</file>

<file path=ppt/slides/slide6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569A8-C651-4059-AA0A-5D3C2A5F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可扩展哈希结构示例</a:t>
            </a:r>
            <a:endParaRPr lang="zh-CN" alt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B4302FE7-BC0B-4862-9165-B39C59EED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899" y="4290710"/>
            <a:ext cx="39219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初始哈希结构，桶大小 = 2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4A61CE5-280F-4A63-8B64-D168D3119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" t="35394" r="2002" b="36707"/>
          <a:stretch>
            <a:fillRect/>
          </a:stretch>
        </p:blipFill>
        <p:spPr bwMode="auto">
          <a:xfrm>
            <a:off x="1885948" y="3089027"/>
            <a:ext cx="5549504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B90487E-0CE7-44EB-9946-C34C67DA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" t="25549" r="4889" b="26512"/>
          <a:stretch>
            <a:fillRect/>
          </a:stretch>
        </p:blipFill>
        <p:spPr bwMode="auto">
          <a:xfrm>
            <a:off x="1918443" y="1347614"/>
            <a:ext cx="4790976" cy="1508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398020"/>
      </p:ext>
    </p:extLst>
  </p:cSld>
  <p:clrMapOvr>
    <a:masterClrMapping/>
  </p:clrMapOvr>
  <p:transition>
    <p:fade/>
  </p:transition>
</p:sld>
</file>

<file path=ppt/slides/slide6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1DBD4-F577-428D-B6A0-A7AC3552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D0127-3B51-4FCE-BBFC-6EB5AB33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插入一条布莱顿记录和两条下城记录后的哈希结构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A1B9762-00A8-4422-94CD-EA8DEC511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" t="25244" r="2658" b="25244"/>
          <a:stretch>
            <a:fillRect/>
          </a:stretch>
        </p:blipFill>
        <p:spPr bwMode="auto">
          <a:xfrm>
            <a:off x="1763688" y="1491630"/>
            <a:ext cx="4918397" cy="200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377841"/>
      </p:ext>
    </p:extLst>
  </p:cSld>
  <p:clrMapOvr>
    <a:masterClrMapping/>
  </p:clrMapOvr>
  <p:transition>
    <p:fade/>
  </p:transition>
</p:sld>
</file>

<file path=ppt/slides/slide67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C309E-5089-49AA-B5B6-74BB2977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A5168F-999D-4786-B583-6CB797B3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插入 </a:t>
            </a:r>
            <a:r>
              <a:rPr lang="en-US" altLang="zh-CN" sz="1800" dirty="0" err="1"/>
              <a:t>Mianus </a:t>
            </a:r>
            <a:r>
              <a:rPr lang="en-US" altLang="zh-CN" sz="1800" dirty="0"/>
              <a:t>记录</a:t>
            </a:r>
            <a:r>
              <a:rPr lang="en-US" altLang="zh-CN" sz="1800" dirty="0"/>
              <a:t>后的哈希结构</a:t>
            </a:r>
          </a:p>
          <a:p>
            <a:endParaRPr lang="zh-CN" altLang="en-US" sz="18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47BF32-2A58-4ED6-8586-08BDF8016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15005" r="2100" b="15005"/>
          <a:stretch>
            <a:fillRect/>
          </a:stretch>
        </p:blipFill>
        <p:spPr bwMode="auto">
          <a:xfrm>
            <a:off x="1691680" y="1407739"/>
            <a:ext cx="4760714" cy="232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7029313"/>
      </p:ext>
    </p:extLst>
  </p:cSld>
  <p:clrMapOvr>
    <a:masterClrMapping/>
  </p:clrMapOvr>
  <p:transition>
    <p:fade/>
  </p:transition>
</p:sld>
</file>

<file path=ppt/slides/slide6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BE085-A305-4C81-B236-917AA312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示例（续）</a:t>
            </a:r>
            <a:endParaRPr lang="zh-CN" alt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B9004CD-F08B-4C23-9BB3-5D315D627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874" y="4396131"/>
            <a:ext cx="541366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插入三条 </a:t>
            </a:r>
            <a:r>
              <a:rPr kumimoji="0" lang="en-US" altLang="zh-CN" sz="15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Perryridge </a:t>
            </a:r>
            <a:r>
              <a:rPr kumimoji="0" lang="en-US" altLang="zh-CN" sz="15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记录</a:t>
            </a:r>
            <a:r>
              <a:rPr kumimoji="0" lang="en-US" altLang="zh-CN" sz="15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后的哈希结构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0D3C0D6-A70F-499A-B82E-D83A69671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9" t="7613" r="1543" b="15181"/>
          <a:stretch>
            <a:fillRect/>
          </a:stretch>
        </p:blipFill>
        <p:spPr bwMode="auto">
          <a:xfrm>
            <a:off x="1775223" y="890588"/>
            <a:ext cx="5682853" cy="348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417557"/>
      </p:ext>
    </p:extLst>
  </p:cSld>
  <p:clrMapOvr>
    <a:masterClrMapping/>
  </p:clrMapOvr>
  <p:transition>
    <p:fade/>
  </p:transition>
</p:sld>
</file>

<file path=ppt/slides/slide69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E7321-AE03-4C93-A120-34874048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示例（续）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1DEB6-AC25-4576-BDA0-D95E7EC1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插入 Redwood 和 Round Hill 记录后的哈希结构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527E625-7481-4F47-A6FF-5C9CE0290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" t="4025" r="1411" b="15881"/>
          <a:stretch>
            <a:fillRect/>
          </a:stretch>
        </p:blipFill>
        <p:spPr bwMode="auto">
          <a:xfrm>
            <a:off x="1619672" y="1347614"/>
            <a:ext cx="5503069" cy="336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881725"/>
      </p:ext>
    </p:extLst>
  </p:cSld>
  <p:clrMapOvr>
    <a:masterClrMapping/>
  </p:clrMapOvr>
  <p:transition>
    <p:fade/>
  </p:transition>
</p:sld>
</file>

<file path=ppt/slides/slide7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44431-C418-48A3-9E52-9F2B3E13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可扩展哈希算法与其他算法的比较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F22E5-E0DD-4870-B1D8-BA6162108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可扩展哈希算法的优势  </a:t>
            </a:r>
          </a:p>
          <a:p>
            <a:pPr lvl="1"/>
            <a:r>
              <a:rPr lang="en-US" altLang="zh-CN" sz="1600" dirty="0"/>
              <a:t>散列性能不会随着文件的增加而降低</a:t>
            </a:r>
          </a:p>
          <a:p>
            <a:pPr lvl="1"/>
            <a:r>
              <a:rPr lang="en-US" altLang="zh-CN" sz="1600" dirty="0"/>
              <a:t>最小空间开销</a:t>
            </a:r>
          </a:p>
          <a:p>
            <a:r>
              <a:rPr lang="en-US" altLang="zh-CN" sz="1800" dirty="0"/>
              <a:t>可扩展哈希算法的缺点</a:t>
            </a:r>
          </a:p>
          <a:p>
            <a:pPr lvl="1"/>
            <a:r>
              <a:rPr lang="en-US" altLang="zh-CN" sz="1600" dirty="0"/>
              <a:t>查找所需记录的额外间接层次</a:t>
            </a:r>
          </a:p>
          <a:p>
            <a:pPr lvl="1"/>
            <a:r>
              <a:rPr lang="en-US" altLang="zh-CN" sz="1600" dirty="0"/>
              <a:t>桶地址表本身可能变得非常大（大于内存）</a:t>
            </a:r>
          </a:p>
          <a:p>
            <a:pPr lvl="2"/>
            <a:r>
              <a:rPr lang="en-US" altLang="zh-CN" sz="1400" dirty="0"/>
              <a:t>需要一个树形结构来查找结构中的所需记录！</a:t>
            </a:r>
          </a:p>
          <a:p>
            <a:pPr lvl="1"/>
            <a:r>
              <a:rPr lang="en-US" altLang="zh-CN" sz="1600" dirty="0"/>
              <a:t>更改邮筒地址表的大小是一项昂贵的操作</a:t>
            </a:r>
          </a:p>
          <a:p>
            <a:r>
              <a:rPr lang="en-US" altLang="zh-CN" sz="1800" dirty="0"/>
              <a:t>线性散列是一种替代机制，可以避免这些缺点，但可能要付出更多的桶溢出的代价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1308687"/>
      </p:ext>
    </p:extLst>
  </p:cSld>
  <p:clrMapOvr>
    <a:masterClrMapping/>
  </p:clrMapOvr>
  <p:transition>
    <p:fade/>
  </p:transition>
</p:sld>
</file>

<file path=ppt/slides/slide7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3425429771"/>
      </p:ext>
    </p:extLst>
  </p:cSld>
  <p:clrMapOvr>
    <a:masterClrMapping/>
  </p:clrMapOvr>
  <p:transition>
    <p:fade/>
  </p:transition>
</p:sld>
</file>

<file path=ppt/slides/slide7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A306D-2247-4299-9DF6-BE648536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有序索引与散列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8640B-CE0A-4318-A133-6255D8C7E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文件整理和索引问题</a:t>
            </a:r>
          </a:p>
          <a:p>
            <a:pPr lvl="1"/>
            <a:r>
              <a:rPr lang="en-US" altLang="zh-CN" sz="1800" dirty="0"/>
              <a:t>定期重组费用</a:t>
            </a:r>
          </a:p>
          <a:p>
            <a:pPr lvl="1"/>
            <a:r>
              <a:rPr lang="en-US" altLang="zh-CN" sz="1800" dirty="0"/>
              <a:t>插入和删除的频率</a:t>
            </a:r>
          </a:p>
          <a:p>
            <a:pPr lvl="1"/>
            <a:r>
              <a:rPr lang="en-US" altLang="zh-CN" sz="1800" dirty="0"/>
              <a:t>优化平均访问时间是否会牺牲最坏情况下的访问时间</a:t>
            </a:r>
          </a:p>
          <a:p>
            <a:pPr lvl="1"/>
            <a:r>
              <a:rPr lang="en-US" altLang="zh-CN" sz="1800" dirty="0"/>
              <a:t>预期查询类型</a:t>
            </a:r>
          </a:p>
          <a:p>
            <a:pPr lvl="2"/>
            <a:r>
              <a:rPr lang="en-US" altLang="zh-CN" dirty="0"/>
              <a:t>通常，散列法更适合检索具有指定键值的记录</a:t>
            </a:r>
          </a:p>
          <a:p>
            <a:pPr lvl="2"/>
            <a:r>
              <a:rPr lang="en-US" altLang="zh-CN" dirty="0"/>
              <a:t>如果经常进行范围查询，则首选有序索引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29227337"/>
      </p:ext>
    </p:extLst>
  </p:cSld>
  <p:clrMapOvr>
    <a:masterClrMapping/>
  </p:clrMapOvr>
  <p:transition>
    <p:fade/>
  </p:transition>
</p:sld>
</file>

<file path=ppt/slides/slide7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416866376"/>
      </p:ext>
    </p:extLst>
  </p:cSld>
  <p:clrMapOvr>
    <a:masterClrMapping/>
  </p:clrMapOvr>
  <p:transition>
    <p:fade/>
  </p:transition>
</p:sld>
</file>

<file path=ppt/slides/slide7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364F1-F7E7-4025-82C9-82FBCAA9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SQL 中的索引定义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EEA1D-4975-428B-A607-24FA2DCF6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2000" b="1" dirty="0"/>
              <a:t>创建索引</a:t>
            </a:r>
          </a:p>
          <a:p>
            <a:pPr marL="457200" lvl="1" indent="0">
              <a:buNone/>
            </a:pPr>
            <a:r>
              <a:rPr lang="en-US" altLang="zh-CN" sz="1800" b="1" dirty="0"/>
              <a:t>在 </a:t>
            </a:r>
            <a:r>
              <a:rPr lang="en-US" altLang="zh-CN" sz="1800" dirty="0"/>
              <a:t>&lt;relation-name&gt; (&lt;attribute-list&gt;) </a:t>
            </a:r>
            <a:r>
              <a:rPr lang="en-US" altLang="zh-CN" sz="1800" b="1" dirty="0"/>
              <a:t>上</a:t>
            </a:r>
            <a:r>
              <a:rPr lang="en-US" altLang="zh-CN" sz="1800" b="1" dirty="0"/>
              <a:t>创建 </a:t>
            </a:r>
            <a:r>
              <a:rPr lang="en-US" altLang="zh-CN" sz="1800" dirty="0"/>
              <a:t>[UNIQUE] </a:t>
            </a:r>
            <a:r>
              <a:rPr lang="en-US" altLang="zh-CN" sz="1800" b="1" dirty="0"/>
              <a:t>索引 </a:t>
            </a:r>
            <a:r>
              <a:rPr lang="en-US" altLang="zh-CN" sz="1800" dirty="0"/>
              <a:t>&lt;index-name&gt;</a:t>
            </a:r>
          </a:p>
          <a:p>
            <a:pPr marL="457200" lvl="1" indent="0">
              <a:buNone/>
            </a:pPr>
            <a:r>
              <a:rPr lang="en-US" altLang="zh-CN" sz="1800" dirty="0"/>
              <a:t>例如，</a:t>
            </a:r>
            <a:r>
              <a:rPr lang="en-US" altLang="zh-CN" sz="1800" b="1" dirty="0"/>
              <a:t>在</a:t>
            </a:r>
            <a:r>
              <a:rPr lang="en-US" altLang="zh-CN" sz="1800" dirty="0"/>
              <a:t>分支（</a:t>
            </a:r>
            <a:r>
              <a:rPr lang="en-US" altLang="zh-CN" sz="1800" dirty="0" err="1"/>
              <a:t>分支名称</a:t>
            </a:r>
            <a:r>
              <a:rPr lang="en-US" altLang="zh-CN" sz="1800" dirty="0"/>
              <a:t>）</a:t>
            </a:r>
            <a:r>
              <a:rPr lang="en-US" altLang="zh-CN" sz="1800" b="1" dirty="0"/>
              <a:t>上</a:t>
            </a:r>
            <a:r>
              <a:rPr lang="en-US" altLang="zh-CN" sz="1800" b="1" dirty="0"/>
              <a:t>创建</a:t>
            </a:r>
            <a:r>
              <a:rPr lang="en-US" altLang="zh-CN" sz="1800" b="1" dirty="0"/>
              <a:t>索引 </a:t>
            </a:r>
            <a:r>
              <a:rPr lang="en-US" altLang="zh-CN" sz="1800" dirty="0" err="1"/>
              <a:t>b_index</a:t>
            </a:r>
          </a:p>
          <a:p>
            <a:endParaRPr lang="en-US" altLang="zh-CN" sz="2000" dirty="0"/>
          </a:p>
          <a:p>
            <a:pPr lvl="1"/>
            <a:r>
              <a:rPr lang="en-US" altLang="zh-CN" sz="1800" dirty="0"/>
              <a:t>使用创建唯一索引来间接指定和执行搜索键是候选键的条件</a:t>
            </a:r>
          </a:p>
          <a:p>
            <a:pPr lvl="2"/>
            <a:r>
              <a:rPr lang="en-US" altLang="zh-CN" sz="1600" dirty="0"/>
              <a:t>如果支持 SQL 唯一完整性约束，则不太需要</a:t>
            </a:r>
          </a:p>
          <a:p>
            <a:r>
              <a:rPr lang="en-US" altLang="zh-CN" sz="2000" b="1" dirty="0"/>
              <a:t>删除索引 </a:t>
            </a:r>
          </a:p>
          <a:p>
            <a:pPr marL="457200" lvl="1" indent="0">
              <a:buNone/>
            </a:pPr>
            <a:r>
              <a:rPr lang="en-US" altLang="zh-CN" sz="1800" b="1" dirty="0"/>
              <a:t>drop </a:t>
            </a:r>
            <a:r>
              <a:rPr lang="en-US" altLang="zh-CN" sz="1800" b="1" dirty="0"/>
              <a:t>索引 </a:t>
            </a:r>
            <a:r>
              <a:rPr lang="en-US" altLang="zh-CN" sz="1800" dirty="0"/>
              <a:t>&lt;索引名&gt;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67228323"/>
      </p:ext>
    </p:extLst>
  </p:cSld>
  <p:clrMapOvr>
    <a:masterClrMapping/>
  </p:clrMapOvr>
  <p:transition>
    <p:fade/>
  </p:transition>
</p:sld>
</file>

<file path=ppt/slides/slide7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概要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基本概念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 树和 B 树指数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静态和动态散列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有序索引与散列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SQL 中的索引定义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多键访问</a:t>
            </a:r>
          </a:p>
        </p:txBody>
      </p:sp>
    </p:spTree>
    <p:extLst>
      <p:ext uri="{BB962C8B-B14F-4D97-AF65-F5344CB8AC3E}">
        <p14:creationId xmlns:p14="http://schemas.microsoft.com/office/powerpoint/2010/main" val="2471433320"/>
      </p:ext>
    </p:extLst>
  </p:cSld>
  <p:clrMapOvr>
    <a:masterClrMapping/>
  </p:clrMapOvr>
  <p:transition>
    <p:fade/>
  </p:transition>
</p:sld>
</file>

<file path=ppt/slides/slide7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F9E55-85B3-4A83-924C-242BEDCA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多密钥访问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9D94A-CEAD-43AA-BB6F-1C286FE7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784976" cy="3733062"/>
          </a:xfrm>
        </p:spPr>
        <p:txBody>
          <a:bodyPr/>
          <a:lstStyle/>
          <a:p>
            <a:r>
              <a:rPr lang="en-US" altLang="zh-CN" sz="1800" dirty="0"/>
              <a:t>对某些类型的查询使用多个索引</a:t>
            </a:r>
          </a:p>
          <a:p>
            <a:pPr lvl="1"/>
            <a:r>
              <a:rPr lang="en-US" altLang="zh-CN" sz="1600" dirty="0"/>
              <a:t>例如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账号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账户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= 1000</a:t>
            </a:r>
          </a:p>
          <a:p>
            <a:r>
              <a:rPr lang="en-US" altLang="zh-CN" sz="1800" dirty="0"/>
              <a:t>使用单一属性索引处理查询的三种可能策略</a:t>
            </a:r>
          </a:p>
          <a:p>
            <a:pPr lvl="1"/>
            <a:r>
              <a:rPr lang="en-US" altLang="zh-CN" sz="1400" dirty="0"/>
              <a:t>使用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400" dirty="0"/>
              <a:t>索引</a:t>
            </a:r>
            <a:r>
              <a:rPr lang="en-US" altLang="zh-CN" sz="1400" dirty="0"/>
              <a:t>查找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400" dirty="0"/>
              <a:t>= "</a:t>
            </a:r>
            <a:r>
              <a:rPr lang="en-US" altLang="zh-CN" sz="1400" dirty="0" err="1"/>
              <a:t>Perryridge</a:t>
            </a:r>
            <a:r>
              <a:rPr lang="en-US" altLang="zh-CN" sz="1400" dirty="0"/>
              <a:t>"、测试余额为 1000 美元的</a:t>
            </a:r>
            <a:r>
              <a:rPr lang="en-US" altLang="zh-CN" sz="1400" dirty="0"/>
              <a:t>账户； </a:t>
            </a:r>
          </a:p>
          <a:p>
            <a:pPr lvl="1"/>
            <a:r>
              <a:rPr lang="en-US" altLang="zh-CN" sz="1400" dirty="0"/>
              <a:t>使用余额索引查找余额为 1000 美元的账户；test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400" dirty="0"/>
              <a:t>= "</a:t>
            </a:r>
            <a:r>
              <a:rPr lang="en-US" altLang="zh-CN" sz="1400" dirty="0" err="1"/>
              <a:t>Perryridge</a:t>
            </a:r>
            <a:r>
              <a:rPr lang="en-US" altLang="zh-CN" sz="1400" dirty="0"/>
              <a:t>"。</a:t>
            </a:r>
          </a:p>
          <a:p>
            <a:pPr lvl="1"/>
            <a:r>
              <a:rPr lang="en-US" altLang="zh-CN" sz="1400" dirty="0"/>
              <a:t>使用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分支名称</a:t>
            </a:r>
            <a:r>
              <a:rPr lang="en-US" altLang="zh-CN" sz="1400" dirty="0"/>
              <a:t>索引查找与 </a:t>
            </a:r>
            <a:r>
              <a:rPr lang="en-US" altLang="zh-CN" sz="1400" dirty="0" err="1"/>
              <a:t>Perryridge </a:t>
            </a:r>
            <a:r>
              <a:rPr lang="en-US" altLang="zh-CN" sz="1400" dirty="0"/>
              <a:t>分支</a:t>
            </a:r>
            <a:r>
              <a:rPr lang="en-US" altLang="zh-CN" sz="1400" dirty="0"/>
              <a:t>有关的所有记录的指针。</a:t>
            </a:r>
            <a:r>
              <a:rPr lang="en-US" altLang="zh-CN" sz="1400" dirty="0"/>
              <a:t>同样使用余额索引。获取两组指针的交集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00010383"/>
      </p:ext>
    </p:extLst>
  </p:cSld>
  <p:clrMapOvr>
    <a:masterClrMapping/>
  </p:clrMapOvr>
  <p:transition>
    <p:fade/>
  </p:transition>
</p:sld>
</file>

<file path=ppt/slides/slide7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6F16-1E14-4FF0-8748-B0992C62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多属性指数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F3AD-AC63-4677-AF6E-8B4CA783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假设我们在组合搜索关键字（</a:t>
            </a:r>
            <a:r>
              <a:rPr lang="en-US" altLang="zh-CN" sz="1800" dirty="0" err="1"/>
              <a:t>分行名称</a:t>
            </a:r>
            <a:r>
              <a:rPr lang="en-US" altLang="zh-CN" sz="1800" dirty="0"/>
              <a:t>、余额）</a:t>
            </a:r>
            <a:r>
              <a:rPr lang="en-US" altLang="zh-CN" sz="1800" dirty="0"/>
              <a:t>上建立了一个索引</a:t>
            </a:r>
          </a:p>
          <a:p>
            <a:r>
              <a:rPr lang="en-US" altLang="zh-CN" sz="1800" dirty="0"/>
              <a:t>使用 where 子句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and balance = 1000</a:t>
            </a:r>
            <a:br>
              <a:rPr lang="en-US" altLang="zh-CN" sz="1800" dirty="0"/>
            </a:br>
            <a:r>
              <a:rPr lang="en-US" altLang="zh-CN" sz="1800" dirty="0"/>
              <a:t>组合搜索键上的索引将只获取满足这两个条件的记录</a:t>
            </a:r>
          </a:p>
          <a:p>
            <a:r>
              <a:rPr lang="en-US" altLang="zh-CN" sz="1800" dirty="0"/>
              <a:t>还能有效处理 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branch_name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and balance &lt; 1000</a:t>
            </a:r>
          </a:p>
          <a:p>
            <a:r>
              <a:rPr lang="en-US" altLang="zh-CN" sz="1800" dirty="0"/>
              <a:t>但无法有效处理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其中分支名称 &lt; "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且余额 = 1000</a:t>
            </a:r>
            <a:br>
              <a:rPr lang="en-US" altLang="zh-CN" sz="1800" dirty="0">
                <a:solidFill>
                  <a:srgbClr val="C00000"/>
                </a:solidFill>
              </a:rPr>
            </a:br>
            <a:r>
              <a:rPr lang="en-US" altLang="zh-CN" sz="1800" dirty="0"/>
              <a:t>可能会获取许多满足第一个条件但不满足第二个条件的记录，从而导致大量 </a:t>
            </a:r>
            <a:r>
              <a:rPr lang="en-US" altLang="zh-CN" sz="1800" dirty="0" err="1"/>
              <a:t>I/O</a:t>
            </a:r>
            <a:endParaRPr lang="en-US" altLang="zh-CN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04253618"/>
      </p:ext>
    </p:extLst>
  </p:cSld>
  <p:clrMapOvr>
    <a:masterClrMapping/>
  </p:clrMapOvr>
  <p:transition>
    <p:fade/>
  </p:transition>
</p:sld>
</file>

<file path=ppt/slides/slide7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9BA83-3FD4-4AD0-A8EF-869F50FF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网格文件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F3565-D459-4191-A6A9-F28F7746E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用于加快处理涉及一个或多个比较运算符的多个搜索键查询的结构</a:t>
            </a:r>
          </a:p>
          <a:p>
            <a:r>
              <a:rPr lang="en-US" altLang="zh-CN" sz="1800" dirty="0"/>
              <a:t>网格文件有一个网格数组，每个搜索关键属性有一个线性刻度。网格数组的维数等于搜索关键属性的数量</a:t>
            </a:r>
          </a:p>
          <a:p>
            <a:r>
              <a:rPr lang="en-US" altLang="zh-CN" sz="1800" dirty="0"/>
              <a:t>网格阵列的多个单元格可指向同一个水桶</a:t>
            </a:r>
          </a:p>
          <a:p>
            <a:r>
              <a:rPr lang="en-US" altLang="zh-CN" sz="1800" dirty="0"/>
              <a:t>要找到搜索键值的桶，请使用线性刻度找到其单元格的行和列，并跟随指针移动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90323131"/>
      </p:ext>
    </p:extLst>
  </p:cSld>
  <p:clrMapOvr>
    <a:masterClrMapping/>
  </p:clrMapOvr>
  <p:transition>
    <p:fade/>
  </p:transition>
</p:sld>
</file>

<file path=ppt/slides/slide79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8DAF4-C352-4A54-BE87-B0C123A1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账户网格文件示例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F5CDC02-EBC8-4D59-95A1-EDE48CE5A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2" t="2013" r="12140" b="30844"/>
          <a:stretch>
            <a:fillRect/>
          </a:stretch>
        </p:blipFill>
        <p:spPr bwMode="auto">
          <a:xfrm>
            <a:off x="1784747" y="900113"/>
            <a:ext cx="5681663" cy="367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957841"/>
      </p:ext>
    </p:extLst>
  </p:cSld>
  <p:clrMapOvr>
    <a:masterClrMapping/>
  </p:clrMapOvr>
  <p:transition>
    <p:fade/>
  </p:transition>
</p:sld>
</file>

<file path=ppt/slides/slide80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E9AC8-F0A2-474A-BC61-97ACCCDB5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网格文件上的查询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EFF7DD-ABA5-4946-ACE6-24368CF1F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关于两个属性 </a:t>
                </a:r>
                <a:r>
                  <a:rPr lang="en-US" altLang="zh-CN" sz="1800" i="1" dirty="0"/>
                  <a:t>A </a:t>
                </a:r>
                <a:r>
                  <a:rPr lang="en-US" altLang="zh-CN" sz="1800" dirty="0"/>
                  <a:t>和 </a:t>
                </a:r>
                <a:r>
                  <a:rPr lang="en-US" altLang="zh-CN" sz="1800" i="1" dirty="0"/>
                  <a:t>B </a:t>
                </a:r>
                <a:r>
                  <a:rPr lang="en-US" altLang="zh-CN" sz="1800" dirty="0"/>
                  <a:t>的网格文件</a:t>
                </a:r>
                <a:r>
                  <a:rPr lang="en-US" altLang="zh-CN" sz="1800" dirty="0"/>
                  <a:t>可以高效处理以下所有形式的查询 </a:t>
                </a:r>
              </a:p>
              <a:p>
                <a:pPr lvl="1"/>
                <a:r>
                  <a:rPr lang="en-US" altLang="zh-CN" sz="1600" dirty="0"/>
                  <a:t>( )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( )</a:t>
                </a:r>
                <a14:m xmlns:a14="http://schemas.microsoft.com/office/drawing/2010/main"/>
              </a:p>
              <a:p>
                <a:pPr lvl="1"/>
                <a:r>
                  <a:rPr lang="en-US" altLang="zh-CN" sz="1600" dirty="0"/>
                  <a:t>( 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</a:t>
                </a:r>
                <a14:m xmlns:a14="http://schemas.microsoft.com/office/drawing/2010/main"/>
                <a:r>
                  <a:rPr lang="en-US" altLang="zh-CN" sz="1600" dirty="0"/>
                  <a:t> )</a:t>
                </a:r>
                <a:r>
                  <a:rPr lang="en-US" altLang="zh-CN" sz="1600" dirty="0"/>
                  <a:t>,.</a:t>
                </a:r>
              </a:p>
              <a:p>
                <a:r>
                  <a:rPr lang="en-US" altLang="zh-CN" sz="1800" dirty="0"/>
                  <a:t>例如 </a:t>
                </a:r>
              </a:p>
              <a:p>
                <a:pPr lvl="1"/>
                <a:r>
                  <a:rPr lang="en-US" altLang="zh-CN" sz="1600" dirty="0"/>
                  <a:t>( </a:t>
                </a:r>
                <a14:m xmlns:a14="http://schemas.microsoft.com/office/drawing/2010/main"/>
                <a14:m xmlns:a14="http://schemas.microsoft.com/office/drawing/2010/main"/>
                <a:r>
                  <a:rPr lang="en-US" altLang="zh-CN" sz="1600" dirty="0"/>
                  <a:t> </a:t>
                </a:r>
                <a14:m xmlns:a14="http://schemas.microsoft.com/office/drawing/2010/main"/>
                <a:r>
                  <a:rPr lang="en-US" altLang="zh-CN" sz="1600" dirty="0"/>
                  <a:t> ) </a:t>
                </a:r>
                <a:r>
                  <a:rPr lang="en-US" altLang="zh-CN" sz="1600" dirty="0"/>
                  <a:t>，使用线性标度找到相应的候选网格阵列单元格，并查找这些单元格指向的所有水桶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EFF7DD-ABA5-4946-ACE6-24368CF1F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55975"/>
      </p:ext>
    </p:extLst>
  </p:cSld>
  <p:clrMapOvr>
    <a:masterClrMapping/>
  </p:clrMapOvr>
  <p:transition>
    <p:fade/>
  </p:transition>
</p:sld>
</file>

<file path=ppt/slides/slide8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5859B-4D58-4525-96EB-0BD3BD87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网格文件（续）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576291-7579-4465-A3E1-30564B538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在插入过程中，如果水桶已满，只要有一个以上的单元格指向该水桶，就可以创建新的水桶</a:t>
            </a:r>
          </a:p>
          <a:p>
            <a:pPr lvl="1"/>
            <a:r>
              <a:rPr lang="en-US" altLang="zh-CN" sz="1600" dirty="0"/>
              <a:t>类似于可扩展哈希算法的理念，但涉及多个维度</a:t>
            </a:r>
          </a:p>
          <a:p>
            <a:pPr lvl="1"/>
            <a:r>
              <a:rPr lang="en-US" altLang="zh-CN" sz="1600" dirty="0"/>
              <a:t>如果只有一个单元格指向它，则必须创建溢出桶或增加网格大小</a:t>
            </a:r>
          </a:p>
          <a:p>
            <a:r>
              <a:rPr lang="en-US" altLang="zh-CN" sz="1800" dirty="0"/>
              <a:t>必须选择线性比例，以便在单元格中均匀分布记录。 </a:t>
            </a:r>
          </a:p>
          <a:p>
            <a:pPr lvl="1"/>
            <a:r>
              <a:rPr lang="en-US" altLang="zh-CN" sz="1600" dirty="0"/>
              <a:t>否则会有太多的溢出桶。</a:t>
            </a:r>
          </a:p>
          <a:p>
            <a:r>
              <a:rPr lang="en-US" altLang="zh-CN" sz="1800" dirty="0"/>
              <a:t>定期重组以增加网格大小将有助于</a:t>
            </a:r>
          </a:p>
          <a:p>
            <a:pPr lvl="1"/>
            <a:r>
              <a:rPr lang="en-US" altLang="zh-CN" sz="1600" dirty="0"/>
              <a:t>但重组的成本可能非常高昂。</a:t>
            </a:r>
          </a:p>
          <a:p>
            <a:r>
              <a:rPr lang="en-US" altLang="zh-CN" sz="1800" dirty="0"/>
              <a:t>网格阵列的空间开销可能很高。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30389011"/>
      </p:ext>
    </p:extLst>
  </p:cSld>
  <p:clrMapOvr>
    <a:masterClrMapping/>
  </p:clrMapOvr>
  <p:transition>
    <p:fade/>
  </p:transition>
</p:sld>
</file>

<file path=ppt/slides/slide82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B5B5D-3842-4CBB-8FFE-C4DFA5A4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位图索引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AAE0D2-6A37-4DE5-996D-F3DF5100E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位图索引是一种特殊类型的索引，设计用于对多个键进行高效查询</a:t>
                </a:r>
              </a:p>
              <a:p>
                <a:r>
                  <a:rPr lang="en-US" altLang="zh-CN" sz="1800" dirty="0"/>
                  <a:t>关系中的记录假定按顺序编号，从记录开始：</a:t>
                </a:r>
              </a:p>
              <a:p>
                <a:pPr lvl="1"/>
                <a:r>
                  <a:rPr lang="en-US" altLang="zh-CN" sz="1600" dirty="0"/>
                  <a:t>给定一个数字</a:t>
                </a:r>
                <a14:m xmlns:a14="http://schemas.microsoft.com/office/drawing/2010/main"/>
                <a:r>
                  <a:rPr lang="en-US" altLang="zh-CN" sz="1600" dirty="0"/>
                  <a:t> ，必须很容易检索到记录 </a:t>
                </a:r>
                <a14:m xmlns:a14="http://schemas.microsoft.com/office/drawing/2010/main"/>
                <a:endParaRPr lang="en-US" altLang="zh-CN" sz="1600" dirty="0"/>
              </a:p>
              <a:p>
                <a:pPr lvl="2"/>
                <a:r>
                  <a:rPr lang="en-US" altLang="zh-CN" sz="1400" dirty="0"/>
                  <a:t>如果记录大小固定，则特别容易实现</a:t>
                </a:r>
              </a:p>
              <a:p>
                <a:r>
                  <a:rPr lang="en-US" altLang="zh-CN" sz="1800" dirty="0"/>
                  <a:t>适用于取值相对较少的属性</a:t>
                </a:r>
              </a:p>
              <a:p>
                <a:pPr lvl="1"/>
                <a:r>
                  <a:rPr lang="en-US" altLang="zh-CN" sz="1600" dirty="0"/>
                  <a:t>例如，性别、国家、州......</a:t>
                </a:r>
              </a:p>
              <a:p>
                <a:pPr lvl="1"/>
                <a:r>
                  <a:rPr lang="en-US" altLang="zh-CN" sz="1600" dirty="0"/>
                  <a:t>例如，收入水平（收入分为少量等级，如 0-9999、10000-19999、20000-50000、50000-无穷大）</a:t>
                </a:r>
              </a:p>
              <a:p>
                <a:r>
                  <a:rPr lang="en-US" altLang="zh-CN" sz="1800" dirty="0"/>
                  <a:t>位图是一个简单的位数组</a:t>
                </a: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AAE0D2-6A37-4DE5-996D-F3DF5100E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361518"/>
      </p:ext>
    </p:extLst>
  </p:cSld>
  <p:clrMapOvr>
    <a:masterClrMapping/>
  </p:clrMapOvr>
  <p:transition>
    <p:fade/>
  </p:transition>
</p:sld>
</file>

<file path=ppt/slides/slide83.xml><?xml version="1.0" encoding="utf-8"?>
<p:sld xmlns:a16="http://schemas.microsoft.com/office/drawing/2014/main" xmlns:mc="http://schemas.openxmlformats.org/markup-compatibility/2006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A8655-BAAE-4643-8439-44B74FB3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位图索引（续）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45C5BD-3E88-4CC2-B114-14B50662D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最简单的形式是，属性上的位图索引为每个属性值设置一个位图</a:t>
                </a:r>
              </a:p>
              <a:p>
                <a:pPr lvl="1"/>
                <a:r>
                  <a:rPr lang="en-US" altLang="zh-CN" sz="1600" dirty="0"/>
                  <a:t>位图的位数与记录数相同</a:t>
                </a:r>
              </a:p>
              <a:p>
                <a:pPr lvl="1"/>
                <a:r>
                  <a:rPr lang="en-US" altLang="zh-CN" sz="1600" dirty="0"/>
                  <a:t>在值</a:t>
                </a:r>
                <a14:m xmlns:a14="http://schemas.microsoft.com/office/drawing/2010/main"/>
                <a:r>
                  <a:rPr lang="en-US" altLang="zh-CN" sz="1600" dirty="0"/>
                  <a:t> 的位图中，</a:t>
                </a:r>
                <a:r>
                  <a:rPr lang="en-US" altLang="zh-CN" sz="1600" dirty="0"/>
                  <a:t>如果记录的</a:t>
                </a:r>
                <a:r>
                  <a:rPr lang="en-US" altLang="zh-CN" sz="1600" dirty="0"/>
                  <a:t>属性</a:t>
                </a:r>
                <a:r>
                  <a:rPr lang="en-US" altLang="zh-CN" sz="1600" dirty="0"/>
                  <a:t>值为</a:t>
                </a:r>
                <a14:m xmlns:a14="http://schemas.microsoft.com/office/drawing/2010/main"/>
                <a:r>
                  <a:rPr lang="en-US" altLang="zh-CN" sz="1600" dirty="0"/>
                  <a:t> ，则该记录的位为 1</a:t>
                </a:r>
                <a:r>
                  <a:rPr lang="en-US" altLang="zh-CN" sz="1600" dirty="0"/>
                  <a:t>，否则为 0。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45C5BD-3E88-4CC2-B114-14B50662D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830B66C5-1473-44E1-8A8E-C66539D7B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" t="20038" r="2264" b="37538"/>
          <a:stretch>
            <a:fillRect/>
          </a:stretch>
        </p:blipFill>
        <p:spPr bwMode="auto">
          <a:xfrm>
            <a:off x="1481138" y="2528888"/>
            <a:ext cx="6154341" cy="21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562622"/>
      </p:ext>
    </p:extLst>
  </p:cSld>
  <p:clrMapOvr>
    <a:masterClrMapping/>
  </p:clrMapOvr>
  <p:transition>
    <p:fade/>
  </p:transition>
</p:sld>
</file>

<file path=ppt/slides/slide8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61A36-1055-4CE4-BBEA-650AE607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位图索引（续）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B70D1-6499-442E-933A-A8B957E2A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27534"/>
            <a:ext cx="8496944" cy="3805070"/>
          </a:xfrm>
        </p:spPr>
        <p:txBody>
          <a:bodyPr/>
          <a:lstStyle/>
          <a:p>
            <a:r>
              <a:rPr lang="en-US" altLang="zh-CN" sz="1800" dirty="0"/>
              <a:t>位图索引适用于查询多个属性 </a:t>
            </a:r>
          </a:p>
          <a:p>
            <a:pPr lvl="1"/>
            <a:r>
              <a:rPr lang="en-US" altLang="zh-CN" sz="1600" dirty="0"/>
              <a:t>对于单一属性查询不是特别有用</a:t>
            </a:r>
          </a:p>
          <a:p>
            <a:r>
              <a:rPr lang="en-US" altLang="zh-CN" sz="1800" dirty="0"/>
              <a:t>使用位图操作回答查询</a:t>
            </a:r>
          </a:p>
          <a:p>
            <a:pPr lvl="1"/>
            <a:r>
              <a:rPr lang="en-US" altLang="zh-CN" sz="1600" dirty="0"/>
              <a:t>交叉点（和）</a:t>
            </a:r>
          </a:p>
          <a:p>
            <a:pPr lvl="1"/>
            <a:r>
              <a:rPr lang="en-US" altLang="zh-CN" sz="1600" dirty="0"/>
              <a:t>工会（或）</a:t>
            </a:r>
          </a:p>
          <a:p>
            <a:pPr lvl="1"/>
            <a:r>
              <a:rPr lang="en-US" altLang="zh-CN" sz="1600" dirty="0"/>
              <a:t>补充（不是） </a:t>
            </a:r>
          </a:p>
          <a:p>
            <a:r>
              <a:rPr lang="en-US" altLang="zh-CN" sz="1800" dirty="0"/>
              <a:t>每种操作都需要两个大小相同的位图，并对相应的位进行操作，从而得到结果位图</a:t>
            </a:r>
          </a:p>
          <a:p>
            <a:pPr lvl="1"/>
            <a:r>
              <a:rPr lang="en-US" altLang="zh-CN" sz="1600" dirty="0"/>
              <a:t>例如，100110 AND 110011 = 100010</a:t>
            </a:r>
          </a:p>
          <a:p>
            <a:pPr marL="457200" lvl="1" indent="0">
              <a:buNone/>
            </a:pPr>
            <a:r>
              <a:rPr lang="en-US" altLang="zh-CN" sz="1600" dirty="0"/>
              <a:t>               100110 或 110011 = 110111</a:t>
            </a:r>
            <a:br>
              <a:rPr lang="en-US" altLang="zh-CN" sz="1600" dirty="0"/>
            </a:br>
            <a:r>
              <a:rPr lang="en-US" altLang="zh-CN" sz="1600" dirty="0"/>
              <a:t>                非 100110 = 011001</a:t>
            </a:r>
          </a:p>
          <a:p>
            <a:pPr lvl="1"/>
            <a:r>
              <a:rPr lang="en-US" altLang="zh-CN" sz="1600" dirty="0"/>
              <a:t>收入水平为 L1 的男性：10010 和 10100 = 10000</a:t>
            </a:r>
          </a:p>
          <a:p>
            <a:pPr lvl="2"/>
            <a:r>
              <a:rPr lang="en-US" altLang="zh-CN" sz="1400" dirty="0"/>
              <a:t>然后可以检索所需的图元</a:t>
            </a:r>
          </a:p>
          <a:p>
            <a:pPr lvl="2"/>
            <a:r>
              <a:rPr lang="en-US" altLang="zh-CN" sz="1400" dirty="0"/>
              <a:t>计算匹配图元的数量速度更快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62042184"/>
      </p:ext>
    </p:extLst>
  </p:cSld>
  <p:clrMapOvr>
    <a:masterClrMapping/>
  </p:clrMapOvr>
  <p:transition>
    <p:fade/>
  </p:transition>
</p:sld>
</file>

<file path=ppt/slides/slide8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B2AF9-D397-45DE-A993-610E4F29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/>
              <a:t>位图索引（续）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1CFED-C634-4555-ABF5-066AD1E4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15565"/>
            <a:ext cx="8568952" cy="3558719"/>
          </a:xfrm>
        </p:spPr>
        <p:txBody>
          <a:bodyPr/>
          <a:lstStyle/>
          <a:p>
            <a:r>
              <a:rPr lang="en-US" altLang="zh-CN" sz="1800" dirty="0"/>
              <a:t>与关系大小相比，位图索引通常非常小</a:t>
            </a:r>
          </a:p>
          <a:p>
            <a:pPr lvl="1"/>
            <a:r>
              <a:rPr lang="en-US" altLang="zh-CN" sz="1400" dirty="0"/>
              <a:t>例如，如果记录是 100 字节，单个位图的空间就是关系所占空间的 1/800。  </a:t>
            </a:r>
          </a:p>
          <a:p>
            <a:pPr lvl="2"/>
            <a:r>
              <a:rPr lang="en-US" altLang="zh-CN" sz="1400" dirty="0"/>
              <a:t>如果不同属性值的数量为 8，位图只占关系大小的 1%</a:t>
            </a:r>
            <a:endParaRPr lang="en-US" altLang="zh-CN" sz="1200" dirty="0"/>
          </a:p>
          <a:p>
            <a:r>
              <a:rPr lang="en-US" altLang="zh-CN" sz="1800" dirty="0"/>
              <a:t>删除需要妥善处理</a:t>
            </a:r>
          </a:p>
          <a:p>
            <a:pPr lvl="1"/>
            <a:r>
              <a:rPr lang="en-US" altLang="zh-CN" sz="1400" dirty="0"/>
              <a:t>存在位图，用于记录位置是否存在有效记录</a:t>
            </a:r>
          </a:p>
          <a:p>
            <a:pPr lvl="1"/>
            <a:r>
              <a:rPr lang="en-US" altLang="zh-CN" sz="1400" dirty="0"/>
              <a:t>需要补充</a:t>
            </a:r>
          </a:p>
          <a:p>
            <a:pPr lvl="2"/>
            <a:r>
              <a:rPr lang="en-US" altLang="zh-CN" sz="1400" dirty="0"/>
              <a:t>not(A=v): (NOT </a:t>
            </a:r>
            <a:r>
              <a:rPr lang="en-US" altLang="zh-CN" sz="1400" dirty="0" err="1"/>
              <a:t>bitmap-A-v</a:t>
            </a:r>
            <a:r>
              <a:rPr lang="en-US" altLang="zh-CN" sz="1400" dirty="0"/>
              <a:t>) </a:t>
            </a:r>
            <a:r>
              <a:rPr lang="en-US" altLang="zh-CN" sz="1400" dirty="0"/>
              <a:t>AND </a:t>
            </a:r>
            <a:r>
              <a:rPr lang="en-US" altLang="zh-CN" sz="1400" dirty="0" err="1"/>
              <a:t>ExistenceBitmap</a:t>
            </a:r>
            <a:endParaRPr lang="en-US" altLang="zh-CN" sz="1200" dirty="0"/>
          </a:p>
          <a:p>
            <a:r>
              <a:rPr lang="en-US" altLang="zh-CN" sz="1800" dirty="0"/>
              <a:t>应保留所有值的位图，即使是空值</a:t>
            </a:r>
          </a:p>
          <a:p>
            <a:pPr lvl="1"/>
            <a:r>
              <a:rPr lang="en-US" altLang="zh-CN" sz="1400" dirty="0"/>
              <a:t>正确处理 NOT(A=v) 的 SQL 空语义：</a:t>
            </a:r>
          </a:p>
          <a:p>
            <a:pPr lvl="2"/>
            <a:r>
              <a:rPr lang="en-US" altLang="zh-CN" sz="1400" dirty="0"/>
              <a:t>将上述结果与（非 bitmap-A-Null）相交</a:t>
            </a:r>
            <a:endParaRPr lang="en-US" altLang="zh-CN" sz="12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896187151"/>
      </p:ext>
    </p:extLst>
  </p:cSld>
  <p:clrMapOvr>
    <a:masterClrMapping/>
  </p:clrMapOvr>
  <p:transition>
    <p:fade/>
  </p:transition>
</p:sld>
</file>

<file path=ppt/slides/slide8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22D6A-FB1A-4B0F-BECB-9FC12804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补充学习（索引相关）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7E8DBA-C732-4B6B-AE63-B25BFB43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商用数据库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</a:p>
          <a:p>
            <a:pPr lvl="2">
              <a:spcBef>
                <a:spcPts val="600"/>
              </a:spcBef>
            </a:pPr>
            <a:r>
              <a:rPr lang="en-US" altLang="zh-CN" sz="1200" dirty="0"/>
              <a:t>甲骨文索引技术》</a:t>
            </a:r>
            <a:r>
              <a:rPr lang="en-US" altLang="zh-CN" sz="1200" dirty="0"/>
              <a:t>,人民邮电出版社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ibm db2索引结构：b</a:t>
            </a:r>
            <a:r>
              <a:rPr lang="en-US" altLang="zh-CN" sz="1400" baseline="30000" dirty="0"/>
              <a:t>+</a:t>
            </a:r>
            <a:r>
              <a:rPr lang="zh-CN" altLang="en-US" sz="1400" dirty="0"/>
              <a:t> 树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Microsoft SQL Server索引结构：B树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开源数据库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MySQL索引：</a:t>
            </a:r>
            <a:r>
              <a:rPr lang="en-US" altLang="zh-CN" sz="1400" dirty="0"/>
              <a:t>B-树（B+树</a:t>
            </a:r>
            <a:r>
              <a:rPr lang="en-US" altLang="zh-CN" sz="1400" dirty="0"/>
              <a:t>）、哈希索引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 err="1"/>
              <a:t>Postgre </a:t>
            </a:r>
            <a:r>
              <a:rPr lang="en-US" altLang="zh-CN" sz="1400" dirty="0"/>
              <a:t>SQL、MySQL、Ingres r3、</a:t>
            </a:r>
            <a:r>
              <a:rPr lang="en-US" altLang="zh-CN" sz="1400" dirty="0" err="1"/>
              <a:t>MaxDB</a:t>
            </a:r>
            <a:r>
              <a:rPr lang="en-US" altLang="zh-CN" sz="1400" dirty="0"/>
              <a:t>、Firebird (</a:t>
            </a:r>
            <a:r>
              <a:rPr lang="en-US" altLang="zh-CN" sz="1400" dirty="0" err="1"/>
              <a:t>InterBase</a:t>
            </a:r>
            <a:r>
              <a:rPr lang="en-US" altLang="zh-CN" sz="1400" dirty="0"/>
              <a:t>)、MongoDB、SQLite、CUBRID、Cayley(Graph)</a:t>
            </a:r>
          </a:p>
          <a:p>
            <a:pPr>
              <a:spcBef>
                <a:spcPts val="600"/>
              </a:spcBef>
            </a:pP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HBase、</a:t>
            </a:r>
            <a:r>
              <a:rPr lang="en-US" altLang="zh-CN" sz="1600" dirty="0"/>
              <a:t>Cassandra、MongoDB、Redis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 err="1"/>
              <a:t>OceanBase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openGauss</a:t>
            </a:r>
            <a:r>
              <a:rPr lang="en-US" altLang="zh-CN" sz="1400" dirty="0"/>
              <a:t>, </a:t>
            </a:r>
            <a:r>
              <a:rPr lang="zh-CN" altLang="en-US" sz="1400" dirty="0"/>
              <a:t>人大金仓</a:t>
            </a:r>
            <a:r>
              <a:rPr lang="en-US" altLang="zh-CN" sz="1400" dirty="0"/>
              <a:t>, X-DB, </a:t>
            </a:r>
            <a:r>
              <a:rPr lang="zh-CN" altLang="en-US" sz="1400" dirty="0"/>
              <a:t>达梦 </a:t>
            </a:r>
            <a:r>
              <a:rPr lang="en-US" altLang="zh-CN" sz="1400" dirty="0"/>
              <a:t>......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7338334"/>
      </p:ext>
    </p:extLst>
  </p:cSld>
  <p:clrMapOvr>
    <a:masterClrMapping/>
  </p:clrMapOvr>
  <p:transition>
    <p:fade/>
  </p:transition>
</p:sld>
</file>

<file path=ppt/slides/slide8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7E951-FF0E-4075-9565-64F6C2A4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小测验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72839-3766-4010-923D-0B987665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064896" cy="3805070"/>
          </a:xfrm>
        </p:spPr>
        <p:txBody>
          <a:bodyPr/>
          <a:lstStyle/>
          <a:p>
            <a:r>
              <a:rPr lang="en-US" altLang="zh-CN" sz="1800" b="1" dirty="0"/>
              <a:t>问题 1</a:t>
            </a:r>
            <a:r>
              <a:rPr lang="en-US" altLang="zh-CN" sz="1800" dirty="0"/>
              <a:t>： </a:t>
            </a:r>
            <a:r>
              <a:rPr lang="en-US" altLang="zh-CN" sz="1800" dirty="0"/>
              <a:t>从一棵空树</a:t>
            </a:r>
            <a:r>
              <a:rPr lang="en-US" altLang="zh-CN" sz="1800" dirty="0"/>
              <a:t>构建一棵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-树。每个节点可容纳</a:t>
            </a:r>
            <a:r>
              <a:rPr lang="en-US" altLang="zh-CN" sz="1800" dirty="0">
                <a:solidFill>
                  <a:srgbClr val="C00000"/>
                </a:solidFill>
              </a:rPr>
              <a:t>四个</a:t>
            </a:r>
            <a:r>
              <a:rPr lang="en-US" altLang="zh-CN" sz="1800" dirty="0"/>
              <a:t>指针</a:t>
            </a:r>
          </a:p>
          <a:p>
            <a:pPr lvl="1"/>
            <a:r>
              <a:rPr lang="en-US" altLang="zh-CN" sz="1600" dirty="0"/>
              <a:t>要插入的顺序值是10, 7, 12, 5, 9, 15, 30, 23, 17, 26</a:t>
            </a:r>
          </a:p>
          <a:p>
            <a:pPr lvl="1"/>
            <a:r>
              <a:rPr lang="en-US" altLang="zh-CN" sz="1600" dirty="0"/>
              <a:t>然后分别删除 9、10、15</a:t>
            </a:r>
          </a:p>
          <a:p>
            <a:pPr lvl="1"/>
            <a:r>
              <a:rPr lang="en-US" altLang="zh-CN" sz="1600" dirty="0"/>
              <a:t>请给出</a:t>
            </a:r>
            <a:r>
              <a:rPr lang="en-US" altLang="zh-CN" sz="1600" dirty="0"/>
              <a:t>每次插入和删除后的 </a:t>
            </a:r>
            <a:r>
              <a:rPr lang="en-US" altLang="zh-CN" sz="1600" dirty="0"/>
              <a:t>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树</a:t>
            </a:r>
          </a:p>
          <a:p>
            <a:r>
              <a:rPr lang="en-US" altLang="zh-CN" sz="1800" b="1" dirty="0"/>
              <a:t>问题 2</a:t>
            </a:r>
            <a:r>
              <a:rPr lang="en-US" altLang="zh-CN" sz="1800" dirty="0"/>
              <a:t>：比较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 -tree 和 B-tree 并描述它们的区别</a:t>
            </a:r>
          </a:p>
          <a:p>
            <a:endParaRPr lang="en-US" altLang="zh-CN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91719909"/>
      </p:ext>
    </p:extLst>
  </p:cSld>
  <p:clrMapOvr>
    <a:masterClrMapping/>
  </p:clrMapOvr>
  <p:transition>
    <p:fade/>
  </p:transition>
</p:sld>
</file>

<file path=ppt/slides/slide8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第 14 章结束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slides/slide8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3296CD-A63C-4D4F-AAD6-347B6E792551}"/>
              </a:ext>
            </a:extLst>
          </p:cNvPr>
          <p:cNvSpPr txBox="1"/>
          <p:nvPr/>
        </p:nvSpPr>
        <p:spPr>
          <a:xfrm>
            <a:off x="289301" y="2779889"/>
            <a:ext cx="622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noProof="1">
                <a:solidFill>
                  <a:srgbClr val="0F2B46"/>
                </a:solidFill>
                <a:latin typeface="Helvetica" pitchFamily="2" charset="0"/>
              </a:rPr>
              <a:t>订阅DeepL Pro以编辑此演示文稿。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A699B-AA79-2E42-83E3-ACBDD53F87D8}"/>
              </a:ext>
            </a:extLst>
          </p:cNvPr>
          <p:cNvSpPr txBox="1"/>
          <p:nvPr/>
        </p:nvSpPr>
        <p:spPr>
          <a:xfrm>
            <a:off x="289301" y="3241554"/>
            <a:ext cx="4887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noProof="1">
                <a:solidFill>
                  <a:srgbClr val="0F2B46"/>
                </a:solidFill>
                <a:latin typeface="Helvetica" pitchFamily="2" charset="0"/>
              </a:rPr>
              <a:t>访问</a:t>
            </a:r>
            <a:r>
              <a:rPr lang="de-DE" noProof="1">
                <a:solidFill>
                  <a:srgbClr val="006494"/>
                </a:solidFill>
                <a:latin typeface="Helvetica" pitchFamily="2" charset="0"/>
                <a:hlinkClick r:id="R1ed78036b6ed45aa"/>
              </a:rPr>
              <a:t>www.DeepL.com/pro</a:t>
            </a:r>
            <a:r>
              <a:rPr lang="de-DE" noProof="1">
                <a:solidFill>
                  <a:srgbClr val="0F2B46"/>
                </a:solidFill>
                <a:latin typeface="Helvetica" pitchFamily="2" charset="0"/>
              </a:rPr>
              <a:t>，了解更多信息。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65485-E747-EF46-84F2-5C5CB0F90C9B}"/>
              </a:ext>
            </a:extLst>
          </p:cNvPr>
          <p:cNvPicPr>
            <a:picLocks noChangeAspect="1"/>
          </p:cNvPicPr>
          <p:nvPr/>
        </p:nvPicPr>
        <p:blipFill>
          <a:blip r:embed="R6b4e2fb7c52d48b1"/>
          <a:stretch>
            <a:fillRect/>
          </a:stretch>
        </p:blipFill>
        <p:spPr>
          <a:xfrm>
            <a:off x="400512" y="1215557"/>
            <a:ext cx="26162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6450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38481</TotalTime>
  <Words>6186</Words>
  <Application>Microsoft Office PowerPoint</Application>
  <PresentationFormat>全屏显示(16:9)</PresentationFormat>
  <Paragraphs>562</Paragraphs>
  <Slides>88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2" baseType="lpstr">
      <vt:lpstr>MS PGothic</vt:lpstr>
      <vt:lpstr>华文楷体</vt:lpstr>
      <vt:lpstr>华文行楷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Times New Roman</vt:lpstr>
      <vt:lpstr>Trebuchet MS</vt:lpstr>
      <vt:lpstr>Wingdings</vt:lpstr>
      <vt:lpstr>默认设计模板</vt:lpstr>
      <vt:lpstr>PowerPoint 演示文稿</vt:lpstr>
      <vt:lpstr>Outline</vt:lpstr>
      <vt:lpstr>Index vs. Data (索引块与数据块)</vt:lpstr>
      <vt:lpstr>Basic Concepts</vt:lpstr>
      <vt:lpstr>Index Evaluation Metrics</vt:lpstr>
      <vt:lpstr>Outline</vt:lpstr>
      <vt:lpstr>Ordered Indexing-顺序索引</vt:lpstr>
      <vt:lpstr>Primary Index：Clustering Index</vt:lpstr>
      <vt:lpstr>Secondary Index：Non-clustering Index</vt:lpstr>
      <vt:lpstr>Dense Index</vt:lpstr>
      <vt:lpstr>Sparse Index</vt:lpstr>
      <vt:lpstr>Multilevel Index (多级索引)</vt:lpstr>
      <vt:lpstr>Multilevel Index (Cont.)</vt:lpstr>
      <vt:lpstr>Dense vs. Sparse Index</vt:lpstr>
      <vt:lpstr>Index Update: Deletion</vt:lpstr>
      <vt:lpstr>Index Update: Deletion</vt:lpstr>
      <vt:lpstr>Index Update: Insertion</vt:lpstr>
      <vt:lpstr>Dense vs. Sparse Index</vt:lpstr>
      <vt:lpstr>Secondary Indices</vt:lpstr>
      <vt:lpstr>Secondary Index on Balance Field of Account</vt:lpstr>
      <vt:lpstr>Primary and Secondary Indices</vt:lpstr>
      <vt:lpstr>Outline</vt:lpstr>
      <vt:lpstr>B+-Tree Index Files</vt:lpstr>
      <vt:lpstr>Example of B+-Tree</vt:lpstr>
      <vt:lpstr>B+-Tree Index Files (Cont.)</vt:lpstr>
      <vt:lpstr>B+-Tree Index Files (Cont.)</vt:lpstr>
      <vt:lpstr>Example of a B+-tree</vt:lpstr>
      <vt:lpstr>Leaf Node in B+-Tree</vt:lpstr>
      <vt:lpstr>Non-Leaf Nodes in B+-Tree</vt:lpstr>
      <vt:lpstr>Example of B+-tree</vt:lpstr>
      <vt:lpstr>Observations about B+-tree</vt:lpstr>
      <vt:lpstr>Queries on B+-Trees</vt:lpstr>
      <vt:lpstr>Example: Queries on B+-Tree</vt:lpstr>
      <vt:lpstr>Example: Queries on B+-Tree</vt:lpstr>
      <vt:lpstr>Queries on B+-Trees (Cont.)</vt:lpstr>
      <vt:lpstr>Insertion in B+-Tree</vt:lpstr>
      <vt:lpstr>Insertion in B+-Tree (Cont.)</vt:lpstr>
      <vt:lpstr>Insertion in B+-Tree (Cont.)</vt:lpstr>
      <vt:lpstr>Insertion in B+-Tree (Cont.)</vt:lpstr>
      <vt:lpstr>Deletion in B+-Tree</vt:lpstr>
      <vt:lpstr>Examples of B+-Tree Deletion</vt:lpstr>
      <vt:lpstr>Deletion in B+-Tree (Cont.)</vt:lpstr>
      <vt:lpstr>Examples of B+-Tree Deletion (Cont.)</vt:lpstr>
      <vt:lpstr>Example of B+-tree Deletion (Cont.)</vt:lpstr>
      <vt:lpstr>B+-Tree File Organization</vt:lpstr>
      <vt:lpstr>B+-Tree File Organization (Cont.)</vt:lpstr>
      <vt:lpstr>B-Tree Index Files</vt:lpstr>
      <vt:lpstr>B-Tree Index File</vt:lpstr>
      <vt:lpstr>B-Tree Index Files (Cont.)</vt:lpstr>
      <vt:lpstr>Outline</vt:lpstr>
      <vt:lpstr>Static Hashing</vt:lpstr>
      <vt:lpstr>Example of Hash File Organization (Cont.)</vt:lpstr>
      <vt:lpstr>Example of Hash File Organization </vt:lpstr>
      <vt:lpstr>Hash Functions</vt:lpstr>
      <vt:lpstr>Handling of Bucket Overflows</vt:lpstr>
      <vt:lpstr>Handling of Bucket Overflows (Cont.)</vt:lpstr>
      <vt:lpstr>Hash Indices</vt:lpstr>
      <vt:lpstr>Example of Hash Index</vt:lpstr>
      <vt:lpstr>Deficiencies of Static Hashing</vt:lpstr>
      <vt:lpstr>Dynamic Hashing</vt:lpstr>
      <vt:lpstr>General Extendable Hash Structure </vt:lpstr>
      <vt:lpstr>Extendable Hash Structure</vt:lpstr>
      <vt:lpstr>Updates in Extendable Hash Structure </vt:lpstr>
      <vt:lpstr>Updates in Extendable Hash Structure (Cont.)</vt:lpstr>
      <vt:lpstr>Extendable Hash Structure: Example</vt:lpstr>
      <vt:lpstr>Example (Cont.)</vt:lpstr>
      <vt:lpstr>Example (Cont.)</vt:lpstr>
      <vt:lpstr>Example (Cont.)</vt:lpstr>
      <vt:lpstr>Example (Cont.)</vt:lpstr>
      <vt:lpstr>Extendable Hashing vs. Other Schemes</vt:lpstr>
      <vt:lpstr>Outline</vt:lpstr>
      <vt:lpstr>Ordered Indexing vs. Hashing</vt:lpstr>
      <vt:lpstr>Outline</vt:lpstr>
      <vt:lpstr>Index Definition in SQL</vt:lpstr>
      <vt:lpstr>Outline</vt:lpstr>
      <vt:lpstr>Multiple-Key Access</vt:lpstr>
      <vt:lpstr>Indices on Multiple Attributes</vt:lpstr>
      <vt:lpstr>Grid Files</vt:lpstr>
      <vt:lpstr>Example Grid File for account</vt:lpstr>
      <vt:lpstr>Queries on a Grid File</vt:lpstr>
      <vt:lpstr>Grid Files (Cont.)</vt:lpstr>
      <vt:lpstr>Bitmap Indices</vt:lpstr>
      <vt:lpstr>Bitmap Indices (Cont.)</vt:lpstr>
      <vt:lpstr>Bitmap Indices (Cont.)</vt:lpstr>
      <vt:lpstr>Bitmap Indices (Cont.)</vt:lpstr>
      <vt:lpstr>补充学习（索引相关）</vt:lpstr>
      <vt:lpstr>Quiz</vt:lpstr>
      <vt:lpstr>End of Chapter 14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Value Creating System Analysis</dc:title>
  <dc:creator>Jessie Wang</dc:creator>
  <lastModifiedBy>ZYC</lastModifiedBy>
  <revision>2316</revision>
  <dcterms:created xsi:type="dcterms:W3CDTF">2007-09-26T12:04:45.0000000Z</dcterms:created>
  <dcterms:modified xsi:type="dcterms:W3CDTF">2025-04-25T14:53:48.0000000Z</dcterms:modified>
  <keywords>, docId:3F37FB4389F53B26CAEA3610C0275D99</keywords>
</coreProperties>
</file>