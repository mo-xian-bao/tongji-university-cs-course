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5" r:id="rId1"/>
    <p:sldMasterId id="2147483735" r:id="rId2"/>
  </p:sldMasterIdLst>
  <p:notesMasterIdLst>
    <p:notesMasterId r:id="rId75"/>
  </p:notesMasterIdLst>
  <p:handoutMasterIdLst>
    <p:handoutMasterId r:id="rId76"/>
  </p:handoutMasterIdLst>
  <p:sldIdLst>
    <p:sldId id="1915" r:id="rId3"/>
    <p:sldId id="1875" r:id="rId4"/>
    <p:sldId id="1769" r:id="rId5"/>
    <p:sldId id="1818" r:id="rId6"/>
    <p:sldId id="1738" r:id="rId7"/>
    <p:sldId id="1741" r:id="rId8"/>
    <p:sldId id="1742" r:id="rId9"/>
    <p:sldId id="1844" r:id="rId10"/>
    <p:sldId id="1743" r:id="rId11"/>
    <p:sldId id="1840" r:id="rId12"/>
    <p:sldId id="1744" r:id="rId13"/>
    <p:sldId id="1745" r:id="rId14"/>
    <p:sldId id="1746" r:id="rId15"/>
    <p:sldId id="1747" r:id="rId16"/>
    <p:sldId id="1748" r:id="rId17"/>
    <p:sldId id="1749" r:id="rId18"/>
    <p:sldId id="1751" r:id="rId19"/>
    <p:sldId id="1752" r:id="rId20"/>
    <p:sldId id="1753" r:id="rId21"/>
    <p:sldId id="1754" r:id="rId22"/>
    <p:sldId id="1846" r:id="rId23"/>
    <p:sldId id="1755" r:id="rId24"/>
    <p:sldId id="1757" r:id="rId25"/>
    <p:sldId id="1758" r:id="rId26"/>
    <p:sldId id="1768" r:id="rId27"/>
    <p:sldId id="1845" r:id="rId28"/>
    <p:sldId id="1760" r:id="rId29"/>
    <p:sldId id="1761" r:id="rId30"/>
    <p:sldId id="1762" r:id="rId31"/>
    <p:sldId id="1763" r:id="rId32"/>
    <p:sldId id="1764" r:id="rId33"/>
    <p:sldId id="1765" r:id="rId34"/>
    <p:sldId id="1766" r:id="rId35"/>
    <p:sldId id="1767" r:id="rId36"/>
    <p:sldId id="1770" r:id="rId37"/>
    <p:sldId id="1771" r:id="rId38"/>
    <p:sldId id="1772" r:id="rId39"/>
    <p:sldId id="1773" r:id="rId40"/>
    <p:sldId id="1775" r:id="rId41"/>
    <p:sldId id="1776" r:id="rId42"/>
    <p:sldId id="1777" r:id="rId43"/>
    <p:sldId id="1779" r:id="rId44"/>
    <p:sldId id="1913" r:id="rId45"/>
    <p:sldId id="1780" r:id="rId46"/>
    <p:sldId id="1830" r:id="rId47"/>
    <p:sldId id="1831" r:id="rId48"/>
    <p:sldId id="1832" r:id="rId49"/>
    <p:sldId id="1833" r:id="rId50"/>
    <p:sldId id="1847" r:id="rId51"/>
    <p:sldId id="1914" r:id="rId52"/>
    <p:sldId id="1783" r:id="rId53"/>
    <p:sldId id="1784" r:id="rId54"/>
    <p:sldId id="1785" r:id="rId55"/>
    <p:sldId id="1786" r:id="rId56"/>
    <p:sldId id="1787" r:id="rId57"/>
    <p:sldId id="1788" r:id="rId58"/>
    <p:sldId id="1789" r:id="rId59"/>
    <p:sldId id="1834" r:id="rId60"/>
    <p:sldId id="1835" r:id="rId61"/>
    <p:sldId id="1826" r:id="rId62"/>
    <p:sldId id="1848" r:id="rId63"/>
    <p:sldId id="1806" r:id="rId64"/>
    <p:sldId id="1808" r:id="rId65"/>
    <p:sldId id="1809" r:id="rId66"/>
    <p:sldId id="1825" r:id="rId67"/>
    <p:sldId id="1824" r:id="rId68"/>
    <p:sldId id="1822" r:id="rId69"/>
    <p:sldId id="1823" r:id="rId70"/>
    <p:sldId id="1836" r:id="rId71"/>
    <p:sldId id="1838" r:id="rId72"/>
    <p:sldId id="1837" r:id="rId73"/>
    <p:sldId id="1916" r:id="rId74"/>
  </p:sldIdLst>
  <p:sldSz cx="9144000" cy="5143500" type="screen16x9"/>
  <p:notesSz cx="6858000" cy="9144000"/>
  <p:defaultTextStyle>
    <a:defPPr>
      <a:defRPr lang="fi-FI"/>
    </a:defPPr>
    <a:lvl1pPr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1pPr>
    <a:lvl2pPr marL="455613" indent="1588"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2pPr>
    <a:lvl3pPr marL="912813" indent="1588"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3pPr>
    <a:lvl4pPr marL="1370013" indent="1588"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4pPr>
    <a:lvl5pPr marL="1827213" indent="1588"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标题" id="{EB83E03E-195F-4588-BA9C-87CAE50CC123}">
          <p14:sldIdLst>
            <p14:sldId id="1915"/>
            <p14:sldId id="1875"/>
            <p14:sldId id="1769"/>
            <p14:sldId id="1818"/>
            <p14:sldId id="1738"/>
            <p14:sldId id="1741"/>
            <p14:sldId id="1742"/>
            <p14:sldId id="1844"/>
            <p14:sldId id="1743"/>
            <p14:sldId id="1840"/>
            <p14:sldId id="1744"/>
            <p14:sldId id="1745"/>
            <p14:sldId id="1746"/>
            <p14:sldId id="1747"/>
            <p14:sldId id="1748"/>
            <p14:sldId id="1749"/>
            <p14:sldId id="1751"/>
            <p14:sldId id="1752"/>
            <p14:sldId id="1753"/>
            <p14:sldId id="1754"/>
            <p14:sldId id="1846"/>
            <p14:sldId id="1755"/>
            <p14:sldId id="1757"/>
            <p14:sldId id="1758"/>
            <p14:sldId id="1768"/>
            <p14:sldId id="1845"/>
            <p14:sldId id="1760"/>
            <p14:sldId id="1761"/>
            <p14:sldId id="1762"/>
            <p14:sldId id="1763"/>
            <p14:sldId id="1764"/>
            <p14:sldId id="1765"/>
            <p14:sldId id="1766"/>
            <p14:sldId id="1767"/>
            <p14:sldId id="1770"/>
            <p14:sldId id="1771"/>
            <p14:sldId id="1772"/>
            <p14:sldId id="1773"/>
            <p14:sldId id="1775"/>
            <p14:sldId id="1776"/>
            <p14:sldId id="1777"/>
            <p14:sldId id="1779"/>
            <p14:sldId id="1913"/>
            <p14:sldId id="1780"/>
            <p14:sldId id="1830"/>
            <p14:sldId id="1831"/>
            <p14:sldId id="1832"/>
            <p14:sldId id="1833"/>
            <p14:sldId id="1847"/>
            <p14:sldId id="1914"/>
            <p14:sldId id="1783"/>
            <p14:sldId id="1784"/>
            <p14:sldId id="1785"/>
            <p14:sldId id="1786"/>
            <p14:sldId id="1787"/>
            <p14:sldId id="1788"/>
            <p14:sldId id="1789"/>
            <p14:sldId id="1834"/>
            <p14:sldId id="1835"/>
            <p14:sldId id="1826"/>
            <p14:sldId id="1848"/>
            <p14:sldId id="1806"/>
            <p14:sldId id="1808"/>
            <p14:sldId id="1809"/>
            <p14:sldId id="1825"/>
            <p14:sldId id="1824"/>
            <p14:sldId id="1822"/>
            <p14:sldId id="1823"/>
            <p14:sldId id="1836"/>
            <p14:sldId id="1838"/>
            <p14:sldId id="1837"/>
            <p14:sldId id="191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838" userDrawn="1">
          <p15:clr>
            <a:srgbClr val="A4A3A4"/>
          </p15:clr>
        </p15:guide>
        <p15:guide id="2" pos="295" userDrawn="1">
          <p15:clr>
            <a:srgbClr val="A4A3A4"/>
          </p15:clr>
        </p15:guide>
        <p15:guide id="4" pos="5193" userDrawn="1">
          <p15:clr>
            <a:srgbClr val="A4A3A4"/>
          </p15:clr>
        </p15:guide>
        <p15:guide id="5" pos="3152" userDrawn="1">
          <p15:clr>
            <a:srgbClr val="A4A3A4"/>
          </p15:clr>
        </p15:guide>
        <p15:guide id="6" orient="horz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06BA"/>
    <a:srgbClr val="080808"/>
    <a:srgbClr val="339933"/>
    <a:srgbClr val="B5880B"/>
    <a:srgbClr val="E87071"/>
    <a:srgbClr val="00B3EE"/>
    <a:srgbClr val="93E5FF"/>
    <a:srgbClr val="F7FE98"/>
    <a:srgbClr val="FFFFFF"/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5" autoAdjust="0"/>
    <p:restoredTop sz="77824" autoAdjust="0"/>
  </p:normalViewPr>
  <p:slideViewPr>
    <p:cSldViewPr>
      <p:cViewPr varScale="1">
        <p:scale>
          <a:sx n="117" d="100"/>
          <a:sy n="117" d="100"/>
        </p:scale>
        <p:origin x="1434" y="90"/>
      </p:cViewPr>
      <p:guideLst>
        <p:guide orient="horz" pos="3838"/>
        <p:guide pos="295"/>
        <p:guide pos="5193"/>
        <p:guide pos="3152"/>
        <p:guide orient="horz" pos="2879"/>
      </p:guideLst>
    </p:cSldViewPr>
  </p:slid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slide" Target="slides/slide72.xml"/><Relationship Id="rId79" Type="http://schemas.openxmlformats.org/officeDocument/2006/relationships/theme" Target="theme/theme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1751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1751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1751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58CD87A4-0184-412C-A44A-3DA728178AFF}" type="slidenum">
              <a:rPr lang="en-GB" altLang="zh-CN"/>
              <a:pPr>
                <a:defRPr/>
              </a:pPr>
              <a:t>‹#›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23572666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i-FI" noProof="0"/>
              <a:t>Muokkaa tekstin perustyylejä napsauttamalla</a:t>
            </a:r>
          </a:p>
          <a:p>
            <a:pPr lvl="1"/>
            <a:r>
              <a:rPr lang="fi-FI" noProof="0"/>
              <a:t>toinen taso</a:t>
            </a:r>
          </a:p>
          <a:p>
            <a:pPr lvl="2"/>
            <a:r>
              <a:rPr lang="fi-FI" noProof="0"/>
              <a:t>kolmas taso</a:t>
            </a:r>
          </a:p>
          <a:p>
            <a:pPr lvl="3"/>
            <a:r>
              <a:rPr lang="fi-FI" noProof="0"/>
              <a:t>neljäs taso</a:t>
            </a:r>
          </a:p>
          <a:p>
            <a:pPr lvl="4"/>
            <a:r>
              <a:rPr lang="fi-FI" noProof="0"/>
              <a:t>viides taso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BB8C311E-5859-4E0C-A0F3-4690A095D6BE}" type="slidenum">
              <a:rPr lang="fi-FI" altLang="zh-CN"/>
              <a:pPr>
                <a:defRPr/>
              </a:pPr>
              <a:t>‹#›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17204162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56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28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00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72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5726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71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16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61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pPr>
                <a:defRPr/>
              </a:pPr>
              <a:t>1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37686805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dirty="0">
                <a:latin typeface="Arial" panose="020B0604020202020204" pitchFamily="34" charset="0"/>
              </a:rPr>
              <a:t>Instantiating</a:t>
            </a:r>
            <a:r>
              <a:rPr lang="zh-CN" altLang="en-US" b="1" dirty="0">
                <a:latin typeface="Arial" panose="020B0604020202020204" pitchFamily="34" charset="0"/>
              </a:rPr>
              <a:t>：实例化</a:t>
            </a:r>
            <a:endParaRPr lang="zh-CN" altLang="en-US" dirty="0">
              <a:latin typeface="Arial" panose="020B0604020202020204" pitchFamily="34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pPr>
                <a:defRPr/>
              </a:pPr>
              <a:t>6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42118308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pPr>
                <a:defRPr/>
              </a:pPr>
              <a:t>7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32533693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dirty="0">
                <a:latin typeface="Arial" panose="020B0604020202020204" pitchFamily="34" charset="0"/>
              </a:rPr>
              <a:t>Pictorially</a:t>
            </a:r>
            <a:r>
              <a:rPr lang="zh-CN" altLang="en-US" b="1" dirty="0">
                <a:latin typeface="Arial" panose="020B0604020202020204" pitchFamily="34" charset="0"/>
              </a:rPr>
              <a:t>：绘画般地</a:t>
            </a:r>
            <a:endParaRPr lang="zh-CN" altLang="en-US" dirty="0">
              <a:latin typeface="Arial" panose="020B0604020202020204" pitchFamily="34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pPr>
                <a:defRPr/>
              </a:pPr>
              <a:t>11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37067729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dirty="0">
                <a:latin typeface="Arial" panose="020B0604020202020204" pitchFamily="34" charset="0"/>
              </a:rPr>
              <a:t>“watered-down”</a:t>
            </a:r>
            <a:r>
              <a:rPr lang="zh-CN" altLang="en-US" b="1" dirty="0">
                <a:latin typeface="Arial" panose="020B0604020202020204" pitchFamily="34" charset="0"/>
              </a:rPr>
              <a:t>：淡化了的</a:t>
            </a:r>
            <a:endParaRPr lang="zh-CN" altLang="en-US" dirty="0">
              <a:latin typeface="Arial" panose="020B0604020202020204" pitchFamily="34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pPr>
                <a:defRPr/>
              </a:pPr>
              <a:t>12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41999816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</a:rPr>
              <a:t>An </a:t>
            </a:r>
            <a:r>
              <a:rPr lang="en-US" altLang="zh-CN" b="1" dirty="0">
                <a:latin typeface="Arial" panose="020B0604020202020204" pitchFamily="34" charset="0"/>
              </a:rPr>
              <a:t>entity set</a:t>
            </a:r>
            <a:r>
              <a:rPr lang="zh-CN" altLang="en-US" b="1" dirty="0">
                <a:latin typeface="Arial" panose="020B0604020202020204" pitchFamily="34" charset="0"/>
              </a:rPr>
              <a:t>（一个实体或关系）</a:t>
            </a:r>
            <a:r>
              <a:rPr lang="en-US" altLang="zh-CN" b="1" dirty="0">
                <a:latin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</a:rPr>
              <a:t>is a set of entities of the same type that share the same properties,</a:t>
            </a:r>
            <a:br>
              <a:rPr lang="en-US" altLang="zh-CN" dirty="0">
                <a:latin typeface="Arial" panose="020B0604020202020204" pitchFamily="34" charset="0"/>
              </a:rPr>
            </a:br>
            <a:r>
              <a:rPr lang="en-US" altLang="zh-CN" dirty="0">
                <a:latin typeface="Arial" panose="020B0604020202020204" pitchFamily="34" charset="0"/>
              </a:rPr>
              <a:t>or attributes. The set of all people who are instructors at a given university, for</a:t>
            </a:r>
            <a:br>
              <a:rPr lang="en-US" altLang="zh-CN" dirty="0">
                <a:latin typeface="Arial" panose="020B0604020202020204" pitchFamily="34" charset="0"/>
              </a:rPr>
            </a:br>
            <a:r>
              <a:rPr lang="en-US" altLang="zh-CN" dirty="0">
                <a:latin typeface="Arial" panose="020B0604020202020204" pitchFamily="34" charset="0"/>
              </a:rPr>
              <a:t>example, can be defined as the entity set </a:t>
            </a:r>
            <a:r>
              <a:rPr lang="en-US" altLang="zh-CN" i="1" dirty="0">
                <a:latin typeface="Arial" panose="020B0604020202020204" pitchFamily="34" charset="0"/>
              </a:rPr>
              <a:t>instructor</a:t>
            </a:r>
            <a:r>
              <a:rPr lang="en-US" altLang="zh-CN" dirty="0">
                <a:latin typeface="Arial" panose="020B0604020202020204" pitchFamily="34" charset="0"/>
              </a:rPr>
              <a:t>. Similarly, the entity set </a:t>
            </a:r>
            <a:r>
              <a:rPr lang="en-US" altLang="zh-CN" i="1" dirty="0">
                <a:latin typeface="Arial" panose="020B0604020202020204" pitchFamily="34" charset="0"/>
              </a:rPr>
              <a:t>student</a:t>
            </a:r>
            <a:br>
              <a:rPr lang="en-US" altLang="zh-CN" i="1" dirty="0">
                <a:latin typeface="Arial" panose="020B0604020202020204" pitchFamily="34" charset="0"/>
              </a:rPr>
            </a:br>
            <a:r>
              <a:rPr lang="en-US" altLang="zh-CN" dirty="0">
                <a:latin typeface="Arial" panose="020B0604020202020204" pitchFamily="34" charset="0"/>
              </a:rPr>
              <a:t>might represent the set of all students in the university. </a:t>
            </a:r>
          </a:p>
          <a:p>
            <a:r>
              <a:rPr lang="en-US" altLang="zh-CN" b="1" dirty="0">
                <a:latin typeface="Arial" panose="020B0604020202020204" pitchFamily="34" charset="0"/>
              </a:rPr>
              <a:t>extension </a:t>
            </a:r>
            <a:r>
              <a:rPr lang="en-US" altLang="zh-CN" dirty="0">
                <a:latin typeface="Arial" panose="020B0604020202020204" pitchFamily="34" charset="0"/>
              </a:rPr>
              <a:t>of the entity set to refer to the actual collection of entities belonging to</a:t>
            </a:r>
            <a:br>
              <a:rPr lang="en-US" altLang="zh-CN" dirty="0">
                <a:latin typeface="Arial" panose="020B0604020202020204" pitchFamily="34" charset="0"/>
              </a:rPr>
            </a:br>
            <a:r>
              <a:rPr lang="en-US" altLang="zh-CN" dirty="0">
                <a:latin typeface="Arial" panose="020B0604020202020204" pitchFamily="34" charset="0"/>
              </a:rPr>
              <a:t>the entity set. Thus, the set of actual instructors in the university forms the extension of the entity set </a:t>
            </a:r>
            <a:r>
              <a:rPr lang="en-US" altLang="zh-CN" i="1" dirty="0">
                <a:latin typeface="Arial" panose="020B0604020202020204" pitchFamily="34" charset="0"/>
              </a:rPr>
              <a:t>instructor</a:t>
            </a:r>
            <a:r>
              <a:rPr lang="en-US" altLang="zh-CN" dirty="0">
                <a:latin typeface="Arial" panose="020B0604020202020204" pitchFamily="34" charset="0"/>
              </a:rPr>
              <a:t>. The above distinction is similar to the difference</a:t>
            </a:r>
            <a:br>
              <a:rPr lang="en-US" altLang="zh-CN" dirty="0">
                <a:latin typeface="Arial" panose="020B0604020202020204" pitchFamily="34" charset="0"/>
              </a:rPr>
            </a:br>
            <a:r>
              <a:rPr lang="en-US" altLang="zh-CN" dirty="0">
                <a:latin typeface="Arial" panose="020B0604020202020204" pitchFamily="34" charset="0"/>
              </a:rPr>
              <a:t>between a relation and a relation instance </a:t>
            </a:r>
            <a:br>
              <a:rPr lang="en-US" altLang="zh-CN" dirty="0">
                <a:latin typeface="Arial" panose="020B0604020202020204" pitchFamily="34" charset="0"/>
              </a:rPr>
            </a:br>
            <a:br>
              <a:rPr lang="en-US" altLang="zh-CN" dirty="0">
                <a:latin typeface="Arial" panose="020B0604020202020204" pitchFamily="34" charset="0"/>
              </a:rPr>
            </a:br>
            <a:endParaRPr lang="zh-CN" altLang="en-US" dirty="0">
              <a:latin typeface="Arial" panose="020B0604020202020204" pitchFamily="34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pPr>
                <a:defRPr/>
              </a:pPr>
              <a:t>14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21349366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</a:rPr>
              <a:t>a composite attribute may appear as a hierarchy .</a:t>
            </a:r>
            <a:br>
              <a:rPr lang="en-US" altLang="zh-CN" dirty="0">
                <a:latin typeface="Arial" panose="020B0604020202020204" pitchFamily="34" charset="0"/>
              </a:rPr>
            </a:br>
            <a:r>
              <a:rPr lang="en-US" altLang="zh-CN" dirty="0">
                <a:latin typeface="Arial" panose="020B0604020202020204" pitchFamily="34" charset="0"/>
              </a:rPr>
              <a:t>upper and lower bounds may be placed on the number</a:t>
            </a:r>
            <a:br>
              <a:rPr lang="en-US" altLang="zh-CN" dirty="0">
                <a:latin typeface="Arial" panose="020B0604020202020204" pitchFamily="34" charset="0"/>
              </a:rPr>
            </a:br>
            <a:r>
              <a:rPr lang="en-US" altLang="zh-CN" dirty="0">
                <a:latin typeface="Arial" panose="020B0604020202020204" pitchFamily="34" charset="0"/>
              </a:rPr>
              <a:t>of values in a multivalued attribute. For example, a university may limit the</a:t>
            </a:r>
            <a:br>
              <a:rPr lang="en-US" altLang="zh-CN" dirty="0">
                <a:latin typeface="Arial" panose="020B0604020202020204" pitchFamily="34" charset="0"/>
              </a:rPr>
            </a:br>
            <a:r>
              <a:rPr lang="en-US" altLang="zh-CN" dirty="0">
                <a:latin typeface="Arial" panose="020B0604020202020204" pitchFamily="34" charset="0"/>
              </a:rPr>
              <a:t>number of phone numbers recorded for a single instructor to two. 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The value of a derived attribute is not stored but is computed when required. 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pPr>
                <a:defRPr/>
              </a:pPr>
              <a:t>16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30320647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两种表述方式：左侧是</a:t>
            </a:r>
            <a:r>
              <a:rPr lang="en-US" altLang="zh-CN"/>
              <a:t>Chen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方法</a:t>
            </a:r>
            <a:r>
              <a:rPr lang="zh-CN" altLang="en-US"/>
              <a:t>，</a:t>
            </a:r>
            <a:r>
              <a:rPr lang="zh-CN" altLang="en-US" dirty="0"/>
              <a:t>右边是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Crow’s foot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方法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pPr>
                <a:defRPr/>
              </a:pPr>
              <a:t>27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20393400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</a:rPr>
              <a:t>Suppose that the relationship set is many-to-many. Then the primary</a:t>
            </a:r>
            <a:br>
              <a:rPr lang="en-US" altLang="zh-CN" dirty="0">
                <a:latin typeface="Arial" panose="020B0604020202020204" pitchFamily="34" charset="0"/>
              </a:rPr>
            </a:br>
            <a:r>
              <a:rPr lang="en-US" altLang="zh-CN" dirty="0">
                <a:latin typeface="Arial" panose="020B0604020202020204" pitchFamily="34" charset="0"/>
              </a:rPr>
              <a:t>key of </a:t>
            </a:r>
            <a:r>
              <a:rPr lang="en-US" altLang="zh-CN" i="1" dirty="0">
                <a:latin typeface="Arial" panose="020B0604020202020204" pitchFamily="34" charset="0"/>
              </a:rPr>
              <a:t>advisor </a:t>
            </a:r>
            <a:r>
              <a:rPr lang="en-US" altLang="zh-CN" dirty="0">
                <a:latin typeface="Arial" panose="020B0604020202020204" pitchFamily="34" charset="0"/>
              </a:rPr>
              <a:t>consists of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</a:rPr>
              <a:t>the union of the primary keys of </a:t>
            </a:r>
            <a:r>
              <a:rPr lang="en-US" altLang="zh-CN" b="1" i="1" dirty="0">
                <a:solidFill>
                  <a:srgbClr val="FF0000"/>
                </a:solidFill>
                <a:latin typeface="Arial" panose="020B0604020202020204" pitchFamily="34" charset="0"/>
              </a:rPr>
              <a:t>instructor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</a:rPr>
              <a:t>and </a:t>
            </a:r>
            <a:r>
              <a:rPr lang="en-US" altLang="zh-CN" b="1" i="1" dirty="0">
                <a:solidFill>
                  <a:srgbClr val="FF0000"/>
                </a:solidFill>
                <a:latin typeface="Arial" panose="020B0604020202020204" pitchFamily="34" charset="0"/>
              </a:rPr>
              <a:t>student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</a:rPr>
              <a:t>. </a:t>
            </a:r>
            <a:r>
              <a:rPr lang="en-US" altLang="zh-CN" dirty="0">
                <a:latin typeface="Arial" panose="020B0604020202020204" pitchFamily="34" charset="0"/>
              </a:rPr>
              <a:t>If</a:t>
            </a:r>
            <a:br>
              <a:rPr lang="en-US" altLang="zh-CN" dirty="0">
                <a:latin typeface="Arial" panose="020B0604020202020204" pitchFamily="34" charset="0"/>
              </a:rPr>
            </a:br>
            <a:r>
              <a:rPr lang="en-US" altLang="zh-CN" dirty="0">
                <a:latin typeface="Arial" panose="020B0604020202020204" pitchFamily="34" charset="0"/>
              </a:rPr>
              <a:t>the relationship is many-to-one from </a:t>
            </a:r>
            <a:r>
              <a:rPr lang="en-US" altLang="zh-CN" i="1" dirty="0">
                <a:latin typeface="Arial" panose="020B0604020202020204" pitchFamily="34" charset="0"/>
              </a:rPr>
              <a:t>student </a:t>
            </a:r>
            <a:r>
              <a:rPr lang="en-US" altLang="zh-CN" dirty="0">
                <a:latin typeface="Arial" panose="020B0604020202020204" pitchFamily="34" charset="0"/>
              </a:rPr>
              <a:t>to </a:t>
            </a:r>
            <a:r>
              <a:rPr lang="en-US" altLang="zh-CN" i="1" dirty="0">
                <a:latin typeface="Arial" panose="020B0604020202020204" pitchFamily="34" charset="0"/>
              </a:rPr>
              <a:t>instructor</a:t>
            </a:r>
            <a:r>
              <a:rPr lang="en-US" altLang="zh-CN" dirty="0">
                <a:latin typeface="Arial" panose="020B0604020202020204" pitchFamily="34" charset="0"/>
              </a:rPr>
              <a:t>—that is, each student</a:t>
            </a:r>
            <a:br>
              <a:rPr lang="en-US" altLang="zh-CN" dirty="0">
                <a:latin typeface="Arial" panose="020B0604020202020204" pitchFamily="34" charset="0"/>
              </a:rPr>
            </a:br>
            <a:r>
              <a:rPr lang="en-US" altLang="zh-CN" dirty="0">
                <a:latin typeface="Arial" panose="020B0604020202020204" pitchFamily="34" charset="0"/>
              </a:rPr>
              <a:t>can have at most one advisor—then the primary key of </a:t>
            </a:r>
            <a:r>
              <a:rPr lang="en-US" altLang="zh-CN" i="1" dirty="0">
                <a:latin typeface="Arial" panose="020B0604020202020204" pitchFamily="34" charset="0"/>
              </a:rPr>
              <a:t>advisor </a:t>
            </a:r>
            <a:r>
              <a:rPr lang="en-US" altLang="zh-CN" dirty="0">
                <a:latin typeface="Arial" panose="020B0604020202020204" pitchFamily="34" charset="0"/>
              </a:rPr>
              <a:t>is simply the</a:t>
            </a:r>
            <a:br>
              <a:rPr lang="en-US" altLang="zh-CN" dirty="0">
                <a:latin typeface="Arial" panose="020B0604020202020204" pitchFamily="34" charset="0"/>
              </a:rPr>
            </a:br>
            <a:r>
              <a:rPr lang="en-US" altLang="zh-CN" dirty="0">
                <a:latin typeface="Arial" panose="020B0604020202020204" pitchFamily="34" charset="0"/>
              </a:rPr>
              <a:t>primary key of </a:t>
            </a:r>
            <a:r>
              <a:rPr lang="en-US" altLang="zh-CN" i="1" dirty="0">
                <a:latin typeface="Arial" panose="020B0604020202020204" pitchFamily="34" charset="0"/>
              </a:rPr>
              <a:t>student</a:t>
            </a:r>
            <a:r>
              <a:rPr lang="en-US" altLang="zh-CN" dirty="0">
                <a:latin typeface="Arial" panose="020B0604020202020204" pitchFamily="34" charset="0"/>
              </a:rPr>
              <a:t>. However, if an instructor can advise only one student—</a:t>
            </a:r>
            <a:br>
              <a:rPr lang="en-US" altLang="zh-CN" dirty="0">
                <a:latin typeface="Arial" panose="020B0604020202020204" pitchFamily="34" charset="0"/>
              </a:rPr>
            </a:br>
            <a:r>
              <a:rPr lang="en-US" altLang="zh-CN" dirty="0">
                <a:latin typeface="Arial" panose="020B0604020202020204" pitchFamily="34" charset="0"/>
              </a:rPr>
              <a:t>that is, if the </a:t>
            </a:r>
            <a:r>
              <a:rPr lang="en-US" altLang="zh-CN" i="1" dirty="0">
                <a:latin typeface="Arial" panose="020B0604020202020204" pitchFamily="34" charset="0"/>
              </a:rPr>
              <a:t>advisor </a:t>
            </a:r>
            <a:r>
              <a:rPr lang="en-US" altLang="zh-CN" dirty="0">
                <a:latin typeface="Arial" panose="020B0604020202020204" pitchFamily="34" charset="0"/>
              </a:rPr>
              <a:t>relationship is many-to-one from </a:t>
            </a:r>
            <a:r>
              <a:rPr lang="en-US" altLang="zh-CN" i="1" dirty="0">
                <a:latin typeface="Arial" panose="020B0604020202020204" pitchFamily="34" charset="0"/>
              </a:rPr>
              <a:t>instructor </a:t>
            </a:r>
            <a:r>
              <a:rPr lang="en-US" altLang="zh-CN" dirty="0">
                <a:latin typeface="Arial" panose="020B0604020202020204" pitchFamily="34" charset="0"/>
              </a:rPr>
              <a:t>to </a:t>
            </a:r>
            <a:r>
              <a:rPr lang="en-US" altLang="zh-CN" i="1" dirty="0">
                <a:latin typeface="Arial" panose="020B0604020202020204" pitchFamily="34" charset="0"/>
              </a:rPr>
              <a:t>student</a:t>
            </a:r>
            <a:r>
              <a:rPr lang="en-US" altLang="zh-CN" dirty="0">
                <a:latin typeface="Arial" panose="020B0604020202020204" pitchFamily="34" charset="0"/>
              </a:rPr>
              <a:t>—then</a:t>
            </a:r>
            <a:br>
              <a:rPr lang="en-US" altLang="zh-CN" dirty="0">
                <a:latin typeface="Arial" panose="020B0604020202020204" pitchFamily="34" charset="0"/>
              </a:rPr>
            </a:br>
            <a:r>
              <a:rPr lang="en-US" altLang="zh-CN" dirty="0">
                <a:latin typeface="Arial" panose="020B0604020202020204" pitchFamily="34" charset="0"/>
              </a:rPr>
              <a:t>the primary key of </a:t>
            </a:r>
            <a:r>
              <a:rPr lang="en-US" altLang="zh-CN" i="1" dirty="0">
                <a:latin typeface="Arial" panose="020B0604020202020204" pitchFamily="34" charset="0"/>
              </a:rPr>
              <a:t>advisor </a:t>
            </a:r>
            <a:r>
              <a:rPr lang="en-US" altLang="zh-CN" dirty="0">
                <a:latin typeface="Arial" panose="020B0604020202020204" pitchFamily="34" charset="0"/>
              </a:rPr>
              <a:t>is simply the primary key of </a:t>
            </a:r>
            <a:r>
              <a:rPr lang="en-US" altLang="zh-CN" i="1" dirty="0">
                <a:latin typeface="Arial" panose="020B0604020202020204" pitchFamily="34" charset="0"/>
              </a:rPr>
              <a:t>instructor</a:t>
            </a:r>
            <a:r>
              <a:rPr lang="en-US" altLang="zh-CN" dirty="0">
                <a:latin typeface="Arial" panose="020B0604020202020204" pitchFamily="34" charset="0"/>
              </a:rPr>
              <a:t>. For one-to-one</a:t>
            </a:r>
            <a:br>
              <a:rPr lang="en-US" altLang="zh-CN" dirty="0">
                <a:latin typeface="Arial" panose="020B0604020202020204" pitchFamily="34" charset="0"/>
              </a:rPr>
            </a:br>
            <a:r>
              <a:rPr lang="en-US" altLang="zh-CN" dirty="0">
                <a:latin typeface="Arial" panose="020B0604020202020204" pitchFamily="34" charset="0"/>
              </a:rPr>
              <a:t>relationships either candidate key can be used as the primary key. 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pPr>
                <a:defRPr/>
              </a:pPr>
              <a:t>37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10531274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pPr>
                <a:defRPr/>
              </a:pPr>
              <a:t>42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27399588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latin typeface="Arial" panose="020B0604020202020204" pitchFamily="34" charset="0"/>
              </a:rPr>
              <a:t>The figure also illustrates the use of double lines to indicate </a:t>
            </a:r>
            <a:r>
              <a:rPr lang="en-US" altLang="zh-CN" i="1" dirty="0">
                <a:latin typeface="Arial" panose="020B0604020202020204" pitchFamily="34" charset="0"/>
              </a:rPr>
              <a:t>total participation </a:t>
            </a:r>
            <a:r>
              <a:rPr lang="zh-CN" altLang="en-US" i="1" dirty="0">
                <a:latin typeface="Arial" panose="020B0604020202020204" pitchFamily="34" charset="0"/>
              </a:rPr>
              <a:t>（完全参与）</a:t>
            </a:r>
            <a:r>
              <a:rPr lang="en-US" altLang="zh-CN" dirty="0">
                <a:latin typeface="Arial" panose="020B0604020202020204" pitchFamily="34" charset="0"/>
              </a:rPr>
              <a:t>;</a:t>
            </a:r>
            <a:br>
              <a:rPr lang="en-US" altLang="zh-CN" dirty="0">
                <a:latin typeface="Arial" panose="020B0604020202020204" pitchFamily="34" charset="0"/>
              </a:rPr>
            </a:br>
            <a:r>
              <a:rPr lang="en-US" altLang="zh-CN" dirty="0">
                <a:latin typeface="Arial" panose="020B0604020202020204" pitchFamily="34" charset="0"/>
              </a:rPr>
              <a:t>the participation of the (weak) entity set </a:t>
            </a:r>
            <a:r>
              <a:rPr lang="en-US" altLang="zh-CN" i="1" dirty="0">
                <a:latin typeface="Arial" panose="020B0604020202020204" pitchFamily="34" charset="0"/>
              </a:rPr>
              <a:t>section </a:t>
            </a:r>
            <a:r>
              <a:rPr lang="en-US" altLang="zh-CN" dirty="0">
                <a:latin typeface="Arial" panose="020B0604020202020204" pitchFamily="34" charset="0"/>
              </a:rPr>
              <a:t>in the relationship </a:t>
            </a:r>
            <a:r>
              <a:rPr lang="en-US" altLang="zh-CN" i="1" dirty="0">
                <a:latin typeface="Arial" panose="020B0604020202020204" pitchFamily="34" charset="0"/>
              </a:rPr>
              <a:t>sec course </a:t>
            </a:r>
            <a:r>
              <a:rPr lang="en-US" altLang="zh-CN" dirty="0">
                <a:latin typeface="Arial" panose="020B0604020202020204" pitchFamily="34" charset="0"/>
              </a:rPr>
              <a:t>is</a:t>
            </a:r>
            <a:br>
              <a:rPr lang="en-US" altLang="zh-CN" dirty="0">
                <a:latin typeface="Arial" panose="020B0604020202020204" pitchFamily="34" charset="0"/>
              </a:rPr>
            </a:br>
            <a:r>
              <a:rPr lang="en-US" altLang="zh-CN" dirty="0">
                <a:latin typeface="Arial" panose="020B0604020202020204" pitchFamily="34" charset="0"/>
              </a:rPr>
              <a:t>total, meaning that every section must be related via </a:t>
            </a:r>
            <a:r>
              <a:rPr lang="en-US" altLang="zh-CN" i="1" dirty="0" err="1">
                <a:latin typeface="Arial" panose="020B0604020202020204" pitchFamily="34" charset="0"/>
              </a:rPr>
              <a:t>sec_course</a:t>
            </a:r>
            <a:r>
              <a:rPr lang="en-US" altLang="zh-CN" i="1" dirty="0">
                <a:latin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</a:rPr>
              <a:t>to some course.</a:t>
            </a:r>
            <a:br>
              <a:rPr lang="en-US" altLang="zh-CN" dirty="0">
                <a:latin typeface="Arial" panose="020B0604020202020204" pitchFamily="34" charset="0"/>
              </a:rPr>
            </a:br>
            <a:r>
              <a:rPr lang="en-US" altLang="zh-CN" dirty="0">
                <a:latin typeface="Arial" panose="020B0604020202020204" pitchFamily="34" charset="0"/>
              </a:rPr>
              <a:t>Finally, the arrow from </a:t>
            </a:r>
            <a:r>
              <a:rPr lang="en-US" altLang="zh-CN" i="1" dirty="0" err="1">
                <a:latin typeface="Arial" panose="020B0604020202020204" pitchFamily="34" charset="0"/>
              </a:rPr>
              <a:t>sec_course</a:t>
            </a:r>
            <a:r>
              <a:rPr lang="en-US" altLang="zh-CN" i="1" dirty="0">
                <a:latin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</a:rPr>
              <a:t>to </a:t>
            </a:r>
            <a:r>
              <a:rPr lang="en-US" altLang="zh-CN" i="1" dirty="0">
                <a:latin typeface="Arial" panose="020B0604020202020204" pitchFamily="34" charset="0"/>
              </a:rPr>
              <a:t>course </a:t>
            </a:r>
            <a:r>
              <a:rPr lang="en-US" altLang="zh-CN" dirty="0">
                <a:latin typeface="Arial" panose="020B0604020202020204" pitchFamily="34" charset="0"/>
              </a:rPr>
              <a:t>indicates that each section is related to</a:t>
            </a:r>
            <a:br>
              <a:rPr lang="en-US" altLang="zh-CN" dirty="0">
                <a:latin typeface="Arial" panose="020B0604020202020204" pitchFamily="34" charset="0"/>
              </a:rPr>
            </a:br>
            <a:r>
              <a:rPr lang="en-US" altLang="zh-CN" dirty="0">
                <a:latin typeface="Arial" panose="020B0604020202020204" pitchFamily="34" charset="0"/>
              </a:rPr>
              <a:t>a single course. </a:t>
            </a:r>
            <a:br>
              <a:rPr lang="en-US" altLang="zh-CN" dirty="0">
                <a:latin typeface="Arial" panose="020B0604020202020204" pitchFamily="34" charset="0"/>
              </a:rPr>
            </a:br>
            <a:r>
              <a:rPr lang="en-US" altLang="zh-CN" dirty="0">
                <a:latin typeface="Arial" panose="020B0604020202020204" pitchFamily="34" charset="0"/>
              </a:rPr>
              <a:t>A weak entity set may be more appropriately modeled as an</a:t>
            </a:r>
            <a:br>
              <a:rPr lang="en-US" altLang="zh-CN" dirty="0">
                <a:latin typeface="Arial" panose="020B0604020202020204" pitchFamily="34" charset="0"/>
              </a:rPr>
            </a:br>
            <a:r>
              <a:rPr lang="en-US" altLang="zh-CN" dirty="0">
                <a:latin typeface="Arial" panose="020B0604020202020204" pitchFamily="34" charset="0"/>
              </a:rPr>
              <a:t>attribute if it participates in only the identifying relationship, and if it has few</a:t>
            </a:r>
            <a:br>
              <a:rPr lang="en-US" altLang="zh-CN" dirty="0">
                <a:latin typeface="Arial" panose="020B0604020202020204" pitchFamily="34" charset="0"/>
              </a:rPr>
            </a:br>
            <a:r>
              <a:rPr lang="en-US" altLang="zh-CN" dirty="0">
                <a:latin typeface="Arial" panose="020B0604020202020204" pitchFamily="34" charset="0"/>
              </a:rPr>
              <a:t>attributes. Conversely, a weak entity set representation more aptly </a:t>
            </a:r>
            <a:r>
              <a:rPr lang="zh-CN" altLang="en-US" dirty="0">
                <a:latin typeface="Arial" panose="020B0604020202020204" pitchFamily="34" charset="0"/>
              </a:rPr>
              <a:t>（恰当地）</a:t>
            </a:r>
            <a:r>
              <a:rPr lang="en-US" altLang="zh-CN" dirty="0">
                <a:latin typeface="Arial" panose="020B0604020202020204" pitchFamily="34" charset="0"/>
              </a:rPr>
              <a:t> models a</a:t>
            </a:r>
            <a:br>
              <a:rPr lang="en-US" altLang="zh-CN" dirty="0">
                <a:latin typeface="Arial" panose="020B0604020202020204" pitchFamily="34" charset="0"/>
              </a:rPr>
            </a:br>
            <a:r>
              <a:rPr lang="en-US" altLang="zh-CN" dirty="0">
                <a:latin typeface="Arial" panose="020B0604020202020204" pitchFamily="34" charset="0"/>
              </a:rPr>
              <a:t>situation where the set participates in relationships other than the identifying</a:t>
            </a:r>
            <a:br>
              <a:rPr lang="en-US" altLang="zh-CN" dirty="0">
                <a:latin typeface="Arial" panose="020B0604020202020204" pitchFamily="34" charset="0"/>
              </a:rPr>
            </a:br>
            <a:r>
              <a:rPr lang="en-US" altLang="zh-CN" dirty="0">
                <a:latin typeface="Arial" panose="020B0604020202020204" pitchFamily="34" charset="0"/>
              </a:rPr>
              <a:t>relationship, and where the weak entity set has several attributes. 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pPr>
                <a:defRPr/>
              </a:pPr>
              <a:t>44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1160250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dirty="0">
                <a:latin typeface="Arial" panose="020B0604020202020204" pitchFamily="34" charset="0"/>
              </a:rPr>
              <a:t>Designate</a:t>
            </a:r>
            <a:r>
              <a:rPr lang="zh-CN" altLang="en-US" b="1" dirty="0">
                <a:latin typeface="Arial" panose="020B0604020202020204" pitchFamily="34" charset="0"/>
              </a:rPr>
              <a:t>：指定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pPr>
                <a:defRPr/>
              </a:pPr>
              <a:t>45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41490443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latin typeface="Arial" panose="020B0604020202020204" pitchFamily="34" charset="0"/>
              </a:rPr>
              <a:t>The way we depict specialization in an E-R diagram depends on whether</a:t>
            </a:r>
            <a:br>
              <a:rPr lang="en-US" altLang="zh-CN" dirty="0">
                <a:latin typeface="Arial" panose="020B0604020202020204" pitchFamily="34" charset="0"/>
              </a:rPr>
            </a:br>
            <a:r>
              <a:rPr lang="en-US" altLang="zh-CN" dirty="0">
                <a:latin typeface="Arial" panose="020B0604020202020204" pitchFamily="34" charset="0"/>
              </a:rPr>
              <a:t>an entity may belong to multiple specialized entity sets or if it must belong to at</a:t>
            </a:r>
            <a:br>
              <a:rPr lang="en-US" altLang="zh-CN" dirty="0">
                <a:latin typeface="Arial" panose="020B0604020202020204" pitchFamily="34" charset="0"/>
              </a:rPr>
            </a:br>
            <a:r>
              <a:rPr lang="en-US" altLang="zh-CN" dirty="0">
                <a:latin typeface="Arial" panose="020B0604020202020204" pitchFamily="34" charset="0"/>
              </a:rPr>
              <a:t>most one specialized entity set. The former case (multiple sets permitted) is called</a:t>
            </a:r>
            <a:br>
              <a:rPr lang="en-US" altLang="zh-CN" dirty="0">
                <a:latin typeface="Arial" panose="020B0604020202020204" pitchFamily="34" charset="0"/>
              </a:rPr>
            </a:br>
            <a:r>
              <a:rPr lang="en-US" altLang="zh-CN" b="1" dirty="0">
                <a:latin typeface="Arial" panose="020B0604020202020204" pitchFamily="34" charset="0"/>
              </a:rPr>
              <a:t>overlapping specialization</a:t>
            </a:r>
            <a:r>
              <a:rPr lang="en-US" altLang="zh-CN" dirty="0">
                <a:latin typeface="Arial" panose="020B0604020202020204" pitchFamily="34" charset="0"/>
              </a:rPr>
              <a:t>, while the latter case (at most one permitted) is called</a:t>
            </a:r>
            <a:br>
              <a:rPr lang="en-US" altLang="zh-CN" dirty="0">
                <a:latin typeface="Arial" panose="020B0604020202020204" pitchFamily="34" charset="0"/>
              </a:rPr>
            </a:br>
            <a:r>
              <a:rPr lang="en-US" altLang="zh-CN" b="1" dirty="0">
                <a:latin typeface="Arial" panose="020B0604020202020204" pitchFamily="34" charset="0"/>
              </a:rPr>
              <a:t>disjoint specialization</a:t>
            </a:r>
            <a:r>
              <a:rPr lang="en-US" altLang="zh-CN" dirty="0">
                <a:latin typeface="Arial" panose="020B0604020202020204" pitchFamily="34" charset="0"/>
              </a:rPr>
              <a:t>. 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pPr>
                <a:defRPr/>
              </a:pPr>
              <a:t>48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24975921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latin typeface="Arial" panose="020B0604020202020204" pitchFamily="34" charset="0"/>
              </a:rPr>
              <a:t>if we had an instructor with </a:t>
            </a:r>
            <a:r>
              <a:rPr lang="en-US" altLang="zh-CN" i="1" dirty="0">
                <a:latin typeface="Arial" panose="020B0604020202020204" pitchFamily="34" charset="0"/>
              </a:rPr>
              <a:t>ID </a:t>
            </a:r>
            <a:r>
              <a:rPr lang="en-US" altLang="zh-CN" dirty="0">
                <a:latin typeface="Arial" panose="020B0604020202020204" pitchFamily="34" charset="0"/>
              </a:rPr>
              <a:t>22222, and phone numbers</a:t>
            </a:r>
            <a:br>
              <a:rPr lang="en-US" altLang="zh-CN" dirty="0">
                <a:latin typeface="Arial" panose="020B0604020202020204" pitchFamily="34" charset="0"/>
              </a:rPr>
            </a:br>
            <a:r>
              <a:rPr lang="en-US" altLang="zh-CN" dirty="0">
                <a:latin typeface="Arial" panose="020B0604020202020204" pitchFamily="34" charset="0"/>
              </a:rPr>
              <a:t>555-1234 and 555-4321, the relation </a:t>
            </a:r>
            <a:r>
              <a:rPr lang="en-US" altLang="zh-CN" i="1" dirty="0">
                <a:latin typeface="Arial" panose="020B0604020202020204" pitchFamily="34" charset="0"/>
              </a:rPr>
              <a:t>instructor phone </a:t>
            </a:r>
            <a:r>
              <a:rPr lang="en-US" altLang="zh-CN" dirty="0">
                <a:latin typeface="Arial" panose="020B0604020202020204" pitchFamily="34" charset="0"/>
              </a:rPr>
              <a:t>would have two tuples (22222,</a:t>
            </a:r>
            <a:br>
              <a:rPr lang="en-US" altLang="zh-CN" dirty="0">
                <a:latin typeface="Arial" panose="020B0604020202020204" pitchFamily="34" charset="0"/>
              </a:rPr>
            </a:br>
            <a:r>
              <a:rPr lang="en-US" altLang="zh-CN" dirty="0">
                <a:latin typeface="Arial" panose="020B0604020202020204" pitchFamily="34" charset="0"/>
              </a:rPr>
              <a:t>555-1234) and (22222, 555-4321). 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pPr>
                <a:defRPr/>
              </a:pPr>
              <a:t>53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33733811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</a:rPr>
              <a:t>identifying 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</a:rPr>
              <a:t>：识别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pPr>
                <a:defRPr/>
              </a:pPr>
              <a:t>54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13281916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credit-rating</a:t>
            </a:r>
            <a:r>
              <a:rPr lang="zh-CN" alt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信用评级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pPr>
                <a:defRPr/>
              </a:pPr>
              <a:t>58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24336655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dirty="0">
                <a:latin typeface="Arial" panose="020B0604020202020204" pitchFamily="34" charset="0"/>
              </a:rPr>
              <a:t>OO</a:t>
            </a:r>
            <a:r>
              <a:rPr lang="zh-CN" altLang="en-US" b="1" dirty="0">
                <a:latin typeface="Arial" panose="020B0604020202020204" pitchFamily="34" charset="0"/>
              </a:rPr>
              <a:t>：面向对象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pPr>
                <a:defRPr/>
              </a:pPr>
              <a:t>62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12758224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</a:rPr>
              <a:t>FD :</a:t>
            </a:r>
            <a:r>
              <a:rPr lang="en-US" altLang="zh-CN" dirty="0">
                <a:latin typeface="Arial" panose="020B0604020202020204" pitchFamily="34" charset="0"/>
              </a:rPr>
              <a:t>Functional Dependencies 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pPr>
                <a:defRPr/>
              </a:pPr>
              <a:t>68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39448524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0" y="-20538"/>
            <a:ext cx="9144000" cy="637580"/>
          </a:xfrm>
          <a:prstGeom prst="rect">
            <a:avLst/>
          </a:prstGeom>
          <a:solidFill>
            <a:srgbClr val="0070C0"/>
          </a:solidFill>
        </p:spPr>
        <p:txBody>
          <a:bodyPr rtlCol="0">
            <a:noAutofit/>
          </a:bodyPr>
          <a:lstStyle>
            <a:lvl1pPr algn="l">
              <a:defRPr sz="3200" b="1" baseline="0">
                <a:solidFill>
                  <a:schemeClr val="bg1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789553"/>
            <a:ext cx="8568952" cy="3805070"/>
          </a:xfrm>
        </p:spPr>
        <p:txBody>
          <a:bodyPr/>
          <a:lstStyle>
            <a:lvl1pPr>
              <a:defRPr sz="240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3pPr>
            <a:lvl4pPr>
              <a:defRPr sz="160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4pPr>
            <a:lvl5pPr>
              <a:defRPr sz="160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5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5692592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9525" y="3072"/>
            <a:ext cx="9144000" cy="583072"/>
          </a:xfrm>
          <a:prstGeom prst="rect">
            <a:avLst/>
          </a:prstGeom>
          <a:solidFill>
            <a:srgbClr val="0070C0"/>
          </a:solidFill>
        </p:spPr>
        <p:txBody>
          <a:bodyPr rtlCol="0">
            <a:noAutofit/>
          </a:bodyPr>
          <a:lstStyle>
            <a:lvl1pPr algn="l"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27171429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8645403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995686"/>
            <a:ext cx="8229600" cy="85725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0"/>
            <a:ext cx="9217024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0404136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197C38C-D414-4266-B351-EA95CA0D0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76375"/>
            <a:ext cx="9142810" cy="1626394"/>
          </a:xfrm>
          <a:prstGeom prst="rect">
            <a:avLst/>
          </a:prstGeom>
          <a:solidFill>
            <a:srgbClr val="064BB2"/>
          </a:solidFill>
          <a:ln>
            <a:noFill/>
          </a:ln>
          <a:effectLst>
            <a:outerShdw blurRad="50800" dist="38100" dir="5400000" algn="t" rotWithShape="0">
              <a:srgbClr val="000000">
                <a:alpha val="0"/>
              </a:srgbClr>
            </a:outerShdw>
          </a:effectLst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713" dirty="0">
              <a:solidFill>
                <a:schemeClr val="bg1"/>
              </a:solidFill>
              <a:latin typeface="Calibri" panose="020F0502020204030204"/>
              <a:cs typeface="宋体" panose="02010600030101010101" pitchFamily="2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title"/>
          </p:nvPr>
        </p:nvSpPr>
        <p:spPr>
          <a:xfrm>
            <a:off x="4178105" y="2029612"/>
            <a:ext cx="4683967" cy="519113"/>
          </a:xfrm>
        </p:spPr>
        <p:txBody>
          <a:bodyPr/>
          <a:lstStyle>
            <a:lvl1pPr algn="ctr">
              <a:defRPr sz="2700" b="1" baseline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4" name="日期占位符 29">
            <a:extLst>
              <a:ext uri="{FF2B5EF4-FFF2-40B4-BE49-F238E27FC236}">
                <a16:creationId xmlns:a16="http://schemas.microsoft.com/office/drawing/2014/main" id="{3CDAD826-20E7-4438-B5DD-D3AA4ED662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97116" y="2744391"/>
            <a:ext cx="1503759" cy="273844"/>
          </a:xfrm>
        </p:spPr>
        <p:txBody>
          <a:bodyPr/>
          <a:lstStyle>
            <a:lvl1pPr algn="r">
              <a:defRPr sz="1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C5EFD6F6-2F20-4B1A-A667-B95C1338A7FC}" type="datetime5">
              <a:rPr lang="zh-CN" altLang="en-US"/>
              <a:pPr>
                <a:defRPr/>
              </a:pPr>
              <a:t>2025/3/29</a:t>
            </a:fld>
            <a:endParaRPr lang="zh-CN" altLang="en-US" dirty="0"/>
          </a:p>
        </p:txBody>
      </p:sp>
      <p:sp>
        <p:nvSpPr>
          <p:cNvPr id="5" name="页脚占位符 1">
            <a:extLst>
              <a:ext uri="{FF2B5EF4-FFF2-40B4-BE49-F238E27FC236}">
                <a16:creationId xmlns:a16="http://schemas.microsoft.com/office/drawing/2014/main" id="{9AB88EAB-A34D-4476-93DF-3FF872F77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A2800A24-BF08-446B-9251-F108E901E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8CD63E-90B4-4137-BE3E-A082E383778B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5839153"/>
      </p:ext>
    </p:extLst>
  </p:cSld>
  <p:clrMapOvr>
    <a:masterClrMapping/>
  </p:clrMapOvr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197C38C-D414-4266-B351-EA95CA0D0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76375"/>
            <a:ext cx="9142810" cy="1626394"/>
          </a:xfrm>
          <a:prstGeom prst="rect">
            <a:avLst/>
          </a:prstGeom>
          <a:solidFill>
            <a:srgbClr val="064BB2"/>
          </a:solidFill>
          <a:ln>
            <a:noFill/>
          </a:ln>
          <a:effectLst>
            <a:outerShdw blurRad="50800" dist="38100" dir="5400000" algn="t" rotWithShape="0">
              <a:srgbClr val="000000">
                <a:alpha val="0"/>
              </a:srgbClr>
            </a:outerShdw>
          </a:effectLst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713" dirty="0">
              <a:solidFill>
                <a:schemeClr val="bg1"/>
              </a:solidFill>
              <a:latin typeface="Calibri" panose="020F0502020204030204"/>
              <a:cs typeface="宋体" panose="02010600030101010101" pitchFamily="2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title"/>
          </p:nvPr>
        </p:nvSpPr>
        <p:spPr>
          <a:xfrm>
            <a:off x="4178105" y="2029612"/>
            <a:ext cx="4683967" cy="519113"/>
          </a:xfrm>
        </p:spPr>
        <p:txBody>
          <a:bodyPr/>
          <a:lstStyle>
            <a:lvl1pPr algn="ctr">
              <a:defRPr sz="2700" b="1" baseline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4" name="日期占位符 29">
            <a:extLst>
              <a:ext uri="{FF2B5EF4-FFF2-40B4-BE49-F238E27FC236}">
                <a16:creationId xmlns:a16="http://schemas.microsoft.com/office/drawing/2014/main" id="{3CDAD826-20E7-4438-B5DD-D3AA4ED662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97116" y="2744391"/>
            <a:ext cx="1503759" cy="273844"/>
          </a:xfrm>
        </p:spPr>
        <p:txBody>
          <a:bodyPr/>
          <a:lstStyle>
            <a:lvl1pPr algn="r">
              <a:defRPr sz="1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C5EFD6F6-2F20-4B1A-A667-B95C1338A7FC}" type="datetime5">
              <a:rPr lang="zh-CN" altLang="en-US"/>
              <a:pPr>
                <a:defRPr/>
              </a:pPr>
              <a:t>2025/3/29</a:t>
            </a:fld>
            <a:endParaRPr lang="zh-CN" altLang="en-US" dirty="0"/>
          </a:p>
        </p:txBody>
      </p:sp>
      <p:sp>
        <p:nvSpPr>
          <p:cNvPr id="5" name="页脚占位符 1">
            <a:extLst>
              <a:ext uri="{FF2B5EF4-FFF2-40B4-BE49-F238E27FC236}">
                <a16:creationId xmlns:a16="http://schemas.microsoft.com/office/drawing/2014/main" id="{9AB88EAB-A34D-4476-93DF-3FF872F77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A2800A24-BF08-446B-9251-F108E901E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8CD63E-90B4-4137-BE3E-A082E383778B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1492431"/>
      </p:ext>
    </p:extLst>
  </p:cSld>
  <p:clrMapOvr>
    <a:masterClrMapping/>
  </p:clrMapOvr>
  <p:hf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程序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2">
            <a:extLst>
              <a:ext uri="{FF2B5EF4-FFF2-40B4-BE49-F238E27FC236}">
                <a16:creationId xmlns:a16="http://schemas.microsoft.com/office/drawing/2014/main" id="{16752D73-FCE0-4C91-9046-B443BB0EE7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3313" y="4794648"/>
            <a:ext cx="428625" cy="173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750">
                <a:solidFill>
                  <a:srgbClr val="7F7F7F"/>
                </a:solidFill>
                <a:latin typeface="Arial" panose="020B0604020202020204" pitchFamily="34" charset="0"/>
              </a:rPr>
              <a:t> </a:t>
            </a:r>
            <a:fld id="{60AB1787-2FB0-4C6A-B98A-30C644A6BEF9}" type="slidenum">
              <a:rPr lang="en-US" altLang="zh-CN" sz="750">
                <a:latin typeface="Arial" panose="020B0604020202020204" pitchFamily="34" charset="0"/>
              </a:rPr>
              <a:pPr algn="ctr"/>
              <a:t>‹#›</a:t>
            </a:fld>
            <a:endParaRPr lang="en-US" altLang="zh-CN" sz="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直接连接符 19">
            <a:extLst>
              <a:ext uri="{FF2B5EF4-FFF2-40B4-BE49-F238E27FC236}">
                <a16:creationId xmlns:a16="http://schemas.microsoft.com/office/drawing/2014/main" id="{81265A1D-E753-4B73-A145-8601358CF94C}"/>
              </a:ext>
            </a:extLst>
          </p:cNvPr>
          <p:cNvCxnSpPr>
            <a:stCxn id="6" idx="3"/>
          </p:cNvCxnSpPr>
          <p:nvPr/>
        </p:nvCxnSpPr>
        <p:spPr>
          <a:xfrm>
            <a:off x="7881938" y="4881563"/>
            <a:ext cx="764381" cy="0"/>
          </a:xfrm>
          <a:prstGeom prst="line">
            <a:avLst/>
          </a:prstGeom>
          <a:ln w="9525">
            <a:solidFill>
              <a:srgbClr val="F195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14">
            <a:extLst>
              <a:ext uri="{FF2B5EF4-FFF2-40B4-BE49-F238E27FC236}">
                <a16:creationId xmlns:a16="http://schemas.microsoft.com/office/drawing/2014/main" id="{A2112050-F8FB-4C93-9752-2D3FE7B75F9C}"/>
              </a:ext>
            </a:extLst>
          </p:cNvPr>
          <p:cNvCxnSpPr>
            <a:stCxn id="6" idx="3"/>
          </p:cNvCxnSpPr>
          <p:nvPr/>
        </p:nvCxnSpPr>
        <p:spPr>
          <a:xfrm flipV="1">
            <a:off x="2789635" y="4881563"/>
            <a:ext cx="4663678" cy="0"/>
          </a:xfrm>
          <a:prstGeom prst="line">
            <a:avLst/>
          </a:prstGeom>
          <a:ln>
            <a:solidFill>
              <a:srgbClr val="064B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3">
            <a:extLst>
              <a:ext uri="{FF2B5EF4-FFF2-40B4-BE49-F238E27FC236}">
                <a16:creationId xmlns:a16="http://schemas.microsoft.com/office/drawing/2014/main" id="{5BBE3BC9-B6A4-42F2-9408-BD266AA06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548" y="686991"/>
            <a:ext cx="7197328" cy="34528"/>
          </a:xfrm>
          <a:prstGeom prst="rect">
            <a:avLst/>
          </a:prstGeom>
          <a:solidFill>
            <a:srgbClr val="064BB2"/>
          </a:solidFill>
          <a:ln>
            <a:noFill/>
          </a:ln>
        </p:spPr>
        <p:txBody>
          <a:bodyPr wrap="none" anchor="ctr"/>
          <a:lstStyle>
            <a:lvl1pPr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auto">
              <a:spcBef>
                <a:spcPct val="50000"/>
              </a:spcBef>
              <a:spcAft>
                <a:spcPts val="0"/>
              </a:spcAft>
              <a:buFontTx/>
              <a:buNone/>
              <a:defRPr/>
            </a:pPr>
            <a:endParaRPr lang="zh-CN" altLang="en-US" sz="713"/>
          </a:p>
        </p:txBody>
      </p:sp>
      <p:sp>
        <p:nvSpPr>
          <p:cNvPr id="9" name="AutoShape 23">
            <a:extLst>
              <a:ext uri="{FF2B5EF4-FFF2-40B4-BE49-F238E27FC236}">
                <a16:creationId xmlns:a16="http://schemas.microsoft.com/office/drawing/2014/main" id="{E2368EDB-C388-4E28-BBE5-4F255162B9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1875" y="686991"/>
            <a:ext cx="1491854" cy="34528"/>
          </a:xfrm>
          <a:prstGeom prst="rect">
            <a:avLst/>
          </a:prstGeom>
          <a:solidFill>
            <a:srgbClr val="FB9708"/>
          </a:solidFill>
          <a:ln>
            <a:noFill/>
          </a:ln>
        </p:spPr>
        <p:txBody>
          <a:bodyPr wrap="none" anchor="ctr"/>
          <a:lstStyle>
            <a:lvl1pPr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auto">
              <a:spcBef>
                <a:spcPct val="50000"/>
              </a:spcBef>
              <a:spcAft>
                <a:spcPts val="0"/>
              </a:spcAft>
              <a:buFontTx/>
              <a:buNone/>
              <a:defRPr/>
            </a:pPr>
            <a:endParaRPr lang="zh-CN" altLang="en-US" sz="713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A9872EB7-0880-4D4B-AB94-8A492573263B}"/>
              </a:ext>
            </a:extLst>
          </p:cNvPr>
          <p:cNvCxnSpPr>
            <a:stCxn id="6" idx="3"/>
          </p:cNvCxnSpPr>
          <p:nvPr/>
        </p:nvCxnSpPr>
        <p:spPr>
          <a:xfrm>
            <a:off x="1788319" y="4786313"/>
            <a:ext cx="0" cy="207169"/>
          </a:xfrm>
          <a:prstGeom prst="line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317865" y="1315256"/>
            <a:ext cx="8330701" cy="3254791"/>
          </a:xfrm>
        </p:spPr>
        <p:txBody>
          <a:bodyPr>
            <a:noAutofit/>
          </a:bodyPr>
          <a:lstStyle>
            <a:lvl1pPr marL="271939" indent="-271939">
              <a:lnSpc>
                <a:spcPct val="150000"/>
              </a:lnSpc>
              <a:spcBef>
                <a:spcPts val="750"/>
              </a:spcBef>
              <a:buClr>
                <a:srgbClr val="032089"/>
              </a:buClr>
              <a:buFont typeface="Wingdings" panose="05000000000000000000" pitchFamily="2" charset="2"/>
              <a:buChar char="Ø"/>
              <a:defRPr sz="1350" b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>
              <a:lnSpc>
                <a:spcPct val="130000"/>
              </a:lnSpc>
              <a:buClr>
                <a:srgbClr val="032089"/>
              </a:buClr>
              <a:buFont typeface="Wingdings" panose="05000000000000000000" pitchFamily="2" charset="2"/>
              <a:buChar char="l"/>
              <a:defRPr sz="1748" b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429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29" b="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29" b="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1157" y="269309"/>
            <a:ext cx="8229601" cy="396132"/>
          </a:xfrm>
        </p:spPr>
        <p:txBody>
          <a:bodyPr/>
          <a:lstStyle>
            <a:lvl1pPr>
              <a:defRPr sz="1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4" name="内容占位符 2"/>
          <p:cNvSpPr>
            <a:spLocks noGrp="1"/>
          </p:cNvSpPr>
          <p:nvPr>
            <p:ph idx="10"/>
          </p:nvPr>
        </p:nvSpPr>
        <p:spPr>
          <a:xfrm>
            <a:off x="317865" y="854235"/>
            <a:ext cx="8330701" cy="319852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>
              <a:buNone/>
              <a:defRPr lang="zh-CN" altLang="en-US" sz="1500" b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11" name="日期占位符 2">
            <a:extLst>
              <a:ext uri="{FF2B5EF4-FFF2-40B4-BE49-F238E27FC236}">
                <a16:creationId xmlns:a16="http://schemas.microsoft.com/office/drawing/2014/main" id="{C8DF600F-69D6-4B54-9FE0-7418FD2F14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1F0FCB-3C9B-43AF-9122-66CB9AF9BE1F}" type="datetimeFigureOut">
              <a:rPr lang="zh-CN" altLang="en-US"/>
              <a:pPr>
                <a:defRPr/>
              </a:pPr>
              <a:t>2025/3/29</a:t>
            </a:fld>
            <a:endParaRPr lang="zh-CN" altLang="en-US"/>
          </a:p>
        </p:txBody>
      </p:sp>
      <p:sp>
        <p:nvSpPr>
          <p:cNvPr id="12" name="页脚占位符 4">
            <a:extLst>
              <a:ext uri="{FF2B5EF4-FFF2-40B4-BE49-F238E27FC236}">
                <a16:creationId xmlns:a16="http://schemas.microsoft.com/office/drawing/2014/main" id="{9F403212-3DFD-47AC-9FCD-43C4135BB60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灯片编号占位符 5">
            <a:extLst>
              <a:ext uri="{FF2B5EF4-FFF2-40B4-BE49-F238E27FC236}">
                <a16:creationId xmlns:a16="http://schemas.microsoft.com/office/drawing/2014/main" id="{07A37F3F-9709-495C-A02A-28A1719A375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fld id="{791A760A-A8F5-4109-B3A7-90E0284994A6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940920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2">
            <a:extLst>
              <a:ext uri="{FF2B5EF4-FFF2-40B4-BE49-F238E27FC236}">
                <a16:creationId xmlns:a16="http://schemas.microsoft.com/office/drawing/2014/main" id="{A5457454-CD41-4EC0-92FC-4BEB76B023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3313" y="4794648"/>
            <a:ext cx="428625" cy="173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750">
                <a:solidFill>
                  <a:srgbClr val="7F7F7F"/>
                </a:solidFill>
                <a:latin typeface="Arial" panose="020B0604020202020204" pitchFamily="34" charset="0"/>
              </a:rPr>
              <a:t> </a:t>
            </a:r>
            <a:fld id="{69AB6661-0E74-4BEC-A242-46590437B53C}" type="slidenum">
              <a:rPr lang="en-US" altLang="zh-CN" sz="750">
                <a:latin typeface="Arial" panose="020B0604020202020204" pitchFamily="34" charset="0"/>
              </a:rPr>
              <a:pPr algn="ctr"/>
              <a:t>‹#›</a:t>
            </a:fld>
            <a:endParaRPr lang="en-US" altLang="zh-CN" sz="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直接连接符 19">
            <a:extLst>
              <a:ext uri="{FF2B5EF4-FFF2-40B4-BE49-F238E27FC236}">
                <a16:creationId xmlns:a16="http://schemas.microsoft.com/office/drawing/2014/main" id="{35396A89-02DC-47BF-A242-E77FB2856038}"/>
              </a:ext>
            </a:extLst>
          </p:cNvPr>
          <p:cNvCxnSpPr>
            <a:stCxn id="6" idx="3"/>
          </p:cNvCxnSpPr>
          <p:nvPr/>
        </p:nvCxnSpPr>
        <p:spPr>
          <a:xfrm>
            <a:off x="7881938" y="4881563"/>
            <a:ext cx="764381" cy="0"/>
          </a:xfrm>
          <a:prstGeom prst="line">
            <a:avLst/>
          </a:prstGeom>
          <a:ln w="9525">
            <a:solidFill>
              <a:srgbClr val="F195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14">
            <a:extLst>
              <a:ext uri="{FF2B5EF4-FFF2-40B4-BE49-F238E27FC236}">
                <a16:creationId xmlns:a16="http://schemas.microsoft.com/office/drawing/2014/main" id="{E84470B1-7E26-445E-8261-EF124C84FCBC}"/>
              </a:ext>
            </a:extLst>
          </p:cNvPr>
          <p:cNvCxnSpPr>
            <a:stCxn id="6" idx="3"/>
          </p:cNvCxnSpPr>
          <p:nvPr/>
        </p:nvCxnSpPr>
        <p:spPr>
          <a:xfrm flipV="1">
            <a:off x="2789635" y="4881563"/>
            <a:ext cx="4663678" cy="0"/>
          </a:xfrm>
          <a:prstGeom prst="line">
            <a:avLst/>
          </a:prstGeom>
          <a:ln>
            <a:solidFill>
              <a:srgbClr val="064B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3">
            <a:extLst>
              <a:ext uri="{FF2B5EF4-FFF2-40B4-BE49-F238E27FC236}">
                <a16:creationId xmlns:a16="http://schemas.microsoft.com/office/drawing/2014/main" id="{DC54CF8F-955A-4A75-ADB5-E00F1353F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548" y="686991"/>
            <a:ext cx="7197328" cy="34528"/>
          </a:xfrm>
          <a:prstGeom prst="rect">
            <a:avLst/>
          </a:prstGeom>
          <a:solidFill>
            <a:srgbClr val="064BB2"/>
          </a:solidFill>
          <a:ln>
            <a:noFill/>
          </a:ln>
        </p:spPr>
        <p:txBody>
          <a:bodyPr wrap="none" anchor="ctr"/>
          <a:lstStyle>
            <a:lvl1pPr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auto">
              <a:spcBef>
                <a:spcPct val="50000"/>
              </a:spcBef>
              <a:spcAft>
                <a:spcPts val="0"/>
              </a:spcAft>
              <a:buFontTx/>
              <a:buNone/>
              <a:defRPr/>
            </a:pPr>
            <a:endParaRPr lang="zh-CN" altLang="en-US" sz="713"/>
          </a:p>
        </p:txBody>
      </p:sp>
      <p:sp>
        <p:nvSpPr>
          <p:cNvPr id="9" name="AutoShape 23">
            <a:extLst>
              <a:ext uri="{FF2B5EF4-FFF2-40B4-BE49-F238E27FC236}">
                <a16:creationId xmlns:a16="http://schemas.microsoft.com/office/drawing/2014/main" id="{8367A01C-6193-475C-8106-FED3AEAAA7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1875" y="686991"/>
            <a:ext cx="1491854" cy="34528"/>
          </a:xfrm>
          <a:prstGeom prst="rect">
            <a:avLst/>
          </a:prstGeom>
          <a:solidFill>
            <a:srgbClr val="FB9708"/>
          </a:solidFill>
          <a:ln>
            <a:noFill/>
          </a:ln>
        </p:spPr>
        <p:txBody>
          <a:bodyPr wrap="none" anchor="ctr"/>
          <a:lstStyle>
            <a:lvl1pPr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auto">
              <a:spcBef>
                <a:spcPct val="50000"/>
              </a:spcBef>
              <a:spcAft>
                <a:spcPts val="0"/>
              </a:spcAft>
              <a:buFontTx/>
              <a:buNone/>
              <a:defRPr/>
            </a:pPr>
            <a:endParaRPr lang="zh-CN" altLang="en-US" sz="713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6FEFBF47-4E4E-4907-8B9A-381E7A293BE9}"/>
              </a:ext>
            </a:extLst>
          </p:cNvPr>
          <p:cNvCxnSpPr>
            <a:stCxn id="6" idx="3"/>
          </p:cNvCxnSpPr>
          <p:nvPr/>
        </p:nvCxnSpPr>
        <p:spPr>
          <a:xfrm>
            <a:off x="1788319" y="4786313"/>
            <a:ext cx="0" cy="207169"/>
          </a:xfrm>
          <a:prstGeom prst="line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317865" y="1316002"/>
            <a:ext cx="8330701" cy="3276923"/>
          </a:xfrm>
        </p:spPr>
        <p:txBody>
          <a:bodyPr>
            <a:noAutofit/>
          </a:bodyPr>
          <a:lstStyle>
            <a:lvl1pPr marL="271939" indent="-271939">
              <a:lnSpc>
                <a:spcPct val="150000"/>
              </a:lnSpc>
              <a:spcBef>
                <a:spcPts val="750"/>
              </a:spcBef>
              <a:buClr>
                <a:srgbClr val="032089"/>
              </a:buClr>
              <a:buFont typeface="Wingdings" panose="05000000000000000000" pitchFamily="2" charset="2"/>
              <a:buChar char="Ø"/>
              <a:defRPr sz="1350" b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>
              <a:lnSpc>
                <a:spcPct val="130000"/>
              </a:lnSpc>
              <a:buClr>
                <a:srgbClr val="032089"/>
              </a:buClr>
              <a:buFont typeface="Wingdings" panose="05000000000000000000" pitchFamily="2" charset="2"/>
              <a:buChar char="l"/>
              <a:defRPr sz="1748" b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429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29" b="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29" b="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1157" y="269309"/>
            <a:ext cx="8229601" cy="396132"/>
          </a:xfrm>
        </p:spPr>
        <p:txBody>
          <a:bodyPr/>
          <a:lstStyle>
            <a:lvl1pPr>
              <a:defRPr sz="1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4" name="内容占位符 2"/>
          <p:cNvSpPr>
            <a:spLocks noGrp="1"/>
          </p:cNvSpPr>
          <p:nvPr>
            <p:ph idx="10"/>
          </p:nvPr>
        </p:nvSpPr>
        <p:spPr>
          <a:xfrm>
            <a:off x="317865" y="854235"/>
            <a:ext cx="8330701" cy="319852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>
              <a:buNone/>
              <a:defRPr lang="zh-CN" altLang="en-US" sz="1500" b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11" name="日期占位符 2">
            <a:extLst>
              <a:ext uri="{FF2B5EF4-FFF2-40B4-BE49-F238E27FC236}">
                <a16:creationId xmlns:a16="http://schemas.microsoft.com/office/drawing/2014/main" id="{8C9D253A-10DE-481D-988E-6BEC0CDA20F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1F0FCB-3C9B-43AF-9122-66CB9AF9BE1F}" type="datetimeFigureOut">
              <a:rPr lang="zh-CN" altLang="en-US"/>
              <a:pPr>
                <a:defRPr/>
              </a:pPr>
              <a:t>2025/3/29</a:t>
            </a:fld>
            <a:endParaRPr lang="zh-CN" altLang="en-US"/>
          </a:p>
        </p:txBody>
      </p:sp>
      <p:sp>
        <p:nvSpPr>
          <p:cNvPr id="12" name="页脚占位符 4">
            <a:extLst>
              <a:ext uri="{FF2B5EF4-FFF2-40B4-BE49-F238E27FC236}">
                <a16:creationId xmlns:a16="http://schemas.microsoft.com/office/drawing/2014/main" id="{B2901E17-58DF-49C4-9DE2-A12586FCDAE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灯片编号占位符 5">
            <a:extLst>
              <a:ext uri="{FF2B5EF4-FFF2-40B4-BE49-F238E27FC236}">
                <a16:creationId xmlns:a16="http://schemas.microsoft.com/office/drawing/2014/main" id="{27DC25B2-A5E5-4F2C-BA98-D1B72330E66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fld id="{B22652B3-2E09-4BBA-A0D6-24503131B011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772825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731A94-F931-4AAA-8DB5-6ED9F8502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188E0AB-1C0D-42C7-851F-DD65AD7BF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61F0FCB-3C9B-43AF-9122-66CB9AF9BE1F}" type="datetimeFigureOut">
              <a:rPr lang="zh-CN" altLang="en-US" smtClean="0"/>
              <a:pPr>
                <a:defRPr/>
              </a:pPr>
              <a:t>2025/3/29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D48D610-C3FB-43EF-84BB-9022A4747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871D823-BC15-486B-873C-13E261F2D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1C93-5505-452B-8265-D50E35693F6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3912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0E5853F-F8D3-4201-B7D6-19EE6B4D4F23}"/>
              </a:ext>
            </a:extLst>
          </p:cNvPr>
          <p:cNvSpPr txBox="1"/>
          <p:nvPr userDrawn="1"/>
        </p:nvSpPr>
        <p:spPr>
          <a:xfrm>
            <a:off x="8460432" y="4803998"/>
            <a:ext cx="576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C913308-F349-4B6D-A68A-DD1791B4A57B}" type="slidenum">
              <a:rPr lang="zh-CN" altLang="en-US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‹#›</a:t>
            </a:fld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4" r:id="rId4"/>
    <p:sldLayoutId id="2147483741" r:id="rId5"/>
  </p:sldLayoutIdLst>
  <p:transition>
    <p:fade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4CABCC62-743F-4022-8159-B19A201B0BB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91691" y="146447"/>
            <a:ext cx="822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8EE9B879-BEBD-4844-945E-D696D6281BD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316706" y="890588"/>
            <a:ext cx="8229600" cy="756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</a:t>
            </a:r>
          </a:p>
        </p:txBody>
      </p: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C95541F1-4DC5-4655-B057-934C72C689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961F0FCB-3C9B-43AF-9122-66CB9AF9BE1F}" type="datetimeFigureOut">
              <a:rPr lang="zh-CN" altLang="en-US"/>
              <a:pPr>
                <a:defRPr/>
              </a:pPr>
              <a:t>2025/3/29</a:t>
            </a:fld>
            <a:endParaRPr lang="zh-CN" altLang="en-US"/>
          </a:p>
        </p:txBody>
      </p:sp>
      <p:sp>
        <p:nvSpPr>
          <p:cNvPr id="13" name="页脚占位符 12">
            <a:extLst>
              <a:ext uri="{FF2B5EF4-FFF2-40B4-BE49-F238E27FC236}">
                <a16:creationId xmlns:a16="http://schemas.microsoft.com/office/drawing/2014/main" id="{D41541A6-4A6E-4EAB-92E4-324E52AD6F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4" name="灯片编号占位符 13">
            <a:extLst>
              <a:ext uri="{FF2B5EF4-FFF2-40B4-BE49-F238E27FC236}">
                <a16:creationId xmlns:a16="http://schemas.microsoft.com/office/drawing/2014/main" id="{00D96588-48D9-48F6-8566-84A7CB18EC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noProof="1" dirty="0">
                <a:solidFill>
                  <a:srgbClr val="898989"/>
                </a:solidFill>
              </a:defRPr>
            </a:lvl1pPr>
          </a:lstStyle>
          <a:p>
            <a:fld id="{BD211C93-5505-452B-8265-D50E35693F66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5341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40" r:id="rId4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1875">
          <a:solidFill>
            <a:schemeClr val="tx1"/>
          </a:solidFill>
          <a:latin typeface="+mj-lt"/>
          <a:ea typeface="微软雅黑" panose="020B0503020204020204" pitchFamily="34" charset="-122"/>
          <a:cs typeface="微软雅黑" panose="020B0503020204020204" pitchFamily="34" charset="-122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875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微软雅黑" panose="020B0503020204020204" pitchFamily="3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875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微软雅黑" panose="020B0503020204020204" pitchFamily="3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875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微软雅黑" panose="020B0503020204020204" pitchFamily="3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875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微软雅黑" panose="020B0503020204020204" pitchFamily="34" charset="-122"/>
        </a:defRPr>
      </a:lvl5pPr>
      <a:lvl6pPr marL="362903" algn="l" rtl="0" eaLnBrk="1" fontAlgn="base" hangingPunct="1">
        <a:spcBef>
          <a:spcPct val="0"/>
        </a:spcBef>
        <a:spcAft>
          <a:spcPct val="0"/>
        </a:spcAft>
        <a:defRPr sz="190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6pPr>
      <a:lvl7pPr marL="725805" algn="l" rtl="0" eaLnBrk="1" fontAlgn="base" hangingPunct="1">
        <a:spcBef>
          <a:spcPct val="0"/>
        </a:spcBef>
        <a:spcAft>
          <a:spcPct val="0"/>
        </a:spcAft>
        <a:defRPr sz="190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7pPr>
      <a:lvl8pPr marL="1088231" algn="l" rtl="0" eaLnBrk="1" fontAlgn="base" hangingPunct="1">
        <a:spcBef>
          <a:spcPct val="0"/>
        </a:spcBef>
        <a:spcAft>
          <a:spcPct val="0"/>
        </a:spcAft>
        <a:defRPr sz="190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8pPr>
      <a:lvl9pPr marL="1451134" algn="l" rtl="0" eaLnBrk="1" fontAlgn="base" hangingPunct="1">
        <a:spcBef>
          <a:spcPct val="0"/>
        </a:spcBef>
        <a:spcAft>
          <a:spcPct val="0"/>
        </a:spcAft>
        <a:defRPr sz="190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9pPr>
    </p:titleStyle>
    <p:bodyStyle>
      <a:lvl1pPr marL="271463" indent="-271463" algn="l" rtl="0" eaLnBrk="1" fontAlgn="base" hangingPunct="1">
        <a:spcBef>
          <a:spcPct val="20000"/>
        </a:spcBef>
        <a:spcAft>
          <a:spcPct val="0"/>
        </a:spcAft>
        <a:buClr>
          <a:srgbClr val="000066"/>
        </a:buClr>
        <a:buFont typeface="Wingdings" panose="05000000000000000000" pitchFamily="2" charset="2"/>
        <a:buChar char="n"/>
        <a:defRPr sz="1575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1pPr>
      <a:lvl2pPr marL="589360" indent="-226219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175">
          <a:solidFill>
            <a:schemeClr val="tx1"/>
          </a:solidFill>
          <a:latin typeface="+mn-lt"/>
          <a:ea typeface="+mn-ea"/>
        </a:defRPr>
      </a:lvl2pPr>
      <a:lvl3pPr marL="906066" indent="-18097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75">
          <a:solidFill>
            <a:schemeClr val="tx1"/>
          </a:solidFill>
          <a:latin typeface="+mn-lt"/>
          <a:ea typeface="+mn-ea"/>
        </a:defRPr>
      </a:lvl3pPr>
      <a:lvl4pPr marL="1269206" indent="-18097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575">
          <a:solidFill>
            <a:schemeClr val="tx1"/>
          </a:solidFill>
          <a:latin typeface="+mn-lt"/>
          <a:ea typeface="+mn-ea"/>
        </a:defRPr>
      </a:lvl4pPr>
      <a:lvl5pPr marL="1632347" indent="-18097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75">
          <a:solidFill>
            <a:schemeClr val="tx1"/>
          </a:solidFill>
          <a:latin typeface="+mn-lt"/>
          <a:ea typeface="+mn-ea"/>
        </a:defRPr>
      </a:lvl5pPr>
      <a:lvl6pPr marL="1995488" indent="-181451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86">
          <a:solidFill>
            <a:schemeClr val="tx1"/>
          </a:solidFill>
          <a:latin typeface="+mn-lt"/>
          <a:ea typeface="+mn-ea"/>
        </a:defRPr>
      </a:lvl6pPr>
      <a:lvl7pPr marL="2358390" indent="-181451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86">
          <a:solidFill>
            <a:schemeClr val="tx1"/>
          </a:solidFill>
          <a:latin typeface="+mn-lt"/>
          <a:ea typeface="+mn-ea"/>
        </a:defRPr>
      </a:lvl7pPr>
      <a:lvl8pPr marL="2721293" indent="-181451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86">
          <a:solidFill>
            <a:schemeClr val="tx1"/>
          </a:solidFill>
          <a:latin typeface="+mn-lt"/>
          <a:ea typeface="+mn-ea"/>
        </a:defRPr>
      </a:lvl8pPr>
      <a:lvl9pPr marL="3084195" indent="-181451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86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1pPr>
      <a:lvl2pPr marL="362903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2pPr>
      <a:lvl3pPr marL="725805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3pPr>
      <a:lvl4pPr marL="1088231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4pPr>
      <a:lvl5pPr marL="1451134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5pPr>
      <a:lvl6pPr marL="1814036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6pPr>
      <a:lvl7pPr marL="2176939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7pPr>
      <a:lvl8pPr marL="2539841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8pPr>
      <a:lvl9pPr marL="2902744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e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sv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FA77F71E-B605-4820-B913-56173A09A2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2605" y="1851670"/>
            <a:ext cx="9156340" cy="1116356"/>
          </a:xfrm>
          <a:prstGeom prst="rect">
            <a:avLst/>
          </a:prstGeom>
          <a:noFill/>
          <a:ln>
            <a:noFill/>
          </a:ln>
          <a:extLst/>
        </p:spPr>
        <p:txBody>
          <a:bodyPr lIns="92075" tIns="46038" rIns="92075" bIns="46038" anchor="ctr"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9pPr>
          </a:lstStyle>
          <a:p>
            <a:pPr algn="ctr">
              <a:spcBef>
                <a:spcPts val="600"/>
              </a:spcBef>
              <a:defRPr/>
            </a:pPr>
            <a:r>
              <a:rPr lang="en-US" altLang="zh-CN" sz="2800" b="1" dirty="0">
                <a:solidFill>
                  <a:prstClr val="black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Database Design and E-R Model</a:t>
            </a:r>
            <a:endParaRPr lang="en-US" altLang="zh-CN" sz="2800" b="1" dirty="0"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  <a:p>
            <a:pPr algn="ctr">
              <a:spcBef>
                <a:spcPts val="600"/>
              </a:spcBef>
              <a:defRPr/>
            </a:pPr>
            <a:r>
              <a:rPr lang="en-US" altLang="zh-CN" dirty="0">
                <a:solidFill>
                  <a:prstClr val="black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Chapter 6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5B0D7027-3D69-4E35-939E-995F28B504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244417"/>
            <a:ext cx="9156340" cy="11034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buClr>
                <a:srgbClr val="800080"/>
              </a:buClr>
              <a:buSzPct val="90000"/>
            </a:pPr>
            <a:r>
              <a:rPr lang="en-US" altLang="zh-CN" sz="1800" dirty="0" err="1">
                <a:solidFill>
                  <a:srgbClr val="000000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Yichao</a:t>
            </a:r>
            <a:r>
              <a:rPr lang="en-US" altLang="zh-CN" sz="1800" dirty="0">
                <a:solidFill>
                  <a:srgbClr val="000000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 Zhang</a:t>
            </a:r>
          </a:p>
          <a:p>
            <a:pPr algn="ctr">
              <a:buClr>
                <a:srgbClr val="800080"/>
              </a:buClr>
              <a:buSzPct val="90000"/>
            </a:pPr>
            <a:r>
              <a:rPr lang="en-GB" altLang="zh-CN" sz="1800" dirty="0"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Email: </a:t>
            </a:r>
            <a:r>
              <a:rPr lang="en-US" altLang="zh-CN" sz="1800" dirty="0" err="1">
                <a:solidFill>
                  <a:srgbClr val="000000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yichaozhang</a:t>
            </a:r>
            <a:r>
              <a:rPr lang="en-GB" altLang="zh-CN" sz="1800" dirty="0"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@tongji.edu.cn</a:t>
            </a:r>
          </a:p>
          <a:p>
            <a:pPr algn="ctr">
              <a:buClr>
                <a:srgbClr val="800080"/>
              </a:buClr>
              <a:buSzPct val="90000"/>
            </a:pPr>
            <a:r>
              <a:rPr lang="en-US" altLang="zh-CN" sz="1800" dirty="0">
                <a:solidFill>
                  <a:srgbClr val="000000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Department of Computer Science and Technology</a:t>
            </a:r>
          </a:p>
          <a:p>
            <a:pPr algn="ctr">
              <a:buClr>
                <a:srgbClr val="800080"/>
              </a:buClr>
              <a:buSzPct val="90000"/>
            </a:pPr>
            <a:r>
              <a:rPr lang="en-US" altLang="zh-CN" sz="1800" dirty="0">
                <a:solidFill>
                  <a:srgbClr val="000000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Tongji University</a:t>
            </a:r>
            <a:endParaRPr lang="en-US" sz="1800" dirty="0">
              <a:solidFill>
                <a:srgbClr val="000000"/>
              </a:solidFill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  <a:p>
            <a:pPr algn="ctr">
              <a:buClr>
                <a:srgbClr val="800080"/>
              </a:buClr>
              <a:buSzPct val="90000"/>
            </a:pPr>
            <a:endParaRPr lang="de-CH" sz="1800" dirty="0">
              <a:solidFill>
                <a:srgbClr val="000000"/>
              </a:solidFill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3926E56-11E2-4B2B-AA1C-5D1F684EF6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13" y="78916"/>
            <a:ext cx="2448272" cy="673776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32F6A10C-3978-4571-8E11-512EBE350881}"/>
              </a:ext>
            </a:extLst>
          </p:cNvPr>
          <p:cNvGrpSpPr/>
          <p:nvPr/>
        </p:nvGrpSpPr>
        <p:grpSpPr>
          <a:xfrm>
            <a:off x="6820780" y="34612"/>
            <a:ext cx="2323220" cy="626967"/>
            <a:chOff x="5853448" y="-22066"/>
            <a:chExt cx="2967025" cy="835954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BF37CBE-EBFF-4522-B25D-114F7C120EEF}"/>
                </a:ext>
              </a:extLst>
            </p:cNvPr>
            <p:cNvSpPr txBox="1"/>
            <p:nvPr/>
          </p:nvSpPr>
          <p:spPr>
            <a:xfrm>
              <a:off x="5853448" y="25982"/>
              <a:ext cx="2967025" cy="7879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b="1" dirty="0">
                  <a:solidFill>
                    <a:srgbClr val="0070C0"/>
                  </a:solidFill>
                </a:rPr>
                <a:t>             ADMIS Lab</a:t>
              </a:r>
              <a:endParaRPr lang="en-US" altLang="zh-CN" sz="1200" b="1" dirty="0">
                <a:solidFill>
                  <a:srgbClr val="0070C0"/>
                </a:solidFill>
              </a:endParaRPr>
            </a:p>
            <a:p>
              <a:r>
                <a:rPr lang="zh-CN" altLang="en-US" sz="1200" b="1" dirty="0">
                  <a:solidFill>
                    <a:srgbClr val="0070C0"/>
                  </a:solidFill>
                  <a:latin typeface="华文行楷" panose="02010800040101010101" pitchFamily="2" charset="-122"/>
                  <a:ea typeface="华文行楷" panose="02010800040101010101" pitchFamily="2" charset="-122"/>
                </a:rPr>
                <a:t>先进数据与机器智能系统实验室</a:t>
              </a:r>
            </a:p>
          </p:txBody>
        </p:sp>
        <p:pic>
          <p:nvPicPr>
            <p:cNvPr id="9" name="图形 8" descr="原子">
              <a:extLst>
                <a:ext uri="{FF2B5EF4-FFF2-40B4-BE49-F238E27FC236}">
                  <a16:creationId xmlns:a16="http://schemas.microsoft.com/office/drawing/2014/main" id="{366732EC-C279-4260-B05C-265B78B278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951999" y="-22066"/>
              <a:ext cx="1189248" cy="5246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60832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13" t="874" r="14110" b="1357"/>
          <a:stretch>
            <a:fillRect/>
          </a:stretch>
        </p:blipFill>
        <p:spPr bwMode="auto">
          <a:xfrm>
            <a:off x="0" y="894944"/>
            <a:ext cx="4803964" cy="36214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1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-20538"/>
            <a:ext cx="9180512" cy="504056"/>
          </a:xfrm>
        </p:spPr>
        <p:txBody>
          <a:bodyPr/>
          <a:lstStyle/>
          <a:p>
            <a:pPr algn="ctr"/>
            <a:r>
              <a:rPr lang="pt-BR" altLang="zh-CN" dirty="0">
                <a:effectLst/>
                <a:latin typeface="Comic Sans MS" pitchFamily="66" charset="0"/>
                <a:ea typeface="宋体" charset="-122"/>
              </a:rPr>
              <a:t>E-R Diagram &amp; </a:t>
            </a:r>
            <a:r>
              <a:rPr lang="en-US" altLang="zh-CN" dirty="0">
                <a:effectLst/>
                <a:latin typeface="Comic Sans MS" pitchFamily="66" charset="0"/>
                <a:ea typeface="宋体" charset="-122"/>
              </a:rPr>
              <a:t>Relation Schema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AE4B9099-6D00-4740-861A-D983B46C256E}"/>
              </a:ext>
            </a:extLst>
          </p:cNvPr>
          <p:cNvSpPr txBox="1">
            <a:spLocks noChangeArrowheads="1"/>
          </p:cNvSpPr>
          <p:nvPr/>
        </p:nvSpPr>
        <p:spPr>
          <a:xfrm>
            <a:off x="4788024" y="627097"/>
            <a:ext cx="4328988" cy="333873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indent="-180000">
              <a:spcBef>
                <a:spcPts val="0"/>
              </a:spcBef>
              <a:buFontTx/>
              <a:defRPr/>
            </a:pPr>
            <a:r>
              <a:rPr lang="en-US" altLang="zh-CN" sz="1100" i="1" kern="0" dirty="0">
                <a:latin typeface="Comic Sans MS" pitchFamily="66" charset="0"/>
                <a:ea typeface="宋体" pitchFamily="2" charset="-122"/>
              </a:rPr>
              <a:t>branch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 = (</a:t>
            </a:r>
            <a:r>
              <a:rPr lang="en-US" altLang="zh-CN" sz="1100" i="1" u="sng" kern="0" dirty="0" err="1">
                <a:latin typeface="Comic Sans MS" pitchFamily="66" charset="0"/>
                <a:ea typeface="宋体" pitchFamily="2" charset="-122"/>
              </a:rPr>
              <a:t>branch_name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, </a:t>
            </a:r>
            <a:r>
              <a:rPr lang="en-US" altLang="zh-CN" sz="1100" i="1" kern="0" dirty="0" err="1">
                <a:latin typeface="Comic Sans MS" pitchFamily="66" charset="0"/>
                <a:ea typeface="宋体" pitchFamily="2" charset="-122"/>
              </a:rPr>
              <a:t>branch_city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, </a:t>
            </a:r>
            <a:r>
              <a:rPr lang="en-US" altLang="zh-CN" sz="1100" i="1" kern="0" dirty="0">
                <a:latin typeface="Comic Sans MS" pitchFamily="66" charset="0"/>
                <a:ea typeface="宋体" pitchFamily="2" charset="-122"/>
              </a:rPr>
              <a:t>assets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)</a:t>
            </a:r>
          </a:p>
          <a:p>
            <a:pPr indent="-180000">
              <a:spcBef>
                <a:spcPts val="0"/>
              </a:spcBef>
              <a:buFontTx/>
              <a:defRPr/>
            </a:pPr>
            <a:r>
              <a:rPr lang="en-US" altLang="zh-CN" sz="1100" i="1" kern="0" dirty="0">
                <a:latin typeface="Comic Sans MS" pitchFamily="66" charset="0"/>
                <a:ea typeface="宋体" pitchFamily="2" charset="-122"/>
              </a:rPr>
              <a:t>customer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 = (</a:t>
            </a:r>
            <a:r>
              <a:rPr lang="en-US" altLang="zh-CN" sz="1100" i="1" u="sng" kern="0" dirty="0" err="1">
                <a:latin typeface="Comic Sans MS" pitchFamily="66" charset="0"/>
                <a:ea typeface="宋体" pitchFamily="2" charset="-122"/>
              </a:rPr>
              <a:t>customer_id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, </a:t>
            </a:r>
            <a:r>
              <a:rPr lang="en-US" altLang="zh-CN" sz="1100" i="1" kern="0" dirty="0" err="1">
                <a:latin typeface="Comic Sans MS" pitchFamily="66" charset="0"/>
                <a:ea typeface="宋体" pitchFamily="2" charset="-122"/>
              </a:rPr>
              <a:t>customer_name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, </a:t>
            </a:r>
            <a:r>
              <a:rPr lang="en-US" altLang="zh-CN" sz="1100" i="1" kern="0" dirty="0" err="1">
                <a:latin typeface="Comic Sans MS" pitchFamily="66" charset="0"/>
                <a:ea typeface="宋体" pitchFamily="2" charset="-122"/>
              </a:rPr>
              <a:t>customer_street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, </a:t>
            </a:r>
            <a:r>
              <a:rPr lang="en-US" altLang="zh-CN" sz="1100" i="1" kern="0" dirty="0" err="1">
                <a:latin typeface="Comic Sans MS" pitchFamily="66" charset="0"/>
                <a:ea typeface="宋体" pitchFamily="2" charset="-122"/>
              </a:rPr>
              <a:t>customer_city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)</a:t>
            </a:r>
          </a:p>
          <a:p>
            <a:pPr indent="-180000">
              <a:spcBef>
                <a:spcPts val="0"/>
              </a:spcBef>
              <a:buFontTx/>
              <a:defRPr/>
            </a:pPr>
            <a:r>
              <a:rPr lang="en-US" altLang="zh-CN" sz="1100" i="1" kern="0" dirty="0">
                <a:latin typeface="Comic Sans MS" pitchFamily="66" charset="0"/>
                <a:ea typeface="宋体" pitchFamily="2" charset="-122"/>
              </a:rPr>
              <a:t>loan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 = (</a:t>
            </a:r>
            <a:r>
              <a:rPr lang="en-US" altLang="zh-CN" sz="1100" i="1" u="sng" kern="0" dirty="0" err="1">
                <a:latin typeface="Comic Sans MS" pitchFamily="66" charset="0"/>
                <a:ea typeface="宋体" pitchFamily="2" charset="-122"/>
              </a:rPr>
              <a:t>loan_number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, </a:t>
            </a:r>
            <a:r>
              <a:rPr lang="en-US" altLang="zh-CN" sz="1100" i="1" kern="0" dirty="0">
                <a:latin typeface="Comic Sans MS" pitchFamily="66" charset="0"/>
                <a:ea typeface="宋体" pitchFamily="2" charset="-122"/>
              </a:rPr>
              <a:t>amount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)</a:t>
            </a:r>
          </a:p>
          <a:p>
            <a:pPr indent="-180000">
              <a:spcBef>
                <a:spcPts val="0"/>
              </a:spcBef>
              <a:buFontTx/>
              <a:defRPr/>
            </a:pPr>
            <a:r>
              <a:rPr lang="en-US" altLang="zh-CN" sz="1100" i="1" kern="0" dirty="0">
                <a:latin typeface="Comic Sans MS" pitchFamily="66" charset="0"/>
                <a:ea typeface="宋体" pitchFamily="2" charset="-122"/>
              </a:rPr>
              <a:t>account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 = (</a:t>
            </a:r>
            <a:r>
              <a:rPr lang="en-US" altLang="zh-CN" sz="1100" i="1" u="sng" kern="0" dirty="0" err="1">
                <a:latin typeface="Comic Sans MS" pitchFamily="66" charset="0"/>
                <a:ea typeface="宋体" pitchFamily="2" charset="-122"/>
              </a:rPr>
              <a:t>account_number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, </a:t>
            </a:r>
            <a:r>
              <a:rPr lang="en-US" altLang="zh-CN" sz="1100" i="1" kern="0" dirty="0">
                <a:latin typeface="Comic Sans MS" pitchFamily="66" charset="0"/>
                <a:ea typeface="宋体" pitchFamily="2" charset="-122"/>
              </a:rPr>
              <a:t>balance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)</a:t>
            </a:r>
          </a:p>
          <a:p>
            <a:pPr indent="-180000">
              <a:spcBef>
                <a:spcPts val="0"/>
              </a:spcBef>
              <a:buFontTx/>
              <a:defRPr/>
            </a:pPr>
            <a:r>
              <a:rPr lang="en-US" altLang="zh-CN" sz="1100" i="1" kern="0" dirty="0">
                <a:latin typeface="Comic Sans MS" pitchFamily="66" charset="0"/>
                <a:ea typeface="宋体" pitchFamily="2" charset="-122"/>
              </a:rPr>
              <a:t>employee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 = (</a:t>
            </a:r>
            <a:r>
              <a:rPr lang="en-US" altLang="zh-CN" sz="1100" i="1" u="sng" kern="0" dirty="0" err="1">
                <a:latin typeface="Comic Sans MS" pitchFamily="66" charset="0"/>
                <a:ea typeface="宋体" pitchFamily="2" charset="-122"/>
              </a:rPr>
              <a:t>employee_id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, </a:t>
            </a:r>
            <a:r>
              <a:rPr lang="en-US" altLang="zh-CN" sz="1100" i="1" kern="0" dirty="0" err="1">
                <a:latin typeface="Comic Sans MS" pitchFamily="66" charset="0"/>
                <a:ea typeface="宋体" pitchFamily="2" charset="-122"/>
              </a:rPr>
              <a:t>employee_name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, </a:t>
            </a:r>
            <a:r>
              <a:rPr lang="en-US" altLang="zh-CN" sz="1100" i="1" kern="0" dirty="0" err="1">
                <a:latin typeface="Comic Sans MS" pitchFamily="66" charset="0"/>
                <a:ea typeface="宋体" pitchFamily="2" charset="-122"/>
              </a:rPr>
              <a:t>telephone_number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, </a:t>
            </a:r>
            <a:r>
              <a:rPr lang="en-US" altLang="zh-CN" sz="1100" i="1" kern="0" dirty="0" err="1">
                <a:latin typeface="Comic Sans MS" pitchFamily="66" charset="0"/>
                <a:ea typeface="宋体" pitchFamily="2" charset="-122"/>
              </a:rPr>
              <a:t>start_date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)</a:t>
            </a:r>
          </a:p>
          <a:p>
            <a:pPr indent="-180000">
              <a:spcBef>
                <a:spcPts val="0"/>
              </a:spcBef>
              <a:buFontTx/>
              <a:defRPr/>
            </a:pPr>
            <a:endParaRPr lang="en-US" altLang="zh-CN" sz="1100" kern="0" dirty="0">
              <a:latin typeface="Comic Sans MS" pitchFamily="66" charset="0"/>
              <a:ea typeface="宋体" pitchFamily="2" charset="-122"/>
            </a:endParaRPr>
          </a:p>
          <a:p>
            <a:pPr indent="-180000">
              <a:spcBef>
                <a:spcPts val="0"/>
              </a:spcBef>
              <a:buFontTx/>
              <a:defRPr/>
            </a:pPr>
            <a:r>
              <a:rPr lang="en-US" altLang="zh-CN" sz="1100" i="1" kern="0" dirty="0" err="1">
                <a:latin typeface="Comic Sans MS" pitchFamily="66" charset="0"/>
                <a:ea typeface="宋体" pitchFamily="2" charset="-122"/>
              </a:rPr>
              <a:t>dependent_name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 = (</a:t>
            </a:r>
            <a:r>
              <a:rPr lang="en-US" altLang="zh-CN" sz="1100" i="1" u="sng" kern="0" dirty="0" err="1">
                <a:latin typeface="Comic Sans MS" pitchFamily="66" charset="0"/>
                <a:ea typeface="宋体" pitchFamily="2" charset="-122"/>
              </a:rPr>
              <a:t>employee_id</a:t>
            </a:r>
            <a:r>
              <a:rPr lang="en-US" altLang="zh-CN" sz="1100" u="sng" kern="0" dirty="0">
                <a:latin typeface="Comic Sans MS" pitchFamily="66" charset="0"/>
                <a:ea typeface="宋体" pitchFamily="2" charset="-122"/>
              </a:rPr>
              <a:t>, </a:t>
            </a:r>
            <a:r>
              <a:rPr lang="en-US" altLang="zh-CN" sz="1100" i="1" u="sng" kern="0" dirty="0" err="1">
                <a:latin typeface="Comic Sans MS" pitchFamily="66" charset="0"/>
                <a:ea typeface="宋体" pitchFamily="2" charset="-122"/>
              </a:rPr>
              <a:t>dname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) (derived from a  multivalued attribute)</a:t>
            </a:r>
          </a:p>
          <a:p>
            <a:pPr indent="-180000">
              <a:spcBef>
                <a:spcPts val="0"/>
              </a:spcBef>
              <a:buFontTx/>
              <a:defRPr/>
            </a:pPr>
            <a:endParaRPr lang="en-US" altLang="zh-CN" sz="1100" kern="0" dirty="0">
              <a:latin typeface="Comic Sans MS" pitchFamily="66" charset="0"/>
              <a:ea typeface="宋体" pitchFamily="2" charset="-122"/>
            </a:endParaRPr>
          </a:p>
          <a:p>
            <a:pPr indent="-180000">
              <a:spcBef>
                <a:spcPts val="0"/>
              </a:spcBef>
              <a:buFontTx/>
              <a:defRPr/>
            </a:pPr>
            <a:r>
              <a:rPr lang="en-US" altLang="zh-CN" sz="1100" i="1" kern="0" dirty="0" err="1">
                <a:latin typeface="Comic Sans MS" pitchFamily="66" charset="0"/>
                <a:ea typeface="宋体" pitchFamily="2" charset="-122"/>
              </a:rPr>
              <a:t>account_branch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 = (</a:t>
            </a:r>
            <a:r>
              <a:rPr lang="en-US" altLang="zh-CN" sz="1100" i="1" u="sng" kern="0" dirty="0" err="1">
                <a:latin typeface="Comic Sans MS" pitchFamily="66" charset="0"/>
                <a:ea typeface="宋体" pitchFamily="2" charset="-122"/>
              </a:rPr>
              <a:t>account_number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, </a:t>
            </a:r>
            <a:r>
              <a:rPr lang="en-US" altLang="zh-CN" sz="1100" i="1" kern="0" dirty="0" err="1">
                <a:latin typeface="Comic Sans MS" pitchFamily="66" charset="0"/>
                <a:ea typeface="宋体" pitchFamily="2" charset="-122"/>
              </a:rPr>
              <a:t>branch_name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)</a:t>
            </a:r>
          </a:p>
          <a:p>
            <a:pPr indent="-180000">
              <a:spcBef>
                <a:spcPts val="0"/>
              </a:spcBef>
              <a:buFontTx/>
              <a:defRPr/>
            </a:pPr>
            <a:r>
              <a:rPr lang="en-US" altLang="zh-CN" sz="1100" i="1" kern="0" dirty="0" err="1">
                <a:latin typeface="Comic Sans MS" pitchFamily="66" charset="0"/>
                <a:ea typeface="宋体" pitchFamily="2" charset="-122"/>
              </a:rPr>
              <a:t>loan_branch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 = (</a:t>
            </a:r>
            <a:r>
              <a:rPr lang="en-US" altLang="zh-CN" sz="1100" i="1" u="sng" kern="0" dirty="0" err="1">
                <a:latin typeface="Comic Sans MS" pitchFamily="66" charset="0"/>
                <a:ea typeface="宋体" pitchFamily="2" charset="-122"/>
              </a:rPr>
              <a:t>loan_number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, </a:t>
            </a:r>
            <a:r>
              <a:rPr lang="en-US" altLang="zh-CN" sz="1100" i="1" kern="0" dirty="0" err="1">
                <a:latin typeface="Comic Sans MS" pitchFamily="66" charset="0"/>
                <a:ea typeface="宋体" pitchFamily="2" charset="-122"/>
              </a:rPr>
              <a:t>branch_name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)</a:t>
            </a:r>
          </a:p>
          <a:p>
            <a:pPr indent="-180000">
              <a:spcBef>
                <a:spcPts val="0"/>
              </a:spcBef>
              <a:buFontTx/>
              <a:defRPr/>
            </a:pPr>
            <a:r>
              <a:rPr lang="en-US" altLang="zh-CN" sz="1100" i="1" kern="0" dirty="0">
                <a:latin typeface="Comic Sans MS" pitchFamily="66" charset="0"/>
                <a:ea typeface="宋体" pitchFamily="2" charset="-122"/>
              </a:rPr>
              <a:t>borrower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 = (</a:t>
            </a:r>
            <a:r>
              <a:rPr lang="en-US" altLang="zh-CN" sz="1100" i="1" u="sng" kern="0" dirty="0" err="1">
                <a:latin typeface="Comic Sans MS" pitchFamily="66" charset="0"/>
                <a:ea typeface="宋体" pitchFamily="2" charset="-122"/>
              </a:rPr>
              <a:t>customer_id</a:t>
            </a:r>
            <a:r>
              <a:rPr lang="en-US" altLang="zh-CN" sz="1100" u="sng" kern="0" dirty="0">
                <a:latin typeface="Comic Sans MS" pitchFamily="66" charset="0"/>
                <a:ea typeface="宋体" pitchFamily="2" charset="-122"/>
              </a:rPr>
              <a:t>, </a:t>
            </a:r>
            <a:r>
              <a:rPr lang="en-US" altLang="zh-CN" sz="1100" i="1" u="sng" kern="0" dirty="0" err="1">
                <a:latin typeface="Comic Sans MS" pitchFamily="66" charset="0"/>
                <a:ea typeface="宋体" pitchFamily="2" charset="-122"/>
              </a:rPr>
              <a:t>loan_number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)</a:t>
            </a:r>
          </a:p>
          <a:p>
            <a:pPr indent="-180000">
              <a:spcBef>
                <a:spcPts val="0"/>
              </a:spcBef>
              <a:buFontTx/>
              <a:defRPr/>
            </a:pPr>
            <a:r>
              <a:rPr lang="en-US" altLang="zh-CN" sz="1100" i="1" kern="0" dirty="0">
                <a:latin typeface="Comic Sans MS" pitchFamily="66" charset="0"/>
                <a:ea typeface="宋体" pitchFamily="2" charset="-122"/>
              </a:rPr>
              <a:t>depositor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 = (</a:t>
            </a:r>
            <a:r>
              <a:rPr lang="en-US" altLang="zh-CN" sz="1100" i="1" u="sng" kern="0" dirty="0" err="1">
                <a:latin typeface="Comic Sans MS" pitchFamily="66" charset="0"/>
                <a:ea typeface="宋体" pitchFamily="2" charset="-122"/>
              </a:rPr>
              <a:t>customer_id</a:t>
            </a:r>
            <a:r>
              <a:rPr lang="en-US" altLang="zh-CN" sz="1100" u="sng" kern="0" dirty="0">
                <a:latin typeface="Comic Sans MS" pitchFamily="66" charset="0"/>
                <a:ea typeface="宋体" pitchFamily="2" charset="-122"/>
              </a:rPr>
              <a:t>, </a:t>
            </a:r>
            <a:r>
              <a:rPr lang="en-US" altLang="zh-CN" sz="1100" i="1" u="sng" kern="0" dirty="0" err="1">
                <a:latin typeface="Comic Sans MS" pitchFamily="66" charset="0"/>
                <a:ea typeface="宋体" pitchFamily="2" charset="-122"/>
              </a:rPr>
              <a:t>account_number</a:t>
            </a:r>
            <a:r>
              <a:rPr lang="en-US" altLang="zh-CN" sz="1100" i="1" kern="0" dirty="0">
                <a:latin typeface="Comic Sans MS" pitchFamily="66" charset="0"/>
                <a:ea typeface="宋体" pitchFamily="2" charset="-122"/>
              </a:rPr>
              <a:t>, </a:t>
            </a:r>
            <a:r>
              <a:rPr lang="en-US" altLang="zh-CN" sz="1100" i="1" kern="0" dirty="0" err="1">
                <a:latin typeface="Comic Sans MS" pitchFamily="66" charset="0"/>
                <a:ea typeface="宋体" pitchFamily="2" charset="-122"/>
              </a:rPr>
              <a:t>access_date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)</a:t>
            </a:r>
          </a:p>
          <a:p>
            <a:pPr indent="-180000">
              <a:spcBef>
                <a:spcPts val="0"/>
              </a:spcBef>
              <a:buFontTx/>
              <a:defRPr/>
            </a:pPr>
            <a:r>
              <a:rPr lang="en-US" altLang="zh-CN" sz="1100" i="1" kern="0" dirty="0" err="1">
                <a:latin typeface="Comic Sans MS" pitchFamily="66" charset="0"/>
                <a:ea typeface="宋体" pitchFamily="2" charset="-122"/>
              </a:rPr>
              <a:t>cust_banker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 = (</a:t>
            </a:r>
            <a:r>
              <a:rPr lang="en-US" altLang="zh-CN" sz="1100" i="1" u="sng" kern="0" dirty="0" err="1">
                <a:latin typeface="Comic Sans MS" pitchFamily="66" charset="0"/>
                <a:ea typeface="宋体" pitchFamily="2" charset="-122"/>
              </a:rPr>
              <a:t>customer_id</a:t>
            </a:r>
            <a:r>
              <a:rPr lang="en-US" altLang="zh-CN" sz="1100" u="sng" kern="0" dirty="0">
                <a:latin typeface="Comic Sans MS" pitchFamily="66" charset="0"/>
                <a:ea typeface="宋体" pitchFamily="2" charset="-122"/>
              </a:rPr>
              <a:t>, </a:t>
            </a:r>
            <a:r>
              <a:rPr lang="en-US" altLang="zh-CN" sz="1100" i="1" kern="0" dirty="0" err="1">
                <a:latin typeface="Comic Sans MS" pitchFamily="66" charset="0"/>
                <a:ea typeface="宋体" pitchFamily="2" charset="-122"/>
              </a:rPr>
              <a:t>employee_id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, </a:t>
            </a:r>
            <a:r>
              <a:rPr lang="en-US" altLang="zh-CN" sz="1100" i="1" kern="0" dirty="0">
                <a:latin typeface="Comic Sans MS" pitchFamily="66" charset="0"/>
                <a:ea typeface="宋体" pitchFamily="2" charset="-122"/>
              </a:rPr>
              <a:t>type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)</a:t>
            </a:r>
          </a:p>
          <a:p>
            <a:pPr indent="-180000">
              <a:spcBef>
                <a:spcPts val="0"/>
              </a:spcBef>
              <a:buFontTx/>
              <a:defRPr/>
            </a:pPr>
            <a:r>
              <a:rPr lang="en-US" altLang="zh-CN" sz="1100" i="1" kern="0" dirty="0" err="1">
                <a:latin typeface="Comic Sans MS" pitchFamily="66" charset="0"/>
                <a:ea typeface="宋体" pitchFamily="2" charset="-122"/>
              </a:rPr>
              <a:t>works_for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 = (</a:t>
            </a:r>
            <a:r>
              <a:rPr lang="en-US" altLang="zh-CN" sz="1100" i="1" u="sng" kern="0" dirty="0" err="1">
                <a:latin typeface="Comic Sans MS" pitchFamily="66" charset="0"/>
                <a:ea typeface="宋体" pitchFamily="2" charset="-122"/>
              </a:rPr>
              <a:t>worker_employee_id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, </a:t>
            </a:r>
            <a:r>
              <a:rPr lang="en-US" altLang="zh-CN" sz="1100" i="1" kern="0" dirty="0" err="1">
                <a:latin typeface="Comic Sans MS" pitchFamily="66" charset="0"/>
                <a:ea typeface="宋体" pitchFamily="2" charset="-122"/>
              </a:rPr>
              <a:t>manager_employee_id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)</a:t>
            </a:r>
          </a:p>
          <a:p>
            <a:pPr indent="-180000">
              <a:spcBef>
                <a:spcPts val="0"/>
              </a:spcBef>
              <a:buFontTx/>
              <a:defRPr/>
            </a:pPr>
            <a:endParaRPr lang="en-US" altLang="zh-CN" sz="1100" i="1" kern="0" dirty="0">
              <a:latin typeface="Comic Sans MS" pitchFamily="66" charset="0"/>
              <a:ea typeface="宋体" pitchFamily="2" charset="-122"/>
            </a:endParaRPr>
          </a:p>
          <a:p>
            <a:pPr indent="-180000">
              <a:spcBef>
                <a:spcPts val="0"/>
              </a:spcBef>
              <a:buFontTx/>
              <a:defRPr/>
            </a:pPr>
            <a:r>
              <a:rPr lang="en-US" altLang="zh-CN" sz="1100" i="1" kern="0" dirty="0">
                <a:latin typeface="Comic Sans MS" pitchFamily="66" charset="0"/>
                <a:ea typeface="宋体" pitchFamily="2" charset="-122"/>
              </a:rPr>
              <a:t>payment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 =(</a:t>
            </a:r>
            <a:r>
              <a:rPr lang="en-US" altLang="zh-CN" sz="1100" i="1" u="sng" kern="0" dirty="0" err="1">
                <a:latin typeface="Comic Sans MS" pitchFamily="66" charset="0"/>
                <a:ea typeface="宋体" pitchFamily="2" charset="-122"/>
              </a:rPr>
              <a:t>loan_number</a:t>
            </a:r>
            <a:r>
              <a:rPr lang="en-US" altLang="zh-CN" sz="1100" u="sng" kern="0" dirty="0" err="1">
                <a:latin typeface="Comic Sans MS" pitchFamily="66" charset="0"/>
                <a:ea typeface="宋体" pitchFamily="2" charset="-122"/>
              </a:rPr>
              <a:t>,</a:t>
            </a:r>
            <a:r>
              <a:rPr lang="en-US" altLang="zh-CN" sz="1100" i="1" u="sng" kern="0" dirty="0" err="1">
                <a:latin typeface="Comic Sans MS" pitchFamily="66" charset="0"/>
                <a:ea typeface="宋体" pitchFamily="2" charset="-122"/>
              </a:rPr>
              <a:t>payment_number</a:t>
            </a:r>
            <a:r>
              <a:rPr lang="en-US" altLang="zh-CN" sz="1100" kern="0" dirty="0" err="1">
                <a:latin typeface="Comic Sans MS" pitchFamily="66" charset="0"/>
                <a:ea typeface="宋体" pitchFamily="2" charset="-122"/>
              </a:rPr>
              <a:t>,</a:t>
            </a:r>
            <a:r>
              <a:rPr lang="en-US" altLang="zh-CN" sz="1100" i="1" kern="0" dirty="0" err="1">
                <a:latin typeface="Comic Sans MS" pitchFamily="66" charset="0"/>
                <a:ea typeface="宋体" pitchFamily="2" charset="-122"/>
              </a:rPr>
              <a:t>payment_date</a:t>
            </a:r>
            <a:r>
              <a:rPr lang="en-US" altLang="zh-CN" sz="1100" kern="0" dirty="0" err="1">
                <a:latin typeface="Comic Sans MS" pitchFamily="66" charset="0"/>
                <a:ea typeface="宋体" pitchFamily="2" charset="-122"/>
              </a:rPr>
              <a:t>,</a:t>
            </a:r>
            <a:r>
              <a:rPr lang="en-US" altLang="zh-CN" sz="1100" i="1" kern="0" dirty="0" err="1">
                <a:latin typeface="Comic Sans MS" pitchFamily="66" charset="0"/>
                <a:ea typeface="宋体" pitchFamily="2" charset="-122"/>
              </a:rPr>
              <a:t>payment_amount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)</a:t>
            </a:r>
          </a:p>
          <a:p>
            <a:pPr indent="-180000">
              <a:spcBef>
                <a:spcPts val="0"/>
              </a:spcBef>
              <a:buFontTx/>
              <a:defRPr/>
            </a:pPr>
            <a:endParaRPr lang="en-US" altLang="zh-CN" sz="1100" i="1" kern="0" dirty="0">
              <a:latin typeface="Comic Sans MS" pitchFamily="66" charset="0"/>
              <a:ea typeface="宋体" pitchFamily="2" charset="-122"/>
            </a:endParaRPr>
          </a:p>
          <a:p>
            <a:pPr indent="-180000">
              <a:spcBef>
                <a:spcPts val="0"/>
              </a:spcBef>
              <a:buFontTx/>
              <a:defRPr/>
            </a:pPr>
            <a:r>
              <a:rPr lang="en-US" altLang="zh-CN" sz="1100" i="1" kern="0" dirty="0" err="1">
                <a:latin typeface="Comic Sans MS" pitchFamily="66" charset="0"/>
                <a:ea typeface="宋体" pitchFamily="2" charset="-122"/>
              </a:rPr>
              <a:t>savings_account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 = (</a:t>
            </a:r>
            <a:r>
              <a:rPr lang="en-US" altLang="zh-CN" sz="1100" i="1" u="sng" kern="0" dirty="0" err="1">
                <a:latin typeface="Comic Sans MS" pitchFamily="66" charset="0"/>
                <a:ea typeface="宋体" pitchFamily="2" charset="-122"/>
              </a:rPr>
              <a:t>account_number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, </a:t>
            </a:r>
            <a:r>
              <a:rPr lang="en-US" altLang="zh-CN" sz="1100" i="1" kern="0" dirty="0" err="1">
                <a:latin typeface="Comic Sans MS" pitchFamily="66" charset="0"/>
                <a:ea typeface="宋体" pitchFamily="2" charset="-122"/>
              </a:rPr>
              <a:t>interest_rate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)</a:t>
            </a:r>
          </a:p>
          <a:p>
            <a:pPr indent="-180000">
              <a:spcBef>
                <a:spcPts val="0"/>
              </a:spcBef>
              <a:buFontTx/>
              <a:defRPr/>
            </a:pPr>
            <a:r>
              <a:rPr lang="en-US" altLang="zh-CN" sz="1100" i="1" kern="0" dirty="0" err="1">
                <a:latin typeface="Comic Sans MS" pitchFamily="66" charset="0"/>
                <a:ea typeface="宋体" pitchFamily="2" charset="-122"/>
              </a:rPr>
              <a:t>checking_account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 = (</a:t>
            </a:r>
            <a:r>
              <a:rPr lang="en-US" altLang="zh-CN" sz="1100" i="1" u="sng" kern="0" dirty="0" err="1">
                <a:latin typeface="Comic Sans MS" pitchFamily="66" charset="0"/>
                <a:ea typeface="宋体" pitchFamily="2" charset="-122"/>
              </a:rPr>
              <a:t>account_number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, </a:t>
            </a:r>
            <a:r>
              <a:rPr lang="en-US" altLang="zh-CN" sz="1100" i="1" kern="0" dirty="0" err="1">
                <a:latin typeface="Comic Sans MS" pitchFamily="66" charset="0"/>
                <a:ea typeface="宋体" pitchFamily="2" charset="-122"/>
              </a:rPr>
              <a:t>overdraft_amount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)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59EF12C-851F-4D40-BA27-D86CFF4F8AFD}"/>
              </a:ext>
            </a:extLst>
          </p:cNvPr>
          <p:cNvSpPr txBox="1"/>
          <p:nvPr/>
        </p:nvSpPr>
        <p:spPr>
          <a:xfrm>
            <a:off x="1187624" y="4731989"/>
            <a:ext cx="16561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</a:rPr>
              <a:t>E-R</a:t>
            </a:r>
            <a:r>
              <a:rPr lang="zh-CN" altLang="en-US" b="1" dirty="0">
                <a:latin typeface="Comic Sans MS" panose="030F0702030302020204" pitchFamily="66" charset="0"/>
                <a:ea typeface="微软雅黑" panose="020B0503020204020204" pitchFamily="34" charset="-122"/>
              </a:rPr>
              <a:t>图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F13E267-D62E-4289-B0D7-942635358100}"/>
              </a:ext>
            </a:extLst>
          </p:cNvPr>
          <p:cNvSpPr txBox="1"/>
          <p:nvPr/>
        </p:nvSpPr>
        <p:spPr>
          <a:xfrm>
            <a:off x="5724128" y="4731989"/>
            <a:ext cx="16561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关系模式</a:t>
            </a:r>
          </a:p>
        </p:txBody>
      </p:sp>
      <p:sp>
        <p:nvSpPr>
          <p:cNvPr id="3" name="箭头: 右 2">
            <a:extLst>
              <a:ext uri="{FF2B5EF4-FFF2-40B4-BE49-F238E27FC236}">
                <a16:creationId xmlns:a16="http://schemas.microsoft.com/office/drawing/2014/main" id="{36AD8984-0D90-4893-BE5C-50042680934B}"/>
              </a:ext>
            </a:extLst>
          </p:cNvPr>
          <p:cNvSpPr/>
          <p:nvPr/>
        </p:nvSpPr>
        <p:spPr>
          <a:xfrm>
            <a:off x="4644008" y="2417641"/>
            <a:ext cx="288032" cy="576064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0538310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FF2846-FA2A-4BAA-9362-7D602E41C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Outline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6F7556-C772-4881-AE79-DA30A2459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524" y="771550"/>
            <a:ext cx="8568952" cy="3805070"/>
          </a:xfrm>
        </p:spPr>
        <p:txBody>
          <a:bodyPr/>
          <a:lstStyle/>
          <a:p>
            <a:pPr>
              <a:spcBef>
                <a:spcPts val="800"/>
              </a:spcBef>
            </a:pPr>
            <a:r>
              <a:rPr lang="en-US" altLang="zh-CN" b="1" dirty="0">
                <a:solidFill>
                  <a:srgbClr val="C00000"/>
                </a:solidFill>
                <a:latin typeface="Comic Sans MS" panose="030F0702030302020204" pitchFamily="66" charset="0"/>
              </a:rPr>
              <a:t>Overview of the Design Process</a:t>
            </a:r>
          </a:p>
          <a:p>
            <a:pPr>
              <a:spcBef>
                <a:spcPts val="800"/>
              </a:spcBef>
            </a:pPr>
            <a:r>
              <a:rPr lang="en-US" altLang="zh-CN" dirty="0">
                <a:latin typeface="Comic Sans MS" panose="030F0702030302020204" pitchFamily="66" charset="0"/>
              </a:rPr>
              <a:t>Entity-Relationship Model (</a:t>
            </a:r>
            <a:r>
              <a:rPr lang="zh-CN" altLang="en-US" b="1" dirty="0">
                <a:latin typeface="Comic Sans MS" panose="030F0702030302020204" pitchFamily="66" charset="0"/>
              </a:rPr>
              <a:t>实体联系模型</a:t>
            </a:r>
            <a:r>
              <a:rPr lang="en-US" altLang="zh-CN" dirty="0">
                <a:latin typeface="Comic Sans MS" panose="030F0702030302020204" pitchFamily="66" charset="0"/>
              </a:rPr>
              <a:t>)</a:t>
            </a:r>
          </a:p>
          <a:p>
            <a:pPr>
              <a:spcBef>
                <a:spcPts val="800"/>
              </a:spcBef>
            </a:pPr>
            <a:r>
              <a:rPr lang="en-US" altLang="zh-CN" dirty="0">
                <a:latin typeface="Comic Sans MS" panose="030F0702030302020204" pitchFamily="66" charset="0"/>
              </a:rPr>
              <a:t>Constraints </a:t>
            </a:r>
          </a:p>
          <a:p>
            <a:pPr>
              <a:spcBef>
                <a:spcPts val="800"/>
              </a:spcBef>
            </a:pPr>
            <a:r>
              <a:rPr lang="en-US" altLang="zh-CN" dirty="0">
                <a:latin typeface="Comic Sans MS" panose="030F0702030302020204" pitchFamily="66" charset="0"/>
              </a:rPr>
              <a:t>Entity-Relationship Diagrams (</a:t>
            </a:r>
            <a:r>
              <a:rPr lang="zh-CN" altLang="en-US" b="1" dirty="0">
                <a:latin typeface="Comic Sans MS" panose="030F0702030302020204" pitchFamily="66" charset="0"/>
              </a:rPr>
              <a:t>实体联系图</a:t>
            </a:r>
            <a:r>
              <a:rPr lang="en-US" altLang="zh-CN" dirty="0">
                <a:latin typeface="Comic Sans MS" panose="030F0702030302020204" pitchFamily="66" charset="0"/>
              </a:rPr>
              <a:t>)</a:t>
            </a:r>
          </a:p>
          <a:p>
            <a:pPr>
              <a:spcBef>
                <a:spcPts val="800"/>
              </a:spcBef>
            </a:pPr>
            <a:r>
              <a:rPr lang="en-US" altLang="zh-CN" dirty="0">
                <a:latin typeface="Comic Sans MS" panose="030F0702030302020204" pitchFamily="66" charset="0"/>
              </a:rPr>
              <a:t>Reduction to Relation Schemas</a:t>
            </a:r>
          </a:p>
          <a:p>
            <a:pPr>
              <a:spcBef>
                <a:spcPts val="800"/>
              </a:spcBef>
            </a:pPr>
            <a:r>
              <a:rPr lang="en-US" altLang="zh-CN" dirty="0">
                <a:latin typeface="Comic Sans MS" panose="030F0702030302020204" pitchFamily="66" charset="0"/>
              </a:rPr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2440453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8D4972-D334-4097-B61B-1A6B01A8E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开发数据库应用的主要任务</a:t>
            </a: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56BAA3D5-CFCF-4416-8509-350B55ED278B}"/>
              </a:ext>
            </a:extLst>
          </p:cNvPr>
          <p:cNvSpPr/>
          <p:nvPr/>
        </p:nvSpPr>
        <p:spPr>
          <a:xfrm>
            <a:off x="3203848" y="1131590"/>
            <a:ext cx="2232248" cy="792088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用户需求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A98A6D68-A99E-4415-801C-162595FAC12C}"/>
              </a:ext>
            </a:extLst>
          </p:cNvPr>
          <p:cNvSpPr/>
          <p:nvPr/>
        </p:nvSpPr>
        <p:spPr>
          <a:xfrm>
            <a:off x="1115616" y="2565492"/>
            <a:ext cx="1728192" cy="576064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设计数据库模式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35BC1252-873D-4A93-89A6-E04A39E7ED42}"/>
              </a:ext>
            </a:extLst>
          </p:cNvPr>
          <p:cNvSpPr/>
          <p:nvPr/>
        </p:nvSpPr>
        <p:spPr>
          <a:xfrm>
            <a:off x="3455876" y="2565492"/>
            <a:ext cx="1728192" cy="576064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设计访问和更新数据的程序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5417785D-4D36-4000-AC18-8EA4FF49FD2F}"/>
              </a:ext>
            </a:extLst>
          </p:cNvPr>
          <p:cNvSpPr/>
          <p:nvPr/>
        </p:nvSpPr>
        <p:spPr>
          <a:xfrm>
            <a:off x="5796136" y="2565492"/>
            <a:ext cx="1728192" cy="576064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设计控制数据访问的安全模式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D1AB993-197B-43D6-A050-749F32E9BB0A}"/>
              </a:ext>
            </a:extLst>
          </p:cNvPr>
          <p:cNvSpPr txBox="1"/>
          <p:nvPr/>
        </p:nvSpPr>
        <p:spPr>
          <a:xfrm>
            <a:off x="1043608" y="3219822"/>
            <a:ext cx="1368152" cy="8248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8000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关系（表）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18000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关系的属性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18000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约束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0F6CA737-D686-401D-97F9-92106D4199B6}"/>
              </a:ext>
            </a:extLst>
          </p:cNvPr>
          <p:cNvCxnSpPr>
            <a:stCxn id="4" idx="3"/>
            <a:endCxn id="5" idx="0"/>
          </p:cNvCxnSpPr>
          <p:nvPr/>
        </p:nvCxnSpPr>
        <p:spPr>
          <a:xfrm flipH="1">
            <a:off x="1979712" y="1807679"/>
            <a:ext cx="1551041" cy="7578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BBE7E019-08D5-44B0-A0AF-BC6572465F43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>
            <a:off x="4319972" y="1923678"/>
            <a:ext cx="0" cy="6418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48B54646-A9F9-4445-BB8E-29F40DE4677C}"/>
              </a:ext>
            </a:extLst>
          </p:cNvPr>
          <p:cNvCxnSpPr>
            <a:cxnSpLocks/>
            <a:stCxn id="4" idx="5"/>
            <a:endCxn id="7" idx="0"/>
          </p:cNvCxnSpPr>
          <p:nvPr/>
        </p:nvCxnSpPr>
        <p:spPr>
          <a:xfrm>
            <a:off x="5109191" y="1807679"/>
            <a:ext cx="1551041" cy="7578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592227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A21E64-FEFF-4181-A0BF-0DE320841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65564"/>
            <a:ext cx="9144000" cy="637580"/>
          </a:xfrm>
        </p:spPr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Data Abstraction (</a:t>
            </a:r>
            <a:r>
              <a:rPr lang="zh-CN" altLang="en-US" dirty="0">
                <a:latin typeface="Comic Sans MS" panose="030F0702030302020204" pitchFamily="66" charset="0"/>
              </a:rPr>
              <a:t>数据抽象</a:t>
            </a:r>
            <a:r>
              <a:rPr lang="en-US" altLang="zh-CN" dirty="0">
                <a:latin typeface="Comic Sans MS" panose="030F0702030302020204" pitchFamily="66" charset="0"/>
              </a:rPr>
              <a:t>)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FA7FBBC-AAC9-4A5C-899D-1C901134EA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984" y="3625228"/>
            <a:ext cx="2051447" cy="562076"/>
          </a:xfrm>
          <a:prstGeom prst="roundRect">
            <a:avLst/>
          </a:prstGeom>
          <a:solidFill>
            <a:srgbClr val="0070C0"/>
          </a:solidFill>
          <a:ln w="25400" algn="ctr">
            <a:noFill/>
            <a:miter lim="800000"/>
            <a:headEnd/>
            <a:tailEnd/>
          </a:ln>
        </p:spPr>
        <p:txBody>
          <a:bodyPr wrap="none" anchor="ctr"/>
          <a:lstStyle>
            <a:lvl1pPr marL="342900" indent="-342900"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marL="257175" indent="-257175" algn="ctr" defTabSz="685800" eaLnBrk="0" fontAlgn="auto" hangingPunct="0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kumimoji="0" lang="en-US" altLang="zh-CN" sz="1350" b="1" kern="0" dirty="0">
                <a:solidFill>
                  <a:schemeClr val="bg1"/>
                </a:solidFill>
                <a:ea typeface="宋体" panose="02010600030101010101" pitchFamily="2" charset="-122"/>
              </a:rPr>
              <a:t>Data model supported </a:t>
            </a:r>
          </a:p>
          <a:p>
            <a:pPr marL="257175" indent="-257175" algn="ctr" defTabSz="685800" eaLnBrk="0" fontAlgn="auto" hangingPunct="0">
              <a:spcBef>
                <a:spcPct val="0"/>
              </a:spcBef>
              <a:spcAft>
                <a:spcPts val="0"/>
              </a:spcAft>
              <a:buClrTx/>
              <a:buSzTx/>
              <a:buNone/>
            </a:pPr>
            <a:r>
              <a:rPr kumimoji="0" lang="en-US" altLang="zh-CN" sz="1350" b="1" kern="0" dirty="0">
                <a:solidFill>
                  <a:schemeClr val="bg1"/>
                </a:solidFill>
                <a:ea typeface="宋体" panose="02010600030101010101" pitchFamily="2" charset="-122"/>
              </a:rPr>
              <a:t>by DBMS</a:t>
            </a:r>
            <a:endParaRPr kumimoji="0" lang="zh-CN" altLang="en-US" sz="1350" b="1" kern="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BC69C86-78C8-42E3-A07A-00D86E50BB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9792" y="2839065"/>
            <a:ext cx="2051435" cy="449413"/>
          </a:xfrm>
          <a:prstGeom prst="roundRect">
            <a:avLst/>
          </a:prstGeom>
          <a:solidFill>
            <a:srgbClr val="0070C0"/>
          </a:solidFill>
          <a:ln w="25400" algn="ctr">
            <a:noFill/>
            <a:miter lim="800000"/>
            <a:headEnd/>
            <a:tailEnd/>
          </a:ln>
        </p:spPr>
        <p:txBody>
          <a:bodyPr wrap="none" anchor="ctr"/>
          <a:lstStyle>
            <a:lvl1pPr marL="342900" indent="-342900"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marL="257175" marR="0" lvl="0" indent="-257175" algn="ctr" defTabSz="68580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350" b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宋体" panose="02010600030101010101" pitchFamily="2" charset="-122"/>
              </a:rPr>
              <a:t>Conceptual </a:t>
            </a:r>
            <a:r>
              <a:rPr kumimoji="0" lang="en-US" altLang="zh-CN" sz="1350" b="1" kern="0" dirty="0">
                <a:solidFill>
                  <a:schemeClr val="bg1"/>
                </a:solidFill>
                <a:ea typeface="宋体" panose="02010600030101010101" pitchFamily="2" charset="-122"/>
              </a:rPr>
              <a:t>model</a:t>
            </a:r>
            <a:endParaRPr kumimoji="0" lang="zh-CN" altLang="en-US" sz="135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宋体" panose="02010600030101010101" pitchFamily="2" charset="-122"/>
            </a:endParaRPr>
          </a:p>
        </p:txBody>
      </p:sp>
      <p:sp>
        <p:nvSpPr>
          <p:cNvPr id="6" name="AutoShape 7">
            <a:extLst>
              <a:ext uri="{FF2B5EF4-FFF2-40B4-BE49-F238E27FC236}">
                <a16:creationId xmlns:a16="http://schemas.microsoft.com/office/drawing/2014/main" id="{4D9D99A7-49A5-4662-922F-35929D6888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2144" y="1995951"/>
            <a:ext cx="685800" cy="617788"/>
          </a:xfrm>
          <a:prstGeom prst="smileyFace">
            <a:avLst>
              <a:gd name="adj" fmla="val 4653"/>
            </a:avLst>
          </a:prstGeom>
          <a:gradFill rotWithShape="0">
            <a:gsLst>
              <a:gs pos="0">
                <a:srgbClr val="FFFFFF"/>
              </a:gs>
              <a:gs pos="100000">
                <a:srgbClr val="BBBBBB"/>
              </a:gs>
            </a:gsLst>
            <a:lin ang="5400000" scaled="1"/>
          </a:gradFill>
          <a:ln w="254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marL="0" marR="0" lvl="0" indent="0" defTabSz="68580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zh-CN" altLang="en-US" sz="1350" b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</a:endParaRPr>
          </a:p>
        </p:txBody>
      </p:sp>
      <p:sp>
        <p:nvSpPr>
          <p:cNvPr id="7" name="AutoShape 8">
            <a:extLst>
              <a:ext uri="{FF2B5EF4-FFF2-40B4-BE49-F238E27FC236}">
                <a16:creationId xmlns:a16="http://schemas.microsoft.com/office/drawing/2014/main" id="{8D95A45C-A701-4B59-8104-7467A68A3C54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644527" y="1659201"/>
            <a:ext cx="1635501" cy="516268"/>
          </a:xfrm>
          <a:prstGeom prst="wedgeEllipseCallout">
            <a:avLst>
              <a:gd name="adj1" fmla="val 78116"/>
              <a:gd name="adj2" fmla="val 54551"/>
            </a:avLst>
          </a:prstGeom>
          <a:gradFill rotWithShape="0">
            <a:gsLst>
              <a:gs pos="0">
                <a:srgbClr val="FFFFFF"/>
              </a:gs>
              <a:gs pos="100000">
                <a:srgbClr val="BBBBBB"/>
              </a:gs>
            </a:gsLst>
            <a:lin ang="5400000" scaled="1"/>
          </a:gradFill>
          <a:ln w="25400" algn="ctr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marL="342900" indent="-342900"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marL="257175" marR="0" lvl="0" indent="-257175" defTabSz="68580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350" b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</a:rPr>
              <a:t>Abstraction</a:t>
            </a:r>
            <a:endParaRPr kumimoji="0" lang="zh-CN" altLang="en-US" sz="1350" b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</a:endParaRP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EE5042AA-1D49-4EAB-B707-86CD178E17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2907158"/>
            <a:ext cx="1685925" cy="299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marL="257175" marR="0" lvl="0" indent="-257175" defTabSz="68580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350" b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华文中宋" panose="02010600040101010101" pitchFamily="2" charset="-122"/>
              </a:rPr>
              <a:t>Information world</a:t>
            </a:r>
            <a:endParaRPr kumimoji="0" lang="zh-CN" altLang="en-US" sz="1350" b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华文中宋" panose="02010600040101010101" pitchFamily="2" charset="-122"/>
            </a:endParaRPr>
          </a:p>
        </p:txBody>
      </p:sp>
      <p:sp>
        <p:nvSpPr>
          <p:cNvPr id="9" name="Text Box 10">
            <a:extLst>
              <a:ext uri="{FF2B5EF4-FFF2-40B4-BE49-F238E27FC236}">
                <a16:creationId xmlns:a16="http://schemas.microsoft.com/office/drawing/2014/main" id="{04477F04-4882-4541-9935-7ACE674A78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3790999"/>
            <a:ext cx="137409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marL="257175" marR="0" lvl="0" indent="-257175" defTabSz="68580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350" b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华文中宋" panose="02010600040101010101" pitchFamily="2" charset="-122"/>
              </a:rPr>
              <a:t>Machine world</a:t>
            </a:r>
            <a:endParaRPr kumimoji="0" lang="zh-CN" altLang="en-US" sz="1350" b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华文中宋" panose="02010600040101010101" pitchFamily="2" charset="-122"/>
            </a:endParaRPr>
          </a:p>
        </p:txBody>
      </p:sp>
      <p:sp>
        <p:nvSpPr>
          <p:cNvPr id="10" name="Cloud">
            <a:extLst>
              <a:ext uri="{FF2B5EF4-FFF2-40B4-BE49-F238E27FC236}">
                <a16:creationId xmlns:a16="http://schemas.microsoft.com/office/drawing/2014/main" id="{CBB33909-E0F9-4F60-86BC-D60C1EE293E9}"/>
              </a:ext>
            </a:extLst>
          </p:cNvPr>
          <p:cNvSpPr>
            <a:spLocks noChangeAspect="1" noEditPoints="1" noChangeArrowheads="1"/>
          </p:cNvSpPr>
          <p:nvPr/>
        </p:nvSpPr>
        <p:spPr bwMode="auto">
          <a:xfrm>
            <a:off x="2860973" y="1203598"/>
            <a:ext cx="1782366" cy="553409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972 w 21600"/>
              <a:gd name="T13" fmla="*/ 3286 h 21600"/>
              <a:gd name="T14" fmla="*/ 17084 w 21600"/>
              <a:gd name="T15" fmla="*/ 1734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0" y="8613"/>
                  <a:pt x="0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5" y="13940"/>
                  <a:pt x="475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300"/>
                  <a:pt x="6247" y="20300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7"/>
                  <a:pt x="11036" y="21597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7"/>
                  <a:pt x="15802" y="18947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0"/>
                  <a:pt x="16758" y="0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0"/>
                  <a:pt x="13174" y="0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50"/>
                  <a:pt x="9358" y="650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2"/>
                  <a:pt x="5288" y="1972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lnTo>
                  <a:pt x="1949" y="7180"/>
                </a:ln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10"/>
                  <a:pt x="2172" y="13110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chemeClr val="accent6">
              <a:lumMod val="75000"/>
            </a:schemeClr>
          </a:soli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anchor="ctr"/>
          <a:lstStyle>
            <a:lvl1pPr marL="342900" indent="-342900"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marL="257175" marR="0" lvl="0" indent="-257175" algn="ctr" defTabSz="68580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1350" b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宋体" panose="02010600030101010101" pitchFamily="2" charset="-122"/>
              </a:rPr>
              <a:t>Real Word </a:t>
            </a:r>
            <a:endParaRPr kumimoji="0" lang="zh-CN" altLang="en-US" sz="135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宋体" panose="02010600030101010101" pitchFamily="2" charset="-122"/>
            </a:endParaRPr>
          </a:p>
        </p:txBody>
      </p:sp>
      <p:sp>
        <p:nvSpPr>
          <p:cNvPr id="11" name="Line 13">
            <a:extLst>
              <a:ext uri="{FF2B5EF4-FFF2-40B4-BE49-F238E27FC236}">
                <a16:creationId xmlns:a16="http://schemas.microsoft.com/office/drawing/2014/main" id="{BAD17C12-9D19-49DB-A828-E0A34F666815}"/>
              </a:ext>
            </a:extLst>
          </p:cNvPr>
          <p:cNvSpPr>
            <a:spLocks noChangeShapeType="1"/>
          </p:cNvSpPr>
          <p:nvPr/>
        </p:nvSpPr>
        <p:spPr bwMode="auto">
          <a:xfrm>
            <a:off x="3726557" y="1771864"/>
            <a:ext cx="0" cy="224087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68580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12" name="Line 14">
            <a:extLst>
              <a:ext uri="{FF2B5EF4-FFF2-40B4-BE49-F238E27FC236}">
                <a16:creationId xmlns:a16="http://schemas.microsoft.com/office/drawing/2014/main" id="{10FD99C8-8FC3-43C6-A824-14246383C2D4}"/>
              </a:ext>
            </a:extLst>
          </p:cNvPr>
          <p:cNvSpPr>
            <a:spLocks noChangeShapeType="1"/>
          </p:cNvSpPr>
          <p:nvPr/>
        </p:nvSpPr>
        <p:spPr bwMode="auto">
          <a:xfrm>
            <a:off x="3726557" y="2613740"/>
            <a:ext cx="0" cy="224087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68580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13" name="Line 15">
            <a:extLst>
              <a:ext uri="{FF2B5EF4-FFF2-40B4-BE49-F238E27FC236}">
                <a16:creationId xmlns:a16="http://schemas.microsoft.com/office/drawing/2014/main" id="{426FA64C-23C4-49BF-B985-C048DE2EBB3D}"/>
              </a:ext>
            </a:extLst>
          </p:cNvPr>
          <p:cNvSpPr>
            <a:spLocks noChangeShapeType="1"/>
          </p:cNvSpPr>
          <p:nvPr/>
        </p:nvSpPr>
        <p:spPr bwMode="auto">
          <a:xfrm>
            <a:off x="3726557" y="3288478"/>
            <a:ext cx="0" cy="33675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68580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grpSp>
        <p:nvGrpSpPr>
          <p:cNvPr id="14" name="Group 16">
            <a:extLst>
              <a:ext uri="{FF2B5EF4-FFF2-40B4-BE49-F238E27FC236}">
                <a16:creationId xmlns:a16="http://schemas.microsoft.com/office/drawing/2014/main" id="{0662C326-4D5D-4FDA-A4C7-117F1EBCFE03}"/>
              </a:ext>
            </a:extLst>
          </p:cNvPr>
          <p:cNvGrpSpPr>
            <a:grpSpLocks/>
          </p:cNvGrpSpPr>
          <p:nvPr/>
        </p:nvGrpSpPr>
        <p:grpSpPr bwMode="auto">
          <a:xfrm>
            <a:off x="5273653" y="2561917"/>
            <a:ext cx="2898747" cy="461794"/>
            <a:chOff x="3407" y="2568"/>
            <a:chExt cx="2480" cy="373"/>
          </a:xfrm>
        </p:grpSpPr>
        <p:sp>
          <p:nvSpPr>
            <p:cNvPr id="15" name="Text Box 17">
              <a:extLst>
                <a:ext uri="{FF2B5EF4-FFF2-40B4-BE49-F238E27FC236}">
                  <a16:creationId xmlns:a16="http://schemas.microsoft.com/office/drawing/2014/main" id="{3E42491E-3A20-41BB-B3BA-A11F373F10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7" y="2568"/>
              <a:ext cx="2480" cy="373"/>
            </a:xfrm>
            <a:prstGeom prst="rect">
              <a:avLst/>
            </a:prstGeom>
            <a:noFill/>
            <a:ln w="25400" algn="ctr">
              <a:solidFill>
                <a:srgbClr val="FF99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35000"/>
                </a:spcBef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  <a:defRPr kumimoji="1"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35000"/>
                </a:spcBef>
                <a:buClr>
                  <a:srgbClr val="0000FF"/>
                </a:buClr>
                <a:buSzPct val="8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FFFF00"/>
                </a:buClr>
                <a:buSzPct val="8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35000"/>
                </a:spcBef>
                <a:buClr>
                  <a:srgbClr val="00CC00"/>
                </a:buClr>
                <a:buSzPct val="80000"/>
                <a:buFont typeface="Times New Roman" panose="02020603050405020304" pitchFamily="18" charset="0"/>
                <a:buChar char="•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35000"/>
                </a:spcBef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marL="257175" marR="0" lvl="0" indent="-257175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200" b="1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ea typeface="华文中宋" panose="02010600040101010101" pitchFamily="2" charset="-122"/>
                </a:rPr>
                <a:t>Real world       </a:t>
              </a:r>
              <a:r>
                <a:rPr kumimoji="0" lang="zh-CN" altLang="en-US" sz="1200" b="1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ea typeface="华文中宋" panose="02010600040101010101" pitchFamily="2" charset="-122"/>
                </a:rPr>
                <a:t> </a:t>
              </a:r>
              <a:r>
                <a:rPr kumimoji="0" lang="en-US" altLang="zh-CN" sz="1200" b="1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ea typeface="华文中宋" panose="02010600040101010101" pitchFamily="2" charset="-122"/>
                </a:rPr>
                <a:t>Conceptual model</a:t>
              </a:r>
              <a:endParaRPr kumimoji="0" lang="zh-CN" altLang="en-US" sz="1200" b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华文中宋" panose="02010600040101010101" pitchFamily="2" charset="-122"/>
              </a:endParaRPr>
            </a:p>
            <a:p>
              <a:pPr marL="257175" marR="0" lvl="0" indent="-257175" algn="ctr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200" b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华文中宋" panose="02010600040101010101" pitchFamily="2" charset="-122"/>
                </a:rPr>
                <a:t>Database Designers</a:t>
              </a:r>
              <a:endParaRPr kumimoji="0" lang="zh-CN" altLang="en-US" sz="1200" b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华文中宋" panose="02010600040101010101" pitchFamily="2" charset="-122"/>
              </a:endParaRPr>
            </a:p>
          </p:txBody>
        </p:sp>
        <p:sp>
          <p:nvSpPr>
            <p:cNvPr id="16" name="AutoShape 18">
              <a:extLst>
                <a:ext uri="{FF2B5EF4-FFF2-40B4-BE49-F238E27FC236}">
                  <a16:creationId xmlns:a16="http://schemas.microsoft.com/office/drawing/2014/main" id="{569DA184-C18B-4C70-B5CF-B28FA7A85C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8" y="2631"/>
              <a:ext cx="181" cy="90"/>
            </a:xfrm>
            <a:prstGeom prst="rightArrow">
              <a:avLst>
                <a:gd name="adj1" fmla="val 50000"/>
                <a:gd name="adj2" fmla="val 50278"/>
              </a:avLst>
            </a:prstGeom>
            <a:gradFill rotWithShape="0">
              <a:gsLst>
                <a:gs pos="0">
                  <a:srgbClr val="FFFFFF"/>
                </a:gs>
                <a:gs pos="100000">
                  <a:srgbClr val="BBBBBB"/>
                </a:gs>
              </a:gsLst>
              <a:lin ang="5400000" scaled="1"/>
            </a:gradFill>
            <a:ln w="25400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  <a:defRPr kumimoji="1"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35000"/>
                </a:spcBef>
                <a:buClr>
                  <a:srgbClr val="0000FF"/>
                </a:buClr>
                <a:buSzPct val="8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FFFF00"/>
                </a:buClr>
                <a:buSzPct val="8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35000"/>
                </a:spcBef>
                <a:buClr>
                  <a:srgbClr val="00CC00"/>
                </a:buClr>
                <a:buSzPct val="80000"/>
                <a:buFont typeface="Times New Roman" panose="02020603050405020304" pitchFamily="18" charset="0"/>
                <a:buChar char="•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35000"/>
                </a:spcBef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zh-CN" altLang="en-US" sz="1350" b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</p:grpSp>
      <p:grpSp>
        <p:nvGrpSpPr>
          <p:cNvPr id="17" name="Group 19">
            <a:extLst>
              <a:ext uri="{FF2B5EF4-FFF2-40B4-BE49-F238E27FC236}">
                <a16:creationId xmlns:a16="http://schemas.microsoft.com/office/drawing/2014/main" id="{AF51361F-224B-436D-9B19-862B0E7A4519}"/>
              </a:ext>
            </a:extLst>
          </p:cNvPr>
          <p:cNvGrpSpPr>
            <a:grpSpLocks/>
          </p:cNvGrpSpPr>
          <p:nvPr/>
        </p:nvGrpSpPr>
        <p:grpSpPr bwMode="auto">
          <a:xfrm>
            <a:off x="5284370" y="3910156"/>
            <a:ext cx="2887992" cy="461794"/>
            <a:chOff x="3552" y="3203"/>
            <a:chExt cx="2213" cy="373"/>
          </a:xfrm>
        </p:grpSpPr>
        <p:sp>
          <p:nvSpPr>
            <p:cNvPr id="18" name="Text Box 20">
              <a:extLst>
                <a:ext uri="{FF2B5EF4-FFF2-40B4-BE49-F238E27FC236}">
                  <a16:creationId xmlns:a16="http://schemas.microsoft.com/office/drawing/2014/main" id="{9D52E93B-4230-4AE9-8150-65F5B9DE0E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3203"/>
              <a:ext cx="2213" cy="373"/>
            </a:xfrm>
            <a:prstGeom prst="rect">
              <a:avLst/>
            </a:prstGeom>
            <a:noFill/>
            <a:ln w="25400" algn="ctr">
              <a:solidFill>
                <a:srgbClr val="FF99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35000"/>
                </a:spcBef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  <a:defRPr kumimoji="1"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35000"/>
                </a:spcBef>
                <a:buClr>
                  <a:srgbClr val="0000FF"/>
                </a:buClr>
                <a:buSzPct val="8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FFFF00"/>
                </a:buClr>
                <a:buSzPct val="8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35000"/>
                </a:spcBef>
                <a:buClr>
                  <a:srgbClr val="00CC00"/>
                </a:buClr>
                <a:buSzPct val="80000"/>
                <a:buFont typeface="Times New Roman" panose="02020603050405020304" pitchFamily="18" charset="0"/>
                <a:buChar char="•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35000"/>
                </a:spcBef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marL="257175" marR="0" lvl="0" indent="-257175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200" b="1" u="none" strike="noStrike" kern="0" cap="none" spc="0" normalizeH="0" baseline="0" noProof="0" dirty="0">
                  <a:ln>
                    <a:noFill/>
                  </a:ln>
                  <a:solidFill>
                    <a:srgbClr val="009900"/>
                  </a:solidFill>
                  <a:effectLst/>
                  <a:uLnTx/>
                  <a:uFillTx/>
                  <a:ea typeface="华文中宋" panose="02010600040101010101" pitchFamily="2" charset="-122"/>
                </a:rPr>
                <a:t>Logical</a:t>
              </a:r>
              <a:r>
                <a:rPr kumimoji="0" lang="zh-CN" altLang="en-US" sz="1200" b="1" u="none" strike="noStrike" kern="0" cap="none" spc="0" normalizeH="0" baseline="0" noProof="0" dirty="0">
                  <a:ln>
                    <a:noFill/>
                  </a:ln>
                  <a:solidFill>
                    <a:srgbClr val="009900"/>
                  </a:solidFill>
                  <a:effectLst/>
                  <a:uLnTx/>
                  <a:uFillTx/>
                  <a:ea typeface="华文中宋" panose="02010600040101010101" pitchFamily="2" charset="-122"/>
                </a:rPr>
                <a:t> </a:t>
              </a:r>
              <a:r>
                <a:rPr kumimoji="0" lang="en-US" altLang="zh-CN" sz="1200" b="1" u="none" strike="noStrike" kern="0" cap="none" spc="0" normalizeH="0" baseline="0" noProof="0" dirty="0">
                  <a:ln>
                    <a:noFill/>
                  </a:ln>
                  <a:solidFill>
                    <a:srgbClr val="009900"/>
                  </a:solidFill>
                  <a:effectLst/>
                  <a:uLnTx/>
                  <a:uFillTx/>
                  <a:ea typeface="华文中宋" panose="02010600040101010101" pitchFamily="2" charset="-122"/>
                </a:rPr>
                <a:t>model</a:t>
              </a:r>
              <a:r>
                <a:rPr kumimoji="0" lang="zh-CN" altLang="en-US" sz="1200" b="1" u="none" strike="noStrike" kern="0" cap="none" spc="0" normalizeH="0" baseline="0" noProof="0" dirty="0">
                  <a:ln>
                    <a:noFill/>
                  </a:ln>
                  <a:solidFill>
                    <a:srgbClr val="009900"/>
                  </a:solidFill>
                  <a:effectLst/>
                  <a:uLnTx/>
                  <a:uFillTx/>
                  <a:ea typeface="华文中宋" panose="02010600040101010101" pitchFamily="2" charset="-122"/>
                </a:rPr>
                <a:t>          </a:t>
              </a:r>
              <a:r>
                <a:rPr kumimoji="0" lang="en-US" altLang="zh-CN" sz="1200" b="1" u="none" strike="noStrike" kern="0" cap="none" spc="0" normalizeH="0" baseline="0" noProof="0" dirty="0">
                  <a:ln>
                    <a:noFill/>
                  </a:ln>
                  <a:solidFill>
                    <a:srgbClr val="009900"/>
                  </a:solidFill>
                  <a:effectLst/>
                  <a:uLnTx/>
                  <a:uFillTx/>
                  <a:ea typeface="华文中宋" panose="02010600040101010101" pitchFamily="2" charset="-122"/>
                </a:rPr>
                <a:t>Physical model</a:t>
              </a:r>
              <a:endParaRPr kumimoji="0" lang="zh-CN" altLang="en-US" sz="1200" b="1" u="none" strike="noStrike" kern="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ea typeface="华文中宋" panose="02010600040101010101" pitchFamily="2" charset="-122"/>
              </a:endParaRPr>
            </a:p>
            <a:p>
              <a:pPr marL="257175" marR="0" lvl="0" indent="-257175" algn="ctr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200" b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华文中宋" panose="02010600040101010101" pitchFamily="2" charset="-122"/>
                </a:rPr>
                <a:t>DBMS</a:t>
              </a:r>
              <a:endParaRPr kumimoji="0" lang="zh-CN" altLang="en-US" sz="1200" b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华文中宋" panose="02010600040101010101" pitchFamily="2" charset="-122"/>
              </a:endParaRPr>
            </a:p>
          </p:txBody>
        </p:sp>
        <p:sp>
          <p:nvSpPr>
            <p:cNvPr id="19" name="AutoShape 21">
              <a:extLst>
                <a:ext uri="{FF2B5EF4-FFF2-40B4-BE49-F238E27FC236}">
                  <a16:creationId xmlns:a16="http://schemas.microsoft.com/office/drawing/2014/main" id="{FE3187F7-7288-4CFA-B29F-EF02699675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0" y="3264"/>
              <a:ext cx="181" cy="90"/>
            </a:xfrm>
            <a:prstGeom prst="rightArrow">
              <a:avLst>
                <a:gd name="adj1" fmla="val 50000"/>
                <a:gd name="adj2" fmla="val 50278"/>
              </a:avLst>
            </a:prstGeom>
            <a:gradFill rotWithShape="0">
              <a:gsLst>
                <a:gs pos="0">
                  <a:srgbClr val="FFFFFF"/>
                </a:gs>
                <a:gs pos="100000">
                  <a:srgbClr val="BBBBBB"/>
                </a:gs>
              </a:gsLst>
              <a:lin ang="5400000" scaled="1"/>
            </a:gradFill>
            <a:ln w="25400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  <a:defRPr kumimoji="1"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35000"/>
                </a:spcBef>
                <a:buClr>
                  <a:srgbClr val="0000FF"/>
                </a:buClr>
                <a:buSzPct val="8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FFFF00"/>
                </a:buClr>
                <a:buSzPct val="8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35000"/>
                </a:spcBef>
                <a:buClr>
                  <a:srgbClr val="00CC00"/>
                </a:buClr>
                <a:buSzPct val="80000"/>
                <a:buFont typeface="Times New Roman" panose="02020603050405020304" pitchFamily="18" charset="0"/>
                <a:buChar char="•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35000"/>
                </a:spcBef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zh-CN" altLang="en-US" sz="1350" b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</p:grpSp>
      <p:grpSp>
        <p:nvGrpSpPr>
          <p:cNvPr id="20" name="Group 22">
            <a:extLst>
              <a:ext uri="{FF2B5EF4-FFF2-40B4-BE49-F238E27FC236}">
                <a16:creationId xmlns:a16="http://schemas.microsoft.com/office/drawing/2014/main" id="{F8A95904-98F0-40F1-B014-F80A5B5173A0}"/>
              </a:ext>
            </a:extLst>
          </p:cNvPr>
          <p:cNvGrpSpPr>
            <a:grpSpLocks/>
          </p:cNvGrpSpPr>
          <p:nvPr/>
        </p:nvGrpSpPr>
        <p:grpSpPr bwMode="auto">
          <a:xfrm>
            <a:off x="5273654" y="3203226"/>
            <a:ext cx="2898708" cy="461793"/>
            <a:chOff x="3414" y="2536"/>
            <a:chExt cx="2667" cy="373"/>
          </a:xfrm>
        </p:grpSpPr>
        <p:sp>
          <p:nvSpPr>
            <p:cNvPr id="21" name="Text Box 23">
              <a:extLst>
                <a:ext uri="{FF2B5EF4-FFF2-40B4-BE49-F238E27FC236}">
                  <a16:creationId xmlns:a16="http://schemas.microsoft.com/office/drawing/2014/main" id="{FF7D246D-A32E-4709-9EF3-7290FCBE36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4" y="2536"/>
              <a:ext cx="2667" cy="373"/>
            </a:xfrm>
            <a:prstGeom prst="rect">
              <a:avLst/>
            </a:prstGeom>
            <a:noFill/>
            <a:ln w="25400" algn="ctr">
              <a:solidFill>
                <a:srgbClr val="FF99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 marL="342900" indent="-342900">
                <a:spcBef>
                  <a:spcPct val="35000"/>
                </a:spcBef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  <a:defRPr kumimoji="1"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35000"/>
                </a:spcBef>
                <a:buClr>
                  <a:srgbClr val="0000FF"/>
                </a:buClr>
                <a:buSzPct val="8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FFFF00"/>
                </a:buClr>
                <a:buSzPct val="8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35000"/>
                </a:spcBef>
                <a:buClr>
                  <a:srgbClr val="00CC00"/>
                </a:buClr>
                <a:buSzPct val="80000"/>
                <a:buFont typeface="Times New Roman" panose="02020603050405020304" pitchFamily="18" charset="0"/>
                <a:buChar char="•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35000"/>
                </a:spcBef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marL="257175" marR="0" lvl="0" indent="-257175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200" b="1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ea typeface="华文中宋" panose="02010600040101010101" pitchFamily="2" charset="-122"/>
                </a:rPr>
                <a:t>Conceptual model</a:t>
              </a:r>
              <a:r>
                <a:rPr kumimoji="0" lang="zh-CN" altLang="en-US" sz="1200" b="1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ea typeface="华文中宋" panose="02010600040101010101" pitchFamily="2" charset="-122"/>
                </a:rPr>
                <a:t>       </a:t>
              </a:r>
              <a:r>
                <a:rPr kumimoji="0" lang="en-US" altLang="zh-CN" sz="1200" b="1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ea typeface="华文中宋" panose="02010600040101010101" pitchFamily="2" charset="-122"/>
                </a:rPr>
                <a:t>Logical model</a:t>
              </a:r>
              <a:endParaRPr kumimoji="0" lang="zh-CN" altLang="en-US" sz="1200" b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华文中宋" panose="02010600040101010101" pitchFamily="2" charset="-122"/>
              </a:endParaRPr>
            </a:p>
            <a:p>
              <a:pPr marL="257175" marR="0" lvl="0" indent="-257175" algn="ctr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200" b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华文中宋" panose="02010600040101010101" pitchFamily="2" charset="-122"/>
                </a:rPr>
                <a:t>Database Designers</a:t>
              </a:r>
              <a:endParaRPr kumimoji="0" lang="zh-CN" altLang="en-US" sz="1200" b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华文中宋" panose="02010600040101010101" pitchFamily="2" charset="-122"/>
              </a:endParaRPr>
            </a:p>
          </p:txBody>
        </p:sp>
        <p:sp>
          <p:nvSpPr>
            <p:cNvPr id="22" name="AutoShape 24">
              <a:extLst>
                <a:ext uri="{FF2B5EF4-FFF2-40B4-BE49-F238E27FC236}">
                  <a16:creationId xmlns:a16="http://schemas.microsoft.com/office/drawing/2014/main" id="{7C4C1D6A-9D94-4515-B98C-98BBA6BB12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4" y="2618"/>
              <a:ext cx="181" cy="90"/>
            </a:xfrm>
            <a:prstGeom prst="rightArrow">
              <a:avLst>
                <a:gd name="adj1" fmla="val 50000"/>
                <a:gd name="adj2" fmla="val 50278"/>
              </a:avLst>
            </a:prstGeom>
            <a:gradFill rotWithShape="0">
              <a:gsLst>
                <a:gs pos="0">
                  <a:srgbClr val="FFFFFF"/>
                </a:gs>
                <a:gs pos="100000">
                  <a:srgbClr val="BBBBBB"/>
                </a:gs>
              </a:gsLst>
              <a:lin ang="5400000" scaled="1"/>
            </a:gradFill>
            <a:ln w="25400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  <a:defRPr kumimoji="1"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35000"/>
                </a:spcBef>
                <a:buClr>
                  <a:srgbClr val="0000FF"/>
                </a:buClr>
                <a:buSzPct val="8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FFFF00"/>
                </a:buClr>
                <a:buSzPct val="8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35000"/>
                </a:spcBef>
                <a:buClr>
                  <a:srgbClr val="00CC00"/>
                </a:buClr>
                <a:buSzPct val="80000"/>
                <a:buFont typeface="Times New Roman" panose="02020603050405020304" pitchFamily="18" charset="0"/>
                <a:buChar char="•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35000"/>
                </a:spcBef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zh-CN" altLang="en-US" sz="1350" b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04487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ED7131-62CD-4C28-BF48-116EA7EE0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Database Design (</a:t>
            </a:r>
            <a:r>
              <a:rPr lang="zh-CN" altLang="en-US" dirty="0">
                <a:latin typeface="Comic Sans MS" panose="030F0702030302020204" pitchFamily="66" charset="0"/>
              </a:rPr>
              <a:t>数据库设计</a:t>
            </a:r>
            <a:r>
              <a:rPr lang="en-US" altLang="zh-CN" dirty="0">
                <a:latin typeface="Comic Sans MS" panose="030F0702030302020204" pitchFamily="66" charset="0"/>
              </a:rPr>
              <a:t>)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C8E7A5-91A0-435C-ABD3-682D5218D1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r>
              <a:rPr lang="en-US" altLang="zh-CN" sz="2000" b="1" dirty="0">
                <a:latin typeface="Comic Sans MS" panose="030F0702030302020204" pitchFamily="66" charset="0"/>
              </a:rPr>
              <a:t>Conceptual design(</a:t>
            </a:r>
            <a:r>
              <a:rPr lang="zh-CN" altLang="en-US" sz="2000" b="1" dirty="0">
                <a:latin typeface="Comic Sans MS" panose="030F0702030302020204" pitchFamily="66" charset="0"/>
              </a:rPr>
              <a:t>概念设计</a:t>
            </a:r>
            <a:r>
              <a:rPr lang="en-US" altLang="zh-CN" sz="2000" b="1" dirty="0">
                <a:latin typeface="Comic Sans MS" panose="030F0702030302020204" pitchFamily="66" charset="0"/>
              </a:rPr>
              <a:t>)</a:t>
            </a:r>
          </a:p>
          <a:p>
            <a:pPr lvl="1">
              <a:spcBef>
                <a:spcPts val="600"/>
              </a:spcBef>
            </a:pPr>
            <a:r>
              <a:rPr lang="en-US" altLang="zh-CN" sz="1800" dirty="0">
                <a:latin typeface="Comic Sans MS" panose="030F0702030302020204" pitchFamily="66" charset="0"/>
              </a:rPr>
              <a:t>Map a real world organization to a conceptual model</a:t>
            </a:r>
          </a:p>
          <a:p>
            <a:pPr>
              <a:spcBef>
                <a:spcPts val="600"/>
              </a:spcBef>
            </a:pPr>
            <a:r>
              <a:rPr lang="en-US" altLang="zh-CN" sz="2000" b="1" dirty="0">
                <a:latin typeface="Comic Sans MS" panose="030F0702030302020204" pitchFamily="66" charset="0"/>
              </a:rPr>
              <a:t>Logical design(</a:t>
            </a:r>
            <a:r>
              <a:rPr lang="zh-CN" altLang="en-US" sz="2000" b="1" dirty="0">
                <a:latin typeface="Comic Sans MS" panose="030F0702030302020204" pitchFamily="66" charset="0"/>
              </a:rPr>
              <a:t>逻辑设计</a:t>
            </a:r>
            <a:r>
              <a:rPr lang="en-US" altLang="zh-CN" sz="2000" b="1" dirty="0">
                <a:latin typeface="Comic Sans MS" panose="030F0702030302020204" pitchFamily="66" charset="0"/>
              </a:rPr>
              <a:t>)</a:t>
            </a:r>
          </a:p>
          <a:p>
            <a:pPr lvl="1">
              <a:spcBef>
                <a:spcPts val="600"/>
              </a:spcBef>
            </a:pPr>
            <a:r>
              <a:rPr lang="en-US" altLang="zh-CN" sz="1800" dirty="0">
                <a:latin typeface="Comic Sans MS" panose="030F0702030302020204" pitchFamily="66" charset="0"/>
              </a:rPr>
              <a:t>Transform the conceptual model to a logical model</a:t>
            </a:r>
          </a:p>
          <a:p>
            <a:pPr>
              <a:spcBef>
                <a:spcPts val="600"/>
              </a:spcBef>
            </a:pPr>
            <a:r>
              <a:rPr lang="en-US" altLang="zh-CN" sz="2000" b="1" dirty="0">
                <a:latin typeface="Comic Sans MS" panose="030F0702030302020204" pitchFamily="66" charset="0"/>
              </a:rPr>
              <a:t>Physical design(</a:t>
            </a:r>
            <a:r>
              <a:rPr lang="zh-CN" altLang="en-US" sz="2000" b="1" dirty="0">
                <a:latin typeface="Comic Sans MS" panose="030F0702030302020204" pitchFamily="66" charset="0"/>
              </a:rPr>
              <a:t>物理设计</a:t>
            </a:r>
            <a:r>
              <a:rPr lang="en-US" altLang="zh-CN" sz="2000" b="1" dirty="0">
                <a:latin typeface="Comic Sans MS" panose="030F0702030302020204" pitchFamily="66" charset="0"/>
              </a:rPr>
              <a:t>)</a:t>
            </a:r>
          </a:p>
          <a:p>
            <a:pPr lvl="1">
              <a:spcBef>
                <a:spcPts val="600"/>
              </a:spcBef>
            </a:pPr>
            <a:r>
              <a:rPr lang="en-US" altLang="zh-CN" sz="1800" dirty="0">
                <a:latin typeface="Comic Sans MS" panose="030F0702030302020204" pitchFamily="66" charset="0"/>
              </a:rPr>
              <a:t>Instantiate the logical model to physical organization and storage</a:t>
            </a:r>
          </a:p>
          <a:p>
            <a:pPr>
              <a:spcBef>
                <a:spcPts val="600"/>
              </a:spcBef>
            </a:pPr>
            <a:endParaRPr lang="zh-CN" altLang="en-US" sz="20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8045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F8B0B1-2458-42F7-9492-F0403F186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Database Design (Cont.)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C92A2B-8C6A-40E4-81F3-78F2B097EE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771550"/>
            <a:ext cx="8568952" cy="3823073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zh-CN" sz="1800" dirty="0">
                <a:latin typeface="Comic Sans MS" panose="030F0702030302020204" pitchFamily="66" charset="0"/>
              </a:rPr>
              <a:t>Understand the real-world domain being modeled</a:t>
            </a:r>
          </a:p>
          <a:p>
            <a:pPr>
              <a:spcBef>
                <a:spcPts val="600"/>
              </a:spcBef>
            </a:pPr>
            <a:r>
              <a:rPr lang="en-US" altLang="zh-CN" sz="1800" dirty="0">
                <a:latin typeface="Comic Sans MS" panose="030F0702030302020204" pitchFamily="66" charset="0"/>
              </a:rPr>
              <a:t>Specify it using a database design model</a:t>
            </a:r>
          </a:p>
          <a:p>
            <a:pPr lvl="1">
              <a:spcBef>
                <a:spcPts val="600"/>
              </a:spcBef>
            </a:pPr>
            <a:r>
              <a:rPr lang="en-US" altLang="zh-CN" sz="1600" dirty="0">
                <a:latin typeface="Comic Sans MS" panose="030F0702030302020204" pitchFamily="66" charset="0"/>
              </a:rPr>
              <a:t>Design models are especially convenient for schema design, but are not necessarily implemented by DBMS</a:t>
            </a:r>
          </a:p>
          <a:p>
            <a:pPr lvl="2">
              <a:spcBef>
                <a:spcPts val="600"/>
              </a:spcBef>
            </a:pPr>
            <a:r>
              <a:rPr lang="en-US" altLang="zh-CN" sz="1400" dirty="0">
                <a:latin typeface="Comic Sans MS" panose="030F0702030302020204" pitchFamily="66" charset="0"/>
              </a:rPr>
              <a:t>Entity-Relationship (E-R) model</a:t>
            </a:r>
          </a:p>
          <a:p>
            <a:pPr lvl="2">
              <a:spcBef>
                <a:spcPts val="600"/>
              </a:spcBef>
            </a:pPr>
            <a:r>
              <a:rPr lang="en-US" altLang="zh-CN" sz="1400" dirty="0">
                <a:latin typeface="Comic Sans MS" panose="030F0702030302020204" pitchFamily="66" charset="0"/>
              </a:rPr>
              <a:t>Object Definition Language (ODL)</a:t>
            </a:r>
          </a:p>
          <a:p>
            <a:pPr>
              <a:spcBef>
                <a:spcPts val="600"/>
              </a:spcBef>
            </a:pPr>
            <a:r>
              <a:rPr lang="en-US" altLang="zh-CN" sz="1800" dirty="0">
                <a:latin typeface="Comic Sans MS" panose="030F0702030302020204" pitchFamily="66" charset="0"/>
              </a:rPr>
              <a:t>Translate specification </a:t>
            </a:r>
            <a:r>
              <a:rPr lang="zh-CN" altLang="en-US" sz="1800" dirty="0">
                <a:latin typeface="Comic Sans MS" panose="030F0702030302020204" pitchFamily="66" charset="0"/>
              </a:rPr>
              <a:t>（规范）</a:t>
            </a:r>
            <a:r>
              <a:rPr lang="en-US" altLang="zh-CN" sz="1800" dirty="0">
                <a:latin typeface="Comic Sans MS" panose="030F0702030302020204" pitchFamily="66" charset="0"/>
              </a:rPr>
              <a:t> to the data model of DBMS</a:t>
            </a:r>
          </a:p>
          <a:p>
            <a:pPr lvl="1">
              <a:spcBef>
                <a:spcPts val="600"/>
              </a:spcBef>
            </a:pPr>
            <a:r>
              <a:rPr lang="en-US" altLang="zh-CN" sz="1600" dirty="0">
                <a:latin typeface="Comic Sans MS" panose="030F0702030302020204" pitchFamily="66" charset="0"/>
              </a:rPr>
              <a:t>Relational, XML, object-oriented, etc.</a:t>
            </a:r>
          </a:p>
          <a:p>
            <a:pPr>
              <a:spcBef>
                <a:spcPts val="600"/>
              </a:spcBef>
            </a:pPr>
            <a:r>
              <a:rPr lang="en-US" altLang="zh-CN" sz="1800" dirty="0">
                <a:latin typeface="Comic Sans MS" panose="030F0702030302020204" pitchFamily="66" charset="0"/>
              </a:rPr>
              <a:t>Create the DBMS schema</a:t>
            </a:r>
            <a:endParaRPr lang="zh-CN" altLang="en-US" sz="18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4730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FF2846-FA2A-4BAA-9362-7D602E41C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Outline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6F7556-C772-4881-AE79-DA30A2459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524" y="771550"/>
            <a:ext cx="8568952" cy="3805070"/>
          </a:xfrm>
        </p:spPr>
        <p:txBody>
          <a:bodyPr/>
          <a:lstStyle/>
          <a:p>
            <a:pPr>
              <a:spcBef>
                <a:spcPts val="800"/>
              </a:spcBef>
            </a:pPr>
            <a:r>
              <a:rPr lang="en-US" altLang="zh-CN" dirty="0">
                <a:latin typeface="Comic Sans MS" panose="030F0702030302020204" pitchFamily="66" charset="0"/>
              </a:rPr>
              <a:t>Overview of the Design Process</a:t>
            </a:r>
          </a:p>
          <a:p>
            <a:pPr>
              <a:spcBef>
                <a:spcPts val="800"/>
              </a:spcBef>
            </a:pPr>
            <a:r>
              <a:rPr lang="en-US" altLang="zh-CN" b="1" dirty="0">
                <a:solidFill>
                  <a:srgbClr val="C00000"/>
                </a:solidFill>
                <a:latin typeface="Comic Sans MS" panose="030F0702030302020204" pitchFamily="66" charset="0"/>
              </a:rPr>
              <a:t>Entity-Relationship Model (</a:t>
            </a:r>
            <a:r>
              <a:rPr lang="zh-CN" altLang="en-US" b="1" dirty="0">
                <a:solidFill>
                  <a:srgbClr val="C00000"/>
                </a:solidFill>
                <a:latin typeface="Comic Sans MS" panose="030F0702030302020204" pitchFamily="66" charset="0"/>
              </a:rPr>
              <a:t>实体联系模型</a:t>
            </a:r>
            <a:r>
              <a:rPr lang="en-US" altLang="zh-CN" b="1" dirty="0">
                <a:solidFill>
                  <a:srgbClr val="C00000"/>
                </a:solidFill>
                <a:latin typeface="Comic Sans MS" panose="030F0702030302020204" pitchFamily="66" charset="0"/>
              </a:rPr>
              <a:t>)</a:t>
            </a:r>
          </a:p>
          <a:p>
            <a:pPr>
              <a:spcBef>
                <a:spcPts val="800"/>
              </a:spcBef>
            </a:pPr>
            <a:r>
              <a:rPr lang="en-US" altLang="zh-CN" dirty="0">
                <a:latin typeface="Comic Sans MS" panose="030F0702030302020204" pitchFamily="66" charset="0"/>
              </a:rPr>
              <a:t>Constraints </a:t>
            </a:r>
          </a:p>
          <a:p>
            <a:pPr>
              <a:spcBef>
                <a:spcPts val="800"/>
              </a:spcBef>
            </a:pPr>
            <a:r>
              <a:rPr lang="en-US" altLang="zh-CN" dirty="0">
                <a:latin typeface="Comic Sans MS" panose="030F0702030302020204" pitchFamily="66" charset="0"/>
              </a:rPr>
              <a:t>Entity-Relationship Diagrams (</a:t>
            </a:r>
            <a:r>
              <a:rPr lang="zh-CN" altLang="en-US" b="1" dirty="0">
                <a:latin typeface="Comic Sans MS" panose="030F0702030302020204" pitchFamily="66" charset="0"/>
              </a:rPr>
              <a:t>实体联系图</a:t>
            </a:r>
            <a:r>
              <a:rPr lang="en-US" altLang="zh-CN" dirty="0">
                <a:latin typeface="Comic Sans MS" panose="030F0702030302020204" pitchFamily="66" charset="0"/>
              </a:rPr>
              <a:t>)</a:t>
            </a:r>
          </a:p>
          <a:p>
            <a:pPr>
              <a:spcBef>
                <a:spcPts val="800"/>
              </a:spcBef>
            </a:pPr>
            <a:r>
              <a:rPr lang="en-US" altLang="zh-CN" dirty="0">
                <a:latin typeface="Comic Sans MS" panose="030F0702030302020204" pitchFamily="66" charset="0"/>
              </a:rPr>
              <a:t>Reduction to Relation Schemas</a:t>
            </a:r>
          </a:p>
          <a:p>
            <a:pPr>
              <a:spcBef>
                <a:spcPts val="800"/>
              </a:spcBef>
            </a:pPr>
            <a:r>
              <a:rPr lang="en-US" altLang="zh-CN" dirty="0">
                <a:latin typeface="Comic Sans MS" panose="030F0702030302020204" pitchFamily="66" charset="0"/>
              </a:rPr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3995300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122912-B05A-4DB1-9641-78D06EB59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altLang="zh-CN" dirty="0">
                <a:latin typeface="Comic Sans MS" panose="030F0702030302020204" pitchFamily="66" charset="0"/>
              </a:rPr>
              <a:t>E-R Diagram for a Banking Enterprise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4DE707-1D97-4480-868F-94A1163ED6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13" t="874" r="14110" b="1357"/>
          <a:stretch>
            <a:fillRect/>
          </a:stretch>
        </p:blipFill>
        <p:spPr bwMode="auto">
          <a:xfrm>
            <a:off x="2051720" y="771550"/>
            <a:ext cx="5544616" cy="3990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39291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122912-B05A-4DB1-9641-78D06EB59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大学</a:t>
            </a:r>
            <a:r>
              <a:rPr lang="pt-BR" altLang="zh-CN" dirty="0"/>
              <a:t>E-R</a:t>
            </a:r>
            <a:r>
              <a:rPr lang="zh-CN" altLang="en-US" dirty="0"/>
              <a:t>图</a:t>
            </a:r>
            <a:endParaRPr lang="pt-BR" altLang="zh-CN" dirty="0"/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53CF68A6-0807-4EF6-9939-59698B33F70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2934"/>
          <a:stretch/>
        </p:blipFill>
        <p:spPr>
          <a:xfrm>
            <a:off x="1691680" y="641427"/>
            <a:ext cx="5040560" cy="4476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731386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06F4C4-5695-4E55-B48A-1EB7943A0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Database Conceptual Design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E4822-7A32-42F7-99B1-72A8E2D8CB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789553"/>
            <a:ext cx="8352928" cy="380507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zh-CN" sz="1800" b="1" dirty="0">
                <a:latin typeface="Comic Sans MS" panose="030F0702030302020204" pitchFamily="66" charset="0"/>
              </a:rPr>
              <a:t>Conceptual design  (ER Model is used at this stage) </a:t>
            </a:r>
          </a:p>
          <a:p>
            <a:pPr lvl="1">
              <a:spcBef>
                <a:spcPts val="600"/>
              </a:spcBef>
            </a:pPr>
            <a:r>
              <a:rPr lang="en-US" altLang="zh-CN" sz="1600" b="1" dirty="0">
                <a:solidFill>
                  <a:srgbClr val="C00000"/>
                </a:solidFill>
                <a:latin typeface="Comic Sans MS" panose="030F0702030302020204" pitchFamily="66" charset="0"/>
              </a:rPr>
              <a:t>What</a:t>
            </a:r>
            <a:r>
              <a:rPr lang="en-US" altLang="zh-CN" sz="1600" dirty="0">
                <a:latin typeface="Comic Sans MS" panose="030F0702030302020204" pitchFamily="66" charset="0"/>
              </a:rPr>
              <a:t> are the entities and relationships?</a:t>
            </a:r>
          </a:p>
          <a:p>
            <a:pPr lvl="1">
              <a:spcBef>
                <a:spcPts val="600"/>
              </a:spcBef>
            </a:pPr>
            <a:r>
              <a:rPr lang="en-US" altLang="zh-CN" sz="1600" b="1" dirty="0">
                <a:solidFill>
                  <a:srgbClr val="C00000"/>
                </a:solidFill>
                <a:latin typeface="Comic Sans MS" panose="030F0702030302020204" pitchFamily="66" charset="0"/>
              </a:rPr>
              <a:t>What</a:t>
            </a:r>
            <a:r>
              <a:rPr lang="en-US" altLang="zh-CN" sz="1600" dirty="0">
                <a:latin typeface="Comic Sans MS" panose="030F0702030302020204" pitchFamily="66" charset="0"/>
              </a:rPr>
              <a:t> information about these entities and relationships should be stored in the database?</a:t>
            </a:r>
          </a:p>
          <a:p>
            <a:pPr lvl="1">
              <a:spcBef>
                <a:spcPts val="600"/>
              </a:spcBef>
            </a:pPr>
            <a:r>
              <a:rPr lang="en-US" altLang="zh-CN" sz="1600" b="1" dirty="0">
                <a:solidFill>
                  <a:srgbClr val="C00000"/>
                </a:solidFill>
                <a:latin typeface="Comic Sans MS" panose="030F0702030302020204" pitchFamily="66" charset="0"/>
              </a:rPr>
              <a:t>What</a:t>
            </a:r>
            <a:r>
              <a:rPr lang="en-US" altLang="zh-CN" sz="1600" dirty="0">
                <a:latin typeface="Comic Sans MS" panose="030F0702030302020204" pitchFamily="66" charset="0"/>
              </a:rPr>
              <a:t> are the integrity constraints or business rules that should hold? </a:t>
            </a:r>
          </a:p>
          <a:p>
            <a:pPr lvl="1">
              <a:spcBef>
                <a:spcPts val="600"/>
              </a:spcBef>
            </a:pPr>
            <a:endParaRPr lang="en-US" altLang="zh-CN" sz="1600" dirty="0">
              <a:latin typeface="Comic Sans MS" panose="030F0702030302020204" pitchFamily="66" charset="0"/>
            </a:endParaRPr>
          </a:p>
          <a:p>
            <a:pPr lvl="1">
              <a:spcBef>
                <a:spcPts val="600"/>
              </a:spcBef>
            </a:pPr>
            <a:r>
              <a:rPr lang="en-US" altLang="zh-CN" sz="1600" dirty="0">
                <a:latin typeface="Comic Sans MS" panose="030F0702030302020204" pitchFamily="66" charset="0"/>
              </a:rPr>
              <a:t>A database ‘schema’ in the ER Model can be represented pictorially using </a:t>
            </a:r>
            <a:r>
              <a:rPr lang="en-US" altLang="zh-CN" sz="1600" b="1" dirty="0">
                <a:solidFill>
                  <a:srgbClr val="C00000"/>
                </a:solidFill>
                <a:latin typeface="Comic Sans MS" panose="030F0702030302020204" pitchFamily="66" charset="0"/>
              </a:rPr>
              <a:t>ER diagram</a:t>
            </a:r>
          </a:p>
          <a:p>
            <a:pPr lvl="1">
              <a:spcBef>
                <a:spcPts val="600"/>
              </a:spcBef>
            </a:pPr>
            <a:r>
              <a:rPr lang="en-US" altLang="zh-CN" sz="1600" dirty="0">
                <a:latin typeface="Comic Sans MS" panose="030F0702030302020204" pitchFamily="66" charset="0"/>
              </a:rPr>
              <a:t>An ER diagram can be then mapped into a relational schema</a:t>
            </a:r>
            <a:endParaRPr lang="zh-CN" altLang="en-US" sz="16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1259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F030C8-B945-4910-8680-7AA2DC5A5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ER Model: A General View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BE6FD8-1CE8-4211-A0E7-5A21F6A86C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800" dirty="0">
                <a:latin typeface="Comic Sans MS" panose="030F0702030302020204" pitchFamily="66" charset="0"/>
              </a:rPr>
              <a:t>A “watered-down” object-oriented design model</a:t>
            </a:r>
          </a:p>
          <a:p>
            <a:r>
              <a:rPr lang="en-US" altLang="zh-CN" sz="1800" dirty="0">
                <a:latin typeface="Comic Sans MS" panose="030F0702030302020204" pitchFamily="66" charset="0"/>
              </a:rPr>
              <a:t>Primarily a design model—not implemented by any major DBMS</a:t>
            </a:r>
          </a:p>
          <a:p>
            <a:r>
              <a:rPr lang="en-US" altLang="zh-CN" sz="1800" b="1" dirty="0">
                <a:solidFill>
                  <a:srgbClr val="C00000"/>
                </a:solidFill>
                <a:latin typeface="Comic Sans MS" panose="030F0702030302020204" pitchFamily="66" charset="0"/>
              </a:rPr>
              <a:t>Three concepts</a:t>
            </a:r>
          </a:p>
          <a:p>
            <a:pPr lvl="1"/>
            <a:r>
              <a:rPr lang="en-US" altLang="zh-CN" sz="1600" dirty="0">
                <a:solidFill>
                  <a:srgbClr val="C00000"/>
                </a:solidFill>
                <a:latin typeface="Comic Sans MS" panose="030F0702030302020204" pitchFamily="66" charset="0"/>
              </a:rPr>
              <a:t>Entity set</a:t>
            </a:r>
          </a:p>
          <a:p>
            <a:pPr lvl="1"/>
            <a:r>
              <a:rPr lang="en-US" altLang="zh-CN" sz="1600" dirty="0">
                <a:solidFill>
                  <a:srgbClr val="C00000"/>
                </a:solidFill>
                <a:latin typeface="Comic Sans MS" panose="030F0702030302020204" pitchFamily="66" charset="0"/>
              </a:rPr>
              <a:t>Attribute</a:t>
            </a:r>
          </a:p>
          <a:p>
            <a:pPr lvl="1"/>
            <a:r>
              <a:rPr lang="en-US" altLang="zh-CN" sz="1600" dirty="0">
                <a:solidFill>
                  <a:srgbClr val="C00000"/>
                </a:solidFill>
                <a:latin typeface="Comic Sans MS" panose="030F0702030302020204" pitchFamily="66" charset="0"/>
              </a:rPr>
              <a:t>Relationship set</a:t>
            </a:r>
          </a:p>
        </p:txBody>
      </p:sp>
    </p:spTree>
    <p:extLst>
      <p:ext uri="{BB962C8B-B14F-4D97-AF65-F5344CB8AC3E}">
        <p14:creationId xmlns:p14="http://schemas.microsoft.com/office/powerpoint/2010/main" val="3114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B3491F-513F-4AEE-8527-7DA3E3B8E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Peter Pin-Shan Chen</a:t>
            </a:r>
            <a:r>
              <a:rPr lang="zh-CN" altLang="en-US" dirty="0">
                <a:latin typeface="Comic Sans MS" panose="030F0702030302020204" pitchFamily="66" charset="0"/>
              </a:rPr>
              <a:t>（陈品山）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37FE55-2123-4836-A958-289747C7C3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9864" y="1437605"/>
            <a:ext cx="4970568" cy="1926233"/>
          </a:xfrm>
          <a:prstGeom prst="rect">
            <a:avLst/>
          </a:prstGeom>
          <a:noFill/>
          <a:ln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FontTx/>
            </a:pPr>
            <a:r>
              <a:rPr lang="en-US" altLang="zh-CN" sz="1500" kern="0" dirty="0">
                <a:latin typeface="Comic Sans MS" panose="030F0702030302020204" pitchFamily="66" charset="0"/>
                <a:ea typeface="宋体" panose="02010600030101010101" pitchFamily="2" charset="-122"/>
              </a:rPr>
              <a:t>Dr. Peter P. Chen is the originator of the Entity-Relationship Model (E-R Model), and the founder of ER international conference</a:t>
            </a:r>
          </a:p>
          <a:p>
            <a:pPr>
              <a:buFontTx/>
            </a:pPr>
            <a:r>
              <a:rPr lang="en-US" altLang="zh-CN" sz="1500" kern="0" dirty="0">
                <a:latin typeface="Comic Sans MS" panose="030F0702030302020204" pitchFamily="66" charset="0"/>
                <a:ea typeface="宋体" panose="02010600030101010101" pitchFamily="2" charset="-122"/>
              </a:rPr>
              <a:t>The E-R model serves as the foundation of many system analysis and design methodologies, computer-aided software engineering (CASE) tools, and repository systems </a:t>
            </a:r>
          </a:p>
        </p:txBody>
      </p:sp>
      <p:pic>
        <p:nvPicPr>
          <p:cNvPr id="5" name="Picture 4" descr="peterchen">
            <a:extLst>
              <a:ext uri="{FF2B5EF4-FFF2-40B4-BE49-F238E27FC236}">
                <a16:creationId xmlns:a16="http://schemas.microsoft.com/office/drawing/2014/main" id="{A67A50AE-DAF4-4FA1-91A3-38A41971E5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9466" y="1168003"/>
            <a:ext cx="1728788" cy="2376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57220DF-62BB-41C2-888E-05FE850973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5616" y="3795886"/>
            <a:ext cx="7372721" cy="507831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>
              <a:spcBef>
                <a:spcPct val="0"/>
              </a:spcBef>
              <a:buClrTx/>
              <a:buSzTx/>
              <a:buNone/>
            </a:pPr>
            <a:r>
              <a:rPr kumimoji="0" lang="en-US" altLang="zh-CN" sz="1350" b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Peter Chen</a:t>
            </a:r>
            <a:r>
              <a:rPr kumimoji="0" lang="en-US" altLang="zh-CN" sz="1350" b="1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1350" b="1" i="1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The Entity-Relationship Model--Toward a Unified View of Data </a:t>
            </a:r>
            <a:br>
              <a:rPr kumimoji="0" lang="en-US" altLang="zh-CN" sz="1350" b="1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kumimoji="0" lang="en-US" altLang="zh-CN" sz="1350" b="1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ACM Transactions on Database Systems, Vol. 1, No. 1, March 1976, Pages 9 - 36 </a:t>
            </a:r>
          </a:p>
        </p:txBody>
      </p:sp>
    </p:spTree>
    <p:extLst>
      <p:ext uri="{BB962C8B-B14F-4D97-AF65-F5344CB8AC3E}">
        <p14:creationId xmlns:p14="http://schemas.microsoft.com/office/powerpoint/2010/main" val="1617181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C1FDE0-2C7B-4018-A3A5-A76F8EA43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Entity Sets</a:t>
            </a:r>
            <a:r>
              <a:rPr lang="zh-CN" altLang="en-US" dirty="0">
                <a:latin typeface="Comic Sans MS" panose="030F0702030302020204" pitchFamily="66" charset="0"/>
              </a:rPr>
              <a:t>（实体集）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78E510-7AAE-416C-80F1-2D63062CC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669215"/>
            <a:ext cx="8856984" cy="3805070"/>
          </a:xfrm>
        </p:spPr>
        <p:txBody>
          <a:bodyPr/>
          <a:lstStyle/>
          <a:p>
            <a:r>
              <a:rPr lang="en-US" altLang="zh-CN" sz="1800" b="1" dirty="0">
                <a:latin typeface="Comic Sans MS" panose="030F0702030302020204" pitchFamily="66" charset="0"/>
              </a:rPr>
              <a:t>A database can be modeled as</a:t>
            </a:r>
          </a:p>
          <a:p>
            <a:pPr lvl="1"/>
            <a:r>
              <a:rPr lang="en-US" altLang="zh-CN" sz="1600" dirty="0">
                <a:latin typeface="Comic Sans MS" panose="030F0702030302020204" pitchFamily="66" charset="0"/>
              </a:rPr>
              <a:t>a collection of entities</a:t>
            </a:r>
          </a:p>
          <a:p>
            <a:pPr lvl="1"/>
            <a:r>
              <a:rPr lang="en-US" altLang="zh-CN" sz="1600" dirty="0">
                <a:latin typeface="Comic Sans MS" panose="030F0702030302020204" pitchFamily="66" charset="0"/>
              </a:rPr>
              <a:t>relationship among entities</a:t>
            </a:r>
          </a:p>
          <a:p>
            <a:r>
              <a:rPr lang="en-US" altLang="zh-CN" sz="1800" dirty="0">
                <a:latin typeface="Comic Sans MS" panose="030F0702030302020204" pitchFamily="66" charset="0"/>
              </a:rPr>
              <a:t>An entity is an object that exists and is distinguishable from other objects</a:t>
            </a:r>
          </a:p>
          <a:p>
            <a:pPr lvl="1"/>
            <a:r>
              <a:rPr lang="en-US" altLang="zh-CN" sz="1600" dirty="0">
                <a:latin typeface="Comic Sans MS" panose="030F0702030302020204" pitchFamily="66" charset="0"/>
              </a:rPr>
              <a:t>E.g., specific person, company, event, university</a:t>
            </a:r>
            <a:endParaRPr lang="zh-CN" altLang="en-US" sz="1600" dirty="0">
              <a:latin typeface="Comic Sans MS" panose="030F0702030302020204" pitchFamily="66" charset="0"/>
            </a:endParaRPr>
          </a:p>
          <a:p>
            <a:r>
              <a:rPr lang="en-US" altLang="zh-CN" sz="1800" dirty="0">
                <a:latin typeface="Comic Sans MS" panose="030F0702030302020204" pitchFamily="66" charset="0"/>
              </a:rPr>
              <a:t>Entities have attributes</a:t>
            </a:r>
          </a:p>
          <a:p>
            <a:pPr lvl="1"/>
            <a:r>
              <a:rPr lang="en-US" altLang="zh-CN" sz="1600" dirty="0">
                <a:latin typeface="Comic Sans MS" panose="030F0702030302020204" pitchFamily="66" charset="0"/>
              </a:rPr>
              <a:t>E.g., people have names and addresses	</a:t>
            </a:r>
          </a:p>
          <a:p>
            <a:r>
              <a:rPr lang="en-US" altLang="zh-CN" sz="1800" dirty="0">
                <a:latin typeface="Comic Sans MS" panose="030F0702030302020204" pitchFamily="66" charset="0"/>
              </a:rPr>
              <a:t>An entity set is a set of entities of the same type that share the same properties</a:t>
            </a:r>
          </a:p>
          <a:p>
            <a:pPr lvl="1"/>
            <a:r>
              <a:rPr lang="en-US" altLang="zh-CN" sz="1600" dirty="0">
                <a:latin typeface="Comic Sans MS" panose="030F0702030302020204" pitchFamily="66" charset="0"/>
              </a:rPr>
              <a:t>E.g., the set of all persons, companies, trees, holidays</a:t>
            </a:r>
          </a:p>
        </p:txBody>
      </p:sp>
    </p:spTree>
    <p:extLst>
      <p:ext uri="{BB962C8B-B14F-4D97-AF65-F5344CB8AC3E}">
        <p14:creationId xmlns:p14="http://schemas.microsoft.com/office/powerpoint/2010/main" val="3274941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F4EC2F-B2F7-48A7-B5F9-3C54E57E7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Entity Sets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53B53B9C-938A-4934-A7C5-06CDDB3BDD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1419622"/>
            <a:ext cx="5795962" cy="3227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12715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5BE4B1-5007-408A-AFB8-D4B2EE2D4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Attributes</a:t>
            </a:r>
            <a:r>
              <a:rPr lang="zh-CN" altLang="en-US" dirty="0">
                <a:latin typeface="Comic Sans MS" panose="030F0702030302020204" pitchFamily="66" charset="0"/>
              </a:rPr>
              <a:t>（属性）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3A95A9-DC14-4C0E-8948-24690BB40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789553"/>
            <a:ext cx="8568952" cy="3805070"/>
          </a:xfrm>
        </p:spPr>
        <p:txBody>
          <a:bodyPr/>
          <a:lstStyle/>
          <a:p>
            <a:r>
              <a:rPr lang="en-US" altLang="zh-CN" sz="1400" dirty="0">
                <a:latin typeface="Comic Sans MS" panose="030F0702030302020204" pitchFamily="66" charset="0"/>
              </a:rPr>
              <a:t>An entity contains </a:t>
            </a:r>
            <a:r>
              <a:rPr lang="en-US" altLang="zh-CN" sz="1400" dirty="0">
                <a:solidFill>
                  <a:srgbClr val="C00000"/>
                </a:solidFill>
                <a:latin typeface="Comic Sans MS" panose="030F0702030302020204" pitchFamily="66" charset="0"/>
              </a:rPr>
              <a:t>a set of attributes</a:t>
            </a:r>
            <a:r>
              <a:rPr lang="en-US" altLang="zh-CN" sz="1400" dirty="0">
                <a:latin typeface="Comic Sans MS" panose="030F0702030302020204" pitchFamily="66" charset="0"/>
              </a:rPr>
              <a:t>, and these attributes are possessed by all members of an entity set</a:t>
            </a:r>
          </a:p>
          <a:p>
            <a:pPr lvl="1"/>
            <a:r>
              <a:rPr lang="en-US" altLang="zh-CN" sz="1100" b="1" i="1" dirty="0">
                <a:latin typeface="Comic Sans MS" panose="030F0702030302020204" pitchFamily="66" charset="0"/>
                <a:cs typeface="Times New Roman" panose="02020603050405020304" pitchFamily="18" charset="0"/>
              </a:rPr>
              <a:t>Instructor</a:t>
            </a:r>
            <a:r>
              <a:rPr lang="en-US" altLang="zh-CN" sz="1100" i="1" dirty="0">
                <a:latin typeface="Comic Sans MS" panose="030F0702030302020204" pitchFamily="66" charset="0"/>
                <a:cs typeface="Times New Roman" panose="02020603050405020304" pitchFamily="18" charset="0"/>
              </a:rPr>
              <a:t>: ID, name, salary</a:t>
            </a:r>
          </a:p>
          <a:p>
            <a:pPr lvl="1"/>
            <a:r>
              <a:rPr lang="en-US" altLang="zh-CN" sz="1100" b="1" i="1" dirty="0">
                <a:latin typeface="Comic Sans MS" panose="030F0702030302020204" pitchFamily="66" charset="0"/>
                <a:cs typeface="Times New Roman" panose="02020603050405020304" pitchFamily="18" charset="0"/>
              </a:rPr>
              <a:t>Student</a:t>
            </a:r>
            <a:r>
              <a:rPr lang="en-US" altLang="zh-CN" sz="1100" i="1" dirty="0">
                <a:latin typeface="Comic Sans MS" panose="030F0702030302020204" pitchFamily="66" charset="0"/>
                <a:cs typeface="Times New Roman" panose="02020603050405020304" pitchFamily="18" charset="0"/>
              </a:rPr>
              <a:t>: ID, name, </a:t>
            </a:r>
            <a:r>
              <a:rPr lang="en-US" altLang="zh-CN" sz="1100" i="1" dirty="0" err="1">
                <a:latin typeface="Comic Sans MS" panose="030F0702030302020204" pitchFamily="66" charset="0"/>
                <a:cs typeface="Times New Roman" panose="02020603050405020304" pitchFamily="18" charset="0"/>
              </a:rPr>
              <a:t>tot_cred</a:t>
            </a:r>
            <a:endParaRPr lang="en-US" altLang="zh-CN" sz="1100" i="1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latin typeface="Comic Sans MS" panose="030F0702030302020204" pitchFamily="66" charset="0"/>
              </a:rPr>
              <a:t>Domain (</a:t>
            </a:r>
            <a:r>
              <a:rPr lang="zh-CN" altLang="en-US" sz="1400" dirty="0">
                <a:latin typeface="Comic Sans MS" panose="030F0702030302020204" pitchFamily="66" charset="0"/>
              </a:rPr>
              <a:t>域</a:t>
            </a:r>
            <a:r>
              <a:rPr lang="en-US" altLang="zh-CN" sz="1400" dirty="0">
                <a:latin typeface="Comic Sans MS" panose="030F0702030302020204" pitchFamily="66" charset="0"/>
              </a:rPr>
              <a:t>) – the set of permitted values for each attribute </a:t>
            </a:r>
          </a:p>
          <a:p>
            <a:endParaRPr lang="en-US" altLang="zh-CN" sz="1400" dirty="0">
              <a:latin typeface="Comic Sans MS" panose="030F0702030302020204" pitchFamily="66" charset="0"/>
            </a:endParaRPr>
          </a:p>
          <a:p>
            <a:r>
              <a:rPr lang="en-US" altLang="zh-CN" sz="1400" b="1" dirty="0">
                <a:latin typeface="Comic Sans MS" panose="030F0702030302020204" pitchFamily="66" charset="0"/>
              </a:rPr>
              <a:t>Attribute types</a:t>
            </a:r>
          </a:p>
          <a:p>
            <a:pPr lvl="1"/>
            <a:r>
              <a:rPr lang="en-US" altLang="zh-CN" sz="1400" dirty="0">
                <a:latin typeface="Comic Sans MS" panose="030F0702030302020204" pitchFamily="66" charset="0"/>
              </a:rPr>
              <a:t>Simple and composite attributes (</a:t>
            </a:r>
            <a:r>
              <a:rPr lang="zh-CN" altLang="en-US" sz="1400" dirty="0">
                <a:latin typeface="Comic Sans MS" panose="030F0702030302020204" pitchFamily="66" charset="0"/>
              </a:rPr>
              <a:t>复合属性</a:t>
            </a:r>
            <a:r>
              <a:rPr lang="en-US" altLang="zh-CN" sz="1400" dirty="0">
                <a:latin typeface="Comic Sans MS" panose="030F0702030302020204" pitchFamily="66" charset="0"/>
              </a:rPr>
              <a:t>)</a:t>
            </a:r>
          </a:p>
          <a:p>
            <a:pPr lvl="1"/>
            <a:r>
              <a:rPr lang="en-US" altLang="zh-CN" sz="1400" dirty="0">
                <a:latin typeface="Comic Sans MS" panose="030F0702030302020204" pitchFamily="66" charset="0"/>
              </a:rPr>
              <a:t>Single-valued and multi-valued attributes</a:t>
            </a:r>
          </a:p>
          <a:p>
            <a:pPr lvl="1"/>
            <a:r>
              <a:rPr lang="en-US" altLang="zh-CN" sz="1400" dirty="0">
                <a:latin typeface="Comic Sans MS" panose="030F0702030302020204" pitchFamily="66" charset="0"/>
              </a:rPr>
              <a:t>Derived attributes</a:t>
            </a:r>
            <a:endParaRPr lang="zh-CN" altLang="en-US" sz="1400" dirty="0">
              <a:latin typeface="Comic Sans MS" panose="030F0702030302020204" pitchFamily="66" charset="0"/>
            </a:endParaRP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73453E6C-1F3E-4C6F-A903-8556BD12F7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3407620"/>
            <a:ext cx="4536504" cy="13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6028C2D-C653-4649-AA3A-94AEAC5D38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224" y="2211710"/>
            <a:ext cx="1321428" cy="28005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483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CA5AD5-1FCD-40FC-B163-C23B28084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Relationship Sets (</a:t>
            </a:r>
            <a:r>
              <a:rPr lang="zh-CN" altLang="en-US" dirty="0">
                <a:latin typeface="Comic Sans MS" panose="030F0702030302020204" pitchFamily="66" charset="0"/>
              </a:rPr>
              <a:t>联系集</a:t>
            </a:r>
            <a:r>
              <a:rPr lang="en-US" altLang="zh-CN" dirty="0">
                <a:latin typeface="Comic Sans MS" panose="030F0702030302020204" pitchFamily="66" charset="0"/>
              </a:rPr>
              <a:t>)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5FA9DA2-1814-4383-94C8-5F965910CE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1520" y="789553"/>
                <a:ext cx="8424936" cy="3805070"/>
              </a:xfrm>
            </p:spPr>
            <p:txBody>
              <a:bodyPr/>
              <a:lstStyle/>
              <a:p>
                <a:r>
                  <a:rPr lang="en-US" altLang="zh-CN" sz="1800" dirty="0">
                    <a:latin typeface="Comic Sans MS" panose="030F0702030302020204" pitchFamily="66" charset="0"/>
                  </a:rPr>
                  <a:t>A relationship is an association among several entities</a:t>
                </a:r>
              </a:p>
              <a:p>
                <a:pPr lvl="1"/>
                <a:r>
                  <a:rPr lang="en-US" altLang="zh-CN" sz="1600" dirty="0">
                    <a:latin typeface="Comic Sans MS" panose="030F0702030302020204" pitchFamily="66" charset="0"/>
                  </a:rPr>
                  <a:t>E.g.,</a:t>
                </a:r>
              </a:p>
              <a:p>
                <a:pPr marL="457200" lvl="1" indent="0">
                  <a:buNone/>
                </a:pPr>
                <a:r>
                  <a:rPr lang="en-US" altLang="zh-CN" sz="1600" dirty="0">
                    <a:latin typeface="Comic Sans MS" panose="030F0702030302020204" pitchFamily="66" charset="0"/>
                  </a:rPr>
                  <a:t>                </a:t>
                </a:r>
                <a:r>
                  <a:rPr lang="en-US" altLang="zh-CN" sz="1600" i="1" dirty="0">
                    <a:latin typeface="Comic Sans MS" panose="030F0702030302020204" pitchFamily="66" charset="0"/>
                  </a:rPr>
                  <a:t>44553 (Peltier)        advisor	      22222 (Einstein) </a:t>
                </a:r>
                <a:br>
                  <a:rPr lang="en-US" altLang="zh-CN" sz="1600" i="1" dirty="0">
                    <a:latin typeface="Comic Sans MS" panose="030F0702030302020204" pitchFamily="66" charset="0"/>
                  </a:rPr>
                </a:br>
                <a:r>
                  <a:rPr lang="en-US" altLang="zh-CN" sz="1600" i="1" dirty="0">
                    <a:latin typeface="Comic Sans MS" panose="030F0702030302020204" pitchFamily="66" charset="0"/>
                  </a:rPr>
                  <a:t>	</a:t>
                </a:r>
                <a:r>
                  <a:rPr lang="en-US" altLang="zh-CN" sz="1600" i="1" dirty="0">
                    <a:solidFill>
                      <a:srgbClr val="C00000"/>
                    </a:solidFill>
                    <a:latin typeface="Comic Sans MS" panose="030F0702030302020204" pitchFamily="66" charset="0"/>
                  </a:rPr>
                  <a:t>        student entity          relationship set      instructor entity</a:t>
                </a:r>
              </a:p>
              <a:p>
                <a:pPr lvl="1"/>
                <a:endParaRPr lang="en-US" altLang="zh-CN" sz="1600" dirty="0">
                  <a:latin typeface="Comic Sans MS" panose="030F0702030302020204" pitchFamily="66" charset="0"/>
                </a:endParaRPr>
              </a:p>
              <a:p>
                <a:r>
                  <a:rPr lang="en-US" altLang="zh-CN" sz="1800" dirty="0">
                    <a:latin typeface="Comic Sans MS" panose="030F0702030302020204" pitchFamily="66" charset="0"/>
                  </a:rPr>
                  <a:t>A relationship set is a mathematical relation among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≥2</m:t>
                    </m:r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 entities, each taken from entity sets</a:t>
                </a:r>
              </a:p>
              <a:p>
                <a:endParaRPr lang="en-US" altLang="zh-CN" sz="1800" dirty="0">
                  <a:latin typeface="Comic Sans MS" panose="030F0702030302020204" pitchFamily="66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{(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)|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sz="1600" dirty="0">
                  <a:latin typeface="Comic Sans MS" panose="030F0702030302020204" pitchFamily="66" charset="0"/>
                </a:endParaRPr>
              </a:p>
              <a:p>
                <a:pPr marL="0" indent="0">
                  <a:buNone/>
                </a:pPr>
                <a:r>
                  <a:rPr lang="en-US" altLang="zh-CN" sz="1800" dirty="0">
                    <a:latin typeface="Comic Sans MS" panose="030F0702030302020204" pitchFamily="66" charset="0"/>
                  </a:rPr>
                  <a:t>    </a:t>
                </a:r>
              </a:p>
              <a:p>
                <a:pPr marL="0" indent="0">
                  <a:buNone/>
                </a:pPr>
                <a:r>
                  <a:rPr lang="en-US" altLang="zh-CN" sz="1800" dirty="0">
                    <a:latin typeface="Comic Sans MS" panose="030F0702030302020204" pitchFamily="66" charset="0"/>
                  </a:rPr>
                  <a:t>      where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1800" dirty="0">
                    <a:latin typeface="Comic Sans MS" panose="030F0702030302020204" pitchFamily="66" charset="0"/>
                  </a:rPr>
                  <a:t> is a relationship, e</a:t>
                </a:r>
                <a:r>
                  <a:rPr lang="en-US" altLang="zh-CN" sz="1600" dirty="0">
                    <a:latin typeface="Comic Sans MS" panose="030F0702030302020204" pitchFamily="66" charset="0"/>
                  </a:rPr>
                  <a:t>.g., (44553,22222)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altLang="zh-CN" sz="1600" dirty="0">
                    <a:latin typeface="Comic Sans MS" panose="030F0702030302020204" pitchFamily="66" charset="0"/>
                  </a:rPr>
                  <a:t> advisor</a:t>
                </a:r>
              </a:p>
              <a:p>
                <a:pPr marL="0" indent="0">
                  <a:buNone/>
                </a:pPr>
                <a:r>
                  <a:rPr lang="en-US" altLang="zh-CN" sz="1800" dirty="0">
                    <a:latin typeface="Comic Sans MS" panose="030F0702030302020204" pitchFamily="66" charset="0"/>
                  </a:rPr>
                  <a:t>	</a:t>
                </a:r>
                <a:endParaRPr lang="en-US" altLang="zh-CN" sz="1800" i="1" dirty="0">
                  <a:latin typeface="Comic Sans MS" panose="030F0702030302020204" pitchFamily="66" charset="0"/>
                  <a:cs typeface="Times New Roman" panose="02020603050405020304" pitchFamily="18" charset="0"/>
                </a:endParaRPr>
              </a:p>
              <a:p>
                <a:endParaRPr lang="zh-CN" altLang="en-US" sz="1800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5FA9DA2-1814-4383-94C8-5F965910CE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789553"/>
                <a:ext cx="8424936" cy="3805070"/>
              </a:xfrm>
              <a:blipFill>
                <a:blip r:embed="rId2"/>
                <a:stretch>
                  <a:fillRect l="-868" t="-20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1966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5C8BFA-1BAA-4BA8-A867-8482042BE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Relationship Set advisor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9E6882DC-11F0-43BB-8B05-A9487528DB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1491630"/>
            <a:ext cx="4967024" cy="2756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8738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DA9331-3D61-433B-9876-67BB8D241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Relationship Sets (Cont.)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4ADC91-C653-4DD7-86E3-D5C139FA6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800" dirty="0">
                <a:latin typeface="Comic Sans MS" panose="030F0702030302020204" pitchFamily="66" charset="0"/>
              </a:rPr>
              <a:t>A relationship </a:t>
            </a:r>
            <a:r>
              <a:rPr lang="en-US" altLang="zh-CN" sz="1800">
                <a:latin typeface="Comic Sans MS" panose="030F0702030302020204" pitchFamily="66" charset="0"/>
              </a:rPr>
              <a:t>set may </a:t>
            </a:r>
            <a:r>
              <a:rPr lang="en-US" altLang="zh-CN" sz="1800" dirty="0">
                <a:latin typeface="Comic Sans MS" panose="030F0702030302020204" pitchFamily="66" charset="0"/>
              </a:rPr>
              <a:t>also contain some attributes</a:t>
            </a:r>
          </a:p>
          <a:p>
            <a:r>
              <a:rPr lang="en-US" altLang="zh-CN" sz="1800" dirty="0">
                <a:latin typeface="Comic Sans MS" panose="030F0702030302020204" pitchFamily="66" charset="0"/>
              </a:rPr>
              <a:t>For instance, the advisor relationship set between entity sets </a:t>
            </a:r>
            <a:r>
              <a:rPr lang="en-US" altLang="zh-CN" sz="1800" b="1" dirty="0">
                <a:solidFill>
                  <a:srgbClr val="C00000"/>
                </a:solidFill>
                <a:latin typeface="Comic Sans MS" panose="030F0702030302020204" pitchFamily="66" charset="0"/>
              </a:rPr>
              <a:t>instructor</a:t>
            </a:r>
            <a:r>
              <a:rPr lang="en-US" altLang="zh-CN" sz="1800" dirty="0">
                <a:latin typeface="Comic Sans MS" panose="030F0702030302020204" pitchFamily="66" charset="0"/>
              </a:rPr>
              <a:t> and </a:t>
            </a:r>
            <a:r>
              <a:rPr lang="en-US" altLang="zh-CN" sz="1800" b="1" dirty="0">
                <a:solidFill>
                  <a:srgbClr val="C00000"/>
                </a:solidFill>
                <a:latin typeface="Comic Sans MS" panose="030F0702030302020204" pitchFamily="66" charset="0"/>
              </a:rPr>
              <a:t>student</a:t>
            </a:r>
            <a:r>
              <a:rPr lang="en-US" altLang="zh-CN" sz="1800" dirty="0">
                <a:latin typeface="Comic Sans MS" panose="030F0702030302020204" pitchFamily="66" charset="0"/>
              </a:rPr>
              <a:t> may have the attribute date which tracks when the student started being associated with the advisor</a:t>
            </a:r>
          </a:p>
          <a:p>
            <a:endParaRPr lang="zh-CN" altLang="en-US" sz="1800" dirty="0">
              <a:latin typeface="Comic Sans MS" panose="030F0702030302020204" pitchFamily="66" charset="0"/>
            </a:endParaRP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64D1AE86-C46B-46D2-A0FD-BD6B945F57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2355726"/>
            <a:ext cx="4348378" cy="2062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8894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BF894F-6F0F-447B-B681-AB46FF274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Degree (</a:t>
            </a:r>
            <a:r>
              <a:rPr lang="zh-CN" altLang="en-US" dirty="0">
                <a:latin typeface="Comic Sans MS" panose="030F0702030302020204" pitchFamily="66" charset="0"/>
              </a:rPr>
              <a:t>度</a:t>
            </a:r>
            <a:r>
              <a:rPr lang="en-US" altLang="zh-CN" dirty="0">
                <a:latin typeface="Comic Sans MS" panose="030F0702030302020204" pitchFamily="66" charset="0"/>
              </a:rPr>
              <a:t>/</a:t>
            </a:r>
            <a:r>
              <a:rPr lang="zh-CN" altLang="en-US" dirty="0">
                <a:latin typeface="Comic Sans MS" panose="030F0702030302020204" pitchFamily="66" charset="0"/>
              </a:rPr>
              <a:t>阶</a:t>
            </a:r>
            <a:r>
              <a:rPr lang="en-US" altLang="zh-CN" dirty="0">
                <a:latin typeface="Comic Sans MS" panose="030F0702030302020204" pitchFamily="66" charset="0"/>
              </a:rPr>
              <a:t>) of a Relationship Set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EF0D56-A5C9-4823-91EF-816132EE3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789553"/>
            <a:ext cx="8568952" cy="380507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zh-CN" sz="1800" b="1" dirty="0">
                <a:latin typeface="Comic Sans MS" panose="030F0702030302020204" pitchFamily="66" charset="0"/>
              </a:rPr>
              <a:t>The number of entity sets that participate in a relationship set</a:t>
            </a:r>
          </a:p>
          <a:p>
            <a:pPr lvl="1">
              <a:spcBef>
                <a:spcPts val="600"/>
              </a:spcBef>
            </a:pPr>
            <a:r>
              <a:rPr lang="en-US" altLang="zh-CN" sz="1600" dirty="0">
                <a:latin typeface="Comic Sans MS" panose="030F0702030302020204" pitchFamily="66" charset="0"/>
              </a:rPr>
              <a:t>Relationship sets that involve two entity sets are binary (</a:t>
            </a:r>
            <a:r>
              <a:rPr lang="zh-CN" altLang="en-US" sz="1600" dirty="0">
                <a:latin typeface="Comic Sans MS" panose="030F0702030302020204" pitchFamily="66" charset="0"/>
              </a:rPr>
              <a:t>二元的</a:t>
            </a:r>
            <a:r>
              <a:rPr lang="en-US" altLang="zh-CN" sz="1600" dirty="0">
                <a:latin typeface="Comic Sans MS" panose="030F0702030302020204" pitchFamily="66" charset="0"/>
              </a:rPr>
              <a:t>)  </a:t>
            </a:r>
          </a:p>
          <a:p>
            <a:pPr lvl="1">
              <a:spcBef>
                <a:spcPts val="600"/>
              </a:spcBef>
            </a:pPr>
            <a:r>
              <a:rPr lang="en-US" altLang="zh-CN" sz="1600" dirty="0">
                <a:latin typeface="Comic Sans MS" panose="030F0702030302020204" pitchFamily="66" charset="0"/>
              </a:rPr>
              <a:t>Relationship sets may involve more than two entity sets, which is rare</a:t>
            </a:r>
          </a:p>
          <a:p>
            <a:pPr lvl="2">
              <a:spcBef>
                <a:spcPts val="600"/>
              </a:spcBef>
            </a:pPr>
            <a:r>
              <a:rPr lang="en-US" altLang="zh-CN" sz="1400" dirty="0">
                <a:latin typeface="Comic Sans MS" panose="030F0702030302020204" pitchFamily="66" charset="0"/>
              </a:rPr>
              <a:t>E.g., E-R diagram with a ternary relationship</a:t>
            </a:r>
          </a:p>
          <a:p>
            <a:pPr lvl="1">
              <a:spcBef>
                <a:spcPts val="600"/>
              </a:spcBef>
            </a:pPr>
            <a:endParaRPr lang="en-US" altLang="zh-CN" sz="1600" dirty="0">
              <a:latin typeface="Comic Sans MS" panose="030F0702030302020204" pitchFamily="66" charset="0"/>
            </a:endParaRPr>
          </a:p>
          <a:p>
            <a:pPr>
              <a:spcBef>
                <a:spcPts val="600"/>
              </a:spcBef>
            </a:pPr>
            <a:endParaRPr lang="zh-CN" altLang="en-US" sz="1800" dirty="0">
              <a:latin typeface="Comic Sans MS" panose="030F0702030302020204" pitchFamily="66" charset="0"/>
            </a:endParaRPr>
          </a:p>
        </p:txBody>
      </p:sp>
      <p:pic>
        <p:nvPicPr>
          <p:cNvPr id="4" name="Picture 20">
            <a:extLst>
              <a:ext uri="{FF2B5EF4-FFF2-40B4-BE49-F238E27FC236}">
                <a16:creationId xmlns:a16="http://schemas.microsoft.com/office/drawing/2014/main" id="{6D45F3DE-9362-4995-A861-CD5ADA3A6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2427734"/>
            <a:ext cx="4306071" cy="1658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46314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FF2846-FA2A-4BAA-9362-7D602E41C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Outline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6F7556-C772-4881-AE79-DA30A2459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524" y="771550"/>
            <a:ext cx="8568952" cy="3805070"/>
          </a:xfrm>
        </p:spPr>
        <p:txBody>
          <a:bodyPr/>
          <a:lstStyle/>
          <a:p>
            <a:pPr>
              <a:spcBef>
                <a:spcPts val="800"/>
              </a:spcBef>
            </a:pPr>
            <a:r>
              <a:rPr lang="en-US" altLang="zh-CN" dirty="0">
                <a:latin typeface="Comic Sans MS" panose="030F0702030302020204" pitchFamily="66" charset="0"/>
              </a:rPr>
              <a:t>Overview of the Design Process</a:t>
            </a:r>
          </a:p>
          <a:p>
            <a:pPr>
              <a:spcBef>
                <a:spcPts val="800"/>
              </a:spcBef>
            </a:pPr>
            <a:r>
              <a:rPr lang="en-US" altLang="zh-CN" dirty="0">
                <a:latin typeface="Comic Sans MS" panose="030F0702030302020204" pitchFamily="66" charset="0"/>
              </a:rPr>
              <a:t>Entity-Relationship Model (</a:t>
            </a:r>
            <a:r>
              <a:rPr lang="zh-CN" altLang="en-US" b="1" dirty="0">
                <a:latin typeface="Comic Sans MS" panose="030F0702030302020204" pitchFamily="66" charset="0"/>
              </a:rPr>
              <a:t>实体联系模型</a:t>
            </a:r>
            <a:r>
              <a:rPr lang="en-US" altLang="zh-CN" dirty="0">
                <a:latin typeface="Comic Sans MS" panose="030F0702030302020204" pitchFamily="66" charset="0"/>
              </a:rPr>
              <a:t>)</a:t>
            </a:r>
          </a:p>
          <a:p>
            <a:pPr>
              <a:spcBef>
                <a:spcPts val="800"/>
              </a:spcBef>
            </a:pPr>
            <a:r>
              <a:rPr lang="en-US" altLang="zh-CN" b="1" dirty="0">
                <a:solidFill>
                  <a:srgbClr val="C00000"/>
                </a:solidFill>
                <a:latin typeface="Comic Sans MS" panose="030F0702030302020204" pitchFamily="66" charset="0"/>
              </a:rPr>
              <a:t>Constraints </a:t>
            </a:r>
          </a:p>
          <a:p>
            <a:pPr>
              <a:spcBef>
                <a:spcPts val="800"/>
              </a:spcBef>
            </a:pPr>
            <a:r>
              <a:rPr lang="en-US" altLang="zh-CN" dirty="0">
                <a:latin typeface="Comic Sans MS" panose="030F0702030302020204" pitchFamily="66" charset="0"/>
              </a:rPr>
              <a:t>Entity-Relationship Diagrams (</a:t>
            </a:r>
            <a:r>
              <a:rPr lang="zh-CN" altLang="en-US" b="1" dirty="0">
                <a:latin typeface="Comic Sans MS" panose="030F0702030302020204" pitchFamily="66" charset="0"/>
              </a:rPr>
              <a:t>实体联系图</a:t>
            </a:r>
            <a:r>
              <a:rPr lang="en-US" altLang="zh-CN" dirty="0">
                <a:latin typeface="Comic Sans MS" panose="030F0702030302020204" pitchFamily="66" charset="0"/>
              </a:rPr>
              <a:t>)</a:t>
            </a:r>
          </a:p>
          <a:p>
            <a:pPr>
              <a:spcBef>
                <a:spcPts val="800"/>
              </a:spcBef>
            </a:pPr>
            <a:r>
              <a:rPr lang="en-US" altLang="zh-CN" dirty="0">
                <a:latin typeface="Comic Sans MS" panose="030F0702030302020204" pitchFamily="66" charset="0"/>
              </a:rPr>
              <a:t>Reduction to Relation Schemas</a:t>
            </a:r>
          </a:p>
          <a:p>
            <a:pPr>
              <a:spcBef>
                <a:spcPts val="800"/>
              </a:spcBef>
            </a:pPr>
            <a:r>
              <a:rPr lang="en-US" altLang="zh-CN" dirty="0">
                <a:latin typeface="Comic Sans MS" panose="030F0702030302020204" pitchFamily="66" charset="0"/>
              </a:rPr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3764404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B73161-7AED-410E-A6E7-7119A348F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Mapping Cardinalities (</a:t>
            </a:r>
            <a:r>
              <a:rPr lang="zh-CN" altLang="en-US" dirty="0">
                <a:latin typeface="Comic Sans MS" panose="030F0702030302020204" pitchFamily="66" charset="0"/>
              </a:rPr>
              <a:t>映射基数</a:t>
            </a:r>
            <a:r>
              <a:rPr lang="en-US" altLang="zh-CN" dirty="0">
                <a:latin typeface="Comic Sans MS" panose="030F0702030302020204" pitchFamily="66" charset="0"/>
              </a:rPr>
              <a:t>)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4398C2-6BB7-421B-ADE5-C7F30D332C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789553"/>
            <a:ext cx="8712968" cy="3805070"/>
          </a:xfrm>
        </p:spPr>
        <p:txBody>
          <a:bodyPr/>
          <a:lstStyle/>
          <a:p>
            <a:r>
              <a:rPr lang="en-US" altLang="zh-CN" sz="1600" dirty="0">
                <a:latin typeface="Comic Sans MS" panose="030F0702030302020204" pitchFamily="66" charset="0"/>
              </a:rPr>
              <a:t>Express the number of entities to which another entity can be associated via a relationship set</a:t>
            </a:r>
          </a:p>
          <a:p>
            <a:r>
              <a:rPr lang="en-US" altLang="zh-CN" sz="1600" dirty="0">
                <a:latin typeface="Comic Sans MS" panose="030F0702030302020204" pitchFamily="66" charset="0"/>
              </a:rPr>
              <a:t>For a binary relationship set, the mapping cardinality is one of the following types</a:t>
            </a:r>
          </a:p>
          <a:p>
            <a:pPr lvl="1">
              <a:spcBef>
                <a:spcPts val="600"/>
              </a:spcBef>
            </a:pPr>
            <a:r>
              <a:rPr lang="en-US" altLang="zh-CN" sz="1400" b="1" dirty="0">
                <a:latin typeface="Comic Sans MS" panose="030F0702030302020204" pitchFamily="66" charset="0"/>
              </a:rPr>
              <a:t>One to one (1</a:t>
            </a:r>
            <a:r>
              <a:rPr lang="zh-CN" altLang="en-US" sz="1400" b="1" dirty="0">
                <a:latin typeface="Comic Sans MS" panose="030F0702030302020204" pitchFamily="66" charset="0"/>
              </a:rPr>
              <a:t>对</a:t>
            </a:r>
            <a:r>
              <a:rPr lang="en-US" altLang="zh-CN" sz="1400" b="1" dirty="0">
                <a:latin typeface="Comic Sans MS" panose="030F0702030302020204" pitchFamily="66" charset="0"/>
              </a:rPr>
              <a:t>1): </a:t>
            </a:r>
            <a:r>
              <a:rPr lang="en-US" altLang="zh-CN" sz="1400" dirty="0">
                <a:latin typeface="Comic Sans MS" panose="030F0702030302020204" pitchFamily="66" charset="0"/>
              </a:rPr>
              <a:t>An entity in A is associated with at most one entity in B, and an entity in B is associated with at most one entity in A</a:t>
            </a:r>
          </a:p>
          <a:p>
            <a:pPr lvl="1">
              <a:spcBef>
                <a:spcPts val="600"/>
              </a:spcBef>
            </a:pPr>
            <a:r>
              <a:rPr lang="en-US" altLang="zh-CN" sz="1400" b="1" dirty="0">
                <a:latin typeface="Comic Sans MS" panose="030F0702030302020204" pitchFamily="66" charset="0"/>
              </a:rPr>
              <a:t>One to many (1</a:t>
            </a:r>
            <a:r>
              <a:rPr lang="zh-CN" altLang="en-US" sz="1400" b="1" dirty="0">
                <a:latin typeface="Comic Sans MS" panose="030F0702030302020204" pitchFamily="66" charset="0"/>
              </a:rPr>
              <a:t>对多</a:t>
            </a:r>
            <a:r>
              <a:rPr lang="en-US" altLang="zh-CN" sz="1400" b="1" dirty="0">
                <a:latin typeface="Comic Sans MS" panose="030F0702030302020204" pitchFamily="66" charset="0"/>
              </a:rPr>
              <a:t>): </a:t>
            </a:r>
            <a:r>
              <a:rPr lang="en-US" altLang="zh-CN" sz="1400" dirty="0">
                <a:latin typeface="Comic Sans MS" panose="030F0702030302020204" pitchFamily="66" charset="0"/>
              </a:rPr>
              <a:t>An entity in A is associated with any number (zero or more) of entities in B. An entity in B, however, can be associated with at most one entity in A</a:t>
            </a:r>
          </a:p>
          <a:p>
            <a:pPr lvl="1">
              <a:spcBef>
                <a:spcPts val="600"/>
              </a:spcBef>
            </a:pPr>
            <a:r>
              <a:rPr lang="en-US" altLang="zh-CN" sz="1400" b="1" dirty="0">
                <a:latin typeface="Comic Sans MS" panose="030F0702030302020204" pitchFamily="66" charset="0"/>
              </a:rPr>
              <a:t>Many to one (</a:t>
            </a:r>
            <a:r>
              <a:rPr lang="zh-CN" altLang="en-US" sz="1400" b="1" dirty="0">
                <a:latin typeface="Comic Sans MS" panose="030F0702030302020204" pitchFamily="66" charset="0"/>
              </a:rPr>
              <a:t>多对</a:t>
            </a:r>
            <a:r>
              <a:rPr lang="en-US" altLang="zh-CN" sz="1400" b="1" dirty="0">
                <a:latin typeface="Comic Sans MS" panose="030F0702030302020204" pitchFamily="66" charset="0"/>
              </a:rPr>
              <a:t>1): </a:t>
            </a:r>
            <a:r>
              <a:rPr lang="en-US" altLang="zh-CN" sz="1400" dirty="0">
                <a:latin typeface="Comic Sans MS" panose="030F0702030302020204" pitchFamily="66" charset="0"/>
              </a:rPr>
              <a:t>An entity in A is associated with at most one entity in B. An entity in B, however, can be associated with any number (zero or more) of entities in A</a:t>
            </a:r>
          </a:p>
          <a:p>
            <a:pPr lvl="1">
              <a:spcBef>
                <a:spcPts val="600"/>
              </a:spcBef>
            </a:pPr>
            <a:r>
              <a:rPr lang="en-US" altLang="zh-CN" sz="1400" b="1" dirty="0">
                <a:latin typeface="Comic Sans MS" panose="030F0702030302020204" pitchFamily="66" charset="0"/>
              </a:rPr>
              <a:t>Many to many (</a:t>
            </a:r>
            <a:r>
              <a:rPr lang="zh-CN" altLang="en-US" sz="1400" b="1" dirty="0">
                <a:latin typeface="Comic Sans MS" panose="030F0702030302020204" pitchFamily="66" charset="0"/>
              </a:rPr>
              <a:t>多对多</a:t>
            </a:r>
            <a:r>
              <a:rPr lang="en-US" altLang="zh-CN" sz="1400" b="1" dirty="0">
                <a:latin typeface="Comic Sans MS" panose="030F0702030302020204" pitchFamily="66" charset="0"/>
              </a:rPr>
              <a:t>): </a:t>
            </a:r>
            <a:r>
              <a:rPr lang="en-US" altLang="zh-CN" sz="1400" dirty="0">
                <a:latin typeface="Comic Sans MS" panose="030F0702030302020204" pitchFamily="66" charset="0"/>
              </a:rPr>
              <a:t>An entity in A is associated with any number (zero or more) of entities in B, and an entity in B is associated with any number (zero or more) of entities in A</a:t>
            </a:r>
          </a:p>
        </p:txBody>
      </p:sp>
    </p:spTree>
    <p:extLst>
      <p:ext uri="{BB962C8B-B14F-4D97-AF65-F5344CB8AC3E}">
        <p14:creationId xmlns:p14="http://schemas.microsoft.com/office/powerpoint/2010/main" val="2988361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5CF9E4-0A20-4C92-BFA1-1533D0CE8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Mapping Cardinalities (Cont.)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9" name="Text Box 3">
            <a:extLst>
              <a:ext uri="{FF2B5EF4-FFF2-40B4-BE49-F238E27FC236}">
                <a16:creationId xmlns:a16="http://schemas.microsoft.com/office/drawing/2014/main" id="{EEB5D40D-8EDF-4E2F-835A-D53D5736B9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736" y="3832522"/>
            <a:ext cx="1416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700" b="1" dirty="0">
                <a:latin typeface="Comic Sans MS" panose="030F0702030302020204" pitchFamily="66" charset="0"/>
              </a:rPr>
              <a:t>One to one</a:t>
            </a:r>
          </a:p>
        </p:txBody>
      </p:sp>
      <p:sp>
        <p:nvSpPr>
          <p:cNvPr id="10" name="Text Box 4">
            <a:extLst>
              <a:ext uri="{FF2B5EF4-FFF2-40B4-BE49-F238E27FC236}">
                <a16:creationId xmlns:a16="http://schemas.microsoft.com/office/drawing/2014/main" id="{773E9D4D-619A-4524-A269-253302FA1A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5449" y="3832522"/>
            <a:ext cx="1527982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700" b="1" dirty="0">
                <a:latin typeface="Comic Sans MS" panose="030F0702030302020204" pitchFamily="66" charset="0"/>
              </a:rPr>
              <a:t>One to many</a:t>
            </a:r>
          </a:p>
        </p:txBody>
      </p:sp>
      <p:sp>
        <p:nvSpPr>
          <p:cNvPr id="11" name="Text Box 5">
            <a:extLst>
              <a:ext uri="{FF2B5EF4-FFF2-40B4-BE49-F238E27FC236}">
                <a16:creationId xmlns:a16="http://schemas.microsoft.com/office/drawing/2014/main" id="{E6C658E0-BBC2-438A-A565-6A074C7A95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624" y="4227934"/>
            <a:ext cx="734481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kumimoji="1" lang="en-US" altLang="en-US" sz="1400" b="1" dirty="0">
                <a:latin typeface="Comic Sans MS" panose="030F0702030302020204" pitchFamily="66" charset="0"/>
              </a:rPr>
              <a:t>Note</a:t>
            </a:r>
            <a:r>
              <a:rPr kumimoji="1" lang="en-US" altLang="en-US" sz="1400" dirty="0">
                <a:latin typeface="Comic Sans MS" panose="030F0702030302020204" pitchFamily="66" charset="0"/>
              </a:rPr>
              <a:t>: Some elements in </a:t>
            </a:r>
            <a:r>
              <a:rPr kumimoji="1" lang="en-US" altLang="en-US" sz="1400" i="1" dirty="0">
                <a:latin typeface="Comic Sans MS" panose="030F0702030302020204" pitchFamily="66" charset="0"/>
              </a:rPr>
              <a:t>A</a:t>
            </a:r>
            <a:r>
              <a:rPr kumimoji="1" lang="en-US" altLang="en-US" sz="1400" dirty="0">
                <a:latin typeface="Comic Sans MS" panose="030F0702030302020204" pitchFamily="66" charset="0"/>
              </a:rPr>
              <a:t> and </a:t>
            </a:r>
            <a:r>
              <a:rPr kumimoji="1" lang="en-US" altLang="en-US" sz="1400" i="1" dirty="0">
                <a:latin typeface="Comic Sans MS" panose="030F0702030302020204" pitchFamily="66" charset="0"/>
              </a:rPr>
              <a:t>B</a:t>
            </a:r>
            <a:r>
              <a:rPr kumimoji="1" lang="en-US" altLang="en-US" sz="1400" dirty="0">
                <a:latin typeface="Comic Sans MS" panose="030F0702030302020204" pitchFamily="66" charset="0"/>
              </a:rPr>
              <a:t> may not be mapped to any elements in the other set</a:t>
            </a:r>
          </a:p>
        </p:txBody>
      </p:sp>
      <p:pic>
        <p:nvPicPr>
          <p:cNvPr id="12" name="Picture 7" descr="7">
            <a:extLst>
              <a:ext uri="{FF2B5EF4-FFF2-40B4-BE49-F238E27FC236}">
                <a16:creationId xmlns:a16="http://schemas.microsoft.com/office/drawing/2014/main" id="{3A69F834-AE01-487B-ADF1-FB980F2085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945010"/>
            <a:ext cx="5328592" cy="27147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82725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5CF9E4-0A20-4C92-BFA1-1533D0CE8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Mapping Cardinalities (Cont.)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9DB324CB-A6B9-4D06-87A9-910B32285A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6265" y="3723878"/>
            <a:ext cx="1689671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700" b="1" dirty="0">
                <a:latin typeface="Comic Sans MS" panose="030F0702030302020204" pitchFamily="66" charset="0"/>
              </a:rPr>
              <a:t>Many to one</a:t>
            </a:r>
          </a:p>
        </p:txBody>
      </p:sp>
      <p:sp>
        <p:nvSpPr>
          <p:cNvPr id="14" name="Text Box 4">
            <a:extLst>
              <a:ext uri="{FF2B5EF4-FFF2-40B4-BE49-F238E27FC236}">
                <a16:creationId xmlns:a16="http://schemas.microsoft.com/office/drawing/2014/main" id="{0668BF85-6827-4A46-A13D-77CAEBA775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6931" y="3762549"/>
            <a:ext cx="1665842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700" b="1" dirty="0">
                <a:latin typeface="Comic Sans MS" panose="030F0702030302020204" pitchFamily="66" charset="0"/>
              </a:rPr>
              <a:t>Many to many</a:t>
            </a:r>
          </a:p>
        </p:txBody>
      </p:sp>
      <p:sp>
        <p:nvSpPr>
          <p:cNvPr id="15" name="Text Box 5">
            <a:extLst>
              <a:ext uri="{FF2B5EF4-FFF2-40B4-BE49-F238E27FC236}">
                <a16:creationId xmlns:a16="http://schemas.microsoft.com/office/drawing/2014/main" id="{7E64E22C-2B29-490F-85A6-670BACFF8D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616" y="4185962"/>
            <a:ext cx="741682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kumimoji="1" lang="en-US" altLang="en-US" sz="1400" b="1" dirty="0">
                <a:latin typeface="Comic Sans MS" panose="030F0702030302020204" pitchFamily="66" charset="0"/>
              </a:rPr>
              <a:t>Note</a:t>
            </a:r>
            <a:r>
              <a:rPr kumimoji="1" lang="en-US" altLang="en-US" sz="1400" dirty="0">
                <a:latin typeface="Comic Sans MS" panose="030F0702030302020204" pitchFamily="66" charset="0"/>
              </a:rPr>
              <a:t>: Some elements in A and B may not be mapped to any elements in the other set</a:t>
            </a:r>
          </a:p>
        </p:txBody>
      </p:sp>
      <p:pic>
        <p:nvPicPr>
          <p:cNvPr id="16" name="Picture 7" descr="7">
            <a:extLst>
              <a:ext uri="{FF2B5EF4-FFF2-40B4-BE49-F238E27FC236}">
                <a16:creationId xmlns:a16="http://schemas.microsoft.com/office/drawing/2014/main" id="{9DEF6CCA-31A0-4FE1-A664-8F9A5D185D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3441" y="987574"/>
            <a:ext cx="5184576" cy="2705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36590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FC9692-1678-456A-8828-F53EFF704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76" y="-20538"/>
            <a:ext cx="9144000" cy="637580"/>
          </a:xfrm>
        </p:spPr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Participation Constraints (</a:t>
            </a:r>
            <a:r>
              <a:rPr lang="zh-CN" altLang="en-US" dirty="0">
                <a:latin typeface="Comic Sans MS" panose="030F0702030302020204" pitchFamily="66" charset="0"/>
              </a:rPr>
              <a:t>参与约束</a:t>
            </a:r>
            <a:r>
              <a:rPr lang="en-US" altLang="zh-CN" dirty="0">
                <a:latin typeface="Comic Sans MS" panose="030F0702030302020204" pitchFamily="66" charset="0"/>
              </a:rPr>
              <a:t>)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AF1DBC-C80C-438D-81C7-F04697E7C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996" y="789553"/>
            <a:ext cx="8568952" cy="380507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zh-CN" sz="1800" b="1" dirty="0">
                <a:latin typeface="Comic Sans MS" panose="030F0702030302020204" pitchFamily="66" charset="0"/>
              </a:rPr>
              <a:t>Total participation</a:t>
            </a:r>
          </a:p>
          <a:p>
            <a:pPr lvl="1">
              <a:spcBef>
                <a:spcPts val="600"/>
              </a:spcBef>
            </a:pPr>
            <a:r>
              <a:rPr lang="en-US" altLang="zh-CN" sz="1600" dirty="0">
                <a:latin typeface="Comic Sans MS" panose="030F0702030302020204" pitchFamily="66" charset="0"/>
              </a:rPr>
              <a:t>Every entity in the entity set participates in at least one relationship in the relationship set</a:t>
            </a:r>
          </a:p>
          <a:p>
            <a:pPr lvl="1">
              <a:spcBef>
                <a:spcPts val="600"/>
              </a:spcBef>
            </a:pPr>
            <a:r>
              <a:rPr lang="en-US" altLang="zh-CN" sz="1600" dirty="0">
                <a:latin typeface="Comic Sans MS" panose="030F0702030302020204" pitchFamily="66" charset="0"/>
              </a:rPr>
              <a:t>E.g., </a:t>
            </a:r>
            <a:r>
              <a:rPr lang="zh-CN" altLang="en-US" sz="1600" dirty="0">
                <a:latin typeface="Comic Sans MS" panose="030F0702030302020204" pitchFamily="66" charset="0"/>
              </a:rPr>
              <a:t>每个</a:t>
            </a:r>
            <a:r>
              <a:rPr lang="en-US" altLang="zh-CN" sz="1600" dirty="0">
                <a:latin typeface="Comic Sans MS" panose="030F0702030302020204" pitchFamily="66" charset="0"/>
              </a:rPr>
              <a:t>student</a:t>
            </a:r>
            <a:r>
              <a:rPr lang="zh-CN" altLang="en-US" sz="1600" dirty="0">
                <a:latin typeface="Comic Sans MS" panose="030F0702030302020204" pitchFamily="66" charset="0"/>
              </a:rPr>
              <a:t>实体通过</a:t>
            </a:r>
            <a:r>
              <a:rPr lang="en-US" altLang="zh-CN" sz="1600" dirty="0">
                <a:latin typeface="Comic Sans MS" panose="030F0702030302020204" pitchFamily="66" charset="0"/>
              </a:rPr>
              <a:t>advisor</a:t>
            </a:r>
            <a:r>
              <a:rPr lang="zh-CN" altLang="en-US" sz="1600" dirty="0">
                <a:latin typeface="Comic Sans MS" panose="030F0702030302020204" pitchFamily="66" charset="0"/>
              </a:rPr>
              <a:t>联系同至少一名教师关联，</a:t>
            </a:r>
            <a:r>
              <a:rPr lang="en-US" altLang="zh-CN" sz="1600" dirty="0">
                <a:latin typeface="Comic Sans MS" panose="030F0702030302020204" pitchFamily="66" charset="0"/>
              </a:rPr>
              <a:t>student</a:t>
            </a:r>
            <a:r>
              <a:rPr lang="zh-CN" altLang="en-US" sz="1600" dirty="0">
                <a:latin typeface="Comic Sans MS" panose="030F0702030302020204" pitchFamily="66" charset="0"/>
              </a:rPr>
              <a:t>在联系集</a:t>
            </a:r>
            <a:r>
              <a:rPr lang="en-US" altLang="zh-CN" sz="1600" dirty="0">
                <a:latin typeface="Comic Sans MS" panose="030F0702030302020204" pitchFamily="66" charset="0"/>
              </a:rPr>
              <a:t>advisor</a:t>
            </a:r>
            <a:r>
              <a:rPr lang="zh-CN" altLang="en-US" sz="1600" dirty="0">
                <a:latin typeface="Comic Sans MS" panose="030F0702030302020204" pitchFamily="66" charset="0"/>
              </a:rPr>
              <a:t>中是全部参与</a:t>
            </a:r>
            <a:endParaRPr lang="en-US" altLang="zh-CN" sz="1600" dirty="0">
              <a:latin typeface="Comic Sans MS" panose="030F0702030302020204" pitchFamily="66" charset="0"/>
            </a:endParaRPr>
          </a:p>
          <a:p>
            <a:pPr>
              <a:spcBef>
                <a:spcPts val="600"/>
              </a:spcBef>
            </a:pPr>
            <a:r>
              <a:rPr lang="en-US" altLang="zh-CN" sz="1800" b="1" dirty="0">
                <a:latin typeface="Comic Sans MS" panose="030F0702030302020204" pitchFamily="66" charset="0"/>
              </a:rPr>
              <a:t>Partial participation</a:t>
            </a:r>
          </a:p>
          <a:p>
            <a:pPr lvl="1">
              <a:spcBef>
                <a:spcPts val="600"/>
              </a:spcBef>
            </a:pPr>
            <a:r>
              <a:rPr lang="en-US" altLang="zh-CN" sz="1600" dirty="0">
                <a:latin typeface="Comic Sans MS" panose="030F0702030302020204" pitchFamily="66" charset="0"/>
              </a:rPr>
              <a:t>Some entities may not participate in any relationship in the relationship set</a:t>
            </a:r>
          </a:p>
          <a:p>
            <a:pPr lvl="1">
              <a:spcBef>
                <a:spcPts val="600"/>
              </a:spcBef>
            </a:pPr>
            <a:r>
              <a:rPr lang="en-US" altLang="zh-CN" sz="1600" dirty="0">
                <a:latin typeface="Comic Sans MS" panose="030F0702030302020204" pitchFamily="66" charset="0"/>
              </a:rPr>
              <a:t>E.g., </a:t>
            </a:r>
            <a:r>
              <a:rPr lang="zh-CN" altLang="en-US" sz="1600" dirty="0">
                <a:latin typeface="Comic Sans MS" panose="030F0702030302020204" pitchFamily="66" charset="0"/>
              </a:rPr>
              <a:t>有的</a:t>
            </a:r>
            <a:r>
              <a:rPr lang="en-US" altLang="zh-CN" sz="1600" dirty="0">
                <a:latin typeface="Comic Sans MS" panose="030F0702030302020204" pitchFamily="66" charset="0"/>
              </a:rPr>
              <a:t>instructor</a:t>
            </a:r>
            <a:r>
              <a:rPr lang="zh-CN" altLang="en-US" sz="1600" dirty="0">
                <a:latin typeface="Comic Sans MS" panose="030F0702030302020204" pitchFamily="66" charset="0"/>
              </a:rPr>
              <a:t>可能不指导学生，所以</a:t>
            </a:r>
            <a:r>
              <a:rPr lang="en-US" altLang="zh-CN" sz="1600" dirty="0">
                <a:latin typeface="Comic Sans MS" panose="030F0702030302020204" pitchFamily="66" charset="0"/>
              </a:rPr>
              <a:t>instructor</a:t>
            </a:r>
            <a:r>
              <a:rPr lang="zh-CN" altLang="en-US" sz="1600" dirty="0">
                <a:latin typeface="Comic Sans MS" panose="030F0702030302020204" pitchFamily="66" charset="0"/>
              </a:rPr>
              <a:t>在联系集</a:t>
            </a:r>
            <a:r>
              <a:rPr lang="en-US" altLang="zh-CN" sz="1600" dirty="0">
                <a:latin typeface="Comic Sans MS" panose="030F0702030302020204" pitchFamily="66" charset="0"/>
              </a:rPr>
              <a:t>advisor</a:t>
            </a:r>
            <a:r>
              <a:rPr lang="zh-CN" altLang="en-US" sz="1600" dirty="0">
                <a:latin typeface="Comic Sans MS" panose="030F0702030302020204" pitchFamily="66" charset="0"/>
              </a:rPr>
              <a:t>中是部分参与</a:t>
            </a:r>
            <a:endParaRPr lang="en-US" altLang="zh-CN" sz="1600" dirty="0">
              <a:latin typeface="Comic Sans MS" panose="030F0702030302020204" pitchFamily="66" charset="0"/>
            </a:endParaRPr>
          </a:p>
          <a:p>
            <a:pPr>
              <a:spcBef>
                <a:spcPts val="600"/>
              </a:spcBef>
            </a:pPr>
            <a:endParaRPr lang="zh-CN" altLang="en-US" sz="18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7787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FF2846-FA2A-4BAA-9362-7D602E41C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Outline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6F7556-C772-4881-AE79-DA30A2459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524" y="771550"/>
            <a:ext cx="8568952" cy="3805070"/>
          </a:xfrm>
        </p:spPr>
        <p:txBody>
          <a:bodyPr/>
          <a:lstStyle/>
          <a:p>
            <a:pPr>
              <a:spcBef>
                <a:spcPts val="800"/>
              </a:spcBef>
            </a:pPr>
            <a:r>
              <a:rPr lang="en-US" altLang="zh-CN" dirty="0">
                <a:latin typeface="Comic Sans MS" panose="030F0702030302020204" pitchFamily="66" charset="0"/>
              </a:rPr>
              <a:t>Overview of the Design Process</a:t>
            </a:r>
          </a:p>
          <a:p>
            <a:pPr>
              <a:spcBef>
                <a:spcPts val="800"/>
              </a:spcBef>
            </a:pPr>
            <a:r>
              <a:rPr lang="en-US" altLang="zh-CN" dirty="0">
                <a:latin typeface="Comic Sans MS" panose="030F0702030302020204" pitchFamily="66" charset="0"/>
              </a:rPr>
              <a:t>Entity-Relationship Model (</a:t>
            </a:r>
            <a:r>
              <a:rPr lang="zh-CN" altLang="en-US" b="1" dirty="0">
                <a:latin typeface="Comic Sans MS" panose="030F0702030302020204" pitchFamily="66" charset="0"/>
              </a:rPr>
              <a:t>实体联系模型</a:t>
            </a:r>
            <a:r>
              <a:rPr lang="en-US" altLang="zh-CN" dirty="0">
                <a:latin typeface="Comic Sans MS" panose="030F0702030302020204" pitchFamily="66" charset="0"/>
              </a:rPr>
              <a:t>)</a:t>
            </a:r>
          </a:p>
          <a:p>
            <a:pPr>
              <a:spcBef>
                <a:spcPts val="800"/>
              </a:spcBef>
            </a:pPr>
            <a:r>
              <a:rPr lang="en-US" altLang="zh-CN" dirty="0">
                <a:latin typeface="Comic Sans MS" panose="030F0702030302020204" pitchFamily="66" charset="0"/>
              </a:rPr>
              <a:t>Constraints </a:t>
            </a:r>
          </a:p>
          <a:p>
            <a:pPr>
              <a:spcBef>
                <a:spcPts val="800"/>
              </a:spcBef>
            </a:pPr>
            <a:r>
              <a:rPr lang="en-US" altLang="zh-CN" b="1" dirty="0">
                <a:solidFill>
                  <a:srgbClr val="C00000"/>
                </a:solidFill>
                <a:latin typeface="Comic Sans MS" panose="030F0702030302020204" pitchFamily="66" charset="0"/>
              </a:rPr>
              <a:t>Entity-Relationship Diagrams (</a:t>
            </a:r>
            <a:r>
              <a:rPr lang="zh-CN" altLang="en-US" b="1" dirty="0">
                <a:solidFill>
                  <a:srgbClr val="C00000"/>
                </a:solidFill>
                <a:latin typeface="Comic Sans MS" panose="030F0702030302020204" pitchFamily="66" charset="0"/>
              </a:rPr>
              <a:t>实体联系图</a:t>
            </a:r>
            <a:r>
              <a:rPr lang="en-US" altLang="zh-CN" b="1" dirty="0">
                <a:solidFill>
                  <a:srgbClr val="C00000"/>
                </a:solidFill>
                <a:latin typeface="Comic Sans MS" panose="030F0702030302020204" pitchFamily="66" charset="0"/>
              </a:rPr>
              <a:t>)</a:t>
            </a:r>
          </a:p>
          <a:p>
            <a:pPr>
              <a:spcBef>
                <a:spcPts val="800"/>
              </a:spcBef>
            </a:pPr>
            <a:r>
              <a:rPr lang="en-US" altLang="zh-CN" dirty="0">
                <a:latin typeface="Comic Sans MS" panose="030F0702030302020204" pitchFamily="66" charset="0"/>
              </a:rPr>
              <a:t>Reduction to Relation Schemas</a:t>
            </a:r>
          </a:p>
          <a:p>
            <a:pPr>
              <a:spcBef>
                <a:spcPts val="800"/>
              </a:spcBef>
            </a:pPr>
            <a:r>
              <a:rPr lang="en-US" altLang="zh-CN" dirty="0">
                <a:latin typeface="Comic Sans MS" panose="030F0702030302020204" pitchFamily="66" charset="0"/>
              </a:rPr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2053744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DF0A70-EB06-4BBE-B588-78FF2A742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Entity-Relationship Diagrams 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E89704-D129-4D3F-80A9-F19DC18D2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789553"/>
            <a:ext cx="4896544" cy="3805070"/>
          </a:xfrm>
        </p:spPr>
        <p:txBody>
          <a:bodyPr/>
          <a:lstStyle/>
          <a:p>
            <a:r>
              <a:rPr lang="en-US" altLang="zh-CN" sz="1600" dirty="0">
                <a:latin typeface="Comic Sans MS" panose="030F0702030302020204" pitchFamily="66" charset="0"/>
              </a:rPr>
              <a:t>Rectangles represent entity sets</a:t>
            </a:r>
          </a:p>
          <a:p>
            <a:r>
              <a:rPr lang="en-US" altLang="zh-CN" sz="1600" dirty="0">
                <a:latin typeface="Comic Sans MS" panose="030F0702030302020204" pitchFamily="66" charset="0"/>
              </a:rPr>
              <a:t>Diamonds represent relationship sets.</a:t>
            </a:r>
          </a:p>
          <a:p>
            <a:r>
              <a:rPr lang="en-US" altLang="zh-CN" sz="1600" dirty="0">
                <a:latin typeface="Comic Sans MS" panose="030F0702030302020204" pitchFamily="66" charset="0"/>
              </a:rPr>
              <a:t>Lines link attributes to entity sets and entity sets to relationship sets.</a:t>
            </a:r>
          </a:p>
          <a:p>
            <a:r>
              <a:rPr lang="en-US" altLang="zh-CN" sz="1600" dirty="0">
                <a:latin typeface="Comic Sans MS" panose="030F0702030302020204" pitchFamily="66" charset="0"/>
              </a:rPr>
              <a:t>Ellipses represent attributes</a:t>
            </a:r>
          </a:p>
          <a:p>
            <a:pPr lvl="1"/>
            <a:r>
              <a:rPr lang="en-US" altLang="zh-CN" sz="1400" dirty="0">
                <a:latin typeface="Comic Sans MS" panose="030F0702030302020204" pitchFamily="66" charset="0"/>
              </a:rPr>
              <a:t>Double ellipses represent multi-valued attributes</a:t>
            </a:r>
          </a:p>
          <a:p>
            <a:pPr lvl="1"/>
            <a:r>
              <a:rPr lang="en-US" altLang="zh-CN" sz="1400" dirty="0">
                <a:latin typeface="Comic Sans MS" panose="030F0702030302020204" pitchFamily="66" charset="0"/>
              </a:rPr>
              <a:t>Dashed ellipses denote derived attributes</a:t>
            </a:r>
          </a:p>
          <a:p>
            <a:r>
              <a:rPr lang="en-US" altLang="zh-CN" sz="1600" dirty="0">
                <a:latin typeface="Comic Sans MS" panose="030F0702030302020204" pitchFamily="66" charset="0"/>
              </a:rPr>
              <a:t>Underline indicates primary key attributes</a:t>
            </a:r>
          </a:p>
          <a:p>
            <a:endParaRPr lang="zh-CN" altLang="en-US" sz="1600" dirty="0">
              <a:latin typeface="Comic Sans MS" panose="030F0702030302020204" pitchFamily="66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FE0F64-4433-4037-857B-8082CEC028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0" t="30756" r="1050" b="30756"/>
          <a:stretch>
            <a:fillRect/>
          </a:stretch>
        </p:blipFill>
        <p:spPr bwMode="auto">
          <a:xfrm>
            <a:off x="539552" y="3507855"/>
            <a:ext cx="4104456" cy="1157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426F1B91-1403-4709-84A8-9AD1ABEB25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040" y="789553"/>
            <a:ext cx="4392488" cy="168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8001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0" hangingPunct="0">
              <a:buClr>
                <a:srgbClr val="002060"/>
              </a:buClr>
              <a:buSzPct val="110000"/>
              <a:buChar char="•"/>
            </a:pPr>
            <a:r>
              <a:rPr lang="en-US" altLang="en-US" dirty="0">
                <a:latin typeface="Comic Sans MS" panose="030F0702030302020204" pitchFamily="66" charset="0"/>
                <a:ea typeface="微软雅黑" pitchFamily="34" charset="-122"/>
                <a:cs typeface="Arial" panose="020B0604020202020204" pitchFamily="34" charset="0"/>
              </a:rPr>
              <a:t>Entity sets can be represented graphically as follows:</a:t>
            </a:r>
          </a:p>
          <a:p>
            <a:pPr marL="742950" lvl="1" indent="-285750" eaLnBrk="0" hangingPunct="0">
              <a:buSzPct val="110000"/>
              <a:buChar char="–"/>
            </a:pPr>
            <a:r>
              <a:rPr lang="en-US" altLang="en-US" sz="1400" dirty="0">
                <a:latin typeface="Comic Sans MS" panose="030F0702030302020204" pitchFamily="66" charset="0"/>
                <a:ea typeface="微软雅黑" pitchFamily="34" charset="-122"/>
                <a:cs typeface="Arial" panose="020B0604020202020204" pitchFamily="34" charset="0"/>
              </a:rPr>
              <a:t>Rectangles represent entity sets.</a:t>
            </a:r>
          </a:p>
          <a:p>
            <a:pPr marL="742950" lvl="1" indent="-285750" eaLnBrk="0" hangingPunct="0">
              <a:buSzPct val="110000"/>
              <a:buChar char="–"/>
            </a:pPr>
            <a:r>
              <a:rPr lang="en-US" altLang="en-US" sz="1400" dirty="0">
                <a:latin typeface="Comic Sans MS" panose="030F0702030302020204" pitchFamily="66" charset="0"/>
                <a:ea typeface="微软雅黑" pitchFamily="34" charset="-122"/>
                <a:cs typeface="Arial" panose="020B0604020202020204" pitchFamily="34" charset="0"/>
              </a:rPr>
              <a:t>Attributes listed inside entity rectangle</a:t>
            </a:r>
          </a:p>
          <a:p>
            <a:pPr marL="742950" lvl="1" indent="-285750" eaLnBrk="0" hangingPunct="0">
              <a:buSzPct val="110000"/>
              <a:buChar char="–"/>
            </a:pPr>
            <a:r>
              <a:rPr lang="en-US" altLang="en-US" sz="1400" dirty="0">
                <a:latin typeface="Comic Sans MS" panose="030F0702030302020204" pitchFamily="66" charset="0"/>
                <a:ea typeface="微软雅黑" pitchFamily="34" charset="-122"/>
                <a:cs typeface="Arial" panose="020B0604020202020204" pitchFamily="34" charset="0"/>
              </a:rPr>
              <a:t>Underline indicates primary key attributes</a:t>
            </a:r>
          </a:p>
          <a:p>
            <a:pPr marL="342900" lvl="1" eaLnBrk="0" hangingPunct="0">
              <a:buClr>
                <a:srgbClr val="002060"/>
              </a:buClr>
              <a:buSzPct val="110000"/>
              <a:buFont typeface="Arial" charset="0"/>
              <a:buChar char="•"/>
            </a:pPr>
            <a:r>
              <a:rPr lang="en-US" altLang="en-US" dirty="0">
                <a:latin typeface="Comic Sans MS" panose="030F0702030302020204" pitchFamily="66" charset="0"/>
                <a:ea typeface="微软雅黑" pitchFamily="34" charset="-122"/>
                <a:cs typeface="Arial" panose="020B0604020202020204" pitchFamily="34" charset="0"/>
              </a:rPr>
              <a:t>Diamonds represent relationship sets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99D7BF-04B7-4B87-A1AC-2F6808BC2C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3003798"/>
            <a:ext cx="3404778" cy="696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47628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15588A-280C-4336-A048-8E28C5FDA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E-R Diagram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AC2FB5-8703-4259-8DEA-E6D7418A59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771550"/>
            <a:ext cx="8568952" cy="3805070"/>
          </a:xfrm>
        </p:spPr>
        <p:txBody>
          <a:bodyPr/>
          <a:lstStyle/>
          <a:p>
            <a:r>
              <a:rPr lang="en-US" altLang="zh-CN" sz="2000" dirty="0">
                <a:latin typeface="Comic Sans MS" panose="030F0702030302020204" pitchFamily="66" charset="0"/>
              </a:rPr>
              <a:t>E-R Diagram with composite, multivalued, and derived attributes</a:t>
            </a:r>
            <a:endParaRPr lang="zh-CN" altLang="en-US" sz="2000" dirty="0">
              <a:latin typeface="Comic Sans MS" panose="030F0702030302020204" pitchFamily="66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DFD094-83C3-4F9F-A454-FFF698890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2" t="14656" r="1706" b="16931"/>
          <a:stretch>
            <a:fillRect/>
          </a:stretch>
        </p:blipFill>
        <p:spPr bwMode="auto">
          <a:xfrm>
            <a:off x="755576" y="1397769"/>
            <a:ext cx="5641181" cy="29741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AutoShape 8">
            <a:extLst>
              <a:ext uri="{FF2B5EF4-FFF2-40B4-BE49-F238E27FC236}">
                <a16:creationId xmlns:a16="http://schemas.microsoft.com/office/drawing/2014/main" id="{3BB682D8-4781-42F5-A57B-B87EE0476F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5" y="4371950"/>
            <a:ext cx="971550" cy="323850"/>
          </a:xfrm>
          <a:prstGeom prst="wedgeRoundRectCallout">
            <a:avLst>
              <a:gd name="adj1" fmla="val 27329"/>
              <a:gd name="adj2" fmla="val -82722"/>
              <a:gd name="adj3" fmla="val 16667"/>
            </a:avLst>
          </a:prstGeom>
          <a:solidFill>
            <a:srgbClr val="99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defTabSz="685800" eaLnBrk="0" hangingPunct="0">
              <a:lnSpc>
                <a:spcPct val="9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900" b="1">
                <a:solidFill>
                  <a:srgbClr val="0000FF"/>
                </a:solidFill>
                <a:latin typeface="Helvetica" panose="020B0604020202020204" pitchFamily="34" charset="0"/>
                <a:ea typeface="宋体" panose="02010600030101010101" pitchFamily="2" charset="-122"/>
              </a:rPr>
              <a:t>multi-valued attribute</a:t>
            </a:r>
            <a:endParaRPr lang="zh-CN" altLang="en-US" sz="900" b="1">
              <a:solidFill>
                <a:srgbClr val="0000FF"/>
              </a:solidFill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AutoShape 9">
            <a:extLst>
              <a:ext uri="{FF2B5EF4-FFF2-40B4-BE49-F238E27FC236}">
                <a16:creationId xmlns:a16="http://schemas.microsoft.com/office/drawing/2014/main" id="{53AF2776-868A-4F99-8994-03A5E6CF6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1819" y="4263603"/>
            <a:ext cx="971550" cy="323850"/>
          </a:xfrm>
          <a:prstGeom prst="wedgeRoundRectCallout">
            <a:avLst>
              <a:gd name="adj1" fmla="val -58213"/>
              <a:gd name="adj2" fmla="val -97796"/>
              <a:gd name="adj3" fmla="val 16667"/>
            </a:avLst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defTabSz="685800" eaLnBrk="0" hangingPunct="0">
              <a:lnSpc>
                <a:spcPct val="9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900" b="1">
                <a:solidFill>
                  <a:srgbClr val="0000FF"/>
                </a:solidFill>
                <a:latin typeface="Helvetica" panose="020B0604020202020204" pitchFamily="34" charset="0"/>
                <a:ea typeface="宋体" panose="02010600030101010101" pitchFamily="2" charset="-122"/>
              </a:rPr>
              <a:t>derived attribute</a:t>
            </a:r>
            <a:endParaRPr lang="zh-CN" altLang="en-US" sz="900" b="1">
              <a:solidFill>
                <a:srgbClr val="0000FF"/>
              </a:solidFill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AutoShape 10">
            <a:extLst>
              <a:ext uri="{FF2B5EF4-FFF2-40B4-BE49-F238E27FC236}">
                <a16:creationId xmlns:a16="http://schemas.microsoft.com/office/drawing/2014/main" id="{3C5FF79C-9570-4440-B9FE-BBA0CC3BF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3951" y="2589584"/>
            <a:ext cx="971550" cy="323850"/>
          </a:xfrm>
          <a:prstGeom prst="wedgeRoundRectCallout">
            <a:avLst>
              <a:gd name="adj1" fmla="val 69361"/>
              <a:gd name="adj2" fmla="val -80514"/>
              <a:gd name="adj3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defTabSz="685800" eaLnBrk="0" hangingPunct="0">
              <a:lnSpc>
                <a:spcPct val="9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900" b="1" dirty="0">
                <a:solidFill>
                  <a:srgbClr val="0000FF"/>
                </a:solidFill>
                <a:latin typeface="Helvetica" panose="020B0604020202020204" pitchFamily="34" charset="0"/>
                <a:ea typeface="宋体" panose="02010600030101010101" pitchFamily="2" charset="-122"/>
              </a:rPr>
              <a:t>composite attribute</a:t>
            </a:r>
            <a:endParaRPr lang="zh-CN" altLang="en-US" sz="900" b="1" dirty="0">
              <a:solidFill>
                <a:srgbClr val="0000FF"/>
              </a:solidFill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97918295-9D0A-4962-AEBE-809246E8C6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3704" y="1625021"/>
            <a:ext cx="1321428" cy="28005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83130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4F298E-8D94-4F7C-ADEC-73077C9EF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Relationship Sets with Attributes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5DF53563-2649-4312-A1C4-0BE7DAB1DF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1764244"/>
            <a:ext cx="5544617" cy="16150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椭圆 5">
            <a:extLst>
              <a:ext uri="{FF2B5EF4-FFF2-40B4-BE49-F238E27FC236}">
                <a16:creationId xmlns:a16="http://schemas.microsoft.com/office/drawing/2014/main" id="{7671F52C-605E-4548-BE09-43B7976A3606}"/>
              </a:ext>
            </a:extLst>
          </p:cNvPr>
          <p:cNvSpPr/>
          <p:nvPr/>
        </p:nvSpPr>
        <p:spPr>
          <a:xfrm>
            <a:off x="3779912" y="1628011"/>
            <a:ext cx="1152128" cy="637580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4314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7FC3E7-5E67-4238-8937-872FCF7DA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Roles (</a:t>
            </a:r>
            <a:r>
              <a:rPr lang="zh-CN" altLang="en-US" dirty="0">
                <a:latin typeface="Comic Sans MS" panose="030F0702030302020204" pitchFamily="66" charset="0"/>
              </a:rPr>
              <a:t>角色</a:t>
            </a:r>
            <a:r>
              <a:rPr lang="en-US" altLang="zh-CN" dirty="0">
                <a:latin typeface="Comic Sans MS" panose="030F0702030302020204" pitchFamily="66" charset="0"/>
              </a:rPr>
              <a:t>)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E27E43-3F8B-4556-9B6B-FD3DF9E0E1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800" b="1" dirty="0">
                <a:latin typeface="Comic Sans MS" panose="030F0702030302020204" pitchFamily="66" charset="0"/>
              </a:rPr>
              <a:t>Entity sets of a relationship need not be distinct</a:t>
            </a:r>
          </a:p>
          <a:p>
            <a:pPr lvl="1"/>
            <a:r>
              <a:rPr lang="en-US" altLang="zh-CN" sz="1600" dirty="0">
                <a:latin typeface="Comic Sans MS" panose="030F0702030302020204" pitchFamily="66" charset="0"/>
              </a:rPr>
              <a:t>Each occurrence of an entity set plays a “role” in the relationship</a:t>
            </a:r>
          </a:p>
          <a:p>
            <a:pPr lvl="1"/>
            <a:r>
              <a:rPr lang="en-US" altLang="zh-CN" sz="1600" dirty="0">
                <a:latin typeface="Comic Sans MS" panose="030F0702030302020204" pitchFamily="66" charset="0"/>
              </a:rPr>
              <a:t>The labels “</a:t>
            </a:r>
            <a:r>
              <a:rPr lang="en-US" altLang="zh-CN" sz="1600" dirty="0" err="1">
                <a:latin typeface="Comic Sans MS" panose="030F0702030302020204" pitchFamily="66" charset="0"/>
              </a:rPr>
              <a:t>course_id</a:t>
            </a:r>
            <a:r>
              <a:rPr lang="en-US" altLang="zh-CN" sz="1600" dirty="0">
                <a:latin typeface="Comic Sans MS" panose="030F0702030302020204" pitchFamily="66" charset="0"/>
              </a:rPr>
              <a:t>” and “</a:t>
            </a:r>
            <a:r>
              <a:rPr lang="en-US" altLang="zh-CN" sz="1600" dirty="0" err="1">
                <a:latin typeface="Comic Sans MS" panose="030F0702030302020204" pitchFamily="66" charset="0"/>
              </a:rPr>
              <a:t>prereq_id</a:t>
            </a:r>
            <a:r>
              <a:rPr lang="en-US" altLang="zh-CN" sz="1600" dirty="0">
                <a:latin typeface="Comic Sans MS" panose="030F0702030302020204" pitchFamily="66" charset="0"/>
              </a:rPr>
              <a:t>” are called</a:t>
            </a:r>
            <a:r>
              <a:rPr lang="en-US" altLang="zh-CN" sz="1600" b="1" dirty="0">
                <a:solidFill>
                  <a:srgbClr val="C00000"/>
                </a:solidFill>
                <a:latin typeface="Comic Sans MS" panose="030F0702030302020204" pitchFamily="66" charset="0"/>
              </a:rPr>
              <a:t> roles</a:t>
            </a:r>
            <a:endParaRPr lang="en-US" altLang="zh-CN" sz="1400" b="1" dirty="0">
              <a:solidFill>
                <a:srgbClr val="C00000"/>
              </a:solidFill>
              <a:latin typeface="Comic Sans MS" panose="030F0702030302020204" pitchFamily="66" charset="0"/>
            </a:endParaRPr>
          </a:p>
          <a:p>
            <a:endParaRPr lang="zh-CN" altLang="en-US" sz="1800" dirty="0">
              <a:latin typeface="Comic Sans MS" panose="030F0702030302020204" pitchFamily="66" charset="0"/>
            </a:endParaRPr>
          </a:p>
        </p:txBody>
      </p:sp>
      <p:pic>
        <p:nvPicPr>
          <p:cNvPr id="5" name="Picture 17">
            <a:extLst>
              <a:ext uri="{FF2B5EF4-FFF2-40B4-BE49-F238E27FC236}">
                <a16:creationId xmlns:a16="http://schemas.microsoft.com/office/drawing/2014/main" id="{14A346EB-BA49-4C9D-BCDB-7F4B6DDDDC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2355726"/>
            <a:ext cx="4190876" cy="12363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13491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E079DE-A5F6-4CC7-BCD8-56FE2AEFD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Cardinality Constraints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315C49-3118-42CA-A0A3-3D0E35CB4C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800" dirty="0">
                <a:latin typeface="Comic Sans MS" panose="030F0702030302020204" pitchFamily="66" charset="0"/>
              </a:rPr>
              <a:t>We express cardinality constraints by drawing either a directed line (→), signifying “one,” or an undirected line (—), signifying “many,” between the relationship set and the entity set.</a:t>
            </a:r>
          </a:p>
          <a:p>
            <a:r>
              <a:rPr lang="en-US" altLang="zh-CN" sz="1800" b="1" dirty="0">
                <a:latin typeface="Comic Sans MS" panose="030F0702030302020204" pitchFamily="66" charset="0"/>
              </a:rPr>
              <a:t>One-to-one relationship</a:t>
            </a:r>
          </a:p>
          <a:p>
            <a:pPr lvl="1"/>
            <a:r>
              <a:rPr lang="en-US" altLang="zh-CN" sz="1400" dirty="0">
                <a:latin typeface="Comic Sans MS" panose="030F0702030302020204" pitchFamily="66" charset="0"/>
              </a:rPr>
              <a:t>A student is associated with at most one instructor via the relationship advisor, and vice versa</a:t>
            </a:r>
          </a:p>
          <a:p>
            <a:pPr lvl="1"/>
            <a:r>
              <a:rPr lang="en-US" altLang="zh-CN" sz="1400" dirty="0">
                <a:latin typeface="Comic Sans MS" panose="030F0702030302020204" pitchFamily="66" charset="0"/>
              </a:rPr>
              <a:t>A student is associated with at most one department via </a:t>
            </a:r>
            <a:r>
              <a:rPr lang="en-US" altLang="zh-CN" sz="1400" dirty="0" err="1">
                <a:latin typeface="Comic Sans MS" panose="030F0702030302020204" pitchFamily="66" charset="0"/>
              </a:rPr>
              <a:t>stud_dept</a:t>
            </a:r>
            <a:endParaRPr lang="en-US" altLang="zh-CN" sz="1400" dirty="0">
              <a:latin typeface="Comic Sans MS" panose="030F0702030302020204" pitchFamily="66" charset="0"/>
            </a:endParaRPr>
          </a:p>
          <a:p>
            <a:endParaRPr lang="zh-CN" altLang="en-US" sz="1800" dirty="0">
              <a:latin typeface="Comic Sans MS" panose="030F0702030302020204" pitchFamily="66" charset="0"/>
            </a:endParaRP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A6E8410B-FC52-4C87-B47D-D1D5F5DCF7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8418"/>
          <a:stretch>
            <a:fillRect/>
          </a:stretch>
        </p:blipFill>
        <p:spPr bwMode="auto">
          <a:xfrm>
            <a:off x="1835696" y="2859782"/>
            <a:ext cx="4464496" cy="1172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24474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A3686-F527-44EC-92A8-2AFD95B1F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One-To-Many Relationship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781671-16C4-4E8A-A58F-82E29D85F0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800" b="1" dirty="0">
                <a:latin typeface="Comic Sans MS" panose="030F0702030302020204" pitchFamily="66" charset="0"/>
              </a:rPr>
              <a:t>One-to-many relationship </a:t>
            </a:r>
          </a:p>
          <a:p>
            <a:pPr lvl="1"/>
            <a:r>
              <a:rPr lang="en-US" altLang="zh-CN" sz="1600" dirty="0">
                <a:latin typeface="Comic Sans MS" panose="030F0702030302020204" pitchFamily="66" charset="0"/>
              </a:rPr>
              <a:t>an instructor is associated with several (including 0) students via advisor </a:t>
            </a:r>
          </a:p>
          <a:p>
            <a:pPr lvl="1"/>
            <a:r>
              <a:rPr lang="en-US" altLang="zh-CN" sz="1600" dirty="0">
                <a:latin typeface="Comic Sans MS" panose="030F0702030302020204" pitchFamily="66" charset="0"/>
              </a:rPr>
              <a:t>a student is associated with at most one instructor via advisor</a:t>
            </a:r>
          </a:p>
          <a:p>
            <a:endParaRPr lang="zh-CN" altLang="en-US" sz="1800" dirty="0">
              <a:latin typeface="Comic Sans MS" panose="030F0702030302020204" pitchFamily="66" charset="0"/>
            </a:endParaRP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DEE61D93-5EBD-4F33-B4A4-399C9C74F4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459" b="44698"/>
          <a:stretch>
            <a:fillRect/>
          </a:stretch>
        </p:blipFill>
        <p:spPr bwMode="auto">
          <a:xfrm>
            <a:off x="2339752" y="2067694"/>
            <a:ext cx="4608512" cy="1339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05894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554562-E381-4FF1-BAD8-E4C1F8D0F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Many-To-One Relationships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D466CE-E6B5-4D96-9DF1-BD31A6DCA8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800" b="1" dirty="0">
                <a:latin typeface="Comic Sans MS" panose="030F0702030302020204" pitchFamily="66" charset="0"/>
              </a:rPr>
              <a:t>Many-to-one relationship </a:t>
            </a:r>
          </a:p>
          <a:p>
            <a:pPr lvl="1"/>
            <a:r>
              <a:rPr lang="en-US" altLang="zh-CN" sz="1600" dirty="0">
                <a:latin typeface="Comic Sans MS" panose="030F0702030302020204" pitchFamily="66" charset="0"/>
              </a:rPr>
              <a:t>an instructor is associated with at most one student via advisor</a:t>
            </a:r>
          </a:p>
          <a:p>
            <a:pPr lvl="1"/>
            <a:r>
              <a:rPr lang="en-US" altLang="zh-CN" sz="1600" dirty="0">
                <a:latin typeface="Comic Sans MS" panose="030F0702030302020204" pitchFamily="66" charset="0"/>
              </a:rPr>
              <a:t>a student is associated with several (including 0) instructors via advisor</a:t>
            </a:r>
          </a:p>
          <a:p>
            <a:endParaRPr lang="zh-CN" altLang="en-US" sz="1800" dirty="0">
              <a:latin typeface="Comic Sans MS" panose="030F0702030302020204" pitchFamily="66" charset="0"/>
            </a:endParaRPr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207A481E-4F3E-467E-891B-B536D36B9E2B}"/>
              </a:ext>
            </a:extLst>
          </p:cNvPr>
          <p:cNvGrpSpPr/>
          <p:nvPr/>
        </p:nvGrpSpPr>
        <p:grpSpPr>
          <a:xfrm>
            <a:off x="2051720" y="2067694"/>
            <a:ext cx="4752528" cy="1368152"/>
            <a:chOff x="1999869" y="2532454"/>
            <a:chExt cx="5876163" cy="181451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326627A-8F44-4237-998B-E38CF3D8A6AA}"/>
                </a:ext>
              </a:extLst>
            </p:cNvPr>
            <p:cNvPicPr preferRelativeResize="0"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8164" b="6378"/>
            <a:stretch>
              <a:fillRect/>
            </a:stretch>
          </p:blipFill>
          <p:spPr bwMode="auto">
            <a:xfrm>
              <a:off x="1999869" y="2532454"/>
              <a:ext cx="5876163" cy="1814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Line 6">
              <a:extLst>
                <a:ext uri="{FF2B5EF4-FFF2-40B4-BE49-F238E27FC236}">
                  <a16:creationId xmlns:a16="http://schemas.microsoft.com/office/drawing/2014/main" id="{F682BAFC-BEA2-4F7C-A79B-554E209328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61211" y="3472078"/>
              <a:ext cx="228600" cy="15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37322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29D793-A758-4563-8FE9-3F496BE09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85" y="-20538"/>
            <a:ext cx="9144000" cy="637580"/>
          </a:xfrm>
        </p:spPr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Many-To-Many Relationship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15BA9E-4C30-4A2F-9575-049FA5474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305" y="789553"/>
            <a:ext cx="8568952" cy="3805070"/>
          </a:xfrm>
        </p:spPr>
        <p:txBody>
          <a:bodyPr/>
          <a:lstStyle/>
          <a:p>
            <a:r>
              <a:rPr lang="en-US" altLang="zh-CN" sz="1800" b="1" dirty="0">
                <a:latin typeface="Comic Sans MS" panose="030F0702030302020204" pitchFamily="66" charset="0"/>
              </a:rPr>
              <a:t>Many-to-many relationship</a:t>
            </a:r>
          </a:p>
          <a:p>
            <a:pPr lvl="1"/>
            <a:r>
              <a:rPr lang="en-US" altLang="zh-CN" sz="1600" dirty="0">
                <a:latin typeface="Comic Sans MS" panose="030F0702030302020204" pitchFamily="66" charset="0"/>
              </a:rPr>
              <a:t>An instructor is associated with several (possibly 0) students via advisor</a:t>
            </a:r>
          </a:p>
          <a:p>
            <a:pPr lvl="1"/>
            <a:r>
              <a:rPr lang="en-US" altLang="zh-CN" sz="1600" dirty="0">
                <a:latin typeface="Comic Sans MS" panose="030F0702030302020204" pitchFamily="66" charset="0"/>
              </a:rPr>
              <a:t>A student is associated with several (possibly 0) instructors via advisor </a:t>
            </a:r>
          </a:p>
          <a:p>
            <a:endParaRPr lang="zh-CN" altLang="en-US" sz="1800" dirty="0">
              <a:latin typeface="Comic Sans MS" panose="030F0702030302020204" pitchFamily="66" charset="0"/>
            </a:endParaRP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63D4B67F-A94B-4914-AD9F-14E0BE24FB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2139702"/>
            <a:ext cx="5616624" cy="114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21979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6F0878-1923-40BD-81E6-07953AFA9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Alternative Notation for Cardinality Limits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FEDEA2-8143-4A9D-B25E-32EC3F054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789553"/>
            <a:ext cx="8568952" cy="3805070"/>
          </a:xfrm>
        </p:spPr>
        <p:txBody>
          <a:bodyPr/>
          <a:lstStyle/>
          <a:p>
            <a:r>
              <a:rPr lang="en-US" altLang="zh-CN" sz="1800" dirty="0">
                <a:latin typeface="Comic Sans MS" panose="030F0702030302020204" pitchFamily="66" charset="0"/>
              </a:rPr>
              <a:t>A line may have an associated minimum and maximum cardinality, shown in the form l…h, where l is the minimum and h the maximum cardinality</a:t>
            </a:r>
          </a:p>
          <a:p>
            <a:pPr lvl="1"/>
            <a:r>
              <a:rPr lang="en-US" altLang="zh-CN" sz="1400" dirty="0">
                <a:latin typeface="Comic Sans MS" panose="030F0702030302020204" pitchFamily="66" charset="0"/>
              </a:rPr>
              <a:t>A minimum value of 1 indicates total participation</a:t>
            </a:r>
          </a:p>
          <a:p>
            <a:pPr lvl="1"/>
            <a:r>
              <a:rPr lang="en-US" altLang="zh-CN" sz="1400" dirty="0">
                <a:latin typeface="Comic Sans MS" panose="030F0702030302020204" pitchFamily="66" charset="0"/>
              </a:rPr>
              <a:t>A maximum value of 1 indicates that the entity participates in at most one relationship</a:t>
            </a:r>
          </a:p>
          <a:p>
            <a:pPr lvl="1"/>
            <a:r>
              <a:rPr lang="en-US" altLang="zh-CN" sz="1400" dirty="0">
                <a:latin typeface="Comic Sans MS" panose="030F0702030302020204" pitchFamily="66" charset="0"/>
              </a:rPr>
              <a:t>A maximum value of * indicates no limit</a:t>
            </a:r>
          </a:p>
          <a:p>
            <a:r>
              <a:rPr lang="en-US" altLang="zh-CN" sz="1800" b="1" dirty="0">
                <a:latin typeface="Comic Sans MS" panose="030F0702030302020204" pitchFamily="66" charset="0"/>
              </a:rPr>
              <a:t>Example</a:t>
            </a:r>
          </a:p>
          <a:p>
            <a:pPr lvl="1"/>
            <a:r>
              <a:rPr lang="en-US" altLang="zh-CN" sz="1400" dirty="0">
                <a:latin typeface="Comic Sans MS" panose="030F0702030302020204" pitchFamily="66" charset="0"/>
              </a:rPr>
              <a:t>Instructor can advise 0 or more students. A student must have 1 advisor and cannot have multiple advisors</a:t>
            </a:r>
          </a:p>
          <a:p>
            <a:endParaRPr lang="en-US" altLang="zh-CN" sz="1800" dirty="0">
              <a:latin typeface="Comic Sans MS" panose="030F0702030302020204" pitchFamily="66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6A220F-0C94-4AFD-A8BA-CC17FEE2B4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3275620"/>
            <a:ext cx="5392484" cy="1053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70614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266D9A-C970-474F-BDEB-C2369BB8B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Keys (</a:t>
            </a:r>
            <a:r>
              <a:rPr lang="zh-CN" altLang="en-US" dirty="0">
                <a:latin typeface="Comic Sans MS" panose="030F0702030302020204" pitchFamily="66" charset="0"/>
              </a:rPr>
              <a:t>键</a:t>
            </a:r>
            <a:r>
              <a:rPr lang="en-US" altLang="zh-CN" dirty="0">
                <a:latin typeface="Comic Sans MS" panose="030F0702030302020204" pitchFamily="66" charset="0"/>
              </a:rPr>
              <a:t>/</a:t>
            </a:r>
            <a:r>
              <a:rPr lang="zh-CN" altLang="en-US" dirty="0">
                <a:latin typeface="Comic Sans MS" panose="030F0702030302020204" pitchFamily="66" charset="0"/>
              </a:rPr>
              <a:t>码</a:t>
            </a:r>
            <a:r>
              <a:rPr lang="en-US" altLang="zh-CN" dirty="0">
                <a:latin typeface="Comic Sans MS" panose="030F0702030302020204" pitchFamily="66" charset="0"/>
              </a:rPr>
              <a:t>)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C9ECC2-1ADA-400C-B8B2-E6E7E1BEB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483" y="793531"/>
            <a:ext cx="8583989" cy="3801092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zh-CN" sz="1800" dirty="0">
                <a:latin typeface="Comic Sans MS" panose="030F0702030302020204" pitchFamily="66" charset="0"/>
              </a:rPr>
              <a:t>A </a:t>
            </a:r>
            <a:r>
              <a:rPr lang="en-US" altLang="zh-CN" sz="1800" dirty="0" err="1">
                <a:latin typeface="Comic Sans MS" panose="030F0702030302020204" pitchFamily="66" charset="0"/>
              </a:rPr>
              <a:t>superkey</a:t>
            </a:r>
            <a:r>
              <a:rPr lang="en-US" altLang="zh-CN" sz="1800" dirty="0">
                <a:latin typeface="Comic Sans MS" panose="030F0702030302020204" pitchFamily="66" charset="0"/>
              </a:rPr>
              <a:t> (</a:t>
            </a:r>
            <a:r>
              <a:rPr lang="zh-CN" altLang="en-US" sz="1800" dirty="0">
                <a:latin typeface="Comic Sans MS" panose="030F0702030302020204" pitchFamily="66" charset="0"/>
              </a:rPr>
              <a:t>超键</a:t>
            </a:r>
            <a:r>
              <a:rPr lang="en-US" altLang="zh-CN" sz="1800" dirty="0">
                <a:latin typeface="Comic Sans MS" panose="030F0702030302020204" pitchFamily="66" charset="0"/>
              </a:rPr>
              <a:t>) of an entity set is a set of one or more attributes whose values uniquely determine each entity</a:t>
            </a:r>
          </a:p>
          <a:p>
            <a:pPr>
              <a:spcBef>
                <a:spcPts val="600"/>
              </a:spcBef>
            </a:pPr>
            <a:r>
              <a:rPr lang="en-US" altLang="zh-CN" sz="1800" dirty="0">
                <a:latin typeface="Comic Sans MS" panose="030F0702030302020204" pitchFamily="66" charset="0"/>
              </a:rPr>
              <a:t>A candidate key (</a:t>
            </a:r>
            <a:r>
              <a:rPr lang="zh-CN" altLang="en-US" sz="1800" dirty="0">
                <a:latin typeface="Comic Sans MS" panose="030F0702030302020204" pitchFamily="66" charset="0"/>
              </a:rPr>
              <a:t>候选键</a:t>
            </a:r>
            <a:r>
              <a:rPr lang="en-US" altLang="zh-CN" sz="1800" dirty="0">
                <a:latin typeface="Comic Sans MS" panose="030F0702030302020204" pitchFamily="66" charset="0"/>
              </a:rPr>
              <a:t>) of an entity set is a </a:t>
            </a:r>
            <a:r>
              <a:rPr lang="en-US" altLang="zh-CN" sz="1800" b="1" dirty="0">
                <a:solidFill>
                  <a:srgbClr val="C00000"/>
                </a:solidFill>
                <a:latin typeface="Comic Sans MS" panose="030F0702030302020204" pitchFamily="66" charset="0"/>
              </a:rPr>
              <a:t>minimal </a:t>
            </a:r>
            <a:r>
              <a:rPr lang="en-US" altLang="zh-CN" sz="1800" b="1" dirty="0" err="1">
                <a:solidFill>
                  <a:srgbClr val="C00000"/>
                </a:solidFill>
                <a:latin typeface="Comic Sans MS" panose="030F0702030302020204" pitchFamily="66" charset="0"/>
              </a:rPr>
              <a:t>superkey</a:t>
            </a:r>
            <a:endParaRPr lang="en-US" altLang="zh-CN" sz="1800" b="1" dirty="0">
              <a:solidFill>
                <a:srgbClr val="C00000"/>
              </a:solidFill>
              <a:latin typeface="Comic Sans MS" panose="030F0702030302020204" pitchFamily="66" charset="0"/>
            </a:endParaRPr>
          </a:p>
          <a:p>
            <a:pPr lvl="1">
              <a:spcBef>
                <a:spcPts val="600"/>
              </a:spcBef>
            </a:pPr>
            <a:r>
              <a:rPr lang="en-US" altLang="zh-CN" sz="1400" dirty="0" err="1">
                <a:latin typeface="Comic Sans MS" panose="030F0702030302020204" pitchFamily="66" charset="0"/>
              </a:rPr>
              <a:t>student_id</a:t>
            </a:r>
            <a:r>
              <a:rPr lang="en-US" altLang="zh-CN" sz="1400" dirty="0">
                <a:latin typeface="Comic Sans MS" panose="030F0702030302020204" pitchFamily="66" charset="0"/>
              </a:rPr>
              <a:t> is a candidate key of student</a:t>
            </a:r>
          </a:p>
          <a:p>
            <a:pPr lvl="1">
              <a:spcBef>
                <a:spcPts val="600"/>
              </a:spcBef>
            </a:pPr>
            <a:r>
              <a:rPr lang="en-US" altLang="zh-CN" sz="1400" dirty="0" err="1">
                <a:latin typeface="Comic Sans MS" panose="030F0702030302020204" pitchFamily="66" charset="0"/>
              </a:rPr>
              <a:t>account_number</a:t>
            </a:r>
            <a:r>
              <a:rPr lang="en-US" altLang="zh-CN" sz="1400" dirty="0">
                <a:latin typeface="Comic Sans MS" panose="030F0702030302020204" pitchFamily="66" charset="0"/>
              </a:rPr>
              <a:t> is a candidate key of account</a:t>
            </a:r>
          </a:p>
          <a:p>
            <a:pPr>
              <a:spcBef>
                <a:spcPts val="600"/>
              </a:spcBef>
            </a:pPr>
            <a:r>
              <a:rPr lang="en-US" altLang="zh-CN" sz="1800" dirty="0">
                <a:latin typeface="Comic Sans MS" panose="030F0702030302020204" pitchFamily="66" charset="0"/>
              </a:rPr>
              <a:t>Although several candidate keys may exist, one of the candidate keys is selected to be the primary key (</a:t>
            </a:r>
            <a:r>
              <a:rPr lang="zh-CN" altLang="en-US" sz="1800" dirty="0">
                <a:latin typeface="Comic Sans MS" panose="030F0702030302020204" pitchFamily="66" charset="0"/>
              </a:rPr>
              <a:t>主键</a:t>
            </a:r>
            <a:r>
              <a:rPr lang="en-US" altLang="zh-CN" sz="1800" dirty="0">
                <a:latin typeface="Comic Sans MS" panose="030F0702030302020204" pitchFamily="66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0777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041384-A90D-4D9A-B55A-44A5D42D4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Keys for Relationship Sets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63AE9B-6A47-4FE8-B247-E919A02A65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r>
              <a:rPr lang="en-US" altLang="zh-CN" sz="1800" dirty="0">
                <a:latin typeface="Comic Sans MS" panose="030F0702030302020204" pitchFamily="66" charset="0"/>
              </a:rPr>
              <a:t>The </a:t>
            </a:r>
            <a:r>
              <a:rPr lang="en-US" altLang="zh-CN" sz="1800" b="1" dirty="0">
                <a:solidFill>
                  <a:srgbClr val="C00000"/>
                </a:solidFill>
                <a:latin typeface="Comic Sans MS" panose="030F0702030302020204" pitchFamily="66" charset="0"/>
              </a:rPr>
              <a:t>combination of primary keys</a:t>
            </a:r>
            <a:r>
              <a:rPr lang="en-US" altLang="zh-CN" sz="1800" dirty="0">
                <a:latin typeface="Comic Sans MS" panose="030F0702030302020204" pitchFamily="66" charset="0"/>
              </a:rPr>
              <a:t> of the participating entity sets forms a </a:t>
            </a:r>
            <a:r>
              <a:rPr lang="en-US" altLang="zh-CN" sz="1800" dirty="0" err="1">
                <a:latin typeface="Comic Sans MS" panose="030F0702030302020204" pitchFamily="66" charset="0"/>
              </a:rPr>
              <a:t>superkey</a:t>
            </a:r>
            <a:r>
              <a:rPr lang="en-US" altLang="zh-CN" sz="1800" dirty="0">
                <a:latin typeface="Comic Sans MS" panose="030F0702030302020204" pitchFamily="66" charset="0"/>
              </a:rPr>
              <a:t> of a relationship set</a:t>
            </a:r>
          </a:p>
          <a:p>
            <a:pPr lvl="1">
              <a:spcBef>
                <a:spcPts val="600"/>
              </a:spcBef>
            </a:pPr>
            <a:r>
              <a:rPr lang="en-US" altLang="zh-CN" sz="1600" dirty="0">
                <a:latin typeface="Comic Sans MS" panose="030F0702030302020204" pitchFamily="66" charset="0"/>
              </a:rPr>
              <a:t>(</a:t>
            </a:r>
            <a:r>
              <a:rPr lang="en-US" altLang="zh-CN" sz="1600" dirty="0" err="1">
                <a:latin typeface="Comic Sans MS" panose="030F0702030302020204" pitchFamily="66" charset="0"/>
              </a:rPr>
              <a:t>customer_id</a:t>
            </a:r>
            <a:r>
              <a:rPr lang="en-US" altLang="zh-CN" sz="1600" dirty="0">
                <a:latin typeface="Comic Sans MS" panose="030F0702030302020204" pitchFamily="66" charset="0"/>
              </a:rPr>
              <a:t>, </a:t>
            </a:r>
            <a:r>
              <a:rPr lang="en-US" altLang="zh-CN" sz="1600" dirty="0" err="1">
                <a:latin typeface="Comic Sans MS" panose="030F0702030302020204" pitchFamily="66" charset="0"/>
              </a:rPr>
              <a:t>account_number</a:t>
            </a:r>
            <a:r>
              <a:rPr lang="en-US" altLang="zh-CN" sz="1600" dirty="0">
                <a:latin typeface="Comic Sans MS" panose="030F0702030302020204" pitchFamily="66" charset="0"/>
              </a:rPr>
              <a:t>) is the super key of depositor</a:t>
            </a:r>
          </a:p>
          <a:p>
            <a:pPr>
              <a:spcBef>
                <a:spcPts val="600"/>
              </a:spcBef>
            </a:pPr>
            <a:r>
              <a:rPr lang="en-US" altLang="zh-CN" sz="1800" dirty="0">
                <a:latin typeface="Comic Sans MS" panose="030F0702030302020204" pitchFamily="66" charset="0"/>
              </a:rPr>
              <a:t>Must consider the mapping cardinality of the relationship set when deciding the candidate keys </a:t>
            </a:r>
          </a:p>
          <a:p>
            <a:pPr>
              <a:spcBef>
                <a:spcPts val="600"/>
              </a:spcBef>
            </a:pPr>
            <a:r>
              <a:rPr lang="en-US" altLang="zh-CN" sz="1800" dirty="0">
                <a:latin typeface="Comic Sans MS" panose="030F0702030302020204" pitchFamily="66" charset="0"/>
              </a:rPr>
              <a:t>Need to consider semantics of relationship set in selecting the primary key in case of more than one candidate key</a:t>
            </a:r>
          </a:p>
        </p:txBody>
      </p:sp>
    </p:spTree>
    <p:extLst>
      <p:ext uri="{BB962C8B-B14F-4D97-AF65-F5344CB8AC3E}">
        <p14:creationId xmlns:p14="http://schemas.microsoft.com/office/powerpoint/2010/main" val="3782353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22D4FB-6670-4094-8794-FB75705E1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E-R Diagram with a Ternary Relationship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1998F11B-01EC-4F47-94C5-3C7747D56B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9" t="27081" r="787" b="26819"/>
          <a:stretch>
            <a:fillRect/>
          </a:stretch>
        </p:blipFill>
        <p:spPr bwMode="auto">
          <a:xfrm>
            <a:off x="971600" y="1491630"/>
            <a:ext cx="6826432" cy="24062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Diagram 6">
            <a:extLst>
              <a:ext uri="{FF2B5EF4-FFF2-40B4-BE49-F238E27FC236}">
                <a16:creationId xmlns:a16="http://schemas.microsoft.com/office/drawing/2014/main" id="{A12A3E58-2A90-4D9A-AA26-D192E043F75F}"/>
              </a:ext>
            </a:extLst>
          </p:cNvPr>
          <p:cNvGrpSpPr>
            <a:grpSpLocks/>
          </p:cNvGrpSpPr>
          <p:nvPr/>
        </p:nvGrpSpPr>
        <p:grpSpPr bwMode="auto">
          <a:xfrm>
            <a:off x="1457325" y="876300"/>
            <a:ext cx="6257925" cy="3781425"/>
            <a:chOff x="230" y="544"/>
            <a:chExt cx="5256" cy="3176"/>
          </a:xfrm>
        </p:grpSpPr>
        <p:sp>
          <p:nvSpPr>
            <p:cNvPr id="8" name="Oval 11">
              <a:extLst>
                <a:ext uri="{FF2B5EF4-FFF2-40B4-BE49-F238E27FC236}">
                  <a16:creationId xmlns:a16="http://schemas.microsoft.com/office/drawing/2014/main" id="{96CA07C2-313E-42B3-97E2-CEA10A9632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8" y="2558"/>
              <a:ext cx="1089" cy="453"/>
            </a:xfrm>
            <a:prstGeom prst="ellipse">
              <a:avLst/>
            </a:prstGeom>
            <a:noFill/>
            <a:ln w="28575" cap="rnd">
              <a:solidFill>
                <a:srgbClr val="FF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842277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7F2D90-540C-448C-A6A6-0EA925AA2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Binary vs. Non-Binary Relationships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D4D8C0-1BCA-470A-87AD-D3A92671F8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>
                <a:latin typeface="Comic Sans MS" panose="030F0702030302020204" pitchFamily="66" charset="0"/>
              </a:rPr>
              <a:t>Some relationships that appear to be non-binary may be better represented using binary relationships</a:t>
            </a:r>
          </a:p>
          <a:p>
            <a:pPr lvl="1"/>
            <a:r>
              <a:rPr lang="en-US" altLang="zh-CN" sz="1800" dirty="0">
                <a:latin typeface="Comic Sans MS" panose="030F0702030302020204" pitchFamily="66" charset="0"/>
              </a:rPr>
              <a:t>E.g.  A ternary relationship parents, relating a child to his/her father and mother, can be replaced by two binary relationships,  father and mother</a:t>
            </a:r>
          </a:p>
          <a:p>
            <a:pPr lvl="2"/>
            <a:r>
              <a:rPr lang="en-US" altLang="zh-CN" sz="1600" dirty="0">
                <a:latin typeface="Comic Sans MS" panose="030F0702030302020204" pitchFamily="66" charset="0"/>
              </a:rPr>
              <a:t>Using two binary relationships allows partial information (e.g., only mother being known)</a:t>
            </a:r>
          </a:p>
          <a:p>
            <a:pPr lvl="1"/>
            <a:r>
              <a:rPr lang="en-US" altLang="zh-CN" sz="1800" dirty="0">
                <a:latin typeface="Comic Sans MS" panose="030F0702030302020204" pitchFamily="66" charset="0"/>
              </a:rPr>
              <a:t>But there are some relationships that are naturally non-binary</a:t>
            </a:r>
          </a:p>
          <a:p>
            <a:pPr lvl="2"/>
            <a:r>
              <a:rPr lang="en-US" altLang="zh-CN" sz="1600" dirty="0">
                <a:latin typeface="Comic Sans MS" panose="030F0702030302020204" pitchFamily="66" charset="0"/>
              </a:rPr>
              <a:t>E.g. works-on, </a:t>
            </a:r>
            <a:r>
              <a:rPr lang="en-US" altLang="zh-CN" sz="1600" dirty="0" err="1">
                <a:latin typeface="Comic Sans MS" panose="030F0702030302020204" pitchFamily="66" charset="0"/>
              </a:rPr>
              <a:t>proj_guide</a:t>
            </a:r>
            <a:endParaRPr lang="zh-CN" altLang="en-US" sz="16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8669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3D3835-D7AB-4695-B811-E6A001D25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Converting Non-Binary Relationships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9A8F88B-4D53-43DB-8AD7-42D3DA1CF6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9512" y="669215"/>
                <a:ext cx="8568952" cy="3805070"/>
              </a:xfrm>
            </p:spPr>
            <p:txBody>
              <a:bodyPr/>
              <a:lstStyle/>
              <a:p>
                <a:r>
                  <a:rPr lang="en-US" altLang="zh-CN" sz="2000" dirty="0">
                    <a:latin typeface="Comic Sans MS" panose="030F0702030302020204" pitchFamily="66" charset="0"/>
                  </a:rPr>
                  <a:t>Any non-binary relationship can be represented using binary relationships by creating an </a:t>
                </a:r>
                <a:r>
                  <a:rPr lang="en-US" altLang="zh-CN" sz="2000" b="1" dirty="0">
                    <a:solidFill>
                      <a:srgbClr val="C00000"/>
                    </a:solidFill>
                    <a:latin typeface="Comic Sans MS" panose="030F0702030302020204" pitchFamily="66" charset="0"/>
                  </a:rPr>
                  <a:t>artificial entity set</a:t>
                </a:r>
              </a:p>
              <a:p>
                <a:pPr lvl="1"/>
                <a:r>
                  <a:rPr lang="en-US" altLang="zh-CN" sz="1600" dirty="0">
                    <a:latin typeface="Comic Sans MS" panose="030F0702030302020204" pitchFamily="66" charset="0"/>
                  </a:rPr>
                  <a:t>Replace R between entity sets A, B and C with an entity set E, and three relationship sets: </a:t>
                </a:r>
              </a:p>
              <a:p>
                <a:pPr lvl="2"/>
                <a:r>
                  <a:rPr lang="en-US" altLang="zh-CN" sz="1400" dirty="0">
                    <a:latin typeface="Comic Sans MS" panose="030F0702030302020204" pitchFamily="66" charset="0"/>
                  </a:rPr>
                  <a:t>R</a:t>
                </a:r>
                <a:r>
                  <a:rPr lang="en-US" altLang="zh-CN" sz="1400" baseline="-25000" dirty="0">
                    <a:latin typeface="Comic Sans MS" panose="030F0702030302020204" pitchFamily="66" charset="0"/>
                  </a:rPr>
                  <a:t>A</a:t>
                </a:r>
                <a:r>
                  <a:rPr lang="en-US" altLang="zh-CN" sz="1400" dirty="0">
                    <a:latin typeface="Comic Sans MS" panose="030F0702030302020204" pitchFamily="66" charset="0"/>
                  </a:rPr>
                  <a:t>, relating E and A </a:t>
                </a:r>
              </a:p>
              <a:p>
                <a:pPr lvl="2"/>
                <a:r>
                  <a:rPr lang="en-US" altLang="zh-CN" sz="1400" dirty="0">
                    <a:latin typeface="Comic Sans MS" panose="030F0702030302020204" pitchFamily="66" charset="0"/>
                  </a:rPr>
                  <a:t>R</a:t>
                </a:r>
                <a:r>
                  <a:rPr lang="en-US" altLang="zh-CN" sz="1400" baseline="-25000" dirty="0">
                    <a:latin typeface="Comic Sans MS" panose="030F0702030302020204" pitchFamily="66" charset="0"/>
                  </a:rPr>
                  <a:t>B</a:t>
                </a:r>
                <a:r>
                  <a:rPr lang="en-US" altLang="zh-CN" sz="1400" dirty="0">
                    <a:latin typeface="Comic Sans MS" panose="030F0702030302020204" pitchFamily="66" charset="0"/>
                  </a:rPr>
                  <a:t>, relating E and B</a:t>
                </a:r>
              </a:p>
              <a:p>
                <a:pPr lvl="2"/>
                <a:r>
                  <a:rPr lang="en-US" altLang="zh-CN" sz="1400" dirty="0">
                    <a:latin typeface="Comic Sans MS" panose="030F0702030302020204" pitchFamily="66" charset="0"/>
                  </a:rPr>
                  <a:t>R</a:t>
                </a:r>
                <a:r>
                  <a:rPr lang="en-US" altLang="zh-CN" sz="1400" baseline="-25000" dirty="0">
                    <a:latin typeface="Comic Sans MS" panose="030F0702030302020204" pitchFamily="66" charset="0"/>
                  </a:rPr>
                  <a:t>C</a:t>
                </a:r>
                <a:r>
                  <a:rPr lang="en-US" altLang="zh-CN" sz="1400" dirty="0">
                    <a:latin typeface="Comic Sans MS" panose="030F0702030302020204" pitchFamily="66" charset="0"/>
                  </a:rPr>
                  <a:t>, relating E and C</a:t>
                </a:r>
              </a:p>
              <a:p>
                <a:pPr lvl="1"/>
                <a:r>
                  <a:rPr lang="en-US" altLang="zh-CN" sz="1600" dirty="0">
                    <a:latin typeface="Comic Sans MS" panose="030F0702030302020204" pitchFamily="66" charset="0"/>
                  </a:rPr>
                  <a:t>Create a special identifying attribute for E,</a:t>
                </a:r>
                <a:r>
                  <a:rPr lang="zh-CN" altLang="en-US" sz="1600" dirty="0">
                    <a:latin typeface="Comic Sans MS" panose="030F0702030302020204" pitchFamily="66" charset="0"/>
                  </a:rPr>
                  <a:t> </a:t>
                </a:r>
                <a:r>
                  <a:rPr lang="en-US" altLang="zh-CN" sz="1600" dirty="0">
                    <a:latin typeface="Comic Sans MS" panose="030F0702030302020204" pitchFamily="66" charset="0"/>
                  </a:rPr>
                  <a:t>and</a:t>
                </a:r>
                <a:r>
                  <a:rPr lang="zh-CN" altLang="en-US" sz="1600" dirty="0">
                    <a:latin typeface="Comic Sans MS" panose="030F0702030302020204" pitchFamily="66" charset="0"/>
                  </a:rPr>
                  <a:t> </a:t>
                </a:r>
                <a:r>
                  <a:rPr lang="en-US" altLang="zh-CN" sz="1600" dirty="0">
                    <a:latin typeface="Comic Sans MS" panose="030F0702030302020204" pitchFamily="66" charset="0"/>
                  </a:rPr>
                  <a:t>add any attributes of R to E </a:t>
                </a:r>
              </a:p>
              <a:p>
                <a:pPr lvl="1"/>
                <a:r>
                  <a:rPr lang="en-US" altLang="zh-CN" sz="1600" dirty="0">
                    <a:latin typeface="Comic Sans MS" panose="030F0702030302020204" pitchFamily="66" charset="0"/>
                  </a:rPr>
                  <a:t>For each relationship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600" dirty="0">
                    <a:latin typeface="Comic Sans MS" panose="030F0702030302020204" pitchFamily="66" charset="0"/>
                  </a:rPr>
                  <a:t>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600" dirty="0">
                    <a:latin typeface="Comic Sans MS" panose="030F0702030302020204" pitchFamily="66" charset="0"/>
                  </a:rPr>
                  <a:t>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600" dirty="0">
                    <a:latin typeface="Comic Sans MS" panose="030F0702030302020204" pitchFamily="66" charset="0"/>
                  </a:rPr>
                  <a:t>) in R</a:t>
                </a:r>
              </a:p>
              <a:p>
                <a:pPr lvl="2"/>
                <a:r>
                  <a:rPr lang="en-US" altLang="zh-CN" sz="1400" dirty="0">
                    <a:latin typeface="Comic Sans MS" panose="030F0702030302020204" pitchFamily="66" charset="0"/>
                  </a:rPr>
                  <a:t>add a new entity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sz="140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400" dirty="0">
                    <a:latin typeface="Comic Sans MS" panose="030F0702030302020204" pitchFamily="66" charset="0"/>
                  </a:rPr>
                  <a:t> in the entity set E    </a:t>
                </a:r>
              </a:p>
              <a:p>
                <a:pPr lvl="2"/>
                <a:r>
                  <a:rPr lang="en-US" altLang="zh-CN" sz="1400" dirty="0">
                    <a:latin typeface="Comic Sans MS" panose="030F0702030302020204" pitchFamily="66" charset="0"/>
                  </a:rPr>
                  <a:t>add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sz="140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400" dirty="0">
                    <a:latin typeface="Comic Sans MS" panose="030F0702030302020204" pitchFamily="66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140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400" dirty="0">
                    <a:latin typeface="Comic Sans MS" panose="030F0702030302020204" pitchFamily="66" charset="0"/>
                  </a:rPr>
                  <a:t>) to R</a:t>
                </a:r>
                <a:r>
                  <a:rPr lang="en-US" altLang="zh-CN" sz="1400" baseline="-25000" dirty="0">
                    <a:latin typeface="Comic Sans MS" panose="030F0702030302020204" pitchFamily="66" charset="0"/>
                  </a:rPr>
                  <a:t>A</a:t>
                </a:r>
              </a:p>
              <a:p>
                <a:pPr lvl="2"/>
                <a:r>
                  <a:rPr lang="en-US" altLang="zh-CN" sz="1400" dirty="0">
                    <a:latin typeface="Comic Sans MS" panose="030F0702030302020204" pitchFamily="66" charset="0"/>
                  </a:rPr>
                  <a:t>add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sz="140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400" dirty="0">
                    <a:latin typeface="Comic Sans MS" panose="030F0702030302020204" pitchFamily="66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140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400" dirty="0">
                    <a:latin typeface="Comic Sans MS" panose="030F0702030302020204" pitchFamily="66" charset="0"/>
                  </a:rPr>
                  <a:t>) to R</a:t>
                </a:r>
                <a:r>
                  <a:rPr lang="en-US" altLang="zh-CN" sz="1400" baseline="-25000" dirty="0">
                    <a:latin typeface="Comic Sans MS" panose="030F0702030302020204" pitchFamily="66" charset="0"/>
                  </a:rPr>
                  <a:t>B</a:t>
                </a:r>
                <a:r>
                  <a:rPr lang="en-US" altLang="zh-CN" sz="1400" dirty="0">
                    <a:latin typeface="Comic Sans MS" panose="030F0702030302020204" pitchFamily="66" charset="0"/>
                  </a:rPr>
                  <a:t>      	       </a:t>
                </a:r>
              </a:p>
              <a:p>
                <a:pPr lvl="2"/>
                <a:r>
                  <a:rPr lang="en-US" altLang="zh-CN" sz="1400" dirty="0">
                    <a:latin typeface="Comic Sans MS" panose="030F0702030302020204" pitchFamily="66" charset="0"/>
                  </a:rPr>
                  <a:t>add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sz="140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400" dirty="0">
                    <a:latin typeface="Comic Sans MS" panose="030F0702030302020204" pitchFamily="66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140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400" dirty="0">
                    <a:latin typeface="Comic Sans MS" panose="030F0702030302020204" pitchFamily="66" charset="0"/>
                  </a:rPr>
                  <a:t>) to R</a:t>
                </a:r>
                <a:r>
                  <a:rPr lang="en-US" altLang="zh-CN" sz="1400" baseline="-25000" dirty="0">
                    <a:latin typeface="Comic Sans MS" panose="030F0702030302020204" pitchFamily="66" charset="0"/>
                  </a:rPr>
                  <a:t>C</a:t>
                </a:r>
              </a:p>
              <a:p>
                <a:pPr marL="0" indent="0">
                  <a:buNone/>
                </a:pPr>
                <a:endParaRPr lang="en-US" altLang="zh-CN" sz="2000" dirty="0">
                  <a:latin typeface="Comic Sans MS" panose="030F0702030302020204" pitchFamily="66" charset="0"/>
                </a:endParaRPr>
              </a:p>
              <a:p>
                <a:endParaRPr lang="zh-CN" altLang="en-US" sz="2000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9A8F88B-4D53-43DB-8AD7-42D3DA1CF6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669215"/>
                <a:ext cx="8568952" cy="3805070"/>
              </a:xfrm>
              <a:blipFill>
                <a:blip r:embed="rId2"/>
                <a:stretch>
                  <a:fillRect l="-996" t="-22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6">
            <a:extLst>
              <a:ext uri="{FF2B5EF4-FFF2-40B4-BE49-F238E27FC236}">
                <a16:creationId xmlns:a16="http://schemas.microsoft.com/office/drawing/2014/main" id="{1CA71EF0-02FB-4734-8D42-CCFF1BE7DE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7864" y="3507854"/>
            <a:ext cx="4549737" cy="1543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960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76328C-064C-44DF-9C3D-755EC4977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Comic Sans MS" panose="030F0702030302020204" pitchFamily="66" charset="0"/>
              </a:rPr>
              <a:t>Converting Non-Binary Relationships (Cont.)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81635E-94EA-468A-8752-4EB0FC285B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789553"/>
            <a:ext cx="8280920" cy="3805070"/>
          </a:xfrm>
        </p:spPr>
        <p:txBody>
          <a:bodyPr/>
          <a:lstStyle/>
          <a:p>
            <a:r>
              <a:rPr lang="en-US" altLang="zh-CN" sz="1800" b="1" dirty="0">
                <a:latin typeface="Comic Sans MS" panose="030F0702030302020204" pitchFamily="66" charset="0"/>
              </a:rPr>
              <a:t>Translate constraints</a:t>
            </a:r>
          </a:p>
          <a:p>
            <a:pPr lvl="1"/>
            <a:r>
              <a:rPr lang="en-US" altLang="zh-CN" sz="1600" dirty="0">
                <a:latin typeface="Comic Sans MS" panose="030F0702030302020204" pitchFamily="66" charset="0"/>
              </a:rPr>
              <a:t>Translating all constraints may not be possible</a:t>
            </a:r>
          </a:p>
          <a:p>
            <a:pPr lvl="1"/>
            <a:r>
              <a:rPr lang="en-US" altLang="zh-CN" sz="1600" dirty="0">
                <a:latin typeface="Comic Sans MS" panose="030F0702030302020204" pitchFamily="66" charset="0"/>
              </a:rPr>
              <a:t>There may be instances in the translated schema that cannot correspond to any instance of R</a:t>
            </a:r>
          </a:p>
          <a:p>
            <a:pPr lvl="1"/>
            <a:r>
              <a:rPr lang="en-US" altLang="zh-CN" sz="1600" dirty="0">
                <a:latin typeface="Comic Sans MS" panose="030F0702030302020204" pitchFamily="66" charset="0"/>
              </a:rPr>
              <a:t>We can avoid creating an identifying attribute by making E a weak entity set (described shortly) identified by the three relationship sets </a:t>
            </a:r>
          </a:p>
          <a:p>
            <a:endParaRPr lang="zh-CN" altLang="en-US" sz="1800" dirty="0">
              <a:latin typeface="Comic Sans MS" panose="030F0702030302020204" pitchFamily="66" charset="0"/>
            </a:endParaRPr>
          </a:p>
        </p:txBody>
      </p:sp>
      <p:pic>
        <p:nvPicPr>
          <p:cNvPr id="4" name="Picture 20">
            <a:extLst>
              <a:ext uri="{FF2B5EF4-FFF2-40B4-BE49-F238E27FC236}">
                <a16:creationId xmlns:a16="http://schemas.microsoft.com/office/drawing/2014/main" id="{0B7BD48E-B287-4455-ABEA-60C51F797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2787774"/>
            <a:ext cx="4306071" cy="1658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53788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C0B0AB-73E2-4925-AAA9-3EA5866B5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Weak Entity Sets</a:t>
            </a:r>
            <a:r>
              <a:rPr lang="zh-CN" altLang="en-US" dirty="0">
                <a:latin typeface="Comic Sans MS" panose="030F0702030302020204" pitchFamily="66" charset="0"/>
              </a:rPr>
              <a:t>（弱实体集）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8F9984-32DC-4CB0-8394-8E783F8612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699542"/>
            <a:ext cx="8568952" cy="380507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zh-CN" sz="1600" b="1" dirty="0">
                <a:latin typeface="Comic Sans MS" panose="030F0702030302020204" pitchFamily="66" charset="0"/>
              </a:rPr>
              <a:t>Entity set </a:t>
            </a:r>
            <a:r>
              <a:rPr lang="en-US" altLang="zh-CN" sz="1600" b="1" dirty="0">
                <a:solidFill>
                  <a:srgbClr val="C00000"/>
                </a:solidFill>
                <a:latin typeface="Comic Sans MS" panose="030F0702030302020204" pitchFamily="66" charset="0"/>
              </a:rPr>
              <a:t>section</a:t>
            </a:r>
          </a:p>
          <a:p>
            <a:pPr lvl="1">
              <a:spcBef>
                <a:spcPts val="600"/>
              </a:spcBef>
            </a:pPr>
            <a:r>
              <a:rPr lang="en-US" altLang="zh-CN" sz="1200" dirty="0">
                <a:latin typeface="Comic Sans MS" panose="030F0702030302020204" pitchFamily="66" charset="0"/>
              </a:rPr>
              <a:t>uniquely identified by a </a:t>
            </a:r>
            <a:r>
              <a:rPr lang="en-US" altLang="zh-CN" sz="1200" dirty="0" err="1">
                <a:latin typeface="Comic Sans MS" panose="030F0702030302020204" pitchFamily="66" charset="0"/>
              </a:rPr>
              <a:t>course_id</a:t>
            </a:r>
            <a:r>
              <a:rPr lang="en-US" altLang="zh-CN" sz="1200" dirty="0">
                <a:latin typeface="Comic Sans MS" panose="030F0702030302020204" pitchFamily="66" charset="0"/>
              </a:rPr>
              <a:t>, semester, year, and </a:t>
            </a:r>
            <a:r>
              <a:rPr lang="en-US" altLang="zh-CN" sz="1200" dirty="0" err="1">
                <a:latin typeface="Comic Sans MS" panose="030F0702030302020204" pitchFamily="66" charset="0"/>
              </a:rPr>
              <a:t>sec_id</a:t>
            </a:r>
            <a:r>
              <a:rPr lang="en-US" altLang="zh-CN" sz="1200" dirty="0">
                <a:latin typeface="Comic Sans MS" panose="030F0702030302020204" pitchFamily="66" charset="0"/>
              </a:rPr>
              <a:t>.</a:t>
            </a:r>
          </a:p>
          <a:p>
            <a:pPr lvl="1">
              <a:spcBef>
                <a:spcPts val="600"/>
              </a:spcBef>
            </a:pPr>
            <a:r>
              <a:rPr lang="en-US" altLang="zh-CN" sz="1200" dirty="0">
                <a:latin typeface="Comic Sans MS" panose="030F0702030302020204" pitchFamily="66" charset="0"/>
              </a:rPr>
              <a:t>related to course entities</a:t>
            </a:r>
          </a:p>
          <a:p>
            <a:pPr>
              <a:spcBef>
                <a:spcPts val="600"/>
              </a:spcBef>
            </a:pPr>
            <a:r>
              <a:rPr lang="en-US" altLang="zh-CN" sz="1600" b="1" dirty="0">
                <a:latin typeface="Comic Sans MS" panose="030F0702030302020204" pitchFamily="66" charset="0"/>
              </a:rPr>
              <a:t>Relationship set </a:t>
            </a:r>
            <a:r>
              <a:rPr lang="en-US" altLang="zh-CN" sz="1600" b="1" dirty="0" err="1">
                <a:solidFill>
                  <a:srgbClr val="C00000"/>
                </a:solidFill>
                <a:latin typeface="Comic Sans MS" panose="030F0702030302020204" pitchFamily="66" charset="0"/>
              </a:rPr>
              <a:t>sec_course</a:t>
            </a:r>
            <a:r>
              <a:rPr lang="en-US" altLang="zh-CN" sz="1600" b="1" dirty="0">
                <a:solidFill>
                  <a:srgbClr val="C00000"/>
                </a:solidFill>
                <a:latin typeface="Comic Sans MS" panose="030F0702030302020204" pitchFamily="66" charset="0"/>
              </a:rPr>
              <a:t> </a:t>
            </a:r>
            <a:r>
              <a:rPr lang="en-US" altLang="zh-CN" sz="1600" b="1" dirty="0">
                <a:latin typeface="Comic Sans MS" panose="030F0702030302020204" pitchFamily="66" charset="0"/>
              </a:rPr>
              <a:t>between entity sets section and course</a:t>
            </a:r>
          </a:p>
          <a:p>
            <a:pPr lvl="1">
              <a:spcBef>
                <a:spcPts val="600"/>
              </a:spcBef>
            </a:pPr>
            <a:r>
              <a:rPr lang="en-US" altLang="zh-CN" sz="1200" dirty="0">
                <a:latin typeface="Comic Sans MS" panose="030F0702030302020204" pitchFamily="66" charset="0"/>
              </a:rPr>
              <a:t>the information in </a:t>
            </a:r>
            <a:r>
              <a:rPr lang="en-US" altLang="zh-CN" sz="1200" dirty="0" err="1">
                <a:latin typeface="Comic Sans MS" panose="030F0702030302020204" pitchFamily="66" charset="0"/>
              </a:rPr>
              <a:t>sec_course</a:t>
            </a:r>
            <a:r>
              <a:rPr lang="en-US" altLang="zh-CN" sz="1200" dirty="0">
                <a:latin typeface="Comic Sans MS" panose="030F0702030302020204" pitchFamily="66" charset="0"/>
              </a:rPr>
              <a:t> is redundant, since section already has an attribute </a:t>
            </a:r>
            <a:r>
              <a:rPr lang="en-US" altLang="zh-CN" sz="1200" dirty="0" err="1">
                <a:latin typeface="Comic Sans MS" panose="030F0702030302020204" pitchFamily="66" charset="0"/>
              </a:rPr>
              <a:t>course_id</a:t>
            </a:r>
            <a:r>
              <a:rPr lang="en-US" altLang="zh-CN" sz="1200" dirty="0">
                <a:latin typeface="Comic Sans MS" panose="030F0702030302020204" pitchFamily="66" charset="0"/>
              </a:rPr>
              <a:t>, which identifies the course with which the section is related</a:t>
            </a:r>
          </a:p>
          <a:p>
            <a:pPr lvl="1">
              <a:spcBef>
                <a:spcPts val="600"/>
              </a:spcBef>
            </a:pPr>
            <a:r>
              <a:rPr lang="en-US" altLang="zh-CN" sz="1200" b="1" dirty="0">
                <a:latin typeface="Comic Sans MS" panose="030F0702030302020204" pitchFamily="66" charset="0"/>
              </a:rPr>
              <a:t>Solution A</a:t>
            </a:r>
            <a:r>
              <a:rPr lang="en-US" altLang="zh-CN" sz="1200" dirty="0">
                <a:latin typeface="Comic Sans MS" panose="030F0702030302020204" pitchFamily="66" charset="0"/>
              </a:rPr>
              <a:t>: Get rid of the relationship </a:t>
            </a:r>
            <a:r>
              <a:rPr lang="en-US" altLang="zh-CN" sz="1200" dirty="0" err="1">
                <a:latin typeface="Comic Sans MS" panose="030F0702030302020204" pitchFamily="66" charset="0"/>
              </a:rPr>
              <a:t>sec_course</a:t>
            </a:r>
            <a:r>
              <a:rPr lang="en-US" altLang="zh-CN" sz="1200" dirty="0">
                <a:latin typeface="Comic Sans MS" panose="030F0702030302020204" pitchFamily="66" charset="0"/>
              </a:rPr>
              <a:t>.  However, by doing so the relationship between section and course becomes implicit in an attribute, which is not desirable</a:t>
            </a:r>
          </a:p>
          <a:p>
            <a:pPr lvl="1">
              <a:spcBef>
                <a:spcPts val="600"/>
              </a:spcBef>
            </a:pPr>
            <a:r>
              <a:rPr lang="en-US" altLang="zh-CN" sz="1200" b="1" dirty="0">
                <a:latin typeface="Comic Sans MS" panose="030F0702030302020204" pitchFamily="66" charset="0"/>
              </a:rPr>
              <a:t>Solution B</a:t>
            </a:r>
            <a:r>
              <a:rPr lang="en-US" altLang="zh-CN" sz="1200" dirty="0">
                <a:latin typeface="Comic Sans MS" panose="030F0702030302020204" pitchFamily="66" charset="0"/>
              </a:rPr>
              <a:t>: Not store the attribute </a:t>
            </a:r>
            <a:r>
              <a:rPr lang="en-US" altLang="zh-CN" sz="1200" dirty="0" err="1">
                <a:latin typeface="Comic Sans MS" panose="030F0702030302020204" pitchFamily="66" charset="0"/>
              </a:rPr>
              <a:t>course_id</a:t>
            </a:r>
            <a:r>
              <a:rPr lang="en-US" altLang="zh-CN" sz="1200" dirty="0">
                <a:latin typeface="Comic Sans MS" panose="030F0702030302020204" pitchFamily="66" charset="0"/>
              </a:rPr>
              <a:t>  in the section entity and only store the remaining attributes </a:t>
            </a:r>
            <a:r>
              <a:rPr lang="en-US" altLang="zh-CN" sz="1200" dirty="0" err="1">
                <a:latin typeface="Comic Sans MS" panose="030F0702030302020204" pitchFamily="66" charset="0"/>
              </a:rPr>
              <a:t>section_id</a:t>
            </a:r>
            <a:r>
              <a:rPr lang="en-US" altLang="zh-CN" sz="1200" dirty="0">
                <a:latin typeface="Comic Sans MS" panose="030F0702030302020204" pitchFamily="66" charset="0"/>
              </a:rPr>
              <a:t>,  year, and semester. However, the entity set section then does not have enough attributes to identify a particular section entity uniquely</a:t>
            </a:r>
          </a:p>
          <a:p>
            <a:pPr>
              <a:spcBef>
                <a:spcPts val="600"/>
              </a:spcBef>
            </a:pPr>
            <a:r>
              <a:rPr lang="en-US" altLang="zh-CN" sz="1600" b="1" dirty="0">
                <a:latin typeface="Comic Sans MS" panose="030F0702030302020204" pitchFamily="66" charset="0"/>
              </a:rPr>
              <a:t>Way out</a:t>
            </a:r>
          </a:p>
          <a:p>
            <a:pPr lvl="1">
              <a:spcBef>
                <a:spcPts val="600"/>
              </a:spcBef>
            </a:pPr>
            <a:r>
              <a:rPr lang="en-US" altLang="zh-CN" sz="1200" dirty="0">
                <a:latin typeface="Comic Sans MS" panose="030F0702030302020204" pitchFamily="66" charset="0"/>
              </a:rPr>
              <a:t>Treat </a:t>
            </a:r>
            <a:r>
              <a:rPr lang="en-US" altLang="zh-CN" sz="1200" dirty="0" err="1">
                <a:latin typeface="Comic Sans MS" panose="030F0702030302020204" pitchFamily="66" charset="0"/>
              </a:rPr>
              <a:t>sec_course</a:t>
            </a:r>
            <a:r>
              <a:rPr lang="en-US" altLang="zh-CN" sz="1200" dirty="0">
                <a:latin typeface="Comic Sans MS" panose="030F0702030302020204" pitchFamily="66" charset="0"/>
              </a:rPr>
              <a:t>  as a special relationship that provides extra information, the </a:t>
            </a:r>
            <a:r>
              <a:rPr lang="en-US" altLang="zh-CN" sz="1200" dirty="0" err="1">
                <a:latin typeface="Comic Sans MS" panose="030F0702030302020204" pitchFamily="66" charset="0"/>
              </a:rPr>
              <a:t>course_id</a:t>
            </a:r>
            <a:r>
              <a:rPr lang="en-US" altLang="zh-CN" sz="1200" dirty="0">
                <a:latin typeface="Comic Sans MS" panose="030F0702030302020204" pitchFamily="66" charset="0"/>
              </a:rPr>
              <a:t>, required to identify section  entities uniquely</a:t>
            </a:r>
          </a:p>
          <a:p>
            <a:pPr lvl="1">
              <a:spcBef>
                <a:spcPts val="600"/>
              </a:spcBef>
            </a:pPr>
            <a:r>
              <a:rPr lang="en-US" altLang="zh-CN" sz="1200" dirty="0">
                <a:latin typeface="Comic Sans MS" panose="030F0702030302020204" pitchFamily="66" charset="0"/>
              </a:rPr>
              <a:t>A </a:t>
            </a:r>
            <a:r>
              <a:rPr lang="en-US" altLang="zh-CN" sz="1200" b="1" dirty="0">
                <a:solidFill>
                  <a:srgbClr val="C00000"/>
                </a:solidFill>
                <a:latin typeface="Comic Sans MS" panose="030F0702030302020204" pitchFamily="66" charset="0"/>
              </a:rPr>
              <a:t>weak entity set </a:t>
            </a:r>
            <a:r>
              <a:rPr lang="en-US" altLang="zh-CN" sz="1200" dirty="0">
                <a:latin typeface="Comic Sans MS" panose="030F0702030302020204" pitchFamily="66" charset="0"/>
              </a:rPr>
              <a:t>is one whose existence is dependent on another entity, called its identifying entity (</a:t>
            </a:r>
            <a:r>
              <a:rPr lang="zh-CN" altLang="en-US" sz="1200" dirty="0">
                <a:latin typeface="Comic Sans MS" panose="030F0702030302020204" pitchFamily="66" charset="0"/>
              </a:rPr>
              <a:t>标识性实体</a:t>
            </a:r>
            <a:r>
              <a:rPr lang="en-US" altLang="zh-CN" sz="1200" dirty="0">
                <a:latin typeface="Comic Sans MS" panose="030F0702030302020204" pitchFamily="66" charset="0"/>
              </a:rPr>
              <a:t>)</a:t>
            </a:r>
          </a:p>
          <a:p>
            <a:pPr lvl="1">
              <a:spcBef>
                <a:spcPts val="600"/>
              </a:spcBef>
            </a:pPr>
            <a:r>
              <a:rPr lang="en-US" altLang="zh-CN" sz="1200" dirty="0">
                <a:latin typeface="Comic Sans MS" panose="030F0702030302020204" pitchFamily="66" charset="0"/>
              </a:rPr>
              <a:t>Instead of associating a primary key with a weak entity, we use the identifying entity, along with extra attributes called discriminator (</a:t>
            </a:r>
            <a:r>
              <a:rPr lang="zh-CN" altLang="en-US" sz="1200" dirty="0">
                <a:latin typeface="Comic Sans MS" panose="030F0702030302020204" pitchFamily="66" charset="0"/>
              </a:rPr>
              <a:t>分辨符</a:t>
            </a:r>
            <a:r>
              <a:rPr lang="en-US" altLang="zh-CN" sz="1200" dirty="0">
                <a:latin typeface="Comic Sans MS" panose="030F0702030302020204" pitchFamily="66" charset="0"/>
              </a:rPr>
              <a:t>) to uniquely identify a weak entity</a:t>
            </a:r>
          </a:p>
          <a:p>
            <a:pPr>
              <a:spcBef>
                <a:spcPts val="600"/>
              </a:spcBef>
            </a:pPr>
            <a:endParaRPr lang="zh-CN" altLang="en-US" sz="1600" dirty="0">
              <a:latin typeface="Comic Sans MS" panose="030F0702030302020204" pitchFamily="66" charset="0"/>
            </a:endParaRPr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B8046A4D-BB16-43DC-BD19-44D92478A8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8241" y="699542"/>
            <a:ext cx="3384376" cy="693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845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C0B0AB-73E2-4925-AAA9-3EA5866B5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Weak Entity Sets</a:t>
            </a:r>
            <a:r>
              <a:rPr lang="zh-CN" altLang="en-US" dirty="0">
                <a:latin typeface="Comic Sans MS" panose="030F0702030302020204" pitchFamily="66" charset="0"/>
              </a:rPr>
              <a:t>（</a:t>
            </a:r>
            <a:r>
              <a:rPr lang="en-US" altLang="zh-CN" dirty="0">
                <a:latin typeface="Comic Sans MS" panose="030F0702030302020204" pitchFamily="66" charset="0"/>
              </a:rPr>
              <a:t>Cont.</a:t>
            </a:r>
            <a:r>
              <a:rPr lang="zh-CN" altLang="en-US" dirty="0">
                <a:latin typeface="Comic Sans MS" panose="030F0702030302020204" pitchFamily="66" charset="0"/>
              </a:rPr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8F9984-32DC-4CB0-8394-8E783F8612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r>
              <a:rPr lang="en-US" altLang="zh-CN" sz="1800" b="1" dirty="0">
                <a:latin typeface="Comic Sans MS" panose="030F0702030302020204" pitchFamily="66" charset="0"/>
              </a:rPr>
              <a:t>Strong entity set</a:t>
            </a:r>
          </a:p>
          <a:p>
            <a:pPr lvl="1">
              <a:spcBef>
                <a:spcPts val="600"/>
              </a:spcBef>
            </a:pPr>
            <a:r>
              <a:rPr lang="en-US" altLang="zh-CN" sz="1400" dirty="0">
                <a:latin typeface="Comic Sans MS" panose="030F0702030302020204" pitchFamily="66" charset="0"/>
              </a:rPr>
              <a:t>An entity set that is not a weak entity set is termed a strong entity set.</a:t>
            </a:r>
          </a:p>
          <a:p>
            <a:pPr>
              <a:spcBef>
                <a:spcPts val="600"/>
              </a:spcBef>
            </a:pPr>
            <a:r>
              <a:rPr lang="en-US" altLang="zh-CN" sz="1800" b="1" dirty="0">
                <a:latin typeface="Comic Sans MS" panose="030F0702030302020204" pitchFamily="66" charset="0"/>
              </a:rPr>
              <a:t>Weak entity set &amp; identifying entity</a:t>
            </a:r>
          </a:p>
          <a:p>
            <a:pPr lvl="1">
              <a:spcBef>
                <a:spcPts val="600"/>
              </a:spcBef>
            </a:pPr>
            <a:r>
              <a:rPr lang="en-US" altLang="zh-CN" sz="1400" dirty="0">
                <a:latin typeface="Comic Sans MS" panose="030F0702030302020204" pitchFamily="66" charset="0"/>
              </a:rPr>
              <a:t>Every weak entity must be associated with an identifying entity. The weak entity set is said to be existence dependent on the identifying entity set (</a:t>
            </a:r>
            <a:r>
              <a:rPr lang="zh-CN" altLang="en-US" sz="1400" dirty="0">
                <a:latin typeface="Comic Sans MS" panose="030F0702030302020204" pitchFamily="66" charset="0"/>
              </a:rPr>
              <a:t>标识性实体集</a:t>
            </a:r>
            <a:r>
              <a:rPr lang="en-US" altLang="zh-CN" sz="1400" dirty="0">
                <a:latin typeface="Comic Sans MS" panose="030F0702030302020204" pitchFamily="66" charset="0"/>
              </a:rPr>
              <a:t>). </a:t>
            </a:r>
          </a:p>
          <a:p>
            <a:pPr lvl="1">
              <a:spcBef>
                <a:spcPts val="600"/>
              </a:spcBef>
            </a:pPr>
            <a:r>
              <a:rPr lang="en-US" altLang="zh-CN" sz="1400" dirty="0">
                <a:latin typeface="Comic Sans MS" panose="030F0702030302020204" pitchFamily="66" charset="0"/>
              </a:rPr>
              <a:t>The identifying entity set is said to own the weak entity set that it identifies. </a:t>
            </a:r>
          </a:p>
          <a:p>
            <a:pPr lvl="1">
              <a:spcBef>
                <a:spcPts val="600"/>
              </a:spcBef>
            </a:pPr>
            <a:r>
              <a:rPr lang="en-US" altLang="zh-CN" sz="1400" dirty="0">
                <a:latin typeface="Comic Sans MS" panose="030F0702030302020204" pitchFamily="66" charset="0"/>
              </a:rPr>
              <a:t>The relationship associating the weak entity set with the identifying entity set is called the identifying relationship (</a:t>
            </a:r>
            <a:r>
              <a:rPr lang="zh-CN" altLang="en-US" sz="1400" dirty="0">
                <a:latin typeface="Comic Sans MS" panose="030F0702030302020204" pitchFamily="66" charset="0"/>
              </a:rPr>
              <a:t>标识性关系</a:t>
            </a:r>
            <a:r>
              <a:rPr lang="en-US" altLang="zh-CN" sz="1400" dirty="0">
                <a:latin typeface="Comic Sans MS" panose="030F0702030302020204" pitchFamily="66" charset="0"/>
              </a:rPr>
              <a:t>)</a:t>
            </a:r>
          </a:p>
          <a:p>
            <a:pPr>
              <a:spcBef>
                <a:spcPts val="600"/>
              </a:spcBef>
            </a:pPr>
            <a:endParaRPr lang="zh-CN" altLang="en-US" sz="18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9582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52414F-DE10-466B-AE13-51D23FAB9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0538"/>
            <a:ext cx="9144000" cy="637580"/>
          </a:xfrm>
        </p:spPr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Weak Entity Sets (Cont.)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73C1DF-A7FE-4B38-8B52-A55D7E639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789553"/>
            <a:ext cx="8784976" cy="3805070"/>
          </a:xfrm>
        </p:spPr>
        <p:txBody>
          <a:bodyPr/>
          <a:lstStyle/>
          <a:p>
            <a:r>
              <a:rPr lang="en-US" altLang="zh-CN" sz="1800" dirty="0">
                <a:latin typeface="Comic Sans MS" panose="030F0702030302020204" pitchFamily="66" charset="0"/>
              </a:rPr>
              <a:t>In E-R diagrams, a weak entity set is depicted via a double rectangle</a:t>
            </a:r>
          </a:p>
          <a:p>
            <a:r>
              <a:rPr lang="en-US" altLang="zh-CN" sz="1800" dirty="0">
                <a:latin typeface="Comic Sans MS" panose="030F0702030302020204" pitchFamily="66" charset="0"/>
              </a:rPr>
              <a:t>The discriminator of a weak entity set is underlined with a dashed line</a:t>
            </a:r>
          </a:p>
          <a:p>
            <a:r>
              <a:rPr lang="en-US" altLang="zh-CN" sz="1800" dirty="0">
                <a:latin typeface="Comic Sans MS" panose="030F0702030302020204" pitchFamily="66" charset="0"/>
              </a:rPr>
              <a:t>The relationship set connecting the weak entity set to the identifying strong entity set is depicted by a double diamond</a:t>
            </a:r>
          </a:p>
          <a:p>
            <a:r>
              <a:rPr lang="en-US" altLang="zh-CN" sz="1800" dirty="0">
                <a:latin typeface="Comic Sans MS" panose="030F0702030302020204" pitchFamily="66" charset="0"/>
              </a:rPr>
              <a:t>Primary key for section – (</a:t>
            </a:r>
            <a:r>
              <a:rPr lang="en-US" altLang="zh-CN" sz="1800" dirty="0" err="1">
                <a:latin typeface="Comic Sans MS" panose="030F0702030302020204" pitchFamily="66" charset="0"/>
              </a:rPr>
              <a:t>course_id</a:t>
            </a:r>
            <a:r>
              <a:rPr lang="en-US" altLang="zh-CN" sz="1800" dirty="0">
                <a:latin typeface="Comic Sans MS" panose="030F0702030302020204" pitchFamily="66" charset="0"/>
              </a:rPr>
              <a:t>, </a:t>
            </a:r>
            <a:r>
              <a:rPr lang="en-US" altLang="zh-CN" sz="1800" dirty="0" err="1">
                <a:latin typeface="Comic Sans MS" panose="030F0702030302020204" pitchFamily="66" charset="0"/>
              </a:rPr>
              <a:t>sec_id</a:t>
            </a:r>
            <a:r>
              <a:rPr lang="en-US" altLang="zh-CN" sz="1800" dirty="0">
                <a:latin typeface="Comic Sans MS" panose="030F0702030302020204" pitchFamily="66" charset="0"/>
              </a:rPr>
              <a:t>, semester, year)</a:t>
            </a:r>
          </a:p>
          <a:p>
            <a:endParaRPr lang="zh-CN" altLang="en-US" sz="1800" dirty="0">
              <a:latin typeface="Comic Sans MS" panose="030F0702030302020204" pitchFamily="66" charset="0"/>
            </a:endParaRP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32F9A264-3927-44B7-A2A2-6BB14A54A7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3688" y="2931790"/>
            <a:ext cx="5184576" cy="1062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987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DC3D7E-A43B-4F54-8161-CD5622A62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Specialization</a:t>
            </a:r>
            <a:r>
              <a:rPr lang="zh-CN" altLang="en-US" dirty="0">
                <a:latin typeface="Comic Sans MS" panose="030F0702030302020204" pitchFamily="66" charset="0"/>
              </a:rPr>
              <a:t>（特化）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9E1249-09B1-42D9-9B06-EF4BF81E94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</a:pPr>
            <a:r>
              <a:rPr lang="zh-CN" altLang="en-US" sz="1800" b="1" dirty="0">
                <a:latin typeface="Comic Sans MS" panose="030F0702030302020204" pitchFamily="66" charset="0"/>
              </a:rPr>
              <a:t>自上而下的设计过程</a:t>
            </a:r>
            <a:endParaRPr lang="en-US" altLang="zh-CN" sz="1800" b="1" dirty="0">
              <a:latin typeface="Comic Sans MS" panose="030F0702030302020204" pitchFamily="66" charset="0"/>
            </a:endParaRPr>
          </a:p>
          <a:p>
            <a:pPr lvl="1">
              <a:spcBef>
                <a:spcPts val="1200"/>
              </a:spcBef>
            </a:pPr>
            <a:r>
              <a:rPr lang="en-US" altLang="zh-CN" sz="1600" dirty="0">
                <a:latin typeface="Comic Sans MS" panose="030F0702030302020204" pitchFamily="66" charset="0"/>
              </a:rPr>
              <a:t>Designate subgroupings within an entity set that are distinctive from other entities in the set</a:t>
            </a:r>
          </a:p>
          <a:p>
            <a:pPr lvl="1">
              <a:spcBef>
                <a:spcPts val="1200"/>
              </a:spcBef>
            </a:pPr>
            <a:r>
              <a:rPr lang="en-US" altLang="zh-CN" sz="1600" dirty="0">
                <a:latin typeface="Comic Sans MS" panose="030F0702030302020204" pitchFamily="66" charset="0"/>
              </a:rPr>
              <a:t>These subgroupings become lower-level entity sets that have attributes or participate in relationships that do not apply to the higher-level entity set.</a:t>
            </a:r>
          </a:p>
          <a:p>
            <a:pPr lvl="1">
              <a:spcBef>
                <a:spcPts val="1200"/>
              </a:spcBef>
            </a:pPr>
            <a:r>
              <a:rPr lang="en-US" altLang="zh-CN" sz="1600" dirty="0">
                <a:latin typeface="Comic Sans MS" panose="030F0702030302020204" pitchFamily="66" charset="0"/>
              </a:rPr>
              <a:t>Depicted by a triangle component labeled ISA, e.g., customer “is a” person</a:t>
            </a:r>
          </a:p>
          <a:p>
            <a:pPr>
              <a:spcBef>
                <a:spcPts val="1200"/>
              </a:spcBef>
            </a:pPr>
            <a:r>
              <a:rPr lang="en-US" altLang="zh-CN" sz="1800" b="1" dirty="0">
                <a:latin typeface="Comic Sans MS" panose="030F0702030302020204" pitchFamily="66" charset="0"/>
              </a:rPr>
              <a:t>Attribute inheritance</a:t>
            </a:r>
            <a:r>
              <a:rPr lang="zh-CN" altLang="en-US" sz="1800" b="1" dirty="0">
                <a:latin typeface="Comic Sans MS" panose="030F0702030302020204" pitchFamily="66" charset="0"/>
              </a:rPr>
              <a:t>（属性继承）</a:t>
            </a:r>
            <a:endParaRPr lang="en-US" altLang="zh-CN" sz="1800" b="1" dirty="0">
              <a:latin typeface="Comic Sans MS" panose="030F0702030302020204" pitchFamily="66" charset="0"/>
            </a:endParaRPr>
          </a:p>
          <a:p>
            <a:pPr lvl="1">
              <a:spcBef>
                <a:spcPts val="1200"/>
              </a:spcBef>
            </a:pPr>
            <a:r>
              <a:rPr lang="en-US" altLang="zh-CN" sz="1600" dirty="0">
                <a:latin typeface="Comic Sans MS" panose="030F0702030302020204" pitchFamily="66" charset="0"/>
              </a:rPr>
              <a:t>A lower-level entity set inherits all the attributes and relationship participation of the higher-level entity set to which it is linked</a:t>
            </a:r>
          </a:p>
          <a:p>
            <a:pPr>
              <a:spcBef>
                <a:spcPts val="1200"/>
              </a:spcBef>
            </a:pPr>
            <a:endParaRPr lang="zh-CN" altLang="en-US" sz="20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009684"/>
      </p:ext>
    </p:extLst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A89038-8D55-43D2-94F5-D393DB9F9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Example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037D6B-1C99-4A5D-A4CC-9445E17737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04" t="1050" r="12601" b="787"/>
          <a:stretch>
            <a:fillRect/>
          </a:stretch>
        </p:blipFill>
        <p:spPr bwMode="auto">
          <a:xfrm>
            <a:off x="1763688" y="915566"/>
            <a:ext cx="5197079" cy="385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09470314"/>
      </p:ext>
    </p:extLst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E8A0E6-9F80-4230-8EDC-0B6820BE0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Generalization</a:t>
            </a:r>
            <a:r>
              <a:rPr lang="zh-CN" altLang="en-US" dirty="0">
                <a:latin typeface="Comic Sans MS" panose="030F0702030302020204" pitchFamily="66" charset="0"/>
              </a:rPr>
              <a:t>（泛化）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F9F46F-359A-4F94-B563-E0DB52B0F2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789553"/>
            <a:ext cx="7992888" cy="380507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CN" altLang="en-US" sz="1800" b="1" dirty="0">
                <a:latin typeface="Comic Sans MS" panose="030F0702030302020204" pitchFamily="66" charset="0"/>
              </a:rPr>
              <a:t>自下而上的设计过程</a:t>
            </a:r>
            <a:endParaRPr lang="en-US" altLang="zh-CN" sz="1800" b="1" dirty="0">
              <a:latin typeface="Comic Sans MS" panose="030F0702030302020204" pitchFamily="66" charset="0"/>
            </a:endParaRPr>
          </a:p>
          <a:p>
            <a:pPr lvl="1">
              <a:spcBef>
                <a:spcPts val="1200"/>
              </a:spcBef>
            </a:pPr>
            <a:r>
              <a:rPr lang="en-US" altLang="zh-CN" sz="1600" dirty="0">
                <a:latin typeface="Comic Sans MS" panose="030F0702030302020204" pitchFamily="66" charset="0"/>
              </a:rPr>
              <a:t>Combine a number of entity sets that share the same features into a higher-level entity set</a:t>
            </a:r>
          </a:p>
          <a:p>
            <a:pPr>
              <a:spcBef>
                <a:spcPts val="1200"/>
              </a:spcBef>
            </a:pPr>
            <a:r>
              <a:rPr lang="zh-CN" altLang="en-US" sz="1800" b="1" dirty="0">
                <a:latin typeface="Comic Sans MS" panose="030F0702030302020204" pitchFamily="66" charset="0"/>
              </a:rPr>
              <a:t>特化与泛化</a:t>
            </a:r>
            <a:endParaRPr lang="en-US" altLang="zh-CN" sz="1800" b="1" dirty="0">
              <a:latin typeface="Comic Sans MS" panose="030F0702030302020204" pitchFamily="66" charset="0"/>
            </a:endParaRPr>
          </a:p>
          <a:p>
            <a:pPr lvl="1">
              <a:spcBef>
                <a:spcPts val="1200"/>
              </a:spcBef>
            </a:pPr>
            <a:r>
              <a:rPr lang="en-US" altLang="zh-CN" sz="1600" dirty="0">
                <a:latin typeface="Comic Sans MS" panose="030F0702030302020204" pitchFamily="66" charset="0"/>
              </a:rPr>
              <a:t>Specialization and generalization are simple inversions of each other</a:t>
            </a:r>
          </a:p>
          <a:p>
            <a:pPr lvl="1">
              <a:spcBef>
                <a:spcPts val="1200"/>
              </a:spcBef>
            </a:pPr>
            <a:r>
              <a:rPr lang="en-US" altLang="zh-CN" sz="1600" dirty="0">
                <a:latin typeface="Comic Sans MS" panose="030F0702030302020204" pitchFamily="66" charset="0"/>
              </a:rPr>
              <a:t>They are represented in the same way in an E-R diagram</a:t>
            </a:r>
          </a:p>
        </p:txBody>
      </p:sp>
    </p:spTree>
    <p:extLst>
      <p:ext uri="{BB962C8B-B14F-4D97-AF65-F5344CB8AC3E}">
        <p14:creationId xmlns:p14="http://schemas.microsoft.com/office/powerpoint/2010/main" val="251500075"/>
      </p:ext>
    </p:extLst>
  </p:cSld>
  <p:clrMapOvr>
    <a:masterClrMapping/>
  </p:clrMapOvr>
  <p:transition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F98857-2213-4791-AC2C-F2C0E70C2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Specialization &amp; Generalization (Cont.)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DE446A-8A6E-47B6-8266-A58964408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800" dirty="0">
                <a:latin typeface="Comic Sans MS" panose="030F0702030302020204" pitchFamily="66" charset="0"/>
              </a:rPr>
              <a:t>Can have multiple specializations of an entity set based on different features.  </a:t>
            </a:r>
          </a:p>
          <a:p>
            <a:pPr lvl="1"/>
            <a:r>
              <a:rPr lang="en-US" altLang="zh-CN" sz="1600" dirty="0">
                <a:latin typeface="Comic Sans MS" panose="030F0702030302020204" pitchFamily="66" charset="0"/>
              </a:rPr>
              <a:t>E.g., permanent-employee vs. temporary-employee, in addition to officer vs. secretary vs. teller</a:t>
            </a:r>
          </a:p>
          <a:p>
            <a:pPr lvl="1"/>
            <a:r>
              <a:rPr lang="en-US" altLang="zh-CN" sz="1600" dirty="0">
                <a:latin typeface="Comic Sans MS" panose="030F0702030302020204" pitchFamily="66" charset="0"/>
              </a:rPr>
              <a:t>Each particular employee would be </a:t>
            </a:r>
          </a:p>
          <a:p>
            <a:pPr lvl="2"/>
            <a:r>
              <a:rPr lang="en-US" altLang="zh-CN" sz="1400" dirty="0">
                <a:latin typeface="Comic Sans MS" panose="030F0702030302020204" pitchFamily="66" charset="0"/>
              </a:rPr>
              <a:t>a member of one of permanent-employee or temporary-employee, </a:t>
            </a:r>
          </a:p>
          <a:p>
            <a:pPr lvl="2"/>
            <a:r>
              <a:rPr lang="en-US" altLang="zh-CN" sz="1400" dirty="0">
                <a:latin typeface="Comic Sans MS" panose="030F0702030302020204" pitchFamily="66" charset="0"/>
              </a:rPr>
              <a:t>also a member of one of officer, secretary, or teller</a:t>
            </a:r>
          </a:p>
          <a:p>
            <a:r>
              <a:rPr lang="en-US" altLang="zh-CN" sz="1800" dirty="0">
                <a:latin typeface="Comic Sans MS" panose="030F0702030302020204" pitchFamily="66" charset="0"/>
              </a:rPr>
              <a:t>The ISA relationship also referred to as superclass - subclass relationship</a:t>
            </a:r>
          </a:p>
          <a:p>
            <a:endParaRPr lang="zh-CN" altLang="en-US" sz="18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3628030"/>
      </p:ext>
    </p:extLst>
  </p:cSld>
  <p:clrMapOvr>
    <a:masterClrMapping/>
  </p:clrMapOvr>
  <p:transition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FF2846-FA2A-4BAA-9362-7D602E41C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Outline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6F7556-C772-4881-AE79-DA30A2459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524" y="771550"/>
            <a:ext cx="8568952" cy="3805070"/>
          </a:xfrm>
        </p:spPr>
        <p:txBody>
          <a:bodyPr/>
          <a:lstStyle/>
          <a:p>
            <a:pPr>
              <a:spcBef>
                <a:spcPts val="800"/>
              </a:spcBef>
            </a:pPr>
            <a:r>
              <a:rPr lang="en-US" altLang="zh-CN" dirty="0">
                <a:latin typeface="Comic Sans MS" panose="030F0702030302020204" pitchFamily="66" charset="0"/>
              </a:rPr>
              <a:t>Overview of the Design Process</a:t>
            </a:r>
          </a:p>
          <a:p>
            <a:pPr>
              <a:spcBef>
                <a:spcPts val="800"/>
              </a:spcBef>
            </a:pPr>
            <a:r>
              <a:rPr lang="en-US" altLang="zh-CN" dirty="0">
                <a:latin typeface="Comic Sans MS" panose="030F0702030302020204" pitchFamily="66" charset="0"/>
              </a:rPr>
              <a:t>Entity-Relationship Model (</a:t>
            </a:r>
            <a:r>
              <a:rPr lang="zh-CN" altLang="en-US" b="1" dirty="0">
                <a:latin typeface="Comic Sans MS" panose="030F0702030302020204" pitchFamily="66" charset="0"/>
              </a:rPr>
              <a:t>实体联系模型</a:t>
            </a:r>
            <a:r>
              <a:rPr lang="en-US" altLang="zh-CN" dirty="0">
                <a:latin typeface="Comic Sans MS" panose="030F0702030302020204" pitchFamily="66" charset="0"/>
              </a:rPr>
              <a:t>)</a:t>
            </a:r>
          </a:p>
          <a:p>
            <a:pPr>
              <a:spcBef>
                <a:spcPts val="800"/>
              </a:spcBef>
            </a:pPr>
            <a:r>
              <a:rPr lang="en-US" altLang="zh-CN" dirty="0">
                <a:latin typeface="Comic Sans MS" panose="030F0702030302020204" pitchFamily="66" charset="0"/>
              </a:rPr>
              <a:t>Constraints </a:t>
            </a:r>
          </a:p>
          <a:p>
            <a:pPr>
              <a:spcBef>
                <a:spcPts val="800"/>
              </a:spcBef>
            </a:pPr>
            <a:r>
              <a:rPr lang="en-US" altLang="zh-CN" dirty="0">
                <a:latin typeface="Comic Sans MS" panose="030F0702030302020204" pitchFamily="66" charset="0"/>
              </a:rPr>
              <a:t>Entity-Relationship Diagrams (</a:t>
            </a:r>
            <a:r>
              <a:rPr lang="zh-CN" altLang="en-US" b="1" dirty="0">
                <a:latin typeface="Comic Sans MS" panose="030F0702030302020204" pitchFamily="66" charset="0"/>
              </a:rPr>
              <a:t>实体联系图</a:t>
            </a:r>
            <a:r>
              <a:rPr lang="en-US" altLang="zh-CN" dirty="0">
                <a:latin typeface="Comic Sans MS" panose="030F0702030302020204" pitchFamily="66" charset="0"/>
              </a:rPr>
              <a:t>)</a:t>
            </a:r>
          </a:p>
          <a:p>
            <a:pPr>
              <a:spcBef>
                <a:spcPts val="800"/>
              </a:spcBef>
            </a:pPr>
            <a:r>
              <a:rPr lang="en-US" altLang="zh-CN" b="1" dirty="0">
                <a:solidFill>
                  <a:srgbClr val="C00000"/>
                </a:solidFill>
                <a:latin typeface="Comic Sans MS" panose="030F0702030302020204" pitchFamily="66" charset="0"/>
              </a:rPr>
              <a:t>Reduction to Relation Schemas</a:t>
            </a:r>
          </a:p>
          <a:p>
            <a:pPr>
              <a:spcBef>
                <a:spcPts val="800"/>
              </a:spcBef>
            </a:pPr>
            <a:r>
              <a:rPr lang="en-US" altLang="zh-CN" dirty="0">
                <a:latin typeface="Comic Sans MS" panose="030F0702030302020204" pitchFamily="66" charset="0"/>
              </a:rPr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3839428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13" t="874" r="14110" b="1357"/>
          <a:stretch>
            <a:fillRect/>
          </a:stretch>
        </p:blipFill>
        <p:spPr bwMode="auto">
          <a:xfrm>
            <a:off x="0" y="894944"/>
            <a:ext cx="4803964" cy="36214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1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-20538"/>
            <a:ext cx="9180512" cy="504056"/>
          </a:xfrm>
        </p:spPr>
        <p:txBody>
          <a:bodyPr/>
          <a:lstStyle/>
          <a:p>
            <a:pPr algn="ctr"/>
            <a:r>
              <a:rPr lang="pt-BR" altLang="zh-CN" dirty="0">
                <a:latin typeface="Comic Sans MS" pitchFamily="66" charset="0"/>
                <a:ea typeface="宋体" charset="-122"/>
              </a:rPr>
              <a:t>Reduction to Relation Schemas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AE4B9099-6D00-4740-861A-D983B46C256E}"/>
              </a:ext>
            </a:extLst>
          </p:cNvPr>
          <p:cNvSpPr txBox="1">
            <a:spLocks noChangeArrowheads="1"/>
          </p:cNvSpPr>
          <p:nvPr/>
        </p:nvSpPr>
        <p:spPr>
          <a:xfrm>
            <a:off x="4788024" y="627097"/>
            <a:ext cx="4328988" cy="333873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indent="-180000">
              <a:spcBef>
                <a:spcPts val="0"/>
              </a:spcBef>
              <a:buFontTx/>
              <a:defRPr/>
            </a:pPr>
            <a:r>
              <a:rPr lang="en-US" altLang="zh-CN" sz="1100" i="1" kern="0" dirty="0">
                <a:latin typeface="Comic Sans MS" pitchFamily="66" charset="0"/>
                <a:ea typeface="宋体" pitchFamily="2" charset="-122"/>
              </a:rPr>
              <a:t>branch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 = (</a:t>
            </a:r>
            <a:r>
              <a:rPr lang="en-US" altLang="zh-CN" sz="1100" i="1" u="sng" kern="0" dirty="0" err="1">
                <a:latin typeface="Comic Sans MS" pitchFamily="66" charset="0"/>
                <a:ea typeface="宋体" pitchFamily="2" charset="-122"/>
              </a:rPr>
              <a:t>branch_name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, </a:t>
            </a:r>
            <a:r>
              <a:rPr lang="en-US" altLang="zh-CN" sz="1100" i="1" kern="0" dirty="0" err="1">
                <a:latin typeface="Comic Sans MS" pitchFamily="66" charset="0"/>
                <a:ea typeface="宋体" pitchFamily="2" charset="-122"/>
              </a:rPr>
              <a:t>branch_city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, </a:t>
            </a:r>
            <a:r>
              <a:rPr lang="en-US" altLang="zh-CN" sz="1100" i="1" kern="0" dirty="0">
                <a:latin typeface="Comic Sans MS" pitchFamily="66" charset="0"/>
                <a:ea typeface="宋体" pitchFamily="2" charset="-122"/>
              </a:rPr>
              <a:t>assets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)</a:t>
            </a:r>
          </a:p>
          <a:p>
            <a:pPr indent="-180000">
              <a:spcBef>
                <a:spcPts val="0"/>
              </a:spcBef>
              <a:buFontTx/>
              <a:defRPr/>
            </a:pPr>
            <a:r>
              <a:rPr lang="en-US" altLang="zh-CN" sz="1100" i="1" kern="0" dirty="0">
                <a:latin typeface="Comic Sans MS" pitchFamily="66" charset="0"/>
                <a:ea typeface="宋体" pitchFamily="2" charset="-122"/>
              </a:rPr>
              <a:t>customer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 = (</a:t>
            </a:r>
            <a:r>
              <a:rPr lang="en-US" altLang="zh-CN" sz="1100" i="1" u="sng" kern="0" dirty="0" err="1">
                <a:latin typeface="Comic Sans MS" pitchFamily="66" charset="0"/>
                <a:ea typeface="宋体" pitchFamily="2" charset="-122"/>
              </a:rPr>
              <a:t>customer_id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, </a:t>
            </a:r>
            <a:r>
              <a:rPr lang="en-US" altLang="zh-CN" sz="1100" i="1" kern="0" dirty="0" err="1">
                <a:latin typeface="Comic Sans MS" pitchFamily="66" charset="0"/>
                <a:ea typeface="宋体" pitchFamily="2" charset="-122"/>
              </a:rPr>
              <a:t>customer_name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, </a:t>
            </a:r>
            <a:r>
              <a:rPr lang="en-US" altLang="zh-CN" sz="1100" i="1" kern="0" dirty="0" err="1">
                <a:latin typeface="Comic Sans MS" pitchFamily="66" charset="0"/>
                <a:ea typeface="宋体" pitchFamily="2" charset="-122"/>
              </a:rPr>
              <a:t>customer_street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, </a:t>
            </a:r>
            <a:r>
              <a:rPr lang="en-US" altLang="zh-CN" sz="1100" i="1" kern="0" dirty="0" err="1">
                <a:latin typeface="Comic Sans MS" pitchFamily="66" charset="0"/>
                <a:ea typeface="宋体" pitchFamily="2" charset="-122"/>
              </a:rPr>
              <a:t>customer_city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)</a:t>
            </a:r>
          </a:p>
          <a:p>
            <a:pPr indent="-180000">
              <a:spcBef>
                <a:spcPts val="0"/>
              </a:spcBef>
              <a:buFontTx/>
              <a:defRPr/>
            </a:pPr>
            <a:r>
              <a:rPr lang="en-US" altLang="zh-CN" sz="1100" i="1" kern="0" dirty="0">
                <a:latin typeface="Comic Sans MS" pitchFamily="66" charset="0"/>
                <a:ea typeface="宋体" pitchFamily="2" charset="-122"/>
              </a:rPr>
              <a:t>loan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 = (</a:t>
            </a:r>
            <a:r>
              <a:rPr lang="en-US" altLang="zh-CN" sz="1100" i="1" u="sng" kern="0" dirty="0" err="1">
                <a:latin typeface="Comic Sans MS" pitchFamily="66" charset="0"/>
                <a:ea typeface="宋体" pitchFamily="2" charset="-122"/>
              </a:rPr>
              <a:t>loan_number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, </a:t>
            </a:r>
            <a:r>
              <a:rPr lang="en-US" altLang="zh-CN" sz="1100" i="1" kern="0" dirty="0">
                <a:latin typeface="Comic Sans MS" pitchFamily="66" charset="0"/>
                <a:ea typeface="宋体" pitchFamily="2" charset="-122"/>
              </a:rPr>
              <a:t>amount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)</a:t>
            </a:r>
          </a:p>
          <a:p>
            <a:pPr indent="-180000">
              <a:spcBef>
                <a:spcPts val="0"/>
              </a:spcBef>
              <a:buFontTx/>
              <a:defRPr/>
            </a:pPr>
            <a:r>
              <a:rPr lang="en-US" altLang="zh-CN" sz="1100" i="1" kern="0" dirty="0">
                <a:latin typeface="Comic Sans MS" pitchFamily="66" charset="0"/>
                <a:ea typeface="宋体" pitchFamily="2" charset="-122"/>
              </a:rPr>
              <a:t>account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 = (</a:t>
            </a:r>
            <a:r>
              <a:rPr lang="en-US" altLang="zh-CN" sz="1100" i="1" u="sng" kern="0" dirty="0" err="1">
                <a:latin typeface="Comic Sans MS" pitchFamily="66" charset="0"/>
                <a:ea typeface="宋体" pitchFamily="2" charset="-122"/>
              </a:rPr>
              <a:t>account_number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, </a:t>
            </a:r>
            <a:r>
              <a:rPr lang="en-US" altLang="zh-CN" sz="1100" i="1" kern="0" dirty="0">
                <a:latin typeface="Comic Sans MS" pitchFamily="66" charset="0"/>
                <a:ea typeface="宋体" pitchFamily="2" charset="-122"/>
              </a:rPr>
              <a:t>balance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)</a:t>
            </a:r>
          </a:p>
          <a:p>
            <a:pPr indent="-180000">
              <a:spcBef>
                <a:spcPts val="0"/>
              </a:spcBef>
              <a:buFontTx/>
              <a:defRPr/>
            </a:pPr>
            <a:r>
              <a:rPr lang="en-US" altLang="zh-CN" sz="1100" i="1" kern="0" dirty="0">
                <a:latin typeface="Comic Sans MS" pitchFamily="66" charset="0"/>
                <a:ea typeface="宋体" pitchFamily="2" charset="-122"/>
              </a:rPr>
              <a:t>employee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 = (</a:t>
            </a:r>
            <a:r>
              <a:rPr lang="en-US" altLang="zh-CN" sz="1100" i="1" u="sng" kern="0" dirty="0" err="1">
                <a:latin typeface="Comic Sans MS" pitchFamily="66" charset="0"/>
                <a:ea typeface="宋体" pitchFamily="2" charset="-122"/>
              </a:rPr>
              <a:t>employee_id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, </a:t>
            </a:r>
            <a:r>
              <a:rPr lang="en-US" altLang="zh-CN" sz="1100" i="1" kern="0" dirty="0" err="1">
                <a:latin typeface="Comic Sans MS" pitchFamily="66" charset="0"/>
                <a:ea typeface="宋体" pitchFamily="2" charset="-122"/>
              </a:rPr>
              <a:t>employee_name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, </a:t>
            </a:r>
            <a:r>
              <a:rPr lang="en-US" altLang="zh-CN" sz="1100" i="1" kern="0" dirty="0" err="1">
                <a:latin typeface="Comic Sans MS" pitchFamily="66" charset="0"/>
                <a:ea typeface="宋体" pitchFamily="2" charset="-122"/>
              </a:rPr>
              <a:t>telephone_number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, </a:t>
            </a:r>
            <a:r>
              <a:rPr lang="en-US" altLang="zh-CN" sz="1100" i="1" kern="0" dirty="0" err="1">
                <a:latin typeface="Comic Sans MS" pitchFamily="66" charset="0"/>
                <a:ea typeface="宋体" pitchFamily="2" charset="-122"/>
              </a:rPr>
              <a:t>start_date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)</a:t>
            </a:r>
          </a:p>
          <a:p>
            <a:pPr indent="-180000">
              <a:spcBef>
                <a:spcPts val="0"/>
              </a:spcBef>
              <a:buFontTx/>
              <a:defRPr/>
            </a:pPr>
            <a:endParaRPr lang="en-US" altLang="zh-CN" sz="1100" kern="0" dirty="0">
              <a:latin typeface="Comic Sans MS" pitchFamily="66" charset="0"/>
              <a:ea typeface="宋体" pitchFamily="2" charset="-122"/>
            </a:endParaRPr>
          </a:p>
          <a:p>
            <a:pPr indent="-180000">
              <a:spcBef>
                <a:spcPts val="0"/>
              </a:spcBef>
              <a:buFontTx/>
              <a:defRPr/>
            </a:pPr>
            <a:r>
              <a:rPr lang="en-US" altLang="zh-CN" sz="1100" i="1" kern="0" dirty="0" err="1">
                <a:latin typeface="Comic Sans MS" pitchFamily="66" charset="0"/>
                <a:ea typeface="宋体" pitchFamily="2" charset="-122"/>
              </a:rPr>
              <a:t>dependent_name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 = (</a:t>
            </a:r>
            <a:r>
              <a:rPr lang="en-US" altLang="zh-CN" sz="1100" i="1" u="sng" kern="0" dirty="0" err="1">
                <a:latin typeface="Comic Sans MS" pitchFamily="66" charset="0"/>
                <a:ea typeface="宋体" pitchFamily="2" charset="-122"/>
              </a:rPr>
              <a:t>employee_id</a:t>
            </a:r>
            <a:r>
              <a:rPr lang="en-US" altLang="zh-CN" sz="1100" u="sng" kern="0" dirty="0">
                <a:latin typeface="Comic Sans MS" pitchFamily="66" charset="0"/>
                <a:ea typeface="宋体" pitchFamily="2" charset="-122"/>
              </a:rPr>
              <a:t>, </a:t>
            </a:r>
            <a:r>
              <a:rPr lang="en-US" altLang="zh-CN" sz="1100" i="1" u="sng" kern="0" dirty="0" err="1">
                <a:latin typeface="Comic Sans MS" pitchFamily="66" charset="0"/>
                <a:ea typeface="宋体" pitchFamily="2" charset="-122"/>
              </a:rPr>
              <a:t>dname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) (derived from a  multivalued attribute)</a:t>
            </a:r>
          </a:p>
          <a:p>
            <a:pPr indent="-180000">
              <a:spcBef>
                <a:spcPts val="0"/>
              </a:spcBef>
              <a:buFontTx/>
              <a:defRPr/>
            </a:pPr>
            <a:endParaRPr lang="en-US" altLang="zh-CN" sz="1100" kern="0" dirty="0">
              <a:latin typeface="Comic Sans MS" pitchFamily="66" charset="0"/>
              <a:ea typeface="宋体" pitchFamily="2" charset="-122"/>
            </a:endParaRPr>
          </a:p>
          <a:p>
            <a:pPr indent="-180000">
              <a:spcBef>
                <a:spcPts val="0"/>
              </a:spcBef>
              <a:buFontTx/>
              <a:defRPr/>
            </a:pPr>
            <a:r>
              <a:rPr lang="en-US" altLang="zh-CN" sz="1100" i="1" kern="0" dirty="0" err="1">
                <a:latin typeface="Comic Sans MS" pitchFamily="66" charset="0"/>
                <a:ea typeface="宋体" pitchFamily="2" charset="-122"/>
              </a:rPr>
              <a:t>account_branch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 = (</a:t>
            </a:r>
            <a:r>
              <a:rPr lang="en-US" altLang="zh-CN" sz="1100" i="1" u="sng" kern="0" dirty="0" err="1">
                <a:latin typeface="Comic Sans MS" pitchFamily="66" charset="0"/>
                <a:ea typeface="宋体" pitchFamily="2" charset="-122"/>
              </a:rPr>
              <a:t>account_number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, </a:t>
            </a:r>
            <a:r>
              <a:rPr lang="en-US" altLang="zh-CN" sz="1100" i="1" kern="0" dirty="0" err="1">
                <a:latin typeface="Comic Sans MS" pitchFamily="66" charset="0"/>
                <a:ea typeface="宋体" pitchFamily="2" charset="-122"/>
              </a:rPr>
              <a:t>branch_name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)</a:t>
            </a:r>
          </a:p>
          <a:p>
            <a:pPr indent="-180000">
              <a:spcBef>
                <a:spcPts val="0"/>
              </a:spcBef>
              <a:buFontTx/>
              <a:defRPr/>
            </a:pPr>
            <a:r>
              <a:rPr lang="en-US" altLang="zh-CN" sz="1100" i="1" kern="0" dirty="0" err="1">
                <a:latin typeface="Comic Sans MS" pitchFamily="66" charset="0"/>
                <a:ea typeface="宋体" pitchFamily="2" charset="-122"/>
              </a:rPr>
              <a:t>loan_branch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 = (</a:t>
            </a:r>
            <a:r>
              <a:rPr lang="en-US" altLang="zh-CN" sz="1100" i="1" u="sng" kern="0" dirty="0" err="1">
                <a:latin typeface="Comic Sans MS" pitchFamily="66" charset="0"/>
                <a:ea typeface="宋体" pitchFamily="2" charset="-122"/>
              </a:rPr>
              <a:t>loan_number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, </a:t>
            </a:r>
            <a:r>
              <a:rPr lang="en-US" altLang="zh-CN" sz="1100" i="1" kern="0" dirty="0" err="1">
                <a:latin typeface="Comic Sans MS" pitchFamily="66" charset="0"/>
                <a:ea typeface="宋体" pitchFamily="2" charset="-122"/>
              </a:rPr>
              <a:t>branch_name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)</a:t>
            </a:r>
          </a:p>
          <a:p>
            <a:pPr indent="-180000">
              <a:spcBef>
                <a:spcPts val="0"/>
              </a:spcBef>
              <a:buFontTx/>
              <a:defRPr/>
            </a:pPr>
            <a:r>
              <a:rPr lang="en-US" altLang="zh-CN" sz="1100" i="1" kern="0" dirty="0">
                <a:latin typeface="Comic Sans MS" pitchFamily="66" charset="0"/>
                <a:ea typeface="宋体" pitchFamily="2" charset="-122"/>
              </a:rPr>
              <a:t>borrower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 = (</a:t>
            </a:r>
            <a:r>
              <a:rPr lang="en-US" altLang="zh-CN" sz="1100" i="1" u="sng" kern="0" dirty="0" err="1">
                <a:latin typeface="Comic Sans MS" pitchFamily="66" charset="0"/>
                <a:ea typeface="宋体" pitchFamily="2" charset="-122"/>
              </a:rPr>
              <a:t>customer_id</a:t>
            </a:r>
            <a:r>
              <a:rPr lang="en-US" altLang="zh-CN" sz="1100" u="sng" kern="0" dirty="0">
                <a:latin typeface="Comic Sans MS" pitchFamily="66" charset="0"/>
                <a:ea typeface="宋体" pitchFamily="2" charset="-122"/>
              </a:rPr>
              <a:t>, </a:t>
            </a:r>
            <a:r>
              <a:rPr lang="en-US" altLang="zh-CN" sz="1100" i="1" u="sng" kern="0" dirty="0" err="1">
                <a:latin typeface="Comic Sans MS" pitchFamily="66" charset="0"/>
                <a:ea typeface="宋体" pitchFamily="2" charset="-122"/>
              </a:rPr>
              <a:t>loan_number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)</a:t>
            </a:r>
          </a:p>
          <a:p>
            <a:pPr indent="-180000">
              <a:spcBef>
                <a:spcPts val="0"/>
              </a:spcBef>
              <a:buFontTx/>
              <a:defRPr/>
            </a:pPr>
            <a:r>
              <a:rPr lang="en-US" altLang="zh-CN" sz="1100" i="1" kern="0" dirty="0">
                <a:latin typeface="Comic Sans MS" pitchFamily="66" charset="0"/>
                <a:ea typeface="宋体" pitchFamily="2" charset="-122"/>
              </a:rPr>
              <a:t>depositor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 = (</a:t>
            </a:r>
            <a:r>
              <a:rPr lang="en-US" altLang="zh-CN" sz="1100" i="1" u="sng" kern="0" dirty="0" err="1">
                <a:latin typeface="Comic Sans MS" pitchFamily="66" charset="0"/>
                <a:ea typeface="宋体" pitchFamily="2" charset="-122"/>
              </a:rPr>
              <a:t>customer_id</a:t>
            </a:r>
            <a:r>
              <a:rPr lang="en-US" altLang="zh-CN" sz="1100" u="sng" kern="0" dirty="0">
                <a:latin typeface="Comic Sans MS" pitchFamily="66" charset="0"/>
                <a:ea typeface="宋体" pitchFamily="2" charset="-122"/>
              </a:rPr>
              <a:t>, </a:t>
            </a:r>
            <a:r>
              <a:rPr lang="en-US" altLang="zh-CN" sz="1100" i="1" u="sng" kern="0" dirty="0" err="1">
                <a:latin typeface="Comic Sans MS" pitchFamily="66" charset="0"/>
                <a:ea typeface="宋体" pitchFamily="2" charset="-122"/>
              </a:rPr>
              <a:t>account_number</a:t>
            </a:r>
            <a:r>
              <a:rPr lang="en-US" altLang="zh-CN" sz="1100" i="1" kern="0" dirty="0">
                <a:latin typeface="Comic Sans MS" pitchFamily="66" charset="0"/>
                <a:ea typeface="宋体" pitchFamily="2" charset="-122"/>
              </a:rPr>
              <a:t>, </a:t>
            </a:r>
            <a:r>
              <a:rPr lang="en-US" altLang="zh-CN" sz="1100" i="1" kern="0" dirty="0" err="1">
                <a:latin typeface="Comic Sans MS" pitchFamily="66" charset="0"/>
                <a:ea typeface="宋体" pitchFamily="2" charset="-122"/>
              </a:rPr>
              <a:t>access_date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)</a:t>
            </a:r>
          </a:p>
          <a:p>
            <a:pPr indent="-180000">
              <a:spcBef>
                <a:spcPts val="0"/>
              </a:spcBef>
              <a:buFontTx/>
              <a:defRPr/>
            </a:pPr>
            <a:r>
              <a:rPr lang="en-US" altLang="zh-CN" sz="1100" i="1" kern="0" dirty="0" err="1">
                <a:latin typeface="Comic Sans MS" pitchFamily="66" charset="0"/>
                <a:ea typeface="宋体" pitchFamily="2" charset="-122"/>
              </a:rPr>
              <a:t>cust_banker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 = (</a:t>
            </a:r>
            <a:r>
              <a:rPr lang="en-US" altLang="zh-CN" sz="1100" i="1" u="sng" kern="0" dirty="0" err="1">
                <a:latin typeface="Comic Sans MS" pitchFamily="66" charset="0"/>
                <a:ea typeface="宋体" pitchFamily="2" charset="-122"/>
              </a:rPr>
              <a:t>customer_id</a:t>
            </a:r>
            <a:r>
              <a:rPr lang="en-US" altLang="zh-CN" sz="1100" u="sng" kern="0" dirty="0">
                <a:latin typeface="Comic Sans MS" pitchFamily="66" charset="0"/>
                <a:ea typeface="宋体" pitchFamily="2" charset="-122"/>
              </a:rPr>
              <a:t>, </a:t>
            </a:r>
            <a:r>
              <a:rPr lang="en-US" altLang="zh-CN" sz="1100" i="1" kern="0" dirty="0" err="1">
                <a:latin typeface="Comic Sans MS" pitchFamily="66" charset="0"/>
                <a:ea typeface="宋体" pitchFamily="2" charset="-122"/>
              </a:rPr>
              <a:t>employee_id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, </a:t>
            </a:r>
            <a:r>
              <a:rPr lang="en-US" altLang="zh-CN" sz="1100" i="1" kern="0" dirty="0">
                <a:latin typeface="Comic Sans MS" pitchFamily="66" charset="0"/>
                <a:ea typeface="宋体" pitchFamily="2" charset="-122"/>
              </a:rPr>
              <a:t>type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)</a:t>
            </a:r>
          </a:p>
          <a:p>
            <a:pPr indent="-180000">
              <a:spcBef>
                <a:spcPts val="0"/>
              </a:spcBef>
              <a:buFontTx/>
              <a:defRPr/>
            </a:pPr>
            <a:r>
              <a:rPr lang="en-US" altLang="zh-CN" sz="1100" i="1" kern="0" dirty="0" err="1">
                <a:latin typeface="Comic Sans MS" pitchFamily="66" charset="0"/>
                <a:ea typeface="宋体" pitchFamily="2" charset="-122"/>
              </a:rPr>
              <a:t>works_for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 = (</a:t>
            </a:r>
            <a:r>
              <a:rPr lang="en-US" altLang="zh-CN" sz="1100" i="1" u="sng" kern="0" dirty="0" err="1">
                <a:latin typeface="Comic Sans MS" pitchFamily="66" charset="0"/>
                <a:ea typeface="宋体" pitchFamily="2" charset="-122"/>
              </a:rPr>
              <a:t>worker_employee_id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, </a:t>
            </a:r>
            <a:r>
              <a:rPr lang="en-US" altLang="zh-CN" sz="1100" i="1" kern="0" dirty="0" err="1">
                <a:latin typeface="Comic Sans MS" pitchFamily="66" charset="0"/>
                <a:ea typeface="宋体" pitchFamily="2" charset="-122"/>
              </a:rPr>
              <a:t>manager_employee_id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)</a:t>
            </a:r>
          </a:p>
          <a:p>
            <a:pPr indent="-180000">
              <a:spcBef>
                <a:spcPts val="0"/>
              </a:spcBef>
              <a:buFontTx/>
              <a:defRPr/>
            </a:pPr>
            <a:endParaRPr lang="en-US" altLang="zh-CN" sz="1100" i="1" kern="0" dirty="0">
              <a:latin typeface="Comic Sans MS" pitchFamily="66" charset="0"/>
              <a:ea typeface="宋体" pitchFamily="2" charset="-122"/>
            </a:endParaRPr>
          </a:p>
          <a:p>
            <a:pPr indent="-180000">
              <a:spcBef>
                <a:spcPts val="0"/>
              </a:spcBef>
              <a:buFontTx/>
              <a:defRPr/>
            </a:pPr>
            <a:r>
              <a:rPr lang="en-US" altLang="zh-CN" sz="1100" i="1" kern="0" dirty="0">
                <a:latin typeface="Comic Sans MS" pitchFamily="66" charset="0"/>
                <a:ea typeface="宋体" pitchFamily="2" charset="-122"/>
              </a:rPr>
              <a:t>payment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 =(</a:t>
            </a:r>
            <a:r>
              <a:rPr lang="en-US" altLang="zh-CN" sz="1100" i="1" u="sng" kern="0" dirty="0" err="1">
                <a:latin typeface="Comic Sans MS" pitchFamily="66" charset="0"/>
                <a:ea typeface="宋体" pitchFamily="2" charset="-122"/>
              </a:rPr>
              <a:t>loan_number</a:t>
            </a:r>
            <a:r>
              <a:rPr lang="en-US" altLang="zh-CN" sz="1100" u="sng" kern="0" dirty="0" err="1">
                <a:latin typeface="Comic Sans MS" pitchFamily="66" charset="0"/>
                <a:ea typeface="宋体" pitchFamily="2" charset="-122"/>
              </a:rPr>
              <a:t>,</a:t>
            </a:r>
            <a:r>
              <a:rPr lang="en-US" altLang="zh-CN" sz="1100" i="1" u="sng" kern="0" dirty="0" err="1">
                <a:latin typeface="Comic Sans MS" pitchFamily="66" charset="0"/>
                <a:ea typeface="宋体" pitchFamily="2" charset="-122"/>
              </a:rPr>
              <a:t>payment_number</a:t>
            </a:r>
            <a:r>
              <a:rPr lang="en-US" altLang="zh-CN" sz="1100" kern="0" dirty="0" err="1">
                <a:latin typeface="Comic Sans MS" pitchFamily="66" charset="0"/>
                <a:ea typeface="宋体" pitchFamily="2" charset="-122"/>
              </a:rPr>
              <a:t>,</a:t>
            </a:r>
            <a:r>
              <a:rPr lang="en-US" altLang="zh-CN" sz="1100" i="1" kern="0" dirty="0" err="1">
                <a:latin typeface="Comic Sans MS" pitchFamily="66" charset="0"/>
                <a:ea typeface="宋体" pitchFamily="2" charset="-122"/>
              </a:rPr>
              <a:t>payment_date</a:t>
            </a:r>
            <a:r>
              <a:rPr lang="en-US" altLang="zh-CN" sz="1100" kern="0" dirty="0" err="1">
                <a:latin typeface="Comic Sans MS" pitchFamily="66" charset="0"/>
                <a:ea typeface="宋体" pitchFamily="2" charset="-122"/>
              </a:rPr>
              <a:t>,</a:t>
            </a:r>
            <a:r>
              <a:rPr lang="en-US" altLang="zh-CN" sz="1100" i="1" kern="0" dirty="0" err="1">
                <a:latin typeface="Comic Sans MS" pitchFamily="66" charset="0"/>
                <a:ea typeface="宋体" pitchFamily="2" charset="-122"/>
              </a:rPr>
              <a:t>payment_amount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)</a:t>
            </a:r>
          </a:p>
          <a:p>
            <a:pPr indent="-180000">
              <a:spcBef>
                <a:spcPts val="0"/>
              </a:spcBef>
              <a:buFontTx/>
              <a:defRPr/>
            </a:pPr>
            <a:endParaRPr lang="en-US" altLang="zh-CN" sz="1100" i="1" kern="0" dirty="0">
              <a:latin typeface="Comic Sans MS" pitchFamily="66" charset="0"/>
              <a:ea typeface="宋体" pitchFamily="2" charset="-122"/>
            </a:endParaRPr>
          </a:p>
          <a:p>
            <a:pPr indent="-180000">
              <a:spcBef>
                <a:spcPts val="0"/>
              </a:spcBef>
              <a:buFontTx/>
              <a:defRPr/>
            </a:pPr>
            <a:r>
              <a:rPr lang="en-US" altLang="zh-CN" sz="1100" i="1" kern="0" dirty="0" err="1">
                <a:latin typeface="Comic Sans MS" pitchFamily="66" charset="0"/>
                <a:ea typeface="宋体" pitchFamily="2" charset="-122"/>
              </a:rPr>
              <a:t>savings_account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 = (</a:t>
            </a:r>
            <a:r>
              <a:rPr lang="en-US" altLang="zh-CN" sz="1100" i="1" u="sng" kern="0" dirty="0" err="1">
                <a:latin typeface="Comic Sans MS" pitchFamily="66" charset="0"/>
                <a:ea typeface="宋体" pitchFamily="2" charset="-122"/>
              </a:rPr>
              <a:t>account_number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, </a:t>
            </a:r>
            <a:r>
              <a:rPr lang="en-US" altLang="zh-CN" sz="1100" i="1" kern="0" dirty="0" err="1">
                <a:latin typeface="Comic Sans MS" pitchFamily="66" charset="0"/>
                <a:ea typeface="宋体" pitchFamily="2" charset="-122"/>
              </a:rPr>
              <a:t>interest_rate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)</a:t>
            </a:r>
          </a:p>
          <a:p>
            <a:pPr indent="-180000">
              <a:spcBef>
                <a:spcPts val="0"/>
              </a:spcBef>
              <a:buFontTx/>
              <a:defRPr/>
            </a:pPr>
            <a:r>
              <a:rPr lang="en-US" altLang="zh-CN" sz="1100" i="1" kern="0" dirty="0" err="1">
                <a:latin typeface="Comic Sans MS" pitchFamily="66" charset="0"/>
                <a:ea typeface="宋体" pitchFamily="2" charset="-122"/>
              </a:rPr>
              <a:t>checking_account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 = (</a:t>
            </a:r>
            <a:r>
              <a:rPr lang="en-US" altLang="zh-CN" sz="1100" i="1" u="sng" kern="0" dirty="0" err="1">
                <a:latin typeface="Comic Sans MS" pitchFamily="66" charset="0"/>
                <a:ea typeface="宋体" pitchFamily="2" charset="-122"/>
              </a:rPr>
              <a:t>account_number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, </a:t>
            </a:r>
            <a:r>
              <a:rPr lang="en-US" altLang="zh-CN" sz="1100" i="1" kern="0" dirty="0" err="1">
                <a:latin typeface="Comic Sans MS" pitchFamily="66" charset="0"/>
                <a:ea typeface="宋体" pitchFamily="2" charset="-122"/>
              </a:rPr>
              <a:t>overdraft_amount</a:t>
            </a:r>
            <a:r>
              <a:rPr lang="en-US" altLang="zh-CN" sz="1100" kern="0" dirty="0">
                <a:latin typeface="Comic Sans MS" pitchFamily="66" charset="0"/>
                <a:ea typeface="宋体" pitchFamily="2" charset="-122"/>
              </a:rPr>
              <a:t>)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59EF12C-851F-4D40-BA27-D86CFF4F8AFD}"/>
              </a:ext>
            </a:extLst>
          </p:cNvPr>
          <p:cNvSpPr txBox="1"/>
          <p:nvPr/>
        </p:nvSpPr>
        <p:spPr>
          <a:xfrm>
            <a:off x="1187624" y="4731989"/>
            <a:ext cx="16561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Comic Sans MS" panose="030F0702030302020204" pitchFamily="66" charset="0"/>
                <a:ea typeface="微软雅黑" panose="020B0503020204020204" pitchFamily="34" charset="-122"/>
              </a:rPr>
              <a:t>E-R</a:t>
            </a:r>
            <a:r>
              <a:rPr lang="zh-CN" altLang="en-US" b="1" dirty="0">
                <a:latin typeface="Comic Sans MS" panose="030F0702030302020204" pitchFamily="66" charset="0"/>
                <a:ea typeface="微软雅黑" panose="020B0503020204020204" pitchFamily="34" charset="-122"/>
              </a:rPr>
              <a:t>图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F13E267-D62E-4289-B0D7-942635358100}"/>
              </a:ext>
            </a:extLst>
          </p:cNvPr>
          <p:cNvSpPr txBox="1"/>
          <p:nvPr/>
        </p:nvSpPr>
        <p:spPr>
          <a:xfrm>
            <a:off x="5724128" y="4731989"/>
            <a:ext cx="16561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关系模式</a:t>
            </a:r>
          </a:p>
        </p:txBody>
      </p:sp>
      <p:sp>
        <p:nvSpPr>
          <p:cNvPr id="3" name="箭头: 右 2">
            <a:extLst>
              <a:ext uri="{FF2B5EF4-FFF2-40B4-BE49-F238E27FC236}">
                <a16:creationId xmlns:a16="http://schemas.microsoft.com/office/drawing/2014/main" id="{36AD8984-0D90-4893-BE5C-50042680934B}"/>
              </a:ext>
            </a:extLst>
          </p:cNvPr>
          <p:cNvSpPr/>
          <p:nvPr/>
        </p:nvSpPr>
        <p:spPr>
          <a:xfrm>
            <a:off x="4644008" y="2417641"/>
            <a:ext cx="288032" cy="576064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2482695"/>
      </p:ext>
    </p:extLst>
  </p:cSld>
  <p:clrMapOvr>
    <a:masterClrMapping/>
  </p:clrMapOvr>
  <p:transition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0AA1E1-5B6C-4CAE-A1D7-DE357132D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Reduction to Relational Schemas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22B785-EAF9-4EBF-B8FE-773067359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789553"/>
            <a:ext cx="8136904" cy="3805070"/>
          </a:xfrm>
        </p:spPr>
        <p:txBody>
          <a:bodyPr/>
          <a:lstStyle/>
          <a:p>
            <a:r>
              <a:rPr lang="en-US" altLang="zh-CN" sz="2000" b="1" dirty="0">
                <a:latin typeface="Comic Sans MS" panose="030F0702030302020204" pitchFamily="66" charset="0"/>
              </a:rPr>
              <a:t>Reduction of an E-R diagram to tables</a:t>
            </a:r>
          </a:p>
          <a:p>
            <a:pPr lvl="1"/>
            <a:r>
              <a:rPr lang="en-US" altLang="zh-CN" sz="1800" dirty="0">
                <a:latin typeface="Comic Sans MS" panose="030F0702030302020204" pitchFamily="66" charset="0"/>
              </a:rPr>
              <a:t>For each entity set and relationship set there is a unique table</a:t>
            </a:r>
          </a:p>
          <a:p>
            <a:pPr lvl="1"/>
            <a:r>
              <a:rPr lang="en-US" altLang="zh-CN" sz="1800" dirty="0">
                <a:latin typeface="Comic Sans MS" panose="030F0702030302020204" pitchFamily="66" charset="0"/>
              </a:rPr>
              <a:t>Each table has a number of columns</a:t>
            </a:r>
          </a:p>
          <a:p>
            <a:pPr lvl="1"/>
            <a:r>
              <a:rPr lang="en-US" altLang="zh-CN" sz="1800" dirty="0">
                <a:latin typeface="Comic Sans MS" panose="030F0702030302020204" pitchFamily="66" charset="0"/>
              </a:rPr>
              <a:t>Converting an E-R diagram to a table format is the basis for deriving a relational database design from an E-R diagram</a:t>
            </a:r>
          </a:p>
          <a:p>
            <a:endParaRPr lang="zh-CN" altLang="en-US" sz="20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3430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70BAF1-6E37-4A88-963E-40469EFCC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Representing Entity Sets as Tables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12B0B4-2CAF-4EAE-B529-6802CBD1F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>
                <a:latin typeface="Comic Sans MS" panose="030F0702030302020204" pitchFamily="66" charset="0"/>
              </a:rPr>
              <a:t>A strong entity set reduces to a table with the same attributes</a:t>
            </a:r>
          </a:p>
          <a:p>
            <a:endParaRPr lang="zh-CN" altLang="en-US" sz="2000" dirty="0">
              <a:latin typeface="Comic Sans MS" panose="030F0702030302020204" pitchFamily="66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597502-05F7-4793-BF00-709D9FD4CB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5" t="23232" r="1050" b="23494"/>
          <a:stretch>
            <a:fillRect/>
          </a:stretch>
        </p:blipFill>
        <p:spPr bwMode="auto">
          <a:xfrm>
            <a:off x="281110" y="1593368"/>
            <a:ext cx="4393928" cy="1944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Graphic 5">
            <a:extLst>
              <a:ext uri="{FF2B5EF4-FFF2-40B4-BE49-F238E27FC236}">
                <a16:creationId xmlns:a16="http://schemas.microsoft.com/office/drawing/2014/main" id="{DB9324A7-FA5D-4B38-8668-7655426FAFA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-1" b="12197"/>
          <a:stretch/>
        </p:blipFill>
        <p:spPr>
          <a:xfrm>
            <a:off x="4982764" y="1266586"/>
            <a:ext cx="3909716" cy="308736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94C34C3-D38E-45AB-9643-E127AE22E2FE}"/>
              </a:ext>
            </a:extLst>
          </p:cNvPr>
          <p:cNvSpPr txBox="1"/>
          <p:nvPr/>
        </p:nvSpPr>
        <p:spPr>
          <a:xfrm>
            <a:off x="6300192" y="4409957"/>
            <a:ext cx="201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 b="1" dirty="0">
                <a:latin typeface="Comic Sans MS" panose="030F0702030302020204" pitchFamily="66" charset="0"/>
                <a:ea typeface="微软雅黑" pitchFamily="34" charset="-122"/>
                <a:cs typeface="Arial" panose="020B0604020202020204" pitchFamily="34" charset="0"/>
              </a:rPr>
              <a:t>Instructor</a:t>
            </a:r>
            <a:endParaRPr lang="zh-CN" altLang="en-US" sz="1800" b="1" dirty="0">
              <a:latin typeface="Comic Sans MS" panose="030F0702030302020204" pitchFamily="66" charset="0"/>
              <a:ea typeface="微软雅黑" pitchFamily="34" charset="-122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CA0CC03-9C2A-4AA2-A66A-E85D12927AB0}"/>
              </a:ext>
            </a:extLst>
          </p:cNvPr>
          <p:cNvSpPr txBox="1"/>
          <p:nvPr/>
        </p:nvSpPr>
        <p:spPr>
          <a:xfrm>
            <a:off x="1259632" y="3505094"/>
            <a:ext cx="201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 b="1" dirty="0">
                <a:latin typeface="Comic Sans MS" panose="030F0702030302020204" pitchFamily="66" charset="0"/>
                <a:ea typeface="微软雅黑" pitchFamily="34" charset="-122"/>
                <a:cs typeface="Arial" panose="020B0604020202020204" pitchFamily="34" charset="0"/>
              </a:rPr>
              <a:t>Customer</a:t>
            </a:r>
            <a:endParaRPr lang="zh-CN" altLang="en-US" sz="1800" b="1" dirty="0">
              <a:latin typeface="Comic Sans MS" panose="030F0702030302020204" pitchFamily="66" charset="0"/>
              <a:ea typeface="微软雅黑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9507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1AE382-61BF-47DB-8050-75871E39C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Composite and Multi-valued Attributes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DD1509-F794-44BA-B9C4-9BA736370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789553"/>
            <a:ext cx="8568952" cy="3805070"/>
          </a:xfrm>
        </p:spPr>
        <p:txBody>
          <a:bodyPr/>
          <a:lstStyle/>
          <a:p>
            <a:r>
              <a:rPr lang="en-US" altLang="zh-CN" sz="1800" b="1" dirty="0">
                <a:solidFill>
                  <a:srgbClr val="C00000"/>
                </a:solidFill>
                <a:latin typeface="Comic Sans MS" panose="030F0702030302020204" pitchFamily="66" charset="0"/>
              </a:rPr>
              <a:t>Composite attributes </a:t>
            </a:r>
            <a:r>
              <a:rPr lang="en-US" altLang="zh-CN" sz="1800" dirty="0">
                <a:latin typeface="Comic Sans MS" panose="030F0702030302020204" pitchFamily="66" charset="0"/>
              </a:rPr>
              <a:t>are flattened out by creating a separate attribute for each component attribute</a:t>
            </a:r>
          </a:p>
          <a:p>
            <a:r>
              <a:rPr lang="en-US" altLang="zh-CN" sz="1800" dirty="0">
                <a:latin typeface="Comic Sans MS" panose="030F0702030302020204" pitchFamily="66" charset="0"/>
              </a:rPr>
              <a:t>A multi-valued attribute M of an entity E is represented by a separate table EM</a:t>
            </a:r>
          </a:p>
          <a:p>
            <a:pPr lvl="1"/>
            <a:r>
              <a:rPr lang="en-US" altLang="zh-CN" sz="1600" dirty="0">
                <a:latin typeface="Comic Sans MS" panose="030F0702030302020204" pitchFamily="66" charset="0"/>
              </a:rPr>
              <a:t>Table EM has attributes corresponding to the primary key of E and an attribute corresponding to multivalued attribute M</a:t>
            </a:r>
          </a:p>
          <a:p>
            <a:pPr lvl="1"/>
            <a:r>
              <a:rPr lang="en-US" altLang="zh-CN" sz="1600" dirty="0">
                <a:latin typeface="Comic Sans MS" panose="030F0702030302020204" pitchFamily="66" charset="0"/>
              </a:rPr>
              <a:t>Each value of the multivalued attribute maps to a separate row of the table EM</a:t>
            </a:r>
          </a:p>
          <a:p>
            <a:endParaRPr lang="zh-CN" altLang="en-US" sz="18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3295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5A1993-9942-45BA-96F5-89D2AAC30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Representing Weak Entity Sets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9F46AD-82D3-4218-A72A-95E5478493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800" dirty="0">
                <a:latin typeface="Comic Sans MS" panose="030F0702030302020204" pitchFamily="66" charset="0"/>
              </a:rPr>
              <a:t>A weak entity set becomes a table that includes a column for the primary key of the identifying strong entity set</a:t>
            </a:r>
          </a:p>
          <a:p>
            <a:r>
              <a:rPr lang="en-US" altLang="zh-CN" sz="1800" dirty="0">
                <a:latin typeface="Comic Sans MS" panose="030F0702030302020204" pitchFamily="66" charset="0"/>
              </a:rPr>
              <a:t>E.g., </a:t>
            </a:r>
            <a:r>
              <a:rPr lang="zh-CN" altLang="en-US" sz="1800" dirty="0">
                <a:latin typeface="Comic Sans MS" panose="030F0702030302020204" pitchFamily="66" charset="0"/>
              </a:rPr>
              <a:t>还款记录</a:t>
            </a:r>
            <a:endParaRPr lang="en-US" altLang="zh-CN" sz="1800" dirty="0">
              <a:latin typeface="Comic Sans MS" panose="030F0702030302020204" pitchFamily="66" charset="0"/>
            </a:endParaRPr>
          </a:p>
          <a:p>
            <a:endParaRPr lang="zh-CN" altLang="en-US" sz="1800" dirty="0">
              <a:latin typeface="Comic Sans MS" panose="030F0702030302020204" pitchFamily="66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C8266C-757D-4753-8FBA-D19C58AC88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9" t="22269" r="919" b="22006"/>
          <a:stretch>
            <a:fillRect/>
          </a:stretch>
        </p:blipFill>
        <p:spPr bwMode="auto">
          <a:xfrm>
            <a:off x="2063700" y="2005277"/>
            <a:ext cx="4944591" cy="2150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圆角矩形 1">
            <a:extLst>
              <a:ext uri="{FF2B5EF4-FFF2-40B4-BE49-F238E27FC236}">
                <a16:creationId xmlns:a16="http://schemas.microsoft.com/office/drawing/2014/main" id="{C4F6B2CE-550E-45D9-8566-3A56EB8906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5709" y="2005277"/>
            <a:ext cx="918270" cy="2150649"/>
          </a:xfrm>
          <a:prstGeom prst="roundRect">
            <a:avLst>
              <a:gd name="adj" fmla="val 16667"/>
            </a:avLst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None/>
            </a:pPr>
            <a:endParaRPr kumimoji="0" lang="zh-CN" altLang="en-US" sz="1350" i="1">
              <a:solidFill>
                <a:srgbClr val="000000"/>
              </a:solidFill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31669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692700-60DC-4DF8-84B4-8F1DDB886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Representing Relationship Sets as Tables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B85335-CE9E-4233-B7CC-A799457160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b="1" dirty="0">
                <a:latin typeface="Comic Sans MS" panose="030F0702030302020204" pitchFamily="66" charset="0"/>
              </a:rPr>
              <a:t>Many-to-many relationship set </a:t>
            </a:r>
          </a:p>
          <a:p>
            <a:pPr lvl="1"/>
            <a:r>
              <a:rPr lang="en-US" altLang="zh-CN" sz="1800" dirty="0">
                <a:latin typeface="Comic Sans MS" panose="030F0702030302020204" pitchFamily="66" charset="0"/>
              </a:rPr>
              <a:t>Represented as a table with columns for the primary keys of the two participating entity sets, and any descriptive attributes of the relationship set. </a:t>
            </a:r>
          </a:p>
          <a:p>
            <a:pPr lvl="1"/>
            <a:r>
              <a:rPr lang="en-US" altLang="zh-CN" sz="1800" dirty="0">
                <a:latin typeface="Comic Sans MS" panose="030F0702030302020204" pitchFamily="66" charset="0"/>
              </a:rPr>
              <a:t>E.g., table for the relationship set borrower</a:t>
            </a:r>
            <a:endParaRPr lang="en-US" altLang="zh-CN" sz="1600" dirty="0">
              <a:latin typeface="Comic Sans MS" panose="030F0702030302020204" pitchFamily="66" charset="0"/>
            </a:endParaRPr>
          </a:p>
          <a:p>
            <a:endParaRPr lang="zh-CN" altLang="en-US" sz="2000" dirty="0">
              <a:latin typeface="Comic Sans MS" panose="030F0702030302020204" pitchFamily="66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639A32-40E4-4894-B7A8-D0C4E0134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75" t="2582" r="10172" b="3018"/>
          <a:stretch>
            <a:fillRect/>
          </a:stretch>
        </p:blipFill>
        <p:spPr bwMode="auto">
          <a:xfrm>
            <a:off x="3340894" y="2633663"/>
            <a:ext cx="2365772" cy="2097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圆角矩形 1">
            <a:extLst>
              <a:ext uri="{FF2B5EF4-FFF2-40B4-BE49-F238E27FC236}">
                <a16:creationId xmlns:a16="http://schemas.microsoft.com/office/drawing/2014/main" id="{3A974EF1-AE05-4861-9372-1AC0E7EB1C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5410" y="2571750"/>
            <a:ext cx="2474119" cy="323850"/>
          </a:xfrm>
          <a:prstGeom prst="roundRect">
            <a:avLst>
              <a:gd name="adj" fmla="val 16667"/>
            </a:avLst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None/>
            </a:pPr>
            <a:endParaRPr kumimoji="0" lang="zh-CN" altLang="en-US" sz="1350" i="1">
              <a:solidFill>
                <a:srgbClr val="000000"/>
              </a:solidFill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4315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96DCD6-1208-4E14-9955-2C1B493DD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82" y="-20538"/>
            <a:ext cx="9144000" cy="637580"/>
          </a:xfrm>
        </p:spPr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Representing Relationship Sets as Tables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99A955-450C-4FE8-B98A-2BEFD5586F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502" y="789553"/>
            <a:ext cx="8568952" cy="3805070"/>
          </a:xfrm>
        </p:spPr>
        <p:txBody>
          <a:bodyPr/>
          <a:lstStyle/>
          <a:p>
            <a:r>
              <a:rPr lang="en-US" altLang="zh-CN" sz="2000" b="1" dirty="0">
                <a:latin typeface="Comic Sans MS" panose="030F0702030302020204" pitchFamily="66" charset="0"/>
              </a:rPr>
              <a:t>Many-to-one and one-to-many relationship sets </a:t>
            </a:r>
          </a:p>
          <a:p>
            <a:pPr lvl="1"/>
            <a:r>
              <a:rPr lang="en-US" altLang="zh-CN" sz="1800" dirty="0">
                <a:latin typeface="Comic Sans MS" panose="030F0702030302020204" pitchFamily="66" charset="0"/>
              </a:rPr>
              <a:t>Can be represented by adding an extra attribute to the many side, containing the primary key of the one side</a:t>
            </a:r>
          </a:p>
          <a:p>
            <a:pPr lvl="1"/>
            <a:r>
              <a:rPr lang="en-US" altLang="zh-CN" sz="1800" dirty="0">
                <a:latin typeface="Comic Sans MS" panose="030F0702030302020204" pitchFamily="66" charset="0"/>
              </a:rPr>
              <a:t>E.g., instead of creating a table for relationship account-branch, add an attribute branch-name to the entity set account</a:t>
            </a:r>
          </a:p>
          <a:p>
            <a:endParaRPr lang="zh-CN" altLang="en-US" sz="2000" dirty="0">
              <a:latin typeface="Comic Sans MS" panose="030F0702030302020204" pitchFamily="66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70AD2-0375-4842-98A7-F1C3B6FD0A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1" t="30362" r="821" b="30362"/>
          <a:stretch>
            <a:fillRect/>
          </a:stretch>
        </p:blipFill>
        <p:spPr bwMode="auto">
          <a:xfrm>
            <a:off x="2000250" y="3053953"/>
            <a:ext cx="5304235" cy="162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椭圆 1">
            <a:extLst>
              <a:ext uri="{FF2B5EF4-FFF2-40B4-BE49-F238E27FC236}">
                <a16:creationId xmlns:a16="http://schemas.microsoft.com/office/drawing/2014/main" id="{D0A5437A-169B-4603-A446-6C451621EC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6497" y="3057526"/>
            <a:ext cx="1295400" cy="432197"/>
          </a:xfrm>
          <a:prstGeom prst="ellipse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None/>
            </a:pPr>
            <a:endParaRPr kumimoji="0" lang="zh-CN" altLang="en-US" sz="1350" i="1">
              <a:solidFill>
                <a:srgbClr val="000000"/>
              </a:solidFill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6" name="直接连接符 11">
            <a:extLst>
              <a:ext uri="{FF2B5EF4-FFF2-40B4-BE49-F238E27FC236}">
                <a16:creationId xmlns:a16="http://schemas.microsoft.com/office/drawing/2014/main" id="{757F72A0-9734-44D6-878B-97B04B8FC925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139804" y="3813572"/>
            <a:ext cx="1026319" cy="594122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" name="文本框 12">
            <a:extLst>
              <a:ext uri="{FF2B5EF4-FFF2-40B4-BE49-F238E27FC236}">
                <a16:creationId xmlns:a16="http://schemas.microsoft.com/office/drawing/2014/main" id="{9BE1A059-31C1-4703-B443-5DBBB4027C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3069" y="4518422"/>
            <a:ext cx="1026319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None/>
            </a:pPr>
            <a:r>
              <a:rPr kumimoji="0" lang="en-US" altLang="zh-CN" sz="1350" i="1">
                <a:solidFill>
                  <a:srgbClr val="0000FF"/>
                </a:solidFill>
                <a:latin typeface="Helvetica" panose="020B0604020202020204" pitchFamily="34" charset="0"/>
                <a:ea typeface="宋体" panose="02010600030101010101" pitchFamily="2" charset="-122"/>
              </a:rPr>
              <a:t>one side</a:t>
            </a:r>
            <a:endParaRPr kumimoji="0" lang="zh-CN" altLang="en-US" sz="1350" i="1">
              <a:solidFill>
                <a:srgbClr val="0000FF"/>
              </a:solidFill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文本框 16">
            <a:extLst>
              <a:ext uri="{FF2B5EF4-FFF2-40B4-BE49-F238E27FC236}">
                <a16:creationId xmlns:a16="http://schemas.microsoft.com/office/drawing/2014/main" id="{31CDDB14-4D15-49CA-8D7A-5E5E7F48EA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1288" y="4516041"/>
            <a:ext cx="1026319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None/>
            </a:pPr>
            <a:r>
              <a:rPr kumimoji="0" lang="en-US" altLang="zh-CN" sz="1350" i="1">
                <a:solidFill>
                  <a:srgbClr val="0000FF"/>
                </a:solidFill>
                <a:latin typeface="Helvetica" panose="020B0604020202020204" pitchFamily="34" charset="0"/>
                <a:ea typeface="宋体" panose="02010600030101010101" pitchFamily="2" charset="-122"/>
              </a:rPr>
              <a:t>many side</a:t>
            </a:r>
            <a:endParaRPr kumimoji="0" lang="zh-CN" altLang="en-US" sz="1350" i="1">
              <a:solidFill>
                <a:srgbClr val="0000FF"/>
              </a:solidFill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10" name="曲线连接符 3">
            <a:extLst>
              <a:ext uri="{FF2B5EF4-FFF2-40B4-BE49-F238E27FC236}">
                <a16:creationId xmlns:a16="http://schemas.microsoft.com/office/drawing/2014/main" id="{DC2C3AE5-24CC-4297-BEA1-EF314473257F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V="1">
            <a:off x="3330179" y="3274219"/>
            <a:ext cx="971550" cy="539354"/>
          </a:xfrm>
          <a:prstGeom prst="curvedConnector3">
            <a:avLst>
              <a:gd name="adj1" fmla="val 102259"/>
            </a:avLst>
          </a:prstGeom>
          <a:noFill/>
          <a:ln w="38100" algn="ctr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406324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50A028-B8BB-41D0-BDA1-234E05B95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Representing Relationship Sets as Tables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BADCC9-4981-4BCB-82D7-C07FE33BE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b="1" dirty="0">
                <a:latin typeface="Comic Sans MS" panose="030F0702030302020204" pitchFamily="66" charset="0"/>
              </a:rPr>
              <a:t>One-to-one relationship sets</a:t>
            </a:r>
          </a:p>
          <a:p>
            <a:pPr lvl="1"/>
            <a:r>
              <a:rPr lang="en-US" altLang="zh-CN" sz="1800" dirty="0">
                <a:latin typeface="Comic Sans MS" panose="030F0702030302020204" pitchFamily="66" charset="0"/>
              </a:rPr>
              <a:t>either side can be chosen to act as the “many” side</a:t>
            </a:r>
          </a:p>
        </p:txBody>
      </p:sp>
    </p:spTree>
    <p:extLst>
      <p:ext uri="{BB962C8B-B14F-4D97-AF65-F5344CB8AC3E}">
        <p14:creationId xmlns:p14="http://schemas.microsoft.com/office/powerpoint/2010/main" val="2164116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CEF389-8E18-4A46-A813-0FA4A5A4B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62580"/>
            <a:ext cx="9144000" cy="637580"/>
          </a:xfrm>
        </p:spPr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Representing Specialization as Tables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0025E4-CFA9-42FE-8A77-DE2C320F6D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800" b="1" dirty="0">
                <a:latin typeface="Comic Sans MS" panose="030F0702030302020204" pitchFamily="66" charset="0"/>
              </a:rPr>
              <a:t>Method 1: </a:t>
            </a:r>
          </a:p>
          <a:p>
            <a:pPr lvl="1"/>
            <a:r>
              <a:rPr lang="en-US" altLang="zh-CN" sz="1600" dirty="0">
                <a:latin typeface="Comic Sans MS" panose="030F0702030302020204" pitchFamily="66" charset="0"/>
              </a:rPr>
              <a:t>Form a table for the higher level entity </a:t>
            </a:r>
          </a:p>
          <a:p>
            <a:pPr lvl="1"/>
            <a:r>
              <a:rPr lang="en-US" altLang="zh-CN" sz="1600" dirty="0">
                <a:latin typeface="Comic Sans MS" panose="030F0702030302020204" pitchFamily="66" charset="0"/>
              </a:rPr>
              <a:t>Form a table for each lower level entity set, include primary key of higher level entity set and local attributes</a:t>
            </a:r>
            <a:br>
              <a:rPr lang="en-US" altLang="zh-CN" sz="1600" dirty="0">
                <a:latin typeface="Comic Sans MS" panose="030F0702030302020204" pitchFamily="66" charset="0"/>
              </a:rPr>
            </a:br>
            <a:endParaRPr lang="en-US" altLang="zh-CN" sz="16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altLang="zh-CN" sz="1800" dirty="0"/>
              <a:t>	</a:t>
            </a: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	             table attributes</a:t>
            </a:r>
            <a:br>
              <a:rPr lang="en-US" altLang="zh-C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person	             </a:t>
            </a:r>
            <a:r>
              <a:rPr lang="en-US" altLang="zh-CN" sz="18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altLang="zh-C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street, city  </a:t>
            </a:r>
            <a:br>
              <a:rPr lang="en-US" altLang="zh-C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customer              </a:t>
            </a:r>
            <a:r>
              <a:rPr lang="en-US" altLang="zh-CN" sz="18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altLang="zh-C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credit-rating</a:t>
            </a:r>
            <a:br>
              <a:rPr lang="en-US" altLang="zh-C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employee             </a:t>
            </a:r>
            <a:r>
              <a:rPr lang="en-US" altLang="zh-CN" sz="18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altLang="zh-C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salary</a:t>
            </a:r>
          </a:p>
          <a:p>
            <a:endParaRPr lang="en-US" altLang="zh-CN" sz="1800" dirty="0"/>
          </a:p>
          <a:p>
            <a:pPr lvl="1"/>
            <a:r>
              <a:rPr lang="en-US" altLang="zh-CN" sz="1600" b="1" dirty="0">
                <a:latin typeface="Comic Sans MS" panose="030F0702030302020204" pitchFamily="66" charset="0"/>
              </a:rPr>
              <a:t>Drawback</a:t>
            </a:r>
            <a:r>
              <a:rPr lang="en-US" altLang="zh-CN" sz="1600" dirty="0">
                <a:latin typeface="Comic Sans MS" panose="030F0702030302020204" pitchFamily="66" charset="0"/>
              </a:rPr>
              <a:t>:  Querying information about entities, e.g., employee, requires accessing two tables</a:t>
            </a:r>
          </a:p>
          <a:p>
            <a:endParaRPr lang="zh-CN" altLang="en-US" sz="1800" dirty="0"/>
          </a:p>
        </p:txBody>
      </p:sp>
      <p:sp>
        <p:nvSpPr>
          <p:cNvPr id="4" name="Line 9">
            <a:extLst>
              <a:ext uri="{FF2B5EF4-FFF2-40B4-BE49-F238E27FC236}">
                <a16:creationId xmlns:a16="http://schemas.microsoft.com/office/drawing/2014/main" id="{817E68C1-289A-4E98-BA77-FEF83F0D984F}"/>
              </a:ext>
            </a:extLst>
          </p:cNvPr>
          <p:cNvSpPr>
            <a:spLocks noChangeShapeType="1"/>
          </p:cNvSpPr>
          <p:nvPr/>
        </p:nvSpPr>
        <p:spPr bwMode="auto">
          <a:xfrm>
            <a:off x="1187624" y="2535560"/>
            <a:ext cx="36195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Line 10">
            <a:extLst>
              <a:ext uri="{FF2B5EF4-FFF2-40B4-BE49-F238E27FC236}">
                <a16:creationId xmlns:a16="http://schemas.microsoft.com/office/drawing/2014/main" id="{D3834E09-91AF-42B7-B43F-99428608BCE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83768" y="2211710"/>
            <a:ext cx="446" cy="1295764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49559279"/>
      </p:ext>
    </p:extLst>
  </p:cSld>
  <p:clrMapOvr>
    <a:masterClrMapping/>
  </p:clrMapOvr>
  <p:transition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E826E2-534A-4C2C-828C-5A249964F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Representing Specialization as Tables (Cont.)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3150B6-D6B9-43A4-9386-F79F9F116B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789553"/>
            <a:ext cx="8568952" cy="3805070"/>
          </a:xfrm>
        </p:spPr>
        <p:txBody>
          <a:bodyPr/>
          <a:lstStyle/>
          <a:p>
            <a:r>
              <a:rPr lang="en-US" altLang="zh-CN" sz="1800" b="1" dirty="0">
                <a:latin typeface="Comic Sans MS" panose="030F0702030302020204" pitchFamily="66" charset="0"/>
              </a:rPr>
              <a:t>Method 2:  </a:t>
            </a:r>
          </a:p>
          <a:p>
            <a:pPr lvl="1"/>
            <a:r>
              <a:rPr lang="en-US" altLang="zh-CN" sz="1600" dirty="0">
                <a:latin typeface="Comic Sans MS" panose="030F0702030302020204" pitchFamily="66" charset="0"/>
              </a:rPr>
              <a:t>Form a table for each entity set with all local and inherited attributes</a:t>
            </a:r>
            <a:r>
              <a:rPr lang="en-US" altLang="zh-CN" sz="1400" dirty="0"/>
              <a:t>	</a:t>
            </a:r>
          </a:p>
          <a:p>
            <a:pPr marL="0" indent="0">
              <a:buNone/>
            </a:pPr>
            <a:r>
              <a:rPr lang="en-US" altLang="zh-CN" sz="1800" dirty="0"/>
              <a:t>	</a:t>
            </a: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	   	table attributes</a:t>
            </a:r>
            <a:br>
              <a:rPr lang="en-US" altLang="zh-C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person	                </a:t>
            </a:r>
            <a:r>
              <a:rPr lang="en-US" altLang="zh-CN" sz="18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altLang="zh-C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street, city	</a:t>
            </a:r>
            <a:br>
              <a:rPr lang="en-US" altLang="zh-C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customer	                </a:t>
            </a:r>
            <a:r>
              <a:rPr lang="en-US" altLang="zh-CN" sz="18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altLang="zh-C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street, city, credit-rating</a:t>
            </a:r>
            <a:br>
              <a:rPr lang="en-US" altLang="zh-C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employee 	</a:t>
            </a:r>
            <a:r>
              <a:rPr lang="en-US" altLang="zh-CN" sz="18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altLang="zh-C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street, city, salary</a:t>
            </a:r>
            <a:br>
              <a:rPr lang="en-US" altLang="zh-CN" sz="1800" dirty="0"/>
            </a:br>
            <a:r>
              <a:rPr lang="en-US" altLang="zh-CN" sz="1800" dirty="0"/>
              <a:t>		</a:t>
            </a:r>
          </a:p>
          <a:p>
            <a:pPr lvl="1"/>
            <a:r>
              <a:rPr lang="en-US" altLang="zh-CN" sz="1600" b="1" dirty="0">
                <a:latin typeface="Comic Sans MS" panose="030F0702030302020204" pitchFamily="66" charset="0"/>
              </a:rPr>
              <a:t>Drawback:</a:t>
            </a:r>
            <a:r>
              <a:rPr lang="en-US" altLang="zh-CN" sz="1600" dirty="0">
                <a:latin typeface="Comic Sans MS" panose="030F0702030302020204" pitchFamily="66" charset="0"/>
              </a:rPr>
              <a:t>  street and city may be stored redundantly for persons who are both customers and employees</a:t>
            </a:r>
          </a:p>
          <a:p>
            <a:endParaRPr lang="zh-CN" altLang="en-US" sz="1800" dirty="0"/>
          </a:p>
        </p:txBody>
      </p:sp>
      <p:sp>
        <p:nvSpPr>
          <p:cNvPr id="4" name="Line 9">
            <a:extLst>
              <a:ext uri="{FF2B5EF4-FFF2-40B4-BE49-F238E27FC236}">
                <a16:creationId xmlns:a16="http://schemas.microsoft.com/office/drawing/2014/main" id="{4FF7012B-3607-4E9B-A1CA-4CE8E0A2F80F}"/>
              </a:ext>
            </a:extLst>
          </p:cNvPr>
          <p:cNvSpPr>
            <a:spLocks noChangeShapeType="1"/>
          </p:cNvSpPr>
          <p:nvPr/>
        </p:nvSpPr>
        <p:spPr bwMode="auto">
          <a:xfrm>
            <a:off x="1187624" y="1779588"/>
            <a:ext cx="5292328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Line 10">
            <a:extLst>
              <a:ext uri="{FF2B5EF4-FFF2-40B4-BE49-F238E27FC236}">
                <a16:creationId xmlns:a16="http://schemas.microsoft.com/office/drawing/2014/main" id="{D14D711C-A51A-44E1-897D-A1A29C654B3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11759" y="1491630"/>
            <a:ext cx="0" cy="1224136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defTabSz="685800" eaLnBrk="0" hangingPunct="0">
              <a:spcBef>
                <a:spcPct val="0"/>
              </a:spcBef>
            </a:pPr>
            <a:endParaRPr lang="zh-CN" altLang="en-US" sz="1350" i="1">
              <a:solidFill>
                <a:srgbClr val="000000"/>
              </a:solidFill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05952292"/>
      </p:ext>
    </p:extLst>
  </p:cSld>
  <p:clrMapOvr>
    <a:masterClrMapping/>
  </p:clrMapOvr>
  <p:transition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9287CD-292C-4A7A-A63F-09F0FC0AD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Banking Relational Schema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431270-B886-429E-B4E9-D09C50595C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400" dirty="0">
                <a:latin typeface="Comic Sans MS" panose="030F0702030302020204" pitchFamily="66" charset="0"/>
              </a:rPr>
              <a:t>branch = (</a:t>
            </a:r>
            <a:r>
              <a:rPr lang="en-US" altLang="zh-CN" sz="1400" dirty="0" err="1">
                <a:latin typeface="Comic Sans MS" panose="030F0702030302020204" pitchFamily="66" charset="0"/>
              </a:rPr>
              <a:t>branch_name</a:t>
            </a:r>
            <a:r>
              <a:rPr lang="en-US" altLang="zh-CN" sz="1400" dirty="0">
                <a:latin typeface="Comic Sans MS" panose="030F0702030302020204" pitchFamily="66" charset="0"/>
              </a:rPr>
              <a:t>, </a:t>
            </a:r>
            <a:r>
              <a:rPr lang="en-US" altLang="zh-CN" sz="1400" dirty="0" err="1">
                <a:latin typeface="Comic Sans MS" panose="030F0702030302020204" pitchFamily="66" charset="0"/>
              </a:rPr>
              <a:t>branch_city</a:t>
            </a:r>
            <a:r>
              <a:rPr lang="en-US" altLang="zh-CN" sz="1400" dirty="0">
                <a:latin typeface="Comic Sans MS" panose="030F0702030302020204" pitchFamily="66" charset="0"/>
              </a:rPr>
              <a:t>, assets)</a:t>
            </a:r>
          </a:p>
          <a:p>
            <a:r>
              <a:rPr lang="en-US" altLang="zh-CN" sz="1400" dirty="0">
                <a:latin typeface="Comic Sans MS" panose="030F0702030302020204" pitchFamily="66" charset="0"/>
              </a:rPr>
              <a:t>customer = (</a:t>
            </a:r>
            <a:r>
              <a:rPr lang="en-US" altLang="zh-CN" sz="1400" dirty="0" err="1">
                <a:latin typeface="Comic Sans MS" panose="030F0702030302020204" pitchFamily="66" charset="0"/>
              </a:rPr>
              <a:t>customer_id</a:t>
            </a:r>
            <a:r>
              <a:rPr lang="en-US" altLang="zh-CN" sz="1400" dirty="0">
                <a:latin typeface="Comic Sans MS" panose="030F0702030302020204" pitchFamily="66" charset="0"/>
              </a:rPr>
              <a:t>, </a:t>
            </a:r>
            <a:r>
              <a:rPr lang="en-US" altLang="zh-CN" sz="1400" dirty="0" err="1">
                <a:latin typeface="Comic Sans MS" panose="030F0702030302020204" pitchFamily="66" charset="0"/>
              </a:rPr>
              <a:t>customer_name</a:t>
            </a:r>
            <a:r>
              <a:rPr lang="en-US" altLang="zh-CN" sz="1400" dirty="0">
                <a:latin typeface="Comic Sans MS" panose="030F0702030302020204" pitchFamily="66" charset="0"/>
              </a:rPr>
              <a:t>, </a:t>
            </a:r>
            <a:r>
              <a:rPr lang="en-US" altLang="zh-CN" sz="1400" dirty="0" err="1">
                <a:latin typeface="Comic Sans MS" panose="030F0702030302020204" pitchFamily="66" charset="0"/>
              </a:rPr>
              <a:t>customer_street</a:t>
            </a:r>
            <a:r>
              <a:rPr lang="en-US" altLang="zh-CN" sz="1400" dirty="0">
                <a:latin typeface="Comic Sans MS" panose="030F0702030302020204" pitchFamily="66" charset="0"/>
              </a:rPr>
              <a:t>, </a:t>
            </a:r>
            <a:r>
              <a:rPr lang="en-US" altLang="zh-CN" sz="1400" dirty="0" err="1">
                <a:latin typeface="Comic Sans MS" panose="030F0702030302020204" pitchFamily="66" charset="0"/>
              </a:rPr>
              <a:t>customer_city</a:t>
            </a:r>
            <a:r>
              <a:rPr lang="en-US" altLang="zh-CN" sz="1400" dirty="0">
                <a:latin typeface="Comic Sans MS" panose="030F0702030302020204" pitchFamily="66" charset="0"/>
              </a:rPr>
              <a:t>)</a:t>
            </a:r>
          </a:p>
          <a:p>
            <a:r>
              <a:rPr lang="en-US" altLang="zh-CN" sz="1400" dirty="0">
                <a:latin typeface="Comic Sans MS" panose="030F0702030302020204" pitchFamily="66" charset="0"/>
              </a:rPr>
              <a:t>loan = (</a:t>
            </a:r>
            <a:r>
              <a:rPr lang="en-US" altLang="zh-CN" sz="1400" dirty="0" err="1">
                <a:latin typeface="Comic Sans MS" panose="030F0702030302020204" pitchFamily="66" charset="0"/>
              </a:rPr>
              <a:t>loan_number</a:t>
            </a:r>
            <a:r>
              <a:rPr lang="en-US" altLang="zh-CN" sz="1400" dirty="0">
                <a:latin typeface="Comic Sans MS" panose="030F0702030302020204" pitchFamily="66" charset="0"/>
              </a:rPr>
              <a:t>, amount)</a:t>
            </a:r>
          </a:p>
          <a:p>
            <a:r>
              <a:rPr lang="en-US" altLang="zh-CN" sz="1400" dirty="0">
                <a:latin typeface="Comic Sans MS" panose="030F0702030302020204" pitchFamily="66" charset="0"/>
              </a:rPr>
              <a:t>account = (</a:t>
            </a:r>
            <a:r>
              <a:rPr lang="en-US" altLang="zh-CN" sz="1400" dirty="0" err="1">
                <a:latin typeface="Comic Sans MS" panose="030F0702030302020204" pitchFamily="66" charset="0"/>
              </a:rPr>
              <a:t>account_number</a:t>
            </a:r>
            <a:r>
              <a:rPr lang="en-US" altLang="zh-CN" sz="1400" dirty="0">
                <a:latin typeface="Comic Sans MS" panose="030F0702030302020204" pitchFamily="66" charset="0"/>
              </a:rPr>
              <a:t>, balance)</a:t>
            </a:r>
          </a:p>
          <a:p>
            <a:r>
              <a:rPr lang="en-US" altLang="zh-CN" sz="1400" dirty="0">
                <a:latin typeface="Comic Sans MS" panose="030F0702030302020204" pitchFamily="66" charset="0"/>
              </a:rPr>
              <a:t>employee = (</a:t>
            </a:r>
            <a:r>
              <a:rPr lang="en-US" altLang="zh-CN" sz="1400" dirty="0" err="1">
                <a:latin typeface="Comic Sans MS" panose="030F0702030302020204" pitchFamily="66" charset="0"/>
              </a:rPr>
              <a:t>employee_id</a:t>
            </a:r>
            <a:r>
              <a:rPr lang="en-US" altLang="zh-CN" sz="1400" dirty="0">
                <a:latin typeface="Comic Sans MS" panose="030F0702030302020204" pitchFamily="66" charset="0"/>
              </a:rPr>
              <a:t>, </a:t>
            </a:r>
            <a:r>
              <a:rPr lang="en-US" altLang="zh-CN" sz="1400" dirty="0" err="1">
                <a:latin typeface="Comic Sans MS" panose="030F0702030302020204" pitchFamily="66" charset="0"/>
              </a:rPr>
              <a:t>employee_name</a:t>
            </a:r>
            <a:r>
              <a:rPr lang="en-US" altLang="zh-CN" sz="1400" dirty="0">
                <a:latin typeface="Comic Sans MS" panose="030F0702030302020204" pitchFamily="66" charset="0"/>
              </a:rPr>
              <a:t>, </a:t>
            </a:r>
            <a:r>
              <a:rPr lang="en-US" altLang="zh-CN" sz="1400" dirty="0" err="1">
                <a:latin typeface="Comic Sans MS" panose="030F0702030302020204" pitchFamily="66" charset="0"/>
              </a:rPr>
              <a:t>telephone_number</a:t>
            </a:r>
            <a:r>
              <a:rPr lang="en-US" altLang="zh-CN" sz="1400" dirty="0">
                <a:latin typeface="Comic Sans MS" panose="030F0702030302020204" pitchFamily="66" charset="0"/>
              </a:rPr>
              <a:t>, </a:t>
            </a:r>
            <a:r>
              <a:rPr lang="en-US" altLang="zh-CN" sz="1400" dirty="0" err="1">
                <a:latin typeface="Comic Sans MS" panose="030F0702030302020204" pitchFamily="66" charset="0"/>
              </a:rPr>
              <a:t>start_date</a:t>
            </a:r>
            <a:r>
              <a:rPr lang="en-US" altLang="zh-CN" sz="1400" dirty="0">
                <a:latin typeface="Comic Sans MS" panose="030F0702030302020204" pitchFamily="66" charset="0"/>
              </a:rPr>
              <a:t>)</a:t>
            </a:r>
          </a:p>
          <a:p>
            <a:r>
              <a:rPr lang="en-US" altLang="zh-CN" sz="1400" dirty="0" err="1">
                <a:latin typeface="Comic Sans MS" panose="030F0702030302020204" pitchFamily="66" charset="0"/>
              </a:rPr>
              <a:t>dependent_name</a:t>
            </a:r>
            <a:r>
              <a:rPr lang="en-US" altLang="zh-CN" sz="1400" dirty="0">
                <a:latin typeface="Comic Sans MS" panose="030F0702030302020204" pitchFamily="66" charset="0"/>
              </a:rPr>
              <a:t> = (</a:t>
            </a:r>
            <a:r>
              <a:rPr lang="en-US" altLang="zh-CN" sz="1400" dirty="0" err="1">
                <a:latin typeface="Comic Sans MS" panose="030F0702030302020204" pitchFamily="66" charset="0"/>
              </a:rPr>
              <a:t>employee_id</a:t>
            </a:r>
            <a:r>
              <a:rPr lang="en-US" altLang="zh-CN" sz="1400" dirty="0">
                <a:latin typeface="Comic Sans MS" panose="030F0702030302020204" pitchFamily="66" charset="0"/>
              </a:rPr>
              <a:t>, </a:t>
            </a:r>
            <a:r>
              <a:rPr lang="en-US" altLang="zh-CN" sz="1400" dirty="0" err="1">
                <a:latin typeface="Comic Sans MS" panose="030F0702030302020204" pitchFamily="66" charset="0"/>
              </a:rPr>
              <a:t>dname</a:t>
            </a:r>
            <a:r>
              <a:rPr lang="en-US" altLang="zh-CN" sz="1400" dirty="0">
                <a:latin typeface="Comic Sans MS" panose="030F0702030302020204" pitchFamily="66" charset="0"/>
              </a:rPr>
              <a:t>) (derived from a  multivalued attribute)</a:t>
            </a:r>
          </a:p>
          <a:p>
            <a:r>
              <a:rPr lang="en-US" altLang="zh-CN" sz="1400" dirty="0" err="1">
                <a:latin typeface="Comic Sans MS" panose="030F0702030302020204" pitchFamily="66" charset="0"/>
              </a:rPr>
              <a:t>account_branch</a:t>
            </a:r>
            <a:r>
              <a:rPr lang="en-US" altLang="zh-CN" sz="1400" dirty="0">
                <a:latin typeface="Comic Sans MS" panose="030F0702030302020204" pitchFamily="66" charset="0"/>
              </a:rPr>
              <a:t> = (</a:t>
            </a:r>
            <a:r>
              <a:rPr lang="en-US" altLang="zh-CN" sz="1400" dirty="0" err="1">
                <a:latin typeface="Comic Sans MS" panose="030F0702030302020204" pitchFamily="66" charset="0"/>
              </a:rPr>
              <a:t>account_number</a:t>
            </a:r>
            <a:r>
              <a:rPr lang="en-US" altLang="zh-CN" sz="1400" dirty="0">
                <a:latin typeface="Comic Sans MS" panose="030F0702030302020204" pitchFamily="66" charset="0"/>
              </a:rPr>
              <a:t>, </a:t>
            </a:r>
            <a:r>
              <a:rPr lang="en-US" altLang="zh-CN" sz="1400" dirty="0" err="1">
                <a:latin typeface="Comic Sans MS" panose="030F0702030302020204" pitchFamily="66" charset="0"/>
              </a:rPr>
              <a:t>branch_name</a:t>
            </a:r>
            <a:r>
              <a:rPr lang="en-US" altLang="zh-CN" sz="1400" dirty="0">
                <a:latin typeface="Comic Sans MS" panose="030F0702030302020204" pitchFamily="66" charset="0"/>
              </a:rPr>
              <a:t>)</a:t>
            </a:r>
          </a:p>
          <a:p>
            <a:r>
              <a:rPr lang="en-US" altLang="zh-CN" sz="1400" dirty="0" err="1">
                <a:latin typeface="Comic Sans MS" panose="030F0702030302020204" pitchFamily="66" charset="0"/>
              </a:rPr>
              <a:t>loan_branch</a:t>
            </a:r>
            <a:r>
              <a:rPr lang="en-US" altLang="zh-CN" sz="1400" dirty="0">
                <a:latin typeface="Comic Sans MS" panose="030F0702030302020204" pitchFamily="66" charset="0"/>
              </a:rPr>
              <a:t> = (</a:t>
            </a:r>
            <a:r>
              <a:rPr lang="en-US" altLang="zh-CN" sz="1400" dirty="0" err="1">
                <a:latin typeface="Comic Sans MS" panose="030F0702030302020204" pitchFamily="66" charset="0"/>
              </a:rPr>
              <a:t>loan_number</a:t>
            </a:r>
            <a:r>
              <a:rPr lang="en-US" altLang="zh-CN" sz="1400" dirty="0">
                <a:latin typeface="Comic Sans MS" panose="030F0702030302020204" pitchFamily="66" charset="0"/>
              </a:rPr>
              <a:t>, </a:t>
            </a:r>
            <a:r>
              <a:rPr lang="en-US" altLang="zh-CN" sz="1400" dirty="0" err="1">
                <a:latin typeface="Comic Sans MS" panose="030F0702030302020204" pitchFamily="66" charset="0"/>
              </a:rPr>
              <a:t>branch_name</a:t>
            </a:r>
            <a:r>
              <a:rPr lang="en-US" altLang="zh-CN" sz="1400" dirty="0">
                <a:latin typeface="Comic Sans MS" panose="030F0702030302020204" pitchFamily="66" charset="0"/>
              </a:rPr>
              <a:t>)</a:t>
            </a:r>
          </a:p>
          <a:p>
            <a:r>
              <a:rPr lang="en-US" altLang="zh-CN" sz="1400" dirty="0">
                <a:latin typeface="Comic Sans MS" panose="030F0702030302020204" pitchFamily="66" charset="0"/>
              </a:rPr>
              <a:t>borrower = (</a:t>
            </a:r>
            <a:r>
              <a:rPr lang="en-US" altLang="zh-CN" sz="1400" dirty="0" err="1">
                <a:latin typeface="Comic Sans MS" panose="030F0702030302020204" pitchFamily="66" charset="0"/>
              </a:rPr>
              <a:t>customer_id</a:t>
            </a:r>
            <a:r>
              <a:rPr lang="en-US" altLang="zh-CN" sz="1400" dirty="0">
                <a:latin typeface="Comic Sans MS" panose="030F0702030302020204" pitchFamily="66" charset="0"/>
              </a:rPr>
              <a:t>, </a:t>
            </a:r>
            <a:r>
              <a:rPr lang="en-US" altLang="zh-CN" sz="1400" dirty="0" err="1">
                <a:latin typeface="Comic Sans MS" panose="030F0702030302020204" pitchFamily="66" charset="0"/>
              </a:rPr>
              <a:t>loan_number</a:t>
            </a:r>
            <a:r>
              <a:rPr lang="en-US" altLang="zh-CN" sz="1400" dirty="0">
                <a:latin typeface="Comic Sans MS" panose="030F0702030302020204" pitchFamily="66" charset="0"/>
              </a:rPr>
              <a:t>)</a:t>
            </a:r>
          </a:p>
          <a:p>
            <a:r>
              <a:rPr lang="en-US" altLang="zh-CN" sz="1400" dirty="0">
                <a:latin typeface="Comic Sans MS" panose="030F0702030302020204" pitchFamily="66" charset="0"/>
              </a:rPr>
              <a:t>depositor = (</a:t>
            </a:r>
            <a:r>
              <a:rPr lang="en-US" altLang="zh-CN" sz="1400" dirty="0" err="1">
                <a:latin typeface="Comic Sans MS" panose="030F0702030302020204" pitchFamily="66" charset="0"/>
              </a:rPr>
              <a:t>customer_id</a:t>
            </a:r>
            <a:r>
              <a:rPr lang="en-US" altLang="zh-CN" sz="1400" dirty="0">
                <a:latin typeface="Comic Sans MS" panose="030F0702030302020204" pitchFamily="66" charset="0"/>
              </a:rPr>
              <a:t>, </a:t>
            </a:r>
            <a:r>
              <a:rPr lang="en-US" altLang="zh-CN" sz="1400" dirty="0" err="1">
                <a:latin typeface="Comic Sans MS" panose="030F0702030302020204" pitchFamily="66" charset="0"/>
              </a:rPr>
              <a:t>account_number</a:t>
            </a:r>
            <a:r>
              <a:rPr lang="en-US" altLang="zh-CN" sz="1400" dirty="0">
                <a:latin typeface="Comic Sans MS" panose="030F0702030302020204" pitchFamily="66" charset="0"/>
              </a:rPr>
              <a:t>, </a:t>
            </a:r>
            <a:r>
              <a:rPr lang="en-US" altLang="zh-CN" sz="1400" dirty="0" err="1">
                <a:latin typeface="Comic Sans MS" panose="030F0702030302020204" pitchFamily="66" charset="0"/>
              </a:rPr>
              <a:t>access_date</a:t>
            </a:r>
            <a:r>
              <a:rPr lang="en-US" altLang="zh-CN" sz="1400" dirty="0">
                <a:latin typeface="Comic Sans MS" panose="030F0702030302020204" pitchFamily="66" charset="0"/>
              </a:rPr>
              <a:t>)</a:t>
            </a:r>
          </a:p>
          <a:p>
            <a:r>
              <a:rPr lang="en-US" altLang="zh-CN" sz="1400" dirty="0" err="1">
                <a:latin typeface="Comic Sans MS" panose="030F0702030302020204" pitchFamily="66" charset="0"/>
              </a:rPr>
              <a:t>cust_banker</a:t>
            </a:r>
            <a:r>
              <a:rPr lang="en-US" altLang="zh-CN" sz="1400" dirty="0">
                <a:latin typeface="Comic Sans MS" panose="030F0702030302020204" pitchFamily="66" charset="0"/>
              </a:rPr>
              <a:t> = (</a:t>
            </a:r>
            <a:r>
              <a:rPr lang="en-US" altLang="zh-CN" sz="1400" dirty="0" err="1">
                <a:latin typeface="Comic Sans MS" panose="030F0702030302020204" pitchFamily="66" charset="0"/>
              </a:rPr>
              <a:t>customer_id</a:t>
            </a:r>
            <a:r>
              <a:rPr lang="en-US" altLang="zh-CN" sz="1400" dirty="0">
                <a:latin typeface="Comic Sans MS" panose="030F0702030302020204" pitchFamily="66" charset="0"/>
              </a:rPr>
              <a:t>, </a:t>
            </a:r>
            <a:r>
              <a:rPr lang="en-US" altLang="zh-CN" sz="1400" dirty="0" err="1">
                <a:latin typeface="Comic Sans MS" panose="030F0702030302020204" pitchFamily="66" charset="0"/>
              </a:rPr>
              <a:t>employee_id</a:t>
            </a:r>
            <a:r>
              <a:rPr lang="en-US" altLang="zh-CN" sz="1400" dirty="0">
                <a:latin typeface="Comic Sans MS" panose="030F0702030302020204" pitchFamily="66" charset="0"/>
              </a:rPr>
              <a:t>, type)</a:t>
            </a:r>
          </a:p>
          <a:p>
            <a:r>
              <a:rPr lang="en-US" altLang="zh-CN" sz="1400" dirty="0" err="1">
                <a:latin typeface="Comic Sans MS" panose="030F0702030302020204" pitchFamily="66" charset="0"/>
              </a:rPr>
              <a:t>works_for</a:t>
            </a:r>
            <a:r>
              <a:rPr lang="en-US" altLang="zh-CN" sz="1400" dirty="0">
                <a:latin typeface="Comic Sans MS" panose="030F0702030302020204" pitchFamily="66" charset="0"/>
              </a:rPr>
              <a:t> = (</a:t>
            </a:r>
            <a:r>
              <a:rPr lang="en-US" altLang="zh-CN" sz="1400" dirty="0" err="1">
                <a:latin typeface="Comic Sans MS" panose="030F0702030302020204" pitchFamily="66" charset="0"/>
              </a:rPr>
              <a:t>worker_employee_id</a:t>
            </a:r>
            <a:r>
              <a:rPr lang="en-US" altLang="zh-CN" sz="1400" dirty="0">
                <a:latin typeface="Comic Sans MS" panose="030F0702030302020204" pitchFamily="66" charset="0"/>
              </a:rPr>
              <a:t>, </a:t>
            </a:r>
            <a:r>
              <a:rPr lang="en-US" altLang="zh-CN" sz="1400" dirty="0" err="1">
                <a:latin typeface="Comic Sans MS" panose="030F0702030302020204" pitchFamily="66" charset="0"/>
              </a:rPr>
              <a:t>manager_employee_id</a:t>
            </a:r>
            <a:r>
              <a:rPr lang="en-US" altLang="zh-CN" sz="1400" dirty="0">
                <a:latin typeface="Comic Sans MS" panose="030F0702030302020204" pitchFamily="66" charset="0"/>
              </a:rPr>
              <a:t>)</a:t>
            </a:r>
          </a:p>
          <a:p>
            <a:r>
              <a:rPr lang="en-US" altLang="zh-CN" sz="1400" dirty="0">
                <a:latin typeface="Comic Sans MS" panose="030F0702030302020204" pitchFamily="66" charset="0"/>
              </a:rPr>
              <a:t>payment =(</a:t>
            </a:r>
            <a:r>
              <a:rPr lang="en-US" altLang="zh-CN" sz="1400" dirty="0" err="1">
                <a:latin typeface="Comic Sans MS" panose="030F0702030302020204" pitchFamily="66" charset="0"/>
              </a:rPr>
              <a:t>loan_number,payment_number</a:t>
            </a:r>
            <a:r>
              <a:rPr lang="en-US" altLang="zh-CN" sz="1400" dirty="0">
                <a:latin typeface="Comic Sans MS" panose="030F0702030302020204" pitchFamily="66" charset="0"/>
              </a:rPr>
              <a:t>, </a:t>
            </a:r>
            <a:r>
              <a:rPr lang="en-US" altLang="zh-CN" sz="1400" dirty="0" err="1">
                <a:latin typeface="Comic Sans MS" panose="030F0702030302020204" pitchFamily="66" charset="0"/>
              </a:rPr>
              <a:t>payment_date,payment_amount</a:t>
            </a:r>
            <a:r>
              <a:rPr lang="en-US" altLang="zh-CN" sz="1400" dirty="0">
                <a:latin typeface="Comic Sans MS" panose="030F0702030302020204" pitchFamily="66" charset="0"/>
              </a:rPr>
              <a:t>)</a:t>
            </a:r>
          </a:p>
          <a:p>
            <a:r>
              <a:rPr lang="en-US" altLang="zh-CN" sz="1400" dirty="0" err="1">
                <a:latin typeface="Comic Sans MS" panose="030F0702030302020204" pitchFamily="66" charset="0"/>
              </a:rPr>
              <a:t>savings_account</a:t>
            </a:r>
            <a:r>
              <a:rPr lang="en-US" altLang="zh-CN" sz="1400" dirty="0">
                <a:latin typeface="Comic Sans MS" panose="030F0702030302020204" pitchFamily="66" charset="0"/>
              </a:rPr>
              <a:t> = (</a:t>
            </a:r>
            <a:r>
              <a:rPr lang="en-US" altLang="zh-CN" sz="1400" dirty="0" err="1">
                <a:latin typeface="Comic Sans MS" panose="030F0702030302020204" pitchFamily="66" charset="0"/>
              </a:rPr>
              <a:t>account_number</a:t>
            </a:r>
            <a:r>
              <a:rPr lang="en-US" altLang="zh-CN" sz="1400" dirty="0">
                <a:latin typeface="Comic Sans MS" panose="030F0702030302020204" pitchFamily="66" charset="0"/>
              </a:rPr>
              <a:t>, </a:t>
            </a:r>
            <a:r>
              <a:rPr lang="en-US" altLang="zh-CN" sz="1400" dirty="0" err="1">
                <a:latin typeface="Comic Sans MS" panose="030F0702030302020204" pitchFamily="66" charset="0"/>
              </a:rPr>
              <a:t>interest_rate</a:t>
            </a:r>
            <a:r>
              <a:rPr lang="en-US" altLang="zh-CN" sz="1400" dirty="0">
                <a:latin typeface="Comic Sans MS" panose="030F0702030302020204" pitchFamily="66" charset="0"/>
              </a:rPr>
              <a:t>)</a:t>
            </a:r>
          </a:p>
          <a:p>
            <a:r>
              <a:rPr lang="en-US" altLang="zh-CN" sz="1400" dirty="0" err="1">
                <a:latin typeface="Comic Sans MS" panose="030F0702030302020204" pitchFamily="66" charset="0"/>
              </a:rPr>
              <a:t>checking_account</a:t>
            </a:r>
            <a:r>
              <a:rPr lang="en-US" altLang="zh-CN" sz="1400" dirty="0">
                <a:latin typeface="Comic Sans MS" panose="030F0702030302020204" pitchFamily="66" charset="0"/>
              </a:rPr>
              <a:t> = (</a:t>
            </a:r>
            <a:r>
              <a:rPr lang="en-US" altLang="zh-CN" sz="1400" dirty="0" err="1">
                <a:latin typeface="Comic Sans MS" panose="030F0702030302020204" pitchFamily="66" charset="0"/>
              </a:rPr>
              <a:t>account_number</a:t>
            </a:r>
            <a:r>
              <a:rPr lang="en-US" altLang="zh-CN" sz="1400" dirty="0">
                <a:latin typeface="Comic Sans MS" panose="030F0702030302020204" pitchFamily="66" charset="0"/>
              </a:rPr>
              <a:t>, </a:t>
            </a:r>
            <a:r>
              <a:rPr lang="en-US" altLang="zh-CN" sz="1400" dirty="0" err="1">
                <a:latin typeface="Comic Sans MS" panose="030F0702030302020204" pitchFamily="66" charset="0"/>
              </a:rPr>
              <a:t>overdraft_amount</a:t>
            </a:r>
            <a:r>
              <a:rPr lang="en-US" altLang="zh-CN" sz="1400" dirty="0">
                <a:latin typeface="Comic Sans MS" panose="030F0702030302020204" pitchFamily="66" charset="0"/>
              </a:rPr>
              <a:t>)</a:t>
            </a:r>
          </a:p>
          <a:p>
            <a:endParaRPr lang="zh-CN" altLang="en-US" sz="1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8566021"/>
      </p:ext>
    </p:extLst>
  </p:cSld>
  <p:clrMapOvr>
    <a:masterClrMapping/>
  </p:clrMapOvr>
  <p:transition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FF2846-FA2A-4BAA-9362-7D602E41C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922"/>
            <a:ext cx="9144000" cy="637580"/>
          </a:xfrm>
        </p:spPr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Outline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6F7556-C772-4881-AE79-DA30A2459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524" y="805010"/>
            <a:ext cx="8568952" cy="3805070"/>
          </a:xfrm>
        </p:spPr>
        <p:txBody>
          <a:bodyPr/>
          <a:lstStyle/>
          <a:p>
            <a:pPr>
              <a:spcBef>
                <a:spcPts val="800"/>
              </a:spcBef>
            </a:pPr>
            <a:r>
              <a:rPr lang="en-US" altLang="zh-CN" dirty="0">
                <a:latin typeface="Comic Sans MS" panose="030F0702030302020204" pitchFamily="66" charset="0"/>
              </a:rPr>
              <a:t>Overview of the Design Process</a:t>
            </a:r>
          </a:p>
          <a:p>
            <a:pPr>
              <a:spcBef>
                <a:spcPts val="800"/>
              </a:spcBef>
            </a:pPr>
            <a:r>
              <a:rPr lang="en-US" altLang="zh-CN" dirty="0">
                <a:latin typeface="Comic Sans MS" panose="030F0702030302020204" pitchFamily="66" charset="0"/>
              </a:rPr>
              <a:t>Entity-Relationship Model (</a:t>
            </a:r>
            <a:r>
              <a:rPr lang="zh-CN" altLang="en-US" b="1" dirty="0">
                <a:latin typeface="Comic Sans MS" panose="030F0702030302020204" pitchFamily="66" charset="0"/>
              </a:rPr>
              <a:t>实体联系模型</a:t>
            </a:r>
            <a:r>
              <a:rPr lang="en-US" altLang="zh-CN" dirty="0">
                <a:latin typeface="Comic Sans MS" panose="030F0702030302020204" pitchFamily="66" charset="0"/>
              </a:rPr>
              <a:t>)</a:t>
            </a:r>
          </a:p>
          <a:p>
            <a:pPr>
              <a:spcBef>
                <a:spcPts val="800"/>
              </a:spcBef>
            </a:pPr>
            <a:r>
              <a:rPr lang="en-US" altLang="zh-CN" dirty="0">
                <a:latin typeface="Comic Sans MS" panose="030F0702030302020204" pitchFamily="66" charset="0"/>
              </a:rPr>
              <a:t>Constraints </a:t>
            </a:r>
          </a:p>
          <a:p>
            <a:pPr>
              <a:spcBef>
                <a:spcPts val="800"/>
              </a:spcBef>
            </a:pPr>
            <a:r>
              <a:rPr lang="en-US" altLang="zh-CN" dirty="0">
                <a:latin typeface="Comic Sans MS" panose="030F0702030302020204" pitchFamily="66" charset="0"/>
              </a:rPr>
              <a:t>Entity-Relationship Diagrams (</a:t>
            </a:r>
            <a:r>
              <a:rPr lang="zh-CN" altLang="en-US" b="1" dirty="0">
                <a:latin typeface="Comic Sans MS" panose="030F0702030302020204" pitchFamily="66" charset="0"/>
              </a:rPr>
              <a:t>实体联系图</a:t>
            </a:r>
            <a:r>
              <a:rPr lang="en-US" altLang="zh-CN" dirty="0">
                <a:latin typeface="Comic Sans MS" panose="030F0702030302020204" pitchFamily="66" charset="0"/>
              </a:rPr>
              <a:t>)</a:t>
            </a:r>
          </a:p>
          <a:p>
            <a:pPr>
              <a:spcBef>
                <a:spcPts val="800"/>
              </a:spcBef>
            </a:pPr>
            <a:r>
              <a:rPr lang="en-US" altLang="zh-CN" dirty="0">
                <a:latin typeface="Comic Sans MS" panose="030F0702030302020204" pitchFamily="66" charset="0"/>
              </a:rPr>
              <a:t>Reduction to Relation Schemas</a:t>
            </a:r>
          </a:p>
          <a:p>
            <a:pPr>
              <a:spcBef>
                <a:spcPts val="800"/>
              </a:spcBef>
            </a:pPr>
            <a:r>
              <a:rPr lang="en-US" altLang="zh-CN" b="1" dirty="0">
                <a:solidFill>
                  <a:srgbClr val="C00000"/>
                </a:solidFill>
                <a:latin typeface="Comic Sans MS" panose="030F0702030302020204" pitchFamily="66" charset="0"/>
              </a:rPr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547285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3C883-F843-436F-87E6-DE7420E8D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Database Design Phases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A4FB8C-D4D7-4C45-A214-5BEDCDF320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789553"/>
            <a:ext cx="7992888" cy="380507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zh-CN" sz="2000" b="1" dirty="0">
                <a:latin typeface="Comic Sans MS" panose="030F0702030302020204" pitchFamily="66" charset="0"/>
              </a:rPr>
              <a:t>S1: Requirement analysis</a:t>
            </a:r>
          </a:p>
          <a:p>
            <a:pPr lvl="1">
              <a:spcBef>
                <a:spcPts val="600"/>
              </a:spcBef>
            </a:pPr>
            <a:r>
              <a:rPr lang="en-US" altLang="zh-CN" sz="1600" dirty="0">
                <a:latin typeface="Comic Sans MS" panose="030F0702030302020204" pitchFamily="66" charset="0"/>
              </a:rPr>
              <a:t>Data storage requirement</a:t>
            </a:r>
          </a:p>
          <a:p>
            <a:pPr lvl="1">
              <a:spcBef>
                <a:spcPts val="600"/>
              </a:spcBef>
            </a:pPr>
            <a:r>
              <a:rPr lang="en-US" altLang="zh-CN" sz="1600" dirty="0">
                <a:latin typeface="Comic Sans MS" panose="030F0702030302020204" pitchFamily="66" charset="0"/>
              </a:rPr>
              <a:t>Functional requirements analysis</a:t>
            </a:r>
          </a:p>
          <a:p>
            <a:pPr lvl="2">
              <a:spcBef>
                <a:spcPts val="600"/>
              </a:spcBef>
            </a:pPr>
            <a:r>
              <a:rPr lang="en-US" altLang="zh-CN" sz="1400" dirty="0">
                <a:latin typeface="Comic Sans MS" panose="030F0702030302020204" pitchFamily="66" charset="0"/>
              </a:rPr>
              <a:t>Describe the operations that will be performed on the data</a:t>
            </a:r>
            <a:endParaRPr lang="en-US" altLang="zh-CN" sz="1600" dirty="0">
              <a:latin typeface="Comic Sans MS" panose="030F0702030302020204" pitchFamily="66" charset="0"/>
            </a:endParaRPr>
          </a:p>
          <a:p>
            <a:pPr>
              <a:spcBef>
                <a:spcPts val="600"/>
              </a:spcBef>
            </a:pPr>
            <a:r>
              <a:rPr lang="en-US" altLang="zh-CN" sz="2000" b="1" dirty="0">
                <a:latin typeface="Comic Sans MS" panose="030F0702030302020204" pitchFamily="66" charset="0"/>
              </a:rPr>
              <a:t>S2: Conceptual design (E-R Model)</a:t>
            </a:r>
          </a:p>
          <a:p>
            <a:pPr>
              <a:spcBef>
                <a:spcPts val="600"/>
              </a:spcBef>
            </a:pPr>
            <a:r>
              <a:rPr lang="en-US" altLang="zh-CN" sz="2000" b="1" dirty="0">
                <a:latin typeface="Comic Sans MS" panose="030F0702030302020204" pitchFamily="66" charset="0"/>
              </a:rPr>
              <a:t>S3: Logical implementation</a:t>
            </a:r>
          </a:p>
          <a:p>
            <a:pPr lvl="1">
              <a:spcBef>
                <a:spcPts val="600"/>
              </a:spcBef>
            </a:pPr>
            <a:r>
              <a:rPr lang="en-US" altLang="zh-CN" sz="1600" dirty="0">
                <a:latin typeface="Comic Sans MS" panose="030F0702030302020204" pitchFamily="66" charset="0"/>
              </a:rPr>
              <a:t>Mapping from conceptual model to implementation model</a:t>
            </a:r>
          </a:p>
          <a:p>
            <a:pPr lvl="1">
              <a:spcBef>
                <a:spcPts val="600"/>
              </a:spcBef>
            </a:pPr>
            <a:r>
              <a:rPr lang="en-US" altLang="zh-CN" sz="1600" dirty="0">
                <a:latin typeface="Comic Sans MS" panose="030F0702030302020204" pitchFamily="66" charset="0"/>
              </a:rPr>
              <a:t>E.g., relational model, OO model</a:t>
            </a:r>
          </a:p>
          <a:p>
            <a:pPr>
              <a:spcBef>
                <a:spcPts val="600"/>
              </a:spcBef>
            </a:pPr>
            <a:r>
              <a:rPr lang="en-US" altLang="zh-CN" sz="2000" b="1" dirty="0">
                <a:latin typeface="Comic Sans MS" panose="030F0702030302020204" pitchFamily="66" charset="0"/>
              </a:rPr>
              <a:t>S4: Physical implementation</a:t>
            </a:r>
          </a:p>
          <a:p>
            <a:pPr lvl="1">
              <a:spcBef>
                <a:spcPts val="600"/>
              </a:spcBef>
            </a:pPr>
            <a:r>
              <a:rPr lang="en-US" altLang="zh-CN" sz="1600" dirty="0">
                <a:latin typeface="Comic Sans MS" panose="030F0702030302020204" pitchFamily="66" charset="0"/>
              </a:rPr>
              <a:t>Specify physical features of the database, e.g., buffer size, index…</a:t>
            </a:r>
          </a:p>
          <a:p>
            <a:pPr>
              <a:spcBef>
                <a:spcPts val="600"/>
              </a:spcBef>
            </a:pPr>
            <a:endParaRPr lang="zh-CN" altLang="en-US" sz="20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861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FFD38D-F9FC-4BB3-B5FB-2CEBF8123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Symbols used in E-R Diagrams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27366F07-FB2B-4C54-8885-9138471C55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856"/>
          <a:stretch>
            <a:fillRect/>
          </a:stretch>
        </p:blipFill>
        <p:spPr bwMode="auto">
          <a:xfrm>
            <a:off x="1691680" y="1059582"/>
            <a:ext cx="5472608" cy="31391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9685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4B2EF1-619D-4D36-97A1-DA03FAA92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Symbols used in E-R Diagrams (Cont.)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51846C66-34F3-48F9-AF1F-E3A89F62A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372"/>
          <a:stretch>
            <a:fillRect/>
          </a:stretch>
        </p:blipFill>
        <p:spPr bwMode="auto">
          <a:xfrm>
            <a:off x="1763688" y="843558"/>
            <a:ext cx="5530696" cy="37548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10452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5366D1-4B3C-4D1B-89E7-5B798EC05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Design Tools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FBA205-8800-461F-9032-997BBEE20D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altLang="zh-CN" sz="1800" b="1" dirty="0">
                <a:latin typeface="Comic Sans MS" panose="030F0702030302020204" pitchFamily="66" charset="0"/>
              </a:rPr>
              <a:t>Freedgo Design</a:t>
            </a:r>
          </a:p>
          <a:p>
            <a:pPr lvl="1"/>
            <a:r>
              <a:rPr lang="fr-FR" altLang="zh-CN" sz="1600" dirty="0">
                <a:latin typeface="Comic Sans MS" panose="030F0702030302020204" pitchFamily="66" charset="0"/>
              </a:rPr>
              <a:t>https://www.freedgo.com/</a:t>
            </a:r>
          </a:p>
          <a:p>
            <a:r>
              <a:rPr lang="fr-FR" altLang="zh-CN" sz="1800" b="1" dirty="0">
                <a:latin typeface="Comic Sans MS" panose="030F0702030302020204" pitchFamily="66" charset="0"/>
              </a:rPr>
              <a:t>Lucidchart</a:t>
            </a:r>
          </a:p>
          <a:p>
            <a:pPr lvl="1"/>
            <a:r>
              <a:rPr lang="fr-FR" altLang="zh-CN" sz="1600" dirty="0">
                <a:latin typeface="Comic Sans MS" panose="030F0702030302020204" pitchFamily="66" charset="0"/>
              </a:rPr>
              <a:t>https://www.lucidchart.com/pages/</a:t>
            </a:r>
          </a:p>
          <a:p>
            <a:r>
              <a:rPr lang="fr-FR" altLang="zh-CN" sz="1800" b="1" dirty="0">
                <a:latin typeface="Comic Sans MS" panose="030F0702030302020204" pitchFamily="66" charset="0"/>
              </a:rPr>
              <a:t>Visual Paradigm</a:t>
            </a:r>
          </a:p>
          <a:p>
            <a:pPr lvl="1"/>
            <a:r>
              <a:rPr lang="fr-FR" altLang="zh-CN" sz="1600" dirty="0">
                <a:latin typeface="Comic Sans MS" panose="030F0702030302020204" pitchFamily="66" charset="0"/>
              </a:rPr>
              <a:t>https://www.visual-paradigm.com/cn/</a:t>
            </a:r>
          </a:p>
          <a:p>
            <a:r>
              <a:rPr lang="fr-FR" altLang="zh-CN" sz="1800" b="1" dirty="0">
                <a:latin typeface="Comic Sans MS" panose="030F0702030302020204" pitchFamily="66" charset="0"/>
              </a:rPr>
              <a:t>Edrawmax</a:t>
            </a:r>
          </a:p>
          <a:p>
            <a:pPr lvl="1"/>
            <a:r>
              <a:rPr lang="fr-FR" altLang="zh-CN" sz="1600" dirty="0">
                <a:latin typeface="Comic Sans MS" panose="030F0702030302020204" pitchFamily="66" charset="0"/>
              </a:rPr>
              <a:t>https://www.edrawsoft.cn/</a:t>
            </a:r>
          </a:p>
          <a:p>
            <a:endParaRPr lang="zh-CN" altLang="en-US" sz="18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0550071"/>
      </p:ext>
    </p:extLst>
  </p:cSld>
  <p:clrMapOvr>
    <a:masterClrMapping/>
  </p:clrMapOvr>
  <p:transition>
    <p:fade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1502F-47D4-4613-B491-745A2C3F4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Summary of E-R Model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3E1EE1-D926-4899-945B-74312FEE71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r>
              <a:rPr lang="en-US" altLang="zh-CN" sz="1800" dirty="0">
                <a:latin typeface="Comic Sans MS" panose="030F0702030302020204" pitchFamily="66" charset="0"/>
              </a:rPr>
              <a:t>Conceptual design follows requirements analysis </a:t>
            </a:r>
          </a:p>
          <a:p>
            <a:pPr lvl="1">
              <a:spcBef>
                <a:spcPts val="600"/>
              </a:spcBef>
            </a:pPr>
            <a:r>
              <a:rPr lang="en-US" altLang="zh-CN" sz="1600" dirty="0">
                <a:latin typeface="Comic Sans MS" panose="030F0702030302020204" pitchFamily="66" charset="0"/>
              </a:rPr>
              <a:t>Yield a high-level description of data to be stored </a:t>
            </a:r>
          </a:p>
          <a:p>
            <a:pPr>
              <a:spcBef>
                <a:spcPts val="600"/>
              </a:spcBef>
            </a:pPr>
            <a:r>
              <a:rPr lang="en-US" altLang="zh-CN" sz="1800" dirty="0">
                <a:latin typeface="Comic Sans MS" panose="030F0702030302020204" pitchFamily="66" charset="0"/>
              </a:rPr>
              <a:t>E-R model is popular for conceptual design</a:t>
            </a:r>
          </a:p>
          <a:p>
            <a:pPr lvl="1">
              <a:spcBef>
                <a:spcPts val="600"/>
              </a:spcBef>
            </a:pPr>
            <a:r>
              <a:rPr lang="en-US" altLang="zh-CN" sz="1600" dirty="0">
                <a:latin typeface="Comic Sans MS" panose="030F0702030302020204" pitchFamily="66" charset="0"/>
              </a:rPr>
              <a:t>Constructs are expressive, close to the way people think about their applications</a:t>
            </a:r>
          </a:p>
          <a:p>
            <a:pPr>
              <a:spcBef>
                <a:spcPts val="600"/>
              </a:spcBef>
            </a:pPr>
            <a:r>
              <a:rPr lang="en-US" altLang="zh-CN" sz="1800" dirty="0">
                <a:latin typeface="Comic Sans MS" panose="030F0702030302020204" pitchFamily="66" charset="0"/>
              </a:rPr>
              <a:t>Basic constructs: entities, relationships, and attributes (of entities and relationships)</a:t>
            </a:r>
          </a:p>
          <a:p>
            <a:pPr>
              <a:spcBef>
                <a:spcPts val="600"/>
              </a:spcBef>
            </a:pPr>
            <a:r>
              <a:rPr lang="en-US" altLang="zh-CN" sz="1800" dirty="0">
                <a:latin typeface="Comic Sans MS" panose="030F0702030302020204" pitchFamily="66" charset="0"/>
              </a:rPr>
              <a:t>Some additional constructs: weak entities, ISA hierarchies</a:t>
            </a:r>
          </a:p>
          <a:p>
            <a:pPr>
              <a:spcBef>
                <a:spcPts val="600"/>
              </a:spcBef>
            </a:pPr>
            <a:r>
              <a:rPr lang="en-US" altLang="zh-CN" sz="1800" dirty="0">
                <a:latin typeface="Comic Sans MS" panose="030F0702030302020204" pitchFamily="66" charset="0"/>
              </a:rPr>
              <a:t>Note: There are many variations on E-R model</a:t>
            </a:r>
          </a:p>
          <a:p>
            <a:pPr>
              <a:spcBef>
                <a:spcPts val="600"/>
              </a:spcBef>
            </a:pPr>
            <a:endParaRPr lang="zh-CN" altLang="en-US" sz="18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3338314"/>
      </p:ext>
    </p:extLst>
  </p:cSld>
  <p:clrMapOvr>
    <a:masterClrMapping/>
  </p:clrMapOvr>
  <p:transition>
    <p:fade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5DFBF2-EDE1-48CA-9994-48B10245C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0538"/>
            <a:ext cx="9144000" cy="637580"/>
          </a:xfrm>
        </p:spPr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Summary of ER Model (Cont.)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17969C-CAD6-4F54-9D4A-5BCF57A053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789553"/>
            <a:ext cx="8208912" cy="380507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zh-CN" sz="2000" b="1" dirty="0">
                <a:latin typeface="Comic Sans MS" panose="030F0702030302020204" pitchFamily="66" charset="0"/>
              </a:rPr>
              <a:t>Integrity constraints in E-R model</a:t>
            </a:r>
          </a:p>
          <a:p>
            <a:pPr lvl="1">
              <a:spcBef>
                <a:spcPts val="600"/>
              </a:spcBef>
            </a:pPr>
            <a:r>
              <a:rPr lang="en-US" altLang="zh-CN" sz="1800" dirty="0">
                <a:latin typeface="Comic Sans MS" panose="030F0702030302020204" pitchFamily="66" charset="0"/>
              </a:rPr>
              <a:t>Key constraints, participation constraints, and overlap/covering constraints for ISA hierarchies. Some foreign key constraints are also implicit in the definition of a relationship set</a:t>
            </a:r>
          </a:p>
          <a:p>
            <a:pPr lvl="1">
              <a:spcBef>
                <a:spcPts val="600"/>
              </a:spcBef>
            </a:pPr>
            <a:r>
              <a:rPr lang="en-US" altLang="zh-CN" sz="1800" dirty="0">
                <a:latin typeface="Comic Sans MS" panose="030F0702030302020204" pitchFamily="66" charset="0"/>
              </a:rPr>
              <a:t>Some constraints (notably, functional dependencies) cannot be expressed in the E-R model</a:t>
            </a:r>
          </a:p>
          <a:p>
            <a:pPr lvl="1">
              <a:spcBef>
                <a:spcPts val="600"/>
              </a:spcBef>
            </a:pPr>
            <a:r>
              <a:rPr lang="en-US" altLang="zh-CN" sz="1800" dirty="0">
                <a:latin typeface="Comic Sans MS" panose="030F0702030302020204" pitchFamily="66" charset="0"/>
              </a:rPr>
              <a:t>Constraints play an important role in determining the best database design for an enterprise</a:t>
            </a:r>
          </a:p>
          <a:p>
            <a:pPr>
              <a:spcBef>
                <a:spcPts val="600"/>
              </a:spcBef>
            </a:pPr>
            <a:endParaRPr lang="zh-CN" altLang="en-US" sz="20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1108605"/>
      </p:ext>
    </p:extLst>
  </p:cSld>
  <p:clrMapOvr>
    <a:masterClrMapping/>
  </p:clrMapOvr>
  <p:transition>
    <p:fade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E4ECE6-2948-4FBF-8289-4FF9E5048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Summary of ER Model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5694B9-52E5-4B5C-B9F3-8FB66434C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789553"/>
            <a:ext cx="8712968" cy="3805070"/>
          </a:xfrm>
        </p:spPr>
        <p:txBody>
          <a:bodyPr/>
          <a:lstStyle/>
          <a:p>
            <a:r>
              <a:rPr lang="en-US" altLang="zh-CN" sz="2000" b="1" dirty="0">
                <a:latin typeface="Comic Sans MS" panose="030F0702030302020204" pitchFamily="66" charset="0"/>
              </a:rPr>
              <a:t>E-R design is subjective</a:t>
            </a:r>
          </a:p>
          <a:p>
            <a:pPr lvl="1"/>
            <a:r>
              <a:rPr lang="en-US" altLang="zh-CN" sz="1800" dirty="0">
                <a:latin typeface="Comic Sans MS" panose="030F0702030302020204" pitchFamily="66" charset="0"/>
              </a:rPr>
              <a:t>There are often many ways to model a given scenario! Analyzing alternatives can be tricky, especially for a large enterprise. Common choices include:</a:t>
            </a:r>
          </a:p>
          <a:p>
            <a:pPr lvl="2"/>
            <a:r>
              <a:rPr lang="en-US" altLang="zh-CN" sz="1600" dirty="0">
                <a:latin typeface="Comic Sans MS" panose="030F0702030302020204" pitchFamily="66" charset="0"/>
              </a:rPr>
              <a:t>Entity vs. attribute, entity vs. relationship, binary or n-</a:t>
            </a:r>
            <a:r>
              <a:rPr lang="en-US" altLang="zh-CN" sz="1600" dirty="0" err="1">
                <a:latin typeface="Comic Sans MS" panose="030F0702030302020204" pitchFamily="66" charset="0"/>
              </a:rPr>
              <a:t>ary</a:t>
            </a:r>
            <a:r>
              <a:rPr lang="en-US" altLang="zh-CN" sz="1600" dirty="0">
                <a:latin typeface="Comic Sans MS" panose="030F0702030302020204" pitchFamily="66" charset="0"/>
              </a:rPr>
              <a:t> relationship, whether or not to use ISA hierarchies</a:t>
            </a:r>
          </a:p>
          <a:p>
            <a:r>
              <a:rPr lang="en-US" altLang="zh-CN" sz="2000" b="1" dirty="0">
                <a:latin typeface="Comic Sans MS" panose="030F0702030302020204" pitchFamily="66" charset="0"/>
              </a:rPr>
              <a:t>Ensuring good database design</a:t>
            </a:r>
          </a:p>
          <a:p>
            <a:pPr lvl="1"/>
            <a:r>
              <a:rPr lang="en-US" altLang="zh-CN" sz="1800" dirty="0">
                <a:latin typeface="Comic Sans MS" panose="030F0702030302020204" pitchFamily="66" charset="0"/>
              </a:rPr>
              <a:t>The generated relational schema should be analyzed and refined further</a:t>
            </a:r>
          </a:p>
          <a:p>
            <a:pPr lvl="1"/>
            <a:r>
              <a:rPr lang="en-US" altLang="zh-CN" sz="1800" dirty="0">
                <a:latin typeface="Comic Sans MS" panose="030F0702030302020204" pitchFamily="66" charset="0"/>
              </a:rPr>
              <a:t>FD information and normalization techniques are especially useful (《</a:t>
            </a:r>
            <a:r>
              <a:rPr lang="zh-CN" altLang="en-US" sz="1800" dirty="0">
                <a:latin typeface="Comic Sans MS" panose="030F0702030302020204" pitchFamily="66" charset="0"/>
              </a:rPr>
              <a:t>数据库系统概念</a:t>
            </a:r>
            <a:r>
              <a:rPr lang="en-US" altLang="zh-CN" sz="1800" dirty="0">
                <a:latin typeface="Comic Sans MS" panose="030F0702030302020204" pitchFamily="66" charset="0"/>
              </a:rPr>
              <a:t>》</a:t>
            </a:r>
            <a:r>
              <a:rPr lang="zh-CN" altLang="en-US" sz="1800" dirty="0">
                <a:latin typeface="Comic Sans MS" panose="030F0702030302020204" pitchFamily="66" charset="0"/>
              </a:rPr>
              <a:t>第</a:t>
            </a:r>
            <a:r>
              <a:rPr lang="en-US" altLang="zh-CN" sz="1800" dirty="0">
                <a:latin typeface="Comic Sans MS" panose="030F0702030302020204" pitchFamily="66" charset="0"/>
              </a:rPr>
              <a:t>7</a:t>
            </a:r>
            <a:r>
              <a:rPr lang="zh-CN" altLang="en-US" sz="1800" dirty="0">
                <a:latin typeface="Comic Sans MS" panose="030F0702030302020204" pitchFamily="66" charset="0"/>
              </a:rPr>
              <a:t>章</a:t>
            </a:r>
            <a:r>
              <a:rPr lang="en-US" altLang="zh-CN" sz="1800" dirty="0">
                <a:latin typeface="Comic Sans MS" panose="030F0702030302020204" pitchFamily="66" charset="0"/>
              </a:rPr>
              <a:t>)</a:t>
            </a:r>
          </a:p>
          <a:p>
            <a:endParaRPr lang="zh-CN" altLang="en-US" sz="20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6468749"/>
      </p:ext>
    </p:extLst>
  </p:cSld>
  <p:clrMapOvr>
    <a:masterClrMapping/>
  </p:clrMapOvr>
  <p:transition>
    <p:fade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F435B5-B317-4540-9904-6896C30F4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>
                <a:latin typeface="Comic Sans MS" panose="030F0702030302020204" pitchFamily="66" charset="0"/>
              </a:rPr>
              <a:t>课堂练习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131E71-5FBA-4E2E-9AD1-F8FA1C390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</a:pPr>
            <a:r>
              <a:rPr lang="zh-CN" altLang="en-US" sz="1800" b="1" dirty="0">
                <a:latin typeface="Comic Sans MS" panose="030F0702030302020204" pitchFamily="66" charset="0"/>
              </a:rPr>
              <a:t>书店管理应用包含三个实体集</a:t>
            </a:r>
            <a:endParaRPr lang="en-US" altLang="zh-CN" sz="1800" b="1" dirty="0">
              <a:latin typeface="Comic Sans MS" panose="030F0702030302020204" pitchFamily="66" charset="0"/>
            </a:endParaRPr>
          </a:p>
          <a:p>
            <a:pPr lvl="1">
              <a:spcBef>
                <a:spcPts val="1200"/>
              </a:spcBef>
            </a:pPr>
            <a:r>
              <a:rPr lang="en-US" altLang="zh-CN" sz="1600" dirty="0">
                <a:latin typeface="Comic Sans MS" panose="030F0702030302020204" pitchFamily="66" charset="0"/>
              </a:rPr>
              <a:t>Bookstore: </a:t>
            </a:r>
            <a:r>
              <a:rPr lang="en-US" altLang="zh-CN" sz="1600" dirty="0" err="1">
                <a:latin typeface="Comic Sans MS" panose="030F0702030302020204" pitchFamily="66" charset="0"/>
              </a:rPr>
              <a:t>BSName</a:t>
            </a:r>
            <a:r>
              <a:rPr lang="en-US" altLang="zh-CN" sz="1600" dirty="0">
                <a:latin typeface="Comic Sans MS" panose="030F0702030302020204" pitchFamily="66" charset="0"/>
              </a:rPr>
              <a:t>, </a:t>
            </a:r>
            <a:r>
              <a:rPr lang="en-US" altLang="zh-CN" sz="1600" dirty="0" err="1">
                <a:latin typeface="Comic Sans MS" panose="030F0702030302020204" pitchFamily="66" charset="0"/>
              </a:rPr>
              <a:t>BSaddress</a:t>
            </a:r>
            <a:r>
              <a:rPr lang="en-US" altLang="zh-CN" sz="1600" dirty="0">
                <a:latin typeface="Comic Sans MS" panose="030F0702030302020204" pitchFamily="66" charset="0"/>
              </a:rPr>
              <a:t>, </a:t>
            </a:r>
            <a:r>
              <a:rPr lang="en-US" altLang="zh-CN" sz="1600" dirty="0" err="1">
                <a:latin typeface="Comic Sans MS" panose="030F0702030302020204" pitchFamily="66" charset="0"/>
              </a:rPr>
              <a:t>BSTel</a:t>
            </a:r>
            <a:r>
              <a:rPr lang="en-US" altLang="zh-CN" sz="1600" dirty="0">
                <a:latin typeface="Comic Sans MS" panose="030F0702030302020204" pitchFamily="66" charset="0"/>
              </a:rPr>
              <a:t>, </a:t>
            </a:r>
            <a:r>
              <a:rPr lang="en-US" altLang="zh-CN" sz="1600" dirty="0" err="1">
                <a:latin typeface="Comic Sans MS" panose="030F0702030302020204" pitchFamily="66" charset="0"/>
              </a:rPr>
              <a:t>BSManager</a:t>
            </a:r>
            <a:endParaRPr lang="en-US" altLang="zh-CN" sz="1600" dirty="0">
              <a:latin typeface="Comic Sans MS" panose="030F0702030302020204" pitchFamily="66" charset="0"/>
            </a:endParaRPr>
          </a:p>
          <a:p>
            <a:pPr lvl="1">
              <a:spcBef>
                <a:spcPts val="1200"/>
              </a:spcBef>
            </a:pPr>
            <a:r>
              <a:rPr lang="en-US" altLang="zh-CN" sz="1600" dirty="0">
                <a:latin typeface="Comic Sans MS" panose="030F0702030302020204" pitchFamily="66" charset="0"/>
              </a:rPr>
              <a:t>Book: </a:t>
            </a:r>
            <a:r>
              <a:rPr lang="en-US" altLang="zh-CN" sz="1600" dirty="0" err="1">
                <a:latin typeface="Comic Sans MS" panose="030F0702030302020204" pitchFamily="66" charset="0"/>
              </a:rPr>
              <a:t>BookNo</a:t>
            </a:r>
            <a:r>
              <a:rPr lang="en-US" altLang="zh-CN" sz="1600" dirty="0">
                <a:latin typeface="Comic Sans MS" panose="030F0702030302020204" pitchFamily="66" charset="0"/>
              </a:rPr>
              <a:t>, BName, </a:t>
            </a:r>
            <a:r>
              <a:rPr lang="en-US" altLang="zh-CN" sz="1600" dirty="0" err="1">
                <a:latin typeface="Comic Sans MS" panose="030F0702030302020204" pitchFamily="66" charset="0"/>
              </a:rPr>
              <a:t>BPrice</a:t>
            </a:r>
            <a:r>
              <a:rPr lang="en-US" altLang="zh-CN" sz="1600" dirty="0">
                <a:latin typeface="Comic Sans MS" panose="030F0702030302020204" pitchFamily="66" charset="0"/>
              </a:rPr>
              <a:t>, Author, Publisher, </a:t>
            </a:r>
            <a:r>
              <a:rPr lang="en-US" altLang="zh-CN" sz="1600" dirty="0" err="1">
                <a:latin typeface="Comic Sans MS" panose="030F0702030302020204" pitchFamily="66" charset="0"/>
              </a:rPr>
              <a:t>PublishYear</a:t>
            </a:r>
            <a:r>
              <a:rPr lang="en-US" altLang="zh-CN" sz="1600" dirty="0">
                <a:latin typeface="Comic Sans MS" panose="030F0702030302020204" pitchFamily="66" charset="0"/>
              </a:rPr>
              <a:t>, Version</a:t>
            </a:r>
          </a:p>
          <a:p>
            <a:pPr lvl="1">
              <a:spcBef>
                <a:spcPts val="1200"/>
              </a:spcBef>
            </a:pPr>
            <a:r>
              <a:rPr lang="en-US" altLang="zh-CN" sz="1600" dirty="0">
                <a:latin typeface="Comic Sans MS" panose="030F0702030302020204" pitchFamily="66" charset="0"/>
              </a:rPr>
              <a:t>Warehouse</a:t>
            </a:r>
            <a:r>
              <a:rPr lang="zh-CN" altLang="en-US" sz="1600" dirty="0">
                <a:latin typeface="Comic Sans MS" panose="030F0702030302020204" pitchFamily="66" charset="0"/>
              </a:rPr>
              <a:t>：</a:t>
            </a:r>
            <a:r>
              <a:rPr lang="en-US" altLang="zh-CN" sz="1600" dirty="0" err="1">
                <a:latin typeface="Comic Sans MS" panose="030F0702030302020204" pitchFamily="66" charset="0"/>
              </a:rPr>
              <a:t>WNo</a:t>
            </a:r>
            <a:r>
              <a:rPr lang="en-US" altLang="zh-CN" sz="1600" dirty="0">
                <a:latin typeface="Comic Sans MS" panose="030F0702030302020204" pitchFamily="66" charset="0"/>
              </a:rPr>
              <a:t>, </a:t>
            </a:r>
            <a:r>
              <a:rPr lang="en-US" altLang="zh-CN" sz="1600" dirty="0" err="1">
                <a:latin typeface="Comic Sans MS" panose="030F0702030302020204" pitchFamily="66" charset="0"/>
              </a:rPr>
              <a:t>WName</a:t>
            </a:r>
            <a:r>
              <a:rPr lang="en-US" altLang="zh-CN" sz="1600" dirty="0">
                <a:latin typeface="Comic Sans MS" panose="030F0702030302020204" pitchFamily="66" charset="0"/>
              </a:rPr>
              <a:t>, </a:t>
            </a:r>
            <a:r>
              <a:rPr lang="en-US" altLang="zh-CN" sz="1600" dirty="0" err="1">
                <a:latin typeface="Comic Sans MS" panose="030F0702030302020204" pitchFamily="66" charset="0"/>
              </a:rPr>
              <a:t>WAddress</a:t>
            </a:r>
            <a:r>
              <a:rPr lang="en-US" altLang="zh-CN" sz="1600" dirty="0">
                <a:latin typeface="Comic Sans MS" panose="030F0702030302020204" pitchFamily="66" charset="0"/>
              </a:rPr>
              <a:t>, </a:t>
            </a:r>
            <a:r>
              <a:rPr lang="en-US" altLang="zh-CN" sz="1600" dirty="0" err="1">
                <a:latin typeface="Comic Sans MS" panose="030F0702030302020204" pitchFamily="66" charset="0"/>
              </a:rPr>
              <a:t>Wadministrator</a:t>
            </a:r>
            <a:endParaRPr lang="en-US" altLang="zh-CN" sz="1600" dirty="0">
              <a:latin typeface="Comic Sans MS" panose="030F0702030302020204" pitchFamily="66" charset="0"/>
            </a:endParaRPr>
          </a:p>
          <a:p>
            <a:pPr>
              <a:spcBef>
                <a:spcPts val="1200"/>
              </a:spcBef>
            </a:pPr>
            <a:r>
              <a:rPr lang="zh-CN" altLang="en-US" sz="1800" b="1" dirty="0">
                <a:latin typeface="Comic Sans MS" panose="030F0702030302020204" pitchFamily="66" charset="0"/>
              </a:rPr>
              <a:t>两个关系集</a:t>
            </a:r>
            <a:endParaRPr lang="en-US" altLang="zh-CN" sz="1800" b="1" dirty="0">
              <a:latin typeface="Comic Sans MS" panose="030F0702030302020204" pitchFamily="66" charset="0"/>
            </a:endParaRPr>
          </a:p>
          <a:p>
            <a:pPr lvl="1">
              <a:spcBef>
                <a:spcPts val="1200"/>
              </a:spcBef>
            </a:pPr>
            <a:r>
              <a:rPr lang="en-US" altLang="zh-CN" sz="1600" dirty="0">
                <a:latin typeface="Comic Sans MS" panose="030F0702030302020204" pitchFamily="66" charset="0"/>
              </a:rPr>
              <a:t>Sale (Bookstore and Book): </a:t>
            </a:r>
            <a:r>
              <a:rPr lang="en-US" altLang="zh-CN" sz="1600" dirty="0" err="1">
                <a:latin typeface="Comic Sans MS" panose="030F0702030302020204" pitchFamily="66" charset="0"/>
              </a:rPr>
              <a:t>SaleDate</a:t>
            </a:r>
            <a:r>
              <a:rPr lang="en-US" altLang="zh-CN" sz="1600" dirty="0">
                <a:latin typeface="Comic Sans MS" panose="030F0702030302020204" pitchFamily="66" charset="0"/>
              </a:rPr>
              <a:t> and </a:t>
            </a:r>
            <a:r>
              <a:rPr lang="en-US" altLang="zh-CN" sz="1600" dirty="0" err="1">
                <a:latin typeface="Comic Sans MS" panose="030F0702030302020204" pitchFamily="66" charset="0"/>
              </a:rPr>
              <a:t>SaleQuantity</a:t>
            </a:r>
            <a:endParaRPr lang="en-US" altLang="zh-CN" sz="1600" dirty="0">
              <a:latin typeface="Comic Sans MS" panose="030F0702030302020204" pitchFamily="66" charset="0"/>
            </a:endParaRPr>
          </a:p>
          <a:p>
            <a:pPr lvl="1">
              <a:spcBef>
                <a:spcPts val="1200"/>
              </a:spcBef>
            </a:pPr>
            <a:r>
              <a:rPr lang="en-US" altLang="zh-CN" sz="1600" dirty="0">
                <a:latin typeface="Comic Sans MS" panose="030F0702030302020204" pitchFamily="66" charset="0"/>
              </a:rPr>
              <a:t>Stock (Warehouse and Book)</a:t>
            </a:r>
            <a:r>
              <a:rPr lang="zh-CN" altLang="en-US" sz="1600" dirty="0">
                <a:latin typeface="Comic Sans MS" panose="030F0702030302020204" pitchFamily="66" charset="0"/>
              </a:rPr>
              <a:t>：</a:t>
            </a:r>
            <a:r>
              <a:rPr lang="en-US" altLang="zh-CN" sz="1600" dirty="0" err="1">
                <a:latin typeface="Comic Sans MS" panose="030F0702030302020204" pitchFamily="66" charset="0"/>
              </a:rPr>
              <a:t>InDate</a:t>
            </a:r>
            <a:r>
              <a:rPr lang="en-US" altLang="zh-CN" sz="1600" dirty="0">
                <a:latin typeface="Comic Sans MS" panose="030F0702030302020204" pitchFamily="66" charset="0"/>
              </a:rPr>
              <a:t>, </a:t>
            </a:r>
            <a:r>
              <a:rPr lang="en-US" altLang="zh-CN" sz="1600" dirty="0" err="1">
                <a:latin typeface="Comic Sans MS" panose="030F0702030302020204" pitchFamily="66" charset="0"/>
              </a:rPr>
              <a:t>InPrice</a:t>
            </a:r>
            <a:r>
              <a:rPr lang="en-US" altLang="zh-CN" sz="1600" dirty="0">
                <a:latin typeface="Comic Sans MS" panose="030F0702030302020204" pitchFamily="66" charset="0"/>
              </a:rPr>
              <a:t>, and </a:t>
            </a:r>
            <a:r>
              <a:rPr lang="en-US" altLang="zh-CN" sz="1600" dirty="0" err="1">
                <a:latin typeface="Comic Sans MS" panose="030F0702030302020204" pitchFamily="66" charset="0"/>
              </a:rPr>
              <a:t>StockQuantity</a:t>
            </a:r>
            <a:endParaRPr lang="en-US" altLang="zh-CN" sz="1600" dirty="0">
              <a:latin typeface="Comic Sans MS" panose="030F0702030302020204" pitchFamily="66" charset="0"/>
            </a:endParaRPr>
          </a:p>
          <a:p>
            <a:pPr>
              <a:spcBef>
                <a:spcPts val="1200"/>
              </a:spcBef>
            </a:pPr>
            <a:r>
              <a:rPr lang="zh-CN" altLang="en-US" sz="1800" b="1" dirty="0">
                <a:latin typeface="Comic Sans MS" panose="030F0702030302020204" pitchFamily="66" charset="0"/>
              </a:rPr>
              <a:t>问题</a:t>
            </a:r>
            <a:r>
              <a:rPr lang="en-US" altLang="zh-CN" sz="1800" b="1" dirty="0">
                <a:latin typeface="Comic Sans MS" panose="030F0702030302020204" pitchFamily="66" charset="0"/>
              </a:rPr>
              <a:t>: </a:t>
            </a:r>
            <a:r>
              <a:rPr lang="zh-CN" altLang="en-US" sz="1800" dirty="0">
                <a:latin typeface="Comic Sans MS" panose="030F0702030302020204" pitchFamily="66" charset="0"/>
              </a:rPr>
              <a:t>给出对应的</a:t>
            </a:r>
            <a:r>
              <a:rPr lang="en-US" altLang="zh-CN" sz="1800" dirty="0">
                <a:latin typeface="Comic Sans MS" panose="030F0702030302020204" pitchFamily="66" charset="0"/>
              </a:rPr>
              <a:t>E-R</a:t>
            </a:r>
            <a:r>
              <a:rPr lang="zh-CN" altLang="en-US" sz="1800" dirty="0">
                <a:latin typeface="Comic Sans MS" panose="030F0702030302020204" pitchFamily="66" charset="0"/>
              </a:rPr>
              <a:t>图和关系模式，并指出主码和外码</a:t>
            </a:r>
            <a:endParaRPr lang="en-US" altLang="zh-CN" sz="18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5910216"/>
      </p:ext>
    </p:extLst>
  </p:cSld>
  <p:clrMapOvr>
    <a:masterClrMapping/>
  </p:clrMapOvr>
  <p:transition>
    <p:fade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DA820E-27A1-4C0A-A23F-322096758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E-R</a:t>
            </a:r>
            <a:r>
              <a:rPr lang="zh-CN" altLang="en-US" dirty="0"/>
              <a:t>图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6C0FA30-9882-49B6-AD2E-8A173ABE626D}"/>
              </a:ext>
            </a:extLst>
          </p:cNvPr>
          <p:cNvSpPr/>
          <p:nvPr/>
        </p:nvSpPr>
        <p:spPr>
          <a:xfrm>
            <a:off x="863588" y="2715766"/>
            <a:ext cx="1044116" cy="43204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Bookstore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6D8FE0A-6DB9-4CB9-A982-2A4FAF8D3494}"/>
              </a:ext>
            </a:extLst>
          </p:cNvPr>
          <p:cNvSpPr/>
          <p:nvPr/>
        </p:nvSpPr>
        <p:spPr>
          <a:xfrm>
            <a:off x="4211960" y="2715766"/>
            <a:ext cx="936104" cy="43204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5B0256C-188D-4AE1-9433-9093CB2143C1}"/>
              </a:ext>
            </a:extLst>
          </p:cNvPr>
          <p:cNvSpPr/>
          <p:nvPr/>
        </p:nvSpPr>
        <p:spPr>
          <a:xfrm>
            <a:off x="7334200" y="2715766"/>
            <a:ext cx="1033792" cy="43204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Warehouse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菱形 7">
            <a:extLst>
              <a:ext uri="{FF2B5EF4-FFF2-40B4-BE49-F238E27FC236}">
                <a16:creationId xmlns:a16="http://schemas.microsoft.com/office/drawing/2014/main" id="{462AE153-058B-4289-B06B-BADAA12513DF}"/>
              </a:ext>
            </a:extLst>
          </p:cNvPr>
          <p:cNvSpPr/>
          <p:nvPr/>
        </p:nvSpPr>
        <p:spPr>
          <a:xfrm>
            <a:off x="2699792" y="2613000"/>
            <a:ext cx="648072" cy="637580"/>
          </a:xfrm>
          <a:prstGeom prst="diamond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菱形 8">
            <a:extLst>
              <a:ext uri="{FF2B5EF4-FFF2-40B4-BE49-F238E27FC236}">
                <a16:creationId xmlns:a16="http://schemas.microsoft.com/office/drawing/2014/main" id="{83111E2D-03D1-431C-872B-32FC45E5EBF8}"/>
              </a:ext>
            </a:extLst>
          </p:cNvPr>
          <p:cNvSpPr/>
          <p:nvPr/>
        </p:nvSpPr>
        <p:spPr>
          <a:xfrm>
            <a:off x="5922072" y="2613000"/>
            <a:ext cx="648072" cy="637580"/>
          </a:xfrm>
          <a:prstGeom prst="diamond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7DA0F325-B98C-48E7-A925-A0C761D4E642}"/>
              </a:ext>
            </a:extLst>
          </p:cNvPr>
          <p:cNvSpPr/>
          <p:nvPr/>
        </p:nvSpPr>
        <p:spPr>
          <a:xfrm>
            <a:off x="36336" y="1923678"/>
            <a:ext cx="936104" cy="43204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900" dirty="0"/>
              <a:t>BSname</a:t>
            </a:r>
            <a:endParaRPr lang="zh-CN" altLang="en-US" sz="900" dirty="0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53E4E947-DD23-473A-9D17-08A38902806F}"/>
              </a:ext>
            </a:extLst>
          </p:cNvPr>
          <p:cNvSpPr/>
          <p:nvPr/>
        </p:nvSpPr>
        <p:spPr>
          <a:xfrm>
            <a:off x="1072265" y="1666404"/>
            <a:ext cx="936104" cy="43204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900" dirty="0" err="1"/>
              <a:t>BSaddress</a:t>
            </a:r>
            <a:endParaRPr lang="zh-CN" altLang="en-US" sz="900" dirty="0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7032F414-7025-4B5C-870E-A140792A50BB}"/>
              </a:ext>
            </a:extLst>
          </p:cNvPr>
          <p:cNvSpPr/>
          <p:nvPr/>
        </p:nvSpPr>
        <p:spPr>
          <a:xfrm>
            <a:off x="92716" y="3825253"/>
            <a:ext cx="936104" cy="43204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900" dirty="0" err="1"/>
              <a:t>BSTel</a:t>
            </a:r>
            <a:endParaRPr lang="zh-CN" altLang="en-US" sz="900" dirty="0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E6158DF6-37F4-4413-8021-5D1856476EE2}"/>
              </a:ext>
            </a:extLst>
          </p:cNvPr>
          <p:cNvSpPr/>
          <p:nvPr/>
        </p:nvSpPr>
        <p:spPr>
          <a:xfrm>
            <a:off x="1145040" y="4153624"/>
            <a:ext cx="936104" cy="43204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900" dirty="0" err="1"/>
              <a:t>BSManager</a:t>
            </a:r>
            <a:endParaRPr lang="zh-CN" altLang="en-US" sz="900" dirty="0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A1F6EDDC-D009-4A43-BC91-B35ED2FE7387}"/>
              </a:ext>
            </a:extLst>
          </p:cNvPr>
          <p:cNvSpPr/>
          <p:nvPr/>
        </p:nvSpPr>
        <p:spPr>
          <a:xfrm>
            <a:off x="2368213" y="1737261"/>
            <a:ext cx="936104" cy="43204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900" dirty="0" err="1"/>
              <a:t>SaleDate</a:t>
            </a:r>
            <a:endParaRPr lang="zh-CN" altLang="en-US" sz="900" dirty="0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CC92E222-D064-4066-B2F8-0E6A8EB6E9DC}"/>
              </a:ext>
            </a:extLst>
          </p:cNvPr>
          <p:cNvSpPr/>
          <p:nvPr/>
        </p:nvSpPr>
        <p:spPr>
          <a:xfrm>
            <a:off x="2271340" y="3748687"/>
            <a:ext cx="936104" cy="43204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900" dirty="0" err="1"/>
              <a:t>SaleQuantity</a:t>
            </a:r>
            <a:endParaRPr lang="zh-CN" altLang="en-US" sz="900" dirty="0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206B4A26-6073-40F1-ADE5-4FA8E4E1E215}"/>
              </a:ext>
            </a:extLst>
          </p:cNvPr>
          <p:cNvSpPr/>
          <p:nvPr/>
        </p:nvSpPr>
        <p:spPr>
          <a:xfrm>
            <a:off x="3851920" y="1108175"/>
            <a:ext cx="936104" cy="43204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900" dirty="0" err="1"/>
              <a:t>BookNo</a:t>
            </a:r>
            <a:endParaRPr lang="zh-CN" altLang="en-US" sz="900" dirty="0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1B166394-227F-4812-ABA2-880A0DE18503}"/>
              </a:ext>
            </a:extLst>
          </p:cNvPr>
          <p:cNvSpPr/>
          <p:nvPr/>
        </p:nvSpPr>
        <p:spPr>
          <a:xfrm>
            <a:off x="4810120" y="1599308"/>
            <a:ext cx="936104" cy="43204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900" dirty="0" err="1"/>
              <a:t>BPrice</a:t>
            </a:r>
            <a:endParaRPr lang="zh-CN" altLang="en-US" sz="900" dirty="0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44BA1F03-BF13-40B3-A7A9-A148AAA6CDB5}"/>
              </a:ext>
            </a:extLst>
          </p:cNvPr>
          <p:cNvSpPr/>
          <p:nvPr/>
        </p:nvSpPr>
        <p:spPr>
          <a:xfrm>
            <a:off x="3527688" y="2041388"/>
            <a:ext cx="936104" cy="43204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900" dirty="0"/>
              <a:t>BName</a:t>
            </a:r>
            <a:endParaRPr lang="zh-CN" altLang="en-US" sz="900" dirty="0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3E195E74-8E9E-4E9C-9A46-3E15D5CD1CC4}"/>
              </a:ext>
            </a:extLst>
          </p:cNvPr>
          <p:cNvSpPr/>
          <p:nvPr/>
        </p:nvSpPr>
        <p:spPr>
          <a:xfrm>
            <a:off x="3531538" y="3532663"/>
            <a:ext cx="936104" cy="43204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900" dirty="0"/>
              <a:t>Author</a:t>
            </a:r>
            <a:endParaRPr lang="zh-CN" altLang="en-US" sz="900" dirty="0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5F56112F-95FF-43FA-9687-59E6AAAB376A}"/>
              </a:ext>
            </a:extLst>
          </p:cNvPr>
          <p:cNvSpPr/>
          <p:nvPr/>
        </p:nvSpPr>
        <p:spPr>
          <a:xfrm>
            <a:off x="4985968" y="3532663"/>
            <a:ext cx="936104" cy="43204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900" dirty="0"/>
              <a:t>Publisher</a:t>
            </a:r>
            <a:endParaRPr lang="zh-CN" altLang="en-US" sz="900" dirty="0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5847F8D5-FD7B-4172-842B-92AC6E6769C4}"/>
              </a:ext>
            </a:extLst>
          </p:cNvPr>
          <p:cNvSpPr/>
          <p:nvPr/>
        </p:nvSpPr>
        <p:spPr>
          <a:xfrm>
            <a:off x="3851920" y="4155926"/>
            <a:ext cx="936104" cy="43204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900" dirty="0" err="1"/>
              <a:t>PublishYear</a:t>
            </a:r>
            <a:endParaRPr lang="zh-CN" altLang="en-US" sz="900" dirty="0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560DB075-0D02-4741-888B-45CD6976A6B9}"/>
              </a:ext>
            </a:extLst>
          </p:cNvPr>
          <p:cNvSpPr/>
          <p:nvPr/>
        </p:nvSpPr>
        <p:spPr>
          <a:xfrm>
            <a:off x="4890512" y="4248292"/>
            <a:ext cx="936104" cy="43204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900" dirty="0"/>
              <a:t>Version</a:t>
            </a:r>
            <a:endParaRPr lang="zh-CN" altLang="en-US" sz="900" dirty="0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24B2BD16-8007-441E-A3B3-0CD2EFE5524D}"/>
              </a:ext>
            </a:extLst>
          </p:cNvPr>
          <p:cNvSpPr/>
          <p:nvPr/>
        </p:nvSpPr>
        <p:spPr>
          <a:xfrm>
            <a:off x="5984344" y="1606279"/>
            <a:ext cx="936104" cy="43204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900" dirty="0" err="1"/>
              <a:t>InDate</a:t>
            </a:r>
            <a:endParaRPr lang="zh-CN" altLang="en-US" sz="900" dirty="0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41D28E1C-28E7-4C93-9629-0EAA69080B90}"/>
              </a:ext>
            </a:extLst>
          </p:cNvPr>
          <p:cNvSpPr/>
          <p:nvPr/>
        </p:nvSpPr>
        <p:spPr>
          <a:xfrm>
            <a:off x="6328664" y="3532663"/>
            <a:ext cx="936104" cy="43204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900" dirty="0" err="1"/>
              <a:t>InPrice</a:t>
            </a:r>
            <a:endParaRPr lang="zh-CN" altLang="en-US" sz="900" dirty="0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4E24168A-FC0B-4C73-A7FA-9DCCC7BF6549}"/>
              </a:ext>
            </a:extLst>
          </p:cNvPr>
          <p:cNvSpPr/>
          <p:nvPr/>
        </p:nvSpPr>
        <p:spPr>
          <a:xfrm>
            <a:off x="5984344" y="4208833"/>
            <a:ext cx="936104" cy="43204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900" dirty="0" err="1"/>
              <a:t>StockQuantity</a:t>
            </a:r>
            <a:endParaRPr lang="zh-CN" altLang="en-US" sz="900" dirty="0"/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4D16DDFE-96E6-407E-A53B-09319A5367E9}"/>
              </a:ext>
            </a:extLst>
          </p:cNvPr>
          <p:cNvSpPr/>
          <p:nvPr/>
        </p:nvSpPr>
        <p:spPr>
          <a:xfrm>
            <a:off x="8028384" y="1450380"/>
            <a:ext cx="936104" cy="43204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err="1"/>
              <a:t>WName</a:t>
            </a:r>
            <a:endParaRPr lang="zh-CN" altLang="en-US" sz="900" dirty="0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5EB2BD30-3323-45B0-A5F9-0FE68F97C0EA}"/>
              </a:ext>
            </a:extLst>
          </p:cNvPr>
          <p:cNvSpPr/>
          <p:nvPr/>
        </p:nvSpPr>
        <p:spPr>
          <a:xfrm>
            <a:off x="7243504" y="1985690"/>
            <a:ext cx="936104" cy="43204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900" dirty="0" err="1"/>
              <a:t>WNo</a:t>
            </a:r>
            <a:endParaRPr lang="zh-CN" altLang="en-US" sz="900" dirty="0"/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70F4F598-21C7-4652-AABC-F691BCCD40BB}"/>
              </a:ext>
            </a:extLst>
          </p:cNvPr>
          <p:cNvSpPr/>
          <p:nvPr/>
        </p:nvSpPr>
        <p:spPr>
          <a:xfrm>
            <a:off x="7899940" y="3532663"/>
            <a:ext cx="936104" cy="43204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900" dirty="0" err="1"/>
              <a:t>Wadministrator</a:t>
            </a:r>
            <a:endParaRPr lang="zh-CN" altLang="en-US" sz="900" dirty="0"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386514CC-932B-466B-B6BA-5BB64A43E239}"/>
              </a:ext>
            </a:extLst>
          </p:cNvPr>
          <p:cNvSpPr/>
          <p:nvPr/>
        </p:nvSpPr>
        <p:spPr>
          <a:xfrm>
            <a:off x="7539920" y="4235567"/>
            <a:ext cx="936104" cy="43204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900" dirty="0" err="1"/>
              <a:t>WAddress</a:t>
            </a:r>
            <a:endParaRPr lang="zh-CN" altLang="en-US" sz="900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1727D54-6238-4A96-BD22-4AD275E62DC8}"/>
              </a:ext>
            </a:extLst>
          </p:cNvPr>
          <p:cNvSpPr txBox="1"/>
          <p:nvPr/>
        </p:nvSpPr>
        <p:spPr>
          <a:xfrm>
            <a:off x="2753388" y="2777901"/>
            <a:ext cx="720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Sale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4AA0508-8870-461E-91FE-3DC1D7A5EC82}"/>
              </a:ext>
            </a:extLst>
          </p:cNvPr>
          <p:cNvSpPr txBox="1"/>
          <p:nvPr/>
        </p:nvSpPr>
        <p:spPr>
          <a:xfrm>
            <a:off x="5968624" y="2764740"/>
            <a:ext cx="720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Stock</a:t>
            </a:r>
            <a:endParaRPr lang="zh-CN" altLang="en-US" dirty="0">
              <a:solidFill>
                <a:schemeClr val="bg1"/>
              </a:solidFill>
            </a:endParaRPr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A4CE05F3-E33F-4CA0-BF0C-76FD2A0E25A5}"/>
              </a:ext>
            </a:extLst>
          </p:cNvPr>
          <p:cNvCxnSpPr>
            <a:stCxn id="10" idx="4"/>
          </p:cNvCxnSpPr>
          <p:nvPr/>
        </p:nvCxnSpPr>
        <p:spPr>
          <a:xfrm>
            <a:off x="504388" y="2355726"/>
            <a:ext cx="567877" cy="36004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8A303C8E-9D82-4EE4-9B08-123EBB7FC5E8}"/>
              </a:ext>
            </a:extLst>
          </p:cNvPr>
          <p:cNvCxnSpPr>
            <a:cxnSpLocks/>
            <a:stCxn id="11" idx="4"/>
            <a:endCxn id="5" idx="0"/>
          </p:cNvCxnSpPr>
          <p:nvPr/>
        </p:nvCxnSpPr>
        <p:spPr>
          <a:xfrm flipH="1">
            <a:off x="1385646" y="2098452"/>
            <a:ext cx="154671" cy="61731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83A81B6B-903B-41C1-8C04-B34845DAB4C6}"/>
              </a:ext>
            </a:extLst>
          </p:cNvPr>
          <p:cNvCxnSpPr>
            <a:cxnSpLocks/>
            <a:stCxn id="12" idx="0"/>
          </p:cNvCxnSpPr>
          <p:nvPr/>
        </p:nvCxnSpPr>
        <p:spPr>
          <a:xfrm flipV="1">
            <a:off x="560768" y="3147814"/>
            <a:ext cx="615192" cy="67743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745E3C06-49A3-4358-9619-ED17066AB3A3}"/>
              </a:ext>
            </a:extLst>
          </p:cNvPr>
          <p:cNvCxnSpPr>
            <a:cxnSpLocks/>
            <a:stCxn id="13" idx="0"/>
            <a:endCxn id="5" idx="2"/>
          </p:cNvCxnSpPr>
          <p:nvPr/>
        </p:nvCxnSpPr>
        <p:spPr>
          <a:xfrm flipH="1" flipV="1">
            <a:off x="1385646" y="3147814"/>
            <a:ext cx="227446" cy="100581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E6C5CBCA-0780-47E7-81D6-920E61715489}"/>
              </a:ext>
            </a:extLst>
          </p:cNvPr>
          <p:cNvCxnSpPr>
            <a:cxnSpLocks/>
            <a:stCxn id="15" idx="0"/>
            <a:endCxn id="8" idx="2"/>
          </p:cNvCxnSpPr>
          <p:nvPr/>
        </p:nvCxnSpPr>
        <p:spPr>
          <a:xfrm flipV="1">
            <a:off x="2739392" y="3250580"/>
            <a:ext cx="284436" cy="49810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5BC260CF-CED4-465C-9FDA-CCDCDD02BD1D}"/>
              </a:ext>
            </a:extLst>
          </p:cNvPr>
          <p:cNvCxnSpPr>
            <a:cxnSpLocks/>
            <a:stCxn id="8" idx="0"/>
            <a:endCxn id="14" idx="4"/>
          </p:cNvCxnSpPr>
          <p:nvPr/>
        </p:nvCxnSpPr>
        <p:spPr>
          <a:xfrm flipH="1" flipV="1">
            <a:off x="2836265" y="2169309"/>
            <a:ext cx="187563" cy="44369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F2A65178-ADB9-42BC-AE29-7CA856D80A83}"/>
              </a:ext>
            </a:extLst>
          </p:cNvPr>
          <p:cNvCxnSpPr>
            <a:cxnSpLocks/>
            <a:endCxn id="18" idx="4"/>
          </p:cNvCxnSpPr>
          <p:nvPr/>
        </p:nvCxnSpPr>
        <p:spPr>
          <a:xfrm flipH="1" flipV="1">
            <a:off x="3995740" y="2473436"/>
            <a:ext cx="324036" cy="25047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7A41E148-2C8B-4CA4-8BEE-9E8D80840C6B}"/>
              </a:ext>
            </a:extLst>
          </p:cNvPr>
          <p:cNvCxnSpPr>
            <a:cxnSpLocks/>
            <a:stCxn id="6" idx="0"/>
            <a:endCxn id="16" idx="4"/>
          </p:cNvCxnSpPr>
          <p:nvPr/>
        </p:nvCxnSpPr>
        <p:spPr>
          <a:xfrm flipH="1" flipV="1">
            <a:off x="4319972" y="1540223"/>
            <a:ext cx="360040" cy="117554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E1FAD974-D6AC-45D6-8A29-08086B175F3B}"/>
              </a:ext>
            </a:extLst>
          </p:cNvPr>
          <p:cNvCxnSpPr>
            <a:cxnSpLocks/>
            <a:endCxn id="17" idx="4"/>
          </p:cNvCxnSpPr>
          <p:nvPr/>
        </p:nvCxnSpPr>
        <p:spPr>
          <a:xfrm flipV="1">
            <a:off x="4965272" y="2031356"/>
            <a:ext cx="312900" cy="68441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15977C1F-6797-45D1-912F-651C1D974CE3}"/>
              </a:ext>
            </a:extLst>
          </p:cNvPr>
          <p:cNvCxnSpPr>
            <a:cxnSpLocks/>
            <a:endCxn id="19" idx="0"/>
          </p:cNvCxnSpPr>
          <p:nvPr/>
        </p:nvCxnSpPr>
        <p:spPr>
          <a:xfrm flipH="1">
            <a:off x="3999590" y="3139440"/>
            <a:ext cx="434974" cy="39322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F8E3F555-0ECA-408E-93B7-A76091FFBCB5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5006340" y="3139440"/>
            <a:ext cx="447680" cy="39322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475AB96F-0C31-4200-812B-BB9904BF6670}"/>
              </a:ext>
            </a:extLst>
          </p:cNvPr>
          <p:cNvCxnSpPr>
            <a:cxnSpLocks/>
            <a:stCxn id="6" idx="2"/>
            <a:endCxn id="21" idx="0"/>
          </p:cNvCxnSpPr>
          <p:nvPr/>
        </p:nvCxnSpPr>
        <p:spPr>
          <a:xfrm flipH="1">
            <a:off x="4319972" y="3147814"/>
            <a:ext cx="360040" cy="100811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E7B6EBF2-2355-4110-897C-0E6B8BCF0BC6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4810120" y="3139440"/>
            <a:ext cx="217481" cy="117212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>
            <a:extLst>
              <a:ext uri="{FF2B5EF4-FFF2-40B4-BE49-F238E27FC236}">
                <a16:creationId xmlns:a16="http://schemas.microsoft.com/office/drawing/2014/main" id="{F31DBF21-48F3-4789-A46B-CEA96A34986D}"/>
              </a:ext>
            </a:extLst>
          </p:cNvPr>
          <p:cNvCxnSpPr>
            <a:cxnSpLocks/>
            <a:stCxn id="9" idx="0"/>
            <a:endCxn id="23" idx="4"/>
          </p:cNvCxnSpPr>
          <p:nvPr/>
        </p:nvCxnSpPr>
        <p:spPr>
          <a:xfrm flipV="1">
            <a:off x="6246108" y="2038327"/>
            <a:ext cx="206288" cy="57467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9186012D-79B5-46CA-B106-ADD95DAE70C7}"/>
              </a:ext>
            </a:extLst>
          </p:cNvPr>
          <p:cNvCxnSpPr>
            <a:cxnSpLocks/>
            <a:stCxn id="25" idx="1"/>
            <a:endCxn id="9" idx="2"/>
          </p:cNvCxnSpPr>
          <p:nvPr/>
        </p:nvCxnSpPr>
        <p:spPr>
          <a:xfrm flipV="1">
            <a:off x="6121433" y="3250580"/>
            <a:ext cx="124675" cy="102152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id="{17A520EC-19DC-42A1-97BA-A88D8DA18487}"/>
              </a:ext>
            </a:extLst>
          </p:cNvPr>
          <p:cNvCxnSpPr>
            <a:cxnSpLocks/>
            <a:stCxn id="24" idx="0"/>
            <a:endCxn id="9" idx="2"/>
          </p:cNvCxnSpPr>
          <p:nvPr/>
        </p:nvCxnSpPr>
        <p:spPr>
          <a:xfrm flipH="1" flipV="1">
            <a:off x="6246108" y="3250580"/>
            <a:ext cx="550608" cy="28208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连接符 85">
            <a:extLst>
              <a:ext uri="{FF2B5EF4-FFF2-40B4-BE49-F238E27FC236}">
                <a16:creationId xmlns:a16="http://schemas.microsoft.com/office/drawing/2014/main" id="{0E55C414-B7D4-47A4-81F4-AFAD3668AA3F}"/>
              </a:ext>
            </a:extLst>
          </p:cNvPr>
          <p:cNvCxnSpPr>
            <a:cxnSpLocks/>
            <a:stCxn id="7" idx="0"/>
            <a:endCxn id="27" idx="4"/>
          </p:cNvCxnSpPr>
          <p:nvPr/>
        </p:nvCxnSpPr>
        <p:spPr>
          <a:xfrm flipH="1" flipV="1">
            <a:off x="7711556" y="2417738"/>
            <a:ext cx="139540" cy="29802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连接符 88">
            <a:extLst>
              <a:ext uri="{FF2B5EF4-FFF2-40B4-BE49-F238E27FC236}">
                <a16:creationId xmlns:a16="http://schemas.microsoft.com/office/drawing/2014/main" id="{4EB50973-5843-48DF-A0BD-40129E785023}"/>
              </a:ext>
            </a:extLst>
          </p:cNvPr>
          <p:cNvCxnSpPr>
            <a:cxnSpLocks/>
            <a:endCxn id="26" idx="4"/>
          </p:cNvCxnSpPr>
          <p:nvPr/>
        </p:nvCxnSpPr>
        <p:spPr>
          <a:xfrm flipV="1">
            <a:off x="8061860" y="1882428"/>
            <a:ext cx="434576" cy="83333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连接符 91">
            <a:extLst>
              <a:ext uri="{FF2B5EF4-FFF2-40B4-BE49-F238E27FC236}">
                <a16:creationId xmlns:a16="http://schemas.microsoft.com/office/drawing/2014/main" id="{EE1C61D2-3FDB-40EF-A6A9-B3BD106BA2E3}"/>
              </a:ext>
            </a:extLst>
          </p:cNvPr>
          <p:cNvCxnSpPr>
            <a:cxnSpLocks/>
            <a:stCxn id="29" idx="1"/>
            <a:endCxn id="7" idx="2"/>
          </p:cNvCxnSpPr>
          <p:nvPr/>
        </p:nvCxnSpPr>
        <p:spPr>
          <a:xfrm flipV="1">
            <a:off x="7677009" y="3147814"/>
            <a:ext cx="174087" cy="115102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94">
            <a:extLst>
              <a:ext uri="{FF2B5EF4-FFF2-40B4-BE49-F238E27FC236}">
                <a16:creationId xmlns:a16="http://schemas.microsoft.com/office/drawing/2014/main" id="{7FEBFC93-E6F3-4747-927B-ECABC0FE89A9}"/>
              </a:ext>
            </a:extLst>
          </p:cNvPr>
          <p:cNvCxnSpPr>
            <a:cxnSpLocks/>
            <a:stCxn id="28" idx="0"/>
          </p:cNvCxnSpPr>
          <p:nvPr/>
        </p:nvCxnSpPr>
        <p:spPr>
          <a:xfrm flipH="1" flipV="1">
            <a:off x="7959412" y="3139441"/>
            <a:ext cx="408580" cy="39322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连接符 98">
            <a:extLst>
              <a:ext uri="{FF2B5EF4-FFF2-40B4-BE49-F238E27FC236}">
                <a16:creationId xmlns:a16="http://schemas.microsoft.com/office/drawing/2014/main" id="{46E6F9BD-51E8-468B-99D1-C33B5C5BC1A8}"/>
              </a:ext>
            </a:extLst>
          </p:cNvPr>
          <p:cNvCxnSpPr>
            <a:cxnSpLocks/>
            <a:stCxn id="8" idx="1"/>
            <a:endCxn id="5" idx="3"/>
          </p:cNvCxnSpPr>
          <p:nvPr/>
        </p:nvCxnSpPr>
        <p:spPr>
          <a:xfrm flipH="1">
            <a:off x="1907704" y="2931790"/>
            <a:ext cx="792088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连接符 101">
            <a:extLst>
              <a:ext uri="{FF2B5EF4-FFF2-40B4-BE49-F238E27FC236}">
                <a16:creationId xmlns:a16="http://schemas.microsoft.com/office/drawing/2014/main" id="{08C2CCF8-E61B-4BF2-9B74-719BB7CBF163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3347864" y="2931790"/>
            <a:ext cx="864096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连接符 105">
            <a:extLst>
              <a:ext uri="{FF2B5EF4-FFF2-40B4-BE49-F238E27FC236}">
                <a16:creationId xmlns:a16="http://schemas.microsoft.com/office/drawing/2014/main" id="{F71B35A6-033F-4141-9642-3DA0DA9A8788}"/>
              </a:ext>
            </a:extLst>
          </p:cNvPr>
          <p:cNvCxnSpPr>
            <a:cxnSpLocks/>
            <a:stCxn id="31" idx="1"/>
            <a:endCxn id="6" idx="3"/>
          </p:cNvCxnSpPr>
          <p:nvPr/>
        </p:nvCxnSpPr>
        <p:spPr>
          <a:xfrm flipH="1">
            <a:off x="5148064" y="2918629"/>
            <a:ext cx="820560" cy="1316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连接符 108">
            <a:extLst>
              <a:ext uri="{FF2B5EF4-FFF2-40B4-BE49-F238E27FC236}">
                <a16:creationId xmlns:a16="http://schemas.microsoft.com/office/drawing/2014/main" id="{C0696096-129E-4A0D-8337-8BC5B1F0D5DC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6570144" y="2931790"/>
            <a:ext cx="764056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5215215"/>
      </p:ext>
    </p:extLst>
  </p:cSld>
  <p:clrMapOvr>
    <a:masterClrMapping/>
  </p:clrMapOvr>
  <p:transition>
    <p:fade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C9B9BF-A6F6-4543-B9F5-6C974FA93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关系模式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5007F5-BBC6-48B8-AE57-02BD7241F0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r>
              <a:rPr lang="en-US" altLang="zh-CN" sz="2000" b="1" dirty="0">
                <a:latin typeface="Comic Sans MS" panose="030F0702030302020204" pitchFamily="66" charset="0"/>
              </a:rPr>
              <a:t>Relation schemas &amp; primary keys</a:t>
            </a:r>
          </a:p>
          <a:p>
            <a:pPr lvl="1">
              <a:spcBef>
                <a:spcPts val="600"/>
              </a:spcBef>
            </a:pPr>
            <a:r>
              <a:rPr lang="en-US" altLang="zh-CN" sz="1600" b="1" dirty="0">
                <a:latin typeface="Comic Sans MS" panose="030F0702030302020204" pitchFamily="66" charset="0"/>
              </a:rPr>
              <a:t>Bookstore</a:t>
            </a:r>
            <a:r>
              <a:rPr lang="en-US" altLang="zh-CN" sz="1600" dirty="0">
                <a:latin typeface="Comic Sans MS" panose="030F0702030302020204" pitchFamily="66" charset="0"/>
              </a:rPr>
              <a:t> (</a:t>
            </a:r>
            <a:r>
              <a:rPr lang="en-US" altLang="zh-CN" sz="1600" u="sng" dirty="0" err="1">
                <a:latin typeface="Comic Sans MS" panose="030F0702030302020204" pitchFamily="66" charset="0"/>
              </a:rPr>
              <a:t>BSName</a:t>
            </a:r>
            <a:r>
              <a:rPr lang="en-US" altLang="zh-CN" sz="1600" dirty="0">
                <a:latin typeface="Comic Sans MS" panose="030F0702030302020204" pitchFamily="66" charset="0"/>
              </a:rPr>
              <a:t>, </a:t>
            </a:r>
            <a:r>
              <a:rPr lang="en-US" altLang="zh-CN" sz="1600" dirty="0" err="1">
                <a:latin typeface="Comic Sans MS" panose="030F0702030302020204" pitchFamily="66" charset="0"/>
              </a:rPr>
              <a:t>BSaddress</a:t>
            </a:r>
            <a:r>
              <a:rPr lang="en-US" altLang="zh-CN" sz="1600" dirty="0">
                <a:latin typeface="Comic Sans MS" panose="030F0702030302020204" pitchFamily="66" charset="0"/>
              </a:rPr>
              <a:t>, </a:t>
            </a:r>
            <a:r>
              <a:rPr lang="en-US" altLang="zh-CN" sz="1600" dirty="0" err="1">
                <a:latin typeface="Comic Sans MS" panose="030F0702030302020204" pitchFamily="66" charset="0"/>
              </a:rPr>
              <a:t>BSTel</a:t>
            </a:r>
            <a:r>
              <a:rPr lang="en-US" altLang="zh-CN" sz="1600" dirty="0">
                <a:latin typeface="Comic Sans MS" panose="030F0702030302020204" pitchFamily="66" charset="0"/>
              </a:rPr>
              <a:t>, </a:t>
            </a:r>
            <a:r>
              <a:rPr lang="en-US" altLang="zh-CN" sz="1600" dirty="0" err="1">
                <a:latin typeface="Comic Sans MS" panose="030F0702030302020204" pitchFamily="66" charset="0"/>
              </a:rPr>
              <a:t>BSManager</a:t>
            </a:r>
            <a:r>
              <a:rPr lang="en-US" altLang="zh-CN" sz="1600" dirty="0">
                <a:latin typeface="Comic Sans MS" panose="030F0702030302020204" pitchFamily="66" charset="0"/>
              </a:rPr>
              <a:t>)</a:t>
            </a:r>
          </a:p>
          <a:p>
            <a:pPr lvl="1">
              <a:spcBef>
                <a:spcPts val="600"/>
              </a:spcBef>
            </a:pPr>
            <a:r>
              <a:rPr lang="en-US" altLang="zh-CN" sz="1600" b="1" dirty="0">
                <a:latin typeface="Comic Sans MS" panose="030F0702030302020204" pitchFamily="66" charset="0"/>
              </a:rPr>
              <a:t>Book</a:t>
            </a:r>
            <a:r>
              <a:rPr lang="en-US" altLang="zh-CN" sz="1600" dirty="0">
                <a:latin typeface="Comic Sans MS" panose="030F0702030302020204" pitchFamily="66" charset="0"/>
              </a:rPr>
              <a:t> (</a:t>
            </a:r>
            <a:r>
              <a:rPr lang="en-US" altLang="zh-CN" sz="1600" u="sng" dirty="0" err="1">
                <a:latin typeface="Comic Sans MS" panose="030F0702030302020204" pitchFamily="66" charset="0"/>
              </a:rPr>
              <a:t>BookNo</a:t>
            </a:r>
            <a:r>
              <a:rPr lang="en-US" altLang="zh-CN" sz="1600" dirty="0">
                <a:latin typeface="Comic Sans MS" panose="030F0702030302020204" pitchFamily="66" charset="0"/>
              </a:rPr>
              <a:t>, BName, </a:t>
            </a:r>
            <a:r>
              <a:rPr lang="en-US" altLang="zh-CN" sz="1600" dirty="0" err="1">
                <a:latin typeface="Comic Sans MS" panose="030F0702030302020204" pitchFamily="66" charset="0"/>
              </a:rPr>
              <a:t>BPrice</a:t>
            </a:r>
            <a:r>
              <a:rPr lang="en-US" altLang="zh-CN" sz="1600" dirty="0">
                <a:latin typeface="Comic Sans MS" panose="030F0702030302020204" pitchFamily="66" charset="0"/>
              </a:rPr>
              <a:t>, Author, Publisher, </a:t>
            </a:r>
            <a:r>
              <a:rPr lang="en-US" altLang="zh-CN" sz="1600" dirty="0" err="1">
                <a:latin typeface="Comic Sans MS" panose="030F0702030302020204" pitchFamily="66" charset="0"/>
              </a:rPr>
              <a:t>PublishYear</a:t>
            </a:r>
            <a:r>
              <a:rPr lang="en-US" altLang="zh-CN" sz="1600" dirty="0">
                <a:latin typeface="Comic Sans MS" panose="030F0702030302020204" pitchFamily="66" charset="0"/>
              </a:rPr>
              <a:t>, Version)</a:t>
            </a:r>
          </a:p>
          <a:p>
            <a:pPr lvl="1">
              <a:spcBef>
                <a:spcPts val="600"/>
              </a:spcBef>
            </a:pPr>
            <a:r>
              <a:rPr lang="en-US" altLang="zh-CN" sz="1600" b="1" dirty="0">
                <a:latin typeface="Comic Sans MS" panose="030F0702030302020204" pitchFamily="66" charset="0"/>
              </a:rPr>
              <a:t>Warehouse</a:t>
            </a:r>
            <a:r>
              <a:rPr lang="zh-CN" altLang="en-US" sz="1600" b="1" dirty="0">
                <a:latin typeface="Comic Sans MS" panose="030F0702030302020204" pitchFamily="66" charset="0"/>
              </a:rPr>
              <a:t> </a:t>
            </a:r>
            <a:r>
              <a:rPr lang="en-US" altLang="zh-CN" sz="1600" dirty="0">
                <a:latin typeface="Comic Sans MS" panose="030F0702030302020204" pitchFamily="66" charset="0"/>
              </a:rPr>
              <a:t>(</a:t>
            </a:r>
            <a:r>
              <a:rPr lang="en-US" altLang="zh-CN" sz="1600" u="sng" dirty="0" err="1">
                <a:latin typeface="Comic Sans MS" panose="030F0702030302020204" pitchFamily="66" charset="0"/>
              </a:rPr>
              <a:t>WNo</a:t>
            </a:r>
            <a:r>
              <a:rPr lang="en-US" altLang="zh-CN" sz="1600" dirty="0">
                <a:latin typeface="Comic Sans MS" panose="030F0702030302020204" pitchFamily="66" charset="0"/>
              </a:rPr>
              <a:t>, </a:t>
            </a:r>
            <a:r>
              <a:rPr lang="en-US" altLang="zh-CN" sz="1600" dirty="0" err="1">
                <a:latin typeface="Comic Sans MS" panose="030F0702030302020204" pitchFamily="66" charset="0"/>
              </a:rPr>
              <a:t>WName</a:t>
            </a:r>
            <a:r>
              <a:rPr lang="en-US" altLang="zh-CN" sz="1600" dirty="0">
                <a:latin typeface="Comic Sans MS" panose="030F0702030302020204" pitchFamily="66" charset="0"/>
              </a:rPr>
              <a:t>, </a:t>
            </a:r>
            <a:r>
              <a:rPr lang="en-US" altLang="zh-CN" sz="1600" dirty="0" err="1">
                <a:latin typeface="Comic Sans MS" panose="030F0702030302020204" pitchFamily="66" charset="0"/>
              </a:rPr>
              <a:t>WAddress</a:t>
            </a:r>
            <a:r>
              <a:rPr lang="en-US" altLang="zh-CN" sz="1600" dirty="0">
                <a:latin typeface="Comic Sans MS" panose="030F0702030302020204" pitchFamily="66" charset="0"/>
              </a:rPr>
              <a:t>, </a:t>
            </a:r>
            <a:r>
              <a:rPr lang="en-US" altLang="zh-CN" sz="1600" dirty="0" err="1">
                <a:latin typeface="Comic Sans MS" panose="030F0702030302020204" pitchFamily="66" charset="0"/>
              </a:rPr>
              <a:t>Wadministrator</a:t>
            </a:r>
            <a:r>
              <a:rPr lang="en-US" altLang="zh-CN" sz="1600" dirty="0">
                <a:latin typeface="Comic Sans MS" panose="030F0702030302020204" pitchFamily="66" charset="0"/>
              </a:rPr>
              <a:t>)</a:t>
            </a:r>
          </a:p>
          <a:p>
            <a:pPr lvl="1">
              <a:spcBef>
                <a:spcPts val="600"/>
              </a:spcBef>
            </a:pPr>
            <a:r>
              <a:rPr lang="en-US" altLang="zh-CN" sz="1600" b="1" dirty="0">
                <a:latin typeface="Comic Sans MS" panose="030F0702030302020204" pitchFamily="66" charset="0"/>
              </a:rPr>
              <a:t>Sale</a:t>
            </a:r>
            <a:r>
              <a:rPr lang="en-US" altLang="zh-CN" sz="1600" dirty="0">
                <a:latin typeface="Comic Sans MS" panose="030F0702030302020204" pitchFamily="66" charset="0"/>
              </a:rPr>
              <a:t> (</a:t>
            </a:r>
            <a:r>
              <a:rPr lang="en-US" altLang="zh-CN" sz="1600" u="sng" dirty="0" err="1">
                <a:latin typeface="Comic Sans MS" panose="030F0702030302020204" pitchFamily="66" charset="0"/>
              </a:rPr>
              <a:t>BSName</a:t>
            </a:r>
            <a:r>
              <a:rPr lang="en-US" altLang="zh-CN" sz="1600" dirty="0">
                <a:latin typeface="Comic Sans MS" panose="030F0702030302020204" pitchFamily="66" charset="0"/>
              </a:rPr>
              <a:t>, </a:t>
            </a:r>
            <a:r>
              <a:rPr lang="en-US" altLang="zh-CN" sz="1600" u="sng" dirty="0" err="1">
                <a:latin typeface="Comic Sans MS" panose="030F0702030302020204" pitchFamily="66" charset="0"/>
              </a:rPr>
              <a:t>BookNo</a:t>
            </a:r>
            <a:r>
              <a:rPr lang="en-US" altLang="zh-CN" sz="1600" dirty="0">
                <a:latin typeface="Comic Sans MS" panose="030F0702030302020204" pitchFamily="66" charset="0"/>
              </a:rPr>
              <a:t>,</a:t>
            </a:r>
            <a:r>
              <a:rPr lang="zh-CN" altLang="en-US" sz="1600" dirty="0">
                <a:latin typeface="Comic Sans MS" panose="030F0702030302020204" pitchFamily="66" charset="0"/>
              </a:rPr>
              <a:t> </a:t>
            </a:r>
            <a:r>
              <a:rPr lang="en-US" altLang="zh-CN" sz="1600" u="sng" dirty="0" err="1">
                <a:latin typeface="Comic Sans MS" panose="030F0702030302020204" pitchFamily="66" charset="0"/>
              </a:rPr>
              <a:t>SaleDate</a:t>
            </a:r>
            <a:r>
              <a:rPr lang="en-US" altLang="zh-CN" sz="1600" u="sng" dirty="0">
                <a:latin typeface="Comic Sans MS" panose="030F0702030302020204" pitchFamily="66" charset="0"/>
              </a:rPr>
              <a:t>,</a:t>
            </a:r>
            <a:r>
              <a:rPr lang="en-US" altLang="zh-CN" sz="1600" dirty="0">
                <a:latin typeface="Comic Sans MS" panose="030F0702030302020204" pitchFamily="66" charset="0"/>
              </a:rPr>
              <a:t> </a:t>
            </a:r>
            <a:r>
              <a:rPr lang="en-US" altLang="zh-CN" sz="1600" dirty="0" err="1">
                <a:latin typeface="Comic Sans MS" panose="030F0702030302020204" pitchFamily="66" charset="0"/>
              </a:rPr>
              <a:t>SaleQuantity</a:t>
            </a:r>
            <a:r>
              <a:rPr lang="en-US" altLang="zh-CN" sz="1600" dirty="0">
                <a:latin typeface="Comic Sans MS" panose="030F0702030302020204" pitchFamily="66" charset="0"/>
              </a:rPr>
              <a:t>)</a:t>
            </a:r>
          </a:p>
          <a:p>
            <a:pPr lvl="1">
              <a:spcBef>
                <a:spcPts val="600"/>
              </a:spcBef>
            </a:pPr>
            <a:r>
              <a:rPr lang="en-US" altLang="zh-CN" sz="1600" b="1" dirty="0">
                <a:latin typeface="Comic Sans MS" panose="030F0702030302020204" pitchFamily="66" charset="0"/>
              </a:rPr>
              <a:t>Stock</a:t>
            </a:r>
            <a:r>
              <a:rPr lang="en-US" altLang="zh-CN" sz="1600" dirty="0">
                <a:latin typeface="Comic Sans MS" panose="030F0702030302020204" pitchFamily="66" charset="0"/>
              </a:rPr>
              <a:t> (</a:t>
            </a:r>
            <a:r>
              <a:rPr lang="en-US" altLang="zh-CN" sz="1600" u="sng" dirty="0" err="1">
                <a:latin typeface="Comic Sans MS" panose="030F0702030302020204" pitchFamily="66" charset="0"/>
              </a:rPr>
              <a:t>BookNo</a:t>
            </a:r>
            <a:r>
              <a:rPr lang="en-US" altLang="zh-CN" sz="1600" dirty="0">
                <a:latin typeface="Comic Sans MS" panose="030F0702030302020204" pitchFamily="66" charset="0"/>
              </a:rPr>
              <a:t>, </a:t>
            </a:r>
            <a:r>
              <a:rPr lang="en-US" altLang="zh-CN" sz="1600" u="sng" dirty="0" err="1">
                <a:latin typeface="Comic Sans MS" panose="030F0702030302020204" pitchFamily="66" charset="0"/>
              </a:rPr>
              <a:t>WNo</a:t>
            </a:r>
            <a:r>
              <a:rPr lang="en-US" altLang="zh-CN" sz="1600" dirty="0">
                <a:latin typeface="Comic Sans MS" panose="030F0702030302020204" pitchFamily="66" charset="0"/>
              </a:rPr>
              <a:t>, </a:t>
            </a:r>
            <a:r>
              <a:rPr lang="en-US" altLang="zh-CN" sz="1600" u="sng" dirty="0" err="1">
                <a:latin typeface="Comic Sans MS" panose="030F0702030302020204" pitchFamily="66" charset="0"/>
              </a:rPr>
              <a:t>InDate</a:t>
            </a:r>
            <a:r>
              <a:rPr lang="en-US" altLang="zh-CN" sz="1600" dirty="0">
                <a:latin typeface="Comic Sans MS" panose="030F0702030302020204" pitchFamily="66" charset="0"/>
              </a:rPr>
              <a:t>, </a:t>
            </a:r>
            <a:r>
              <a:rPr lang="en-US" altLang="zh-CN" sz="1600" dirty="0" err="1">
                <a:latin typeface="Comic Sans MS" panose="030F0702030302020204" pitchFamily="66" charset="0"/>
              </a:rPr>
              <a:t>InPrice</a:t>
            </a:r>
            <a:r>
              <a:rPr lang="en-US" altLang="zh-CN" sz="1600" dirty="0">
                <a:latin typeface="Comic Sans MS" panose="030F0702030302020204" pitchFamily="66" charset="0"/>
              </a:rPr>
              <a:t>, </a:t>
            </a:r>
            <a:r>
              <a:rPr lang="en-US" altLang="zh-CN" sz="1600" dirty="0" err="1">
                <a:latin typeface="Comic Sans MS" panose="030F0702030302020204" pitchFamily="66" charset="0"/>
              </a:rPr>
              <a:t>StockQuantity</a:t>
            </a:r>
            <a:r>
              <a:rPr lang="en-US" altLang="zh-CN" sz="1600" dirty="0">
                <a:latin typeface="Comic Sans MS" panose="030F0702030302020204" pitchFamily="66" charset="0"/>
              </a:rPr>
              <a:t>)</a:t>
            </a:r>
          </a:p>
          <a:p>
            <a:pPr>
              <a:spcBef>
                <a:spcPts val="600"/>
              </a:spcBef>
            </a:pPr>
            <a:r>
              <a:rPr lang="en-US" altLang="zh-CN" sz="2000" b="1" dirty="0">
                <a:latin typeface="Comic Sans MS" panose="030F0702030302020204" pitchFamily="66" charset="0"/>
              </a:rPr>
              <a:t>Foreign keys</a:t>
            </a:r>
          </a:p>
          <a:p>
            <a:pPr lvl="1">
              <a:spcBef>
                <a:spcPts val="600"/>
              </a:spcBef>
            </a:pPr>
            <a:r>
              <a:rPr lang="en-US" altLang="zh-CN" sz="1600" dirty="0">
                <a:latin typeface="Comic Sans MS" panose="030F0702030302020204" pitchFamily="66" charset="0"/>
              </a:rPr>
              <a:t>Sale references Bookstore and Book on </a:t>
            </a:r>
            <a:r>
              <a:rPr lang="en-US" altLang="zh-CN" sz="1600" dirty="0" err="1">
                <a:latin typeface="Comic Sans MS" panose="030F0702030302020204" pitchFamily="66" charset="0"/>
              </a:rPr>
              <a:t>BSName</a:t>
            </a:r>
            <a:r>
              <a:rPr lang="en-US" altLang="zh-CN" sz="1600" dirty="0">
                <a:latin typeface="Comic Sans MS" panose="030F0702030302020204" pitchFamily="66" charset="0"/>
              </a:rPr>
              <a:t> and </a:t>
            </a:r>
            <a:r>
              <a:rPr lang="en-US" altLang="zh-CN" sz="1600" dirty="0" err="1">
                <a:latin typeface="Comic Sans MS" panose="030F0702030302020204" pitchFamily="66" charset="0"/>
              </a:rPr>
              <a:t>BookNo</a:t>
            </a:r>
            <a:r>
              <a:rPr lang="en-US" altLang="zh-CN" sz="1600" dirty="0">
                <a:latin typeface="Comic Sans MS" panose="030F0702030302020204" pitchFamily="66" charset="0"/>
              </a:rPr>
              <a:t>, respectively</a:t>
            </a:r>
          </a:p>
          <a:p>
            <a:pPr lvl="1">
              <a:spcBef>
                <a:spcPts val="600"/>
              </a:spcBef>
            </a:pPr>
            <a:r>
              <a:rPr lang="en-US" altLang="zh-CN" sz="1600" dirty="0">
                <a:latin typeface="Comic Sans MS" panose="030F0702030302020204" pitchFamily="66" charset="0"/>
              </a:rPr>
              <a:t>Stock reference Warehouse and Book on </a:t>
            </a:r>
            <a:r>
              <a:rPr lang="en-US" altLang="zh-CN" sz="1600" dirty="0" err="1">
                <a:latin typeface="Comic Sans MS" panose="030F0702030302020204" pitchFamily="66" charset="0"/>
              </a:rPr>
              <a:t>WNo</a:t>
            </a:r>
            <a:r>
              <a:rPr lang="en-US" altLang="zh-CN" sz="1600" dirty="0">
                <a:latin typeface="Comic Sans MS" panose="030F0702030302020204" pitchFamily="66" charset="0"/>
              </a:rPr>
              <a:t> and </a:t>
            </a:r>
            <a:r>
              <a:rPr lang="en-US" altLang="zh-CN" sz="1600" dirty="0" err="1">
                <a:latin typeface="Comic Sans MS" panose="030F0702030302020204" pitchFamily="66" charset="0"/>
              </a:rPr>
              <a:t>BookNo</a:t>
            </a:r>
            <a:r>
              <a:rPr lang="en-US" altLang="zh-CN" sz="1600" dirty="0">
                <a:latin typeface="Comic Sans MS" panose="030F0702030302020204" pitchFamily="66" charset="0"/>
              </a:rPr>
              <a:t>, respectively</a:t>
            </a:r>
            <a:endParaRPr lang="zh-CN" altLang="en-US" sz="16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4053621"/>
      </p:ext>
    </p:extLst>
  </p:cSld>
  <p:clrMapOvr>
    <a:masterClrMapping/>
  </p:clrMapOvr>
  <p:transition>
    <p:fade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7584" y="1995686"/>
            <a:ext cx="7386416" cy="519113"/>
          </a:xfrm>
        </p:spPr>
        <p:txBody>
          <a:bodyPr/>
          <a:lstStyle/>
          <a:p>
            <a:r>
              <a:rPr lang="en-US" altLang="zh-CN" sz="3600" dirty="0">
                <a:latin typeface="Arial" panose="020B0604020202020204" pitchFamily="34" charset="0"/>
                <a:ea typeface="宋体" pitchFamily="2" charset="-122"/>
              </a:rPr>
              <a:t>End of </a:t>
            </a:r>
            <a:r>
              <a:rPr lang="en-US" altLang="zh-CN" sz="3600">
                <a:latin typeface="Arial" panose="020B0604020202020204" pitchFamily="34" charset="0"/>
                <a:ea typeface="宋体" pitchFamily="2" charset="-122"/>
              </a:rPr>
              <a:t>Chapter 6</a:t>
            </a:r>
            <a:endParaRPr lang="zh-CN" altLang="en-US" sz="3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7911059"/>
      </p:ext>
    </p:extLst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Office">
      <a:dk1>
        <a:sysClr val="windowText" lastClr="000000"/>
      </a:dk1>
      <a:lt1>
        <a:sysClr val="window" lastClr="CCE8C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Office 主题">
  <a:themeElements>
    <a:clrScheme name="2_Office 主题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2_Office 主题">
      <a:majorFont>
        <a:latin typeface="Calibri"/>
        <a:ea typeface="黑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25400" cap="flat" cmpd="sng">
          <a:solidFill>
            <a:srgbClr val="FF0000"/>
          </a:solidFill>
          <a:prstDash val="sysDash"/>
          <a:round/>
        </a:ln>
      </a:spPr>
      <a:bodyPr anchor="ctr"/>
      <a:lstStyle>
        <a:defPPr>
          <a:defRPr/>
        </a:defPPr>
      </a:lstStyle>
    </a:spDef>
  </a:objectDefaults>
  <a:extraClrSchemeLst>
    <a:extraClrScheme>
      <a:clrScheme name="2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第1章 绪论.potx" id="{A4F0AC33-72D4-4097-837F-93641403082A}" vid="{4062CE69-8121-4E25-9D20-76EC1D6FDB85}"/>
    </a:ext>
  </a:extLst>
</a:theme>
</file>

<file path=ppt/theme/theme3.xml><?xml version="1.0" encoding="utf-8"?>
<a:theme xmlns:a="http://schemas.openxmlformats.org/drawingml/2006/main" name="Office-te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-te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26112</TotalTime>
  <Words>5021</Words>
  <Application>Microsoft Office PowerPoint</Application>
  <PresentationFormat>全屏显示(16:9)</PresentationFormat>
  <Paragraphs>524</Paragraphs>
  <Slides>72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72</vt:i4>
      </vt:variant>
    </vt:vector>
  </HeadingPairs>
  <TitlesOfParts>
    <vt:vector size="89" baseType="lpstr">
      <vt:lpstr>ＭＳ Ｐゴシック</vt:lpstr>
      <vt:lpstr>黑体</vt:lpstr>
      <vt:lpstr>华文楷体</vt:lpstr>
      <vt:lpstr>华文行楷</vt:lpstr>
      <vt:lpstr>华文中宋</vt:lpstr>
      <vt:lpstr>宋体</vt:lpstr>
      <vt:lpstr>微软雅黑</vt:lpstr>
      <vt:lpstr>Arial</vt:lpstr>
      <vt:lpstr>Calibri</vt:lpstr>
      <vt:lpstr>Cambria Math</vt:lpstr>
      <vt:lpstr>Comic Sans MS</vt:lpstr>
      <vt:lpstr>Helvetica</vt:lpstr>
      <vt:lpstr>Times New Roman</vt:lpstr>
      <vt:lpstr>Trebuchet MS</vt:lpstr>
      <vt:lpstr>Wingdings</vt:lpstr>
      <vt:lpstr>默认设计模板</vt:lpstr>
      <vt:lpstr>2_Office 主题</vt:lpstr>
      <vt:lpstr>PowerPoint 演示文稿</vt:lpstr>
      <vt:lpstr>E-R Diagram &amp; Relation Schema</vt:lpstr>
      <vt:lpstr>Outline</vt:lpstr>
      <vt:lpstr>开发数据库应用的主要任务</vt:lpstr>
      <vt:lpstr>Data Abstraction (数据抽象)</vt:lpstr>
      <vt:lpstr>Database Design (数据库设计)</vt:lpstr>
      <vt:lpstr>Database Design (Cont.)</vt:lpstr>
      <vt:lpstr>Outline</vt:lpstr>
      <vt:lpstr>E-R Diagram for a Banking Enterprise</vt:lpstr>
      <vt:lpstr>大学E-R图</vt:lpstr>
      <vt:lpstr>Database Conceptual Design</vt:lpstr>
      <vt:lpstr>ER Model: A General View</vt:lpstr>
      <vt:lpstr>Peter Pin-Shan Chen（陈品山）</vt:lpstr>
      <vt:lpstr>Entity Sets（实体集）</vt:lpstr>
      <vt:lpstr>Entity Sets</vt:lpstr>
      <vt:lpstr>Attributes（属性）</vt:lpstr>
      <vt:lpstr>Relationship Sets (联系集)</vt:lpstr>
      <vt:lpstr>Relationship Set advisor</vt:lpstr>
      <vt:lpstr>Relationship Sets (Cont.)</vt:lpstr>
      <vt:lpstr>Degree (度/阶) of a Relationship Set</vt:lpstr>
      <vt:lpstr>Outline</vt:lpstr>
      <vt:lpstr>Mapping Cardinalities (映射基数)</vt:lpstr>
      <vt:lpstr>Mapping Cardinalities (Cont.)</vt:lpstr>
      <vt:lpstr>Mapping Cardinalities (Cont.)</vt:lpstr>
      <vt:lpstr>Participation Constraints (参与约束)</vt:lpstr>
      <vt:lpstr>Outline</vt:lpstr>
      <vt:lpstr>Entity-Relationship Diagrams </vt:lpstr>
      <vt:lpstr>E-R Diagram</vt:lpstr>
      <vt:lpstr>Relationship Sets with Attributes</vt:lpstr>
      <vt:lpstr>Roles (角色)</vt:lpstr>
      <vt:lpstr>Cardinality Constraints</vt:lpstr>
      <vt:lpstr>One-To-Many Relationship</vt:lpstr>
      <vt:lpstr>Many-To-One Relationships</vt:lpstr>
      <vt:lpstr>Many-To-Many Relationship</vt:lpstr>
      <vt:lpstr>Alternative Notation for Cardinality Limits</vt:lpstr>
      <vt:lpstr>Keys (键/码)</vt:lpstr>
      <vt:lpstr>Keys for Relationship Sets</vt:lpstr>
      <vt:lpstr>E-R Diagram with a Ternary Relationship</vt:lpstr>
      <vt:lpstr>Binary vs. Non-Binary Relationships</vt:lpstr>
      <vt:lpstr>Converting Non-Binary Relationships</vt:lpstr>
      <vt:lpstr>Converting Non-Binary Relationships (Cont.)</vt:lpstr>
      <vt:lpstr>Weak Entity Sets（弱实体集）</vt:lpstr>
      <vt:lpstr>Weak Entity Sets（Cont.）</vt:lpstr>
      <vt:lpstr>Weak Entity Sets (Cont.)</vt:lpstr>
      <vt:lpstr>Specialization（特化）</vt:lpstr>
      <vt:lpstr>Example</vt:lpstr>
      <vt:lpstr>Generalization（泛化）</vt:lpstr>
      <vt:lpstr>Specialization &amp; Generalization (Cont.)</vt:lpstr>
      <vt:lpstr>Outline</vt:lpstr>
      <vt:lpstr>Reduction to Relation Schemas</vt:lpstr>
      <vt:lpstr>Reduction to Relational Schemas</vt:lpstr>
      <vt:lpstr>Representing Entity Sets as Tables</vt:lpstr>
      <vt:lpstr>Composite and Multi-valued Attributes</vt:lpstr>
      <vt:lpstr>Representing Weak Entity Sets</vt:lpstr>
      <vt:lpstr>Representing Relationship Sets as Tables</vt:lpstr>
      <vt:lpstr>Representing Relationship Sets as Tables</vt:lpstr>
      <vt:lpstr>Representing Relationship Sets as Tables</vt:lpstr>
      <vt:lpstr>Representing Specialization as Tables</vt:lpstr>
      <vt:lpstr>Representing Specialization as Tables (Cont.)</vt:lpstr>
      <vt:lpstr>Banking Relational Schema</vt:lpstr>
      <vt:lpstr>Outline</vt:lpstr>
      <vt:lpstr>Database Design Phases</vt:lpstr>
      <vt:lpstr>Symbols used in E-R Diagrams</vt:lpstr>
      <vt:lpstr>Symbols used in E-R Diagrams (Cont.)</vt:lpstr>
      <vt:lpstr>Design Tools</vt:lpstr>
      <vt:lpstr>Summary of E-R Model</vt:lpstr>
      <vt:lpstr>Summary of ER Model (Cont.)</vt:lpstr>
      <vt:lpstr>Summary of ER Model</vt:lpstr>
      <vt:lpstr>课堂练习</vt:lpstr>
      <vt:lpstr>E-R图</vt:lpstr>
      <vt:lpstr>关系模式</vt:lpstr>
      <vt:lpstr>End of Chapter 6</vt:lpstr>
    </vt:vector>
  </TitlesOfParts>
  <Company>Global Intelligence Alliance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 Creating System Analysis</dc:title>
  <dc:creator>Jessie Wang</dc:creator>
  <cp:lastModifiedBy>ZYC</cp:lastModifiedBy>
  <cp:revision>1985</cp:revision>
  <dcterms:created xsi:type="dcterms:W3CDTF">2007-09-26T12:04:45Z</dcterms:created>
  <dcterms:modified xsi:type="dcterms:W3CDTF">2025-03-29T15:50:57Z</dcterms:modified>
</cp:coreProperties>
</file>