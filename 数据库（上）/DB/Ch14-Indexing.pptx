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1"/>
  </p:sldMasterIdLst>
  <p:notesMasterIdLst>
    <p:notesMasterId r:id="rId90"/>
  </p:notesMasterIdLst>
  <p:handoutMasterIdLst>
    <p:handoutMasterId r:id="rId91"/>
  </p:handoutMasterIdLst>
  <p:sldIdLst>
    <p:sldId id="2020" r:id="rId2"/>
    <p:sldId id="1798" r:id="rId3"/>
    <p:sldId id="1923" r:id="rId4"/>
    <p:sldId id="1924" r:id="rId5"/>
    <p:sldId id="1926" r:id="rId6"/>
    <p:sldId id="2011" r:id="rId7"/>
    <p:sldId id="1927" r:id="rId8"/>
    <p:sldId id="1928" r:id="rId9"/>
    <p:sldId id="1929" r:id="rId10"/>
    <p:sldId id="1930" r:id="rId11"/>
    <p:sldId id="1931" r:id="rId12"/>
    <p:sldId id="1932" r:id="rId13"/>
    <p:sldId id="1933" r:id="rId14"/>
    <p:sldId id="1934" r:id="rId15"/>
    <p:sldId id="1935" r:id="rId16"/>
    <p:sldId id="2017" r:id="rId17"/>
    <p:sldId id="1937" r:id="rId18"/>
    <p:sldId id="1938" r:id="rId19"/>
    <p:sldId id="1939" r:id="rId20"/>
    <p:sldId id="1940" r:id="rId21"/>
    <p:sldId id="1941" r:id="rId22"/>
    <p:sldId id="2012" r:id="rId23"/>
    <p:sldId id="1942" r:id="rId24"/>
    <p:sldId id="2019" r:id="rId25"/>
    <p:sldId id="1943" r:id="rId26"/>
    <p:sldId id="1944" r:id="rId27"/>
    <p:sldId id="1945" r:id="rId28"/>
    <p:sldId id="1946" r:id="rId29"/>
    <p:sldId id="1947" r:id="rId30"/>
    <p:sldId id="1948" r:id="rId31"/>
    <p:sldId id="1949" r:id="rId32"/>
    <p:sldId id="1950" r:id="rId33"/>
    <p:sldId id="1951" r:id="rId34"/>
    <p:sldId id="2018" r:id="rId35"/>
    <p:sldId id="1952" r:id="rId36"/>
    <p:sldId id="1953" r:id="rId37"/>
    <p:sldId id="1954" r:id="rId38"/>
    <p:sldId id="1955" r:id="rId39"/>
    <p:sldId id="1956" r:id="rId40"/>
    <p:sldId id="1957" r:id="rId41"/>
    <p:sldId id="1958" r:id="rId42"/>
    <p:sldId id="1959" r:id="rId43"/>
    <p:sldId id="1960" r:id="rId44"/>
    <p:sldId id="1961" r:id="rId45"/>
    <p:sldId id="1962" r:id="rId46"/>
    <p:sldId id="1963" r:id="rId47"/>
    <p:sldId id="1964" r:id="rId48"/>
    <p:sldId id="1965" r:id="rId49"/>
    <p:sldId id="1966" r:id="rId50"/>
    <p:sldId id="2013" r:id="rId51"/>
    <p:sldId id="1967" r:id="rId52"/>
    <p:sldId id="1968" r:id="rId53"/>
    <p:sldId id="1969" r:id="rId54"/>
    <p:sldId id="1970" r:id="rId55"/>
    <p:sldId id="1971" r:id="rId56"/>
    <p:sldId id="1972" r:id="rId57"/>
    <p:sldId id="1973" r:id="rId58"/>
    <p:sldId id="1974" r:id="rId59"/>
    <p:sldId id="1975" r:id="rId60"/>
    <p:sldId id="1976" r:id="rId61"/>
    <p:sldId id="1977" r:id="rId62"/>
    <p:sldId id="1978" r:id="rId63"/>
    <p:sldId id="1979" r:id="rId64"/>
    <p:sldId id="1980" r:id="rId65"/>
    <p:sldId id="1981" r:id="rId66"/>
    <p:sldId id="1982" r:id="rId67"/>
    <p:sldId id="1983" r:id="rId68"/>
    <p:sldId id="1984" r:id="rId69"/>
    <p:sldId id="1985" r:id="rId70"/>
    <p:sldId id="1986" r:id="rId71"/>
    <p:sldId id="2014" r:id="rId72"/>
    <p:sldId id="1987" r:id="rId73"/>
    <p:sldId id="2015" r:id="rId74"/>
    <p:sldId id="1988" r:id="rId75"/>
    <p:sldId id="2016" r:id="rId76"/>
    <p:sldId id="1989" r:id="rId77"/>
    <p:sldId id="1990" r:id="rId78"/>
    <p:sldId id="1991" r:id="rId79"/>
    <p:sldId id="1992" r:id="rId80"/>
    <p:sldId id="1993" r:id="rId81"/>
    <p:sldId id="1994" r:id="rId82"/>
    <p:sldId id="1995" r:id="rId83"/>
    <p:sldId id="1996" r:id="rId84"/>
    <p:sldId id="1997" r:id="rId85"/>
    <p:sldId id="1998" r:id="rId86"/>
    <p:sldId id="2002" r:id="rId87"/>
    <p:sldId id="2000" r:id="rId88"/>
    <p:sldId id="1910" r:id="rId89"/>
  </p:sldIdLst>
  <p:sldSz cx="9144000" cy="5143500" type="screen16x9"/>
  <p:notesSz cx="6858000" cy="9144000"/>
  <p:defaultTextStyle>
    <a:defPPr>
      <a:defRPr lang="fi-FI"/>
    </a:defPPr>
    <a:lvl1pPr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1pPr>
    <a:lvl2pPr marL="4556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2pPr>
    <a:lvl3pPr marL="9128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3pPr>
    <a:lvl4pPr marL="13700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4pPr>
    <a:lvl5pPr marL="18272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" id="{EB83E03E-195F-4588-BA9C-87CAE50CC123}">
          <p14:sldIdLst>
            <p14:sldId id="2020"/>
            <p14:sldId id="1798"/>
            <p14:sldId id="1923"/>
            <p14:sldId id="1924"/>
            <p14:sldId id="1926"/>
            <p14:sldId id="2011"/>
            <p14:sldId id="1927"/>
            <p14:sldId id="1928"/>
            <p14:sldId id="1929"/>
            <p14:sldId id="1930"/>
            <p14:sldId id="1931"/>
            <p14:sldId id="1932"/>
            <p14:sldId id="1933"/>
            <p14:sldId id="1934"/>
            <p14:sldId id="1935"/>
            <p14:sldId id="2017"/>
            <p14:sldId id="1937"/>
            <p14:sldId id="1938"/>
            <p14:sldId id="1939"/>
            <p14:sldId id="1940"/>
            <p14:sldId id="1941"/>
            <p14:sldId id="2012"/>
            <p14:sldId id="1942"/>
            <p14:sldId id="2019"/>
            <p14:sldId id="1943"/>
            <p14:sldId id="1944"/>
            <p14:sldId id="1945"/>
            <p14:sldId id="1946"/>
            <p14:sldId id="1947"/>
            <p14:sldId id="1948"/>
            <p14:sldId id="1949"/>
            <p14:sldId id="1950"/>
            <p14:sldId id="1951"/>
            <p14:sldId id="2018"/>
            <p14:sldId id="1952"/>
            <p14:sldId id="1953"/>
            <p14:sldId id="1954"/>
            <p14:sldId id="1955"/>
            <p14:sldId id="1956"/>
            <p14:sldId id="1957"/>
            <p14:sldId id="1958"/>
            <p14:sldId id="1959"/>
            <p14:sldId id="1960"/>
            <p14:sldId id="1961"/>
            <p14:sldId id="1962"/>
            <p14:sldId id="1963"/>
            <p14:sldId id="1964"/>
            <p14:sldId id="1965"/>
            <p14:sldId id="1966"/>
            <p14:sldId id="2013"/>
            <p14:sldId id="1967"/>
            <p14:sldId id="1968"/>
            <p14:sldId id="1969"/>
            <p14:sldId id="1970"/>
            <p14:sldId id="1971"/>
            <p14:sldId id="1972"/>
            <p14:sldId id="1973"/>
            <p14:sldId id="1974"/>
            <p14:sldId id="1975"/>
            <p14:sldId id="1976"/>
            <p14:sldId id="1977"/>
            <p14:sldId id="1978"/>
            <p14:sldId id="1979"/>
            <p14:sldId id="1980"/>
            <p14:sldId id="1981"/>
            <p14:sldId id="1982"/>
            <p14:sldId id="1983"/>
            <p14:sldId id="1984"/>
            <p14:sldId id="1985"/>
            <p14:sldId id="1986"/>
            <p14:sldId id="2014"/>
            <p14:sldId id="1987"/>
            <p14:sldId id="2015"/>
            <p14:sldId id="1988"/>
            <p14:sldId id="2016"/>
            <p14:sldId id="1989"/>
            <p14:sldId id="1990"/>
            <p14:sldId id="1991"/>
            <p14:sldId id="1992"/>
            <p14:sldId id="1993"/>
            <p14:sldId id="1994"/>
            <p14:sldId id="1995"/>
            <p14:sldId id="1996"/>
            <p14:sldId id="1997"/>
            <p14:sldId id="1998"/>
            <p14:sldId id="2002"/>
            <p14:sldId id="2000"/>
            <p14:sldId id="19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4" pos="5193" userDrawn="1">
          <p15:clr>
            <a:srgbClr val="A4A3A4"/>
          </p15:clr>
        </p15:guide>
        <p15:guide id="5" pos="3152" userDrawn="1">
          <p15:clr>
            <a:srgbClr val="A4A3A4"/>
          </p15:clr>
        </p15:guide>
        <p15:guide id="6" orient="horz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06BA"/>
    <a:srgbClr val="080808"/>
    <a:srgbClr val="339933"/>
    <a:srgbClr val="B5880B"/>
    <a:srgbClr val="E87071"/>
    <a:srgbClr val="00B3EE"/>
    <a:srgbClr val="93E5FF"/>
    <a:srgbClr val="F7FE98"/>
    <a:srgbClr val="FFFFFF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77994" autoAdjust="0"/>
  </p:normalViewPr>
  <p:slideViewPr>
    <p:cSldViewPr>
      <p:cViewPr varScale="1">
        <p:scale>
          <a:sx n="119" d="100"/>
          <a:sy n="119" d="100"/>
        </p:scale>
        <p:origin x="1380" y="78"/>
      </p:cViewPr>
      <p:guideLst>
        <p:guide orient="horz" pos="3838"/>
        <p:guide pos="295"/>
        <p:guide pos="5193"/>
        <p:guide pos="3152"/>
        <p:guide orient="horz" pos="2879"/>
      </p:guideLst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58CD87A4-0184-412C-A44A-3DA728178AFF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3572666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i-FI" noProof="0"/>
              <a:t>Muokkaa tekstin perustyylejä napsauttamalla</a:t>
            </a:r>
          </a:p>
          <a:p>
            <a:pPr lvl="1"/>
            <a:r>
              <a:rPr lang="fi-FI" noProof="0"/>
              <a:t>toinen taso</a:t>
            </a:r>
          </a:p>
          <a:p>
            <a:pPr lvl="2"/>
            <a:r>
              <a:rPr lang="fi-FI" noProof="0"/>
              <a:t>kolmas taso</a:t>
            </a:r>
          </a:p>
          <a:p>
            <a:pPr lvl="3"/>
            <a:r>
              <a:rPr lang="fi-FI" noProof="0"/>
              <a:t>neljäs taso</a:t>
            </a:r>
          </a:p>
          <a:p>
            <a:pPr lvl="4"/>
            <a:r>
              <a:rPr lang="fi-FI" noProof="0"/>
              <a:t>viides taso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BB8C311E-5859-4E0C-A0F3-4690A095D6BE}" type="slidenum">
              <a:rPr lang="fi-FI" altLang="zh-CN"/>
              <a:pPr>
                <a:defRPr/>
              </a:pPr>
              <a:t>‹#›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7204162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572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768680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</a:t>
            </a:r>
            <a:r>
              <a:rPr lang="en-US" altLang="zh-CN" dirty="0"/>
              <a:t>27</a:t>
            </a:r>
            <a:r>
              <a:rPr lang="zh-CN" altLang="en-US" dirty="0"/>
              <a:t>页的非叶节点定义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41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2737630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Ordered Indexing </a:t>
            </a:r>
            <a:r>
              <a:rPr lang="zh-CN" altLang="en-US" dirty="0"/>
              <a:t>：顺序索引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72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620578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84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2376522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/>
              <a:t>Existence bitmap </a:t>
            </a:r>
            <a:r>
              <a:rPr lang="zh-CN" altLang="en-US" sz="1200" dirty="0"/>
              <a:t>：存在位图，如记录存在相应位取值为</a:t>
            </a:r>
            <a:r>
              <a:rPr lang="en-US" altLang="zh-CN" sz="1200" dirty="0"/>
              <a:t>1</a:t>
            </a:r>
            <a:r>
              <a:rPr lang="zh-CN" altLang="en-US" sz="1200" dirty="0"/>
              <a:t>，反之为</a:t>
            </a:r>
            <a:r>
              <a:rPr lang="en-US" altLang="zh-CN" sz="1200" dirty="0"/>
              <a:t>0</a:t>
            </a:r>
            <a:r>
              <a:rPr lang="zh-CN" altLang="en-US" sz="1200" dirty="0"/>
              <a:t>。如记录存在但</a:t>
            </a:r>
            <a:r>
              <a:rPr lang="en-US" altLang="zh-CN" sz="1200" dirty="0"/>
              <a:t>A</a:t>
            </a:r>
            <a:r>
              <a:rPr lang="zh-CN" altLang="en-US" sz="1200" dirty="0"/>
              <a:t>属性取值为</a:t>
            </a:r>
            <a:r>
              <a:rPr lang="en-US" altLang="zh-CN" sz="1200" dirty="0"/>
              <a:t>Null</a:t>
            </a:r>
            <a:r>
              <a:rPr lang="zh-CN" altLang="en-US" sz="1200" dirty="0"/>
              <a:t>，则需要用</a:t>
            </a:r>
            <a:r>
              <a:rPr lang="en-US" altLang="zh-CN" sz="1200" dirty="0"/>
              <a:t>NOT bitmap-A-Null</a:t>
            </a:r>
            <a:r>
              <a:rPr lang="zh-CN" altLang="en-US" sz="1200" dirty="0"/>
              <a:t>来补全位图检索语句：</a:t>
            </a:r>
            <a:r>
              <a:rPr lang="en-US" altLang="zh-CN" sz="1200" dirty="0"/>
              <a:t>not(A=v)</a:t>
            </a:r>
            <a:r>
              <a:rPr lang="zh-CN" altLang="en-US" sz="1200" dirty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85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111165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0" y="-20538"/>
            <a:ext cx="9144000" cy="637580"/>
          </a:xfrm>
          <a:prstGeom prst="rect">
            <a:avLst/>
          </a:prstGeom>
          <a:solidFill>
            <a:srgbClr val="0070C0"/>
          </a:solidFill>
        </p:spPr>
        <p:txBody>
          <a:bodyPr rtlCol="0">
            <a:noAutofit/>
          </a:bodyPr>
          <a:lstStyle>
            <a:lvl1pPr algn="l">
              <a:defRPr sz="3200" b="1" baseline="0">
                <a:solidFill>
                  <a:schemeClr val="bg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>
            <a:lvl1pPr>
              <a:spcBef>
                <a:spcPts val="600"/>
              </a:spcBef>
              <a:defRPr sz="24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  <a:lvl2pPr>
              <a:spcBef>
                <a:spcPts val="600"/>
              </a:spcBef>
              <a:defRPr sz="20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2pPr>
            <a:lvl3pPr>
              <a:spcBef>
                <a:spcPts val="600"/>
              </a:spcBef>
              <a:defRPr sz="18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3pPr>
            <a:lvl4pPr>
              <a:spcBef>
                <a:spcPts val="600"/>
              </a:spcBef>
              <a:defRPr sz="16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4pPr>
            <a:lvl5pPr>
              <a:spcBef>
                <a:spcPts val="600"/>
              </a:spcBef>
              <a:defRPr sz="16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569259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64540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197C38C-D414-4266-B351-EA95CA0D0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76375"/>
            <a:ext cx="9142810" cy="1626394"/>
          </a:xfrm>
          <a:prstGeom prst="rect">
            <a:avLst/>
          </a:prstGeom>
          <a:solidFill>
            <a:srgbClr val="064BB2"/>
          </a:solidFill>
          <a:ln>
            <a:noFill/>
          </a:ln>
          <a:effectLst>
            <a:outerShdw blurRad="50800" dist="38100" dir="5400000" algn="t" rotWithShape="0">
              <a:srgbClr val="000000">
                <a:alpha val="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713" dirty="0">
              <a:solidFill>
                <a:schemeClr val="bg1"/>
              </a:solidFill>
              <a:latin typeface="Calibri" panose="020F0502020204030204"/>
              <a:cs typeface="宋体" panose="02010600030101010101" pitchFamily="2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4178105" y="2029612"/>
            <a:ext cx="4683967" cy="519113"/>
          </a:xfrm>
        </p:spPr>
        <p:txBody>
          <a:bodyPr/>
          <a:lstStyle>
            <a:lvl1pPr algn="ctr">
              <a:defRPr sz="2700" b="1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9">
            <a:extLst>
              <a:ext uri="{FF2B5EF4-FFF2-40B4-BE49-F238E27FC236}">
                <a16:creationId xmlns:a16="http://schemas.microsoft.com/office/drawing/2014/main" id="{3CDAD826-20E7-4438-B5DD-D3AA4ED6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97116" y="2744391"/>
            <a:ext cx="1503759" cy="273844"/>
          </a:xfrm>
        </p:spPr>
        <p:txBody>
          <a:bodyPr/>
          <a:lstStyle>
            <a:lvl1pPr algn="r">
              <a:defRPr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5EFD6F6-2F20-4B1A-A667-B95C1338A7FC}" type="datetime5">
              <a:rPr lang="zh-CN" altLang="en-US"/>
              <a:pPr>
                <a:defRPr/>
              </a:pPr>
              <a:t>2025/4/25</a:t>
            </a:fld>
            <a:endParaRPr lang="zh-CN" altLang="en-US" dirty="0"/>
          </a:p>
        </p:txBody>
      </p:sp>
      <p:sp>
        <p:nvSpPr>
          <p:cNvPr id="5" name="页脚占位符 1">
            <a:extLst>
              <a:ext uri="{FF2B5EF4-FFF2-40B4-BE49-F238E27FC236}">
                <a16:creationId xmlns:a16="http://schemas.microsoft.com/office/drawing/2014/main" id="{9AB88EAB-A34D-4476-93DF-3FF872F77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A2800A24-BF08-446B-9251-F108E901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8CD63E-90B4-4137-BE3E-A082E383778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946766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E5853F-F8D3-4201-B7D6-19EE6B4D4F23}"/>
              </a:ext>
            </a:extLst>
          </p:cNvPr>
          <p:cNvSpPr txBox="1"/>
          <p:nvPr userDrawn="1"/>
        </p:nvSpPr>
        <p:spPr>
          <a:xfrm>
            <a:off x="8460432" y="4803998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C913308-F349-4B6D-A68A-DD1791B4A57B}" type="slidenum">
              <a:rPr lang="zh-CN" alt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‹#›</a:t>
            </a:fld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2" r:id="rId2"/>
    <p:sldLayoutId id="2147483733" r:id="rId3"/>
  </p:sldLayoutIdLst>
  <p:transition>
    <p:fade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ts val="600"/>
        </a:spcBef>
        <a:spcAft>
          <a:spcPct val="0"/>
        </a:spcAft>
        <a:buChar char="•"/>
        <a:defRPr sz="3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ts val="600"/>
        </a:spcBef>
        <a:spcAft>
          <a:spcPct val="0"/>
        </a:spcAft>
        <a:buChar char="–"/>
        <a:defRPr sz="28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ts val="6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ts val="6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ts val="6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emf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emf"/><Relationship Id="rId4" Type="http://schemas.openxmlformats.org/officeDocument/2006/relationships/image" Target="../media/image20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0.png"/><Relationship Id="rId4" Type="http://schemas.openxmlformats.org/officeDocument/2006/relationships/image" Target="../media/image2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A77F71E-B605-4820-B913-56173A09A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605" y="1851670"/>
            <a:ext cx="9156340" cy="1116356"/>
          </a:xfrm>
          <a:prstGeom prst="rect">
            <a:avLst/>
          </a:prstGeom>
          <a:noFill/>
          <a:ln>
            <a:noFill/>
          </a:ln>
          <a:extLst/>
        </p:spPr>
        <p:txBody>
          <a:bodyPr lIns="92075" tIns="46038" rIns="92075" bIns="46038" anchor="ctr"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algn="ctr">
              <a:spcBef>
                <a:spcPts val="600"/>
              </a:spcBef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Indexing and Hashing</a:t>
            </a:r>
            <a:endParaRPr lang="en-US" altLang="zh-CN" sz="2800" b="1" dirty="0"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defRPr/>
            </a:pP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Chapter 14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B0D7027-3D69-4E35-939E-995F28B50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244417"/>
            <a:ext cx="9156340" cy="1103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buClr>
                <a:srgbClr val="800080"/>
              </a:buClr>
              <a:buSzPct val="90000"/>
            </a:pPr>
            <a:r>
              <a:rPr lang="en-US" altLang="zh-CN" sz="1800" dirty="0" err="1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Yichao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Zhang</a:t>
            </a:r>
          </a:p>
          <a:p>
            <a:pPr algn="ctr">
              <a:buClr>
                <a:srgbClr val="800080"/>
              </a:buClr>
              <a:buSzPct val="90000"/>
            </a:pPr>
            <a:r>
              <a:rPr lang="en-GB" altLang="zh-CN" sz="1800" dirty="0"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Email: </a:t>
            </a:r>
            <a:r>
              <a:rPr lang="en-US" altLang="zh-CN" sz="1800" dirty="0" err="1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yichaozhang</a:t>
            </a:r>
            <a:r>
              <a:rPr lang="en-GB" altLang="zh-CN" sz="1800" dirty="0"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@tongji.edu.cn</a:t>
            </a:r>
          </a:p>
          <a:p>
            <a:pPr algn="ctr">
              <a:buClr>
                <a:srgbClr val="800080"/>
              </a:buClr>
              <a:buSzPct val="90000"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Department of Computer Science and Technology</a:t>
            </a:r>
          </a:p>
          <a:p>
            <a:pPr algn="ctr">
              <a:buClr>
                <a:srgbClr val="800080"/>
              </a:buClr>
              <a:buSzPct val="90000"/>
            </a:pPr>
            <a:r>
              <a:rPr lang="en-US" altLang="zh-CN" sz="180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Tongji University</a:t>
            </a:r>
          </a:p>
          <a:p>
            <a:pPr algn="ctr">
              <a:buClr>
                <a:srgbClr val="800080"/>
              </a:buClr>
              <a:buSzPct val="90000"/>
            </a:pPr>
            <a:endParaRPr lang="de-CH" sz="1800" dirty="0">
              <a:solidFill>
                <a:srgbClr val="000000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3926E56-11E2-4B2B-AA1C-5D1F684EF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" y="78916"/>
            <a:ext cx="2448272" cy="673776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32F6A10C-3978-4571-8E11-512EBE350881}"/>
              </a:ext>
            </a:extLst>
          </p:cNvPr>
          <p:cNvGrpSpPr/>
          <p:nvPr/>
        </p:nvGrpSpPr>
        <p:grpSpPr>
          <a:xfrm>
            <a:off x="6820780" y="34612"/>
            <a:ext cx="2323220" cy="626967"/>
            <a:chOff x="5853448" y="-22066"/>
            <a:chExt cx="2967025" cy="835954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BF37CBE-EBFF-4522-B25D-114F7C120EEF}"/>
                </a:ext>
              </a:extLst>
            </p:cNvPr>
            <p:cNvSpPr txBox="1"/>
            <p:nvPr/>
          </p:nvSpPr>
          <p:spPr>
            <a:xfrm>
              <a:off x="5853448" y="25982"/>
              <a:ext cx="2967025" cy="787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rgbClr val="0070C0"/>
                  </a:solidFill>
                </a:rPr>
                <a:t>             ADMIS Lab</a:t>
              </a:r>
              <a:endParaRPr lang="en-US" altLang="zh-CN" sz="1200" b="1" dirty="0">
                <a:solidFill>
                  <a:srgbClr val="0070C0"/>
                </a:solidFill>
              </a:endParaRPr>
            </a:p>
            <a:p>
              <a:r>
                <a:rPr lang="zh-CN" altLang="en-US" sz="1200" b="1" dirty="0">
                  <a:solidFill>
                    <a:srgbClr val="0070C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先进数据与机器智能系统实验室</a:t>
              </a:r>
            </a:p>
          </p:txBody>
        </p:sp>
        <p:pic>
          <p:nvPicPr>
            <p:cNvPr id="9" name="图形 8" descr="原子">
              <a:extLst>
                <a:ext uri="{FF2B5EF4-FFF2-40B4-BE49-F238E27FC236}">
                  <a16:creationId xmlns:a16="http://schemas.microsoft.com/office/drawing/2014/main" id="{366732EC-C279-4260-B05C-265B78B27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51999" y="-22066"/>
              <a:ext cx="1189248" cy="5246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4596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843558"/>
            <a:ext cx="8568952" cy="380507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z="2000" b="1" dirty="0">
                <a:solidFill>
                  <a:srgbClr val="C00000"/>
                </a:solidFill>
              </a:rPr>
              <a:t>Basic Concepts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Ordered Indexing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B</a:t>
            </a:r>
            <a:r>
              <a:rPr lang="en-US" altLang="zh-CN" sz="2000" baseline="30000" dirty="0"/>
              <a:t>+</a:t>
            </a:r>
            <a:r>
              <a:rPr lang="en-US" altLang="zh-CN" sz="2000" dirty="0"/>
              <a:t>-tree &amp; B-tree Indices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Static &amp; Dynamic Hashing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Ordered Indexing vs. Hashing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Index Definition in SQL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Multiple-key Access</a:t>
            </a:r>
          </a:p>
        </p:txBody>
      </p:sp>
    </p:spTree>
    <p:extLst>
      <p:ext uri="{BB962C8B-B14F-4D97-AF65-F5344CB8AC3E}">
        <p14:creationId xmlns:p14="http://schemas.microsoft.com/office/powerpoint/2010/main" val="414667678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051663-1634-436A-8DD3-D8FDF1A1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Index vs. Data (</a:t>
            </a:r>
            <a:r>
              <a:rPr lang="zh-CN" altLang="en-US" dirty="0"/>
              <a:t>索引块与数据块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B1D780-6EE6-4F1C-BD75-5407DF0B6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 sz="1800" b="1" dirty="0"/>
              <a:t>索引可提高检索效率，其结构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二叉树、</a:t>
            </a:r>
            <a:r>
              <a:rPr lang="en-US" altLang="zh-CN" sz="1800" b="1" dirty="0"/>
              <a:t>B</a:t>
            </a:r>
            <a:r>
              <a:rPr lang="en-US" altLang="zh-CN" sz="1800" b="1" baseline="30000" dirty="0"/>
              <a:t>+</a:t>
            </a:r>
            <a:r>
              <a:rPr lang="zh-CN" altLang="en-US" sz="1800" b="1" dirty="0"/>
              <a:t>树等</a:t>
            </a:r>
            <a:r>
              <a:rPr lang="en-US" altLang="zh-CN" sz="1800" b="1" dirty="0"/>
              <a:t>)</a:t>
            </a:r>
            <a:r>
              <a:rPr lang="zh-CN" altLang="en-US" sz="1800" b="1" dirty="0"/>
              <a:t>占用空间小，访问速度快</a:t>
            </a:r>
          </a:p>
          <a:p>
            <a:pPr lvl="1">
              <a:spcBef>
                <a:spcPts val="1200"/>
              </a:spcBef>
            </a:pPr>
            <a:r>
              <a:rPr lang="zh-CN" altLang="en-US" sz="1600" dirty="0"/>
              <a:t>如果表中一条记录在磁盘上占用 </a:t>
            </a:r>
            <a:r>
              <a:rPr lang="en-US" altLang="zh-CN" sz="1600" dirty="0"/>
              <a:t>1000</a:t>
            </a:r>
            <a:r>
              <a:rPr lang="zh-CN" altLang="en-US" sz="1600" dirty="0"/>
              <a:t>字节，对其中</a:t>
            </a:r>
            <a:r>
              <a:rPr lang="en-US" altLang="zh-CN" sz="1600" dirty="0"/>
              <a:t>10</a:t>
            </a:r>
            <a:r>
              <a:rPr lang="zh-CN" altLang="en-US" sz="1600" dirty="0"/>
              <a:t>字节的一个字段建立索引，那么该记录对应的索引项的大小只有</a:t>
            </a:r>
            <a:r>
              <a:rPr lang="en-US" altLang="zh-CN" sz="1600" dirty="0"/>
              <a:t>10</a:t>
            </a:r>
            <a:r>
              <a:rPr lang="zh-CN" altLang="en-US" sz="1600" dirty="0"/>
              <a:t>字节。如</a:t>
            </a:r>
            <a:r>
              <a:rPr lang="en-US" altLang="zh-CN" sz="1600" dirty="0"/>
              <a:t>SQL Server</a:t>
            </a:r>
            <a:r>
              <a:rPr lang="zh-CN" altLang="en-US" sz="1600" dirty="0"/>
              <a:t>的最小空间分配单元是“页</a:t>
            </a:r>
            <a:r>
              <a:rPr lang="en-US" altLang="zh-CN" sz="1600" dirty="0"/>
              <a:t>Page”</a:t>
            </a:r>
            <a:r>
              <a:rPr lang="zh-CN" altLang="en-US" sz="1600" dirty="0"/>
              <a:t>，一个页在磁盘上占用</a:t>
            </a:r>
            <a:r>
              <a:rPr lang="en-US" altLang="zh-CN" sz="1600" dirty="0"/>
              <a:t>8K</a:t>
            </a:r>
            <a:r>
              <a:rPr lang="zh-CN" altLang="en-US" sz="1600" dirty="0"/>
              <a:t>空间，可以存储上述记录</a:t>
            </a:r>
            <a:r>
              <a:rPr lang="en-US" altLang="zh-CN" sz="1600" dirty="0"/>
              <a:t>8</a:t>
            </a:r>
            <a:r>
              <a:rPr lang="zh-CN" altLang="en-US" sz="1600" dirty="0"/>
              <a:t>条，但可以存储索引</a:t>
            </a:r>
            <a:r>
              <a:rPr lang="en-US" altLang="zh-CN" sz="1600" dirty="0"/>
              <a:t>800</a:t>
            </a:r>
            <a:r>
              <a:rPr lang="zh-CN" altLang="en-US" sz="1600" dirty="0"/>
              <a:t>条</a:t>
            </a:r>
          </a:p>
          <a:p>
            <a:pPr lvl="1">
              <a:spcBef>
                <a:spcPts val="1200"/>
              </a:spcBef>
            </a:pPr>
            <a:r>
              <a:rPr lang="zh-CN" altLang="en-US" sz="1600" dirty="0"/>
              <a:t>从一个有</a:t>
            </a:r>
            <a:r>
              <a:rPr lang="en-US" altLang="zh-CN" sz="1600" dirty="0"/>
              <a:t>8000</a:t>
            </a:r>
            <a:r>
              <a:rPr lang="zh-CN" altLang="en-US" sz="1600" dirty="0"/>
              <a:t>条记录表中检索符合某个条件的记录，如没有索引，可能需要遍历</a:t>
            </a:r>
            <a:r>
              <a:rPr lang="en-US" altLang="zh-CN" sz="1600" dirty="0"/>
              <a:t>8000</a:t>
            </a:r>
            <a:r>
              <a:rPr lang="zh-CN" altLang="en-US" sz="1600" dirty="0"/>
              <a:t>条</a:t>
            </a:r>
            <a:r>
              <a:rPr lang="en-US" altLang="zh-CN" sz="1600" dirty="0"/>
              <a:t>×1000</a:t>
            </a:r>
            <a:r>
              <a:rPr lang="zh-CN" altLang="en-US" sz="1600" dirty="0"/>
              <a:t>字节</a:t>
            </a:r>
            <a:r>
              <a:rPr lang="en-US" altLang="zh-CN" sz="1600" dirty="0"/>
              <a:t>/8K</a:t>
            </a:r>
            <a:r>
              <a:rPr lang="zh-CN" altLang="en-US" sz="1600" dirty="0"/>
              <a:t>字节</a:t>
            </a:r>
            <a:r>
              <a:rPr lang="en-US" altLang="zh-CN" sz="1600" dirty="0"/>
              <a:t>=</a:t>
            </a:r>
            <a:r>
              <a:rPr lang="en-US" altLang="zh-CN" sz="1600" b="1" dirty="0">
                <a:solidFill>
                  <a:srgbClr val="C00000"/>
                </a:solidFill>
              </a:rPr>
              <a:t>1000</a:t>
            </a:r>
            <a:r>
              <a:rPr lang="zh-CN" altLang="en-US" sz="1600" dirty="0"/>
              <a:t>个页面才能找到结果。如果在检索字段上有上述索引，则可以在</a:t>
            </a:r>
            <a:r>
              <a:rPr lang="en-US" altLang="zh-CN" sz="1600" dirty="0"/>
              <a:t>8000</a:t>
            </a:r>
            <a:r>
              <a:rPr lang="zh-CN" altLang="en-US" sz="1600" dirty="0"/>
              <a:t>条</a:t>
            </a:r>
            <a:r>
              <a:rPr lang="en-US" altLang="zh-CN" sz="1600" dirty="0"/>
              <a:t>×10</a:t>
            </a:r>
            <a:r>
              <a:rPr lang="zh-CN" altLang="en-US" sz="1600" dirty="0"/>
              <a:t>字节</a:t>
            </a:r>
            <a:r>
              <a:rPr lang="en-US" altLang="zh-CN" sz="1600" dirty="0"/>
              <a:t>/8K</a:t>
            </a:r>
            <a:r>
              <a:rPr lang="zh-CN" altLang="en-US" sz="1600" dirty="0"/>
              <a:t>字节</a:t>
            </a:r>
            <a:r>
              <a:rPr lang="en-US" altLang="zh-CN" sz="1600" dirty="0"/>
              <a:t>=</a:t>
            </a:r>
            <a:r>
              <a:rPr lang="en-US" altLang="zh-CN" sz="1600" b="1" dirty="0">
                <a:solidFill>
                  <a:srgbClr val="C00000"/>
                </a:solidFill>
              </a:rPr>
              <a:t>10</a:t>
            </a:r>
            <a:r>
              <a:rPr lang="zh-CN" altLang="en-US" sz="1600" dirty="0"/>
              <a:t>个页面中检索到满足条件的索引块，然后根据索引块上的指针逐一找到结果数据块，这样</a:t>
            </a:r>
            <a:r>
              <a:rPr lang="en-US" altLang="zh-CN" sz="1600" dirty="0"/>
              <a:t>I/O</a:t>
            </a:r>
            <a:r>
              <a:rPr lang="zh-CN" altLang="en-US" sz="1600" dirty="0"/>
              <a:t>访问量要少很多</a:t>
            </a:r>
          </a:p>
          <a:p>
            <a:pPr>
              <a:spcBef>
                <a:spcPts val="1200"/>
              </a:spcBef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6497631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74B8A8-262D-4481-BC4D-406EA9EB2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Basic Concepts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BA0A7C-F0C5-4367-84F2-C48856B22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2000" b="1" dirty="0"/>
              <a:t>Indexing mechanisms 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solidFill>
                  <a:srgbClr val="C00000"/>
                </a:solidFill>
              </a:rPr>
              <a:t>speed up </a:t>
            </a:r>
            <a:r>
              <a:rPr lang="en-US" altLang="zh-CN" sz="1800" dirty="0"/>
              <a:t>the access to desired data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/>
              <a:t>index files are typically much smaller than the original file </a:t>
            </a:r>
          </a:p>
          <a:p>
            <a:pPr>
              <a:spcBef>
                <a:spcPts val="600"/>
              </a:spcBef>
            </a:pPr>
            <a:r>
              <a:rPr lang="en-US" altLang="zh-CN" sz="2000" b="1" dirty="0">
                <a:solidFill>
                  <a:srgbClr val="C00000"/>
                </a:solidFill>
              </a:rPr>
              <a:t>Search Key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搜索码</a:t>
            </a:r>
            <a:r>
              <a:rPr lang="en-US" altLang="zh-CN" sz="2000" b="1" dirty="0"/>
              <a:t>/</a:t>
            </a:r>
            <a:r>
              <a:rPr lang="zh-CN" altLang="en-US" sz="2000" b="1" dirty="0"/>
              <a:t>关键字</a:t>
            </a:r>
            <a:r>
              <a:rPr lang="en-US" altLang="zh-CN" sz="2000" b="1" dirty="0"/>
              <a:t>) 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/>
              <a:t>the set of attributes used to look up records in a file/table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/>
              <a:t>an index file consists of records (called </a:t>
            </a:r>
            <a:r>
              <a:rPr lang="en-US" altLang="zh-CN" sz="1800" dirty="0">
                <a:solidFill>
                  <a:srgbClr val="C00000"/>
                </a:solidFill>
              </a:rPr>
              <a:t>index entries, </a:t>
            </a:r>
            <a:r>
              <a:rPr lang="zh-CN" altLang="en-US" sz="1800" dirty="0">
                <a:solidFill>
                  <a:srgbClr val="C00000"/>
                </a:solidFill>
              </a:rPr>
              <a:t>索引项</a:t>
            </a:r>
            <a:r>
              <a:rPr lang="en-US" altLang="zh-CN" sz="1800" dirty="0"/>
              <a:t>) of the form (</a:t>
            </a:r>
            <a:r>
              <a:rPr lang="en-US" altLang="zh-CN" sz="1800" dirty="0">
                <a:solidFill>
                  <a:srgbClr val="C00000"/>
                </a:solidFill>
              </a:rPr>
              <a:t>search-key</a:t>
            </a:r>
            <a:r>
              <a:rPr lang="en-US" altLang="zh-CN" sz="1800" dirty="0"/>
              <a:t>, </a:t>
            </a:r>
            <a:r>
              <a:rPr lang="en-US" altLang="zh-CN" sz="1800" dirty="0">
                <a:solidFill>
                  <a:srgbClr val="C00000"/>
                </a:solidFill>
              </a:rPr>
              <a:t>pointer</a:t>
            </a:r>
            <a:r>
              <a:rPr lang="en-US" altLang="zh-CN" sz="1800" dirty="0"/>
              <a:t>)</a:t>
            </a:r>
          </a:p>
          <a:p>
            <a:pPr>
              <a:spcBef>
                <a:spcPts val="600"/>
              </a:spcBef>
            </a:pPr>
            <a:r>
              <a:rPr lang="en-US" altLang="zh-CN" sz="2000" b="1" dirty="0"/>
              <a:t>Two kinds of indices</a:t>
            </a:r>
          </a:p>
          <a:p>
            <a:pPr lvl="1">
              <a:spcBef>
                <a:spcPts val="600"/>
              </a:spcBef>
            </a:pPr>
            <a:r>
              <a:rPr lang="en-US" altLang="zh-CN" sz="1800" b="1" dirty="0">
                <a:solidFill>
                  <a:srgbClr val="C00000"/>
                </a:solidFill>
              </a:rPr>
              <a:t>ordered index (</a:t>
            </a:r>
            <a:r>
              <a:rPr lang="zh-CN" altLang="en-US" sz="1800" b="1" dirty="0">
                <a:solidFill>
                  <a:srgbClr val="C00000"/>
                </a:solidFill>
              </a:rPr>
              <a:t>顺序索引</a:t>
            </a:r>
            <a:r>
              <a:rPr lang="en-US" altLang="zh-CN" sz="1800" b="1" dirty="0">
                <a:solidFill>
                  <a:srgbClr val="C00000"/>
                </a:solidFill>
              </a:rPr>
              <a:t>):  </a:t>
            </a:r>
            <a:r>
              <a:rPr lang="en-US" altLang="zh-CN" sz="1800" dirty="0"/>
              <a:t>search keys are stored in sorted order</a:t>
            </a:r>
            <a:endParaRPr lang="zh-CN" altLang="en-US" sz="1800" dirty="0"/>
          </a:p>
          <a:p>
            <a:pPr lvl="1">
              <a:spcBef>
                <a:spcPts val="600"/>
              </a:spcBef>
            </a:pPr>
            <a:r>
              <a:rPr lang="en-US" altLang="zh-CN" sz="1800" b="1" dirty="0">
                <a:solidFill>
                  <a:srgbClr val="C00000"/>
                </a:solidFill>
              </a:rPr>
              <a:t>hash index (</a:t>
            </a:r>
            <a:r>
              <a:rPr lang="zh-CN" altLang="en-US" sz="1800" b="1" dirty="0">
                <a:solidFill>
                  <a:srgbClr val="C00000"/>
                </a:solidFill>
              </a:rPr>
              <a:t>散列索引</a:t>
            </a:r>
            <a:r>
              <a:rPr lang="en-US" altLang="zh-CN" sz="1800" b="1" dirty="0">
                <a:solidFill>
                  <a:srgbClr val="C00000"/>
                </a:solidFill>
              </a:rPr>
              <a:t>):  </a:t>
            </a:r>
            <a:r>
              <a:rPr lang="en-US" altLang="zh-CN" sz="1800" dirty="0"/>
              <a:t>search keys are distributed uniformly across “buckets” using a “hash function”</a:t>
            </a:r>
            <a:endParaRPr lang="zh-CN" altLang="en-US" sz="1800" dirty="0"/>
          </a:p>
          <a:p>
            <a:pPr>
              <a:spcBef>
                <a:spcPts val="600"/>
              </a:spcBef>
            </a:pP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9107623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A5BDFA-0681-401D-B1EF-9047F5504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Index Evaluation Metrics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0C5BDB-4554-43E4-A6C6-0065BB3B6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424936" cy="380507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sz="1800" b="1" dirty="0"/>
              <a:t>数据访问类型</a:t>
            </a:r>
            <a:endParaRPr lang="en-US" altLang="zh-CN" sz="1800" b="1" dirty="0"/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能支持的访问类型，如找到具有特定属性值的所有记录（</a:t>
            </a:r>
            <a:r>
              <a:rPr lang="en-US" altLang="zh-CN" sz="1600" dirty="0"/>
              <a:t>Equal Query</a:t>
            </a:r>
            <a:r>
              <a:rPr lang="zh-CN" altLang="en-US" sz="1600" dirty="0"/>
              <a:t>等值查询）、找到其属性值在某个特定范围内的所有记录</a:t>
            </a:r>
            <a:r>
              <a:rPr lang="en-US" altLang="zh-CN" sz="1600" dirty="0"/>
              <a:t>(Range Query</a:t>
            </a:r>
            <a:r>
              <a:rPr lang="zh-CN" altLang="en-US" sz="1600" dirty="0"/>
              <a:t>范围查询</a:t>
            </a:r>
            <a:r>
              <a:rPr lang="en-US" altLang="zh-CN" sz="1600" dirty="0"/>
              <a:t>)</a:t>
            </a:r>
          </a:p>
          <a:p>
            <a:pPr>
              <a:spcBef>
                <a:spcPts val="600"/>
              </a:spcBef>
            </a:pPr>
            <a:r>
              <a:rPr lang="zh-CN" altLang="en-US" sz="1800" b="1" dirty="0"/>
              <a:t>数据访问时间</a:t>
            </a:r>
            <a:endParaRPr lang="en-US" altLang="zh-CN" sz="1800" b="1" dirty="0"/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在查询中使用索引找到一个特定数据所需时间</a:t>
            </a:r>
          </a:p>
          <a:p>
            <a:pPr>
              <a:spcBef>
                <a:spcPts val="600"/>
              </a:spcBef>
            </a:pPr>
            <a:r>
              <a:rPr lang="zh-CN" altLang="en-US" sz="1800" b="1" dirty="0"/>
              <a:t>数据插入时间</a:t>
            </a:r>
            <a:endParaRPr lang="en-US" altLang="zh-CN" sz="1800" b="1" dirty="0"/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插入一个新数据项时间，包括</a:t>
            </a:r>
            <a:r>
              <a:rPr lang="en-US" altLang="zh-CN" sz="1600" dirty="0"/>
              <a:t>: </a:t>
            </a:r>
            <a:r>
              <a:rPr lang="zh-CN" altLang="en-US" sz="1600" dirty="0"/>
              <a:t>找到插入位置时间 </a:t>
            </a:r>
            <a:r>
              <a:rPr lang="en-US" altLang="zh-CN" sz="1600" dirty="0"/>
              <a:t>+ </a:t>
            </a:r>
            <a:r>
              <a:rPr lang="zh-CN" altLang="en-US" sz="1600" dirty="0"/>
              <a:t>更新索引结构时间</a:t>
            </a:r>
            <a:endParaRPr lang="zh-CN" altLang="en-US" sz="1400" dirty="0"/>
          </a:p>
          <a:p>
            <a:pPr>
              <a:spcBef>
                <a:spcPts val="600"/>
              </a:spcBef>
            </a:pPr>
            <a:r>
              <a:rPr lang="zh-CN" altLang="en-US" sz="1800" b="1" dirty="0"/>
              <a:t>数据删除时间</a:t>
            </a:r>
            <a:endParaRPr lang="en-US" altLang="zh-CN" sz="1800" b="1" dirty="0"/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删除一个数据项时间，包括</a:t>
            </a:r>
            <a:r>
              <a:rPr lang="en-US" altLang="zh-CN" sz="1600" dirty="0"/>
              <a:t>: </a:t>
            </a:r>
            <a:r>
              <a:rPr lang="zh-CN" altLang="en-US" sz="1600" dirty="0"/>
              <a:t>找到待删除项时间 </a:t>
            </a:r>
            <a:r>
              <a:rPr lang="en-US" altLang="zh-CN" sz="1600" dirty="0"/>
              <a:t>+ </a:t>
            </a:r>
            <a:r>
              <a:rPr lang="zh-CN" altLang="en-US" sz="1600" dirty="0"/>
              <a:t>更新索引结构时间</a:t>
            </a:r>
            <a:endParaRPr lang="zh-CN" altLang="en-US" sz="1400" dirty="0"/>
          </a:p>
          <a:p>
            <a:pPr>
              <a:spcBef>
                <a:spcPts val="600"/>
              </a:spcBef>
            </a:pPr>
            <a:r>
              <a:rPr lang="zh-CN" altLang="en-US" sz="1800" b="1" dirty="0"/>
              <a:t>存储空间开销</a:t>
            </a:r>
            <a:endParaRPr lang="en-US" altLang="zh-CN" sz="1800" b="1" dirty="0"/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索引结构占用的额外存储空间</a:t>
            </a:r>
            <a:endParaRPr lang="zh-CN" altLang="en-US" sz="1400" dirty="0"/>
          </a:p>
          <a:p>
            <a:pPr>
              <a:spcBef>
                <a:spcPts val="600"/>
              </a:spcBef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5941093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843558"/>
            <a:ext cx="8568952" cy="380507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z="2000" dirty="0"/>
              <a:t>Basic Concepts</a:t>
            </a:r>
          </a:p>
          <a:p>
            <a:pPr>
              <a:spcBef>
                <a:spcPts val="1200"/>
              </a:spcBef>
            </a:pPr>
            <a:r>
              <a:rPr lang="en-US" altLang="zh-CN" sz="2000" b="1" dirty="0">
                <a:solidFill>
                  <a:srgbClr val="C00000"/>
                </a:solidFill>
              </a:rPr>
              <a:t>Ordered Indexing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B</a:t>
            </a:r>
            <a:r>
              <a:rPr lang="en-US" altLang="zh-CN" sz="2000" baseline="30000" dirty="0"/>
              <a:t>+</a:t>
            </a:r>
            <a:r>
              <a:rPr lang="en-US" altLang="zh-CN" sz="2000" dirty="0"/>
              <a:t>-tree &amp; B-tree Indices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Static &amp; Dynamic Hashing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Ordered Indexing vs. Hashing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Index Definition in SQL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Multiple-key Access</a:t>
            </a:r>
          </a:p>
        </p:txBody>
      </p:sp>
    </p:spTree>
    <p:extLst>
      <p:ext uri="{BB962C8B-B14F-4D97-AF65-F5344CB8AC3E}">
        <p14:creationId xmlns:p14="http://schemas.microsoft.com/office/powerpoint/2010/main" val="49258003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20E792-DB16-4146-8F8D-808CED783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Ordered Indexing-</a:t>
            </a:r>
            <a:r>
              <a:rPr lang="zh-CN" altLang="en-US" dirty="0"/>
              <a:t>顺序索引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8DF15E-91E7-4196-A3D2-DC2C49742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352928" cy="380507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2000" b="1" dirty="0"/>
              <a:t>Ordered index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Index entries are sorted on the search key value  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Primary index and secondary index</a:t>
            </a:r>
          </a:p>
          <a:p>
            <a:pPr>
              <a:spcBef>
                <a:spcPts val="600"/>
              </a:spcBef>
            </a:pPr>
            <a:r>
              <a:rPr lang="en-US" altLang="zh-CN" sz="1800" b="1" dirty="0">
                <a:solidFill>
                  <a:srgbClr val="C00000"/>
                </a:solidFill>
              </a:rPr>
              <a:t>Primary index 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主索引</a:t>
            </a:r>
            <a:r>
              <a:rPr lang="en-US" altLang="zh-CN" sz="1800" b="1" dirty="0"/>
              <a:t>),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clustering index </a:t>
            </a:r>
            <a:r>
              <a:rPr lang="zh-CN" altLang="en-US" sz="1800" b="1" dirty="0"/>
              <a:t>聚集索引</a:t>
            </a:r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包含记录的文件按某个搜索码指定的顺序排序，该搜索码对应的索引称为</a:t>
            </a:r>
            <a:r>
              <a:rPr lang="en-US" altLang="zh-CN" sz="1600" dirty="0"/>
              <a:t>clustering index</a:t>
            </a:r>
          </a:p>
          <a:p>
            <a:pPr>
              <a:spcBef>
                <a:spcPts val="600"/>
              </a:spcBef>
            </a:pPr>
            <a:r>
              <a:rPr lang="en-US" altLang="zh-CN" sz="1800" b="1" dirty="0">
                <a:solidFill>
                  <a:srgbClr val="C00000"/>
                </a:solidFill>
              </a:rPr>
              <a:t>Secondary index 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辅助索引</a:t>
            </a:r>
            <a:r>
              <a:rPr lang="en-US" altLang="zh-CN" sz="1800" b="1" dirty="0"/>
              <a:t>), no-clustering index (</a:t>
            </a:r>
            <a:r>
              <a:rPr lang="zh-CN" altLang="en-US" sz="1800" b="1" dirty="0"/>
              <a:t>非聚集索引</a:t>
            </a:r>
            <a:r>
              <a:rPr lang="en-US" altLang="zh-CN" sz="1800" b="1" dirty="0"/>
              <a:t>)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An index whose search key specifies an order different from the sequential order of the file</a:t>
            </a:r>
            <a:endParaRPr lang="zh-CN" altLang="en-US" sz="1600" dirty="0"/>
          </a:p>
          <a:p>
            <a:pPr>
              <a:spcBef>
                <a:spcPts val="600"/>
              </a:spcBef>
            </a:pPr>
            <a:r>
              <a:rPr lang="en-US" altLang="zh-CN" sz="1800" b="1" dirty="0"/>
              <a:t>Index-sequential file (</a:t>
            </a:r>
            <a:r>
              <a:rPr lang="zh-CN" altLang="en-US" sz="1800" b="1" dirty="0"/>
              <a:t>索引顺序文件</a:t>
            </a:r>
            <a:r>
              <a:rPr lang="en-US" altLang="zh-CN" sz="1800" b="1" dirty="0"/>
              <a:t>)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Ordered sequential file with a primary index</a:t>
            </a:r>
          </a:p>
          <a:p>
            <a:pPr>
              <a:spcBef>
                <a:spcPts val="600"/>
              </a:spcBef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7489931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3A34C7-A7DC-4924-8D17-B4532E5D1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Primary Index</a:t>
            </a:r>
            <a:r>
              <a:rPr lang="zh-CN" altLang="en-US" dirty="0"/>
              <a:t>：</a:t>
            </a:r>
            <a:r>
              <a:rPr lang="en-US" altLang="zh-CN" dirty="0"/>
              <a:t>Clustering Index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C1CB70-F073-4E45-B578-B78101E2A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800" dirty="0"/>
              <a:t>聚集索引的叶节点就是数据节点，索引顺序就是数据物理存储顺序。一个表最多只能有一个聚集索引</a:t>
            </a:r>
          </a:p>
          <a:p>
            <a:endParaRPr lang="zh-CN" altLang="en-US" sz="1800" dirty="0"/>
          </a:p>
        </p:txBody>
      </p:sp>
      <p:pic>
        <p:nvPicPr>
          <p:cNvPr id="4" name="图片 6" descr="http://files.jb51.net/file_images/article/201202/2012021522200014.jpg">
            <a:extLst>
              <a:ext uri="{FF2B5EF4-FFF2-40B4-BE49-F238E27FC236}">
                <a16:creationId xmlns:a16="http://schemas.microsoft.com/office/drawing/2014/main" id="{FE2137CF-2FB1-49B6-81C4-5DD19C58D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573" y="1995686"/>
            <a:ext cx="4810845" cy="2904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615391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698286-6B39-40E1-8502-6592AE3D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Secondary Index</a:t>
            </a:r>
            <a:r>
              <a:rPr lang="zh-CN" altLang="en-US" dirty="0"/>
              <a:t>：</a:t>
            </a:r>
            <a:r>
              <a:rPr lang="en-US" altLang="zh-CN" dirty="0"/>
              <a:t>Non-clustering Index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9F2252-9A4F-4CF7-8A6F-A3A7F4BC3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800" dirty="0"/>
              <a:t>非聚集索引的叶节点仍然是索引节点，有一个指针指向对应的数据块。非聚集索引顺序与数据物理排列顺序无关</a:t>
            </a:r>
          </a:p>
          <a:p>
            <a:endParaRPr lang="zh-CN" altLang="en-US" sz="1800" dirty="0"/>
          </a:p>
        </p:txBody>
      </p:sp>
      <p:pic>
        <p:nvPicPr>
          <p:cNvPr id="4" name="图片 7" descr="http://files.jb51.net/file_images/article/201202/2012021522200013.jpg">
            <a:extLst>
              <a:ext uri="{FF2B5EF4-FFF2-40B4-BE49-F238E27FC236}">
                <a16:creationId xmlns:a16="http://schemas.microsoft.com/office/drawing/2014/main" id="{3FEE4EC9-D500-4650-954A-53126C030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675668"/>
            <a:ext cx="4881810" cy="2893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079276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C3C319-3376-4916-8DF1-9B3238946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Dense Index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EBAFCB-418E-4AA0-9F40-C67A1D83D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Dense index 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稠密索引</a:t>
            </a:r>
            <a:r>
              <a:rPr lang="en-US" altLang="zh-CN" sz="2000" b="1" dirty="0"/>
              <a:t>)</a:t>
            </a:r>
          </a:p>
          <a:p>
            <a:pPr lvl="1"/>
            <a:r>
              <a:rPr lang="en-US" altLang="zh-CN" sz="1600" dirty="0"/>
              <a:t>Index record appears for every search-key value in the file</a:t>
            </a:r>
          </a:p>
          <a:p>
            <a:endParaRPr lang="zh-CN" altLang="en-US" sz="1800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D46EFD67-F772-4EB4-AFEC-87A13CD0B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" t="22444" r="1115" b="22662"/>
          <a:stretch>
            <a:fillRect/>
          </a:stretch>
        </p:blipFill>
        <p:spPr bwMode="auto">
          <a:xfrm>
            <a:off x="1331640" y="1779662"/>
            <a:ext cx="6233916" cy="2620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421250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A17D7C-6C91-4C61-A10B-ED80C097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Sparse Index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DB214C-4EFE-4279-9C98-A3E67D7F0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Sparse Index 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稀疏索引</a:t>
            </a:r>
            <a:r>
              <a:rPr lang="en-US" altLang="zh-CN" sz="2000" b="1" dirty="0"/>
              <a:t>)</a:t>
            </a:r>
          </a:p>
          <a:p>
            <a:pPr lvl="1"/>
            <a:r>
              <a:rPr lang="en-US" altLang="zh-CN" sz="1600" dirty="0"/>
              <a:t>Contain index records for only some search-key values when records are sequentially ordered on the search-key (</a:t>
            </a:r>
            <a:r>
              <a:rPr lang="en-US" altLang="zh-CN" sz="1600" b="1" dirty="0">
                <a:solidFill>
                  <a:srgbClr val="C00000"/>
                </a:solidFill>
              </a:rPr>
              <a:t>why?</a:t>
            </a:r>
            <a:r>
              <a:rPr lang="en-US" altLang="zh-CN" sz="1600" dirty="0"/>
              <a:t>)</a:t>
            </a:r>
          </a:p>
          <a:p>
            <a:endParaRPr lang="zh-CN" altLang="en-US" sz="1800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F6F7E948-6B65-4750-AEE7-753DC6D17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" t="21043" r="821" b="20781"/>
          <a:stretch>
            <a:fillRect/>
          </a:stretch>
        </p:blipFill>
        <p:spPr bwMode="auto">
          <a:xfrm>
            <a:off x="1403648" y="1995686"/>
            <a:ext cx="5832648" cy="2733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881600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1D69E3-7F16-4B5E-B0BD-C5A78589F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Multilevel Index (</a:t>
            </a:r>
            <a:r>
              <a:rPr lang="zh-CN" altLang="en-US" dirty="0"/>
              <a:t>多级索引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6D9097-EFEC-4F8B-8FEE-1AE046661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2000" dirty="0"/>
              <a:t>If primary index does not fit in memory, data access becomes expensive</a:t>
            </a:r>
          </a:p>
          <a:p>
            <a:pPr>
              <a:spcBef>
                <a:spcPts val="600"/>
              </a:spcBef>
            </a:pPr>
            <a:r>
              <a:rPr lang="en-US" altLang="zh-CN" sz="2000" dirty="0"/>
              <a:t>To reduce the number of disk accesses to index records, treat primary index as a sequential file and construct a sparse index on it</a:t>
            </a:r>
          </a:p>
          <a:p>
            <a:pPr lvl="1">
              <a:spcBef>
                <a:spcPts val="600"/>
              </a:spcBef>
            </a:pPr>
            <a:r>
              <a:rPr lang="en-US" altLang="zh-CN" sz="1800" b="1" dirty="0">
                <a:solidFill>
                  <a:srgbClr val="C00000"/>
                </a:solidFill>
              </a:rPr>
              <a:t>outer index </a:t>
            </a:r>
            <a:r>
              <a:rPr lang="en-US" altLang="zh-CN" sz="1800" dirty="0"/>
              <a:t>– a sparse index of primary index</a:t>
            </a:r>
          </a:p>
          <a:p>
            <a:pPr lvl="1">
              <a:spcBef>
                <a:spcPts val="600"/>
              </a:spcBef>
            </a:pPr>
            <a:r>
              <a:rPr lang="en-US" altLang="zh-CN" sz="1800" b="1" dirty="0">
                <a:solidFill>
                  <a:srgbClr val="C00000"/>
                </a:solidFill>
              </a:rPr>
              <a:t>inner index </a:t>
            </a:r>
            <a:r>
              <a:rPr lang="en-US" altLang="zh-CN" sz="1800" dirty="0"/>
              <a:t>– the primary index file</a:t>
            </a:r>
          </a:p>
          <a:p>
            <a:pPr>
              <a:spcBef>
                <a:spcPts val="600"/>
              </a:spcBef>
            </a:pPr>
            <a:r>
              <a:rPr lang="en-US" altLang="zh-CN" sz="2000" dirty="0"/>
              <a:t>If outer index is still too large to fit in main memory, yet another level of index can be created, and so on</a:t>
            </a:r>
          </a:p>
          <a:p>
            <a:pPr>
              <a:spcBef>
                <a:spcPts val="600"/>
              </a:spcBef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387574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8F2F21-51CF-4637-82DF-D7A1B5905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Multilevel Index (Cont.)</a:t>
            </a:r>
            <a:endParaRPr lang="zh-CN" altLang="en-US" dirty="0"/>
          </a:p>
        </p:txBody>
      </p:sp>
      <p:pic>
        <p:nvPicPr>
          <p:cNvPr id="4" name="Picture 13">
            <a:extLst>
              <a:ext uri="{FF2B5EF4-FFF2-40B4-BE49-F238E27FC236}">
                <a16:creationId xmlns:a16="http://schemas.microsoft.com/office/drawing/2014/main" id="{689A261E-E978-44DB-967C-C63EBDF4E6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49" t="1575" r="18895" b="1268"/>
          <a:stretch/>
        </p:blipFill>
        <p:spPr bwMode="auto">
          <a:xfrm>
            <a:off x="2339753" y="843558"/>
            <a:ext cx="4032448" cy="3985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261206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AF4CCA-0373-4FBF-B52E-B92E232E3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Dense vs. Sparse Index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45927BB-7FF3-4891-BADC-DDBB8AF0F9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064896" cy="3805070"/>
              </a:xfrm>
            </p:spPr>
            <p:txBody>
              <a:bodyPr/>
              <a:lstStyle/>
              <a:p>
                <a:r>
                  <a:rPr lang="en-US" altLang="zh-CN" sz="2000" dirty="0"/>
                  <a:t>To locate a record with search-key value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2000" dirty="0"/>
                  <a:t>:</a:t>
                </a:r>
              </a:p>
              <a:p>
                <a:pPr lvl="1"/>
                <a:r>
                  <a:rPr lang="en-US" altLang="zh-CN" sz="1800" b="1" dirty="0">
                    <a:solidFill>
                      <a:srgbClr val="C00000"/>
                    </a:solidFill>
                  </a:rPr>
                  <a:t>Dense index</a:t>
                </a:r>
                <a:endParaRPr lang="en-US" altLang="zh-CN" sz="1800" dirty="0"/>
              </a:p>
              <a:p>
                <a:pPr lvl="2"/>
                <a:r>
                  <a:rPr lang="en-US" altLang="zh-CN" sz="1600" dirty="0"/>
                  <a:t>Find index record with search-key value = K</a:t>
                </a:r>
              </a:p>
              <a:p>
                <a:pPr lvl="1"/>
                <a:r>
                  <a:rPr lang="en-US" altLang="zh-CN" sz="1800" b="1" dirty="0">
                    <a:solidFill>
                      <a:srgbClr val="C00000"/>
                    </a:solidFill>
                  </a:rPr>
                  <a:t>Sparse index</a:t>
                </a:r>
              </a:p>
              <a:p>
                <a:pPr lvl="2"/>
                <a:r>
                  <a:rPr lang="en-US" altLang="zh-CN" sz="1600" dirty="0"/>
                  <a:t>Find index record with the largest search-key value &lt;= K</a:t>
                </a:r>
              </a:p>
              <a:p>
                <a:pPr lvl="2"/>
                <a:r>
                  <a:rPr lang="en-US" altLang="zh-CN" sz="1600" dirty="0"/>
                  <a:t>Search file sequentially starting at the record to which the index record points</a:t>
                </a:r>
              </a:p>
              <a:p>
                <a:pPr lvl="1"/>
                <a:r>
                  <a:rPr lang="en-US" altLang="zh-CN" sz="1800" dirty="0"/>
                  <a:t>Sparse index is generally </a:t>
                </a:r>
                <a:r>
                  <a:rPr lang="en-US" altLang="zh-CN" sz="1800" dirty="0">
                    <a:solidFill>
                      <a:srgbClr val="C00000"/>
                    </a:solidFill>
                  </a:rPr>
                  <a:t>slower</a:t>
                </a:r>
                <a:r>
                  <a:rPr lang="en-US" altLang="zh-CN" sz="1800" dirty="0"/>
                  <a:t> than dense index for locating records but saves more </a:t>
                </a:r>
                <a:r>
                  <a:rPr lang="en-US" altLang="zh-CN" sz="1800" dirty="0">
                    <a:solidFill>
                      <a:srgbClr val="C00000"/>
                    </a:solidFill>
                  </a:rPr>
                  <a:t>storage space</a:t>
                </a:r>
              </a:p>
              <a:p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45927BB-7FF3-4891-BADC-DDBB8AF0F9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064896" cy="3805070"/>
              </a:xfrm>
              <a:blipFill>
                <a:blip r:embed="rId2"/>
                <a:stretch>
                  <a:fillRect l="-680" t="-801" r="-8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88493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15821-8E2D-4118-AC86-FCE92CC3B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Index Update: Deletion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6597CB-EFDD-4139-9DC8-448DEAA74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/>
              <a:t>Single-level index deletion</a:t>
            </a:r>
          </a:p>
          <a:p>
            <a:pPr lvl="1"/>
            <a:r>
              <a:rPr lang="en-US" altLang="zh-CN" sz="1800" dirty="0">
                <a:solidFill>
                  <a:srgbClr val="C00000"/>
                </a:solidFill>
              </a:rPr>
              <a:t>Dense indices </a:t>
            </a:r>
            <a:r>
              <a:rPr lang="en-US" altLang="zh-CN" sz="1800" dirty="0"/>
              <a:t>– deletion of search-key in index is similar to file record deletion</a:t>
            </a:r>
          </a:p>
          <a:p>
            <a:endParaRPr lang="zh-CN" altLang="en-US" sz="2000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AFC6F7BD-B43A-4C0B-8DDE-13D2007DA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" t="22444" r="1115" b="22662"/>
          <a:stretch>
            <a:fillRect/>
          </a:stretch>
        </p:blipFill>
        <p:spPr bwMode="auto">
          <a:xfrm>
            <a:off x="1763688" y="2165654"/>
            <a:ext cx="5252598" cy="2207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012821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15821-8E2D-4118-AC86-FCE92CC3B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Index Update: Deletion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6597CB-EFDD-4139-9DC8-448DEAA74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/>
          <a:p>
            <a:r>
              <a:rPr lang="en-US" altLang="zh-CN" sz="2000" b="1" dirty="0"/>
              <a:t>Single-level index deletion</a:t>
            </a:r>
          </a:p>
          <a:p>
            <a:pPr lvl="1"/>
            <a:r>
              <a:rPr lang="en-US" altLang="zh-CN" sz="1800" dirty="0">
                <a:solidFill>
                  <a:srgbClr val="C00000"/>
                </a:solidFill>
              </a:rPr>
              <a:t>Sparse indices </a:t>
            </a:r>
          </a:p>
          <a:p>
            <a:pPr lvl="2"/>
            <a:r>
              <a:rPr lang="en-US" altLang="zh-CN" sz="1600" dirty="0"/>
              <a:t>if an entry for the search key exists in the index, it is deleted by replacing the entry in the index with the next search-key value in the file</a:t>
            </a:r>
          </a:p>
          <a:p>
            <a:pPr lvl="2"/>
            <a:r>
              <a:rPr lang="en-US" altLang="zh-CN" sz="1600" dirty="0"/>
              <a:t>if the next search-key value already has an index entry, the entry is deleted instead of being replaced</a:t>
            </a:r>
          </a:p>
          <a:p>
            <a:endParaRPr lang="zh-CN" altLang="en-US" sz="2000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AC2C8F65-0A76-4D4E-8A50-784526FCC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" t="21043" r="821" b="20781"/>
          <a:stretch>
            <a:fillRect/>
          </a:stretch>
        </p:blipFill>
        <p:spPr bwMode="auto">
          <a:xfrm>
            <a:off x="2267744" y="2715766"/>
            <a:ext cx="4536504" cy="2125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76706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AC69D4-338E-4F40-866E-31F3B34B4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Index Update: Insertion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807CB8-4284-4A3A-B909-D08C78061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424936" cy="3805070"/>
          </a:xfrm>
        </p:spPr>
        <p:txBody>
          <a:bodyPr/>
          <a:lstStyle/>
          <a:p>
            <a:r>
              <a:rPr lang="en-US" altLang="zh-CN" sz="2000" b="1" dirty="0"/>
              <a:t>Single-level index insertion</a:t>
            </a:r>
          </a:p>
          <a:p>
            <a:pPr lvl="1"/>
            <a:r>
              <a:rPr lang="en-US" altLang="zh-CN" sz="1800" dirty="0"/>
              <a:t>Perform a lookup using the search-key value</a:t>
            </a:r>
          </a:p>
          <a:p>
            <a:pPr lvl="1"/>
            <a:r>
              <a:rPr lang="en-US" altLang="zh-CN" sz="1800" dirty="0">
                <a:solidFill>
                  <a:srgbClr val="C00000"/>
                </a:solidFill>
              </a:rPr>
              <a:t>Dense indices </a:t>
            </a:r>
            <a:r>
              <a:rPr lang="en-US" altLang="zh-CN" sz="1800" dirty="0"/>
              <a:t>– if the search-key value does not appear in the index, insert it</a:t>
            </a:r>
          </a:p>
          <a:p>
            <a:pPr lvl="1"/>
            <a:r>
              <a:rPr lang="en-US" altLang="zh-CN" sz="1800" dirty="0">
                <a:solidFill>
                  <a:srgbClr val="C00000"/>
                </a:solidFill>
              </a:rPr>
              <a:t>Sparse indices </a:t>
            </a:r>
            <a:r>
              <a:rPr lang="en-US" altLang="zh-CN" sz="1800" dirty="0"/>
              <a:t>– if index stores an entry for each block of the file, no change needs to be made to the index unless a new block is created. In this case, the first search-key value appearing in the new block is inserted into the index</a:t>
            </a:r>
          </a:p>
          <a:p>
            <a:r>
              <a:rPr lang="en-US" altLang="zh-CN" sz="2000" b="1" dirty="0"/>
              <a:t>Multilevel insertion/deletion </a:t>
            </a:r>
          </a:p>
          <a:p>
            <a:pPr lvl="1"/>
            <a:r>
              <a:rPr lang="en-US" altLang="zh-CN" sz="1800" dirty="0"/>
              <a:t>Extensions of the single-level algorithms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932400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348850-14C2-43B5-979E-1570599FC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Dense vs. Sparse Index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5400F-D522-40A4-BF82-1C6DC6667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/>
              <a:t>Space and maintenance for insertions and deletions</a:t>
            </a:r>
          </a:p>
          <a:p>
            <a:pPr lvl="1"/>
            <a:r>
              <a:rPr lang="en-US" altLang="zh-CN" sz="1800" dirty="0"/>
              <a:t>Sparse index needs </a:t>
            </a:r>
            <a:r>
              <a:rPr lang="en-US" altLang="zh-CN" sz="1800" dirty="0">
                <a:solidFill>
                  <a:srgbClr val="C00000"/>
                </a:solidFill>
              </a:rPr>
              <a:t>less space </a:t>
            </a:r>
            <a:r>
              <a:rPr lang="en-US" altLang="zh-CN" sz="1800" dirty="0"/>
              <a:t>and </a:t>
            </a:r>
            <a:r>
              <a:rPr lang="en-US" altLang="zh-CN" sz="1800" dirty="0">
                <a:solidFill>
                  <a:srgbClr val="C00000"/>
                </a:solidFill>
              </a:rPr>
              <a:t>less maintenance </a:t>
            </a:r>
            <a:r>
              <a:rPr lang="en-US" altLang="zh-CN" sz="1800" dirty="0"/>
              <a:t>overhead for insertions and deletions</a:t>
            </a:r>
          </a:p>
          <a:p>
            <a:pPr lvl="1"/>
            <a:r>
              <a:rPr lang="en-US" altLang="zh-CN" sz="1800" dirty="0"/>
              <a:t>Good tradeoff: sparse index with an index entry for </a:t>
            </a:r>
            <a:r>
              <a:rPr lang="en-US" altLang="zh-CN" sz="1800" dirty="0">
                <a:solidFill>
                  <a:srgbClr val="C00000"/>
                </a:solidFill>
              </a:rPr>
              <a:t>every block </a:t>
            </a:r>
            <a:r>
              <a:rPr lang="en-US" altLang="zh-CN" sz="1800" dirty="0"/>
              <a:t>in file, corresponding to the least search-key value in the block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5155462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69A7A9-845F-4C35-8DDE-F5BD2379A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Secondary Indices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6700DC-4B5A-4F87-9D46-096D27455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/>
              <a:t>To find all the records with values in a certain range</a:t>
            </a:r>
          </a:p>
          <a:p>
            <a:pPr lvl="1"/>
            <a:r>
              <a:rPr lang="en-US" altLang="zh-CN" sz="1800" dirty="0"/>
              <a:t>Example 1: In the account relation stored sequentially by account number, we may want to find all accounts in a particular </a:t>
            </a:r>
            <a:r>
              <a:rPr lang="en-US" altLang="zh-CN" sz="1800" dirty="0">
                <a:solidFill>
                  <a:srgbClr val="C00000"/>
                </a:solidFill>
              </a:rPr>
              <a:t>branch</a:t>
            </a:r>
          </a:p>
          <a:p>
            <a:pPr lvl="1"/>
            <a:r>
              <a:rPr lang="en-US" altLang="zh-CN" sz="1800" dirty="0"/>
              <a:t>Example 2: to find all accounts with a specified </a:t>
            </a:r>
            <a:r>
              <a:rPr lang="en-US" altLang="zh-CN" sz="1800" dirty="0">
                <a:solidFill>
                  <a:srgbClr val="C00000"/>
                </a:solidFill>
              </a:rPr>
              <a:t>balance</a:t>
            </a:r>
            <a:r>
              <a:rPr lang="en-US" altLang="zh-CN" sz="1800" dirty="0"/>
              <a:t> or range of balances</a:t>
            </a:r>
          </a:p>
          <a:p>
            <a:r>
              <a:rPr lang="en-US" altLang="zh-CN" sz="2000" b="1" dirty="0"/>
              <a:t>Secondary index</a:t>
            </a:r>
          </a:p>
          <a:p>
            <a:pPr lvl="1"/>
            <a:r>
              <a:rPr lang="en-US" altLang="zh-CN" sz="1800" dirty="0"/>
              <a:t>Build a secondary index with an index record for </a:t>
            </a:r>
            <a:r>
              <a:rPr lang="en-US" altLang="zh-CN" sz="1800" b="1" dirty="0">
                <a:solidFill>
                  <a:srgbClr val="C00000"/>
                </a:solidFill>
              </a:rPr>
              <a:t>each search-key value</a:t>
            </a:r>
            <a:endParaRPr lang="en-US" altLang="zh-CN" sz="1800" b="1" dirty="0"/>
          </a:p>
          <a:p>
            <a:pPr lvl="1"/>
            <a:r>
              <a:rPr lang="en-US" altLang="zh-CN" sz="1800" dirty="0"/>
              <a:t>Index record points to a </a:t>
            </a:r>
            <a:r>
              <a:rPr lang="en-US" altLang="zh-CN" sz="1800" b="1" dirty="0">
                <a:solidFill>
                  <a:srgbClr val="C00000"/>
                </a:solidFill>
              </a:rPr>
              <a:t>bucket</a:t>
            </a:r>
            <a:r>
              <a:rPr lang="en-US" altLang="zh-CN" sz="1800" dirty="0"/>
              <a:t> that contains </a:t>
            </a:r>
            <a:r>
              <a:rPr lang="en-US" altLang="zh-CN" sz="1800" b="1" dirty="0">
                <a:solidFill>
                  <a:srgbClr val="C00000"/>
                </a:solidFill>
              </a:rPr>
              <a:t>pointers</a:t>
            </a:r>
            <a:r>
              <a:rPr lang="en-US" altLang="zh-CN" sz="1800" dirty="0"/>
              <a:t> to all the actual records with that particular search-key value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558312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B645FB-FA55-499F-ADF2-7E01D64AE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Secondary Index on Balance Field of Account</a:t>
            </a:r>
            <a:endParaRPr lang="zh-CN" altLang="en-US" dirty="0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58B62680-5417-4088-AC29-3F1EFE9A3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" t="21115" r="627" b="20573"/>
          <a:stretch>
            <a:fillRect/>
          </a:stretch>
        </p:blipFill>
        <p:spPr bwMode="auto">
          <a:xfrm>
            <a:off x="1664494" y="998935"/>
            <a:ext cx="5788819" cy="3025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9">
            <a:extLst>
              <a:ext uri="{FF2B5EF4-FFF2-40B4-BE49-F238E27FC236}">
                <a16:creationId xmlns:a16="http://schemas.microsoft.com/office/drawing/2014/main" id="{9BFDD232-7DD6-41F6-BE89-AC07A27F7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2052" y="4070747"/>
            <a:ext cx="108786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50000"/>
              </a:spcBef>
              <a:buClrTx/>
              <a:buSzTx/>
              <a:buNone/>
            </a:pPr>
            <a:r>
              <a:rPr kumimoji="0" lang="en-US" altLang="zh-CN" sz="2000" b="1" i="1" dirty="0">
                <a:solidFill>
                  <a:srgbClr val="C00000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bucket</a:t>
            </a:r>
          </a:p>
        </p:txBody>
      </p:sp>
    </p:spTree>
    <p:extLst>
      <p:ext uri="{BB962C8B-B14F-4D97-AF65-F5344CB8AC3E}">
        <p14:creationId xmlns:p14="http://schemas.microsoft.com/office/powerpoint/2010/main" val="611585531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0701C2-A1C4-4989-B9EB-67ACAB6B8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Primary and Secondary Indices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F19C48-4760-4E71-AEA5-5F250A185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Secondary indices have to be dense (</a:t>
            </a:r>
            <a:r>
              <a:rPr lang="en-US" altLang="zh-CN" sz="2000" b="1" dirty="0">
                <a:solidFill>
                  <a:srgbClr val="C00000"/>
                </a:solidFill>
              </a:rPr>
              <a:t>why?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When a file is modified, every index on the file must be updated. Updating indices imposes overhead on database modification</a:t>
            </a:r>
          </a:p>
          <a:p>
            <a:r>
              <a:rPr lang="en-US" altLang="zh-CN" sz="2000" dirty="0"/>
              <a:t>Sequential scan using primary index is efficient, but a sequential scan using a secondary index is expensive </a:t>
            </a:r>
          </a:p>
          <a:p>
            <a:pPr lvl="1"/>
            <a:r>
              <a:rPr lang="en-US" altLang="zh-CN" sz="1800" dirty="0"/>
              <a:t>each record access may fetch a new block from disk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498986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843558"/>
            <a:ext cx="8568952" cy="380507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z="2000" dirty="0"/>
              <a:t>Basic Concepts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Ordered Indexing </a:t>
            </a:r>
          </a:p>
          <a:p>
            <a:pPr>
              <a:spcBef>
                <a:spcPts val="1200"/>
              </a:spcBef>
            </a:pPr>
            <a:r>
              <a:rPr lang="en-US" altLang="zh-CN" sz="2000" b="1" dirty="0">
                <a:solidFill>
                  <a:srgbClr val="C00000"/>
                </a:solidFill>
              </a:rPr>
              <a:t>B</a:t>
            </a:r>
            <a:r>
              <a:rPr lang="en-US" altLang="zh-CN" sz="2000" b="1" baseline="30000" dirty="0">
                <a:solidFill>
                  <a:srgbClr val="C00000"/>
                </a:solidFill>
              </a:rPr>
              <a:t>+</a:t>
            </a:r>
            <a:r>
              <a:rPr lang="en-US" altLang="zh-CN" sz="2000" b="1" dirty="0">
                <a:solidFill>
                  <a:srgbClr val="C00000"/>
                </a:solidFill>
              </a:rPr>
              <a:t>-tree &amp; B-tree Indices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Static &amp; Dynamic Hashing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Ordered Indexing vs. Hashing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Index Definition in SQL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Multiple-key Access</a:t>
            </a:r>
          </a:p>
        </p:txBody>
      </p:sp>
    </p:spTree>
    <p:extLst>
      <p:ext uri="{BB962C8B-B14F-4D97-AF65-F5344CB8AC3E}">
        <p14:creationId xmlns:p14="http://schemas.microsoft.com/office/powerpoint/2010/main" val="4202940295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F9014D-EE4E-4707-9E91-75F031D80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</a:t>
            </a:r>
            <a:r>
              <a:rPr lang="en-US" altLang="zh-CN" baseline="30000" dirty="0"/>
              <a:t>+</a:t>
            </a:r>
            <a:r>
              <a:rPr lang="en-US" altLang="zh-CN" dirty="0"/>
              <a:t>-Tree Index Files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8617B0-CA8F-4DD5-9AA0-461F8F4CF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b="1" dirty="0"/>
              <a:t>B</a:t>
            </a:r>
            <a:r>
              <a:rPr lang="en-US" altLang="zh-CN" sz="2000" b="1" baseline="30000" dirty="0"/>
              <a:t>+</a:t>
            </a:r>
            <a:r>
              <a:rPr lang="en-US" altLang="zh-CN" sz="2000" b="1" dirty="0"/>
              <a:t>-tree is an alternative to indexed-sequential file</a:t>
            </a:r>
          </a:p>
          <a:p>
            <a:r>
              <a:rPr lang="en-US" altLang="zh-CN" sz="1800" dirty="0"/>
              <a:t>Disadvantage of indexed-sequential file</a:t>
            </a:r>
          </a:p>
          <a:p>
            <a:pPr lvl="1"/>
            <a:r>
              <a:rPr lang="en-US" altLang="zh-CN" sz="1600" dirty="0"/>
              <a:t>Performance degrades as file grows, since many </a:t>
            </a:r>
            <a:r>
              <a:rPr lang="en-US" altLang="zh-CN" sz="1600" b="1" dirty="0">
                <a:solidFill>
                  <a:srgbClr val="C00000"/>
                </a:solidFill>
              </a:rPr>
              <a:t>overflow blocks </a:t>
            </a:r>
            <a:r>
              <a:rPr lang="en-US" altLang="zh-CN" sz="1600" dirty="0"/>
              <a:t>(</a:t>
            </a:r>
            <a:r>
              <a:rPr lang="zh-CN" altLang="en-US" sz="1600" dirty="0"/>
              <a:t>溢出块</a:t>
            </a:r>
            <a:r>
              <a:rPr lang="en-US" altLang="zh-CN" sz="1600" dirty="0"/>
              <a:t>) get created. Periodic reorganization of entire file is required</a:t>
            </a:r>
            <a:endParaRPr lang="en-US" altLang="zh-CN" sz="1400" dirty="0"/>
          </a:p>
          <a:p>
            <a:r>
              <a:rPr lang="en-US" altLang="zh-CN" sz="1800" b="1" dirty="0">
                <a:solidFill>
                  <a:srgbClr val="C00000"/>
                </a:solidFill>
              </a:rPr>
              <a:t>B</a:t>
            </a:r>
            <a:r>
              <a:rPr lang="en-US" altLang="zh-CN" sz="1800" b="1" baseline="30000" dirty="0">
                <a:solidFill>
                  <a:srgbClr val="C00000"/>
                </a:solidFill>
              </a:rPr>
              <a:t>+</a:t>
            </a:r>
            <a:r>
              <a:rPr lang="en-US" altLang="zh-CN" sz="1800" b="1" dirty="0">
                <a:solidFill>
                  <a:srgbClr val="C00000"/>
                </a:solidFill>
              </a:rPr>
              <a:t>-tree index file</a:t>
            </a:r>
          </a:p>
          <a:p>
            <a:pPr lvl="1"/>
            <a:r>
              <a:rPr lang="en-US" altLang="zh-CN" sz="1600" b="1" dirty="0"/>
              <a:t>Advantage</a:t>
            </a:r>
            <a:r>
              <a:rPr lang="en-US" altLang="zh-CN" sz="1600" dirty="0"/>
              <a:t>: automatically reorganizes itself with small and local changes, in the face of insertions and deletions. Reorganization of entire file is not required to maintain performance</a:t>
            </a:r>
          </a:p>
          <a:p>
            <a:pPr lvl="1"/>
            <a:r>
              <a:rPr lang="en-US" altLang="zh-CN" sz="1600" b="1" dirty="0"/>
              <a:t>Disadvantage</a:t>
            </a:r>
            <a:r>
              <a:rPr lang="en-US" altLang="zh-CN" sz="1600" dirty="0"/>
              <a:t>: extra insertion and deletion overhead, space overhead</a:t>
            </a:r>
          </a:p>
          <a:p>
            <a:pPr lvl="1"/>
            <a:r>
              <a:rPr lang="en-US" altLang="zh-CN" sz="1600" dirty="0"/>
              <a:t>B</a:t>
            </a:r>
            <a:r>
              <a:rPr lang="en-US" altLang="zh-CN" sz="1600" baseline="30000" dirty="0"/>
              <a:t>+</a:t>
            </a:r>
            <a:r>
              <a:rPr lang="en-US" altLang="zh-CN" sz="1600" dirty="0"/>
              <a:t>-tree is used widely since its advantages </a:t>
            </a:r>
            <a:r>
              <a:rPr lang="en-US" altLang="zh-CN" sz="1600" dirty="0" err="1"/>
              <a:t>outweight</a:t>
            </a:r>
            <a:r>
              <a:rPr lang="en-US" altLang="zh-CN" sz="1600" dirty="0"/>
              <a:t> the disadvantages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1077298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70B817-5BE0-4854-A6B4-EC2B8F910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Example of B</a:t>
            </a:r>
            <a:r>
              <a:rPr lang="en-US" altLang="zh-CN" baseline="30000" dirty="0"/>
              <a:t>+</a:t>
            </a:r>
            <a:r>
              <a:rPr lang="en-US" altLang="zh-CN" dirty="0"/>
              <a:t>-Tree</a:t>
            </a:r>
            <a:endParaRPr lang="zh-CN" altLang="en-US" dirty="0"/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EF92FA19-AB38-4BA7-99E1-186F98390EB1}"/>
              </a:ext>
            </a:extLst>
          </p:cNvPr>
          <p:cNvGrpSpPr>
            <a:grpSpLocks/>
          </p:cNvGrpSpPr>
          <p:nvPr/>
        </p:nvGrpSpPr>
        <p:grpSpPr bwMode="auto">
          <a:xfrm>
            <a:off x="827584" y="843558"/>
            <a:ext cx="7182098" cy="4171578"/>
            <a:chOff x="141288" y="1176338"/>
            <a:chExt cx="8891587" cy="5030787"/>
          </a:xfrm>
        </p:grpSpPr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D1B731C9-62E9-453D-8BC8-11CED13F88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288" y="1176338"/>
              <a:ext cx="8891587" cy="5030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DB162ECD-DB94-4A27-B11D-FEFC23CCB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4609" y="3051960"/>
              <a:ext cx="64794" cy="22419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  <p:sp>
          <p:nvSpPr>
            <p:cNvPr id="7" name="Rectangle 13">
              <a:extLst>
                <a:ext uri="{FF2B5EF4-FFF2-40B4-BE49-F238E27FC236}">
                  <a16:creationId xmlns:a16="http://schemas.microsoft.com/office/drawing/2014/main" id="{6E563E24-5E98-4177-9D3D-31217A7F2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8717" y="5315675"/>
              <a:ext cx="100548" cy="3688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6046231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0A93A7-6D48-42FB-9A81-9CFEB1A09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</a:t>
            </a:r>
            <a:r>
              <a:rPr lang="en-US" altLang="zh-CN" baseline="30000" dirty="0"/>
              <a:t>+</a:t>
            </a:r>
            <a:r>
              <a:rPr lang="en-US" altLang="zh-CN" dirty="0"/>
              <a:t>-Tree Index Files (Cont.)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7FAAC54-FF39-4B11-BBBD-2BEB825A71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2000" b="1" dirty="0"/>
                  <a:t>Typical B</a:t>
                </a:r>
                <a:r>
                  <a:rPr lang="en-US" altLang="zh-CN" sz="2000" b="1" baseline="30000" dirty="0"/>
                  <a:t>+</a:t>
                </a:r>
                <a:r>
                  <a:rPr lang="en-US" altLang="zh-CN" sz="2000" b="1" dirty="0"/>
                  <a:t>-tree node</a:t>
                </a:r>
                <a:br>
                  <a:rPr lang="en-US" altLang="zh-CN" sz="2000" dirty="0"/>
                </a:br>
                <a:br>
                  <a:rPr lang="en-US" altLang="zh-CN" sz="2000" dirty="0"/>
                </a:br>
                <a:br>
                  <a:rPr lang="en-US" altLang="zh-CN" sz="2000" dirty="0"/>
                </a:br>
                <a:endParaRPr lang="en-US" altLang="zh-CN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 are the search-key values. The search-keys in a node are ordered, i.e., </a:t>
                </a:r>
              </a:p>
              <a:p>
                <a:pPr marL="457200" lvl="1" indent="0">
                  <a:buNone/>
                </a:pPr>
                <a:r>
                  <a:rPr lang="en-US" altLang="zh-CN" sz="1800" dirty="0"/>
                  <a:t>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⋯&lt;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altLang="zh-CN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 are pointers to children (for non-leaf nodes) or pointers to </a:t>
                </a:r>
                <a:r>
                  <a:rPr lang="en-US" altLang="zh-CN" sz="1800" dirty="0">
                    <a:solidFill>
                      <a:srgbClr val="C00000"/>
                    </a:solidFill>
                  </a:rPr>
                  <a:t>records</a:t>
                </a:r>
                <a:r>
                  <a:rPr lang="en-US" altLang="zh-CN" sz="1800" dirty="0"/>
                  <a:t> or </a:t>
                </a:r>
                <a:r>
                  <a:rPr lang="en-US" altLang="zh-CN" sz="1800" dirty="0">
                    <a:solidFill>
                      <a:srgbClr val="C00000"/>
                    </a:solidFill>
                  </a:rPr>
                  <a:t>buckets of records </a:t>
                </a:r>
                <a:r>
                  <a:rPr lang="en-US" altLang="zh-CN" sz="1800" dirty="0"/>
                  <a:t>(for leaf nodes)</a:t>
                </a:r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7FAAC54-FF39-4B11-BBBD-2BEB825A71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0" t="-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6">
            <a:extLst>
              <a:ext uri="{FF2B5EF4-FFF2-40B4-BE49-F238E27FC236}">
                <a16:creationId xmlns:a16="http://schemas.microsoft.com/office/drawing/2014/main" id="{61F7658D-8529-4C17-B4AA-522328E48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284" y="1419622"/>
            <a:ext cx="5813424" cy="450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3575580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F51287-ED83-4960-9838-C88653B08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</a:t>
            </a:r>
            <a:r>
              <a:rPr lang="en-US" altLang="zh-CN" baseline="30000" dirty="0"/>
              <a:t>+</a:t>
            </a:r>
            <a:r>
              <a:rPr lang="en-US" altLang="zh-CN" dirty="0"/>
              <a:t>-Tree Index Files (Cont.)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C4EC0FF-EC52-40AB-B3E3-DD1409A2AD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2000" dirty="0"/>
                  <a:t>A B</a:t>
                </a:r>
                <a:r>
                  <a:rPr lang="en-US" altLang="zh-CN" sz="2000" baseline="30000" dirty="0"/>
                  <a:t>+</a:t>
                </a:r>
                <a:r>
                  <a:rPr lang="en-US" altLang="zh-CN" sz="2000" dirty="0"/>
                  <a:t>-tree is a rooted tree (</a:t>
                </a:r>
                <a:r>
                  <a:rPr lang="zh-CN" altLang="en-US" sz="2000" dirty="0"/>
                  <a:t>有根树</a:t>
                </a:r>
                <a:r>
                  <a:rPr lang="en-US" altLang="zh-CN" sz="2000" dirty="0"/>
                  <a:t>) satisfying the following properties:</a:t>
                </a:r>
              </a:p>
              <a:p>
                <a:pPr lvl="1"/>
                <a:r>
                  <a:rPr lang="en-US" altLang="zh-CN" sz="1800" dirty="0"/>
                  <a:t>B</a:t>
                </a:r>
                <a:r>
                  <a:rPr lang="en-US" altLang="zh-CN" sz="1800" baseline="30000" dirty="0"/>
                  <a:t>+</a:t>
                </a:r>
                <a:r>
                  <a:rPr lang="en-US" altLang="zh-CN" sz="1800" dirty="0"/>
                  <a:t>-tree is a </a:t>
                </a:r>
                <a:r>
                  <a:rPr lang="en-US" altLang="zh-CN" sz="1800" b="1" dirty="0">
                    <a:solidFill>
                      <a:srgbClr val="C00000"/>
                    </a:solidFill>
                  </a:rPr>
                  <a:t>balanced tree </a:t>
                </a:r>
                <a:r>
                  <a:rPr lang="en-US" altLang="zh-CN" sz="1800" dirty="0"/>
                  <a:t>and all the paths from root to leaf nodes are of the same length</a:t>
                </a:r>
                <a:endParaRPr lang="en-US" altLang="zh-CN" sz="1800" b="1" dirty="0">
                  <a:solidFill>
                    <a:srgbClr val="C00000"/>
                  </a:solidFill>
                </a:endParaRPr>
              </a:p>
              <a:p>
                <a:pPr lvl="1"/>
                <a:r>
                  <a:rPr lang="en-US" altLang="zh-CN" sz="1800" b="1" dirty="0"/>
                  <a:t>Internal node</a:t>
                </a:r>
              </a:p>
              <a:p>
                <a:pPr lvl="2"/>
                <a:r>
                  <a:rPr lang="en-US" altLang="zh-CN" sz="1600" dirty="0"/>
                  <a:t>Each node has between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altLang="zh-CN" sz="1600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sz="1600" dirty="0"/>
                  <a:t>and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1600" dirty="0"/>
                  <a:t> children (pointers)</a:t>
                </a:r>
              </a:p>
              <a:p>
                <a:pPr lvl="1"/>
                <a:r>
                  <a:rPr lang="en-US" altLang="zh-CN" sz="1800" b="1" dirty="0"/>
                  <a:t>Leaf node</a:t>
                </a:r>
              </a:p>
              <a:p>
                <a:pPr lvl="2"/>
                <a:r>
                  <a:rPr lang="en-US" altLang="zh-CN" sz="1600" dirty="0"/>
                  <a:t>Each node has between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)/</m:t>
                        </m:r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altLang="zh-CN" sz="16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CN" sz="1600" dirty="0"/>
                  <a:t> values</a:t>
                </a:r>
              </a:p>
              <a:p>
                <a:pPr lvl="1"/>
                <a:r>
                  <a:rPr lang="en-US" altLang="zh-CN" sz="1800" b="1" dirty="0"/>
                  <a:t>Root node </a:t>
                </a:r>
              </a:p>
              <a:p>
                <a:pPr lvl="2"/>
                <a:r>
                  <a:rPr lang="en-US" altLang="zh-CN" sz="1600" dirty="0"/>
                  <a:t>If the root is not a leaf, it has at least </a:t>
                </a:r>
                <a:r>
                  <a:rPr lang="en-US" altLang="zh-CN" sz="1600" b="1" dirty="0">
                    <a:solidFill>
                      <a:srgbClr val="C00000"/>
                    </a:solidFill>
                  </a:rPr>
                  <a:t>2</a:t>
                </a:r>
                <a:r>
                  <a:rPr lang="en-US" altLang="zh-CN" sz="1600" dirty="0"/>
                  <a:t> children</a:t>
                </a:r>
              </a:p>
              <a:p>
                <a:pPr lvl="2"/>
                <a:r>
                  <a:rPr lang="en-US" altLang="zh-CN" sz="1600" dirty="0"/>
                  <a:t>If the root is a leaf (i.e., there are no other nodes in the tree), it can have between </a:t>
                </a:r>
                <a:r>
                  <a:rPr lang="en-US" altLang="zh-CN" sz="1600" b="1" dirty="0">
                    <a:solidFill>
                      <a:srgbClr val="C00000"/>
                    </a:solidFill>
                  </a:rPr>
                  <a:t>0</a:t>
                </a:r>
                <a:r>
                  <a:rPr lang="en-US" altLang="zh-CN" sz="1600" dirty="0"/>
                  <a:t> and </a:t>
                </a:r>
                <a:r>
                  <a:rPr lang="en-US" altLang="zh-CN" sz="1600" b="1" dirty="0">
                    <a:solidFill>
                      <a:srgbClr val="C00000"/>
                    </a:solidFill>
                  </a:rPr>
                  <a:t>n–1</a:t>
                </a:r>
                <a:r>
                  <a:rPr lang="en-US" altLang="zh-CN" sz="1600" dirty="0"/>
                  <a:t> values</a:t>
                </a:r>
              </a:p>
              <a:p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C4EC0FF-EC52-40AB-B3E3-DD1409A2AD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0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85272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0C97A4-6786-4D2A-A90A-6C1E88137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Example of a B</a:t>
            </a:r>
            <a:r>
              <a:rPr lang="en-US" altLang="zh-CN" baseline="30000" dirty="0"/>
              <a:t>+</a:t>
            </a:r>
            <a:r>
              <a:rPr lang="en-US" altLang="zh-CN" dirty="0"/>
              <a:t>-tree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21F4FFA-13BA-433F-8960-A0E80583F2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7524" y="3579862"/>
                <a:ext cx="8820980" cy="1443714"/>
              </a:xfrm>
            </p:spPr>
            <p:txBody>
              <a:bodyPr/>
              <a:lstStyle/>
              <a:p>
                <a:r>
                  <a:rPr lang="en-US" altLang="zh-CN" sz="1800" dirty="0"/>
                  <a:t>Leaf nodes must have between 1 and 2 values </a:t>
                </a:r>
                <a:r>
                  <a:rPr lang="en-US" altLang="zh-CN" sz="1800" b="1" dirty="0">
                    <a:solidFill>
                      <a:srgbClr val="C00000"/>
                    </a:solidFill>
                  </a:rPr>
                  <a:t>(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)/</m:t>
                        </m:r>
                        <m:r>
                          <a:rPr lang="en-US" altLang="zh-CN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altLang="zh-CN" sz="1800" b="1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CN" sz="1800" dirty="0">
                    <a:solidFill>
                      <a:srgbClr val="C00000"/>
                    </a:solidFill>
                  </a:rPr>
                  <a:t>)</a:t>
                </a:r>
              </a:p>
              <a:p>
                <a:r>
                  <a:rPr lang="en-US" altLang="zh-CN" sz="1800" dirty="0"/>
                  <a:t>Non-leaf nodes other than root must have between 2 and 3 children </a:t>
                </a:r>
                <a:r>
                  <a:rPr lang="en-US" altLang="zh-CN" sz="1800" b="1" dirty="0">
                    <a:solidFill>
                      <a:srgbClr val="C00000"/>
                    </a:solidFill>
                  </a:rPr>
                  <a:t>(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1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800" b="1" dirty="0">
                    <a:solidFill>
                      <a:srgbClr val="C00000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1800" b="1" dirty="0">
                    <a:solidFill>
                      <a:srgbClr val="C00000"/>
                    </a:solidFill>
                  </a:rPr>
                  <a:t>)</a:t>
                </a:r>
              </a:p>
              <a:p>
                <a:r>
                  <a:rPr lang="en-US" altLang="zh-CN" sz="1800" dirty="0"/>
                  <a:t>Root must have at least 2 children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21F4FFA-13BA-433F-8960-A0E80583F2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7524" y="3579862"/>
                <a:ext cx="8820980" cy="1443714"/>
              </a:xfrm>
              <a:blipFill>
                <a:blip r:embed="rId2"/>
                <a:stretch>
                  <a:fillRect l="-415" t="-2110" r="-4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6">
            <a:extLst>
              <a:ext uri="{FF2B5EF4-FFF2-40B4-BE49-F238E27FC236}">
                <a16:creationId xmlns:a16="http://schemas.microsoft.com/office/drawing/2014/main" id="{D8CE5926-CFAB-4559-AD0E-1C84BA13F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" t="29007" r="1608" b="29750"/>
          <a:stretch>
            <a:fillRect/>
          </a:stretch>
        </p:blipFill>
        <p:spPr bwMode="auto">
          <a:xfrm>
            <a:off x="1691680" y="1146383"/>
            <a:ext cx="5599409" cy="1781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5">
            <a:extLst>
              <a:ext uri="{FF2B5EF4-FFF2-40B4-BE49-F238E27FC236}">
                <a16:creationId xmlns:a16="http://schemas.microsoft.com/office/drawing/2014/main" id="{40E3F016-0B75-4513-BCA2-405B91140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5709" y="2922498"/>
            <a:ext cx="34099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685800" eaLnBrk="0" hangingPunct="0">
              <a:spcBef>
                <a:spcPct val="50000"/>
              </a:spcBef>
              <a:buClrTx/>
              <a:buSzTx/>
              <a:buNone/>
            </a:pPr>
            <a:r>
              <a:rPr kumimoji="0" lang="en-US" altLang="zh-CN" sz="18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kumimoji="0" lang="en-US" altLang="zh-CN" sz="1800" b="1" baseline="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kumimoji="0" lang="en-US" altLang="zh-CN" sz="18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-tree for </a:t>
            </a:r>
            <a:r>
              <a:rPr kumimoji="0" lang="en-US" altLang="zh-CN" sz="1800" b="1" i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account</a:t>
            </a:r>
            <a:r>
              <a:rPr kumimoji="0" lang="en-US" altLang="zh-CN" sz="18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file (</a:t>
            </a:r>
            <a:r>
              <a:rPr kumimoji="0" lang="en-US" altLang="zh-CN" sz="1800" b="1" i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 = </a:t>
            </a:r>
            <a:r>
              <a:rPr kumimoji="0" lang="en-US" altLang="zh-CN" sz="18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3)</a:t>
            </a:r>
          </a:p>
        </p:txBody>
      </p:sp>
    </p:spTree>
    <p:extLst>
      <p:ext uri="{BB962C8B-B14F-4D97-AF65-F5344CB8AC3E}">
        <p14:creationId xmlns:p14="http://schemas.microsoft.com/office/powerpoint/2010/main" val="2686997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761776-31ED-4F31-BCC9-75CE2E9F8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Leaf Node in B</a:t>
            </a:r>
            <a:r>
              <a:rPr lang="en-US" altLang="zh-CN" baseline="30000" dirty="0"/>
              <a:t>+</a:t>
            </a:r>
            <a:r>
              <a:rPr lang="en-US" altLang="zh-CN" dirty="0"/>
              <a:t>-Tree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DDBA4F1-269F-4171-929F-ECCA70E88F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b="1" dirty="0"/>
                  <a:t>Properties of a leaf node</a:t>
                </a:r>
              </a:p>
              <a:p>
                <a:pPr lvl="1"/>
                <a:r>
                  <a:rPr lang="en-US" altLang="zh-CN" sz="1600" dirty="0"/>
                  <a:t>Pointer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either points to </a:t>
                </a:r>
                <a:r>
                  <a:rPr lang="en-US" altLang="zh-CN" sz="1600" dirty="0">
                    <a:solidFill>
                      <a:srgbClr val="C00000"/>
                    </a:solidFill>
                  </a:rPr>
                  <a:t>a file record </a:t>
                </a:r>
                <a:r>
                  <a:rPr lang="en-US" altLang="zh-CN" sz="1600" dirty="0"/>
                  <a:t>with search-key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, or to </a:t>
                </a:r>
                <a:r>
                  <a:rPr lang="en-US" altLang="zh-CN" sz="1600" dirty="0">
                    <a:solidFill>
                      <a:srgbClr val="C00000"/>
                    </a:solidFill>
                  </a:rPr>
                  <a:t>a bucket of pointers </a:t>
                </a:r>
                <a:r>
                  <a:rPr lang="en-US" altLang="zh-CN" sz="1600" dirty="0"/>
                  <a:t>to file records, each record having search-key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. Only need bucket structure if the search-key does not form a primary key (</a:t>
                </a:r>
                <a:r>
                  <a:rPr lang="en-US" altLang="zh-CN" sz="1600" dirty="0">
                    <a:solidFill>
                      <a:srgbClr val="C00000"/>
                    </a:solidFill>
                  </a:rPr>
                  <a:t>why?</a:t>
                </a:r>
                <a:r>
                  <a:rPr lang="en-US" altLang="zh-CN" sz="1600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00" dirty="0"/>
                  <a:t> points to next leaf node in search-key order</a:t>
                </a:r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DDBA4F1-269F-4171-929F-ECCA70E88F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">
                <a:extLst>
                  <a:ext uri="{FF2B5EF4-FFF2-40B4-BE49-F238E27FC236}">
                    <a16:creationId xmlns:a16="http://schemas.microsoft.com/office/drawing/2014/main" id="{448A9708-2E8F-4EE6-9F5C-BBCA3C42D0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5576" y="3579862"/>
                <a:ext cx="117497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35000"/>
                  </a:spcBef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  <a:defRPr kumimoji="1"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FFFF00"/>
                  </a:buClr>
                  <a:buSzPct val="80000"/>
                  <a:buFont typeface="Wingdings" panose="05000000000000000000" pitchFamily="2" charset="2"/>
                  <a:buChar char="l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rgbClr val="00CC00"/>
                  </a:buClr>
                  <a:buSzPct val="80000"/>
                  <a:buFont typeface="Times New Roman" panose="02020603050405020304" pitchFamily="18" charset="0"/>
                  <a:buChar char="•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00"/>
                  </a:buClr>
                  <a:buSzPct val="80000"/>
                  <a:buChar char="»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00"/>
                  </a:buClr>
                  <a:buSzPct val="80000"/>
                  <a:buChar char="»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00"/>
                  </a:buClr>
                  <a:buSzPct val="80000"/>
                  <a:buChar char="»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00"/>
                  </a:buClr>
                  <a:buSzPct val="80000"/>
                  <a:buChar char="»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00"/>
                  </a:buClr>
                  <a:buSzPct val="80000"/>
                  <a:buChar char="»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defTabSz="685800" eaLnBrk="0" hangingPunct="0">
                  <a:spcBef>
                    <a:spcPct val="0"/>
                  </a:spcBef>
                  <a:buClrTx/>
                  <a:buSzTx/>
                  <a:buNone/>
                </a:pPr>
                <a14:m>
                  <m:oMath xmlns:m="http://schemas.openxmlformats.org/officeDocument/2006/math">
                    <m:r>
                      <a:rPr kumimoji="0"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𝑛</m:t>
                    </m:r>
                  </m:oMath>
                </a14:m>
                <a:r>
                  <a:rPr kumimoji="0" lang="en-US" altLang="zh-CN" sz="2000" i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宋体" panose="02010600030101010101" pitchFamily="2" charset="-122"/>
                  </a:rPr>
                  <a:t>=4</a:t>
                </a:r>
                <a:endParaRPr kumimoji="0" lang="zh-CN" altLang="en-US" sz="2000" i="1" dirty="0">
                  <a:solidFill>
                    <a:srgbClr val="000000"/>
                  </a:solidFill>
                  <a:latin typeface="Helvetica" panose="020B0604020202020204" pitchFamily="34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TextBox 1">
                <a:extLst>
                  <a:ext uri="{FF2B5EF4-FFF2-40B4-BE49-F238E27FC236}">
                    <a16:creationId xmlns:a16="http://schemas.microsoft.com/office/drawing/2014/main" id="{448A9708-2E8F-4EE6-9F5C-BBCA3C42D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576" y="3579862"/>
                <a:ext cx="1174973" cy="400110"/>
              </a:xfrm>
              <a:prstGeom prst="rect">
                <a:avLst/>
              </a:prstGeom>
              <a:blipFill>
                <a:blip r:embed="rId3"/>
                <a:stretch>
                  <a:fillRect t="-6061" b="-2727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13">
            <a:extLst>
              <a:ext uri="{FF2B5EF4-FFF2-40B4-BE49-F238E27FC236}">
                <a16:creationId xmlns:a16="http://schemas.microsoft.com/office/drawing/2014/main" id="{67D559DF-06E1-44F8-9A93-13366C78A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8" t="43663" r="1903" b="43663"/>
          <a:stretch>
            <a:fillRect/>
          </a:stretch>
        </p:blipFill>
        <p:spPr bwMode="auto">
          <a:xfrm>
            <a:off x="4514953" y="617042"/>
            <a:ext cx="4554959" cy="449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7">
            <a:extLst>
              <a:ext uri="{FF2B5EF4-FFF2-40B4-BE49-F238E27FC236}">
                <a16:creationId xmlns:a16="http://schemas.microsoft.com/office/drawing/2014/main" id="{0ABF95CC-E6C9-439C-8C6C-8B69BDB3EC8C}"/>
              </a:ext>
            </a:extLst>
          </p:cNvPr>
          <p:cNvGrpSpPr>
            <a:grpSpLocks/>
          </p:cNvGrpSpPr>
          <p:nvPr/>
        </p:nvGrpSpPr>
        <p:grpSpPr bwMode="auto">
          <a:xfrm>
            <a:off x="1592503" y="2520464"/>
            <a:ext cx="5697066" cy="2378397"/>
            <a:chOff x="961" y="2239"/>
            <a:chExt cx="4527" cy="1961"/>
          </a:xfrm>
        </p:grpSpPr>
        <p:pic>
          <p:nvPicPr>
            <p:cNvPr id="8" name="Picture 8">
              <a:extLst>
                <a:ext uri="{FF2B5EF4-FFF2-40B4-BE49-F238E27FC236}">
                  <a16:creationId xmlns:a16="http://schemas.microsoft.com/office/drawing/2014/main" id="{012C4B4A-CC70-4617-8C41-85390F3903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48" b="9171"/>
            <a:stretch>
              <a:fillRect/>
            </a:stretch>
          </p:blipFill>
          <p:spPr bwMode="auto">
            <a:xfrm>
              <a:off x="961" y="2537"/>
              <a:ext cx="4521" cy="1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BD2BFE1-0AF9-488E-85E2-AE4A1033A7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8744"/>
            <a:stretch>
              <a:fillRect/>
            </a:stretch>
          </p:blipFill>
          <p:spPr bwMode="auto">
            <a:xfrm>
              <a:off x="967" y="2239"/>
              <a:ext cx="4521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94463B08-52C6-4E5C-AD33-8D86E75A6E09}"/>
              </a:ext>
            </a:extLst>
          </p:cNvPr>
          <p:cNvSpPr txBox="1"/>
          <p:nvPr/>
        </p:nvSpPr>
        <p:spPr>
          <a:xfrm>
            <a:off x="7461663" y="3452817"/>
            <a:ext cx="1115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instructor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8182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F7AA0-5F8B-4193-9BF5-04248F8E5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Non-Leaf Nodes in B</a:t>
            </a:r>
            <a:r>
              <a:rPr lang="en-US" altLang="zh-CN" baseline="30000" dirty="0"/>
              <a:t>+</a:t>
            </a:r>
            <a:r>
              <a:rPr lang="en-US" altLang="zh-CN" dirty="0"/>
              <a:t>-Tree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5661D20-A0B6-4CCE-8154-9D1D20C4D2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dirty="0"/>
                  <a:t>Non leaf nodes form a </a:t>
                </a:r>
                <a:r>
                  <a:rPr lang="en-US" altLang="zh-CN" sz="1800" b="1" dirty="0">
                    <a:solidFill>
                      <a:srgbClr val="C00000"/>
                    </a:solidFill>
                  </a:rPr>
                  <a:t>multi-level sparse index </a:t>
                </a:r>
                <a:r>
                  <a:rPr lang="en-US" altLang="zh-CN" sz="1800" dirty="0"/>
                  <a:t>on the leaf nodes. For a non-leaf node with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1800" dirty="0"/>
                  <a:t> pointers:</a:t>
                </a:r>
              </a:p>
              <a:p>
                <a:pPr lvl="1"/>
                <a:r>
                  <a:rPr lang="en-US" altLang="zh-CN" sz="1600" dirty="0"/>
                  <a:t>All the search-keys in the subtree to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sz="1600" dirty="0"/>
                  <a:t>points are </a:t>
                </a:r>
                <a:r>
                  <a:rPr lang="en-US" altLang="zh-CN" sz="1600" dirty="0">
                    <a:solidFill>
                      <a:srgbClr val="C00000"/>
                    </a:solidFill>
                  </a:rPr>
                  <a:t>less</a:t>
                </a:r>
                <a:r>
                  <a:rPr lang="en-US" altLang="zh-CN" sz="1600" dirty="0"/>
                  <a:t>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600" baseline="-25000" dirty="0"/>
              </a:p>
              <a:p>
                <a:pPr lvl="1"/>
                <a:r>
                  <a:rPr lang="en-US" altLang="zh-CN" sz="1600" dirty="0"/>
                  <a:t>For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sz="1600" dirty="0"/>
                  <a:t>, all the search-keys in the subtree to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points have values </a:t>
                </a:r>
                <a:r>
                  <a:rPr lang="en-US" altLang="zh-CN" sz="1600" b="1" dirty="0">
                    <a:solidFill>
                      <a:srgbClr val="C00000"/>
                    </a:solidFill>
                  </a:rPr>
                  <a:t>greater than or equal to</a:t>
                </a:r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CN" sz="1600" dirty="0"/>
                  <a:t> and </a:t>
                </a:r>
                <a:r>
                  <a:rPr lang="en-US" altLang="zh-CN" sz="1600" b="1" dirty="0">
                    <a:solidFill>
                      <a:srgbClr val="C00000"/>
                    </a:solidFill>
                  </a:rPr>
                  <a:t>less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:pPr lvl="1"/>
                <a:r>
                  <a:rPr lang="en-US" altLang="zh-CN" sz="1600" dirty="0"/>
                  <a:t>All the search-keys in the subtree to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00" dirty="0"/>
                  <a:t> points are greater than or equal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5661D20-A0B6-4CCE-8154-9D1D20C4D2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6">
            <a:extLst>
              <a:ext uri="{FF2B5EF4-FFF2-40B4-BE49-F238E27FC236}">
                <a16:creationId xmlns:a16="http://schemas.microsoft.com/office/drawing/2014/main" id="{634D6228-43A5-4F44-A92A-D0DCA63A8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147814"/>
            <a:ext cx="5354984" cy="41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0950534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A7FBDE-1AF3-4E04-BA77-C7DC5F7BA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Example of B</a:t>
            </a:r>
            <a:r>
              <a:rPr lang="en-US" altLang="zh-CN" baseline="30000" dirty="0"/>
              <a:t>+</a:t>
            </a:r>
            <a:r>
              <a:rPr lang="en-US" altLang="zh-CN" dirty="0"/>
              <a:t>-tree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35975F8-22CD-4AFF-9213-31DC02BE5D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2571749"/>
                <a:ext cx="7848872" cy="2022873"/>
              </a:xfrm>
            </p:spPr>
            <p:txBody>
              <a:bodyPr/>
              <a:lstStyle/>
              <a:p>
                <a:r>
                  <a:rPr lang="en-US" altLang="zh-CN" sz="1800" dirty="0"/>
                  <a:t>B</a:t>
                </a:r>
                <a:r>
                  <a:rPr lang="en-US" altLang="zh-CN" sz="1800" baseline="30000" dirty="0"/>
                  <a:t>+</a:t>
                </a:r>
                <a:r>
                  <a:rPr lang="en-US" altLang="zh-CN" sz="1800" dirty="0"/>
                  <a:t>-tree for </a:t>
                </a:r>
                <a:r>
                  <a:rPr lang="en-US" altLang="zh-CN" sz="1800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account</a:t>
                </a:r>
                <a:r>
                  <a:rPr lang="en-US" altLang="zh-CN" sz="1800" dirty="0"/>
                  <a:t> file (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1800" dirty="0"/>
                  <a:t> = 6)</a:t>
                </a:r>
              </a:p>
              <a:p>
                <a:pPr lvl="1"/>
                <a:r>
                  <a:rPr lang="en-US" altLang="zh-CN" sz="1600" dirty="0"/>
                  <a:t>Leaf nodes must have between 3 and 5 values </a:t>
                </a:r>
                <a:br>
                  <a:rPr lang="en-US" altLang="zh-CN" sz="1600" dirty="0"/>
                </a:br>
                <a:r>
                  <a:rPr lang="en-US" altLang="zh-CN" sz="1600" dirty="0"/>
                  <a:t>(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r>
                  <a:rPr lang="en-US" altLang="zh-CN" sz="16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sz="1600" dirty="0"/>
                  <a:t>)</a:t>
                </a:r>
              </a:p>
              <a:p>
                <a:pPr lvl="1"/>
                <a:r>
                  <a:rPr lang="en-US" altLang="zh-CN" sz="1600" dirty="0"/>
                  <a:t>Non-leaf nodes other than root must have between 3 and 6 children (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r>
                  <a:rPr lang="en-US" altLang="zh-CN" sz="16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1600" dirty="0"/>
                  <a:t>)</a:t>
                </a:r>
              </a:p>
              <a:p>
                <a:pPr lvl="1"/>
                <a:r>
                  <a:rPr lang="en-US" altLang="zh-CN" sz="1600" dirty="0"/>
                  <a:t>Root must have at least 2 children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35975F8-22CD-4AFF-9213-31DC02BE5D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2571749"/>
                <a:ext cx="7848872" cy="2022873"/>
              </a:xfrm>
              <a:blipFill>
                <a:blip r:embed="rId2"/>
                <a:stretch>
                  <a:fillRect l="-466" t="-18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1E59C93-0CEF-4D96-8460-72B75099999B}"/>
                  </a:ext>
                </a:extLst>
              </p:cNvPr>
              <p:cNvSpPr txBox="1"/>
              <p:nvPr/>
            </p:nvSpPr>
            <p:spPr>
              <a:xfrm>
                <a:off x="7139410" y="1043596"/>
                <a:ext cx="151216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800" b="1" dirty="0">
                    <a:solidFill>
                      <a:srgbClr val="C00000"/>
                    </a:solidFill>
                  </a:rPr>
                  <a:t>=?</a:t>
                </a:r>
                <a:endParaRPr lang="zh-CN" altLang="en-US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1E59C93-0CEF-4D96-8460-72B750999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9410" y="1043596"/>
                <a:ext cx="1512168" cy="523220"/>
              </a:xfrm>
              <a:prstGeom prst="rect">
                <a:avLst/>
              </a:prstGeom>
              <a:blipFill>
                <a:blip r:embed="rId4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6">
            <a:extLst>
              <a:ext uri="{FF2B5EF4-FFF2-40B4-BE49-F238E27FC236}">
                <a16:creationId xmlns:a16="http://schemas.microsoft.com/office/drawing/2014/main" id="{33F38C9F-4795-45E8-AC13-8552F375D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25" y="908819"/>
            <a:ext cx="854075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28295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3B9F9-A7AD-447D-B6BD-98EDD0D4F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Observations about B</a:t>
            </a:r>
            <a:r>
              <a:rPr lang="en-US" altLang="zh-CN" baseline="30000" dirty="0"/>
              <a:t>+</a:t>
            </a:r>
            <a:r>
              <a:rPr lang="en-US" altLang="zh-CN" dirty="0"/>
              <a:t>-tree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B1E5A4D-FE52-4416-9F4C-E4C4591F6B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Since the inter-node connections are achieved by pointers, “logically” close blocks need not be “physically” close</a:t>
                </a:r>
              </a:p>
              <a:p>
                <a:r>
                  <a:rPr lang="en-US" altLang="zh-CN" sz="1600" dirty="0"/>
                  <a:t>The non-leaf levels of the B</a:t>
                </a:r>
                <a:r>
                  <a:rPr lang="en-US" altLang="zh-CN" sz="1600" baseline="30000" dirty="0"/>
                  <a:t>+</a:t>
                </a:r>
                <a:r>
                  <a:rPr lang="en-US" altLang="zh-CN" sz="1600" dirty="0"/>
                  <a:t>-tree form a hierarchy of </a:t>
                </a:r>
                <a:r>
                  <a:rPr lang="en-US" altLang="zh-CN" sz="1600" b="1" dirty="0">
                    <a:solidFill>
                      <a:srgbClr val="C00000"/>
                    </a:solidFill>
                  </a:rPr>
                  <a:t>sparse indices</a:t>
                </a:r>
              </a:p>
              <a:p>
                <a:r>
                  <a:rPr lang="en-US" altLang="zh-CN" sz="1600" dirty="0"/>
                  <a:t>The B</a:t>
                </a:r>
                <a:r>
                  <a:rPr lang="en-US" altLang="zh-CN" sz="1600" baseline="30000" dirty="0"/>
                  <a:t>+</a:t>
                </a:r>
                <a:r>
                  <a:rPr lang="en-US" altLang="zh-CN" sz="1600" dirty="0"/>
                  <a:t>-tree contains a relatively small number of levels, and search can be conducted efficiently</a:t>
                </a:r>
              </a:p>
              <a:p>
                <a:pPr lvl="1"/>
                <a:r>
                  <a:rPr lang="en-US" altLang="zh-CN" sz="1400" dirty="0"/>
                  <a:t>If there are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1400" dirty="0"/>
                  <a:t> search-key values in the file, the tree height is no more than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sub>
                        </m:s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altLang="zh-CN" sz="1400" dirty="0"/>
              </a:p>
              <a:p>
                <a:pPr lvl="2"/>
                <a:r>
                  <a:rPr lang="en-US" altLang="zh-CN" sz="1200" dirty="0"/>
                  <a:t>Level below root has at least </a:t>
                </a:r>
                <a14:m>
                  <m:oMath xmlns:m="http://schemas.openxmlformats.org/officeDocument/2006/math">
                    <m:r>
                      <a:rPr lang="en-US" altLang="zh-CN" sz="1200" b="0" i="0" smtClean="0">
                        <a:latin typeface="Cambria Math" panose="02040503050406030204" pitchFamily="18" charset="0"/>
                      </a:rPr>
                      <m:t>2∗</m:t>
                    </m:r>
                    <m:d>
                      <m:dPr>
                        <m:begChr m:val="⌈"/>
                        <m:endChr m:val="⌉"/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r>
                  <a:rPr lang="en-US" altLang="zh-CN" sz="1200" dirty="0"/>
                  <a:t> values</a:t>
                </a:r>
              </a:p>
              <a:p>
                <a:pPr lvl="2"/>
                <a:r>
                  <a:rPr lang="en-US" altLang="zh-CN" sz="1200" dirty="0"/>
                  <a:t>Next level has at least </a:t>
                </a:r>
                <a14:m>
                  <m:oMath xmlns:m="http://schemas.openxmlformats.org/officeDocument/2006/math">
                    <m:r>
                      <a:rPr lang="en-US" altLang="zh-CN" sz="1200">
                        <a:latin typeface="Cambria Math" panose="02040503050406030204" pitchFamily="18" charset="0"/>
                      </a:rPr>
                      <m:t>2∗</m:t>
                    </m:r>
                    <m:d>
                      <m:dPr>
                        <m:begChr m:val="⌈"/>
                        <m:endChr m:val="⌉"/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begChr m:val="⌈"/>
                        <m:endChr m:val="⌉"/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r>
                  <a:rPr lang="en-US" altLang="zh-CN" sz="1200" dirty="0"/>
                  <a:t>values</a:t>
                </a:r>
              </a:p>
              <a:p>
                <a:pPr lvl="2"/>
                <a:r>
                  <a:rPr lang="en-US" altLang="zh-CN" sz="1200" dirty="0"/>
                  <a:t>…</a:t>
                </a:r>
              </a:p>
              <a:p>
                <a:r>
                  <a:rPr lang="en-US" altLang="zh-CN" sz="1600" dirty="0"/>
                  <a:t>Insertions and deletions to the index file can be handled efficiently</a:t>
                </a:r>
              </a:p>
              <a:p>
                <a:endParaRPr lang="zh-CN" altLang="en-US" sz="16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B1E5A4D-FE52-4416-9F4C-E4C4591F6B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84" t="-4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9512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74F1F4-EFF1-48A2-B2C2-FCDD4CC76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Queries on B</a:t>
            </a:r>
            <a:r>
              <a:rPr lang="en-US" altLang="zh-CN" baseline="30000" dirty="0"/>
              <a:t>+</a:t>
            </a:r>
            <a:r>
              <a:rPr lang="en-US" altLang="zh-CN" dirty="0"/>
              <a:t>-Trees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695A21C-8F87-4C64-8836-006A12A300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b="1" dirty="0"/>
                  <a:t>Find all records with a search-key value of </a:t>
                </a:r>
                <a14:m>
                  <m:oMath xmlns:m="http://schemas.openxmlformats.org/officeDocument/2006/math">
                    <m:r>
                      <a:rPr lang="en-US" altLang="zh-CN" sz="1800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altLang="zh-CN" sz="1800" b="1" dirty="0"/>
              </a:p>
              <a:p>
                <a:pPr lvl="1"/>
                <a:r>
                  <a:rPr lang="en-US" altLang="zh-CN" sz="1600" dirty="0"/>
                  <a:t>Start with the root node</a:t>
                </a:r>
              </a:p>
              <a:p>
                <a:pPr lvl="2"/>
                <a:r>
                  <a:rPr lang="en-US" altLang="zh-CN" sz="1400" dirty="0"/>
                  <a:t>Check the node for the smallest search-key value&gt;k</a:t>
                </a:r>
              </a:p>
              <a:p>
                <a:pPr lvl="2"/>
                <a:r>
                  <a:rPr lang="en-US" altLang="zh-CN" sz="1400" dirty="0"/>
                  <a:t>If such a value exists, assume that it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. Then follow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to the child node</a:t>
                </a:r>
              </a:p>
              <a:p>
                <a:pPr lvl="2"/>
                <a:r>
                  <a:rPr lang="en-US" altLang="zh-CN" sz="1400" dirty="0"/>
                  <a:t>Otherwise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CN" sz="1400" dirty="0"/>
                  <a:t>, where there are </a:t>
                </a:r>
                <a14:m>
                  <m:oMath xmlns:m="http://schemas.openxmlformats.org/officeDocument/2006/math">
                    <m:r>
                      <a:rPr lang="en-US" altLang="zh-CN" sz="14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1400" dirty="0"/>
                  <a:t> pointers in the node. Then follow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400" dirty="0"/>
                  <a:t> to the child node</a:t>
                </a:r>
              </a:p>
              <a:p>
                <a:pPr lvl="1"/>
                <a:r>
                  <a:rPr lang="en-US" altLang="zh-CN" sz="1600" dirty="0"/>
                  <a:t>If the node reached by following the pointer above is not a leaf node, repeat the above procedure on the node, and follow the corresponding pointer</a:t>
                </a:r>
              </a:p>
              <a:p>
                <a:pPr lvl="1"/>
                <a:r>
                  <a:rPr lang="en-US" altLang="zh-CN" sz="1600" dirty="0"/>
                  <a:t>Eventually reach a leaf node. If for some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1600" dirty="0"/>
                  <a:t>,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1600" dirty="0"/>
                  <a:t>, follow pointer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600" dirty="0"/>
                  <a:t> to the desired record or bucket. Else no record with search-key value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1600" dirty="0"/>
                  <a:t> exists</a:t>
                </a:r>
              </a:p>
              <a:p>
                <a:endParaRPr lang="zh-CN" altLang="en-US" sz="18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695A21C-8F87-4C64-8836-006A12A300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6">
            <a:extLst>
              <a:ext uri="{FF2B5EF4-FFF2-40B4-BE49-F238E27FC236}">
                <a16:creationId xmlns:a16="http://schemas.microsoft.com/office/drawing/2014/main" id="{0CF6C698-0F21-49B1-A891-58A8A4BF0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723878"/>
            <a:ext cx="5040560" cy="39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87640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EEFFE-6C17-465E-83F4-B74B5A873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Example: Queries on B</a:t>
            </a:r>
            <a:r>
              <a:rPr lang="en-US" altLang="zh-CN" baseline="30000" dirty="0"/>
              <a:t>+</a:t>
            </a:r>
            <a:r>
              <a:rPr lang="en-US" altLang="zh-CN" dirty="0"/>
              <a:t>-Tree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2A053E-89C9-4939-A8E1-BF671114D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Search begins at root, and key comparisons direct it to a leaf</a:t>
            </a:r>
          </a:p>
          <a:p>
            <a:pPr lvl="1"/>
            <a:r>
              <a:rPr lang="en-US" altLang="zh-CN" sz="1800" dirty="0"/>
              <a:t>Search for </a:t>
            </a:r>
            <a:r>
              <a:rPr lang="en-US" altLang="zh-CN" sz="1800" dirty="0" err="1"/>
              <a:t>Perryridge</a:t>
            </a:r>
            <a:endParaRPr lang="en-US" altLang="zh-CN" sz="1800" dirty="0"/>
          </a:p>
          <a:p>
            <a:endParaRPr lang="zh-CN" altLang="en-US" sz="200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B604EB8-8D2F-4F1E-863E-27A941460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" t="30812" r="401" b="31081"/>
          <a:stretch>
            <a:fillRect/>
          </a:stretch>
        </p:blipFill>
        <p:spPr bwMode="auto">
          <a:xfrm>
            <a:off x="971600" y="1851670"/>
            <a:ext cx="6264696" cy="1808876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5985551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EEFFE-6C17-465E-83F4-B74B5A873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Example: Queries on B</a:t>
            </a:r>
            <a:r>
              <a:rPr lang="en-US" altLang="zh-CN" baseline="30000" dirty="0"/>
              <a:t>+</a:t>
            </a:r>
            <a:r>
              <a:rPr lang="en-US" altLang="zh-CN" dirty="0"/>
              <a:t>-Tree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2A053E-89C9-4939-A8E1-BF671114D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/>
          <a:p>
            <a:r>
              <a:rPr lang="en-US" altLang="zh-CN" sz="2000" dirty="0"/>
              <a:t>Search begins at root, and key comparisons direct it to a leaf</a:t>
            </a:r>
          </a:p>
          <a:p>
            <a:pPr lvl="1"/>
            <a:r>
              <a:rPr lang="en-US" altLang="zh-CN" sz="1800" dirty="0"/>
              <a:t>Search for </a:t>
            </a:r>
            <a:r>
              <a:rPr lang="en-US" altLang="zh-CN" sz="1800" b="1" i="1" dirty="0">
                <a:solidFill>
                  <a:srgbClr val="0000FF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5*, 15*, all data entries &gt;= 24* </a:t>
            </a:r>
            <a:endParaRPr lang="en-US" altLang="zh-CN" sz="1600" dirty="0"/>
          </a:p>
          <a:p>
            <a:endParaRPr lang="zh-CN" alt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2C5FC0-81D2-4BD4-A76D-6EECA53BA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7350" y="3676898"/>
            <a:ext cx="14287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31CFFC-B698-4629-8A1A-BA807986C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3676898"/>
            <a:ext cx="21717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5E0BA6A7-1D85-4B8F-841B-4DBFD4F73053}"/>
              </a:ext>
            </a:extLst>
          </p:cNvPr>
          <p:cNvSpPr>
            <a:spLocks/>
          </p:cNvSpPr>
          <p:nvPr/>
        </p:nvSpPr>
        <p:spPr bwMode="auto">
          <a:xfrm>
            <a:off x="3596879" y="2206476"/>
            <a:ext cx="417909" cy="348854"/>
          </a:xfrm>
          <a:custGeom>
            <a:avLst/>
            <a:gdLst>
              <a:gd name="T0" fmla="*/ 0 w 351"/>
              <a:gd name="T1" fmla="*/ 2147483646 h 293"/>
              <a:gd name="T2" fmla="*/ 0 w 351"/>
              <a:gd name="T3" fmla="*/ 0 h 293"/>
              <a:gd name="T4" fmla="*/ 2147483646 w 351"/>
              <a:gd name="T5" fmla="*/ 0 h 293"/>
              <a:gd name="T6" fmla="*/ 2147483646 w 351"/>
              <a:gd name="T7" fmla="*/ 2147483646 h 293"/>
              <a:gd name="T8" fmla="*/ 0 w 351"/>
              <a:gd name="T9" fmla="*/ 2147483646 h 2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1"/>
              <a:gd name="T16" fmla="*/ 0 h 293"/>
              <a:gd name="T17" fmla="*/ 351 w 351"/>
              <a:gd name="T18" fmla="*/ 293 h 2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1" h="293">
                <a:moveTo>
                  <a:pt x="0" y="292"/>
                </a:moveTo>
                <a:lnTo>
                  <a:pt x="0" y="0"/>
                </a:lnTo>
                <a:lnTo>
                  <a:pt x="350" y="0"/>
                </a:lnTo>
                <a:lnTo>
                  <a:pt x="350" y="292"/>
                </a:lnTo>
                <a:lnTo>
                  <a:pt x="0" y="292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F1588E8-C085-4B0D-90CB-6344A52C1B8A}"/>
              </a:ext>
            </a:extLst>
          </p:cNvPr>
          <p:cNvSpPr>
            <a:spLocks/>
          </p:cNvSpPr>
          <p:nvPr/>
        </p:nvSpPr>
        <p:spPr bwMode="auto">
          <a:xfrm>
            <a:off x="3667125" y="2206476"/>
            <a:ext cx="1191" cy="348854"/>
          </a:xfrm>
          <a:custGeom>
            <a:avLst/>
            <a:gdLst>
              <a:gd name="T0" fmla="*/ 0 w 1"/>
              <a:gd name="T1" fmla="*/ 0 h 293"/>
              <a:gd name="T2" fmla="*/ 0 w 1"/>
              <a:gd name="T3" fmla="*/ 2147483646 h 293"/>
              <a:gd name="T4" fmla="*/ 0 w 1"/>
              <a:gd name="T5" fmla="*/ 0 h 293"/>
              <a:gd name="T6" fmla="*/ 0 60000 65536"/>
              <a:gd name="T7" fmla="*/ 0 60000 65536"/>
              <a:gd name="T8" fmla="*/ 0 60000 65536"/>
              <a:gd name="T9" fmla="*/ 0 w 1"/>
              <a:gd name="T10" fmla="*/ 0 h 293"/>
              <a:gd name="T11" fmla="*/ 1 w 1"/>
              <a:gd name="T12" fmla="*/ 293 h 2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3">
                <a:moveTo>
                  <a:pt x="0" y="0"/>
                </a:moveTo>
                <a:lnTo>
                  <a:pt x="0" y="292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2DC60DC-F591-4017-95AD-AAE7B4085C6E}"/>
              </a:ext>
            </a:extLst>
          </p:cNvPr>
          <p:cNvSpPr>
            <a:spLocks/>
          </p:cNvSpPr>
          <p:nvPr/>
        </p:nvSpPr>
        <p:spPr bwMode="auto">
          <a:xfrm>
            <a:off x="4013598" y="2206476"/>
            <a:ext cx="420290" cy="348854"/>
          </a:xfrm>
          <a:custGeom>
            <a:avLst/>
            <a:gdLst>
              <a:gd name="T0" fmla="*/ 0 w 353"/>
              <a:gd name="T1" fmla="*/ 2147483646 h 293"/>
              <a:gd name="T2" fmla="*/ 0 w 353"/>
              <a:gd name="T3" fmla="*/ 0 h 293"/>
              <a:gd name="T4" fmla="*/ 2147483646 w 353"/>
              <a:gd name="T5" fmla="*/ 0 h 293"/>
              <a:gd name="T6" fmla="*/ 2147483646 w 353"/>
              <a:gd name="T7" fmla="*/ 2147483646 h 293"/>
              <a:gd name="T8" fmla="*/ 0 w 353"/>
              <a:gd name="T9" fmla="*/ 2147483646 h 2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3"/>
              <a:gd name="T16" fmla="*/ 0 h 293"/>
              <a:gd name="T17" fmla="*/ 353 w 353"/>
              <a:gd name="T18" fmla="*/ 293 h 2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3" h="293">
                <a:moveTo>
                  <a:pt x="0" y="292"/>
                </a:moveTo>
                <a:lnTo>
                  <a:pt x="0" y="0"/>
                </a:lnTo>
                <a:lnTo>
                  <a:pt x="352" y="0"/>
                </a:lnTo>
                <a:lnTo>
                  <a:pt x="352" y="292"/>
                </a:lnTo>
                <a:lnTo>
                  <a:pt x="0" y="292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79E746B-75D2-4A2C-8C45-CE31C80B35DF}"/>
              </a:ext>
            </a:extLst>
          </p:cNvPr>
          <p:cNvSpPr>
            <a:spLocks/>
          </p:cNvSpPr>
          <p:nvPr/>
        </p:nvSpPr>
        <p:spPr bwMode="auto">
          <a:xfrm>
            <a:off x="4085035" y="2206476"/>
            <a:ext cx="1190" cy="348854"/>
          </a:xfrm>
          <a:custGeom>
            <a:avLst/>
            <a:gdLst>
              <a:gd name="T0" fmla="*/ 0 w 1"/>
              <a:gd name="T1" fmla="*/ 0 h 293"/>
              <a:gd name="T2" fmla="*/ 0 w 1"/>
              <a:gd name="T3" fmla="*/ 2147483646 h 293"/>
              <a:gd name="T4" fmla="*/ 0 w 1"/>
              <a:gd name="T5" fmla="*/ 0 h 293"/>
              <a:gd name="T6" fmla="*/ 0 60000 65536"/>
              <a:gd name="T7" fmla="*/ 0 60000 65536"/>
              <a:gd name="T8" fmla="*/ 0 60000 65536"/>
              <a:gd name="T9" fmla="*/ 0 w 1"/>
              <a:gd name="T10" fmla="*/ 0 h 293"/>
              <a:gd name="T11" fmla="*/ 1 w 1"/>
              <a:gd name="T12" fmla="*/ 293 h 2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3">
                <a:moveTo>
                  <a:pt x="0" y="0"/>
                </a:moveTo>
                <a:lnTo>
                  <a:pt x="0" y="292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4C966908-F904-4420-90B3-6B9512A9915A}"/>
              </a:ext>
            </a:extLst>
          </p:cNvPr>
          <p:cNvSpPr>
            <a:spLocks/>
          </p:cNvSpPr>
          <p:nvPr/>
        </p:nvSpPr>
        <p:spPr bwMode="auto">
          <a:xfrm>
            <a:off x="4432697" y="2206476"/>
            <a:ext cx="419100" cy="348854"/>
          </a:xfrm>
          <a:custGeom>
            <a:avLst/>
            <a:gdLst>
              <a:gd name="T0" fmla="*/ 0 w 352"/>
              <a:gd name="T1" fmla="*/ 2147483646 h 293"/>
              <a:gd name="T2" fmla="*/ 0 w 352"/>
              <a:gd name="T3" fmla="*/ 0 h 293"/>
              <a:gd name="T4" fmla="*/ 2147483646 w 352"/>
              <a:gd name="T5" fmla="*/ 0 h 293"/>
              <a:gd name="T6" fmla="*/ 2147483646 w 352"/>
              <a:gd name="T7" fmla="*/ 2147483646 h 293"/>
              <a:gd name="T8" fmla="*/ 0 w 352"/>
              <a:gd name="T9" fmla="*/ 2147483646 h 2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2"/>
              <a:gd name="T16" fmla="*/ 0 h 293"/>
              <a:gd name="T17" fmla="*/ 352 w 352"/>
              <a:gd name="T18" fmla="*/ 293 h 2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2" h="293">
                <a:moveTo>
                  <a:pt x="0" y="292"/>
                </a:moveTo>
                <a:lnTo>
                  <a:pt x="0" y="0"/>
                </a:lnTo>
                <a:lnTo>
                  <a:pt x="351" y="0"/>
                </a:lnTo>
                <a:lnTo>
                  <a:pt x="351" y="292"/>
                </a:lnTo>
                <a:lnTo>
                  <a:pt x="0" y="292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90C562D-637F-4A35-8AE2-5A7FCC435D5D}"/>
              </a:ext>
            </a:extLst>
          </p:cNvPr>
          <p:cNvSpPr>
            <a:spLocks/>
          </p:cNvSpPr>
          <p:nvPr/>
        </p:nvSpPr>
        <p:spPr bwMode="auto">
          <a:xfrm>
            <a:off x="4502944" y="2206476"/>
            <a:ext cx="1191" cy="348854"/>
          </a:xfrm>
          <a:custGeom>
            <a:avLst/>
            <a:gdLst>
              <a:gd name="T0" fmla="*/ 0 w 1"/>
              <a:gd name="T1" fmla="*/ 0 h 293"/>
              <a:gd name="T2" fmla="*/ 0 w 1"/>
              <a:gd name="T3" fmla="*/ 2147483646 h 293"/>
              <a:gd name="T4" fmla="*/ 0 w 1"/>
              <a:gd name="T5" fmla="*/ 0 h 293"/>
              <a:gd name="T6" fmla="*/ 0 60000 65536"/>
              <a:gd name="T7" fmla="*/ 0 60000 65536"/>
              <a:gd name="T8" fmla="*/ 0 60000 65536"/>
              <a:gd name="T9" fmla="*/ 0 w 1"/>
              <a:gd name="T10" fmla="*/ 0 h 293"/>
              <a:gd name="T11" fmla="*/ 1 w 1"/>
              <a:gd name="T12" fmla="*/ 293 h 2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3">
                <a:moveTo>
                  <a:pt x="0" y="0"/>
                </a:moveTo>
                <a:lnTo>
                  <a:pt x="0" y="292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E3F5779B-52DA-4317-BEAC-8FD91BA6D69D}"/>
              </a:ext>
            </a:extLst>
          </p:cNvPr>
          <p:cNvSpPr>
            <a:spLocks/>
          </p:cNvSpPr>
          <p:nvPr/>
        </p:nvSpPr>
        <p:spPr bwMode="auto">
          <a:xfrm>
            <a:off x="4850606" y="2206476"/>
            <a:ext cx="420291" cy="348854"/>
          </a:xfrm>
          <a:custGeom>
            <a:avLst/>
            <a:gdLst>
              <a:gd name="T0" fmla="*/ 0 w 353"/>
              <a:gd name="T1" fmla="*/ 2147483646 h 293"/>
              <a:gd name="T2" fmla="*/ 0 w 353"/>
              <a:gd name="T3" fmla="*/ 0 h 293"/>
              <a:gd name="T4" fmla="*/ 2147483646 w 353"/>
              <a:gd name="T5" fmla="*/ 0 h 293"/>
              <a:gd name="T6" fmla="*/ 2147483646 w 353"/>
              <a:gd name="T7" fmla="*/ 2147483646 h 293"/>
              <a:gd name="T8" fmla="*/ 0 w 353"/>
              <a:gd name="T9" fmla="*/ 2147483646 h 2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3"/>
              <a:gd name="T16" fmla="*/ 0 h 293"/>
              <a:gd name="T17" fmla="*/ 353 w 353"/>
              <a:gd name="T18" fmla="*/ 293 h 2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3" h="293">
                <a:moveTo>
                  <a:pt x="0" y="292"/>
                </a:moveTo>
                <a:lnTo>
                  <a:pt x="0" y="0"/>
                </a:lnTo>
                <a:lnTo>
                  <a:pt x="352" y="0"/>
                </a:lnTo>
                <a:lnTo>
                  <a:pt x="352" y="292"/>
                </a:lnTo>
                <a:lnTo>
                  <a:pt x="0" y="292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572B2847-6F46-4FFB-AD19-A23AB2211BD7}"/>
              </a:ext>
            </a:extLst>
          </p:cNvPr>
          <p:cNvSpPr>
            <a:spLocks/>
          </p:cNvSpPr>
          <p:nvPr/>
        </p:nvSpPr>
        <p:spPr bwMode="auto">
          <a:xfrm>
            <a:off x="4919663" y="2206476"/>
            <a:ext cx="1191" cy="348854"/>
          </a:xfrm>
          <a:custGeom>
            <a:avLst/>
            <a:gdLst>
              <a:gd name="T0" fmla="*/ 0 w 1"/>
              <a:gd name="T1" fmla="*/ 0 h 293"/>
              <a:gd name="T2" fmla="*/ 0 w 1"/>
              <a:gd name="T3" fmla="*/ 2147483646 h 293"/>
              <a:gd name="T4" fmla="*/ 0 w 1"/>
              <a:gd name="T5" fmla="*/ 0 h 293"/>
              <a:gd name="T6" fmla="*/ 0 60000 65536"/>
              <a:gd name="T7" fmla="*/ 0 60000 65536"/>
              <a:gd name="T8" fmla="*/ 0 60000 65536"/>
              <a:gd name="T9" fmla="*/ 0 w 1"/>
              <a:gd name="T10" fmla="*/ 0 h 293"/>
              <a:gd name="T11" fmla="*/ 1 w 1"/>
              <a:gd name="T12" fmla="*/ 293 h 2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3">
                <a:moveTo>
                  <a:pt x="0" y="0"/>
                </a:moveTo>
                <a:lnTo>
                  <a:pt x="0" y="292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507847-2D19-4336-B2F2-92FF0FC64AE2}"/>
              </a:ext>
            </a:extLst>
          </p:cNvPr>
          <p:cNvSpPr>
            <a:spLocks/>
          </p:cNvSpPr>
          <p:nvPr/>
        </p:nvSpPr>
        <p:spPr bwMode="auto">
          <a:xfrm>
            <a:off x="5269707" y="2206476"/>
            <a:ext cx="70247" cy="348854"/>
          </a:xfrm>
          <a:custGeom>
            <a:avLst/>
            <a:gdLst>
              <a:gd name="T0" fmla="*/ 0 w 59"/>
              <a:gd name="T1" fmla="*/ 2147483646 h 293"/>
              <a:gd name="T2" fmla="*/ 0 w 59"/>
              <a:gd name="T3" fmla="*/ 0 h 293"/>
              <a:gd name="T4" fmla="*/ 2147483646 w 59"/>
              <a:gd name="T5" fmla="*/ 0 h 293"/>
              <a:gd name="T6" fmla="*/ 2147483646 w 59"/>
              <a:gd name="T7" fmla="*/ 2147483646 h 293"/>
              <a:gd name="T8" fmla="*/ 0 w 59"/>
              <a:gd name="T9" fmla="*/ 2147483646 h 2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9"/>
              <a:gd name="T16" fmla="*/ 0 h 293"/>
              <a:gd name="T17" fmla="*/ 59 w 59"/>
              <a:gd name="T18" fmla="*/ 293 h 2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9" h="293">
                <a:moveTo>
                  <a:pt x="0" y="292"/>
                </a:moveTo>
                <a:lnTo>
                  <a:pt x="0" y="0"/>
                </a:lnTo>
                <a:lnTo>
                  <a:pt x="58" y="0"/>
                </a:lnTo>
                <a:lnTo>
                  <a:pt x="58" y="292"/>
                </a:lnTo>
                <a:lnTo>
                  <a:pt x="0" y="292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85494173-FDA5-4B7E-A452-A515C4D68C44}"/>
              </a:ext>
            </a:extLst>
          </p:cNvPr>
          <p:cNvSpPr>
            <a:spLocks/>
          </p:cNvSpPr>
          <p:nvPr/>
        </p:nvSpPr>
        <p:spPr bwMode="auto">
          <a:xfrm>
            <a:off x="6418660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4D1757D-9456-4212-9C7F-9D0EEF8873F8}"/>
              </a:ext>
            </a:extLst>
          </p:cNvPr>
          <p:cNvSpPr>
            <a:spLocks/>
          </p:cNvSpPr>
          <p:nvPr/>
        </p:nvSpPr>
        <p:spPr bwMode="auto">
          <a:xfrm>
            <a:off x="6697266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75585C35-3595-41C0-85EE-350AECB88278}"/>
              </a:ext>
            </a:extLst>
          </p:cNvPr>
          <p:cNvSpPr>
            <a:spLocks/>
          </p:cNvSpPr>
          <p:nvPr/>
        </p:nvSpPr>
        <p:spPr bwMode="auto">
          <a:xfrm>
            <a:off x="6975872" y="3282802"/>
            <a:ext cx="280988" cy="279797"/>
          </a:xfrm>
          <a:custGeom>
            <a:avLst/>
            <a:gdLst>
              <a:gd name="T0" fmla="*/ 0 w 236"/>
              <a:gd name="T1" fmla="*/ 2147483646 h 235"/>
              <a:gd name="T2" fmla="*/ 0 w 236"/>
              <a:gd name="T3" fmla="*/ 0 h 235"/>
              <a:gd name="T4" fmla="*/ 2147483646 w 236"/>
              <a:gd name="T5" fmla="*/ 0 h 235"/>
              <a:gd name="T6" fmla="*/ 2147483646 w 236"/>
              <a:gd name="T7" fmla="*/ 2147483646 h 235"/>
              <a:gd name="T8" fmla="*/ 0 w 236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6"/>
              <a:gd name="T16" fmla="*/ 0 h 235"/>
              <a:gd name="T17" fmla="*/ 236 w 236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6" h="235">
                <a:moveTo>
                  <a:pt x="0" y="234"/>
                </a:moveTo>
                <a:lnTo>
                  <a:pt x="0" y="0"/>
                </a:lnTo>
                <a:lnTo>
                  <a:pt x="235" y="0"/>
                </a:lnTo>
                <a:lnTo>
                  <a:pt x="235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CCB446FD-1897-4F70-93C4-C0BE5761AC05}"/>
              </a:ext>
            </a:extLst>
          </p:cNvPr>
          <p:cNvSpPr>
            <a:spLocks/>
          </p:cNvSpPr>
          <p:nvPr/>
        </p:nvSpPr>
        <p:spPr bwMode="auto">
          <a:xfrm>
            <a:off x="7255669" y="3282802"/>
            <a:ext cx="278606" cy="279797"/>
          </a:xfrm>
          <a:custGeom>
            <a:avLst/>
            <a:gdLst>
              <a:gd name="T0" fmla="*/ 0 w 234"/>
              <a:gd name="T1" fmla="*/ 2147483646 h 235"/>
              <a:gd name="T2" fmla="*/ 0 w 234"/>
              <a:gd name="T3" fmla="*/ 0 h 235"/>
              <a:gd name="T4" fmla="*/ 2147483646 w 234"/>
              <a:gd name="T5" fmla="*/ 0 h 235"/>
              <a:gd name="T6" fmla="*/ 2147483646 w 234"/>
              <a:gd name="T7" fmla="*/ 2147483646 h 235"/>
              <a:gd name="T8" fmla="*/ 0 w 234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4"/>
              <a:gd name="T16" fmla="*/ 0 h 235"/>
              <a:gd name="T17" fmla="*/ 234 w 234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4" h="235">
                <a:moveTo>
                  <a:pt x="0" y="234"/>
                </a:moveTo>
                <a:lnTo>
                  <a:pt x="0" y="0"/>
                </a:lnTo>
                <a:lnTo>
                  <a:pt x="233" y="0"/>
                </a:lnTo>
                <a:lnTo>
                  <a:pt x="233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345C1F25-1CF2-405E-A7E2-F2BFAF05E90B}"/>
              </a:ext>
            </a:extLst>
          </p:cNvPr>
          <p:cNvSpPr>
            <a:spLocks/>
          </p:cNvSpPr>
          <p:nvPr/>
        </p:nvSpPr>
        <p:spPr bwMode="auto">
          <a:xfrm>
            <a:off x="1402557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695C3530-6CA5-4DE5-B67F-26391BD54104}"/>
              </a:ext>
            </a:extLst>
          </p:cNvPr>
          <p:cNvSpPr>
            <a:spLocks/>
          </p:cNvSpPr>
          <p:nvPr/>
        </p:nvSpPr>
        <p:spPr bwMode="auto">
          <a:xfrm>
            <a:off x="1681163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E82E5D6E-5CCE-44ED-ACBE-A7EE9CA66F99}"/>
              </a:ext>
            </a:extLst>
          </p:cNvPr>
          <p:cNvSpPr>
            <a:spLocks/>
          </p:cNvSpPr>
          <p:nvPr/>
        </p:nvSpPr>
        <p:spPr bwMode="auto">
          <a:xfrm>
            <a:off x="1959769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8C608CF6-8385-40A0-BD1A-6EE61887BA0C}"/>
              </a:ext>
            </a:extLst>
          </p:cNvPr>
          <p:cNvSpPr>
            <a:spLocks/>
          </p:cNvSpPr>
          <p:nvPr/>
        </p:nvSpPr>
        <p:spPr bwMode="auto">
          <a:xfrm>
            <a:off x="2238376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8258EC30-A42B-471D-8EDD-F870B301C3FA}"/>
              </a:ext>
            </a:extLst>
          </p:cNvPr>
          <p:cNvSpPr>
            <a:spLocks/>
          </p:cNvSpPr>
          <p:nvPr/>
        </p:nvSpPr>
        <p:spPr bwMode="auto">
          <a:xfrm>
            <a:off x="2656285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9E9F76A8-54C5-4426-BCD7-979CBA9352E1}"/>
              </a:ext>
            </a:extLst>
          </p:cNvPr>
          <p:cNvSpPr>
            <a:spLocks/>
          </p:cNvSpPr>
          <p:nvPr/>
        </p:nvSpPr>
        <p:spPr bwMode="auto">
          <a:xfrm>
            <a:off x="2934891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8D864684-D999-4B80-88F5-A8606B7735D4}"/>
              </a:ext>
            </a:extLst>
          </p:cNvPr>
          <p:cNvSpPr>
            <a:spLocks/>
          </p:cNvSpPr>
          <p:nvPr/>
        </p:nvSpPr>
        <p:spPr bwMode="auto">
          <a:xfrm>
            <a:off x="3213497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01C9B2C0-11CD-4D62-B272-A658DF8DE76B}"/>
              </a:ext>
            </a:extLst>
          </p:cNvPr>
          <p:cNvSpPr>
            <a:spLocks/>
          </p:cNvSpPr>
          <p:nvPr/>
        </p:nvSpPr>
        <p:spPr bwMode="auto">
          <a:xfrm>
            <a:off x="3492103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DA3E4C9-1AB0-403D-867F-5CB0DAE5B0D8}"/>
              </a:ext>
            </a:extLst>
          </p:cNvPr>
          <p:cNvSpPr>
            <a:spLocks/>
          </p:cNvSpPr>
          <p:nvPr/>
        </p:nvSpPr>
        <p:spPr bwMode="auto">
          <a:xfrm>
            <a:off x="3910013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C5BE6388-3878-4949-958C-CD621830EA0F}"/>
              </a:ext>
            </a:extLst>
          </p:cNvPr>
          <p:cNvSpPr>
            <a:spLocks/>
          </p:cNvSpPr>
          <p:nvPr/>
        </p:nvSpPr>
        <p:spPr bwMode="auto">
          <a:xfrm>
            <a:off x="4188619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3D258073-195F-4B1F-B5D9-D8FE808B29AA}"/>
              </a:ext>
            </a:extLst>
          </p:cNvPr>
          <p:cNvSpPr>
            <a:spLocks/>
          </p:cNvSpPr>
          <p:nvPr/>
        </p:nvSpPr>
        <p:spPr bwMode="auto">
          <a:xfrm>
            <a:off x="4467225" y="3282802"/>
            <a:ext cx="280988" cy="279797"/>
          </a:xfrm>
          <a:custGeom>
            <a:avLst/>
            <a:gdLst>
              <a:gd name="T0" fmla="*/ 0 w 236"/>
              <a:gd name="T1" fmla="*/ 2147483646 h 235"/>
              <a:gd name="T2" fmla="*/ 0 w 236"/>
              <a:gd name="T3" fmla="*/ 0 h 235"/>
              <a:gd name="T4" fmla="*/ 2147483646 w 236"/>
              <a:gd name="T5" fmla="*/ 0 h 235"/>
              <a:gd name="T6" fmla="*/ 2147483646 w 236"/>
              <a:gd name="T7" fmla="*/ 2147483646 h 235"/>
              <a:gd name="T8" fmla="*/ 0 w 236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6"/>
              <a:gd name="T16" fmla="*/ 0 h 235"/>
              <a:gd name="T17" fmla="*/ 236 w 236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6" h="235">
                <a:moveTo>
                  <a:pt x="0" y="234"/>
                </a:moveTo>
                <a:lnTo>
                  <a:pt x="0" y="0"/>
                </a:lnTo>
                <a:lnTo>
                  <a:pt x="235" y="0"/>
                </a:lnTo>
                <a:lnTo>
                  <a:pt x="235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C0306585-0405-439D-B56C-7C2E0EB6D1E1}"/>
              </a:ext>
            </a:extLst>
          </p:cNvPr>
          <p:cNvSpPr>
            <a:spLocks/>
          </p:cNvSpPr>
          <p:nvPr/>
        </p:nvSpPr>
        <p:spPr bwMode="auto">
          <a:xfrm>
            <a:off x="4747022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05B8BB72-D2FC-4BAF-969B-0BAEA5E18738}"/>
              </a:ext>
            </a:extLst>
          </p:cNvPr>
          <p:cNvSpPr>
            <a:spLocks/>
          </p:cNvSpPr>
          <p:nvPr/>
        </p:nvSpPr>
        <p:spPr bwMode="auto">
          <a:xfrm>
            <a:off x="5163741" y="3282802"/>
            <a:ext cx="280988" cy="279797"/>
          </a:xfrm>
          <a:custGeom>
            <a:avLst/>
            <a:gdLst>
              <a:gd name="T0" fmla="*/ 0 w 236"/>
              <a:gd name="T1" fmla="*/ 2147483646 h 235"/>
              <a:gd name="T2" fmla="*/ 0 w 236"/>
              <a:gd name="T3" fmla="*/ 0 h 235"/>
              <a:gd name="T4" fmla="*/ 2147483646 w 236"/>
              <a:gd name="T5" fmla="*/ 0 h 235"/>
              <a:gd name="T6" fmla="*/ 2147483646 w 236"/>
              <a:gd name="T7" fmla="*/ 2147483646 h 235"/>
              <a:gd name="T8" fmla="*/ 0 w 236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6"/>
              <a:gd name="T16" fmla="*/ 0 h 235"/>
              <a:gd name="T17" fmla="*/ 236 w 236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6" h="235">
                <a:moveTo>
                  <a:pt x="0" y="234"/>
                </a:moveTo>
                <a:lnTo>
                  <a:pt x="0" y="0"/>
                </a:lnTo>
                <a:lnTo>
                  <a:pt x="235" y="0"/>
                </a:lnTo>
                <a:lnTo>
                  <a:pt x="235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B33D9151-0844-4E98-B06A-35E6973A07DD}"/>
              </a:ext>
            </a:extLst>
          </p:cNvPr>
          <p:cNvSpPr>
            <a:spLocks/>
          </p:cNvSpPr>
          <p:nvPr/>
        </p:nvSpPr>
        <p:spPr bwMode="auto">
          <a:xfrm>
            <a:off x="5443538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25CED962-76CA-4639-B400-DC269B7639BD}"/>
              </a:ext>
            </a:extLst>
          </p:cNvPr>
          <p:cNvSpPr>
            <a:spLocks/>
          </p:cNvSpPr>
          <p:nvPr/>
        </p:nvSpPr>
        <p:spPr bwMode="auto">
          <a:xfrm>
            <a:off x="5722144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D34E241E-672B-427D-8936-29E439CD0476}"/>
              </a:ext>
            </a:extLst>
          </p:cNvPr>
          <p:cNvSpPr>
            <a:spLocks/>
          </p:cNvSpPr>
          <p:nvPr/>
        </p:nvSpPr>
        <p:spPr bwMode="auto">
          <a:xfrm>
            <a:off x="6000751" y="3282802"/>
            <a:ext cx="279797" cy="279797"/>
          </a:xfrm>
          <a:custGeom>
            <a:avLst/>
            <a:gdLst>
              <a:gd name="T0" fmla="*/ 0 w 235"/>
              <a:gd name="T1" fmla="*/ 2147483646 h 235"/>
              <a:gd name="T2" fmla="*/ 0 w 235"/>
              <a:gd name="T3" fmla="*/ 0 h 235"/>
              <a:gd name="T4" fmla="*/ 2147483646 w 235"/>
              <a:gd name="T5" fmla="*/ 0 h 235"/>
              <a:gd name="T6" fmla="*/ 2147483646 w 235"/>
              <a:gd name="T7" fmla="*/ 2147483646 h 235"/>
              <a:gd name="T8" fmla="*/ 0 w 235"/>
              <a:gd name="T9" fmla="*/ 2147483646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C6120D12-B9DB-470A-8624-17760E30EDBC}"/>
              </a:ext>
            </a:extLst>
          </p:cNvPr>
          <p:cNvSpPr>
            <a:spLocks/>
          </p:cNvSpPr>
          <p:nvPr/>
        </p:nvSpPr>
        <p:spPr bwMode="auto">
          <a:xfrm>
            <a:off x="1782367" y="2510086"/>
            <a:ext cx="1850231" cy="757238"/>
          </a:xfrm>
          <a:custGeom>
            <a:avLst/>
            <a:gdLst>
              <a:gd name="T0" fmla="*/ 2147483646 w 1398"/>
              <a:gd name="T1" fmla="*/ 0 h 636"/>
              <a:gd name="T2" fmla="*/ 0 w 1398"/>
              <a:gd name="T3" fmla="*/ 2147483646 h 636"/>
              <a:gd name="T4" fmla="*/ 2147483646 w 1398"/>
              <a:gd name="T5" fmla="*/ 0 h 636"/>
              <a:gd name="T6" fmla="*/ 0 60000 65536"/>
              <a:gd name="T7" fmla="*/ 0 60000 65536"/>
              <a:gd name="T8" fmla="*/ 0 60000 65536"/>
              <a:gd name="T9" fmla="*/ 0 w 1398"/>
              <a:gd name="T10" fmla="*/ 0 h 636"/>
              <a:gd name="T11" fmla="*/ 1398 w 1398"/>
              <a:gd name="T12" fmla="*/ 636 h 6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98" h="636">
                <a:moveTo>
                  <a:pt x="1397" y="0"/>
                </a:moveTo>
                <a:lnTo>
                  <a:pt x="0" y="635"/>
                </a:lnTo>
                <a:lnTo>
                  <a:pt x="1397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E36058C6-AEB0-46AF-9C17-8CE30306F694}"/>
              </a:ext>
            </a:extLst>
          </p:cNvPr>
          <p:cNvSpPr>
            <a:spLocks/>
          </p:cNvSpPr>
          <p:nvPr/>
        </p:nvSpPr>
        <p:spPr bwMode="auto">
          <a:xfrm>
            <a:off x="1739503" y="3229223"/>
            <a:ext cx="89297" cy="57150"/>
          </a:xfrm>
          <a:custGeom>
            <a:avLst/>
            <a:gdLst>
              <a:gd name="T0" fmla="*/ 2147483646 w 75"/>
              <a:gd name="T1" fmla="*/ 2147483646 h 48"/>
              <a:gd name="T2" fmla="*/ 0 w 75"/>
              <a:gd name="T3" fmla="*/ 2147483646 h 48"/>
              <a:gd name="T4" fmla="*/ 2147483646 w 75"/>
              <a:gd name="T5" fmla="*/ 0 h 48"/>
              <a:gd name="T6" fmla="*/ 2147483646 w 75"/>
              <a:gd name="T7" fmla="*/ 2147483646 h 48"/>
              <a:gd name="T8" fmla="*/ 0 60000 65536"/>
              <a:gd name="T9" fmla="*/ 0 60000 65536"/>
              <a:gd name="T10" fmla="*/ 0 60000 65536"/>
              <a:gd name="T11" fmla="*/ 0 60000 65536"/>
              <a:gd name="T12" fmla="*/ 0 w 75"/>
              <a:gd name="T13" fmla="*/ 0 h 48"/>
              <a:gd name="T14" fmla="*/ 75 w 75"/>
              <a:gd name="T15" fmla="*/ 48 h 4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" h="48">
                <a:moveTo>
                  <a:pt x="74" y="33"/>
                </a:moveTo>
                <a:lnTo>
                  <a:pt x="0" y="47"/>
                </a:lnTo>
                <a:lnTo>
                  <a:pt x="59" y="0"/>
                </a:lnTo>
                <a:lnTo>
                  <a:pt x="74" y="33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E43E728F-9D2A-4372-9600-CD8A790C6009}"/>
              </a:ext>
            </a:extLst>
          </p:cNvPr>
          <p:cNvSpPr>
            <a:spLocks/>
          </p:cNvSpPr>
          <p:nvPr/>
        </p:nvSpPr>
        <p:spPr bwMode="auto">
          <a:xfrm>
            <a:off x="3077767" y="2538661"/>
            <a:ext cx="954881" cy="708422"/>
          </a:xfrm>
          <a:custGeom>
            <a:avLst/>
            <a:gdLst>
              <a:gd name="T0" fmla="*/ 2147483646 w 696"/>
              <a:gd name="T1" fmla="*/ 0 h 628"/>
              <a:gd name="T2" fmla="*/ 0 w 696"/>
              <a:gd name="T3" fmla="*/ 2147483646 h 628"/>
              <a:gd name="T4" fmla="*/ 2147483646 w 696"/>
              <a:gd name="T5" fmla="*/ 0 h 628"/>
              <a:gd name="T6" fmla="*/ 0 60000 65536"/>
              <a:gd name="T7" fmla="*/ 0 60000 65536"/>
              <a:gd name="T8" fmla="*/ 0 60000 65536"/>
              <a:gd name="T9" fmla="*/ 0 w 696"/>
              <a:gd name="T10" fmla="*/ 0 h 628"/>
              <a:gd name="T11" fmla="*/ 696 w 696"/>
              <a:gd name="T12" fmla="*/ 628 h 6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96" h="628">
                <a:moveTo>
                  <a:pt x="695" y="0"/>
                </a:moveTo>
                <a:lnTo>
                  <a:pt x="0" y="627"/>
                </a:lnTo>
                <a:lnTo>
                  <a:pt x="695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AF07A1BC-FD12-4B9A-87C0-DDD44AC851EF}"/>
              </a:ext>
            </a:extLst>
          </p:cNvPr>
          <p:cNvSpPr>
            <a:spLocks/>
          </p:cNvSpPr>
          <p:nvPr/>
        </p:nvSpPr>
        <p:spPr bwMode="auto">
          <a:xfrm>
            <a:off x="2990850" y="3230414"/>
            <a:ext cx="80963" cy="76200"/>
          </a:xfrm>
          <a:custGeom>
            <a:avLst/>
            <a:gdLst>
              <a:gd name="T0" fmla="*/ 2147483646 w 68"/>
              <a:gd name="T1" fmla="*/ 2147483646 h 64"/>
              <a:gd name="T2" fmla="*/ 0 w 68"/>
              <a:gd name="T3" fmla="*/ 2147483646 h 64"/>
              <a:gd name="T4" fmla="*/ 2147483646 w 68"/>
              <a:gd name="T5" fmla="*/ 0 h 64"/>
              <a:gd name="T6" fmla="*/ 2147483646 w 68"/>
              <a:gd name="T7" fmla="*/ 2147483646 h 64"/>
              <a:gd name="T8" fmla="*/ 0 60000 65536"/>
              <a:gd name="T9" fmla="*/ 0 60000 65536"/>
              <a:gd name="T10" fmla="*/ 0 60000 65536"/>
              <a:gd name="T11" fmla="*/ 0 60000 65536"/>
              <a:gd name="T12" fmla="*/ 0 w 68"/>
              <a:gd name="T13" fmla="*/ 0 h 64"/>
              <a:gd name="T14" fmla="*/ 68 w 68"/>
              <a:gd name="T15" fmla="*/ 64 h 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8" h="64">
                <a:moveTo>
                  <a:pt x="67" y="27"/>
                </a:moveTo>
                <a:lnTo>
                  <a:pt x="0" y="63"/>
                </a:lnTo>
                <a:lnTo>
                  <a:pt x="42" y="0"/>
                </a:lnTo>
                <a:lnTo>
                  <a:pt x="67" y="27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9FF0D823-5762-40E2-820D-2B003B8A4E30}"/>
              </a:ext>
            </a:extLst>
          </p:cNvPr>
          <p:cNvSpPr>
            <a:spLocks/>
          </p:cNvSpPr>
          <p:nvPr/>
        </p:nvSpPr>
        <p:spPr bwMode="auto">
          <a:xfrm>
            <a:off x="4458892" y="2519611"/>
            <a:ext cx="1190" cy="739378"/>
          </a:xfrm>
          <a:custGeom>
            <a:avLst/>
            <a:gdLst>
              <a:gd name="T0" fmla="*/ 0 w 1"/>
              <a:gd name="T1" fmla="*/ 0 h 621"/>
              <a:gd name="T2" fmla="*/ 0 w 1"/>
              <a:gd name="T3" fmla="*/ 2147483646 h 621"/>
              <a:gd name="T4" fmla="*/ 0 w 1"/>
              <a:gd name="T5" fmla="*/ 0 h 621"/>
              <a:gd name="T6" fmla="*/ 0 60000 65536"/>
              <a:gd name="T7" fmla="*/ 0 60000 65536"/>
              <a:gd name="T8" fmla="*/ 0 60000 65536"/>
              <a:gd name="T9" fmla="*/ 0 w 1"/>
              <a:gd name="T10" fmla="*/ 0 h 621"/>
              <a:gd name="T11" fmla="*/ 1 w 1"/>
              <a:gd name="T12" fmla="*/ 621 h 62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621">
                <a:moveTo>
                  <a:pt x="0" y="0"/>
                </a:moveTo>
                <a:lnTo>
                  <a:pt x="0" y="620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AFB7A2C7-36CE-4AA4-83B1-CFD05802E0A1}"/>
              </a:ext>
            </a:extLst>
          </p:cNvPr>
          <p:cNvSpPr>
            <a:spLocks/>
          </p:cNvSpPr>
          <p:nvPr/>
        </p:nvSpPr>
        <p:spPr bwMode="auto">
          <a:xfrm>
            <a:off x="4436269" y="3169692"/>
            <a:ext cx="45244" cy="89297"/>
          </a:xfrm>
          <a:custGeom>
            <a:avLst/>
            <a:gdLst>
              <a:gd name="T0" fmla="*/ 2147483646 w 38"/>
              <a:gd name="T1" fmla="*/ 0 h 75"/>
              <a:gd name="T2" fmla="*/ 2147483646 w 38"/>
              <a:gd name="T3" fmla="*/ 2147483646 h 75"/>
              <a:gd name="T4" fmla="*/ 0 w 38"/>
              <a:gd name="T5" fmla="*/ 0 h 75"/>
              <a:gd name="T6" fmla="*/ 2147483646 w 38"/>
              <a:gd name="T7" fmla="*/ 0 h 75"/>
              <a:gd name="T8" fmla="*/ 0 60000 65536"/>
              <a:gd name="T9" fmla="*/ 0 60000 65536"/>
              <a:gd name="T10" fmla="*/ 0 60000 65536"/>
              <a:gd name="T11" fmla="*/ 0 60000 65536"/>
              <a:gd name="T12" fmla="*/ 0 w 38"/>
              <a:gd name="T13" fmla="*/ 0 h 75"/>
              <a:gd name="T14" fmla="*/ 38 w 38"/>
              <a:gd name="T15" fmla="*/ 75 h 7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" h="75">
                <a:moveTo>
                  <a:pt x="37" y="0"/>
                </a:moveTo>
                <a:lnTo>
                  <a:pt x="19" y="74"/>
                </a:lnTo>
                <a:lnTo>
                  <a:pt x="0" y="0"/>
                </a:lnTo>
                <a:lnTo>
                  <a:pt x="37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5D1E167C-3E9D-428B-8022-C4AB45093ACA}"/>
              </a:ext>
            </a:extLst>
          </p:cNvPr>
          <p:cNvSpPr>
            <a:spLocks/>
          </p:cNvSpPr>
          <p:nvPr/>
        </p:nvSpPr>
        <p:spPr bwMode="auto">
          <a:xfrm>
            <a:off x="4885135" y="2510086"/>
            <a:ext cx="820340" cy="748903"/>
          </a:xfrm>
          <a:custGeom>
            <a:avLst/>
            <a:gdLst>
              <a:gd name="T0" fmla="*/ 0 w 689"/>
              <a:gd name="T1" fmla="*/ 0 h 629"/>
              <a:gd name="T2" fmla="*/ 2147483646 w 689"/>
              <a:gd name="T3" fmla="*/ 2147483646 h 629"/>
              <a:gd name="T4" fmla="*/ 0 w 689"/>
              <a:gd name="T5" fmla="*/ 0 h 629"/>
              <a:gd name="T6" fmla="*/ 0 60000 65536"/>
              <a:gd name="T7" fmla="*/ 0 60000 65536"/>
              <a:gd name="T8" fmla="*/ 0 60000 65536"/>
              <a:gd name="T9" fmla="*/ 0 w 689"/>
              <a:gd name="T10" fmla="*/ 0 h 629"/>
              <a:gd name="T11" fmla="*/ 689 w 689"/>
              <a:gd name="T12" fmla="*/ 629 h 62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89" h="629">
                <a:moveTo>
                  <a:pt x="0" y="0"/>
                </a:moveTo>
                <a:lnTo>
                  <a:pt x="688" y="62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A1CE3A33-EE0C-4037-ABFB-F291C516786D}"/>
              </a:ext>
            </a:extLst>
          </p:cNvPr>
          <p:cNvSpPr>
            <a:spLocks/>
          </p:cNvSpPr>
          <p:nvPr/>
        </p:nvSpPr>
        <p:spPr bwMode="auto">
          <a:xfrm>
            <a:off x="5625703" y="3182789"/>
            <a:ext cx="79772" cy="76200"/>
          </a:xfrm>
          <a:custGeom>
            <a:avLst/>
            <a:gdLst>
              <a:gd name="T0" fmla="*/ 2147483646 w 67"/>
              <a:gd name="T1" fmla="*/ 0 h 64"/>
              <a:gd name="T2" fmla="*/ 2147483646 w 67"/>
              <a:gd name="T3" fmla="*/ 2147483646 h 64"/>
              <a:gd name="T4" fmla="*/ 0 w 67"/>
              <a:gd name="T5" fmla="*/ 2147483646 h 64"/>
              <a:gd name="T6" fmla="*/ 2147483646 w 67"/>
              <a:gd name="T7" fmla="*/ 0 h 64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64"/>
              <a:gd name="T14" fmla="*/ 67 w 67"/>
              <a:gd name="T15" fmla="*/ 64 h 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64">
                <a:moveTo>
                  <a:pt x="25" y="0"/>
                </a:moveTo>
                <a:lnTo>
                  <a:pt x="66" y="63"/>
                </a:lnTo>
                <a:lnTo>
                  <a:pt x="0" y="27"/>
                </a:lnTo>
                <a:lnTo>
                  <a:pt x="25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9DD6874E-5104-4A39-BFE9-D4B85372FBA2}"/>
              </a:ext>
            </a:extLst>
          </p:cNvPr>
          <p:cNvSpPr>
            <a:spLocks/>
          </p:cNvSpPr>
          <p:nvPr/>
        </p:nvSpPr>
        <p:spPr bwMode="auto">
          <a:xfrm>
            <a:off x="5304235" y="2500561"/>
            <a:ext cx="1664494" cy="758428"/>
          </a:xfrm>
          <a:custGeom>
            <a:avLst/>
            <a:gdLst>
              <a:gd name="T0" fmla="*/ 0 w 1398"/>
              <a:gd name="T1" fmla="*/ 0 h 637"/>
              <a:gd name="T2" fmla="*/ 2147483646 w 1398"/>
              <a:gd name="T3" fmla="*/ 2147483646 h 637"/>
              <a:gd name="T4" fmla="*/ 0 w 1398"/>
              <a:gd name="T5" fmla="*/ 0 h 637"/>
              <a:gd name="T6" fmla="*/ 0 60000 65536"/>
              <a:gd name="T7" fmla="*/ 0 60000 65536"/>
              <a:gd name="T8" fmla="*/ 0 60000 65536"/>
              <a:gd name="T9" fmla="*/ 0 w 1398"/>
              <a:gd name="T10" fmla="*/ 0 h 637"/>
              <a:gd name="T11" fmla="*/ 1398 w 1398"/>
              <a:gd name="T12" fmla="*/ 637 h 63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98" h="637">
                <a:moveTo>
                  <a:pt x="0" y="0"/>
                </a:moveTo>
                <a:lnTo>
                  <a:pt x="1397" y="636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E0443E26-D170-4E9B-B90B-379DAE883B9B}"/>
              </a:ext>
            </a:extLst>
          </p:cNvPr>
          <p:cNvSpPr>
            <a:spLocks/>
          </p:cNvSpPr>
          <p:nvPr/>
        </p:nvSpPr>
        <p:spPr bwMode="auto">
          <a:xfrm>
            <a:off x="6879432" y="3200649"/>
            <a:ext cx="89297" cy="58340"/>
          </a:xfrm>
          <a:custGeom>
            <a:avLst/>
            <a:gdLst>
              <a:gd name="T0" fmla="*/ 2147483646 w 75"/>
              <a:gd name="T1" fmla="*/ 0 h 49"/>
              <a:gd name="T2" fmla="*/ 2147483646 w 75"/>
              <a:gd name="T3" fmla="*/ 2147483646 h 49"/>
              <a:gd name="T4" fmla="*/ 0 w 75"/>
              <a:gd name="T5" fmla="*/ 2147483646 h 49"/>
              <a:gd name="T6" fmla="*/ 2147483646 w 75"/>
              <a:gd name="T7" fmla="*/ 0 h 49"/>
              <a:gd name="T8" fmla="*/ 0 60000 65536"/>
              <a:gd name="T9" fmla="*/ 0 60000 65536"/>
              <a:gd name="T10" fmla="*/ 0 60000 65536"/>
              <a:gd name="T11" fmla="*/ 0 60000 65536"/>
              <a:gd name="T12" fmla="*/ 0 w 75"/>
              <a:gd name="T13" fmla="*/ 0 h 49"/>
              <a:gd name="T14" fmla="*/ 75 w 75"/>
              <a:gd name="T15" fmla="*/ 49 h 4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" h="49">
                <a:moveTo>
                  <a:pt x="15" y="0"/>
                </a:moveTo>
                <a:lnTo>
                  <a:pt x="74" y="48"/>
                </a:lnTo>
                <a:lnTo>
                  <a:pt x="0" y="34"/>
                </a:lnTo>
                <a:lnTo>
                  <a:pt x="15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CD8CB94-A734-4F58-92EF-4281FC6F4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2188" y="1950676"/>
            <a:ext cx="428804" cy="228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050" b="1" dirty="0">
                <a:solidFill>
                  <a:srgbClr val="000000"/>
                </a:solidFill>
                <a:ea typeface="宋体" panose="02010600030101010101" pitchFamily="2" charset="-122"/>
              </a:rPr>
              <a:t>Root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FCD94D0-38F2-4CD7-A3DF-68BC68498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2419" y="2260055"/>
            <a:ext cx="290946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17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A5AF211-9C5A-4079-8351-5896BF855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0329" y="2260055"/>
            <a:ext cx="290946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24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7402C41-BD82-45DC-8A50-0256C8258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7763" y="2251720"/>
            <a:ext cx="290946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188FB3F-5093-445A-B7B3-5D3B94B64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748" y="3293517"/>
            <a:ext cx="279725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2*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9461F6D-51C6-4EFE-A3E3-F132647A9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498" y="3285183"/>
            <a:ext cx="279725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3*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9D483A9-2E50-41E5-93E9-5EEAA96AE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9294" y="3285183"/>
            <a:ext cx="279725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5*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71D5997-1528-4142-BB64-2B88607D0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7901" y="3293517"/>
            <a:ext cx="279725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7*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7C36B81-6A53-49AB-853F-830F5D844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142" y="3293517"/>
            <a:ext cx="356669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14*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2D8457C-97C2-4421-A93B-8BD7B969F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9413" y="3293517"/>
            <a:ext cx="356669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16*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C5A3931-F6F1-443F-A87C-B3423812B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0729" y="3285183"/>
            <a:ext cx="356669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19*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4F4120A-148F-4C2B-B50F-7C47423EB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1476" y="3285183"/>
            <a:ext cx="356669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20*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5717C7B-1D17-43E4-AD37-8563F48A7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2938" y="3285183"/>
            <a:ext cx="356669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22*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20EE490-76B9-41D2-AC52-E47CDFB32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3285183"/>
            <a:ext cx="356669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24*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C6B841A-6446-4943-BE6F-34D6FD128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6394" y="3285183"/>
            <a:ext cx="356669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 dirty="0">
                <a:solidFill>
                  <a:srgbClr val="000000"/>
                </a:solidFill>
                <a:ea typeface="宋体" panose="02010600030101010101" pitchFamily="2" charset="-122"/>
              </a:rPr>
              <a:t>27*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06E5A92-8FD9-4D0E-9F53-0C9D34EDD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7142" y="3293517"/>
            <a:ext cx="356669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29*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D97E6CD-5802-47B7-BB32-A9A229107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3182" y="3293517"/>
            <a:ext cx="356669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33*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E916DAC-40D7-4A17-9ED4-AC6D6C200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2979" y="3293517"/>
            <a:ext cx="356669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34*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E87495B-D116-4F2F-B78B-7D3F77ADA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2060" y="3285183"/>
            <a:ext cx="356669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38*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0CC1818-EE0D-4D36-AF1E-5EEFB2828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0667" y="3276849"/>
            <a:ext cx="356669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39*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CE94FEA-8C6C-45D1-B0A6-5441FE34D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2369" y="2260055"/>
            <a:ext cx="290946" cy="21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975" b="1">
                <a:solidFill>
                  <a:srgbClr val="000000"/>
                </a:solidFill>
                <a:ea typeface="宋体" panose="02010600030101010101" pitchFamily="2" charset="-122"/>
              </a:rPr>
              <a:t>13</a:t>
            </a:r>
          </a:p>
        </p:txBody>
      </p:sp>
      <p:sp>
        <p:nvSpPr>
          <p:cNvPr id="68" name="Arc 68">
            <a:extLst>
              <a:ext uri="{FF2B5EF4-FFF2-40B4-BE49-F238E27FC236}">
                <a16:creationId xmlns:a16="http://schemas.microsoft.com/office/drawing/2014/main" id="{C874BFC5-6059-4D46-ABE0-EC603889DBE2}"/>
              </a:ext>
            </a:extLst>
          </p:cNvPr>
          <p:cNvSpPr>
            <a:spLocks/>
          </p:cNvSpPr>
          <p:nvPr/>
        </p:nvSpPr>
        <p:spPr bwMode="auto">
          <a:xfrm rot="19020000">
            <a:off x="3714750" y="3114923"/>
            <a:ext cx="285750" cy="28575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 cap="rnd">
            <a:solidFill>
              <a:srgbClr val="000000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</a:endParaRPr>
          </a:p>
        </p:txBody>
      </p:sp>
      <p:sp>
        <p:nvSpPr>
          <p:cNvPr id="69" name="Arc 69">
            <a:extLst>
              <a:ext uri="{FF2B5EF4-FFF2-40B4-BE49-F238E27FC236}">
                <a16:creationId xmlns:a16="http://schemas.microsoft.com/office/drawing/2014/main" id="{21A373C0-5D5F-4089-904C-F31B56C83E72}"/>
              </a:ext>
            </a:extLst>
          </p:cNvPr>
          <p:cNvSpPr>
            <a:spLocks/>
          </p:cNvSpPr>
          <p:nvPr/>
        </p:nvSpPr>
        <p:spPr bwMode="auto">
          <a:xfrm rot="19020000">
            <a:off x="2400300" y="3114923"/>
            <a:ext cx="285750" cy="28575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 cap="rnd">
            <a:solidFill>
              <a:srgbClr val="000000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</a:endParaRPr>
          </a:p>
        </p:txBody>
      </p:sp>
      <p:sp>
        <p:nvSpPr>
          <p:cNvPr id="70" name="Arc 70">
            <a:extLst>
              <a:ext uri="{FF2B5EF4-FFF2-40B4-BE49-F238E27FC236}">
                <a16:creationId xmlns:a16="http://schemas.microsoft.com/office/drawing/2014/main" id="{42A9E473-7474-478E-B0A9-4F2D5169D62B}"/>
              </a:ext>
            </a:extLst>
          </p:cNvPr>
          <p:cNvSpPr>
            <a:spLocks/>
          </p:cNvSpPr>
          <p:nvPr/>
        </p:nvSpPr>
        <p:spPr bwMode="auto">
          <a:xfrm rot="19020000">
            <a:off x="4914900" y="3114923"/>
            <a:ext cx="285750" cy="28575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 cap="rnd">
            <a:solidFill>
              <a:srgbClr val="000000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</a:endParaRPr>
          </a:p>
        </p:txBody>
      </p:sp>
      <p:sp>
        <p:nvSpPr>
          <p:cNvPr id="71" name="Arc 71">
            <a:extLst>
              <a:ext uri="{FF2B5EF4-FFF2-40B4-BE49-F238E27FC236}">
                <a16:creationId xmlns:a16="http://schemas.microsoft.com/office/drawing/2014/main" id="{18EE4C2F-87BB-474C-96A5-5B28DC07272B}"/>
              </a:ext>
            </a:extLst>
          </p:cNvPr>
          <p:cNvSpPr>
            <a:spLocks/>
          </p:cNvSpPr>
          <p:nvPr/>
        </p:nvSpPr>
        <p:spPr bwMode="auto">
          <a:xfrm rot="19020000">
            <a:off x="6172200" y="3114923"/>
            <a:ext cx="285750" cy="28575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 cap="rnd">
            <a:solidFill>
              <a:srgbClr val="000000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</a:endParaRPr>
          </a:p>
        </p:txBody>
      </p:sp>
      <p:sp>
        <p:nvSpPr>
          <p:cNvPr id="73" name="Line 67">
            <a:extLst>
              <a:ext uri="{FF2B5EF4-FFF2-40B4-BE49-F238E27FC236}">
                <a16:creationId xmlns:a16="http://schemas.microsoft.com/office/drawing/2014/main" id="{8593B05C-814F-493D-9D16-8A25AFCB871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851670"/>
            <a:ext cx="28575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 dirty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74490171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74EEEC-E9E8-42F1-9781-B3661E575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Queries on B</a:t>
            </a:r>
            <a:r>
              <a:rPr lang="en-US" altLang="zh-CN" baseline="30000" dirty="0"/>
              <a:t>+</a:t>
            </a:r>
            <a:r>
              <a:rPr lang="en-US" altLang="zh-CN" dirty="0"/>
              <a:t>-Trees (Cont.)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B19A890-902C-4AD1-86CA-2BBAAB4E9C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71550"/>
                <a:ext cx="8712968" cy="3661054"/>
              </a:xfrm>
            </p:spPr>
            <p:txBody>
              <a:bodyPr/>
              <a:lstStyle/>
              <a:p>
                <a:r>
                  <a:rPr lang="en-US" altLang="zh-CN" sz="1800" dirty="0"/>
                  <a:t>In processing a query, a path is traversed in the tree from the root to some leaf node</a:t>
                </a:r>
              </a:p>
              <a:p>
                <a:r>
                  <a:rPr lang="en-US" altLang="zh-CN" sz="1800" dirty="0"/>
                  <a:t>If there are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1800" dirty="0"/>
                  <a:t> search-key values in the file, the path is no longer than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altLang="zh-CN" sz="1800" dirty="0"/>
              </a:p>
              <a:p>
                <a:pPr lvl="1"/>
                <a:r>
                  <a:rPr lang="en-US" altLang="zh-CN" sz="1600" dirty="0"/>
                  <a:t>E.g., a node is generally the </a:t>
                </a:r>
                <a:r>
                  <a:rPr lang="en-US" altLang="zh-CN" sz="1600" dirty="0">
                    <a:solidFill>
                      <a:srgbClr val="C00000"/>
                    </a:solidFill>
                  </a:rPr>
                  <a:t>same size as a disk block</a:t>
                </a:r>
                <a:r>
                  <a:rPr lang="en-US" altLang="zh-CN" sz="1600" dirty="0"/>
                  <a:t>, typically 4 KB, and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1600" dirty="0"/>
                  <a:t> is typically around 100 (40 bytes per index entry)</a:t>
                </a:r>
              </a:p>
              <a:p>
                <a:pPr lvl="2"/>
                <a:r>
                  <a:rPr lang="en-US" altLang="zh-CN" sz="1400" dirty="0"/>
                  <a:t>With 1 million search key values and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1400" dirty="0"/>
                  <a:t> = 100, at most log</a:t>
                </a:r>
                <a:r>
                  <a:rPr lang="en-US" altLang="zh-CN" sz="1400" baseline="-25000" dirty="0"/>
                  <a:t>50</a:t>
                </a:r>
                <a:r>
                  <a:rPr lang="en-US" altLang="zh-CN" sz="1400" dirty="0"/>
                  <a:t>(1,000,000) = </a:t>
                </a:r>
                <a:r>
                  <a:rPr lang="en-US" altLang="zh-CN" sz="1400" dirty="0">
                    <a:solidFill>
                      <a:srgbClr val="C00000"/>
                    </a:solidFill>
                  </a:rPr>
                  <a:t>4 nodes </a:t>
                </a:r>
                <a:r>
                  <a:rPr lang="en-US" altLang="zh-CN" sz="1400" dirty="0"/>
                  <a:t>are accessed in a lookup.</a:t>
                </a:r>
              </a:p>
              <a:p>
                <a:pPr lvl="2"/>
                <a:r>
                  <a:rPr lang="en-US" altLang="zh-CN" sz="1400" dirty="0"/>
                  <a:t>For a balanced binary tree with 1 million search key values — around </a:t>
                </a:r>
                <a:r>
                  <a:rPr lang="en-US" altLang="zh-CN" sz="1400" dirty="0">
                    <a:solidFill>
                      <a:srgbClr val="C00000"/>
                    </a:solidFill>
                  </a:rPr>
                  <a:t>20 nodes </a:t>
                </a:r>
                <a:r>
                  <a:rPr lang="en-US" altLang="zh-CN" sz="1400" dirty="0"/>
                  <a:t>(i.e., log</a:t>
                </a:r>
                <a:r>
                  <a:rPr lang="en-US" altLang="zh-CN" sz="1400" baseline="-25000" dirty="0"/>
                  <a:t>2</a:t>
                </a:r>
                <a:r>
                  <a:rPr lang="en-US" altLang="zh-CN" sz="1400" dirty="0"/>
                  <a:t>(1,000,000)) are accessed in a lookup</a:t>
                </a:r>
              </a:p>
              <a:p>
                <a:pPr lvl="2"/>
                <a:r>
                  <a:rPr lang="en-US" altLang="zh-CN" sz="1400" dirty="0"/>
                  <a:t>The above difference is significant since every node access may need a disk I/O, costing around 10 </a:t>
                </a:r>
                <a:r>
                  <a:rPr lang="en-US" altLang="zh-CN" sz="1400" dirty="0" err="1"/>
                  <a:t>ms</a:t>
                </a:r>
                <a:endParaRPr lang="en-US" altLang="zh-CN" sz="1400" dirty="0"/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B19A890-902C-4AD1-86CA-2BBAAB4E9C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71550"/>
                <a:ext cx="8712968" cy="3661054"/>
              </a:xfrm>
              <a:blipFill>
                <a:blip r:embed="rId2"/>
                <a:stretch>
                  <a:fillRect l="-420" t="-1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025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454E8C-7150-4941-A8CF-72C297721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Insertion in B</a:t>
            </a:r>
            <a:r>
              <a:rPr lang="en-US" altLang="zh-CN" baseline="30000" dirty="0"/>
              <a:t>+</a:t>
            </a:r>
            <a:r>
              <a:rPr lang="en-US" altLang="zh-CN" dirty="0"/>
              <a:t>-Tree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CE0454-6CF7-49CF-89F6-460EC3AC2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/>
              <a:t>Find the leaf node in which the search-key value would appear</a:t>
            </a:r>
          </a:p>
          <a:p>
            <a:pPr lvl="1"/>
            <a:r>
              <a:rPr lang="en-US" altLang="zh-CN" sz="1800" dirty="0"/>
              <a:t>If the search-key value is already in the leaf node</a:t>
            </a:r>
            <a:endParaRPr lang="en-US" altLang="zh-CN" sz="1600" dirty="0"/>
          </a:p>
          <a:p>
            <a:pPr lvl="2"/>
            <a:r>
              <a:rPr lang="en-US" altLang="zh-CN" sz="1600" dirty="0"/>
              <a:t>record is added to file</a:t>
            </a:r>
          </a:p>
          <a:p>
            <a:pPr lvl="2"/>
            <a:r>
              <a:rPr lang="en-US" altLang="zh-CN" sz="1600" dirty="0"/>
              <a:t>if necessary, a pointer is inserted into the bucket</a:t>
            </a:r>
          </a:p>
          <a:p>
            <a:pPr lvl="1"/>
            <a:r>
              <a:rPr lang="en-US" altLang="zh-CN" sz="1800" dirty="0"/>
              <a:t>If the search-key value is not in certain node, add the record to the main file and create a bucket if necessary. Then:</a:t>
            </a:r>
          </a:p>
          <a:p>
            <a:pPr lvl="2"/>
            <a:r>
              <a:rPr lang="en-US" altLang="zh-CN" sz="1600" dirty="0"/>
              <a:t>If there is room in the leaf node, insert (</a:t>
            </a:r>
            <a:r>
              <a:rPr lang="en-US" altLang="zh-CN" sz="1600" dirty="0">
                <a:solidFill>
                  <a:srgbClr val="C00000"/>
                </a:solidFill>
              </a:rPr>
              <a:t>key-value, pointer</a:t>
            </a:r>
            <a:r>
              <a:rPr lang="en-US" altLang="zh-CN" sz="1600" dirty="0"/>
              <a:t>) pair in the leaf node</a:t>
            </a:r>
          </a:p>
          <a:p>
            <a:pPr lvl="2"/>
            <a:r>
              <a:rPr lang="en-US" altLang="zh-CN" sz="1600" dirty="0"/>
              <a:t>Otherwise, </a:t>
            </a:r>
            <a:r>
              <a:rPr lang="en-US" altLang="zh-CN" sz="1600" dirty="0">
                <a:solidFill>
                  <a:srgbClr val="C00000"/>
                </a:solidFill>
              </a:rPr>
              <a:t>split</a:t>
            </a:r>
            <a:r>
              <a:rPr lang="en-US" altLang="zh-CN" sz="1600" dirty="0"/>
              <a:t> the node along with the new (key-value, pointer) entry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72881273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B0B71-DCEB-43DB-80C1-FB3F7FEF4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Insertion in B</a:t>
            </a:r>
            <a:r>
              <a:rPr lang="en-US" altLang="zh-CN" baseline="30000" dirty="0"/>
              <a:t>+</a:t>
            </a:r>
            <a:r>
              <a:rPr lang="en-US" altLang="zh-CN" dirty="0"/>
              <a:t>-Tree (Cont.)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CF8A91F-AD2C-443B-9CC5-74B6BB47DA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504" y="749762"/>
                <a:ext cx="8208912" cy="3805070"/>
              </a:xfrm>
            </p:spPr>
            <p:txBody>
              <a:bodyPr/>
              <a:lstStyle/>
              <a:p>
                <a:r>
                  <a:rPr lang="en-US" altLang="zh-CN" sz="1800" b="1" dirty="0"/>
                  <a:t>Splitting a leaf node</a:t>
                </a:r>
              </a:p>
              <a:p>
                <a:pPr lvl="1"/>
                <a:r>
                  <a:rPr lang="en-US" altLang="zh-CN" sz="1400" dirty="0"/>
                  <a:t>take the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1400" dirty="0"/>
                  <a:t> (search-key value, pointer) pairs (including the one being inserted) in sorted order. Place the first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r>
                  <a:rPr lang="en-US" altLang="zh-CN" sz="1400" dirty="0"/>
                  <a:t> in the original node, and the rest in a new node</a:t>
                </a:r>
              </a:p>
              <a:p>
                <a:pPr lvl="1"/>
                <a:r>
                  <a:rPr lang="en-US" altLang="zh-CN" sz="1400" dirty="0"/>
                  <a:t>let the new node be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1400" dirty="0"/>
                  <a:t>, and let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1400" dirty="0"/>
                  <a:t> be the least key value in p. Insert (</a:t>
                </a:r>
                <a14:m>
                  <m:oMath xmlns:m="http://schemas.openxmlformats.org/officeDocument/2006/math">
                    <m:r>
                      <a:rPr lang="en-US" altLang="zh-CN" sz="1400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14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1400" dirty="0"/>
                  <a:t>) in the parent of the node being split</a:t>
                </a:r>
              </a:p>
              <a:p>
                <a:pPr lvl="1"/>
                <a:r>
                  <a:rPr lang="en-US" altLang="zh-CN" sz="1400" dirty="0"/>
                  <a:t>If the parent is full, split it and propagate the split further up</a:t>
                </a:r>
                <a:endParaRPr lang="en-US" altLang="zh-CN" sz="1800" b="1" dirty="0"/>
              </a:p>
              <a:p>
                <a:r>
                  <a:rPr lang="en-US" altLang="zh-CN" sz="1800" b="1" dirty="0"/>
                  <a:t>Splitting of nodes proceeds upwards till a node that is not full is found</a:t>
                </a:r>
              </a:p>
              <a:p>
                <a:pPr lvl="1"/>
                <a:r>
                  <a:rPr lang="en-US" altLang="zh-CN" sz="1400" dirty="0"/>
                  <a:t>In the worst case, the root node may be split, thus increasing the height of the tree by 1</a:t>
                </a:r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CF8A91F-AD2C-443B-9CC5-74B6BB47DA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749762"/>
                <a:ext cx="8208912" cy="3805070"/>
              </a:xfrm>
              <a:blipFill>
                <a:blip r:embed="rId2"/>
                <a:stretch>
                  <a:fillRect l="-520" t="-962" r="-7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6">
            <a:extLst>
              <a:ext uri="{FF2B5EF4-FFF2-40B4-BE49-F238E27FC236}">
                <a16:creationId xmlns:a16="http://schemas.microsoft.com/office/drawing/2014/main" id="{2AD11847-531C-41BB-BBAE-AF461C24C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723878"/>
            <a:ext cx="5040560" cy="39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07862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B455D-5236-4EC2-BC40-5F076F3DE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Insertion in B</a:t>
            </a:r>
            <a:r>
              <a:rPr lang="en-US" altLang="zh-CN" baseline="30000" dirty="0"/>
              <a:t>+</a:t>
            </a:r>
            <a:r>
              <a:rPr lang="en-US" altLang="zh-CN" dirty="0"/>
              <a:t>-Tree (Cont.)</a:t>
            </a:r>
            <a:endParaRPr lang="zh-CN" altLang="en-US" dirty="0"/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00D7F539-C59F-44B8-8550-9B209E9B6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3896" y="4525127"/>
            <a:ext cx="448077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685800" eaLnBrk="0" hangingPunct="0">
              <a:spcBef>
                <a:spcPct val="50000"/>
              </a:spcBef>
              <a:buClrTx/>
              <a:buSzTx/>
              <a:buNone/>
            </a:pPr>
            <a:r>
              <a:rPr kumimoji="0" lang="en-US" altLang="zh-CN" sz="1350" b="1" i="1" dirty="0">
                <a:solidFill>
                  <a:srgbClr val="0000FF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B</a:t>
            </a:r>
            <a:r>
              <a:rPr kumimoji="0" lang="en-US" altLang="zh-CN" sz="1350" b="1" i="1" baseline="30000" dirty="0">
                <a:solidFill>
                  <a:srgbClr val="0000FF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+</a:t>
            </a:r>
            <a:r>
              <a:rPr kumimoji="0" lang="en-US" altLang="zh-CN" sz="1350" b="1" i="1" dirty="0">
                <a:solidFill>
                  <a:srgbClr val="0000FF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-Tree before and after the insertion of </a:t>
            </a:r>
            <a:r>
              <a:rPr kumimoji="0" lang="en-US" altLang="zh-CN" sz="1350" b="1" i="1" dirty="0">
                <a:solidFill>
                  <a:srgbClr val="FF0000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“Clearview”</a:t>
            </a: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2E76E63B-FC5B-4C61-8B38-6F4F30CF7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1" t="30952" r="714" b="31429"/>
          <a:stretch>
            <a:fillRect/>
          </a:stretch>
        </p:blipFill>
        <p:spPr bwMode="auto">
          <a:xfrm>
            <a:off x="1818085" y="2738438"/>
            <a:ext cx="5900738" cy="1694260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9">
            <a:extLst>
              <a:ext uri="{FF2B5EF4-FFF2-40B4-BE49-F238E27FC236}">
                <a16:creationId xmlns:a16="http://schemas.microsoft.com/office/drawing/2014/main" id="{21C8D95C-4A9D-4316-B776-B018EF9E4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" t="29016" r="1619" b="29736"/>
          <a:stretch>
            <a:fillRect/>
          </a:stretch>
        </p:blipFill>
        <p:spPr bwMode="auto">
          <a:xfrm>
            <a:off x="1797844" y="937023"/>
            <a:ext cx="5462588" cy="1739503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D4740E11-9E26-4245-91A1-409F5EC4CB34}"/>
              </a:ext>
            </a:extLst>
          </p:cNvPr>
          <p:cNvSpPr/>
          <p:nvPr/>
        </p:nvSpPr>
        <p:spPr>
          <a:xfrm>
            <a:off x="1547664" y="2041900"/>
            <a:ext cx="1800200" cy="7732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2493CE5-B2AE-47A8-B495-9AADC5D9B15E}"/>
              </a:ext>
            </a:extLst>
          </p:cNvPr>
          <p:cNvSpPr/>
          <p:nvPr/>
        </p:nvSpPr>
        <p:spPr>
          <a:xfrm>
            <a:off x="1727684" y="3819842"/>
            <a:ext cx="2556284" cy="7732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649670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EAB296-F1A8-4486-A48B-6347B1A9C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Insertion in B+-Tree (Cont.)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303EE1-2BFF-45B6-9253-3480EF1E0A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b="1" dirty="0"/>
                  <a:t>Splitting a non-leaf node: </a:t>
                </a:r>
                <a:r>
                  <a:rPr lang="en-US" altLang="zh-CN" sz="1800" dirty="0"/>
                  <a:t>when inserting (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18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1800" dirty="0"/>
                  <a:t>) into an full internal node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altLang="zh-CN" sz="1800" dirty="0"/>
              </a:p>
              <a:p>
                <a:pPr lvl="1"/>
                <a:r>
                  <a:rPr lang="en-US" altLang="zh-CN" sz="1600" dirty="0"/>
                  <a:t>Copy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sz="1600" dirty="0"/>
                  <a:t> to an in-memory area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CN" sz="1600" dirty="0"/>
                  <a:t> with space for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CN" sz="1600" dirty="0">
                    <a:solidFill>
                      <a:srgbClr val="C00000"/>
                    </a:solidFill>
                  </a:rPr>
                  <a:t> pointers </a:t>
                </a:r>
                <a:r>
                  <a:rPr lang="en-US" altLang="zh-CN" sz="1600" dirty="0"/>
                  <a:t>and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1600" dirty="0">
                    <a:solidFill>
                      <a:srgbClr val="C00000"/>
                    </a:solidFill>
                  </a:rPr>
                  <a:t> keys</a:t>
                </a:r>
                <a:endParaRPr lang="en-US" altLang="zh-CN" sz="1600" dirty="0"/>
              </a:p>
              <a:p>
                <a:pPr lvl="1"/>
                <a:r>
                  <a:rPr lang="en-US" altLang="zh-CN" sz="1600" dirty="0"/>
                  <a:t>Insert (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16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1600" dirty="0"/>
                  <a:t>) into 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altLang="zh-CN" sz="1600" dirty="0"/>
              </a:p>
              <a:p>
                <a:pPr lvl="1"/>
                <a:r>
                  <a:rPr lang="en-US" altLang="zh-CN" sz="1600" dirty="0"/>
                  <a:t>Copy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600" dirty="0"/>
                  <a:t>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d>
                          <m:dPr>
                            <m:begChr m:val="⌈"/>
                            <m:endChr m:val="⌉"/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CN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d>
                          <m:dPr>
                            <m:begChr m:val="⌈"/>
                            <m:endChr m:val="⌉"/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altLang="zh-CN" sz="1600" dirty="0"/>
                  <a:t> from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CN" sz="1600" dirty="0"/>
                  <a:t> back into node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altLang="zh-CN" sz="1600" dirty="0"/>
              </a:p>
              <a:p>
                <a:pPr lvl="1"/>
                <a:r>
                  <a:rPr lang="en-US" altLang="zh-CN" sz="1600" dirty="0"/>
                  <a:t>Copy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d>
                          <m:dPr>
                            <m:begChr m:val="⌈"/>
                            <m:endChr m:val="⌉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CN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d>
                          <m:dPr>
                            <m:begChr m:val="⌈"/>
                            <m:endChr m:val="⌉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CN" sz="1600" dirty="0"/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CN" sz="1600" dirty="0"/>
                  <a:t> from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CN" sz="1600" dirty="0"/>
                  <a:t> into the newly allocated node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zh-CN" sz="1600" dirty="0"/>
              </a:p>
              <a:p>
                <a:pPr lvl="1"/>
                <a:r>
                  <a:rPr lang="en-US" altLang="zh-CN" sz="1600" dirty="0"/>
                  <a:t>Insert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d>
                          <m:dPr>
                            <m:begChr m:val="⌈"/>
                            <m:endChr m:val="⌉"/>
                            <m:ctrlP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altLang="zh-CN" sz="1600" dirty="0">
                    <a:solidFill>
                      <a:srgbClr val="C00000"/>
                    </a:solidFill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CN" sz="1600" dirty="0"/>
                  <a:t>) </a:t>
                </a:r>
                <a:r>
                  <a:rPr lang="en-US" altLang="zh-CN" sz="1600"/>
                  <a:t>into the parent </a:t>
                </a:r>
                <a:r>
                  <a:rPr lang="en-US" altLang="zh-CN" sz="1600" dirty="0"/>
                  <a:t>of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altLang="zh-CN" sz="16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303EE1-2BFF-45B6-9253-3480EF1E0A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6">
            <a:extLst>
              <a:ext uri="{FF2B5EF4-FFF2-40B4-BE49-F238E27FC236}">
                <a16:creationId xmlns:a16="http://schemas.microsoft.com/office/drawing/2014/main" id="{FCF18C37-04A2-4866-9756-9A5840900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291830"/>
            <a:ext cx="5813424" cy="450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1965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FBDA54-AF9D-4A92-B175-1110C94E2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Deletion in B</a:t>
            </a:r>
            <a:r>
              <a:rPr lang="en-US" altLang="zh-CN" baseline="30000" dirty="0"/>
              <a:t>+</a:t>
            </a:r>
            <a:r>
              <a:rPr lang="en-US" altLang="zh-CN" dirty="0"/>
              <a:t>-Tree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F5F97F1-76AF-45DA-AA8D-C964F85AB6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dirty="0"/>
                  <a:t>Find the record to be deleted, and remove it from the main file and from the bucket</a:t>
                </a:r>
              </a:p>
              <a:p>
                <a:r>
                  <a:rPr lang="en-US" altLang="zh-CN" sz="1800" dirty="0"/>
                  <a:t>Remove (search-key value, pointer) from the leaf node if there is no bucket or if the bucket has become empty</a:t>
                </a:r>
              </a:p>
              <a:p>
                <a:r>
                  <a:rPr lang="en-US" altLang="zh-CN" sz="1800" dirty="0"/>
                  <a:t>If the node has too few entries due to the removal, and the entries in the node and a sibling fit into a single node, then merge siblings</a:t>
                </a:r>
              </a:p>
              <a:p>
                <a:pPr lvl="1"/>
                <a:r>
                  <a:rPr lang="en-US" altLang="zh-CN" sz="1600" dirty="0"/>
                  <a:t>Insert all the search-key values in the two nodes into a single node (the one on the left), and delete the other node</a:t>
                </a:r>
              </a:p>
              <a:p>
                <a:pPr lvl="1"/>
                <a:r>
                  <a:rPr lang="en-US" altLang="zh-CN" sz="1600" dirty="0"/>
                  <a:t>Delete the pair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CN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),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is the pointer to the deleted node, from its parent, recursively using the above procedure</a:t>
                </a:r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F5F97F1-76AF-45DA-AA8D-C964F85AB6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 r="-9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18790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5944A9-39E0-41AF-BFA4-F9A7FBB11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Examples of B</a:t>
            </a:r>
            <a:r>
              <a:rPr lang="en-US" altLang="zh-CN" baseline="30000" dirty="0"/>
              <a:t>+</a:t>
            </a:r>
            <a:r>
              <a:rPr lang="en-US" altLang="zh-CN" dirty="0"/>
              <a:t>-Tree Deletion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87DF37-99E9-4ECD-B957-AEA098FCE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3723878"/>
            <a:ext cx="8568952" cy="1350149"/>
          </a:xfrm>
        </p:spPr>
        <p:txBody>
          <a:bodyPr/>
          <a:lstStyle/>
          <a:p>
            <a:r>
              <a:rPr lang="en-US" altLang="zh-CN" sz="1800" dirty="0"/>
              <a:t>Deleting “Downtown” causes merging of under-full leaves</a:t>
            </a:r>
          </a:p>
          <a:p>
            <a:r>
              <a:rPr lang="en-US" altLang="zh-CN" sz="1800" dirty="0"/>
              <a:t>The removal of the leaf node containing “Downtown” did not result in its parent having too little pointers. So the cascaded deletions stopped with the deleted leaf node’s parent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ABA19CE7-DCC0-4F63-9E4A-795456119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0416" y="852086"/>
            <a:ext cx="1568053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685800" eaLnBrk="0" hangingPunct="0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500" b="1" dirty="0">
                <a:solidFill>
                  <a:srgbClr val="0000FF"/>
                </a:solidFill>
                <a:ea typeface="宋体" panose="02010600030101010101" pitchFamily="2" charset="-122"/>
              </a:rPr>
              <a:t>Before and after deleting “Downtown”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A18B3172-D415-466C-8461-423393C6D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3" t="29356" r="1083" b="27650"/>
          <a:stretch>
            <a:fillRect/>
          </a:stretch>
        </p:blipFill>
        <p:spPr bwMode="auto">
          <a:xfrm>
            <a:off x="2915841" y="2036862"/>
            <a:ext cx="4243388" cy="1398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5724F59F-FDF7-4878-9492-5C82B9D6E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3" t="30975" r="722" b="31412"/>
          <a:stretch>
            <a:fillRect/>
          </a:stretch>
        </p:blipFill>
        <p:spPr bwMode="auto">
          <a:xfrm>
            <a:off x="2833688" y="770037"/>
            <a:ext cx="4312444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Oval 8">
            <a:extLst>
              <a:ext uri="{FF2B5EF4-FFF2-40B4-BE49-F238E27FC236}">
                <a16:creationId xmlns:a16="http://schemas.microsoft.com/office/drawing/2014/main" id="{F0F9A124-6F5F-4FAF-92A6-43E8BE17C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9628" y="1686818"/>
            <a:ext cx="1927622" cy="3429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885C68C2-3C11-4004-8F73-3AA830F07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5004" y="1220093"/>
            <a:ext cx="638175" cy="3429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0">
                <a:extLst>
                  <a:ext uri="{FF2B5EF4-FFF2-40B4-BE49-F238E27FC236}">
                    <a16:creationId xmlns:a16="http://schemas.microsoft.com/office/drawing/2014/main" id="{13073743-28DC-4BD4-A820-F7C0AF9BCF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61548" y="902196"/>
                <a:ext cx="106203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35000"/>
                  </a:spcBef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  <a:defRPr kumimoji="1"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FFFF00"/>
                  </a:buClr>
                  <a:buSzPct val="80000"/>
                  <a:buFont typeface="Wingdings" panose="05000000000000000000" pitchFamily="2" charset="2"/>
                  <a:buChar char="l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rgbClr val="00CC00"/>
                  </a:buClr>
                  <a:buSzPct val="80000"/>
                  <a:buFont typeface="Times New Roman" panose="02020603050405020304" pitchFamily="18" charset="0"/>
                  <a:buChar char="•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00"/>
                  </a:buClr>
                  <a:buSzPct val="80000"/>
                  <a:buChar char="»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00"/>
                  </a:buClr>
                  <a:buSzPct val="80000"/>
                  <a:buChar char="»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00"/>
                  </a:buClr>
                  <a:buSzPct val="80000"/>
                  <a:buChar char="»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00"/>
                  </a:buClr>
                  <a:buSzPct val="80000"/>
                  <a:buChar char="»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00"/>
                  </a:buClr>
                  <a:buSzPct val="80000"/>
                  <a:buChar char="»"/>
                  <a:defRPr kumimoji="1"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defTabSz="685800" eaLnBrk="0" hangingPunct="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None/>
                </a:pPr>
                <a14:m>
                  <m:oMath xmlns:m="http://schemas.openxmlformats.org/officeDocument/2006/math">
                    <m:r>
                      <a:rPr kumimoji="0" lang="en-US" altLang="zh-CN" sz="1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𝒏</m:t>
                    </m:r>
                  </m:oMath>
                </a14:m>
                <a:r>
                  <a:rPr kumimoji="0" lang="en-US" altLang="zh-CN" sz="1600" b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 </a:t>
                </a:r>
                <a:r>
                  <a:rPr kumimoji="0" lang="en-US" altLang="zh-CN" sz="1600" b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宋体" panose="02010600030101010101" pitchFamily="2" charset="-122"/>
                  </a:rPr>
                  <a:t>= 3</a:t>
                </a:r>
              </a:p>
            </p:txBody>
          </p:sp>
        </mc:Choice>
        <mc:Fallback xmlns="">
          <p:sp>
            <p:nvSpPr>
              <p:cNvPr id="13" name="Text Box 10">
                <a:extLst>
                  <a:ext uri="{FF2B5EF4-FFF2-40B4-BE49-F238E27FC236}">
                    <a16:creationId xmlns:a16="http://schemas.microsoft.com/office/drawing/2014/main" id="{13073743-28DC-4BD4-A820-F7C0AF9BC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61548" y="902196"/>
                <a:ext cx="1062036" cy="338554"/>
              </a:xfrm>
              <a:prstGeom prst="rect">
                <a:avLst/>
              </a:prstGeom>
              <a:blipFill>
                <a:blip r:embed="rId5"/>
                <a:stretch>
                  <a:fillRect t="-5357" b="-214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1321332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2E568E-0B36-4E06-A1EF-0085462CC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Deletion in B</a:t>
            </a:r>
            <a:r>
              <a:rPr lang="en-US" altLang="zh-CN" baseline="30000" dirty="0"/>
              <a:t>+</a:t>
            </a:r>
            <a:r>
              <a:rPr lang="en-US" altLang="zh-CN" dirty="0"/>
              <a:t>-Tree (Cont.)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B27122-F1BC-49C3-A7FC-8FF4576C90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640960" cy="3805070"/>
              </a:xfrm>
            </p:spPr>
            <p:txBody>
              <a:bodyPr/>
              <a:lstStyle/>
              <a:p>
                <a:r>
                  <a:rPr lang="en-US" altLang="zh-CN" sz="2000" dirty="0"/>
                  <a:t>If the node has too few entries due to the removal, and the entries in the node and a sibling don’t fit into a single node, then redistribute pointers</a:t>
                </a:r>
              </a:p>
              <a:p>
                <a:pPr lvl="1"/>
                <a:r>
                  <a:rPr lang="en-US" altLang="zh-CN" sz="1800" dirty="0"/>
                  <a:t>Redistribute the pointers between the node and a sibling such that both have more than the minimum number of entries</a:t>
                </a:r>
              </a:p>
              <a:p>
                <a:pPr lvl="1"/>
                <a:r>
                  <a:rPr lang="en-US" altLang="zh-CN" sz="1800" dirty="0"/>
                  <a:t>Update the corresponding search-key value in the parent of the node</a:t>
                </a:r>
              </a:p>
              <a:p>
                <a:r>
                  <a:rPr lang="en-US" altLang="zh-CN" sz="2000" dirty="0"/>
                  <a:t>The node deletions may cascade upwards till a node which has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r>
                  <a:rPr lang="en-US" altLang="zh-CN" sz="2000" dirty="0"/>
                  <a:t> or more pointers is found. </a:t>
                </a:r>
              </a:p>
              <a:p>
                <a:r>
                  <a:rPr lang="en-US" altLang="zh-CN" sz="2000" dirty="0"/>
                  <a:t>If the root node has only one pointer after deletion, it is deleted and the sole child becomes the root</a:t>
                </a:r>
              </a:p>
              <a:p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B27122-F1BC-49C3-A7FC-8FF4576C90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640960" cy="3805070"/>
              </a:xfrm>
              <a:blipFill>
                <a:blip r:embed="rId2"/>
                <a:stretch>
                  <a:fillRect l="-635" t="-801" r="-10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14710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53C943-A1AC-474F-BACB-09CB08F27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Examples of B</a:t>
            </a:r>
            <a:r>
              <a:rPr lang="en-US" altLang="zh-CN" baseline="30000" dirty="0"/>
              <a:t>+</a:t>
            </a:r>
            <a:r>
              <a:rPr lang="en-US" altLang="zh-CN" dirty="0"/>
              <a:t>-Tree Deletion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F748F3-C3C5-4F91-A0D3-69CA9920D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3170754"/>
            <a:ext cx="8568952" cy="1518817"/>
          </a:xfrm>
        </p:spPr>
        <p:txBody>
          <a:bodyPr/>
          <a:lstStyle/>
          <a:p>
            <a:r>
              <a:rPr lang="en-US" altLang="zh-CN" sz="1800" dirty="0"/>
              <a:t>Node with “</a:t>
            </a:r>
            <a:r>
              <a:rPr lang="en-US" altLang="zh-CN" sz="1800" dirty="0" err="1"/>
              <a:t>Perryridge</a:t>
            </a:r>
            <a:r>
              <a:rPr lang="en-US" altLang="zh-CN" sz="1800" dirty="0"/>
              <a:t>” becomes </a:t>
            </a:r>
            <a:r>
              <a:rPr lang="en-US" altLang="zh-CN" sz="1800" dirty="0" err="1"/>
              <a:t>underfull</a:t>
            </a:r>
            <a:r>
              <a:rPr lang="en-US" altLang="zh-CN" sz="1800" dirty="0"/>
              <a:t> (actually empty, in this special case) and merged with its sibling</a:t>
            </a:r>
          </a:p>
          <a:p>
            <a:r>
              <a:rPr lang="en-US" altLang="zh-CN" sz="1800" dirty="0"/>
              <a:t>As a result “</a:t>
            </a:r>
            <a:r>
              <a:rPr lang="en-US" altLang="zh-CN" sz="1800" dirty="0" err="1"/>
              <a:t>Perryridge</a:t>
            </a:r>
            <a:r>
              <a:rPr lang="en-US" altLang="zh-CN" sz="1800" dirty="0"/>
              <a:t>” node’s parent became </a:t>
            </a:r>
            <a:r>
              <a:rPr lang="en-US" altLang="zh-CN" sz="1800" dirty="0" err="1"/>
              <a:t>underfull</a:t>
            </a:r>
            <a:r>
              <a:rPr lang="en-US" altLang="zh-CN" sz="1800" dirty="0"/>
              <a:t>, and was merged with its sibling (and an entry was deleted from their parent)</a:t>
            </a:r>
          </a:p>
          <a:p>
            <a:r>
              <a:rPr lang="en-US" altLang="zh-CN" sz="1800" dirty="0"/>
              <a:t>Root node then had only one child, and was deleted and its child became the new root node</a:t>
            </a:r>
          </a:p>
          <a:p>
            <a:endParaRPr lang="zh-CN" altLang="en-US" sz="1800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3301CB1B-3563-491F-9F85-7532FA401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303332"/>
            <a:ext cx="268756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685800" eaLnBrk="0" hangingPunct="0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500" b="1" dirty="0">
                <a:solidFill>
                  <a:srgbClr val="0000FF"/>
                </a:solidFill>
                <a:ea typeface="宋体" panose="02010600030101010101" pitchFamily="2" charset="-122"/>
              </a:rPr>
              <a:t>Deletion of “</a:t>
            </a:r>
            <a:r>
              <a:rPr kumimoji="0" lang="en-US" altLang="zh-CN" sz="1500" b="1" dirty="0" err="1">
                <a:solidFill>
                  <a:srgbClr val="0000FF"/>
                </a:solidFill>
                <a:ea typeface="宋体" panose="02010600030101010101" pitchFamily="2" charset="-122"/>
              </a:rPr>
              <a:t>Perryridge</a:t>
            </a:r>
            <a:r>
              <a:rPr kumimoji="0" lang="en-US" altLang="zh-CN" sz="1500" b="1" dirty="0">
                <a:solidFill>
                  <a:srgbClr val="0000FF"/>
                </a:solidFill>
                <a:ea typeface="宋体" panose="02010600030101010101" pitchFamily="2" charset="-122"/>
              </a:rPr>
              <a:t>”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C0F3B79D-307F-4C31-8556-B365AFB30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" t="36313" r="919" b="36531"/>
          <a:stretch>
            <a:fillRect/>
          </a:stretch>
        </p:blipFill>
        <p:spPr bwMode="auto">
          <a:xfrm>
            <a:off x="3360466" y="2170360"/>
            <a:ext cx="4018360" cy="83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E57B91CF-1FF4-4604-AD89-98CCD45D5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3" t="29356" r="1083" b="27650"/>
          <a:stretch>
            <a:fillRect/>
          </a:stretch>
        </p:blipFill>
        <p:spPr bwMode="auto">
          <a:xfrm>
            <a:off x="3449762" y="883296"/>
            <a:ext cx="3832622" cy="1264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8">
            <a:extLst>
              <a:ext uri="{FF2B5EF4-FFF2-40B4-BE49-F238E27FC236}">
                <a16:creationId xmlns:a16="http://schemas.microsoft.com/office/drawing/2014/main" id="{AA655468-AD1C-40E5-824F-E508121B3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6718" y="933217"/>
            <a:ext cx="70564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600" i="1" dirty="0">
                <a:solidFill>
                  <a:srgbClr val="000000"/>
                </a:solidFill>
                <a:ea typeface="宋体" panose="02010600030101010101" pitchFamily="2" charset="-122"/>
              </a:rPr>
              <a:t>n  </a:t>
            </a:r>
            <a:r>
              <a:rPr kumimoji="0" lang="en-US" altLang="zh-CN" sz="1600" i="1" dirty="0">
                <a:solidFill>
                  <a:srgbClr val="000000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= 3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3193BC38-DFD7-4693-9CBA-17BE44218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2966" y="1735783"/>
            <a:ext cx="2007394" cy="392906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51D9A23E-9B2E-41E2-93A7-8C26B88DF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8419" y="1307158"/>
            <a:ext cx="2445544" cy="3429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2D6D7DD-E1EC-49BC-8A7E-D71EECB48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228" y="886867"/>
            <a:ext cx="1801416" cy="3429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12349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32C002-EFCD-4EB7-8095-EB2609DBC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Example of B</a:t>
            </a:r>
            <a:r>
              <a:rPr lang="en-US" altLang="zh-CN" baseline="30000" dirty="0"/>
              <a:t>+</a:t>
            </a:r>
            <a:r>
              <a:rPr lang="en-US" altLang="zh-CN" dirty="0"/>
              <a:t>-tree Deletion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BDC360-40E6-4D7A-8451-F45A0A378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3548186"/>
            <a:ext cx="8568952" cy="1230785"/>
          </a:xfrm>
        </p:spPr>
        <p:txBody>
          <a:bodyPr/>
          <a:lstStyle/>
          <a:p>
            <a:r>
              <a:rPr lang="en-US" altLang="zh-CN" sz="2000" dirty="0"/>
              <a:t>Parent of leaf containing </a:t>
            </a:r>
            <a:r>
              <a:rPr lang="en-US" altLang="zh-CN" sz="2000" dirty="0" err="1"/>
              <a:t>Perryridge</a:t>
            </a:r>
            <a:r>
              <a:rPr lang="en-US" altLang="zh-CN" sz="2000" dirty="0"/>
              <a:t> became </a:t>
            </a:r>
            <a:r>
              <a:rPr lang="en-US" altLang="zh-CN" sz="2000" dirty="0" err="1"/>
              <a:t>underfull</a:t>
            </a:r>
            <a:r>
              <a:rPr lang="en-US" altLang="zh-CN" sz="2000" dirty="0"/>
              <a:t>, and borrowed a pointer from its left sibling</a:t>
            </a:r>
          </a:p>
          <a:p>
            <a:r>
              <a:rPr lang="en-US" altLang="zh-CN" sz="2000" dirty="0"/>
              <a:t>Search-key value in the parent’s parent changes as a result</a:t>
            </a:r>
          </a:p>
          <a:p>
            <a:endParaRPr lang="zh-CN" altLang="en-US" sz="2000" dirty="0"/>
          </a:p>
        </p:txBody>
      </p:sp>
      <p:pic>
        <p:nvPicPr>
          <p:cNvPr id="4" name="Picture 1028">
            <a:extLst>
              <a:ext uri="{FF2B5EF4-FFF2-40B4-BE49-F238E27FC236}">
                <a16:creationId xmlns:a16="http://schemas.microsoft.com/office/drawing/2014/main" id="{2F313124-1909-4BA9-9CD7-063128927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6" t="29881" r="1706" b="29138"/>
          <a:stretch>
            <a:fillRect/>
          </a:stretch>
        </p:blipFill>
        <p:spPr bwMode="auto">
          <a:xfrm>
            <a:off x="3518298" y="2027089"/>
            <a:ext cx="4217194" cy="1341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029">
            <a:extLst>
              <a:ext uri="{FF2B5EF4-FFF2-40B4-BE49-F238E27FC236}">
                <a16:creationId xmlns:a16="http://schemas.microsoft.com/office/drawing/2014/main" id="{F7B019A4-93F9-494C-9EC2-AA6BD0B21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237005"/>
            <a:ext cx="285373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500" b="1" dirty="0">
                <a:solidFill>
                  <a:srgbClr val="0000FF"/>
                </a:solidFill>
                <a:ea typeface="宋体" panose="02010600030101010101" pitchFamily="2" charset="-122"/>
              </a:rPr>
              <a:t>Deletion of “</a:t>
            </a:r>
            <a:r>
              <a:rPr kumimoji="0" lang="en-US" altLang="zh-CN" sz="1500" b="1" dirty="0" err="1">
                <a:solidFill>
                  <a:srgbClr val="0000FF"/>
                </a:solidFill>
                <a:ea typeface="宋体" panose="02010600030101010101" pitchFamily="2" charset="-122"/>
              </a:rPr>
              <a:t>Perryridge</a:t>
            </a:r>
            <a:r>
              <a:rPr kumimoji="0" lang="en-US" altLang="zh-CN" sz="1500" b="1" dirty="0">
                <a:solidFill>
                  <a:srgbClr val="0000FF"/>
                </a:solidFill>
                <a:ea typeface="宋体" panose="02010600030101010101" pitchFamily="2" charset="-122"/>
              </a:rPr>
              <a:t>”</a:t>
            </a:r>
          </a:p>
        </p:txBody>
      </p:sp>
      <p:pic>
        <p:nvPicPr>
          <p:cNvPr id="6" name="Picture 1030">
            <a:extLst>
              <a:ext uri="{FF2B5EF4-FFF2-40B4-BE49-F238E27FC236}">
                <a16:creationId xmlns:a16="http://schemas.microsoft.com/office/drawing/2014/main" id="{1CD15DA9-39FF-470C-9853-E6E248243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3" t="30975" r="722" b="31412"/>
          <a:stretch>
            <a:fillRect/>
          </a:stretch>
        </p:blipFill>
        <p:spPr bwMode="auto">
          <a:xfrm>
            <a:off x="3455194" y="726926"/>
            <a:ext cx="4245769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val 9">
            <a:extLst>
              <a:ext uri="{FF2B5EF4-FFF2-40B4-BE49-F238E27FC236}">
                <a16:creationId xmlns:a16="http://schemas.microsoft.com/office/drawing/2014/main" id="{6D80AD0A-05EA-42E6-952A-F41A1032C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3969" y="1629420"/>
            <a:ext cx="1677591" cy="3429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E2CAFC4D-1766-4F35-A06C-87EFC5E98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9225" y="1149598"/>
            <a:ext cx="1677591" cy="3429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1F2EF82A-B6D2-4BA6-90BC-BD9CED72F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2767" y="699542"/>
            <a:ext cx="839390" cy="3429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9118007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53B6D1-343C-41A9-913D-9968880E1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</a:t>
            </a:r>
            <a:r>
              <a:rPr lang="en-US" altLang="zh-CN" baseline="30000" dirty="0"/>
              <a:t>+</a:t>
            </a:r>
            <a:r>
              <a:rPr lang="en-US" altLang="zh-CN" dirty="0"/>
              <a:t>-Tree File Organization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FD7054-5BEA-446F-BA7A-5200FC25A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Index file degradation (</a:t>
            </a:r>
            <a:r>
              <a:rPr lang="zh-CN" altLang="en-US" sz="1800" dirty="0"/>
              <a:t>退化</a:t>
            </a:r>
            <a:r>
              <a:rPr lang="en-US" altLang="zh-CN" sz="1800" dirty="0"/>
              <a:t>) problem is solved by using B</a:t>
            </a:r>
            <a:r>
              <a:rPr lang="en-US" altLang="zh-CN" sz="1800" baseline="30000" dirty="0"/>
              <a:t>+</a:t>
            </a:r>
            <a:r>
              <a:rPr lang="en-US" altLang="zh-CN" sz="1800" dirty="0"/>
              <a:t>-Tree indices. Data file degradation problem is solved by using B</a:t>
            </a:r>
            <a:r>
              <a:rPr lang="en-US" altLang="zh-CN" sz="1800" baseline="30000" dirty="0"/>
              <a:t>+</a:t>
            </a:r>
            <a:r>
              <a:rPr lang="en-US" altLang="zh-CN" sz="1800" dirty="0"/>
              <a:t>-Tree File Organization (B</a:t>
            </a:r>
            <a:r>
              <a:rPr lang="en-US" altLang="zh-CN" sz="1800" baseline="30000" dirty="0"/>
              <a:t>+</a:t>
            </a:r>
            <a:r>
              <a:rPr lang="zh-CN" altLang="en-US" sz="1800" dirty="0"/>
              <a:t>树文件组织）</a:t>
            </a:r>
            <a:endParaRPr lang="en-US" altLang="zh-CN" sz="1800" dirty="0"/>
          </a:p>
          <a:p>
            <a:r>
              <a:rPr lang="en-US" altLang="zh-CN" sz="1800" dirty="0"/>
              <a:t>The leaf nodes in a B</a:t>
            </a:r>
            <a:r>
              <a:rPr lang="en-US" altLang="zh-CN" sz="1800" baseline="30000" dirty="0"/>
              <a:t>+</a:t>
            </a:r>
            <a:r>
              <a:rPr lang="en-US" altLang="zh-CN" sz="1800" dirty="0"/>
              <a:t>-tree file organization store records, instead of pointers</a:t>
            </a:r>
          </a:p>
          <a:p>
            <a:r>
              <a:rPr lang="en-US" altLang="zh-CN" sz="1800" dirty="0"/>
              <a:t>Since records are larger than pointers, the maximum number of records that can be stored in a leaf node is less than the number of pointers in a non-leaf node</a:t>
            </a:r>
          </a:p>
          <a:p>
            <a:r>
              <a:rPr lang="en-US" altLang="zh-CN" sz="1800" dirty="0"/>
              <a:t>Leaf nodes are still required to be half full</a:t>
            </a:r>
          </a:p>
          <a:p>
            <a:r>
              <a:rPr lang="en-US" altLang="zh-CN" sz="1800" dirty="0"/>
              <a:t>Insertion and deletion are handled in the same way as the insertion and deletion of entries in a B</a:t>
            </a:r>
            <a:r>
              <a:rPr lang="en-US" altLang="zh-CN" sz="1800" baseline="30000" dirty="0"/>
              <a:t>+</a:t>
            </a:r>
            <a:r>
              <a:rPr lang="en-US" altLang="zh-CN" sz="1800" dirty="0"/>
              <a:t>-tree index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0178062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468AD7-8B2A-4B96-A580-C0804EA17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</a:t>
            </a:r>
            <a:r>
              <a:rPr lang="en-US" altLang="zh-CN" baseline="30000" dirty="0"/>
              <a:t>+</a:t>
            </a:r>
            <a:r>
              <a:rPr lang="en-US" altLang="zh-CN" dirty="0"/>
              <a:t>-Tree File Organization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2E8BAD-01A5-47CA-A5E7-285787FBE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3010992"/>
            <a:ext cx="8676964" cy="1871663"/>
          </a:xfrm>
        </p:spPr>
        <p:txBody>
          <a:bodyPr/>
          <a:lstStyle/>
          <a:p>
            <a:r>
              <a:rPr lang="en-US" altLang="zh-CN" sz="1800" dirty="0"/>
              <a:t>Good space utilization is important since records use more space than pointers.  </a:t>
            </a:r>
          </a:p>
          <a:p>
            <a:r>
              <a:rPr lang="en-US" altLang="zh-CN" sz="1800" dirty="0"/>
              <a:t>To improve space utilization, involve more sibling nodes in redistribution</a:t>
            </a:r>
          </a:p>
          <a:p>
            <a:pPr lvl="1"/>
            <a:r>
              <a:rPr lang="en-US" altLang="zh-CN" sz="1600" dirty="0"/>
              <a:t>Involving 2 siblings or more in redistribution to avoid split / merge where possible</a:t>
            </a:r>
            <a:endParaRPr lang="zh-CN" altLang="en-US" sz="180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2BC3C54-396F-4587-9B3F-533CB8284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5" t="28349" r="1115" b="28745"/>
          <a:stretch>
            <a:fillRect/>
          </a:stretch>
        </p:blipFill>
        <p:spPr bwMode="auto">
          <a:xfrm>
            <a:off x="1727597" y="843558"/>
            <a:ext cx="5688806" cy="187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90782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11B9F1-2B38-4953-A0D1-CB40A2C3E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B-Tree Index Files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02C7273-09D3-4041-A6B8-AEEBA43563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dirty="0"/>
                  <a:t>Similar to B</a:t>
                </a:r>
                <a:r>
                  <a:rPr lang="en-US" altLang="zh-CN" sz="1800" baseline="30000" dirty="0"/>
                  <a:t>+</a:t>
                </a:r>
                <a:r>
                  <a:rPr lang="en-US" altLang="zh-CN" sz="1800" dirty="0"/>
                  <a:t>-tree, but B-tree allows search-key values to appear </a:t>
                </a:r>
                <a:r>
                  <a:rPr lang="en-US" altLang="zh-CN" sz="1800" dirty="0">
                    <a:solidFill>
                      <a:srgbClr val="C00000"/>
                    </a:solidFill>
                  </a:rPr>
                  <a:t>only once</a:t>
                </a:r>
                <a:r>
                  <a:rPr lang="en-US" altLang="zh-CN" sz="1800" dirty="0"/>
                  <a:t>, thus eliminating redundant storage of search keys</a:t>
                </a:r>
              </a:p>
              <a:p>
                <a:r>
                  <a:rPr lang="en-US" altLang="zh-CN" sz="1800" dirty="0"/>
                  <a:t>Search keys in non-leaf nodes appear nowhere else in the B-tree; an additional pointer field for each search key in a non-leaf node is included</a:t>
                </a:r>
              </a:p>
              <a:p>
                <a:r>
                  <a:rPr lang="en-US" altLang="zh-CN" sz="1800" dirty="0"/>
                  <a:t>Generalized B-tree leaf node</a:t>
                </a:r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r>
                  <a:rPr lang="en-US" altLang="zh-CN" sz="1800" dirty="0" err="1"/>
                  <a:t>Nonleaf</a:t>
                </a:r>
                <a:r>
                  <a:rPr lang="en-US" altLang="zh-CN" sz="1800" dirty="0"/>
                  <a:t> node – pointers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 are the bucket or file record pointers</a:t>
                </a:r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02C7273-09D3-4041-A6B8-AEEBA43563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 r="-853" b="-3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7">
            <a:extLst>
              <a:ext uri="{FF2B5EF4-FFF2-40B4-BE49-F238E27FC236}">
                <a16:creationId xmlns:a16="http://schemas.microsoft.com/office/drawing/2014/main" id="{7D8355BB-DF10-45C1-922A-425755CE0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8" t="32419" r="1083" b="31718"/>
          <a:stretch>
            <a:fillRect/>
          </a:stretch>
        </p:blipFill>
        <p:spPr bwMode="auto">
          <a:xfrm>
            <a:off x="1763688" y="2643758"/>
            <a:ext cx="4969669" cy="1372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8">
            <a:extLst>
              <a:ext uri="{FF2B5EF4-FFF2-40B4-BE49-F238E27FC236}">
                <a16:creationId xmlns:a16="http://schemas.microsoft.com/office/drawing/2014/main" id="{F7968CD3-6515-420C-83CE-8806C5172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9257" y="2990230"/>
            <a:ext cx="97975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350" i="1">
                <a:solidFill>
                  <a:srgbClr val="FF0000"/>
                </a:solidFill>
                <a:ea typeface="宋体" panose="02010600030101010101" pitchFamily="2" charset="-122"/>
              </a:rPr>
              <a:t>Leaf node</a:t>
            </a: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DC34E8CC-5C4B-4562-BD1C-7E3D3A62C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8053" y="3761755"/>
            <a:ext cx="132600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350" i="1">
                <a:solidFill>
                  <a:srgbClr val="FF0000"/>
                </a:solidFill>
                <a:ea typeface="宋体" panose="02010600030101010101" pitchFamily="2" charset="-122"/>
              </a:rPr>
              <a:t>Non-leaf node</a:t>
            </a:r>
          </a:p>
        </p:txBody>
      </p:sp>
      <p:sp>
        <p:nvSpPr>
          <p:cNvPr id="7" name="椭圆 1">
            <a:extLst>
              <a:ext uri="{FF2B5EF4-FFF2-40B4-BE49-F238E27FC236}">
                <a16:creationId xmlns:a16="http://schemas.microsoft.com/office/drawing/2014/main" id="{810888D5-D4F5-4B54-AF0B-C3A6EFDF0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8740" y="3340274"/>
            <a:ext cx="338138" cy="432197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椭圆 11">
            <a:extLst>
              <a:ext uri="{FF2B5EF4-FFF2-40B4-BE49-F238E27FC236}">
                <a16:creationId xmlns:a16="http://schemas.microsoft.com/office/drawing/2014/main" id="{C04E4659-4B28-4A74-A749-50129A2B6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415" y="3352180"/>
            <a:ext cx="338138" cy="432197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椭圆 12">
            <a:extLst>
              <a:ext uri="{FF2B5EF4-FFF2-40B4-BE49-F238E27FC236}">
                <a16:creationId xmlns:a16="http://schemas.microsoft.com/office/drawing/2014/main" id="{324F251A-78F1-41BE-BCD9-DB97B42E7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1263" y="3342656"/>
            <a:ext cx="336947" cy="431006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45997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 animBg="1"/>
      <p:bldP spid="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D101C0-FE81-46FC-B231-EA2CEFEFF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B-Tree Index File</a:t>
            </a:r>
            <a:endParaRPr lang="zh-CN" alt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EE20C95-4FE2-47F8-B6BE-A13D84801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7" t="24326" r="1050" b="24937"/>
          <a:stretch>
            <a:fillRect/>
          </a:stretch>
        </p:blipFill>
        <p:spPr bwMode="auto">
          <a:xfrm>
            <a:off x="2235994" y="884635"/>
            <a:ext cx="4804172" cy="1882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4E85B7A8-23FF-4D45-B0C7-E3B94ABC5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3" t="30975" r="722" b="31412"/>
          <a:stretch>
            <a:fillRect/>
          </a:stretch>
        </p:blipFill>
        <p:spPr bwMode="auto">
          <a:xfrm>
            <a:off x="2182416" y="3380185"/>
            <a:ext cx="4966097" cy="1426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7">
            <a:extLst>
              <a:ext uri="{FF2B5EF4-FFF2-40B4-BE49-F238E27FC236}">
                <a16:creationId xmlns:a16="http://schemas.microsoft.com/office/drawing/2014/main" id="{C995ADB0-1E07-4E99-B5EE-DEC8D6CAE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5716" y="2944416"/>
            <a:ext cx="5495925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1800">
                <a:solidFill>
                  <a:schemeClr val="tx1"/>
                </a:solidFill>
                <a:latin typeface="+mn-lt"/>
              </a:defRPr>
            </a:lvl2pPr>
            <a:lvl3pPr marL="81438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1800">
                <a:solidFill>
                  <a:schemeClr val="tx1"/>
                </a:solidFill>
                <a:latin typeface="+mn-lt"/>
              </a:defRPr>
            </a:lvl3pPr>
            <a:lvl4pPr marL="1071563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1800">
                <a:solidFill>
                  <a:schemeClr val="tx1"/>
                </a:solidFill>
                <a:latin typeface="+mn-lt"/>
              </a:defRPr>
            </a:lvl4pPr>
            <a:lvl5pPr marL="13287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</a:defRPr>
            </a:lvl5pPr>
            <a:lvl6pPr marL="16716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</a:defRPr>
            </a:lvl6pPr>
            <a:lvl7pPr marL="20145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</a:defRPr>
            </a:lvl7pPr>
            <a:lvl8pPr marL="23574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</a:defRPr>
            </a:lvl8pPr>
            <a:lvl9pPr marL="27003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500" b="1" kern="0" dirty="0">
                <a:solidFill>
                  <a:srgbClr val="0000FF"/>
                </a:solidFill>
                <a:ea typeface="宋体" panose="02010600030101010101" pitchFamily="2" charset="-122"/>
              </a:rPr>
              <a:t>B-tree (above) and B</a:t>
            </a:r>
            <a:r>
              <a:rPr kumimoji="0" lang="en-US" altLang="zh-CN" sz="1500" b="1" kern="0" baseline="30000" dirty="0">
                <a:solidFill>
                  <a:srgbClr val="0000FF"/>
                </a:solidFill>
                <a:ea typeface="宋体" panose="02010600030101010101" pitchFamily="2" charset="-122"/>
              </a:rPr>
              <a:t>+</a:t>
            </a:r>
            <a:r>
              <a:rPr kumimoji="0" lang="en-US" altLang="zh-CN" sz="1500" b="1" kern="0" dirty="0">
                <a:solidFill>
                  <a:srgbClr val="0000FF"/>
                </a:solidFill>
                <a:ea typeface="宋体" panose="02010600030101010101" pitchFamily="2" charset="-122"/>
              </a:rPr>
              <a:t>-tree (below) on the same data</a:t>
            </a:r>
          </a:p>
        </p:txBody>
      </p:sp>
    </p:spTree>
    <p:extLst>
      <p:ext uri="{BB962C8B-B14F-4D97-AF65-F5344CB8AC3E}">
        <p14:creationId xmlns:p14="http://schemas.microsoft.com/office/powerpoint/2010/main" val="534295734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CAE9C-4BCD-4A89-AB51-C30EEB104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B-Tree Index Files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1A8139-5F51-4126-9344-883F8D009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280920" cy="3805070"/>
          </a:xfrm>
        </p:spPr>
        <p:txBody>
          <a:bodyPr/>
          <a:lstStyle/>
          <a:p>
            <a:r>
              <a:rPr lang="en-US" altLang="zh-CN" sz="1800" b="1" dirty="0"/>
              <a:t>Advantages of B-tree indices</a:t>
            </a:r>
          </a:p>
          <a:p>
            <a:pPr lvl="1"/>
            <a:r>
              <a:rPr lang="en-US" altLang="zh-CN" sz="1600" dirty="0"/>
              <a:t>Use less tree nodes than B</a:t>
            </a:r>
            <a:r>
              <a:rPr lang="en-US" altLang="zh-CN" sz="1600" baseline="30000" dirty="0"/>
              <a:t>+</a:t>
            </a:r>
            <a:r>
              <a:rPr lang="en-US" altLang="zh-CN" sz="1600" dirty="0"/>
              <a:t>-Tree</a:t>
            </a:r>
          </a:p>
          <a:p>
            <a:pPr lvl="1"/>
            <a:r>
              <a:rPr lang="en-US" altLang="zh-CN" sz="1600" dirty="0"/>
              <a:t>Sometimes possible to find the search-key value before reaching leaf nodes</a:t>
            </a:r>
          </a:p>
          <a:p>
            <a:r>
              <a:rPr lang="en-US" altLang="zh-CN" sz="1800" b="1" dirty="0"/>
              <a:t>Disadvantages of B-tree indices</a:t>
            </a:r>
          </a:p>
          <a:p>
            <a:pPr lvl="1"/>
            <a:r>
              <a:rPr lang="en-US" altLang="zh-CN" sz="1600" dirty="0"/>
              <a:t>Only a small fraction of all search-key values are found early </a:t>
            </a:r>
          </a:p>
          <a:p>
            <a:pPr lvl="1"/>
            <a:r>
              <a:rPr lang="en-US" altLang="zh-CN" sz="1600" dirty="0"/>
              <a:t>Non-leaf nodes are larger, so fan-out is reduced. Thus B-trees typically have greater depth than B</a:t>
            </a:r>
            <a:r>
              <a:rPr lang="en-US" altLang="zh-CN" sz="1600" baseline="30000" dirty="0"/>
              <a:t>+</a:t>
            </a:r>
            <a:r>
              <a:rPr lang="en-US" altLang="zh-CN" sz="1600" dirty="0"/>
              <a:t>-tree</a:t>
            </a:r>
          </a:p>
          <a:p>
            <a:pPr lvl="1"/>
            <a:r>
              <a:rPr lang="en-US" altLang="zh-CN" sz="1600" dirty="0"/>
              <a:t>Insertion and deletion are more complicated than in B</a:t>
            </a:r>
            <a:r>
              <a:rPr lang="en-US" altLang="zh-CN" sz="1600" baseline="30000" dirty="0"/>
              <a:t>+</a:t>
            </a:r>
            <a:r>
              <a:rPr lang="en-US" altLang="zh-CN" sz="1600" dirty="0"/>
              <a:t>-trees </a:t>
            </a:r>
          </a:p>
          <a:p>
            <a:pPr lvl="1"/>
            <a:r>
              <a:rPr lang="en-US" altLang="zh-CN" sz="1600" dirty="0"/>
              <a:t>Implementation is harder than B</a:t>
            </a:r>
            <a:r>
              <a:rPr lang="en-US" altLang="zh-CN" sz="1600" baseline="30000" dirty="0"/>
              <a:t>+</a:t>
            </a:r>
            <a:r>
              <a:rPr lang="en-US" altLang="zh-CN" sz="1600" dirty="0"/>
              <a:t>-Trees</a:t>
            </a:r>
          </a:p>
          <a:p>
            <a:r>
              <a:rPr lang="en-US" altLang="zh-CN" sz="1800" dirty="0"/>
              <a:t>Typically, the advantages of B-trees do not outweigh disadvantages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4778741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843558"/>
            <a:ext cx="8568952" cy="380507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z="2000" dirty="0"/>
              <a:t>Basic Concepts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Ordered Indexing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B</a:t>
            </a:r>
            <a:r>
              <a:rPr lang="en-US" altLang="zh-CN" sz="2000" baseline="30000" dirty="0"/>
              <a:t>+</a:t>
            </a:r>
            <a:r>
              <a:rPr lang="en-US" altLang="zh-CN" sz="2000" dirty="0"/>
              <a:t>-tree &amp; B-tree Indices</a:t>
            </a:r>
          </a:p>
          <a:p>
            <a:pPr>
              <a:spcBef>
                <a:spcPts val="1200"/>
              </a:spcBef>
            </a:pPr>
            <a:r>
              <a:rPr lang="en-US" altLang="zh-CN" sz="2000" b="1" dirty="0">
                <a:solidFill>
                  <a:srgbClr val="C00000"/>
                </a:solidFill>
              </a:rPr>
              <a:t>Static &amp; Dynamic Hashing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Ordered Indexing vs. Hashing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Index Definition in SQL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Multiple-key Access</a:t>
            </a:r>
          </a:p>
        </p:txBody>
      </p:sp>
    </p:spTree>
    <p:extLst>
      <p:ext uri="{BB962C8B-B14F-4D97-AF65-F5344CB8AC3E}">
        <p14:creationId xmlns:p14="http://schemas.microsoft.com/office/powerpoint/2010/main" val="1705272402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87FBC4-A657-455B-8A58-DEDF0B8E6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Static Hashing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254B258-D3C1-4D4D-ADE6-21CFEEE764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dirty="0"/>
                  <a:t>A bucket is a unit of storage containing one or more records (a bucket is typically a disk block)</a:t>
                </a:r>
              </a:p>
              <a:p>
                <a:r>
                  <a:rPr lang="en-US" altLang="zh-CN" sz="1800" dirty="0"/>
                  <a:t>In a hash file organization, we obtain the bucket of a record directly from its search-key value using a hash function</a:t>
                </a:r>
              </a:p>
              <a:p>
                <a:r>
                  <a:rPr lang="en-US" altLang="zh-CN" sz="1800" dirty="0"/>
                  <a:t>Hash function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1800" dirty="0"/>
                  <a:t> is a function from the set of all search-key values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1800" dirty="0"/>
                  <a:t> to the set of bucket addresses</a:t>
                </a:r>
              </a:p>
              <a:p>
                <a:r>
                  <a:rPr lang="en-US" altLang="zh-CN" sz="1800" dirty="0"/>
                  <a:t>Hash function is used to locate records for access, insertion as well as deletion</a:t>
                </a:r>
              </a:p>
              <a:p>
                <a:r>
                  <a:rPr lang="en-US" altLang="zh-CN" sz="1800" dirty="0"/>
                  <a:t>Records with different search-key values may be mapped to the same bucket; thus the entire bucket has to be searched sequentially to locate a record</a:t>
                </a:r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254B258-D3C1-4D4D-ADE6-21CFEEE764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28036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B501D-0242-40E3-9394-BEE225414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Example of Hash File Organization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05C678-1380-45BF-B3BF-1FAA1A6C0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Hash file organization of </a:t>
            </a: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</a:t>
            </a:r>
            <a:r>
              <a:rPr lang="en-US" altLang="zh-CN" sz="1800" dirty="0"/>
              <a:t> file, using </a:t>
            </a: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branch-name</a:t>
            </a:r>
            <a:r>
              <a:rPr lang="en-US" altLang="zh-CN" sz="1800" dirty="0"/>
              <a:t> as key (See figure in next slide)</a:t>
            </a:r>
          </a:p>
          <a:p>
            <a:pPr lvl="1"/>
            <a:r>
              <a:rPr lang="en-US" altLang="zh-CN" sz="1800" dirty="0"/>
              <a:t>There are 10 buckets</a:t>
            </a:r>
          </a:p>
          <a:p>
            <a:pPr lvl="2"/>
            <a:r>
              <a:rPr lang="en-US" altLang="zh-CN" sz="1600" dirty="0"/>
              <a:t>The binary representation of the </a:t>
            </a:r>
            <a:r>
              <a:rPr lang="en-US" altLang="zh-CN" sz="1600" dirty="0" err="1"/>
              <a:t>i-th</a:t>
            </a:r>
            <a:r>
              <a:rPr lang="en-US" altLang="zh-CN" sz="1600" dirty="0"/>
              <a:t> character is assumed to be the integer </a:t>
            </a:r>
            <a:r>
              <a:rPr lang="en-US" altLang="zh-CN" sz="1600" dirty="0" err="1"/>
              <a:t>i</a:t>
            </a:r>
            <a:endParaRPr lang="en-US" altLang="zh-CN" sz="1600" dirty="0"/>
          </a:p>
          <a:p>
            <a:pPr lvl="2"/>
            <a:r>
              <a:rPr lang="en-US" altLang="zh-CN" sz="1600" dirty="0"/>
              <a:t>The hash function returns the sum of the binary representations of the </a:t>
            </a:r>
            <a:r>
              <a:rPr lang="en-US" altLang="zh-CN" sz="1600"/>
              <a:t>characters mod </a:t>
            </a:r>
            <a:r>
              <a:rPr lang="en-US" altLang="zh-CN" sz="1600" dirty="0"/>
              <a:t>10</a:t>
            </a:r>
          </a:p>
          <a:p>
            <a:pPr lvl="2"/>
            <a:r>
              <a:rPr lang="en-US" altLang="zh-CN" sz="1600" dirty="0"/>
              <a:t>E.g. </a:t>
            </a:r>
            <a:br>
              <a:rPr lang="en-US" altLang="zh-CN" sz="1600" dirty="0"/>
            </a:br>
            <a:r>
              <a:rPr lang="en-US" altLang="zh-CN" sz="1600" dirty="0"/>
              <a:t>h(</a:t>
            </a:r>
            <a:r>
              <a:rPr lang="en-US" altLang="zh-CN" sz="1600" dirty="0" err="1"/>
              <a:t>Perryridge</a:t>
            </a:r>
            <a:r>
              <a:rPr lang="en-US" altLang="zh-CN" sz="1600" dirty="0"/>
              <a:t>) = 125 mod 10 = 5    </a:t>
            </a:r>
            <a:br>
              <a:rPr lang="en-US" altLang="zh-CN" sz="1600" dirty="0"/>
            </a:br>
            <a:r>
              <a:rPr lang="en-US" altLang="zh-CN" sz="1600" dirty="0"/>
              <a:t>h(Round Hill) = 113 mod 10 = 3   </a:t>
            </a:r>
            <a:br>
              <a:rPr lang="en-US" altLang="zh-CN" sz="1600" dirty="0"/>
            </a:br>
            <a:r>
              <a:rPr lang="en-US" altLang="zh-CN" sz="1600" dirty="0"/>
              <a:t>h(Brighton) = 93 mod 10 = 3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246664715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68A03B-6C7D-4F06-9A0C-E0BAD97A0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Example of Hash File Organization </a:t>
            </a:r>
            <a:endParaRPr lang="zh-CN" altLang="en-US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33D8216B-82A3-4EE3-96D1-8580E3FC0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2" t="1094" r="15619" b="874"/>
          <a:stretch>
            <a:fillRect/>
          </a:stretch>
        </p:blipFill>
        <p:spPr bwMode="auto">
          <a:xfrm>
            <a:off x="3635896" y="843558"/>
            <a:ext cx="3854054" cy="3939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6">
            <a:extLst>
              <a:ext uri="{FF2B5EF4-FFF2-40B4-BE49-F238E27FC236}">
                <a16:creationId xmlns:a16="http://schemas.microsoft.com/office/drawing/2014/main" id="{9F2290BE-C6A0-42F0-A96A-3C0D7C51B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2211710"/>
            <a:ext cx="236101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None/>
            </a:pPr>
            <a:r>
              <a:rPr kumimoji="0" lang="en-US" altLang="zh-CN" sz="15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Hash file organization of </a:t>
            </a:r>
            <a:r>
              <a:rPr kumimoji="0" lang="en-US" altLang="zh-CN" sz="1500" i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account</a:t>
            </a:r>
            <a:r>
              <a:rPr kumimoji="0" lang="en-US" altLang="zh-CN" sz="15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file, using </a:t>
            </a:r>
            <a:r>
              <a:rPr kumimoji="0" lang="en-US" altLang="zh-CN" sz="1500" i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branch-name </a:t>
            </a:r>
            <a:r>
              <a:rPr kumimoji="0" lang="en-US" altLang="zh-CN" sz="15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as key</a:t>
            </a:r>
          </a:p>
        </p:txBody>
      </p:sp>
    </p:spTree>
    <p:extLst>
      <p:ext uri="{BB962C8B-B14F-4D97-AF65-F5344CB8AC3E}">
        <p14:creationId xmlns:p14="http://schemas.microsoft.com/office/powerpoint/2010/main" val="694956626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EC381B-E1E9-4C1A-95C7-C2E3C1BFC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Hash Functions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7EBA73-1108-430D-BEDC-923E1121D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Worst hash function maps all search-key values to the same bucket</a:t>
            </a:r>
          </a:p>
          <a:p>
            <a:r>
              <a:rPr lang="en-US" altLang="zh-CN" sz="2000" dirty="0"/>
              <a:t>An ideal hash function is </a:t>
            </a:r>
            <a:r>
              <a:rPr lang="en-US" altLang="zh-CN" sz="2000" dirty="0">
                <a:solidFill>
                  <a:srgbClr val="C00000"/>
                </a:solidFill>
              </a:rPr>
              <a:t>uniform</a:t>
            </a:r>
            <a:r>
              <a:rPr lang="en-US" altLang="zh-CN" sz="2000" dirty="0"/>
              <a:t>, i.e., each bucket is assigned the same number of search-key values from the set of </a:t>
            </a:r>
            <a:r>
              <a:rPr lang="en-US" altLang="zh-CN" sz="2000" dirty="0">
                <a:solidFill>
                  <a:srgbClr val="C00000"/>
                </a:solidFill>
              </a:rPr>
              <a:t>all possible values</a:t>
            </a:r>
          </a:p>
          <a:p>
            <a:r>
              <a:rPr lang="en-US" altLang="zh-CN" sz="2000" dirty="0"/>
              <a:t>Ideal hash function is </a:t>
            </a:r>
            <a:r>
              <a:rPr lang="en-US" altLang="zh-CN" sz="2000" dirty="0">
                <a:solidFill>
                  <a:srgbClr val="C00000"/>
                </a:solidFill>
              </a:rPr>
              <a:t>random</a:t>
            </a:r>
            <a:r>
              <a:rPr lang="en-US" altLang="zh-CN" sz="2000" dirty="0"/>
              <a:t>, so each bucket will have the same number of records assigned to it irrespective of the actual distribution of search-key values in the file</a:t>
            </a:r>
          </a:p>
          <a:p>
            <a:r>
              <a:rPr lang="en-US" altLang="zh-CN" sz="2000" dirty="0"/>
              <a:t>Typical hash functions perform computation on the internal binary representation of the search-key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382562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7C0E5D-D3A6-4D6E-AE43-965799039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Handling of Bucket Overflows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C21C4A-C026-470B-B9A3-6F3772FD7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Bucket overflow can occur because of </a:t>
            </a:r>
          </a:p>
          <a:p>
            <a:pPr lvl="1"/>
            <a:r>
              <a:rPr lang="en-US" altLang="zh-CN" sz="1800" dirty="0"/>
              <a:t>Insufficient buckets </a:t>
            </a:r>
          </a:p>
          <a:p>
            <a:pPr lvl="1"/>
            <a:r>
              <a:rPr lang="en-US" altLang="zh-CN" sz="1800" dirty="0"/>
              <a:t>Skew in distribution of records. This can occur due to two reasons:</a:t>
            </a:r>
          </a:p>
          <a:p>
            <a:pPr lvl="2"/>
            <a:r>
              <a:rPr lang="en-US" altLang="zh-CN" sz="1600" dirty="0"/>
              <a:t>multiple records have same search-key value</a:t>
            </a:r>
          </a:p>
          <a:p>
            <a:pPr lvl="2"/>
            <a:r>
              <a:rPr lang="en-US" altLang="zh-CN" sz="1600" dirty="0"/>
              <a:t>chosen hash function produces non-uniform distribution of key values</a:t>
            </a:r>
          </a:p>
          <a:p>
            <a:r>
              <a:rPr lang="en-US" altLang="zh-CN" sz="2000" dirty="0"/>
              <a:t>Although the probability of bucket overflow can be reduced, it cannot be eliminated; it is handled by using overflow buckets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72981611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B3BAE9-2B03-4CD1-9C12-6AF9FA350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Handling of Bucket Overflows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7B7D40-CA57-4D09-AAAF-C245484C6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Overflow chaining – the overflow buckets of a given bucket are chained together in a linked list</a:t>
            </a:r>
          </a:p>
          <a:p>
            <a:endParaRPr lang="zh-CN" altLang="en-US" sz="200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411B08A-A59C-4869-B8A2-C0719B204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3" t="12950" r="2068" b="12032"/>
          <a:stretch>
            <a:fillRect/>
          </a:stretch>
        </p:blipFill>
        <p:spPr bwMode="auto">
          <a:xfrm>
            <a:off x="2123728" y="1809894"/>
            <a:ext cx="4613672" cy="2578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5987298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BE7295-896C-4052-B250-501D82863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Hash Indices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B45AB0-32C8-456C-ABBE-372AC2475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Hashing can be used not only for file organization, but also for index-structure creation </a:t>
            </a:r>
          </a:p>
          <a:p>
            <a:r>
              <a:rPr lang="en-US" altLang="zh-CN" sz="1800" dirty="0"/>
              <a:t>A hash index organizes the search keys, with their associated record pointers, into a hash file structure</a:t>
            </a:r>
          </a:p>
          <a:p>
            <a:r>
              <a:rPr lang="en-US" altLang="zh-CN" sz="1800" dirty="0"/>
              <a:t>Strictly speaking, hash indices are always secondary indices </a:t>
            </a:r>
          </a:p>
          <a:p>
            <a:pPr lvl="1"/>
            <a:r>
              <a:rPr lang="en-US" altLang="zh-CN" sz="1600" dirty="0"/>
              <a:t>if the file itself is organized using hashing, a separate primary hash index on it using the same search-key is unnecessary </a:t>
            </a:r>
          </a:p>
          <a:p>
            <a:pPr lvl="1"/>
            <a:r>
              <a:rPr lang="en-US" altLang="zh-CN" sz="1600" dirty="0"/>
              <a:t>However, we use the term hash index to refer to both secondary index structures and hash organized files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007160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4A4613-8B8B-419F-9701-E04C33C54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Example of Hash Index</a:t>
            </a:r>
            <a:endParaRPr lang="zh-CN" altLang="en-US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70D7B183-0218-472B-9F60-734C190ED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89" t="963" r="11353" b="963"/>
          <a:stretch>
            <a:fillRect/>
          </a:stretch>
        </p:blipFill>
        <p:spPr bwMode="auto">
          <a:xfrm>
            <a:off x="1577578" y="883444"/>
            <a:ext cx="4604147" cy="3950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006F0D26-5D96-4CEB-A4F9-67D34D424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3622" y="3275410"/>
            <a:ext cx="3886770" cy="133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35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secondary hash index on the account file, for the search key </a:t>
            </a:r>
            <a:r>
              <a:rPr kumimoji="0" lang="en-US" altLang="zh-CN" sz="1350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account_number</a:t>
            </a:r>
            <a:r>
              <a:rPr kumimoji="0" lang="en-US" altLang="zh-CN" sz="135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 The hash function computes the sum of the digits of the account number modulo 7. </a:t>
            </a:r>
            <a:r>
              <a:rPr kumimoji="0" lang="en-US" altLang="zh-CN" sz="135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The hash index has 7 buckets, each of size 2</a:t>
            </a:r>
            <a:r>
              <a:rPr kumimoji="0" lang="en-US" altLang="zh-CN" sz="135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 One has a overflow bucket.</a:t>
            </a:r>
            <a:endParaRPr kumimoji="0" lang="zh-CN" altLang="en-US" sz="135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002925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B873F9-D39D-4C40-A9A9-DB696ADE6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Deficiencies of Static Hashing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7A7FE1D-FF1B-4547-94D2-793DB41EE5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dirty="0"/>
                  <a:t>In static hashing, function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1800" dirty="0"/>
                  <a:t> maps search-key values to a fixed set of B bucket addresses</a:t>
                </a:r>
              </a:p>
              <a:p>
                <a:pPr lvl="1"/>
                <a:r>
                  <a:rPr lang="en-US" altLang="zh-CN" sz="1600" dirty="0"/>
                  <a:t>Databases grow with time. If the initial number of buckets is too small, performance will degrade due to too much overflows</a:t>
                </a:r>
              </a:p>
              <a:p>
                <a:pPr lvl="1"/>
                <a:r>
                  <a:rPr lang="en-US" altLang="zh-CN" sz="1600" dirty="0"/>
                  <a:t>If file size at some point in the future is anticipated and choose the number of buckets allocated accordingly, significant amount of space will be wasted initially</a:t>
                </a:r>
              </a:p>
              <a:p>
                <a:pPr lvl="1"/>
                <a:r>
                  <a:rPr lang="en-US" altLang="zh-CN" sz="1600" dirty="0"/>
                  <a:t>If database shrinks, again space will be wasted</a:t>
                </a:r>
              </a:p>
              <a:p>
                <a:pPr lvl="1"/>
                <a:r>
                  <a:rPr lang="en-US" altLang="zh-CN" sz="1600" dirty="0"/>
                  <a:t>One option is periodic re-organization of the file with a new hash function, but it is very expensive.</a:t>
                </a:r>
              </a:p>
              <a:p>
                <a:r>
                  <a:rPr lang="en-US" altLang="zh-CN" sz="1800" dirty="0"/>
                  <a:t>These problems can be avoided by using techniques that allow the number of buckets to be modified dynamically</a:t>
                </a:r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7A7FE1D-FF1B-4547-94D2-793DB41EE5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9739209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BF39E-A1CF-4C1E-BD3F-707AD4D61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Dynamic Hashing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39C49AE-32C8-4BBE-95F9-A8219BDE29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10896"/>
                <a:ext cx="8784976" cy="3805070"/>
              </a:xfrm>
            </p:spPr>
            <p:txBody>
              <a:bodyPr/>
              <a:lstStyle/>
              <a:p>
                <a:r>
                  <a:rPr lang="en-US" altLang="zh-CN" sz="1800" b="1" dirty="0"/>
                  <a:t>Good for database that grows and shrinks in size</a:t>
                </a:r>
              </a:p>
              <a:p>
                <a:pPr lvl="1"/>
                <a:r>
                  <a:rPr lang="en-US" altLang="zh-CN" sz="1600" dirty="0"/>
                  <a:t>Allows the hash function to be modified dynamically</a:t>
                </a:r>
              </a:p>
              <a:p>
                <a:pPr lvl="1"/>
                <a:r>
                  <a:rPr lang="en-US" altLang="zh-CN" sz="1600" dirty="0"/>
                  <a:t>Extendable hashing(</a:t>
                </a:r>
                <a:r>
                  <a:rPr lang="zh-CN" altLang="en-US" sz="1600" dirty="0"/>
                  <a:t>可扩充散列</a:t>
                </a:r>
                <a:r>
                  <a:rPr lang="en-US" altLang="zh-CN" sz="1600" dirty="0"/>
                  <a:t>) – one form of dynamic hashing </a:t>
                </a:r>
              </a:p>
              <a:p>
                <a:pPr lvl="1"/>
                <a:r>
                  <a:rPr lang="en-US" altLang="zh-CN" sz="1600" dirty="0"/>
                  <a:t>Hash function generates values over a large range - typically b-bit integers, with b = 32 (then 2</a:t>
                </a:r>
                <a:r>
                  <a:rPr lang="en-US" altLang="zh-CN" sz="1600" baseline="30000" dirty="0"/>
                  <a:t>32</a:t>
                </a:r>
                <a:r>
                  <a:rPr lang="en-US" altLang="zh-CN" sz="1600" dirty="0"/>
                  <a:t> hash values).</a:t>
                </a:r>
              </a:p>
              <a:p>
                <a:pPr lvl="1"/>
                <a:r>
                  <a:rPr lang="en-US" altLang="zh-CN" sz="1600" dirty="0"/>
                  <a:t>At any time use only a prefix of the hash function to index into a table of bucket addresses.   </a:t>
                </a:r>
              </a:p>
              <a:p>
                <a:pPr lvl="1"/>
                <a:r>
                  <a:rPr lang="en-US" altLang="zh-CN" sz="1600" dirty="0"/>
                  <a:t>Let the length of the prefix be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1600" dirty="0"/>
                  <a:t> bits,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lang="en-US" altLang="zh-CN" sz="1600" dirty="0"/>
                  <a:t>  </a:t>
                </a:r>
              </a:p>
              <a:p>
                <a:pPr lvl="1"/>
                <a:r>
                  <a:rPr lang="en-US" altLang="zh-CN" sz="1600" dirty="0"/>
                  <a:t>Bucket address table size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CN" sz="1600" dirty="0"/>
                  <a:t>.  Initially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sz="1600" dirty="0"/>
              </a:p>
              <a:p>
                <a:pPr lvl="1"/>
                <a:r>
                  <a:rPr lang="en-US" altLang="zh-CN" sz="1600" dirty="0"/>
                  <a:t>Value of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1600" dirty="0"/>
                  <a:t> grows and shrinks as the size of the database grows and shrinks.</a:t>
                </a:r>
              </a:p>
              <a:p>
                <a:pPr lvl="1"/>
                <a:r>
                  <a:rPr lang="en-US" altLang="zh-CN" sz="1600" dirty="0"/>
                  <a:t>Multiple entries in the bucket address table may point to a bucket </a:t>
                </a:r>
              </a:p>
              <a:p>
                <a:pPr lvl="1"/>
                <a:r>
                  <a:rPr lang="en-US" altLang="zh-CN" sz="1600" dirty="0"/>
                  <a:t>Thus, actual number of buckets is &lt;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endParaRPr lang="en-US" altLang="zh-CN" sz="1600" dirty="0"/>
              </a:p>
              <a:p>
                <a:pPr lvl="2"/>
                <a:r>
                  <a:rPr lang="en-US" altLang="zh-CN" sz="1400" dirty="0"/>
                  <a:t>The number of buckets also changes dynamically due to coalescing and splitting of buckets. </a:t>
                </a:r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39C49AE-32C8-4BBE-95F9-A8219BDE29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10896"/>
                <a:ext cx="8784976" cy="3805070"/>
              </a:xfrm>
              <a:blipFill>
                <a:blip r:embed="rId2"/>
                <a:stretch>
                  <a:fillRect l="-416" t="-962" r="-278" b="-78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5822866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7FAE70-3624-4B49-B601-B225A71C1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General Extendable Hash Structure </a:t>
            </a:r>
            <a:endParaRPr lang="zh-CN" altLang="en-US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DF4D661-4C26-462E-ACCD-1CF3F7813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3" t="7219" r="1936" b="8269"/>
          <a:stretch>
            <a:fillRect/>
          </a:stretch>
        </p:blipFill>
        <p:spPr bwMode="auto">
          <a:xfrm>
            <a:off x="1953817" y="908447"/>
            <a:ext cx="5041106" cy="35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1994851"/>
      </p:ext>
    </p:extLst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56054E-6F1F-445C-B50D-ED3BEDCF0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Extendable Hash Structure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A2D5C31-725C-4FDC-A8B1-B8DF6C8F73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dirty="0"/>
                  <a:t>Each bucket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1800" dirty="0"/>
                  <a:t> stores a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800" dirty="0"/>
                  <a:t>; all the entries that point to the same bucket have the same values on the first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800" dirty="0"/>
                  <a:t> bits. </a:t>
                </a:r>
              </a:p>
              <a:p>
                <a:r>
                  <a:rPr lang="en-US" altLang="zh-CN" sz="1800" dirty="0"/>
                  <a:t>To locate the bucket containing search-key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800" dirty="0"/>
                  <a:t>:</a:t>
                </a:r>
              </a:p>
              <a:p>
                <a:pPr lvl="1"/>
                <a:r>
                  <a:rPr lang="en-US" altLang="zh-CN" sz="1600" dirty="0"/>
                  <a:t>1. Compute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altLang="zh-CN" sz="1600" dirty="0"/>
              </a:p>
              <a:p>
                <a:pPr lvl="1"/>
                <a:r>
                  <a:rPr lang="en-US" altLang="zh-CN" sz="1600" dirty="0"/>
                  <a:t>2. Use the first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1600" dirty="0"/>
                  <a:t> high order bits of X as a displacement into bucket address table, and follow the pointer to appropriate bucket</a:t>
                </a:r>
              </a:p>
              <a:p>
                <a:r>
                  <a:rPr lang="en-US" altLang="zh-CN" sz="1800" dirty="0"/>
                  <a:t>To insert a record with search-key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800" dirty="0"/>
                  <a:t> </a:t>
                </a:r>
              </a:p>
              <a:p>
                <a:pPr lvl="1"/>
                <a:r>
                  <a:rPr lang="en-US" altLang="zh-CN" sz="1600" dirty="0"/>
                  <a:t>follow same procedure as look-up and locate the bucket, say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1600" dirty="0"/>
                  <a:t>  </a:t>
                </a:r>
              </a:p>
              <a:p>
                <a:pPr lvl="1"/>
                <a:r>
                  <a:rPr lang="en-US" altLang="zh-CN" sz="1600" dirty="0"/>
                  <a:t>If there is room in the bucket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1600" dirty="0"/>
                  <a:t> insert record in the bucket.  </a:t>
                </a:r>
              </a:p>
              <a:p>
                <a:pPr lvl="1"/>
                <a:r>
                  <a:rPr lang="en-US" altLang="zh-CN" sz="1600" dirty="0"/>
                  <a:t>Else the bucket must be split and insertion re-attempted (next slide.)</a:t>
                </a:r>
              </a:p>
              <a:p>
                <a:pPr lvl="2"/>
                <a:r>
                  <a:rPr lang="en-US" altLang="zh-CN" sz="1400" dirty="0"/>
                  <a:t>Overflow buckets used instead in some cases (will see shortly)</a:t>
                </a:r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A2D5C31-725C-4FDC-A8B1-B8DF6C8F73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8107030"/>
      </p:ext>
    </p:extLst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3F8BAA-972E-430C-AB00-3666AD2AB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Updates in Extendable Hash Structure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1B0D5FE-8B4D-4B75-8070-0D413F961B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208912" cy="3805070"/>
              </a:xfrm>
            </p:spPr>
            <p:txBody>
              <a:bodyPr/>
              <a:lstStyle/>
              <a:p>
                <a:r>
                  <a:rPr lang="en-US" altLang="zh-CN" sz="1800" dirty="0"/>
                  <a:t>To split a bucket j when inserting record with search-key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800" dirty="0"/>
                  <a:t>:</a:t>
                </a:r>
              </a:p>
              <a:p>
                <a:pPr lvl="1"/>
                <a:r>
                  <a:rPr lang="en-US" altLang="zh-CN" sz="1600" dirty="0"/>
                  <a:t>If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600" dirty="0"/>
                  <a:t> (more than one pointer to bucket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1600" dirty="0"/>
                  <a:t>)</a:t>
                </a:r>
              </a:p>
              <a:p>
                <a:pPr lvl="2"/>
                <a:r>
                  <a:rPr lang="en-US" altLang="zh-CN" sz="1400" dirty="0"/>
                  <a:t>allocate a new bucket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CN" sz="1400" dirty="0"/>
                  <a:t>, and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altLang="zh-CN" sz="1400" dirty="0"/>
                  <a:t> to the old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altLang="zh-CN" sz="1400" dirty="0"/>
              </a:p>
              <a:p>
                <a:pPr lvl="2"/>
                <a:r>
                  <a:rPr lang="en-US" altLang="zh-CN" sz="1400" dirty="0"/>
                  <a:t>make the second half of the bucket address table entries pointing to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1400" dirty="0"/>
                  <a:t> to point to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altLang="zh-CN" sz="1400" dirty="0"/>
              </a:p>
              <a:p>
                <a:pPr lvl="2"/>
                <a:r>
                  <a:rPr lang="en-US" altLang="zh-CN" sz="1400" dirty="0"/>
                  <a:t>remove and reinsert each record in bucket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altLang="zh-CN" sz="1400" dirty="0"/>
              </a:p>
              <a:p>
                <a:pPr lvl="2"/>
                <a:r>
                  <a:rPr lang="en-US" altLang="zh-CN" sz="1400" dirty="0"/>
                  <a:t>recompute new bucket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400" dirty="0"/>
                  <a:t> and insert record in the bucket (further splitting is required if the bucket is still full)</a:t>
                </a:r>
              </a:p>
              <a:p>
                <a:pPr lvl="1"/>
                <a:r>
                  <a:rPr lang="en-US" altLang="zh-CN" sz="1600" dirty="0"/>
                  <a:t>If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600" dirty="0"/>
                  <a:t> (only one pointer to bucket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1600" dirty="0"/>
                  <a:t>)</a:t>
                </a:r>
              </a:p>
              <a:p>
                <a:pPr lvl="2"/>
                <a:r>
                  <a:rPr lang="en-US" altLang="zh-CN" sz="1400" dirty="0"/>
                  <a:t>increment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1400" dirty="0"/>
                  <a:t> and double the size of the bucket address table.</a:t>
                </a:r>
              </a:p>
              <a:p>
                <a:pPr lvl="2"/>
                <a:r>
                  <a:rPr lang="en-US" altLang="zh-CN" sz="1400" dirty="0"/>
                  <a:t>replace each entry in the table by two entries that point to the same bucket.</a:t>
                </a:r>
              </a:p>
              <a:p>
                <a:pPr lvl="2"/>
                <a:r>
                  <a:rPr lang="en-US" altLang="zh-CN" sz="1400" dirty="0"/>
                  <a:t>recompute new bucket address table entry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br>
                  <a:rPr lang="en-US" altLang="zh-CN" sz="1400" dirty="0"/>
                </a:br>
                <a:r>
                  <a:rPr lang="en-US" altLang="zh-CN" sz="1400" dirty="0"/>
                  <a:t>Now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400" dirty="0"/>
                  <a:t> so use the first case above. </a:t>
                </a:r>
                <a:endParaRPr lang="zh-CN" altLang="en-US" sz="1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1B0D5FE-8B4D-4B75-8070-0D413F961B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208912" cy="3805070"/>
              </a:xfrm>
              <a:blipFill>
                <a:blip r:embed="rId2"/>
                <a:stretch>
                  <a:fillRect l="-445" t="-962" r="-2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1882850"/>
      </p:ext>
    </p:extLst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16E0EC-5064-4FA4-B3F5-7B43DCC75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Updates in Extendable Hash Structure (Cont.)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C0D53D-56ED-4D18-8F5A-874171D9E4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dirty="0"/>
                  <a:t>When inserting a value, if the bucket is full after several splits (that is,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1800" dirty="0"/>
                  <a:t> reaches some limit b) create an overflow bucket instead of splitting bucket entry table further.</a:t>
                </a:r>
              </a:p>
              <a:p>
                <a:r>
                  <a:rPr lang="en-US" altLang="zh-CN" sz="1800" dirty="0"/>
                  <a:t>To delete a key value, </a:t>
                </a:r>
              </a:p>
              <a:p>
                <a:pPr lvl="1"/>
                <a:r>
                  <a:rPr lang="en-US" altLang="zh-CN" sz="1600" dirty="0"/>
                  <a:t>locate it in its bucket and remove it. </a:t>
                </a:r>
              </a:p>
              <a:p>
                <a:pPr lvl="1"/>
                <a:r>
                  <a:rPr lang="en-US" altLang="zh-CN" sz="1600" dirty="0"/>
                  <a:t>The bucket itself can be removed if it becomes empty (with appropriate updates to the bucket address table). </a:t>
                </a:r>
              </a:p>
              <a:p>
                <a:pPr lvl="1"/>
                <a:r>
                  <a:rPr lang="en-US" altLang="zh-CN" sz="1600" dirty="0"/>
                  <a:t>Coalescing of buckets can be done (can coalesce only with a “buddy” bucket if it is present) </a:t>
                </a:r>
              </a:p>
              <a:p>
                <a:pPr lvl="1"/>
                <a:r>
                  <a:rPr lang="en-US" altLang="zh-CN" sz="1600" dirty="0"/>
                  <a:t>Decreasing bucket address table size is also possible</a:t>
                </a:r>
              </a:p>
              <a:p>
                <a:pPr lvl="1"/>
                <a:r>
                  <a:rPr lang="en-US" altLang="zh-CN" sz="1600" dirty="0"/>
                  <a:t>Note: decreasing bucket address table size is an expensive operation and should be done only if number of buckets becomes much smaller than the size of the table </a:t>
                </a:r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C0D53D-56ED-4D18-8F5A-874171D9E4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 r="-8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2794489"/>
      </p:ext>
    </p:extLst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F569A8-C651-4059-AA0A-5D3C2A5F3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Extendable Hash Structure: Example</a:t>
            </a:r>
            <a:endParaRPr lang="zh-CN" altLang="en-US" dirty="0"/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B4302FE7-BC0B-4862-9165-B39C59EED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899" y="4290710"/>
            <a:ext cx="392191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685800" eaLnBrk="0" hangingPunct="0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500" b="1" dirty="0">
                <a:solidFill>
                  <a:srgbClr val="0000FF"/>
                </a:solidFill>
                <a:ea typeface="宋体" panose="02010600030101010101" pitchFamily="2" charset="-122"/>
              </a:rPr>
              <a:t>Initial Hash structure, bucket size = 2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34A61CE5-280F-4A63-8B64-D168D3119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1" t="35394" r="2002" b="36707"/>
          <a:stretch>
            <a:fillRect/>
          </a:stretch>
        </p:blipFill>
        <p:spPr bwMode="auto">
          <a:xfrm>
            <a:off x="1885948" y="3089027"/>
            <a:ext cx="5549504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8B90487E-0CE7-44EB-9946-C34C67DAC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2" t="25549" r="4889" b="26512"/>
          <a:stretch>
            <a:fillRect/>
          </a:stretch>
        </p:blipFill>
        <p:spPr bwMode="auto">
          <a:xfrm>
            <a:off x="1918443" y="1347614"/>
            <a:ext cx="4790976" cy="1508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0398020"/>
      </p:ext>
    </p:extLst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31DBD4-F577-428D-B6A0-A7AC35526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Example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6D0127-3B51-4FCE-BBFC-6EB5AB33E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Hash structure after insertion of one Brighton and two Downtown records</a:t>
            </a:r>
          </a:p>
          <a:p>
            <a:endParaRPr lang="zh-CN" altLang="en-US" sz="180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A1B9762-00A8-4422-94CD-EA8DEC511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1" t="25244" r="2658" b="25244"/>
          <a:stretch>
            <a:fillRect/>
          </a:stretch>
        </p:blipFill>
        <p:spPr bwMode="auto">
          <a:xfrm>
            <a:off x="1763688" y="1491630"/>
            <a:ext cx="4918397" cy="2000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8377841"/>
      </p:ext>
    </p:extLst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1C309E-5089-49AA-B5B6-74BB2977A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Example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A5168F-999D-4786-B583-6CB797B3D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Hash structure after insertion of </a:t>
            </a:r>
            <a:r>
              <a:rPr lang="en-US" altLang="zh-CN" sz="1800" dirty="0" err="1"/>
              <a:t>Mianus</a:t>
            </a:r>
            <a:r>
              <a:rPr lang="en-US" altLang="zh-CN" sz="1800" dirty="0"/>
              <a:t> record</a:t>
            </a:r>
          </a:p>
          <a:p>
            <a:endParaRPr lang="zh-CN" altLang="en-US" sz="1800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7E47BF32-2A58-4ED6-8586-08BDF8016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5" t="15005" r="2100" b="15005"/>
          <a:stretch>
            <a:fillRect/>
          </a:stretch>
        </p:blipFill>
        <p:spPr bwMode="auto">
          <a:xfrm>
            <a:off x="1691680" y="1407739"/>
            <a:ext cx="4760714" cy="2328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7029313"/>
      </p:ext>
    </p:extLst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FBE085-A305-4C81-B236-917AA312D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Example (Cont.)</a:t>
            </a:r>
            <a:endParaRPr lang="zh-CN" altLang="en-US" dirty="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8B9004CD-F08B-4C23-9BB3-5D315D627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8874" y="4396131"/>
            <a:ext cx="541366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685800" eaLnBrk="0" hangingPunct="0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5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Hash structure after insertion of three </a:t>
            </a:r>
            <a:r>
              <a:rPr kumimoji="0" lang="en-US" altLang="zh-CN" sz="1500" b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Perryridge</a:t>
            </a:r>
            <a:r>
              <a:rPr kumimoji="0" lang="en-US" altLang="zh-CN" sz="15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records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D0D3C0D6-A70F-499A-B82E-D83A69671C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19" t="7613" r="1543" b="15181"/>
          <a:stretch>
            <a:fillRect/>
          </a:stretch>
        </p:blipFill>
        <p:spPr bwMode="auto">
          <a:xfrm>
            <a:off x="1775223" y="890588"/>
            <a:ext cx="5682853" cy="3480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417557"/>
      </p:ext>
    </p:extLst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AE7321-AE03-4C93-A120-34874048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Example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F1DEB6-AC25-4576-BDA0-D95E7EC16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Hash structure after insertion of Redwood and Round Hill records</a:t>
            </a:r>
          </a:p>
          <a:p>
            <a:endParaRPr lang="zh-CN" altLang="en-US" sz="180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527E625-7481-4F47-A6FF-5C9CE0290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8" t="4025" r="1411" b="15881"/>
          <a:stretch>
            <a:fillRect/>
          </a:stretch>
        </p:blipFill>
        <p:spPr bwMode="auto">
          <a:xfrm>
            <a:off x="1619672" y="1347614"/>
            <a:ext cx="5503069" cy="3361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8881725"/>
      </p:ext>
    </p:extLst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F44431-C418-48A3-9E52-9F2B3E131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Extendable Hashing vs. Other Schemes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7F22E5-E0DD-4870-B1D8-BA6162108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Benefits of extendable hashing:  </a:t>
            </a:r>
          </a:p>
          <a:p>
            <a:pPr lvl="1"/>
            <a:r>
              <a:rPr lang="en-US" altLang="zh-CN" sz="1600" dirty="0"/>
              <a:t>Hash performance does not degrade with growth of file</a:t>
            </a:r>
          </a:p>
          <a:p>
            <a:pPr lvl="1"/>
            <a:r>
              <a:rPr lang="en-US" altLang="zh-CN" sz="1600" dirty="0"/>
              <a:t>Minimal space overhead</a:t>
            </a:r>
          </a:p>
          <a:p>
            <a:r>
              <a:rPr lang="en-US" altLang="zh-CN" sz="1800" dirty="0"/>
              <a:t>Disadvantages of extendable hashing</a:t>
            </a:r>
          </a:p>
          <a:p>
            <a:pPr lvl="1"/>
            <a:r>
              <a:rPr lang="en-US" altLang="zh-CN" sz="1600" dirty="0"/>
              <a:t>Extra level of indirection to find desired record</a:t>
            </a:r>
          </a:p>
          <a:p>
            <a:pPr lvl="1"/>
            <a:r>
              <a:rPr lang="en-US" altLang="zh-CN" sz="1600" dirty="0"/>
              <a:t>Bucket address table may itself become very big (larger than memory)</a:t>
            </a:r>
          </a:p>
          <a:p>
            <a:pPr lvl="2"/>
            <a:r>
              <a:rPr lang="en-US" altLang="zh-CN" sz="1400" dirty="0"/>
              <a:t>Need a tree structure to locate desired record in the structure!</a:t>
            </a:r>
          </a:p>
          <a:p>
            <a:pPr lvl="1"/>
            <a:r>
              <a:rPr lang="en-US" altLang="zh-CN" sz="1600" dirty="0"/>
              <a:t>Changing size of bucket address table is an expensive operation</a:t>
            </a:r>
          </a:p>
          <a:p>
            <a:r>
              <a:rPr lang="en-US" altLang="zh-CN" sz="1800" dirty="0"/>
              <a:t>Linear hashing is an alternative mechanism which avoids these disadvantages at the possible cost of more bucket overflows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81308687"/>
      </p:ext>
    </p:extLst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843558"/>
            <a:ext cx="8568952" cy="380507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z="2000" dirty="0"/>
              <a:t>Basic Concepts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Ordered Indexing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B</a:t>
            </a:r>
            <a:r>
              <a:rPr lang="en-US" altLang="zh-CN" sz="2000" baseline="30000" dirty="0"/>
              <a:t>+</a:t>
            </a:r>
            <a:r>
              <a:rPr lang="en-US" altLang="zh-CN" sz="2000" dirty="0"/>
              <a:t>-tree &amp; B-tree Indices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Static &amp; Dynamic Hashing </a:t>
            </a:r>
          </a:p>
          <a:p>
            <a:pPr>
              <a:spcBef>
                <a:spcPts val="1200"/>
              </a:spcBef>
            </a:pPr>
            <a:r>
              <a:rPr lang="en-US" altLang="zh-CN" sz="2000" b="1" dirty="0">
                <a:solidFill>
                  <a:srgbClr val="C00000"/>
                </a:solidFill>
              </a:rPr>
              <a:t>Ordered Indexing vs. Hashing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Index Definition in SQL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Multiple-key Access</a:t>
            </a:r>
          </a:p>
        </p:txBody>
      </p:sp>
    </p:spTree>
    <p:extLst>
      <p:ext uri="{BB962C8B-B14F-4D97-AF65-F5344CB8AC3E}">
        <p14:creationId xmlns:p14="http://schemas.microsoft.com/office/powerpoint/2010/main" val="3425429771"/>
      </p:ext>
    </p:extLst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1A306D-2247-4299-9DF6-BE648536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Ordered Indexing vs. Hashing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78640B-CE0A-4318-A133-6255D8C7E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/>
              <a:t>Issues for file organizing and indexing</a:t>
            </a:r>
          </a:p>
          <a:p>
            <a:pPr lvl="1"/>
            <a:r>
              <a:rPr lang="en-US" altLang="zh-CN" sz="1800" dirty="0"/>
              <a:t>Cost of periodic re-organization</a:t>
            </a:r>
          </a:p>
          <a:p>
            <a:pPr lvl="1"/>
            <a:r>
              <a:rPr lang="en-US" altLang="zh-CN" sz="1800" dirty="0"/>
              <a:t>Frequency of insertions and deletions</a:t>
            </a:r>
          </a:p>
          <a:p>
            <a:pPr lvl="1"/>
            <a:r>
              <a:rPr lang="en-US" altLang="zh-CN" sz="1800" dirty="0"/>
              <a:t>Whether optimizing average access time at the expense of worst-case access time</a:t>
            </a:r>
          </a:p>
          <a:p>
            <a:pPr lvl="1"/>
            <a:r>
              <a:rPr lang="en-US" altLang="zh-CN" sz="1800" dirty="0"/>
              <a:t>Expected type of queries</a:t>
            </a:r>
          </a:p>
          <a:p>
            <a:pPr lvl="2"/>
            <a:r>
              <a:rPr lang="en-US" altLang="zh-CN" dirty="0"/>
              <a:t>Hashing is generally better at retrieving records having a specified value of the key</a:t>
            </a:r>
          </a:p>
          <a:p>
            <a:pPr lvl="2"/>
            <a:r>
              <a:rPr lang="en-US" altLang="zh-CN" dirty="0"/>
              <a:t>If range queries are common, ordered indices are preferred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129227337"/>
      </p:ext>
    </p:extLst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843558"/>
            <a:ext cx="8568952" cy="380507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z="2000" dirty="0"/>
              <a:t>Basic Concepts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Ordered Indexing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B</a:t>
            </a:r>
            <a:r>
              <a:rPr lang="en-US" altLang="zh-CN" sz="2000" baseline="30000" dirty="0"/>
              <a:t>+</a:t>
            </a:r>
            <a:r>
              <a:rPr lang="en-US" altLang="zh-CN" sz="2000" dirty="0"/>
              <a:t>-tree &amp; B-tree Indices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Static &amp; Dynamic Hashing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Ordered Indexing vs. Hashing </a:t>
            </a:r>
          </a:p>
          <a:p>
            <a:pPr>
              <a:spcBef>
                <a:spcPts val="1200"/>
              </a:spcBef>
            </a:pPr>
            <a:r>
              <a:rPr lang="en-US" altLang="zh-CN" sz="2000" b="1" dirty="0">
                <a:solidFill>
                  <a:srgbClr val="C00000"/>
                </a:solidFill>
              </a:rPr>
              <a:t>Index Definition in SQL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Multiple-key Access</a:t>
            </a:r>
          </a:p>
        </p:txBody>
      </p:sp>
    </p:spTree>
    <p:extLst>
      <p:ext uri="{BB962C8B-B14F-4D97-AF65-F5344CB8AC3E}">
        <p14:creationId xmlns:p14="http://schemas.microsoft.com/office/powerpoint/2010/main" val="416866376"/>
      </p:ext>
    </p:extLst>
  </p:cSld>
  <p:clrMapOvr>
    <a:masterClrMapping/>
  </p:clrMapOvr>
  <p:transition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7364F1-F7E7-4025-82C9-82FBCAA9E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Index Definition in SQL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7EEA1D-4975-428B-A607-24FA2DCF6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424936" cy="3805070"/>
          </a:xfrm>
        </p:spPr>
        <p:txBody>
          <a:bodyPr/>
          <a:lstStyle/>
          <a:p>
            <a:r>
              <a:rPr lang="en-US" altLang="zh-CN" sz="2000" b="1" dirty="0"/>
              <a:t>Create an index</a:t>
            </a:r>
          </a:p>
          <a:p>
            <a:pPr marL="457200" lvl="1" indent="0">
              <a:buNone/>
            </a:pPr>
            <a:r>
              <a:rPr lang="en-US" altLang="zh-CN" sz="1800" b="1" dirty="0"/>
              <a:t>create</a:t>
            </a:r>
            <a:r>
              <a:rPr lang="en-US" altLang="zh-CN" sz="1800" dirty="0"/>
              <a:t>  [UNIQUE] </a:t>
            </a:r>
            <a:r>
              <a:rPr lang="en-US" altLang="zh-CN" sz="1800" b="1" dirty="0"/>
              <a:t>index</a:t>
            </a:r>
            <a:r>
              <a:rPr lang="en-US" altLang="zh-CN" sz="1800" dirty="0"/>
              <a:t> &lt;index-name&gt; </a:t>
            </a:r>
            <a:r>
              <a:rPr lang="en-US" altLang="zh-CN" sz="1800" b="1" dirty="0"/>
              <a:t>on</a:t>
            </a:r>
            <a:r>
              <a:rPr lang="en-US" altLang="zh-CN" sz="1800" dirty="0"/>
              <a:t> &lt;relation-name&gt; (&lt;attribute-list&gt;)</a:t>
            </a:r>
          </a:p>
          <a:p>
            <a:pPr marL="457200" lvl="1" indent="0">
              <a:buNone/>
            </a:pPr>
            <a:r>
              <a:rPr lang="en-US" altLang="zh-CN" sz="1800" dirty="0"/>
              <a:t>E.g., </a:t>
            </a:r>
            <a:r>
              <a:rPr lang="en-US" altLang="zh-CN" sz="1800" b="1" dirty="0"/>
              <a:t>create</a:t>
            </a:r>
            <a:r>
              <a:rPr lang="en-US" altLang="zh-CN" sz="1800" dirty="0"/>
              <a:t> </a:t>
            </a:r>
            <a:r>
              <a:rPr lang="en-US" altLang="zh-CN" sz="1800" b="1" dirty="0"/>
              <a:t>index</a:t>
            </a:r>
            <a:r>
              <a:rPr lang="en-US" altLang="zh-CN" sz="1800" dirty="0"/>
              <a:t> </a:t>
            </a:r>
            <a:r>
              <a:rPr lang="en-US" altLang="zh-CN" sz="1800" dirty="0" err="1"/>
              <a:t>b_index</a:t>
            </a:r>
            <a:r>
              <a:rPr lang="en-US" altLang="zh-CN" sz="1800" dirty="0"/>
              <a:t> </a:t>
            </a:r>
            <a:r>
              <a:rPr lang="en-US" altLang="zh-CN" sz="1800" b="1" dirty="0"/>
              <a:t>on</a:t>
            </a:r>
            <a:r>
              <a:rPr lang="en-US" altLang="zh-CN" sz="1800" dirty="0"/>
              <a:t> branch(</a:t>
            </a:r>
            <a:r>
              <a:rPr lang="en-US" altLang="zh-CN" sz="1800" dirty="0" err="1"/>
              <a:t>branch_name</a:t>
            </a:r>
            <a:r>
              <a:rPr lang="en-US" altLang="zh-CN" sz="1800" dirty="0"/>
              <a:t>)</a:t>
            </a:r>
          </a:p>
          <a:p>
            <a:endParaRPr lang="en-US" altLang="zh-CN" sz="2000" dirty="0"/>
          </a:p>
          <a:p>
            <a:pPr lvl="1"/>
            <a:r>
              <a:rPr lang="en-US" altLang="zh-CN" sz="1800" dirty="0"/>
              <a:t>Use create unique index to indirectly specify and enforce the condition that the search key is a candidate key</a:t>
            </a:r>
          </a:p>
          <a:p>
            <a:pPr lvl="2"/>
            <a:r>
              <a:rPr lang="en-US" altLang="zh-CN" sz="1600" dirty="0"/>
              <a:t>Not really required if SQL unique integrity constraint is supported</a:t>
            </a:r>
          </a:p>
          <a:p>
            <a:r>
              <a:rPr lang="en-US" altLang="zh-CN" sz="2000" b="1" dirty="0"/>
              <a:t>Drop an index </a:t>
            </a:r>
          </a:p>
          <a:p>
            <a:pPr marL="457200" lvl="1" indent="0">
              <a:buNone/>
            </a:pPr>
            <a:r>
              <a:rPr lang="en-US" altLang="zh-CN" sz="1800" b="1" dirty="0"/>
              <a:t>drop</a:t>
            </a:r>
            <a:r>
              <a:rPr lang="en-US" altLang="zh-CN" sz="1800" dirty="0"/>
              <a:t> </a:t>
            </a:r>
            <a:r>
              <a:rPr lang="en-US" altLang="zh-CN" sz="1800" b="1" dirty="0"/>
              <a:t>index</a:t>
            </a:r>
            <a:r>
              <a:rPr lang="en-US" altLang="zh-CN" sz="1800" dirty="0"/>
              <a:t> &lt;index-name&gt;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67228323"/>
      </p:ext>
    </p:extLst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843558"/>
            <a:ext cx="8568952" cy="380507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z="2000" dirty="0"/>
              <a:t>Basic Concepts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Ordered Indexing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B</a:t>
            </a:r>
            <a:r>
              <a:rPr lang="en-US" altLang="zh-CN" sz="2000" baseline="30000" dirty="0"/>
              <a:t>+</a:t>
            </a:r>
            <a:r>
              <a:rPr lang="en-US" altLang="zh-CN" sz="2000" dirty="0"/>
              <a:t>-tree &amp; B-tree Indices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Static &amp; Dynamic Hashing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Ordered Indexing vs. Hashing </a:t>
            </a:r>
          </a:p>
          <a:p>
            <a:pPr>
              <a:spcBef>
                <a:spcPts val="1200"/>
              </a:spcBef>
            </a:pPr>
            <a:r>
              <a:rPr lang="en-US" altLang="zh-CN" sz="2000" dirty="0"/>
              <a:t>Index Definition in SQL</a:t>
            </a:r>
          </a:p>
          <a:p>
            <a:pPr>
              <a:spcBef>
                <a:spcPts val="1200"/>
              </a:spcBef>
            </a:pPr>
            <a:r>
              <a:rPr lang="en-US" altLang="zh-CN" sz="2000" b="1" dirty="0">
                <a:solidFill>
                  <a:srgbClr val="C00000"/>
                </a:solidFill>
              </a:rPr>
              <a:t>Multiple-key Access</a:t>
            </a:r>
          </a:p>
        </p:txBody>
      </p:sp>
    </p:spTree>
    <p:extLst>
      <p:ext uri="{BB962C8B-B14F-4D97-AF65-F5344CB8AC3E}">
        <p14:creationId xmlns:p14="http://schemas.microsoft.com/office/powerpoint/2010/main" val="2471433320"/>
      </p:ext>
    </p:extLst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0F9E55-85B3-4A83-924C-242BEDCA3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Multiple-Key Access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19D94A-CEAD-43AA-BB6F-1C286FE7D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71550"/>
            <a:ext cx="8784976" cy="3733062"/>
          </a:xfrm>
        </p:spPr>
        <p:txBody>
          <a:bodyPr/>
          <a:lstStyle/>
          <a:p>
            <a:r>
              <a:rPr lang="en-US" altLang="zh-CN" sz="1800" dirty="0"/>
              <a:t>Use multiple indices for certain types of queries</a:t>
            </a:r>
          </a:p>
          <a:p>
            <a:pPr lvl="1"/>
            <a:r>
              <a:rPr lang="en-US" altLang="zh-CN" sz="1600" dirty="0"/>
              <a:t>E.g.,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account_number</a:t>
            </a:r>
            <a:endParaRPr lang="en-US" altLang="zh-C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account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branch_name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“</a:t>
            </a:r>
            <a:r>
              <a:rPr lang="en-US" altLang="zh-C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Perryridge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balance = 1000</a:t>
            </a:r>
          </a:p>
          <a:p>
            <a:r>
              <a:rPr lang="en-US" altLang="zh-CN" sz="1800" dirty="0"/>
              <a:t>Three possible strategies for processing query using indices on single attributes</a:t>
            </a:r>
          </a:p>
          <a:p>
            <a:pPr lvl="1"/>
            <a:r>
              <a:rPr lang="en-US" altLang="zh-CN" sz="1400" dirty="0"/>
              <a:t>Use index on </a:t>
            </a:r>
            <a:r>
              <a:rPr lang="en-US" altLang="zh-C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branch_name</a:t>
            </a:r>
            <a:r>
              <a:rPr lang="en-US" altLang="zh-CN" sz="1400" dirty="0"/>
              <a:t> to find accounts with </a:t>
            </a:r>
            <a:r>
              <a:rPr lang="en-US" altLang="zh-C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branch_name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/>
              <a:t>= “</a:t>
            </a:r>
            <a:r>
              <a:rPr lang="en-US" altLang="zh-CN" sz="1400" dirty="0" err="1"/>
              <a:t>Perryridge</a:t>
            </a:r>
            <a:r>
              <a:rPr lang="en-US" altLang="zh-CN" sz="1400" dirty="0"/>
              <a:t>”, test balances of $1000; </a:t>
            </a:r>
          </a:p>
          <a:p>
            <a:pPr lvl="1"/>
            <a:r>
              <a:rPr lang="en-US" altLang="zh-CN" sz="1400" dirty="0"/>
              <a:t>Use index on balance to find accounts with balances of $1000; test </a:t>
            </a:r>
            <a:r>
              <a:rPr lang="en-US" altLang="zh-C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branch_name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/>
              <a:t>= “</a:t>
            </a:r>
            <a:r>
              <a:rPr lang="en-US" altLang="zh-CN" sz="1400" dirty="0" err="1"/>
              <a:t>Perryridge</a:t>
            </a:r>
            <a:r>
              <a:rPr lang="en-US" altLang="zh-CN" sz="1400" dirty="0"/>
              <a:t>”.</a:t>
            </a:r>
          </a:p>
          <a:p>
            <a:pPr lvl="1"/>
            <a:r>
              <a:rPr lang="en-US" altLang="zh-CN" sz="1400" dirty="0"/>
              <a:t>Use </a:t>
            </a:r>
            <a:r>
              <a:rPr lang="en-US" altLang="zh-C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branch_name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/>
              <a:t>index to find pointers to all records pertaining to the </a:t>
            </a:r>
            <a:r>
              <a:rPr lang="en-US" altLang="zh-CN" sz="1400" dirty="0" err="1"/>
              <a:t>Perryridge</a:t>
            </a:r>
            <a:r>
              <a:rPr lang="en-US" altLang="zh-CN" sz="1400" dirty="0"/>
              <a:t> branch. Similarly use index on balance. Take intersection of both sets of pointers obtained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900010383"/>
      </p:ext>
    </p:extLst>
  </p:cSld>
  <p:clrMapOvr>
    <a:masterClrMapping/>
  </p:clrMapOvr>
  <p:transition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8D6F16-1E14-4FF0-8748-B0992C627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Indices on Multiple Attributes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61F3AD-AC63-4677-AF6E-8B4CA7836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Suppose we have an index on combined search-key (</a:t>
            </a:r>
            <a:r>
              <a:rPr lang="en-US" altLang="zh-CN" sz="1800" dirty="0" err="1"/>
              <a:t>branch_name</a:t>
            </a:r>
            <a:r>
              <a:rPr lang="en-US" altLang="zh-CN" sz="1800" dirty="0"/>
              <a:t>, balance)</a:t>
            </a:r>
          </a:p>
          <a:p>
            <a:r>
              <a:rPr lang="en-US" altLang="zh-CN" sz="1800" dirty="0"/>
              <a:t>With the where clause</a:t>
            </a:r>
            <a:br>
              <a:rPr lang="en-US" altLang="zh-CN" sz="1800" dirty="0"/>
            </a:b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zh-CN" sz="18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branch_name</a:t>
            </a: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“</a:t>
            </a:r>
            <a:r>
              <a:rPr lang="en-US" altLang="zh-CN" sz="18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Perryridge</a:t>
            </a: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and balance = 1000</a:t>
            </a:r>
            <a:br>
              <a:rPr lang="en-US" altLang="zh-CN" sz="1800" dirty="0"/>
            </a:br>
            <a:r>
              <a:rPr lang="en-US" altLang="zh-CN" sz="1800" dirty="0"/>
              <a:t>the index on the combined search-key will fetch only records that satisfy both conditions</a:t>
            </a:r>
          </a:p>
          <a:p>
            <a:r>
              <a:rPr lang="en-US" altLang="zh-CN" sz="1800" dirty="0"/>
              <a:t>Can also efficiently handle </a:t>
            </a:r>
            <a:br>
              <a:rPr lang="en-US" altLang="zh-CN" sz="1800" dirty="0"/>
            </a:b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zh-CN" sz="18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branch_name</a:t>
            </a: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“</a:t>
            </a:r>
            <a:r>
              <a:rPr lang="en-US" altLang="zh-CN" sz="18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Perryridge</a:t>
            </a: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and balance &lt; 1000</a:t>
            </a:r>
          </a:p>
          <a:p>
            <a:r>
              <a:rPr lang="en-US" altLang="zh-CN" sz="1800" dirty="0"/>
              <a:t>But cannot efficiently handle</a:t>
            </a:r>
            <a:br>
              <a:rPr lang="en-US" altLang="zh-CN" sz="1800" dirty="0"/>
            </a:b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branch-name &lt; “</a:t>
            </a:r>
            <a:r>
              <a:rPr lang="en-US" altLang="zh-CN" sz="18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Perryridge</a:t>
            </a: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and balance = 1000</a:t>
            </a:r>
            <a:br>
              <a:rPr lang="en-US" altLang="zh-CN" sz="1800" dirty="0">
                <a:solidFill>
                  <a:srgbClr val="C00000"/>
                </a:solidFill>
              </a:rPr>
            </a:br>
            <a:r>
              <a:rPr lang="en-US" altLang="zh-CN" sz="1800" dirty="0"/>
              <a:t>May fetch many records that satisfy the first but not the second condition, may lead to many I/</a:t>
            </a:r>
            <a:r>
              <a:rPr lang="en-US" altLang="zh-CN" sz="1800" dirty="0" err="1"/>
              <a:t>Os</a:t>
            </a:r>
            <a:endParaRPr lang="en-US" altLang="zh-CN" sz="1800" dirty="0"/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804253618"/>
      </p:ext>
    </p:extLst>
  </p:cSld>
  <p:clrMapOvr>
    <a:masterClrMapping/>
  </p:clrMapOvr>
  <p:transition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69BA83-3FD4-4AD0-A8EF-869F50FF8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Grid Files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AF3565-D459-4191-A6A9-F28F7746E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Structure used to speed up the processing of multiple search-key queries involving one or more comparison operators</a:t>
            </a:r>
          </a:p>
          <a:p>
            <a:r>
              <a:rPr lang="en-US" altLang="zh-CN" sz="1800" dirty="0"/>
              <a:t>The grid file has a single grid array and one linear scale for each search-key attribute. The grid array has the number of dimensions equal to number of search-key attributes</a:t>
            </a:r>
          </a:p>
          <a:p>
            <a:r>
              <a:rPr lang="en-US" altLang="zh-CN" sz="1800" dirty="0"/>
              <a:t>Multiple cells of grid array can point to same bucket</a:t>
            </a:r>
          </a:p>
          <a:p>
            <a:r>
              <a:rPr lang="en-US" altLang="zh-CN" sz="1800" dirty="0"/>
              <a:t>To find the bucket for a search-key value, locate the row and column of its cell using the linear scales and follow pointer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190323131"/>
      </p:ext>
    </p:extLst>
  </p:cSld>
  <p:clrMapOvr>
    <a:masterClrMapping/>
  </p:clrMapOvr>
  <p:transition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E8DAF4-C352-4A54-BE87-B0C123A16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Example Grid File for account</a:t>
            </a:r>
            <a:endParaRPr lang="zh-CN" altLang="en-US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CF5CDC02-EBC8-4D59-95A1-EDE48CE5A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2" t="2013" r="12140" b="30844"/>
          <a:stretch>
            <a:fillRect/>
          </a:stretch>
        </p:blipFill>
        <p:spPr bwMode="auto">
          <a:xfrm>
            <a:off x="1784747" y="900113"/>
            <a:ext cx="5681663" cy="3677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5957841"/>
      </p:ext>
    </p:extLst>
  </p:cSld>
  <p:clrMapOvr>
    <a:masterClrMapping/>
  </p:clrMapOvr>
  <p:transition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FE9AC8-F0A2-474A-BC61-97ACCCDB5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Queries on a Grid File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7EFF7DD-ABA5-4946-ACE6-24368CF1FF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dirty="0"/>
                  <a:t>A grid file on two attributes </a:t>
                </a:r>
                <a:r>
                  <a:rPr lang="en-US" altLang="zh-CN" sz="1800" i="1" dirty="0"/>
                  <a:t>A</a:t>
                </a:r>
                <a:r>
                  <a:rPr lang="en-US" altLang="zh-CN" sz="1800" dirty="0"/>
                  <a:t> and </a:t>
                </a:r>
                <a:r>
                  <a:rPr lang="en-US" altLang="zh-CN" sz="1800" i="1" dirty="0"/>
                  <a:t>B</a:t>
                </a:r>
                <a:r>
                  <a:rPr lang="en-US" altLang="zh-CN" sz="1800" dirty="0"/>
                  <a:t> can handle queries of all following forms with high efficiency </a:t>
                </a:r>
              </a:p>
              <a:p>
                <a:pPr lvl="1"/>
                <a:r>
                  <a:rPr lang="en-US" altLang="zh-CN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/>
                  <a:t>)</a:t>
                </a:r>
              </a:p>
              <a:p>
                <a:pPr lvl="1"/>
                <a:r>
                  <a:rPr lang="en-US" altLang="zh-CN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/>
                  <a:t>)</a:t>
                </a:r>
              </a:p>
              <a:p>
                <a:pPr lvl="1"/>
                <a:r>
                  <a:rPr lang="en-US" altLang="zh-CN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/>
                  <a:t>),.</a:t>
                </a:r>
              </a:p>
              <a:p>
                <a:r>
                  <a:rPr lang="en-US" altLang="zh-CN" sz="1800" dirty="0"/>
                  <a:t>E.g., </a:t>
                </a:r>
              </a:p>
              <a:p>
                <a:pPr lvl="1"/>
                <a:r>
                  <a:rPr lang="en-US" altLang="zh-CN" sz="1600" dirty="0"/>
                  <a:t>to answer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/>
                  <a:t>), use linear scales to find the corresponding candidate grid array cells, and look up all the buckets pointed to from those cells</a:t>
                </a:r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7EFF7DD-ABA5-4946-ACE6-24368CF1FF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2055975"/>
      </p:ext>
    </p:extLst>
  </p:cSld>
  <p:clrMapOvr>
    <a:masterClrMapping/>
  </p:clrMapOvr>
  <p:transition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E5859B-4D58-4525-96EB-0BD3BD879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Grid Files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576291-7579-4465-A3E1-30564B538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During insertion, if a bucket becomes full, new bucket can be created if more than one cell points to it</a:t>
            </a:r>
          </a:p>
          <a:p>
            <a:pPr lvl="1"/>
            <a:r>
              <a:rPr lang="en-US" altLang="zh-CN" sz="1600" dirty="0"/>
              <a:t>Idea similar to extendable hashing, but on multiple dimensions</a:t>
            </a:r>
          </a:p>
          <a:p>
            <a:pPr lvl="1"/>
            <a:r>
              <a:rPr lang="en-US" altLang="zh-CN" sz="1600" dirty="0"/>
              <a:t>If only one cell points to it, either an overflow bucket must be created or the grid size must be increased</a:t>
            </a:r>
          </a:p>
          <a:p>
            <a:r>
              <a:rPr lang="en-US" altLang="zh-CN" sz="1800" dirty="0"/>
              <a:t>Linear scales must be chosen to uniformly distribute records across cells. </a:t>
            </a:r>
          </a:p>
          <a:p>
            <a:pPr lvl="1"/>
            <a:r>
              <a:rPr lang="en-US" altLang="zh-CN" sz="1600" dirty="0"/>
              <a:t>Otherwise there will be too many overflow buckets.</a:t>
            </a:r>
          </a:p>
          <a:p>
            <a:r>
              <a:rPr lang="en-US" altLang="zh-CN" sz="1800" dirty="0"/>
              <a:t>Periodic re-organization to increase grid size will help</a:t>
            </a:r>
          </a:p>
          <a:p>
            <a:pPr lvl="1"/>
            <a:r>
              <a:rPr lang="en-US" altLang="zh-CN" sz="1600" dirty="0"/>
              <a:t>But reorganization can be very expensive.</a:t>
            </a:r>
          </a:p>
          <a:p>
            <a:r>
              <a:rPr lang="en-US" altLang="zh-CN" sz="1800" dirty="0"/>
              <a:t>Space overhead of grid array can be high.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630389011"/>
      </p:ext>
    </p:extLst>
  </p:cSld>
  <p:clrMapOvr>
    <a:masterClrMapping/>
  </p:clrMapOvr>
  <p:transition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6B5B5D-3842-4CBB-8FFE-C4DFA5A4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Bitmap Indices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3AAE0D2-6A37-4DE5-996D-F3DF5100E6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dirty="0"/>
                  <a:t>Bitmap indices are a special type of index designed for efficient querying on multiple keys</a:t>
                </a:r>
              </a:p>
              <a:p>
                <a:r>
                  <a:rPr lang="en-US" altLang="zh-CN" sz="1800" dirty="0"/>
                  <a:t>Records in a relation are assumed to be numbered sequentially from:</a:t>
                </a:r>
              </a:p>
              <a:p>
                <a:pPr lvl="1"/>
                <a:r>
                  <a:rPr lang="en-US" altLang="zh-CN" sz="1600" dirty="0"/>
                  <a:t>Given a number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1600" dirty="0"/>
                  <a:t>, it must be easy to retrieve record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CN" sz="1600" dirty="0"/>
              </a:p>
              <a:p>
                <a:pPr lvl="2"/>
                <a:r>
                  <a:rPr lang="en-US" altLang="zh-CN" sz="1400" dirty="0"/>
                  <a:t>Particularly easy if records are of fixed size</a:t>
                </a:r>
              </a:p>
              <a:p>
                <a:r>
                  <a:rPr lang="en-US" altLang="zh-CN" sz="1800" dirty="0"/>
                  <a:t>Applicable on attributes that take on a relatively small number of distinct values</a:t>
                </a:r>
              </a:p>
              <a:p>
                <a:pPr lvl="1"/>
                <a:r>
                  <a:rPr lang="en-US" altLang="zh-CN" sz="1600" dirty="0"/>
                  <a:t>E.g., gender, country, state, …</a:t>
                </a:r>
              </a:p>
              <a:p>
                <a:pPr lvl="1"/>
                <a:r>
                  <a:rPr lang="en-US" altLang="zh-CN" sz="1600" dirty="0"/>
                  <a:t>E.g., income-level (income broken up into a small number of  levels such as 0-9999, 10000-19999, 20000-50000, 50000- infinity)</a:t>
                </a:r>
              </a:p>
              <a:p>
                <a:r>
                  <a:rPr lang="en-US" altLang="zh-CN" sz="1800" dirty="0"/>
                  <a:t>A bitmap is simply an array of bits</a:t>
                </a:r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3AAE0D2-6A37-4DE5-996D-F3DF5100E6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8361518"/>
      </p:ext>
    </p:extLst>
  </p:cSld>
  <p:clrMapOvr>
    <a:masterClrMapping/>
  </p:clrMapOvr>
  <p:transition>
    <p:fad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8A8655-BAAE-4643-8439-44B74FB35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Bitmap Indices (Cont.)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B45C5BD-3E88-4CC2-B114-14B50662D7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dirty="0"/>
                  <a:t>In its simplest form, a bitmap index on an attribute has a bitmap for each value of the attribute</a:t>
                </a:r>
              </a:p>
              <a:p>
                <a:pPr lvl="1"/>
                <a:r>
                  <a:rPr lang="en-US" altLang="zh-CN" sz="1600" dirty="0"/>
                  <a:t>Bitmap has as many bits as records</a:t>
                </a:r>
              </a:p>
              <a:p>
                <a:pPr lvl="1"/>
                <a:r>
                  <a:rPr lang="en-US" altLang="zh-CN" sz="1600" dirty="0"/>
                  <a:t>In a bitmap for value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sz="1600" dirty="0"/>
                  <a:t>, the bit for a record is 1 if the record has the value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sz="1600" dirty="0"/>
                  <a:t> for the attribute, and is 0 otherwise</a:t>
                </a:r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B45C5BD-3E88-4CC2-B114-14B50662D7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>
            <a:extLst>
              <a:ext uri="{FF2B5EF4-FFF2-40B4-BE49-F238E27FC236}">
                <a16:creationId xmlns:a16="http://schemas.microsoft.com/office/drawing/2014/main" id="{830B66C5-1473-44E1-8A8E-C66539D7B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5" t="20038" r="2264" b="37538"/>
          <a:stretch>
            <a:fillRect/>
          </a:stretch>
        </p:blipFill>
        <p:spPr bwMode="auto">
          <a:xfrm>
            <a:off x="1481138" y="2528888"/>
            <a:ext cx="6154341" cy="2113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562622"/>
      </p:ext>
    </p:extLst>
  </p:cSld>
  <p:clrMapOvr>
    <a:masterClrMapping/>
  </p:clrMapOvr>
  <p:transition>
    <p:fad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B61A36-1055-4CE4-BBEA-650AE6076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Bitmap Indices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7B70D1-6499-442E-933A-A8B957E2A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627534"/>
            <a:ext cx="8496944" cy="3805070"/>
          </a:xfrm>
        </p:spPr>
        <p:txBody>
          <a:bodyPr/>
          <a:lstStyle/>
          <a:p>
            <a:r>
              <a:rPr lang="en-US" altLang="zh-CN" sz="1800" dirty="0"/>
              <a:t>Bitmap indices are useful for queries on multiple attributes </a:t>
            </a:r>
          </a:p>
          <a:p>
            <a:pPr lvl="1"/>
            <a:r>
              <a:rPr lang="en-US" altLang="zh-CN" sz="1600" dirty="0"/>
              <a:t>not particularly useful for single attribute queries</a:t>
            </a:r>
          </a:p>
          <a:p>
            <a:r>
              <a:rPr lang="en-US" altLang="zh-CN" sz="1800" dirty="0"/>
              <a:t>Queries are answered using bitmap operations</a:t>
            </a:r>
          </a:p>
          <a:p>
            <a:pPr lvl="1"/>
            <a:r>
              <a:rPr lang="en-US" altLang="zh-CN" sz="1600" dirty="0"/>
              <a:t>Intersection (and)</a:t>
            </a:r>
          </a:p>
          <a:p>
            <a:pPr lvl="1"/>
            <a:r>
              <a:rPr lang="en-US" altLang="zh-CN" sz="1600" dirty="0"/>
              <a:t>Union (or)</a:t>
            </a:r>
          </a:p>
          <a:p>
            <a:pPr lvl="1"/>
            <a:r>
              <a:rPr lang="en-US" altLang="zh-CN" sz="1600" dirty="0"/>
              <a:t>Complementation (not) </a:t>
            </a:r>
          </a:p>
          <a:p>
            <a:r>
              <a:rPr lang="en-US" altLang="zh-CN" sz="1800" dirty="0"/>
              <a:t>Each operation takes two bitmaps of the same size and applies the operation on the corresponding bits to get the result bitmap</a:t>
            </a:r>
          </a:p>
          <a:p>
            <a:pPr lvl="1"/>
            <a:r>
              <a:rPr lang="en-US" altLang="zh-CN" sz="1600" dirty="0"/>
              <a:t>E.g.,   100110  AND 110011 = 100010</a:t>
            </a:r>
          </a:p>
          <a:p>
            <a:pPr marL="457200" lvl="1" indent="0">
              <a:buNone/>
            </a:pPr>
            <a:r>
              <a:rPr lang="en-US" altLang="zh-CN" sz="1600" dirty="0"/>
              <a:t>               100110  OR  110011 = 110111</a:t>
            </a:r>
            <a:br>
              <a:rPr lang="en-US" altLang="zh-CN" sz="1600" dirty="0"/>
            </a:br>
            <a:r>
              <a:rPr lang="en-US" altLang="zh-CN" sz="1600" dirty="0"/>
              <a:t>                NOT 100110  = 011001</a:t>
            </a:r>
          </a:p>
          <a:p>
            <a:pPr lvl="1"/>
            <a:r>
              <a:rPr lang="en-US" altLang="zh-CN" sz="1600" dirty="0"/>
              <a:t>Males with income level L1:   10010 AND 10100 = 10000</a:t>
            </a:r>
          </a:p>
          <a:p>
            <a:pPr lvl="2"/>
            <a:r>
              <a:rPr lang="en-US" altLang="zh-CN" sz="1400" dirty="0"/>
              <a:t>Can then retrieve required tuples</a:t>
            </a:r>
          </a:p>
          <a:p>
            <a:pPr lvl="2"/>
            <a:r>
              <a:rPr lang="en-US" altLang="zh-CN" sz="1400" dirty="0"/>
              <a:t>Counting number of matching tuples is even faster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162042184"/>
      </p:ext>
    </p:extLst>
  </p:cSld>
  <p:clrMapOvr>
    <a:masterClrMapping/>
  </p:clrMapOvr>
  <p:transition>
    <p:fade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8B2AF9-D397-45DE-A993-610E4F293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538"/>
            <a:ext cx="9144000" cy="637580"/>
          </a:xfrm>
        </p:spPr>
        <p:txBody>
          <a:bodyPr/>
          <a:lstStyle/>
          <a:p>
            <a:pPr algn="ctr"/>
            <a:r>
              <a:rPr lang="en-US" altLang="zh-CN" dirty="0"/>
              <a:t>Bitmap Indices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21CFED-C634-4555-ABF5-066AD1E49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915565"/>
            <a:ext cx="8568952" cy="3558719"/>
          </a:xfrm>
        </p:spPr>
        <p:txBody>
          <a:bodyPr/>
          <a:lstStyle/>
          <a:p>
            <a:r>
              <a:rPr lang="en-US" altLang="zh-CN" sz="1800" dirty="0"/>
              <a:t>Bitmap indices generally very small compared with relation size</a:t>
            </a:r>
          </a:p>
          <a:p>
            <a:pPr lvl="1"/>
            <a:r>
              <a:rPr lang="en-US" altLang="zh-CN" sz="1400" dirty="0"/>
              <a:t>E.g. if record is 100 bytes, space for a single bitmap is 1/800 of space used by relation.  </a:t>
            </a:r>
          </a:p>
          <a:p>
            <a:pPr lvl="2"/>
            <a:r>
              <a:rPr lang="en-US" altLang="zh-CN" sz="1400" dirty="0"/>
              <a:t>If the number of distinct attribute values is 8, bitmap is only 1% of relation size</a:t>
            </a:r>
            <a:endParaRPr lang="en-US" altLang="zh-CN" sz="1200" dirty="0"/>
          </a:p>
          <a:p>
            <a:r>
              <a:rPr lang="en-US" altLang="zh-CN" sz="1800" dirty="0"/>
              <a:t>Deletion needs to be handled properly</a:t>
            </a:r>
          </a:p>
          <a:p>
            <a:pPr lvl="1"/>
            <a:r>
              <a:rPr lang="en-US" altLang="zh-CN" sz="1400" dirty="0"/>
              <a:t>Existence bitmap to note if there is a valid record at a record location</a:t>
            </a:r>
          </a:p>
          <a:p>
            <a:pPr lvl="1"/>
            <a:r>
              <a:rPr lang="en-US" altLang="zh-CN" sz="1400" dirty="0"/>
              <a:t>Needed for complementation</a:t>
            </a:r>
          </a:p>
          <a:p>
            <a:pPr lvl="2"/>
            <a:r>
              <a:rPr lang="en-US" altLang="zh-CN" sz="1400" dirty="0"/>
              <a:t>not(A=v): (NOT bitmap-</a:t>
            </a:r>
            <a:r>
              <a:rPr lang="en-US" altLang="zh-CN" sz="1400" dirty="0" err="1"/>
              <a:t>A-v</a:t>
            </a:r>
            <a:r>
              <a:rPr lang="en-US" altLang="zh-CN" sz="1400" dirty="0"/>
              <a:t>) AND </a:t>
            </a:r>
            <a:r>
              <a:rPr lang="en-US" altLang="zh-CN" sz="1400" dirty="0" err="1"/>
              <a:t>ExistenceBitmap</a:t>
            </a:r>
            <a:endParaRPr lang="en-US" altLang="zh-CN" sz="1200" dirty="0"/>
          </a:p>
          <a:p>
            <a:r>
              <a:rPr lang="en-US" altLang="zh-CN" sz="1800" dirty="0"/>
              <a:t>Should keep bitmaps for all values, even null value</a:t>
            </a:r>
          </a:p>
          <a:p>
            <a:pPr lvl="1"/>
            <a:r>
              <a:rPr lang="en-US" altLang="zh-CN" sz="1400" dirty="0"/>
              <a:t>To correctly handle SQL null semantics for  NOT(A=v):</a:t>
            </a:r>
          </a:p>
          <a:p>
            <a:pPr lvl="2"/>
            <a:r>
              <a:rPr lang="en-US" altLang="zh-CN" sz="1400" dirty="0"/>
              <a:t>intersect above result with  (NOT bitmap-A-Null)</a:t>
            </a:r>
            <a:endParaRPr lang="en-US" altLang="zh-CN" sz="1200" dirty="0"/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896187151"/>
      </p:ext>
    </p:extLst>
  </p:cSld>
  <p:clrMapOvr>
    <a:masterClrMapping/>
  </p:clrMapOvr>
  <p:transition>
    <p:fade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022D6A-FB1A-4B0F-BECB-9FC128045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补充学习（索引相关）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7E8DBA-C732-4B6B-AE63-B25BFB436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sz="1800" b="1" dirty="0"/>
              <a:t>商用数据库</a:t>
            </a:r>
            <a:endParaRPr lang="en-US" altLang="zh-CN" sz="1800" b="1" dirty="0"/>
          </a:p>
          <a:p>
            <a:pPr lvl="1">
              <a:spcBef>
                <a:spcPts val="600"/>
              </a:spcBef>
            </a:pPr>
            <a:r>
              <a:rPr lang="en-US" altLang="zh-CN" sz="1400" dirty="0"/>
              <a:t>Oracle</a:t>
            </a:r>
            <a:r>
              <a:rPr lang="zh-CN" altLang="en-US" sz="1400" dirty="0"/>
              <a:t>索引结构：</a:t>
            </a:r>
            <a:r>
              <a:rPr lang="en-US" altLang="zh-CN" sz="1400" dirty="0"/>
              <a:t>B</a:t>
            </a:r>
            <a:r>
              <a:rPr lang="zh-CN" altLang="en-US" sz="1400" dirty="0"/>
              <a:t>树索引，位图索引</a:t>
            </a:r>
          </a:p>
          <a:p>
            <a:pPr lvl="2">
              <a:spcBef>
                <a:spcPts val="600"/>
              </a:spcBef>
            </a:pPr>
            <a:r>
              <a:rPr lang="en-US" altLang="zh-CN" sz="1200" dirty="0"/>
              <a:t>《Oracle</a:t>
            </a:r>
            <a:r>
              <a:rPr lang="zh-CN" altLang="en-US" sz="1200" dirty="0"/>
              <a:t>索引技术</a:t>
            </a:r>
            <a:r>
              <a:rPr lang="en-US" altLang="zh-CN" sz="1200" dirty="0"/>
              <a:t>》,</a:t>
            </a:r>
            <a:r>
              <a:rPr lang="zh-CN" altLang="en-US" sz="1200" dirty="0"/>
              <a:t>人民邮电出版社</a:t>
            </a:r>
          </a:p>
          <a:p>
            <a:pPr lvl="1">
              <a:spcBef>
                <a:spcPts val="600"/>
              </a:spcBef>
            </a:pPr>
            <a:r>
              <a:rPr lang="en-US" altLang="zh-CN" sz="1400" dirty="0"/>
              <a:t>IBM DB2</a:t>
            </a:r>
            <a:r>
              <a:rPr lang="zh-CN" altLang="en-US" sz="1400" dirty="0"/>
              <a:t>索引结构：</a:t>
            </a:r>
            <a:r>
              <a:rPr lang="en-US" altLang="zh-CN" sz="1400" dirty="0"/>
              <a:t>B</a:t>
            </a:r>
            <a:r>
              <a:rPr lang="en-US" altLang="zh-CN" sz="1400" baseline="30000" dirty="0"/>
              <a:t>+</a:t>
            </a:r>
            <a:r>
              <a:rPr lang="zh-CN" altLang="en-US" sz="1400" dirty="0"/>
              <a:t>树</a:t>
            </a:r>
          </a:p>
          <a:p>
            <a:pPr lvl="1">
              <a:spcBef>
                <a:spcPts val="600"/>
              </a:spcBef>
            </a:pPr>
            <a:r>
              <a:rPr lang="en-US" altLang="zh-CN" sz="1400" dirty="0"/>
              <a:t>Microsoft SQL Server</a:t>
            </a:r>
            <a:r>
              <a:rPr lang="zh-CN" altLang="en-US" sz="1400" dirty="0"/>
              <a:t>索引结构：</a:t>
            </a:r>
            <a:r>
              <a:rPr lang="en-US" altLang="zh-CN" sz="1400" dirty="0"/>
              <a:t>B</a:t>
            </a:r>
            <a:r>
              <a:rPr lang="zh-CN" altLang="en-US" sz="1400" dirty="0"/>
              <a:t>树</a:t>
            </a:r>
          </a:p>
          <a:p>
            <a:pPr>
              <a:spcBef>
                <a:spcPts val="600"/>
              </a:spcBef>
            </a:pPr>
            <a:r>
              <a:rPr lang="zh-CN" altLang="en-US" sz="1800" b="1" dirty="0"/>
              <a:t>开源数据库</a:t>
            </a:r>
            <a:endParaRPr lang="en-US" altLang="zh-CN" sz="1800" b="1" dirty="0"/>
          </a:p>
          <a:p>
            <a:pPr lvl="1">
              <a:spcBef>
                <a:spcPts val="600"/>
              </a:spcBef>
            </a:pPr>
            <a:r>
              <a:rPr lang="en-US" altLang="zh-CN" sz="1400" dirty="0"/>
              <a:t>MySQL</a:t>
            </a:r>
            <a:r>
              <a:rPr lang="zh-CN" altLang="en-US" sz="1400" dirty="0"/>
              <a:t>索引：</a:t>
            </a:r>
            <a:r>
              <a:rPr lang="en-US" altLang="zh-CN" sz="1400" dirty="0"/>
              <a:t>B-Tree(</a:t>
            </a:r>
            <a:r>
              <a:rPr lang="en-US" altLang="zh-CN" sz="1400" dirty="0" err="1"/>
              <a:t>B+Tree</a:t>
            </a:r>
            <a:r>
              <a:rPr lang="en-US" altLang="zh-CN" sz="1400" dirty="0"/>
              <a:t>)</a:t>
            </a:r>
            <a:r>
              <a:rPr lang="zh-CN" altLang="en-US" sz="1400" dirty="0"/>
              <a:t>、</a:t>
            </a:r>
            <a:r>
              <a:rPr lang="en-US" altLang="zh-CN" sz="1400" dirty="0"/>
              <a:t>Hash</a:t>
            </a:r>
            <a:r>
              <a:rPr lang="zh-CN" altLang="en-US" sz="1400" dirty="0"/>
              <a:t>索引</a:t>
            </a:r>
          </a:p>
          <a:p>
            <a:pPr lvl="1">
              <a:spcBef>
                <a:spcPts val="600"/>
              </a:spcBef>
            </a:pPr>
            <a:r>
              <a:rPr lang="en-US" altLang="zh-CN" sz="1400" dirty="0" err="1"/>
              <a:t>Postgre</a:t>
            </a:r>
            <a:r>
              <a:rPr lang="en-US" altLang="zh-CN" sz="1400" dirty="0"/>
              <a:t> SQL, MySQL, Ingres r3, </a:t>
            </a:r>
            <a:r>
              <a:rPr lang="en-US" altLang="zh-CN" sz="1400" dirty="0" err="1"/>
              <a:t>MaxDB</a:t>
            </a:r>
            <a:r>
              <a:rPr lang="en-US" altLang="zh-CN" sz="1400" dirty="0"/>
              <a:t>, Firebird (</a:t>
            </a:r>
            <a:r>
              <a:rPr lang="en-US" altLang="zh-CN" sz="1400" dirty="0" err="1"/>
              <a:t>InterBase</a:t>
            </a:r>
            <a:r>
              <a:rPr lang="en-US" altLang="zh-CN" sz="1400" dirty="0"/>
              <a:t>), MongoDB, SQLite, CUBRID, Cayley(Graph)</a:t>
            </a:r>
          </a:p>
          <a:p>
            <a:pPr>
              <a:spcBef>
                <a:spcPts val="600"/>
              </a:spcBef>
            </a:pPr>
            <a:r>
              <a:rPr lang="en-US" altLang="zh-CN" sz="1800" b="1" dirty="0"/>
              <a:t>NoSQL</a:t>
            </a:r>
            <a:r>
              <a:rPr lang="zh-CN" altLang="en-US" sz="1800" b="1" dirty="0"/>
              <a:t>数据库</a:t>
            </a:r>
            <a:endParaRPr lang="en-US" altLang="zh-CN" sz="1800" b="1" dirty="0"/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HBase,</a:t>
            </a:r>
            <a:r>
              <a:rPr lang="zh-CN" altLang="en-US" sz="1600" dirty="0"/>
              <a:t> </a:t>
            </a:r>
            <a:r>
              <a:rPr lang="en-US" altLang="zh-CN" sz="1600" dirty="0"/>
              <a:t>Cassandra, MongoDB, Redis</a:t>
            </a:r>
          </a:p>
          <a:p>
            <a:pPr lvl="1">
              <a:spcBef>
                <a:spcPts val="600"/>
              </a:spcBef>
            </a:pPr>
            <a:r>
              <a:rPr lang="en-US" altLang="zh-CN" sz="1400" dirty="0" err="1"/>
              <a:t>OceanBase</a:t>
            </a:r>
            <a:r>
              <a:rPr lang="en-US" altLang="zh-CN" sz="1400" dirty="0"/>
              <a:t>,</a:t>
            </a:r>
            <a:r>
              <a:rPr lang="zh-CN" altLang="en-US" sz="1400" dirty="0"/>
              <a:t> </a:t>
            </a:r>
            <a:r>
              <a:rPr lang="en-US" altLang="zh-CN" sz="1400" dirty="0" err="1"/>
              <a:t>openGauss</a:t>
            </a:r>
            <a:r>
              <a:rPr lang="en-US" altLang="zh-CN" sz="1400" dirty="0"/>
              <a:t>, </a:t>
            </a:r>
            <a:r>
              <a:rPr lang="zh-CN" altLang="en-US" sz="1400" dirty="0"/>
              <a:t>人大金仓</a:t>
            </a:r>
            <a:r>
              <a:rPr lang="en-US" altLang="zh-CN" sz="1400" dirty="0"/>
              <a:t>, X-DB, </a:t>
            </a:r>
            <a:r>
              <a:rPr lang="zh-CN" altLang="en-US" sz="1400" dirty="0"/>
              <a:t>达梦 </a:t>
            </a:r>
            <a:r>
              <a:rPr lang="en-US" altLang="zh-CN" sz="1400" dirty="0"/>
              <a:t>……</a:t>
            </a:r>
          </a:p>
          <a:p>
            <a:pPr>
              <a:spcBef>
                <a:spcPts val="600"/>
              </a:spcBef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57338334"/>
      </p:ext>
    </p:extLst>
  </p:cSld>
  <p:clrMapOvr>
    <a:masterClrMapping/>
  </p:clrMapOvr>
  <p:transition>
    <p:fade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27E951-FF0E-4075-9565-64F6C2A4C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Quiz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572839-3766-4010-923D-0B9876656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064896" cy="3805070"/>
          </a:xfrm>
        </p:spPr>
        <p:txBody>
          <a:bodyPr/>
          <a:lstStyle/>
          <a:p>
            <a:r>
              <a:rPr lang="en-US" altLang="zh-CN" sz="1800" b="1" dirty="0"/>
              <a:t>Q1</a:t>
            </a:r>
            <a:r>
              <a:rPr lang="en-US" altLang="zh-CN" sz="1800" dirty="0"/>
              <a:t>: Construct a B</a:t>
            </a:r>
            <a:r>
              <a:rPr lang="en-US" altLang="zh-CN" sz="1800" baseline="30000" dirty="0"/>
              <a:t>+</a:t>
            </a:r>
            <a:r>
              <a:rPr lang="en-US" altLang="zh-CN" sz="1800" dirty="0"/>
              <a:t>-tree from an empty tree. Each node can hold </a:t>
            </a:r>
            <a:r>
              <a:rPr lang="en-US" altLang="zh-CN" sz="1800" dirty="0">
                <a:solidFill>
                  <a:srgbClr val="C00000"/>
                </a:solidFill>
              </a:rPr>
              <a:t>four</a:t>
            </a:r>
            <a:r>
              <a:rPr lang="en-US" altLang="zh-CN" sz="1800" dirty="0"/>
              <a:t> pointers</a:t>
            </a:r>
          </a:p>
          <a:p>
            <a:pPr lvl="1"/>
            <a:r>
              <a:rPr lang="en-US" altLang="zh-CN" sz="1600" dirty="0"/>
              <a:t>The sequential values to be inserted are: 10, 7, 12, 5, 9, 15, 30, 23, 17, 26</a:t>
            </a:r>
          </a:p>
          <a:p>
            <a:pPr lvl="1"/>
            <a:r>
              <a:rPr lang="en-US" altLang="zh-CN" sz="1600" dirty="0"/>
              <a:t>Then delete 9, 10, 15, respectively</a:t>
            </a:r>
          </a:p>
          <a:p>
            <a:pPr lvl="1"/>
            <a:r>
              <a:rPr lang="en-US" altLang="zh-CN" sz="1600" dirty="0"/>
              <a:t>Please give the B</a:t>
            </a:r>
            <a:r>
              <a:rPr lang="en-US" altLang="zh-CN" sz="1600" baseline="30000" dirty="0"/>
              <a:t>+</a:t>
            </a:r>
            <a:r>
              <a:rPr lang="en-US" altLang="zh-CN" sz="1600" dirty="0"/>
              <a:t> trees after each insertion and each deletion</a:t>
            </a:r>
          </a:p>
          <a:p>
            <a:r>
              <a:rPr lang="en-US" altLang="zh-CN" sz="1800" b="1" dirty="0"/>
              <a:t>Q2</a:t>
            </a:r>
            <a:r>
              <a:rPr lang="en-US" altLang="zh-CN" sz="1800" dirty="0"/>
              <a:t>: Compare B</a:t>
            </a:r>
            <a:r>
              <a:rPr lang="en-US" altLang="zh-CN" sz="1800" baseline="30000" dirty="0"/>
              <a:t>+</a:t>
            </a:r>
            <a:r>
              <a:rPr lang="en-US" altLang="zh-CN" sz="1800" dirty="0"/>
              <a:t>-tree and B-tree and describe their difference</a:t>
            </a:r>
          </a:p>
          <a:p>
            <a:endParaRPr lang="en-US" altLang="zh-CN" sz="1800" dirty="0"/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191719909"/>
      </p:ext>
    </p:extLst>
  </p:cSld>
  <p:clrMapOvr>
    <a:masterClrMapping/>
  </p:clrMapOvr>
  <p:transition>
    <p:fade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584" y="1995686"/>
            <a:ext cx="7386416" cy="519113"/>
          </a:xfrm>
        </p:spPr>
        <p:txBody>
          <a:bodyPr/>
          <a:lstStyle/>
          <a:p>
            <a:r>
              <a:rPr lang="en-US" altLang="zh-CN" sz="3600" dirty="0">
                <a:latin typeface="Arial" panose="020B0604020202020204" pitchFamily="34" charset="0"/>
                <a:ea typeface="宋体" pitchFamily="2" charset="-122"/>
              </a:rPr>
              <a:t>End of Chapter 14</a:t>
            </a:r>
            <a:endParaRPr lang="zh-CN" altLang="en-US" sz="3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907772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CCE8C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38481</TotalTime>
  <Words>6186</Words>
  <Application>Microsoft Office PowerPoint</Application>
  <PresentationFormat>全屏显示(16:9)</PresentationFormat>
  <Paragraphs>562</Paragraphs>
  <Slides>88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88</vt:i4>
      </vt:variant>
    </vt:vector>
  </HeadingPairs>
  <TitlesOfParts>
    <vt:vector size="102" baseType="lpstr">
      <vt:lpstr>MS PGothic</vt:lpstr>
      <vt:lpstr>华文楷体</vt:lpstr>
      <vt:lpstr>华文行楷</vt:lpstr>
      <vt:lpstr>宋体</vt:lpstr>
      <vt:lpstr>微软雅黑</vt:lpstr>
      <vt:lpstr>Arial</vt:lpstr>
      <vt:lpstr>Calibri</vt:lpstr>
      <vt:lpstr>Cambria Math</vt:lpstr>
      <vt:lpstr>Comic Sans MS</vt:lpstr>
      <vt:lpstr>Helvetica</vt:lpstr>
      <vt:lpstr>Times New Roman</vt:lpstr>
      <vt:lpstr>Trebuchet MS</vt:lpstr>
      <vt:lpstr>Wingdings</vt:lpstr>
      <vt:lpstr>默认设计模板</vt:lpstr>
      <vt:lpstr>PowerPoint 演示文稿</vt:lpstr>
      <vt:lpstr>Outline</vt:lpstr>
      <vt:lpstr>Index vs. Data (索引块与数据块)</vt:lpstr>
      <vt:lpstr>Basic Concepts</vt:lpstr>
      <vt:lpstr>Index Evaluation Metrics</vt:lpstr>
      <vt:lpstr>Outline</vt:lpstr>
      <vt:lpstr>Ordered Indexing-顺序索引</vt:lpstr>
      <vt:lpstr>Primary Index：Clustering Index</vt:lpstr>
      <vt:lpstr>Secondary Index：Non-clustering Index</vt:lpstr>
      <vt:lpstr>Dense Index</vt:lpstr>
      <vt:lpstr>Sparse Index</vt:lpstr>
      <vt:lpstr>Multilevel Index (多级索引)</vt:lpstr>
      <vt:lpstr>Multilevel Index (Cont.)</vt:lpstr>
      <vt:lpstr>Dense vs. Sparse Index</vt:lpstr>
      <vt:lpstr>Index Update: Deletion</vt:lpstr>
      <vt:lpstr>Index Update: Deletion</vt:lpstr>
      <vt:lpstr>Index Update: Insertion</vt:lpstr>
      <vt:lpstr>Dense vs. Sparse Index</vt:lpstr>
      <vt:lpstr>Secondary Indices</vt:lpstr>
      <vt:lpstr>Secondary Index on Balance Field of Account</vt:lpstr>
      <vt:lpstr>Primary and Secondary Indices</vt:lpstr>
      <vt:lpstr>Outline</vt:lpstr>
      <vt:lpstr>B+-Tree Index Files</vt:lpstr>
      <vt:lpstr>Example of B+-Tree</vt:lpstr>
      <vt:lpstr>B+-Tree Index Files (Cont.)</vt:lpstr>
      <vt:lpstr>B+-Tree Index Files (Cont.)</vt:lpstr>
      <vt:lpstr>Example of a B+-tree</vt:lpstr>
      <vt:lpstr>Leaf Node in B+-Tree</vt:lpstr>
      <vt:lpstr>Non-Leaf Nodes in B+-Tree</vt:lpstr>
      <vt:lpstr>Example of B+-tree</vt:lpstr>
      <vt:lpstr>Observations about B+-tree</vt:lpstr>
      <vt:lpstr>Queries on B+-Trees</vt:lpstr>
      <vt:lpstr>Example: Queries on B+-Tree</vt:lpstr>
      <vt:lpstr>Example: Queries on B+-Tree</vt:lpstr>
      <vt:lpstr>Queries on B+-Trees (Cont.)</vt:lpstr>
      <vt:lpstr>Insertion in B+-Tree</vt:lpstr>
      <vt:lpstr>Insertion in B+-Tree (Cont.)</vt:lpstr>
      <vt:lpstr>Insertion in B+-Tree (Cont.)</vt:lpstr>
      <vt:lpstr>Insertion in B+-Tree (Cont.)</vt:lpstr>
      <vt:lpstr>Deletion in B+-Tree</vt:lpstr>
      <vt:lpstr>Examples of B+-Tree Deletion</vt:lpstr>
      <vt:lpstr>Deletion in B+-Tree (Cont.)</vt:lpstr>
      <vt:lpstr>Examples of B+-Tree Deletion (Cont.)</vt:lpstr>
      <vt:lpstr>Example of B+-tree Deletion (Cont.)</vt:lpstr>
      <vt:lpstr>B+-Tree File Organization</vt:lpstr>
      <vt:lpstr>B+-Tree File Organization (Cont.)</vt:lpstr>
      <vt:lpstr>B-Tree Index Files</vt:lpstr>
      <vt:lpstr>B-Tree Index File</vt:lpstr>
      <vt:lpstr>B-Tree Index Files (Cont.)</vt:lpstr>
      <vt:lpstr>Outline</vt:lpstr>
      <vt:lpstr>Static Hashing</vt:lpstr>
      <vt:lpstr>Example of Hash File Organization (Cont.)</vt:lpstr>
      <vt:lpstr>Example of Hash File Organization </vt:lpstr>
      <vt:lpstr>Hash Functions</vt:lpstr>
      <vt:lpstr>Handling of Bucket Overflows</vt:lpstr>
      <vt:lpstr>Handling of Bucket Overflows (Cont.)</vt:lpstr>
      <vt:lpstr>Hash Indices</vt:lpstr>
      <vt:lpstr>Example of Hash Index</vt:lpstr>
      <vt:lpstr>Deficiencies of Static Hashing</vt:lpstr>
      <vt:lpstr>Dynamic Hashing</vt:lpstr>
      <vt:lpstr>General Extendable Hash Structure </vt:lpstr>
      <vt:lpstr>Extendable Hash Structure</vt:lpstr>
      <vt:lpstr>Updates in Extendable Hash Structure </vt:lpstr>
      <vt:lpstr>Updates in Extendable Hash Structure (Cont.)</vt:lpstr>
      <vt:lpstr>Extendable Hash Structure: Example</vt:lpstr>
      <vt:lpstr>Example (Cont.)</vt:lpstr>
      <vt:lpstr>Example (Cont.)</vt:lpstr>
      <vt:lpstr>Example (Cont.)</vt:lpstr>
      <vt:lpstr>Example (Cont.)</vt:lpstr>
      <vt:lpstr>Extendable Hashing vs. Other Schemes</vt:lpstr>
      <vt:lpstr>Outline</vt:lpstr>
      <vt:lpstr>Ordered Indexing vs. Hashing</vt:lpstr>
      <vt:lpstr>Outline</vt:lpstr>
      <vt:lpstr>Index Definition in SQL</vt:lpstr>
      <vt:lpstr>Outline</vt:lpstr>
      <vt:lpstr>Multiple-Key Access</vt:lpstr>
      <vt:lpstr>Indices on Multiple Attributes</vt:lpstr>
      <vt:lpstr>Grid Files</vt:lpstr>
      <vt:lpstr>Example Grid File for account</vt:lpstr>
      <vt:lpstr>Queries on a Grid File</vt:lpstr>
      <vt:lpstr>Grid Files (Cont.)</vt:lpstr>
      <vt:lpstr>Bitmap Indices</vt:lpstr>
      <vt:lpstr>Bitmap Indices (Cont.)</vt:lpstr>
      <vt:lpstr>Bitmap Indices (Cont.)</vt:lpstr>
      <vt:lpstr>Bitmap Indices (Cont.)</vt:lpstr>
      <vt:lpstr>补充学习（索引相关）</vt:lpstr>
      <vt:lpstr>Quiz</vt:lpstr>
      <vt:lpstr>End of Chapter 14</vt:lpstr>
    </vt:vector>
  </TitlesOfParts>
  <Company>Global Intelligence Alliance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Creating System Analysis</dc:title>
  <dc:creator>Jessie Wang</dc:creator>
  <cp:lastModifiedBy>ZYC</cp:lastModifiedBy>
  <cp:revision>2316</cp:revision>
  <dcterms:created xsi:type="dcterms:W3CDTF">2007-09-26T12:04:45Z</dcterms:created>
  <dcterms:modified xsi:type="dcterms:W3CDTF">2025-04-25T14:53:48Z</dcterms:modified>
</cp:coreProperties>
</file>