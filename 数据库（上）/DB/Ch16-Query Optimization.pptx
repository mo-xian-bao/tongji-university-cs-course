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5" r:id="rId2"/>
  </p:sldMasterIdLst>
  <p:notesMasterIdLst>
    <p:notesMasterId r:id="rId49"/>
  </p:notesMasterIdLst>
  <p:handoutMasterIdLst>
    <p:handoutMasterId r:id="rId50"/>
  </p:handoutMasterIdLst>
  <p:sldIdLst>
    <p:sldId id="1859" r:id="rId3"/>
    <p:sldId id="1798" r:id="rId4"/>
    <p:sldId id="1799" r:id="rId5"/>
    <p:sldId id="1800" r:id="rId6"/>
    <p:sldId id="1852" r:id="rId7"/>
    <p:sldId id="1801" r:id="rId8"/>
    <p:sldId id="1849" r:id="rId9"/>
    <p:sldId id="1803" r:id="rId10"/>
    <p:sldId id="1804" r:id="rId11"/>
    <p:sldId id="1805" r:id="rId12"/>
    <p:sldId id="1806" r:id="rId13"/>
    <p:sldId id="1807" r:id="rId14"/>
    <p:sldId id="1808" r:id="rId15"/>
    <p:sldId id="1853" r:id="rId16"/>
    <p:sldId id="1854" r:id="rId17"/>
    <p:sldId id="1855" r:id="rId18"/>
    <p:sldId id="1857" r:id="rId19"/>
    <p:sldId id="1813" r:id="rId20"/>
    <p:sldId id="1858" r:id="rId21"/>
    <p:sldId id="1850" r:id="rId22"/>
    <p:sldId id="1817" r:id="rId23"/>
    <p:sldId id="1818" r:id="rId24"/>
    <p:sldId id="1823" r:id="rId25"/>
    <p:sldId id="1824" r:id="rId26"/>
    <p:sldId id="1827" r:id="rId27"/>
    <p:sldId id="1829" r:id="rId28"/>
    <p:sldId id="1828" r:id="rId29"/>
    <p:sldId id="1830" r:id="rId30"/>
    <p:sldId id="1831" r:id="rId31"/>
    <p:sldId id="1832" r:id="rId32"/>
    <p:sldId id="1833" r:id="rId33"/>
    <p:sldId id="1834" r:id="rId34"/>
    <p:sldId id="1835" r:id="rId35"/>
    <p:sldId id="1851" r:id="rId36"/>
    <p:sldId id="1838" r:id="rId37"/>
    <p:sldId id="1839" r:id="rId38"/>
    <p:sldId id="1840" r:id="rId39"/>
    <p:sldId id="1841" r:id="rId40"/>
    <p:sldId id="1842" r:id="rId41"/>
    <p:sldId id="1843" r:id="rId42"/>
    <p:sldId id="1844" r:id="rId43"/>
    <p:sldId id="1845" r:id="rId44"/>
    <p:sldId id="1821" r:id="rId45"/>
    <p:sldId id="1820" r:id="rId46"/>
    <p:sldId id="1819" r:id="rId47"/>
    <p:sldId id="1910" r:id="rId48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1859"/>
            <p14:sldId id="1798"/>
            <p14:sldId id="1799"/>
            <p14:sldId id="1800"/>
            <p14:sldId id="1852"/>
            <p14:sldId id="1801"/>
            <p14:sldId id="1849"/>
            <p14:sldId id="1803"/>
            <p14:sldId id="1804"/>
            <p14:sldId id="1805"/>
            <p14:sldId id="1806"/>
            <p14:sldId id="1807"/>
            <p14:sldId id="1808"/>
            <p14:sldId id="1853"/>
            <p14:sldId id="1854"/>
            <p14:sldId id="1855"/>
            <p14:sldId id="1857"/>
            <p14:sldId id="1813"/>
            <p14:sldId id="1858"/>
            <p14:sldId id="1850"/>
            <p14:sldId id="1817"/>
            <p14:sldId id="1818"/>
            <p14:sldId id="1823"/>
            <p14:sldId id="1824"/>
            <p14:sldId id="1827"/>
            <p14:sldId id="1829"/>
            <p14:sldId id="1828"/>
            <p14:sldId id="1830"/>
            <p14:sldId id="1831"/>
            <p14:sldId id="1832"/>
            <p14:sldId id="1833"/>
            <p14:sldId id="1834"/>
            <p14:sldId id="1835"/>
            <p14:sldId id="1851"/>
            <p14:sldId id="1838"/>
            <p14:sldId id="1839"/>
            <p14:sldId id="1840"/>
            <p14:sldId id="1841"/>
            <p14:sldId id="1842"/>
            <p14:sldId id="1843"/>
            <p14:sldId id="1844"/>
            <p14:sldId id="1845"/>
            <p14:sldId id="1821"/>
            <p14:sldId id="1820"/>
            <p14:sldId id="1819"/>
            <p14:sldId id="19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79720" autoAdjust="0"/>
  </p:normalViewPr>
  <p:slideViewPr>
    <p:cSldViewPr>
      <p:cViewPr varScale="1">
        <p:scale>
          <a:sx n="121" d="100"/>
          <a:sy n="121" d="100"/>
        </p:scale>
        <p:origin x="1314" y="90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altLang="zh-CN" sz="1200" dirty="0"/>
                  <a:t>, then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200" dirty="0"/>
                  <a:t> is the same as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200" dirty="0"/>
                  <a:t> </a:t>
                </a:r>
                <a:r>
                  <a:rPr lang="zh-CN" altLang="en-US" sz="1200" dirty="0"/>
                  <a:t>，这是对自然连接的极端情况的解决方案。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如果两个关系之间没有共同的属性，而执行</a:t>
                </a:r>
                <a:r>
                  <a:rPr lang="en-US" altLang="zh-CN" dirty="0"/>
                  <a:t>natural join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，它将返回两个关系的</a:t>
                </a:r>
                <a:r>
                  <a:rPr lang="en-US" altLang="zh-CN" dirty="0"/>
                  <a:t>cartesian product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。</a:t>
                </a:r>
                <a:endParaRPr lang="en-US" altLang="zh-CN" sz="12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dirty="0"/>
                  <a:t>If 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𝑅</a:t>
                </a:r>
                <a:r>
                  <a:rPr lang="en-US" altLang="zh-CN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∩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𝑆=∅</a:t>
                </a:r>
                <a:r>
                  <a:rPr lang="en-US" altLang="zh-CN" sz="1200" dirty="0"/>
                  <a:t>, then 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𝑟</a:t>
                </a:r>
                <a:r>
                  <a:rPr lang="en-US" altLang="zh-CN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⋈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𝑠</a:t>
                </a:r>
                <a:r>
                  <a:rPr lang="en-US" altLang="zh-CN" sz="1200" dirty="0"/>
                  <a:t> is the same as 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𝑟</a:t>
                </a:r>
                <a:r>
                  <a:rPr lang="en-US" altLang="zh-CN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𝑠</a:t>
                </a:r>
                <a:r>
                  <a:rPr lang="en-US" altLang="zh-CN" sz="1200" dirty="0"/>
                  <a:t> </a:t>
                </a:r>
                <a:r>
                  <a:rPr lang="zh-CN" altLang="en-US" sz="1200" dirty="0"/>
                  <a:t>，这是对自然连接的极端情况的解决方案。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如果两个关系之间没有共同的属性，而执行</a:t>
                </a:r>
                <a:r>
                  <a:rPr lang="en-US" altLang="zh-CN" dirty="0"/>
                  <a:t>natural join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，它将返回两个关系的</a:t>
                </a:r>
                <a:r>
                  <a:rPr lang="en-US" altLang="zh-CN" dirty="0"/>
                  <a:t>cartesian product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Arial" charset="0"/>
                    <a:ea typeface="+mn-ea"/>
                    <a:cs typeface="+mn-cs"/>
                  </a:rPr>
                  <a:t>。</a:t>
                </a:r>
                <a:endParaRPr lang="en-US" altLang="zh-CN" sz="1200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26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351250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Conjunctive</a:t>
            </a:r>
            <a:r>
              <a:rPr lang="zh-CN" altLang="en-US" sz="1200" dirty="0"/>
              <a:t>：合取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44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65052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17142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40413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2025/5/17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096402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2025/5/17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92431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2025/5/17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092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2025/5/17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82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2025/5/17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4" r:id="rId4"/>
    <p:sldLayoutId id="2147483741" r:id="rId5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2025/5/17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40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1.pn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6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77F71E-B605-4820-B913-56173A09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5" y="1851670"/>
            <a:ext cx="9156340" cy="1116356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Query Optimization</a:t>
            </a:r>
            <a:endParaRPr lang="en-US" altLang="zh-CN" sz="2800" b="1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Chapter 16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B0D7027-3D69-4E35-939E-995F28B50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44417"/>
            <a:ext cx="915634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Zhang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Email: 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yichaozhang</a:t>
            </a: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@tongji.edu.cn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Department of Computer Science and Technology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Tongji University</a:t>
            </a: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F6A10C-3978-4571-8E11-512EBE350881}"/>
              </a:ext>
            </a:extLst>
          </p:cNvPr>
          <p:cNvGrpSpPr/>
          <p:nvPr/>
        </p:nvGrpSpPr>
        <p:grpSpPr>
          <a:xfrm>
            <a:off x="6820780" y="34612"/>
            <a:ext cx="2323220" cy="626967"/>
            <a:chOff x="5853448" y="-22066"/>
            <a:chExt cx="2967025" cy="8359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F37CBE-EBFF-4522-B25D-114F7C120EEF}"/>
                </a:ext>
              </a:extLst>
            </p:cNvPr>
            <p:cNvSpPr txBox="1"/>
            <p:nvPr/>
          </p:nvSpPr>
          <p:spPr>
            <a:xfrm>
              <a:off x="5853448" y="25982"/>
              <a:ext cx="2967025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9" name="图形 8" descr="原子">
              <a:extLst>
                <a:ext uri="{FF2B5EF4-FFF2-40B4-BE49-F238E27FC236}">
                  <a16:creationId xmlns:a16="http://schemas.microsoft.com/office/drawing/2014/main" id="{366732EC-C279-4260-B05C-265B78B2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423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059582"/>
            <a:ext cx="8568952" cy="358904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概述</a:t>
            </a:r>
            <a:r>
              <a:rPr lang="en-US" altLang="zh-CN" dirty="0"/>
              <a:t> 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关系表达式的转换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表达式执行代价估计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执行计划选择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物化视图*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查询优化中的高级话题*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466767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6C82E-2661-47E3-BE33-0A6CFA08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BABD15-AE5D-4E9E-9175-790B4F7B2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0891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dirty="0"/>
              <a:t>Alternative ways of executing (</a:t>
            </a:r>
            <a:r>
              <a:rPr lang="zh-CN" altLang="en-US" sz="1800" dirty="0"/>
              <a:t>执行</a:t>
            </a:r>
            <a:r>
              <a:rPr lang="en-US" altLang="zh-CN" sz="1800" dirty="0"/>
              <a:t>) a given query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Equivalent expressions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Different algorithms for each operation</a:t>
            </a:r>
          </a:p>
          <a:p>
            <a:pPr>
              <a:spcBef>
                <a:spcPts val="600"/>
              </a:spcBef>
            </a:pPr>
            <a:r>
              <a:rPr lang="en-US" altLang="zh-CN" sz="1800" dirty="0"/>
              <a:t>Cost difference between a good way and a bad way of executing a query can be enormous</a:t>
            </a:r>
          </a:p>
          <a:p>
            <a:pPr>
              <a:spcBef>
                <a:spcPts val="600"/>
              </a:spcBef>
            </a:pPr>
            <a:r>
              <a:rPr lang="en-US" altLang="zh-CN" sz="1800" dirty="0"/>
              <a:t>Estimate the cost of operations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Depend on the statistical information about relations which the database should maintain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Need to estimate the statistics for intermediate results to compute the cost of complex expressions</a:t>
            </a:r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79158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9D2C2-6084-4D8C-B226-2051C83F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Introduction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5BFC32-A8D4-433C-8804-23A7BCD8D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b="1" dirty="0"/>
              <a:t>查询：</a:t>
            </a:r>
            <a:r>
              <a:rPr lang="zh-CN" altLang="en-US" sz="1800" dirty="0"/>
              <a:t>找出</a:t>
            </a:r>
            <a:r>
              <a:rPr lang="en-US" altLang="zh-CN" sz="1800" dirty="0"/>
              <a:t>Music</a:t>
            </a:r>
            <a:r>
              <a:rPr lang="zh-CN" altLang="en-US" sz="1800" dirty="0"/>
              <a:t>系所有教师的名字以及每位教师所教授课程的名称</a:t>
            </a:r>
            <a:endParaRPr lang="en-US" altLang="zh-CN" sz="1800" dirty="0"/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EC6D4131-92C3-44D8-9245-7BAB79623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608" y="1491630"/>
            <a:ext cx="6790653" cy="321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727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9D2C2-6084-4D8C-B226-2051C83F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Introduction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5BFC32-A8D4-433C-8804-23A7BCD8D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执行计划需明确每个运算使用的算法以及运算之间的执行如何协调</a:t>
            </a:r>
            <a:endParaRPr lang="en-US" altLang="zh-CN" sz="1800" dirty="0"/>
          </a:p>
        </p:txBody>
      </p:sp>
      <p:pic>
        <p:nvPicPr>
          <p:cNvPr id="6" name="Graphic 2">
            <a:extLst>
              <a:ext uri="{FF2B5EF4-FFF2-40B4-BE49-F238E27FC236}">
                <a16:creationId xmlns:a16="http://schemas.microsoft.com/office/drawing/2014/main" id="{05C9109C-BD08-4D51-AE5A-64BA5A15C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5656" y="1419622"/>
            <a:ext cx="5407032" cy="339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92492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43FE0-E18D-47E5-B6BB-29D493D0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Introduction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B2EEFD-E2F4-4CA6-873A-286A6013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000" b="1" dirty="0"/>
              <a:t>产生最优查询执行计划的三个步骤</a:t>
            </a:r>
            <a:r>
              <a:rPr lang="en-US" altLang="zh-CN" sz="2000" b="1" dirty="0"/>
              <a:t>(Cost-based Optimization</a:t>
            </a:r>
            <a:r>
              <a:rPr lang="zh-CN" altLang="en-US" sz="2000" b="1" dirty="0"/>
              <a:t>，基于代价的优化）</a:t>
            </a:r>
            <a:endParaRPr lang="en-US" altLang="zh-CN" sz="2000" b="1" dirty="0"/>
          </a:p>
          <a:p>
            <a:pPr lvl="1">
              <a:spcBef>
                <a:spcPts val="1200"/>
              </a:spcBef>
            </a:pPr>
            <a:r>
              <a:rPr lang="zh-CN" altLang="en-US" sz="1800" b="1" dirty="0"/>
              <a:t>步骤</a:t>
            </a:r>
            <a:r>
              <a:rPr lang="en-US" altLang="zh-CN" sz="1800" b="1" dirty="0"/>
              <a:t>1</a:t>
            </a:r>
            <a:r>
              <a:rPr lang="zh-CN" altLang="en-US" sz="1800" dirty="0"/>
              <a:t>：产生逻辑上与给定表达式等价的表达式</a:t>
            </a:r>
            <a:endParaRPr lang="en-US" altLang="zh-CN" sz="1800" dirty="0"/>
          </a:p>
          <a:p>
            <a:pPr lvl="2">
              <a:spcBef>
                <a:spcPts val="1200"/>
              </a:spcBef>
            </a:pPr>
            <a:r>
              <a:rPr lang="zh-CN" altLang="en-US" sz="1600" dirty="0"/>
              <a:t>使用等价规则</a:t>
            </a:r>
            <a:endParaRPr lang="en-US" altLang="zh-CN" sz="1600" dirty="0"/>
          </a:p>
          <a:p>
            <a:pPr lvl="1">
              <a:spcBef>
                <a:spcPts val="1200"/>
              </a:spcBef>
            </a:pPr>
            <a:r>
              <a:rPr lang="zh-CN" altLang="en-US" sz="1800" b="1" dirty="0"/>
              <a:t>步骤</a:t>
            </a:r>
            <a:r>
              <a:rPr lang="en-US" altLang="zh-CN" sz="1800" b="1" dirty="0"/>
              <a:t>2</a:t>
            </a:r>
            <a:r>
              <a:rPr lang="zh-CN" altLang="en-US" sz="1800" dirty="0"/>
              <a:t>：对所产生的表达式以不同方式标注，产生不同的查询执行计划</a:t>
            </a:r>
            <a:endParaRPr lang="en-US" altLang="zh-CN" sz="1800" dirty="0"/>
          </a:p>
          <a:p>
            <a:pPr lvl="1">
              <a:spcBef>
                <a:spcPts val="1200"/>
              </a:spcBef>
            </a:pPr>
            <a:r>
              <a:rPr lang="zh-CN" altLang="en-US" sz="1800" b="1" dirty="0"/>
              <a:t>步骤</a:t>
            </a:r>
            <a:r>
              <a:rPr lang="en-US" altLang="zh-CN" sz="1800" b="1" dirty="0"/>
              <a:t>3</a:t>
            </a:r>
            <a:r>
              <a:rPr lang="zh-CN" altLang="en-US" sz="1800" dirty="0"/>
              <a:t>：估计每个执行计划的代价，选择估计代价最小的执行计划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6023009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059582"/>
            <a:ext cx="8568952" cy="358904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dirty="0"/>
              <a:t>概述</a:t>
            </a:r>
            <a:r>
              <a:rPr lang="en-US" altLang="zh-CN" dirty="0"/>
              <a:t> </a:t>
            </a:r>
          </a:p>
          <a:p>
            <a:pPr>
              <a:spcBef>
                <a:spcPts val="120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关系表达式的转换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/>
              <a:t>表达式执行代价估计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执行计划选择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物化视图*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查询优化中的高级话题*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88237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D2F89-CBAC-4485-9D09-E046A72E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关系表达式转换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BA740-18A9-47DE-B92D-94CD90640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Equivalence of two relational algebra expressions </a:t>
            </a:r>
          </a:p>
          <a:p>
            <a:pPr lvl="1"/>
            <a:r>
              <a:rPr lang="en-US" altLang="zh-CN" sz="1800" dirty="0"/>
              <a:t>Generate the same set of tuples on every legal database instance</a:t>
            </a:r>
          </a:p>
          <a:p>
            <a:pPr lvl="1"/>
            <a:r>
              <a:rPr lang="en-US" altLang="zh-CN" sz="1800" dirty="0"/>
              <a:t>Note: the order of tuples is irrelevant</a:t>
            </a:r>
          </a:p>
          <a:p>
            <a:r>
              <a:rPr lang="en-US" altLang="zh-CN" sz="2000" b="1" dirty="0"/>
              <a:t>Equivalence rule (</a:t>
            </a:r>
            <a:r>
              <a:rPr lang="zh-CN" altLang="en-US" sz="2000" b="1" dirty="0"/>
              <a:t>等价规则</a:t>
            </a:r>
            <a:r>
              <a:rPr lang="en-US" altLang="zh-CN" sz="2000" b="1" dirty="0"/>
              <a:t>)</a:t>
            </a:r>
          </a:p>
          <a:p>
            <a:pPr lvl="1"/>
            <a:r>
              <a:rPr lang="en-US" altLang="zh-CN" sz="1800" dirty="0"/>
              <a:t>The expressions of two forms are equivalent</a:t>
            </a:r>
          </a:p>
          <a:p>
            <a:pPr lvl="1"/>
            <a:r>
              <a:rPr lang="en-US" altLang="zh-CN" sz="1800" dirty="0"/>
              <a:t>Can replace expression of first form by the second, or vice versa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948628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3993F-D630-4639-86A7-A9591796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Equivalence Rules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02AF0D-681E-4BA7-B409-7D3B7A6AA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1</a:t>
                </a:r>
                <a:r>
                  <a:rPr lang="zh-CN" altLang="en-US" sz="1800" dirty="0"/>
                  <a:t>：合取选择运算可分解为单个选择运算的序列</a:t>
                </a: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2</a:t>
                </a:r>
                <a:r>
                  <a:rPr lang="zh-CN" altLang="en-US" sz="1800" dirty="0"/>
                  <a:t>：选择运算满足交换律 </a:t>
                </a:r>
                <a:r>
                  <a:rPr lang="en-US" altLang="zh-CN" sz="1800" dirty="0"/>
                  <a:t>(commutative)</a:t>
                </a:r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3</a:t>
                </a:r>
                <a:r>
                  <a:rPr lang="zh-CN" altLang="en-US" sz="1800" dirty="0"/>
                  <a:t>：多个连续投影中只有最后一个运算是必需的，其余可忽略</a:t>
                </a:r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4</a:t>
                </a:r>
                <a:r>
                  <a:rPr lang="zh-CN" altLang="en-US" sz="1800" dirty="0"/>
                  <a:t>：选择操作可以与笛卡尔积以及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连接相互转换</a:t>
                </a:r>
                <a:endParaRPr lang="en-US" altLang="zh-CN" sz="1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02AF0D-681E-4BA7-B409-7D3B7A6AA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27" t="-962" b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7628303-24FE-4221-94D3-52495919F7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446237"/>
              </p:ext>
            </p:extLst>
          </p:nvPr>
        </p:nvGraphicFramePr>
        <p:xfrm>
          <a:off x="2123728" y="1176467"/>
          <a:ext cx="2638794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7" name="Equation" r:id="rId4" imgW="1473200" imgH="241300" progId="Equation.DSMT4">
                  <p:embed/>
                </p:oleObj>
              </mc:Choice>
              <mc:Fallback>
                <p:oleObj name="Equation" r:id="rId4" imgW="1473200" imgH="241300" progId="Equation.DSMT4">
                  <p:embed/>
                  <p:pic>
                    <p:nvPicPr>
                      <p:cNvPr id="12296" name="Object 5">
                        <a:extLst>
                          <a:ext uri="{FF2B5EF4-FFF2-40B4-BE49-F238E27FC236}">
                            <a16:creationId xmlns:a16="http://schemas.microsoft.com/office/drawing/2014/main" id="{65B10DA1-2572-4291-A0AD-89898A1D07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176467"/>
                        <a:ext cx="2638794" cy="43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BCA65E1B-3A72-4B45-B94A-D3489B7009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913043"/>
              </p:ext>
            </p:extLst>
          </p:nvPr>
        </p:nvGraphicFramePr>
        <p:xfrm>
          <a:off x="2051720" y="2139703"/>
          <a:ext cx="2952582" cy="432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8" name="Equation" r:id="rId6" imgW="1638300" imgH="241300" progId="Equation.3">
                  <p:embed/>
                </p:oleObj>
              </mc:Choice>
              <mc:Fallback>
                <p:oleObj name="Equation" r:id="rId6" imgW="1638300" imgH="241300" progId="Equation.3">
                  <p:embed/>
                  <p:pic>
                    <p:nvPicPr>
                      <p:cNvPr id="12295" name="Object 4">
                        <a:extLst>
                          <a:ext uri="{FF2B5EF4-FFF2-40B4-BE49-F238E27FC236}">
                            <a16:creationId xmlns:a16="http://schemas.microsoft.com/office/drawing/2014/main" id="{FD714B58-DCC6-4015-A2C3-EC80F01BD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139703"/>
                        <a:ext cx="2952582" cy="432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834E994-4E81-4BC1-89F8-7C18C5233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298272"/>
              </p:ext>
            </p:extLst>
          </p:nvPr>
        </p:nvGraphicFramePr>
        <p:xfrm>
          <a:off x="2051720" y="3259014"/>
          <a:ext cx="3003200" cy="324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9" name="Microsoft 公式 3.0" r:id="rId8" imgW="3162300" imgH="342900" progId="Equation.3">
                  <p:embed/>
                </p:oleObj>
              </mc:Choice>
              <mc:Fallback>
                <p:oleObj name="Microsoft 公式 3.0" r:id="rId8" imgW="3162300" imgH="342900" progId="Equation.3">
                  <p:embed/>
                  <p:pic>
                    <p:nvPicPr>
                      <p:cNvPr id="12297" name="Object 6">
                        <a:extLst>
                          <a:ext uri="{FF2B5EF4-FFF2-40B4-BE49-F238E27FC236}">
                            <a16:creationId xmlns:a16="http://schemas.microsoft.com/office/drawing/2014/main" id="{97433A17-0051-4EB6-85A4-0ADD60D7C8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259014"/>
                        <a:ext cx="3003200" cy="324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58524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7101C-F4D3-46EC-82B7-BEE820F00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Equivalence Rules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8DB811-BBA1-4569-8739-BC965973A5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3262" y="771550"/>
                <a:ext cx="8783234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5</a:t>
                </a:r>
                <a:r>
                  <a:rPr lang="zh-CN" altLang="en-US" sz="1800" dirty="0"/>
                  <a:t>：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连接满足交换律</a:t>
                </a:r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  <a:p>
                <a:pPr>
                  <a:spcBef>
                    <a:spcPts val="600"/>
                  </a:spcBef>
                </a:pPr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6a</a:t>
                </a:r>
                <a:r>
                  <a:rPr lang="zh-CN" altLang="en-US" sz="1800" dirty="0"/>
                  <a:t>：自然连接满足结合律</a:t>
                </a:r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>
                  <a:spcBef>
                    <a:spcPts val="600"/>
                  </a:spcBef>
                </a:pPr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6b</a:t>
                </a:r>
                <a:r>
                  <a:rPr lang="zh-CN" altLang="en-US" sz="1800" dirty="0"/>
                  <a:t>：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连接满足下列方式的结合律：</a:t>
                </a:r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只涉及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600" dirty="0"/>
                  <a:t>的属性</a:t>
                </a:r>
                <a:endParaRPr lang="en-US" altLang="zh-CN" sz="1600" dirty="0"/>
              </a:p>
              <a:p>
                <a:pPr>
                  <a:spcBef>
                    <a:spcPts val="600"/>
                  </a:spcBef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8DB811-BBA1-4569-8739-BC965973A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3262" y="771550"/>
                <a:ext cx="8783234" cy="3805070"/>
              </a:xfrm>
              <a:blipFill>
                <a:blip r:embed="rId2"/>
                <a:stretch>
                  <a:fillRect l="-486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2">
            <a:extLst>
              <a:ext uri="{FF2B5EF4-FFF2-40B4-BE49-F238E27FC236}">
                <a16:creationId xmlns:a16="http://schemas.microsoft.com/office/drawing/2014/main" id="{7B059677-0FBF-4521-AB47-3CBB03DB6D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38461"/>
          <a:stretch/>
        </p:blipFill>
        <p:spPr>
          <a:xfrm>
            <a:off x="2267744" y="3075806"/>
            <a:ext cx="4154091" cy="189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88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642C9-A519-4D4A-BAD9-F246D8C4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Equivalence Rules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47922A1-986C-44C5-8C76-4AD81555DC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7</a:t>
                </a:r>
                <a:r>
                  <a:rPr lang="zh-CN" altLang="en-US" sz="1800" dirty="0"/>
                  <a:t>：选择操作在下面两个条件下对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连接满足分配律</a:t>
                </a:r>
                <a:endParaRPr lang="en-US" altLang="zh-CN" sz="1800" dirty="0"/>
              </a:p>
              <a:p>
                <a:pPr lvl="1">
                  <a:spcBef>
                    <a:spcPts val="1200"/>
                  </a:spcBef>
                </a:pPr>
                <a:r>
                  <a:rPr lang="en-US" altLang="zh-CN" sz="1600" dirty="0"/>
                  <a:t>a. </a:t>
                </a:r>
                <a:r>
                  <a:rPr lang="zh-CN" altLang="en-US" sz="1600" dirty="0"/>
                  <a:t>当选择条件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/>
                  <a:t>中的所有属性只涉及参与连接的表达式之一</a:t>
                </a:r>
                <a:r>
                  <a:rPr lang="en-US" altLang="zh-CN" sz="1600" dirty="0"/>
                  <a:t>(</a:t>
                </a:r>
                <a:r>
                  <a:rPr lang="zh-CN" altLang="en-US" sz="1600" dirty="0"/>
                  <a:t>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)</a:t>
                </a:r>
                <a:r>
                  <a:rPr lang="zh-CN" altLang="en-US" sz="1600" dirty="0"/>
                  <a:t>时：</a:t>
                </a:r>
                <a:endParaRPr lang="en-US" altLang="zh-CN" sz="1600" dirty="0"/>
              </a:p>
              <a:p>
                <a:pPr marL="457200" lvl="1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))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600" dirty="0"/>
              </a:p>
              <a:p>
                <a:pPr lvl="1">
                  <a:spcBef>
                    <a:spcPts val="1200"/>
                  </a:spcBef>
                </a:pPr>
                <a:r>
                  <a:rPr lang="en-US" altLang="zh-CN" sz="1600" dirty="0"/>
                  <a:t>b. </a:t>
                </a:r>
                <a:r>
                  <a:rPr lang="zh-CN" altLang="en-US" sz="1600" dirty="0"/>
                  <a:t>当选择条件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只涉及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的属性，选择条件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只涉及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的属性时：</a:t>
                </a:r>
                <a:endParaRPr lang="en-US" altLang="zh-CN" sz="1600" dirty="0"/>
              </a:p>
              <a:p>
                <a:pPr marL="457200" lvl="1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))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sz="1800" dirty="0"/>
              </a:p>
              <a:p>
                <a:pPr lvl="1">
                  <a:spcBef>
                    <a:spcPts val="1200"/>
                  </a:spcBef>
                </a:pP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47922A1-986C-44C5-8C76-4AD81555D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2">
            <a:extLst>
              <a:ext uri="{FF2B5EF4-FFF2-40B4-BE49-F238E27FC236}">
                <a16:creationId xmlns:a16="http://schemas.microsoft.com/office/drawing/2014/main" id="{907D94B6-2435-4CA1-A0E9-D634ABA0CC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4054"/>
          <a:stretch/>
        </p:blipFill>
        <p:spPr>
          <a:xfrm>
            <a:off x="1187624" y="2859782"/>
            <a:ext cx="6107935" cy="162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4035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4E585-7CC9-4670-B0AE-5DBBB5D4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Equivalence Rules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43D82A-4602-4602-A758-97DB0765A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71550"/>
                <a:ext cx="8496944" cy="3805070"/>
              </a:xfrm>
            </p:spPr>
            <p:txBody>
              <a:bodyPr/>
              <a:lstStyle/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8</a:t>
                </a:r>
                <a:r>
                  <a:rPr lang="zh-CN" altLang="en-US" sz="1800" dirty="0"/>
                  <a:t>：令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800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800" dirty="0"/>
                  <a:t>分别代表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800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800" dirty="0"/>
                  <a:t>的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属性子集</a:t>
                </a:r>
                <a:r>
                  <a:rPr lang="zh-CN" altLang="en-US" sz="1800" dirty="0"/>
                  <a:t>，投影操作在下列条件下对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连接满足分配率</a:t>
                </a:r>
                <a:endParaRPr lang="en-US" altLang="zh-CN" sz="1800" dirty="0"/>
              </a:p>
              <a:p>
                <a:pPr lvl="1"/>
                <a:r>
                  <a:rPr lang="en-US" altLang="zh-CN" sz="1600" dirty="0"/>
                  <a:t>a. </a:t>
                </a:r>
                <a:r>
                  <a:rPr lang="zh-CN" altLang="en-US" sz="1600" dirty="0"/>
                  <a:t>如果连接条件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600" dirty="0"/>
                  <a:t>只涉及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中的属性：</a:t>
                </a:r>
                <a:endParaRPr lang="en-US" altLang="zh-CN" sz="1600" dirty="0"/>
              </a:p>
              <a:p>
                <a:pPr marL="457200" lvl="1" indent="0">
                  <a:buNone/>
                </a:pPr>
                <a:endParaRPr lang="en-US" altLang="zh-CN" sz="1600" dirty="0"/>
              </a:p>
              <a:p>
                <a:pPr marL="457200" lvl="1" indent="0">
                  <a:buNone/>
                </a:pPr>
                <a:endParaRPr lang="en-US" altLang="zh-CN" sz="1600" dirty="0"/>
              </a:p>
              <a:p>
                <a:pPr marL="457200" lvl="1" indent="0">
                  <a:buNone/>
                </a:pPr>
                <a:endParaRPr lang="en-US" altLang="zh-CN" sz="1600" dirty="0"/>
              </a:p>
              <a:p>
                <a:pPr lvl="1"/>
                <a:r>
                  <a:rPr lang="en-US" altLang="zh-CN" sz="1600" dirty="0"/>
                  <a:t>b. </a:t>
                </a:r>
                <a:r>
                  <a:rPr lang="zh-CN" altLang="en-US" sz="1600" dirty="0"/>
                  <a:t>针对连接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 </a:t>
                </a:r>
              </a:p>
              <a:p>
                <a:pPr lvl="2"/>
                <a:r>
                  <a:rPr lang="zh-CN" altLang="en-US" sz="1400" dirty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400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400" dirty="0"/>
                  <a:t>出现在连接条件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400" dirty="0"/>
                  <a:t>中但不在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/>
                  <a:t>中的属性</a:t>
                </a:r>
                <a:endParaRPr lang="en-US" altLang="zh-CN" sz="1400" dirty="0"/>
              </a:p>
              <a:p>
                <a:pPr lvl="2"/>
                <a:r>
                  <a:rPr lang="zh-CN" altLang="en-US" sz="1400" dirty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1400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/>
                  <a:t>出现在连接条件</a:t>
                </a:r>
                <a14:m>
                  <m:oMath xmlns:m="http://schemas.openxmlformats.org/officeDocument/2006/math">
                    <m:r>
                      <a:rPr lang="zh-CN" altLang="en-US" sz="1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400" dirty="0"/>
                  <a:t>中但不在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/>
                  <a:t>中的属性</a:t>
                </a:r>
                <a:endParaRPr lang="en-US" altLang="zh-CN" sz="1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43D82A-4602-4602-A758-97DB0765A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71550"/>
                <a:ext cx="8496944" cy="3805070"/>
              </a:xfrm>
              <a:blipFill>
                <a:blip r:embed="rId3"/>
                <a:stretch>
                  <a:fillRect l="-430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3">
            <a:extLst>
              <a:ext uri="{FF2B5EF4-FFF2-40B4-BE49-F238E27FC236}">
                <a16:creationId xmlns:a16="http://schemas.microsoft.com/office/drawing/2014/main" id="{6677157B-0407-4E52-B111-DEEE367401ED}"/>
              </a:ext>
            </a:extLst>
          </p:cNvPr>
          <p:cNvGrpSpPr>
            <a:grpSpLocks/>
          </p:cNvGrpSpPr>
          <p:nvPr/>
        </p:nvGrpSpPr>
        <p:grpSpPr bwMode="auto">
          <a:xfrm>
            <a:off x="1403648" y="1851670"/>
            <a:ext cx="3456384" cy="432048"/>
            <a:chOff x="1521" y="1623"/>
            <a:chExt cx="2913" cy="316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53CCC108-2DBA-4870-AF2F-E358CD4D59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1563840"/>
                </p:ext>
              </p:extLst>
            </p:nvPr>
          </p:nvGraphicFramePr>
          <p:xfrm>
            <a:off x="1521" y="1623"/>
            <a:ext cx="2913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76" name="Equation" r:id="rId4" imgW="2578100" imgH="279400" progId="Equation.DSMT4">
                    <p:embed/>
                  </p:oleObj>
                </mc:Choice>
                <mc:Fallback>
                  <p:oleObj name="Equation" r:id="rId4" imgW="2578100" imgH="279400" progId="Equation.DSMT4">
                    <p:embed/>
                    <p:pic>
                      <p:nvPicPr>
                        <p:cNvPr id="15373" name="Object 4">
                          <a:extLst>
                            <a:ext uri="{FF2B5EF4-FFF2-40B4-BE49-F238E27FC236}">
                              <a16:creationId xmlns:a16="http://schemas.microsoft.com/office/drawing/2014/main" id="{3585F961-33FC-487D-A39D-75E8F8504A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1" y="1623"/>
                          <a:ext cx="2913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AutoShape 7">
              <a:extLst>
                <a:ext uri="{FF2B5EF4-FFF2-40B4-BE49-F238E27FC236}">
                  <a16:creationId xmlns:a16="http://schemas.microsoft.com/office/drawing/2014/main" id="{4996EBE1-E472-410B-B46F-C676C987A3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18" y="1699"/>
              <a:ext cx="119" cy="109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defTabSz="685800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zh-CN" altLang="en-US" sz="1350" i="1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05A16700-7C7A-48E2-B121-2F500ADC60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97" y="1700"/>
              <a:ext cx="119" cy="109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defTabSz="685800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zh-CN" altLang="en-US" sz="1350" i="1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</p:grpSp>
      <p:grpSp>
        <p:nvGrpSpPr>
          <p:cNvPr id="8" name="Group 11">
            <a:extLst>
              <a:ext uri="{FF2B5EF4-FFF2-40B4-BE49-F238E27FC236}">
                <a16:creationId xmlns:a16="http://schemas.microsoft.com/office/drawing/2014/main" id="{C83FDA0C-10D9-475A-B64B-29235FFC2270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3588668"/>
            <a:ext cx="4439841" cy="351234"/>
            <a:chOff x="1340" y="2968"/>
            <a:chExt cx="3729" cy="295"/>
          </a:xfrm>
        </p:grpSpPr>
        <p:graphicFrame>
          <p:nvGraphicFramePr>
            <p:cNvPr id="9" name="Object 5">
              <a:extLst>
                <a:ext uri="{FF2B5EF4-FFF2-40B4-BE49-F238E27FC236}">
                  <a16:creationId xmlns:a16="http://schemas.microsoft.com/office/drawing/2014/main" id="{3336433A-161E-47B9-9F7F-32D74F5ECB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4364372"/>
                </p:ext>
              </p:extLst>
            </p:nvPr>
          </p:nvGraphicFramePr>
          <p:xfrm>
            <a:off x="1340" y="2968"/>
            <a:ext cx="3729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77" name="Equation" r:id="rId6" imgW="3505200" imgH="279400" progId="Equation.DSMT4">
                    <p:embed/>
                  </p:oleObj>
                </mc:Choice>
                <mc:Fallback>
                  <p:oleObj name="Equation" r:id="rId6" imgW="3505200" imgH="279400" progId="Equation.DSMT4">
                    <p:embed/>
                    <p:pic>
                      <p:nvPicPr>
                        <p:cNvPr id="15370" name="Object 5">
                          <a:extLst>
                            <a:ext uri="{FF2B5EF4-FFF2-40B4-BE49-F238E27FC236}">
                              <a16:creationId xmlns:a16="http://schemas.microsoft.com/office/drawing/2014/main" id="{7306C1E4-F076-4B8A-B524-E972B25B1D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0" y="2968"/>
                          <a:ext cx="3729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4423124B-F285-4F92-A528-266CF76C7F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948" y="3026"/>
              <a:ext cx="119" cy="109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defTabSz="685800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zh-CN" altLang="en-US" sz="1350" i="1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2E0D78E4-4DB1-429F-B892-13DF0126D0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12" y="3026"/>
              <a:ext cx="119" cy="109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defTabSz="685800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zh-CN" altLang="en-US" sz="1350" i="1" dirty="0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40524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D7B4C-01C0-43F9-8B70-EE7B206AF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Equivalence Rules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1F6401F-091A-403B-B874-7140B67B5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843557"/>
                <a:ext cx="8568952" cy="3630727"/>
              </a:xfrm>
            </p:spPr>
            <p:txBody>
              <a:bodyPr/>
              <a:lstStyle/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9</a:t>
                </a:r>
                <a:r>
                  <a:rPr lang="zh-CN" altLang="en-US" sz="1800" dirty="0"/>
                  <a:t>：集合的并和交满足交换律</a:t>
                </a:r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  <a:p>
                <a:pPr marL="457200" lvl="1" indent="0">
                  <a:buNone/>
                </a:pPr>
                <a:r>
                  <a:rPr lang="en-US" altLang="zh-CN" sz="1400" dirty="0"/>
                  <a:t>(set difference is not commutative)</a:t>
                </a:r>
              </a:p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10</a:t>
                </a:r>
                <a:r>
                  <a:rPr lang="zh-CN" altLang="en-US" sz="1800" dirty="0"/>
                  <a:t>：集合的并和交满足结合律</a:t>
                </a:r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11</a:t>
                </a:r>
                <a:r>
                  <a:rPr lang="zh-CN" altLang="en-US" sz="1800" dirty="0"/>
                  <a:t>：选择操作对并、交、差满足分配率</a:t>
                </a:r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200" dirty="0"/>
                  <a:t>similarly for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sz="12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US" altLang="zh-CN" sz="1200" dirty="0"/>
                  <a:t>in place of  –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200" dirty="0"/>
                  <a:t>similarly for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zh-CN" sz="1200" dirty="0"/>
                  <a:t> in place of  –, </a:t>
                </a:r>
                <a:r>
                  <a:rPr lang="en-US" altLang="zh-CN" sz="1200" b="1" dirty="0">
                    <a:solidFill>
                      <a:srgbClr val="C00000"/>
                    </a:solidFill>
                  </a:rPr>
                  <a:t>but not for 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zh-CN" altLang="en-US" sz="1200" b="1" dirty="0">
                    <a:solidFill>
                      <a:srgbClr val="C00000"/>
                    </a:solidFill>
                  </a:rPr>
                  <a:t>？</a:t>
                </a:r>
                <a:endParaRPr lang="en-US" altLang="zh-CN" sz="1200" b="1" dirty="0">
                  <a:solidFill>
                    <a:srgbClr val="C00000"/>
                  </a:solidFill>
                </a:endParaRPr>
              </a:p>
              <a:p>
                <a:r>
                  <a:rPr lang="zh-CN" altLang="en-US" sz="1800" b="1" dirty="0"/>
                  <a:t>规则</a:t>
                </a:r>
                <a:r>
                  <a:rPr lang="en-US" altLang="zh-CN" sz="1800" b="1" dirty="0"/>
                  <a:t>12</a:t>
                </a:r>
                <a:r>
                  <a:rPr lang="zh-CN" altLang="en-US" sz="1800" dirty="0"/>
                  <a:t>：投影对并的分配律</a:t>
                </a:r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1F6401F-091A-403B-B874-7140B67B5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843557"/>
                <a:ext cx="8568952" cy="3630727"/>
              </a:xfrm>
              <a:blipFill>
                <a:blip r:embed="rId2"/>
                <a:stretch>
                  <a:fillRect l="-427" t="-839" b="-7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51563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8FD518-C930-4C89-A20B-AA877F59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1: Pushing Selections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03E92-6BA8-45C1-BAB8-6C7AC880B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1800" dirty="0"/>
              <a:t>Find the names of all instructors in Music department, along with the titles of the courses that they teach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en-US" sz="1600" dirty="0">
                <a:sym typeface="Symbol" panose="05050102010706020507" pitchFamily="18" charset="2"/>
              </a:rPr>
              <a:t></a:t>
            </a:r>
            <a:r>
              <a:rPr lang="en-US" altLang="en-US" sz="16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1600" dirty="0">
                <a:sym typeface="Symbol" panose="05050102010706020507" pitchFamily="18" charset="2"/>
              </a:rPr>
              <a:t>(</a:t>
            </a:r>
            <a:r>
              <a:rPr lang="en-US" altLang="en-US" sz="16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600" i="1" baseline="-25000" dirty="0">
                <a:sym typeface="Symbol" panose="05050102010706020507" pitchFamily="18" charset="2"/>
              </a:rPr>
              <a:t>= </a:t>
            </a:r>
            <a:r>
              <a:rPr lang="en-IN" altLang="ja-JP" sz="1600" i="1" baseline="-25000" dirty="0">
                <a:sym typeface="Symbol" panose="05050102010706020507" pitchFamily="18" charset="2"/>
              </a:rPr>
              <a:t>‘</a:t>
            </a:r>
            <a:r>
              <a:rPr lang="en-US" altLang="ja-JP" sz="16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1600" baseline="-25000" dirty="0">
                <a:sym typeface="Symbol" panose="05050102010706020507" pitchFamily="18" charset="2"/>
              </a:rPr>
              <a:t>’</a:t>
            </a:r>
            <a:r>
              <a:rPr lang="en-US" altLang="ja-JP" sz="1600" dirty="0">
                <a:sym typeface="Symbol" panose="05050102010706020507" pitchFamily="18" charset="2"/>
              </a:rPr>
              <a:t>(</a:t>
            </a:r>
            <a:r>
              <a:rPr lang="en-US" altLang="ja-JP" sz="1600" i="1" dirty="0">
                <a:sym typeface="Symbol" panose="05050102010706020507" pitchFamily="18" charset="2"/>
              </a:rPr>
              <a:t>instructor </a:t>
            </a:r>
            <a:r>
              <a:rPr lang="en-IN" altLang="en-US" sz="1600" dirty="0">
                <a:ea typeface="MS PGothic" panose="020B0600070205080204" pitchFamily="34" charset="-128"/>
              </a:rPr>
              <a:t>⨝</a:t>
            </a:r>
            <a:r>
              <a:rPr lang="en-US" altLang="en-US" sz="1600" i="1" dirty="0">
                <a:ea typeface="MS PGothic" panose="020B0600070205080204" pitchFamily="34" charset="-128"/>
              </a:rPr>
              <a:t> </a:t>
            </a:r>
            <a:r>
              <a:rPr lang="en-US" altLang="ja-JP" sz="1600" i="1" dirty="0">
                <a:sym typeface="Symbol" panose="05050102010706020507" pitchFamily="18" charset="2"/>
              </a:rPr>
              <a:t>(teaches </a:t>
            </a:r>
            <a:r>
              <a:rPr lang="en-IN" altLang="en-US" sz="1600" dirty="0">
                <a:ea typeface="MS PGothic" panose="020B0600070205080204" pitchFamily="34" charset="-128"/>
              </a:rPr>
              <a:t>⨝</a:t>
            </a:r>
            <a:r>
              <a:rPr lang="en-US" altLang="ja-JP" sz="1600" i="1" dirty="0">
                <a:sym typeface="Symbol" panose="05050102010706020507" pitchFamily="18" charset="2"/>
              </a:rPr>
              <a:t> </a:t>
            </a:r>
            <a:r>
              <a:rPr lang="en-US" altLang="ja-JP" sz="1600" dirty="0">
                <a:sym typeface="Symbol" panose="05050102010706020507" pitchFamily="18" charset="2"/>
              </a:rPr>
              <a:t></a:t>
            </a:r>
            <a:r>
              <a:rPr lang="en-US" altLang="ja-JP" sz="16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16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1600" i="1" dirty="0">
                <a:sym typeface="Symbol" panose="05050102010706020507" pitchFamily="18" charset="2"/>
              </a:rPr>
              <a:t> </a:t>
            </a:r>
            <a:r>
              <a:rPr lang="en-US" altLang="ja-JP" sz="1600" dirty="0">
                <a:sym typeface="Symbol" panose="05050102010706020507" pitchFamily="18" charset="2"/>
              </a:rPr>
              <a:t>(</a:t>
            </a:r>
            <a:r>
              <a:rPr lang="en-US" altLang="ja-JP" sz="1600" i="1" dirty="0">
                <a:sym typeface="Symbol" panose="05050102010706020507" pitchFamily="18" charset="2"/>
              </a:rPr>
              <a:t>course</a:t>
            </a:r>
            <a:r>
              <a:rPr lang="en-US" altLang="ja-JP" sz="1600" dirty="0">
                <a:sym typeface="Symbol" panose="05050102010706020507" pitchFamily="18" charset="2"/>
              </a:rPr>
              <a:t>))))</a:t>
            </a:r>
          </a:p>
          <a:p>
            <a:pPr>
              <a:spcBef>
                <a:spcPts val="1200"/>
              </a:spcBef>
            </a:pPr>
            <a:r>
              <a:rPr lang="en-US" altLang="en-US" sz="1800" dirty="0">
                <a:sym typeface="Symbol" panose="05050102010706020507" pitchFamily="18" charset="2"/>
              </a:rPr>
              <a:t>Transformation using rule 7a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en-US" sz="1600" dirty="0">
                <a:sym typeface="Symbol" panose="05050102010706020507" pitchFamily="18" charset="2"/>
              </a:rPr>
              <a:t></a:t>
            </a:r>
            <a:r>
              <a:rPr lang="en-US" altLang="en-US" sz="16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1600" dirty="0">
                <a:sym typeface="Symbol" panose="05050102010706020507" pitchFamily="18" charset="2"/>
              </a:rPr>
              <a:t>((</a:t>
            </a:r>
            <a:r>
              <a:rPr lang="en-US" altLang="en-US" sz="16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600" i="1" baseline="-25000" dirty="0">
                <a:sym typeface="Symbol" panose="05050102010706020507" pitchFamily="18" charset="2"/>
              </a:rPr>
              <a:t>= </a:t>
            </a:r>
            <a:r>
              <a:rPr lang="en-IN" altLang="en-US" sz="1600" i="1" baseline="-25000" dirty="0">
                <a:sym typeface="Symbol" panose="05050102010706020507" pitchFamily="18" charset="2"/>
              </a:rPr>
              <a:t>‘</a:t>
            </a:r>
            <a:r>
              <a:rPr lang="en-US" altLang="ja-JP" sz="16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1600" baseline="-25000" dirty="0">
                <a:sym typeface="Symbol" panose="05050102010706020507" pitchFamily="18" charset="2"/>
              </a:rPr>
              <a:t>’</a:t>
            </a:r>
            <a:r>
              <a:rPr lang="en-US" altLang="ja-JP" sz="1600" dirty="0">
                <a:sym typeface="Symbol" panose="05050102010706020507" pitchFamily="18" charset="2"/>
              </a:rPr>
              <a:t>(</a:t>
            </a:r>
            <a:r>
              <a:rPr lang="en-US" altLang="ja-JP" sz="1600" i="1" dirty="0">
                <a:sym typeface="Symbol" panose="05050102010706020507" pitchFamily="18" charset="2"/>
              </a:rPr>
              <a:t>instructor</a:t>
            </a:r>
            <a:r>
              <a:rPr lang="en-US" altLang="ja-JP" sz="1600" dirty="0">
                <a:sym typeface="Symbol" panose="05050102010706020507" pitchFamily="18" charset="2"/>
              </a:rPr>
              <a:t>))</a:t>
            </a:r>
            <a:r>
              <a:rPr lang="en-IN" altLang="en-US" sz="1600" dirty="0">
                <a:ea typeface="MS PGothic" panose="020B0600070205080204" pitchFamily="34" charset="-128"/>
              </a:rPr>
              <a:t> ⨝</a:t>
            </a:r>
            <a:r>
              <a:rPr lang="en-US" altLang="ja-JP" sz="1600" i="1" dirty="0">
                <a:sym typeface="Symbol" panose="05050102010706020507" pitchFamily="18" charset="2"/>
              </a:rPr>
              <a:t> (teaches </a:t>
            </a:r>
            <a:r>
              <a:rPr lang="en-IN" altLang="en-US" sz="1600" dirty="0">
                <a:ea typeface="MS PGothic" panose="020B0600070205080204" pitchFamily="34" charset="-128"/>
              </a:rPr>
              <a:t>⨝</a:t>
            </a:r>
            <a:r>
              <a:rPr lang="en-US" altLang="ja-JP" sz="1600" i="1" dirty="0">
                <a:sym typeface="Symbol" panose="05050102010706020507" pitchFamily="18" charset="2"/>
              </a:rPr>
              <a:t> </a:t>
            </a:r>
            <a:r>
              <a:rPr lang="en-US" altLang="ja-JP" sz="1600" dirty="0">
                <a:sym typeface="Symbol" panose="05050102010706020507" pitchFamily="18" charset="2"/>
              </a:rPr>
              <a:t></a:t>
            </a:r>
            <a:r>
              <a:rPr lang="en-US" altLang="ja-JP" sz="16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16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1600" i="1" dirty="0">
                <a:sym typeface="Symbol" panose="05050102010706020507" pitchFamily="18" charset="2"/>
              </a:rPr>
              <a:t> </a:t>
            </a:r>
            <a:r>
              <a:rPr lang="en-US" altLang="ja-JP" sz="1600" dirty="0">
                <a:sym typeface="Symbol" panose="05050102010706020507" pitchFamily="18" charset="2"/>
              </a:rPr>
              <a:t>(</a:t>
            </a:r>
            <a:r>
              <a:rPr lang="en-US" altLang="ja-JP" sz="1600" i="1" dirty="0">
                <a:sym typeface="Symbol" panose="05050102010706020507" pitchFamily="18" charset="2"/>
              </a:rPr>
              <a:t>course</a:t>
            </a:r>
            <a:r>
              <a:rPr lang="en-US" altLang="ja-JP" sz="1600" dirty="0">
                <a:sym typeface="Symbol" panose="05050102010706020507" pitchFamily="18" charset="2"/>
              </a:rPr>
              <a:t>)))</a:t>
            </a:r>
          </a:p>
          <a:p>
            <a:pPr marL="0" indent="0">
              <a:spcBef>
                <a:spcPts val="1200"/>
              </a:spcBef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318108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3E55E-10DC-4857-B926-142B95EB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2: Multiple Transformations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5981CB-C9E6-4394-8054-A78A1048C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856984" cy="3805070"/>
          </a:xfrm>
        </p:spPr>
        <p:txBody>
          <a:bodyPr/>
          <a:lstStyle/>
          <a:p>
            <a:r>
              <a:rPr lang="en-US" altLang="en-US" sz="1800" dirty="0"/>
              <a:t>Find the names of all instructors in Music department who have taught a course in 2021, along with the titles of the courses that they taught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en-US" sz="1400" dirty="0">
                <a:sym typeface="Symbol" panose="05050102010706020507" pitchFamily="18" charset="2"/>
              </a:rPr>
              <a:t>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1400" dirty="0">
                <a:sym typeface="Symbol" panose="05050102010706020507" pitchFamily="18" charset="2"/>
              </a:rPr>
              <a:t>(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= </a:t>
            </a:r>
            <a:r>
              <a:rPr lang="en-IN" altLang="ja-JP" sz="1400" i="1" baseline="-25000" dirty="0">
                <a:sym typeface="Symbol" panose="05050102010706020507" pitchFamily="18" charset="2"/>
              </a:rPr>
              <a:t>"</a:t>
            </a:r>
            <a:r>
              <a:rPr lang="en-US" altLang="ja-JP" sz="14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1400" baseline="-25000" dirty="0">
                <a:sym typeface="Symbol" panose="05050102010706020507" pitchFamily="18" charset="2"/>
              </a:rPr>
              <a:t>”</a:t>
            </a:r>
            <a:r>
              <a:rPr lang="en-US" altLang="ja-JP" sz="1400" baseline="-25000" dirty="0">
                <a:sym typeface="Symbol" panose="05050102010706020507" pitchFamily="18" charset="2"/>
              </a:rPr>
              <a:t>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year</a:t>
            </a:r>
            <a:r>
              <a:rPr lang="en-US" altLang="ja-JP" sz="1400" baseline="-25000" dirty="0">
                <a:sym typeface="Symbol" panose="05050102010706020507" pitchFamily="18" charset="2"/>
              </a:rPr>
              <a:t> = 2021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instructor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en-US" sz="1400" i="1" dirty="0">
                <a:ea typeface="MS PGothic" panose="020B0600070205080204" pitchFamily="34" charset="-128"/>
              </a:rPr>
              <a:t> </a:t>
            </a:r>
            <a:r>
              <a:rPr lang="en-US" altLang="ja-JP" sz="1400" i="1" dirty="0">
                <a:sym typeface="Symbol" panose="05050102010706020507" pitchFamily="18" charset="2"/>
              </a:rPr>
              <a:t>(teaches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en-US" sz="1400" i="1" dirty="0">
                <a:ea typeface="MS PGothic" panose="020B0600070205080204" pitchFamily="34" charset="-128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</a:t>
            </a:r>
            <a:r>
              <a:rPr lang="en-US" altLang="ja-JP" sz="14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1400" i="1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course</a:t>
            </a:r>
            <a:r>
              <a:rPr lang="en-US" altLang="ja-JP" sz="1400" dirty="0">
                <a:sym typeface="Symbol" panose="05050102010706020507" pitchFamily="18" charset="2"/>
              </a:rPr>
              <a:t>))))</a:t>
            </a:r>
            <a:endParaRPr lang="en-US" altLang="ja-JP" sz="1400" dirty="0"/>
          </a:p>
          <a:p>
            <a:r>
              <a:rPr lang="en-US" altLang="en-US" sz="1800" dirty="0">
                <a:sym typeface="Symbol" panose="05050102010706020507" pitchFamily="18" charset="2"/>
              </a:rPr>
              <a:t>Rule 6a: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1400" dirty="0">
                <a:sym typeface="Symbol" panose="05050102010706020507" pitchFamily="18" charset="2"/>
              </a:rPr>
              <a:t>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1400" dirty="0">
                <a:sym typeface="Symbol" panose="05050102010706020507" pitchFamily="18" charset="2"/>
              </a:rPr>
              <a:t>(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= </a:t>
            </a:r>
            <a:r>
              <a:rPr lang="en-IN" altLang="en-US" sz="1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4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1400" baseline="-25000" dirty="0">
                <a:sym typeface="Symbol" panose="05050102010706020507" pitchFamily="18" charset="2"/>
              </a:rPr>
              <a:t>”</a:t>
            </a:r>
            <a:r>
              <a:rPr lang="en-US" altLang="ja-JP" sz="1400" baseline="-25000" dirty="0">
                <a:sym typeface="Symbol" panose="05050102010706020507" pitchFamily="18" charset="2"/>
              </a:rPr>
              <a:t>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year</a:t>
            </a:r>
            <a:r>
              <a:rPr lang="en-US" altLang="ja-JP" sz="1400" baseline="-25000" dirty="0">
                <a:sym typeface="Symbol" panose="05050102010706020507" pitchFamily="18" charset="2"/>
              </a:rPr>
              <a:t> = 2021</a:t>
            </a:r>
            <a:r>
              <a:rPr lang="en-US" altLang="ja-JP" sz="1400" dirty="0">
                <a:sym typeface="Symbol" panose="05050102010706020507" pitchFamily="18" charset="2"/>
              </a:rPr>
              <a:t>((</a:t>
            </a:r>
            <a:r>
              <a:rPr lang="en-US" altLang="ja-JP" sz="1400" i="1" dirty="0">
                <a:sym typeface="Symbol" panose="05050102010706020507" pitchFamily="18" charset="2"/>
              </a:rPr>
              <a:t>instructor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en-US" sz="1400" i="1" dirty="0">
                <a:ea typeface="MS PGothic" panose="020B0600070205080204" pitchFamily="34" charset="-128"/>
              </a:rPr>
              <a:t> </a:t>
            </a:r>
            <a:r>
              <a:rPr lang="en-US" altLang="ja-JP" sz="1400" i="1" dirty="0">
                <a:sym typeface="Symbol" panose="05050102010706020507" pitchFamily="18" charset="2"/>
              </a:rPr>
              <a:t>teaches)</a:t>
            </a:r>
            <a:r>
              <a:rPr lang="en-IN" altLang="en-US" sz="1400" dirty="0">
                <a:ea typeface="MS PGothic" panose="020B0600070205080204" pitchFamily="34" charset="-128"/>
              </a:rPr>
              <a:t> ⨝</a:t>
            </a:r>
            <a:r>
              <a:rPr lang="en-US" altLang="ja-JP" sz="1400" i="1" dirty="0">
                <a:sym typeface="Symbol" panose="05050102010706020507" pitchFamily="18" charset="2"/>
              </a:rPr>
              <a:t>  </a:t>
            </a:r>
            <a:r>
              <a:rPr lang="en-US" altLang="ja-JP" sz="1400" dirty="0">
                <a:sym typeface="Symbol" panose="05050102010706020507" pitchFamily="18" charset="2"/>
              </a:rPr>
              <a:t></a:t>
            </a:r>
            <a:r>
              <a:rPr lang="en-US" altLang="ja-JP" sz="14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1400" i="1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course</a:t>
            </a:r>
            <a:r>
              <a:rPr lang="en-US" altLang="ja-JP" sz="1400" dirty="0">
                <a:sym typeface="Symbol" panose="05050102010706020507" pitchFamily="18" charset="2"/>
              </a:rPr>
              <a:t>)))</a:t>
            </a:r>
          </a:p>
          <a:p>
            <a:r>
              <a:rPr lang="en-US" altLang="en-US" sz="1800" dirty="0">
                <a:sym typeface="Symbol" panose="05050102010706020507" pitchFamily="18" charset="2"/>
              </a:rPr>
              <a:t>Rule 7a:</a:t>
            </a:r>
          </a:p>
          <a:p>
            <a:pPr marL="0" indent="0">
              <a:buNone/>
            </a:pPr>
            <a:r>
              <a:rPr lang="en-US" altLang="en-US" sz="1800" dirty="0">
                <a:sym typeface="Symbol" panose="05050102010706020507" pitchFamily="18" charset="2"/>
              </a:rPr>
              <a:t>      </a:t>
            </a:r>
            <a:r>
              <a:rPr lang="en-US" altLang="en-US" sz="1400" dirty="0">
                <a:sym typeface="Symbol" panose="05050102010706020507" pitchFamily="18" charset="2"/>
              </a:rPr>
              <a:t>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1400" dirty="0">
                <a:sym typeface="Symbol" panose="05050102010706020507" pitchFamily="18" charset="2"/>
              </a:rPr>
              <a:t>((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= </a:t>
            </a:r>
            <a:r>
              <a:rPr lang="en-IN" altLang="en-US" sz="1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4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1400" baseline="-25000" dirty="0">
                <a:sym typeface="Symbol" panose="05050102010706020507" pitchFamily="18" charset="2"/>
              </a:rPr>
              <a:t>”</a:t>
            </a:r>
            <a:r>
              <a:rPr lang="en-US" altLang="ja-JP" sz="1400" baseline="-25000" dirty="0">
                <a:sym typeface="Symbol" panose="05050102010706020507" pitchFamily="18" charset="2"/>
              </a:rPr>
              <a:t>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year</a:t>
            </a:r>
            <a:r>
              <a:rPr lang="en-US" altLang="ja-JP" sz="1400" baseline="-25000" dirty="0">
                <a:sym typeface="Symbol" panose="05050102010706020507" pitchFamily="18" charset="2"/>
              </a:rPr>
              <a:t> = 2021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instructor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en-US" sz="1400" i="1" dirty="0">
                <a:ea typeface="MS PGothic" panose="020B0600070205080204" pitchFamily="34" charset="-128"/>
              </a:rPr>
              <a:t> </a:t>
            </a:r>
            <a:r>
              <a:rPr lang="en-US" altLang="ja-JP" sz="1400" i="1" dirty="0">
                <a:sym typeface="Symbol" panose="05050102010706020507" pitchFamily="18" charset="2"/>
              </a:rPr>
              <a:t>teaches))</a:t>
            </a:r>
            <a:r>
              <a:rPr lang="en-IN" altLang="en-US" sz="1400" dirty="0">
                <a:ea typeface="MS PGothic" panose="020B0600070205080204" pitchFamily="34" charset="-128"/>
              </a:rPr>
              <a:t> ⨝</a:t>
            </a:r>
            <a:r>
              <a:rPr lang="en-US" altLang="ja-JP" sz="1400" i="1" dirty="0">
                <a:sym typeface="Symbol" panose="05050102010706020507" pitchFamily="18" charset="2"/>
              </a:rPr>
              <a:t>  </a:t>
            </a:r>
            <a:r>
              <a:rPr lang="en-US" altLang="ja-JP" sz="1400" dirty="0">
                <a:sym typeface="Symbol" panose="05050102010706020507" pitchFamily="18" charset="2"/>
              </a:rPr>
              <a:t></a:t>
            </a:r>
            <a:r>
              <a:rPr lang="en-US" altLang="ja-JP" sz="14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1400" i="1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course</a:t>
            </a:r>
            <a:r>
              <a:rPr lang="en-US" altLang="ja-JP" sz="1400" dirty="0">
                <a:sym typeface="Symbol" panose="05050102010706020507" pitchFamily="18" charset="2"/>
              </a:rPr>
              <a:t>))</a:t>
            </a:r>
            <a:endParaRPr lang="en-US" altLang="ja-JP" sz="1800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sym typeface="Symbol" panose="05050102010706020507" pitchFamily="18" charset="2"/>
              </a:rPr>
              <a:t>Rule1 &amp; 7a:</a:t>
            </a:r>
          </a:p>
          <a:p>
            <a:pPr marL="0" indent="0">
              <a:buNone/>
            </a:pPr>
            <a:r>
              <a:rPr lang="en-US" altLang="en-US" sz="1400" dirty="0">
                <a:sym typeface="Symbol" panose="05050102010706020507" pitchFamily="18" charset="2"/>
              </a:rPr>
              <a:t>       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1400" dirty="0">
                <a:sym typeface="Symbol" panose="05050102010706020507" pitchFamily="18" charset="2"/>
              </a:rPr>
              <a:t>((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= </a:t>
            </a:r>
            <a:r>
              <a:rPr lang="en-IN" altLang="en-US" sz="1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4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1400" baseline="-25000" dirty="0">
                <a:sym typeface="Symbol" panose="05050102010706020507" pitchFamily="18" charset="2"/>
              </a:rPr>
              <a:t>”</a:t>
            </a:r>
            <a:r>
              <a:rPr lang="en-US" altLang="ja-JP" sz="1400" baseline="-25000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instructor)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en-US" sz="1400" i="1" dirty="0">
                <a:ea typeface="MS PGothic" panose="020B0600070205080204" pitchFamily="34" charset="-128"/>
              </a:rPr>
              <a:t> </a:t>
            </a:r>
            <a:r>
              <a:rPr lang="en-US" altLang="en-US" sz="1400" dirty="0">
                <a:sym typeface="Symbol" panose="05050102010706020507" pitchFamily="18" charset="2"/>
              </a:rPr>
              <a:t>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year</a:t>
            </a:r>
            <a:r>
              <a:rPr lang="en-US" altLang="ja-JP" sz="1400" baseline="-25000" dirty="0">
                <a:sym typeface="Symbol" panose="05050102010706020507" pitchFamily="18" charset="2"/>
              </a:rPr>
              <a:t> = 2021 </a:t>
            </a:r>
            <a:r>
              <a:rPr lang="en-US" altLang="ja-JP" sz="1400" i="1" dirty="0">
                <a:sym typeface="Symbol" panose="05050102010706020507" pitchFamily="18" charset="2"/>
              </a:rPr>
              <a:t>(teaches))</a:t>
            </a:r>
            <a:r>
              <a:rPr lang="en-IN" altLang="en-US" sz="1400" dirty="0">
                <a:ea typeface="MS PGothic" panose="020B0600070205080204" pitchFamily="34" charset="-128"/>
              </a:rPr>
              <a:t> ⨝</a:t>
            </a:r>
            <a:r>
              <a:rPr lang="en-US" altLang="ja-JP" sz="1400" i="1" dirty="0">
                <a:sym typeface="Symbol" panose="05050102010706020507" pitchFamily="18" charset="2"/>
              </a:rPr>
              <a:t>  </a:t>
            </a:r>
            <a:r>
              <a:rPr lang="en-US" altLang="ja-JP" sz="1400" dirty="0">
                <a:sym typeface="Symbol" panose="05050102010706020507" pitchFamily="18" charset="2"/>
              </a:rPr>
              <a:t></a:t>
            </a:r>
            <a:r>
              <a:rPr lang="en-US" altLang="ja-JP" sz="14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1400" i="1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course</a:t>
            </a:r>
            <a:r>
              <a:rPr lang="en-US" altLang="ja-JP" sz="1400" dirty="0">
                <a:sym typeface="Symbol" panose="05050102010706020507" pitchFamily="18" charset="2"/>
              </a:rPr>
              <a:t>))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18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50130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C88BE-79C6-4894-8442-A4FCD699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2: Multiple Transformations</a:t>
            </a:r>
            <a:endParaRPr lang="zh-CN" altLang="en-US" dirty="0"/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19607A98-A66E-4BBD-88DC-0EBBA006E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584" y="1059582"/>
            <a:ext cx="7291109" cy="319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6624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92686-502B-4D9B-8A9E-AADC4C3E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Exercise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ECA867-5E9B-4E55-9634-F4BE72F978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712968" cy="3805070"/>
              </a:xfrm>
            </p:spPr>
            <p:txBody>
              <a:bodyPr/>
              <a:lstStyle/>
              <a:p>
                <a:r>
                  <a:rPr lang="en-US" altLang="zh-CN" sz="1800" b="1" dirty="0"/>
                  <a:t>Query:</a:t>
                </a:r>
                <a:r>
                  <a:rPr lang="en-US" altLang="zh-CN" sz="1800" dirty="0"/>
                  <a:t> Find the names of all the customers who have an account with balance over $1000 at the Brooklyn branch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=“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𝐵𝑟𝑜𝑜𝑘𝑙𝑦𝑛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”∧ 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𝑏𝑎𝑙𝑎𝑛𝑐𝑒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&gt;1000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𝑏𝑟𝑎𝑛𝑐h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𝑎𝑐𝑐𝑜𝑢𝑛𝑡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𝑑𝑒𝑝𝑜𝑠𝑖𝑡𝑜𝑟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400" dirty="0"/>
              </a:p>
              <a:p>
                <a:pPr lvl="1"/>
                <a:r>
                  <a:rPr lang="en-US" altLang="zh-CN" sz="1400" dirty="0"/>
                  <a:t>CN:</a:t>
                </a:r>
                <a:r>
                  <a:rPr lang="zh-CN" altLang="en-US" sz="1400" dirty="0"/>
                  <a:t> </a:t>
                </a:r>
                <a:r>
                  <a:rPr lang="en-US" altLang="zh-CN" sz="1400" dirty="0"/>
                  <a:t>customer name, BC: branch city</a:t>
                </a:r>
              </a:p>
              <a:p>
                <a:r>
                  <a:rPr lang="en-US" altLang="zh-CN" sz="1800" b="1" dirty="0"/>
                  <a:t>Task</a:t>
                </a:r>
                <a:r>
                  <a:rPr lang="en-US" altLang="zh-CN" sz="1800" dirty="0"/>
                  <a:t>: Give one equivalent expression with better execution performance</a:t>
                </a:r>
              </a:p>
              <a:p>
                <a:r>
                  <a:rPr lang="en-US" altLang="zh-CN" sz="1800" dirty="0"/>
                  <a:t>One solution:</a:t>
                </a:r>
              </a:p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𝐶𝑁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𝐵𝑟𝑜𝑜𝑘𝑙𝑦𝑛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"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𝑏𝑟𝑎𝑛𝑐h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𝑏𝑎𝑙𝑎𝑛𝑐𝑒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&gt;1000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𝑎𝑐𝑐𝑜𝑢𝑛𝑡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𝑑𝑒𝑝𝑜𝑠𝑖𝑡𝑜𝑟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 </a:t>
                </a:r>
              </a:p>
              <a:p>
                <a:pPr marL="0" indent="0">
                  <a:buNone/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ECA867-5E9B-4E55-9634-F4BE72F97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712968" cy="3805070"/>
              </a:xfrm>
              <a:blipFill>
                <a:blip r:embed="rId2"/>
                <a:stretch>
                  <a:fillRect l="-420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>
            <a:extLst>
              <a:ext uri="{FF2B5EF4-FFF2-40B4-BE49-F238E27FC236}">
                <a16:creationId xmlns:a16="http://schemas.microsoft.com/office/drawing/2014/main" id="{1E9924C0-2E87-42C1-BA33-8FA7FDBE9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" t="22629" r="650" b="22629"/>
          <a:stretch>
            <a:fillRect/>
          </a:stretch>
        </p:blipFill>
        <p:spPr bwMode="auto">
          <a:xfrm>
            <a:off x="2493580" y="3147814"/>
            <a:ext cx="4228848" cy="187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31248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6F3BC-B60B-4033-A18D-C3149A0C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Join Ordering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4895059-FFCD-4FF7-9185-62EB9186B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dirty="0"/>
                  <a:t>For three relations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⋈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⋈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⋈(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⋈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/>
              </a:p>
              <a:p>
                <a:r>
                  <a:rPr lang="en-US" altLang="zh-CN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/>
                  <a:t> is quite large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/>
                  <a:t> is small, we choose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⋈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⋈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     so that we can compute and store a smaller temporary relation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4895059-FFCD-4FF7-9185-62EB9186B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03722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B578D-DA78-4D31-B62F-F2997805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Join Ordering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7217C9-D81C-452D-9BA7-87D6E067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892480" cy="3805070"/>
          </a:xfrm>
        </p:spPr>
        <p:txBody>
          <a:bodyPr/>
          <a:lstStyle/>
          <a:p>
            <a:pPr>
              <a:tabLst>
                <a:tab pos="1198563" algn="l"/>
              </a:tabLst>
            </a:pPr>
            <a:r>
              <a:rPr lang="en-US" altLang="en-US" sz="1800" dirty="0"/>
              <a:t>Consider the expression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r>
              <a:rPr lang="en-US" altLang="en-US" sz="1400" dirty="0"/>
              <a:t>	</a:t>
            </a:r>
            <a:r>
              <a:rPr lang="en-US" altLang="en-US" sz="1400" dirty="0">
                <a:sym typeface="Symbol" panose="05050102010706020507" pitchFamily="18" charset="2"/>
              </a:rPr>
              <a:t>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1400" dirty="0">
                <a:sym typeface="Symbol" panose="05050102010706020507" pitchFamily="18" charset="2"/>
              </a:rPr>
              <a:t>(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= </a:t>
            </a:r>
            <a:r>
              <a:rPr lang="ja-JP" altLang="en-US" sz="1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400" baseline="-25000" dirty="0">
                <a:sym typeface="Symbol" panose="05050102010706020507" pitchFamily="18" charset="2"/>
              </a:rPr>
              <a:t>Music</a:t>
            </a:r>
            <a:r>
              <a:rPr lang="ja-JP" altLang="en-US" sz="1400" baseline="-25000" dirty="0">
                <a:sym typeface="Symbol" panose="05050102010706020507" pitchFamily="18" charset="2"/>
              </a:rPr>
              <a:t>”</a:t>
            </a:r>
            <a:r>
              <a:rPr lang="en-US" altLang="ja-JP" sz="1400" baseline="-25000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instructor)</a:t>
            </a:r>
            <a:r>
              <a:rPr lang="en-IN" altLang="en-US" sz="1400" dirty="0">
                <a:ea typeface="MS PGothic" panose="020B0600070205080204" pitchFamily="34" charset="-128"/>
              </a:rPr>
              <a:t> ⨝</a:t>
            </a:r>
            <a:r>
              <a:rPr lang="en-US" altLang="ja-JP" sz="1400" i="1" dirty="0">
                <a:sym typeface="Symbol" panose="05050102010706020507" pitchFamily="18" charset="2"/>
              </a:rPr>
              <a:t> teaches</a:t>
            </a:r>
            <a:r>
              <a:rPr lang="en-US" altLang="ja-JP" sz="1400" dirty="0">
                <a:sym typeface="Symbol" panose="05050102010706020507" pitchFamily="18" charset="2"/>
              </a:rPr>
              <a:t>)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ja-JP" sz="1400" i="1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</a:t>
            </a:r>
            <a:r>
              <a:rPr lang="en-US" altLang="ja-JP" sz="14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14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1400" i="1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course</a:t>
            </a:r>
            <a:r>
              <a:rPr lang="en-US" altLang="ja-JP" sz="1400" dirty="0">
                <a:sym typeface="Symbol" panose="05050102010706020507" pitchFamily="18" charset="2"/>
              </a:rPr>
              <a:t>))))</a:t>
            </a:r>
          </a:p>
          <a:p>
            <a:pPr>
              <a:tabLst>
                <a:tab pos="1198563" algn="l"/>
              </a:tabLst>
            </a:pPr>
            <a:endParaRPr lang="en-US" altLang="en-US" sz="1800" dirty="0"/>
          </a:p>
          <a:p>
            <a:pPr>
              <a:tabLst>
                <a:tab pos="1198563" algn="l"/>
              </a:tabLst>
            </a:pPr>
            <a:r>
              <a:rPr lang="en-US" altLang="en-US" sz="1800" b="1" dirty="0"/>
              <a:t>Solution A</a:t>
            </a:r>
          </a:p>
          <a:p>
            <a:pPr lvl="1">
              <a:tabLst>
                <a:tab pos="1198563" algn="l"/>
              </a:tabLst>
            </a:pPr>
            <a:r>
              <a:rPr lang="en-US" altLang="en-US" sz="1400" dirty="0"/>
              <a:t>compute </a:t>
            </a:r>
            <a:r>
              <a:rPr lang="en-US" altLang="en-US" sz="1400" i="1" dirty="0"/>
              <a:t>teaches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en-US" sz="1400" i="1" dirty="0"/>
              <a:t> </a:t>
            </a:r>
            <a:r>
              <a:rPr lang="en-US" altLang="en-US" sz="1400" dirty="0">
                <a:sym typeface="Symbol" panose="05050102010706020507" pitchFamily="18" charset="2"/>
              </a:rPr>
              <a:t>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, title</a:t>
            </a:r>
            <a:r>
              <a:rPr lang="en-US" altLang="en-US" sz="1400" i="1" dirty="0">
                <a:sym typeface="Symbol" panose="05050102010706020507" pitchFamily="18" charset="2"/>
              </a:rPr>
              <a:t> </a:t>
            </a:r>
            <a:r>
              <a:rPr lang="en-US" altLang="en-US" sz="1400" dirty="0">
                <a:sym typeface="Symbol" panose="05050102010706020507" pitchFamily="18" charset="2"/>
              </a:rPr>
              <a:t>(</a:t>
            </a:r>
            <a:r>
              <a:rPr lang="en-US" altLang="en-US" sz="1400" i="1" dirty="0">
                <a:sym typeface="Symbol" panose="05050102010706020507" pitchFamily="18" charset="2"/>
              </a:rPr>
              <a:t>course</a:t>
            </a:r>
            <a:r>
              <a:rPr lang="en-US" altLang="en-US" sz="1400" dirty="0">
                <a:sym typeface="Symbol" panose="05050102010706020507" pitchFamily="18" charset="2"/>
              </a:rPr>
              <a:t>)</a:t>
            </a:r>
            <a:r>
              <a:rPr lang="en-US" altLang="en-US" sz="1400" i="1" dirty="0"/>
              <a:t> </a:t>
            </a:r>
            <a:r>
              <a:rPr lang="en-US" altLang="en-US" sz="1400" dirty="0"/>
              <a:t>first, and join the result with </a:t>
            </a:r>
            <a:r>
              <a:rPr lang="en-US" altLang="en-US" sz="1400" dirty="0">
                <a:sym typeface="Symbol" panose="05050102010706020507" pitchFamily="18" charset="2"/>
              </a:rPr>
              <a:t>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= </a:t>
            </a:r>
            <a:r>
              <a:rPr lang="ja-JP" altLang="en-US" sz="1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400" baseline="-25000" dirty="0">
                <a:sym typeface="Symbol" panose="05050102010706020507" pitchFamily="18" charset="2"/>
              </a:rPr>
              <a:t>Music</a:t>
            </a:r>
            <a:r>
              <a:rPr lang="ja-JP" altLang="en-US" sz="1400" baseline="-25000" dirty="0">
                <a:sym typeface="Symbol" panose="05050102010706020507" pitchFamily="18" charset="2"/>
              </a:rPr>
              <a:t>”</a:t>
            </a:r>
            <a:r>
              <a:rPr lang="en-US" altLang="ja-JP" sz="1400" baseline="-25000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instructor</a:t>
            </a:r>
            <a:r>
              <a:rPr lang="en-US" altLang="ja-JP" sz="1400" dirty="0">
                <a:sym typeface="Symbol" panose="05050102010706020507" pitchFamily="18" charset="2"/>
              </a:rPr>
              <a:t>)</a:t>
            </a:r>
            <a:r>
              <a:rPr lang="en-US" altLang="ja-JP" sz="1400" i="1" dirty="0">
                <a:sym typeface="Symbol" panose="05050102010706020507" pitchFamily="18" charset="2"/>
              </a:rPr>
              <a:t> </a:t>
            </a:r>
          </a:p>
          <a:p>
            <a:pPr lvl="1">
              <a:tabLst>
                <a:tab pos="1198563" algn="l"/>
              </a:tabLst>
            </a:pPr>
            <a:r>
              <a:rPr lang="en-US" altLang="ja-JP" sz="1400" dirty="0">
                <a:sym typeface="Symbol" panose="05050102010706020507" pitchFamily="18" charset="2"/>
              </a:rPr>
              <a:t>the result of the first join</a:t>
            </a:r>
            <a:r>
              <a:rPr lang="en-US" altLang="ja-JP" sz="1400" i="1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is likely to be a large relation</a:t>
            </a:r>
          </a:p>
          <a:p>
            <a:pPr>
              <a:tabLst>
                <a:tab pos="1198563" algn="l"/>
              </a:tabLst>
            </a:pPr>
            <a:r>
              <a:rPr lang="en-US" altLang="en-US" sz="1800" b="1" dirty="0">
                <a:sym typeface="Symbol" panose="05050102010706020507" pitchFamily="18" charset="2"/>
              </a:rPr>
              <a:t>Solution B</a:t>
            </a:r>
          </a:p>
          <a:p>
            <a:pPr lvl="1">
              <a:tabLst>
                <a:tab pos="1198563" algn="l"/>
              </a:tabLst>
            </a:pPr>
            <a:r>
              <a:rPr lang="en-US" altLang="en-US" sz="1400" dirty="0">
                <a:sym typeface="Symbol" panose="05050102010706020507" pitchFamily="18" charset="2"/>
              </a:rPr>
              <a:t>compute</a:t>
            </a:r>
            <a:r>
              <a:rPr lang="en-US" altLang="en-US" sz="1400" dirty="0"/>
              <a:t> </a:t>
            </a:r>
            <a:r>
              <a:rPr lang="en-US" altLang="en-US" sz="1400" dirty="0">
                <a:sym typeface="Symbol" panose="05050102010706020507" pitchFamily="18" charset="2"/>
              </a:rPr>
              <a:t>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400" i="1" baseline="-25000" dirty="0">
                <a:sym typeface="Symbol" panose="05050102010706020507" pitchFamily="18" charset="2"/>
              </a:rPr>
              <a:t>= </a:t>
            </a:r>
            <a:r>
              <a:rPr lang="ja-JP" altLang="en-US" sz="1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400" baseline="-25000" dirty="0">
                <a:sym typeface="Symbol" panose="05050102010706020507" pitchFamily="18" charset="2"/>
              </a:rPr>
              <a:t>Music</a:t>
            </a:r>
            <a:r>
              <a:rPr lang="ja-JP" altLang="en-US" sz="1400" baseline="-25000" dirty="0">
                <a:sym typeface="Symbol" panose="05050102010706020507" pitchFamily="18" charset="2"/>
              </a:rPr>
              <a:t>”</a:t>
            </a:r>
            <a:r>
              <a:rPr lang="en-US" altLang="ja-JP" sz="1400" baseline="-25000" dirty="0">
                <a:sym typeface="Symbol" panose="05050102010706020507" pitchFamily="18" charset="2"/>
              </a:rPr>
              <a:t> </a:t>
            </a:r>
            <a:r>
              <a:rPr lang="en-US" altLang="ja-JP" sz="1400" dirty="0">
                <a:sym typeface="Symbol" panose="05050102010706020507" pitchFamily="18" charset="2"/>
              </a:rPr>
              <a:t>(</a:t>
            </a:r>
            <a:r>
              <a:rPr lang="en-US" altLang="ja-JP" sz="1400" i="1" dirty="0">
                <a:sym typeface="Symbol" panose="05050102010706020507" pitchFamily="18" charset="2"/>
              </a:rPr>
              <a:t>instructor) </a:t>
            </a:r>
            <a:r>
              <a:rPr lang="en-IN" altLang="en-US" sz="1400" dirty="0">
                <a:ea typeface="MS PGothic" panose="020B0600070205080204" pitchFamily="34" charset="-128"/>
              </a:rPr>
              <a:t>⨝</a:t>
            </a:r>
            <a:r>
              <a:rPr lang="en-US" altLang="ja-JP" sz="1400" i="1" dirty="0">
                <a:sym typeface="Symbol" panose="05050102010706020507" pitchFamily="18" charset="2"/>
              </a:rPr>
              <a:t> teaches </a:t>
            </a:r>
            <a:r>
              <a:rPr lang="en-US" altLang="en-US" sz="1400" dirty="0">
                <a:sym typeface="Symbol" panose="05050102010706020507" pitchFamily="18" charset="2"/>
              </a:rPr>
              <a:t>first</a:t>
            </a:r>
          </a:p>
          <a:p>
            <a:pPr lvl="1">
              <a:tabLst>
                <a:tab pos="1198563" algn="l"/>
              </a:tabLst>
            </a:pPr>
            <a:r>
              <a:rPr lang="en-US" altLang="zh-CN" sz="1400" dirty="0">
                <a:sym typeface="Symbol" panose="05050102010706020507" pitchFamily="18" charset="2"/>
              </a:rPr>
              <a:t>o</a:t>
            </a:r>
            <a:r>
              <a:rPr lang="en-US" altLang="en-US" sz="1400" dirty="0">
                <a:sym typeface="Symbol" panose="05050102010706020507" pitchFamily="18" charset="2"/>
              </a:rPr>
              <a:t>nly a small fraction of </a:t>
            </a:r>
            <a:r>
              <a:rPr lang="en-US" altLang="ja-JP" sz="1400" dirty="0">
                <a:sym typeface="Symbol" panose="05050102010706020507" pitchFamily="18" charset="2"/>
              </a:rPr>
              <a:t>instructors are likely to be from the Music department</a:t>
            </a:r>
          </a:p>
          <a:p>
            <a:pPr marL="457200" lvl="1" indent="0">
              <a:buNone/>
              <a:tabLst>
                <a:tab pos="1198563" algn="l"/>
              </a:tabLst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656831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059582"/>
            <a:ext cx="8568952" cy="358904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dirty="0"/>
              <a:t>概述</a:t>
            </a:r>
            <a:r>
              <a:rPr lang="en-US" altLang="zh-CN" dirty="0"/>
              <a:t> 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关系表达式的转换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表达式执行代价估计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/>
              <a:t>执行计划选择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物化视图*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查询优化中的高级话题*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769835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C7AE3-79A2-4B82-A4AA-89804E7A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Statistical Information for Relation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5A0E9F-D6E4-44BC-9295-DF8B9AAB36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2000" b="1" dirty="0">
                    <a:latin typeface="Cambria Math" panose="02040503050406030204" pitchFamily="18" charset="0"/>
                  </a:rPr>
                  <a:t>关系</a:t>
                </a:r>
                <a:r>
                  <a:rPr lang="en-US" altLang="zh-CN" sz="2000" b="1" dirty="0">
                    <a:latin typeface="Cambria Math" panose="02040503050406030204" pitchFamily="18" charset="0"/>
                  </a:rPr>
                  <a:t>(</a:t>
                </a:r>
                <a:r>
                  <a:rPr lang="zh-CN" altLang="en-US" sz="2000" b="1" dirty="0">
                    <a:latin typeface="Cambria Math" panose="02040503050406030204" pitchFamily="18" charset="0"/>
                  </a:rPr>
                  <a:t>表</a:t>
                </a:r>
                <a:r>
                  <a:rPr lang="en-US" altLang="zh-CN" sz="2000" b="1" dirty="0">
                    <a:latin typeface="Cambria Math" panose="02040503050406030204" pitchFamily="18" charset="0"/>
                  </a:rPr>
                  <a:t>)</a:t>
                </a:r>
                <a:r>
                  <a:rPr lang="zh-CN" altLang="en-US" sz="2000" b="1" dirty="0">
                    <a:latin typeface="Cambria Math" panose="02040503050406030204" pitchFamily="18" charset="0"/>
                  </a:rPr>
                  <a:t>的统计信息</a:t>
                </a:r>
                <a:endParaRPr lang="en-US" altLang="zh-CN" sz="2000" b="1" dirty="0"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800" dirty="0"/>
                  <a:t>: the number of tuples in a relation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800" dirty="0"/>
                  <a:t>: the number of blocks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800" dirty="0"/>
                  <a:t>: the size of a tuple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800" dirty="0"/>
                  <a:t>: the number of tuples that fit into one block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: the number of distinct values that appear in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/>
                  <a:t> for attribute A, i.e., the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/>
                  <a:t>If the tuples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/>
                  <a:t> are stored together physically in a file, then: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altLang="zh-CN" sz="1600" dirty="0"/>
              </a:p>
              <a:p>
                <a:pPr>
                  <a:spcBef>
                    <a:spcPts val="600"/>
                  </a:spcBef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5A0E9F-D6E4-44BC-9295-DF8B9AAB36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1" t="-1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30855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14B38-C732-48DD-880E-13F50113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Catalog Information about Indices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82B96D-32C2-407D-91D1-2B0ECC72D5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7524" y="885239"/>
                <a:ext cx="8568952" cy="348671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: the average fan-out(</a:t>
                </a:r>
                <a:r>
                  <a:rPr lang="zh-CN" altLang="en-US" sz="1800" dirty="0"/>
                  <a:t>扇出</a:t>
                </a:r>
                <a:r>
                  <a:rPr lang="en-US" altLang="zh-CN" sz="1800" dirty="0"/>
                  <a:t>) of internal nodes of index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600" dirty="0"/>
                  <a:t>for tree-structured indices such as B</a:t>
                </a:r>
                <a:r>
                  <a:rPr lang="en-US" altLang="zh-CN" sz="1600" baseline="30000" dirty="0"/>
                  <a:t>+</a:t>
                </a:r>
                <a:r>
                  <a:rPr lang="en-US" altLang="zh-CN" sz="1600" dirty="0"/>
                  <a:t>-tree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𝐻𝑇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: the number of levels in index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600" dirty="0"/>
                  <a:t>i.e., the height of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sz="1600" dirty="0"/>
              </a:p>
              <a:p>
                <a:pPr lvl="1"/>
                <a:r>
                  <a:rPr lang="en-US" altLang="zh-CN" sz="1600" dirty="0"/>
                  <a:t>for a balanced tree index (such as B</a:t>
                </a:r>
                <a:r>
                  <a:rPr lang="en-US" altLang="zh-CN" sz="1600" baseline="30000" dirty="0"/>
                  <a:t>+</a:t>
                </a:r>
                <a:r>
                  <a:rPr lang="en-US" altLang="zh-CN" sz="1600" dirty="0"/>
                  <a:t>-tree) on attribute A of relation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d>
                  </m:oMath>
                </a14:m>
                <a:endParaRPr lang="en-US" altLang="zh-CN" sz="1600" dirty="0"/>
              </a:p>
              <a:p>
                <a:pPr lvl="1"/>
                <a:r>
                  <a:rPr lang="en-US" altLang="zh-CN" sz="1600" dirty="0"/>
                  <a:t>for a hash index,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𝐻𝑇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1</a:t>
                </a:r>
                <a:endParaRPr lang="en-US" altLang="zh-CN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𝐿𝐵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: the number of lowest-level index blocks in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600" dirty="0"/>
                  <a:t>i.e., the number of blocks at the leaf level of the index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82B96D-32C2-407D-91D1-2B0ECC72D5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524" y="885239"/>
                <a:ext cx="8568952" cy="3486711"/>
              </a:xfrm>
              <a:blipFill>
                <a:blip r:embed="rId2"/>
                <a:stretch>
                  <a:fillRect l="-498" t="-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38949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7BCE5-2747-4636-B73D-DE406E5A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Measures of Query Cost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B1D4C6-20E4-4B28-A486-914459E2D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Recall that </a:t>
            </a:r>
          </a:p>
          <a:p>
            <a:pPr lvl="1"/>
            <a:r>
              <a:rPr lang="en-US" altLang="zh-CN" sz="1800" dirty="0"/>
              <a:t>Disk access is the predominant cost, and is also relatively easy to be estimated</a:t>
            </a:r>
          </a:p>
          <a:p>
            <a:pPr lvl="1"/>
            <a:r>
              <a:rPr lang="en-US" altLang="zh-CN" sz="1800" dirty="0"/>
              <a:t>The number of block transfers from disk is used as a measure of the actual cost of evaluation</a:t>
            </a:r>
          </a:p>
          <a:p>
            <a:pPr lvl="1"/>
            <a:r>
              <a:rPr lang="en-US" altLang="zh-CN" sz="1800" dirty="0"/>
              <a:t>It is assumed that all transfers of blocks have the same cost</a:t>
            </a:r>
          </a:p>
          <a:p>
            <a:r>
              <a:rPr lang="en-US" altLang="zh-CN" sz="2000" dirty="0"/>
              <a:t>Usually do not include the cost to write output to disk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3136182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AB6FA-D299-46DC-B3FD-D0D441A1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简单选择操作结果大小估计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EFFC0D-273C-46F9-8BBE-F82A04B6C2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 dirty="0"/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>
                    <a:latin typeface="Cambria Math" panose="02040503050406030204" pitchFamily="18" charset="0"/>
                  </a:rPr>
                  <a:t>假设取值</a:t>
                </a:r>
                <a:r>
                  <a:rPr lang="zh-CN" altLang="en-US" sz="1800" b="1" dirty="0">
                    <a:latin typeface="Cambria Math" panose="02040503050406030204" pitchFamily="18" charset="0"/>
                  </a:rPr>
                  <a:t>均匀分布</a:t>
                </a:r>
                <a:r>
                  <a:rPr lang="zh-CN" altLang="en-US" sz="1800" dirty="0">
                    <a:latin typeface="Cambria Math" panose="02040503050406030204" pitchFamily="18" charset="0"/>
                  </a:rPr>
                  <a:t>，则可估计选择结果有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b="0" dirty="0">
                    <a:latin typeface="Cambria Math" panose="02040503050406030204" pitchFamily="18" charset="0"/>
                  </a:rPr>
                  <a:t>个元组</a:t>
                </a:r>
                <a:endParaRPr lang="en-US" altLang="zh-CN" sz="1800" b="0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b="1" dirty="0"/>
                  <a:t>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1800" dirty="0"/>
                  <a:t> denote the estimated number of tuples satisfying the condition.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are available in database catalog and we assume that values are uniformly distributed (</a:t>
                </a:r>
                <a:r>
                  <a:rPr lang="zh-CN" altLang="en-US" sz="1800" dirty="0"/>
                  <a:t>值均匀分布</a:t>
                </a:r>
                <a:r>
                  <a:rPr lang="en-US" altLang="zh-CN" sz="1800" dirty="0"/>
                  <a:t>) 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1600" dirty="0"/>
                  <a:t>, if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16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600" dirty="0"/>
                  <a:t>, if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max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/>
                  <a:t>In absence of statistical information,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1800" dirty="0"/>
                  <a:t> is assumed to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altLang="zh-CN" sz="1800" dirty="0"/>
              </a:p>
              <a:p>
                <a:pPr>
                  <a:spcBef>
                    <a:spcPts val="600"/>
                  </a:spcBef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EFFC0D-273C-46F9-8BBE-F82A04B6C2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1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1584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6CE9B-70CD-4E64-B1C7-BC501464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复杂选择操作结果大小估计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8727A0-AD99-41B7-B921-1D69D57EE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669215"/>
                <a:ext cx="8928992" cy="3805070"/>
              </a:xfrm>
            </p:spPr>
            <p:txBody>
              <a:bodyPr/>
              <a:lstStyle/>
              <a:p>
                <a:r>
                  <a:rPr lang="en-US" altLang="zh-CN" sz="1800" b="1" dirty="0"/>
                  <a:t>Selectivity (</a:t>
                </a:r>
                <a:r>
                  <a:rPr lang="zh-CN" altLang="en-US" sz="1800" b="1" dirty="0"/>
                  <a:t>中选率</a:t>
                </a:r>
                <a:r>
                  <a:rPr lang="en-US" altLang="zh-CN" sz="1800" b="1" dirty="0"/>
                  <a:t>) of a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The probability that a tuple in the relation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600" dirty="0"/>
                  <a:t>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 </a:t>
                </a:r>
              </a:p>
              <a:p>
                <a:pPr lvl="1"/>
                <a:r>
                  <a:rPr lang="en-US" altLang="zh-CN" sz="16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the number of tuples satisfying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, the selectivity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r>
                  <a:rPr lang="zh-CN" altLang="en-US" sz="1800" b="1" dirty="0"/>
                  <a:t>合取</a:t>
                </a:r>
                <a:r>
                  <a:rPr lang="en-US" altLang="zh-CN" sz="1800" b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zh-CN" altLang="en-US" sz="18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zh-CN" altLang="en-US" sz="1800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∧…∧</m:t>
                        </m:r>
                        <m:r>
                          <a:rPr lang="zh-CN" altLang="en-US" sz="1800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Estimated number of tuples:</a:t>
                </a:r>
                <a:endParaRPr lang="en-US" altLang="zh-C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br>
                  <a:rPr lang="en-US" altLang="zh-CN" sz="1800" dirty="0"/>
                </a:br>
                <a:endParaRPr lang="en-US" altLang="zh-CN" sz="1800" dirty="0"/>
              </a:p>
              <a:p>
                <a:r>
                  <a:rPr lang="zh-CN" altLang="en-US" sz="1800" b="1" dirty="0"/>
                  <a:t>析取</a:t>
                </a:r>
                <a:r>
                  <a:rPr lang="en-US" altLang="zh-CN" sz="1800" b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zh-CN" altLang="en-US" sz="1800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zh-CN" altLang="en-US" sz="1800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zh-CN" altLang="en-US" sz="1800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Estimated number of tuples:</a:t>
                </a:r>
                <a:br>
                  <a:rPr lang="en-US" altLang="zh-CN" sz="1600" dirty="0"/>
                </a:br>
                <a:br>
                  <a:rPr lang="en-US" altLang="zh-CN" sz="1400" dirty="0"/>
                </a:br>
                <a:endParaRPr lang="en-US" altLang="zh-CN" sz="1400" dirty="0"/>
              </a:p>
              <a:p>
                <a:pPr lvl="1"/>
                <a:endParaRPr lang="en-US" altLang="zh-CN" sz="1400" dirty="0"/>
              </a:p>
              <a:p>
                <a:r>
                  <a:rPr lang="zh-CN" altLang="en-US" sz="1800" b="1" dirty="0"/>
                  <a:t>取反</a:t>
                </a:r>
                <a:r>
                  <a:rPr lang="en-US" altLang="zh-CN" sz="1800" b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zh-CN" alt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Estimated number of tuples: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8727A0-AD99-41B7-B921-1D69D57EE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69215"/>
                <a:ext cx="8928992" cy="3805070"/>
              </a:xfrm>
              <a:blipFill>
                <a:blip r:embed="rId3"/>
                <a:stretch>
                  <a:fillRect l="-410" t="-962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0CF6EF0-2977-4375-8564-7AF92E061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207365"/>
              </p:ext>
            </p:extLst>
          </p:nvPr>
        </p:nvGraphicFramePr>
        <p:xfrm>
          <a:off x="3095005" y="3507854"/>
          <a:ext cx="3098006" cy="627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6" name="Equation" r:id="rId4" imgW="2374900" imgH="482600" progId="Equation.3">
                  <p:embed/>
                </p:oleObj>
              </mc:Choice>
              <mc:Fallback>
                <p:oleObj name="Equation" r:id="rId4" imgW="2374900" imgH="482600" progId="Equation.3">
                  <p:embed/>
                  <p:pic>
                    <p:nvPicPr>
                      <p:cNvPr id="31752" name="Object 5">
                        <a:extLst>
                          <a:ext uri="{FF2B5EF4-FFF2-40B4-BE49-F238E27FC236}">
                            <a16:creationId xmlns:a16="http://schemas.microsoft.com/office/drawing/2014/main" id="{BADFBA9F-EE0C-4258-9520-D9A91B9A2B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005" y="3507854"/>
                        <a:ext cx="3098006" cy="627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93613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B98BB-134F-4908-B16A-A3ADC40A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连接操作结果大小估计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6F3BCF-1A47-4919-BF3D-CB2834ED30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</p:spPr>
            <p:txBody>
              <a:bodyPr/>
              <a:lstStyle/>
              <a:p>
                <a:r>
                  <a:rPr lang="en-US" altLang="zh-CN" sz="2000" b="1" dirty="0"/>
                  <a:t>Cartesian product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800" dirty="0"/>
                  <a:t> tuples</a:t>
                </a:r>
                <a:endParaRPr lang="en-US" altLang="zh-CN" sz="1600" dirty="0"/>
              </a:p>
              <a:p>
                <a:r>
                  <a:rPr lang="en-US" altLang="zh-CN" sz="2000" b="1" dirty="0"/>
                  <a:t>Natural join</a:t>
                </a:r>
              </a:p>
              <a:p>
                <a:pPr lvl="1"/>
                <a:r>
                  <a:rPr lang="en-US" altLang="zh-CN" sz="1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altLang="zh-CN" sz="1800" dirty="0"/>
                  <a:t>, then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is the same as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</a:t>
                </a:r>
              </a:p>
              <a:p>
                <a:pPr lvl="1"/>
                <a:r>
                  <a:rPr lang="en-US" altLang="zh-CN" sz="1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/>
                  <a:t>is a key for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1800" dirty="0"/>
                  <a:t>, then a tuple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will join with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at most </a:t>
                </a:r>
                <a:r>
                  <a:rPr lang="en-US" altLang="zh-CN" sz="1800" dirty="0"/>
                  <a:t>one tuple from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/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size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800" dirty="0"/>
                  <a:t> is a foreign key in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800" dirty="0"/>
                  <a:t> referencing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1800" dirty="0"/>
                  <a:t>, the number of tuples in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is exactly the same as the number of tuples in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800" dirty="0"/>
              </a:p>
              <a:p>
                <a:pPr lvl="2"/>
                <a:r>
                  <a:rPr lang="en-US" altLang="zh-CN" sz="1400" dirty="0"/>
                  <a:t>E.g., for depositor 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CN" sz="1400" dirty="0"/>
                  <a:t> customer, customer-name in depositor is a foreign key of customer, and the result has exactly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𝑑𝑒𝑝𝑜𝑠𝑖𝑡𝑜𝑟</m:t>
                        </m:r>
                      </m:sub>
                    </m:sSub>
                  </m:oMath>
                </a14:m>
                <a:r>
                  <a:rPr lang="en-US" altLang="zh-CN" sz="1400" dirty="0"/>
                  <a:t> tuples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6F3BCF-1A47-4919-BF3D-CB2834ED30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  <a:blipFill>
                <a:blip r:embed="rId3"/>
                <a:stretch>
                  <a:fillRect l="-668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03391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8153E-337D-484C-8648-688C93A3D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连接操作结果大小估计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9E977A-CB95-4E45-9E16-FE27EE4F76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1800" dirty="0"/>
                  <a:t>Catalog information for join examples: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𝑐𝑢𝑠𝑡𝑜𝑚𝑒𝑟</m:t>
                        </m:r>
                      </m:sub>
                    </m:sSub>
                  </m:oMath>
                </a14:m>
                <a:r>
                  <a:rPr lang="en-US" altLang="zh-CN" sz="1600" dirty="0"/>
                  <a:t> = 10,000,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𝑐𝑢𝑠𝑡𝑜𝑚𝑒𝑟</m:t>
                        </m:r>
                      </m:sub>
                    </m:sSub>
                  </m:oMath>
                </a14:m>
                <a:r>
                  <a:rPr lang="en-US" altLang="zh-CN" sz="1600" dirty="0"/>
                  <a:t>  = 25,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𝑐𝑢𝑠𝑡𝑜𝑚𝑒𝑟</m:t>
                        </m:r>
                      </m:sub>
                    </m:sSub>
                  </m:oMath>
                </a14:m>
                <a:r>
                  <a:rPr lang="en-US" altLang="zh-CN" sz="1600" dirty="0"/>
                  <a:t> =10,000/25 = 400)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𝑑𝑒𝑝𝑜𝑠𝑖𝑡𝑜𝑟</m:t>
                        </m:r>
                      </m:sub>
                    </m:sSub>
                  </m:oMath>
                </a14:m>
                <a:r>
                  <a:rPr lang="en-US" altLang="zh-CN" sz="1600" dirty="0"/>
                  <a:t> = 5,000,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𝑑𝑒𝑝𝑜𝑠𝑖𝑡𝑜𝑟</m:t>
                        </m:r>
                      </m:sub>
                    </m:sSub>
                  </m:oMath>
                </a14:m>
                <a:r>
                  <a:rPr lang="en-US" altLang="zh-CN" sz="1600" dirty="0"/>
                  <a:t>  = 50,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𝑑𝑒𝑝𝑜𝑠𝑖𝑡𝑜𝑟</m:t>
                        </m:r>
                      </m:sub>
                    </m:sSub>
                  </m:oMath>
                </a14:m>
                <a:r>
                  <a:rPr lang="en-US" altLang="zh-CN" sz="1600" dirty="0"/>
                  <a:t> = 5,000/50 = 100)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/>
                  <a:t>V(customer-name, depositor) = 2,500, which implies that, on average, each customer has two accounts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800" dirty="0"/>
                  <a:t>E.g.,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𝑑𝑒𝑝𝑜𝑠𝑖𝑡𝑜𝑟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⋈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𝑐𝑢𝑠𝑡𝑜𝑚𝑒𝑟</m:t>
                    </m:r>
                  </m:oMath>
                </a14:m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𝑑𝑒𝑝𝑜𝑠𝑖𝑡𝑜𝑟</m:t>
                        </m:r>
                      </m:sub>
                    </m:sSub>
                  </m:oMath>
                </a14:m>
                <a:r>
                  <a:rPr lang="en-US" altLang="zh-CN" sz="1600" dirty="0"/>
                  <a:t> = 5000</a:t>
                </a:r>
              </a:p>
              <a:p>
                <a:pPr marL="457200" lvl="1" indent="0">
                  <a:spcBef>
                    <a:spcPts val="600"/>
                  </a:spcBef>
                  <a:buNone/>
                </a:pPr>
                <a:endParaRPr lang="zh-CN" altLang="en-US" sz="1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9E977A-CB95-4E45-9E16-FE27EE4F76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  <a:blipFill>
                <a:blip r:embed="rId2"/>
                <a:stretch>
                  <a:fillRect l="-445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1105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C8951-F6BA-4B24-95A1-E1D3751A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连接操作结果大小估计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DF8871-20AC-41F8-91DE-0011DDE139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800" dirty="0"/>
                  <a:t> is not a key for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1800" dirty="0"/>
                  <a:t> or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600" dirty="0"/>
                  <a:t>If we assume that every tuple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1600" dirty="0"/>
                  <a:t> in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1600" dirty="0"/>
                  <a:t> produces tuples in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600" dirty="0"/>
                  <a:t>, the number of tuples in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600" dirty="0"/>
                  <a:t> is estimated to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1800" dirty="0"/>
              </a:p>
              <a:p>
                <a:pPr lvl="1"/>
                <a:r>
                  <a:rPr lang="en-US" altLang="zh-CN" sz="1600" dirty="0"/>
                  <a:t>If the reverse is true, the estimate obtained will be: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1800" dirty="0"/>
              </a:p>
              <a:p>
                <a:pPr lvl="1"/>
                <a:r>
                  <a:rPr lang="en-US" altLang="zh-CN" sz="1600" dirty="0"/>
                  <a:t>The lower of these two estimates is probably the more accurate one 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DF8871-20AC-41F8-91DE-0011DDE139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476485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10FEB-9B5C-4F47-B385-3DB32B73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连接操作结果大小估计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6951AB-33E7-48A1-A913-DCF9244FF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771550"/>
                <a:ext cx="8712968" cy="3805070"/>
              </a:xfrm>
            </p:spPr>
            <p:txBody>
              <a:bodyPr/>
              <a:lstStyle/>
              <a:p>
                <a:r>
                  <a:rPr lang="en-US" altLang="zh-CN" sz="1800" dirty="0"/>
                  <a:t>Estimate the size of depositor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CN" sz="1800" dirty="0"/>
                  <a:t> customer without using the information about foreign keys:</a:t>
                </a:r>
              </a:p>
              <a:p>
                <a:pPr lvl="1"/>
                <a:r>
                  <a:rPr lang="en-US" altLang="zh-CN" sz="1400" dirty="0"/>
                  <a:t>V(customer-name, depositor) = 2500, and</a:t>
                </a:r>
                <a:br>
                  <a:rPr lang="en-US" altLang="zh-CN" sz="1400" dirty="0"/>
                </a:br>
                <a:r>
                  <a:rPr lang="en-US" altLang="zh-CN" sz="1400" dirty="0"/>
                  <a:t>V(customer-name, customer) = 10000</a:t>
                </a:r>
              </a:p>
              <a:p>
                <a:pPr lvl="1"/>
                <a:r>
                  <a:rPr lang="en-US" altLang="zh-CN" sz="1400" dirty="0"/>
                  <a:t>The two estimates are </a:t>
                </a:r>
              </a:p>
              <a:p>
                <a:pPr marL="457200" lvl="1" indent="0">
                  <a:buNone/>
                </a:pPr>
                <a:r>
                  <a:rPr lang="en-US" altLang="zh-CN" sz="1400" dirty="0"/>
                  <a:t>     5000 * 10000/2500 = 20,000 and</a:t>
                </a:r>
              </a:p>
              <a:p>
                <a:pPr marL="457200" lvl="1" indent="0">
                  <a:buNone/>
                </a:pPr>
                <a:r>
                  <a:rPr lang="en-US" altLang="zh-CN" sz="1400" dirty="0"/>
                  <a:t>     5000 * 10000/10000 = 5000</a:t>
                </a:r>
              </a:p>
              <a:p>
                <a:r>
                  <a:rPr lang="en-US" altLang="zh-CN" sz="1800" dirty="0"/>
                  <a:t>Choose the lower estimate, which is the same as the earlier computation using foreign keys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6951AB-33E7-48A1-A913-DCF9244FF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71550"/>
                <a:ext cx="8712968" cy="3805070"/>
              </a:xfrm>
              <a:blipFill>
                <a:blip r:embed="rId2"/>
                <a:stretch>
                  <a:fillRect l="-420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65202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7B5BE-F646-4E4A-A7C5-E89CDE851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其他操作结果集大小估计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D3A2C0-AA41-41F1-8C5C-447A484333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699542"/>
                <a:ext cx="8568952" cy="3805070"/>
              </a:xfrm>
            </p:spPr>
            <p:txBody>
              <a:bodyPr/>
              <a:lstStyle/>
              <a:p>
                <a:r>
                  <a:rPr lang="zh-CN" altLang="en-US" sz="2000" b="1" dirty="0"/>
                  <a:t>投影</a:t>
                </a:r>
                <a:endParaRPr lang="en-US" altLang="zh-CN" sz="2000" b="1" dirty="0"/>
              </a:p>
              <a:p>
                <a:pPr lvl="1"/>
                <a:r>
                  <a:rPr lang="en-US" altLang="zh-CN" sz="1600" dirty="0"/>
                  <a:t>Estimated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r>
                  <a:rPr lang="zh-CN" altLang="en-US" sz="2000" b="1" dirty="0"/>
                  <a:t>聚集</a:t>
                </a:r>
                <a:endParaRPr lang="en-US" altLang="zh-CN" sz="2000" b="1" dirty="0"/>
              </a:p>
              <a:p>
                <a:pPr lvl="1"/>
                <a:r>
                  <a:rPr lang="en-US" altLang="zh-CN" sz="1600" dirty="0"/>
                  <a:t>Estimated size of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baseline="-250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r>
                  <a:rPr lang="zh-CN" altLang="en-US" sz="2000" b="1" dirty="0"/>
                  <a:t>集合操作</a:t>
                </a:r>
                <a:endParaRPr lang="en-US" altLang="zh-CN" sz="2000" b="1" dirty="0"/>
              </a:p>
              <a:p>
                <a:pPr lvl="1"/>
                <a:r>
                  <a:rPr lang="en-US" altLang="zh-CN" sz="1600" dirty="0"/>
                  <a:t>For unions/intersections of selections on the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same relation</a:t>
                </a:r>
                <a:r>
                  <a:rPr lang="en-US" altLang="zh-CN" sz="1600" dirty="0"/>
                  <a:t>: rewrite and use size estimate for selections</a:t>
                </a:r>
              </a:p>
              <a:p>
                <a:pPr lvl="2"/>
                <a:r>
                  <a:rPr lang="en-US" altLang="zh-CN" sz="1400" dirty="0"/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)∪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400" dirty="0"/>
                  <a:t>  can be rewritten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zh-CN" alt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400" dirty="0"/>
              </a:p>
              <a:p>
                <a:pPr lvl="1"/>
                <a:r>
                  <a:rPr lang="en-US" altLang="zh-CN" sz="1600" dirty="0"/>
                  <a:t>For operations on different relations:</a:t>
                </a:r>
              </a:p>
              <a:p>
                <a:pPr lvl="2"/>
                <a:r>
                  <a:rPr lang="en-US" altLang="zh-CN" sz="1400" dirty="0"/>
                  <a:t>estimated size of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400" dirty="0"/>
                  <a:t>  = size of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400" dirty="0"/>
                  <a:t> + size of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400" dirty="0"/>
                  <a:t>   </a:t>
                </a:r>
              </a:p>
              <a:p>
                <a:pPr lvl="2"/>
                <a:r>
                  <a:rPr lang="en-US" altLang="zh-CN" sz="1400" dirty="0"/>
                  <a:t>estimated size of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400" dirty="0"/>
                  <a:t> = min{size of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400" dirty="0"/>
                  <a:t>, size of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400" dirty="0"/>
                  <a:t>}</a:t>
                </a:r>
              </a:p>
              <a:p>
                <a:pPr lvl="2"/>
                <a:r>
                  <a:rPr lang="en-US" altLang="zh-CN" sz="1400" dirty="0"/>
                  <a:t>estimated size of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400" dirty="0"/>
                  <a:t>All the three estimates may be quite inaccurate, but provide upper bounds for the sizes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D3A2C0-AA41-41F1-8C5C-447A484333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99542"/>
                <a:ext cx="8568952" cy="3805070"/>
              </a:xfrm>
              <a:blipFill>
                <a:blip r:embed="rId2"/>
                <a:stretch>
                  <a:fillRect l="-640" t="-962" b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0831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86131D-9AB5-4058-A608-A5C09BB1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其他操作结果集大小估计（续）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268CCD-7747-498C-8E42-8C950F3FB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b="1" dirty="0"/>
                  <a:t>Outer join</a:t>
                </a:r>
                <a:endParaRPr lang="en-US" altLang="zh-CN" sz="2000" dirty="0"/>
              </a:p>
              <a:p>
                <a:pPr lvl="1"/>
                <a:r>
                  <a:rPr lang="en-US" altLang="zh-CN" sz="1800" dirty="0"/>
                  <a:t>Estimated size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= size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+ size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sz="1800" dirty="0"/>
              </a:p>
              <a:p>
                <a:pPr lvl="2"/>
                <a:r>
                  <a:rPr lang="en-US" altLang="zh-CN" sz="1600" dirty="0"/>
                  <a:t>Case of right outer join is symmetric</a:t>
                </a:r>
              </a:p>
              <a:p>
                <a:pPr lvl="1"/>
                <a:r>
                  <a:rPr lang="en-US" altLang="zh-CN" sz="1800" dirty="0"/>
                  <a:t>Estimated size of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= size of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/>
                  <a:t> + size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/>
                  <a:t> + size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800" dirty="0"/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268CCD-7747-498C-8E42-8C950F3FB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4">
            <a:extLst>
              <a:ext uri="{FF2B5EF4-FFF2-40B4-BE49-F238E27FC236}">
                <a16:creationId xmlns:a16="http://schemas.microsoft.com/office/drawing/2014/main" id="{14D21BD3-2ACB-4A94-A9CD-B97DA1DC8593}"/>
              </a:ext>
            </a:extLst>
          </p:cNvPr>
          <p:cNvGrpSpPr>
            <a:grpSpLocks/>
          </p:cNvGrpSpPr>
          <p:nvPr/>
        </p:nvGrpSpPr>
        <p:grpSpPr bwMode="auto">
          <a:xfrm>
            <a:off x="3059832" y="1275606"/>
            <a:ext cx="252413" cy="141685"/>
            <a:chOff x="2822" y="2832"/>
            <a:chExt cx="212" cy="119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BA85D99B-FDEF-42D4-85DA-22E1AC1803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20" y="2837"/>
              <a:ext cx="119" cy="109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defTabSz="685800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zh-CN" altLang="en-US" sz="1350" i="1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DD34FC58-2B5D-4CAC-BCB8-ED720A4C93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25" y="2834"/>
              <a:ext cx="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1350" i="1">
                <a:solidFill>
                  <a:srgbClr val="000000"/>
                </a:solidFill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FC7EE1BD-89B7-498C-811B-0328D1B6D4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22" y="2948"/>
              <a:ext cx="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1350" i="1">
                <a:solidFill>
                  <a:srgbClr val="000000"/>
                </a:solidFill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</p:grpSp>
      <p:grpSp>
        <p:nvGrpSpPr>
          <p:cNvPr id="8" name="Group 9">
            <a:extLst>
              <a:ext uri="{FF2B5EF4-FFF2-40B4-BE49-F238E27FC236}">
                <a16:creationId xmlns:a16="http://schemas.microsoft.com/office/drawing/2014/main" id="{74B41B8A-97AC-4B25-9317-38B417396839}"/>
              </a:ext>
            </a:extLst>
          </p:cNvPr>
          <p:cNvGrpSpPr>
            <a:grpSpLocks/>
          </p:cNvGrpSpPr>
          <p:nvPr/>
        </p:nvGrpSpPr>
        <p:grpSpPr bwMode="auto">
          <a:xfrm>
            <a:off x="3046016" y="1902154"/>
            <a:ext cx="373856" cy="150019"/>
            <a:chOff x="2323" y="3635"/>
            <a:chExt cx="314" cy="126"/>
          </a:xfrm>
        </p:grpSpPr>
        <p:sp>
          <p:nvSpPr>
            <p:cNvPr id="9" name="AutoShape 10">
              <a:extLst>
                <a:ext uri="{FF2B5EF4-FFF2-40B4-BE49-F238E27FC236}">
                  <a16:creationId xmlns:a16="http://schemas.microsoft.com/office/drawing/2014/main" id="{DD31E9EE-609F-4647-A57F-CA4B7C3ED8B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21" y="3647"/>
              <a:ext cx="119" cy="109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defTabSz="685800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zh-CN" altLang="en-US" sz="1350" i="1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6D9995F6-F138-4DBB-A255-14063CD72A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6" y="3635"/>
              <a:ext cx="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1350" i="1">
                <a:solidFill>
                  <a:srgbClr val="000000"/>
                </a:solidFill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D892C397-AC47-49FE-AAC3-66FF8B9CD9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3" y="3758"/>
              <a:ext cx="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1350" i="1">
                <a:solidFill>
                  <a:srgbClr val="000000"/>
                </a:solidFill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958CE869-464A-4D27-A6B6-0B2C5FA35D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0" y="3641"/>
              <a:ext cx="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1350" i="1">
                <a:solidFill>
                  <a:srgbClr val="000000"/>
                </a:solidFill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31CCFD23-F0C7-4792-9456-87AAAFBFA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6" y="3755"/>
              <a:ext cx="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1350" i="1">
                <a:solidFill>
                  <a:srgbClr val="000000"/>
                </a:solidFill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260910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5FF4D-8DB0-454C-A6DD-95657232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Estimation of Distinct Values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694AFD-187A-4024-A380-DBBC7DC98A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771551"/>
                <a:ext cx="8352928" cy="3702734"/>
              </a:xfrm>
            </p:spPr>
            <p:txBody>
              <a:bodyPr/>
              <a:lstStyle/>
              <a:p>
                <a:r>
                  <a:rPr lang="en-US" altLang="zh-CN" sz="1800" b="1" dirty="0"/>
                  <a:t>Selections: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zh-CN" altLang="en-US" sz="18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b="1" dirty="0"/>
                  <a:t> </a:t>
                </a:r>
              </a:p>
              <a:p>
                <a:pPr lvl="1"/>
                <a:r>
                  <a:rPr lang="en-US" altLang="zh-CN" sz="1600" dirty="0"/>
                  <a:t>If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1600" dirty="0"/>
                  <a:t> forces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1600" dirty="0"/>
                  <a:t> to take a specified value: </a:t>
                </a:r>
              </a:p>
              <a:p>
                <a:pPr lvl="2"/>
                <a:r>
                  <a:rPr lang="en-US" altLang="zh-CN" sz="1400" dirty="0"/>
                  <a:t>If A = 3,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400" dirty="0"/>
                  <a:t> = 1</a:t>
                </a:r>
              </a:p>
              <a:p>
                <a:pPr lvl="1"/>
                <a:r>
                  <a:rPr lang="en-US" altLang="zh-CN" sz="1600" dirty="0"/>
                  <a:t>If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1600" dirty="0"/>
                  <a:t> forces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1600" dirty="0"/>
                  <a:t> to take on one of a specified set of values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400" dirty="0"/>
                  <a:t> = the number of specified values</a:t>
                </a:r>
              </a:p>
              <a:p>
                <a:pPr lvl="2"/>
                <a:r>
                  <a:rPr lang="en-US" altLang="zh-CN" sz="1400" dirty="0"/>
                  <a:t>e.g., (A = 1 V A = 3 V A = 4 )</a:t>
                </a:r>
              </a:p>
              <a:p>
                <a:pPr lvl="1"/>
                <a:r>
                  <a:rPr lang="en-US" altLang="zh-CN" sz="1600" dirty="0"/>
                  <a:t>If the selection condition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1600" dirty="0"/>
                  <a:t> is of the form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1600" dirty="0"/>
                  <a:t> op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CN" sz="1600" dirty="0"/>
              </a:p>
              <a:p>
                <a:pPr lvl="2"/>
                <a:r>
                  <a:rPr lang="en-US" altLang="zh-CN" sz="1400" dirty="0"/>
                  <a:t>Estimated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400" dirty="0"/>
                  <a:t>, where s is the selectivity of the selection.</a:t>
                </a:r>
              </a:p>
              <a:p>
                <a:pPr lvl="1"/>
                <a:r>
                  <a:rPr lang="en-US" altLang="zh-CN" sz="1600" dirty="0"/>
                  <a:t>In all the other cases: use approximate estimate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 lvl="2"/>
                <a:r>
                  <a:rPr lang="en-US" altLang="zh-CN" sz="1400" dirty="0"/>
                  <a:t>More accurate estimate can be obtained using probability theory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694AFD-187A-4024-A380-DBBC7DC98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71551"/>
                <a:ext cx="8352928" cy="3702734"/>
              </a:xfrm>
              <a:blipFill>
                <a:blip r:embed="rId2"/>
                <a:stretch>
                  <a:fillRect l="-438" t="-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85506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9E7192-DBAB-498B-BF91-7E95798B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Estimation of Distinct Values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219349-6784-4065-B447-C5A38BD81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843557"/>
                <a:ext cx="7992888" cy="3630727"/>
              </a:xfrm>
            </p:spPr>
            <p:txBody>
              <a:bodyPr/>
              <a:lstStyle/>
              <a:p>
                <a:r>
                  <a:rPr lang="en-US" altLang="zh-CN" sz="1800" b="1" dirty="0"/>
                  <a:t>Joins: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If all attributes in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1600" dirty="0"/>
                  <a:t> are from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600" dirty="0"/>
                  <a:t> </a:t>
                </a:r>
              </a:p>
              <a:p>
                <a:pPr lvl="2"/>
                <a:r>
                  <a:rPr lang="en-US" altLang="zh-CN" sz="1400" dirty="0"/>
                  <a:t>Estimated size of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4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400" dirty="0"/>
              </a:p>
              <a:p>
                <a:pPr lvl="1"/>
                <a:r>
                  <a:rPr lang="en-US" altLang="zh-CN" sz="16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1600" dirty="0"/>
                  <a:t> contains attributes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 from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 from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600" dirty="0"/>
                  <a:t>, 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4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en-US" altLang="zh-CN" sz="1400" dirty="0"/>
                  <a:t>More accurate estimate can be obtained using probability theory</a:t>
                </a:r>
              </a:p>
              <a:p>
                <a:r>
                  <a:rPr lang="en-US" altLang="zh-CN" sz="1800" b="1" dirty="0"/>
                  <a:t>Projection</a:t>
                </a:r>
              </a:p>
              <a:p>
                <a:pPr lvl="1"/>
                <a:r>
                  <a:rPr lang="en-US" altLang="zh-CN" sz="1400" dirty="0"/>
                  <a:t>Estimation of distinct values are straightforward for projections</a:t>
                </a:r>
              </a:p>
              <a:p>
                <a:pPr lvl="1"/>
                <a:r>
                  <a:rPr lang="en-US" altLang="zh-CN" sz="1400" dirty="0"/>
                  <a:t>They are the same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400" dirty="0"/>
                  <a:t> as in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400" dirty="0"/>
                  <a:t> </a:t>
                </a:r>
              </a:p>
              <a:p>
                <a:r>
                  <a:rPr lang="en-US" altLang="zh-CN" sz="1800" b="1" dirty="0"/>
                  <a:t>Aggregation</a:t>
                </a:r>
              </a:p>
              <a:p>
                <a:pPr lvl="1"/>
                <a:r>
                  <a:rPr lang="en-US" altLang="zh-CN" sz="1400" dirty="0"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400" dirty="0"/>
                  <a:t>, the number of distinct values can be estimated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sz="1400" dirty="0"/>
                  <a:t> where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1400" dirty="0"/>
                  <a:t> denotes grouping attributes</a:t>
                </a:r>
              </a:p>
              <a:p>
                <a:pPr lvl="1"/>
                <a:r>
                  <a:rPr lang="en-US" altLang="zh-CN" sz="1400" dirty="0"/>
                  <a:t>For other aggregates, assume all values are distinct, and use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400" dirty="0"/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219349-6784-4065-B447-C5A38BD81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843557"/>
                <a:ext cx="7992888" cy="3630727"/>
              </a:xfrm>
              <a:blipFill>
                <a:blip r:embed="rId2"/>
                <a:stretch>
                  <a:fillRect l="-458" t="-839" b="-1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2510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059582"/>
            <a:ext cx="8568952" cy="358904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dirty="0"/>
              <a:t>概述</a:t>
            </a:r>
            <a:r>
              <a:rPr lang="en-US" altLang="zh-CN" dirty="0"/>
              <a:t> 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关系表达式的转换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表达式执行代价估计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b="1" dirty="0">
                <a:solidFill>
                  <a:srgbClr val="C00000"/>
                </a:solidFill>
              </a:rPr>
              <a:t>执行计划选择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/>
              <a:t>物化视图*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查询优化中的高级话题*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843740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9AB18-E3A1-45FF-892C-E7339E58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Enumeration of Equivalent Expressions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17E4AA-5314-4466-91B7-4BF1D55B9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b="1" dirty="0"/>
                  <a:t>Equivalent expression generation</a:t>
                </a:r>
              </a:p>
              <a:p>
                <a:pPr lvl="1"/>
                <a:r>
                  <a:rPr lang="en-US" altLang="zh-CN" sz="1800" dirty="0"/>
                  <a:t>Query optimizers use equivalence rules to systematically generate expressions equivalent to the given expression</a:t>
                </a:r>
              </a:p>
              <a:p>
                <a:pPr lvl="1"/>
                <a:r>
                  <a:rPr lang="en-US" altLang="zh-CN" sz="1800" dirty="0"/>
                  <a:t>Generate all equivalent expressions by repeatedly executing the following step until no more expressions can be found</a:t>
                </a:r>
              </a:p>
              <a:p>
                <a:pPr lvl="2"/>
                <a:r>
                  <a:rPr lang="en-US" altLang="zh-CN" sz="1600" dirty="0"/>
                  <a:t>Given an expression E, if any sub-expression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600" dirty="0"/>
                  <a:t> of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600" dirty="0"/>
                  <a:t> matches one side of an equivalence rule, the optimizer generates a new expression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600" dirty="0"/>
                  <a:t> is transformed to match the other side of the rule  </a:t>
                </a:r>
              </a:p>
              <a:p>
                <a:r>
                  <a:rPr lang="en-US" altLang="zh-CN" sz="2000" b="1" dirty="0"/>
                  <a:t>Issues</a:t>
                </a:r>
              </a:p>
              <a:p>
                <a:pPr lvl="1"/>
                <a:r>
                  <a:rPr lang="en-US" altLang="zh-CN" sz="1800" dirty="0"/>
                  <a:t>The above approach is very expensive in space and time</a:t>
                </a:r>
              </a:p>
              <a:p>
                <a:pPr lvl="2"/>
                <a:r>
                  <a:rPr lang="en-US" altLang="zh-CN" sz="1600" dirty="0"/>
                  <a:t>Space requirements reduced by sharing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common sub-expressions </a:t>
                </a:r>
                <a:r>
                  <a:rPr lang="en-US" altLang="zh-CN" sz="1600" dirty="0"/>
                  <a:t>for equivalent expressions</a:t>
                </a:r>
              </a:p>
              <a:p>
                <a:pPr lvl="2"/>
                <a:r>
                  <a:rPr lang="en-US" altLang="zh-CN" sz="1600" dirty="0"/>
                  <a:t>Time requirements are reduced by not generating all expressions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17E4AA-5314-4466-91B7-4BF1D55B9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801" b="-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031272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B9975B-0316-4FB2-9962-C36F3689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Execution Plan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418786-DA7B-4E23-A3D5-2AAB3C3D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An execution plan defines exactly what algorithm is used for each operation, and how the execution of the operations is coordinated</a:t>
            </a:r>
          </a:p>
          <a:p>
            <a:endParaRPr lang="zh-CN" alt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97A85AF-FE50-45B4-AD83-22262DE710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" t="14581" r="894" b="14876"/>
          <a:stretch/>
        </p:blipFill>
        <p:spPr bwMode="auto">
          <a:xfrm>
            <a:off x="1979712" y="1707654"/>
            <a:ext cx="4752528" cy="272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785878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46B33-D51C-42FF-B797-9AEA547E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Choice of Execution Plans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B0C52A-B3E7-4487-9DF0-4BC801D71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Two general approaches</a:t>
            </a:r>
          </a:p>
          <a:p>
            <a:pPr lvl="1"/>
            <a:r>
              <a:rPr lang="en-US" altLang="zh-CN" sz="1800" dirty="0"/>
              <a:t>Search all the plans and choose the best plan in a cost-based fashion</a:t>
            </a:r>
          </a:p>
          <a:p>
            <a:pPr lvl="1"/>
            <a:r>
              <a:rPr lang="en-US" altLang="zh-CN" sz="1800" dirty="0"/>
              <a:t>Uses heuristics to choose a plan</a:t>
            </a:r>
            <a:endParaRPr lang="zh-CN" altLang="en-US" sz="1800" dirty="0"/>
          </a:p>
          <a:p>
            <a:r>
              <a:rPr lang="en-US" altLang="zh-CN" sz="2000" b="1" dirty="0"/>
              <a:t>Interaction of evaluation operations</a:t>
            </a:r>
          </a:p>
          <a:p>
            <a:pPr lvl="1"/>
            <a:r>
              <a:rPr lang="en-US" altLang="zh-CN" sz="1800" dirty="0"/>
              <a:t>Choosing the cheapest algorithm for each operation independently may not yield the best overall algorithm</a:t>
            </a:r>
          </a:p>
          <a:p>
            <a:pPr lvl="2"/>
            <a:r>
              <a:rPr lang="en-US" altLang="zh-CN" sz="1600" dirty="0"/>
              <a:t>merge-join may be costlier than hash-join, but may provide a sorted output which reduces the cost for an outer level aggregation</a:t>
            </a:r>
          </a:p>
          <a:p>
            <a:pPr lvl="2"/>
            <a:r>
              <a:rPr lang="en-US" altLang="zh-CN" sz="1600" dirty="0"/>
              <a:t>nested-loop join may provide opportunity for pipelining</a:t>
            </a:r>
          </a:p>
        </p:txBody>
      </p:sp>
    </p:spTree>
    <p:extLst>
      <p:ext uri="{BB962C8B-B14F-4D97-AF65-F5344CB8AC3E}">
        <p14:creationId xmlns:p14="http://schemas.microsoft.com/office/powerpoint/2010/main" val="27919276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0A928-FCD4-4760-BB51-4DAC3B80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Cost-based Optimization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D3F50A8-307B-4E3C-BB15-2CC8EE714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</p:spPr>
            <p:txBody>
              <a:bodyPr/>
              <a:lstStyle/>
              <a:p>
                <a:r>
                  <a:rPr lang="en-US" altLang="zh-CN" sz="2000" b="1" dirty="0"/>
                  <a:t>To find the best join-order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⋈…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2000" b="1" dirty="0"/>
              </a:p>
              <a:p>
                <a:pPr lvl="1"/>
                <a:r>
                  <a:rPr lang="en-US" altLang="zh-CN" sz="1600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!/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altLang="zh-CN" sz="1600" dirty="0"/>
                  <a:t> different join orders for above expression</a:t>
                </a:r>
              </a:p>
              <a:p>
                <a:pPr lvl="1"/>
                <a:r>
                  <a:rPr lang="en-US" altLang="zh-CN" sz="1600" dirty="0"/>
                  <a:t>With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sz="1600" dirty="0"/>
                  <a:t>, the number is 12</a:t>
                </a:r>
              </a:p>
              <a:p>
                <a:pPr lvl="1"/>
                <a:endParaRPr lang="en-US" altLang="zh-CN" sz="1600" dirty="0"/>
              </a:p>
              <a:p>
                <a:pPr marL="457200" lvl="1" indent="0">
                  <a:buNone/>
                </a:pPr>
                <a:endParaRPr lang="en-US" altLang="zh-CN" sz="1600" dirty="0"/>
              </a:p>
              <a:p>
                <a:pPr marL="457200" lvl="1" indent="0">
                  <a:buNone/>
                </a:pPr>
                <a:endParaRPr lang="en-US" altLang="zh-CN" sz="1600" dirty="0"/>
              </a:p>
              <a:p>
                <a:pPr marL="457200" lvl="1" indent="0">
                  <a:buNone/>
                </a:pPr>
                <a:endParaRPr lang="en-US" altLang="zh-CN" sz="1600" dirty="0"/>
              </a:p>
              <a:p>
                <a:pPr lvl="1"/>
                <a:r>
                  <a:rPr lang="en-US" altLang="zh-CN" sz="1600" dirty="0"/>
                  <a:t>With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altLang="zh-CN" sz="1600" dirty="0"/>
                  <a:t>, the number is 665,280</a:t>
                </a:r>
              </a:p>
              <a:p>
                <a:pPr lvl="1"/>
                <a:r>
                  <a:rPr lang="en-US" altLang="zh-CN" sz="1600" dirty="0"/>
                  <a:t>With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altLang="zh-CN" sz="1600" dirty="0"/>
                  <a:t>, the number is greater than 17.6 billion</a:t>
                </a:r>
              </a:p>
              <a:p>
                <a:r>
                  <a:rPr lang="en-US" altLang="zh-CN" sz="2000" b="1" dirty="0"/>
                  <a:t>No need to generate all the join orders</a:t>
                </a:r>
              </a:p>
              <a:p>
                <a:pPr lvl="1"/>
                <a:r>
                  <a:rPr lang="en-US" altLang="zh-CN" sz="1600" dirty="0"/>
                  <a:t>Using dynamic programming. The least-cost join order for any subset of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600" dirty="0"/>
                  <a:t> is computed only once and stored for future use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D3F50A8-307B-4E3C-BB15-2CC8EE714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  <a:blipFill>
                <a:blip r:embed="rId2"/>
                <a:stretch>
                  <a:fillRect l="-668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86265C0-813F-4515-97B1-0BE449146504}"/>
                  </a:ext>
                </a:extLst>
              </p:cNvPr>
              <p:cNvSpPr txBox="1"/>
              <p:nvPr/>
            </p:nvSpPr>
            <p:spPr>
              <a:xfrm>
                <a:off x="971600" y="1930297"/>
                <a:ext cx="5976664" cy="929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dirty="0"/>
                  <a:t> 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86265C0-813F-4515-97B1-0BE449146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930297"/>
                <a:ext cx="5976664" cy="929485"/>
              </a:xfrm>
              <a:prstGeom prst="rect">
                <a:avLst/>
              </a:prstGeom>
              <a:blipFill>
                <a:blip r:embed="rId3"/>
                <a:stretch>
                  <a:fillRect t="-2632" b="-7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3261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2BDCF-2C32-4CF1-B19F-23688153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Dynamic Programming in Optimization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00D69D-32F2-45E0-A016-297F8B2F2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136904" cy="3805070"/>
              </a:xfrm>
            </p:spPr>
            <p:txBody>
              <a:bodyPr/>
              <a:lstStyle/>
              <a:p>
                <a:r>
                  <a:rPr lang="en-US" altLang="zh-CN" sz="2000" b="1" dirty="0"/>
                  <a:t>To find best join tree for a set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 dirty="0"/>
                  <a:t>of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 dirty="0"/>
                  <a:t> relations</a:t>
                </a:r>
              </a:p>
              <a:p>
                <a:pPr lvl="1"/>
                <a:r>
                  <a:rPr lang="en-US" altLang="zh-CN" sz="1800" dirty="0"/>
                  <a:t>Consider all possible plans of the form: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/>
                  <a:t> is any non-empty subset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800" dirty="0"/>
                  <a:t>When the plan for any subset is computed, store it and reuse it when it is required again, instead of re-computing it</a:t>
                </a:r>
              </a:p>
              <a:p>
                <a:pPr lvl="1"/>
                <a:r>
                  <a:rPr lang="en-US" altLang="zh-CN" sz="1800" dirty="0"/>
                  <a:t>Recursively compute costs for joining subsets of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800" dirty="0"/>
                  <a:t> to find the cost of each plan. Choose the cheapest.</a:t>
                </a:r>
              </a:p>
              <a:p>
                <a:pPr lvl="1"/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00D69D-32F2-45E0-A016-297F8B2F2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136904" cy="3805070"/>
              </a:xfrm>
              <a:blipFill>
                <a:blip r:embed="rId2"/>
                <a:stretch>
                  <a:fillRect l="-674" t="-801" r="-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7535701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EDD68-173D-4A53-914D-D2DCC409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Join Order Optimization Algorithm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9C350-D3CF-4614-ACD9-586BBCAA5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771550"/>
            <a:ext cx="6060281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1438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071563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3287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6716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0145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23574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27003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1500" b="1" kern="0" dirty="0">
                <a:ea typeface="宋体" panose="02010600030101010101" pitchFamily="2" charset="-122"/>
              </a:rPr>
              <a:t>procedure</a:t>
            </a:r>
            <a:r>
              <a:rPr lang="en-US" altLang="zh-CN" sz="1500" kern="0" dirty="0">
                <a:ea typeface="宋体" panose="02010600030101010101" pitchFamily="2" charset="-122"/>
              </a:rPr>
              <a:t> </a:t>
            </a:r>
            <a:r>
              <a:rPr lang="en-US" altLang="zh-CN" sz="1500" kern="0" dirty="0" err="1">
                <a:ea typeface="宋体" panose="02010600030101010101" pitchFamily="2" charset="-122"/>
              </a:rPr>
              <a:t>findbestplan</a:t>
            </a:r>
            <a:r>
              <a:rPr lang="en-US" altLang="zh-CN" sz="1500" kern="0" dirty="0">
                <a:ea typeface="宋体" panose="02010600030101010101" pitchFamily="2" charset="-122"/>
              </a:rPr>
              <a:t>(</a:t>
            </a:r>
            <a:r>
              <a:rPr lang="en-US" altLang="zh-CN" sz="1500" i="1" kern="0" dirty="0">
                <a:ea typeface="宋体" panose="02010600030101010101" pitchFamily="2" charset="-12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</a:rPr>
              <a:t>)</a:t>
            </a:r>
            <a:br>
              <a:rPr lang="en-US" altLang="zh-CN" sz="1500" kern="0" dirty="0">
                <a:ea typeface="宋体" panose="02010600030101010101" pitchFamily="2" charset="-122"/>
              </a:rPr>
            </a:br>
            <a:r>
              <a:rPr lang="en-US" altLang="zh-CN" sz="1500" kern="0" dirty="0">
                <a:ea typeface="宋体" panose="02010600030101010101" pitchFamily="2" charset="-122"/>
              </a:rPr>
              <a:t>if (</a:t>
            </a:r>
            <a:r>
              <a:rPr lang="en-US" altLang="zh-CN" sz="1500" i="1" kern="0" dirty="0" err="1">
                <a:ea typeface="宋体" panose="02010600030101010101" pitchFamily="2" charset="-122"/>
              </a:rPr>
              <a:t>bestplan</a:t>
            </a:r>
            <a:r>
              <a:rPr lang="en-US" altLang="zh-CN" sz="1500" kern="0" dirty="0">
                <a:ea typeface="宋体" panose="02010600030101010101" pitchFamily="2" charset="-122"/>
              </a:rPr>
              <a:t>[</a:t>
            </a:r>
            <a:r>
              <a:rPr lang="en-US" altLang="zh-CN" sz="1500" i="1" kern="0" dirty="0">
                <a:ea typeface="宋体" panose="02010600030101010101" pitchFamily="2" charset="-12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</a:rPr>
              <a:t>].</a:t>
            </a:r>
            <a:r>
              <a:rPr lang="en-US" altLang="zh-CN" sz="1500" i="1" kern="0" dirty="0">
                <a:ea typeface="宋体" panose="02010600030101010101" pitchFamily="2" charset="-122"/>
              </a:rPr>
              <a:t>cost 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 )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	return </a:t>
            </a:r>
            <a:r>
              <a:rPr lang="en-US" altLang="zh-CN" sz="1500" i="1" kern="0" dirty="0" err="1">
                <a:ea typeface="宋体" panose="02010600030101010101" pitchFamily="2" charset="-122"/>
                <a:sym typeface="Symbol" panose="05050102010706020507" pitchFamily="18" charset="2"/>
              </a:rPr>
              <a:t>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if (S contains only 1 relation)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         set </a:t>
            </a:r>
            <a:r>
              <a:rPr lang="en-US" altLang="zh-CN" sz="1500" kern="0" dirty="0" err="1">
                <a:ea typeface="宋体" panose="02010600030101010101" pitchFamily="2" charset="-122"/>
                <a:sym typeface="Symbol" panose="05050102010706020507" pitchFamily="18" charset="2"/>
              </a:rPr>
              <a:t>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[S].plan and </a:t>
            </a:r>
            <a:r>
              <a:rPr lang="en-US" altLang="zh-CN" sz="1500" kern="0" dirty="0" err="1">
                <a:ea typeface="宋体" panose="02010600030101010101" pitchFamily="2" charset="-122"/>
                <a:sym typeface="Symbol" panose="05050102010706020507" pitchFamily="18" charset="2"/>
              </a:rPr>
              <a:t>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[S].cost 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                             based on best way of accessing S</a:t>
            </a:r>
            <a:br>
              <a:rPr lang="en-US" altLang="zh-CN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else for each non-empty subset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1 of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such that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1 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b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P1= </a:t>
            </a:r>
            <a:r>
              <a:rPr lang="en-US" altLang="zh-CN" sz="1500" kern="0" dirty="0" err="1">
                <a:ea typeface="宋体" panose="02010600030101010101" pitchFamily="2" charset="-122"/>
                <a:sym typeface="Symbol" panose="05050102010706020507" pitchFamily="18" charset="2"/>
              </a:rPr>
              <a:t>findbestplan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1)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	P2= </a:t>
            </a:r>
            <a:r>
              <a:rPr lang="en-US" altLang="zh-CN" sz="1500" kern="0" dirty="0" err="1">
                <a:ea typeface="宋体" panose="02010600030101010101" pitchFamily="2" charset="-122"/>
                <a:sym typeface="Symbol" panose="05050102010706020507" pitchFamily="18" charset="2"/>
              </a:rPr>
              <a:t>findbestplan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 -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1)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	A = best algorithm for joining results of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1 and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	cost =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1.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cost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2.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cost 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+ cost of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	if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cost 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&lt; </a:t>
            </a:r>
            <a:r>
              <a:rPr lang="en-US" altLang="zh-CN" sz="1500" i="1" kern="0" dirty="0" err="1">
                <a:ea typeface="宋体" panose="02010600030101010101" pitchFamily="2" charset="-122"/>
                <a:sym typeface="Symbol" panose="05050102010706020507" pitchFamily="18" charset="2"/>
              </a:rPr>
              <a:t>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].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cost 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 		</a:t>
            </a:r>
            <a:r>
              <a:rPr lang="en-US" altLang="zh-CN" sz="1500" i="1" kern="0" dirty="0" err="1">
                <a:ea typeface="宋体" panose="02010600030101010101" pitchFamily="2" charset="-122"/>
                <a:sym typeface="Symbol" panose="05050102010706020507" pitchFamily="18" charset="2"/>
              </a:rPr>
              <a:t>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].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cost 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= cost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500" i="1" kern="0" dirty="0" err="1">
                <a:ea typeface="宋体" panose="02010600030101010101" pitchFamily="2" charset="-122"/>
                <a:sym typeface="Symbol" panose="05050102010706020507" pitchFamily="18" charset="2"/>
              </a:rPr>
              <a:t>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].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plan 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1500" kern="0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“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execute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1.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       execute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2.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                              join results of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1 and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2 using 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500" kern="0" dirty="0">
                <a:latin typeface="Helvetica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b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return </a:t>
            </a:r>
            <a:r>
              <a:rPr lang="en-US" altLang="zh-CN" sz="1500" i="1" kern="0" dirty="0" err="1">
                <a:ea typeface="宋体" panose="02010600030101010101" pitchFamily="2" charset="-122"/>
                <a:sym typeface="Symbol" panose="05050102010706020507" pitchFamily="18" charset="2"/>
              </a:rPr>
              <a:t>bestplan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1500" i="1" kern="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500" kern="0" dirty="0"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554ED5E-52A1-49B3-8C9F-700CF8110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454" y="771550"/>
            <a:ext cx="2858475" cy="3000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  <a:ea typeface="华文细黑" panose="02010600040101010101" pitchFamily="2" charset="-122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350" b="1" i="1">
                <a:solidFill>
                  <a:srgbClr val="C00000"/>
                </a:solidFill>
                <a:ea typeface="宋体" panose="02010600030101010101" pitchFamily="2" charset="-122"/>
              </a:rPr>
              <a:t>Dynamic-programming algorithm</a:t>
            </a:r>
          </a:p>
        </p:txBody>
      </p:sp>
    </p:spTree>
    <p:extLst>
      <p:ext uri="{BB962C8B-B14F-4D97-AF65-F5344CB8AC3E}">
        <p14:creationId xmlns:p14="http://schemas.microsoft.com/office/powerpoint/2010/main" val="167622576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891F7-4B30-4F43-B800-615F4899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Left Deep Join Trees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6EED49-3F28-4AD7-AECD-4CC002111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In left-deep join trees, the right-hand-side input for each join is a relation, not the result of an intermediate join</a:t>
            </a:r>
          </a:p>
          <a:p>
            <a:endParaRPr lang="zh-CN" alt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C69B3F9-0A37-4545-8A87-F51B7C961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" t="23735" r="885" b="23662"/>
          <a:stretch>
            <a:fillRect/>
          </a:stretch>
        </p:blipFill>
        <p:spPr bwMode="auto">
          <a:xfrm>
            <a:off x="1763688" y="1923678"/>
            <a:ext cx="522803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3841796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8B73A-AAC0-4745-B6AC-E438E347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Cost of Optimization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9E127F-8B25-47CB-AAF0-E8F817850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669215"/>
                <a:ext cx="8784976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b="1" dirty="0"/>
                  <a:t>Complexity of dynamic programming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/>
                  <a:t>The time complexity is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. With n = 10, this number is 59000 instead of 17.6 billion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/>
                  <a:t>Space complexity is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 dirty="0"/>
                  <a:t>Complexity for finding the best left-deep join tree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/>
                  <a:t>Consider n alternatives with one relation as right-hand side input and the other relations as left-hand side input.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/>
                  <a:t>Using (recursively computed and stored) least-cost join order for each alternative on left-hand-side, choose the cheapest of the n alternatives.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/>
                  <a:t>If only left-deep trees are considered, time complexity of finding best join order is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/>
                  <a:t>Space complexity remains at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/>
                  <a:t>Cost-based optimization is expensive, but worthwhile for queries on large datasets (typical queries have small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/>
                  <a:t>, generally &lt; 10)</a:t>
                </a:r>
              </a:p>
              <a:p>
                <a:pPr>
                  <a:spcBef>
                    <a:spcPts val="600"/>
                  </a:spcBef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9E127F-8B25-47CB-AAF0-E8F817850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69215"/>
                <a:ext cx="8784976" cy="3805070"/>
              </a:xfrm>
              <a:blipFill>
                <a:blip r:embed="rId2"/>
                <a:stretch>
                  <a:fillRect l="-624" t="-801" r="-971" b="-11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5445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C176E-ABA8-45C5-990A-F7FFA142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Heuristic Optimization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663D98-E35F-4DC3-A99F-E2EA08A41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640960" cy="3805070"/>
          </a:xfrm>
        </p:spPr>
        <p:txBody>
          <a:bodyPr/>
          <a:lstStyle/>
          <a:p>
            <a:r>
              <a:rPr lang="en-US" altLang="zh-CN" sz="1800" dirty="0"/>
              <a:t>Cost-based optimization is expensive, even with dynamic programming</a:t>
            </a:r>
          </a:p>
          <a:p>
            <a:r>
              <a:rPr lang="en-US" altLang="zh-CN" sz="1800" dirty="0"/>
              <a:t>Systems may use </a:t>
            </a:r>
            <a:r>
              <a:rPr lang="en-US" altLang="zh-CN" sz="1800" b="1" dirty="0">
                <a:solidFill>
                  <a:srgbClr val="C00000"/>
                </a:solidFill>
              </a:rPr>
              <a:t>heuristics</a:t>
            </a:r>
            <a:r>
              <a:rPr lang="en-US" altLang="zh-CN" sz="1800" dirty="0"/>
              <a:t> to reduce the number of choices that must be made in a cost-based fashion</a:t>
            </a:r>
          </a:p>
          <a:p>
            <a:r>
              <a:rPr lang="en-US" altLang="zh-CN" sz="1800" dirty="0"/>
              <a:t>Heuristic optimization transforms the query-tree by using </a:t>
            </a:r>
            <a:r>
              <a:rPr lang="en-US" altLang="zh-CN" sz="1800" b="1" dirty="0">
                <a:solidFill>
                  <a:srgbClr val="C00000"/>
                </a:solidFill>
              </a:rPr>
              <a:t>a set of rules </a:t>
            </a:r>
            <a:r>
              <a:rPr lang="en-US" altLang="zh-CN" sz="1800" dirty="0"/>
              <a:t>that typically (but not in all cases) improve execution performance:</a:t>
            </a:r>
          </a:p>
          <a:p>
            <a:pPr lvl="1"/>
            <a:r>
              <a:rPr lang="en-US" altLang="zh-CN" sz="1400" dirty="0"/>
              <a:t>Perform selection early (reduce the number of tuples)</a:t>
            </a:r>
          </a:p>
          <a:p>
            <a:pPr lvl="1"/>
            <a:r>
              <a:rPr lang="en-US" altLang="zh-CN" sz="1400" dirty="0"/>
              <a:t>Perform projection early (reduce the number of attributes)</a:t>
            </a:r>
          </a:p>
          <a:p>
            <a:pPr lvl="1"/>
            <a:r>
              <a:rPr lang="en-US" altLang="zh-CN" sz="1400" dirty="0"/>
              <a:t>Perform most restrictive selection and join operations before other similar operations</a:t>
            </a:r>
          </a:p>
          <a:p>
            <a:pPr lvl="1"/>
            <a:r>
              <a:rPr lang="en-US" altLang="zh-CN" sz="1400" dirty="0"/>
              <a:t>Some systems use only heuristics, others combine heuristics with partial cost-based optimization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841152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14B38-C732-48DD-880E-13F50113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Steps in Typical Heuristic Optimization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2B96D-32C2-407D-91D1-2B0ECC72D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915566"/>
            <a:ext cx="8568952" cy="36004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600" b="1" dirty="0">
                <a:solidFill>
                  <a:srgbClr val="C00000"/>
                </a:solidFill>
              </a:rPr>
              <a:t>Deconstruct</a:t>
            </a:r>
            <a:r>
              <a:rPr lang="en-US" altLang="zh-CN" sz="1600" dirty="0"/>
              <a:t> conjunctive selections into a sequence of single selection operations (Equiv. rule 1.)</a:t>
            </a:r>
          </a:p>
          <a:p>
            <a:pPr>
              <a:spcBef>
                <a:spcPts val="600"/>
              </a:spcBef>
            </a:pPr>
            <a:r>
              <a:rPr lang="en-US" altLang="zh-CN" sz="1600" dirty="0"/>
              <a:t>Move </a:t>
            </a:r>
            <a:r>
              <a:rPr lang="en-US" altLang="zh-CN" sz="1600" b="1" dirty="0">
                <a:solidFill>
                  <a:srgbClr val="C00000"/>
                </a:solidFill>
              </a:rPr>
              <a:t>selection operations </a:t>
            </a:r>
            <a:r>
              <a:rPr lang="en-US" altLang="zh-CN" sz="1600" dirty="0"/>
              <a:t>down the query tree for the earliest possible execution (Equiv. rules 2, 7a, 7b, 11)</a:t>
            </a:r>
          </a:p>
          <a:p>
            <a:pPr>
              <a:spcBef>
                <a:spcPts val="600"/>
              </a:spcBef>
            </a:pPr>
            <a:r>
              <a:rPr lang="en-US" altLang="zh-CN" sz="1600" dirty="0"/>
              <a:t>Execute first those </a:t>
            </a:r>
            <a:r>
              <a:rPr lang="en-US" altLang="zh-CN" sz="1600" b="1" dirty="0">
                <a:solidFill>
                  <a:srgbClr val="C00000"/>
                </a:solidFill>
              </a:rPr>
              <a:t>selection and join operations </a:t>
            </a:r>
            <a:r>
              <a:rPr lang="en-US" altLang="zh-CN" sz="1600" dirty="0"/>
              <a:t>that will produce the smallest relations (Equiv. rule 6)</a:t>
            </a:r>
          </a:p>
          <a:p>
            <a:pPr>
              <a:spcBef>
                <a:spcPts val="600"/>
              </a:spcBef>
            </a:pPr>
            <a:r>
              <a:rPr lang="en-US" altLang="zh-CN" sz="1600" dirty="0"/>
              <a:t>Replace Cartesian product operations that are followed by a selection condition by </a:t>
            </a:r>
            <a:r>
              <a:rPr lang="en-US" altLang="zh-CN" sz="1600" b="1" dirty="0">
                <a:solidFill>
                  <a:srgbClr val="C00000"/>
                </a:solidFill>
              </a:rPr>
              <a:t>join operations</a:t>
            </a:r>
            <a:r>
              <a:rPr lang="en-US" altLang="zh-CN" sz="1600" dirty="0"/>
              <a:t> (Equiv. rule 4a)</a:t>
            </a:r>
          </a:p>
          <a:p>
            <a:pPr>
              <a:spcBef>
                <a:spcPts val="600"/>
              </a:spcBef>
            </a:pPr>
            <a:r>
              <a:rPr lang="en-US" altLang="zh-CN" sz="1600" dirty="0"/>
              <a:t>Deconstruct and move as far down the tree as possible the lists of </a:t>
            </a:r>
            <a:r>
              <a:rPr lang="en-US" altLang="zh-CN" sz="1600" b="1" dirty="0">
                <a:solidFill>
                  <a:srgbClr val="C00000"/>
                </a:solidFill>
              </a:rPr>
              <a:t>projection</a:t>
            </a:r>
            <a:r>
              <a:rPr lang="en-US" altLang="zh-CN" sz="1600" dirty="0"/>
              <a:t> attributes, creating new projections where needed (Equiv. rules 3, 8a, 8b, 12)</a:t>
            </a:r>
          </a:p>
          <a:p>
            <a:pPr>
              <a:spcBef>
                <a:spcPts val="600"/>
              </a:spcBef>
            </a:pPr>
            <a:r>
              <a:rPr lang="en-US" altLang="zh-CN" sz="1600" dirty="0"/>
              <a:t>Identify those subtrees whose operations can be pipelined, and execute them using </a:t>
            </a:r>
            <a:r>
              <a:rPr lang="en-US" altLang="zh-CN" sz="1600" b="1" dirty="0">
                <a:solidFill>
                  <a:srgbClr val="C00000"/>
                </a:solidFill>
              </a:rPr>
              <a:t>pipelining</a:t>
            </a:r>
          </a:p>
        </p:txBody>
      </p:sp>
    </p:spTree>
    <p:extLst>
      <p:ext uri="{BB962C8B-B14F-4D97-AF65-F5344CB8AC3E}">
        <p14:creationId xmlns:p14="http://schemas.microsoft.com/office/powerpoint/2010/main" val="4130195247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14B38-C732-48DD-880E-13F50113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Assignment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2B96D-32C2-407D-91D1-2B0ECC72D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16.5</a:t>
            </a:r>
            <a:r>
              <a:rPr lang="en-US" altLang="zh-CN" sz="2000" dirty="0"/>
              <a:t> (</a:t>
            </a:r>
            <a:r>
              <a:rPr lang="zh-CN" altLang="en-US" sz="2000" dirty="0"/>
              <a:t>第</a:t>
            </a:r>
            <a:r>
              <a:rPr lang="en-US" altLang="zh-CN" sz="2000" dirty="0"/>
              <a:t>7</a:t>
            </a:r>
            <a:r>
              <a:rPr lang="zh-CN" altLang="en-US" sz="2000" dirty="0"/>
              <a:t>版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1800" dirty="0"/>
              <a:t>Canvas</a:t>
            </a:r>
            <a:r>
              <a:rPr lang="zh-CN" altLang="en-US" sz="1800" dirty="0"/>
              <a:t>上提交，单个</a:t>
            </a:r>
            <a:r>
              <a:rPr lang="en-US" altLang="zh-CN" sz="1800" dirty="0"/>
              <a:t>PDF</a:t>
            </a:r>
            <a:r>
              <a:rPr lang="zh-CN" altLang="en-US" sz="1800" dirty="0"/>
              <a:t>文件</a:t>
            </a:r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B3F96C-BD0E-446B-9F6B-3D6810440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74" y="2062103"/>
            <a:ext cx="8154652" cy="125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61473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995686"/>
            <a:ext cx="7386416" cy="519113"/>
          </a:xfrm>
        </p:spPr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ea typeface="宋体" pitchFamily="2" charset="-122"/>
              </a:rPr>
              <a:t>End of </a:t>
            </a:r>
            <a:r>
              <a:rPr lang="en-US" altLang="zh-CN" sz="3600">
                <a:latin typeface="Arial" panose="020B0604020202020204" pitchFamily="34" charset="0"/>
                <a:ea typeface="宋体" pitchFamily="2" charset="-122"/>
              </a:rPr>
              <a:t>Chapter 16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0777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41834</TotalTime>
  <Words>3733</Words>
  <Application>Microsoft Office PowerPoint</Application>
  <PresentationFormat>全屏显示(16:9)</PresentationFormat>
  <Paragraphs>345</Paragraphs>
  <Slides>46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7" baseType="lpstr">
      <vt:lpstr>Monotype Sorts</vt:lpstr>
      <vt:lpstr>MS PGothic</vt:lpstr>
      <vt:lpstr>黑体</vt:lpstr>
      <vt:lpstr>华文楷体</vt:lpstr>
      <vt:lpstr>华文细黑</vt:lpstr>
      <vt:lpstr>华文行楷</vt:lpstr>
      <vt:lpstr>宋体</vt:lpstr>
      <vt:lpstr>微软雅黑</vt:lpstr>
      <vt:lpstr>Arial</vt:lpstr>
      <vt:lpstr>Calibri</vt:lpstr>
      <vt:lpstr>Cambria Math</vt:lpstr>
      <vt:lpstr>Comic Sans MS</vt:lpstr>
      <vt:lpstr>Helvetica</vt:lpstr>
      <vt:lpstr>Symbol</vt:lpstr>
      <vt:lpstr>Times New Roman</vt:lpstr>
      <vt:lpstr>Trebuchet MS</vt:lpstr>
      <vt:lpstr>Wingdings</vt:lpstr>
      <vt:lpstr>默认设计模板</vt:lpstr>
      <vt:lpstr>2_Office 主题</vt:lpstr>
      <vt:lpstr>Equation</vt:lpstr>
      <vt:lpstr>Microsoft 公式 3.0</vt:lpstr>
      <vt:lpstr>PowerPoint 演示文稿</vt:lpstr>
      <vt:lpstr>Outline</vt:lpstr>
      <vt:lpstr>Introduction</vt:lpstr>
      <vt:lpstr>Introduction (Cont.)</vt:lpstr>
      <vt:lpstr>Introduction (Cont.)</vt:lpstr>
      <vt:lpstr>Introduction (Cont.)</vt:lpstr>
      <vt:lpstr>Outline</vt:lpstr>
      <vt:lpstr>关系表达式转换</vt:lpstr>
      <vt:lpstr>Equivalence Rules</vt:lpstr>
      <vt:lpstr>Equivalence Rules (Cont.)</vt:lpstr>
      <vt:lpstr>Equivalence Rules (Cont.)</vt:lpstr>
      <vt:lpstr>Equivalence Rules (Cont.)</vt:lpstr>
      <vt:lpstr>Equivalence Rules (Cont.)</vt:lpstr>
      <vt:lpstr>Example 1: Pushing Selections</vt:lpstr>
      <vt:lpstr>Example 2: Multiple Transformations</vt:lpstr>
      <vt:lpstr>Example 2: Multiple Transformations</vt:lpstr>
      <vt:lpstr>Exercise</vt:lpstr>
      <vt:lpstr>Join Ordering</vt:lpstr>
      <vt:lpstr>Join Ordering (Cont.)</vt:lpstr>
      <vt:lpstr>Outline</vt:lpstr>
      <vt:lpstr>Statistical Information for Relation</vt:lpstr>
      <vt:lpstr>Catalog Information about Indices</vt:lpstr>
      <vt:lpstr>Measures of Query Cost</vt:lpstr>
      <vt:lpstr>简单选择操作结果大小估计</vt:lpstr>
      <vt:lpstr>复杂选择操作结果大小估计</vt:lpstr>
      <vt:lpstr>连接操作结果大小估计</vt:lpstr>
      <vt:lpstr>连接操作结果大小估计(续)</vt:lpstr>
      <vt:lpstr>连接操作结果大小估计(续)</vt:lpstr>
      <vt:lpstr>连接操作结果大小估计(续)</vt:lpstr>
      <vt:lpstr>其他操作结果集大小估计</vt:lpstr>
      <vt:lpstr>其他操作结果集大小估计（续）</vt:lpstr>
      <vt:lpstr>Estimation of Distinct Values</vt:lpstr>
      <vt:lpstr>Estimation of Distinct Values (Cont.)</vt:lpstr>
      <vt:lpstr>Outline</vt:lpstr>
      <vt:lpstr>Enumeration of Equivalent Expressions</vt:lpstr>
      <vt:lpstr>Execution Plan</vt:lpstr>
      <vt:lpstr>Choice of Execution Plans</vt:lpstr>
      <vt:lpstr>Cost-based Optimization</vt:lpstr>
      <vt:lpstr>Dynamic Programming in Optimization</vt:lpstr>
      <vt:lpstr>Join Order Optimization Algorithm</vt:lpstr>
      <vt:lpstr>Left Deep Join Trees</vt:lpstr>
      <vt:lpstr>Cost of Optimization</vt:lpstr>
      <vt:lpstr>Heuristic Optimization</vt:lpstr>
      <vt:lpstr>Steps in Typical Heuristic Optimization</vt:lpstr>
      <vt:lpstr>Assignment</vt:lpstr>
      <vt:lpstr>End of Chapter 16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ZYC</cp:lastModifiedBy>
  <cp:revision>2382</cp:revision>
  <dcterms:created xsi:type="dcterms:W3CDTF">2007-09-26T12:04:45Z</dcterms:created>
  <dcterms:modified xsi:type="dcterms:W3CDTF">2025-05-17T12:42:04Z</dcterms:modified>
</cp:coreProperties>
</file>