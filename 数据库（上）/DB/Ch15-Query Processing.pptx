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5" r:id="rId1"/>
    <p:sldMasterId id="2147483735" r:id="rId2"/>
  </p:sldMasterIdLst>
  <p:notesMasterIdLst>
    <p:notesMasterId r:id="rId64"/>
  </p:notesMasterIdLst>
  <p:handoutMasterIdLst>
    <p:handoutMasterId r:id="rId65"/>
  </p:handoutMasterIdLst>
  <p:sldIdLst>
    <p:sldId id="1867" r:id="rId3"/>
    <p:sldId id="1798" r:id="rId4"/>
    <p:sldId id="1863" r:id="rId5"/>
    <p:sldId id="1800" r:id="rId6"/>
    <p:sldId id="1801" r:id="rId7"/>
    <p:sldId id="1864" r:id="rId8"/>
    <p:sldId id="1802" r:id="rId9"/>
    <p:sldId id="1803" r:id="rId10"/>
    <p:sldId id="1804" r:id="rId11"/>
    <p:sldId id="1805" r:id="rId12"/>
    <p:sldId id="1807" r:id="rId13"/>
    <p:sldId id="1812" r:id="rId14"/>
    <p:sldId id="1862" r:id="rId15"/>
    <p:sldId id="1813" r:id="rId16"/>
    <p:sldId id="1814" r:id="rId17"/>
    <p:sldId id="1815" r:id="rId18"/>
    <p:sldId id="1816" r:id="rId19"/>
    <p:sldId id="1861" r:id="rId20"/>
    <p:sldId id="1817" r:id="rId21"/>
    <p:sldId id="1819" r:id="rId22"/>
    <p:sldId id="1808" r:id="rId23"/>
    <p:sldId id="1821" r:id="rId24"/>
    <p:sldId id="1822" r:id="rId25"/>
    <p:sldId id="1823" r:id="rId26"/>
    <p:sldId id="1824" r:id="rId27"/>
    <p:sldId id="1825" r:id="rId28"/>
    <p:sldId id="1826" r:id="rId29"/>
    <p:sldId id="1827" r:id="rId30"/>
    <p:sldId id="1809" r:id="rId31"/>
    <p:sldId id="1829" r:id="rId32"/>
    <p:sldId id="1830" r:id="rId33"/>
    <p:sldId id="1866" r:id="rId34"/>
    <p:sldId id="1832" r:id="rId35"/>
    <p:sldId id="1833" r:id="rId36"/>
    <p:sldId id="1834" r:id="rId37"/>
    <p:sldId id="1835" r:id="rId38"/>
    <p:sldId id="1836" r:id="rId39"/>
    <p:sldId id="1837" r:id="rId40"/>
    <p:sldId id="1838" r:id="rId41"/>
    <p:sldId id="1839" r:id="rId42"/>
    <p:sldId id="1842" r:id="rId43"/>
    <p:sldId id="1843" r:id="rId44"/>
    <p:sldId id="1844" r:id="rId45"/>
    <p:sldId id="1845" r:id="rId46"/>
    <p:sldId id="1846" r:id="rId47"/>
    <p:sldId id="1847" r:id="rId48"/>
    <p:sldId id="1848" r:id="rId49"/>
    <p:sldId id="1849" r:id="rId50"/>
    <p:sldId id="1850" r:id="rId51"/>
    <p:sldId id="1810" r:id="rId52"/>
    <p:sldId id="1851" r:id="rId53"/>
    <p:sldId id="1852" r:id="rId54"/>
    <p:sldId id="1853" r:id="rId55"/>
    <p:sldId id="1854" r:id="rId56"/>
    <p:sldId id="1811" r:id="rId57"/>
    <p:sldId id="1855" r:id="rId58"/>
    <p:sldId id="1856" r:id="rId59"/>
    <p:sldId id="1857" r:id="rId60"/>
    <p:sldId id="1858" r:id="rId61"/>
    <p:sldId id="1859" r:id="rId62"/>
    <p:sldId id="1910" r:id="rId63"/>
  </p:sldIdLst>
  <p:sldSz cx="9144000" cy="5143500" type="screen16x9"/>
  <p:notesSz cx="6858000" cy="9144000"/>
  <p:defaultTextStyle>
    <a:defPPr>
      <a:defRPr lang="fi-FI"/>
    </a:defPPr>
    <a:lvl1pPr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1pPr>
    <a:lvl2pPr marL="4556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2pPr>
    <a:lvl3pPr marL="9128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3pPr>
    <a:lvl4pPr marL="13700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4pPr>
    <a:lvl5pPr marL="1827213" indent="1588" algn="l" rtl="0" fontAlgn="base">
      <a:spcBef>
        <a:spcPct val="20000"/>
      </a:spcBef>
      <a:spcAft>
        <a:spcPct val="0"/>
      </a:spcAft>
      <a:buFont typeface="Arial" charset="0"/>
      <a:defRPr sz="1400" kern="1200">
        <a:solidFill>
          <a:schemeClr val="tx1"/>
        </a:solidFill>
        <a:latin typeface="Trebuchet MS" pitchFamily="96" charset="0"/>
        <a:ea typeface="宋体" charset="-122"/>
        <a:cs typeface="+mn-cs"/>
      </a:defRPr>
    </a:lvl5pPr>
    <a:lvl6pPr marL="2286000" algn="l" defTabSz="914400" rtl="0" eaLnBrk="1" latinLnBrk="0" hangingPunct="1">
      <a:defRPr sz="1400" kern="1200">
        <a:solidFill>
          <a:schemeClr val="tx1"/>
        </a:solidFill>
        <a:latin typeface="Trebuchet MS" pitchFamily="96" charset="0"/>
        <a:ea typeface="宋体" charset="-122"/>
        <a:cs typeface="+mn-cs"/>
      </a:defRPr>
    </a:lvl6pPr>
    <a:lvl7pPr marL="2743200" algn="l" defTabSz="914400" rtl="0" eaLnBrk="1" latinLnBrk="0" hangingPunct="1">
      <a:defRPr sz="1400" kern="1200">
        <a:solidFill>
          <a:schemeClr val="tx1"/>
        </a:solidFill>
        <a:latin typeface="Trebuchet MS" pitchFamily="96" charset="0"/>
        <a:ea typeface="宋体" charset="-122"/>
        <a:cs typeface="+mn-cs"/>
      </a:defRPr>
    </a:lvl7pPr>
    <a:lvl8pPr marL="3200400" algn="l" defTabSz="914400" rtl="0" eaLnBrk="1" latinLnBrk="0" hangingPunct="1">
      <a:defRPr sz="1400" kern="1200">
        <a:solidFill>
          <a:schemeClr val="tx1"/>
        </a:solidFill>
        <a:latin typeface="Trebuchet MS" pitchFamily="96" charset="0"/>
        <a:ea typeface="宋体" charset="-122"/>
        <a:cs typeface="+mn-cs"/>
      </a:defRPr>
    </a:lvl8pPr>
    <a:lvl9pPr marL="3657600" algn="l" defTabSz="914400" rtl="0" eaLnBrk="1" latinLnBrk="0" hangingPunct="1">
      <a:defRPr sz="1400" kern="1200">
        <a:solidFill>
          <a:schemeClr val="tx1"/>
        </a:solidFill>
        <a:latin typeface="Trebuchet MS" pitchFamily="96" charset="0"/>
        <a:ea typeface="宋体" charset="-122"/>
        <a:cs typeface="+mn-cs"/>
      </a:defRPr>
    </a:lvl9pPr>
  </p:defaultTextStyle>
  <p:extLst>
    <p:ext uri="{521415D9-36F7-43E2-AB2F-B90AF26B5E84}">
      <p14:sectionLst xmlns:p14="http://schemas.microsoft.com/office/powerpoint/2010/main">
        <p14:section name="标题" id="{EB83E03E-195F-4588-BA9C-87CAE50CC123}">
          <p14:sldIdLst>
            <p14:sldId id="1867"/>
            <p14:sldId id="1798"/>
            <p14:sldId id="1863"/>
            <p14:sldId id="1800"/>
            <p14:sldId id="1801"/>
            <p14:sldId id="1864"/>
            <p14:sldId id="1802"/>
            <p14:sldId id="1803"/>
            <p14:sldId id="1804"/>
            <p14:sldId id="1805"/>
            <p14:sldId id="1807"/>
            <p14:sldId id="1812"/>
            <p14:sldId id="1862"/>
            <p14:sldId id="1813"/>
            <p14:sldId id="1814"/>
            <p14:sldId id="1815"/>
            <p14:sldId id="1816"/>
            <p14:sldId id="1861"/>
            <p14:sldId id="1817"/>
            <p14:sldId id="1819"/>
            <p14:sldId id="1808"/>
            <p14:sldId id="1821"/>
            <p14:sldId id="1822"/>
            <p14:sldId id="1823"/>
            <p14:sldId id="1824"/>
            <p14:sldId id="1825"/>
            <p14:sldId id="1826"/>
            <p14:sldId id="1827"/>
            <p14:sldId id="1809"/>
            <p14:sldId id="1829"/>
            <p14:sldId id="1830"/>
            <p14:sldId id="1866"/>
            <p14:sldId id="1832"/>
            <p14:sldId id="1833"/>
            <p14:sldId id="1834"/>
            <p14:sldId id="1835"/>
            <p14:sldId id="1836"/>
            <p14:sldId id="1837"/>
            <p14:sldId id="1838"/>
            <p14:sldId id="1839"/>
            <p14:sldId id="1842"/>
            <p14:sldId id="1843"/>
            <p14:sldId id="1844"/>
            <p14:sldId id="1845"/>
            <p14:sldId id="1846"/>
            <p14:sldId id="1847"/>
            <p14:sldId id="1848"/>
            <p14:sldId id="1849"/>
            <p14:sldId id="1850"/>
            <p14:sldId id="1810"/>
            <p14:sldId id="1851"/>
            <p14:sldId id="1852"/>
            <p14:sldId id="1853"/>
            <p14:sldId id="1854"/>
            <p14:sldId id="1811"/>
            <p14:sldId id="1855"/>
            <p14:sldId id="1856"/>
            <p14:sldId id="1857"/>
            <p14:sldId id="1858"/>
            <p14:sldId id="1859"/>
            <p14:sldId id="1910"/>
          </p14:sldIdLst>
        </p14:section>
      </p14:sectionLst>
    </p:ext>
    <p:ext uri="{EFAFB233-063F-42B5-8137-9DF3F51BA10A}">
      <p15:sldGuideLst xmlns:p15="http://schemas.microsoft.com/office/powerpoint/2012/main">
        <p15:guide id="1" orient="horz" pos="3838" userDrawn="1">
          <p15:clr>
            <a:srgbClr val="A4A3A4"/>
          </p15:clr>
        </p15:guide>
        <p15:guide id="2" pos="295" userDrawn="1">
          <p15:clr>
            <a:srgbClr val="A4A3A4"/>
          </p15:clr>
        </p15:guide>
        <p15:guide id="4" pos="5193" userDrawn="1">
          <p15:clr>
            <a:srgbClr val="A4A3A4"/>
          </p15:clr>
        </p15:guide>
        <p15:guide id="5" pos="3152" userDrawn="1">
          <p15:clr>
            <a:srgbClr val="A4A3A4"/>
          </p15:clr>
        </p15:guide>
        <p15:guide id="6" orient="horz" pos="2879">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06BA"/>
    <a:srgbClr val="080808"/>
    <a:srgbClr val="339933"/>
    <a:srgbClr val="B5880B"/>
    <a:srgbClr val="E87071"/>
    <a:srgbClr val="00B3EE"/>
    <a:srgbClr val="93E5FF"/>
    <a:srgbClr val="F7FE98"/>
    <a:srgbClr val="FFFFFF"/>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74" autoAdjust="0"/>
    <p:restoredTop sz="76630" autoAdjust="0"/>
  </p:normalViewPr>
  <p:slideViewPr>
    <p:cSldViewPr>
      <p:cViewPr varScale="1">
        <p:scale>
          <a:sx n="89" d="100"/>
          <a:sy n="89" d="100"/>
        </p:scale>
        <p:origin x="1282" y="67"/>
      </p:cViewPr>
      <p:guideLst>
        <p:guide orient="horz" pos="3838"/>
        <p:guide pos="295"/>
        <p:guide pos="5193"/>
        <p:guide pos="3152"/>
        <p:guide orient="horz" pos="2879"/>
      </p:guideLst>
    </p:cSldViewPr>
  </p:slideViewPr>
  <p:notesTextViewPr>
    <p:cViewPr>
      <p:scale>
        <a:sx n="200" d="100"/>
        <a:sy n="200" d="100"/>
      </p:scale>
      <p:origin x="0" y="0"/>
    </p:cViewPr>
  </p:notesTextViewPr>
  <p:sorterViewPr>
    <p:cViewPr>
      <p:scale>
        <a:sx n="100" d="100"/>
        <a:sy n="10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510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atin typeface="Arial" charset="0"/>
                <a:ea typeface="+mn-ea"/>
              </a:defRPr>
            </a:lvl1pPr>
          </a:lstStyle>
          <a:p>
            <a:pPr>
              <a:defRPr/>
            </a:pPr>
            <a:endParaRPr lang="en-GB" altLang="zh-CN"/>
          </a:p>
        </p:txBody>
      </p:sp>
      <p:sp>
        <p:nvSpPr>
          <p:cNvPr id="175107"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atin typeface="Arial" charset="0"/>
                <a:ea typeface="+mn-ea"/>
              </a:defRPr>
            </a:lvl1pPr>
          </a:lstStyle>
          <a:p>
            <a:pPr>
              <a:defRPr/>
            </a:pPr>
            <a:endParaRPr lang="en-GB" altLang="zh-CN"/>
          </a:p>
        </p:txBody>
      </p:sp>
      <p:sp>
        <p:nvSpPr>
          <p:cNvPr id="175108"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atin typeface="Arial" charset="0"/>
                <a:ea typeface="+mn-ea"/>
              </a:defRPr>
            </a:lvl1pPr>
          </a:lstStyle>
          <a:p>
            <a:pPr>
              <a:defRPr/>
            </a:pPr>
            <a:endParaRPr lang="en-GB" altLang="zh-CN"/>
          </a:p>
        </p:txBody>
      </p:sp>
      <p:sp>
        <p:nvSpPr>
          <p:cNvPr id="175109"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atin typeface="Arial" charset="0"/>
                <a:ea typeface="+mn-ea"/>
              </a:defRPr>
            </a:lvl1pPr>
          </a:lstStyle>
          <a:p>
            <a:pPr>
              <a:defRPr/>
            </a:pPr>
            <a:fld id="{58CD87A4-0184-412C-A44A-3DA728178AFF}" type="slidenum">
              <a:rPr lang="en-GB" altLang="zh-CN"/>
              <a:pPr>
                <a:defRPr/>
              </a:pPr>
              <a:t>‹#›</a:t>
            </a:fld>
            <a:endParaRPr lang="en-GB" altLang="zh-CN"/>
          </a:p>
        </p:txBody>
      </p:sp>
    </p:spTree>
    <p:extLst>
      <p:ext uri="{BB962C8B-B14F-4D97-AF65-F5344CB8AC3E}">
        <p14:creationId xmlns:p14="http://schemas.microsoft.com/office/powerpoint/2010/main" val="23572666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spcBef>
                <a:spcPct val="0"/>
              </a:spcBef>
              <a:buFontTx/>
              <a:buNone/>
              <a:defRPr sz="1200">
                <a:latin typeface="Arial" charset="0"/>
                <a:ea typeface="+mn-ea"/>
              </a:defRPr>
            </a:lvl1pPr>
          </a:lstStyle>
          <a:p>
            <a:pPr>
              <a:defRPr/>
            </a:pPr>
            <a:endParaRPr lang="en-US" altLang="zh-CN"/>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spcBef>
                <a:spcPct val="0"/>
              </a:spcBef>
              <a:buFontTx/>
              <a:buNone/>
              <a:defRPr sz="1200">
                <a:latin typeface="Arial" charset="0"/>
                <a:ea typeface="+mn-ea"/>
              </a:defRPr>
            </a:lvl1pPr>
          </a:lstStyle>
          <a:p>
            <a:pPr>
              <a:defRPr/>
            </a:pPr>
            <a:endParaRPr lang="en-US" altLang="zh-CN"/>
          </a:p>
        </p:txBody>
      </p:sp>
      <p:sp>
        <p:nvSpPr>
          <p:cNvPr id="7172"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fi-FI" noProof="0"/>
              <a:t>Muokkaa tekstin perustyylejä napsauttamalla</a:t>
            </a:r>
          </a:p>
          <a:p>
            <a:pPr lvl="1"/>
            <a:r>
              <a:rPr lang="fi-FI" noProof="0"/>
              <a:t>toinen taso</a:t>
            </a:r>
          </a:p>
          <a:p>
            <a:pPr lvl="2"/>
            <a:r>
              <a:rPr lang="fi-FI" noProof="0"/>
              <a:t>kolmas taso</a:t>
            </a:r>
          </a:p>
          <a:p>
            <a:pPr lvl="3"/>
            <a:r>
              <a:rPr lang="fi-FI" noProof="0"/>
              <a:t>neljäs taso</a:t>
            </a:r>
          </a:p>
          <a:p>
            <a:pPr lvl="4"/>
            <a:r>
              <a:rPr lang="fi-FI" noProof="0"/>
              <a:t>viides taso</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spcBef>
                <a:spcPct val="0"/>
              </a:spcBef>
              <a:buFontTx/>
              <a:buNone/>
              <a:defRPr sz="1200">
                <a:latin typeface="Arial" charset="0"/>
                <a:ea typeface="+mn-ea"/>
              </a:defRPr>
            </a:lvl1pPr>
          </a:lstStyle>
          <a:p>
            <a:pPr>
              <a:defRPr/>
            </a:pPr>
            <a:endParaRPr lang="en-US" altLang="zh-CN"/>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buFontTx/>
              <a:buNone/>
              <a:defRPr sz="1200">
                <a:latin typeface="Arial" charset="0"/>
                <a:ea typeface="+mn-ea"/>
              </a:defRPr>
            </a:lvl1pPr>
          </a:lstStyle>
          <a:p>
            <a:pPr>
              <a:defRPr/>
            </a:pPr>
            <a:fld id="{BB8C311E-5859-4E0C-A0F3-4690A095D6BE}" type="slidenum">
              <a:rPr lang="fi-FI" altLang="zh-CN"/>
              <a:pPr>
                <a:defRPr/>
              </a:pPr>
              <a:t>‹#›</a:t>
            </a:fld>
            <a:endParaRPr lang="fi-FI" altLang="zh-CN"/>
          </a:p>
        </p:txBody>
      </p:sp>
    </p:spTree>
    <p:extLst>
      <p:ext uri="{BB962C8B-B14F-4D97-AF65-F5344CB8AC3E}">
        <p14:creationId xmlns:p14="http://schemas.microsoft.com/office/powerpoint/2010/main" val="17204162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5613" algn="l" rtl="0" eaLnBrk="0" fontAlgn="base" hangingPunct="0">
      <a:spcBef>
        <a:spcPct val="30000"/>
      </a:spcBef>
      <a:spcAft>
        <a:spcPct val="0"/>
      </a:spcAft>
      <a:defRPr sz="1200" kern="1200">
        <a:solidFill>
          <a:schemeClr val="tx1"/>
        </a:solidFill>
        <a:latin typeface="Arial" charset="0"/>
        <a:ea typeface="+mn-ea"/>
        <a:cs typeface="+mn-cs"/>
      </a:defRPr>
    </a:lvl2pPr>
    <a:lvl3pPr marL="912813" algn="l" rtl="0" eaLnBrk="0" fontAlgn="base" hangingPunct="0">
      <a:spcBef>
        <a:spcPct val="30000"/>
      </a:spcBef>
      <a:spcAft>
        <a:spcPct val="0"/>
      </a:spcAft>
      <a:defRPr sz="1200" kern="1200">
        <a:solidFill>
          <a:schemeClr val="tx1"/>
        </a:solidFill>
        <a:latin typeface="Arial" charset="0"/>
        <a:ea typeface="+mn-ea"/>
        <a:cs typeface="+mn-cs"/>
      </a:defRPr>
    </a:lvl3pPr>
    <a:lvl4pPr marL="1370013" algn="l" rtl="0" eaLnBrk="0" fontAlgn="base" hangingPunct="0">
      <a:spcBef>
        <a:spcPct val="30000"/>
      </a:spcBef>
      <a:spcAft>
        <a:spcPct val="0"/>
      </a:spcAft>
      <a:defRPr sz="1200" kern="1200">
        <a:solidFill>
          <a:schemeClr val="tx1"/>
        </a:solidFill>
        <a:latin typeface="Arial" charset="0"/>
        <a:ea typeface="+mn-ea"/>
        <a:cs typeface="+mn-cs"/>
      </a:defRPr>
    </a:lvl4pPr>
    <a:lvl5pPr marL="1827213" algn="l" rtl="0" eaLnBrk="0" fontAlgn="base" hangingPunct="0">
      <a:spcBef>
        <a:spcPct val="30000"/>
      </a:spcBef>
      <a:spcAft>
        <a:spcPct val="0"/>
      </a:spcAft>
      <a:defRPr sz="1200" kern="1200">
        <a:solidFill>
          <a:schemeClr val="tx1"/>
        </a:solidFill>
        <a:latin typeface="Arial" charset="0"/>
        <a:ea typeface="+mn-ea"/>
        <a:cs typeface="+mn-cs"/>
      </a:defRPr>
    </a:lvl5pPr>
    <a:lvl6pPr marL="2285726" algn="l" defTabSz="914290" rtl="0" eaLnBrk="1" latinLnBrk="0" hangingPunct="1">
      <a:defRPr sz="1200" kern="1200">
        <a:solidFill>
          <a:schemeClr val="tx1"/>
        </a:solidFill>
        <a:latin typeface="+mn-lt"/>
        <a:ea typeface="+mn-ea"/>
        <a:cs typeface="+mn-cs"/>
      </a:defRPr>
    </a:lvl6pPr>
    <a:lvl7pPr marL="2742871" algn="l" defTabSz="914290" rtl="0" eaLnBrk="1" latinLnBrk="0" hangingPunct="1">
      <a:defRPr sz="1200" kern="1200">
        <a:solidFill>
          <a:schemeClr val="tx1"/>
        </a:solidFill>
        <a:latin typeface="+mn-lt"/>
        <a:ea typeface="+mn-ea"/>
        <a:cs typeface="+mn-cs"/>
      </a:defRPr>
    </a:lvl7pPr>
    <a:lvl8pPr marL="3200016" algn="l" defTabSz="914290" rtl="0" eaLnBrk="1" latinLnBrk="0" hangingPunct="1">
      <a:defRPr sz="1200" kern="1200">
        <a:solidFill>
          <a:schemeClr val="tx1"/>
        </a:solidFill>
        <a:latin typeface="+mn-lt"/>
        <a:ea typeface="+mn-ea"/>
        <a:cs typeface="+mn-cs"/>
      </a:defRPr>
    </a:lvl8pPr>
    <a:lvl9pPr marL="3657161" algn="l" defTabSz="91429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B8C311E-5859-4E0C-A0F3-4690A095D6BE}" type="slidenum">
              <a:rPr lang="fi-FI" altLang="zh-CN" smtClean="0"/>
              <a:pPr>
                <a:defRPr/>
              </a:pPr>
              <a:t>1</a:t>
            </a:fld>
            <a:endParaRPr lang="fi-FI" altLang="zh-CN"/>
          </a:p>
        </p:txBody>
      </p:sp>
    </p:spTree>
    <p:extLst>
      <p:ext uri="{BB962C8B-B14F-4D97-AF65-F5344CB8AC3E}">
        <p14:creationId xmlns:p14="http://schemas.microsoft.com/office/powerpoint/2010/main" val="37686805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t>availability of indices</a:t>
            </a:r>
            <a:r>
              <a:rPr lang="zh-CN" altLang="en-US" dirty="0"/>
              <a:t>：索引的可用性，即搜索的关键词是否被索引过</a:t>
            </a:r>
            <a:endParaRPr lang="en-US" altLang="zh-CN" b="1"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12</a:t>
            </a:fld>
            <a:endParaRPr lang="fi-FI" altLang="zh-CN"/>
          </a:p>
        </p:txBody>
      </p:sp>
    </p:spTree>
    <p:extLst>
      <p:ext uri="{BB962C8B-B14F-4D97-AF65-F5344CB8AC3E}">
        <p14:creationId xmlns:p14="http://schemas.microsoft.com/office/powerpoint/2010/main" val="3620901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b="1"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13</a:t>
            </a:fld>
            <a:endParaRPr lang="fi-FI" altLang="zh-CN"/>
          </a:p>
        </p:txBody>
      </p:sp>
    </p:spTree>
    <p:extLst>
      <p:ext uri="{BB962C8B-B14F-4D97-AF65-F5344CB8AC3E}">
        <p14:creationId xmlns:p14="http://schemas.microsoft.com/office/powerpoint/2010/main" val="29233934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r>
                  <a:rPr lang="en-US" altLang="zh-CN" sz="1200" dirty="0"/>
                  <a:t>read</a:t>
                </a:r>
                <a:r>
                  <a:rPr lang="zh-CN" altLang="en-US" sz="1200" dirty="0"/>
                  <a:t>和</a:t>
                </a:r>
                <a:r>
                  <a:rPr lang="en-US" altLang="zh-CN" sz="1200" dirty="0"/>
                  <a:t>write</a:t>
                </a:r>
                <a:r>
                  <a:rPr lang="zh-CN" altLang="en-US" sz="1200" dirty="0"/>
                  <a:t>各需要</a:t>
                </a:r>
                <a14:m>
                  <m:oMath xmlns:m="http://schemas.openxmlformats.org/officeDocument/2006/math">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𝑏</m:t>
                        </m:r>
                      </m:e>
                      <m:sub>
                        <m:r>
                          <a:rPr lang="en-US" altLang="zh-CN" sz="1200" b="0" i="1" smtClean="0">
                            <a:latin typeface="Cambria Math" panose="02040503050406030204" pitchFamily="18" charset="0"/>
                          </a:rPr>
                          <m:t>𝑟</m:t>
                        </m:r>
                      </m:sub>
                    </m:sSub>
                  </m:oMath>
                </a14:m>
                <a:r>
                  <a:rPr lang="zh-CN" altLang="en-US" dirty="0"/>
                  <a:t>次磁盘访问，因此总共需要</a:t>
                </a:r>
                <a14:m>
                  <m:oMath xmlns:m="http://schemas.openxmlformats.org/officeDocument/2006/math">
                    <m:r>
                      <a:rPr lang="en-US" altLang="zh-CN" sz="1200" b="0" i="1" smtClean="0">
                        <a:latin typeface="Cambria Math" panose="02040503050406030204" pitchFamily="18" charset="0"/>
                      </a:rPr>
                      <m:t>2</m:t>
                    </m:r>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𝑏</m:t>
                        </m:r>
                      </m:e>
                      <m:sub>
                        <m:r>
                          <a:rPr lang="en-US" altLang="zh-CN" sz="1200" b="0" i="1" smtClean="0">
                            <a:latin typeface="Cambria Math" panose="02040503050406030204" pitchFamily="18" charset="0"/>
                          </a:rPr>
                          <m:t>𝑟</m:t>
                        </m:r>
                      </m:sub>
                    </m:sSub>
                  </m:oMath>
                </a14:m>
                <a:r>
                  <a:rPr lang="zh-CN" altLang="en-US" dirty="0"/>
                  <a:t>次磁盘访问。如果只计算</a:t>
                </a:r>
                <a:r>
                  <a:rPr lang="en-US" altLang="zh-CN" sz="1200" dirty="0"/>
                  <a:t>read</a:t>
                </a:r>
                <a:r>
                  <a:rPr lang="zh-CN" altLang="en-US" sz="1200" dirty="0"/>
                  <a:t>，例如最后一轮，那就只需要</a:t>
                </a:r>
                <a14:m>
                  <m:oMath xmlns:m="http://schemas.openxmlformats.org/officeDocument/2006/math">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𝑏</m:t>
                        </m:r>
                      </m:e>
                      <m:sub>
                        <m:r>
                          <a:rPr lang="en-US" altLang="zh-CN" sz="1200" b="0" i="1" smtClean="0">
                            <a:latin typeface="Cambria Math" panose="02040503050406030204" pitchFamily="18" charset="0"/>
                          </a:rPr>
                          <m:t>𝑟</m:t>
                        </m:r>
                      </m:sub>
                    </m:sSub>
                  </m:oMath>
                </a14:m>
                <a:r>
                  <a:rPr lang="zh-CN" altLang="en-US" dirty="0"/>
                  <a:t>次磁盘访问。注意：</a:t>
                </a:r>
                <a14:m>
                  <m:oMath xmlns:m="http://schemas.openxmlformats.org/officeDocument/2006/math">
                    <m:r>
                      <a:rPr lang="en-US" altLang="zh-CN" sz="1200" b="0" i="1" smtClean="0">
                        <a:latin typeface="Cambria Math" panose="02040503050406030204" pitchFamily="18" charset="0"/>
                      </a:rPr>
                      <m:t>2</m:t>
                    </m:r>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𝑏</m:t>
                        </m:r>
                      </m:e>
                      <m:sub>
                        <m:r>
                          <a:rPr lang="en-US" altLang="zh-CN" sz="1200" b="0" i="1" smtClean="0">
                            <a:latin typeface="Cambria Math" panose="02040503050406030204" pitchFamily="18" charset="0"/>
                          </a:rPr>
                          <m:t>𝑟</m:t>
                        </m:r>
                      </m:sub>
                    </m:sSub>
                    <m:d>
                      <m:dPr>
                        <m:begChr m:val="⌈"/>
                        <m:endChr m:val="⌉"/>
                        <m:ctrlPr>
                          <a:rPr lang="en-US" altLang="zh-CN" sz="1200" b="0" i="1" smtClean="0">
                            <a:latin typeface="Cambria Math" panose="02040503050406030204" pitchFamily="18" charset="0"/>
                          </a:rPr>
                        </m:ctrlPr>
                      </m:d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𝑙𝑜𝑔</m:t>
                            </m:r>
                          </m:e>
                          <m:sub>
                            <m:d>
                              <m:dPr>
                                <m:begChr m:val="⌊"/>
                                <m:endChr m:val="⌋"/>
                                <m:ctrlPr>
                                  <a:rPr lang="en-US" altLang="zh-CN" sz="1200" i="1">
                                    <a:latin typeface="Cambria Math" panose="02040503050406030204" pitchFamily="18" charset="0"/>
                                  </a:rPr>
                                </m:ctrlPr>
                              </m:dPr>
                              <m:e>
                                <m:r>
                                  <a:rPr lang="en-US" altLang="zh-CN" sz="1200" i="1">
                                    <a:latin typeface="Cambria Math" panose="02040503050406030204" pitchFamily="18" charset="0"/>
                                  </a:rPr>
                                  <m:t>𝑀</m:t>
                                </m:r>
                                <m:r>
                                  <a:rPr lang="en-US" altLang="zh-CN" sz="1200" i="1">
                                    <a:latin typeface="Cambria Math" panose="02040503050406030204" pitchFamily="18" charset="0"/>
                                  </a:rPr>
                                  <m:t>/</m:t>
                                </m:r>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𝑏</m:t>
                                    </m:r>
                                  </m:e>
                                  <m:sub>
                                    <m:r>
                                      <a:rPr lang="en-US" altLang="zh-CN" sz="1200" i="1">
                                        <a:latin typeface="Cambria Math" panose="02040503050406030204" pitchFamily="18" charset="0"/>
                                      </a:rPr>
                                      <m:t>𝑏</m:t>
                                    </m:r>
                                  </m:sub>
                                </m:sSub>
                              </m:e>
                            </m:d>
                            <m:r>
                              <a:rPr lang="en-US" altLang="zh-CN" sz="1200" b="0" i="1" smtClean="0">
                                <a:latin typeface="Cambria Math" panose="02040503050406030204" pitchFamily="18" charset="0"/>
                              </a:rPr>
                              <m:t>−1</m:t>
                            </m:r>
                          </m:sub>
                        </m:sSub>
                        <m:d>
                          <m:dPr>
                            <m:ctrlPr>
                              <a:rPr lang="en-US" altLang="zh-CN" sz="1200" i="1">
                                <a:latin typeface="Cambria Math" panose="02040503050406030204" pitchFamily="18" charset="0"/>
                              </a:rPr>
                            </m:ctrlPr>
                          </m:dPr>
                          <m:e>
                            <m:f>
                              <m:fPr>
                                <m:ctrlPr>
                                  <a:rPr lang="en-US" altLang="zh-CN" sz="1200" i="1">
                                    <a:latin typeface="Cambria Math" panose="02040503050406030204" pitchFamily="18" charset="0"/>
                                  </a:rPr>
                                </m:ctrlPr>
                              </m:fPr>
                              <m:num>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𝑏</m:t>
                                    </m:r>
                                  </m:e>
                                  <m:sub>
                                    <m:r>
                                      <a:rPr lang="en-US" altLang="zh-CN" sz="1200" i="1">
                                        <a:latin typeface="Cambria Math" panose="02040503050406030204" pitchFamily="18" charset="0"/>
                                      </a:rPr>
                                      <m:t>𝑟</m:t>
                                    </m:r>
                                  </m:sub>
                                </m:sSub>
                              </m:num>
                              <m:den>
                                <m:r>
                                  <a:rPr lang="en-US" altLang="zh-CN" sz="1200" i="1">
                                    <a:latin typeface="Cambria Math" panose="02040503050406030204" pitchFamily="18" charset="0"/>
                                  </a:rPr>
                                  <m:t>𝑀</m:t>
                                </m:r>
                              </m:den>
                            </m:f>
                          </m:e>
                        </m:d>
                      </m:e>
                    </m:d>
                  </m:oMath>
                </a14:m>
                <a:r>
                  <a:rPr lang="zh-CN" altLang="en-US" dirty="0"/>
                  <a:t>中包含了</a:t>
                </a:r>
                <a:r>
                  <a:rPr lang="en-US" altLang="zh-CN" sz="1200" dirty="0"/>
                  <a:t>initial run creation</a:t>
                </a:r>
                <a:r>
                  <a:rPr lang="zh-CN" altLang="en-US" sz="1200"/>
                  <a:t>中的</a:t>
                </a:r>
                <a14:m>
                  <m:oMath xmlns:m="http://schemas.openxmlformats.org/officeDocument/2006/math">
                    <m:r>
                      <a:rPr lang="en-US" altLang="zh-CN" sz="1200" b="0" i="1" smtClean="0">
                        <a:latin typeface="Cambria Math" panose="02040503050406030204" pitchFamily="18" charset="0"/>
                      </a:rPr>
                      <m:t>2</m:t>
                    </m:r>
                    <m:sSub>
                      <m:sSubPr>
                        <m:ctrlPr>
                          <a:rPr lang="en-US" altLang="zh-CN" sz="1200" i="1" smtClean="0">
                            <a:latin typeface="Cambria Math" panose="02040503050406030204" pitchFamily="18" charset="0"/>
                          </a:rPr>
                        </m:ctrlPr>
                      </m:sSubPr>
                      <m:e>
                        <m:r>
                          <a:rPr lang="en-US" altLang="zh-CN" sz="1200" b="0" i="1" smtClean="0">
                            <a:latin typeface="Cambria Math" panose="02040503050406030204" pitchFamily="18" charset="0"/>
                          </a:rPr>
                          <m:t>𝑏</m:t>
                        </m:r>
                      </m:e>
                      <m:sub>
                        <m:r>
                          <a:rPr lang="en-US" altLang="zh-CN" sz="1200" b="0" i="1" smtClean="0">
                            <a:latin typeface="Cambria Math" panose="02040503050406030204" pitchFamily="18" charset="0"/>
                          </a:rPr>
                          <m:t>𝑟</m:t>
                        </m:r>
                      </m:sub>
                    </m:sSub>
                  </m:oMath>
                </a14:m>
                <a:r>
                  <a:rPr lang="zh-CN" altLang="en-US" dirty="0"/>
                  <a:t>。</a:t>
                </a:r>
              </a:p>
            </p:txBody>
          </p:sp>
        </mc:Choice>
        <mc:Fallback>
          <p:sp>
            <p:nvSpPr>
              <p:cNvPr id="3" name="备注占位符 2"/>
              <p:cNvSpPr>
                <a:spLocks noGrp="1"/>
              </p:cNvSpPr>
              <p:nvPr>
                <p:ph type="body" idx="1"/>
              </p:nvPr>
            </p:nvSpPr>
            <p:spPr/>
            <p:txBody>
              <a:bodyPr/>
              <a:lstStyle/>
              <a:p>
                <a:r>
                  <a:rPr lang="en-US" altLang="zh-CN" sz="1200" dirty="0"/>
                  <a:t>read</a:t>
                </a:r>
                <a:r>
                  <a:rPr lang="zh-CN" altLang="en-US" sz="1200" dirty="0"/>
                  <a:t>和</a:t>
                </a:r>
                <a:r>
                  <a:rPr lang="en-US" altLang="zh-CN" sz="1200" dirty="0"/>
                  <a:t>write</a:t>
                </a:r>
                <a:r>
                  <a:rPr lang="zh-CN" altLang="en-US" sz="1200" dirty="0"/>
                  <a:t>各需要</a:t>
                </a:r>
                <a:r>
                  <a:rPr lang="en-US" altLang="zh-CN" sz="1200" b="0" i="0">
                    <a:latin typeface="Cambria Math" panose="02040503050406030204" pitchFamily="18" charset="0"/>
                  </a:rPr>
                  <a:t>𝑏_𝑟</a:t>
                </a:r>
                <a:r>
                  <a:rPr lang="zh-CN" altLang="en-US" dirty="0"/>
                  <a:t>次磁盘访问，因此总共需要</a:t>
                </a:r>
                <a:r>
                  <a:rPr lang="en-US" altLang="zh-CN" sz="1200" b="0" i="0">
                    <a:latin typeface="Cambria Math" panose="02040503050406030204" pitchFamily="18" charset="0"/>
                  </a:rPr>
                  <a:t>2𝑏_𝑟</a:t>
                </a:r>
                <a:r>
                  <a:rPr lang="zh-CN" altLang="en-US" dirty="0"/>
                  <a:t>次磁盘访问。如果只计算</a:t>
                </a:r>
                <a:r>
                  <a:rPr lang="en-US" altLang="zh-CN" sz="1200" dirty="0"/>
                  <a:t>read</a:t>
                </a:r>
                <a:r>
                  <a:rPr lang="zh-CN" altLang="en-US" sz="1200" dirty="0"/>
                  <a:t>，例如最后一轮，那就只需要</a:t>
                </a:r>
                <a:r>
                  <a:rPr lang="en-US" altLang="zh-CN" sz="1200" b="0" i="0">
                    <a:latin typeface="Cambria Math" panose="02040503050406030204" pitchFamily="18" charset="0"/>
                  </a:rPr>
                  <a:t>𝑏_𝑟</a:t>
                </a:r>
                <a:r>
                  <a:rPr lang="zh-CN" altLang="en-US" dirty="0"/>
                  <a:t>次磁盘访问。注意：</a:t>
                </a:r>
                <a:r>
                  <a:rPr lang="en-US" altLang="zh-CN" sz="1200" b="0" i="0">
                    <a:latin typeface="Cambria Math" panose="02040503050406030204" pitchFamily="18" charset="0"/>
                  </a:rPr>
                  <a:t>2𝑏_𝑟 ⌈〖</a:t>
                </a:r>
                <a:r>
                  <a:rPr lang="en-US" altLang="zh-CN" sz="1200" i="0">
                    <a:latin typeface="Cambria Math" panose="02040503050406030204" pitchFamily="18" charset="0"/>
                  </a:rPr>
                  <a:t>𝑙𝑜𝑔〗_(⌊𝑀/𝑏_𝑏 ⌋</a:t>
                </a:r>
                <a:r>
                  <a:rPr lang="en-US" altLang="zh-CN" sz="1200" b="0" i="0">
                    <a:latin typeface="Cambria Math" panose="02040503050406030204" pitchFamily="18" charset="0"/>
                  </a:rPr>
                  <a:t>−1) (</a:t>
                </a:r>
                <a:r>
                  <a:rPr lang="en-US" altLang="zh-CN" sz="1200" i="0">
                    <a:latin typeface="Cambria Math" panose="02040503050406030204" pitchFamily="18" charset="0"/>
                  </a:rPr>
                  <a:t>𝑏_𝑟/𝑀)⌉</a:t>
                </a:r>
                <a:r>
                  <a:rPr lang="zh-CN" altLang="en-US" dirty="0"/>
                  <a:t>中包含了</a:t>
                </a:r>
                <a:r>
                  <a:rPr lang="en-US" altLang="zh-CN" sz="1200" dirty="0"/>
                  <a:t>initial run creation</a:t>
                </a:r>
                <a:r>
                  <a:rPr lang="zh-CN" altLang="en-US" sz="1200"/>
                  <a:t>中的</a:t>
                </a:r>
                <a:r>
                  <a:rPr lang="en-US" altLang="zh-CN" sz="1200" b="0" i="0">
                    <a:latin typeface="Cambria Math" panose="02040503050406030204" pitchFamily="18" charset="0"/>
                  </a:rPr>
                  <a:t>2𝑏_𝑟</a:t>
                </a:r>
                <a:r>
                  <a:rPr lang="zh-CN" altLang="en-US" dirty="0"/>
                  <a:t>。</a:t>
                </a:r>
              </a:p>
            </p:txBody>
          </p:sp>
        </mc:Fallback>
      </mc:AlternateContent>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27</a:t>
            </a:fld>
            <a:endParaRPr lang="fi-FI" altLang="zh-CN"/>
          </a:p>
        </p:txBody>
      </p:sp>
    </p:spTree>
    <p:extLst>
      <p:ext uri="{BB962C8B-B14F-4D97-AF65-F5344CB8AC3E}">
        <p14:creationId xmlns:p14="http://schemas.microsoft.com/office/powerpoint/2010/main" val="848792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备注占位符 2"/>
              <p:cNvSpPr>
                <a:spLocks noGrp="1"/>
              </p:cNvSpPr>
              <p:nvPr>
                <p:ph type="body" idx="1"/>
              </p:nvPr>
            </p:nvSpPr>
            <p:spPr/>
            <p:txBody>
              <a:bodyPr/>
              <a:lstStyle/>
              <a:p>
                <a14:m>
                  <m:oMath xmlns:m="http://schemas.openxmlformats.org/officeDocument/2006/math">
                    <m:r>
                      <a:rPr lang="en-US" altLang="zh-CN" sz="1200" i="1" smtClean="0">
                        <a:latin typeface="Cambria Math" panose="02040503050406030204" pitchFamily="18" charset="0"/>
                      </a:rPr>
                      <m:t>2</m:t>
                    </m:r>
                    <m:d>
                      <m:dPr>
                        <m:begChr m:val="⌈"/>
                        <m:endChr m:val="⌉"/>
                        <m:ctrlPr>
                          <a:rPr lang="en-US" altLang="zh-CN" sz="1200" i="1">
                            <a:latin typeface="Cambria Math" panose="02040503050406030204" pitchFamily="18" charset="0"/>
                          </a:rPr>
                        </m:ctrlPr>
                      </m:dPr>
                      <m:e>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𝑏</m:t>
                            </m:r>
                          </m:e>
                          <m:sub>
                            <m:r>
                              <a:rPr lang="en-US" altLang="zh-CN" sz="1200" i="1">
                                <a:latin typeface="Cambria Math" panose="02040503050406030204" pitchFamily="18" charset="0"/>
                              </a:rPr>
                              <m:t>𝑟</m:t>
                            </m:r>
                          </m:sub>
                        </m:sSub>
                        <m:r>
                          <a:rPr lang="en-US" altLang="zh-CN" sz="1200" i="1">
                            <a:latin typeface="Cambria Math" panose="02040503050406030204" pitchFamily="18" charset="0"/>
                          </a:rPr>
                          <m:t>/</m:t>
                        </m:r>
                        <m:r>
                          <a:rPr lang="en-US" altLang="zh-CN" sz="1200" i="1">
                            <a:latin typeface="Cambria Math" panose="02040503050406030204" pitchFamily="18" charset="0"/>
                          </a:rPr>
                          <m:t>𝑀</m:t>
                        </m:r>
                      </m:e>
                    </m:d>
                    <m:r>
                      <a:rPr lang="zh-CN" altLang="en-US" sz="1200" i="1" smtClean="0">
                        <a:latin typeface="Cambria Math" panose="02040503050406030204" pitchFamily="18" charset="0"/>
                      </a:rPr>
                      <m:t>意味着</m:t>
                    </m:r>
                  </m:oMath>
                </a14:m>
                <a:r>
                  <a:rPr lang="zh-CN" altLang="en-US" dirty="0"/>
                  <a:t>排序段生成的成本是单独计算的，而</a:t>
                </a:r>
                <a14:m>
                  <m:oMath xmlns:m="http://schemas.openxmlformats.org/officeDocument/2006/math">
                    <m:d>
                      <m:dPr>
                        <m:begChr m:val="⌈"/>
                        <m:endChr m:val="⌉"/>
                        <m:ctrlPr>
                          <a:rPr lang="en-US" altLang="zh-CN" sz="1200" b="0" i="1" smtClean="0">
                            <a:latin typeface="Cambria Math" panose="02040503050406030204" pitchFamily="18" charset="0"/>
                          </a:rPr>
                        </m:ctrlPr>
                      </m:dPr>
                      <m:e>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𝑙𝑜𝑔</m:t>
                            </m:r>
                          </m:e>
                          <m:sub>
                            <m:d>
                              <m:dPr>
                                <m:begChr m:val="⌊"/>
                                <m:endChr m:val="⌋"/>
                                <m:ctrlPr>
                                  <a:rPr lang="en-US" altLang="zh-CN" sz="1200" b="0" i="1" smtClean="0">
                                    <a:latin typeface="Cambria Math" panose="02040503050406030204" pitchFamily="18" charset="0"/>
                                  </a:rPr>
                                </m:ctrlPr>
                              </m:dPr>
                              <m:e>
                                <m:r>
                                  <a:rPr lang="en-US" altLang="zh-CN" sz="1200" b="0" i="1" smtClean="0">
                                    <a:latin typeface="Cambria Math" panose="02040503050406030204" pitchFamily="18" charset="0"/>
                                  </a:rPr>
                                  <m:t>𝑀</m:t>
                                </m:r>
                                <m:r>
                                  <a:rPr lang="en-US" altLang="zh-CN" sz="1200" b="0" i="1" smtClean="0">
                                    <a:latin typeface="Cambria Math" panose="02040503050406030204" pitchFamily="18" charset="0"/>
                                  </a:rPr>
                                  <m:t>/</m:t>
                                </m:r>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𝑏</m:t>
                                    </m:r>
                                  </m:e>
                                  <m:sub>
                                    <m:r>
                                      <a:rPr lang="en-US" altLang="zh-CN" sz="1200" b="0" i="1" smtClean="0">
                                        <a:latin typeface="Cambria Math" panose="02040503050406030204" pitchFamily="18" charset="0"/>
                                      </a:rPr>
                                      <m:t>𝑏</m:t>
                                    </m:r>
                                  </m:sub>
                                </m:sSub>
                              </m:e>
                            </m:d>
                            <m:r>
                              <a:rPr lang="en-US" altLang="zh-CN" sz="1200" b="0" i="1" smtClean="0">
                                <a:latin typeface="Cambria Math" panose="02040503050406030204" pitchFamily="18" charset="0"/>
                              </a:rPr>
                              <m:t>−1</m:t>
                            </m:r>
                          </m:sub>
                        </m:sSub>
                        <m:d>
                          <m:dPr>
                            <m:ctrlPr>
                              <a:rPr lang="en-US" altLang="zh-CN" sz="1200" b="0" i="1" smtClean="0">
                                <a:latin typeface="Cambria Math" panose="02040503050406030204" pitchFamily="18" charset="0"/>
                              </a:rPr>
                            </m:ctrlPr>
                          </m:dPr>
                          <m:e>
                            <m:f>
                              <m:fPr>
                                <m:ctrlPr>
                                  <a:rPr lang="en-US" altLang="zh-CN" sz="1200" b="0" i="1" smtClean="0">
                                    <a:latin typeface="Cambria Math" panose="02040503050406030204" pitchFamily="18" charset="0"/>
                                  </a:rPr>
                                </m:ctrlPr>
                              </m:fPr>
                              <m:num>
                                <m:sSub>
                                  <m:sSubPr>
                                    <m:ctrlPr>
                                      <a:rPr lang="en-US" altLang="zh-CN" sz="1200" b="0" i="1" smtClean="0">
                                        <a:latin typeface="Cambria Math" panose="02040503050406030204" pitchFamily="18" charset="0"/>
                                      </a:rPr>
                                    </m:ctrlPr>
                                  </m:sSubPr>
                                  <m:e>
                                    <m:r>
                                      <a:rPr lang="en-US" altLang="zh-CN" sz="1200" b="0" i="1" smtClean="0">
                                        <a:latin typeface="Cambria Math" panose="02040503050406030204" pitchFamily="18" charset="0"/>
                                      </a:rPr>
                                      <m:t>𝑏</m:t>
                                    </m:r>
                                  </m:e>
                                  <m:sub>
                                    <m:r>
                                      <a:rPr lang="en-US" altLang="zh-CN" sz="1200" b="0" i="1" smtClean="0">
                                        <a:latin typeface="Cambria Math" panose="02040503050406030204" pitchFamily="18" charset="0"/>
                                      </a:rPr>
                                      <m:t>𝑟</m:t>
                                    </m:r>
                                  </m:sub>
                                </m:sSub>
                              </m:num>
                              <m:den>
                                <m:r>
                                  <a:rPr lang="en-US" altLang="zh-CN" sz="1200" b="0" i="1" smtClean="0">
                                    <a:latin typeface="Cambria Math" panose="02040503050406030204" pitchFamily="18" charset="0"/>
                                  </a:rPr>
                                  <m:t>𝑀</m:t>
                                </m:r>
                              </m:den>
                            </m:f>
                          </m:e>
                        </m:d>
                      </m:e>
                    </m:d>
                  </m:oMath>
                </a14:m>
                <a:r>
                  <a:rPr lang="zh-CN" altLang="en-US" dirty="0"/>
                  <a:t>因为向上取整，得到的值比归并的轮数多</a:t>
                </a:r>
                <a:r>
                  <a:rPr lang="en-US" altLang="zh-CN" dirty="0"/>
                  <a:t>1</a:t>
                </a:r>
                <a:r>
                  <a:rPr lang="zh-CN" altLang="en-US" dirty="0"/>
                  <a:t>，因此需要减去。</a:t>
                </a:r>
              </a:p>
            </p:txBody>
          </p:sp>
        </mc:Choice>
        <mc:Fallback>
          <p:sp>
            <p:nvSpPr>
              <p:cNvPr id="3" name="备注占位符 2"/>
              <p:cNvSpPr>
                <a:spLocks noGrp="1"/>
              </p:cNvSpPr>
              <p:nvPr>
                <p:ph type="body" idx="1"/>
              </p:nvPr>
            </p:nvSpPr>
            <p:spPr/>
            <p:txBody>
              <a:bodyPr/>
              <a:lstStyle/>
              <a:p>
                <a:r>
                  <a:rPr lang="en-US" altLang="zh-CN" sz="1200" i="0">
                    <a:latin typeface="Cambria Math" panose="02040503050406030204" pitchFamily="18" charset="0"/>
                  </a:rPr>
                  <a:t>2⌈𝑏_𝑟/𝑀⌉</a:t>
                </a:r>
                <a:r>
                  <a:rPr lang="zh-CN" altLang="en-US" sz="1200" i="0">
                    <a:latin typeface="Cambria Math" panose="02040503050406030204" pitchFamily="18" charset="0"/>
                  </a:rPr>
                  <a:t>意味着</a:t>
                </a:r>
                <a:r>
                  <a:rPr lang="zh-CN" altLang="en-US" dirty="0"/>
                  <a:t>排序段生成的成本是单独计算的，而</a:t>
                </a:r>
                <a:r>
                  <a:rPr lang="en-US" altLang="zh-CN" sz="1200" b="0" i="0">
                    <a:latin typeface="Cambria Math" panose="02040503050406030204" pitchFamily="18" charset="0"/>
                  </a:rPr>
                  <a:t>⌈〖𝑙𝑜𝑔〗_(⌊𝑀/𝑏_𝑏 ⌋−1) (𝑏_𝑟/𝑀)⌉</a:t>
                </a:r>
                <a:r>
                  <a:rPr lang="zh-CN" altLang="en-US" dirty="0"/>
                  <a:t>因为向上取整，得到的值比归并的轮数多</a:t>
                </a:r>
                <a:r>
                  <a:rPr lang="en-US" altLang="zh-CN" dirty="0"/>
                  <a:t>1</a:t>
                </a:r>
                <a:r>
                  <a:rPr lang="zh-CN" altLang="en-US" dirty="0"/>
                  <a:t>，因此需要减去。</a:t>
                </a:r>
              </a:p>
            </p:txBody>
          </p:sp>
        </mc:Fallback>
      </mc:AlternateContent>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28</a:t>
            </a:fld>
            <a:endParaRPr lang="fi-FI" altLang="zh-CN"/>
          </a:p>
        </p:txBody>
      </p:sp>
    </p:spTree>
    <p:extLst>
      <p:ext uri="{BB962C8B-B14F-4D97-AF65-F5344CB8AC3E}">
        <p14:creationId xmlns:p14="http://schemas.microsoft.com/office/powerpoint/2010/main" val="3315844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回答红字问题，因为每次在搜索</a:t>
                </a:r>
                <a14:m>
                  <m:oMath xmlns:m="http://schemas.openxmlformats.org/officeDocument/2006/math">
                    <m:sSub>
                      <m:sSubPr>
                        <m:ctrlPr>
                          <a:rPr lang="en-US" altLang="zh-CN" sz="1200" i="1" smtClean="0">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Cambria Math" panose="02040503050406030204" pitchFamily="18" charset="0"/>
                          </a:rPr>
                          <m:t>𝑏</m:t>
                        </m:r>
                      </m:e>
                      <m:sub>
                        <m:r>
                          <a:rPr lang="en-US" altLang="zh-CN" sz="1200" i="1">
                            <a:latin typeface="Cambria Math" panose="02040503050406030204" pitchFamily="18" charset="0"/>
                            <a:ea typeface="Cambria Math" panose="02040503050406030204" pitchFamily="18" charset="0"/>
                          </a:rPr>
                          <m:t>𝑠</m:t>
                        </m:r>
                      </m:sub>
                    </m:sSub>
                    <m:r>
                      <a:rPr lang="zh-CN" altLang="en-US" sz="1200" i="1" smtClean="0">
                        <a:latin typeface="Cambria Math" panose="02040503050406030204" pitchFamily="18" charset="0"/>
                        <a:ea typeface="Cambria Math" panose="02040503050406030204" pitchFamily="18" charset="0"/>
                      </a:rPr>
                      <m:t>个</m:t>
                    </m:r>
                  </m:oMath>
                </a14:m>
                <a:r>
                  <a:rPr lang="zh-CN" altLang="en-US" dirty="0"/>
                  <a:t>块的时候，磁盘指针动过了。</a:t>
                </a:r>
              </a:p>
            </p:txBody>
          </p:sp>
        </mc:Choice>
        <mc:Fallback xmlns="">
          <p:sp>
            <p:nvSpPr>
              <p:cNvPr id="3" name="备注占位符 2"/>
              <p:cNvSpPr>
                <a:spLocks noGrp="1"/>
              </p:cNvSpPr>
              <p:nvPr>
                <p:ph type="body" idx="1"/>
              </p:nvPr>
            </p:nvSpPr>
            <p:spPr/>
            <p:txBody>
              <a:bodyPr/>
              <a:lstStyle/>
              <a:p>
                <a:r>
                  <a:rPr lang="zh-CN" altLang="en-US" dirty="0"/>
                  <a:t>回答红字问题，因为每次在搜索</a:t>
                </a:r>
                <a:r>
                  <a:rPr lang="en-US" altLang="zh-CN" sz="1200" i="0">
                    <a:latin typeface="Cambria Math" panose="02040503050406030204" pitchFamily="18" charset="0"/>
                    <a:ea typeface="Cambria Math" panose="02040503050406030204" pitchFamily="18" charset="0"/>
                  </a:rPr>
                  <a:t>𝑏_𝑠</a:t>
                </a:r>
                <a:r>
                  <a:rPr lang="zh-CN" altLang="en-US" sz="1200" i="0">
                    <a:latin typeface="Cambria Math" panose="02040503050406030204" pitchFamily="18" charset="0"/>
                    <a:ea typeface="Cambria Math" panose="02040503050406030204" pitchFamily="18" charset="0"/>
                  </a:rPr>
                  <a:t> 个</a:t>
                </a:r>
                <a:r>
                  <a:rPr lang="zh-CN" altLang="en-US" dirty="0"/>
                  <a:t>块的时候，磁盘指针动过了。</a:t>
                </a:r>
              </a:p>
            </p:txBody>
          </p:sp>
        </mc:Fallback>
      </mc:AlternateContent>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31</a:t>
            </a:fld>
            <a:endParaRPr lang="fi-FI" altLang="zh-CN"/>
          </a:p>
        </p:txBody>
      </p:sp>
    </p:spTree>
    <p:extLst>
      <p:ext uri="{BB962C8B-B14F-4D97-AF65-F5344CB8AC3E}">
        <p14:creationId xmlns:p14="http://schemas.microsoft.com/office/powerpoint/2010/main" val="2432309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Arial" charset="0"/>
                <a:ea typeface="+mn-ea"/>
                <a:cs typeface="+mn-cs"/>
              </a:rPr>
              <a:t>LRU(Least Recently Used)</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35</a:t>
            </a:fld>
            <a:endParaRPr lang="fi-FI" altLang="zh-CN"/>
          </a:p>
        </p:txBody>
      </p:sp>
    </p:spTree>
    <p:extLst>
      <p:ext uri="{BB962C8B-B14F-4D97-AF65-F5344CB8AC3E}">
        <p14:creationId xmlns:p14="http://schemas.microsoft.com/office/powerpoint/2010/main" val="353427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41</a:t>
            </a:fld>
            <a:endParaRPr lang="fi-FI" altLang="zh-CN"/>
          </a:p>
        </p:txBody>
      </p:sp>
    </p:spTree>
    <p:extLst>
      <p:ext uri="{BB962C8B-B14F-4D97-AF65-F5344CB8AC3E}">
        <p14:creationId xmlns:p14="http://schemas.microsoft.com/office/powerpoint/2010/main" val="33244213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b="1" dirty="0"/>
              <a:t>20 s_0+80 r_0</a:t>
            </a:r>
            <a:r>
              <a:rPr lang="zh-CN" altLang="en-US" b="1" dirty="0"/>
              <a:t>没有写回和读入，因此比其它划分要少一次写一次读。参考</a:t>
            </a:r>
            <a:r>
              <a:rPr lang="en-US" altLang="zh-CN" b="1" dirty="0"/>
              <a:t>12.5.5.4</a:t>
            </a:r>
            <a:r>
              <a:rPr lang="zh-CN" altLang="en-US" b="1" dirty="0"/>
              <a:t>中第一个公式</a:t>
            </a:r>
            <a:endParaRPr lang="zh-CN" altLang="en-US" dirty="0"/>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47</a:t>
            </a:fld>
            <a:endParaRPr lang="fi-FI" altLang="zh-CN"/>
          </a:p>
        </p:txBody>
      </p:sp>
    </p:spTree>
    <p:extLst>
      <p:ext uri="{BB962C8B-B14F-4D97-AF65-F5344CB8AC3E}">
        <p14:creationId xmlns:p14="http://schemas.microsoft.com/office/powerpoint/2010/main" val="1619321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t>Operator tree : </a:t>
            </a:r>
            <a:r>
              <a:rPr lang="zh-CN" altLang="en-US" dirty="0"/>
              <a:t>运算符树</a:t>
            </a:r>
          </a:p>
        </p:txBody>
      </p:sp>
      <p:sp>
        <p:nvSpPr>
          <p:cNvPr id="4" name="灯片编号占位符 3"/>
          <p:cNvSpPr>
            <a:spLocks noGrp="1"/>
          </p:cNvSpPr>
          <p:nvPr>
            <p:ph type="sldNum" sz="quarter" idx="5"/>
          </p:nvPr>
        </p:nvSpPr>
        <p:spPr/>
        <p:txBody>
          <a:bodyPr/>
          <a:lstStyle/>
          <a:p>
            <a:pPr>
              <a:defRPr/>
            </a:pPr>
            <a:fld id="{BB8C311E-5859-4E0C-A0F3-4690A095D6BE}" type="slidenum">
              <a:rPr lang="fi-FI" altLang="zh-CN" smtClean="0"/>
              <a:pPr>
                <a:defRPr/>
              </a:pPr>
              <a:t>57</a:t>
            </a:fld>
            <a:endParaRPr lang="fi-FI" altLang="zh-CN"/>
          </a:p>
        </p:txBody>
      </p:sp>
    </p:spTree>
    <p:extLst>
      <p:ext uri="{BB962C8B-B14F-4D97-AF65-F5344CB8AC3E}">
        <p14:creationId xmlns:p14="http://schemas.microsoft.com/office/powerpoint/2010/main" val="668636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0" name="Title Placeholder 1"/>
          <p:cNvSpPr>
            <a:spLocks noGrp="1"/>
          </p:cNvSpPr>
          <p:nvPr>
            <p:ph type="title"/>
          </p:nvPr>
        </p:nvSpPr>
        <p:spPr>
          <a:xfrm>
            <a:off x="0" y="-20538"/>
            <a:ext cx="9144000" cy="637580"/>
          </a:xfrm>
          <a:prstGeom prst="rect">
            <a:avLst/>
          </a:prstGeom>
          <a:solidFill>
            <a:srgbClr val="0070C0"/>
          </a:solidFill>
        </p:spPr>
        <p:txBody>
          <a:bodyPr rtlCol="0">
            <a:noAutofit/>
          </a:bodyPr>
          <a:lstStyle>
            <a:lvl1pPr algn="l">
              <a:defRPr sz="3200" b="1" baseline="0">
                <a:solidFill>
                  <a:schemeClr val="bg1"/>
                </a:solidFill>
                <a:latin typeface="Arial" panose="020B0604020202020204" pitchFamily="34" charset="0"/>
                <a:ea typeface="微软雅黑" pitchFamily="34" charset="-122"/>
                <a:cs typeface="Arial" panose="020B0604020202020204" pitchFamily="34" charset="0"/>
              </a:defRPr>
            </a:lvl1pPr>
          </a:lstStyle>
          <a:p>
            <a:r>
              <a:rPr lang="en-US" altLang="zh-CN" dirty="0"/>
              <a:t>Click to edit Master title style</a:t>
            </a:r>
            <a:endParaRPr lang="zh-CN" altLang="en-US" dirty="0"/>
          </a:p>
        </p:txBody>
      </p:sp>
      <p:sp>
        <p:nvSpPr>
          <p:cNvPr id="3" name="Content Placeholder 2"/>
          <p:cNvSpPr>
            <a:spLocks noGrp="1"/>
          </p:cNvSpPr>
          <p:nvPr>
            <p:ph idx="1"/>
          </p:nvPr>
        </p:nvSpPr>
        <p:spPr>
          <a:xfrm>
            <a:off x="251520" y="789553"/>
            <a:ext cx="8568952" cy="3805070"/>
          </a:xfrm>
        </p:spPr>
        <p:txBody>
          <a:bodyPr/>
          <a:lstStyle>
            <a:lvl1pPr>
              <a:defRPr sz="2400">
                <a:latin typeface="Arial" panose="020B0604020202020204" pitchFamily="34" charset="0"/>
                <a:ea typeface="微软雅黑" pitchFamily="34" charset="-122"/>
                <a:cs typeface="Arial" panose="020B0604020202020204" pitchFamily="34" charset="0"/>
              </a:defRPr>
            </a:lvl1pPr>
            <a:lvl2pPr>
              <a:defRPr sz="2000">
                <a:latin typeface="Arial" panose="020B0604020202020204" pitchFamily="34" charset="0"/>
                <a:ea typeface="微软雅黑" pitchFamily="34" charset="-122"/>
                <a:cs typeface="Arial" panose="020B0604020202020204" pitchFamily="34" charset="0"/>
              </a:defRPr>
            </a:lvl2pPr>
            <a:lvl3pPr>
              <a:defRPr sz="1800">
                <a:latin typeface="Arial" panose="020B0604020202020204" pitchFamily="34" charset="0"/>
                <a:ea typeface="微软雅黑" pitchFamily="34" charset="-122"/>
                <a:cs typeface="Arial" panose="020B0604020202020204" pitchFamily="34" charset="0"/>
              </a:defRPr>
            </a:lvl3pPr>
            <a:lvl4pPr>
              <a:defRPr sz="1600">
                <a:latin typeface="Arial" panose="020B0604020202020204" pitchFamily="34" charset="0"/>
                <a:ea typeface="微软雅黑" pitchFamily="34" charset="-122"/>
                <a:cs typeface="Arial" panose="020B0604020202020204" pitchFamily="34" charset="0"/>
              </a:defRPr>
            </a:lvl4pPr>
            <a:lvl5pPr>
              <a:defRPr sz="1600">
                <a:latin typeface="Arial" panose="020B0604020202020204" pitchFamily="34" charset="0"/>
                <a:ea typeface="微软雅黑" pitchFamily="34" charset="-122"/>
                <a:cs typeface="Arial" panose="020B0604020202020204" pitchFamily="34" charset="0"/>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1155692592"/>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4" name="Title Placeholder 1"/>
          <p:cNvSpPr>
            <a:spLocks noGrp="1"/>
          </p:cNvSpPr>
          <p:nvPr>
            <p:ph type="title"/>
          </p:nvPr>
        </p:nvSpPr>
        <p:spPr>
          <a:xfrm>
            <a:off x="9525" y="3072"/>
            <a:ext cx="9144000" cy="583072"/>
          </a:xfrm>
          <a:prstGeom prst="rect">
            <a:avLst/>
          </a:prstGeom>
          <a:solidFill>
            <a:srgbClr val="0070C0"/>
          </a:solidFill>
        </p:spPr>
        <p:txBody>
          <a:bodyPr rtlCol="0">
            <a:noAutofit/>
          </a:bodyPr>
          <a:lstStyle>
            <a:lvl1pPr algn="l">
              <a:defRPr sz="3200" b="1">
                <a:solidFill>
                  <a:schemeClr val="bg1"/>
                </a:solidFill>
                <a:latin typeface="微软雅黑" panose="020B0503020204020204" pitchFamily="34" charset="-122"/>
                <a:ea typeface="微软雅黑" panose="020B0503020204020204" pitchFamily="34" charset="-122"/>
              </a:defRPr>
            </a:lvl1pPr>
          </a:lstStyle>
          <a:p>
            <a:r>
              <a:rPr lang="en-US" altLang="zh-CN" dirty="0"/>
              <a:t>Click to edit Master title style</a:t>
            </a:r>
            <a:endParaRPr lang="zh-CN" altLang="en-US" dirty="0"/>
          </a:p>
        </p:txBody>
      </p:sp>
    </p:spTree>
    <p:extLst>
      <p:ext uri="{BB962C8B-B14F-4D97-AF65-F5344CB8AC3E}">
        <p14:creationId xmlns:p14="http://schemas.microsoft.com/office/powerpoint/2010/main" val="3827171429"/>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864540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1995686"/>
            <a:ext cx="8229600" cy="857250"/>
          </a:xfrm>
        </p:spPr>
        <p:txBody>
          <a:bodyPr/>
          <a:lstStyle>
            <a:lvl1pPr>
              <a:defRPr b="1">
                <a:solidFill>
                  <a:schemeClr val="bg1"/>
                </a:solidFill>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pic>
        <p:nvPicPr>
          <p:cNvPr id="5"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512" y="0"/>
            <a:ext cx="9217024" cy="514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0404136"/>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197C38C-D414-4266-B351-EA95CA0D0684}"/>
              </a:ext>
            </a:extLst>
          </p:cNvPr>
          <p:cNvSpPr>
            <a:spLocks noChangeArrowheads="1"/>
          </p:cNvSpPr>
          <p:nvPr/>
        </p:nvSpPr>
        <p:spPr bwMode="auto">
          <a:xfrm>
            <a:off x="0" y="1476375"/>
            <a:ext cx="9142810" cy="1626394"/>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a:buFontTx/>
              <a:buNone/>
              <a:defRPr/>
            </a:pPr>
            <a:endParaRPr lang="zh-CN" altLang="en-US" sz="713" dirty="0">
              <a:solidFill>
                <a:schemeClr val="bg1"/>
              </a:solidFill>
              <a:latin typeface="Calibri" panose="020F0502020204030204"/>
              <a:cs typeface="宋体" panose="02010600030101010101" pitchFamily="2" charset="-122"/>
            </a:endParaRPr>
          </a:p>
        </p:txBody>
      </p:sp>
      <p:sp>
        <p:nvSpPr>
          <p:cNvPr id="15" name="标题 14"/>
          <p:cNvSpPr>
            <a:spLocks noGrp="1"/>
          </p:cNvSpPr>
          <p:nvPr>
            <p:ph type="title"/>
          </p:nvPr>
        </p:nvSpPr>
        <p:spPr>
          <a:xfrm>
            <a:off x="4178105" y="2029612"/>
            <a:ext cx="4683967" cy="519113"/>
          </a:xfrm>
        </p:spPr>
        <p:txBody>
          <a:bodyPr/>
          <a:lstStyle>
            <a:lvl1pPr algn="ctr">
              <a:defRPr sz="2700" b="1" baseline="0">
                <a:solidFill>
                  <a:schemeClr val="bg1"/>
                </a:solidFill>
                <a:latin typeface="Times New Roman" panose="02020603050405020304" pitchFamily="18" charset="0"/>
              </a:defRPr>
            </a:lvl1pPr>
          </a:lstStyle>
          <a:p>
            <a:r>
              <a:rPr lang="zh-CN" altLang="en-US" noProof="1"/>
              <a:t>单击此处编辑母版标题样式</a:t>
            </a:r>
          </a:p>
        </p:txBody>
      </p:sp>
      <p:sp>
        <p:nvSpPr>
          <p:cNvPr id="4" name="日期占位符 29">
            <a:extLst>
              <a:ext uri="{FF2B5EF4-FFF2-40B4-BE49-F238E27FC236}">
                <a16:creationId xmlns:a16="http://schemas.microsoft.com/office/drawing/2014/main" id="{3CDAD826-20E7-4438-B5DD-D3AA4ED66200}"/>
              </a:ext>
            </a:extLst>
          </p:cNvPr>
          <p:cNvSpPr>
            <a:spLocks noGrp="1"/>
          </p:cNvSpPr>
          <p:nvPr>
            <p:ph type="dt" sz="half" idx="10"/>
          </p:nvPr>
        </p:nvSpPr>
        <p:spPr>
          <a:xfrm>
            <a:off x="5497116" y="2744391"/>
            <a:ext cx="1503759" cy="273844"/>
          </a:xfrm>
        </p:spPr>
        <p:txBody>
          <a:bodyPr/>
          <a:lstStyle>
            <a:lvl1pPr algn="r">
              <a:defRPr sz="1800" b="1">
                <a:solidFill>
                  <a:schemeClr val="bg1"/>
                </a:solidFill>
                <a:latin typeface="微软雅黑" panose="020B0503020204020204" pitchFamily="34" charset="-122"/>
                <a:ea typeface="微软雅黑" panose="020B0503020204020204" pitchFamily="34" charset="-122"/>
              </a:defRPr>
            </a:lvl1pPr>
          </a:lstStyle>
          <a:p>
            <a:pPr>
              <a:defRPr/>
            </a:pPr>
            <a:fld id="{C5EFD6F6-2F20-4B1A-A667-B95C1338A7FC}" type="datetime5">
              <a:rPr lang="zh-CN" altLang="en-US"/>
              <a:pPr>
                <a:defRPr/>
              </a:pPr>
              <a:t>2024/4/23</a:t>
            </a:fld>
            <a:endParaRPr lang="zh-CN" altLang="en-US" dirty="0"/>
          </a:p>
        </p:txBody>
      </p:sp>
      <p:sp>
        <p:nvSpPr>
          <p:cNvPr id="5" name="页脚占位符 1">
            <a:extLst>
              <a:ext uri="{FF2B5EF4-FFF2-40B4-BE49-F238E27FC236}">
                <a16:creationId xmlns:a16="http://schemas.microsoft.com/office/drawing/2014/main" id="{9AB88EAB-A34D-4476-93DF-3FF872F77EE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2">
            <a:extLst>
              <a:ext uri="{FF2B5EF4-FFF2-40B4-BE49-F238E27FC236}">
                <a16:creationId xmlns:a16="http://schemas.microsoft.com/office/drawing/2014/main" id="{A2800A24-BF08-446B-9251-F108E901EDFC}"/>
              </a:ext>
            </a:extLst>
          </p:cNvPr>
          <p:cNvSpPr>
            <a:spLocks noGrp="1"/>
          </p:cNvSpPr>
          <p:nvPr>
            <p:ph type="sldNum" sz="quarter" idx="12"/>
          </p:nvPr>
        </p:nvSpPr>
        <p:spPr/>
        <p:txBody>
          <a:bodyPr/>
          <a:lstStyle>
            <a:lvl1pPr>
              <a:defRPr/>
            </a:lvl1pPr>
          </a:lstStyle>
          <a:p>
            <a:fld id="{858CD63E-90B4-4137-BE3E-A082E383778B}" type="slidenum">
              <a:rPr lang="zh-CN" altLang="en-US"/>
              <a:pPr/>
              <a:t>‹#›</a:t>
            </a:fld>
            <a:endParaRPr lang="zh-CN" altLang="en-US"/>
          </a:p>
        </p:txBody>
      </p:sp>
    </p:spTree>
    <p:extLst>
      <p:ext uri="{BB962C8B-B14F-4D97-AF65-F5344CB8AC3E}">
        <p14:creationId xmlns:p14="http://schemas.microsoft.com/office/powerpoint/2010/main" val="977567404"/>
      </p:ext>
    </p:extLst>
  </p:cSld>
  <p:clrMapOvr>
    <a:masterClrMapping/>
  </p:clrMapOvr>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197C38C-D414-4266-B351-EA95CA0D0684}"/>
              </a:ext>
            </a:extLst>
          </p:cNvPr>
          <p:cNvSpPr>
            <a:spLocks noChangeArrowheads="1"/>
          </p:cNvSpPr>
          <p:nvPr/>
        </p:nvSpPr>
        <p:spPr bwMode="auto">
          <a:xfrm>
            <a:off x="0" y="1476375"/>
            <a:ext cx="9142810" cy="1626394"/>
          </a:xfrm>
          <a:prstGeom prst="rect">
            <a:avLst/>
          </a:prstGeom>
          <a:solidFill>
            <a:srgbClr val="064BB2"/>
          </a:solidFill>
          <a:ln>
            <a:noFill/>
          </a:ln>
          <a:effectLst>
            <a:outerShdw blurRad="50800" dist="38100" dir="5400000" algn="t" rotWithShape="0">
              <a:srgbClr val="000000">
                <a:alpha val="0"/>
              </a:srgbClr>
            </a:outerShdw>
          </a:effectLst>
          <a:extLst>
            <a:ext uri="{91240B29-F687-4F45-9708-019B960494DF}">
              <a14:hiddenLine xmlns:a14="http://schemas.microsoft.com/office/drawing/2010/main" w="25400">
                <a:solidFill>
                  <a:srgbClr val="000000"/>
                </a:solidFill>
                <a:miter lim="800000"/>
                <a:headEnd/>
                <a:tailEnd/>
              </a14:hiddenLine>
            </a:ext>
          </a:extLst>
        </p:spPr>
        <p:txBody>
          <a:bodyPr anchor="ctr"/>
          <a:lstStyle/>
          <a:p>
            <a:pPr algn="ctr">
              <a:buFontTx/>
              <a:buNone/>
              <a:defRPr/>
            </a:pPr>
            <a:endParaRPr lang="zh-CN" altLang="en-US" sz="713" dirty="0">
              <a:solidFill>
                <a:schemeClr val="bg1"/>
              </a:solidFill>
              <a:latin typeface="Calibri" panose="020F0502020204030204"/>
              <a:cs typeface="宋体" panose="02010600030101010101" pitchFamily="2" charset="-122"/>
            </a:endParaRPr>
          </a:p>
        </p:txBody>
      </p:sp>
      <p:sp>
        <p:nvSpPr>
          <p:cNvPr id="15" name="标题 14"/>
          <p:cNvSpPr>
            <a:spLocks noGrp="1"/>
          </p:cNvSpPr>
          <p:nvPr>
            <p:ph type="title"/>
          </p:nvPr>
        </p:nvSpPr>
        <p:spPr>
          <a:xfrm>
            <a:off x="4178105" y="2029612"/>
            <a:ext cx="4683967" cy="519113"/>
          </a:xfrm>
        </p:spPr>
        <p:txBody>
          <a:bodyPr/>
          <a:lstStyle>
            <a:lvl1pPr algn="ctr">
              <a:defRPr sz="2700" b="1" baseline="0">
                <a:solidFill>
                  <a:schemeClr val="bg1"/>
                </a:solidFill>
                <a:latin typeface="Times New Roman" panose="02020603050405020304" pitchFamily="18" charset="0"/>
              </a:defRPr>
            </a:lvl1pPr>
          </a:lstStyle>
          <a:p>
            <a:r>
              <a:rPr lang="zh-CN" altLang="en-US" noProof="1"/>
              <a:t>单击此处编辑母版标题样式</a:t>
            </a:r>
          </a:p>
        </p:txBody>
      </p:sp>
      <p:sp>
        <p:nvSpPr>
          <p:cNvPr id="4" name="日期占位符 29">
            <a:extLst>
              <a:ext uri="{FF2B5EF4-FFF2-40B4-BE49-F238E27FC236}">
                <a16:creationId xmlns:a16="http://schemas.microsoft.com/office/drawing/2014/main" id="{3CDAD826-20E7-4438-B5DD-D3AA4ED66200}"/>
              </a:ext>
            </a:extLst>
          </p:cNvPr>
          <p:cNvSpPr>
            <a:spLocks noGrp="1"/>
          </p:cNvSpPr>
          <p:nvPr>
            <p:ph type="dt" sz="half" idx="10"/>
          </p:nvPr>
        </p:nvSpPr>
        <p:spPr>
          <a:xfrm>
            <a:off x="5497116" y="2744391"/>
            <a:ext cx="1503759" cy="273844"/>
          </a:xfrm>
        </p:spPr>
        <p:txBody>
          <a:bodyPr/>
          <a:lstStyle>
            <a:lvl1pPr algn="r">
              <a:defRPr sz="1800" b="1">
                <a:solidFill>
                  <a:schemeClr val="bg1"/>
                </a:solidFill>
                <a:latin typeface="微软雅黑" panose="020B0503020204020204" pitchFamily="34" charset="-122"/>
                <a:ea typeface="微软雅黑" panose="020B0503020204020204" pitchFamily="34" charset="-122"/>
              </a:defRPr>
            </a:lvl1pPr>
          </a:lstStyle>
          <a:p>
            <a:pPr>
              <a:defRPr/>
            </a:pPr>
            <a:fld id="{C5EFD6F6-2F20-4B1A-A667-B95C1338A7FC}" type="datetime5">
              <a:rPr lang="zh-CN" altLang="en-US"/>
              <a:pPr>
                <a:defRPr/>
              </a:pPr>
              <a:t>2024/4/23</a:t>
            </a:fld>
            <a:endParaRPr lang="zh-CN" altLang="en-US" dirty="0"/>
          </a:p>
        </p:txBody>
      </p:sp>
      <p:sp>
        <p:nvSpPr>
          <p:cNvPr id="5" name="页脚占位符 1">
            <a:extLst>
              <a:ext uri="{FF2B5EF4-FFF2-40B4-BE49-F238E27FC236}">
                <a16:creationId xmlns:a16="http://schemas.microsoft.com/office/drawing/2014/main" id="{9AB88EAB-A34D-4476-93DF-3FF872F77EE4}"/>
              </a:ext>
            </a:extLst>
          </p:cNvPr>
          <p:cNvSpPr>
            <a:spLocks noGrp="1"/>
          </p:cNvSpPr>
          <p:nvPr>
            <p:ph type="ftr" sz="quarter" idx="11"/>
          </p:nvPr>
        </p:nvSpPr>
        <p:spPr/>
        <p:txBody>
          <a:bodyPr/>
          <a:lstStyle>
            <a:lvl1pPr>
              <a:defRPr/>
            </a:lvl1pPr>
          </a:lstStyle>
          <a:p>
            <a:pPr>
              <a:defRPr/>
            </a:pPr>
            <a:endParaRPr lang="zh-CN" altLang="en-US"/>
          </a:p>
        </p:txBody>
      </p:sp>
      <p:sp>
        <p:nvSpPr>
          <p:cNvPr id="6" name="灯片编号占位符 2">
            <a:extLst>
              <a:ext uri="{FF2B5EF4-FFF2-40B4-BE49-F238E27FC236}">
                <a16:creationId xmlns:a16="http://schemas.microsoft.com/office/drawing/2014/main" id="{A2800A24-BF08-446B-9251-F108E901EDFC}"/>
              </a:ext>
            </a:extLst>
          </p:cNvPr>
          <p:cNvSpPr>
            <a:spLocks noGrp="1"/>
          </p:cNvSpPr>
          <p:nvPr>
            <p:ph type="sldNum" sz="quarter" idx="12"/>
          </p:nvPr>
        </p:nvSpPr>
        <p:spPr/>
        <p:txBody>
          <a:bodyPr/>
          <a:lstStyle>
            <a:lvl1pPr>
              <a:defRPr/>
            </a:lvl1pPr>
          </a:lstStyle>
          <a:p>
            <a:fld id="{858CD63E-90B4-4137-BE3E-A082E383778B}" type="slidenum">
              <a:rPr lang="zh-CN" altLang="en-US"/>
              <a:pPr/>
              <a:t>‹#›</a:t>
            </a:fld>
            <a:endParaRPr lang="zh-CN" altLang="en-US"/>
          </a:p>
        </p:txBody>
      </p:sp>
    </p:spTree>
    <p:extLst>
      <p:ext uri="{BB962C8B-B14F-4D97-AF65-F5344CB8AC3E}">
        <p14:creationId xmlns:p14="http://schemas.microsoft.com/office/powerpoint/2010/main" val="2671492431"/>
      </p:ext>
    </p:extLst>
  </p:cSld>
  <p:clrMapOvr>
    <a:masterClrMapping/>
  </p:clrMapOvr>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程序页">
    <p:spTree>
      <p:nvGrpSpPr>
        <p:cNvPr id="1" name=""/>
        <p:cNvGrpSpPr/>
        <p:nvPr/>
      </p:nvGrpSpPr>
      <p:grpSpPr>
        <a:xfrm>
          <a:off x="0" y="0"/>
          <a:ext cx="0" cy="0"/>
          <a:chOff x="0" y="0"/>
          <a:chExt cx="0" cy="0"/>
        </a:xfrm>
      </p:grpSpPr>
      <p:sp>
        <p:nvSpPr>
          <p:cNvPr id="5" name="Rectangle 12">
            <a:extLst>
              <a:ext uri="{FF2B5EF4-FFF2-40B4-BE49-F238E27FC236}">
                <a16:creationId xmlns:a16="http://schemas.microsoft.com/office/drawing/2014/main" id="{16752D73-FCE0-4C91-9046-B443BB0EE747}"/>
              </a:ext>
            </a:extLst>
          </p:cNvPr>
          <p:cNvSpPr>
            <a:spLocks noChangeArrowheads="1"/>
          </p:cNvSpPr>
          <p:nvPr/>
        </p:nvSpPr>
        <p:spPr bwMode="auto">
          <a:xfrm>
            <a:off x="7453313" y="4794648"/>
            <a:ext cx="428625" cy="173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en-US" altLang="zh-CN" sz="750">
                <a:solidFill>
                  <a:srgbClr val="7F7F7F"/>
                </a:solidFill>
                <a:latin typeface="Arial" panose="020B0604020202020204" pitchFamily="34" charset="0"/>
              </a:rPr>
              <a:t> </a:t>
            </a:r>
            <a:fld id="{60AB1787-2FB0-4C6A-B98A-30C644A6BEF9}" type="slidenum">
              <a:rPr lang="en-US" altLang="zh-CN" sz="750">
                <a:latin typeface="Arial" panose="020B0604020202020204" pitchFamily="34" charset="0"/>
              </a:rPr>
              <a:pPr algn="ctr"/>
              <a:t>‹#›</a:t>
            </a:fld>
            <a:endParaRPr lang="en-US" altLang="zh-CN" sz="750">
              <a:latin typeface="Arial" panose="020B0604020202020204" pitchFamily="34" charset="0"/>
              <a:cs typeface="Arial" panose="020B0604020202020204" pitchFamily="34" charset="0"/>
            </a:endParaRPr>
          </a:p>
        </p:txBody>
      </p:sp>
      <p:cxnSp>
        <p:nvCxnSpPr>
          <p:cNvPr id="6" name="直接连接符 19">
            <a:extLst>
              <a:ext uri="{FF2B5EF4-FFF2-40B4-BE49-F238E27FC236}">
                <a16:creationId xmlns:a16="http://schemas.microsoft.com/office/drawing/2014/main" id="{81265A1D-E753-4B73-A145-8601358CF94C}"/>
              </a:ext>
            </a:extLst>
          </p:cNvPr>
          <p:cNvCxnSpPr>
            <a:stCxn id="6" idx="3"/>
          </p:cNvCxnSpPr>
          <p:nvPr/>
        </p:nvCxnSpPr>
        <p:spPr>
          <a:xfrm>
            <a:off x="7881938" y="4881563"/>
            <a:ext cx="764381"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7" name="直接连接符 14">
            <a:extLst>
              <a:ext uri="{FF2B5EF4-FFF2-40B4-BE49-F238E27FC236}">
                <a16:creationId xmlns:a16="http://schemas.microsoft.com/office/drawing/2014/main" id="{A2112050-F8FB-4C93-9752-2D3FE7B75F9C}"/>
              </a:ext>
            </a:extLst>
          </p:cNvPr>
          <p:cNvCxnSpPr>
            <a:stCxn id="6" idx="3"/>
          </p:cNvCxnSpPr>
          <p:nvPr/>
        </p:nvCxnSpPr>
        <p:spPr>
          <a:xfrm flipV="1">
            <a:off x="2789635" y="4881563"/>
            <a:ext cx="4663678"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
        <p:nvSpPr>
          <p:cNvPr id="8" name="AutoShape 23">
            <a:extLst>
              <a:ext uri="{FF2B5EF4-FFF2-40B4-BE49-F238E27FC236}">
                <a16:creationId xmlns:a16="http://schemas.microsoft.com/office/drawing/2014/main" id="{5BBE3BC9-B6A4-42F2-9408-BD266AA06A16}"/>
              </a:ext>
            </a:extLst>
          </p:cNvPr>
          <p:cNvSpPr>
            <a:spLocks noChangeArrowheads="1"/>
          </p:cNvSpPr>
          <p:nvPr/>
        </p:nvSpPr>
        <p:spPr bwMode="auto">
          <a:xfrm>
            <a:off x="184548" y="686991"/>
            <a:ext cx="7197328" cy="34528"/>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fontAlgn="auto">
              <a:spcBef>
                <a:spcPct val="50000"/>
              </a:spcBef>
              <a:spcAft>
                <a:spcPts val="0"/>
              </a:spcAft>
              <a:buFontTx/>
              <a:buNone/>
              <a:defRPr/>
            </a:pPr>
            <a:endParaRPr lang="zh-CN" altLang="en-US" sz="713"/>
          </a:p>
        </p:txBody>
      </p:sp>
      <p:sp>
        <p:nvSpPr>
          <p:cNvPr id="9" name="AutoShape 23">
            <a:extLst>
              <a:ext uri="{FF2B5EF4-FFF2-40B4-BE49-F238E27FC236}">
                <a16:creationId xmlns:a16="http://schemas.microsoft.com/office/drawing/2014/main" id="{E2368EDB-C388-4E28-BBE5-4F255162B9FF}"/>
              </a:ext>
            </a:extLst>
          </p:cNvPr>
          <p:cNvSpPr>
            <a:spLocks noChangeArrowheads="1"/>
          </p:cNvSpPr>
          <p:nvPr/>
        </p:nvSpPr>
        <p:spPr bwMode="auto">
          <a:xfrm>
            <a:off x="7381875" y="686991"/>
            <a:ext cx="1491854" cy="34528"/>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fontAlgn="auto">
              <a:spcBef>
                <a:spcPct val="50000"/>
              </a:spcBef>
              <a:spcAft>
                <a:spcPts val="0"/>
              </a:spcAft>
              <a:buFontTx/>
              <a:buNone/>
              <a:defRPr/>
            </a:pPr>
            <a:endParaRPr lang="zh-CN" altLang="en-US" sz="713"/>
          </a:p>
        </p:txBody>
      </p:sp>
      <p:cxnSp>
        <p:nvCxnSpPr>
          <p:cNvPr id="10" name="直接连接符 9">
            <a:extLst>
              <a:ext uri="{FF2B5EF4-FFF2-40B4-BE49-F238E27FC236}">
                <a16:creationId xmlns:a16="http://schemas.microsoft.com/office/drawing/2014/main" id="{A9872EB7-0880-4D4B-AB94-8A492573263B}"/>
              </a:ext>
            </a:extLst>
          </p:cNvPr>
          <p:cNvCxnSpPr>
            <a:stCxn id="6" idx="3"/>
          </p:cNvCxnSpPr>
          <p:nvPr/>
        </p:nvCxnSpPr>
        <p:spPr>
          <a:xfrm>
            <a:off x="1788319" y="4786313"/>
            <a:ext cx="0" cy="207169"/>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内容占位符 2"/>
          <p:cNvSpPr>
            <a:spLocks noGrp="1"/>
          </p:cNvSpPr>
          <p:nvPr>
            <p:ph idx="1"/>
          </p:nvPr>
        </p:nvSpPr>
        <p:spPr>
          <a:xfrm>
            <a:off x="317865" y="1315256"/>
            <a:ext cx="8330701" cy="3254791"/>
          </a:xfrm>
        </p:spPr>
        <p:txBody>
          <a:bodyPr>
            <a:noAutofit/>
          </a:bodyPr>
          <a:lstStyle>
            <a:lvl1pPr marL="271939" indent="-271939">
              <a:lnSpc>
                <a:spcPct val="150000"/>
              </a:lnSpc>
              <a:spcBef>
                <a:spcPts val="750"/>
              </a:spcBef>
              <a:buClr>
                <a:srgbClr val="032089"/>
              </a:buClr>
              <a:buFont typeface="Wingdings" panose="05000000000000000000" pitchFamily="2" charset="2"/>
              <a:buChar char="Ø"/>
              <a:defRPr sz="1350" b="0">
                <a:latin typeface="微软雅黑" panose="020B0503020204020204" pitchFamily="34" charset="-122"/>
                <a:ea typeface="微软雅黑" panose="020B0503020204020204" pitchFamily="34" charset="-122"/>
                <a:cs typeface="Times New Roman" panose="02020603050405020304" pitchFamily="18" charset="0"/>
              </a:defRPr>
            </a:lvl1pPr>
            <a:lvl2pPr>
              <a:lnSpc>
                <a:spcPct val="130000"/>
              </a:lnSpc>
              <a:buClr>
                <a:srgbClr val="032089"/>
              </a:buClr>
              <a:buFont typeface="Wingdings" panose="05000000000000000000" pitchFamily="2" charset="2"/>
              <a:buChar char="l"/>
              <a:defRPr sz="1748" b="0">
                <a:latin typeface="微软雅黑" panose="020B0503020204020204" pitchFamily="34" charset="-122"/>
                <a:ea typeface="微软雅黑" panose="020B0503020204020204" pitchFamily="34" charset="-122"/>
              </a:defRPr>
            </a:lvl2pPr>
            <a:lvl3pPr>
              <a:defRPr sz="1429" b="0">
                <a:latin typeface="微软雅黑" panose="020B0503020204020204" pitchFamily="34" charset="-122"/>
                <a:ea typeface="微软雅黑" panose="020B0503020204020204" pitchFamily="34" charset="-122"/>
              </a:defRPr>
            </a:lvl3pPr>
            <a:lvl4pPr>
              <a:defRPr sz="1429" b="0">
                <a:latin typeface="微软雅黑" panose="020B0503020204020204" pitchFamily="34" charset="-122"/>
                <a:ea typeface="微软雅黑" panose="020B0503020204020204" pitchFamily="34" charset="-122"/>
              </a:defRPr>
            </a:lvl4pPr>
            <a:lvl5pPr>
              <a:defRPr sz="1429" b="0">
                <a:latin typeface="微软雅黑" panose="020B0503020204020204" pitchFamily="34" charset="-122"/>
                <a:ea typeface="微软雅黑" panose="020B0503020204020204" pitchFamily="34" charset="-122"/>
              </a:defRPr>
            </a:lvl5pPr>
          </a:lstStyle>
          <a:p>
            <a:pPr lvl="0"/>
            <a:r>
              <a:rPr lang="zh-CN" altLang="en-US" noProof="1"/>
              <a:t>编辑母版文本样式</a:t>
            </a:r>
          </a:p>
          <a:p>
            <a:pPr lvl="1"/>
            <a:r>
              <a:rPr lang="zh-CN" altLang="en-US" noProof="1"/>
              <a:t>第二级</a:t>
            </a:r>
          </a:p>
          <a:p>
            <a:pPr lvl="2"/>
            <a:r>
              <a:rPr lang="zh-CN" altLang="en-US" noProof="1"/>
              <a:t>第三级</a:t>
            </a:r>
          </a:p>
        </p:txBody>
      </p:sp>
      <p:sp>
        <p:nvSpPr>
          <p:cNvPr id="2" name="标题 1"/>
          <p:cNvSpPr>
            <a:spLocks noGrp="1"/>
          </p:cNvSpPr>
          <p:nvPr>
            <p:ph type="title"/>
          </p:nvPr>
        </p:nvSpPr>
        <p:spPr>
          <a:xfrm>
            <a:off x="191157" y="269309"/>
            <a:ext cx="8229601" cy="396132"/>
          </a:xfrm>
        </p:spPr>
        <p:txBody>
          <a:bodyPr/>
          <a:lstStyle>
            <a:lvl1pPr>
              <a:defRPr sz="1800" b="1">
                <a:solidFill>
                  <a:schemeClr val="tx1"/>
                </a:solidFill>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noProof="1"/>
              <a:t>单击此处编辑母版标题样式</a:t>
            </a:r>
          </a:p>
        </p:txBody>
      </p:sp>
      <p:sp>
        <p:nvSpPr>
          <p:cNvPr id="14" name="内容占位符 2"/>
          <p:cNvSpPr>
            <a:spLocks noGrp="1"/>
          </p:cNvSpPr>
          <p:nvPr>
            <p:ph idx="10"/>
          </p:nvPr>
        </p:nvSpPr>
        <p:spPr>
          <a:xfrm>
            <a:off x="317865" y="854235"/>
            <a:ext cx="8330701" cy="319852"/>
          </a:xfrm>
          <a:noFill/>
          <a:ln>
            <a:noFill/>
          </a:ln>
        </p:spPr>
        <p:txBody>
          <a:bodyPr anchor="ctr">
            <a:noAutofit/>
          </a:bodyPr>
          <a:lstStyle>
            <a:lvl1pPr marL="0" indent="0">
              <a:buNone/>
              <a:defRPr lang="zh-CN" altLang="en-US" sz="1500" b="0" dirty="0" smtClean="0">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noProof="1"/>
              <a:t>编辑母版文本样式</a:t>
            </a:r>
          </a:p>
        </p:txBody>
      </p:sp>
      <p:sp>
        <p:nvSpPr>
          <p:cNvPr id="11" name="日期占位符 2">
            <a:extLst>
              <a:ext uri="{FF2B5EF4-FFF2-40B4-BE49-F238E27FC236}">
                <a16:creationId xmlns:a16="http://schemas.microsoft.com/office/drawing/2014/main" id="{C8DF600F-69D6-4B54-9FE0-7418FD2F14F2}"/>
              </a:ext>
            </a:extLst>
          </p:cNvPr>
          <p:cNvSpPr>
            <a:spLocks noGrp="1"/>
          </p:cNvSpPr>
          <p:nvPr>
            <p:ph type="dt" sz="half" idx="11"/>
          </p:nvPr>
        </p:nvSpPr>
        <p:spPr/>
        <p:txBody>
          <a:bodyPr/>
          <a:lstStyle>
            <a:lvl1pPr>
              <a:defRPr/>
            </a:lvl1pPr>
          </a:lstStyle>
          <a:p>
            <a:pPr>
              <a:defRPr/>
            </a:pPr>
            <a:fld id="{961F0FCB-3C9B-43AF-9122-66CB9AF9BE1F}" type="datetimeFigureOut">
              <a:rPr lang="zh-CN" altLang="en-US"/>
              <a:pPr>
                <a:defRPr/>
              </a:pPr>
              <a:t>2024/4/23</a:t>
            </a:fld>
            <a:endParaRPr lang="zh-CN" altLang="en-US"/>
          </a:p>
        </p:txBody>
      </p:sp>
      <p:sp>
        <p:nvSpPr>
          <p:cNvPr id="12" name="页脚占位符 4">
            <a:extLst>
              <a:ext uri="{FF2B5EF4-FFF2-40B4-BE49-F238E27FC236}">
                <a16:creationId xmlns:a16="http://schemas.microsoft.com/office/drawing/2014/main" id="{9F403212-3DFD-47AC-9FCD-43C4135BB60D}"/>
              </a:ext>
            </a:extLst>
          </p:cNvPr>
          <p:cNvSpPr>
            <a:spLocks noGrp="1"/>
          </p:cNvSpPr>
          <p:nvPr>
            <p:ph type="ftr" sz="quarter" idx="12"/>
          </p:nvPr>
        </p:nvSpPr>
        <p:spPr/>
        <p:txBody>
          <a:bodyPr/>
          <a:lstStyle>
            <a:lvl1pPr>
              <a:defRPr/>
            </a:lvl1pPr>
          </a:lstStyle>
          <a:p>
            <a:pPr>
              <a:defRPr/>
            </a:pPr>
            <a:endParaRPr lang="zh-CN" altLang="en-US"/>
          </a:p>
        </p:txBody>
      </p:sp>
      <p:sp>
        <p:nvSpPr>
          <p:cNvPr id="13" name="灯片编号占位符 5">
            <a:extLst>
              <a:ext uri="{FF2B5EF4-FFF2-40B4-BE49-F238E27FC236}">
                <a16:creationId xmlns:a16="http://schemas.microsoft.com/office/drawing/2014/main" id="{07A37F3F-9709-495C-A02A-28A1719A3759}"/>
              </a:ext>
            </a:extLst>
          </p:cNvPr>
          <p:cNvSpPr>
            <a:spLocks noGrp="1"/>
          </p:cNvSpPr>
          <p:nvPr>
            <p:ph type="sldNum" sz="quarter" idx="13"/>
          </p:nvPr>
        </p:nvSpPr>
        <p:spPr/>
        <p:txBody>
          <a:bodyPr/>
          <a:lstStyle>
            <a:lvl1pPr>
              <a:defRPr/>
            </a:lvl1pPr>
          </a:lstStyle>
          <a:p>
            <a:fld id="{791A760A-A8F5-4109-B3A7-90E0284994A6}" type="slidenum">
              <a:rPr lang="zh-CN" altLang="en-US"/>
              <a:pPr/>
              <a:t>‹#›</a:t>
            </a:fld>
            <a:endParaRPr lang="zh-CN" altLang="en-US"/>
          </a:p>
        </p:txBody>
      </p:sp>
    </p:spTree>
    <p:extLst>
      <p:ext uri="{BB962C8B-B14F-4D97-AF65-F5344CB8AC3E}">
        <p14:creationId xmlns:p14="http://schemas.microsoft.com/office/powerpoint/2010/main" val="283940920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5" name="Rectangle 12">
            <a:extLst>
              <a:ext uri="{FF2B5EF4-FFF2-40B4-BE49-F238E27FC236}">
                <a16:creationId xmlns:a16="http://schemas.microsoft.com/office/drawing/2014/main" id="{A5457454-CD41-4EC0-92FC-4BEB76B02395}"/>
              </a:ext>
            </a:extLst>
          </p:cNvPr>
          <p:cNvSpPr>
            <a:spLocks noChangeArrowheads="1"/>
          </p:cNvSpPr>
          <p:nvPr/>
        </p:nvSpPr>
        <p:spPr bwMode="auto">
          <a:xfrm>
            <a:off x="7453313" y="4794648"/>
            <a:ext cx="428625" cy="173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a:defRPr>
                <a:solidFill>
                  <a:schemeClr val="tx1"/>
                </a:solidFill>
                <a:latin typeface="Calibri" panose="020F0502020204030204" pitchFamily="34" charset="0"/>
                <a:ea typeface="宋体" panose="02010600030101010101" pitchFamily="2" charset="-122"/>
              </a:defRPr>
            </a:lvl2pPr>
            <a:lvl3pPr>
              <a:defRPr>
                <a:solidFill>
                  <a:schemeClr val="tx1"/>
                </a:solidFill>
                <a:latin typeface="Calibri" panose="020F0502020204030204" pitchFamily="34" charset="0"/>
                <a:ea typeface="宋体" panose="02010600030101010101" pitchFamily="2" charset="-122"/>
              </a:defRPr>
            </a:lvl3pPr>
            <a:lvl4pPr>
              <a:defRPr>
                <a:solidFill>
                  <a:schemeClr val="tx1"/>
                </a:solidFill>
                <a:latin typeface="Calibri" panose="020F0502020204030204" pitchFamily="34" charset="0"/>
                <a:ea typeface="宋体" panose="02010600030101010101" pitchFamily="2" charset="-122"/>
              </a:defRPr>
            </a:lvl4pPr>
            <a:lvl5pPr>
              <a:defRPr>
                <a:solidFill>
                  <a:schemeClr val="tx1"/>
                </a:solidFill>
                <a:latin typeface="Calibri" panose="020F050202020403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ctr"/>
            <a:r>
              <a:rPr lang="en-US" altLang="zh-CN" sz="750">
                <a:solidFill>
                  <a:srgbClr val="7F7F7F"/>
                </a:solidFill>
                <a:latin typeface="Arial" panose="020B0604020202020204" pitchFamily="34" charset="0"/>
              </a:rPr>
              <a:t> </a:t>
            </a:r>
            <a:fld id="{69AB6661-0E74-4BEC-A242-46590437B53C}" type="slidenum">
              <a:rPr lang="en-US" altLang="zh-CN" sz="750">
                <a:latin typeface="Arial" panose="020B0604020202020204" pitchFamily="34" charset="0"/>
              </a:rPr>
              <a:pPr algn="ctr"/>
              <a:t>‹#›</a:t>
            </a:fld>
            <a:endParaRPr lang="en-US" altLang="zh-CN" sz="750">
              <a:latin typeface="Arial" panose="020B0604020202020204" pitchFamily="34" charset="0"/>
              <a:cs typeface="Arial" panose="020B0604020202020204" pitchFamily="34" charset="0"/>
            </a:endParaRPr>
          </a:p>
        </p:txBody>
      </p:sp>
      <p:cxnSp>
        <p:nvCxnSpPr>
          <p:cNvPr id="6" name="直接连接符 19">
            <a:extLst>
              <a:ext uri="{FF2B5EF4-FFF2-40B4-BE49-F238E27FC236}">
                <a16:creationId xmlns:a16="http://schemas.microsoft.com/office/drawing/2014/main" id="{35396A89-02DC-47BF-A242-E77FB2856038}"/>
              </a:ext>
            </a:extLst>
          </p:cNvPr>
          <p:cNvCxnSpPr>
            <a:stCxn id="6" idx="3"/>
          </p:cNvCxnSpPr>
          <p:nvPr/>
        </p:nvCxnSpPr>
        <p:spPr>
          <a:xfrm>
            <a:off x="7881938" y="4881563"/>
            <a:ext cx="764381" cy="0"/>
          </a:xfrm>
          <a:prstGeom prst="line">
            <a:avLst/>
          </a:prstGeom>
          <a:ln w="9525">
            <a:solidFill>
              <a:srgbClr val="F19500"/>
            </a:solidFill>
          </a:ln>
        </p:spPr>
        <p:style>
          <a:lnRef idx="1">
            <a:schemeClr val="accent1"/>
          </a:lnRef>
          <a:fillRef idx="0">
            <a:schemeClr val="accent1"/>
          </a:fillRef>
          <a:effectRef idx="0">
            <a:schemeClr val="accent1"/>
          </a:effectRef>
          <a:fontRef idx="minor">
            <a:schemeClr val="tx1"/>
          </a:fontRef>
        </p:style>
      </p:cxnSp>
      <p:cxnSp>
        <p:nvCxnSpPr>
          <p:cNvPr id="7" name="直接连接符 14">
            <a:extLst>
              <a:ext uri="{FF2B5EF4-FFF2-40B4-BE49-F238E27FC236}">
                <a16:creationId xmlns:a16="http://schemas.microsoft.com/office/drawing/2014/main" id="{E84470B1-7E26-445E-8261-EF124C84FCBC}"/>
              </a:ext>
            </a:extLst>
          </p:cNvPr>
          <p:cNvCxnSpPr>
            <a:stCxn id="6" idx="3"/>
          </p:cNvCxnSpPr>
          <p:nvPr/>
        </p:nvCxnSpPr>
        <p:spPr>
          <a:xfrm flipV="1">
            <a:off x="2789635" y="4881563"/>
            <a:ext cx="4663678" cy="0"/>
          </a:xfrm>
          <a:prstGeom prst="line">
            <a:avLst/>
          </a:prstGeom>
          <a:ln>
            <a:solidFill>
              <a:srgbClr val="064BB2"/>
            </a:solidFill>
          </a:ln>
        </p:spPr>
        <p:style>
          <a:lnRef idx="1">
            <a:schemeClr val="accent1"/>
          </a:lnRef>
          <a:fillRef idx="0">
            <a:schemeClr val="accent1"/>
          </a:fillRef>
          <a:effectRef idx="0">
            <a:schemeClr val="accent1"/>
          </a:effectRef>
          <a:fontRef idx="minor">
            <a:schemeClr val="tx1"/>
          </a:fontRef>
        </p:style>
      </p:cxnSp>
      <p:sp>
        <p:nvSpPr>
          <p:cNvPr id="8" name="AutoShape 23">
            <a:extLst>
              <a:ext uri="{FF2B5EF4-FFF2-40B4-BE49-F238E27FC236}">
                <a16:creationId xmlns:a16="http://schemas.microsoft.com/office/drawing/2014/main" id="{DC54CF8F-955A-4A75-ADB5-E00F1353FF6D}"/>
              </a:ext>
            </a:extLst>
          </p:cNvPr>
          <p:cNvSpPr>
            <a:spLocks noChangeArrowheads="1"/>
          </p:cNvSpPr>
          <p:nvPr/>
        </p:nvSpPr>
        <p:spPr bwMode="auto">
          <a:xfrm>
            <a:off x="184548" y="686991"/>
            <a:ext cx="7197328" cy="34528"/>
          </a:xfrm>
          <a:prstGeom prst="rect">
            <a:avLst/>
          </a:prstGeom>
          <a:solidFill>
            <a:srgbClr val="064BB2"/>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fontAlgn="auto">
              <a:spcBef>
                <a:spcPct val="50000"/>
              </a:spcBef>
              <a:spcAft>
                <a:spcPts val="0"/>
              </a:spcAft>
              <a:buFontTx/>
              <a:buNone/>
              <a:defRPr/>
            </a:pPr>
            <a:endParaRPr lang="zh-CN" altLang="en-US" sz="713"/>
          </a:p>
        </p:txBody>
      </p:sp>
      <p:sp>
        <p:nvSpPr>
          <p:cNvPr id="9" name="AutoShape 23">
            <a:extLst>
              <a:ext uri="{FF2B5EF4-FFF2-40B4-BE49-F238E27FC236}">
                <a16:creationId xmlns:a16="http://schemas.microsoft.com/office/drawing/2014/main" id="{8367A01C-6193-475C-8106-FED3AEAAA7ED}"/>
              </a:ext>
            </a:extLst>
          </p:cNvPr>
          <p:cNvSpPr>
            <a:spLocks noChangeArrowheads="1"/>
          </p:cNvSpPr>
          <p:nvPr/>
        </p:nvSpPr>
        <p:spPr bwMode="auto">
          <a:xfrm>
            <a:off x="7381875" y="686991"/>
            <a:ext cx="1491854" cy="34528"/>
          </a:xfrm>
          <a:prstGeom prst="rect">
            <a:avLst/>
          </a:prstGeom>
          <a:solidFill>
            <a:srgbClr val="FB9708"/>
          </a:solidFill>
          <a:ln>
            <a:noFill/>
          </a:ln>
        </p:spPr>
        <p:txBody>
          <a:bodyPr wrap="none" anchor="ctr"/>
          <a:lstStyle>
            <a:lvl1pPr>
              <a:defRPr sz="900">
                <a:solidFill>
                  <a:srgbClr val="000000"/>
                </a:solidFill>
                <a:latin typeface="Arial" panose="020B0604020202020204" pitchFamily="34" charset="0"/>
                <a:ea typeface="宋体" panose="02010600030101010101" pitchFamily="2" charset="-122"/>
              </a:defRPr>
            </a:lvl1pPr>
            <a:lvl2pPr marL="742950" indent="-285750">
              <a:defRPr sz="900">
                <a:solidFill>
                  <a:srgbClr val="000000"/>
                </a:solidFill>
                <a:latin typeface="Arial" panose="020B0604020202020204" pitchFamily="34" charset="0"/>
                <a:ea typeface="宋体" panose="02010600030101010101" pitchFamily="2" charset="-122"/>
              </a:defRPr>
            </a:lvl2pPr>
            <a:lvl3pPr marL="1143000" indent="-228600">
              <a:defRPr sz="900">
                <a:solidFill>
                  <a:srgbClr val="000000"/>
                </a:solidFill>
                <a:latin typeface="Arial" panose="020B0604020202020204" pitchFamily="34" charset="0"/>
                <a:ea typeface="宋体" panose="02010600030101010101" pitchFamily="2" charset="-122"/>
              </a:defRPr>
            </a:lvl3pPr>
            <a:lvl4pPr marL="1600200" indent="-228600">
              <a:defRPr sz="900">
                <a:solidFill>
                  <a:srgbClr val="000000"/>
                </a:solidFill>
                <a:latin typeface="Arial" panose="020B0604020202020204" pitchFamily="34" charset="0"/>
                <a:ea typeface="宋体" panose="02010600030101010101" pitchFamily="2" charset="-122"/>
              </a:defRPr>
            </a:lvl4pPr>
            <a:lvl5pPr marL="2057400" indent="-228600">
              <a:defRPr sz="900">
                <a:solidFill>
                  <a:srgbClr val="000000"/>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900">
                <a:solidFill>
                  <a:srgbClr val="000000"/>
                </a:solidFill>
                <a:latin typeface="Arial" panose="020B0604020202020204" pitchFamily="34" charset="0"/>
                <a:ea typeface="宋体" panose="02010600030101010101" pitchFamily="2" charset="-122"/>
              </a:defRPr>
            </a:lvl9pPr>
          </a:lstStyle>
          <a:p>
            <a:pPr algn="ctr" fontAlgn="auto">
              <a:spcBef>
                <a:spcPct val="50000"/>
              </a:spcBef>
              <a:spcAft>
                <a:spcPts val="0"/>
              </a:spcAft>
              <a:buFontTx/>
              <a:buNone/>
              <a:defRPr/>
            </a:pPr>
            <a:endParaRPr lang="zh-CN" altLang="en-US" sz="713"/>
          </a:p>
        </p:txBody>
      </p:sp>
      <p:cxnSp>
        <p:nvCxnSpPr>
          <p:cNvPr id="10" name="直接连接符 9">
            <a:extLst>
              <a:ext uri="{FF2B5EF4-FFF2-40B4-BE49-F238E27FC236}">
                <a16:creationId xmlns:a16="http://schemas.microsoft.com/office/drawing/2014/main" id="{6FEFBF47-4E4E-4907-8B9A-381E7A293BE9}"/>
              </a:ext>
            </a:extLst>
          </p:cNvPr>
          <p:cNvCxnSpPr>
            <a:stCxn id="6" idx="3"/>
          </p:cNvCxnSpPr>
          <p:nvPr/>
        </p:nvCxnSpPr>
        <p:spPr>
          <a:xfrm>
            <a:off x="1788319" y="4786313"/>
            <a:ext cx="0" cy="207169"/>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内容占位符 2"/>
          <p:cNvSpPr>
            <a:spLocks noGrp="1"/>
          </p:cNvSpPr>
          <p:nvPr>
            <p:ph idx="1"/>
          </p:nvPr>
        </p:nvSpPr>
        <p:spPr>
          <a:xfrm>
            <a:off x="317865" y="1316002"/>
            <a:ext cx="8330701" cy="3276923"/>
          </a:xfrm>
        </p:spPr>
        <p:txBody>
          <a:bodyPr>
            <a:noAutofit/>
          </a:bodyPr>
          <a:lstStyle>
            <a:lvl1pPr marL="271939" indent="-271939">
              <a:lnSpc>
                <a:spcPct val="150000"/>
              </a:lnSpc>
              <a:spcBef>
                <a:spcPts val="750"/>
              </a:spcBef>
              <a:buClr>
                <a:srgbClr val="032089"/>
              </a:buClr>
              <a:buFont typeface="Wingdings" panose="05000000000000000000" pitchFamily="2" charset="2"/>
              <a:buChar char="Ø"/>
              <a:defRPr sz="1350" b="0">
                <a:latin typeface="微软雅黑" panose="020B0503020204020204" pitchFamily="34" charset="-122"/>
                <a:ea typeface="微软雅黑" panose="020B0503020204020204" pitchFamily="34" charset="-122"/>
                <a:cs typeface="Times New Roman" panose="02020603050405020304" pitchFamily="18" charset="0"/>
              </a:defRPr>
            </a:lvl1pPr>
            <a:lvl2pPr>
              <a:lnSpc>
                <a:spcPct val="130000"/>
              </a:lnSpc>
              <a:buClr>
                <a:srgbClr val="032089"/>
              </a:buClr>
              <a:buFont typeface="Wingdings" panose="05000000000000000000" pitchFamily="2" charset="2"/>
              <a:buChar char="l"/>
              <a:defRPr sz="1748" b="0">
                <a:latin typeface="微软雅黑" panose="020B0503020204020204" pitchFamily="34" charset="-122"/>
                <a:ea typeface="微软雅黑" panose="020B0503020204020204" pitchFamily="34" charset="-122"/>
              </a:defRPr>
            </a:lvl2pPr>
            <a:lvl3pPr>
              <a:defRPr sz="1429" b="0">
                <a:latin typeface="微软雅黑" panose="020B0503020204020204" pitchFamily="34" charset="-122"/>
                <a:ea typeface="微软雅黑" panose="020B0503020204020204" pitchFamily="34" charset="-122"/>
              </a:defRPr>
            </a:lvl3pPr>
            <a:lvl4pPr>
              <a:defRPr sz="1429" b="0">
                <a:latin typeface="微软雅黑" panose="020B0503020204020204" pitchFamily="34" charset="-122"/>
                <a:ea typeface="微软雅黑" panose="020B0503020204020204" pitchFamily="34" charset="-122"/>
              </a:defRPr>
            </a:lvl4pPr>
            <a:lvl5pPr>
              <a:defRPr sz="1429" b="0">
                <a:latin typeface="微软雅黑" panose="020B0503020204020204" pitchFamily="34" charset="-122"/>
                <a:ea typeface="微软雅黑" panose="020B0503020204020204" pitchFamily="34" charset="-122"/>
              </a:defRPr>
            </a:lvl5pPr>
          </a:lstStyle>
          <a:p>
            <a:pPr lvl="0"/>
            <a:r>
              <a:rPr lang="zh-CN" altLang="en-US" noProof="1"/>
              <a:t>编辑母版文本样式</a:t>
            </a:r>
          </a:p>
          <a:p>
            <a:pPr lvl="1"/>
            <a:r>
              <a:rPr lang="zh-CN" altLang="en-US" noProof="1"/>
              <a:t>第二级</a:t>
            </a:r>
          </a:p>
        </p:txBody>
      </p:sp>
      <p:sp>
        <p:nvSpPr>
          <p:cNvPr id="2" name="标题 1"/>
          <p:cNvSpPr>
            <a:spLocks noGrp="1"/>
          </p:cNvSpPr>
          <p:nvPr>
            <p:ph type="title"/>
          </p:nvPr>
        </p:nvSpPr>
        <p:spPr>
          <a:xfrm>
            <a:off x="191157" y="269309"/>
            <a:ext cx="8229601" cy="396132"/>
          </a:xfrm>
        </p:spPr>
        <p:txBody>
          <a:bodyPr/>
          <a:lstStyle>
            <a:lvl1pPr>
              <a:defRPr sz="1800" b="1">
                <a:solidFill>
                  <a:schemeClr val="tx1"/>
                </a:solidFill>
                <a:latin typeface="微软雅黑" panose="020B0503020204020204" pitchFamily="34" charset="-122"/>
                <a:ea typeface="微软雅黑" panose="020B0503020204020204" pitchFamily="34" charset="-122"/>
                <a:cs typeface="Times New Roman" panose="02020603050405020304" pitchFamily="18" charset="0"/>
              </a:defRPr>
            </a:lvl1pPr>
          </a:lstStyle>
          <a:p>
            <a:r>
              <a:rPr lang="zh-CN" altLang="en-US" noProof="1"/>
              <a:t>单击此处编辑母版标题样式</a:t>
            </a:r>
          </a:p>
        </p:txBody>
      </p:sp>
      <p:sp>
        <p:nvSpPr>
          <p:cNvPr id="14" name="内容占位符 2"/>
          <p:cNvSpPr>
            <a:spLocks noGrp="1"/>
          </p:cNvSpPr>
          <p:nvPr>
            <p:ph idx="10"/>
          </p:nvPr>
        </p:nvSpPr>
        <p:spPr>
          <a:xfrm>
            <a:off x="317865" y="854235"/>
            <a:ext cx="8330701" cy="319852"/>
          </a:xfrm>
          <a:noFill/>
          <a:ln>
            <a:noFill/>
          </a:ln>
        </p:spPr>
        <p:txBody>
          <a:bodyPr anchor="ctr">
            <a:noAutofit/>
          </a:bodyPr>
          <a:lstStyle>
            <a:lvl1pPr marL="0" indent="0">
              <a:buNone/>
              <a:defRPr lang="zh-CN" altLang="en-US" sz="1500" b="0" dirty="0" smtClean="0">
                <a:latin typeface="微软雅黑" panose="020B0503020204020204" pitchFamily="34" charset="-122"/>
                <a:ea typeface="微软雅黑" panose="020B0503020204020204" pitchFamily="34" charset="-122"/>
                <a:cs typeface="Times New Roman" panose="02020603050405020304" pitchFamily="18" charset="0"/>
              </a:defRPr>
            </a:lvl1pPr>
          </a:lstStyle>
          <a:p>
            <a:pPr lvl="0"/>
            <a:r>
              <a:rPr lang="zh-CN" altLang="en-US" noProof="1"/>
              <a:t>编辑母版文本样式</a:t>
            </a:r>
          </a:p>
        </p:txBody>
      </p:sp>
      <p:sp>
        <p:nvSpPr>
          <p:cNvPr id="11" name="日期占位符 2">
            <a:extLst>
              <a:ext uri="{FF2B5EF4-FFF2-40B4-BE49-F238E27FC236}">
                <a16:creationId xmlns:a16="http://schemas.microsoft.com/office/drawing/2014/main" id="{8C9D253A-10DE-481D-988E-6BEC0CDA20F6}"/>
              </a:ext>
            </a:extLst>
          </p:cNvPr>
          <p:cNvSpPr>
            <a:spLocks noGrp="1"/>
          </p:cNvSpPr>
          <p:nvPr>
            <p:ph type="dt" sz="half" idx="11"/>
          </p:nvPr>
        </p:nvSpPr>
        <p:spPr/>
        <p:txBody>
          <a:bodyPr/>
          <a:lstStyle>
            <a:lvl1pPr>
              <a:defRPr/>
            </a:lvl1pPr>
          </a:lstStyle>
          <a:p>
            <a:pPr>
              <a:defRPr/>
            </a:pPr>
            <a:fld id="{961F0FCB-3C9B-43AF-9122-66CB9AF9BE1F}" type="datetimeFigureOut">
              <a:rPr lang="zh-CN" altLang="en-US"/>
              <a:pPr>
                <a:defRPr/>
              </a:pPr>
              <a:t>2024/4/23</a:t>
            </a:fld>
            <a:endParaRPr lang="zh-CN" altLang="en-US"/>
          </a:p>
        </p:txBody>
      </p:sp>
      <p:sp>
        <p:nvSpPr>
          <p:cNvPr id="12" name="页脚占位符 4">
            <a:extLst>
              <a:ext uri="{FF2B5EF4-FFF2-40B4-BE49-F238E27FC236}">
                <a16:creationId xmlns:a16="http://schemas.microsoft.com/office/drawing/2014/main" id="{B2901E17-58DF-49C4-9DE2-A12586FCDAEF}"/>
              </a:ext>
            </a:extLst>
          </p:cNvPr>
          <p:cNvSpPr>
            <a:spLocks noGrp="1"/>
          </p:cNvSpPr>
          <p:nvPr>
            <p:ph type="ftr" sz="quarter" idx="12"/>
          </p:nvPr>
        </p:nvSpPr>
        <p:spPr/>
        <p:txBody>
          <a:bodyPr/>
          <a:lstStyle>
            <a:lvl1pPr>
              <a:defRPr/>
            </a:lvl1pPr>
          </a:lstStyle>
          <a:p>
            <a:pPr>
              <a:defRPr/>
            </a:pPr>
            <a:endParaRPr lang="zh-CN" altLang="en-US"/>
          </a:p>
        </p:txBody>
      </p:sp>
      <p:sp>
        <p:nvSpPr>
          <p:cNvPr id="13" name="灯片编号占位符 5">
            <a:extLst>
              <a:ext uri="{FF2B5EF4-FFF2-40B4-BE49-F238E27FC236}">
                <a16:creationId xmlns:a16="http://schemas.microsoft.com/office/drawing/2014/main" id="{27DC25B2-A5E5-4F2C-BA98-D1B72330E665}"/>
              </a:ext>
            </a:extLst>
          </p:cNvPr>
          <p:cNvSpPr>
            <a:spLocks noGrp="1"/>
          </p:cNvSpPr>
          <p:nvPr>
            <p:ph type="sldNum" sz="quarter" idx="13"/>
          </p:nvPr>
        </p:nvSpPr>
        <p:spPr/>
        <p:txBody>
          <a:bodyPr/>
          <a:lstStyle>
            <a:lvl1pPr>
              <a:defRPr/>
            </a:lvl1pPr>
          </a:lstStyle>
          <a:p>
            <a:fld id="{B22652B3-2E09-4BBA-A0D6-24503131B011}" type="slidenum">
              <a:rPr lang="zh-CN" altLang="en-US"/>
              <a:pPr/>
              <a:t>‹#›</a:t>
            </a:fld>
            <a:endParaRPr lang="zh-CN" altLang="en-US"/>
          </a:p>
        </p:txBody>
      </p:sp>
    </p:spTree>
    <p:extLst>
      <p:ext uri="{BB962C8B-B14F-4D97-AF65-F5344CB8AC3E}">
        <p14:creationId xmlns:p14="http://schemas.microsoft.com/office/powerpoint/2010/main" val="218772825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731A94-F931-4AAA-8DB5-6ED9F8502AA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188E0AB-1C0D-42C7-851F-DD65AD7BF302}"/>
              </a:ext>
            </a:extLst>
          </p:cNvPr>
          <p:cNvSpPr>
            <a:spLocks noGrp="1"/>
          </p:cNvSpPr>
          <p:nvPr>
            <p:ph type="dt" sz="half" idx="10"/>
          </p:nvPr>
        </p:nvSpPr>
        <p:spPr/>
        <p:txBody>
          <a:bodyPr/>
          <a:lstStyle/>
          <a:p>
            <a:pPr>
              <a:defRPr/>
            </a:pPr>
            <a:fld id="{961F0FCB-3C9B-43AF-9122-66CB9AF9BE1F}" type="datetimeFigureOut">
              <a:rPr lang="zh-CN" altLang="en-US" smtClean="0"/>
              <a:pPr>
                <a:defRPr/>
              </a:pPr>
              <a:t>2024/4/23</a:t>
            </a:fld>
            <a:endParaRPr lang="zh-CN" altLang="en-US"/>
          </a:p>
        </p:txBody>
      </p:sp>
      <p:sp>
        <p:nvSpPr>
          <p:cNvPr id="4" name="页脚占位符 3">
            <a:extLst>
              <a:ext uri="{FF2B5EF4-FFF2-40B4-BE49-F238E27FC236}">
                <a16:creationId xmlns:a16="http://schemas.microsoft.com/office/drawing/2014/main" id="{0D48D610-C3FB-43EF-84BB-9022A4747168}"/>
              </a:ext>
            </a:extLst>
          </p:cNvPr>
          <p:cNvSpPr>
            <a:spLocks noGrp="1"/>
          </p:cNvSpPr>
          <p:nvPr>
            <p:ph type="ftr" sz="quarter" idx="11"/>
          </p:nvPr>
        </p:nvSpPr>
        <p:spPr/>
        <p:txBody>
          <a:bodyPr/>
          <a:lstStyle/>
          <a:p>
            <a:pPr>
              <a:defRPr/>
            </a:pPr>
            <a:endParaRPr lang="zh-CN" altLang="en-US"/>
          </a:p>
        </p:txBody>
      </p:sp>
      <p:sp>
        <p:nvSpPr>
          <p:cNvPr id="5" name="灯片编号占位符 4">
            <a:extLst>
              <a:ext uri="{FF2B5EF4-FFF2-40B4-BE49-F238E27FC236}">
                <a16:creationId xmlns:a16="http://schemas.microsoft.com/office/drawing/2014/main" id="{D871D823-BC15-486B-873C-13E261F2D689}"/>
              </a:ext>
            </a:extLst>
          </p:cNvPr>
          <p:cNvSpPr>
            <a:spLocks noGrp="1"/>
          </p:cNvSpPr>
          <p:nvPr>
            <p:ph type="sldNum" sz="quarter" idx="12"/>
          </p:nvPr>
        </p:nvSpPr>
        <p:spPr/>
        <p:txBody>
          <a:bodyPr/>
          <a:lstStyle/>
          <a:p>
            <a:fld id="{BD211C93-5505-452B-8265-D50E35693F66}" type="slidenum">
              <a:rPr lang="zh-CN" altLang="en-US" smtClean="0"/>
              <a:pPr/>
              <a:t>‹#›</a:t>
            </a:fld>
            <a:endParaRPr lang="zh-CN" altLang="en-US"/>
          </a:p>
        </p:txBody>
      </p:sp>
    </p:spTree>
    <p:extLst>
      <p:ext uri="{BB962C8B-B14F-4D97-AF65-F5344CB8AC3E}">
        <p14:creationId xmlns:p14="http://schemas.microsoft.com/office/powerpoint/2010/main" val="28039126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5979"/>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sp>
        <p:nvSpPr>
          <p:cNvPr id="1027" name="Rectangle 3"/>
          <p:cNvSpPr>
            <a:spLocks noGrp="1" noChangeArrowheads="1"/>
          </p:cNvSpPr>
          <p:nvPr>
            <p:ph type="body" idx="1"/>
          </p:nvPr>
        </p:nvSpPr>
        <p:spPr bwMode="auto">
          <a:xfrm>
            <a:off x="457200" y="1200151"/>
            <a:ext cx="8229600" cy="3394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 name="文本框 1">
            <a:extLst>
              <a:ext uri="{FF2B5EF4-FFF2-40B4-BE49-F238E27FC236}">
                <a16:creationId xmlns:a16="http://schemas.microsoft.com/office/drawing/2014/main" id="{E0E5853F-F8D3-4201-B7D6-19EE6B4D4F23}"/>
              </a:ext>
            </a:extLst>
          </p:cNvPr>
          <p:cNvSpPr txBox="1"/>
          <p:nvPr userDrawn="1"/>
        </p:nvSpPr>
        <p:spPr>
          <a:xfrm>
            <a:off x="8460432" y="4803998"/>
            <a:ext cx="576064" cy="307777"/>
          </a:xfrm>
          <a:prstGeom prst="rect">
            <a:avLst/>
          </a:prstGeom>
          <a:noFill/>
        </p:spPr>
        <p:txBody>
          <a:bodyPr wrap="square" rtlCol="0">
            <a:spAutoFit/>
          </a:bodyPr>
          <a:lstStyle/>
          <a:p>
            <a:pPr algn="r"/>
            <a:fld id="{0C913308-F349-4B6D-A68A-DD1791B4A57B}" type="slidenum">
              <a:rPr lang="zh-CN" altLang="en-US" b="1" smtClean="0">
                <a:latin typeface="Times New Roman" panose="02020603050405020304" pitchFamily="18" charset="0"/>
                <a:cs typeface="Times New Roman" panose="02020603050405020304" pitchFamily="18" charset="0"/>
              </a:rPr>
              <a:pPr algn="r"/>
              <a:t>‹#›</a:t>
            </a:fld>
            <a:endParaRPr lang="zh-CN" altLang="en-US" b="1" dirty="0">
              <a:latin typeface="Times New Roman" panose="02020603050405020304" pitchFamily="18" charset="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4" r:id="rId4"/>
    <p:sldLayoutId id="2147483741" r:id="rId5"/>
  </p:sldLayoutIdLst>
  <p:transition>
    <p:fade/>
  </p:transition>
  <p:hf hdr="0" ftr="0" dt="0"/>
  <p:txStyles>
    <p:titleStyle>
      <a:lvl1pPr algn="ctr" rtl="0" eaLnBrk="0" fontAlgn="base" hangingPunct="0">
        <a:spcBef>
          <a:spcPct val="0"/>
        </a:spcBef>
        <a:spcAft>
          <a:spcPct val="0"/>
        </a:spcAft>
        <a:defRPr sz="4400">
          <a:solidFill>
            <a:schemeClr val="tx2"/>
          </a:solidFill>
          <a:latin typeface="Arial" panose="020B0604020202020204" pitchFamily="34" charset="0"/>
          <a:ea typeface="+mj-ea"/>
          <a:cs typeface="Arial" panose="020B0604020202020204" pitchFamily="34" charset="0"/>
        </a:defRPr>
      </a:lvl1pPr>
      <a:lvl2pPr algn="ctr" rtl="0" eaLnBrk="0" fontAlgn="base" hangingPunct="0">
        <a:spcBef>
          <a:spcPct val="0"/>
        </a:spcBef>
        <a:spcAft>
          <a:spcPct val="0"/>
        </a:spcAft>
        <a:defRPr sz="4400">
          <a:solidFill>
            <a:schemeClr val="tx2"/>
          </a:solidFill>
          <a:latin typeface="Arial" charset="0"/>
          <a:ea typeface="宋体" charset="-122"/>
        </a:defRPr>
      </a:lvl2pPr>
      <a:lvl3pPr algn="ctr" rtl="0" eaLnBrk="0" fontAlgn="base" hangingPunct="0">
        <a:spcBef>
          <a:spcPct val="0"/>
        </a:spcBef>
        <a:spcAft>
          <a:spcPct val="0"/>
        </a:spcAft>
        <a:defRPr sz="4400">
          <a:solidFill>
            <a:schemeClr val="tx2"/>
          </a:solidFill>
          <a:latin typeface="Arial" charset="0"/>
          <a:ea typeface="宋体" charset="-122"/>
        </a:defRPr>
      </a:lvl3pPr>
      <a:lvl4pPr algn="ctr" rtl="0" eaLnBrk="0" fontAlgn="base" hangingPunct="0">
        <a:spcBef>
          <a:spcPct val="0"/>
        </a:spcBef>
        <a:spcAft>
          <a:spcPct val="0"/>
        </a:spcAft>
        <a:defRPr sz="4400">
          <a:solidFill>
            <a:schemeClr val="tx2"/>
          </a:solidFill>
          <a:latin typeface="Arial" charset="0"/>
          <a:ea typeface="宋体" charset="-122"/>
        </a:defRPr>
      </a:lvl4pPr>
      <a:lvl5pPr algn="ctr" rtl="0" eaLnBrk="0" fontAlgn="base" hangingPunct="0">
        <a:spcBef>
          <a:spcPct val="0"/>
        </a:spcBef>
        <a:spcAft>
          <a:spcPct val="0"/>
        </a:spcAft>
        <a:defRPr sz="4400">
          <a:solidFill>
            <a:schemeClr val="tx2"/>
          </a:solidFill>
          <a:latin typeface="Arial" charset="0"/>
          <a:ea typeface="宋体" charset="-122"/>
        </a:defRPr>
      </a:lvl5pPr>
      <a:lvl6pPr marL="457200" algn="ctr" rtl="0" eaLnBrk="1" fontAlgn="base" hangingPunct="1">
        <a:spcBef>
          <a:spcPct val="0"/>
        </a:spcBef>
        <a:spcAft>
          <a:spcPct val="0"/>
        </a:spcAft>
        <a:defRPr sz="4400">
          <a:solidFill>
            <a:schemeClr val="tx2"/>
          </a:solidFill>
          <a:latin typeface="Arial" charset="0"/>
          <a:ea typeface="宋体" charset="-122"/>
        </a:defRPr>
      </a:lvl6pPr>
      <a:lvl7pPr marL="914400" algn="ctr" rtl="0" eaLnBrk="1" fontAlgn="base" hangingPunct="1">
        <a:spcBef>
          <a:spcPct val="0"/>
        </a:spcBef>
        <a:spcAft>
          <a:spcPct val="0"/>
        </a:spcAft>
        <a:defRPr sz="4400">
          <a:solidFill>
            <a:schemeClr val="tx2"/>
          </a:solidFill>
          <a:latin typeface="Arial" charset="0"/>
          <a:ea typeface="宋体" charset="-122"/>
        </a:defRPr>
      </a:lvl7pPr>
      <a:lvl8pPr marL="1371600" algn="ctr" rtl="0" eaLnBrk="1" fontAlgn="base" hangingPunct="1">
        <a:spcBef>
          <a:spcPct val="0"/>
        </a:spcBef>
        <a:spcAft>
          <a:spcPct val="0"/>
        </a:spcAft>
        <a:defRPr sz="4400">
          <a:solidFill>
            <a:schemeClr val="tx2"/>
          </a:solidFill>
          <a:latin typeface="Arial" charset="0"/>
          <a:ea typeface="宋体" charset="-122"/>
        </a:defRPr>
      </a:lvl8pPr>
      <a:lvl9pPr marL="1828800" algn="ctr" rtl="0" eaLnBrk="1" fontAlgn="base" hangingPunct="1">
        <a:spcBef>
          <a:spcPct val="0"/>
        </a:spcBef>
        <a:spcAft>
          <a:spcPct val="0"/>
        </a:spcAft>
        <a:defRPr sz="4400">
          <a:solidFill>
            <a:schemeClr val="tx2"/>
          </a:solidFill>
          <a:latin typeface="Arial" charset="0"/>
          <a:ea typeface="宋体" charset="-122"/>
        </a:defRPr>
      </a:lvl9pPr>
    </p:titleStyle>
    <p:bodyStyle>
      <a:lvl1pPr marL="342900" indent="-342900" algn="l" rtl="0" eaLnBrk="0" fontAlgn="base" hangingPunct="0">
        <a:spcBef>
          <a:spcPct val="20000"/>
        </a:spcBef>
        <a:spcAft>
          <a:spcPct val="0"/>
        </a:spcAft>
        <a:buChar char="•"/>
        <a:defRPr sz="32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har char="–"/>
        <a:defRPr sz="2800">
          <a:solidFill>
            <a:schemeClr val="tx1"/>
          </a:solidFill>
          <a:latin typeface="Arial" panose="020B0604020202020204" pitchFamily="34" charset="0"/>
          <a:ea typeface="+mn-ea"/>
          <a:cs typeface="Arial" panose="020B0604020202020204" pitchFamily="34" charset="0"/>
        </a:defRPr>
      </a:lvl2pPr>
      <a:lvl3pPr marL="1143000" indent="-228600" algn="l" rtl="0" eaLnBrk="0" fontAlgn="base" hangingPunct="0">
        <a:spcBef>
          <a:spcPct val="20000"/>
        </a:spcBef>
        <a:spcAft>
          <a:spcPct val="0"/>
        </a:spcAft>
        <a:buChar char="•"/>
        <a:defRPr sz="2400">
          <a:solidFill>
            <a:schemeClr val="tx1"/>
          </a:solidFill>
          <a:latin typeface="Arial" panose="020B0604020202020204" pitchFamily="34" charset="0"/>
          <a:ea typeface="+mn-ea"/>
          <a:cs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cs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ea typeface="+mn-ea"/>
          <a:cs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4CABCC62-743F-4022-8159-B19A201B0BB8}"/>
              </a:ext>
            </a:extLst>
          </p:cNvPr>
          <p:cNvSpPr>
            <a:spLocks noGrp="1" noChangeArrowheads="1"/>
          </p:cNvSpPr>
          <p:nvPr>
            <p:ph type="title" idx="4294967295"/>
          </p:nvPr>
        </p:nvSpPr>
        <p:spPr bwMode="auto">
          <a:xfrm>
            <a:off x="191691" y="146447"/>
            <a:ext cx="822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a16="http://schemas.microsoft.com/office/drawing/2014/main" id="{8EE9B879-BEBD-4844-945E-D696D6281BD4}"/>
              </a:ext>
            </a:extLst>
          </p:cNvPr>
          <p:cNvSpPr>
            <a:spLocks noGrp="1" noChangeArrowheads="1"/>
          </p:cNvSpPr>
          <p:nvPr>
            <p:ph type="body" idx="4294967295"/>
          </p:nvPr>
        </p:nvSpPr>
        <p:spPr bwMode="auto">
          <a:xfrm>
            <a:off x="316706" y="890588"/>
            <a:ext cx="8229600" cy="756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a:t>
            </a:r>
          </a:p>
        </p:txBody>
      </p:sp>
      <p:sp>
        <p:nvSpPr>
          <p:cNvPr id="8" name="日期占位符 7">
            <a:extLst>
              <a:ext uri="{FF2B5EF4-FFF2-40B4-BE49-F238E27FC236}">
                <a16:creationId xmlns:a16="http://schemas.microsoft.com/office/drawing/2014/main" id="{C95541F1-4DC5-4655-B057-934C72C68944}"/>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fontAlgn="auto">
              <a:spcBef>
                <a:spcPts val="0"/>
              </a:spcBef>
              <a:spcAft>
                <a:spcPts val="0"/>
              </a:spcAft>
              <a:buFontTx/>
              <a:buNone/>
              <a:defRPr sz="900">
                <a:solidFill>
                  <a:schemeClr val="tx1">
                    <a:tint val="75000"/>
                  </a:schemeClr>
                </a:solidFill>
                <a:latin typeface="+mn-lt"/>
                <a:ea typeface="+mn-ea"/>
              </a:defRPr>
            </a:lvl1pPr>
          </a:lstStyle>
          <a:p>
            <a:pPr>
              <a:defRPr/>
            </a:pPr>
            <a:fld id="{961F0FCB-3C9B-43AF-9122-66CB9AF9BE1F}" type="datetimeFigureOut">
              <a:rPr lang="zh-CN" altLang="en-US"/>
              <a:pPr>
                <a:defRPr/>
              </a:pPr>
              <a:t>2024/4/23</a:t>
            </a:fld>
            <a:endParaRPr lang="zh-CN" altLang="en-US"/>
          </a:p>
        </p:txBody>
      </p:sp>
      <p:sp>
        <p:nvSpPr>
          <p:cNvPr id="13" name="页脚占位符 12">
            <a:extLst>
              <a:ext uri="{FF2B5EF4-FFF2-40B4-BE49-F238E27FC236}">
                <a16:creationId xmlns:a16="http://schemas.microsoft.com/office/drawing/2014/main" id="{D41541A6-4A6E-4EAB-92E4-324E52AD6F4D}"/>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fontAlgn="auto">
              <a:spcBef>
                <a:spcPts val="0"/>
              </a:spcBef>
              <a:spcAft>
                <a:spcPts val="0"/>
              </a:spcAft>
              <a:buFontTx/>
              <a:buNone/>
              <a:defRPr sz="900">
                <a:solidFill>
                  <a:schemeClr val="tx1">
                    <a:tint val="75000"/>
                  </a:schemeClr>
                </a:solidFill>
                <a:latin typeface="+mn-lt"/>
                <a:ea typeface="+mn-ea"/>
              </a:defRPr>
            </a:lvl1pPr>
          </a:lstStyle>
          <a:p>
            <a:pPr>
              <a:defRPr/>
            </a:pPr>
            <a:endParaRPr lang="zh-CN" altLang="en-US"/>
          </a:p>
        </p:txBody>
      </p:sp>
      <p:sp>
        <p:nvSpPr>
          <p:cNvPr id="14" name="灯片编号占位符 13">
            <a:extLst>
              <a:ext uri="{FF2B5EF4-FFF2-40B4-BE49-F238E27FC236}">
                <a16:creationId xmlns:a16="http://schemas.microsoft.com/office/drawing/2014/main" id="{00D96588-48D9-48F6-8566-84A7CB18ECD5}"/>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noProof="1" dirty="0">
                <a:solidFill>
                  <a:srgbClr val="898989"/>
                </a:solidFill>
              </a:defRPr>
            </a:lvl1pPr>
          </a:lstStyle>
          <a:p>
            <a:fld id="{BD211C93-5505-452B-8265-D50E35693F66}" type="slidenum">
              <a:rPr lang="zh-CN" altLang="en-US"/>
              <a:pPr/>
              <a:t>‹#›</a:t>
            </a:fld>
            <a:endParaRPr lang="zh-CN" altLang="en-US"/>
          </a:p>
        </p:txBody>
      </p:sp>
    </p:spTree>
    <p:extLst>
      <p:ext uri="{BB962C8B-B14F-4D97-AF65-F5344CB8AC3E}">
        <p14:creationId xmlns:p14="http://schemas.microsoft.com/office/powerpoint/2010/main" val="1015341314"/>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40" r:id="rId4"/>
  </p:sldLayoutIdLst>
  <p:txStyles>
    <p:titleStyle>
      <a:lvl1pPr algn="l" rtl="0" eaLnBrk="1" fontAlgn="base" hangingPunct="1">
        <a:spcBef>
          <a:spcPct val="0"/>
        </a:spcBef>
        <a:spcAft>
          <a:spcPct val="0"/>
        </a:spcAft>
        <a:defRPr sz="1875">
          <a:solidFill>
            <a:schemeClr val="tx1"/>
          </a:solidFill>
          <a:latin typeface="+mj-lt"/>
          <a:ea typeface="微软雅黑" panose="020B0503020204020204" pitchFamily="34" charset="-122"/>
          <a:cs typeface="微软雅黑" panose="020B0503020204020204" pitchFamily="34" charset="-122"/>
        </a:defRPr>
      </a:lvl1pPr>
      <a:lvl2pPr algn="l" rtl="0" eaLnBrk="1" fontAlgn="base" hangingPunct="1">
        <a:spcBef>
          <a:spcPct val="0"/>
        </a:spcBef>
        <a:spcAft>
          <a:spcPct val="0"/>
        </a:spcAft>
        <a:defRPr sz="1875">
          <a:solidFill>
            <a:schemeClr val="tx1"/>
          </a:solidFill>
          <a:latin typeface="Calibri" panose="020F0502020204030204" pitchFamily="34" charset="0"/>
          <a:ea typeface="微软雅黑" panose="020B0503020204020204" pitchFamily="34" charset="-122"/>
          <a:cs typeface="微软雅黑" panose="020B0503020204020204" pitchFamily="34" charset="-122"/>
        </a:defRPr>
      </a:lvl2pPr>
      <a:lvl3pPr algn="l" rtl="0" eaLnBrk="1" fontAlgn="base" hangingPunct="1">
        <a:spcBef>
          <a:spcPct val="0"/>
        </a:spcBef>
        <a:spcAft>
          <a:spcPct val="0"/>
        </a:spcAft>
        <a:defRPr sz="1875">
          <a:solidFill>
            <a:schemeClr val="tx1"/>
          </a:solidFill>
          <a:latin typeface="Calibri" panose="020F0502020204030204" pitchFamily="34" charset="0"/>
          <a:ea typeface="微软雅黑" panose="020B0503020204020204" pitchFamily="34" charset="-122"/>
          <a:cs typeface="微软雅黑" panose="020B0503020204020204" pitchFamily="34" charset="-122"/>
        </a:defRPr>
      </a:lvl3pPr>
      <a:lvl4pPr algn="l" rtl="0" eaLnBrk="1" fontAlgn="base" hangingPunct="1">
        <a:spcBef>
          <a:spcPct val="0"/>
        </a:spcBef>
        <a:spcAft>
          <a:spcPct val="0"/>
        </a:spcAft>
        <a:defRPr sz="1875">
          <a:solidFill>
            <a:schemeClr val="tx1"/>
          </a:solidFill>
          <a:latin typeface="Calibri" panose="020F0502020204030204" pitchFamily="34" charset="0"/>
          <a:ea typeface="微软雅黑" panose="020B0503020204020204" pitchFamily="34" charset="-122"/>
          <a:cs typeface="微软雅黑" panose="020B0503020204020204" pitchFamily="34" charset="-122"/>
        </a:defRPr>
      </a:lvl4pPr>
      <a:lvl5pPr algn="l" rtl="0" eaLnBrk="1" fontAlgn="base" hangingPunct="1">
        <a:spcBef>
          <a:spcPct val="0"/>
        </a:spcBef>
        <a:spcAft>
          <a:spcPct val="0"/>
        </a:spcAft>
        <a:defRPr sz="1875">
          <a:solidFill>
            <a:schemeClr val="tx1"/>
          </a:solidFill>
          <a:latin typeface="Calibri" panose="020F0502020204030204" pitchFamily="34" charset="0"/>
          <a:ea typeface="微软雅黑" panose="020B0503020204020204" pitchFamily="34" charset="-122"/>
          <a:cs typeface="微软雅黑" panose="020B0503020204020204" pitchFamily="34" charset="-122"/>
        </a:defRPr>
      </a:lvl5pPr>
      <a:lvl6pPr marL="362903" algn="l" rtl="0" eaLnBrk="1" fontAlgn="base" hangingPunct="1">
        <a:spcBef>
          <a:spcPct val="0"/>
        </a:spcBef>
        <a:spcAft>
          <a:spcPct val="0"/>
        </a:spcAft>
        <a:defRPr sz="1905">
          <a:solidFill>
            <a:schemeClr val="tx1"/>
          </a:solidFill>
          <a:latin typeface="Calibri" panose="020F0502020204030204" pitchFamily="34" charset="0"/>
          <a:ea typeface="黑体" panose="02010600030101010101" pitchFamily="49" charset="-122"/>
        </a:defRPr>
      </a:lvl6pPr>
      <a:lvl7pPr marL="725805" algn="l" rtl="0" eaLnBrk="1" fontAlgn="base" hangingPunct="1">
        <a:spcBef>
          <a:spcPct val="0"/>
        </a:spcBef>
        <a:spcAft>
          <a:spcPct val="0"/>
        </a:spcAft>
        <a:defRPr sz="1905">
          <a:solidFill>
            <a:schemeClr val="tx1"/>
          </a:solidFill>
          <a:latin typeface="Calibri" panose="020F0502020204030204" pitchFamily="34" charset="0"/>
          <a:ea typeface="黑体" panose="02010600030101010101" pitchFamily="49" charset="-122"/>
        </a:defRPr>
      </a:lvl7pPr>
      <a:lvl8pPr marL="1088231" algn="l" rtl="0" eaLnBrk="1" fontAlgn="base" hangingPunct="1">
        <a:spcBef>
          <a:spcPct val="0"/>
        </a:spcBef>
        <a:spcAft>
          <a:spcPct val="0"/>
        </a:spcAft>
        <a:defRPr sz="1905">
          <a:solidFill>
            <a:schemeClr val="tx1"/>
          </a:solidFill>
          <a:latin typeface="Calibri" panose="020F0502020204030204" pitchFamily="34" charset="0"/>
          <a:ea typeface="黑体" panose="02010600030101010101" pitchFamily="49" charset="-122"/>
        </a:defRPr>
      </a:lvl8pPr>
      <a:lvl9pPr marL="1451134" algn="l" rtl="0" eaLnBrk="1" fontAlgn="base" hangingPunct="1">
        <a:spcBef>
          <a:spcPct val="0"/>
        </a:spcBef>
        <a:spcAft>
          <a:spcPct val="0"/>
        </a:spcAft>
        <a:defRPr sz="1905">
          <a:solidFill>
            <a:schemeClr val="tx1"/>
          </a:solidFill>
          <a:latin typeface="Calibri" panose="020F0502020204030204" pitchFamily="34" charset="0"/>
          <a:ea typeface="黑体" panose="02010600030101010101" pitchFamily="49" charset="-122"/>
        </a:defRPr>
      </a:lvl9pPr>
    </p:titleStyle>
    <p:bodyStyle>
      <a:lvl1pPr marL="271463" indent="-271463" algn="l" rtl="0" eaLnBrk="1" fontAlgn="base" hangingPunct="1">
        <a:spcBef>
          <a:spcPct val="20000"/>
        </a:spcBef>
        <a:spcAft>
          <a:spcPct val="0"/>
        </a:spcAft>
        <a:buClr>
          <a:srgbClr val="000066"/>
        </a:buClr>
        <a:buFont typeface="Wingdings" panose="05000000000000000000" pitchFamily="2" charset="2"/>
        <a:buChar char="n"/>
        <a:defRPr sz="1575">
          <a:solidFill>
            <a:schemeClr val="tx1"/>
          </a:solidFill>
          <a:latin typeface="+mn-lt"/>
          <a:ea typeface="+mn-ea"/>
          <a:cs typeface="宋体" panose="02010600030101010101" pitchFamily="2" charset="-122"/>
        </a:defRPr>
      </a:lvl1pPr>
      <a:lvl2pPr marL="589360" indent="-226219" algn="l" rtl="0" eaLnBrk="1" fontAlgn="base" hangingPunct="1">
        <a:spcBef>
          <a:spcPct val="20000"/>
        </a:spcBef>
        <a:spcAft>
          <a:spcPct val="0"/>
        </a:spcAft>
        <a:buFont typeface="Arial" panose="020B0604020202020204" pitchFamily="34" charset="0"/>
        <a:buChar char="–"/>
        <a:defRPr sz="2175">
          <a:solidFill>
            <a:schemeClr val="tx1"/>
          </a:solidFill>
          <a:latin typeface="+mn-lt"/>
          <a:ea typeface="+mn-ea"/>
        </a:defRPr>
      </a:lvl2pPr>
      <a:lvl3pPr marL="906066" indent="-180975" algn="l" rtl="0" eaLnBrk="1" fontAlgn="base" hangingPunct="1">
        <a:spcBef>
          <a:spcPct val="20000"/>
        </a:spcBef>
        <a:spcAft>
          <a:spcPct val="0"/>
        </a:spcAft>
        <a:buFont typeface="Arial" panose="020B0604020202020204" pitchFamily="34" charset="0"/>
        <a:buChar char="•"/>
        <a:defRPr sz="1875">
          <a:solidFill>
            <a:schemeClr val="tx1"/>
          </a:solidFill>
          <a:latin typeface="+mn-lt"/>
          <a:ea typeface="+mn-ea"/>
        </a:defRPr>
      </a:lvl3pPr>
      <a:lvl4pPr marL="1269206" indent="-180975" algn="l" rtl="0" eaLnBrk="1" fontAlgn="base" hangingPunct="1">
        <a:spcBef>
          <a:spcPct val="20000"/>
        </a:spcBef>
        <a:spcAft>
          <a:spcPct val="0"/>
        </a:spcAft>
        <a:buFont typeface="Arial" panose="020B0604020202020204" pitchFamily="34" charset="0"/>
        <a:buChar char="–"/>
        <a:defRPr sz="1575">
          <a:solidFill>
            <a:schemeClr val="tx1"/>
          </a:solidFill>
          <a:latin typeface="+mn-lt"/>
          <a:ea typeface="+mn-ea"/>
        </a:defRPr>
      </a:lvl4pPr>
      <a:lvl5pPr marL="1632347" indent="-180975" algn="l" rtl="0" eaLnBrk="1" fontAlgn="base" hangingPunct="1">
        <a:spcBef>
          <a:spcPct val="20000"/>
        </a:spcBef>
        <a:spcAft>
          <a:spcPct val="0"/>
        </a:spcAft>
        <a:buFont typeface="Arial" panose="020B0604020202020204" pitchFamily="34" charset="0"/>
        <a:buChar char="»"/>
        <a:defRPr sz="1575">
          <a:solidFill>
            <a:schemeClr val="tx1"/>
          </a:solidFill>
          <a:latin typeface="+mn-lt"/>
          <a:ea typeface="+mn-ea"/>
        </a:defRPr>
      </a:lvl5pPr>
      <a:lvl6pPr marL="1995488" indent="-181451" algn="l" rtl="0" eaLnBrk="1" fontAlgn="base" hangingPunct="1">
        <a:spcBef>
          <a:spcPct val="20000"/>
        </a:spcBef>
        <a:spcAft>
          <a:spcPct val="0"/>
        </a:spcAft>
        <a:buFont typeface="Arial" panose="020B0604020202020204" pitchFamily="34" charset="0"/>
        <a:buChar char="»"/>
        <a:defRPr sz="1586">
          <a:solidFill>
            <a:schemeClr val="tx1"/>
          </a:solidFill>
          <a:latin typeface="+mn-lt"/>
          <a:ea typeface="+mn-ea"/>
        </a:defRPr>
      </a:lvl6pPr>
      <a:lvl7pPr marL="2358390" indent="-181451" algn="l" rtl="0" eaLnBrk="1" fontAlgn="base" hangingPunct="1">
        <a:spcBef>
          <a:spcPct val="20000"/>
        </a:spcBef>
        <a:spcAft>
          <a:spcPct val="0"/>
        </a:spcAft>
        <a:buFont typeface="Arial" panose="020B0604020202020204" pitchFamily="34" charset="0"/>
        <a:buChar char="»"/>
        <a:defRPr sz="1586">
          <a:solidFill>
            <a:schemeClr val="tx1"/>
          </a:solidFill>
          <a:latin typeface="+mn-lt"/>
          <a:ea typeface="+mn-ea"/>
        </a:defRPr>
      </a:lvl7pPr>
      <a:lvl8pPr marL="2721293" indent="-181451" algn="l" rtl="0" eaLnBrk="1" fontAlgn="base" hangingPunct="1">
        <a:spcBef>
          <a:spcPct val="20000"/>
        </a:spcBef>
        <a:spcAft>
          <a:spcPct val="0"/>
        </a:spcAft>
        <a:buFont typeface="Arial" panose="020B0604020202020204" pitchFamily="34" charset="0"/>
        <a:buChar char="»"/>
        <a:defRPr sz="1586">
          <a:solidFill>
            <a:schemeClr val="tx1"/>
          </a:solidFill>
          <a:latin typeface="+mn-lt"/>
          <a:ea typeface="+mn-ea"/>
        </a:defRPr>
      </a:lvl8pPr>
      <a:lvl9pPr marL="3084195" indent="-181451" algn="l" rtl="0" eaLnBrk="1" fontAlgn="base" hangingPunct="1">
        <a:spcBef>
          <a:spcPct val="20000"/>
        </a:spcBef>
        <a:spcAft>
          <a:spcPct val="0"/>
        </a:spcAft>
        <a:buFont typeface="Arial" panose="020B0604020202020204" pitchFamily="34" charset="0"/>
        <a:buChar char="»"/>
        <a:defRPr sz="1586">
          <a:solidFill>
            <a:schemeClr val="tx1"/>
          </a:solidFill>
          <a:latin typeface="+mn-lt"/>
          <a:ea typeface="+mn-ea"/>
        </a:defRPr>
      </a:lvl9pPr>
    </p:bodyStyle>
    <p:otherStyle>
      <a:defPPr>
        <a:defRPr lang="zh-CN"/>
      </a:defPPr>
      <a:lvl1pPr marL="0" algn="l" defTabSz="725329" rtl="0" eaLnBrk="1" latinLnBrk="0" hangingPunct="1">
        <a:defRPr sz="1429" kern="1200">
          <a:solidFill>
            <a:schemeClr val="tx1"/>
          </a:solidFill>
          <a:latin typeface="+mn-lt"/>
          <a:ea typeface="+mn-ea"/>
          <a:cs typeface="+mn-cs"/>
        </a:defRPr>
      </a:lvl1pPr>
      <a:lvl2pPr marL="362903" algn="l" defTabSz="725329" rtl="0" eaLnBrk="1" latinLnBrk="0" hangingPunct="1">
        <a:defRPr sz="1429" kern="1200">
          <a:solidFill>
            <a:schemeClr val="tx1"/>
          </a:solidFill>
          <a:latin typeface="+mn-lt"/>
          <a:ea typeface="+mn-ea"/>
          <a:cs typeface="+mn-cs"/>
        </a:defRPr>
      </a:lvl2pPr>
      <a:lvl3pPr marL="725805" algn="l" defTabSz="725329" rtl="0" eaLnBrk="1" latinLnBrk="0" hangingPunct="1">
        <a:defRPr sz="1429" kern="1200">
          <a:solidFill>
            <a:schemeClr val="tx1"/>
          </a:solidFill>
          <a:latin typeface="+mn-lt"/>
          <a:ea typeface="+mn-ea"/>
          <a:cs typeface="+mn-cs"/>
        </a:defRPr>
      </a:lvl3pPr>
      <a:lvl4pPr marL="1088231" algn="l" defTabSz="725329" rtl="0" eaLnBrk="1" latinLnBrk="0" hangingPunct="1">
        <a:defRPr sz="1429" kern="1200">
          <a:solidFill>
            <a:schemeClr val="tx1"/>
          </a:solidFill>
          <a:latin typeface="+mn-lt"/>
          <a:ea typeface="+mn-ea"/>
          <a:cs typeface="+mn-cs"/>
        </a:defRPr>
      </a:lvl4pPr>
      <a:lvl5pPr marL="1451134" algn="l" defTabSz="725329" rtl="0" eaLnBrk="1" latinLnBrk="0" hangingPunct="1">
        <a:defRPr sz="1429" kern="1200">
          <a:solidFill>
            <a:schemeClr val="tx1"/>
          </a:solidFill>
          <a:latin typeface="+mn-lt"/>
          <a:ea typeface="+mn-ea"/>
          <a:cs typeface="+mn-cs"/>
        </a:defRPr>
      </a:lvl5pPr>
      <a:lvl6pPr marL="1814036" algn="l" defTabSz="725329" rtl="0" eaLnBrk="1" latinLnBrk="0" hangingPunct="1">
        <a:defRPr sz="1429" kern="1200">
          <a:solidFill>
            <a:schemeClr val="tx1"/>
          </a:solidFill>
          <a:latin typeface="+mn-lt"/>
          <a:ea typeface="+mn-ea"/>
          <a:cs typeface="+mn-cs"/>
        </a:defRPr>
      </a:lvl6pPr>
      <a:lvl7pPr marL="2176939" algn="l" defTabSz="725329" rtl="0" eaLnBrk="1" latinLnBrk="0" hangingPunct="1">
        <a:defRPr sz="1429" kern="1200">
          <a:solidFill>
            <a:schemeClr val="tx1"/>
          </a:solidFill>
          <a:latin typeface="+mn-lt"/>
          <a:ea typeface="+mn-ea"/>
          <a:cs typeface="+mn-cs"/>
        </a:defRPr>
      </a:lvl7pPr>
      <a:lvl8pPr marL="2539841" algn="l" defTabSz="725329" rtl="0" eaLnBrk="1" latinLnBrk="0" hangingPunct="1">
        <a:defRPr sz="1429" kern="1200">
          <a:solidFill>
            <a:schemeClr val="tx1"/>
          </a:solidFill>
          <a:latin typeface="+mn-lt"/>
          <a:ea typeface="+mn-ea"/>
          <a:cs typeface="+mn-cs"/>
        </a:defRPr>
      </a:lvl8pPr>
      <a:lvl9pPr marL="2902744" algn="l" defTabSz="725329" rtl="0" eaLnBrk="1" latinLnBrk="0" hangingPunct="1">
        <a:defRPr sz="142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4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FA77F71E-B605-4820-B913-56173A09A2E7}"/>
              </a:ext>
            </a:extLst>
          </p:cNvPr>
          <p:cNvSpPr txBox="1">
            <a:spLocks noChangeArrowheads="1"/>
          </p:cNvSpPr>
          <p:nvPr/>
        </p:nvSpPr>
        <p:spPr bwMode="auto">
          <a:xfrm>
            <a:off x="-12605" y="1851670"/>
            <a:ext cx="9156340" cy="1116356"/>
          </a:xfrm>
          <a:prstGeom prst="rect">
            <a:avLst/>
          </a:prstGeom>
          <a:noFill/>
          <a:ln>
            <a:noFill/>
          </a:ln>
          <a:extLst/>
        </p:spPr>
        <p:txBody>
          <a:bodyPr lIns="92075" tIns="46038" rIns="92075" bIns="46038" anchor="ctr"/>
          <a:lstStyle>
            <a:lvl1pPr>
              <a:defRPr kumimoji="1" sz="2400">
                <a:solidFill>
                  <a:schemeClr val="tx1"/>
                </a:solidFill>
                <a:latin typeface="Arial" charset="0"/>
                <a:ea typeface="MS PGothic" charset="0"/>
                <a:cs typeface="MS PGothic" charset="0"/>
              </a:defRPr>
            </a:lvl1pPr>
            <a:lvl2pPr marL="742950" indent="-285750">
              <a:defRPr kumimoji="1" sz="2400">
                <a:solidFill>
                  <a:schemeClr val="tx1"/>
                </a:solidFill>
                <a:latin typeface="Arial" charset="0"/>
                <a:ea typeface="MS PGothic" charset="0"/>
                <a:cs typeface="MS PGothic" charset="0"/>
              </a:defRPr>
            </a:lvl2pPr>
            <a:lvl3pPr marL="1143000" indent="-228600">
              <a:defRPr kumimoji="1" sz="2400">
                <a:solidFill>
                  <a:schemeClr val="tx1"/>
                </a:solidFill>
                <a:latin typeface="Arial" charset="0"/>
                <a:ea typeface="MS PGothic" charset="0"/>
                <a:cs typeface="MS PGothic" charset="0"/>
              </a:defRPr>
            </a:lvl3pPr>
            <a:lvl4pPr marL="1600200" indent="-228600">
              <a:defRPr kumimoji="1" sz="2400">
                <a:solidFill>
                  <a:schemeClr val="tx1"/>
                </a:solidFill>
                <a:latin typeface="Arial" charset="0"/>
                <a:ea typeface="MS PGothic" charset="0"/>
                <a:cs typeface="MS PGothic" charset="0"/>
              </a:defRPr>
            </a:lvl4pPr>
            <a:lvl5pPr marL="2057400" indent="-228600">
              <a:defRPr kumimoji="1" sz="2400">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kumimoji="1" sz="2400">
                <a:solidFill>
                  <a:schemeClr val="tx1"/>
                </a:solidFill>
                <a:latin typeface="Arial" charset="0"/>
                <a:ea typeface="MS PGothic" charset="0"/>
                <a:cs typeface="MS PGothic" charset="0"/>
              </a:defRPr>
            </a:lvl9pPr>
          </a:lstStyle>
          <a:p>
            <a:pPr algn="ctr">
              <a:spcBef>
                <a:spcPts val="600"/>
              </a:spcBef>
              <a:defRPr/>
            </a:pPr>
            <a:r>
              <a:rPr lang="en-US" altLang="zh-CN" sz="2800" b="1" dirty="0">
                <a:solidFill>
                  <a:prstClr val="black"/>
                </a:solidFill>
                <a:latin typeface="Arial" panose="020B0604020202020204" pitchFamily="34" charset="0"/>
                <a:ea typeface="华文楷体" panose="02010600040101010101" pitchFamily="2" charset="-122"/>
                <a:cs typeface="Arial" panose="020B0604020202020204" pitchFamily="34" charset="0"/>
              </a:rPr>
              <a:t>Query Processing/</a:t>
            </a:r>
            <a:r>
              <a:rPr lang="zh-CN" altLang="en-US" sz="2800" b="1" dirty="0">
                <a:solidFill>
                  <a:prstClr val="black"/>
                </a:solidFill>
                <a:latin typeface="Arial" panose="020B0604020202020204" pitchFamily="34" charset="0"/>
                <a:ea typeface="华文楷体" panose="02010600040101010101" pitchFamily="2" charset="-122"/>
                <a:cs typeface="Arial" panose="020B0604020202020204" pitchFamily="34" charset="0"/>
              </a:rPr>
              <a:t>查询处理</a:t>
            </a:r>
            <a:endParaRPr lang="en-US" altLang="zh-CN" sz="2800" b="1" dirty="0">
              <a:latin typeface="Arial" panose="020B0604020202020204" pitchFamily="34" charset="0"/>
              <a:ea typeface="华文楷体" panose="02010600040101010101" pitchFamily="2" charset="-122"/>
              <a:cs typeface="Arial" panose="020B0604020202020204" pitchFamily="34" charset="0"/>
            </a:endParaRPr>
          </a:p>
          <a:p>
            <a:pPr algn="ctr">
              <a:spcBef>
                <a:spcPts val="600"/>
              </a:spcBef>
              <a:defRPr/>
            </a:pPr>
            <a:r>
              <a:rPr lang="en-US" altLang="zh-CN" dirty="0">
                <a:solidFill>
                  <a:prstClr val="black"/>
                </a:solidFill>
                <a:latin typeface="Arial" panose="020B0604020202020204" pitchFamily="34" charset="0"/>
                <a:ea typeface="华文楷体" panose="02010600040101010101" pitchFamily="2" charset="-122"/>
                <a:cs typeface="Arial" panose="020B0604020202020204" pitchFamily="34" charset="0"/>
              </a:rPr>
              <a:t>Chapter 15</a:t>
            </a:r>
          </a:p>
        </p:txBody>
      </p:sp>
      <p:sp>
        <p:nvSpPr>
          <p:cNvPr id="18" name="Subtitle 2">
            <a:extLst>
              <a:ext uri="{FF2B5EF4-FFF2-40B4-BE49-F238E27FC236}">
                <a16:creationId xmlns:a16="http://schemas.microsoft.com/office/drawing/2014/main" id="{5B0D7027-3D69-4E35-939E-995F28B50482}"/>
              </a:ext>
            </a:extLst>
          </p:cNvPr>
          <p:cNvSpPr txBox="1">
            <a:spLocks noChangeArrowheads="1"/>
          </p:cNvSpPr>
          <p:nvPr/>
        </p:nvSpPr>
        <p:spPr bwMode="auto">
          <a:xfrm>
            <a:off x="0" y="3244417"/>
            <a:ext cx="9156340" cy="110345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eaLnBrk="0" fontAlgn="base" hangingPunct="0">
              <a:spcBef>
                <a:spcPct val="0"/>
              </a:spcBef>
              <a:spcAft>
                <a:spcPct val="0"/>
              </a:spcAft>
              <a:defRPr kumimoji="1" sz="2400">
                <a:solidFill>
                  <a:schemeClr val="tx1"/>
                </a:solidFill>
                <a:latin typeface="Arial" charset="0"/>
                <a:ea typeface="ＭＳ Ｐゴシック" charset="0"/>
              </a:defRPr>
            </a:lvl6pPr>
            <a:lvl7pPr marL="2971800" indent="-228600" eaLnBrk="0" fontAlgn="base" hangingPunct="0">
              <a:spcBef>
                <a:spcPct val="0"/>
              </a:spcBef>
              <a:spcAft>
                <a:spcPct val="0"/>
              </a:spcAft>
              <a:defRPr kumimoji="1" sz="2400">
                <a:solidFill>
                  <a:schemeClr val="tx1"/>
                </a:solidFill>
                <a:latin typeface="Arial" charset="0"/>
                <a:ea typeface="ＭＳ Ｐゴシック" charset="0"/>
              </a:defRPr>
            </a:lvl7pPr>
            <a:lvl8pPr marL="3429000" indent="-228600" eaLnBrk="0" fontAlgn="base" hangingPunct="0">
              <a:spcBef>
                <a:spcPct val="0"/>
              </a:spcBef>
              <a:spcAft>
                <a:spcPct val="0"/>
              </a:spcAft>
              <a:defRPr kumimoji="1" sz="2400">
                <a:solidFill>
                  <a:schemeClr val="tx1"/>
                </a:solidFill>
                <a:latin typeface="Arial" charset="0"/>
                <a:ea typeface="ＭＳ Ｐゴシック" charset="0"/>
              </a:defRPr>
            </a:lvl8pPr>
            <a:lvl9pPr marL="3886200" indent="-228600" eaLnBrk="0" fontAlgn="base" hangingPunct="0">
              <a:spcBef>
                <a:spcPct val="0"/>
              </a:spcBef>
              <a:spcAft>
                <a:spcPct val="0"/>
              </a:spcAft>
              <a:defRPr kumimoji="1" sz="2400">
                <a:solidFill>
                  <a:schemeClr val="tx1"/>
                </a:solidFill>
                <a:latin typeface="Arial" charset="0"/>
                <a:ea typeface="ＭＳ Ｐゴシック" charset="0"/>
              </a:defRPr>
            </a:lvl9pPr>
          </a:lstStyle>
          <a:p>
            <a:pPr algn="ctr">
              <a:buClr>
                <a:srgbClr val="800080"/>
              </a:buClr>
              <a:buSzPct val="90000"/>
            </a:pPr>
            <a:r>
              <a:rPr lang="en-US" altLang="zh-CN" sz="1800" dirty="0" err="1">
                <a:solidFill>
                  <a:srgbClr val="000000"/>
                </a:solidFill>
                <a:latin typeface="Arial" panose="020B0604020202020204" pitchFamily="34" charset="0"/>
                <a:ea typeface="华文楷体" panose="02010600040101010101" pitchFamily="2" charset="-122"/>
                <a:cs typeface="Arial" panose="020B0604020202020204" pitchFamily="34" charset="0"/>
              </a:rPr>
              <a:t>Yichao</a:t>
            </a:r>
            <a:r>
              <a:rPr lang="en-US" altLang="zh-CN" sz="1800" dirty="0">
                <a:solidFill>
                  <a:srgbClr val="000000"/>
                </a:solidFill>
                <a:latin typeface="Arial" panose="020B0604020202020204" pitchFamily="34" charset="0"/>
                <a:ea typeface="华文楷体" panose="02010600040101010101" pitchFamily="2" charset="-122"/>
                <a:cs typeface="Arial" panose="020B0604020202020204" pitchFamily="34" charset="0"/>
              </a:rPr>
              <a:t> Zhang</a:t>
            </a:r>
          </a:p>
          <a:p>
            <a:pPr algn="ctr">
              <a:buClr>
                <a:srgbClr val="800080"/>
              </a:buClr>
              <a:buSzPct val="90000"/>
            </a:pPr>
            <a:r>
              <a:rPr lang="en-GB" altLang="zh-CN" sz="1800" dirty="0">
                <a:latin typeface="Arial" panose="020B0604020202020204" pitchFamily="34" charset="0"/>
                <a:ea typeface="华文楷体" panose="02010600040101010101" pitchFamily="2" charset="-122"/>
                <a:cs typeface="Arial" panose="020B0604020202020204" pitchFamily="34" charset="0"/>
              </a:rPr>
              <a:t>Email: </a:t>
            </a:r>
            <a:r>
              <a:rPr lang="en-US" altLang="zh-CN" sz="1800" dirty="0" err="1">
                <a:solidFill>
                  <a:srgbClr val="000000"/>
                </a:solidFill>
                <a:latin typeface="Arial" panose="020B0604020202020204" pitchFamily="34" charset="0"/>
                <a:ea typeface="华文楷体" panose="02010600040101010101" pitchFamily="2" charset="-122"/>
                <a:cs typeface="Arial" panose="020B0604020202020204" pitchFamily="34" charset="0"/>
              </a:rPr>
              <a:t>yichaozhang</a:t>
            </a:r>
            <a:r>
              <a:rPr lang="en-GB" altLang="zh-CN" sz="1800" dirty="0">
                <a:latin typeface="Arial" panose="020B0604020202020204" pitchFamily="34" charset="0"/>
                <a:ea typeface="华文楷体" panose="02010600040101010101" pitchFamily="2" charset="-122"/>
                <a:cs typeface="Arial" panose="020B0604020202020204" pitchFamily="34" charset="0"/>
              </a:rPr>
              <a:t>@tongji.edu.cn</a:t>
            </a:r>
          </a:p>
          <a:p>
            <a:pPr algn="ctr">
              <a:buClr>
                <a:srgbClr val="800080"/>
              </a:buClr>
              <a:buSzPct val="90000"/>
            </a:pPr>
            <a:r>
              <a:rPr lang="en-US" altLang="zh-CN" sz="1800" dirty="0">
                <a:solidFill>
                  <a:srgbClr val="000000"/>
                </a:solidFill>
                <a:latin typeface="Arial" panose="020B0604020202020204" pitchFamily="34" charset="0"/>
                <a:ea typeface="华文楷体" panose="02010600040101010101" pitchFamily="2" charset="-122"/>
                <a:cs typeface="Arial" panose="020B0604020202020204" pitchFamily="34" charset="0"/>
              </a:rPr>
              <a:t>Department of Computer Science and Technology</a:t>
            </a:r>
          </a:p>
          <a:p>
            <a:pPr algn="ctr">
              <a:buClr>
                <a:srgbClr val="800080"/>
              </a:buClr>
              <a:buSzPct val="90000"/>
            </a:pPr>
            <a:r>
              <a:rPr lang="en-US" altLang="zh-CN" sz="1800" dirty="0">
                <a:solidFill>
                  <a:srgbClr val="000000"/>
                </a:solidFill>
                <a:latin typeface="Arial" panose="020B0604020202020204" pitchFamily="34" charset="0"/>
                <a:ea typeface="华文楷体" panose="02010600040101010101" pitchFamily="2" charset="-122"/>
                <a:cs typeface="Arial" panose="020B0604020202020204" pitchFamily="34" charset="0"/>
              </a:rPr>
              <a:t>Tongji University</a:t>
            </a:r>
          </a:p>
          <a:p>
            <a:pPr algn="ctr">
              <a:buClr>
                <a:srgbClr val="800080"/>
              </a:buClr>
              <a:buSzPct val="90000"/>
            </a:pPr>
            <a:endParaRPr lang="de-CH" sz="1800" dirty="0">
              <a:solidFill>
                <a:srgbClr val="000000"/>
              </a:solidFill>
              <a:latin typeface="Arial" panose="020B0604020202020204" pitchFamily="34" charset="0"/>
              <a:ea typeface="华文楷体" panose="02010600040101010101" pitchFamily="2" charset="-122"/>
              <a:cs typeface="Arial" panose="020B0604020202020204" pitchFamily="34" charset="0"/>
            </a:endParaRPr>
          </a:p>
        </p:txBody>
      </p:sp>
      <p:pic>
        <p:nvPicPr>
          <p:cNvPr id="6" name="图片 5">
            <a:extLst>
              <a:ext uri="{FF2B5EF4-FFF2-40B4-BE49-F238E27FC236}">
                <a16:creationId xmlns:a16="http://schemas.microsoft.com/office/drawing/2014/main" id="{E3926E56-11E2-4B2B-AA1C-5D1F684EF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513" y="78916"/>
            <a:ext cx="2448272" cy="673776"/>
          </a:xfrm>
          <a:prstGeom prst="rect">
            <a:avLst/>
          </a:prstGeom>
        </p:spPr>
      </p:pic>
      <p:grpSp>
        <p:nvGrpSpPr>
          <p:cNvPr id="7" name="组合 6">
            <a:extLst>
              <a:ext uri="{FF2B5EF4-FFF2-40B4-BE49-F238E27FC236}">
                <a16:creationId xmlns:a16="http://schemas.microsoft.com/office/drawing/2014/main" id="{32F6A10C-3978-4571-8E11-512EBE350881}"/>
              </a:ext>
            </a:extLst>
          </p:cNvPr>
          <p:cNvGrpSpPr/>
          <p:nvPr/>
        </p:nvGrpSpPr>
        <p:grpSpPr>
          <a:xfrm>
            <a:off x="6820780" y="34612"/>
            <a:ext cx="2323220" cy="626967"/>
            <a:chOff x="5853448" y="-22066"/>
            <a:chExt cx="2967025" cy="835954"/>
          </a:xfrm>
        </p:grpSpPr>
        <p:sp>
          <p:nvSpPr>
            <p:cNvPr id="8" name="文本框 7">
              <a:extLst>
                <a:ext uri="{FF2B5EF4-FFF2-40B4-BE49-F238E27FC236}">
                  <a16:creationId xmlns:a16="http://schemas.microsoft.com/office/drawing/2014/main" id="{3BF37CBE-EBFF-4522-B25D-114F7C120EEF}"/>
                </a:ext>
              </a:extLst>
            </p:cNvPr>
            <p:cNvSpPr txBox="1"/>
            <p:nvPr/>
          </p:nvSpPr>
          <p:spPr>
            <a:xfrm>
              <a:off x="5853448" y="25982"/>
              <a:ext cx="2967025" cy="787906"/>
            </a:xfrm>
            <a:prstGeom prst="rect">
              <a:avLst/>
            </a:prstGeom>
            <a:noFill/>
          </p:spPr>
          <p:txBody>
            <a:bodyPr wrap="square" rtlCol="0">
              <a:spAutoFit/>
            </a:bodyPr>
            <a:lstStyle/>
            <a:p>
              <a:r>
                <a:rPr lang="en-US" altLang="zh-CN" sz="1800" b="1" dirty="0">
                  <a:solidFill>
                    <a:srgbClr val="0070C0"/>
                  </a:solidFill>
                </a:rPr>
                <a:t>             ADMIS Lab</a:t>
              </a:r>
              <a:endParaRPr lang="en-US" altLang="zh-CN" sz="1200" b="1" dirty="0">
                <a:solidFill>
                  <a:srgbClr val="0070C0"/>
                </a:solidFill>
              </a:endParaRPr>
            </a:p>
            <a:p>
              <a:r>
                <a:rPr lang="zh-CN" altLang="en-US" sz="1200" b="1" dirty="0">
                  <a:solidFill>
                    <a:srgbClr val="0070C0"/>
                  </a:solidFill>
                  <a:latin typeface="华文行楷" panose="02010800040101010101" pitchFamily="2" charset="-122"/>
                  <a:ea typeface="华文行楷" panose="02010800040101010101" pitchFamily="2" charset="-122"/>
                </a:rPr>
                <a:t>先进数据与机器智能系统实验室</a:t>
              </a:r>
            </a:p>
          </p:txBody>
        </p:sp>
        <p:pic>
          <p:nvPicPr>
            <p:cNvPr id="9" name="图形 8" descr="原子">
              <a:extLst>
                <a:ext uri="{FF2B5EF4-FFF2-40B4-BE49-F238E27FC236}">
                  <a16:creationId xmlns:a16="http://schemas.microsoft.com/office/drawing/2014/main" id="{366732EC-C279-4260-B05C-265B78B278A1}"/>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951999" y="-22066"/>
              <a:ext cx="1189248" cy="524648"/>
            </a:xfrm>
            <a:prstGeom prst="rect">
              <a:avLst/>
            </a:prstGeom>
          </p:spPr>
        </p:pic>
      </p:grpSp>
    </p:spTree>
    <p:extLst>
      <p:ext uri="{BB962C8B-B14F-4D97-AF65-F5344CB8AC3E}">
        <p14:creationId xmlns:p14="http://schemas.microsoft.com/office/powerpoint/2010/main" val="34699055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87524" y="843558"/>
            <a:ext cx="8568952" cy="3805070"/>
          </a:xfrm>
        </p:spPr>
        <p:txBody>
          <a:bodyPr/>
          <a:lstStyle/>
          <a:p>
            <a:pPr>
              <a:spcBef>
                <a:spcPts val="600"/>
              </a:spcBef>
            </a:pPr>
            <a:r>
              <a:rPr lang="en-US" altLang="zh-CN" b="1" dirty="0">
                <a:solidFill>
                  <a:srgbClr val="C00000"/>
                </a:solidFill>
              </a:rPr>
              <a:t>Overview </a:t>
            </a:r>
          </a:p>
          <a:p>
            <a:pPr>
              <a:spcBef>
                <a:spcPts val="600"/>
              </a:spcBef>
            </a:pPr>
            <a:r>
              <a:rPr lang="en-US" altLang="zh-CN" dirty="0"/>
              <a:t>Measures of Query Cost</a:t>
            </a:r>
          </a:p>
          <a:p>
            <a:pPr>
              <a:spcBef>
                <a:spcPts val="600"/>
              </a:spcBef>
            </a:pPr>
            <a:r>
              <a:rPr lang="en-US" altLang="zh-CN" dirty="0"/>
              <a:t>Selection Operation </a:t>
            </a:r>
          </a:p>
          <a:p>
            <a:pPr>
              <a:spcBef>
                <a:spcPts val="600"/>
              </a:spcBef>
            </a:pPr>
            <a:r>
              <a:rPr lang="en-US" altLang="zh-CN" dirty="0"/>
              <a:t>Sorting </a:t>
            </a:r>
          </a:p>
          <a:p>
            <a:pPr>
              <a:spcBef>
                <a:spcPts val="600"/>
              </a:spcBef>
            </a:pPr>
            <a:r>
              <a:rPr lang="en-US" altLang="zh-CN" dirty="0"/>
              <a:t>Join Operation </a:t>
            </a:r>
          </a:p>
          <a:p>
            <a:pPr>
              <a:spcBef>
                <a:spcPts val="600"/>
              </a:spcBef>
            </a:pPr>
            <a:r>
              <a:rPr lang="en-US" altLang="zh-CN" dirty="0"/>
              <a:t>Other Operations</a:t>
            </a:r>
          </a:p>
          <a:p>
            <a:pPr>
              <a:spcBef>
                <a:spcPts val="600"/>
              </a:spcBef>
            </a:pPr>
            <a:r>
              <a:rPr lang="en-US" altLang="zh-CN" dirty="0"/>
              <a:t>Evaluation of Expressions</a:t>
            </a:r>
          </a:p>
        </p:txBody>
      </p:sp>
    </p:spTree>
    <p:extLst>
      <p:ext uri="{BB962C8B-B14F-4D97-AF65-F5344CB8AC3E}">
        <p14:creationId xmlns:p14="http://schemas.microsoft.com/office/powerpoint/2010/main" val="414667678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19953C-2C0E-486D-A619-B96D4E23D1BE}"/>
              </a:ext>
            </a:extLst>
          </p:cNvPr>
          <p:cNvSpPr>
            <a:spLocks noGrp="1"/>
          </p:cNvSpPr>
          <p:nvPr>
            <p:ph type="title"/>
          </p:nvPr>
        </p:nvSpPr>
        <p:spPr/>
        <p:txBody>
          <a:bodyPr/>
          <a:lstStyle/>
          <a:p>
            <a:pPr algn="ctr"/>
            <a:r>
              <a:rPr lang="zh-CN" altLang="en-US" dirty="0"/>
              <a:t>查询处理的基本步骤</a:t>
            </a:r>
          </a:p>
        </p:txBody>
      </p:sp>
      <p:pic>
        <p:nvPicPr>
          <p:cNvPr id="7" name="Picture 11">
            <a:extLst>
              <a:ext uri="{FF2B5EF4-FFF2-40B4-BE49-F238E27FC236}">
                <a16:creationId xmlns:a16="http://schemas.microsoft.com/office/drawing/2014/main" id="{96F1D338-C850-4C2E-A2B2-510FF9656F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1680" y="1059582"/>
            <a:ext cx="5602985" cy="33647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8358200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19953C-2C0E-486D-A619-B96D4E23D1BE}"/>
              </a:ext>
            </a:extLst>
          </p:cNvPr>
          <p:cNvSpPr>
            <a:spLocks noGrp="1"/>
          </p:cNvSpPr>
          <p:nvPr>
            <p:ph type="title"/>
          </p:nvPr>
        </p:nvSpPr>
        <p:spPr/>
        <p:txBody>
          <a:bodyPr/>
          <a:lstStyle/>
          <a:p>
            <a:pPr algn="ctr"/>
            <a:r>
              <a:rPr lang="zh-CN" altLang="en-US" dirty="0"/>
              <a:t>查询处理的基本步骤</a:t>
            </a:r>
          </a:p>
        </p:txBody>
      </p:sp>
      <p:sp>
        <p:nvSpPr>
          <p:cNvPr id="3" name="内容占位符 2">
            <a:extLst>
              <a:ext uri="{FF2B5EF4-FFF2-40B4-BE49-F238E27FC236}">
                <a16:creationId xmlns:a16="http://schemas.microsoft.com/office/drawing/2014/main" id="{437C4260-DF67-419F-9A3A-89D663AD483A}"/>
              </a:ext>
            </a:extLst>
          </p:cNvPr>
          <p:cNvSpPr>
            <a:spLocks noGrp="1"/>
          </p:cNvSpPr>
          <p:nvPr>
            <p:ph idx="1"/>
          </p:nvPr>
        </p:nvSpPr>
        <p:spPr>
          <a:xfrm>
            <a:off x="179512" y="843558"/>
            <a:ext cx="8568952" cy="2646293"/>
          </a:xfrm>
        </p:spPr>
        <p:txBody>
          <a:bodyPr/>
          <a:lstStyle/>
          <a:p>
            <a:r>
              <a:rPr lang="zh-CN" altLang="en-US" sz="2000" b="1" dirty="0"/>
              <a:t>语法分析与翻译</a:t>
            </a:r>
            <a:r>
              <a:rPr lang="en-US" altLang="zh-CN" sz="2000" b="1" dirty="0"/>
              <a:t>/Parsing and translation</a:t>
            </a:r>
          </a:p>
          <a:p>
            <a:pPr lvl="1"/>
            <a:r>
              <a:rPr lang="en-US" altLang="zh-CN" sz="1800" dirty="0"/>
              <a:t>Translate the query into the internal form which is then translated into relational algebra</a:t>
            </a:r>
          </a:p>
          <a:p>
            <a:r>
              <a:rPr lang="zh-CN" altLang="en-US" sz="2000" b="1" dirty="0"/>
              <a:t>优化</a:t>
            </a:r>
            <a:r>
              <a:rPr lang="en-US" altLang="zh-CN" sz="2000" b="1" dirty="0"/>
              <a:t>/Optimization</a:t>
            </a:r>
          </a:p>
          <a:p>
            <a:pPr lvl="1"/>
            <a:r>
              <a:rPr lang="en-US" altLang="zh-CN" sz="1800" dirty="0"/>
              <a:t>Generate the optimal execution plan (</a:t>
            </a:r>
            <a:r>
              <a:rPr lang="zh-CN" altLang="en-US" sz="1800" dirty="0"/>
              <a:t>执行计划</a:t>
            </a:r>
            <a:r>
              <a:rPr lang="en-US" altLang="zh-CN" sz="1800" dirty="0"/>
              <a:t>)</a:t>
            </a:r>
          </a:p>
          <a:p>
            <a:r>
              <a:rPr lang="zh-CN" altLang="en-US" sz="2000" b="1" dirty="0"/>
              <a:t>执行</a:t>
            </a:r>
            <a:r>
              <a:rPr lang="en-US" altLang="zh-CN" sz="2000" b="1" dirty="0"/>
              <a:t>/Execution</a:t>
            </a:r>
          </a:p>
          <a:p>
            <a:pPr lvl="1"/>
            <a:r>
              <a:rPr lang="en-US" altLang="zh-CN" sz="1800" dirty="0"/>
              <a:t>The query execution engine executes the execution plan, and returns the answers to the query</a:t>
            </a:r>
          </a:p>
          <a:p>
            <a:endParaRPr lang="zh-CN" altLang="en-US" sz="2000" dirty="0"/>
          </a:p>
        </p:txBody>
      </p:sp>
    </p:spTree>
    <p:extLst>
      <p:ext uri="{BB962C8B-B14F-4D97-AF65-F5344CB8AC3E}">
        <p14:creationId xmlns:p14="http://schemas.microsoft.com/office/powerpoint/2010/main" val="333647293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04E47-6989-4DD5-93A7-4B3F6F69AD14}"/>
              </a:ext>
            </a:extLst>
          </p:cNvPr>
          <p:cNvSpPr>
            <a:spLocks noGrp="1"/>
          </p:cNvSpPr>
          <p:nvPr>
            <p:ph type="title"/>
          </p:nvPr>
        </p:nvSpPr>
        <p:spPr/>
        <p:txBody>
          <a:bodyPr/>
          <a:lstStyle/>
          <a:p>
            <a:pPr algn="ctr"/>
            <a:r>
              <a:rPr lang="zh-CN" altLang="en-US" sz="3000" dirty="0"/>
              <a:t>查询优化</a:t>
            </a:r>
          </a:p>
        </p:txBody>
      </p:sp>
      <p:sp>
        <p:nvSpPr>
          <p:cNvPr id="4" name="文本框 3">
            <a:extLst>
              <a:ext uri="{FF2B5EF4-FFF2-40B4-BE49-F238E27FC236}">
                <a16:creationId xmlns:a16="http://schemas.microsoft.com/office/drawing/2014/main" id="{23367849-9790-4B15-ADCD-E414B4E15E4C}"/>
              </a:ext>
            </a:extLst>
          </p:cNvPr>
          <p:cNvSpPr txBox="1"/>
          <p:nvPr/>
        </p:nvSpPr>
        <p:spPr>
          <a:xfrm>
            <a:off x="323528" y="1995686"/>
            <a:ext cx="4176464" cy="1015663"/>
          </a:xfrm>
          <a:prstGeom prst="rect">
            <a:avLst/>
          </a:prstGeom>
          <a:noFill/>
        </p:spPr>
        <p:txBody>
          <a:bodyPr wrap="square" rtlCol="0">
            <a:spAutoFit/>
          </a:bodyPr>
          <a:lstStyle/>
          <a:p>
            <a:pPr marL="0" indent="0">
              <a:spcBef>
                <a:spcPts val="0"/>
              </a:spcBef>
              <a:buNone/>
            </a:pPr>
            <a:r>
              <a:rPr lang="en-US" altLang="zh-CN" sz="2000" b="1" i="1" dirty="0">
                <a:latin typeface="Times New Roman" panose="02020603050405020304" pitchFamily="18" charset="0"/>
                <a:cs typeface="Times New Roman" panose="02020603050405020304" pitchFamily="18" charset="0"/>
              </a:rPr>
              <a:t>select</a:t>
            </a:r>
            <a:r>
              <a:rPr lang="en-US" altLang="zh-CN" sz="2000" i="1" dirty="0">
                <a:latin typeface="Times New Roman" panose="02020603050405020304" pitchFamily="18" charset="0"/>
                <a:cs typeface="Times New Roman" panose="02020603050405020304" pitchFamily="18" charset="0"/>
              </a:rPr>
              <a:t> salary</a:t>
            </a:r>
          </a:p>
          <a:p>
            <a:pPr marL="0" indent="0">
              <a:spcBef>
                <a:spcPts val="0"/>
              </a:spcBef>
              <a:buNone/>
            </a:pPr>
            <a:r>
              <a:rPr lang="en-US" altLang="zh-CN" sz="2000" b="1" i="1" dirty="0">
                <a:latin typeface="Times New Roman" panose="02020603050405020304" pitchFamily="18" charset="0"/>
                <a:cs typeface="Times New Roman" panose="02020603050405020304" pitchFamily="18" charset="0"/>
              </a:rPr>
              <a:t>from</a:t>
            </a:r>
            <a:r>
              <a:rPr lang="en-US" altLang="zh-CN" sz="2000" i="1" dirty="0">
                <a:latin typeface="Times New Roman" panose="02020603050405020304" pitchFamily="18" charset="0"/>
                <a:cs typeface="Times New Roman" panose="02020603050405020304" pitchFamily="18" charset="0"/>
              </a:rPr>
              <a:t> instructor</a:t>
            </a:r>
          </a:p>
          <a:p>
            <a:pPr marL="0" indent="0">
              <a:spcBef>
                <a:spcPts val="0"/>
              </a:spcBef>
              <a:buNone/>
            </a:pPr>
            <a:r>
              <a:rPr lang="en-US" altLang="zh-CN" sz="2000" b="1" i="1" dirty="0">
                <a:latin typeface="Times New Roman" panose="02020603050405020304" pitchFamily="18" charset="0"/>
                <a:cs typeface="Times New Roman" panose="02020603050405020304" pitchFamily="18" charset="0"/>
              </a:rPr>
              <a:t>where</a:t>
            </a:r>
            <a:r>
              <a:rPr lang="en-US" altLang="zh-CN" sz="2000" i="1" dirty="0">
                <a:latin typeface="Times New Roman" panose="02020603050405020304" pitchFamily="18" charset="0"/>
                <a:cs typeface="Times New Roman" panose="02020603050405020304" pitchFamily="18" charset="0"/>
              </a:rPr>
              <a:t> salary &lt; 75000</a:t>
            </a:r>
          </a:p>
        </p:txBody>
      </p:sp>
      <p:sp>
        <p:nvSpPr>
          <p:cNvPr id="7" name="文本框 6">
            <a:extLst>
              <a:ext uri="{FF2B5EF4-FFF2-40B4-BE49-F238E27FC236}">
                <a16:creationId xmlns:a16="http://schemas.microsoft.com/office/drawing/2014/main" id="{5207EB18-87A9-476E-B7CF-9CAF98318FD6}"/>
              </a:ext>
            </a:extLst>
          </p:cNvPr>
          <p:cNvSpPr txBox="1"/>
          <p:nvPr/>
        </p:nvSpPr>
        <p:spPr>
          <a:xfrm>
            <a:off x="2699792" y="1683844"/>
            <a:ext cx="2016224" cy="707886"/>
          </a:xfrm>
          <a:prstGeom prst="rect">
            <a:avLst/>
          </a:prstGeom>
          <a:noFill/>
        </p:spPr>
        <p:txBody>
          <a:bodyPr wrap="square" rtlCol="0">
            <a:spAutoFit/>
          </a:bodyPr>
          <a:lstStyle/>
          <a:p>
            <a:pPr algn="ctr"/>
            <a:r>
              <a:rPr lang="zh-CN" altLang="en-US" sz="2000" b="1" dirty="0">
                <a:latin typeface="微软雅黑" panose="020B0503020204020204" pitchFamily="34" charset="-122"/>
                <a:ea typeface="微软雅黑" panose="020B0503020204020204" pitchFamily="34" charset="-122"/>
              </a:rPr>
              <a:t>对应的关系代数表达式</a:t>
            </a:r>
          </a:p>
        </p:txBody>
      </p:sp>
      <mc:AlternateContent xmlns:mc="http://schemas.openxmlformats.org/markup-compatibility/2006" xmlns:a14="http://schemas.microsoft.com/office/drawing/2010/main">
        <mc:Choice Requires="a14">
          <p:sp>
            <p:nvSpPr>
              <p:cNvPr id="8" name="内容占位符 2">
                <a:extLst>
                  <a:ext uri="{FF2B5EF4-FFF2-40B4-BE49-F238E27FC236}">
                    <a16:creationId xmlns:a16="http://schemas.microsoft.com/office/drawing/2014/main" id="{1642E1C5-1121-48F8-B5C5-F40DB8C7E597}"/>
                  </a:ext>
                </a:extLst>
              </p:cNvPr>
              <p:cNvSpPr>
                <a:spLocks noGrp="1"/>
              </p:cNvSpPr>
              <p:nvPr>
                <p:ph idx="1"/>
              </p:nvPr>
            </p:nvSpPr>
            <p:spPr>
              <a:xfrm>
                <a:off x="4932040" y="2208807"/>
                <a:ext cx="4111515" cy="864096"/>
              </a:xfrm>
            </p:spPr>
            <p:txBody>
              <a:bodyPr/>
              <a:lstStyle/>
              <a:p>
                <a:pPr marL="0" indent="0" algn="ctr">
                  <a:spcBef>
                    <a:spcPts val="1200"/>
                  </a:spcBef>
                  <a:buNone/>
                </a:pPr>
                <a14:m>
                  <m:oMathPara xmlns:m="http://schemas.openxmlformats.org/officeDocument/2006/math">
                    <m:oMathParaPr>
                      <m:jc m:val="left"/>
                    </m:oMathParaPr>
                    <m:oMath xmlns:m="http://schemas.openxmlformats.org/officeDocument/2006/math">
                      <m:sSub>
                        <m:sSubPr>
                          <m:ctrlPr>
                            <a:rPr lang="en-US" altLang="zh-CN" sz="2000" i="1" smtClean="0">
                              <a:latin typeface="Cambria Math" panose="02040503050406030204" pitchFamily="18" charset="0"/>
                            </a:rPr>
                          </m:ctrlPr>
                        </m:sSubPr>
                        <m:e>
                          <m:r>
                            <a:rPr lang="zh-CN" altLang="en-US" sz="2000" i="1" smtClean="0">
                              <a:latin typeface="Cambria Math" panose="02040503050406030204" pitchFamily="18" charset="0"/>
                            </a:rPr>
                            <m:t>𝜎</m:t>
                          </m:r>
                        </m:e>
                        <m:sub>
                          <m:r>
                            <a:rPr lang="en-US" altLang="zh-CN" sz="2000" b="0" i="1" smtClean="0">
                              <a:latin typeface="Cambria Math" panose="02040503050406030204" pitchFamily="18" charset="0"/>
                            </a:rPr>
                            <m:t>𝑠𝑎𝑙𝑎𝑟𝑦</m:t>
                          </m:r>
                          <m:r>
                            <a:rPr lang="en-US" altLang="zh-CN" sz="2000" b="0" i="1" smtClean="0">
                              <a:latin typeface="Cambria Math" panose="02040503050406030204" pitchFamily="18" charset="0"/>
                            </a:rPr>
                            <m:t>&lt;75000</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m:rPr>
                              <m:sty m:val="p"/>
                            </m:rPr>
                            <a:rPr lang="el-GR" altLang="zh-CN" sz="2000" b="0" i="1" smtClean="0">
                              <a:latin typeface="Cambria Math" panose="02040503050406030204" pitchFamily="18" charset="0"/>
                              <a:ea typeface="Cambria Math" panose="02040503050406030204" pitchFamily="18" charset="0"/>
                            </a:rPr>
                            <m:t>Π</m:t>
                          </m:r>
                        </m:e>
                        <m:sub>
                          <m:r>
                            <a:rPr lang="en-US" altLang="zh-CN" sz="2000" b="0" i="1" smtClean="0">
                              <a:latin typeface="Cambria Math" panose="02040503050406030204" pitchFamily="18" charset="0"/>
                            </a:rPr>
                            <m:t>𝑠𝑎𝑙𝑎𝑟𝑦</m:t>
                          </m:r>
                        </m:sub>
                      </m:sSub>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𝑖𝑛𝑠𝑡𝑟𝑢𝑐𝑡𝑜𝑟</m:t>
                          </m:r>
                        </m:e>
                      </m:d>
                      <m:r>
                        <a:rPr lang="en-US" altLang="zh-CN" sz="2000" b="0" i="1" smtClean="0">
                          <a:latin typeface="Cambria Math" panose="02040503050406030204" pitchFamily="18" charset="0"/>
                        </a:rPr>
                        <m:t>)</m:t>
                      </m:r>
                    </m:oMath>
                  </m:oMathPara>
                </a14:m>
                <a:endParaRPr lang="en-US" altLang="zh-CN" sz="2000" dirty="0"/>
              </a:p>
              <a:p>
                <a:pPr marL="0" indent="0" algn="ctr">
                  <a:spcBef>
                    <a:spcPts val="1200"/>
                  </a:spcBef>
                  <a:buNone/>
                </a:pPr>
                <a14:m>
                  <m:oMathPara xmlns:m="http://schemas.openxmlformats.org/officeDocument/2006/math">
                    <m:oMathParaPr>
                      <m:jc m:val="left"/>
                    </m:oMathParaPr>
                    <m:oMath xmlns:m="http://schemas.openxmlformats.org/officeDocument/2006/math">
                      <m:sSub>
                        <m:sSubPr>
                          <m:ctrlPr>
                            <a:rPr lang="en-US" altLang="zh-CN" sz="2000" i="1" smtClean="0">
                              <a:latin typeface="Cambria Math" panose="02040503050406030204" pitchFamily="18" charset="0"/>
                            </a:rPr>
                          </m:ctrlPr>
                        </m:sSubPr>
                        <m:e>
                          <m:r>
                            <m:rPr>
                              <m:sty m:val="p"/>
                            </m:rPr>
                            <a:rPr lang="el-GR" altLang="zh-CN" sz="2000" i="1" smtClean="0">
                              <a:latin typeface="Cambria Math" panose="02040503050406030204" pitchFamily="18" charset="0"/>
                              <a:ea typeface="Cambria Math" panose="02040503050406030204" pitchFamily="18" charset="0"/>
                            </a:rPr>
                            <m:t>Π</m:t>
                          </m:r>
                        </m:e>
                        <m:sub>
                          <m:r>
                            <a:rPr lang="en-US" altLang="zh-CN" sz="2000" b="0" i="1" smtClean="0">
                              <a:latin typeface="Cambria Math" panose="02040503050406030204" pitchFamily="18" charset="0"/>
                            </a:rPr>
                            <m:t>𝑠𝑎𝑙𝑎𝑟𝑦</m:t>
                          </m:r>
                        </m:sub>
                      </m:sSub>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zh-CN" altLang="en-US" sz="2000" b="0" i="1" smtClean="0">
                              <a:latin typeface="Cambria Math" panose="02040503050406030204" pitchFamily="18" charset="0"/>
                            </a:rPr>
                            <m:t>𝜎</m:t>
                          </m:r>
                        </m:e>
                        <m:sub>
                          <m:r>
                            <a:rPr lang="en-US" altLang="zh-CN" sz="2000" b="0" i="1" smtClean="0">
                              <a:latin typeface="Cambria Math" panose="02040503050406030204" pitchFamily="18" charset="0"/>
                            </a:rPr>
                            <m:t>𝑠𝑎𝑙𝑎𝑟𝑦</m:t>
                          </m:r>
                          <m:r>
                            <a:rPr lang="en-US" altLang="zh-CN" sz="2000" b="0" i="1" smtClean="0">
                              <a:latin typeface="Cambria Math" panose="02040503050406030204" pitchFamily="18" charset="0"/>
                            </a:rPr>
                            <m:t>&lt;75000</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𝑖𝑛𝑠𝑡𝑟𝑢𝑐𝑡𝑜𝑟</m:t>
                      </m:r>
                      <m:r>
                        <a:rPr lang="en-US" altLang="zh-CN" sz="2000" b="0" i="1" smtClean="0">
                          <a:latin typeface="Cambria Math" panose="02040503050406030204" pitchFamily="18" charset="0"/>
                        </a:rPr>
                        <m:t>))</m:t>
                      </m:r>
                    </m:oMath>
                  </m:oMathPara>
                </a14:m>
                <a:endParaRPr lang="en-US" altLang="zh-CN" sz="2000" dirty="0"/>
              </a:p>
              <a:p>
                <a:pPr algn="ctr">
                  <a:spcBef>
                    <a:spcPts val="1200"/>
                  </a:spcBef>
                </a:pPr>
                <a:endParaRPr lang="zh-CN" altLang="en-US" sz="2000" dirty="0"/>
              </a:p>
            </p:txBody>
          </p:sp>
        </mc:Choice>
        <mc:Fallback xmlns="">
          <p:sp>
            <p:nvSpPr>
              <p:cNvPr id="8" name="内容占位符 2">
                <a:extLst>
                  <a:ext uri="{FF2B5EF4-FFF2-40B4-BE49-F238E27FC236}">
                    <a16:creationId xmlns:a16="http://schemas.microsoft.com/office/drawing/2014/main" id="{1642E1C5-1121-48F8-B5C5-F40DB8C7E597}"/>
                  </a:ext>
                </a:extLst>
              </p:cNvPr>
              <p:cNvSpPr>
                <a:spLocks noGrp="1" noRot="1" noChangeAspect="1" noMove="1" noResize="1" noEditPoints="1" noAdjustHandles="1" noChangeArrowheads="1" noChangeShapeType="1" noTextEdit="1"/>
              </p:cNvSpPr>
              <p:nvPr>
                <p:ph idx="1"/>
              </p:nvPr>
            </p:nvSpPr>
            <p:spPr>
              <a:xfrm>
                <a:off x="4932040" y="2208807"/>
                <a:ext cx="4111515" cy="864096"/>
              </a:xfrm>
              <a:blipFill>
                <a:blip r:embed="rId2"/>
                <a:stretch>
                  <a:fillRect/>
                </a:stretch>
              </a:blipFill>
            </p:spPr>
            <p:txBody>
              <a:bodyPr/>
              <a:lstStyle/>
              <a:p>
                <a:r>
                  <a:rPr lang="zh-CN" altLang="en-US">
                    <a:noFill/>
                  </a:rPr>
                  <a:t> </a:t>
                </a:r>
              </a:p>
            </p:txBody>
          </p:sp>
        </mc:Fallback>
      </mc:AlternateContent>
      <p:sp>
        <p:nvSpPr>
          <p:cNvPr id="3" name="箭头: 右 2">
            <a:extLst>
              <a:ext uri="{FF2B5EF4-FFF2-40B4-BE49-F238E27FC236}">
                <a16:creationId xmlns:a16="http://schemas.microsoft.com/office/drawing/2014/main" id="{BBBBA894-9BCD-4C40-ABA1-65D5BD096FB0}"/>
              </a:ext>
            </a:extLst>
          </p:cNvPr>
          <p:cNvSpPr/>
          <p:nvPr/>
        </p:nvSpPr>
        <p:spPr>
          <a:xfrm>
            <a:off x="2843809" y="2391730"/>
            <a:ext cx="1823884" cy="360040"/>
          </a:xfrm>
          <a:prstGeom prst="rightArrow">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3491EB1A-C18E-4360-A6F4-1DE1BDFA127B}"/>
              </a:ext>
            </a:extLst>
          </p:cNvPr>
          <p:cNvSpPr txBox="1"/>
          <p:nvPr/>
        </p:nvSpPr>
        <p:spPr>
          <a:xfrm>
            <a:off x="2051720" y="3691107"/>
            <a:ext cx="4176464" cy="584775"/>
          </a:xfrm>
          <a:prstGeom prst="rect">
            <a:avLst/>
          </a:prstGeom>
          <a:noFill/>
        </p:spPr>
        <p:txBody>
          <a:bodyPr wrap="square" rtlCol="0">
            <a:spAutoFit/>
          </a:bodyPr>
          <a:lstStyle/>
          <a:p>
            <a:pPr algn="ctr"/>
            <a:r>
              <a:rPr lang="en-US" altLang="zh-CN" sz="1600" b="1" dirty="0">
                <a:latin typeface="Arial" panose="020B0604020202020204" pitchFamily="34" charset="0"/>
                <a:cs typeface="Arial" panose="020B0604020202020204" pitchFamily="34" charset="0"/>
              </a:rPr>
              <a:t>A relational algebra expression may have many equivalent expressions</a:t>
            </a:r>
          </a:p>
        </p:txBody>
      </p:sp>
    </p:spTree>
    <p:extLst>
      <p:ext uri="{BB962C8B-B14F-4D97-AF65-F5344CB8AC3E}">
        <p14:creationId xmlns:p14="http://schemas.microsoft.com/office/powerpoint/2010/main" val="34529108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anim calcmode="lin" valueType="num">
                                      <p:cBhvr additive="base">
                                        <p:cTn id="15"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anim calcmode="lin" valueType="num">
                                      <p:cBhvr additive="base">
                                        <p:cTn id="2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 calcmode="lin" valueType="num">
                                      <p:cBhvr additive="base">
                                        <p:cTn id="27" dur="500" fill="hold"/>
                                        <p:tgtEl>
                                          <p:spTgt spid="5"/>
                                        </p:tgtEl>
                                        <p:attrNameLst>
                                          <p:attrName>ppt_x</p:attrName>
                                        </p:attrNameLst>
                                      </p:cBhvr>
                                      <p:tavLst>
                                        <p:tav tm="0">
                                          <p:val>
                                            <p:strVal val="#ppt_x"/>
                                          </p:val>
                                        </p:tav>
                                        <p:tav tm="100000">
                                          <p:val>
                                            <p:strVal val="#ppt_x"/>
                                          </p:val>
                                        </p:tav>
                                      </p:tavLst>
                                    </p:anim>
                                    <p:anim calcmode="lin" valueType="num">
                                      <p:cBhvr additive="base">
                                        <p:cTn id="2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animBg="1"/>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04E47-6989-4DD5-93A7-4B3F6F69AD14}"/>
              </a:ext>
            </a:extLst>
          </p:cNvPr>
          <p:cNvSpPr>
            <a:spLocks noGrp="1"/>
          </p:cNvSpPr>
          <p:nvPr>
            <p:ph type="title"/>
          </p:nvPr>
        </p:nvSpPr>
        <p:spPr/>
        <p:txBody>
          <a:bodyPr/>
          <a:lstStyle/>
          <a:p>
            <a:pPr algn="ctr"/>
            <a:r>
              <a:rPr lang="zh-CN" altLang="en-US" sz="3000" dirty="0"/>
              <a:t>查询优化（续）</a:t>
            </a:r>
          </a:p>
        </p:txBody>
      </p:sp>
      <p:sp>
        <p:nvSpPr>
          <p:cNvPr id="3" name="内容占位符 2">
            <a:extLst>
              <a:ext uri="{FF2B5EF4-FFF2-40B4-BE49-F238E27FC236}">
                <a16:creationId xmlns:a16="http://schemas.microsoft.com/office/drawing/2014/main" id="{1A5E0AEE-7C3E-4EF7-BAF4-DBDB72691A11}"/>
              </a:ext>
            </a:extLst>
          </p:cNvPr>
          <p:cNvSpPr>
            <a:spLocks noGrp="1"/>
          </p:cNvSpPr>
          <p:nvPr>
            <p:ph idx="1"/>
          </p:nvPr>
        </p:nvSpPr>
        <p:spPr>
          <a:xfrm>
            <a:off x="179512" y="843558"/>
            <a:ext cx="8208912" cy="2958977"/>
          </a:xfrm>
        </p:spPr>
        <p:txBody>
          <a:bodyPr/>
          <a:lstStyle/>
          <a:p>
            <a:r>
              <a:rPr lang="zh-CN" altLang="en-US" sz="1800" b="1" dirty="0"/>
              <a:t>查询执行计划</a:t>
            </a:r>
            <a:r>
              <a:rPr lang="en-US" altLang="zh-CN" sz="1800" b="1" dirty="0"/>
              <a:t>/Query execution plan</a:t>
            </a:r>
          </a:p>
          <a:p>
            <a:pPr lvl="1"/>
            <a:r>
              <a:rPr lang="en-US" altLang="zh-CN" sz="1600" dirty="0"/>
              <a:t>Annotated expression specifying detailed execution strategy</a:t>
            </a:r>
            <a:endParaRPr lang="en-US" altLang="zh-CN" sz="1400" dirty="0">
              <a:solidFill>
                <a:srgbClr val="C00000"/>
              </a:solidFill>
            </a:endParaRPr>
          </a:p>
          <a:p>
            <a:endParaRPr lang="zh-CN" altLang="en-US" sz="1800" dirty="0"/>
          </a:p>
        </p:txBody>
      </p:sp>
      <p:pic>
        <p:nvPicPr>
          <p:cNvPr id="4" name="图片 3">
            <a:extLst>
              <a:ext uri="{FF2B5EF4-FFF2-40B4-BE49-F238E27FC236}">
                <a16:creationId xmlns:a16="http://schemas.microsoft.com/office/drawing/2014/main" id="{A1757BB3-8490-4379-8FF4-9FA11E317ED9}"/>
              </a:ext>
            </a:extLst>
          </p:cNvPr>
          <p:cNvPicPr>
            <a:picLocks noChangeAspect="1"/>
          </p:cNvPicPr>
          <p:nvPr/>
        </p:nvPicPr>
        <p:blipFill>
          <a:blip r:embed="rId2"/>
          <a:stretch>
            <a:fillRect/>
          </a:stretch>
        </p:blipFill>
        <p:spPr>
          <a:xfrm>
            <a:off x="2195736" y="1779662"/>
            <a:ext cx="2793276" cy="2859782"/>
          </a:xfrm>
          <a:prstGeom prst="rect">
            <a:avLst/>
          </a:prstGeom>
        </p:spPr>
      </p:pic>
    </p:spTree>
    <p:extLst>
      <p:ext uri="{BB962C8B-B14F-4D97-AF65-F5344CB8AC3E}">
        <p14:creationId xmlns:p14="http://schemas.microsoft.com/office/powerpoint/2010/main" val="195790950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C151D-CF3C-4E58-BBED-874E979735A6}"/>
              </a:ext>
            </a:extLst>
          </p:cNvPr>
          <p:cNvSpPr>
            <a:spLocks noGrp="1"/>
          </p:cNvSpPr>
          <p:nvPr>
            <p:ph type="title"/>
          </p:nvPr>
        </p:nvSpPr>
        <p:spPr/>
        <p:txBody>
          <a:bodyPr/>
          <a:lstStyle/>
          <a:p>
            <a:pPr algn="ctr"/>
            <a:r>
              <a:rPr lang="zh-CN" altLang="en-US" dirty="0"/>
              <a:t>查询优化（续）</a:t>
            </a:r>
          </a:p>
        </p:txBody>
      </p:sp>
      <p:sp>
        <p:nvSpPr>
          <p:cNvPr id="3" name="内容占位符 2">
            <a:extLst>
              <a:ext uri="{FF2B5EF4-FFF2-40B4-BE49-F238E27FC236}">
                <a16:creationId xmlns:a16="http://schemas.microsoft.com/office/drawing/2014/main" id="{854CA63A-A1DC-481D-BF66-8ED4097F4551}"/>
              </a:ext>
            </a:extLst>
          </p:cNvPr>
          <p:cNvSpPr>
            <a:spLocks noGrp="1"/>
          </p:cNvSpPr>
          <p:nvPr>
            <p:ph idx="1"/>
          </p:nvPr>
        </p:nvSpPr>
        <p:spPr>
          <a:xfrm>
            <a:off x="179512" y="771549"/>
            <a:ext cx="8712968" cy="3702735"/>
          </a:xfrm>
        </p:spPr>
        <p:txBody>
          <a:bodyPr/>
          <a:lstStyle/>
          <a:p>
            <a:pPr>
              <a:spcBef>
                <a:spcPts val="600"/>
              </a:spcBef>
            </a:pPr>
            <a:r>
              <a:rPr lang="en-US" altLang="zh-CN" sz="1800" b="1" dirty="0"/>
              <a:t>Query Optimization</a:t>
            </a:r>
          </a:p>
          <a:p>
            <a:pPr lvl="1">
              <a:spcBef>
                <a:spcPts val="600"/>
              </a:spcBef>
            </a:pPr>
            <a:r>
              <a:rPr lang="en-US" altLang="zh-CN" sz="1600" dirty="0"/>
              <a:t>Amongst all the equivalent evaluation plans, choose the one with the lowest cost</a:t>
            </a:r>
            <a:endParaRPr lang="en-US" altLang="zh-CN" sz="1400" dirty="0"/>
          </a:p>
          <a:p>
            <a:pPr lvl="1">
              <a:spcBef>
                <a:spcPts val="600"/>
              </a:spcBef>
            </a:pPr>
            <a:r>
              <a:rPr lang="en-US" altLang="zh-CN" sz="1600" dirty="0"/>
              <a:t>Cost is estimated using statistical information from the database catalog</a:t>
            </a:r>
          </a:p>
          <a:p>
            <a:pPr>
              <a:spcBef>
                <a:spcPts val="600"/>
              </a:spcBef>
            </a:pPr>
            <a:r>
              <a:rPr lang="en-US" altLang="zh-CN" sz="1800" b="1" dirty="0"/>
              <a:t>This chapter</a:t>
            </a:r>
          </a:p>
          <a:p>
            <a:pPr lvl="1">
              <a:spcBef>
                <a:spcPts val="600"/>
              </a:spcBef>
            </a:pPr>
            <a:r>
              <a:rPr lang="en-US" altLang="zh-CN" sz="1600" dirty="0"/>
              <a:t>How to measure query costs</a:t>
            </a:r>
          </a:p>
          <a:p>
            <a:pPr lvl="1">
              <a:spcBef>
                <a:spcPts val="600"/>
              </a:spcBef>
            </a:pPr>
            <a:r>
              <a:rPr lang="en-US" altLang="zh-CN" sz="1600" dirty="0"/>
              <a:t>Algorithms for evaluating relational algebra operations</a:t>
            </a:r>
          </a:p>
          <a:p>
            <a:pPr lvl="1">
              <a:spcBef>
                <a:spcPts val="600"/>
              </a:spcBef>
            </a:pPr>
            <a:r>
              <a:rPr lang="en-US" altLang="zh-CN" sz="1600" dirty="0"/>
              <a:t>Combine algorithms for individual operations to evaluate a complete expression</a:t>
            </a:r>
          </a:p>
          <a:p>
            <a:pPr>
              <a:spcBef>
                <a:spcPts val="600"/>
              </a:spcBef>
            </a:pPr>
            <a:r>
              <a:rPr lang="en-US" altLang="zh-CN" sz="1800" b="1" dirty="0"/>
              <a:t>Next chapter</a:t>
            </a:r>
          </a:p>
          <a:p>
            <a:pPr lvl="1">
              <a:spcBef>
                <a:spcPts val="600"/>
              </a:spcBef>
            </a:pPr>
            <a:r>
              <a:rPr lang="en-US" altLang="zh-CN" sz="1600" dirty="0"/>
              <a:t>The way to find an execution plan with the lowest estimated cost</a:t>
            </a:r>
          </a:p>
          <a:p>
            <a:pPr>
              <a:spcBef>
                <a:spcPts val="600"/>
              </a:spcBef>
            </a:pPr>
            <a:endParaRPr lang="zh-CN" altLang="en-US" sz="1800" dirty="0"/>
          </a:p>
        </p:txBody>
      </p:sp>
    </p:spTree>
    <p:extLst>
      <p:ext uri="{BB962C8B-B14F-4D97-AF65-F5344CB8AC3E}">
        <p14:creationId xmlns:p14="http://schemas.microsoft.com/office/powerpoint/2010/main" val="2330366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arn(inVertical)">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barn(inVertical)">
                                      <p:cBhvr>
                                        <p:cTn id="21" dur="500"/>
                                        <p:tgtEl>
                                          <p:spTgt spid="3">
                                            <p:txEl>
                                              <p:pRg st="7" end="7"/>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barn(inVertical)">
                                      <p:cBhvr>
                                        <p:cTn id="2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87524" y="843558"/>
            <a:ext cx="8568952" cy="3805070"/>
          </a:xfrm>
        </p:spPr>
        <p:txBody>
          <a:bodyPr/>
          <a:lstStyle/>
          <a:p>
            <a:pPr>
              <a:spcBef>
                <a:spcPts val="600"/>
              </a:spcBef>
            </a:pPr>
            <a:r>
              <a:rPr lang="en-US" altLang="zh-CN" dirty="0"/>
              <a:t>Overview </a:t>
            </a:r>
          </a:p>
          <a:p>
            <a:pPr>
              <a:spcBef>
                <a:spcPts val="600"/>
              </a:spcBef>
            </a:pPr>
            <a:r>
              <a:rPr lang="en-US" altLang="zh-CN" b="1" dirty="0">
                <a:solidFill>
                  <a:srgbClr val="C00000"/>
                </a:solidFill>
              </a:rPr>
              <a:t>Measures of Query Cost</a:t>
            </a:r>
          </a:p>
          <a:p>
            <a:pPr>
              <a:spcBef>
                <a:spcPts val="600"/>
              </a:spcBef>
            </a:pPr>
            <a:r>
              <a:rPr lang="en-US" altLang="zh-CN" dirty="0"/>
              <a:t>Selection Operation </a:t>
            </a:r>
          </a:p>
          <a:p>
            <a:pPr>
              <a:spcBef>
                <a:spcPts val="600"/>
              </a:spcBef>
            </a:pPr>
            <a:r>
              <a:rPr lang="en-US" altLang="zh-CN" dirty="0"/>
              <a:t>Sorting </a:t>
            </a:r>
          </a:p>
          <a:p>
            <a:pPr>
              <a:spcBef>
                <a:spcPts val="600"/>
              </a:spcBef>
            </a:pPr>
            <a:r>
              <a:rPr lang="en-US" altLang="zh-CN" dirty="0"/>
              <a:t>Join Operation </a:t>
            </a:r>
          </a:p>
          <a:p>
            <a:pPr>
              <a:spcBef>
                <a:spcPts val="600"/>
              </a:spcBef>
            </a:pPr>
            <a:r>
              <a:rPr lang="en-US" altLang="zh-CN" dirty="0"/>
              <a:t>Other Operations</a:t>
            </a:r>
          </a:p>
          <a:p>
            <a:pPr>
              <a:spcBef>
                <a:spcPts val="600"/>
              </a:spcBef>
            </a:pPr>
            <a:r>
              <a:rPr lang="en-US" altLang="zh-CN" dirty="0"/>
              <a:t>Evaluation of Expressions</a:t>
            </a:r>
          </a:p>
        </p:txBody>
      </p:sp>
    </p:spTree>
    <p:extLst>
      <p:ext uri="{BB962C8B-B14F-4D97-AF65-F5344CB8AC3E}">
        <p14:creationId xmlns:p14="http://schemas.microsoft.com/office/powerpoint/2010/main" val="239449193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C3FA69-FC20-48DB-9673-3DC2A31FEE39}"/>
              </a:ext>
            </a:extLst>
          </p:cNvPr>
          <p:cNvSpPr>
            <a:spLocks noGrp="1"/>
          </p:cNvSpPr>
          <p:nvPr>
            <p:ph type="title"/>
          </p:nvPr>
        </p:nvSpPr>
        <p:spPr/>
        <p:txBody>
          <a:bodyPr/>
          <a:lstStyle/>
          <a:p>
            <a:pPr algn="ctr"/>
            <a:r>
              <a:rPr lang="zh-CN" altLang="en-US" dirty="0"/>
              <a:t>查询代价度量</a:t>
            </a:r>
          </a:p>
        </p:txBody>
      </p:sp>
      <p:sp>
        <p:nvSpPr>
          <p:cNvPr id="3" name="内容占位符 2">
            <a:extLst>
              <a:ext uri="{FF2B5EF4-FFF2-40B4-BE49-F238E27FC236}">
                <a16:creationId xmlns:a16="http://schemas.microsoft.com/office/drawing/2014/main" id="{B7E0E97D-A55B-4D77-A8AE-5D0E607E2AB5}"/>
              </a:ext>
            </a:extLst>
          </p:cNvPr>
          <p:cNvSpPr>
            <a:spLocks noGrp="1"/>
          </p:cNvSpPr>
          <p:nvPr>
            <p:ph idx="1"/>
          </p:nvPr>
        </p:nvSpPr>
        <p:spPr/>
        <p:txBody>
          <a:bodyPr/>
          <a:lstStyle/>
          <a:p>
            <a:r>
              <a:rPr lang="en-US" altLang="zh-CN" sz="1800" dirty="0"/>
              <a:t>Cost is generally measured as the total elapsed time for answering the query</a:t>
            </a:r>
          </a:p>
          <a:p>
            <a:pPr lvl="1"/>
            <a:r>
              <a:rPr lang="en-US" altLang="zh-CN" sz="1600" dirty="0"/>
              <a:t>disk accesses, CPU, and even network communication</a:t>
            </a:r>
          </a:p>
          <a:p>
            <a:r>
              <a:rPr lang="en-US" altLang="zh-CN" sz="1800" dirty="0"/>
              <a:t>Typically disk access is the predominant cost, and is also relatively easy to be estimated</a:t>
            </a:r>
          </a:p>
          <a:p>
            <a:r>
              <a:rPr lang="en-US" altLang="zh-CN" sz="1800" dirty="0"/>
              <a:t>Disk access is measured by taking into account</a:t>
            </a:r>
          </a:p>
          <a:p>
            <a:pPr lvl="1"/>
            <a:r>
              <a:rPr lang="en-US" altLang="zh-CN" sz="1400" dirty="0"/>
              <a:t>Number of seeks</a:t>
            </a:r>
          </a:p>
          <a:p>
            <a:pPr lvl="1"/>
            <a:r>
              <a:rPr lang="en-US" altLang="zh-CN" sz="1400" dirty="0"/>
              <a:t>Number of blocks read</a:t>
            </a:r>
          </a:p>
          <a:p>
            <a:pPr lvl="1"/>
            <a:r>
              <a:rPr lang="en-US" altLang="zh-CN" sz="1400" dirty="0"/>
              <a:t>Number of blocks written</a:t>
            </a:r>
          </a:p>
          <a:p>
            <a:endParaRPr lang="zh-CN" altLang="en-US" sz="1800" dirty="0"/>
          </a:p>
        </p:txBody>
      </p:sp>
    </p:spTree>
    <p:extLst>
      <p:ext uri="{BB962C8B-B14F-4D97-AF65-F5344CB8AC3E}">
        <p14:creationId xmlns:p14="http://schemas.microsoft.com/office/powerpoint/2010/main" val="25706866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E8CC66-F475-414B-BD46-A66F7DB07A9F}"/>
              </a:ext>
            </a:extLst>
          </p:cNvPr>
          <p:cNvSpPr>
            <a:spLocks noGrp="1"/>
          </p:cNvSpPr>
          <p:nvPr>
            <p:ph type="title"/>
          </p:nvPr>
        </p:nvSpPr>
        <p:spPr/>
        <p:txBody>
          <a:bodyPr/>
          <a:lstStyle/>
          <a:p>
            <a:pPr algn="ctr"/>
            <a:r>
              <a:rPr lang="zh-CN" altLang="en-US" dirty="0"/>
              <a:t>查询代价度量（续）</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09C8249-D158-4A46-B873-EE80955C31B5}"/>
                  </a:ext>
                </a:extLst>
              </p:cNvPr>
              <p:cNvSpPr>
                <a:spLocks noGrp="1"/>
              </p:cNvSpPr>
              <p:nvPr>
                <p:ph idx="1"/>
              </p:nvPr>
            </p:nvSpPr>
            <p:spPr>
              <a:xfrm>
                <a:off x="251520" y="789553"/>
                <a:ext cx="7848872" cy="3805070"/>
              </a:xfrm>
            </p:spPr>
            <p:txBody>
              <a:bodyPr/>
              <a:lstStyle/>
              <a:p>
                <a:pPr>
                  <a:spcBef>
                    <a:spcPts val="600"/>
                  </a:spcBef>
                </a:pPr>
                <a:r>
                  <a:rPr lang="en-US" altLang="zh-CN" sz="1800" dirty="0"/>
                  <a:t>For simplicity, use the number of block transfers from disk and the number of seeks as the cost measure</a:t>
                </a:r>
              </a:p>
              <a:p>
                <a:pPr>
                  <a:spcBef>
                    <a:spcPts val="600"/>
                  </a:spcBef>
                </a:pPr>
                <a:r>
                  <a:rPr lang="en-US" altLang="zh-CN" sz="1800" dirty="0"/>
                  <a:t>Cost for </a:t>
                </a:r>
                <a14:m>
                  <m:oMath xmlns:m="http://schemas.openxmlformats.org/officeDocument/2006/math">
                    <m:r>
                      <a:rPr lang="en-US" altLang="zh-CN" sz="1800" b="0" i="1" smtClean="0">
                        <a:latin typeface="Cambria Math" panose="02040503050406030204" pitchFamily="18" charset="0"/>
                      </a:rPr>
                      <m:t>𝑏</m:t>
                    </m:r>
                  </m:oMath>
                </a14:m>
                <a:r>
                  <a:rPr lang="en-US" altLang="zh-CN" sz="1800" dirty="0"/>
                  <a:t> block transfers plus </a:t>
                </a:r>
                <a14:m>
                  <m:oMath xmlns:m="http://schemas.openxmlformats.org/officeDocument/2006/math">
                    <m:r>
                      <a:rPr lang="en-US" altLang="zh-CN" sz="1800" b="0" i="1" smtClean="0">
                        <a:latin typeface="Cambria Math" panose="02040503050406030204" pitchFamily="18" charset="0"/>
                      </a:rPr>
                      <m:t>𝑆</m:t>
                    </m:r>
                  </m:oMath>
                </a14:m>
                <a:r>
                  <a:rPr lang="en-US" altLang="zh-CN" sz="1800" dirty="0"/>
                  <a:t> seeks:</a:t>
                </a:r>
                <a:r>
                  <a:rPr lang="en-US" altLang="zh-CN" sz="2000" dirty="0"/>
                  <a:t> </a:t>
                </a:r>
                <a14:m>
                  <m:oMath xmlns:m="http://schemas.openxmlformats.org/officeDocument/2006/math">
                    <m:r>
                      <a:rPr lang="en-US" altLang="zh-CN" sz="2000" b="0" i="1" smtClean="0">
                        <a:latin typeface="Cambria Math" panose="02040503050406030204" pitchFamily="18" charset="0"/>
                      </a:rPr>
                      <m:t>𝑏</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𝑡</m:t>
                        </m:r>
                      </m:e>
                      <m:sub>
                        <m:r>
                          <a:rPr lang="en-US" altLang="zh-CN" sz="2000" b="0" i="1" smtClean="0">
                            <a:latin typeface="Cambria Math" panose="02040503050406030204" pitchFamily="18" charset="0"/>
                          </a:rPr>
                          <m:t>𝑇</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𝑆</m:t>
                    </m:r>
                    <m:r>
                      <a:rPr lang="en-US" altLang="zh-CN" sz="2000" b="0" i="1" smtClean="0">
                        <a:latin typeface="Cambria Math" panose="02040503050406030204" pitchFamily="18" charset="0"/>
                      </a:rPr>
                      <m:t>∗</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𝑡</m:t>
                        </m:r>
                      </m:e>
                      <m:sub>
                        <m:r>
                          <a:rPr lang="en-US" altLang="zh-CN" sz="2000" b="0" i="1" smtClean="0">
                            <a:latin typeface="Cambria Math" panose="02040503050406030204" pitchFamily="18" charset="0"/>
                          </a:rPr>
                          <m:t>𝑆</m:t>
                        </m:r>
                      </m:sub>
                    </m:sSub>
                  </m:oMath>
                </a14:m>
                <a:r>
                  <a:rPr lang="en-US" altLang="zh-CN" sz="2000" dirty="0"/>
                  <a:t> </a:t>
                </a:r>
              </a:p>
              <a:p>
                <a:pPr lvl="1">
                  <a:spcBef>
                    <a:spcPts val="600"/>
                  </a:spcBef>
                </a:pPr>
                <a14:m>
                  <m:oMath xmlns:m="http://schemas.openxmlformats.org/officeDocument/2006/math">
                    <m:sSub>
                      <m:sSubPr>
                        <m:ctrlPr>
                          <a:rPr lang="en-US"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𝑡</m:t>
                        </m:r>
                      </m:e>
                      <m:sub>
                        <m:r>
                          <a:rPr lang="en-US" altLang="zh-CN" sz="1600" i="1">
                            <a:solidFill>
                              <a:srgbClr val="C00000"/>
                            </a:solidFill>
                            <a:latin typeface="Cambria Math" panose="02040503050406030204" pitchFamily="18" charset="0"/>
                          </a:rPr>
                          <m:t>𝑇</m:t>
                        </m:r>
                      </m:sub>
                    </m:sSub>
                  </m:oMath>
                </a14:m>
                <a:r>
                  <a:rPr lang="en-US" altLang="zh-CN" sz="1600" dirty="0"/>
                  <a:t>: time to transfer one block, </a:t>
                </a:r>
                <a14:m>
                  <m:oMath xmlns:m="http://schemas.openxmlformats.org/officeDocument/2006/math">
                    <m:r>
                      <a:rPr lang="en-US" altLang="zh-CN" sz="1600" i="1" smtClean="0">
                        <a:latin typeface="Cambria Math" panose="02040503050406030204" pitchFamily="18" charset="0"/>
                        <a:ea typeface="Cambria Math" panose="02040503050406030204" pitchFamily="18" charset="0"/>
                      </a:rPr>
                      <m:t>≈</m:t>
                    </m:r>
                  </m:oMath>
                </a14:m>
                <a:r>
                  <a:rPr lang="en-US" altLang="zh-CN" sz="1600" dirty="0"/>
                  <a:t>0.1ms</a:t>
                </a:r>
              </a:p>
              <a:p>
                <a:pPr lvl="1">
                  <a:spcBef>
                    <a:spcPts val="600"/>
                  </a:spcBef>
                </a:pPr>
                <a14:m>
                  <m:oMath xmlns:m="http://schemas.openxmlformats.org/officeDocument/2006/math">
                    <m:sSub>
                      <m:sSubPr>
                        <m:ctrlPr>
                          <a:rPr lang="en-US"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𝑡</m:t>
                        </m:r>
                      </m:e>
                      <m:sub>
                        <m:r>
                          <a:rPr lang="en-US" altLang="zh-CN" sz="1600" i="1">
                            <a:solidFill>
                              <a:srgbClr val="C00000"/>
                            </a:solidFill>
                            <a:latin typeface="Cambria Math" panose="02040503050406030204" pitchFamily="18" charset="0"/>
                          </a:rPr>
                          <m:t>𝑆</m:t>
                        </m:r>
                      </m:sub>
                    </m:sSub>
                  </m:oMath>
                </a14:m>
                <a:r>
                  <a:rPr lang="en-US" altLang="zh-CN" sz="1600" dirty="0"/>
                  <a:t>: time for one seek,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oMath>
                </a14:m>
                <a:r>
                  <a:rPr lang="en-US" altLang="zh-CN" sz="1600" dirty="0"/>
                  <a:t>4ms</a:t>
                </a:r>
              </a:p>
              <a:p>
                <a:r>
                  <a:rPr lang="en-US" altLang="zh-CN" sz="1800" dirty="0"/>
                  <a:t>Cost also depends on </a:t>
                </a:r>
                <a:r>
                  <a:rPr lang="en-US" altLang="zh-CN" sz="1800" dirty="0">
                    <a:solidFill>
                      <a:srgbClr val="C00000"/>
                    </a:solidFill>
                  </a:rPr>
                  <a:t>the size of the buffer </a:t>
                </a:r>
                <a:r>
                  <a:rPr lang="en-US" altLang="zh-CN" sz="1800" dirty="0"/>
                  <a:t>in main memory</a:t>
                </a:r>
              </a:p>
              <a:p>
                <a:pPr lvl="1"/>
                <a:r>
                  <a:rPr lang="en-US" altLang="zh-CN" sz="1600" dirty="0"/>
                  <a:t>Large buffer reduces the need for disk access</a:t>
                </a:r>
              </a:p>
              <a:p>
                <a:pPr lvl="1"/>
                <a:r>
                  <a:rPr lang="en-US" altLang="zh-CN" sz="1600" dirty="0"/>
                  <a:t>Often use the </a:t>
                </a:r>
                <a:r>
                  <a:rPr lang="en-US" altLang="zh-CN" sz="1600" dirty="0">
                    <a:solidFill>
                      <a:srgbClr val="C00000"/>
                    </a:solidFill>
                  </a:rPr>
                  <a:t>worst case estimates</a:t>
                </a:r>
                <a:r>
                  <a:rPr lang="en-US" altLang="zh-CN" sz="1600" dirty="0"/>
                  <a:t>, assuming only the minimum amount of buffer storage is available</a:t>
                </a:r>
              </a:p>
              <a:p>
                <a:pPr lvl="1">
                  <a:spcBef>
                    <a:spcPts val="600"/>
                  </a:spcBef>
                </a:pPr>
                <a:endParaRPr lang="en-US" altLang="zh-CN" sz="1600" dirty="0"/>
              </a:p>
            </p:txBody>
          </p:sp>
        </mc:Choice>
        <mc:Fallback xmlns="">
          <p:sp>
            <p:nvSpPr>
              <p:cNvPr id="3" name="内容占位符 2">
                <a:extLst>
                  <a:ext uri="{FF2B5EF4-FFF2-40B4-BE49-F238E27FC236}">
                    <a16:creationId xmlns:a16="http://schemas.microsoft.com/office/drawing/2014/main" id="{709C8249-D158-4A46-B873-EE80955C31B5}"/>
                  </a:ext>
                </a:extLst>
              </p:cNvPr>
              <p:cNvSpPr>
                <a:spLocks noGrp="1" noRot="1" noChangeAspect="1" noMove="1" noResize="1" noEditPoints="1" noAdjustHandles="1" noChangeArrowheads="1" noChangeShapeType="1" noTextEdit="1"/>
              </p:cNvSpPr>
              <p:nvPr>
                <p:ph idx="1"/>
              </p:nvPr>
            </p:nvSpPr>
            <p:spPr>
              <a:xfrm>
                <a:off x="251520" y="789553"/>
                <a:ext cx="7848872" cy="3805070"/>
              </a:xfrm>
              <a:blipFill>
                <a:blip r:embed="rId2"/>
                <a:stretch>
                  <a:fillRect l="-466"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791173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arn(inVertical)">
                                      <p:cBhvr>
                                        <p:cTn id="12" dur="500"/>
                                        <p:tgtEl>
                                          <p:spTgt spid="3">
                                            <p:txEl>
                                              <p:pRg st="2" end="2"/>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barn(inVertical)">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barn(inVertical)">
                                      <p:cBhvr>
                                        <p:cTn id="20" dur="500"/>
                                        <p:tgtEl>
                                          <p:spTgt spid="3">
                                            <p:txEl>
                                              <p:pRg st="4" end="4"/>
                                            </p:txEl>
                                          </p:spTgt>
                                        </p:tgtEl>
                                      </p:cBhvr>
                                    </p:animEffect>
                                  </p:childTnLst>
                                </p:cTn>
                              </p:par>
                              <p:par>
                                <p:cTn id="21" presetID="16" presetClass="entr" presetSubtype="21"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barn(inVertical)">
                                      <p:cBhvr>
                                        <p:cTn id="23" dur="500"/>
                                        <p:tgtEl>
                                          <p:spTgt spid="3">
                                            <p:txEl>
                                              <p:pRg st="5" end="5"/>
                                            </p:txEl>
                                          </p:spTgt>
                                        </p:tgtEl>
                                      </p:cBhvr>
                                    </p:animEffect>
                                  </p:childTnLst>
                                </p:cTn>
                              </p:par>
                              <p:par>
                                <p:cTn id="24" presetID="16" presetClass="entr" presetSubtype="21"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Effect transition="in" filter="barn(inVertical)">
                                      <p:cBhvr>
                                        <p:cTn id="2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87524" y="843558"/>
            <a:ext cx="8568952" cy="3805070"/>
          </a:xfrm>
        </p:spPr>
        <p:txBody>
          <a:bodyPr/>
          <a:lstStyle/>
          <a:p>
            <a:pPr>
              <a:spcBef>
                <a:spcPts val="600"/>
              </a:spcBef>
            </a:pPr>
            <a:r>
              <a:rPr lang="en-US" altLang="zh-CN" dirty="0"/>
              <a:t>Overview </a:t>
            </a:r>
          </a:p>
          <a:p>
            <a:pPr>
              <a:spcBef>
                <a:spcPts val="600"/>
              </a:spcBef>
            </a:pPr>
            <a:r>
              <a:rPr lang="en-US" altLang="zh-CN" dirty="0"/>
              <a:t>Measures of Query Cost</a:t>
            </a:r>
          </a:p>
          <a:p>
            <a:pPr>
              <a:spcBef>
                <a:spcPts val="600"/>
              </a:spcBef>
            </a:pPr>
            <a:r>
              <a:rPr lang="en-US" altLang="zh-CN" b="1" dirty="0">
                <a:solidFill>
                  <a:srgbClr val="C00000"/>
                </a:solidFill>
              </a:rPr>
              <a:t>Selection Operation </a:t>
            </a:r>
          </a:p>
          <a:p>
            <a:pPr>
              <a:spcBef>
                <a:spcPts val="600"/>
              </a:spcBef>
            </a:pPr>
            <a:r>
              <a:rPr lang="en-US" altLang="zh-CN" dirty="0"/>
              <a:t>Sorting </a:t>
            </a:r>
          </a:p>
          <a:p>
            <a:pPr>
              <a:spcBef>
                <a:spcPts val="600"/>
              </a:spcBef>
            </a:pPr>
            <a:r>
              <a:rPr lang="en-US" altLang="zh-CN" dirty="0"/>
              <a:t>Join Operation </a:t>
            </a:r>
          </a:p>
          <a:p>
            <a:pPr>
              <a:spcBef>
                <a:spcPts val="600"/>
              </a:spcBef>
            </a:pPr>
            <a:r>
              <a:rPr lang="en-US" altLang="zh-CN" dirty="0"/>
              <a:t>Other Operations</a:t>
            </a:r>
          </a:p>
          <a:p>
            <a:pPr>
              <a:spcBef>
                <a:spcPts val="600"/>
              </a:spcBef>
            </a:pPr>
            <a:r>
              <a:rPr lang="en-US" altLang="zh-CN" dirty="0"/>
              <a:t>Evaluation of Expressions</a:t>
            </a:r>
          </a:p>
        </p:txBody>
      </p:sp>
    </p:spTree>
    <p:extLst>
      <p:ext uri="{BB962C8B-B14F-4D97-AF65-F5344CB8AC3E}">
        <p14:creationId xmlns:p14="http://schemas.microsoft.com/office/powerpoint/2010/main" val="392720874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03A714-73E6-40AA-AC30-C40D6A6113C6}"/>
              </a:ext>
            </a:extLst>
          </p:cNvPr>
          <p:cNvSpPr>
            <a:spLocks noGrp="1"/>
          </p:cNvSpPr>
          <p:nvPr>
            <p:ph type="title"/>
          </p:nvPr>
        </p:nvSpPr>
        <p:spPr/>
        <p:txBody>
          <a:bodyPr/>
          <a:lstStyle/>
          <a:p>
            <a:pPr algn="ctr"/>
            <a:r>
              <a:rPr lang="en-US" altLang="zh-CN" dirty="0"/>
              <a:t>Selection Operation/</a:t>
            </a:r>
            <a:r>
              <a:rPr lang="zh-CN" altLang="en-US" dirty="0"/>
              <a:t>选择运算</a:t>
            </a:r>
          </a:p>
        </p:txBody>
      </p:sp>
      <p:sp>
        <p:nvSpPr>
          <p:cNvPr id="3" name="内容占位符 2">
            <a:extLst>
              <a:ext uri="{FF2B5EF4-FFF2-40B4-BE49-F238E27FC236}">
                <a16:creationId xmlns:a16="http://schemas.microsoft.com/office/drawing/2014/main" id="{1D119ADE-16C7-42F8-891F-EEC09B47E265}"/>
              </a:ext>
            </a:extLst>
          </p:cNvPr>
          <p:cNvSpPr>
            <a:spLocks noGrp="1"/>
          </p:cNvSpPr>
          <p:nvPr>
            <p:ph idx="1"/>
          </p:nvPr>
        </p:nvSpPr>
        <p:spPr>
          <a:xfrm>
            <a:off x="245028" y="915565"/>
            <a:ext cx="8568952" cy="3558719"/>
          </a:xfrm>
        </p:spPr>
        <p:txBody>
          <a:bodyPr/>
          <a:lstStyle/>
          <a:p>
            <a:r>
              <a:rPr lang="en-US" altLang="zh-CN" sz="2000" b="1" dirty="0"/>
              <a:t>File scan (</a:t>
            </a:r>
            <a:r>
              <a:rPr lang="zh-CN" altLang="en-US" sz="2000" b="1" dirty="0"/>
              <a:t>文件扫描</a:t>
            </a:r>
            <a:r>
              <a:rPr lang="en-US" altLang="zh-CN" sz="2000" b="1" dirty="0"/>
              <a:t>)</a:t>
            </a:r>
            <a:endParaRPr lang="en-US" altLang="zh-CN" sz="2000" dirty="0"/>
          </a:p>
          <a:p>
            <a:pPr lvl="1"/>
            <a:r>
              <a:rPr lang="en-US" altLang="zh-CN" sz="1800" dirty="0"/>
              <a:t>Search algorithms that locate and retrieve records that satisfy a selection condition</a:t>
            </a:r>
            <a:endParaRPr lang="en-US" altLang="zh-CN" sz="1600" dirty="0"/>
          </a:p>
          <a:p>
            <a:r>
              <a:rPr lang="en-US" altLang="zh-CN" sz="2000" b="1" dirty="0"/>
              <a:t>Index scan (</a:t>
            </a:r>
            <a:r>
              <a:rPr lang="zh-CN" altLang="en-US" sz="2000" b="1" dirty="0"/>
              <a:t>索引扫描</a:t>
            </a:r>
            <a:r>
              <a:rPr lang="en-US" altLang="zh-CN" sz="2000" b="1" dirty="0"/>
              <a:t>)</a:t>
            </a:r>
          </a:p>
          <a:p>
            <a:pPr lvl="1"/>
            <a:r>
              <a:rPr lang="en-US" altLang="zh-CN" sz="1800" dirty="0"/>
              <a:t>Search algorithms that use an index</a:t>
            </a:r>
            <a:endParaRPr lang="en-US" altLang="zh-CN" sz="1600" dirty="0"/>
          </a:p>
          <a:p>
            <a:pPr lvl="1"/>
            <a:r>
              <a:rPr lang="en-US" altLang="zh-CN" sz="1800" dirty="0"/>
              <a:t>Selection condition must be on search-key of an index</a:t>
            </a:r>
          </a:p>
        </p:txBody>
      </p:sp>
    </p:spTree>
    <p:extLst>
      <p:ext uri="{BB962C8B-B14F-4D97-AF65-F5344CB8AC3E}">
        <p14:creationId xmlns:p14="http://schemas.microsoft.com/office/powerpoint/2010/main" val="406204633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03A714-73E6-40AA-AC30-C40D6A6113C6}"/>
              </a:ext>
            </a:extLst>
          </p:cNvPr>
          <p:cNvSpPr>
            <a:spLocks noGrp="1"/>
          </p:cNvSpPr>
          <p:nvPr>
            <p:ph type="title"/>
          </p:nvPr>
        </p:nvSpPr>
        <p:spPr/>
        <p:txBody>
          <a:bodyPr/>
          <a:lstStyle/>
          <a:p>
            <a:pPr algn="ctr"/>
            <a:r>
              <a:rPr lang="zh-CN" altLang="en-US" dirty="0"/>
              <a:t>选择运算</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D119ADE-16C7-42F8-891F-EEC09B47E265}"/>
                  </a:ext>
                </a:extLst>
              </p:cNvPr>
              <p:cNvSpPr>
                <a:spLocks noGrp="1"/>
              </p:cNvSpPr>
              <p:nvPr>
                <p:ph idx="1"/>
              </p:nvPr>
            </p:nvSpPr>
            <p:spPr>
              <a:xfrm>
                <a:off x="245028" y="771549"/>
                <a:ext cx="8568952" cy="3702735"/>
              </a:xfrm>
            </p:spPr>
            <p:txBody>
              <a:bodyPr/>
              <a:lstStyle/>
              <a:p>
                <a:r>
                  <a:rPr lang="en-US" altLang="zh-CN" sz="2000" b="1" dirty="0"/>
                  <a:t>Algorithm A1 (linear search,</a:t>
                </a:r>
                <a:r>
                  <a:rPr lang="zh-CN" altLang="en-US" sz="2000" b="1" dirty="0"/>
                  <a:t> 线性搜索</a:t>
                </a:r>
                <a:r>
                  <a:rPr lang="en-US" altLang="zh-CN" sz="2000" b="1" dirty="0"/>
                  <a:t>)</a:t>
                </a:r>
              </a:p>
              <a:p>
                <a:pPr lvl="1"/>
                <a:r>
                  <a:rPr lang="en-US" altLang="zh-CN" sz="1800" dirty="0"/>
                  <a:t>Cost estimate =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b="0" i="1" smtClean="0">
                            <a:latin typeface="Cambria Math" panose="02040503050406030204" pitchFamily="18" charset="0"/>
                          </a:rPr>
                          <m:t>𝑟</m:t>
                        </m:r>
                      </m:sub>
                    </m:sSub>
                  </m:oMath>
                </a14:m>
                <a:r>
                  <a:rPr lang="en-US" altLang="zh-CN" sz="1800" dirty="0"/>
                  <a:t> block transfers + 1 seek (</a:t>
                </a:r>
                <a:r>
                  <a:rPr lang="zh-CN" altLang="en-US" sz="1800" dirty="0"/>
                  <a:t>前提：数据文件块顺序存放</a:t>
                </a:r>
                <a:r>
                  <a:rPr lang="en-US" altLang="zh-CN" sz="1800" dirty="0"/>
                  <a:t>)</a:t>
                </a:r>
              </a:p>
              <a:p>
                <a:pPr lvl="2"/>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𝑟</m:t>
                        </m:r>
                      </m:sub>
                    </m:sSub>
                  </m:oMath>
                </a14:m>
                <a:r>
                  <a:rPr lang="en-US" altLang="zh-CN" sz="1600" dirty="0"/>
                  <a:t> denotes the number of blocks containing records from relation </a:t>
                </a:r>
                <a14:m>
                  <m:oMath xmlns:m="http://schemas.openxmlformats.org/officeDocument/2006/math">
                    <m:r>
                      <a:rPr lang="en-US" altLang="zh-CN" sz="1600" b="0" i="1" smtClean="0">
                        <a:latin typeface="Cambria Math" panose="02040503050406030204" pitchFamily="18" charset="0"/>
                      </a:rPr>
                      <m:t>𝑟</m:t>
                    </m:r>
                  </m:oMath>
                </a14:m>
                <a:endParaRPr lang="en-US" altLang="zh-CN" sz="1600" dirty="0"/>
              </a:p>
              <a:p>
                <a:pPr lvl="1"/>
                <a:r>
                  <a:rPr lang="en-US" altLang="zh-CN" sz="1800" dirty="0"/>
                  <a:t>If selection is on </a:t>
                </a:r>
                <a:r>
                  <a:rPr lang="en-US" altLang="zh-CN" sz="1800" b="1" dirty="0">
                    <a:solidFill>
                      <a:srgbClr val="C00000"/>
                    </a:solidFill>
                  </a:rPr>
                  <a:t>a key attribute</a:t>
                </a:r>
                <a:r>
                  <a:rPr lang="en-US" altLang="zh-CN" sz="1800" dirty="0"/>
                  <a:t>, can stop on finding the record</a:t>
                </a:r>
              </a:p>
              <a:p>
                <a:pPr lvl="2"/>
                <a:r>
                  <a:rPr lang="en-US" altLang="zh-CN" sz="1600" dirty="0"/>
                  <a:t>cost =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𝑟</m:t>
                        </m:r>
                      </m:sub>
                    </m:sSub>
                  </m:oMath>
                </a14:m>
                <a:r>
                  <a:rPr lang="en-US" altLang="zh-CN" sz="1600" dirty="0"/>
                  <a:t>/2) block transfers + 1 seek</a:t>
                </a:r>
              </a:p>
              <a:p>
                <a:pPr lvl="1"/>
                <a:r>
                  <a:rPr lang="en-US" altLang="zh-CN" sz="1800" dirty="0"/>
                  <a:t>Linear search can be applied regardless of </a:t>
                </a:r>
              </a:p>
              <a:p>
                <a:pPr lvl="2"/>
                <a:r>
                  <a:rPr lang="en-US" altLang="zh-CN" sz="1600" dirty="0"/>
                  <a:t>selection condition </a:t>
                </a:r>
              </a:p>
              <a:p>
                <a:pPr lvl="2"/>
                <a:r>
                  <a:rPr lang="en-US" altLang="zh-CN" sz="1600" dirty="0"/>
                  <a:t>ordering of records in the file </a:t>
                </a:r>
              </a:p>
              <a:p>
                <a:pPr lvl="2"/>
                <a:r>
                  <a:rPr lang="en-US" altLang="zh-CN" sz="1600" dirty="0"/>
                  <a:t>availability of indices</a:t>
                </a:r>
              </a:p>
              <a:p>
                <a:endParaRPr lang="zh-CN" altLang="en-US" sz="2000" dirty="0"/>
              </a:p>
            </p:txBody>
          </p:sp>
        </mc:Choice>
        <mc:Fallback xmlns="">
          <p:sp>
            <p:nvSpPr>
              <p:cNvPr id="3" name="内容占位符 2">
                <a:extLst>
                  <a:ext uri="{FF2B5EF4-FFF2-40B4-BE49-F238E27FC236}">
                    <a16:creationId xmlns:a16="http://schemas.microsoft.com/office/drawing/2014/main" id="{1D119ADE-16C7-42F8-891F-EEC09B47E265}"/>
                  </a:ext>
                </a:extLst>
              </p:cNvPr>
              <p:cNvSpPr>
                <a:spLocks noGrp="1" noRot="1" noChangeAspect="1" noMove="1" noResize="1" noEditPoints="1" noAdjustHandles="1" noChangeArrowheads="1" noChangeShapeType="1" noTextEdit="1"/>
              </p:cNvSpPr>
              <p:nvPr>
                <p:ph idx="1"/>
              </p:nvPr>
            </p:nvSpPr>
            <p:spPr>
              <a:xfrm>
                <a:off x="245028" y="771549"/>
                <a:ext cx="8568952" cy="3702735"/>
              </a:xfrm>
              <a:blipFill>
                <a:blip r:embed="rId3"/>
                <a:stretch>
                  <a:fillRect l="-640" t="-9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061803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barn(inVertical)">
                                      <p:cBhvr>
                                        <p:cTn id="15" dur="500"/>
                                        <p:tgtEl>
                                          <p:spTgt spid="3">
                                            <p:txEl>
                                              <p:pRg st="5" end="5"/>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barn(inVertical)">
                                      <p:cBhvr>
                                        <p:cTn id="18" dur="500"/>
                                        <p:tgtEl>
                                          <p:spTgt spid="3">
                                            <p:txEl>
                                              <p:pRg st="6" end="6"/>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barn(inVertical)">
                                      <p:cBhvr>
                                        <p:cTn id="21" dur="500"/>
                                        <p:tgtEl>
                                          <p:spTgt spid="3">
                                            <p:txEl>
                                              <p:pRg st="7" end="7"/>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8" end="8"/>
                                            </p:txEl>
                                          </p:spTgt>
                                        </p:tgtEl>
                                        <p:attrNameLst>
                                          <p:attrName>style.visibility</p:attrName>
                                        </p:attrNameLst>
                                      </p:cBhvr>
                                      <p:to>
                                        <p:strVal val="visible"/>
                                      </p:to>
                                    </p:set>
                                    <p:animEffect transition="in" filter="barn(inVertical)">
                                      <p:cBhvr>
                                        <p:cTn id="24"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452915-2D68-49AD-9082-D1C5E92EEE6F}"/>
              </a:ext>
            </a:extLst>
          </p:cNvPr>
          <p:cNvSpPr>
            <a:spLocks noGrp="1"/>
          </p:cNvSpPr>
          <p:nvPr>
            <p:ph type="title"/>
          </p:nvPr>
        </p:nvSpPr>
        <p:spPr/>
        <p:txBody>
          <a:bodyPr/>
          <a:lstStyle/>
          <a:p>
            <a:pPr algn="ctr"/>
            <a:r>
              <a:rPr lang="en-US" altLang="zh-CN" dirty="0"/>
              <a:t>Selections using Indices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8C84CAD-EB8F-4148-A278-AFFD6E8CAA51}"/>
                  </a:ext>
                </a:extLst>
              </p:cNvPr>
              <p:cNvSpPr>
                <a:spLocks noGrp="1"/>
              </p:cNvSpPr>
              <p:nvPr>
                <p:ph idx="1"/>
              </p:nvPr>
            </p:nvSpPr>
            <p:spPr/>
            <p:txBody>
              <a:bodyPr/>
              <a:lstStyle/>
              <a:p>
                <a:r>
                  <a:rPr lang="en-US" altLang="zh-CN" sz="2000" b="1" dirty="0"/>
                  <a:t>A2</a:t>
                </a:r>
                <a:r>
                  <a:rPr lang="en-US" altLang="zh-CN" sz="2000" dirty="0"/>
                  <a:t> (</a:t>
                </a:r>
                <a:r>
                  <a:rPr lang="en-US" altLang="zh-CN" sz="2000" b="1" dirty="0">
                    <a:solidFill>
                      <a:srgbClr val="C00000"/>
                    </a:solidFill>
                  </a:rPr>
                  <a:t>primary index </a:t>
                </a:r>
                <a:r>
                  <a:rPr lang="en-US" altLang="zh-CN" sz="2000" dirty="0"/>
                  <a:t>on candidate key, equality)</a:t>
                </a:r>
              </a:p>
              <a:p>
                <a:pPr lvl="1"/>
                <a:r>
                  <a:rPr lang="en-US" altLang="zh-CN" sz="1800" dirty="0"/>
                  <a:t>Retrieve a single record that satisfies the corresponding equality condition  </a:t>
                </a:r>
              </a:p>
              <a:p>
                <a:pPr lvl="1"/>
                <a:r>
                  <a:rPr lang="en-US" altLang="zh-CN" sz="1800" dirty="0"/>
                  <a:t>Cost =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h</m:t>
                        </m:r>
                      </m:e>
                      <m:sub>
                        <m:r>
                          <a:rPr lang="en-US" altLang="zh-CN" sz="1800" b="0" i="1" smtClean="0">
                            <a:latin typeface="Cambria Math" panose="02040503050406030204" pitchFamily="18" charset="0"/>
                          </a:rPr>
                          <m:t>𝑖</m:t>
                        </m:r>
                      </m:sub>
                    </m:sSub>
                  </m:oMath>
                </a14:m>
                <a:r>
                  <a:rPr lang="en-US" altLang="zh-CN" sz="1800" dirty="0"/>
                  <a:t> + 1) *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𝑇</m:t>
                        </m:r>
                      </m:sub>
                    </m:sSub>
                  </m:oMath>
                </a14:m>
                <a:r>
                  <a:rPr lang="en-US" altLang="zh-CN" sz="1800" dirty="0"/>
                  <a:t> +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𝑆</m:t>
                        </m:r>
                      </m:sub>
                    </m:sSub>
                  </m:oMath>
                </a14:m>
                <a:r>
                  <a:rPr lang="en-US" altLang="zh-CN" sz="1800" dirty="0"/>
                  <a:t>)        (B</a:t>
                </a:r>
                <a:r>
                  <a:rPr lang="en-US" altLang="zh-CN" sz="1800" baseline="30000" dirty="0"/>
                  <a:t>+</a:t>
                </a:r>
                <a:r>
                  <a:rPr lang="en-US" altLang="zh-CN" sz="1800" dirty="0"/>
                  <a:t>-tree)</a:t>
                </a:r>
              </a:p>
              <a:p>
                <a:pPr lvl="1"/>
                <a:endParaRPr lang="en-US" altLang="zh-CN" sz="1800" dirty="0"/>
              </a:p>
              <a:p>
                <a:r>
                  <a:rPr lang="en-US" altLang="zh-CN" sz="2000" b="1" dirty="0"/>
                  <a:t>A3</a:t>
                </a:r>
                <a:r>
                  <a:rPr lang="en-US" altLang="zh-CN" sz="2000" dirty="0"/>
                  <a:t> (</a:t>
                </a:r>
                <a:r>
                  <a:rPr lang="en-US" altLang="zh-CN" sz="2000" b="1" dirty="0">
                    <a:solidFill>
                      <a:srgbClr val="C00000"/>
                    </a:solidFill>
                  </a:rPr>
                  <a:t>primary index </a:t>
                </a:r>
                <a:r>
                  <a:rPr lang="en-US" altLang="zh-CN" sz="2000" dirty="0"/>
                  <a:t>on non-key, equality) retrieve multiple records</a:t>
                </a:r>
              </a:p>
              <a:p>
                <a:pPr lvl="1"/>
                <a:r>
                  <a:rPr lang="en-US" altLang="zh-CN" sz="1800" dirty="0"/>
                  <a:t>Records will be on consecutive blocks</a:t>
                </a:r>
              </a:p>
              <a:p>
                <a:pPr lvl="1"/>
                <a:r>
                  <a:rPr lang="en-US" altLang="zh-CN" sz="1800" dirty="0"/>
                  <a:t>Cost =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h</m:t>
                        </m:r>
                      </m:e>
                      <m:sub>
                        <m:r>
                          <a:rPr lang="en-US" altLang="zh-CN" sz="1800" i="1">
                            <a:latin typeface="Cambria Math" panose="02040503050406030204" pitchFamily="18" charset="0"/>
                          </a:rPr>
                          <m:t>𝑖</m:t>
                        </m:r>
                      </m:sub>
                    </m:sSub>
                    <m:r>
                      <a:rPr lang="en-US" altLang="zh-CN" sz="1800" b="0" i="1" smtClean="0">
                        <a:latin typeface="Cambria Math" panose="02040503050406030204" pitchFamily="18" charset="0"/>
                      </a:rPr>
                      <m:t>∗</m:t>
                    </m:r>
                  </m:oMath>
                </a14:m>
                <a:r>
                  <a:rPr lang="en-US" altLang="zh-CN" sz="1800" dirty="0"/>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𝑇</m:t>
                        </m:r>
                      </m:sub>
                    </m:sSub>
                  </m:oMath>
                </a14:m>
                <a:r>
                  <a:rPr lang="en-US" altLang="zh-CN" sz="1800" dirty="0"/>
                  <a:t> +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𝑆</m:t>
                        </m:r>
                      </m:sub>
                    </m:sSub>
                  </m:oMath>
                </a14:m>
                <a:r>
                  <a:rPr lang="en-US" altLang="zh-CN" sz="1800" dirty="0"/>
                  <a:t>) +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𝑆</m:t>
                        </m:r>
                      </m:sub>
                    </m:sSub>
                    <m:r>
                      <a:rPr lang="en-US" altLang="zh-CN" sz="1800" i="1">
                        <a:latin typeface="Cambria Math" panose="02040503050406030204" pitchFamily="18" charset="0"/>
                      </a:rPr>
                      <m:t> </m:t>
                    </m:r>
                  </m:oMath>
                </a14:m>
                <a:r>
                  <a:rPr lang="en-US" altLang="zh-CN" sz="1800" dirty="0"/>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b="0" i="1" smtClean="0">
                            <a:latin typeface="Cambria Math" panose="02040503050406030204" pitchFamily="18" charset="0"/>
                          </a:rPr>
                          <m:t>𝑇</m:t>
                        </m:r>
                      </m:sub>
                    </m:sSub>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𝑏</m:t>
                    </m:r>
                  </m:oMath>
                </a14:m>
                <a:endParaRPr lang="en-US" altLang="zh-CN" sz="1800" dirty="0"/>
              </a:p>
              <a:p>
                <a:pPr lvl="2"/>
                <a14:m>
                  <m:oMath xmlns:m="http://schemas.openxmlformats.org/officeDocument/2006/math">
                    <m:r>
                      <a:rPr lang="en-US" altLang="zh-CN" sz="1600" i="1">
                        <a:latin typeface="Cambria Math" panose="02040503050406030204" pitchFamily="18" charset="0"/>
                      </a:rPr>
                      <m:t>𝑏</m:t>
                    </m:r>
                  </m:oMath>
                </a14:m>
                <a:r>
                  <a:rPr lang="en-US" altLang="zh-CN" sz="1600" dirty="0"/>
                  <a:t>: the number of blocks containing matching records</a:t>
                </a:r>
              </a:p>
              <a:p>
                <a:pPr lvl="1"/>
                <a:endParaRPr lang="en-US" altLang="zh-CN" sz="1800" dirty="0"/>
              </a:p>
            </p:txBody>
          </p:sp>
        </mc:Choice>
        <mc:Fallback xmlns="">
          <p:sp>
            <p:nvSpPr>
              <p:cNvPr id="3" name="内容占位符 2">
                <a:extLst>
                  <a:ext uri="{FF2B5EF4-FFF2-40B4-BE49-F238E27FC236}">
                    <a16:creationId xmlns:a16="http://schemas.microsoft.com/office/drawing/2014/main" id="{38C84CAD-EB8F-4148-A278-AFFD6E8CAA51}"/>
                  </a:ext>
                </a:extLst>
              </p:cNvPr>
              <p:cNvSpPr>
                <a:spLocks noGrp="1" noRot="1" noChangeAspect="1" noMove="1" noResize="1" noEditPoints="1" noAdjustHandles="1" noChangeArrowheads="1" noChangeShapeType="1" noTextEdit="1"/>
              </p:cNvSpPr>
              <p:nvPr>
                <p:ph idx="1"/>
              </p:nvPr>
            </p:nvSpPr>
            <p:spPr>
              <a:blipFill>
                <a:blip r:embed="rId2"/>
                <a:stretch>
                  <a:fillRect l="-640" t="-801" r="-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72334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arn(inVertical)">
                                      <p:cBhvr>
                                        <p:cTn id="7" dur="500"/>
                                        <p:tgtEl>
                                          <p:spTgt spid="3">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arn(inVertical)">
                                      <p:cBhvr>
                                        <p:cTn id="10" dur="500"/>
                                        <p:tgtEl>
                                          <p:spTgt spid="3">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arn(inVertical)">
                                      <p:cBhvr>
                                        <p:cTn id="13" dur="500"/>
                                        <p:tgtEl>
                                          <p:spTgt spid="3">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barn(inVertical)">
                                      <p:cBhvr>
                                        <p:cTn id="1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012819-C430-43D8-9148-78A5BBDFF198}"/>
              </a:ext>
            </a:extLst>
          </p:cNvPr>
          <p:cNvSpPr>
            <a:spLocks noGrp="1"/>
          </p:cNvSpPr>
          <p:nvPr>
            <p:ph type="title"/>
          </p:nvPr>
        </p:nvSpPr>
        <p:spPr/>
        <p:txBody>
          <a:bodyPr/>
          <a:lstStyle/>
          <a:p>
            <a:pPr algn="ctr"/>
            <a:r>
              <a:rPr lang="en-US" altLang="zh-CN" dirty="0"/>
              <a:t>Selections using Indices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6EE3A35-FD27-42A9-B8D7-F2F39B8D7780}"/>
                  </a:ext>
                </a:extLst>
              </p:cNvPr>
              <p:cNvSpPr>
                <a:spLocks noGrp="1"/>
              </p:cNvSpPr>
              <p:nvPr>
                <p:ph idx="1"/>
              </p:nvPr>
            </p:nvSpPr>
            <p:spPr/>
            <p:txBody>
              <a:bodyPr/>
              <a:lstStyle/>
              <a:p>
                <a:r>
                  <a:rPr lang="en-US" altLang="zh-CN" sz="2000" b="1" dirty="0"/>
                  <a:t>A4</a:t>
                </a:r>
                <a:r>
                  <a:rPr lang="en-US" altLang="zh-CN" sz="2000" dirty="0"/>
                  <a:t> (equality on search-key of </a:t>
                </a:r>
                <a:r>
                  <a:rPr lang="en-US" altLang="zh-CN" sz="2000" b="1" dirty="0">
                    <a:solidFill>
                      <a:srgbClr val="C00000"/>
                    </a:solidFill>
                  </a:rPr>
                  <a:t>secondary</a:t>
                </a:r>
                <a:r>
                  <a:rPr lang="en-US" altLang="zh-CN" sz="2000" dirty="0"/>
                  <a:t> index).</a:t>
                </a:r>
              </a:p>
              <a:p>
                <a:pPr lvl="1"/>
                <a:r>
                  <a:rPr lang="en-US" altLang="zh-CN" sz="1800" dirty="0"/>
                  <a:t>Retrieve a single record if the search-key is a candidate key</a:t>
                </a:r>
              </a:p>
              <a:p>
                <a:pPr lvl="2"/>
                <a:r>
                  <a:rPr lang="en-US" altLang="zh-CN" dirty="0"/>
                  <a:t>cost =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𝑖</m:t>
                        </m:r>
                      </m:sub>
                    </m:sSub>
                  </m:oMath>
                </a14:m>
                <a:r>
                  <a:rPr lang="en-US" altLang="zh-CN" dirty="0"/>
                  <a:t> + 1) *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𝑇</m:t>
                        </m:r>
                      </m:sub>
                    </m:sSub>
                  </m:oMath>
                </a14:m>
                <a:r>
                  <a:rPr lang="en-US" altLang="zh-CN" dirty="0"/>
                  <a:t> +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𝑆</m:t>
                        </m:r>
                      </m:sub>
                    </m:sSub>
                  </m:oMath>
                </a14:m>
                <a:r>
                  <a:rPr lang="en-US" altLang="zh-CN" dirty="0"/>
                  <a:t>)</a:t>
                </a:r>
              </a:p>
              <a:p>
                <a:pPr lvl="1"/>
                <a:r>
                  <a:rPr lang="en-US" altLang="zh-CN" sz="1800" dirty="0"/>
                  <a:t>Retrieve multiple records if search-key is not a candidate key</a:t>
                </a:r>
              </a:p>
              <a:p>
                <a:pPr lvl="2"/>
                <a:r>
                  <a:rPr lang="en-US" altLang="zh-CN" dirty="0"/>
                  <a:t>assume that </a:t>
                </a:r>
                <a14:m>
                  <m:oMath xmlns:m="http://schemas.openxmlformats.org/officeDocument/2006/math">
                    <m:r>
                      <a:rPr lang="en-US" altLang="zh-CN" i="1">
                        <a:latin typeface="Cambria Math" panose="02040503050406030204" pitchFamily="18" charset="0"/>
                      </a:rPr>
                      <m:t>𝑛</m:t>
                    </m:r>
                  </m:oMath>
                </a14:m>
                <a:r>
                  <a:rPr lang="en-US" altLang="zh-CN" dirty="0"/>
                  <a:t> records satisfy the search condition</a:t>
                </a:r>
              </a:p>
              <a:p>
                <a:pPr lvl="2"/>
                <a:r>
                  <a:rPr lang="en-US" altLang="zh-CN" dirty="0"/>
                  <a:t>cost =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𝑖</m:t>
                        </m:r>
                      </m:sub>
                    </m:sSub>
                  </m:oMath>
                </a14:m>
                <a:r>
                  <a:rPr lang="en-US" altLang="zh-CN" dirty="0"/>
                  <a:t> + </a:t>
                </a:r>
                <a14:m>
                  <m:oMath xmlns:m="http://schemas.openxmlformats.org/officeDocument/2006/math">
                    <m:r>
                      <a:rPr lang="en-US" altLang="zh-CN" b="0" i="1" smtClean="0">
                        <a:latin typeface="Cambria Math" panose="02040503050406030204" pitchFamily="18" charset="0"/>
                      </a:rPr>
                      <m:t>𝑛</m:t>
                    </m:r>
                  </m:oMath>
                </a14:m>
                <a:r>
                  <a:rPr lang="en-US" altLang="zh-CN" dirty="0"/>
                  <a:t>) *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𝑇</m:t>
                        </m:r>
                      </m:sub>
                    </m:sSub>
                  </m:oMath>
                </a14:m>
                <a:r>
                  <a:rPr lang="en-US" altLang="zh-CN" dirty="0"/>
                  <a:t> + </a:t>
                </a:r>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𝑆</m:t>
                        </m:r>
                      </m:sub>
                    </m:sSub>
                  </m:oMath>
                </a14:m>
                <a:r>
                  <a:rPr lang="en-US" altLang="zh-CN" dirty="0"/>
                  <a:t>) </a:t>
                </a:r>
              </a:p>
              <a:p>
                <a:pPr lvl="3"/>
                <a:r>
                  <a:rPr lang="en-US" altLang="zh-CN" dirty="0"/>
                  <a:t>can be very expensive. Each record may be on a different block  </a:t>
                </a:r>
              </a:p>
              <a:p>
                <a:endParaRPr lang="zh-CN" altLang="en-US" sz="2000" dirty="0"/>
              </a:p>
            </p:txBody>
          </p:sp>
        </mc:Choice>
        <mc:Fallback xmlns="">
          <p:sp>
            <p:nvSpPr>
              <p:cNvPr id="3" name="内容占位符 2">
                <a:extLst>
                  <a:ext uri="{FF2B5EF4-FFF2-40B4-BE49-F238E27FC236}">
                    <a16:creationId xmlns:a16="http://schemas.microsoft.com/office/drawing/2014/main" id="{F6EE3A35-FD27-42A9-B8D7-F2F39B8D7780}"/>
                  </a:ext>
                </a:extLst>
              </p:cNvPr>
              <p:cNvSpPr>
                <a:spLocks noGrp="1" noRot="1" noChangeAspect="1" noMove="1" noResize="1" noEditPoints="1" noAdjustHandles="1" noChangeArrowheads="1" noChangeShapeType="1" noTextEdit="1"/>
              </p:cNvSpPr>
              <p:nvPr>
                <p:ph idx="1"/>
              </p:nvPr>
            </p:nvSpPr>
            <p:spPr>
              <a:blipFill>
                <a:blip r:embed="rId2"/>
                <a:stretch>
                  <a:fillRect l="-640"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199623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barn(inVertical)">
                                      <p:cBhvr>
                                        <p:cTn id="12" dur="500"/>
                                        <p:tgtEl>
                                          <p:spTgt spid="3">
                                            <p:txEl>
                                              <p:pRg st="4" end="4"/>
                                            </p:txEl>
                                          </p:spTgt>
                                        </p:tgtEl>
                                      </p:cBhvr>
                                    </p:animEffect>
                                  </p:childTnLst>
                                </p:cTn>
                              </p:par>
                              <p:par>
                                <p:cTn id="13" presetID="16" presetClass="entr" presetSubtype="21"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barn(inVertical)">
                                      <p:cBhvr>
                                        <p:cTn id="15" dur="500"/>
                                        <p:tgtEl>
                                          <p:spTgt spid="3">
                                            <p:txEl>
                                              <p:pRg st="5" end="5"/>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6" end="6"/>
                                            </p:txEl>
                                          </p:spTgt>
                                        </p:tgtEl>
                                        <p:attrNameLst>
                                          <p:attrName>style.visibility</p:attrName>
                                        </p:attrNameLst>
                                      </p:cBhvr>
                                      <p:to>
                                        <p:strVal val="visible"/>
                                      </p:to>
                                    </p:set>
                                    <p:animEffect transition="in" filter="barn(inVertical)">
                                      <p:cBhvr>
                                        <p:cTn id="18"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6B1D2-C472-4BFA-968F-26E4A74A2DFD}"/>
              </a:ext>
            </a:extLst>
          </p:cNvPr>
          <p:cNvSpPr>
            <a:spLocks noGrp="1"/>
          </p:cNvSpPr>
          <p:nvPr>
            <p:ph type="title"/>
          </p:nvPr>
        </p:nvSpPr>
        <p:spPr/>
        <p:txBody>
          <a:bodyPr/>
          <a:lstStyle/>
          <a:p>
            <a:pPr algn="ctr"/>
            <a:r>
              <a:rPr lang="en-US" altLang="zh-CN" dirty="0"/>
              <a:t>Selections Involving Comparisons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2820DCB-1076-40F3-BB72-9FE7EB79AFBA}"/>
                  </a:ext>
                </a:extLst>
              </p:cNvPr>
              <p:cNvSpPr>
                <a:spLocks noGrp="1"/>
              </p:cNvSpPr>
              <p:nvPr>
                <p:ph idx="1"/>
              </p:nvPr>
            </p:nvSpPr>
            <p:spPr>
              <a:xfrm>
                <a:off x="179512" y="699542"/>
                <a:ext cx="8568952" cy="3805070"/>
              </a:xfrm>
            </p:spPr>
            <p:txBody>
              <a:bodyPr/>
              <a:lstStyle/>
              <a:p>
                <a:r>
                  <a:rPr lang="en-US" altLang="zh-CN" sz="2000" dirty="0"/>
                  <a:t>Implement selections of the form </a:t>
                </a:r>
                <a14:m>
                  <m:oMath xmlns:m="http://schemas.openxmlformats.org/officeDocument/2006/math">
                    <m:sSub>
                      <m:sSubPr>
                        <m:ctrlPr>
                          <a:rPr lang="en-US" altLang="zh-CN" sz="2000" i="1" smtClean="0">
                            <a:latin typeface="Cambria Math" panose="02040503050406030204" pitchFamily="18" charset="0"/>
                          </a:rPr>
                        </m:ctrlPr>
                      </m:sSubPr>
                      <m:e>
                        <m:r>
                          <a:rPr lang="zh-CN" altLang="en-US" sz="2000" i="1" smtClean="0">
                            <a:latin typeface="Cambria Math" panose="02040503050406030204" pitchFamily="18" charset="0"/>
                          </a:rPr>
                          <m:t>𝜎</m:t>
                        </m:r>
                      </m:e>
                      <m:sub>
                        <m:r>
                          <a:rPr lang="en-US" altLang="zh-CN" sz="2000" b="0" i="1" smtClean="0">
                            <a:latin typeface="Cambria Math" panose="02040503050406030204" pitchFamily="18" charset="0"/>
                          </a:rPr>
                          <m:t>𝐴</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𝑉</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𝑟</m:t>
                    </m:r>
                    <m:r>
                      <a:rPr lang="en-US" altLang="zh-CN" sz="2000" b="0" i="1" smtClean="0">
                        <a:latin typeface="Cambria Math" panose="02040503050406030204" pitchFamily="18" charset="0"/>
                      </a:rPr>
                      <m:t>)</m:t>
                    </m:r>
                  </m:oMath>
                </a14:m>
                <a:r>
                  <a:rPr lang="en-US" altLang="zh-CN" sz="2000" dirty="0"/>
                  <a:t> or </a:t>
                </a:r>
                <a14:m>
                  <m:oMath xmlns:m="http://schemas.openxmlformats.org/officeDocument/2006/math">
                    <m:sSub>
                      <m:sSubPr>
                        <m:ctrlPr>
                          <a:rPr lang="en-US" altLang="zh-CN" sz="2000" i="1" smtClean="0">
                            <a:latin typeface="Cambria Math" panose="02040503050406030204" pitchFamily="18" charset="0"/>
                          </a:rPr>
                        </m:ctrlPr>
                      </m:sSubPr>
                      <m:e>
                        <m:r>
                          <a:rPr lang="zh-CN" altLang="en-US" sz="2000" i="1" smtClean="0">
                            <a:latin typeface="Cambria Math" panose="02040503050406030204" pitchFamily="18" charset="0"/>
                          </a:rPr>
                          <m:t>𝜎</m:t>
                        </m:r>
                      </m:e>
                      <m:sub>
                        <m:r>
                          <a:rPr lang="en-US" altLang="zh-CN" sz="2000" b="0" i="1" smtClean="0">
                            <a:latin typeface="Cambria Math" panose="02040503050406030204" pitchFamily="18" charset="0"/>
                          </a:rPr>
                          <m:t>𝐴</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𝑉</m:t>
                        </m:r>
                      </m:sub>
                    </m:sSub>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𝑟</m:t>
                    </m:r>
                    <m:r>
                      <a:rPr lang="en-US" altLang="zh-CN" sz="2000" b="0" i="1" smtClean="0">
                        <a:latin typeface="Cambria Math" panose="02040503050406030204" pitchFamily="18" charset="0"/>
                      </a:rPr>
                      <m:t>)</m:t>
                    </m:r>
                  </m:oMath>
                </a14:m>
                <a:r>
                  <a:rPr lang="en-US" altLang="zh-CN" sz="2000" dirty="0"/>
                  <a:t> by</a:t>
                </a:r>
              </a:p>
              <a:p>
                <a:pPr lvl="1"/>
                <a:r>
                  <a:rPr lang="en-US" altLang="zh-CN" sz="1800" dirty="0"/>
                  <a:t>using a linear file scan or binary search, or</a:t>
                </a:r>
              </a:p>
              <a:p>
                <a:pPr lvl="1"/>
                <a:r>
                  <a:rPr lang="en-US" altLang="zh-CN" sz="1800" dirty="0"/>
                  <a:t>using indices in the following ways:</a:t>
                </a:r>
              </a:p>
              <a:p>
                <a:r>
                  <a:rPr lang="en-US" altLang="zh-CN" sz="2000" b="1" dirty="0"/>
                  <a:t>A5</a:t>
                </a:r>
                <a:r>
                  <a:rPr lang="en-US" altLang="zh-CN" sz="2000" dirty="0"/>
                  <a:t> (</a:t>
                </a:r>
                <a:r>
                  <a:rPr lang="en-US" altLang="zh-CN" sz="2000" b="1" dirty="0">
                    <a:solidFill>
                      <a:srgbClr val="C00000"/>
                    </a:solidFill>
                  </a:rPr>
                  <a:t>primary</a:t>
                </a:r>
                <a:r>
                  <a:rPr lang="en-US" altLang="zh-CN" sz="2000" dirty="0"/>
                  <a:t> index, comparison). </a:t>
                </a:r>
              </a:p>
              <a:p>
                <a:pPr lvl="1"/>
                <a:r>
                  <a:rPr lang="en-US" altLang="zh-CN" sz="1800" dirty="0"/>
                  <a:t>Relation is sorted on A</a:t>
                </a:r>
              </a:p>
              <a:p>
                <a:pPr lvl="1"/>
                <a:r>
                  <a:rPr lang="en-US" altLang="zh-CN" sz="1800" dirty="0"/>
                  <a:t>For </a:t>
                </a:r>
                <a14:m>
                  <m:oMath xmlns:m="http://schemas.openxmlformats.org/officeDocument/2006/math">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𝜎</m:t>
                        </m:r>
                      </m:e>
                      <m:sub>
                        <m:r>
                          <a:rPr lang="en-US" altLang="zh-CN" sz="1800" i="1">
                            <a:latin typeface="Cambria Math" panose="02040503050406030204" pitchFamily="18" charset="0"/>
                          </a:rPr>
                          <m:t>𝐴</m:t>
                        </m:r>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𝑉</m:t>
                        </m:r>
                      </m:sub>
                    </m:sSub>
                    <m:r>
                      <a:rPr lang="en-US" altLang="zh-CN" sz="1800" i="1">
                        <a:latin typeface="Cambria Math" panose="02040503050406030204" pitchFamily="18" charset="0"/>
                      </a:rPr>
                      <m:t>(</m:t>
                    </m:r>
                    <m:r>
                      <a:rPr lang="en-US" altLang="zh-CN" sz="1800" i="1">
                        <a:latin typeface="Cambria Math" panose="02040503050406030204" pitchFamily="18" charset="0"/>
                      </a:rPr>
                      <m:t>𝑟</m:t>
                    </m:r>
                    <m:r>
                      <a:rPr lang="en-US" altLang="zh-CN" sz="1800" i="1">
                        <a:latin typeface="Cambria Math" panose="02040503050406030204" pitchFamily="18" charset="0"/>
                      </a:rPr>
                      <m:t>)</m:t>
                    </m:r>
                  </m:oMath>
                </a14:m>
                <a:r>
                  <a:rPr lang="en-US" altLang="zh-CN" sz="1800" dirty="0"/>
                  <a:t>, use index to find first tuple </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𝑉</m:t>
                    </m:r>
                  </m:oMath>
                </a14:m>
                <a:r>
                  <a:rPr lang="en-US" altLang="zh-CN" sz="1800" dirty="0"/>
                  <a:t> and scan relation sequentially from there</a:t>
                </a:r>
              </a:p>
              <a:p>
                <a:pPr lvl="1"/>
                <a:r>
                  <a:rPr lang="en-US" altLang="zh-CN" sz="1800" dirty="0"/>
                  <a:t>For </a:t>
                </a:r>
                <a14:m>
                  <m:oMath xmlns:m="http://schemas.openxmlformats.org/officeDocument/2006/math">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𝜎</m:t>
                        </m:r>
                      </m:e>
                      <m:sub>
                        <m:r>
                          <a:rPr lang="en-US" altLang="zh-CN" sz="1800" i="1">
                            <a:latin typeface="Cambria Math" panose="02040503050406030204" pitchFamily="18" charset="0"/>
                          </a:rPr>
                          <m:t>𝐴</m:t>
                        </m:r>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𝑉</m:t>
                        </m:r>
                      </m:sub>
                    </m:sSub>
                    <m:r>
                      <a:rPr lang="en-US" altLang="zh-CN" sz="1800" i="1">
                        <a:latin typeface="Cambria Math" panose="02040503050406030204" pitchFamily="18" charset="0"/>
                      </a:rPr>
                      <m:t>(</m:t>
                    </m:r>
                    <m:r>
                      <a:rPr lang="en-US" altLang="zh-CN" sz="1800" i="1">
                        <a:latin typeface="Cambria Math" panose="02040503050406030204" pitchFamily="18" charset="0"/>
                      </a:rPr>
                      <m:t>𝑟</m:t>
                    </m:r>
                    <m:r>
                      <a:rPr lang="en-US" altLang="zh-CN" sz="1800" i="1">
                        <a:latin typeface="Cambria Math" panose="02040503050406030204" pitchFamily="18" charset="0"/>
                      </a:rPr>
                      <m:t>)</m:t>
                    </m:r>
                  </m:oMath>
                </a14:m>
                <a:r>
                  <a:rPr lang="en-US" altLang="zh-CN" sz="1800" dirty="0"/>
                  <a:t>, just scan relation sequentially till first tuple </a:t>
                </a:r>
                <a14:m>
                  <m:oMath xmlns:m="http://schemas.openxmlformats.org/officeDocument/2006/math">
                    <m:r>
                      <a:rPr lang="en-US" altLang="zh-CN" sz="1800" b="0" i="1" smtClean="0">
                        <a:latin typeface="Cambria Math" panose="02040503050406030204" pitchFamily="18" charset="0"/>
                      </a:rPr>
                      <m:t>&gt;</m:t>
                    </m:r>
                    <m:r>
                      <a:rPr lang="en-US" altLang="zh-CN" sz="1800" b="0" i="1" smtClean="0">
                        <a:latin typeface="Cambria Math" panose="02040503050406030204" pitchFamily="18" charset="0"/>
                      </a:rPr>
                      <m:t>𝑉</m:t>
                    </m:r>
                  </m:oMath>
                </a14:m>
                <a:r>
                  <a:rPr lang="en-US" altLang="zh-CN" sz="1800" dirty="0"/>
                  <a:t> and </a:t>
                </a:r>
                <a:r>
                  <a:rPr lang="en-US" altLang="zh-CN" sz="1800" b="1" dirty="0">
                    <a:solidFill>
                      <a:srgbClr val="C00000"/>
                    </a:solidFill>
                  </a:rPr>
                  <a:t>do not need to use index</a:t>
                </a:r>
              </a:p>
              <a:p>
                <a:pPr marL="0" indent="0">
                  <a:buNone/>
                </a:pPr>
                <a:endParaRPr lang="zh-CN" altLang="en-US" sz="2000" dirty="0"/>
              </a:p>
            </p:txBody>
          </p:sp>
        </mc:Choice>
        <mc:Fallback xmlns="">
          <p:sp>
            <p:nvSpPr>
              <p:cNvPr id="3" name="内容占位符 2">
                <a:extLst>
                  <a:ext uri="{FF2B5EF4-FFF2-40B4-BE49-F238E27FC236}">
                    <a16:creationId xmlns:a16="http://schemas.microsoft.com/office/drawing/2014/main" id="{F2820DCB-1076-40F3-BB72-9FE7EB79AFBA}"/>
                  </a:ext>
                </a:extLst>
              </p:cNvPr>
              <p:cNvSpPr>
                <a:spLocks noGrp="1" noRot="1" noChangeAspect="1" noMove="1" noResize="1" noEditPoints="1" noAdjustHandles="1" noChangeArrowheads="1" noChangeShapeType="1" noTextEdit="1"/>
              </p:cNvSpPr>
              <p:nvPr>
                <p:ph idx="1"/>
              </p:nvPr>
            </p:nvSpPr>
            <p:spPr>
              <a:xfrm>
                <a:off x="179512" y="699542"/>
                <a:ext cx="8568952" cy="3805070"/>
              </a:xfrm>
              <a:blipFill>
                <a:blip r:embed="rId2"/>
                <a:stretch>
                  <a:fillRect l="-640" t="-801"/>
                </a:stretch>
              </a:blipFill>
            </p:spPr>
            <p:txBody>
              <a:bodyPr/>
              <a:lstStyle/>
              <a:p>
                <a:r>
                  <a:rPr lang="zh-CN" altLang="en-US">
                    <a:noFill/>
                  </a:rPr>
                  <a:t> </a:t>
                </a:r>
              </a:p>
            </p:txBody>
          </p:sp>
        </mc:Fallback>
      </mc:AlternateContent>
      <p:pic>
        <p:nvPicPr>
          <p:cNvPr id="4" name="Picture 6">
            <a:extLst>
              <a:ext uri="{FF2B5EF4-FFF2-40B4-BE49-F238E27FC236}">
                <a16:creationId xmlns:a16="http://schemas.microsoft.com/office/drawing/2014/main" id="{0EE53885-1388-4A48-A726-816F791341E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247" t="29007" r="1608" b="29750"/>
          <a:stretch>
            <a:fillRect/>
          </a:stretch>
        </p:blipFill>
        <p:spPr bwMode="auto">
          <a:xfrm>
            <a:off x="3203848" y="3579862"/>
            <a:ext cx="4527896" cy="1440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000000"/>
                </a:solidFill>
                <a:miter lim="800000"/>
                <a:headEnd/>
                <a:tailEnd/>
              </a14:hiddenLine>
            </a:ext>
          </a:extLst>
        </p:spPr>
      </p:pic>
    </p:spTree>
    <p:extLst>
      <p:ext uri="{BB962C8B-B14F-4D97-AF65-F5344CB8AC3E}">
        <p14:creationId xmlns:p14="http://schemas.microsoft.com/office/powerpoint/2010/main" val="346299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arn(inVertical)">
                                      <p:cBhvr>
                                        <p:cTn id="13" dur="500"/>
                                        <p:tgtEl>
                                          <p:spTgt spid="3">
                                            <p:txEl>
                                              <p:pRg st="5" end="5"/>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arn(inVertical)">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arn(inVertical)">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E3B1B5-E5CE-461F-90D0-CF82416778D4}"/>
              </a:ext>
            </a:extLst>
          </p:cNvPr>
          <p:cNvSpPr>
            <a:spLocks noGrp="1"/>
          </p:cNvSpPr>
          <p:nvPr>
            <p:ph type="title"/>
          </p:nvPr>
        </p:nvSpPr>
        <p:spPr/>
        <p:txBody>
          <a:bodyPr/>
          <a:lstStyle/>
          <a:p>
            <a:pPr algn="ctr"/>
            <a:r>
              <a:rPr lang="en-US" altLang="zh-CN" dirty="0"/>
              <a:t>Selections Involving Comparisons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CA2B1D2-E03F-4107-84B8-902E713BDCB0}"/>
                  </a:ext>
                </a:extLst>
              </p:cNvPr>
              <p:cNvSpPr>
                <a:spLocks noGrp="1"/>
              </p:cNvSpPr>
              <p:nvPr>
                <p:ph idx="1"/>
              </p:nvPr>
            </p:nvSpPr>
            <p:spPr/>
            <p:txBody>
              <a:bodyPr/>
              <a:lstStyle/>
              <a:p>
                <a:r>
                  <a:rPr lang="en-US" altLang="zh-CN" sz="2000" b="1" dirty="0"/>
                  <a:t>A6</a:t>
                </a:r>
                <a:r>
                  <a:rPr lang="en-US" altLang="zh-CN" sz="2000" dirty="0"/>
                  <a:t> (</a:t>
                </a:r>
                <a:r>
                  <a:rPr lang="en-US" altLang="zh-CN" sz="2000" b="1" dirty="0">
                    <a:solidFill>
                      <a:srgbClr val="C00000"/>
                    </a:solidFill>
                  </a:rPr>
                  <a:t>secondary</a:t>
                </a:r>
                <a:r>
                  <a:rPr lang="en-US" altLang="zh-CN" sz="2000" dirty="0"/>
                  <a:t> index, comparison). </a:t>
                </a:r>
              </a:p>
              <a:p>
                <a:pPr lvl="1"/>
                <a:r>
                  <a:rPr lang="en-US" altLang="zh-CN" sz="1800" dirty="0"/>
                  <a:t>For </a:t>
                </a:r>
                <a14:m>
                  <m:oMath xmlns:m="http://schemas.openxmlformats.org/officeDocument/2006/math">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𝜎</m:t>
                        </m:r>
                      </m:e>
                      <m:sub>
                        <m:r>
                          <a:rPr lang="en-US" altLang="zh-CN" sz="1800" i="1">
                            <a:latin typeface="Cambria Math" panose="02040503050406030204" pitchFamily="18" charset="0"/>
                          </a:rPr>
                          <m:t>𝐴</m:t>
                        </m:r>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𝑉</m:t>
                        </m:r>
                      </m:sub>
                    </m:sSub>
                    <m:r>
                      <a:rPr lang="en-US" altLang="zh-CN" sz="1800" i="1">
                        <a:latin typeface="Cambria Math" panose="02040503050406030204" pitchFamily="18" charset="0"/>
                      </a:rPr>
                      <m:t>(</m:t>
                    </m:r>
                    <m:r>
                      <a:rPr lang="en-US" altLang="zh-CN" sz="1800" i="1">
                        <a:latin typeface="Cambria Math" panose="02040503050406030204" pitchFamily="18" charset="0"/>
                      </a:rPr>
                      <m:t>𝑟</m:t>
                    </m:r>
                    <m:r>
                      <a:rPr lang="en-US" altLang="zh-CN" sz="1800" i="1">
                        <a:latin typeface="Cambria Math" panose="02040503050406030204" pitchFamily="18" charset="0"/>
                      </a:rPr>
                      <m:t>)</m:t>
                    </m:r>
                  </m:oMath>
                </a14:m>
                <a:r>
                  <a:rPr lang="en-US" altLang="zh-CN" sz="1800" dirty="0"/>
                  <a:t> use index to find first index entry </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𝑉</m:t>
                    </m:r>
                  </m:oMath>
                </a14:m>
                <a:r>
                  <a:rPr lang="en-US" altLang="zh-CN" sz="1800" dirty="0"/>
                  <a:t> and scan index sequentially from there, to find pointers to records.</a:t>
                </a:r>
              </a:p>
              <a:p>
                <a:pPr lvl="1"/>
                <a:r>
                  <a:rPr lang="en-US" altLang="zh-CN" sz="1800" dirty="0"/>
                  <a:t>For </a:t>
                </a:r>
                <a14:m>
                  <m:oMath xmlns:m="http://schemas.openxmlformats.org/officeDocument/2006/math">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𝜎</m:t>
                        </m:r>
                      </m:e>
                      <m:sub>
                        <m:r>
                          <a:rPr lang="en-US" altLang="zh-CN" sz="1800" i="1">
                            <a:latin typeface="Cambria Math" panose="02040503050406030204" pitchFamily="18" charset="0"/>
                          </a:rPr>
                          <m:t>𝐴</m:t>
                        </m:r>
                        <m:r>
                          <a:rPr lang="en-US" altLang="zh-CN" sz="1800" i="1">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𝑉</m:t>
                        </m:r>
                      </m:sub>
                    </m:sSub>
                    <m:r>
                      <a:rPr lang="en-US" altLang="zh-CN" sz="1800" i="1">
                        <a:latin typeface="Cambria Math" panose="02040503050406030204" pitchFamily="18" charset="0"/>
                      </a:rPr>
                      <m:t>(</m:t>
                    </m:r>
                    <m:r>
                      <a:rPr lang="en-US" altLang="zh-CN" sz="1800" i="1">
                        <a:latin typeface="Cambria Math" panose="02040503050406030204" pitchFamily="18" charset="0"/>
                      </a:rPr>
                      <m:t>𝑟</m:t>
                    </m:r>
                    <m:r>
                      <a:rPr lang="en-US" altLang="zh-CN" sz="1800" i="1">
                        <a:latin typeface="Cambria Math" panose="02040503050406030204" pitchFamily="18" charset="0"/>
                      </a:rPr>
                      <m:t>)</m:t>
                    </m:r>
                  </m:oMath>
                </a14:m>
                <a:r>
                  <a:rPr lang="en-US" altLang="zh-CN" sz="1800" dirty="0"/>
                  <a:t> just scan leaf pages of index finding pointers to records, till first entry </a:t>
                </a:r>
                <a14:m>
                  <m:oMath xmlns:m="http://schemas.openxmlformats.org/officeDocument/2006/math">
                    <m:r>
                      <a:rPr lang="en-US" altLang="zh-CN" sz="1800" i="1">
                        <a:latin typeface="Cambria Math" panose="02040503050406030204" pitchFamily="18" charset="0"/>
                      </a:rPr>
                      <m:t>&gt;</m:t>
                    </m:r>
                    <m:r>
                      <a:rPr lang="en-US" altLang="zh-CN" sz="1800" i="1">
                        <a:latin typeface="Cambria Math" panose="02040503050406030204" pitchFamily="18" charset="0"/>
                      </a:rPr>
                      <m:t>𝑉</m:t>
                    </m:r>
                  </m:oMath>
                </a14:m>
                <a:endParaRPr lang="en-US" altLang="zh-CN" sz="1800" dirty="0"/>
              </a:p>
              <a:p>
                <a:pPr lvl="1"/>
                <a:r>
                  <a:rPr lang="en-US" altLang="zh-CN" sz="1800" dirty="0"/>
                  <a:t>In either case</a:t>
                </a:r>
              </a:p>
              <a:p>
                <a:pPr lvl="2"/>
                <a:r>
                  <a:rPr lang="en-US" altLang="zh-CN" sz="1600" dirty="0"/>
                  <a:t>requires an I/O for each record</a:t>
                </a:r>
              </a:p>
              <a:p>
                <a:pPr lvl="2"/>
                <a:r>
                  <a:rPr lang="en-US" altLang="zh-CN" sz="1600" dirty="0"/>
                  <a:t>linear file scan may be cheaper if many records are to be fetched!</a:t>
                </a:r>
              </a:p>
              <a:p>
                <a:endParaRPr lang="zh-CN" altLang="en-US" sz="2000" dirty="0"/>
              </a:p>
            </p:txBody>
          </p:sp>
        </mc:Choice>
        <mc:Fallback xmlns="">
          <p:sp>
            <p:nvSpPr>
              <p:cNvPr id="3" name="内容占位符 2">
                <a:extLst>
                  <a:ext uri="{FF2B5EF4-FFF2-40B4-BE49-F238E27FC236}">
                    <a16:creationId xmlns:a16="http://schemas.microsoft.com/office/drawing/2014/main" id="{9CA2B1D2-E03F-4107-84B8-902E713BDCB0}"/>
                  </a:ext>
                </a:extLst>
              </p:cNvPr>
              <p:cNvSpPr>
                <a:spLocks noGrp="1" noRot="1" noChangeAspect="1" noMove="1" noResize="1" noEditPoints="1" noAdjustHandles="1" noChangeArrowheads="1" noChangeShapeType="1" noTextEdit="1"/>
              </p:cNvSpPr>
              <p:nvPr>
                <p:ph idx="1"/>
              </p:nvPr>
            </p:nvSpPr>
            <p:spPr>
              <a:blipFill>
                <a:blip r:embed="rId2"/>
                <a:stretch>
                  <a:fillRect l="-640" t="-801" r="-498"/>
                </a:stretch>
              </a:blipFill>
            </p:spPr>
            <p:txBody>
              <a:bodyPr/>
              <a:lstStyle/>
              <a:p>
                <a:r>
                  <a:rPr lang="zh-CN" altLang="en-US">
                    <a:noFill/>
                  </a:rPr>
                  <a:t> </a:t>
                </a:r>
              </a:p>
            </p:txBody>
          </p:sp>
        </mc:Fallback>
      </mc:AlternateContent>
      <p:pic>
        <p:nvPicPr>
          <p:cNvPr id="4" name="Picture 6">
            <a:extLst>
              <a:ext uri="{FF2B5EF4-FFF2-40B4-BE49-F238E27FC236}">
                <a16:creationId xmlns:a16="http://schemas.microsoft.com/office/drawing/2014/main" id="{FADD2C79-6289-4BD8-A05F-DE5125F2D21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1247" t="29007" r="1608" b="29750"/>
          <a:stretch>
            <a:fillRect/>
          </a:stretch>
        </p:blipFill>
        <p:spPr bwMode="auto">
          <a:xfrm>
            <a:off x="1763688" y="3435846"/>
            <a:ext cx="4527896" cy="1440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000000"/>
                </a:solidFill>
                <a:miter lim="800000"/>
                <a:headEnd/>
                <a:tailEnd/>
              </a14:hiddenLine>
            </a:ext>
          </a:extLst>
        </p:spPr>
      </p:pic>
    </p:spTree>
    <p:extLst>
      <p:ext uri="{BB962C8B-B14F-4D97-AF65-F5344CB8AC3E}">
        <p14:creationId xmlns:p14="http://schemas.microsoft.com/office/powerpoint/2010/main" val="218846650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D454B7-132A-4B6D-8EDD-13916861865E}"/>
              </a:ext>
            </a:extLst>
          </p:cNvPr>
          <p:cNvSpPr>
            <a:spLocks noGrp="1"/>
          </p:cNvSpPr>
          <p:nvPr>
            <p:ph type="title"/>
          </p:nvPr>
        </p:nvSpPr>
        <p:spPr/>
        <p:txBody>
          <a:bodyPr/>
          <a:lstStyle/>
          <a:p>
            <a:pPr algn="ctr"/>
            <a:r>
              <a:rPr lang="en-US" altLang="zh-CN" dirty="0"/>
              <a:t>Selection Operation Cost Estimation</a:t>
            </a:r>
            <a:endParaRPr lang="zh-CN" altLang="en-US" dirty="0"/>
          </a:p>
        </p:txBody>
      </p:sp>
      <p:pic>
        <p:nvPicPr>
          <p:cNvPr id="3" name="图片 2">
            <a:extLst>
              <a:ext uri="{FF2B5EF4-FFF2-40B4-BE49-F238E27FC236}">
                <a16:creationId xmlns:a16="http://schemas.microsoft.com/office/drawing/2014/main" id="{6768B326-8B15-4B5D-8F31-0F0733C90BEC}"/>
              </a:ext>
            </a:extLst>
          </p:cNvPr>
          <p:cNvPicPr>
            <a:picLocks noChangeAspect="1"/>
          </p:cNvPicPr>
          <p:nvPr/>
        </p:nvPicPr>
        <p:blipFill>
          <a:blip r:embed="rId2"/>
          <a:stretch>
            <a:fillRect/>
          </a:stretch>
        </p:blipFill>
        <p:spPr>
          <a:xfrm>
            <a:off x="2483768" y="686791"/>
            <a:ext cx="3528392" cy="4405239"/>
          </a:xfrm>
          <a:prstGeom prst="rect">
            <a:avLst/>
          </a:prstGeom>
        </p:spPr>
      </p:pic>
    </p:spTree>
    <p:extLst>
      <p:ext uri="{BB962C8B-B14F-4D97-AF65-F5344CB8AC3E}">
        <p14:creationId xmlns:p14="http://schemas.microsoft.com/office/powerpoint/2010/main" val="257536166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0C60FC-FD57-48A7-AD5C-21EF85EEF4B5}"/>
              </a:ext>
            </a:extLst>
          </p:cNvPr>
          <p:cNvSpPr>
            <a:spLocks noGrp="1"/>
          </p:cNvSpPr>
          <p:nvPr>
            <p:ph type="title"/>
          </p:nvPr>
        </p:nvSpPr>
        <p:spPr/>
        <p:txBody>
          <a:bodyPr/>
          <a:lstStyle/>
          <a:p>
            <a:pPr algn="ctr"/>
            <a:r>
              <a:rPr lang="zh-CN" altLang="en-US" dirty="0"/>
              <a:t>复杂选择的实现</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0899D338-1EE1-48E8-896A-2003FEBF3074}"/>
                  </a:ext>
                </a:extLst>
              </p:cNvPr>
              <p:cNvSpPr>
                <a:spLocks noGrp="1"/>
              </p:cNvSpPr>
              <p:nvPr>
                <p:ph idx="1"/>
              </p:nvPr>
            </p:nvSpPr>
            <p:spPr>
              <a:xfrm>
                <a:off x="251520" y="789553"/>
                <a:ext cx="8568952" cy="3805070"/>
              </a:xfrm>
            </p:spPr>
            <p:txBody>
              <a:bodyPr/>
              <a:lstStyle/>
              <a:p>
                <a:r>
                  <a:rPr lang="en-US" altLang="zh-CN" sz="1800" b="1" dirty="0"/>
                  <a:t>Conjunction (</a:t>
                </a:r>
                <a:r>
                  <a:rPr lang="zh-CN" altLang="en-US" sz="1800" b="1" dirty="0"/>
                  <a:t>合取</a:t>
                </a:r>
                <a:r>
                  <a:rPr lang="en-US" altLang="zh-CN" sz="1800" b="1" dirty="0"/>
                  <a:t>): </a:t>
                </a:r>
                <a14:m>
                  <m:oMath xmlns:m="http://schemas.openxmlformats.org/officeDocument/2006/math">
                    <m:sSub>
                      <m:sSubPr>
                        <m:ctrlPr>
                          <a:rPr lang="en-US" altLang="zh-CN" sz="1800" b="1" i="1" smtClean="0">
                            <a:latin typeface="Cambria Math" panose="02040503050406030204" pitchFamily="18" charset="0"/>
                          </a:rPr>
                        </m:ctrlPr>
                      </m:sSubPr>
                      <m:e>
                        <m:r>
                          <a:rPr lang="zh-CN" altLang="en-US" sz="1800" b="1" i="1" smtClean="0">
                            <a:latin typeface="Cambria Math" panose="02040503050406030204" pitchFamily="18" charset="0"/>
                          </a:rPr>
                          <m:t>𝝈</m:t>
                        </m:r>
                      </m:e>
                      <m:sub>
                        <m:r>
                          <a:rPr lang="zh-CN" altLang="en-US" sz="1800" b="1" i="1" smtClean="0">
                            <a:latin typeface="Cambria Math" panose="02040503050406030204" pitchFamily="18" charset="0"/>
                          </a:rPr>
                          <m:t>𝜽</m:t>
                        </m:r>
                        <m:r>
                          <a:rPr lang="en-US" altLang="zh-CN" sz="1800" b="1" i="1" smtClean="0">
                            <a:latin typeface="Cambria Math" panose="02040503050406030204" pitchFamily="18" charset="0"/>
                          </a:rPr>
                          <m:t>𝟏</m:t>
                        </m:r>
                        <m:r>
                          <a:rPr lang="en-US" altLang="zh-CN" sz="1800" b="1" i="1" smtClean="0">
                            <a:latin typeface="Cambria Math" panose="02040503050406030204" pitchFamily="18" charset="0"/>
                            <a:ea typeface="Cambria Math" panose="02040503050406030204" pitchFamily="18" charset="0"/>
                          </a:rPr>
                          <m:t>⋀</m:t>
                        </m:r>
                        <m:r>
                          <a:rPr lang="zh-CN" altLang="en-US" sz="1800" b="1" i="1" smtClean="0">
                            <a:latin typeface="Cambria Math" panose="02040503050406030204" pitchFamily="18" charset="0"/>
                            <a:ea typeface="Cambria Math" panose="02040503050406030204" pitchFamily="18" charset="0"/>
                          </a:rPr>
                          <m:t>𝜽</m:t>
                        </m:r>
                        <m:r>
                          <a:rPr lang="en-US" altLang="zh-CN" sz="1800" b="1" i="1" smtClean="0">
                            <a:latin typeface="Cambria Math" panose="02040503050406030204" pitchFamily="18" charset="0"/>
                            <a:ea typeface="Cambria Math" panose="02040503050406030204" pitchFamily="18" charset="0"/>
                          </a:rPr>
                          <m:t>𝟐</m:t>
                        </m:r>
                        <m:r>
                          <a:rPr lang="en-US" altLang="zh-CN" sz="1800" b="1" i="1" smtClean="0">
                            <a:latin typeface="Cambria Math" panose="02040503050406030204" pitchFamily="18" charset="0"/>
                            <a:ea typeface="Cambria Math" panose="02040503050406030204" pitchFamily="18" charset="0"/>
                          </a:rPr>
                          <m:t>∧⋯⋀</m:t>
                        </m:r>
                        <m:r>
                          <a:rPr lang="zh-CN" altLang="en-US" sz="1800" b="1" i="1" smtClean="0">
                            <a:latin typeface="Cambria Math" panose="02040503050406030204" pitchFamily="18" charset="0"/>
                            <a:ea typeface="Cambria Math" panose="02040503050406030204" pitchFamily="18" charset="0"/>
                          </a:rPr>
                          <m:t>𝜽</m:t>
                        </m:r>
                        <m:r>
                          <a:rPr lang="en-US" altLang="zh-CN" sz="1800" b="1" i="1" smtClean="0">
                            <a:latin typeface="Cambria Math" panose="02040503050406030204" pitchFamily="18" charset="0"/>
                            <a:ea typeface="Cambria Math" panose="02040503050406030204" pitchFamily="18" charset="0"/>
                          </a:rPr>
                          <m:t>𝒏</m:t>
                        </m:r>
                      </m:sub>
                    </m:sSub>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𝒓</m:t>
                    </m:r>
                    <m:r>
                      <a:rPr lang="en-US" altLang="zh-CN" sz="1800" b="1" i="1" smtClean="0">
                        <a:latin typeface="Cambria Math" panose="02040503050406030204" pitchFamily="18" charset="0"/>
                      </a:rPr>
                      <m:t>)</m:t>
                    </m:r>
                  </m:oMath>
                </a14:m>
                <a:r>
                  <a:rPr lang="en-US" altLang="zh-CN" sz="1800" b="1" dirty="0"/>
                  <a:t>  </a:t>
                </a:r>
              </a:p>
              <a:p>
                <a:r>
                  <a:rPr lang="en-US" altLang="zh-CN" sz="1800" b="1" dirty="0"/>
                  <a:t>A7</a:t>
                </a:r>
                <a:r>
                  <a:rPr lang="en-US" altLang="zh-CN" sz="1800" dirty="0"/>
                  <a:t> (conjunctive selection using one index) </a:t>
                </a:r>
              </a:p>
              <a:p>
                <a:pPr lvl="1"/>
                <a:r>
                  <a:rPr lang="en-US" altLang="zh-CN" sz="1400" dirty="0"/>
                  <a:t>select a condition of </a:t>
                </a:r>
                <a14:m>
                  <m:oMath xmlns:m="http://schemas.openxmlformats.org/officeDocument/2006/math">
                    <m:sSub>
                      <m:sSubPr>
                        <m:ctrlPr>
                          <a:rPr lang="en-US" altLang="zh-CN" sz="1400" i="1" smtClean="0">
                            <a:latin typeface="Cambria Math" panose="02040503050406030204" pitchFamily="18" charset="0"/>
                          </a:rPr>
                        </m:ctrlPr>
                      </m:sSubPr>
                      <m:e>
                        <m:r>
                          <a:rPr lang="zh-CN" altLang="en-US" sz="1400" i="1" smtClean="0">
                            <a:latin typeface="Cambria Math" panose="02040503050406030204" pitchFamily="18" charset="0"/>
                          </a:rPr>
                          <m:t>𝜃</m:t>
                        </m:r>
                      </m:e>
                      <m:sub>
                        <m:r>
                          <a:rPr lang="en-US" altLang="zh-CN" sz="1400" b="0" i="1" smtClean="0">
                            <a:latin typeface="Cambria Math" panose="02040503050406030204" pitchFamily="18" charset="0"/>
                          </a:rPr>
                          <m:t>𝑖</m:t>
                        </m:r>
                      </m:sub>
                    </m:sSub>
                  </m:oMath>
                </a14:m>
                <a:r>
                  <a:rPr lang="en-US" altLang="zh-CN" sz="1400" dirty="0"/>
                  <a:t> and algorithms A1-A6 that results in the least cost for </a:t>
                </a:r>
                <a14:m>
                  <m:oMath xmlns:m="http://schemas.openxmlformats.org/officeDocument/2006/math">
                    <m:sSub>
                      <m:sSubPr>
                        <m:ctrlPr>
                          <a:rPr lang="en-US" altLang="zh-CN" sz="1400" i="1" smtClean="0">
                            <a:latin typeface="Cambria Math" panose="02040503050406030204" pitchFamily="18" charset="0"/>
                          </a:rPr>
                        </m:ctrlPr>
                      </m:sSubPr>
                      <m:e>
                        <m:r>
                          <a:rPr lang="zh-CN" altLang="en-US" sz="1400" i="1" smtClean="0">
                            <a:latin typeface="Cambria Math" panose="02040503050406030204" pitchFamily="18" charset="0"/>
                          </a:rPr>
                          <m:t>𝜎</m:t>
                        </m:r>
                      </m:e>
                      <m:sub>
                        <m:r>
                          <a:rPr lang="zh-CN" altLang="en-US" sz="1400" i="1" smtClean="0">
                            <a:latin typeface="Cambria Math" panose="02040503050406030204" pitchFamily="18" charset="0"/>
                          </a:rPr>
                          <m:t>𝜃</m:t>
                        </m:r>
                        <m:r>
                          <a:rPr lang="en-US" altLang="zh-CN" sz="1400" b="0" i="1" smtClean="0">
                            <a:latin typeface="Cambria Math" panose="02040503050406030204" pitchFamily="18" charset="0"/>
                          </a:rPr>
                          <m:t>𝑖</m:t>
                        </m:r>
                      </m:sub>
                    </m:sSub>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𝑟</m:t>
                    </m:r>
                    <m:r>
                      <a:rPr lang="en-US" altLang="zh-CN" sz="1400" b="0" i="1" smtClean="0">
                        <a:latin typeface="Cambria Math" panose="02040503050406030204" pitchFamily="18" charset="0"/>
                      </a:rPr>
                      <m:t>)</m:t>
                    </m:r>
                  </m:oMath>
                </a14:m>
                <a:endParaRPr lang="en-US" altLang="zh-CN" sz="1400" dirty="0"/>
              </a:p>
              <a:p>
                <a:pPr lvl="1"/>
                <a:r>
                  <a:rPr lang="en-US" altLang="zh-CN" sz="1400" dirty="0"/>
                  <a:t>test other conditions on the tuples after fetching them into memory buffer</a:t>
                </a:r>
              </a:p>
              <a:p>
                <a:r>
                  <a:rPr lang="en-US" altLang="zh-CN" sz="1800" b="1" dirty="0"/>
                  <a:t>A8</a:t>
                </a:r>
                <a:r>
                  <a:rPr lang="en-US" altLang="zh-CN" sz="1800" dirty="0"/>
                  <a:t> (conjunctive selection using multiple-key index)</a:t>
                </a:r>
              </a:p>
              <a:p>
                <a:pPr lvl="1"/>
                <a:r>
                  <a:rPr lang="en-US" altLang="zh-CN" sz="1400" dirty="0"/>
                  <a:t>use appropriate composite (multiple-key) index if available</a:t>
                </a:r>
              </a:p>
              <a:p>
                <a:r>
                  <a:rPr lang="en-US" altLang="zh-CN" sz="1800" b="1" dirty="0"/>
                  <a:t>A9</a:t>
                </a:r>
                <a:r>
                  <a:rPr lang="en-US" altLang="zh-CN" sz="1800" dirty="0"/>
                  <a:t> (conjunctive selection by intersection of identifiers) </a:t>
                </a:r>
              </a:p>
              <a:p>
                <a:pPr lvl="1"/>
                <a:r>
                  <a:rPr lang="en-US" altLang="zh-CN" sz="1600" dirty="0"/>
                  <a:t>requires indices with record pointers </a:t>
                </a:r>
              </a:p>
              <a:p>
                <a:pPr lvl="1"/>
                <a:r>
                  <a:rPr lang="en-US" altLang="zh-CN" sz="1600" dirty="0"/>
                  <a:t>use the corresponding index for each condition, and take intersection of all the obtained sets of record pointers</a:t>
                </a:r>
              </a:p>
              <a:p>
                <a:pPr lvl="1"/>
                <a:r>
                  <a:rPr lang="en-US" altLang="zh-CN" sz="1600" dirty="0"/>
                  <a:t>Then fetch records from data file</a:t>
                </a:r>
              </a:p>
            </p:txBody>
          </p:sp>
        </mc:Choice>
        <mc:Fallback xmlns="">
          <p:sp>
            <p:nvSpPr>
              <p:cNvPr id="3" name="内容占位符 2">
                <a:extLst>
                  <a:ext uri="{FF2B5EF4-FFF2-40B4-BE49-F238E27FC236}">
                    <a16:creationId xmlns:a16="http://schemas.microsoft.com/office/drawing/2014/main" id="{0899D338-1EE1-48E8-896A-2003FEBF3074}"/>
                  </a:ext>
                </a:extLst>
              </p:cNvPr>
              <p:cNvSpPr>
                <a:spLocks noGrp="1" noRot="1" noChangeAspect="1" noMove="1" noResize="1" noEditPoints="1" noAdjustHandles="1" noChangeArrowheads="1" noChangeShapeType="1" noTextEdit="1"/>
              </p:cNvSpPr>
              <p:nvPr>
                <p:ph idx="1"/>
              </p:nvPr>
            </p:nvSpPr>
            <p:spPr>
              <a:xfrm>
                <a:off x="251520" y="789553"/>
                <a:ext cx="8568952" cy="3805070"/>
              </a:xfrm>
              <a:blipFill>
                <a:blip r:embed="rId2"/>
                <a:stretch>
                  <a:fillRect l="-427"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790866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arn(inVertical)">
                                      <p:cBhvr>
                                        <p:cTn id="7" dur="500"/>
                                        <p:tgtEl>
                                          <p:spTgt spid="3">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arn(inVertical)">
                                      <p:cBhvr>
                                        <p:cTn id="10" dur="500"/>
                                        <p:tgtEl>
                                          <p:spTgt spid="3">
                                            <p:txEl>
                                              <p:pRg st="5" end="5"/>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animEffect transition="in" filter="barn(inVertical)">
                                      <p:cBhvr>
                                        <p:cTn id="15" dur="500"/>
                                        <p:tgtEl>
                                          <p:spTgt spid="3">
                                            <p:txEl>
                                              <p:pRg st="6" end="6"/>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barn(inVertical)">
                                      <p:cBhvr>
                                        <p:cTn id="18" dur="500"/>
                                        <p:tgtEl>
                                          <p:spTgt spid="3">
                                            <p:txEl>
                                              <p:pRg st="7" end="7"/>
                                            </p:txEl>
                                          </p:spTgt>
                                        </p:tgtEl>
                                      </p:cBhvr>
                                    </p:animEffect>
                                  </p:childTnLst>
                                </p:cTn>
                              </p:par>
                              <p:par>
                                <p:cTn id="19" presetID="16" presetClass="entr" presetSubtype="21"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barn(inVertical)">
                                      <p:cBhvr>
                                        <p:cTn id="21" dur="500"/>
                                        <p:tgtEl>
                                          <p:spTgt spid="3">
                                            <p:txEl>
                                              <p:pRg st="8" end="8"/>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barn(inVertical)">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27EBF2-E952-4DF0-87B2-BEA22907EE1C}"/>
              </a:ext>
            </a:extLst>
          </p:cNvPr>
          <p:cNvSpPr>
            <a:spLocks noGrp="1"/>
          </p:cNvSpPr>
          <p:nvPr>
            <p:ph type="title"/>
          </p:nvPr>
        </p:nvSpPr>
        <p:spPr/>
        <p:txBody>
          <a:bodyPr/>
          <a:lstStyle/>
          <a:p>
            <a:pPr algn="ctr"/>
            <a:r>
              <a:rPr lang="zh-CN" altLang="en-US" dirty="0"/>
              <a:t>复杂选择的实现（续）</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1C06EF9D-6996-4DB6-959B-249D1D24AC8D}"/>
                  </a:ext>
                </a:extLst>
              </p:cNvPr>
              <p:cNvSpPr>
                <a:spLocks noGrp="1"/>
              </p:cNvSpPr>
              <p:nvPr>
                <p:ph idx="1"/>
              </p:nvPr>
            </p:nvSpPr>
            <p:spPr/>
            <p:txBody>
              <a:bodyPr/>
              <a:lstStyle/>
              <a:p>
                <a:r>
                  <a:rPr lang="en-US" altLang="zh-CN" sz="1800" b="1" dirty="0"/>
                  <a:t>Disjunction (</a:t>
                </a:r>
                <a:r>
                  <a:rPr lang="zh-CN" altLang="en-US" sz="1800" b="1" dirty="0"/>
                  <a:t>析取</a:t>
                </a:r>
                <a:r>
                  <a:rPr lang="en-US" altLang="zh-CN" sz="1800" b="1" dirty="0"/>
                  <a:t>): </a:t>
                </a:r>
                <a14:m>
                  <m:oMath xmlns:m="http://schemas.openxmlformats.org/officeDocument/2006/math">
                    <m:sSub>
                      <m:sSubPr>
                        <m:ctrlPr>
                          <a:rPr lang="en-US" altLang="zh-CN" sz="1800" b="1" i="1">
                            <a:latin typeface="Cambria Math" panose="02040503050406030204" pitchFamily="18" charset="0"/>
                          </a:rPr>
                        </m:ctrlPr>
                      </m:sSubPr>
                      <m:e>
                        <m:r>
                          <a:rPr lang="zh-CN" altLang="en-US" sz="1800" b="1" i="1">
                            <a:latin typeface="Cambria Math" panose="02040503050406030204" pitchFamily="18" charset="0"/>
                          </a:rPr>
                          <m:t>𝝈</m:t>
                        </m:r>
                      </m:e>
                      <m:sub>
                        <m:r>
                          <a:rPr lang="zh-CN" altLang="en-US" sz="1800" b="1" i="1">
                            <a:latin typeface="Cambria Math" panose="02040503050406030204" pitchFamily="18" charset="0"/>
                          </a:rPr>
                          <m:t>𝜽</m:t>
                        </m:r>
                        <m:r>
                          <a:rPr lang="en-US" altLang="zh-CN" sz="1800" b="1" i="1">
                            <a:latin typeface="Cambria Math" panose="02040503050406030204" pitchFamily="18" charset="0"/>
                          </a:rPr>
                          <m:t>𝟏</m:t>
                        </m:r>
                        <m:r>
                          <a:rPr lang="en-US" altLang="zh-CN" sz="1800" b="1" i="1" smtClean="0">
                            <a:latin typeface="Cambria Math" panose="02040503050406030204" pitchFamily="18" charset="0"/>
                            <a:ea typeface="Cambria Math" panose="02040503050406030204" pitchFamily="18" charset="0"/>
                          </a:rPr>
                          <m:t>∨</m:t>
                        </m:r>
                        <m:r>
                          <a:rPr lang="zh-CN" altLang="en-US" sz="1800" b="1" i="1">
                            <a:latin typeface="Cambria Math" panose="02040503050406030204" pitchFamily="18" charset="0"/>
                            <a:ea typeface="Cambria Math" panose="02040503050406030204" pitchFamily="18" charset="0"/>
                          </a:rPr>
                          <m:t>𝜽</m:t>
                        </m:r>
                        <m:r>
                          <a:rPr lang="en-US" altLang="zh-CN" sz="1800" b="1" i="1">
                            <a:latin typeface="Cambria Math" panose="02040503050406030204" pitchFamily="18" charset="0"/>
                            <a:ea typeface="Cambria Math" panose="02040503050406030204" pitchFamily="18" charset="0"/>
                          </a:rPr>
                          <m:t>𝟐</m:t>
                        </m:r>
                        <m:r>
                          <a:rPr lang="en-US" altLang="zh-CN" sz="1800" b="1" i="1" smtClean="0">
                            <a:latin typeface="Cambria Math" panose="02040503050406030204" pitchFamily="18" charset="0"/>
                            <a:ea typeface="Cambria Math" panose="02040503050406030204" pitchFamily="18" charset="0"/>
                          </a:rPr>
                          <m:t>∨</m:t>
                        </m:r>
                        <m:r>
                          <a:rPr lang="en-US" altLang="zh-CN" sz="1800" b="1" i="1">
                            <a:latin typeface="Cambria Math" panose="02040503050406030204" pitchFamily="18" charset="0"/>
                            <a:ea typeface="Cambria Math" panose="02040503050406030204" pitchFamily="18" charset="0"/>
                          </a:rPr>
                          <m:t>⋯</m:t>
                        </m:r>
                        <m:r>
                          <a:rPr lang="en-US" altLang="zh-CN" sz="1800" b="1" i="1" smtClean="0">
                            <a:latin typeface="Cambria Math" panose="02040503050406030204" pitchFamily="18" charset="0"/>
                            <a:ea typeface="Cambria Math" panose="02040503050406030204" pitchFamily="18" charset="0"/>
                          </a:rPr>
                          <m:t>∨</m:t>
                        </m:r>
                        <m:r>
                          <a:rPr lang="zh-CN" altLang="en-US" sz="1800" b="1" i="1">
                            <a:latin typeface="Cambria Math" panose="02040503050406030204" pitchFamily="18" charset="0"/>
                            <a:ea typeface="Cambria Math" panose="02040503050406030204" pitchFamily="18" charset="0"/>
                          </a:rPr>
                          <m:t>𝜽</m:t>
                        </m:r>
                        <m:r>
                          <a:rPr lang="en-US" altLang="zh-CN" sz="1800" b="1" i="1">
                            <a:latin typeface="Cambria Math" panose="02040503050406030204" pitchFamily="18" charset="0"/>
                            <a:ea typeface="Cambria Math" panose="02040503050406030204" pitchFamily="18" charset="0"/>
                          </a:rPr>
                          <m:t>𝒏</m:t>
                        </m:r>
                      </m:sub>
                    </m:sSub>
                    <m:r>
                      <a:rPr lang="en-US" altLang="zh-CN" sz="1800" b="1" i="1">
                        <a:latin typeface="Cambria Math" panose="02040503050406030204" pitchFamily="18" charset="0"/>
                      </a:rPr>
                      <m:t>(</m:t>
                    </m:r>
                    <m:r>
                      <a:rPr lang="en-US" altLang="zh-CN" sz="1800" b="1" i="1">
                        <a:latin typeface="Cambria Math" panose="02040503050406030204" pitchFamily="18" charset="0"/>
                      </a:rPr>
                      <m:t>𝒓</m:t>
                    </m:r>
                    <m:r>
                      <a:rPr lang="en-US" altLang="zh-CN" sz="1800" b="1" i="1">
                        <a:latin typeface="Cambria Math" panose="02040503050406030204" pitchFamily="18" charset="0"/>
                      </a:rPr>
                      <m:t>)</m:t>
                    </m:r>
                  </m:oMath>
                </a14:m>
                <a:r>
                  <a:rPr lang="en-US" altLang="zh-CN" sz="1800" b="1" dirty="0"/>
                  <a:t> </a:t>
                </a:r>
              </a:p>
              <a:p>
                <a:r>
                  <a:rPr lang="en-US" altLang="zh-CN" sz="1800" b="1" dirty="0"/>
                  <a:t>A10</a:t>
                </a:r>
                <a:r>
                  <a:rPr lang="en-US" altLang="zh-CN" sz="1800" dirty="0"/>
                  <a:t> (disjunctive selection by union of identifiers). </a:t>
                </a:r>
              </a:p>
              <a:p>
                <a:pPr lvl="1"/>
                <a:r>
                  <a:rPr lang="en-US" altLang="zh-CN" sz="1600" dirty="0"/>
                  <a:t>applicable if all conditions have available indices</a:t>
                </a:r>
              </a:p>
              <a:p>
                <a:pPr lvl="2"/>
                <a:r>
                  <a:rPr lang="en-US" altLang="zh-CN" sz="1400" dirty="0"/>
                  <a:t>Otherwise use linear scan</a:t>
                </a:r>
              </a:p>
              <a:p>
                <a:pPr lvl="1"/>
                <a:r>
                  <a:rPr lang="en-US" altLang="zh-CN" sz="1600" dirty="0"/>
                  <a:t>use the corresponding index for each condition, and take union of all the obtained sets of record pointers</a:t>
                </a:r>
              </a:p>
              <a:p>
                <a:pPr lvl="1"/>
                <a:r>
                  <a:rPr lang="en-US" altLang="zh-CN" sz="1600" dirty="0"/>
                  <a:t>then fetch records from file</a:t>
                </a:r>
              </a:p>
              <a:p>
                <a:r>
                  <a:rPr lang="en-US" altLang="zh-CN" sz="1800" b="1" dirty="0"/>
                  <a:t>Negation (</a:t>
                </a:r>
                <a:r>
                  <a:rPr lang="zh-CN" altLang="en-US" sz="1800" b="1" dirty="0"/>
                  <a:t>取反</a:t>
                </a:r>
                <a:r>
                  <a:rPr lang="en-US" altLang="zh-CN" sz="1800" b="1" dirty="0"/>
                  <a:t>): </a:t>
                </a:r>
                <a14:m>
                  <m:oMath xmlns:m="http://schemas.openxmlformats.org/officeDocument/2006/math">
                    <m:sSub>
                      <m:sSubPr>
                        <m:ctrlPr>
                          <a:rPr lang="en-US" altLang="zh-CN" sz="1800" b="1" i="1">
                            <a:latin typeface="Cambria Math" panose="02040503050406030204" pitchFamily="18" charset="0"/>
                          </a:rPr>
                        </m:ctrlPr>
                      </m:sSubPr>
                      <m:e>
                        <m:r>
                          <a:rPr lang="zh-CN" altLang="en-US" sz="1800" b="1" i="1">
                            <a:latin typeface="Cambria Math" panose="02040503050406030204" pitchFamily="18" charset="0"/>
                          </a:rPr>
                          <m:t>𝝈</m:t>
                        </m:r>
                      </m:e>
                      <m:sub>
                        <m:r>
                          <a:rPr lang="en-US" altLang="zh-CN" sz="1800" b="1" i="1">
                            <a:latin typeface="Cambria Math" panose="02040503050406030204" pitchFamily="18" charset="0"/>
                            <a:ea typeface="Cambria Math" panose="02040503050406030204" pitchFamily="18" charset="0"/>
                          </a:rPr>
                          <m:t>¬</m:t>
                        </m:r>
                        <m:r>
                          <a:rPr lang="zh-CN" altLang="en-US" sz="1800" b="1" i="1">
                            <a:latin typeface="Cambria Math" panose="02040503050406030204" pitchFamily="18" charset="0"/>
                            <a:ea typeface="Cambria Math" panose="02040503050406030204" pitchFamily="18" charset="0"/>
                          </a:rPr>
                          <m:t>𝜽</m:t>
                        </m:r>
                      </m:sub>
                    </m:sSub>
                    <m:r>
                      <a:rPr lang="en-US" altLang="zh-CN" sz="1800" b="1" i="1">
                        <a:latin typeface="Cambria Math" panose="02040503050406030204" pitchFamily="18" charset="0"/>
                      </a:rPr>
                      <m:t>(</m:t>
                    </m:r>
                    <m:r>
                      <a:rPr lang="en-US" altLang="zh-CN" sz="1800" b="1" i="1">
                        <a:latin typeface="Cambria Math" panose="02040503050406030204" pitchFamily="18" charset="0"/>
                      </a:rPr>
                      <m:t>𝒓</m:t>
                    </m:r>
                    <m:r>
                      <a:rPr lang="en-US" altLang="zh-CN" sz="1800" b="1" i="1">
                        <a:latin typeface="Cambria Math" panose="02040503050406030204" pitchFamily="18" charset="0"/>
                      </a:rPr>
                      <m:t>)</m:t>
                    </m:r>
                  </m:oMath>
                </a14:m>
                <a:endParaRPr lang="en-US" altLang="zh-CN" sz="1800" b="1" dirty="0"/>
              </a:p>
              <a:p>
                <a:pPr lvl="1"/>
                <a:r>
                  <a:rPr lang="en-US" altLang="zh-CN" sz="1600" dirty="0"/>
                  <a:t>use linear scan on file</a:t>
                </a:r>
              </a:p>
              <a:p>
                <a:pPr lvl="1"/>
                <a:r>
                  <a:rPr lang="en-US" altLang="zh-CN" sz="1600" dirty="0"/>
                  <a:t>if few records satisfy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r>
                      <a:rPr lang="zh-CN" altLang="en-US" sz="1600" i="1">
                        <a:latin typeface="Cambria Math" panose="02040503050406030204" pitchFamily="18" charset="0"/>
                        <a:ea typeface="Cambria Math" panose="02040503050406030204" pitchFamily="18" charset="0"/>
                      </a:rPr>
                      <m:t>𝜃</m:t>
                    </m:r>
                  </m:oMath>
                </a14:m>
                <a:r>
                  <a:rPr lang="en-US" altLang="zh-CN" sz="1600" dirty="0"/>
                  <a:t>, and an index is applicable to </a:t>
                </a:r>
                <a14:m>
                  <m:oMath xmlns:m="http://schemas.openxmlformats.org/officeDocument/2006/math">
                    <m:r>
                      <a:rPr lang="zh-CN" altLang="en-US" sz="1600" i="1">
                        <a:latin typeface="Cambria Math" panose="02040503050406030204" pitchFamily="18" charset="0"/>
                        <a:ea typeface="Cambria Math" panose="02040503050406030204" pitchFamily="18" charset="0"/>
                      </a:rPr>
                      <m:t>𝜃</m:t>
                    </m:r>
                  </m:oMath>
                </a14:m>
                <a:endParaRPr lang="en-US" altLang="zh-CN" sz="1600" dirty="0"/>
              </a:p>
              <a:p>
                <a:pPr lvl="2"/>
                <a:r>
                  <a:rPr lang="en-US" altLang="zh-CN" sz="1400" dirty="0"/>
                  <a:t>find the required records using index and fetch them from file</a:t>
                </a:r>
              </a:p>
              <a:p>
                <a:endParaRPr lang="zh-CN" altLang="en-US" sz="1800" dirty="0"/>
              </a:p>
            </p:txBody>
          </p:sp>
        </mc:Choice>
        <mc:Fallback xmlns="">
          <p:sp>
            <p:nvSpPr>
              <p:cNvPr id="3" name="内容占位符 2">
                <a:extLst>
                  <a:ext uri="{FF2B5EF4-FFF2-40B4-BE49-F238E27FC236}">
                    <a16:creationId xmlns:a16="http://schemas.microsoft.com/office/drawing/2014/main" id="{1C06EF9D-6996-4DB6-959B-249D1D24AC8D}"/>
                  </a:ext>
                </a:extLst>
              </p:cNvPr>
              <p:cNvSpPr>
                <a:spLocks noGrp="1" noRot="1" noChangeAspect="1" noMove="1" noResize="1" noEditPoints="1" noAdjustHandles="1" noChangeArrowheads="1" noChangeShapeType="1" noTextEdit="1"/>
              </p:cNvSpPr>
              <p:nvPr>
                <p:ph idx="1"/>
              </p:nvPr>
            </p:nvSpPr>
            <p:spPr>
              <a:blipFill>
                <a:blip r:embed="rId2"/>
                <a:stretch>
                  <a:fillRect l="-427"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462588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arn(inVertical)">
                                      <p:cBhvr>
                                        <p:cTn id="7" dur="500"/>
                                        <p:tgtEl>
                                          <p:spTgt spid="3">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barn(inVertical)">
                                      <p:cBhvr>
                                        <p:cTn id="10" dur="500"/>
                                        <p:tgtEl>
                                          <p:spTgt spid="3">
                                            <p:txEl>
                                              <p:pRg st="2" end="2"/>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barn(inVertical)">
                                      <p:cBhvr>
                                        <p:cTn id="13" dur="500"/>
                                        <p:tgtEl>
                                          <p:spTgt spid="3">
                                            <p:txEl>
                                              <p:pRg st="3" end="3"/>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barn(inVertical)">
                                      <p:cBhvr>
                                        <p:cTn id="16" dur="500"/>
                                        <p:tgtEl>
                                          <p:spTgt spid="3">
                                            <p:txEl>
                                              <p:pRg st="4" end="4"/>
                                            </p:txEl>
                                          </p:spTgt>
                                        </p:tgtEl>
                                      </p:cBhvr>
                                    </p:animEffect>
                                  </p:childTnLst>
                                </p:cTn>
                              </p:par>
                              <p:par>
                                <p:cTn id="17" presetID="16" presetClass="entr" presetSubtype="21"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barn(inVertical)">
                                      <p:cBhvr>
                                        <p:cTn id="19" dur="500"/>
                                        <p:tgtEl>
                                          <p:spTgt spid="3">
                                            <p:txEl>
                                              <p:pRg st="5" end="5"/>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barn(inVertical)">
                                      <p:cBhvr>
                                        <p:cTn id="24" dur="500"/>
                                        <p:tgtEl>
                                          <p:spTgt spid="3">
                                            <p:txEl>
                                              <p:pRg st="6" end="6"/>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Effect transition="in" filter="barn(inVertical)">
                                      <p:cBhvr>
                                        <p:cTn id="27" dur="500"/>
                                        <p:tgtEl>
                                          <p:spTgt spid="3">
                                            <p:txEl>
                                              <p:pRg st="7" end="7"/>
                                            </p:txEl>
                                          </p:spTgt>
                                        </p:tgtEl>
                                      </p:cBhvr>
                                    </p:animEffect>
                                  </p:childTnLst>
                                </p:cTn>
                              </p:par>
                              <p:par>
                                <p:cTn id="28" presetID="16" presetClass="entr" presetSubtype="21" fill="hold" nodeType="with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barn(inVertical)">
                                      <p:cBhvr>
                                        <p:cTn id="30" dur="500"/>
                                        <p:tgtEl>
                                          <p:spTgt spid="3">
                                            <p:txEl>
                                              <p:pRg st="8" end="8"/>
                                            </p:txEl>
                                          </p:spTgt>
                                        </p:tgtEl>
                                      </p:cBhvr>
                                    </p:animEffect>
                                  </p:childTnLst>
                                </p:cTn>
                              </p:par>
                              <p:par>
                                <p:cTn id="31" presetID="16" presetClass="entr" presetSubtype="21"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animEffect transition="in" filter="barn(inVertical)">
                                      <p:cBhvr>
                                        <p:cTn id="3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87524" y="843558"/>
            <a:ext cx="8568952" cy="3805070"/>
          </a:xfrm>
        </p:spPr>
        <p:txBody>
          <a:bodyPr/>
          <a:lstStyle/>
          <a:p>
            <a:pPr>
              <a:spcBef>
                <a:spcPts val="600"/>
              </a:spcBef>
            </a:pPr>
            <a:r>
              <a:rPr lang="en-US" altLang="zh-CN" dirty="0"/>
              <a:t>Overview </a:t>
            </a:r>
          </a:p>
          <a:p>
            <a:pPr>
              <a:spcBef>
                <a:spcPts val="600"/>
              </a:spcBef>
            </a:pPr>
            <a:r>
              <a:rPr lang="en-US" altLang="zh-CN" dirty="0"/>
              <a:t>Measures of Query Cost</a:t>
            </a:r>
          </a:p>
          <a:p>
            <a:pPr>
              <a:spcBef>
                <a:spcPts val="600"/>
              </a:spcBef>
            </a:pPr>
            <a:r>
              <a:rPr lang="en-US" altLang="zh-CN" dirty="0"/>
              <a:t>Selection Operation </a:t>
            </a:r>
          </a:p>
          <a:p>
            <a:pPr>
              <a:spcBef>
                <a:spcPts val="600"/>
              </a:spcBef>
            </a:pPr>
            <a:r>
              <a:rPr lang="en-US" altLang="zh-CN" b="1" dirty="0">
                <a:solidFill>
                  <a:srgbClr val="C00000"/>
                </a:solidFill>
              </a:rPr>
              <a:t>Sorting</a:t>
            </a:r>
            <a:r>
              <a:rPr lang="en-US" altLang="zh-CN" b="1" dirty="0"/>
              <a:t> </a:t>
            </a:r>
          </a:p>
          <a:p>
            <a:pPr>
              <a:spcBef>
                <a:spcPts val="600"/>
              </a:spcBef>
            </a:pPr>
            <a:r>
              <a:rPr lang="en-US" altLang="zh-CN" dirty="0"/>
              <a:t>Join Operation </a:t>
            </a:r>
          </a:p>
          <a:p>
            <a:pPr>
              <a:spcBef>
                <a:spcPts val="600"/>
              </a:spcBef>
            </a:pPr>
            <a:r>
              <a:rPr lang="en-US" altLang="zh-CN" dirty="0"/>
              <a:t>Other Operations</a:t>
            </a:r>
          </a:p>
          <a:p>
            <a:pPr>
              <a:spcBef>
                <a:spcPts val="600"/>
              </a:spcBef>
            </a:pPr>
            <a:r>
              <a:rPr lang="en-US" altLang="zh-CN" dirty="0"/>
              <a:t>Evaluation of Expressions</a:t>
            </a:r>
          </a:p>
        </p:txBody>
      </p:sp>
    </p:spTree>
    <p:extLst>
      <p:ext uri="{BB962C8B-B14F-4D97-AF65-F5344CB8AC3E}">
        <p14:creationId xmlns:p14="http://schemas.microsoft.com/office/powerpoint/2010/main" val="186975245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B3835C-AA8B-4608-B8D9-D32C4DE89D61}"/>
              </a:ext>
            </a:extLst>
          </p:cNvPr>
          <p:cNvSpPr>
            <a:spLocks noGrp="1"/>
          </p:cNvSpPr>
          <p:nvPr>
            <p:ph type="title"/>
          </p:nvPr>
        </p:nvSpPr>
        <p:spPr/>
        <p:txBody>
          <a:bodyPr/>
          <a:lstStyle/>
          <a:p>
            <a:pPr algn="ctr"/>
            <a:r>
              <a:rPr lang="en-US" altLang="zh-CN" dirty="0"/>
              <a:t>Sorting</a:t>
            </a:r>
            <a:endParaRPr lang="zh-CN" altLang="en-US" dirty="0"/>
          </a:p>
        </p:txBody>
      </p:sp>
      <p:sp>
        <p:nvSpPr>
          <p:cNvPr id="3" name="内容占位符 2">
            <a:extLst>
              <a:ext uri="{FF2B5EF4-FFF2-40B4-BE49-F238E27FC236}">
                <a16:creationId xmlns:a16="http://schemas.microsoft.com/office/drawing/2014/main" id="{EDCD3FA5-A352-4BF6-997C-EB4D42F02D70}"/>
              </a:ext>
            </a:extLst>
          </p:cNvPr>
          <p:cNvSpPr>
            <a:spLocks noGrp="1"/>
          </p:cNvSpPr>
          <p:nvPr>
            <p:ph idx="1"/>
          </p:nvPr>
        </p:nvSpPr>
        <p:spPr/>
        <p:txBody>
          <a:bodyPr/>
          <a:lstStyle/>
          <a:p>
            <a:r>
              <a:rPr lang="en-US" altLang="zh-CN" sz="2000" dirty="0"/>
              <a:t>Build an index on the relation, and then use the index to read the relation in sorted order. </a:t>
            </a:r>
          </a:p>
          <a:p>
            <a:pPr lvl="1"/>
            <a:r>
              <a:rPr lang="en-US" altLang="zh-CN" sz="1800" dirty="0"/>
              <a:t>May lead to one disk block access for each tuple for </a:t>
            </a:r>
            <a:r>
              <a:rPr lang="en-US" altLang="zh-CN" sz="1800" b="1" dirty="0">
                <a:solidFill>
                  <a:srgbClr val="C00000"/>
                </a:solidFill>
              </a:rPr>
              <a:t>non-primary</a:t>
            </a:r>
            <a:r>
              <a:rPr lang="en-US" altLang="zh-CN" sz="1800" dirty="0"/>
              <a:t> indices</a:t>
            </a:r>
            <a:endParaRPr lang="en-US" altLang="zh-CN" sz="1600" dirty="0"/>
          </a:p>
          <a:p>
            <a:r>
              <a:rPr lang="en-US" altLang="zh-CN" sz="2000" dirty="0"/>
              <a:t>Relations that fit in memory</a:t>
            </a:r>
          </a:p>
          <a:p>
            <a:pPr lvl="1"/>
            <a:r>
              <a:rPr lang="en-US" altLang="zh-CN" sz="1800" dirty="0"/>
              <a:t>Quick-sort (</a:t>
            </a:r>
            <a:r>
              <a:rPr lang="zh-CN" altLang="en-US" sz="1800" dirty="0"/>
              <a:t>快速排序</a:t>
            </a:r>
            <a:r>
              <a:rPr lang="en-US" altLang="zh-CN" sz="1800" dirty="0"/>
              <a:t>)</a:t>
            </a:r>
            <a:endParaRPr lang="en-US" altLang="zh-CN" sz="1600" dirty="0"/>
          </a:p>
          <a:p>
            <a:r>
              <a:rPr lang="en-US" altLang="zh-CN" sz="2000" dirty="0"/>
              <a:t>Relations that don’t fit in memory</a:t>
            </a:r>
          </a:p>
          <a:p>
            <a:pPr lvl="1"/>
            <a:r>
              <a:rPr lang="en-US" altLang="zh-CN" sz="1800" b="1" dirty="0">
                <a:solidFill>
                  <a:srgbClr val="C00000"/>
                </a:solidFill>
              </a:rPr>
              <a:t>External sort-merge </a:t>
            </a:r>
            <a:r>
              <a:rPr lang="en-US" altLang="zh-CN" sz="1800" dirty="0"/>
              <a:t>(</a:t>
            </a:r>
            <a:r>
              <a:rPr lang="zh-CN" altLang="en-US" sz="1800" dirty="0"/>
              <a:t>外排序</a:t>
            </a:r>
            <a:r>
              <a:rPr lang="en-US" altLang="zh-CN" sz="1800" dirty="0"/>
              <a:t>-</a:t>
            </a:r>
            <a:r>
              <a:rPr lang="zh-CN" altLang="en-US" sz="1800" dirty="0"/>
              <a:t>归并</a:t>
            </a:r>
            <a:r>
              <a:rPr lang="en-US" altLang="zh-CN" sz="1800" dirty="0"/>
              <a:t>)</a:t>
            </a:r>
          </a:p>
          <a:p>
            <a:endParaRPr lang="zh-CN" altLang="en-US" sz="2000" dirty="0"/>
          </a:p>
        </p:txBody>
      </p:sp>
    </p:spTree>
    <p:extLst>
      <p:ext uri="{BB962C8B-B14F-4D97-AF65-F5344CB8AC3E}">
        <p14:creationId xmlns:p14="http://schemas.microsoft.com/office/powerpoint/2010/main" val="41056916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 calcmode="lin" valueType="num">
                                      <p:cBhvr additive="base">
                                        <p:cTn id="1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 calcmode="lin" valueType="num">
                                      <p:cBhvr additive="base">
                                        <p:cTn id="2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47D83D-B8DE-444D-8B79-370B42191C30}"/>
              </a:ext>
            </a:extLst>
          </p:cNvPr>
          <p:cNvSpPr>
            <a:spLocks noGrp="1"/>
          </p:cNvSpPr>
          <p:nvPr>
            <p:ph type="title"/>
          </p:nvPr>
        </p:nvSpPr>
        <p:spPr/>
        <p:txBody>
          <a:bodyPr/>
          <a:lstStyle/>
          <a:p>
            <a:pPr algn="ctr"/>
            <a:r>
              <a:rPr lang="en-US" altLang="zh-CN" dirty="0"/>
              <a:t>External Sort-Merge (</a:t>
            </a:r>
            <a:r>
              <a:rPr lang="zh-CN" altLang="en-US" dirty="0"/>
              <a:t>外排序</a:t>
            </a:r>
            <a:r>
              <a:rPr lang="en-US" altLang="zh-CN" dirty="0"/>
              <a:t>-</a:t>
            </a:r>
            <a:r>
              <a:rPr lang="zh-CN" altLang="en-US" dirty="0"/>
              <a:t>归并</a:t>
            </a:r>
            <a:r>
              <a:rPr lang="en-US" altLang="zh-CN" dirty="0"/>
              <a: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265193D-125A-4E72-9530-F16424AAD5FC}"/>
                  </a:ext>
                </a:extLst>
              </p:cNvPr>
              <p:cNvSpPr>
                <a:spLocks noGrp="1"/>
              </p:cNvSpPr>
              <p:nvPr>
                <p:ph idx="1"/>
              </p:nvPr>
            </p:nvSpPr>
            <p:spPr/>
            <p:txBody>
              <a:bodyPr/>
              <a:lstStyle/>
              <a:p>
                <a:r>
                  <a:rPr lang="en-US" altLang="zh-CN" sz="2000" dirty="0"/>
                  <a:t>Let </a:t>
                </a:r>
                <a14:m>
                  <m:oMath xmlns:m="http://schemas.openxmlformats.org/officeDocument/2006/math">
                    <m:r>
                      <a:rPr lang="en-US" altLang="zh-CN" sz="2000" b="0" i="1" dirty="0" smtClean="0">
                        <a:latin typeface="Cambria Math" panose="02040503050406030204" pitchFamily="18" charset="0"/>
                      </a:rPr>
                      <m:t>𝑀</m:t>
                    </m:r>
                  </m:oMath>
                </a14:m>
                <a:r>
                  <a:rPr lang="en-US" altLang="zh-CN" sz="2000" dirty="0"/>
                  <a:t> denote the memory buffer size (in blocks)</a:t>
                </a:r>
              </a:p>
              <a:p>
                <a:r>
                  <a:rPr lang="en-US" altLang="zh-CN" sz="2000" dirty="0"/>
                  <a:t>Create sorted runs(</a:t>
                </a:r>
                <a:r>
                  <a:rPr lang="zh-CN" altLang="en-US" sz="2000" dirty="0"/>
                  <a:t>归并段</a:t>
                </a:r>
                <a:r>
                  <a:rPr lang="en-US" altLang="zh-CN" sz="2000" dirty="0"/>
                  <a:t>)</a:t>
                </a:r>
              </a:p>
              <a:p>
                <a:pPr marL="457200" lvl="1" indent="0">
                  <a:buNone/>
                </a:pPr>
                <a:r>
                  <a:rPr lang="en-US" altLang="zh-CN" sz="1600" i="1" dirty="0">
                    <a:latin typeface="Times New Roman" panose="02020603050405020304" pitchFamily="18" charset="0"/>
                    <a:cs typeface="Times New Roman" panose="02020603050405020304" pitchFamily="18" charset="0"/>
                  </a:rPr>
                  <a:t>let </a:t>
                </a:r>
                <a14:m>
                  <m:oMath xmlns:m="http://schemas.openxmlformats.org/officeDocument/2006/math">
                    <m: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=0</m:t>
                    </m:r>
                  </m:oMath>
                </a14:m>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repeatedly do the following till the end of the relation:</a:t>
                </a:r>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     read M blocks of relation into memory</a:t>
                </a:r>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     sort the in-memory blocks</a:t>
                </a:r>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     write sorted data to run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𝑅</m:t>
                        </m:r>
                      </m:e>
                      <m:sub>
                        <m:r>
                          <a:rPr lang="en-US" altLang="zh-CN" sz="1600" b="0" i="1" smtClean="0">
                            <a:latin typeface="Cambria Math" panose="02040503050406030204" pitchFamily="18" charset="0"/>
                          </a:rPr>
                          <m:t>𝑖</m:t>
                        </m:r>
                      </m:sub>
                    </m:sSub>
                  </m:oMath>
                </a14:m>
                <a:endParaRPr lang="en-US" altLang="zh-CN" sz="1600" i="1" dirty="0">
                  <a:latin typeface="Times New Roman" panose="02020603050405020304" pitchFamily="18" charset="0"/>
                  <a:cs typeface="Times New Roman" panose="02020603050405020304" pitchFamily="18" charset="0"/>
                </a:endParaRPr>
              </a:p>
              <a:p>
                <a:pPr marL="457200" lvl="1" indent="0">
                  <a:buNone/>
                </a:pPr>
                <a:r>
                  <a:rPr lang="en-US" altLang="zh-CN" sz="1600" i="1"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600" b="0" i="1" smtClean="0">
                        <a:latin typeface="Cambria Math" panose="02040503050406030204" pitchFamily="18" charset="0"/>
                      </a:rPr>
                      <m:t>    </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+1</m:t>
                    </m:r>
                  </m:oMath>
                </a14:m>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let the final value of </a:t>
                </a:r>
                <a14:m>
                  <m:oMath xmlns:m="http://schemas.openxmlformats.org/officeDocument/2006/math">
                    <m: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𝑁</m:t>
                    </m:r>
                  </m:oMath>
                </a14:m>
                <a:endParaRPr lang="en-US" altLang="zh-CN" sz="1600" i="1" dirty="0">
                  <a:latin typeface="Times New Roman" panose="02020603050405020304" pitchFamily="18" charset="0"/>
                  <a:cs typeface="Times New Roman" panose="02020603050405020304" pitchFamily="18" charset="0"/>
                </a:endParaRPr>
              </a:p>
              <a:p>
                <a:r>
                  <a:rPr lang="en-US" altLang="zh-CN" sz="2000" dirty="0"/>
                  <a:t>Merge the runs (next slide)</a:t>
                </a:r>
              </a:p>
              <a:p>
                <a:endParaRPr lang="zh-CN" altLang="en-US" sz="2000" dirty="0"/>
              </a:p>
            </p:txBody>
          </p:sp>
        </mc:Choice>
        <mc:Fallback xmlns="">
          <p:sp>
            <p:nvSpPr>
              <p:cNvPr id="3" name="内容占位符 2">
                <a:extLst>
                  <a:ext uri="{FF2B5EF4-FFF2-40B4-BE49-F238E27FC236}">
                    <a16:creationId xmlns:a16="http://schemas.microsoft.com/office/drawing/2014/main" id="{B265193D-125A-4E72-9530-F16424AAD5FC}"/>
                  </a:ext>
                </a:extLst>
              </p:cNvPr>
              <p:cNvSpPr>
                <a:spLocks noGrp="1" noRot="1" noChangeAspect="1" noMove="1" noResize="1" noEditPoints="1" noAdjustHandles="1" noChangeArrowheads="1" noChangeShapeType="1" noTextEdit="1"/>
              </p:cNvSpPr>
              <p:nvPr>
                <p:ph idx="1"/>
              </p:nvPr>
            </p:nvSpPr>
            <p:spPr>
              <a:blipFill>
                <a:blip r:embed="rId2"/>
                <a:stretch>
                  <a:fillRect l="-640" t="-80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5265666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CFB293-165A-4C37-821F-470CA36CA04E}"/>
              </a:ext>
            </a:extLst>
          </p:cNvPr>
          <p:cNvSpPr>
            <a:spLocks noGrp="1"/>
          </p:cNvSpPr>
          <p:nvPr>
            <p:ph type="title"/>
          </p:nvPr>
        </p:nvSpPr>
        <p:spPr/>
        <p:txBody>
          <a:bodyPr/>
          <a:lstStyle/>
          <a:p>
            <a:pPr algn="ctr"/>
            <a:r>
              <a:rPr lang="zh-CN" altLang="en-US" dirty="0"/>
              <a:t>外排序</a:t>
            </a:r>
            <a:r>
              <a:rPr lang="en-US" altLang="zh-CN" dirty="0"/>
              <a:t>-</a:t>
            </a:r>
            <a:r>
              <a:rPr lang="zh-CN" altLang="en-US" dirty="0"/>
              <a:t>归并（续）</a:t>
            </a:r>
          </a:p>
        </p:txBody>
      </p:sp>
      <p:sp>
        <p:nvSpPr>
          <p:cNvPr id="3" name="内容占位符 2">
            <a:extLst>
              <a:ext uri="{FF2B5EF4-FFF2-40B4-BE49-F238E27FC236}">
                <a16:creationId xmlns:a16="http://schemas.microsoft.com/office/drawing/2014/main" id="{484D3113-B398-4E71-A172-38074A7F2C37}"/>
              </a:ext>
            </a:extLst>
          </p:cNvPr>
          <p:cNvSpPr>
            <a:spLocks noGrp="1"/>
          </p:cNvSpPr>
          <p:nvPr>
            <p:ph idx="1"/>
          </p:nvPr>
        </p:nvSpPr>
        <p:spPr>
          <a:xfrm>
            <a:off x="251520" y="789553"/>
            <a:ext cx="8856984" cy="3805070"/>
          </a:xfrm>
        </p:spPr>
        <p:txBody>
          <a:bodyPr/>
          <a:lstStyle/>
          <a:p>
            <a:r>
              <a:rPr lang="en-US" altLang="zh-CN" sz="2000" dirty="0"/>
              <a:t>Merge the runs (N-way merge, N</a:t>
            </a:r>
            <a:r>
              <a:rPr lang="zh-CN" altLang="en-US" sz="2000" dirty="0"/>
              <a:t>路归并</a:t>
            </a:r>
            <a:r>
              <a:rPr lang="en-US" altLang="zh-CN" sz="2000" dirty="0"/>
              <a:t>) and assume N &lt; M</a:t>
            </a:r>
          </a:p>
          <a:p>
            <a:pPr lvl="1"/>
            <a:r>
              <a:rPr lang="en-US" altLang="zh-CN" sz="1600" dirty="0"/>
              <a:t>Use N blocks of memory to buffer input </a:t>
            </a:r>
            <a:r>
              <a:rPr lang="en-US" altLang="zh-CN" sz="1600" dirty="0">
                <a:solidFill>
                  <a:srgbClr val="C00000"/>
                </a:solidFill>
              </a:rPr>
              <a:t>runs</a:t>
            </a:r>
            <a:r>
              <a:rPr lang="en-US" altLang="zh-CN" sz="1600" dirty="0"/>
              <a:t>, and 1 block to buffer </a:t>
            </a:r>
            <a:r>
              <a:rPr lang="en-US" altLang="zh-CN" sz="1600" dirty="0">
                <a:solidFill>
                  <a:srgbClr val="C00000"/>
                </a:solidFill>
              </a:rPr>
              <a:t>output</a:t>
            </a:r>
            <a:r>
              <a:rPr lang="en-US" altLang="zh-CN" sz="1600" dirty="0"/>
              <a:t>. Read the first block of each run into its buffer page</a:t>
            </a:r>
          </a:p>
          <a:p>
            <a:pPr marL="457200" lvl="1" indent="0">
              <a:spcBef>
                <a:spcPts val="300"/>
              </a:spcBef>
              <a:buNone/>
            </a:pPr>
            <a:r>
              <a:rPr lang="en-US" altLang="zh-CN" sz="1600" b="1" i="1" dirty="0">
                <a:latin typeface="Times New Roman" panose="02020603050405020304" pitchFamily="18" charset="0"/>
                <a:cs typeface="Times New Roman" panose="02020603050405020304" pitchFamily="18" charset="0"/>
              </a:rPr>
              <a:t>repeat</a:t>
            </a:r>
          </a:p>
          <a:p>
            <a:pPr marL="914400" lvl="2" indent="0">
              <a:spcBef>
                <a:spcPts val="300"/>
              </a:spcBef>
              <a:buNone/>
            </a:pPr>
            <a:r>
              <a:rPr lang="en-US" altLang="zh-CN" sz="1600" i="1" dirty="0">
                <a:latin typeface="Times New Roman" panose="02020603050405020304" pitchFamily="18" charset="0"/>
                <a:cs typeface="Times New Roman" panose="02020603050405020304" pitchFamily="18" charset="0"/>
              </a:rPr>
              <a:t>select the first record (in sort order) among all buffer blocks</a:t>
            </a:r>
          </a:p>
          <a:p>
            <a:pPr marL="914400" lvl="2" indent="0">
              <a:spcBef>
                <a:spcPts val="300"/>
              </a:spcBef>
              <a:buNone/>
            </a:pPr>
            <a:r>
              <a:rPr lang="en-US" altLang="zh-CN" sz="1600" i="1" dirty="0">
                <a:latin typeface="Times New Roman" panose="02020603050405020304" pitchFamily="18" charset="0"/>
                <a:cs typeface="Times New Roman" panose="02020603050405020304" pitchFamily="18" charset="0"/>
              </a:rPr>
              <a:t>write the record to the output buffer block</a:t>
            </a:r>
          </a:p>
          <a:p>
            <a:pPr marL="914400" lvl="2" indent="0">
              <a:spcBef>
                <a:spcPts val="300"/>
              </a:spcBef>
              <a:buNone/>
            </a:pPr>
            <a:r>
              <a:rPr lang="en-US" altLang="zh-CN" sz="1600" i="1" dirty="0">
                <a:latin typeface="Times New Roman" panose="02020603050405020304" pitchFamily="18" charset="0"/>
                <a:cs typeface="Times New Roman" panose="02020603050405020304" pitchFamily="18" charset="0"/>
              </a:rPr>
              <a:t>      if the output buffer is full, write it to disk</a:t>
            </a:r>
          </a:p>
          <a:p>
            <a:pPr marL="914400" lvl="2" indent="0">
              <a:spcBef>
                <a:spcPts val="300"/>
              </a:spcBef>
              <a:buNone/>
            </a:pPr>
            <a:r>
              <a:rPr lang="en-US" altLang="zh-CN" sz="1600" i="1" dirty="0">
                <a:latin typeface="Times New Roman" panose="02020603050405020304" pitchFamily="18" charset="0"/>
                <a:cs typeface="Times New Roman" panose="02020603050405020304" pitchFamily="18" charset="0"/>
              </a:rPr>
              <a:t>delete the record from the input buffer block</a:t>
            </a:r>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If the buffer block becomes empty then</a:t>
            </a:r>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      read the next block of the run into the buffer</a:t>
            </a:r>
          </a:p>
          <a:p>
            <a:pPr marL="457200" lvl="1" indent="0">
              <a:spcBef>
                <a:spcPts val="300"/>
              </a:spcBef>
              <a:buNone/>
            </a:pPr>
            <a:r>
              <a:rPr lang="en-US" altLang="zh-CN" sz="1600" b="1" i="1" dirty="0">
                <a:latin typeface="Times New Roman" panose="02020603050405020304" pitchFamily="18" charset="0"/>
                <a:cs typeface="Times New Roman" panose="02020603050405020304" pitchFamily="18" charset="0"/>
              </a:rPr>
              <a:t>until</a:t>
            </a:r>
            <a:r>
              <a:rPr lang="en-US" altLang="zh-CN" sz="1600" i="1" dirty="0">
                <a:latin typeface="Times New Roman" panose="02020603050405020304" pitchFamily="18" charset="0"/>
                <a:cs typeface="Times New Roman" panose="02020603050405020304" pitchFamily="18" charset="0"/>
              </a:rPr>
              <a:t> all input buffer blocks are empty</a:t>
            </a:r>
          </a:p>
          <a:p>
            <a:endParaRPr lang="zh-CN" altLang="en-US" sz="2000" dirty="0"/>
          </a:p>
        </p:txBody>
      </p:sp>
    </p:spTree>
    <p:extLst>
      <p:ext uri="{BB962C8B-B14F-4D97-AF65-F5344CB8AC3E}">
        <p14:creationId xmlns:p14="http://schemas.microsoft.com/office/powerpoint/2010/main" val="70779121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5F2F5D-15FA-47B9-BB52-9AE6048BFA90}"/>
              </a:ext>
            </a:extLst>
          </p:cNvPr>
          <p:cNvSpPr>
            <a:spLocks noGrp="1"/>
          </p:cNvSpPr>
          <p:nvPr>
            <p:ph type="title"/>
          </p:nvPr>
        </p:nvSpPr>
        <p:spPr/>
        <p:txBody>
          <a:bodyPr/>
          <a:lstStyle/>
          <a:p>
            <a:pPr algn="ctr"/>
            <a:r>
              <a:rPr lang="zh-CN" altLang="en-US" dirty="0"/>
              <a:t>外排序</a:t>
            </a:r>
            <a:r>
              <a:rPr lang="en-US" altLang="zh-CN" dirty="0"/>
              <a:t>-</a:t>
            </a:r>
            <a:r>
              <a:rPr lang="zh-CN" altLang="en-US" dirty="0"/>
              <a:t>归并（续）</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BE9EE8D-11A7-48D3-AC7A-784E0C9EFA03}"/>
                  </a:ext>
                </a:extLst>
              </p:cNvPr>
              <p:cNvSpPr>
                <a:spLocks noGrp="1"/>
              </p:cNvSpPr>
              <p:nvPr>
                <p:ph idx="1"/>
              </p:nvPr>
            </p:nvSpPr>
            <p:spPr>
              <a:xfrm>
                <a:off x="251520" y="789553"/>
                <a:ext cx="7848872" cy="3805070"/>
              </a:xfrm>
            </p:spPr>
            <p:txBody>
              <a:bodyPr/>
              <a:lstStyle/>
              <a:p>
                <a:r>
                  <a:rPr lang="en-US" altLang="zh-CN" sz="2000" dirty="0"/>
                  <a:t>If </a:t>
                </a:r>
                <a14:m>
                  <m:oMath xmlns:m="http://schemas.openxmlformats.org/officeDocument/2006/math">
                    <m:r>
                      <m:rPr>
                        <m:sty m:val="p"/>
                      </m:rPr>
                      <a:rPr lang="en-US" altLang="zh-CN" sz="2000" b="0" i="0" dirty="0" smtClean="0">
                        <a:latin typeface="Cambria Math" panose="02040503050406030204" pitchFamily="18" charset="0"/>
                      </a:rPr>
                      <m:t>N</m:t>
                    </m:r>
                    <m:r>
                      <a:rPr lang="en-US" altLang="zh-CN" sz="2000" b="0" i="1" dirty="0" smtClean="0">
                        <a:latin typeface="Cambria Math" panose="02040503050406030204" pitchFamily="18" charset="0"/>
                        <a:ea typeface="Cambria Math" panose="02040503050406030204" pitchFamily="18" charset="0"/>
                      </a:rPr>
                      <m:t>≥</m:t>
                    </m:r>
                    <m:r>
                      <m:rPr>
                        <m:sty m:val="p"/>
                      </m:rPr>
                      <a:rPr lang="en-US" altLang="zh-CN" sz="2000" b="0" i="0" dirty="0" smtClean="0">
                        <a:latin typeface="Cambria Math" panose="02040503050406030204" pitchFamily="18" charset="0"/>
                      </a:rPr>
                      <m:t>M</m:t>
                    </m:r>
                  </m:oMath>
                </a14:m>
                <a:r>
                  <a:rPr lang="en-US" altLang="zh-CN" sz="2000" dirty="0"/>
                  <a:t>, several merge </a:t>
                </a:r>
                <a:r>
                  <a:rPr lang="en-US" altLang="zh-CN" sz="2000" b="1" dirty="0">
                    <a:solidFill>
                      <a:srgbClr val="C00000"/>
                    </a:solidFill>
                  </a:rPr>
                  <a:t>passes</a:t>
                </a:r>
                <a:r>
                  <a:rPr lang="en-US" altLang="zh-CN" sz="2000" dirty="0"/>
                  <a:t> (</a:t>
                </a:r>
                <a:r>
                  <a:rPr lang="zh-CN" altLang="en-US" sz="2000" dirty="0"/>
                  <a:t>多趟归并</a:t>
                </a:r>
                <a:r>
                  <a:rPr lang="en-US" altLang="zh-CN" sz="2000" dirty="0"/>
                  <a:t>) are required</a:t>
                </a:r>
              </a:p>
              <a:p>
                <a:pPr lvl="1"/>
                <a:r>
                  <a:rPr lang="en-US" altLang="zh-CN" sz="1800" dirty="0"/>
                  <a:t>In each pass, contiguous groups of M - 1 runs are merged</a:t>
                </a:r>
              </a:p>
              <a:p>
                <a:pPr lvl="1"/>
                <a:r>
                  <a:rPr lang="en-US" altLang="zh-CN" sz="1800" dirty="0"/>
                  <a:t>A pass reduces the number of runs by a factor of M -1</a:t>
                </a:r>
              </a:p>
              <a:p>
                <a:pPr lvl="2"/>
                <a:r>
                  <a:rPr lang="en-US" altLang="zh-CN" sz="1600" dirty="0"/>
                  <a:t>E.g., if M=11, and there are 90 runs, one pass reduces the number of runs to 9</a:t>
                </a:r>
              </a:p>
              <a:p>
                <a:pPr lvl="1"/>
                <a:r>
                  <a:rPr lang="en-US" altLang="zh-CN" sz="1800" dirty="0"/>
                  <a:t>Repeated passes are performed till all runs have been merged into one</a:t>
                </a:r>
              </a:p>
              <a:p>
                <a:endParaRPr lang="zh-CN" altLang="en-US" sz="2000" dirty="0"/>
              </a:p>
            </p:txBody>
          </p:sp>
        </mc:Choice>
        <mc:Fallback xmlns="">
          <p:sp>
            <p:nvSpPr>
              <p:cNvPr id="3" name="内容占位符 2">
                <a:extLst>
                  <a:ext uri="{FF2B5EF4-FFF2-40B4-BE49-F238E27FC236}">
                    <a16:creationId xmlns:a16="http://schemas.microsoft.com/office/drawing/2014/main" id="{EBE9EE8D-11A7-48D3-AC7A-784E0C9EFA03}"/>
                  </a:ext>
                </a:extLst>
              </p:cNvPr>
              <p:cNvSpPr>
                <a:spLocks noGrp="1" noRot="1" noChangeAspect="1" noMove="1" noResize="1" noEditPoints="1" noAdjustHandles="1" noChangeArrowheads="1" noChangeShapeType="1" noTextEdit="1"/>
              </p:cNvSpPr>
              <p:nvPr>
                <p:ph idx="1"/>
              </p:nvPr>
            </p:nvSpPr>
            <p:spPr>
              <a:xfrm>
                <a:off x="251520" y="789553"/>
                <a:ext cx="7848872" cy="3805070"/>
              </a:xfrm>
              <a:blipFill>
                <a:blip r:embed="rId2"/>
                <a:stretch>
                  <a:fillRect l="-699"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455175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8">
            <a:extLst>
              <a:ext uri="{FF2B5EF4-FFF2-40B4-BE49-F238E27FC236}">
                <a16:creationId xmlns:a16="http://schemas.microsoft.com/office/drawing/2014/main" id="{721DF48C-363E-4408-8053-3C04462AC1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8816" y="771550"/>
            <a:ext cx="3422864" cy="3871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a:extLst>
              <a:ext uri="{FF2B5EF4-FFF2-40B4-BE49-F238E27FC236}">
                <a16:creationId xmlns:a16="http://schemas.microsoft.com/office/drawing/2014/main" id="{5169DC4F-6311-4C94-9DE4-A89623F92920}"/>
              </a:ext>
            </a:extLst>
          </p:cNvPr>
          <p:cNvSpPr>
            <a:spLocks noGrp="1"/>
          </p:cNvSpPr>
          <p:nvPr>
            <p:ph type="title"/>
          </p:nvPr>
        </p:nvSpPr>
        <p:spPr/>
        <p:txBody>
          <a:bodyPr/>
          <a:lstStyle/>
          <a:p>
            <a:pPr algn="ctr"/>
            <a:r>
              <a:rPr lang="zh-CN" altLang="en-US" dirty="0"/>
              <a:t>外排序</a:t>
            </a:r>
            <a:r>
              <a:rPr lang="en-US" altLang="zh-CN" dirty="0"/>
              <a:t>-</a:t>
            </a:r>
            <a:r>
              <a:rPr lang="zh-CN" altLang="en-US" dirty="0"/>
              <a:t>归并（续）</a:t>
            </a:r>
          </a:p>
        </p:txBody>
      </p:sp>
      <p:sp>
        <p:nvSpPr>
          <p:cNvPr id="7" name="Text Box 1030">
            <a:extLst>
              <a:ext uri="{FF2B5EF4-FFF2-40B4-BE49-F238E27FC236}">
                <a16:creationId xmlns:a16="http://schemas.microsoft.com/office/drawing/2014/main" id="{07B6DE34-FA12-4339-83D2-3814B80D3E81}"/>
              </a:ext>
            </a:extLst>
          </p:cNvPr>
          <p:cNvSpPr txBox="1">
            <a:spLocks noChangeArrowheads="1"/>
          </p:cNvSpPr>
          <p:nvPr/>
        </p:nvSpPr>
        <p:spPr bwMode="auto">
          <a:xfrm>
            <a:off x="323528" y="1275606"/>
            <a:ext cx="3168352" cy="1708160"/>
          </a:xfrm>
          <a:prstGeom prst="rect">
            <a:avLst/>
          </a:prstGeom>
          <a:noFill/>
          <a:ln w="9525">
            <a:noFill/>
            <a:miter lim="800000"/>
            <a:headEnd/>
            <a:tailEnd/>
          </a:ln>
        </p:spPr>
        <p:txBody>
          <a:bodyPr wrap="square">
            <a:spAutoFit/>
          </a:bodyPr>
          <a:lstStyle/>
          <a:p>
            <a:pPr defTabSz="685800" eaLnBrk="0" hangingPunct="0">
              <a:spcBef>
                <a:spcPct val="0"/>
              </a:spcBef>
              <a:defRPr/>
            </a:pPr>
            <a:r>
              <a:rPr lang="en-US" altLang="zh-CN" sz="1500" dirty="0">
                <a:latin typeface="Arial" panose="020B0604020202020204" pitchFamily="34" charset="0"/>
                <a:ea typeface="宋体" pitchFamily="2" charset="-122"/>
                <a:cs typeface="Arial" panose="020B0604020202020204" pitchFamily="34" charset="0"/>
              </a:rPr>
              <a:t>Sort on the first column!</a:t>
            </a:r>
          </a:p>
          <a:p>
            <a:pPr defTabSz="685800" eaLnBrk="0" hangingPunct="0">
              <a:spcBef>
                <a:spcPct val="0"/>
              </a:spcBef>
              <a:defRPr/>
            </a:pPr>
            <a:endParaRPr lang="en-US" altLang="zh-CN" sz="1500" dirty="0">
              <a:latin typeface="Arial" panose="020B0604020202020204" pitchFamily="34" charset="0"/>
              <a:ea typeface="宋体" pitchFamily="2" charset="-122"/>
              <a:cs typeface="Arial" panose="020B0604020202020204" pitchFamily="34" charset="0"/>
            </a:endParaRPr>
          </a:p>
          <a:p>
            <a:pPr defTabSz="685800" eaLnBrk="0" hangingPunct="0">
              <a:spcBef>
                <a:spcPct val="0"/>
              </a:spcBef>
              <a:defRPr/>
            </a:pPr>
            <a:r>
              <a:rPr lang="en-US" altLang="zh-CN" sz="1500" b="1" dirty="0">
                <a:latin typeface="Arial" panose="020B0604020202020204" pitchFamily="34" charset="0"/>
                <a:ea typeface="宋体" pitchFamily="2" charset="-122"/>
                <a:cs typeface="Arial" panose="020B0604020202020204" pitchFamily="34" charset="0"/>
              </a:rPr>
              <a:t>Assume:</a:t>
            </a:r>
          </a:p>
          <a:p>
            <a:pPr marL="342900" indent="-342900" defTabSz="685800" eaLnBrk="0" hangingPunct="0">
              <a:spcBef>
                <a:spcPct val="0"/>
              </a:spcBef>
              <a:buFontTx/>
              <a:buAutoNum type="arabicParenR"/>
              <a:defRPr/>
            </a:pPr>
            <a:r>
              <a:rPr lang="en-US" altLang="zh-CN" sz="1500" dirty="0">
                <a:latin typeface="Arial" panose="020B0604020202020204" pitchFamily="34" charset="0"/>
                <a:ea typeface="宋体" pitchFamily="2" charset="-122"/>
                <a:cs typeface="Arial" panose="020B0604020202020204" pitchFamily="34" charset="0"/>
              </a:rPr>
              <a:t>Only one tuple fits in a block</a:t>
            </a:r>
          </a:p>
          <a:p>
            <a:pPr marL="342900" indent="-342900" defTabSz="685800" eaLnBrk="0" hangingPunct="0">
              <a:spcBef>
                <a:spcPct val="0"/>
              </a:spcBef>
              <a:buFontTx/>
              <a:buAutoNum type="arabicParenR"/>
              <a:defRPr/>
            </a:pPr>
            <a:r>
              <a:rPr lang="en-US" altLang="zh-CN" sz="1500" dirty="0">
                <a:latin typeface="Arial" panose="020B0604020202020204" pitchFamily="34" charset="0"/>
                <a:ea typeface="宋体" pitchFamily="2" charset="-122"/>
                <a:cs typeface="Arial" panose="020B0604020202020204" pitchFamily="34" charset="0"/>
              </a:rPr>
              <a:t>Memory holds at most 3 blocks, 2 for input and 1 for output</a:t>
            </a:r>
          </a:p>
        </p:txBody>
      </p:sp>
      <p:sp>
        <p:nvSpPr>
          <p:cNvPr id="8" name="Oval 7">
            <a:extLst>
              <a:ext uri="{FF2B5EF4-FFF2-40B4-BE49-F238E27FC236}">
                <a16:creationId xmlns:a16="http://schemas.microsoft.com/office/drawing/2014/main" id="{A66B19E8-A9B9-4B06-B817-646ED6CDFC4D}"/>
              </a:ext>
            </a:extLst>
          </p:cNvPr>
          <p:cNvSpPr>
            <a:spLocks noChangeArrowheads="1"/>
          </p:cNvSpPr>
          <p:nvPr/>
        </p:nvSpPr>
        <p:spPr bwMode="auto">
          <a:xfrm>
            <a:off x="4368817" y="949822"/>
            <a:ext cx="265509" cy="746522"/>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Font typeface="Wingdings" panose="05000000000000000000" pitchFamily="2" charset="2"/>
              <a:buNone/>
            </a:pPr>
            <a:endParaRPr kumimoji="0" lang="zh-CN" altLang="en-US" sz="1350" i="1">
              <a:solidFill>
                <a:srgbClr val="000000"/>
              </a:solidFill>
              <a:latin typeface="Helvetica" panose="020B0604020202020204" pitchFamily="34" charset="0"/>
              <a:ea typeface="宋体" panose="02010600030101010101" pitchFamily="2" charset="-122"/>
            </a:endParaRPr>
          </a:p>
        </p:txBody>
      </p:sp>
      <p:sp>
        <p:nvSpPr>
          <p:cNvPr id="9" name="Oval 8">
            <a:extLst>
              <a:ext uri="{FF2B5EF4-FFF2-40B4-BE49-F238E27FC236}">
                <a16:creationId xmlns:a16="http://schemas.microsoft.com/office/drawing/2014/main" id="{DEF91A67-5DA8-47C3-87B7-CC7B795AEA69}"/>
              </a:ext>
            </a:extLst>
          </p:cNvPr>
          <p:cNvSpPr>
            <a:spLocks noChangeArrowheads="1"/>
          </p:cNvSpPr>
          <p:nvPr/>
        </p:nvSpPr>
        <p:spPr bwMode="auto">
          <a:xfrm>
            <a:off x="4368816" y="1705111"/>
            <a:ext cx="265510" cy="650615"/>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Font typeface="Wingdings" panose="05000000000000000000" pitchFamily="2" charset="2"/>
              <a:buNone/>
            </a:pPr>
            <a:endParaRPr kumimoji="0" lang="zh-CN" altLang="en-US" sz="1350" i="1">
              <a:solidFill>
                <a:srgbClr val="000000"/>
              </a:solidFill>
              <a:latin typeface="Helvetica" panose="020B0604020202020204" pitchFamily="34" charset="0"/>
              <a:ea typeface="宋体" panose="02010600030101010101" pitchFamily="2" charset="-122"/>
            </a:endParaRPr>
          </a:p>
        </p:txBody>
      </p:sp>
      <p:sp>
        <p:nvSpPr>
          <p:cNvPr id="10" name="Oval 9">
            <a:extLst>
              <a:ext uri="{FF2B5EF4-FFF2-40B4-BE49-F238E27FC236}">
                <a16:creationId xmlns:a16="http://schemas.microsoft.com/office/drawing/2014/main" id="{6A0D8043-9A97-4DD2-AF04-22D9018B39AF}"/>
              </a:ext>
            </a:extLst>
          </p:cNvPr>
          <p:cNvSpPr>
            <a:spLocks noChangeArrowheads="1"/>
          </p:cNvSpPr>
          <p:nvPr/>
        </p:nvSpPr>
        <p:spPr bwMode="auto">
          <a:xfrm>
            <a:off x="4368817" y="2413643"/>
            <a:ext cx="265509" cy="746522"/>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Font typeface="Wingdings" panose="05000000000000000000" pitchFamily="2" charset="2"/>
              <a:buNone/>
            </a:pPr>
            <a:endParaRPr kumimoji="0" lang="zh-CN" altLang="en-US" sz="1350" i="1">
              <a:solidFill>
                <a:srgbClr val="000000"/>
              </a:solidFill>
              <a:latin typeface="Helvetica" panose="020B0604020202020204" pitchFamily="34" charset="0"/>
              <a:ea typeface="宋体" panose="02010600030101010101" pitchFamily="2" charset="-122"/>
            </a:endParaRPr>
          </a:p>
        </p:txBody>
      </p:sp>
      <p:sp>
        <p:nvSpPr>
          <p:cNvPr id="11" name="Oval 10">
            <a:extLst>
              <a:ext uri="{FF2B5EF4-FFF2-40B4-BE49-F238E27FC236}">
                <a16:creationId xmlns:a16="http://schemas.microsoft.com/office/drawing/2014/main" id="{D4210928-B796-4C94-9D54-250D570783C0}"/>
              </a:ext>
            </a:extLst>
          </p:cNvPr>
          <p:cNvSpPr>
            <a:spLocks noChangeArrowheads="1"/>
          </p:cNvSpPr>
          <p:nvPr/>
        </p:nvSpPr>
        <p:spPr bwMode="auto">
          <a:xfrm>
            <a:off x="4367626" y="3158015"/>
            <a:ext cx="266700" cy="746522"/>
          </a:xfrm>
          <a:prstGeom prst="ellipse">
            <a:avLst/>
          </a:prstGeom>
          <a:noFill/>
          <a:ln w="952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Font typeface="Wingdings" panose="05000000000000000000" pitchFamily="2" charset="2"/>
              <a:buNone/>
            </a:pPr>
            <a:endParaRPr kumimoji="0" lang="zh-CN" altLang="en-US" sz="1350" i="1">
              <a:solidFill>
                <a:srgbClr val="000000"/>
              </a:solidFill>
              <a:latin typeface="Helvetica" panose="020B0604020202020204" pitchFamily="34" charset="0"/>
              <a:ea typeface="宋体" panose="02010600030101010101" pitchFamily="2" charset="-122"/>
            </a:endParaRPr>
          </a:p>
        </p:txBody>
      </p:sp>
    </p:spTree>
    <p:extLst>
      <p:ext uri="{BB962C8B-B14F-4D97-AF65-F5344CB8AC3E}">
        <p14:creationId xmlns:p14="http://schemas.microsoft.com/office/powerpoint/2010/main" val="300645998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6CC389-F2B3-42EF-BDA4-C901F65BA3FF}"/>
              </a:ext>
            </a:extLst>
          </p:cNvPr>
          <p:cNvSpPr>
            <a:spLocks noGrp="1"/>
          </p:cNvSpPr>
          <p:nvPr>
            <p:ph type="title"/>
          </p:nvPr>
        </p:nvSpPr>
        <p:spPr/>
        <p:txBody>
          <a:bodyPr/>
          <a:lstStyle/>
          <a:p>
            <a:pPr algn="ctr"/>
            <a:r>
              <a:rPr lang="zh-CN" altLang="en-US" dirty="0"/>
              <a:t>外排序</a:t>
            </a:r>
            <a:r>
              <a:rPr lang="en-US" altLang="zh-CN" dirty="0"/>
              <a:t>-</a:t>
            </a:r>
            <a:r>
              <a:rPr lang="zh-CN" altLang="en-US" dirty="0"/>
              <a:t>归并（续）</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F1EC0B4-D904-4D3A-BB60-4579A5CE253F}"/>
                  </a:ext>
                </a:extLst>
              </p:cNvPr>
              <p:cNvSpPr>
                <a:spLocks noGrp="1"/>
              </p:cNvSpPr>
              <p:nvPr>
                <p:ph idx="1"/>
              </p:nvPr>
            </p:nvSpPr>
            <p:spPr>
              <a:xfrm>
                <a:off x="251520" y="699542"/>
                <a:ext cx="8568952" cy="3733062"/>
              </a:xfrm>
            </p:spPr>
            <p:txBody>
              <a:bodyPr/>
              <a:lstStyle/>
              <a:p>
                <a:r>
                  <a:rPr lang="en-US" altLang="zh-CN" sz="1800" b="1" dirty="0"/>
                  <a:t>Cost analysis</a:t>
                </a:r>
              </a:p>
              <a:p>
                <a:pPr lvl="1"/>
                <a:r>
                  <a:rPr lang="en-US" altLang="zh-CN" sz="1600" dirty="0"/>
                  <a:t>Let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𝑟</m:t>
                        </m:r>
                      </m:sub>
                    </m:sSub>
                  </m:oMath>
                </a14:m>
                <a:r>
                  <a:rPr lang="en-US" altLang="zh-CN" sz="1600" dirty="0"/>
                  <a:t> denote the number of blocks containing records of relation </a:t>
                </a:r>
                <a14:m>
                  <m:oMath xmlns:m="http://schemas.openxmlformats.org/officeDocument/2006/math">
                    <m:r>
                      <a:rPr lang="en-US" altLang="zh-CN" sz="1600" b="0" i="1" smtClean="0">
                        <a:latin typeface="Cambria Math" panose="02040503050406030204" pitchFamily="18" charset="0"/>
                      </a:rPr>
                      <m:t>𝑟</m:t>
                    </m:r>
                  </m:oMath>
                </a14:m>
                <a:r>
                  <a:rPr lang="en-US" altLang="zh-CN" sz="1600" dirty="0"/>
                  <a:t>. The initial number of runs</a:t>
                </a:r>
                <a:r>
                  <a:rPr lang="zh-CN" altLang="en-US" sz="1600" dirty="0"/>
                  <a:t>（归并段）</a:t>
                </a:r>
                <a:r>
                  <a:rPr lang="en-US" altLang="zh-CN" sz="1600" dirty="0"/>
                  <a:t>is </a:t>
                </a:r>
                <a14:m>
                  <m:oMath xmlns:m="http://schemas.openxmlformats.org/officeDocument/2006/math">
                    <m:d>
                      <m:dPr>
                        <m:begChr m:val="⌈"/>
                        <m:endChr m:val="⌉"/>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𝑟</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𝑀</m:t>
                        </m:r>
                      </m:e>
                    </m:d>
                  </m:oMath>
                </a14:m>
                <a:r>
                  <a:rPr lang="en-US" altLang="zh-CN" sz="1600" dirty="0"/>
                  <a:t> </a:t>
                </a:r>
              </a:p>
              <a:p>
                <a:pPr lvl="1"/>
                <a:r>
                  <a:rPr lang="en-US" altLang="zh-CN" sz="1600" dirty="0"/>
                  <a:t>The total number of merge passes required: </a:t>
                </a:r>
                <a14:m>
                  <m:oMath xmlns:m="http://schemas.openxmlformats.org/officeDocument/2006/math">
                    <m:d>
                      <m:dPr>
                        <m:begChr m:val="⌈"/>
                        <m:endChr m:val="⌉"/>
                        <m:ctrlPr>
                          <a:rPr lang="en-US" altLang="zh-CN" sz="1600" i="1">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𝑙𝑜𝑔</m:t>
                            </m:r>
                          </m:e>
                          <m:sub>
                            <m:d>
                              <m:dPr>
                                <m:begChr m:val="⌊"/>
                                <m:endChr m:val="⌋"/>
                                <m:ctrlPr>
                                  <a:rPr lang="en-US" altLang="zh-CN" sz="1600" i="1">
                                    <a:latin typeface="Cambria Math" panose="02040503050406030204" pitchFamily="18" charset="0"/>
                                  </a:rPr>
                                </m:ctrlPr>
                              </m:dPr>
                              <m:e>
                                <m:r>
                                  <a:rPr lang="en-US" altLang="zh-CN" sz="1600" i="1">
                                    <a:latin typeface="Cambria Math" panose="02040503050406030204" pitchFamily="18" charset="0"/>
                                  </a:rPr>
                                  <m:t>𝑀</m:t>
                                </m:r>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i="1">
                                        <a:latin typeface="Cambria Math" panose="02040503050406030204" pitchFamily="18" charset="0"/>
                                      </a:rPr>
                                      <m:t>𝑏</m:t>
                                    </m:r>
                                  </m:sub>
                                </m:sSub>
                              </m:e>
                            </m:d>
                            <m:r>
                              <a:rPr lang="en-US" altLang="zh-CN" sz="1600" b="0" i="1" smtClean="0">
                                <a:latin typeface="Cambria Math" panose="02040503050406030204" pitchFamily="18" charset="0"/>
                              </a:rPr>
                              <m:t>−1</m:t>
                            </m:r>
                          </m:sub>
                        </m:sSub>
                        <m:r>
                          <a:rPr lang="en-US" altLang="zh-CN" sz="1600" b="0" i="1" smtClean="0">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i="1">
                                <a:latin typeface="Cambria Math" panose="02040503050406030204" pitchFamily="18" charset="0"/>
                              </a:rPr>
                              <m:t>𝑟</m:t>
                            </m:r>
                          </m:sub>
                        </m:sSub>
                        <m:r>
                          <a:rPr lang="en-US" altLang="zh-CN" sz="1600" i="1">
                            <a:latin typeface="Cambria Math" panose="02040503050406030204" pitchFamily="18" charset="0"/>
                          </a:rPr>
                          <m:t>/</m:t>
                        </m:r>
                        <m:r>
                          <a:rPr lang="en-US" altLang="zh-CN" sz="1600" i="1">
                            <a:latin typeface="Cambria Math" panose="02040503050406030204" pitchFamily="18" charset="0"/>
                          </a:rPr>
                          <m:t>𝑀</m:t>
                        </m:r>
                        <m:r>
                          <a:rPr lang="en-US" altLang="zh-CN" sz="1600" i="1">
                            <a:latin typeface="Cambria Math" panose="02040503050406030204" pitchFamily="18" charset="0"/>
                          </a:rPr>
                          <m:t>)</m:t>
                        </m:r>
                      </m:e>
                    </m:d>
                  </m:oMath>
                </a14:m>
                <a:endParaRPr lang="en-US" altLang="zh-CN" sz="1600" dirty="0"/>
              </a:p>
              <a:p>
                <a:pPr lvl="2"/>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𝑏</m:t>
                        </m:r>
                      </m:e>
                      <m:sub>
                        <m:r>
                          <a:rPr lang="en-US" altLang="zh-CN" sz="1400" i="1">
                            <a:latin typeface="Cambria Math" panose="02040503050406030204" pitchFamily="18" charset="0"/>
                          </a:rPr>
                          <m:t>𝑏</m:t>
                        </m:r>
                      </m:sub>
                    </m:sSub>
                  </m:oMath>
                </a14:m>
                <a:r>
                  <a:rPr lang="en-US" altLang="zh-CN" sz="1400" dirty="0"/>
                  <a:t>: buffer size for each run</a:t>
                </a:r>
              </a:p>
              <a:p>
                <a:pPr lvl="1"/>
                <a:r>
                  <a:rPr lang="en-US" altLang="zh-CN" sz="1600" dirty="0"/>
                  <a:t>Disk accesses for initial run creation as well as in each pass is </a:t>
                </a:r>
                <a14:m>
                  <m:oMath xmlns:m="http://schemas.openxmlformats.org/officeDocument/2006/math">
                    <m:r>
                      <a:rPr lang="en-US" altLang="zh-CN" sz="1600" b="0" i="1" smtClean="0">
                        <a:latin typeface="Cambria Math" panose="02040503050406030204" pitchFamily="18" charset="0"/>
                      </a:rPr>
                      <m:t>2</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𝑟</m:t>
                        </m:r>
                      </m:sub>
                    </m:sSub>
                  </m:oMath>
                </a14:m>
                <a:r>
                  <a:rPr lang="en-US" altLang="zh-CN" sz="1600" dirty="0"/>
                  <a:t> (read + write)</a:t>
                </a:r>
              </a:p>
              <a:p>
                <a:pPr lvl="2"/>
                <a:r>
                  <a:rPr lang="en-US" altLang="zh-CN" sz="1400" dirty="0"/>
                  <a:t>for final pass, we don’t count write cost. We ignore final write cost for all operations since the output of an operation may be sent to the parent operation without being written to disk</a:t>
                </a:r>
              </a:p>
              <a:p>
                <a:pPr lvl="1"/>
                <a:r>
                  <a:rPr lang="en-US" altLang="zh-CN" sz="1600" dirty="0"/>
                  <a:t>Each pass (except the final pass) reads every block once and writes out once. Thus the total number of disk accesses for external sorting: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𝑟</m:t>
                        </m:r>
                      </m:sub>
                    </m:sSub>
                    <m:r>
                      <a:rPr lang="en-US" altLang="zh-CN" sz="1600" b="0" i="1" smtClean="0">
                        <a:latin typeface="Cambria Math" panose="02040503050406030204" pitchFamily="18" charset="0"/>
                      </a:rPr>
                      <m:t>(2</m:t>
                    </m:r>
                    <m:d>
                      <m:dPr>
                        <m:begChr m:val="⌈"/>
                        <m:endChr m:val="⌉"/>
                        <m:ctrlPr>
                          <a:rPr lang="en-US" altLang="zh-CN" sz="1600" b="0" i="1" smtClean="0">
                            <a:latin typeface="Cambria Math" panose="02040503050406030204" pitchFamily="18" charset="0"/>
                          </a:rPr>
                        </m:ctrlPr>
                      </m:dPr>
                      <m:e>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𝑙𝑜𝑔</m:t>
                            </m:r>
                          </m:e>
                          <m:sub>
                            <m:d>
                              <m:dPr>
                                <m:begChr m:val="⌊"/>
                                <m:endChr m:val="⌋"/>
                                <m:ctrlPr>
                                  <a:rPr lang="en-US" altLang="zh-CN" sz="1600" i="1">
                                    <a:latin typeface="Cambria Math" panose="02040503050406030204" pitchFamily="18" charset="0"/>
                                  </a:rPr>
                                </m:ctrlPr>
                              </m:dPr>
                              <m:e>
                                <m:r>
                                  <a:rPr lang="en-US" altLang="zh-CN" sz="1600" i="1">
                                    <a:latin typeface="Cambria Math" panose="02040503050406030204" pitchFamily="18" charset="0"/>
                                  </a:rPr>
                                  <m:t>𝑀</m:t>
                                </m:r>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i="1">
                                        <a:latin typeface="Cambria Math" panose="02040503050406030204" pitchFamily="18" charset="0"/>
                                      </a:rPr>
                                      <m:t>𝑏</m:t>
                                    </m:r>
                                  </m:sub>
                                </m:sSub>
                              </m:e>
                            </m:d>
                            <m:r>
                              <a:rPr lang="en-US" altLang="zh-CN" sz="1600" b="0" i="1" smtClean="0">
                                <a:latin typeface="Cambria Math" panose="02040503050406030204" pitchFamily="18" charset="0"/>
                              </a:rPr>
                              <m:t>−1</m:t>
                            </m:r>
                          </m:sub>
                        </m:sSub>
                        <m:d>
                          <m:dPr>
                            <m:ctrlPr>
                              <a:rPr lang="en-US" altLang="zh-CN" sz="1600" i="1">
                                <a:latin typeface="Cambria Math" panose="02040503050406030204" pitchFamily="18" charset="0"/>
                              </a:rPr>
                            </m:ctrlPr>
                          </m:dPr>
                          <m:e>
                            <m:f>
                              <m:fPr>
                                <m:ctrlPr>
                                  <a:rPr lang="en-US" altLang="zh-CN" sz="1600" i="1">
                                    <a:latin typeface="Cambria Math" panose="02040503050406030204" pitchFamily="18" charset="0"/>
                                  </a:rPr>
                                </m:ctrlPr>
                              </m:fPr>
                              <m:num>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i="1">
                                        <a:latin typeface="Cambria Math" panose="02040503050406030204" pitchFamily="18" charset="0"/>
                                      </a:rPr>
                                      <m:t>𝑟</m:t>
                                    </m:r>
                                  </m:sub>
                                </m:sSub>
                              </m:num>
                              <m:den>
                                <m:r>
                                  <a:rPr lang="en-US" altLang="zh-CN" sz="1600" i="1">
                                    <a:latin typeface="Cambria Math" panose="02040503050406030204" pitchFamily="18" charset="0"/>
                                  </a:rPr>
                                  <m:t>𝑀</m:t>
                                </m:r>
                              </m:den>
                            </m:f>
                          </m:e>
                        </m:d>
                      </m:e>
                    </m:d>
                    <m:r>
                      <a:rPr lang="en-US" altLang="zh-CN" sz="1600" b="0" i="1" smtClean="0">
                        <a:latin typeface="Cambria Math" panose="02040503050406030204" pitchFamily="18" charset="0"/>
                      </a:rPr>
                      <m:t>+1)</m:t>
                    </m:r>
                  </m:oMath>
                </a14:m>
                <a:endParaRPr lang="en-US" altLang="zh-CN" sz="1600" dirty="0"/>
              </a:p>
              <a:p>
                <a:pPr lvl="1"/>
                <a:r>
                  <a:rPr lang="en-US" altLang="zh-CN" sz="1600" dirty="0"/>
                  <a:t>E.g., 12*(2*log</a:t>
                </a:r>
                <a:r>
                  <a:rPr lang="en-US" altLang="zh-CN" sz="1600" baseline="-25000" dirty="0"/>
                  <a:t>2</a:t>
                </a:r>
                <a:r>
                  <a:rPr lang="en-US" altLang="zh-CN" sz="1600" dirty="0"/>
                  <a:t>(12 / 3)+1) =60, where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i="1">
                            <a:latin typeface="Cambria Math" panose="02040503050406030204" pitchFamily="18" charset="0"/>
                          </a:rPr>
                          <m:t>𝑏</m:t>
                        </m:r>
                      </m:sub>
                    </m:sSub>
                    <m:r>
                      <a:rPr lang="en-US" altLang="zh-CN" sz="1600" b="0" i="1" smtClean="0">
                        <a:latin typeface="Cambria Math" panose="02040503050406030204" pitchFamily="18" charset="0"/>
                      </a:rPr>
                      <m:t>=1</m:t>
                    </m:r>
                  </m:oMath>
                </a14:m>
                <a:endParaRPr lang="en-US" altLang="zh-CN" sz="1600" dirty="0"/>
              </a:p>
              <a:p>
                <a:endParaRPr lang="zh-CN" altLang="en-US" sz="1800" dirty="0"/>
              </a:p>
            </p:txBody>
          </p:sp>
        </mc:Choice>
        <mc:Fallback xmlns="">
          <p:sp>
            <p:nvSpPr>
              <p:cNvPr id="3" name="内容占位符 2">
                <a:extLst>
                  <a:ext uri="{FF2B5EF4-FFF2-40B4-BE49-F238E27FC236}">
                    <a16:creationId xmlns:a16="http://schemas.microsoft.com/office/drawing/2014/main" id="{3F1EC0B4-D904-4D3A-BB60-4579A5CE253F}"/>
                  </a:ext>
                </a:extLst>
              </p:cNvPr>
              <p:cNvSpPr>
                <a:spLocks noGrp="1" noRot="1" noChangeAspect="1" noMove="1" noResize="1" noEditPoints="1" noAdjustHandles="1" noChangeArrowheads="1" noChangeShapeType="1" noTextEdit="1"/>
              </p:cNvSpPr>
              <p:nvPr>
                <p:ph idx="1"/>
              </p:nvPr>
            </p:nvSpPr>
            <p:spPr>
              <a:xfrm>
                <a:off x="251520" y="699542"/>
                <a:ext cx="8568952" cy="3733062"/>
              </a:xfrm>
              <a:blipFill>
                <a:blip r:embed="rId3"/>
                <a:stretch>
                  <a:fillRect l="-427" t="-980" r="-78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7601515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5BC7DA-40CA-470D-AE86-08BC7A4BA9B3}"/>
              </a:ext>
            </a:extLst>
          </p:cNvPr>
          <p:cNvSpPr>
            <a:spLocks noGrp="1"/>
          </p:cNvSpPr>
          <p:nvPr>
            <p:ph type="title"/>
          </p:nvPr>
        </p:nvSpPr>
        <p:spPr/>
        <p:txBody>
          <a:bodyPr/>
          <a:lstStyle/>
          <a:p>
            <a:pPr algn="ctr"/>
            <a:r>
              <a:rPr lang="zh-CN" altLang="en-US" dirty="0"/>
              <a:t>外排序</a:t>
            </a:r>
            <a:r>
              <a:rPr lang="en-US" altLang="zh-CN" dirty="0"/>
              <a:t>-</a:t>
            </a:r>
            <a:r>
              <a:rPr lang="zh-CN" altLang="en-US" dirty="0"/>
              <a:t>归并（续）</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5468CD1-EE77-4B60-B8B8-AF809C339D94}"/>
                  </a:ext>
                </a:extLst>
              </p:cNvPr>
              <p:cNvSpPr>
                <a:spLocks noGrp="1"/>
              </p:cNvSpPr>
              <p:nvPr>
                <p:ph idx="1"/>
              </p:nvPr>
            </p:nvSpPr>
            <p:spPr>
              <a:xfrm>
                <a:off x="251520" y="789553"/>
                <a:ext cx="8280920" cy="3805070"/>
              </a:xfrm>
            </p:spPr>
            <p:txBody>
              <a:bodyPr/>
              <a:lstStyle/>
              <a:p>
                <a:r>
                  <a:rPr lang="en-US" altLang="zh-CN" sz="1800" b="1" dirty="0"/>
                  <a:t>Cost of seeks</a:t>
                </a:r>
              </a:p>
              <a:p>
                <a:pPr lvl="1"/>
                <a:r>
                  <a:rPr lang="en-US" altLang="zh-CN" sz="1600" dirty="0"/>
                  <a:t>During run generation: one seek to read each run and one seek to write each run</a:t>
                </a:r>
              </a:p>
              <a:p>
                <a:pPr lvl="2"/>
                <a14:m>
                  <m:oMath xmlns:m="http://schemas.openxmlformats.org/officeDocument/2006/math">
                    <m:r>
                      <a:rPr lang="en-US" altLang="zh-CN" sz="1400" b="0" i="1" smtClean="0">
                        <a:latin typeface="Cambria Math" panose="02040503050406030204" pitchFamily="18" charset="0"/>
                      </a:rPr>
                      <m:t>2</m:t>
                    </m:r>
                    <m:d>
                      <m:dPr>
                        <m:begChr m:val="⌈"/>
                        <m:endChr m:val="⌉"/>
                        <m:ctrlPr>
                          <a:rPr lang="en-US" altLang="zh-CN" sz="1400" b="0" i="1" smtClean="0">
                            <a:latin typeface="Cambria Math" panose="02040503050406030204" pitchFamily="18" charset="0"/>
                          </a:rPr>
                        </m:ctrlPr>
                      </m:dPr>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𝑏</m:t>
                            </m:r>
                          </m:e>
                          <m:sub>
                            <m:r>
                              <a:rPr lang="en-US" altLang="zh-CN" sz="1400" b="0" i="1" smtClean="0">
                                <a:latin typeface="Cambria Math" panose="02040503050406030204" pitchFamily="18" charset="0"/>
                              </a:rPr>
                              <m:t>𝑟</m:t>
                            </m:r>
                          </m:sub>
                        </m:sSub>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𝑀</m:t>
                        </m:r>
                      </m:e>
                    </m:d>
                  </m:oMath>
                </a14:m>
                <a:endParaRPr lang="en-US" altLang="zh-CN" sz="1400" dirty="0"/>
              </a:p>
              <a:p>
                <a:pPr lvl="1"/>
                <a:r>
                  <a:rPr lang="en-US" altLang="zh-CN" sz="1600" dirty="0"/>
                  <a:t>During the merge phase</a:t>
                </a:r>
              </a:p>
              <a:p>
                <a:pPr lvl="2"/>
                <a:r>
                  <a:rPr lang="en-US" altLang="zh-CN" sz="1400" dirty="0"/>
                  <a:t>Buffer size for each run: </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𝑏</m:t>
                        </m:r>
                      </m:e>
                      <m:sub>
                        <m:r>
                          <a:rPr lang="en-US" altLang="zh-CN" sz="1400" b="0" i="1" smtClean="0">
                            <a:latin typeface="Cambria Math" panose="02040503050406030204" pitchFamily="18" charset="0"/>
                          </a:rPr>
                          <m:t>𝑏</m:t>
                        </m:r>
                      </m:sub>
                    </m:sSub>
                  </m:oMath>
                </a14:m>
                <a:r>
                  <a:rPr lang="en-US" altLang="zh-CN" sz="1400" dirty="0"/>
                  <a:t> (read/write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𝑏</m:t>
                        </m:r>
                      </m:e>
                      <m:sub>
                        <m:r>
                          <a:rPr lang="en-US" altLang="zh-CN" sz="1400" i="1">
                            <a:latin typeface="Cambria Math" panose="02040503050406030204" pitchFamily="18" charset="0"/>
                          </a:rPr>
                          <m:t>𝑏</m:t>
                        </m:r>
                      </m:sub>
                    </m:sSub>
                  </m:oMath>
                </a14:m>
                <a:r>
                  <a:rPr lang="en-US" altLang="zh-CN" sz="1400" dirty="0"/>
                  <a:t> blocks for each run at a time)</a:t>
                </a:r>
              </a:p>
              <a:p>
                <a:pPr lvl="2"/>
                <a:r>
                  <a:rPr lang="en-US" altLang="zh-CN" sz="1400" dirty="0"/>
                  <a:t>Need </a:t>
                </a:r>
                <a14:m>
                  <m:oMath xmlns:m="http://schemas.openxmlformats.org/officeDocument/2006/math">
                    <m:r>
                      <a:rPr lang="en-US" altLang="zh-CN" sz="1400" i="1">
                        <a:latin typeface="Cambria Math" panose="02040503050406030204" pitchFamily="18" charset="0"/>
                      </a:rPr>
                      <m:t>2</m:t>
                    </m:r>
                    <m:d>
                      <m:dPr>
                        <m:begChr m:val="⌈"/>
                        <m:endChr m:val="⌉"/>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𝑏</m:t>
                            </m:r>
                          </m:e>
                          <m:sub>
                            <m:r>
                              <a:rPr lang="en-US" altLang="zh-CN" sz="1400" i="1">
                                <a:latin typeface="Cambria Math" panose="02040503050406030204" pitchFamily="18" charset="0"/>
                              </a:rPr>
                              <m:t>𝑟</m:t>
                            </m:r>
                          </m:sub>
                        </m:sSub>
                        <m:r>
                          <a:rPr lang="en-US" altLang="zh-CN" sz="1400" i="1">
                            <a:latin typeface="Cambria Math" panose="02040503050406030204" pitchFamily="18" charset="0"/>
                          </a:rPr>
                          <m:t>/</m:t>
                        </m:r>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𝑏</m:t>
                            </m:r>
                          </m:e>
                          <m:sub>
                            <m:r>
                              <a:rPr lang="en-US" altLang="zh-CN" sz="1400" b="0" i="1" smtClean="0">
                                <a:latin typeface="Cambria Math" panose="02040503050406030204" pitchFamily="18" charset="0"/>
                              </a:rPr>
                              <m:t>𝑏</m:t>
                            </m:r>
                          </m:sub>
                        </m:sSub>
                      </m:e>
                    </m:d>
                  </m:oMath>
                </a14:m>
                <a:r>
                  <a:rPr lang="en-US" altLang="zh-CN" sz="1400" dirty="0"/>
                  <a:t> seeks for each merge pass </a:t>
                </a:r>
              </a:p>
              <a:p>
                <a:pPr lvl="3"/>
                <a:r>
                  <a:rPr lang="en-US" altLang="zh-CN" sz="1200" dirty="0"/>
                  <a:t>except the final one which does not require a write</a:t>
                </a:r>
              </a:p>
              <a:p>
                <a:pPr lvl="2"/>
                <a:r>
                  <a:rPr lang="en-US" altLang="zh-CN" sz="1400" dirty="0"/>
                  <a:t>Total number of seeks:</a:t>
                </a:r>
                <a:br>
                  <a:rPr lang="en-US" altLang="zh-CN" sz="1400" dirty="0"/>
                </a:br>
                <a:r>
                  <a:rPr lang="en-US" altLang="zh-CN" sz="1400" dirty="0"/>
                  <a:t>   </a:t>
                </a:r>
                <a14:m>
                  <m:oMath xmlns:m="http://schemas.openxmlformats.org/officeDocument/2006/math">
                    <m:r>
                      <a:rPr lang="en-US" altLang="zh-CN" sz="1400" i="1">
                        <a:latin typeface="Cambria Math" panose="02040503050406030204" pitchFamily="18" charset="0"/>
                      </a:rPr>
                      <m:t>2</m:t>
                    </m:r>
                    <m:d>
                      <m:dPr>
                        <m:begChr m:val="⌈"/>
                        <m:endChr m:val="⌉"/>
                        <m:ctrlPr>
                          <a:rPr lang="en-US" altLang="zh-CN" sz="1400" i="1">
                            <a:latin typeface="Cambria Math" panose="02040503050406030204" pitchFamily="18" charset="0"/>
                          </a:rPr>
                        </m:ctrlPr>
                      </m:dPr>
                      <m:e>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𝑏</m:t>
                            </m:r>
                          </m:e>
                          <m:sub>
                            <m:r>
                              <a:rPr lang="en-US" altLang="zh-CN" sz="1400" i="1">
                                <a:latin typeface="Cambria Math" panose="02040503050406030204" pitchFamily="18" charset="0"/>
                              </a:rPr>
                              <m:t>𝑟</m:t>
                            </m:r>
                          </m:sub>
                        </m:sSub>
                        <m:r>
                          <a:rPr lang="en-US" altLang="zh-CN" sz="1400" i="1">
                            <a:latin typeface="Cambria Math" panose="02040503050406030204" pitchFamily="18" charset="0"/>
                          </a:rPr>
                          <m:t>/</m:t>
                        </m:r>
                        <m:r>
                          <a:rPr lang="en-US" altLang="zh-CN" sz="1400" i="1">
                            <a:latin typeface="Cambria Math" panose="02040503050406030204" pitchFamily="18" charset="0"/>
                          </a:rPr>
                          <m:t>𝑀</m:t>
                        </m:r>
                      </m:e>
                    </m:d>
                    <m:r>
                      <a:rPr lang="en-US" altLang="zh-CN" sz="1400" b="0" i="1" smtClean="0">
                        <a:latin typeface="Cambria Math" panose="02040503050406030204" pitchFamily="18" charset="0"/>
                      </a:rPr>
                      <m:t>+</m:t>
                    </m:r>
                    <m:d>
                      <m:dPr>
                        <m:begChr m:val="⌈"/>
                        <m:endChr m:val="⌉"/>
                        <m:ctrlPr>
                          <a:rPr lang="en-US" altLang="zh-CN" sz="1400" b="0" i="1" smtClean="0">
                            <a:latin typeface="Cambria Math" panose="02040503050406030204" pitchFamily="18" charset="0"/>
                          </a:rPr>
                        </m:ctrlPr>
                      </m:dPr>
                      <m:e>
                        <m:f>
                          <m:fPr>
                            <m:ctrlPr>
                              <a:rPr lang="en-US" altLang="zh-CN" sz="1400" i="1">
                                <a:latin typeface="Cambria Math" panose="02040503050406030204" pitchFamily="18" charset="0"/>
                              </a:rPr>
                            </m:ctrlPr>
                          </m:fPr>
                          <m:num>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𝑏</m:t>
                                </m:r>
                              </m:e>
                              <m:sub>
                                <m:r>
                                  <a:rPr lang="en-US" altLang="zh-CN" sz="1400" i="1">
                                    <a:latin typeface="Cambria Math" panose="02040503050406030204" pitchFamily="18" charset="0"/>
                                  </a:rPr>
                                  <m:t>𝑟</m:t>
                                </m:r>
                              </m:sub>
                            </m:sSub>
                          </m:num>
                          <m:den>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𝑏</m:t>
                                </m:r>
                              </m:e>
                              <m:sub>
                                <m:r>
                                  <a:rPr lang="en-US" altLang="zh-CN" sz="1400" i="1">
                                    <a:latin typeface="Cambria Math" panose="02040503050406030204" pitchFamily="18" charset="0"/>
                                  </a:rPr>
                                  <m:t>𝑏</m:t>
                                </m:r>
                              </m:sub>
                            </m:sSub>
                          </m:den>
                        </m:f>
                      </m:e>
                    </m:d>
                    <m:r>
                      <a:rPr lang="en-US" altLang="zh-CN" sz="1400" b="0" i="1" smtClean="0">
                        <a:latin typeface="Cambria Math" panose="02040503050406030204" pitchFamily="18" charset="0"/>
                      </a:rPr>
                      <m:t>(2</m:t>
                    </m:r>
                    <m:d>
                      <m:dPr>
                        <m:begChr m:val="⌈"/>
                        <m:endChr m:val="⌉"/>
                        <m:ctrlPr>
                          <a:rPr lang="en-US" altLang="zh-CN" sz="1400" b="0" i="1" smtClean="0">
                            <a:latin typeface="Cambria Math" panose="02040503050406030204" pitchFamily="18" charset="0"/>
                          </a:rPr>
                        </m:ctrlPr>
                      </m:dPr>
                      <m:e>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𝑙𝑜𝑔</m:t>
                            </m:r>
                          </m:e>
                          <m:sub>
                            <m:d>
                              <m:dPr>
                                <m:begChr m:val="⌊"/>
                                <m:endChr m:val="⌋"/>
                                <m:ctrlPr>
                                  <a:rPr lang="en-US" altLang="zh-CN" sz="1400" b="0" i="1" smtClean="0">
                                    <a:latin typeface="Cambria Math" panose="02040503050406030204" pitchFamily="18" charset="0"/>
                                  </a:rPr>
                                </m:ctrlPr>
                              </m:dPr>
                              <m:e>
                                <m:r>
                                  <a:rPr lang="en-US" altLang="zh-CN" sz="1400" b="0" i="1" smtClean="0">
                                    <a:latin typeface="Cambria Math" panose="02040503050406030204" pitchFamily="18" charset="0"/>
                                  </a:rPr>
                                  <m:t>𝑀</m:t>
                                </m:r>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𝑏</m:t>
                                    </m:r>
                                  </m:e>
                                  <m:sub>
                                    <m:r>
                                      <a:rPr lang="en-US" altLang="zh-CN" sz="1400" b="0" i="1" smtClean="0">
                                        <a:latin typeface="Cambria Math" panose="02040503050406030204" pitchFamily="18" charset="0"/>
                                      </a:rPr>
                                      <m:t>𝑏</m:t>
                                    </m:r>
                                  </m:sub>
                                </m:sSub>
                              </m:e>
                            </m:d>
                            <m:r>
                              <a:rPr lang="en-US" altLang="zh-CN" sz="1400" b="0" i="1" smtClean="0">
                                <a:latin typeface="Cambria Math" panose="02040503050406030204" pitchFamily="18" charset="0"/>
                              </a:rPr>
                              <m:t>−1</m:t>
                            </m:r>
                          </m:sub>
                        </m:sSub>
                        <m:d>
                          <m:dPr>
                            <m:ctrlPr>
                              <a:rPr lang="en-US" altLang="zh-CN" sz="1400" b="0" i="1" smtClean="0">
                                <a:latin typeface="Cambria Math" panose="02040503050406030204" pitchFamily="18" charset="0"/>
                              </a:rPr>
                            </m:ctrlPr>
                          </m:dPr>
                          <m:e>
                            <m:f>
                              <m:fPr>
                                <m:ctrlPr>
                                  <a:rPr lang="en-US" altLang="zh-CN" sz="1400" b="0" i="1" smtClean="0">
                                    <a:latin typeface="Cambria Math" panose="02040503050406030204" pitchFamily="18" charset="0"/>
                                  </a:rPr>
                                </m:ctrlPr>
                              </m:fPr>
                              <m:num>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𝑏</m:t>
                                    </m:r>
                                  </m:e>
                                  <m:sub>
                                    <m:r>
                                      <a:rPr lang="en-US" altLang="zh-CN" sz="1400" b="0" i="1" smtClean="0">
                                        <a:latin typeface="Cambria Math" panose="02040503050406030204" pitchFamily="18" charset="0"/>
                                      </a:rPr>
                                      <m:t>𝑟</m:t>
                                    </m:r>
                                  </m:sub>
                                </m:sSub>
                              </m:num>
                              <m:den>
                                <m:r>
                                  <a:rPr lang="en-US" altLang="zh-CN" sz="1400" b="0" i="1" smtClean="0">
                                    <a:latin typeface="Cambria Math" panose="02040503050406030204" pitchFamily="18" charset="0"/>
                                  </a:rPr>
                                  <m:t>𝑀</m:t>
                                </m:r>
                              </m:den>
                            </m:f>
                          </m:e>
                        </m:d>
                      </m:e>
                    </m:d>
                    <m:r>
                      <a:rPr lang="en-US" altLang="zh-CN" sz="1400" b="0" i="1" smtClean="0">
                        <a:latin typeface="Cambria Math" panose="02040503050406030204" pitchFamily="18" charset="0"/>
                      </a:rPr>
                      <m:t>−1)</m:t>
                    </m:r>
                  </m:oMath>
                </a14:m>
                <a:endParaRPr lang="en-US" altLang="zh-CN" sz="1400" dirty="0"/>
              </a:p>
              <a:p>
                <a:pPr lvl="2"/>
                <a:r>
                  <a:rPr lang="en-US" altLang="zh-CN" sz="1400" dirty="0"/>
                  <a:t>Assume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𝑏</m:t>
                        </m:r>
                      </m:e>
                      <m:sub>
                        <m:r>
                          <a:rPr lang="en-US" altLang="zh-CN" sz="1400" i="1">
                            <a:latin typeface="Cambria Math" panose="02040503050406030204" pitchFamily="18" charset="0"/>
                          </a:rPr>
                          <m:t>𝑏</m:t>
                        </m:r>
                      </m:sub>
                    </m:sSub>
                    <m:r>
                      <a:rPr lang="en-US" altLang="zh-CN" sz="1400" b="0" i="1" smtClean="0">
                        <a:latin typeface="Cambria Math" panose="02040503050406030204" pitchFamily="18" charset="0"/>
                      </a:rPr>
                      <m:t>=1</m:t>
                    </m:r>
                  </m:oMath>
                </a14:m>
                <a:r>
                  <a:rPr lang="en-US" altLang="zh-CN" sz="1400" dirty="0"/>
                  <a:t>, applying the equation to the example, we get: 2*(12/3)+(12/1)(2* log</a:t>
                </a:r>
                <a:r>
                  <a:rPr lang="en-US" altLang="zh-CN" sz="1400" baseline="-25000" dirty="0"/>
                  <a:t>2</a:t>
                </a:r>
                <a:r>
                  <a:rPr lang="en-US" altLang="zh-CN" sz="1400" dirty="0"/>
                  <a:t> (12 / 3)-1) =8+12*3 = 44 seeks</a:t>
                </a:r>
                <a:endParaRPr lang="zh-CN" altLang="en-US" sz="1400" dirty="0"/>
              </a:p>
            </p:txBody>
          </p:sp>
        </mc:Choice>
        <mc:Fallback xmlns="">
          <p:sp>
            <p:nvSpPr>
              <p:cNvPr id="3" name="内容占位符 2">
                <a:extLst>
                  <a:ext uri="{FF2B5EF4-FFF2-40B4-BE49-F238E27FC236}">
                    <a16:creationId xmlns:a16="http://schemas.microsoft.com/office/drawing/2014/main" id="{25468CD1-EE77-4B60-B8B8-AF809C339D94}"/>
                  </a:ext>
                </a:extLst>
              </p:cNvPr>
              <p:cNvSpPr>
                <a:spLocks noGrp="1" noRot="1" noChangeAspect="1" noMove="1" noResize="1" noEditPoints="1" noAdjustHandles="1" noChangeArrowheads="1" noChangeShapeType="1" noTextEdit="1"/>
              </p:cNvSpPr>
              <p:nvPr>
                <p:ph idx="1"/>
              </p:nvPr>
            </p:nvSpPr>
            <p:spPr>
              <a:xfrm>
                <a:off x="251520" y="789553"/>
                <a:ext cx="8280920" cy="3805070"/>
              </a:xfrm>
              <a:blipFill>
                <a:blip r:embed="rId3"/>
                <a:stretch>
                  <a:fillRect l="-442"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76302257"/>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87524" y="843558"/>
            <a:ext cx="8568952" cy="3805070"/>
          </a:xfrm>
        </p:spPr>
        <p:txBody>
          <a:bodyPr/>
          <a:lstStyle/>
          <a:p>
            <a:pPr>
              <a:spcBef>
                <a:spcPts val="600"/>
              </a:spcBef>
            </a:pPr>
            <a:r>
              <a:rPr lang="en-US" altLang="zh-CN" dirty="0"/>
              <a:t>Overview </a:t>
            </a:r>
          </a:p>
          <a:p>
            <a:pPr>
              <a:spcBef>
                <a:spcPts val="600"/>
              </a:spcBef>
            </a:pPr>
            <a:r>
              <a:rPr lang="en-US" altLang="zh-CN" dirty="0"/>
              <a:t>Measures of Query Cost</a:t>
            </a:r>
          </a:p>
          <a:p>
            <a:pPr>
              <a:spcBef>
                <a:spcPts val="600"/>
              </a:spcBef>
            </a:pPr>
            <a:r>
              <a:rPr lang="en-US" altLang="zh-CN" dirty="0"/>
              <a:t>Selection Operation </a:t>
            </a:r>
          </a:p>
          <a:p>
            <a:pPr>
              <a:spcBef>
                <a:spcPts val="600"/>
              </a:spcBef>
            </a:pPr>
            <a:r>
              <a:rPr lang="en-US" altLang="zh-CN" dirty="0"/>
              <a:t>Sorting </a:t>
            </a:r>
          </a:p>
          <a:p>
            <a:pPr>
              <a:spcBef>
                <a:spcPts val="600"/>
              </a:spcBef>
            </a:pPr>
            <a:r>
              <a:rPr lang="en-US" altLang="zh-CN" b="1" dirty="0">
                <a:solidFill>
                  <a:srgbClr val="C00000"/>
                </a:solidFill>
              </a:rPr>
              <a:t>Join Operation </a:t>
            </a:r>
          </a:p>
          <a:p>
            <a:pPr>
              <a:spcBef>
                <a:spcPts val="600"/>
              </a:spcBef>
            </a:pPr>
            <a:r>
              <a:rPr lang="en-US" altLang="zh-CN" dirty="0"/>
              <a:t>Other Operations</a:t>
            </a:r>
          </a:p>
          <a:p>
            <a:pPr>
              <a:spcBef>
                <a:spcPts val="600"/>
              </a:spcBef>
            </a:pPr>
            <a:r>
              <a:rPr lang="en-US" altLang="zh-CN" dirty="0"/>
              <a:t>Evaluation of Expressions</a:t>
            </a:r>
          </a:p>
        </p:txBody>
      </p:sp>
    </p:spTree>
    <p:extLst>
      <p:ext uri="{BB962C8B-B14F-4D97-AF65-F5344CB8AC3E}">
        <p14:creationId xmlns:p14="http://schemas.microsoft.com/office/powerpoint/2010/main" val="380763086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260791-F818-4988-BEC5-360A6A206F4E}"/>
              </a:ext>
            </a:extLst>
          </p:cNvPr>
          <p:cNvSpPr>
            <a:spLocks noGrp="1"/>
          </p:cNvSpPr>
          <p:nvPr>
            <p:ph type="title"/>
          </p:nvPr>
        </p:nvSpPr>
        <p:spPr/>
        <p:txBody>
          <a:bodyPr/>
          <a:lstStyle/>
          <a:p>
            <a:pPr algn="ctr"/>
            <a:r>
              <a:rPr lang="en-US" altLang="zh-CN" dirty="0"/>
              <a:t>Join Operation/</a:t>
            </a:r>
            <a:r>
              <a:rPr lang="zh-CN" altLang="en-US" dirty="0"/>
              <a:t>连接运算</a:t>
            </a:r>
          </a:p>
        </p:txBody>
      </p:sp>
      <p:sp>
        <p:nvSpPr>
          <p:cNvPr id="3" name="内容占位符 2">
            <a:extLst>
              <a:ext uri="{FF2B5EF4-FFF2-40B4-BE49-F238E27FC236}">
                <a16:creationId xmlns:a16="http://schemas.microsoft.com/office/drawing/2014/main" id="{FA8210ED-3265-49CD-A483-1A33C4B4F3B3}"/>
              </a:ext>
            </a:extLst>
          </p:cNvPr>
          <p:cNvSpPr>
            <a:spLocks noGrp="1"/>
          </p:cNvSpPr>
          <p:nvPr>
            <p:ph idx="1"/>
          </p:nvPr>
        </p:nvSpPr>
        <p:spPr>
          <a:xfrm>
            <a:off x="179512" y="843557"/>
            <a:ext cx="8964488" cy="3630727"/>
          </a:xfrm>
        </p:spPr>
        <p:txBody>
          <a:bodyPr/>
          <a:lstStyle/>
          <a:p>
            <a:r>
              <a:rPr lang="en-US" altLang="zh-CN" sz="1800" b="1" dirty="0"/>
              <a:t>Algorithms to implement joins</a:t>
            </a:r>
          </a:p>
          <a:p>
            <a:pPr lvl="1"/>
            <a:r>
              <a:rPr lang="en-US" altLang="zh-CN" sz="1600" dirty="0"/>
              <a:t>Nested-loop join (</a:t>
            </a:r>
            <a:r>
              <a:rPr lang="zh-CN" altLang="en-US" sz="1600" dirty="0"/>
              <a:t>嵌套循环连接</a:t>
            </a:r>
            <a:r>
              <a:rPr lang="en-US" altLang="zh-CN" sz="1600" dirty="0"/>
              <a:t>)</a:t>
            </a:r>
          </a:p>
          <a:p>
            <a:pPr lvl="1"/>
            <a:r>
              <a:rPr lang="en-US" altLang="zh-CN" sz="1600" dirty="0"/>
              <a:t>Block nested-loop join (</a:t>
            </a:r>
            <a:r>
              <a:rPr lang="zh-CN" altLang="en-US" sz="1600" dirty="0"/>
              <a:t>块嵌套循环连接</a:t>
            </a:r>
            <a:r>
              <a:rPr lang="en-US" altLang="zh-CN" sz="1600" dirty="0"/>
              <a:t>)</a:t>
            </a:r>
          </a:p>
          <a:p>
            <a:pPr lvl="1"/>
            <a:r>
              <a:rPr lang="en-US" altLang="zh-CN" sz="1600" dirty="0"/>
              <a:t>Indexed nested-loop join (</a:t>
            </a:r>
            <a:r>
              <a:rPr lang="zh-CN" altLang="en-US" sz="1600" dirty="0"/>
              <a:t>索引嵌套循环连接</a:t>
            </a:r>
            <a:r>
              <a:rPr lang="en-US" altLang="zh-CN" sz="1600" dirty="0"/>
              <a:t>)</a:t>
            </a:r>
          </a:p>
          <a:p>
            <a:pPr lvl="1"/>
            <a:r>
              <a:rPr lang="en-US" altLang="zh-CN" sz="1600" dirty="0"/>
              <a:t>Merge-join* (</a:t>
            </a:r>
            <a:r>
              <a:rPr lang="zh-CN" altLang="en-US" sz="1600" dirty="0"/>
              <a:t>归并连接</a:t>
            </a:r>
            <a:r>
              <a:rPr lang="en-US" altLang="zh-CN" sz="1600" dirty="0"/>
              <a:t>)</a:t>
            </a:r>
          </a:p>
          <a:p>
            <a:pPr lvl="1"/>
            <a:r>
              <a:rPr lang="en-US" altLang="zh-CN" sz="1600" dirty="0"/>
              <a:t>Hash-join* (</a:t>
            </a:r>
            <a:r>
              <a:rPr lang="zh-CN" altLang="en-US" sz="1600" dirty="0"/>
              <a:t>散列连接</a:t>
            </a:r>
            <a:r>
              <a:rPr lang="en-US" altLang="zh-CN" sz="1600" dirty="0"/>
              <a:t>)</a:t>
            </a:r>
          </a:p>
          <a:p>
            <a:r>
              <a:rPr lang="en-US" altLang="zh-CN" sz="1800" b="1" dirty="0"/>
              <a:t>Examples use the following information</a:t>
            </a:r>
          </a:p>
          <a:p>
            <a:pPr lvl="1"/>
            <a:r>
              <a:rPr lang="en-US" altLang="zh-CN" sz="1600" dirty="0"/>
              <a:t>#records </a:t>
            </a:r>
          </a:p>
          <a:p>
            <a:pPr lvl="2"/>
            <a:r>
              <a:rPr lang="en-US" altLang="zh-CN" sz="1400" dirty="0"/>
              <a:t>student: 5000  </a:t>
            </a:r>
          </a:p>
          <a:p>
            <a:pPr lvl="2"/>
            <a:r>
              <a:rPr lang="en-US" altLang="zh-CN" sz="1400" dirty="0"/>
              <a:t>takes: 10000</a:t>
            </a:r>
          </a:p>
          <a:p>
            <a:pPr lvl="1"/>
            <a:r>
              <a:rPr lang="en-US" altLang="zh-CN" sz="1600" dirty="0"/>
              <a:t>#blocks </a:t>
            </a:r>
          </a:p>
          <a:p>
            <a:pPr lvl="2"/>
            <a:r>
              <a:rPr lang="en-US" altLang="zh-CN" sz="1400" dirty="0"/>
              <a:t>student: 100     </a:t>
            </a:r>
          </a:p>
          <a:p>
            <a:pPr lvl="2"/>
            <a:r>
              <a:rPr lang="en-US" altLang="zh-CN" sz="1400" dirty="0"/>
              <a:t>takes: 400</a:t>
            </a:r>
          </a:p>
          <a:p>
            <a:endParaRPr lang="zh-CN" altLang="en-US" sz="1800" dirty="0"/>
          </a:p>
        </p:txBody>
      </p:sp>
    </p:spTree>
    <p:extLst>
      <p:ext uri="{BB962C8B-B14F-4D97-AF65-F5344CB8AC3E}">
        <p14:creationId xmlns:p14="http://schemas.microsoft.com/office/powerpoint/2010/main" val="25985908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 calcmode="lin" valueType="num">
                                      <p:cBhvr additive="base">
                                        <p:cTn id="1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anim calcmode="lin" valueType="num">
                                      <p:cBhvr additive="base">
                                        <p:cTn id="1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anim calcmode="lin" valueType="num">
                                      <p:cBhvr additive="base">
                                        <p:cTn id="1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anim calcmode="lin" valueType="num">
                                      <p:cBhvr additive="base">
                                        <p:cTn id="23"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 calcmode="lin" valueType="num">
                                      <p:cBhvr additive="base">
                                        <p:cTn id="2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anim calcmode="lin" valueType="num">
                                      <p:cBhvr additive="base">
                                        <p:cTn id="31"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AFD79-A028-4171-A0B9-174C0068CDF4}"/>
              </a:ext>
            </a:extLst>
          </p:cNvPr>
          <p:cNvSpPr>
            <a:spLocks noGrp="1"/>
          </p:cNvSpPr>
          <p:nvPr>
            <p:ph type="title"/>
          </p:nvPr>
        </p:nvSpPr>
        <p:spPr/>
        <p:txBody>
          <a:bodyPr/>
          <a:lstStyle/>
          <a:p>
            <a:pPr algn="ctr"/>
            <a:r>
              <a:rPr lang="en-US" altLang="zh-CN" dirty="0"/>
              <a:t>Nested-Loop Join (</a:t>
            </a:r>
            <a:r>
              <a:rPr lang="zh-CN" altLang="en-US" dirty="0"/>
              <a:t>嵌套循环连接</a:t>
            </a:r>
            <a:r>
              <a:rPr lang="en-US" altLang="zh-CN" dirty="0"/>
              <a: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3662013-D52A-4EBA-802F-D920A089B246}"/>
                  </a:ext>
                </a:extLst>
              </p:cNvPr>
              <p:cNvSpPr>
                <a:spLocks noGrp="1"/>
              </p:cNvSpPr>
              <p:nvPr>
                <p:ph idx="1"/>
              </p:nvPr>
            </p:nvSpPr>
            <p:spPr>
              <a:xfrm>
                <a:off x="251520" y="789553"/>
                <a:ext cx="8424936" cy="3805070"/>
              </a:xfrm>
            </p:spPr>
            <p:txBody>
              <a:bodyPr/>
              <a:lstStyle/>
              <a:p>
                <a:r>
                  <a:rPr lang="en-US" altLang="zh-CN" sz="1600" dirty="0"/>
                  <a:t>Compute the theta join </a:t>
                </a:r>
                <a14:m>
                  <m:oMath xmlns:m="http://schemas.openxmlformats.org/officeDocument/2006/math">
                    <m:r>
                      <a:rPr lang="en-US" altLang="zh-CN" sz="1600" b="0" i="1" smtClean="0">
                        <a:latin typeface="Cambria Math" panose="02040503050406030204" pitchFamily="18" charset="0"/>
                      </a:rPr>
                      <m:t>𝑟</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ea typeface="Cambria Math" panose="02040503050406030204" pitchFamily="18" charset="0"/>
                          </a:rPr>
                          <m:t>⋈</m:t>
                        </m:r>
                      </m:e>
                      <m:sub>
                        <m:r>
                          <a:rPr lang="zh-CN" altLang="en-US" sz="1600" b="0" i="1" smtClean="0">
                            <a:latin typeface="Cambria Math" panose="02040503050406030204" pitchFamily="18" charset="0"/>
                          </a:rPr>
                          <m:t>𝜃</m:t>
                        </m:r>
                      </m:sub>
                    </m:sSub>
                    <m:r>
                      <a:rPr lang="en-US" altLang="zh-CN" sz="1600" b="0" i="1" smtClean="0">
                        <a:latin typeface="Cambria Math" panose="02040503050406030204" pitchFamily="18" charset="0"/>
                      </a:rPr>
                      <m:t>𝑆</m:t>
                    </m:r>
                  </m:oMath>
                </a14:m>
                <a:endParaRPr lang="en-US" altLang="zh-CN" sz="1600" dirty="0"/>
              </a:p>
              <a:p>
                <a:pPr marL="400050" lvl="1" indent="0">
                  <a:buNone/>
                </a:pPr>
                <a:r>
                  <a:rPr lang="en-US" altLang="zh-CN" sz="1400" b="1" i="1" dirty="0">
                    <a:latin typeface="Times New Roman" panose="02020603050405020304" pitchFamily="18" charset="0"/>
                    <a:cs typeface="Times New Roman" panose="02020603050405020304" pitchFamily="18" charset="0"/>
                  </a:rPr>
                  <a:t>for each </a:t>
                </a:r>
                <a:r>
                  <a:rPr lang="en-US" altLang="zh-CN" sz="1400" i="1" dirty="0">
                    <a:latin typeface="Times New Roman" panose="02020603050405020304" pitchFamily="18" charset="0"/>
                    <a:cs typeface="Times New Roman" panose="02020603050405020304" pitchFamily="18" charset="0"/>
                  </a:rPr>
                  <a:t>tuple </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𝑡</m:t>
                        </m:r>
                      </m:e>
                      <m:sub>
                        <m:r>
                          <a:rPr lang="en-US" altLang="zh-CN" sz="1400" b="0" i="1" smtClean="0">
                            <a:latin typeface="Cambria Math" panose="02040503050406030204" pitchFamily="18" charset="0"/>
                          </a:rPr>
                          <m:t>𝑟</m:t>
                        </m:r>
                      </m:sub>
                    </m:sSub>
                  </m:oMath>
                </a14:m>
                <a:r>
                  <a:rPr lang="en-US" altLang="zh-CN" sz="1400" i="1" dirty="0">
                    <a:latin typeface="Times New Roman" panose="02020603050405020304" pitchFamily="18" charset="0"/>
                    <a:cs typeface="Times New Roman" panose="02020603050405020304" pitchFamily="18" charset="0"/>
                  </a:rPr>
                  <a:t> in </a:t>
                </a:r>
                <a14:m>
                  <m:oMath xmlns:m="http://schemas.openxmlformats.org/officeDocument/2006/math">
                    <m:r>
                      <a:rPr lang="en-US" altLang="zh-CN" sz="1400" b="0" i="1" smtClean="0">
                        <a:latin typeface="Cambria Math" panose="02040503050406030204" pitchFamily="18" charset="0"/>
                      </a:rPr>
                      <m:t>𝑟</m:t>
                    </m:r>
                  </m:oMath>
                </a14:m>
                <a:r>
                  <a:rPr lang="en-US" altLang="zh-CN" sz="1400" i="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do begin</a:t>
                </a:r>
                <a:br>
                  <a:rPr lang="en-US" altLang="zh-CN" sz="1400" i="1" dirty="0">
                    <a:latin typeface="Times New Roman" panose="02020603050405020304" pitchFamily="18" charset="0"/>
                    <a:cs typeface="Times New Roman" panose="02020603050405020304" pitchFamily="18" charset="0"/>
                  </a:rPr>
                </a:br>
                <a:r>
                  <a:rPr lang="en-US" altLang="zh-CN" sz="1400" i="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for each </a:t>
                </a:r>
                <a:r>
                  <a:rPr lang="en-US" altLang="zh-CN" sz="1400" i="1" dirty="0">
                    <a:latin typeface="Times New Roman" panose="02020603050405020304" pitchFamily="18" charset="0"/>
                    <a:cs typeface="Times New Roman" panose="02020603050405020304" pitchFamily="18" charset="0"/>
                  </a:rPr>
                  <a:t>tuple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𝑡</m:t>
                        </m:r>
                      </m:e>
                      <m:sub>
                        <m:r>
                          <a:rPr lang="en-US" altLang="zh-CN" sz="1400" b="0" i="1" smtClean="0">
                            <a:latin typeface="Cambria Math" panose="02040503050406030204" pitchFamily="18" charset="0"/>
                          </a:rPr>
                          <m:t>𝑠</m:t>
                        </m:r>
                      </m:sub>
                    </m:sSub>
                  </m:oMath>
                </a14:m>
                <a:r>
                  <a:rPr lang="en-US" altLang="zh-CN" sz="1400" i="1" dirty="0">
                    <a:latin typeface="Times New Roman" panose="02020603050405020304" pitchFamily="18" charset="0"/>
                    <a:cs typeface="Times New Roman" panose="02020603050405020304" pitchFamily="18" charset="0"/>
                  </a:rPr>
                  <a:t> in </a:t>
                </a:r>
                <a14:m>
                  <m:oMath xmlns:m="http://schemas.openxmlformats.org/officeDocument/2006/math">
                    <m:r>
                      <a:rPr lang="en-US" altLang="zh-CN" sz="1400" b="0" i="1" smtClean="0">
                        <a:latin typeface="Cambria Math" panose="02040503050406030204" pitchFamily="18" charset="0"/>
                      </a:rPr>
                      <m:t>𝑠</m:t>
                    </m:r>
                  </m:oMath>
                </a14:m>
                <a:r>
                  <a:rPr lang="en-US" altLang="zh-CN" sz="1400" i="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do begin</a:t>
                </a:r>
                <a:br>
                  <a:rPr lang="en-US" altLang="zh-CN" sz="1400" i="1" dirty="0">
                    <a:latin typeface="Times New Roman" panose="02020603050405020304" pitchFamily="18" charset="0"/>
                    <a:cs typeface="Times New Roman" panose="02020603050405020304" pitchFamily="18" charset="0"/>
                  </a:rPr>
                </a:br>
                <a:r>
                  <a:rPr lang="en-US" altLang="zh-CN" sz="1400" i="1" dirty="0">
                    <a:latin typeface="Times New Roman" panose="02020603050405020304" pitchFamily="18" charset="0"/>
                    <a:cs typeface="Times New Roman" panose="02020603050405020304" pitchFamily="18" charset="0"/>
                  </a:rPr>
                  <a:t>          test pair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𝑡</m:t>
                        </m:r>
                      </m:e>
                      <m:sub>
                        <m:r>
                          <a:rPr lang="en-US" altLang="zh-CN" sz="1400" i="1">
                            <a:latin typeface="Cambria Math" panose="02040503050406030204" pitchFamily="18" charset="0"/>
                          </a:rPr>
                          <m:t>𝑟</m:t>
                        </m:r>
                      </m:sub>
                    </m:sSub>
                  </m:oMath>
                </a14:m>
                <a:r>
                  <a:rPr lang="en-US" altLang="zh-CN" sz="14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𝑡</m:t>
                        </m:r>
                      </m:e>
                      <m:sub>
                        <m:r>
                          <a:rPr lang="en-US" altLang="zh-CN" sz="1400" b="0" i="1" smtClean="0">
                            <a:latin typeface="Cambria Math" panose="02040503050406030204" pitchFamily="18" charset="0"/>
                          </a:rPr>
                          <m:t>𝑠</m:t>
                        </m:r>
                      </m:sub>
                    </m:sSub>
                  </m:oMath>
                </a14:m>
                <a:r>
                  <a:rPr lang="en-US" altLang="zh-CN" sz="1400" i="1" dirty="0">
                    <a:latin typeface="Times New Roman" panose="02020603050405020304" pitchFamily="18" charset="0"/>
                    <a:cs typeface="Times New Roman" panose="02020603050405020304" pitchFamily="18" charset="0"/>
                  </a:rPr>
                  <a:t>) to see if they satisfy the join condition </a:t>
                </a:r>
                <a14:m>
                  <m:oMath xmlns:m="http://schemas.openxmlformats.org/officeDocument/2006/math">
                    <m:r>
                      <a:rPr lang="zh-CN" altLang="en-US" sz="1400" i="1" smtClean="0">
                        <a:latin typeface="Cambria Math" panose="02040503050406030204" pitchFamily="18" charset="0"/>
                      </a:rPr>
                      <m:t>𝜃</m:t>
                    </m:r>
                  </m:oMath>
                </a14:m>
                <a:br>
                  <a:rPr lang="en-US" altLang="zh-CN" sz="1400" i="1" dirty="0">
                    <a:latin typeface="Times New Roman" panose="02020603050405020304" pitchFamily="18" charset="0"/>
                    <a:cs typeface="Times New Roman" panose="02020603050405020304" pitchFamily="18" charset="0"/>
                  </a:rPr>
                </a:br>
                <a:r>
                  <a:rPr lang="en-US" altLang="zh-CN" sz="1400" i="1" dirty="0">
                    <a:latin typeface="Times New Roman" panose="02020603050405020304" pitchFamily="18" charset="0"/>
                    <a:cs typeface="Times New Roman" panose="02020603050405020304" pitchFamily="18" charset="0"/>
                  </a:rPr>
                  <a:t>          if they do, add </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𝑡</m:t>
                        </m:r>
                      </m:e>
                      <m:sub>
                        <m:r>
                          <a:rPr lang="en-US" altLang="zh-CN" sz="1400" b="0" i="1" smtClean="0">
                            <a:latin typeface="Cambria Math" panose="02040503050406030204" pitchFamily="18" charset="0"/>
                          </a:rPr>
                          <m:t>𝑟</m:t>
                        </m:r>
                      </m:sub>
                    </m:sSub>
                    <m:r>
                      <a:rPr lang="en-US" altLang="zh-CN" sz="1400" i="1" smtClean="0">
                        <a:latin typeface="Cambria Math" panose="02040503050406030204" pitchFamily="18" charset="0"/>
                        <a:ea typeface="Cambria Math" panose="02040503050406030204" pitchFamily="18" charset="0"/>
                      </a:rPr>
                      <m:t>∙</m:t>
                    </m:r>
                    <m:sSub>
                      <m:sSubPr>
                        <m:ctrlPr>
                          <a:rPr lang="en-US" altLang="zh-CN" sz="1400" i="1" smtClean="0">
                            <a:latin typeface="Cambria Math" panose="02040503050406030204" pitchFamily="18" charset="0"/>
                            <a:ea typeface="Cambria Math" panose="02040503050406030204" pitchFamily="18" charset="0"/>
                          </a:rPr>
                        </m:ctrlPr>
                      </m:sSubPr>
                      <m:e>
                        <m:r>
                          <a:rPr lang="en-US" altLang="zh-CN" sz="1400" b="0" i="1" smtClean="0">
                            <a:latin typeface="Cambria Math" panose="02040503050406030204" pitchFamily="18" charset="0"/>
                            <a:ea typeface="Cambria Math" panose="02040503050406030204" pitchFamily="18" charset="0"/>
                          </a:rPr>
                          <m:t>𝑡</m:t>
                        </m:r>
                      </m:e>
                      <m:sub>
                        <m:r>
                          <a:rPr lang="en-US" altLang="zh-CN" sz="1400" b="0" i="1" smtClean="0">
                            <a:latin typeface="Cambria Math" panose="02040503050406030204" pitchFamily="18" charset="0"/>
                            <a:ea typeface="Cambria Math" panose="02040503050406030204" pitchFamily="18" charset="0"/>
                          </a:rPr>
                          <m:t>𝑠</m:t>
                        </m:r>
                      </m:sub>
                    </m:sSub>
                  </m:oMath>
                </a14:m>
                <a:r>
                  <a:rPr lang="en-US" altLang="zh-CN" sz="1400" i="1" dirty="0">
                    <a:latin typeface="Times New Roman" panose="02020603050405020304" pitchFamily="18" charset="0"/>
                    <a:cs typeface="Times New Roman" panose="02020603050405020304" pitchFamily="18" charset="0"/>
                  </a:rPr>
                  <a:t> to the result.</a:t>
                </a:r>
                <a:br>
                  <a:rPr lang="en-US" altLang="zh-CN" sz="1400" i="1" dirty="0">
                    <a:latin typeface="Times New Roman" panose="02020603050405020304" pitchFamily="18" charset="0"/>
                    <a:cs typeface="Times New Roman" panose="02020603050405020304" pitchFamily="18" charset="0"/>
                  </a:rPr>
                </a:br>
                <a:r>
                  <a:rPr lang="en-US" altLang="zh-CN" sz="1400" i="1" dirty="0">
                    <a:latin typeface="Times New Roman" panose="02020603050405020304" pitchFamily="18" charset="0"/>
                    <a:cs typeface="Times New Roman" panose="02020603050405020304" pitchFamily="18" charset="0"/>
                  </a:rPr>
                  <a:t>     </a:t>
                </a:r>
                <a:r>
                  <a:rPr lang="en-US" altLang="zh-CN" sz="1400" b="1" i="1" dirty="0">
                    <a:latin typeface="Times New Roman" panose="02020603050405020304" pitchFamily="18" charset="0"/>
                    <a:cs typeface="Times New Roman" panose="02020603050405020304" pitchFamily="18" charset="0"/>
                  </a:rPr>
                  <a:t>end</a:t>
                </a:r>
                <a:br>
                  <a:rPr lang="en-US" altLang="zh-CN" sz="1400" b="1" i="1" dirty="0">
                    <a:latin typeface="Times New Roman" panose="02020603050405020304" pitchFamily="18" charset="0"/>
                    <a:cs typeface="Times New Roman" panose="02020603050405020304" pitchFamily="18" charset="0"/>
                  </a:rPr>
                </a:br>
                <a:r>
                  <a:rPr lang="en-US" altLang="zh-CN" sz="1400" b="1" i="1" dirty="0" err="1">
                    <a:latin typeface="Times New Roman" panose="02020603050405020304" pitchFamily="18" charset="0"/>
                    <a:cs typeface="Times New Roman" panose="02020603050405020304" pitchFamily="18" charset="0"/>
                  </a:rPr>
                  <a:t>end</a:t>
                </a:r>
                <a:endParaRPr lang="en-US" altLang="zh-CN" sz="1600" b="0" i="1" dirty="0">
                  <a:latin typeface="Cambria Math" panose="02040503050406030204" pitchFamily="18" charset="0"/>
                </a:endParaRPr>
              </a:p>
              <a:p>
                <a14:m>
                  <m:oMath xmlns:m="http://schemas.openxmlformats.org/officeDocument/2006/math">
                    <m:r>
                      <a:rPr lang="en-US" altLang="zh-CN" sz="1600" b="0" i="1" smtClean="0">
                        <a:latin typeface="Cambria Math" panose="02040503050406030204" pitchFamily="18" charset="0"/>
                      </a:rPr>
                      <m:t>𝑟</m:t>
                    </m:r>
                  </m:oMath>
                </a14:m>
                <a:r>
                  <a:rPr lang="en-US" altLang="zh-CN" sz="1600" dirty="0"/>
                  <a:t>: </a:t>
                </a:r>
                <a:r>
                  <a:rPr lang="en-US" altLang="zh-CN" sz="1600" dirty="0">
                    <a:solidFill>
                      <a:srgbClr val="C00000"/>
                    </a:solidFill>
                  </a:rPr>
                  <a:t>outer relation </a:t>
                </a:r>
                <a:r>
                  <a:rPr lang="en-US" altLang="zh-CN" sz="1600" dirty="0"/>
                  <a:t>(</a:t>
                </a:r>
                <a:r>
                  <a:rPr lang="zh-CN" altLang="en-US" sz="1600" dirty="0"/>
                  <a:t>外层关系</a:t>
                </a:r>
                <a:r>
                  <a:rPr lang="en-US" altLang="zh-CN" sz="1600" dirty="0"/>
                  <a:t>), </a:t>
                </a:r>
                <a14:m>
                  <m:oMath xmlns:m="http://schemas.openxmlformats.org/officeDocument/2006/math">
                    <m:r>
                      <a:rPr lang="en-US" altLang="zh-CN" sz="1600" b="0" i="1" smtClean="0">
                        <a:latin typeface="Cambria Math" panose="02040503050406030204" pitchFamily="18" charset="0"/>
                      </a:rPr>
                      <m:t>𝑠</m:t>
                    </m:r>
                  </m:oMath>
                </a14:m>
                <a:r>
                  <a:rPr lang="en-US" altLang="zh-CN" sz="1600" dirty="0"/>
                  <a:t>: </a:t>
                </a:r>
                <a:r>
                  <a:rPr lang="en-US" altLang="zh-CN" sz="1600" dirty="0">
                    <a:solidFill>
                      <a:srgbClr val="C00000"/>
                    </a:solidFill>
                  </a:rPr>
                  <a:t>inner relation </a:t>
                </a:r>
                <a:r>
                  <a:rPr lang="en-US" altLang="zh-CN" sz="1600" dirty="0"/>
                  <a:t>(</a:t>
                </a:r>
                <a:r>
                  <a:rPr lang="zh-CN" altLang="en-US" sz="1600" dirty="0"/>
                  <a:t>内层关系</a:t>
                </a:r>
                <a:r>
                  <a:rPr lang="en-US" altLang="zh-CN" sz="1600" dirty="0"/>
                  <a:t>) </a:t>
                </a:r>
              </a:p>
              <a:p>
                <a:r>
                  <a:rPr lang="en-US" altLang="zh-CN" sz="1600" dirty="0"/>
                  <a:t>Require no indices and can be used for any kind of join condition</a:t>
                </a:r>
              </a:p>
              <a:p>
                <a:r>
                  <a:rPr lang="en-US" altLang="zh-CN" sz="1600" b="1" dirty="0">
                    <a:solidFill>
                      <a:srgbClr val="C00000"/>
                    </a:solidFill>
                  </a:rPr>
                  <a:t>Expensive</a:t>
                </a:r>
                <a:r>
                  <a:rPr lang="en-US" altLang="zh-CN" sz="1600" dirty="0"/>
                  <a:t> since it checks every pair of tuples in the two relations</a:t>
                </a:r>
              </a:p>
              <a:p>
                <a:pPr lvl="1"/>
                <a:r>
                  <a:rPr lang="en-US" altLang="zh-CN" sz="1200" dirty="0"/>
                  <a:t>In the worst case, if the memory can only hold one block of each relation, the estimated cost is </a:t>
                </a:r>
                <a14:m>
                  <m:oMath xmlns:m="http://schemas.openxmlformats.org/officeDocument/2006/math">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𝑛</m:t>
                        </m:r>
                      </m:e>
                      <m:sub>
                        <m:r>
                          <a:rPr lang="en-US" altLang="zh-CN" sz="1200" i="1">
                            <a:latin typeface="Cambria Math" panose="02040503050406030204" pitchFamily="18" charset="0"/>
                          </a:rPr>
                          <m:t>𝑟</m:t>
                        </m:r>
                      </m:sub>
                    </m:sSub>
                    <m:r>
                      <a:rPr lang="en-US" altLang="zh-CN" sz="1200" i="1">
                        <a:latin typeface="Cambria Math" panose="02040503050406030204" pitchFamily="18" charset="0"/>
                        <a:ea typeface="Cambria Math" panose="02040503050406030204" pitchFamily="18" charset="0"/>
                      </a:rPr>
                      <m:t>∙</m:t>
                    </m:r>
                    <m:sSub>
                      <m:sSubPr>
                        <m:ctrlPr>
                          <a:rPr lang="en-US" altLang="zh-CN" sz="1200" i="1">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Cambria Math" panose="02040503050406030204" pitchFamily="18" charset="0"/>
                          </a:rPr>
                          <m:t>𝑏</m:t>
                        </m:r>
                      </m:e>
                      <m:sub>
                        <m:r>
                          <a:rPr lang="en-US" altLang="zh-CN" sz="1200" i="1">
                            <a:latin typeface="Cambria Math" panose="02040503050406030204" pitchFamily="18" charset="0"/>
                            <a:ea typeface="Cambria Math" panose="02040503050406030204" pitchFamily="18" charset="0"/>
                          </a:rPr>
                          <m:t>𝑠</m:t>
                        </m:r>
                      </m:sub>
                    </m:sSub>
                    <m:r>
                      <a:rPr lang="en-US" altLang="zh-CN" sz="1200" i="1">
                        <a:latin typeface="Cambria Math" panose="02040503050406030204" pitchFamily="18" charset="0"/>
                        <a:ea typeface="Cambria Math" panose="02040503050406030204" pitchFamily="18" charset="0"/>
                      </a:rPr>
                      <m:t>+</m:t>
                    </m:r>
                    <m:sSub>
                      <m:sSubPr>
                        <m:ctrlPr>
                          <a:rPr lang="en-US" altLang="zh-CN" sz="1200" i="1">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Cambria Math" panose="02040503050406030204" pitchFamily="18" charset="0"/>
                          </a:rPr>
                          <m:t>𝑏</m:t>
                        </m:r>
                      </m:e>
                      <m:sub>
                        <m:r>
                          <a:rPr lang="en-US" altLang="zh-CN" sz="1200" i="1">
                            <a:latin typeface="Cambria Math" panose="02040503050406030204" pitchFamily="18" charset="0"/>
                            <a:ea typeface="Cambria Math" panose="02040503050406030204" pitchFamily="18" charset="0"/>
                          </a:rPr>
                          <m:t>𝑟</m:t>
                        </m:r>
                      </m:sub>
                    </m:sSub>
                  </m:oMath>
                </a14:m>
                <a:r>
                  <a:rPr lang="en-US" altLang="zh-CN" sz="1200" dirty="0"/>
                  <a:t> block transfers, plus </a:t>
                </a:r>
                <a14:m>
                  <m:oMath xmlns:m="http://schemas.openxmlformats.org/officeDocument/2006/math">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𝑛</m:t>
                        </m:r>
                      </m:e>
                      <m:sub>
                        <m:r>
                          <a:rPr lang="en-US" altLang="zh-CN" sz="1200" i="1">
                            <a:latin typeface="Cambria Math" panose="02040503050406030204" pitchFamily="18" charset="0"/>
                          </a:rPr>
                          <m:t>𝑟</m:t>
                        </m:r>
                      </m:sub>
                    </m:sSub>
                    <m:r>
                      <a:rPr lang="en-US" altLang="zh-CN" sz="1200" i="1">
                        <a:latin typeface="Cambria Math" panose="02040503050406030204" pitchFamily="18" charset="0"/>
                        <a:ea typeface="Cambria Math" panose="02040503050406030204" pitchFamily="18" charset="0"/>
                      </a:rPr>
                      <m:t>+</m:t>
                    </m:r>
                    <m:sSub>
                      <m:sSubPr>
                        <m:ctrlPr>
                          <a:rPr lang="en-US" altLang="zh-CN" sz="1200" i="1">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Cambria Math" panose="02040503050406030204" pitchFamily="18" charset="0"/>
                          </a:rPr>
                          <m:t>𝑏</m:t>
                        </m:r>
                      </m:e>
                      <m:sub>
                        <m:r>
                          <a:rPr lang="en-US" altLang="zh-CN" sz="1200" i="1">
                            <a:latin typeface="Cambria Math" panose="02040503050406030204" pitchFamily="18" charset="0"/>
                            <a:ea typeface="Cambria Math" panose="02040503050406030204" pitchFamily="18" charset="0"/>
                          </a:rPr>
                          <m:t>𝑟</m:t>
                        </m:r>
                      </m:sub>
                    </m:sSub>
                  </m:oMath>
                </a14:m>
                <a:r>
                  <a:rPr lang="en-US" altLang="zh-CN" sz="1200" dirty="0"/>
                  <a:t> seeks </a:t>
                </a:r>
                <a:r>
                  <a:rPr lang="zh-CN" altLang="en-US" sz="1200" dirty="0"/>
                  <a:t>（</a:t>
                </a:r>
                <a:r>
                  <a:rPr lang="zh-CN" altLang="en-US" sz="1200" dirty="0">
                    <a:solidFill>
                      <a:srgbClr val="FF0000"/>
                    </a:solidFill>
                  </a:rPr>
                  <a:t>这里为什么不是 </a:t>
                </a:r>
                <a14:m>
                  <m:oMath xmlns:m="http://schemas.openxmlformats.org/officeDocument/2006/math">
                    <m:sSub>
                      <m:sSubPr>
                        <m:ctrlPr>
                          <a:rPr lang="en-US" altLang="zh-CN" sz="1200" i="1">
                            <a:solidFill>
                              <a:srgbClr val="FF0000"/>
                            </a:solidFill>
                            <a:latin typeface="Cambria Math" panose="02040503050406030204" pitchFamily="18" charset="0"/>
                          </a:rPr>
                        </m:ctrlPr>
                      </m:sSubPr>
                      <m:e>
                        <m:r>
                          <a:rPr lang="en-US" altLang="zh-CN" sz="1200" i="1">
                            <a:solidFill>
                              <a:srgbClr val="FF0000"/>
                            </a:solidFill>
                            <a:latin typeface="Cambria Math" panose="02040503050406030204" pitchFamily="18" charset="0"/>
                          </a:rPr>
                          <m:t>𝑛</m:t>
                        </m:r>
                      </m:e>
                      <m:sub>
                        <m:r>
                          <a:rPr lang="en-US" altLang="zh-CN" sz="1200" i="1">
                            <a:solidFill>
                              <a:srgbClr val="FF0000"/>
                            </a:solidFill>
                            <a:latin typeface="Cambria Math" panose="02040503050406030204" pitchFamily="18" charset="0"/>
                          </a:rPr>
                          <m:t>𝑟</m:t>
                        </m:r>
                      </m:sub>
                    </m:sSub>
                    <m:r>
                      <a:rPr lang="en-US" altLang="zh-CN" sz="1200" i="1">
                        <a:solidFill>
                          <a:srgbClr val="FF0000"/>
                        </a:solidFill>
                        <a:latin typeface="Cambria Math" panose="02040503050406030204" pitchFamily="18" charset="0"/>
                        <a:ea typeface="Cambria Math" panose="02040503050406030204" pitchFamily="18" charset="0"/>
                      </a:rPr>
                      <m:t>+1</m:t>
                    </m:r>
                  </m:oMath>
                </a14:m>
                <a:r>
                  <a:rPr lang="en-US" altLang="zh-CN" sz="1200" dirty="0">
                    <a:solidFill>
                      <a:srgbClr val="FF0000"/>
                    </a:solidFill>
                  </a:rPr>
                  <a:t> seeks </a:t>
                </a:r>
                <a:r>
                  <a:rPr lang="zh-CN" altLang="en-US" sz="1200" dirty="0"/>
                  <a:t>）</a:t>
                </a:r>
                <a:endParaRPr lang="en-US" altLang="zh-CN" sz="1200" dirty="0"/>
              </a:p>
              <a:p>
                <a:pPr lvl="2"/>
                <a14:m>
                  <m:oMath xmlns:m="http://schemas.openxmlformats.org/officeDocument/2006/math">
                    <m:sSub>
                      <m:sSubPr>
                        <m:ctrlPr>
                          <a:rPr lang="en-US" altLang="zh-CN" sz="1200" i="1">
                            <a:latin typeface="Cambria Math" panose="02040503050406030204" pitchFamily="18" charset="0"/>
                          </a:rPr>
                        </m:ctrlPr>
                      </m:sSubPr>
                      <m:e>
                        <m:r>
                          <a:rPr lang="en-US" altLang="zh-CN" sz="1200" i="1">
                            <a:latin typeface="Cambria Math" panose="02040503050406030204" pitchFamily="18" charset="0"/>
                          </a:rPr>
                          <m:t>𝑛</m:t>
                        </m:r>
                      </m:e>
                      <m:sub>
                        <m:r>
                          <a:rPr lang="en-US" altLang="zh-CN" sz="1200" i="1">
                            <a:latin typeface="Cambria Math" panose="02040503050406030204" pitchFamily="18" charset="0"/>
                          </a:rPr>
                          <m:t>𝑟</m:t>
                        </m:r>
                      </m:sub>
                    </m:sSub>
                  </m:oMath>
                </a14:m>
                <a:r>
                  <a:rPr lang="en-US" altLang="zh-CN" sz="1200" dirty="0"/>
                  <a:t>: number of tuples in </a:t>
                </a:r>
                <a14:m>
                  <m:oMath xmlns:m="http://schemas.openxmlformats.org/officeDocument/2006/math">
                    <m:r>
                      <a:rPr lang="en-US" altLang="zh-CN" sz="1200" i="1">
                        <a:latin typeface="Cambria Math" panose="02040503050406030204" pitchFamily="18" charset="0"/>
                      </a:rPr>
                      <m:t>𝑟</m:t>
                    </m:r>
                  </m:oMath>
                </a14:m>
                <a:r>
                  <a:rPr lang="en-US" altLang="zh-CN" sz="1200" dirty="0"/>
                  <a:t>; </a:t>
                </a:r>
                <a14:m>
                  <m:oMath xmlns:m="http://schemas.openxmlformats.org/officeDocument/2006/math">
                    <m:sSub>
                      <m:sSubPr>
                        <m:ctrlPr>
                          <a:rPr lang="en-US" altLang="zh-CN" sz="1200" i="1">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Cambria Math" panose="02040503050406030204" pitchFamily="18" charset="0"/>
                          </a:rPr>
                          <m:t>𝑏</m:t>
                        </m:r>
                      </m:e>
                      <m:sub>
                        <m:r>
                          <a:rPr lang="en-US" altLang="zh-CN" sz="1200" i="1">
                            <a:latin typeface="Cambria Math" panose="02040503050406030204" pitchFamily="18" charset="0"/>
                            <a:ea typeface="Cambria Math" panose="02040503050406030204" pitchFamily="18" charset="0"/>
                          </a:rPr>
                          <m:t>𝑠</m:t>
                        </m:r>
                      </m:sub>
                    </m:sSub>
                  </m:oMath>
                </a14:m>
                <a:r>
                  <a:rPr lang="en-US" altLang="zh-CN" sz="1200" dirty="0"/>
                  <a:t>: number of blocks in </a:t>
                </a:r>
                <a14:m>
                  <m:oMath xmlns:m="http://schemas.openxmlformats.org/officeDocument/2006/math">
                    <m:r>
                      <a:rPr lang="en-US" altLang="zh-CN" sz="1200" i="1" dirty="0">
                        <a:latin typeface="Cambria Math" panose="02040503050406030204" pitchFamily="18" charset="0"/>
                      </a:rPr>
                      <m:t>𝑠</m:t>
                    </m:r>
                  </m:oMath>
                </a14:m>
                <a:r>
                  <a:rPr lang="en-US" altLang="zh-CN" sz="1200" dirty="0"/>
                  <a:t>; </a:t>
                </a:r>
                <a14:m>
                  <m:oMath xmlns:m="http://schemas.openxmlformats.org/officeDocument/2006/math">
                    <m:sSub>
                      <m:sSubPr>
                        <m:ctrlPr>
                          <a:rPr lang="en-US" altLang="zh-CN" sz="1200" i="1">
                            <a:latin typeface="Cambria Math" panose="02040503050406030204" pitchFamily="18" charset="0"/>
                            <a:ea typeface="Cambria Math" panose="02040503050406030204" pitchFamily="18" charset="0"/>
                          </a:rPr>
                        </m:ctrlPr>
                      </m:sSubPr>
                      <m:e>
                        <m:r>
                          <a:rPr lang="en-US" altLang="zh-CN" sz="1200" i="1">
                            <a:latin typeface="Cambria Math" panose="02040503050406030204" pitchFamily="18" charset="0"/>
                            <a:ea typeface="Cambria Math" panose="02040503050406030204" pitchFamily="18" charset="0"/>
                          </a:rPr>
                          <m:t>𝑏</m:t>
                        </m:r>
                      </m:e>
                      <m:sub>
                        <m:r>
                          <a:rPr lang="en-US" altLang="zh-CN" sz="1200" i="1">
                            <a:latin typeface="Cambria Math" panose="02040503050406030204" pitchFamily="18" charset="0"/>
                            <a:ea typeface="Cambria Math" panose="02040503050406030204" pitchFamily="18" charset="0"/>
                          </a:rPr>
                          <m:t>𝑟</m:t>
                        </m:r>
                      </m:sub>
                    </m:sSub>
                  </m:oMath>
                </a14:m>
                <a:r>
                  <a:rPr lang="en-US" altLang="zh-CN" sz="1200" dirty="0"/>
                  <a:t>: number of blocks in </a:t>
                </a:r>
                <a14:m>
                  <m:oMath xmlns:m="http://schemas.openxmlformats.org/officeDocument/2006/math">
                    <m:r>
                      <a:rPr lang="en-US" altLang="zh-CN" sz="1200" i="1">
                        <a:latin typeface="Cambria Math" panose="02040503050406030204" pitchFamily="18" charset="0"/>
                      </a:rPr>
                      <m:t>𝑟</m:t>
                    </m:r>
                  </m:oMath>
                </a14:m>
                <a:endParaRPr lang="en-US" altLang="zh-CN" sz="1200" dirty="0"/>
              </a:p>
              <a:p>
                <a:pPr lvl="1"/>
                <a:r>
                  <a:rPr lang="en-US" altLang="zh-CN" sz="1200" dirty="0"/>
                  <a:t>If the smaller relation fits entirely in memory, use it as the inner relation</a:t>
                </a:r>
              </a:p>
              <a:p>
                <a:pPr lvl="2"/>
                <a:r>
                  <a:rPr lang="en-US" altLang="zh-CN" sz="1100" dirty="0"/>
                  <a:t>Reduce cost to </a:t>
                </a:r>
                <a14:m>
                  <m:oMath xmlns:m="http://schemas.openxmlformats.org/officeDocument/2006/math">
                    <m:sSub>
                      <m:sSubPr>
                        <m:ctrlPr>
                          <a:rPr lang="en-US" altLang="zh-CN" sz="1100" i="1">
                            <a:latin typeface="Cambria Math" panose="02040503050406030204" pitchFamily="18" charset="0"/>
                            <a:ea typeface="Cambria Math" panose="02040503050406030204" pitchFamily="18" charset="0"/>
                          </a:rPr>
                        </m:ctrlPr>
                      </m:sSubPr>
                      <m:e>
                        <m:r>
                          <a:rPr lang="en-US" altLang="zh-CN" sz="1100" i="1">
                            <a:latin typeface="Cambria Math" panose="02040503050406030204" pitchFamily="18" charset="0"/>
                            <a:ea typeface="Cambria Math" panose="02040503050406030204" pitchFamily="18" charset="0"/>
                          </a:rPr>
                          <m:t>𝑏</m:t>
                        </m:r>
                      </m:e>
                      <m:sub>
                        <m:r>
                          <a:rPr lang="en-US" altLang="zh-CN" sz="1100" i="1">
                            <a:latin typeface="Cambria Math" panose="02040503050406030204" pitchFamily="18" charset="0"/>
                            <a:ea typeface="Cambria Math" panose="02040503050406030204" pitchFamily="18" charset="0"/>
                          </a:rPr>
                          <m:t>𝑠</m:t>
                        </m:r>
                      </m:sub>
                    </m:sSub>
                    <m:r>
                      <a:rPr lang="en-US" altLang="zh-CN" sz="1100" i="1">
                        <a:latin typeface="Cambria Math" panose="02040503050406030204" pitchFamily="18" charset="0"/>
                        <a:ea typeface="Cambria Math" panose="02040503050406030204" pitchFamily="18" charset="0"/>
                      </a:rPr>
                      <m:t>+</m:t>
                    </m:r>
                    <m:sSub>
                      <m:sSubPr>
                        <m:ctrlPr>
                          <a:rPr lang="en-US" altLang="zh-CN" sz="1100" i="1">
                            <a:latin typeface="Cambria Math" panose="02040503050406030204" pitchFamily="18" charset="0"/>
                            <a:ea typeface="Cambria Math" panose="02040503050406030204" pitchFamily="18" charset="0"/>
                          </a:rPr>
                        </m:ctrlPr>
                      </m:sSubPr>
                      <m:e>
                        <m:r>
                          <a:rPr lang="en-US" altLang="zh-CN" sz="1100" i="1">
                            <a:latin typeface="Cambria Math" panose="02040503050406030204" pitchFamily="18" charset="0"/>
                            <a:ea typeface="Cambria Math" panose="02040503050406030204" pitchFamily="18" charset="0"/>
                          </a:rPr>
                          <m:t>𝑏</m:t>
                        </m:r>
                      </m:e>
                      <m:sub>
                        <m:r>
                          <a:rPr lang="en-US" altLang="zh-CN" sz="1100" i="1">
                            <a:latin typeface="Cambria Math" panose="02040503050406030204" pitchFamily="18" charset="0"/>
                            <a:ea typeface="Cambria Math" panose="02040503050406030204" pitchFamily="18" charset="0"/>
                          </a:rPr>
                          <m:t>𝑟</m:t>
                        </m:r>
                      </m:sub>
                    </m:sSub>
                  </m:oMath>
                </a14:m>
                <a:r>
                  <a:rPr lang="en-US" altLang="zh-CN" sz="1100" dirty="0"/>
                  <a:t> block transfers and 2 seeks</a:t>
                </a:r>
                <a:endParaRPr lang="en-US" altLang="zh-CN" sz="1400" dirty="0"/>
              </a:p>
            </p:txBody>
          </p:sp>
        </mc:Choice>
        <mc:Fallback xmlns="">
          <p:sp>
            <p:nvSpPr>
              <p:cNvPr id="3" name="内容占位符 2">
                <a:extLst>
                  <a:ext uri="{FF2B5EF4-FFF2-40B4-BE49-F238E27FC236}">
                    <a16:creationId xmlns:a16="http://schemas.microsoft.com/office/drawing/2014/main" id="{53662013-D52A-4EBA-802F-D920A089B246}"/>
                  </a:ext>
                </a:extLst>
              </p:cNvPr>
              <p:cNvSpPr>
                <a:spLocks noGrp="1" noRot="1" noChangeAspect="1" noMove="1" noResize="1" noEditPoints="1" noAdjustHandles="1" noChangeArrowheads="1" noChangeShapeType="1" noTextEdit="1"/>
              </p:cNvSpPr>
              <p:nvPr>
                <p:ph idx="1"/>
              </p:nvPr>
            </p:nvSpPr>
            <p:spPr>
              <a:xfrm>
                <a:off x="251520" y="789553"/>
                <a:ext cx="8424936" cy="3805070"/>
              </a:xfrm>
              <a:blipFill>
                <a:blip r:embed="rId3"/>
                <a:stretch>
                  <a:fillRect l="-289" t="-4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669723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 calcmode="lin" valueType="num">
                                      <p:cBhvr additive="base">
                                        <p:cTn id="2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anim calcmode="lin" valueType="num">
                                      <p:cBhvr additive="base">
                                        <p:cTn id="2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AB719-839F-4352-8CEC-8A321E2429F3}"/>
              </a:ext>
            </a:extLst>
          </p:cNvPr>
          <p:cNvSpPr>
            <a:spLocks noGrp="1"/>
          </p:cNvSpPr>
          <p:nvPr>
            <p:ph type="title"/>
          </p:nvPr>
        </p:nvSpPr>
        <p:spPr/>
        <p:txBody>
          <a:bodyPr/>
          <a:lstStyle/>
          <a:p>
            <a:pPr algn="ctr"/>
            <a:r>
              <a:rPr lang="en-US" altLang="zh-CN" dirty="0"/>
              <a:t>Nested-Loop Join (Cont.)</a:t>
            </a:r>
            <a:endParaRPr lang="zh-CN" altLang="en-US" dirty="0"/>
          </a:p>
        </p:txBody>
      </p:sp>
      <p:sp>
        <p:nvSpPr>
          <p:cNvPr id="3" name="内容占位符 2">
            <a:extLst>
              <a:ext uri="{FF2B5EF4-FFF2-40B4-BE49-F238E27FC236}">
                <a16:creationId xmlns:a16="http://schemas.microsoft.com/office/drawing/2014/main" id="{E8F099DC-2E2D-434D-AD55-F99BD5E8F83D}"/>
              </a:ext>
            </a:extLst>
          </p:cNvPr>
          <p:cNvSpPr>
            <a:spLocks noGrp="1"/>
          </p:cNvSpPr>
          <p:nvPr>
            <p:ph idx="1"/>
          </p:nvPr>
        </p:nvSpPr>
        <p:spPr>
          <a:xfrm>
            <a:off x="179512" y="915566"/>
            <a:ext cx="8064896" cy="2602995"/>
          </a:xfrm>
        </p:spPr>
        <p:txBody>
          <a:bodyPr/>
          <a:lstStyle/>
          <a:p>
            <a:r>
              <a:rPr lang="en-US" altLang="zh-CN" sz="1800" dirty="0"/>
              <a:t>Given the worst case memory availability, the cost estimate is</a:t>
            </a:r>
          </a:p>
          <a:p>
            <a:pPr lvl="1"/>
            <a:r>
              <a:rPr lang="en-US" altLang="zh-CN" sz="1400" dirty="0"/>
              <a:t>5,000 * 400 + 100 = 2,000,100 disk accesses with </a:t>
            </a:r>
            <a:r>
              <a:rPr lang="en-US" altLang="zh-CN" sz="1400" b="1" dirty="0">
                <a:solidFill>
                  <a:srgbClr val="C00000"/>
                </a:solidFill>
              </a:rPr>
              <a:t>student</a:t>
            </a:r>
            <a:r>
              <a:rPr lang="en-US" altLang="zh-CN" sz="1400" dirty="0"/>
              <a:t> as outer relation, and  5,000 + 100 = 5,100 seeks </a:t>
            </a:r>
          </a:p>
          <a:p>
            <a:pPr lvl="1"/>
            <a:r>
              <a:rPr lang="en-US" altLang="zh-CN" sz="1400" dirty="0"/>
              <a:t>10,000 * 100 + 400 = 1,000,400 disk accesses with </a:t>
            </a:r>
            <a:r>
              <a:rPr lang="en-US" altLang="zh-CN" sz="1400" b="1" dirty="0">
                <a:solidFill>
                  <a:srgbClr val="C00000"/>
                </a:solidFill>
              </a:rPr>
              <a:t>takes</a:t>
            </a:r>
            <a:r>
              <a:rPr lang="en-US" altLang="zh-CN" sz="1400" dirty="0"/>
              <a:t> as the outer relation, and 10,000+400 = 10,400 seeks</a:t>
            </a:r>
          </a:p>
          <a:p>
            <a:pPr lvl="1"/>
            <a:r>
              <a:rPr lang="zh-CN" altLang="en-US" sz="1400" dirty="0"/>
              <a:t>较小的关系做外层更优</a:t>
            </a:r>
          </a:p>
          <a:p>
            <a:pPr lvl="1"/>
            <a:r>
              <a:rPr lang="en-US" altLang="zh-CN" sz="1400" dirty="0"/>
              <a:t>If smaller relation (student) fits entirely in memory, the cost estimate will be 500 disk accesses</a:t>
            </a:r>
            <a:r>
              <a:rPr lang="zh-CN" altLang="en-US" sz="1400" dirty="0"/>
              <a:t>，这时较小的关系做内层更优</a:t>
            </a:r>
          </a:p>
          <a:p>
            <a:endParaRPr lang="zh-CN" altLang="en-US" sz="1800" dirty="0"/>
          </a:p>
        </p:txBody>
      </p:sp>
      <p:sp>
        <p:nvSpPr>
          <p:cNvPr id="6" name="文本框 5">
            <a:extLst>
              <a:ext uri="{FF2B5EF4-FFF2-40B4-BE49-F238E27FC236}">
                <a16:creationId xmlns:a16="http://schemas.microsoft.com/office/drawing/2014/main" id="{78F705A6-CD6E-420F-B603-84A8D3C17788}"/>
              </a:ext>
            </a:extLst>
          </p:cNvPr>
          <p:cNvSpPr txBox="1"/>
          <p:nvPr/>
        </p:nvSpPr>
        <p:spPr>
          <a:xfrm>
            <a:off x="971600" y="3147814"/>
            <a:ext cx="1944216" cy="1614503"/>
          </a:xfrm>
          <a:prstGeom prst="rect">
            <a:avLst/>
          </a:prstGeom>
          <a:solidFill>
            <a:schemeClr val="accent6">
              <a:lumMod val="40000"/>
              <a:lumOff val="60000"/>
            </a:schemeClr>
          </a:solidFill>
        </p:spPr>
        <p:txBody>
          <a:bodyPr wrap="square" rtlCol="0">
            <a:spAutoFit/>
          </a:bodyPr>
          <a:lstStyle/>
          <a:p>
            <a:r>
              <a:rPr lang="en-US" altLang="zh-CN" b="1" dirty="0"/>
              <a:t>#records </a:t>
            </a:r>
          </a:p>
          <a:p>
            <a:pPr marL="285750" indent="-285750">
              <a:buFont typeface="Arial" panose="020B0604020202020204" pitchFamily="34" charset="0"/>
              <a:buChar char="•"/>
            </a:pPr>
            <a:r>
              <a:rPr lang="en-US" altLang="zh-CN" dirty="0"/>
              <a:t>student: 5000  </a:t>
            </a:r>
          </a:p>
          <a:p>
            <a:pPr marL="285750" indent="-285750">
              <a:buFont typeface="Arial" panose="020B0604020202020204" pitchFamily="34" charset="0"/>
              <a:buChar char="•"/>
            </a:pPr>
            <a:r>
              <a:rPr lang="en-US" altLang="zh-CN" dirty="0"/>
              <a:t>takes: 10000</a:t>
            </a:r>
          </a:p>
          <a:p>
            <a:r>
              <a:rPr lang="en-US" altLang="zh-CN" b="1" dirty="0"/>
              <a:t>#blocks </a:t>
            </a:r>
          </a:p>
          <a:p>
            <a:pPr marL="285750" indent="-285750">
              <a:buFont typeface="Arial" panose="020B0604020202020204" pitchFamily="34" charset="0"/>
              <a:buChar char="•"/>
            </a:pPr>
            <a:r>
              <a:rPr lang="en-US" altLang="zh-CN" dirty="0"/>
              <a:t>student: 100     </a:t>
            </a:r>
          </a:p>
          <a:p>
            <a:pPr marL="285750" indent="-285750">
              <a:buFont typeface="Arial" panose="020B0604020202020204" pitchFamily="34" charset="0"/>
              <a:buChar char="•"/>
            </a:pPr>
            <a:r>
              <a:rPr lang="en-US" altLang="zh-CN" dirty="0"/>
              <a:t>takes: 400</a:t>
            </a:r>
          </a:p>
        </p:txBody>
      </p:sp>
    </p:spTree>
    <p:extLst>
      <p:ext uri="{BB962C8B-B14F-4D97-AF65-F5344CB8AC3E}">
        <p14:creationId xmlns:p14="http://schemas.microsoft.com/office/powerpoint/2010/main" val="398564909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F7FC59-CBB3-4960-BCC7-029BB906D810}"/>
              </a:ext>
            </a:extLst>
          </p:cNvPr>
          <p:cNvSpPr>
            <a:spLocks noGrp="1"/>
          </p:cNvSpPr>
          <p:nvPr>
            <p:ph type="title"/>
          </p:nvPr>
        </p:nvSpPr>
        <p:spPr/>
        <p:txBody>
          <a:bodyPr/>
          <a:lstStyle/>
          <a:p>
            <a:pPr algn="ctr"/>
            <a:r>
              <a:rPr lang="en-US" altLang="zh-CN" dirty="0"/>
              <a:t>Block Nested-Loop Join (</a:t>
            </a:r>
            <a:r>
              <a:rPr lang="zh-CN" altLang="en-US" dirty="0"/>
              <a:t>块嵌套循环连接</a:t>
            </a:r>
            <a:r>
              <a:rPr lang="en-US" altLang="zh-CN" dirty="0"/>
              <a: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A4A56F56-6CC1-43E1-AC33-981A1BEA768B}"/>
                  </a:ext>
                </a:extLst>
              </p:cNvPr>
              <p:cNvSpPr>
                <a:spLocks noGrp="1"/>
              </p:cNvSpPr>
              <p:nvPr>
                <p:ph idx="1"/>
              </p:nvPr>
            </p:nvSpPr>
            <p:spPr/>
            <p:txBody>
              <a:bodyPr/>
              <a:lstStyle/>
              <a:p>
                <a:r>
                  <a:rPr lang="en-US" altLang="zh-CN" sz="1800" dirty="0"/>
                  <a:t>Variant of nested-loop join in which every block of inner relation is paired with every block of outer relation.</a:t>
                </a:r>
              </a:p>
              <a:p>
                <a:pPr marL="0" indent="0">
                  <a:buNone/>
                </a:pPr>
                <a:r>
                  <a:rPr lang="en-US" altLang="zh-CN" sz="1800" i="1" dirty="0">
                    <a:latin typeface="Times New Roman" panose="02020603050405020304" pitchFamily="18" charset="0"/>
                    <a:cs typeface="Times New Roman" panose="02020603050405020304" pitchFamily="18" charset="0"/>
                  </a:rPr>
                  <a:t>   </a:t>
                </a:r>
              </a:p>
              <a:p>
                <a:pPr marL="400050" lvl="1" indent="0">
                  <a:buNone/>
                </a:pPr>
                <a:r>
                  <a:rPr lang="en-US" altLang="zh-CN" sz="1800" b="1" i="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for each</a:t>
                </a:r>
                <a:r>
                  <a:rPr lang="en-US" altLang="zh-CN" sz="1600" i="1" dirty="0">
                    <a:latin typeface="Times New Roman" panose="02020603050405020304" pitchFamily="18" charset="0"/>
                    <a:cs typeface="Times New Roman" panose="02020603050405020304" pitchFamily="18" charset="0"/>
                  </a:rPr>
                  <a:t> block </a:t>
                </a:r>
                <a14:m>
                  <m:oMath xmlns:m="http://schemas.openxmlformats.org/officeDocument/2006/math">
                    <m:sSub>
                      <m:sSubPr>
                        <m:ctrlPr>
                          <a:rPr lang="en-US" altLang="zh-CN" sz="1600" i="1" smtClean="0">
                            <a:latin typeface="Cambria Math" panose="02040503050406030204" pitchFamily="18" charset="0"/>
                            <a:cs typeface="Times New Roman" panose="02020603050405020304" pitchFamily="18" charset="0"/>
                          </a:rPr>
                        </m:ctrlPr>
                      </m:sSubPr>
                      <m:e>
                        <m:r>
                          <a:rPr lang="en-US" altLang="zh-CN" sz="1600" b="0" i="1" smtClean="0">
                            <a:latin typeface="Cambria Math" panose="02040503050406030204" pitchFamily="18" charset="0"/>
                            <a:cs typeface="Times New Roman" panose="02020603050405020304" pitchFamily="18" charset="0"/>
                          </a:rPr>
                          <m:t>𝐵</m:t>
                        </m:r>
                      </m:e>
                      <m:sub>
                        <m:r>
                          <a:rPr lang="en-US" altLang="zh-CN" sz="1600" b="0" i="1" smtClean="0">
                            <a:latin typeface="Cambria Math" panose="02040503050406030204" pitchFamily="18" charset="0"/>
                            <a:cs typeface="Times New Roman" panose="02020603050405020304" pitchFamily="18" charset="0"/>
                          </a:rPr>
                          <m:t>𝑟</m:t>
                        </m:r>
                      </m:sub>
                    </m:sSub>
                  </m:oMath>
                </a14:m>
                <a:r>
                  <a:rPr lang="en-US" altLang="zh-CN" sz="1600" i="1" dirty="0">
                    <a:latin typeface="Times New Roman" panose="02020603050405020304" pitchFamily="18" charset="0"/>
                    <a:cs typeface="Times New Roman" panose="02020603050405020304" pitchFamily="18" charset="0"/>
                  </a:rPr>
                  <a:t> of </a:t>
                </a:r>
                <a14:m>
                  <m:oMath xmlns:m="http://schemas.openxmlformats.org/officeDocument/2006/math">
                    <m:r>
                      <a:rPr lang="en-US" altLang="zh-CN" sz="1600" b="0" i="1" smtClean="0">
                        <a:latin typeface="Cambria Math" panose="02040503050406030204" pitchFamily="18" charset="0"/>
                        <a:cs typeface="Times New Roman" panose="02020603050405020304" pitchFamily="18" charset="0"/>
                      </a:rPr>
                      <m:t>𝑟</m:t>
                    </m:r>
                  </m:oMath>
                </a14:m>
                <a:r>
                  <a:rPr lang="en-US" altLang="zh-CN" sz="1600" i="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do begin</a:t>
                </a:r>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for each</a:t>
                </a:r>
                <a:r>
                  <a:rPr lang="en-US" altLang="zh-CN" sz="1600" i="1" dirty="0">
                    <a:latin typeface="Times New Roman" panose="02020603050405020304" pitchFamily="18" charset="0"/>
                    <a:cs typeface="Times New Roman" panose="02020603050405020304" pitchFamily="18" charset="0"/>
                  </a:rPr>
                  <a:t> block </a:t>
                </a:r>
                <a14:m>
                  <m:oMath xmlns:m="http://schemas.openxmlformats.org/officeDocument/2006/math">
                    <m:sSub>
                      <m:sSubPr>
                        <m:ctrlPr>
                          <a:rPr lang="en-US" altLang="zh-CN" sz="1600" i="1" smtClean="0">
                            <a:latin typeface="Cambria Math" panose="02040503050406030204" pitchFamily="18" charset="0"/>
                            <a:cs typeface="Times New Roman" panose="02020603050405020304" pitchFamily="18" charset="0"/>
                          </a:rPr>
                        </m:ctrlPr>
                      </m:sSubPr>
                      <m:e>
                        <m:r>
                          <a:rPr lang="en-US" altLang="zh-CN" sz="1600" b="0" i="1" smtClean="0">
                            <a:latin typeface="Cambria Math" panose="02040503050406030204" pitchFamily="18" charset="0"/>
                            <a:cs typeface="Times New Roman" panose="02020603050405020304" pitchFamily="18" charset="0"/>
                          </a:rPr>
                          <m:t>𝐵</m:t>
                        </m:r>
                      </m:e>
                      <m:sub>
                        <m:r>
                          <a:rPr lang="en-US" altLang="zh-CN" sz="1600" b="0" i="1" smtClean="0">
                            <a:latin typeface="Cambria Math" panose="02040503050406030204" pitchFamily="18" charset="0"/>
                            <a:cs typeface="Times New Roman" panose="02020603050405020304" pitchFamily="18" charset="0"/>
                          </a:rPr>
                          <m:t>𝑠</m:t>
                        </m:r>
                      </m:sub>
                    </m:sSub>
                  </m:oMath>
                </a14:m>
                <a:r>
                  <a:rPr lang="en-US" altLang="zh-CN" sz="1600" i="1" dirty="0">
                    <a:latin typeface="Times New Roman" panose="02020603050405020304" pitchFamily="18" charset="0"/>
                    <a:cs typeface="Times New Roman" panose="02020603050405020304" pitchFamily="18" charset="0"/>
                  </a:rPr>
                  <a:t> of </a:t>
                </a:r>
                <a14:m>
                  <m:oMath xmlns:m="http://schemas.openxmlformats.org/officeDocument/2006/math">
                    <m:r>
                      <a:rPr lang="en-US" altLang="zh-CN" sz="1600" b="0" i="1" smtClean="0">
                        <a:latin typeface="Cambria Math" panose="02040503050406030204" pitchFamily="18" charset="0"/>
                        <a:cs typeface="Times New Roman" panose="02020603050405020304" pitchFamily="18" charset="0"/>
                      </a:rPr>
                      <m:t>𝑠</m:t>
                    </m:r>
                  </m:oMath>
                </a14:m>
                <a:r>
                  <a:rPr lang="en-US" altLang="zh-CN" sz="1600" i="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do begin</a:t>
                </a:r>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for each</a:t>
                </a:r>
                <a:r>
                  <a:rPr lang="en-US" altLang="zh-CN" sz="1600" i="1" dirty="0">
                    <a:latin typeface="Times New Roman" panose="02020603050405020304" pitchFamily="18" charset="0"/>
                    <a:cs typeface="Times New Roman" panose="02020603050405020304" pitchFamily="18" charset="0"/>
                  </a:rPr>
                  <a:t> tuple </a:t>
                </a:r>
                <a14:m>
                  <m:oMath xmlns:m="http://schemas.openxmlformats.org/officeDocument/2006/math">
                    <m:sSub>
                      <m:sSubPr>
                        <m:ctrlPr>
                          <a:rPr lang="en-US" altLang="zh-CN" sz="1600" i="1" smtClean="0">
                            <a:latin typeface="Cambria Math" panose="02040503050406030204" pitchFamily="18" charset="0"/>
                            <a:cs typeface="Times New Roman" panose="02020603050405020304" pitchFamily="18" charset="0"/>
                          </a:rPr>
                        </m:ctrlPr>
                      </m:sSubPr>
                      <m:e>
                        <m:r>
                          <a:rPr lang="en-US" altLang="zh-CN" sz="1600" b="0" i="1" smtClean="0">
                            <a:latin typeface="Cambria Math" panose="02040503050406030204" pitchFamily="18" charset="0"/>
                            <a:cs typeface="Times New Roman" panose="02020603050405020304" pitchFamily="18" charset="0"/>
                          </a:rPr>
                          <m:t>𝑡</m:t>
                        </m:r>
                      </m:e>
                      <m:sub>
                        <m:r>
                          <a:rPr lang="en-US" altLang="zh-CN" sz="1600" b="0" i="1" smtClean="0">
                            <a:latin typeface="Cambria Math" panose="02040503050406030204" pitchFamily="18" charset="0"/>
                            <a:cs typeface="Times New Roman" panose="02020603050405020304" pitchFamily="18" charset="0"/>
                          </a:rPr>
                          <m:t>𝑟</m:t>
                        </m:r>
                      </m:sub>
                    </m:sSub>
                  </m:oMath>
                </a14:m>
                <a:r>
                  <a:rPr lang="en-US" altLang="zh-CN" sz="1600" i="1" dirty="0">
                    <a:latin typeface="Times New Roman" panose="02020603050405020304" pitchFamily="18" charset="0"/>
                    <a:cs typeface="Times New Roman" panose="02020603050405020304" pitchFamily="18" charset="0"/>
                  </a:rPr>
                  <a:t> in </a:t>
                </a:r>
                <a14:m>
                  <m:oMath xmlns:m="http://schemas.openxmlformats.org/officeDocument/2006/math">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𝐵</m:t>
                        </m:r>
                      </m:e>
                      <m:sub>
                        <m:r>
                          <a:rPr lang="en-US" altLang="zh-CN" sz="1600" i="1">
                            <a:latin typeface="Cambria Math" panose="02040503050406030204" pitchFamily="18" charset="0"/>
                            <a:cs typeface="Times New Roman" panose="02020603050405020304" pitchFamily="18" charset="0"/>
                          </a:rPr>
                          <m:t>𝑟</m:t>
                        </m:r>
                      </m:sub>
                    </m:sSub>
                  </m:oMath>
                </a14:m>
                <a:r>
                  <a:rPr lang="en-US" altLang="zh-CN" sz="1600" i="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do begin</a:t>
                </a:r>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for each</a:t>
                </a:r>
                <a:r>
                  <a:rPr lang="en-US" altLang="zh-CN" sz="1600" i="1" dirty="0">
                    <a:latin typeface="Times New Roman" panose="02020603050405020304" pitchFamily="18" charset="0"/>
                    <a:cs typeface="Times New Roman" panose="02020603050405020304" pitchFamily="18" charset="0"/>
                  </a:rPr>
                  <a:t> tuple </a:t>
                </a:r>
                <a14:m>
                  <m:oMath xmlns:m="http://schemas.openxmlformats.org/officeDocument/2006/math">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𝑡</m:t>
                        </m:r>
                      </m:e>
                      <m:sub>
                        <m:r>
                          <a:rPr lang="en-US" altLang="zh-CN" sz="1600" b="0" i="1" smtClean="0">
                            <a:latin typeface="Cambria Math" panose="02040503050406030204" pitchFamily="18" charset="0"/>
                            <a:cs typeface="Times New Roman" panose="02020603050405020304" pitchFamily="18" charset="0"/>
                          </a:rPr>
                          <m:t>𝑠</m:t>
                        </m:r>
                      </m:sub>
                    </m:sSub>
                  </m:oMath>
                </a14:m>
                <a:r>
                  <a:rPr lang="en-US" altLang="zh-CN" sz="1600" i="1" dirty="0">
                    <a:latin typeface="Times New Roman" panose="02020603050405020304" pitchFamily="18" charset="0"/>
                    <a:cs typeface="Times New Roman" panose="02020603050405020304" pitchFamily="18" charset="0"/>
                  </a:rPr>
                  <a:t> in </a:t>
                </a:r>
                <a14:m>
                  <m:oMath xmlns:m="http://schemas.openxmlformats.org/officeDocument/2006/math">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𝐵</m:t>
                        </m:r>
                      </m:e>
                      <m:sub>
                        <m:r>
                          <a:rPr lang="en-US" altLang="zh-CN" sz="1600" i="1">
                            <a:latin typeface="Cambria Math" panose="02040503050406030204" pitchFamily="18" charset="0"/>
                            <a:cs typeface="Times New Roman" panose="02020603050405020304" pitchFamily="18" charset="0"/>
                          </a:rPr>
                          <m:t>𝑠</m:t>
                        </m:r>
                      </m:sub>
                    </m:sSub>
                  </m:oMath>
                </a14:m>
                <a:r>
                  <a:rPr lang="en-US" altLang="zh-CN" sz="1600" i="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do begin</a:t>
                </a:r>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check</a:t>
                </a:r>
                <a:r>
                  <a:rPr lang="en-US" altLang="zh-CN" sz="1600" i="1" dirty="0">
                    <a:latin typeface="Times New Roman" panose="02020603050405020304" pitchFamily="18" charset="0"/>
                    <a:cs typeface="Times New Roman" panose="02020603050405020304" pitchFamily="18" charset="0"/>
                  </a:rPr>
                  <a:t> if (</a:t>
                </a:r>
                <a14:m>
                  <m:oMath xmlns:m="http://schemas.openxmlformats.org/officeDocument/2006/math">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𝑡</m:t>
                        </m:r>
                      </m:e>
                      <m:sub>
                        <m:r>
                          <a:rPr lang="en-US" altLang="zh-CN" sz="1600" i="1">
                            <a:latin typeface="Cambria Math" panose="02040503050406030204" pitchFamily="18" charset="0"/>
                            <a:cs typeface="Times New Roman" panose="02020603050405020304" pitchFamily="18" charset="0"/>
                          </a:rPr>
                          <m:t>𝑟</m:t>
                        </m:r>
                      </m:sub>
                    </m:sSub>
                  </m:oMath>
                </a14:m>
                <a:r>
                  <a:rPr lang="en-US" altLang="zh-CN" sz="1600" i="1"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𝑡</m:t>
                        </m:r>
                      </m:e>
                      <m:sub>
                        <m:r>
                          <a:rPr lang="en-US" altLang="zh-CN" sz="1600" i="1">
                            <a:latin typeface="Cambria Math" panose="02040503050406030204" pitchFamily="18" charset="0"/>
                            <a:cs typeface="Times New Roman" panose="02020603050405020304" pitchFamily="18" charset="0"/>
                          </a:rPr>
                          <m:t>𝑠</m:t>
                        </m:r>
                      </m:sub>
                    </m:sSub>
                  </m:oMath>
                </a14:m>
                <a:r>
                  <a:rPr lang="en-US" altLang="zh-CN" sz="1600" i="1" dirty="0">
                    <a:latin typeface="Times New Roman" panose="02020603050405020304" pitchFamily="18" charset="0"/>
                    <a:cs typeface="Times New Roman" panose="02020603050405020304" pitchFamily="18" charset="0"/>
                  </a:rPr>
                  <a:t>) satisfy the join condition </a:t>
                </a:r>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	        if they do, add </a:t>
                </a:r>
                <a14:m>
                  <m:oMath xmlns:m="http://schemas.openxmlformats.org/officeDocument/2006/math">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𝑡</m:t>
                        </m:r>
                      </m:e>
                      <m:sub>
                        <m:r>
                          <a:rPr lang="en-US" altLang="zh-CN" sz="1600" i="1">
                            <a:latin typeface="Cambria Math" panose="02040503050406030204" pitchFamily="18" charset="0"/>
                            <a:cs typeface="Times New Roman" panose="02020603050405020304" pitchFamily="18" charset="0"/>
                          </a:rPr>
                          <m:t>𝑟</m:t>
                        </m:r>
                      </m:sub>
                    </m:sSub>
                    <m:r>
                      <a:rPr lang="en-US" altLang="zh-CN" sz="1600" i="1" dirty="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altLang="zh-CN" sz="1600" i="1">
                            <a:latin typeface="Cambria Math" panose="02040503050406030204" pitchFamily="18" charset="0"/>
                            <a:cs typeface="Times New Roman" panose="02020603050405020304" pitchFamily="18" charset="0"/>
                          </a:rPr>
                        </m:ctrlPr>
                      </m:sSubPr>
                      <m:e>
                        <m:r>
                          <a:rPr lang="en-US" altLang="zh-CN" sz="1600" i="1">
                            <a:latin typeface="Cambria Math" panose="02040503050406030204" pitchFamily="18" charset="0"/>
                            <a:cs typeface="Times New Roman" panose="02020603050405020304" pitchFamily="18" charset="0"/>
                          </a:rPr>
                          <m:t>𝑡</m:t>
                        </m:r>
                      </m:e>
                      <m:sub>
                        <m:r>
                          <a:rPr lang="en-US" altLang="zh-CN" sz="1600" i="1">
                            <a:latin typeface="Cambria Math" panose="02040503050406030204" pitchFamily="18" charset="0"/>
                            <a:cs typeface="Times New Roman" panose="02020603050405020304" pitchFamily="18" charset="0"/>
                          </a:rPr>
                          <m:t>𝑠</m:t>
                        </m:r>
                      </m:sub>
                    </m:sSub>
                    <m:r>
                      <a:rPr lang="en-US" altLang="zh-CN" sz="1600" i="1">
                        <a:latin typeface="Cambria Math" panose="02040503050406030204" pitchFamily="18" charset="0"/>
                        <a:cs typeface="Times New Roman" panose="02020603050405020304" pitchFamily="18" charset="0"/>
                      </a:rPr>
                      <m:t> </m:t>
                    </m:r>
                  </m:oMath>
                </a14:m>
                <a:r>
                  <a:rPr lang="en-US" altLang="zh-CN" sz="1600" i="1" dirty="0">
                    <a:latin typeface="Times New Roman" panose="02020603050405020304" pitchFamily="18" charset="0"/>
                    <a:cs typeface="Times New Roman" panose="02020603050405020304" pitchFamily="18" charset="0"/>
                  </a:rPr>
                  <a:t>to the result.</a:t>
                </a:r>
                <a:br>
                  <a:rPr lang="en-US" altLang="zh-CN" sz="1600" i="1" dirty="0">
                    <a:latin typeface="Times New Roman" panose="02020603050405020304" pitchFamily="18" charset="0"/>
                    <a:cs typeface="Times New Roman" panose="02020603050405020304" pitchFamily="18" charset="0"/>
                  </a:rPr>
                </a:br>
                <a:r>
                  <a:rPr lang="en-US" altLang="zh-CN" sz="1600" i="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   end</a:t>
                </a:r>
                <a:br>
                  <a:rPr lang="en-US" altLang="zh-CN" sz="1600" b="1" i="1" dirty="0">
                    <a:latin typeface="Times New Roman" panose="02020603050405020304" pitchFamily="18" charset="0"/>
                    <a:cs typeface="Times New Roman" panose="02020603050405020304" pitchFamily="18" charset="0"/>
                  </a:rPr>
                </a:br>
                <a:r>
                  <a:rPr lang="en-US" altLang="zh-CN" sz="1600" b="1" i="1" dirty="0">
                    <a:latin typeface="Times New Roman" panose="02020603050405020304" pitchFamily="18" charset="0"/>
                    <a:cs typeface="Times New Roman" panose="02020603050405020304" pitchFamily="18" charset="0"/>
                  </a:rPr>
                  <a:t>           </a:t>
                </a:r>
                <a:r>
                  <a:rPr lang="en-US" altLang="zh-CN" sz="1600" b="1" i="1" dirty="0" err="1">
                    <a:latin typeface="Times New Roman" panose="02020603050405020304" pitchFamily="18" charset="0"/>
                    <a:cs typeface="Times New Roman" panose="02020603050405020304" pitchFamily="18" charset="0"/>
                  </a:rPr>
                  <a:t>end</a:t>
                </a:r>
                <a:br>
                  <a:rPr lang="en-US" altLang="zh-CN" sz="1600" b="1" i="1" dirty="0">
                    <a:latin typeface="Times New Roman" panose="02020603050405020304" pitchFamily="18" charset="0"/>
                    <a:cs typeface="Times New Roman" panose="02020603050405020304" pitchFamily="18" charset="0"/>
                  </a:rPr>
                </a:br>
                <a:r>
                  <a:rPr lang="en-US" altLang="zh-CN" sz="1600" b="1" i="1" dirty="0">
                    <a:latin typeface="Times New Roman" panose="02020603050405020304" pitchFamily="18" charset="0"/>
                    <a:cs typeface="Times New Roman" panose="02020603050405020304" pitchFamily="18" charset="0"/>
                  </a:rPr>
                  <a:t>        end</a:t>
                </a:r>
                <a:br>
                  <a:rPr lang="en-US" altLang="zh-CN" sz="1600" b="1" i="1" dirty="0">
                    <a:latin typeface="Times New Roman" panose="02020603050405020304" pitchFamily="18" charset="0"/>
                    <a:cs typeface="Times New Roman" panose="02020603050405020304" pitchFamily="18" charset="0"/>
                  </a:rPr>
                </a:br>
                <a:r>
                  <a:rPr lang="en-US" altLang="zh-CN" sz="1600" b="1" i="1" dirty="0">
                    <a:latin typeface="Times New Roman" panose="02020603050405020304" pitchFamily="18" charset="0"/>
                    <a:cs typeface="Times New Roman" panose="02020603050405020304" pitchFamily="18" charset="0"/>
                  </a:rPr>
                  <a:t>    </a:t>
                </a:r>
                <a:r>
                  <a:rPr lang="en-US" altLang="zh-CN" sz="1600" b="1" i="1" dirty="0" err="1">
                    <a:latin typeface="Times New Roman" panose="02020603050405020304" pitchFamily="18" charset="0"/>
                    <a:cs typeface="Times New Roman" panose="02020603050405020304" pitchFamily="18" charset="0"/>
                  </a:rPr>
                  <a:t>end</a:t>
                </a:r>
                <a:endParaRPr lang="en-US" altLang="zh-CN" sz="1200" b="1" i="1" dirty="0">
                  <a:latin typeface="Times New Roman" panose="02020603050405020304" pitchFamily="18" charset="0"/>
                  <a:cs typeface="Times New Roman" panose="02020603050405020304" pitchFamily="18" charset="0"/>
                </a:endParaRPr>
              </a:p>
              <a:p>
                <a:endParaRPr lang="zh-CN" altLang="en-US" sz="1800" dirty="0"/>
              </a:p>
            </p:txBody>
          </p:sp>
        </mc:Choice>
        <mc:Fallback xmlns="">
          <p:sp>
            <p:nvSpPr>
              <p:cNvPr id="3" name="内容占位符 2">
                <a:extLst>
                  <a:ext uri="{FF2B5EF4-FFF2-40B4-BE49-F238E27FC236}">
                    <a16:creationId xmlns:a16="http://schemas.microsoft.com/office/drawing/2014/main" id="{A4A56F56-6CC1-43E1-AC33-981A1BEA768B}"/>
                  </a:ext>
                </a:extLst>
              </p:cNvPr>
              <p:cNvSpPr>
                <a:spLocks noGrp="1" noRot="1" noChangeAspect="1" noMove="1" noResize="1" noEditPoints="1" noAdjustHandles="1" noChangeArrowheads="1" noChangeShapeType="1" noTextEdit="1"/>
              </p:cNvSpPr>
              <p:nvPr>
                <p:ph idx="1"/>
              </p:nvPr>
            </p:nvSpPr>
            <p:spPr>
              <a:blipFill>
                <a:blip r:embed="rId2"/>
                <a:stretch>
                  <a:fillRect l="-427"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80206444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CB6DF5-1628-472F-AC82-89628BD76D0E}"/>
              </a:ext>
            </a:extLst>
          </p:cNvPr>
          <p:cNvSpPr>
            <a:spLocks noGrp="1"/>
          </p:cNvSpPr>
          <p:nvPr>
            <p:ph type="title"/>
          </p:nvPr>
        </p:nvSpPr>
        <p:spPr/>
        <p:txBody>
          <a:bodyPr/>
          <a:lstStyle/>
          <a:p>
            <a:pPr algn="ctr"/>
            <a:r>
              <a:rPr lang="en-US" altLang="zh-CN" dirty="0"/>
              <a:t>Block Nested-Loop Join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9851C305-D2C6-45D4-A050-DCBB3AF37CA8}"/>
                  </a:ext>
                </a:extLst>
              </p:cNvPr>
              <p:cNvSpPr>
                <a:spLocks noGrp="1"/>
              </p:cNvSpPr>
              <p:nvPr>
                <p:ph idx="1"/>
              </p:nvPr>
            </p:nvSpPr>
            <p:spPr/>
            <p:txBody>
              <a:bodyPr/>
              <a:lstStyle/>
              <a:p>
                <a:pPr>
                  <a:spcBef>
                    <a:spcPts val="600"/>
                  </a:spcBef>
                </a:pPr>
                <a:r>
                  <a:rPr lang="en-US" altLang="zh-CN" sz="1800" dirty="0"/>
                  <a:t>Worst case cost estimate: </a:t>
                </a:r>
                <a14:m>
                  <m:oMath xmlns:m="http://schemas.openxmlformats.org/officeDocument/2006/math">
                    <m:sSub>
                      <m:sSubPr>
                        <m:ctrlPr>
                          <a:rPr lang="en-US" altLang="zh-CN" sz="1800" i="1" smtClean="0">
                            <a:latin typeface="Cambria Math" panose="02040503050406030204" pitchFamily="18" charset="0"/>
                          </a:rPr>
                        </m:ctrlPr>
                      </m:sSub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𝑟</m:t>
                            </m:r>
                          </m:sub>
                        </m:sSub>
                        <m:r>
                          <a:rPr lang="en-US" altLang="zh-CN" sz="180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rPr>
                          <m:t>𝑏</m:t>
                        </m:r>
                      </m:e>
                      <m:sub>
                        <m:r>
                          <a:rPr lang="en-US" altLang="zh-CN" sz="1800" b="0" i="1" smtClean="0">
                            <a:latin typeface="Cambria Math" panose="02040503050406030204" pitchFamily="18" charset="0"/>
                          </a:rPr>
                          <m:t>𝑠</m:t>
                        </m:r>
                      </m:sub>
                    </m:sSub>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b="0" i="1" smtClean="0">
                            <a:latin typeface="Cambria Math" panose="02040503050406030204" pitchFamily="18" charset="0"/>
                          </a:rPr>
                          <m:t>𝑟</m:t>
                        </m:r>
                      </m:sub>
                    </m:sSub>
                  </m:oMath>
                </a14:m>
                <a:r>
                  <a:rPr lang="en-US" altLang="zh-CN" sz="1800" dirty="0"/>
                  <a:t> block transfers, 2 *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𝑟</m:t>
                        </m:r>
                      </m:sub>
                    </m:sSub>
                  </m:oMath>
                </a14:m>
                <a:r>
                  <a:rPr lang="en-US" altLang="zh-CN" sz="1800" dirty="0"/>
                  <a:t> seeks</a:t>
                </a:r>
              </a:p>
              <a:p>
                <a:pPr lvl="1">
                  <a:spcBef>
                    <a:spcPts val="600"/>
                  </a:spcBef>
                </a:pPr>
                <a:r>
                  <a:rPr lang="en-US" altLang="zh-CN" sz="1600" dirty="0"/>
                  <a:t>Each block in the inner relation </a:t>
                </a:r>
                <a14:m>
                  <m:oMath xmlns:m="http://schemas.openxmlformats.org/officeDocument/2006/math">
                    <m:r>
                      <a:rPr lang="en-US" altLang="zh-CN" sz="1600" b="0" i="1" smtClean="0">
                        <a:latin typeface="Cambria Math" panose="02040503050406030204" pitchFamily="18" charset="0"/>
                      </a:rPr>
                      <m:t>𝑠</m:t>
                    </m:r>
                  </m:oMath>
                </a14:m>
                <a:r>
                  <a:rPr lang="en-US" altLang="zh-CN" sz="1600" dirty="0"/>
                  <a:t> is read once for each block in the outer relation (instead of once for each tuple in the outer relation)</a:t>
                </a:r>
              </a:p>
              <a:p>
                <a:pPr lvl="1">
                  <a:spcBef>
                    <a:spcPts val="600"/>
                  </a:spcBef>
                </a:pPr>
                <a:r>
                  <a:rPr lang="zh-CN" altLang="en-US" sz="1600" dirty="0"/>
                  <a:t>如内存不能容纳任何一个关系，则用较小的关系作为外层关系更有效</a:t>
                </a:r>
              </a:p>
              <a:p>
                <a:pPr lvl="2">
                  <a:spcBef>
                    <a:spcPts val="600"/>
                  </a:spcBef>
                </a:pPr>
                <a:r>
                  <a:rPr lang="en-US" altLang="zh-CN" sz="1400" dirty="0"/>
                  <a:t>E.g., cost of block nested loops join: 100*400 +100 = 40,100 block transfers + 2 * 100=200 seeks</a:t>
                </a:r>
              </a:p>
              <a:p>
                <a:pPr>
                  <a:spcBef>
                    <a:spcPts val="600"/>
                  </a:spcBef>
                </a:pPr>
                <a:r>
                  <a:rPr lang="en-US" altLang="zh-CN" sz="1800" dirty="0"/>
                  <a:t>Best case</a:t>
                </a:r>
                <a:r>
                  <a:rPr lang="zh-CN" altLang="en-US" sz="1800" dirty="0"/>
                  <a:t>：内存能容纳内层关系，较小的关系做内层</a:t>
                </a:r>
                <a:endParaRPr lang="en-US" altLang="zh-CN" sz="1800" dirty="0"/>
              </a:p>
              <a:p>
                <a:pPr lvl="1">
                  <a:spcBef>
                    <a:spcPts val="600"/>
                  </a:spcBef>
                </a:pP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i="1">
                            <a:latin typeface="Cambria Math" panose="02040503050406030204" pitchFamily="18" charset="0"/>
                          </a:rPr>
                          <m:t>𝑟</m:t>
                        </m:r>
                      </m:sub>
                    </m:sSub>
                    <m:r>
                      <a:rPr lang="en-US" altLang="zh-CN" sz="1600" i="1">
                        <a:latin typeface="Cambria Math" panose="02040503050406030204" pitchFamily="18" charset="0"/>
                      </a:rPr>
                      <m:t>+</m:t>
                    </m:r>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𝑏</m:t>
                        </m:r>
                      </m:e>
                      <m:sub>
                        <m:r>
                          <a:rPr lang="en-US" altLang="zh-CN" sz="1600" b="0" i="1" smtClean="0">
                            <a:latin typeface="Cambria Math" panose="02040503050406030204" pitchFamily="18" charset="0"/>
                          </a:rPr>
                          <m:t>𝑠</m:t>
                        </m:r>
                      </m:sub>
                    </m:sSub>
                  </m:oMath>
                </a14:m>
                <a:r>
                  <a:rPr lang="en-US" altLang="zh-CN" sz="1600" dirty="0"/>
                  <a:t> block transfers + 2 seeks</a:t>
                </a:r>
              </a:p>
              <a:p>
                <a:pPr>
                  <a:spcBef>
                    <a:spcPts val="600"/>
                  </a:spcBef>
                </a:pPr>
                <a:endParaRPr lang="zh-CN" altLang="en-US" sz="1800" dirty="0"/>
              </a:p>
            </p:txBody>
          </p:sp>
        </mc:Choice>
        <mc:Fallback xmlns="">
          <p:sp>
            <p:nvSpPr>
              <p:cNvPr id="3" name="内容占位符 2">
                <a:extLst>
                  <a:ext uri="{FF2B5EF4-FFF2-40B4-BE49-F238E27FC236}">
                    <a16:creationId xmlns:a16="http://schemas.microsoft.com/office/drawing/2014/main" id="{9851C305-D2C6-45D4-A050-DCBB3AF37CA8}"/>
                  </a:ext>
                </a:extLst>
              </p:cNvPr>
              <p:cNvSpPr>
                <a:spLocks noGrp="1" noRot="1" noChangeAspect="1" noMove="1" noResize="1" noEditPoints="1" noAdjustHandles="1" noChangeArrowheads="1" noChangeShapeType="1" noTextEdit="1"/>
              </p:cNvSpPr>
              <p:nvPr>
                <p:ph idx="1"/>
              </p:nvPr>
            </p:nvSpPr>
            <p:spPr>
              <a:blipFill>
                <a:blip r:embed="rId2"/>
                <a:stretch>
                  <a:fillRect l="-427" t="-962"/>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94CFC8E6-5280-48EB-8BB0-1E1A6A3447AE}"/>
              </a:ext>
            </a:extLst>
          </p:cNvPr>
          <p:cNvSpPr txBox="1"/>
          <p:nvPr/>
        </p:nvSpPr>
        <p:spPr>
          <a:xfrm>
            <a:off x="6660232" y="2571750"/>
            <a:ext cx="1944216" cy="1614503"/>
          </a:xfrm>
          <a:prstGeom prst="rect">
            <a:avLst/>
          </a:prstGeom>
          <a:solidFill>
            <a:schemeClr val="accent6">
              <a:lumMod val="40000"/>
              <a:lumOff val="60000"/>
            </a:schemeClr>
          </a:solidFill>
        </p:spPr>
        <p:txBody>
          <a:bodyPr wrap="square" rtlCol="0">
            <a:spAutoFit/>
          </a:bodyPr>
          <a:lstStyle/>
          <a:p>
            <a:r>
              <a:rPr lang="en-US" altLang="zh-CN" b="1" dirty="0"/>
              <a:t>#records </a:t>
            </a:r>
          </a:p>
          <a:p>
            <a:pPr marL="285750" indent="-285750">
              <a:buFont typeface="Arial" panose="020B0604020202020204" pitchFamily="34" charset="0"/>
              <a:buChar char="•"/>
            </a:pPr>
            <a:r>
              <a:rPr lang="en-US" altLang="zh-CN" dirty="0"/>
              <a:t>student: 5000  </a:t>
            </a:r>
          </a:p>
          <a:p>
            <a:pPr marL="285750" indent="-285750">
              <a:buFont typeface="Arial" panose="020B0604020202020204" pitchFamily="34" charset="0"/>
              <a:buChar char="•"/>
            </a:pPr>
            <a:r>
              <a:rPr lang="en-US" altLang="zh-CN" dirty="0"/>
              <a:t>takes: 10000</a:t>
            </a:r>
          </a:p>
          <a:p>
            <a:r>
              <a:rPr lang="en-US" altLang="zh-CN" b="1" dirty="0"/>
              <a:t>#blocks </a:t>
            </a:r>
          </a:p>
          <a:p>
            <a:pPr marL="285750" indent="-285750">
              <a:buFont typeface="Arial" panose="020B0604020202020204" pitchFamily="34" charset="0"/>
              <a:buChar char="•"/>
            </a:pPr>
            <a:r>
              <a:rPr lang="en-US" altLang="zh-CN" dirty="0"/>
              <a:t>student: 100     </a:t>
            </a:r>
          </a:p>
          <a:p>
            <a:pPr marL="285750" indent="-285750">
              <a:buFont typeface="Arial" panose="020B0604020202020204" pitchFamily="34" charset="0"/>
              <a:buChar char="•"/>
            </a:pPr>
            <a:r>
              <a:rPr lang="en-US" altLang="zh-CN" dirty="0"/>
              <a:t>takes: 400</a:t>
            </a:r>
          </a:p>
        </p:txBody>
      </p:sp>
    </p:spTree>
    <p:extLst>
      <p:ext uri="{BB962C8B-B14F-4D97-AF65-F5344CB8AC3E}">
        <p14:creationId xmlns:p14="http://schemas.microsoft.com/office/powerpoint/2010/main" val="3154363993"/>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D9DE78-C0AD-4E19-8EFF-4C5E561A3478}"/>
              </a:ext>
            </a:extLst>
          </p:cNvPr>
          <p:cNvSpPr>
            <a:spLocks noGrp="1"/>
          </p:cNvSpPr>
          <p:nvPr>
            <p:ph type="title"/>
          </p:nvPr>
        </p:nvSpPr>
        <p:spPr/>
        <p:txBody>
          <a:bodyPr/>
          <a:lstStyle/>
          <a:p>
            <a:pPr algn="ctr"/>
            <a:r>
              <a:rPr lang="en-US" altLang="zh-CN" dirty="0"/>
              <a:t>Block Nested-Loop Join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B2BCF11E-C907-42B4-A18C-19B81CE9FF8F}"/>
                  </a:ext>
                </a:extLst>
              </p:cNvPr>
              <p:cNvSpPr>
                <a:spLocks noGrp="1"/>
              </p:cNvSpPr>
              <p:nvPr>
                <p:ph idx="1"/>
              </p:nvPr>
            </p:nvSpPr>
            <p:spPr/>
            <p:txBody>
              <a:bodyPr/>
              <a:lstStyle/>
              <a:p>
                <a:r>
                  <a:rPr lang="en-US" altLang="zh-CN" sz="2000" b="1" dirty="0"/>
                  <a:t>Improvements to nested loop and block nested loop algorithms</a:t>
                </a:r>
              </a:p>
              <a:p>
                <a:pPr lvl="1"/>
                <a:r>
                  <a:rPr lang="en-US" altLang="zh-CN" sz="1800" dirty="0"/>
                  <a:t>If </a:t>
                </a:r>
                <a:r>
                  <a:rPr lang="en-US" altLang="zh-CN" sz="1800" dirty="0" err="1"/>
                  <a:t>equi</a:t>
                </a:r>
                <a:r>
                  <a:rPr lang="en-US" altLang="zh-CN" sz="1800" dirty="0"/>
                  <a:t>-join (</a:t>
                </a:r>
                <a:r>
                  <a:rPr lang="zh-CN" altLang="en-US" sz="1800" dirty="0"/>
                  <a:t>等值连接</a:t>
                </a:r>
                <a:r>
                  <a:rPr lang="en-US" altLang="zh-CN" sz="1800" dirty="0"/>
                  <a:t>) attribute forms a key of inner relation, stop inner loop on first match</a:t>
                </a:r>
              </a:p>
              <a:p>
                <a:pPr lvl="1"/>
                <a:r>
                  <a:rPr lang="en-US" altLang="zh-CN" sz="1800" dirty="0"/>
                  <a:t>In block nested-loop, use (</a:t>
                </a:r>
                <a14:m>
                  <m:oMath xmlns:m="http://schemas.openxmlformats.org/officeDocument/2006/math">
                    <m:r>
                      <a:rPr lang="en-US" altLang="zh-CN" sz="1800" b="0" i="1" smtClean="0">
                        <a:latin typeface="Cambria Math" panose="02040503050406030204" pitchFamily="18" charset="0"/>
                      </a:rPr>
                      <m:t>𝑀</m:t>
                    </m:r>
                    <m:r>
                      <a:rPr lang="en-US" altLang="zh-CN" sz="1800" b="0" i="1" smtClean="0">
                        <a:latin typeface="Cambria Math" panose="02040503050406030204" pitchFamily="18" charset="0"/>
                      </a:rPr>
                      <m:t>−2</m:t>
                    </m:r>
                  </m:oMath>
                </a14:m>
                <a:r>
                  <a:rPr lang="en-US" altLang="zh-CN" sz="1800" dirty="0"/>
                  <a:t>) disk blocks as blocking unit for outer relations, where </a:t>
                </a:r>
                <a14:m>
                  <m:oMath xmlns:m="http://schemas.openxmlformats.org/officeDocument/2006/math">
                    <m:r>
                      <a:rPr lang="en-US" altLang="zh-CN" sz="1800" b="0" i="1" smtClean="0">
                        <a:latin typeface="Cambria Math" panose="02040503050406030204" pitchFamily="18" charset="0"/>
                      </a:rPr>
                      <m:t>𝑀</m:t>
                    </m:r>
                  </m:oMath>
                </a14:m>
                <a:r>
                  <a:rPr lang="en-US" altLang="zh-CN" sz="1800" dirty="0"/>
                  <a:t> = memory size in blocks; use remaining two blocks to buffer inner relation and output</a:t>
                </a:r>
              </a:p>
              <a:p>
                <a:pPr lvl="2"/>
                <a:r>
                  <a:rPr lang="en-US" altLang="zh-CN" sz="1600" dirty="0"/>
                  <a:t>Cost =  </a:t>
                </a:r>
                <a14:m>
                  <m:oMath xmlns:m="http://schemas.openxmlformats.org/officeDocument/2006/math">
                    <m:d>
                      <m:dPr>
                        <m:begChr m:val="⌈"/>
                        <m:endChr m:val="⌉"/>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𝑟</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−2)</m:t>
                        </m:r>
                      </m:e>
                    </m:d>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𝑠</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𝑟</m:t>
                        </m:r>
                      </m:sub>
                    </m:sSub>
                  </m:oMath>
                </a14:m>
                <a:r>
                  <a:rPr lang="en-US" altLang="zh-CN" sz="1600" dirty="0"/>
                  <a:t> block transfers + 2</a:t>
                </a:r>
                <a14:m>
                  <m:oMath xmlns:m="http://schemas.openxmlformats.org/officeDocument/2006/math">
                    <m:d>
                      <m:dPr>
                        <m:begChr m:val="⌈"/>
                        <m:endChr m:val="⌉"/>
                        <m:ctrlPr>
                          <a:rPr lang="en-US" altLang="zh-CN" sz="1600" i="1" smtClean="0">
                            <a:latin typeface="Cambria Math" panose="02040503050406030204" pitchFamily="18" charset="0"/>
                          </a:rPr>
                        </m:ctrlPr>
                      </m:dPr>
                      <m:e>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𝑟</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𝑀</m:t>
                        </m:r>
                        <m:r>
                          <a:rPr lang="en-US" altLang="zh-CN" sz="1600" b="0" i="1" smtClean="0">
                            <a:latin typeface="Cambria Math" panose="02040503050406030204" pitchFamily="18" charset="0"/>
                          </a:rPr>
                          <m:t>−2)</m:t>
                        </m:r>
                      </m:e>
                    </m:d>
                  </m:oMath>
                </a14:m>
                <a:r>
                  <a:rPr lang="en-US" altLang="zh-CN" sz="1600" dirty="0"/>
                  <a:t> seeks</a:t>
                </a:r>
              </a:p>
              <a:p>
                <a:pPr lvl="1"/>
                <a:r>
                  <a:rPr lang="en-US" altLang="zh-CN" sz="1800" dirty="0"/>
                  <a:t>Scan inner relation forward and backward alternately, to make use of the blocks remaining in buffer (with LRU replacement)</a:t>
                </a:r>
              </a:p>
              <a:p>
                <a:pPr lvl="1"/>
                <a:r>
                  <a:rPr lang="en-US" altLang="zh-CN" sz="1800" dirty="0"/>
                  <a:t>Use index on inner relation if available (next slide)</a:t>
                </a:r>
              </a:p>
              <a:p>
                <a:endParaRPr lang="zh-CN" altLang="en-US" sz="2000" dirty="0"/>
              </a:p>
            </p:txBody>
          </p:sp>
        </mc:Choice>
        <mc:Fallback xmlns="">
          <p:sp>
            <p:nvSpPr>
              <p:cNvPr id="3" name="内容占位符 2">
                <a:extLst>
                  <a:ext uri="{FF2B5EF4-FFF2-40B4-BE49-F238E27FC236}">
                    <a16:creationId xmlns:a16="http://schemas.microsoft.com/office/drawing/2014/main" id="{B2BCF11E-C907-42B4-A18C-19B81CE9FF8F}"/>
                  </a:ext>
                </a:extLst>
              </p:cNvPr>
              <p:cNvSpPr>
                <a:spLocks noGrp="1" noRot="1" noChangeAspect="1" noMove="1" noResize="1" noEditPoints="1" noAdjustHandles="1" noChangeArrowheads="1" noChangeShapeType="1" noTextEdit="1"/>
              </p:cNvSpPr>
              <p:nvPr>
                <p:ph idx="1"/>
              </p:nvPr>
            </p:nvSpPr>
            <p:spPr>
              <a:blipFill>
                <a:blip r:embed="rId3"/>
                <a:stretch>
                  <a:fillRect l="-640" t="-801" r="-64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945940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barn(inVertical)">
                                      <p:cBhvr>
                                        <p:cTn id="10" dur="500"/>
                                        <p:tgtEl>
                                          <p:spTgt spid="3">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Effect transition="in" filter="barn(inVertical)">
                                      <p:cBhvr>
                                        <p:cTn id="15" dur="500"/>
                                        <p:tgtEl>
                                          <p:spTgt spid="3">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barn(inVertical)">
                                      <p:cBhvr>
                                        <p:cTn id="2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FFCDDB-797C-40AA-B966-A88E6A0251A5}"/>
              </a:ext>
            </a:extLst>
          </p:cNvPr>
          <p:cNvSpPr>
            <a:spLocks noGrp="1"/>
          </p:cNvSpPr>
          <p:nvPr>
            <p:ph type="title"/>
          </p:nvPr>
        </p:nvSpPr>
        <p:spPr/>
        <p:txBody>
          <a:bodyPr/>
          <a:lstStyle/>
          <a:p>
            <a:pPr algn="ctr"/>
            <a:r>
              <a:rPr lang="en-US" altLang="zh-CN" dirty="0"/>
              <a:t>Indexed Nested-Loop Join (</a:t>
            </a:r>
            <a:r>
              <a:rPr lang="zh-CN" altLang="en-US" dirty="0"/>
              <a:t>索引嵌套循环连接</a:t>
            </a:r>
            <a:r>
              <a:rPr lang="en-US" altLang="zh-CN" dirty="0"/>
              <a: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14BF635-2FA9-4757-8BD5-3BFAF49DC47C}"/>
                  </a:ext>
                </a:extLst>
              </p:cNvPr>
              <p:cNvSpPr>
                <a:spLocks noGrp="1"/>
              </p:cNvSpPr>
              <p:nvPr>
                <p:ph idx="1"/>
              </p:nvPr>
            </p:nvSpPr>
            <p:spPr/>
            <p:txBody>
              <a:bodyPr/>
              <a:lstStyle/>
              <a:p>
                <a:r>
                  <a:rPr lang="en-US" altLang="zh-CN" sz="1800" dirty="0"/>
                  <a:t>Index lookups can replace file scans if</a:t>
                </a:r>
              </a:p>
              <a:p>
                <a:pPr lvl="1"/>
                <a:r>
                  <a:rPr lang="en-US" altLang="zh-CN" sz="1600" dirty="0"/>
                  <a:t>join is an </a:t>
                </a:r>
                <a:r>
                  <a:rPr lang="en-US" altLang="zh-CN" sz="1600" dirty="0" err="1"/>
                  <a:t>equi</a:t>
                </a:r>
                <a:r>
                  <a:rPr lang="en-US" altLang="zh-CN" sz="1600" dirty="0"/>
                  <a:t>-join or natural join and</a:t>
                </a:r>
              </a:p>
              <a:p>
                <a:pPr lvl="1"/>
                <a:r>
                  <a:rPr lang="en-US" altLang="zh-CN" sz="1600" dirty="0"/>
                  <a:t>an index is available on the inner relation’s join attribute</a:t>
                </a:r>
              </a:p>
              <a:p>
                <a:pPr lvl="2"/>
                <a:r>
                  <a:rPr lang="en-US" altLang="zh-CN" sz="1400" dirty="0"/>
                  <a:t>Can construct an index to compute a join</a:t>
                </a:r>
              </a:p>
              <a:p>
                <a:r>
                  <a:rPr lang="en-US" altLang="zh-CN" sz="1800" dirty="0"/>
                  <a:t>For each tuple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𝑡</m:t>
                        </m:r>
                      </m:e>
                      <m:sub>
                        <m:r>
                          <a:rPr lang="en-US" altLang="zh-CN" sz="1800" i="1">
                            <a:latin typeface="Cambria Math" panose="02040503050406030204" pitchFamily="18" charset="0"/>
                          </a:rPr>
                          <m:t>𝑟</m:t>
                        </m:r>
                      </m:sub>
                    </m:sSub>
                    <m:r>
                      <a:rPr lang="en-US" altLang="zh-CN" sz="1800" i="1">
                        <a:latin typeface="Cambria Math" panose="02040503050406030204" pitchFamily="18" charset="0"/>
                      </a:rPr>
                      <m:t> </m:t>
                    </m:r>
                  </m:oMath>
                </a14:m>
                <a:r>
                  <a:rPr lang="en-US" altLang="zh-CN" sz="1800" dirty="0"/>
                  <a:t>in the outer relation </a:t>
                </a:r>
                <a14:m>
                  <m:oMath xmlns:m="http://schemas.openxmlformats.org/officeDocument/2006/math">
                    <m:r>
                      <a:rPr lang="en-US" altLang="zh-CN" sz="1800" b="0" i="1" smtClean="0">
                        <a:latin typeface="Cambria Math" panose="02040503050406030204" pitchFamily="18" charset="0"/>
                      </a:rPr>
                      <m:t>𝑟</m:t>
                    </m:r>
                  </m:oMath>
                </a14:m>
                <a:r>
                  <a:rPr lang="en-US" altLang="zh-CN" sz="1800" dirty="0"/>
                  <a:t>, use the index to look up tuples in </a:t>
                </a:r>
                <a14:m>
                  <m:oMath xmlns:m="http://schemas.openxmlformats.org/officeDocument/2006/math">
                    <m:r>
                      <a:rPr lang="en-US" altLang="zh-CN" sz="1800" b="0" i="1" smtClean="0">
                        <a:latin typeface="Cambria Math" panose="02040503050406030204" pitchFamily="18" charset="0"/>
                      </a:rPr>
                      <m:t>𝑠</m:t>
                    </m:r>
                  </m:oMath>
                </a14:m>
                <a:r>
                  <a:rPr lang="en-US" altLang="zh-CN" sz="1800" dirty="0"/>
                  <a:t> that satisfy the join condition with tuple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𝑡</m:t>
                        </m:r>
                      </m:e>
                      <m:sub>
                        <m:r>
                          <a:rPr lang="en-US" altLang="zh-CN" sz="1800" b="0" i="1" smtClean="0">
                            <a:latin typeface="Cambria Math" panose="02040503050406030204" pitchFamily="18" charset="0"/>
                          </a:rPr>
                          <m:t>𝑟</m:t>
                        </m:r>
                      </m:sub>
                    </m:sSub>
                  </m:oMath>
                </a14:m>
                <a:endParaRPr lang="en-US" altLang="zh-CN" sz="1800" dirty="0"/>
              </a:p>
              <a:p>
                <a:r>
                  <a:rPr lang="en-US" altLang="zh-CN" sz="1800" b="1" dirty="0"/>
                  <a:t>Worst case:  </a:t>
                </a:r>
                <a:r>
                  <a:rPr lang="en-US" altLang="zh-CN" sz="1800" dirty="0"/>
                  <a:t>buffer has space for only one block of </a:t>
                </a:r>
                <a14:m>
                  <m:oMath xmlns:m="http://schemas.openxmlformats.org/officeDocument/2006/math">
                    <m:r>
                      <a:rPr lang="en-US" altLang="zh-CN" sz="1800" b="0" i="1" smtClean="0">
                        <a:latin typeface="Cambria Math" panose="02040503050406030204" pitchFamily="18" charset="0"/>
                      </a:rPr>
                      <m:t>𝑟</m:t>
                    </m:r>
                  </m:oMath>
                </a14:m>
                <a:r>
                  <a:rPr lang="en-US" altLang="zh-CN" sz="1800" dirty="0"/>
                  <a:t>. For each tuple in </a:t>
                </a:r>
                <a14:m>
                  <m:oMath xmlns:m="http://schemas.openxmlformats.org/officeDocument/2006/math">
                    <m:r>
                      <a:rPr lang="en-US" altLang="zh-CN" sz="1800" b="0" i="1" smtClean="0">
                        <a:latin typeface="Cambria Math" panose="02040503050406030204" pitchFamily="18" charset="0"/>
                      </a:rPr>
                      <m:t>𝑟</m:t>
                    </m:r>
                  </m:oMath>
                </a14:m>
                <a:r>
                  <a:rPr lang="en-US" altLang="zh-CN" sz="1800" dirty="0"/>
                  <a:t>, we perform an index lookup on </a:t>
                </a:r>
                <a14:m>
                  <m:oMath xmlns:m="http://schemas.openxmlformats.org/officeDocument/2006/math">
                    <m:r>
                      <a:rPr lang="en-US" altLang="zh-CN" sz="1800" b="0" i="1" smtClean="0">
                        <a:latin typeface="Cambria Math" panose="02040503050406030204" pitchFamily="18" charset="0"/>
                      </a:rPr>
                      <m:t>𝑠</m:t>
                    </m:r>
                  </m:oMath>
                </a14:m>
                <a:endParaRPr lang="en-US" altLang="zh-CN" sz="1800" dirty="0"/>
              </a:p>
              <a:p>
                <a:pPr lvl="1"/>
                <a:r>
                  <a:rPr lang="en-US" altLang="zh-CN" sz="1600" dirty="0"/>
                  <a:t>Cost of the join :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𝑟</m:t>
                        </m:r>
                      </m:sub>
                    </m:sSub>
                    <m:d>
                      <m:dPr>
                        <m:ctrlPr>
                          <a:rPr lang="en-US" altLang="zh-CN" sz="1600" b="0" i="1" smtClean="0">
                            <a:latin typeface="Cambria Math" panose="02040503050406030204" pitchFamily="18" charset="0"/>
                          </a:rPr>
                        </m:ctrlPr>
                      </m:dPr>
                      <m:e>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𝑇</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𝑆</m:t>
                            </m:r>
                          </m:sub>
                        </m:sSub>
                      </m:e>
                    </m:d>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𝑛</m:t>
                        </m:r>
                      </m:e>
                      <m:sub>
                        <m:r>
                          <a:rPr lang="en-US" altLang="zh-CN" sz="1600" b="0" i="1" smtClean="0">
                            <a:latin typeface="Cambria Math" panose="02040503050406030204" pitchFamily="18" charset="0"/>
                          </a:rPr>
                          <m:t>𝑟</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𝑐</m:t>
                    </m:r>
                  </m:oMath>
                </a14:m>
                <a:endParaRPr lang="en-US" altLang="zh-CN" sz="1600" dirty="0"/>
              </a:p>
              <a:p>
                <a:pPr lvl="2"/>
                <a:r>
                  <a:rPr lang="en-US" altLang="zh-CN" sz="1400" dirty="0"/>
                  <a:t>where </a:t>
                </a:r>
                <a14:m>
                  <m:oMath xmlns:m="http://schemas.openxmlformats.org/officeDocument/2006/math">
                    <m:r>
                      <a:rPr lang="en-US" altLang="zh-CN" sz="1400" i="1" dirty="0" smtClean="0">
                        <a:latin typeface="Cambria Math" panose="02040503050406030204" pitchFamily="18" charset="0"/>
                      </a:rPr>
                      <m:t>𝑐</m:t>
                    </m:r>
                  </m:oMath>
                </a14:m>
                <a:r>
                  <a:rPr lang="en-US" altLang="zh-CN" sz="1400" dirty="0"/>
                  <a:t> is the cost of traversing index and fetching all matching tuples in </a:t>
                </a:r>
                <a14:m>
                  <m:oMath xmlns:m="http://schemas.openxmlformats.org/officeDocument/2006/math">
                    <m:r>
                      <a:rPr lang="en-US" altLang="zh-CN" sz="1400" i="1" dirty="0" smtClean="0">
                        <a:latin typeface="Cambria Math" panose="02040503050406030204" pitchFamily="18" charset="0"/>
                      </a:rPr>
                      <m:t>𝑠</m:t>
                    </m:r>
                  </m:oMath>
                </a14:m>
                <a:r>
                  <a:rPr lang="en-US" altLang="zh-CN" sz="1400" dirty="0"/>
                  <a:t> for one tuple of r</a:t>
                </a:r>
              </a:p>
              <a:p>
                <a:pPr lvl="2"/>
                <a14:m>
                  <m:oMath xmlns:m="http://schemas.openxmlformats.org/officeDocument/2006/math">
                    <m:r>
                      <a:rPr lang="en-US" altLang="zh-CN" sz="1400" i="1" dirty="0" smtClean="0">
                        <a:latin typeface="Cambria Math" panose="02040503050406030204" pitchFamily="18" charset="0"/>
                      </a:rPr>
                      <m:t>𝑐</m:t>
                    </m:r>
                  </m:oMath>
                </a14:m>
                <a:r>
                  <a:rPr lang="en-US" altLang="zh-CN" sz="1400" dirty="0"/>
                  <a:t> can be estimated as cost of a single selection on s using the join condition</a:t>
                </a:r>
                <a:endParaRPr lang="en-US" altLang="zh-CN" sz="1200" dirty="0"/>
              </a:p>
              <a:p>
                <a:r>
                  <a:rPr lang="en-US" altLang="zh-CN" sz="1800" dirty="0"/>
                  <a:t>If indices are available on join attributes of both </a:t>
                </a:r>
                <a14:m>
                  <m:oMath xmlns:m="http://schemas.openxmlformats.org/officeDocument/2006/math">
                    <m:r>
                      <a:rPr lang="en-US" altLang="zh-CN" sz="1800" i="1" dirty="0" smtClean="0">
                        <a:latin typeface="Cambria Math" panose="02040503050406030204" pitchFamily="18" charset="0"/>
                      </a:rPr>
                      <m:t>𝑟</m:t>
                    </m:r>
                  </m:oMath>
                </a14:m>
                <a:r>
                  <a:rPr lang="en-US" altLang="zh-CN" sz="1800" dirty="0"/>
                  <a:t> and </a:t>
                </a:r>
                <a14:m>
                  <m:oMath xmlns:m="http://schemas.openxmlformats.org/officeDocument/2006/math">
                    <m:r>
                      <a:rPr lang="en-US" altLang="zh-CN" sz="1800" i="1" dirty="0" smtClean="0">
                        <a:latin typeface="Cambria Math" panose="02040503050406030204" pitchFamily="18" charset="0"/>
                      </a:rPr>
                      <m:t>𝑠</m:t>
                    </m:r>
                  </m:oMath>
                </a14:m>
                <a:r>
                  <a:rPr lang="en-US" altLang="zh-CN" sz="1800" dirty="0"/>
                  <a:t>, use the relation with fewer tuples as the outer relation</a:t>
                </a:r>
              </a:p>
              <a:p>
                <a:endParaRPr lang="zh-CN" altLang="en-US" sz="1800" dirty="0"/>
              </a:p>
            </p:txBody>
          </p:sp>
        </mc:Choice>
        <mc:Fallback xmlns="">
          <p:sp>
            <p:nvSpPr>
              <p:cNvPr id="3" name="内容占位符 2">
                <a:extLst>
                  <a:ext uri="{FF2B5EF4-FFF2-40B4-BE49-F238E27FC236}">
                    <a16:creationId xmlns:a16="http://schemas.microsoft.com/office/drawing/2014/main" id="{814BF635-2FA9-4757-8BD5-3BFAF49DC47C}"/>
                  </a:ext>
                </a:extLst>
              </p:cNvPr>
              <p:cNvSpPr>
                <a:spLocks noGrp="1" noRot="1" noChangeAspect="1" noMove="1" noResize="1" noEditPoints="1" noAdjustHandles="1" noChangeArrowheads="1" noChangeShapeType="1" noTextEdit="1"/>
              </p:cNvSpPr>
              <p:nvPr>
                <p:ph idx="1"/>
              </p:nvPr>
            </p:nvSpPr>
            <p:spPr>
              <a:blipFill>
                <a:blip r:embed="rId2"/>
                <a:stretch>
                  <a:fillRect l="-427" t="-962" r="-569" b="-30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39244071"/>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8569B7-32A3-4FD6-8376-538ABFA2F39E}"/>
              </a:ext>
            </a:extLst>
          </p:cNvPr>
          <p:cNvSpPr>
            <a:spLocks noGrp="1"/>
          </p:cNvSpPr>
          <p:nvPr>
            <p:ph type="title"/>
          </p:nvPr>
        </p:nvSpPr>
        <p:spPr/>
        <p:txBody>
          <a:bodyPr/>
          <a:lstStyle/>
          <a:p>
            <a:pPr algn="ctr"/>
            <a:r>
              <a:rPr lang="en-US" altLang="zh-CN" dirty="0"/>
              <a:t>Example of Indexed Nested-Loop Join Costs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30A1D4B-F450-4331-861A-665175119416}"/>
                  </a:ext>
                </a:extLst>
              </p:cNvPr>
              <p:cNvSpPr>
                <a:spLocks noGrp="1"/>
              </p:cNvSpPr>
              <p:nvPr>
                <p:ph idx="1"/>
              </p:nvPr>
            </p:nvSpPr>
            <p:spPr/>
            <p:txBody>
              <a:bodyPr/>
              <a:lstStyle/>
              <a:p>
                <a:pPr>
                  <a:spcBef>
                    <a:spcPts val="600"/>
                  </a:spcBef>
                </a:pPr>
                <a:r>
                  <a:rPr lang="en-US" altLang="zh-CN" sz="1800" b="1" dirty="0"/>
                  <a:t>Compute student </a:t>
                </a:r>
                <a14:m>
                  <m:oMath xmlns:m="http://schemas.openxmlformats.org/officeDocument/2006/math">
                    <m:r>
                      <a:rPr lang="en-US" altLang="zh-CN" sz="1800" b="1" i="1" smtClean="0">
                        <a:latin typeface="Cambria Math" panose="02040503050406030204" pitchFamily="18" charset="0"/>
                        <a:ea typeface="Cambria Math" panose="02040503050406030204" pitchFamily="18" charset="0"/>
                      </a:rPr>
                      <m:t>⋈</m:t>
                    </m:r>
                  </m:oMath>
                </a14:m>
                <a:r>
                  <a:rPr lang="en-US" altLang="zh-CN" sz="1800" b="1" dirty="0"/>
                  <a:t> takes</a:t>
                </a:r>
              </a:p>
              <a:p>
                <a:pPr lvl="1">
                  <a:spcBef>
                    <a:spcPts val="600"/>
                  </a:spcBef>
                </a:pPr>
                <a:r>
                  <a:rPr lang="en-US" altLang="zh-CN" sz="1400" dirty="0"/>
                  <a:t>Let takes have a primary B</a:t>
                </a:r>
                <a:r>
                  <a:rPr lang="en-US" altLang="zh-CN" sz="1400" baseline="30000" dirty="0"/>
                  <a:t>+</a:t>
                </a:r>
                <a:r>
                  <a:rPr lang="en-US" altLang="zh-CN" sz="1400" dirty="0"/>
                  <a:t>-tree index on the join attribute ID, which contains 20 entries in each index node</a:t>
                </a:r>
                <a:endParaRPr lang="en-US" altLang="zh-CN" sz="1200" dirty="0"/>
              </a:p>
              <a:p>
                <a:pPr lvl="1">
                  <a:spcBef>
                    <a:spcPts val="600"/>
                  </a:spcBef>
                </a:pPr>
                <a:r>
                  <a:rPr lang="en-US" altLang="zh-CN" sz="1400" dirty="0"/>
                  <a:t>takes has 10,000 tuples (400 blocks), the height of the tree is 4, and one more access to find the actual data</a:t>
                </a:r>
              </a:p>
              <a:p>
                <a:pPr lvl="1">
                  <a:spcBef>
                    <a:spcPts val="600"/>
                  </a:spcBef>
                </a:pPr>
                <a:r>
                  <a:rPr lang="en-US" altLang="zh-CN" sz="1400" dirty="0"/>
                  <a:t>student has 5000 tuples -&gt; 100 blocks </a:t>
                </a:r>
              </a:p>
              <a:p>
                <a:pPr>
                  <a:spcBef>
                    <a:spcPts val="600"/>
                  </a:spcBef>
                </a:pPr>
                <a:r>
                  <a:rPr lang="en-US" altLang="zh-CN" sz="1800" b="1" dirty="0"/>
                  <a:t>Cost of block nested loops join</a:t>
                </a:r>
              </a:p>
              <a:p>
                <a:pPr lvl="1">
                  <a:spcBef>
                    <a:spcPts val="600"/>
                  </a:spcBef>
                </a:pPr>
                <a:r>
                  <a:rPr lang="en-US" altLang="zh-CN" sz="1400" dirty="0"/>
                  <a:t>100*400 +100 = 40,100 block transfers + 2 * 100 =200 seeks</a:t>
                </a:r>
              </a:p>
              <a:p>
                <a:pPr lvl="2">
                  <a:spcBef>
                    <a:spcPts val="600"/>
                  </a:spcBef>
                </a:pPr>
                <a:r>
                  <a:rPr lang="en-US" altLang="zh-CN" sz="1200" dirty="0"/>
                  <a:t>assuming the worst case memory </a:t>
                </a:r>
              </a:p>
              <a:p>
                <a:pPr lvl="2">
                  <a:spcBef>
                    <a:spcPts val="600"/>
                  </a:spcBef>
                </a:pPr>
                <a:r>
                  <a:rPr lang="en-US" altLang="zh-CN" sz="1200" dirty="0"/>
                  <a:t>may be significantly less with more memory</a:t>
                </a:r>
                <a:endParaRPr lang="zh-CN" altLang="en-US" sz="1200" dirty="0"/>
              </a:p>
              <a:p>
                <a:pPr>
                  <a:spcBef>
                    <a:spcPts val="600"/>
                  </a:spcBef>
                </a:pPr>
                <a:r>
                  <a:rPr lang="zh-CN" altLang="en-US" sz="1600" dirty="0"/>
                  <a:t> </a:t>
                </a:r>
                <a:r>
                  <a:rPr lang="en-US" altLang="zh-CN" sz="1800" b="1" dirty="0"/>
                  <a:t>Cost of indexed nested loops join</a:t>
                </a:r>
                <a:endParaRPr lang="en-US" altLang="zh-CN" sz="1600" b="1" dirty="0"/>
              </a:p>
              <a:p>
                <a:pPr lvl="1">
                  <a:spcBef>
                    <a:spcPts val="600"/>
                  </a:spcBef>
                </a:pPr>
                <a:r>
                  <a:rPr lang="en-US" altLang="zh-CN" sz="1400" dirty="0"/>
                  <a:t>100 + 5000 * 5 = 25,100  block transfers and seeks</a:t>
                </a:r>
              </a:p>
              <a:p>
                <a:pPr lvl="1">
                  <a:spcBef>
                    <a:spcPts val="600"/>
                  </a:spcBef>
                </a:pPr>
                <a:r>
                  <a:rPr lang="en-US" altLang="zh-CN" sz="1400" dirty="0"/>
                  <a:t>Less block transfer but more seeks </a:t>
                </a:r>
              </a:p>
              <a:p>
                <a:pPr>
                  <a:spcBef>
                    <a:spcPts val="600"/>
                  </a:spcBef>
                </a:pPr>
                <a:endParaRPr lang="zh-CN" altLang="en-US" sz="1600" dirty="0"/>
              </a:p>
            </p:txBody>
          </p:sp>
        </mc:Choice>
        <mc:Fallback xmlns="">
          <p:sp>
            <p:nvSpPr>
              <p:cNvPr id="3" name="内容占位符 2">
                <a:extLst>
                  <a:ext uri="{FF2B5EF4-FFF2-40B4-BE49-F238E27FC236}">
                    <a16:creationId xmlns:a16="http://schemas.microsoft.com/office/drawing/2014/main" id="{F30A1D4B-F450-4331-861A-665175119416}"/>
                  </a:ext>
                </a:extLst>
              </p:cNvPr>
              <p:cNvSpPr>
                <a:spLocks noGrp="1" noRot="1" noChangeAspect="1" noMove="1" noResize="1" noEditPoints="1" noAdjustHandles="1" noChangeArrowheads="1" noChangeShapeType="1" noTextEdit="1"/>
              </p:cNvSpPr>
              <p:nvPr>
                <p:ph idx="1"/>
              </p:nvPr>
            </p:nvSpPr>
            <p:spPr>
              <a:blipFill>
                <a:blip r:embed="rId2"/>
                <a:stretch>
                  <a:fillRect l="-427" t="-962" b="-160"/>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553E187E-6DF5-4B2D-8AA9-D7D7EB68E852}"/>
              </a:ext>
            </a:extLst>
          </p:cNvPr>
          <p:cNvSpPr txBox="1"/>
          <p:nvPr/>
        </p:nvSpPr>
        <p:spPr>
          <a:xfrm>
            <a:off x="6876256" y="2787774"/>
            <a:ext cx="1944216" cy="1614503"/>
          </a:xfrm>
          <a:prstGeom prst="rect">
            <a:avLst/>
          </a:prstGeom>
          <a:solidFill>
            <a:schemeClr val="accent6">
              <a:lumMod val="40000"/>
              <a:lumOff val="60000"/>
            </a:schemeClr>
          </a:solidFill>
        </p:spPr>
        <p:txBody>
          <a:bodyPr wrap="square" rtlCol="0">
            <a:spAutoFit/>
          </a:bodyPr>
          <a:lstStyle/>
          <a:p>
            <a:r>
              <a:rPr lang="en-US" altLang="zh-CN" b="1" dirty="0"/>
              <a:t>#records </a:t>
            </a:r>
          </a:p>
          <a:p>
            <a:pPr marL="285750" indent="-285750">
              <a:buFont typeface="Arial" panose="020B0604020202020204" pitchFamily="34" charset="0"/>
              <a:buChar char="•"/>
            </a:pPr>
            <a:r>
              <a:rPr lang="en-US" altLang="zh-CN" dirty="0"/>
              <a:t>student: 5000  </a:t>
            </a:r>
          </a:p>
          <a:p>
            <a:pPr marL="285750" indent="-285750">
              <a:buFont typeface="Arial" panose="020B0604020202020204" pitchFamily="34" charset="0"/>
              <a:buChar char="•"/>
            </a:pPr>
            <a:r>
              <a:rPr lang="en-US" altLang="zh-CN" dirty="0"/>
              <a:t>takes: 10000</a:t>
            </a:r>
          </a:p>
          <a:p>
            <a:r>
              <a:rPr lang="en-US" altLang="zh-CN" b="1" dirty="0"/>
              <a:t>#blocks </a:t>
            </a:r>
          </a:p>
          <a:p>
            <a:pPr marL="285750" indent="-285750">
              <a:buFont typeface="Arial" panose="020B0604020202020204" pitchFamily="34" charset="0"/>
              <a:buChar char="•"/>
            </a:pPr>
            <a:r>
              <a:rPr lang="en-US" altLang="zh-CN" dirty="0"/>
              <a:t>student: 100     </a:t>
            </a:r>
          </a:p>
          <a:p>
            <a:pPr marL="285750" indent="-285750">
              <a:buFont typeface="Arial" panose="020B0604020202020204" pitchFamily="34" charset="0"/>
              <a:buChar char="•"/>
            </a:pPr>
            <a:r>
              <a:rPr lang="en-US" altLang="zh-CN" dirty="0"/>
              <a:t>takes: 400</a:t>
            </a:r>
          </a:p>
        </p:txBody>
      </p:sp>
    </p:spTree>
    <p:extLst>
      <p:ext uri="{BB962C8B-B14F-4D97-AF65-F5344CB8AC3E}">
        <p14:creationId xmlns:p14="http://schemas.microsoft.com/office/powerpoint/2010/main" val="23681439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barn(inVertical)">
                                      <p:cBhvr>
                                        <p:cTn id="7" dur="500"/>
                                        <p:tgtEl>
                                          <p:spTgt spid="3">
                                            <p:txEl>
                                              <p:pRg st="4" end="4"/>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barn(inVertical)">
                                      <p:cBhvr>
                                        <p:cTn id="10" dur="500"/>
                                        <p:tgtEl>
                                          <p:spTgt spid="3">
                                            <p:txEl>
                                              <p:pRg st="5" end="5"/>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barn(inVertical)">
                                      <p:cBhvr>
                                        <p:cTn id="13" dur="500"/>
                                        <p:tgtEl>
                                          <p:spTgt spid="3">
                                            <p:txEl>
                                              <p:pRg st="6" end="6"/>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7" end="7"/>
                                            </p:txEl>
                                          </p:spTgt>
                                        </p:tgtEl>
                                        <p:attrNameLst>
                                          <p:attrName>style.visibility</p:attrName>
                                        </p:attrNameLst>
                                      </p:cBhvr>
                                      <p:to>
                                        <p:strVal val="visible"/>
                                      </p:to>
                                    </p:set>
                                    <p:animEffect transition="in" filter="barn(inVertical)">
                                      <p:cBhvr>
                                        <p:cTn id="16" dur="500"/>
                                        <p:tgtEl>
                                          <p:spTgt spid="3">
                                            <p:txEl>
                                              <p:pRg st="7" end="7"/>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barn(inVertical)">
                                      <p:cBhvr>
                                        <p:cTn id="21" dur="500"/>
                                        <p:tgtEl>
                                          <p:spTgt spid="3">
                                            <p:txEl>
                                              <p:pRg st="8" end="8"/>
                                            </p:txEl>
                                          </p:spTgt>
                                        </p:tgtEl>
                                      </p:cBhvr>
                                    </p:animEffect>
                                  </p:childTnLst>
                                </p:cTn>
                              </p:par>
                              <p:par>
                                <p:cTn id="22" presetID="16" presetClass="entr" presetSubtype="21"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barn(inVertical)">
                                      <p:cBhvr>
                                        <p:cTn id="24" dur="500"/>
                                        <p:tgtEl>
                                          <p:spTgt spid="3">
                                            <p:txEl>
                                              <p:pRg st="9" end="9"/>
                                            </p:txEl>
                                          </p:spTgt>
                                        </p:tgtEl>
                                      </p:cBhvr>
                                    </p:animEffect>
                                  </p:childTnLst>
                                </p:cTn>
                              </p:par>
                              <p:par>
                                <p:cTn id="25" presetID="16" presetClass="entr" presetSubtype="21"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animEffect transition="in" filter="barn(inVertical)">
                                      <p:cBhvr>
                                        <p:cTn id="27"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B866FE-B896-44A9-9D9F-848CB81F5818}"/>
              </a:ext>
            </a:extLst>
          </p:cNvPr>
          <p:cNvSpPr>
            <a:spLocks noGrp="1"/>
          </p:cNvSpPr>
          <p:nvPr>
            <p:ph type="title"/>
          </p:nvPr>
        </p:nvSpPr>
        <p:spPr/>
        <p:txBody>
          <a:bodyPr/>
          <a:lstStyle/>
          <a:p>
            <a:pPr algn="ctr"/>
            <a:r>
              <a:rPr lang="en-US" altLang="zh-CN" dirty="0"/>
              <a:t>Merge-Join* (</a:t>
            </a:r>
            <a:r>
              <a:rPr lang="zh-CN" altLang="en-US" dirty="0"/>
              <a:t>归并连接</a:t>
            </a:r>
            <a:r>
              <a:rPr lang="en-US" altLang="zh-CN" dirty="0"/>
              <a:t>)</a:t>
            </a:r>
            <a:endParaRPr lang="zh-CN" altLang="en-US" dirty="0"/>
          </a:p>
        </p:txBody>
      </p:sp>
      <p:sp>
        <p:nvSpPr>
          <p:cNvPr id="3" name="内容占位符 2">
            <a:extLst>
              <a:ext uri="{FF2B5EF4-FFF2-40B4-BE49-F238E27FC236}">
                <a16:creationId xmlns:a16="http://schemas.microsoft.com/office/drawing/2014/main" id="{E348A7EE-A398-47E5-9BAA-84FC845C3832}"/>
              </a:ext>
            </a:extLst>
          </p:cNvPr>
          <p:cNvSpPr>
            <a:spLocks noGrp="1"/>
          </p:cNvSpPr>
          <p:nvPr>
            <p:ph idx="1"/>
          </p:nvPr>
        </p:nvSpPr>
        <p:spPr>
          <a:xfrm>
            <a:off x="251520" y="789553"/>
            <a:ext cx="5760640" cy="3805070"/>
          </a:xfrm>
        </p:spPr>
        <p:txBody>
          <a:bodyPr/>
          <a:lstStyle/>
          <a:p>
            <a:r>
              <a:rPr lang="en-US" altLang="zh-CN" sz="1800" dirty="0"/>
              <a:t>Sort both relations on their join attribute (if not already sorted on the </a:t>
            </a:r>
            <a:r>
              <a:rPr lang="en-US" altLang="zh-CN" sz="1800" dirty="0">
                <a:solidFill>
                  <a:srgbClr val="C00000"/>
                </a:solidFill>
              </a:rPr>
              <a:t>join attributes</a:t>
            </a:r>
            <a:r>
              <a:rPr lang="en-US" altLang="zh-CN" sz="1800" dirty="0"/>
              <a:t>)</a:t>
            </a:r>
          </a:p>
          <a:p>
            <a:r>
              <a:rPr lang="en-US" altLang="zh-CN" sz="1800" dirty="0"/>
              <a:t>Merge the sorted relations to join them</a:t>
            </a:r>
          </a:p>
          <a:p>
            <a:pPr lvl="1"/>
            <a:r>
              <a:rPr lang="en-US" altLang="zh-CN" sz="1600" dirty="0"/>
              <a:t>Join step is similar to the merge stage of the sort-merge algorithm </a:t>
            </a:r>
          </a:p>
          <a:p>
            <a:pPr lvl="1"/>
            <a:r>
              <a:rPr lang="en-US" altLang="zh-CN" sz="1600" dirty="0"/>
              <a:t>Main difference is handling of duplicate values in join attribute - every pair with same value on join attribute must be matched</a:t>
            </a:r>
          </a:p>
          <a:p>
            <a:endParaRPr lang="zh-CN" altLang="en-US" sz="1800" dirty="0"/>
          </a:p>
        </p:txBody>
      </p:sp>
      <p:pic>
        <p:nvPicPr>
          <p:cNvPr id="4" name="Picture 5">
            <a:extLst>
              <a:ext uri="{FF2B5EF4-FFF2-40B4-BE49-F238E27FC236}">
                <a16:creationId xmlns:a16="http://schemas.microsoft.com/office/drawing/2014/main" id="{2DEFCB25-EE57-4588-B11C-831020D43EB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l="12798" t="4506" r="14503" b="4025"/>
          <a:stretch>
            <a:fillRect/>
          </a:stretch>
        </p:blipFill>
        <p:spPr bwMode="auto">
          <a:xfrm>
            <a:off x="6156176" y="1203598"/>
            <a:ext cx="2448272" cy="23105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000000"/>
                </a:solidFill>
                <a:miter lim="800000"/>
                <a:headEnd/>
                <a:tailEnd/>
              </a14:hiddenLine>
            </a:ext>
          </a:extLst>
        </p:spPr>
      </p:pic>
    </p:spTree>
    <p:extLst>
      <p:ext uri="{BB962C8B-B14F-4D97-AF65-F5344CB8AC3E}">
        <p14:creationId xmlns:p14="http://schemas.microsoft.com/office/powerpoint/2010/main" val="2284935430"/>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E342AA-4D5E-4BC2-96F1-D9A0113E5A48}"/>
              </a:ext>
            </a:extLst>
          </p:cNvPr>
          <p:cNvSpPr>
            <a:spLocks noGrp="1"/>
          </p:cNvSpPr>
          <p:nvPr>
            <p:ph type="title"/>
          </p:nvPr>
        </p:nvSpPr>
        <p:spPr/>
        <p:txBody>
          <a:bodyPr/>
          <a:lstStyle/>
          <a:p>
            <a:pPr algn="ctr"/>
            <a:r>
              <a:rPr lang="en-US" altLang="zh-CN" dirty="0"/>
              <a:t>Merge-Join*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6781EDA-C97B-474C-A2B3-968BC41B0F7E}"/>
                  </a:ext>
                </a:extLst>
              </p:cNvPr>
              <p:cNvSpPr>
                <a:spLocks noGrp="1"/>
              </p:cNvSpPr>
              <p:nvPr>
                <p:ph idx="1"/>
              </p:nvPr>
            </p:nvSpPr>
            <p:spPr>
              <a:xfrm>
                <a:off x="251520" y="789553"/>
                <a:ext cx="8136904" cy="3805070"/>
              </a:xfrm>
            </p:spPr>
            <p:txBody>
              <a:bodyPr/>
              <a:lstStyle/>
              <a:p>
                <a:r>
                  <a:rPr lang="en-US" altLang="zh-CN" sz="1600" dirty="0"/>
                  <a:t>Each block needs to be read only once (assuming all tuples for any given value of the join attributes fit in memory)</a:t>
                </a:r>
              </a:p>
              <a:p>
                <a:r>
                  <a:rPr lang="en-US" altLang="zh-CN" sz="1600" dirty="0"/>
                  <a:t>Thus the number of block accesses for merge-join is  </a:t>
                </a:r>
                <a:br>
                  <a:rPr lang="en-US" altLang="zh-CN" sz="1600" dirty="0"/>
                </a:br>
                <a:r>
                  <a:rPr lang="en-US" altLang="zh-CN" sz="1600" dirty="0"/>
                  <a:t>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𝑟</m:t>
                        </m:r>
                      </m:sub>
                    </m:sSub>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𝑏</m:t>
                        </m:r>
                      </m:e>
                      <m:sub>
                        <m:r>
                          <a:rPr lang="en-US" altLang="zh-CN" sz="1600" b="0" i="1" smtClean="0">
                            <a:latin typeface="Cambria Math" panose="02040503050406030204" pitchFamily="18" charset="0"/>
                          </a:rPr>
                          <m:t>𝑠</m:t>
                        </m:r>
                      </m:sub>
                    </m:sSub>
                  </m:oMath>
                </a14:m>
                <a:r>
                  <a:rPr lang="en-US" altLang="zh-CN" sz="1600" dirty="0"/>
                  <a:t> + the cost of sorting if relations are unsorted</a:t>
                </a:r>
              </a:p>
              <a:p>
                <a:r>
                  <a:rPr lang="en-US" altLang="zh-CN" sz="1600" dirty="0"/>
                  <a:t>Hybrid merge-join (combining indices with merge-join): If one relation is sorted, and the other has a secondary B</a:t>
                </a:r>
                <a:r>
                  <a:rPr lang="en-US" altLang="zh-CN" sz="1600" baseline="30000" dirty="0"/>
                  <a:t>+</a:t>
                </a:r>
                <a:r>
                  <a:rPr lang="en-US" altLang="zh-CN" sz="1600" dirty="0"/>
                  <a:t>-tree index on the join attribute</a:t>
                </a:r>
              </a:p>
              <a:p>
                <a:pPr lvl="1"/>
                <a:r>
                  <a:rPr lang="en-US" altLang="zh-CN" sz="1200" dirty="0"/>
                  <a:t>Merge the sorted relation with the leaf entries of the B</a:t>
                </a:r>
                <a:r>
                  <a:rPr lang="en-US" altLang="zh-CN" sz="1200" baseline="30000" dirty="0"/>
                  <a:t>+</a:t>
                </a:r>
                <a:r>
                  <a:rPr lang="en-US" altLang="zh-CN" sz="1200" dirty="0"/>
                  <a:t>-tree, the result file contains tuples from the sorted file and the addresses from the unsorted file </a:t>
                </a:r>
              </a:p>
              <a:p>
                <a:pPr lvl="1"/>
                <a:r>
                  <a:rPr lang="en-US" altLang="zh-CN" sz="1200" dirty="0"/>
                  <a:t>Sort the result file on the addresses of the unsorted relation’s tuples</a:t>
                </a:r>
              </a:p>
              <a:p>
                <a:pPr lvl="1"/>
                <a:r>
                  <a:rPr lang="en-US" altLang="zh-CN" sz="1200" dirty="0"/>
                  <a:t>Scan the unsorted relation in physical address order and merge with previous result, to replace addresses by the actual tuples</a:t>
                </a:r>
              </a:p>
              <a:p>
                <a:endParaRPr lang="zh-CN" altLang="en-US" sz="1600" dirty="0"/>
              </a:p>
            </p:txBody>
          </p:sp>
        </mc:Choice>
        <mc:Fallback xmlns="">
          <p:sp>
            <p:nvSpPr>
              <p:cNvPr id="3" name="内容占位符 2">
                <a:extLst>
                  <a:ext uri="{FF2B5EF4-FFF2-40B4-BE49-F238E27FC236}">
                    <a16:creationId xmlns:a16="http://schemas.microsoft.com/office/drawing/2014/main" id="{46781EDA-C97B-474C-A2B3-968BC41B0F7E}"/>
                  </a:ext>
                </a:extLst>
              </p:cNvPr>
              <p:cNvSpPr>
                <a:spLocks noGrp="1" noRot="1" noChangeAspect="1" noMove="1" noResize="1" noEditPoints="1" noAdjustHandles="1" noChangeArrowheads="1" noChangeShapeType="1" noTextEdit="1"/>
              </p:cNvSpPr>
              <p:nvPr>
                <p:ph idx="1"/>
              </p:nvPr>
            </p:nvSpPr>
            <p:spPr>
              <a:xfrm>
                <a:off x="251520" y="789553"/>
                <a:ext cx="8136904" cy="3805070"/>
              </a:xfrm>
              <a:blipFill>
                <a:blip r:embed="rId2"/>
                <a:stretch>
                  <a:fillRect l="-300" t="-4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4973769"/>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B414F3-35D8-4EA2-B0EC-3C0F047CDA3D}"/>
              </a:ext>
            </a:extLst>
          </p:cNvPr>
          <p:cNvSpPr>
            <a:spLocks noGrp="1"/>
          </p:cNvSpPr>
          <p:nvPr>
            <p:ph type="title"/>
          </p:nvPr>
        </p:nvSpPr>
        <p:spPr/>
        <p:txBody>
          <a:bodyPr/>
          <a:lstStyle/>
          <a:p>
            <a:pPr algn="ctr"/>
            <a:r>
              <a:rPr lang="en-US" altLang="zh-CN" dirty="0"/>
              <a:t>Hash-Join* (</a:t>
            </a:r>
            <a:r>
              <a:rPr lang="zh-CN" altLang="en-US" dirty="0"/>
              <a:t>散列连接</a:t>
            </a:r>
            <a:r>
              <a:rPr lang="en-US" altLang="zh-CN" dirty="0"/>
              <a: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3771E76-917F-4B06-ABDE-20DECE4298F5}"/>
                  </a:ext>
                </a:extLst>
              </p:cNvPr>
              <p:cNvSpPr>
                <a:spLocks noGrp="1"/>
              </p:cNvSpPr>
              <p:nvPr>
                <p:ph idx="1"/>
              </p:nvPr>
            </p:nvSpPr>
            <p:spPr>
              <a:xfrm>
                <a:off x="251520" y="843557"/>
                <a:ext cx="8208912" cy="3630727"/>
              </a:xfrm>
            </p:spPr>
            <p:txBody>
              <a:bodyPr/>
              <a:lstStyle/>
              <a:p>
                <a:r>
                  <a:rPr lang="en-US" altLang="zh-CN" sz="1600" dirty="0"/>
                  <a:t>A hash function </a:t>
                </a:r>
                <a14:m>
                  <m:oMath xmlns:m="http://schemas.openxmlformats.org/officeDocument/2006/math">
                    <m:r>
                      <a:rPr lang="en-US" altLang="zh-CN" sz="1600" i="1" dirty="0" smtClean="0">
                        <a:latin typeface="Cambria Math" panose="02040503050406030204" pitchFamily="18" charset="0"/>
                      </a:rPr>
                      <m:t>h</m:t>
                    </m:r>
                  </m:oMath>
                </a14:m>
                <a:r>
                  <a:rPr lang="en-US" altLang="zh-CN" sz="1600" dirty="0"/>
                  <a:t> is used to partition tuples of both relations </a:t>
                </a:r>
              </a:p>
              <a:p>
                <a:pPr lvl="1"/>
                <a14:m>
                  <m:oMath xmlns:m="http://schemas.openxmlformats.org/officeDocument/2006/math">
                    <m:r>
                      <a:rPr lang="en-US" altLang="zh-CN" sz="1400" i="1" dirty="0" smtClean="0">
                        <a:latin typeface="Cambria Math" panose="02040503050406030204" pitchFamily="18" charset="0"/>
                      </a:rPr>
                      <m:t>h</m:t>
                    </m:r>
                  </m:oMath>
                </a14:m>
                <a:r>
                  <a:rPr lang="en-US" altLang="zh-CN" sz="1400" dirty="0"/>
                  <a:t> maps </a:t>
                </a:r>
                <a:r>
                  <a:rPr lang="en-US" altLang="zh-CN" sz="1400" dirty="0" err="1"/>
                  <a:t>JoinAttrs</a:t>
                </a:r>
                <a:r>
                  <a:rPr lang="en-US" altLang="zh-CN" sz="1400" dirty="0"/>
                  <a:t> values to {0, 1, ..., </a:t>
                </a:r>
                <a14:m>
                  <m:oMath xmlns:m="http://schemas.openxmlformats.org/officeDocument/2006/math">
                    <m:r>
                      <a:rPr lang="en-US" altLang="zh-CN" sz="1400" b="0" i="1" smtClean="0">
                        <a:latin typeface="Cambria Math" panose="02040503050406030204" pitchFamily="18" charset="0"/>
                      </a:rPr>
                      <m:t>𝑛</m:t>
                    </m:r>
                  </m:oMath>
                </a14:m>
                <a:r>
                  <a:rPr lang="en-US" altLang="zh-CN" sz="1400" dirty="0"/>
                  <a:t>}</a:t>
                </a:r>
                <a:endParaRPr lang="en-US" altLang="zh-CN" sz="1200" dirty="0"/>
              </a:p>
              <a:p>
                <a:pPr lvl="1"/>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𝑟</m:t>
                        </m:r>
                      </m:e>
                      <m:sub>
                        <m:r>
                          <a:rPr lang="en-US" altLang="zh-CN" sz="1400" b="0" i="1" smtClean="0">
                            <a:latin typeface="Cambria Math" panose="02040503050406030204" pitchFamily="18" charset="0"/>
                          </a:rPr>
                          <m:t>0</m:t>
                        </m:r>
                      </m:sub>
                    </m:sSub>
                  </m:oMath>
                </a14:m>
                <a:r>
                  <a:rPr lang="en-US" altLang="zh-CN" sz="1400" dirty="0"/>
                  <a:t>, </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𝑟</m:t>
                        </m:r>
                      </m:e>
                      <m:sub>
                        <m:r>
                          <a:rPr lang="en-US" altLang="zh-CN" sz="1400" b="0" i="1" smtClean="0">
                            <a:latin typeface="Cambria Math" panose="02040503050406030204" pitchFamily="18" charset="0"/>
                          </a:rPr>
                          <m:t>1</m:t>
                        </m:r>
                      </m:sub>
                    </m:sSub>
                  </m:oMath>
                </a14:m>
                <a:r>
                  <a:rPr lang="en-US" altLang="zh-CN" sz="1400" dirty="0"/>
                  <a:t>, . . ., </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𝑟</m:t>
                        </m:r>
                      </m:e>
                      <m:sub>
                        <m:r>
                          <a:rPr lang="en-US" altLang="zh-CN" sz="1400" b="0" i="1" smtClean="0">
                            <a:latin typeface="Cambria Math" panose="02040503050406030204" pitchFamily="18" charset="0"/>
                          </a:rPr>
                          <m:t>𝑛</m:t>
                        </m:r>
                      </m:sub>
                    </m:sSub>
                  </m:oMath>
                </a14:m>
                <a:r>
                  <a:rPr lang="en-US" altLang="zh-CN" sz="1400" dirty="0"/>
                  <a:t> denote partitions of </a:t>
                </a:r>
                <a14:m>
                  <m:oMath xmlns:m="http://schemas.openxmlformats.org/officeDocument/2006/math">
                    <m:r>
                      <a:rPr lang="en-US" altLang="zh-CN" sz="1400" b="0" i="1" smtClean="0">
                        <a:latin typeface="Cambria Math" panose="02040503050406030204" pitchFamily="18" charset="0"/>
                      </a:rPr>
                      <m:t>𝑟</m:t>
                    </m:r>
                  </m:oMath>
                </a14:m>
                <a:r>
                  <a:rPr lang="en-US" altLang="zh-CN" sz="1400" dirty="0"/>
                  <a:t> tuples</a:t>
                </a:r>
              </a:p>
              <a:p>
                <a:pPr lvl="1"/>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𝑠</m:t>
                        </m:r>
                      </m:e>
                      <m:sub>
                        <m:r>
                          <a:rPr lang="en-US" altLang="zh-CN" sz="1400" b="0" i="1" smtClean="0">
                            <a:latin typeface="Cambria Math" panose="02040503050406030204" pitchFamily="18" charset="0"/>
                          </a:rPr>
                          <m:t>0</m:t>
                        </m:r>
                      </m:sub>
                    </m:sSub>
                  </m:oMath>
                </a14:m>
                <a:r>
                  <a:rPr lang="en-US" altLang="zh-CN" sz="1400" dirty="0"/>
                  <a:t>, </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𝑠</m:t>
                        </m:r>
                      </m:e>
                      <m:sub>
                        <m:r>
                          <a:rPr lang="en-US" altLang="zh-CN" sz="1400" b="0" i="1" smtClean="0">
                            <a:latin typeface="Cambria Math" panose="02040503050406030204" pitchFamily="18" charset="0"/>
                          </a:rPr>
                          <m:t>1</m:t>
                        </m:r>
                      </m:sub>
                    </m:sSub>
                  </m:oMath>
                </a14:m>
                <a:r>
                  <a:rPr lang="en-US" altLang="zh-CN" sz="1400" dirty="0"/>
                  <a:t>,. . ., </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𝑠</m:t>
                        </m:r>
                      </m:e>
                      <m:sub>
                        <m:r>
                          <a:rPr lang="en-US" altLang="zh-CN" sz="1400" b="0" i="1" smtClean="0">
                            <a:latin typeface="Cambria Math" panose="02040503050406030204" pitchFamily="18" charset="0"/>
                          </a:rPr>
                          <m:t>𝑛</m:t>
                        </m:r>
                      </m:sub>
                    </m:sSub>
                  </m:oMath>
                </a14:m>
                <a:r>
                  <a:rPr lang="en-US" altLang="zh-CN" sz="1400" dirty="0"/>
                  <a:t> denotes partitions of </a:t>
                </a:r>
                <a14:m>
                  <m:oMath xmlns:m="http://schemas.openxmlformats.org/officeDocument/2006/math">
                    <m:r>
                      <a:rPr lang="en-US" altLang="zh-CN" sz="1400" b="0" i="1" smtClean="0">
                        <a:latin typeface="Cambria Math" panose="02040503050406030204" pitchFamily="18" charset="0"/>
                      </a:rPr>
                      <m:t>𝑠</m:t>
                    </m:r>
                  </m:oMath>
                </a14:m>
                <a:r>
                  <a:rPr lang="en-US" altLang="zh-CN" sz="1400" dirty="0"/>
                  <a:t> tuples</a:t>
                </a:r>
              </a:p>
              <a:p>
                <a14:m>
                  <m:oMath xmlns:m="http://schemas.openxmlformats.org/officeDocument/2006/math">
                    <m:r>
                      <a:rPr lang="en-US" altLang="zh-CN" sz="1600" i="1">
                        <a:latin typeface="Cambria Math" panose="02040503050406030204" pitchFamily="18" charset="0"/>
                      </a:rPr>
                      <m:t>𝑟</m:t>
                    </m:r>
                  </m:oMath>
                </a14:m>
                <a:r>
                  <a:rPr lang="en-US" altLang="zh-CN" sz="1600" dirty="0"/>
                  <a:t> tuples in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𝑟</m:t>
                        </m:r>
                      </m:e>
                      <m:sub>
                        <m:r>
                          <a:rPr lang="en-US" altLang="zh-CN" sz="1600" i="1">
                            <a:latin typeface="Cambria Math" panose="02040503050406030204" pitchFamily="18" charset="0"/>
                          </a:rPr>
                          <m:t>𝑖</m:t>
                        </m:r>
                      </m:sub>
                    </m:sSub>
                  </m:oMath>
                </a14:m>
                <a:r>
                  <a:rPr lang="en-US" altLang="zh-CN" sz="1600" dirty="0"/>
                  <a:t> need only to be compared with </a:t>
                </a:r>
                <a14:m>
                  <m:oMath xmlns:m="http://schemas.openxmlformats.org/officeDocument/2006/math">
                    <m:r>
                      <a:rPr lang="en-US" altLang="zh-CN" sz="1600" i="1">
                        <a:latin typeface="Cambria Math" panose="02040503050406030204" pitchFamily="18" charset="0"/>
                      </a:rPr>
                      <m:t>𝑠</m:t>
                    </m:r>
                  </m:oMath>
                </a14:m>
                <a:r>
                  <a:rPr lang="en-US" altLang="zh-CN" sz="1600" dirty="0"/>
                  <a:t> tuples in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𝑠</m:t>
                        </m:r>
                      </m:e>
                      <m:sub>
                        <m:r>
                          <a:rPr lang="en-US" altLang="zh-CN" sz="1600" i="1">
                            <a:latin typeface="Cambria Math" panose="02040503050406030204" pitchFamily="18" charset="0"/>
                          </a:rPr>
                          <m:t>𝑖</m:t>
                        </m:r>
                      </m:sub>
                    </m:sSub>
                  </m:oMath>
                </a14:m>
                <a:endParaRPr lang="en-US" altLang="zh-CN" sz="1600" dirty="0"/>
              </a:p>
              <a:p>
                <a:pPr lvl="1"/>
                <a:r>
                  <a:rPr lang="en-US" altLang="zh-CN" sz="1400" dirty="0"/>
                  <a:t>an </a:t>
                </a:r>
                <a14:m>
                  <m:oMath xmlns:m="http://schemas.openxmlformats.org/officeDocument/2006/math">
                    <m:r>
                      <a:rPr lang="en-US" altLang="zh-CN" sz="1400" i="1">
                        <a:latin typeface="Cambria Math" panose="02040503050406030204" pitchFamily="18" charset="0"/>
                      </a:rPr>
                      <m:t>𝑟</m:t>
                    </m:r>
                  </m:oMath>
                </a14:m>
                <a:r>
                  <a:rPr lang="en-US" altLang="zh-CN" sz="1400" dirty="0"/>
                  <a:t> tuple and an </a:t>
                </a:r>
                <a14:m>
                  <m:oMath xmlns:m="http://schemas.openxmlformats.org/officeDocument/2006/math">
                    <m:r>
                      <a:rPr lang="en-US" altLang="zh-CN" sz="1400" i="1">
                        <a:latin typeface="Cambria Math" panose="02040503050406030204" pitchFamily="18" charset="0"/>
                      </a:rPr>
                      <m:t>𝑠</m:t>
                    </m:r>
                  </m:oMath>
                </a14:m>
                <a:r>
                  <a:rPr lang="en-US" altLang="zh-CN" sz="1400" dirty="0"/>
                  <a:t> tuple that satisfy the join condition will have the same hash value for the join attributes</a:t>
                </a:r>
                <a:endParaRPr lang="en-US" altLang="zh-CN" sz="1200" dirty="0"/>
              </a:p>
            </p:txBody>
          </p:sp>
        </mc:Choice>
        <mc:Fallback xmlns="">
          <p:sp>
            <p:nvSpPr>
              <p:cNvPr id="3" name="内容占位符 2">
                <a:extLst>
                  <a:ext uri="{FF2B5EF4-FFF2-40B4-BE49-F238E27FC236}">
                    <a16:creationId xmlns:a16="http://schemas.microsoft.com/office/drawing/2014/main" id="{83771E76-917F-4B06-ABDE-20DECE4298F5}"/>
                  </a:ext>
                </a:extLst>
              </p:cNvPr>
              <p:cNvSpPr>
                <a:spLocks noGrp="1" noRot="1" noChangeAspect="1" noMove="1" noResize="1" noEditPoints="1" noAdjustHandles="1" noChangeArrowheads="1" noChangeShapeType="1" noTextEdit="1"/>
              </p:cNvSpPr>
              <p:nvPr>
                <p:ph idx="1"/>
              </p:nvPr>
            </p:nvSpPr>
            <p:spPr>
              <a:xfrm>
                <a:off x="251520" y="843557"/>
                <a:ext cx="8208912" cy="3630727"/>
              </a:xfrm>
              <a:blipFill>
                <a:blip r:embed="rId2"/>
                <a:stretch>
                  <a:fillRect l="-297" t="-503"/>
                </a:stretch>
              </a:blipFill>
            </p:spPr>
            <p:txBody>
              <a:bodyPr/>
              <a:lstStyle/>
              <a:p>
                <a:r>
                  <a:rPr lang="zh-CN" altLang="en-US">
                    <a:noFill/>
                  </a:rPr>
                  <a:t> </a:t>
                </a:r>
              </a:p>
            </p:txBody>
          </p:sp>
        </mc:Fallback>
      </mc:AlternateContent>
      <p:pic>
        <p:nvPicPr>
          <p:cNvPr id="4" name="Picture 4">
            <a:extLst>
              <a:ext uri="{FF2B5EF4-FFF2-40B4-BE49-F238E27FC236}">
                <a16:creationId xmlns:a16="http://schemas.microsoft.com/office/drawing/2014/main" id="{8015BEEC-A6B2-4A23-9EE8-2B1B2E9A361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l="21788" t="3543" r="13257" b="13562"/>
          <a:stretch>
            <a:fillRect/>
          </a:stretch>
        </p:blipFill>
        <p:spPr bwMode="auto">
          <a:xfrm>
            <a:off x="2915816" y="2715766"/>
            <a:ext cx="2382910" cy="2281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000000"/>
                </a:solidFill>
                <a:miter lim="800000"/>
                <a:headEnd/>
                <a:tailEnd/>
              </a14:hiddenLine>
            </a:ext>
          </a:extLst>
        </p:spPr>
      </p:pic>
    </p:spTree>
    <p:extLst>
      <p:ext uri="{BB962C8B-B14F-4D97-AF65-F5344CB8AC3E}">
        <p14:creationId xmlns:p14="http://schemas.microsoft.com/office/powerpoint/2010/main" val="2141999762"/>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AB105-6B4D-4BA4-9C28-9556CC7DC7A5}"/>
              </a:ext>
            </a:extLst>
          </p:cNvPr>
          <p:cNvSpPr>
            <a:spLocks noGrp="1"/>
          </p:cNvSpPr>
          <p:nvPr>
            <p:ph type="title"/>
          </p:nvPr>
        </p:nvSpPr>
        <p:spPr/>
        <p:txBody>
          <a:bodyPr/>
          <a:lstStyle/>
          <a:p>
            <a:pPr algn="ctr"/>
            <a:r>
              <a:rPr lang="en-US" altLang="zh-CN" dirty="0"/>
              <a:t>Hash-Join*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8135093-96B0-4FC7-9C8C-FB7FB95DBD47}"/>
                  </a:ext>
                </a:extLst>
              </p:cNvPr>
              <p:cNvSpPr>
                <a:spLocks noGrp="1"/>
              </p:cNvSpPr>
              <p:nvPr>
                <p:ph idx="1"/>
              </p:nvPr>
            </p:nvSpPr>
            <p:spPr/>
            <p:txBody>
              <a:bodyPr/>
              <a:lstStyle/>
              <a:p>
                <a:r>
                  <a:rPr lang="en-US" altLang="zh-CN" sz="1800" dirty="0"/>
                  <a:t>The hash-join of </a:t>
                </a:r>
                <a14:m>
                  <m:oMath xmlns:m="http://schemas.openxmlformats.org/officeDocument/2006/math">
                    <m:r>
                      <a:rPr lang="en-US" altLang="zh-CN" sz="1800" i="1" dirty="0" smtClean="0">
                        <a:latin typeface="Cambria Math" panose="02040503050406030204" pitchFamily="18" charset="0"/>
                      </a:rPr>
                      <m:t>𝑟</m:t>
                    </m:r>
                  </m:oMath>
                </a14:m>
                <a:r>
                  <a:rPr lang="en-US" altLang="zh-CN" sz="1800" dirty="0"/>
                  <a:t> and </a:t>
                </a:r>
                <a14:m>
                  <m:oMath xmlns:m="http://schemas.openxmlformats.org/officeDocument/2006/math">
                    <m:r>
                      <a:rPr lang="en-US" altLang="zh-CN" sz="1800" i="1" dirty="0" smtClean="0">
                        <a:latin typeface="Cambria Math" panose="02040503050406030204" pitchFamily="18" charset="0"/>
                      </a:rPr>
                      <m:t>𝑠</m:t>
                    </m:r>
                  </m:oMath>
                </a14:m>
                <a:r>
                  <a:rPr lang="en-US" altLang="zh-CN" sz="1800" dirty="0"/>
                  <a:t> is computed as follows</a:t>
                </a:r>
              </a:p>
              <a:p>
                <a:endParaRPr lang="zh-CN" altLang="en-US" sz="1800" dirty="0"/>
              </a:p>
            </p:txBody>
          </p:sp>
        </mc:Choice>
        <mc:Fallback xmlns="">
          <p:sp>
            <p:nvSpPr>
              <p:cNvPr id="3" name="内容占位符 2">
                <a:extLst>
                  <a:ext uri="{FF2B5EF4-FFF2-40B4-BE49-F238E27FC236}">
                    <a16:creationId xmlns:a16="http://schemas.microsoft.com/office/drawing/2014/main" id="{D8135093-96B0-4FC7-9C8C-FB7FB95DBD47}"/>
                  </a:ext>
                </a:extLst>
              </p:cNvPr>
              <p:cNvSpPr>
                <a:spLocks noGrp="1" noRot="1" noChangeAspect="1" noMove="1" noResize="1" noEditPoints="1" noAdjustHandles="1" noChangeArrowheads="1" noChangeShapeType="1" noTextEdit="1"/>
              </p:cNvSpPr>
              <p:nvPr>
                <p:ph idx="1"/>
              </p:nvPr>
            </p:nvSpPr>
            <p:spPr>
              <a:blipFill>
                <a:blip r:embed="rId3"/>
                <a:stretch>
                  <a:fillRect l="-427" t="-962"/>
                </a:stretch>
              </a:blipFill>
            </p:spPr>
            <p:txBody>
              <a:bodyPr/>
              <a:lstStyle/>
              <a:p>
                <a:r>
                  <a:rPr lang="zh-CN" altLang="en-US">
                    <a:noFill/>
                  </a:rPr>
                  <a:t> </a:t>
                </a:r>
              </a:p>
            </p:txBody>
          </p:sp>
        </mc:Fallback>
      </mc:AlternateContent>
      <p:sp>
        <p:nvSpPr>
          <p:cNvPr id="4" name="Rectangle 3">
            <a:extLst>
              <a:ext uri="{FF2B5EF4-FFF2-40B4-BE49-F238E27FC236}">
                <a16:creationId xmlns:a16="http://schemas.microsoft.com/office/drawing/2014/main" id="{126D25E6-0AA2-4382-AFF7-BF0B70DF69C6}"/>
              </a:ext>
            </a:extLst>
          </p:cNvPr>
          <p:cNvSpPr txBox="1">
            <a:spLocks noChangeArrowheads="1"/>
          </p:cNvSpPr>
          <p:nvPr/>
        </p:nvSpPr>
        <p:spPr bwMode="auto">
          <a:xfrm>
            <a:off x="532191" y="1257467"/>
            <a:ext cx="7272808"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57175" indent="-257175" algn="l" rtl="0" eaLnBrk="0" fontAlgn="base" hangingPunct="0">
              <a:spcBef>
                <a:spcPct val="35000"/>
              </a:spcBef>
              <a:spcAft>
                <a:spcPct val="0"/>
              </a:spcAft>
              <a:buClr>
                <a:srgbClr val="FF0000"/>
              </a:buClr>
              <a:buSzPct val="80000"/>
              <a:buFont typeface="Wingdings" panose="05000000000000000000" pitchFamily="2" charset="2"/>
              <a:buChar char="p"/>
              <a:defRPr kumimoji="1" sz="2100">
                <a:solidFill>
                  <a:schemeClr val="tx1"/>
                </a:solidFill>
                <a:latin typeface="+mn-lt"/>
                <a:ea typeface="+mn-ea"/>
                <a:cs typeface="+mn-cs"/>
              </a:defRPr>
            </a:lvl1pPr>
            <a:lvl2pPr marL="557213" indent="-214313" algn="l" rtl="0" eaLnBrk="0" fontAlgn="base" hangingPunct="0">
              <a:spcBef>
                <a:spcPct val="35000"/>
              </a:spcBef>
              <a:spcAft>
                <a:spcPct val="0"/>
              </a:spcAft>
              <a:buClr>
                <a:srgbClr val="0000FF"/>
              </a:buClr>
              <a:buSzPct val="80000"/>
              <a:buFont typeface="Wingdings" panose="05000000000000000000" pitchFamily="2" charset="2"/>
              <a:buChar char="n"/>
              <a:defRPr kumimoji="1" sz="1800">
                <a:solidFill>
                  <a:schemeClr val="tx1"/>
                </a:solidFill>
                <a:latin typeface="+mn-lt"/>
              </a:defRPr>
            </a:lvl2pPr>
            <a:lvl3pPr marL="814388" indent="-171450" algn="l" rtl="0" eaLnBrk="0" fontAlgn="base" hangingPunct="0">
              <a:spcBef>
                <a:spcPct val="35000"/>
              </a:spcBef>
              <a:spcAft>
                <a:spcPct val="0"/>
              </a:spcAft>
              <a:buClr>
                <a:srgbClr val="FFFF00"/>
              </a:buClr>
              <a:buSzPct val="80000"/>
              <a:buFont typeface="Wingdings" panose="05000000000000000000" pitchFamily="2" charset="2"/>
              <a:buChar char="l"/>
              <a:defRPr kumimoji="1" sz="1800">
                <a:solidFill>
                  <a:schemeClr val="tx1"/>
                </a:solidFill>
                <a:latin typeface="+mn-lt"/>
              </a:defRPr>
            </a:lvl3pPr>
            <a:lvl4pPr marL="1071563" indent="-171450" algn="l" rtl="0" eaLnBrk="0" fontAlgn="base" hangingPunct="0">
              <a:spcBef>
                <a:spcPct val="35000"/>
              </a:spcBef>
              <a:spcAft>
                <a:spcPct val="0"/>
              </a:spcAft>
              <a:buClr>
                <a:srgbClr val="00CC00"/>
              </a:buClr>
              <a:buSzPct val="80000"/>
              <a:buFont typeface="Times New Roman" panose="02020603050405020304" pitchFamily="18" charset="0"/>
              <a:buChar char="•"/>
              <a:defRPr kumimoji="1" sz="1800">
                <a:solidFill>
                  <a:schemeClr val="tx1"/>
                </a:solidFill>
                <a:latin typeface="+mn-lt"/>
              </a:defRPr>
            </a:lvl4pPr>
            <a:lvl5pPr marL="1328738" indent="-171450" algn="l" rtl="0" eaLnBrk="0" fontAlgn="base" hangingPunct="0">
              <a:spcBef>
                <a:spcPct val="35000"/>
              </a:spcBef>
              <a:spcAft>
                <a:spcPct val="0"/>
              </a:spcAft>
              <a:buClr>
                <a:srgbClr val="FF0000"/>
              </a:buClr>
              <a:buSzPct val="80000"/>
              <a:buChar char="»"/>
              <a:defRPr kumimoji="1" sz="1800">
                <a:solidFill>
                  <a:schemeClr val="tx1"/>
                </a:solidFill>
                <a:latin typeface="+mn-lt"/>
              </a:defRPr>
            </a:lvl5pPr>
            <a:lvl6pPr marL="1671638" indent="-171450" algn="l" rtl="0" eaLnBrk="0" fontAlgn="base" hangingPunct="0">
              <a:spcBef>
                <a:spcPct val="35000"/>
              </a:spcBef>
              <a:spcAft>
                <a:spcPct val="0"/>
              </a:spcAft>
              <a:buClr>
                <a:srgbClr val="FF0000"/>
              </a:buClr>
              <a:buSzPct val="80000"/>
              <a:buChar char="»"/>
              <a:defRPr kumimoji="1" sz="1800">
                <a:solidFill>
                  <a:schemeClr val="tx1"/>
                </a:solidFill>
                <a:latin typeface="+mn-lt"/>
              </a:defRPr>
            </a:lvl6pPr>
            <a:lvl7pPr marL="2014538" indent="-171450" algn="l" rtl="0" eaLnBrk="0" fontAlgn="base" hangingPunct="0">
              <a:spcBef>
                <a:spcPct val="35000"/>
              </a:spcBef>
              <a:spcAft>
                <a:spcPct val="0"/>
              </a:spcAft>
              <a:buClr>
                <a:srgbClr val="FF0000"/>
              </a:buClr>
              <a:buSzPct val="80000"/>
              <a:buChar char="»"/>
              <a:defRPr kumimoji="1" sz="1800">
                <a:solidFill>
                  <a:schemeClr val="tx1"/>
                </a:solidFill>
                <a:latin typeface="+mn-lt"/>
              </a:defRPr>
            </a:lvl7pPr>
            <a:lvl8pPr marL="2357438" indent="-171450" algn="l" rtl="0" eaLnBrk="0" fontAlgn="base" hangingPunct="0">
              <a:spcBef>
                <a:spcPct val="35000"/>
              </a:spcBef>
              <a:spcAft>
                <a:spcPct val="0"/>
              </a:spcAft>
              <a:buClr>
                <a:srgbClr val="FF0000"/>
              </a:buClr>
              <a:buSzPct val="80000"/>
              <a:buChar char="»"/>
              <a:defRPr kumimoji="1" sz="1800">
                <a:solidFill>
                  <a:schemeClr val="tx1"/>
                </a:solidFill>
                <a:latin typeface="+mn-lt"/>
              </a:defRPr>
            </a:lvl8pPr>
            <a:lvl9pPr marL="2700338" indent="-171450" algn="l" rtl="0" eaLnBrk="0" fontAlgn="base" hangingPunct="0">
              <a:spcBef>
                <a:spcPct val="35000"/>
              </a:spcBef>
              <a:spcAft>
                <a:spcPct val="0"/>
              </a:spcAft>
              <a:buClr>
                <a:srgbClr val="FF0000"/>
              </a:buClr>
              <a:buSzPct val="80000"/>
              <a:buChar char="»"/>
              <a:defRPr kumimoji="1" sz="1800">
                <a:solidFill>
                  <a:schemeClr val="tx1"/>
                </a:solidFill>
                <a:latin typeface="+mn-lt"/>
              </a:defRPr>
            </a:lvl9pPr>
          </a:lstStyle>
          <a:p>
            <a:pPr>
              <a:buFont typeface="Wingdings" panose="05000000000000000000" pitchFamily="2" charset="2"/>
              <a:buNone/>
            </a:pPr>
            <a:r>
              <a:rPr lang="en-US" altLang="zh-CN" sz="1500" kern="0" dirty="0">
                <a:latin typeface="Arial" panose="020B0604020202020204" pitchFamily="34" charset="0"/>
                <a:ea typeface="宋体" panose="02010600030101010101" pitchFamily="2" charset="-122"/>
                <a:cs typeface="Arial" panose="020B0604020202020204" pitchFamily="34" charset="0"/>
              </a:rPr>
              <a:t>1.	Partition the relation </a:t>
            </a:r>
            <a:r>
              <a:rPr lang="en-US" altLang="zh-CN" sz="1500" i="1" kern="0" dirty="0">
                <a:latin typeface="Arial" panose="020B0604020202020204" pitchFamily="34" charset="0"/>
                <a:ea typeface="宋体" panose="02010600030101010101" pitchFamily="2" charset="-122"/>
                <a:cs typeface="Arial" panose="020B0604020202020204" pitchFamily="34" charset="0"/>
              </a:rPr>
              <a:t>s</a:t>
            </a:r>
            <a:r>
              <a:rPr lang="en-US" altLang="zh-CN" sz="1500" kern="0" dirty="0">
                <a:latin typeface="Arial" panose="020B0604020202020204" pitchFamily="34" charset="0"/>
                <a:ea typeface="宋体" panose="02010600030101010101" pitchFamily="2" charset="-122"/>
                <a:cs typeface="Arial" panose="020B0604020202020204" pitchFamily="34" charset="0"/>
              </a:rPr>
              <a:t> using hashing function </a:t>
            </a:r>
            <a:r>
              <a:rPr lang="en-US" altLang="zh-CN" sz="1500" i="1" kern="0" dirty="0">
                <a:latin typeface="Arial" panose="020B0604020202020204" pitchFamily="34" charset="0"/>
                <a:ea typeface="宋体" panose="02010600030101010101" pitchFamily="2" charset="-122"/>
                <a:cs typeface="Arial" panose="020B0604020202020204" pitchFamily="34" charset="0"/>
              </a:rPr>
              <a:t>h</a:t>
            </a:r>
            <a:r>
              <a:rPr lang="en-US" altLang="zh-CN" sz="1500" kern="0" dirty="0">
                <a:latin typeface="Arial" panose="020B0604020202020204" pitchFamily="34" charset="0"/>
                <a:ea typeface="宋体" panose="02010600030101010101" pitchFamily="2" charset="-122"/>
                <a:cs typeface="Arial" panose="020B0604020202020204" pitchFamily="34" charset="0"/>
              </a:rPr>
              <a:t>.  When partitioning a relation, </a:t>
            </a:r>
            <a:r>
              <a:rPr lang="en-US" altLang="zh-CN" sz="1500" kern="0" dirty="0">
                <a:solidFill>
                  <a:srgbClr val="0000FF"/>
                </a:solidFill>
                <a:latin typeface="Arial" panose="020B0604020202020204" pitchFamily="34" charset="0"/>
                <a:ea typeface="宋体" panose="02010600030101010101" pitchFamily="2" charset="-122"/>
                <a:cs typeface="Arial" panose="020B0604020202020204" pitchFamily="34" charset="0"/>
              </a:rPr>
              <a:t>one block of memory is reserved as the output buffer for each partition</a:t>
            </a:r>
            <a:r>
              <a:rPr lang="en-US" altLang="zh-CN" sz="1500" kern="0" dirty="0">
                <a:latin typeface="Arial" panose="020B0604020202020204" pitchFamily="34" charset="0"/>
                <a:ea typeface="宋体" panose="02010600030101010101" pitchFamily="2" charset="-122"/>
                <a:cs typeface="Arial" panose="020B0604020202020204" pitchFamily="34" charset="0"/>
              </a:rPr>
              <a:t>.</a:t>
            </a:r>
          </a:p>
          <a:p>
            <a:pPr>
              <a:buFont typeface="Wingdings" panose="05000000000000000000" pitchFamily="2" charset="2"/>
              <a:buNone/>
            </a:pPr>
            <a:r>
              <a:rPr lang="en-US" altLang="zh-CN" sz="1500" kern="0" dirty="0">
                <a:latin typeface="Arial" panose="020B0604020202020204" pitchFamily="34" charset="0"/>
                <a:ea typeface="宋体" panose="02010600030101010101" pitchFamily="2" charset="-122"/>
                <a:cs typeface="Arial" panose="020B0604020202020204" pitchFamily="34" charset="0"/>
              </a:rPr>
              <a:t>2.	Partition </a:t>
            </a:r>
            <a:r>
              <a:rPr lang="en-US" altLang="zh-CN" sz="1500" i="1" kern="0" dirty="0">
                <a:latin typeface="Arial" panose="020B0604020202020204" pitchFamily="34" charset="0"/>
                <a:ea typeface="宋体" panose="02010600030101010101" pitchFamily="2" charset="-122"/>
                <a:cs typeface="Arial" panose="020B0604020202020204" pitchFamily="34" charset="0"/>
              </a:rPr>
              <a:t>r</a:t>
            </a:r>
            <a:r>
              <a:rPr lang="en-US" altLang="zh-CN" sz="1500" kern="0" dirty="0">
                <a:latin typeface="Arial" panose="020B0604020202020204" pitchFamily="34" charset="0"/>
                <a:ea typeface="宋体" panose="02010600030101010101" pitchFamily="2" charset="-122"/>
                <a:cs typeface="Arial" panose="020B0604020202020204" pitchFamily="34" charset="0"/>
              </a:rPr>
              <a:t> similarly.</a:t>
            </a:r>
          </a:p>
          <a:p>
            <a:pPr>
              <a:buFont typeface="Wingdings" panose="05000000000000000000" pitchFamily="2" charset="2"/>
              <a:buNone/>
            </a:pPr>
            <a:r>
              <a:rPr lang="en-US" altLang="zh-CN" sz="1500" kern="0" dirty="0">
                <a:latin typeface="Arial" panose="020B0604020202020204" pitchFamily="34" charset="0"/>
                <a:ea typeface="宋体" panose="02010600030101010101" pitchFamily="2" charset="-122"/>
                <a:cs typeface="Arial" panose="020B0604020202020204" pitchFamily="34" charset="0"/>
              </a:rPr>
              <a:t>3.	For each </a:t>
            </a:r>
            <a:r>
              <a:rPr lang="en-US" altLang="zh-CN" sz="1500" i="1" kern="0" dirty="0">
                <a:latin typeface="Arial" panose="020B0604020202020204" pitchFamily="34" charset="0"/>
                <a:ea typeface="宋体" panose="02010600030101010101" pitchFamily="2" charset="-122"/>
                <a:cs typeface="Arial" panose="020B0604020202020204" pitchFamily="34" charset="0"/>
              </a:rPr>
              <a:t>i:</a:t>
            </a:r>
            <a:endParaRPr lang="en-US" altLang="zh-CN" sz="1500" kern="0" dirty="0">
              <a:latin typeface="Arial" panose="020B0604020202020204" pitchFamily="34" charset="0"/>
              <a:ea typeface="宋体" panose="02010600030101010101" pitchFamily="2" charset="-122"/>
              <a:cs typeface="Arial" panose="020B0604020202020204" pitchFamily="34" charset="0"/>
            </a:endParaRPr>
          </a:p>
          <a:p>
            <a:pPr marL="552450" lvl="1" indent="-209550">
              <a:buFont typeface="Wingdings" panose="05000000000000000000" pitchFamily="2" charset="2"/>
              <a:buNone/>
            </a:pPr>
            <a:r>
              <a:rPr lang="en-US" altLang="zh-CN" sz="1350" kern="0" dirty="0">
                <a:latin typeface="Arial" panose="020B0604020202020204" pitchFamily="34" charset="0"/>
                <a:ea typeface="宋体" panose="02010600030101010101" pitchFamily="2" charset="-122"/>
                <a:cs typeface="Arial" panose="020B0604020202020204" pitchFamily="34" charset="0"/>
              </a:rPr>
              <a:t>(a) Load </a:t>
            </a:r>
            <a:r>
              <a:rPr lang="en-US" altLang="zh-CN" sz="1350" i="1" kern="0" dirty="0" err="1">
                <a:latin typeface="Arial" panose="020B0604020202020204" pitchFamily="34" charset="0"/>
                <a:ea typeface="宋体" panose="02010600030101010101" pitchFamily="2" charset="-122"/>
                <a:cs typeface="Arial" panose="020B0604020202020204" pitchFamily="34" charset="0"/>
              </a:rPr>
              <a:t>s</a:t>
            </a:r>
            <a:r>
              <a:rPr lang="en-US" altLang="zh-CN" sz="1350" i="1" kern="0" baseline="-25000" dirty="0" err="1">
                <a:latin typeface="Arial" panose="020B0604020202020204" pitchFamily="34" charset="0"/>
                <a:ea typeface="宋体" panose="02010600030101010101" pitchFamily="2" charset="-122"/>
                <a:cs typeface="Arial" panose="020B0604020202020204" pitchFamily="34" charset="0"/>
              </a:rPr>
              <a:t>i</a:t>
            </a:r>
            <a:r>
              <a:rPr lang="en-US" altLang="zh-CN" sz="1350" kern="0" dirty="0">
                <a:latin typeface="Arial" panose="020B0604020202020204" pitchFamily="34" charset="0"/>
                <a:ea typeface="宋体" panose="02010600030101010101" pitchFamily="2" charset="-122"/>
                <a:cs typeface="Arial" panose="020B0604020202020204" pitchFamily="34" charset="0"/>
              </a:rPr>
              <a:t> into memory and build an in-memory hash index on it using the join attribute.  This hash index uses a </a:t>
            </a:r>
            <a:r>
              <a:rPr lang="en-US" altLang="zh-CN" sz="1350" kern="0" dirty="0">
                <a:solidFill>
                  <a:srgbClr val="0000FF"/>
                </a:solidFill>
                <a:latin typeface="Arial" panose="020B0604020202020204" pitchFamily="34" charset="0"/>
                <a:ea typeface="宋体" panose="02010600030101010101" pitchFamily="2" charset="-122"/>
                <a:cs typeface="Arial" panose="020B0604020202020204" pitchFamily="34" charset="0"/>
              </a:rPr>
              <a:t>different hash function</a:t>
            </a:r>
            <a:r>
              <a:rPr lang="en-US" altLang="zh-CN" sz="1350" kern="0" dirty="0">
                <a:latin typeface="Arial" panose="020B0604020202020204" pitchFamily="34" charset="0"/>
                <a:ea typeface="宋体" panose="02010600030101010101" pitchFamily="2" charset="-122"/>
                <a:cs typeface="Arial" panose="020B0604020202020204" pitchFamily="34" charset="0"/>
              </a:rPr>
              <a:t> than the earlier one </a:t>
            </a:r>
            <a:r>
              <a:rPr lang="en-US" altLang="zh-CN" sz="1350" i="1" kern="0" dirty="0">
                <a:latin typeface="Arial" panose="020B0604020202020204" pitchFamily="34" charset="0"/>
                <a:ea typeface="宋体" panose="02010600030101010101" pitchFamily="2" charset="-122"/>
                <a:cs typeface="Arial" panose="020B0604020202020204" pitchFamily="34" charset="0"/>
              </a:rPr>
              <a:t>h.</a:t>
            </a:r>
            <a:endParaRPr lang="en-US" altLang="zh-CN" sz="1350" kern="0" dirty="0">
              <a:latin typeface="Arial" panose="020B0604020202020204" pitchFamily="34" charset="0"/>
              <a:ea typeface="宋体" panose="02010600030101010101" pitchFamily="2" charset="-122"/>
              <a:cs typeface="Arial" panose="020B0604020202020204" pitchFamily="34" charset="0"/>
            </a:endParaRPr>
          </a:p>
          <a:p>
            <a:pPr marL="552450" lvl="1" indent="-209550">
              <a:buFont typeface="Wingdings" panose="05000000000000000000" pitchFamily="2" charset="2"/>
              <a:buNone/>
            </a:pPr>
            <a:r>
              <a:rPr lang="en-US" altLang="zh-CN" sz="1350" kern="0" dirty="0">
                <a:latin typeface="Arial" panose="020B0604020202020204" pitchFamily="34" charset="0"/>
                <a:ea typeface="宋体" panose="02010600030101010101" pitchFamily="2" charset="-122"/>
                <a:cs typeface="Arial" panose="020B0604020202020204" pitchFamily="34" charset="0"/>
              </a:rPr>
              <a:t>(b) Read the tuples in </a:t>
            </a:r>
            <a:r>
              <a:rPr lang="en-US" altLang="zh-CN" sz="1350" i="1" kern="0" dirty="0" err="1">
                <a:latin typeface="Arial" panose="020B0604020202020204" pitchFamily="34" charset="0"/>
                <a:ea typeface="宋体" panose="02010600030101010101" pitchFamily="2" charset="-122"/>
                <a:cs typeface="Arial" panose="020B0604020202020204" pitchFamily="34" charset="0"/>
              </a:rPr>
              <a:t>r</a:t>
            </a:r>
            <a:r>
              <a:rPr lang="en-US" altLang="zh-CN" sz="1350" i="1" kern="0" baseline="-25000" dirty="0" err="1">
                <a:latin typeface="Arial" panose="020B0604020202020204" pitchFamily="34" charset="0"/>
                <a:ea typeface="宋体" panose="02010600030101010101" pitchFamily="2" charset="-122"/>
                <a:cs typeface="Arial" panose="020B0604020202020204" pitchFamily="34" charset="0"/>
              </a:rPr>
              <a:t>i</a:t>
            </a:r>
            <a:r>
              <a:rPr lang="en-US" altLang="zh-CN" sz="1350" kern="0" dirty="0">
                <a:latin typeface="Arial" panose="020B0604020202020204" pitchFamily="34" charset="0"/>
                <a:ea typeface="宋体" panose="02010600030101010101" pitchFamily="2" charset="-122"/>
                <a:cs typeface="Arial" panose="020B0604020202020204" pitchFamily="34" charset="0"/>
              </a:rPr>
              <a:t> from the disk one by one.  For each tuple </a:t>
            </a:r>
            <a:r>
              <a:rPr lang="en-US" altLang="zh-CN" sz="1350" i="1" kern="0" dirty="0">
                <a:latin typeface="Arial" panose="020B0604020202020204" pitchFamily="34" charset="0"/>
                <a:ea typeface="宋体" panose="02010600030101010101" pitchFamily="2" charset="-122"/>
                <a:cs typeface="Arial" panose="020B0604020202020204" pitchFamily="34" charset="0"/>
              </a:rPr>
              <a:t>t</a:t>
            </a:r>
            <a:r>
              <a:rPr lang="en-US" altLang="zh-CN" sz="1350" i="1" kern="0" baseline="-25000" dirty="0">
                <a:latin typeface="Arial" panose="020B0604020202020204" pitchFamily="34" charset="0"/>
                <a:ea typeface="宋体" panose="02010600030101010101" pitchFamily="2" charset="-122"/>
                <a:cs typeface="Arial" panose="020B0604020202020204" pitchFamily="34" charset="0"/>
              </a:rPr>
              <a:t>r</a:t>
            </a:r>
            <a:r>
              <a:rPr lang="en-US" altLang="zh-CN" sz="1350" kern="0" dirty="0">
                <a:latin typeface="Arial" panose="020B0604020202020204" pitchFamily="34" charset="0"/>
                <a:ea typeface="宋体" panose="02010600030101010101" pitchFamily="2" charset="-122"/>
                <a:cs typeface="Arial" panose="020B0604020202020204" pitchFamily="34" charset="0"/>
              </a:rPr>
              <a:t> locate each matching tuple </a:t>
            </a:r>
            <a:r>
              <a:rPr lang="en-US" altLang="zh-CN" sz="1350" i="1" kern="0" dirty="0" err="1">
                <a:latin typeface="Arial" panose="020B0604020202020204" pitchFamily="34" charset="0"/>
                <a:ea typeface="宋体" panose="02010600030101010101" pitchFamily="2" charset="-122"/>
                <a:cs typeface="Arial" panose="020B0604020202020204" pitchFamily="34" charset="0"/>
              </a:rPr>
              <a:t>t</a:t>
            </a:r>
            <a:r>
              <a:rPr lang="en-US" altLang="zh-CN" sz="1350" i="1" kern="0" baseline="-25000" dirty="0" err="1">
                <a:latin typeface="Arial" panose="020B0604020202020204" pitchFamily="34" charset="0"/>
                <a:ea typeface="宋体" panose="02010600030101010101" pitchFamily="2" charset="-122"/>
                <a:cs typeface="Arial" panose="020B0604020202020204" pitchFamily="34" charset="0"/>
              </a:rPr>
              <a:t>s</a:t>
            </a:r>
            <a:r>
              <a:rPr lang="en-US" altLang="zh-CN" sz="1350" i="1" kern="0" dirty="0">
                <a:latin typeface="Arial" panose="020B0604020202020204" pitchFamily="34" charset="0"/>
                <a:ea typeface="宋体" panose="02010600030101010101" pitchFamily="2" charset="-122"/>
                <a:cs typeface="Arial" panose="020B0604020202020204" pitchFamily="34" charset="0"/>
              </a:rPr>
              <a:t> </a:t>
            </a:r>
            <a:r>
              <a:rPr lang="en-US" altLang="zh-CN" sz="1350" kern="0" dirty="0">
                <a:latin typeface="Arial" panose="020B0604020202020204" pitchFamily="34" charset="0"/>
                <a:ea typeface="宋体" panose="02010600030101010101" pitchFamily="2" charset="-122"/>
                <a:cs typeface="Arial" panose="020B0604020202020204" pitchFamily="34" charset="0"/>
              </a:rPr>
              <a:t>in </a:t>
            </a:r>
            <a:r>
              <a:rPr lang="en-US" altLang="zh-CN" sz="1350" i="1" kern="0" dirty="0" err="1">
                <a:latin typeface="Arial" panose="020B0604020202020204" pitchFamily="34" charset="0"/>
                <a:ea typeface="宋体" panose="02010600030101010101" pitchFamily="2" charset="-122"/>
                <a:cs typeface="Arial" panose="020B0604020202020204" pitchFamily="34" charset="0"/>
              </a:rPr>
              <a:t>s</a:t>
            </a:r>
            <a:r>
              <a:rPr lang="en-US" altLang="zh-CN" sz="1350" i="1" kern="0" baseline="-25000" dirty="0" err="1">
                <a:latin typeface="Arial" panose="020B0604020202020204" pitchFamily="34" charset="0"/>
                <a:ea typeface="宋体" panose="02010600030101010101" pitchFamily="2" charset="-122"/>
                <a:cs typeface="Arial" panose="020B0604020202020204" pitchFamily="34" charset="0"/>
              </a:rPr>
              <a:t>i</a:t>
            </a:r>
            <a:r>
              <a:rPr lang="en-US" altLang="zh-CN" sz="1350" kern="0" dirty="0">
                <a:latin typeface="Arial" panose="020B0604020202020204" pitchFamily="34" charset="0"/>
                <a:ea typeface="宋体" panose="02010600030101010101" pitchFamily="2" charset="-122"/>
                <a:cs typeface="Arial" panose="020B0604020202020204" pitchFamily="34" charset="0"/>
              </a:rPr>
              <a:t> using the in-memory hash index.  Output the concatenation of their attributes.</a:t>
            </a:r>
          </a:p>
        </p:txBody>
      </p:sp>
      <mc:AlternateContent xmlns:mc="http://schemas.openxmlformats.org/markup-compatibility/2006" xmlns:a14="http://schemas.microsoft.com/office/drawing/2010/main">
        <mc:Choice Requires="a14">
          <p:sp>
            <p:nvSpPr>
              <p:cNvPr id="5" name="Text Box 5">
                <a:extLst>
                  <a:ext uri="{FF2B5EF4-FFF2-40B4-BE49-F238E27FC236}">
                    <a16:creationId xmlns:a16="http://schemas.microsoft.com/office/drawing/2014/main" id="{E9291CFA-DB0F-4EDE-AC8A-EE0C08546F9E}"/>
                  </a:ext>
                </a:extLst>
              </p:cNvPr>
              <p:cNvSpPr txBox="1">
                <a:spLocks noChangeArrowheads="1"/>
              </p:cNvSpPr>
              <p:nvPr/>
            </p:nvSpPr>
            <p:spPr bwMode="auto">
              <a:xfrm>
                <a:off x="323528" y="3845525"/>
                <a:ext cx="8352927" cy="3231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ct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defTabSz="685800" eaLnBrk="0" hangingPunct="0">
                  <a:spcBef>
                    <a:spcPct val="50000"/>
                  </a:spcBef>
                  <a:buClrTx/>
                  <a:buSzTx/>
                  <a:buFont typeface="Wingdings" panose="05000000000000000000" pitchFamily="2" charset="2"/>
                  <a:buNone/>
                </a:pPr>
                <a:r>
                  <a:rPr kumimoji="0" lang="en-US" altLang="zh-CN" sz="1500" b="1" dirty="0">
                    <a:solidFill>
                      <a:srgbClr val="000000"/>
                    </a:solidFill>
                    <a:latin typeface="Arial" panose="020B0604020202020204" pitchFamily="34" charset="0"/>
                    <a:ea typeface="宋体" panose="02010600030101010101" pitchFamily="2" charset="-122"/>
                    <a:cs typeface="Arial" panose="020B0604020202020204" pitchFamily="34" charset="0"/>
                  </a:rPr>
                  <a:t>Relation </a:t>
                </a:r>
                <a14:m>
                  <m:oMath xmlns:m="http://schemas.openxmlformats.org/officeDocument/2006/math">
                    <m:r>
                      <a:rPr kumimoji="0" lang="en-US" altLang="zh-CN" sz="1500" b="1" i="1" dirty="0" smtClean="0">
                        <a:solidFill>
                          <a:srgbClr val="000000"/>
                        </a:solidFill>
                        <a:latin typeface="Cambria Math" panose="02040503050406030204" pitchFamily="18" charset="0"/>
                        <a:ea typeface="宋体" panose="02010600030101010101" pitchFamily="2" charset="-122"/>
                        <a:cs typeface="Arial" panose="020B0604020202020204" pitchFamily="34" charset="0"/>
                      </a:rPr>
                      <m:t>𝒔</m:t>
                    </m:r>
                  </m:oMath>
                </a14:m>
                <a:r>
                  <a:rPr kumimoji="0" lang="en-US" altLang="zh-CN" sz="1500" b="1" dirty="0">
                    <a:solidFill>
                      <a:srgbClr val="000000"/>
                    </a:solidFill>
                    <a:latin typeface="Arial" panose="020B0604020202020204" pitchFamily="34" charset="0"/>
                    <a:ea typeface="宋体" panose="02010600030101010101" pitchFamily="2" charset="-122"/>
                    <a:cs typeface="Arial" panose="020B0604020202020204" pitchFamily="34" charset="0"/>
                  </a:rPr>
                  <a:t> is called the </a:t>
                </a:r>
                <a:r>
                  <a:rPr kumimoji="0" lang="en-US" altLang="zh-CN" sz="1500" b="1" dirty="0">
                    <a:solidFill>
                      <a:srgbClr val="FF0000"/>
                    </a:solidFill>
                    <a:latin typeface="Arial" panose="020B0604020202020204" pitchFamily="34" charset="0"/>
                    <a:ea typeface="宋体" panose="02010600030101010101" pitchFamily="2" charset="-122"/>
                    <a:cs typeface="Arial" panose="020B0604020202020204" pitchFamily="34" charset="0"/>
                  </a:rPr>
                  <a:t>build input(</a:t>
                </a:r>
                <a:r>
                  <a:rPr kumimoji="0" lang="zh-CN" altLang="en-US" sz="1500" b="1" dirty="0">
                    <a:solidFill>
                      <a:srgbClr val="FF0000"/>
                    </a:solidFill>
                    <a:latin typeface="Arial" panose="020B0604020202020204" pitchFamily="34" charset="0"/>
                    <a:ea typeface="宋体" panose="02010600030101010101" pitchFamily="2" charset="-122"/>
                    <a:cs typeface="Arial" panose="020B0604020202020204" pitchFamily="34" charset="0"/>
                  </a:rPr>
                  <a:t>构造用输入</a:t>
                </a:r>
                <a:r>
                  <a:rPr kumimoji="0" lang="en-US" altLang="zh-CN" sz="1500" b="1" dirty="0">
                    <a:solidFill>
                      <a:srgbClr val="FF0000"/>
                    </a:solidFill>
                    <a:latin typeface="Arial" panose="020B0604020202020204" pitchFamily="34" charset="0"/>
                    <a:ea typeface="宋体" panose="02010600030101010101" pitchFamily="2" charset="-122"/>
                    <a:cs typeface="Arial" panose="020B0604020202020204" pitchFamily="34" charset="0"/>
                  </a:rPr>
                  <a:t>)</a:t>
                </a:r>
                <a:r>
                  <a:rPr kumimoji="0" lang="en-US" altLang="zh-CN" sz="1500" b="1" dirty="0">
                    <a:solidFill>
                      <a:srgbClr val="000000"/>
                    </a:solidFill>
                    <a:latin typeface="Arial" panose="020B0604020202020204" pitchFamily="34" charset="0"/>
                    <a:ea typeface="宋体" panose="02010600030101010101" pitchFamily="2" charset="-122"/>
                    <a:cs typeface="Arial" panose="020B0604020202020204" pitchFamily="34" charset="0"/>
                  </a:rPr>
                  <a:t> and </a:t>
                </a:r>
                <a14:m>
                  <m:oMath xmlns:m="http://schemas.openxmlformats.org/officeDocument/2006/math">
                    <m:r>
                      <a:rPr kumimoji="0" lang="en-US" altLang="zh-CN" sz="1500" b="1" i="1" dirty="0" smtClean="0">
                        <a:solidFill>
                          <a:srgbClr val="000000"/>
                        </a:solidFill>
                        <a:latin typeface="Cambria Math" panose="02040503050406030204" pitchFamily="18" charset="0"/>
                        <a:ea typeface="宋体" panose="02010600030101010101" pitchFamily="2" charset="-122"/>
                        <a:cs typeface="Arial" panose="020B0604020202020204" pitchFamily="34" charset="0"/>
                      </a:rPr>
                      <m:t>𝒓</m:t>
                    </m:r>
                  </m:oMath>
                </a14:m>
                <a:r>
                  <a:rPr kumimoji="0" lang="en-US" altLang="zh-CN" sz="1500" b="1" dirty="0">
                    <a:solidFill>
                      <a:srgbClr val="000000"/>
                    </a:solidFill>
                    <a:latin typeface="Arial" panose="020B0604020202020204" pitchFamily="34" charset="0"/>
                    <a:ea typeface="宋体" panose="02010600030101010101" pitchFamily="2" charset="-122"/>
                    <a:cs typeface="Arial" panose="020B0604020202020204" pitchFamily="34" charset="0"/>
                  </a:rPr>
                  <a:t> is called the </a:t>
                </a:r>
                <a:r>
                  <a:rPr kumimoji="0" lang="en-US" altLang="zh-CN" sz="1500" b="1" dirty="0">
                    <a:solidFill>
                      <a:srgbClr val="FF0000"/>
                    </a:solidFill>
                    <a:latin typeface="Arial" panose="020B0604020202020204" pitchFamily="34" charset="0"/>
                    <a:ea typeface="宋体" panose="02010600030101010101" pitchFamily="2" charset="-122"/>
                    <a:cs typeface="Arial" panose="020B0604020202020204" pitchFamily="34" charset="0"/>
                  </a:rPr>
                  <a:t>probe input(</a:t>
                </a:r>
                <a:r>
                  <a:rPr kumimoji="0" lang="zh-CN" altLang="en-US" sz="1500" b="1" dirty="0">
                    <a:solidFill>
                      <a:srgbClr val="FF0000"/>
                    </a:solidFill>
                    <a:latin typeface="Arial" panose="020B0604020202020204" pitchFamily="34" charset="0"/>
                    <a:ea typeface="宋体" panose="02010600030101010101" pitchFamily="2" charset="-122"/>
                    <a:cs typeface="Arial" panose="020B0604020202020204" pitchFamily="34" charset="0"/>
                  </a:rPr>
                  <a:t>探查用输入</a:t>
                </a:r>
                <a:r>
                  <a:rPr kumimoji="0" lang="en-US" altLang="zh-CN" sz="1500" b="1" dirty="0">
                    <a:solidFill>
                      <a:srgbClr val="FF0000"/>
                    </a:solidFill>
                    <a:latin typeface="Arial" panose="020B0604020202020204" pitchFamily="34" charset="0"/>
                    <a:ea typeface="宋体" panose="02010600030101010101" pitchFamily="2" charset="-122"/>
                    <a:cs typeface="Arial" panose="020B0604020202020204" pitchFamily="34" charset="0"/>
                  </a:rPr>
                  <a:t>)</a:t>
                </a:r>
                <a:endParaRPr kumimoji="0" lang="en-US" altLang="zh-CN" sz="1500" b="1" dirty="0">
                  <a:solidFill>
                    <a:srgbClr val="000000"/>
                  </a:solidFill>
                  <a:latin typeface="Arial" panose="020B0604020202020204" pitchFamily="34" charset="0"/>
                  <a:ea typeface="宋体" panose="02010600030101010101" pitchFamily="2" charset="-122"/>
                  <a:cs typeface="Arial" panose="020B0604020202020204" pitchFamily="34" charset="0"/>
                </a:endParaRPr>
              </a:p>
            </p:txBody>
          </p:sp>
        </mc:Choice>
        <mc:Fallback xmlns="">
          <p:sp>
            <p:nvSpPr>
              <p:cNvPr id="5" name="Text Box 5">
                <a:extLst>
                  <a:ext uri="{FF2B5EF4-FFF2-40B4-BE49-F238E27FC236}">
                    <a16:creationId xmlns:a16="http://schemas.microsoft.com/office/drawing/2014/main" id="{E9291CFA-DB0F-4EDE-AC8A-EE0C08546F9E}"/>
                  </a:ext>
                </a:extLst>
              </p:cNvPr>
              <p:cNvSpPr txBox="1">
                <a:spLocks noRot="1" noChangeAspect="1" noMove="1" noResize="1" noEditPoints="1" noAdjustHandles="1" noChangeArrowheads="1" noChangeShapeType="1" noTextEdit="1"/>
              </p:cNvSpPr>
              <p:nvPr/>
            </p:nvSpPr>
            <p:spPr bwMode="auto">
              <a:xfrm>
                <a:off x="323528" y="3845525"/>
                <a:ext cx="8352927" cy="323165"/>
              </a:xfrm>
              <a:prstGeom prst="rect">
                <a:avLst/>
              </a:prstGeom>
              <a:blipFill>
                <a:blip r:embed="rId4"/>
                <a:stretch>
                  <a:fillRect t="-5660" b="-226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3729615482"/>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B63262-64D0-46BB-B1E2-EA4DD8C92B4B}"/>
              </a:ext>
            </a:extLst>
          </p:cNvPr>
          <p:cNvSpPr>
            <a:spLocks noGrp="1"/>
          </p:cNvSpPr>
          <p:nvPr>
            <p:ph type="title"/>
          </p:nvPr>
        </p:nvSpPr>
        <p:spPr/>
        <p:txBody>
          <a:bodyPr/>
          <a:lstStyle/>
          <a:p>
            <a:pPr algn="ctr"/>
            <a:r>
              <a:rPr lang="en-US" altLang="zh-CN" dirty="0"/>
              <a:t>Hash-Join* (Cont.)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699BE86A-CEB6-4347-A4BA-8E832BA6E688}"/>
                  </a:ext>
                </a:extLst>
              </p:cNvPr>
              <p:cNvSpPr>
                <a:spLocks noGrp="1"/>
              </p:cNvSpPr>
              <p:nvPr>
                <p:ph idx="1"/>
              </p:nvPr>
            </p:nvSpPr>
            <p:spPr/>
            <p:txBody>
              <a:bodyPr/>
              <a:lstStyle/>
              <a:p>
                <a:r>
                  <a:rPr lang="en-US" altLang="zh-CN" sz="1800" dirty="0"/>
                  <a:t>The value </a:t>
                </a:r>
                <a14:m>
                  <m:oMath xmlns:m="http://schemas.openxmlformats.org/officeDocument/2006/math">
                    <m:r>
                      <a:rPr lang="en-US" altLang="zh-CN" sz="1800" b="0" i="1" smtClean="0">
                        <a:latin typeface="Cambria Math" panose="02040503050406030204" pitchFamily="18" charset="0"/>
                      </a:rPr>
                      <m:t>𝑛</m:t>
                    </m:r>
                  </m:oMath>
                </a14:m>
                <a:r>
                  <a:rPr lang="en-US" altLang="zh-CN" sz="1800" dirty="0"/>
                  <a:t> and the hash function </a:t>
                </a:r>
                <a14:m>
                  <m:oMath xmlns:m="http://schemas.openxmlformats.org/officeDocument/2006/math">
                    <m:r>
                      <a:rPr lang="en-US" altLang="zh-CN" sz="1800" b="0" i="1" smtClean="0">
                        <a:latin typeface="Cambria Math" panose="02040503050406030204" pitchFamily="18" charset="0"/>
                      </a:rPr>
                      <m:t>h</m:t>
                    </m:r>
                  </m:oMath>
                </a14:m>
                <a:r>
                  <a:rPr lang="en-US" altLang="zh-CN" sz="1800" dirty="0"/>
                  <a:t> is chosen such that each </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𝑠</m:t>
                        </m:r>
                      </m:e>
                      <m:sub>
                        <m:r>
                          <a:rPr lang="en-US" altLang="zh-CN" sz="1800" b="0" i="1" smtClean="0">
                            <a:latin typeface="Cambria Math" panose="02040503050406030204" pitchFamily="18" charset="0"/>
                          </a:rPr>
                          <m:t>𝑖</m:t>
                        </m:r>
                      </m:sub>
                    </m:sSub>
                  </m:oMath>
                </a14:m>
                <a:r>
                  <a:rPr lang="en-US" altLang="zh-CN" sz="1800" dirty="0"/>
                  <a:t> should fit in memory.</a:t>
                </a:r>
              </a:p>
              <a:p>
                <a:pPr lvl="1"/>
                <a:r>
                  <a:rPr lang="en-US" altLang="zh-CN" sz="1400" dirty="0"/>
                  <a:t>Typically </a:t>
                </a:r>
                <a14:m>
                  <m:oMath xmlns:m="http://schemas.openxmlformats.org/officeDocument/2006/math">
                    <m:r>
                      <a:rPr lang="en-US" altLang="zh-CN" sz="1400" b="0" i="1" smtClean="0">
                        <a:latin typeface="Cambria Math" panose="02040503050406030204" pitchFamily="18" charset="0"/>
                      </a:rPr>
                      <m:t>𝑛</m:t>
                    </m:r>
                  </m:oMath>
                </a14:m>
                <a:r>
                  <a:rPr lang="en-US" altLang="zh-CN" sz="1400" dirty="0"/>
                  <a:t> is chosen as </a:t>
                </a:r>
                <a14:m>
                  <m:oMath xmlns:m="http://schemas.openxmlformats.org/officeDocument/2006/math">
                    <m:d>
                      <m:dPr>
                        <m:begChr m:val="⌈"/>
                        <m:endChr m:val="⌉"/>
                        <m:ctrlPr>
                          <a:rPr lang="en-US" altLang="zh-CN" sz="1400" i="1" smtClean="0">
                            <a:latin typeface="Cambria Math" panose="02040503050406030204" pitchFamily="18" charset="0"/>
                          </a:rPr>
                        </m:ctrlPr>
                      </m:dPr>
                      <m:e>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𝑏</m:t>
                            </m:r>
                          </m:e>
                          <m:sub>
                            <m:r>
                              <a:rPr lang="en-US" altLang="zh-CN" sz="1400" b="0" i="1" smtClean="0">
                                <a:latin typeface="Cambria Math" panose="02040503050406030204" pitchFamily="18" charset="0"/>
                              </a:rPr>
                              <m:t>𝑠</m:t>
                            </m:r>
                          </m:sub>
                        </m:sSub>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𝑀</m:t>
                        </m:r>
                      </m:e>
                    </m:d>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𝑓</m:t>
                    </m:r>
                  </m:oMath>
                </a14:m>
                <a:r>
                  <a:rPr lang="en-US" altLang="zh-CN" sz="1400" dirty="0"/>
                  <a:t> where </a:t>
                </a:r>
                <a14:m>
                  <m:oMath xmlns:m="http://schemas.openxmlformats.org/officeDocument/2006/math">
                    <m:r>
                      <a:rPr lang="en-US" altLang="zh-CN" sz="1400" b="0" i="1" smtClean="0">
                        <a:latin typeface="Cambria Math" panose="02040503050406030204" pitchFamily="18" charset="0"/>
                      </a:rPr>
                      <m:t>𝑓</m:t>
                    </m:r>
                  </m:oMath>
                </a14:m>
                <a:r>
                  <a:rPr lang="en-US" altLang="zh-CN" sz="1400" dirty="0"/>
                  <a:t> is a “fudge factor”(</a:t>
                </a:r>
                <a:r>
                  <a:rPr lang="zh-CN" altLang="en-US" sz="1400" dirty="0"/>
                  <a:t>避让因子</a:t>
                </a:r>
                <a:r>
                  <a:rPr lang="en-US" altLang="zh-CN" sz="1400" dirty="0"/>
                  <a:t>), typically around 1.2</a:t>
                </a:r>
              </a:p>
              <a:p>
                <a:pPr lvl="1"/>
                <a:r>
                  <a:rPr lang="en-US" altLang="zh-CN" sz="1400" dirty="0"/>
                  <a:t>The probe relation partitions </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𝑟</m:t>
                        </m:r>
                      </m:e>
                      <m:sub>
                        <m:r>
                          <a:rPr lang="en-US" altLang="zh-CN" sz="1400" b="0" i="1" smtClean="0">
                            <a:latin typeface="Cambria Math" panose="02040503050406030204" pitchFamily="18" charset="0"/>
                          </a:rPr>
                          <m:t>𝑖</m:t>
                        </m:r>
                      </m:sub>
                    </m:sSub>
                  </m:oMath>
                </a14:m>
                <a:r>
                  <a:rPr lang="en-US" altLang="zh-CN" sz="1400" dirty="0"/>
                  <a:t> need not fit in memory</a:t>
                </a:r>
              </a:p>
              <a:p>
                <a:r>
                  <a:rPr lang="en-US" altLang="zh-CN" sz="1800" dirty="0"/>
                  <a:t>Recursive partitioning required if the number of partitions </a:t>
                </a:r>
                <a14:m>
                  <m:oMath xmlns:m="http://schemas.openxmlformats.org/officeDocument/2006/math">
                    <m:r>
                      <a:rPr lang="en-US" altLang="zh-CN" sz="1800" b="0" i="1" smtClean="0">
                        <a:latin typeface="Cambria Math" panose="02040503050406030204" pitchFamily="18" charset="0"/>
                      </a:rPr>
                      <m:t>𝑛</m:t>
                    </m:r>
                  </m:oMath>
                </a14:m>
                <a:r>
                  <a:rPr lang="en-US" altLang="zh-CN" sz="1800" dirty="0"/>
                  <a:t> is greater than number of pages </a:t>
                </a:r>
                <a14:m>
                  <m:oMath xmlns:m="http://schemas.openxmlformats.org/officeDocument/2006/math">
                    <m:r>
                      <a:rPr lang="en-US" altLang="zh-CN" sz="1800" b="0" i="1" smtClean="0">
                        <a:latin typeface="Cambria Math" panose="02040503050406030204" pitchFamily="18" charset="0"/>
                      </a:rPr>
                      <m:t>𝑀</m:t>
                    </m:r>
                  </m:oMath>
                </a14:m>
                <a:r>
                  <a:rPr lang="en-US" altLang="zh-CN" sz="1800" dirty="0"/>
                  <a:t> of memory.</a:t>
                </a:r>
              </a:p>
              <a:p>
                <a:pPr lvl="1"/>
                <a:r>
                  <a:rPr lang="en-US" altLang="zh-CN" sz="1400" dirty="0"/>
                  <a:t>instead of partitioning </a:t>
                </a:r>
                <a14:m>
                  <m:oMath xmlns:m="http://schemas.openxmlformats.org/officeDocument/2006/math">
                    <m:r>
                      <a:rPr lang="en-US" altLang="zh-CN" sz="1400" b="0" i="1" smtClean="0">
                        <a:latin typeface="Cambria Math" panose="02040503050406030204" pitchFamily="18" charset="0"/>
                      </a:rPr>
                      <m:t>𝑛</m:t>
                    </m:r>
                  </m:oMath>
                </a14:m>
                <a:r>
                  <a:rPr lang="en-US" altLang="zh-CN" sz="1400" dirty="0"/>
                  <a:t> ways, use  </a:t>
                </a:r>
                <a14:m>
                  <m:oMath xmlns:m="http://schemas.openxmlformats.org/officeDocument/2006/math">
                    <m:r>
                      <a:rPr lang="en-US" altLang="zh-CN" sz="1400" b="0" i="1" smtClean="0">
                        <a:latin typeface="Cambria Math" panose="02040503050406030204" pitchFamily="18" charset="0"/>
                      </a:rPr>
                      <m:t>𝑀</m:t>
                    </m:r>
                  </m:oMath>
                </a14:m>
                <a:r>
                  <a:rPr lang="en-US" altLang="zh-CN" sz="1400" dirty="0"/>
                  <a:t> – 1 partitions for s</a:t>
                </a:r>
              </a:p>
              <a:p>
                <a:pPr lvl="1"/>
                <a:r>
                  <a:rPr lang="en-US" altLang="zh-CN" sz="1400" dirty="0"/>
                  <a:t>Further partition the </a:t>
                </a:r>
                <a14:m>
                  <m:oMath xmlns:m="http://schemas.openxmlformats.org/officeDocument/2006/math">
                    <m:r>
                      <a:rPr lang="en-US" altLang="zh-CN" sz="1400" b="0" i="1" smtClean="0">
                        <a:latin typeface="Cambria Math" panose="02040503050406030204" pitchFamily="18" charset="0"/>
                      </a:rPr>
                      <m:t>𝑀</m:t>
                    </m:r>
                  </m:oMath>
                </a14:m>
                <a:r>
                  <a:rPr lang="en-US" altLang="zh-CN" sz="1400" dirty="0"/>
                  <a:t> – 1 partitions using a different hash function</a:t>
                </a:r>
              </a:p>
              <a:p>
                <a:pPr lvl="1"/>
                <a:r>
                  <a:rPr lang="en-US" altLang="zh-CN" sz="1400" dirty="0"/>
                  <a:t>Use same partitioning method on </a:t>
                </a:r>
                <a14:m>
                  <m:oMath xmlns:m="http://schemas.openxmlformats.org/officeDocument/2006/math">
                    <m:r>
                      <a:rPr lang="en-US" altLang="zh-CN" sz="1400" b="0" i="1" smtClean="0">
                        <a:latin typeface="Cambria Math" panose="02040503050406030204" pitchFamily="18" charset="0"/>
                      </a:rPr>
                      <m:t>𝑟</m:t>
                    </m:r>
                  </m:oMath>
                </a14:m>
                <a:endParaRPr lang="zh-CN" altLang="en-US" sz="1400" dirty="0"/>
              </a:p>
            </p:txBody>
          </p:sp>
        </mc:Choice>
        <mc:Fallback xmlns="">
          <p:sp>
            <p:nvSpPr>
              <p:cNvPr id="3" name="内容占位符 2">
                <a:extLst>
                  <a:ext uri="{FF2B5EF4-FFF2-40B4-BE49-F238E27FC236}">
                    <a16:creationId xmlns:a16="http://schemas.microsoft.com/office/drawing/2014/main" id="{699BE86A-CEB6-4347-A4BA-8E832BA6E688}"/>
                  </a:ext>
                </a:extLst>
              </p:cNvPr>
              <p:cNvSpPr>
                <a:spLocks noGrp="1" noRot="1" noChangeAspect="1" noMove="1" noResize="1" noEditPoints="1" noAdjustHandles="1" noChangeArrowheads="1" noChangeShapeType="1" noTextEdit="1"/>
              </p:cNvSpPr>
              <p:nvPr>
                <p:ph idx="1"/>
              </p:nvPr>
            </p:nvSpPr>
            <p:spPr>
              <a:blipFill>
                <a:blip r:embed="rId2"/>
                <a:stretch>
                  <a:fillRect l="-427"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52393012"/>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8C507A-6FF6-4A52-820B-2CD801228757}"/>
              </a:ext>
            </a:extLst>
          </p:cNvPr>
          <p:cNvSpPr>
            <a:spLocks noGrp="1"/>
          </p:cNvSpPr>
          <p:nvPr>
            <p:ph type="title"/>
          </p:nvPr>
        </p:nvSpPr>
        <p:spPr/>
        <p:txBody>
          <a:bodyPr/>
          <a:lstStyle/>
          <a:p>
            <a:pPr algn="ctr"/>
            <a:r>
              <a:rPr lang="en-US" altLang="zh-CN" dirty="0"/>
              <a:t>Handling of Overflows</a:t>
            </a:r>
            <a:endParaRPr lang="zh-CN" altLang="en-US" dirty="0"/>
          </a:p>
        </p:txBody>
      </p:sp>
      <p:sp>
        <p:nvSpPr>
          <p:cNvPr id="3" name="内容占位符 2">
            <a:extLst>
              <a:ext uri="{FF2B5EF4-FFF2-40B4-BE49-F238E27FC236}">
                <a16:creationId xmlns:a16="http://schemas.microsoft.com/office/drawing/2014/main" id="{F1D08CB1-94EC-4D8E-89A0-B07367E61428}"/>
              </a:ext>
            </a:extLst>
          </p:cNvPr>
          <p:cNvSpPr>
            <a:spLocks noGrp="1"/>
          </p:cNvSpPr>
          <p:nvPr>
            <p:ph idx="1"/>
          </p:nvPr>
        </p:nvSpPr>
        <p:spPr/>
        <p:txBody>
          <a:bodyPr/>
          <a:lstStyle/>
          <a:p>
            <a:r>
              <a:rPr lang="en-US" altLang="zh-CN" sz="1600" dirty="0"/>
              <a:t>Hash-table overflow occurs in partition </a:t>
            </a:r>
            <a:r>
              <a:rPr lang="en-US" altLang="zh-CN" sz="1600" dirty="0" err="1"/>
              <a:t>si</a:t>
            </a:r>
            <a:r>
              <a:rPr lang="en-US" altLang="zh-CN" sz="1600" dirty="0"/>
              <a:t> if </a:t>
            </a:r>
            <a:r>
              <a:rPr lang="en-US" altLang="zh-CN" sz="1600" dirty="0" err="1"/>
              <a:t>si</a:t>
            </a:r>
            <a:r>
              <a:rPr lang="en-US" altLang="zh-CN" sz="1600" dirty="0"/>
              <a:t> does not fit in memory.  Reasons could be</a:t>
            </a:r>
          </a:p>
          <a:p>
            <a:pPr lvl="1"/>
            <a:r>
              <a:rPr lang="en-US" altLang="zh-CN" sz="1400" dirty="0"/>
              <a:t>Many tuples in s with same value for join attributes</a:t>
            </a:r>
          </a:p>
          <a:p>
            <a:pPr lvl="1"/>
            <a:r>
              <a:rPr lang="en-US" altLang="zh-CN" sz="1400" dirty="0"/>
              <a:t>Bad hash function</a:t>
            </a:r>
          </a:p>
          <a:p>
            <a:r>
              <a:rPr lang="en-US" altLang="zh-CN" sz="1600" dirty="0"/>
              <a:t>Overflow resolution(</a:t>
            </a:r>
            <a:r>
              <a:rPr lang="zh-CN" altLang="en-US" sz="1600" dirty="0"/>
              <a:t>溢出分解</a:t>
            </a:r>
            <a:r>
              <a:rPr lang="en-US" altLang="zh-CN" sz="1600" dirty="0"/>
              <a:t>) can be done in build phase</a:t>
            </a:r>
            <a:r>
              <a:rPr lang="zh-CN" altLang="en-US" sz="1600" dirty="0"/>
              <a:t>（构造阶段）</a:t>
            </a:r>
          </a:p>
          <a:p>
            <a:pPr lvl="1"/>
            <a:r>
              <a:rPr lang="en-US" altLang="zh-CN" sz="1400" dirty="0"/>
              <a:t>Partition </a:t>
            </a:r>
            <a:r>
              <a:rPr lang="en-US" altLang="zh-CN" sz="1400" dirty="0" err="1"/>
              <a:t>si</a:t>
            </a:r>
            <a:r>
              <a:rPr lang="en-US" altLang="zh-CN" sz="1400" dirty="0"/>
              <a:t> is further partitioned using different hash function. </a:t>
            </a:r>
          </a:p>
          <a:p>
            <a:pPr lvl="1"/>
            <a:r>
              <a:rPr lang="en-US" altLang="zh-CN" sz="1400" dirty="0"/>
              <a:t>Partition </a:t>
            </a:r>
            <a:r>
              <a:rPr lang="en-US" altLang="zh-CN" sz="1400" dirty="0" err="1"/>
              <a:t>ri</a:t>
            </a:r>
            <a:r>
              <a:rPr lang="en-US" altLang="zh-CN" sz="1400" dirty="0"/>
              <a:t> must be similarly partitioned.</a:t>
            </a:r>
          </a:p>
          <a:p>
            <a:r>
              <a:rPr lang="en-US" altLang="zh-CN" sz="1600" dirty="0"/>
              <a:t>Overflow avoidance(</a:t>
            </a:r>
            <a:r>
              <a:rPr lang="zh-CN" altLang="en-US" sz="1600" dirty="0"/>
              <a:t>溢出避免</a:t>
            </a:r>
            <a:r>
              <a:rPr lang="en-US" altLang="zh-CN" sz="1600" dirty="0"/>
              <a:t>) performs partitioning carefully to avoid overflows during build phase</a:t>
            </a:r>
          </a:p>
          <a:p>
            <a:pPr lvl="1"/>
            <a:r>
              <a:rPr lang="en-US" altLang="zh-CN" sz="1400" dirty="0"/>
              <a:t>E.g. partition build relation into many partitions, then combine them</a:t>
            </a:r>
          </a:p>
          <a:p>
            <a:r>
              <a:rPr lang="en-US" altLang="zh-CN" sz="1600" dirty="0"/>
              <a:t>Both approaches fail with large numbers of duplicates(</a:t>
            </a:r>
            <a:r>
              <a:rPr lang="zh-CN" altLang="en-US" sz="1600" dirty="0"/>
              <a:t>大量元组链接属性相同</a:t>
            </a:r>
            <a:r>
              <a:rPr lang="en-US" altLang="zh-CN" sz="1600" dirty="0"/>
              <a:t>)</a:t>
            </a:r>
          </a:p>
          <a:p>
            <a:pPr lvl="1"/>
            <a:r>
              <a:rPr lang="en-US" altLang="zh-CN" sz="1400" dirty="0"/>
              <a:t>Fallback option: use block nested loops join on overflowed partitions</a:t>
            </a:r>
          </a:p>
          <a:p>
            <a:endParaRPr lang="zh-CN" altLang="en-US" sz="1600" dirty="0"/>
          </a:p>
        </p:txBody>
      </p:sp>
    </p:spTree>
    <p:extLst>
      <p:ext uri="{BB962C8B-B14F-4D97-AF65-F5344CB8AC3E}">
        <p14:creationId xmlns:p14="http://schemas.microsoft.com/office/powerpoint/2010/main" val="424787809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14D7AC-8D8A-40A6-A49F-FF1A41F9453A}"/>
              </a:ext>
            </a:extLst>
          </p:cNvPr>
          <p:cNvSpPr>
            <a:spLocks noGrp="1"/>
          </p:cNvSpPr>
          <p:nvPr>
            <p:ph type="title"/>
          </p:nvPr>
        </p:nvSpPr>
        <p:spPr/>
        <p:txBody>
          <a:bodyPr/>
          <a:lstStyle/>
          <a:p>
            <a:pPr algn="ctr"/>
            <a:r>
              <a:rPr lang="en-US" altLang="zh-CN" dirty="0"/>
              <a:t>Cost of Hash-Join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DF04D83-62CB-4A11-BE0C-A63435DC229F}"/>
                  </a:ext>
                </a:extLst>
              </p:cNvPr>
              <p:cNvSpPr>
                <a:spLocks noGrp="1"/>
              </p:cNvSpPr>
              <p:nvPr>
                <p:ph idx="1"/>
              </p:nvPr>
            </p:nvSpPr>
            <p:spPr/>
            <p:txBody>
              <a:bodyPr/>
              <a:lstStyle/>
              <a:p>
                <a:r>
                  <a:rPr lang="en-US" altLang="zh-CN" sz="1800" dirty="0"/>
                  <a:t>If recursive partitioning is not required: cost of hash join is</a:t>
                </a:r>
                <a:br>
                  <a:rPr lang="en-US" altLang="zh-CN" sz="1800" dirty="0"/>
                </a:br>
                <a:r>
                  <a:rPr lang="en-US" altLang="zh-CN" sz="1800" dirty="0"/>
                  <a:t> 2(</a:t>
                </a:r>
                <a14:m>
                  <m:oMath xmlns:m="http://schemas.openxmlformats.org/officeDocument/2006/math">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b="0" i="1" smtClean="0">
                            <a:latin typeface="Cambria Math" panose="02040503050406030204" pitchFamily="18" charset="0"/>
                          </a:rPr>
                          <m:t>𝑟</m:t>
                        </m:r>
                      </m:sub>
                    </m:sSub>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b="0" i="1" smtClean="0">
                            <a:latin typeface="Cambria Math" panose="02040503050406030204" pitchFamily="18" charset="0"/>
                          </a:rPr>
                          <m:t>𝑠</m:t>
                        </m:r>
                      </m:sub>
                    </m:sSub>
                  </m:oMath>
                </a14:m>
                <a:r>
                  <a:rPr lang="en-US" altLang="zh-CN" sz="1800" dirty="0"/>
                  <a:t>)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𝑟</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𝑠</m:t>
                        </m:r>
                      </m:sub>
                    </m:sSub>
                  </m:oMath>
                </a14:m>
                <a:r>
                  <a:rPr lang="en-US" altLang="zh-CN" sz="1800" dirty="0"/>
                  <a:t>) + 4</a:t>
                </a:r>
                <a14:m>
                  <m:oMath xmlns:m="http://schemas.openxmlformats.org/officeDocument/2006/math">
                    <m:r>
                      <a:rPr lang="en-US" altLang="zh-CN" sz="1800" b="0" i="1" dirty="0" smtClean="0">
                        <a:latin typeface="Cambria Math" panose="02040503050406030204" pitchFamily="18" charset="0"/>
                      </a:rPr>
                      <m:t>𝑛</m:t>
                    </m:r>
                  </m:oMath>
                </a14:m>
                <a:endParaRPr lang="en-US" altLang="zh-CN" sz="1800" dirty="0"/>
              </a:p>
              <a:p>
                <a:r>
                  <a:rPr lang="en-US" altLang="zh-CN" sz="1800" dirty="0"/>
                  <a:t>If recursive partitioning required, number of passes required for partitioning </a:t>
                </a:r>
                <a14:m>
                  <m:oMath xmlns:m="http://schemas.openxmlformats.org/officeDocument/2006/math">
                    <m:r>
                      <a:rPr lang="en-US" altLang="zh-CN" sz="1800" b="0" i="1" smtClean="0">
                        <a:latin typeface="Cambria Math" panose="02040503050406030204" pitchFamily="18" charset="0"/>
                      </a:rPr>
                      <m:t>𝑠</m:t>
                    </m:r>
                  </m:oMath>
                </a14:m>
                <a:r>
                  <a:rPr lang="en-US" altLang="zh-CN" sz="1800" dirty="0"/>
                  <a:t> is </a:t>
                </a:r>
                <a14:m>
                  <m:oMath xmlns:m="http://schemas.openxmlformats.org/officeDocument/2006/math">
                    <m:d>
                      <m:dPr>
                        <m:begChr m:val="⌈"/>
                        <m:endChr m:val="⌉"/>
                        <m:ctrlPr>
                          <a:rPr lang="en-US" altLang="zh-CN" sz="1800" i="1" smtClean="0">
                            <a:latin typeface="Cambria Math" panose="02040503050406030204" pitchFamily="18" charset="0"/>
                          </a:rPr>
                        </m:ctrlPr>
                      </m:dPr>
                      <m:e>
                        <m:sSub>
                          <m:sSubPr>
                            <m:ctrlPr>
                              <a:rPr lang="en-US" altLang="zh-CN" sz="1800" i="1" smtClean="0">
                                <a:latin typeface="Cambria Math" panose="02040503050406030204" pitchFamily="18" charset="0"/>
                              </a:rPr>
                            </m:ctrlPr>
                          </m:sSubPr>
                          <m:e>
                            <m:r>
                              <a:rPr lang="en-US" altLang="zh-CN" sz="1800" b="0" i="1" smtClean="0">
                                <a:latin typeface="Cambria Math" panose="02040503050406030204" pitchFamily="18" charset="0"/>
                              </a:rPr>
                              <m:t>𝑙𝑜𝑔</m:t>
                            </m:r>
                          </m:e>
                          <m:sub>
                            <m:r>
                              <a:rPr lang="en-US" altLang="zh-CN" sz="1800" b="0" i="1" smtClean="0">
                                <a:latin typeface="Cambria Math" panose="02040503050406030204" pitchFamily="18" charset="0"/>
                              </a:rPr>
                              <m:t>𝑀</m:t>
                            </m:r>
                            <m:r>
                              <a:rPr lang="en-US" altLang="zh-CN" sz="1800" b="0" i="1" smtClean="0">
                                <a:latin typeface="Cambria Math" panose="02040503050406030204" pitchFamily="18" charset="0"/>
                              </a:rPr>
                              <m:t>−1</m:t>
                            </m:r>
                          </m:sub>
                        </m:sSub>
                        <m:d>
                          <m:dPr>
                            <m:ctrlPr>
                              <a:rPr lang="en-US" altLang="zh-CN" sz="1800" b="0" i="1" smtClean="0">
                                <a:latin typeface="Cambria Math" panose="02040503050406030204" pitchFamily="18" charset="0"/>
                              </a:rPr>
                            </m:ctrlPr>
                          </m:dPr>
                          <m:e>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b="0" i="1" smtClean="0">
                                    <a:latin typeface="Cambria Math" panose="02040503050406030204" pitchFamily="18" charset="0"/>
                                  </a:rPr>
                                  <m:t>𝑠</m:t>
                                </m:r>
                              </m:sub>
                            </m:sSub>
                          </m:e>
                        </m:d>
                        <m:r>
                          <a:rPr lang="en-US" altLang="zh-CN" sz="1800" b="0" i="1" smtClean="0">
                            <a:latin typeface="Cambria Math" panose="02040503050406030204" pitchFamily="18" charset="0"/>
                          </a:rPr>
                          <m:t>−1</m:t>
                        </m:r>
                      </m:e>
                    </m:d>
                  </m:oMath>
                </a14:m>
                <a:r>
                  <a:rPr lang="en-US" altLang="zh-CN" sz="1800" dirty="0"/>
                  <a:t>  </a:t>
                </a:r>
              </a:p>
              <a:p>
                <a:r>
                  <a:rPr lang="en-US" altLang="zh-CN" sz="1800" dirty="0"/>
                  <a:t>the number of passes for partitioning of </a:t>
                </a:r>
                <a14:m>
                  <m:oMath xmlns:m="http://schemas.openxmlformats.org/officeDocument/2006/math">
                    <m:r>
                      <a:rPr lang="en-US" altLang="zh-CN" sz="1800" b="0" i="1" smtClean="0">
                        <a:latin typeface="Cambria Math" panose="02040503050406030204" pitchFamily="18" charset="0"/>
                      </a:rPr>
                      <m:t>𝑟</m:t>
                    </m:r>
                  </m:oMath>
                </a14:m>
                <a:r>
                  <a:rPr lang="en-US" altLang="zh-CN" sz="1800" dirty="0"/>
                  <a:t> is also the same as for </a:t>
                </a:r>
                <a14:m>
                  <m:oMath xmlns:m="http://schemas.openxmlformats.org/officeDocument/2006/math">
                    <m:r>
                      <a:rPr lang="en-US" altLang="zh-CN" sz="1800" b="0" i="1" smtClean="0">
                        <a:latin typeface="Cambria Math" panose="02040503050406030204" pitchFamily="18" charset="0"/>
                      </a:rPr>
                      <m:t>𝑠</m:t>
                    </m:r>
                  </m:oMath>
                </a14:m>
                <a:r>
                  <a:rPr lang="en-US" altLang="zh-CN" sz="1800" dirty="0"/>
                  <a:t>  </a:t>
                </a:r>
              </a:p>
              <a:p>
                <a:r>
                  <a:rPr lang="en-US" altLang="zh-CN" sz="1800" dirty="0"/>
                  <a:t>Therefore it is best to choose the smaller relation as the build relation.</a:t>
                </a:r>
              </a:p>
              <a:p>
                <a:r>
                  <a:rPr lang="en-US" altLang="zh-CN" sz="1800" dirty="0"/>
                  <a:t>Total cost estimate is: </a:t>
                </a:r>
              </a:p>
              <a:p>
                <a:pPr marL="0" indent="0">
                  <a:buNone/>
                </a:pPr>
                <a14:m>
                  <m:oMathPara xmlns:m="http://schemas.openxmlformats.org/officeDocument/2006/math">
                    <m:oMathParaPr>
                      <m:jc m:val="centerGroup"/>
                    </m:oMathParaPr>
                    <m:oMath xmlns:m="http://schemas.openxmlformats.org/officeDocument/2006/math">
                      <m:r>
                        <a:rPr lang="en-US" altLang="zh-CN" sz="1800" b="0" i="1" smtClean="0">
                          <a:latin typeface="Cambria Math" panose="02040503050406030204" pitchFamily="18" charset="0"/>
                        </a:rPr>
                        <m:t>2</m:t>
                      </m:r>
                      <m:d>
                        <m:dPr>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𝑟</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𝑠</m:t>
                              </m:r>
                            </m:sub>
                          </m:sSub>
                        </m:e>
                      </m:d>
                      <m:d>
                        <m:dPr>
                          <m:begChr m:val="⌈"/>
                          <m:endChr m:val="⌉"/>
                          <m:ctrlPr>
                            <a:rPr lang="en-US" altLang="zh-CN" sz="1800" b="0" i="1" smtClean="0">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𝑙𝑜𝑔</m:t>
                              </m:r>
                            </m:e>
                            <m:sub>
                              <m:r>
                                <a:rPr lang="en-US" altLang="zh-CN" sz="1800" i="1">
                                  <a:latin typeface="Cambria Math" panose="02040503050406030204" pitchFamily="18" charset="0"/>
                                </a:rPr>
                                <m:t>𝑀</m:t>
                              </m:r>
                              <m:r>
                                <a:rPr lang="en-US" altLang="zh-CN" sz="1800" i="1">
                                  <a:latin typeface="Cambria Math" panose="02040503050406030204" pitchFamily="18" charset="0"/>
                                </a:rPr>
                                <m:t>−1</m:t>
                              </m:r>
                            </m:sub>
                          </m:sSub>
                          <m:d>
                            <m:dPr>
                              <m:ctrlPr>
                                <a:rPr lang="en-US" altLang="zh-CN" sz="1800" i="1">
                                  <a:latin typeface="Cambria Math" panose="02040503050406030204" pitchFamily="18" charset="0"/>
                                </a:rPr>
                              </m:ctrlPr>
                            </m:dPr>
                            <m:e>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𝑠</m:t>
                                  </m:r>
                                </m:sub>
                              </m:sSub>
                            </m:e>
                          </m:d>
                          <m:r>
                            <a:rPr lang="en-US" altLang="zh-CN" sz="1800" i="1">
                              <a:latin typeface="Cambria Math" panose="02040503050406030204" pitchFamily="18" charset="0"/>
                            </a:rPr>
                            <m:t>−1</m:t>
                          </m:r>
                        </m:e>
                      </m:d>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b="0" i="1" smtClean="0">
                              <a:latin typeface="Cambria Math" panose="02040503050406030204" pitchFamily="18" charset="0"/>
                            </a:rPr>
                            <m:t>𝑟</m:t>
                          </m:r>
                        </m:sub>
                      </m:sSub>
                      <m:r>
                        <a:rPr lang="en-US" altLang="zh-CN" sz="1800" b="0" i="1" smtClean="0">
                          <a:latin typeface="Cambria Math" panose="02040503050406030204" pitchFamily="18" charset="0"/>
                        </a:rPr>
                        <m:t>+</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rPr>
                            <m:t>𝑏</m:t>
                          </m:r>
                        </m:e>
                        <m:sub>
                          <m:r>
                            <a:rPr lang="en-US" altLang="zh-CN" sz="1800" b="0" i="1" smtClean="0">
                              <a:latin typeface="Cambria Math" panose="02040503050406030204" pitchFamily="18" charset="0"/>
                            </a:rPr>
                            <m:t>𝑠</m:t>
                          </m:r>
                        </m:sub>
                      </m:sSub>
                    </m:oMath>
                  </m:oMathPara>
                </a14:m>
                <a:endParaRPr lang="en-US" altLang="zh-CN" sz="1800" dirty="0"/>
              </a:p>
              <a:p>
                <a:r>
                  <a:rPr lang="en-US" altLang="zh-CN" sz="1800" dirty="0"/>
                  <a:t>If the entire build input can be kept in main memory, </a:t>
                </a:r>
                <a14:m>
                  <m:oMath xmlns:m="http://schemas.openxmlformats.org/officeDocument/2006/math">
                    <m:r>
                      <a:rPr lang="en-US" altLang="zh-CN" sz="1800" b="0" i="1" smtClean="0">
                        <a:latin typeface="Cambria Math" panose="02040503050406030204" pitchFamily="18" charset="0"/>
                      </a:rPr>
                      <m:t>𝑛</m:t>
                    </m:r>
                  </m:oMath>
                </a14:m>
                <a:r>
                  <a:rPr lang="en-US" altLang="zh-CN" sz="1800" dirty="0"/>
                  <a:t> can be set to 0 and the algorithm does not partition the relations into temporary files.  Cost estimate goes down to </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𝑟</m:t>
                        </m:r>
                      </m:sub>
                    </m:sSub>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𝑏</m:t>
                        </m:r>
                      </m:e>
                      <m:sub>
                        <m:r>
                          <a:rPr lang="en-US" altLang="zh-CN" sz="1800" i="1">
                            <a:latin typeface="Cambria Math" panose="02040503050406030204" pitchFamily="18" charset="0"/>
                          </a:rPr>
                          <m:t>𝑠</m:t>
                        </m:r>
                      </m:sub>
                    </m:sSub>
                  </m:oMath>
                </a14:m>
                <a:endParaRPr lang="en-US" altLang="zh-CN" sz="1800" dirty="0"/>
              </a:p>
              <a:p>
                <a:endParaRPr lang="zh-CN" altLang="en-US" sz="1800" dirty="0"/>
              </a:p>
            </p:txBody>
          </p:sp>
        </mc:Choice>
        <mc:Fallback xmlns="">
          <p:sp>
            <p:nvSpPr>
              <p:cNvPr id="3" name="内容占位符 2">
                <a:extLst>
                  <a:ext uri="{FF2B5EF4-FFF2-40B4-BE49-F238E27FC236}">
                    <a16:creationId xmlns:a16="http://schemas.microsoft.com/office/drawing/2014/main" id="{FDF04D83-62CB-4A11-BE0C-A63435DC229F}"/>
                  </a:ext>
                </a:extLst>
              </p:cNvPr>
              <p:cNvSpPr>
                <a:spLocks noGrp="1" noRot="1" noChangeAspect="1" noMove="1" noResize="1" noEditPoints="1" noAdjustHandles="1" noChangeArrowheads="1" noChangeShapeType="1" noTextEdit="1"/>
              </p:cNvSpPr>
              <p:nvPr>
                <p:ph idx="1"/>
              </p:nvPr>
            </p:nvSpPr>
            <p:spPr>
              <a:blipFill>
                <a:blip r:embed="rId2"/>
                <a:stretch>
                  <a:fillRect l="-427" t="-962" r="-3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20485646"/>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CD01C7-FCAB-46CF-B9F9-98308D25B978}"/>
              </a:ext>
            </a:extLst>
          </p:cNvPr>
          <p:cNvSpPr>
            <a:spLocks noGrp="1"/>
          </p:cNvSpPr>
          <p:nvPr>
            <p:ph type="title"/>
          </p:nvPr>
        </p:nvSpPr>
        <p:spPr/>
        <p:txBody>
          <a:bodyPr/>
          <a:lstStyle/>
          <a:p>
            <a:pPr algn="ctr"/>
            <a:r>
              <a:rPr lang="en-US" altLang="zh-CN" dirty="0"/>
              <a:t>Example of Cost of Hash-Join</a:t>
            </a:r>
            <a:endParaRPr lang="zh-CN" altLang="en-US" dirty="0"/>
          </a:p>
        </p:txBody>
      </p:sp>
      <p:sp>
        <p:nvSpPr>
          <p:cNvPr id="3" name="内容占位符 2">
            <a:extLst>
              <a:ext uri="{FF2B5EF4-FFF2-40B4-BE49-F238E27FC236}">
                <a16:creationId xmlns:a16="http://schemas.microsoft.com/office/drawing/2014/main" id="{805B0B53-A7D3-4994-8983-D81BEFC57DE4}"/>
              </a:ext>
            </a:extLst>
          </p:cNvPr>
          <p:cNvSpPr>
            <a:spLocks noGrp="1"/>
          </p:cNvSpPr>
          <p:nvPr>
            <p:ph idx="1"/>
          </p:nvPr>
        </p:nvSpPr>
        <p:spPr>
          <a:xfrm>
            <a:off x="287524" y="1347614"/>
            <a:ext cx="8568952" cy="3078341"/>
          </a:xfrm>
        </p:spPr>
        <p:txBody>
          <a:bodyPr/>
          <a:lstStyle/>
          <a:p>
            <a:r>
              <a:rPr lang="en-US" altLang="zh-CN" sz="1600" dirty="0"/>
              <a:t>Assume that memory size is 20 blocks</a:t>
            </a:r>
          </a:p>
          <a:p>
            <a:r>
              <a:rPr lang="en-US" altLang="zh-CN" sz="1600" dirty="0" err="1"/>
              <a:t>b</a:t>
            </a:r>
            <a:r>
              <a:rPr lang="en-US" altLang="zh-CN" sz="1600" baseline="-25000" dirty="0" err="1"/>
              <a:t>depositor</a:t>
            </a:r>
            <a:r>
              <a:rPr lang="en-US" altLang="zh-CN" sz="1600" dirty="0"/>
              <a:t>= 100 and </a:t>
            </a:r>
            <a:r>
              <a:rPr lang="en-US" altLang="zh-CN" sz="1600" dirty="0" err="1"/>
              <a:t>b</a:t>
            </a:r>
            <a:r>
              <a:rPr lang="en-US" altLang="zh-CN" sz="1600" baseline="-25000" dirty="0" err="1"/>
              <a:t>customer</a:t>
            </a:r>
            <a:r>
              <a:rPr lang="en-US" altLang="zh-CN" sz="1600" dirty="0"/>
              <a:t> = 400.</a:t>
            </a:r>
          </a:p>
          <a:p>
            <a:r>
              <a:rPr lang="en-US" altLang="zh-CN" sz="1600" dirty="0"/>
              <a:t>depositor is to be used as build input.  Partition it into five partitions, each of size 20 blocks.  This partitioning can be done in one pass.</a:t>
            </a:r>
          </a:p>
          <a:p>
            <a:r>
              <a:rPr lang="en-US" altLang="zh-CN" sz="1600" dirty="0"/>
              <a:t>Similarly, partition customer into five partitions, each of size 80. This is also done in one pass.</a:t>
            </a:r>
          </a:p>
          <a:p>
            <a:r>
              <a:rPr lang="en-US" altLang="zh-CN" sz="1600" dirty="0"/>
              <a:t>Therefore total cost:  3(100 + 400) = 1500 block transfers </a:t>
            </a:r>
          </a:p>
          <a:p>
            <a:pPr lvl="1"/>
            <a:r>
              <a:rPr lang="en-US" altLang="zh-CN" sz="1400" dirty="0"/>
              <a:t>ignores cost of writing partially filled blocks</a:t>
            </a:r>
          </a:p>
          <a:p>
            <a:endParaRPr lang="zh-CN" altLang="en-US" sz="1600" dirty="0"/>
          </a:p>
        </p:txBody>
      </p:sp>
      <mc:AlternateContent xmlns:mc="http://schemas.openxmlformats.org/markup-compatibility/2006" xmlns:a14="http://schemas.microsoft.com/office/drawing/2010/main">
        <mc:Choice Requires="a14">
          <p:sp>
            <p:nvSpPr>
              <p:cNvPr id="4" name="Text Box 4">
                <a:extLst>
                  <a:ext uri="{FF2B5EF4-FFF2-40B4-BE49-F238E27FC236}">
                    <a16:creationId xmlns:a16="http://schemas.microsoft.com/office/drawing/2014/main" id="{E5E604E6-D888-4DE3-97A9-B3B5E0D069DC}"/>
                  </a:ext>
                </a:extLst>
              </p:cNvPr>
              <p:cNvSpPr txBox="1">
                <a:spLocks noChangeArrowheads="1"/>
              </p:cNvSpPr>
              <p:nvPr/>
            </p:nvSpPr>
            <p:spPr bwMode="auto">
              <a:xfrm>
                <a:off x="2810133" y="857132"/>
                <a:ext cx="2704587"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nchor="ctr">
                <a:spAutoFit/>
              </a:bodyP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algn="ctr" defTabSz="685800" eaLnBrk="0" hangingPunct="0">
                  <a:spcBef>
                    <a:spcPct val="50000"/>
                  </a:spcBef>
                  <a:buClrTx/>
                  <a:buSzTx/>
                  <a:buNone/>
                </a:pPr>
                <a:r>
                  <a:rPr kumimoji="0" lang="en-US" altLang="zh-CN" sz="1800" b="1" i="1" dirty="0">
                    <a:solidFill>
                      <a:srgbClr val="000000"/>
                    </a:solidFill>
                    <a:ea typeface="宋体" panose="02010600030101010101" pitchFamily="2" charset="-122"/>
                  </a:rPr>
                  <a:t>customer </a:t>
                </a:r>
                <a14:m>
                  <m:oMath xmlns:m="http://schemas.openxmlformats.org/officeDocument/2006/math">
                    <m:r>
                      <a:rPr kumimoji="0" lang="en-US" altLang="zh-CN" sz="1800" b="1" i="1" smtClean="0">
                        <a:solidFill>
                          <a:srgbClr val="000000"/>
                        </a:solidFill>
                        <a:latin typeface="Cambria Math" panose="02040503050406030204" pitchFamily="18" charset="0"/>
                        <a:ea typeface="Cambria Math" panose="02040503050406030204" pitchFamily="18" charset="0"/>
                      </a:rPr>
                      <m:t>⋈</m:t>
                    </m:r>
                  </m:oMath>
                </a14:m>
                <a:r>
                  <a:rPr kumimoji="0" lang="en-US" altLang="zh-CN" sz="1800" b="1" i="1" dirty="0">
                    <a:solidFill>
                      <a:srgbClr val="000000"/>
                    </a:solidFill>
                    <a:ea typeface="宋体" panose="02010600030101010101" pitchFamily="2" charset="-122"/>
                  </a:rPr>
                  <a:t> depositor</a:t>
                </a:r>
              </a:p>
            </p:txBody>
          </p:sp>
        </mc:Choice>
        <mc:Fallback xmlns="">
          <p:sp>
            <p:nvSpPr>
              <p:cNvPr id="4" name="Text Box 4">
                <a:extLst>
                  <a:ext uri="{FF2B5EF4-FFF2-40B4-BE49-F238E27FC236}">
                    <a16:creationId xmlns:a16="http://schemas.microsoft.com/office/drawing/2014/main" id="{E5E604E6-D888-4DE3-97A9-B3B5E0D069DC}"/>
                  </a:ext>
                </a:extLst>
              </p:cNvPr>
              <p:cNvSpPr txBox="1">
                <a:spLocks noRot="1" noChangeAspect="1" noMove="1" noResize="1" noEditPoints="1" noAdjustHandles="1" noChangeArrowheads="1" noChangeShapeType="1" noTextEdit="1"/>
              </p:cNvSpPr>
              <p:nvPr/>
            </p:nvSpPr>
            <p:spPr bwMode="auto">
              <a:xfrm>
                <a:off x="2810133" y="857132"/>
                <a:ext cx="2704587" cy="369332"/>
              </a:xfrm>
              <a:prstGeom prst="rect">
                <a:avLst/>
              </a:prstGeom>
              <a:blipFill>
                <a:blip r:embed="rId2"/>
                <a:stretch>
                  <a:fillRect t="-8333" b="-283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614567801"/>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72CE20-5639-4490-9CB3-ED7D08576E10}"/>
              </a:ext>
            </a:extLst>
          </p:cNvPr>
          <p:cNvSpPr>
            <a:spLocks noGrp="1"/>
          </p:cNvSpPr>
          <p:nvPr>
            <p:ph type="title"/>
          </p:nvPr>
        </p:nvSpPr>
        <p:spPr/>
        <p:txBody>
          <a:bodyPr/>
          <a:lstStyle/>
          <a:p>
            <a:pPr algn="ctr"/>
            <a:r>
              <a:rPr lang="en-US" altLang="zh-CN" dirty="0"/>
              <a:t>Hybrid Hash–Join</a:t>
            </a:r>
            <a:endParaRPr lang="zh-CN" altLang="en-US" dirty="0"/>
          </a:p>
        </p:txBody>
      </p:sp>
      <p:sp>
        <p:nvSpPr>
          <p:cNvPr id="3" name="内容占位符 2">
            <a:extLst>
              <a:ext uri="{FF2B5EF4-FFF2-40B4-BE49-F238E27FC236}">
                <a16:creationId xmlns:a16="http://schemas.microsoft.com/office/drawing/2014/main" id="{96B60ED7-10C1-4CC4-85AE-25BF6BCE3DD2}"/>
              </a:ext>
            </a:extLst>
          </p:cNvPr>
          <p:cNvSpPr>
            <a:spLocks noGrp="1"/>
          </p:cNvSpPr>
          <p:nvPr>
            <p:ph idx="1"/>
          </p:nvPr>
        </p:nvSpPr>
        <p:spPr/>
        <p:txBody>
          <a:bodyPr/>
          <a:lstStyle/>
          <a:p>
            <a:r>
              <a:rPr lang="en-US" altLang="zh-CN" sz="1600" dirty="0"/>
              <a:t>Useful when memory sized are relatively large, and the build input is bigger than memory.</a:t>
            </a:r>
          </a:p>
          <a:p>
            <a:r>
              <a:rPr lang="en-US" altLang="zh-CN" sz="1600" dirty="0"/>
              <a:t>Main feature of hybrid hash join: Keep the first partition of the build relation in memory. </a:t>
            </a:r>
          </a:p>
          <a:p>
            <a:r>
              <a:rPr lang="en-US" altLang="zh-CN" sz="1600" dirty="0"/>
              <a:t>E.g. With memory size of 25 blocks, depositor can be partitioned into five partitions, each of size 20 blocks.</a:t>
            </a:r>
          </a:p>
          <a:p>
            <a:r>
              <a:rPr lang="en-US" altLang="zh-CN" sz="1600" dirty="0"/>
              <a:t>Division of memory:</a:t>
            </a:r>
          </a:p>
          <a:p>
            <a:pPr lvl="1"/>
            <a:r>
              <a:rPr lang="en-US" altLang="zh-CN" sz="1400" dirty="0"/>
              <a:t>The first partition occupies 20 blocks of memory</a:t>
            </a:r>
            <a:r>
              <a:rPr lang="zh-CN" altLang="en-US" sz="1400" dirty="0"/>
              <a:t>（无需递归划分）</a:t>
            </a:r>
          </a:p>
          <a:p>
            <a:pPr lvl="1"/>
            <a:r>
              <a:rPr lang="en-US" altLang="zh-CN" sz="1400" dirty="0"/>
              <a:t>1 block is used for input, and 1 block each for buffering the other 4 partitions.</a:t>
            </a:r>
          </a:p>
          <a:p>
            <a:endParaRPr lang="zh-CN" altLang="en-US" sz="1600" dirty="0"/>
          </a:p>
        </p:txBody>
      </p:sp>
    </p:spTree>
    <p:extLst>
      <p:ext uri="{BB962C8B-B14F-4D97-AF65-F5344CB8AC3E}">
        <p14:creationId xmlns:p14="http://schemas.microsoft.com/office/powerpoint/2010/main" val="1431742829"/>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7AEF52-53DD-403C-9F77-EB7CBAB686AF}"/>
              </a:ext>
            </a:extLst>
          </p:cNvPr>
          <p:cNvSpPr>
            <a:spLocks noGrp="1"/>
          </p:cNvSpPr>
          <p:nvPr>
            <p:ph type="title"/>
          </p:nvPr>
        </p:nvSpPr>
        <p:spPr/>
        <p:txBody>
          <a:bodyPr/>
          <a:lstStyle/>
          <a:p>
            <a:pPr algn="ctr"/>
            <a:r>
              <a:rPr lang="en-US" altLang="zh-CN" dirty="0"/>
              <a:t>Hybrid Hash–Join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DF271DD-8043-4191-AE2D-0088F2713CC2}"/>
                  </a:ext>
                </a:extLst>
              </p:cNvPr>
              <p:cNvSpPr>
                <a:spLocks noGrp="1"/>
              </p:cNvSpPr>
              <p:nvPr>
                <p:ph idx="1"/>
              </p:nvPr>
            </p:nvSpPr>
            <p:spPr/>
            <p:txBody>
              <a:bodyPr/>
              <a:lstStyle/>
              <a:p>
                <a:r>
                  <a:rPr lang="en-US" altLang="zh-CN" sz="1800" dirty="0"/>
                  <a:t>customer is similarly partitioned into five partitions each of size 80; the first is used right away for probing, instead of being written out and read back.</a:t>
                </a:r>
              </a:p>
              <a:p>
                <a:r>
                  <a:rPr lang="en-US" altLang="zh-CN" sz="1800" dirty="0"/>
                  <a:t>Cost of 3(80 + 320) + 20 +80 = 1300 block transfers for hybrid hash join, instead of 1500 with plain hash-join.</a:t>
                </a:r>
              </a:p>
              <a:p>
                <a:r>
                  <a:rPr lang="en-US" altLang="zh-CN" sz="1800" dirty="0"/>
                  <a:t>Hybrid hash-join most useful if </a:t>
                </a:r>
                <a14:m>
                  <m:oMath xmlns:m="http://schemas.openxmlformats.org/officeDocument/2006/math">
                    <m:r>
                      <a:rPr lang="en-US" altLang="zh-CN" sz="1800" b="0" i="1" smtClean="0">
                        <a:latin typeface="Cambria Math" panose="02040503050406030204" pitchFamily="18" charset="0"/>
                      </a:rPr>
                      <m:t>𝑀</m:t>
                    </m:r>
                    <m:r>
                      <a:rPr lang="en-US" altLang="zh-CN" sz="1800" b="0" i="1" smtClean="0">
                        <a:latin typeface="Cambria Math" panose="02040503050406030204" pitchFamily="18" charset="0"/>
                        <a:ea typeface="Cambria Math" panose="02040503050406030204" pitchFamily="18" charset="0"/>
                      </a:rPr>
                      <m:t>≫</m:t>
                    </m:r>
                    <m:rad>
                      <m:radPr>
                        <m:degHide m:val="on"/>
                        <m:ctrlPr>
                          <a:rPr lang="en-US" altLang="zh-CN" sz="1800" b="0" i="1" smtClean="0">
                            <a:latin typeface="Cambria Math" panose="02040503050406030204" pitchFamily="18" charset="0"/>
                            <a:ea typeface="Cambria Math" panose="02040503050406030204" pitchFamily="18" charset="0"/>
                          </a:rPr>
                        </m:ctrlPr>
                      </m:radPr>
                      <m:deg/>
                      <m:e>
                        <m:sSub>
                          <m:sSubPr>
                            <m:ctrlPr>
                              <a:rPr lang="en-US" altLang="zh-CN" sz="1800" b="0" i="1" smtClean="0">
                                <a:latin typeface="Cambria Math" panose="02040503050406030204" pitchFamily="18" charset="0"/>
                                <a:ea typeface="Cambria Math" panose="02040503050406030204" pitchFamily="18" charset="0"/>
                              </a:rPr>
                            </m:ctrlPr>
                          </m:sSubPr>
                          <m:e>
                            <m:r>
                              <a:rPr lang="en-US" altLang="zh-CN" sz="1800" b="0" i="1" smtClean="0">
                                <a:latin typeface="Cambria Math" panose="02040503050406030204" pitchFamily="18" charset="0"/>
                                <a:ea typeface="Cambria Math" panose="02040503050406030204" pitchFamily="18" charset="0"/>
                              </a:rPr>
                              <m:t>𝑏</m:t>
                            </m:r>
                          </m:e>
                          <m:sub>
                            <m:r>
                              <a:rPr lang="en-US" altLang="zh-CN" sz="1800" b="0" i="1" smtClean="0">
                                <a:latin typeface="Cambria Math" panose="02040503050406030204" pitchFamily="18" charset="0"/>
                                <a:ea typeface="Cambria Math" panose="02040503050406030204" pitchFamily="18" charset="0"/>
                              </a:rPr>
                              <m:t>𝑠</m:t>
                            </m:r>
                          </m:sub>
                        </m:sSub>
                      </m:e>
                    </m:rad>
                  </m:oMath>
                </a14:m>
                <a:r>
                  <a:rPr lang="en-US" altLang="zh-CN" sz="1800" dirty="0"/>
                  <a:t> </a:t>
                </a:r>
              </a:p>
              <a:p>
                <a:endParaRPr lang="zh-CN" altLang="en-US" sz="1800" dirty="0"/>
              </a:p>
            </p:txBody>
          </p:sp>
        </mc:Choice>
        <mc:Fallback xmlns="">
          <p:sp>
            <p:nvSpPr>
              <p:cNvPr id="3" name="内容占位符 2">
                <a:extLst>
                  <a:ext uri="{FF2B5EF4-FFF2-40B4-BE49-F238E27FC236}">
                    <a16:creationId xmlns:a16="http://schemas.microsoft.com/office/drawing/2014/main" id="{3DF271DD-8043-4191-AE2D-0088F2713CC2}"/>
                  </a:ext>
                </a:extLst>
              </p:cNvPr>
              <p:cNvSpPr>
                <a:spLocks noGrp="1" noRot="1" noChangeAspect="1" noMove="1" noResize="1" noEditPoints="1" noAdjustHandles="1" noChangeArrowheads="1" noChangeShapeType="1" noTextEdit="1"/>
              </p:cNvSpPr>
              <p:nvPr>
                <p:ph idx="1"/>
              </p:nvPr>
            </p:nvSpPr>
            <p:spPr>
              <a:blipFill>
                <a:blip r:embed="rId3"/>
                <a:stretch>
                  <a:fillRect l="-427"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5792428"/>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EBAC8A-2F80-47C4-B406-C95D3DF303C6}"/>
              </a:ext>
            </a:extLst>
          </p:cNvPr>
          <p:cNvSpPr>
            <a:spLocks noGrp="1"/>
          </p:cNvSpPr>
          <p:nvPr>
            <p:ph type="title"/>
          </p:nvPr>
        </p:nvSpPr>
        <p:spPr/>
        <p:txBody>
          <a:bodyPr/>
          <a:lstStyle/>
          <a:p>
            <a:pPr algn="ctr"/>
            <a:r>
              <a:rPr lang="en-US" altLang="zh-CN" dirty="0"/>
              <a:t>Complex Joins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FD167451-CBF3-4190-A0B0-A7CC7C376025}"/>
                  </a:ext>
                </a:extLst>
              </p:cNvPr>
              <p:cNvSpPr>
                <a:spLocks noGrp="1"/>
              </p:cNvSpPr>
              <p:nvPr>
                <p:ph idx="1"/>
              </p:nvPr>
            </p:nvSpPr>
            <p:spPr>
              <a:xfrm>
                <a:off x="251520" y="789553"/>
                <a:ext cx="8280920" cy="3805070"/>
              </a:xfrm>
            </p:spPr>
            <p:txBody>
              <a:bodyPr/>
              <a:lstStyle/>
              <a:p>
                <a:pPr>
                  <a:spcBef>
                    <a:spcPts val="600"/>
                  </a:spcBef>
                </a:pPr>
                <a:r>
                  <a:rPr lang="en-US" altLang="zh-CN" sz="2000" dirty="0"/>
                  <a:t>Join with a conjunctive condition: </a:t>
                </a:r>
                <a14:m>
                  <m:oMath xmlns:m="http://schemas.openxmlformats.org/officeDocument/2006/math">
                    <m:r>
                      <a:rPr lang="en-US" altLang="zh-CN" sz="2000" b="0" i="1" smtClean="0">
                        <a:latin typeface="Cambria Math" panose="02040503050406030204" pitchFamily="18" charset="0"/>
                      </a:rPr>
                      <m:t>𝑟</m:t>
                    </m:r>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m:t>
                        </m:r>
                      </m:e>
                      <m:sub>
                        <m:sSub>
                          <m:sSubPr>
                            <m:ctrlPr>
                              <a:rPr lang="en-US" altLang="zh-CN" sz="2000" b="0" i="1" smtClean="0">
                                <a:latin typeface="Cambria Math" panose="02040503050406030204" pitchFamily="18" charset="0"/>
                                <a:ea typeface="Cambria Math" panose="02040503050406030204" pitchFamily="18" charset="0"/>
                              </a:rPr>
                            </m:ctrlPr>
                          </m:sSubPr>
                          <m:e>
                            <m:r>
                              <a:rPr lang="zh-CN" altLang="en-US" sz="2000" b="0" i="1" smtClean="0">
                                <a:latin typeface="Cambria Math" panose="02040503050406030204" pitchFamily="18" charset="0"/>
                                <a:ea typeface="Cambria Math" panose="02040503050406030204" pitchFamily="18" charset="0"/>
                              </a:rPr>
                              <m:t>𝜃</m:t>
                            </m:r>
                          </m:e>
                          <m:sub>
                            <m:r>
                              <a:rPr lang="en-US" altLang="zh-CN" sz="2000" b="0" i="1" smtClean="0">
                                <a:latin typeface="Cambria Math" panose="02040503050406030204" pitchFamily="18" charset="0"/>
                                <a:ea typeface="Cambria Math" panose="02040503050406030204" pitchFamily="18" charset="0"/>
                              </a:rPr>
                              <m:t>1</m:t>
                            </m:r>
                          </m:sub>
                        </m:sSub>
                        <m:r>
                          <a:rPr lang="en-US" altLang="zh-CN" sz="2000" b="0" i="1" smtClean="0">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zh-CN" altLang="en-US" sz="2000" i="1">
                                <a:latin typeface="Cambria Math" panose="02040503050406030204" pitchFamily="18" charset="0"/>
                                <a:ea typeface="Cambria Math" panose="02040503050406030204" pitchFamily="18" charset="0"/>
                              </a:rPr>
                              <m:t>𝜃</m:t>
                            </m:r>
                          </m:e>
                          <m:sub>
                            <m:r>
                              <a:rPr lang="en-US" altLang="zh-CN" sz="2000" b="0" i="1" smtClean="0">
                                <a:latin typeface="Cambria Math" panose="02040503050406030204" pitchFamily="18" charset="0"/>
                                <a:ea typeface="Cambria Math" panose="02040503050406030204" pitchFamily="18" charset="0"/>
                              </a:rPr>
                              <m:t>2</m:t>
                            </m:r>
                          </m:sub>
                        </m:sSub>
                        <m:r>
                          <a:rPr lang="en-US" altLang="zh-CN" sz="2000" b="0" i="1" smtClean="0">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zh-CN" altLang="en-US" sz="2000" i="1">
                                <a:latin typeface="Cambria Math" panose="02040503050406030204" pitchFamily="18" charset="0"/>
                                <a:ea typeface="Cambria Math" panose="02040503050406030204" pitchFamily="18" charset="0"/>
                              </a:rPr>
                              <m:t>𝜃</m:t>
                            </m:r>
                          </m:e>
                          <m:sub>
                            <m:r>
                              <a:rPr lang="en-US" altLang="zh-CN" sz="2000" b="0" i="1" smtClean="0">
                                <a:latin typeface="Cambria Math" panose="02040503050406030204" pitchFamily="18" charset="0"/>
                                <a:ea typeface="Cambria Math" panose="02040503050406030204" pitchFamily="18" charset="0"/>
                              </a:rPr>
                              <m:t>𝑛</m:t>
                            </m:r>
                          </m:sub>
                        </m:sSub>
                      </m:sub>
                    </m:sSub>
                    <m:r>
                      <a:rPr lang="en-US" altLang="zh-CN" sz="2000" b="0" i="1" smtClean="0">
                        <a:latin typeface="Cambria Math" panose="02040503050406030204" pitchFamily="18" charset="0"/>
                      </a:rPr>
                      <m:t>𝑠</m:t>
                    </m:r>
                  </m:oMath>
                </a14:m>
                <a:endParaRPr lang="en-US" altLang="zh-CN" sz="2000" dirty="0"/>
              </a:p>
              <a:p>
                <a:pPr lvl="1">
                  <a:spcBef>
                    <a:spcPts val="600"/>
                  </a:spcBef>
                </a:pPr>
                <a:r>
                  <a:rPr lang="en-US" altLang="zh-CN" sz="1800" dirty="0"/>
                  <a:t>either use nested loops/block nested loops, or</a:t>
                </a:r>
              </a:p>
              <a:p>
                <a:pPr lvl="1">
                  <a:spcBef>
                    <a:spcPts val="600"/>
                  </a:spcBef>
                </a:pPr>
                <a:r>
                  <a:rPr lang="en-US" altLang="zh-CN" sz="1800" dirty="0"/>
                  <a:t>compute the result of one of the simple joins </a:t>
                </a:r>
                <a14:m>
                  <m:oMath xmlns:m="http://schemas.openxmlformats.org/officeDocument/2006/math">
                    <m:r>
                      <a:rPr lang="en-US" altLang="zh-CN" sz="1800" b="0" i="1" smtClean="0">
                        <a:latin typeface="Cambria Math" panose="02040503050406030204" pitchFamily="18" charset="0"/>
                      </a:rPr>
                      <m:t>𝑟</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ea typeface="Cambria Math" panose="02040503050406030204" pitchFamily="18" charset="0"/>
                          </a:rPr>
                          <m:t>⋈</m:t>
                        </m:r>
                      </m:e>
                      <m:sub>
                        <m:r>
                          <a:rPr lang="zh-CN" altLang="en-US" sz="1800" b="0" i="1" smtClean="0">
                            <a:latin typeface="Cambria Math" panose="02040503050406030204" pitchFamily="18" charset="0"/>
                          </a:rPr>
                          <m:t>𝜃</m:t>
                        </m:r>
                        <m:r>
                          <a:rPr lang="en-US" altLang="zh-CN" sz="1800" b="0" i="1" smtClean="0">
                            <a:latin typeface="Cambria Math" panose="02040503050406030204" pitchFamily="18" charset="0"/>
                          </a:rPr>
                          <m:t>𝑖</m:t>
                        </m:r>
                      </m:sub>
                    </m:sSub>
                    <m:r>
                      <a:rPr lang="en-US" altLang="zh-CN" sz="1800" b="0" i="1" smtClean="0">
                        <a:latin typeface="Cambria Math" panose="02040503050406030204" pitchFamily="18" charset="0"/>
                      </a:rPr>
                      <m:t>𝑠</m:t>
                    </m:r>
                  </m:oMath>
                </a14:m>
                <a:endParaRPr lang="en-US" altLang="zh-CN" sz="1800" dirty="0"/>
              </a:p>
              <a:p>
                <a:pPr lvl="1">
                  <a:spcBef>
                    <a:spcPts val="600"/>
                  </a:spcBef>
                </a:pPr>
                <a:r>
                  <a:rPr lang="en-US" altLang="zh-CN" sz="1800" dirty="0"/>
                  <a:t>final result comprises those tuples in the intermediate result that satisfy the remaining conditions </a:t>
                </a:r>
                <a14:m>
                  <m:oMath xmlns:m="http://schemas.openxmlformats.org/officeDocument/2006/math">
                    <m:sSub>
                      <m:sSubPr>
                        <m:ctrlPr>
                          <a:rPr lang="en-US" altLang="zh-CN" sz="1800" i="1" smtClean="0">
                            <a:latin typeface="Cambria Math" panose="02040503050406030204" pitchFamily="18" charset="0"/>
                          </a:rPr>
                        </m:ctrlPr>
                      </m:sSubPr>
                      <m:e>
                        <m:r>
                          <a:rPr lang="zh-CN" altLang="en-US" sz="1800" i="1" smtClean="0">
                            <a:latin typeface="Cambria Math" panose="02040503050406030204" pitchFamily="18" charset="0"/>
                          </a:rPr>
                          <m:t>𝜃</m:t>
                        </m:r>
                      </m:e>
                      <m:sub>
                        <m:r>
                          <a:rPr lang="en-US" altLang="zh-CN" sz="1800" b="0" i="1" smtClean="0">
                            <a:latin typeface="Cambria Math" panose="02040503050406030204" pitchFamily="18" charset="0"/>
                          </a:rPr>
                          <m:t>1</m:t>
                        </m:r>
                      </m:sub>
                    </m:sSub>
                    <m:r>
                      <a:rPr lang="en-US" altLang="zh-CN" sz="1800" i="1" smtClean="0">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𝜃</m:t>
                        </m:r>
                      </m:e>
                      <m:sub>
                        <m:r>
                          <a:rPr lang="en-US" altLang="zh-CN" sz="1800" b="0" i="1" smtClean="0">
                            <a:latin typeface="Cambria Math" panose="02040503050406030204" pitchFamily="18" charset="0"/>
                          </a:rPr>
                          <m:t>𝑖</m:t>
                        </m:r>
                        <m:r>
                          <a:rPr lang="en-US" altLang="zh-CN" sz="1800" b="0" i="1" smtClean="0">
                            <a:latin typeface="Cambria Math" panose="02040503050406030204" pitchFamily="18" charset="0"/>
                          </a:rPr>
                          <m:t>−1</m:t>
                        </m:r>
                      </m:sub>
                    </m:sSub>
                    <m:r>
                      <a:rPr lang="en-US" altLang="zh-CN" sz="1800" i="1">
                        <a:latin typeface="Cambria Math" panose="02040503050406030204" pitchFamily="18" charset="0"/>
                        <a:ea typeface="Cambria Math" panose="02040503050406030204" pitchFamily="18" charset="0"/>
                      </a:rPr>
                      <m:t>∧</m:t>
                    </m:r>
                  </m:oMath>
                </a14:m>
                <a:r>
                  <a:rPr lang="en-US" altLang="zh-CN" sz="1800" dirty="0"/>
                  <a:t> </a:t>
                </a:r>
                <a14:m>
                  <m:oMath xmlns:m="http://schemas.openxmlformats.org/officeDocument/2006/math">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𝜃</m:t>
                        </m:r>
                      </m:e>
                      <m:sub>
                        <m:r>
                          <a:rPr lang="en-US" altLang="zh-CN" sz="1800" b="0" i="1" smtClean="0">
                            <a:latin typeface="Cambria Math" panose="02040503050406030204" pitchFamily="18" charset="0"/>
                          </a:rPr>
                          <m:t>𝑖</m:t>
                        </m:r>
                        <m:r>
                          <a:rPr lang="en-US" altLang="zh-CN" sz="1800" b="0" i="1" smtClean="0">
                            <a:latin typeface="Cambria Math" panose="02040503050406030204" pitchFamily="18" charset="0"/>
                          </a:rPr>
                          <m:t>+1</m:t>
                        </m:r>
                      </m:sub>
                    </m:sSub>
                    <m:r>
                      <a:rPr lang="en-US" altLang="zh-CN" sz="1800" i="1">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m:t>
                    </m:r>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𝜃</m:t>
                        </m:r>
                      </m:e>
                      <m:sub>
                        <m:r>
                          <a:rPr lang="en-US" altLang="zh-CN" sz="1800" b="0" i="1" smtClean="0">
                            <a:latin typeface="Cambria Math" panose="02040503050406030204" pitchFamily="18" charset="0"/>
                          </a:rPr>
                          <m:t>𝑛</m:t>
                        </m:r>
                      </m:sub>
                    </m:sSub>
                  </m:oMath>
                </a14:m>
                <a:endParaRPr lang="en-US" altLang="zh-CN" sz="1800" dirty="0"/>
              </a:p>
              <a:p>
                <a:pPr>
                  <a:spcBef>
                    <a:spcPts val="600"/>
                  </a:spcBef>
                </a:pPr>
                <a:r>
                  <a:rPr lang="en-US" altLang="zh-CN" sz="2000" dirty="0"/>
                  <a:t>Join with a disjunctive condition: </a:t>
                </a:r>
                <a14:m>
                  <m:oMath xmlns:m="http://schemas.openxmlformats.org/officeDocument/2006/math">
                    <m:r>
                      <a:rPr lang="en-US" altLang="zh-CN" sz="2000" i="1">
                        <a:latin typeface="Cambria Math" panose="02040503050406030204" pitchFamily="18" charset="0"/>
                      </a:rPr>
                      <m:t>𝑟</m:t>
                    </m:r>
                    <m:sSub>
                      <m:sSubPr>
                        <m:ctrlPr>
                          <a:rPr lang="en-US" altLang="zh-CN" sz="2000" i="1">
                            <a:latin typeface="Cambria Math" panose="02040503050406030204" pitchFamily="18" charset="0"/>
                          </a:rPr>
                        </m:ctrlPr>
                      </m:sSubPr>
                      <m:e>
                        <m:r>
                          <a:rPr lang="en-US" altLang="zh-CN" sz="2000" i="1">
                            <a:latin typeface="Cambria Math" panose="02040503050406030204" pitchFamily="18" charset="0"/>
                            <a:ea typeface="Cambria Math" panose="02040503050406030204" pitchFamily="18" charset="0"/>
                          </a:rPr>
                          <m:t>⋈</m:t>
                        </m:r>
                      </m:e>
                      <m:sub>
                        <m:sSub>
                          <m:sSubPr>
                            <m:ctrlPr>
                              <a:rPr lang="en-US" altLang="zh-CN" sz="2000" i="1">
                                <a:latin typeface="Cambria Math" panose="02040503050406030204" pitchFamily="18" charset="0"/>
                                <a:ea typeface="Cambria Math" panose="02040503050406030204" pitchFamily="18" charset="0"/>
                              </a:rPr>
                            </m:ctrlPr>
                          </m:sSubPr>
                          <m:e>
                            <m:r>
                              <a:rPr lang="zh-CN" altLang="en-US" sz="2000" i="1">
                                <a:latin typeface="Cambria Math" panose="02040503050406030204" pitchFamily="18" charset="0"/>
                                <a:ea typeface="Cambria Math" panose="02040503050406030204" pitchFamily="18" charset="0"/>
                              </a:rPr>
                              <m:t>𝜃</m:t>
                            </m:r>
                          </m:e>
                          <m:sub>
                            <m:r>
                              <a:rPr lang="en-US" altLang="zh-CN" sz="2000" i="1">
                                <a:latin typeface="Cambria Math" panose="02040503050406030204" pitchFamily="18" charset="0"/>
                                <a:ea typeface="Cambria Math" panose="02040503050406030204" pitchFamily="18" charset="0"/>
                              </a:rPr>
                              <m:t>1</m:t>
                            </m:r>
                          </m:sub>
                        </m:sSub>
                        <m:r>
                          <a:rPr lang="en-US" altLang="zh-CN" sz="2000" i="1" smtClean="0">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zh-CN" altLang="en-US" sz="2000" i="1">
                                <a:latin typeface="Cambria Math" panose="02040503050406030204" pitchFamily="18" charset="0"/>
                                <a:ea typeface="Cambria Math" panose="02040503050406030204" pitchFamily="18" charset="0"/>
                              </a:rPr>
                              <m:t>𝜃</m:t>
                            </m:r>
                          </m:e>
                          <m:sub>
                            <m:r>
                              <a:rPr lang="en-US" altLang="zh-CN" sz="2000" b="0" i="1" smtClean="0">
                                <a:latin typeface="Cambria Math" panose="02040503050406030204" pitchFamily="18" charset="0"/>
                                <a:ea typeface="Cambria Math" panose="02040503050406030204" pitchFamily="18" charset="0"/>
                              </a:rPr>
                              <m:t>2</m:t>
                            </m:r>
                          </m:sub>
                        </m:sSub>
                        <m:r>
                          <a:rPr lang="en-US" altLang="zh-CN" sz="2000" i="1">
                            <a:latin typeface="Cambria Math" panose="02040503050406030204" pitchFamily="18" charset="0"/>
                            <a:ea typeface="Cambria Math" panose="02040503050406030204" pitchFamily="18" charset="0"/>
                          </a:rPr>
                          <m:t>∨…∨</m:t>
                        </m:r>
                        <m:sSub>
                          <m:sSubPr>
                            <m:ctrlPr>
                              <a:rPr lang="en-US" altLang="zh-CN" sz="2000" i="1">
                                <a:latin typeface="Cambria Math" panose="02040503050406030204" pitchFamily="18" charset="0"/>
                                <a:ea typeface="Cambria Math" panose="02040503050406030204" pitchFamily="18" charset="0"/>
                              </a:rPr>
                            </m:ctrlPr>
                          </m:sSubPr>
                          <m:e>
                            <m:r>
                              <a:rPr lang="zh-CN" altLang="en-US" sz="2000" i="1">
                                <a:latin typeface="Cambria Math" panose="02040503050406030204" pitchFamily="18" charset="0"/>
                                <a:ea typeface="Cambria Math" panose="02040503050406030204" pitchFamily="18" charset="0"/>
                              </a:rPr>
                              <m:t>𝜃</m:t>
                            </m:r>
                          </m:e>
                          <m:sub>
                            <m:r>
                              <a:rPr lang="en-US" altLang="zh-CN" sz="2000" b="0" i="1" smtClean="0">
                                <a:latin typeface="Cambria Math" panose="02040503050406030204" pitchFamily="18" charset="0"/>
                                <a:ea typeface="Cambria Math" panose="02040503050406030204" pitchFamily="18" charset="0"/>
                              </a:rPr>
                              <m:t>𝑛</m:t>
                            </m:r>
                          </m:sub>
                        </m:sSub>
                      </m:sub>
                    </m:sSub>
                    <m:r>
                      <a:rPr lang="en-US" altLang="zh-CN" sz="2000" i="1">
                        <a:latin typeface="Cambria Math" panose="02040503050406030204" pitchFamily="18" charset="0"/>
                      </a:rPr>
                      <m:t>𝑠</m:t>
                    </m:r>
                  </m:oMath>
                </a14:m>
                <a:endParaRPr lang="en-US" altLang="zh-CN" sz="2000" dirty="0"/>
              </a:p>
              <a:p>
                <a:pPr lvl="1">
                  <a:spcBef>
                    <a:spcPts val="600"/>
                  </a:spcBef>
                </a:pPr>
                <a:r>
                  <a:rPr lang="en-US" altLang="zh-CN" sz="1800" dirty="0"/>
                  <a:t>either use nested loops/block nested loops, or</a:t>
                </a:r>
              </a:p>
              <a:p>
                <a:pPr lvl="1">
                  <a:spcBef>
                    <a:spcPts val="600"/>
                  </a:spcBef>
                </a:pPr>
                <a:r>
                  <a:rPr lang="en-US" altLang="zh-CN" sz="1800" dirty="0"/>
                  <a:t>compute as the union of the records in individual joins </a:t>
                </a:r>
                <a14:m>
                  <m:oMath xmlns:m="http://schemas.openxmlformats.org/officeDocument/2006/math">
                    <m:r>
                      <a:rPr lang="en-US" altLang="zh-CN" sz="1800" b="0" i="1" smtClean="0">
                        <a:latin typeface="Cambria Math" panose="02040503050406030204" pitchFamily="18" charset="0"/>
                      </a:rPr>
                      <m:t>𝑟</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ea typeface="Cambria Math" panose="02040503050406030204" pitchFamily="18" charset="0"/>
                          </a:rPr>
                          <m:t>⋈</m:t>
                        </m:r>
                      </m:e>
                      <m:sub>
                        <m:sSub>
                          <m:sSubPr>
                            <m:ctrlPr>
                              <a:rPr lang="en-US" altLang="zh-CN" sz="1800" b="0" i="1" smtClean="0">
                                <a:latin typeface="Cambria Math" panose="02040503050406030204" pitchFamily="18" charset="0"/>
                              </a:rPr>
                            </m:ctrlPr>
                          </m:sSubPr>
                          <m:e>
                            <m:r>
                              <a:rPr lang="zh-CN" altLang="en-US" sz="1800" b="0" i="1" smtClean="0">
                                <a:latin typeface="Cambria Math" panose="02040503050406030204" pitchFamily="18" charset="0"/>
                              </a:rPr>
                              <m:t>𝜃</m:t>
                            </m:r>
                          </m:e>
                          <m:sub>
                            <m:r>
                              <a:rPr lang="en-US" altLang="zh-CN" sz="1800" b="0" i="1" smtClean="0">
                                <a:latin typeface="Cambria Math" panose="02040503050406030204" pitchFamily="18" charset="0"/>
                              </a:rPr>
                              <m:t>𝑖</m:t>
                            </m:r>
                          </m:sub>
                        </m:sSub>
                      </m:sub>
                    </m:sSub>
                    <m:r>
                      <a:rPr lang="en-US" altLang="zh-CN" sz="1800" b="0" i="1" smtClean="0">
                        <a:latin typeface="Cambria Math" panose="02040503050406030204" pitchFamily="18" charset="0"/>
                      </a:rPr>
                      <m:t>𝑠</m:t>
                    </m:r>
                  </m:oMath>
                </a14:m>
                <a:r>
                  <a:rPr lang="en-US" altLang="zh-CN" sz="1800" dirty="0"/>
                  <a:t>:</a:t>
                </a:r>
              </a:p>
              <a:p>
                <a:pPr marL="0" indent="0">
                  <a:spcBef>
                    <a:spcPts val="600"/>
                  </a:spcBef>
                  <a:buNone/>
                </a:pPr>
                <a14:m>
                  <m:oMathPara xmlns:m="http://schemas.openxmlformats.org/officeDocument/2006/math">
                    <m:oMathParaPr>
                      <m:jc m:val="centerGroup"/>
                    </m:oMathParaPr>
                    <m:oMath xmlns:m="http://schemas.openxmlformats.org/officeDocument/2006/math">
                      <m:d>
                        <m:dPr>
                          <m:ctrlPr>
                            <a:rPr lang="en-US" altLang="zh-CN" sz="1800" b="0" i="1" smtClean="0">
                              <a:latin typeface="Cambria Math" panose="02040503050406030204" pitchFamily="18" charset="0"/>
                            </a:rPr>
                          </m:ctrlPr>
                        </m:dPr>
                        <m:e>
                          <m:r>
                            <a:rPr lang="en-US" altLang="zh-CN" sz="1800" b="0" i="1" smtClean="0">
                              <a:latin typeface="Cambria Math" panose="02040503050406030204" pitchFamily="18" charset="0"/>
                            </a:rPr>
                            <m:t>𝑟</m:t>
                          </m:r>
                          <m:sSub>
                            <m:sSubPr>
                              <m:ctrlPr>
                                <a:rPr lang="en-US" altLang="zh-CN" sz="1800" b="0" i="1" smtClean="0">
                                  <a:latin typeface="Cambria Math" panose="02040503050406030204" pitchFamily="18" charset="0"/>
                                </a:rPr>
                              </m:ctrlPr>
                            </m:sSubPr>
                            <m:e>
                              <m:r>
                                <a:rPr lang="en-US" altLang="zh-CN" sz="1800" b="0" i="1" smtClean="0">
                                  <a:latin typeface="Cambria Math" panose="02040503050406030204" pitchFamily="18" charset="0"/>
                                  <a:ea typeface="Cambria Math" panose="02040503050406030204" pitchFamily="18" charset="0"/>
                                </a:rPr>
                                <m:t>⋈</m:t>
                              </m:r>
                            </m:e>
                            <m:sub>
                              <m:sSub>
                                <m:sSubPr>
                                  <m:ctrlPr>
                                    <a:rPr lang="en-US" altLang="zh-CN" sz="1800" b="0" i="1" smtClean="0">
                                      <a:latin typeface="Cambria Math" panose="02040503050406030204" pitchFamily="18" charset="0"/>
                                    </a:rPr>
                                  </m:ctrlPr>
                                </m:sSubPr>
                                <m:e>
                                  <m:r>
                                    <a:rPr lang="zh-CN" altLang="en-US" sz="1800" b="0" i="1" smtClean="0">
                                      <a:latin typeface="Cambria Math" panose="02040503050406030204" pitchFamily="18" charset="0"/>
                                    </a:rPr>
                                    <m:t>𝜃</m:t>
                                  </m:r>
                                </m:e>
                                <m:sub>
                                  <m:r>
                                    <a:rPr lang="en-US" altLang="zh-CN" sz="1800" b="0" i="1" smtClean="0">
                                      <a:latin typeface="Cambria Math" panose="02040503050406030204" pitchFamily="18" charset="0"/>
                                    </a:rPr>
                                    <m:t>1</m:t>
                                  </m:r>
                                </m:sub>
                              </m:sSub>
                            </m:sub>
                          </m:sSub>
                          <m:r>
                            <a:rPr lang="en-US" altLang="zh-CN" sz="1800" b="0" i="1" smtClean="0">
                              <a:latin typeface="Cambria Math" panose="02040503050406030204" pitchFamily="18" charset="0"/>
                            </a:rPr>
                            <m:t>𝑠</m:t>
                          </m:r>
                        </m:e>
                      </m:d>
                      <m:r>
                        <a:rPr lang="en-US" altLang="zh-CN" sz="1800" b="0" i="1" smtClean="0">
                          <a:latin typeface="Cambria Math" panose="02040503050406030204" pitchFamily="18" charset="0"/>
                          <a:ea typeface="Cambria Math" panose="02040503050406030204" pitchFamily="18" charset="0"/>
                        </a:rPr>
                        <m:t>∪</m:t>
                      </m:r>
                      <m:d>
                        <m:dPr>
                          <m:ctrlPr>
                            <a:rPr lang="en-US" altLang="zh-CN" sz="1800" b="0" i="1" smtClean="0">
                              <a:latin typeface="Cambria Math" panose="02040503050406030204" pitchFamily="18" charset="0"/>
                            </a:rPr>
                          </m:ctrlPr>
                        </m:dPr>
                        <m:e>
                          <m:r>
                            <a:rPr lang="en-US" altLang="zh-CN" sz="1800" i="1">
                              <a:latin typeface="Cambria Math" panose="02040503050406030204" pitchFamily="18" charset="0"/>
                            </a:rPr>
                            <m:t>𝑟</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m:t>
                              </m:r>
                            </m:e>
                            <m:sub>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𝜃</m:t>
                                  </m:r>
                                </m:e>
                                <m:sub>
                                  <m:r>
                                    <a:rPr lang="en-US" altLang="zh-CN" sz="1800" b="0" i="1" smtClean="0">
                                      <a:latin typeface="Cambria Math" panose="02040503050406030204" pitchFamily="18" charset="0"/>
                                    </a:rPr>
                                    <m:t>2</m:t>
                                  </m:r>
                                </m:sub>
                              </m:sSub>
                            </m:sub>
                          </m:sSub>
                          <m:r>
                            <a:rPr lang="en-US" altLang="zh-CN" sz="1800" i="1">
                              <a:latin typeface="Cambria Math" panose="02040503050406030204" pitchFamily="18" charset="0"/>
                            </a:rPr>
                            <m:t>𝑠</m:t>
                          </m:r>
                        </m:e>
                      </m:d>
                      <m:r>
                        <a:rPr lang="en-US" altLang="zh-CN" sz="1800" b="0" i="1" smtClean="0">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ea typeface="Cambria Math" panose="02040503050406030204" pitchFamily="18" charset="0"/>
                        </a:rPr>
                        <m:t>∪</m:t>
                      </m:r>
                      <m:r>
                        <a:rPr lang="en-US" altLang="zh-CN" sz="1800" b="0" i="1" smtClean="0">
                          <a:latin typeface="Cambria Math" panose="02040503050406030204" pitchFamily="18" charset="0"/>
                          <a:ea typeface="Cambria Math" panose="02040503050406030204" pitchFamily="18" charset="0"/>
                        </a:rPr>
                        <m:t>(</m:t>
                      </m:r>
                      <m:r>
                        <a:rPr lang="en-US" altLang="zh-CN" sz="1800" i="1">
                          <a:latin typeface="Cambria Math" panose="02040503050406030204" pitchFamily="18" charset="0"/>
                        </a:rPr>
                        <m:t>𝑟</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ea typeface="Cambria Math" panose="02040503050406030204" pitchFamily="18" charset="0"/>
                            </a:rPr>
                            <m:t>⋈</m:t>
                          </m:r>
                        </m:e>
                        <m:sub>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𝜃</m:t>
                              </m:r>
                            </m:e>
                            <m:sub>
                              <m:r>
                                <a:rPr lang="en-US" altLang="zh-CN" sz="1800" b="0" i="1" smtClean="0">
                                  <a:latin typeface="Cambria Math" panose="02040503050406030204" pitchFamily="18" charset="0"/>
                                </a:rPr>
                                <m:t>𝑛</m:t>
                              </m:r>
                            </m:sub>
                          </m:sSub>
                        </m:sub>
                      </m:sSub>
                      <m:r>
                        <a:rPr lang="en-US" altLang="zh-CN" sz="1800" i="1">
                          <a:latin typeface="Cambria Math" panose="02040503050406030204" pitchFamily="18" charset="0"/>
                        </a:rPr>
                        <m:t>𝑠</m:t>
                      </m:r>
                      <m:r>
                        <a:rPr lang="en-US" altLang="zh-CN" sz="1800" b="0" i="1" smtClean="0">
                          <a:latin typeface="Cambria Math" panose="02040503050406030204" pitchFamily="18" charset="0"/>
                          <a:ea typeface="Cambria Math" panose="02040503050406030204" pitchFamily="18" charset="0"/>
                        </a:rPr>
                        <m:t>)</m:t>
                      </m:r>
                    </m:oMath>
                  </m:oMathPara>
                </a14:m>
                <a:endParaRPr lang="en-US" altLang="zh-CN" sz="1800" dirty="0"/>
              </a:p>
              <a:p>
                <a:pPr marL="0" indent="0">
                  <a:spcBef>
                    <a:spcPts val="600"/>
                  </a:spcBef>
                  <a:buNone/>
                </a:pPr>
                <a:endParaRPr lang="zh-CN" altLang="en-US" sz="2000" dirty="0"/>
              </a:p>
            </p:txBody>
          </p:sp>
        </mc:Choice>
        <mc:Fallback xmlns="">
          <p:sp>
            <p:nvSpPr>
              <p:cNvPr id="3" name="内容占位符 2">
                <a:extLst>
                  <a:ext uri="{FF2B5EF4-FFF2-40B4-BE49-F238E27FC236}">
                    <a16:creationId xmlns:a16="http://schemas.microsoft.com/office/drawing/2014/main" id="{FD167451-CBF3-4190-A0B0-A7CC7C376025}"/>
                  </a:ext>
                </a:extLst>
              </p:cNvPr>
              <p:cNvSpPr>
                <a:spLocks noGrp="1" noRot="1" noChangeAspect="1" noMove="1" noResize="1" noEditPoints="1" noAdjustHandles="1" noChangeArrowheads="1" noChangeShapeType="1" noTextEdit="1"/>
              </p:cNvSpPr>
              <p:nvPr>
                <p:ph idx="1"/>
              </p:nvPr>
            </p:nvSpPr>
            <p:spPr>
              <a:xfrm>
                <a:off x="251520" y="789553"/>
                <a:ext cx="8280920" cy="3805070"/>
              </a:xfrm>
              <a:blipFill>
                <a:blip r:embed="rId2"/>
                <a:stretch>
                  <a:fillRect l="-662"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50703990"/>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51D80F-A2B8-4910-90BA-EB684C7B7534}"/>
              </a:ext>
            </a:extLst>
          </p:cNvPr>
          <p:cNvSpPr>
            <a:spLocks noGrp="1"/>
          </p:cNvSpPr>
          <p:nvPr>
            <p:ph type="title"/>
          </p:nvPr>
        </p:nvSpPr>
        <p:spPr/>
        <p:txBody>
          <a:bodyPr/>
          <a:lstStyle/>
          <a:p>
            <a:pPr algn="ctr"/>
            <a:r>
              <a:rPr lang="en-US" altLang="zh-CN" dirty="0"/>
              <a:t>Complex Joins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2D3A3CD-2ECA-47C7-B177-664C9C550754}"/>
                  </a:ext>
                </a:extLst>
              </p:cNvPr>
              <p:cNvSpPr>
                <a:spLocks noGrp="1"/>
              </p:cNvSpPr>
              <p:nvPr>
                <p:ph idx="1"/>
              </p:nvPr>
            </p:nvSpPr>
            <p:spPr/>
            <p:txBody>
              <a:bodyPr/>
              <a:lstStyle/>
              <a:p>
                <a:pPr>
                  <a:spcBef>
                    <a:spcPts val="600"/>
                  </a:spcBef>
                </a:pPr>
                <a:r>
                  <a:rPr lang="en-US" altLang="zh-CN" sz="1800" b="1" dirty="0"/>
                  <a:t>Join involving three relations:  loan </a:t>
                </a:r>
                <a14:m>
                  <m:oMath xmlns:m="http://schemas.openxmlformats.org/officeDocument/2006/math">
                    <m:r>
                      <a:rPr lang="en-US" altLang="zh-CN" sz="1800" b="1" i="1" smtClean="0">
                        <a:latin typeface="Cambria Math" panose="02040503050406030204" pitchFamily="18" charset="0"/>
                        <a:ea typeface="Cambria Math" panose="02040503050406030204" pitchFamily="18" charset="0"/>
                      </a:rPr>
                      <m:t>⋈</m:t>
                    </m:r>
                  </m:oMath>
                </a14:m>
                <a:r>
                  <a:rPr lang="en-US" altLang="zh-CN" sz="1800" b="1" dirty="0"/>
                  <a:t> depositor </a:t>
                </a:r>
                <a14:m>
                  <m:oMath xmlns:m="http://schemas.openxmlformats.org/officeDocument/2006/math">
                    <m:r>
                      <a:rPr lang="en-US" altLang="zh-CN" sz="1800" b="1" i="1">
                        <a:latin typeface="Cambria Math" panose="02040503050406030204" pitchFamily="18" charset="0"/>
                        <a:ea typeface="Cambria Math" panose="02040503050406030204" pitchFamily="18" charset="0"/>
                      </a:rPr>
                      <m:t>⋈</m:t>
                    </m:r>
                  </m:oMath>
                </a14:m>
                <a:r>
                  <a:rPr lang="en-US" altLang="zh-CN" sz="1800" b="1" dirty="0"/>
                  <a:t> customer</a:t>
                </a:r>
              </a:p>
              <a:p>
                <a:pPr lvl="1">
                  <a:spcBef>
                    <a:spcPts val="600"/>
                  </a:spcBef>
                </a:pPr>
                <a:r>
                  <a:rPr lang="en-US" altLang="zh-CN" sz="1600" b="1" dirty="0"/>
                  <a:t>Strategy 1</a:t>
                </a:r>
                <a:r>
                  <a:rPr lang="en-US" altLang="zh-CN" sz="1600" dirty="0"/>
                  <a:t>: Compute depositor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oMath>
                </a14:m>
                <a:r>
                  <a:rPr lang="en-US" altLang="zh-CN" sz="1600" dirty="0"/>
                  <a:t> customer, and use result to compute loan    (depositor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oMath>
                </a14:m>
                <a:r>
                  <a:rPr lang="en-US" altLang="zh-CN" sz="1600" dirty="0"/>
                  <a:t> customer)</a:t>
                </a:r>
              </a:p>
              <a:p>
                <a:pPr lvl="1">
                  <a:spcBef>
                    <a:spcPts val="600"/>
                  </a:spcBef>
                </a:pPr>
                <a:r>
                  <a:rPr lang="en-US" altLang="zh-CN" sz="1600" b="1" dirty="0"/>
                  <a:t>Strategy 2</a:t>
                </a:r>
                <a:r>
                  <a:rPr lang="en-US" altLang="zh-CN" sz="1600" dirty="0"/>
                  <a:t>: Compute loan </a:t>
                </a:r>
                <a14:m>
                  <m:oMath xmlns:m="http://schemas.openxmlformats.org/officeDocument/2006/math">
                    <m:r>
                      <a:rPr lang="en-US" altLang="zh-CN" sz="1600" i="1">
                        <a:latin typeface="Cambria Math" panose="02040503050406030204" pitchFamily="18" charset="0"/>
                        <a:ea typeface="Cambria Math" panose="02040503050406030204" pitchFamily="18" charset="0"/>
                      </a:rPr>
                      <m:t>⋈</m:t>
                    </m:r>
                  </m:oMath>
                </a14:m>
                <a:r>
                  <a:rPr lang="en-US" altLang="zh-CN" sz="1600" dirty="0"/>
                  <a:t> depositor first, and then join the result with customer.</a:t>
                </a:r>
              </a:p>
              <a:p>
                <a:pPr lvl="1">
                  <a:spcBef>
                    <a:spcPts val="600"/>
                  </a:spcBef>
                </a:pPr>
                <a:r>
                  <a:rPr lang="en-US" altLang="zh-CN" sz="1600" b="1" dirty="0"/>
                  <a:t>Strategy 3</a:t>
                </a:r>
                <a:r>
                  <a:rPr lang="en-US" altLang="zh-CN" sz="1600" dirty="0"/>
                  <a:t>: Perform the pair of joins at once. Build an index on </a:t>
                </a:r>
                <a:r>
                  <a:rPr lang="en-US" altLang="zh-CN" sz="1600" dirty="0">
                    <a:solidFill>
                      <a:srgbClr val="C00000"/>
                    </a:solidFill>
                  </a:rPr>
                  <a:t>loan</a:t>
                </a:r>
                <a:r>
                  <a:rPr lang="en-US" altLang="zh-CN" sz="1600" dirty="0"/>
                  <a:t> for loan-number, and on </a:t>
                </a:r>
                <a:r>
                  <a:rPr lang="en-US" altLang="zh-CN" sz="1600" dirty="0">
                    <a:solidFill>
                      <a:srgbClr val="C00000"/>
                    </a:solidFill>
                  </a:rPr>
                  <a:t>customer</a:t>
                </a:r>
                <a:r>
                  <a:rPr lang="en-US" altLang="zh-CN" sz="1600" dirty="0"/>
                  <a:t> for customer-name.</a:t>
                </a:r>
              </a:p>
              <a:p>
                <a:pPr lvl="2">
                  <a:spcBef>
                    <a:spcPts val="600"/>
                  </a:spcBef>
                </a:pPr>
                <a:r>
                  <a:rPr lang="en-US" altLang="zh-CN" sz="1400" dirty="0"/>
                  <a:t>For each tuple </a:t>
                </a:r>
                <a14:m>
                  <m:oMath xmlns:m="http://schemas.openxmlformats.org/officeDocument/2006/math">
                    <m:r>
                      <a:rPr lang="en-US" altLang="zh-CN" sz="1400" i="1" dirty="0" smtClean="0">
                        <a:latin typeface="Cambria Math" panose="02040503050406030204" pitchFamily="18" charset="0"/>
                      </a:rPr>
                      <m:t>𝑡</m:t>
                    </m:r>
                    <m:r>
                      <a:rPr lang="en-US" altLang="zh-CN" sz="1400" i="1" dirty="0" smtClean="0">
                        <a:latin typeface="Cambria Math" panose="02040503050406030204" pitchFamily="18" charset="0"/>
                      </a:rPr>
                      <m:t> </m:t>
                    </m:r>
                  </m:oMath>
                </a14:m>
                <a:r>
                  <a:rPr lang="en-US" altLang="zh-CN" sz="1400" dirty="0"/>
                  <a:t>in depositor, look up the corresponding tuples in customer and the corresponding tuples in loan.</a:t>
                </a:r>
              </a:p>
              <a:p>
                <a:pPr lvl="2">
                  <a:spcBef>
                    <a:spcPts val="600"/>
                  </a:spcBef>
                </a:pPr>
                <a:r>
                  <a:rPr lang="en-US" altLang="zh-CN" sz="1400" dirty="0"/>
                  <a:t>Each tuple of depositor is examined exactly once</a:t>
                </a:r>
              </a:p>
              <a:p>
                <a:pPr lvl="2">
                  <a:spcBef>
                    <a:spcPts val="600"/>
                  </a:spcBef>
                </a:pPr>
                <a:r>
                  <a:rPr lang="en-US" altLang="zh-CN" sz="1400" dirty="0"/>
                  <a:t>Strategy 3 combines two operations into one special-purpose operation that is more efficient than implementing two joins of two relations.</a:t>
                </a:r>
              </a:p>
              <a:p>
                <a:pPr>
                  <a:spcBef>
                    <a:spcPts val="600"/>
                  </a:spcBef>
                </a:pPr>
                <a:endParaRPr lang="zh-CN" altLang="en-US" sz="1600" dirty="0"/>
              </a:p>
            </p:txBody>
          </p:sp>
        </mc:Choice>
        <mc:Fallback xmlns="">
          <p:sp>
            <p:nvSpPr>
              <p:cNvPr id="3" name="内容占位符 2">
                <a:extLst>
                  <a:ext uri="{FF2B5EF4-FFF2-40B4-BE49-F238E27FC236}">
                    <a16:creationId xmlns:a16="http://schemas.microsoft.com/office/drawing/2014/main" id="{D2D3A3CD-2ECA-47C7-B177-664C9C550754}"/>
                  </a:ext>
                </a:extLst>
              </p:cNvPr>
              <p:cNvSpPr>
                <a:spLocks noGrp="1" noRot="1" noChangeAspect="1" noMove="1" noResize="1" noEditPoints="1" noAdjustHandles="1" noChangeArrowheads="1" noChangeShapeType="1" noTextEdit="1"/>
              </p:cNvSpPr>
              <p:nvPr>
                <p:ph idx="1"/>
              </p:nvPr>
            </p:nvSpPr>
            <p:spPr>
              <a:blipFill>
                <a:blip r:embed="rId2"/>
                <a:stretch>
                  <a:fillRect l="-427" t="-962" r="-10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05381754"/>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87524" y="843558"/>
            <a:ext cx="8568952" cy="3805070"/>
          </a:xfrm>
        </p:spPr>
        <p:txBody>
          <a:bodyPr/>
          <a:lstStyle/>
          <a:p>
            <a:pPr>
              <a:spcBef>
                <a:spcPts val="600"/>
              </a:spcBef>
            </a:pPr>
            <a:r>
              <a:rPr lang="en-US" altLang="zh-CN" dirty="0"/>
              <a:t>Overview </a:t>
            </a:r>
          </a:p>
          <a:p>
            <a:pPr>
              <a:spcBef>
                <a:spcPts val="600"/>
              </a:spcBef>
            </a:pPr>
            <a:r>
              <a:rPr lang="en-US" altLang="zh-CN" dirty="0"/>
              <a:t>Measures of Query Cost</a:t>
            </a:r>
          </a:p>
          <a:p>
            <a:pPr>
              <a:spcBef>
                <a:spcPts val="600"/>
              </a:spcBef>
            </a:pPr>
            <a:r>
              <a:rPr lang="en-US" altLang="zh-CN" dirty="0"/>
              <a:t>Selection Operation </a:t>
            </a:r>
          </a:p>
          <a:p>
            <a:pPr>
              <a:spcBef>
                <a:spcPts val="600"/>
              </a:spcBef>
            </a:pPr>
            <a:r>
              <a:rPr lang="en-US" altLang="zh-CN" dirty="0"/>
              <a:t>Sorting </a:t>
            </a:r>
          </a:p>
          <a:p>
            <a:pPr>
              <a:spcBef>
                <a:spcPts val="600"/>
              </a:spcBef>
            </a:pPr>
            <a:r>
              <a:rPr lang="en-US" altLang="zh-CN" dirty="0"/>
              <a:t>Join Operation </a:t>
            </a:r>
          </a:p>
          <a:p>
            <a:pPr>
              <a:spcBef>
                <a:spcPts val="600"/>
              </a:spcBef>
            </a:pPr>
            <a:r>
              <a:rPr lang="en-US" altLang="zh-CN" b="1" dirty="0">
                <a:solidFill>
                  <a:srgbClr val="C00000"/>
                </a:solidFill>
              </a:rPr>
              <a:t>Other Operations</a:t>
            </a:r>
          </a:p>
          <a:p>
            <a:pPr>
              <a:spcBef>
                <a:spcPts val="600"/>
              </a:spcBef>
            </a:pPr>
            <a:r>
              <a:rPr lang="en-US" altLang="zh-CN" dirty="0"/>
              <a:t>Evaluation of Expressions</a:t>
            </a:r>
          </a:p>
        </p:txBody>
      </p:sp>
    </p:spTree>
    <p:extLst>
      <p:ext uri="{BB962C8B-B14F-4D97-AF65-F5344CB8AC3E}">
        <p14:creationId xmlns:p14="http://schemas.microsoft.com/office/powerpoint/2010/main" val="2413278373"/>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BB0FAA-CA55-4BBA-B852-29D770537466}"/>
              </a:ext>
            </a:extLst>
          </p:cNvPr>
          <p:cNvSpPr>
            <a:spLocks noGrp="1"/>
          </p:cNvSpPr>
          <p:nvPr>
            <p:ph type="title"/>
          </p:nvPr>
        </p:nvSpPr>
        <p:spPr/>
        <p:txBody>
          <a:bodyPr/>
          <a:lstStyle/>
          <a:p>
            <a:pPr algn="ctr"/>
            <a:r>
              <a:rPr lang="en-US" altLang="zh-CN" dirty="0"/>
              <a:t>Duplicate Elimination &amp; Projection </a:t>
            </a:r>
            <a:endParaRPr lang="zh-CN" altLang="en-US" dirty="0"/>
          </a:p>
        </p:txBody>
      </p:sp>
      <p:sp>
        <p:nvSpPr>
          <p:cNvPr id="3" name="内容占位符 2">
            <a:extLst>
              <a:ext uri="{FF2B5EF4-FFF2-40B4-BE49-F238E27FC236}">
                <a16:creationId xmlns:a16="http://schemas.microsoft.com/office/drawing/2014/main" id="{019BC11B-6BD3-439C-803C-806D88BD6BF3}"/>
              </a:ext>
            </a:extLst>
          </p:cNvPr>
          <p:cNvSpPr>
            <a:spLocks noGrp="1"/>
          </p:cNvSpPr>
          <p:nvPr>
            <p:ph idx="1"/>
          </p:nvPr>
        </p:nvSpPr>
        <p:spPr/>
        <p:txBody>
          <a:bodyPr/>
          <a:lstStyle/>
          <a:p>
            <a:pPr>
              <a:spcBef>
                <a:spcPts val="600"/>
              </a:spcBef>
            </a:pPr>
            <a:r>
              <a:rPr lang="en-US" altLang="zh-CN" sz="1800" b="1" dirty="0">
                <a:solidFill>
                  <a:srgbClr val="C00000"/>
                </a:solidFill>
              </a:rPr>
              <a:t>Duplicate elimination </a:t>
            </a:r>
            <a:r>
              <a:rPr lang="en-US" altLang="zh-CN" sz="1800" dirty="0"/>
              <a:t>can be implemented via hashing or sorting</a:t>
            </a:r>
          </a:p>
          <a:p>
            <a:pPr lvl="1">
              <a:spcBef>
                <a:spcPts val="600"/>
              </a:spcBef>
            </a:pPr>
            <a:r>
              <a:rPr lang="en-US" altLang="zh-CN" sz="1600" dirty="0"/>
              <a:t>On sorting duplicates will come adjacent to each other, and all but one copy of duplicates can be deleted</a:t>
            </a:r>
          </a:p>
          <a:p>
            <a:pPr lvl="1">
              <a:spcBef>
                <a:spcPts val="600"/>
              </a:spcBef>
            </a:pPr>
            <a:r>
              <a:rPr lang="en-US" altLang="zh-CN" sz="1600" b="1" dirty="0">
                <a:solidFill>
                  <a:srgbClr val="C00000"/>
                </a:solidFill>
              </a:rPr>
              <a:t>Optimization</a:t>
            </a:r>
            <a:r>
              <a:rPr lang="en-US" altLang="zh-CN" sz="1600" dirty="0"/>
              <a:t>: duplicates can be deleted during run generation as well as at intermediate merge steps in external sort-merge</a:t>
            </a:r>
          </a:p>
          <a:p>
            <a:pPr lvl="1">
              <a:spcBef>
                <a:spcPts val="600"/>
              </a:spcBef>
            </a:pPr>
            <a:r>
              <a:rPr lang="en-US" altLang="zh-CN" sz="1600" dirty="0"/>
              <a:t>Hashing is similar – duplicates will come into the same bucket</a:t>
            </a:r>
          </a:p>
          <a:p>
            <a:pPr>
              <a:spcBef>
                <a:spcPts val="600"/>
              </a:spcBef>
            </a:pPr>
            <a:r>
              <a:rPr lang="en-US" altLang="zh-CN" sz="1800" b="1" dirty="0">
                <a:solidFill>
                  <a:srgbClr val="C00000"/>
                </a:solidFill>
              </a:rPr>
              <a:t>Projection</a:t>
            </a:r>
            <a:r>
              <a:rPr lang="en-US" altLang="zh-CN" sz="1800" dirty="0"/>
              <a:t> is implemented by performing projection on each tuple followed by duplicate elimination</a:t>
            </a:r>
          </a:p>
          <a:p>
            <a:pPr>
              <a:spcBef>
                <a:spcPts val="600"/>
              </a:spcBef>
            </a:pPr>
            <a:endParaRPr lang="zh-CN" altLang="en-US" sz="1800" dirty="0"/>
          </a:p>
        </p:txBody>
      </p:sp>
    </p:spTree>
    <p:extLst>
      <p:ext uri="{BB962C8B-B14F-4D97-AF65-F5344CB8AC3E}">
        <p14:creationId xmlns:p14="http://schemas.microsoft.com/office/powerpoint/2010/main" val="42385376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 calcmode="lin" valueType="num">
                                      <p:cBhvr additive="base">
                                        <p:cTn id="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97BCC1-A626-4CD9-8FED-A44DB54FC80C}"/>
              </a:ext>
            </a:extLst>
          </p:cNvPr>
          <p:cNvSpPr>
            <a:spLocks noGrp="1"/>
          </p:cNvSpPr>
          <p:nvPr>
            <p:ph type="title"/>
          </p:nvPr>
        </p:nvSpPr>
        <p:spPr/>
        <p:txBody>
          <a:bodyPr/>
          <a:lstStyle/>
          <a:p>
            <a:pPr algn="ctr"/>
            <a:r>
              <a:rPr lang="en-US" altLang="zh-CN" dirty="0"/>
              <a:t>Aggregation</a:t>
            </a:r>
            <a:endParaRPr lang="zh-CN" altLang="en-US" dirty="0"/>
          </a:p>
        </p:txBody>
      </p:sp>
      <p:sp>
        <p:nvSpPr>
          <p:cNvPr id="3" name="内容占位符 2">
            <a:extLst>
              <a:ext uri="{FF2B5EF4-FFF2-40B4-BE49-F238E27FC236}">
                <a16:creationId xmlns:a16="http://schemas.microsoft.com/office/drawing/2014/main" id="{17623DD4-1136-4418-886C-537FF353CBC0}"/>
              </a:ext>
            </a:extLst>
          </p:cNvPr>
          <p:cNvSpPr>
            <a:spLocks noGrp="1"/>
          </p:cNvSpPr>
          <p:nvPr>
            <p:ph idx="1"/>
          </p:nvPr>
        </p:nvSpPr>
        <p:spPr/>
        <p:txBody>
          <a:bodyPr/>
          <a:lstStyle/>
          <a:p>
            <a:r>
              <a:rPr lang="en-US" altLang="zh-CN" sz="2000" b="1" dirty="0"/>
              <a:t>Implemented in a manner similar to duplicate elimination</a:t>
            </a:r>
          </a:p>
          <a:p>
            <a:pPr lvl="1"/>
            <a:r>
              <a:rPr lang="en-US" altLang="zh-CN" sz="1800" dirty="0"/>
              <a:t>Sorting or hashing can be used to bring tuples in the same group together, and then the aggregate functions can be applied on each group</a:t>
            </a:r>
          </a:p>
          <a:p>
            <a:pPr lvl="1"/>
            <a:r>
              <a:rPr lang="en-US" altLang="zh-CN" sz="1800" b="1" dirty="0">
                <a:solidFill>
                  <a:srgbClr val="C00000"/>
                </a:solidFill>
              </a:rPr>
              <a:t>Optimization</a:t>
            </a:r>
            <a:r>
              <a:rPr lang="en-US" altLang="zh-CN" sz="1800" dirty="0"/>
              <a:t>: combine tuples in the same group during run generation and intermediate merges, by computing partial aggregate values</a:t>
            </a:r>
          </a:p>
          <a:p>
            <a:pPr lvl="2"/>
            <a:r>
              <a:rPr lang="en-US" altLang="zh-CN" sz="1600" dirty="0"/>
              <a:t>For count, min, max, sum: keep aggregate values on tuples found so far in the group.  </a:t>
            </a:r>
          </a:p>
          <a:p>
            <a:pPr lvl="2"/>
            <a:r>
              <a:rPr lang="en-US" altLang="zh-CN" sz="1600" dirty="0"/>
              <a:t>For avg, keep sum and count, and divide sum by count at the end</a:t>
            </a:r>
          </a:p>
          <a:p>
            <a:endParaRPr lang="zh-CN" altLang="en-US" sz="2000" dirty="0"/>
          </a:p>
        </p:txBody>
      </p:sp>
    </p:spTree>
    <p:extLst>
      <p:ext uri="{BB962C8B-B14F-4D97-AF65-F5344CB8AC3E}">
        <p14:creationId xmlns:p14="http://schemas.microsoft.com/office/powerpoint/2010/main" val="2157897609"/>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77022C-40EC-4395-B5FC-F9D9839C493E}"/>
              </a:ext>
            </a:extLst>
          </p:cNvPr>
          <p:cNvSpPr>
            <a:spLocks noGrp="1"/>
          </p:cNvSpPr>
          <p:nvPr>
            <p:ph type="title"/>
          </p:nvPr>
        </p:nvSpPr>
        <p:spPr/>
        <p:txBody>
          <a:bodyPr/>
          <a:lstStyle/>
          <a:p>
            <a:pPr algn="ctr"/>
            <a:r>
              <a:rPr lang="en-US" altLang="zh-CN" dirty="0"/>
              <a:t>Set Operations</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E9582711-A391-4C29-A56A-1CCDAB707E3F}"/>
                  </a:ext>
                </a:extLst>
              </p:cNvPr>
              <p:cNvSpPr>
                <a:spLocks noGrp="1"/>
              </p:cNvSpPr>
              <p:nvPr>
                <p:ph idx="1"/>
              </p:nvPr>
            </p:nvSpPr>
            <p:spPr/>
            <p:txBody>
              <a:bodyPr/>
              <a:lstStyle/>
              <a:p>
                <a:r>
                  <a:rPr lang="en-US" altLang="zh-CN" sz="1800" dirty="0"/>
                  <a:t>Set operations (</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oMath>
                </a14:m>
                <a:r>
                  <a:rPr lang="en-US" altLang="zh-CN" sz="1800" dirty="0"/>
                  <a:t>, </a:t>
                </a:r>
                <a14:m>
                  <m:oMath xmlns:m="http://schemas.openxmlformats.org/officeDocument/2006/math">
                    <m:r>
                      <a:rPr lang="en-US" altLang="zh-CN" sz="1800" i="1" smtClean="0">
                        <a:latin typeface="Cambria Math" panose="02040503050406030204" pitchFamily="18" charset="0"/>
                        <a:ea typeface="Cambria Math" panose="02040503050406030204" pitchFamily="18" charset="0"/>
                      </a:rPr>
                      <m:t>∩</m:t>
                    </m:r>
                  </m:oMath>
                </a14:m>
                <a:r>
                  <a:rPr lang="en-US" altLang="zh-CN" sz="1800" dirty="0"/>
                  <a:t> and </a:t>
                </a:r>
                <a14:m>
                  <m:oMath xmlns:m="http://schemas.openxmlformats.org/officeDocument/2006/math">
                    <m:r>
                      <a:rPr lang="en-US" altLang="zh-CN" sz="1800" b="0" i="1" smtClean="0">
                        <a:latin typeface="Cambria Math" panose="02040503050406030204" pitchFamily="18" charset="0"/>
                      </a:rPr>
                      <m:t>−</m:t>
                    </m:r>
                  </m:oMath>
                </a14:m>
                <a:r>
                  <a:rPr lang="en-US" altLang="zh-CN" sz="1800" dirty="0"/>
                  <a:t>):  can either use variant of merge-join after sorting, or variant of hash-join</a:t>
                </a:r>
              </a:p>
              <a:p>
                <a:r>
                  <a:rPr lang="en-US" altLang="zh-CN" sz="1800" dirty="0"/>
                  <a:t>E.g., set operations using hashing</a:t>
                </a:r>
              </a:p>
              <a:p>
                <a:pPr lvl="1"/>
                <a:r>
                  <a:rPr lang="en-US" altLang="zh-CN" sz="1600" dirty="0"/>
                  <a:t>Partition both relations using the same hash function, thereby creating,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𝑟</m:t>
                        </m:r>
                      </m:e>
                      <m:sub>
                        <m:r>
                          <a:rPr lang="en-US" altLang="zh-CN" sz="1600" b="0" i="1" smtClean="0">
                            <a:latin typeface="Cambria Math" panose="02040503050406030204" pitchFamily="18" charset="0"/>
                          </a:rPr>
                          <m:t>1</m:t>
                        </m:r>
                      </m:sub>
                    </m:sSub>
                  </m:oMath>
                </a14:m>
                <a:r>
                  <a:rPr lang="en-US" altLang="zh-CN" sz="1600" dirty="0"/>
                  <a:t>, …,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𝑟</m:t>
                        </m:r>
                      </m:e>
                      <m:sub>
                        <m:r>
                          <a:rPr lang="en-US" altLang="zh-CN" sz="1600" b="0" i="1" smtClean="0">
                            <a:latin typeface="Cambria Math" panose="02040503050406030204" pitchFamily="18" charset="0"/>
                          </a:rPr>
                          <m:t>𝑛</m:t>
                        </m:r>
                      </m:sub>
                    </m:sSub>
                  </m:oMath>
                </a14:m>
                <a:r>
                  <a:rPr lang="en-US" altLang="zh-CN" sz="1600" dirty="0"/>
                  <a:t> and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𝑠</m:t>
                        </m:r>
                      </m:e>
                      <m:sub>
                        <m:r>
                          <a:rPr lang="en-US" altLang="zh-CN" sz="1600" b="0" i="1" smtClean="0">
                            <a:latin typeface="Cambria Math" panose="02040503050406030204" pitchFamily="18" charset="0"/>
                          </a:rPr>
                          <m:t>1</m:t>
                        </m:r>
                      </m:sub>
                    </m:sSub>
                  </m:oMath>
                </a14:m>
                <a:r>
                  <a:rPr lang="en-US" altLang="zh-CN" sz="1600" dirty="0"/>
                  <a:t>,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𝑠</m:t>
                        </m:r>
                      </m:e>
                      <m:sub>
                        <m:r>
                          <a:rPr lang="en-US" altLang="zh-CN" sz="1600" b="0" i="1" smtClean="0">
                            <a:latin typeface="Cambria Math" panose="02040503050406030204" pitchFamily="18" charset="0"/>
                          </a:rPr>
                          <m:t>2</m:t>
                        </m:r>
                      </m:sub>
                    </m:sSub>
                  </m:oMath>
                </a14:m>
                <a:r>
                  <a:rPr lang="en-US" altLang="zh-CN" sz="1600" dirty="0"/>
                  <a:t>,…,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𝑠</m:t>
                        </m:r>
                      </m:e>
                      <m:sub>
                        <m:r>
                          <a:rPr lang="en-US" altLang="zh-CN" sz="1600" b="0" i="1" smtClean="0">
                            <a:latin typeface="Cambria Math" panose="02040503050406030204" pitchFamily="18" charset="0"/>
                          </a:rPr>
                          <m:t>𝑛</m:t>
                        </m:r>
                      </m:sub>
                    </m:sSub>
                  </m:oMath>
                </a14:m>
                <a:r>
                  <a:rPr lang="en-US" altLang="zh-CN" sz="1600" dirty="0"/>
                  <a:t> </a:t>
                </a:r>
              </a:p>
              <a:p>
                <a:pPr lvl="1"/>
                <a:r>
                  <a:rPr lang="en-US" altLang="zh-CN" sz="1600" dirty="0"/>
                  <a:t>Process each partition </a:t>
                </a:r>
                <a14:m>
                  <m:oMath xmlns:m="http://schemas.openxmlformats.org/officeDocument/2006/math">
                    <m:r>
                      <a:rPr lang="en-US" altLang="zh-CN" sz="1600" b="0" i="1" smtClean="0">
                        <a:latin typeface="Cambria Math" panose="02040503050406030204" pitchFamily="18" charset="0"/>
                      </a:rPr>
                      <m:t>𝑖</m:t>
                    </m:r>
                  </m:oMath>
                </a14:m>
                <a:r>
                  <a:rPr lang="en-US" altLang="zh-CN" sz="1600" dirty="0"/>
                  <a:t> as follows. Using a different hashing function to build an in-memory hash index on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𝑟</m:t>
                        </m:r>
                      </m:e>
                      <m:sub>
                        <m:r>
                          <a:rPr lang="en-US" altLang="zh-CN" sz="1600" b="0" i="1" smtClean="0">
                            <a:latin typeface="Cambria Math" panose="02040503050406030204" pitchFamily="18" charset="0"/>
                          </a:rPr>
                          <m:t>𝑖</m:t>
                        </m:r>
                      </m:sub>
                    </m:sSub>
                  </m:oMath>
                </a14:m>
                <a:r>
                  <a:rPr lang="en-US" altLang="zh-CN" sz="1600" dirty="0"/>
                  <a:t> after it is brought into memory</a:t>
                </a:r>
              </a:p>
              <a:p>
                <a:pPr lvl="2"/>
                <a14:m>
                  <m:oMath xmlns:m="http://schemas.openxmlformats.org/officeDocument/2006/math">
                    <m:r>
                      <a:rPr lang="en-US" altLang="zh-CN" sz="1400" b="0" i="1" smtClean="0">
                        <a:solidFill>
                          <a:srgbClr val="C00000"/>
                        </a:solidFill>
                        <a:latin typeface="Cambria Math" panose="02040503050406030204" pitchFamily="18" charset="0"/>
                      </a:rPr>
                      <m:t>𝑟</m:t>
                    </m:r>
                    <m:r>
                      <a:rPr lang="en-US" altLang="zh-CN" sz="1400" b="0" i="1" smtClean="0">
                        <a:solidFill>
                          <a:srgbClr val="C00000"/>
                        </a:solidFill>
                        <a:latin typeface="Cambria Math" panose="02040503050406030204" pitchFamily="18" charset="0"/>
                        <a:ea typeface="Cambria Math" panose="02040503050406030204" pitchFamily="18" charset="0"/>
                      </a:rPr>
                      <m:t>∪</m:t>
                    </m:r>
                    <m:r>
                      <a:rPr lang="en-US" altLang="zh-CN" sz="1400" b="0" i="1" smtClean="0">
                        <a:solidFill>
                          <a:srgbClr val="C00000"/>
                        </a:solidFill>
                        <a:latin typeface="Cambria Math" panose="02040503050406030204" pitchFamily="18" charset="0"/>
                      </a:rPr>
                      <m:t>𝑠</m:t>
                    </m:r>
                  </m:oMath>
                </a14:m>
                <a:r>
                  <a:rPr lang="en-US" altLang="zh-CN" sz="1400" dirty="0"/>
                  <a:t>:  add tuples in </a:t>
                </a:r>
                <a14:m>
                  <m:oMath xmlns:m="http://schemas.openxmlformats.org/officeDocument/2006/math">
                    <m:sSub>
                      <m:sSubPr>
                        <m:ctrlPr>
                          <a:rPr lang="en-US" altLang="zh-CN" sz="1400" i="1" smtClean="0">
                            <a:latin typeface="Cambria Math" panose="02040503050406030204" pitchFamily="18" charset="0"/>
                          </a:rPr>
                        </m:ctrlPr>
                      </m:sSubPr>
                      <m:e>
                        <m:r>
                          <a:rPr lang="en-US" altLang="zh-CN" sz="1400" b="0" i="1" smtClean="0">
                            <a:latin typeface="Cambria Math" panose="02040503050406030204" pitchFamily="18" charset="0"/>
                          </a:rPr>
                          <m:t>𝑠</m:t>
                        </m:r>
                      </m:e>
                      <m:sub>
                        <m:r>
                          <a:rPr lang="en-US" altLang="zh-CN" sz="1400" b="0" i="1" smtClean="0">
                            <a:latin typeface="Cambria Math" panose="02040503050406030204" pitchFamily="18" charset="0"/>
                          </a:rPr>
                          <m:t>𝑖</m:t>
                        </m:r>
                      </m:sub>
                    </m:sSub>
                  </m:oMath>
                </a14:m>
                <a:r>
                  <a:rPr lang="en-US" altLang="zh-CN" sz="1400" dirty="0"/>
                  <a:t> to the hash index if they are not already in it. Finally, add the tuples in the hash index to the result</a:t>
                </a:r>
              </a:p>
              <a:p>
                <a:pPr lvl="2"/>
                <a14:m>
                  <m:oMath xmlns:m="http://schemas.openxmlformats.org/officeDocument/2006/math">
                    <m:r>
                      <a:rPr lang="en-US" altLang="zh-CN" sz="1400" i="1" smtClean="0">
                        <a:solidFill>
                          <a:srgbClr val="C00000"/>
                        </a:solidFill>
                        <a:latin typeface="Cambria Math" panose="02040503050406030204" pitchFamily="18" charset="0"/>
                      </a:rPr>
                      <m:t>𝑟</m:t>
                    </m:r>
                    <m:r>
                      <a:rPr lang="en-US" altLang="zh-CN" sz="1400" i="1" smtClean="0">
                        <a:solidFill>
                          <a:srgbClr val="C00000"/>
                        </a:solidFill>
                        <a:latin typeface="Cambria Math" panose="02040503050406030204" pitchFamily="18" charset="0"/>
                        <a:ea typeface="Cambria Math" panose="02040503050406030204" pitchFamily="18" charset="0"/>
                      </a:rPr>
                      <m:t>∩</m:t>
                    </m:r>
                    <m:r>
                      <a:rPr lang="en-US" altLang="zh-CN" sz="1400" i="1">
                        <a:solidFill>
                          <a:srgbClr val="C00000"/>
                        </a:solidFill>
                        <a:latin typeface="Cambria Math" panose="02040503050406030204" pitchFamily="18" charset="0"/>
                      </a:rPr>
                      <m:t>𝑠</m:t>
                    </m:r>
                  </m:oMath>
                </a14:m>
                <a:r>
                  <a:rPr lang="en-US" altLang="zh-CN" sz="1400" dirty="0"/>
                  <a:t>: output tuples in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i="1">
                            <a:latin typeface="Cambria Math" panose="02040503050406030204" pitchFamily="18" charset="0"/>
                          </a:rPr>
                          <m:t>𝑖</m:t>
                        </m:r>
                      </m:sub>
                    </m:sSub>
                  </m:oMath>
                </a14:m>
                <a:r>
                  <a:rPr lang="en-US" altLang="zh-CN" sz="1400" dirty="0"/>
                  <a:t> to the result if they are already there in the hash index</a:t>
                </a:r>
              </a:p>
              <a:p>
                <a:pPr lvl="2"/>
                <a14:m>
                  <m:oMath xmlns:m="http://schemas.openxmlformats.org/officeDocument/2006/math">
                    <m:r>
                      <a:rPr lang="en-US" altLang="zh-CN" sz="1400" i="1" smtClean="0">
                        <a:solidFill>
                          <a:srgbClr val="C00000"/>
                        </a:solidFill>
                        <a:latin typeface="Cambria Math" panose="02040503050406030204" pitchFamily="18" charset="0"/>
                      </a:rPr>
                      <m:t>𝑟</m:t>
                    </m:r>
                    <m:r>
                      <a:rPr lang="en-US" altLang="zh-CN" sz="1400" b="0" i="1" smtClean="0">
                        <a:solidFill>
                          <a:srgbClr val="C00000"/>
                        </a:solidFill>
                        <a:latin typeface="Cambria Math" panose="02040503050406030204" pitchFamily="18" charset="0"/>
                      </a:rPr>
                      <m:t>−</m:t>
                    </m:r>
                    <m:r>
                      <a:rPr lang="en-US" altLang="zh-CN" sz="1400" i="1">
                        <a:solidFill>
                          <a:srgbClr val="C00000"/>
                        </a:solidFill>
                        <a:latin typeface="Cambria Math" panose="02040503050406030204" pitchFamily="18" charset="0"/>
                      </a:rPr>
                      <m:t>𝑠</m:t>
                    </m:r>
                  </m:oMath>
                </a14:m>
                <a:r>
                  <a:rPr lang="en-US" altLang="zh-CN" sz="1400" dirty="0"/>
                  <a:t>: for each tuple in </a:t>
                </a:r>
                <a14:m>
                  <m:oMath xmlns:m="http://schemas.openxmlformats.org/officeDocument/2006/math">
                    <m:sSub>
                      <m:sSubPr>
                        <m:ctrlPr>
                          <a:rPr lang="en-US" altLang="zh-CN" sz="1400" i="1">
                            <a:latin typeface="Cambria Math" panose="02040503050406030204" pitchFamily="18" charset="0"/>
                          </a:rPr>
                        </m:ctrlPr>
                      </m:sSubPr>
                      <m:e>
                        <m:r>
                          <a:rPr lang="en-US" altLang="zh-CN" sz="1400" i="1">
                            <a:latin typeface="Cambria Math" panose="02040503050406030204" pitchFamily="18" charset="0"/>
                          </a:rPr>
                          <m:t>𝑠</m:t>
                        </m:r>
                      </m:e>
                      <m:sub>
                        <m:r>
                          <a:rPr lang="en-US" altLang="zh-CN" sz="1400" i="1">
                            <a:latin typeface="Cambria Math" panose="02040503050406030204" pitchFamily="18" charset="0"/>
                          </a:rPr>
                          <m:t>𝑖</m:t>
                        </m:r>
                      </m:sub>
                    </m:sSub>
                  </m:oMath>
                </a14:m>
                <a:r>
                  <a:rPr lang="en-US" altLang="zh-CN" sz="1400" dirty="0"/>
                  <a:t>, if it is in the hash index, delete it from the index. Finally, add the remaining tuples in the hash index to the result</a:t>
                </a:r>
              </a:p>
              <a:p>
                <a:endParaRPr lang="zh-CN" altLang="en-US" sz="1800" dirty="0"/>
              </a:p>
            </p:txBody>
          </p:sp>
        </mc:Choice>
        <mc:Fallback xmlns="">
          <p:sp>
            <p:nvSpPr>
              <p:cNvPr id="3" name="内容占位符 2">
                <a:extLst>
                  <a:ext uri="{FF2B5EF4-FFF2-40B4-BE49-F238E27FC236}">
                    <a16:creationId xmlns:a16="http://schemas.microsoft.com/office/drawing/2014/main" id="{E9582711-A391-4C29-A56A-1CCDAB707E3F}"/>
                  </a:ext>
                </a:extLst>
              </p:cNvPr>
              <p:cNvSpPr>
                <a:spLocks noGrp="1" noRot="1" noChangeAspect="1" noMove="1" noResize="1" noEditPoints="1" noAdjustHandles="1" noChangeArrowheads="1" noChangeShapeType="1" noTextEdit="1"/>
              </p:cNvSpPr>
              <p:nvPr>
                <p:ph idx="1"/>
              </p:nvPr>
            </p:nvSpPr>
            <p:spPr>
              <a:blipFill>
                <a:blip r:embed="rId2"/>
                <a:stretch>
                  <a:fillRect l="-427" t="-962" r="-2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49457876"/>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C1352E-D195-42B6-AC11-EDF2104A38A8}"/>
              </a:ext>
            </a:extLst>
          </p:cNvPr>
          <p:cNvSpPr>
            <a:spLocks noGrp="1"/>
          </p:cNvSpPr>
          <p:nvPr>
            <p:ph type="title"/>
          </p:nvPr>
        </p:nvSpPr>
        <p:spPr/>
        <p:txBody>
          <a:bodyPr/>
          <a:lstStyle/>
          <a:p>
            <a:pPr algn="ctr"/>
            <a:r>
              <a:rPr lang="en-US" altLang="zh-CN" dirty="0"/>
              <a:t>Outer Join</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3CDB7A40-A0A2-436B-AD8C-BA0F564A7FC1}"/>
                  </a:ext>
                </a:extLst>
              </p:cNvPr>
              <p:cNvSpPr>
                <a:spLocks noGrp="1"/>
              </p:cNvSpPr>
              <p:nvPr>
                <p:ph idx="1"/>
              </p:nvPr>
            </p:nvSpPr>
            <p:spPr>
              <a:xfrm>
                <a:off x="179512" y="669215"/>
                <a:ext cx="8568952" cy="3805070"/>
              </a:xfrm>
            </p:spPr>
            <p:txBody>
              <a:bodyPr/>
              <a:lstStyle/>
              <a:p>
                <a:pPr>
                  <a:spcBef>
                    <a:spcPts val="600"/>
                  </a:spcBef>
                </a:pPr>
                <a:r>
                  <a:rPr lang="en-US" altLang="zh-CN" sz="2000" dirty="0"/>
                  <a:t>Outer join can be computed either as </a:t>
                </a:r>
              </a:p>
              <a:p>
                <a:pPr lvl="1">
                  <a:spcBef>
                    <a:spcPts val="600"/>
                  </a:spcBef>
                </a:pPr>
                <a:r>
                  <a:rPr lang="en-US" altLang="zh-CN" sz="1600" dirty="0"/>
                  <a:t>A join followed by addition of null-padded non-participating tuples</a:t>
                </a:r>
              </a:p>
              <a:p>
                <a:pPr lvl="1">
                  <a:spcBef>
                    <a:spcPts val="600"/>
                  </a:spcBef>
                </a:pPr>
                <a:r>
                  <a:rPr lang="en-US" altLang="zh-CN" sz="1600" dirty="0"/>
                  <a:t>by modifying the join algorithms</a:t>
                </a:r>
              </a:p>
              <a:p>
                <a:pPr>
                  <a:spcBef>
                    <a:spcPts val="600"/>
                  </a:spcBef>
                </a:pPr>
                <a:r>
                  <a:rPr lang="en-US" altLang="zh-CN" sz="2000" dirty="0"/>
                  <a:t>Modifying merge join to compute </a:t>
                </a:r>
                <a14:m>
                  <m:oMath xmlns:m="http://schemas.openxmlformats.org/officeDocument/2006/math">
                    <m:r>
                      <a:rPr lang="en-US" altLang="zh-CN" sz="2000" b="0" i="1" smtClean="0">
                        <a:latin typeface="Cambria Math" panose="02040503050406030204" pitchFamily="18" charset="0"/>
                      </a:rPr>
                      <m:t>𝑟</m:t>
                    </m:r>
                    <m:r>
                      <a:rPr lang="en-US" altLang="zh-CN" sz="2000" b="0" i="1" smtClean="0">
                        <a:latin typeface="Cambria Math" panose="02040503050406030204" pitchFamily="18" charset="0"/>
                      </a:rPr>
                      <m:t>       </m:t>
                    </m:r>
                    <m:r>
                      <a:rPr lang="en-US" altLang="zh-CN" sz="2000" b="0" i="1" smtClean="0">
                        <a:latin typeface="Cambria Math" panose="02040503050406030204" pitchFamily="18" charset="0"/>
                      </a:rPr>
                      <m:t>𝑠</m:t>
                    </m:r>
                  </m:oMath>
                </a14:m>
                <a:endParaRPr lang="en-US" altLang="zh-CN" sz="2000" dirty="0"/>
              </a:p>
              <a:p>
                <a:pPr lvl="1">
                  <a:spcBef>
                    <a:spcPts val="600"/>
                  </a:spcBef>
                </a:pPr>
                <a:r>
                  <a:rPr lang="en-US" altLang="zh-CN" sz="1600" dirty="0"/>
                  <a:t>In </a:t>
                </a:r>
                <a14:m>
                  <m:oMath xmlns:m="http://schemas.openxmlformats.org/officeDocument/2006/math">
                    <m:r>
                      <a:rPr lang="en-US" altLang="zh-CN" sz="1600" b="0" i="1" smtClean="0">
                        <a:latin typeface="Cambria Math" panose="02040503050406030204" pitchFamily="18" charset="0"/>
                      </a:rPr>
                      <m:t>𝑟</m:t>
                    </m:r>
                    <m:r>
                      <a:rPr lang="en-US" altLang="zh-CN" sz="1600" b="0" i="1" smtClean="0">
                        <a:latin typeface="Cambria Math" panose="02040503050406030204" pitchFamily="18" charset="0"/>
                      </a:rPr>
                      <m:t>         </m:t>
                    </m:r>
                    <m:r>
                      <a:rPr lang="en-US" altLang="zh-CN" sz="1600" b="0" i="1" smtClean="0">
                        <a:latin typeface="Cambria Math" panose="02040503050406030204" pitchFamily="18" charset="0"/>
                      </a:rPr>
                      <m:t>𝑠</m:t>
                    </m:r>
                  </m:oMath>
                </a14:m>
                <a:r>
                  <a:rPr lang="en-US" altLang="zh-CN" sz="1600" dirty="0"/>
                  <a:t>, non participating tuples are those in </a:t>
                </a:r>
                <a14:m>
                  <m:oMath xmlns:m="http://schemas.openxmlformats.org/officeDocument/2006/math">
                    <m:r>
                      <a:rPr lang="en-US" altLang="zh-CN" sz="1600" b="0" i="1" smtClean="0">
                        <a:latin typeface="Cambria Math" panose="02040503050406030204" pitchFamily="18" charset="0"/>
                      </a:rPr>
                      <m:t>𝑟</m:t>
                    </m:r>
                    <m:r>
                      <a:rPr lang="en-US" altLang="zh-CN" sz="1600" b="0" i="1" smtClean="0">
                        <a:latin typeface="Cambria Math" panose="02040503050406030204" pitchFamily="18" charset="0"/>
                      </a:rPr>
                      <m:t>−</m:t>
                    </m:r>
                    <m:sSub>
                      <m:sSubPr>
                        <m:ctrlPr>
                          <a:rPr lang="en-US" altLang="zh-CN" sz="1600" b="0" i="1" smtClean="0">
                            <a:latin typeface="Cambria Math" panose="02040503050406030204" pitchFamily="18" charset="0"/>
                          </a:rPr>
                        </m:ctrlPr>
                      </m:sSubPr>
                      <m:e>
                        <m:r>
                          <m:rPr>
                            <m:sty m:val="p"/>
                          </m:rPr>
                          <a:rPr lang="el-GR" altLang="zh-CN" sz="1600" b="0" i="1" smtClean="0">
                            <a:latin typeface="Cambria Math" panose="02040503050406030204" pitchFamily="18" charset="0"/>
                            <a:ea typeface="Cambria Math" panose="02040503050406030204" pitchFamily="18" charset="0"/>
                          </a:rPr>
                          <m:t>Π</m:t>
                        </m:r>
                      </m:e>
                      <m:sub>
                        <m:r>
                          <a:rPr lang="en-US" altLang="zh-CN" sz="1600" b="0" i="1" smtClean="0">
                            <a:latin typeface="Cambria Math" panose="02040503050406030204" pitchFamily="18" charset="0"/>
                          </a:rPr>
                          <m:t>𝑅</m:t>
                        </m:r>
                      </m:sub>
                    </m:sSub>
                    <m:r>
                      <a:rPr lang="en-US" altLang="zh-CN" sz="1600" b="0" i="1" smtClean="0">
                        <a:latin typeface="Cambria Math" panose="02040503050406030204" pitchFamily="18" charset="0"/>
                      </a:rPr>
                      <m:t>(</m:t>
                    </m:r>
                    <m:r>
                      <a:rPr lang="en-US" altLang="zh-CN" sz="1600" b="0" i="1" smtClean="0">
                        <a:latin typeface="Cambria Math" panose="02040503050406030204" pitchFamily="18" charset="0"/>
                      </a:rPr>
                      <m:t>𝑟</m:t>
                    </m:r>
                    <m:r>
                      <a:rPr lang="en-US" altLang="zh-CN" sz="1600" b="0" i="1" smtClean="0">
                        <a:latin typeface="Cambria Math" panose="02040503050406030204" pitchFamily="18" charset="0"/>
                        <a:ea typeface="Cambria Math" panose="02040503050406030204" pitchFamily="18" charset="0"/>
                      </a:rPr>
                      <m:t>⋈</m:t>
                    </m:r>
                    <m:r>
                      <a:rPr lang="en-US" altLang="zh-CN" sz="1600" b="0" i="1" smtClean="0">
                        <a:latin typeface="Cambria Math" panose="02040503050406030204" pitchFamily="18" charset="0"/>
                      </a:rPr>
                      <m:t>𝑠</m:t>
                    </m:r>
                    <m:r>
                      <a:rPr lang="en-US" altLang="zh-CN" sz="1600" b="0" i="1" smtClean="0">
                        <a:latin typeface="Cambria Math" panose="02040503050406030204" pitchFamily="18" charset="0"/>
                      </a:rPr>
                      <m:t>)</m:t>
                    </m:r>
                  </m:oMath>
                </a14:m>
                <a:endParaRPr lang="en-US" altLang="zh-CN" sz="1600" dirty="0"/>
              </a:p>
              <a:p>
                <a:pPr lvl="1">
                  <a:spcBef>
                    <a:spcPts val="600"/>
                  </a:spcBef>
                </a:pPr>
                <a:r>
                  <a:rPr lang="en-US" altLang="zh-CN" sz="1600" dirty="0"/>
                  <a:t>Modify merge-join to compute </a:t>
                </a:r>
                <a14:m>
                  <m:oMath xmlns:m="http://schemas.openxmlformats.org/officeDocument/2006/math">
                    <m:r>
                      <a:rPr lang="en-US" altLang="zh-CN" sz="1600" i="1">
                        <a:latin typeface="Cambria Math" panose="02040503050406030204" pitchFamily="18" charset="0"/>
                      </a:rPr>
                      <m:t>𝑟</m:t>
                    </m:r>
                    <m:r>
                      <a:rPr lang="en-US" altLang="zh-CN" sz="1600" i="1">
                        <a:latin typeface="Cambria Math" panose="02040503050406030204" pitchFamily="18" charset="0"/>
                      </a:rPr>
                      <m:t>         </m:t>
                    </m:r>
                    <m:r>
                      <a:rPr lang="en-US" altLang="zh-CN" sz="1600" i="1">
                        <a:latin typeface="Cambria Math" panose="02040503050406030204" pitchFamily="18" charset="0"/>
                      </a:rPr>
                      <m:t>𝑠</m:t>
                    </m:r>
                  </m:oMath>
                </a14:m>
                <a:r>
                  <a:rPr lang="en-US" altLang="zh-CN" sz="1600" dirty="0"/>
                  <a:t>:  During merging, for every tuple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𝑟</m:t>
                        </m:r>
                      </m:sub>
                    </m:sSub>
                  </m:oMath>
                </a14:m>
                <a:r>
                  <a:rPr lang="en-US" altLang="zh-CN" sz="1600" dirty="0"/>
                  <a:t> from </a:t>
                </a:r>
                <a14:m>
                  <m:oMath xmlns:m="http://schemas.openxmlformats.org/officeDocument/2006/math">
                    <m:r>
                      <a:rPr lang="en-US" altLang="zh-CN" sz="1600" b="0" i="1" smtClean="0">
                        <a:latin typeface="Cambria Math" panose="02040503050406030204" pitchFamily="18" charset="0"/>
                      </a:rPr>
                      <m:t>𝑟</m:t>
                    </m:r>
                  </m:oMath>
                </a14:m>
                <a:r>
                  <a:rPr lang="en-US" altLang="zh-CN" sz="1600" dirty="0"/>
                  <a:t> that do not match any tuple in </a:t>
                </a:r>
                <a14:m>
                  <m:oMath xmlns:m="http://schemas.openxmlformats.org/officeDocument/2006/math">
                    <m:r>
                      <a:rPr lang="en-US" altLang="zh-CN" sz="1600" b="0" i="1" smtClean="0">
                        <a:latin typeface="Cambria Math" panose="02040503050406030204" pitchFamily="18" charset="0"/>
                      </a:rPr>
                      <m:t>𝑠</m:t>
                    </m:r>
                  </m:oMath>
                </a14:m>
                <a:r>
                  <a:rPr lang="en-US" altLang="zh-CN" sz="1600" dirty="0"/>
                  <a:t>, output </a:t>
                </a:r>
                <a14:m>
                  <m:oMath xmlns:m="http://schemas.openxmlformats.org/officeDocument/2006/math">
                    <m:sSub>
                      <m:sSubPr>
                        <m:ctrlPr>
                          <a:rPr lang="en-US" altLang="zh-CN" sz="1600" i="1" smtClean="0">
                            <a:latin typeface="Cambria Math" panose="02040503050406030204" pitchFamily="18" charset="0"/>
                          </a:rPr>
                        </m:ctrlPr>
                      </m:sSubPr>
                      <m:e>
                        <m:r>
                          <a:rPr lang="en-US" altLang="zh-CN" sz="1600" b="0" i="1" smtClean="0">
                            <a:latin typeface="Cambria Math" panose="02040503050406030204" pitchFamily="18" charset="0"/>
                          </a:rPr>
                          <m:t>𝑡</m:t>
                        </m:r>
                      </m:e>
                      <m:sub>
                        <m:r>
                          <a:rPr lang="en-US" altLang="zh-CN" sz="1600" b="0" i="1" smtClean="0">
                            <a:latin typeface="Cambria Math" panose="02040503050406030204" pitchFamily="18" charset="0"/>
                          </a:rPr>
                          <m:t>𝑟</m:t>
                        </m:r>
                      </m:sub>
                    </m:sSub>
                  </m:oMath>
                </a14:m>
                <a:r>
                  <a:rPr lang="en-US" altLang="zh-CN" sz="1600" dirty="0"/>
                  <a:t> padded with nulls</a:t>
                </a:r>
              </a:p>
              <a:p>
                <a:pPr lvl="1">
                  <a:spcBef>
                    <a:spcPts val="600"/>
                  </a:spcBef>
                </a:pPr>
                <a:r>
                  <a:rPr lang="en-US" altLang="zh-CN" sz="1600" dirty="0"/>
                  <a:t>Right outer-join and full outer-join can be computed similarly</a:t>
                </a:r>
              </a:p>
              <a:p>
                <a:pPr>
                  <a:spcBef>
                    <a:spcPts val="600"/>
                  </a:spcBef>
                </a:pPr>
                <a:endParaRPr lang="zh-CN" altLang="en-US" sz="2000" dirty="0"/>
              </a:p>
            </p:txBody>
          </p:sp>
        </mc:Choice>
        <mc:Fallback xmlns="">
          <p:sp>
            <p:nvSpPr>
              <p:cNvPr id="3" name="内容占位符 2">
                <a:extLst>
                  <a:ext uri="{FF2B5EF4-FFF2-40B4-BE49-F238E27FC236}">
                    <a16:creationId xmlns:a16="http://schemas.microsoft.com/office/drawing/2014/main" id="{3CDB7A40-A0A2-436B-AD8C-BA0F564A7FC1}"/>
                  </a:ext>
                </a:extLst>
              </p:cNvPr>
              <p:cNvSpPr>
                <a:spLocks noGrp="1" noRot="1" noChangeAspect="1" noMove="1" noResize="1" noEditPoints="1" noAdjustHandles="1" noChangeArrowheads="1" noChangeShapeType="1" noTextEdit="1"/>
              </p:cNvSpPr>
              <p:nvPr>
                <p:ph idx="1"/>
              </p:nvPr>
            </p:nvSpPr>
            <p:spPr>
              <a:xfrm>
                <a:off x="179512" y="669215"/>
                <a:ext cx="8568952" cy="3805070"/>
              </a:xfrm>
              <a:blipFill>
                <a:blip r:embed="rId2"/>
                <a:stretch>
                  <a:fillRect l="-640" t="-801"/>
                </a:stretch>
              </a:blipFill>
            </p:spPr>
            <p:txBody>
              <a:bodyPr/>
              <a:lstStyle/>
              <a:p>
                <a:r>
                  <a:rPr lang="zh-CN" altLang="en-US">
                    <a:noFill/>
                  </a:rPr>
                  <a:t> </a:t>
                </a:r>
              </a:p>
            </p:txBody>
          </p:sp>
        </mc:Fallback>
      </mc:AlternateContent>
      <p:grpSp>
        <p:nvGrpSpPr>
          <p:cNvPr id="5" name="Group 25">
            <a:extLst>
              <a:ext uri="{FF2B5EF4-FFF2-40B4-BE49-F238E27FC236}">
                <a16:creationId xmlns:a16="http://schemas.microsoft.com/office/drawing/2014/main" id="{F6065C61-B024-4C71-81A0-4483E08E7412}"/>
              </a:ext>
            </a:extLst>
          </p:cNvPr>
          <p:cNvGrpSpPr>
            <a:grpSpLocks/>
          </p:cNvGrpSpPr>
          <p:nvPr/>
        </p:nvGrpSpPr>
        <p:grpSpPr bwMode="auto">
          <a:xfrm>
            <a:off x="4488631" y="1851670"/>
            <a:ext cx="310754" cy="157163"/>
            <a:chOff x="1253" y="1795"/>
            <a:chExt cx="261" cy="132"/>
          </a:xfrm>
        </p:grpSpPr>
        <p:sp>
          <p:nvSpPr>
            <p:cNvPr id="6" name="AutoShape 26">
              <a:extLst>
                <a:ext uri="{FF2B5EF4-FFF2-40B4-BE49-F238E27FC236}">
                  <a16:creationId xmlns:a16="http://schemas.microsoft.com/office/drawing/2014/main" id="{F201AF9E-A924-4A44-9CC2-59A85F02D25F}"/>
                </a:ext>
              </a:extLst>
            </p:cNvPr>
            <p:cNvSpPr>
              <a:spLocks noChangeArrowheads="1"/>
            </p:cNvSpPr>
            <p:nvPr/>
          </p:nvSpPr>
          <p:spPr bwMode="auto">
            <a:xfrm rot="16200000" flipV="1">
              <a:off x="1382" y="1795"/>
              <a:ext cx="132" cy="132"/>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None/>
              </a:pPr>
              <a:endParaRPr kumimoji="0" lang="zh-CN" altLang="en-US" sz="1350" i="1">
                <a:solidFill>
                  <a:srgbClr val="000000"/>
                </a:solidFill>
                <a:latin typeface="Helvetica" panose="020B0604020202020204" pitchFamily="34" charset="0"/>
                <a:ea typeface="宋体" panose="02010600030101010101" pitchFamily="2" charset="-122"/>
              </a:endParaRPr>
            </a:p>
          </p:txBody>
        </p:sp>
        <p:sp>
          <p:nvSpPr>
            <p:cNvPr id="7" name="Line 27">
              <a:extLst>
                <a:ext uri="{FF2B5EF4-FFF2-40B4-BE49-F238E27FC236}">
                  <a16:creationId xmlns:a16="http://schemas.microsoft.com/office/drawing/2014/main" id="{861BA2FA-337F-4A9E-AFB9-BEEB30A88BBD}"/>
                </a:ext>
              </a:extLst>
            </p:cNvPr>
            <p:cNvSpPr>
              <a:spLocks noChangeShapeType="1"/>
            </p:cNvSpPr>
            <p:nvPr/>
          </p:nvSpPr>
          <p:spPr bwMode="auto">
            <a:xfrm flipH="1">
              <a:off x="1256" y="1797"/>
              <a:ext cx="1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0" hangingPunct="0">
                <a:spcBef>
                  <a:spcPct val="0"/>
                </a:spcBef>
              </a:pPr>
              <a:endParaRPr lang="zh-CN" altLang="en-US" sz="1350" i="1">
                <a:solidFill>
                  <a:srgbClr val="000000"/>
                </a:solidFill>
                <a:latin typeface="Helvetica" panose="020B0604020202020204" pitchFamily="34" charset="0"/>
                <a:ea typeface="+mn-ea"/>
              </a:endParaRPr>
            </a:p>
          </p:txBody>
        </p:sp>
        <p:sp>
          <p:nvSpPr>
            <p:cNvPr id="8" name="Line 28">
              <a:extLst>
                <a:ext uri="{FF2B5EF4-FFF2-40B4-BE49-F238E27FC236}">
                  <a16:creationId xmlns:a16="http://schemas.microsoft.com/office/drawing/2014/main" id="{C94109C2-7D45-45D5-9AE5-EDC90AB9E1DD}"/>
                </a:ext>
              </a:extLst>
            </p:cNvPr>
            <p:cNvSpPr>
              <a:spLocks noChangeShapeType="1"/>
            </p:cNvSpPr>
            <p:nvPr/>
          </p:nvSpPr>
          <p:spPr bwMode="auto">
            <a:xfrm flipH="1">
              <a:off x="1253" y="1920"/>
              <a:ext cx="1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0" hangingPunct="0">
                <a:spcBef>
                  <a:spcPct val="0"/>
                </a:spcBef>
              </a:pPr>
              <a:endParaRPr lang="zh-CN" altLang="en-US" sz="1350" i="1">
                <a:solidFill>
                  <a:srgbClr val="000000"/>
                </a:solidFill>
                <a:latin typeface="Helvetica" panose="020B0604020202020204" pitchFamily="34" charset="0"/>
                <a:ea typeface="+mn-ea"/>
              </a:endParaRPr>
            </a:p>
          </p:txBody>
        </p:sp>
      </p:grpSp>
      <p:grpSp>
        <p:nvGrpSpPr>
          <p:cNvPr id="9" name="Group 25">
            <a:extLst>
              <a:ext uri="{FF2B5EF4-FFF2-40B4-BE49-F238E27FC236}">
                <a16:creationId xmlns:a16="http://schemas.microsoft.com/office/drawing/2014/main" id="{6203F5FC-B1E9-4237-9F3B-D7F9C31799E7}"/>
              </a:ext>
            </a:extLst>
          </p:cNvPr>
          <p:cNvGrpSpPr>
            <a:grpSpLocks/>
          </p:cNvGrpSpPr>
          <p:nvPr/>
        </p:nvGrpSpPr>
        <p:grpSpPr bwMode="auto">
          <a:xfrm>
            <a:off x="1380926" y="2198563"/>
            <a:ext cx="310754" cy="157163"/>
            <a:chOff x="1253" y="1795"/>
            <a:chExt cx="261" cy="132"/>
          </a:xfrm>
        </p:grpSpPr>
        <p:sp>
          <p:nvSpPr>
            <p:cNvPr id="10" name="AutoShape 26">
              <a:extLst>
                <a:ext uri="{FF2B5EF4-FFF2-40B4-BE49-F238E27FC236}">
                  <a16:creationId xmlns:a16="http://schemas.microsoft.com/office/drawing/2014/main" id="{C95AB74C-9CE1-4BEA-A398-C5F0E77E490A}"/>
                </a:ext>
              </a:extLst>
            </p:cNvPr>
            <p:cNvSpPr>
              <a:spLocks noChangeArrowheads="1"/>
            </p:cNvSpPr>
            <p:nvPr/>
          </p:nvSpPr>
          <p:spPr bwMode="auto">
            <a:xfrm rot="16200000" flipV="1">
              <a:off x="1382" y="1795"/>
              <a:ext cx="132" cy="132"/>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None/>
              </a:pPr>
              <a:endParaRPr kumimoji="0" lang="zh-CN" altLang="en-US" sz="1050" i="1">
                <a:solidFill>
                  <a:srgbClr val="000000"/>
                </a:solidFill>
                <a:latin typeface="Helvetica" panose="020B0604020202020204" pitchFamily="34" charset="0"/>
                <a:ea typeface="宋体" panose="02010600030101010101" pitchFamily="2" charset="-122"/>
              </a:endParaRPr>
            </a:p>
          </p:txBody>
        </p:sp>
        <p:sp>
          <p:nvSpPr>
            <p:cNvPr id="11" name="Line 27">
              <a:extLst>
                <a:ext uri="{FF2B5EF4-FFF2-40B4-BE49-F238E27FC236}">
                  <a16:creationId xmlns:a16="http://schemas.microsoft.com/office/drawing/2014/main" id="{42A7671E-8D1C-4179-AF8C-04F5D6B5757C}"/>
                </a:ext>
              </a:extLst>
            </p:cNvPr>
            <p:cNvSpPr>
              <a:spLocks noChangeShapeType="1"/>
            </p:cNvSpPr>
            <p:nvPr/>
          </p:nvSpPr>
          <p:spPr bwMode="auto">
            <a:xfrm flipH="1">
              <a:off x="1256" y="1797"/>
              <a:ext cx="1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0" hangingPunct="0">
                <a:spcBef>
                  <a:spcPct val="0"/>
                </a:spcBef>
              </a:pPr>
              <a:endParaRPr lang="zh-CN" altLang="en-US" sz="1050" i="1">
                <a:solidFill>
                  <a:srgbClr val="000000"/>
                </a:solidFill>
                <a:latin typeface="Helvetica" panose="020B0604020202020204" pitchFamily="34" charset="0"/>
                <a:ea typeface="+mn-ea"/>
              </a:endParaRPr>
            </a:p>
          </p:txBody>
        </p:sp>
        <p:sp>
          <p:nvSpPr>
            <p:cNvPr id="12" name="Line 28">
              <a:extLst>
                <a:ext uri="{FF2B5EF4-FFF2-40B4-BE49-F238E27FC236}">
                  <a16:creationId xmlns:a16="http://schemas.microsoft.com/office/drawing/2014/main" id="{FD7A03DE-C680-42F0-B5F9-790CF6591728}"/>
                </a:ext>
              </a:extLst>
            </p:cNvPr>
            <p:cNvSpPr>
              <a:spLocks noChangeShapeType="1"/>
            </p:cNvSpPr>
            <p:nvPr/>
          </p:nvSpPr>
          <p:spPr bwMode="auto">
            <a:xfrm flipH="1">
              <a:off x="1253" y="1920"/>
              <a:ext cx="1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0" hangingPunct="0">
                <a:spcBef>
                  <a:spcPct val="0"/>
                </a:spcBef>
              </a:pPr>
              <a:endParaRPr lang="zh-CN" altLang="en-US" sz="1050" i="1">
                <a:solidFill>
                  <a:srgbClr val="000000"/>
                </a:solidFill>
                <a:latin typeface="Helvetica" panose="020B0604020202020204" pitchFamily="34" charset="0"/>
                <a:ea typeface="+mn-ea"/>
              </a:endParaRPr>
            </a:p>
          </p:txBody>
        </p:sp>
      </p:grpSp>
      <p:grpSp>
        <p:nvGrpSpPr>
          <p:cNvPr id="13" name="Group 25">
            <a:extLst>
              <a:ext uri="{FF2B5EF4-FFF2-40B4-BE49-F238E27FC236}">
                <a16:creationId xmlns:a16="http://schemas.microsoft.com/office/drawing/2014/main" id="{AFC1D7B5-1265-4B54-827E-DD4F5660D6B9}"/>
              </a:ext>
            </a:extLst>
          </p:cNvPr>
          <p:cNvGrpSpPr>
            <a:grpSpLocks/>
          </p:cNvGrpSpPr>
          <p:nvPr/>
        </p:nvGrpSpPr>
        <p:grpSpPr bwMode="auto">
          <a:xfrm>
            <a:off x="3851920" y="2499742"/>
            <a:ext cx="310754" cy="157163"/>
            <a:chOff x="1253" y="1795"/>
            <a:chExt cx="261" cy="132"/>
          </a:xfrm>
        </p:grpSpPr>
        <p:sp>
          <p:nvSpPr>
            <p:cNvPr id="14" name="AutoShape 26">
              <a:extLst>
                <a:ext uri="{FF2B5EF4-FFF2-40B4-BE49-F238E27FC236}">
                  <a16:creationId xmlns:a16="http://schemas.microsoft.com/office/drawing/2014/main" id="{259F263E-47BD-42A4-A757-492BC9FB2039}"/>
                </a:ext>
              </a:extLst>
            </p:cNvPr>
            <p:cNvSpPr>
              <a:spLocks noChangeArrowheads="1"/>
            </p:cNvSpPr>
            <p:nvPr/>
          </p:nvSpPr>
          <p:spPr bwMode="auto">
            <a:xfrm rot="16200000" flipV="1">
              <a:off x="1382" y="1795"/>
              <a:ext cx="132" cy="132"/>
            </a:xfrm>
            <a:prstGeom prst="flowChartCollate">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35000"/>
                </a:spcBef>
                <a:buClr>
                  <a:srgbClr val="FF0000"/>
                </a:buClr>
                <a:buSzPct val="80000"/>
                <a:buFont typeface="Wingdings" panose="05000000000000000000" pitchFamily="2" charset="2"/>
                <a:buChar char="p"/>
                <a:defRPr kumimoji="1" sz="2800">
                  <a:solidFill>
                    <a:schemeClr val="tx1"/>
                  </a:solidFill>
                  <a:latin typeface="Comic Sans MS" panose="030F0702030302020204" pitchFamily="66" charset="0"/>
                </a:defRPr>
              </a:lvl1pPr>
              <a:lvl2pPr marL="742950" indent="-285750">
                <a:spcBef>
                  <a:spcPct val="35000"/>
                </a:spcBef>
                <a:buClr>
                  <a:srgbClr val="0000FF"/>
                </a:buClr>
                <a:buSzPct val="80000"/>
                <a:buFont typeface="Wingdings" panose="05000000000000000000" pitchFamily="2" charset="2"/>
                <a:buChar char="n"/>
                <a:defRPr kumimoji="1" sz="2400">
                  <a:solidFill>
                    <a:schemeClr val="tx1"/>
                  </a:solidFill>
                  <a:latin typeface="Comic Sans MS" panose="030F0702030302020204" pitchFamily="66" charset="0"/>
                </a:defRPr>
              </a:lvl2pPr>
              <a:lvl3pPr marL="1143000" indent="-228600">
                <a:spcBef>
                  <a:spcPct val="35000"/>
                </a:spcBef>
                <a:buClr>
                  <a:srgbClr val="FFFF00"/>
                </a:buClr>
                <a:buSzPct val="80000"/>
                <a:buFont typeface="Wingdings" panose="05000000000000000000" pitchFamily="2" charset="2"/>
                <a:buChar char="l"/>
                <a:defRPr kumimoji="1" sz="2400">
                  <a:solidFill>
                    <a:schemeClr val="tx1"/>
                  </a:solidFill>
                  <a:latin typeface="Comic Sans MS" panose="030F0702030302020204" pitchFamily="66" charset="0"/>
                </a:defRPr>
              </a:lvl3pPr>
              <a:lvl4pPr marL="1600200" indent="-228600">
                <a:spcBef>
                  <a:spcPct val="35000"/>
                </a:spcBef>
                <a:buClr>
                  <a:srgbClr val="00CC00"/>
                </a:buClr>
                <a:buSzPct val="80000"/>
                <a:buFont typeface="Times New Roman" panose="02020603050405020304" pitchFamily="18" charset="0"/>
                <a:buChar char="•"/>
                <a:defRPr kumimoji="1" sz="2400">
                  <a:solidFill>
                    <a:schemeClr val="tx1"/>
                  </a:solidFill>
                  <a:latin typeface="Comic Sans MS" panose="030F0702030302020204" pitchFamily="66" charset="0"/>
                </a:defRPr>
              </a:lvl4pPr>
              <a:lvl5pPr marL="2057400" indent="-228600">
                <a:spcBef>
                  <a:spcPct val="35000"/>
                </a:spcBef>
                <a:buClr>
                  <a:srgbClr val="FF0000"/>
                </a:buClr>
                <a:buSzPct val="80000"/>
                <a:buChar char="»"/>
                <a:defRPr kumimoji="1" sz="2400">
                  <a:solidFill>
                    <a:schemeClr val="tx1"/>
                  </a:solidFill>
                  <a:latin typeface="Comic Sans MS" panose="030F0702030302020204" pitchFamily="66" charset="0"/>
                </a:defRPr>
              </a:lvl5pPr>
              <a:lvl6pPr marL="25146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6pPr>
              <a:lvl7pPr marL="29718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7pPr>
              <a:lvl8pPr marL="34290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8pPr>
              <a:lvl9pPr marL="3886200" indent="-228600" eaLnBrk="0" fontAlgn="base" hangingPunct="0">
                <a:spcBef>
                  <a:spcPct val="35000"/>
                </a:spcBef>
                <a:spcAft>
                  <a:spcPct val="0"/>
                </a:spcAft>
                <a:buClr>
                  <a:srgbClr val="FF0000"/>
                </a:buClr>
                <a:buSzPct val="80000"/>
                <a:buChar char="»"/>
                <a:defRPr kumimoji="1" sz="2400">
                  <a:solidFill>
                    <a:schemeClr val="tx1"/>
                  </a:solidFill>
                  <a:latin typeface="Comic Sans MS" panose="030F0702030302020204" pitchFamily="66" charset="0"/>
                </a:defRPr>
              </a:lvl9pPr>
            </a:lstStyle>
            <a:p>
              <a:pPr defTabSz="685800" eaLnBrk="0" hangingPunct="0">
                <a:spcBef>
                  <a:spcPct val="0"/>
                </a:spcBef>
                <a:buClrTx/>
                <a:buSzTx/>
                <a:buNone/>
              </a:pPr>
              <a:endParaRPr kumimoji="0" lang="zh-CN" altLang="en-US" sz="1050" i="1">
                <a:solidFill>
                  <a:srgbClr val="000000"/>
                </a:solidFill>
                <a:latin typeface="Helvetica" panose="020B0604020202020204" pitchFamily="34" charset="0"/>
                <a:ea typeface="宋体" panose="02010600030101010101" pitchFamily="2" charset="-122"/>
              </a:endParaRPr>
            </a:p>
          </p:txBody>
        </p:sp>
        <p:sp>
          <p:nvSpPr>
            <p:cNvPr id="15" name="Line 27">
              <a:extLst>
                <a:ext uri="{FF2B5EF4-FFF2-40B4-BE49-F238E27FC236}">
                  <a16:creationId xmlns:a16="http://schemas.microsoft.com/office/drawing/2014/main" id="{19FB9D32-A67D-48C0-B636-DB73212C0469}"/>
                </a:ext>
              </a:extLst>
            </p:cNvPr>
            <p:cNvSpPr>
              <a:spLocks noChangeShapeType="1"/>
            </p:cNvSpPr>
            <p:nvPr/>
          </p:nvSpPr>
          <p:spPr bwMode="auto">
            <a:xfrm flipH="1">
              <a:off x="1256" y="1797"/>
              <a:ext cx="1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0" hangingPunct="0">
                <a:spcBef>
                  <a:spcPct val="0"/>
                </a:spcBef>
              </a:pPr>
              <a:endParaRPr lang="zh-CN" altLang="en-US" sz="1050" i="1">
                <a:solidFill>
                  <a:srgbClr val="000000"/>
                </a:solidFill>
                <a:latin typeface="Helvetica" panose="020B0604020202020204" pitchFamily="34" charset="0"/>
                <a:ea typeface="+mn-ea"/>
              </a:endParaRPr>
            </a:p>
          </p:txBody>
        </p:sp>
        <p:sp>
          <p:nvSpPr>
            <p:cNvPr id="16" name="Line 28">
              <a:extLst>
                <a:ext uri="{FF2B5EF4-FFF2-40B4-BE49-F238E27FC236}">
                  <a16:creationId xmlns:a16="http://schemas.microsoft.com/office/drawing/2014/main" id="{B9B4770B-DAC1-4B01-BD15-7C981AE2A2DF}"/>
                </a:ext>
              </a:extLst>
            </p:cNvPr>
            <p:cNvSpPr>
              <a:spLocks noChangeShapeType="1"/>
            </p:cNvSpPr>
            <p:nvPr/>
          </p:nvSpPr>
          <p:spPr bwMode="auto">
            <a:xfrm flipH="1">
              <a:off x="1253" y="1920"/>
              <a:ext cx="12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lstStyle/>
            <a:p>
              <a:pPr defTabSz="685800" eaLnBrk="0" hangingPunct="0">
                <a:spcBef>
                  <a:spcPct val="0"/>
                </a:spcBef>
              </a:pPr>
              <a:endParaRPr lang="zh-CN" altLang="en-US" sz="1050" i="1">
                <a:solidFill>
                  <a:srgbClr val="000000"/>
                </a:solidFill>
                <a:latin typeface="Helvetica" panose="020B0604020202020204" pitchFamily="34" charset="0"/>
                <a:ea typeface="+mn-ea"/>
              </a:endParaRPr>
            </a:p>
          </p:txBody>
        </p:sp>
      </p:grpSp>
    </p:spTree>
    <p:extLst>
      <p:ext uri="{BB962C8B-B14F-4D97-AF65-F5344CB8AC3E}">
        <p14:creationId xmlns:p14="http://schemas.microsoft.com/office/powerpoint/2010/main" val="3252438379"/>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FF2846-FA2A-4BAA-9362-7D602E41C72B}"/>
              </a:ext>
            </a:extLst>
          </p:cNvPr>
          <p:cNvSpPr>
            <a:spLocks noGrp="1"/>
          </p:cNvSpPr>
          <p:nvPr>
            <p:ph type="title"/>
          </p:nvPr>
        </p:nvSpPr>
        <p:spPr/>
        <p:txBody>
          <a:bodyPr/>
          <a:lstStyle/>
          <a:p>
            <a:pPr algn="ctr"/>
            <a:r>
              <a:rPr lang="en-US" altLang="zh-CN" dirty="0"/>
              <a:t>Outline</a:t>
            </a:r>
            <a:endParaRPr lang="zh-CN" altLang="en-US" dirty="0"/>
          </a:p>
        </p:txBody>
      </p:sp>
      <p:sp>
        <p:nvSpPr>
          <p:cNvPr id="3" name="内容占位符 2">
            <a:extLst>
              <a:ext uri="{FF2B5EF4-FFF2-40B4-BE49-F238E27FC236}">
                <a16:creationId xmlns:a16="http://schemas.microsoft.com/office/drawing/2014/main" id="{316F7556-C772-4881-AE79-DA30A2459850}"/>
              </a:ext>
            </a:extLst>
          </p:cNvPr>
          <p:cNvSpPr>
            <a:spLocks noGrp="1"/>
          </p:cNvSpPr>
          <p:nvPr>
            <p:ph idx="1"/>
          </p:nvPr>
        </p:nvSpPr>
        <p:spPr>
          <a:xfrm>
            <a:off x="287524" y="843558"/>
            <a:ext cx="8568952" cy="3805070"/>
          </a:xfrm>
        </p:spPr>
        <p:txBody>
          <a:bodyPr/>
          <a:lstStyle/>
          <a:p>
            <a:pPr>
              <a:spcBef>
                <a:spcPts val="600"/>
              </a:spcBef>
            </a:pPr>
            <a:r>
              <a:rPr lang="en-US" altLang="zh-CN" b="1" dirty="0"/>
              <a:t>Overview </a:t>
            </a:r>
          </a:p>
          <a:p>
            <a:pPr>
              <a:spcBef>
                <a:spcPts val="600"/>
              </a:spcBef>
            </a:pPr>
            <a:r>
              <a:rPr lang="en-US" altLang="zh-CN" b="1" dirty="0"/>
              <a:t>Measures of Query Cost</a:t>
            </a:r>
          </a:p>
          <a:p>
            <a:pPr>
              <a:spcBef>
                <a:spcPts val="600"/>
              </a:spcBef>
            </a:pPr>
            <a:r>
              <a:rPr lang="en-US" altLang="zh-CN" b="1" dirty="0"/>
              <a:t>Selection Operation </a:t>
            </a:r>
          </a:p>
          <a:p>
            <a:pPr>
              <a:spcBef>
                <a:spcPts val="600"/>
              </a:spcBef>
            </a:pPr>
            <a:r>
              <a:rPr lang="en-US" altLang="zh-CN" b="1" dirty="0"/>
              <a:t>Sorting </a:t>
            </a:r>
          </a:p>
          <a:p>
            <a:pPr>
              <a:spcBef>
                <a:spcPts val="600"/>
              </a:spcBef>
            </a:pPr>
            <a:r>
              <a:rPr lang="en-US" altLang="zh-CN" b="1" dirty="0"/>
              <a:t>Join Operation </a:t>
            </a:r>
          </a:p>
          <a:p>
            <a:pPr>
              <a:spcBef>
                <a:spcPts val="600"/>
              </a:spcBef>
            </a:pPr>
            <a:r>
              <a:rPr lang="en-US" altLang="zh-CN" b="1" dirty="0"/>
              <a:t>Other Operations</a:t>
            </a:r>
          </a:p>
          <a:p>
            <a:pPr>
              <a:spcBef>
                <a:spcPts val="600"/>
              </a:spcBef>
            </a:pPr>
            <a:r>
              <a:rPr lang="en-US" altLang="zh-CN" b="1" dirty="0">
                <a:solidFill>
                  <a:srgbClr val="C00000"/>
                </a:solidFill>
              </a:rPr>
              <a:t>Evaluation of Expressions</a:t>
            </a:r>
            <a:endParaRPr lang="en-US" altLang="zh-CN" dirty="0">
              <a:solidFill>
                <a:srgbClr val="C00000"/>
              </a:solidFill>
            </a:endParaRPr>
          </a:p>
        </p:txBody>
      </p:sp>
    </p:spTree>
    <p:extLst>
      <p:ext uri="{BB962C8B-B14F-4D97-AF65-F5344CB8AC3E}">
        <p14:creationId xmlns:p14="http://schemas.microsoft.com/office/powerpoint/2010/main" val="1713959439"/>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44D89D-5BAA-43D1-BC07-BB6B376ABE56}"/>
              </a:ext>
            </a:extLst>
          </p:cNvPr>
          <p:cNvSpPr>
            <a:spLocks noGrp="1"/>
          </p:cNvSpPr>
          <p:nvPr>
            <p:ph type="title"/>
          </p:nvPr>
        </p:nvSpPr>
        <p:spPr/>
        <p:txBody>
          <a:bodyPr/>
          <a:lstStyle/>
          <a:p>
            <a:pPr algn="ctr"/>
            <a:r>
              <a:rPr lang="en-US" altLang="zh-CN" dirty="0"/>
              <a:t>Evaluation of Expressions</a:t>
            </a:r>
            <a:endParaRPr lang="zh-CN" altLang="en-US" dirty="0"/>
          </a:p>
        </p:txBody>
      </p:sp>
      <p:sp>
        <p:nvSpPr>
          <p:cNvPr id="3" name="内容占位符 2">
            <a:extLst>
              <a:ext uri="{FF2B5EF4-FFF2-40B4-BE49-F238E27FC236}">
                <a16:creationId xmlns:a16="http://schemas.microsoft.com/office/drawing/2014/main" id="{39D94326-D682-40B4-AF79-AD3D02BF88BD}"/>
              </a:ext>
            </a:extLst>
          </p:cNvPr>
          <p:cNvSpPr>
            <a:spLocks noGrp="1"/>
          </p:cNvSpPr>
          <p:nvPr>
            <p:ph idx="1"/>
          </p:nvPr>
        </p:nvSpPr>
        <p:spPr/>
        <p:txBody>
          <a:bodyPr/>
          <a:lstStyle/>
          <a:p>
            <a:r>
              <a:rPr lang="en-US" altLang="zh-CN" sz="2000" dirty="0"/>
              <a:t>We have seen the algorithms for individual operations</a:t>
            </a:r>
          </a:p>
          <a:p>
            <a:r>
              <a:rPr lang="en-US" altLang="zh-CN" sz="2000" dirty="0"/>
              <a:t>Alternatives for evaluating an entire expression tree</a:t>
            </a:r>
          </a:p>
          <a:p>
            <a:pPr lvl="1"/>
            <a:r>
              <a:rPr lang="en-US" altLang="zh-CN" sz="1800" b="1" dirty="0"/>
              <a:t>Materialization (</a:t>
            </a:r>
            <a:r>
              <a:rPr lang="zh-CN" altLang="en-US" sz="1800" b="1" dirty="0"/>
              <a:t>物化</a:t>
            </a:r>
            <a:r>
              <a:rPr lang="en-US" altLang="zh-CN" sz="1800" b="1" dirty="0"/>
              <a:t>)</a:t>
            </a:r>
            <a:r>
              <a:rPr lang="en-US" altLang="zh-CN" sz="1800" dirty="0"/>
              <a:t>: generate the results of an expression and materialize (store) the results on disk</a:t>
            </a:r>
          </a:p>
          <a:p>
            <a:pPr lvl="1"/>
            <a:r>
              <a:rPr lang="en-US" altLang="zh-CN" sz="1800" b="1" dirty="0"/>
              <a:t>Pipelining (</a:t>
            </a:r>
            <a:r>
              <a:rPr lang="zh-CN" altLang="en-US" sz="1800" b="1" dirty="0"/>
              <a:t>流水线</a:t>
            </a:r>
            <a:r>
              <a:rPr lang="en-US" altLang="zh-CN" sz="1800" b="1" dirty="0"/>
              <a:t>)</a:t>
            </a:r>
            <a:r>
              <a:rPr lang="en-US" altLang="zh-CN" sz="1800" dirty="0"/>
              <a:t>:  pass on tuples to parent operations even as an operation is being executed</a:t>
            </a:r>
          </a:p>
        </p:txBody>
      </p:sp>
    </p:spTree>
    <p:extLst>
      <p:ext uri="{BB962C8B-B14F-4D97-AF65-F5344CB8AC3E}">
        <p14:creationId xmlns:p14="http://schemas.microsoft.com/office/powerpoint/2010/main" val="1894959432"/>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F728D0-731F-4587-B087-8E3F35346BA0}"/>
              </a:ext>
            </a:extLst>
          </p:cNvPr>
          <p:cNvSpPr>
            <a:spLocks noGrp="1"/>
          </p:cNvSpPr>
          <p:nvPr>
            <p:ph type="title"/>
          </p:nvPr>
        </p:nvSpPr>
        <p:spPr/>
        <p:txBody>
          <a:bodyPr/>
          <a:lstStyle/>
          <a:p>
            <a:pPr algn="ctr"/>
            <a:r>
              <a:rPr lang="en-US" altLang="zh-CN" dirty="0"/>
              <a:t>Materialization (</a:t>
            </a:r>
            <a:r>
              <a:rPr lang="zh-CN" altLang="en-US" dirty="0"/>
              <a:t>物化</a:t>
            </a:r>
            <a:r>
              <a:rPr lang="en-US" altLang="zh-CN" dirty="0"/>
              <a: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4D32E53C-6353-4292-A43F-EC52C24A69AD}"/>
                  </a:ext>
                </a:extLst>
              </p:cNvPr>
              <p:cNvSpPr>
                <a:spLocks noGrp="1"/>
              </p:cNvSpPr>
              <p:nvPr>
                <p:ph idx="1"/>
              </p:nvPr>
            </p:nvSpPr>
            <p:spPr/>
            <p:txBody>
              <a:bodyPr/>
              <a:lstStyle/>
              <a:p>
                <a:r>
                  <a:rPr lang="en-US" altLang="zh-CN" sz="1800" dirty="0"/>
                  <a:t>Materialized evaluation (</a:t>
                </a:r>
                <a:r>
                  <a:rPr lang="zh-CN" altLang="en-US" sz="1800" dirty="0"/>
                  <a:t>物化计算</a:t>
                </a:r>
                <a:r>
                  <a:rPr lang="en-US" altLang="zh-CN" sz="1800" dirty="0"/>
                  <a:t>) : evaluate one operation at a time, starting from the lowest level  </a:t>
                </a:r>
              </a:p>
              <a:p>
                <a:r>
                  <a:rPr lang="en-US" altLang="zh-CN" sz="1800" dirty="0"/>
                  <a:t>E.g., for the figure below, compute and store</a:t>
                </a:r>
              </a:p>
              <a:p>
                <a:pPr marL="0" indent="0">
                  <a:buNone/>
                </a:pPr>
                <a14:m>
                  <m:oMathPara xmlns:m="http://schemas.openxmlformats.org/officeDocument/2006/math">
                    <m:oMathParaPr>
                      <m:jc m:val="centerGroup"/>
                    </m:oMathParaPr>
                    <m:oMath xmlns:m="http://schemas.openxmlformats.org/officeDocument/2006/math">
                      <m:sSub>
                        <m:sSubPr>
                          <m:ctrlPr>
                            <a:rPr lang="en-US" altLang="zh-CN" sz="1800" i="1" smtClean="0">
                              <a:latin typeface="Cambria Math" panose="02040503050406030204" pitchFamily="18" charset="0"/>
                            </a:rPr>
                          </m:ctrlPr>
                        </m:sSubPr>
                        <m:e>
                          <m:r>
                            <a:rPr lang="zh-CN" altLang="en-US" sz="1800" i="1" smtClean="0">
                              <a:latin typeface="Cambria Math" panose="02040503050406030204" pitchFamily="18" charset="0"/>
                            </a:rPr>
                            <m:t>𝜎</m:t>
                          </m:r>
                        </m:e>
                        <m:sub>
                          <m:r>
                            <a:rPr lang="en-US" altLang="zh-CN" sz="1800" b="0" i="1" smtClean="0">
                              <a:latin typeface="Cambria Math" panose="02040503050406030204" pitchFamily="18" charset="0"/>
                            </a:rPr>
                            <m:t>𝑏𝑎𝑙𝑎𝑛𝑐𝑒</m:t>
                          </m:r>
                          <m:r>
                            <a:rPr lang="en-US" altLang="zh-CN" sz="1800" b="0" i="1" smtClean="0">
                              <a:latin typeface="Cambria Math" panose="02040503050406030204" pitchFamily="18" charset="0"/>
                            </a:rPr>
                            <m:t>&lt;2500</m:t>
                          </m:r>
                        </m:sub>
                      </m:sSub>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𝑎𝑐𝑐𝑜𝑢𝑛𝑡</m:t>
                      </m:r>
                      <m:r>
                        <a:rPr lang="en-US" altLang="zh-CN" sz="1800" b="0" i="1" smtClean="0">
                          <a:latin typeface="Cambria Math" panose="02040503050406030204" pitchFamily="18" charset="0"/>
                        </a:rPr>
                        <m:t>)</m:t>
                      </m:r>
                    </m:oMath>
                  </m:oMathPara>
                </a14:m>
                <a:endParaRPr lang="en-US" altLang="zh-CN" sz="1800" dirty="0"/>
              </a:p>
              <a:p>
                <a:r>
                  <a:rPr lang="en-US" altLang="zh-CN" sz="1800" dirty="0"/>
                  <a:t>compute and store the previous result then join with customer, and finally compute the projections on customer-name. </a:t>
                </a:r>
              </a:p>
              <a:p>
                <a:endParaRPr lang="zh-CN" altLang="en-US" sz="1800" dirty="0"/>
              </a:p>
            </p:txBody>
          </p:sp>
        </mc:Choice>
        <mc:Fallback xmlns="">
          <p:sp>
            <p:nvSpPr>
              <p:cNvPr id="3" name="内容占位符 2">
                <a:extLst>
                  <a:ext uri="{FF2B5EF4-FFF2-40B4-BE49-F238E27FC236}">
                    <a16:creationId xmlns:a16="http://schemas.microsoft.com/office/drawing/2014/main" id="{4D32E53C-6353-4292-A43F-EC52C24A69AD}"/>
                  </a:ext>
                </a:extLst>
              </p:cNvPr>
              <p:cNvSpPr>
                <a:spLocks noGrp="1" noRot="1" noChangeAspect="1" noMove="1" noResize="1" noEditPoints="1" noAdjustHandles="1" noChangeArrowheads="1" noChangeShapeType="1" noTextEdit="1"/>
              </p:cNvSpPr>
              <p:nvPr>
                <p:ph idx="1"/>
              </p:nvPr>
            </p:nvSpPr>
            <p:spPr>
              <a:blipFill>
                <a:blip r:embed="rId3"/>
                <a:stretch>
                  <a:fillRect l="-427" t="-962"/>
                </a:stretch>
              </a:blipFill>
            </p:spPr>
            <p:txBody>
              <a:bodyPr/>
              <a:lstStyle/>
              <a:p>
                <a:r>
                  <a:rPr lang="zh-CN" altLang="en-US">
                    <a:noFill/>
                  </a:rPr>
                  <a:t> </a:t>
                </a:r>
              </a:p>
            </p:txBody>
          </p:sp>
        </mc:Fallback>
      </mc:AlternateContent>
      <p:pic>
        <p:nvPicPr>
          <p:cNvPr id="4" name="Picture 6">
            <a:extLst>
              <a:ext uri="{FF2B5EF4-FFF2-40B4-BE49-F238E27FC236}">
                <a16:creationId xmlns:a16="http://schemas.microsoft.com/office/drawing/2014/main" id="{2B40C67A-9DDB-42E3-9BF5-110F5C7124C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724" t="11856" r="6169" b="13081"/>
          <a:stretch>
            <a:fillRect/>
          </a:stretch>
        </p:blipFill>
        <p:spPr bwMode="auto">
          <a:xfrm>
            <a:off x="2771800" y="2809402"/>
            <a:ext cx="3121819" cy="1928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cmpd="tri">
                <a:solidFill>
                  <a:srgbClr val="000000"/>
                </a:solidFill>
                <a:miter lim="800000"/>
                <a:headEnd/>
                <a:tailEnd/>
              </a14:hiddenLine>
            </a:ext>
          </a:extLst>
        </p:spPr>
      </p:pic>
    </p:spTree>
    <p:extLst>
      <p:ext uri="{BB962C8B-B14F-4D97-AF65-F5344CB8AC3E}">
        <p14:creationId xmlns:p14="http://schemas.microsoft.com/office/powerpoint/2010/main" val="448004089"/>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850447-C295-422E-A01F-59F1932DDD92}"/>
              </a:ext>
            </a:extLst>
          </p:cNvPr>
          <p:cNvSpPr>
            <a:spLocks noGrp="1"/>
          </p:cNvSpPr>
          <p:nvPr>
            <p:ph type="title"/>
          </p:nvPr>
        </p:nvSpPr>
        <p:spPr/>
        <p:txBody>
          <a:bodyPr/>
          <a:lstStyle/>
          <a:p>
            <a:pPr algn="ctr"/>
            <a:r>
              <a:rPr lang="en-US" altLang="zh-CN" dirty="0"/>
              <a:t>Materialization (Cont.)</a:t>
            </a:r>
            <a:endParaRPr lang="zh-CN" altLang="en-US" dirty="0"/>
          </a:p>
        </p:txBody>
      </p:sp>
      <p:sp>
        <p:nvSpPr>
          <p:cNvPr id="3" name="内容占位符 2">
            <a:extLst>
              <a:ext uri="{FF2B5EF4-FFF2-40B4-BE49-F238E27FC236}">
                <a16:creationId xmlns:a16="http://schemas.microsoft.com/office/drawing/2014/main" id="{CB92F7AA-F75C-4D06-A14F-97828303199D}"/>
              </a:ext>
            </a:extLst>
          </p:cNvPr>
          <p:cNvSpPr>
            <a:spLocks noGrp="1"/>
          </p:cNvSpPr>
          <p:nvPr>
            <p:ph idx="1"/>
          </p:nvPr>
        </p:nvSpPr>
        <p:spPr/>
        <p:txBody>
          <a:bodyPr/>
          <a:lstStyle/>
          <a:p>
            <a:r>
              <a:rPr lang="en-US" altLang="zh-CN" sz="2000" b="1" dirty="0"/>
              <a:t>Materialized evaluation</a:t>
            </a:r>
            <a:r>
              <a:rPr lang="en-US" altLang="zh-CN" sz="2000" dirty="0"/>
              <a:t> (</a:t>
            </a:r>
            <a:r>
              <a:rPr lang="zh-CN" altLang="en-US" sz="2000" dirty="0"/>
              <a:t>物化计算</a:t>
            </a:r>
            <a:r>
              <a:rPr lang="en-US" altLang="zh-CN" sz="2000" dirty="0"/>
              <a:t>) is always applicable</a:t>
            </a:r>
          </a:p>
          <a:p>
            <a:r>
              <a:rPr lang="en-US" altLang="zh-CN" sz="2000" dirty="0"/>
              <a:t>The cost of writing the results to disk and reading them back can be quite high</a:t>
            </a:r>
          </a:p>
          <a:p>
            <a:pPr lvl="1"/>
            <a:r>
              <a:rPr lang="en-US" altLang="zh-CN" sz="1800" b="1" dirty="0"/>
              <a:t>overall cost  </a:t>
            </a:r>
            <a:r>
              <a:rPr lang="en-US" altLang="zh-CN" sz="1800" dirty="0"/>
              <a:t>=  sum of costs of individual operations + cost of writing intermediate results to disk</a:t>
            </a:r>
          </a:p>
          <a:p>
            <a:r>
              <a:rPr lang="en-US" altLang="zh-CN" sz="2000" dirty="0"/>
              <a:t>Double buffering (</a:t>
            </a:r>
            <a:r>
              <a:rPr lang="zh-CN" altLang="en-US" sz="2000" dirty="0"/>
              <a:t>双缓冲</a:t>
            </a:r>
            <a:r>
              <a:rPr lang="en-US" altLang="zh-CN" sz="2000" dirty="0"/>
              <a:t>): use two output buffers for each operation, when one is full write it to disk while the other is getting filled</a:t>
            </a:r>
          </a:p>
          <a:p>
            <a:pPr lvl="1"/>
            <a:r>
              <a:rPr lang="en-US" altLang="zh-CN" sz="1800" dirty="0"/>
              <a:t>Reduce the execution time</a:t>
            </a:r>
          </a:p>
          <a:p>
            <a:endParaRPr lang="zh-CN" altLang="en-US" sz="2000" dirty="0"/>
          </a:p>
        </p:txBody>
      </p:sp>
    </p:spTree>
    <p:extLst>
      <p:ext uri="{BB962C8B-B14F-4D97-AF65-F5344CB8AC3E}">
        <p14:creationId xmlns:p14="http://schemas.microsoft.com/office/powerpoint/2010/main" val="15369700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arn(inVertical)">
                                      <p:cBhvr>
                                        <p:cTn id="7" dur="500"/>
                                        <p:tgtEl>
                                          <p:spTgt spid="3">
                                            <p:txEl>
                                              <p:pRg st="3" end="3"/>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arn(inVertical)">
                                      <p:cBhvr>
                                        <p:cTn id="10"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986184-F357-4F7A-B144-88823034CB31}"/>
              </a:ext>
            </a:extLst>
          </p:cNvPr>
          <p:cNvSpPr>
            <a:spLocks noGrp="1"/>
          </p:cNvSpPr>
          <p:nvPr>
            <p:ph type="title"/>
          </p:nvPr>
        </p:nvSpPr>
        <p:spPr/>
        <p:txBody>
          <a:bodyPr/>
          <a:lstStyle/>
          <a:p>
            <a:pPr algn="ctr"/>
            <a:r>
              <a:rPr lang="en-US" altLang="zh-CN" dirty="0"/>
              <a:t>Pipelining (</a:t>
            </a:r>
            <a:r>
              <a:rPr lang="zh-CN" altLang="en-US" dirty="0"/>
              <a:t>流水线</a:t>
            </a:r>
            <a:r>
              <a:rPr lang="en-US" altLang="zh-CN" dirty="0"/>
              <a: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425D4F8-DA4A-4C70-A452-2264AEBE98C4}"/>
                  </a:ext>
                </a:extLst>
              </p:cNvPr>
              <p:cNvSpPr>
                <a:spLocks noGrp="1"/>
              </p:cNvSpPr>
              <p:nvPr>
                <p:ph idx="1"/>
              </p:nvPr>
            </p:nvSpPr>
            <p:spPr>
              <a:xfrm>
                <a:off x="251520" y="789553"/>
                <a:ext cx="8640960" cy="3805070"/>
              </a:xfrm>
            </p:spPr>
            <p:txBody>
              <a:bodyPr/>
              <a:lstStyle/>
              <a:p>
                <a:pPr>
                  <a:spcBef>
                    <a:spcPts val="600"/>
                  </a:spcBef>
                </a:pPr>
                <a:r>
                  <a:rPr lang="en-US" altLang="zh-CN" sz="2000" b="1" dirty="0"/>
                  <a:t>Pipelined evaluation </a:t>
                </a:r>
                <a:r>
                  <a:rPr lang="en-US" altLang="zh-CN" sz="2000" dirty="0"/>
                  <a:t>(</a:t>
                </a:r>
                <a:r>
                  <a:rPr lang="zh-CN" altLang="en-US" sz="2000" dirty="0"/>
                  <a:t>流水线计算</a:t>
                </a:r>
                <a:r>
                  <a:rPr lang="en-US" altLang="zh-CN" sz="2000" dirty="0"/>
                  <a:t>)</a:t>
                </a:r>
              </a:p>
              <a:p>
                <a:pPr lvl="1">
                  <a:spcBef>
                    <a:spcPts val="600"/>
                  </a:spcBef>
                </a:pPr>
                <a:r>
                  <a:rPr lang="en-US" altLang="zh-CN" sz="1600" dirty="0"/>
                  <a:t>Evaluate several operations simultaneously, and pass the results of one operation to the next</a:t>
                </a:r>
              </a:p>
              <a:p>
                <a:pPr lvl="1">
                  <a:spcBef>
                    <a:spcPts val="600"/>
                  </a:spcBef>
                </a:pPr>
                <a:r>
                  <a:rPr lang="en-US" altLang="zh-CN" sz="1600" dirty="0"/>
                  <a:t>E.g.,</a:t>
                </a:r>
                <a:r>
                  <a:rPr lang="zh-CN" altLang="en-US" sz="1600" dirty="0"/>
                  <a:t> </a:t>
                </a:r>
                <a:r>
                  <a:rPr lang="en-US" altLang="zh-CN" sz="1600" dirty="0"/>
                  <a:t>in previous expression tree, don’t store the result of </a:t>
                </a:r>
                <a14:m>
                  <m:oMath xmlns:m="http://schemas.openxmlformats.org/officeDocument/2006/math">
                    <m:sSub>
                      <m:sSubPr>
                        <m:ctrlPr>
                          <a:rPr lang="en-US" altLang="zh-CN" sz="1600" i="1">
                            <a:latin typeface="Cambria Math" panose="02040503050406030204" pitchFamily="18" charset="0"/>
                          </a:rPr>
                        </m:ctrlPr>
                      </m:sSubPr>
                      <m:e>
                        <m:r>
                          <a:rPr lang="zh-CN" altLang="en-US" sz="1600" i="1">
                            <a:latin typeface="Cambria Math" panose="02040503050406030204" pitchFamily="18" charset="0"/>
                          </a:rPr>
                          <m:t>𝜎</m:t>
                        </m:r>
                      </m:e>
                      <m:sub>
                        <m:r>
                          <a:rPr lang="en-US" altLang="zh-CN" sz="1600" i="1">
                            <a:latin typeface="Cambria Math" panose="02040503050406030204" pitchFamily="18" charset="0"/>
                          </a:rPr>
                          <m:t>𝑏𝑎𝑙𝑎𝑛𝑐𝑒</m:t>
                        </m:r>
                        <m:r>
                          <a:rPr lang="en-US" altLang="zh-CN" sz="1600" i="1">
                            <a:latin typeface="Cambria Math" panose="02040503050406030204" pitchFamily="18" charset="0"/>
                          </a:rPr>
                          <m:t>&lt;2500</m:t>
                        </m:r>
                      </m:sub>
                    </m:sSub>
                    <m:r>
                      <a:rPr lang="en-US" altLang="zh-CN" sz="1600" i="1">
                        <a:latin typeface="Cambria Math" panose="02040503050406030204" pitchFamily="18" charset="0"/>
                      </a:rPr>
                      <m:t>(</m:t>
                    </m:r>
                    <m:r>
                      <a:rPr lang="en-US" altLang="zh-CN" sz="1600" i="1">
                        <a:latin typeface="Cambria Math" panose="02040503050406030204" pitchFamily="18" charset="0"/>
                      </a:rPr>
                      <m:t>𝑎𝑐𝑐𝑜𝑢𝑛𝑡</m:t>
                    </m:r>
                    <m:r>
                      <a:rPr lang="en-US" altLang="zh-CN" sz="1600" i="1">
                        <a:latin typeface="Cambria Math" panose="02040503050406030204" pitchFamily="18" charset="0"/>
                      </a:rPr>
                      <m:t>)</m:t>
                    </m:r>
                  </m:oMath>
                </a14:m>
                <a:r>
                  <a:rPr lang="en-US" altLang="zh-CN" sz="1600" dirty="0"/>
                  <a:t> and pass tuples directly to the join. Similarly, don’t store the results of join, pass tuples directly to projection</a:t>
                </a:r>
              </a:p>
              <a:p>
                <a:pPr lvl="1">
                  <a:spcBef>
                    <a:spcPts val="600"/>
                  </a:spcBef>
                </a:pPr>
                <a:r>
                  <a:rPr lang="en-US" altLang="zh-CN" sz="1600" dirty="0"/>
                  <a:t>Much cheaper than materialization but may not always be possible – e.g., sort, hash-join</a:t>
                </a:r>
              </a:p>
              <a:p>
                <a:pPr>
                  <a:spcBef>
                    <a:spcPts val="600"/>
                  </a:spcBef>
                </a:pPr>
                <a:r>
                  <a:rPr lang="en-US" altLang="zh-CN" sz="2000" dirty="0"/>
                  <a:t>Pipelines can be executed in two ways:  </a:t>
                </a:r>
              </a:p>
              <a:p>
                <a:pPr lvl="1">
                  <a:spcBef>
                    <a:spcPts val="600"/>
                  </a:spcBef>
                </a:pPr>
                <a:r>
                  <a:rPr lang="en-US" altLang="zh-CN" sz="1800" b="1" dirty="0"/>
                  <a:t>demand driven (</a:t>
                </a:r>
                <a:r>
                  <a:rPr lang="zh-CN" altLang="en-US" sz="1800" b="1" dirty="0"/>
                  <a:t>需求驱动</a:t>
                </a:r>
                <a:r>
                  <a:rPr lang="en-US" altLang="zh-CN" sz="1800" b="1" dirty="0"/>
                  <a:t>) </a:t>
                </a:r>
                <a:endParaRPr lang="en-US" altLang="zh-CN" sz="1800" dirty="0"/>
              </a:p>
              <a:p>
                <a:pPr lvl="1">
                  <a:spcBef>
                    <a:spcPts val="600"/>
                  </a:spcBef>
                </a:pPr>
                <a:r>
                  <a:rPr lang="en-US" altLang="zh-CN" sz="1800" b="1" dirty="0"/>
                  <a:t>producer driven (</a:t>
                </a:r>
                <a:r>
                  <a:rPr lang="zh-CN" altLang="en-US" sz="1800" b="1" dirty="0"/>
                  <a:t>生产者驱动</a:t>
                </a:r>
                <a:r>
                  <a:rPr lang="en-US" altLang="zh-CN" sz="1800" b="1" dirty="0"/>
                  <a:t>)</a:t>
                </a:r>
              </a:p>
              <a:p>
                <a:pPr>
                  <a:spcBef>
                    <a:spcPts val="600"/>
                  </a:spcBef>
                </a:pPr>
                <a:endParaRPr lang="zh-CN" altLang="en-US" sz="2000" dirty="0"/>
              </a:p>
            </p:txBody>
          </p:sp>
        </mc:Choice>
        <mc:Fallback xmlns="">
          <p:sp>
            <p:nvSpPr>
              <p:cNvPr id="3" name="内容占位符 2">
                <a:extLst>
                  <a:ext uri="{FF2B5EF4-FFF2-40B4-BE49-F238E27FC236}">
                    <a16:creationId xmlns:a16="http://schemas.microsoft.com/office/drawing/2014/main" id="{8425D4F8-DA4A-4C70-A452-2264AEBE98C4}"/>
                  </a:ext>
                </a:extLst>
              </p:cNvPr>
              <p:cNvSpPr>
                <a:spLocks noGrp="1" noRot="1" noChangeAspect="1" noMove="1" noResize="1" noEditPoints="1" noAdjustHandles="1" noChangeArrowheads="1" noChangeShapeType="1" noTextEdit="1"/>
              </p:cNvSpPr>
              <p:nvPr>
                <p:ph idx="1"/>
              </p:nvPr>
            </p:nvSpPr>
            <p:spPr>
              <a:xfrm>
                <a:off x="251520" y="789553"/>
                <a:ext cx="8640960" cy="3805070"/>
              </a:xfrm>
              <a:blipFill>
                <a:blip r:embed="rId2"/>
                <a:stretch>
                  <a:fillRect l="-635" t="-96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9043303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arn(inVertical)">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 calcmode="lin" valueType="num">
                                      <p:cBhvr additive="base">
                                        <p:cTn id="12"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 calcmode="lin" valueType="num">
                                      <p:cBhvr additive="base">
                                        <p:cTn id="1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 calcmode="lin" valueType="num">
                                      <p:cBhvr additive="base">
                                        <p:cTn id="2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
                                            <p:txEl>
                                              <p:pRg st="6" end="6"/>
                                            </p:txEl>
                                          </p:spTgt>
                                        </p:tgtEl>
                                        <p:attrNameLst>
                                          <p:attrName>style.visibility</p:attrName>
                                        </p:attrNameLst>
                                      </p:cBhvr>
                                      <p:to>
                                        <p:strVal val="visible"/>
                                      </p:to>
                                    </p:set>
                                    <p:anim calcmode="lin" valueType="num">
                                      <p:cBhvr additive="base">
                                        <p:cTn id="2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5CB05C-1454-4FD2-A97C-3206CD838AD7}"/>
              </a:ext>
            </a:extLst>
          </p:cNvPr>
          <p:cNvSpPr>
            <a:spLocks noGrp="1"/>
          </p:cNvSpPr>
          <p:nvPr>
            <p:ph type="title"/>
          </p:nvPr>
        </p:nvSpPr>
        <p:spPr/>
        <p:txBody>
          <a:bodyPr/>
          <a:lstStyle/>
          <a:p>
            <a:pPr algn="ctr"/>
            <a:r>
              <a:rPr lang="en-US" altLang="zh-CN" dirty="0"/>
              <a:t>Pipelining (Cont.)</a:t>
            </a:r>
            <a:endParaRPr lang="zh-CN" altLang="en-US" dirty="0"/>
          </a:p>
        </p:txBody>
      </p:sp>
      <p:sp>
        <p:nvSpPr>
          <p:cNvPr id="3" name="内容占位符 2">
            <a:extLst>
              <a:ext uri="{FF2B5EF4-FFF2-40B4-BE49-F238E27FC236}">
                <a16:creationId xmlns:a16="http://schemas.microsoft.com/office/drawing/2014/main" id="{78DA3EB4-871E-469D-A9EB-780CBF88401F}"/>
              </a:ext>
            </a:extLst>
          </p:cNvPr>
          <p:cNvSpPr>
            <a:spLocks noGrp="1"/>
          </p:cNvSpPr>
          <p:nvPr>
            <p:ph idx="1"/>
          </p:nvPr>
        </p:nvSpPr>
        <p:spPr>
          <a:xfrm>
            <a:off x="251520" y="789553"/>
            <a:ext cx="8784976" cy="3805070"/>
          </a:xfrm>
        </p:spPr>
        <p:txBody>
          <a:bodyPr/>
          <a:lstStyle/>
          <a:p>
            <a:r>
              <a:rPr lang="en-US" altLang="zh-CN" sz="2000" b="1" dirty="0"/>
              <a:t>demand driven or lazy evaluation</a:t>
            </a:r>
          </a:p>
          <a:p>
            <a:pPr lvl="1"/>
            <a:r>
              <a:rPr lang="en-US" altLang="zh-CN" sz="1600" dirty="0"/>
              <a:t>System repeatedly requests next tuple from top level operation</a:t>
            </a:r>
          </a:p>
          <a:p>
            <a:pPr lvl="1"/>
            <a:r>
              <a:rPr lang="en-US" altLang="zh-CN" sz="1600" dirty="0"/>
              <a:t>Each operation requests next tuple from children operations as required, in order to output its next tuple</a:t>
            </a:r>
          </a:p>
          <a:p>
            <a:pPr lvl="1"/>
            <a:r>
              <a:rPr lang="en-US" altLang="zh-CN" sz="1600" dirty="0"/>
              <a:t>Between calls, operation has to maintain “state” so it knows what to return next</a:t>
            </a:r>
          </a:p>
          <a:p>
            <a:pPr lvl="1"/>
            <a:r>
              <a:rPr lang="en-US" altLang="zh-CN" sz="1600" dirty="0"/>
              <a:t>Each operation is implemented as an iterator implementing the following operations</a:t>
            </a:r>
          </a:p>
          <a:p>
            <a:r>
              <a:rPr lang="en-US" altLang="zh-CN" sz="2000" b="1" dirty="0"/>
              <a:t>Producer-driven or eager pipelining</a:t>
            </a:r>
          </a:p>
          <a:p>
            <a:pPr lvl="1"/>
            <a:r>
              <a:rPr lang="en-US" altLang="zh-CN" sz="1800" dirty="0"/>
              <a:t>Operators produce tuples eagerly and pass them up to their parents</a:t>
            </a:r>
          </a:p>
          <a:p>
            <a:pPr lvl="2"/>
            <a:r>
              <a:rPr lang="en-US" altLang="zh-CN" sz="1600" dirty="0"/>
              <a:t>Buffer maintained between operators, child puts tuples in buffer, and parent reads tuples from buffer</a:t>
            </a:r>
          </a:p>
          <a:p>
            <a:pPr lvl="2"/>
            <a:r>
              <a:rPr lang="en-US" altLang="zh-CN" sz="1600" dirty="0"/>
              <a:t>If buffer is full, child waits till there is space in the buffer, and then generates more tuples</a:t>
            </a:r>
          </a:p>
          <a:p>
            <a:pPr lvl="1"/>
            <a:endParaRPr lang="en-US" altLang="zh-CN" sz="1600" dirty="0"/>
          </a:p>
        </p:txBody>
      </p:sp>
    </p:spTree>
    <p:extLst>
      <p:ext uri="{BB962C8B-B14F-4D97-AF65-F5344CB8AC3E}">
        <p14:creationId xmlns:p14="http://schemas.microsoft.com/office/powerpoint/2010/main" val="33309071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barn(inVertical)">
                                      <p:cBhvr>
                                        <p:cTn id="7" dur="500"/>
                                        <p:tgtEl>
                                          <p:spTgt spid="3">
                                            <p:txEl>
                                              <p:pRg st="5" end="5"/>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barn(inVertical)">
                                      <p:cBhvr>
                                        <p:cTn id="10" dur="500"/>
                                        <p:tgtEl>
                                          <p:spTgt spid="3">
                                            <p:txEl>
                                              <p:pRg st="6" end="6"/>
                                            </p:txEl>
                                          </p:spTgt>
                                        </p:tgtEl>
                                      </p:cBhvr>
                                    </p:animEffect>
                                  </p:childTnLst>
                                </p:cTn>
                              </p:par>
                              <p:par>
                                <p:cTn id="11" presetID="16" presetClass="entr" presetSubtype="21"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barn(inVertical)">
                                      <p:cBhvr>
                                        <p:cTn id="13" dur="500"/>
                                        <p:tgtEl>
                                          <p:spTgt spid="3">
                                            <p:txEl>
                                              <p:pRg st="7" end="7"/>
                                            </p:txEl>
                                          </p:spTgt>
                                        </p:tgtEl>
                                      </p:cBhvr>
                                    </p:animEffect>
                                  </p:childTnLst>
                                </p:cTn>
                              </p:par>
                              <p:par>
                                <p:cTn id="14" presetID="16" presetClass="entr" presetSubtype="21" fill="hold" nodeType="with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animEffect transition="in" filter="barn(inVertical)">
                                      <p:cBhvr>
                                        <p:cTn id="16"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1995686"/>
            <a:ext cx="7386416" cy="519113"/>
          </a:xfrm>
        </p:spPr>
        <p:txBody>
          <a:bodyPr/>
          <a:lstStyle/>
          <a:p>
            <a:r>
              <a:rPr lang="en-US" altLang="zh-CN" sz="3600" dirty="0">
                <a:latin typeface="Arial" panose="020B0604020202020204" pitchFamily="34" charset="0"/>
                <a:ea typeface="宋体" pitchFamily="2" charset="-122"/>
              </a:rPr>
              <a:t>End of Chapter 15</a:t>
            </a:r>
            <a:endParaRPr lang="zh-CN" altLang="en-US" sz="3600" dirty="0">
              <a:latin typeface="Arial" panose="020B0604020202020204" pitchFamily="34" charset="0"/>
            </a:endParaRPr>
          </a:p>
        </p:txBody>
      </p:sp>
    </p:spTree>
    <p:extLst>
      <p:ext uri="{BB962C8B-B14F-4D97-AF65-F5344CB8AC3E}">
        <p14:creationId xmlns:p14="http://schemas.microsoft.com/office/powerpoint/2010/main" val="667907772"/>
      </p:ext>
    </p:extLst>
  </p:cSld>
  <p:clrMapOvr>
    <a:masterClrMapping/>
  </p:clrMapOvr>
</p:sld>
</file>

<file path=ppt/theme/theme1.xml><?xml version="1.0" encoding="utf-8"?>
<a:theme xmlns:a="http://schemas.openxmlformats.org/drawingml/2006/main" name="默认设计模板">
  <a:themeElements>
    <a:clrScheme name="Office">
      <a:dk1>
        <a:sysClr val="windowText" lastClr="000000"/>
      </a:dk1>
      <a:lt1>
        <a:sysClr val="window" lastClr="CCE8C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Office 主题">
  <a:themeElements>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2_Office 主题">
      <a:majorFont>
        <a:latin typeface="Calibri"/>
        <a:ea typeface="黑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5400" cap="flat" cmpd="sng">
          <a:solidFill>
            <a:srgbClr val="FF0000"/>
          </a:solidFill>
          <a:prstDash val="sysDash"/>
          <a:round/>
        </a:ln>
      </a:spPr>
      <a:bodyPr anchor="ctr"/>
      <a:lstStyle>
        <a:defPPr>
          <a:defRPr/>
        </a:defPPr>
      </a:lstStyle>
    </a:spDef>
  </a:objectDefaults>
  <a:extraClrSchemeLst>
    <a:extraClrScheme>
      <a:clrScheme name="2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第1章 绪论.potx" id="{A4F0AC33-72D4-4097-837F-93641403082A}" vid="{4062CE69-8121-4E25-9D20-76EC1D6FDB85}"/>
    </a:ext>
  </a:extLst>
</a:theme>
</file>

<file path=ppt/theme/theme3.xml><?xml version="1.0" encoding="utf-8"?>
<a:theme xmlns:a="http://schemas.openxmlformats.org/drawingml/2006/main" name="Office-te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teema">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37604</TotalTime>
  <Words>5170</Words>
  <Application>Microsoft Office PowerPoint</Application>
  <PresentationFormat>全屏显示(16:9)</PresentationFormat>
  <Paragraphs>492</Paragraphs>
  <Slides>61</Slides>
  <Notes>10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61</vt:i4>
      </vt:variant>
    </vt:vector>
  </HeadingPairs>
  <TitlesOfParts>
    <vt:vector size="76" baseType="lpstr">
      <vt:lpstr>黑体</vt:lpstr>
      <vt:lpstr>华文楷体</vt:lpstr>
      <vt:lpstr>华文行楷</vt:lpstr>
      <vt:lpstr>宋体</vt:lpstr>
      <vt:lpstr>微软雅黑</vt:lpstr>
      <vt:lpstr>Arial</vt:lpstr>
      <vt:lpstr>Calibri</vt:lpstr>
      <vt:lpstr>Cambria Math</vt:lpstr>
      <vt:lpstr>Comic Sans MS</vt:lpstr>
      <vt:lpstr>Helvetica</vt:lpstr>
      <vt:lpstr>Times New Roman</vt:lpstr>
      <vt:lpstr>Trebuchet MS</vt:lpstr>
      <vt:lpstr>Wingdings</vt:lpstr>
      <vt:lpstr>默认设计模板</vt:lpstr>
      <vt:lpstr>2_Office 主题</vt:lpstr>
      <vt:lpstr>PowerPoint 演示文稿</vt:lpstr>
      <vt:lpstr>Outline</vt:lpstr>
      <vt:lpstr>查询处理的基本步骤</vt:lpstr>
      <vt:lpstr>查询处理的基本步骤</vt:lpstr>
      <vt:lpstr>查询优化</vt:lpstr>
      <vt:lpstr>查询优化（续）</vt:lpstr>
      <vt:lpstr>查询优化（续）</vt:lpstr>
      <vt:lpstr>Outline</vt:lpstr>
      <vt:lpstr>查询代价度量</vt:lpstr>
      <vt:lpstr>查询代价度量（续）</vt:lpstr>
      <vt:lpstr>Outline</vt:lpstr>
      <vt:lpstr>Selection Operation/选择运算</vt:lpstr>
      <vt:lpstr>选择运算</vt:lpstr>
      <vt:lpstr>Selections using Indices</vt:lpstr>
      <vt:lpstr>Selections using Indices (Cont.)</vt:lpstr>
      <vt:lpstr>Selections Involving Comparisons</vt:lpstr>
      <vt:lpstr>Selections Involving Comparisons (Cont.)</vt:lpstr>
      <vt:lpstr>Selection Operation Cost Estimation</vt:lpstr>
      <vt:lpstr>复杂选择的实现</vt:lpstr>
      <vt:lpstr>复杂选择的实现（续）</vt:lpstr>
      <vt:lpstr>Outline</vt:lpstr>
      <vt:lpstr>Sorting</vt:lpstr>
      <vt:lpstr>External Sort-Merge (外排序-归并)</vt:lpstr>
      <vt:lpstr>外排序-归并（续）</vt:lpstr>
      <vt:lpstr>外排序-归并（续）</vt:lpstr>
      <vt:lpstr>外排序-归并（续）</vt:lpstr>
      <vt:lpstr>外排序-归并（续）</vt:lpstr>
      <vt:lpstr>外排序-归并（续）</vt:lpstr>
      <vt:lpstr>Outline</vt:lpstr>
      <vt:lpstr>Join Operation/连接运算</vt:lpstr>
      <vt:lpstr>Nested-Loop Join (嵌套循环连接)</vt:lpstr>
      <vt:lpstr>Nested-Loop Join (Cont.)</vt:lpstr>
      <vt:lpstr>Block Nested-Loop Join (块嵌套循环连接)</vt:lpstr>
      <vt:lpstr>Block Nested-Loop Join (Cont.)</vt:lpstr>
      <vt:lpstr>Block Nested-Loop Join (Cont.)</vt:lpstr>
      <vt:lpstr>Indexed Nested-Loop Join (索引嵌套循环连接)</vt:lpstr>
      <vt:lpstr>Example of Indexed Nested-Loop Join Costs</vt:lpstr>
      <vt:lpstr>Merge-Join* (归并连接)</vt:lpstr>
      <vt:lpstr>Merge-Join* (Cont.)</vt:lpstr>
      <vt:lpstr>Hash-Join* (散列连接)</vt:lpstr>
      <vt:lpstr>Hash-Join*</vt:lpstr>
      <vt:lpstr>Hash-Join* (Cont.)</vt:lpstr>
      <vt:lpstr>Handling of Overflows</vt:lpstr>
      <vt:lpstr>Cost of Hash-Join</vt:lpstr>
      <vt:lpstr>Example of Cost of Hash-Join</vt:lpstr>
      <vt:lpstr>Hybrid Hash–Join</vt:lpstr>
      <vt:lpstr>Hybrid Hash–Join</vt:lpstr>
      <vt:lpstr>Complex Joins</vt:lpstr>
      <vt:lpstr>Complex Joins</vt:lpstr>
      <vt:lpstr>Outline</vt:lpstr>
      <vt:lpstr>Duplicate Elimination &amp; Projection </vt:lpstr>
      <vt:lpstr>Aggregation</vt:lpstr>
      <vt:lpstr>Set Operations</vt:lpstr>
      <vt:lpstr>Outer Join</vt:lpstr>
      <vt:lpstr>Outline</vt:lpstr>
      <vt:lpstr>Evaluation of Expressions</vt:lpstr>
      <vt:lpstr>Materialization (物化)</vt:lpstr>
      <vt:lpstr>Materialization (Cont.)</vt:lpstr>
      <vt:lpstr>Pipelining (流水线)</vt:lpstr>
      <vt:lpstr>Pipelining (Cont.)</vt:lpstr>
      <vt:lpstr>End of Chapter 15</vt:lpstr>
    </vt:vector>
  </TitlesOfParts>
  <Company>Global Intelligence Alliance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Value Creating System Analysis</dc:title>
  <dc:creator>Jessie Wang</dc:creator>
  <cp:lastModifiedBy>ZYC</cp:lastModifiedBy>
  <cp:revision>2368</cp:revision>
  <dcterms:created xsi:type="dcterms:W3CDTF">2007-09-26T12:04:45Z</dcterms:created>
  <dcterms:modified xsi:type="dcterms:W3CDTF">2024-04-23T07:45:30Z</dcterms:modified>
</cp:coreProperties>
</file>