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5" r:id="rId1"/>
  </p:sldMasterIdLst>
  <p:notesMasterIdLst>
    <p:notesMasterId r:id="rId107"/>
  </p:notesMasterIdLst>
  <p:handoutMasterIdLst>
    <p:handoutMasterId r:id="rId108"/>
  </p:handoutMasterIdLst>
  <p:sldIdLst>
    <p:sldId id="2060" r:id="rId2"/>
    <p:sldId id="1798" r:id="rId3"/>
    <p:sldId id="1924" r:id="rId4"/>
    <p:sldId id="1922" r:id="rId5"/>
    <p:sldId id="1925" r:id="rId6"/>
    <p:sldId id="1926" r:id="rId7"/>
    <p:sldId id="1927" r:id="rId8"/>
    <p:sldId id="1928" r:id="rId9"/>
    <p:sldId id="1929" r:id="rId10"/>
    <p:sldId id="1930" r:id="rId11"/>
    <p:sldId id="1946" r:id="rId12"/>
    <p:sldId id="1932" r:id="rId13"/>
    <p:sldId id="2010" r:id="rId14"/>
    <p:sldId id="2066" r:id="rId15"/>
    <p:sldId id="1934" r:id="rId16"/>
    <p:sldId id="1935" r:id="rId17"/>
    <p:sldId id="1936" r:id="rId18"/>
    <p:sldId id="1937" r:id="rId19"/>
    <p:sldId id="1938" r:id="rId20"/>
    <p:sldId id="1939" r:id="rId21"/>
    <p:sldId id="1940" r:id="rId22"/>
    <p:sldId id="1941" r:id="rId23"/>
    <p:sldId id="1942" r:id="rId24"/>
    <p:sldId id="1943" r:id="rId25"/>
    <p:sldId id="2011" r:id="rId26"/>
    <p:sldId id="1944" r:id="rId27"/>
    <p:sldId id="1945" r:id="rId28"/>
    <p:sldId id="1947" r:id="rId29"/>
    <p:sldId id="1948" r:id="rId30"/>
    <p:sldId id="1949" r:id="rId31"/>
    <p:sldId id="1950" r:id="rId32"/>
    <p:sldId id="1951" r:id="rId33"/>
    <p:sldId id="1952" r:id="rId34"/>
    <p:sldId id="1953" r:id="rId35"/>
    <p:sldId id="1954" r:id="rId36"/>
    <p:sldId id="1955" r:id="rId37"/>
    <p:sldId id="1956" r:id="rId38"/>
    <p:sldId id="1959" r:id="rId39"/>
    <p:sldId id="1960" r:id="rId40"/>
    <p:sldId id="2012" r:id="rId41"/>
    <p:sldId id="1961" r:id="rId42"/>
    <p:sldId id="1962" r:id="rId43"/>
    <p:sldId id="1963" r:id="rId44"/>
    <p:sldId id="1966" r:id="rId45"/>
    <p:sldId id="1967" r:id="rId46"/>
    <p:sldId id="1968" r:id="rId47"/>
    <p:sldId id="1969" r:id="rId48"/>
    <p:sldId id="1970" r:id="rId49"/>
    <p:sldId id="1971" r:id="rId50"/>
    <p:sldId id="1972" r:id="rId51"/>
    <p:sldId id="2013" r:id="rId52"/>
    <p:sldId id="1964" r:id="rId53"/>
    <p:sldId id="1965" r:id="rId54"/>
    <p:sldId id="1973" r:id="rId55"/>
    <p:sldId id="1974" r:id="rId56"/>
    <p:sldId id="2014" r:id="rId57"/>
    <p:sldId id="1975" r:id="rId58"/>
    <p:sldId id="1976" r:id="rId59"/>
    <p:sldId id="1978" r:id="rId60"/>
    <p:sldId id="2067" r:id="rId61"/>
    <p:sldId id="1980" r:id="rId62"/>
    <p:sldId id="1981" r:id="rId63"/>
    <p:sldId id="1982" r:id="rId64"/>
    <p:sldId id="1983" r:id="rId65"/>
    <p:sldId id="1984" r:id="rId66"/>
    <p:sldId id="1985" r:id="rId67"/>
    <p:sldId id="1986" r:id="rId68"/>
    <p:sldId id="2015" r:id="rId69"/>
    <p:sldId id="1987" r:id="rId70"/>
    <p:sldId id="1988" r:id="rId71"/>
    <p:sldId id="1990" r:id="rId72"/>
    <p:sldId id="1991" r:id="rId73"/>
    <p:sldId id="2068" r:id="rId74"/>
    <p:sldId id="2016" r:id="rId75"/>
    <p:sldId id="1993" r:id="rId76"/>
    <p:sldId id="1994" r:id="rId77"/>
    <p:sldId id="2058" r:id="rId78"/>
    <p:sldId id="2025" r:id="rId79"/>
    <p:sldId id="2026" r:id="rId80"/>
    <p:sldId id="2027" r:id="rId81"/>
    <p:sldId id="2059" r:id="rId82"/>
    <p:sldId id="2028" r:id="rId83"/>
    <p:sldId id="2029" r:id="rId84"/>
    <p:sldId id="2030" r:id="rId85"/>
    <p:sldId id="2040" r:id="rId86"/>
    <p:sldId id="2041" r:id="rId87"/>
    <p:sldId id="2039" r:id="rId88"/>
    <p:sldId id="2038" r:id="rId89"/>
    <p:sldId id="2036" r:id="rId90"/>
    <p:sldId id="2037" r:id="rId91"/>
    <p:sldId id="2042" r:id="rId92"/>
    <p:sldId id="2043" r:id="rId93"/>
    <p:sldId id="2044" r:id="rId94"/>
    <p:sldId id="2045" r:id="rId95"/>
    <p:sldId id="2046" r:id="rId96"/>
    <p:sldId id="2047" r:id="rId97"/>
    <p:sldId id="2048" r:id="rId98"/>
    <p:sldId id="2049" r:id="rId99"/>
    <p:sldId id="2050" r:id="rId100"/>
    <p:sldId id="2051" r:id="rId101"/>
    <p:sldId id="2052" r:id="rId102"/>
    <p:sldId id="2054" r:id="rId103"/>
    <p:sldId id="2055" r:id="rId104"/>
    <p:sldId id="2056" r:id="rId105"/>
    <p:sldId id="1910" r:id="rId106"/>
  </p:sldIdLst>
  <p:sldSz cx="9144000" cy="5143500" type="screen16x9"/>
  <p:notesSz cx="6858000" cy="9144000"/>
  <p:defaultTextStyle>
    <a:defPPr>
      <a:defRPr lang="fi-FI"/>
    </a:defPPr>
    <a:lvl1pPr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1pPr>
    <a:lvl2pPr marL="4556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2pPr>
    <a:lvl3pPr marL="9128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3pPr>
    <a:lvl4pPr marL="13700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4pPr>
    <a:lvl5pPr marL="18272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5pPr>
    <a:lvl6pPr marL="2286000" algn="l" defTabSz="914400" rtl="0" eaLnBrk="1" latinLnBrk="0" hangingPunct="1">
      <a:defRPr sz="1400" kern="1200">
        <a:solidFill>
          <a:schemeClr val="tx1"/>
        </a:solidFill>
        <a:latin typeface="Trebuchet MS" pitchFamily="96" charset="0"/>
        <a:ea typeface="宋体" charset="-122"/>
        <a:cs typeface="+mn-cs"/>
      </a:defRPr>
    </a:lvl6pPr>
    <a:lvl7pPr marL="2743200" algn="l" defTabSz="914400" rtl="0" eaLnBrk="1" latinLnBrk="0" hangingPunct="1">
      <a:defRPr sz="1400" kern="1200">
        <a:solidFill>
          <a:schemeClr val="tx1"/>
        </a:solidFill>
        <a:latin typeface="Trebuchet MS" pitchFamily="96" charset="0"/>
        <a:ea typeface="宋体" charset="-122"/>
        <a:cs typeface="+mn-cs"/>
      </a:defRPr>
    </a:lvl7pPr>
    <a:lvl8pPr marL="3200400" algn="l" defTabSz="914400" rtl="0" eaLnBrk="1" latinLnBrk="0" hangingPunct="1">
      <a:defRPr sz="1400" kern="1200">
        <a:solidFill>
          <a:schemeClr val="tx1"/>
        </a:solidFill>
        <a:latin typeface="Trebuchet MS" pitchFamily="96" charset="0"/>
        <a:ea typeface="宋体" charset="-122"/>
        <a:cs typeface="+mn-cs"/>
      </a:defRPr>
    </a:lvl8pPr>
    <a:lvl9pPr marL="3657600" algn="l" defTabSz="914400" rtl="0" eaLnBrk="1" latinLnBrk="0" hangingPunct="1">
      <a:defRPr sz="1400" kern="1200">
        <a:solidFill>
          <a:schemeClr val="tx1"/>
        </a:solidFill>
        <a:latin typeface="Trebuchet MS" pitchFamily="96" charset="0"/>
        <a:ea typeface="宋体" charset="-122"/>
        <a:cs typeface="+mn-cs"/>
      </a:defRPr>
    </a:lvl9pPr>
  </p:defaultTextStyle>
  <p:extLst>
    <p:ext uri="{521415D9-36F7-43E2-AB2F-B90AF26B5E84}">
      <p14:sectionLst xmlns:p14="http://schemas.microsoft.com/office/powerpoint/2010/main">
        <p14:section name="标题" id="{EB83E03E-195F-4588-BA9C-87CAE50CC123}">
          <p14:sldIdLst>
            <p14:sldId id="2060"/>
            <p14:sldId id="1798"/>
            <p14:sldId id="1924"/>
            <p14:sldId id="1922"/>
            <p14:sldId id="1925"/>
            <p14:sldId id="1926"/>
            <p14:sldId id="1927"/>
            <p14:sldId id="1928"/>
            <p14:sldId id="1929"/>
            <p14:sldId id="1930"/>
            <p14:sldId id="1946"/>
            <p14:sldId id="1932"/>
            <p14:sldId id="2010"/>
            <p14:sldId id="2066"/>
            <p14:sldId id="1934"/>
            <p14:sldId id="1935"/>
            <p14:sldId id="1936"/>
            <p14:sldId id="1937"/>
            <p14:sldId id="1938"/>
            <p14:sldId id="1939"/>
            <p14:sldId id="1940"/>
            <p14:sldId id="1941"/>
            <p14:sldId id="1942"/>
            <p14:sldId id="1943"/>
            <p14:sldId id="2011"/>
            <p14:sldId id="1944"/>
            <p14:sldId id="1945"/>
            <p14:sldId id="1947"/>
            <p14:sldId id="1948"/>
            <p14:sldId id="1949"/>
            <p14:sldId id="1950"/>
            <p14:sldId id="1951"/>
            <p14:sldId id="1952"/>
            <p14:sldId id="1953"/>
            <p14:sldId id="1954"/>
            <p14:sldId id="1955"/>
            <p14:sldId id="1956"/>
            <p14:sldId id="1959"/>
            <p14:sldId id="1960"/>
            <p14:sldId id="2012"/>
            <p14:sldId id="1961"/>
            <p14:sldId id="1962"/>
            <p14:sldId id="1963"/>
            <p14:sldId id="1966"/>
            <p14:sldId id="1967"/>
            <p14:sldId id="1968"/>
            <p14:sldId id="1969"/>
            <p14:sldId id="1970"/>
            <p14:sldId id="1971"/>
            <p14:sldId id="1972"/>
            <p14:sldId id="2013"/>
            <p14:sldId id="1964"/>
            <p14:sldId id="1965"/>
            <p14:sldId id="1973"/>
            <p14:sldId id="1974"/>
            <p14:sldId id="2014"/>
            <p14:sldId id="1975"/>
            <p14:sldId id="1976"/>
            <p14:sldId id="1978"/>
            <p14:sldId id="2067"/>
            <p14:sldId id="1980"/>
            <p14:sldId id="1981"/>
            <p14:sldId id="1982"/>
            <p14:sldId id="1983"/>
            <p14:sldId id="1984"/>
            <p14:sldId id="1985"/>
            <p14:sldId id="1986"/>
            <p14:sldId id="2015"/>
            <p14:sldId id="1987"/>
            <p14:sldId id="1988"/>
            <p14:sldId id="1990"/>
            <p14:sldId id="1991"/>
            <p14:sldId id="2068"/>
            <p14:sldId id="2016"/>
            <p14:sldId id="1993"/>
            <p14:sldId id="1994"/>
            <p14:sldId id="2058"/>
            <p14:sldId id="2025"/>
            <p14:sldId id="2026"/>
            <p14:sldId id="2027"/>
            <p14:sldId id="2059"/>
            <p14:sldId id="2028"/>
            <p14:sldId id="2029"/>
            <p14:sldId id="2030"/>
            <p14:sldId id="2040"/>
            <p14:sldId id="2041"/>
            <p14:sldId id="2039"/>
            <p14:sldId id="2038"/>
            <p14:sldId id="2036"/>
            <p14:sldId id="2037"/>
            <p14:sldId id="2042"/>
            <p14:sldId id="2043"/>
            <p14:sldId id="2044"/>
            <p14:sldId id="2045"/>
            <p14:sldId id="2046"/>
            <p14:sldId id="2047"/>
            <p14:sldId id="2048"/>
            <p14:sldId id="2049"/>
            <p14:sldId id="2050"/>
            <p14:sldId id="2051"/>
            <p14:sldId id="2052"/>
            <p14:sldId id="2054"/>
            <p14:sldId id="2055"/>
            <p14:sldId id="2056"/>
            <p14:sldId id="1910"/>
          </p14:sldIdLst>
        </p14:section>
      </p14:sectionLst>
    </p:ext>
    <p:ext uri="{EFAFB233-063F-42B5-8137-9DF3F51BA10A}">
      <p15:sldGuideLst xmlns:p15="http://schemas.microsoft.com/office/powerpoint/2012/main">
        <p15:guide id="1" orient="horz" pos="3838" userDrawn="1">
          <p15:clr>
            <a:srgbClr val="A4A3A4"/>
          </p15:clr>
        </p15:guide>
        <p15:guide id="2" pos="295" userDrawn="1">
          <p15:clr>
            <a:srgbClr val="A4A3A4"/>
          </p15:clr>
        </p15:guide>
        <p15:guide id="4" pos="5193" userDrawn="1">
          <p15:clr>
            <a:srgbClr val="A4A3A4"/>
          </p15:clr>
        </p15:guide>
        <p15:guide id="5" pos="3152" userDrawn="1">
          <p15:clr>
            <a:srgbClr val="A4A3A4"/>
          </p15:clr>
        </p15:guide>
        <p15:guide id="6" orient="horz" pos="287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06BA"/>
    <a:srgbClr val="080808"/>
    <a:srgbClr val="339933"/>
    <a:srgbClr val="B5880B"/>
    <a:srgbClr val="E87071"/>
    <a:srgbClr val="00B3EE"/>
    <a:srgbClr val="93E5FF"/>
    <a:srgbClr val="F7FE98"/>
    <a:srgbClr val="FFFFFF"/>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1289" autoAdjust="0"/>
  </p:normalViewPr>
  <p:slideViewPr>
    <p:cSldViewPr>
      <p:cViewPr varScale="1">
        <p:scale>
          <a:sx n="139" d="100"/>
          <a:sy n="139" d="100"/>
        </p:scale>
        <p:origin x="804" y="108"/>
      </p:cViewPr>
      <p:guideLst>
        <p:guide orient="horz" pos="3838"/>
        <p:guide pos="295"/>
        <p:guide pos="5193"/>
        <p:guide pos="3152"/>
        <p:guide orient="horz" pos="2879"/>
      </p:guideLst>
    </p:cSldViewPr>
  </p:slideViewPr>
  <p:notesTextViewPr>
    <p:cViewPr>
      <p:scale>
        <a:sx n="200" d="100"/>
        <a:sy n="200" d="100"/>
      </p:scale>
      <p:origin x="0" y="0"/>
    </p:cViewPr>
  </p:notesTextViewPr>
  <p:sorterViewPr>
    <p:cViewPr>
      <p:scale>
        <a:sx n="100" d="100"/>
        <a:sy n="10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handoutMaster" Target="handoutMasters/handout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atin typeface="Arial" charset="0"/>
                <a:ea typeface="+mn-ea"/>
              </a:defRPr>
            </a:lvl1pPr>
          </a:lstStyle>
          <a:p>
            <a:pPr>
              <a:defRPr/>
            </a:pPr>
            <a:endParaRPr lang="en-GB" altLang="zh-CN"/>
          </a:p>
        </p:txBody>
      </p:sp>
      <p:sp>
        <p:nvSpPr>
          <p:cNvPr id="17510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atin typeface="Arial" charset="0"/>
                <a:ea typeface="+mn-ea"/>
              </a:defRPr>
            </a:lvl1pPr>
          </a:lstStyle>
          <a:p>
            <a:pPr>
              <a:defRPr/>
            </a:pPr>
            <a:endParaRPr lang="en-GB" altLang="zh-CN"/>
          </a:p>
        </p:txBody>
      </p:sp>
      <p:sp>
        <p:nvSpPr>
          <p:cNvPr id="17510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atin typeface="Arial" charset="0"/>
                <a:ea typeface="+mn-ea"/>
              </a:defRPr>
            </a:lvl1pPr>
          </a:lstStyle>
          <a:p>
            <a:pPr>
              <a:defRPr/>
            </a:pPr>
            <a:endParaRPr lang="en-GB" altLang="zh-CN"/>
          </a:p>
        </p:txBody>
      </p:sp>
      <p:sp>
        <p:nvSpPr>
          <p:cNvPr id="17510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atin typeface="Arial" charset="0"/>
                <a:ea typeface="+mn-ea"/>
              </a:defRPr>
            </a:lvl1pPr>
          </a:lstStyle>
          <a:p>
            <a:pPr>
              <a:defRPr/>
            </a:pPr>
            <a:fld id="{58CD87A4-0184-412C-A44A-3DA728178AFF}" type="slidenum">
              <a:rPr lang="en-GB" altLang="zh-CN"/>
              <a:pPr>
                <a:defRPr/>
              </a:pPr>
              <a:t>‹#›</a:t>
            </a:fld>
            <a:endParaRPr lang="en-GB" altLang="zh-CN"/>
          </a:p>
        </p:txBody>
      </p:sp>
    </p:spTree>
    <p:extLst>
      <p:ext uri="{BB962C8B-B14F-4D97-AF65-F5344CB8AC3E}">
        <p14:creationId xmlns:p14="http://schemas.microsoft.com/office/powerpoint/2010/main" val="23572666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atin typeface="Arial" charset="0"/>
                <a:ea typeface="+mn-ea"/>
              </a:defRPr>
            </a:lvl1pPr>
          </a:lstStyle>
          <a:p>
            <a:pPr>
              <a:defRPr/>
            </a:pPr>
            <a:endParaRPr lang="en-US" altLang="zh-CN"/>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atin typeface="Arial" charset="0"/>
                <a:ea typeface="+mn-ea"/>
              </a:defRPr>
            </a:lvl1pPr>
          </a:lstStyle>
          <a:p>
            <a:pPr>
              <a:defRPr/>
            </a:pPr>
            <a:endParaRPr lang="en-US" altLang="zh-CN"/>
          </a:p>
        </p:txBody>
      </p:sp>
      <p:sp>
        <p:nvSpPr>
          <p:cNvPr id="71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fi-FI" noProof="0"/>
              <a:t>Muokkaa tekstin perustyylejä napsauttamalla</a:t>
            </a:r>
          </a:p>
          <a:p>
            <a:pPr lvl="1"/>
            <a:r>
              <a:rPr lang="fi-FI" noProof="0"/>
              <a:t>toinen taso</a:t>
            </a:r>
          </a:p>
          <a:p>
            <a:pPr lvl="2"/>
            <a:r>
              <a:rPr lang="fi-FI" noProof="0"/>
              <a:t>kolmas taso</a:t>
            </a:r>
          </a:p>
          <a:p>
            <a:pPr lvl="3"/>
            <a:r>
              <a:rPr lang="fi-FI" noProof="0"/>
              <a:t>neljäs taso</a:t>
            </a:r>
          </a:p>
          <a:p>
            <a:pPr lvl="4"/>
            <a:r>
              <a:rPr lang="fi-FI" noProof="0"/>
              <a:t>viides taso</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atin typeface="Arial" charset="0"/>
                <a:ea typeface="+mn-ea"/>
              </a:defRPr>
            </a:lvl1pPr>
          </a:lstStyle>
          <a:p>
            <a:pPr>
              <a:defRPr/>
            </a:pPr>
            <a:endParaRPr lang="en-US" altLang="zh-CN"/>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atin typeface="Arial" charset="0"/>
                <a:ea typeface="+mn-ea"/>
              </a:defRPr>
            </a:lvl1pPr>
          </a:lstStyle>
          <a:p>
            <a:pPr>
              <a:defRPr/>
            </a:pPr>
            <a:fld id="{BB8C311E-5859-4E0C-A0F3-4690A095D6BE}" type="slidenum">
              <a:rPr lang="fi-FI" altLang="zh-CN"/>
              <a:pPr>
                <a:defRPr/>
              </a:pPr>
              <a:t>‹#›</a:t>
            </a:fld>
            <a:endParaRPr lang="fi-FI" altLang="zh-CN"/>
          </a:p>
        </p:txBody>
      </p:sp>
    </p:spTree>
    <p:extLst>
      <p:ext uri="{BB962C8B-B14F-4D97-AF65-F5344CB8AC3E}">
        <p14:creationId xmlns:p14="http://schemas.microsoft.com/office/powerpoint/2010/main" val="17204162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5613" algn="l" rtl="0" eaLnBrk="0" fontAlgn="base" hangingPunct="0">
      <a:spcBef>
        <a:spcPct val="30000"/>
      </a:spcBef>
      <a:spcAft>
        <a:spcPct val="0"/>
      </a:spcAft>
      <a:defRPr sz="1200" kern="1200">
        <a:solidFill>
          <a:schemeClr val="tx1"/>
        </a:solidFill>
        <a:latin typeface="Arial" charset="0"/>
        <a:ea typeface="+mn-ea"/>
        <a:cs typeface="+mn-cs"/>
      </a:defRPr>
    </a:lvl2pPr>
    <a:lvl3pPr marL="912813" algn="l" rtl="0" eaLnBrk="0" fontAlgn="base" hangingPunct="0">
      <a:spcBef>
        <a:spcPct val="30000"/>
      </a:spcBef>
      <a:spcAft>
        <a:spcPct val="0"/>
      </a:spcAft>
      <a:defRPr sz="1200" kern="1200">
        <a:solidFill>
          <a:schemeClr val="tx1"/>
        </a:solidFill>
        <a:latin typeface="Arial" charset="0"/>
        <a:ea typeface="+mn-ea"/>
        <a:cs typeface="+mn-cs"/>
      </a:defRPr>
    </a:lvl3pPr>
    <a:lvl4pPr marL="1370013" algn="l" rtl="0" eaLnBrk="0" fontAlgn="base" hangingPunct="0">
      <a:spcBef>
        <a:spcPct val="30000"/>
      </a:spcBef>
      <a:spcAft>
        <a:spcPct val="0"/>
      </a:spcAft>
      <a:defRPr sz="1200" kern="1200">
        <a:solidFill>
          <a:schemeClr val="tx1"/>
        </a:solidFill>
        <a:latin typeface="Arial" charset="0"/>
        <a:ea typeface="+mn-ea"/>
        <a:cs typeface="+mn-cs"/>
      </a:defRPr>
    </a:lvl4pPr>
    <a:lvl5pPr marL="1827213" algn="l" rtl="0" eaLnBrk="0" fontAlgn="base" hangingPunct="0">
      <a:spcBef>
        <a:spcPct val="30000"/>
      </a:spcBef>
      <a:spcAft>
        <a:spcPct val="0"/>
      </a:spcAft>
      <a:defRPr sz="1200" kern="1200">
        <a:solidFill>
          <a:schemeClr val="tx1"/>
        </a:solidFill>
        <a:latin typeface="Arial" charset="0"/>
        <a:ea typeface="+mn-ea"/>
        <a:cs typeface="+mn-cs"/>
      </a:defRPr>
    </a:lvl5pPr>
    <a:lvl6pPr marL="2285726" algn="l" defTabSz="914290" rtl="0" eaLnBrk="1" latinLnBrk="0" hangingPunct="1">
      <a:defRPr sz="1200" kern="1200">
        <a:solidFill>
          <a:schemeClr val="tx1"/>
        </a:solidFill>
        <a:latin typeface="+mn-lt"/>
        <a:ea typeface="+mn-ea"/>
        <a:cs typeface="+mn-cs"/>
      </a:defRPr>
    </a:lvl6pPr>
    <a:lvl7pPr marL="2742871" algn="l" defTabSz="914290" rtl="0" eaLnBrk="1" latinLnBrk="0" hangingPunct="1">
      <a:defRPr sz="1200" kern="1200">
        <a:solidFill>
          <a:schemeClr val="tx1"/>
        </a:solidFill>
        <a:latin typeface="+mn-lt"/>
        <a:ea typeface="+mn-ea"/>
        <a:cs typeface="+mn-cs"/>
      </a:defRPr>
    </a:lvl7pPr>
    <a:lvl8pPr marL="3200016" algn="l" defTabSz="914290" rtl="0" eaLnBrk="1" latinLnBrk="0" hangingPunct="1">
      <a:defRPr sz="1200" kern="1200">
        <a:solidFill>
          <a:schemeClr val="tx1"/>
        </a:solidFill>
        <a:latin typeface="+mn-lt"/>
        <a:ea typeface="+mn-ea"/>
        <a:cs typeface="+mn-cs"/>
      </a:defRPr>
    </a:lvl8pPr>
    <a:lvl9pPr marL="3657161" algn="l" defTabSz="91429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www.03964.com/search.php?q=%C4%A6%B8%F9%CB%B9%CC%B9%C0%FB+%D2%C6%B6%AF%BB%A5%C1%AA%CD%F8%D1%D0%BE%BF%B1%A8%B8%E6" TargetMode="External"/><Relationship Id="rId2" Type="http://schemas.openxmlformats.org/officeDocument/2006/relationships/slide" Target="../slides/slide83.xml"/><Relationship Id="rId1" Type="http://schemas.openxmlformats.org/officeDocument/2006/relationships/notesMaster" Target="../notesMasters/notesMaster1.xml"/><Relationship Id="rId4" Type="http://schemas.openxmlformats.org/officeDocument/2006/relationships/hyperlink" Target="http://baike.baidu.com/view/1937.htm"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B8C311E-5859-4E0C-A0F3-4690A095D6BE}" type="slidenum">
              <a:rPr lang="fi-FI" altLang="zh-CN" smtClean="0"/>
              <a:pPr>
                <a:defRPr/>
              </a:pPr>
              <a:t>1</a:t>
            </a:fld>
            <a:endParaRPr lang="fi-FI" altLang="zh-CN"/>
          </a:p>
        </p:txBody>
      </p:sp>
    </p:spTree>
    <p:extLst>
      <p:ext uri="{BB962C8B-B14F-4D97-AF65-F5344CB8AC3E}">
        <p14:creationId xmlns:p14="http://schemas.microsoft.com/office/powerpoint/2010/main" val="3768680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Optical disk </a:t>
            </a:r>
            <a:r>
              <a:rPr lang="zh-CN" altLang="en-US" dirty="0"/>
              <a:t>光盘</a:t>
            </a:r>
            <a:endParaRPr lang="en-US" altLang="zh-CN" dirty="0"/>
          </a:p>
          <a:p>
            <a:r>
              <a:rPr lang="en-US" altLang="zh-CN" b="1" dirty="0">
                <a:solidFill>
                  <a:schemeClr val="tx2"/>
                </a:solidFill>
                <a:latin typeface="Helvetica" panose="020B0604020202020204" pitchFamily="34" charset="0"/>
              </a:rPr>
              <a:t>tertiary storage</a:t>
            </a:r>
            <a:r>
              <a:rPr lang="zh-CN" altLang="en-US" b="1" dirty="0">
                <a:solidFill>
                  <a:schemeClr val="tx2"/>
                </a:solidFill>
                <a:latin typeface="Helvetica" panose="020B0604020202020204" pitchFamily="34" charset="0"/>
              </a:rPr>
              <a:t>：三级存储</a:t>
            </a:r>
            <a:endParaRPr lang="en-US" altLang="zh-CN" b="1" dirty="0">
              <a:solidFill>
                <a:schemeClr val="tx2"/>
              </a:solidFill>
              <a:latin typeface="Helvetica" panose="020B0604020202020204" pitchFamily="34" charset="0"/>
            </a:endParaRPr>
          </a:p>
          <a:p>
            <a:r>
              <a:rPr kumimoji="0" lang="en-US" altLang="zh-CN" sz="1200" b="1" dirty="0">
                <a:solidFill>
                  <a:srgbClr val="C00000"/>
                </a:solidFill>
                <a:latin typeface="Helvetica" panose="020B0604020202020204" pitchFamily="34" charset="0"/>
                <a:ea typeface="+mn-ea"/>
              </a:rPr>
              <a:t>Volatile</a:t>
            </a:r>
            <a:r>
              <a:rPr kumimoji="0" lang="zh-CN" altLang="en-US" sz="1200" b="1" dirty="0">
                <a:solidFill>
                  <a:srgbClr val="C00000"/>
                </a:solidFill>
                <a:latin typeface="Helvetica" panose="020B0604020202020204" pitchFamily="34" charset="0"/>
                <a:ea typeface="+mn-ea"/>
              </a:rPr>
              <a:t>：</a:t>
            </a:r>
            <a:r>
              <a:rPr lang="zh-CN" altLang="en-US" sz="1200" b="0" i="0" kern="1200" dirty="0">
                <a:solidFill>
                  <a:schemeClr val="tx1"/>
                </a:solidFill>
                <a:effectLst/>
                <a:latin typeface="Arial" charset="0"/>
                <a:ea typeface="+mn-ea"/>
                <a:cs typeface="+mn-cs"/>
              </a:rPr>
              <a:t>易变的</a:t>
            </a:r>
            <a:endParaRPr lang="zh-CN" altLang="en-US" dirty="0"/>
          </a:p>
        </p:txBody>
      </p:sp>
      <p:sp>
        <p:nvSpPr>
          <p:cNvPr id="4" name="灯片编号占位符 3"/>
          <p:cNvSpPr>
            <a:spLocks noGrp="1"/>
          </p:cNvSpPr>
          <p:nvPr>
            <p:ph type="sldNum" sz="quarter" idx="10"/>
          </p:nvPr>
        </p:nvSpPr>
        <p:spPr/>
        <p:txBody>
          <a:bodyPr/>
          <a:lstStyle/>
          <a:p>
            <a:pPr>
              <a:defRPr/>
            </a:pPr>
            <a:fld id="{BB8C311E-5859-4E0C-A0F3-4690A095D6BE}" type="slidenum">
              <a:rPr lang="fi-FI" altLang="zh-CN" smtClean="0"/>
              <a:pPr>
                <a:defRPr/>
              </a:pPr>
              <a:t>3</a:t>
            </a:fld>
            <a:endParaRPr lang="fi-FI" altLang="zh-CN"/>
          </a:p>
        </p:txBody>
      </p:sp>
    </p:spTree>
    <p:extLst>
      <p:ext uri="{BB962C8B-B14F-4D97-AF65-F5344CB8AC3E}">
        <p14:creationId xmlns:p14="http://schemas.microsoft.com/office/powerpoint/2010/main" val="295631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12</a:t>
            </a:fld>
            <a:endParaRPr lang="fi-FI" altLang="zh-CN"/>
          </a:p>
        </p:txBody>
      </p:sp>
    </p:spTree>
    <p:extLst>
      <p:ext uri="{BB962C8B-B14F-4D97-AF65-F5344CB8AC3E}">
        <p14:creationId xmlns:p14="http://schemas.microsoft.com/office/powerpoint/2010/main" val="1044755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14</a:t>
            </a:fld>
            <a:endParaRPr lang="fi-FI" altLang="zh-CN"/>
          </a:p>
        </p:txBody>
      </p:sp>
    </p:spTree>
    <p:extLst>
      <p:ext uri="{BB962C8B-B14F-4D97-AF65-F5344CB8AC3E}">
        <p14:creationId xmlns:p14="http://schemas.microsoft.com/office/powerpoint/2010/main" val="2381683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Spindle</a:t>
            </a:r>
            <a:r>
              <a:rPr lang="zh-CN" altLang="en-US" sz="1200"/>
              <a:t>：</a:t>
            </a:r>
            <a:r>
              <a:rPr lang="zh-CN" altLang="en-US" sz="1200" b="0" i="0" kern="1200">
                <a:solidFill>
                  <a:schemeClr val="tx1"/>
                </a:solidFill>
                <a:effectLst/>
                <a:latin typeface="Arial" charset="0"/>
                <a:ea typeface="+mn-ea"/>
                <a:cs typeface="+mn-cs"/>
              </a:rPr>
              <a:t>轴</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15</a:t>
            </a:fld>
            <a:endParaRPr lang="fi-FI" altLang="zh-CN"/>
          </a:p>
        </p:txBody>
      </p:sp>
    </p:spTree>
    <p:extLst>
      <p:ext uri="{BB962C8B-B14F-4D97-AF65-F5344CB8AC3E}">
        <p14:creationId xmlns:p14="http://schemas.microsoft.com/office/powerpoint/2010/main" val="1811648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Disintegrate</a:t>
            </a:r>
            <a:r>
              <a:rPr lang="zh-CN" altLang="en-US" dirty="0"/>
              <a:t>：</a:t>
            </a:r>
            <a:r>
              <a:rPr lang="zh-CN" altLang="en-US" b="1" dirty="0"/>
              <a:t>分解</a:t>
            </a:r>
            <a:endParaRPr lang="zh-CN" altLang="en-US" dirty="0"/>
          </a:p>
        </p:txBody>
      </p:sp>
      <p:sp>
        <p:nvSpPr>
          <p:cNvPr id="4" name="灯片编号占位符 3"/>
          <p:cNvSpPr>
            <a:spLocks noGrp="1"/>
          </p:cNvSpPr>
          <p:nvPr>
            <p:ph type="sldNum" sz="quarter" idx="10"/>
          </p:nvPr>
        </p:nvSpPr>
        <p:spPr/>
        <p:txBody>
          <a:bodyPr/>
          <a:lstStyle/>
          <a:p>
            <a:pPr>
              <a:defRPr/>
            </a:pPr>
            <a:fld id="{BB8C311E-5859-4E0C-A0F3-4690A095D6BE}" type="slidenum">
              <a:rPr lang="fi-FI" altLang="zh-CN" smtClean="0"/>
              <a:pPr>
                <a:defRPr/>
              </a:pPr>
              <a:t>16</a:t>
            </a:fld>
            <a:endParaRPr lang="fi-FI" altLang="zh-CN"/>
          </a:p>
        </p:txBody>
      </p:sp>
    </p:spTree>
    <p:extLst>
      <p:ext uri="{BB962C8B-B14F-4D97-AF65-F5344CB8AC3E}">
        <p14:creationId xmlns:p14="http://schemas.microsoft.com/office/powerpoint/2010/main" val="1402954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自</a:t>
            </a:r>
            <a:r>
              <a:rPr lang="en-US" altLang="zh-CN" dirty="0"/>
              <a:t>20</a:t>
            </a:r>
            <a:r>
              <a:rPr lang="zh-CN" altLang="en-US" dirty="0"/>
              <a:t>世纪</a:t>
            </a:r>
            <a:r>
              <a:rPr lang="en-US" altLang="zh-CN" dirty="0"/>
              <a:t>80</a:t>
            </a:r>
            <a:r>
              <a:rPr lang="zh-CN" altLang="en-US" dirty="0"/>
              <a:t>年代，</a:t>
            </a:r>
            <a:r>
              <a:rPr lang="en-US" altLang="zh-CN" dirty="0"/>
              <a:t>ATA</a:t>
            </a:r>
            <a:r>
              <a:rPr lang="zh-CN" altLang="en-US" dirty="0"/>
              <a:t>是一种存储设备连接标准</a:t>
            </a:r>
          </a:p>
          <a:p>
            <a:endParaRPr lang="zh-CN" altLang="en-US" dirty="0"/>
          </a:p>
        </p:txBody>
      </p:sp>
      <p:sp>
        <p:nvSpPr>
          <p:cNvPr id="4" name="灯片编号占位符 3"/>
          <p:cNvSpPr>
            <a:spLocks noGrp="1"/>
          </p:cNvSpPr>
          <p:nvPr>
            <p:ph type="sldNum" sz="quarter" idx="10"/>
          </p:nvPr>
        </p:nvSpPr>
        <p:spPr/>
        <p:txBody>
          <a:bodyPr/>
          <a:lstStyle/>
          <a:p>
            <a:pPr>
              <a:defRPr/>
            </a:pPr>
            <a:fld id="{BB8C311E-5859-4E0C-A0F3-4690A095D6BE}" type="slidenum">
              <a:rPr lang="fi-FI" altLang="zh-CN" smtClean="0"/>
              <a:pPr>
                <a:defRPr/>
              </a:pPr>
              <a:t>17</a:t>
            </a:fld>
            <a:endParaRPr lang="fi-FI" altLang="zh-CN"/>
          </a:p>
        </p:txBody>
      </p:sp>
    </p:spTree>
    <p:extLst>
      <p:ext uri="{BB962C8B-B14F-4D97-AF65-F5344CB8AC3E}">
        <p14:creationId xmlns:p14="http://schemas.microsoft.com/office/powerpoint/2010/main" val="3459045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milliseconds</a:t>
            </a:r>
            <a:r>
              <a:rPr lang="zh-CN" altLang="en-US" sz="1200" dirty="0"/>
              <a:t>：</a:t>
            </a:r>
            <a:r>
              <a:rPr lang="zh-CN" altLang="en-US" sz="1200" b="0" i="0" kern="1200" dirty="0">
                <a:solidFill>
                  <a:schemeClr val="tx1"/>
                </a:solidFill>
                <a:effectLst/>
                <a:latin typeface="Arial" charset="0"/>
                <a:ea typeface="+mn-ea"/>
                <a:cs typeface="+mn-cs"/>
              </a:rPr>
              <a:t>毫秒</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18</a:t>
            </a:fld>
            <a:endParaRPr lang="fi-FI" altLang="zh-CN"/>
          </a:p>
        </p:txBody>
      </p:sp>
    </p:spTree>
    <p:extLst>
      <p:ext uri="{BB962C8B-B14F-4D97-AF65-F5344CB8AC3E}">
        <p14:creationId xmlns:p14="http://schemas.microsoft.com/office/powerpoint/2010/main" val="14466669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1" dirty="0">
                <a:solidFill>
                  <a:srgbClr val="0000FF"/>
                </a:solidFill>
              </a:rPr>
              <a:t>cost-effective:</a:t>
            </a:r>
            <a:r>
              <a:rPr lang="zh-CN" altLang="en-US" b="1" dirty="0">
                <a:solidFill>
                  <a:srgbClr val="0000FF"/>
                </a:solidFill>
              </a:rPr>
              <a:t>划算的</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BB8C311E-5859-4E0C-A0F3-4690A095D6BE}" type="slidenum">
              <a:rPr lang="fi-FI" altLang="zh-CN" smtClean="0"/>
              <a:pPr>
                <a:defRPr/>
              </a:pPr>
              <a:t>27</a:t>
            </a:fld>
            <a:endParaRPr lang="fi-FI" altLang="zh-CN"/>
          </a:p>
        </p:txBody>
      </p:sp>
    </p:spTree>
    <p:extLst>
      <p:ext uri="{BB962C8B-B14F-4D97-AF65-F5344CB8AC3E}">
        <p14:creationId xmlns:p14="http://schemas.microsoft.com/office/powerpoint/2010/main" val="28479591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electrical power surges</a:t>
            </a:r>
            <a:r>
              <a:rPr lang="zh-CN" altLang="en-US" b="1" dirty="0"/>
              <a:t>：电涌</a:t>
            </a:r>
            <a:endParaRPr lang="en-US" altLang="zh-CN" b="1" dirty="0"/>
          </a:p>
          <a:p>
            <a:r>
              <a:rPr lang="en-US" altLang="zh-CN" b="1" dirty="0">
                <a:solidFill>
                  <a:schemeClr val="tx2"/>
                </a:solidFill>
              </a:rPr>
              <a:t>Mean time to data loss</a:t>
            </a:r>
            <a:r>
              <a:rPr lang="en-US" altLang="zh-CN" b="1" dirty="0"/>
              <a:t> = </a:t>
            </a:r>
            <a:r>
              <a:rPr lang="en-US" altLang="zh-CN" b="1" dirty="0">
                <a:solidFill>
                  <a:srgbClr val="0000FF"/>
                </a:solidFill>
              </a:rPr>
              <a:t>mean time to failure^2/(2*mean time to repair)</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28</a:t>
            </a:fld>
            <a:endParaRPr lang="fi-FI" altLang="zh-CN"/>
          </a:p>
        </p:txBody>
      </p:sp>
    </p:spTree>
    <p:extLst>
      <p:ext uri="{BB962C8B-B14F-4D97-AF65-F5344CB8AC3E}">
        <p14:creationId xmlns:p14="http://schemas.microsoft.com/office/powerpoint/2010/main" val="1004254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solidFill>
                  <a:srgbClr val="FF0000"/>
                </a:solidFill>
              </a:rPr>
              <a:t>striping</a:t>
            </a:r>
            <a:r>
              <a:rPr lang="zh-CN" altLang="en-US" b="1" dirty="0">
                <a:solidFill>
                  <a:srgbClr val="FF0000"/>
                </a:solidFill>
              </a:rPr>
              <a:t>：数据拆分</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29</a:t>
            </a:fld>
            <a:endParaRPr lang="fi-FI" altLang="zh-CN"/>
          </a:p>
        </p:txBody>
      </p:sp>
    </p:spTree>
    <p:extLst>
      <p:ext uri="{BB962C8B-B14F-4D97-AF65-F5344CB8AC3E}">
        <p14:creationId xmlns:p14="http://schemas.microsoft.com/office/powerpoint/2010/main" val="17665949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30</a:t>
            </a:fld>
            <a:endParaRPr lang="fi-FI" altLang="zh-CN"/>
          </a:p>
        </p:txBody>
      </p:sp>
    </p:spTree>
    <p:extLst>
      <p:ext uri="{BB962C8B-B14F-4D97-AF65-F5344CB8AC3E}">
        <p14:creationId xmlns:p14="http://schemas.microsoft.com/office/powerpoint/2010/main" val="3931663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parity bit</a:t>
            </a:r>
            <a:r>
              <a:rPr lang="zh-CN" altLang="en-US" b="1" dirty="0"/>
              <a:t>：奇偶校验位</a:t>
            </a:r>
            <a:endParaRPr lang="en-US" altLang="zh-CN" b="1" dirty="0"/>
          </a:p>
          <a:p>
            <a:r>
              <a:rPr lang="zh-CN" altLang="en-US" dirty="0"/>
              <a:t>内存检验：</a:t>
            </a:r>
          </a:p>
          <a:p>
            <a:r>
              <a:rPr lang="zh-CN" altLang="en-US" dirty="0"/>
              <a:t>一个字节中存储了某一数值（</a:t>
            </a:r>
            <a:r>
              <a:rPr lang="en-US" altLang="zh-CN" dirty="0"/>
              <a:t>1</a:t>
            </a:r>
            <a:r>
              <a:rPr lang="zh-CN" altLang="en-US" dirty="0"/>
              <a:t>、</a:t>
            </a:r>
            <a:r>
              <a:rPr lang="en-US" altLang="zh-CN" dirty="0"/>
              <a:t>0</a:t>
            </a:r>
            <a:r>
              <a:rPr lang="zh-CN" altLang="en-US" dirty="0"/>
              <a:t>、</a:t>
            </a:r>
            <a:r>
              <a:rPr lang="en-US" altLang="zh-CN" dirty="0"/>
              <a:t>0</a:t>
            </a:r>
            <a:r>
              <a:rPr lang="zh-CN" altLang="en-US" dirty="0"/>
              <a:t>、</a:t>
            </a:r>
            <a:r>
              <a:rPr lang="en-US" altLang="zh-CN" dirty="0"/>
              <a:t>1</a:t>
            </a:r>
            <a:r>
              <a:rPr lang="zh-CN" altLang="en-US" dirty="0"/>
              <a:t>、</a:t>
            </a:r>
            <a:r>
              <a:rPr lang="en-US" altLang="zh-CN" dirty="0"/>
              <a:t>1</a:t>
            </a:r>
            <a:r>
              <a:rPr lang="zh-CN" altLang="en-US" dirty="0"/>
              <a:t>、</a:t>
            </a:r>
            <a:r>
              <a:rPr lang="en-US" altLang="zh-CN" dirty="0"/>
              <a:t>1</a:t>
            </a:r>
            <a:r>
              <a:rPr lang="zh-CN" altLang="en-US" dirty="0"/>
              <a:t>、</a:t>
            </a:r>
            <a:r>
              <a:rPr lang="en-US" altLang="zh-CN" dirty="0"/>
              <a:t>1</a:t>
            </a:r>
            <a:r>
              <a:rPr lang="zh-CN" altLang="en-US" dirty="0"/>
              <a:t>、</a:t>
            </a:r>
            <a:r>
              <a:rPr lang="en-US" altLang="zh-CN" dirty="0"/>
              <a:t>0</a:t>
            </a:r>
            <a:r>
              <a:rPr lang="zh-CN" altLang="en-US" dirty="0"/>
              <a:t>），把这每一位相加起来（</a:t>
            </a:r>
            <a:r>
              <a:rPr lang="en-US" altLang="zh-CN" dirty="0"/>
              <a:t>1+0+0+1+1+1+1+0=5</a:t>
            </a:r>
            <a:r>
              <a:rPr lang="zh-CN" altLang="en-US" dirty="0"/>
              <a:t>）。若其结果是奇数，校验位就定义为</a:t>
            </a:r>
            <a:r>
              <a:rPr lang="en-US" altLang="zh-CN" dirty="0"/>
              <a:t>1</a:t>
            </a:r>
            <a:r>
              <a:rPr lang="zh-CN" altLang="en-US" dirty="0"/>
              <a:t>，反之则为</a:t>
            </a:r>
            <a:r>
              <a:rPr lang="en-US" altLang="zh-CN" dirty="0"/>
              <a:t>0</a:t>
            </a:r>
            <a:r>
              <a:rPr lang="zh-CN" altLang="en-US" dirty="0"/>
              <a:t>。当</a:t>
            </a:r>
            <a:r>
              <a:rPr lang="en-US" altLang="zh-CN" dirty="0"/>
              <a:t>CPU</a:t>
            </a:r>
            <a:r>
              <a:rPr lang="zh-CN" altLang="en-US" dirty="0"/>
              <a:t>返回读取储存的数据时，它会再次相加前</a:t>
            </a:r>
            <a:r>
              <a:rPr lang="en-US" altLang="zh-CN" dirty="0"/>
              <a:t>8</a:t>
            </a:r>
            <a:r>
              <a:rPr lang="zh-CN" altLang="en-US" dirty="0"/>
              <a:t>位中存储的数据，计算结果是否与校验位相一致。当</a:t>
            </a:r>
            <a:r>
              <a:rPr lang="en-US" altLang="zh-CN" dirty="0"/>
              <a:t>CPU</a:t>
            </a:r>
            <a:r>
              <a:rPr lang="zh-CN" altLang="en-US" dirty="0"/>
              <a:t>发现二者不同时就作出一定的反应。现在主板都可以使用带奇偶校验位或不带奇偶校验位两种内存条，但要注意两种不能混用。</a:t>
            </a:r>
            <a:endParaRPr lang="en-US" altLang="zh-CN" dirty="0"/>
          </a:p>
          <a:p>
            <a:r>
              <a:rPr lang="zh-CN" altLang="en-US" dirty="0"/>
              <a:t>奇偶校验块</a:t>
            </a:r>
            <a:r>
              <a:rPr lang="en-US" altLang="zh-CN" dirty="0"/>
              <a:t>:</a:t>
            </a:r>
            <a:endParaRPr lang="zh-CN" altLang="en-US" dirty="0"/>
          </a:p>
          <a:p>
            <a:r>
              <a:rPr lang="zh-CN" altLang="en-US" dirty="0"/>
              <a:t>下面每列表示一个磁盘，假设 </a:t>
            </a:r>
            <a:r>
              <a:rPr lang="en-US" altLang="zh-CN" dirty="0"/>
              <a:t>A1 = 00000111</a:t>
            </a:r>
            <a:r>
              <a:rPr lang="zh-CN" altLang="en-US" dirty="0"/>
              <a:t>、</a:t>
            </a:r>
            <a:r>
              <a:rPr lang="en-US" altLang="zh-CN" dirty="0"/>
              <a:t>A2 = 00000101 </a:t>
            </a:r>
            <a:r>
              <a:rPr lang="zh-CN" altLang="en-US" dirty="0"/>
              <a:t>以及 </a:t>
            </a:r>
            <a:r>
              <a:rPr lang="en-US" altLang="zh-CN" dirty="0"/>
              <a:t>A3 = 00000000</a:t>
            </a:r>
            <a:r>
              <a:rPr lang="zh-CN" altLang="en-US" dirty="0"/>
              <a:t>。</a:t>
            </a:r>
            <a:r>
              <a:rPr lang="en-US" altLang="zh-CN" dirty="0"/>
              <a:t>A1</a:t>
            </a:r>
            <a:r>
              <a:rPr lang="zh-CN" altLang="en-US" dirty="0"/>
              <a:t>、</a:t>
            </a:r>
            <a:r>
              <a:rPr lang="en-US" altLang="zh-CN" dirty="0"/>
              <a:t>A2</a:t>
            </a:r>
            <a:r>
              <a:rPr lang="zh-CN" altLang="en-US" dirty="0"/>
              <a:t>、</a:t>
            </a:r>
            <a:r>
              <a:rPr lang="en-US" altLang="zh-CN" dirty="0"/>
              <a:t>A3 </a:t>
            </a:r>
            <a:r>
              <a:rPr lang="zh-CN" altLang="en-US" dirty="0"/>
              <a:t>异或得到的 </a:t>
            </a:r>
            <a:r>
              <a:rPr lang="en-US" altLang="zh-CN" dirty="0"/>
              <a:t>Ap </a:t>
            </a:r>
            <a:r>
              <a:rPr lang="zh-CN" altLang="en-US" dirty="0"/>
              <a:t>等于 </a:t>
            </a:r>
            <a:r>
              <a:rPr lang="en-US" altLang="zh-CN" dirty="0"/>
              <a:t>00000010</a:t>
            </a:r>
            <a:r>
              <a:rPr lang="zh-CN" altLang="en-US" dirty="0"/>
              <a:t>。如果第二个磁盘出现故障，</a:t>
            </a:r>
            <a:r>
              <a:rPr lang="en-US" altLang="zh-CN" dirty="0"/>
              <a:t>A2 </a:t>
            </a:r>
            <a:r>
              <a:rPr lang="zh-CN" altLang="en-US" dirty="0"/>
              <a:t>将不能被访问，但是可以通过 </a:t>
            </a:r>
            <a:r>
              <a:rPr lang="en-US" altLang="zh-CN" dirty="0"/>
              <a:t>A1</a:t>
            </a:r>
            <a:r>
              <a:rPr lang="zh-CN" altLang="en-US" dirty="0"/>
              <a:t>、</a:t>
            </a:r>
            <a:r>
              <a:rPr lang="en-US" altLang="zh-CN" dirty="0"/>
              <a:t>A3 </a:t>
            </a:r>
            <a:r>
              <a:rPr lang="zh-CN" altLang="en-US" dirty="0"/>
              <a:t>与 </a:t>
            </a:r>
            <a:r>
              <a:rPr lang="en-US" altLang="zh-CN" dirty="0"/>
              <a:t>Ap </a:t>
            </a:r>
            <a:r>
              <a:rPr lang="zh-CN" altLang="en-US" dirty="0"/>
              <a:t>的异或进行重建：</a:t>
            </a:r>
          </a:p>
          <a:p>
            <a:r>
              <a:rPr lang="en-US" altLang="zh-CN" dirty="0"/>
              <a:t>A1 XOR A3 XOR Ap = 00000101</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31</a:t>
            </a:fld>
            <a:endParaRPr lang="fi-FI" altLang="zh-CN"/>
          </a:p>
        </p:txBody>
      </p:sp>
    </p:spTree>
    <p:extLst>
      <p:ext uri="{BB962C8B-B14F-4D97-AF65-F5344CB8AC3E}">
        <p14:creationId xmlns:p14="http://schemas.microsoft.com/office/powerpoint/2010/main" val="13989371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t>Subsumes</a:t>
            </a:r>
            <a:r>
              <a:rPr lang="zh-CN" altLang="en-US" b="1" dirty="0"/>
              <a:t>：</a:t>
            </a:r>
            <a:r>
              <a:rPr lang="zh-CN" altLang="en-US" dirty="0"/>
              <a:t>包含</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32</a:t>
            </a:fld>
            <a:endParaRPr lang="fi-FI" altLang="zh-CN"/>
          </a:p>
        </p:txBody>
      </p:sp>
    </p:spTree>
    <p:extLst>
      <p:ext uri="{BB962C8B-B14F-4D97-AF65-F5344CB8AC3E}">
        <p14:creationId xmlns:p14="http://schemas.microsoft.com/office/powerpoint/2010/main" val="629627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t>Subsumes :</a:t>
            </a:r>
            <a:r>
              <a:rPr lang="en-US" altLang="zh-CN" dirty="0"/>
              <a:t>【</a:t>
            </a:r>
            <a:r>
              <a:rPr lang="zh-CN" altLang="en-US" dirty="0"/>
              <a:t>逻辑学</a:t>
            </a:r>
            <a:r>
              <a:rPr lang="en-US" altLang="zh-CN" dirty="0"/>
              <a:t>】</a:t>
            </a:r>
            <a:r>
              <a:rPr lang="zh-CN" altLang="en-US" dirty="0"/>
              <a:t>包摄</a:t>
            </a:r>
            <a:r>
              <a:rPr lang="en-US" altLang="zh-CN" dirty="0"/>
              <a:t>,</a:t>
            </a:r>
            <a:r>
              <a:rPr lang="zh-CN" altLang="en-US" dirty="0"/>
              <a:t>包含</a:t>
            </a:r>
          </a:p>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35</a:t>
            </a:fld>
            <a:endParaRPr lang="fi-FI" altLang="zh-CN"/>
          </a:p>
        </p:txBody>
      </p:sp>
    </p:spTree>
    <p:extLst>
      <p:ext uri="{BB962C8B-B14F-4D97-AF65-F5344CB8AC3E}">
        <p14:creationId xmlns:p14="http://schemas.microsoft.com/office/powerpoint/2010/main" val="1439082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互联网与物联网的七个不同之处</a:t>
            </a:r>
          </a:p>
          <a:p>
            <a:r>
              <a:rPr lang="en-US" altLang="zh-CN" b="1" dirty="0"/>
              <a:t>1 </a:t>
            </a:r>
            <a:r>
              <a:rPr lang="zh-CN" altLang="en-US" b="1" dirty="0"/>
              <a:t>）隐私和安全方面（</a:t>
            </a:r>
            <a:r>
              <a:rPr lang="en-US" altLang="zh-CN" b="1" dirty="0" err="1"/>
              <a:t>Privacy&amp;Security</a:t>
            </a:r>
            <a:r>
              <a:rPr lang="en-US" altLang="zh-CN" b="1" dirty="0"/>
              <a:t> </a:t>
            </a:r>
            <a:r>
              <a:rPr lang="zh-CN" altLang="en-US" b="1" dirty="0"/>
              <a:t>）</a:t>
            </a:r>
            <a:endParaRPr lang="zh-CN" altLang="en-US" dirty="0"/>
          </a:p>
          <a:p>
            <a:r>
              <a:rPr lang="zh-CN" altLang="en-US" dirty="0"/>
              <a:t>互联网是开放访问的。</a:t>
            </a:r>
          </a:p>
          <a:p>
            <a:r>
              <a:rPr lang="zh-CN" altLang="en-US" dirty="0"/>
              <a:t>物联网里，植入到人们周边环境的传感器，其收集的通常是敏感信息。例如智能门锁、心脏起搏器等，这类信息的泄密将直接关系到人的生命财产安全。</a:t>
            </a:r>
          </a:p>
          <a:p>
            <a:r>
              <a:rPr lang="en-US" altLang="zh-CN" b="1" dirty="0"/>
              <a:t>2 </a:t>
            </a:r>
            <a:r>
              <a:rPr lang="zh-CN" altLang="en-US" b="1" dirty="0"/>
              <a:t>）可伸缩性（</a:t>
            </a:r>
            <a:r>
              <a:rPr lang="en-US" altLang="zh-CN" b="1" dirty="0"/>
              <a:t>Scalability </a:t>
            </a:r>
            <a:r>
              <a:rPr lang="zh-CN" altLang="en-US" b="1" dirty="0"/>
              <a:t>）</a:t>
            </a:r>
            <a:endParaRPr lang="zh-CN" altLang="en-US" dirty="0"/>
          </a:p>
          <a:p>
            <a:r>
              <a:rPr lang="zh-CN" altLang="en-US" dirty="0"/>
              <a:t>物联网中的可伸缩性比互联网更具挑战，生成的数据量将达数万亿个对象。物联网设备所需的大多数数据应该在本地处理，并可能立即丢弃，因此只有集中式的云是不够的。</a:t>
            </a:r>
          </a:p>
          <a:p>
            <a:r>
              <a:rPr lang="en-US" altLang="zh-CN" b="1" dirty="0"/>
              <a:t>3 </a:t>
            </a:r>
            <a:r>
              <a:rPr lang="zh-CN" altLang="en-US" b="1" dirty="0"/>
              <a:t>）交互模型（</a:t>
            </a:r>
            <a:r>
              <a:rPr lang="en-US" altLang="zh-CN" b="1" dirty="0" err="1"/>
              <a:t>InteractionModel</a:t>
            </a:r>
            <a:r>
              <a:rPr lang="en-US" altLang="zh-CN" b="1" dirty="0"/>
              <a:t> </a:t>
            </a:r>
            <a:r>
              <a:rPr lang="zh-CN" altLang="en-US" b="1" dirty="0"/>
              <a:t>）</a:t>
            </a:r>
            <a:endParaRPr lang="zh-CN" altLang="en-US" dirty="0"/>
          </a:p>
          <a:p>
            <a:r>
              <a:rPr lang="zh-CN" altLang="en-US" dirty="0"/>
              <a:t>互联网是人机交互的。</a:t>
            </a:r>
          </a:p>
          <a:p>
            <a:r>
              <a:rPr lang="zh-CN" altLang="en-US" dirty="0"/>
              <a:t>而物联网是机器与机器交互；需要注意的是，有些交互必须伴随着交易，或者说是价值的转移，否则这些交互是不会发生的。</a:t>
            </a:r>
          </a:p>
          <a:p>
            <a:r>
              <a:rPr lang="en-US" altLang="zh-CN" b="1" dirty="0"/>
              <a:t>4 </a:t>
            </a:r>
            <a:r>
              <a:rPr lang="zh-CN" altLang="en-US" b="1" dirty="0"/>
              <a:t>）延迟（</a:t>
            </a:r>
            <a:r>
              <a:rPr lang="en-US" altLang="zh-CN" b="1" dirty="0"/>
              <a:t>Latency </a:t>
            </a:r>
            <a:r>
              <a:rPr lang="zh-CN" altLang="en-US" b="1" dirty="0"/>
              <a:t>）</a:t>
            </a:r>
            <a:endParaRPr lang="zh-CN" altLang="en-US" dirty="0"/>
          </a:p>
          <a:p>
            <a:r>
              <a:rPr lang="zh-CN" altLang="en-US" dirty="0"/>
              <a:t>场景不同，互联网对延迟的要求不同。</a:t>
            </a:r>
          </a:p>
          <a:p>
            <a:r>
              <a:rPr lang="zh-CN" altLang="en-US" dirty="0"/>
              <a:t>但物联网要求实时响应。例如，为响应本地温度的升高而打开风扇的应用程序，如果只有集中式的云，那这一简单的操作，也将经历来自感知、无线传输、网关处理、互联网访问和云处理的不可预测的延迟。</a:t>
            </a:r>
          </a:p>
          <a:p>
            <a:r>
              <a:rPr lang="zh-CN" altLang="en-US" dirty="0"/>
              <a:t>其实集中式的云，相对传感器，就是距离较远的“边缘”</a:t>
            </a:r>
          </a:p>
          <a:p>
            <a:r>
              <a:rPr lang="zh-CN" altLang="en-US" dirty="0"/>
              <a:t>备注：虽然应用程序通常将云视为所有连接设备的中心</a:t>
            </a:r>
            <a:r>
              <a:rPr lang="en-US" altLang="zh-CN" dirty="0"/>
              <a:t>( </a:t>
            </a:r>
            <a:r>
              <a:rPr lang="zh-CN" altLang="en-US" dirty="0"/>
              <a:t>上半图</a:t>
            </a:r>
            <a:r>
              <a:rPr lang="en-US" altLang="zh-CN" dirty="0"/>
              <a:t>) </a:t>
            </a:r>
            <a:r>
              <a:rPr lang="zh-CN" altLang="en-US" dirty="0"/>
              <a:t>，但实际上云通常位于互联网主干的边缘，就像其他设备</a:t>
            </a:r>
            <a:r>
              <a:rPr lang="en-US" altLang="zh-CN" dirty="0"/>
              <a:t>( </a:t>
            </a:r>
            <a:r>
              <a:rPr lang="zh-CN" altLang="en-US" dirty="0"/>
              <a:t>下半图</a:t>
            </a:r>
            <a:r>
              <a:rPr lang="en-US" altLang="zh-CN" dirty="0"/>
              <a:t>) </a:t>
            </a:r>
            <a:r>
              <a:rPr lang="zh-CN" altLang="en-US" dirty="0"/>
              <a:t>一样。</a:t>
            </a:r>
          </a:p>
          <a:p>
            <a:r>
              <a:rPr lang="en-US" altLang="zh-CN" b="1" dirty="0"/>
              <a:t>5 </a:t>
            </a:r>
            <a:r>
              <a:rPr lang="zh-CN" altLang="en-US" b="1" dirty="0"/>
              <a:t>）带宽（</a:t>
            </a:r>
            <a:r>
              <a:rPr lang="en-US" altLang="zh-CN" b="1" dirty="0"/>
              <a:t>Bandwidth </a:t>
            </a:r>
            <a:r>
              <a:rPr lang="zh-CN" altLang="en-US" b="1" dirty="0"/>
              <a:t>）</a:t>
            </a:r>
            <a:endParaRPr lang="zh-CN" altLang="en-US" dirty="0"/>
          </a:p>
          <a:p>
            <a:r>
              <a:rPr lang="zh-CN" altLang="en-US" dirty="0"/>
              <a:t>互联网主要产生的是下行流量。</a:t>
            </a:r>
          </a:p>
          <a:p>
            <a:r>
              <a:rPr lang="zh-CN" altLang="en-US" dirty="0"/>
              <a:t>物联网中，将数据传送到云端会产生大量的上行流量。物联网应用程序在网络边缘生成数据，这种模式很容易使上行链路的带宽饱和。使用边缘计算后，能让数据就地处理，也能减少不必要的带宽浪费。</a:t>
            </a:r>
          </a:p>
          <a:p>
            <a:r>
              <a:rPr lang="en-US" altLang="zh-CN" b="1" dirty="0"/>
              <a:t>6 </a:t>
            </a:r>
            <a:r>
              <a:rPr lang="zh-CN" altLang="en-US" b="1" dirty="0"/>
              <a:t>）可用性（</a:t>
            </a:r>
            <a:r>
              <a:rPr lang="en-US" altLang="zh-CN" b="1" dirty="0"/>
              <a:t>Availability </a:t>
            </a:r>
            <a:r>
              <a:rPr lang="zh-CN" altLang="en-US" b="1" dirty="0"/>
              <a:t>）</a:t>
            </a:r>
            <a:endParaRPr lang="zh-CN" altLang="en-US" dirty="0"/>
          </a:p>
          <a:p>
            <a:r>
              <a:rPr lang="zh-CN" altLang="en-US" dirty="0"/>
              <a:t>互联网用户可以容忍某些场景的可变延迟，容忍偶尔丢失</a:t>
            </a:r>
            <a:r>
              <a:rPr lang="en-US" altLang="zh-CN" dirty="0"/>
              <a:t>Web </a:t>
            </a:r>
            <a:r>
              <a:rPr lang="zh-CN" altLang="en-US" dirty="0"/>
              <a:t>服务。相比之下，物联网应用中传感器或执行器（</a:t>
            </a:r>
            <a:r>
              <a:rPr lang="en-US" altLang="zh-CN" dirty="0"/>
              <a:t>actuators </a:t>
            </a:r>
            <a:r>
              <a:rPr lang="zh-CN" altLang="en-US" dirty="0"/>
              <a:t>）的临时失效将严重影响到物理世界。</a:t>
            </a:r>
          </a:p>
          <a:p>
            <a:r>
              <a:rPr lang="zh-CN" altLang="en-US" dirty="0"/>
              <a:t>物联网中，有不少场景对于可用性有着近乎苛刻的要求。例如，对周边道路环境的感知和处理，是不可能仅仅依赖于集中式的云。</a:t>
            </a:r>
          </a:p>
          <a:p>
            <a:r>
              <a:rPr lang="en-US" altLang="zh-CN" b="1" dirty="0"/>
              <a:t>7 </a:t>
            </a:r>
            <a:r>
              <a:rPr lang="zh-CN" altLang="en-US" b="1" dirty="0"/>
              <a:t>）持久性管理（</a:t>
            </a:r>
            <a:r>
              <a:rPr lang="en-US" altLang="zh-CN" b="1" dirty="0" err="1"/>
              <a:t>DurabilityManagement</a:t>
            </a:r>
            <a:r>
              <a:rPr lang="en-US" altLang="zh-CN" b="1" dirty="0"/>
              <a:t> </a:t>
            </a:r>
            <a:r>
              <a:rPr lang="zh-CN" altLang="en-US" b="1" dirty="0"/>
              <a:t>）</a:t>
            </a:r>
            <a:endParaRPr lang="zh-CN" altLang="en-US" dirty="0"/>
          </a:p>
          <a:p>
            <a:r>
              <a:rPr lang="zh-CN" altLang="en-US" dirty="0"/>
              <a:t>持久性管理。一些传感器数据是短暂的，而另一些数据应该是持久的，以抵御灾难。现在没有有效的方法来验证数据是否已经被完全销毁，因为云已经超出了用户的控制范围，无论云实现了什么持久性，通常都是在不考虑特定应用程序的隐私的。对持久性的控制一般与控制密切相关：应该确保用户重新控制和拥有他们的数据，而不是提供者。</a:t>
            </a:r>
          </a:p>
          <a:p>
            <a:r>
              <a:rPr lang="zh-CN" altLang="en-US" dirty="0"/>
              <a:t>综上所述，我们认为，有别于云存储，边缘存储应该具有高可用性、超低延迟、高安全性、高隐私性、弱一致性、功耗低、空间小的特点</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45</a:t>
            </a:fld>
            <a:endParaRPr lang="fi-FI" altLang="zh-CN"/>
          </a:p>
        </p:txBody>
      </p:sp>
    </p:spTree>
    <p:extLst>
      <p:ext uri="{BB962C8B-B14F-4D97-AF65-F5344CB8AC3E}">
        <p14:creationId xmlns:p14="http://schemas.microsoft.com/office/powerpoint/2010/main" val="1328184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最近最少使用</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52</a:t>
            </a:fld>
            <a:endParaRPr lang="fi-FI" altLang="zh-CN"/>
          </a:p>
        </p:txBody>
      </p:sp>
    </p:spTree>
    <p:extLst>
      <p:ext uri="{BB962C8B-B14F-4D97-AF65-F5344CB8AC3E}">
        <p14:creationId xmlns:p14="http://schemas.microsoft.com/office/powerpoint/2010/main" val="4657984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59</a:t>
            </a:fld>
            <a:endParaRPr lang="fi-FI" altLang="zh-CN"/>
          </a:p>
        </p:txBody>
      </p:sp>
    </p:spTree>
    <p:extLst>
      <p:ext uri="{BB962C8B-B14F-4D97-AF65-F5344CB8AC3E}">
        <p14:creationId xmlns:p14="http://schemas.microsoft.com/office/powerpoint/2010/main" val="33226542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间接指针在块自身移动记录（防止在块的内部出现碎片空间）后无需更新</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63</a:t>
            </a:fld>
            <a:endParaRPr lang="fi-FI" altLang="zh-CN"/>
          </a:p>
        </p:txBody>
      </p:sp>
    </p:spTree>
    <p:extLst>
      <p:ext uri="{BB962C8B-B14F-4D97-AF65-F5344CB8AC3E}">
        <p14:creationId xmlns:p14="http://schemas.microsoft.com/office/powerpoint/2010/main" val="29888538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solidFill>
                  <a:schemeClr val="tx2"/>
                </a:solidFill>
              </a:rPr>
              <a:t>Reserved space</a:t>
            </a:r>
            <a:r>
              <a:rPr lang="en-US" altLang="zh-CN" b="1" dirty="0"/>
              <a:t> </a:t>
            </a:r>
            <a:r>
              <a:rPr lang="zh-CN" altLang="en-US" b="1" dirty="0"/>
              <a:t>：保留空间</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65</a:t>
            </a:fld>
            <a:endParaRPr lang="fi-FI" altLang="zh-CN"/>
          </a:p>
        </p:txBody>
      </p:sp>
    </p:spTree>
    <p:extLst>
      <p:ext uri="{BB962C8B-B14F-4D97-AF65-F5344CB8AC3E}">
        <p14:creationId xmlns:p14="http://schemas.microsoft.com/office/powerpoint/2010/main" val="25034777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solidFill>
                  <a:schemeClr val="tx2"/>
                </a:solidFill>
              </a:rPr>
              <a:t>Anchor block</a:t>
            </a:r>
            <a:r>
              <a:rPr lang="en-US" altLang="zh-CN" b="1" dirty="0"/>
              <a:t> </a:t>
            </a:r>
            <a:r>
              <a:rPr lang="zh-CN" altLang="en-US" b="1" dirty="0"/>
              <a:t>：锚块</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67</a:t>
            </a:fld>
            <a:endParaRPr lang="fi-FI" altLang="zh-CN"/>
          </a:p>
        </p:txBody>
      </p:sp>
    </p:spTree>
    <p:extLst>
      <p:ext uri="{BB962C8B-B14F-4D97-AF65-F5344CB8AC3E}">
        <p14:creationId xmlns:p14="http://schemas.microsoft.com/office/powerpoint/2010/main" val="13338678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多表集群文件组织</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72</a:t>
            </a:fld>
            <a:endParaRPr lang="fi-FI" altLang="zh-CN"/>
          </a:p>
        </p:txBody>
      </p:sp>
    </p:spTree>
    <p:extLst>
      <p:ext uri="{BB962C8B-B14F-4D97-AF65-F5344CB8AC3E}">
        <p14:creationId xmlns:p14="http://schemas.microsoft.com/office/powerpoint/2010/main" val="8027035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82</a:t>
            </a:fld>
            <a:endParaRPr lang="fi-FI" altLang="zh-CN"/>
          </a:p>
        </p:txBody>
      </p:sp>
    </p:spTree>
    <p:extLst>
      <p:ext uri="{BB962C8B-B14F-4D97-AF65-F5344CB8AC3E}">
        <p14:creationId xmlns:p14="http://schemas.microsoft.com/office/powerpoint/2010/main" val="24035304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rPr>
              <a:t>未来的十年将是一个“大数据”引领的智慧科技时代。随着社交网络的逐渐成熟，移动带宽迅速提升，云计算、物联网应用更加丰富。更多的传感设备、移动终端接入到网络由此产生的数据及增长速度将比历史上的任何时期都要多，都要快。根据</a:t>
            </a:r>
            <a:r>
              <a:rPr lang="zh-CN" altLang="en-US" dirty="0">
                <a:latin typeface="Arial" panose="020B0604020202020204" pitchFamily="34" charset="0"/>
                <a:hlinkClick r:id="rId3"/>
              </a:rPr>
              <a:t>摩根斯坦利互联网研究</a:t>
            </a:r>
            <a:r>
              <a:rPr lang="en-US" altLang="zh-CN" dirty="0">
                <a:latin typeface="Arial" panose="020B0604020202020204" pitchFamily="34" charset="0"/>
                <a:hlinkClick r:id="rId3"/>
              </a:rPr>
              <a:t>2010</a:t>
            </a:r>
            <a:r>
              <a:rPr lang="zh-CN" altLang="en-US" dirty="0">
                <a:latin typeface="Arial" panose="020B0604020202020204" pitchFamily="34" charset="0"/>
                <a:hlinkClick r:id="rId3"/>
              </a:rPr>
              <a:t>年度报告</a:t>
            </a:r>
            <a:r>
              <a:rPr lang="zh-CN" altLang="en-US" dirty="0">
                <a:latin typeface="Arial" panose="020B0604020202020204" pitchFamily="34" charset="0"/>
              </a:rPr>
              <a:t>，</a:t>
            </a:r>
            <a:r>
              <a:rPr lang="en-US" altLang="zh-CN" dirty="0">
                <a:latin typeface="Arial" panose="020B0604020202020204" pitchFamily="34" charset="0"/>
              </a:rPr>
              <a:t>60</a:t>
            </a:r>
            <a:r>
              <a:rPr lang="zh-CN" altLang="en-US" dirty="0">
                <a:latin typeface="Arial" panose="020B0604020202020204" pitchFamily="34" charset="0"/>
              </a:rPr>
              <a:t>年代，大型机接入网络的规模</a:t>
            </a:r>
            <a:r>
              <a:rPr lang="en-US" altLang="zh-CN" dirty="0">
                <a:latin typeface="Arial" panose="020B0604020202020204" pitchFamily="34" charset="0"/>
              </a:rPr>
              <a:t>1MM</a:t>
            </a:r>
            <a:r>
              <a:rPr lang="zh-CN" altLang="en-US" dirty="0">
                <a:latin typeface="Arial" panose="020B0604020202020204" pitchFamily="34" charset="0"/>
              </a:rPr>
              <a:t>左右，此后以每年增加</a:t>
            </a:r>
            <a:r>
              <a:rPr lang="en-US" altLang="zh-CN" dirty="0">
                <a:latin typeface="Arial" panose="020B0604020202020204" pitchFamily="34" charset="0"/>
              </a:rPr>
              <a:t>1</a:t>
            </a:r>
            <a:r>
              <a:rPr lang="zh-CN" altLang="en-US" dirty="0">
                <a:latin typeface="Arial" panose="020B0604020202020204" pitchFamily="34" charset="0"/>
              </a:rPr>
              <a:t>倍的速率增长，在</a:t>
            </a:r>
            <a:r>
              <a:rPr lang="en-US" altLang="zh-CN" dirty="0">
                <a:latin typeface="Arial" panose="020B0604020202020204" pitchFamily="34" charset="0"/>
              </a:rPr>
              <a:t>2010</a:t>
            </a:r>
            <a:r>
              <a:rPr lang="zh-CN" altLang="en-US" dirty="0">
                <a:latin typeface="Arial" panose="020B0604020202020204" pitchFamily="34" charset="0"/>
              </a:rPr>
              <a:t>，接入互联网的各种设备终端远超</a:t>
            </a:r>
            <a:r>
              <a:rPr lang="en-US" altLang="zh-CN" dirty="0">
                <a:latin typeface="Arial" panose="020B0604020202020204" pitchFamily="34" charset="0"/>
              </a:rPr>
              <a:t>10B</a:t>
            </a:r>
            <a:r>
              <a:rPr lang="zh-CN" altLang="en-US" dirty="0">
                <a:latin typeface="Arial" panose="020B0604020202020204" pitchFamily="34" charset="0"/>
              </a:rPr>
              <a:t>，与之相对应的是数据量倍增，国际数据公司（</a:t>
            </a:r>
            <a:r>
              <a:rPr lang="en-US" altLang="zh-CN" dirty="0">
                <a:latin typeface="Arial" panose="020B0604020202020204" pitchFamily="34" charset="0"/>
              </a:rPr>
              <a:t>IDC</a:t>
            </a:r>
            <a:r>
              <a:rPr lang="zh-CN" altLang="en-US" dirty="0">
                <a:latin typeface="Arial" panose="020B0604020202020204" pitchFamily="34" charset="0"/>
              </a:rPr>
              <a:t>）的研究结果表明，</a:t>
            </a:r>
            <a:r>
              <a:rPr lang="en-US" altLang="zh-CN" dirty="0">
                <a:latin typeface="Arial" panose="020B0604020202020204" pitchFamily="34" charset="0"/>
              </a:rPr>
              <a:t>2008</a:t>
            </a:r>
            <a:r>
              <a:rPr lang="zh-CN" altLang="en-US" dirty="0">
                <a:latin typeface="Arial" panose="020B0604020202020204" pitchFamily="34" charset="0"/>
              </a:rPr>
              <a:t>年全球产生的数据量为</a:t>
            </a:r>
            <a:r>
              <a:rPr lang="en-US" altLang="zh-CN" dirty="0">
                <a:latin typeface="Arial" panose="020B0604020202020204" pitchFamily="34" charset="0"/>
              </a:rPr>
              <a:t>0.49ZB</a:t>
            </a:r>
            <a:r>
              <a:rPr lang="zh-CN" altLang="en-US" dirty="0">
                <a:latin typeface="Arial" panose="020B0604020202020204" pitchFamily="34" charset="0"/>
              </a:rPr>
              <a:t>，</a:t>
            </a:r>
            <a:r>
              <a:rPr lang="en-US" altLang="zh-CN" dirty="0">
                <a:latin typeface="Arial" panose="020B0604020202020204" pitchFamily="34" charset="0"/>
              </a:rPr>
              <a:t>2009</a:t>
            </a:r>
            <a:r>
              <a:rPr lang="zh-CN" altLang="en-US" dirty="0">
                <a:latin typeface="Arial" panose="020B0604020202020204" pitchFamily="34" charset="0"/>
              </a:rPr>
              <a:t>年的数据量为</a:t>
            </a:r>
            <a:r>
              <a:rPr lang="en-US" altLang="zh-CN" dirty="0">
                <a:latin typeface="Arial" panose="020B0604020202020204" pitchFamily="34" charset="0"/>
              </a:rPr>
              <a:t>0.8ZB</a:t>
            </a:r>
            <a:r>
              <a:rPr lang="zh-CN" altLang="en-US" dirty="0">
                <a:latin typeface="Arial" panose="020B0604020202020204" pitchFamily="34" charset="0"/>
              </a:rPr>
              <a:t>，</a:t>
            </a:r>
            <a:r>
              <a:rPr lang="en-US" altLang="zh-CN" dirty="0">
                <a:latin typeface="Arial" panose="020B0604020202020204" pitchFamily="34" charset="0"/>
              </a:rPr>
              <a:t>2010</a:t>
            </a:r>
            <a:r>
              <a:rPr lang="zh-CN" altLang="en-US" dirty="0">
                <a:latin typeface="Arial" panose="020B0604020202020204" pitchFamily="34" charset="0"/>
              </a:rPr>
              <a:t>年增长为</a:t>
            </a:r>
            <a:r>
              <a:rPr lang="en-US" altLang="zh-CN" dirty="0">
                <a:latin typeface="Arial" panose="020B0604020202020204" pitchFamily="34" charset="0"/>
              </a:rPr>
              <a:t>1.2ZB</a:t>
            </a:r>
            <a:r>
              <a:rPr lang="zh-CN" altLang="en-US" dirty="0">
                <a:latin typeface="Arial" panose="020B0604020202020204" pitchFamily="34" charset="0"/>
              </a:rPr>
              <a:t>，</a:t>
            </a:r>
            <a:r>
              <a:rPr lang="en-US" altLang="zh-CN" dirty="0">
                <a:latin typeface="Arial" panose="020B0604020202020204" pitchFamily="34" charset="0"/>
              </a:rPr>
              <a:t>2011</a:t>
            </a:r>
            <a:r>
              <a:rPr lang="zh-CN" altLang="en-US" dirty="0">
                <a:latin typeface="Arial" panose="020B0604020202020204" pitchFamily="34" charset="0"/>
              </a:rPr>
              <a:t>年的数量更是高达</a:t>
            </a:r>
            <a:r>
              <a:rPr lang="en-US" altLang="zh-CN" dirty="0">
                <a:latin typeface="Arial" panose="020B0604020202020204" pitchFamily="34" charset="0"/>
              </a:rPr>
              <a:t>1.82ZB</a:t>
            </a:r>
            <a:r>
              <a:rPr lang="zh-CN" altLang="en-US" dirty="0">
                <a:latin typeface="Arial" panose="020B0604020202020204" pitchFamily="34" charset="0"/>
              </a:rPr>
              <a:t>，相当于全球每人产生</a:t>
            </a:r>
            <a:r>
              <a:rPr lang="en-US" altLang="zh-CN" dirty="0">
                <a:latin typeface="Arial" panose="020B0604020202020204" pitchFamily="34" charset="0"/>
              </a:rPr>
              <a:t>200GB</a:t>
            </a:r>
            <a:r>
              <a:rPr lang="zh-CN" altLang="en-US" dirty="0">
                <a:latin typeface="Arial" panose="020B0604020202020204" pitchFamily="34" charset="0"/>
              </a:rPr>
              <a:t>以上的数据。而到</a:t>
            </a:r>
            <a:r>
              <a:rPr lang="en-US" altLang="zh-CN" dirty="0">
                <a:latin typeface="Arial" panose="020B0604020202020204" pitchFamily="34" charset="0"/>
              </a:rPr>
              <a:t>2012</a:t>
            </a:r>
            <a:r>
              <a:rPr lang="zh-CN" altLang="en-US" dirty="0">
                <a:latin typeface="Arial" panose="020B0604020202020204" pitchFamily="34" charset="0"/>
              </a:rPr>
              <a:t>年为止，人类生产的所有印刷材料的数据量是</a:t>
            </a:r>
            <a:r>
              <a:rPr lang="en-US" altLang="zh-CN" dirty="0">
                <a:latin typeface="Arial" panose="020B0604020202020204" pitchFamily="34" charset="0"/>
              </a:rPr>
              <a:t>200PB</a:t>
            </a:r>
            <a:r>
              <a:rPr lang="zh-CN" altLang="en-US" dirty="0">
                <a:latin typeface="Arial" panose="020B0604020202020204" pitchFamily="34" charset="0"/>
              </a:rPr>
              <a:t>，全人类历史上说过的所有话的数据量大约是</a:t>
            </a:r>
            <a:r>
              <a:rPr lang="en-US" altLang="zh-CN" dirty="0">
                <a:latin typeface="Arial" panose="020B0604020202020204" pitchFamily="34" charset="0"/>
              </a:rPr>
              <a:t>5EB</a:t>
            </a:r>
            <a:r>
              <a:rPr lang="zh-CN" altLang="en-US" dirty="0">
                <a:latin typeface="Arial" panose="020B0604020202020204" pitchFamily="34" charset="0"/>
              </a:rPr>
              <a:t>。</a:t>
            </a:r>
            <a:r>
              <a:rPr lang="en-US" altLang="zh-CN" u="sng" dirty="0">
                <a:latin typeface="Arial" panose="020B0604020202020204" pitchFamily="34" charset="0"/>
                <a:hlinkClick r:id="rId4"/>
              </a:rPr>
              <a:t>IBM</a:t>
            </a:r>
            <a:r>
              <a:rPr lang="zh-CN" altLang="en-US" dirty="0">
                <a:latin typeface="Arial" panose="020B0604020202020204" pitchFamily="34" charset="0"/>
              </a:rPr>
              <a:t>的研究称，整个人类文明所获得的全部数据中，有</a:t>
            </a:r>
            <a:r>
              <a:rPr lang="en-US" altLang="zh-CN" dirty="0">
                <a:latin typeface="Arial" panose="020B0604020202020204" pitchFamily="34" charset="0"/>
              </a:rPr>
              <a:t>90%</a:t>
            </a:r>
            <a:r>
              <a:rPr lang="zh-CN" altLang="en-US" dirty="0">
                <a:latin typeface="Arial" panose="020B0604020202020204" pitchFamily="34" charset="0"/>
              </a:rPr>
              <a:t>是过去两年内产生的。而到了</a:t>
            </a:r>
            <a:r>
              <a:rPr lang="en-US" altLang="zh-CN" dirty="0">
                <a:latin typeface="Arial" panose="020B0604020202020204" pitchFamily="34" charset="0"/>
              </a:rPr>
              <a:t>2020</a:t>
            </a:r>
            <a:r>
              <a:rPr lang="zh-CN" altLang="en-US" dirty="0">
                <a:latin typeface="Arial" panose="020B0604020202020204" pitchFamily="34" charset="0"/>
              </a:rPr>
              <a:t>年，全世界所产生的数据规模将达到今天的</a:t>
            </a:r>
            <a:r>
              <a:rPr lang="en-US" altLang="zh-CN" dirty="0">
                <a:latin typeface="Arial" panose="020B0604020202020204" pitchFamily="34" charset="0"/>
              </a:rPr>
              <a:t>44</a:t>
            </a:r>
            <a:r>
              <a:rPr lang="zh-CN" altLang="en-US" dirty="0">
                <a:latin typeface="Arial" panose="020B0604020202020204" pitchFamily="34" charset="0"/>
              </a:rPr>
              <a:t>倍</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83</a:t>
            </a:fld>
            <a:endParaRPr lang="fi-FI" altLang="zh-CN"/>
          </a:p>
        </p:txBody>
      </p:sp>
    </p:spTree>
    <p:extLst>
      <p:ext uri="{BB962C8B-B14F-4D97-AF65-F5344CB8AC3E}">
        <p14:creationId xmlns:p14="http://schemas.microsoft.com/office/powerpoint/2010/main" val="17161349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Arial" panose="020B0604020202020204" pitchFamily="34" charset="0"/>
              </a:rPr>
              <a:t>现世的信息世界，是一个概念术语频繁更新的年代。业界关于云计算、物联网的声音刚刚落地，“大数据”时代的脚步悄然而至。</a:t>
            </a:r>
            <a:r>
              <a:rPr lang="en-US" altLang="zh-CN" dirty="0">
                <a:latin typeface="Arial" panose="020B0604020202020204" pitchFamily="34" charset="0"/>
              </a:rPr>
              <a:t>2012</a:t>
            </a:r>
            <a:r>
              <a:rPr lang="zh-CN" altLang="en-US" dirty="0">
                <a:latin typeface="Arial" panose="020B0604020202020204" pitchFamily="34" charset="0"/>
              </a:rPr>
              <a:t>年</a:t>
            </a:r>
            <a:r>
              <a:rPr lang="en-US" altLang="zh-CN" dirty="0">
                <a:latin typeface="Arial" panose="020B0604020202020204" pitchFamily="34" charset="0"/>
              </a:rPr>
              <a:t>3</a:t>
            </a:r>
            <a:r>
              <a:rPr lang="zh-CN" altLang="en-US" dirty="0">
                <a:latin typeface="Arial" panose="020B0604020202020204" pitchFamily="34" charset="0"/>
              </a:rPr>
              <a:t>月</a:t>
            </a:r>
            <a:r>
              <a:rPr lang="en-US" altLang="zh-CN" dirty="0">
                <a:latin typeface="Arial" panose="020B0604020202020204" pitchFamily="34" charset="0"/>
              </a:rPr>
              <a:t>29</a:t>
            </a:r>
            <a:r>
              <a:rPr lang="zh-CN" altLang="en-US" dirty="0">
                <a:latin typeface="Arial" panose="020B0604020202020204" pitchFamily="34" charset="0"/>
              </a:rPr>
              <a:t>日，美国奥巴马政府公布了“大数据研究与发展规划”，数据为王，它标志着强调数据本身价值的的大数据时代的来临</a:t>
            </a:r>
            <a:endParaRPr lang="en-US" altLang="zh-CN" dirty="0">
              <a:latin typeface="Arial" panose="020B0604020202020204" pitchFamily="34" charset="0"/>
            </a:endParaRP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84</a:t>
            </a:fld>
            <a:endParaRPr lang="fi-FI" altLang="zh-CN"/>
          </a:p>
        </p:txBody>
      </p:sp>
    </p:spTree>
    <p:extLst>
      <p:ext uri="{BB962C8B-B14F-4D97-AF65-F5344CB8AC3E}">
        <p14:creationId xmlns:p14="http://schemas.microsoft.com/office/powerpoint/2010/main" val="36747276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rPr>
              <a:t>那我们先看一下数据中心有多大，现有数据中心通常有几十万个节点，占地面积要超过一个万人体育馆。未来大型数据中心要有百万个节点</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89</a:t>
            </a:fld>
            <a:endParaRPr lang="fi-FI" altLang="zh-CN"/>
          </a:p>
        </p:txBody>
      </p:sp>
    </p:spTree>
    <p:extLst>
      <p:ext uri="{BB962C8B-B14F-4D97-AF65-F5344CB8AC3E}">
        <p14:creationId xmlns:p14="http://schemas.microsoft.com/office/powerpoint/2010/main" val="16398007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92</a:t>
            </a:fld>
            <a:endParaRPr lang="fi-FI" altLang="zh-CN"/>
          </a:p>
        </p:txBody>
      </p:sp>
    </p:spTree>
    <p:extLst>
      <p:ext uri="{BB962C8B-B14F-4D97-AF65-F5344CB8AC3E}">
        <p14:creationId xmlns:p14="http://schemas.microsoft.com/office/powerpoint/2010/main" val="536274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0" y="-20538"/>
            <a:ext cx="9144000" cy="637580"/>
          </a:xfrm>
          <a:prstGeom prst="rect">
            <a:avLst/>
          </a:prstGeom>
          <a:solidFill>
            <a:srgbClr val="0070C0"/>
          </a:solidFill>
        </p:spPr>
        <p:txBody>
          <a:bodyPr rtlCol="0">
            <a:noAutofit/>
          </a:bodyPr>
          <a:lstStyle>
            <a:lvl1pPr algn="l">
              <a:defRPr sz="3200" b="1" baseline="0">
                <a:solidFill>
                  <a:schemeClr val="bg1"/>
                </a:solidFill>
                <a:latin typeface="Arial" panose="020B0604020202020204" pitchFamily="34" charset="0"/>
                <a:ea typeface="微软雅黑" pitchFamily="34" charset="-122"/>
                <a:cs typeface="Arial" panose="020B0604020202020204" pitchFamily="34" charset="0"/>
              </a:defRPr>
            </a:lvl1pPr>
          </a:lstStyle>
          <a:p>
            <a:r>
              <a:rPr lang="en-US" altLang="zh-CN" dirty="0"/>
              <a:t>Click to edit Master title style</a:t>
            </a:r>
            <a:endParaRPr lang="zh-CN" altLang="en-US" dirty="0"/>
          </a:p>
        </p:txBody>
      </p:sp>
      <p:sp>
        <p:nvSpPr>
          <p:cNvPr id="3" name="Content Placeholder 2"/>
          <p:cNvSpPr>
            <a:spLocks noGrp="1"/>
          </p:cNvSpPr>
          <p:nvPr>
            <p:ph idx="1"/>
          </p:nvPr>
        </p:nvSpPr>
        <p:spPr>
          <a:xfrm>
            <a:off x="251520" y="789553"/>
            <a:ext cx="8568952" cy="3805070"/>
          </a:xfrm>
        </p:spPr>
        <p:txBody>
          <a:bodyPr/>
          <a:lstStyle>
            <a:lvl1pPr>
              <a:spcBef>
                <a:spcPts val="600"/>
              </a:spcBef>
              <a:defRPr sz="2400">
                <a:latin typeface="Arial" panose="020B0604020202020204" pitchFamily="34" charset="0"/>
                <a:ea typeface="微软雅黑" pitchFamily="34" charset="-122"/>
                <a:cs typeface="Arial" panose="020B0604020202020204" pitchFamily="34" charset="0"/>
              </a:defRPr>
            </a:lvl1pPr>
            <a:lvl2pPr>
              <a:spcBef>
                <a:spcPts val="600"/>
              </a:spcBef>
              <a:defRPr sz="2000">
                <a:latin typeface="Arial" panose="020B0604020202020204" pitchFamily="34" charset="0"/>
                <a:ea typeface="微软雅黑" pitchFamily="34" charset="-122"/>
                <a:cs typeface="Arial" panose="020B0604020202020204" pitchFamily="34" charset="0"/>
              </a:defRPr>
            </a:lvl2pPr>
            <a:lvl3pPr>
              <a:spcBef>
                <a:spcPts val="600"/>
              </a:spcBef>
              <a:defRPr sz="1800">
                <a:latin typeface="Arial" panose="020B0604020202020204" pitchFamily="34" charset="0"/>
                <a:ea typeface="微软雅黑" pitchFamily="34" charset="-122"/>
                <a:cs typeface="Arial" panose="020B0604020202020204" pitchFamily="34" charset="0"/>
              </a:defRPr>
            </a:lvl3pPr>
            <a:lvl4pPr>
              <a:spcBef>
                <a:spcPts val="600"/>
              </a:spcBef>
              <a:defRPr sz="1600">
                <a:latin typeface="Arial" panose="020B0604020202020204" pitchFamily="34" charset="0"/>
                <a:ea typeface="微软雅黑" pitchFamily="34" charset="-122"/>
                <a:cs typeface="Arial" panose="020B0604020202020204" pitchFamily="34" charset="0"/>
              </a:defRPr>
            </a:lvl4pPr>
            <a:lvl5pPr>
              <a:spcBef>
                <a:spcPts val="600"/>
              </a:spcBef>
              <a:defRPr sz="1600">
                <a:latin typeface="Arial" panose="020B0604020202020204" pitchFamily="34" charset="0"/>
                <a:ea typeface="微软雅黑" pitchFamily="34" charset="-122"/>
                <a:cs typeface="Arial" panose="020B0604020202020204" pitchFamily="34" charset="0"/>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115569259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864540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197C38C-D414-4266-B351-EA95CA0D0684}"/>
              </a:ext>
            </a:extLst>
          </p:cNvPr>
          <p:cNvSpPr>
            <a:spLocks noChangeArrowheads="1"/>
          </p:cNvSpPr>
          <p:nvPr/>
        </p:nvSpPr>
        <p:spPr bwMode="auto">
          <a:xfrm>
            <a:off x="0" y="1476375"/>
            <a:ext cx="9142810" cy="1626394"/>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a:buFontTx/>
              <a:buNone/>
              <a:defRPr/>
            </a:pPr>
            <a:endParaRPr lang="zh-CN" altLang="en-US" sz="713" dirty="0">
              <a:solidFill>
                <a:schemeClr val="bg1"/>
              </a:solidFill>
              <a:latin typeface="Calibri" panose="020F0502020204030204"/>
              <a:cs typeface="宋体" panose="02010600030101010101" pitchFamily="2" charset="-122"/>
            </a:endParaRPr>
          </a:p>
        </p:txBody>
      </p:sp>
      <p:sp>
        <p:nvSpPr>
          <p:cNvPr id="15" name="标题 14"/>
          <p:cNvSpPr>
            <a:spLocks noGrp="1"/>
          </p:cNvSpPr>
          <p:nvPr>
            <p:ph type="title"/>
          </p:nvPr>
        </p:nvSpPr>
        <p:spPr>
          <a:xfrm>
            <a:off x="4178105" y="2029612"/>
            <a:ext cx="4683967" cy="519113"/>
          </a:xfrm>
        </p:spPr>
        <p:txBody>
          <a:bodyPr/>
          <a:lstStyle>
            <a:lvl1pPr algn="ctr">
              <a:defRPr sz="2700" b="1" baseline="0">
                <a:solidFill>
                  <a:schemeClr val="bg1"/>
                </a:solidFill>
                <a:latin typeface="Times New Roman" panose="02020603050405020304" pitchFamily="18" charset="0"/>
              </a:defRPr>
            </a:lvl1pPr>
          </a:lstStyle>
          <a:p>
            <a:r>
              <a:rPr lang="zh-CN" altLang="en-US" noProof="1"/>
              <a:t>单击此处编辑母版标题样式</a:t>
            </a:r>
          </a:p>
        </p:txBody>
      </p:sp>
      <p:sp>
        <p:nvSpPr>
          <p:cNvPr id="4" name="日期占位符 29">
            <a:extLst>
              <a:ext uri="{FF2B5EF4-FFF2-40B4-BE49-F238E27FC236}">
                <a16:creationId xmlns:a16="http://schemas.microsoft.com/office/drawing/2014/main" id="{3CDAD826-20E7-4438-B5DD-D3AA4ED66200}"/>
              </a:ext>
            </a:extLst>
          </p:cNvPr>
          <p:cNvSpPr>
            <a:spLocks noGrp="1"/>
          </p:cNvSpPr>
          <p:nvPr>
            <p:ph type="dt" sz="half" idx="10"/>
          </p:nvPr>
        </p:nvSpPr>
        <p:spPr>
          <a:xfrm>
            <a:off x="5497116" y="2744391"/>
            <a:ext cx="1503759" cy="273844"/>
          </a:xfrm>
        </p:spPr>
        <p:txBody>
          <a:bodyPr/>
          <a:lstStyle>
            <a:lvl1pPr algn="r">
              <a:defRPr sz="1800" b="1">
                <a:solidFill>
                  <a:schemeClr val="bg1"/>
                </a:solidFill>
                <a:latin typeface="微软雅黑" panose="020B0503020204020204" pitchFamily="34" charset="-122"/>
                <a:ea typeface="微软雅黑" panose="020B0503020204020204" pitchFamily="34" charset="-122"/>
              </a:defRPr>
            </a:lvl1pPr>
          </a:lstStyle>
          <a:p>
            <a:pPr>
              <a:defRPr/>
            </a:pPr>
            <a:fld id="{C5EFD6F6-2F20-4B1A-A667-B95C1338A7FC}" type="datetime5">
              <a:rPr lang="zh-CN" altLang="en-US"/>
              <a:pPr>
                <a:defRPr/>
              </a:pPr>
              <a:t>2025/4/19</a:t>
            </a:fld>
            <a:endParaRPr lang="zh-CN" altLang="en-US" dirty="0"/>
          </a:p>
        </p:txBody>
      </p:sp>
      <p:sp>
        <p:nvSpPr>
          <p:cNvPr id="5" name="页脚占位符 1">
            <a:extLst>
              <a:ext uri="{FF2B5EF4-FFF2-40B4-BE49-F238E27FC236}">
                <a16:creationId xmlns:a16="http://schemas.microsoft.com/office/drawing/2014/main" id="{9AB88EAB-A34D-4476-93DF-3FF872F77EE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2">
            <a:extLst>
              <a:ext uri="{FF2B5EF4-FFF2-40B4-BE49-F238E27FC236}">
                <a16:creationId xmlns:a16="http://schemas.microsoft.com/office/drawing/2014/main" id="{A2800A24-BF08-446B-9251-F108E901EDFC}"/>
              </a:ext>
            </a:extLst>
          </p:cNvPr>
          <p:cNvSpPr>
            <a:spLocks noGrp="1"/>
          </p:cNvSpPr>
          <p:nvPr>
            <p:ph type="sldNum" sz="quarter" idx="12"/>
          </p:nvPr>
        </p:nvSpPr>
        <p:spPr/>
        <p:txBody>
          <a:bodyPr/>
          <a:lstStyle>
            <a:lvl1pPr>
              <a:defRPr/>
            </a:lvl1pPr>
          </a:lstStyle>
          <a:p>
            <a:fld id="{858CD63E-90B4-4137-BE3E-A082E383778B}" type="slidenum">
              <a:rPr lang="zh-CN" altLang="en-US"/>
              <a:pPr/>
              <a:t>‹#›</a:t>
            </a:fld>
            <a:endParaRPr lang="zh-CN" altLang="en-US"/>
          </a:p>
        </p:txBody>
      </p:sp>
    </p:spTree>
    <p:extLst>
      <p:ext uri="{BB962C8B-B14F-4D97-AF65-F5344CB8AC3E}">
        <p14:creationId xmlns:p14="http://schemas.microsoft.com/office/powerpoint/2010/main" val="497875048"/>
      </p:ext>
    </p:extLst>
  </p:cSld>
  <p:clrMapOvr>
    <a:masterClrMapping/>
  </p:clrMapOvr>
  <p:hf sldNum="0" hdr="0" ftr="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文本框 1">
            <a:extLst>
              <a:ext uri="{FF2B5EF4-FFF2-40B4-BE49-F238E27FC236}">
                <a16:creationId xmlns:a16="http://schemas.microsoft.com/office/drawing/2014/main" id="{E0E5853F-F8D3-4201-B7D6-19EE6B4D4F23}"/>
              </a:ext>
            </a:extLst>
          </p:cNvPr>
          <p:cNvSpPr txBox="1"/>
          <p:nvPr userDrawn="1"/>
        </p:nvSpPr>
        <p:spPr>
          <a:xfrm>
            <a:off x="8460432" y="4803998"/>
            <a:ext cx="576064" cy="307777"/>
          </a:xfrm>
          <a:prstGeom prst="rect">
            <a:avLst/>
          </a:prstGeom>
          <a:noFill/>
        </p:spPr>
        <p:txBody>
          <a:bodyPr wrap="square" rtlCol="0">
            <a:spAutoFit/>
          </a:bodyPr>
          <a:lstStyle/>
          <a:p>
            <a:pPr algn="r"/>
            <a:fld id="{0C913308-F349-4B6D-A68A-DD1791B4A57B}" type="slidenum">
              <a:rPr lang="zh-CN" altLang="en-US" b="1" smtClean="0">
                <a:latin typeface="Times New Roman" panose="02020603050405020304" pitchFamily="18" charset="0"/>
                <a:cs typeface="Times New Roman" panose="02020603050405020304" pitchFamily="18" charset="0"/>
              </a:rPr>
              <a:pPr algn="r"/>
              <a:t>‹#›</a:t>
            </a:fld>
            <a:endParaRPr lang="zh-CN" altLang="en-US" b="1" dirty="0">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30" r:id="rId1"/>
    <p:sldLayoutId id="2147483732" r:id="rId2"/>
    <p:sldLayoutId id="2147483733" r:id="rId3"/>
  </p:sldLayoutIdLst>
  <p:transition>
    <p:fade/>
  </p:transition>
  <p:hf hdr="0" ftr="0" dt="0"/>
  <p:txStyles>
    <p:titleStyle>
      <a:lvl1pPr algn="ctr" rtl="0" eaLnBrk="0" fontAlgn="base" hangingPunct="0">
        <a:spcBef>
          <a:spcPct val="0"/>
        </a:spcBef>
        <a:spcAft>
          <a:spcPct val="0"/>
        </a:spcAft>
        <a:defRPr sz="4400">
          <a:solidFill>
            <a:schemeClr val="tx2"/>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ts val="600"/>
        </a:spcBef>
        <a:spcAft>
          <a:spcPct val="0"/>
        </a:spcAft>
        <a:buChar char="•"/>
        <a:defRPr sz="3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ts val="600"/>
        </a:spcBef>
        <a:spcAft>
          <a:spcPct val="0"/>
        </a:spcAft>
        <a:buChar char="–"/>
        <a:defRPr sz="28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ts val="600"/>
        </a:spcBef>
        <a:spcAft>
          <a:spcPct val="0"/>
        </a:spcAft>
        <a:buChar char="•"/>
        <a:defRPr sz="24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ts val="600"/>
        </a:spcBef>
        <a:spcAft>
          <a:spcPct val="0"/>
        </a:spcAft>
        <a:buChar char="–"/>
        <a:defRPr sz="20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ts val="600"/>
        </a:spcBef>
        <a:spcAft>
          <a:spcPct val="0"/>
        </a:spcAft>
        <a:buChar char="»"/>
        <a:defRPr sz="2000">
          <a:solidFill>
            <a:schemeClr val="tx1"/>
          </a:solidFill>
          <a:latin typeface="Arial" panose="020B0604020202020204" pitchFamily="34" charset="0"/>
          <a:ea typeface="+mn-ea"/>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7.sv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image" Target="../media/image20.sv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6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xml"/><Relationship Id="rId5" Type="http://schemas.openxmlformats.org/officeDocument/2006/relationships/image" Target="../media/image30.svg"/><Relationship Id="rId4" Type="http://schemas.openxmlformats.org/officeDocument/2006/relationships/image" Target="../media/image29.png"/></Relationships>
</file>

<file path=ppt/slides/_rels/slide6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image" Target="../media/image51.jpeg"/><Relationship Id="rId13" Type="http://schemas.openxmlformats.org/officeDocument/2006/relationships/image" Target="../media/image56.png"/><Relationship Id="rId3" Type="http://schemas.openxmlformats.org/officeDocument/2006/relationships/image" Target="../media/image46.jpeg"/><Relationship Id="rId7" Type="http://schemas.openxmlformats.org/officeDocument/2006/relationships/image" Target="../media/image50.jpeg"/><Relationship Id="rId12" Type="http://schemas.openxmlformats.org/officeDocument/2006/relationships/image" Target="../media/image55.jpe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9.jpeg"/><Relationship Id="rId11" Type="http://schemas.openxmlformats.org/officeDocument/2006/relationships/image" Target="../media/image54.jpeg"/><Relationship Id="rId5" Type="http://schemas.openxmlformats.org/officeDocument/2006/relationships/image" Target="../media/image48.jpeg"/><Relationship Id="rId10" Type="http://schemas.openxmlformats.org/officeDocument/2006/relationships/image" Target="../media/image53.png"/><Relationship Id="rId4" Type="http://schemas.openxmlformats.org/officeDocument/2006/relationships/image" Target="../media/image47.jpeg"/><Relationship Id="rId9" Type="http://schemas.openxmlformats.org/officeDocument/2006/relationships/image" Target="../media/image52.jpeg"/></Relationships>
</file>

<file path=ppt/slides/_rels/slide8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58.png"/><Relationship Id="rId4" Type="http://schemas.openxmlformats.org/officeDocument/2006/relationships/oleObject" Target="../embeddings/oleObject1.bin"/></Relationships>
</file>

<file path=ppt/slides/_rels/slide8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1.xml"/><Relationship Id="rId5" Type="http://schemas.openxmlformats.org/officeDocument/2006/relationships/image" Target="../media/image62.jpeg"/><Relationship Id="rId4" Type="http://schemas.openxmlformats.org/officeDocument/2006/relationships/image" Target="../media/image61.jpeg"/></Relationships>
</file>

<file path=ppt/slides/_rels/slide8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67.jpeg"/><Relationship Id="rId5" Type="http://schemas.openxmlformats.org/officeDocument/2006/relationships/image" Target="../media/image66.png"/><Relationship Id="rId4" Type="http://schemas.openxmlformats.org/officeDocument/2006/relationships/image" Target="../media/image65.jpeg"/></Relationships>
</file>

<file path=ppt/slides/_rels/slide90.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Layout" Target="../slideLayouts/slideLayout1.xml"/><Relationship Id="rId4" Type="http://schemas.openxmlformats.org/officeDocument/2006/relationships/image" Target="../media/image70.jpe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9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75.jpe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A77F71E-B605-4820-B913-56173A09A2E7}"/>
              </a:ext>
            </a:extLst>
          </p:cNvPr>
          <p:cNvSpPr txBox="1">
            <a:spLocks noChangeArrowheads="1"/>
          </p:cNvSpPr>
          <p:nvPr/>
        </p:nvSpPr>
        <p:spPr bwMode="auto">
          <a:xfrm>
            <a:off x="-12605" y="1419622"/>
            <a:ext cx="9156340" cy="1116356"/>
          </a:xfrm>
          <a:prstGeom prst="rect">
            <a:avLst/>
          </a:prstGeom>
          <a:noFill/>
          <a:ln>
            <a:noFill/>
          </a:ln>
          <a:extLst/>
        </p:spPr>
        <p:txBody>
          <a:bodyPr lIns="92075" tIns="46038" rIns="92075" bIns="46038" anchor="ctr"/>
          <a:lstStyle>
            <a:lvl1pPr>
              <a:defRPr kumimoji="1" sz="2400">
                <a:solidFill>
                  <a:schemeClr val="tx1"/>
                </a:solidFill>
                <a:latin typeface="Arial" charset="0"/>
                <a:ea typeface="MS PGothic" charset="0"/>
                <a:cs typeface="MS PGothic" charset="0"/>
              </a:defRPr>
            </a:lvl1pPr>
            <a:lvl2pPr marL="742950" indent="-285750">
              <a:defRPr kumimoji="1" sz="2400">
                <a:solidFill>
                  <a:schemeClr val="tx1"/>
                </a:solidFill>
                <a:latin typeface="Arial" charset="0"/>
                <a:ea typeface="MS PGothic" charset="0"/>
                <a:cs typeface="MS PGothic" charset="0"/>
              </a:defRPr>
            </a:lvl2pPr>
            <a:lvl3pPr marL="1143000" indent="-228600">
              <a:defRPr kumimoji="1" sz="2400">
                <a:solidFill>
                  <a:schemeClr val="tx1"/>
                </a:solidFill>
                <a:latin typeface="Arial" charset="0"/>
                <a:ea typeface="MS PGothic" charset="0"/>
                <a:cs typeface="MS PGothic" charset="0"/>
              </a:defRPr>
            </a:lvl3pPr>
            <a:lvl4pPr marL="1600200" indent="-228600">
              <a:defRPr kumimoji="1" sz="2400">
                <a:solidFill>
                  <a:schemeClr val="tx1"/>
                </a:solidFill>
                <a:latin typeface="Arial" charset="0"/>
                <a:ea typeface="MS PGothic" charset="0"/>
                <a:cs typeface="MS PGothic" charset="0"/>
              </a:defRPr>
            </a:lvl4pPr>
            <a:lvl5pPr marL="2057400" indent="-228600">
              <a:defRPr kumimoji="1" sz="2400">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9pPr>
          </a:lstStyle>
          <a:p>
            <a:pPr algn="ctr">
              <a:spcBef>
                <a:spcPts val="600"/>
              </a:spcBef>
              <a:defRPr/>
            </a:pPr>
            <a:endParaRPr lang="en-US" altLang="zh-CN" sz="2800" b="1" dirty="0">
              <a:solidFill>
                <a:prstClr val="black"/>
              </a:solidFill>
              <a:latin typeface="Arial" panose="020B0604020202020204" pitchFamily="34" charset="0"/>
              <a:ea typeface="华文楷体" panose="02010600040101010101" pitchFamily="2" charset="-122"/>
              <a:cs typeface="Arial" panose="020B0604020202020204" pitchFamily="34" charset="0"/>
            </a:endParaRPr>
          </a:p>
          <a:p>
            <a:pPr algn="ctr">
              <a:spcBef>
                <a:spcPts val="600"/>
              </a:spcBef>
              <a:defRPr/>
            </a:pPr>
            <a:r>
              <a:rPr lang="en-US" altLang="zh-CN" sz="2800" b="1" dirty="0">
                <a:solidFill>
                  <a:prstClr val="black"/>
                </a:solidFill>
                <a:latin typeface="Arial" panose="020B0604020202020204" pitchFamily="34" charset="0"/>
                <a:ea typeface="华文楷体" panose="02010600040101010101" pitchFamily="2" charset="-122"/>
                <a:cs typeface="Arial" panose="020B0604020202020204" pitchFamily="34" charset="0"/>
              </a:rPr>
              <a:t>Physical Storage Systems &amp; Data </a:t>
            </a:r>
          </a:p>
          <a:p>
            <a:pPr algn="ctr">
              <a:spcBef>
                <a:spcPts val="600"/>
              </a:spcBef>
              <a:defRPr/>
            </a:pPr>
            <a:r>
              <a:rPr lang="en-US" altLang="zh-CN" sz="2800" b="1" dirty="0">
                <a:solidFill>
                  <a:prstClr val="black"/>
                </a:solidFill>
                <a:latin typeface="Arial" panose="020B0604020202020204" pitchFamily="34" charset="0"/>
                <a:ea typeface="华文楷体" panose="02010600040101010101" pitchFamily="2" charset="-122"/>
                <a:cs typeface="Arial" panose="020B0604020202020204" pitchFamily="34" charset="0"/>
              </a:rPr>
              <a:t>Storage Structures </a:t>
            </a:r>
          </a:p>
          <a:p>
            <a:pPr algn="ctr">
              <a:spcBef>
                <a:spcPts val="600"/>
              </a:spcBef>
              <a:defRPr/>
            </a:pPr>
            <a:r>
              <a:rPr lang="en-US" altLang="zh-CN" dirty="0">
                <a:solidFill>
                  <a:prstClr val="black"/>
                </a:solidFill>
                <a:latin typeface="Arial" panose="020B0604020202020204" pitchFamily="34" charset="0"/>
                <a:ea typeface="华文楷体" panose="02010600040101010101" pitchFamily="2" charset="-122"/>
                <a:cs typeface="Arial" panose="020B0604020202020204" pitchFamily="34" charset="0"/>
              </a:rPr>
              <a:t>Chapters 12 &amp; 13</a:t>
            </a:r>
          </a:p>
        </p:txBody>
      </p:sp>
      <p:sp>
        <p:nvSpPr>
          <p:cNvPr id="18" name="Subtitle 2">
            <a:extLst>
              <a:ext uri="{FF2B5EF4-FFF2-40B4-BE49-F238E27FC236}">
                <a16:creationId xmlns:a16="http://schemas.microsoft.com/office/drawing/2014/main" id="{5B0D7027-3D69-4E35-939E-995F28B50482}"/>
              </a:ext>
            </a:extLst>
          </p:cNvPr>
          <p:cNvSpPr txBox="1">
            <a:spLocks noChangeArrowheads="1"/>
          </p:cNvSpPr>
          <p:nvPr/>
        </p:nvSpPr>
        <p:spPr bwMode="auto">
          <a:xfrm>
            <a:off x="0" y="3124483"/>
            <a:ext cx="9156340" cy="11034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0"/>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0"/>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0"/>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0"/>
              </a:defRPr>
            </a:lvl9pPr>
          </a:lstStyle>
          <a:p>
            <a:pPr algn="ctr">
              <a:buClr>
                <a:srgbClr val="800080"/>
              </a:buClr>
              <a:buSzPct val="90000"/>
            </a:pPr>
            <a:r>
              <a:rPr lang="en-US" altLang="zh-CN" sz="1800" dirty="0" err="1">
                <a:solidFill>
                  <a:srgbClr val="000000"/>
                </a:solidFill>
                <a:latin typeface="Arial" panose="020B0604020202020204" pitchFamily="34" charset="0"/>
                <a:ea typeface="华文楷体" panose="02010600040101010101" pitchFamily="2" charset="-122"/>
                <a:cs typeface="Arial" panose="020B0604020202020204" pitchFamily="34" charset="0"/>
              </a:rPr>
              <a:t>Yichao</a:t>
            </a:r>
            <a:r>
              <a:rPr lang="en-US" altLang="zh-CN" sz="1800" dirty="0">
                <a:solidFill>
                  <a:srgbClr val="000000"/>
                </a:solidFill>
                <a:latin typeface="Arial" panose="020B0604020202020204" pitchFamily="34" charset="0"/>
                <a:ea typeface="华文楷体" panose="02010600040101010101" pitchFamily="2" charset="-122"/>
                <a:cs typeface="Arial" panose="020B0604020202020204" pitchFamily="34" charset="0"/>
              </a:rPr>
              <a:t> Zhang</a:t>
            </a:r>
          </a:p>
          <a:p>
            <a:pPr algn="ctr">
              <a:buClr>
                <a:srgbClr val="800080"/>
              </a:buClr>
              <a:buSzPct val="90000"/>
            </a:pPr>
            <a:r>
              <a:rPr lang="en-GB" altLang="zh-CN" sz="1800" dirty="0">
                <a:latin typeface="Arial" panose="020B0604020202020204" pitchFamily="34" charset="0"/>
                <a:ea typeface="华文楷体" panose="02010600040101010101" pitchFamily="2" charset="-122"/>
                <a:cs typeface="Arial" panose="020B0604020202020204" pitchFamily="34" charset="0"/>
              </a:rPr>
              <a:t>Email: </a:t>
            </a:r>
            <a:r>
              <a:rPr lang="en-US" altLang="zh-CN" sz="1800" dirty="0" err="1">
                <a:solidFill>
                  <a:srgbClr val="000000"/>
                </a:solidFill>
                <a:latin typeface="Arial" panose="020B0604020202020204" pitchFamily="34" charset="0"/>
                <a:ea typeface="华文楷体" panose="02010600040101010101" pitchFamily="2" charset="-122"/>
                <a:cs typeface="Arial" panose="020B0604020202020204" pitchFamily="34" charset="0"/>
              </a:rPr>
              <a:t>yichaozhang</a:t>
            </a:r>
            <a:r>
              <a:rPr lang="en-GB" altLang="zh-CN" sz="1800" dirty="0">
                <a:latin typeface="Arial" panose="020B0604020202020204" pitchFamily="34" charset="0"/>
                <a:ea typeface="华文楷体" panose="02010600040101010101" pitchFamily="2" charset="-122"/>
                <a:cs typeface="Arial" panose="020B0604020202020204" pitchFamily="34" charset="0"/>
              </a:rPr>
              <a:t>@tongji.edu.cn</a:t>
            </a:r>
          </a:p>
          <a:p>
            <a:pPr algn="ctr">
              <a:buClr>
                <a:srgbClr val="800080"/>
              </a:buClr>
              <a:buSzPct val="90000"/>
            </a:pPr>
            <a:r>
              <a:rPr lang="en-US" altLang="zh-CN" sz="1800" dirty="0">
                <a:solidFill>
                  <a:srgbClr val="000000"/>
                </a:solidFill>
                <a:latin typeface="Arial" panose="020B0604020202020204" pitchFamily="34" charset="0"/>
                <a:ea typeface="华文楷体" panose="02010600040101010101" pitchFamily="2" charset="-122"/>
                <a:cs typeface="Arial" panose="020B0604020202020204" pitchFamily="34" charset="0"/>
              </a:rPr>
              <a:t>Department of Computer Science and Technology</a:t>
            </a:r>
          </a:p>
          <a:p>
            <a:pPr algn="ctr">
              <a:buClr>
                <a:srgbClr val="800080"/>
              </a:buClr>
              <a:buSzPct val="90000"/>
            </a:pPr>
            <a:r>
              <a:rPr lang="en-US" altLang="zh-CN" sz="1800" dirty="0">
                <a:solidFill>
                  <a:srgbClr val="000000"/>
                </a:solidFill>
                <a:latin typeface="Arial" panose="020B0604020202020204" pitchFamily="34" charset="0"/>
                <a:ea typeface="华文楷体" panose="02010600040101010101" pitchFamily="2" charset="-122"/>
                <a:cs typeface="Arial" panose="020B0604020202020204" pitchFamily="34" charset="0"/>
              </a:rPr>
              <a:t>Tongji University</a:t>
            </a:r>
          </a:p>
          <a:p>
            <a:pPr algn="ctr">
              <a:buClr>
                <a:srgbClr val="800080"/>
              </a:buClr>
              <a:buSzPct val="90000"/>
            </a:pPr>
            <a:endParaRPr lang="de-CH" sz="1800" dirty="0">
              <a:solidFill>
                <a:srgbClr val="000000"/>
              </a:solidFill>
              <a:latin typeface="Arial" panose="020B0604020202020204" pitchFamily="34" charset="0"/>
              <a:ea typeface="华文楷体" panose="02010600040101010101" pitchFamily="2" charset="-122"/>
              <a:cs typeface="Arial" panose="020B0604020202020204" pitchFamily="34" charset="0"/>
            </a:endParaRPr>
          </a:p>
        </p:txBody>
      </p:sp>
      <p:pic>
        <p:nvPicPr>
          <p:cNvPr id="6" name="图片 5">
            <a:extLst>
              <a:ext uri="{FF2B5EF4-FFF2-40B4-BE49-F238E27FC236}">
                <a16:creationId xmlns:a16="http://schemas.microsoft.com/office/drawing/2014/main" id="{E3926E56-11E2-4B2B-AA1C-5D1F684EF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13" y="78916"/>
            <a:ext cx="2448272" cy="673776"/>
          </a:xfrm>
          <a:prstGeom prst="rect">
            <a:avLst/>
          </a:prstGeom>
        </p:spPr>
      </p:pic>
      <p:grpSp>
        <p:nvGrpSpPr>
          <p:cNvPr id="7" name="组合 6">
            <a:extLst>
              <a:ext uri="{FF2B5EF4-FFF2-40B4-BE49-F238E27FC236}">
                <a16:creationId xmlns:a16="http://schemas.microsoft.com/office/drawing/2014/main" id="{32F6A10C-3978-4571-8E11-512EBE350881}"/>
              </a:ext>
            </a:extLst>
          </p:cNvPr>
          <p:cNvGrpSpPr/>
          <p:nvPr/>
        </p:nvGrpSpPr>
        <p:grpSpPr>
          <a:xfrm>
            <a:off x="6820780" y="34612"/>
            <a:ext cx="2323220" cy="626967"/>
            <a:chOff x="5853448" y="-22066"/>
            <a:chExt cx="2967025" cy="835954"/>
          </a:xfrm>
        </p:grpSpPr>
        <p:sp>
          <p:nvSpPr>
            <p:cNvPr id="8" name="文本框 7">
              <a:extLst>
                <a:ext uri="{FF2B5EF4-FFF2-40B4-BE49-F238E27FC236}">
                  <a16:creationId xmlns:a16="http://schemas.microsoft.com/office/drawing/2014/main" id="{3BF37CBE-EBFF-4522-B25D-114F7C120EEF}"/>
                </a:ext>
              </a:extLst>
            </p:cNvPr>
            <p:cNvSpPr txBox="1"/>
            <p:nvPr/>
          </p:nvSpPr>
          <p:spPr>
            <a:xfrm>
              <a:off x="5853448" y="25982"/>
              <a:ext cx="2967025" cy="787906"/>
            </a:xfrm>
            <a:prstGeom prst="rect">
              <a:avLst/>
            </a:prstGeom>
            <a:noFill/>
          </p:spPr>
          <p:txBody>
            <a:bodyPr wrap="square" rtlCol="0">
              <a:spAutoFit/>
            </a:bodyPr>
            <a:lstStyle/>
            <a:p>
              <a:r>
                <a:rPr lang="en-US" altLang="zh-CN" sz="1800" b="1" dirty="0">
                  <a:solidFill>
                    <a:srgbClr val="0070C0"/>
                  </a:solidFill>
                </a:rPr>
                <a:t>             ADMIS Lab</a:t>
              </a:r>
              <a:endParaRPr lang="en-US" altLang="zh-CN" sz="1200" b="1" dirty="0">
                <a:solidFill>
                  <a:srgbClr val="0070C0"/>
                </a:solidFill>
              </a:endParaRPr>
            </a:p>
            <a:p>
              <a:r>
                <a:rPr lang="zh-CN" altLang="en-US" sz="1200" b="1" dirty="0">
                  <a:solidFill>
                    <a:srgbClr val="0070C0"/>
                  </a:solidFill>
                  <a:latin typeface="华文行楷" panose="02010800040101010101" pitchFamily="2" charset="-122"/>
                  <a:ea typeface="华文行楷" panose="02010800040101010101" pitchFamily="2" charset="-122"/>
                </a:rPr>
                <a:t>先进数据与机器智能系统实验室</a:t>
              </a:r>
            </a:p>
          </p:txBody>
        </p:sp>
        <p:pic>
          <p:nvPicPr>
            <p:cNvPr id="9" name="图形 8" descr="原子">
              <a:extLst>
                <a:ext uri="{FF2B5EF4-FFF2-40B4-BE49-F238E27FC236}">
                  <a16:creationId xmlns:a16="http://schemas.microsoft.com/office/drawing/2014/main" id="{366732EC-C279-4260-B05C-265B78B278A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51999" y="-22066"/>
              <a:ext cx="1189248" cy="524648"/>
            </a:xfrm>
            <a:prstGeom prst="rect">
              <a:avLst/>
            </a:prstGeom>
          </p:spPr>
        </p:pic>
      </p:grpSp>
    </p:spTree>
    <p:extLst>
      <p:ext uri="{BB962C8B-B14F-4D97-AF65-F5344CB8AC3E}">
        <p14:creationId xmlns:p14="http://schemas.microsoft.com/office/powerpoint/2010/main" val="75495491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987574"/>
            <a:ext cx="8568952" cy="3456384"/>
          </a:xfrm>
        </p:spPr>
        <p:txBody>
          <a:bodyPr/>
          <a:lstStyle/>
          <a:p>
            <a:r>
              <a:rPr lang="en-US" altLang="zh-CN" b="1" dirty="0">
                <a:solidFill>
                  <a:srgbClr val="C00000"/>
                </a:solidFill>
              </a:rPr>
              <a:t>Overview of Physical Storage Media</a:t>
            </a:r>
          </a:p>
          <a:p>
            <a:r>
              <a:rPr lang="en-US" altLang="zh-CN" dirty="0"/>
              <a:t>Magnetic Disks</a:t>
            </a:r>
          </a:p>
          <a:p>
            <a:r>
              <a:rPr lang="en-US" altLang="zh-CN" dirty="0"/>
              <a:t>RAID</a:t>
            </a:r>
          </a:p>
          <a:p>
            <a:r>
              <a:rPr lang="en-US" altLang="zh-CN" dirty="0"/>
              <a:t>Tertiary Storage </a:t>
            </a:r>
          </a:p>
          <a:p>
            <a:r>
              <a:rPr lang="en-US" altLang="zh-CN" dirty="0"/>
              <a:t>Storage Access</a:t>
            </a:r>
          </a:p>
          <a:p>
            <a:r>
              <a:rPr lang="en-US" altLang="zh-CN" dirty="0"/>
              <a:t>File Organization</a:t>
            </a:r>
          </a:p>
          <a:p>
            <a:r>
              <a:rPr lang="en-US" altLang="zh-CN" dirty="0"/>
              <a:t>Organization of Records in Files</a:t>
            </a:r>
          </a:p>
          <a:p>
            <a:r>
              <a:rPr lang="en-US" altLang="zh-CN" dirty="0"/>
              <a:t>Data-Dictionary Storage</a:t>
            </a:r>
          </a:p>
        </p:txBody>
      </p:sp>
    </p:spTree>
    <p:extLst>
      <p:ext uri="{BB962C8B-B14F-4D97-AF65-F5344CB8AC3E}">
        <p14:creationId xmlns:p14="http://schemas.microsoft.com/office/powerpoint/2010/main" val="414667678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Storage Hierarchy</a:t>
            </a:r>
            <a:endParaRPr lang="zh-CN" altLang="en-US" dirty="0"/>
          </a:p>
        </p:txBody>
      </p:sp>
      <p:sp>
        <p:nvSpPr>
          <p:cNvPr id="5" name="Right Brace 6"/>
          <p:cNvSpPr>
            <a:spLocks/>
          </p:cNvSpPr>
          <p:nvPr/>
        </p:nvSpPr>
        <p:spPr bwMode="auto">
          <a:xfrm>
            <a:off x="5137547" y="1121569"/>
            <a:ext cx="294084" cy="935831"/>
          </a:xfrm>
          <a:prstGeom prst="rightBrace">
            <a:avLst>
              <a:gd name="adj1" fmla="val 8324"/>
              <a:gd name="adj2" fmla="val 50000"/>
            </a:avLst>
          </a:prstGeom>
          <a:solidFill>
            <a:schemeClr val="accent1"/>
          </a:solidFill>
          <a:ln w="9525" algn="ctr">
            <a:solidFill>
              <a:schemeClr val="tx1"/>
            </a:solidFill>
            <a:round/>
            <a:headEnd/>
            <a:tailEnd/>
          </a:ln>
        </p:spPr>
        <p:txBody>
          <a:bodyPr wrap="none"/>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endParaRPr kumimoji="0" lang="zh-CN" altLang="en-US" sz="1350">
              <a:solidFill>
                <a:srgbClr val="000000"/>
              </a:solidFill>
              <a:latin typeface="Helvetica" panose="020B0604020202020204" pitchFamily="34" charset="0"/>
              <a:ea typeface="宋体" panose="02010600030101010101" pitchFamily="2" charset="-122"/>
            </a:endParaRPr>
          </a:p>
        </p:txBody>
      </p:sp>
      <p:sp>
        <p:nvSpPr>
          <p:cNvPr id="6" name="TextBox 8"/>
          <p:cNvSpPr txBox="1">
            <a:spLocks noChangeArrowheads="1"/>
          </p:cNvSpPr>
          <p:nvPr/>
        </p:nvSpPr>
        <p:spPr bwMode="auto">
          <a:xfrm>
            <a:off x="5875685" y="1263254"/>
            <a:ext cx="22633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r>
              <a:rPr kumimoji="0" lang="en-US" altLang="zh-CN" sz="1800" b="1" dirty="0">
                <a:latin typeface="Helvetica" panose="020B0604020202020204" pitchFamily="34" charset="0"/>
                <a:ea typeface="宋体" panose="02010600030101010101" pitchFamily="2" charset="-122"/>
              </a:rPr>
              <a:t>primary storage</a:t>
            </a:r>
          </a:p>
          <a:p>
            <a:pPr algn="ctr" eaLnBrk="0" hangingPunct="0">
              <a:spcBef>
                <a:spcPct val="0"/>
              </a:spcBef>
              <a:buClrTx/>
              <a:buSzTx/>
              <a:buFontTx/>
              <a:buNone/>
            </a:pPr>
            <a:r>
              <a:rPr kumimoji="0" lang="en-US" altLang="zh-CN" sz="1800" b="1" dirty="0">
                <a:solidFill>
                  <a:srgbClr val="C00000"/>
                </a:solidFill>
                <a:latin typeface="Helvetica" panose="020B0604020202020204" pitchFamily="34" charset="0"/>
                <a:ea typeface="宋体" panose="02010600030101010101" pitchFamily="2" charset="-122"/>
              </a:rPr>
              <a:t>volatile</a:t>
            </a:r>
            <a:endParaRPr kumimoji="0" lang="zh-CN" altLang="en-US" sz="1800" dirty="0">
              <a:solidFill>
                <a:srgbClr val="C00000"/>
              </a:solidFill>
              <a:latin typeface="Helvetica" panose="020B0604020202020204" pitchFamily="34" charset="0"/>
              <a:ea typeface="宋体" panose="02010600030101010101" pitchFamily="2" charset="-122"/>
            </a:endParaRPr>
          </a:p>
        </p:txBody>
      </p:sp>
      <p:sp>
        <p:nvSpPr>
          <p:cNvPr id="7" name="Right Brace 9"/>
          <p:cNvSpPr>
            <a:spLocks/>
          </p:cNvSpPr>
          <p:nvPr/>
        </p:nvSpPr>
        <p:spPr bwMode="auto">
          <a:xfrm>
            <a:off x="5350669" y="2334817"/>
            <a:ext cx="294085" cy="935831"/>
          </a:xfrm>
          <a:prstGeom prst="rightBrace">
            <a:avLst>
              <a:gd name="adj1" fmla="val 8324"/>
              <a:gd name="adj2" fmla="val 50000"/>
            </a:avLst>
          </a:prstGeom>
          <a:solidFill>
            <a:schemeClr val="accent1"/>
          </a:solidFill>
          <a:ln w="9525" algn="ctr">
            <a:solidFill>
              <a:schemeClr val="tx1"/>
            </a:solidFill>
            <a:round/>
            <a:headEnd/>
            <a:tailEnd/>
          </a:ln>
        </p:spPr>
        <p:txBody>
          <a:bodyPr wrap="none"/>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endParaRPr kumimoji="0" lang="zh-CN" altLang="en-US" sz="1350">
              <a:solidFill>
                <a:srgbClr val="000000"/>
              </a:solidFill>
              <a:latin typeface="Helvetica" panose="020B0604020202020204" pitchFamily="34" charset="0"/>
              <a:ea typeface="宋体" panose="02010600030101010101" pitchFamily="2" charset="-122"/>
            </a:endParaRPr>
          </a:p>
        </p:txBody>
      </p:sp>
      <p:sp>
        <p:nvSpPr>
          <p:cNvPr id="8" name="TextBox 10"/>
          <p:cNvSpPr txBox="1">
            <a:spLocks noChangeArrowheads="1"/>
          </p:cNvSpPr>
          <p:nvPr/>
        </p:nvSpPr>
        <p:spPr bwMode="auto">
          <a:xfrm>
            <a:off x="6019800" y="2428876"/>
            <a:ext cx="228004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r>
              <a:rPr kumimoji="0" lang="en-US" altLang="zh-CN" sz="1800" b="1" dirty="0">
                <a:latin typeface="Helvetica" panose="020B0604020202020204" pitchFamily="34" charset="0"/>
                <a:ea typeface="宋体" panose="02010600030101010101" pitchFamily="2" charset="-122"/>
              </a:rPr>
              <a:t>secondary storage/</a:t>
            </a:r>
          </a:p>
          <a:p>
            <a:pPr algn="ctr" eaLnBrk="0" hangingPunct="0">
              <a:spcBef>
                <a:spcPct val="0"/>
              </a:spcBef>
              <a:buClrTx/>
              <a:buSzTx/>
              <a:buFontTx/>
              <a:buNone/>
            </a:pPr>
            <a:r>
              <a:rPr kumimoji="0" lang="en-US" altLang="zh-CN" sz="1800" b="1" dirty="0">
                <a:solidFill>
                  <a:srgbClr val="C00000"/>
                </a:solidFill>
                <a:latin typeface="Helvetica" panose="020B0604020202020204" pitchFamily="34" charset="0"/>
                <a:ea typeface="宋体" panose="02010600030101010101" pitchFamily="2" charset="-122"/>
              </a:rPr>
              <a:t>non-volatile</a:t>
            </a:r>
            <a:endParaRPr kumimoji="0" lang="zh-CN" altLang="en-US" sz="1800" dirty="0">
              <a:solidFill>
                <a:srgbClr val="C00000"/>
              </a:solidFill>
              <a:latin typeface="Helvetica" panose="020B0604020202020204" pitchFamily="34" charset="0"/>
              <a:ea typeface="宋体" panose="02010600030101010101" pitchFamily="2" charset="-122"/>
            </a:endParaRPr>
          </a:p>
        </p:txBody>
      </p:sp>
      <p:sp>
        <p:nvSpPr>
          <p:cNvPr id="9" name="Right Brace 11"/>
          <p:cNvSpPr>
            <a:spLocks/>
          </p:cNvSpPr>
          <p:nvPr/>
        </p:nvSpPr>
        <p:spPr bwMode="auto">
          <a:xfrm>
            <a:off x="5725716" y="3537347"/>
            <a:ext cx="294084" cy="937022"/>
          </a:xfrm>
          <a:prstGeom prst="rightBrace">
            <a:avLst>
              <a:gd name="adj1" fmla="val 8334"/>
              <a:gd name="adj2" fmla="val 50000"/>
            </a:avLst>
          </a:prstGeom>
          <a:solidFill>
            <a:schemeClr val="accent1"/>
          </a:solidFill>
          <a:ln w="9525" algn="ctr">
            <a:solidFill>
              <a:schemeClr val="tx1"/>
            </a:solidFill>
            <a:round/>
            <a:headEnd/>
            <a:tailEnd/>
          </a:ln>
        </p:spPr>
        <p:txBody>
          <a:bodyPr wrap="none"/>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endParaRPr kumimoji="0" lang="zh-CN" altLang="en-US" sz="1350">
              <a:solidFill>
                <a:srgbClr val="000000"/>
              </a:solidFill>
              <a:latin typeface="Helvetica" panose="020B0604020202020204" pitchFamily="34" charset="0"/>
              <a:ea typeface="宋体" panose="02010600030101010101" pitchFamily="2" charset="-122"/>
            </a:endParaRPr>
          </a:p>
        </p:txBody>
      </p:sp>
      <p:sp>
        <p:nvSpPr>
          <p:cNvPr id="10" name="TextBox 12"/>
          <p:cNvSpPr txBox="1">
            <a:spLocks noChangeArrowheads="1"/>
          </p:cNvSpPr>
          <p:nvPr/>
        </p:nvSpPr>
        <p:spPr bwMode="auto">
          <a:xfrm>
            <a:off x="6212631" y="3689748"/>
            <a:ext cx="195976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r>
              <a:rPr kumimoji="0" lang="en-US" altLang="zh-CN" sz="1800" b="1" dirty="0">
                <a:latin typeface="Helvetica" panose="020B0604020202020204" pitchFamily="34" charset="0"/>
                <a:ea typeface="宋体" panose="02010600030101010101" pitchFamily="2" charset="-122"/>
              </a:rPr>
              <a:t>tertiary storage/</a:t>
            </a:r>
          </a:p>
          <a:p>
            <a:pPr algn="ctr" eaLnBrk="0" hangingPunct="0">
              <a:spcBef>
                <a:spcPct val="0"/>
              </a:spcBef>
              <a:buClrTx/>
              <a:buSzTx/>
              <a:buFontTx/>
              <a:buNone/>
            </a:pPr>
            <a:r>
              <a:rPr kumimoji="0" lang="en-US" altLang="zh-CN" sz="1800" b="1" dirty="0">
                <a:solidFill>
                  <a:srgbClr val="C00000"/>
                </a:solidFill>
                <a:latin typeface="Helvetica" panose="020B0604020202020204" pitchFamily="34" charset="0"/>
                <a:ea typeface="宋体" panose="02010600030101010101" pitchFamily="2" charset="-122"/>
              </a:rPr>
              <a:t>non-volatile</a:t>
            </a:r>
            <a:endParaRPr kumimoji="0" lang="zh-CN" altLang="en-US" sz="1800" dirty="0">
              <a:solidFill>
                <a:srgbClr val="C00000"/>
              </a:solidFill>
              <a:latin typeface="Helvetica" panose="020B0604020202020204" pitchFamily="34" charset="0"/>
              <a:ea typeface="宋体" panose="02010600030101010101" pitchFamily="2" charset="-122"/>
            </a:endParaRPr>
          </a:p>
        </p:txBody>
      </p:sp>
      <p:pic>
        <p:nvPicPr>
          <p:cNvPr id="11" name="Content Placeholder 3">
            <a:extLst>
              <a:ext uri="{FF2B5EF4-FFF2-40B4-BE49-F238E27FC236}">
                <a16:creationId xmlns:a16="http://schemas.microsoft.com/office/drawing/2014/main" id="{E597C534-B30F-463A-B1E3-A46FFEB3BB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47664" y="1079553"/>
            <a:ext cx="4118582" cy="3508421"/>
          </a:xfrm>
          <a:prstGeom prst="rect">
            <a:avLst/>
          </a:prstGeom>
        </p:spPr>
      </p:pic>
    </p:spTree>
    <p:extLst>
      <p:ext uri="{BB962C8B-B14F-4D97-AF65-F5344CB8AC3E}">
        <p14:creationId xmlns:p14="http://schemas.microsoft.com/office/powerpoint/2010/main" val="295529393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Classification of Physical Storage Media</a:t>
            </a:r>
            <a:endParaRPr lang="zh-CN" altLang="en-US" dirty="0"/>
          </a:p>
        </p:txBody>
      </p:sp>
      <p:sp>
        <p:nvSpPr>
          <p:cNvPr id="3" name="内容占位符 2"/>
          <p:cNvSpPr>
            <a:spLocks noGrp="1"/>
          </p:cNvSpPr>
          <p:nvPr>
            <p:ph idx="1"/>
          </p:nvPr>
        </p:nvSpPr>
        <p:spPr>
          <a:xfrm>
            <a:off x="251520" y="771550"/>
            <a:ext cx="8280920" cy="3805070"/>
          </a:xfrm>
        </p:spPr>
        <p:txBody>
          <a:bodyPr/>
          <a:lstStyle/>
          <a:p>
            <a:r>
              <a:rPr lang="en-US" altLang="zh-CN" sz="2000" b="1" dirty="0"/>
              <a:t>Speed</a:t>
            </a:r>
            <a:r>
              <a:rPr lang="en-US" altLang="zh-CN" sz="2000" dirty="0"/>
              <a:t> </a:t>
            </a:r>
          </a:p>
          <a:p>
            <a:pPr lvl="1"/>
            <a:r>
              <a:rPr lang="en-US" altLang="zh-CN" sz="1800" dirty="0"/>
              <a:t>the speed with which data can be accessed</a:t>
            </a:r>
          </a:p>
          <a:p>
            <a:r>
              <a:rPr lang="en-US" altLang="zh-CN" sz="2000" b="1" dirty="0"/>
              <a:t>Cost</a:t>
            </a:r>
            <a:r>
              <a:rPr lang="en-US" altLang="zh-CN" sz="2000" dirty="0"/>
              <a:t> </a:t>
            </a:r>
          </a:p>
          <a:p>
            <a:pPr lvl="1"/>
            <a:r>
              <a:rPr lang="en-US" altLang="zh-CN" sz="1800" dirty="0"/>
              <a:t>the cost for storing each unit of data</a:t>
            </a:r>
          </a:p>
          <a:p>
            <a:r>
              <a:rPr lang="en-US" altLang="zh-CN" sz="2000" b="1" dirty="0"/>
              <a:t>Reliability</a:t>
            </a:r>
          </a:p>
          <a:p>
            <a:pPr lvl="1"/>
            <a:r>
              <a:rPr lang="en-US" altLang="zh-CN" sz="1800" dirty="0"/>
              <a:t>volatile storage (</a:t>
            </a:r>
            <a:r>
              <a:rPr lang="zh-CN" altLang="en-US" sz="1800" dirty="0"/>
              <a:t>易失性存储）</a:t>
            </a:r>
            <a:r>
              <a:rPr lang="en-US" altLang="zh-CN" sz="1800" dirty="0"/>
              <a:t>: lose contents when power is switched off</a:t>
            </a:r>
          </a:p>
          <a:p>
            <a:pPr lvl="1"/>
            <a:r>
              <a:rPr lang="en-US" altLang="zh-CN" sz="1800" dirty="0"/>
              <a:t>non-volatile storage (</a:t>
            </a:r>
            <a:r>
              <a:rPr lang="zh-CN" altLang="en-US" sz="1800" dirty="0"/>
              <a:t>非易失性存储）</a:t>
            </a:r>
            <a:r>
              <a:rPr lang="en-US" altLang="zh-CN" sz="1800" dirty="0"/>
              <a:t>: contents persist when power is switched off </a:t>
            </a:r>
          </a:p>
          <a:p>
            <a:pPr lvl="2"/>
            <a:r>
              <a:rPr lang="en-US" altLang="zh-CN" sz="1600" dirty="0"/>
              <a:t>Secondary (</a:t>
            </a:r>
            <a:r>
              <a:rPr lang="zh-CN" altLang="en-US" sz="1600" dirty="0"/>
              <a:t>第二级</a:t>
            </a:r>
            <a:r>
              <a:rPr lang="en-US" altLang="zh-CN" sz="1600" dirty="0"/>
              <a:t>) and tertiary</a:t>
            </a:r>
            <a:r>
              <a:rPr lang="zh-CN" altLang="en-US" sz="1600" dirty="0"/>
              <a:t>（第三级）</a:t>
            </a:r>
            <a:r>
              <a:rPr lang="en-US" altLang="zh-CN" sz="1600" dirty="0"/>
              <a:t>storage</a:t>
            </a:r>
          </a:p>
          <a:p>
            <a:pPr lvl="2"/>
            <a:r>
              <a:rPr lang="en-US" altLang="zh-CN" sz="1600" dirty="0"/>
              <a:t>battery-backed up main-memory</a:t>
            </a:r>
          </a:p>
          <a:p>
            <a:endParaRPr lang="zh-CN" altLang="en-US" sz="2000" dirty="0"/>
          </a:p>
        </p:txBody>
      </p:sp>
    </p:spTree>
    <p:extLst>
      <p:ext uri="{BB962C8B-B14F-4D97-AF65-F5344CB8AC3E}">
        <p14:creationId xmlns:p14="http://schemas.microsoft.com/office/powerpoint/2010/main" val="33345130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arn(inVertical)">
                                      <p:cBhvr>
                                        <p:cTn id="15" dur="500"/>
                                        <p:tgtEl>
                                          <p:spTgt spid="3">
                                            <p:txEl>
                                              <p:pRg st="4" end="4"/>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arn(inVertical)">
                                      <p:cBhvr>
                                        <p:cTn id="18" dur="500"/>
                                        <p:tgtEl>
                                          <p:spTgt spid="3">
                                            <p:txEl>
                                              <p:pRg st="5" end="5"/>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barn(inVertical)">
                                      <p:cBhvr>
                                        <p:cTn id="21" dur="500"/>
                                        <p:tgtEl>
                                          <p:spTgt spid="3">
                                            <p:txEl>
                                              <p:pRg st="6" end="6"/>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barn(inVertical)">
                                      <p:cBhvr>
                                        <p:cTn id="24" dur="500"/>
                                        <p:tgtEl>
                                          <p:spTgt spid="3">
                                            <p:txEl>
                                              <p:pRg st="7" end="7"/>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barn(inVertical)">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Cache &amp; Main Memory</a:t>
            </a:r>
            <a:endParaRPr lang="zh-CN" altLang="en-US" dirty="0"/>
          </a:p>
        </p:txBody>
      </p:sp>
      <p:sp>
        <p:nvSpPr>
          <p:cNvPr id="3" name="内容占位符 2"/>
          <p:cNvSpPr>
            <a:spLocks noGrp="1"/>
          </p:cNvSpPr>
          <p:nvPr>
            <p:ph idx="1"/>
          </p:nvPr>
        </p:nvSpPr>
        <p:spPr/>
        <p:txBody>
          <a:bodyPr/>
          <a:lstStyle/>
          <a:p>
            <a:r>
              <a:rPr lang="en-US" altLang="zh-CN" sz="2000" b="1" dirty="0"/>
              <a:t>Cache (</a:t>
            </a:r>
            <a:r>
              <a:rPr lang="zh-CN" altLang="en-US" sz="2000" b="1" dirty="0"/>
              <a:t>缓存</a:t>
            </a:r>
            <a:r>
              <a:rPr lang="en-US" altLang="zh-CN" sz="2000" b="1" dirty="0"/>
              <a:t>)</a:t>
            </a:r>
          </a:p>
          <a:p>
            <a:pPr lvl="1"/>
            <a:r>
              <a:rPr lang="en-US" altLang="zh-CN" sz="1600" dirty="0"/>
              <a:t>the fastest and most costly form of storage</a:t>
            </a:r>
          </a:p>
          <a:p>
            <a:pPr lvl="1"/>
            <a:r>
              <a:rPr lang="en-US" altLang="zh-CN" sz="1600" dirty="0"/>
              <a:t>volatile </a:t>
            </a:r>
          </a:p>
          <a:p>
            <a:r>
              <a:rPr lang="en-US" altLang="zh-CN" sz="2000" b="1" dirty="0"/>
              <a:t>Main memory (</a:t>
            </a:r>
            <a:r>
              <a:rPr lang="zh-CN" altLang="en-US" sz="2000" b="1" dirty="0"/>
              <a:t>主存</a:t>
            </a:r>
            <a:r>
              <a:rPr lang="en-US" altLang="zh-CN" sz="2000" b="1" dirty="0"/>
              <a:t>/</a:t>
            </a:r>
            <a:r>
              <a:rPr lang="zh-CN" altLang="en-US" sz="2000" b="1" dirty="0"/>
              <a:t>内存</a:t>
            </a:r>
            <a:r>
              <a:rPr lang="en-US" altLang="zh-CN" sz="2000" b="1" dirty="0"/>
              <a:t>)</a:t>
            </a:r>
          </a:p>
          <a:p>
            <a:pPr lvl="1"/>
            <a:r>
              <a:rPr lang="en-US" altLang="zh-CN" sz="1600" dirty="0"/>
              <a:t>fast access (about 100 nanoseconds, 1 nanosecond = 10</a:t>
            </a:r>
            <a:r>
              <a:rPr lang="en-US" altLang="zh-CN" sz="1600" baseline="30000" dirty="0"/>
              <a:t>–9</a:t>
            </a:r>
            <a:r>
              <a:rPr lang="en-US" altLang="zh-CN" sz="1600" dirty="0"/>
              <a:t> seconds)</a:t>
            </a:r>
          </a:p>
          <a:p>
            <a:pPr lvl="1"/>
            <a:r>
              <a:rPr lang="en-US" altLang="zh-CN" sz="1600" dirty="0"/>
              <a:t>generally too small (or too expensive) to store the entire database</a:t>
            </a:r>
          </a:p>
          <a:p>
            <a:pPr lvl="2"/>
            <a:r>
              <a:rPr lang="en-US" altLang="zh-CN" sz="1400" dirty="0"/>
              <a:t>capacities of up to a few Gigabytes widely used currently</a:t>
            </a:r>
          </a:p>
          <a:p>
            <a:pPr lvl="2"/>
            <a:r>
              <a:rPr lang="en-US" altLang="zh-CN" sz="1400" dirty="0"/>
              <a:t>capacities have gone up and per-byte cost has decreased steadily</a:t>
            </a:r>
          </a:p>
          <a:p>
            <a:pPr lvl="1"/>
            <a:r>
              <a:rPr lang="en-US" altLang="zh-CN" sz="1600" b="1" dirty="0">
                <a:solidFill>
                  <a:srgbClr val="C00000"/>
                </a:solidFill>
              </a:rPr>
              <a:t>volatile</a:t>
            </a:r>
            <a:r>
              <a:rPr lang="en-US" altLang="zh-CN" sz="1600" dirty="0"/>
              <a:t> — contents of main memory will be lost if a power failure or system crash occurs</a:t>
            </a:r>
          </a:p>
          <a:p>
            <a:pPr marL="457200" lvl="1" indent="0">
              <a:buNone/>
            </a:pPr>
            <a:endParaRPr lang="zh-CN" altLang="en-US" sz="1400" dirty="0"/>
          </a:p>
        </p:txBody>
      </p:sp>
    </p:spTree>
    <p:extLst>
      <p:ext uri="{BB962C8B-B14F-4D97-AF65-F5344CB8AC3E}">
        <p14:creationId xmlns:p14="http://schemas.microsoft.com/office/powerpoint/2010/main" val="32783082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arn(inVertical)">
                                      <p:cBhvr>
                                        <p:cTn id="16" dur="500"/>
                                        <p:tgtEl>
                                          <p:spTgt spid="3">
                                            <p:txEl>
                                              <p:pRg st="6" end="6"/>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barn(inVertical)">
                                      <p:cBhvr>
                                        <p:cTn id="19" dur="500"/>
                                        <p:tgtEl>
                                          <p:spTgt spid="3">
                                            <p:txEl>
                                              <p:pRg st="7" end="7"/>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barn(inVertical)">
                                      <p:cBhvr>
                                        <p:cTn id="2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Flash Memory</a:t>
            </a:r>
            <a:endParaRPr lang="zh-CN" altLang="en-US" dirty="0"/>
          </a:p>
        </p:txBody>
      </p:sp>
      <p:sp>
        <p:nvSpPr>
          <p:cNvPr id="3" name="内容占位符 2"/>
          <p:cNvSpPr>
            <a:spLocks noGrp="1"/>
          </p:cNvSpPr>
          <p:nvPr>
            <p:ph idx="1"/>
          </p:nvPr>
        </p:nvSpPr>
        <p:spPr>
          <a:xfrm>
            <a:off x="251520" y="789553"/>
            <a:ext cx="8424936" cy="3805070"/>
          </a:xfrm>
        </p:spPr>
        <p:txBody>
          <a:bodyPr/>
          <a:lstStyle/>
          <a:p>
            <a:r>
              <a:rPr lang="en-US" altLang="zh-CN" sz="2000" b="1" dirty="0"/>
              <a:t>Flash memory (</a:t>
            </a:r>
            <a:r>
              <a:rPr lang="zh-CN" altLang="en-US" sz="2000" b="1" dirty="0"/>
              <a:t>闪存</a:t>
            </a:r>
            <a:r>
              <a:rPr lang="en-US" altLang="zh-CN" sz="2000" b="1" dirty="0"/>
              <a:t>)</a:t>
            </a:r>
          </a:p>
          <a:p>
            <a:pPr lvl="1"/>
            <a:r>
              <a:rPr lang="en-US" altLang="zh-CN" sz="1600" dirty="0"/>
              <a:t>Data survives power failure</a:t>
            </a:r>
          </a:p>
          <a:p>
            <a:pPr lvl="1"/>
            <a:r>
              <a:rPr lang="en-US" altLang="zh-CN" sz="1600" dirty="0"/>
              <a:t>Data can be written at a location only once, but the location can be erased and written again </a:t>
            </a:r>
          </a:p>
          <a:p>
            <a:pPr lvl="2"/>
            <a:r>
              <a:rPr lang="en-US" altLang="zh-CN" sz="1400" dirty="0"/>
              <a:t>support 10K – 1M write/erase cycles</a:t>
            </a:r>
          </a:p>
          <a:p>
            <a:pPr lvl="1"/>
            <a:r>
              <a:rPr lang="en-US" altLang="zh-CN" sz="1600" dirty="0"/>
              <a:t>Reads are roughly as fast as main memory, but writes are slow (few microseconds)</a:t>
            </a:r>
          </a:p>
          <a:p>
            <a:pPr lvl="1"/>
            <a:r>
              <a:rPr lang="en-US" altLang="zh-CN" sz="1600" dirty="0"/>
              <a:t>Cost per unit of storage is similar to main memory </a:t>
            </a:r>
          </a:p>
          <a:p>
            <a:pPr lvl="1"/>
            <a:r>
              <a:rPr lang="en-US" altLang="zh-CN" sz="1600" dirty="0"/>
              <a:t>Widely used in embedded devices such as digital cameras</a:t>
            </a:r>
          </a:p>
          <a:p>
            <a:pPr lvl="1"/>
            <a:r>
              <a:rPr lang="en-US" altLang="zh-CN" sz="1600" dirty="0"/>
              <a:t>USB,</a:t>
            </a:r>
            <a:r>
              <a:rPr lang="zh-CN" altLang="en-US" sz="1600" dirty="0"/>
              <a:t> </a:t>
            </a:r>
            <a:r>
              <a:rPr lang="en-US" altLang="zh-CN" sz="1600" dirty="0"/>
              <a:t>SSD</a:t>
            </a:r>
          </a:p>
          <a:p>
            <a:pPr lvl="1"/>
            <a:endParaRPr lang="zh-CN" altLang="en-US" sz="1400" dirty="0"/>
          </a:p>
        </p:txBody>
      </p:sp>
    </p:spTree>
    <p:extLst>
      <p:ext uri="{BB962C8B-B14F-4D97-AF65-F5344CB8AC3E}">
        <p14:creationId xmlns:p14="http://schemas.microsoft.com/office/powerpoint/2010/main" val="350133242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Magnetic Disk</a:t>
            </a:r>
            <a:endParaRPr lang="zh-CN" altLang="en-US" dirty="0"/>
          </a:p>
        </p:txBody>
      </p:sp>
      <p:sp>
        <p:nvSpPr>
          <p:cNvPr id="3" name="内容占位符 2"/>
          <p:cNvSpPr>
            <a:spLocks noGrp="1"/>
          </p:cNvSpPr>
          <p:nvPr>
            <p:ph idx="1"/>
          </p:nvPr>
        </p:nvSpPr>
        <p:spPr>
          <a:xfrm>
            <a:off x="251520" y="771550"/>
            <a:ext cx="8568952" cy="3733062"/>
          </a:xfrm>
        </p:spPr>
        <p:txBody>
          <a:bodyPr/>
          <a:lstStyle/>
          <a:p>
            <a:r>
              <a:rPr lang="en-US" altLang="zh-CN" sz="2000" b="1" dirty="0"/>
              <a:t>Magnetic disk (</a:t>
            </a:r>
            <a:r>
              <a:rPr lang="zh-CN" altLang="en-US" sz="2000" b="1" dirty="0"/>
              <a:t>磁盘</a:t>
            </a:r>
            <a:r>
              <a:rPr lang="en-US" altLang="zh-CN" sz="2000" b="1" dirty="0"/>
              <a:t>)</a:t>
            </a:r>
          </a:p>
          <a:p>
            <a:pPr lvl="1"/>
            <a:r>
              <a:rPr lang="en-US" altLang="zh-CN" sz="1600" dirty="0"/>
              <a:t>Primary medium for the long-term storage of data</a:t>
            </a:r>
          </a:p>
          <a:p>
            <a:pPr lvl="2"/>
            <a:r>
              <a:rPr lang="en-US" altLang="zh-CN" sz="1400" dirty="0"/>
              <a:t>Typically stores the entire database</a:t>
            </a:r>
          </a:p>
          <a:p>
            <a:pPr lvl="1"/>
            <a:r>
              <a:rPr lang="en-US" altLang="zh-CN" sz="1600" dirty="0"/>
              <a:t>Data must be moved from disk to main memory for access, and written back for storage</a:t>
            </a:r>
          </a:p>
          <a:p>
            <a:pPr lvl="2"/>
            <a:r>
              <a:rPr lang="en-US" altLang="zh-CN" sz="1400" dirty="0"/>
              <a:t>Much slower access than main memory</a:t>
            </a:r>
          </a:p>
          <a:p>
            <a:pPr lvl="1"/>
            <a:r>
              <a:rPr lang="en-US" altLang="zh-CN" sz="1600" dirty="0"/>
              <a:t>Capacities range up to several TBs currently</a:t>
            </a:r>
          </a:p>
          <a:p>
            <a:pPr lvl="2"/>
            <a:r>
              <a:rPr lang="en-US" altLang="zh-CN" sz="1400" dirty="0"/>
              <a:t>Much larger capacity and lower cost/byte than main memory/flash memory</a:t>
            </a:r>
          </a:p>
          <a:p>
            <a:pPr lvl="2"/>
            <a:r>
              <a:rPr lang="en-US" altLang="zh-CN" sz="1400" dirty="0"/>
              <a:t>Growing constantly and rapidly with technology improvements</a:t>
            </a:r>
          </a:p>
          <a:p>
            <a:pPr lvl="1"/>
            <a:r>
              <a:rPr lang="en-US" altLang="zh-CN" sz="1600" dirty="0"/>
              <a:t>Survives power failures and system crashes</a:t>
            </a:r>
          </a:p>
          <a:p>
            <a:pPr lvl="2"/>
            <a:r>
              <a:rPr lang="en-US" altLang="zh-CN" sz="1400" dirty="0"/>
              <a:t>disk failure can destroy data, but is rare</a:t>
            </a:r>
          </a:p>
          <a:p>
            <a:pPr lvl="1"/>
            <a:endParaRPr lang="zh-CN" altLang="en-US" sz="1400" dirty="0"/>
          </a:p>
        </p:txBody>
      </p:sp>
    </p:spTree>
    <p:extLst>
      <p:ext uri="{BB962C8B-B14F-4D97-AF65-F5344CB8AC3E}">
        <p14:creationId xmlns:p14="http://schemas.microsoft.com/office/powerpoint/2010/main" val="414320653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Optical Storage</a:t>
            </a:r>
            <a:endParaRPr lang="zh-CN" altLang="en-US" dirty="0"/>
          </a:p>
        </p:txBody>
      </p:sp>
      <p:sp>
        <p:nvSpPr>
          <p:cNvPr id="3" name="内容占位符 2"/>
          <p:cNvSpPr>
            <a:spLocks noGrp="1"/>
          </p:cNvSpPr>
          <p:nvPr>
            <p:ph idx="1"/>
          </p:nvPr>
        </p:nvSpPr>
        <p:spPr>
          <a:xfrm>
            <a:off x="251520" y="789553"/>
            <a:ext cx="8496944" cy="3805070"/>
          </a:xfrm>
        </p:spPr>
        <p:txBody>
          <a:bodyPr/>
          <a:lstStyle/>
          <a:p>
            <a:pPr>
              <a:spcBef>
                <a:spcPts val="600"/>
              </a:spcBef>
            </a:pPr>
            <a:r>
              <a:rPr lang="en-US" altLang="zh-CN" sz="2000" b="1" dirty="0"/>
              <a:t>Optical storage (</a:t>
            </a:r>
            <a:r>
              <a:rPr lang="zh-CN" altLang="en-US" sz="2000" b="1" dirty="0"/>
              <a:t>光学存储器</a:t>
            </a:r>
            <a:r>
              <a:rPr lang="en-US" altLang="zh-CN" sz="2000" b="1" dirty="0"/>
              <a:t>)</a:t>
            </a:r>
          </a:p>
          <a:p>
            <a:pPr lvl="1">
              <a:spcBef>
                <a:spcPts val="600"/>
              </a:spcBef>
            </a:pPr>
            <a:r>
              <a:rPr lang="en-US" altLang="zh-CN" sz="1600" dirty="0"/>
              <a:t>Non-volatile, data is read optically from a spinning disk using a laser </a:t>
            </a:r>
          </a:p>
          <a:p>
            <a:pPr lvl="1">
              <a:spcBef>
                <a:spcPts val="600"/>
              </a:spcBef>
            </a:pPr>
            <a:r>
              <a:rPr lang="en-US" altLang="zh-CN" sz="1600" dirty="0"/>
              <a:t>CD-ROM (640 MB) and DVD (4.7 to 17 GB) are the most popular forms</a:t>
            </a:r>
          </a:p>
          <a:p>
            <a:pPr lvl="1">
              <a:spcBef>
                <a:spcPts val="600"/>
              </a:spcBef>
            </a:pPr>
            <a:r>
              <a:rPr lang="en-US" altLang="zh-CN" sz="1600" dirty="0"/>
              <a:t>Write-one, read-many (WORM) optical disks used for archival storage</a:t>
            </a:r>
          </a:p>
          <a:p>
            <a:pPr lvl="2">
              <a:spcBef>
                <a:spcPts val="600"/>
              </a:spcBef>
            </a:pPr>
            <a:r>
              <a:rPr lang="en-US" altLang="zh-CN" sz="1400" dirty="0"/>
              <a:t>CD-R, DVD-R, DVD+R</a:t>
            </a:r>
          </a:p>
          <a:p>
            <a:pPr lvl="1">
              <a:spcBef>
                <a:spcPts val="600"/>
              </a:spcBef>
            </a:pPr>
            <a:r>
              <a:rPr lang="en-US" altLang="zh-CN" sz="1600" dirty="0"/>
              <a:t>Multiple write versions also available</a:t>
            </a:r>
          </a:p>
          <a:p>
            <a:pPr lvl="2">
              <a:spcBef>
                <a:spcPts val="600"/>
              </a:spcBef>
            </a:pPr>
            <a:r>
              <a:rPr lang="en-US" altLang="zh-CN" sz="1400" dirty="0"/>
              <a:t>CD-RW, DVD-RW, DVD+RW, DVD-RAM</a:t>
            </a:r>
          </a:p>
          <a:p>
            <a:pPr lvl="1">
              <a:spcBef>
                <a:spcPts val="600"/>
              </a:spcBef>
            </a:pPr>
            <a:r>
              <a:rPr lang="en-US" altLang="zh-CN" sz="1600" dirty="0"/>
              <a:t>Reads and writes are slower than magnetic disk </a:t>
            </a:r>
          </a:p>
          <a:p>
            <a:pPr lvl="1">
              <a:spcBef>
                <a:spcPts val="600"/>
              </a:spcBef>
            </a:pPr>
            <a:endParaRPr lang="zh-CN" altLang="en-US" sz="1600" dirty="0"/>
          </a:p>
        </p:txBody>
      </p:sp>
    </p:spTree>
    <p:extLst>
      <p:ext uri="{BB962C8B-B14F-4D97-AF65-F5344CB8AC3E}">
        <p14:creationId xmlns:p14="http://schemas.microsoft.com/office/powerpoint/2010/main" val="392106861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Optical Storage (</a:t>
            </a:r>
            <a:r>
              <a:rPr lang="zh-CN" altLang="en-US" dirty="0"/>
              <a:t>续</a:t>
            </a:r>
            <a:r>
              <a:rPr lang="en-US" altLang="zh-CN" dirty="0"/>
              <a:t>)</a:t>
            </a:r>
            <a:endParaRPr lang="zh-CN" altLang="en-US" dirty="0"/>
          </a:p>
        </p:txBody>
      </p:sp>
      <p:sp>
        <p:nvSpPr>
          <p:cNvPr id="3" name="内容占位符 2"/>
          <p:cNvSpPr>
            <a:spLocks noGrp="1"/>
          </p:cNvSpPr>
          <p:nvPr>
            <p:ph idx="1"/>
          </p:nvPr>
        </p:nvSpPr>
        <p:spPr/>
        <p:txBody>
          <a:bodyPr/>
          <a:lstStyle/>
          <a:p>
            <a:pPr>
              <a:spcBef>
                <a:spcPts val="1200"/>
              </a:spcBef>
            </a:pPr>
            <a:r>
              <a:rPr lang="en-US" altLang="zh-CN" sz="2000" b="1" dirty="0"/>
              <a:t>Optical storage (</a:t>
            </a:r>
            <a:r>
              <a:rPr lang="zh-CN" altLang="en-US" sz="2000" b="1" dirty="0"/>
              <a:t>光学存储器</a:t>
            </a:r>
            <a:r>
              <a:rPr lang="en-US" altLang="zh-CN" sz="2000" b="1" dirty="0"/>
              <a:t>)</a:t>
            </a:r>
          </a:p>
          <a:p>
            <a:pPr lvl="1">
              <a:spcBef>
                <a:spcPts val="1200"/>
              </a:spcBef>
            </a:pPr>
            <a:r>
              <a:rPr lang="en-US" altLang="zh-CN" sz="1400" dirty="0"/>
              <a:t>2010</a:t>
            </a:r>
            <a:r>
              <a:rPr lang="zh-CN" altLang="en-US" sz="1400" dirty="0"/>
              <a:t>年</a:t>
            </a:r>
            <a:r>
              <a:rPr lang="en-US" altLang="zh-CN" sz="1400" dirty="0"/>
              <a:t>5</a:t>
            </a:r>
            <a:r>
              <a:rPr lang="zh-CN" altLang="en-US" sz="1400" dirty="0"/>
              <a:t>月，日本东京大学化学教授大越慎一</a:t>
            </a:r>
            <a:r>
              <a:rPr lang="en-US" altLang="zh-CN" sz="1400" dirty="0"/>
              <a:t>(Shin-</a:t>
            </a:r>
            <a:r>
              <a:rPr lang="en-US" altLang="zh-CN" sz="1400" dirty="0" err="1"/>
              <a:t>ichi</a:t>
            </a:r>
            <a:r>
              <a:rPr lang="en-US" altLang="zh-CN" sz="1400" dirty="0"/>
              <a:t> </a:t>
            </a:r>
            <a:r>
              <a:rPr lang="en-US" altLang="zh-CN" sz="1400" dirty="0" err="1"/>
              <a:t>Ohkoshi</a:t>
            </a:r>
            <a:r>
              <a:rPr lang="en-US" altLang="zh-CN" sz="1400" dirty="0"/>
              <a:t>)</a:t>
            </a:r>
            <a:r>
              <a:rPr lang="zh-CN" altLang="en-US" sz="1400" dirty="0"/>
              <a:t>研究团队发现一种材料，可以用来制造更便宜的大容量超级光盘，可储存容量是目前</a:t>
            </a:r>
            <a:r>
              <a:rPr lang="zh-CN" altLang="en-US" sz="1400" b="1" dirty="0">
                <a:solidFill>
                  <a:srgbClr val="C00000"/>
                </a:solidFill>
              </a:rPr>
              <a:t>一般</a:t>
            </a:r>
            <a:r>
              <a:rPr lang="en-US" altLang="zh-CN" sz="1400" b="1" dirty="0">
                <a:solidFill>
                  <a:srgbClr val="C00000"/>
                </a:solidFill>
              </a:rPr>
              <a:t>DVD</a:t>
            </a:r>
            <a:r>
              <a:rPr lang="zh-CN" altLang="en-US" sz="1400" b="1" dirty="0">
                <a:solidFill>
                  <a:srgbClr val="C00000"/>
                </a:solidFill>
              </a:rPr>
              <a:t>的</a:t>
            </a:r>
            <a:r>
              <a:rPr lang="en-US" altLang="zh-CN" sz="1400" b="1" dirty="0">
                <a:solidFill>
                  <a:srgbClr val="C00000"/>
                </a:solidFill>
              </a:rPr>
              <a:t>5</a:t>
            </a:r>
            <a:r>
              <a:rPr lang="zh-CN" altLang="en-US" sz="1400" b="1" dirty="0">
                <a:solidFill>
                  <a:srgbClr val="C00000"/>
                </a:solidFill>
              </a:rPr>
              <a:t>千倍</a:t>
            </a:r>
          </a:p>
          <a:p>
            <a:pPr lvl="1">
              <a:spcBef>
                <a:spcPts val="1200"/>
              </a:spcBef>
            </a:pPr>
            <a:r>
              <a:rPr lang="zh-CN" altLang="en-US" sz="1400" dirty="0"/>
              <a:t>材料是一种透明的新型氧化钛，平常是能导电的黑色金属状态，在受到光的点击后会转变成棕色的半导体。在室温下受到光的照射，能够任意在金属和半导体之间转变，因而产生储存数据功能。这种材料所制成的新光碟，容量是蓝光光盘的</a:t>
            </a:r>
            <a:r>
              <a:rPr lang="en-US" altLang="zh-CN" sz="1400" dirty="0"/>
              <a:t>1</a:t>
            </a:r>
            <a:r>
              <a:rPr lang="zh-CN" altLang="en-US" sz="1400" dirty="0"/>
              <a:t>千倍，而蓝光光盘的容量则是一般</a:t>
            </a:r>
            <a:r>
              <a:rPr lang="en-US" altLang="zh-CN" sz="1400" dirty="0"/>
              <a:t>DVD</a:t>
            </a:r>
            <a:r>
              <a:rPr lang="zh-CN" altLang="en-US" sz="1400" dirty="0"/>
              <a:t>的</a:t>
            </a:r>
            <a:r>
              <a:rPr lang="en-US" altLang="zh-CN" sz="1400" dirty="0"/>
              <a:t>5</a:t>
            </a:r>
            <a:r>
              <a:rPr lang="zh-CN" altLang="en-US" sz="1400" dirty="0"/>
              <a:t>倍。一般一张</a:t>
            </a:r>
            <a:r>
              <a:rPr lang="en-US" altLang="zh-CN" sz="1400" dirty="0"/>
              <a:t>DVD</a:t>
            </a:r>
            <a:r>
              <a:rPr lang="zh-CN" altLang="en-US" sz="1400" dirty="0"/>
              <a:t>为</a:t>
            </a:r>
            <a:r>
              <a:rPr lang="en-US" altLang="zh-CN" sz="1400" dirty="0"/>
              <a:t>4.7G</a:t>
            </a:r>
            <a:r>
              <a:rPr lang="zh-CN" altLang="en-US" sz="1400" dirty="0"/>
              <a:t>，一张蓝光光盘为</a:t>
            </a:r>
            <a:r>
              <a:rPr lang="en-US" altLang="zh-CN" sz="1400" dirty="0"/>
              <a:t>25G</a:t>
            </a:r>
            <a:r>
              <a:rPr lang="zh-CN" altLang="en-US" sz="1400" dirty="0"/>
              <a:t>。最新的蓝光协会表示，新蓝光光盘容量可达</a:t>
            </a:r>
            <a:r>
              <a:rPr lang="en-US" altLang="zh-CN" sz="1400" dirty="0"/>
              <a:t>128G</a:t>
            </a:r>
            <a:r>
              <a:rPr lang="zh-CN" altLang="en-US" sz="1400" dirty="0"/>
              <a:t>。东京大学的最新光盘容量将达</a:t>
            </a:r>
            <a:r>
              <a:rPr lang="en-US" altLang="zh-CN" sz="1400" dirty="0"/>
              <a:t>25000G</a:t>
            </a:r>
            <a:r>
              <a:rPr lang="zh-CN" altLang="en-US" sz="1400" dirty="0"/>
              <a:t>，即</a:t>
            </a:r>
            <a:r>
              <a:rPr lang="en-US" altLang="zh-CN" sz="1400" dirty="0"/>
              <a:t>25T</a:t>
            </a:r>
          </a:p>
          <a:p>
            <a:pPr lvl="1">
              <a:spcBef>
                <a:spcPts val="1200"/>
              </a:spcBef>
            </a:pPr>
            <a:r>
              <a:rPr lang="en-US" altLang="zh-CN" sz="1400" dirty="0"/>
              <a:t>2012</a:t>
            </a:r>
            <a:r>
              <a:rPr lang="zh-CN" altLang="en-US" sz="1400" dirty="0"/>
              <a:t>年富士胶片开发利用双光子吸收热量的新型光盘记录方式，可实现每层</a:t>
            </a:r>
            <a:r>
              <a:rPr lang="en-US" altLang="zh-CN" sz="1400" dirty="0"/>
              <a:t>25GB</a:t>
            </a:r>
            <a:r>
              <a:rPr lang="zh-CN" altLang="en-US" sz="1400" dirty="0"/>
              <a:t>的记录密度，与蓝光光盘相同，且该技术有可能实现多达</a:t>
            </a:r>
            <a:r>
              <a:rPr lang="en-US" altLang="zh-CN" sz="1400" dirty="0"/>
              <a:t>20</a:t>
            </a:r>
            <a:r>
              <a:rPr lang="zh-CN" altLang="en-US" sz="1400" dirty="0"/>
              <a:t>层的多层化。富士新技术单张盘片容量可达</a:t>
            </a:r>
            <a:r>
              <a:rPr lang="en-US" altLang="zh-CN" sz="1400" dirty="0"/>
              <a:t>15TB</a:t>
            </a:r>
          </a:p>
          <a:p>
            <a:pPr lvl="1">
              <a:spcBef>
                <a:spcPts val="1200"/>
              </a:spcBef>
            </a:pPr>
            <a:endParaRPr lang="zh-CN" altLang="en-US" sz="1400" dirty="0"/>
          </a:p>
        </p:txBody>
      </p:sp>
    </p:spTree>
    <p:extLst>
      <p:ext uri="{BB962C8B-B14F-4D97-AF65-F5344CB8AC3E}">
        <p14:creationId xmlns:p14="http://schemas.microsoft.com/office/powerpoint/2010/main" val="179331740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Tape Storage</a:t>
            </a:r>
            <a:endParaRPr lang="zh-CN" altLang="en-US" dirty="0"/>
          </a:p>
        </p:txBody>
      </p:sp>
      <p:sp>
        <p:nvSpPr>
          <p:cNvPr id="3" name="内容占位符 2"/>
          <p:cNvSpPr>
            <a:spLocks noGrp="1"/>
          </p:cNvSpPr>
          <p:nvPr>
            <p:ph idx="1"/>
          </p:nvPr>
        </p:nvSpPr>
        <p:spPr>
          <a:xfrm>
            <a:off x="251520" y="789553"/>
            <a:ext cx="8496944" cy="3805070"/>
          </a:xfrm>
        </p:spPr>
        <p:txBody>
          <a:bodyPr/>
          <a:lstStyle/>
          <a:p>
            <a:r>
              <a:rPr lang="en-US" altLang="zh-CN" sz="2000" b="1" dirty="0"/>
              <a:t>Tape storage (</a:t>
            </a:r>
            <a:r>
              <a:rPr lang="zh-CN" altLang="en-US" sz="2000" b="1" dirty="0"/>
              <a:t>磁带存储器</a:t>
            </a:r>
            <a:r>
              <a:rPr lang="en-US" altLang="zh-CN" sz="2000" b="1" dirty="0"/>
              <a:t>)</a:t>
            </a:r>
          </a:p>
          <a:p>
            <a:pPr lvl="1"/>
            <a:r>
              <a:rPr lang="en-US" altLang="zh-CN" sz="1600" b="1" dirty="0">
                <a:solidFill>
                  <a:srgbClr val="C00000"/>
                </a:solidFill>
              </a:rPr>
              <a:t>Non-volatile</a:t>
            </a:r>
            <a:r>
              <a:rPr lang="en-US" altLang="zh-CN" sz="1600" dirty="0"/>
              <a:t>, used primarily for backup (to recover from disk failure), and for archival data</a:t>
            </a:r>
          </a:p>
          <a:p>
            <a:pPr lvl="2"/>
            <a:r>
              <a:rPr lang="en-US" altLang="zh-CN" sz="1400" dirty="0"/>
              <a:t>IBM</a:t>
            </a:r>
            <a:r>
              <a:rPr lang="zh-CN" altLang="en-US" sz="1400" dirty="0"/>
              <a:t>、</a:t>
            </a:r>
            <a:r>
              <a:rPr lang="en-US" altLang="zh-CN" sz="1400" dirty="0"/>
              <a:t>EMC</a:t>
            </a:r>
            <a:r>
              <a:rPr lang="zh-CN" altLang="en-US" sz="1400" dirty="0"/>
              <a:t>、</a:t>
            </a:r>
            <a:r>
              <a:rPr lang="en-US" altLang="zh-CN" sz="1400" dirty="0"/>
              <a:t>Dell…</a:t>
            </a:r>
          </a:p>
          <a:p>
            <a:pPr lvl="1"/>
            <a:r>
              <a:rPr lang="en-US" altLang="zh-CN" sz="1600" b="1" dirty="0">
                <a:solidFill>
                  <a:srgbClr val="C00000"/>
                </a:solidFill>
              </a:rPr>
              <a:t>Sequential-access</a:t>
            </a:r>
            <a:r>
              <a:rPr lang="en-US" altLang="zh-CN" sz="1600" dirty="0"/>
              <a:t> – much slower than disk </a:t>
            </a:r>
          </a:p>
          <a:p>
            <a:pPr lvl="1"/>
            <a:r>
              <a:rPr lang="en-US" altLang="zh-CN" sz="1600" b="1" dirty="0">
                <a:solidFill>
                  <a:srgbClr val="C00000"/>
                </a:solidFill>
              </a:rPr>
              <a:t>Very high capacity </a:t>
            </a:r>
            <a:r>
              <a:rPr lang="en-US" altLang="zh-CN" sz="1600" dirty="0"/>
              <a:t>(40 to 300 GB tapes available)</a:t>
            </a:r>
          </a:p>
          <a:p>
            <a:pPr lvl="1"/>
            <a:r>
              <a:rPr lang="en-US" altLang="zh-CN" sz="1600" dirty="0"/>
              <a:t>Can be </a:t>
            </a:r>
            <a:r>
              <a:rPr lang="en-US" altLang="zh-CN" sz="1600" b="1" dirty="0">
                <a:solidFill>
                  <a:srgbClr val="C00000"/>
                </a:solidFill>
              </a:rPr>
              <a:t>removed</a:t>
            </a:r>
            <a:r>
              <a:rPr lang="en-US" altLang="zh-CN" sz="1600" dirty="0"/>
              <a:t> from drive </a:t>
            </a:r>
          </a:p>
          <a:p>
            <a:pPr lvl="1"/>
            <a:r>
              <a:rPr lang="en-US" altLang="zh-CN" sz="1600" dirty="0"/>
              <a:t>Storage cost is much </a:t>
            </a:r>
            <a:r>
              <a:rPr lang="en-US" altLang="zh-CN" sz="1600" b="1" dirty="0">
                <a:solidFill>
                  <a:srgbClr val="C00000"/>
                </a:solidFill>
              </a:rPr>
              <a:t>cheaper</a:t>
            </a:r>
            <a:r>
              <a:rPr lang="en-US" altLang="zh-CN" sz="1600" dirty="0"/>
              <a:t> than disk, but the drive is </a:t>
            </a:r>
            <a:r>
              <a:rPr lang="en-US" altLang="zh-CN" sz="1600" b="1" dirty="0">
                <a:solidFill>
                  <a:srgbClr val="C00000"/>
                </a:solidFill>
              </a:rPr>
              <a:t>expensive</a:t>
            </a:r>
          </a:p>
        </p:txBody>
      </p:sp>
    </p:spTree>
    <p:extLst>
      <p:ext uri="{BB962C8B-B14F-4D97-AF65-F5344CB8AC3E}">
        <p14:creationId xmlns:p14="http://schemas.microsoft.com/office/powerpoint/2010/main" val="3687170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F28F18-E828-4800-96FD-A201AF43EDBE}"/>
              </a:ext>
            </a:extLst>
          </p:cNvPr>
          <p:cNvSpPr>
            <a:spLocks noGrp="1"/>
          </p:cNvSpPr>
          <p:nvPr>
            <p:ph type="title"/>
          </p:nvPr>
        </p:nvSpPr>
        <p:spPr>
          <a:xfrm>
            <a:off x="0" y="-20538"/>
            <a:ext cx="9144000" cy="637580"/>
          </a:xfrm>
        </p:spPr>
        <p:txBody>
          <a:bodyPr/>
          <a:lstStyle/>
          <a:p>
            <a:pPr algn="ctr"/>
            <a:r>
              <a:rPr lang="en-US" altLang="zh-CN" dirty="0"/>
              <a:t>Tape Storage</a:t>
            </a:r>
            <a:r>
              <a:rPr lang="zh-CN" altLang="en-US" dirty="0"/>
              <a:t>（续）</a:t>
            </a:r>
          </a:p>
        </p:txBody>
      </p:sp>
      <p:sp>
        <p:nvSpPr>
          <p:cNvPr id="3" name="内容占位符 2">
            <a:extLst>
              <a:ext uri="{FF2B5EF4-FFF2-40B4-BE49-F238E27FC236}">
                <a16:creationId xmlns:a16="http://schemas.microsoft.com/office/drawing/2014/main" id="{743CAB9F-D805-4B33-AD25-C00157300255}"/>
              </a:ext>
            </a:extLst>
          </p:cNvPr>
          <p:cNvSpPr>
            <a:spLocks noGrp="1"/>
          </p:cNvSpPr>
          <p:nvPr>
            <p:ph idx="1"/>
          </p:nvPr>
        </p:nvSpPr>
        <p:spPr>
          <a:xfrm>
            <a:off x="251520" y="789553"/>
            <a:ext cx="6552728" cy="3805070"/>
          </a:xfrm>
        </p:spPr>
        <p:txBody>
          <a:bodyPr/>
          <a:lstStyle/>
          <a:p>
            <a:pPr>
              <a:spcBef>
                <a:spcPts val="0"/>
              </a:spcBef>
              <a:spcAft>
                <a:spcPts val="600"/>
              </a:spcAft>
            </a:pPr>
            <a:r>
              <a:rPr lang="zh-CN" altLang="en-US" sz="1400" dirty="0"/>
              <a:t>磁带是一种古老的存储数据方式，随着人类数据量爆炸式增长，磁带设备焕发新生，</a:t>
            </a:r>
            <a:r>
              <a:rPr lang="en-US" altLang="zh-CN" sz="1400" dirty="0"/>
              <a:t>IBM</a:t>
            </a:r>
            <a:r>
              <a:rPr lang="zh-CN" altLang="en-US" sz="1400" dirty="0"/>
              <a:t>大中华区</a:t>
            </a:r>
            <a:r>
              <a:rPr lang="en-US" altLang="zh-CN" sz="1400" dirty="0"/>
              <a:t>CTO</a:t>
            </a:r>
            <a:r>
              <a:rPr lang="zh-CN" altLang="en-US" sz="1400" dirty="0"/>
              <a:t>谢东近日提出，磁带在未来十年仍将是主流存储媒介，其容量将会每年增长</a:t>
            </a:r>
            <a:r>
              <a:rPr lang="en-US" altLang="zh-CN" sz="1400" dirty="0"/>
              <a:t>30</a:t>
            </a:r>
            <a:r>
              <a:rPr lang="zh-CN" altLang="en-US" sz="1400" dirty="0"/>
              <a:t>％，而传统硬盘增幅只有</a:t>
            </a:r>
            <a:r>
              <a:rPr lang="en-US" altLang="zh-CN" sz="1400" dirty="0"/>
              <a:t>10</a:t>
            </a:r>
            <a:r>
              <a:rPr lang="zh-CN" altLang="en-US" sz="1400" dirty="0"/>
              <a:t>％。人类需要保存的很多数据都是冷数据，是不常用的数据，大部分是为了备份、保存，需求量还在不断增长，而磁带的优势就正是存储容量超大、成本低廉、保存时间长等。</a:t>
            </a:r>
          </a:p>
          <a:p>
            <a:pPr>
              <a:spcBef>
                <a:spcPts val="0"/>
              </a:spcBef>
              <a:spcAft>
                <a:spcPts val="600"/>
              </a:spcAft>
            </a:pPr>
            <a:r>
              <a:rPr lang="zh-CN" altLang="en-US" sz="1400" dirty="0"/>
              <a:t>富士</a:t>
            </a:r>
            <a:r>
              <a:rPr lang="en-US" altLang="zh-CN" sz="1400" dirty="0"/>
              <a:t>LTO</a:t>
            </a:r>
            <a:r>
              <a:rPr lang="zh-CN" altLang="en-US" sz="1400" dirty="0"/>
              <a:t>系列磁带，</a:t>
            </a:r>
            <a:r>
              <a:rPr lang="en-US" altLang="zh-CN" sz="1400" dirty="0"/>
              <a:t>Ultrium 8</a:t>
            </a:r>
            <a:r>
              <a:rPr lang="zh-CN" altLang="en-US" sz="1400" dirty="0"/>
              <a:t>系列磁带采用</a:t>
            </a:r>
            <a:r>
              <a:rPr lang="en-US" altLang="zh-CN" sz="1400" dirty="0" err="1"/>
              <a:t>BaFe</a:t>
            </a:r>
            <a:r>
              <a:rPr lang="zh-CN" altLang="en-US" sz="1400" dirty="0"/>
              <a:t>（钡铁氧体磁性材料），并有富士专利的纳米超薄涂层技术，磁带长度</a:t>
            </a:r>
            <a:r>
              <a:rPr lang="en-US" altLang="zh-CN" sz="1400" dirty="0"/>
              <a:t>960m</a:t>
            </a:r>
            <a:r>
              <a:rPr lang="zh-CN" altLang="en-US" sz="1400" dirty="0"/>
              <a:t>，宽度</a:t>
            </a:r>
            <a:r>
              <a:rPr lang="en-US" altLang="zh-CN" sz="1400" dirty="0"/>
              <a:t>12.65mm</a:t>
            </a:r>
            <a:r>
              <a:rPr lang="zh-CN" altLang="en-US" sz="1400" dirty="0"/>
              <a:t>，厚度</a:t>
            </a:r>
            <a:r>
              <a:rPr lang="en-US" altLang="zh-CN" sz="1400" dirty="0"/>
              <a:t>5.6um</a:t>
            </a:r>
            <a:r>
              <a:rPr lang="zh-CN" altLang="en-US" sz="1400" dirty="0"/>
              <a:t>。</a:t>
            </a:r>
            <a:r>
              <a:rPr lang="en-US" altLang="zh-CN" sz="1400" dirty="0"/>
              <a:t>LTO Ultrium 8</a:t>
            </a:r>
            <a:r>
              <a:rPr lang="zh-CN" altLang="en-US" sz="1400" dirty="0"/>
              <a:t>系列磁带容量高达</a:t>
            </a:r>
            <a:r>
              <a:rPr lang="en-US" altLang="zh-CN" sz="1400" dirty="0"/>
              <a:t>30TB</a:t>
            </a:r>
            <a:r>
              <a:rPr lang="zh-CN" altLang="en-US" sz="1400" dirty="0"/>
              <a:t>（未压缩时是</a:t>
            </a:r>
            <a:r>
              <a:rPr lang="en-US" altLang="zh-CN" sz="1400" dirty="0"/>
              <a:t>12TB</a:t>
            </a:r>
            <a:r>
              <a:rPr lang="zh-CN" altLang="en-US" sz="1400" dirty="0"/>
              <a:t>），是前代产品的两倍，而且速度可达</a:t>
            </a:r>
            <a:r>
              <a:rPr lang="en-US" altLang="zh-CN" sz="1400" dirty="0"/>
              <a:t>750MB/s</a:t>
            </a:r>
            <a:r>
              <a:rPr lang="zh-CN" altLang="en-US" sz="1400" dirty="0"/>
              <a:t>（未压缩时是</a:t>
            </a:r>
            <a:r>
              <a:rPr lang="en-US" altLang="zh-CN" sz="1400" dirty="0"/>
              <a:t>360MB/s</a:t>
            </a:r>
            <a:r>
              <a:rPr lang="zh-CN" altLang="en-US" sz="1400" dirty="0"/>
              <a:t>），性能及容量都要比</a:t>
            </a:r>
            <a:r>
              <a:rPr lang="en-US" altLang="zh-CN" sz="1400" dirty="0"/>
              <a:t>HDD</a:t>
            </a:r>
            <a:r>
              <a:rPr lang="zh-CN" altLang="en-US" sz="1400" dirty="0"/>
              <a:t>硬盘要有优势，适合长期保存重要数据。</a:t>
            </a:r>
          </a:p>
          <a:p>
            <a:pPr>
              <a:spcBef>
                <a:spcPts val="0"/>
              </a:spcBef>
              <a:spcAft>
                <a:spcPts val="600"/>
              </a:spcAft>
            </a:pPr>
            <a:r>
              <a:rPr lang="en-US" altLang="zh-CN" sz="1400" dirty="0"/>
              <a:t>LTO 8</a:t>
            </a:r>
            <a:r>
              <a:rPr lang="zh-CN" altLang="en-US" sz="1400" dirty="0"/>
              <a:t>系列磁带有两种类型，一种是可以重复擦写数据的，另外一种是</a:t>
            </a:r>
            <a:r>
              <a:rPr lang="en-US" altLang="zh-CN" sz="1400" dirty="0"/>
              <a:t>WROM</a:t>
            </a:r>
            <a:r>
              <a:rPr lang="zh-CN" altLang="en-US" sz="1400" dirty="0"/>
              <a:t>，写入一次，多次读取类型的，这种类型的可以防止数据被篡改或者意外删除，提高了安全性。</a:t>
            </a:r>
          </a:p>
          <a:p>
            <a:pPr>
              <a:spcBef>
                <a:spcPts val="0"/>
              </a:spcBef>
              <a:spcAft>
                <a:spcPts val="600"/>
              </a:spcAft>
            </a:pPr>
            <a:endParaRPr lang="zh-CN" altLang="en-US" sz="1400" dirty="0"/>
          </a:p>
        </p:txBody>
      </p:sp>
      <p:pic>
        <p:nvPicPr>
          <p:cNvPr id="4" name="Picture 5" descr="C:\Users\admin\Pictures\富士磁带.jpg">
            <a:extLst>
              <a:ext uri="{FF2B5EF4-FFF2-40B4-BE49-F238E27FC236}">
                <a16:creationId xmlns:a16="http://schemas.microsoft.com/office/drawing/2014/main" id="{49D59DD9-7446-41CC-9EC2-4664D28709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9861" y="987574"/>
            <a:ext cx="1902619" cy="1906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descr="C:\Users\admin\Pictures\富士磁带3.jpg">
            <a:extLst>
              <a:ext uri="{FF2B5EF4-FFF2-40B4-BE49-F238E27FC236}">
                <a16:creationId xmlns:a16="http://schemas.microsoft.com/office/drawing/2014/main" id="{903C5E5C-4B79-4052-BF4F-E104398A83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1045" y="3185467"/>
            <a:ext cx="1941909" cy="1341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484428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Storage Hierarchy</a:t>
            </a:r>
            <a:endParaRPr lang="zh-CN" altLang="en-US" dirty="0"/>
          </a:p>
        </p:txBody>
      </p:sp>
      <p:sp>
        <p:nvSpPr>
          <p:cNvPr id="3" name="内容占位符 2"/>
          <p:cNvSpPr>
            <a:spLocks noGrp="1"/>
          </p:cNvSpPr>
          <p:nvPr>
            <p:ph idx="1"/>
          </p:nvPr>
        </p:nvSpPr>
        <p:spPr>
          <a:xfrm>
            <a:off x="251520" y="843558"/>
            <a:ext cx="5184576" cy="3661054"/>
          </a:xfrm>
        </p:spPr>
        <p:txBody>
          <a:bodyPr/>
          <a:lstStyle/>
          <a:p>
            <a:r>
              <a:rPr lang="en-US" altLang="zh-CN" sz="2000" b="1" dirty="0"/>
              <a:t>Primary storage</a:t>
            </a:r>
            <a:endParaRPr lang="en-US" altLang="zh-CN" sz="2000" dirty="0"/>
          </a:p>
          <a:p>
            <a:pPr lvl="1"/>
            <a:r>
              <a:rPr lang="en-US" altLang="zh-CN" sz="1600" dirty="0"/>
              <a:t>Fastest media but volatile (cache, main memory)</a:t>
            </a:r>
            <a:endParaRPr lang="en-US" altLang="zh-CN" sz="1400" dirty="0"/>
          </a:p>
          <a:p>
            <a:r>
              <a:rPr lang="en-US" altLang="zh-CN" sz="2000" b="1" dirty="0"/>
              <a:t>Secondary storage</a:t>
            </a:r>
          </a:p>
          <a:p>
            <a:pPr lvl="1"/>
            <a:r>
              <a:rPr lang="en-US" altLang="zh-CN" sz="1600" dirty="0"/>
              <a:t>Non-volatile, moderately fast access time</a:t>
            </a:r>
          </a:p>
          <a:p>
            <a:pPr lvl="1"/>
            <a:r>
              <a:rPr lang="en-US" altLang="zh-CN" sz="1600" dirty="0"/>
              <a:t>Also called on-line storage, e.g., flash memory, magnetic disks</a:t>
            </a:r>
          </a:p>
          <a:p>
            <a:r>
              <a:rPr lang="en-US" altLang="zh-CN" sz="2000" b="1" dirty="0"/>
              <a:t>Tertiary storage</a:t>
            </a:r>
          </a:p>
          <a:p>
            <a:pPr lvl="1"/>
            <a:r>
              <a:rPr lang="en-US" altLang="zh-CN" sz="1600" dirty="0"/>
              <a:t>Non-volatile, slow access time</a:t>
            </a:r>
            <a:endParaRPr lang="en-US" altLang="zh-CN" sz="1400" dirty="0"/>
          </a:p>
          <a:p>
            <a:pPr lvl="1"/>
            <a:r>
              <a:rPr lang="en-US" altLang="zh-CN" sz="1600" dirty="0"/>
              <a:t>Also called off-line storage, e.g., magnetic tape, optical storage</a:t>
            </a:r>
          </a:p>
          <a:p>
            <a:endParaRPr lang="zh-CN" altLang="en-US" sz="1800" dirty="0"/>
          </a:p>
        </p:txBody>
      </p:sp>
      <p:pic>
        <p:nvPicPr>
          <p:cNvPr id="5" name="图片 4">
            <a:extLst>
              <a:ext uri="{FF2B5EF4-FFF2-40B4-BE49-F238E27FC236}">
                <a16:creationId xmlns:a16="http://schemas.microsoft.com/office/drawing/2014/main" id="{8ED72115-FA38-45D4-BDE5-D2C54C8206F7}"/>
              </a:ext>
            </a:extLst>
          </p:cNvPr>
          <p:cNvPicPr>
            <a:picLocks noChangeAspect="1"/>
          </p:cNvPicPr>
          <p:nvPr/>
        </p:nvPicPr>
        <p:blipFill>
          <a:blip r:embed="rId3"/>
          <a:stretch>
            <a:fillRect/>
          </a:stretch>
        </p:blipFill>
        <p:spPr>
          <a:xfrm>
            <a:off x="5364088" y="1120725"/>
            <a:ext cx="3703137" cy="2902050"/>
          </a:xfrm>
          <a:prstGeom prst="rect">
            <a:avLst/>
          </a:prstGeom>
        </p:spPr>
      </p:pic>
    </p:spTree>
    <p:extLst>
      <p:ext uri="{BB962C8B-B14F-4D97-AF65-F5344CB8AC3E}">
        <p14:creationId xmlns:p14="http://schemas.microsoft.com/office/powerpoint/2010/main" val="379633030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843558"/>
            <a:ext cx="8568952" cy="3600400"/>
          </a:xfrm>
        </p:spPr>
        <p:txBody>
          <a:bodyPr/>
          <a:lstStyle/>
          <a:p>
            <a:r>
              <a:rPr lang="en-US" altLang="zh-CN" dirty="0"/>
              <a:t>Overview of Physical Storage Media</a:t>
            </a:r>
          </a:p>
          <a:p>
            <a:r>
              <a:rPr lang="en-US" altLang="zh-CN" b="1" dirty="0">
                <a:solidFill>
                  <a:srgbClr val="C00000"/>
                </a:solidFill>
              </a:rPr>
              <a:t>Magnetic Disks</a:t>
            </a:r>
          </a:p>
          <a:p>
            <a:r>
              <a:rPr lang="en-US" altLang="zh-CN" dirty="0"/>
              <a:t>RAID</a:t>
            </a:r>
          </a:p>
          <a:p>
            <a:r>
              <a:rPr lang="en-US" altLang="zh-CN" dirty="0"/>
              <a:t>Tertiary Storage </a:t>
            </a:r>
          </a:p>
          <a:p>
            <a:r>
              <a:rPr lang="en-US" altLang="zh-CN" dirty="0"/>
              <a:t>Storage Access</a:t>
            </a:r>
          </a:p>
          <a:p>
            <a:r>
              <a:rPr lang="en-US" altLang="zh-CN" dirty="0"/>
              <a:t>File Organization</a:t>
            </a:r>
          </a:p>
          <a:p>
            <a:r>
              <a:rPr lang="en-US" altLang="zh-CN" dirty="0"/>
              <a:t>Organization of Records in Files</a:t>
            </a:r>
          </a:p>
          <a:p>
            <a:r>
              <a:rPr lang="en-US" altLang="zh-CN" dirty="0"/>
              <a:t>Data-Dictionary Storage</a:t>
            </a:r>
          </a:p>
        </p:txBody>
      </p:sp>
    </p:spTree>
    <p:extLst>
      <p:ext uri="{BB962C8B-B14F-4D97-AF65-F5344CB8AC3E}">
        <p14:creationId xmlns:p14="http://schemas.microsoft.com/office/powerpoint/2010/main" val="425127601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0B9E00-EDE4-47DB-8329-EF5D34745447}"/>
              </a:ext>
            </a:extLst>
          </p:cNvPr>
          <p:cNvSpPr>
            <a:spLocks noGrp="1"/>
          </p:cNvSpPr>
          <p:nvPr>
            <p:ph type="title"/>
          </p:nvPr>
        </p:nvSpPr>
        <p:spPr/>
        <p:txBody>
          <a:bodyPr/>
          <a:lstStyle/>
          <a:p>
            <a:pPr algn="ctr"/>
            <a:r>
              <a:rPr lang="en-US" altLang="zh-CN" dirty="0"/>
              <a:t>Magnetic Hard Disk Mechanism</a:t>
            </a:r>
            <a:endParaRPr lang="zh-CN" altLang="en-US" dirty="0"/>
          </a:p>
        </p:txBody>
      </p:sp>
      <p:sp>
        <p:nvSpPr>
          <p:cNvPr id="4" name="Text Box 7">
            <a:extLst>
              <a:ext uri="{FF2B5EF4-FFF2-40B4-BE49-F238E27FC236}">
                <a16:creationId xmlns:a16="http://schemas.microsoft.com/office/drawing/2014/main" id="{F313A1C3-2997-421E-94E9-22DB9DEBDE24}"/>
              </a:ext>
            </a:extLst>
          </p:cNvPr>
          <p:cNvSpPr txBox="1">
            <a:spLocks noChangeArrowheads="1"/>
          </p:cNvSpPr>
          <p:nvPr/>
        </p:nvSpPr>
        <p:spPr bwMode="auto">
          <a:xfrm>
            <a:off x="2820538" y="4122588"/>
            <a:ext cx="3454792"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defTabSz="685800" eaLnBrk="0" hangingPunct="0">
              <a:spcBef>
                <a:spcPct val="0"/>
              </a:spcBef>
              <a:buClrTx/>
              <a:buSzTx/>
              <a:buNone/>
            </a:pPr>
            <a:r>
              <a:rPr kumimoji="0" lang="en-US" altLang="en-US" sz="1275" b="1" dirty="0">
                <a:solidFill>
                  <a:srgbClr val="000000"/>
                </a:solidFill>
              </a:rPr>
              <a:t>Schematic diagram of magnetic disk drive</a:t>
            </a:r>
          </a:p>
        </p:txBody>
      </p:sp>
      <p:pic>
        <p:nvPicPr>
          <p:cNvPr id="5" name="Graphic 5">
            <a:extLst>
              <a:ext uri="{FF2B5EF4-FFF2-40B4-BE49-F238E27FC236}">
                <a16:creationId xmlns:a16="http://schemas.microsoft.com/office/drawing/2014/main" id="{DAB0F742-C81C-4667-967B-6CFFC4B5D1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20289" y="2132138"/>
            <a:ext cx="1828709" cy="1321074"/>
          </a:xfrm>
          <a:prstGeom prst="rect">
            <a:avLst/>
          </a:prstGeom>
        </p:spPr>
      </p:pic>
      <p:sp>
        <p:nvSpPr>
          <p:cNvPr id="6" name="Text Box 7">
            <a:extLst>
              <a:ext uri="{FF2B5EF4-FFF2-40B4-BE49-F238E27FC236}">
                <a16:creationId xmlns:a16="http://schemas.microsoft.com/office/drawing/2014/main" id="{4E18C620-A84F-4286-938F-469EDD930CA0}"/>
              </a:ext>
            </a:extLst>
          </p:cNvPr>
          <p:cNvSpPr txBox="1">
            <a:spLocks noChangeArrowheads="1"/>
          </p:cNvSpPr>
          <p:nvPr/>
        </p:nvSpPr>
        <p:spPr bwMode="auto">
          <a:xfrm>
            <a:off x="6476434" y="4112218"/>
            <a:ext cx="2416046"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defTabSz="685800" eaLnBrk="0" hangingPunct="0">
              <a:spcBef>
                <a:spcPct val="0"/>
              </a:spcBef>
              <a:buClrTx/>
              <a:buSzTx/>
              <a:buNone/>
            </a:pPr>
            <a:r>
              <a:rPr kumimoji="0" lang="en-US" altLang="en-US" sz="1275" b="1" dirty="0">
                <a:solidFill>
                  <a:srgbClr val="000000"/>
                </a:solidFill>
              </a:rPr>
              <a:t>Photo of magnetic disk drive</a:t>
            </a:r>
          </a:p>
        </p:txBody>
      </p:sp>
      <p:pic>
        <p:nvPicPr>
          <p:cNvPr id="7" name="Graphic 7">
            <a:extLst>
              <a:ext uri="{FF2B5EF4-FFF2-40B4-BE49-F238E27FC236}">
                <a16:creationId xmlns:a16="http://schemas.microsoft.com/office/drawing/2014/main" id="{FA0D8AA8-EA17-4C15-87D6-D5F6CFA3546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87779" y="1078940"/>
            <a:ext cx="3737057" cy="2907767"/>
          </a:xfrm>
          <a:prstGeom prst="rect">
            <a:avLst/>
          </a:prstGeom>
        </p:spPr>
      </p:pic>
      <p:sp>
        <p:nvSpPr>
          <p:cNvPr id="3" name="文本框 2">
            <a:extLst>
              <a:ext uri="{FF2B5EF4-FFF2-40B4-BE49-F238E27FC236}">
                <a16:creationId xmlns:a16="http://schemas.microsoft.com/office/drawing/2014/main" id="{3EB971BF-3D3E-42EC-BE7A-FCBC1F05F624}"/>
              </a:ext>
            </a:extLst>
          </p:cNvPr>
          <p:cNvSpPr txBox="1"/>
          <p:nvPr/>
        </p:nvSpPr>
        <p:spPr>
          <a:xfrm>
            <a:off x="179512" y="1642265"/>
            <a:ext cx="2448272" cy="2117503"/>
          </a:xfrm>
          <a:prstGeom prst="rect">
            <a:avLst/>
          </a:prstGeom>
          <a:noFill/>
        </p:spPr>
        <p:txBody>
          <a:bodyPr wrap="square" rtlCol="0">
            <a:spAutoFit/>
          </a:bodyPr>
          <a:lstStyle/>
          <a:p>
            <a:r>
              <a:rPr lang="en-US" altLang="zh-CN" dirty="0"/>
              <a:t>spindle: </a:t>
            </a:r>
            <a:r>
              <a:rPr lang="zh-CN" altLang="en-US" dirty="0"/>
              <a:t>主轴</a:t>
            </a:r>
            <a:endParaRPr lang="en-US" altLang="zh-CN" dirty="0"/>
          </a:p>
          <a:p>
            <a:r>
              <a:rPr lang="en-US" altLang="zh-CN" dirty="0"/>
              <a:t>arm assembly: </a:t>
            </a:r>
            <a:r>
              <a:rPr lang="zh-CN" altLang="en-US" dirty="0"/>
              <a:t>磁盘臂组件</a:t>
            </a:r>
            <a:endParaRPr lang="en-US" altLang="zh-CN" dirty="0"/>
          </a:p>
          <a:p>
            <a:r>
              <a:rPr lang="en-US" altLang="zh-CN" dirty="0"/>
              <a:t>arm: </a:t>
            </a:r>
            <a:r>
              <a:rPr lang="zh-CN" altLang="en-US" dirty="0"/>
              <a:t>磁盘臂</a:t>
            </a:r>
            <a:endParaRPr lang="en-US" altLang="zh-CN" dirty="0"/>
          </a:p>
          <a:p>
            <a:r>
              <a:rPr lang="en-US" altLang="zh-CN" dirty="0"/>
              <a:t>cylinder: </a:t>
            </a:r>
            <a:r>
              <a:rPr lang="zh-CN" altLang="en-US" dirty="0"/>
              <a:t>柱面</a:t>
            </a:r>
            <a:endParaRPr lang="en-US" altLang="zh-CN" dirty="0"/>
          </a:p>
          <a:p>
            <a:r>
              <a:rPr lang="en-US" altLang="zh-CN" dirty="0"/>
              <a:t>platter: </a:t>
            </a:r>
            <a:r>
              <a:rPr lang="zh-CN" altLang="en-US" dirty="0"/>
              <a:t>盘片</a:t>
            </a:r>
          </a:p>
          <a:p>
            <a:r>
              <a:rPr lang="en-US" altLang="zh-CN" dirty="0"/>
              <a:t>track: </a:t>
            </a:r>
            <a:r>
              <a:rPr lang="zh-CN" altLang="en-US" dirty="0"/>
              <a:t>磁道</a:t>
            </a:r>
            <a:endParaRPr lang="en-US" altLang="zh-CN" dirty="0"/>
          </a:p>
          <a:p>
            <a:r>
              <a:rPr lang="en-US" altLang="zh-CN" dirty="0"/>
              <a:t>sector: </a:t>
            </a:r>
            <a:r>
              <a:rPr lang="zh-CN" altLang="en-US" dirty="0"/>
              <a:t>扇区</a:t>
            </a:r>
            <a:endParaRPr lang="en-US" altLang="zh-CN" dirty="0"/>
          </a:p>
          <a:p>
            <a:r>
              <a:rPr lang="en-US" altLang="zh-CN" dirty="0"/>
              <a:t>read-write head: </a:t>
            </a:r>
            <a:r>
              <a:rPr lang="zh-CN" altLang="en-US" dirty="0"/>
              <a:t>读写头</a:t>
            </a:r>
          </a:p>
        </p:txBody>
      </p:sp>
    </p:spTree>
    <p:extLst>
      <p:ext uri="{BB962C8B-B14F-4D97-AF65-F5344CB8AC3E}">
        <p14:creationId xmlns:p14="http://schemas.microsoft.com/office/powerpoint/2010/main" val="416513869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Magnetic Disks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51520" y="627534"/>
                <a:ext cx="8568952" cy="3805070"/>
              </a:xfrm>
            </p:spPr>
            <p:txBody>
              <a:bodyPr/>
              <a:lstStyle/>
              <a:p>
                <a:pPr>
                  <a:spcBef>
                    <a:spcPts val="300"/>
                  </a:spcBef>
                </a:pPr>
                <a:r>
                  <a:rPr lang="en-US" altLang="zh-CN" sz="1800" b="1" dirty="0"/>
                  <a:t>Read-write head (</a:t>
                </a:r>
                <a:r>
                  <a:rPr lang="zh-CN" altLang="en-US" sz="1800" b="1" dirty="0"/>
                  <a:t>读写头</a:t>
                </a:r>
                <a:r>
                  <a:rPr lang="en-US" altLang="zh-CN" sz="1800" b="1" dirty="0"/>
                  <a:t>) </a:t>
                </a:r>
              </a:p>
              <a:p>
                <a:pPr lvl="1">
                  <a:spcBef>
                    <a:spcPts val="300"/>
                  </a:spcBef>
                </a:pPr>
                <a:r>
                  <a:rPr lang="en-US" altLang="zh-CN" sz="1400" dirty="0"/>
                  <a:t>positioned very close to the platter surface (almost touching it)</a:t>
                </a:r>
              </a:p>
              <a:p>
                <a:pPr lvl="1">
                  <a:spcBef>
                    <a:spcPts val="300"/>
                  </a:spcBef>
                </a:pPr>
                <a:r>
                  <a:rPr lang="en-US" altLang="zh-CN" sz="1400" dirty="0"/>
                  <a:t>reads or writes magnetically encoded information</a:t>
                </a:r>
              </a:p>
              <a:p>
                <a:pPr>
                  <a:spcBef>
                    <a:spcPts val="300"/>
                  </a:spcBef>
                </a:pPr>
                <a:r>
                  <a:rPr lang="en-US" altLang="zh-CN" sz="1800" b="1" dirty="0"/>
                  <a:t>Surface of platter is divided into circular tracks (</a:t>
                </a:r>
                <a:r>
                  <a:rPr lang="zh-CN" altLang="en-US" sz="1800" b="1" dirty="0"/>
                  <a:t>磁道</a:t>
                </a:r>
                <a:r>
                  <a:rPr lang="en-US" altLang="zh-CN" sz="1800" b="1" dirty="0"/>
                  <a:t>)</a:t>
                </a:r>
              </a:p>
              <a:p>
                <a:pPr lvl="1">
                  <a:spcBef>
                    <a:spcPts val="300"/>
                  </a:spcBef>
                </a:pPr>
                <a:r>
                  <a:rPr lang="en-US" altLang="zh-CN" sz="1400" dirty="0"/>
                  <a:t>about 50K-100K tracks per platter on typical hard disks</a:t>
                </a:r>
              </a:p>
              <a:p>
                <a:pPr>
                  <a:spcBef>
                    <a:spcPts val="300"/>
                  </a:spcBef>
                </a:pPr>
                <a:r>
                  <a:rPr lang="en-US" altLang="zh-CN" sz="1800" b="1" dirty="0"/>
                  <a:t>Each track is divided into sectors (</a:t>
                </a:r>
                <a:r>
                  <a:rPr lang="zh-CN" altLang="en-US" sz="1800" b="1" dirty="0"/>
                  <a:t>扇区</a:t>
                </a:r>
                <a:r>
                  <a:rPr lang="en-US" altLang="zh-CN" sz="1800" b="1" dirty="0"/>
                  <a:t>)</a:t>
                </a:r>
              </a:p>
              <a:p>
                <a:pPr lvl="1">
                  <a:spcBef>
                    <a:spcPts val="300"/>
                  </a:spcBef>
                </a:pPr>
                <a:r>
                  <a:rPr lang="en-US" altLang="zh-CN" sz="1400" dirty="0"/>
                  <a:t>a sector is the smallest unit of data that can be read or written</a:t>
                </a:r>
              </a:p>
              <a:p>
                <a:pPr lvl="1">
                  <a:spcBef>
                    <a:spcPts val="300"/>
                  </a:spcBef>
                </a:pPr>
                <a:r>
                  <a:rPr lang="en-US" altLang="zh-CN" sz="1400" dirty="0"/>
                  <a:t>typical sector size is 512 bytes</a:t>
                </a:r>
              </a:p>
              <a:p>
                <a:pPr lvl="1">
                  <a:spcBef>
                    <a:spcPts val="300"/>
                  </a:spcBef>
                </a:pPr>
                <a:r>
                  <a:rPr lang="en-US" altLang="zh-CN" sz="1400" dirty="0"/>
                  <a:t>typical sectors per track: 500-1000 (on inner tracks), 1000-2000 (on outer tracks)</a:t>
                </a:r>
              </a:p>
              <a:p>
                <a:pPr>
                  <a:spcBef>
                    <a:spcPts val="300"/>
                  </a:spcBef>
                </a:pPr>
                <a:r>
                  <a:rPr lang="en-US" altLang="zh-CN" sz="1800" b="1" dirty="0"/>
                  <a:t>To read/write a sector</a:t>
                </a:r>
              </a:p>
              <a:p>
                <a:pPr lvl="1">
                  <a:spcBef>
                    <a:spcPts val="300"/>
                  </a:spcBef>
                </a:pPr>
                <a:r>
                  <a:rPr lang="en-US" altLang="zh-CN" sz="1400" dirty="0"/>
                  <a:t>disk arm swings to position head on the right track</a:t>
                </a:r>
              </a:p>
              <a:p>
                <a:pPr lvl="1">
                  <a:spcBef>
                    <a:spcPts val="300"/>
                  </a:spcBef>
                </a:pPr>
                <a:r>
                  <a:rPr lang="en-US" altLang="zh-CN" sz="1400" dirty="0"/>
                  <a:t>platter spins continually; data is read/written as sector passes under head</a:t>
                </a:r>
              </a:p>
              <a:p>
                <a:pPr>
                  <a:spcBef>
                    <a:spcPts val="300"/>
                  </a:spcBef>
                </a:pPr>
                <a:r>
                  <a:rPr lang="en-US" altLang="zh-CN" sz="1800" b="1" dirty="0"/>
                  <a:t>Head-disk assemblies (</a:t>
                </a:r>
                <a:r>
                  <a:rPr lang="zh-CN" altLang="en-US" sz="1800" b="1" dirty="0"/>
                  <a:t>磁头</a:t>
                </a:r>
                <a:r>
                  <a:rPr lang="en-US" altLang="zh-CN" sz="1800" b="1" dirty="0"/>
                  <a:t>-</a:t>
                </a:r>
                <a:r>
                  <a:rPr lang="zh-CN" altLang="en-US" sz="1800" b="1" dirty="0"/>
                  <a:t>磁盘装置</a:t>
                </a:r>
                <a:r>
                  <a:rPr lang="en-US" altLang="zh-CN" sz="1800" b="1" dirty="0"/>
                  <a:t>) </a:t>
                </a:r>
              </a:p>
              <a:p>
                <a:pPr lvl="1">
                  <a:spcBef>
                    <a:spcPts val="300"/>
                  </a:spcBef>
                </a:pPr>
                <a:r>
                  <a:rPr lang="en-US" altLang="zh-CN" sz="1400" dirty="0"/>
                  <a:t>multiple disk platters on a single spindle (1 to 5 usually)</a:t>
                </a:r>
              </a:p>
              <a:p>
                <a:pPr lvl="1">
                  <a:spcBef>
                    <a:spcPts val="300"/>
                  </a:spcBef>
                </a:pPr>
                <a:r>
                  <a:rPr lang="en-US" altLang="zh-CN" sz="1400" dirty="0"/>
                  <a:t>one head per platter, mounted on a common arm assembly.</a:t>
                </a:r>
              </a:p>
              <a:p>
                <a:pPr>
                  <a:spcBef>
                    <a:spcPts val="300"/>
                  </a:spcBef>
                </a:pPr>
                <a:r>
                  <a:rPr lang="en-US" altLang="zh-CN" sz="1800" b="1" dirty="0"/>
                  <a:t>Cylinder(</a:t>
                </a:r>
                <a:r>
                  <a:rPr lang="zh-CN" altLang="en-US" sz="1800" b="1" dirty="0"/>
                  <a:t>柱面</a:t>
                </a:r>
                <a:r>
                  <a:rPr lang="en-US" altLang="zh-CN" sz="1800" b="1" dirty="0"/>
                  <a:t>) </a:t>
                </a:r>
                <a14:m>
                  <m:oMath xmlns:m="http://schemas.openxmlformats.org/officeDocument/2006/math">
                    <m:r>
                      <a:rPr lang="en-US" altLang="zh-CN" sz="1800" b="1" i="1" smtClean="0">
                        <a:latin typeface="Cambria Math" panose="02040503050406030204" pitchFamily="18" charset="0"/>
                      </a:rPr>
                      <m:t>𝒊</m:t>
                    </m:r>
                  </m:oMath>
                </a14:m>
                <a:r>
                  <a:rPr lang="en-US" altLang="zh-CN" sz="1800" b="1" dirty="0"/>
                  <a:t> consists of the </a:t>
                </a:r>
                <a14:m>
                  <m:oMath xmlns:m="http://schemas.openxmlformats.org/officeDocument/2006/math">
                    <m:r>
                      <a:rPr lang="en-US" altLang="zh-CN" sz="1800" b="1" i="1">
                        <a:latin typeface="Cambria Math" panose="02040503050406030204" pitchFamily="18" charset="0"/>
                      </a:rPr>
                      <m:t>𝒊</m:t>
                    </m:r>
                  </m:oMath>
                </a14:m>
                <a:r>
                  <a:rPr lang="en-US" altLang="zh-CN" sz="1800" b="1" dirty="0"/>
                  <a:t>-</a:t>
                </a:r>
                <a:r>
                  <a:rPr lang="en-US" altLang="zh-CN" sz="1800" b="1" dirty="0" err="1"/>
                  <a:t>th</a:t>
                </a:r>
                <a:r>
                  <a:rPr lang="en-US" altLang="zh-CN" sz="1800" b="1" dirty="0"/>
                  <a:t> tracks of all the platters(</a:t>
                </a:r>
                <a:r>
                  <a:rPr lang="zh-CN" altLang="en-US" sz="1800" b="1" dirty="0"/>
                  <a:t>盘片</a:t>
                </a:r>
                <a:r>
                  <a:rPr lang="en-US" altLang="zh-CN" sz="1800" b="1" dirty="0"/>
                  <a:t>) </a:t>
                </a:r>
              </a:p>
              <a:p>
                <a:pPr>
                  <a:spcBef>
                    <a:spcPts val="300"/>
                  </a:spcBef>
                </a:pPr>
                <a:endParaRPr lang="zh-CN" altLang="en-US"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51520" y="627534"/>
                <a:ext cx="8568952" cy="3805070"/>
              </a:xfrm>
              <a:blipFill>
                <a:blip r:embed="rId3"/>
                <a:stretch>
                  <a:fillRect l="-427" t="-962" b="-193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730578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additive="base">
                                        <p:cTn id="2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additive="base">
                                        <p:cTn id="3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 calcmode="lin" valueType="num">
                                      <p:cBhvr additive="base">
                                        <p:cTn id="4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 calcmode="lin" valueType="num">
                                      <p:cBhvr additive="base">
                                        <p:cTn id="4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
                                            <p:txEl>
                                              <p:pRg st="13" end="13"/>
                                            </p:txEl>
                                          </p:spTgt>
                                        </p:tgtEl>
                                        <p:attrNameLst>
                                          <p:attrName>style.visibility</p:attrName>
                                        </p:attrNameLst>
                                      </p:cBhvr>
                                      <p:to>
                                        <p:strVal val="visible"/>
                                      </p:to>
                                    </p:set>
                                    <p:anim calcmode="lin" valueType="num">
                                      <p:cBhvr additive="base">
                                        <p:cTn id="5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 calcmode="lin" valueType="num">
                                      <p:cBhvr additive="base">
                                        <p:cTn id="5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
                                            <p:txEl>
                                              <p:pRg st="15" end="15"/>
                                            </p:txEl>
                                          </p:spTgt>
                                        </p:tgtEl>
                                        <p:attrNameLst>
                                          <p:attrName>style.visibility</p:attrName>
                                        </p:attrNameLst>
                                      </p:cBhvr>
                                      <p:to>
                                        <p:strVal val="visible"/>
                                      </p:to>
                                    </p:set>
                                    <p:anim calcmode="lin" valueType="num">
                                      <p:cBhvr additive="base">
                                        <p:cTn id="6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Magnetic Disks (Cont.)</a:t>
            </a:r>
            <a:endParaRPr lang="zh-CN" altLang="en-US" dirty="0"/>
          </a:p>
        </p:txBody>
      </p:sp>
      <p:sp>
        <p:nvSpPr>
          <p:cNvPr id="3" name="内容占位符 2"/>
          <p:cNvSpPr>
            <a:spLocks noGrp="1"/>
          </p:cNvSpPr>
          <p:nvPr>
            <p:ph idx="1"/>
          </p:nvPr>
        </p:nvSpPr>
        <p:spPr>
          <a:xfrm>
            <a:off x="107504" y="771550"/>
            <a:ext cx="8568952" cy="3805070"/>
          </a:xfrm>
        </p:spPr>
        <p:txBody>
          <a:bodyPr/>
          <a:lstStyle/>
          <a:p>
            <a:r>
              <a:rPr lang="en-US" altLang="zh-CN" sz="1800" b="1" dirty="0"/>
              <a:t>Earlier generation disks were susceptible to head-crashes</a:t>
            </a:r>
          </a:p>
          <a:p>
            <a:pPr lvl="1"/>
            <a:r>
              <a:rPr lang="en-US" altLang="zh-CN" sz="1600" dirty="0"/>
              <a:t>Surface of earlier generation disks had metal-oxide coatings (</a:t>
            </a:r>
            <a:r>
              <a:rPr lang="zh-CN" altLang="en-US" sz="1600" dirty="0"/>
              <a:t>金属氧化物涂层</a:t>
            </a:r>
            <a:r>
              <a:rPr lang="en-US" altLang="zh-CN" sz="1600" dirty="0"/>
              <a:t>) which would disintegrate on head crash and damage all data on disk</a:t>
            </a:r>
          </a:p>
          <a:p>
            <a:pPr lvl="1"/>
            <a:r>
              <a:rPr lang="en-US" altLang="zh-CN" sz="1600" dirty="0"/>
              <a:t>Current disks are less susceptible to such disastrous failures</a:t>
            </a:r>
          </a:p>
          <a:p>
            <a:r>
              <a:rPr lang="en-US" altLang="zh-CN" sz="1800" b="1" dirty="0">
                <a:solidFill>
                  <a:srgbClr val="C00000"/>
                </a:solidFill>
              </a:rPr>
              <a:t>Disk controller</a:t>
            </a:r>
            <a:r>
              <a:rPr lang="en-US" altLang="zh-CN" sz="1800" dirty="0"/>
              <a:t>(</a:t>
            </a:r>
            <a:r>
              <a:rPr lang="zh-CN" altLang="en-US" sz="1800" dirty="0"/>
              <a:t>磁盘控制器</a:t>
            </a:r>
            <a:r>
              <a:rPr lang="en-US" altLang="zh-CN" sz="1800" dirty="0"/>
              <a:t>) – interfaces between the computer system and the disk drive hardware</a:t>
            </a:r>
          </a:p>
          <a:p>
            <a:pPr lvl="1"/>
            <a:r>
              <a:rPr lang="en-US" altLang="zh-CN" sz="1600" dirty="0"/>
              <a:t>Accept high-level commands to read or write a sector </a:t>
            </a:r>
          </a:p>
          <a:p>
            <a:pPr lvl="1"/>
            <a:r>
              <a:rPr lang="en-US" altLang="zh-CN" sz="1600" dirty="0"/>
              <a:t>Initiate actions such as moving the disk arm to the right track and actually reading or writing the data</a:t>
            </a:r>
          </a:p>
          <a:p>
            <a:pPr lvl="1"/>
            <a:r>
              <a:rPr lang="en-US" altLang="zh-CN" sz="1600" dirty="0"/>
              <a:t>Compute and attach checksums(</a:t>
            </a:r>
            <a:r>
              <a:rPr lang="zh-CN" altLang="en-US" sz="1600" dirty="0"/>
              <a:t>校验和</a:t>
            </a:r>
            <a:r>
              <a:rPr lang="en-US" altLang="zh-CN" sz="1600" dirty="0"/>
              <a:t>) to each sector to verify that data is read back correctly. </a:t>
            </a:r>
          </a:p>
          <a:p>
            <a:pPr lvl="1"/>
            <a:r>
              <a:rPr lang="en-US" altLang="zh-CN" sz="1600" dirty="0"/>
              <a:t>Performs remapping of bad sectors(</a:t>
            </a:r>
            <a:r>
              <a:rPr lang="zh-CN" altLang="en-US" sz="1600" dirty="0"/>
              <a:t>坏扇区重映射</a:t>
            </a:r>
            <a:r>
              <a:rPr lang="en-US" altLang="zh-CN" sz="1600" dirty="0"/>
              <a:t>)</a:t>
            </a:r>
          </a:p>
          <a:p>
            <a:endParaRPr lang="zh-CN" altLang="en-US" sz="1800" dirty="0"/>
          </a:p>
        </p:txBody>
      </p:sp>
    </p:spTree>
    <p:extLst>
      <p:ext uri="{BB962C8B-B14F-4D97-AF65-F5344CB8AC3E}">
        <p14:creationId xmlns:p14="http://schemas.microsoft.com/office/powerpoint/2010/main" val="21932976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arn(inVertical)">
                                      <p:cBhvr>
                                        <p:cTn id="16" dur="500"/>
                                        <p:tgtEl>
                                          <p:spTgt spid="3">
                                            <p:txEl>
                                              <p:pRg st="6" end="6"/>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barn(inVertical)">
                                      <p:cBhvr>
                                        <p:cTn id="1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Disk Subsystem</a:t>
            </a:r>
            <a:endParaRPr lang="zh-CN" altLang="en-US" dirty="0"/>
          </a:p>
        </p:txBody>
      </p:sp>
      <p:sp>
        <p:nvSpPr>
          <p:cNvPr id="3" name="内容占位符 2"/>
          <p:cNvSpPr>
            <a:spLocks noGrp="1"/>
          </p:cNvSpPr>
          <p:nvPr>
            <p:ph idx="1"/>
          </p:nvPr>
        </p:nvSpPr>
        <p:spPr>
          <a:xfrm>
            <a:off x="179512" y="2643758"/>
            <a:ext cx="8856984" cy="2430269"/>
          </a:xfrm>
        </p:spPr>
        <p:txBody>
          <a:bodyPr/>
          <a:lstStyle/>
          <a:p>
            <a:pPr>
              <a:spcBef>
                <a:spcPts val="300"/>
              </a:spcBef>
            </a:pPr>
            <a:r>
              <a:rPr lang="en-US" altLang="zh-CN" sz="1800" b="1" dirty="0"/>
              <a:t>Multiple disks connected to a computer system through a controller</a:t>
            </a:r>
          </a:p>
          <a:p>
            <a:pPr lvl="1">
              <a:spcBef>
                <a:spcPts val="300"/>
              </a:spcBef>
            </a:pPr>
            <a:r>
              <a:rPr lang="en-US" altLang="zh-CN" sz="1600" dirty="0"/>
              <a:t>Controller functionality (checksum, bad sector remapping) is often carried out by individual disks to reduce the load on controller</a:t>
            </a:r>
          </a:p>
          <a:p>
            <a:pPr>
              <a:spcBef>
                <a:spcPts val="300"/>
              </a:spcBef>
            </a:pPr>
            <a:r>
              <a:rPr lang="en-US" altLang="zh-CN" sz="1800" b="1" dirty="0"/>
              <a:t>Disk interface standards families</a:t>
            </a:r>
          </a:p>
          <a:p>
            <a:pPr lvl="1">
              <a:spcBef>
                <a:spcPts val="300"/>
              </a:spcBef>
            </a:pPr>
            <a:r>
              <a:rPr lang="en-US" altLang="zh-CN" sz="1600" dirty="0"/>
              <a:t>ATA (AT adaptor/attachment) range of standards (1994-2002,7 standards)</a:t>
            </a:r>
          </a:p>
          <a:p>
            <a:pPr lvl="1">
              <a:spcBef>
                <a:spcPts val="300"/>
              </a:spcBef>
            </a:pPr>
            <a:r>
              <a:rPr lang="en-US" altLang="zh-CN" sz="1600" b="1" dirty="0">
                <a:solidFill>
                  <a:srgbClr val="C00000"/>
                </a:solidFill>
              </a:rPr>
              <a:t>SATA</a:t>
            </a:r>
            <a:r>
              <a:rPr lang="en-US" altLang="zh-CN" sz="1600" dirty="0"/>
              <a:t> (Serial ATA)</a:t>
            </a:r>
            <a:r>
              <a:rPr lang="zh-CN" altLang="en-US" sz="1600" dirty="0"/>
              <a:t>、</a:t>
            </a:r>
            <a:r>
              <a:rPr lang="en-US" altLang="zh-CN" sz="1600" dirty="0"/>
              <a:t>PATA (Parallel ATA) </a:t>
            </a:r>
          </a:p>
          <a:p>
            <a:pPr lvl="1">
              <a:spcBef>
                <a:spcPts val="300"/>
              </a:spcBef>
            </a:pPr>
            <a:r>
              <a:rPr lang="en-US" altLang="zh-CN" sz="1600" dirty="0"/>
              <a:t>SCSI (Small Computer System Interconnect) range of standards</a:t>
            </a:r>
          </a:p>
          <a:p>
            <a:pPr lvl="1">
              <a:spcBef>
                <a:spcPts val="300"/>
              </a:spcBef>
            </a:pPr>
            <a:r>
              <a:rPr lang="en-US" altLang="zh-CN" sz="1600" dirty="0"/>
              <a:t>Several variants of each standard (different speeds and capabilities)</a:t>
            </a:r>
          </a:p>
          <a:p>
            <a:pPr>
              <a:spcBef>
                <a:spcPts val="300"/>
              </a:spcBef>
            </a:pPr>
            <a:endParaRPr lang="zh-CN" altLang="en-US" sz="1800" dirty="0"/>
          </a:p>
        </p:txBody>
      </p:sp>
      <p:pic>
        <p:nvPicPr>
          <p:cNvPr id="4"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l="415" t="22910" r="633" b="22911"/>
          <a:stretch>
            <a:fillRect/>
          </a:stretch>
        </p:blipFill>
        <p:spPr bwMode="auto">
          <a:xfrm>
            <a:off x="2555776" y="931736"/>
            <a:ext cx="3862388" cy="1585913"/>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842910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Performance Measures of Disks</a:t>
            </a:r>
            <a:endParaRPr lang="zh-CN" altLang="en-US" dirty="0"/>
          </a:p>
        </p:txBody>
      </p:sp>
      <p:sp>
        <p:nvSpPr>
          <p:cNvPr id="3" name="内容占位符 2"/>
          <p:cNvSpPr>
            <a:spLocks noGrp="1"/>
          </p:cNvSpPr>
          <p:nvPr>
            <p:ph idx="1"/>
          </p:nvPr>
        </p:nvSpPr>
        <p:spPr>
          <a:xfrm>
            <a:off x="251520" y="699542"/>
            <a:ext cx="8424936" cy="3805070"/>
          </a:xfrm>
        </p:spPr>
        <p:txBody>
          <a:bodyPr/>
          <a:lstStyle/>
          <a:p>
            <a:r>
              <a:rPr lang="en-US" altLang="zh-CN" sz="2000" b="1" dirty="0"/>
              <a:t>Access time(</a:t>
            </a:r>
            <a:r>
              <a:rPr lang="zh-CN" altLang="en-US" sz="2000" dirty="0"/>
              <a:t>访问时间</a:t>
            </a:r>
            <a:r>
              <a:rPr lang="en-US" altLang="zh-CN" sz="2000" b="1" dirty="0"/>
              <a:t>) </a:t>
            </a:r>
            <a:endParaRPr lang="en-US" altLang="zh-CN" sz="2000" dirty="0"/>
          </a:p>
          <a:p>
            <a:pPr lvl="1"/>
            <a:r>
              <a:rPr lang="en-US" altLang="zh-CN" sz="1800" dirty="0"/>
              <a:t>the time it takes from when a read or write request is issued to when data transfer begins, including</a:t>
            </a:r>
            <a:endParaRPr lang="en-US" altLang="zh-CN" sz="1800" b="1" dirty="0"/>
          </a:p>
          <a:p>
            <a:pPr lvl="2"/>
            <a:r>
              <a:rPr lang="en-US" altLang="zh-CN" sz="1600" b="1" dirty="0">
                <a:solidFill>
                  <a:srgbClr val="C00000"/>
                </a:solidFill>
              </a:rPr>
              <a:t>Seek time(</a:t>
            </a:r>
            <a:r>
              <a:rPr lang="zh-CN" altLang="en-US" sz="1600" b="1" dirty="0">
                <a:solidFill>
                  <a:srgbClr val="C00000"/>
                </a:solidFill>
              </a:rPr>
              <a:t>寻道时间</a:t>
            </a:r>
            <a:r>
              <a:rPr lang="en-US" altLang="zh-CN" sz="1600" b="1" dirty="0">
                <a:solidFill>
                  <a:srgbClr val="C00000"/>
                </a:solidFill>
              </a:rPr>
              <a:t>) </a:t>
            </a:r>
            <a:r>
              <a:rPr lang="en-US" altLang="zh-CN" sz="1600" dirty="0"/>
              <a:t>– the time it takes to reposition the arm over the correct track. </a:t>
            </a:r>
          </a:p>
          <a:p>
            <a:pPr lvl="3"/>
            <a:r>
              <a:rPr lang="en-US" altLang="zh-CN" sz="1400" dirty="0"/>
              <a:t>average seek time is about 1/2 the worst case seek time</a:t>
            </a:r>
          </a:p>
          <a:p>
            <a:pPr lvl="3"/>
            <a:r>
              <a:rPr lang="en-US" altLang="zh-CN" sz="1400" dirty="0"/>
              <a:t>4 to 10 milliseconds on typical disks</a:t>
            </a:r>
          </a:p>
          <a:p>
            <a:pPr lvl="2"/>
            <a:r>
              <a:rPr lang="en-US" altLang="zh-CN" sz="1600" b="1" dirty="0">
                <a:solidFill>
                  <a:srgbClr val="C00000"/>
                </a:solidFill>
              </a:rPr>
              <a:t>Rotational latency(</a:t>
            </a:r>
            <a:r>
              <a:rPr lang="zh-CN" altLang="en-US" sz="1600" b="1" dirty="0">
                <a:solidFill>
                  <a:srgbClr val="C00000"/>
                </a:solidFill>
              </a:rPr>
              <a:t>旋转等待</a:t>
            </a:r>
            <a:r>
              <a:rPr lang="en-US" altLang="zh-CN" sz="1600" b="1" dirty="0">
                <a:solidFill>
                  <a:srgbClr val="C00000"/>
                </a:solidFill>
              </a:rPr>
              <a:t>) </a:t>
            </a:r>
            <a:r>
              <a:rPr lang="en-US" altLang="zh-CN" sz="1600" dirty="0"/>
              <a:t>– time it takes for the sector to be accessed to appear under the head</a:t>
            </a:r>
          </a:p>
          <a:p>
            <a:pPr lvl="3"/>
            <a:r>
              <a:rPr lang="en-US" altLang="zh-CN" sz="1400" dirty="0"/>
              <a:t>average latency is 1/2 of the worst case latency.</a:t>
            </a:r>
          </a:p>
          <a:p>
            <a:pPr lvl="3"/>
            <a:r>
              <a:rPr lang="en-US" altLang="zh-CN" sz="1400" dirty="0"/>
              <a:t>4 to 11 milliseconds on typical disks (5400 to 15000 rpm)</a:t>
            </a:r>
          </a:p>
          <a:p>
            <a:endParaRPr lang="zh-CN" altLang="en-US" sz="2000" dirty="0"/>
          </a:p>
        </p:txBody>
      </p:sp>
    </p:spTree>
    <p:extLst>
      <p:ext uri="{BB962C8B-B14F-4D97-AF65-F5344CB8AC3E}">
        <p14:creationId xmlns:p14="http://schemas.microsoft.com/office/powerpoint/2010/main" val="66390076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Performance Measures  (Cont.)</a:t>
            </a:r>
            <a:endParaRPr lang="zh-CN" altLang="en-US" dirty="0"/>
          </a:p>
        </p:txBody>
      </p:sp>
      <p:sp>
        <p:nvSpPr>
          <p:cNvPr id="3" name="内容占位符 2"/>
          <p:cNvSpPr>
            <a:spLocks noGrp="1"/>
          </p:cNvSpPr>
          <p:nvPr>
            <p:ph idx="1"/>
          </p:nvPr>
        </p:nvSpPr>
        <p:spPr>
          <a:xfrm>
            <a:off x="251520" y="789553"/>
            <a:ext cx="8280920" cy="3805070"/>
          </a:xfrm>
        </p:spPr>
        <p:txBody>
          <a:bodyPr/>
          <a:lstStyle/>
          <a:p>
            <a:r>
              <a:rPr lang="en-US" altLang="zh-CN" sz="2000" b="1" dirty="0"/>
              <a:t>Data-transfer rate</a:t>
            </a:r>
            <a:r>
              <a:rPr lang="en-US" altLang="zh-CN" sz="2000" dirty="0"/>
              <a:t>(</a:t>
            </a:r>
            <a:r>
              <a:rPr lang="zh-CN" altLang="en-US" sz="2000" dirty="0"/>
              <a:t>数据传输率</a:t>
            </a:r>
            <a:r>
              <a:rPr lang="en-US" altLang="zh-CN" sz="2000" dirty="0"/>
              <a:t>) </a:t>
            </a:r>
          </a:p>
          <a:p>
            <a:pPr lvl="1"/>
            <a:r>
              <a:rPr lang="en-US" altLang="zh-CN" sz="1800" dirty="0"/>
              <a:t>the rate at which data can be retrieved from or stored to the disk</a:t>
            </a:r>
          </a:p>
          <a:p>
            <a:pPr lvl="1"/>
            <a:r>
              <a:rPr lang="en-US" altLang="zh-CN" sz="1600" dirty="0"/>
              <a:t>Max rate: 25 to 100 MB per second, lower for inner tracks</a:t>
            </a:r>
          </a:p>
          <a:p>
            <a:pPr lvl="1"/>
            <a:r>
              <a:rPr lang="en-US" altLang="zh-CN" sz="1600" dirty="0"/>
              <a:t>Multiple disks may share a controller, so the rate that controller can handle is also important</a:t>
            </a:r>
          </a:p>
          <a:p>
            <a:pPr lvl="2"/>
            <a:r>
              <a:rPr lang="en-US" altLang="zh-CN" sz="1400" dirty="0"/>
              <a:t>E.g., ATA-5: 66 MB/sec, SATA: 150 MB/sec, Ultra 320 SCSI: 320 MB/s</a:t>
            </a:r>
          </a:p>
          <a:p>
            <a:pPr lvl="2"/>
            <a:r>
              <a:rPr lang="en-US" altLang="zh-CN" sz="1400" dirty="0"/>
              <a:t>Fiber Channel (FC2Gb): 256 MB/s</a:t>
            </a:r>
          </a:p>
          <a:p>
            <a:pPr marL="457200" lvl="1" indent="0">
              <a:buNone/>
            </a:pPr>
            <a:endParaRPr lang="zh-CN" altLang="en-US" sz="1600" dirty="0"/>
          </a:p>
        </p:txBody>
      </p:sp>
    </p:spTree>
    <p:extLst>
      <p:ext uri="{BB962C8B-B14F-4D97-AF65-F5344CB8AC3E}">
        <p14:creationId xmlns:p14="http://schemas.microsoft.com/office/powerpoint/2010/main" val="102231975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Performance Measures (Cont.)</a:t>
            </a:r>
            <a:endParaRPr lang="zh-CN" altLang="en-US" dirty="0"/>
          </a:p>
        </p:txBody>
      </p:sp>
      <p:sp>
        <p:nvSpPr>
          <p:cNvPr id="3" name="内容占位符 2"/>
          <p:cNvSpPr>
            <a:spLocks noGrp="1"/>
          </p:cNvSpPr>
          <p:nvPr>
            <p:ph idx="1"/>
          </p:nvPr>
        </p:nvSpPr>
        <p:spPr/>
        <p:txBody>
          <a:bodyPr/>
          <a:lstStyle/>
          <a:p>
            <a:r>
              <a:rPr lang="en-US" altLang="zh-CN" sz="2000" b="1" dirty="0"/>
              <a:t>Mean time to failure </a:t>
            </a:r>
            <a:r>
              <a:rPr lang="en-US" altLang="zh-CN" sz="2000" dirty="0"/>
              <a:t>(</a:t>
            </a:r>
            <a:r>
              <a:rPr lang="zh-CN" altLang="en-US" sz="2000" dirty="0"/>
              <a:t>平均故障时间</a:t>
            </a:r>
            <a:r>
              <a:rPr lang="en-US" altLang="zh-CN" sz="2000" dirty="0"/>
              <a:t>, MTTF) </a:t>
            </a:r>
          </a:p>
          <a:p>
            <a:pPr lvl="1"/>
            <a:r>
              <a:rPr lang="en-US" altLang="zh-CN" sz="1600" dirty="0"/>
              <a:t>The average time the disk is expected to run continuously without any failure</a:t>
            </a:r>
          </a:p>
          <a:p>
            <a:pPr lvl="1"/>
            <a:r>
              <a:rPr lang="en-US" altLang="zh-CN" sz="1600" dirty="0"/>
              <a:t>Probability of failure of new disks is quite low, corresponding to a “theoretical MTTF” of 500,000 to 1,200,000 hours for a new disk</a:t>
            </a:r>
          </a:p>
          <a:p>
            <a:pPr lvl="2"/>
            <a:r>
              <a:rPr lang="en-US" altLang="zh-CN" sz="1400" dirty="0"/>
              <a:t>E.g., an MTTF of 1,200,000 hours for a new disk means that given 1000 new disks, one will fail every 1200 hours on the average </a:t>
            </a:r>
          </a:p>
          <a:p>
            <a:pPr lvl="1"/>
            <a:r>
              <a:rPr lang="en-US" altLang="zh-CN" sz="1600" dirty="0"/>
              <a:t>MTTF decreases as disk ages</a:t>
            </a:r>
          </a:p>
          <a:p>
            <a:endParaRPr lang="zh-CN" altLang="en-US" sz="2000" dirty="0"/>
          </a:p>
        </p:txBody>
      </p:sp>
    </p:spTree>
    <p:extLst>
      <p:ext uri="{BB962C8B-B14F-4D97-AF65-F5344CB8AC3E}">
        <p14:creationId xmlns:p14="http://schemas.microsoft.com/office/powerpoint/2010/main" val="61298455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Optimization of Disk-block Access</a:t>
            </a:r>
            <a:endParaRPr lang="zh-CN" altLang="en-US" dirty="0"/>
          </a:p>
        </p:txBody>
      </p:sp>
      <p:sp>
        <p:nvSpPr>
          <p:cNvPr id="3" name="内容占位符 2"/>
          <p:cNvSpPr>
            <a:spLocks noGrp="1"/>
          </p:cNvSpPr>
          <p:nvPr>
            <p:ph idx="1"/>
          </p:nvPr>
        </p:nvSpPr>
        <p:spPr>
          <a:xfrm>
            <a:off x="251520" y="789553"/>
            <a:ext cx="8280920" cy="3805070"/>
          </a:xfrm>
        </p:spPr>
        <p:txBody>
          <a:bodyPr/>
          <a:lstStyle/>
          <a:p>
            <a:r>
              <a:rPr lang="en-US" altLang="zh-CN" sz="1800" b="1" dirty="0"/>
              <a:t>Block</a:t>
            </a:r>
            <a:r>
              <a:rPr lang="en-US" altLang="zh-CN" sz="1800" dirty="0"/>
              <a:t> – a contiguous sequence of sectors from a single track </a:t>
            </a:r>
          </a:p>
          <a:p>
            <a:pPr lvl="1"/>
            <a:r>
              <a:rPr lang="en-US" altLang="zh-CN" sz="1600" dirty="0"/>
              <a:t>data is transferred between disk and main memory in blocks </a:t>
            </a:r>
          </a:p>
          <a:p>
            <a:pPr lvl="1"/>
            <a:r>
              <a:rPr lang="en-US" altLang="zh-CN" sz="1600" dirty="0"/>
              <a:t>sizes range from 512 bytes to several kilobytes</a:t>
            </a:r>
          </a:p>
          <a:p>
            <a:pPr lvl="2"/>
            <a:r>
              <a:rPr lang="en-US" altLang="zh-CN" sz="1400" dirty="0"/>
              <a:t>small blocks: more transfers from disk</a:t>
            </a:r>
          </a:p>
          <a:p>
            <a:pPr lvl="2"/>
            <a:r>
              <a:rPr lang="en-US" altLang="zh-CN" sz="1400" dirty="0"/>
              <a:t>large blocks:  more space wasted due to partially filled blocks</a:t>
            </a:r>
          </a:p>
          <a:p>
            <a:pPr lvl="2"/>
            <a:r>
              <a:rPr lang="en-US" altLang="zh-CN" sz="1400" dirty="0"/>
              <a:t>typical block sizes range from </a:t>
            </a:r>
            <a:r>
              <a:rPr lang="en-US" altLang="zh-CN" sz="1400" b="1" dirty="0">
                <a:solidFill>
                  <a:srgbClr val="C00000"/>
                </a:solidFill>
              </a:rPr>
              <a:t>4 to 16 kilobytes</a:t>
            </a:r>
          </a:p>
          <a:p>
            <a:r>
              <a:rPr lang="en-US" altLang="zh-CN" sz="1800" b="1" dirty="0"/>
              <a:t>Disk-arm-scheduling</a:t>
            </a:r>
            <a:r>
              <a:rPr lang="en-US" altLang="zh-CN" sz="1800" dirty="0"/>
              <a:t>(</a:t>
            </a:r>
            <a:r>
              <a:rPr lang="zh-CN" altLang="en-US" sz="1800" dirty="0"/>
              <a:t>磁盘臂调度</a:t>
            </a:r>
            <a:r>
              <a:rPr lang="en-US" altLang="zh-CN" sz="1800" dirty="0"/>
              <a:t>) algorithms order pending accesses to tracks so that disk arm movement is minimized </a:t>
            </a:r>
          </a:p>
          <a:p>
            <a:pPr lvl="1"/>
            <a:r>
              <a:rPr lang="en-US" altLang="zh-CN" sz="1400" b="1" dirty="0">
                <a:solidFill>
                  <a:srgbClr val="C00000"/>
                </a:solidFill>
              </a:rPr>
              <a:t>elevator algorithm(</a:t>
            </a:r>
            <a:r>
              <a:rPr lang="zh-CN" altLang="en-US" sz="1400" b="1" dirty="0">
                <a:solidFill>
                  <a:srgbClr val="C00000"/>
                </a:solidFill>
              </a:rPr>
              <a:t>电梯算法</a:t>
            </a:r>
            <a:r>
              <a:rPr lang="en-US" altLang="zh-CN" sz="1400" b="1" dirty="0">
                <a:solidFill>
                  <a:srgbClr val="C00000"/>
                </a:solidFill>
              </a:rPr>
              <a:t>) </a:t>
            </a:r>
            <a:r>
              <a:rPr lang="en-US" altLang="zh-CN" sz="1400" dirty="0"/>
              <a:t>: move disk arm in one direction (from outer to inner tracks or vice versa), processing next request in that direction, till no more requests in that direction, then reverse direction and repeat</a:t>
            </a:r>
          </a:p>
          <a:p>
            <a:endParaRPr lang="zh-CN" altLang="en-US" sz="1800" dirty="0"/>
          </a:p>
        </p:txBody>
      </p:sp>
    </p:spTree>
    <p:extLst>
      <p:ext uri="{BB962C8B-B14F-4D97-AF65-F5344CB8AC3E}">
        <p14:creationId xmlns:p14="http://schemas.microsoft.com/office/powerpoint/2010/main" val="20701145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barn(inVertical)">
                                      <p:cBhvr>
                                        <p:cTn id="7" dur="500"/>
                                        <p:tgtEl>
                                          <p:spTgt spid="3">
                                            <p:txEl>
                                              <p:pRg st="6" end="6"/>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barn(inVertical)">
                                      <p:cBhvr>
                                        <p:cTn id="1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Optimization of Disk Block Access (</a:t>
            </a:r>
            <a:r>
              <a:rPr lang="zh-CN" altLang="en-US" dirty="0"/>
              <a:t>续</a:t>
            </a:r>
            <a:r>
              <a:rPr lang="en-US" altLang="zh-CN" dirty="0"/>
              <a:t>)</a:t>
            </a:r>
            <a:endParaRPr lang="zh-CN" altLang="en-US" dirty="0"/>
          </a:p>
        </p:txBody>
      </p:sp>
      <p:sp>
        <p:nvSpPr>
          <p:cNvPr id="3" name="内容占位符 2"/>
          <p:cNvSpPr>
            <a:spLocks noGrp="1"/>
          </p:cNvSpPr>
          <p:nvPr>
            <p:ph idx="1"/>
          </p:nvPr>
        </p:nvSpPr>
        <p:spPr>
          <a:xfrm>
            <a:off x="251520" y="699542"/>
            <a:ext cx="8568952" cy="3805070"/>
          </a:xfrm>
        </p:spPr>
        <p:txBody>
          <a:bodyPr/>
          <a:lstStyle/>
          <a:p>
            <a:r>
              <a:rPr lang="en-US" altLang="zh-CN" sz="2000" b="1" dirty="0"/>
              <a:t>File organization </a:t>
            </a:r>
            <a:r>
              <a:rPr lang="en-US" altLang="zh-CN" sz="2000" dirty="0"/>
              <a:t>– optimize block access time by organizing the blocks according to the way of data access</a:t>
            </a:r>
          </a:p>
          <a:p>
            <a:pPr lvl="1"/>
            <a:r>
              <a:rPr lang="en-US" altLang="zh-CN" sz="1600" dirty="0"/>
              <a:t>E.g.,</a:t>
            </a:r>
            <a:r>
              <a:rPr lang="zh-CN" altLang="en-US" sz="1600" dirty="0"/>
              <a:t> </a:t>
            </a:r>
            <a:r>
              <a:rPr lang="en-US" altLang="zh-CN" sz="1600" dirty="0"/>
              <a:t>store related information on the same or nearby cylinders</a:t>
            </a:r>
          </a:p>
          <a:p>
            <a:pPr lvl="1"/>
            <a:r>
              <a:rPr lang="en-US" altLang="zh-CN" sz="1600" dirty="0"/>
              <a:t>Files may get fragmented(</a:t>
            </a:r>
            <a:r>
              <a:rPr lang="zh-CN" altLang="en-US" sz="1600" dirty="0"/>
              <a:t>碎片化</a:t>
            </a:r>
            <a:r>
              <a:rPr lang="en-US" altLang="zh-CN" sz="1600" dirty="0"/>
              <a:t>) over time</a:t>
            </a:r>
          </a:p>
          <a:p>
            <a:pPr lvl="2"/>
            <a:r>
              <a:rPr lang="en-US" altLang="zh-CN" sz="1400" dirty="0"/>
              <a:t>data is inserted to/deleted from the file</a:t>
            </a:r>
          </a:p>
          <a:p>
            <a:pPr lvl="2"/>
            <a:r>
              <a:rPr lang="en-US" altLang="zh-CN" sz="1400" dirty="0"/>
              <a:t>free blocks on disk are scattered, and newly created file has its blocks scattered over the disk</a:t>
            </a:r>
          </a:p>
          <a:p>
            <a:pPr lvl="2"/>
            <a:r>
              <a:rPr lang="en-US" altLang="zh-CN" sz="1400" dirty="0"/>
              <a:t>sequential access to a fragmented file results in increased disk arm movement</a:t>
            </a:r>
          </a:p>
          <a:p>
            <a:pPr lvl="1"/>
            <a:r>
              <a:rPr lang="en-US" altLang="zh-CN" sz="1600" dirty="0"/>
              <a:t>Some systems have utilities to defragment the file system, in order to speed up file access</a:t>
            </a:r>
          </a:p>
          <a:p>
            <a:endParaRPr lang="zh-CN" altLang="en-US" sz="2000" dirty="0"/>
          </a:p>
        </p:txBody>
      </p:sp>
    </p:spTree>
    <p:extLst>
      <p:ext uri="{BB962C8B-B14F-4D97-AF65-F5344CB8AC3E}">
        <p14:creationId xmlns:p14="http://schemas.microsoft.com/office/powerpoint/2010/main" val="371937269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Optimization of Disk Block Access (Cont.)</a:t>
            </a:r>
            <a:endParaRPr lang="zh-CN" altLang="en-US" dirty="0"/>
          </a:p>
        </p:txBody>
      </p:sp>
      <p:sp>
        <p:nvSpPr>
          <p:cNvPr id="3" name="内容占位符 2"/>
          <p:cNvSpPr>
            <a:spLocks noGrp="1"/>
          </p:cNvSpPr>
          <p:nvPr>
            <p:ph idx="1"/>
          </p:nvPr>
        </p:nvSpPr>
        <p:spPr/>
        <p:txBody>
          <a:bodyPr/>
          <a:lstStyle/>
          <a:p>
            <a:r>
              <a:rPr lang="en-US" altLang="zh-CN" sz="2000" b="1" dirty="0"/>
              <a:t>Non-volatile write buffers </a:t>
            </a:r>
            <a:r>
              <a:rPr lang="en-US" altLang="zh-CN" sz="2000" dirty="0"/>
              <a:t>speed up disk writes by writing blocks to a non-volatile RAM buffer immediately</a:t>
            </a:r>
          </a:p>
          <a:p>
            <a:pPr lvl="1"/>
            <a:r>
              <a:rPr lang="en-US" altLang="zh-CN" sz="1600" dirty="0"/>
              <a:t>Non-volatile RAM:  battery backed up RAM or flash memory</a:t>
            </a:r>
          </a:p>
          <a:p>
            <a:pPr lvl="2"/>
            <a:r>
              <a:rPr lang="en-US" altLang="zh-CN" sz="1400" dirty="0"/>
              <a:t>Even if power fails, the data is safe and will be written to disk when power returns</a:t>
            </a:r>
          </a:p>
          <a:p>
            <a:pPr lvl="1"/>
            <a:r>
              <a:rPr lang="en-US" altLang="zh-CN" sz="1600" dirty="0"/>
              <a:t>Controller writes to disk when the disk has no other requests or the non-volatile RAM is full</a:t>
            </a:r>
          </a:p>
          <a:p>
            <a:pPr lvl="1"/>
            <a:r>
              <a:rPr lang="en-US" altLang="zh-CN" sz="1600" dirty="0"/>
              <a:t>Database operations can continue without waiting for data to be written to disk</a:t>
            </a:r>
          </a:p>
          <a:p>
            <a:pPr lvl="1"/>
            <a:r>
              <a:rPr lang="en-US" altLang="zh-CN" sz="1600" dirty="0"/>
              <a:t>Writes can be reordered to minimize disk arm movement</a:t>
            </a:r>
          </a:p>
          <a:p>
            <a:endParaRPr lang="zh-CN" altLang="en-US" sz="2000" dirty="0"/>
          </a:p>
        </p:txBody>
      </p:sp>
    </p:spTree>
    <p:extLst>
      <p:ext uri="{BB962C8B-B14F-4D97-AF65-F5344CB8AC3E}">
        <p14:creationId xmlns:p14="http://schemas.microsoft.com/office/powerpoint/2010/main" val="412452008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Optimization of Disk Block Access (Cont.)</a:t>
            </a:r>
            <a:endParaRPr lang="zh-CN" altLang="en-US" dirty="0"/>
          </a:p>
        </p:txBody>
      </p:sp>
      <p:sp>
        <p:nvSpPr>
          <p:cNvPr id="3" name="内容占位符 2"/>
          <p:cNvSpPr>
            <a:spLocks noGrp="1"/>
          </p:cNvSpPr>
          <p:nvPr>
            <p:ph idx="1"/>
          </p:nvPr>
        </p:nvSpPr>
        <p:spPr>
          <a:xfrm>
            <a:off x="251520" y="789553"/>
            <a:ext cx="8784976" cy="3805070"/>
          </a:xfrm>
        </p:spPr>
        <p:txBody>
          <a:bodyPr/>
          <a:lstStyle/>
          <a:p>
            <a:r>
              <a:rPr lang="en-US" altLang="zh-CN" sz="2000" b="1" dirty="0"/>
              <a:t>Log disk(</a:t>
            </a:r>
            <a:r>
              <a:rPr lang="zh-CN" altLang="en-US" sz="2000" b="1" dirty="0"/>
              <a:t>日志磁盘</a:t>
            </a:r>
            <a:r>
              <a:rPr lang="en-US" altLang="zh-CN" sz="2000" b="1" dirty="0"/>
              <a:t>) </a:t>
            </a:r>
          </a:p>
          <a:p>
            <a:pPr lvl="1"/>
            <a:r>
              <a:rPr lang="en-US" altLang="zh-CN" sz="1800" dirty="0"/>
              <a:t>a disk devoted to writing a sequential log of block updates</a:t>
            </a:r>
          </a:p>
          <a:p>
            <a:pPr lvl="1"/>
            <a:r>
              <a:rPr lang="en-US" altLang="zh-CN" sz="1800" dirty="0"/>
              <a:t>used exactly like nonvolatile RAM</a:t>
            </a:r>
          </a:p>
          <a:p>
            <a:pPr lvl="2"/>
            <a:r>
              <a:rPr lang="en-US" altLang="zh-CN" sz="1400" dirty="0"/>
              <a:t>write to log disk is very fast since seeking is not required</a:t>
            </a:r>
          </a:p>
          <a:p>
            <a:pPr lvl="2"/>
            <a:r>
              <a:rPr lang="en-US" altLang="zh-CN" sz="1400" dirty="0"/>
              <a:t>no need for special hardware (NV-RAM)</a:t>
            </a:r>
          </a:p>
          <a:p>
            <a:r>
              <a:rPr lang="en-US" altLang="zh-CN" sz="2000" b="1" dirty="0"/>
              <a:t>File systems typically reorder writes to disk to improve performance</a:t>
            </a:r>
          </a:p>
          <a:p>
            <a:pPr lvl="1"/>
            <a:r>
              <a:rPr lang="en-US" altLang="zh-CN" sz="1600" dirty="0"/>
              <a:t>Journaling file systems(</a:t>
            </a:r>
            <a:r>
              <a:rPr lang="zh-CN" altLang="en-US" sz="1600" dirty="0"/>
              <a:t>日志文件系统</a:t>
            </a:r>
            <a:r>
              <a:rPr lang="en-US" altLang="zh-CN" sz="1600" dirty="0"/>
              <a:t>) write data in safe order to NV-RAM or log disk</a:t>
            </a:r>
          </a:p>
          <a:p>
            <a:pPr lvl="1"/>
            <a:r>
              <a:rPr lang="en-US" altLang="zh-CN" sz="1600" dirty="0"/>
              <a:t>Reordering without journaling: risk of corruption of file system data</a:t>
            </a:r>
          </a:p>
          <a:p>
            <a:pPr marL="0" indent="0">
              <a:buNone/>
            </a:pPr>
            <a:endParaRPr lang="zh-CN" altLang="en-US" sz="2000" dirty="0"/>
          </a:p>
        </p:txBody>
      </p:sp>
    </p:spTree>
    <p:extLst>
      <p:ext uri="{BB962C8B-B14F-4D97-AF65-F5344CB8AC3E}">
        <p14:creationId xmlns:p14="http://schemas.microsoft.com/office/powerpoint/2010/main" val="104866022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1059582"/>
            <a:ext cx="8568952" cy="3384376"/>
          </a:xfrm>
        </p:spPr>
        <p:txBody>
          <a:bodyPr/>
          <a:lstStyle/>
          <a:p>
            <a:r>
              <a:rPr lang="en-US" altLang="zh-CN" dirty="0"/>
              <a:t>Overview of Physical Storage Media</a:t>
            </a:r>
          </a:p>
          <a:p>
            <a:r>
              <a:rPr lang="en-US" altLang="zh-CN" dirty="0"/>
              <a:t>Magnetic Disks</a:t>
            </a:r>
          </a:p>
          <a:p>
            <a:r>
              <a:rPr lang="en-US" altLang="zh-CN" b="1" dirty="0">
                <a:solidFill>
                  <a:srgbClr val="C00000"/>
                </a:solidFill>
              </a:rPr>
              <a:t>RAID</a:t>
            </a:r>
          </a:p>
          <a:p>
            <a:r>
              <a:rPr lang="en-US" altLang="zh-CN" dirty="0"/>
              <a:t>Tertiary Storage </a:t>
            </a:r>
          </a:p>
          <a:p>
            <a:r>
              <a:rPr lang="en-US" altLang="zh-CN" dirty="0"/>
              <a:t>Storage Access</a:t>
            </a:r>
          </a:p>
          <a:p>
            <a:r>
              <a:rPr lang="en-US" altLang="zh-CN" dirty="0"/>
              <a:t>File Organization</a:t>
            </a:r>
          </a:p>
          <a:p>
            <a:r>
              <a:rPr lang="en-US" altLang="zh-CN" dirty="0"/>
              <a:t>Organization of Records in Files</a:t>
            </a:r>
          </a:p>
          <a:p>
            <a:r>
              <a:rPr lang="en-US" altLang="zh-CN" dirty="0"/>
              <a:t>Data-Dictionary Storage</a:t>
            </a:r>
          </a:p>
        </p:txBody>
      </p:sp>
    </p:spTree>
    <p:extLst>
      <p:ext uri="{BB962C8B-B14F-4D97-AF65-F5344CB8AC3E}">
        <p14:creationId xmlns:p14="http://schemas.microsoft.com/office/powerpoint/2010/main" val="40473199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RAID (</a:t>
            </a:r>
            <a:r>
              <a:rPr lang="zh-CN" altLang="en-US" dirty="0"/>
              <a:t>独立冗余磁盘阵列</a:t>
            </a:r>
            <a:r>
              <a:rPr lang="en-US" altLang="zh-CN" dirty="0"/>
              <a:t>)</a:t>
            </a:r>
            <a:endParaRPr lang="zh-CN" altLang="en-US" dirty="0"/>
          </a:p>
        </p:txBody>
      </p:sp>
      <p:sp>
        <p:nvSpPr>
          <p:cNvPr id="3" name="内容占位符 2"/>
          <p:cNvSpPr>
            <a:spLocks noGrp="1"/>
          </p:cNvSpPr>
          <p:nvPr>
            <p:ph idx="1"/>
          </p:nvPr>
        </p:nvSpPr>
        <p:spPr>
          <a:xfrm>
            <a:off x="251520" y="789553"/>
            <a:ext cx="8136904" cy="3805070"/>
          </a:xfrm>
        </p:spPr>
        <p:txBody>
          <a:bodyPr/>
          <a:lstStyle/>
          <a:p>
            <a:pPr>
              <a:spcBef>
                <a:spcPts val="1200"/>
              </a:spcBef>
            </a:pPr>
            <a:r>
              <a:rPr lang="en-US" altLang="zh-CN" sz="2000" b="1" dirty="0"/>
              <a:t>RAID: Redundant Arrays of Independent Disks </a:t>
            </a:r>
          </a:p>
          <a:p>
            <a:pPr lvl="1">
              <a:spcBef>
                <a:spcPts val="1200"/>
              </a:spcBef>
            </a:pPr>
            <a:r>
              <a:rPr lang="en-US" altLang="zh-CN" sz="1800" dirty="0"/>
              <a:t>Disk organization techniques that manage a large numbers of disks, providing a view of a single disk of </a:t>
            </a:r>
          </a:p>
          <a:p>
            <a:pPr lvl="2">
              <a:spcBef>
                <a:spcPts val="1200"/>
              </a:spcBef>
            </a:pPr>
            <a:r>
              <a:rPr lang="en-US" altLang="zh-CN" sz="1600" dirty="0">
                <a:solidFill>
                  <a:srgbClr val="C00000"/>
                </a:solidFill>
              </a:rPr>
              <a:t>High capacity </a:t>
            </a:r>
            <a:r>
              <a:rPr lang="en-US" altLang="zh-CN" sz="1600" dirty="0"/>
              <a:t>and </a:t>
            </a:r>
            <a:r>
              <a:rPr lang="en-US" altLang="zh-CN" sz="1600" dirty="0">
                <a:solidFill>
                  <a:srgbClr val="C00000"/>
                </a:solidFill>
              </a:rPr>
              <a:t>high speed </a:t>
            </a:r>
            <a:r>
              <a:rPr lang="en-US" altLang="zh-CN" sz="1600" dirty="0"/>
              <a:t>by using multiple disks in parallel</a:t>
            </a:r>
          </a:p>
          <a:p>
            <a:pPr lvl="2">
              <a:spcBef>
                <a:spcPts val="1200"/>
              </a:spcBef>
            </a:pPr>
            <a:r>
              <a:rPr lang="en-US" altLang="zh-CN" sz="1600" dirty="0">
                <a:solidFill>
                  <a:srgbClr val="C00000"/>
                </a:solidFill>
              </a:rPr>
              <a:t>High reliability </a:t>
            </a:r>
            <a:r>
              <a:rPr lang="en-US" altLang="zh-CN" sz="1600" dirty="0"/>
              <a:t>by storing data redundantly. Data can be recovered even if a disk fails </a:t>
            </a:r>
          </a:p>
          <a:p>
            <a:pPr lvl="1">
              <a:spcBef>
                <a:spcPts val="1200"/>
              </a:spcBef>
            </a:pPr>
            <a:endParaRPr lang="zh-CN" altLang="en-US" sz="1800" dirty="0"/>
          </a:p>
        </p:txBody>
      </p:sp>
    </p:spTree>
    <p:extLst>
      <p:ext uri="{BB962C8B-B14F-4D97-AF65-F5344CB8AC3E}">
        <p14:creationId xmlns:p14="http://schemas.microsoft.com/office/powerpoint/2010/main" val="8336007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RAID (Cont.)</a:t>
            </a:r>
            <a:endParaRPr lang="zh-CN" altLang="en-US" dirty="0"/>
          </a:p>
        </p:txBody>
      </p:sp>
      <p:sp>
        <p:nvSpPr>
          <p:cNvPr id="3" name="内容占位符 2"/>
          <p:cNvSpPr>
            <a:spLocks noGrp="1"/>
          </p:cNvSpPr>
          <p:nvPr>
            <p:ph idx="1"/>
          </p:nvPr>
        </p:nvSpPr>
        <p:spPr>
          <a:xfrm>
            <a:off x="251520" y="699542"/>
            <a:ext cx="8352928" cy="3805070"/>
          </a:xfrm>
        </p:spPr>
        <p:txBody>
          <a:bodyPr/>
          <a:lstStyle/>
          <a:p>
            <a:r>
              <a:rPr lang="en-US" altLang="zh-CN" sz="2000" dirty="0"/>
              <a:t>The chance that some disk out of a set of N disks will fail is much higher than the chance that a specific single disk will fail</a:t>
            </a:r>
          </a:p>
          <a:p>
            <a:pPr lvl="1"/>
            <a:r>
              <a:rPr lang="en-US" altLang="zh-CN" sz="1600" dirty="0"/>
              <a:t>E.g., a system with 100 disks, each with MTTF of 100,000 hours (approx. 11 years), will have a system MTTF of 1000 hours (around 41 days)</a:t>
            </a:r>
          </a:p>
          <a:p>
            <a:pPr lvl="1"/>
            <a:r>
              <a:rPr lang="en-US" altLang="zh-CN" sz="1600" dirty="0"/>
              <a:t>Techniques for using redundancy to avoid data loss are critical with large numbers of disks</a:t>
            </a:r>
          </a:p>
          <a:p>
            <a:r>
              <a:rPr lang="en-US" altLang="zh-CN" sz="2000" b="1" dirty="0"/>
              <a:t>Originally a cost-effective alternative to large, expensive disks</a:t>
            </a:r>
          </a:p>
          <a:p>
            <a:pPr lvl="1"/>
            <a:r>
              <a:rPr lang="en-US" altLang="zh-CN" sz="1600" dirty="0"/>
              <a:t>I in RAID originally stood for “inexpensive”</a:t>
            </a:r>
          </a:p>
          <a:p>
            <a:pPr lvl="1"/>
            <a:r>
              <a:rPr lang="en-US" altLang="zh-CN" sz="1600" dirty="0"/>
              <a:t>Now the “I” is interpreted as independent</a:t>
            </a:r>
          </a:p>
          <a:p>
            <a:pPr lvl="1"/>
            <a:endParaRPr lang="zh-CN" altLang="en-US" sz="1600" dirty="0"/>
          </a:p>
        </p:txBody>
      </p:sp>
    </p:spTree>
    <p:extLst>
      <p:ext uri="{BB962C8B-B14F-4D97-AF65-F5344CB8AC3E}">
        <p14:creationId xmlns:p14="http://schemas.microsoft.com/office/powerpoint/2010/main" val="35585192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57337F-0BA9-4ADA-9024-931C1EC30A27}"/>
              </a:ext>
            </a:extLst>
          </p:cNvPr>
          <p:cNvSpPr>
            <a:spLocks noGrp="1"/>
          </p:cNvSpPr>
          <p:nvPr>
            <p:ph type="title"/>
          </p:nvPr>
        </p:nvSpPr>
        <p:spPr/>
        <p:txBody>
          <a:bodyPr/>
          <a:lstStyle/>
          <a:p>
            <a:pPr algn="ctr"/>
            <a:r>
              <a:rPr lang="en-US" altLang="zh-CN" dirty="0"/>
              <a:t>Improvement of Reliability via Redundancy</a:t>
            </a:r>
            <a:endParaRPr lang="zh-CN" altLang="en-US" dirty="0"/>
          </a:p>
        </p:txBody>
      </p:sp>
      <p:sp>
        <p:nvSpPr>
          <p:cNvPr id="3" name="内容占位符 2">
            <a:extLst>
              <a:ext uri="{FF2B5EF4-FFF2-40B4-BE49-F238E27FC236}">
                <a16:creationId xmlns:a16="http://schemas.microsoft.com/office/drawing/2014/main" id="{E4DD4FD1-80B4-4B3C-BCCF-A1B377A6C5D2}"/>
              </a:ext>
            </a:extLst>
          </p:cNvPr>
          <p:cNvSpPr>
            <a:spLocks noGrp="1"/>
          </p:cNvSpPr>
          <p:nvPr>
            <p:ph idx="1"/>
          </p:nvPr>
        </p:nvSpPr>
        <p:spPr>
          <a:xfrm>
            <a:off x="179512" y="843557"/>
            <a:ext cx="8568952" cy="3630727"/>
          </a:xfrm>
        </p:spPr>
        <p:txBody>
          <a:bodyPr/>
          <a:lstStyle/>
          <a:p>
            <a:r>
              <a:rPr lang="en-US" altLang="zh-CN" sz="1800" dirty="0"/>
              <a:t>Redundancy – store extra information that can be used to rebuild information lost in a disk failure</a:t>
            </a:r>
          </a:p>
          <a:p>
            <a:pPr lvl="1"/>
            <a:r>
              <a:rPr lang="en-US" altLang="zh-CN" sz="1400" dirty="0"/>
              <a:t>Mirroring (</a:t>
            </a:r>
            <a:r>
              <a:rPr lang="zh-CN" altLang="en-US" sz="1400" dirty="0"/>
              <a:t>镜像</a:t>
            </a:r>
            <a:r>
              <a:rPr lang="en-US" altLang="zh-CN" sz="1400" dirty="0"/>
              <a:t>): Duplicate every disk, and each logical disk consists of two physical disks</a:t>
            </a:r>
          </a:p>
          <a:p>
            <a:pPr lvl="1"/>
            <a:r>
              <a:rPr lang="en-US" altLang="zh-CN" sz="1400" dirty="0"/>
              <a:t>Every write is carried out on both disks</a:t>
            </a:r>
          </a:p>
          <a:p>
            <a:pPr lvl="2"/>
            <a:r>
              <a:rPr lang="en-US" altLang="zh-CN" sz="1200" dirty="0"/>
              <a:t>Reads can take place from either disk</a:t>
            </a:r>
          </a:p>
          <a:p>
            <a:pPr lvl="1"/>
            <a:r>
              <a:rPr lang="en-US" altLang="zh-CN" sz="1400" dirty="0"/>
              <a:t>If one disk in a pair fails, data still available in the other</a:t>
            </a:r>
          </a:p>
          <a:p>
            <a:pPr lvl="2"/>
            <a:r>
              <a:rPr lang="en-US" altLang="zh-CN" sz="1200" dirty="0"/>
              <a:t>Data loss would occur only if a disk fails, and its mirror disk also fails before the system is repaired</a:t>
            </a:r>
          </a:p>
          <a:p>
            <a:pPr lvl="2"/>
            <a:r>
              <a:rPr lang="en-US" altLang="zh-CN" sz="1200" dirty="0"/>
              <a:t>Probability of combined event is very small except for dependent failure modes such as fire or building collapse or electrical power surges</a:t>
            </a:r>
          </a:p>
          <a:p>
            <a:r>
              <a:rPr lang="en-US" altLang="zh-CN" sz="1800" dirty="0"/>
              <a:t>Mean time to data loss (</a:t>
            </a:r>
            <a:r>
              <a:rPr lang="zh-CN" altLang="en-US" sz="1800" dirty="0"/>
              <a:t>平均数据丢失时间</a:t>
            </a:r>
            <a:r>
              <a:rPr lang="en-US" altLang="zh-CN" sz="1800" dirty="0"/>
              <a:t>) depends on </a:t>
            </a:r>
            <a:r>
              <a:rPr lang="en-US" altLang="zh-CN" sz="1800" dirty="0">
                <a:solidFill>
                  <a:srgbClr val="C00000"/>
                </a:solidFill>
              </a:rPr>
              <a:t>mean time to failure (</a:t>
            </a:r>
            <a:r>
              <a:rPr lang="zh-CN" altLang="en-US" sz="1800" dirty="0">
                <a:solidFill>
                  <a:srgbClr val="C00000"/>
                </a:solidFill>
              </a:rPr>
              <a:t>平均故障时间</a:t>
            </a:r>
            <a:r>
              <a:rPr lang="en-US" altLang="zh-CN" sz="1800" dirty="0">
                <a:solidFill>
                  <a:srgbClr val="C00000"/>
                </a:solidFill>
              </a:rPr>
              <a:t>) </a:t>
            </a:r>
            <a:r>
              <a:rPr lang="en-US" altLang="zh-CN" sz="1800" dirty="0"/>
              <a:t>and </a:t>
            </a:r>
            <a:r>
              <a:rPr lang="en-US" altLang="zh-CN" sz="1800" dirty="0">
                <a:solidFill>
                  <a:srgbClr val="C00000"/>
                </a:solidFill>
              </a:rPr>
              <a:t>mean time to repair (</a:t>
            </a:r>
            <a:r>
              <a:rPr lang="zh-CN" altLang="en-US" sz="1800" dirty="0">
                <a:solidFill>
                  <a:srgbClr val="C00000"/>
                </a:solidFill>
              </a:rPr>
              <a:t>平均修复时间</a:t>
            </a:r>
            <a:r>
              <a:rPr lang="en-US" altLang="zh-CN" sz="1800" dirty="0">
                <a:solidFill>
                  <a:srgbClr val="C00000"/>
                </a:solidFill>
              </a:rPr>
              <a:t>)</a:t>
            </a:r>
          </a:p>
          <a:p>
            <a:endParaRPr lang="zh-CN" altLang="en-US" sz="1800" dirty="0"/>
          </a:p>
        </p:txBody>
      </p:sp>
    </p:spTree>
    <p:extLst>
      <p:ext uri="{BB962C8B-B14F-4D97-AF65-F5344CB8AC3E}">
        <p14:creationId xmlns:p14="http://schemas.microsoft.com/office/powerpoint/2010/main" val="29371568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barn(inVertical)">
                                      <p:cBhvr>
                                        <p:cTn id="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F7DE8B-577E-4016-86CF-AF6D7D83191A}"/>
              </a:ext>
            </a:extLst>
          </p:cNvPr>
          <p:cNvSpPr>
            <a:spLocks noGrp="1"/>
          </p:cNvSpPr>
          <p:nvPr>
            <p:ph type="title"/>
          </p:nvPr>
        </p:nvSpPr>
        <p:spPr/>
        <p:txBody>
          <a:bodyPr/>
          <a:lstStyle/>
          <a:p>
            <a:pPr algn="ctr"/>
            <a:r>
              <a:rPr lang="it-IT" altLang="zh-CN" dirty="0"/>
              <a:t>Improvement in Performance via Parallelism</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E039CA0-1BCD-4A10-91C6-1D8A7965B348}"/>
                  </a:ext>
                </a:extLst>
              </p:cNvPr>
              <p:cNvSpPr>
                <a:spLocks noGrp="1"/>
              </p:cNvSpPr>
              <p:nvPr>
                <p:ph idx="1"/>
              </p:nvPr>
            </p:nvSpPr>
            <p:spPr>
              <a:xfrm>
                <a:off x="179512" y="771549"/>
                <a:ext cx="8712968" cy="3702735"/>
              </a:xfrm>
            </p:spPr>
            <p:txBody>
              <a:bodyPr/>
              <a:lstStyle/>
              <a:p>
                <a:r>
                  <a:rPr lang="en-US" altLang="zh-CN" sz="1800" dirty="0"/>
                  <a:t>Two main goals of </a:t>
                </a:r>
                <a:r>
                  <a:rPr lang="en-US" altLang="zh-CN" sz="1800" b="1" dirty="0">
                    <a:solidFill>
                      <a:srgbClr val="C00000"/>
                    </a:solidFill>
                  </a:rPr>
                  <a:t>parallelism</a:t>
                </a:r>
                <a:r>
                  <a:rPr lang="en-US" altLang="zh-CN" sz="1800" dirty="0"/>
                  <a:t> in a disk system</a:t>
                </a:r>
              </a:p>
              <a:p>
                <a:pPr lvl="1"/>
                <a:r>
                  <a:rPr lang="en-US" altLang="zh-CN" sz="1400" dirty="0"/>
                  <a:t>Load balance multiple small accesses to increase throughput</a:t>
                </a:r>
              </a:p>
              <a:p>
                <a:pPr lvl="1"/>
                <a:r>
                  <a:rPr lang="en-US" altLang="zh-CN" sz="1400" dirty="0"/>
                  <a:t>Parallelize large accesses to reduce response time</a:t>
                </a:r>
              </a:p>
              <a:p>
                <a:r>
                  <a:rPr lang="en-US" altLang="zh-CN" sz="1800" dirty="0"/>
                  <a:t>Bit-level striping (</a:t>
                </a:r>
                <a:r>
                  <a:rPr lang="zh-CN" altLang="en-US" sz="1800" dirty="0"/>
                  <a:t>位级拆分</a:t>
                </a:r>
                <a:r>
                  <a:rPr lang="en-US" altLang="zh-CN" sz="1800" dirty="0"/>
                  <a:t>): split the bits of each byte across multiple disks</a:t>
                </a:r>
              </a:p>
              <a:p>
                <a:pPr lvl="1"/>
                <a:r>
                  <a:rPr lang="en-US" altLang="zh-CN" sz="1400" dirty="0"/>
                  <a:t>In an array of eight disks, write bit </a:t>
                </a:r>
                <a14:m>
                  <m:oMath xmlns:m="http://schemas.openxmlformats.org/officeDocument/2006/math">
                    <m:r>
                      <a:rPr lang="en-US" altLang="zh-CN" sz="1400" b="0" i="1" smtClean="0">
                        <a:latin typeface="Cambria Math" panose="02040503050406030204" pitchFamily="18" charset="0"/>
                      </a:rPr>
                      <m:t>𝑖</m:t>
                    </m:r>
                  </m:oMath>
                </a14:m>
                <a:r>
                  <a:rPr lang="en-US" altLang="zh-CN" sz="1400" dirty="0"/>
                  <a:t> of each byte to disk </a:t>
                </a:r>
                <a14:m>
                  <m:oMath xmlns:m="http://schemas.openxmlformats.org/officeDocument/2006/math">
                    <m:r>
                      <a:rPr lang="en-US" altLang="zh-CN" sz="1400" b="0" i="1" smtClean="0">
                        <a:latin typeface="Cambria Math" panose="02040503050406030204" pitchFamily="18" charset="0"/>
                      </a:rPr>
                      <m:t>𝑖</m:t>
                    </m:r>
                  </m:oMath>
                </a14:m>
                <a:endParaRPr lang="en-US" altLang="zh-CN" sz="1400" dirty="0"/>
              </a:p>
              <a:p>
                <a:pPr lvl="1"/>
                <a:r>
                  <a:rPr lang="en-US" altLang="zh-CN" sz="1400" dirty="0"/>
                  <a:t>Each access can read data at eight times the rate of a single disk</a:t>
                </a:r>
                <a:endParaRPr lang="en-US" altLang="zh-CN" sz="1200" dirty="0"/>
              </a:p>
              <a:p>
                <a:r>
                  <a:rPr lang="en-US" altLang="zh-CN" sz="1800" dirty="0"/>
                  <a:t>Block-level striping (</a:t>
                </a:r>
                <a:r>
                  <a:rPr lang="zh-CN" altLang="en-US" sz="1800" dirty="0"/>
                  <a:t>块级拆分</a:t>
                </a:r>
                <a:r>
                  <a:rPr lang="en-US" altLang="zh-CN" sz="1800" dirty="0"/>
                  <a:t>): with </a:t>
                </a:r>
                <a14:m>
                  <m:oMath xmlns:m="http://schemas.openxmlformats.org/officeDocument/2006/math">
                    <m:r>
                      <a:rPr lang="en-US" altLang="zh-CN" sz="1800" b="0" i="1" smtClean="0">
                        <a:latin typeface="Cambria Math" panose="02040503050406030204" pitchFamily="18" charset="0"/>
                      </a:rPr>
                      <m:t>𝑛</m:t>
                    </m:r>
                  </m:oMath>
                </a14:m>
                <a:r>
                  <a:rPr lang="en-US" altLang="zh-CN" sz="1800" dirty="0"/>
                  <a:t> disks, block </a:t>
                </a:r>
                <a14:m>
                  <m:oMath xmlns:m="http://schemas.openxmlformats.org/officeDocument/2006/math">
                    <m:r>
                      <a:rPr lang="en-US" altLang="zh-CN" sz="1800" b="0" i="1" smtClean="0">
                        <a:latin typeface="Cambria Math" panose="02040503050406030204" pitchFamily="18" charset="0"/>
                      </a:rPr>
                      <m:t>𝑖</m:t>
                    </m:r>
                  </m:oMath>
                </a14:m>
                <a:r>
                  <a:rPr lang="en-US" altLang="zh-CN" sz="1800" dirty="0"/>
                  <a:t> of a file goes to disk (</a:t>
                </a:r>
                <a14:m>
                  <m:oMath xmlns:m="http://schemas.openxmlformats.org/officeDocument/2006/math">
                    <m:r>
                      <a:rPr lang="en-US" altLang="zh-CN" sz="1800" b="0" i="1" smtClean="0">
                        <a:latin typeface="Cambria Math" panose="02040503050406030204" pitchFamily="18" charset="0"/>
                      </a:rPr>
                      <m:t>𝑖</m:t>
                    </m:r>
                  </m:oMath>
                </a14:m>
                <a:r>
                  <a:rPr lang="en-US" altLang="zh-CN" sz="1800" dirty="0"/>
                  <a:t> mod </a:t>
                </a:r>
                <a14:m>
                  <m:oMath xmlns:m="http://schemas.openxmlformats.org/officeDocument/2006/math">
                    <m:r>
                      <a:rPr lang="en-US" altLang="zh-CN" sz="1800" b="0" i="1" smtClean="0">
                        <a:latin typeface="Cambria Math" panose="02040503050406030204" pitchFamily="18" charset="0"/>
                      </a:rPr>
                      <m:t>𝑛</m:t>
                    </m:r>
                  </m:oMath>
                </a14:m>
                <a:r>
                  <a:rPr lang="en-US" altLang="zh-CN" sz="1800" dirty="0"/>
                  <a:t>) + 1</a:t>
                </a:r>
              </a:p>
              <a:p>
                <a:pPr lvl="1"/>
                <a:r>
                  <a:rPr lang="en-US" altLang="zh-CN" sz="1400" dirty="0"/>
                  <a:t>Requests for different blocks can run in parallel if the blocks reside on different disks</a:t>
                </a:r>
              </a:p>
              <a:p>
                <a:pPr lvl="1"/>
                <a:r>
                  <a:rPr lang="en-US" altLang="zh-CN" sz="1400" dirty="0"/>
                  <a:t>A request for a long sequence of blocks can utilize all disks in parallel</a:t>
                </a:r>
              </a:p>
              <a:p>
                <a:endParaRPr lang="zh-CN" altLang="en-US" sz="1800" dirty="0"/>
              </a:p>
            </p:txBody>
          </p:sp>
        </mc:Choice>
        <mc:Fallback xmlns="">
          <p:sp>
            <p:nvSpPr>
              <p:cNvPr id="3" name="内容占位符 2">
                <a:extLst>
                  <a:ext uri="{FF2B5EF4-FFF2-40B4-BE49-F238E27FC236}">
                    <a16:creationId xmlns:a16="http://schemas.microsoft.com/office/drawing/2014/main" id="{EE039CA0-1BCD-4A10-91C6-1D8A7965B348}"/>
                  </a:ext>
                </a:extLst>
              </p:cNvPr>
              <p:cNvSpPr>
                <a:spLocks noGrp="1" noRot="1" noChangeAspect="1" noMove="1" noResize="1" noEditPoints="1" noAdjustHandles="1" noChangeArrowheads="1" noChangeShapeType="1" noTextEdit="1"/>
              </p:cNvSpPr>
              <p:nvPr>
                <p:ph idx="1"/>
              </p:nvPr>
            </p:nvSpPr>
            <p:spPr>
              <a:xfrm>
                <a:off x="179512" y="771549"/>
                <a:ext cx="8712968" cy="3702735"/>
              </a:xfrm>
              <a:blipFill>
                <a:blip r:embed="rId3"/>
                <a:stretch>
                  <a:fillRect l="-420" t="-9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935194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barn(inVertical)">
                                      <p:cBhvr>
                                        <p:cTn id="18" dur="500"/>
                                        <p:tgtEl>
                                          <p:spTgt spid="3">
                                            <p:txEl>
                                              <p:pRg st="6" end="6"/>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barn(inVertical)">
                                      <p:cBhvr>
                                        <p:cTn id="21" dur="500"/>
                                        <p:tgtEl>
                                          <p:spTgt spid="3">
                                            <p:txEl>
                                              <p:pRg st="7" end="7"/>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barn(inVertical)">
                                      <p:cBhvr>
                                        <p:cTn id="2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B19A82-CE6D-4695-98D4-376FC7D40187}"/>
              </a:ext>
            </a:extLst>
          </p:cNvPr>
          <p:cNvSpPr>
            <a:spLocks noGrp="1"/>
          </p:cNvSpPr>
          <p:nvPr>
            <p:ph type="title"/>
          </p:nvPr>
        </p:nvSpPr>
        <p:spPr/>
        <p:txBody>
          <a:bodyPr/>
          <a:lstStyle/>
          <a:p>
            <a:pPr algn="ctr"/>
            <a:r>
              <a:rPr lang="en-US" altLang="zh-CN" dirty="0"/>
              <a:t>RAID Levels</a:t>
            </a:r>
            <a:endParaRPr lang="zh-CN" altLang="en-US" dirty="0"/>
          </a:p>
        </p:txBody>
      </p:sp>
      <p:sp>
        <p:nvSpPr>
          <p:cNvPr id="3" name="内容占位符 2">
            <a:extLst>
              <a:ext uri="{FF2B5EF4-FFF2-40B4-BE49-F238E27FC236}">
                <a16:creationId xmlns:a16="http://schemas.microsoft.com/office/drawing/2014/main" id="{196F8C22-B68C-4298-BBD5-2BB1689288A9}"/>
              </a:ext>
            </a:extLst>
          </p:cNvPr>
          <p:cNvSpPr>
            <a:spLocks noGrp="1"/>
          </p:cNvSpPr>
          <p:nvPr>
            <p:ph idx="1"/>
          </p:nvPr>
        </p:nvSpPr>
        <p:spPr/>
        <p:txBody>
          <a:bodyPr/>
          <a:lstStyle/>
          <a:p>
            <a:r>
              <a:rPr lang="en-US" altLang="zh-CN" sz="1800" dirty="0"/>
              <a:t>Schemes to provide </a:t>
            </a:r>
            <a:r>
              <a:rPr lang="en-US" altLang="zh-CN" sz="1800" dirty="0">
                <a:solidFill>
                  <a:srgbClr val="C00000"/>
                </a:solidFill>
              </a:rPr>
              <a:t>redundancy</a:t>
            </a:r>
            <a:r>
              <a:rPr lang="en-US" altLang="zh-CN" sz="1800" dirty="0"/>
              <a:t> at lower cost by using </a:t>
            </a:r>
            <a:r>
              <a:rPr lang="en-US" altLang="zh-CN" sz="1800" dirty="0">
                <a:solidFill>
                  <a:srgbClr val="C00000"/>
                </a:solidFill>
              </a:rPr>
              <a:t>disk</a:t>
            </a:r>
            <a:r>
              <a:rPr lang="en-US" altLang="zh-CN" sz="1800" dirty="0"/>
              <a:t> </a:t>
            </a:r>
            <a:r>
              <a:rPr lang="en-US" altLang="zh-CN" sz="1800" dirty="0">
                <a:solidFill>
                  <a:srgbClr val="C00000"/>
                </a:solidFill>
              </a:rPr>
              <a:t>striping (</a:t>
            </a:r>
            <a:r>
              <a:rPr lang="zh-CN" altLang="en-US" sz="1800" dirty="0">
                <a:solidFill>
                  <a:srgbClr val="C00000"/>
                </a:solidFill>
              </a:rPr>
              <a:t>磁盘拆分</a:t>
            </a:r>
            <a:r>
              <a:rPr lang="en-US" altLang="zh-CN" sz="1800" dirty="0">
                <a:solidFill>
                  <a:srgbClr val="C00000"/>
                </a:solidFill>
              </a:rPr>
              <a:t>)</a:t>
            </a:r>
            <a:r>
              <a:rPr lang="en-US" altLang="zh-CN" sz="1800" dirty="0"/>
              <a:t> combined with </a:t>
            </a:r>
            <a:r>
              <a:rPr lang="en-US" altLang="zh-CN" sz="1800" dirty="0">
                <a:solidFill>
                  <a:srgbClr val="C00000"/>
                </a:solidFill>
              </a:rPr>
              <a:t>parity</a:t>
            </a:r>
            <a:r>
              <a:rPr lang="en-US" altLang="zh-CN" sz="1800" dirty="0"/>
              <a:t> bits(</a:t>
            </a:r>
            <a:r>
              <a:rPr lang="zh-CN" altLang="en-US" sz="1800" dirty="0"/>
              <a:t>奇偶校验位</a:t>
            </a:r>
            <a:r>
              <a:rPr lang="en-US" altLang="zh-CN" sz="1800" dirty="0"/>
              <a:t>)</a:t>
            </a:r>
          </a:p>
          <a:p>
            <a:pPr lvl="1"/>
            <a:r>
              <a:rPr lang="en-US" altLang="zh-CN" sz="1400" dirty="0"/>
              <a:t>Different RAID organizations, or RAID levels, have differing cost, performance and reliability characteristics</a:t>
            </a:r>
          </a:p>
          <a:p>
            <a:endParaRPr lang="zh-CN" altLang="en-US" sz="1800" dirty="0"/>
          </a:p>
        </p:txBody>
      </p:sp>
      <p:sp>
        <p:nvSpPr>
          <p:cNvPr id="5" name="Text Box 6">
            <a:extLst>
              <a:ext uri="{FF2B5EF4-FFF2-40B4-BE49-F238E27FC236}">
                <a16:creationId xmlns:a16="http://schemas.microsoft.com/office/drawing/2014/main" id="{70F55EA7-94F0-4D4C-BEFF-545671BD1A09}"/>
              </a:ext>
            </a:extLst>
          </p:cNvPr>
          <p:cNvSpPr txBox="1">
            <a:spLocks noChangeArrowheads="1"/>
          </p:cNvSpPr>
          <p:nvPr/>
        </p:nvSpPr>
        <p:spPr bwMode="auto">
          <a:xfrm>
            <a:off x="683568" y="2496963"/>
            <a:ext cx="8208912" cy="114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8925" indent="-288925">
              <a:defRPr>
                <a:solidFill>
                  <a:schemeClr val="tx1"/>
                </a:solidFill>
                <a:latin typeface="Helvetica" panose="020B0604020202020204" pitchFamily="34" charset="0"/>
              </a:defRPr>
            </a:lvl1pPr>
            <a:lvl2pPr marL="695325" indent="-2349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eaLnBrk="0" hangingPunct="0">
              <a:spcBef>
                <a:spcPct val="35000"/>
              </a:spcBef>
              <a:buClr>
                <a:srgbClr val="CC3300"/>
              </a:buClr>
              <a:buSzPct val="90000"/>
              <a:buFont typeface="Monotype Sorts" charset="2"/>
              <a:buChar char="n"/>
            </a:pPr>
            <a:r>
              <a:rPr kumimoji="1" lang="en-US" altLang="zh-CN" sz="1350" b="1" dirty="0">
                <a:solidFill>
                  <a:srgbClr val="CC3300"/>
                </a:solidFill>
                <a:latin typeface="Arial" panose="020B0604020202020204" pitchFamily="34" charset="0"/>
                <a:ea typeface="宋体" panose="02010600030101010101" pitchFamily="2" charset="-122"/>
                <a:cs typeface="Arial" panose="020B0604020202020204" pitchFamily="34" charset="0"/>
              </a:rPr>
              <a:t>RAID Level 1</a:t>
            </a:r>
            <a:r>
              <a:rPr kumimoji="1" lang="en-US" altLang="zh-CN" sz="1350" b="1"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kumimoji="1" lang="en-US" altLang="zh-CN" sz="1350" b="1" dirty="0">
                <a:solidFill>
                  <a:srgbClr val="CC3300"/>
                </a:solidFill>
                <a:latin typeface="Arial" panose="020B0604020202020204" pitchFamily="34" charset="0"/>
                <a:ea typeface="宋体" panose="02010600030101010101" pitchFamily="2" charset="-122"/>
                <a:cs typeface="Arial" panose="020B0604020202020204" pitchFamily="34" charset="0"/>
              </a:rPr>
              <a:t>Mirrored disks</a:t>
            </a:r>
            <a:r>
              <a:rPr kumimoji="1" lang="en-US" altLang="zh-CN" sz="1350" b="1" dirty="0">
                <a:solidFill>
                  <a:srgbClr val="000000"/>
                </a:solidFill>
                <a:latin typeface="Arial" panose="020B0604020202020204" pitchFamily="34" charset="0"/>
                <a:ea typeface="宋体" panose="02010600030101010101" pitchFamily="2" charset="-122"/>
                <a:cs typeface="Arial" panose="020B0604020202020204" pitchFamily="34" charset="0"/>
              </a:rPr>
              <a:t> with block striping (</a:t>
            </a:r>
            <a:r>
              <a:rPr kumimoji="1" lang="zh-CN" altLang="en-US" sz="1350" b="1" dirty="0">
                <a:solidFill>
                  <a:srgbClr val="000000"/>
                </a:solidFill>
                <a:latin typeface="Arial" panose="020B0604020202020204" pitchFamily="34" charset="0"/>
                <a:ea typeface="宋体" panose="02010600030101010101" pitchFamily="2" charset="-122"/>
                <a:cs typeface="Arial" panose="020B0604020202020204" pitchFamily="34" charset="0"/>
              </a:rPr>
              <a:t>镜像磁盘</a:t>
            </a:r>
            <a:r>
              <a:rPr kumimoji="1" lang="en-US" altLang="zh-CN" sz="1350" b="1" dirty="0">
                <a:solidFill>
                  <a:srgbClr val="000000"/>
                </a:solidFill>
                <a:latin typeface="Arial" panose="020B0604020202020204" pitchFamily="34" charset="0"/>
                <a:ea typeface="宋体" panose="02010600030101010101" pitchFamily="2" charset="-122"/>
                <a:cs typeface="Arial" panose="020B0604020202020204" pitchFamily="34" charset="0"/>
              </a:rPr>
              <a:t>)</a:t>
            </a:r>
          </a:p>
          <a:p>
            <a:pPr lvl="1" eaLnBrk="0" hangingPunct="0">
              <a:spcBef>
                <a:spcPct val="35000"/>
              </a:spcBef>
              <a:buClr>
                <a:srgbClr val="FF9900"/>
              </a:buClr>
              <a:buSzPct val="80000"/>
              <a:buFont typeface="Monotype Sorts" charset="2"/>
              <a:buChar char="l"/>
            </a:pPr>
            <a:r>
              <a:rPr kumimoji="1" lang="en-US" altLang="zh-CN" sz="1350" b="1" dirty="0">
                <a:solidFill>
                  <a:srgbClr val="000000"/>
                </a:solidFill>
                <a:latin typeface="Arial" panose="020B0604020202020204" pitchFamily="34" charset="0"/>
                <a:ea typeface="宋体" panose="02010600030101010101" pitchFamily="2" charset="-122"/>
                <a:cs typeface="Arial" panose="020B0604020202020204" pitchFamily="34" charset="0"/>
              </a:rPr>
              <a:t>Offers best write performance.  </a:t>
            </a:r>
          </a:p>
          <a:p>
            <a:pPr lvl="1" eaLnBrk="0" hangingPunct="0">
              <a:spcBef>
                <a:spcPct val="35000"/>
              </a:spcBef>
              <a:buClr>
                <a:srgbClr val="FF9900"/>
              </a:buClr>
              <a:buSzPct val="80000"/>
              <a:buFont typeface="Monotype Sorts" charset="2"/>
              <a:buChar char="l"/>
            </a:pPr>
            <a:r>
              <a:rPr kumimoji="1" lang="en-US" altLang="zh-CN" sz="1350" b="1" dirty="0">
                <a:solidFill>
                  <a:srgbClr val="000000"/>
                </a:solidFill>
                <a:latin typeface="Arial" panose="020B0604020202020204" pitchFamily="34" charset="0"/>
                <a:ea typeface="宋体" panose="02010600030101010101" pitchFamily="2" charset="-122"/>
                <a:cs typeface="Arial" panose="020B0604020202020204" pitchFamily="34" charset="0"/>
              </a:rPr>
              <a:t>Popular for applications such as storing log files in a database system</a:t>
            </a:r>
          </a:p>
          <a:p>
            <a:pPr eaLnBrk="0" hangingPunct="0">
              <a:spcBef>
                <a:spcPct val="35000"/>
              </a:spcBef>
              <a:buClr>
                <a:srgbClr val="FF9900"/>
              </a:buClr>
              <a:buSzPct val="80000"/>
              <a:buFont typeface="Monotype Sorts" charset="2"/>
              <a:buChar char="l"/>
            </a:pPr>
            <a:endParaRPr kumimoji="1" lang="zh-CN" altLang="en-US" sz="1350" b="1" dirty="0">
              <a:solidFill>
                <a:srgbClr val="000000"/>
              </a:solidFill>
              <a:latin typeface="Arial" panose="020B0604020202020204" pitchFamily="34" charset="0"/>
              <a:ea typeface="宋体" panose="02010600030101010101" pitchFamily="2" charset="-122"/>
              <a:cs typeface="Arial" panose="020B0604020202020204" pitchFamily="34" charset="0"/>
            </a:endParaRPr>
          </a:p>
        </p:txBody>
      </p:sp>
      <p:sp>
        <p:nvSpPr>
          <p:cNvPr id="6" name="Text Box 7">
            <a:extLst>
              <a:ext uri="{FF2B5EF4-FFF2-40B4-BE49-F238E27FC236}">
                <a16:creationId xmlns:a16="http://schemas.microsoft.com/office/drawing/2014/main" id="{33F4D270-0345-4442-8478-08E53B3A4FB5}"/>
              </a:ext>
            </a:extLst>
          </p:cNvPr>
          <p:cNvSpPr txBox="1">
            <a:spLocks noChangeArrowheads="1"/>
          </p:cNvSpPr>
          <p:nvPr/>
        </p:nvSpPr>
        <p:spPr bwMode="auto">
          <a:xfrm>
            <a:off x="683568" y="1923678"/>
            <a:ext cx="7560840" cy="580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8925" indent="-288925">
              <a:defRPr>
                <a:solidFill>
                  <a:schemeClr val="tx1"/>
                </a:solidFill>
                <a:latin typeface="Helvetica" panose="020B0604020202020204" pitchFamily="34" charset="0"/>
              </a:defRPr>
            </a:lvl1pPr>
            <a:lvl2pPr marL="692150" indent="-2349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eaLnBrk="0" hangingPunct="0">
              <a:spcBef>
                <a:spcPct val="35000"/>
              </a:spcBef>
              <a:buClr>
                <a:srgbClr val="CC3300"/>
              </a:buClr>
              <a:buSzPct val="90000"/>
              <a:buFont typeface="Monotype Sorts" charset="2"/>
              <a:buChar char="n"/>
            </a:pPr>
            <a:r>
              <a:rPr kumimoji="1" lang="en-US" altLang="zh-CN" sz="1350" b="1" dirty="0">
                <a:solidFill>
                  <a:srgbClr val="CC3300"/>
                </a:solidFill>
                <a:latin typeface="Arial" panose="020B0604020202020204" pitchFamily="34" charset="0"/>
                <a:ea typeface="宋体" panose="02010600030101010101" pitchFamily="2" charset="-122"/>
                <a:cs typeface="Arial" panose="020B0604020202020204" pitchFamily="34" charset="0"/>
              </a:rPr>
              <a:t>RAID Level 0</a:t>
            </a:r>
            <a:r>
              <a:rPr kumimoji="1" lang="en-US" altLang="zh-CN" sz="1350" b="1"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kumimoji="1" lang="en-US" altLang="zh-CN" sz="1350" b="1" dirty="0">
                <a:solidFill>
                  <a:srgbClr val="CC3300"/>
                </a:solidFill>
                <a:latin typeface="Arial" panose="020B0604020202020204" pitchFamily="34" charset="0"/>
                <a:ea typeface="宋体" panose="02010600030101010101" pitchFamily="2" charset="-122"/>
                <a:cs typeface="Arial" panose="020B0604020202020204" pitchFamily="34" charset="0"/>
              </a:rPr>
              <a:t>Block striping, non-redundant.</a:t>
            </a:r>
            <a:r>
              <a:rPr kumimoji="1" lang="en-US" altLang="zh-CN" sz="1350" b="1"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kumimoji="1" lang="zh-CN" altLang="en-US" sz="1350" b="1" dirty="0">
                <a:solidFill>
                  <a:srgbClr val="000000"/>
                </a:solidFill>
                <a:latin typeface="Arial" panose="020B0604020202020204" pitchFamily="34" charset="0"/>
                <a:ea typeface="宋体" panose="02010600030101010101" pitchFamily="2" charset="-122"/>
                <a:cs typeface="Arial" panose="020B0604020202020204" pitchFamily="34" charset="0"/>
              </a:rPr>
              <a:t>无冗余拆分</a:t>
            </a:r>
            <a:r>
              <a:rPr kumimoji="1" lang="en-US" altLang="zh-CN" sz="1350" b="1" dirty="0">
                <a:solidFill>
                  <a:srgbClr val="000000"/>
                </a:solidFill>
                <a:latin typeface="Arial" panose="020B0604020202020204" pitchFamily="34" charset="0"/>
                <a:ea typeface="宋体" panose="02010600030101010101" pitchFamily="2" charset="-122"/>
                <a:cs typeface="Arial" panose="020B0604020202020204" pitchFamily="34" charset="0"/>
              </a:rPr>
              <a:t>)</a:t>
            </a:r>
          </a:p>
          <a:p>
            <a:pPr lvl="1" eaLnBrk="0" hangingPunct="0">
              <a:spcBef>
                <a:spcPct val="35000"/>
              </a:spcBef>
              <a:buClr>
                <a:srgbClr val="FF9900"/>
              </a:buClr>
              <a:buSzPct val="80000"/>
              <a:buFont typeface="Monotype Sorts" charset="2"/>
              <a:buChar char="l"/>
            </a:pPr>
            <a:r>
              <a:rPr kumimoji="1" lang="en-US" altLang="zh-CN" sz="1350" b="1" dirty="0">
                <a:solidFill>
                  <a:srgbClr val="000000"/>
                </a:solidFill>
                <a:latin typeface="Arial" panose="020B0604020202020204" pitchFamily="34" charset="0"/>
                <a:ea typeface="宋体" panose="02010600030101010101" pitchFamily="2" charset="-122"/>
                <a:cs typeface="Arial" panose="020B0604020202020204" pitchFamily="34" charset="0"/>
              </a:rPr>
              <a:t> Used in high-performance applications where data lose is not critical </a:t>
            </a:r>
          </a:p>
        </p:txBody>
      </p:sp>
      <p:pic>
        <p:nvPicPr>
          <p:cNvPr id="7" name="Graphic 6">
            <a:extLst>
              <a:ext uri="{FF2B5EF4-FFF2-40B4-BE49-F238E27FC236}">
                <a16:creationId xmlns:a16="http://schemas.microsoft.com/office/drawing/2014/main" id="{CE7CA23F-2547-47A0-8457-A31E5C45A349}"/>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b="53244"/>
          <a:stretch/>
        </p:blipFill>
        <p:spPr>
          <a:xfrm>
            <a:off x="2981628" y="3572368"/>
            <a:ext cx="3612791" cy="1550630"/>
          </a:xfrm>
          <a:prstGeom prst="rect">
            <a:avLst/>
          </a:prstGeom>
        </p:spPr>
      </p:pic>
    </p:spTree>
    <p:extLst>
      <p:ext uri="{BB962C8B-B14F-4D97-AF65-F5344CB8AC3E}">
        <p14:creationId xmlns:p14="http://schemas.microsoft.com/office/powerpoint/2010/main" val="259529690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10CD6-E0A7-4E1A-9EE6-CF0D0976B4C6}"/>
              </a:ext>
            </a:extLst>
          </p:cNvPr>
          <p:cNvSpPr>
            <a:spLocks noGrp="1"/>
          </p:cNvSpPr>
          <p:nvPr>
            <p:ph type="title"/>
          </p:nvPr>
        </p:nvSpPr>
        <p:spPr/>
        <p:txBody>
          <a:bodyPr/>
          <a:lstStyle/>
          <a:p>
            <a:pPr algn="ctr"/>
            <a:r>
              <a:rPr lang="en-US" altLang="zh-CN" dirty="0"/>
              <a:t>RAID Levels (Cont.)</a:t>
            </a:r>
            <a:endParaRPr lang="zh-CN" altLang="en-US" dirty="0"/>
          </a:p>
        </p:txBody>
      </p:sp>
      <p:sp>
        <p:nvSpPr>
          <p:cNvPr id="3" name="内容占位符 2">
            <a:extLst>
              <a:ext uri="{FF2B5EF4-FFF2-40B4-BE49-F238E27FC236}">
                <a16:creationId xmlns:a16="http://schemas.microsoft.com/office/drawing/2014/main" id="{43EB1911-9E86-4BCC-B9CE-E18E8B062AD4}"/>
              </a:ext>
            </a:extLst>
          </p:cNvPr>
          <p:cNvSpPr>
            <a:spLocks noGrp="1"/>
          </p:cNvSpPr>
          <p:nvPr>
            <p:ph idx="1"/>
          </p:nvPr>
        </p:nvSpPr>
        <p:spPr/>
        <p:txBody>
          <a:bodyPr/>
          <a:lstStyle/>
          <a:p>
            <a:r>
              <a:rPr lang="en-US" altLang="zh-CN" sz="1800" b="1" dirty="0"/>
              <a:t>RAID Level 2</a:t>
            </a:r>
            <a:r>
              <a:rPr lang="en-US" altLang="zh-CN" sz="1800" dirty="0"/>
              <a:t>: Memory-Style Error-Correcting-Codes (ECC) with bit striping. (</a:t>
            </a:r>
            <a:r>
              <a:rPr lang="zh-CN" altLang="en-US" sz="1800" dirty="0"/>
              <a:t>内存风格的纠错码</a:t>
            </a:r>
            <a:r>
              <a:rPr lang="en-US" altLang="zh-CN" sz="1800" dirty="0"/>
              <a:t>, </a:t>
            </a:r>
            <a:r>
              <a:rPr lang="zh-CN" altLang="en-US" sz="1800" dirty="0"/>
              <a:t>奇偶校验位</a:t>
            </a:r>
            <a:r>
              <a:rPr lang="en-US" altLang="zh-CN" sz="1800" dirty="0"/>
              <a:t>)</a:t>
            </a:r>
          </a:p>
          <a:p>
            <a:r>
              <a:rPr lang="en-US" altLang="zh-CN" sz="1800" b="1" dirty="0"/>
              <a:t>RAID Level 3</a:t>
            </a:r>
            <a:r>
              <a:rPr lang="en-US" altLang="zh-CN" sz="1800" dirty="0"/>
              <a:t>: Bit-Interleaved Parity (</a:t>
            </a:r>
            <a:r>
              <a:rPr lang="zh-CN" altLang="en-US" sz="1800" dirty="0"/>
              <a:t>位交叉的奇偶校验</a:t>
            </a:r>
            <a:r>
              <a:rPr lang="en-US" altLang="zh-CN" sz="1800" dirty="0"/>
              <a:t>)</a:t>
            </a:r>
          </a:p>
          <a:p>
            <a:pPr lvl="1"/>
            <a:r>
              <a:rPr lang="en-US" altLang="zh-CN" sz="1600" dirty="0"/>
              <a:t>a single parity bit is enough for error correction, not just detection, since we know which disk has failed</a:t>
            </a:r>
          </a:p>
          <a:p>
            <a:pPr lvl="2"/>
            <a:r>
              <a:rPr lang="en-US" altLang="zh-CN" sz="1400" dirty="0"/>
              <a:t>When writing data, corresponding parity bits must also be computed and written to a parity bit disk</a:t>
            </a:r>
          </a:p>
          <a:p>
            <a:pPr lvl="2"/>
            <a:r>
              <a:rPr lang="en-US" altLang="zh-CN" sz="1400" dirty="0"/>
              <a:t>To recover data in a damaged disk, compute XOR of bits from other disks (including parity bit disk) </a:t>
            </a:r>
          </a:p>
          <a:p>
            <a:endParaRPr lang="zh-CN" altLang="en-US" sz="1800" dirty="0"/>
          </a:p>
        </p:txBody>
      </p:sp>
      <p:pic>
        <p:nvPicPr>
          <p:cNvPr id="4" name="Picture 5">
            <a:extLst>
              <a:ext uri="{FF2B5EF4-FFF2-40B4-BE49-F238E27FC236}">
                <a16:creationId xmlns:a16="http://schemas.microsoft.com/office/drawing/2014/main" id="{2F0408E5-6B95-4C4F-96DF-AFF7A29197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118" t="27538" r="29886" b="45334"/>
          <a:stretch>
            <a:fillRect/>
          </a:stretch>
        </p:blipFill>
        <p:spPr bwMode="auto">
          <a:xfrm>
            <a:off x="2953320" y="3363838"/>
            <a:ext cx="3165351" cy="1571530"/>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7794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E689A0-0DDE-4375-B6EF-80FBD5D10F4D}"/>
              </a:ext>
            </a:extLst>
          </p:cNvPr>
          <p:cNvSpPr>
            <a:spLocks noGrp="1"/>
          </p:cNvSpPr>
          <p:nvPr>
            <p:ph type="title"/>
          </p:nvPr>
        </p:nvSpPr>
        <p:spPr/>
        <p:txBody>
          <a:bodyPr/>
          <a:lstStyle/>
          <a:p>
            <a:pPr algn="ctr"/>
            <a:r>
              <a:rPr lang="en-US" altLang="zh-CN" dirty="0"/>
              <a:t>RAID Levels (Cont.)</a:t>
            </a:r>
            <a:endParaRPr lang="zh-CN" altLang="en-US" dirty="0"/>
          </a:p>
        </p:txBody>
      </p:sp>
      <p:sp>
        <p:nvSpPr>
          <p:cNvPr id="3" name="内容占位符 2">
            <a:extLst>
              <a:ext uri="{FF2B5EF4-FFF2-40B4-BE49-F238E27FC236}">
                <a16:creationId xmlns:a16="http://schemas.microsoft.com/office/drawing/2014/main" id="{85BE6DD6-50CD-4343-9167-06471AD80FEB}"/>
              </a:ext>
            </a:extLst>
          </p:cNvPr>
          <p:cNvSpPr>
            <a:spLocks noGrp="1"/>
          </p:cNvSpPr>
          <p:nvPr>
            <p:ph idx="1"/>
          </p:nvPr>
        </p:nvSpPr>
        <p:spPr/>
        <p:txBody>
          <a:bodyPr/>
          <a:lstStyle/>
          <a:p>
            <a:r>
              <a:rPr lang="en-US" altLang="zh-CN" sz="1800" b="1" dirty="0"/>
              <a:t>RAID Level 3 (Cont.)</a:t>
            </a:r>
          </a:p>
          <a:p>
            <a:pPr lvl="1"/>
            <a:r>
              <a:rPr lang="en-US" altLang="zh-CN" sz="1400" dirty="0"/>
              <a:t>Faster data transfer than with a single disk, but fewer I/</a:t>
            </a:r>
            <a:r>
              <a:rPr lang="en-US" altLang="zh-CN" sz="1400" dirty="0" err="1"/>
              <a:t>Os</a:t>
            </a:r>
            <a:r>
              <a:rPr lang="en-US" altLang="zh-CN" sz="1400" dirty="0"/>
              <a:t> per second since every disk has to participate in every I/O. </a:t>
            </a:r>
          </a:p>
          <a:p>
            <a:pPr lvl="1"/>
            <a:r>
              <a:rPr lang="en-US" altLang="zh-CN" sz="1400" dirty="0"/>
              <a:t>Subsumes Level 2 (provides all its benefits, at lower cost). </a:t>
            </a:r>
          </a:p>
          <a:p>
            <a:r>
              <a:rPr lang="en-US" altLang="zh-CN" sz="1800" b="1" dirty="0"/>
              <a:t>RAID Level 4</a:t>
            </a:r>
          </a:p>
          <a:p>
            <a:pPr lvl="1"/>
            <a:r>
              <a:rPr lang="en-US" altLang="zh-CN" sz="1400" dirty="0"/>
              <a:t>Block-Interleaved Parity(</a:t>
            </a:r>
            <a:r>
              <a:rPr lang="zh-CN" altLang="en-US" sz="1400" dirty="0"/>
              <a:t>块交叉的奇偶校验</a:t>
            </a:r>
            <a:r>
              <a:rPr lang="en-US" altLang="zh-CN" sz="1400" dirty="0"/>
              <a:t>); uses block-level striping, and keeps a parity block on a separate disk for corresponding blocks from N other disks.</a:t>
            </a:r>
          </a:p>
          <a:p>
            <a:pPr lvl="1"/>
            <a:r>
              <a:rPr lang="en-US" altLang="zh-CN" sz="1400" dirty="0"/>
              <a:t>When writing data block, corresponding block of parity bits must also be computed and written to parity disk</a:t>
            </a:r>
          </a:p>
          <a:p>
            <a:pPr lvl="1"/>
            <a:r>
              <a:rPr lang="en-US" altLang="zh-CN" sz="1400" dirty="0"/>
              <a:t>To find value of a damaged block, compute XOR of bits from corresponding blocks (including parity block) from other disks.</a:t>
            </a:r>
          </a:p>
          <a:p>
            <a:endParaRPr lang="zh-CN" altLang="en-US" sz="1800" dirty="0"/>
          </a:p>
        </p:txBody>
      </p:sp>
      <p:pic>
        <p:nvPicPr>
          <p:cNvPr id="4" name="Picture 2052">
            <a:extLst>
              <a:ext uri="{FF2B5EF4-FFF2-40B4-BE49-F238E27FC236}">
                <a16:creationId xmlns:a16="http://schemas.microsoft.com/office/drawing/2014/main" id="{AE21A720-D6F4-48F3-BA89-6D284E0DE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118" t="55278" r="29886" b="30037"/>
          <a:stretch>
            <a:fillRect/>
          </a:stretch>
        </p:blipFill>
        <p:spPr bwMode="auto">
          <a:xfrm>
            <a:off x="3347864" y="3939902"/>
            <a:ext cx="3640050" cy="977874"/>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036244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F923C4-6A0F-49E7-A464-97CA0C048AA8}"/>
              </a:ext>
            </a:extLst>
          </p:cNvPr>
          <p:cNvSpPr>
            <a:spLocks noGrp="1"/>
          </p:cNvSpPr>
          <p:nvPr>
            <p:ph type="title"/>
          </p:nvPr>
        </p:nvSpPr>
        <p:spPr/>
        <p:txBody>
          <a:bodyPr/>
          <a:lstStyle/>
          <a:p>
            <a:pPr algn="ctr"/>
            <a:r>
              <a:rPr lang="en-US" altLang="zh-CN" dirty="0"/>
              <a:t>RAID Levels (Cont.)</a:t>
            </a:r>
            <a:endParaRPr lang="zh-CN" altLang="en-US" dirty="0"/>
          </a:p>
        </p:txBody>
      </p:sp>
      <p:sp>
        <p:nvSpPr>
          <p:cNvPr id="3" name="内容占位符 2">
            <a:extLst>
              <a:ext uri="{FF2B5EF4-FFF2-40B4-BE49-F238E27FC236}">
                <a16:creationId xmlns:a16="http://schemas.microsoft.com/office/drawing/2014/main" id="{4C23EE6D-9F11-4D4F-8AD2-B521499F6CF5}"/>
              </a:ext>
            </a:extLst>
          </p:cNvPr>
          <p:cNvSpPr>
            <a:spLocks noGrp="1"/>
          </p:cNvSpPr>
          <p:nvPr>
            <p:ph idx="1"/>
          </p:nvPr>
        </p:nvSpPr>
        <p:spPr>
          <a:xfrm>
            <a:off x="287524" y="771549"/>
            <a:ext cx="8568952" cy="3702735"/>
          </a:xfrm>
        </p:spPr>
        <p:txBody>
          <a:bodyPr/>
          <a:lstStyle/>
          <a:p>
            <a:r>
              <a:rPr lang="en-US" altLang="zh-CN" sz="1800" b="1" dirty="0"/>
              <a:t>RAID Level 4 (Cont.)</a:t>
            </a:r>
          </a:p>
          <a:p>
            <a:pPr lvl="1"/>
            <a:r>
              <a:rPr lang="en-US" altLang="zh-CN" sz="1800" dirty="0"/>
              <a:t>Provides higher I/O rates for independent block reads than Level 3 </a:t>
            </a:r>
          </a:p>
          <a:p>
            <a:pPr lvl="2"/>
            <a:r>
              <a:rPr lang="en-US" altLang="zh-CN" sz="1600" dirty="0"/>
              <a:t>block read goes to a single disk, so blocks stored on different disks can be read in parallel</a:t>
            </a:r>
          </a:p>
          <a:p>
            <a:pPr lvl="1"/>
            <a:r>
              <a:rPr lang="en-US" altLang="zh-CN" sz="1800" dirty="0"/>
              <a:t>Provides high transfer rates for reads of multiple blocks than no-striping</a:t>
            </a:r>
          </a:p>
          <a:p>
            <a:pPr lvl="1"/>
            <a:r>
              <a:rPr lang="en-US" altLang="zh-CN" sz="1800" dirty="0"/>
              <a:t>Before writing a block, parity data must be computed </a:t>
            </a:r>
          </a:p>
          <a:p>
            <a:pPr lvl="2"/>
            <a:r>
              <a:rPr lang="en-US" altLang="zh-CN" sz="1600" dirty="0"/>
              <a:t>Can be done by using old parity block, old value of current block and new value of current block (2 block reads + 2 block writes)</a:t>
            </a:r>
          </a:p>
          <a:p>
            <a:pPr lvl="3"/>
            <a:r>
              <a:rPr lang="en-US" altLang="zh-CN" sz="1400" dirty="0"/>
              <a:t>More efficient for writing large amounts of data sequentially</a:t>
            </a:r>
          </a:p>
          <a:p>
            <a:pPr lvl="1"/>
            <a:r>
              <a:rPr lang="en-US" altLang="zh-CN" sz="1800" dirty="0"/>
              <a:t>Parity block becomes a bottleneck for independent block writes since every block write also writes to parity disk</a:t>
            </a:r>
          </a:p>
          <a:p>
            <a:endParaRPr lang="zh-CN" altLang="en-US" sz="2000" dirty="0"/>
          </a:p>
        </p:txBody>
      </p:sp>
    </p:spTree>
    <p:extLst>
      <p:ext uri="{BB962C8B-B14F-4D97-AF65-F5344CB8AC3E}">
        <p14:creationId xmlns:p14="http://schemas.microsoft.com/office/powerpoint/2010/main" val="401856906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9C5F5B-E25A-47FD-A7BE-5C7253D1881C}"/>
              </a:ext>
            </a:extLst>
          </p:cNvPr>
          <p:cNvSpPr>
            <a:spLocks noGrp="1"/>
          </p:cNvSpPr>
          <p:nvPr>
            <p:ph type="title"/>
          </p:nvPr>
        </p:nvSpPr>
        <p:spPr/>
        <p:txBody>
          <a:bodyPr/>
          <a:lstStyle/>
          <a:p>
            <a:pPr algn="ctr"/>
            <a:r>
              <a:rPr lang="en-US" altLang="zh-CN" dirty="0"/>
              <a:t>RAID Levels (Cont.)</a:t>
            </a:r>
            <a:endParaRPr lang="zh-CN" altLang="en-US" dirty="0"/>
          </a:p>
        </p:txBody>
      </p:sp>
      <p:sp>
        <p:nvSpPr>
          <p:cNvPr id="3" name="内容占位符 2">
            <a:extLst>
              <a:ext uri="{FF2B5EF4-FFF2-40B4-BE49-F238E27FC236}">
                <a16:creationId xmlns:a16="http://schemas.microsoft.com/office/drawing/2014/main" id="{E2037755-55C4-47D0-9A31-ED0F0D08EE67}"/>
              </a:ext>
            </a:extLst>
          </p:cNvPr>
          <p:cNvSpPr>
            <a:spLocks noGrp="1"/>
          </p:cNvSpPr>
          <p:nvPr>
            <p:ph idx="1"/>
          </p:nvPr>
        </p:nvSpPr>
        <p:spPr/>
        <p:txBody>
          <a:bodyPr/>
          <a:lstStyle/>
          <a:p>
            <a:r>
              <a:rPr lang="en-US" altLang="zh-CN" sz="2000" b="1" dirty="0"/>
              <a:t>RAID Level 5</a:t>
            </a:r>
          </a:p>
          <a:p>
            <a:pPr lvl="1"/>
            <a:r>
              <a:rPr lang="en-US" altLang="zh-CN" sz="1600" dirty="0"/>
              <a:t>Block-Interleaved Distributed Parity(</a:t>
            </a:r>
            <a:r>
              <a:rPr lang="zh-CN" altLang="en-US" sz="1600" dirty="0"/>
              <a:t>块交叉的分布奇偶校验</a:t>
            </a:r>
            <a:r>
              <a:rPr lang="en-US" altLang="zh-CN" sz="1600" dirty="0"/>
              <a:t>); partitions data and parity among all N + 1 disks, rather than storing data in N disks and parity in 1 disk.</a:t>
            </a:r>
          </a:p>
          <a:p>
            <a:pPr lvl="1"/>
            <a:r>
              <a:rPr lang="en-US" altLang="zh-CN" sz="1600" dirty="0"/>
              <a:t>E.g., with 5 disks, parity block for n-</a:t>
            </a:r>
            <a:r>
              <a:rPr lang="en-US" altLang="zh-CN" sz="1600" dirty="0" err="1"/>
              <a:t>th</a:t>
            </a:r>
            <a:r>
              <a:rPr lang="en-US" altLang="zh-CN" sz="1600" dirty="0"/>
              <a:t> set of blocks is stored on disk (n mod 5) + 1, with the data blocks stored on the other 4 disks.</a:t>
            </a:r>
          </a:p>
          <a:p>
            <a:endParaRPr lang="zh-CN" altLang="en-US" sz="2000" dirty="0"/>
          </a:p>
        </p:txBody>
      </p:sp>
      <p:pic>
        <p:nvPicPr>
          <p:cNvPr id="6" name="Graphic 5">
            <a:extLst>
              <a:ext uri="{FF2B5EF4-FFF2-40B4-BE49-F238E27FC236}">
                <a16:creationId xmlns:a16="http://schemas.microsoft.com/office/drawing/2014/main" id="{7A283782-0137-4DC6-B62C-4B6B6FECB1DF}"/>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1908" t="48619" b="25063"/>
          <a:stretch/>
        </p:blipFill>
        <p:spPr>
          <a:xfrm>
            <a:off x="755576" y="2787774"/>
            <a:ext cx="4413816" cy="1218270"/>
          </a:xfrm>
          <a:prstGeom prst="rect">
            <a:avLst/>
          </a:prstGeom>
        </p:spPr>
      </p:pic>
      <p:pic>
        <p:nvPicPr>
          <p:cNvPr id="7" name="Graphic 6">
            <a:extLst>
              <a:ext uri="{FF2B5EF4-FFF2-40B4-BE49-F238E27FC236}">
                <a16:creationId xmlns:a16="http://schemas.microsoft.com/office/drawing/2014/main" id="{4DA5CE1B-6400-4C66-8555-54DB7558AE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60032" y="2677061"/>
            <a:ext cx="3125684" cy="1601431"/>
          </a:xfrm>
          <a:prstGeom prst="rect">
            <a:avLst/>
          </a:prstGeom>
        </p:spPr>
      </p:pic>
    </p:spTree>
    <p:extLst>
      <p:ext uri="{BB962C8B-B14F-4D97-AF65-F5344CB8AC3E}">
        <p14:creationId xmlns:p14="http://schemas.microsoft.com/office/powerpoint/2010/main" val="213726446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E8A14B-1138-473B-9603-0745061DEBEE}"/>
              </a:ext>
            </a:extLst>
          </p:cNvPr>
          <p:cNvSpPr>
            <a:spLocks noGrp="1"/>
          </p:cNvSpPr>
          <p:nvPr>
            <p:ph type="title"/>
          </p:nvPr>
        </p:nvSpPr>
        <p:spPr/>
        <p:txBody>
          <a:bodyPr/>
          <a:lstStyle/>
          <a:p>
            <a:pPr algn="ctr"/>
            <a:r>
              <a:rPr lang="en-US" altLang="zh-CN" dirty="0"/>
              <a:t>RAID Levels (Cont.)</a:t>
            </a:r>
            <a:endParaRPr lang="zh-CN" altLang="en-US" dirty="0"/>
          </a:p>
        </p:txBody>
      </p:sp>
      <p:sp>
        <p:nvSpPr>
          <p:cNvPr id="3" name="内容占位符 2">
            <a:extLst>
              <a:ext uri="{FF2B5EF4-FFF2-40B4-BE49-F238E27FC236}">
                <a16:creationId xmlns:a16="http://schemas.microsoft.com/office/drawing/2014/main" id="{F129B657-215A-460B-9842-8142CA0ACA3C}"/>
              </a:ext>
            </a:extLst>
          </p:cNvPr>
          <p:cNvSpPr>
            <a:spLocks noGrp="1"/>
          </p:cNvSpPr>
          <p:nvPr>
            <p:ph idx="1"/>
          </p:nvPr>
        </p:nvSpPr>
        <p:spPr/>
        <p:txBody>
          <a:bodyPr/>
          <a:lstStyle/>
          <a:p>
            <a:r>
              <a:rPr lang="en-US" altLang="zh-CN" sz="2000" b="1" dirty="0"/>
              <a:t>RAID Level 5 (Cont.)</a:t>
            </a:r>
          </a:p>
          <a:p>
            <a:pPr lvl="1"/>
            <a:r>
              <a:rPr lang="en-US" altLang="zh-CN" sz="1800" dirty="0"/>
              <a:t>Higher I/O rates than Level 4.  </a:t>
            </a:r>
          </a:p>
          <a:p>
            <a:pPr lvl="2"/>
            <a:r>
              <a:rPr lang="en-US" altLang="zh-CN" sz="1600" dirty="0"/>
              <a:t>Block writes occur in parallel if the blocks and their parity blocks are on different disks.</a:t>
            </a:r>
          </a:p>
          <a:p>
            <a:pPr lvl="1"/>
            <a:r>
              <a:rPr lang="en-US" altLang="zh-CN" sz="1600" dirty="0"/>
              <a:t>Subsumes Level 4: provides same benefits, but avoids bottleneck of parity disk.</a:t>
            </a:r>
          </a:p>
          <a:p>
            <a:r>
              <a:rPr lang="en-US" altLang="zh-CN" sz="2000" b="1" dirty="0"/>
              <a:t>RAID Level 6</a:t>
            </a:r>
          </a:p>
          <a:p>
            <a:pPr lvl="1"/>
            <a:r>
              <a:rPr lang="en-US" altLang="zh-CN" sz="1600" dirty="0"/>
              <a:t>P+Q Redundancy scheme; similar to Level 5, but stores extra redundant information to guard against multiple disk failures. </a:t>
            </a:r>
          </a:p>
          <a:p>
            <a:pPr lvl="1"/>
            <a:r>
              <a:rPr lang="en-US" altLang="zh-CN" sz="1600" dirty="0"/>
              <a:t>Better reliability than Level 5 at a higher cost; not used as widely. </a:t>
            </a:r>
          </a:p>
          <a:p>
            <a:endParaRPr lang="zh-CN" altLang="en-US" sz="2000" dirty="0"/>
          </a:p>
        </p:txBody>
      </p:sp>
      <p:pic>
        <p:nvPicPr>
          <p:cNvPr id="5" name="Graphic 4">
            <a:extLst>
              <a:ext uri="{FF2B5EF4-FFF2-40B4-BE49-F238E27FC236}">
                <a16:creationId xmlns:a16="http://schemas.microsoft.com/office/drawing/2014/main" id="{95A42F48-4B1F-445D-8F71-290789E5F25E}"/>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73230" b="452"/>
          <a:stretch/>
        </p:blipFill>
        <p:spPr>
          <a:xfrm>
            <a:off x="2051720" y="3603802"/>
            <a:ext cx="4653058" cy="1131367"/>
          </a:xfrm>
          <a:prstGeom prst="rect">
            <a:avLst/>
          </a:prstGeom>
        </p:spPr>
      </p:pic>
    </p:spTree>
    <p:extLst>
      <p:ext uri="{BB962C8B-B14F-4D97-AF65-F5344CB8AC3E}">
        <p14:creationId xmlns:p14="http://schemas.microsoft.com/office/powerpoint/2010/main" val="2360873128"/>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7F4118-B4A2-4A34-8322-03C53AB4D925}"/>
              </a:ext>
            </a:extLst>
          </p:cNvPr>
          <p:cNvSpPr>
            <a:spLocks noGrp="1"/>
          </p:cNvSpPr>
          <p:nvPr>
            <p:ph type="title"/>
          </p:nvPr>
        </p:nvSpPr>
        <p:spPr/>
        <p:txBody>
          <a:bodyPr/>
          <a:lstStyle/>
          <a:p>
            <a:pPr algn="ctr"/>
            <a:r>
              <a:rPr lang="en-US" altLang="zh-CN" dirty="0"/>
              <a:t>Choice of RAID Level</a:t>
            </a:r>
            <a:endParaRPr lang="zh-CN" altLang="en-US" dirty="0"/>
          </a:p>
        </p:txBody>
      </p:sp>
      <p:sp>
        <p:nvSpPr>
          <p:cNvPr id="3" name="内容占位符 2">
            <a:extLst>
              <a:ext uri="{FF2B5EF4-FFF2-40B4-BE49-F238E27FC236}">
                <a16:creationId xmlns:a16="http://schemas.microsoft.com/office/drawing/2014/main" id="{CE2FFFE2-07FE-4A81-B221-2FD6C9937C47}"/>
              </a:ext>
            </a:extLst>
          </p:cNvPr>
          <p:cNvSpPr>
            <a:spLocks noGrp="1"/>
          </p:cNvSpPr>
          <p:nvPr>
            <p:ph idx="1"/>
          </p:nvPr>
        </p:nvSpPr>
        <p:spPr>
          <a:xfrm>
            <a:off x="179512" y="669215"/>
            <a:ext cx="8856984" cy="3805070"/>
          </a:xfrm>
        </p:spPr>
        <p:txBody>
          <a:bodyPr/>
          <a:lstStyle/>
          <a:p>
            <a:r>
              <a:rPr lang="en-US" altLang="zh-CN" sz="1800" dirty="0"/>
              <a:t>Factors in choosing RAID level</a:t>
            </a:r>
          </a:p>
          <a:p>
            <a:pPr lvl="1"/>
            <a:r>
              <a:rPr lang="en-US" altLang="zh-CN" sz="1400" dirty="0"/>
              <a:t>Monetary cost</a:t>
            </a:r>
          </a:p>
          <a:p>
            <a:pPr lvl="1"/>
            <a:r>
              <a:rPr lang="en-US" altLang="zh-CN" sz="1400" dirty="0"/>
              <a:t>Performance: Number of I/O operations per second, and bandwidth during normal operation</a:t>
            </a:r>
          </a:p>
          <a:p>
            <a:pPr lvl="1"/>
            <a:r>
              <a:rPr lang="en-US" altLang="zh-CN" sz="1400" dirty="0"/>
              <a:t>Performance during failure</a:t>
            </a:r>
          </a:p>
          <a:p>
            <a:pPr lvl="1"/>
            <a:r>
              <a:rPr lang="en-US" altLang="zh-CN" sz="1400" dirty="0"/>
              <a:t>Performance during rebuild of failed disk</a:t>
            </a:r>
          </a:p>
          <a:p>
            <a:pPr lvl="2"/>
            <a:r>
              <a:rPr lang="en-US" altLang="zh-CN" sz="1200" dirty="0"/>
              <a:t>Including time taken to rebuild failed disk</a:t>
            </a:r>
          </a:p>
          <a:p>
            <a:r>
              <a:rPr lang="en-US" altLang="zh-CN" sz="1800" dirty="0"/>
              <a:t>RAID 0 is used only when data safety is not important </a:t>
            </a:r>
          </a:p>
          <a:p>
            <a:pPr lvl="1"/>
            <a:r>
              <a:rPr lang="en-US" altLang="zh-CN" sz="1400" dirty="0"/>
              <a:t>E.g. data can be recovered quickly from other sources</a:t>
            </a:r>
          </a:p>
          <a:p>
            <a:r>
              <a:rPr lang="en-US" altLang="zh-CN" sz="1800" dirty="0"/>
              <a:t>Level 2 and 4 never used since they are subsumed by 3 and 5</a:t>
            </a:r>
          </a:p>
          <a:p>
            <a:r>
              <a:rPr lang="en-US" altLang="zh-CN" sz="1800" dirty="0"/>
              <a:t>Level 3 is not used anymore since bit-striping forces single block reads to access all disks, wasting disk arm movement, which block striping (level 5) avoids</a:t>
            </a:r>
          </a:p>
          <a:p>
            <a:r>
              <a:rPr lang="en-US" altLang="zh-CN" sz="1800" dirty="0"/>
              <a:t>Level 6 is rarely used since levels 1 and 5 offer adequate safety for almost all applications</a:t>
            </a:r>
          </a:p>
          <a:p>
            <a:r>
              <a:rPr lang="en-US" altLang="zh-CN" sz="1800" dirty="0"/>
              <a:t>So competition is between 1 and 5 only</a:t>
            </a:r>
            <a:endParaRPr lang="zh-CN" altLang="en-US" sz="1800" dirty="0"/>
          </a:p>
        </p:txBody>
      </p:sp>
    </p:spTree>
    <p:extLst>
      <p:ext uri="{BB962C8B-B14F-4D97-AF65-F5344CB8AC3E}">
        <p14:creationId xmlns:p14="http://schemas.microsoft.com/office/powerpoint/2010/main" val="1246723518"/>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3A2A77-595B-48FC-98F9-213510172426}"/>
              </a:ext>
            </a:extLst>
          </p:cNvPr>
          <p:cNvSpPr>
            <a:spLocks noGrp="1"/>
          </p:cNvSpPr>
          <p:nvPr>
            <p:ph type="title"/>
          </p:nvPr>
        </p:nvSpPr>
        <p:spPr/>
        <p:txBody>
          <a:bodyPr/>
          <a:lstStyle/>
          <a:p>
            <a:pPr algn="ctr"/>
            <a:r>
              <a:rPr lang="en-US" altLang="zh-CN" dirty="0"/>
              <a:t>Choice of RAID Level (Cont.)</a:t>
            </a:r>
            <a:endParaRPr lang="zh-CN" altLang="en-US" dirty="0"/>
          </a:p>
        </p:txBody>
      </p:sp>
      <p:sp>
        <p:nvSpPr>
          <p:cNvPr id="3" name="内容占位符 2">
            <a:extLst>
              <a:ext uri="{FF2B5EF4-FFF2-40B4-BE49-F238E27FC236}">
                <a16:creationId xmlns:a16="http://schemas.microsoft.com/office/drawing/2014/main" id="{8E7D8C64-48FF-4D64-8BD8-572EFB556964}"/>
              </a:ext>
            </a:extLst>
          </p:cNvPr>
          <p:cNvSpPr>
            <a:spLocks noGrp="1"/>
          </p:cNvSpPr>
          <p:nvPr>
            <p:ph idx="1"/>
          </p:nvPr>
        </p:nvSpPr>
        <p:spPr>
          <a:xfrm>
            <a:off x="179512" y="669215"/>
            <a:ext cx="8568952" cy="3805070"/>
          </a:xfrm>
        </p:spPr>
        <p:txBody>
          <a:bodyPr/>
          <a:lstStyle/>
          <a:p>
            <a:r>
              <a:rPr lang="en-US" altLang="zh-CN" sz="2000" dirty="0"/>
              <a:t>Level 1 provides much better write performance than level 5</a:t>
            </a:r>
          </a:p>
          <a:p>
            <a:pPr lvl="1"/>
            <a:r>
              <a:rPr lang="en-US" altLang="zh-CN" sz="1600" dirty="0"/>
              <a:t>Level 5 requires at least 2 block reads and 2 block writes to write a single block, whereas Level 1 only requires 2 block writes</a:t>
            </a:r>
          </a:p>
          <a:p>
            <a:pPr lvl="1"/>
            <a:r>
              <a:rPr lang="en-US" altLang="zh-CN" sz="1600" dirty="0"/>
              <a:t>Level 1 preferred for high update environments such as log disks</a:t>
            </a:r>
          </a:p>
          <a:p>
            <a:r>
              <a:rPr lang="en-US" altLang="zh-CN" sz="2000" dirty="0"/>
              <a:t>Level 1 had higher storage cost than level 5</a:t>
            </a:r>
          </a:p>
          <a:p>
            <a:pPr lvl="1"/>
            <a:r>
              <a:rPr lang="en-US" altLang="zh-CN" sz="1600" dirty="0"/>
              <a:t>disk drive capacities increasing rapidly (50%/year) whereas disk access times have decreased much less (x 3 in 10 years)</a:t>
            </a:r>
          </a:p>
          <a:p>
            <a:pPr lvl="1"/>
            <a:r>
              <a:rPr lang="en-US" altLang="zh-CN" sz="1600" dirty="0"/>
              <a:t>I/O requirements have increased greatly, e.g. for Web servers</a:t>
            </a:r>
          </a:p>
          <a:p>
            <a:pPr lvl="1"/>
            <a:r>
              <a:rPr lang="en-US" altLang="zh-CN" sz="1600" dirty="0"/>
              <a:t>When enough disks have been bought to satisfy required rate of I/O, they often have spare storage capacity</a:t>
            </a:r>
          </a:p>
          <a:p>
            <a:pPr lvl="2"/>
            <a:r>
              <a:rPr lang="en-US" altLang="zh-CN" sz="1400" dirty="0"/>
              <a:t>so there is often no extra monetary cost for Level 1!</a:t>
            </a:r>
          </a:p>
          <a:p>
            <a:r>
              <a:rPr lang="en-US" altLang="zh-CN" sz="2000" dirty="0"/>
              <a:t>Level 5 is preferred for applications with low update rate, and large amounts of data</a:t>
            </a:r>
          </a:p>
          <a:p>
            <a:r>
              <a:rPr lang="en-US" altLang="zh-CN" sz="2000" dirty="0"/>
              <a:t>Level 1 is preferred for all other applications</a:t>
            </a:r>
            <a:endParaRPr lang="zh-CN" altLang="en-US" sz="2000" dirty="0"/>
          </a:p>
        </p:txBody>
      </p:sp>
    </p:spTree>
    <p:extLst>
      <p:ext uri="{BB962C8B-B14F-4D97-AF65-F5344CB8AC3E}">
        <p14:creationId xmlns:p14="http://schemas.microsoft.com/office/powerpoint/2010/main" val="550304280"/>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E133E2-9C9F-4717-BEFA-78580A6CC6CC}"/>
              </a:ext>
            </a:extLst>
          </p:cNvPr>
          <p:cNvSpPr>
            <a:spLocks noGrp="1"/>
          </p:cNvSpPr>
          <p:nvPr>
            <p:ph type="title"/>
          </p:nvPr>
        </p:nvSpPr>
        <p:spPr>
          <a:xfrm>
            <a:off x="0" y="-20538"/>
            <a:ext cx="9144000" cy="637580"/>
          </a:xfrm>
        </p:spPr>
        <p:txBody>
          <a:bodyPr/>
          <a:lstStyle/>
          <a:p>
            <a:pPr algn="ctr"/>
            <a:r>
              <a:rPr lang="en-US" altLang="zh-CN" dirty="0"/>
              <a:t>Hardware Issues</a:t>
            </a:r>
            <a:endParaRPr lang="zh-CN" altLang="en-US" dirty="0"/>
          </a:p>
        </p:txBody>
      </p:sp>
      <p:sp>
        <p:nvSpPr>
          <p:cNvPr id="3" name="内容占位符 2">
            <a:extLst>
              <a:ext uri="{FF2B5EF4-FFF2-40B4-BE49-F238E27FC236}">
                <a16:creationId xmlns:a16="http://schemas.microsoft.com/office/drawing/2014/main" id="{6BA66A4E-7235-4744-8601-027865B7865C}"/>
              </a:ext>
            </a:extLst>
          </p:cNvPr>
          <p:cNvSpPr>
            <a:spLocks noGrp="1"/>
          </p:cNvSpPr>
          <p:nvPr>
            <p:ph idx="1"/>
          </p:nvPr>
        </p:nvSpPr>
        <p:spPr>
          <a:xfrm>
            <a:off x="179512" y="669215"/>
            <a:ext cx="8568952" cy="3805070"/>
          </a:xfrm>
        </p:spPr>
        <p:txBody>
          <a:bodyPr/>
          <a:lstStyle/>
          <a:p>
            <a:r>
              <a:rPr lang="en-US" altLang="zh-CN" sz="2000" dirty="0"/>
              <a:t>Software RAID:  RAID implementations done entirely in software, with no special hardware support</a:t>
            </a:r>
          </a:p>
          <a:p>
            <a:r>
              <a:rPr lang="en-US" altLang="zh-CN" sz="2000" dirty="0"/>
              <a:t>Hardware RAID:  RAID implementations with special hardware</a:t>
            </a:r>
          </a:p>
          <a:p>
            <a:pPr lvl="1"/>
            <a:r>
              <a:rPr lang="en-US" altLang="zh-CN" sz="1800" dirty="0"/>
              <a:t>Use non-volatile RAM to record writes that are being executed</a:t>
            </a:r>
          </a:p>
          <a:p>
            <a:pPr lvl="1"/>
            <a:r>
              <a:rPr lang="en-US" altLang="zh-CN" sz="1800" dirty="0"/>
              <a:t>Beware:  power failure during write can result in corrupted disk</a:t>
            </a:r>
          </a:p>
          <a:p>
            <a:pPr lvl="2"/>
            <a:r>
              <a:rPr lang="en-US" altLang="zh-CN" dirty="0"/>
              <a:t>E.g., failure after writing one block but before writing the second in a mirrored system</a:t>
            </a:r>
          </a:p>
          <a:p>
            <a:pPr lvl="2"/>
            <a:r>
              <a:rPr lang="en-US" altLang="zh-CN" dirty="0"/>
              <a:t>Such corrupted data must be detected when power is restored</a:t>
            </a:r>
          </a:p>
          <a:p>
            <a:pPr lvl="3"/>
            <a:r>
              <a:rPr lang="en-US" altLang="zh-CN" dirty="0"/>
              <a:t>Recovery from corruption is similar to recovery from failed disk</a:t>
            </a:r>
          </a:p>
          <a:p>
            <a:pPr lvl="3"/>
            <a:r>
              <a:rPr lang="en-US" altLang="zh-CN" dirty="0"/>
              <a:t>NV-RAM helps to efficiently detect potentially corrupted blocks</a:t>
            </a:r>
          </a:p>
          <a:p>
            <a:pPr lvl="4"/>
            <a:r>
              <a:rPr lang="en-US" altLang="zh-CN" dirty="0"/>
              <a:t>Otherwise all blocks of disk must be read and compared with mirror/parity block</a:t>
            </a:r>
          </a:p>
          <a:p>
            <a:endParaRPr lang="zh-CN" altLang="en-US" sz="2000" dirty="0"/>
          </a:p>
        </p:txBody>
      </p:sp>
    </p:spTree>
    <p:extLst>
      <p:ext uri="{BB962C8B-B14F-4D97-AF65-F5344CB8AC3E}">
        <p14:creationId xmlns:p14="http://schemas.microsoft.com/office/powerpoint/2010/main" val="95472168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2E407B-2F9F-4F12-9734-80D1D4D8B104}"/>
              </a:ext>
            </a:extLst>
          </p:cNvPr>
          <p:cNvSpPr>
            <a:spLocks noGrp="1"/>
          </p:cNvSpPr>
          <p:nvPr>
            <p:ph type="title"/>
          </p:nvPr>
        </p:nvSpPr>
        <p:spPr/>
        <p:txBody>
          <a:bodyPr/>
          <a:lstStyle/>
          <a:p>
            <a:pPr algn="ctr"/>
            <a:r>
              <a:rPr lang="en-US" altLang="zh-CN" dirty="0"/>
              <a:t>Hardware Issues (Cont.)</a:t>
            </a:r>
            <a:endParaRPr lang="zh-CN" altLang="en-US" dirty="0"/>
          </a:p>
        </p:txBody>
      </p:sp>
      <p:sp>
        <p:nvSpPr>
          <p:cNvPr id="3" name="内容占位符 2">
            <a:extLst>
              <a:ext uri="{FF2B5EF4-FFF2-40B4-BE49-F238E27FC236}">
                <a16:creationId xmlns:a16="http://schemas.microsoft.com/office/drawing/2014/main" id="{E4A359B0-254B-4B93-9212-7EB3E8BB88B9}"/>
              </a:ext>
            </a:extLst>
          </p:cNvPr>
          <p:cNvSpPr>
            <a:spLocks noGrp="1"/>
          </p:cNvSpPr>
          <p:nvPr>
            <p:ph idx="1"/>
          </p:nvPr>
        </p:nvSpPr>
        <p:spPr/>
        <p:txBody>
          <a:bodyPr/>
          <a:lstStyle/>
          <a:p>
            <a:r>
              <a:rPr lang="en-US" altLang="zh-CN" sz="1800" b="1" dirty="0"/>
              <a:t>Hot swapping(</a:t>
            </a:r>
            <a:r>
              <a:rPr lang="zh-CN" altLang="en-US" sz="1800" b="1" dirty="0"/>
              <a:t>热交换</a:t>
            </a:r>
            <a:r>
              <a:rPr lang="en-US" altLang="zh-CN" sz="1800" b="1" dirty="0"/>
              <a:t>): </a:t>
            </a:r>
            <a:r>
              <a:rPr lang="en-US" altLang="zh-CN" sz="1800" dirty="0"/>
              <a:t>replacement of disk while system is running, without power down</a:t>
            </a:r>
          </a:p>
          <a:p>
            <a:pPr lvl="1"/>
            <a:r>
              <a:rPr lang="en-US" altLang="zh-CN" sz="1600" dirty="0"/>
              <a:t>Supported by some hardware RAID systems</a:t>
            </a:r>
          </a:p>
          <a:p>
            <a:pPr lvl="1"/>
            <a:r>
              <a:rPr lang="en-US" altLang="zh-CN" sz="1600" dirty="0"/>
              <a:t>reduces time to recovery, and improves availability (</a:t>
            </a:r>
            <a:r>
              <a:rPr lang="zh-CN" altLang="en-US" sz="1600" dirty="0"/>
              <a:t>可用性</a:t>
            </a:r>
            <a:r>
              <a:rPr lang="en-US" altLang="zh-CN" sz="1600" dirty="0"/>
              <a:t>) greatly</a:t>
            </a:r>
          </a:p>
          <a:p>
            <a:r>
              <a:rPr lang="en-US" altLang="zh-CN" sz="1800" dirty="0"/>
              <a:t>Many systems maintain spare disks which are kept online, and used as replacements for failed disks immediately on detection of failure</a:t>
            </a:r>
          </a:p>
          <a:p>
            <a:pPr lvl="1"/>
            <a:r>
              <a:rPr lang="en-US" altLang="zh-CN" sz="1600" dirty="0"/>
              <a:t>Reduces time to recovery greatly</a:t>
            </a:r>
          </a:p>
          <a:p>
            <a:r>
              <a:rPr lang="en-US" altLang="zh-CN" sz="1800" dirty="0"/>
              <a:t>Many hardware RAID systems ensure that a single point of failure will not stop the functioning of the system by using </a:t>
            </a:r>
          </a:p>
          <a:p>
            <a:pPr lvl="1"/>
            <a:r>
              <a:rPr lang="en-US" altLang="zh-CN" sz="1600" dirty="0"/>
              <a:t>Redundant power supplies with battery backup</a:t>
            </a:r>
          </a:p>
          <a:p>
            <a:pPr lvl="1"/>
            <a:r>
              <a:rPr lang="en-US" altLang="zh-CN" sz="1600" dirty="0"/>
              <a:t>Multiple controllers and multiple interconnections to guard against controller/interconnection failures</a:t>
            </a:r>
          </a:p>
          <a:p>
            <a:endParaRPr lang="zh-CN" altLang="en-US" sz="1800" dirty="0"/>
          </a:p>
        </p:txBody>
      </p:sp>
    </p:spTree>
    <p:extLst>
      <p:ext uri="{BB962C8B-B14F-4D97-AF65-F5344CB8AC3E}">
        <p14:creationId xmlns:p14="http://schemas.microsoft.com/office/powerpoint/2010/main" val="336887781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987574"/>
            <a:ext cx="8568952" cy="3456384"/>
          </a:xfrm>
        </p:spPr>
        <p:txBody>
          <a:bodyPr/>
          <a:lstStyle/>
          <a:p>
            <a:r>
              <a:rPr lang="en-US" altLang="zh-CN" dirty="0"/>
              <a:t>Overview of Physical Storage Media</a:t>
            </a:r>
          </a:p>
          <a:p>
            <a:r>
              <a:rPr lang="en-US" altLang="zh-CN" dirty="0"/>
              <a:t>Magnetic Disks</a:t>
            </a:r>
          </a:p>
          <a:p>
            <a:r>
              <a:rPr lang="en-US" altLang="zh-CN" dirty="0"/>
              <a:t>RAID</a:t>
            </a:r>
          </a:p>
          <a:p>
            <a:r>
              <a:rPr lang="en-US" altLang="zh-CN" b="1" dirty="0">
                <a:solidFill>
                  <a:srgbClr val="C00000"/>
                </a:solidFill>
              </a:rPr>
              <a:t>Tertiary Storage </a:t>
            </a:r>
          </a:p>
          <a:p>
            <a:r>
              <a:rPr lang="en-US" altLang="zh-CN" dirty="0"/>
              <a:t>Storage Access</a:t>
            </a:r>
          </a:p>
          <a:p>
            <a:r>
              <a:rPr lang="en-US" altLang="zh-CN" dirty="0"/>
              <a:t>File Organization</a:t>
            </a:r>
          </a:p>
          <a:p>
            <a:r>
              <a:rPr lang="en-US" altLang="zh-CN" dirty="0"/>
              <a:t>Organization of Records in Files</a:t>
            </a:r>
          </a:p>
          <a:p>
            <a:r>
              <a:rPr lang="en-US" altLang="zh-CN" dirty="0"/>
              <a:t>Data-Dictionary Storage</a:t>
            </a:r>
          </a:p>
        </p:txBody>
      </p:sp>
    </p:spTree>
    <p:extLst>
      <p:ext uri="{BB962C8B-B14F-4D97-AF65-F5344CB8AC3E}">
        <p14:creationId xmlns:p14="http://schemas.microsoft.com/office/powerpoint/2010/main" val="680789414"/>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3B7B1F-470F-457E-958D-23415E2A62EE}"/>
              </a:ext>
            </a:extLst>
          </p:cNvPr>
          <p:cNvSpPr>
            <a:spLocks noGrp="1"/>
          </p:cNvSpPr>
          <p:nvPr>
            <p:ph type="title"/>
          </p:nvPr>
        </p:nvSpPr>
        <p:spPr/>
        <p:txBody>
          <a:bodyPr/>
          <a:lstStyle/>
          <a:p>
            <a:pPr algn="ctr"/>
            <a:r>
              <a:rPr lang="en-US" altLang="zh-CN" dirty="0"/>
              <a:t>Optical Disks</a:t>
            </a:r>
            <a:endParaRPr lang="zh-CN" altLang="en-US" dirty="0"/>
          </a:p>
        </p:txBody>
      </p:sp>
      <p:sp>
        <p:nvSpPr>
          <p:cNvPr id="3" name="内容占位符 2">
            <a:extLst>
              <a:ext uri="{FF2B5EF4-FFF2-40B4-BE49-F238E27FC236}">
                <a16:creationId xmlns:a16="http://schemas.microsoft.com/office/drawing/2014/main" id="{1B501CDF-037C-4BD5-82F6-F93F19059DAD}"/>
              </a:ext>
            </a:extLst>
          </p:cNvPr>
          <p:cNvSpPr>
            <a:spLocks noGrp="1"/>
          </p:cNvSpPr>
          <p:nvPr>
            <p:ph idx="1"/>
          </p:nvPr>
        </p:nvSpPr>
        <p:spPr>
          <a:xfrm>
            <a:off x="179512" y="669215"/>
            <a:ext cx="8712968" cy="3805070"/>
          </a:xfrm>
        </p:spPr>
        <p:txBody>
          <a:bodyPr/>
          <a:lstStyle/>
          <a:p>
            <a:r>
              <a:rPr lang="en-US" altLang="zh-CN" sz="1800" dirty="0"/>
              <a:t>Compact disk-read only memory (CD-ROM)</a:t>
            </a:r>
          </a:p>
          <a:p>
            <a:pPr lvl="1"/>
            <a:r>
              <a:rPr lang="en-US" altLang="zh-CN" sz="1400" dirty="0"/>
              <a:t>Removable disks, 640 MB per disk </a:t>
            </a:r>
          </a:p>
          <a:p>
            <a:pPr lvl="1"/>
            <a:r>
              <a:rPr lang="en-US" altLang="zh-CN" sz="1400" dirty="0"/>
              <a:t>Seek time about 100 </a:t>
            </a:r>
            <a:r>
              <a:rPr lang="en-US" altLang="zh-CN" sz="1400" dirty="0" err="1"/>
              <a:t>msec</a:t>
            </a:r>
            <a:r>
              <a:rPr lang="en-US" altLang="zh-CN" sz="1400" dirty="0"/>
              <a:t> (optical read head is heavier and slower)</a:t>
            </a:r>
          </a:p>
          <a:p>
            <a:pPr lvl="1"/>
            <a:r>
              <a:rPr lang="en-US" altLang="zh-CN" sz="1400" dirty="0"/>
              <a:t>Higher latency (3000 RPM) and lower data-transfer rates (3-6 MB/s) compared to magnetic disks</a:t>
            </a:r>
          </a:p>
          <a:p>
            <a:r>
              <a:rPr lang="en-US" altLang="zh-CN" sz="1800" dirty="0"/>
              <a:t>Digital Video Disk (DVD) </a:t>
            </a:r>
          </a:p>
          <a:p>
            <a:pPr lvl="1"/>
            <a:r>
              <a:rPr lang="en-US" altLang="zh-CN" sz="1400" dirty="0"/>
              <a:t>DVD-5  holds 4.7 GB , and DVD-9 holds 8.5 GB </a:t>
            </a:r>
          </a:p>
          <a:p>
            <a:pPr lvl="1"/>
            <a:r>
              <a:rPr lang="en-US" altLang="zh-CN" sz="1400" dirty="0"/>
              <a:t>DVD-10 and DVD-18 are double sided formats with capacities of 9.4 GB and 17 GB</a:t>
            </a:r>
          </a:p>
          <a:p>
            <a:pPr lvl="1"/>
            <a:r>
              <a:rPr lang="en-US" altLang="zh-CN" sz="1400" dirty="0"/>
              <a:t>Slow seek time, for same reasons as CD-ROM </a:t>
            </a:r>
          </a:p>
          <a:p>
            <a:r>
              <a:rPr lang="en-US" altLang="zh-CN" sz="1800" dirty="0"/>
              <a:t>Record once versions (CD-R and DVD-R) are popular</a:t>
            </a:r>
          </a:p>
          <a:p>
            <a:pPr lvl="1"/>
            <a:r>
              <a:rPr lang="en-US" altLang="zh-CN" sz="1400" dirty="0"/>
              <a:t>Data can only be written once, and cannot be erased</a:t>
            </a:r>
          </a:p>
          <a:p>
            <a:pPr lvl="1"/>
            <a:r>
              <a:rPr lang="en-US" altLang="zh-CN" sz="1400" dirty="0"/>
              <a:t>High capacity and long lifetime; used for archival storage </a:t>
            </a:r>
          </a:p>
          <a:p>
            <a:r>
              <a:rPr lang="en-US" altLang="zh-CN" sz="1800" dirty="0"/>
              <a:t>Multi-write versions (CD-RW, DVD-RW, DVD+RW and DVD-RAM) also available</a:t>
            </a:r>
          </a:p>
          <a:p>
            <a:endParaRPr lang="zh-CN" altLang="en-US" sz="1800" dirty="0"/>
          </a:p>
        </p:txBody>
      </p:sp>
    </p:spTree>
    <p:extLst>
      <p:ext uri="{BB962C8B-B14F-4D97-AF65-F5344CB8AC3E}">
        <p14:creationId xmlns:p14="http://schemas.microsoft.com/office/powerpoint/2010/main" val="2400188221"/>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311B78-C9B6-44FF-9CBB-EEF5FEBA0195}"/>
              </a:ext>
            </a:extLst>
          </p:cNvPr>
          <p:cNvSpPr>
            <a:spLocks noGrp="1"/>
          </p:cNvSpPr>
          <p:nvPr>
            <p:ph type="title"/>
          </p:nvPr>
        </p:nvSpPr>
        <p:spPr/>
        <p:txBody>
          <a:bodyPr/>
          <a:lstStyle/>
          <a:p>
            <a:pPr algn="ctr"/>
            <a:r>
              <a:rPr lang="en-US" altLang="zh-CN" dirty="0"/>
              <a:t>Magnetic Tapes</a:t>
            </a:r>
            <a:endParaRPr lang="zh-CN" altLang="en-US" dirty="0"/>
          </a:p>
        </p:txBody>
      </p:sp>
      <p:sp>
        <p:nvSpPr>
          <p:cNvPr id="3" name="内容占位符 2">
            <a:extLst>
              <a:ext uri="{FF2B5EF4-FFF2-40B4-BE49-F238E27FC236}">
                <a16:creationId xmlns:a16="http://schemas.microsoft.com/office/drawing/2014/main" id="{5D415731-5B83-416A-B8AE-2BAAB6045462}"/>
              </a:ext>
            </a:extLst>
          </p:cNvPr>
          <p:cNvSpPr>
            <a:spLocks noGrp="1"/>
          </p:cNvSpPr>
          <p:nvPr>
            <p:ph idx="1"/>
          </p:nvPr>
        </p:nvSpPr>
        <p:spPr/>
        <p:txBody>
          <a:bodyPr/>
          <a:lstStyle/>
          <a:p>
            <a:pPr>
              <a:spcBef>
                <a:spcPts val="600"/>
              </a:spcBef>
            </a:pPr>
            <a:r>
              <a:rPr lang="en-US" altLang="zh-CN" sz="2000" dirty="0"/>
              <a:t>Hold large volumes of data and provide high transfer rates</a:t>
            </a:r>
          </a:p>
          <a:p>
            <a:pPr lvl="1">
              <a:spcBef>
                <a:spcPts val="600"/>
              </a:spcBef>
            </a:pPr>
            <a:r>
              <a:rPr lang="en-US" altLang="zh-CN" sz="1800" dirty="0"/>
              <a:t>Few GB for DAT (Digital Audio Tape) format</a:t>
            </a:r>
          </a:p>
          <a:p>
            <a:pPr lvl="1">
              <a:spcBef>
                <a:spcPts val="600"/>
              </a:spcBef>
            </a:pPr>
            <a:r>
              <a:rPr lang="en-US" altLang="zh-CN" sz="1800" dirty="0"/>
              <a:t>10-40 GB with DLT (Digital Linear Tape) format</a:t>
            </a:r>
          </a:p>
          <a:p>
            <a:pPr lvl="1">
              <a:spcBef>
                <a:spcPts val="600"/>
              </a:spcBef>
            </a:pPr>
            <a:r>
              <a:rPr lang="en-US" altLang="zh-CN" sz="1800" dirty="0"/>
              <a:t>100 GB+ with Ultrium format</a:t>
            </a:r>
          </a:p>
          <a:p>
            <a:pPr lvl="1">
              <a:spcBef>
                <a:spcPts val="600"/>
              </a:spcBef>
            </a:pPr>
            <a:r>
              <a:rPr lang="en-US" altLang="zh-CN" sz="1800" dirty="0"/>
              <a:t>330 GB with </a:t>
            </a:r>
            <a:r>
              <a:rPr lang="en-US" altLang="zh-CN" sz="1800" dirty="0" err="1"/>
              <a:t>Ampex</a:t>
            </a:r>
            <a:r>
              <a:rPr lang="en-US" altLang="zh-CN" sz="1800" dirty="0"/>
              <a:t> helical scan format</a:t>
            </a:r>
          </a:p>
          <a:p>
            <a:pPr lvl="1">
              <a:spcBef>
                <a:spcPts val="600"/>
              </a:spcBef>
            </a:pPr>
            <a:r>
              <a:rPr lang="en-US" altLang="zh-CN" sz="1800" dirty="0"/>
              <a:t>Transfer rates from few to 10s of MB/s</a:t>
            </a:r>
          </a:p>
          <a:p>
            <a:pPr>
              <a:spcBef>
                <a:spcPts val="600"/>
              </a:spcBef>
            </a:pPr>
            <a:r>
              <a:rPr lang="en-US" altLang="zh-CN" sz="2000" dirty="0"/>
              <a:t>Currently the cheapest storage medium </a:t>
            </a:r>
          </a:p>
          <a:p>
            <a:pPr lvl="1">
              <a:spcBef>
                <a:spcPts val="600"/>
              </a:spcBef>
            </a:pPr>
            <a:r>
              <a:rPr lang="en-US" altLang="zh-CN" sz="1800" dirty="0"/>
              <a:t>Tapes are cheap, but cost of drives is very high</a:t>
            </a:r>
          </a:p>
          <a:p>
            <a:pPr>
              <a:spcBef>
                <a:spcPts val="600"/>
              </a:spcBef>
            </a:pPr>
            <a:endParaRPr lang="zh-CN" altLang="en-US" sz="2000" dirty="0"/>
          </a:p>
        </p:txBody>
      </p:sp>
    </p:spTree>
    <p:extLst>
      <p:ext uri="{BB962C8B-B14F-4D97-AF65-F5344CB8AC3E}">
        <p14:creationId xmlns:p14="http://schemas.microsoft.com/office/powerpoint/2010/main" val="1155827614"/>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1BEE12-5B12-4310-B720-F26568DE8619}"/>
              </a:ext>
            </a:extLst>
          </p:cNvPr>
          <p:cNvSpPr>
            <a:spLocks noGrp="1"/>
          </p:cNvSpPr>
          <p:nvPr>
            <p:ph type="title"/>
          </p:nvPr>
        </p:nvSpPr>
        <p:spPr/>
        <p:txBody>
          <a:bodyPr/>
          <a:lstStyle/>
          <a:p>
            <a:pPr algn="ctr"/>
            <a:r>
              <a:rPr lang="en-US" altLang="zh-CN" dirty="0"/>
              <a:t>Magnetic Tapes (Cont.)</a:t>
            </a:r>
            <a:endParaRPr lang="zh-CN" altLang="en-US" dirty="0"/>
          </a:p>
        </p:txBody>
      </p:sp>
      <p:sp>
        <p:nvSpPr>
          <p:cNvPr id="3" name="内容占位符 2">
            <a:extLst>
              <a:ext uri="{FF2B5EF4-FFF2-40B4-BE49-F238E27FC236}">
                <a16:creationId xmlns:a16="http://schemas.microsoft.com/office/drawing/2014/main" id="{F516AC34-109B-4D6D-970E-2F116AB9E742}"/>
              </a:ext>
            </a:extLst>
          </p:cNvPr>
          <p:cNvSpPr>
            <a:spLocks noGrp="1"/>
          </p:cNvSpPr>
          <p:nvPr>
            <p:ph idx="1"/>
          </p:nvPr>
        </p:nvSpPr>
        <p:spPr/>
        <p:txBody>
          <a:bodyPr/>
          <a:lstStyle/>
          <a:p>
            <a:r>
              <a:rPr lang="en-US" altLang="zh-CN" sz="1800" dirty="0"/>
              <a:t>Very slow access time in comparison to magnetic disks and optical disks</a:t>
            </a:r>
          </a:p>
          <a:p>
            <a:pPr lvl="1"/>
            <a:r>
              <a:rPr lang="en-US" altLang="zh-CN" sz="1600" dirty="0"/>
              <a:t>Limited to sequential access.</a:t>
            </a:r>
          </a:p>
          <a:p>
            <a:pPr lvl="1"/>
            <a:r>
              <a:rPr lang="en-US" altLang="zh-CN" sz="1600" dirty="0"/>
              <a:t>Some formats provide faster seek (10s of seconds) at cost of lower capacity</a:t>
            </a:r>
          </a:p>
          <a:p>
            <a:r>
              <a:rPr lang="en-US" altLang="zh-CN" sz="1800" dirty="0"/>
              <a:t>Used mainly for backup, for storage of infrequently used information, and as an off-line medium for transferring information from one system to another.</a:t>
            </a:r>
          </a:p>
          <a:p>
            <a:r>
              <a:rPr lang="en-US" altLang="zh-CN" sz="1800" dirty="0"/>
              <a:t>Tape jukeboxes(</a:t>
            </a:r>
            <a:r>
              <a:rPr lang="zh-CN" altLang="en-US" sz="1800" dirty="0"/>
              <a:t>自动磁带机</a:t>
            </a:r>
            <a:r>
              <a:rPr lang="en-US" altLang="zh-CN" sz="1800" dirty="0"/>
              <a:t>) used for very large capacity storage</a:t>
            </a:r>
          </a:p>
          <a:p>
            <a:pPr lvl="1"/>
            <a:r>
              <a:rPr lang="en-US" altLang="zh-CN" sz="1600" dirty="0"/>
              <a:t>terabyte (10</a:t>
            </a:r>
            <a:r>
              <a:rPr lang="en-US" altLang="zh-CN" sz="1600" baseline="30000" dirty="0"/>
              <a:t>12</a:t>
            </a:r>
            <a:r>
              <a:rPr lang="en-US" altLang="zh-CN" sz="1600" dirty="0"/>
              <a:t> bytes) to </a:t>
            </a:r>
            <a:r>
              <a:rPr lang="en-US" altLang="zh-CN" sz="1600" dirty="0" err="1"/>
              <a:t>petabye</a:t>
            </a:r>
            <a:r>
              <a:rPr lang="en-US" altLang="zh-CN" sz="1600" dirty="0"/>
              <a:t> (10</a:t>
            </a:r>
            <a:r>
              <a:rPr lang="en-US" altLang="zh-CN" sz="1600" baseline="30000" dirty="0"/>
              <a:t>15 </a:t>
            </a:r>
            <a:r>
              <a:rPr lang="en-US" altLang="zh-CN" sz="1600" dirty="0"/>
              <a:t>bytes)</a:t>
            </a:r>
          </a:p>
          <a:p>
            <a:endParaRPr lang="zh-CN" altLang="en-US" sz="1800" dirty="0"/>
          </a:p>
        </p:txBody>
      </p:sp>
    </p:spTree>
    <p:extLst>
      <p:ext uri="{BB962C8B-B14F-4D97-AF65-F5344CB8AC3E}">
        <p14:creationId xmlns:p14="http://schemas.microsoft.com/office/powerpoint/2010/main" val="201929859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6AB10D-752B-4140-9A12-F57C4AAFF9E9}"/>
              </a:ext>
            </a:extLst>
          </p:cNvPr>
          <p:cNvSpPr>
            <a:spLocks noGrp="1"/>
          </p:cNvSpPr>
          <p:nvPr>
            <p:ph type="title"/>
          </p:nvPr>
        </p:nvSpPr>
        <p:spPr/>
        <p:txBody>
          <a:bodyPr/>
          <a:lstStyle/>
          <a:p>
            <a:pPr algn="ctr"/>
            <a:r>
              <a:rPr lang="zh-CN" altLang="en-US" dirty="0"/>
              <a:t>未来存储技术</a:t>
            </a:r>
          </a:p>
        </p:txBody>
      </p:sp>
      <p:sp>
        <p:nvSpPr>
          <p:cNvPr id="3" name="内容占位符 2">
            <a:extLst>
              <a:ext uri="{FF2B5EF4-FFF2-40B4-BE49-F238E27FC236}">
                <a16:creationId xmlns:a16="http://schemas.microsoft.com/office/drawing/2014/main" id="{DC33FB2B-51E9-4257-B500-635D4C9DF385}"/>
              </a:ext>
            </a:extLst>
          </p:cNvPr>
          <p:cNvSpPr>
            <a:spLocks noGrp="1"/>
          </p:cNvSpPr>
          <p:nvPr>
            <p:ph idx="1"/>
          </p:nvPr>
        </p:nvSpPr>
        <p:spPr>
          <a:xfrm>
            <a:off x="251520" y="789553"/>
            <a:ext cx="8712968" cy="3805070"/>
          </a:xfrm>
        </p:spPr>
        <p:txBody>
          <a:bodyPr/>
          <a:lstStyle/>
          <a:p>
            <a:pPr>
              <a:spcBef>
                <a:spcPts val="600"/>
              </a:spcBef>
            </a:pPr>
            <a:r>
              <a:rPr lang="zh-CN" altLang="en-US" sz="2000" dirty="0"/>
              <a:t>分布式、云化、闪存化、智能等存储不断发展，随着人工智能、物联网、区块链、人体增强 </a:t>
            </a:r>
            <a:r>
              <a:rPr lang="en-US" altLang="zh-CN" sz="2000" dirty="0"/>
              <a:t>(Human Augmentation) </a:t>
            </a:r>
            <a:r>
              <a:rPr lang="zh-CN" altLang="en-US" sz="2000" dirty="0"/>
              <a:t>等技术快速发展，存储也将迎来新的形态，如：</a:t>
            </a:r>
          </a:p>
          <a:p>
            <a:pPr lvl="1">
              <a:spcBef>
                <a:spcPts val="600"/>
              </a:spcBef>
            </a:pPr>
            <a:r>
              <a:rPr lang="zh-CN" altLang="en-US" sz="1800" b="1" dirty="0"/>
              <a:t>边缘存储</a:t>
            </a:r>
          </a:p>
          <a:p>
            <a:pPr lvl="1">
              <a:spcBef>
                <a:spcPts val="600"/>
              </a:spcBef>
            </a:pPr>
            <a:r>
              <a:rPr lang="zh-CN" altLang="en-US" sz="1800" b="1" dirty="0"/>
              <a:t>长期存储</a:t>
            </a:r>
          </a:p>
          <a:p>
            <a:pPr lvl="1">
              <a:spcBef>
                <a:spcPts val="600"/>
              </a:spcBef>
            </a:pPr>
            <a:r>
              <a:rPr lang="zh-CN" altLang="en-US" sz="1800" b="1" dirty="0"/>
              <a:t>生物存储</a:t>
            </a:r>
            <a:r>
              <a:rPr lang="en-US" altLang="zh-CN" sz="1800" b="1" dirty="0"/>
              <a:t>/</a:t>
            </a:r>
            <a:r>
              <a:rPr lang="zh-CN" altLang="en-US" sz="1800" b="1" dirty="0"/>
              <a:t>基因存储</a:t>
            </a:r>
          </a:p>
          <a:p>
            <a:pPr lvl="1">
              <a:spcBef>
                <a:spcPts val="600"/>
              </a:spcBef>
            </a:pPr>
            <a:r>
              <a:rPr lang="zh-CN" altLang="en-US" sz="1800" b="1" dirty="0"/>
              <a:t>区块链存储</a:t>
            </a:r>
          </a:p>
          <a:p>
            <a:pPr lvl="1">
              <a:spcBef>
                <a:spcPts val="600"/>
              </a:spcBef>
            </a:pPr>
            <a:r>
              <a:rPr lang="zh-CN" altLang="en-US" sz="1800" b="1" dirty="0"/>
              <a:t>量子存储</a:t>
            </a:r>
          </a:p>
        </p:txBody>
      </p:sp>
    </p:spTree>
    <p:extLst>
      <p:ext uri="{BB962C8B-B14F-4D97-AF65-F5344CB8AC3E}">
        <p14:creationId xmlns:p14="http://schemas.microsoft.com/office/powerpoint/2010/main" val="4098862828"/>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3F7B23-8CF6-44F1-9969-F1B9C835B22D}"/>
              </a:ext>
            </a:extLst>
          </p:cNvPr>
          <p:cNvSpPr>
            <a:spLocks noGrp="1"/>
          </p:cNvSpPr>
          <p:nvPr>
            <p:ph type="title"/>
          </p:nvPr>
        </p:nvSpPr>
        <p:spPr/>
        <p:txBody>
          <a:bodyPr/>
          <a:lstStyle/>
          <a:p>
            <a:pPr algn="ctr"/>
            <a:r>
              <a:rPr lang="zh-CN" altLang="en-US" dirty="0"/>
              <a:t>边缘存储</a:t>
            </a:r>
          </a:p>
        </p:txBody>
      </p:sp>
      <p:sp>
        <p:nvSpPr>
          <p:cNvPr id="3" name="内容占位符 2">
            <a:extLst>
              <a:ext uri="{FF2B5EF4-FFF2-40B4-BE49-F238E27FC236}">
                <a16:creationId xmlns:a16="http://schemas.microsoft.com/office/drawing/2014/main" id="{7A2958F8-E6F7-405D-921D-24152BE96B4E}"/>
              </a:ext>
            </a:extLst>
          </p:cNvPr>
          <p:cNvSpPr>
            <a:spLocks noGrp="1"/>
          </p:cNvSpPr>
          <p:nvPr>
            <p:ph idx="1"/>
          </p:nvPr>
        </p:nvSpPr>
        <p:spPr/>
        <p:txBody>
          <a:bodyPr/>
          <a:lstStyle/>
          <a:p>
            <a:r>
              <a:rPr lang="zh-CN" altLang="en-US" sz="1800" dirty="0"/>
              <a:t>加州大学伯克利分校的研究团队在</a:t>
            </a:r>
            <a:r>
              <a:rPr lang="en-US" altLang="zh-CN" sz="1800" dirty="0"/>
              <a:t>2015</a:t>
            </a:r>
            <a:r>
              <a:rPr lang="zh-CN" altLang="en-US" sz="1800" dirty="0"/>
              <a:t>年发表 “</a:t>
            </a:r>
            <a:r>
              <a:rPr lang="en-US" altLang="zh-CN" sz="1800" dirty="0"/>
              <a:t>The Cloud is Not Enough: Saving IoT from the Cloud“ </a:t>
            </a:r>
            <a:r>
              <a:rPr lang="zh-CN" altLang="en-US" sz="1800" dirty="0"/>
              <a:t>文章，指出物联网与互联网的七个不同之处：隐私和安全；可伸缩性；交互模型；延迟；带宽；可用性；持久性管理。边缘存储应该具有高可用性、超低延迟、高安全性、高隐私性、弱一致性、功耗低、空间小的特点，边缘存储仍处于发展早期，还有很多需研究探索</a:t>
            </a:r>
          </a:p>
        </p:txBody>
      </p:sp>
      <p:pic>
        <p:nvPicPr>
          <p:cNvPr id="4" name="Picture 2" descr="http://5b0988e595225.cdn.sohucs.com/images/20200304/8c2efc03a9cc43129b237f3c7ce63c11.jpeg">
            <a:extLst>
              <a:ext uri="{FF2B5EF4-FFF2-40B4-BE49-F238E27FC236}">
                <a16:creationId xmlns:a16="http://schemas.microsoft.com/office/drawing/2014/main" id="{F51F0D4A-6257-4EA6-AE82-A0036E4753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5285" y="2188682"/>
            <a:ext cx="4121422" cy="2177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1056240"/>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D76DFA-CA95-4E15-BCCA-610F76C65952}"/>
              </a:ext>
            </a:extLst>
          </p:cNvPr>
          <p:cNvSpPr>
            <a:spLocks noGrp="1"/>
          </p:cNvSpPr>
          <p:nvPr>
            <p:ph type="title"/>
          </p:nvPr>
        </p:nvSpPr>
        <p:spPr/>
        <p:txBody>
          <a:bodyPr/>
          <a:lstStyle/>
          <a:p>
            <a:pPr algn="ctr"/>
            <a:r>
              <a:rPr lang="zh-CN" altLang="en-US" dirty="0"/>
              <a:t>长期存储 </a:t>
            </a:r>
            <a:r>
              <a:rPr lang="en-US" altLang="zh-CN" dirty="0"/>
              <a:t>- Long Data</a:t>
            </a:r>
            <a:endParaRPr lang="zh-CN" altLang="en-US" dirty="0"/>
          </a:p>
        </p:txBody>
      </p:sp>
      <p:sp>
        <p:nvSpPr>
          <p:cNvPr id="3" name="内容占位符 2">
            <a:extLst>
              <a:ext uri="{FF2B5EF4-FFF2-40B4-BE49-F238E27FC236}">
                <a16:creationId xmlns:a16="http://schemas.microsoft.com/office/drawing/2014/main" id="{98754CE1-0257-4FF9-A22D-7934C9F05A0F}"/>
              </a:ext>
            </a:extLst>
          </p:cNvPr>
          <p:cNvSpPr>
            <a:spLocks noGrp="1"/>
          </p:cNvSpPr>
          <p:nvPr>
            <p:ph idx="1"/>
          </p:nvPr>
        </p:nvSpPr>
        <p:spPr>
          <a:xfrm>
            <a:off x="0" y="699541"/>
            <a:ext cx="9036496" cy="3774743"/>
          </a:xfrm>
        </p:spPr>
        <p:txBody>
          <a:bodyPr/>
          <a:lstStyle/>
          <a:p>
            <a:pPr>
              <a:spcBef>
                <a:spcPts val="300"/>
              </a:spcBef>
            </a:pPr>
            <a:r>
              <a:rPr lang="zh-CN" altLang="en-US" sz="1800" b="1" dirty="0"/>
              <a:t>蓝光光盘</a:t>
            </a:r>
          </a:p>
          <a:p>
            <a:pPr lvl="1">
              <a:spcBef>
                <a:spcPts val="300"/>
              </a:spcBef>
            </a:pPr>
            <a:r>
              <a:rPr lang="en-US" altLang="zh-CN" sz="1400" dirty="0"/>
              <a:t>2019</a:t>
            </a:r>
            <a:r>
              <a:rPr lang="zh-CN" altLang="en-US" sz="1400" dirty="0"/>
              <a:t>中国数据与存储峰会，“</a:t>
            </a:r>
            <a:r>
              <a:rPr lang="en-US" altLang="zh-CN" sz="1400" dirty="0"/>
              <a:t>Long Data ”</a:t>
            </a:r>
            <a:r>
              <a:rPr lang="zh-CN" altLang="en-US" sz="1400" dirty="0"/>
              <a:t>挑战国际上研究课题</a:t>
            </a:r>
            <a:r>
              <a:rPr lang="en-US" altLang="zh-CN" sz="1400" dirty="0"/>
              <a:t>How to preserve information for 100 years</a:t>
            </a:r>
            <a:r>
              <a:rPr lang="zh-CN" altLang="en-US" sz="1400" dirty="0"/>
              <a:t>？基于蓝光技术可提供解决办法，蓝光光盘具超过</a:t>
            </a:r>
            <a:r>
              <a:rPr lang="en-US" altLang="zh-CN" sz="1400" dirty="0"/>
              <a:t>50</a:t>
            </a:r>
            <a:r>
              <a:rPr lang="zh-CN" altLang="en-US" sz="1400" dirty="0"/>
              <a:t>年寿命，极低功耗，高安全性，较高密度，较低成本，对环境要求低。总体而言，光存储技术尤其适合大量冷数据的长期安全存储。</a:t>
            </a:r>
          </a:p>
          <a:p>
            <a:pPr lvl="1">
              <a:spcBef>
                <a:spcPts val="300"/>
              </a:spcBef>
            </a:pPr>
            <a:r>
              <a:rPr lang="zh-CN" altLang="en-US" sz="1400" dirty="0"/>
              <a:t>针对于需要保存长达数十年的行业或场景，基于蓝光光盘的存储技术是一个选择，如电子档案、医疗影像、金融影像、备份归档等。一个标准机柜可保存</a:t>
            </a:r>
            <a:r>
              <a:rPr lang="en-US" altLang="zh-CN" sz="1400" dirty="0"/>
              <a:t>1.22 </a:t>
            </a:r>
            <a:r>
              <a:rPr lang="zh-CN" altLang="en-US" sz="1400" dirty="0"/>
              <a:t>万片光盘，如果采用</a:t>
            </a:r>
            <a:r>
              <a:rPr lang="en-US" altLang="zh-CN" sz="1400" dirty="0"/>
              <a:t>500GB </a:t>
            </a:r>
            <a:r>
              <a:rPr lang="zh-CN" altLang="en-US" sz="1400" dirty="0"/>
              <a:t>光盘，裸容量可高达</a:t>
            </a:r>
            <a:r>
              <a:rPr lang="en-US" altLang="zh-CN" sz="1400" dirty="0"/>
              <a:t>6PB </a:t>
            </a:r>
            <a:r>
              <a:rPr lang="zh-CN" altLang="en-US" sz="1400" dirty="0"/>
              <a:t>。市场上一种</a:t>
            </a:r>
            <a:r>
              <a:rPr lang="en-US" altLang="zh-CN" sz="1400" dirty="0"/>
              <a:t>M-Disc </a:t>
            </a:r>
            <a:r>
              <a:rPr lang="zh-CN" altLang="en-US" sz="1400" dirty="0"/>
              <a:t>的产品，号称千年光盘</a:t>
            </a:r>
          </a:p>
          <a:p>
            <a:pPr>
              <a:spcBef>
                <a:spcPts val="300"/>
              </a:spcBef>
            </a:pPr>
            <a:r>
              <a:rPr lang="zh-CN" altLang="en-US" sz="1800" b="1" dirty="0"/>
              <a:t>玻璃光盘</a:t>
            </a:r>
          </a:p>
          <a:p>
            <a:pPr lvl="1">
              <a:spcBef>
                <a:spcPts val="300"/>
              </a:spcBef>
            </a:pPr>
            <a:r>
              <a:rPr lang="zh-CN" altLang="en-US" sz="1400" dirty="0"/>
              <a:t>正在研究的玻璃光盘容量是蓝光光盘的几千倍，能承受超过几百度的高温，寿命能高达上万年甚至百亿年。如微软的玻璃光盘项目</a:t>
            </a:r>
            <a:r>
              <a:rPr lang="en-US" altLang="zh-CN" sz="1400" dirty="0" err="1"/>
              <a:t>ProjectSilica</a:t>
            </a:r>
            <a:r>
              <a:rPr lang="en-US" altLang="zh-CN" sz="1400" dirty="0"/>
              <a:t> </a:t>
            </a:r>
          </a:p>
          <a:p>
            <a:pPr>
              <a:spcBef>
                <a:spcPts val="300"/>
              </a:spcBef>
            </a:pPr>
            <a:r>
              <a:rPr lang="zh-CN" altLang="en-US" sz="1800" b="1" dirty="0"/>
              <a:t>全息光存储</a:t>
            </a:r>
          </a:p>
          <a:p>
            <a:pPr lvl="1">
              <a:spcBef>
                <a:spcPts val="300"/>
              </a:spcBef>
            </a:pPr>
            <a:r>
              <a:rPr lang="zh-CN" altLang="en-US" sz="1400" dirty="0"/>
              <a:t>蓝光之后下一代变革性光存储技术包括两种：第一种是同轴多维全息光存储技术，列入国家重点研发计划。第二种是</a:t>
            </a:r>
            <a:r>
              <a:rPr lang="en-US" altLang="zh-CN" sz="1400" dirty="0"/>
              <a:t>2014</a:t>
            </a:r>
            <a:r>
              <a:rPr lang="zh-CN" altLang="en-US" sz="1400" dirty="0"/>
              <a:t>年得了诺贝尔奖的突破光的衍射极限项目，澳大利亚科学家把这个技术用到光上，把光斑从</a:t>
            </a:r>
            <a:r>
              <a:rPr lang="en-US" altLang="zh-CN" sz="1400" dirty="0"/>
              <a:t>300</a:t>
            </a:r>
            <a:r>
              <a:rPr lang="zh-CN" altLang="en-US" sz="1400" dirty="0"/>
              <a:t>纳米理论上可以减少到九个纳米，容量上得到巨大提高，至少可达每盘</a:t>
            </a:r>
            <a:r>
              <a:rPr lang="en-US" altLang="zh-CN" sz="1400" dirty="0"/>
              <a:t>15TB</a:t>
            </a:r>
            <a:r>
              <a:rPr lang="zh-CN" altLang="en-US" sz="1400" dirty="0"/>
              <a:t>，理想上可实现</a:t>
            </a:r>
            <a:r>
              <a:rPr lang="en-US" altLang="zh-CN" sz="1400" dirty="0"/>
              <a:t>PB</a:t>
            </a:r>
            <a:r>
              <a:rPr lang="zh-CN" altLang="en-US" sz="1400" dirty="0"/>
              <a:t>级。</a:t>
            </a:r>
          </a:p>
          <a:p>
            <a:pPr>
              <a:spcBef>
                <a:spcPts val="300"/>
              </a:spcBef>
            </a:pPr>
            <a:endParaRPr lang="zh-CN" altLang="en-US" sz="1800" dirty="0"/>
          </a:p>
        </p:txBody>
      </p:sp>
    </p:spTree>
    <p:extLst>
      <p:ext uri="{BB962C8B-B14F-4D97-AF65-F5344CB8AC3E}">
        <p14:creationId xmlns:p14="http://schemas.microsoft.com/office/powerpoint/2010/main" val="1475383949"/>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F91698-2412-4D8E-B1C9-699F061C52BC}"/>
              </a:ext>
            </a:extLst>
          </p:cNvPr>
          <p:cNvSpPr>
            <a:spLocks noGrp="1"/>
          </p:cNvSpPr>
          <p:nvPr>
            <p:ph type="title"/>
          </p:nvPr>
        </p:nvSpPr>
        <p:spPr/>
        <p:txBody>
          <a:bodyPr/>
          <a:lstStyle/>
          <a:p>
            <a:pPr algn="ctr"/>
            <a:r>
              <a:rPr lang="zh-CN" altLang="en-US" dirty="0"/>
              <a:t>生物存储或基因存储</a:t>
            </a:r>
          </a:p>
        </p:txBody>
      </p:sp>
      <p:sp>
        <p:nvSpPr>
          <p:cNvPr id="3" name="内容占位符 2">
            <a:extLst>
              <a:ext uri="{FF2B5EF4-FFF2-40B4-BE49-F238E27FC236}">
                <a16:creationId xmlns:a16="http://schemas.microsoft.com/office/drawing/2014/main" id="{B7935E3B-834E-4E3C-BDC7-22D9BF663352}"/>
              </a:ext>
            </a:extLst>
          </p:cNvPr>
          <p:cNvSpPr>
            <a:spLocks noGrp="1"/>
          </p:cNvSpPr>
          <p:nvPr>
            <p:ph idx="1"/>
          </p:nvPr>
        </p:nvSpPr>
        <p:spPr/>
        <p:txBody>
          <a:bodyPr/>
          <a:lstStyle/>
          <a:p>
            <a:r>
              <a:rPr lang="zh-CN" altLang="en-US" sz="1800" b="1" dirty="0"/>
              <a:t>生物存储或基因存储</a:t>
            </a:r>
          </a:p>
          <a:p>
            <a:pPr lvl="1"/>
            <a:r>
              <a:rPr lang="zh-CN" altLang="en-US" sz="1600" dirty="0"/>
              <a:t>人类历史上，已经有过历经千百年的存储介质，如青铜器铭文、竹简、纸书、石碑等。不过，这类手段存储密度极低。</a:t>
            </a:r>
            <a:r>
              <a:rPr lang="en-US" altLang="zh-CN" sz="1600" dirty="0"/>
              <a:t>《</a:t>
            </a:r>
            <a:r>
              <a:rPr lang="zh-CN" altLang="en-US" sz="1600" dirty="0"/>
              <a:t>自私的基因</a:t>
            </a:r>
            <a:r>
              <a:rPr lang="en-US" altLang="zh-CN" sz="1600" dirty="0"/>
              <a:t>》</a:t>
            </a:r>
            <a:r>
              <a:rPr lang="zh-CN" altLang="en-US" sz="1600" dirty="0"/>
              <a:t>一书观点：包括人在内的动植物不过是</a:t>
            </a:r>
            <a:r>
              <a:rPr lang="en-US" altLang="zh-CN" sz="1600" dirty="0"/>
              <a:t>DNA </a:t>
            </a:r>
            <a:r>
              <a:rPr lang="zh-CN" altLang="en-US" sz="1600" dirty="0"/>
              <a:t>繁衍的躯壳，你也可以看成是</a:t>
            </a:r>
            <a:r>
              <a:rPr lang="en-US" altLang="zh-CN" sz="1600" dirty="0"/>
              <a:t>DNA </a:t>
            </a:r>
            <a:r>
              <a:rPr lang="zh-CN" altLang="en-US" sz="1600" dirty="0"/>
              <a:t>的存储器。</a:t>
            </a:r>
          </a:p>
          <a:p>
            <a:pPr lvl="1"/>
            <a:r>
              <a:rPr lang="zh-CN" altLang="en-US" sz="1600" dirty="0"/>
              <a:t>可以反向让</a:t>
            </a:r>
            <a:r>
              <a:rPr lang="en-US" altLang="zh-CN" sz="1600" dirty="0"/>
              <a:t>DNA </a:t>
            </a:r>
            <a:r>
              <a:rPr lang="zh-CN" altLang="en-US" sz="1600" dirty="0"/>
              <a:t>片段，即基因成为人类存放信息的存储器。基因存储将</a:t>
            </a:r>
            <a:r>
              <a:rPr lang="en-US" altLang="zh-CN" sz="1600" dirty="0"/>
              <a:t>0 </a:t>
            </a:r>
            <a:r>
              <a:rPr lang="zh-CN" altLang="en-US" sz="1600" dirty="0"/>
              <a:t>、</a:t>
            </a:r>
            <a:r>
              <a:rPr lang="en-US" altLang="zh-CN" sz="1600" dirty="0"/>
              <a:t>1 </a:t>
            </a:r>
            <a:r>
              <a:rPr lang="zh-CN" altLang="en-US" sz="1600" dirty="0"/>
              <a:t>数据通过一定的编码方法转换成</a:t>
            </a:r>
            <a:r>
              <a:rPr lang="en-US" altLang="zh-CN" sz="1600" dirty="0"/>
              <a:t>DNA </a:t>
            </a:r>
            <a:r>
              <a:rPr lang="zh-CN" altLang="en-US" sz="1600" dirty="0"/>
              <a:t>中的</a:t>
            </a:r>
            <a:r>
              <a:rPr lang="en-US" altLang="zh-CN" sz="1600" dirty="0"/>
              <a:t>A </a:t>
            </a:r>
            <a:r>
              <a:rPr lang="zh-CN" altLang="en-US" sz="1600" dirty="0"/>
              <a:t>、</a:t>
            </a:r>
            <a:r>
              <a:rPr lang="en-US" altLang="zh-CN" sz="1600" dirty="0"/>
              <a:t>T </a:t>
            </a:r>
            <a:r>
              <a:rPr lang="zh-CN" altLang="en-US" sz="1600" dirty="0"/>
              <a:t>、</a:t>
            </a:r>
            <a:r>
              <a:rPr lang="en-US" altLang="zh-CN" sz="1600" dirty="0"/>
              <a:t>C </a:t>
            </a:r>
            <a:r>
              <a:rPr lang="zh-CN" altLang="en-US" sz="1600" dirty="0"/>
              <a:t>、</a:t>
            </a:r>
            <a:r>
              <a:rPr lang="en-US" altLang="zh-CN" sz="1600" dirty="0"/>
              <a:t>G </a:t>
            </a:r>
            <a:r>
              <a:rPr lang="zh-CN" altLang="en-US" sz="1600" dirty="0"/>
              <a:t>四种碱基，通过合成含有这些碱基序列的</a:t>
            </a:r>
            <a:r>
              <a:rPr lang="en-US" altLang="zh-CN" sz="1600" dirty="0"/>
              <a:t>DNA </a:t>
            </a:r>
            <a:r>
              <a:rPr lang="zh-CN" altLang="en-US" sz="1600" dirty="0"/>
              <a:t>即可实现数据信息存储。 </a:t>
            </a:r>
          </a:p>
          <a:p>
            <a:endParaRPr lang="zh-CN" altLang="en-US" sz="1800" dirty="0"/>
          </a:p>
        </p:txBody>
      </p:sp>
    </p:spTree>
    <p:extLst>
      <p:ext uri="{BB962C8B-B14F-4D97-AF65-F5344CB8AC3E}">
        <p14:creationId xmlns:p14="http://schemas.microsoft.com/office/powerpoint/2010/main" val="2016726784"/>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7936B1-E088-435F-B5FE-A35DAFD889F6}"/>
              </a:ext>
            </a:extLst>
          </p:cNvPr>
          <p:cNvSpPr>
            <a:spLocks noGrp="1"/>
          </p:cNvSpPr>
          <p:nvPr>
            <p:ph type="title"/>
          </p:nvPr>
        </p:nvSpPr>
        <p:spPr/>
        <p:txBody>
          <a:bodyPr/>
          <a:lstStyle/>
          <a:p>
            <a:pPr algn="ctr"/>
            <a:r>
              <a:rPr lang="zh-CN" altLang="en-US" dirty="0"/>
              <a:t>生物存储或基因存储</a:t>
            </a:r>
          </a:p>
        </p:txBody>
      </p:sp>
      <p:sp>
        <p:nvSpPr>
          <p:cNvPr id="3" name="内容占位符 2">
            <a:extLst>
              <a:ext uri="{FF2B5EF4-FFF2-40B4-BE49-F238E27FC236}">
                <a16:creationId xmlns:a16="http://schemas.microsoft.com/office/drawing/2014/main" id="{1C86076A-B5FA-48EE-956F-18798F3D6C8A}"/>
              </a:ext>
            </a:extLst>
          </p:cNvPr>
          <p:cNvSpPr>
            <a:spLocks noGrp="1"/>
          </p:cNvSpPr>
          <p:nvPr>
            <p:ph idx="1"/>
          </p:nvPr>
        </p:nvSpPr>
        <p:spPr/>
        <p:txBody>
          <a:bodyPr/>
          <a:lstStyle/>
          <a:p>
            <a:r>
              <a:rPr lang="zh-CN" altLang="en-US" sz="1800" b="1" dirty="0"/>
              <a:t>生物存储或基因存储</a:t>
            </a:r>
          </a:p>
          <a:p>
            <a:pPr lvl="1"/>
            <a:r>
              <a:rPr lang="en-US" altLang="zh-CN" sz="1400" dirty="0"/>
              <a:t>2017</a:t>
            </a:r>
            <a:r>
              <a:rPr lang="zh-CN" altLang="en-US" sz="1400" dirty="0"/>
              <a:t>年</a:t>
            </a:r>
            <a:r>
              <a:rPr lang="en-US" altLang="zh-CN" sz="1400" dirty="0"/>
              <a:t>7</a:t>
            </a:r>
            <a:r>
              <a:rPr lang="zh-CN" altLang="en-US" sz="1400" dirty="0"/>
              <a:t>月，哈佛大学医学院利用</a:t>
            </a:r>
            <a:r>
              <a:rPr lang="en-US" altLang="zh-CN" sz="1400" dirty="0"/>
              <a:t>CRISPR DNA</a:t>
            </a:r>
            <a:r>
              <a:rPr lang="zh-CN" altLang="en-US" sz="1400" dirty="0"/>
              <a:t>编辑技术，将赛马视频录入大肠杆菌的基因组中，并以超过</a:t>
            </a:r>
            <a:r>
              <a:rPr lang="en-US" altLang="zh-CN" sz="1400" dirty="0"/>
              <a:t>90%</a:t>
            </a:r>
            <a:r>
              <a:rPr lang="zh-CN" altLang="en-US" sz="1400" dirty="0"/>
              <a:t>的准确率读取出来。 </a:t>
            </a:r>
          </a:p>
          <a:p>
            <a:pPr lvl="1"/>
            <a:r>
              <a:rPr lang="en-US" altLang="zh-CN" sz="1400" dirty="0"/>
              <a:t>2019</a:t>
            </a:r>
            <a:r>
              <a:rPr lang="zh-CN" altLang="en-US" sz="1400" dirty="0"/>
              <a:t>年</a:t>
            </a:r>
            <a:r>
              <a:rPr lang="en-US" altLang="zh-CN" sz="1400" dirty="0"/>
              <a:t>7</a:t>
            </a:r>
            <a:r>
              <a:rPr lang="zh-CN" altLang="en-US" sz="1400" dirty="0"/>
              <a:t>月，美国布朗大学研究人员用基于生物小分子的存储系统累计存储了超过</a:t>
            </a:r>
            <a:r>
              <a:rPr lang="en-US" altLang="zh-CN" sz="1400" dirty="0"/>
              <a:t>10</a:t>
            </a:r>
            <a:r>
              <a:rPr lang="zh-CN" altLang="en-US" sz="1400" dirty="0"/>
              <a:t>万比特的数字图像信息，从中获得图像的准确率可达</a:t>
            </a:r>
            <a:r>
              <a:rPr lang="en-US" altLang="zh-CN" sz="1400" dirty="0"/>
              <a:t>98% </a:t>
            </a:r>
            <a:r>
              <a:rPr lang="zh-CN" altLang="en-US" sz="1400" dirty="0"/>
              <a:t>以上。</a:t>
            </a:r>
          </a:p>
          <a:p>
            <a:pPr lvl="1"/>
            <a:r>
              <a:rPr lang="en-US" altLang="zh-CN" sz="1400" dirty="0"/>
              <a:t>2020</a:t>
            </a:r>
            <a:r>
              <a:rPr lang="zh-CN" altLang="en-US" sz="1400" dirty="0"/>
              <a:t>年</a:t>
            </a:r>
            <a:r>
              <a:rPr lang="en-US" altLang="zh-CN" sz="1400" dirty="0"/>
              <a:t>2</a:t>
            </a:r>
            <a:r>
              <a:rPr lang="zh-CN" altLang="en-US" sz="1400" dirty="0"/>
              <a:t>月，华尔街日报报道，波士顿初创公司</a:t>
            </a:r>
            <a:r>
              <a:rPr lang="en-US" altLang="zh-CN" sz="1400" dirty="0"/>
              <a:t>Catalog Technologies </a:t>
            </a:r>
            <a:r>
              <a:rPr lang="zh-CN" altLang="en-US" sz="1400" dirty="0"/>
              <a:t>正在开发一种独特的方式来存储大量数据，将维基百科中</a:t>
            </a:r>
            <a:r>
              <a:rPr lang="en-US" altLang="zh-CN" sz="1400" dirty="0"/>
              <a:t>14GB </a:t>
            </a:r>
            <a:r>
              <a:rPr lang="zh-CN" altLang="en-US" sz="1400" dirty="0"/>
              <a:t>数据存储在</a:t>
            </a:r>
            <a:r>
              <a:rPr lang="en-US" altLang="zh-CN" sz="1400" dirty="0"/>
              <a:t>DNA </a:t>
            </a:r>
            <a:r>
              <a:rPr lang="zh-CN" altLang="en-US" sz="1400" dirty="0"/>
              <a:t>分子中，像“在试管中滴几滴水”。用分子生物学仪器“打印”合成分子序列，以</a:t>
            </a:r>
            <a:r>
              <a:rPr lang="en-US" altLang="zh-CN" sz="1400" dirty="0"/>
              <a:t>DNA</a:t>
            </a:r>
            <a:r>
              <a:rPr lang="zh-CN" altLang="en-US" sz="1400" dirty="0"/>
              <a:t>形式存储和表示数字信息，使用</a:t>
            </a:r>
            <a:r>
              <a:rPr lang="en-US" altLang="zh-CN" sz="1400" dirty="0"/>
              <a:t>DNA</a:t>
            </a:r>
            <a:r>
              <a:rPr lang="zh-CN" altLang="en-US" sz="1400" dirty="0"/>
              <a:t>测序仪和专有软件的来读取信息，软件可以将分子翻译成文本、图片甚至视频。</a:t>
            </a:r>
          </a:p>
          <a:p>
            <a:endParaRPr lang="zh-CN" altLang="en-US" sz="1600" dirty="0"/>
          </a:p>
        </p:txBody>
      </p:sp>
      <p:pic>
        <p:nvPicPr>
          <p:cNvPr id="4" name="Picture 2" descr="http://5b0988e595225.cdn.sohucs.com/images/20200304/9e8251c942ee4d9bb3ed82e5cd274ed8.jpeg">
            <a:extLst>
              <a:ext uri="{FF2B5EF4-FFF2-40B4-BE49-F238E27FC236}">
                <a16:creationId xmlns:a16="http://schemas.microsoft.com/office/drawing/2014/main" id="{A6A0A955-B35F-445F-89C6-7C677E649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3291830"/>
            <a:ext cx="2969697" cy="1721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7565626"/>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D3933B-183E-4D9D-85F7-E78607C7E1A8}"/>
              </a:ext>
            </a:extLst>
          </p:cNvPr>
          <p:cNvSpPr>
            <a:spLocks noGrp="1"/>
          </p:cNvSpPr>
          <p:nvPr>
            <p:ph type="title"/>
          </p:nvPr>
        </p:nvSpPr>
        <p:spPr/>
        <p:txBody>
          <a:bodyPr/>
          <a:lstStyle/>
          <a:p>
            <a:pPr algn="ctr"/>
            <a:r>
              <a:rPr lang="zh-CN" altLang="en-US" dirty="0"/>
              <a:t>区块链存储</a:t>
            </a:r>
          </a:p>
        </p:txBody>
      </p:sp>
      <p:sp>
        <p:nvSpPr>
          <p:cNvPr id="3" name="内容占位符 2">
            <a:extLst>
              <a:ext uri="{FF2B5EF4-FFF2-40B4-BE49-F238E27FC236}">
                <a16:creationId xmlns:a16="http://schemas.microsoft.com/office/drawing/2014/main" id="{51BF581D-E20D-460C-A433-DD620A744719}"/>
              </a:ext>
            </a:extLst>
          </p:cNvPr>
          <p:cNvSpPr>
            <a:spLocks noGrp="1"/>
          </p:cNvSpPr>
          <p:nvPr>
            <p:ph idx="1"/>
          </p:nvPr>
        </p:nvSpPr>
        <p:spPr/>
        <p:txBody>
          <a:bodyPr/>
          <a:lstStyle/>
          <a:p>
            <a:r>
              <a:rPr lang="zh-CN" altLang="en-US" sz="1600" dirty="0"/>
              <a:t>如何在激励数据提供方分享数据的同时，又能保护隐私？区块链和存储的结合</a:t>
            </a:r>
          </a:p>
          <a:p>
            <a:pPr lvl="1"/>
            <a:r>
              <a:rPr lang="zh-CN" altLang="en-US" sz="1400" dirty="0"/>
              <a:t>区块链解决了数据确权、激励分享、数据资产交易和流转等问题。但区块链要发展，区块链基础设施要先行，目前区块链基础设施还处于非常早期，使得区块链应用数据的存储，具有很大的问题。无论是公有链还是联盟链，数据都是存放在中心化的存储上，前者可能选择公有云存储，后者选择类似</a:t>
            </a:r>
            <a:r>
              <a:rPr lang="en-US" altLang="zh-CN" sz="1400" dirty="0"/>
              <a:t>NAS</a:t>
            </a:r>
            <a:r>
              <a:rPr lang="zh-CN" altLang="en-US" sz="1400" dirty="0"/>
              <a:t>存储，都存在安全隐患、隐私泄露的可能性。实际上，去中心化的应用</a:t>
            </a:r>
            <a:r>
              <a:rPr lang="en-US" altLang="zh-CN" sz="1400" dirty="0" err="1"/>
              <a:t>DApp</a:t>
            </a:r>
            <a:r>
              <a:rPr lang="en-US" altLang="zh-CN" sz="1400" dirty="0"/>
              <a:t> </a:t>
            </a:r>
            <a:r>
              <a:rPr lang="zh-CN" altLang="en-US" sz="1400" dirty="0"/>
              <a:t>（</a:t>
            </a:r>
            <a:r>
              <a:rPr lang="en-US" altLang="zh-CN" sz="1400" dirty="0"/>
              <a:t>Distributed App</a:t>
            </a:r>
            <a:r>
              <a:rPr lang="zh-CN" altLang="en-US" sz="1400" dirty="0"/>
              <a:t>）需要的是端到端的去中心化的基础设施，包括去中心化方式组织的存储。</a:t>
            </a:r>
          </a:p>
          <a:p>
            <a:endParaRPr lang="zh-CN" altLang="en-US" sz="1600" dirty="0"/>
          </a:p>
        </p:txBody>
      </p:sp>
      <p:pic>
        <p:nvPicPr>
          <p:cNvPr id="4" name="Picture 2" descr="http://5b0988e595225.cdn.sohucs.com/images/20200304/7278dc664dbf4012acdbd2b3d6eb9aea.jpeg">
            <a:extLst>
              <a:ext uri="{FF2B5EF4-FFF2-40B4-BE49-F238E27FC236}">
                <a16:creationId xmlns:a16="http://schemas.microsoft.com/office/drawing/2014/main" id="{D19BF400-EC87-45AB-8C63-6E3C62129A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485044"/>
            <a:ext cx="4925397" cy="2282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3573204"/>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DA94F1-9D11-429A-AECE-28340E5B02A7}"/>
              </a:ext>
            </a:extLst>
          </p:cNvPr>
          <p:cNvSpPr>
            <a:spLocks noGrp="1"/>
          </p:cNvSpPr>
          <p:nvPr>
            <p:ph type="title"/>
          </p:nvPr>
        </p:nvSpPr>
        <p:spPr/>
        <p:txBody>
          <a:bodyPr/>
          <a:lstStyle/>
          <a:p>
            <a:pPr algn="ctr"/>
            <a:r>
              <a:rPr lang="zh-CN" altLang="en-US" dirty="0"/>
              <a:t>区块链存储</a:t>
            </a:r>
          </a:p>
        </p:txBody>
      </p:sp>
      <p:sp>
        <p:nvSpPr>
          <p:cNvPr id="3" name="内容占位符 2">
            <a:extLst>
              <a:ext uri="{FF2B5EF4-FFF2-40B4-BE49-F238E27FC236}">
                <a16:creationId xmlns:a16="http://schemas.microsoft.com/office/drawing/2014/main" id="{6FD99869-9AF8-4875-A009-DEA9D083FA2F}"/>
              </a:ext>
            </a:extLst>
          </p:cNvPr>
          <p:cNvSpPr>
            <a:spLocks noGrp="1"/>
          </p:cNvSpPr>
          <p:nvPr>
            <p:ph idx="1"/>
          </p:nvPr>
        </p:nvSpPr>
        <p:spPr/>
        <p:txBody>
          <a:bodyPr/>
          <a:lstStyle/>
          <a:p>
            <a:r>
              <a:rPr lang="zh-CN" altLang="en-US" sz="1800" b="1" dirty="0"/>
              <a:t>区块链和存储的结合</a:t>
            </a:r>
          </a:p>
          <a:p>
            <a:pPr lvl="1"/>
            <a:r>
              <a:rPr lang="en-US" altLang="zh-CN" sz="1600" dirty="0"/>
              <a:t>2018</a:t>
            </a:r>
            <a:r>
              <a:rPr lang="zh-CN" altLang="en-US" sz="1600" dirty="0"/>
              <a:t>年</a:t>
            </a:r>
            <a:r>
              <a:rPr lang="en-US" altLang="zh-CN" sz="1600" dirty="0"/>
              <a:t>7</a:t>
            </a:r>
            <a:r>
              <a:rPr lang="zh-CN" altLang="en-US" sz="1600" dirty="0"/>
              <a:t>月，</a:t>
            </a:r>
            <a:r>
              <a:rPr lang="en-US" altLang="zh-CN" sz="1600" dirty="0"/>
              <a:t>Gartner</a:t>
            </a:r>
            <a:r>
              <a:rPr lang="zh-CN" altLang="en-US" sz="1600" dirty="0"/>
              <a:t>技术成熟度曲线中区块链存储</a:t>
            </a:r>
            <a:r>
              <a:rPr lang="en-US" altLang="zh-CN" sz="1600" dirty="0"/>
              <a:t>(Distributed Storage in Blockchain) </a:t>
            </a:r>
            <a:r>
              <a:rPr lang="zh-CN" altLang="en-US" sz="1600" dirty="0"/>
              <a:t>列入科技诞生促动期</a:t>
            </a:r>
            <a:r>
              <a:rPr lang="en-US" altLang="zh-CN" sz="1600" dirty="0"/>
              <a:t>(Technology Trigger) </a:t>
            </a:r>
            <a:r>
              <a:rPr lang="zh-CN" altLang="en-US" sz="1600" dirty="0"/>
              <a:t>，预计</a:t>
            </a:r>
            <a:r>
              <a:rPr lang="en-US" altLang="zh-CN" sz="1600" dirty="0"/>
              <a:t>2023~2028</a:t>
            </a:r>
            <a:r>
              <a:rPr lang="zh-CN" altLang="en-US" sz="1600" dirty="0"/>
              <a:t>年进入到成熟应用的技术阶段，将有大量主流用户开始接纳</a:t>
            </a:r>
          </a:p>
        </p:txBody>
      </p:sp>
      <p:pic>
        <p:nvPicPr>
          <p:cNvPr id="4" name="Picture 2" descr="http://5b0988e595225.cdn.sohucs.com/images/20200304/88753614a5174ea0a11080af4d1abc0f.jpeg">
            <a:extLst>
              <a:ext uri="{FF2B5EF4-FFF2-40B4-BE49-F238E27FC236}">
                <a16:creationId xmlns:a16="http://schemas.microsoft.com/office/drawing/2014/main" id="{E53CA3F8-158E-44CD-930F-4B5D15F6DC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1923678"/>
            <a:ext cx="4911569" cy="295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136922"/>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915566"/>
            <a:ext cx="8568952" cy="3528392"/>
          </a:xfrm>
        </p:spPr>
        <p:txBody>
          <a:bodyPr/>
          <a:lstStyle/>
          <a:p>
            <a:r>
              <a:rPr lang="en-US" altLang="zh-CN" dirty="0"/>
              <a:t>Overview of Physical Storage Media</a:t>
            </a:r>
          </a:p>
          <a:p>
            <a:r>
              <a:rPr lang="en-US" altLang="zh-CN" dirty="0"/>
              <a:t>Magnetic Disks</a:t>
            </a:r>
          </a:p>
          <a:p>
            <a:r>
              <a:rPr lang="en-US" altLang="zh-CN" dirty="0"/>
              <a:t>RAID</a:t>
            </a:r>
          </a:p>
          <a:p>
            <a:r>
              <a:rPr lang="en-US" altLang="zh-CN" dirty="0"/>
              <a:t>Tertiary Storage </a:t>
            </a:r>
          </a:p>
          <a:p>
            <a:r>
              <a:rPr lang="en-US" altLang="zh-CN" b="1" dirty="0">
                <a:solidFill>
                  <a:srgbClr val="C00000"/>
                </a:solidFill>
              </a:rPr>
              <a:t>Storage Access</a:t>
            </a:r>
          </a:p>
          <a:p>
            <a:r>
              <a:rPr lang="en-US" altLang="zh-CN" dirty="0"/>
              <a:t>File Organization</a:t>
            </a:r>
          </a:p>
          <a:p>
            <a:r>
              <a:rPr lang="en-US" altLang="zh-CN" dirty="0"/>
              <a:t>Organization of Records in Files</a:t>
            </a:r>
          </a:p>
          <a:p>
            <a:r>
              <a:rPr lang="en-US" altLang="zh-CN" dirty="0"/>
              <a:t>Data-Dictionary Storage</a:t>
            </a:r>
          </a:p>
        </p:txBody>
      </p:sp>
    </p:spTree>
    <p:extLst>
      <p:ext uri="{BB962C8B-B14F-4D97-AF65-F5344CB8AC3E}">
        <p14:creationId xmlns:p14="http://schemas.microsoft.com/office/powerpoint/2010/main" val="266804"/>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96EB15-304A-40E2-B317-674290F79940}"/>
              </a:ext>
            </a:extLst>
          </p:cNvPr>
          <p:cNvSpPr>
            <a:spLocks noGrp="1"/>
          </p:cNvSpPr>
          <p:nvPr>
            <p:ph type="title"/>
          </p:nvPr>
        </p:nvSpPr>
        <p:spPr/>
        <p:txBody>
          <a:bodyPr/>
          <a:lstStyle/>
          <a:p>
            <a:pPr algn="ctr"/>
            <a:r>
              <a:rPr lang="en-US" altLang="zh-CN" dirty="0"/>
              <a:t>Storage Access</a:t>
            </a:r>
            <a:endParaRPr lang="zh-CN" altLang="en-US" dirty="0"/>
          </a:p>
        </p:txBody>
      </p:sp>
      <p:sp>
        <p:nvSpPr>
          <p:cNvPr id="3" name="内容占位符 2">
            <a:extLst>
              <a:ext uri="{FF2B5EF4-FFF2-40B4-BE49-F238E27FC236}">
                <a16:creationId xmlns:a16="http://schemas.microsoft.com/office/drawing/2014/main" id="{D3105340-015D-49B6-9435-2415F2249B33}"/>
              </a:ext>
            </a:extLst>
          </p:cNvPr>
          <p:cNvSpPr>
            <a:spLocks noGrp="1"/>
          </p:cNvSpPr>
          <p:nvPr>
            <p:ph idx="1"/>
          </p:nvPr>
        </p:nvSpPr>
        <p:spPr>
          <a:xfrm>
            <a:off x="251520" y="669215"/>
            <a:ext cx="8568952" cy="3805070"/>
          </a:xfrm>
        </p:spPr>
        <p:txBody>
          <a:bodyPr/>
          <a:lstStyle/>
          <a:p>
            <a:r>
              <a:rPr lang="en-US" altLang="zh-CN" b="1" dirty="0"/>
              <a:t>Storage of database file </a:t>
            </a:r>
          </a:p>
          <a:p>
            <a:pPr lvl="1"/>
            <a:r>
              <a:rPr lang="en-US" altLang="zh-CN" sz="1800" dirty="0"/>
              <a:t>partitioned into fixed-length storage units called </a:t>
            </a:r>
            <a:r>
              <a:rPr lang="en-US" altLang="zh-CN" sz="1800" b="1" dirty="0">
                <a:solidFill>
                  <a:srgbClr val="C00000"/>
                </a:solidFill>
              </a:rPr>
              <a:t>blocks</a:t>
            </a:r>
            <a:r>
              <a:rPr lang="en-US" altLang="zh-CN" sz="1800" dirty="0"/>
              <a:t>. Blocks are units of both storage allocation and data transfer</a:t>
            </a:r>
            <a:endParaRPr lang="en-US" altLang="zh-CN" sz="1600" dirty="0"/>
          </a:p>
          <a:p>
            <a:pPr lvl="1"/>
            <a:r>
              <a:rPr lang="en-US" altLang="zh-CN" sz="1800" dirty="0"/>
              <a:t>Database system seeks to minimize the number of block transfers between the disk and memory. We can reduce the number of disk accesses by keeping as many blocks as possible in main memory</a:t>
            </a:r>
          </a:p>
          <a:p>
            <a:r>
              <a:rPr lang="en-US" altLang="zh-CN" sz="2000" b="1" dirty="0">
                <a:solidFill>
                  <a:srgbClr val="C00000"/>
                </a:solidFill>
              </a:rPr>
              <a:t>Buffer</a:t>
            </a:r>
          </a:p>
          <a:p>
            <a:pPr lvl="1"/>
            <a:r>
              <a:rPr lang="en-US" altLang="zh-CN" sz="1800" dirty="0"/>
              <a:t>The portion of main memory available to store copies of disk blocks</a:t>
            </a:r>
          </a:p>
          <a:p>
            <a:pPr lvl="1"/>
            <a:r>
              <a:rPr lang="en-US" altLang="zh-CN" sz="1800" b="1" dirty="0">
                <a:solidFill>
                  <a:srgbClr val="C00000"/>
                </a:solidFill>
              </a:rPr>
              <a:t>Buffer manager:</a:t>
            </a:r>
            <a:r>
              <a:rPr lang="en-US" altLang="zh-CN" sz="1800" dirty="0"/>
              <a:t> subsystem responsible for allocating buffer space in main memory</a:t>
            </a:r>
          </a:p>
        </p:txBody>
      </p:sp>
    </p:spTree>
    <p:extLst>
      <p:ext uri="{BB962C8B-B14F-4D97-AF65-F5344CB8AC3E}">
        <p14:creationId xmlns:p14="http://schemas.microsoft.com/office/powerpoint/2010/main" val="33067695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E1DCC2-F576-4630-BC69-11FB93B210A6}"/>
              </a:ext>
            </a:extLst>
          </p:cNvPr>
          <p:cNvSpPr>
            <a:spLocks noGrp="1"/>
          </p:cNvSpPr>
          <p:nvPr>
            <p:ph type="title"/>
          </p:nvPr>
        </p:nvSpPr>
        <p:spPr/>
        <p:txBody>
          <a:bodyPr/>
          <a:lstStyle/>
          <a:p>
            <a:pPr algn="ctr"/>
            <a:r>
              <a:rPr lang="en-US" altLang="zh-CN" dirty="0"/>
              <a:t>Buffer Manager</a:t>
            </a:r>
            <a:endParaRPr lang="zh-CN" altLang="en-US" dirty="0"/>
          </a:p>
        </p:txBody>
      </p:sp>
      <p:sp>
        <p:nvSpPr>
          <p:cNvPr id="3" name="内容占位符 2">
            <a:extLst>
              <a:ext uri="{FF2B5EF4-FFF2-40B4-BE49-F238E27FC236}">
                <a16:creationId xmlns:a16="http://schemas.microsoft.com/office/drawing/2014/main" id="{7627067E-CD80-45F3-B48B-E72168A098DC}"/>
              </a:ext>
            </a:extLst>
          </p:cNvPr>
          <p:cNvSpPr>
            <a:spLocks noGrp="1"/>
          </p:cNvSpPr>
          <p:nvPr>
            <p:ph idx="1"/>
          </p:nvPr>
        </p:nvSpPr>
        <p:spPr>
          <a:xfrm>
            <a:off x="179512" y="669215"/>
            <a:ext cx="8568952" cy="3805070"/>
          </a:xfrm>
        </p:spPr>
        <p:txBody>
          <a:bodyPr/>
          <a:lstStyle/>
          <a:p>
            <a:r>
              <a:rPr lang="en-US" altLang="zh-CN" sz="2000" dirty="0"/>
              <a:t>Programs call the buffer manager when they need a block from disk</a:t>
            </a:r>
          </a:p>
          <a:p>
            <a:pPr lvl="1"/>
            <a:r>
              <a:rPr lang="en-US" altLang="zh-CN" sz="1800" dirty="0"/>
              <a:t>If the block is already in the buffer, buffer manager returns the address of the block in main memory</a:t>
            </a:r>
          </a:p>
          <a:p>
            <a:pPr lvl="1"/>
            <a:r>
              <a:rPr lang="en-US" altLang="zh-CN" sz="1800" dirty="0"/>
              <a:t>If the block is not in the buffer, the buffer manager</a:t>
            </a:r>
          </a:p>
          <a:p>
            <a:pPr lvl="2"/>
            <a:r>
              <a:rPr lang="en-US" altLang="zh-CN" sz="1600" dirty="0"/>
              <a:t>allocates space in the buffer for the block</a:t>
            </a:r>
          </a:p>
          <a:p>
            <a:pPr lvl="3"/>
            <a:r>
              <a:rPr lang="en-US" altLang="zh-CN" sz="1400" dirty="0"/>
              <a:t>Replacing (throwing out) some other block, if required, to make space for the new block.</a:t>
            </a:r>
          </a:p>
          <a:p>
            <a:pPr lvl="3"/>
            <a:r>
              <a:rPr lang="en-US" altLang="zh-CN" sz="1400" dirty="0"/>
              <a:t>Replaced block is written back to disk only if it was modified since the most recent time that it was written to/fetched from the disk</a:t>
            </a:r>
          </a:p>
          <a:p>
            <a:pPr lvl="2"/>
            <a:r>
              <a:rPr lang="en-US" altLang="zh-CN" sz="1600" dirty="0"/>
              <a:t>reads the block from the disk to the buffer, and returns the address of the block in main memory to requester</a:t>
            </a:r>
          </a:p>
          <a:p>
            <a:endParaRPr lang="zh-CN" altLang="en-US" sz="2000" dirty="0"/>
          </a:p>
        </p:txBody>
      </p:sp>
    </p:spTree>
    <p:extLst>
      <p:ext uri="{BB962C8B-B14F-4D97-AF65-F5344CB8AC3E}">
        <p14:creationId xmlns:p14="http://schemas.microsoft.com/office/powerpoint/2010/main" val="3971681016"/>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CEE529-F960-4174-B035-F24C7FA1B0D8}"/>
              </a:ext>
            </a:extLst>
          </p:cNvPr>
          <p:cNvSpPr>
            <a:spLocks noGrp="1"/>
          </p:cNvSpPr>
          <p:nvPr>
            <p:ph type="title"/>
          </p:nvPr>
        </p:nvSpPr>
        <p:spPr/>
        <p:txBody>
          <a:bodyPr/>
          <a:lstStyle/>
          <a:p>
            <a:pPr algn="ctr"/>
            <a:r>
              <a:rPr lang="en-US" altLang="zh-CN" dirty="0"/>
              <a:t>Buffer-Replacement Policies</a:t>
            </a:r>
            <a:endParaRPr lang="zh-CN" altLang="en-US" dirty="0"/>
          </a:p>
        </p:txBody>
      </p:sp>
      <p:sp>
        <p:nvSpPr>
          <p:cNvPr id="3" name="内容占位符 2">
            <a:extLst>
              <a:ext uri="{FF2B5EF4-FFF2-40B4-BE49-F238E27FC236}">
                <a16:creationId xmlns:a16="http://schemas.microsoft.com/office/drawing/2014/main" id="{E5C72ADB-F661-4399-86A4-7F92F946DA5B}"/>
              </a:ext>
            </a:extLst>
          </p:cNvPr>
          <p:cNvSpPr>
            <a:spLocks noGrp="1"/>
          </p:cNvSpPr>
          <p:nvPr>
            <p:ph idx="1"/>
          </p:nvPr>
        </p:nvSpPr>
        <p:spPr>
          <a:xfrm>
            <a:off x="251520" y="843557"/>
            <a:ext cx="8568952" cy="3630727"/>
          </a:xfrm>
        </p:spPr>
        <p:txBody>
          <a:bodyPr/>
          <a:lstStyle/>
          <a:p>
            <a:r>
              <a:rPr lang="en-US" altLang="zh-CN" sz="1800" b="1" dirty="0"/>
              <a:t>LRU (Lest Recently Used</a:t>
            </a:r>
            <a:r>
              <a:rPr lang="zh-CN" altLang="en-US" sz="1800" b="1" dirty="0"/>
              <a:t>，最近最少使用</a:t>
            </a:r>
            <a:r>
              <a:rPr lang="en-US" altLang="zh-CN" sz="1800" b="1" dirty="0"/>
              <a:t>)</a:t>
            </a:r>
          </a:p>
          <a:p>
            <a:pPr lvl="1"/>
            <a:r>
              <a:rPr lang="en-US" altLang="zh-CN" sz="1600" dirty="0"/>
              <a:t>Most operating systems replace the block </a:t>
            </a:r>
            <a:r>
              <a:rPr lang="en-US" altLang="zh-CN" sz="1600" b="1" dirty="0">
                <a:solidFill>
                  <a:srgbClr val="C00000"/>
                </a:solidFill>
              </a:rPr>
              <a:t>least recently used</a:t>
            </a:r>
            <a:endParaRPr lang="en-US" altLang="zh-CN" sz="1600" b="1" dirty="0"/>
          </a:p>
          <a:p>
            <a:pPr lvl="1"/>
            <a:r>
              <a:rPr lang="en-US" altLang="zh-CN" sz="1600" dirty="0"/>
              <a:t>Idea behind LRU – use past patterns of block references as a predictor of future references</a:t>
            </a:r>
          </a:p>
          <a:p>
            <a:pPr lvl="1"/>
            <a:r>
              <a:rPr lang="en-US" altLang="zh-CN" sz="1600" dirty="0"/>
              <a:t>LRU can be a bad strategy for certain access patterns involving repeated scans of data</a:t>
            </a:r>
          </a:p>
          <a:p>
            <a:pPr lvl="2"/>
            <a:r>
              <a:rPr lang="en-US" altLang="zh-CN" sz="1400" dirty="0"/>
              <a:t>E.g., computing the join of two relations r and s by a nested loops</a:t>
            </a:r>
          </a:p>
          <a:p>
            <a:pPr marL="914400" lvl="2" indent="0">
              <a:buNone/>
            </a:pPr>
            <a:br>
              <a:rPr lang="en-US" altLang="zh-CN" sz="1400" dirty="0"/>
            </a:br>
            <a:r>
              <a:rPr lang="en-US" altLang="zh-CN" sz="1400" dirty="0"/>
              <a:t>  for each tuple t</a:t>
            </a:r>
            <a:r>
              <a:rPr lang="en-US" altLang="zh-CN" sz="1400" baseline="-25000" dirty="0"/>
              <a:t>r</a:t>
            </a:r>
            <a:r>
              <a:rPr lang="en-US" altLang="zh-CN" sz="1400" dirty="0"/>
              <a:t> of r do </a:t>
            </a:r>
            <a:br>
              <a:rPr lang="en-US" altLang="zh-CN" sz="1400" dirty="0"/>
            </a:br>
            <a:r>
              <a:rPr lang="en-US" altLang="zh-CN" sz="1400" dirty="0"/>
              <a:t>     for each tuple </a:t>
            </a:r>
            <a:r>
              <a:rPr lang="en-US" altLang="zh-CN" sz="1400" dirty="0" err="1"/>
              <a:t>t</a:t>
            </a:r>
            <a:r>
              <a:rPr lang="en-US" altLang="zh-CN" sz="1400" baseline="-25000" dirty="0" err="1"/>
              <a:t>s</a:t>
            </a:r>
            <a:r>
              <a:rPr lang="en-US" altLang="zh-CN" sz="1400" dirty="0"/>
              <a:t> of s do </a:t>
            </a:r>
            <a:br>
              <a:rPr lang="en-US" altLang="zh-CN" sz="1400" dirty="0"/>
            </a:br>
            <a:r>
              <a:rPr lang="en-US" altLang="zh-CN" sz="1400" dirty="0"/>
              <a:t>       if the tuples t</a:t>
            </a:r>
            <a:r>
              <a:rPr lang="en-US" altLang="zh-CN" sz="1400" baseline="-25000" dirty="0"/>
              <a:t>r</a:t>
            </a:r>
            <a:r>
              <a:rPr lang="en-US" altLang="zh-CN" sz="1400" dirty="0"/>
              <a:t> and </a:t>
            </a:r>
            <a:r>
              <a:rPr lang="en-US" altLang="zh-CN" sz="1400" dirty="0" err="1"/>
              <a:t>t</a:t>
            </a:r>
            <a:r>
              <a:rPr lang="en-US" altLang="zh-CN" sz="1400" baseline="-25000" dirty="0" err="1"/>
              <a:t>s</a:t>
            </a:r>
            <a:r>
              <a:rPr lang="en-US" altLang="zh-CN" sz="1400" dirty="0"/>
              <a:t> match </a:t>
            </a:r>
          </a:p>
          <a:p>
            <a:pPr marL="914400" lvl="2" indent="0">
              <a:buNone/>
            </a:pPr>
            <a:r>
              <a:rPr lang="en-US" altLang="zh-CN" sz="1400" dirty="0"/>
              <a:t>          …</a:t>
            </a:r>
          </a:p>
          <a:p>
            <a:endParaRPr lang="zh-CN" altLang="en-US" sz="1800" dirty="0"/>
          </a:p>
        </p:txBody>
      </p:sp>
    </p:spTree>
    <p:extLst>
      <p:ext uri="{BB962C8B-B14F-4D97-AF65-F5344CB8AC3E}">
        <p14:creationId xmlns:p14="http://schemas.microsoft.com/office/powerpoint/2010/main" val="2906537232"/>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60E1CB-E56F-42F9-8782-97026C35F32B}"/>
              </a:ext>
            </a:extLst>
          </p:cNvPr>
          <p:cNvSpPr>
            <a:spLocks noGrp="1"/>
          </p:cNvSpPr>
          <p:nvPr>
            <p:ph type="title"/>
          </p:nvPr>
        </p:nvSpPr>
        <p:spPr/>
        <p:txBody>
          <a:bodyPr/>
          <a:lstStyle/>
          <a:p>
            <a:pPr algn="ctr"/>
            <a:r>
              <a:rPr lang="en-US" altLang="zh-CN" dirty="0"/>
              <a:t>Buffer-Replacement Policies (Cont.)</a:t>
            </a:r>
            <a:endParaRPr lang="zh-CN" altLang="en-US" dirty="0"/>
          </a:p>
        </p:txBody>
      </p:sp>
      <p:sp>
        <p:nvSpPr>
          <p:cNvPr id="3" name="内容占位符 2">
            <a:extLst>
              <a:ext uri="{FF2B5EF4-FFF2-40B4-BE49-F238E27FC236}">
                <a16:creationId xmlns:a16="http://schemas.microsoft.com/office/drawing/2014/main" id="{D17195DF-105A-46B8-BB86-0A46751341BA}"/>
              </a:ext>
            </a:extLst>
          </p:cNvPr>
          <p:cNvSpPr>
            <a:spLocks noGrp="1"/>
          </p:cNvSpPr>
          <p:nvPr>
            <p:ph idx="1"/>
          </p:nvPr>
        </p:nvSpPr>
        <p:spPr>
          <a:xfrm>
            <a:off x="251520" y="771550"/>
            <a:ext cx="8568952" cy="3661054"/>
          </a:xfrm>
        </p:spPr>
        <p:txBody>
          <a:bodyPr/>
          <a:lstStyle/>
          <a:p>
            <a:pPr>
              <a:spcBef>
                <a:spcPts val="300"/>
              </a:spcBef>
            </a:pPr>
            <a:r>
              <a:rPr lang="en-US" altLang="zh-CN" sz="1800" b="1" dirty="0">
                <a:solidFill>
                  <a:srgbClr val="C00000"/>
                </a:solidFill>
              </a:rPr>
              <a:t>Pinned block</a:t>
            </a:r>
            <a:r>
              <a:rPr lang="en-US" altLang="zh-CN" sz="1800" b="1" dirty="0"/>
              <a:t>(</a:t>
            </a:r>
            <a:r>
              <a:rPr lang="zh-CN" altLang="en-US" sz="1800" b="1" dirty="0"/>
              <a:t>被钉住的块</a:t>
            </a:r>
            <a:r>
              <a:rPr lang="en-US" altLang="zh-CN" sz="1800" b="1" dirty="0"/>
              <a:t>) </a:t>
            </a:r>
          </a:p>
          <a:p>
            <a:pPr lvl="1">
              <a:spcBef>
                <a:spcPts val="300"/>
              </a:spcBef>
            </a:pPr>
            <a:r>
              <a:rPr lang="en-US" altLang="zh-CN" sz="1600" dirty="0"/>
              <a:t>memory block that is not allowed to be written back to disk</a:t>
            </a:r>
          </a:p>
          <a:p>
            <a:pPr>
              <a:spcBef>
                <a:spcPts val="300"/>
              </a:spcBef>
            </a:pPr>
            <a:r>
              <a:rPr lang="en-US" altLang="zh-CN" sz="1800" b="1" dirty="0">
                <a:solidFill>
                  <a:srgbClr val="C00000"/>
                </a:solidFill>
              </a:rPr>
              <a:t>Toss-immediate</a:t>
            </a:r>
            <a:r>
              <a:rPr lang="en-US" altLang="zh-CN" sz="1800" b="1" dirty="0"/>
              <a:t> (</a:t>
            </a:r>
            <a:r>
              <a:rPr lang="zh-CN" altLang="en-US" sz="1800" b="1" dirty="0"/>
              <a:t>立即丢弃</a:t>
            </a:r>
            <a:r>
              <a:rPr lang="en-US" altLang="zh-CN" sz="1800" b="1" dirty="0"/>
              <a:t>) strategy</a:t>
            </a:r>
          </a:p>
          <a:p>
            <a:pPr lvl="1">
              <a:spcBef>
                <a:spcPts val="300"/>
              </a:spcBef>
            </a:pPr>
            <a:r>
              <a:rPr lang="en-US" altLang="zh-CN" sz="1600" dirty="0"/>
              <a:t>free the space occupied by a block as soon as the final tuple of that block has been processed</a:t>
            </a:r>
          </a:p>
          <a:p>
            <a:pPr>
              <a:spcBef>
                <a:spcPts val="300"/>
              </a:spcBef>
            </a:pPr>
            <a:r>
              <a:rPr lang="en-US" altLang="zh-CN" sz="1800" b="1" dirty="0">
                <a:solidFill>
                  <a:srgbClr val="C00000"/>
                </a:solidFill>
              </a:rPr>
              <a:t>Most recently used (MRU) </a:t>
            </a:r>
            <a:r>
              <a:rPr lang="en-US" altLang="zh-CN" sz="1800" b="1" dirty="0"/>
              <a:t>(</a:t>
            </a:r>
            <a:r>
              <a:rPr lang="zh-CN" altLang="en-US" sz="1800" b="1" dirty="0"/>
              <a:t>最近最常使用</a:t>
            </a:r>
            <a:r>
              <a:rPr lang="en-US" altLang="zh-CN" sz="1800" b="1" dirty="0"/>
              <a:t>) strategy</a:t>
            </a:r>
          </a:p>
          <a:p>
            <a:pPr lvl="1">
              <a:spcBef>
                <a:spcPts val="300"/>
              </a:spcBef>
            </a:pPr>
            <a:r>
              <a:rPr lang="en-US" altLang="zh-CN" sz="1600" dirty="0"/>
              <a:t>system must pin the block currently being processed. After the final tuple of that block has been processed, the block is unpinned, and it becomes the most recently used block</a:t>
            </a:r>
          </a:p>
        </p:txBody>
      </p:sp>
    </p:spTree>
    <p:extLst>
      <p:ext uri="{BB962C8B-B14F-4D97-AF65-F5344CB8AC3E}">
        <p14:creationId xmlns:p14="http://schemas.microsoft.com/office/powerpoint/2010/main" val="30038756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987574"/>
            <a:ext cx="8568952" cy="3456384"/>
          </a:xfrm>
        </p:spPr>
        <p:txBody>
          <a:bodyPr/>
          <a:lstStyle/>
          <a:p>
            <a:r>
              <a:rPr lang="en-US" altLang="zh-CN" dirty="0"/>
              <a:t>Overview of Physical Storage Media</a:t>
            </a:r>
          </a:p>
          <a:p>
            <a:r>
              <a:rPr lang="en-US" altLang="zh-CN" dirty="0"/>
              <a:t>Magnetic Disks</a:t>
            </a:r>
          </a:p>
          <a:p>
            <a:r>
              <a:rPr lang="en-US" altLang="zh-CN" dirty="0"/>
              <a:t>RAID</a:t>
            </a:r>
          </a:p>
          <a:p>
            <a:r>
              <a:rPr lang="en-US" altLang="zh-CN" dirty="0"/>
              <a:t>Tertiary Storage </a:t>
            </a:r>
          </a:p>
          <a:p>
            <a:r>
              <a:rPr lang="en-US" altLang="zh-CN" dirty="0"/>
              <a:t>Storage Access</a:t>
            </a:r>
          </a:p>
          <a:p>
            <a:r>
              <a:rPr lang="en-US" altLang="zh-CN" b="1" dirty="0">
                <a:solidFill>
                  <a:srgbClr val="C00000"/>
                </a:solidFill>
              </a:rPr>
              <a:t>File Organization</a:t>
            </a:r>
          </a:p>
          <a:p>
            <a:r>
              <a:rPr lang="en-US" altLang="zh-CN" dirty="0"/>
              <a:t>Organization of Records in Files</a:t>
            </a:r>
          </a:p>
          <a:p>
            <a:r>
              <a:rPr lang="en-US" altLang="zh-CN" dirty="0"/>
              <a:t>Data-Dictionary Storage</a:t>
            </a:r>
          </a:p>
        </p:txBody>
      </p:sp>
    </p:spTree>
    <p:extLst>
      <p:ext uri="{BB962C8B-B14F-4D97-AF65-F5344CB8AC3E}">
        <p14:creationId xmlns:p14="http://schemas.microsoft.com/office/powerpoint/2010/main" val="1202710899"/>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5B8F41-E4C0-4583-9A1C-790975F0CF5F}"/>
              </a:ext>
            </a:extLst>
          </p:cNvPr>
          <p:cNvSpPr>
            <a:spLocks noGrp="1"/>
          </p:cNvSpPr>
          <p:nvPr>
            <p:ph type="title"/>
          </p:nvPr>
        </p:nvSpPr>
        <p:spPr/>
        <p:txBody>
          <a:bodyPr/>
          <a:lstStyle/>
          <a:p>
            <a:pPr algn="ctr"/>
            <a:r>
              <a:rPr lang="en-US" altLang="zh-CN" dirty="0"/>
              <a:t>File Organization</a:t>
            </a:r>
            <a:endParaRPr lang="zh-CN" altLang="en-US" dirty="0"/>
          </a:p>
        </p:txBody>
      </p:sp>
      <p:sp>
        <p:nvSpPr>
          <p:cNvPr id="3" name="内容占位符 2">
            <a:extLst>
              <a:ext uri="{FF2B5EF4-FFF2-40B4-BE49-F238E27FC236}">
                <a16:creationId xmlns:a16="http://schemas.microsoft.com/office/drawing/2014/main" id="{5459E45A-E059-474A-AA08-2DD1EC1B8C8C}"/>
              </a:ext>
            </a:extLst>
          </p:cNvPr>
          <p:cNvSpPr>
            <a:spLocks noGrp="1"/>
          </p:cNvSpPr>
          <p:nvPr>
            <p:ph idx="1"/>
          </p:nvPr>
        </p:nvSpPr>
        <p:spPr/>
        <p:txBody>
          <a:bodyPr/>
          <a:lstStyle/>
          <a:p>
            <a:r>
              <a:rPr lang="en-US" altLang="zh-CN" sz="2000" dirty="0"/>
              <a:t>The database is stored as a collection of files. Each file is a sequence of records. A record is a sequence of fields</a:t>
            </a:r>
          </a:p>
          <a:p>
            <a:r>
              <a:rPr lang="en-US" altLang="zh-CN" sz="2000" dirty="0"/>
              <a:t>One approach</a:t>
            </a:r>
          </a:p>
          <a:p>
            <a:pPr lvl="1"/>
            <a:r>
              <a:rPr lang="en-US" altLang="zh-CN" sz="1800" dirty="0"/>
              <a:t>Assume that the record size is fixed</a:t>
            </a:r>
          </a:p>
          <a:p>
            <a:pPr lvl="1"/>
            <a:r>
              <a:rPr lang="en-US" altLang="zh-CN" sz="1800" dirty="0"/>
              <a:t>Each file has records of one particular type only</a:t>
            </a:r>
          </a:p>
          <a:p>
            <a:pPr lvl="1"/>
            <a:r>
              <a:rPr lang="en-US" altLang="zh-CN" sz="1800" dirty="0"/>
              <a:t>Different files are used for different relations</a:t>
            </a:r>
          </a:p>
          <a:p>
            <a:pPr marL="457200" lvl="1" indent="0">
              <a:buNone/>
            </a:pPr>
            <a:r>
              <a:rPr lang="en-US" altLang="zh-CN" sz="1800" b="1" dirty="0"/>
              <a:t>Note</a:t>
            </a:r>
            <a:r>
              <a:rPr lang="en-US" altLang="zh-CN" sz="1800" dirty="0"/>
              <a:t>: this case is easy to implement. We will consider variable length records later</a:t>
            </a:r>
          </a:p>
          <a:p>
            <a:endParaRPr lang="zh-CN" altLang="en-US" sz="2000" dirty="0"/>
          </a:p>
        </p:txBody>
      </p:sp>
    </p:spTree>
    <p:extLst>
      <p:ext uri="{BB962C8B-B14F-4D97-AF65-F5344CB8AC3E}">
        <p14:creationId xmlns:p14="http://schemas.microsoft.com/office/powerpoint/2010/main" val="1740378272"/>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DB47EE-DF2F-4B26-A3ED-CF7275042BCA}"/>
              </a:ext>
            </a:extLst>
          </p:cNvPr>
          <p:cNvSpPr>
            <a:spLocks noGrp="1"/>
          </p:cNvSpPr>
          <p:nvPr>
            <p:ph type="title"/>
          </p:nvPr>
        </p:nvSpPr>
        <p:spPr/>
        <p:txBody>
          <a:bodyPr/>
          <a:lstStyle/>
          <a:p>
            <a:pPr algn="ctr"/>
            <a:r>
              <a:rPr lang="en-US" altLang="zh-CN" dirty="0"/>
              <a:t>Fixed-Length Records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73D8250-75AA-4B32-A98C-30C5DA2A1735}"/>
                  </a:ext>
                </a:extLst>
              </p:cNvPr>
              <p:cNvSpPr>
                <a:spLocks noGrp="1"/>
              </p:cNvSpPr>
              <p:nvPr>
                <p:ph idx="1"/>
              </p:nvPr>
            </p:nvSpPr>
            <p:spPr/>
            <p:txBody>
              <a:bodyPr/>
              <a:lstStyle/>
              <a:p>
                <a:r>
                  <a:rPr lang="en-US" altLang="zh-CN" sz="2000" b="1" dirty="0"/>
                  <a:t>Simple approach</a:t>
                </a:r>
              </a:p>
              <a:p>
                <a:pPr lvl="1"/>
                <a:r>
                  <a:rPr lang="en-US" altLang="zh-CN" sz="1600" dirty="0"/>
                  <a:t>Store record </a:t>
                </a:r>
                <a14:m>
                  <m:oMath xmlns:m="http://schemas.openxmlformats.org/officeDocument/2006/math">
                    <m:r>
                      <a:rPr lang="en-US" altLang="zh-CN" sz="1600" b="0" i="1" smtClean="0">
                        <a:latin typeface="Cambria Math" panose="02040503050406030204" pitchFamily="18" charset="0"/>
                      </a:rPr>
                      <m:t>𝑖</m:t>
                    </m:r>
                  </m:oMath>
                </a14:m>
                <a:r>
                  <a:rPr lang="en-US" altLang="zh-CN" sz="1600" dirty="0"/>
                  <a:t> starting from byte </a:t>
                </a:r>
                <a14:m>
                  <m:oMath xmlns:m="http://schemas.openxmlformats.org/officeDocument/2006/math">
                    <m:r>
                      <a:rPr lang="en-US" altLang="zh-CN" sz="1600" b="0" i="1" smtClean="0">
                        <a:latin typeface="Cambria Math" panose="02040503050406030204" pitchFamily="18" charset="0"/>
                      </a:rPr>
                      <m:t>𝑛</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−1)</m:t>
                    </m:r>
                  </m:oMath>
                </a14:m>
                <a:r>
                  <a:rPr lang="en-US" altLang="zh-CN" sz="1600" dirty="0"/>
                  <a:t>, where </a:t>
                </a:r>
                <a14:m>
                  <m:oMath xmlns:m="http://schemas.openxmlformats.org/officeDocument/2006/math">
                    <m:r>
                      <a:rPr lang="en-US" altLang="zh-CN" sz="1600" i="1">
                        <a:latin typeface="Cambria Math" panose="02040503050406030204" pitchFamily="18" charset="0"/>
                      </a:rPr>
                      <m:t>𝑛</m:t>
                    </m:r>
                  </m:oMath>
                </a14:m>
                <a:r>
                  <a:rPr lang="en-US" altLang="zh-CN" sz="1600" dirty="0"/>
                  <a:t> is the size of each record</a:t>
                </a:r>
              </a:p>
              <a:p>
                <a:pPr lvl="1"/>
                <a:r>
                  <a:rPr lang="en-US" altLang="zh-CN" sz="1600" dirty="0"/>
                  <a:t>Record access is simple but records may cross blocks</a:t>
                </a:r>
              </a:p>
              <a:p>
                <a:pPr lvl="2"/>
                <a:r>
                  <a:rPr lang="en-US" altLang="zh-CN" sz="1400" dirty="0"/>
                  <a:t>Modification: don’t allow records to cross block boundaries</a:t>
                </a:r>
                <a:endParaRPr lang="en-US" altLang="zh-CN" sz="2000" dirty="0"/>
              </a:p>
              <a:p>
                <a:r>
                  <a:rPr lang="en-US" altLang="zh-CN" sz="2000" b="1" dirty="0"/>
                  <a:t>Alternative methods for deleting record </a:t>
                </a:r>
                <a14:m>
                  <m:oMath xmlns:m="http://schemas.openxmlformats.org/officeDocument/2006/math">
                    <m:r>
                      <a:rPr lang="en-US" altLang="zh-CN" sz="2000" b="1" i="1" smtClean="0">
                        <a:latin typeface="Cambria Math" panose="02040503050406030204" pitchFamily="18" charset="0"/>
                      </a:rPr>
                      <m:t>𝒊</m:t>
                    </m:r>
                  </m:oMath>
                </a14:m>
                <a:endParaRPr lang="en-US" altLang="zh-CN" sz="2000" b="1" dirty="0"/>
              </a:p>
              <a:p>
                <a:pPr lvl="1"/>
                <a:r>
                  <a:rPr lang="en-US" altLang="zh-CN" sz="1600" dirty="0"/>
                  <a:t>move records </a:t>
                </a:r>
                <a14:m>
                  <m:oMath xmlns:m="http://schemas.openxmlformats.org/officeDocument/2006/math">
                    <m: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+1</m:t>
                    </m:r>
                  </m:oMath>
                </a14:m>
                <a:r>
                  <a:rPr lang="en-US" altLang="zh-CN" sz="1600" dirty="0"/>
                  <a:t>, . . ., </a:t>
                </a:r>
                <a14:m>
                  <m:oMath xmlns:m="http://schemas.openxmlformats.org/officeDocument/2006/math">
                    <m:r>
                      <a:rPr lang="en-US" altLang="zh-CN" sz="1600" b="0" i="1" smtClean="0">
                        <a:latin typeface="Cambria Math" panose="02040503050406030204" pitchFamily="18" charset="0"/>
                      </a:rPr>
                      <m:t>𝑛</m:t>
                    </m:r>
                  </m:oMath>
                </a14:m>
                <a:r>
                  <a:rPr lang="en-US" altLang="zh-CN" sz="1600" dirty="0"/>
                  <a:t> to </a:t>
                </a:r>
                <a14:m>
                  <m:oMath xmlns:m="http://schemas.openxmlformats.org/officeDocument/2006/math">
                    <m:r>
                      <a:rPr lang="en-US" altLang="zh-CN" sz="1600" b="0" i="1" smtClean="0">
                        <a:latin typeface="Cambria Math" panose="02040503050406030204" pitchFamily="18" charset="0"/>
                      </a:rPr>
                      <m:t>𝑖</m:t>
                    </m:r>
                  </m:oMath>
                </a14:m>
                <a:r>
                  <a:rPr lang="en-US" altLang="zh-CN" sz="1600" dirty="0"/>
                  <a:t>, . . . , </a:t>
                </a:r>
                <a14:m>
                  <m:oMath xmlns:m="http://schemas.openxmlformats.org/officeDocument/2006/math">
                    <m:r>
                      <a:rPr lang="en-US" altLang="zh-CN" sz="1600" b="0" i="1" smtClean="0">
                        <a:latin typeface="Cambria Math" panose="02040503050406030204" pitchFamily="18" charset="0"/>
                      </a:rPr>
                      <m:t>𝑛</m:t>
                    </m:r>
                    <m:r>
                      <a:rPr lang="en-US" altLang="zh-CN" sz="1600" b="0" i="1" smtClean="0">
                        <a:latin typeface="Cambria Math" panose="02040503050406030204" pitchFamily="18" charset="0"/>
                      </a:rPr>
                      <m:t>−1</m:t>
                    </m:r>
                  </m:oMath>
                </a14:m>
                <a:endParaRPr lang="en-US" altLang="zh-CN" sz="1600" dirty="0"/>
              </a:p>
              <a:p>
                <a:pPr lvl="1"/>
                <a:r>
                  <a:rPr lang="en-US" altLang="zh-CN" sz="1600" dirty="0"/>
                  <a:t>move record </a:t>
                </a:r>
                <a14:m>
                  <m:oMath xmlns:m="http://schemas.openxmlformats.org/officeDocument/2006/math">
                    <m:r>
                      <a:rPr lang="en-US" altLang="zh-CN" sz="1600" b="0" i="1" smtClean="0">
                        <a:latin typeface="Cambria Math" panose="02040503050406030204" pitchFamily="18" charset="0"/>
                      </a:rPr>
                      <m:t>𝑛</m:t>
                    </m:r>
                  </m:oMath>
                </a14:m>
                <a:r>
                  <a:rPr lang="en-US" altLang="zh-CN" sz="1600" dirty="0"/>
                  <a:t> to </a:t>
                </a:r>
                <a14:m>
                  <m:oMath xmlns:m="http://schemas.openxmlformats.org/officeDocument/2006/math">
                    <m:r>
                      <a:rPr lang="en-US" altLang="zh-CN" sz="1600" b="0" i="1" smtClean="0">
                        <a:latin typeface="Cambria Math" panose="02040503050406030204" pitchFamily="18" charset="0"/>
                      </a:rPr>
                      <m:t>𝑖</m:t>
                    </m:r>
                  </m:oMath>
                </a14:m>
                <a:endParaRPr lang="en-US" altLang="zh-CN" sz="1600" dirty="0"/>
              </a:p>
              <a:p>
                <a:pPr lvl="1"/>
                <a:r>
                  <a:rPr lang="en-US" altLang="zh-CN" sz="1600" dirty="0"/>
                  <a:t>do not move records, but link all free records on a free list</a:t>
                </a:r>
              </a:p>
              <a:p>
                <a:endParaRPr lang="zh-CN" altLang="en-US" sz="1800" dirty="0"/>
              </a:p>
            </p:txBody>
          </p:sp>
        </mc:Choice>
        <mc:Fallback xmlns="">
          <p:sp>
            <p:nvSpPr>
              <p:cNvPr id="3" name="内容占位符 2">
                <a:extLst>
                  <a:ext uri="{FF2B5EF4-FFF2-40B4-BE49-F238E27FC236}">
                    <a16:creationId xmlns:a16="http://schemas.microsoft.com/office/drawing/2014/main" id="{D73D8250-75AA-4B32-A98C-30C5DA2A1735}"/>
                  </a:ext>
                </a:extLst>
              </p:cNvPr>
              <p:cNvSpPr>
                <a:spLocks noGrp="1" noRot="1" noChangeAspect="1" noMove="1" noResize="1" noEditPoints="1" noAdjustHandles="1" noChangeArrowheads="1" noChangeShapeType="1" noTextEdit="1"/>
              </p:cNvSpPr>
              <p:nvPr>
                <p:ph idx="1"/>
              </p:nvPr>
            </p:nvSpPr>
            <p:spPr>
              <a:blipFill>
                <a:blip r:embed="rId2"/>
                <a:stretch>
                  <a:fillRect l="-640"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72719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arn(inVertical)">
                                      <p:cBhvr>
                                        <p:cTn id="7" dur="500"/>
                                        <p:tgtEl>
                                          <p:spTgt spid="3">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arn(inVertical)">
                                      <p:cBhvr>
                                        <p:cTn id="10" dur="500"/>
                                        <p:tgtEl>
                                          <p:spTgt spid="3">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arn(inVertical)">
                                      <p:cBhvr>
                                        <p:cTn id="13" dur="500"/>
                                        <p:tgtEl>
                                          <p:spTgt spid="3">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barn(inVertical)">
                                      <p:cBhvr>
                                        <p:cTn id="1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9F4CCBFC-2976-4FF3-B9E2-11AE645EEE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auto">
          <a:xfrm>
            <a:off x="207017" y="1298817"/>
            <a:ext cx="4150847" cy="265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590C5253-1A9A-4DEC-975A-A42384950CF7}"/>
              </a:ext>
            </a:extLst>
          </p:cNvPr>
          <p:cNvSpPr>
            <a:spLocks noGrp="1"/>
          </p:cNvSpPr>
          <p:nvPr>
            <p:ph type="title"/>
          </p:nvPr>
        </p:nvSpPr>
        <p:spPr/>
        <p:txBody>
          <a:bodyPr/>
          <a:lstStyle/>
          <a:p>
            <a:pPr algn="ctr"/>
            <a:r>
              <a:rPr lang="en-US" altLang="zh-CN" dirty="0"/>
              <a:t>Delete Record 3 and Move All Records</a:t>
            </a:r>
            <a:endParaRPr lang="zh-CN" altLang="en-US" dirty="0"/>
          </a:p>
        </p:txBody>
      </p:sp>
      <p:sp>
        <p:nvSpPr>
          <p:cNvPr id="3" name="箭头: 右 2">
            <a:extLst>
              <a:ext uri="{FF2B5EF4-FFF2-40B4-BE49-F238E27FC236}">
                <a16:creationId xmlns:a16="http://schemas.microsoft.com/office/drawing/2014/main" id="{4C911582-7F91-4606-8320-E6CF81CC8779}"/>
              </a:ext>
            </a:extLst>
          </p:cNvPr>
          <p:cNvSpPr/>
          <p:nvPr/>
        </p:nvSpPr>
        <p:spPr>
          <a:xfrm>
            <a:off x="4422531" y="2288605"/>
            <a:ext cx="360040" cy="504056"/>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222FAA7-58B0-472B-93F2-12A9251AC7B1}"/>
              </a:ext>
            </a:extLst>
          </p:cNvPr>
          <p:cNvSpPr/>
          <p:nvPr/>
        </p:nvSpPr>
        <p:spPr>
          <a:xfrm>
            <a:off x="41591" y="1923678"/>
            <a:ext cx="4392488"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Graphic 5">
            <a:extLst>
              <a:ext uri="{FF2B5EF4-FFF2-40B4-BE49-F238E27FC236}">
                <a16:creationId xmlns:a16="http://schemas.microsoft.com/office/drawing/2014/main" id="{F5576AFE-02C2-4348-8F1E-7F5213955C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82571" y="1298817"/>
            <a:ext cx="4357102" cy="2545865"/>
          </a:xfrm>
          <a:prstGeom prst="rect">
            <a:avLst/>
          </a:prstGeom>
        </p:spPr>
      </p:pic>
    </p:spTree>
    <p:extLst>
      <p:ext uri="{BB962C8B-B14F-4D97-AF65-F5344CB8AC3E}">
        <p14:creationId xmlns:p14="http://schemas.microsoft.com/office/powerpoint/2010/main" val="3843607231"/>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9F4CCBFC-2976-4FF3-B9E2-11AE645EEE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auto">
          <a:xfrm>
            <a:off x="107504" y="1298817"/>
            <a:ext cx="4150847" cy="265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590C5253-1A9A-4DEC-975A-A42384950CF7}"/>
              </a:ext>
            </a:extLst>
          </p:cNvPr>
          <p:cNvSpPr>
            <a:spLocks noGrp="1"/>
          </p:cNvSpPr>
          <p:nvPr>
            <p:ph type="title"/>
          </p:nvPr>
        </p:nvSpPr>
        <p:spPr/>
        <p:txBody>
          <a:bodyPr/>
          <a:lstStyle/>
          <a:p>
            <a:pPr algn="ctr"/>
            <a:r>
              <a:rPr lang="en-US" altLang="zh-CN" dirty="0"/>
              <a:t>Delete Record 3 and Move Final Record</a:t>
            </a:r>
            <a:endParaRPr lang="zh-CN" altLang="en-US" dirty="0"/>
          </a:p>
        </p:txBody>
      </p:sp>
      <p:sp>
        <p:nvSpPr>
          <p:cNvPr id="3" name="箭头: 右 2">
            <a:extLst>
              <a:ext uri="{FF2B5EF4-FFF2-40B4-BE49-F238E27FC236}">
                <a16:creationId xmlns:a16="http://schemas.microsoft.com/office/drawing/2014/main" id="{4C911582-7F91-4606-8320-E6CF81CC8779}"/>
              </a:ext>
            </a:extLst>
          </p:cNvPr>
          <p:cNvSpPr/>
          <p:nvPr/>
        </p:nvSpPr>
        <p:spPr>
          <a:xfrm>
            <a:off x="4283968" y="2288605"/>
            <a:ext cx="360040" cy="504056"/>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222FAA7-58B0-472B-93F2-12A9251AC7B1}"/>
              </a:ext>
            </a:extLst>
          </p:cNvPr>
          <p:cNvSpPr/>
          <p:nvPr/>
        </p:nvSpPr>
        <p:spPr>
          <a:xfrm>
            <a:off x="41591" y="1923678"/>
            <a:ext cx="4242377"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Graphic 4">
            <a:extLst>
              <a:ext uri="{FF2B5EF4-FFF2-40B4-BE49-F238E27FC236}">
                <a16:creationId xmlns:a16="http://schemas.microsoft.com/office/drawing/2014/main" id="{57778C1E-DCEA-447C-99A5-A41591D38C8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16016" y="1288043"/>
            <a:ext cx="4310813" cy="2505179"/>
          </a:xfrm>
          <a:prstGeom prst="rect">
            <a:avLst/>
          </a:prstGeom>
        </p:spPr>
      </p:pic>
      <p:sp>
        <p:nvSpPr>
          <p:cNvPr id="10" name="矩形 9">
            <a:extLst>
              <a:ext uri="{FF2B5EF4-FFF2-40B4-BE49-F238E27FC236}">
                <a16:creationId xmlns:a16="http://schemas.microsoft.com/office/drawing/2014/main" id="{B916B407-2280-401E-BBFA-F0E1F9C07DF8}"/>
              </a:ext>
            </a:extLst>
          </p:cNvPr>
          <p:cNvSpPr/>
          <p:nvPr/>
        </p:nvSpPr>
        <p:spPr>
          <a:xfrm>
            <a:off x="4683219" y="1923678"/>
            <a:ext cx="4242377"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0516706"/>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60B8E1-B276-44EB-A8E3-E51F3D9BD9A9}"/>
              </a:ext>
            </a:extLst>
          </p:cNvPr>
          <p:cNvSpPr>
            <a:spLocks noGrp="1"/>
          </p:cNvSpPr>
          <p:nvPr>
            <p:ph type="title"/>
          </p:nvPr>
        </p:nvSpPr>
        <p:spPr/>
        <p:txBody>
          <a:bodyPr/>
          <a:lstStyle/>
          <a:p>
            <a:pPr algn="ctr"/>
            <a:r>
              <a:rPr lang="en-US" altLang="zh-CN" dirty="0"/>
              <a:t>Free List (</a:t>
            </a:r>
            <a:r>
              <a:rPr lang="zh-CN" altLang="en-US" dirty="0"/>
              <a:t>空闲列表</a:t>
            </a:r>
            <a:r>
              <a:rPr lang="en-US" altLang="zh-CN" dirty="0"/>
              <a:t>)</a:t>
            </a:r>
            <a:endParaRPr lang="zh-CN" altLang="en-US" dirty="0"/>
          </a:p>
        </p:txBody>
      </p:sp>
      <p:sp>
        <p:nvSpPr>
          <p:cNvPr id="3" name="内容占位符 2">
            <a:extLst>
              <a:ext uri="{FF2B5EF4-FFF2-40B4-BE49-F238E27FC236}">
                <a16:creationId xmlns:a16="http://schemas.microsoft.com/office/drawing/2014/main" id="{8F4C5281-42F9-4A86-9AC0-4D5467DF2302}"/>
              </a:ext>
            </a:extLst>
          </p:cNvPr>
          <p:cNvSpPr>
            <a:spLocks noGrp="1"/>
          </p:cNvSpPr>
          <p:nvPr>
            <p:ph idx="1"/>
          </p:nvPr>
        </p:nvSpPr>
        <p:spPr>
          <a:xfrm>
            <a:off x="179512" y="669215"/>
            <a:ext cx="8784976" cy="2910647"/>
          </a:xfrm>
        </p:spPr>
        <p:txBody>
          <a:bodyPr/>
          <a:lstStyle/>
          <a:p>
            <a:pPr>
              <a:spcBef>
                <a:spcPts val="600"/>
              </a:spcBef>
            </a:pPr>
            <a:r>
              <a:rPr lang="en-US" altLang="zh-CN" sz="1800" dirty="0"/>
              <a:t>Store the address of the first deleted record in the file header</a:t>
            </a:r>
          </a:p>
          <a:p>
            <a:pPr>
              <a:spcBef>
                <a:spcPts val="600"/>
              </a:spcBef>
            </a:pPr>
            <a:r>
              <a:rPr lang="en-US" altLang="zh-CN" sz="1800" dirty="0"/>
              <a:t>Use the first record to store the address of the second deleted record, and so on</a:t>
            </a:r>
          </a:p>
          <a:p>
            <a:pPr>
              <a:spcBef>
                <a:spcPts val="600"/>
              </a:spcBef>
            </a:pPr>
            <a:r>
              <a:rPr lang="en-US" altLang="zh-CN" sz="1800" dirty="0"/>
              <a:t>These stored addresses are pointers since they “point” to the location of a record</a:t>
            </a:r>
          </a:p>
        </p:txBody>
      </p:sp>
      <p:pic>
        <p:nvPicPr>
          <p:cNvPr id="5" name="Graphic 5">
            <a:extLst>
              <a:ext uri="{FF2B5EF4-FFF2-40B4-BE49-F238E27FC236}">
                <a16:creationId xmlns:a16="http://schemas.microsoft.com/office/drawing/2014/main" id="{BD4EC9B3-0153-42F4-B4AB-9D1A903324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23728" y="1779662"/>
            <a:ext cx="5112568" cy="3212886"/>
          </a:xfrm>
          <a:prstGeom prst="rect">
            <a:avLst/>
          </a:prstGeom>
        </p:spPr>
      </p:pic>
    </p:spTree>
    <p:extLst>
      <p:ext uri="{BB962C8B-B14F-4D97-AF65-F5344CB8AC3E}">
        <p14:creationId xmlns:p14="http://schemas.microsoft.com/office/powerpoint/2010/main" val="2646483180"/>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ABA887-E2E4-4042-B821-AF66248CDE43}"/>
              </a:ext>
            </a:extLst>
          </p:cNvPr>
          <p:cNvSpPr>
            <a:spLocks noGrp="1"/>
          </p:cNvSpPr>
          <p:nvPr>
            <p:ph type="title"/>
          </p:nvPr>
        </p:nvSpPr>
        <p:spPr/>
        <p:txBody>
          <a:bodyPr/>
          <a:lstStyle/>
          <a:p>
            <a:pPr algn="ctr"/>
            <a:r>
              <a:rPr lang="en-US" altLang="zh-CN" dirty="0"/>
              <a:t>Variable-Length Records (</a:t>
            </a:r>
            <a:r>
              <a:rPr lang="zh-CN" altLang="en-US" dirty="0"/>
              <a:t>变长记录</a:t>
            </a:r>
            <a:r>
              <a:rPr lang="en-US" altLang="zh-CN" dirty="0"/>
              <a:t>)</a:t>
            </a:r>
            <a:endParaRPr lang="zh-CN" altLang="en-US" dirty="0"/>
          </a:p>
        </p:txBody>
      </p:sp>
      <p:sp>
        <p:nvSpPr>
          <p:cNvPr id="3" name="内容占位符 2">
            <a:extLst>
              <a:ext uri="{FF2B5EF4-FFF2-40B4-BE49-F238E27FC236}">
                <a16:creationId xmlns:a16="http://schemas.microsoft.com/office/drawing/2014/main" id="{E52188D3-E0F0-45E0-AEB0-3D6655370EF5}"/>
              </a:ext>
            </a:extLst>
          </p:cNvPr>
          <p:cNvSpPr>
            <a:spLocks noGrp="1"/>
          </p:cNvSpPr>
          <p:nvPr>
            <p:ph idx="1"/>
          </p:nvPr>
        </p:nvSpPr>
        <p:spPr>
          <a:xfrm>
            <a:off x="251520" y="789553"/>
            <a:ext cx="8208912" cy="3805070"/>
          </a:xfrm>
        </p:spPr>
        <p:txBody>
          <a:bodyPr/>
          <a:lstStyle/>
          <a:p>
            <a:r>
              <a:rPr lang="en-US" altLang="zh-CN" sz="2000" b="1" dirty="0"/>
              <a:t>Variable-length records </a:t>
            </a:r>
          </a:p>
          <a:p>
            <a:pPr lvl="1"/>
            <a:r>
              <a:rPr lang="en-US" altLang="zh-CN" sz="1600" dirty="0"/>
              <a:t>Storage of multiple record types in a file</a:t>
            </a:r>
          </a:p>
          <a:p>
            <a:pPr lvl="1"/>
            <a:r>
              <a:rPr lang="en-US" altLang="zh-CN" sz="1600" dirty="0"/>
              <a:t>Record types that allow variable lengths for one or more fields</a:t>
            </a:r>
          </a:p>
          <a:p>
            <a:pPr lvl="1"/>
            <a:r>
              <a:rPr lang="en-US" altLang="zh-CN" sz="1600" dirty="0"/>
              <a:t>Record types that allow repeating fields,</a:t>
            </a:r>
            <a:r>
              <a:rPr lang="zh-CN" altLang="en-US" sz="1600" dirty="0"/>
              <a:t> </a:t>
            </a:r>
            <a:r>
              <a:rPr lang="en-US" altLang="zh-CN" sz="1600" dirty="0"/>
              <a:t>e.g., array and multiset (used in some old data models)</a:t>
            </a:r>
          </a:p>
          <a:p>
            <a:endParaRPr lang="zh-CN" altLang="en-US" sz="1800" dirty="0"/>
          </a:p>
        </p:txBody>
      </p:sp>
    </p:spTree>
    <p:extLst>
      <p:ext uri="{BB962C8B-B14F-4D97-AF65-F5344CB8AC3E}">
        <p14:creationId xmlns:p14="http://schemas.microsoft.com/office/powerpoint/2010/main" val="1979271100"/>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F4F6E4-505C-4977-BEA5-0856908714B5}"/>
              </a:ext>
            </a:extLst>
          </p:cNvPr>
          <p:cNvSpPr>
            <a:spLocks noGrp="1"/>
          </p:cNvSpPr>
          <p:nvPr>
            <p:ph type="title"/>
          </p:nvPr>
        </p:nvSpPr>
        <p:spPr/>
        <p:txBody>
          <a:bodyPr/>
          <a:lstStyle/>
          <a:p>
            <a:pPr algn="ctr"/>
            <a:r>
              <a:rPr lang="en-US" altLang="zh-CN" sz="2800" dirty="0"/>
              <a:t>Variable-Length Records: Slotted Page Structure</a:t>
            </a:r>
            <a:endParaRPr lang="zh-CN" altLang="en-US" sz="2800" dirty="0"/>
          </a:p>
        </p:txBody>
      </p:sp>
      <p:sp>
        <p:nvSpPr>
          <p:cNvPr id="3" name="内容占位符 2">
            <a:extLst>
              <a:ext uri="{FF2B5EF4-FFF2-40B4-BE49-F238E27FC236}">
                <a16:creationId xmlns:a16="http://schemas.microsoft.com/office/drawing/2014/main" id="{CA434152-D19F-463E-98CC-A5F80E8F6A52}"/>
              </a:ext>
            </a:extLst>
          </p:cNvPr>
          <p:cNvSpPr>
            <a:spLocks noGrp="1"/>
          </p:cNvSpPr>
          <p:nvPr>
            <p:ph idx="1"/>
          </p:nvPr>
        </p:nvSpPr>
        <p:spPr>
          <a:xfrm>
            <a:off x="251520" y="2355726"/>
            <a:ext cx="8568952" cy="2664296"/>
          </a:xfrm>
        </p:spPr>
        <p:txBody>
          <a:bodyPr/>
          <a:lstStyle/>
          <a:p>
            <a:r>
              <a:rPr lang="en-US" altLang="zh-CN" sz="1800" b="1" dirty="0"/>
              <a:t>Slotted page </a:t>
            </a:r>
            <a:r>
              <a:rPr lang="en-US" altLang="zh-CN" sz="1800" dirty="0"/>
              <a:t>(</a:t>
            </a:r>
            <a:r>
              <a:rPr lang="zh-CN" altLang="en-US" sz="1800" dirty="0"/>
              <a:t>分槽的页</a:t>
            </a:r>
            <a:r>
              <a:rPr lang="en-US" altLang="zh-CN" sz="1800" dirty="0"/>
              <a:t>) header contains</a:t>
            </a:r>
          </a:p>
          <a:p>
            <a:pPr lvl="1"/>
            <a:r>
              <a:rPr lang="en-US" altLang="zh-CN" sz="1600" dirty="0"/>
              <a:t>number of record entries</a:t>
            </a:r>
          </a:p>
          <a:p>
            <a:pPr lvl="1"/>
            <a:r>
              <a:rPr lang="en-US" altLang="zh-CN" sz="1600" dirty="0"/>
              <a:t>end of free space in the block</a:t>
            </a:r>
          </a:p>
          <a:p>
            <a:pPr lvl="1"/>
            <a:r>
              <a:rPr lang="en-US" altLang="zh-CN" sz="1600" dirty="0"/>
              <a:t>location and size of each record</a:t>
            </a:r>
          </a:p>
          <a:p>
            <a:r>
              <a:rPr lang="en-US" altLang="zh-CN" sz="1800" dirty="0"/>
              <a:t>Records can be moved around within a page to keep them contiguous with no empty space between them; entry in the header must be updated</a:t>
            </a:r>
          </a:p>
          <a:p>
            <a:r>
              <a:rPr lang="en-US" altLang="zh-CN" sz="1800" dirty="0"/>
              <a:t>Pointers should not point directly to record — instead they should point to the entry for the record in header</a:t>
            </a:r>
          </a:p>
        </p:txBody>
      </p:sp>
      <p:pic>
        <p:nvPicPr>
          <p:cNvPr id="5" name="Picture 10">
            <a:extLst>
              <a:ext uri="{FF2B5EF4-FFF2-40B4-BE49-F238E27FC236}">
                <a16:creationId xmlns:a16="http://schemas.microsoft.com/office/drawing/2014/main" id="{F694B84F-B2F1-4444-A933-01994CEFE6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843558"/>
            <a:ext cx="4023692" cy="1366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1466668"/>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41A66E-0411-41BE-909D-2114308F783B}"/>
              </a:ext>
            </a:extLst>
          </p:cNvPr>
          <p:cNvSpPr>
            <a:spLocks noGrp="1"/>
          </p:cNvSpPr>
          <p:nvPr>
            <p:ph type="title"/>
          </p:nvPr>
        </p:nvSpPr>
        <p:spPr/>
        <p:txBody>
          <a:bodyPr/>
          <a:lstStyle/>
          <a:p>
            <a:pPr algn="ctr"/>
            <a:r>
              <a:rPr lang="en-US" altLang="zh-CN" sz="2600" dirty="0"/>
              <a:t>Byte String Representation of Variable-Length Records</a:t>
            </a:r>
            <a:endParaRPr lang="zh-CN" altLang="en-US" sz="2600" dirty="0"/>
          </a:p>
        </p:txBody>
      </p:sp>
      <p:pic>
        <p:nvPicPr>
          <p:cNvPr id="4" name="Picture 3">
            <a:extLst>
              <a:ext uri="{FF2B5EF4-FFF2-40B4-BE49-F238E27FC236}">
                <a16:creationId xmlns:a16="http://schemas.microsoft.com/office/drawing/2014/main" id="{52E1B170-6589-4E8A-903B-96C6EF314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28" t="32756" r="880" b="33109"/>
          <a:stretch>
            <a:fillRect/>
          </a:stretch>
        </p:blipFill>
        <p:spPr bwMode="auto">
          <a:xfrm>
            <a:off x="1631156" y="1052662"/>
            <a:ext cx="5881688" cy="1527572"/>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5" name="Text Box 4">
            <a:extLst>
              <a:ext uri="{FF2B5EF4-FFF2-40B4-BE49-F238E27FC236}">
                <a16:creationId xmlns:a16="http://schemas.microsoft.com/office/drawing/2014/main" id="{19CDC38B-A99E-4940-87A6-A6C57CD44C85}"/>
              </a:ext>
            </a:extLst>
          </p:cNvPr>
          <p:cNvSpPr txBox="1">
            <a:spLocks noChangeArrowheads="1"/>
          </p:cNvSpPr>
          <p:nvPr/>
        </p:nvSpPr>
        <p:spPr bwMode="auto">
          <a:xfrm>
            <a:off x="786271" y="2931790"/>
            <a:ext cx="7571457" cy="101566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Helvetica" panose="020B0604020202020204" pitchFamily="34" charset="0"/>
              </a:defRPr>
            </a:lvl1pPr>
            <a:lvl2pPr>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eaLnBrk="0" hangingPunct="0">
              <a:spcBef>
                <a:spcPct val="0"/>
              </a:spcBef>
              <a:buFontTx/>
              <a:buNone/>
            </a:pPr>
            <a:r>
              <a:rPr kumimoji="1" lang="en-US" altLang="zh-CN" sz="1500" b="1" dirty="0">
                <a:solidFill>
                  <a:srgbClr val="CC3300"/>
                </a:solidFill>
                <a:latin typeface="Comic Sans MS" panose="030F0702030302020204" pitchFamily="66" charset="0"/>
                <a:ea typeface="宋体" panose="02010600030101010101" pitchFamily="2" charset="-122"/>
              </a:rPr>
              <a:t>Byte string representation</a:t>
            </a:r>
          </a:p>
          <a:p>
            <a:pPr marL="342900" lvl="1" indent="0" eaLnBrk="0" hangingPunct="0">
              <a:spcBef>
                <a:spcPct val="0"/>
              </a:spcBef>
            </a:pPr>
            <a:r>
              <a:rPr kumimoji="1" lang="en-US" altLang="zh-CN" sz="1500" b="1" dirty="0">
                <a:solidFill>
                  <a:srgbClr val="000000"/>
                </a:solidFill>
                <a:latin typeface="Comic Sans MS" panose="030F0702030302020204" pitchFamily="66" charset="0"/>
                <a:ea typeface="宋体" panose="02010600030101010101" pitchFamily="2" charset="-122"/>
              </a:rPr>
              <a:t>Attach an </a:t>
            </a:r>
            <a:r>
              <a:rPr kumimoji="1" lang="en-US" altLang="zh-CN" sz="1500" b="1" i="1" dirty="0">
                <a:solidFill>
                  <a:srgbClr val="000000"/>
                </a:solidFill>
                <a:latin typeface="Comic Sans MS" panose="030F0702030302020204" pitchFamily="66" charset="0"/>
                <a:ea typeface="宋体" panose="02010600030101010101" pitchFamily="2" charset="-122"/>
              </a:rPr>
              <a:t>end-of-record</a:t>
            </a:r>
            <a:r>
              <a:rPr kumimoji="1" lang="en-US" altLang="zh-CN" sz="1500" b="1" dirty="0">
                <a:solidFill>
                  <a:srgbClr val="000000"/>
                </a:solidFill>
                <a:latin typeface="Comic Sans MS" panose="030F0702030302020204" pitchFamily="66" charset="0"/>
                <a:ea typeface="宋体" panose="02010600030101010101" pitchFamily="2" charset="-122"/>
              </a:rPr>
              <a:t> (</a:t>
            </a:r>
            <a:r>
              <a:rPr kumimoji="1" lang="en-US" altLang="zh-CN" sz="1500" b="1" dirty="0">
                <a:solidFill>
                  <a:srgbClr val="000000"/>
                </a:solidFill>
                <a:latin typeface="Comic Sans MS" panose="030F0702030302020204" pitchFamily="66" charset="0"/>
                <a:ea typeface="宋体" panose="02010600030101010101" pitchFamily="2" charset="-122"/>
                <a:sym typeface="Symbol" panose="05050102010706020507" pitchFamily="18" charset="2"/>
              </a:rPr>
              <a:t>) control character to the end of each record</a:t>
            </a:r>
          </a:p>
          <a:p>
            <a:pPr marL="342900" lvl="1" indent="0" eaLnBrk="0" hangingPunct="0">
              <a:spcBef>
                <a:spcPct val="0"/>
              </a:spcBef>
            </a:pPr>
            <a:r>
              <a:rPr kumimoji="1" lang="en-US" altLang="zh-CN" sz="1500" b="1" dirty="0">
                <a:solidFill>
                  <a:srgbClr val="000000"/>
                </a:solidFill>
                <a:latin typeface="Comic Sans MS" panose="030F0702030302020204" pitchFamily="66" charset="0"/>
                <a:ea typeface="宋体" panose="02010600030101010101" pitchFamily="2" charset="-122"/>
                <a:sym typeface="Symbol" panose="05050102010706020507" pitchFamily="18" charset="2"/>
              </a:rPr>
              <a:t>Difficulty with deletion</a:t>
            </a:r>
          </a:p>
          <a:p>
            <a:pPr marL="342900" lvl="1" indent="0" eaLnBrk="0" hangingPunct="0">
              <a:spcBef>
                <a:spcPct val="0"/>
              </a:spcBef>
            </a:pPr>
            <a:r>
              <a:rPr kumimoji="1" lang="en-US" altLang="zh-CN" sz="1500" b="1" dirty="0">
                <a:solidFill>
                  <a:srgbClr val="000000"/>
                </a:solidFill>
                <a:latin typeface="Comic Sans MS" panose="030F0702030302020204" pitchFamily="66" charset="0"/>
                <a:ea typeface="宋体" panose="02010600030101010101" pitchFamily="2" charset="-122"/>
                <a:sym typeface="Symbol" panose="05050102010706020507" pitchFamily="18" charset="2"/>
              </a:rPr>
              <a:t>Difficulty with growth</a:t>
            </a:r>
          </a:p>
        </p:txBody>
      </p:sp>
    </p:spTree>
    <p:extLst>
      <p:ext uri="{BB962C8B-B14F-4D97-AF65-F5344CB8AC3E}">
        <p14:creationId xmlns:p14="http://schemas.microsoft.com/office/powerpoint/2010/main" val="199312143"/>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060492-48D4-4BA0-BD80-3C389E941FEA}"/>
              </a:ext>
            </a:extLst>
          </p:cNvPr>
          <p:cNvSpPr>
            <a:spLocks noGrp="1"/>
          </p:cNvSpPr>
          <p:nvPr>
            <p:ph type="title"/>
          </p:nvPr>
        </p:nvSpPr>
        <p:spPr/>
        <p:txBody>
          <a:bodyPr/>
          <a:lstStyle/>
          <a:p>
            <a:pPr algn="ctr"/>
            <a:r>
              <a:rPr lang="en-US" altLang="zh-CN" dirty="0"/>
              <a:t>Fixed-Length Representation</a:t>
            </a:r>
            <a:endParaRPr lang="zh-CN" altLang="en-US" dirty="0"/>
          </a:p>
        </p:txBody>
      </p:sp>
      <p:sp>
        <p:nvSpPr>
          <p:cNvPr id="3" name="内容占位符 2">
            <a:extLst>
              <a:ext uri="{FF2B5EF4-FFF2-40B4-BE49-F238E27FC236}">
                <a16:creationId xmlns:a16="http://schemas.microsoft.com/office/drawing/2014/main" id="{B15B3694-85FC-4F4E-B0F1-7C198B939CBF}"/>
              </a:ext>
            </a:extLst>
          </p:cNvPr>
          <p:cNvSpPr>
            <a:spLocks noGrp="1"/>
          </p:cNvSpPr>
          <p:nvPr>
            <p:ph idx="1"/>
          </p:nvPr>
        </p:nvSpPr>
        <p:spPr/>
        <p:txBody>
          <a:bodyPr/>
          <a:lstStyle/>
          <a:p>
            <a:r>
              <a:rPr lang="en-US" altLang="zh-CN" sz="2000" dirty="0"/>
              <a:t>Use one or more fixed length records</a:t>
            </a:r>
          </a:p>
          <a:p>
            <a:pPr lvl="1"/>
            <a:r>
              <a:rPr lang="en-US" altLang="zh-CN" sz="1800" dirty="0"/>
              <a:t>reserved space</a:t>
            </a:r>
          </a:p>
          <a:p>
            <a:pPr lvl="1"/>
            <a:r>
              <a:rPr lang="en-US" altLang="zh-CN" sz="1800" dirty="0"/>
              <a:t>pointers</a:t>
            </a:r>
          </a:p>
          <a:p>
            <a:r>
              <a:rPr lang="en-US" altLang="zh-CN" sz="2000" dirty="0"/>
              <a:t>Reserved space – can use fixed-length records of a known maximum length; unused space in shorter records filled with a null or end-of-record symbol.</a:t>
            </a:r>
          </a:p>
          <a:p>
            <a:endParaRPr lang="zh-CN" altLang="en-US" sz="2000" dirty="0"/>
          </a:p>
        </p:txBody>
      </p:sp>
      <p:pic>
        <p:nvPicPr>
          <p:cNvPr id="4" name="Picture 4">
            <a:extLst>
              <a:ext uri="{FF2B5EF4-FFF2-40B4-BE49-F238E27FC236}">
                <a16:creationId xmlns:a16="http://schemas.microsoft.com/office/drawing/2014/main" id="{4EE3FA38-353D-4950-A43D-4CE7DF568A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56" t="30551" r="888" b="31261"/>
          <a:stretch>
            <a:fillRect/>
          </a:stretch>
        </p:blipFill>
        <p:spPr bwMode="auto">
          <a:xfrm>
            <a:off x="1763688" y="3086885"/>
            <a:ext cx="5295900" cy="1535906"/>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457298"/>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8B6992-DDAA-4CDF-8E6D-DC88A4B560A3}"/>
              </a:ext>
            </a:extLst>
          </p:cNvPr>
          <p:cNvSpPr>
            <a:spLocks noGrp="1"/>
          </p:cNvSpPr>
          <p:nvPr>
            <p:ph type="title"/>
          </p:nvPr>
        </p:nvSpPr>
        <p:spPr/>
        <p:txBody>
          <a:bodyPr/>
          <a:lstStyle/>
          <a:p>
            <a:pPr algn="ctr"/>
            <a:r>
              <a:rPr lang="en-US" altLang="zh-CN" dirty="0"/>
              <a:t>Pointer Method</a:t>
            </a:r>
            <a:endParaRPr lang="zh-CN" altLang="en-US" dirty="0"/>
          </a:p>
        </p:txBody>
      </p:sp>
      <p:sp>
        <p:nvSpPr>
          <p:cNvPr id="3" name="内容占位符 2">
            <a:extLst>
              <a:ext uri="{FF2B5EF4-FFF2-40B4-BE49-F238E27FC236}">
                <a16:creationId xmlns:a16="http://schemas.microsoft.com/office/drawing/2014/main" id="{72C79EA8-A6D8-4E7F-9BE5-4BCA31D3C14B}"/>
              </a:ext>
            </a:extLst>
          </p:cNvPr>
          <p:cNvSpPr>
            <a:spLocks noGrp="1"/>
          </p:cNvSpPr>
          <p:nvPr>
            <p:ph idx="1"/>
          </p:nvPr>
        </p:nvSpPr>
        <p:spPr>
          <a:xfrm>
            <a:off x="179512" y="3577327"/>
            <a:ext cx="8568952" cy="1566173"/>
          </a:xfrm>
        </p:spPr>
        <p:txBody>
          <a:bodyPr/>
          <a:lstStyle/>
          <a:p>
            <a:r>
              <a:rPr lang="en-US" altLang="zh-CN" sz="2000" b="1" dirty="0"/>
              <a:t>Pointer method </a:t>
            </a:r>
          </a:p>
          <a:p>
            <a:pPr lvl="1"/>
            <a:r>
              <a:rPr lang="en-US" altLang="zh-CN" sz="1800" dirty="0"/>
              <a:t>A variable-length record is represented by a list of fixed-length records, chained together via pointers</a:t>
            </a:r>
          </a:p>
          <a:p>
            <a:pPr lvl="1"/>
            <a:r>
              <a:rPr lang="en-US" altLang="zh-CN" sz="1800" dirty="0"/>
              <a:t>Can be used even if the maximum record length is not known</a:t>
            </a:r>
          </a:p>
        </p:txBody>
      </p:sp>
      <p:pic>
        <p:nvPicPr>
          <p:cNvPr id="4" name="Picture 4">
            <a:extLst>
              <a:ext uri="{FF2B5EF4-FFF2-40B4-BE49-F238E27FC236}">
                <a16:creationId xmlns:a16="http://schemas.microsoft.com/office/drawing/2014/main" id="{852D04A0-2F05-4D8D-A0BD-549C61C38E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66" t="13818" r="943" b="14322"/>
          <a:stretch>
            <a:fillRect/>
          </a:stretch>
        </p:blipFill>
        <p:spPr bwMode="auto">
          <a:xfrm>
            <a:off x="2420540" y="919656"/>
            <a:ext cx="4302919" cy="2355056"/>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1846434"/>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5A2FB0-B1E6-48C0-AD91-EA2581C036E3}"/>
              </a:ext>
            </a:extLst>
          </p:cNvPr>
          <p:cNvSpPr>
            <a:spLocks noGrp="1"/>
          </p:cNvSpPr>
          <p:nvPr>
            <p:ph type="title"/>
          </p:nvPr>
        </p:nvSpPr>
        <p:spPr/>
        <p:txBody>
          <a:bodyPr/>
          <a:lstStyle/>
          <a:p>
            <a:pPr algn="ctr"/>
            <a:r>
              <a:rPr lang="en-US" altLang="zh-CN" dirty="0"/>
              <a:t>Pointer Method (Cont.)</a:t>
            </a:r>
            <a:endParaRPr lang="zh-CN" altLang="en-US" dirty="0"/>
          </a:p>
        </p:txBody>
      </p:sp>
      <p:sp>
        <p:nvSpPr>
          <p:cNvPr id="3" name="内容占位符 2">
            <a:extLst>
              <a:ext uri="{FF2B5EF4-FFF2-40B4-BE49-F238E27FC236}">
                <a16:creationId xmlns:a16="http://schemas.microsoft.com/office/drawing/2014/main" id="{A3A85549-DF22-426F-AFB4-EA6DBFD4379B}"/>
              </a:ext>
            </a:extLst>
          </p:cNvPr>
          <p:cNvSpPr>
            <a:spLocks noGrp="1"/>
          </p:cNvSpPr>
          <p:nvPr>
            <p:ph idx="1"/>
          </p:nvPr>
        </p:nvSpPr>
        <p:spPr>
          <a:xfrm>
            <a:off x="179512" y="669215"/>
            <a:ext cx="8568952" cy="3805070"/>
          </a:xfrm>
        </p:spPr>
        <p:txBody>
          <a:bodyPr/>
          <a:lstStyle/>
          <a:p>
            <a:r>
              <a:rPr lang="en-US" altLang="zh-CN" sz="2000" dirty="0"/>
              <a:t>Disadvantage to pointer structure; space is wasted in all records except the first in a chain</a:t>
            </a:r>
          </a:p>
          <a:p>
            <a:r>
              <a:rPr lang="en-US" altLang="zh-CN" sz="2000" dirty="0"/>
              <a:t>Solution is to allow two kinds of block in file:</a:t>
            </a:r>
          </a:p>
          <a:p>
            <a:pPr lvl="1"/>
            <a:r>
              <a:rPr lang="en-US" altLang="zh-CN" sz="1800" dirty="0"/>
              <a:t>Anchor block – contains the first records of chain</a:t>
            </a:r>
          </a:p>
          <a:p>
            <a:pPr lvl="1"/>
            <a:r>
              <a:rPr lang="en-US" altLang="zh-CN" sz="1800" dirty="0"/>
              <a:t>Overflow block – contains records other than those that are the first records of chains</a:t>
            </a:r>
          </a:p>
          <a:p>
            <a:endParaRPr lang="zh-CN" altLang="en-US" sz="2000" dirty="0"/>
          </a:p>
        </p:txBody>
      </p:sp>
      <p:pic>
        <p:nvPicPr>
          <p:cNvPr id="4" name="Picture 4">
            <a:extLst>
              <a:ext uri="{FF2B5EF4-FFF2-40B4-BE49-F238E27FC236}">
                <a16:creationId xmlns:a16="http://schemas.microsoft.com/office/drawing/2014/main" id="{6FF7324B-386B-4787-8941-1BE0ED84A25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348" t="8565" r="868" b="8797"/>
          <a:stretch>
            <a:fillRect/>
          </a:stretch>
        </p:blipFill>
        <p:spPr bwMode="auto">
          <a:xfrm>
            <a:off x="2627784" y="2643758"/>
            <a:ext cx="3672408" cy="2304390"/>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4140050"/>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1059582"/>
            <a:ext cx="8568952" cy="3384376"/>
          </a:xfrm>
        </p:spPr>
        <p:txBody>
          <a:bodyPr/>
          <a:lstStyle/>
          <a:p>
            <a:r>
              <a:rPr lang="en-US" altLang="zh-CN" dirty="0"/>
              <a:t>Overview of Physical Storage Media</a:t>
            </a:r>
          </a:p>
          <a:p>
            <a:r>
              <a:rPr lang="en-US" altLang="zh-CN" dirty="0"/>
              <a:t>Magnetic Disks</a:t>
            </a:r>
          </a:p>
          <a:p>
            <a:r>
              <a:rPr lang="en-US" altLang="zh-CN" dirty="0"/>
              <a:t>RAID</a:t>
            </a:r>
          </a:p>
          <a:p>
            <a:r>
              <a:rPr lang="en-US" altLang="zh-CN" dirty="0"/>
              <a:t>Tertiary Storage </a:t>
            </a:r>
          </a:p>
          <a:p>
            <a:r>
              <a:rPr lang="en-US" altLang="zh-CN" dirty="0"/>
              <a:t>Storage Access</a:t>
            </a:r>
          </a:p>
          <a:p>
            <a:r>
              <a:rPr lang="en-US" altLang="zh-CN" dirty="0"/>
              <a:t>File Organization</a:t>
            </a:r>
          </a:p>
          <a:p>
            <a:r>
              <a:rPr lang="en-US" altLang="zh-CN" b="1" dirty="0">
                <a:solidFill>
                  <a:srgbClr val="C00000"/>
                </a:solidFill>
              </a:rPr>
              <a:t>Organization of Records in Files</a:t>
            </a:r>
          </a:p>
          <a:p>
            <a:r>
              <a:rPr lang="en-US" altLang="zh-CN" dirty="0"/>
              <a:t>Data-Dictionary Storage</a:t>
            </a:r>
          </a:p>
        </p:txBody>
      </p:sp>
    </p:spTree>
    <p:extLst>
      <p:ext uri="{BB962C8B-B14F-4D97-AF65-F5344CB8AC3E}">
        <p14:creationId xmlns:p14="http://schemas.microsoft.com/office/powerpoint/2010/main" val="1237623780"/>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4DE83A-C84E-4512-B07C-A908935AFF59}"/>
              </a:ext>
            </a:extLst>
          </p:cNvPr>
          <p:cNvSpPr>
            <a:spLocks noGrp="1"/>
          </p:cNvSpPr>
          <p:nvPr>
            <p:ph type="title"/>
          </p:nvPr>
        </p:nvSpPr>
        <p:spPr/>
        <p:txBody>
          <a:bodyPr/>
          <a:lstStyle/>
          <a:p>
            <a:pPr algn="ctr"/>
            <a:r>
              <a:rPr lang="en-US" altLang="zh-CN" dirty="0"/>
              <a:t>Organization of Records in Files</a:t>
            </a:r>
            <a:endParaRPr lang="zh-CN" altLang="en-US" dirty="0"/>
          </a:p>
        </p:txBody>
      </p:sp>
      <p:sp>
        <p:nvSpPr>
          <p:cNvPr id="3" name="内容占位符 2">
            <a:extLst>
              <a:ext uri="{FF2B5EF4-FFF2-40B4-BE49-F238E27FC236}">
                <a16:creationId xmlns:a16="http://schemas.microsoft.com/office/drawing/2014/main" id="{1DC46FB0-9FF9-411A-BE03-E20F6FADCAEF}"/>
              </a:ext>
            </a:extLst>
          </p:cNvPr>
          <p:cNvSpPr>
            <a:spLocks noGrp="1"/>
          </p:cNvSpPr>
          <p:nvPr>
            <p:ph idx="1"/>
          </p:nvPr>
        </p:nvSpPr>
        <p:spPr/>
        <p:txBody>
          <a:bodyPr/>
          <a:lstStyle/>
          <a:p>
            <a:r>
              <a:rPr lang="en-US" altLang="zh-CN" sz="2000" b="1" dirty="0"/>
              <a:t>Sequential</a:t>
            </a:r>
            <a:r>
              <a:rPr lang="en-US" altLang="zh-CN" sz="2000" dirty="0"/>
              <a:t> (</a:t>
            </a:r>
            <a:r>
              <a:rPr lang="zh-CN" altLang="en-US" sz="2000" dirty="0"/>
              <a:t>顺序</a:t>
            </a:r>
            <a:r>
              <a:rPr lang="en-US" altLang="zh-CN" sz="2000" dirty="0"/>
              <a:t>)</a:t>
            </a:r>
          </a:p>
          <a:p>
            <a:pPr lvl="1"/>
            <a:r>
              <a:rPr lang="en-US" altLang="zh-CN" sz="1600" dirty="0"/>
              <a:t>store records in sequential order, based on the value of the search key of each record</a:t>
            </a:r>
          </a:p>
          <a:p>
            <a:r>
              <a:rPr lang="en-US" altLang="zh-CN" sz="2000" b="1" dirty="0"/>
              <a:t>Heap</a:t>
            </a:r>
            <a:r>
              <a:rPr lang="en-US" altLang="zh-CN" sz="2000" dirty="0"/>
              <a:t> (</a:t>
            </a:r>
            <a:r>
              <a:rPr lang="zh-CN" altLang="en-US" sz="2000" dirty="0"/>
              <a:t>堆</a:t>
            </a:r>
            <a:r>
              <a:rPr lang="en-US" altLang="zh-CN" sz="2000" dirty="0"/>
              <a:t>) </a:t>
            </a:r>
          </a:p>
          <a:p>
            <a:pPr lvl="1"/>
            <a:r>
              <a:rPr lang="en-US" altLang="zh-CN" sz="1600" dirty="0"/>
              <a:t>a record can be placed anywhere in the file where there is space</a:t>
            </a:r>
          </a:p>
          <a:p>
            <a:r>
              <a:rPr lang="en-US" altLang="zh-CN" sz="2000" b="1" dirty="0"/>
              <a:t>Hashing</a:t>
            </a:r>
            <a:r>
              <a:rPr lang="en-US" altLang="zh-CN" sz="2000" dirty="0"/>
              <a:t> (</a:t>
            </a:r>
            <a:r>
              <a:rPr lang="zh-CN" altLang="en-US" sz="2000" dirty="0"/>
              <a:t>散列</a:t>
            </a:r>
            <a:r>
              <a:rPr lang="en-US" altLang="zh-CN" sz="2000" dirty="0"/>
              <a:t>)</a:t>
            </a:r>
          </a:p>
          <a:p>
            <a:pPr lvl="1"/>
            <a:r>
              <a:rPr lang="en-US" altLang="zh-CN" sz="1600" dirty="0"/>
              <a:t>a hash function computed on some attribute of each record; the result specifies in which block of the file the record should be placed</a:t>
            </a:r>
          </a:p>
          <a:p>
            <a:endParaRPr lang="zh-CN" altLang="en-US" sz="2000" dirty="0"/>
          </a:p>
        </p:txBody>
      </p:sp>
    </p:spTree>
    <p:extLst>
      <p:ext uri="{BB962C8B-B14F-4D97-AF65-F5344CB8AC3E}">
        <p14:creationId xmlns:p14="http://schemas.microsoft.com/office/powerpoint/2010/main" val="257318114"/>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A7D7D5-3F65-4AC7-8E18-CFF127B1A813}"/>
              </a:ext>
            </a:extLst>
          </p:cNvPr>
          <p:cNvSpPr>
            <a:spLocks noGrp="1"/>
          </p:cNvSpPr>
          <p:nvPr>
            <p:ph type="title"/>
          </p:nvPr>
        </p:nvSpPr>
        <p:spPr/>
        <p:txBody>
          <a:bodyPr/>
          <a:lstStyle/>
          <a:p>
            <a:pPr algn="ctr"/>
            <a:r>
              <a:rPr lang="en-US" altLang="zh-CN" dirty="0"/>
              <a:t>Sequential File Organization</a:t>
            </a:r>
            <a:endParaRPr lang="zh-CN" altLang="en-US" dirty="0"/>
          </a:p>
        </p:txBody>
      </p:sp>
      <p:sp>
        <p:nvSpPr>
          <p:cNvPr id="3" name="内容占位符 2">
            <a:extLst>
              <a:ext uri="{FF2B5EF4-FFF2-40B4-BE49-F238E27FC236}">
                <a16:creationId xmlns:a16="http://schemas.microsoft.com/office/drawing/2014/main" id="{4FB8F18E-78E0-4109-B2FD-2EBDF18FCA80}"/>
              </a:ext>
            </a:extLst>
          </p:cNvPr>
          <p:cNvSpPr>
            <a:spLocks noGrp="1"/>
          </p:cNvSpPr>
          <p:nvPr>
            <p:ph idx="1"/>
          </p:nvPr>
        </p:nvSpPr>
        <p:spPr>
          <a:xfrm>
            <a:off x="251520" y="789553"/>
            <a:ext cx="8424936" cy="3805070"/>
          </a:xfrm>
        </p:spPr>
        <p:txBody>
          <a:bodyPr/>
          <a:lstStyle/>
          <a:p>
            <a:r>
              <a:rPr lang="en-US" altLang="zh-CN" sz="2000" dirty="0"/>
              <a:t>Suitable for applications that require sequential processing of the entire file</a:t>
            </a:r>
          </a:p>
          <a:p>
            <a:r>
              <a:rPr lang="en-US" altLang="zh-CN" sz="2000" dirty="0"/>
              <a:t>The records in the file are ordered by a search-key</a:t>
            </a:r>
          </a:p>
        </p:txBody>
      </p:sp>
      <p:pic>
        <p:nvPicPr>
          <p:cNvPr id="6" name="Picture 11">
            <a:extLst>
              <a:ext uri="{FF2B5EF4-FFF2-40B4-BE49-F238E27FC236}">
                <a16:creationId xmlns:a16="http://schemas.microsoft.com/office/drawing/2014/main" id="{9759213F-D318-4553-BE18-85B78FE780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9889" y="2067694"/>
            <a:ext cx="4444221" cy="295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5386535"/>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2E3E48-6D5A-4222-88F9-18535B2559AD}"/>
              </a:ext>
            </a:extLst>
          </p:cNvPr>
          <p:cNvSpPr>
            <a:spLocks noGrp="1"/>
          </p:cNvSpPr>
          <p:nvPr>
            <p:ph type="title"/>
          </p:nvPr>
        </p:nvSpPr>
        <p:spPr/>
        <p:txBody>
          <a:bodyPr/>
          <a:lstStyle/>
          <a:p>
            <a:pPr algn="ctr"/>
            <a:r>
              <a:rPr lang="en-US" altLang="zh-CN" dirty="0"/>
              <a:t>Sequential File Organization (Cont.)</a:t>
            </a:r>
            <a:endParaRPr lang="zh-CN" altLang="en-US" dirty="0"/>
          </a:p>
        </p:txBody>
      </p:sp>
      <p:sp>
        <p:nvSpPr>
          <p:cNvPr id="3" name="内容占位符 2">
            <a:extLst>
              <a:ext uri="{FF2B5EF4-FFF2-40B4-BE49-F238E27FC236}">
                <a16:creationId xmlns:a16="http://schemas.microsoft.com/office/drawing/2014/main" id="{FA4EB47C-776F-4B07-B00C-E53B37FA2A25}"/>
              </a:ext>
            </a:extLst>
          </p:cNvPr>
          <p:cNvSpPr>
            <a:spLocks noGrp="1"/>
          </p:cNvSpPr>
          <p:nvPr>
            <p:ph idx="1"/>
          </p:nvPr>
        </p:nvSpPr>
        <p:spPr>
          <a:xfrm>
            <a:off x="251520" y="789553"/>
            <a:ext cx="3960440" cy="3805070"/>
          </a:xfrm>
        </p:spPr>
        <p:txBody>
          <a:bodyPr/>
          <a:lstStyle/>
          <a:p>
            <a:r>
              <a:rPr lang="en-US" altLang="zh-CN" sz="1800" dirty="0"/>
              <a:t>Deletion – use pointer chains</a:t>
            </a:r>
          </a:p>
          <a:p>
            <a:r>
              <a:rPr lang="en-US" altLang="zh-CN" sz="1800" dirty="0"/>
              <a:t>Insertion –locate the position where the record is to be inserted</a:t>
            </a:r>
          </a:p>
          <a:p>
            <a:pPr lvl="1"/>
            <a:r>
              <a:rPr lang="en-US" altLang="zh-CN" sz="1600" dirty="0"/>
              <a:t>if there is free space insert there </a:t>
            </a:r>
          </a:p>
          <a:p>
            <a:pPr lvl="1"/>
            <a:r>
              <a:rPr lang="en-US" altLang="zh-CN" sz="1600" dirty="0"/>
              <a:t>if no free space, insert the record in an overflow block</a:t>
            </a:r>
          </a:p>
          <a:p>
            <a:pPr lvl="1"/>
            <a:r>
              <a:rPr lang="en-US" altLang="zh-CN" sz="1600" dirty="0"/>
              <a:t>In either case, pointer chain must be updated</a:t>
            </a:r>
          </a:p>
          <a:p>
            <a:r>
              <a:rPr lang="en-US" altLang="zh-CN" sz="1800" dirty="0"/>
              <a:t>Need to reorganize the file</a:t>
            </a:r>
            <a:br>
              <a:rPr lang="en-US" altLang="zh-CN" sz="1800" dirty="0"/>
            </a:br>
            <a:r>
              <a:rPr lang="en-US" altLang="zh-CN" sz="1800" dirty="0"/>
              <a:t> from time to time to restore</a:t>
            </a:r>
            <a:br>
              <a:rPr lang="en-US" altLang="zh-CN" sz="1800" dirty="0"/>
            </a:br>
            <a:r>
              <a:rPr lang="en-US" altLang="zh-CN" sz="1800" dirty="0"/>
              <a:t> sequential order</a:t>
            </a:r>
          </a:p>
          <a:p>
            <a:endParaRPr lang="zh-CN" altLang="en-US" sz="1800" dirty="0"/>
          </a:p>
        </p:txBody>
      </p:sp>
      <p:pic>
        <p:nvPicPr>
          <p:cNvPr id="5" name="Picture 11">
            <a:extLst>
              <a:ext uri="{FF2B5EF4-FFF2-40B4-BE49-F238E27FC236}">
                <a16:creationId xmlns:a16="http://schemas.microsoft.com/office/drawing/2014/main" id="{A47C8099-0E08-48EA-9787-BD27C85E7C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987574"/>
            <a:ext cx="4438736" cy="3257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3172158"/>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6D1169-8D74-47B0-B81F-CF4C92E2C018}"/>
              </a:ext>
            </a:extLst>
          </p:cNvPr>
          <p:cNvSpPr>
            <a:spLocks noGrp="1"/>
          </p:cNvSpPr>
          <p:nvPr>
            <p:ph type="title"/>
          </p:nvPr>
        </p:nvSpPr>
        <p:spPr/>
        <p:txBody>
          <a:bodyPr/>
          <a:lstStyle/>
          <a:p>
            <a:pPr algn="ctr"/>
            <a:r>
              <a:rPr lang="en-US" altLang="zh-CN" dirty="0"/>
              <a:t>Multi-table Clustering File Organization</a:t>
            </a:r>
            <a:endParaRPr lang="zh-CN" altLang="en-US" dirty="0"/>
          </a:p>
        </p:txBody>
      </p:sp>
      <p:sp>
        <p:nvSpPr>
          <p:cNvPr id="3" name="内容占位符 2">
            <a:extLst>
              <a:ext uri="{FF2B5EF4-FFF2-40B4-BE49-F238E27FC236}">
                <a16:creationId xmlns:a16="http://schemas.microsoft.com/office/drawing/2014/main" id="{D77541C1-677F-4CCE-BCF4-9D852634BC11}"/>
              </a:ext>
            </a:extLst>
          </p:cNvPr>
          <p:cNvSpPr>
            <a:spLocks noGrp="1"/>
          </p:cNvSpPr>
          <p:nvPr>
            <p:ph idx="1"/>
          </p:nvPr>
        </p:nvSpPr>
        <p:spPr/>
        <p:txBody>
          <a:bodyPr/>
          <a:lstStyle/>
          <a:p>
            <a:r>
              <a:rPr lang="en-US" altLang="zh-CN" sz="2000" dirty="0"/>
              <a:t>Store several relations in one file using a multi-table clustering file organization</a:t>
            </a:r>
          </a:p>
          <a:p>
            <a:pPr marL="0" indent="0">
              <a:buNone/>
            </a:pPr>
            <a:endParaRPr lang="zh-CN" altLang="en-US" sz="2000" dirty="0"/>
          </a:p>
        </p:txBody>
      </p:sp>
      <p:sp>
        <p:nvSpPr>
          <p:cNvPr id="6" name="Text Box 7">
            <a:extLst>
              <a:ext uri="{FF2B5EF4-FFF2-40B4-BE49-F238E27FC236}">
                <a16:creationId xmlns:a16="http://schemas.microsoft.com/office/drawing/2014/main" id="{A8C408CC-5E78-4F76-950F-93004534DCC4}"/>
              </a:ext>
            </a:extLst>
          </p:cNvPr>
          <p:cNvSpPr txBox="1">
            <a:spLocks noChangeArrowheads="1"/>
          </p:cNvSpPr>
          <p:nvPr/>
        </p:nvSpPr>
        <p:spPr bwMode="auto">
          <a:xfrm>
            <a:off x="1556766" y="1700297"/>
            <a:ext cx="12234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a:lstStyle>
          <a:p>
            <a:pPr>
              <a:spcBef>
                <a:spcPct val="0"/>
              </a:spcBef>
              <a:buClrTx/>
              <a:buSzTx/>
              <a:buFontTx/>
              <a:buNone/>
            </a:pPr>
            <a:r>
              <a:rPr kumimoji="0" lang="en-US" altLang="en-US" i="1" dirty="0"/>
              <a:t>department</a:t>
            </a:r>
          </a:p>
        </p:txBody>
      </p:sp>
      <p:sp>
        <p:nvSpPr>
          <p:cNvPr id="7" name="Text Box 8">
            <a:extLst>
              <a:ext uri="{FF2B5EF4-FFF2-40B4-BE49-F238E27FC236}">
                <a16:creationId xmlns:a16="http://schemas.microsoft.com/office/drawing/2014/main" id="{997D0B1D-B44C-4ECF-9498-1849597FB48A}"/>
              </a:ext>
            </a:extLst>
          </p:cNvPr>
          <p:cNvSpPr txBox="1">
            <a:spLocks noChangeArrowheads="1"/>
          </p:cNvSpPr>
          <p:nvPr/>
        </p:nvSpPr>
        <p:spPr bwMode="auto">
          <a:xfrm>
            <a:off x="5594201" y="1644093"/>
            <a:ext cx="10294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a:lstStyle>
          <a:p>
            <a:pPr>
              <a:spcBef>
                <a:spcPct val="0"/>
              </a:spcBef>
              <a:buClrTx/>
              <a:buSzTx/>
              <a:buFontTx/>
              <a:buNone/>
            </a:pPr>
            <a:r>
              <a:rPr kumimoji="0" lang="en-US" altLang="en-US" i="1" dirty="0"/>
              <a:t>instructor</a:t>
            </a:r>
          </a:p>
        </p:txBody>
      </p:sp>
      <p:sp>
        <p:nvSpPr>
          <p:cNvPr id="8" name="Text Box 9">
            <a:extLst>
              <a:ext uri="{FF2B5EF4-FFF2-40B4-BE49-F238E27FC236}">
                <a16:creationId xmlns:a16="http://schemas.microsoft.com/office/drawing/2014/main" id="{406E2E2B-92DC-4A3F-9645-D094BDCFAE67}"/>
              </a:ext>
            </a:extLst>
          </p:cNvPr>
          <p:cNvSpPr txBox="1">
            <a:spLocks noChangeArrowheads="1"/>
          </p:cNvSpPr>
          <p:nvPr/>
        </p:nvSpPr>
        <p:spPr bwMode="auto">
          <a:xfrm>
            <a:off x="390956" y="3786928"/>
            <a:ext cx="213277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a:lstStyle>
          <a:p>
            <a:pPr>
              <a:spcBef>
                <a:spcPct val="0"/>
              </a:spcBef>
              <a:buClrTx/>
              <a:buSzTx/>
              <a:buFontTx/>
              <a:buNone/>
            </a:pPr>
            <a:r>
              <a:rPr kumimoji="0" lang="en-US" altLang="en-US" dirty="0"/>
              <a:t>Multi-table clustering</a:t>
            </a:r>
          </a:p>
          <a:p>
            <a:pPr>
              <a:spcBef>
                <a:spcPct val="0"/>
              </a:spcBef>
              <a:buClrTx/>
              <a:buSzTx/>
              <a:buFontTx/>
              <a:buNone/>
            </a:pPr>
            <a:r>
              <a:rPr kumimoji="0" lang="en-US" altLang="en-US" dirty="0"/>
              <a:t>of</a:t>
            </a:r>
            <a:r>
              <a:rPr kumimoji="0" lang="en-US" altLang="en-US" i="1" dirty="0"/>
              <a:t> department </a:t>
            </a:r>
            <a:r>
              <a:rPr kumimoji="0" lang="en-US" altLang="en-US" dirty="0"/>
              <a:t>and</a:t>
            </a:r>
            <a:r>
              <a:rPr kumimoji="0" lang="en-US" altLang="en-US" i="1" dirty="0"/>
              <a:t> </a:t>
            </a:r>
          </a:p>
          <a:p>
            <a:pPr>
              <a:spcBef>
                <a:spcPct val="0"/>
              </a:spcBef>
              <a:buClrTx/>
              <a:buSzTx/>
              <a:buFontTx/>
              <a:buNone/>
            </a:pPr>
            <a:r>
              <a:rPr kumimoji="0" lang="en-US" altLang="en-US" i="1" dirty="0"/>
              <a:t>instructor</a:t>
            </a:r>
          </a:p>
        </p:txBody>
      </p:sp>
      <p:pic>
        <p:nvPicPr>
          <p:cNvPr id="9" name="Graphic 9">
            <a:extLst>
              <a:ext uri="{FF2B5EF4-FFF2-40B4-BE49-F238E27FC236}">
                <a16:creationId xmlns:a16="http://schemas.microsoft.com/office/drawing/2014/main" id="{3FFF8798-6E6B-47E8-8BB9-C2576E506B6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 b="33413"/>
          <a:stretch/>
        </p:blipFill>
        <p:spPr>
          <a:xfrm>
            <a:off x="683568" y="1930988"/>
            <a:ext cx="3383855" cy="1256022"/>
          </a:xfrm>
          <a:prstGeom prst="rect">
            <a:avLst/>
          </a:prstGeom>
        </p:spPr>
      </p:pic>
      <p:pic>
        <p:nvPicPr>
          <p:cNvPr id="10" name="Graphic 10">
            <a:extLst>
              <a:ext uri="{FF2B5EF4-FFF2-40B4-BE49-F238E27FC236}">
                <a16:creationId xmlns:a16="http://schemas.microsoft.com/office/drawing/2014/main" id="{50C245B3-E503-4226-969D-8E82216262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39248" y="1913705"/>
            <a:ext cx="3633856" cy="1416588"/>
          </a:xfrm>
          <a:prstGeom prst="rect">
            <a:avLst/>
          </a:prstGeom>
        </p:spPr>
      </p:pic>
      <p:pic>
        <p:nvPicPr>
          <p:cNvPr id="11" name="Graphic 11">
            <a:extLst>
              <a:ext uri="{FF2B5EF4-FFF2-40B4-BE49-F238E27FC236}">
                <a16:creationId xmlns:a16="http://schemas.microsoft.com/office/drawing/2014/main" id="{6804855E-3CEB-48E5-B9FA-BCC8F0829A0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27784" y="3417701"/>
            <a:ext cx="4155860" cy="1677595"/>
          </a:xfrm>
          <a:prstGeom prst="rect">
            <a:avLst/>
          </a:prstGeom>
        </p:spPr>
      </p:pic>
    </p:spTree>
    <p:extLst>
      <p:ext uri="{BB962C8B-B14F-4D97-AF65-F5344CB8AC3E}">
        <p14:creationId xmlns:p14="http://schemas.microsoft.com/office/powerpoint/2010/main" val="3330711830"/>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B8E9D-C1DC-4A3B-A638-40DF5D084224}"/>
              </a:ext>
            </a:extLst>
          </p:cNvPr>
          <p:cNvSpPr>
            <a:spLocks noGrp="1"/>
          </p:cNvSpPr>
          <p:nvPr>
            <p:ph type="title"/>
          </p:nvPr>
        </p:nvSpPr>
        <p:spPr/>
        <p:txBody>
          <a:bodyPr/>
          <a:lstStyle/>
          <a:p>
            <a:pPr algn="ctr"/>
            <a:r>
              <a:rPr lang="en-US" altLang="zh-CN" sz="2800" dirty="0"/>
              <a:t>Multi-table Clustering File Organization (Cont.)</a:t>
            </a:r>
            <a:endParaRPr lang="zh-CN" altLang="en-US" sz="2800" dirty="0"/>
          </a:p>
        </p:txBody>
      </p:sp>
      <p:sp>
        <p:nvSpPr>
          <p:cNvPr id="3" name="内容占位符 2">
            <a:extLst>
              <a:ext uri="{FF2B5EF4-FFF2-40B4-BE49-F238E27FC236}">
                <a16:creationId xmlns:a16="http://schemas.microsoft.com/office/drawing/2014/main" id="{261654DA-137A-4846-B36B-0813F74D8FCE}"/>
              </a:ext>
            </a:extLst>
          </p:cNvPr>
          <p:cNvSpPr>
            <a:spLocks noGrp="1"/>
          </p:cNvSpPr>
          <p:nvPr>
            <p:ph idx="1"/>
          </p:nvPr>
        </p:nvSpPr>
        <p:spPr/>
        <p:txBody>
          <a:bodyPr/>
          <a:lstStyle/>
          <a:p>
            <a:r>
              <a:rPr lang="en-US" altLang="en-US" sz="2000" dirty="0"/>
              <a:t>good for queries involving </a:t>
            </a:r>
            <a:r>
              <a:rPr lang="en-US" altLang="en-US" sz="2000" i="1" dirty="0"/>
              <a:t>department </a:t>
            </a:r>
            <a:r>
              <a:rPr lang="en-US" altLang="en-US" sz="2000" dirty="0"/>
              <a:t> </a:t>
            </a:r>
            <a:r>
              <a:rPr lang="en-IN" altLang="zh-CN" sz="2000" dirty="0"/>
              <a:t>⨝</a:t>
            </a:r>
            <a:r>
              <a:rPr lang="en-US" altLang="en-US" sz="2000" dirty="0"/>
              <a:t> </a:t>
            </a:r>
            <a:r>
              <a:rPr lang="en-US" altLang="en-US" sz="2000" i="1" dirty="0"/>
              <a:t>instructor</a:t>
            </a:r>
            <a:r>
              <a:rPr lang="en-US" altLang="en-US" sz="2000" dirty="0"/>
              <a:t>, and for queries involving one single department and its instructors</a:t>
            </a:r>
          </a:p>
          <a:p>
            <a:r>
              <a:rPr lang="en-US" altLang="en-US" sz="2000" dirty="0"/>
              <a:t>bad for queries involving only </a:t>
            </a:r>
            <a:r>
              <a:rPr lang="en-US" altLang="en-US" sz="2000" i="1" dirty="0"/>
              <a:t>department</a:t>
            </a:r>
          </a:p>
          <a:p>
            <a:r>
              <a:rPr lang="en-US" altLang="en-US" sz="2000" dirty="0"/>
              <a:t>results in variable size records</a:t>
            </a:r>
          </a:p>
          <a:p>
            <a:r>
              <a:rPr lang="en-US" altLang="en-US" sz="2000" dirty="0"/>
              <a:t>Can add pointer chains to link records of a particular relation</a:t>
            </a:r>
          </a:p>
          <a:p>
            <a:endParaRPr lang="zh-CN" altLang="en-US" sz="2000" dirty="0"/>
          </a:p>
        </p:txBody>
      </p:sp>
    </p:spTree>
    <p:extLst>
      <p:ext uri="{BB962C8B-B14F-4D97-AF65-F5344CB8AC3E}">
        <p14:creationId xmlns:p14="http://schemas.microsoft.com/office/powerpoint/2010/main" val="2332936068"/>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1059582"/>
            <a:ext cx="8568952" cy="3384376"/>
          </a:xfrm>
        </p:spPr>
        <p:txBody>
          <a:bodyPr/>
          <a:lstStyle/>
          <a:p>
            <a:r>
              <a:rPr lang="en-US" altLang="zh-CN" dirty="0"/>
              <a:t>Overview of Physical Storage Media</a:t>
            </a:r>
          </a:p>
          <a:p>
            <a:r>
              <a:rPr lang="en-US" altLang="zh-CN" dirty="0"/>
              <a:t>Magnetic Disks</a:t>
            </a:r>
          </a:p>
          <a:p>
            <a:r>
              <a:rPr lang="en-US" altLang="zh-CN" dirty="0"/>
              <a:t>RAID</a:t>
            </a:r>
          </a:p>
          <a:p>
            <a:r>
              <a:rPr lang="en-US" altLang="zh-CN" dirty="0"/>
              <a:t>Tertiary Storage </a:t>
            </a:r>
          </a:p>
          <a:p>
            <a:r>
              <a:rPr lang="en-US" altLang="zh-CN" dirty="0"/>
              <a:t>Storage Access</a:t>
            </a:r>
          </a:p>
          <a:p>
            <a:r>
              <a:rPr lang="en-US" altLang="zh-CN" dirty="0"/>
              <a:t>File Organization</a:t>
            </a:r>
          </a:p>
          <a:p>
            <a:r>
              <a:rPr lang="en-US" altLang="zh-CN" dirty="0"/>
              <a:t>Organization of Records in Files</a:t>
            </a:r>
          </a:p>
          <a:p>
            <a:r>
              <a:rPr lang="en-US" altLang="zh-CN" b="1" dirty="0">
                <a:solidFill>
                  <a:srgbClr val="C00000"/>
                </a:solidFill>
              </a:rPr>
              <a:t>Data-Dictionary Storage</a:t>
            </a:r>
          </a:p>
        </p:txBody>
      </p:sp>
    </p:spTree>
    <p:extLst>
      <p:ext uri="{BB962C8B-B14F-4D97-AF65-F5344CB8AC3E}">
        <p14:creationId xmlns:p14="http://schemas.microsoft.com/office/powerpoint/2010/main" val="3526242201"/>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F74790-4BA4-42CD-9C20-700CD695A42E}"/>
              </a:ext>
            </a:extLst>
          </p:cNvPr>
          <p:cNvSpPr>
            <a:spLocks noGrp="1"/>
          </p:cNvSpPr>
          <p:nvPr>
            <p:ph type="title"/>
          </p:nvPr>
        </p:nvSpPr>
        <p:spPr/>
        <p:txBody>
          <a:bodyPr/>
          <a:lstStyle/>
          <a:p>
            <a:pPr algn="ctr"/>
            <a:r>
              <a:rPr lang="en-US" altLang="zh-CN" dirty="0"/>
              <a:t>Data Dictionary Storage</a:t>
            </a:r>
            <a:endParaRPr lang="zh-CN" altLang="en-US" dirty="0"/>
          </a:p>
        </p:txBody>
      </p:sp>
      <p:sp>
        <p:nvSpPr>
          <p:cNvPr id="3" name="内容占位符 2">
            <a:extLst>
              <a:ext uri="{FF2B5EF4-FFF2-40B4-BE49-F238E27FC236}">
                <a16:creationId xmlns:a16="http://schemas.microsoft.com/office/drawing/2014/main" id="{7CDDBE26-BDF5-4994-9BAE-82B4B5C6069D}"/>
              </a:ext>
            </a:extLst>
          </p:cNvPr>
          <p:cNvSpPr>
            <a:spLocks noGrp="1"/>
          </p:cNvSpPr>
          <p:nvPr>
            <p:ph idx="1"/>
          </p:nvPr>
        </p:nvSpPr>
        <p:spPr>
          <a:xfrm>
            <a:off x="179512" y="1347614"/>
            <a:ext cx="8568952" cy="3805070"/>
          </a:xfrm>
        </p:spPr>
        <p:txBody>
          <a:bodyPr/>
          <a:lstStyle/>
          <a:p>
            <a:pPr>
              <a:spcBef>
                <a:spcPts val="300"/>
              </a:spcBef>
            </a:pPr>
            <a:r>
              <a:rPr lang="en-US" altLang="zh-CN" sz="1800" b="1" dirty="0"/>
              <a:t>Information about relations</a:t>
            </a:r>
          </a:p>
          <a:p>
            <a:pPr lvl="1">
              <a:spcBef>
                <a:spcPts val="300"/>
              </a:spcBef>
            </a:pPr>
            <a:r>
              <a:rPr lang="en-US" altLang="zh-CN" sz="1600" dirty="0"/>
              <a:t>names of relations</a:t>
            </a:r>
          </a:p>
          <a:p>
            <a:pPr lvl="1">
              <a:spcBef>
                <a:spcPts val="300"/>
              </a:spcBef>
            </a:pPr>
            <a:r>
              <a:rPr lang="en-US" altLang="zh-CN" sz="1600" dirty="0"/>
              <a:t>names and types of attributes of each relation</a:t>
            </a:r>
          </a:p>
          <a:p>
            <a:pPr lvl="1">
              <a:spcBef>
                <a:spcPts val="300"/>
              </a:spcBef>
            </a:pPr>
            <a:r>
              <a:rPr lang="en-US" altLang="zh-CN" sz="1600" dirty="0"/>
              <a:t>names and definitions of views</a:t>
            </a:r>
          </a:p>
          <a:p>
            <a:pPr lvl="1">
              <a:spcBef>
                <a:spcPts val="300"/>
              </a:spcBef>
            </a:pPr>
            <a:r>
              <a:rPr lang="en-US" altLang="zh-CN" sz="1600" dirty="0"/>
              <a:t>integrity constraints</a:t>
            </a:r>
          </a:p>
          <a:p>
            <a:pPr>
              <a:spcBef>
                <a:spcPts val="300"/>
              </a:spcBef>
            </a:pPr>
            <a:r>
              <a:rPr lang="en-US" altLang="zh-CN" sz="1800" b="1" dirty="0"/>
              <a:t>User and accounting information, including passwords</a:t>
            </a:r>
          </a:p>
          <a:p>
            <a:pPr marL="342900" lvl="1" indent="-342900">
              <a:spcBef>
                <a:spcPts val="300"/>
              </a:spcBef>
              <a:buChar char="•"/>
            </a:pPr>
            <a:r>
              <a:rPr lang="en-US" altLang="zh-CN" sz="1800" b="1" dirty="0"/>
              <a:t>Statistical and descriptive data</a:t>
            </a:r>
          </a:p>
          <a:p>
            <a:pPr lvl="1">
              <a:spcBef>
                <a:spcPts val="300"/>
              </a:spcBef>
            </a:pPr>
            <a:r>
              <a:rPr lang="en-US" altLang="zh-CN" sz="1600" dirty="0"/>
              <a:t>the number of tuples in each relation</a:t>
            </a:r>
          </a:p>
          <a:p>
            <a:pPr>
              <a:spcBef>
                <a:spcPts val="300"/>
              </a:spcBef>
            </a:pPr>
            <a:r>
              <a:rPr lang="en-US" altLang="zh-CN" sz="1800" b="1" dirty="0"/>
              <a:t>Physical file organization information</a:t>
            </a:r>
          </a:p>
          <a:p>
            <a:pPr lvl="1">
              <a:spcBef>
                <a:spcPts val="300"/>
              </a:spcBef>
            </a:pPr>
            <a:r>
              <a:rPr lang="en-US" altLang="zh-CN" sz="1600" dirty="0"/>
              <a:t>How relation is stored (sequential/hash/…)</a:t>
            </a:r>
          </a:p>
          <a:p>
            <a:pPr lvl="1">
              <a:spcBef>
                <a:spcPts val="300"/>
              </a:spcBef>
            </a:pPr>
            <a:r>
              <a:rPr lang="en-US" altLang="zh-CN" sz="1600" dirty="0"/>
              <a:t>Physical location of relation </a:t>
            </a:r>
          </a:p>
          <a:p>
            <a:pPr>
              <a:spcBef>
                <a:spcPts val="300"/>
              </a:spcBef>
            </a:pPr>
            <a:r>
              <a:rPr lang="en-US" altLang="zh-CN" sz="1800" b="1" dirty="0"/>
              <a:t>Information about indices (Chapter 14) </a:t>
            </a:r>
          </a:p>
          <a:p>
            <a:pPr>
              <a:spcBef>
                <a:spcPts val="300"/>
              </a:spcBef>
            </a:pPr>
            <a:endParaRPr lang="en-US" altLang="zh-CN" sz="1800" dirty="0"/>
          </a:p>
          <a:p>
            <a:pPr>
              <a:spcBef>
                <a:spcPts val="300"/>
              </a:spcBef>
            </a:pPr>
            <a:endParaRPr lang="zh-CN" altLang="en-US" sz="1800" dirty="0"/>
          </a:p>
        </p:txBody>
      </p:sp>
      <p:sp>
        <p:nvSpPr>
          <p:cNvPr id="4" name="文本框 3">
            <a:extLst>
              <a:ext uri="{FF2B5EF4-FFF2-40B4-BE49-F238E27FC236}">
                <a16:creationId xmlns:a16="http://schemas.microsoft.com/office/drawing/2014/main" id="{43559DC7-C074-4154-A496-E4E7BA2B9F3A}"/>
              </a:ext>
            </a:extLst>
          </p:cNvPr>
          <p:cNvSpPr txBox="1"/>
          <p:nvPr/>
        </p:nvSpPr>
        <p:spPr>
          <a:xfrm>
            <a:off x="89756" y="627534"/>
            <a:ext cx="8964488" cy="707886"/>
          </a:xfrm>
          <a:prstGeom prst="rect">
            <a:avLst/>
          </a:prstGeom>
          <a:noFill/>
        </p:spPr>
        <p:txBody>
          <a:bodyPr wrap="square" rtlCol="0">
            <a:spAutoFit/>
          </a:bodyPr>
          <a:lstStyle/>
          <a:p>
            <a:r>
              <a:rPr lang="en-US" altLang="zh-CN" sz="2000" b="1" dirty="0">
                <a:solidFill>
                  <a:srgbClr val="C00000"/>
                </a:solidFill>
                <a:latin typeface="Arial" panose="020B0604020202020204" pitchFamily="34" charset="0"/>
                <a:cs typeface="Arial" panose="020B0604020202020204" pitchFamily="34" charset="0"/>
              </a:rPr>
              <a:t>Data dictionary </a:t>
            </a:r>
            <a:r>
              <a:rPr lang="en-US" altLang="zh-CN" sz="2000" dirty="0">
                <a:latin typeface="Arial" panose="020B0604020202020204" pitchFamily="34" charset="0"/>
                <a:cs typeface="Arial" panose="020B0604020202020204" pitchFamily="34" charset="0"/>
              </a:rPr>
              <a:t>(also called system catalog) stores metadata, i.e., data about data, such as</a:t>
            </a:r>
          </a:p>
        </p:txBody>
      </p:sp>
    </p:spTree>
    <p:extLst>
      <p:ext uri="{BB962C8B-B14F-4D97-AF65-F5344CB8AC3E}">
        <p14:creationId xmlns:p14="http://schemas.microsoft.com/office/powerpoint/2010/main" val="1736116230"/>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5DABF-421F-4B9E-9797-97C180414F1D}"/>
              </a:ext>
            </a:extLst>
          </p:cNvPr>
          <p:cNvSpPr>
            <a:spLocks noGrp="1"/>
          </p:cNvSpPr>
          <p:nvPr>
            <p:ph type="title"/>
          </p:nvPr>
        </p:nvSpPr>
        <p:spPr/>
        <p:txBody>
          <a:bodyPr/>
          <a:lstStyle/>
          <a:p>
            <a:pPr algn="ctr"/>
            <a:r>
              <a:rPr lang="en-US" altLang="zh-CN" dirty="0"/>
              <a:t>Data Dictionary Storage (Cont.)</a:t>
            </a:r>
            <a:endParaRPr lang="zh-CN" altLang="en-US" dirty="0"/>
          </a:p>
        </p:txBody>
      </p:sp>
      <p:sp>
        <p:nvSpPr>
          <p:cNvPr id="3" name="内容占位符 2">
            <a:extLst>
              <a:ext uri="{FF2B5EF4-FFF2-40B4-BE49-F238E27FC236}">
                <a16:creationId xmlns:a16="http://schemas.microsoft.com/office/drawing/2014/main" id="{C3E44E89-F986-4547-AB02-948EBCD37A47}"/>
              </a:ext>
            </a:extLst>
          </p:cNvPr>
          <p:cNvSpPr>
            <a:spLocks noGrp="1"/>
          </p:cNvSpPr>
          <p:nvPr>
            <p:ph idx="1"/>
          </p:nvPr>
        </p:nvSpPr>
        <p:spPr>
          <a:xfrm>
            <a:off x="251520" y="789553"/>
            <a:ext cx="8712968" cy="3805070"/>
          </a:xfrm>
        </p:spPr>
        <p:txBody>
          <a:bodyPr/>
          <a:lstStyle/>
          <a:p>
            <a:r>
              <a:rPr lang="en-US" altLang="zh-CN" sz="2000" b="1" dirty="0"/>
              <a:t>Catalog structure</a:t>
            </a:r>
          </a:p>
          <a:p>
            <a:pPr lvl="1"/>
            <a:r>
              <a:rPr lang="en-US" altLang="zh-CN" sz="1800" dirty="0"/>
              <a:t>relational representation on disk</a:t>
            </a:r>
          </a:p>
          <a:p>
            <a:pPr lvl="1"/>
            <a:r>
              <a:rPr lang="en-US" altLang="zh-CN" sz="1800" dirty="0"/>
              <a:t>specialized data structures designed for efficient access</a:t>
            </a:r>
          </a:p>
          <a:p>
            <a:r>
              <a:rPr lang="en-US" altLang="zh-CN" sz="2000" dirty="0"/>
              <a:t>A possible catalog representation:</a:t>
            </a:r>
          </a:p>
          <a:p>
            <a:endParaRPr lang="zh-CN" altLang="en-US" sz="2000" dirty="0"/>
          </a:p>
        </p:txBody>
      </p:sp>
      <p:sp>
        <p:nvSpPr>
          <p:cNvPr id="5" name="文本框 4">
            <a:extLst>
              <a:ext uri="{FF2B5EF4-FFF2-40B4-BE49-F238E27FC236}">
                <a16:creationId xmlns:a16="http://schemas.microsoft.com/office/drawing/2014/main" id="{35F9EF35-0461-43BD-9DA1-ED03997A3F4C}"/>
              </a:ext>
            </a:extLst>
          </p:cNvPr>
          <p:cNvSpPr txBox="1"/>
          <p:nvPr/>
        </p:nvSpPr>
        <p:spPr>
          <a:xfrm>
            <a:off x="611560" y="2566218"/>
            <a:ext cx="7704856" cy="1539332"/>
          </a:xfrm>
          <a:prstGeom prst="rect">
            <a:avLst/>
          </a:prstGeom>
          <a:noFill/>
        </p:spPr>
        <p:txBody>
          <a:bodyPr wrap="square" rtlCol="0">
            <a:spAutoFit/>
          </a:bodyPr>
          <a:lstStyle/>
          <a:p>
            <a:pPr marL="0" marR="0" lvl="0" indent="0" defTabSz="914400" eaLnBrk="0" fontAlgn="auto" latinLnBrk="0" hangingPunct="0">
              <a:lnSpc>
                <a:spcPct val="110000"/>
              </a:lnSpc>
              <a:spcBef>
                <a:spcPct val="0"/>
              </a:spcBef>
              <a:spcAft>
                <a:spcPts val="0"/>
              </a:spcAft>
              <a:buClrTx/>
              <a:buSzTx/>
              <a:buFontTx/>
              <a:buNone/>
              <a:tabLst>
                <a:tab pos="2795588" algn="l"/>
              </a:tabLst>
              <a:defRPr/>
            </a:pPr>
            <a:r>
              <a:rPr lang="en-US" altLang="zh-CN" b="1" i="1" kern="0" dirty="0" err="1">
                <a:solidFill>
                  <a:srgbClr val="000000"/>
                </a:solidFill>
                <a:latin typeface="Arial" panose="020B0604020202020204" pitchFamily="34" charset="0"/>
                <a:ea typeface="宋体" panose="02010600030101010101" pitchFamily="2" charset="-122"/>
                <a:cs typeface="Arial" panose="020B0604020202020204" pitchFamily="34" charset="0"/>
              </a:rPr>
              <a:t>relation_metadata</a:t>
            </a:r>
            <a:r>
              <a:rPr lang="en-US" altLang="zh-CN" b="1"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rPr>
              <a:t>(</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relation_name</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number_of_attributes</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storage_organization</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location</a:t>
            </a:r>
            <a:r>
              <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rPr>
              <a:t>)</a:t>
            </a:r>
            <a:b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br>
            <a:r>
              <a:rPr lang="en-US" altLang="zh-CN" b="1" i="1" kern="0" dirty="0" err="1">
                <a:solidFill>
                  <a:srgbClr val="000000"/>
                </a:solidFill>
                <a:latin typeface="Arial" panose="020B0604020202020204" pitchFamily="34" charset="0"/>
                <a:ea typeface="宋体" panose="02010600030101010101" pitchFamily="2" charset="-122"/>
                <a:cs typeface="Arial" panose="020B0604020202020204" pitchFamily="34" charset="0"/>
              </a:rPr>
              <a:t>attribute_metadata</a:t>
            </a:r>
            <a:r>
              <a:rPr lang="en-US" altLang="zh-CN" b="1"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rPr>
              <a:t>(</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attribute_name</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relation_name</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domain_type</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position, length</a:t>
            </a:r>
            <a:r>
              <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rPr>
              <a:t>)</a:t>
            </a:r>
          </a:p>
          <a:p>
            <a:pPr marL="0" marR="0" lvl="0" indent="0" defTabSz="914400" eaLnBrk="0" fontAlgn="auto" latinLnBrk="0" hangingPunct="0">
              <a:lnSpc>
                <a:spcPct val="110000"/>
              </a:lnSpc>
              <a:spcBef>
                <a:spcPct val="0"/>
              </a:spcBef>
              <a:spcAft>
                <a:spcPts val="0"/>
              </a:spcAft>
              <a:buClrTx/>
              <a:buSzTx/>
              <a:buFontTx/>
              <a:buNone/>
              <a:tabLst>
                <a:tab pos="2795588" algn="l"/>
              </a:tabLst>
              <a:defRPr/>
            </a:pPr>
            <a:r>
              <a:rPr lang="en-US" altLang="zh-CN" b="1" i="1" kern="0" dirty="0" err="1">
                <a:solidFill>
                  <a:srgbClr val="000000"/>
                </a:solidFill>
                <a:latin typeface="Arial" panose="020B0604020202020204" pitchFamily="34" charset="0"/>
                <a:ea typeface="宋体" panose="02010600030101010101" pitchFamily="2" charset="-122"/>
                <a:cs typeface="Arial" panose="020B0604020202020204" pitchFamily="34" charset="0"/>
              </a:rPr>
              <a:t>user_metadata</a:t>
            </a:r>
            <a:r>
              <a:rPr lang="en-US" altLang="zh-CN" b="1"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rPr>
              <a:t>(</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user_name</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encrypted_password</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group</a:t>
            </a:r>
            <a:r>
              <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rPr>
              <a:t>)</a:t>
            </a:r>
          </a:p>
          <a:p>
            <a:pPr marL="0" marR="0" lvl="0" indent="0" defTabSz="914400" eaLnBrk="0" fontAlgn="auto" latinLnBrk="0" hangingPunct="0">
              <a:lnSpc>
                <a:spcPct val="110000"/>
              </a:lnSpc>
              <a:spcBef>
                <a:spcPct val="0"/>
              </a:spcBef>
              <a:spcAft>
                <a:spcPts val="0"/>
              </a:spcAft>
              <a:buClrTx/>
              <a:buSzTx/>
              <a:buFontTx/>
              <a:buNone/>
              <a:tabLst>
                <a:tab pos="2795588" algn="l"/>
              </a:tabLst>
              <a:defRPr/>
            </a:pPr>
            <a:r>
              <a:rPr lang="en-US" altLang="zh-CN" b="1" i="1" kern="0" dirty="0" err="1">
                <a:solidFill>
                  <a:srgbClr val="000000"/>
                </a:solidFill>
                <a:latin typeface="Arial" panose="020B0604020202020204" pitchFamily="34" charset="0"/>
                <a:ea typeface="宋体" panose="02010600030101010101" pitchFamily="2" charset="-122"/>
                <a:cs typeface="Arial" panose="020B0604020202020204" pitchFamily="34" charset="0"/>
              </a:rPr>
              <a:t>index_metadata</a:t>
            </a:r>
            <a:r>
              <a:rPr lang="en-US" altLang="zh-CN" b="1"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rPr>
              <a:t>(</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index_name</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relation_name</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index_type</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index_attributes</a:t>
            </a:r>
            <a:r>
              <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rPr>
              <a:t>)</a:t>
            </a:r>
          </a:p>
          <a:p>
            <a:pPr marL="0" marR="0" lvl="0" indent="0" defTabSz="914400" eaLnBrk="0" fontAlgn="auto" latinLnBrk="0" hangingPunct="0">
              <a:lnSpc>
                <a:spcPct val="110000"/>
              </a:lnSpc>
              <a:spcBef>
                <a:spcPct val="0"/>
              </a:spcBef>
              <a:spcAft>
                <a:spcPts val="0"/>
              </a:spcAft>
              <a:buClrTx/>
              <a:buSzTx/>
              <a:buFontTx/>
              <a:buNone/>
              <a:tabLst>
                <a:tab pos="2795588" algn="l"/>
              </a:tabLst>
              <a:defRPr/>
            </a:pPr>
            <a:r>
              <a:rPr lang="en-US" altLang="zh-CN" b="1" i="1" kern="0" dirty="0" err="1">
                <a:solidFill>
                  <a:srgbClr val="000000"/>
                </a:solidFill>
                <a:latin typeface="Arial" panose="020B0604020202020204" pitchFamily="34" charset="0"/>
                <a:ea typeface="宋体" panose="02010600030101010101" pitchFamily="2" charset="-122"/>
                <a:cs typeface="Arial" panose="020B0604020202020204" pitchFamily="34" charset="0"/>
              </a:rPr>
              <a:t>view_metadata</a:t>
            </a:r>
            <a:r>
              <a:rPr lang="en-US" altLang="zh-CN" b="1"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rPr>
              <a:t>(</a:t>
            </a:r>
            <a:r>
              <a:rPr lang="en-US" altLang="zh-CN" i="1" kern="0" dirty="0" err="1">
                <a:solidFill>
                  <a:srgbClr val="000000"/>
                </a:solidFill>
                <a:latin typeface="Arial" panose="020B0604020202020204" pitchFamily="34" charset="0"/>
                <a:ea typeface="宋体" panose="02010600030101010101" pitchFamily="2" charset="-122"/>
                <a:cs typeface="Arial" panose="020B0604020202020204" pitchFamily="34" charset="0"/>
              </a:rPr>
              <a:t>view_name</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definition</a:t>
            </a:r>
            <a:r>
              <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rPr>
              <a:t>)</a:t>
            </a:r>
            <a:r>
              <a:rPr lang="en-US" altLang="zh-CN" i="1" kern="0" dirty="0">
                <a:solidFill>
                  <a:srgbClr val="000000"/>
                </a:solidFill>
                <a:latin typeface="Arial" panose="020B0604020202020204" pitchFamily="34" charset="0"/>
                <a:ea typeface="宋体" panose="02010600030101010101" pitchFamily="2" charset="-122"/>
                <a:cs typeface="Arial" panose="020B0604020202020204" pitchFamily="34" charset="0"/>
              </a:rPr>
              <a:t> </a:t>
            </a:r>
            <a:endPar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endParaRPr>
          </a:p>
          <a:p>
            <a:pPr>
              <a:lnSpc>
                <a:spcPct val="110000"/>
              </a:lnSpc>
            </a:pPr>
            <a:endParaRPr lang="zh-CN" altLang="en-US" dirty="0"/>
          </a:p>
        </p:txBody>
      </p:sp>
    </p:spTree>
    <p:extLst>
      <p:ext uri="{BB962C8B-B14F-4D97-AF65-F5344CB8AC3E}">
        <p14:creationId xmlns:p14="http://schemas.microsoft.com/office/powerpoint/2010/main" val="1546403171"/>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CCF87-1872-4A04-BAC5-3AD7EB8BB94A}"/>
              </a:ext>
            </a:extLst>
          </p:cNvPr>
          <p:cNvSpPr txBox="1">
            <a:spLocks/>
          </p:cNvSpPr>
          <p:nvPr/>
        </p:nvSpPr>
        <p:spPr bwMode="auto">
          <a:xfrm>
            <a:off x="685800" y="1714500"/>
            <a:ext cx="7772400" cy="857250"/>
          </a:xfrm>
          <a:prstGeom prst="rect">
            <a:avLst/>
          </a:prstGeom>
          <a:solidFill>
            <a:srgbClr val="FFFFFF"/>
          </a:solidFill>
          <a:ln w="9525">
            <a:solidFill>
              <a:srgbClr val="000000"/>
            </a:solidFill>
            <a:miter lim="800000"/>
            <a:headEnd/>
            <a:tailEnd/>
          </a:ln>
          <a:effectLst>
            <a:outerShdw dist="107763" dir="2700000" algn="ctr" rotWithShape="0">
              <a:srgbClr val="808080">
                <a:alpha val="50000"/>
              </a:srgbClr>
            </a:outerShdw>
          </a:effec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2700" b="1">
                <a:solidFill>
                  <a:schemeClr val="tx1"/>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2pPr>
            <a:lvl3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3pPr>
            <a:lvl4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4pPr>
            <a:lvl5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5pPr>
            <a:lvl6pPr marL="342900"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6pPr>
            <a:lvl7pPr marL="685800"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7pPr>
            <a:lvl8pPr marL="1028700"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8pPr>
            <a:lvl9pPr marL="1371600"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Comic Sans MS"/>
                <a:ea typeface="宋体" panose="02010600030101010101" pitchFamily="2" charset="-122"/>
                <a:cs typeface="+mj-cs"/>
              </a:rPr>
              <a:t>数据库及存储技术（补充）</a:t>
            </a:r>
            <a:endParaRPr kumimoji="1" lang="zh-CN" altLang="en-US" sz="2800" b="1" i="0" u="none" strike="noStrike" kern="0" cap="none" spc="0" normalizeH="0" baseline="0" noProof="0" dirty="0">
              <a:ln>
                <a:noFill/>
              </a:ln>
              <a:solidFill>
                <a:srgbClr val="000000"/>
              </a:solidFill>
              <a:effectLst/>
              <a:uLnTx/>
              <a:uFillTx/>
              <a:latin typeface="Comic Sans MS"/>
              <a:ea typeface="宋体" panose="02010600030101010101" pitchFamily="2" charset="-122"/>
              <a:cs typeface="+mj-cs"/>
            </a:endParaRPr>
          </a:p>
        </p:txBody>
      </p:sp>
    </p:spTree>
    <p:extLst>
      <p:ext uri="{BB962C8B-B14F-4D97-AF65-F5344CB8AC3E}">
        <p14:creationId xmlns:p14="http://schemas.microsoft.com/office/powerpoint/2010/main" val="557640779"/>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1D4382-C095-4C43-A4BB-ED8CF50776CF}"/>
              </a:ext>
            </a:extLst>
          </p:cNvPr>
          <p:cNvSpPr>
            <a:spLocks noGrp="1"/>
          </p:cNvSpPr>
          <p:nvPr>
            <p:ph type="title"/>
          </p:nvPr>
        </p:nvSpPr>
        <p:spPr/>
        <p:txBody>
          <a:bodyPr/>
          <a:lstStyle/>
          <a:p>
            <a:pPr algn="ctr"/>
            <a:r>
              <a:rPr lang="zh-CN" altLang="en-US" dirty="0"/>
              <a:t>内存数据库</a:t>
            </a:r>
          </a:p>
        </p:txBody>
      </p:sp>
      <p:sp>
        <p:nvSpPr>
          <p:cNvPr id="3" name="内容占位符 2">
            <a:extLst>
              <a:ext uri="{FF2B5EF4-FFF2-40B4-BE49-F238E27FC236}">
                <a16:creationId xmlns:a16="http://schemas.microsoft.com/office/drawing/2014/main" id="{A29FC393-D662-4ECC-825E-2A43FDC1D94E}"/>
              </a:ext>
            </a:extLst>
          </p:cNvPr>
          <p:cNvSpPr>
            <a:spLocks noGrp="1"/>
          </p:cNvSpPr>
          <p:nvPr>
            <p:ph idx="1"/>
          </p:nvPr>
        </p:nvSpPr>
        <p:spPr/>
        <p:txBody>
          <a:bodyPr/>
          <a:lstStyle/>
          <a:p>
            <a:r>
              <a:rPr lang="zh-CN" altLang="en-US" sz="1800" b="1" dirty="0"/>
              <a:t>内存数据库</a:t>
            </a:r>
            <a:endParaRPr lang="en-US" altLang="zh-CN" sz="1800" b="1" dirty="0"/>
          </a:p>
          <a:p>
            <a:pPr lvl="1"/>
            <a:r>
              <a:rPr lang="zh-CN" altLang="en-US" sz="1400" dirty="0"/>
              <a:t>将数据放在内存中直接操作的数据库。相对于磁盘，内存的数据读写速度要高出几个数量级，将数据保存在内存中相比从磁盘上访问能够极大地提高应用的性能同时，内存数据库抛弃了磁盘数据管理的传统方式，基于全部数据都在内存中重新设计了体系结构，并且在数据缓存、快速算法、并行操作方面也进行了相应的改进，所以数据处理速度比传统数据库的数据处理速度要快很多，一般都在</a:t>
            </a:r>
            <a:r>
              <a:rPr lang="en-US" altLang="zh-CN" sz="1400" dirty="0"/>
              <a:t>10</a:t>
            </a:r>
            <a:r>
              <a:rPr lang="zh-CN" altLang="en-US" sz="1400" dirty="0"/>
              <a:t>倍以上。内存数据库的最大特点是其“主拷贝”或“工作版本”常驻内存，即活动事务只与实时内存数据库的内存拷贝打交道。</a:t>
            </a:r>
          </a:p>
          <a:p>
            <a:r>
              <a:rPr lang="zh-CN" altLang="en-US" sz="1800" b="1" dirty="0"/>
              <a:t>定义</a:t>
            </a:r>
            <a:endParaRPr lang="en-US" altLang="zh-CN" sz="1800" b="1" dirty="0"/>
          </a:p>
          <a:p>
            <a:pPr lvl="1"/>
            <a:r>
              <a:rPr lang="zh-CN" altLang="en-US" sz="1400" dirty="0"/>
              <a:t>设有数据库系统</a:t>
            </a:r>
            <a:r>
              <a:rPr lang="en-US" altLang="zh-CN" sz="1400" dirty="0"/>
              <a:t>DBS</a:t>
            </a:r>
            <a:r>
              <a:rPr lang="zh-CN" altLang="en-US" sz="1400" dirty="0"/>
              <a:t>，</a:t>
            </a:r>
            <a:r>
              <a:rPr lang="en-US" altLang="zh-CN" sz="1400" dirty="0"/>
              <a:t>DB</a:t>
            </a:r>
            <a:r>
              <a:rPr lang="zh-CN" altLang="en-US" sz="1400" dirty="0"/>
              <a:t>为</a:t>
            </a:r>
            <a:r>
              <a:rPr lang="en-US" altLang="zh-CN" sz="1400" dirty="0"/>
              <a:t>DBS</a:t>
            </a:r>
            <a:r>
              <a:rPr lang="zh-CN" altLang="en-US" sz="1400" dirty="0"/>
              <a:t>中的数据库，</a:t>
            </a:r>
            <a:r>
              <a:rPr lang="en-US" altLang="zh-CN" sz="1400" dirty="0"/>
              <a:t>DBM(t)</a:t>
            </a:r>
            <a:r>
              <a:rPr lang="zh-CN" altLang="en-US" sz="1400" dirty="0"/>
              <a:t>为在时刻</a:t>
            </a:r>
            <a:r>
              <a:rPr lang="en-US" altLang="zh-CN" sz="1400" dirty="0"/>
              <a:t>t</a:t>
            </a:r>
            <a:r>
              <a:rPr lang="zh-CN" altLang="en-US" sz="1400" dirty="0"/>
              <a:t>，</a:t>
            </a:r>
            <a:r>
              <a:rPr lang="en-US" altLang="zh-CN" sz="1400" dirty="0"/>
              <a:t>DB</a:t>
            </a:r>
            <a:r>
              <a:rPr lang="zh-CN" altLang="en-US" sz="1400" dirty="0"/>
              <a:t>在内存的数据集，</a:t>
            </a:r>
            <a:r>
              <a:rPr lang="en-US" altLang="zh-CN" sz="1400" dirty="0"/>
              <a:t>DBM(t)</a:t>
            </a:r>
            <a:r>
              <a:rPr lang="zh-CN" altLang="en-US" sz="1400" dirty="0"/>
              <a:t>属于</a:t>
            </a:r>
            <a:r>
              <a:rPr lang="en-US" altLang="zh-CN" sz="1400" dirty="0"/>
              <a:t>DB</a:t>
            </a:r>
            <a:r>
              <a:rPr lang="zh-CN" altLang="en-US" sz="1400" dirty="0"/>
              <a:t>。</a:t>
            </a:r>
            <a:r>
              <a:rPr lang="en-US" altLang="zh-CN" sz="1400" dirty="0"/>
              <a:t>TS</a:t>
            </a:r>
            <a:r>
              <a:rPr lang="zh-CN" altLang="en-US" sz="1400" dirty="0"/>
              <a:t>为</a:t>
            </a:r>
            <a:r>
              <a:rPr lang="en-US" altLang="zh-CN" sz="1400" dirty="0"/>
              <a:t>DBS</a:t>
            </a:r>
            <a:r>
              <a:rPr lang="zh-CN" altLang="en-US" sz="1400" dirty="0"/>
              <a:t>中所有可能的事务构成的集合。</a:t>
            </a:r>
            <a:r>
              <a:rPr lang="en-US" altLang="zh-CN" sz="1400" dirty="0"/>
              <a:t>AT(t)</a:t>
            </a:r>
            <a:r>
              <a:rPr lang="zh-CN" altLang="en-US" sz="1400" dirty="0"/>
              <a:t>为在时刻</a:t>
            </a:r>
            <a:r>
              <a:rPr lang="en-US" altLang="zh-CN" sz="1400" dirty="0"/>
              <a:t>t</a:t>
            </a:r>
            <a:r>
              <a:rPr lang="zh-CN" altLang="en-US" sz="1400" dirty="0"/>
              <a:t>处于活动状态的事务集，</a:t>
            </a:r>
            <a:r>
              <a:rPr lang="en-US" altLang="zh-CN" sz="1400" dirty="0"/>
              <a:t>AT(t)</a:t>
            </a:r>
            <a:r>
              <a:rPr lang="zh-CN" altLang="en-US" sz="1400" dirty="0"/>
              <a:t>属于</a:t>
            </a:r>
            <a:r>
              <a:rPr lang="en-US" altLang="zh-CN" sz="1400" dirty="0"/>
              <a:t>TS</a:t>
            </a:r>
            <a:r>
              <a:rPr lang="zh-CN" altLang="en-US" sz="1400" dirty="0"/>
              <a:t>。</a:t>
            </a:r>
            <a:r>
              <a:rPr lang="en-US" altLang="zh-CN" sz="1400" dirty="0"/>
              <a:t>Dt(T)</a:t>
            </a:r>
            <a:r>
              <a:rPr lang="zh-CN" altLang="en-US" sz="1400" dirty="0"/>
              <a:t>为事务</a:t>
            </a:r>
            <a:r>
              <a:rPr lang="en-US" altLang="zh-CN" sz="1400" dirty="0"/>
              <a:t>T</a:t>
            </a:r>
            <a:r>
              <a:rPr lang="zh-CN" altLang="en-US" sz="1400" dirty="0"/>
              <a:t>在时刻</a:t>
            </a:r>
            <a:r>
              <a:rPr lang="en-US" altLang="zh-CN" sz="1400" dirty="0"/>
              <a:t>t</a:t>
            </a:r>
            <a:r>
              <a:rPr lang="zh-CN" altLang="en-US" sz="1400" dirty="0"/>
              <a:t>所操作的数据集，</a:t>
            </a:r>
          </a:p>
          <a:p>
            <a:pPr lvl="1"/>
            <a:r>
              <a:rPr lang="en-US" altLang="zh-CN" sz="1400" dirty="0"/>
              <a:t>Dt(T)</a:t>
            </a:r>
            <a:r>
              <a:rPr lang="zh-CN" altLang="en-US" sz="1400" dirty="0"/>
              <a:t>属于</a:t>
            </a:r>
            <a:r>
              <a:rPr lang="en-US" altLang="zh-CN" sz="1400" dirty="0"/>
              <a:t>DB</a:t>
            </a:r>
            <a:r>
              <a:rPr lang="zh-CN" altLang="en-US" sz="1400" dirty="0"/>
              <a:t>。若在任意时刻</a:t>
            </a:r>
            <a:r>
              <a:rPr lang="en-US" altLang="zh-CN" sz="1400" dirty="0"/>
              <a:t>t</a:t>
            </a:r>
            <a:r>
              <a:rPr lang="zh-CN" altLang="en-US" sz="1400" dirty="0"/>
              <a:t>，均有</a:t>
            </a:r>
            <a:r>
              <a:rPr lang="en-US" altLang="zh-CN" sz="1400" dirty="0"/>
              <a:t>: </a:t>
            </a:r>
            <a:r>
              <a:rPr lang="zh-CN" altLang="en-US" sz="1400" dirty="0"/>
              <a:t>任意</a:t>
            </a:r>
            <a:r>
              <a:rPr lang="en-US" altLang="zh-CN" sz="1400" dirty="0"/>
              <a:t>T</a:t>
            </a:r>
            <a:r>
              <a:rPr lang="zh-CN" altLang="en-US" sz="1400" dirty="0"/>
              <a:t>属于</a:t>
            </a:r>
            <a:r>
              <a:rPr lang="en-US" altLang="zh-CN" sz="1400" dirty="0"/>
              <a:t>AT(t) Dt(T)</a:t>
            </a:r>
            <a:r>
              <a:rPr lang="zh-CN" altLang="en-US" sz="1400" dirty="0"/>
              <a:t>属于</a:t>
            </a:r>
            <a:r>
              <a:rPr lang="en-US" altLang="zh-CN" sz="1400" dirty="0"/>
              <a:t>DBM(t)</a:t>
            </a:r>
            <a:r>
              <a:rPr lang="zh-CN" altLang="en-US" sz="1400" dirty="0"/>
              <a:t>成立，则称</a:t>
            </a:r>
            <a:r>
              <a:rPr lang="en-US" altLang="zh-CN" sz="1400" dirty="0"/>
              <a:t>DBS</a:t>
            </a:r>
            <a:r>
              <a:rPr lang="zh-CN" altLang="en-US" sz="1400" dirty="0"/>
              <a:t>为一个内存数据库系统，简称</a:t>
            </a:r>
            <a:r>
              <a:rPr lang="en-US" altLang="zh-CN" sz="1400" dirty="0"/>
              <a:t>MMDBS;DB</a:t>
            </a:r>
            <a:r>
              <a:rPr lang="zh-CN" altLang="en-US" sz="1400" dirty="0"/>
              <a:t>为一个内存数据库，简称</a:t>
            </a:r>
            <a:r>
              <a:rPr lang="en-US" altLang="zh-CN" sz="1400" dirty="0"/>
              <a:t>MMDB</a:t>
            </a:r>
          </a:p>
          <a:p>
            <a:pPr lvl="1"/>
            <a:r>
              <a:rPr lang="zh-CN" altLang="en-US" sz="1400" dirty="0"/>
              <a:t>常见的例子有</a:t>
            </a:r>
            <a:r>
              <a:rPr lang="en-US" altLang="zh-CN" sz="1400" dirty="0"/>
              <a:t>MySQL</a:t>
            </a:r>
            <a:r>
              <a:rPr lang="zh-CN" altLang="en-US" sz="1400" dirty="0"/>
              <a:t>的</a:t>
            </a:r>
            <a:r>
              <a:rPr lang="en-US" altLang="zh-CN" sz="1400" dirty="0"/>
              <a:t>MEMORY</a:t>
            </a:r>
            <a:r>
              <a:rPr lang="zh-CN" altLang="en-US" sz="1400" dirty="0"/>
              <a:t>存储引擎、</a:t>
            </a:r>
            <a:r>
              <a:rPr lang="en-US" altLang="zh-CN" sz="1400" dirty="0" err="1"/>
              <a:t>eXtremeDB</a:t>
            </a:r>
            <a:r>
              <a:rPr lang="zh-CN" altLang="en-US" sz="1400" dirty="0"/>
              <a:t>、</a:t>
            </a:r>
            <a:r>
              <a:rPr lang="en-US" altLang="zh-CN" sz="1400" dirty="0"/>
              <a:t>TT</a:t>
            </a:r>
            <a:r>
              <a:rPr lang="zh-CN" altLang="en-US" sz="1400" dirty="0"/>
              <a:t>、</a:t>
            </a:r>
            <a:r>
              <a:rPr lang="en-US" altLang="zh-CN" sz="1400" dirty="0" err="1"/>
              <a:t>FastDB</a:t>
            </a:r>
            <a:r>
              <a:rPr lang="zh-CN" altLang="en-US" sz="1400" dirty="0"/>
              <a:t>、</a:t>
            </a:r>
            <a:r>
              <a:rPr lang="en-US" altLang="zh-CN" sz="1400" dirty="0"/>
              <a:t>SQLite</a:t>
            </a:r>
            <a:r>
              <a:rPr lang="zh-CN" altLang="en-US" sz="1400" dirty="0"/>
              <a:t>、</a:t>
            </a:r>
            <a:r>
              <a:rPr lang="en-US" altLang="zh-CN" sz="1400" dirty="0"/>
              <a:t>Microsoft SQL Server Compact</a:t>
            </a:r>
            <a:r>
              <a:rPr lang="zh-CN" altLang="en-US" sz="1400" dirty="0"/>
              <a:t>等</a:t>
            </a:r>
          </a:p>
          <a:p>
            <a:endParaRPr lang="zh-CN" altLang="en-US" sz="1800" dirty="0"/>
          </a:p>
        </p:txBody>
      </p:sp>
    </p:spTree>
    <p:extLst>
      <p:ext uri="{BB962C8B-B14F-4D97-AF65-F5344CB8AC3E}">
        <p14:creationId xmlns:p14="http://schemas.microsoft.com/office/powerpoint/2010/main" val="764458390"/>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A5184-E5F5-40B7-A3B7-3388E7DF950A}"/>
              </a:ext>
            </a:extLst>
          </p:cNvPr>
          <p:cNvSpPr>
            <a:spLocks noGrp="1"/>
          </p:cNvSpPr>
          <p:nvPr>
            <p:ph type="title"/>
          </p:nvPr>
        </p:nvSpPr>
        <p:spPr/>
        <p:txBody>
          <a:bodyPr/>
          <a:lstStyle/>
          <a:p>
            <a:pPr algn="ctr"/>
            <a:r>
              <a:rPr lang="zh-CN" altLang="en-US" dirty="0"/>
              <a:t>内存数据库与传统数据库</a:t>
            </a:r>
          </a:p>
        </p:txBody>
      </p:sp>
      <p:sp>
        <p:nvSpPr>
          <p:cNvPr id="3" name="内容占位符 2">
            <a:extLst>
              <a:ext uri="{FF2B5EF4-FFF2-40B4-BE49-F238E27FC236}">
                <a16:creationId xmlns:a16="http://schemas.microsoft.com/office/drawing/2014/main" id="{C64EE3B1-4896-445F-BC4A-F5431F4FF399}"/>
              </a:ext>
            </a:extLst>
          </p:cNvPr>
          <p:cNvSpPr>
            <a:spLocks noGrp="1"/>
          </p:cNvSpPr>
          <p:nvPr>
            <p:ph idx="1"/>
          </p:nvPr>
        </p:nvSpPr>
        <p:spPr/>
        <p:txBody>
          <a:bodyPr/>
          <a:lstStyle/>
          <a:p>
            <a:pPr>
              <a:spcBef>
                <a:spcPts val="600"/>
              </a:spcBef>
            </a:pPr>
            <a:r>
              <a:rPr lang="zh-CN" altLang="en-US" sz="1600" dirty="0"/>
              <a:t>传统的数据库系统是关系型数据库，开发这种数据库的目的，是处理永久、稳定的数据。关系数据库强调维护数据的完整性、一致性，但很难顾及有关数据及其处理的定时限制，不能满足工业生产管理实时应用的需要，因为实时事务要求系统能较准确地预报事务的运行时间。对磁盘数据库而言，由于磁盘存取、内外存的数据传递、缓冲区管理、排队等待及锁的延迟等使得事务实际平均执行时间与估算的最好情况执行时间相差很大，如果将整个数据库或其主要的“工作”部分放入内存，使每个事务在执行过程中没有</a:t>
            </a:r>
            <a:r>
              <a:rPr lang="en-US" altLang="zh-CN" sz="1600" dirty="0"/>
              <a:t>I/O</a:t>
            </a:r>
            <a:r>
              <a:rPr lang="zh-CN" altLang="en-US" sz="1600" dirty="0"/>
              <a:t>，则为系统较准确估算和安排事务的运行时间，使之具有较好的动态可预报性提供了有力的支持，同时也为实现事务的定时限制打下了基础。这就是内存数据库出现的主要原因。</a:t>
            </a:r>
          </a:p>
          <a:p>
            <a:pPr>
              <a:spcBef>
                <a:spcPts val="600"/>
              </a:spcBef>
            </a:pPr>
            <a:r>
              <a:rPr lang="zh-CN" altLang="en-US" sz="1600" dirty="0"/>
              <a:t>内存数据库所处理的数据通常是“短暂”的，即有一定的有效时间，过时则有新的数据产生，而当前的决策推导变成无效。所以，实际应用中采用内存数据库来处理实时性强的业务逻辑处理数据。而传统数据库旨在处理永久、稳定的数据，其性能目标是高的系统吞吐量和低的代价，处理数据的实时性就要考虑得相对少一些。实际应用中利用传统数据库这一特性存放相对实时性要求不高的数据。</a:t>
            </a:r>
          </a:p>
          <a:p>
            <a:pPr>
              <a:spcBef>
                <a:spcPts val="600"/>
              </a:spcBef>
            </a:pPr>
            <a:r>
              <a:rPr lang="zh-CN" altLang="en-US" sz="1600" dirty="0"/>
              <a:t>在实际应用中这两种数据库常常结合使用，而不是以内存数据库替代传统数据库。</a:t>
            </a:r>
          </a:p>
          <a:p>
            <a:pPr>
              <a:spcBef>
                <a:spcPts val="600"/>
              </a:spcBef>
            </a:pPr>
            <a:endParaRPr lang="zh-CN" altLang="en-US" sz="1600" dirty="0"/>
          </a:p>
        </p:txBody>
      </p:sp>
    </p:spTree>
    <p:extLst>
      <p:ext uri="{BB962C8B-B14F-4D97-AF65-F5344CB8AC3E}">
        <p14:creationId xmlns:p14="http://schemas.microsoft.com/office/powerpoint/2010/main" val="1582494484"/>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4CBD2-28FF-481D-B47C-2600F153CF1F}"/>
              </a:ext>
            </a:extLst>
          </p:cNvPr>
          <p:cNvSpPr>
            <a:spLocks noGrp="1"/>
          </p:cNvSpPr>
          <p:nvPr>
            <p:ph type="title"/>
          </p:nvPr>
        </p:nvSpPr>
        <p:spPr/>
        <p:txBody>
          <a:bodyPr/>
          <a:lstStyle/>
          <a:p>
            <a:pPr algn="ctr"/>
            <a:r>
              <a:rPr lang="zh-CN" altLang="en-US" dirty="0"/>
              <a:t>闪存数据库</a:t>
            </a:r>
          </a:p>
        </p:txBody>
      </p:sp>
      <p:sp>
        <p:nvSpPr>
          <p:cNvPr id="3" name="内容占位符 2">
            <a:extLst>
              <a:ext uri="{FF2B5EF4-FFF2-40B4-BE49-F238E27FC236}">
                <a16:creationId xmlns:a16="http://schemas.microsoft.com/office/drawing/2014/main" id="{7AA75B4D-D775-49B3-A467-ADCDADA126F3}"/>
              </a:ext>
            </a:extLst>
          </p:cNvPr>
          <p:cNvSpPr>
            <a:spLocks noGrp="1"/>
          </p:cNvSpPr>
          <p:nvPr>
            <p:ph idx="1"/>
          </p:nvPr>
        </p:nvSpPr>
        <p:spPr/>
        <p:txBody>
          <a:bodyPr/>
          <a:lstStyle/>
          <a:p>
            <a:pPr>
              <a:spcBef>
                <a:spcPts val="600"/>
              </a:spcBef>
            </a:pPr>
            <a:r>
              <a:rPr lang="zh-CN" altLang="en-US" sz="1600" dirty="0"/>
              <a:t>闪存（</a:t>
            </a:r>
            <a:r>
              <a:rPr lang="en-US" altLang="zh-CN" sz="1600" dirty="0"/>
              <a:t>Flash Memory</a:t>
            </a:r>
            <a:r>
              <a:rPr lang="zh-CN" altLang="en-US" sz="1600" dirty="0"/>
              <a:t>）是一种长寿命的非易失性（在断电情况下仍能保持所存储的数据信息）的存储器，数据删除不是以单个的字节为单位而是以固定的区块为单位，区块大小一般为</a:t>
            </a:r>
            <a:r>
              <a:rPr lang="en-US" altLang="zh-CN" sz="1600" dirty="0"/>
              <a:t>256KB</a:t>
            </a:r>
            <a:r>
              <a:rPr lang="zh-CN" altLang="en-US" sz="1600" dirty="0"/>
              <a:t>到</a:t>
            </a:r>
            <a:r>
              <a:rPr lang="en-US" altLang="zh-CN" sz="1600" dirty="0"/>
              <a:t>20MB</a:t>
            </a:r>
            <a:r>
              <a:rPr lang="zh-CN" altLang="en-US" sz="1600" dirty="0"/>
              <a:t>。闪存是电子可擦除只读存储器（</a:t>
            </a:r>
            <a:r>
              <a:rPr lang="en-US" altLang="zh-CN" sz="1600" dirty="0"/>
              <a:t>EEPROM</a:t>
            </a:r>
            <a:r>
              <a:rPr lang="zh-CN" altLang="en-US" sz="1600" dirty="0"/>
              <a:t>）的变种，</a:t>
            </a:r>
            <a:r>
              <a:rPr lang="en-US" altLang="zh-CN" sz="1600" dirty="0"/>
              <a:t>EEPROM</a:t>
            </a:r>
            <a:r>
              <a:rPr lang="zh-CN" altLang="en-US" sz="1600" dirty="0"/>
              <a:t>与闪存不同的是，它能在字节水平上进行删除和重写而不是整个芯片擦写，这样闪存就比</a:t>
            </a:r>
            <a:r>
              <a:rPr lang="en-US" altLang="zh-CN" sz="1600" dirty="0"/>
              <a:t>EEPROM</a:t>
            </a:r>
            <a:r>
              <a:rPr lang="zh-CN" altLang="en-US" sz="1600" dirty="0"/>
              <a:t>的更新速度快。由于其断电时仍能保存数据，闪存通常被用来保存设置信息，如在电脑的</a:t>
            </a:r>
            <a:r>
              <a:rPr lang="en-US" altLang="zh-CN" sz="1600" dirty="0"/>
              <a:t>BIOS</a:t>
            </a:r>
            <a:r>
              <a:rPr lang="zh-CN" altLang="en-US" sz="1600" dirty="0"/>
              <a:t>（基本输入输出程序）、</a:t>
            </a:r>
            <a:r>
              <a:rPr lang="en-US" altLang="zh-CN" sz="1600" dirty="0"/>
              <a:t>PDA</a:t>
            </a:r>
            <a:r>
              <a:rPr lang="zh-CN" altLang="en-US" sz="1600" dirty="0"/>
              <a:t>（个人数字助理）、数码相机中保存资料等。另一方面，闪存不像</a:t>
            </a:r>
            <a:r>
              <a:rPr lang="en-US" altLang="zh-CN" sz="1600" dirty="0"/>
              <a:t>RAM</a:t>
            </a:r>
            <a:r>
              <a:rPr lang="zh-CN" altLang="en-US" sz="1600" dirty="0"/>
              <a:t>（随机存取存储器）一样以字节为单位改写数据，因此不能取代</a:t>
            </a:r>
            <a:r>
              <a:rPr lang="en-US" altLang="zh-CN" sz="1600" dirty="0"/>
              <a:t>RAM</a:t>
            </a:r>
            <a:r>
              <a:rPr lang="zh-CN" altLang="en-US" sz="1600" dirty="0"/>
              <a:t>。</a:t>
            </a:r>
          </a:p>
          <a:p>
            <a:pPr>
              <a:spcBef>
                <a:spcPts val="600"/>
              </a:spcBef>
            </a:pPr>
            <a:r>
              <a:rPr lang="zh-CN" altLang="en-US" sz="1600" dirty="0"/>
              <a:t>闪存卡（</a:t>
            </a:r>
            <a:r>
              <a:rPr lang="en-US" altLang="zh-CN" sz="1600" dirty="0"/>
              <a:t>Flash Card</a:t>
            </a:r>
            <a:r>
              <a:rPr lang="zh-CN" altLang="en-US" sz="1600" dirty="0"/>
              <a:t>）是利用闪存（</a:t>
            </a:r>
            <a:r>
              <a:rPr lang="en-US" altLang="zh-CN" sz="1600" dirty="0"/>
              <a:t>Flash Memory</a:t>
            </a:r>
            <a:r>
              <a:rPr lang="zh-CN" altLang="en-US" sz="1600" dirty="0"/>
              <a:t>）技术达到存储电子信息的存储器，一般应用在数码相机，掌上电脑，</a:t>
            </a:r>
            <a:r>
              <a:rPr lang="en-US" altLang="zh-CN" sz="1600" dirty="0"/>
              <a:t>MP3</a:t>
            </a:r>
            <a:r>
              <a:rPr lang="zh-CN" altLang="en-US" sz="1600" dirty="0"/>
              <a:t>等小型数码产品中作为存储介质，所以样子小巧，有如一张卡片，所以称之为闪存卡。根据不同的生产厂商和不同的应用，闪存卡大概有</a:t>
            </a:r>
            <a:r>
              <a:rPr lang="en-US" altLang="zh-CN" sz="1600" dirty="0" err="1"/>
              <a:t>SmartMedia</a:t>
            </a:r>
            <a:r>
              <a:rPr lang="zh-CN" altLang="en-US" sz="1600" dirty="0"/>
              <a:t>（</a:t>
            </a:r>
            <a:r>
              <a:rPr lang="en-US" altLang="zh-CN" sz="1600" dirty="0"/>
              <a:t>SM</a:t>
            </a:r>
            <a:r>
              <a:rPr lang="zh-CN" altLang="en-US" sz="1600" dirty="0"/>
              <a:t>卡）、</a:t>
            </a:r>
            <a:r>
              <a:rPr lang="en-US" altLang="zh-CN" sz="1600" dirty="0"/>
              <a:t>Compact Flash</a:t>
            </a:r>
            <a:r>
              <a:rPr lang="zh-CN" altLang="en-US" sz="1600" dirty="0"/>
              <a:t>（</a:t>
            </a:r>
            <a:r>
              <a:rPr lang="en-US" altLang="zh-CN" sz="1600" dirty="0"/>
              <a:t>CF</a:t>
            </a:r>
            <a:r>
              <a:rPr lang="zh-CN" altLang="en-US" sz="1600" dirty="0"/>
              <a:t>卡）、</a:t>
            </a:r>
            <a:r>
              <a:rPr lang="en-US" altLang="zh-CN" sz="1600" dirty="0" err="1"/>
              <a:t>MultiMediaCard</a:t>
            </a:r>
            <a:r>
              <a:rPr lang="zh-CN" altLang="en-US" sz="1600" dirty="0"/>
              <a:t>（</a:t>
            </a:r>
            <a:r>
              <a:rPr lang="en-US" altLang="zh-CN" sz="1600" dirty="0"/>
              <a:t>MMC</a:t>
            </a:r>
            <a:r>
              <a:rPr lang="zh-CN" altLang="en-US" sz="1600" dirty="0"/>
              <a:t>卡）、</a:t>
            </a:r>
            <a:r>
              <a:rPr lang="en-US" altLang="zh-CN" sz="1600" dirty="0"/>
              <a:t>Secure Digital</a:t>
            </a:r>
            <a:r>
              <a:rPr lang="zh-CN" altLang="en-US" sz="1600" dirty="0"/>
              <a:t>（</a:t>
            </a:r>
            <a:r>
              <a:rPr lang="en-US" altLang="zh-CN" sz="1600" dirty="0"/>
              <a:t>SD</a:t>
            </a:r>
            <a:r>
              <a:rPr lang="zh-CN" altLang="en-US" sz="1600" dirty="0"/>
              <a:t>卡）、</a:t>
            </a:r>
            <a:r>
              <a:rPr lang="en-US" altLang="zh-CN" sz="1600" dirty="0"/>
              <a:t>Memory Stick</a:t>
            </a:r>
            <a:r>
              <a:rPr lang="zh-CN" altLang="en-US" sz="1600" dirty="0"/>
              <a:t>（记忆棒）、</a:t>
            </a:r>
            <a:r>
              <a:rPr lang="en-US" altLang="zh-CN" sz="1600" dirty="0"/>
              <a:t>XD-Picture Card</a:t>
            </a:r>
            <a:r>
              <a:rPr lang="zh-CN" altLang="en-US" sz="1600" dirty="0"/>
              <a:t>（</a:t>
            </a:r>
            <a:r>
              <a:rPr lang="en-US" altLang="zh-CN" sz="1600" dirty="0"/>
              <a:t>XD</a:t>
            </a:r>
            <a:r>
              <a:rPr lang="zh-CN" altLang="en-US" sz="1600" dirty="0"/>
              <a:t>卡）和微硬盘（</a:t>
            </a:r>
            <a:r>
              <a:rPr lang="en-US" altLang="zh-CN" sz="1600" dirty="0"/>
              <a:t>MICRODRIVE</a:t>
            </a:r>
            <a:r>
              <a:rPr lang="zh-CN" altLang="en-US" sz="1600" dirty="0"/>
              <a:t>）这些闪存卡虽然外观、规格不同，但是技术原理都是相同的。</a:t>
            </a:r>
          </a:p>
          <a:p>
            <a:pPr>
              <a:spcBef>
                <a:spcPts val="600"/>
              </a:spcBef>
            </a:pPr>
            <a:endParaRPr lang="zh-CN" altLang="en-US" sz="1600" dirty="0"/>
          </a:p>
        </p:txBody>
      </p:sp>
    </p:spTree>
    <p:extLst>
      <p:ext uri="{BB962C8B-B14F-4D97-AF65-F5344CB8AC3E}">
        <p14:creationId xmlns:p14="http://schemas.microsoft.com/office/powerpoint/2010/main" val="735123881"/>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B79A48-E749-4F01-877C-B1FEEEFC65AD}"/>
              </a:ext>
            </a:extLst>
          </p:cNvPr>
          <p:cNvSpPr txBox="1">
            <a:spLocks/>
          </p:cNvSpPr>
          <p:nvPr/>
        </p:nvSpPr>
        <p:spPr bwMode="auto">
          <a:xfrm>
            <a:off x="685800" y="1714500"/>
            <a:ext cx="7772400" cy="857250"/>
          </a:xfrm>
          <a:prstGeom prst="rect">
            <a:avLst/>
          </a:prstGeom>
          <a:solidFill>
            <a:srgbClr val="FFFFFF"/>
          </a:solidFill>
          <a:ln w="9525">
            <a:solidFill>
              <a:srgbClr val="000000"/>
            </a:solidFill>
            <a:miter lim="800000"/>
            <a:headEnd/>
            <a:tailEnd/>
          </a:ln>
          <a:effectLst>
            <a:outerShdw dist="107763" dir="2700000" algn="ctr" rotWithShape="0">
              <a:srgbClr val="808080">
                <a:alpha val="50000"/>
              </a:srgbClr>
            </a:outerShdw>
          </a:effec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2700" b="1">
                <a:solidFill>
                  <a:schemeClr val="tx1"/>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2pPr>
            <a:lvl3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3pPr>
            <a:lvl4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4pPr>
            <a:lvl5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5pPr>
            <a:lvl6pPr marL="342900"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6pPr>
            <a:lvl7pPr marL="685800"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7pPr>
            <a:lvl8pPr marL="1028700"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8pPr>
            <a:lvl9pPr marL="1371600"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zh-CN" altLang="en-US" sz="2700" b="1" i="0" u="none" strike="noStrike" kern="0" cap="none" spc="0" normalizeH="0" baseline="0" noProof="0">
                <a:ln>
                  <a:noFill/>
                </a:ln>
                <a:solidFill>
                  <a:srgbClr val="000000"/>
                </a:solidFill>
                <a:effectLst/>
                <a:uLnTx/>
                <a:uFillTx/>
                <a:latin typeface="Comic Sans MS"/>
                <a:ea typeface="宋体" panose="02010600030101010101" pitchFamily="2" charset="-122"/>
                <a:cs typeface="+mj-cs"/>
              </a:rPr>
              <a:t>大数据及云存储</a:t>
            </a:r>
          </a:p>
        </p:txBody>
      </p:sp>
    </p:spTree>
    <p:extLst>
      <p:ext uri="{BB962C8B-B14F-4D97-AF65-F5344CB8AC3E}">
        <p14:creationId xmlns:p14="http://schemas.microsoft.com/office/powerpoint/2010/main" val="3266477518"/>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8BD185-A26E-4CAA-9F5B-6B59FA0CFF9A}"/>
              </a:ext>
            </a:extLst>
          </p:cNvPr>
          <p:cNvSpPr>
            <a:spLocks noGrp="1"/>
          </p:cNvSpPr>
          <p:nvPr>
            <p:ph type="title"/>
          </p:nvPr>
        </p:nvSpPr>
        <p:spPr/>
        <p:txBody>
          <a:bodyPr/>
          <a:lstStyle/>
          <a:p>
            <a:pPr algn="ctr"/>
            <a:r>
              <a:rPr lang="en-US" altLang="zh-CN" dirty="0"/>
              <a:t>The Future is Full of Opportunity</a:t>
            </a:r>
            <a:endParaRPr lang="zh-CN" altLang="en-US" dirty="0"/>
          </a:p>
        </p:txBody>
      </p:sp>
      <p:sp>
        <p:nvSpPr>
          <p:cNvPr id="3" name="内容占位符 2">
            <a:extLst>
              <a:ext uri="{FF2B5EF4-FFF2-40B4-BE49-F238E27FC236}">
                <a16:creationId xmlns:a16="http://schemas.microsoft.com/office/drawing/2014/main" id="{BBF8BF44-14E6-4284-9666-0D510D17ABF7}"/>
              </a:ext>
            </a:extLst>
          </p:cNvPr>
          <p:cNvSpPr>
            <a:spLocks noGrp="1"/>
          </p:cNvSpPr>
          <p:nvPr>
            <p:ph idx="1"/>
          </p:nvPr>
        </p:nvSpPr>
        <p:spPr>
          <a:xfrm>
            <a:off x="251520" y="699542"/>
            <a:ext cx="5400600" cy="3805070"/>
          </a:xfrm>
        </p:spPr>
        <p:txBody>
          <a:bodyPr/>
          <a:lstStyle/>
          <a:p>
            <a:r>
              <a:rPr lang="en-US" altLang="zh-CN" sz="1800" dirty="0"/>
              <a:t>Designing a next Internet – GENI</a:t>
            </a:r>
          </a:p>
          <a:p>
            <a:pPr lvl="1"/>
            <a:r>
              <a:rPr lang="en-US" altLang="zh-CN" sz="1600" dirty="0"/>
              <a:t>Driving advances in all fields of science and engineering</a:t>
            </a:r>
          </a:p>
          <a:p>
            <a:r>
              <a:rPr lang="en-US" altLang="zh-CN" sz="1800" dirty="0" err="1"/>
              <a:t>Wreckless</a:t>
            </a:r>
            <a:r>
              <a:rPr lang="en-US" altLang="zh-CN" sz="1800" dirty="0"/>
              <a:t> driving</a:t>
            </a:r>
          </a:p>
          <a:p>
            <a:r>
              <a:rPr lang="en-US" altLang="zh-CN" sz="1800" dirty="0"/>
              <a:t>Personalized education</a:t>
            </a:r>
          </a:p>
          <a:p>
            <a:r>
              <a:rPr lang="en-US" altLang="zh-CN" sz="1800" dirty="0"/>
              <a:t>Predictive, preventive, personalized medicine</a:t>
            </a:r>
          </a:p>
          <a:p>
            <a:r>
              <a:rPr lang="en-US" altLang="zh-CN" sz="1800" dirty="0"/>
              <a:t>Quantum computing (</a:t>
            </a:r>
            <a:r>
              <a:rPr lang="zh-CN" altLang="en-US" sz="1800" dirty="0"/>
              <a:t>量子计算</a:t>
            </a:r>
            <a:r>
              <a:rPr lang="en-US" altLang="zh-CN" sz="1800" dirty="0"/>
              <a:t>)</a:t>
            </a:r>
          </a:p>
          <a:p>
            <a:r>
              <a:rPr lang="en-US" altLang="zh-CN" sz="1800" dirty="0"/>
              <a:t>Personalized health monitoring =&gt; quality of life</a:t>
            </a:r>
          </a:p>
          <a:p>
            <a:r>
              <a:rPr lang="en-US" altLang="zh-CN" sz="1800" dirty="0"/>
              <a:t>Data-intensive supercomputing</a:t>
            </a:r>
          </a:p>
          <a:p>
            <a:r>
              <a:rPr lang="en-US" altLang="zh-CN" sz="1800" dirty="0" err="1"/>
              <a:t>Neurobotics</a:t>
            </a:r>
            <a:r>
              <a:rPr lang="en-US" altLang="zh-CN" sz="1800" dirty="0"/>
              <a:t> (</a:t>
            </a:r>
            <a:r>
              <a:rPr lang="zh-CN" altLang="en-US" sz="1800" dirty="0"/>
              <a:t>神经学机器人</a:t>
            </a:r>
            <a:r>
              <a:rPr lang="en-US" altLang="zh-CN" sz="1800" dirty="0"/>
              <a:t>)</a:t>
            </a:r>
          </a:p>
          <a:p>
            <a:r>
              <a:rPr lang="en-US" altLang="zh-CN" sz="1800" dirty="0"/>
              <a:t>Synthetic biology (</a:t>
            </a:r>
            <a:r>
              <a:rPr lang="zh-CN" altLang="en-US" sz="1800" dirty="0"/>
              <a:t>合成生物学</a:t>
            </a:r>
            <a:r>
              <a:rPr lang="en-US" altLang="zh-CN" sz="1800" dirty="0"/>
              <a:t>)</a:t>
            </a:r>
          </a:p>
          <a:p>
            <a:r>
              <a:rPr lang="en-US" altLang="zh-CN" sz="1800" dirty="0"/>
              <a:t>The algorithmic lens =&gt; Cyber-enabled Discovery and Innovation</a:t>
            </a:r>
          </a:p>
          <a:p>
            <a:endParaRPr lang="zh-CN" altLang="en-US" sz="1800" dirty="0"/>
          </a:p>
        </p:txBody>
      </p:sp>
      <p:pic>
        <p:nvPicPr>
          <p:cNvPr id="4" name="Picture 4">
            <a:extLst>
              <a:ext uri="{FF2B5EF4-FFF2-40B4-BE49-F238E27FC236}">
                <a16:creationId xmlns:a16="http://schemas.microsoft.com/office/drawing/2014/main" id="{499680AE-47F1-45AB-9CEB-706E9511F9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6270" y="1921740"/>
            <a:ext cx="11430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5" name="Picture 5" descr="Stanley_Image14">
            <a:extLst>
              <a:ext uri="{FF2B5EF4-FFF2-40B4-BE49-F238E27FC236}">
                <a16:creationId xmlns:a16="http://schemas.microsoft.com/office/drawing/2014/main" id="{809CA55E-1E2D-4A2D-8672-A9ECBE8112F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40786" y="950190"/>
            <a:ext cx="1200150" cy="797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a:extLst>
              <a:ext uri="{FF2B5EF4-FFF2-40B4-BE49-F238E27FC236}">
                <a16:creationId xmlns:a16="http://schemas.microsoft.com/office/drawing/2014/main" id="{15B83300-7C14-4EBB-ACE2-1D2CE0FE976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46589" y="2894480"/>
            <a:ext cx="1085850" cy="903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descr="Untitled-1 copy">
            <a:extLst>
              <a:ext uri="{FF2B5EF4-FFF2-40B4-BE49-F238E27FC236}">
                <a16:creationId xmlns:a16="http://schemas.microsoft.com/office/drawing/2014/main" id="{D6C1A4E6-3210-4C64-8F57-54F2553392B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87208" y="2894480"/>
            <a:ext cx="1257300" cy="997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descr="QuantumComputing">
            <a:extLst>
              <a:ext uri="{FF2B5EF4-FFF2-40B4-BE49-F238E27FC236}">
                <a16:creationId xmlns:a16="http://schemas.microsoft.com/office/drawing/2014/main" id="{FC60D1DA-AE86-47A8-A9EA-90EFA6835FE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77520" y="1921740"/>
            <a:ext cx="1314450" cy="83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descr="newmain">
            <a:extLst>
              <a:ext uri="{FF2B5EF4-FFF2-40B4-BE49-F238E27FC236}">
                <a16:creationId xmlns:a16="http://schemas.microsoft.com/office/drawing/2014/main" id="{24CE522E-1852-4059-AFCA-1BAD8978ED9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534570" y="3387399"/>
            <a:ext cx="566738"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0" descr="Image of Regional Cabled Observatory">
            <a:extLst>
              <a:ext uri="{FF2B5EF4-FFF2-40B4-BE49-F238E27FC236}">
                <a16:creationId xmlns:a16="http://schemas.microsoft.com/office/drawing/2014/main" id="{B73B3748-7989-4DF8-A634-DD63C7E732B8}"/>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444208" y="954953"/>
            <a:ext cx="1143000" cy="859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descr="Internet">
            <a:extLst>
              <a:ext uri="{FF2B5EF4-FFF2-40B4-BE49-F238E27FC236}">
                <a16:creationId xmlns:a16="http://schemas.microsoft.com/office/drawing/2014/main" id="{129AE0A1-5071-469A-A1CF-1E3F85720252}"/>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319067" y="932331"/>
            <a:ext cx="1028700" cy="935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2" descr="Image of &quot;One Laptop Per Child&quot; machine">
            <a:extLst>
              <a:ext uri="{FF2B5EF4-FFF2-40B4-BE49-F238E27FC236}">
                <a16:creationId xmlns:a16="http://schemas.microsoft.com/office/drawing/2014/main" id="{8B6F5EAB-4AD4-4B70-8A95-210E2A5E01E5}"/>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237039" y="3991046"/>
            <a:ext cx="971550" cy="739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3" descr="Iconic image of synthetic biology">
            <a:extLst>
              <a:ext uri="{FF2B5EF4-FFF2-40B4-BE49-F238E27FC236}">
                <a16:creationId xmlns:a16="http://schemas.microsoft.com/office/drawing/2014/main" id="{DC57387E-33F7-43A8-AD2D-E2091947E435}"/>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272883" y="3985093"/>
            <a:ext cx="8001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4" descr="Image of schoolchild looking through magnifying glass">
            <a:extLst>
              <a:ext uri="{FF2B5EF4-FFF2-40B4-BE49-F238E27FC236}">
                <a16:creationId xmlns:a16="http://schemas.microsoft.com/office/drawing/2014/main" id="{741F4067-5279-481A-9E8F-090AC67DBFD4}"/>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161089" y="3987474"/>
            <a:ext cx="667941"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4036618"/>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52FACA-D55C-4CA7-B584-8BF377707E6F}"/>
              </a:ext>
            </a:extLst>
          </p:cNvPr>
          <p:cNvSpPr>
            <a:spLocks noGrp="1"/>
          </p:cNvSpPr>
          <p:nvPr>
            <p:ph type="title"/>
          </p:nvPr>
        </p:nvSpPr>
        <p:spPr/>
        <p:txBody>
          <a:bodyPr/>
          <a:lstStyle/>
          <a:p>
            <a:pPr algn="ctr"/>
            <a:r>
              <a:rPr lang="zh-CN" altLang="en-US" dirty="0"/>
              <a:t>大数据时代的背景</a:t>
            </a:r>
          </a:p>
        </p:txBody>
      </p:sp>
      <p:pic>
        <p:nvPicPr>
          <p:cNvPr id="4" name="Picture 2">
            <a:extLst>
              <a:ext uri="{FF2B5EF4-FFF2-40B4-BE49-F238E27FC236}">
                <a16:creationId xmlns:a16="http://schemas.microsoft.com/office/drawing/2014/main" id="{33E4A2AF-9960-472E-A268-E3A5D5D6AF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1816" y="975122"/>
            <a:ext cx="6691313" cy="369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矩形 4">
            <a:extLst>
              <a:ext uri="{FF2B5EF4-FFF2-40B4-BE49-F238E27FC236}">
                <a16:creationId xmlns:a16="http://schemas.microsoft.com/office/drawing/2014/main" id="{73162F0F-6D4D-4DE3-A2E3-937290B7CB93}"/>
              </a:ext>
            </a:extLst>
          </p:cNvPr>
          <p:cNvSpPr>
            <a:spLocks noChangeArrowheads="1"/>
          </p:cNvSpPr>
          <p:nvPr/>
        </p:nvSpPr>
        <p:spPr bwMode="auto">
          <a:xfrm>
            <a:off x="1153717" y="4617244"/>
            <a:ext cx="41743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r>
              <a:rPr kumimoji="0" lang="en-US" altLang="zh-CN" sz="1350">
                <a:solidFill>
                  <a:srgbClr val="000000"/>
                </a:solidFill>
                <a:latin typeface="Helvetica" panose="020B0604020202020204" pitchFamily="34" charset="0"/>
                <a:ea typeface="宋体" panose="02010600030101010101" pitchFamily="2" charset="-122"/>
              </a:rPr>
              <a:t>Morgan Stanley, Internet Trends, June 7, 2010</a:t>
            </a:r>
          </a:p>
        </p:txBody>
      </p:sp>
    </p:spTree>
    <p:extLst>
      <p:ext uri="{BB962C8B-B14F-4D97-AF65-F5344CB8AC3E}">
        <p14:creationId xmlns:p14="http://schemas.microsoft.com/office/powerpoint/2010/main" val="2727227656"/>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E7A56-09E8-4E4D-941F-A0C4BAC54B99}"/>
              </a:ext>
            </a:extLst>
          </p:cNvPr>
          <p:cNvSpPr>
            <a:spLocks noGrp="1"/>
          </p:cNvSpPr>
          <p:nvPr>
            <p:ph type="title"/>
          </p:nvPr>
        </p:nvSpPr>
        <p:spPr/>
        <p:txBody>
          <a:bodyPr/>
          <a:lstStyle/>
          <a:p>
            <a:pPr algn="ctr"/>
            <a:r>
              <a:rPr lang="zh-CN" altLang="en-US" dirty="0"/>
              <a:t>大数据时代的背景</a:t>
            </a:r>
          </a:p>
        </p:txBody>
      </p:sp>
      <p:graphicFrame>
        <p:nvGraphicFramePr>
          <p:cNvPr id="4" name="Object 3">
            <a:extLst>
              <a:ext uri="{FF2B5EF4-FFF2-40B4-BE49-F238E27FC236}">
                <a16:creationId xmlns:a16="http://schemas.microsoft.com/office/drawing/2014/main" id="{97BF3C6B-0ECB-4DE7-B0A6-65CAA08F019F}"/>
              </a:ext>
            </a:extLst>
          </p:cNvPr>
          <p:cNvGraphicFramePr>
            <a:graphicFrameLocks noChangeAspect="1"/>
          </p:cNvGraphicFramePr>
          <p:nvPr/>
        </p:nvGraphicFramePr>
        <p:xfrm>
          <a:off x="1497807" y="1034654"/>
          <a:ext cx="6147197" cy="3858815"/>
        </p:xfrm>
        <a:graphic>
          <a:graphicData uri="http://schemas.openxmlformats.org/presentationml/2006/ole">
            <mc:AlternateContent xmlns:mc="http://schemas.openxmlformats.org/markup-compatibility/2006">
              <mc:Choice xmlns:v="urn:schemas-microsoft-com:vml" Requires="v">
                <p:oleObj spid="_x0000_s8271" r:id="rId4" imgW="9314286" imgH="5847619" progId="PBrush">
                  <p:embed/>
                </p:oleObj>
              </mc:Choice>
              <mc:Fallback>
                <p:oleObj r:id="rId4" imgW="9314286" imgH="5847619" progId="PBrush">
                  <p:embed/>
                  <p:pic>
                    <p:nvPicPr>
                      <p:cNvPr id="129026" name="Object 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7807" y="1034654"/>
                        <a:ext cx="6147197" cy="3858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2">
            <a:extLst>
              <a:ext uri="{FF2B5EF4-FFF2-40B4-BE49-F238E27FC236}">
                <a16:creationId xmlns:a16="http://schemas.microsoft.com/office/drawing/2014/main" id="{74FF7153-D764-41EE-AC3D-5DB7574E1F40}"/>
              </a:ext>
            </a:extLst>
          </p:cNvPr>
          <p:cNvSpPr txBox="1">
            <a:spLocks noChangeArrowheads="1"/>
          </p:cNvSpPr>
          <p:nvPr/>
        </p:nvSpPr>
        <p:spPr bwMode="auto">
          <a:xfrm>
            <a:off x="2122885" y="3489723"/>
            <a:ext cx="5185172" cy="529828"/>
          </a:xfrm>
          <a:prstGeom prst="rect">
            <a:avLst/>
          </a:prstGeom>
          <a:solidFill>
            <a:srgbClr val="FFFFFF"/>
          </a:solidFill>
          <a:ln w="9525">
            <a:solidFill>
              <a:srgbClr val="000000"/>
            </a:solidFill>
            <a:miter lim="800000"/>
            <a:headEnd/>
            <a:tailEnd/>
          </a:ln>
          <a:effectLst>
            <a:outerShdw dist="107763" dir="2700000" algn="ctr" rotWithShape="0">
              <a:srgbClr val="808080">
                <a:alpha val="50000"/>
              </a:srgbClr>
            </a:outerShdw>
          </a:effec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2pPr>
            <a:lvl3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3pPr>
            <a:lvl4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4pPr>
            <a:lvl5pPr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5pPr>
            <a:lvl6pPr marL="342900"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6pPr>
            <a:lvl7pPr marL="685800"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7pPr>
            <a:lvl8pPr marL="1028700"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8pPr>
            <a:lvl9pPr marL="1371600" algn="ctr" rtl="0" eaLnBrk="0" fontAlgn="base" hangingPunct="0">
              <a:spcBef>
                <a:spcPct val="0"/>
              </a:spcBef>
              <a:spcAft>
                <a:spcPct val="0"/>
              </a:spcAft>
              <a:defRPr kumimoji="1" sz="2400" b="1">
                <a:solidFill>
                  <a:schemeClr val="tx1"/>
                </a:solidFill>
                <a:effectLst>
                  <a:outerShdw blurRad="38100" dist="38100" dir="2700000" algn="tl">
                    <a:srgbClr val="C0C0C0"/>
                  </a:outerShdw>
                </a:effectLst>
                <a:latin typeface="Comic Sans MS"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FF0000"/>
                </a:solidFill>
                <a:effectLst/>
                <a:uLnTx/>
                <a:uFillTx/>
                <a:latin typeface="Comic Sans MS"/>
                <a:ea typeface="宋体" panose="02010600030101010101" pitchFamily="2" charset="-122"/>
                <a:cs typeface="+mj-cs"/>
              </a:rPr>
              <a:t>美国国家战略：大数据，大事业!</a:t>
            </a:r>
          </a:p>
        </p:txBody>
      </p:sp>
    </p:spTree>
    <p:extLst>
      <p:ext uri="{BB962C8B-B14F-4D97-AF65-F5344CB8AC3E}">
        <p14:creationId xmlns:p14="http://schemas.microsoft.com/office/powerpoint/2010/main" val="1195271284"/>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C325A6-CD14-4B13-824C-B297C060B937}"/>
              </a:ext>
            </a:extLst>
          </p:cNvPr>
          <p:cNvSpPr>
            <a:spLocks noGrp="1"/>
          </p:cNvSpPr>
          <p:nvPr>
            <p:ph type="title"/>
          </p:nvPr>
        </p:nvSpPr>
        <p:spPr/>
        <p:txBody>
          <a:bodyPr/>
          <a:lstStyle/>
          <a:p>
            <a:pPr algn="ctr"/>
            <a:r>
              <a:rPr lang="zh-CN" altLang="en-US" dirty="0"/>
              <a:t>大数据的困难</a:t>
            </a:r>
          </a:p>
        </p:txBody>
      </p:sp>
      <p:sp>
        <p:nvSpPr>
          <p:cNvPr id="3" name="内容占位符 2">
            <a:extLst>
              <a:ext uri="{FF2B5EF4-FFF2-40B4-BE49-F238E27FC236}">
                <a16:creationId xmlns:a16="http://schemas.microsoft.com/office/drawing/2014/main" id="{007BFC7C-5EB8-4160-B2B6-063F3CDE75AD}"/>
              </a:ext>
            </a:extLst>
          </p:cNvPr>
          <p:cNvSpPr>
            <a:spLocks noGrp="1"/>
          </p:cNvSpPr>
          <p:nvPr>
            <p:ph idx="1"/>
          </p:nvPr>
        </p:nvSpPr>
        <p:spPr/>
        <p:txBody>
          <a:bodyPr/>
          <a:lstStyle/>
          <a:p>
            <a:r>
              <a:rPr lang="zh-CN" altLang="en-US" sz="2000" b="1" dirty="0"/>
              <a:t>容量大</a:t>
            </a:r>
          </a:p>
          <a:p>
            <a:endParaRPr lang="zh-CN" altLang="en-US" dirty="0"/>
          </a:p>
        </p:txBody>
      </p:sp>
      <p:sp>
        <p:nvSpPr>
          <p:cNvPr id="4" name="Text Box 10">
            <a:extLst>
              <a:ext uri="{FF2B5EF4-FFF2-40B4-BE49-F238E27FC236}">
                <a16:creationId xmlns:a16="http://schemas.microsoft.com/office/drawing/2014/main" id="{D1E3636E-7CB0-4675-8442-7BFE915CECC1}"/>
              </a:ext>
            </a:extLst>
          </p:cNvPr>
          <p:cNvSpPr txBox="1">
            <a:spLocks noChangeArrowheads="1"/>
          </p:cNvSpPr>
          <p:nvPr/>
        </p:nvSpPr>
        <p:spPr bwMode="auto">
          <a:xfrm>
            <a:off x="6754416" y="1545432"/>
            <a:ext cx="951309" cy="2169825"/>
          </a:xfrm>
          <a:prstGeom prst="rect">
            <a:avLst/>
          </a:prstGeom>
          <a:gradFill rotWithShape="0">
            <a:gsLst>
              <a:gs pos="0">
                <a:srgbClr val="FFA9A9"/>
              </a:gs>
              <a:gs pos="100000">
                <a:srgbClr val="FF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cs typeface="Arial Unicode MS" panose="020B0604020202020204" pitchFamily="34" charset="-122"/>
              </a:rPr>
              <a:t>Kilo</a:t>
            </a:r>
          </a:p>
          <a:p>
            <a:pPr algn="ctr">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cs typeface="Arial Unicode MS" panose="020B0604020202020204" pitchFamily="34" charset="-122"/>
              </a:rPr>
              <a:t>Mega</a:t>
            </a:r>
          </a:p>
          <a:p>
            <a:pPr algn="ctr">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cs typeface="Arial Unicode MS" panose="020B0604020202020204" pitchFamily="34" charset="-122"/>
              </a:rPr>
              <a:t>Giga</a:t>
            </a:r>
          </a:p>
          <a:p>
            <a:pPr algn="ctr">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cs typeface="Arial Unicode MS" panose="020B0604020202020204" pitchFamily="34" charset="-122"/>
              </a:rPr>
              <a:t>Tera</a:t>
            </a:r>
          </a:p>
          <a:p>
            <a:pPr algn="ctr">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cs typeface="Arial Unicode MS" panose="020B0604020202020204" pitchFamily="34" charset="-122"/>
              </a:rPr>
              <a:t>Peta</a:t>
            </a:r>
          </a:p>
          <a:p>
            <a:pPr algn="ctr">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cs typeface="Arial Unicode MS" panose="020B0604020202020204" pitchFamily="34" charset="-122"/>
              </a:rPr>
              <a:t>Exa</a:t>
            </a:r>
          </a:p>
          <a:p>
            <a:pPr algn="ctr">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cs typeface="Arial Unicode MS" panose="020B0604020202020204" pitchFamily="34" charset="-122"/>
              </a:rPr>
              <a:t>Zeta</a:t>
            </a:r>
          </a:p>
          <a:p>
            <a:pPr algn="ctr">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cs typeface="Arial Unicode MS" panose="020B0604020202020204" pitchFamily="34" charset="-122"/>
              </a:rPr>
              <a:t>Yotta</a:t>
            </a:r>
          </a:p>
          <a:p>
            <a:pPr algn="ctr">
              <a:spcBef>
                <a:spcPct val="0"/>
              </a:spcBef>
              <a:buClrTx/>
              <a:buSzTx/>
              <a:buFontTx/>
              <a:buNone/>
            </a:pPr>
            <a:endParaRPr kumimoji="0" lang="en-US" altLang="zh-CN" sz="1500" b="1">
              <a:solidFill>
                <a:srgbClr val="000000"/>
              </a:solidFill>
              <a:latin typeface="Arial" panose="020B0604020202020204" pitchFamily="34" charset="0"/>
              <a:ea typeface="宋体" panose="02010600030101010101" pitchFamily="2" charset="-122"/>
              <a:cs typeface="Arial Unicode MS" panose="020B0604020202020204" pitchFamily="34" charset="-122"/>
            </a:endParaRPr>
          </a:p>
        </p:txBody>
      </p:sp>
      <p:sp>
        <p:nvSpPr>
          <p:cNvPr id="5" name="矩形 4">
            <a:extLst>
              <a:ext uri="{FF2B5EF4-FFF2-40B4-BE49-F238E27FC236}">
                <a16:creationId xmlns:a16="http://schemas.microsoft.com/office/drawing/2014/main" id="{8529778B-BFC0-40D7-B1BA-E5B0EB46D20C}"/>
              </a:ext>
            </a:extLst>
          </p:cNvPr>
          <p:cNvSpPr>
            <a:spLocks noChangeArrowheads="1"/>
          </p:cNvSpPr>
          <p:nvPr/>
        </p:nvSpPr>
        <p:spPr bwMode="auto">
          <a:xfrm>
            <a:off x="1322785" y="3417094"/>
            <a:ext cx="7786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r>
              <a:rPr kumimoji="0" lang="zh-CN" altLang="en-US" sz="1200" b="1">
                <a:solidFill>
                  <a:srgbClr val="000000"/>
                </a:solidFill>
                <a:latin typeface="黑体" panose="02010609060101010101" pitchFamily="49" charset="-122"/>
                <a:ea typeface="黑体" panose="02010609060101010101" pitchFamily="49" charset="-122"/>
              </a:rPr>
              <a:t>电子商务</a:t>
            </a:r>
          </a:p>
        </p:txBody>
      </p:sp>
      <p:sp>
        <p:nvSpPr>
          <p:cNvPr id="6" name="矩形 5">
            <a:extLst>
              <a:ext uri="{FF2B5EF4-FFF2-40B4-BE49-F238E27FC236}">
                <a16:creationId xmlns:a16="http://schemas.microsoft.com/office/drawing/2014/main" id="{6A6DB445-3440-41B1-9B06-C6752A5FFF40}"/>
              </a:ext>
            </a:extLst>
          </p:cNvPr>
          <p:cNvSpPr>
            <a:spLocks noChangeArrowheads="1"/>
          </p:cNvSpPr>
          <p:nvPr/>
        </p:nvSpPr>
        <p:spPr bwMode="auto">
          <a:xfrm>
            <a:off x="1396604" y="1985963"/>
            <a:ext cx="7596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r>
              <a:rPr kumimoji="0" lang="zh-CN" altLang="en-US" sz="1200" b="1">
                <a:solidFill>
                  <a:srgbClr val="000000"/>
                </a:solidFill>
                <a:latin typeface="黑体" panose="02010609060101010101" pitchFamily="49" charset="-122"/>
                <a:ea typeface="黑体" panose="02010609060101010101" pitchFamily="49" charset="-122"/>
              </a:rPr>
              <a:t>科学计算</a:t>
            </a:r>
            <a:endParaRPr kumimoji="0" lang="zh-CN" altLang="en-US" sz="1200" b="1">
              <a:solidFill>
                <a:srgbClr val="000000"/>
              </a:solidFill>
              <a:latin typeface="Calibri" panose="020F0502020204030204" pitchFamily="34" charset="0"/>
              <a:ea typeface="宋体" panose="02010600030101010101" pitchFamily="2" charset="-122"/>
            </a:endParaRPr>
          </a:p>
        </p:txBody>
      </p:sp>
      <p:sp>
        <p:nvSpPr>
          <p:cNvPr id="7" name="矩形 6">
            <a:extLst>
              <a:ext uri="{FF2B5EF4-FFF2-40B4-BE49-F238E27FC236}">
                <a16:creationId xmlns:a16="http://schemas.microsoft.com/office/drawing/2014/main" id="{CD7F71B5-DE61-4EA7-B952-1B50780EF4DD}"/>
              </a:ext>
            </a:extLst>
          </p:cNvPr>
          <p:cNvSpPr>
            <a:spLocks noChangeArrowheads="1"/>
          </p:cNvSpPr>
          <p:nvPr/>
        </p:nvSpPr>
        <p:spPr bwMode="auto">
          <a:xfrm>
            <a:off x="1343025" y="4113610"/>
            <a:ext cx="7584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r>
              <a:rPr kumimoji="0" lang="zh-CN" altLang="en-US" sz="1200" b="1">
                <a:solidFill>
                  <a:srgbClr val="000000"/>
                </a:solidFill>
                <a:latin typeface="黑体" panose="02010609060101010101" pitchFamily="49" charset="-122"/>
                <a:ea typeface="黑体" panose="02010609060101010101" pitchFamily="49" charset="-122"/>
              </a:rPr>
              <a:t>网络生活</a:t>
            </a:r>
            <a:endParaRPr kumimoji="0" lang="zh-CN" altLang="en-US" sz="1200" b="1">
              <a:solidFill>
                <a:srgbClr val="000000"/>
              </a:solidFill>
              <a:latin typeface="Calibri" panose="020F0502020204030204" pitchFamily="34" charset="0"/>
              <a:ea typeface="宋体" panose="02010600030101010101" pitchFamily="2" charset="-122"/>
            </a:endParaRPr>
          </a:p>
        </p:txBody>
      </p:sp>
      <p:sp>
        <p:nvSpPr>
          <p:cNvPr id="8" name="圆角矩形 28">
            <a:extLst>
              <a:ext uri="{FF2B5EF4-FFF2-40B4-BE49-F238E27FC236}">
                <a16:creationId xmlns:a16="http://schemas.microsoft.com/office/drawing/2014/main" id="{0102D4AF-F403-4102-BD48-90C80039F29E}"/>
              </a:ext>
            </a:extLst>
          </p:cNvPr>
          <p:cNvSpPr>
            <a:spLocks noChangeArrowheads="1"/>
          </p:cNvSpPr>
          <p:nvPr/>
        </p:nvSpPr>
        <p:spPr bwMode="auto">
          <a:xfrm>
            <a:off x="4080272" y="3381376"/>
            <a:ext cx="2346722" cy="510778"/>
          </a:xfrm>
          <a:prstGeom prst="roundRect">
            <a:avLst>
              <a:gd name="adj" fmla="val 16667"/>
            </a:avLst>
          </a:prstGeom>
          <a:solidFill>
            <a:srgbClr val="CCECFF"/>
          </a:solidFill>
          <a:ln w="38100">
            <a:solidFill>
              <a:srgbClr val="666699"/>
            </a:solidFill>
            <a:round/>
            <a:headEnd/>
            <a:tailEnd/>
          </a:ln>
        </p:spPr>
        <p:txBody>
          <a:bodyPr lIns="27000" rIns="27000">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每月</a:t>
            </a:r>
            <a:r>
              <a:rPr kumimoji="0" lang="zh-CN" altLang="en-US" sz="1200" b="1" i="0" u="none" strike="noStrike" kern="0" cap="none" spc="0" normalizeH="0" baseline="0" noProof="0">
                <a:ln>
                  <a:noFill/>
                </a:ln>
                <a:solidFill>
                  <a:srgbClr val="0D0D0D"/>
                </a:solidFill>
                <a:effectLst/>
                <a:uLnTx/>
                <a:uFillTx/>
                <a:latin typeface="Helvetica" panose="020B0604020202020204" pitchFamily="34" charset="0"/>
                <a:ea typeface="宋体" panose="02010600030101010101" pitchFamily="2" charset="-122"/>
              </a:rPr>
              <a:t>交易</a:t>
            </a:r>
            <a:r>
              <a:rPr kumimoji="0" lang="en-US" altLang="zh-CN"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21</a:t>
            </a:r>
            <a:r>
              <a:rPr kumimoji="0" lang="zh-CN" altLang="en-US"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亿</a:t>
            </a:r>
            <a:r>
              <a:rPr kumimoji="0" lang="zh-CN" altLang="en-US" sz="1200" b="1" i="0" u="none" strike="noStrike" kern="0" cap="none" spc="0" normalizeH="0" baseline="0" noProof="0">
                <a:ln>
                  <a:noFill/>
                </a:ln>
                <a:solidFill>
                  <a:srgbClr val="0D0D0D"/>
                </a:solidFill>
                <a:effectLst/>
                <a:uLnTx/>
                <a:uFillTx/>
                <a:latin typeface="Helvetica" panose="020B0604020202020204" pitchFamily="34" charset="0"/>
                <a:ea typeface="宋体" panose="02010600030101010101" pitchFamily="2" charset="-122"/>
              </a:rPr>
              <a:t>笔，产生</a:t>
            </a:r>
            <a:r>
              <a:rPr kumimoji="0" lang="en-US" altLang="zh-CN"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300TB</a:t>
            </a:r>
            <a:r>
              <a:rPr kumimoji="0" lang="zh-CN" altLang="en-US" sz="1200" b="1" i="0" u="none" strike="noStrike" kern="0" cap="none" spc="0" normalizeH="0" baseline="0" noProof="0">
                <a:ln>
                  <a:noFill/>
                </a:ln>
                <a:solidFill>
                  <a:srgbClr val="0D0D0D"/>
                </a:solidFill>
                <a:effectLst/>
                <a:uLnTx/>
                <a:uFillTx/>
                <a:latin typeface="Helvetica" panose="020B0604020202020204" pitchFamily="34" charset="0"/>
                <a:ea typeface="宋体" panose="02010600030101010101" pitchFamily="2" charset="-122"/>
              </a:rPr>
              <a:t>交易日志信息</a:t>
            </a:r>
          </a:p>
        </p:txBody>
      </p:sp>
      <p:pic>
        <p:nvPicPr>
          <p:cNvPr id="9" name="Picture 8" descr="images">
            <a:extLst>
              <a:ext uri="{FF2B5EF4-FFF2-40B4-BE49-F238E27FC236}">
                <a16:creationId xmlns:a16="http://schemas.microsoft.com/office/drawing/2014/main" id="{C0A0A829-4BE9-4633-9465-08DFE567A5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369" y="3433763"/>
            <a:ext cx="1565672" cy="51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圆角矩形 28">
            <a:extLst>
              <a:ext uri="{FF2B5EF4-FFF2-40B4-BE49-F238E27FC236}">
                <a16:creationId xmlns:a16="http://schemas.microsoft.com/office/drawing/2014/main" id="{1B0AEB2A-8D6B-48FA-BECF-B31122BB4C6C}"/>
              </a:ext>
            </a:extLst>
          </p:cNvPr>
          <p:cNvSpPr>
            <a:spLocks noChangeArrowheads="1"/>
          </p:cNvSpPr>
          <p:nvPr/>
        </p:nvSpPr>
        <p:spPr bwMode="auto">
          <a:xfrm>
            <a:off x="4080272" y="4086225"/>
            <a:ext cx="2346722" cy="510778"/>
          </a:xfrm>
          <a:prstGeom prst="roundRect">
            <a:avLst>
              <a:gd name="adj" fmla="val 16667"/>
            </a:avLst>
          </a:prstGeom>
          <a:solidFill>
            <a:srgbClr val="CCECFF"/>
          </a:solidFill>
          <a:ln w="38100">
            <a:solidFill>
              <a:srgbClr val="666699"/>
            </a:solidFill>
            <a:round/>
            <a:headEnd/>
            <a:tailEnd/>
          </a:ln>
        </p:spPr>
        <p:txBody>
          <a:bodyPr lIns="27000" rIns="27000">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D0D0D"/>
                </a:solidFill>
                <a:effectLst/>
                <a:uLnTx/>
                <a:uFillTx/>
                <a:latin typeface="Helvetica" panose="020B0604020202020204" pitchFamily="34" charset="0"/>
                <a:ea typeface="宋体" panose="02010600030101010101" pitchFamily="2" charset="-122"/>
              </a:rPr>
              <a:t> </a:t>
            </a:r>
            <a:r>
              <a:rPr kumimoji="0" lang="en-US" altLang="zh-CN"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7</a:t>
            </a:r>
            <a:r>
              <a:rPr kumimoji="0" lang="zh-CN" altLang="en-US"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亿</a:t>
            </a:r>
            <a:r>
              <a:rPr kumimoji="0" lang="zh-CN" altLang="en-US" sz="1200" b="1" i="0" u="none" strike="noStrike" kern="0" cap="none" spc="0" normalizeH="0" baseline="0" noProof="0">
                <a:ln>
                  <a:noFill/>
                </a:ln>
                <a:solidFill>
                  <a:srgbClr val="0D0D0D"/>
                </a:solidFill>
                <a:effectLst/>
                <a:uLnTx/>
                <a:uFillTx/>
                <a:latin typeface="Helvetica" panose="020B0604020202020204" pitchFamily="34" charset="0"/>
                <a:ea typeface="宋体" panose="02010600030101010101" pitchFamily="2" charset="-122"/>
              </a:rPr>
              <a:t>用户、</a:t>
            </a:r>
            <a:r>
              <a:rPr kumimoji="0" lang="en-US" altLang="zh-CN"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400</a:t>
            </a:r>
            <a:r>
              <a:rPr kumimoji="0" lang="zh-CN" altLang="en-US"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亿</a:t>
            </a:r>
            <a:r>
              <a:rPr kumimoji="0" lang="zh-CN" altLang="en-US" sz="1200" b="1" i="0" u="none" strike="noStrike" kern="0" cap="none" spc="0" normalizeH="0" baseline="0" noProof="0">
                <a:ln>
                  <a:noFill/>
                </a:ln>
                <a:solidFill>
                  <a:srgbClr val="0D0D0D"/>
                </a:solidFill>
                <a:effectLst/>
                <a:uLnTx/>
                <a:uFillTx/>
                <a:latin typeface="Helvetica" panose="020B0604020202020204" pitchFamily="34" charset="0"/>
                <a:ea typeface="宋体" panose="02010600030101010101" pitchFamily="2" charset="-122"/>
              </a:rPr>
              <a:t>张照片，总容量超过</a:t>
            </a:r>
            <a:r>
              <a:rPr kumimoji="0" lang="en-US" altLang="zh-CN"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1500TB</a:t>
            </a:r>
          </a:p>
        </p:txBody>
      </p:sp>
      <p:pic>
        <p:nvPicPr>
          <p:cNvPr id="11" name="Picture 10" descr="imagesCANOIFM6">
            <a:extLst>
              <a:ext uri="{FF2B5EF4-FFF2-40B4-BE49-F238E27FC236}">
                <a16:creationId xmlns:a16="http://schemas.microsoft.com/office/drawing/2014/main" id="{4295F1D7-A6D2-4498-9C51-6F1AE1D619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9085" y="4083844"/>
            <a:ext cx="1566863"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圆角矩形 28">
            <a:extLst>
              <a:ext uri="{FF2B5EF4-FFF2-40B4-BE49-F238E27FC236}">
                <a16:creationId xmlns:a16="http://schemas.microsoft.com/office/drawing/2014/main" id="{B0A2B1F5-9D23-44FB-87B6-B4B996CCE1F5}"/>
              </a:ext>
            </a:extLst>
          </p:cNvPr>
          <p:cNvSpPr>
            <a:spLocks noChangeArrowheads="1"/>
          </p:cNvSpPr>
          <p:nvPr/>
        </p:nvSpPr>
        <p:spPr bwMode="auto">
          <a:xfrm>
            <a:off x="4080272" y="1964531"/>
            <a:ext cx="2356247" cy="510778"/>
          </a:xfrm>
          <a:prstGeom prst="roundRect">
            <a:avLst>
              <a:gd name="adj" fmla="val 16667"/>
            </a:avLst>
          </a:prstGeom>
          <a:solidFill>
            <a:srgbClr val="CCECFF"/>
          </a:solidFill>
          <a:ln w="38100">
            <a:solidFill>
              <a:srgbClr val="666699"/>
            </a:solidFill>
            <a:round/>
            <a:headEnd/>
            <a:tailEnd/>
          </a:ln>
        </p:spPr>
        <p:txBody>
          <a:bodyPr lIns="27000" rIns="27000">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D0D0D"/>
                </a:solidFill>
                <a:effectLst/>
                <a:uLnTx/>
                <a:uFillTx/>
                <a:latin typeface="Helvetica" panose="020B0604020202020204" pitchFamily="34" charset="0"/>
                <a:ea typeface="宋体" panose="02010600030101010101" pitchFamily="2" charset="-122"/>
              </a:rPr>
              <a:t>新墨西哥州的天文望远镜</a:t>
            </a:r>
            <a:r>
              <a:rPr kumimoji="0" lang="zh-CN" altLang="en-US"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每年</a:t>
            </a:r>
            <a:r>
              <a:rPr kumimoji="0" lang="zh-CN" altLang="en-US" sz="1200" b="1" i="0" u="none" strike="noStrike" kern="0" cap="none" spc="0" normalizeH="0" baseline="0" noProof="0">
                <a:ln>
                  <a:noFill/>
                </a:ln>
                <a:solidFill>
                  <a:srgbClr val="0D0D0D"/>
                </a:solidFill>
                <a:effectLst/>
                <a:uLnTx/>
                <a:uFillTx/>
                <a:latin typeface="Helvetica" panose="020B0604020202020204" pitchFamily="34" charset="0"/>
                <a:ea typeface="宋体" panose="02010600030101010101" pitchFamily="2" charset="-122"/>
              </a:rPr>
              <a:t>产生</a:t>
            </a:r>
            <a:r>
              <a:rPr kumimoji="0" lang="en-US" altLang="zh-CN"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80TB</a:t>
            </a:r>
            <a:r>
              <a:rPr kumimoji="0" lang="zh-CN" altLang="en-US" sz="1200" b="1" i="0" u="none" strike="noStrike" kern="0" cap="none" spc="0" normalizeH="0" baseline="0" noProof="0">
                <a:ln>
                  <a:noFill/>
                </a:ln>
                <a:solidFill>
                  <a:srgbClr val="0D0D0D"/>
                </a:solidFill>
                <a:effectLst/>
                <a:uLnTx/>
                <a:uFillTx/>
                <a:latin typeface="Helvetica" panose="020B0604020202020204" pitchFamily="34" charset="0"/>
                <a:ea typeface="宋体" panose="02010600030101010101" pitchFamily="2" charset="-122"/>
              </a:rPr>
              <a:t>的图像信息</a:t>
            </a:r>
          </a:p>
        </p:txBody>
      </p:sp>
      <p:sp>
        <p:nvSpPr>
          <p:cNvPr id="13" name="Text Box 14">
            <a:extLst>
              <a:ext uri="{FF2B5EF4-FFF2-40B4-BE49-F238E27FC236}">
                <a16:creationId xmlns:a16="http://schemas.microsoft.com/office/drawing/2014/main" id="{983143A8-2C18-4B72-8DF0-572072C86F67}"/>
              </a:ext>
            </a:extLst>
          </p:cNvPr>
          <p:cNvSpPr txBox="1">
            <a:spLocks noChangeArrowheads="1"/>
          </p:cNvSpPr>
          <p:nvPr/>
        </p:nvSpPr>
        <p:spPr bwMode="auto">
          <a:xfrm>
            <a:off x="1343025" y="1573962"/>
            <a:ext cx="5170885" cy="300082"/>
          </a:xfrm>
          <a:prstGeom prst="rect">
            <a:avLst/>
          </a:prstGeom>
          <a:solidFill>
            <a:srgbClr val="0000FF"/>
          </a:solidFill>
          <a:ln>
            <a:noFill/>
          </a:ln>
          <a:extLst>
            <a:ext uri="{91240B29-F687-4F45-9708-019B960494DF}">
              <a14:hiddenLine xmlns:a14="http://schemas.microsoft.com/office/drawing/2010/main" w="12700">
                <a:solidFill>
                  <a:srgbClr val="000000"/>
                </a:solidFill>
                <a:miter lim="800000"/>
                <a:headEnd/>
                <a:tailEnd/>
              </a14:hiddenLine>
            </a:ext>
          </a:extLst>
        </p:spPr>
        <p:txBody>
          <a:bodyPr bIns="68580" anchor="b">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spcBef>
                <a:spcPct val="0"/>
              </a:spcBef>
              <a:buClrTx/>
              <a:buSzTx/>
              <a:buFontTx/>
              <a:buNone/>
            </a:pPr>
            <a:r>
              <a:rPr kumimoji="0" lang="zh-CN" altLang="en-US" sz="1200" b="1">
                <a:solidFill>
                  <a:srgbClr val="CCECFF"/>
                </a:solidFill>
                <a:latin typeface="Arial" panose="020B0604020202020204" pitchFamily="34" charset="0"/>
                <a:ea typeface="宋体" panose="02010600030101010101" pitchFamily="2" charset="-122"/>
                <a:cs typeface="Arial Unicode MS" panose="020B0604020202020204" pitchFamily="34" charset="-122"/>
              </a:rPr>
              <a:t>美国国会图书馆存档信息量：约 </a:t>
            </a:r>
            <a:r>
              <a:rPr kumimoji="0" lang="en-US" altLang="zh-CN" sz="1200" b="1">
                <a:solidFill>
                  <a:srgbClr val="FF0000"/>
                </a:solidFill>
                <a:latin typeface="Arial" panose="020B0604020202020204" pitchFamily="34" charset="0"/>
                <a:ea typeface="宋体" panose="02010600030101010101" pitchFamily="2" charset="-122"/>
                <a:cs typeface="Arial Unicode MS" panose="020B0604020202020204" pitchFamily="34" charset="-122"/>
              </a:rPr>
              <a:t>80TB</a:t>
            </a:r>
          </a:p>
        </p:txBody>
      </p:sp>
      <p:pic>
        <p:nvPicPr>
          <p:cNvPr id="14" name="图片 14" descr="program.jpg">
            <a:extLst>
              <a:ext uri="{FF2B5EF4-FFF2-40B4-BE49-F238E27FC236}">
                <a16:creationId xmlns:a16="http://schemas.microsoft.com/office/drawing/2014/main" id="{C7298039-A57E-45ED-BE6A-0F52C152DD41}"/>
              </a:ext>
            </a:extLst>
          </p:cNvPr>
          <p:cNvPicPr>
            <a:picLocks noChangeAspect="1"/>
          </p:cNvPicPr>
          <p:nvPr/>
        </p:nvPicPr>
        <p:blipFill>
          <a:blip r:embed="rId4" cstate="print">
            <a:extLst>
              <a:ext uri="{28A0092B-C50C-407E-A947-70E740481C1C}">
                <a14:useLocalDpi xmlns:a14="http://schemas.microsoft.com/office/drawing/2010/main" val="0"/>
              </a:ext>
            </a:extLst>
          </a:blip>
          <a:srcRect t="16484" b="12088"/>
          <a:stretch>
            <a:fillRect/>
          </a:stretch>
        </p:blipFill>
        <p:spPr bwMode="auto">
          <a:xfrm>
            <a:off x="2208610" y="1955007"/>
            <a:ext cx="1566863" cy="57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7" descr="imagesCA12P4SV">
            <a:extLst>
              <a:ext uri="{FF2B5EF4-FFF2-40B4-BE49-F238E27FC236}">
                <a16:creationId xmlns:a16="http://schemas.microsoft.com/office/drawing/2014/main" id="{7013C5CA-80AB-48AD-902A-C489050D28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0751" y="2701529"/>
            <a:ext cx="156567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7">
            <a:extLst>
              <a:ext uri="{FF2B5EF4-FFF2-40B4-BE49-F238E27FC236}">
                <a16:creationId xmlns:a16="http://schemas.microsoft.com/office/drawing/2014/main" id="{86ACAA5C-39A0-493F-89A5-B0C0772CE201}"/>
              </a:ext>
            </a:extLst>
          </p:cNvPr>
          <p:cNvSpPr>
            <a:spLocks noChangeArrowheads="1"/>
          </p:cNvSpPr>
          <p:nvPr/>
        </p:nvSpPr>
        <p:spPr bwMode="auto">
          <a:xfrm>
            <a:off x="1343025" y="2756298"/>
            <a:ext cx="8167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r>
              <a:rPr kumimoji="0" lang="zh-CN" altLang="en-US" sz="1200" b="1">
                <a:solidFill>
                  <a:srgbClr val="000000"/>
                </a:solidFill>
                <a:latin typeface="黑体" panose="02010609060101010101" pitchFamily="49" charset="-122"/>
                <a:ea typeface="黑体" panose="02010609060101010101" pitchFamily="49" charset="-122"/>
              </a:rPr>
              <a:t>生物信息</a:t>
            </a:r>
            <a:endParaRPr kumimoji="0" lang="zh-CN" altLang="en-US" sz="1200" b="1">
              <a:solidFill>
                <a:srgbClr val="000000"/>
              </a:solidFill>
              <a:latin typeface="Calibri" panose="020F0502020204030204" pitchFamily="34" charset="0"/>
              <a:ea typeface="宋体" panose="02010600030101010101" pitchFamily="2" charset="-122"/>
            </a:endParaRPr>
          </a:p>
        </p:txBody>
      </p:sp>
      <p:sp>
        <p:nvSpPr>
          <p:cNvPr id="17" name="圆角矩形 28">
            <a:extLst>
              <a:ext uri="{FF2B5EF4-FFF2-40B4-BE49-F238E27FC236}">
                <a16:creationId xmlns:a16="http://schemas.microsoft.com/office/drawing/2014/main" id="{2BF93D44-9CC0-41DD-A17E-A2F88F646B74}"/>
              </a:ext>
            </a:extLst>
          </p:cNvPr>
          <p:cNvSpPr>
            <a:spLocks noChangeArrowheads="1"/>
          </p:cNvSpPr>
          <p:nvPr/>
        </p:nvSpPr>
        <p:spPr bwMode="auto">
          <a:xfrm>
            <a:off x="4083844" y="2680097"/>
            <a:ext cx="2356247" cy="510778"/>
          </a:xfrm>
          <a:prstGeom prst="roundRect">
            <a:avLst>
              <a:gd name="adj" fmla="val 16667"/>
            </a:avLst>
          </a:prstGeom>
          <a:solidFill>
            <a:srgbClr val="CCECFF"/>
          </a:solidFill>
          <a:ln w="38100">
            <a:solidFill>
              <a:srgbClr val="666699"/>
            </a:solidFill>
            <a:round/>
            <a:headEnd/>
            <a:tailEnd/>
          </a:ln>
        </p:spPr>
        <p:txBody>
          <a:bodyPr lIns="27000" rIns="27000">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D0D0D"/>
                </a:solidFill>
                <a:effectLst/>
                <a:uLnTx/>
                <a:uFillTx/>
                <a:latin typeface="Helvetica" panose="020B0604020202020204" pitchFamily="34" charset="0"/>
                <a:ea typeface="宋体" panose="02010600030101010101" pitchFamily="2" charset="-122"/>
              </a:rPr>
              <a:t>第一个中国人的全基因组图谱，</a:t>
            </a:r>
            <a:r>
              <a:rPr kumimoji="0" lang="en-US" altLang="zh-CN"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1177</a:t>
            </a:r>
            <a:r>
              <a:rPr kumimoji="0" lang="zh-CN" altLang="en-US" sz="1200" b="1" i="0" u="none" strike="noStrike" kern="0" cap="none" spc="0" normalizeH="0" baseline="0" noProof="0">
                <a:ln>
                  <a:noFill/>
                </a:ln>
                <a:solidFill>
                  <a:srgbClr val="FF0000"/>
                </a:solidFill>
                <a:effectLst/>
                <a:uLnTx/>
                <a:uFillTx/>
                <a:latin typeface="Helvetica" panose="020B0604020202020204" pitchFamily="34" charset="0"/>
                <a:ea typeface="宋体" panose="02010600030101010101" pitchFamily="2" charset="-122"/>
              </a:rPr>
              <a:t>亿</a:t>
            </a:r>
            <a:r>
              <a:rPr kumimoji="0" lang="zh-CN" altLang="en-US" sz="1200" b="1" i="0" u="none" strike="noStrike" kern="0" cap="none" spc="0" normalizeH="0" baseline="0" noProof="0">
                <a:ln>
                  <a:noFill/>
                </a:ln>
                <a:solidFill>
                  <a:srgbClr val="0D0D0D"/>
                </a:solidFill>
                <a:effectLst/>
                <a:uLnTx/>
                <a:uFillTx/>
                <a:latin typeface="Helvetica" panose="020B0604020202020204" pitchFamily="34" charset="0"/>
                <a:ea typeface="宋体" panose="02010600030101010101" pitchFamily="2" charset="-122"/>
              </a:rPr>
              <a:t>碱基对</a:t>
            </a:r>
          </a:p>
        </p:txBody>
      </p:sp>
    </p:spTree>
    <p:extLst>
      <p:ext uri="{BB962C8B-B14F-4D97-AF65-F5344CB8AC3E}">
        <p14:creationId xmlns:p14="http://schemas.microsoft.com/office/powerpoint/2010/main" val="35043402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10" grpId="0" animBg="1" autoUpdateAnimBg="0"/>
      <p:bldP spid="12" grpId="0" animBg="1" autoUpdateAnimBg="0"/>
      <p:bldP spid="17" grpId="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68124E-F15D-4A05-A080-126BF33277D7}"/>
              </a:ext>
            </a:extLst>
          </p:cNvPr>
          <p:cNvSpPr>
            <a:spLocks noGrp="1"/>
          </p:cNvSpPr>
          <p:nvPr>
            <p:ph type="title"/>
          </p:nvPr>
        </p:nvSpPr>
        <p:spPr/>
        <p:txBody>
          <a:bodyPr/>
          <a:lstStyle/>
          <a:p>
            <a:pPr algn="ctr"/>
            <a:r>
              <a:rPr lang="zh-CN" altLang="en-US" dirty="0"/>
              <a:t>大数据的困难</a:t>
            </a:r>
          </a:p>
        </p:txBody>
      </p:sp>
      <p:sp>
        <p:nvSpPr>
          <p:cNvPr id="3" name="内容占位符 2">
            <a:extLst>
              <a:ext uri="{FF2B5EF4-FFF2-40B4-BE49-F238E27FC236}">
                <a16:creationId xmlns:a16="http://schemas.microsoft.com/office/drawing/2014/main" id="{FB4108FA-0053-4C71-B876-78A655101D7B}"/>
              </a:ext>
            </a:extLst>
          </p:cNvPr>
          <p:cNvSpPr>
            <a:spLocks noGrp="1"/>
          </p:cNvSpPr>
          <p:nvPr>
            <p:ph idx="1"/>
          </p:nvPr>
        </p:nvSpPr>
        <p:spPr/>
        <p:txBody>
          <a:bodyPr/>
          <a:lstStyle/>
          <a:p>
            <a:r>
              <a:rPr lang="zh-CN" altLang="en-US" sz="2000" b="1" dirty="0"/>
              <a:t>容量大</a:t>
            </a:r>
          </a:p>
          <a:p>
            <a:endParaRPr lang="zh-CN" altLang="en-US" dirty="0"/>
          </a:p>
        </p:txBody>
      </p:sp>
      <p:sp>
        <p:nvSpPr>
          <p:cNvPr id="4" name="Text Box 10">
            <a:extLst>
              <a:ext uri="{FF2B5EF4-FFF2-40B4-BE49-F238E27FC236}">
                <a16:creationId xmlns:a16="http://schemas.microsoft.com/office/drawing/2014/main" id="{31EFF57A-2336-4977-B689-154D37A5AAC2}"/>
              </a:ext>
            </a:extLst>
          </p:cNvPr>
          <p:cNvSpPr txBox="1">
            <a:spLocks noChangeArrowheads="1"/>
          </p:cNvSpPr>
          <p:nvPr/>
        </p:nvSpPr>
        <p:spPr bwMode="auto">
          <a:xfrm>
            <a:off x="7267179" y="1197641"/>
            <a:ext cx="951310" cy="2169825"/>
          </a:xfrm>
          <a:prstGeom prst="rect">
            <a:avLst/>
          </a:prstGeom>
          <a:gradFill rotWithShape="0">
            <a:gsLst>
              <a:gs pos="0">
                <a:srgbClr val="FFA9A9"/>
              </a:gs>
              <a:gs pos="100000">
                <a:srgbClr val="FF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rPr>
              <a:t>Kilo</a:t>
            </a:r>
          </a:p>
          <a:p>
            <a:pPr algn="ctr" eaLnBrk="0" hangingPunct="0">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rPr>
              <a:t>Mega</a:t>
            </a:r>
          </a:p>
          <a:p>
            <a:pPr algn="ctr" eaLnBrk="0" hangingPunct="0">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rPr>
              <a:t>Giga</a:t>
            </a:r>
          </a:p>
          <a:p>
            <a:pPr algn="ctr" eaLnBrk="0" hangingPunct="0">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rPr>
              <a:t>Tera</a:t>
            </a:r>
          </a:p>
          <a:p>
            <a:pPr algn="ctr" eaLnBrk="0" hangingPunct="0">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rPr>
              <a:t>Peta</a:t>
            </a:r>
          </a:p>
          <a:p>
            <a:pPr algn="ctr" eaLnBrk="0" hangingPunct="0">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rPr>
              <a:t>Exa</a:t>
            </a:r>
          </a:p>
          <a:p>
            <a:pPr algn="ctr" eaLnBrk="0" hangingPunct="0">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rPr>
              <a:t>Zeta</a:t>
            </a:r>
          </a:p>
          <a:p>
            <a:pPr algn="ctr" eaLnBrk="0" hangingPunct="0">
              <a:spcBef>
                <a:spcPct val="0"/>
              </a:spcBef>
              <a:buClrTx/>
              <a:buSzTx/>
              <a:buFontTx/>
              <a:buNone/>
            </a:pPr>
            <a:r>
              <a:rPr kumimoji="0" lang="en-US" altLang="zh-CN" sz="1500" b="1">
                <a:solidFill>
                  <a:srgbClr val="000000"/>
                </a:solidFill>
                <a:latin typeface="Arial" panose="020B0604020202020204" pitchFamily="34" charset="0"/>
                <a:ea typeface="宋体" panose="02010600030101010101" pitchFamily="2" charset="-122"/>
              </a:rPr>
              <a:t>Yotta</a:t>
            </a:r>
          </a:p>
          <a:p>
            <a:pPr algn="ctr" eaLnBrk="0" hangingPunct="0">
              <a:spcBef>
                <a:spcPct val="0"/>
              </a:spcBef>
              <a:buClrTx/>
              <a:buSzTx/>
              <a:buFontTx/>
              <a:buNone/>
            </a:pPr>
            <a:endParaRPr kumimoji="0" lang="en-US" altLang="zh-CN" sz="1500" b="1">
              <a:solidFill>
                <a:srgbClr val="000000"/>
              </a:solidFill>
              <a:latin typeface="Arial" panose="020B0604020202020204" pitchFamily="34" charset="0"/>
              <a:ea typeface="宋体" panose="02010600030101010101" pitchFamily="2" charset="-122"/>
            </a:endParaRPr>
          </a:p>
        </p:txBody>
      </p:sp>
      <p:pic>
        <p:nvPicPr>
          <p:cNvPr id="5" name="Picture 9" descr="http://img03.36krcnd.com/wp-content/uploads/2012/07/su.png">
            <a:extLst>
              <a:ext uri="{FF2B5EF4-FFF2-40B4-BE49-F238E27FC236}">
                <a16:creationId xmlns:a16="http://schemas.microsoft.com/office/drawing/2014/main" id="{325F11D0-F78D-467A-B029-B495CE0E81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1089294"/>
            <a:ext cx="4891088" cy="367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4166823"/>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292A8-EAFC-44D5-9F88-675FEAF1E927}"/>
              </a:ext>
            </a:extLst>
          </p:cNvPr>
          <p:cNvSpPr>
            <a:spLocks noGrp="1"/>
          </p:cNvSpPr>
          <p:nvPr>
            <p:ph type="title"/>
          </p:nvPr>
        </p:nvSpPr>
        <p:spPr/>
        <p:txBody>
          <a:bodyPr/>
          <a:lstStyle/>
          <a:p>
            <a:pPr algn="ctr"/>
            <a:r>
              <a:rPr lang="zh-CN" altLang="en-US" dirty="0"/>
              <a:t>大数据的困难</a:t>
            </a:r>
          </a:p>
        </p:txBody>
      </p:sp>
      <p:sp>
        <p:nvSpPr>
          <p:cNvPr id="3" name="内容占位符 2">
            <a:extLst>
              <a:ext uri="{FF2B5EF4-FFF2-40B4-BE49-F238E27FC236}">
                <a16:creationId xmlns:a16="http://schemas.microsoft.com/office/drawing/2014/main" id="{195204C6-3ED8-4B7B-A501-4A53E3B08BCD}"/>
              </a:ext>
            </a:extLst>
          </p:cNvPr>
          <p:cNvSpPr>
            <a:spLocks noGrp="1"/>
          </p:cNvSpPr>
          <p:nvPr>
            <p:ph idx="1"/>
          </p:nvPr>
        </p:nvSpPr>
        <p:spPr/>
        <p:txBody>
          <a:bodyPr/>
          <a:lstStyle/>
          <a:p>
            <a:r>
              <a:rPr lang="zh-CN" altLang="en-US" sz="2000" b="1" dirty="0"/>
              <a:t>非结构化</a:t>
            </a:r>
            <a:endParaRPr lang="en-US" altLang="zh-CN" sz="2000" b="1" dirty="0"/>
          </a:p>
          <a:p>
            <a:pPr lvl="1"/>
            <a:r>
              <a:rPr lang="zh-CN" altLang="en-US" sz="1800" dirty="0"/>
              <a:t>非结构化</a:t>
            </a:r>
            <a:r>
              <a:rPr lang="en-US" altLang="zh-CN" sz="1800" dirty="0"/>
              <a:t>=</a:t>
            </a:r>
            <a:r>
              <a:rPr lang="zh-CN" altLang="en-US" sz="1800" dirty="0"/>
              <a:t>没有找到</a:t>
            </a:r>
          </a:p>
          <a:p>
            <a:pPr lvl="1"/>
            <a:r>
              <a:rPr lang="zh-CN" altLang="en-US" sz="1800" dirty="0"/>
              <a:t>共性特征：没有</a:t>
            </a:r>
          </a:p>
          <a:p>
            <a:pPr lvl="1"/>
            <a:r>
              <a:rPr lang="zh-CN" altLang="en-US" sz="1800" dirty="0"/>
              <a:t>多层结构</a:t>
            </a:r>
          </a:p>
          <a:p>
            <a:endParaRPr lang="zh-CN" altLang="en-US" sz="2000" dirty="0"/>
          </a:p>
        </p:txBody>
      </p:sp>
    </p:spTree>
    <p:extLst>
      <p:ext uri="{BB962C8B-B14F-4D97-AF65-F5344CB8AC3E}">
        <p14:creationId xmlns:p14="http://schemas.microsoft.com/office/powerpoint/2010/main" val="1638593410"/>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FE2DE-7945-46B7-AD46-F07DCF47D8E4}"/>
              </a:ext>
            </a:extLst>
          </p:cNvPr>
          <p:cNvSpPr>
            <a:spLocks noGrp="1"/>
          </p:cNvSpPr>
          <p:nvPr>
            <p:ph type="title"/>
          </p:nvPr>
        </p:nvSpPr>
        <p:spPr/>
        <p:txBody>
          <a:bodyPr/>
          <a:lstStyle/>
          <a:p>
            <a:pPr algn="ctr"/>
            <a:r>
              <a:rPr lang="zh-CN" altLang="en-US" dirty="0"/>
              <a:t>大数据的困难</a:t>
            </a:r>
          </a:p>
        </p:txBody>
      </p:sp>
      <p:sp>
        <p:nvSpPr>
          <p:cNvPr id="3" name="内容占位符 2">
            <a:extLst>
              <a:ext uri="{FF2B5EF4-FFF2-40B4-BE49-F238E27FC236}">
                <a16:creationId xmlns:a16="http://schemas.microsoft.com/office/drawing/2014/main" id="{76A7CAE1-6590-46E3-92E7-FC26390F41C7}"/>
              </a:ext>
            </a:extLst>
          </p:cNvPr>
          <p:cNvSpPr>
            <a:spLocks noGrp="1"/>
          </p:cNvSpPr>
          <p:nvPr>
            <p:ph idx="1"/>
          </p:nvPr>
        </p:nvSpPr>
        <p:spPr/>
        <p:txBody>
          <a:bodyPr/>
          <a:lstStyle/>
          <a:p>
            <a:r>
              <a:rPr lang="zh-CN" altLang="en-US" sz="2000" b="1" dirty="0"/>
              <a:t>仅有</a:t>
            </a:r>
            <a:r>
              <a:rPr lang="en-US" altLang="zh-CN" sz="2000" b="1" dirty="0"/>
              <a:t>MapReduce</a:t>
            </a:r>
          </a:p>
          <a:p>
            <a:endParaRPr lang="zh-CN" altLang="en-US" sz="2000" dirty="0"/>
          </a:p>
        </p:txBody>
      </p:sp>
      <p:sp>
        <p:nvSpPr>
          <p:cNvPr id="4" name="Text Box 14">
            <a:extLst>
              <a:ext uri="{FF2B5EF4-FFF2-40B4-BE49-F238E27FC236}">
                <a16:creationId xmlns:a16="http://schemas.microsoft.com/office/drawing/2014/main" id="{3D1CC0FF-603A-4F4C-B9DA-A6273579D31D}"/>
              </a:ext>
            </a:extLst>
          </p:cNvPr>
          <p:cNvSpPr txBox="1">
            <a:spLocks noChangeArrowheads="1"/>
          </p:cNvSpPr>
          <p:nvPr/>
        </p:nvSpPr>
        <p:spPr bwMode="auto">
          <a:xfrm>
            <a:off x="712143" y="1622316"/>
            <a:ext cx="5391150" cy="438582"/>
          </a:xfrm>
          <a:prstGeom prst="rect">
            <a:avLst/>
          </a:prstGeom>
          <a:solidFill>
            <a:schemeClr val="accent5">
              <a:lumMod val="75000"/>
            </a:schemeClr>
          </a:solidFill>
          <a:ln>
            <a:noFill/>
          </a:ln>
          <a:extLst/>
        </p:spPr>
        <p:txBody>
          <a:bodyPr wrap="square" bIns="68580" anchor="b">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spcBef>
                <a:spcPct val="0"/>
              </a:spcBef>
              <a:buClrTx/>
              <a:buSzTx/>
              <a:buFontTx/>
              <a:buNone/>
            </a:pPr>
            <a:r>
              <a:rPr kumimoji="0" lang="en-US" altLang="zh-CN" sz="2100" b="1" dirty="0">
                <a:solidFill>
                  <a:schemeClr val="bg1"/>
                </a:solidFill>
                <a:latin typeface="华文中宋" panose="02010600040101010101" pitchFamily="2" charset="-122"/>
                <a:ea typeface="华文中宋" panose="02010600040101010101" pitchFamily="2" charset="-122"/>
                <a:cs typeface="Arial Unicode MS" panose="020B0604020202020204" pitchFamily="34" charset="-122"/>
              </a:rPr>
              <a:t>MapReduce=Big Data</a:t>
            </a:r>
            <a:r>
              <a:rPr kumimoji="0" lang="zh-CN" altLang="en-US" sz="2100" b="1" dirty="0">
                <a:solidFill>
                  <a:schemeClr val="bg1"/>
                </a:solidFill>
                <a:latin typeface="华文中宋" panose="02010600040101010101" pitchFamily="2" charset="-122"/>
                <a:ea typeface="华文中宋" panose="02010600040101010101" pitchFamily="2" charset="-122"/>
                <a:cs typeface="Arial Unicode MS" panose="020B0604020202020204" pitchFamily="34" charset="-122"/>
              </a:rPr>
              <a:t>？</a:t>
            </a:r>
          </a:p>
        </p:txBody>
      </p:sp>
      <p:sp>
        <p:nvSpPr>
          <p:cNvPr id="5" name="Text Box 14">
            <a:extLst>
              <a:ext uri="{FF2B5EF4-FFF2-40B4-BE49-F238E27FC236}">
                <a16:creationId xmlns:a16="http://schemas.microsoft.com/office/drawing/2014/main" id="{090565D2-0618-4561-A724-A8A925489E87}"/>
              </a:ext>
            </a:extLst>
          </p:cNvPr>
          <p:cNvSpPr txBox="1">
            <a:spLocks noChangeArrowheads="1"/>
          </p:cNvSpPr>
          <p:nvPr/>
        </p:nvSpPr>
        <p:spPr bwMode="auto">
          <a:xfrm>
            <a:off x="721668" y="2221200"/>
            <a:ext cx="5391150" cy="438582"/>
          </a:xfrm>
          <a:prstGeom prst="rect">
            <a:avLst/>
          </a:prstGeom>
          <a:solidFill>
            <a:schemeClr val="accent5">
              <a:lumMod val="75000"/>
            </a:schemeClr>
          </a:solidFill>
          <a:ln>
            <a:noFill/>
          </a:ln>
          <a:extLst/>
        </p:spPr>
        <p:txBody>
          <a:bodyPr wrap="square" bIns="68580" anchor="b">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spcBef>
                <a:spcPct val="0"/>
              </a:spcBef>
              <a:buClrTx/>
              <a:buSzTx/>
              <a:buFontTx/>
              <a:buNone/>
            </a:pPr>
            <a:r>
              <a:rPr kumimoji="0" lang="en-US" altLang="zh-CN" sz="2100" b="1">
                <a:solidFill>
                  <a:schemeClr val="bg1"/>
                </a:solidFill>
                <a:latin typeface="华文中宋" panose="02010600040101010101" pitchFamily="2" charset="-122"/>
                <a:ea typeface="华文中宋" panose="02010600040101010101" pitchFamily="2" charset="-122"/>
                <a:cs typeface="Arial Unicode MS" panose="020B0604020202020204" pitchFamily="34" charset="-122"/>
              </a:rPr>
              <a:t>MapReduce</a:t>
            </a:r>
            <a:r>
              <a:rPr kumimoji="0" lang="zh-CN" altLang="en-US" sz="2100" b="1">
                <a:solidFill>
                  <a:schemeClr val="bg1"/>
                </a:solidFill>
                <a:latin typeface="华文中宋" panose="02010600040101010101" pitchFamily="2" charset="-122"/>
                <a:ea typeface="华文中宋" panose="02010600040101010101" pitchFamily="2" charset="-122"/>
                <a:cs typeface="Arial Unicode MS" panose="020B0604020202020204" pitchFamily="34" charset="-122"/>
              </a:rPr>
              <a:t>不是万能的</a:t>
            </a:r>
          </a:p>
        </p:txBody>
      </p:sp>
      <p:sp>
        <p:nvSpPr>
          <p:cNvPr id="6" name="Text Box 14">
            <a:extLst>
              <a:ext uri="{FF2B5EF4-FFF2-40B4-BE49-F238E27FC236}">
                <a16:creationId xmlns:a16="http://schemas.microsoft.com/office/drawing/2014/main" id="{520F631E-0363-46F8-A951-9DBD0DCB22CA}"/>
              </a:ext>
            </a:extLst>
          </p:cNvPr>
          <p:cNvSpPr txBox="1">
            <a:spLocks noChangeArrowheads="1"/>
          </p:cNvSpPr>
          <p:nvPr/>
        </p:nvSpPr>
        <p:spPr bwMode="auto">
          <a:xfrm>
            <a:off x="735955" y="2968913"/>
            <a:ext cx="5376863" cy="438582"/>
          </a:xfrm>
          <a:prstGeom prst="rect">
            <a:avLst/>
          </a:prstGeom>
          <a:solidFill>
            <a:schemeClr val="accent5">
              <a:lumMod val="75000"/>
            </a:schemeClr>
          </a:solidFill>
          <a:ln>
            <a:noFill/>
          </a:ln>
          <a:extLst/>
        </p:spPr>
        <p:txBody>
          <a:bodyPr bIns="68580" anchor="b">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spcBef>
                <a:spcPct val="0"/>
              </a:spcBef>
              <a:buClrTx/>
              <a:buSzTx/>
              <a:buFontTx/>
              <a:buNone/>
            </a:pPr>
            <a:r>
              <a:rPr kumimoji="0" lang="en-US" altLang="zh-CN" sz="2100" b="1">
                <a:solidFill>
                  <a:schemeClr val="bg1"/>
                </a:solidFill>
                <a:latin typeface="华文中宋" panose="02010600040101010101" pitchFamily="2" charset="-122"/>
                <a:ea typeface="华文中宋" panose="02010600040101010101" pitchFamily="2" charset="-122"/>
                <a:cs typeface="Arial Unicode MS" panose="020B0604020202020204" pitchFamily="34" charset="-122"/>
              </a:rPr>
              <a:t>MapReduce</a:t>
            </a:r>
            <a:r>
              <a:rPr kumimoji="0" lang="zh-CN" altLang="en-US" sz="2100" b="1">
                <a:solidFill>
                  <a:schemeClr val="bg1"/>
                </a:solidFill>
                <a:latin typeface="华文中宋" panose="02010600040101010101" pitchFamily="2" charset="-122"/>
                <a:ea typeface="华文中宋" panose="02010600040101010101" pitchFamily="2" charset="-122"/>
                <a:cs typeface="Arial Unicode MS" panose="020B0604020202020204" pitchFamily="34" charset="-122"/>
              </a:rPr>
              <a:t>只顾埋头干活、从不抬头看路</a:t>
            </a:r>
          </a:p>
        </p:txBody>
      </p:sp>
      <p:sp>
        <p:nvSpPr>
          <p:cNvPr id="7" name="Text Box 14">
            <a:extLst>
              <a:ext uri="{FF2B5EF4-FFF2-40B4-BE49-F238E27FC236}">
                <a16:creationId xmlns:a16="http://schemas.microsoft.com/office/drawing/2014/main" id="{5D1A305B-E6A7-4988-A3B2-60F2855D39D6}"/>
              </a:ext>
            </a:extLst>
          </p:cNvPr>
          <p:cNvSpPr txBox="1">
            <a:spLocks noChangeArrowheads="1"/>
          </p:cNvSpPr>
          <p:nvPr/>
        </p:nvSpPr>
        <p:spPr bwMode="auto">
          <a:xfrm>
            <a:off x="750243" y="3592800"/>
            <a:ext cx="5353050" cy="438582"/>
          </a:xfrm>
          <a:prstGeom prst="rect">
            <a:avLst/>
          </a:prstGeom>
          <a:solidFill>
            <a:schemeClr val="accent5">
              <a:lumMod val="75000"/>
            </a:schemeClr>
          </a:solidFill>
          <a:ln>
            <a:noFill/>
          </a:ln>
          <a:extLst/>
        </p:spPr>
        <p:txBody>
          <a:bodyPr wrap="square" bIns="68580" anchor="b">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spcBef>
                <a:spcPct val="0"/>
              </a:spcBef>
              <a:buClrTx/>
              <a:buSzTx/>
              <a:buFontTx/>
              <a:buNone/>
            </a:pPr>
            <a:r>
              <a:rPr kumimoji="0" lang="en-US" altLang="zh-CN" sz="2100" b="1">
                <a:solidFill>
                  <a:schemeClr val="bg1"/>
                </a:solidFill>
                <a:latin typeface="华文中宋" panose="02010600040101010101" pitchFamily="2" charset="-122"/>
                <a:ea typeface="华文中宋" panose="02010600040101010101" pitchFamily="2" charset="-122"/>
                <a:cs typeface="Arial Unicode MS" panose="020B0604020202020204" pitchFamily="34" charset="-122"/>
              </a:rPr>
              <a:t>MapReduce</a:t>
            </a:r>
            <a:r>
              <a:rPr kumimoji="0" lang="zh-CN" altLang="en-US" sz="2100" b="1">
                <a:solidFill>
                  <a:schemeClr val="bg1"/>
                </a:solidFill>
                <a:latin typeface="华文中宋" panose="02010600040101010101" pitchFamily="2" charset="-122"/>
                <a:ea typeface="华文中宋" panose="02010600040101010101" pitchFamily="2" charset="-122"/>
                <a:cs typeface="Arial Unicode MS" panose="020B0604020202020204" pitchFamily="34" charset="-122"/>
              </a:rPr>
              <a:t>不是万能的</a:t>
            </a:r>
          </a:p>
        </p:txBody>
      </p:sp>
    </p:spTree>
    <p:extLst>
      <p:ext uri="{BB962C8B-B14F-4D97-AF65-F5344CB8AC3E}">
        <p14:creationId xmlns:p14="http://schemas.microsoft.com/office/powerpoint/2010/main" val="2669705434"/>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0C7B0B-ACE3-4CAB-BA27-3FDEA63D4677}"/>
              </a:ext>
            </a:extLst>
          </p:cNvPr>
          <p:cNvSpPr>
            <a:spLocks noGrp="1"/>
          </p:cNvSpPr>
          <p:nvPr>
            <p:ph type="title"/>
          </p:nvPr>
        </p:nvSpPr>
        <p:spPr/>
        <p:txBody>
          <a:bodyPr/>
          <a:lstStyle/>
          <a:p>
            <a:pPr algn="ctr"/>
            <a:r>
              <a:rPr lang="zh-CN" altLang="en-US" dirty="0"/>
              <a:t>大数据的困难</a:t>
            </a:r>
          </a:p>
        </p:txBody>
      </p:sp>
      <p:sp>
        <p:nvSpPr>
          <p:cNvPr id="3" name="内容占位符 2">
            <a:extLst>
              <a:ext uri="{FF2B5EF4-FFF2-40B4-BE49-F238E27FC236}">
                <a16:creationId xmlns:a16="http://schemas.microsoft.com/office/drawing/2014/main" id="{0E0045E1-0140-4660-9B7F-023AD4969C7F}"/>
              </a:ext>
            </a:extLst>
          </p:cNvPr>
          <p:cNvSpPr>
            <a:spLocks noGrp="1"/>
          </p:cNvSpPr>
          <p:nvPr>
            <p:ph idx="1"/>
          </p:nvPr>
        </p:nvSpPr>
        <p:spPr/>
        <p:txBody>
          <a:bodyPr/>
          <a:lstStyle/>
          <a:p>
            <a:r>
              <a:rPr lang="zh-CN" altLang="en-US" sz="2000" b="1" dirty="0"/>
              <a:t>数据中心</a:t>
            </a:r>
            <a:r>
              <a:rPr lang="en-US" altLang="zh-CN" sz="2000" b="1" dirty="0"/>
              <a:t>—</a:t>
            </a:r>
            <a:r>
              <a:rPr lang="zh-CN" altLang="en-US" sz="2000" b="1" dirty="0"/>
              <a:t>看上去，规模庞大</a:t>
            </a:r>
          </a:p>
          <a:p>
            <a:endParaRPr lang="zh-CN" altLang="en-US" sz="2000" dirty="0"/>
          </a:p>
        </p:txBody>
      </p:sp>
      <p:sp>
        <p:nvSpPr>
          <p:cNvPr id="4" name="矩形 4">
            <a:extLst>
              <a:ext uri="{FF2B5EF4-FFF2-40B4-BE49-F238E27FC236}">
                <a16:creationId xmlns:a16="http://schemas.microsoft.com/office/drawing/2014/main" id="{6D28753F-CCEA-40FE-88B6-499AD4A1F150}"/>
              </a:ext>
            </a:extLst>
          </p:cNvPr>
          <p:cNvSpPr>
            <a:spLocks noChangeArrowheads="1"/>
          </p:cNvSpPr>
          <p:nvPr/>
        </p:nvSpPr>
        <p:spPr bwMode="auto">
          <a:xfrm>
            <a:off x="1176338" y="2712244"/>
            <a:ext cx="313253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r>
              <a:rPr kumimoji="0" lang="zh-CN" altLang="en-US" sz="1350">
                <a:solidFill>
                  <a:srgbClr val="000000"/>
                </a:solidFill>
                <a:latin typeface="Helvetica" panose="020B0604020202020204" pitchFamily="34" charset="0"/>
                <a:ea typeface="宋体" panose="02010600030101010101" pitchFamily="2" charset="-122"/>
              </a:rPr>
              <a:t>脸谱</a:t>
            </a:r>
            <a:r>
              <a:rPr kumimoji="0" lang="en-US" altLang="zh-CN" sz="1350">
                <a:solidFill>
                  <a:srgbClr val="000000"/>
                </a:solidFill>
                <a:latin typeface="Helvetica" panose="020B0604020202020204" pitchFamily="34" charset="0"/>
                <a:ea typeface="宋体" panose="02010600030101010101" pitchFamily="2" charset="-122"/>
              </a:rPr>
              <a:t>(Facebook) </a:t>
            </a:r>
            <a:r>
              <a:rPr kumimoji="0" lang="zh-CN" altLang="en-US" sz="1350">
                <a:solidFill>
                  <a:srgbClr val="000000"/>
                </a:solidFill>
                <a:latin typeface="Helvetica" panose="020B0604020202020204" pitchFamily="34" charset="0"/>
                <a:ea typeface="宋体" panose="02010600030101010101" pitchFamily="2" charset="-122"/>
              </a:rPr>
              <a:t>数据中心</a:t>
            </a:r>
            <a:endParaRPr kumimoji="0" lang="en-US" altLang="zh-CN" sz="1350">
              <a:solidFill>
                <a:srgbClr val="000000"/>
              </a:solidFill>
              <a:latin typeface="Helvetica" panose="020B0604020202020204" pitchFamily="34" charset="0"/>
              <a:ea typeface="宋体" panose="02010600030101010101" pitchFamily="2" charset="-122"/>
            </a:endParaRPr>
          </a:p>
        </p:txBody>
      </p:sp>
      <p:pic>
        <p:nvPicPr>
          <p:cNvPr id="5" name="Picture 3" descr="C:\Users\wp\Desktop\MicrosoftSanAntonioDataCentercredittoAeroPhoto.jpg">
            <a:extLst>
              <a:ext uri="{FF2B5EF4-FFF2-40B4-BE49-F238E27FC236}">
                <a16:creationId xmlns:a16="http://schemas.microsoft.com/office/drawing/2014/main" id="{8ED808CC-F636-488D-AACC-A89D5AEBC6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3198" y="1488282"/>
            <a:ext cx="3268265" cy="1488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C:\Users\wp\Desktop\The new Apple data center located in Maiden, North Carolina.jpg">
            <a:extLst>
              <a:ext uri="{FF2B5EF4-FFF2-40B4-BE49-F238E27FC236}">
                <a16:creationId xmlns:a16="http://schemas.microsoft.com/office/drawing/2014/main" id="{482536A9-5572-4A59-B3C9-7F1C370D36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3969" y="3002756"/>
            <a:ext cx="3161110"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7">
            <a:extLst>
              <a:ext uri="{FF2B5EF4-FFF2-40B4-BE49-F238E27FC236}">
                <a16:creationId xmlns:a16="http://schemas.microsoft.com/office/drawing/2014/main" id="{7A2E20E7-4342-4785-BA7E-5DEA5E6BA7B4}"/>
              </a:ext>
            </a:extLst>
          </p:cNvPr>
          <p:cNvSpPr>
            <a:spLocks noChangeArrowheads="1"/>
          </p:cNvSpPr>
          <p:nvPr/>
        </p:nvSpPr>
        <p:spPr bwMode="auto">
          <a:xfrm>
            <a:off x="4572000" y="2459831"/>
            <a:ext cx="3286125" cy="30008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zh-CN" altLang="en-US" sz="1350" b="0" i="0" u="none" strike="noStrike" kern="0" cap="none" spc="0" normalizeH="0" baseline="0" noProof="0">
                <a:ln>
                  <a:noFill/>
                </a:ln>
                <a:solidFill>
                  <a:srgbClr val="000000"/>
                </a:solidFill>
                <a:effectLst/>
                <a:uLnTx/>
                <a:uFillTx/>
                <a:latin typeface="Helvetica" panose="020B0604020202020204" pitchFamily="34" charset="0"/>
                <a:ea typeface="宋体" panose="02010600030101010101" pitchFamily="2" charset="-122"/>
              </a:rPr>
              <a:t>微软</a:t>
            </a:r>
            <a:r>
              <a:rPr kumimoji="0" lang="en-US" altLang="zh-CN" sz="1350" b="0" i="0" u="none" strike="noStrike" kern="0" cap="none" spc="0" normalizeH="0" baseline="0" noProof="0">
                <a:ln>
                  <a:noFill/>
                </a:ln>
                <a:solidFill>
                  <a:srgbClr val="000000"/>
                </a:solidFill>
                <a:effectLst/>
                <a:uLnTx/>
                <a:uFillTx/>
                <a:latin typeface="Helvetica" panose="020B0604020202020204" pitchFamily="34" charset="0"/>
                <a:ea typeface="宋体" panose="02010600030101010101" pitchFamily="2" charset="-122"/>
              </a:rPr>
              <a:t>(Microsoft)</a:t>
            </a:r>
            <a:r>
              <a:rPr kumimoji="0" lang="zh-CN" altLang="en-US" sz="1350" b="0" i="0" u="none" strike="noStrike" kern="0" cap="none" spc="0" normalizeH="0" baseline="0" noProof="0">
                <a:ln>
                  <a:noFill/>
                </a:ln>
                <a:solidFill>
                  <a:srgbClr val="000000"/>
                </a:solidFill>
                <a:effectLst/>
                <a:uLnTx/>
                <a:uFillTx/>
                <a:latin typeface="Helvetica" panose="020B0604020202020204" pitchFamily="34" charset="0"/>
                <a:ea typeface="宋体" panose="02010600030101010101" pitchFamily="2" charset="-122"/>
              </a:rPr>
              <a:t>数据中心</a:t>
            </a:r>
          </a:p>
        </p:txBody>
      </p:sp>
      <p:sp>
        <p:nvSpPr>
          <p:cNvPr id="8" name="矩形 8">
            <a:extLst>
              <a:ext uri="{FF2B5EF4-FFF2-40B4-BE49-F238E27FC236}">
                <a16:creationId xmlns:a16="http://schemas.microsoft.com/office/drawing/2014/main" id="{68FE5042-BE89-4DE7-B139-2A4AA643E14B}"/>
              </a:ext>
            </a:extLst>
          </p:cNvPr>
          <p:cNvSpPr>
            <a:spLocks noChangeArrowheads="1"/>
          </p:cNvSpPr>
          <p:nvPr/>
        </p:nvSpPr>
        <p:spPr bwMode="auto">
          <a:xfrm>
            <a:off x="1197769" y="4299347"/>
            <a:ext cx="34825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r>
              <a:rPr kumimoji="0" lang="zh-CN" altLang="en-US" sz="1350">
                <a:solidFill>
                  <a:srgbClr val="000000"/>
                </a:solidFill>
                <a:latin typeface="Helvetica" panose="020B0604020202020204" pitchFamily="34" charset="0"/>
                <a:ea typeface="宋体" panose="02010600030101010101" pitchFamily="2" charset="-122"/>
              </a:rPr>
              <a:t>苹果</a:t>
            </a:r>
            <a:r>
              <a:rPr kumimoji="0" lang="en-US" altLang="zh-CN" sz="1350">
                <a:solidFill>
                  <a:srgbClr val="000000"/>
                </a:solidFill>
                <a:latin typeface="Helvetica" panose="020B0604020202020204" pitchFamily="34" charset="0"/>
                <a:ea typeface="宋体" panose="02010600030101010101" pitchFamily="2" charset="-122"/>
              </a:rPr>
              <a:t>(Apple) </a:t>
            </a:r>
            <a:r>
              <a:rPr kumimoji="0" lang="zh-CN" altLang="en-US" sz="1350">
                <a:solidFill>
                  <a:srgbClr val="000000"/>
                </a:solidFill>
                <a:latin typeface="Helvetica" panose="020B0604020202020204" pitchFamily="34" charset="0"/>
                <a:ea typeface="宋体" panose="02010600030101010101" pitchFamily="2" charset="-122"/>
              </a:rPr>
              <a:t>数据中心</a:t>
            </a:r>
          </a:p>
        </p:txBody>
      </p:sp>
      <p:pic>
        <p:nvPicPr>
          <p:cNvPr id="9" name="Picture 2">
            <a:extLst>
              <a:ext uri="{FF2B5EF4-FFF2-40B4-BE49-F238E27FC236}">
                <a16:creationId xmlns:a16="http://schemas.microsoft.com/office/drawing/2014/main" id="{466D6637-F6D5-4AB8-A72C-CD57FBAC50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3198" y="3003948"/>
            <a:ext cx="3268265" cy="1234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0">
            <a:extLst>
              <a:ext uri="{FF2B5EF4-FFF2-40B4-BE49-F238E27FC236}">
                <a16:creationId xmlns:a16="http://schemas.microsoft.com/office/drawing/2014/main" id="{3B8CB06D-91A1-4059-A3BD-F34337E1EFC6}"/>
              </a:ext>
            </a:extLst>
          </p:cNvPr>
          <p:cNvSpPr txBox="1">
            <a:spLocks noChangeArrowheads="1"/>
          </p:cNvSpPr>
          <p:nvPr/>
        </p:nvSpPr>
        <p:spPr bwMode="auto">
          <a:xfrm>
            <a:off x="4654154" y="4196953"/>
            <a:ext cx="233362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eaLnBrk="0" hangingPunct="0">
              <a:spcBef>
                <a:spcPct val="0"/>
              </a:spcBef>
              <a:buClrTx/>
              <a:buSzTx/>
              <a:buFontTx/>
              <a:buNone/>
            </a:pPr>
            <a:r>
              <a:rPr kumimoji="0" lang="zh-CN" altLang="en-US" sz="1350">
                <a:solidFill>
                  <a:srgbClr val="000000"/>
                </a:solidFill>
                <a:latin typeface="Helvetica" panose="020B0604020202020204" pitchFamily="34" charset="0"/>
                <a:ea typeface="宋体" panose="02010600030101010101" pitchFamily="2" charset="-122"/>
              </a:rPr>
              <a:t>谷歌</a:t>
            </a:r>
            <a:r>
              <a:rPr kumimoji="0" lang="en-US" altLang="zh-CN" sz="1350">
                <a:solidFill>
                  <a:srgbClr val="000000"/>
                </a:solidFill>
                <a:latin typeface="Helvetica" panose="020B0604020202020204" pitchFamily="34" charset="0"/>
                <a:ea typeface="宋体" panose="02010600030101010101" pitchFamily="2" charset="-122"/>
              </a:rPr>
              <a:t>(Google) </a:t>
            </a:r>
            <a:r>
              <a:rPr kumimoji="0" lang="zh-CN" altLang="en-US" sz="1350">
                <a:solidFill>
                  <a:srgbClr val="000000"/>
                </a:solidFill>
                <a:latin typeface="Helvetica" panose="020B0604020202020204" pitchFamily="34" charset="0"/>
                <a:ea typeface="宋体" panose="02010600030101010101" pitchFamily="2" charset="-122"/>
              </a:rPr>
              <a:t>数据中心</a:t>
            </a:r>
          </a:p>
        </p:txBody>
      </p:sp>
      <p:pic>
        <p:nvPicPr>
          <p:cNvPr id="11" name="Picture 2" descr="C:\Users\wp\Desktop\An image of the planned Facebook data center in Rutherford County, North Carolina..jpg">
            <a:extLst>
              <a:ext uri="{FF2B5EF4-FFF2-40B4-BE49-F238E27FC236}">
                <a16:creationId xmlns:a16="http://schemas.microsoft.com/office/drawing/2014/main" id="{D128E3AC-670B-4F29-804D-360D894838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3969" y="1437085"/>
            <a:ext cx="3161110" cy="1320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1915782"/>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8B2363-C41A-4788-8CC0-EEC751CE40B8}"/>
              </a:ext>
            </a:extLst>
          </p:cNvPr>
          <p:cNvSpPr>
            <a:spLocks noGrp="1"/>
          </p:cNvSpPr>
          <p:nvPr>
            <p:ph type="title"/>
          </p:nvPr>
        </p:nvSpPr>
        <p:spPr/>
        <p:txBody>
          <a:bodyPr/>
          <a:lstStyle/>
          <a:p>
            <a:pPr algn="ctr"/>
            <a:r>
              <a:rPr lang="zh-CN" altLang="en-US" dirty="0"/>
              <a:t>大数据的困难</a:t>
            </a:r>
          </a:p>
        </p:txBody>
      </p:sp>
      <p:sp>
        <p:nvSpPr>
          <p:cNvPr id="3" name="内容占位符 2">
            <a:extLst>
              <a:ext uri="{FF2B5EF4-FFF2-40B4-BE49-F238E27FC236}">
                <a16:creationId xmlns:a16="http://schemas.microsoft.com/office/drawing/2014/main" id="{EFAC3AB4-D7B2-4798-83B2-091CC1F5FEBC}"/>
              </a:ext>
            </a:extLst>
          </p:cNvPr>
          <p:cNvSpPr>
            <a:spLocks noGrp="1"/>
          </p:cNvSpPr>
          <p:nvPr>
            <p:ph idx="1"/>
          </p:nvPr>
        </p:nvSpPr>
        <p:spPr/>
        <p:txBody>
          <a:bodyPr/>
          <a:lstStyle/>
          <a:p>
            <a:r>
              <a:rPr lang="zh-CN" altLang="en-US" sz="2000" b="1" dirty="0"/>
              <a:t>数据中心</a:t>
            </a:r>
            <a:r>
              <a:rPr lang="en-US" altLang="zh-CN" sz="2000" b="1" dirty="0"/>
              <a:t>—</a:t>
            </a:r>
            <a:r>
              <a:rPr lang="zh-CN" altLang="en-US" sz="2000" b="1" dirty="0"/>
              <a:t>走进去，结构复杂</a:t>
            </a:r>
          </a:p>
          <a:p>
            <a:endParaRPr lang="zh-CN" altLang="en-US" sz="2000" b="1" dirty="0"/>
          </a:p>
        </p:txBody>
      </p:sp>
      <p:pic>
        <p:nvPicPr>
          <p:cNvPr id="4" name="Picture 2" descr="http://www.i-slownik.pl/img_hasla/1978/google-data-center.jpg">
            <a:extLst>
              <a:ext uri="{FF2B5EF4-FFF2-40B4-BE49-F238E27FC236}">
                <a16:creationId xmlns:a16="http://schemas.microsoft.com/office/drawing/2014/main" id="{0BEE4121-3694-4200-8E40-F376CD9931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691" y="1460897"/>
            <a:ext cx="3094434" cy="321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D:\dcn\photo\Chicago-Inside-Container-10.jpg">
            <a:extLst>
              <a:ext uri="{FF2B5EF4-FFF2-40B4-BE49-F238E27FC236}">
                <a16:creationId xmlns:a16="http://schemas.microsoft.com/office/drawing/2014/main" id="{A65E0D21-1257-43DB-80CD-502F82C818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1353" y="1468042"/>
            <a:ext cx="3203972" cy="1564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C:\JamesRH\Conferences\2007\AmazonDevCon\BLU-ColoRoomOverHeadRackable (Medium).jpg">
            <a:extLst>
              <a:ext uri="{FF2B5EF4-FFF2-40B4-BE49-F238E27FC236}">
                <a16:creationId xmlns:a16="http://schemas.microsoft.com/office/drawing/2014/main" id="{3CC5B220-6383-480C-BD4C-CFC264CF64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76" y="3212306"/>
            <a:ext cx="3203972" cy="144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411424"/>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64F8C1-3B0F-4617-A6C0-5B9C99C5C7FD}"/>
              </a:ext>
            </a:extLst>
          </p:cNvPr>
          <p:cNvSpPr>
            <a:spLocks noGrp="1"/>
          </p:cNvSpPr>
          <p:nvPr>
            <p:ph type="title"/>
          </p:nvPr>
        </p:nvSpPr>
        <p:spPr/>
        <p:txBody>
          <a:bodyPr/>
          <a:lstStyle/>
          <a:p>
            <a:pPr algn="ctr"/>
            <a:r>
              <a:rPr lang="zh-CN" altLang="en-US" dirty="0"/>
              <a:t>新技术</a:t>
            </a:r>
          </a:p>
        </p:txBody>
      </p:sp>
      <p:sp>
        <p:nvSpPr>
          <p:cNvPr id="3" name="内容占位符 2">
            <a:extLst>
              <a:ext uri="{FF2B5EF4-FFF2-40B4-BE49-F238E27FC236}">
                <a16:creationId xmlns:a16="http://schemas.microsoft.com/office/drawing/2014/main" id="{05125D78-90B6-47CB-9EB5-16CAD8DEC854}"/>
              </a:ext>
            </a:extLst>
          </p:cNvPr>
          <p:cNvSpPr>
            <a:spLocks noGrp="1"/>
          </p:cNvSpPr>
          <p:nvPr>
            <p:ph idx="1"/>
          </p:nvPr>
        </p:nvSpPr>
        <p:spPr/>
        <p:txBody>
          <a:bodyPr/>
          <a:lstStyle/>
          <a:p>
            <a:r>
              <a:rPr lang="zh-CN" altLang="en-US" sz="2000" b="1" dirty="0"/>
              <a:t>针对存储</a:t>
            </a:r>
          </a:p>
          <a:p>
            <a:pPr lvl="1"/>
            <a:r>
              <a:rPr lang="zh-CN" altLang="en-US" sz="1800" b="1" dirty="0"/>
              <a:t>石英玻璃数据存储技术</a:t>
            </a:r>
            <a:r>
              <a:rPr lang="zh-CN" altLang="en-US" sz="1800" dirty="0"/>
              <a:t>：可保存数据数亿年，电脑硬盘驱动器的数据保存时间就只有</a:t>
            </a:r>
            <a:r>
              <a:rPr lang="en-US" altLang="zh-CN" sz="1800" dirty="0"/>
              <a:t>10</a:t>
            </a:r>
            <a:r>
              <a:rPr lang="zh-CN" altLang="en-US" sz="1800" dirty="0"/>
              <a:t>年，使用较频繁的闪存盘数据保存时间至多</a:t>
            </a:r>
            <a:r>
              <a:rPr lang="en-US" altLang="zh-CN" sz="1800" dirty="0"/>
              <a:t>5</a:t>
            </a:r>
            <a:r>
              <a:rPr lang="zh-CN" altLang="en-US" sz="1800" dirty="0"/>
              <a:t>年，而磁带的数据保存时限则达</a:t>
            </a:r>
            <a:r>
              <a:rPr lang="en-US" altLang="zh-CN" sz="1800" dirty="0"/>
              <a:t>15</a:t>
            </a:r>
            <a:r>
              <a:rPr lang="zh-CN" altLang="en-US" sz="1800" dirty="0"/>
              <a:t>至</a:t>
            </a:r>
            <a:r>
              <a:rPr lang="en-US" altLang="zh-CN" sz="1800" dirty="0"/>
              <a:t>30</a:t>
            </a:r>
            <a:r>
              <a:rPr lang="zh-CN" altLang="en-US" sz="1800" dirty="0"/>
              <a:t>年。</a:t>
            </a:r>
          </a:p>
          <a:p>
            <a:pPr lvl="1"/>
            <a:r>
              <a:rPr lang="zh-CN" altLang="en-US" sz="1800" b="1" dirty="0"/>
              <a:t>双写入存储技术</a:t>
            </a:r>
            <a:r>
              <a:rPr lang="zh-CN" altLang="en-US" sz="1800" dirty="0"/>
              <a:t>：提升至</a:t>
            </a:r>
            <a:r>
              <a:rPr lang="en-US" altLang="zh-CN" sz="1800" dirty="0"/>
              <a:t>10TB/</a:t>
            </a:r>
            <a:r>
              <a:rPr lang="zh-CN" altLang="en-US" sz="1800" dirty="0"/>
              <a:t>平方英寸，目前硬盘中所使用的垂直记录技术的存储密度极限大约是每平方英寸数百</a:t>
            </a:r>
            <a:r>
              <a:rPr lang="en-US" altLang="zh-CN" sz="1800" dirty="0"/>
              <a:t>GB</a:t>
            </a:r>
            <a:r>
              <a:rPr lang="zh-CN" altLang="en-US" sz="1800" dirty="0"/>
              <a:t>。 两种新写入方式名为“热辅助磁记录技术”</a:t>
            </a:r>
            <a:r>
              <a:rPr lang="en-US" altLang="zh-CN" sz="1800" dirty="0"/>
              <a:t>(Thermally-Assisted Magnetic Recording</a:t>
            </a:r>
            <a:r>
              <a:rPr lang="zh-CN" altLang="en-US" sz="1800" dirty="0"/>
              <a:t>：</a:t>
            </a:r>
            <a:r>
              <a:rPr lang="en-US" altLang="zh-CN" sz="1800" dirty="0"/>
              <a:t>TAR</a:t>
            </a:r>
            <a:r>
              <a:rPr lang="zh-CN" altLang="en-US" sz="1800" dirty="0"/>
              <a:t>）</a:t>
            </a:r>
            <a:r>
              <a:rPr lang="en-US" altLang="zh-CN" sz="1800" dirty="0"/>
              <a:t>,</a:t>
            </a:r>
            <a:r>
              <a:rPr lang="zh-CN" altLang="en-US" sz="1800" dirty="0"/>
              <a:t>和 “位式记录技术”（</a:t>
            </a:r>
            <a:r>
              <a:rPr lang="en-US" altLang="zh-CN" sz="1800" dirty="0"/>
              <a:t>bit-patterned recording</a:t>
            </a:r>
            <a:r>
              <a:rPr lang="zh-CN" altLang="en-US" sz="1800" dirty="0"/>
              <a:t>：</a:t>
            </a:r>
            <a:r>
              <a:rPr lang="en-US" altLang="zh-CN" sz="1800" dirty="0"/>
              <a:t>BPR</a:t>
            </a:r>
            <a:r>
              <a:rPr lang="zh-CN" altLang="en-US" sz="1800" dirty="0"/>
              <a:t>）</a:t>
            </a:r>
          </a:p>
          <a:p>
            <a:endParaRPr lang="zh-CN" altLang="en-US" sz="2000" dirty="0"/>
          </a:p>
        </p:txBody>
      </p:sp>
    </p:spTree>
    <p:extLst>
      <p:ext uri="{BB962C8B-B14F-4D97-AF65-F5344CB8AC3E}">
        <p14:creationId xmlns:p14="http://schemas.microsoft.com/office/powerpoint/2010/main" val="4218364358"/>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3F64DA-D41E-4ABE-9D2F-C04220150028}"/>
              </a:ext>
            </a:extLst>
          </p:cNvPr>
          <p:cNvSpPr>
            <a:spLocks noGrp="1"/>
          </p:cNvSpPr>
          <p:nvPr>
            <p:ph type="title"/>
          </p:nvPr>
        </p:nvSpPr>
        <p:spPr/>
        <p:txBody>
          <a:bodyPr/>
          <a:lstStyle/>
          <a:p>
            <a:pPr algn="ctr"/>
            <a:r>
              <a:rPr lang="zh-CN" altLang="en-US" dirty="0"/>
              <a:t>新技术</a:t>
            </a:r>
          </a:p>
        </p:txBody>
      </p:sp>
      <p:sp>
        <p:nvSpPr>
          <p:cNvPr id="3" name="内容占位符 2">
            <a:extLst>
              <a:ext uri="{FF2B5EF4-FFF2-40B4-BE49-F238E27FC236}">
                <a16:creationId xmlns:a16="http://schemas.microsoft.com/office/drawing/2014/main" id="{DBF70611-6E68-4FF1-A0E1-3E6C4365D10D}"/>
              </a:ext>
            </a:extLst>
          </p:cNvPr>
          <p:cNvSpPr>
            <a:spLocks noGrp="1"/>
          </p:cNvSpPr>
          <p:nvPr>
            <p:ph idx="1"/>
          </p:nvPr>
        </p:nvSpPr>
        <p:spPr/>
        <p:txBody>
          <a:bodyPr/>
          <a:lstStyle/>
          <a:p>
            <a:r>
              <a:rPr lang="zh-CN" altLang="en-US" sz="2000" b="1" dirty="0"/>
              <a:t>针对传输</a:t>
            </a:r>
          </a:p>
          <a:p>
            <a:pPr lvl="1"/>
            <a:r>
              <a:rPr lang="zh-CN" altLang="en-US" sz="1800" b="1" dirty="0"/>
              <a:t>量子网络瞬间通信不延迟</a:t>
            </a:r>
            <a:r>
              <a:rPr lang="en-US" altLang="zh-CN" sz="1800" b="1" dirty="0"/>
              <a:t>: </a:t>
            </a:r>
            <a:r>
              <a:rPr lang="zh-CN" altLang="en-US" sz="1800" dirty="0"/>
              <a:t>一个粒子可以传递有限的信息，而亿万个粒子联手就形成了量子网络，而这种信息传递没有任何的延迟。通过量子网络相互连接的量子计算机和量子服务器将应用量子纠缠实现无缝通讯</a:t>
            </a:r>
          </a:p>
          <a:p>
            <a:pPr lvl="1"/>
            <a:r>
              <a:rPr lang="zh-CN" altLang="en-US" sz="1800" b="1" dirty="0"/>
              <a:t>光纤：</a:t>
            </a:r>
            <a:r>
              <a:rPr lang="zh-CN" altLang="en-US" sz="1800" dirty="0"/>
              <a:t>一根光纤可供</a:t>
            </a:r>
            <a:r>
              <a:rPr lang="en-US" altLang="zh-CN" sz="1800" dirty="0"/>
              <a:t>2.1</a:t>
            </a:r>
            <a:r>
              <a:rPr lang="zh-CN" altLang="en-US" sz="1800" dirty="0"/>
              <a:t>亿对人同时通话，一根普通单模光纤中</a:t>
            </a:r>
            <a:r>
              <a:rPr lang="en-US" altLang="zh-CN" sz="1800" dirty="0"/>
              <a:t>C</a:t>
            </a:r>
            <a:r>
              <a:rPr lang="zh-CN" altLang="en-US" sz="1800" dirty="0"/>
              <a:t>波段</a:t>
            </a:r>
            <a:r>
              <a:rPr lang="en-US" altLang="zh-CN" sz="1800" dirty="0"/>
              <a:t>168</a:t>
            </a:r>
            <a:r>
              <a:rPr lang="zh-CN" altLang="en-US" sz="1800" dirty="0"/>
              <a:t>路，每路</a:t>
            </a:r>
            <a:r>
              <a:rPr lang="en-US" altLang="zh-CN" sz="1800" dirty="0"/>
              <a:t>103Gb/s</a:t>
            </a:r>
            <a:r>
              <a:rPr lang="zh-CN" altLang="en-US" sz="1800" dirty="0"/>
              <a:t>的超大容量超密集波分复用传输</a:t>
            </a:r>
            <a:r>
              <a:rPr lang="en-US" altLang="zh-CN" sz="1800" dirty="0"/>
              <a:t>2240</a:t>
            </a:r>
            <a:r>
              <a:rPr lang="zh-CN" altLang="en-US" sz="1800" dirty="0"/>
              <a:t>公里，传输总容量达到</a:t>
            </a:r>
            <a:r>
              <a:rPr lang="en-US" altLang="zh-CN" sz="1800" dirty="0"/>
              <a:t>17.32Tb/s</a:t>
            </a:r>
            <a:r>
              <a:rPr lang="zh-CN" altLang="en-US" sz="1800" dirty="0"/>
              <a:t>，相当于</a:t>
            </a:r>
            <a:r>
              <a:rPr lang="en-US" altLang="zh-CN" sz="1800" dirty="0"/>
              <a:t>2.1</a:t>
            </a:r>
            <a:r>
              <a:rPr lang="zh-CN" altLang="en-US" sz="1800" dirty="0"/>
              <a:t>亿对人在一根光纤上同时通话</a:t>
            </a:r>
            <a:endParaRPr lang="en-US" altLang="zh-CN" sz="1800" dirty="0"/>
          </a:p>
          <a:p>
            <a:pPr lvl="1"/>
            <a:r>
              <a:rPr lang="en-US" altLang="zh-CN" sz="1800" b="1" dirty="0"/>
              <a:t>HMC</a:t>
            </a:r>
            <a:r>
              <a:rPr lang="zh-CN" altLang="en-US" sz="1800" b="1" dirty="0"/>
              <a:t>技术：</a:t>
            </a:r>
            <a:r>
              <a:rPr lang="zh-CN" altLang="en-US" sz="1800" dirty="0"/>
              <a:t>传输率可达</a:t>
            </a:r>
            <a:r>
              <a:rPr lang="en-US" altLang="zh-CN" sz="1800" dirty="0"/>
              <a:t>1TB/s</a:t>
            </a:r>
            <a:r>
              <a:rPr lang="zh-CN" altLang="en-US" sz="1800" dirty="0"/>
              <a:t>，</a:t>
            </a:r>
            <a:r>
              <a:rPr lang="en-US" altLang="zh-CN" sz="1800" dirty="0"/>
              <a:t>Hybrid Memory Cube</a:t>
            </a:r>
            <a:r>
              <a:rPr lang="zh-CN" altLang="en-US" sz="1800" dirty="0"/>
              <a:t>技术相比于当今主流的</a:t>
            </a:r>
            <a:r>
              <a:rPr lang="en-US" altLang="zh-CN" sz="1800" dirty="0"/>
              <a:t>DDR3</a:t>
            </a:r>
            <a:r>
              <a:rPr lang="zh-CN" altLang="en-US" sz="1800" dirty="0"/>
              <a:t>在能源效率上有至少</a:t>
            </a:r>
            <a:r>
              <a:rPr lang="en-US" altLang="zh-CN" sz="1800" dirty="0"/>
              <a:t>7</a:t>
            </a:r>
            <a:r>
              <a:rPr lang="zh-CN" altLang="en-US" sz="1800" dirty="0"/>
              <a:t>倍以上的优势。</a:t>
            </a:r>
            <a:r>
              <a:rPr lang="en-US" altLang="zh-CN" sz="1800" dirty="0"/>
              <a:t>Hybrid Memory Cube</a:t>
            </a:r>
            <a:r>
              <a:rPr lang="zh-CN" altLang="en-US" sz="1800" dirty="0"/>
              <a:t>技术使用堆叠技术将内存芯片压缩成一个紧凑的“立方体”，并配有新的高速传输接口。新的数据传输接口传输率可达到</a:t>
            </a:r>
            <a:r>
              <a:rPr lang="en-US" altLang="zh-CN" sz="1800" dirty="0"/>
              <a:t>1TB/s</a:t>
            </a:r>
            <a:r>
              <a:rPr lang="zh-CN" altLang="en-US" sz="1800" dirty="0"/>
              <a:t>。</a:t>
            </a:r>
          </a:p>
          <a:p>
            <a:pPr lvl="1"/>
            <a:endParaRPr lang="zh-CN" altLang="en-US" sz="1800" dirty="0"/>
          </a:p>
        </p:txBody>
      </p:sp>
    </p:spTree>
    <p:extLst>
      <p:ext uri="{BB962C8B-B14F-4D97-AF65-F5344CB8AC3E}">
        <p14:creationId xmlns:p14="http://schemas.microsoft.com/office/powerpoint/2010/main" val="3840890328"/>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AEFB0A-675D-4A44-9C93-C61DA02E8FFB}"/>
              </a:ext>
            </a:extLst>
          </p:cNvPr>
          <p:cNvSpPr>
            <a:spLocks noGrp="1"/>
          </p:cNvSpPr>
          <p:nvPr>
            <p:ph type="title"/>
          </p:nvPr>
        </p:nvSpPr>
        <p:spPr/>
        <p:txBody>
          <a:bodyPr/>
          <a:lstStyle/>
          <a:p>
            <a:pPr algn="ctr"/>
            <a:r>
              <a:rPr lang="zh-CN" altLang="en-US" dirty="0"/>
              <a:t>新技术</a:t>
            </a:r>
          </a:p>
        </p:txBody>
      </p:sp>
      <p:sp>
        <p:nvSpPr>
          <p:cNvPr id="3" name="内容占位符 2">
            <a:extLst>
              <a:ext uri="{FF2B5EF4-FFF2-40B4-BE49-F238E27FC236}">
                <a16:creationId xmlns:a16="http://schemas.microsoft.com/office/drawing/2014/main" id="{ED1DD737-E080-42D7-B90F-622ABDBC4587}"/>
              </a:ext>
            </a:extLst>
          </p:cNvPr>
          <p:cNvSpPr>
            <a:spLocks noGrp="1"/>
          </p:cNvSpPr>
          <p:nvPr>
            <p:ph idx="1"/>
          </p:nvPr>
        </p:nvSpPr>
        <p:spPr>
          <a:xfrm>
            <a:off x="251520" y="789553"/>
            <a:ext cx="7848872" cy="3805070"/>
          </a:xfrm>
        </p:spPr>
        <p:txBody>
          <a:bodyPr/>
          <a:lstStyle/>
          <a:p>
            <a:pPr>
              <a:spcBef>
                <a:spcPts val="1200"/>
              </a:spcBef>
            </a:pPr>
            <a:r>
              <a:rPr lang="zh-CN" altLang="en-US" b="1" dirty="0"/>
              <a:t>针对</a:t>
            </a:r>
            <a:r>
              <a:rPr lang="en-US" altLang="zh-CN" b="1" dirty="0"/>
              <a:t>Hadoop</a:t>
            </a:r>
          </a:p>
          <a:p>
            <a:pPr lvl="1">
              <a:spcBef>
                <a:spcPts val="1200"/>
              </a:spcBef>
            </a:pPr>
            <a:r>
              <a:rPr lang="zh-CN" altLang="en-US" dirty="0"/>
              <a:t>交互式数据分析系统</a:t>
            </a:r>
            <a:r>
              <a:rPr lang="en-US" altLang="zh-CN" dirty="0"/>
              <a:t>Dremel</a:t>
            </a:r>
          </a:p>
          <a:p>
            <a:pPr lvl="2">
              <a:spcBef>
                <a:spcPts val="1200"/>
              </a:spcBef>
            </a:pPr>
            <a:r>
              <a:rPr lang="zh-CN" altLang="en-US" dirty="0"/>
              <a:t>可以在几秒钟内处理</a:t>
            </a:r>
            <a:r>
              <a:rPr lang="en-US" altLang="zh-CN" dirty="0"/>
              <a:t>PB</a:t>
            </a:r>
            <a:r>
              <a:rPr lang="zh-CN" altLang="en-US" dirty="0"/>
              <a:t>级别的数据，并能轻松应对即时查询</a:t>
            </a:r>
            <a:endParaRPr lang="en-US" altLang="zh-CN" dirty="0"/>
          </a:p>
          <a:p>
            <a:pPr lvl="1">
              <a:spcBef>
                <a:spcPts val="1200"/>
              </a:spcBef>
            </a:pPr>
            <a:r>
              <a:rPr lang="zh-CN" altLang="en-US" dirty="0"/>
              <a:t>谷歌的图数据计算框架</a:t>
            </a:r>
            <a:r>
              <a:rPr lang="en-US" altLang="zh-CN" dirty="0"/>
              <a:t>Pregel</a:t>
            </a:r>
            <a:r>
              <a:rPr lang="zh-CN" altLang="en-US" dirty="0"/>
              <a:t>，微软的</a:t>
            </a:r>
            <a:r>
              <a:rPr lang="en-US" altLang="zh-CN" dirty="0"/>
              <a:t>Trinity</a:t>
            </a:r>
          </a:p>
          <a:p>
            <a:pPr lvl="2">
              <a:spcBef>
                <a:spcPts val="1200"/>
              </a:spcBef>
            </a:pPr>
            <a:r>
              <a:rPr lang="zh-CN" altLang="en-US" dirty="0"/>
              <a:t>针对大规模图算法（如图遍历（</a:t>
            </a:r>
            <a:r>
              <a:rPr lang="en-US" altLang="zh-CN" dirty="0"/>
              <a:t>BFS</a:t>
            </a:r>
            <a:r>
              <a:rPr lang="zh-CN" altLang="en-US" dirty="0"/>
              <a:t>）、</a:t>
            </a:r>
            <a:r>
              <a:rPr lang="en-US" altLang="zh-CN" dirty="0"/>
              <a:t>PageRank</a:t>
            </a:r>
            <a:r>
              <a:rPr lang="zh-CN" altLang="en-US" dirty="0"/>
              <a:t>，最短路径（</a:t>
            </a:r>
            <a:r>
              <a:rPr lang="en-US" altLang="zh-CN" dirty="0"/>
              <a:t>SSSP</a:t>
            </a:r>
            <a:r>
              <a:rPr lang="zh-CN" altLang="en-US" dirty="0"/>
              <a:t>）等）。处理一个有着几十亿节点、上万亿条边的图，只需数分钟即可完成，其执行时间随着图的大小呈线性增长。</a:t>
            </a:r>
          </a:p>
          <a:p>
            <a:pPr>
              <a:spcBef>
                <a:spcPts val="1200"/>
              </a:spcBef>
            </a:pPr>
            <a:endParaRPr lang="en-US" altLang="zh-CN" b="1" dirty="0"/>
          </a:p>
          <a:p>
            <a:pPr>
              <a:spcBef>
                <a:spcPts val="1200"/>
              </a:spcBef>
            </a:pPr>
            <a:endParaRPr lang="zh-CN" altLang="en-US" b="1" dirty="0"/>
          </a:p>
        </p:txBody>
      </p:sp>
    </p:spTree>
    <p:extLst>
      <p:ext uri="{BB962C8B-B14F-4D97-AF65-F5344CB8AC3E}">
        <p14:creationId xmlns:p14="http://schemas.microsoft.com/office/powerpoint/2010/main" val="225207217"/>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39D405-C90D-4441-858B-867BC6104EFC}"/>
              </a:ext>
            </a:extLst>
          </p:cNvPr>
          <p:cNvSpPr>
            <a:spLocks noGrp="1"/>
          </p:cNvSpPr>
          <p:nvPr>
            <p:ph type="title"/>
          </p:nvPr>
        </p:nvSpPr>
        <p:spPr/>
        <p:txBody>
          <a:bodyPr/>
          <a:lstStyle/>
          <a:p>
            <a:pPr algn="ctr"/>
            <a:r>
              <a:rPr lang="zh-CN" altLang="en-US" dirty="0"/>
              <a:t>新技术</a:t>
            </a:r>
          </a:p>
        </p:txBody>
      </p:sp>
      <p:sp>
        <p:nvSpPr>
          <p:cNvPr id="3" name="内容占位符 2">
            <a:extLst>
              <a:ext uri="{FF2B5EF4-FFF2-40B4-BE49-F238E27FC236}">
                <a16:creationId xmlns:a16="http://schemas.microsoft.com/office/drawing/2014/main" id="{EC8BA670-7CF0-48B2-A9B0-AA2E741F0A07}"/>
              </a:ext>
            </a:extLst>
          </p:cNvPr>
          <p:cNvSpPr>
            <a:spLocks noGrp="1"/>
          </p:cNvSpPr>
          <p:nvPr>
            <p:ph idx="1"/>
          </p:nvPr>
        </p:nvSpPr>
        <p:spPr/>
        <p:txBody>
          <a:bodyPr/>
          <a:lstStyle/>
          <a:p>
            <a:r>
              <a:rPr lang="zh-CN" altLang="en-US" b="1" dirty="0"/>
              <a:t>针对数据中心</a:t>
            </a:r>
          </a:p>
          <a:p>
            <a:endParaRPr lang="zh-CN" altLang="en-US" b="1" dirty="0"/>
          </a:p>
        </p:txBody>
      </p:sp>
      <p:pic>
        <p:nvPicPr>
          <p:cNvPr id="4" name="Picture 2" descr="C:\Users\Sam\Desktop\01.png">
            <a:extLst>
              <a:ext uri="{FF2B5EF4-FFF2-40B4-BE49-F238E27FC236}">
                <a16:creationId xmlns:a16="http://schemas.microsoft.com/office/drawing/2014/main" id="{F4C2A9A9-DD77-4AC4-BB4A-405A76E05E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6135" y="1301354"/>
            <a:ext cx="6009084"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8861898"/>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738CFB-F549-4F96-885E-6F7A3C152F0B}"/>
              </a:ext>
            </a:extLst>
          </p:cNvPr>
          <p:cNvSpPr>
            <a:spLocks noGrp="1"/>
          </p:cNvSpPr>
          <p:nvPr>
            <p:ph type="title"/>
          </p:nvPr>
        </p:nvSpPr>
        <p:spPr/>
        <p:txBody>
          <a:bodyPr/>
          <a:lstStyle/>
          <a:p>
            <a:pPr algn="ctr"/>
            <a:r>
              <a:rPr lang="zh-CN" altLang="en-US" dirty="0"/>
              <a:t>新技术</a:t>
            </a:r>
          </a:p>
        </p:txBody>
      </p:sp>
      <p:sp>
        <p:nvSpPr>
          <p:cNvPr id="3" name="内容占位符 2">
            <a:extLst>
              <a:ext uri="{FF2B5EF4-FFF2-40B4-BE49-F238E27FC236}">
                <a16:creationId xmlns:a16="http://schemas.microsoft.com/office/drawing/2014/main" id="{C5B0EE40-312A-41A4-8BF3-70F48EACB737}"/>
              </a:ext>
            </a:extLst>
          </p:cNvPr>
          <p:cNvSpPr>
            <a:spLocks noGrp="1"/>
          </p:cNvSpPr>
          <p:nvPr>
            <p:ph idx="1"/>
          </p:nvPr>
        </p:nvSpPr>
        <p:spPr/>
        <p:txBody>
          <a:bodyPr/>
          <a:lstStyle/>
          <a:p>
            <a:r>
              <a:rPr lang="zh-CN" altLang="en-US" b="1" dirty="0"/>
              <a:t>针对数据中心</a:t>
            </a:r>
          </a:p>
          <a:p>
            <a:pPr lvl="1"/>
            <a:r>
              <a:rPr lang="zh-CN" altLang="en-US" dirty="0"/>
              <a:t>扇形机架 </a:t>
            </a:r>
            <a:r>
              <a:rPr lang="en-US" altLang="zh-CN" dirty="0"/>
              <a:t>+ </a:t>
            </a:r>
            <a:r>
              <a:rPr lang="zh-CN" altLang="en-US" dirty="0"/>
              <a:t>柱形机箱</a:t>
            </a:r>
          </a:p>
          <a:p>
            <a:pPr lvl="1"/>
            <a:r>
              <a:rPr lang="zh-CN" altLang="en-US" dirty="0"/>
              <a:t>机箱内</a:t>
            </a:r>
            <a:r>
              <a:rPr lang="en-US" altLang="zh-CN" dirty="0"/>
              <a:t>: </a:t>
            </a:r>
            <a:r>
              <a:rPr lang="zh-CN" altLang="en-US" dirty="0"/>
              <a:t>冗余链接、强连通</a:t>
            </a:r>
          </a:p>
          <a:p>
            <a:pPr lvl="1"/>
            <a:r>
              <a:rPr lang="zh-CN" altLang="en-US" dirty="0"/>
              <a:t>机箱间</a:t>
            </a:r>
            <a:r>
              <a:rPr lang="en-US" altLang="zh-CN" dirty="0"/>
              <a:t>: 2</a:t>
            </a:r>
            <a:r>
              <a:rPr lang="zh-CN" altLang="en-US" dirty="0"/>
              <a:t>维类</a:t>
            </a:r>
            <a:r>
              <a:rPr lang="en-US" altLang="zh-CN" dirty="0"/>
              <a:t>Mesh</a:t>
            </a:r>
            <a:r>
              <a:rPr lang="zh-CN" altLang="en-US" dirty="0"/>
              <a:t>拓扑</a:t>
            </a:r>
          </a:p>
          <a:p>
            <a:endParaRPr lang="zh-CN" altLang="en-US" dirty="0"/>
          </a:p>
        </p:txBody>
      </p:sp>
      <p:pic>
        <p:nvPicPr>
          <p:cNvPr id="4" name="Picture 4">
            <a:extLst>
              <a:ext uri="{FF2B5EF4-FFF2-40B4-BE49-F238E27FC236}">
                <a16:creationId xmlns:a16="http://schemas.microsoft.com/office/drawing/2014/main" id="{4756EC34-3942-4440-9A3C-637E173AA670}"/>
              </a:ext>
            </a:extLst>
          </p:cNvPr>
          <p:cNvPicPr>
            <a:picLocks noChangeAspect="1" noChangeArrowheads="1"/>
          </p:cNvPicPr>
          <p:nvPr/>
        </p:nvPicPr>
        <p:blipFill>
          <a:blip r:embed="rId2"/>
          <a:srcRect/>
          <a:stretch>
            <a:fillRect/>
          </a:stretch>
        </p:blipFill>
        <p:spPr bwMode="auto">
          <a:xfrm>
            <a:off x="3580804" y="2608143"/>
            <a:ext cx="1982391" cy="2359819"/>
          </a:xfrm>
          <a:prstGeom prst="rect">
            <a:avLst/>
          </a:prstGeom>
          <a:ln>
            <a:noFill/>
          </a:ln>
          <a:effectLst>
            <a:outerShdw blurRad="292100" dist="139700" dir="2700000" algn="tl" rotWithShape="0">
              <a:srgbClr val="333333">
                <a:alpha val="65000"/>
              </a:srgbClr>
            </a:outerShdw>
          </a:effectLst>
        </p:spPr>
      </p:pic>
      <p:pic>
        <p:nvPicPr>
          <p:cNvPr id="5" name="Picture 5">
            <a:extLst>
              <a:ext uri="{FF2B5EF4-FFF2-40B4-BE49-F238E27FC236}">
                <a16:creationId xmlns:a16="http://schemas.microsoft.com/office/drawing/2014/main" id="{37CBAE9D-9F6D-4604-9CB7-3E242965001F}"/>
              </a:ext>
            </a:extLst>
          </p:cNvPr>
          <p:cNvPicPr>
            <a:picLocks noChangeAspect="1" noChangeArrowheads="1"/>
          </p:cNvPicPr>
          <p:nvPr/>
        </p:nvPicPr>
        <p:blipFill>
          <a:blip r:embed="rId3"/>
          <a:srcRect/>
          <a:stretch>
            <a:fillRect/>
          </a:stretch>
        </p:blipFill>
        <p:spPr bwMode="auto">
          <a:xfrm>
            <a:off x="5707857" y="2567661"/>
            <a:ext cx="2089547" cy="2386013"/>
          </a:xfrm>
          <a:prstGeom prst="rect">
            <a:avLst/>
          </a:prstGeom>
          <a:ln>
            <a:noFill/>
          </a:ln>
          <a:effectLst>
            <a:outerShdw blurRad="292100" dist="139700" dir="2700000" algn="tl" rotWithShape="0">
              <a:srgbClr val="333333">
                <a:alpha val="65000"/>
              </a:srgbClr>
            </a:outerShdw>
          </a:effectLst>
        </p:spPr>
      </p:pic>
      <p:pic>
        <p:nvPicPr>
          <p:cNvPr id="6" name="Picture 3">
            <a:extLst>
              <a:ext uri="{FF2B5EF4-FFF2-40B4-BE49-F238E27FC236}">
                <a16:creationId xmlns:a16="http://schemas.microsoft.com/office/drawing/2014/main" id="{9D900E85-0A2A-4D72-B328-20EDE8D8B256}"/>
              </a:ext>
            </a:extLst>
          </p:cNvPr>
          <p:cNvPicPr>
            <a:picLocks noChangeAspect="1" noChangeArrowheads="1"/>
          </p:cNvPicPr>
          <p:nvPr/>
        </p:nvPicPr>
        <p:blipFill>
          <a:blip r:embed="rId4"/>
          <a:srcRect/>
          <a:stretch>
            <a:fillRect/>
          </a:stretch>
        </p:blipFill>
        <p:spPr bwMode="auto">
          <a:xfrm>
            <a:off x="1334095" y="2610523"/>
            <a:ext cx="2018109" cy="232886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6278302"/>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B93D5D-0079-4921-99FD-C047649604D7}"/>
              </a:ext>
            </a:extLst>
          </p:cNvPr>
          <p:cNvSpPr>
            <a:spLocks noGrp="1"/>
          </p:cNvSpPr>
          <p:nvPr>
            <p:ph type="title"/>
          </p:nvPr>
        </p:nvSpPr>
        <p:spPr/>
        <p:txBody>
          <a:bodyPr/>
          <a:lstStyle/>
          <a:p>
            <a:pPr algn="ctr"/>
            <a:r>
              <a:rPr lang="zh-CN" altLang="en-US" dirty="0"/>
              <a:t>新技术</a:t>
            </a:r>
          </a:p>
        </p:txBody>
      </p:sp>
      <p:sp>
        <p:nvSpPr>
          <p:cNvPr id="3" name="内容占位符 2">
            <a:extLst>
              <a:ext uri="{FF2B5EF4-FFF2-40B4-BE49-F238E27FC236}">
                <a16:creationId xmlns:a16="http://schemas.microsoft.com/office/drawing/2014/main" id="{EE3D6E58-E758-471F-9CE3-5FF9D1309EF3}"/>
              </a:ext>
            </a:extLst>
          </p:cNvPr>
          <p:cNvSpPr>
            <a:spLocks noGrp="1"/>
          </p:cNvSpPr>
          <p:nvPr>
            <p:ph idx="1"/>
          </p:nvPr>
        </p:nvSpPr>
        <p:spPr/>
        <p:txBody>
          <a:bodyPr/>
          <a:lstStyle/>
          <a:p>
            <a:r>
              <a:rPr lang="zh-CN" altLang="en-US" b="1" dirty="0"/>
              <a:t>针对数据中心</a:t>
            </a:r>
          </a:p>
          <a:p>
            <a:pPr lvl="1"/>
            <a:r>
              <a:rPr lang="zh-CN" altLang="en-US" dirty="0"/>
              <a:t>微型数据中心</a:t>
            </a:r>
          </a:p>
          <a:p>
            <a:pPr lvl="1"/>
            <a:r>
              <a:rPr lang="zh-CN" altLang="en-US" dirty="0"/>
              <a:t>台式数据中心</a:t>
            </a:r>
          </a:p>
          <a:p>
            <a:endParaRPr lang="zh-CN" altLang="en-US" dirty="0"/>
          </a:p>
        </p:txBody>
      </p:sp>
      <p:pic>
        <p:nvPicPr>
          <p:cNvPr id="4" name="Picture 2" descr="http://www.rz-products.com/en/images/Artikelbild/mini-data-center.jpg">
            <a:extLst>
              <a:ext uri="{FF2B5EF4-FFF2-40B4-BE49-F238E27FC236}">
                <a16:creationId xmlns:a16="http://schemas.microsoft.com/office/drawing/2014/main" id="{7778CAF1-4DFB-4E38-A587-D357134290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9529" y="2151460"/>
            <a:ext cx="2195513" cy="238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67918354-B251-499C-9D2F-BA9D29FC08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2165748"/>
            <a:ext cx="3034903"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虚尾箭头 17">
            <a:extLst>
              <a:ext uri="{FF2B5EF4-FFF2-40B4-BE49-F238E27FC236}">
                <a16:creationId xmlns:a16="http://schemas.microsoft.com/office/drawing/2014/main" id="{94D2A260-E5BD-43A4-9C07-D7E6E6AEAD86}"/>
              </a:ext>
            </a:extLst>
          </p:cNvPr>
          <p:cNvSpPr/>
          <p:nvPr/>
        </p:nvSpPr>
        <p:spPr bwMode="auto">
          <a:xfrm>
            <a:off x="4566567" y="2969027"/>
            <a:ext cx="671513" cy="596101"/>
          </a:xfrm>
          <a:prstGeom prst="stripedRightArrow">
            <a:avLst/>
          </a:prstGeom>
          <a:solidFill>
            <a:srgbClr val="666699"/>
          </a:solidFill>
          <a:ln w="9525" cap="flat" cmpd="sng" algn="ctr">
            <a:solidFill>
              <a:srgbClr val="000000"/>
            </a:solidFill>
            <a:prstDash val="solid"/>
            <a:round/>
            <a:headEnd type="none" w="med" len="med"/>
            <a:tailEnd type="none" w="med" len="med"/>
          </a:ln>
          <a:effectLst/>
        </p:spPr>
        <p:txBody>
          <a:bodyPr anchor="ctr">
            <a:spAutoFit/>
          </a:bodyPr>
          <a:lstStyle/>
          <a:p>
            <a:pPr marL="0" marR="0" lvl="0" indent="0" algn="ctr" defTabSz="914400" eaLnBrk="0" fontAlgn="auto" latinLnBrk="0" hangingPunct="0">
              <a:lnSpc>
                <a:spcPct val="100000"/>
              </a:lnSpc>
              <a:spcBef>
                <a:spcPct val="0"/>
              </a:spcBef>
              <a:spcAft>
                <a:spcPts val="0"/>
              </a:spcAft>
              <a:buClrTx/>
              <a:buSzTx/>
              <a:buFontTx/>
              <a:buNone/>
              <a:tabLst/>
              <a:defRPr/>
            </a:pPr>
            <a:endParaRPr kumimoji="0" lang="zh-CN" altLang="en-US" sz="1350" b="0" i="0" u="none" strike="noStrike" kern="0" cap="none" spc="0" normalizeH="0" baseline="0" noProof="0">
              <a:ln>
                <a:noFill/>
              </a:ln>
              <a:solidFill>
                <a:srgbClr val="000000"/>
              </a:solidFill>
              <a:effectLst/>
              <a:uLnTx/>
              <a:uFillTx/>
              <a:latin typeface="Helvetica" panose="020B0604020202020204" pitchFamily="34" charset="0"/>
            </a:endParaRPr>
          </a:p>
        </p:txBody>
      </p:sp>
    </p:spTree>
    <p:extLst>
      <p:ext uri="{BB962C8B-B14F-4D97-AF65-F5344CB8AC3E}">
        <p14:creationId xmlns:p14="http://schemas.microsoft.com/office/powerpoint/2010/main" val="2936878410"/>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67FC59-E214-492B-A50E-72E8CEC73427}"/>
              </a:ext>
            </a:extLst>
          </p:cNvPr>
          <p:cNvSpPr>
            <a:spLocks noGrp="1"/>
          </p:cNvSpPr>
          <p:nvPr>
            <p:ph type="title"/>
          </p:nvPr>
        </p:nvSpPr>
        <p:spPr/>
        <p:txBody>
          <a:bodyPr/>
          <a:lstStyle/>
          <a:p>
            <a:pPr algn="ctr"/>
            <a:r>
              <a:rPr lang="zh-CN" altLang="en-US" dirty="0"/>
              <a:t>云存储（</a:t>
            </a:r>
            <a:r>
              <a:rPr lang="en-US" altLang="zh-CN" dirty="0"/>
              <a:t>cloud storage</a:t>
            </a:r>
            <a:r>
              <a:rPr lang="zh-CN" altLang="en-US" dirty="0"/>
              <a:t>）</a:t>
            </a:r>
          </a:p>
        </p:txBody>
      </p:sp>
      <p:sp>
        <p:nvSpPr>
          <p:cNvPr id="3" name="内容占位符 2">
            <a:extLst>
              <a:ext uri="{FF2B5EF4-FFF2-40B4-BE49-F238E27FC236}">
                <a16:creationId xmlns:a16="http://schemas.microsoft.com/office/drawing/2014/main" id="{F4AA421B-A8CE-4593-9F8E-5F494911EE0A}"/>
              </a:ext>
            </a:extLst>
          </p:cNvPr>
          <p:cNvSpPr>
            <a:spLocks noGrp="1"/>
          </p:cNvSpPr>
          <p:nvPr>
            <p:ph idx="1"/>
          </p:nvPr>
        </p:nvSpPr>
        <p:spPr>
          <a:xfrm>
            <a:off x="251520" y="789553"/>
            <a:ext cx="8064896" cy="3805070"/>
          </a:xfrm>
        </p:spPr>
        <p:txBody>
          <a:bodyPr/>
          <a:lstStyle/>
          <a:p>
            <a:pPr>
              <a:spcBef>
                <a:spcPts val="600"/>
              </a:spcBef>
            </a:pPr>
            <a:r>
              <a:rPr lang="zh-CN" altLang="en-US" sz="1800" dirty="0"/>
              <a:t>云存储是云计算的存储部分，即虚拟化的、易于扩展的存储资源池。用户通过云计算使用存储资源池，但不是所有的云计算的存储部分都是可以分离的。</a:t>
            </a:r>
          </a:p>
          <a:p>
            <a:pPr>
              <a:spcBef>
                <a:spcPts val="600"/>
              </a:spcBef>
            </a:pPr>
            <a:r>
              <a:rPr lang="zh-CN" altLang="en-US" sz="1800" dirty="0"/>
              <a:t>云存储意味着存储可以作为一种服务，通过网络提供给用户。用户可通过若干种方式使用存储，按使用（时间、空间或两者结合）付费：</a:t>
            </a:r>
          </a:p>
          <a:p>
            <a:pPr lvl="1">
              <a:spcBef>
                <a:spcPts val="600"/>
              </a:spcBef>
            </a:pPr>
            <a:r>
              <a:rPr lang="zh-CN" altLang="en-US" sz="1600" dirty="0"/>
              <a:t>通过互联网开放接口（如</a:t>
            </a:r>
            <a:r>
              <a:rPr lang="en-US" altLang="zh-CN" sz="1600" dirty="0"/>
              <a:t>REST</a:t>
            </a:r>
            <a:r>
              <a:rPr lang="zh-CN" altLang="en-US" sz="1600" dirty="0"/>
              <a:t>），使得第三方网站可以通过云存储提供的服务为用户提供完整的</a:t>
            </a:r>
            <a:r>
              <a:rPr lang="en-US" altLang="zh-CN" sz="1600" dirty="0"/>
              <a:t>Web</a:t>
            </a:r>
            <a:r>
              <a:rPr lang="zh-CN" altLang="en-US" sz="1600" dirty="0"/>
              <a:t>服务；</a:t>
            </a:r>
          </a:p>
          <a:p>
            <a:pPr lvl="1">
              <a:spcBef>
                <a:spcPts val="600"/>
              </a:spcBef>
            </a:pPr>
            <a:r>
              <a:rPr lang="zh-CN" altLang="en-US" sz="1600" dirty="0"/>
              <a:t>用户直接使用存储相关的在线服务，比如网络硬盘，在线存储，在线备份，或在线归档等服务；</a:t>
            </a:r>
          </a:p>
          <a:p>
            <a:pPr lvl="1">
              <a:spcBef>
                <a:spcPts val="600"/>
              </a:spcBef>
            </a:pPr>
            <a:r>
              <a:rPr lang="zh-CN" altLang="en-US" sz="1600" dirty="0"/>
              <a:t>用户传送文件、或者服务商发布内容时的缓冲</a:t>
            </a:r>
          </a:p>
        </p:txBody>
      </p:sp>
    </p:spTree>
    <p:extLst>
      <p:ext uri="{BB962C8B-B14F-4D97-AF65-F5344CB8AC3E}">
        <p14:creationId xmlns:p14="http://schemas.microsoft.com/office/powerpoint/2010/main" val="2502423160"/>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629653-F2E4-47F7-BC85-981362D39DD6}"/>
              </a:ext>
            </a:extLst>
          </p:cNvPr>
          <p:cNvSpPr>
            <a:spLocks noGrp="1"/>
          </p:cNvSpPr>
          <p:nvPr>
            <p:ph type="title"/>
          </p:nvPr>
        </p:nvSpPr>
        <p:spPr/>
        <p:txBody>
          <a:bodyPr/>
          <a:lstStyle/>
          <a:p>
            <a:pPr algn="ctr"/>
            <a:r>
              <a:rPr lang="zh-CN" altLang="en-US" dirty="0"/>
              <a:t>云存储（</a:t>
            </a:r>
            <a:r>
              <a:rPr lang="en-US" altLang="zh-CN" dirty="0"/>
              <a:t>cloud storage</a:t>
            </a:r>
            <a:r>
              <a:rPr lang="zh-CN" altLang="en-US" dirty="0"/>
              <a:t>）</a:t>
            </a:r>
          </a:p>
        </p:txBody>
      </p:sp>
      <p:sp>
        <p:nvSpPr>
          <p:cNvPr id="3" name="内容占位符 2">
            <a:extLst>
              <a:ext uri="{FF2B5EF4-FFF2-40B4-BE49-F238E27FC236}">
                <a16:creationId xmlns:a16="http://schemas.microsoft.com/office/drawing/2014/main" id="{1AE30B76-51B9-451B-B4F0-DCAC83AAD30C}"/>
              </a:ext>
            </a:extLst>
          </p:cNvPr>
          <p:cNvSpPr>
            <a:spLocks noGrp="1"/>
          </p:cNvSpPr>
          <p:nvPr>
            <p:ph idx="1"/>
          </p:nvPr>
        </p:nvSpPr>
        <p:spPr/>
        <p:txBody>
          <a:bodyPr/>
          <a:lstStyle/>
          <a:p>
            <a:r>
              <a:rPr lang="zh-CN" altLang="en-US" sz="2000" dirty="0"/>
              <a:t>云存储在云计算 </a:t>
            </a:r>
            <a:r>
              <a:rPr lang="en-US" altLang="zh-CN" sz="2000" dirty="0"/>
              <a:t>(cloud computing)</a:t>
            </a:r>
            <a:r>
              <a:rPr lang="zh-CN" altLang="en-US" sz="2000" dirty="0"/>
              <a:t>概念上延伸和发展出来的概念</a:t>
            </a:r>
          </a:p>
          <a:p>
            <a:pPr lvl="1"/>
            <a:r>
              <a:rPr lang="zh-CN" altLang="en-US" sz="1600" dirty="0"/>
              <a:t>云计算是分布式处理</a:t>
            </a:r>
            <a:r>
              <a:rPr lang="en-US" altLang="zh-CN" sz="1600" dirty="0"/>
              <a:t>(Distributed Computing)</a:t>
            </a:r>
            <a:r>
              <a:rPr lang="zh-CN" altLang="en-US" sz="1600" dirty="0"/>
              <a:t>、并行处理</a:t>
            </a:r>
            <a:r>
              <a:rPr lang="en-US" altLang="zh-CN" sz="1600" dirty="0"/>
              <a:t>(Parallel Computing)</a:t>
            </a:r>
            <a:r>
              <a:rPr lang="zh-CN" altLang="en-US" sz="1600" dirty="0"/>
              <a:t>和网格计算</a:t>
            </a:r>
            <a:r>
              <a:rPr lang="en-US" altLang="zh-CN" sz="1600" dirty="0"/>
              <a:t>(Grid Computing)</a:t>
            </a:r>
            <a:r>
              <a:rPr lang="zh-CN" altLang="en-US" sz="1600" dirty="0"/>
              <a:t>的发展，是透过网络将庞大的计算处理程序自动分拆成无数个较小的子程序，再交由多部服务器所组成的庞大系统经计算分析之后将处理结果回传给用户。通过云计算技术，网络服务提供者可以在数秒之内，处理数以千万计甚至亿计的信息，达到和”超级计算机”同样强大的网络服务</a:t>
            </a:r>
          </a:p>
          <a:p>
            <a:pPr lvl="1"/>
            <a:r>
              <a:rPr lang="zh-CN" altLang="en-US" sz="1600" dirty="0"/>
              <a:t>云存储的概念与云计算类似，它是指通过集群应用、网格技术或分布式文件系统等功能，将网络中大量各种不同类型的存储设备通过应用软件集合起来协同工作，共同对外提供数据存储和业务访问功能的一个系统</a:t>
            </a:r>
          </a:p>
          <a:p>
            <a:pPr lvl="1"/>
            <a:r>
              <a:rPr lang="zh-CN" altLang="en-US" sz="1600" dirty="0"/>
              <a:t>云存储对使用者来讲，不是指某一个具体设备，而是指一个由许许多多个存储设备和服务器所构成的集合体。使用者使用云存储，并不是使用某一个存储设备，而是使用整个云存储系统带来的一种数据访问服务。所以严格来讲，云存储不是存储，而是一种服务！</a:t>
            </a:r>
          </a:p>
          <a:p>
            <a:endParaRPr lang="zh-CN" altLang="en-US" sz="2000" dirty="0"/>
          </a:p>
        </p:txBody>
      </p:sp>
    </p:spTree>
    <p:extLst>
      <p:ext uri="{BB962C8B-B14F-4D97-AF65-F5344CB8AC3E}">
        <p14:creationId xmlns:p14="http://schemas.microsoft.com/office/powerpoint/2010/main" val="331473144"/>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2770B7-BD41-4555-8A3E-5B3011C3C359}"/>
              </a:ext>
            </a:extLst>
          </p:cNvPr>
          <p:cNvSpPr>
            <a:spLocks noGrp="1"/>
          </p:cNvSpPr>
          <p:nvPr>
            <p:ph type="title"/>
          </p:nvPr>
        </p:nvSpPr>
        <p:spPr/>
        <p:txBody>
          <a:bodyPr/>
          <a:lstStyle/>
          <a:p>
            <a:pPr algn="ctr"/>
            <a:r>
              <a:rPr lang="zh-CN" altLang="en-US" dirty="0"/>
              <a:t>云存储（</a:t>
            </a:r>
            <a:r>
              <a:rPr lang="en-US" altLang="zh-CN" dirty="0"/>
              <a:t>cloud storage</a:t>
            </a:r>
            <a:r>
              <a:rPr lang="zh-CN" altLang="en-US" dirty="0"/>
              <a:t>）</a:t>
            </a:r>
          </a:p>
        </p:txBody>
      </p:sp>
      <p:pic>
        <p:nvPicPr>
          <p:cNvPr id="4" name="Picture 4" descr="http://www.sansky.net/files/2008/11/122581812483-clip-image003.jpg">
            <a:extLst>
              <a:ext uri="{FF2B5EF4-FFF2-40B4-BE49-F238E27FC236}">
                <a16:creationId xmlns:a16="http://schemas.microsoft.com/office/drawing/2014/main" id="{D93067A7-9347-45DA-B633-32B0E38C9E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059582"/>
            <a:ext cx="6616304" cy="344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5676673"/>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928693-48AD-446B-A601-1D3E60204A6A}"/>
              </a:ext>
            </a:extLst>
          </p:cNvPr>
          <p:cNvSpPr>
            <a:spLocks noGrp="1"/>
          </p:cNvSpPr>
          <p:nvPr>
            <p:ph type="title"/>
          </p:nvPr>
        </p:nvSpPr>
        <p:spPr/>
        <p:txBody>
          <a:bodyPr/>
          <a:lstStyle/>
          <a:p>
            <a:pPr algn="ctr"/>
            <a:r>
              <a:rPr lang="zh-CN" altLang="en-US" dirty="0"/>
              <a:t>云存储（</a:t>
            </a:r>
            <a:r>
              <a:rPr lang="en-US" altLang="zh-CN" dirty="0"/>
              <a:t>cloud storage</a:t>
            </a:r>
            <a:r>
              <a:rPr lang="zh-CN" altLang="en-US" dirty="0"/>
              <a:t>）</a:t>
            </a:r>
          </a:p>
        </p:txBody>
      </p:sp>
      <p:sp>
        <p:nvSpPr>
          <p:cNvPr id="3" name="内容占位符 2">
            <a:extLst>
              <a:ext uri="{FF2B5EF4-FFF2-40B4-BE49-F238E27FC236}">
                <a16:creationId xmlns:a16="http://schemas.microsoft.com/office/drawing/2014/main" id="{FAAE06C4-6152-4BD2-9222-543A7CBEA313}"/>
              </a:ext>
            </a:extLst>
          </p:cNvPr>
          <p:cNvSpPr>
            <a:spLocks noGrp="1"/>
          </p:cNvSpPr>
          <p:nvPr>
            <p:ph idx="1"/>
          </p:nvPr>
        </p:nvSpPr>
        <p:spPr/>
        <p:txBody>
          <a:bodyPr/>
          <a:lstStyle/>
          <a:p>
            <a:r>
              <a:rPr lang="zh-CN" altLang="en-US" sz="2000" dirty="0"/>
              <a:t>与传统存储设备相比，云存储不仅仅是一个硬件，而是一个网络设备、存储设备、服务器、应用软件、公用访问接口、接入网、和客户端程序等多个部分组成的复杂系统。各部分以存储设备为核心，通过应用软件来对外提供数据存储和业务访问服务</a:t>
            </a:r>
          </a:p>
          <a:p>
            <a:r>
              <a:rPr lang="zh-CN" altLang="en-US" sz="2000" dirty="0"/>
              <a:t>云存储系统的结构模型由 </a:t>
            </a:r>
            <a:r>
              <a:rPr lang="en-US" altLang="zh-CN" sz="2000" dirty="0"/>
              <a:t>4</a:t>
            </a:r>
            <a:r>
              <a:rPr lang="zh-CN" altLang="en-US" sz="2000" dirty="0"/>
              <a:t>层组成</a:t>
            </a:r>
          </a:p>
          <a:p>
            <a:pPr lvl="1"/>
            <a:r>
              <a:rPr lang="zh-CN" altLang="en-US" sz="1600" dirty="0"/>
              <a:t>存储层是云存储最基础的部分</a:t>
            </a:r>
          </a:p>
          <a:p>
            <a:pPr lvl="1"/>
            <a:r>
              <a:rPr lang="zh-CN" altLang="en-US" sz="1600" dirty="0"/>
              <a:t>基础管理层是云存储最核心部分，也是最难实现的部分</a:t>
            </a:r>
          </a:p>
          <a:p>
            <a:pPr lvl="1"/>
            <a:r>
              <a:rPr lang="zh-CN" altLang="en-US" sz="1600" dirty="0"/>
              <a:t>应用接口层是云存储最灵活多变的部分</a:t>
            </a:r>
          </a:p>
          <a:p>
            <a:pPr lvl="1"/>
            <a:r>
              <a:rPr lang="zh-CN" altLang="en-US" sz="1600" dirty="0"/>
              <a:t>访问层</a:t>
            </a:r>
          </a:p>
          <a:p>
            <a:endParaRPr lang="zh-CN" altLang="en-US" sz="2000" dirty="0"/>
          </a:p>
        </p:txBody>
      </p:sp>
    </p:spTree>
    <p:extLst>
      <p:ext uri="{BB962C8B-B14F-4D97-AF65-F5344CB8AC3E}">
        <p14:creationId xmlns:p14="http://schemas.microsoft.com/office/powerpoint/2010/main" val="751566253"/>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9CAD76-FF13-4EA7-B001-D60018FBA6E4}"/>
              </a:ext>
            </a:extLst>
          </p:cNvPr>
          <p:cNvSpPr>
            <a:spLocks noGrp="1"/>
          </p:cNvSpPr>
          <p:nvPr>
            <p:ph type="title"/>
          </p:nvPr>
        </p:nvSpPr>
        <p:spPr/>
        <p:txBody>
          <a:bodyPr/>
          <a:lstStyle/>
          <a:p>
            <a:pPr algn="ctr"/>
            <a:r>
              <a:rPr lang="zh-CN" altLang="en-US" dirty="0"/>
              <a:t>云存储（</a:t>
            </a:r>
            <a:r>
              <a:rPr lang="en-US" altLang="zh-CN" dirty="0"/>
              <a:t>cloud storage</a:t>
            </a:r>
            <a:r>
              <a:rPr lang="zh-CN" altLang="en-US" dirty="0"/>
              <a:t>）</a:t>
            </a:r>
          </a:p>
        </p:txBody>
      </p:sp>
      <p:sp>
        <p:nvSpPr>
          <p:cNvPr id="3" name="内容占位符 2">
            <a:extLst>
              <a:ext uri="{FF2B5EF4-FFF2-40B4-BE49-F238E27FC236}">
                <a16:creationId xmlns:a16="http://schemas.microsoft.com/office/drawing/2014/main" id="{342B02B4-940C-4881-B392-75BE5FA08309}"/>
              </a:ext>
            </a:extLst>
          </p:cNvPr>
          <p:cNvSpPr>
            <a:spLocks noGrp="1"/>
          </p:cNvSpPr>
          <p:nvPr>
            <p:ph idx="1"/>
          </p:nvPr>
        </p:nvSpPr>
        <p:spPr>
          <a:xfrm>
            <a:off x="179512" y="843558"/>
            <a:ext cx="8568952" cy="3805070"/>
          </a:xfrm>
        </p:spPr>
        <p:txBody>
          <a:bodyPr/>
          <a:lstStyle/>
          <a:p>
            <a:pPr>
              <a:spcBef>
                <a:spcPts val="600"/>
              </a:spcBef>
            </a:pPr>
            <a:r>
              <a:rPr lang="zh-CN" altLang="en-US" sz="1600" dirty="0"/>
              <a:t>云存储系统的结构模型由 </a:t>
            </a:r>
            <a:r>
              <a:rPr lang="en-US" altLang="zh-CN" sz="1600" dirty="0"/>
              <a:t>4</a:t>
            </a:r>
            <a:r>
              <a:rPr lang="zh-CN" altLang="en-US" sz="1600" dirty="0"/>
              <a:t>层组成：存储层、基础管理层、应用接口层、访问层</a:t>
            </a:r>
          </a:p>
          <a:p>
            <a:pPr>
              <a:spcBef>
                <a:spcPts val="600"/>
              </a:spcBef>
            </a:pPr>
            <a:r>
              <a:rPr lang="zh-CN" altLang="en-US" sz="1600" b="1" dirty="0"/>
              <a:t>存储层</a:t>
            </a:r>
          </a:p>
          <a:p>
            <a:pPr lvl="1">
              <a:spcBef>
                <a:spcPts val="600"/>
              </a:spcBef>
            </a:pPr>
            <a:r>
              <a:rPr lang="zh-CN" altLang="en-US" sz="1400" dirty="0"/>
              <a:t>存储层是云存储最基础的部分。存储设备可以是</a:t>
            </a:r>
            <a:r>
              <a:rPr lang="en-US" altLang="zh-CN" sz="1400" dirty="0"/>
              <a:t>FC</a:t>
            </a:r>
            <a:r>
              <a:rPr lang="zh-CN" altLang="en-US" sz="1400" dirty="0"/>
              <a:t>光纤通道存储设备，可以是</a:t>
            </a:r>
            <a:r>
              <a:rPr lang="en-US" altLang="zh-CN" sz="1400" dirty="0"/>
              <a:t>NAS</a:t>
            </a:r>
            <a:r>
              <a:rPr lang="zh-CN" altLang="en-US" sz="1400" dirty="0"/>
              <a:t>和 </a:t>
            </a:r>
            <a:r>
              <a:rPr lang="en-US" altLang="zh-CN" sz="1400" dirty="0"/>
              <a:t>iSCSI</a:t>
            </a:r>
            <a:r>
              <a:rPr lang="zh-CN" altLang="en-US" sz="1400" dirty="0"/>
              <a:t>等</a:t>
            </a:r>
            <a:r>
              <a:rPr lang="en-US" altLang="zh-CN" sz="1400" dirty="0"/>
              <a:t>IP</a:t>
            </a:r>
            <a:r>
              <a:rPr lang="zh-CN" altLang="en-US" sz="1400" dirty="0"/>
              <a:t>存储设备，也可以是 </a:t>
            </a:r>
            <a:r>
              <a:rPr lang="en-US" altLang="zh-CN" sz="1400" dirty="0"/>
              <a:t>SCSI</a:t>
            </a:r>
            <a:r>
              <a:rPr lang="zh-CN" altLang="en-US" sz="1400" dirty="0"/>
              <a:t>或</a:t>
            </a:r>
            <a:r>
              <a:rPr lang="en-US" altLang="zh-CN" sz="1400" dirty="0"/>
              <a:t>SAS</a:t>
            </a:r>
            <a:r>
              <a:rPr lang="zh-CN" altLang="en-US" sz="1400" dirty="0"/>
              <a:t>等 </a:t>
            </a:r>
            <a:r>
              <a:rPr lang="en-US" altLang="zh-CN" sz="1400" dirty="0"/>
              <a:t>DAS</a:t>
            </a:r>
            <a:r>
              <a:rPr lang="zh-CN" altLang="en-US" sz="1400" dirty="0"/>
              <a:t>存储设备。云存储中的存储设备往往数量庞大且分布多不同地域，彼此之间通过广域网、互联网或者 </a:t>
            </a:r>
            <a:r>
              <a:rPr lang="en-US" altLang="zh-CN" sz="1400" dirty="0"/>
              <a:t>FC</a:t>
            </a:r>
            <a:r>
              <a:rPr lang="zh-CN" altLang="en-US" sz="1400" dirty="0"/>
              <a:t>光纤通道网络连接在一起</a:t>
            </a:r>
          </a:p>
          <a:p>
            <a:pPr lvl="1">
              <a:spcBef>
                <a:spcPts val="600"/>
              </a:spcBef>
            </a:pPr>
            <a:r>
              <a:rPr lang="zh-CN" altLang="en-US" sz="1400" dirty="0"/>
              <a:t>存储设备之上是一个统一存储设备管理系统，可以实现存储设备的逻辑虚拟化管理、多链路冗余管理，以及硬件设备的状态监控和故障维护</a:t>
            </a:r>
          </a:p>
          <a:p>
            <a:r>
              <a:rPr lang="zh-CN" altLang="en-US" sz="1600" b="1" dirty="0"/>
              <a:t>基础管理层</a:t>
            </a:r>
          </a:p>
          <a:p>
            <a:pPr lvl="1"/>
            <a:r>
              <a:rPr lang="zh-CN" altLang="en-US" sz="1400" dirty="0"/>
              <a:t>基础管理层是云存储最核心的部分，也是云存储中最难以实现的部分。基础管理层通过集群、分布式文件系统和网格计算等技术，实现云存储中多个存储设备之间的协同工作，使多个的存储设备可以对外提供同一种服务，并提供更大更强更好的数据访问性能</a:t>
            </a:r>
          </a:p>
          <a:p>
            <a:pPr lvl="1"/>
            <a:r>
              <a:rPr lang="en-US" altLang="zh-CN" sz="1400" dirty="0"/>
              <a:t>CDN</a:t>
            </a:r>
            <a:r>
              <a:rPr lang="zh-CN" altLang="en-US" sz="1400" dirty="0"/>
              <a:t>内容分发系统、数据加密技术保证云存储中的数据不会被未授权的用户所访问，同时，通过各种数据备份和容灾技术和措施可以保证云存储中的数据不会丢失，保证云存储自身的安全和稳定</a:t>
            </a:r>
          </a:p>
          <a:p>
            <a:pPr>
              <a:spcBef>
                <a:spcPts val="600"/>
              </a:spcBef>
            </a:pPr>
            <a:endParaRPr lang="zh-CN" altLang="en-US" sz="1600" dirty="0"/>
          </a:p>
        </p:txBody>
      </p:sp>
    </p:spTree>
    <p:extLst>
      <p:ext uri="{BB962C8B-B14F-4D97-AF65-F5344CB8AC3E}">
        <p14:creationId xmlns:p14="http://schemas.microsoft.com/office/powerpoint/2010/main" val="664718001"/>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258059-14B6-45B6-A3AD-9FF2D92A5DFA}"/>
              </a:ext>
            </a:extLst>
          </p:cNvPr>
          <p:cNvSpPr>
            <a:spLocks noGrp="1"/>
          </p:cNvSpPr>
          <p:nvPr>
            <p:ph type="title"/>
          </p:nvPr>
        </p:nvSpPr>
        <p:spPr/>
        <p:txBody>
          <a:bodyPr/>
          <a:lstStyle/>
          <a:p>
            <a:pPr algn="ctr"/>
            <a:r>
              <a:rPr lang="zh-CN" altLang="en-US" dirty="0"/>
              <a:t>云存储（</a:t>
            </a:r>
            <a:r>
              <a:rPr lang="en-US" altLang="zh-CN" dirty="0"/>
              <a:t>cloud storage</a:t>
            </a:r>
            <a:r>
              <a:rPr lang="zh-CN" altLang="en-US" dirty="0"/>
              <a:t>）</a:t>
            </a:r>
          </a:p>
        </p:txBody>
      </p:sp>
      <p:sp>
        <p:nvSpPr>
          <p:cNvPr id="3" name="内容占位符 2">
            <a:extLst>
              <a:ext uri="{FF2B5EF4-FFF2-40B4-BE49-F238E27FC236}">
                <a16:creationId xmlns:a16="http://schemas.microsoft.com/office/drawing/2014/main" id="{0A920B14-0ACA-47DF-B6CE-0EAAF3030614}"/>
              </a:ext>
            </a:extLst>
          </p:cNvPr>
          <p:cNvSpPr>
            <a:spLocks noGrp="1"/>
          </p:cNvSpPr>
          <p:nvPr>
            <p:ph idx="1"/>
          </p:nvPr>
        </p:nvSpPr>
        <p:spPr/>
        <p:txBody>
          <a:bodyPr/>
          <a:lstStyle/>
          <a:p>
            <a:pPr>
              <a:spcBef>
                <a:spcPts val="600"/>
              </a:spcBef>
            </a:pPr>
            <a:r>
              <a:rPr lang="zh-CN" altLang="en-US" sz="2000" b="1" dirty="0"/>
              <a:t>应用接口层</a:t>
            </a:r>
          </a:p>
          <a:p>
            <a:pPr lvl="1">
              <a:spcBef>
                <a:spcPts val="600"/>
              </a:spcBef>
            </a:pPr>
            <a:r>
              <a:rPr lang="zh-CN" altLang="en-US" sz="1800" dirty="0"/>
              <a:t>应用接口层是云存储最灵活多变的部分。不同的云存储运营单位可根据实际业务类型，开发不同的应用服务接口，提供不同的应用服务。比如视频监控应用平台、</a:t>
            </a:r>
            <a:r>
              <a:rPr lang="en-US" altLang="zh-CN" sz="1800" dirty="0"/>
              <a:t>IPTV</a:t>
            </a:r>
            <a:r>
              <a:rPr lang="zh-CN" altLang="en-US" sz="1800" dirty="0"/>
              <a:t>和视频点播应用平台、网络硬盘应用平台，远程数据备份应用平台等</a:t>
            </a:r>
          </a:p>
          <a:p>
            <a:pPr>
              <a:spcBef>
                <a:spcPts val="600"/>
              </a:spcBef>
            </a:pPr>
            <a:r>
              <a:rPr lang="zh-CN" altLang="en-US" sz="2000" b="1" dirty="0"/>
              <a:t>访问层</a:t>
            </a:r>
          </a:p>
          <a:p>
            <a:pPr lvl="1">
              <a:spcBef>
                <a:spcPts val="600"/>
              </a:spcBef>
            </a:pPr>
            <a:r>
              <a:rPr lang="zh-CN" altLang="en-US" sz="1800" dirty="0"/>
              <a:t>任何一个授权用户都可以通过标准的公用应用接口来登录云存储系统，享受云存储服务。云存储运营单位不同，云存储提供的访问类型和访问手段也不同</a:t>
            </a:r>
          </a:p>
          <a:p>
            <a:pPr>
              <a:spcBef>
                <a:spcPts val="600"/>
              </a:spcBef>
            </a:pPr>
            <a:endParaRPr lang="zh-CN" altLang="en-US" sz="2000" dirty="0"/>
          </a:p>
        </p:txBody>
      </p:sp>
    </p:spTree>
    <p:extLst>
      <p:ext uri="{BB962C8B-B14F-4D97-AF65-F5344CB8AC3E}">
        <p14:creationId xmlns:p14="http://schemas.microsoft.com/office/powerpoint/2010/main" val="2373184938"/>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3CB744-E04F-4A67-821D-7D04FE31778A}"/>
              </a:ext>
            </a:extLst>
          </p:cNvPr>
          <p:cNvSpPr>
            <a:spLocks noGrp="1"/>
          </p:cNvSpPr>
          <p:nvPr>
            <p:ph type="title"/>
          </p:nvPr>
        </p:nvSpPr>
        <p:spPr/>
        <p:txBody>
          <a:bodyPr/>
          <a:lstStyle/>
          <a:p>
            <a:pPr algn="ctr"/>
            <a:r>
              <a:rPr lang="zh-CN" altLang="en-US" dirty="0"/>
              <a:t>云存储（</a:t>
            </a:r>
            <a:r>
              <a:rPr lang="en-US" altLang="zh-CN" dirty="0"/>
              <a:t>cloud storage</a:t>
            </a:r>
            <a:r>
              <a:rPr lang="zh-CN" altLang="en-US" dirty="0"/>
              <a:t>）</a:t>
            </a:r>
          </a:p>
        </p:txBody>
      </p:sp>
      <p:sp>
        <p:nvSpPr>
          <p:cNvPr id="3" name="内容占位符 2">
            <a:extLst>
              <a:ext uri="{FF2B5EF4-FFF2-40B4-BE49-F238E27FC236}">
                <a16:creationId xmlns:a16="http://schemas.microsoft.com/office/drawing/2014/main" id="{F190C376-CC50-48F9-8411-002927AAE411}"/>
              </a:ext>
            </a:extLst>
          </p:cNvPr>
          <p:cNvSpPr>
            <a:spLocks noGrp="1"/>
          </p:cNvSpPr>
          <p:nvPr>
            <p:ph idx="1"/>
          </p:nvPr>
        </p:nvSpPr>
        <p:spPr>
          <a:xfrm>
            <a:off x="251520" y="789553"/>
            <a:ext cx="8712968" cy="3805070"/>
          </a:xfrm>
        </p:spPr>
        <p:txBody>
          <a:bodyPr/>
          <a:lstStyle/>
          <a:p>
            <a:r>
              <a:rPr lang="zh-CN" altLang="en-US" sz="2000" dirty="0"/>
              <a:t>云存储系统是多设备、多应用、多服务协同工作集合体，其技术前提：</a:t>
            </a:r>
          </a:p>
          <a:p>
            <a:pPr lvl="1"/>
            <a:r>
              <a:rPr lang="zh-CN" altLang="en-US" sz="1800" dirty="0"/>
              <a:t>云存储系统是多设备、多应用、多服务协同工作的集合体</a:t>
            </a:r>
          </a:p>
          <a:p>
            <a:pPr lvl="1"/>
            <a:r>
              <a:rPr lang="en-US" altLang="zh-CN" sz="1800" dirty="0"/>
              <a:t>WEB2.0</a:t>
            </a:r>
            <a:r>
              <a:rPr lang="zh-CN" altLang="en-US" sz="1800" dirty="0"/>
              <a:t>技术</a:t>
            </a:r>
          </a:p>
          <a:p>
            <a:pPr lvl="1"/>
            <a:r>
              <a:rPr lang="zh-CN" altLang="en-US" sz="1800" dirty="0"/>
              <a:t>应用存储的发展</a:t>
            </a:r>
          </a:p>
          <a:p>
            <a:pPr lvl="1"/>
            <a:r>
              <a:rPr lang="zh-CN" altLang="en-US" sz="1800" dirty="0"/>
              <a:t>集群技术、网格技术和分布式文件系统</a:t>
            </a:r>
          </a:p>
          <a:p>
            <a:pPr lvl="1"/>
            <a:r>
              <a:rPr lang="en-US" altLang="zh-CN" sz="1800" dirty="0"/>
              <a:t>CDN</a:t>
            </a:r>
            <a:r>
              <a:rPr lang="zh-CN" altLang="en-US" sz="1800" dirty="0"/>
              <a:t>内容分发、</a:t>
            </a:r>
            <a:r>
              <a:rPr lang="en-US" altLang="zh-CN" sz="1800" dirty="0"/>
              <a:t>P2P</a:t>
            </a:r>
            <a:r>
              <a:rPr lang="zh-CN" altLang="en-US" sz="1800" dirty="0"/>
              <a:t>技术、数据压缩技术、重复数据删除技术、数据加密技术</a:t>
            </a:r>
          </a:p>
          <a:p>
            <a:pPr lvl="1"/>
            <a:r>
              <a:rPr lang="zh-CN" altLang="en-US" sz="1800" dirty="0"/>
              <a:t>存储虚拟化技术、存储网络化管理技术</a:t>
            </a:r>
          </a:p>
          <a:p>
            <a:endParaRPr lang="zh-CN" altLang="en-US" sz="2000" dirty="0"/>
          </a:p>
        </p:txBody>
      </p:sp>
    </p:spTree>
    <p:extLst>
      <p:ext uri="{BB962C8B-B14F-4D97-AF65-F5344CB8AC3E}">
        <p14:creationId xmlns:p14="http://schemas.microsoft.com/office/powerpoint/2010/main" val="791772914"/>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2ACE6E-D14A-42E4-89AD-F429A8E4633E}"/>
              </a:ext>
            </a:extLst>
          </p:cNvPr>
          <p:cNvSpPr>
            <a:spLocks noGrp="1"/>
          </p:cNvSpPr>
          <p:nvPr>
            <p:ph type="title"/>
          </p:nvPr>
        </p:nvSpPr>
        <p:spPr/>
        <p:txBody>
          <a:bodyPr/>
          <a:lstStyle/>
          <a:p>
            <a:pPr algn="ctr"/>
            <a:r>
              <a:rPr lang="zh-CN" altLang="en-US" dirty="0"/>
              <a:t>云存储（</a:t>
            </a:r>
            <a:r>
              <a:rPr lang="en-US" altLang="zh-CN" dirty="0"/>
              <a:t>cloud storage</a:t>
            </a:r>
            <a:r>
              <a:rPr lang="zh-CN" altLang="en-US" dirty="0"/>
              <a:t>）</a:t>
            </a:r>
          </a:p>
        </p:txBody>
      </p:sp>
      <p:sp>
        <p:nvSpPr>
          <p:cNvPr id="3" name="内容占位符 2">
            <a:extLst>
              <a:ext uri="{FF2B5EF4-FFF2-40B4-BE49-F238E27FC236}">
                <a16:creationId xmlns:a16="http://schemas.microsoft.com/office/drawing/2014/main" id="{8FDCB681-2102-4799-AB4F-D1BFD5F4D3C2}"/>
              </a:ext>
            </a:extLst>
          </p:cNvPr>
          <p:cNvSpPr>
            <a:spLocks noGrp="1"/>
          </p:cNvSpPr>
          <p:nvPr>
            <p:ph idx="1"/>
          </p:nvPr>
        </p:nvSpPr>
        <p:spPr/>
        <p:txBody>
          <a:bodyPr/>
          <a:lstStyle/>
          <a:p>
            <a:pPr>
              <a:spcBef>
                <a:spcPts val="1200"/>
              </a:spcBef>
            </a:pPr>
            <a:r>
              <a:rPr lang="zh-CN" altLang="en-US" sz="2000" dirty="0"/>
              <a:t>云存储（</a:t>
            </a:r>
            <a:r>
              <a:rPr lang="en-US" altLang="zh-CN" sz="2000" dirty="0"/>
              <a:t>cloud storage</a:t>
            </a:r>
            <a:r>
              <a:rPr lang="zh-CN" altLang="en-US" sz="2000" dirty="0"/>
              <a:t>）得到众多厂商的支持和关注</a:t>
            </a:r>
          </a:p>
          <a:p>
            <a:pPr lvl="1">
              <a:spcBef>
                <a:spcPts val="1200"/>
              </a:spcBef>
            </a:pPr>
            <a:r>
              <a:rPr lang="en-US" altLang="zh-CN" sz="1600" dirty="0"/>
              <a:t>Amazon</a:t>
            </a:r>
            <a:r>
              <a:rPr lang="zh-CN" altLang="en-US" sz="1600" dirty="0"/>
              <a:t>推出的</a:t>
            </a:r>
            <a:r>
              <a:rPr lang="en-US" altLang="zh-CN" sz="1600" dirty="0"/>
              <a:t>Elastic Compute Cloud</a:t>
            </a:r>
            <a:r>
              <a:rPr lang="zh-CN" altLang="en-US" sz="1600" dirty="0"/>
              <a:t>（</a:t>
            </a:r>
            <a:r>
              <a:rPr lang="en-US" altLang="zh-CN" sz="1600" dirty="0"/>
              <a:t>EC2</a:t>
            </a:r>
            <a:r>
              <a:rPr lang="zh-CN" altLang="en-US" sz="1600" dirty="0"/>
              <a:t>：弹性计算云）云存储产品，旨在为用户提供互联网服务形式同时提供更强的存储和计算功能</a:t>
            </a:r>
          </a:p>
          <a:p>
            <a:pPr lvl="1">
              <a:spcBef>
                <a:spcPts val="1200"/>
              </a:spcBef>
            </a:pPr>
            <a:r>
              <a:rPr lang="zh-CN" altLang="en-US" sz="1600" dirty="0"/>
              <a:t>内容分发网络服务提供商</a:t>
            </a:r>
            <a:r>
              <a:rPr lang="en-US" altLang="zh-CN" sz="1600" dirty="0" err="1"/>
              <a:t>CDNetworks</a:t>
            </a:r>
            <a:r>
              <a:rPr lang="zh-CN" altLang="en-US" sz="1600" dirty="0"/>
              <a:t>和业界著名的云存储平台服务商 </a:t>
            </a:r>
            <a:r>
              <a:rPr lang="en-US" altLang="zh-CN" sz="1600" dirty="0" err="1"/>
              <a:t>Nirvanix</a:t>
            </a:r>
            <a:r>
              <a:rPr lang="zh-CN" altLang="en-US" sz="1600" dirty="0"/>
              <a:t>发布了一项合作，并宣布结成战略伙伴关系，以提供业界的云存储和内容传送服务集成平台</a:t>
            </a:r>
          </a:p>
          <a:p>
            <a:pPr lvl="1">
              <a:spcBef>
                <a:spcPts val="1200"/>
              </a:spcBef>
            </a:pPr>
            <a:r>
              <a:rPr lang="zh-CN" altLang="en-US" sz="1600" dirty="0"/>
              <a:t>微软推出提供网络移动硬盘服务的</a:t>
            </a:r>
            <a:r>
              <a:rPr lang="en-US" altLang="zh-CN" sz="1600" dirty="0"/>
              <a:t>Windows Live SkyDrive</a:t>
            </a:r>
          </a:p>
          <a:p>
            <a:pPr lvl="1">
              <a:spcBef>
                <a:spcPts val="1200"/>
              </a:spcBef>
            </a:pPr>
            <a:r>
              <a:rPr lang="en-US" altLang="zh-CN" sz="1600" dirty="0"/>
              <a:t>EMC</a:t>
            </a:r>
            <a:r>
              <a:rPr lang="zh-CN" altLang="en-US" sz="1600" dirty="0"/>
              <a:t>加入道里可信基础架构项目，致力于云计算环境下关于信任和可靠度保证的全球研究协作</a:t>
            </a:r>
          </a:p>
          <a:p>
            <a:pPr lvl="1">
              <a:spcBef>
                <a:spcPts val="1200"/>
              </a:spcBef>
            </a:pPr>
            <a:r>
              <a:rPr lang="en-US" altLang="zh-CN" sz="1600" dirty="0"/>
              <a:t>IBM</a:t>
            </a:r>
            <a:r>
              <a:rPr lang="zh-CN" altLang="en-US" sz="1600" dirty="0"/>
              <a:t>将云计算标准作为全球备份中心的</a:t>
            </a:r>
            <a:r>
              <a:rPr lang="en-US" altLang="zh-CN" sz="1600" dirty="0"/>
              <a:t>3</a:t>
            </a:r>
            <a:r>
              <a:rPr lang="zh-CN" altLang="en-US" sz="1600" dirty="0"/>
              <a:t>亿美元扩展方案的一部分</a:t>
            </a:r>
          </a:p>
          <a:p>
            <a:pPr>
              <a:spcBef>
                <a:spcPts val="1200"/>
              </a:spcBef>
            </a:pPr>
            <a:endParaRPr lang="zh-CN" altLang="en-US" sz="2000" dirty="0"/>
          </a:p>
        </p:txBody>
      </p:sp>
    </p:spTree>
    <p:extLst>
      <p:ext uri="{BB962C8B-B14F-4D97-AF65-F5344CB8AC3E}">
        <p14:creationId xmlns:p14="http://schemas.microsoft.com/office/powerpoint/2010/main" val="475428746"/>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1995686"/>
            <a:ext cx="7386416" cy="519113"/>
          </a:xfrm>
        </p:spPr>
        <p:txBody>
          <a:bodyPr/>
          <a:lstStyle/>
          <a:p>
            <a:r>
              <a:rPr lang="en-US" altLang="zh-CN" sz="3600" dirty="0">
                <a:latin typeface="Arial" panose="020B0604020202020204" pitchFamily="34" charset="0"/>
                <a:ea typeface="宋体" pitchFamily="2" charset="-122"/>
              </a:rPr>
              <a:t>End of Chapters 12 &amp; 13</a:t>
            </a:r>
            <a:endParaRPr lang="zh-CN" altLang="en-US" sz="3600" dirty="0">
              <a:latin typeface="Arial" panose="020B0604020202020204" pitchFamily="34" charset="0"/>
            </a:endParaRPr>
          </a:p>
        </p:txBody>
      </p:sp>
    </p:spTree>
    <p:extLst>
      <p:ext uri="{BB962C8B-B14F-4D97-AF65-F5344CB8AC3E}">
        <p14:creationId xmlns:p14="http://schemas.microsoft.com/office/powerpoint/2010/main" val="667907772"/>
      </p:ext>
    </p:extLst>
  </p:cSld>
  <p:clrMapOvr>
    <a:masterClrMapping/>
  </p:clrMapOvr>
</p:sld>
</file>

<file path=ppt/theme/theme1.xml><?xml version="1.0" encoding="utf-8"?>
<a:theme xmlns:a="http://schemas.openxmlformats.org/drawingml/2006/main" name="默认设计模板">
  <a:themeElements>
    <a:clrScheme name="Office">
      <a:dk1>
        <a:sysClr val="windowText" lastClr="000000"/>
      </a:dk1>
      <a:lt1>
        <a:sysClr val="window" lastClr="CCE8C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e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36732</TotalTime>
  <Words>10512</Words>
  <Application>Microsoft Office PowerPoint</Application>
  <PresentationFormat>全屏显示(16:9)</PresentationFormat>
  <Paragraphs>808</Paragraphs>
  <Slides>105</Slides>
  <Notes>27</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0</vt:i4>
      </vt:variant>
      <vt:variant>
        <vt:lpstr>幻灯片标题</vt:lpstr>
      </vt:variant>
      <vt:variant>
        <vt:i4>105</vt:i4>
      </vt:variant>
    </vt:vector>
  </HeadingPairs>
  <TitlesOfParts>
    <vt:vector size="123" baseType="lpstr">
      <vt:lpstr>Arial Unicode MS</vt:lpstr>
      <vt:lpstr>Monotype Sorts</vt:lpstr>
      <vt:lpstr>MS PGothic</vt:lpstr>
      <vt:lpstr>黑体</vt:lpstr>
      <vt:lpstr>华文楷体</vt:lpstr>
      <vt:lpstr>华文行楷</vt:lpstr>
      <vt:lpstr>华文中宋</vt:lpstr>
      <vt:lpstr>宋体</vt:lpstr>
      <vt:lpstr>微软雅黑</vt:lpstr>
      <vt:lpstr>Arial</vt:lpstr>
      <vt:lpstr>Calibri</vt:lpstr>
      <vt:lpstr>Cambria Math</vt:lpstr>
      <vt:lpstr>Comic Sans MS</vt:lpstr>
      <vt:lpstr>Helvetica</vt:lpstr>
      <vt:lpstr>Symbol</vt:lpstr>
      <vt:lpstr>Times New Roman</vt:lpstr>
      <vt:lpstr>Trebuchet MS</vt:lpstr>
      <vt:lpstr>默认设计模板</vt:lpstr>
      <vt:lpstr>PowerPoint 演示文稿</vt:lpstr>
      <vt:lpstr>Outline</vt:lpstr>
      <vt:lpstr>Storage Hierarchy</vt:lpstr>
      <vt:lpstr>Classification of Physical Storage Media</vt:lpstr>
      <vt:lpstr>Cache &amp; Main Memory</vt:lpstr>
      <vt:lpstr>Flash Memory</vt:lpstr>
      <vt:lpstr>Magnetic Disk</vt:lpstr>
      <vt:lpstr>Optical Storage</vt:lpstr>
      <vt:lpstr>Optical Storage (续)</vt:lpstr>
      <vt:lpstr>Tape Storage</vt:lpstr>
      <vt:lpstr>Tape Storage（续）</vt:lpstr>
      <vt:lpstr>Storage Hierarchy</vt:lpstr>
      <vt:lpstr>Outline</vt:lpstr>
      <vt:lpstr>Magnetic Hard Disk Mechanism</vt:lpstr>
      <vt:lpstr>Magnetic Disks</vt:lpstr>
      <vt:lpstr>Magnetic Disks (Cont.)</vt:lpstr>
      <vt:lpstr>Disk Subsystem</vt:lpstr>
      <vt:lpstr>Performance Measures of Disks</vt:lpstr>
      <vt:lpstr>Performance Measures  (Cont.)</vt:lpstr>
      <vt:lpstr>Performance Measures (Cont.)</vt:lpstr>
      <vt:lpstr>Optimization of Disk-block Access</vt:lpstr>
      <vt:lpstr>Optimization of Disk Block Access (续)</vt:lpstr>
      <vt:lpstr>Optimization of Disk Block Access (Cont.)</vt:lpstr>
      <vt:lpstr>Optimization of Disk Block Access (Cont.)</vt:lpstr>
      <vt:lpstr>Outline</vt:lpstr>
      <vt:lpstr>RAID (独立冗余磁盘阵列)</vt:lpstr>
      <vt:lpstr>RAID (Cont.)</vt:lpstr>
      <vt:lpstr>Improvement of Reliability via Redundancy</vt:lpstr>
      <vt:lpstr>Improvement in Performance via Parallelism</vt:lpstr>
      <vt:lpstr>RAID Levels</vt:lpstr>
      <vt:lpstr>RAID Levels (Cont.)</vt:lpstr>
      <vt:lpstr>RAID Levels (Cont.)</vt:lpstr>
      <vt:lpstr>RAID Levels (Cont.)</vt:lpstr>
      <vt:lpstr>RAID Levels (Cont.)</vt:lpstr>
      <vt:lpstr>RAID Levels (Cont.)</vt:lpstr>
      <vt:lpstr>Choice of RAID Level</vt:lpstr>
      <vt:lpstr>Choice of RAID Level (Cont.)</vt:lpstr>
      <vt:lpstr>Hardware Issues</vt:lpstr>
      <vt:lpstr>Hardware Issues (Cont.)</vt:lpstr>
      <vt:lpstr>Outline</vt:lpstr>
      <vt:lpstr>Optical Disks</vt:lpstr>
      <vt:lpstr>Magnetic Tapes</vt:lpstr>
      <vt:lpstr>Magnetic Tapes (Cont.)</vt:lpstr>
      <vt:lpstr>未来存储技术</vt:lpstr>
      <vt:lpstr>边缘存储</vt:lpstr>
      <vt:lpstr>长期存储 - Long Data</vt:lpstr>
      <vt:lpstr>生物存储或基因存储</vt:lpstr>
      <vt:lpstr>生物存储或基因存储</vt:lpstr>
      <vt:lpstr>区块链存储</vt:lpstr>
      <vt:lpstr>区块链存储</vt:lpstr>
      <vt:lpstr>Outline</vt:lpstr>
      <vt:lpstr>Storage Access</vt:lpstr>
      <vt:lpstr>Buffer Manager</vt:lpstr>
      <vt:lpstr>Buffer-Replacement Policies</vt:lpstr>
      <vt:lpstr>Buffer-Replacement Policies (Cont.)</vt:lpstr>
      <vt:lpstr>Outline</vt:lpstr>
      <vt:lpstr>File Organization</vt:lpstr>
      <vt:lpstr>Fixed-Length Records</vt:lpstr>
      <vt:lpstr>Delete Record 3 and Move All Records</vt:lpstr>
      <vt:lpstr>Delete Record 3 and Move Final Record</vt:lpstr>
      <vt:lpstr>Free List (空闲列表)</vt:lpstr>
      <vt:lpstr>Variable-Length Records (变长记录)</vt:lpstr>
      <vt:lpstr>Variable-Length Records: Slotted Page Structure</vt:lpstr>
      <vt:lpstr>Byte String Representation of Variable-Length Records</vt:lpstr>
      <vt:lpstr>Fixed-Length Representation</vt:lpstr>
      <vt:lpstr>Pointer Method</vt:lpstr>
      <vt:lpstr>Pointer Method (Cont.)</vt:lpstr>
      <vt:lpstr>Outline</vt:lpstr>
      <vt:lpstr>Organization of Records in Files</vt:lpstr>
      <vt:lpstr>Sequential File Organization</vt:lpstr>
      <vt:lpstr>Sequential File Organization (Cont.)</vt:lpstr>
      <vt:lpstr>Multi-table Clustering File Organization</vt:lpstr>
      <vt:lpstr>Multi-table Clustering File Organization (Cont.)</vt:lpstr>
      <vt:lpstr>Outline</vt:lpstr>
      <vt:lpstr>Data Dictionary Storage</vt:lpstr>
      <vt:lpstr>Data Dictionary Storage (Cont.)</vt:lpstr>
      <vt:lpstr>PowerPoint 演示文稿</vt:lpstr>
      <vt:lpstr>内存数据库</vt:lpstr>
      <vt:lpstr>内存数据库与传统数据库</vt:lpstr>
      <vt:lpstr>闪存数据库</vt:lpstr>
      <vt:lpstr>PowerPoint 演示文稿</vt:lpstr>
      <vt:lpstr>The Future is Full of Opportunity</vt:lpstr>
      <vt:lpstr>大数据时代的背景</vt:lpstr>
      <vt:lpstr>大数据时代的背景</vt:lpstr>
      <vt:lpstr>大数据的困难</vt:lpstr>
      <vt:lpstr>大数据的困难</vt:lpstr>
      <vt:lpstr>大数据的困难</vt:lpstr>
      <vt:lpstr>大数据的困难</vt:lpstr>
      <vt:lpstr>大数据的困难</vt:lpstr>
      <vt:lpstr>大数据的困难</vt:lpstr>
      <vt:lpstr>新技术</vt:lpstr>
      <vt:lpstr>新技术</vt:lpstr>
      <vt:lpstr>新技术</vt:lpstr>
      <vt:lpstr>新技术</vt:lpstr>
      <vt:lpstr>新技术</vt:lpstr>
      <vt:lpstr>新技术</vt:lpstr>
      <vt:lpstr>云存储（cloud storage）</vt:lpstr>
      <vt:lpstr>云存储（cloud storage）</vt:lpstr>
      <vt:lpstr>云存储（cloud storage）</vt:lpstr>
      <vt:lpstr>云存储（cloud storage）</vt:lpstr>
      <vt:lpstr>云存储（cloud storage）</vt:lpstr>
      <vt:lpstr>云存储（cloud storage）</vt:lpstr>
      <vt:lpstr>云存储（cloud storage）</vt:lpstr>
      <vt:lpstr>云存储（cloud storage）</vt:lpstr>
      <vt:lpstr>End of Chapters 12 &amp; 13</vt:lpstr>
    </vt:vector>
  </TitlesOfParts>
  <Company>Global Intelligence Alliance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Creating System Analysis</dc:title>
  <dc:creator>Jessie Wang</dc:creator>
  <cp:lastModifiedBy>ZYC</cp:lastModifiedBy>
  <cp:revision>2226</cp:revision>
  <dcterms:created xsi:type="dcterms:W3CDTF">2007-09-26T12:04:45Z</dcterms:created>
  <dcterms:modified xsi:type="dcterms:W3CDTF">2025-04-19T16:42:15Z</dcterms:modified>
</cp:coreProperties>
</file>