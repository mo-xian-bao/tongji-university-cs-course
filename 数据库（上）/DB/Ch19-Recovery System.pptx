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38"/>
  </p:notesMasterIdLst>
  <p:handoutMasterIdLst>
    <p:handoutMasterId r:id="rId39"/>
  </p:handoutMasterIdLst>
  <p:sldIdLst>
    <p:sldId id="1838" r:id="rId3"/>
    <p:sldId id="1798" r:id="rId4"/>
    <p:sldId id="1799" r:id="rId5"/>
    <p:sldId id="1800" r:id="rId6"/>
    <p:sldId id="1834" r:id="rId7"/>
    <p:sldId id="1802" r:id="rId8"/>
    <p:sldId id="1803" r:id="rId9"/>
    <p:sldId id="1804" r:id="rId10"/>
    <p:sldId id="1805" r:id="rId11"/>
    <p:sldId id="1835" r:id="rId12"/>
    <p:sldId id="1806" r:id="rId13"/>
    <p:sldId id="1809" r:id="rId14"/>
    <p:sldId id="1810" r:id="rId15"/>
    <p:sldId id="1811" r:id="rId16"/>
    <p:sldId id="1812" r:id="rId17"/>
    <p:sldId id="1813" r:id="rId18"/>
    <p:sldId id="1814" r:id="rId19"/>
    <p:sldId id="1815" r:id="rId20"/>
    <p:sldId id="1816" r:id="rId21"/>
    <p:sldId id="1818" r:id="rId22"/>
    <p:sldId id="1819" r:id="rId23"/>
    <p:sldId id="1820" r:id="rId24"/>
    <p:sldId id="1836" r:id="rId25"/>
    <p:sldId id="1822" r:id="rId26"/>
    <p:sldId id="1823" r:id="rId27"/>
    <p:sldId id="1824" r:id="rId28"/>
    <p:sldId id="1825" r:id="rId29"/>
    <p:sldId id="1837" r:id="rId30"/>
    <p:sldId id="1826" r:id="rId31"/>
    <p:sldId id="1827" r:id="rId32"/>
    <p:sldId id="1828" r:id="rId33"/>
    <p:sldId id="1829" r:id="rId34"/>
    <p:sldId id="1830" r:id="rId35"/>
    <p:sldId id="1831" r:id="rId36"/>
    <p:sldId id="1910" r:id="rId37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838"/>
            <p14:sldId id="1798"/>
            <p14:sldId id="1799"/>
            <p14:sldId id="1800"/>
            <p14:sldId id="1834"/>
            <p14:sldId id="1802"/>
            <p14:sldId id="1803"/>
            <p14:sldId id="1804"/>
            <p14:sldId id="1805"/>
            <p14:sldId id="1835"/>
            <p14:sldId id="1806"/>
            <p14:sldId id="1809"/>
            <p14:sldId id="1810"/>
            <p14:sldId id="1811"/>
            <p14:sldId id="1812"/>
            <p14:sldId id="1813"/>
            <p14:sldId id="1814"/>
            <p14:sldId id="1815"/>
            <p14:sldId id="1816"/>
            <p14:sldId id="1818"/>
            <p14:sldId id="1819"/>
            <p14:sldId id="1820"/>
            <p14:sldId id="1836"/>
            <p14:sldId id="1822"/>
            <p14:sldId id="1823"/>
            <p14:sldId id="1824"/>
            <p14:sldId id="1825"/>
            <p14:sldId id="1837"/>
            <p14:sldId id="1826"/>
            <p14:sldId id="1827"/>
            <p14:sldId id="1828"/>
            <p14:sldId id="1829"/>
            <p14:sldId id="1830"/>
            <p14:sldId id="1831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2810" autoAdjust="0"/>
  </p:normalViewPr>
  <p:slideViewPr>
    <p:cSldViewPr>
      <p:cViewPr varScale="1">
        <p:scale>
          <a:sx n="141" d="100"/>
          <a:sy n="141" d="100"/>
        </p:scale>
        <p:origin x="744" y="114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15261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pertaining to </a:t>
            </a:r>
            <a:r>
              <a:rPr lang="zh-CN" altLang="en-US" sz="1200" dirty="0"/>
              <a:t>：与</a:t>
            </a:r>
            <a:r>
              <a:rPr lang="en-US" altLang="zh-CN" sz="1200" dirty="0"/>
              <a:t>…</a:t>
            </a:r>
            <a:r>
              <a:rPr lang="zh-CN" altLang="en-US" sz="1200" dirty="0"/>
              <a:t>有关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30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952921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zh-CN" altLang="en-US" sz="1200" dirty="0"/>
              <a:t>闩：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shuān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90924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2025/6/3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448208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2025/6/3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2025/6/3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2025/6/3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2025/6/3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  <p:sldLayoutId id="2147483741" r:id="rId5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2025/6/3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Recovery System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19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05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Failure Classification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Storage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and Atomicity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Algorithms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Buffer Management</a:t>
            </a:r>
          </a:p>
        </p:txBody>
      </p:sp>
    </p:spTree>
    <p:extLst>
      <p:ext uri="{BB962C8B-B14F-4D97-AF65-F5344CB8AC3E}">
        <p14:creationId xmlns:p14="http://schemas.microsoft.com/office/powerpoint/2010/main" val="4146676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32B00-0A0B-44FC-946E-7030D804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/>
              <a:t>Failure Classification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49A5A-E860-4296-B295-8F0529CD0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/>
              <a:t>Transaction failure (</a:t>
            </a:r>
            <a:r>
              <a:rPr lang="zh-CN" altLang="en-US" sz="2000" b="1" dirty="0"/>
              <a:t>事务故障）</a:t>
            </a:r>
            <a:endParaRPr lang="en-US" altLang="zh-CN" sz="2000" b="1" dirty="0"/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Logical errors, e.g., illegal inputs 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System errors,</a:t>
            </a:r>
            <a:r>
              <a:rPr lang="zh-CN" altLang="en-US" sz="1800" dirty="0"/>
              <a:t> </a:t>
            </a:r>
            <a:r>
              <a:rPr lang="en-US" altLang="zh-CN" sz="1800" dirty="0"/>
              <a:t>e.g., dead locks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System crash (</a:t>
            </a:r>
            <a:r>
              <a:rPr lang="zh-CN" altLang="en-US" sz="2000" b="1" dirty="0"/>
              <a:t>系统崩溃</a:t>
            </a:r>
            <a:r>
              <a:rPr lang="en-US" altLang="zh-CN" sz="2000" b="1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A power failure, or other hardware and software failure causes the system to crash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Disk failure (</a:t>
            </a:r>
            <a:r>
              <a:rPr lang="zh-CN" altLang="en-US" sz="2000" b="1" dirty="0"/>
              <a:t>磁盘故障）</a:t>
            </a:r>
            <a:endParaRPr lang="en-US" altLang="zh-CN" sz="2000" b="1" dirty="0"/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A head crash or similar disk failure destroys all or part of disk storage</a:t>
            </a:r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128571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4BC1D-4A2C-497A-9A3C-3B72232A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Recovery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D592AF-AEC6-4E2C-AB02-EEB982EB5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Techniques to ensure database consistency and transaction atomicity despite failures</a:t>
            </a:r>
          </a:p>
          <a:p>
            <a:r>
              <a:rPr lang="en-US" altLang="zh-CN" sz="2000" dirty="0"/>
              <a:t>Recovery algorithms have two parts</a:t>
            </a:r>
          </a:p>
          <a:p>
            <a:pPr lvl="1"/>
            <a:r>
              <a:rPr lang="en-US" altLang="zh-CN" sz="1800" dirty="0"/>
              <a:t>Actions taken during normal transaction processing </a:t>
            </a:r>
          </a:p>
          <a:p>
            <a:pPr lvl="2"/>
            <a:r>
              <a:rPr lang="zh-CN" altLang="en-US" sz="1600" dirty="0"/>
              <a:t>保证有足够的信息用于故障恢复</a:t>
            </a:r>
            <a:endParaRPr lang="en-US" altLang="zh-CN" sz="1600" dirty="0"/>
          </a:p>
          <a:p>
            <a:pPr lvl="1"/>
            <a:r>
              <a:rPr lang="en-US" altLang="zh-CN" sz="1800" dirty="0"/>
              <a:t>Actions taken after a failure</a:t>
            </a:r>
          </a:p>
          <a:p>
            <a:pPr lvl="2"/>
            <a:r>
              <a:rPr lang="zh-CN" altLang="en-US" sz="1600" dirty="0"/>
              <a:t>恢复数据库到某个一致性状态</a:t>
            </a:r>
          </a:p>
        </p:txBody>
      </p:sp>
    </p:spTree>
    <p:extLst>
      <p:ext uri="{BB962C8B-B14F-4D97-AF65-F5344CB8AC3E}">
        <p14:creationId xmlns:p14="http://schemas.microsoft.com/office/powerpoint/2010/main" val="5253753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Failure Classification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Storage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and Atomicity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Algorithms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Buffer Management</a:t>
            </a:r>
          </a:p>
        </p:txBody>
      </p:sp>
    </p:spTree>
    <p:extLst>
      <p:ext uri="{BB962C8B-B14F-4D97-AF65-F5344CB8AC3E}">
        <p14:creationId xmlns:p14="http://schemas.microsoft.com/office/powerpoint/2010/main" val="30524868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6D816-A396-4A29-ADDB-9C58B2D2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Storage Structure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0032C3-AB22-4C4F-911D-1B0404A1E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b="1" dirty="0"/>
              <a:t>Volatile storage (</a:t>
            </a:r>
            <a:r>
              <a:rPr lang="zh-CN" altLang="en-US" sz="1800" b="1" dirty="0"/>
              <a:t>易失性存储器</a:t>
            </a:r>
            <a:r>
              <a:rPr lang="en-US" altLang="zh-CN" sz="1800" b="1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does not survive system crashes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e.g., main memory, cache memory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Non-volatile storage (</a:t>
            </a:r>
            <a:r>
              <a:rPr lang="zh-CN" altLang="en-US" sz="1800" b="1" dirty="0"/>
              <a:t>非易失性存储器）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survives system crashes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e.g., disk, tape, flash memory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Stable storage (</a:t>
            </a:r>
            <a:r>
              <a:rPr lang="zh-CN" altLang="en-US" sz="1800" b="1" dirty="0"/>
              <a:t>稳定存储器</a:t>
            </a:r>
            <a:r>
              <a:rPr lang="en-US" altLang="zh-CN" sz="1800" b="1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a mythical form of storage that survives all failures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achieved by maintaining multiple copies on distinct non-volatile media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4293430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47E3D-A751-4F07-98E1-643740BA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Data Access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2C8DB2-C3C7-4E91-AF35-79903499D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Physical blocks </a:t>
                </a:r>
                <a:r>
                  <a:rPr lang="zh-CN" altLang="en-US" sz="2000" b="1" dirty="0"/>
                  <a:t>（物理块）</a:t>
                </a:r>
                <a:endParaRPr lang="en-US" altLang="zh-CN" sz="2000" b="1" dirty="0"/>
              </a:p>
              <a:p>
                <a:pPr lvl="1"/>
                <a:r>
                  <a:rPr lang="en-US" altLang="zh-CN" sz="1800" dirty="0"/>
                  <a:t>the blocks residing on the disk</a:t>
                </a:r>
              </a:p>
              <a:p>
                <a:r>
                  <a:rPr lang="en-US" altLang="zh-CN" sz="2000" b="1" dirty="0"/>
                  <a:t>Buffer blocks </a:t>
                </a:r>
                <a:r>
                  <a:rPr lang="zh-CN" altLang="en-US" sz="2000" b="1" dirty="0"/>
                  <a:t>（缓冲块）</a:t>
                </a:r>
                <a:endParaRPr lang="en-US" altLang="zh-CN" sz="2000" b="1" dirty="0"/>
              </a:p>
              <a:p>
                <a:pPr lvl="1"/>
                <a:r>
                  <a:rPr lang="en-US" altLang="zh-CN" sz="1800" dirty="0"/>
                  <a:t>the blocks residing temporarily in main memory</a:t>
                </a:r>
              </a:p>
              <a:p>
                <a:r>
                  <a:rPr lang="en-US" altLang="zh-CN" sz="2000" dirty="0"/>
                  <a:t>Block movements between disk and main memory</a:t>
                </a:r>
              </a:p>
              <a:p>
                <a:pPr lvl="1"/>
                <a:r>
                  <a:rPr lang="en-US" altLang="zh-CN" sz="1800" dirty="0"/>
                  <a:t>input(B)</a:t>
                </a:r>
                <a:r>
                  <a:rPr lang="zh-CN" altLang="en-US" sz="1800" dirty="0"/>
                  <a:t>： </a:t>
                </a:r>
                <a:r>
                  <a:rPr lang="en-US" altLang="zh-CN" sz="1800" dirty="0"/>
                  <a:t>physical block -&gt; memory</a:t>
                </a:r>
              </a:p>
              <a:p>
                <a:pPr lvl="1"/>
                <a:r>
                  <a:rPr lang="en-US" altLang="zh-CN" sz="1800" dirty="0"/>
                  <a:t>output(B): buffer block -&gt; disk</a:t>
                </a:r>
              </a:p>
              <a:p>
                <a:r>
                  <a:rPr lang="en-US" altLang="zh-CN" sz="2000" dirty="0"/>
                  <a:t>Each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 has its private work-area (</a:t>
                </a:r>
                <a:r>
                  <a:rPr lang="zh-CN" altLang="en-US" sz="2000" dirty="0"/>
                  <a:t>私有工作区</a:t>
                </a:r>
                <a:r>
                  <a:rPr lang="en-US" altLang="zh-CN" sz="20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1800" dirty="0"/>
                  <a:t>s local copy of a data item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1800" dirty="0"/>
                  <a:t> is 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2C8DB2-C3C7-4E91-AF35-79903499D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58265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A9FF7-FA4E-403A-9ECD-4AFBA425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Data Access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E5A90-04F8-40BD-900B-8430F7F49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Transaction transfers data items between system buffer blocks and its private work-area using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read(X)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write(X)</a:t>
            </a:r>
          </a:p>
          <a:p>
            <a:r>
              <a:rPr lang="en-US" altLang="zh-CN" sz="2000" dirty="0"/>
              <a:t>Transactions </a:t>
            </a:r>
          </a:p>
          <a:p>
            <a:pPr lvl="1"/>
            <a:r>
              <a:rPr lang="en-US" altLang="zh-CN" sz="1800" dirty="0"/>
              <a:t>Perform read(X) while accessing X for the first time</a:t>
            </a:r>
          </a:p>
          <a:p>
            <a:pPr lvl="1"/>
            <a:r>
              <a:rPr lang="en-US" altLang="zh-CN" sz="1800" dirty="0"/>
              <a:t>All subsequent accesses are to the local copy</a:t>
            </a:r>
          </a:p>
          <a:p>
            <a:pPr lvl="1"/>
            <a:r>
              <a:rPr lang="en-US" altLang="zh-CN" sz="1800" dirty="0"/>
              <a:t>After the last access, transaction executes write(X)</a:t>
            </a:r>
          </a:p>
          <a:p>
            <a:r>
              <a:rPr lang="en-US" altLang="zh-CN" sz="2000" dirty="0"/>
              <a:t>output(B</a:t>
            </a:r>
            <a:r>
              <a:rPr lang="en-US" altLang="zh-CN" sz="2000" baseline="-25000" dirty="0"/>
              <a:t>X</a:t>
            </a:r>
            <a:r>
              <a:rPr lang="en-US" altLang="zh-CN" sz="2000" dirty="0"/>
              <a:t>) does not need to immediately follow write(X)</a:t>
            </a:r>
          </a:p>
          <a:p>
            <a:pPr lvl="1"/>
            <a:r>
              <a:rPr lang="en-US" altLang="zh-CN" sz="1800" dirty="0"/>
              <a:t>System can perform the output operation when it deems fit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598404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F14ED-B6C1-4107-95AA-31986E9F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Data Access</a:t>
            </a:r>
            <a:endParaRPr lang="zh-CN" altLang="en-US" dirty="0"/>
          </a:p>
        </p:txBody>
      </p:sp>
      <p:grpSp>
        <p:nvGrpSpPr>
          <p:cNvPr id="4" name="Group 67">
            <a:extLst>
              <a:ext uri="{FF2B5EF4-FFF2-40B4-BE49-F238E27FC236}">
                <a16:creationId xmlns:a16="http://schemas.microsoft.com/office/drawing/2014/main" id="{19905C14-54AD-40AC-B658-2E6EAFC06250}"/>
              </a:ext>
            </a:extLst>
          </p:cNvPr>
          <p:cNvGrpSpPr>
            <a:grpSpLocks/>
          </p:cNvGrpSpPr>
          <p:nvPr/>
        </p:nvGrpSpPr>
        <p:grpSpPr bwMode="auto">
          <a:xfrm>
            <a:off x="2022872" y="819150"/>
            <a:ext cx="4907978" cy="4055269"/>
            <a:chOff x="912" y="703"/>
            <a:chExt cx="3737" cy="3494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A0C21A09-0CF8-426C-8CB3-F03FA42E8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7" y="933"/>
              <a:ext cx="480" cy="6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18589B8-A6DD-47A4-8E86-2845A947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" y="981"/>
              <a:ext cx="240" cy="1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A2805B22-B098-460C-BBD9-C4F8F9DA8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" y="1269"/>
              <a:ext cx="240" cy="1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6D7D5846-8347-4D22-951F-4386EF220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933"/>
              <a:ext cx="720" cy="2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DC9417A1-0258-4084-A8BD-01AE5D5F2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9" y="1029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5ACB9D63-D009-4DC2-8D0E-2D76A6F47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041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08DFE2FE-92DF-4C1E-9791-1592203BD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749"/>
              <a:ext cx="720" cy="112"/>
            </a:xfrm>
            <a:custGeom>
              <a:avLst/>
              <a:gdLst>
                <a:gd name="T0" fmla="*/ 0 w 720"/>
                <a:gd name="T1" fmla="*/ 0 h 112"/>
                <a:gd name="T2" fmla="*/ 240 w 720"/>
                <a:gd name="T3" fmla="*/ 96 h 112"/>
                <a:gd name="T4" fmla="*/ 528 w 720"/>
                <a:gd name="T5" fmla="*/ 96 h 112"/>
                <a:gd name="T6" fmla="*/ 720 w 720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112"/>
                <a:gd name="T14" fmla="*/ 720 w 720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112">
                  <a:moveTo>
                    <a:pt x="0" y="0"/>
                  </a:moveTo>
                  <a:cubicBezTo>
                    <a:pt x="76" y="40"/>
                    <a:pt x="152" y="80"/>
                    <a:pt x="240" y="96"/>
                  </a:cubicBezTo>
                  <a:cubicBezTo>
                    <a:pt x="328" y="112"/>
                    <a:pt x="448" y="112"/>
                    <a:pt x="528" y="96"/>
                  </a:cubicBezTo>
                  <a:cubicBezTo>
                    <a:pt x="608" y="80"/>
                    <a:pt x="688" y="16"/>
                    <a:pt x="72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14BAD6B6-765B-4423-B601-2FBDEA48E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9" y="1221"/>
              <a:ext cx="192" cy="1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22EFF8D2-ACB7-4719-B78D-4F26901F6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9" y="1509"/>
              <a:ext cx="192" cy="1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4" name="Text Box 21">
              <a:extLst>
                <a:ext uri="{FF2B5EF4-FFF2-40B4-BE49-F238E27FC236}">
                  <a16:creationId xmlns:a16="http://schemas.microsoft.com/office/drawing/2014/main" id="{D7AADEDE-A8B3-4F0A-934A-689D989DF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" y="1184"/>
              <a:ext cx="24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" name="Text Box 22">
              <a:extLst>
                <a:ext uri="{FF2B5EF4-FFF2-40B4-BE49-F238E27FC236}">
                  <a16:creationId xmlns:a16="http://schemas.microsoft.com/office/drawing/2014/main" id="{A1707BE4-1C05-4ED8-B193-2EF0A3966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9" y="1460"/>
              <a:ext cx="23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7FD5CF6E-C94B-49D8-ACCB-1897CCF2B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9" y="2325"/>
              <a:ext cx="480" cy="7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7" name="Rectangle 24">
              <a:extLst>
                <a:ext uri="{FF2B5EF4-FFF2-40B4-BE49-F238E27FC236}">
                  <a16:creationId xmlns:a16="http://schemas.microsoft.com/office/drawing/2014/main" id="{150A298D-0934-482D-BE70-48F20A435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2325"/>
              <a:ext cx="480" cy="7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AD4E1C1D-6D50-4ECA-8801-D8546F60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421"/>
              <a:ext cx="144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D94567BC-BD3D-494F-8A29-BCA09A171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517"/>
              <a:ext cx="144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ADA7ED11-28E2-4B49-BDE5-C3EBECF00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805"/>
              <a:ext cx="144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9F8ABE71-7863-41D9-8037-BEE1DAE58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1" y="3569"/>
              <a:ext cx="1495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2" name="Text Box 31">
              <a:extLst>
                <a:ext uri="{FF2B5EF4-FFF2-40B4-BE49-F238E27FC236}">
                  <a16:creationId xmlns:a16="http://schemas.microsoft.com/office/drawing/2014/main" id="{F631F30C-8469-4CC0-A2BC-19946A171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" y="2479"/>
              <a:ext cx="28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1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3" name="Text Box 32">
              <a:extLst>
                <a:ext uri="{FF2B5EF4-FFF2-40B4-BE49-F238E27FC236}">
                  <a16:creationId xmlns:a16="http://schemas.microsoft.com/office/drawing/2014/main" id="{87EDF71B-0C5E-4836-B93D-083C180A5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2728"/>
              <a:ext cx="32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1 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33">
              <a:extLst>
                <a:ext uri="{FF2B5EF4-FFF2-40B4-BE49-F238E27FC236}">
                  <a16:creationId xmlns:a16="http://schemas.microsoft.com/office/drawing/2014/main" id="{424E9F87-95A9-411D-8079-4F707A8CD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5" y="703"/>
              <a:ext cx="55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buffer</a:t>
              </a:r>
            </a:p>
          </p:txBody>
        </p:sp>
        <p:sp>
          <p:nvSpPr>
            <p:cNvPr id="25" name="Text Box 34">
              <a:extLst>
                <a:ext uri="{FF2B5EF4-FFF2-40B4-BE49-F238E27FC236}">
                  <a16:creationId xmlns:a16="http://schemas.microsoft.com/office/drawing/2014/main" id="{DA32D326-A223-40BC-9E5F-24207AEDF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904"/>
              <a:ext cx="119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Buffer Block A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26" name="Text Box 35">
              <a:extLst>
                <a:ext uri="{FF2B5EF4-FFF2-40B4-BE49-F238E27FC236}">
                  <a16:creationId xmlns:a16="http://schemas.microsoft.com/office/drawing/2014/main" id="{44888130-CB6C-407F-A635-6477849BC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220"/>
              <a:ext cx="119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Buffer Block B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Line 36">
              <a:extLst>
                <a:ext uri="{FF2B5EF4-FFF2-40B4-BE49-F238E27FC236}">
                  <a16:creationId xmlns:a16="http://schemas.microsoft.com/office/drawing/2014/main" id="{08C61D34-DA50-49DA-9417-CF0296657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1029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8" name="Line 37">
              <a:extLst>
                <a:ext uri="{FF2B5EF4-FFF2-40B4-BE49-F238E27FC236}">
                  <a16:creationId xmlns:a16="http://schemas.microsoft.com/office/drawing/2014/main" id="{36F7941A-3308-4F3E-BE9D-D98AD71B3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1365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9" name="Line 38">
              <a:extLst>
                <a:ext uri="{FF2B5EF4-FFF2-40B4-BE49-F238E27FC236}">
                  <a16:creationId xmlns:a16="http://schemas.microsoft.com/office/drawing/2014/main" id="{BC62A552-EEB4-4B00-9666-2324180FA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73" y="1077"/>
              <a:ext cx="1296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0" name="Line 39">
              <a:extLst>
                <a:ext uri="{FF2B5EF4-FFF2-40B4-BE49-F238E27FC236}">
                  <a16:creationId xmlns:a16="http://schemas.microsoft.com/office/drawing/2014/main" id="{D58EB381-C636-4553-A06F-505491A60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" y="1365"/>
              <a:ext cx="1248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1" name="Text Box 40">
              <a:extLst>
                <a:ext uri="{FF2B5EF4-FFF2-40B4-BE49-F238E27FC236}">
                  <a16:creationId xmlns:a16="http://schemas.microsoft.com/office/drawing/2014/main" id="{3C91E7DE-3E3F-438C-AF72-050061496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895"/>
              <a:ext cx="65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input(A)</a:t>
              </a:r>
            </a:p>
          </p:txBody>
        </p:sp>
        <p:sp>
          <p:nvSpPr>
            <p:cNvPr id="32" name="Text Box 41">
              <a:extLst>
                <a:ext uri="{FF2B5EF4-FFF2-40B4-BE49-F238E27FC236}">
                  <a16:creationId xmlns:a16="http://schemas.microsoft.com/office/drawing/2014/main" id="{B217CD14-D4E7-4B5E-A6A2-1C5AA8122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" y="1460"/>
              <a:ext cx="78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output(B) </a:t>
              </a:r>
            </a:p>
          </p:txBody>
        </p:sp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0DFDB899-C4DD-4F01-8165-F116E5C90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9" y="1125"/>
              <a:ext cx="336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4" name="Line 43">
              <a:extLst>
                <a:ext uri="{FF2B5EF4-FFF2-40B4-BE49-F238E27FC236}">
                  <a16:creationId xmlns:a16="http://schemas.microsoft.com/office/drawing/2014/main" id="{7B86237F-B8D1-4128-819A-3FECC31ED5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3" y="1461"/>
              <a:ext cx="384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5" name="Text Box 44">
              <a:extLst>
                <a:ext uri="{FF2B5EF4-FFF2-40B4-BE49-F238E27FC236}">
                  <a16:creationId xmlns:a16="http://schemas.microsoft.com/office/drawing/2014/main" id="{F242343C-ACA0-4F92-9020-6F426A56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8" y="1784"/>
              <a:ext cx="64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read(X)</a:t>
              </a:r>
            </a:p>
          </p:txBody>
        </p:sp>
        <p:sp>
          <p:nvSpPr>
            <p:cNvPr id="36" name="Text Box 45">
              <a:extLst>
                <a:ext uri="{FF2B5EF4-FFF2-40B4-BE49-F238E27FC236}">
                  <a16:creationId xmlns:a16="http://schemas.microsoft.com/office/drawing/2014/main" id="{41B6D9E5-4AA5-4725-9148-8F0129A76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784"/>
              <a:ext cx="64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write(Y)</a:t>
              </a:r>
            </a:p>
          </p:txBody>
        </p:sp>
        <p:sp>
          <p:nvSpPr>
            <p:cNvPr id="37" name="Text Box 46">
              <a:extLst>
                <a:ext uri="{FF2B5EF4-FFF2-40B4-BE49-F238E27FC236}">
                  <a16:creationId xmlns:a16="http://schemas.microsoft.com/office/drawing/2014/main" id="{C63C9423-BA8B-49B6-9337-3D9858134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4" y="1923"/>
              <a:ext cx="43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38" name="Line 49">
              <a:extLst>
                <a:ext uri="{FF2B5EF4-FFF2-40B4-BE49-F238E27FC236}">
                  <a16:creationId xmlns:a16="http://schemas.microsoft.com/office/drawing/2014/main" id="{274A5A90-273D-4DAC-8440-0914F4986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83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39" name="Line 50">
              <a:extLst>
                <a:ext uri="{FF2B5EF4-FFF2-40B4-BE49-F238E27FC236}">
                  <a16:creationId xmlns:a16="http://schemas.microsoft.com/office/drawing/2014/main" id="{F995BC17-DA90-4462-B7AF-88B962D1D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1" y="102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0" name="Line 51">
              <a:extLst>
                <a:ext uri="{FF2B5EF4-FFF2-40B4-BE49-F238E27FC236}">
                  <a16:creationId xmlns:a16="http://schemas.microsoft.com/office/drawing/2014/main" id="{FFBC8CD1-9118-4C32-8D9E-1A7C62487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1" y="131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1" name="Line 52">
              <a:extLst>
                <a:ext uri="{FF2B5EF4-FFF2-40B4-BE49-F238E27FC236}">
                  <a16:creationId xmlns:a16="http://schemas.microsoft.com/office/drawing/2014/main" id="{3492C3A8-8E11-4E2A-AB0E-4B2587D4A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9" y="150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2" name="Line 53">
              <a:extLst>
                <a:ext uri="{FF2B5EF4-FFF2-40B4-BE49-F238E27FC236}">
                  <a16:creationId xmlns:a16="http://schemas.microsoft.com/office/drawing/2014/main" id="{AF2917F6-6F03-4A68-BAAA-99656CB63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" y="179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3" name="Line 54">
              <a:extLst>
                <a:ext uri="{FF2B5EF4-FFF2-40B4-BE49-F238E27FC236}">
                  <a16:creationId xmlns:a16="http://schemas.microsoft.com/office/drawing/2014/main" id="{CBCB73B7-1B62-4EC6-8AF3-73F98ACE4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7" y="198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4" name="Line 55">
              <a:extLst>
                <a:ext uri="{FF2B5EF4-FFF2-40B4-BE49-F238E27FC236}">
                  <a16:creationId xmlns:a16="http://schemas.microsoft.com/office/drawing/2014/main" id="{6A77E787-FF65-48A7-9ECA-E6CF490C2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7" y="227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5" name="Line 56">
              <a:extLst>
                <a:ext uri="{FF2B5EF4-FFF2-40B4-BE49-F238E27FC236}">
                  <a16:creationId xmlns:a16="http://schemas.microsoft.com/office/drawing/2014/main" id="{F16202E0-83D2-4719-9687-2A9AB2A6FA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5" y="246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6" name="Line 57">
              <a:extLst>
                <a:ext uri="{FF2B5EF4-FFF2-40B4-BE49-F238E27FC236}">
                  <a16:creationId xmlns:a16="http://schemas.microsoft.com/office/drawing/2014/main" id="{35BF6918-DE62-49B6-987B-2B6428AF8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275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7" name="Line 58">
              <a:extLst>
                <a:ext uri="{FF2B5EF4-FFF2-40B4-BE49-F238E27FC236}">
                  <a16:creationId xmlns:a16="http://schemas.microsoft.com/office/drawing/2014/main" id="{1112CE1E-2033-410B-A359-41ADD69DAF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3" y="294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8" name="Line 59">
              <a:extLst>
                <a:ext uri="{FF2B5EF4-FFF2-40B4-BE49-F238E27FC236}">
                  <a16:creationId xmlns:a16="http://schemas.microsoft.com/office/drawing/2014/main" id="{A4224C23-8C51-47E7-A486-EF80CF684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323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49" name="Line 60">
              <a:extLst>
                <a:ext uri="{FF2B5EF4-FFF2-40B4-BE49-F238E27FC236}">
                  <a16:creationId xmlns:a16="http://schemas.microsoft.com/office/drawing/2014/main" id="{ACDD7A6C-B10D-4572-96DE-B8624AC40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1" y="342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50" name="Line 61">
              <a:extLst>
                <a:ext uri="{FF2B5EF4-FFF2-40B4-BE49-F238E27FC236}">
                  <a16:creationId xmlns:a16="http://schemas.microsoft.com/office/drawing/2014/main" id="{157CCAFE-C1DC-4A6F-B223-FD8EA82D4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1" y="3717"/>
              <a:ext cx="192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51" name="Line 62">
              <a:extLst>
                <a:ext uri="{FF2B5EF4-FFF2-40B4-BE49-F238E27FC236}">
                  <a16:creationId xmlns:a16="http://schemas.microsoft.com/office/drawing/2014/main" id="{3A3808AB-DB18-475E-A8EF-332A58EC4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9" y="3909"/>
              <a:ext cx="14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52" name="Text Box 63">
              <a:extLst>
                <a:ext uri="{FF2B5EF4-FFF2-40B4-BE49-F238E27FC236}">
                  <a16:creationId xmlns:a16="http://schemas.microsoft.com/office/drawing/2014/main" id="{122AB441-DD43-45DE-9898-E3E7B0309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093"/>
              <a:ext cx="864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work area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of T</a:t>
              </a:r>
              <a:r>
                <a:rPr kumimoji="0" lang="en-US" altLang="zh-CN" sz="15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3" name="Text Box 64">
              <a:extLst>
                <a:ext uri="{FF2B5EF4-FFF2-40B4-BE49-F238E27FC236}">
                  <a16:creationId xmlns:a16="http://schemas.microsoft.com/office/drawing/2014/main" id="{B7370972-9695-4191-A52E-1084698C6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079"/>
              <a:ext cx="785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work area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of T</a:t>
              </a:r>
              <a:r>
                <a:rPr kumimoji="0" lang="en-US" altLang="zh-CN" sz="15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 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4" name="Text Box 65">
              <a:extLst>
                <a:ext uri="{FF2B5EF4-FFF2-40B4-BE49-F238E27FC236}">
                  <a16:creationId xmlns:a16="http://schemas.microsoft.com/office/drawing/2014/main" id="{6B8F5DC1-87C1-437B-A0B5-6CECB6FEB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3583"/>
              <a:ext cx="71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55" name="Text Box 66">
              <a:extLst>
                <a:ext uri="{FF2B5EF4-FFF2-40B4-BE49-F238E27FC236}">
                  <a16:creationId xmlns:a16="http://schemas.microsoft.com/office/drawing/2014/main" id="{860B48AB-CD12-436A-9E90-C2BFB859E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5" y="2336"/>
              <a:ext cx="28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2</a:t>
              </a:r>
              <a:endParaRPr kumimoji="0" lang="en-US" altLang="zh-CN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435157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Failure Classification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Storage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Recovery and Atomicity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Algorithms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Buffer Management</a:t>
            </a:r>
          </a:p>
        </p:txBody>
      </p:sp>
    </p:spTree>
    <p:extLst>
      <p:ext uri="{BB962C8B-B14F-4D97-AF65-F5344CB8AC3E}">
        <p14:creationId xmlns:p14="http://schemas.microsoft.com/office/powerpoint/2010/main" val="394301906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43AC2-48AB-49A9-96CF-BE18C458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Recovery and Atomicity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853782-C8B2-4958-8A0A-A83CE6498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Modifying the database without ensuring that the transaction will commit may leave the database in an inconsistent state</a:t>
                </a:r>
              </a:p>
              <a:p>
                <a:pPr lvl="1"/>
                <a:r>
                  <a:rPr lang="en-US" altLang="zh-CN" sz="1600" dirty="0"/>
                  <a:t>Consider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that transfers $50 from account A to account B</a:t>
                </a:r>
              </a:p>
              <a:p>
                <a:pPr lvl="1"/>
                <a:r>
                  <a:rPr lang="en-US" altLang="zh-CN" sz="1600" dirty="0"/>
                  <a:t>Several output operations may be required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to output A and B </a:t>
                </a:r>
              </a:p>
              <a:p>
                <a:pPr lvl="1"/>
                <a:r>
                  <a:rPr lang="en-US" altLang="zh-CN" sz="1600" dirty="0"/>
                  <a:t>A failure may occur after one of these modifications have been made but before all of them are made</a:t>
                </a:r>
              </a:p>
              <a:p>
                <a:r>
                  <a:rPr lang="en-US" altLang="zh-CN" sz="1800" dirty="0"/>
                  <a:t>To ensure atomicity despite failures, we first output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information describing the modifications</a:t>
                </a:r>
                <a:r>
                  <a:rPr lang="en-US" altLang="zh-CN" sz="1800" dirty="0"/>
                  <a:t> to stable storage without modifying the database itself</a:t>
                </a:r>
              </a:p>
              <a:p>
                <a:r>
                  <a:rPr lang="en-US" altLang="zh-CN" sz="1800" b="1" dirty="0"/>
                  <a:t>Two approaches</a:t>
                </a:r>
              </a:p>
              <a:p>
                <a:pPr lvl="1"/>
                <a:r>
                  <a:rPr lang="en-US" altLang="zh-CN" sz="1600" dirty="0"/>
                  <a:t>Log-based recovery (</a:t>
                </a:r>
                <a:r>
                  <a:rPr lang="zh-CN" altLang="en-US" sz="1600" dirty="0"/>
                  <a:t>基于日志的恢复</a:t>
                </a:r>
                <a:r>
                  <a:rPr lang="en-US" altLang="zh-CN" sz="1600" dirty="0"/>
                  <a:t>)</a:t>
                </a:r>
              </a:p>
              <a:p>
                <a:pPr lvl="1"/>
                <a:r>
                  <a:rPr lang="en-US" altLang="zh-CN" sz="1600" dirty="0"/>
                  <a:t>Shadow-paging (</a:t>
                </a:r>
                <a:r>
                  <a:rPr lang="zh-CN" altLang="en-US" sz="1600" dirty="0"/>
                  <a:t>影子页</a:t>
                </a:r>
                <a:r>
                  <a:rPr lang="en-US" altLang="zh-CN" sz="1600" dirty="0"/>
                  <a:t>)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853782-C8B2-4958-8A0A-A83CE6498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28423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9918D-1E05-476F-8D62-BED11BA8A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Log-based Recovery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EE17BA-16D9-44EE-BEE6-288DEF65B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915565"/>
                <a:ext cx="8280920" cy="3558719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1800" dirty="0"/>
                  <a:t>A log is kept on stable storage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/>
                  <a:t>The log is a sequence of log records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800" dirty="0"/>
                  <a:t>When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starts, it registers itself by writing a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start&gt; log record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400" dirty="0"/>
                  <a:t>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/>
                  <a:t>executes write(X), a log record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400" dirty="0"/>
                  <a:t>&gt; is written,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/>
                  <a:t> is the old value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400" dirty="0"/>
                  <a:t> is the new value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finishes the last statement, the log record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, commit&gt; is written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800" dirty="0"/>
                  <a:t>Two approaches using logs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400" b="1" dirty="0"/>
                  <a:t>Deferred database modification (</a:t>
                </a:r>
                <a:r>
                  <a:rPr lang="zh-CN" altLang="en-US" sz="1400" b="1" dirty="0"/>
                  <a:t>延迟数据库修改</a:t>
                </a:r>
                <a:r>
                  <a:rPr lang="en-US" altLang="zh-CN" sz="1400" b="1" dirty="0"/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400" b="1" dirty="0"/>
                  <a:t>Immediate database modification (</a:t>
                </a:r>
                <a:r>
                  <a:rPr lang="zh-CN" altLang="en-US" sz="1400" b="1" dirty="0"/>
                  <a:t>即刻数据库修改</a:t>
                </a:r>
                <a:r>
                  <a:rPr lang="en-US" altLang="zh-CN" sz="1400" b="1" dirty="0"/>
                  <a:t>)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EE17BA-16D9-44EE-BEE6-288DEF65B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15565"/>
                <a:ext cx="8280920" cy="3558719"/>
              </a:xfrm>
              <a:blipFill>
                <a:blip r:embed="rId2"/>
                <a:stretch>
                  <a:fillRect l="-442" t="-856" r="-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71614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041A-33E6-4B72-8F55-ACC73308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Deferred Database Modification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78990D-6E5B-4C82-8A2F-2BAFBC8E6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80920" cy="3805070"/>
              </a:xfrm>
            </p:spPr>
            <p:txBody>
              <a:bodyPr/>
              <a:lstStyle/>
              <a:p>
                <a:r>
                  <a:rPr lang="en-US" altLang="zh-CN" sz="1800" dirty="0"/>
                  <a:t>Record all modifications to the log, but defer all the writes to after partial commit</a:t>
                </a:r>
              </a:p>
              <a:p>
                <a:pPr lvl="1"/>
                <a:r>
                  <a:rPr lang="en-US" altLang="zh-CN" sz="1600" dirty="0"/>
                  <a:t>Transaction starts by writing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start&gt; record to log</a:t>
                </a:r>
              </a:p>
              <a:p>
                <a:pPr lvl="1"/>
                <a:r>
                  <a:rPr lang="en-US" altLang="zh-CN" sz="1600" dirty="0"/>
                  <a:t>A write(X) operation results in a log record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&gt; being written,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 is the new value</a:t>
                </a:r>
              </a:p>
              <a:p>
                <a:pPr lvl="1"/>
                <a:r>
                  <a:rPr lang="en-US" altLang="zh-CN" sz="1600" dirty="0"/>
                  <a:t>The write is not performed on X at this time, but is deferred</a:t>
                </a:r>
              </a:p>
              <a:p>
                <a:pPr lvl="1"/>
                <a:r>
                  <a:rPr lang="en-US" altLang="zh-CN" sz="16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partially commits,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commit&gt; is written to the log </a:t>
                </a:r>
              </a:p>
              <a:p>
                <a:pPr lvl="1"/>
                <a:r>
                  <a:rPr lang="en-US" altLang="zh-CN" sz="1600" dirty="0"/>
                  <a:t>Finally,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the log records are read </a:t>
                </a:r>
                <a:r>
                  <a:rPr lang="en-US" altLang="zh-CN" sz="1600" dirty="0"/>
                  <a:t>and used to actually execute the previously deferred writes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78990D-6E5B-4C82-8A2F-2BAFBC8E6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80920" cy="3805070"/>
              </a:xfrm>
              <a:blipFill>
                <a:blip r:embed="rId2"/>
                <a:stretch>
                  <a:fillRect l="-442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406900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50CA5-E386-4597-8856-37502303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Deferred Database Modification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B261936-80FF-45D3-9E15-B1FA3A2FD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771550"/>
                <a:ext cx="8064896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Recovery after a crash</a:t>
                </a:r>
              </a:p>
              <a:p>
                <a:pPr lvl="1"/>
                <a:r>
                  <a:rPr lang="en-US" altLang="zh-CN" sz="1800" dirty="0"/>
                  <a:t>A transaction needs to be redone </a:t>
                </a:r>
                <a:r>
                  <a:rPr lang="en-US" altLang="zh-CN" sz="1800" dirty="0" err="1"/>
                  <a:t>iff</a:t>
                </a:r>
                <a:r>
                  <a:rPr lang="en-US" altLang="zh-CN" sz="1800" dirty="0"/>
                  <a:t> both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start&gt; and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commit&gt; are there in the log</a:t>
                </a:r>
              </a:p>
              <a:p>
                <a:pPr lvl="1"/>
                <a:r>
                  <a:rPr lang="en-US" altLang="zh-CN" sz="1800" dirty="0"/>
                  <a:t>Redo(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) sets the value of all data items updated by the transaction to the new values</a:t>
                </a:r>
              </a:p>
              <a:p>
                <a:r>
                  <a:rPr lang="en-US" altLang="zh-CN" sz="2000" b="1" dirty="0"/>
                  <a:t>Example: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800" dirty="0"/>
                  <a:t> executes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/>
                  <a:t>, and initial: A=1000, B=2000, C=700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	</a:t>
                </a:r>
                <a:r>
                  <a:rPr lang="en-US" altLang="zh-CN" sz="1600" dirty="0"/>
                  <a:t>T</a:t>
                </a:r>
                <a:r>
                  <a:rPr lang="en-US" altLang="zh-CN" sz="1600" baseline="-25000" dirty="0"/>
                  <a:t>0</a:t>
                </a:r>
                <a:r>
                  <a:rPr lang="en-US" altLang="zh-CN" sz="1600" dirty="0"/>
                  <a:t>: read (A)	T</a:t>
                </a:r>
                <a:r>
                  <a:rPr lang="en-US" altLang="zh-CN" sz="1600" baseline="-25000" dirty="0"/>
                  <a:t>1</a:t>
                </a:r>
                <a:r>
                  <a:rPr lang="en-US" altLang="zh-CN" sz="1600" dirty="0"/>
                  <a:t> : read (C)</a:t>
                </a:r>
              </a:p>
              <a:p>
                <a:pPr marL="0" indent="0">
                  <a:buNone/>
                </a:pPr>
                <a:r>
                  <a:rPr lang="en-US" altLang="zh-CN" sz="1600" dirty="0"/>
                  <a:t>	A: = A - 50	       C:= C- 100</a:t>
                </a:r>
              </a:p>
              <a:p>
                <a:pPr marL="0" indent="0">
                  <a:buNone/>
                </a:pPr>
                <a:r>
                  <a:rPr lang="en-US" altLang="zh-CN" sz="1600" dirty="0"/>
                  <a:t>	write (A)		       write (C)</a:t>
                </a:r>
              </a:p>
              <a:p>
                <a:pPr marL="0" indent="0">
                  <a:buNone/>
                </a:pPr>
                <a:r>
                  <a:rPr lang="en-US" altLang="zh-CN" sz="1600" dirty="0"/>
                  <a:t>	read (B)</a:t>
                </a:r>
              </a:p>
              <a:p>
                <a:pPr marL="0" indent="0">
                  <a:buNone/>
                </a:pPr>
                <a:r>
                  <a:rPr lang="en-US" altLang="zh-CN" sz="1600" dirty="0"/>
                  <a:t>	B:=  B + 50</a:t>
                </a:r>
              </a:p>
              <a:p>
                <a:pPr marL="0" indent="0">
                  <a:buNone/>
                </a:pPr>
                <a:r>
                  <a:rPr lang="en-US" altLang="zh-CN" sz="1600" dirty="0"/>
                  <a:t>	write (B)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B261936-80FF-45D3-9E15-B1FA3A2FD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71550"/>
                <a:ext cx="8064896" cy="3805070"/>
              </a:xfrm>
              <a:blipFill>
                <a:blip r:embed="rId2"/>
                <a:stretch>
                  <a:fillRect l="-680" t="-801" r="-76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18813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D1906-4B5D-4EFE-B92C-10772273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Deferred Database Modification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4E962-5A65-4B68-93E4-0744B6239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075805"/>
            <a:ext cx="8568952" cy="1518817"/>
          </a:xfrm>
        </p:spPr>
        <p:txBody>
          <a:bodyPr/>
          <a:lstStyle/>
          <a:p>
            <a:r>
              <a:rPr lang="en-US" altLang="zh-CN" sz="1800" dirty="0"/>
              <a:t>Recovery actions in each case above:</a:t>
            </a:r>
          </a:p>
          <a:p>
            <a:pPr lvl="1"/>
            <a:r>
              <a:rPr lang="en-US" altLang="zh-CN" sz="1600" dirty="0"/>
              <a:t>(a)  No redo actions need to be taken</a:t>
            </a:r>
          </a:p>
          <a:p>
            <a:pPr lvl="1"/>
            <a:r>
              <a:rPr lang="en-US" altLang="zh-CN" sz="1600" dirty="0"/>
              <a:t>(b)  redo(T</a:t>
            </a:r>
            <a:r>
              <a:rPr lang="en-US" altLang="zh-CN" sz="1600" baseline="-25000" dirty="0"/>
              <a:t>0</a:t>
            </a:r>
            <a:r>
              <a:rPr lang="en-US" altLang="zh-CN" sz="1600" dirty="0"/>
              <a:t>) must be performed</a:t>
            </a:r>
          </a:p>
          <a:p>
            <a:pPr lvl="1"/>
            <a:r>
              <a:rPr lang="en-US" altLang="zh-CN" sz="1600" dirty="0"/>
              <a:t>(c)  redo(T</a:t>
            </a:r>
            <a:r>
              <a:rPr lang="en-US" altLang="zh-CN" sz="1600" baseline="-25000" dirty="0"/>
              <a:t>0</a:t>
            </a:r>
            <a:r>
              <a:rPr lang="en-US" altLang="zh-CN" sz="1600" dirty="0"/>
              <a:t>) must be performed followed by redo(T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)</a:t>
            </a:r>
          </a:p>
          <a:p>
            <a:endParaRPr lang="zh-CN" altLang="en-US" sz="1800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0CAF53C8-294E-4836-A5CC-8DD96E724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" t="22224" r="2396" b="22224"/>
          <a:stretch>
            <a:fillRect/>
          </a:stretch>
        </p:blipFill>
        <p:spPr bwMode="auto">
          <a:xfrm>
            <a:off x="1810941" y="891779"/>
            <a:ext cx="4797028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3689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BE0ED-B219-4BF9-8999-07966118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Immediate Database Modification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20034-C44E-4CB9-8093-A624507D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7992888" cy="3805070"/>
          </a:xfrm>
        </p:spPr>
        <p:txBody>
          <a:bodyPr/>
          <a:lstStyle/>
          <a:p>
            <a:r>
              <a:rPr lang="en-US" altLang="zh-CN" sz="2000" dirty="0"/>
              <a:t>Allows database updates of an uncommitted transaction</a:t>
            </a:r>
          </a:p>
          <a:p>
            <a:pPr lvl="1"/>
            <a:r>
              <a:rPr lang="en-US" altLang="zh-CN" sz="1800" dirty="0"/>
              <a:t>Update log records must be written </a:t>
            </a:r>
            <a:r>
              <a:rPr lang="en-US" altLang="zh-CN" sz="1800" b="1" dirty="0">
                <a:solidFill>
                  <a:srgbClr val="C00000"/>
                </a:solidFill>
              </a:rPr>
              <a:t>before</a:t>
            </a:r>
            <a:r>
              <a:rPr lang="en-US" altLang="zh-CN" sz="1800" dirty="0"/>
              <a:t> database items are written</a:t>
            </a:r>
          </a:p>
          <a:p>
            <a:pPr lvl="1"/>
            <a:r>
              <a:rPr lang="en-US" altLang="zh-CN" sz="1800" dirty="0"/>
              <a:t>The output of updated blocks can take place at any time before or after transaction commit</a:t>
            </a:r>
          </a:p>
          <a:p>
            <a:pPr lvl="1"/>
            <a:r>
              <a:rPr lang="en-US" altLang="zh-CN" sz="1800" dirty="0"/>
              <a:t>Order in which blocks are output can be different from the order in which they are written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7230144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D89B4-0A7C-4BF1-BA6B-C2FFA033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Immediate Database Modification Example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8CDA3-8D50-40E7-9BEF-944A7885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933450"/>
            <a:ext cx="6550199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b="1" kern="0" dirty="0">
                <a:ea typeface="宋体" panose="02010600030101010101" pitchFamily="2" charset="-122"/>
              </a:rPr>
              <a:t>Log                                      Write                        Output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400" kern="0" dirty="0"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&lt;</a:t>
            </a:r>
            <a:r>
              <a:rPr lang="en-US" altLang="zh-CN" sz="1400" i="1" kern="0" dirty="0">
                <a:ea typeface="宋体" panose="02010600030101010101" pitchFamily="2" charset="-122"/>
              </a:rPr>
              <a:t>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400" i="1" kern="0" dirty="0">
                <a:ea typeface="宋体" panose="02010600030101010101" pitchFamily="2" charset="-122"/>
              </a:rPr>
              <a:t> </a:t>
            </a:r>
            <a:r>
              <a:rPr lang="en-US" altLang="zh-CN" sz="1400" kern="0" dirty="0">
                <a:ea typeface="宋体" panose="02010600030101010101" pitchFamily="2" charset="-122"/>
              </a:rPr>
              <a:t>start&gt;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&lt;</a:t>
            </a:r>
            <a:r>
              <a:rPr lang="en-US" altLang="zh-CN" sz="1400" i="1" kern="0" dirty="0">
                <a:ea typeface="宋体" panose="02010600030101010101" pitchFamily="2" charset="-122"/>
              </a:rPr>
              <a:t>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400" i="1" kern="0" dirty="0">
                <a:ea typeface="宋体" panose="02010600030101010101" pitchFamily="2" charset="-122"/>
              </a:rPr>
              <a:t>,</a:t>
            </a:r>
            <a:r>
              <a:rPr lang="en-US" altLang="zh-CN" sz="1400" kern="0" dirty="0">
                <a:ea typeface="宋体" panose="02010600030101010101" pitchFamily="2" charset="-122"/>
              </a:rPr>
              <a:t> A, 1000, 950&gt;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1400" i="1" kern="0" dirty="0">
                <a:ea typeface="宋体" panose="02010600030101010101" pitchFamily="2" charset="-122"/>
              </a:rPr>
              <a:t>&lt;T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400" i="1" kern="0" dirty="0">
                <a:ea typeface="宋体" panose="02010600030101010101" pitchFamily="2" charset="-122"/>
              </a:rPr>
              <a:t>,</a:t>
            </a:r>
            <a:r>
              <a:rPr lang="en-US" altLang="zh-CN" sz="1400" kern="0" dirty="0">
                <a:ea typeface="宋体" panose="02010600030101010101" pitchFamily="2" charset="-122"/>
              </a:rPr>
              <a:t> B, 2000, 2050&gt;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                                           </a:t>
            </a:r>
            <a:r>
              <a:rPr lang="en-US" altLang="zh-CN" sz="1400" i="1" kern="0" dirty="0">
                <a:ea typeface="宋体" panose="02010600030101010101" pitchFamily="2" charset="-122"/>
              </a:rPr>
              <a:t>A</a:t>
            </a:r>
            <a:r>
              <a:rPr lang="en-US" altLang="zh-CN" sz="1400" kern="0" dirty="0">
                <a:ea typeface="宋体" panose="02010600030101010101" pitchFamily="2" charset="-122"/>
              </a:rPr>
              <a:t> = 950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                                           </a:t>
            </a:r>
            <a:r>
              <a:rPr lang="en-US" altLang="zh-CN" sz="1400" i="1" kern="0" dirty="0">
                <a:ea typeface="宋体" panose="02010600030101010101" pitchFamily="2" charset="-122"/>
              </a:rPr>
              <a:t>B</a:t>
            </a:r>
            <a:r>
              <a:rPr lang="en-US" altLang="zh-CN" sz="1400" kern="0" dirty="0">
                <a:ea typeface="宋体" panose="02010600030101010101" pitchFamily="2" charset="-122"/>
              </a:rPr>
              <a:t> = 2050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&lt;</a:t>
            </a:r>
            <a:r>
              <a:rPr lang="en-US" altLang="zh-CN" sz="1400" i="1" kern="0" dirty="0">
                <a:ea typeface="宋体" panose="02010600030101010101" pitchFamily="2" charset="-122"/>
              </a:rPr>
              <a:t>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400" kern="0" dirty="0">
                <a:ea typeface="宋体" panose="02010600030101010101" pitchFamily="2" charset="-122"/>
              </a:rPr>
              <a:t> commit&gt;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&lt;</a:t>
            </a:r>
            <a:r>
              <a:rPr lang="en-US" altLang="zh-CN" sz="1400" i="1" kern="0" dirty="0">
                <a:ea typeface="宋体" panose="02010600030101010101" pitchFamily="2" charset="-122"/>
              </a:rPr>
              <a:t>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1</a:t>
            </a:r>
            <a:r>
              <a:rPr lang="en-US" altLang="zh-CN" sz="1400" kern="0" dirty="0">
                <a:ea typeface="宋体" panose="02010600030101010101" pitchFamily="2" charset="-122"/>
              </a:rPr>
              <a:t> start&gt;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&lt;</a:t>
            </a:r>
            <a:r>
              <a:rPr lang="en-US" altLang="zh-CN" sz="1400" i="1" kern="0" dirty="0">
                <a:ea typeface="宋体" panose="02010600030101010101" pitchFamily="2" charset="-122"/>
              </a:rPr>
              <a:t>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1</a:t>
            </a:r>
            <a:r>
              <a:rPr lang="en-US" altLang="zh-CN" sz="1400" kern="0" dirty="0">
                <a:ea typeface="宋体" panose="02010600030101010101" pitchFamily="2" charset="-122"/>
              </a:rPr>
              <a:t>, C, 700, 600&gt;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                                          </a:t>
            </a:r>
            <a:r>
              <a:rPr lang="en-US" altLang="zh-CN" sz="1400" i="1" kern="0" dirty="0">
                <a:ea typeface="宋体" panose="02010600030101010101" pitchFamily="2" charset="-122"/>
              </a:rPr>
              <a:t>C</a:t>
            </a:r>
            <a:r>
              <a:rPr lang="en-US" altLang="zh-CN" sz="1400" kern="0" dirty="0">
                <a:ea typeface="宋体" panose="02010600030101010101" pitchFamily="2" charset="-122"/>
              </a:rPr>
              <a:t> = 600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 &lt;</a:t>
            </a:r>
            <a:r>
              <a:rPr lang="en-US" altLang="zh-CN" sz="1400" i="1" kern="0" dirty="0">
                <a:ea typeface="宋体" panose="02010600030101010101" pitchFamily="2" charset="-122"/>
              </a:rPr>
              <a:t>T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1</a:t>
            </a:r>
            <a:r>
              <a:rPr lang="en-US" altLang="zh-CN" sz="1400" kern="0" dirty="0">
                <a:ea typeface="宋体" panose="02010600030101010101" pitchFamily="2" charset="-122"/>
              </a:rPr>
              <a:t> commit&gt;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kern="0" dirty="0">
                <a:ea typeface="宋体" panose="02010600030101010101" pitchFamily="2" charset="-122"/>
              </a:rPr>
              <a:t>                                                                            </a:t>
            </a:r>
            <a:r>
              <a:rPr lang="en-US" altLang="zh-CN" sz="1400" i="1" kern="0" dirty="0">
                <a:ea typeface="宋体" panose="02010600030101010101" pitchFamily="2" charset="-122"/>
              </a:rPr>
              <a:t>B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B</a:t>
            </a:r>
            <a:r>
              <a:rPr lang="en-US" altLang="zh-CN" sz="1400" kern="0" dirty="0">
                <a:ea typeface="宋体" panose="02010600030101010101" pitchFamily="2" charset="-122"/>
              </a:rPr>
              <a:t>, </a:t>
            </a:r>
            <a:r>
              <a:rPr lang="en-US" altLang="zh-CN" sz="1400" i="1" kern="0" dirty="0">
                <a:ea typeface="宋体" panose="02010600030101010101" pitchFamily="2" charset="-122"/>
              </a:rPr>
              <a:t>B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C</a:t>
            </a:r>
            <a:endParaRPr lang="en-US" altLang="zh-CN" sz="1400" kern="0" dirty="0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1400" i="1" kern="0" dirty="0">
                <a:ea typeface="宋体" panose="02010600030101010101" pitchFamily="2" charset="-122"/>
              </a:rPr>
              <a:t>					  B</a:t>
            </a:r>
            <a:r>
              <a:rPr lang="en-US" altLang="zh-CN" sz="1400" i="1" kern="0" baseline="-25000" dirty="0">
                <a:ea typeface="宋体" panose="02010600030101010101" pitchFamily="2" charset="-122"/>
              </a:rPr>
              <a:t>A</a:t>
            </a:r>
            <a:endParaRPr lang="en-US" altLang="zh-CN" sz="1400" kern="0" dirty="0"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1400" b="1" kern="0" dirty="0"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b="1" kern="0" dirty="0">
                <a:ea typeface="宋体" panose="02010600030101010101" pitchFamily="2" charset="-122"/>
              </a:rPr>
              <a:t>Note: </a:t>
            </a:r>
            <a:r>
              <a:rPr lang="en-US" altLang="zh-CN" sz="1400" b="1" i="1" kern="0" dirty="0">
                <a:ea typeface="宋体" panose="02010600030101010101" pitchFamily="2" charset="-122"/>
              </a:rPr>
              <a:t>B</a:t>
            </a:r>
            <a:r>
              <a:rPr lang="en-US" altLang="zh-CN" sz="1400" b="1" i="1" kern="0" baseline="-25000" dirty="0">
                <a:ea typeface="宋体" panose="02010600030101010101" pitchFamily="2" charset="-122"/>
              </a:rPr>
              <a:t>X</a:t>
            </a:r>
            <a:r>
              <a:rPr lang="en-US" altLang="zh-CN" sz="1400" b="1" i="1" kern="0" dirty="0">
                <a:ea typeface="宋体" panose="02010600030101010101" pitchFamily="2" charset="-122"/>
              </a:rPr>
              <a:t> </a:t>
            </a:r>
            <a:r>
              <a:rPr lang="en-US" altLang="zh-CN" sz="1400" b="1" kern="0" dirty="0">
                <a:ea typeface="宋体" panose="02010600030101010101" pitchFamily="2" charset="-122"/>
              </a:rPr>
              <a:t>denotes the block containing </a:t>
            </a:r>
            <a:r>
              <a:rPr lang="en-US" altLang="zh-CN" sz="1400" b="1" i="1" kern="0" dirty="0">
                <a:ea typeface="宋体" panose="02010600030101010101" pitchFamily="2" charset="-122"/>
              </a:rPr>
              <a:t>X</a:t>
            </a:r>
            <a:endParaRPr lang="en-US" altLang="zh-CN" sz="1400" b="1" kern="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53743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8663D-4215-4A60-A867-1ADA3936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Immediate Database Modification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7F0C386-DFBD-4E6A-9A61-4EA99515AB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136904" cy="3805070"/>
              </a:xfrm>
            </p:spPr>
            <p:txBody>
              <a:bodyPr/>
              <a:lstStyle/>
              <a:p>
                <a:r>
                  <a:rPr lang="en-US" altLang="zh-CN" sz="1800" dirty="0"/>
                  <a:t>Recovery procedure has two operations</a:t>
                </a:r>
              </a:p>
              <a:p>
                <a:pPr lvl="1"/>
                <a:r>
                  <a:rPr lang="en-US" altLang="zh-CN" sz="1400" dirty="0"/>
                  <a:t>undo(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): restore the values of all the data items updated by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to the old values</a:t>
                </a:r>
              </a:p>
              <a:p>
                <a:pPr lvl="1"/>
                <a:r>
                  <a:rPr lang="en-US" altLang="zh-CN" sz="1400" dirty="0"/>
                  <a:t>redo(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): set the values of all data items updated by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to the new values</a:t>
                </a:r>
              </a:p>
              <a:p>
                <a:r>
                  <a:rPr lang="en-US" altLang="zh-CN" sz="1800" dirty="0"/>
                  <a:t>When recovering after failure</a:t>
                </a:r>
              </a:p>
              <a:p>
                <a:pPr lvl="1"/>
                <a:r>
                  <a:rPr lang="en-US" altLang="zh-CN" sz="1400" dirty="0"/>
                  <a:t>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needs to be undone if the log contains the record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start&gt;, but does not contain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commit&gt;</a:t>
                </a:r>
              </a:p>
              <a:p>
                <a:pPr lvl="1"/>
                <a:r>
                  <a:rPr lang="en-US" altLang="zh-CN" sz="1400" dirty="0"/>
                  <a:t>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needs to be redone if the log contains both the record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start&gt; and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commit&gt;</a:t>
                </a:r>
              </a:p>
              <a:p>
                <a:r>
                  <a:rPr lang="en-US" altLang="zh-CN" sz="1800" dirty="0"/>
                  <a:t>Undo operations are performed first, then redo operations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7F0C386-DFBD-4E6A-9A61-4EA99515A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136904" cy="3805070"/>
              </a:xfrm>
              <a:blipFill>
                <a:blip r:embed="rId2"/>
                <a:stretch>
                  <a:fillRect l="-449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47539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24F5E-D580-484A-BFEE-454D9D24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Immediate DB Modification Recovery 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8C7075-DFF1-4F7C-8040-D1A8AD10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075805"/>
            <a:ext cx="8568952" cy="1518817"/>
          </a:xfrm>
        </p:spPr>
        <p:txBody>
          <a:bodyPr/>
          <a:lstStyle/>
          <a:p>
            <a:r>
              <a:rPr lang="en-US" altLang="zh-CN" sz="1800" dirty="0"/>
              <a:t>Recovery actions in each case above are:</a:t>
            </a:r>
          </a:p>
          <a:p>
            <a:pPr lvl="1"/>
            <a:r>
              <a:rPr lang="en-US" altLang="zh-CN" sz="1600" dirty="0"/>
              <a:t>(a) undo(T</a:t>
            </a:r>
            <a:r>
              <a:rPr lang="en-US" altLang="zh-CN" sz="1600" baseline="-25000" dirty="0"/>
              <a:t>0</a:t>
            </a:r>
            <a:r>
              <a:rPr lang="en-US" altLang="zh-CN" sz="1600" dirty="0"/>
              <a:t>)</a:t>
            </a:r>
          </a:p>
          <a:p>
            <a:pPr lvl="1"/>
            <a:r>
              <a:rPr lang="en-US" altLang="zh-CN" sz="1600" dirty="0"/>
              <a:t>(b) undo(T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) and redo(T</a:t>
            </a:r>
            <a:r>
              <a:rPr lang="en-US" altLang="zh-CN" sz="1600" baseline="-25000" dirty="0"/>
              <a:t>0</a:t>
            </a:r>
            <a:r>
              <a:rPr lang="en-US" altLang="zh-CN" sz="1600" dirty="0"/>
              <a:t>)</a:t>
            </a:r>
          </a:p>
          <a:p>
            <a:pPr lvl="1"/>
            <a:r>
              <a:rPr lang="en-US" altLang="zh-CN" sz="1600" dirty="0"/>
              <a:t>(c) redo(T</a:t>
            </a:r>
            <a:r>
              <a:rPr lang="en-US" altLang="zh-CN" sz="1600" baseline="-25000" dirty="0"/>
              <a:t>0</a:t>
            </a:r>
            <a:r>
              <a:rPr lang="en-US" altLang="zh-CN" sz="1600" dirty="0"/>
              <a:t>) and redo(T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)</a:t>
            </a:r>
          </a:p>
          <a:p>
            <a:endParaRPr lang="zh-CN" altLang="en-US" sz="1800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5B9741D3-2930-4246-9FB8-AE50D5667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29491" r="1773" b="29166"/>
          <a:stretch/>
        </p:blipFill>
        <p:spPr bwMode="auto">
          <a:xfrm>
            <a:off x="1619672" y="1097280"/>
            <a:ext cx="5307806" cy="169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54747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A55CB-FBC5-4BA1-A9B9-75E5438B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Checkpoint (</a:t>
            </a:r>
            <a:r>
              <a:rPr lang="zh-CN" altLang="en-US" dirty="0"/>
              <a:t>检查点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B5CBE-26BF-440C-AAEF-148EC2A3F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b="1" dirty="0"/>
              <a:t>Problems in the recovery procedure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Searching the entire log is time-consuming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Might unnecessarily redo transactions which have already output their updates to the database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Recovery procedure sets checkpoints periodically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Output all the </a:t>
            </a:r>
            <a:r>
              <a:rPr lang="en-US" altLang="zh-CN" sz="1600" b="1" dirty="0">
                <a:solidFill>
                  <a:srgbClr val="C00000"/>
                </a:solidFill>
              </a:rPr>
              <a:t>log records </a:t>
            </a:r>
            <a:r>
              <a:rPr lang="en-US" altLang="zh-CN" sz="1600" dirty="0"/>
              <a:t>currently residing in main memory to stable storage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Output all the </a:t>
            </a:r>
            <a:r>
              <a:rPr lang="en-US" altLang="zh-CN" sz="1600" b="1" dirty="0">
                <a:solidFill>
                  <a:srgbClr val="C00000"/>
                </a:solidFill>
              </a:rPr>
              <a:t>modified buffer blocks </a:t>
            </a:r>
            <a:r>
              <a:rPr lang="en-US" altLang="zh-CN" sz="1600" dirty="0"/>
              <a:t>to the disk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Write a log record &lt;checkpoint&gt; to stable storage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0467943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C15BA-E473-4FEF-947C-EB268AFB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Checkpoints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91E15F-8EF7-4654-8577-BAF8B1D29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During recovery</a:t>
                </a:r>
              </a:p>
              <a:p>
                <a:pPr lvl="1"/>
                <a:r>
                  <a:rPr lang="en-US" altLang="zh-CN" sz="1600" dirty="0"/>
                  <a:t>Scan backwards from the end of log to find the most recent &lt;checkpoint&gt; record </a:t>
                </a:r>
              </a:p>
              <a:p>
                <a:pPr lvl="1"/>
                <a:r>
                  <a:rPr lang="en-US" altLang="zh-CN" sz="1600" dirty="0"/>
                  <a:t>Continue scanning backwards till a record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start&gt; is found. We assume that all transactions are executed serially</a:t>
                </a:r>
              </a:p>
              <a:p>
                <a:pPr lvl="2"/>
                <a:r>
                  <a:rPr lang="en-US" altLang="zh-CN" sz="1400" dirty="0"/>
                  <a:t>Need only consider the part of log following above start record</a:t>
                </a:r>
              </a:p>
              <a:p>
                <a:pPr lvl="2"/>
                <a:r>
                  <a:rPr lang="en-US" altLang="zh-CN" sz="1400" dirty="0"/>
                  <a:t>For all transactions (starting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or later) with no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commit&gt;, execute undo(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). </a:t>
                </a:r>
              </a:p>
              <a:p>
                <a:pPr lvl="2"/>
                <a:r>
                  <a:rPr lang="en-US" altLang="zh-CN" sz="1400" dirty="0"/>
                  <a:t>Scanning forward in the log, for all transactions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and later with a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 commit&gt;,  execute redo(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).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91E15F-8EF7-4654-8577-BAF8B1D29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2"/>
                <a:stretch>
                  <a:fillRect l="-445" t="-962" r="-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35782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D43D8-93B7-4EBE-9E39-827C15B3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Checkpoints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085FF-32BB-4687-9AE0-4B3F3690C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3291829"/>
            <a:ext cx="8208911" cy="1302793"/>
          </a:xfrm>
        </p:spPr>
        <p:txBody>
          <a:bodyPr/>
          <a:lstStyle/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can be ignored (updates have been already output to disk according to the checkpoint)</a:t>
            </a:r>
          </a:p>
          <a:p>
            <a:r>
              <a:rPr lang="en-US" altLang="zh-CN" sz="1800" dirty="0"/>
              <a:t>redo T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and T</a:t>
            </a:r>
            <a:r>
              <a:rPr lang="en-US" altLang="zh-CN" sz="1800" baseline="-25000" dirty="0"/>
              <a:t>3</a:t>
            </a:r>
            <a:endParaRPr lang="en-US" altLang="zh-CN" sz="1800" dirty="0"/>
          </a:p>
          <a:p>
            <a:r>
              <a:rPr lang="en-US" altLang="zh-CN" sz="1800" dirty="0"/>
              <a:t>undo T</a:t>
            </a:r>
            <a:r>
              <a:rPr lang="en-US" altLang="zh-CN" sz="1800" baseline="-25000" dirty="0"/>
              <a:t>4</a:t>
            </a:r>
            <a:endParaRPr lang="en-US" altLang="zh-CN" sz="1800" dirty="0"/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id="{A15EA78B-0A8C-42B1-99A9-361371B4FFED}"/>
              </a:ext>
            </a:extLst>
          </p:cNvPr>
          <p:cNvGrpSpPr>
            <a:grpSpLocks/>
          </p:cNvGrpSpPr>
          <p:nvPr/>
        </p:nvGrpSpPr>
        <p:grpSpPr bwMode="auto">
          <a:xfrm>
            <a:off x="2267744" y="829160"/>
            <a:ext cx="4229100" cy="2283619"/>
            <a:chOff x="1008" y="763"/>
            <a:chExt cx="3552" cy="1918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79AAF7BC-6B14-4B86-BBEC-59118C883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008"/>
              <a:ext cx="35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FAD31D4F-537A-4085-AF00-889BA4810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008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C652C22-E392-408E-B9D2-297F6B6E0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008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999E309B-0559-4FB1-8440-E322A0FDB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778"/>
              <a:ext cx="32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c</a:t>
              </a:r>
              <a:endParaRPr kumimoji="0" lang="en-US" altLang="zh-CN" sz="15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F3492E2F-3FD7-4F01-9A6F-906C9114E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763"/>
              <a:ext cx="32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f</a:t>
              </a:r>
              <a:endParaRPr kumimoji="0" lang="en-US" altLang="zh-CN" sz="15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4F0D4460-8FF3-4BF9-AFD3-9D2FB5E59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4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6277DEC-F750-4D06-A988-C702C6138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9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0FBF0685-7411-4464-B01C-7A36AEC8F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4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289FD496-F2F9-40B3-BE94-F058E817E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48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E15721DB-A3C9-4431-9A8B-7915AC780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53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FD7E82F-E846-463D-AA29-EB2EEDA8C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8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059021AD-4703-447C-87A9-90F66CB9B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72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DBBA715B-9263-4E4D-83A6-2A72D3D17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77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FE649904-9A1D-42FF-A849-092BB8935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72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34DC73F9-5114-4F69-BB69-FB3AB5E52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016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6D3FBFE3-A664-4A76-B7B1-9D1B15129F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2054"/>
              <a:ext cx="574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8885596D-606B-4D08-9BBA-2527DB59F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16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E70A6A15-A2DB-4C1A-8B33-694A39AD2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1066"/>
              <a:ext cx="33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1</a:t>
              </a:r>
              <a:endParaRPr kumimoji="0" lang="en-US" altLang="zh-CN" sz="15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D10B3953-726E-4327-A48B-99C3EEC12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6" y="1295"/>
              <a:ext cx="33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2</a:t>
              </a:r>
              <a:endParaRPr kumimoji="0" lang="en-US" altLang="zh-CN" sz="15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6AA9E0A0-5B9D-46CA-AC65-9AF5ED80A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4" y="1535"/>
              <a:ext cx="33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3</a:t>
              </a:r>
              <a:endParaRPr kumimoji="0" lang="en-US" altLang="zh-CN" sz="15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2EEA409E-405A-4BF1-B2CE-984E0E306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2" y="1823"/>
              <a:ext cx="33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5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4</a:t>
              </a:r>
              <a:endParaRPr kumimoji="0" lang="en-US" altLang="zh-CN" sz="15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51E5E2C5-5699-4846-941A-85F2E3C99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10"/>
              <a:ext cx="9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checkpoint</a:t>
              </a: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2411C5F2-9A44-4FBD-BA1B-EFAF89DDC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395"/>
              <a:ext cx="127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system failure</a:t>
              </a:r>
            </a:p>
          </p:txBody>
        </p:sp>
      </p:grpSp>
      <p:sp>
        <p:nvSpPr>
          <p:cNvPr id="28" name="Line 17">
            <a:extLst>
              <a:ext uri="{FF2B5EF4-FFF2-40B4-BE49-F238E27FC236}">
                <a16:creationId xmlns:a16="http://schemas.microsoft.com/office/drawing/2014/main" id="{341BCC0F-0F70-482F-A258-4A65974C5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112" y="2313434"/>
            <a:ext cx="0" cy="11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112127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Failure Classification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Storage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and Atomicity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Recovery Algorithms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Buffer Management</a:t>
            </a:r>
          </a:p>
        </p:txBody>
      </p:sp>
    </p:spTree>
    <p:extLst>
      <p:ext uri="{BB962C8B-B14F-4D97-AF65-F5344CB8AC3E}">
        <p14:creationId xmlns:p14="http://schemas.microsoft.com/office/powerpoint/2010/main" val="299865475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3E878-A6A3-44DF-BC48-6EBD4EB9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Recovery with Concurrent Transactions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3EFDA-BB4E-4CB6-9330-DA3E745BB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dirty="0"/>
              <a:t>Modify the log-based recovery scheme to allow multiple transactions to execute concurrently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All transactions share </a:t>
            </a:r>
            <a:r>
              <a:rPr lang="en-US" altLang="zh-CN" sz="1600" dirty="0">
                <a:solidFill>
                  <a:srgbClr val="C00000"/>
                </a:solidFill>
              </a:rPr>
              <a:t>a single disk buffer </a:t>
            </a:r>
            <a:r>
              <a:rPr lang="en-US" altLang="zh-CN" sz="1600" dirty="0"/>
              <a:t>and </a:t>
            </a:r>
            <a:r>
              <a:rPr lang="en-US" altLang="zh-CN" sz="1600" dirty="0">
                <a:solidFill>
                  <a:srgbClr val="C00000"/>
                </a:solidFill>
              </a:rPr>
              <a:t>a single log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A buffer block can have data items updated by one or more transactions</a:t>
            </a:r>
          </a:p>
          <a:p>
            <a:pPr>
              <a:spcBef>
                <a:spcPts val="600"/>
              </a:spcBef>
            </a:pPr>
            <a:r>
              <a:rPr lang="en-US" altLang="zh-CN" sz="1800" dirty="0"/>
              <a:t>Assume that concurrency control uses strict two-phase locking</a:t>
            </a:r>
          </a:p>
          <a:p>
            <a:pPr>
              <a:spcBef>
                <a:spcPts val="600"/>
              </a:spcBef>
            </a:pPr>
            <a:r>
              <a:rPr lang="en-US" altLang="zh-CN" sz="1800" dirty="0"/>
              <a:t>Logging is done as described earlier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Log records of different transactions may be interspersed</a:t>
            </a:r>
            <a:r>
              <a:rPr lang="zh-CN" altLang="en-US" sz="1600" dirty="0"/>
              <a:t>（散布）</a:t>
            </a:r>
            <a:r>
              <a:rPr lang="en-US" altLang="zh-CN" sz="1600" dirty="0"/>
              <a:t>in the log</a:t>
            </a:r>
          </a:p>
          <a:p>
            <a:pPr>
              <a:spcBef>
                <a:spcPts val="600"/>
              </a:spcBef>
            </a:pPr>
            <a:r>
              <a:rPr lang="en-US" altLang="zh-CN" sz="1800" dirty="0"/>
              <a:t>The checkpointing technique and actions taken on recovery have to be changed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8452405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8C5E-9644-4B4F-A03D-2564A80E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2800" dirty="0"/>
              <a:t>Recovery with Concurrent Transactions (Cont.)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9CEE71-AED7-486C-9434-A3BF038BB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7524" y="699541"/>
                <a:ext cx="8172908" cy="3774743"/>
              </a:xfrm>
            </p:spPr>
            <p:txBody>
              <a:bodyPr/>
              <a:lstStyle/>
              <a:p>
                <a:r>
                  <a:rPr lang="en-US" altLang="zh-CN" sz="1800" dirty="0"/>
                  <a:t>Checkpoints are performed as before, except that the checkpoint log record is the form &lt;checkpoint L&gt;</a:t>
                </a:r>
              </a:p>
              <a:p>
                <a:pPr lvl="1"/>
                <a:r>
                  <a:rPr lang="en-US" altLang="zh-CN" sz="1600" dirty="0"/>
                  <a:t>L is a list of active transactions at the time of the checkpoint</a:t>
                </a:r>
              </a:p>
              <a:p>
                <a:pPr lvl="1"/>
                <a:r>
                  <a:rPr lang="en-US" altLang="zh-CN" sz="1600" dirty="0"/>
                  <a:t>No update is in progress while the checkpoint is carried out</a:t>
                </a:r>
              </a:p>
              <a:p>
                <a:r>
                  <a:rPr lang="en-US" altLang="zh-CN" sz="1800" dirty="0"/>
                  <a:t>When the system recovers from a crash</a:t>
                </a:r>
              </a:p>
              <a:p>
                <a:pPr lvl="1"/>
                <a:r>
                  <a:rPr lang="en-US" altLang="zh-CN" sz="1600" dirty="0"/>
                  <a:t>Initialize undo-list and redo-list to empty</a:t>
                </a:r>
              </a:p>
              <a:p>
                <a:pPr lvl="1"/>
                <a:r>
                  <a:rPr lang="en-US" altLang="zh-CN" sz="1600" dirty="0"/>
                  <a:t>Scan the log backwards until a &lt;checkpoint L&gt; record is found</a:t>
                </a:r>
              </a:p>
              <a:p>
                <a:pPr lvl="2"/>
                <a:r>
                  <a:rPr lang="en-US" altLang="zh-CN" sz="1400" dirty="0"/>
                  <a:t>if the record is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commit&gt;,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to redo-list</a:t>
                </a:r>
              </a:p>
              <a:p>
                <a:pPr lvl="2"/>
                <a:r>
                  <a:rPr lang="en-US" altLang="zh-CN" sz="1400" dirty="0"/>
                  <a:t>if the record is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start&gt;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/>
                  <a:t>is not in redo-list,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to undo-list</a:t>
                </a:r>
              </a:p>
              <a:p>
                <a:pPr lvl="2"/>
                <a:r>
                  <a:rPr lang="en-US" altLang="zh-CN" sz="1400" dirty="0"/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in L,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/>
                  <a:t>is not in redo-list,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/>
                  <a:t>to undo-list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9CEE71-AED7-486C-9434-A3BF038BB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699541"/>
                <a:ext cx="8172908" cy="3774743"/>
              </a:xfrm>
              <a:blipFill>
                <a:blip r:embed="rId2"/>
                <a:stretch>
                  <a:fillRect l="-447" t="-969" r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70953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9D947-F4B2-4505-B92D-96C4E127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Recovery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9A015C-A6DB-4A7A-8CF6-D960E7B9D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Go through the steps of the recovery algorithm on the following log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2F0BA-48F1-4AB5-8E87-B0D8B0695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1280548"/>
            <a:ext cx="3654450" cy="34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350" i="1" kern="0" dirty="0">
                <a:ea typeface="宋体" panose="02010600030101010101" pitchFamily="2" charset="-122"/>
              </a:rPr>
              <a:t> </a:t>
            </a:r>
            <a:r>
              <a:rPr lang="en-US" altLang="zh-CN" sz="1350" b="1" kern="0" dirty="0">
                <a:ea typeface="宋体" panose="02010600030101010101" pitchFamily="2" charset="-122"/>
              </a:rPr>
              <a:t>start</a:t>
            </a:r>
            <a:r>
              <a:rPr lang="en-US" altLang="zh-CN" sz="1350" kern="0" dirty="0">
                <a:ea typeface="宋体" panose="02010600030101010101" pitchFamily="2" charset="-122"/>
              </a:rPr>
              <a:t>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350" kern="0" dirty="0">
                <a:ea typeface="宋体" panose="02010600030101010101" pitchFamily="2" charset="-122"/>
              </a:rPr>
              <a:t>, </a:t>
            </a:r>
            <a:r>
              <a:rPr lang="en-US" altLang="zh-CN" sz="1350" i="1" kern="0" dirty="0">
                <a:ea typeface="宋体" panose="02010600030101010101" pitchFamily="2" charset="-122"/>
              </a:rPr>
              <a:t>A</a:t>
            </a:r>
            <a:r>
              <a:rPr lang="en-US" altLang="zh-CN" sz="1350" kern="0" dirty="0">
                <a:ea typeface="宋体" panose="02010600030101010101" pitchFamily="2" charset="-122"/>
              </a:rPr>
              <a:t>, 0, 10&gt;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0</a:t>
            </a:r>
            <a:r>
              <a:rPr lang="en-US" altLang="zh-CN" sz="1350" kern="0" dirty="0">
                <a:ea typeface="宋体" panose="02010600030101010101" pitchFamily="2" charset="-122"/>
              </a:rPr>
              <a:t> </a:t>
            </a:r>
            <a:r>
              <a:rPr lang="en-US" altLang="zh-CN" sz="1350" b="1" kern="0" dirty="0">
                <a:ea typeface="宋体" panose="02010600030101010101" pitchFamily="2" charset="-122"/>
              </a:rPr>
              <a:t>commit</a:t>
            </a:r>
            <a:r>
              <a:rPr lang="en-US" altLang="zh-CN" sz="1350" kern="0" dirty="0">
                <a:ea typeface="宋体" panose="02010600030101010101" pitchFamily="2" charset="-122"/>
              </a:rPr>
              <a:t>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1</a:t>
            </a:r>
            <a:r>
              <a:rPr lang="en-US" altLang="zh-CN" sz="1350" kern="0" dirty="0">
                <a:ea typeface="宋体" panose="02010600030101010101" pitchFamily="2" charset="-122"/>
              </a:rPr>
              <a:t> </a:t>
            </a:r>
            <a:r>
              <a:rPr lang="en-US" altLang="zh-CN" sz="1350" b="1" kern="0" dirty="0">
                <a:ea typeface="宋体" panose="02010600030101010101" pitchFamily="2" charset="-122"/>
              </a:rPr>
              <a:t>start</a:t>
            </a:r>
            <a:r>
              <a:rPr lang="en-US" altLang="zh-CN" sz="1350" kern="0" dirty="0">
                <a:ea typeface="宋体" panose="02010600030101010101" pitchFamily="2" charset="-122"/>
              </a:rPr>
              <a:t>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1</a:t>
            </a:r>
            <a:r>
              <a:rPr lang="en-US" altLang="zh-CN" sz="1350" kern="0" dirty="0">
                <a:ea typeface="宋体" panose="02010600030101010101" pitchFamily="2" charset="-122"/>
              </a:rPr>
              <a:t>, </a:t>
            </a:r>
            <a:r>
              <a:rPr lang="en-US" altLang="zh-CN" sz="1350" i="1" kern="0" dirty="0">
                <a:ea typeface="宋体" panose="02010600030101010101" pitchFamily="2" charset="-122"/>
              </a:rPr>
              <a:t>B</a:t>
            </a:r>
            <a:r>
              <a:rPr lang="en-US" altLang="zh-CN" sz="1350" kern="0" dirty="0">
                <a:ea typeface="宋体" panose="02010600030101010101" pitchFamily="2" charset="-122"/>
              </a:rPr>
              <a:t>, 0, 10&gt;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2</a:t>
            </a:r>
            <a:r>
              <a:rPr lang="en-US" altLang="zh-CN" sz="1350" kern="0" dirty="0">
                <a:ea typeface="宋体" panose="02010600030101010101" pitchFamily="2" charset="-122"/>
              </a:rPr>
              <a:t> </a:t>
            </a:r>
            <a:r>
              <a:rPr lang="en-US" altLang="zh-CN" sz="1350" b="1" kern="0" dirty="0">
                <a:ea typeface="宋体" panose="02010600030101010101" pitchFamily="2" charset="-122"/>
              </a:rPr>
              <a:t>start</a:t>
            </a:r>
            <a:r>
              <a:rPr lang="en-US" altLang="zh-CN" sz="1350" kern="0" dirty="0">
                <a:ea typeface="宋体" panose="02010600030101010101" pitchFamily="2" charset="-122"/>
              </a:rPr>
              <a:t>&gt;                                                                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2</a:t>
            </a:r>
            <a:r>
              <a:rPr lang="en-US" altLang="zh-CN" sz="1350" kern="0" dirty="0">
                <a:ea typeface="宋体" panose="02010600030101010101" pitchFamily="2" charset="-122"/>
              </a:rPr>
              <a:t>, </a:t>
            </a:r>
            <a:r>
              <a:rPr lang="en-US" altLang="zh-CN" sz="1350" i="1" kern="0" dirty="0">
                <a:ea typeface="宋体" panose="02010600030101010101" pitchFamily="2" charset="-122"/>
              </a:rPr>
              <a:t>C</a:t>
            </a:r>
            <a:r>
              <a:rPr lang="en-US" altLang="zh-CN" sz="1350" kern="0" dirty="0">
                <a:ea typeface="宋体" panose="02010600030101010101" pitchFamily="2" charset="-122"/>
              </a:rPr>
              <a:t>, 0, 10&gt;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2</a:t>
            </a:r>
            <a:r>
              <a:rPr lang="en-US" altLang="zh-CN" sz="1350" kern="0" dirty="0">
                <a:ea typeface="宋体" panose="02010600030101010101" pitchFamily="2" charset="-122"/>
              </a:rPr>
              <a:t>, </a:t>
            </a:r>
            <a:r>
              <a:rPr lang="en-US" altLang="zh-CN" sz="1350" i="1" kern="0" dirty="0">
                <a:ea typeface="宋体" panose="02010600030101010101" pitchFamily="2" charset="-122"/>
              </a:rPr>
              <a:t>C</a:t>
            </a:r>
            <a:r>
              <a:rPr lang="en-US" altLang="zh-CN" sz="1350" kern="0" dirty="0">
                <a:ea typeface="宋体" panose="02010600030101010101" pitchFamily="2" charset="-122"/>
              </a:rPr>
              <a:t>, 10, 20&gt;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solidFill>
                  <a:srgbClr val="FF0000"/>
                </a:solidFill>
                <a:ea typeface="宋体" panose="02010600030101010101" pitchFamily="2" charset="-122"/>
              </a:rPr>
              <a:t>&lt;checkpoint {</a:t>
            </a:r>
            <a:r>
              <a:rPr lang="en-US" altLang="zh-CN" sz="1350" i="1" kern="0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350" kern="0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1350" i="1" kern="0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350" kern="0" dirty="0">
                <a:solidFill>
                  <a:srgbClr val="FF0000"/>
                </a:solidFill>
                <a:ea typeface="宋体" panose="02010600030101010101" pitchFamily="2" charset="-122"/>
              </a:rPr>
              <a:t>}&gt;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3</a:t>
            </a:r>
            <a:r>
              <a:rPr lang="en-US" altLang="zh-CN" sz="1350" kern="0" dirty="0">
                <a:ea typeface="宋体" panose="02010600030101010101" pitchFamily="2" charset="-122"/>
              </a:rPr>
              <a:t> </a:t>
            </a:r>
            <a:r>
              <a:rPr lang="en-US" altLang="zh-CN" sz="1350" b="1" kern="0" dirty="0">
                <a:ea typeface="宋体" panose="02010600030101010101" pitchFamily="2" charset="-122"/>
              </a:rPr>
              <a:t>start</a:t>
            </a:r>
            <a:r>
              <a:rPr lang="en-US" altLang="zh-CN" sz="1350" kern="0" dirty="0">
                <a:ea typeface="宋体" panose="02010600030101010101" pitchFamily="2" charset="-122"/>
              </a:rPr>
              <a:t>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3</a:t>
            </a:r>
            <a:r>
              <a:rPr lang="en-US" altLang="zh-CN" sz="1350" kern="0" dirty="0">
                <a:ea typeface="宋体" panose="02010600030101010101" pitchFamily="2" charset="-122"/>
              </a:rPr>
              <a:t>,</a:t>
            </a:r>
            <a:r>
              <a:rPr lang="en-US" altLang="zh-CN" sz="1350" i="1" kern="0" dirty="0">
                <a:ea typeface="宋体" panose="02010600030101010101" pitchFamily="2" charset="-122"/>
              </a:rPr>
              <a:t> A</a:t>
            </a:r>
            <a:r>
              <a:rPr lang="en-US" altLang="zh-CN" sz="1350" kern="0" dirty="0">
                <a:ea typeface="宋体" panose="02010600030101010101" pitchFamily="2" charset="-122"/>
              </a:rPr>
              <a:t>, 10, 20&gt;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3</a:t>
            </a:r>
            <a:r>
              <a:rPr lang="en-US" altLang="zh-CN" sz="1350" kern="0" dirty="0">
                <a:ea typeface="宋体" panose="02010600030101010101" pitchFamily="2" charset="-122"/>
              </a:rPr>
              <a:t>, </a:t>
            </a:r>
            <a:r>
              <a:rPr lang="en-US" altLang="zh-CN" sz="1350" i="1" kern="0" dirty="0">
                <a:ea typeface="宋体" panose="02010600030101010101" pitchFamily="2" charset="-122"/>
              </a:rPr>
              <a:t>D</a:t>
            </a:r>
            <a:r>
              <a:rPr lang="en-US" altLang="zh-CN" sz="1350" kern="0" dirty="0">
                <a:ea typeface="宋体" panose="02010600030101010101" pitchFamily="2" charset="-122"/>
              </a:rPr>
              <a:t>, 0, 10&gt;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zh-CN" sz="1350" kern="0" dirty="0">
                <a:ea typeface="宋体" panose="02010600030101010101" pitchFamily="2" charset="-122"/>
              </a:rPr>
              <a:t>&lt;</a:t>
            </a:r>
            <a:r>
              <a:rPr lang="en-US" altLang="zh-CN" sz="1350" i="1" kern="0" dirty="0">
                <a:ea typeface="宋体" panose="02010600030101010101" pitchFamily="2" charset="-122"/>
              </a:rPr>
              <a:t>T</a:t>
            </a:r>
            <a:r>
              <a:rPr lang="en-US" altLang="zh-CN" sz="1350" kern="0" baseline="-25000" dirty="0">
                <a:ea typeface="宋体" panose="02010600030101010101" pitchFamily="2" charset="-122"/>
              </a:rPr>
              <a:t>3</a:t>
            </a:r>
            <a:r>
              <a:rPr lang="en-US" altLang="zh-CN" sz="1350" kern="0" dirty="0">
                <a:ea typeface="宋体" panose="02010600030101010101" pitchFamily="2" charset="-122"/>
              </a:rPr>
              <a:t> </a:t>
            </a:r>
            <a:r>
              <a:rPr lang="en-US" altLang="zh-CN" sz="1350" b="1" kern="0" dirty="0">
                <a:ea typeface="宋体" panose="02010600030101010101" pitchFamily="2" charset="-122"/>
              </a:rPr>
              <a:t>commit</a:t>
            </a:r>
            <a:r>
              <a:rPr lang="en-US" altLang="zh-CN" sz="1350" kern="0" dirty="0">
                <a:ea typeface="宋体" panose="02010600030101010101" pitchFamily="2" charset="-122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7238189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48368-B3CC-427A-9E71-3E7A13A6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2800" dirty="0"/>
              <a:t>Recovery with Concurrent Transactions (Cont.)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C799EB-D52A-4BC7-A9E5-E61083F3E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/>
              <a:t>Recovery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Scan log backwards from the end of the log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/>
              <a:t>During the scan, perform undo for each log record that belongs to a transaction in undo-list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Locate the most recent &lt;checkpoint L&gt; record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Scan log forwards from the &lt;checkpoint L&gt; record till the end of the log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/>
              <a:t>During the scan, perform redo for each log record that belongs to a transaction on redo-list</a:t>
            </a:r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573507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Failure Classification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Storage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and Atomicity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Recovery Algorithms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Buffer Management</a:t>
            </a:r>
          </a:p>
        </p:txBody>
      </p:sp>
    </p:spTree>
    <p:extLst>
      <p:ext uri="{BB962C8B-B14F-4D97-AF65-F5344CB8AC3E}">
        <p14:creationId xmlns:p14="http://schemas.microsoft.com/office/powerpoint/2010/main" val="49183464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29C31-3386-4AE0-BD17-C3FF3A07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Log Record 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51F02-5CCB-469E-8AE1-E53B44D53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r>
              <a:rPr lang="en-US" altLang="zh-CN" sz="2000" b="1" dirty="0"/>
              <a:t>Log record buffering</a:t>
            </a:r>
          </a:p>
          <a:p>
            <a:pPr lvl="1"/>
            <a:r>
              <a:rPr lang="en-US" altLang="zh-CN" sz="1800" dirty="0"/>
              <a:t>Log records are </a:t>
            </a:r>
            <a:r>
              <a:rPr lang="en-US" altLang="zh-CN" sz="1800" b="1" dirty="0">
                <a:solidFill>
                  <a:srgbClr val="C00000"/>
                </a:solidFill>
              </a:rPr>
              <a:t>buffered in main memory</a:t>
            </a:r>
            <a:r>
              <a:rPr lang="en-US" altLang="zh-CN" sz="1800" dirty="0"/>
              <a:t>, instead of being output directly to stable storage</a:t>
            </a:r>
          </a:p>
          <a:p>
            <a:pPr lvl="1"/>
            <a:r>
              <a:rPr lang="en-US" altLang="zh-CN" sz="1800" dirty="0"/>
              <a:t>Log records are output to stable storage when a block of log records in the buffer is full, or a log force operation is executed</a:t>
            </a:r>
          </a:p>
          <a:p>
            <a:pPr lvl="1"/>
            <a:r>
              <a:rPr lang="en-US" altLang="zh-CN" sz="1800" b="1" dirty="0"/>
              <a:t>Log force </a:t>
            </a:r>
            <a:r>
              <a:rPr lang="en-US" altLang="zh-CN" sz="1800" dirty="0"/>
              <a:t>is performed to commit a transaction by forcing all its log records (including the commit record) to stable storage</a:t>
            </a:r>
          </a:p>
          <a:p>
            <a:pPr lvl="1"/>
            <a:r>
              <a:rPr lang="en-US" altLang="zh-CN" sz="1800" dirty="0"/>
              <a:t>Several log records can be output using a single output operation, thus reducing the I/O cost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8782690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037AB-887C-47D5-887C-C56CE86E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Log Record Buffering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468A85-6266-43C8-A9F2-1B6693FEF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Write-ahead logging (WAL) rule for buffering log records</a:t>
                </a:r>
              </a:p>
              <a:p>
                <a:pPr lvl="1"/>
                <a:r>
                  <a:rPr lang="en-US" altLang="zh-CN" sz="1600" dirty="0"/>
                  <a:t>Log records are output to stable storage in the order in which they are created</a:t>
                </a:r>
              </a:p>
              <a:p>
                <a:pPr lvl="1"/>
                <a:r>
                  <a:rPr lang="en-US" altLang="zh-CN" sz="1600" dirty="0"/>
                  <a:t>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enters the commit state only when the log record 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commit&gt; has been output to stable storage</a:t>
                </a:r>
              </a:p>
              <a:p>
                <a:pPr lvl="1"/>
                <a:r>
                  <a:rPr lang="en-US" altLang="zh-CN" sz="1600" dirty="0"/>
                  <a:t>Before a block of data in main memory is output to the database, all log records pertaining to data in that block must have been output to stable storage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468A85-6266-43C8-A9F2-1B6693FEF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67295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CBC7E-AB9B-4BED-B7BC-F780015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Database 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2E82A-86BC-4AFD-99D7-F0ECB9158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Database maintains an in-memory buffer of data blocks</a:t>
            </a:r>
          </a:p>
          <a:p>
            <a:pPr lvl="1"/>
            <a:r>
              <a:rPr lang="en-US" altLang="zh-CN" sz="1400" dirty="0"/>
              <a:t>When a new block is needed, an existing block should be removed from buffer if the buffer is full</a:t>
            </a:r>
          </a:p>
          <a:p>
            <a:pPr lvl="1"/>
            <a:r>
              <a:rPr lang="en-US" altLang="zh-CN" sz="1400" dirty="0"/>
              <a:t>If the block chosen for removal has been updated, it must be output to disk</a:t>
            </a:r>
          </a:p>
          <a:p>
            <a:r>
              <a:rPr lang="en-US" altLang="zh-CN" sz="1800" dirty="0"/>
              <a:t>No update should be in progress on a block when it is output to disk, which is ensured as follows</a:t>
            </a:r>
          </a:p>
          <a:p>
            <a:pPr lvl="1"/>
            <a:r>
              <a:rPr lang="en-US" altLang="zh-CN" sz="1400" dirty="0"/>
              <a:t>Before writing a data item, transaction acquires exclusive lock on block containing the data item</a:t>
            </a:r>
          </a:p>
          <a:p>
            <a:pPr lvl="1"/>
            <a:r>
              <a:rPr lang="en-US" altLang="zh-CN" sz="1400" dirty="0"/>
              <a:t>Lock can be released once the write is completed. </a:t>
            </a:r>
          </a:p>
          <a:p>
            <a:pPr lvl="2"/>
            <a:r>
              <a:rPr lang="en-US" altLang="zh-CN" sz="1200" dirty="0"/>
              <a:t>Such locks held for short duration are called latches </a:t>
            </a:r>
            <a:r>
              <a:rPr lang="zh-CN" altLang="en-US" sz="1200" dirty="0"/>
              <a:t>闩锁</a:t>
            </a:r>
          </a:p>
          <a:p>
            <a:pPr lvl="1"/>
            <a:r>
              <a:rPr lang="en-US" altLang="zh-CN" sz="1400" dirty="0"/>
              <a:t>Before a block is output to disk, the system acquires an exclusive latch on the block</a:t>
            </a:r>
          </a:p>
          <a:p>
            <a:pPr lvl="2"/>
            <a:r>
              <a:rPr lang="en-US" altLang="zh-CN" sz="1200" dirty="0"/>
              <a:t>Ensures no update can be in progress on the block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8688358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D4DC7-DE69-4C13-A843-40BA1FC1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Buffer Management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7300E9-CEB3-4354-9290-44659D592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/>
              <a:t>Database buffer can be implemented either</a:t>
            </a:r>
          </a:p>
          <a:p>
            <a:pPr lvl="1"/>
            <a:r>
              <a:rPr lang="en-US" altLang="zh-CN" sz="1600" dirty="0"/>
              <a:t>In an area of real </a:t>
            </a:r>
            <a:r>
              <a:rPr lang="en-US" altLang="zh-CN" sz="1600" b="1" dirty="0"/>
              <a:t>main-memory</a:t>
            </a:r>
            <a:r>
              <a:rPr lang="en-US" altLang="zh-CN" sz="1600" dirty="0"/>
              <a:t> reserved for the database, or in </a:t>
            </a:r>
            <a:r>
              <a:rPr lang="en-US" altLang="zh-CN" sz="1600" b="1" dirty="0"/>
              <a:t>virtual memory</a:t>
            </a:r>
          </a:p>
          <a:p>
            <a:r>
              <a:rPr lang="en-US" altLang="zh-CN" sz="1800" dirty="0"/>
              <a:t>Implementing buffer in reserved main-memory has drawbacks</a:t>
            </a:r>
          </a:p>
          <a:p>
            <a:pPr lvl="1"/>
            <a:r>
              <a:rPr lang="en-US" altLang="zh-CN" sz="1600" dirty="0"/>
              <a:t>Memory is partitioned before-hand between database buffer and applications, limiting the flexibility of main-memory</a:t>
            </a:r>
          </a:p>
          <a:p>
            <a:pPr lvl="1"/>
            <a:r>
              <a:rPr lang="en-US" altLang="zh-CN" sz="1600" dirty="0"/>
              <a:t>Needs may change, and although operating system knows best how memory should be divided up at any time, it cannot change the partitioning of memory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8850431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170FD-09CE-4410-A1C7-1A081F05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Buffer Management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BA760-5FBA-4AEF-A4CF-EDAEDD959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Database buffers are generally implemented in </a:t>
            </a:r>
            <a:r>
              <a:rPr lang="en-US" altLang="zh-CN" sz="1800" b="1" dirty="0">
                <a:solidFill>
                  <a:srgbClr val="C00000"/>
                </a:solidFill>
              </a:rPr>
              <a:t>virtual memory </a:t>
            </a:r>
            <a:r>
              <a:rPr lang="en-US" altLang="zh-CN" sz="1800" dirty="0"/>
              <a:t>in spite of some drawbacks</a:t>
            </a:r>
          </a:p>
          <a:p>
            <a:pPr lvl="1"/>
            <a:r>
              <a:rPr lang="en-US" altLang="zh-CN" sz="1400" dirty="0"/>
              <a:t>When OS needs to evict</a:t>
            </a:r>
            <a:r>
              <a:rPr lang="zh-CN" altLang="en-US" sz="1400" dirty="0"/>
              <a:t>（逐出）</a:t>
            </a:r>
            <a:r>
              <a:rPr lang="en-US" altLang="zh-CN" sz="1400" dirty="0"/>
              <a:t>a page that has been modified, the page is written to swap space on disk</a:t>
            </a:r>
          </a:p>
          <a:p>
            <a:pPr lvl="1"/>
            <a:r>
              <a:rPr lang="en-US" altLang="zh-CN" sz="1400" dirty="0"/>
              <a:t>When DB decides to write buffer page to disk, buffer page may be in swap space (</a:t>
            </a:r>
            <a:r>
              <a:rPr lang="zh-CN" altLang="en-US" sz="1400" dirty="0"/>
              <a:t>交换区</a:t>
            </a:r>
            <a:r>
              <a:rPr lang="en-US" altLang="zh-CN" sz="1400" dirty="0"/>
              <a:t>), and may have to be read from swap space on disk and output to the database on disk, resulting in extra I/</a:t>
            </a:r>
            <a:r>
              <a:rPr lang="en-US" altLang="zh-CN" sz="1400" dirty="0" err="1"/>
              <a:t>Os</a:t>
            </a:r>
            <a:endParaRPr lang="en-US" altLang="zh-CN" sz="1400" dirty="0"/>
          </a:p>
          <a:p>
            <a:pPr lvl="2"/>
            <a:r>
              <a:rPr lang="en-US" altLang="zh-CN" sz="1200" dirty="0"/>
              <a:t>Known as dual paging</a:t>
            </a:r>
            <a:r>
              <a:rPr lang="zh-CN" altLang="en-US" sz="1200" dirty="0"/>
              <a:t>（双分页）</a:t>
            </a:r>
            <a:r>
              <a:rPr lang="en-US" altLang="zh-CN" sz="1200" dirty="0"/>
              <a:t>problem</a:t>
            </a:r>
          </a:p>
          <a:p>
            <a:pPr lvl="1"/>
            <a:r>
              <a:rPr lang="en-US" altLang="zh-CN" sz="1400" dirty="0"/>
              <a:t>Ideally when swapping out a database buffer page, operating system should </a:t>
            </a:r>
            <a:r>
              <a:rPr lang="en-US" altLang="zh-CN" sz="1400" dirty="0">
                <a:solidFill>
                  <a:srgbClr val="C00000"/>
                </a:solidFill>
              </a:rPr>
              <a:t>pass control to database</a:t>
            </a:r>
            <a:r>
              <a:rPr lang="en-US" altLang="zh-CN" sz="1400" dirty="0"/>
              <a:t>, which in turn outputs the page to database instead of to swap space</a:t>
            </a:r>
          </a:p>
          <a:p>
            <a:pPr lvl="2"/>
            <a:r>
              <a:rPr lang="en-US" altLang="zh-CN" sz="1200" dirty="0"/>
              <a:t>Dual paging can thus be avoided, but common operating systems do not support such functionality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9053250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CA16C-08E4-4CD0-9379-525230CE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Failure with Loss of Nonvolatile Storage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BC1769-ED50-46BB-9899-DB8A537D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Technique similar to checkpointing used to deal with loss of non-volatile storage</a:t>
            </a:r>
          </a:p>
          <a:p>
            <a:pPr lvl="1"/>
            <a:r>
              <a:rPr lang="en-US" altLang="zh-CN" sz="1400" dirty="0"/>
              <a:t>Periodically dump the entire content of the database to stable storage</a:t>
            </a:r>
          </a:p>
          <a:p>
            <a:pPr lvl="1"/>
            <a:r>
              <a:rPr lang="en-US" altLang="zh-CN" sz="1400" dirty="0"/>
              <a:t>No transaction may be active during the dump procedure; a procedure similar to checkpointing must take place</a:t>
            </a:r>
          </a:p>
          <a:p>
            <a:pPr lvl="2"/>
            <a:r>
              <a:rPr lang="en-US" altLang="zh-CN" sz="1200" dirty="0"/>
              <a:t>Output all log records currently residing in main memory onto stable storage</a:t>
            </a:r>
          </a:p>
          <a:p>
            <a:pPr lvl="2"/>
            <a:r>
              <a:rPr lang="en-US" altLang="zh-CN" sz="1200" dirty="0"/>
              <a:t>Output all buffer blocks onto the disk</a:t>
            </a:r>
          </a:p>
          <a:p>
            <a:pPr lvl="2"/>
            <a:r>
              <a:rPr lang="en-US" altLang="zh-CN" sz="1200" dirty="0"/>
              <a:t>Copy the contents of the database to stable storage</a:t>
            </a:r>
          </a:p>
          <a:p>
            <a:pPr lvl="2"/>
            <a:r>
              <a:rPr lang="en-US" altLang="zh-CN" sz="1200" dirty="0"/>
              <a:t>Output a record &lt;dump&gt; to log on stable storage</a:t>
            </a:r>
          </a:p>
          <a:p>
            <a:pPr lvl="1"/>
            <a:r>
              <a:rPr lang="en-US" altLang="zh-CN" sz="1400" dirty="0"/>
              <a:t>To recover from disk failure</a:t>
            </a:r>
          </a:p>
          <a:p>
            <a:pPr lvl="2"/>
            <a:r>
              <a:rPr lang="en-US" altLang="zh-CN" sz="1200" dirty="0"/>
              <a:t>Restore database from the most recent dump</a:t>
            </a:r>
          </a:p>
          <a:p>
            <a:pPr lvl="2"/>
            <a:r>
              <a:rPr lang="en-US" altLang="zh-CN" sz="1200" dirty="0"/>
              <a:t>Consult the log and redo all transactions that committed after the dump</a:t>
            </a:r>
          </a:p>
          <a:p>
            <a:r>
              <a:rPr lang="en-US" altLang="zh-CN" sz="1800" dirty="0"/>
              <a:t>Can be extended to allow transactions to be active during dump, known as fuzzy dump or online dump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1962525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Chapter 19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0777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35357</TotalTime>
  <Words>2486</Words>
  <Application>Microsoft Office PowerPoint</Application>
  <PresentationFormat>全屏显示(16:9)</PresentationFormat>
  <Paragraphs>302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黑体</vt:lpstr>
      <vt:lpstr>华文楷体</vt:lpstr>
      <vt:lpstr>华文细黑</vt:lpstr>
      <vt:lpstr>华文行楷</vt:lpstr>
      <vt:lpstr>宋体</vt:lpstr>
      <vt:lpstr>微软雅黑</vt:lpstr>
      <vt:lpstr>Arial</vt:lpstr>
      <vt:lpstr>Calibri</vt:lpstr>
      <vt:lpstr>Cambria Math</vt:lpstr>
      <vt:lpstr>Comic Sans MS</vt:lpstr>
      <vt:lpstr>Helvetica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Outline</vt:lpstr>
      <vt:lpstr>Failure Classification</vt:lpstr>
      <vt:lpstr>Recovery Algorithms</vt:lpstr>
      <vt:lpstr>Outline</vt:lpstr>
      <vt:lpstr>Storage Structure</vt:lpstr>
      <vt:lpstr>Data Access</vt:lpstr>
      <vt:lpstr>Data Access (Cont.)</vt:lpstr>
      <vt:lpstr>Example of Data Access</vt:lpstr>
      <vt:lpstr>Outline</vt:lpstr>
      <vt:lpstr>Recovery and Atomicity</vt:lpstr>
      <vt:lpstr>Log-based Recovery</vt:lpstr>
      <vt:lpstr>Deferred Database Modification</vt:lpstr>
      <vt:lpstr>Deferred Database Modification (Cont.)</vt:lpstr>
      <vt:lpstr>Deferred Database Modification (Cont.)</vt:lpstr>
      <vt:lpstr>Immediate Database Modification</vt:lpstr>
      <vt:lpstr>Immediate Database Modification Example</vt:lpstr>
      <vt:lpstr>Immediate Database Modification (Cont.)</vt:lpstr>
      <vt:lpstr>Immediate DB Modification Recovery Example</vt:lpstr>
      <vt:lpstr>Checkpoint (检查点)</vt:lpstr>
      <vt:lpstr>Checkpoints (Cont.)</vt:lpstr>
      <vt:lpstr>Example of Checkpoints</vt:lpstr>
      <vt:lpstr>Outline</vt:lpstr>
      <vt:lpstr>Recovery with Concurrent Transactions</vt:lpstr>
      <vt:lpstr>Recovery with Concurrent Transactions (Cont.)</vt:lpstr>
      <vt:lpstr>Example of Recovery</vt:lpstr>
      <vt:lpstr>Recovery with Concurrent Transactions (Cont.)</vt:lpstr>
      <vt:lpstr>Outline</vt:lpstr>
      <vt:lpstr>Log Record Buffering</vt:lpstr>
      <vt:lpstr>Log Record Buffering (Cont.)</vt:lpstr>
      <vt:lpstr>Database Buffering</vt:lpstr>
      <vt:lpstr>Buffer Management (Cont.)</vt:lpstr>
      <vt:lpstr>Buffer Management (Cont.)</vt:lpstr>
      <vt:lpstr>Failure with Loss of Nonvolatile Storage</vt:lpstr>
      <vt:lpstr>End of Chapter 19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2300</cp:revision>
  <dcterms:created xsi:type="dcterms:W3CDTF">2007-09-26T12:04:45Z</dcterms:created>
  <dcterms:modified xsi:type="dcterms:W3CDTF">2025-06-03T12:28:18Z</dcterms:modified>
</cp:coreProperties>
</file>