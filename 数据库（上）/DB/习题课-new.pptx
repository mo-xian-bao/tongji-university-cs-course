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1587" r:id="rId2"/>
    <p:sldId id="5136" r:id="rId3"/>
    <p:sldId id="5162" r:id="rId4"/>
    <p:sldId id="5163" r:id="rId5"/>
    <p:sldId id="5164" r:id="rId6"/>
    <p:sldId id="5165" r:id="rId7"/>
    <p:sldId id="5154" r:id="rId8"/>
    <p:sldId id="5166" r:id="rId9"/>
    <p:sldId id="259" r:id="rId10"/>
    <p:sldId id="5167" r:id="rId11"/>
    <p:sldId id="5169" r:id="rId12"/>
    <p:sldId id="5172" r:id="rId13"/>
    <p:sldId id="5170" r:id="rId14"/>
    <p:sldId id="5171" r:id="rId15"/>
    <p:sldId id="262" r:id="rId16"/>
    <p:sldId id="5155" r:id="rId17"/>
    <p:sldId id="5158" r:id="rId18"/>
    <p:sldId id="5157" r:id="rId19"/>
    <p:sldId id="5156" r:id="rId20"/>
    <p:sldId id="5192" r:id="rId21"/>
    <p:sldId id="5159" r:id="rId22"/>
    <p:sldId id="5173" r:id="rId23"/>
    <p:sldId id="5174" r:id="rId24"/>
    <p:sldId id="5193" r:id="rId25"/>
    <p:sldId id="5175" r:id="rId26"/>
    <p:sldId id="5176" r:id="rId27"/>
    <p:sldId id="5177" r:id="rId28"/>
    <p:sldId id="5178" r:id="rId29"/>
    <p:sldId id="5161" r:id="rId30"/>
  </p:sldIdLst>
  <p:sldSz cx="13004800" cy="9753600"/>
  <p:notesSz cx="6858000" cy="9144000"/>
  <p:defaultTextStyle>
    <a:defPPr>
      <a:defRPr lang="zh-CN"/>
    </a:defPPr>
    <a:lvl1pPr marL="0" algn="l" defTabSz="130046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1pPr>
    <a:lvl2pPr marL="650230" algn="l" defTabSz="130046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2pPr>
    <a:lvl3pPr marL="1300460" algn="l" defTabSz="130046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3pPr>
    <a:lvl4pPr marL="1950690" algn="l" defTabSz="130046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4pPr>
    <a:lvl5pPr marL="2600919" algn="l" defTabSz="130046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5pPr>
    <a:lvl6pPr marL="3251149" algn="l" defTabSz="130046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6pPr>
    <a:lvl7pPr marL="3901379" algn="l" defTabSz="130046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7pPr>
    <a:lvl8pPr marL="4551609" algn="l" defTabSz="130046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8pPr>
    <a:lvl9pPr marL="5201839" algn="l" defTabSz="130046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孔 令百" initials="孔" lastIdx="2" clrIdx="0">
    <p:extLst>
      <p:ext uri="{19B8F6BF-5375-455C-9EA6-DF929625EA0E}">
        <p15:presenceInfo xmlns:p15="http://schemas.microsoft.com/office/powerpoint/2012/main" userId="b698605f3a44856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110" autoAdjust="0"/>
    <p:restoredTop sz="83623" autoAdjust="0"/>
  </p:normalViewPr>
  <p:slideViewPr>
    <p:cSldViewPr snapToGrid="0">
      <p:cViewPr>
        <p:scale>
          <a:sx n="60" d="100"/>
          <a:sy n="60" d="100"/>
        </p:scale>
        <p:origin x="728" y="-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2C4076-FEB5-441C-9D19-C28296E5F21B}" type="datetimeFigureOut">
              <a:rPr lang="zh-CN" altLang="en-US" smtClean="0"/>
              <a:t>2025/6/16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C2E6E1-F492-4354-9348-52045CAB75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669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3768680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查找薪水最大的，剔除不是最大的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C2E6E1-F492-4354-9348-52045CAB75A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32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有存款无贷款，集合差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C2E6E1-F492-4354-9348-52045CAB75A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6828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和</a:t>
            </a:r>
            <a:r>
              <a:rPr lang="en-US" altLang="zh-CN" dirty="0"/>
              <a:t>12345</a:t>
            </a:r>
            <a:r>
              <a:rPr lang="zh-CN" altLang="en-US" dirty="0"/>
              <a:t>的街道城市一致的客户</a:t>
            </a:r>
            <a:endParaRPr lang="en-US" altLang="zh-CN" dirty="0"/>
          </a:p>
          <a:p>
            <a:r>
              <a:rPr lang="zh-CN" altLang="en-US" dirty="0"/>
              <a:t>查找</a:t>
            </a:r>
            <a:r>
              <a:rPr lang="en-US" altLang="zh-CN" dirty="0"/>
              <a:t>branch</a:t>
            </a:r>
            <a:r>
              <a:rPr lang="zh-CN" altLang="en-US" dirty="0"/>
              <a:t>：至少有一个居住在</a:t>
            </a:r>
            <a:r>
              <a:rPr lang="en-US" altLang="zh-CN" dirty="0" err="1"/>
              <a:t>harrison</a:t>
            </a:r>
            <a:r>
              <a:rPr lang="zh-CN" altLang="en-US" dirty="0"/>
              <a:t>的有存款的用户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C2E6E1-F492-4354-9348-52045CAB75A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57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FBC</a:t>
            </a:r>
            <a:r>
              <a:rPr lang="zh-CN" altLang="en-US" dirty="0"/>
              <a:t>工作的雇员</a:t>
            </a:r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FBC</a:t>
            </a:r>
            <a:r>
              <a:rPr lang="zh-CN" altLang="en-US" dirty="0"/>
              <a:t>工作的雇员且薪资高于</a:t>
            </a:r>
            <a:r>
              <a:rPr lang="en-US" altLang="zh-CN" dirty="0"/>
              <a:t>10000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不在</a:t>
            </a:r>
            <a:r>
              <a:rPr lang="en-US" altLang="zh-CN" dirty="0"/>
              <a:t>FBC</a:t>
            </a:r>
            <a:r>
              <a:rPr lang="zh-CN" altLang="en-US" dirty="0"/>
              <a:t>工作的雇员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找薪资高于</a:t>
            </a:r>
            <a:r>
              <a:rPr lang="en-US" altLang="zh-CN" dirty="0"/>
              <a:t>SBC</a:t>
            </a:r>
            <a:r>
              <a:rPr lang="zh-CN" altLang="en-US" dirty="0"/>
              <a:t>所有雇员的雇员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C2E6E1-F492-4354-9348-52045CAB75A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226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假定公司可能在几个城市有分部，找出位于“</a:t>
            </a:r>
            <a:r>
              <a:rPr lang="en-US" altLang="zh-CN" dirty="0"/>
              <a:t>Small Bank Corporation”</a:t>
            </a:r>
            <a:r>
              <a:rPr lang="zh-CN" altLang="en-US" dirty="0"/>
              <a:t>所在所有 城市的所有公司的名字 </a:t>
            </a:r>
            <a:endParaRPr lang="en-US" altLang="zh-CN" dirty="0"/>
          </a:p>
          <a:p>
            <a:r>
              <a:rPr lang="zh-CN" altLang="en-US" dirty="0"/>
              <a:t>找出雇员最多的公司的名字 </a:t>
            </a:r>
            <a:endParaRPr lang="en-US" altLang="zh-CN" dirty="0"/>
          </a:p>
          <a:p>
            <a:r>
              <a:rPr lang="zh-CN" altLang="en-US" dirty="0"/>
              <a:t>找出雇员平均工资高于‘</a:t>
            </a:r>
            <a:r>
              <a:rPr lang="en-US" altLang="zh-CN" dirty="0"/>
              <a:t>First Bank Corporation’</a:t>
            </a:r>
            <a:r>
              <a:rPr lang="zh-CN" altLang="en-US" dirty="0"/>
              <a:t>的雇员平均工资的所有公司 的名字。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C2E6E1-F492-4354-9348-52045CAB75A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7971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找出在‘</a:t>
            </a:r>
            <a:r>
              <a:rPr lang="en-US" altLang="zh-CN" dirty="0"/>
              <a:t>Brooklyn’</a:t>
            </a:r>
            <a:r>
              <a:rPr lang="zh-CN" altLang="en-US" dirty="0"/>
              <a:t>的每一个</a:t>
            </a:r>
            <a:r>
              <a:rPr lang="en-US" altLang="zh-CN" dirty="0"/>
              <a:t>branch</a:t>
            </a:r>
            <a:r>
              <a:rPr lang="zh-CN" altLang="en-US" dirty="0"/>
              <a:t>都有存款的客户。 </a:t>
            </a:r>
            <a:endParaRPr lang="en-US" altLang="zh-CN" dirty="0"/>
          </a:p>
          <a:p>
            <a:r>
              <a:rPr lang="zh-CN" altLang="en-US" dirty="0"/>
              <a:t>计算银行的总贷款量 </a:t>
            </a:r>
            <a:endParaRPr lang="en-US" altLang="zh-CN" dirty="0"/>
          </a:p>
          <a:p>
            <a:r>
              <a:rPr lang="zh-CN" altLang="en-US" dirty="0"/>
              <a:t>找出银行支行的名字，其资产至少比‘</a:t>
            </a:r>
            <a:r>
              <a:rPr lang="en-US" altLang="zh-CN" dirty="0"/>
              <a:t>Brooklyn’</a:t>
            </a:r>
            <a:r>
              <a:rPr lang="zh-CN" altLang="en-US" dirty="0"/>
              <a:t>的某一个支行的资产多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C2E6E1-F492-4354-9348-52045CAB75A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6594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找出雇员居住城市和公司所在城市一致的所有雇员的</a:t>
            </a:r>
            <a:r>
              <a:rPr lang="en-US" altLang="zh-CN" dirty="0"/>
              <a:t>ID</a:t>
            </a:r>
            <a:r>
              <a:rPr lang="zh-CN" altLang="en-US" dirty="0"/>
              <a:t>和</a:t>
            </a:r>
            <a:r>
              <a:rPr lang="en-US" altLang="zh-CN" dirty="0"/>
              <a:t>name</a:t>
            </a:r>
          </a:p>
          <a:p>
            <a:r>
              <a:rPr lang="zh-CN" altLang="en-US" dirty="0"/>
              <a:t>找出雇员居住城市和街道和其老板一致的所有雇员的</a:t>
            </a:r>
            <a:r>
              <a:rPr lang="en-US" altLang="zh-CN" dirty="0"/>
              <a:t>ID</a:t>
            </a:r>
            <a:r>
              <a:rPr lang="zh-CN" altLang="en-US" dirty="0"/>
              <a:t>和</a:t>
            </a:r>
            <a:r>
              <a:rPr lang="en-US" altLang="zh-CN" dirty="0"/>
              <a:t>name </a:t>
            </a:r>
          </a:p>
          <a:p>
            <a:r>
              <a:rPr lang="zh-CN" altLang="en-US" dirty="0"/>
              <a:t>找出大于所在公司所有员工平均工资的雇员的</a:t>
            </a:r>
            <a:r>
              <a:rPr lang="en-US" altLang="zh-CN" dirty="0"/>
              <a:t>ID</a:t>
            </a:r>
            <a:r>
              <a:rPr lang="zh-CN" altLang="en-US" dirty="0"/>
              <a:t>和</a:t>
            </a:r>
            <a:r>
              <a:rPr lang="en-US" altLang="zh-CN" dirty="0"/>
              <a:t>name</a:t>
            </a:r>
          </a:p>
          <a:p>
            <a:r>
              <a:rPr lang="zh-CN" altLang="en-US" dirty="0"/>
              <a:t>找出工资总和最小的公司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C2E6E1-F492-4354-9348-52045CAB75A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6441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给‘</a:t>
            </a:r>
            <a:r>
              <a:rPr lang="en-US" altLang="zh-CN" dirty="0"/>
              <a:t>First Bank Corporation’</a:t>
            </a:r>
            <a:r>
              <a:rPr lang="zh-CN" altLang="en-US" dirty="0"/>
              <a:t>的所有雇员增长</a:t>
            </a:r>
            <a:r>
              <a:rPr lang="en-US" altLang="zh-CN" dirty="0"/>
              <a:t>10%</a:t>
            </a:r>
            <a:r>
              <a:rPr lang="zh-CN" altLang="en-US" dirty="0"/>
              <a:t>的工资 </a:t>
            </a:r>
            <a:endParaRPr lang="en-US" altLang="zh-CN" dirty="0"/>
          </a:p>
          <a:p>
            <a:r>
              <a:rPr lang="zh-CN" altLang="en-US" dirty="0"/>
              <a:t>给‘</a:t>
            </a:r>
            <a:r>
              <a:rPr lang="en-US" altLang="zh-CN" dirty="0"/>
              <a:t>First Bank Corporation’</a:t>
            </a:r>
            <a:r>
              <a:rPr lang="zh-CN" altLang="en-US" dirty="0"/>
              <a:t>的所有管理者增长</a:t>
            </a:r>
            <a:r>
              <a:rPr lang="en-US" altLang="zh-CN" dirty="0"/>
              <a:t>10%</a:t>
            </a:r>
            <a:r>
              <a:rPr lang="zh-CN" altLang="en-US" dirty="0"/>
              <a:t>的工资</a:t>
            </a:r>
            <a:endParaRPr lang="en-US" altLang="zh-CN" dirty="0"/>
          </a:p>
          <a:p>
            <a:r>
              <a:rPr lang="zh-CN" altLang="en-US" dirty="0"/>
              <a:t>删除</a:t>
            </a:r>
            <a:r>
              <a:rPr lang="en-US" altLang="zh-CN" dirty="0"/>
              <a:t>works</a:t>
            </a:r>
            <a:r>
              <a:rPr lang="zh-CN" altLang="en-US" dirty="0"/>
              <a:t>表中所有‘</a:t>
            </a:r>
            <a:r>
              <a:rPr lang="en-US" altLang="zh-CN" dirty="0"/>
              <a:t>Small Bank Corporation’</a:t>
            </a:r>
            <a:r>
              <a:rPr lang="zh-CN" altLang="en-US" dirty="0"/>
              <a:t>的雇员的有关元组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C2E6E1-F492-4354-9348-52045CAB75A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5400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找出至少借阅过由‘</a:t>
            </a:r>
            <a:r>
              <a:rPr lang="en-US" altLang="zh-CN" dirty="0"/>
              <a:t>McGraw-Hill’</a:t>
            </a:r>
            <a:r>
              <a:rPr lang="zh-CN" altLang="en-US" dirty="0"/>
              <a:t>出版的书的读者。 </a:t>
            </a:r>
            <a:endParaRPr lang="en-US" altLang="zh-CN" dirty="0"/>
          </a:p>
          <a:p>
            <a:r>
              <a:rPr lang="zh-CN" altLang="en-US" dirty="0"/>
              <a:t>找出借阅过每一本由‘</a:t>
            </a:r>
            <a:r>
              <a:rPr lang="en-US" altLang="zh-CN" dirty="0"/>
              <a:t>McGraw-Hill’</a:t>
            </a:r>
            <a:r>
              <a:rPr lang="zh-CN" altLang="en-US" dirty="0"/>
              <a:t>出版的书的读者。</a:t>
            </a:r>
            <a:endParaRPr lang="en-US" altLang="zh-CN" dirty="0"/>
          </a:p>
          <a:p>
            <a:r>
              <a:rPr lang="zh-CN" altLang="en-US" dirty="0"/>
              <a:t>对每一个出版商，找出借阅过其出版超过</a:t>
            </a:r>
            <a:r>
              <a:rPr lang="en-US" altLang="zh-CN" dirty="0"/>
              <a:t>5</a:t>
            </a:r>
            <a:r>
              <a:rPr lang="zh-CN" altLang="en-US" dirty="0"/>
              <a:t>本的读者</a:t>
            </a:r>
            <a:endParaRPr lang="en-US" altLang="zh-CN" dirty="0"/>
          </a:p>
          <a:p>
            <a:r>
              <a:rPr lang="zh-CN" altLang="en-US" dirty="0"/>
              <a:t>计算所有读者借阅书籍的平均值。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C2E6E1-F492-4354-9348-52045CAB75A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3008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寻找没选过课的学生，要求使用外连接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C2E6E1-F492-4354-9348-52045CAB75A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224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3D25-D777-4FE4-B115-16F55A657C90}" type="datetimeFigureOut">
              <a:rPr lang="zh-CN" altLang="en-US" smtClean="0"/>
              <a:t>2025/6/16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58BAA-A03D-4E09-A4B9-596B5667A1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96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2445194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0" y="-38946"/>
            <a:ext cx="13004800" cy="1209041"/>
          </a:xfrm>
          <a:prstGeom prst="rect">
            <a:avLst/>
          </a:prstGeom>
          <a:solidFill>
            <a:srgbClr val="0070C0"/>
          </a:solidFill>
        </p:spPr>
        <p:txBody>
          <a:bodyPr rtlCol="0">
            <a:noAutofit/>
          </a:bodyPr>
          <a:lstStyle>
            <a:lvl1pPr algn="l">
              <a:defRPr sz="4551" b="1" baseline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717" y="1497227"/>
            <a:ext cx="12186954" cy="7215540"/>
          </a:xfrm>
        </p:spPr>
        <p:txBody>
          <a:bodyPr/>
          <a:lstStyle>
            <a:lvl1pPr>
              <a:defRPr sz="3413">
                <a:latin typeface="微软雅黑" pitchFamily="34" charset="-122"/>
                <a:ea typeface="微软雅黑" pitchFamily="34" charset="-122"/>
              </a:defRPr>
            </a:lvl1pPr>
            <a:lvl2pPr>
              <a:defRPr sz="2844">
                <a:latin typeface="微软雅黑" pitchFamily="34" charset="-122"/>
                <a:ea typeface="微软雅黑" pitchFamily="34" charset="-122"/>
              </a:defRPr>
            </a:lvl2pPr>
            <a:lvl3pPr>
              <a:defRPr sz="2560">
                <a:latin typeface="微软雅黑" pitchFamily="34" charset="-122"/>
                <a:ea typeface="微软雅黑" pitchFamily="34" charset="-122"/>
              </a:defRPr>
            </a:lvl3pPr>
            <a:lvl4pPr>
              <a:defRPr sz="2276">
                <a:latin typeface="微软雅黑" pitchFamily="34" charset="-122"/>
                <a:ea typeface="微软雅黑" pitchFamily="34" charset="-122"/>
              </a:defRPr>
            </a:lvl4pPr>
            <a:lvl5pPr>
              <a:defRPr sz="2276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5037132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A7A028-7C70-921F-D743-77F7366AF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DF0BBD-2ADC-D69C-7057-C9F1EFF21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11C290-8833-9E7A-BDE3-AF5997B0C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7BD-8CCF-4F8D-AE55-82CEDEB3FFCC}" type="datetimeFigureOut">
              <a:rPr lang="zh-CN" altLang="en-US" smtClean="0"/>
              <a:t>2025/6/16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521EE6-0AB5-6E5B-8CB4-446F38E5D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105C76-CD22-0265-55AC-01C5E404A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B82E6-B66F-43D8-9F91-C676A76004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486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50240" y="390596"/>
            <a:ext cx="11704320" cy="1625600"/>
          </a:xfrm>
          <a:prstGeom prst="rect">
            <a:avLst/>
          </a:prstGeom>
        </p:spPr>
        <p:txBody>
          <a:bodyPr vert="horz" lIns="130046" tIns="65023" rIns="130046" bIns="65023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50240" y="2275841"/>
            <a:ext cx="11704320" cy="6436925"/>
          </a:xfrm>
          <a:prstGeom prst="rect">
            <a:avLst/>
          </a:prstGeom>
        </p:spPr>
        <p:txBody>
          <a:bodyPr vert="horz" lIns="130046" tIns="65023" rIns="130046" bIns="65023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0240" y="9040143"/>
            <a:ext cx="3034453" cy="519289"/>
          </a:xfrm>
          <a:prstGeom prst="rect">
            <a:avLst/>
          </a:prstGeom>
        </p:spPr>
        <p:txBody>
          <a:bodyPr vert="horz" lIns="130046" tIns="65023" rIns="130046" bIns="65023" rtlCol="0" anchor="ctr"/>
          <a:lstStyle>
            <a:lvl1pPr algn="l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C3D25-D777-4FE4-B115-16F55A657C90}" type="datetimeFigureOut">
              <a:rPr lang="zh-CN" altLang="en-US" smtClean="0"/>
              <a:t>2025/6/16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443307" y="9040143"/>
            <a:ext cx="4118187" cy="519289"/>
          </a:xfrm>
          <a:prstGeom prst="rect">
            <a:avLst/>
          </a:prstGeom>
        </p:spPr>
        <p:txBody>
          <a:bodyPr vert="horz" lIns="130046" tIns="65023" rIns="130046" bIns="65023" rtlCol="0" anchor="ctr"/>
          <a:lstStyle>
            <a:lvl1pPr algn="ct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320107" y="9040143"/>
            <a:ext cx="3034453" cy="519289"/>
          </a:xfrm>
          <a:prstGeom prst="rect">
            <a:avLst/>
          </a:prstGeom>
        </p:spPr>
        <p:txBody>
          <a:bodyPr vert="horz" lIns="130046" tIns="65023" rIns="130046" bIns="65023" rtlCol="0" anchor="ctr"/>
          <a:lstStyle>
            <a:lvl1pPr algn="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C58BAA-A03D-4E09-A4B9-596B5667A1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82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p:txStyles>
    <p:titleStyle>
      <a:lvl1pPr algn="ctr" defTabSz="1300460" rtl="0" eaLnBrk="1" latinLnBrk="0" hangingPunct="1">
        <a:spcBef>
          <a:spcPct val="0"/>
        </a:spcBef>
        <a:buNone/>
        <a:defRPr sz="6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7672" indent="-487672" algn="l" defTabSz="1300460" rtl="0" eaLnBrk="1" latinLnBrk="0" hangingPunct="1">
        <a:spcBef>
          <a:spcPct val="20000"/>
        </a:spcBef>
        <a:buFont typeface="Arial" pitchFamily="34" charset="0"/>
        <a:buChar char="•"/>
        <a:defRPr sz="4600" kern="1200">
          <a:solidFill>
            <a:schemeClr val="tx1"/>
          </a:solidFill>
          <a:latin typeface="+mn-lt"/>
          <a:ea typeface="+mn-ea"/>
          <a:cs typeface="+mn-cs"/>
        </a:defRPr>
      </a:lvl1pPr>
      <a:lvl2pPr marL="1056623" indent="-406394" algn="l" defTabSz="1300460" rtl="0" eaLnBrk="1" latinLnBrk="0" hangingPunct="1">
        <a:spcBef>
          <a:spcPct val="20000"/>
        </a:spcBef>
        <a:buFont typeface="Arial" pitchFamily="34" charset="0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575" indent="-325115" algn="l" defTabSz="1300460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275804" indent="-325115" algn="l" defTabSz="130046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34" indent="-325115" algn="l" defTabSz="1300460" rtl="0" eaLnBrk="1" latinLnBrk="0" hangingPunct="1">
        <a:spcBef>
          <a:spcPct val="20000"/>
        </a:spcBef>
        <a:buFont typeface="Arial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76264" indent="-325115" algn="l" defTabSz="130046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226494" indent="-325115" algn="l" defTabSz="130046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4876724" indent="-325115" algn="l" defTabSz="130046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526954" indent="-325115" algn="l" defTabSz="130046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A2E4C340-2B5F-4D73-8A87-EA3DCDAB9A77}"/>
              </a:ext>
            </a:extLst>
          </p:cNvPr>
          <p:cNvSpPr txBox="1"/>
          <p:nvPr/>
        </p:nvSpPr>
        <p:spPr>
          <a:xfrm>
            <a:off x="1586655" y="3552160"/>
            <a:ext cx="9933905" cy="705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53"/>
              </a:spcBef>
              <a:defRPr/>
            </a:pPr>
            <a:r>
              <a:rPr lang="zh-CN" altLang="en-US" sz="3982" b="1" spc="427" dirty="0"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作业习题评讲课</a:t>
            </a:r>
            <a:endParaRPr lang="en-US" altLang="zh-CN" sz="3982" b="1" spc="427" dirty="0">
              <a:latin typeface="微软雅黑" panose="020B0503020204020204" pitchFamily="34" charset="-122"/>
              <a:ea typeface="微软雅黑" panose="020B0503020204020204" pitchFamily="34" charset="-122"/>
              <a:cs typeface="Heiti SC Medium" panose="02000000000000000000" charset="-122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CE47B25-5444-4F07-9ACE-EBC7F48130F5}"/>
              </a:ext>
            </a:extLst>
          </p:cNvPr>
          <p:cNvCxnSpPr/>
          <p:nvPr/>
        </p:nvCxnSpPr>
        <p:spPr>
          <a:xfrm>
            <a:off x="1638582" y="5046625"/>
            <a:ext cx="9933904" cy="0"/>
          </a:xfrm>
          <a:prstGeom prst="line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30C733D5-3D59-42A2-B7A7-D0068ECF1E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81987" cy="958259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CD5583D8-3239-4E35-B073-AC4DCCF20DF6}"/>
              </a:ext>
            </a:extLst>
          </p:cNvPr>
          <p:cNvGrpSpPr/>
          <p:nvPr/>
        </p:nvGrpSpPr>
        <p:grpSpPr>
          <a:xfrm>
            <a:off x="9522815" y="79009"/>
            <a:ext cx="3304135" cy="800240"/>
            <a:chOff x="5853449" y="-22066"/>
            <a:chExt cx="2967025" cy="750223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BC83128-0001-48E3-88CE-A051BBAA5008}"/>
                </a:ext>
              </a:extLst>
            </p:cNvPr>
            <p:cNvSpPr txBox="1"/>
            <p:nvPr/>
          </p:nvSpPr>
          <p:spPr>
            <a:xfrm>
              <a:off x="5853449" y="25982"/>
              <a:ext cx="2967025" cy="7021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560" b="1" dirty="0">
                  <a:solidFill>
                    <a:srgbClr val="0070C0"/>
                  </a:solidFill>
                </a:rPr>
                <a:t>             </a:t>
              </a:r>
              <a:r>
                <a:rPr lang="zh-CN" altLang="en-US" sz="2560" b="1" dirty="0">
                  <a:solidFill>
                    <a:srgbClr val="0070C0"/>
                  </a:solidFill>
                </a:rPr>
                <a:t>     </a:t>
              </a:r>
              <a:r>
                <a:rPr lang="en-US" altLang="zh-CN" sz="2560" b="1" dirty="0">
                  <a:solidFill>
                    <a:srgbClr val="0070C0"/>
                  </a:solidFill>
                </a:rPr>
                <a:t>ADMIS Lab</a:t>
              </a:r>
              <a:endParaRPr lang="en-US" altLang="zh-CN" sz="1707" b="1" dirty="0">
                <a:solidFill>
                  <a:srgbClr val="0070C0"/>
                </a:solidFill>
              </a:endParaRPr>
            </a:p>
            <a:p>
              <a:r>
                <a:rPr lang="zh-CN" altLang="en-US" sz="1707" b="1" dirty="0">
                  <a:solidFill>
                    <a:srgbClr val="0070C0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先进数据与机器智能系统实验室</a:t>
              </a:r>
            </a:p>
          </p:txBody>
        </p:sp>
        <p:pic>
          <p:nvPicPr>
            <p:cNvPr id="13" name="图形 12" descr="原子">
              <a:extLst>
                <a:ext uri="{FF2B5EF4-FFF2-40B4-BE49-F238E27FC236}">
                  <a16:creationId xmlns:a16="http://schemas.microsoft.com/office/drawing/2014/main" id="{BF6D1F0E-B54A-4DF1-A688-9B8D53DFA6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51999" y="-22066"/>
              <a:ext cx="1189248" cy="524648"/>
            </a:xfrm>
            <a:prstGeom prst="rect">
              <a:avLst/>
            </a:prstGeom>
          </p:spPr>
        </p:pic>
      </p:grpSp>
      <p:sp>
        <p:nvSpPr>
          <p:cNvPr id="14" name="文本框 11">
            <a:extLst>
              <a:ext uri="{FF2B5EF4-FFF2-40B4-BE49-F238E27FC236}">
                <a16:creationId xmlns:a16="http://schemas.microsoft.com/office/drawing/2014/main" id="{D33F08C2-551B-4A7D-95A2-CAFACA3E9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5438" y="6328388"/>
            <a:ext cx="8128000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560" b="1" dirty="0">
                <a:latin typeface="微软雅黑" panose="020B0503020204020204" pitchFamily="34" charset="-122"/>
                <a:ea typeface="微软雅黑" panose="020B0503020204020204" pitchFamily="34" charset="-122"/>
                <a:cs typeface="Heiti SC Medium" charset="-122"/>
              </a:rPr>
              <a:t>2025</a:t>
            </a:r>
            <a:endParaRPr lang="zh-CN" altLang="en-US" sz="2560" b="1" dirty="0">
              <a:latin typeface="微软雅黑" panose="020B0503020204020204" pitchFamily="34" charset="-122"/>
              <a:ea typeface="微软雅黑" panose="020B0503020204020204" pitchFamily="34" charset="-122"/>
              <a:cs typeface="Heiti SC Medium" charset="-122"/>
            </a:endParaRPr>
          </a:p>
        </p:txBody>
      </p:sp>
      <p:sp>
        <p:nvSpPr>
          <p:cNvPr id="22" name="副标题 3074">
            <a:extLst>
              <a:ext uri="{FF2B5EF4-FFF2-40B4-BE49-F238E27FC236}">
                <a16:creationId xmlns:a16="http://schemas.microsoft.com/office/drawing/2014/main" id="{5658695E-E912-4C9B-B0CF-2FD0F4B59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5438" y="5439604"/>
            <a:ext cx="8127999" cy="75852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71450" indent="-171450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143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0002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4574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9146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3718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altLang="en-US" sz="2844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数据库系统原理课程</a:t>
            </a:r>
            <a:endParaRPr lang="en-US" altLang="zh-CN" sz="2844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2926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A7FBE0-92D7-4377-AF31-F3212C895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800" spc="427" dirty="0"/>
              <a:t>第一次作业 </a:t>
            </a:r>
            <a:r>
              <a:rPr lang="en-US" altLang="zh-CN" sz="4800" spc="427" dirty="0"/>
              <a:t>2.1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3AA942D-4D45-6241-5043-4DD350A928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476"/>
          <a:stretch/>
        </p:blipFill>
        <p:spPr>
          <a:xfrm>
            <a:off x="864768" y="1476790"/>
            <a:ext cx="11550794" cy="40361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24EDA6B-D898-130A-73C0-6C0505C4F538}"/>
                  </a:ext>
                </a:extLst>
              </p:cNvPr>
              <p:cNvSpPr txBox="1"/>
              <p:nvPr/>
            </p:nvSpPr>
            <p:spPr>
              <a:xfrm>
                <a:off x="2587487" y="6741455"/>
                <a:ext cx="9047922" cy="892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𝑒𝑚𝑝𝑙𝑜𝑦𝑒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𝑤𝑜𝑟𝑘𝑠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表</m:t>
                    </m:r>
                  </m:oMath>
                </a14:m>
                <a:r>
                  <a:rPr lang="zh-CN" altLang="en-US" dirty="0"/>
                  <a:t>中选择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𝑝𝑒𝑟𝑠𝑜𝑛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𝑛𝑎𝑚𝑒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dirty="0"/>
                  <a:t>主键，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𝑐𝑜𝑚𝑝𝑎𝑛𝑦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表</m:t>
                    </m:r>
                  </m:oMath>
                </a14:m>
                <a:r>
                  <a:rPr lang="zh-CN" altLang="en-US" dirty="0"/>
                  <a:t>中选择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𝑐𝑜𝑚𝑝𝑎𝑛𝑦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𝑛𝑎𝑚𝑒</m:t>
                    </m:r>
                  </m:oMath>
                </a14:m>
                <a:r>
                  <a:rPr lang="zh-CN" altLang="en-US" dirty="0"/>
                  <a:t> 为主键。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24EDA6B-D898-130A-73C0-6C0505C4F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7487" y="6741455"/>
                <a:ext cx="9047922" cy="892552"/>
              </a:xfrm>
              <a:prstGeom prst="rect">
                <a:avLst/>
              </a:prstGeom>
              <a:blipFill>
                <a:blip r:embed="rId3"/>
                <a:stretch>
                  <a:fillRect t="-8219" b="-143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391833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A7FBE0-92D7-4377-AF31-F3212C895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800" spc="427" dirty="0"/>
              <a:t>第一次作业 </a:t>
            </a:r>
            <a:r>
              <a:rPr lang="en-US" altLang="zh-CN" sz="4800" spc="427" dirty="0"/>
              <a:t>2.6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8E19C92-D01C-4E10-7667-15AADB01DB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261" b="20239"/>
          <a:stretch/>
        </p:blipFill>
        <p:spPr>
          <a:xfrm>
            <a:off x="554724" y="1258956"/>
            <a:ext cx="11550794" cy="280618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6CFF34E-5E7E-18F8-5736-CE50D4CA9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386" y="3906113"/>
            <a:ext cx="9258027" cy="2493648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8DBD4AE8-FD00-2A28-DB12-34A8ECC00C97}"/>
              </a:ext>
            </a:extLst>
          </p:cNvPr>
          <p:cNvSpPr txBox="1"/>
          <p:nvPr/>
        </p:nvSpPr>
        <p:spPr>
          <a:xfrm>
            <a:off x="1850886" y="6399761"/>
            <a:ext cx="447923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答案：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93B64A0-1640-28E2-59D0-3914F6978F8A}"/>
                  </a:ext>
                </a:extLst>
              </p:cNvPr>
              <p:cNvSpPr txBox="1"/>
              <p:nvPr/>
            </p:nvSpPr>
            <p:spPr>
              <a:xfrm>
                <a:off x="1711741" y="6906530"/>
                <a:ext cx="9925879" cy="15545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AutoNum type="alpha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𝑝𝑒𝑟𝑠𝑜𝑛</m:t>
                        </m:r>
                        <m:r>
                          <m:rPr>
                            <m:lit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𝑛𝑎𝑚𝑒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𝑐𝑖𝑡𝑦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="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𝑀𝑖𝑎𝑚𝑖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"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𝑒𝑚𝑝𝑙𝑜𝑦𝑒𝑒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CN" b="0" dirty="0"/>
              </a:p>
              <a:p>
                <a:pPr marL="514350" indent="-514350">
                  <a:buAutoNum type="alpha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𝑝𝑒𝑟𝑠𝑜𝑛</m:t>
                        </m:r>
                        <m:r>
                          <m:rPr>
                            <m:lit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𝑛𝑎𝑚𝑒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𝑠𝑎𝑙𝑎𝑟𝑦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&gt;100000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𝑤𝑜𝑟𝑘𝑠</m:t>
                            </m:r>
                          </m:e>
                        </m:d>
                      </m:e>
                    </m:d>
                  </m:oMath>
                </a14:m>
                <a:endParaRPr lang="en-US" altLang="zh-CN" dirty="0"/>
              </a:p>
              <a:p>
                <a:pPr marL="514350" indent="-514350">
                  <a:buAutoNum type="alpha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𝑝𝑒𝑟𝑠𝑜𝑛</m:t>
                        </m:r>
                        <m:r>
                          <m:rPr>
                            <m:lit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𝑛𝑎𝑚𝑒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𝑠𝑎𝑙𝑎𝑟𝑦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&gt;100000∧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𝑐𝑖𝑡𝑦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="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𝑀𝑖𝑎𝑚𝑖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" 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𝑒𝑚𝑝𝑙𝑜𝑦𝑒𝑒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𝑤𝑜𝑟𝑘𝑠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93B64A0-1640-28E2-59D0-3914F6978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1741" y="6906530"/>
                <a:ext cx="9925879" cy="15545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57494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A7FBE0-92D7-4377-AF31-F3212C895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800" spc="427" dirty="0"/>
              <a:t>第一次作业 </a:t>
            </a:r>
            <a:r>
              <a:rPr lang="en-US" altLang="zh-CN" sz="4800" spc="427" dirty="0"/>
              <a:t>2.7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DBD4AE8-FD00-2A28-DB12-34A8ECC00C97}"/>
              </a:ext>
            </a:extLst>
          </p:cNvPr>
          <p:cNvSpPr txBox="1"/>
          <p:nvPr/>
        </p:nvSpPr>
        <p:spPr>
          <a:xfrm>
            <a:off x="2012777" y="6505766"/>
            <a:ext cx="447923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答案：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93B64A0-1640-28E2-59D0-3914F6978F8A}"/>
                  </a:ext>
                </a:extLst>
              </p:cNvPr>
              <p:cNvSpPr txBox="1"/>
              <p:nvPr/>
            </p:nvSpPr>
            <p:spPr>
              <a:xfrm>
                <a:off x="2012777" y="6998209"/>
                <a:ext cx="9925879" cy="956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AutoNum type="alpha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𝑏𝑟𝑎𝑛𝑐h</m:t>
                        </m:r>
                        <m:r>
                          <m:rPr>
                            <m:lit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𝑛𝑎𝑚𝑒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𝑏𝑟𝑎𝑛𝑐h</m:t>
                        </m:r>
                        <m:r>
                          <m:rPr>
                            <m:lit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𝑐𝑖𝑡𝑦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="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𝐶h𝑖𝑐𝑎𝑔𝑜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"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𝑏𝑟𝑎𝑛𝑐h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CN" b="0" dirty="0"/>
              </a:p>
              <a:p>
                <a:pPr marL="514350" indent="-514350">
                  <a:buAutoNum type="alpha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𝐼𝐷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𝑏𝑟𝑎𝑛𝑐h</m:t>
                        </m:r>
                        <m:r>
                          <m:rPr>
                            <m:lit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lit/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name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="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𝐷𝑜𝑤𝑛𝑡𝑜𝑤𝑛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" 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𝑏𝑜𝑟𝑟𝑤𝑒𝑟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𝑙𝑜𝑎𝑛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CN" dirty="0"/>
              </a:p>
            </p:txBody>
          </p:sp>
        </mc:Choice>
        <mc:Fallback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93B64A0-1640-28E2-59D0-3914F6978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2777" y="6998209"/>
                <a:ext cx="9925879" cy="9567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D7C4B632-B197-BF64-C4AD-5C8B4CED6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942" y="1323449"/>
            <a:ext cx="9543119" cy="493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18679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A7FBE0-92D7-4377-AF31-F3212C895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800" spc="427" dirty="0"/>
              <a:t>第一次作业 </a:t>
            </a:r>
            <a:r>
              <a:rPr lang="en-US" altLang="zh-CN" sz="4800" spc="427" dirty="0"/>
              <a:t>2.8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DBD4AE8-FD00-2A28-DB12-34A8ECC00C97}"/>
              </a:ext>
            </a:extLst>
          </p:cNvPr>
          <p:cNvSpPr txBox="1"/>
          <p:nvPr/>
        </p:nvSpPr>
        <p:spPr>
          <a:xfrm>
            <a:off x="554724" y="6505766"/>
            <a:ext cx="447923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答案：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93B64A0-1640-28E2-59D0-3914F6978F8A}"/>
                  </a:ext>
                </a:extLst>
              </p:cNvPr>
              <p:cNvSpPr txBox="1"/>
              <p:nvPr/>
            </p:nvSpPr>
            <p:spPr>
              <a:xfrm>
                <a:off x="554725" y="6998209"/>
                <a:ext cx="12352892" cy="11517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AutoNum type="alpha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𝑝𝑒𝑟𝑠𝑜𝑛</m:t>
                        </m:r>
                        <m:r>
                          <m:rPr>
                            <m:lit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𝑛𝑎𝑚𝑒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𝑤𝑜𝑟𝑘𝑠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𝑝𝑒𝑟𝑠𝑜𝑛</m:t>
                        </m:r>
                        <m:r>
                          <m:rPr>
                            <m:lit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𝑛𝑎𝑚𝑒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𝑐𝑜𝑚𝑝𝑎𝑛𝑦</m:t>
                            </m:r>
                            <m:r>
                              <m:rPr>
                                <m:lit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𝑛𝑎𝑚𝑒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="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𝐵𝑖𝑔𝐵𝑎𝑛𝑘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"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𝑤𝑜𝑟𝑘𝑠</m:t>
                            </m:r>
                          </m:e>
                        </m:d>
                      </m:e>
                    </m:d>
                  </m:oMath>
                </a14:m>
                <a:endParaRPr lang="en-US" altLang="zh-CN" b="0" dirty="0"/>
              </a:p>
              <a:p>
                <a:pPr marL="514350" indent="-514350">
                  <a:buAutoNum type="alpha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𝑝𝑒𝑟𝑠𝑜𝑛</m:t>
                        </m:r>
                        <m:r>
                          <m:rPr>
                            <m:lit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𝑛𝑎𝑚𝑒</m:t>
                        </m:r>
                      </m:sub>
                    </m:sSub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𝑤𝑜𝑟𝑘𝑠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𝑝𝑒𝑟𝑠𝑜𝑛</m:t>
                        </m:r>
                        <m:r>
                          <m:rPr>
                            <m:lit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𝑛𝑎𝑚𝑒</m:t>
                        </m:r>
                      </m:sub>
                    </m:sSub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𝑤𝑜𝑟𝑘𝑠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𝑠𝑎𝑙𝑎𝑟𝑦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𝑠𝑎𝑙𝑎𝑟𝑦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𝑤𝑜𝑟𝑘𝑠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∏"/>
                                <m:supHide m:val="on"/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𝑠𝑎𝑙𝑎𝑟𝑦</m:t>
                                </m:r>
                              </m:sub>
                              <m:sup/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𝑤𝑜𝑟𝑘𝑠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d>
                  </m:oMath>
                </a14:m>
                <a:endParaRPr lang="en-US" altLang="zh-CN" b="0" dirty="0"/>
              </a:p>
            </p:txBody>
          </p:sp>
        </mc:Choice>
        <mc:Fallback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93B64A0-1640-28E2-59D0-3914F6978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725" y="6998209"/>
                <a:ext cx="12352892" cy="11517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FC679D22-0939-061A-B939-B6F2863126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4275" y="3914775"/>
            <a:ext cx="8096250" cy="19240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E5252B9-B2EB-4C98-8F0F-906A7CF0863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1261" b="20239"/>
          <a:stretch/>
        </p:blipFill>
        <p:spPr>
          <a:xfrm>
            <a:off x="554724" y="1258956"/>
            <a:ext cx="11550794" cy="2806183"/>
          </a:xfrm>
          <a:prstGeom prst="rect">
            <a:avLst/>
          </a:prstGeom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DF606C0-D208-51D7-6C5B-18B39B347CCF}"/>
              </a:ext>
            </a:extLst>
          </p:cNvPr>
          <p:cNvCxnSpPr/>
          <p:nvPr/>
        </p:nvCxnSpPr>
        <p:spPr>
          <a:xfrm>
            <a:off x="4059936" y="4809744"/>
            <a:ext cx="974023" cy="2377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EAD32DF-956A-149F-CD1D-365255C71F5F}"/>
              </a:ext>
            </a:extLst>
          </p:cNvPr>
          <p:cNvCxnSpPr/>
          <p:nvPr/>
        </p:nvCxnSpPr>
        <p:spPr>
          <a:xfrm>
            <a:off x="4059936" y="5262086"/>
            <a:ext cx="974023" cy="2377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1109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A7FBE0-92D7-4377-AF31-F3212C895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800" spc="427" dirty="0"/>
              <a:t>第一次作业 </a:t>
            </a:r>
            <a:r>
              <a:rPr lang="en-US" altLang="zh-CN" sz="4800" spc="427" dirty="0"/>
              <a:t>2.15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DBD4AE8-FD00-2A28-DB12-34A8ECC00C97}"/>
              </a:ext>
            </a:extLst>
          </p:cNvPr>
          <p:cNvSpPr txBox="1"/>
          <p:nvPr/>
        </p:nvSpPr>
        <p:spPr>
          <a:xfrm>
            <a:off x="554724" y="6505766"/>
            <a:ext cx="447923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答案：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93B64A0-1640-28E2-59D0-3914F6978F8A}"/>
                  </a:ext>
                </a:extLst>
              </p:cNvPr>
              <p:cNvSpPr txBox="1"/>
              <p:nvPr/>
            </p:nvSpPr>
            <p:spPr>
              <a:xfrm>
                <a:off x="554725" y="6998209"/>
                <a:ext cx="12352892" cy="13934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AutoNum type="alpha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𝑙𝑜𝑎𝑛</m:t>
                        </m:r>
                        <m:r>
                          <m:rPr>
                            <m:lit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𝑎𝑚𝑜𝑢𝑛𝑡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&gt;10000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𝑙𝑜𝑎𝑛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CN" b="0" dirty="0"/>
              </a:p>
              <a:p>
                <a:pPr marL="514350" indent="-514350">
                  <a:buAutoNum type="alphaLcPeriod"/>
                </a:pP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𝐼𝐷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𝑏𝑎𝑙𝑎𝑛𝑐𝑒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&gt;6000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𝑑𝑒𝑝𝑜𝑠𝑖𝑡𝑜𝑟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⋈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𝑎𝑐𝑐𝑜𝑢𝑛𝑡</m:t>
                            </m:r>
                          </m:e>
                        </m:d>
                      </m:e>
                    </m:d>
                  </m:oMath>
                </a14:m>
                <a:endParaRPr lang="en-US" altLang="zh-CN" b="0" dirty="0"/>
              </a:p>
              <a:p>
                <a:pPr marL="514350" indent="-514350">
                  <a:buAutoNum type="alpha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𝐼𝐷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𝑏𝑎𝑙𝑎𝑛𝑐𝑒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&gt;6000∧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𝑏𝑟𝑎𝑛𝑐h</m:t>
                        </m:r>
                        <m:r>
                          <m:rPr>
                            <m:lit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𝑛𝑎𝑚𝑒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="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𝑈𝑝𝑡𝑜𝑤𝑛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"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𝑑𝑒𝑝𝑜𝑠𝑖𝑡𝑜𝑟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𝑎𝑐𝑐𝑜𝑢𝑛𝑡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93B64A0-1640-28E2-59D0-3914F6978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725" y="6998209"/>
                <a:ext cx="12352892" cy="13934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4BBBF75B-474D-BC0E-6460-1794232E5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117" y="4272449"/>
            <a:ext cx="10008566" cy="223331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007D59E-3C5B-76DA-8015-D98B37981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8391" y="1170095"/>
            <a:ext cx="8643592" cy="309580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655D224-B9EE-C53D-DD33-E4E2A4390B4D}"/>
              </a:ext>
            </a:extLst>
          </p:cNvPr>
          <p:cNvSpPr txBox="1"/>
          <p:nvPr/>
        </p:nvSpPr>
        <p:spPr>
          <a:xfrm>
            <a:off x="5305646" y="8637888"/>
            <a:ext cx="60351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注意区分是</a:t>
            </a:r>
            <a:r>
              <a:rPr lang="en-US" altLang="zh-CN" dirty="0">
                <a:solidFill>
                  <a:srgbClr val="FF0000"/>
                </a:solidFill>
              </a:rPr>
              <a:t>branch</a:t>
            </a:r>
            <a:r>
              <a:rPr lang="zh-CN" altLang="en-US" dirty="0">
                <a:solidFill>
                  <a:srgbClr val="FF0000"/>
                </a:solidFill>
              </a:rPr>
              <a:t>的</a:t>
            </a:r>
            <a:r>
              <a:rPr lang="en-US" altLang="zh-CN" dirty="0">
                <a:solidFill>
                  <a:srgbClr val="FF0000"/>
                </a:solidFill>
              </a:rPr>
              <a:t>name</a:t>
            </a:r>
            <a:r>
              <a:rPr lang="zh-CN" altLang="en-US" dirty="0">
                <a:solidFill>
                  <a:srgbClr val="FF0000"/>
                </a:solidFill>
              </a:rPr>
              <a:t>还是所处的</a:t>
            </a:r>
            <a:r>
              <a:rPr lang="en-US" altLang="zh-CN" dirty="0">
                <a:solidFill>
                  <a:srgbClr val="FF0000"/>
                </a:solidFill>
              </a:rPr>
              <a:t>city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60143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A7FBE0-92D7-4377-AF31-F3212C895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3004800" cy="1209041"/>
          </a:xfrm>
        </p:spPr>
        <p:txBody>
          <a:bodyPr/>
          <a:lstStyle/>
          <a:p>
            <a:pPr algn="ctr"/>
            <a:r>
              <a:rPr lang="zh-CN" altLang="en-US" sz="4800" spc="427" dirty="0"/>
              <a:t>第二次作业 </a:t>
            </a:r>
            <a:r>
              <a:rPr lang="en-US" altLang="zh-CN" sz="4400" spc="427" dirty="0"/>
              <a:t>3.8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D4B2246A-E301-89B4-4FD4-2B6AFBF746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07680" y="1466820"/>
            <a:ext cx="10594803" cy="511708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20934FC-CDF2-BDCE-0AEF-5F44377A91F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87464"/>
          <a:stretch/>
        </p:blipFill>
        <p:spPr>
          <a:xfrm>
            <a:off x="1581150" y="6614305"/>
            <a:ext cx="9647864" cy="51954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E0DA5ED-57F9-B0CC-126B-E1DCB955F4A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7534"/>
          <a:stretch/>
        </p:blipFill>
        <p:spPr>
          <a:xfrm>
            <a:off x="1581150" y="7133851"/>
            <a:ext cx="9647865" cy="258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2834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A7FBE0-92D7-4377-AF31-F3212C895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3004800" cy="1209041"/>
          </a:xfrm>
        </p:spPr>
        <p:txBody>
          <a:bodyPr/>
          <a:lstStyle/>
          <a:p>
            <a:pPr algn="ctr"/>
            <a:r>
              <a:rPr lang="zh-CN" altLang="en-US" sz="4800" spc="427" dirty="0"/>
              <a:t>第二次作业 </a:t>
            </a:r>
            <a:r>
              <a:rPr lang="en-US" altLang="zh-CN" sz="4800" spc="427" dirty="0"/>
              <a:t>3.8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732385E-1CDA-079A-885D-177AF5D586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7437"/>
          <a:stretch/>
        </p:blipFill>
        <p:spPr>
          <a:xfrm>
            <a:off x="602780" y="1695855"/>
            <a:ext cx="11799240" cy="50701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D876FFD-1228-65C5-5B94-122300D8983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80022"/>
          <a:stretch/>
        </p:blipFill>
        <p:spPr>
          <a:xfrm>
            <a:off x="667286" y="5511800"/>
            <a:ext cx="11670228" cy="84743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96DD54D-B532-6E6E-9701-37CF91CCDF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7109"/>
          <a:stretch/>
        </p:blipFill>
        <p:spPr>
          <a:xfrm>
            <a:off x="667286" y="2336397"/>
            <a:ext cx="11799240" cy="253809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D3E9578-587B-6C09-5860-492327AF75B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4801"/>
          <a:stretch/>
        </p:blipFill>
        <p:spPr>
          <a:xfrm>
            <a:off x="602780" y="6599784"/>
            <a:ext cx="11670228" cy="2341418"/>
          </a:xfrm>
          <a:prstGeom prst="rect">
            <a:avLst/>
          </a:prstGeom>
        </p:spPr>
      </p:pic>
      <p:pic>
        <p:nvPicPr>
          <p:cNvPr id="5" name="内容占位符 3">
            <a:extLst>
              <a:ext uri="{FF2B5EF4-FFF2-40B4-BE49-F238E27FC236}">
                <a16:creationId xmlns:a16="http://schemas.microsoft.com/office/drawing/2014/main" id="{7F214FEC-AB2A-B41B-7196-D4BD936434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rcRect l="16541" t="28679" r="16421" b="9812"/>
          <a:stretch>
            <a:fillRect/>
          </a:stretch>
        </p:blipFill>
        <p:spPr>
          <a:xfrm>
            <a:off x="7196518" y="2590091"/>
            <a:ext cx="5456228" cy="2417925"/>
          </a:xfrm>
          <a:prstGeom prst="rect">
            <a:avLst/>
          </a:prstGeom>
        </p:spPr>
      </p:pic>
      <p:pic>
        <p:nvPicPr>
          <p:cNvPr id="6" name="内容占位符 3">
            <a:extLst>
              <a:ext uri="{FF2B5EF4-FFF2-40B4-BE49-F238E27FC236}">
                <a16:creationId xmlns:a16="http://schemas.microsoft.com/office/drawing/2014/main" id="{9DCBBD6A-55FC-36E2-A184-501A3FD7CF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541" t="28679" r="16421" b="9812"/>
          <a:stretch>
            <a:fillRect/>
          </a:stretch>
        </p:blipFill>
        <p:spPr>
          <a:xfrm>
            <a:off x="7196518" y="5959316"/>
            <a:ext cx="5456228" cy="2203658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2F3B006-E738-6F23-23E2-2A28BA4ECA6C}"/>
              </a:ext>
            </a:extLst>
          </p:cNvPr>
          <p:cNvSpPr/>
          <p:nvPr/>
        </p:nvSpPr>
        <p:spPr>
          <a:xfrm>
            <a:off x="7325833" y="7357730"/>
            <a:ext cx="4529469" cy="5528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21BAA72-15BE-3ABB-C5C5-DFDFAF1EB680}"/>
              </a:ext>
            </a:extLst>
          </p:cNvPr>
          <p:cNvSpPr/>
          <p:nvPr/>
        </p:nvSpPr>
        <p:spPr>
          <a:xfrm>
            <a:off x="7325833" y="6629655"/>
            <a:ext cx="5456228" cy="2333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749282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0D729E1-1512-268D-13E2-1CE88B198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97" y="1597771"/>
            <a:ext cx="7488750" cy="786875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7F5626E-7D98-CD88-EED3-4D3D31363964}"/>
              </a:ext>
            </a:extLst>
          </p:cNvPr>
          <p:cNvSpPr txBox="1"/>
          <p:nvPr/>
        </p:nvSpPr>
        <p:spPr>
          <a:xfrm>
            <a:off x="7887909" y="1562123"/>
            <a:ext cx="49987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E.ID,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E.persone_name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E.city</a:t>
            </a:r>
            <a:endParaRPr lang="en-US" altLang="zh-C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employee as E, works as W</a:t>
            </a: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E.ID = W.ID and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W.company_name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"First Bank Corporation"</a:t>
            </a:r>
            <a:endParaRPr lang="zh-CN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B204E1-63F2-46F2-228B-5C2C0A980A01}"/>
              </a:ext>
            </a:extLst>
          </p:cNvPr>
          <p:cNvSpPr/>
          <p:nvPr/>
        </p:nvSpPr>
        <p:spPr>
          <a:xfrm>
            <a:off x="7509153" y="1535425"/>
            <a:ext cx="424603" cy="406265"/>
          </a:xfrm>
          <a:prstGeom prst="rect">
            <a:avLst/>
          </a:prstGeom>
          <a:noFill/>
        </p:spPr>
        <p:txBody>
          <a:bodyPr wrap="square" lIns="97536" tIns="48768" rIns="97536" bIns="48768">
            <a:spAutoFit/>
          </a:bodyPr>
          <a:lstStyle/>
          <a:p>
            <a:pPr algn="ctr"/>
            <a:r>
              <a:rPr lang="en-US" altLang="zh-CN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endParaRPr lang="zh-CN" alt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B730DB-802A-9D8F-B46F-74C687097F16}"/>
              </a:ext>
            </a:extLst>
          </p:cNvPr>
          <p:cNvSpPr/>
          <p:nvPr/>
        </p:nvSpPr>
        <p:spPr>
          <a:xfrm>
            <a:off x="7509153" y="3278175"/>
            <a:ext cx="442237" cy="406265"/>
          </a:xfrm>
          <a:prstGeom prst="rect">
            <a:avLst/>
          </a:prstGeom>
          <a:noFill/>
        </p:spPr>
        <p:txBody>
          <a:bodyPr wrap="square" lIns="97536" tIns="48768" rIns="97536" bIns="48768">
            <a:spAutoFit/>
          </a:bodyPr>
          <a:lstStyle/>
          <a:p>
            <a:pPr algn="ctr"/>
            <a:r>
              <a:rPr lang="en-US" altLang="zh-CN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endParaRPr lang="zh-CN" alt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4A415CF-6781-ED9C-5D27-B72D7080C3AC}"/>
              </a:ext>
            </a:extLst>
          </p:cNvPr>
          <p:cNvSpPr txBox="1"/>
          <p:nvPr/>
        </p:nvSpPr>
        <p:spPr>
          <a:xfrm>
            <a:off x="7916121" y="3292932"/>
            <a:ext cx="49987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E.ID,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E.persone_name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E.city</a:t>
            </a:r>
            <a:endParaRPr lang="en-US" altLang="zh-C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employee as E, works as W</a:t>
            </a: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E.ID = W.ID </a:t>
            </a:r>
          </a:p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and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W.company_name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"First Bank Corporation"</a:t>
            </a:r>
          </a:p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CN" sz="20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W.salary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&gt;10000</a:t>
            </a:r>
            <a:endParaRPr lang="zh-CN" altLang="en-US" sz="2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B22E33-3DB3-836D-9A4C-2DFBE57CAE19}"/>
              </a:ext>
            </a:extLst>
          </p:cNvPr>
          <p:cNvSpPr/>
          <p:nvPr/>
        </p:nvSpPr>
        <p:spPr>
          <a:xfrm>
            <a:off x="7491519" y="5645694"/>
            <a:ext cx="424603" cy="406265"/>
          </a:xfrm>
          <a:prstGeom prst="rect">
            <a:avLst/>
          </a:prstGeom>
          <a:noFill/>
        </p:spPr>
        <p:txBody>
          <a:bodyPr wrap="square" lIns="97536" tIns="48768" rIns="97536" bIns="48768">
            <a:spAutoFit/>
          </a:bodyPr>
          <a:lstStyle/>
          <a:p>
            <a:pPr algn="ctr"/>
            <a:r>
              <a:rPr lang="en-US" altLang="zh-CN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endParaRPr lang="zh-CN" alt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027BD9-FB5C-220E-051F-506017E814D0}"/>
              </a:ext>
            </a:extLst>
          </p:cNvPr>
          <p:cNvSpPr txBox="1"/>
          <p:nvPr/>
        </p:nvSpPr>
        <p:spPr>
          <a:xfrm>
            <a:off x="7906717" y="5658119"/>
            <a:ext cx="49987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works</a:t>
            </a: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company_name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&gt; "First Bank Corporation"</a:t>
            </a:r>
            <a:endParaRPr lang="zh-CN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4EA04D5-1B03-DA5C-DE0F-F5544E7C7D79}"/>
              </a:ext>
            </a:extLst>
          </p:cNvPr>
          <p:cNvSpPr/>
          <p:nvPr/>
        </p:nvSpPr>
        <p:spPr>
          <a:xfrm>
            <a:off x="7473885" y="7384561"/>
            <a:ext cx="442237" cy="406265"/>
          </a:xfrm>
          <a:prstGeom prst="rect">
            <a:avLst/>
          </a:prstGeom>
          <a:noFill/>
        </p:spPr>
        <p:txBody>
          <a:bodyPr wrap="square" lIns="97536" tIns="48768" rIns="97536" bIns="48768">
            <a:spAutoFit/>
          </a:bodyPr>
          <a:lstStyle/>
          <a:p>
            <a:pPr algn="ctr"/>
            <a:r>
              <a:rPr lang="en-US" altLang="zh-CN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endParaRPr lang="zh-CN" alt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C306E76-2849-FCBF-451D-BF75A26BFC2F}"/>
              </a:ext>
            </a:extLst>
          </p:cNvPr>
          <p:cNvSpPr txBox="1"/>
          <p:nvPr/>
        </p:nvSpPr>
        <p:spPr>
          <a:xfrm>
            <a:off x="7916123" y="7396330"/>
            <a:ext cx="49987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works</a:t>
            </a: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&gt;all(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salary</a:t>
            </a:r>
          </a:p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works</a:t>
            </a:r>
          </a:p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company_name</a:t>
            </a:r>
            <a:r>
              <a:rPr lang="zh-CN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"Small Bank Corporation"</a:t>
            </a:r>
            <a:endParaRPr lang="zh-CN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727FCE6-D629-8E56-87DE-1382049AA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3004800" cy="1209041"/>
          </a:xfrm>
          <a:solidFill>
            <a:srgbClr val="0070C0"/>
          </a:solidFill>
        </p:spPr>
        <p:txBody>
          <a:bodyPr>
            <a:normAutofit/>
          </a:bodyPr>
          <a:lstStyle/>
          <a:p>
            <a:pPr algn="ctr"/>
            <a:r>
              <a:rPr lang="zh-CN" altLang="en-US" sz="4800" b="1" spc="427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第二次作业 </a:t>
            </a:r>
            <a:r>
              <a:rPr lang="en-US" altLang="zh-CN" sz="4800" b="1" spc="427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3.9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6651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1727FCE6-D629-8E56-87DE-1382049AA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3004800" cy="1209041"/>
          </a:xfrm>
          <a:solidFill>
            <a:srgbClr val="0070C0"/>
          </a:solidFill>
        </p:spPr>
        <p:txBody>
          <a:bodyPr>
            <a:normAutofit/>
          </a:bodyPr>
          <a:lstStyle/>
          <a:p>
            <a:pPr algn="ctr"/>
            <a:r>
              <a:rPr lang="zh-CN" altLang="en-US" sz="4800" b="1" spc="427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第二次作业 </a:t>
            </a:r>
            <a:r>
              <a:rPr lang="en-US" altLang="zh-CN" sz="4800" b="1" spc="427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3.9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C018E47-E611-8721-D6FB-1F9F46030EA0}"/>
              </a:ext>
            </a:extLst>
          </p:cNvPr>
          <p:cNvSpPr txBox="1"/>
          <p:nvPr/>
        </p:nvSpPr>
        <p:spPr>
          <a:xfrm>
            <a:off x="2363375" y="3865329"/>
            <a:ext cx="102096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C.company_name</a:t>
            </a:r>
            <a:endParaRPr lang="en-US" altLang="zh-C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company as C</a:t>
            </a: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not exists </a:t>
            </a:r>
            <a:r>
              <a:rPr lang="en-US" altLang="zh-CN" sz="2000" b="1" dirty="0">
                <a:solidFill>
                  <a:srgbClr val="0000FF"/>
                </a:solidFill>
              </a:rPr>
              <a:t>//</a:t>
            </a:r>
            <a:r>
              <a:rPr lang="zh-CN" altLang="en-US" sz="2000" b="1" dirty="0">
                <a:solidFill>
                  <a:srgbClr val="0000FF"/>
                </a:solidFill>
              </a:rPr>
              <a:t>若集合差为空，</a:t>
            </a:r>
            <a:r>
              <a:rPr lang="en-US" altLang="zh-CN" sz="2000" b="1" dirty="0">
                <a:solidFill>
                  <a:srgbClr val="0000FF"/>
                </a:solidFill>
              </a:rPr>
              <a:t>not exist </a:t>
            </a:r>
            <a:r>
              <a:rPr lang="zh-CN" altLang="en-US" sz="2000" b="1" dirty="0">
                <a:solidFill>
                  <a:srgbClr val="0000FF"/>
                </a:solidFill>
              </a:rPr>
              <a:t>返回 </a:t>
            </a:r>
            <a:r>
              <a:rPr lang="en-US" altLang="zh-CN" sz="2000" b="1" dirty="0">
                <a:solidFill>
                  <a:srgbClr val="0000FF"/>
                </a:solidFill>
              </a:rPr>
              <a:t>True</a:t>
            </a:r>
            <a:r>
              <a:rPr lang="zh-CN" altLang="en-US" sz="2000" b="1" dirty="0">
                <a:solidFill>
                  <a:srgbClr val="0000FF"/>
                </a:solidFill>
              </a:rPr>
              <a:t>，即该公司满足位于</a:t>
            </a:r>
            <a:r>
              <a:rPr lang="en-US" altLang="zh-CN" sz="2000" b="1" dirty="0">
                <a:solidFill>
                  <a:srgbClr val="0000FF"/>
                </a:solidFill>
              </a:rPr>
              <a:t>Small Bank Corporation </a:t>
            </a:r>
            <a:r>
              <a:rPr lang="zh-CN" altLang="en-US" sz="2000" b="1" dirty="0">
                <a:solidFill>
                  <a:srgbClr val="0000FF"/>
                </a:solidFill>
              </a:rPr>
              <a:t>所在的所有城市</a:t>
            </a:r>
            <a:endParaRPr lang="en-US" altLang="zh-CN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(select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  </a:t>
            </a:r>
            <a:r>
              <a:rPr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//SBC</a:t>
            </a:r>
            <a:r>
              <a:rPr lang="zh-CN" alt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所在的所有城市</a:t>
            </a:r>
            <a:endParaRPr lang="en-US" altLang="zh-CN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from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</a:p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company_name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"Small</a:t>
            </a:r>
            <a:r>
              <a:rPr lang="zh-CN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Corporation"</a:t>
            </a: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except  (select  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D.city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as D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//C</a:t>
            </a:r>
            <a:r>
              <a:rPr lang="zh-CN" alt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对应的公司所在的所有城市</a:t>
            </a:r>
            <a:endParaRPr lang="en-US" altLang="zh-CN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where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D.company_name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C.company_name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zh-CN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3B6126C-E425-70F1-5B99-85D7D6B0C375}"/>
              </a:ext>
            </a:extLst>
          </p:cNvPr>
          <p:cNvSpPr/>
          <p:nvPr/>
        </p:nvSpPr>
        <p:spPr>
          <a:xfrm>
            <a:off x="1965509" y="3865329"/>
            <a:ext cx="36260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66368A3-CA5C-27C0-C77A-B94CD5CB97EB}"/>
              </a:ext>
            </a:extLst>
          </p:cNvPr>
          <p:cNvSpPr/>
          <p:nvPr/>
        </p:nvSpPr>
        <p:spPr>
          <a:xfrm>
            <a:off x="1939528" y="6544266"/>
            <a:ext cx="364203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f.</a:t>
            </a:r>
            <a:endParaRPr lang="zh-CN" alt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B8EE92E-D944-DD8F-9D91-F4FEBC5790E4}"/>
              </a:ext>
            </a:extLst>
          </p:cNvPr>
          <p:cNvSpPr txBox="1"/>
          <p:nvPr/>
        </p:nvSpPr>
        <p:spPr>
          <a:xfrm>
            <a:off x="2303730" y="6556428"/>
            <a:ext cx="1026926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company_name</a:t>
            </a:r>
            <a:endParaRPr lang="en-US" altLang="zh-C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works</a:t>
            </a: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company_name</a:t>
            </a:r>
            <a:endParaRPr lang="en-US" altLang="zh-C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count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distinct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ID) &gt;= all(</a:t>
            </a: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select count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distinct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ID)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company_name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E9D5044C-232C-F822-9F96-FC234209C8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581"/>
          <a:stretch/>
        </p:blipFill>
        <p:spPr>
          <a:xfrm>
            <a:off x="264436" y="1209041"/>
            <a:ext cx="7946457" cy="248083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2885A33-576A-69F4-495A-2EF596E78631}"/>
              </a:ext>
            </a:extLst>
          </p:cNvPr>
          <p:cNvSpPr/>
          <p:nvPr/>
        </p:nvSpPr>
        <p:spPr>
          <a:xfrm>
            <a:off x="1967112" y="8130010"/>
            <a:ext cx="37702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g.</a:t>
            </a:r>
            <a:endParaRPr lang="zh-CN" alt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55EF150-0E2A-8446-81F9-D3FEAEFE136C}"/>
              </a:ext>
            </a:extLst>
          </p:cNvPr>
          <p:cNvSpPr txBox="1"/>
          <p:nvPr/>
        </p:nvSpPr>
        <p:spPr>
          <a:xfrm>
            <a:off x="2363375" y="8162668"/>
            <a:ext cx="823396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company_name</a:t>
            </a:r>
            <a:endParaRPr lang="en-US" altLang="zh-C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works</a:t>
            </a: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company_name</a:t>
            </a:r>
            <a:endParaRPr lang="en-US" altLang="zh-C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avg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(salary) &gt; (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avg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(salary)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</a:t>
            </a:r>
          </a:p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company_name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 First Bank Corporation")</a:t>
            </a:r>
            <a:endParaRPr lang="zh-CN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81C6743-20AE-BA14-E79D-FCA4F72F49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669" t="75362" r="26895"/>
          <a:stretch>
            <a:fillRect/>
          </a:stretch>
        </p:blipFill>
        <p:spPr>
          <a:xfrm>
            <a:off x="8536709" y="1230845"/>
            <a:ext cx="4203656" cy="224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519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1727FCE6-D629-8E56-87DE-1382049AA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3004800" cy="1209041"/>
          </a:xfrm>
          <a:solidFill>
            <a:srgbClr val="0070C0"/>
          </a:solidFill>
        </p:spPr>
        <p:txBody>
          <a:bodyPr>
            <a:normAutofit/>
          </a:bodyPr>
          <a:lstStyle/>
          <a:p>
            <a:pPr algn="ctr"/>
            <a:r>
              <a:rPr lang="zh-CN" altLang="en-US" sz="4800" b="1" spc="427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第二次作业 </a:t>
            </a:r>
            <a:r>
              <a:rPr lang="en-US" altLang="zh-CN" sz="4800" b="1" spc="427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3.15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C2C2771-4E99-E159-1F8B-B4335940B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511" y="1454121"/>
            <a:ext cx="11014364" cy="495661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DCC40BE-65E5-89ED-FCF0-716A707A7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88" y="6905201"/>
            <a:ext cx="11368410" cy="200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885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940EF2E-0A67-1E09-A9F6-F85DA383C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74" y="5318322"/>
            <a:ext cx="6930428" cy="4468692"/>
          </a:xfrm>
          <a:prstGeom prst="rect">
            <a:avLst/>
          </a:prstGeom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1727FCE6-D629-8E56-87DE-1382049AA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3004800" cy="1209041"/>
          </a:xfrm>
          <a:solidFill>
            <a:srgbClr val="0070C0"/>
          </a:solidFill>
        </p:spPr>
        <p:txBody>
          <a:bodyPr>
            <a:normAutofit/>
          </a:bodyPr>
          <a:lstStyle/>
          <a:p>
            <a:pPr algn="ctr"/>
            <a:r>
              <a:rPr lang="zh-CN" altLang="en-US" sz="4800" b="1" spc="427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第二次作业 </a:t>
            </a:r>
            <a:r>
              <a:rPr lang="en-US" altLang="zh-CN" sz="4800" b="1" spc="427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3.15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4055273-FEDC-BF3E-525C-8ABC9B2CED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70" y="5318322"/>
            <a:ext cx="2549908" cy="105368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36D31C1-5701-1E79-8C3D-5D5E7363F092}"/>
              </a:ext>
            </a:extLst>
          </p:cNvPr>
          <p:cNvSpPr/>
          <p:nvPr/>
        </p:nvSpPr>
        <p:spPr>
          <a:xfrm>
            <a:off x="449706" y="5318322"/>
            <a:ext cx="41876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endParaRPr lang="zh-CN" alt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6A21D94-F3E9-4764-2E14-10E68D78B664}"/>
              </a:ext>
            </a:extLst>
          </p:cNvPr>
          <p:cNvSpPr/>
          <p:nvPr/>
        </p:nvSpPr>
        <p:spPr>
          <a:xfrm>
            <a:off x="7727071" y="5402499"/>
            <a:ext cx="43732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B09DBF4-8A07-F0C2-103D-D6209A57600C}"/>
              </a:ext>
            </a:extLst>
          </p:cNvPr>
          <p:cNvSpPr/>
          <p:nvPr/>
        </p:nvSpPr>
        <p:spPr>
          <a:xfrm>
            <a:off x="7757202" y="6941419"/>
            <a:ext cx="41876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12B01F0-FFB6-BED2-25C4-88713764D6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770" y="6948780"/>
            <a:ext cx="4591821" cy="2767391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F1309A82-EC40-03AA-8506-9A4617C225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706" y="3352797"/>
            <a:ext cx="11368410" cy="20076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7542713-3A81-3FCD-5BBF-10633B7824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3740" y="1299963"/>
            <a:ext cx="6477205" cy="205283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F5034C0-807C-E3DA-225E-ADFF97140399}"/>
              </a:ext>
            </a:extLst>
          </p:cNvPr>
          <p:cNvSpPr txBox="1"/>
          <p:nvPr/>
        </p:nvSpPr>
        <p:spPr>
          <a:xfrm>
            <a:off x="3492347" y="6475725"/>
            <a:ext cx="4450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000FF"/>
                </a:solidFill>
              </a:rPr>
              <a:t>找出位于‘</a:t>
            </a:r>
            <a:r>
              <a:rPr lang="en-US" altLang="zh-CN" sz="1800" b="1" dirty="0">
                <a:solidFill>
                  <a:srgbClr val="0000FF"/>
                </a:solidFill>
              </a:rPr>
              <a:t>Brooklyn’</a:t>
            </a:r>
            <a:r>
              <a:rPr lang="zh-CN" altLang="en-US" sz="1800" b="1" dirty="0">
                <a:solidFill>
                  <a:srgbClr val="0000FF"/>
                </a:solidFill>
              </a:rPr>
              <a:t>的所有</a:t>
            </a:r>
            <a:r>
              <a:rPr lang="en-US" altLang="zh-CN" sz="1800" b="1" dirty="0">
                <a:solidFill>
                  <a:srgbClr val="0000FF"/>
                </a:solidFill>
              </a:rPr>
              <a:t>branch</a:t>
            </a:r>
            <a:r>
              <a:rPr lang="zh-CN" altLang="en-US" sz="1800" b="1" dirty="0">
                <a:solidFill>
                  <a:srgbClr val="0000FF"/>
                </a:solidFill>
              </a:rPr>
              <a:t>的</a:t>
            </a:r>
            <a:r>
              <a:rPr lang="en-US" altLang="zh-CN" sz="1800" b="1" dirty="0">
                <a:solidFill>
                  <a:srgbClr val="0000FF"/>
                </a:solidFill>
              </a:rPr>
              <a:t>name </a:t>
            </a:r>
            <a:endParaRPr lang="zh-CN" altLang="en-US" sz="1800" b="1" dirty="0">
              <a:solidFill>
                <a:srgbClr val="0000FF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D18E662-7879-AD01-7900-1D70481AE0C7}"/>
              </a:ext>
            </a:extLst>
          </p:cNvPr>
          <p:cNvSpPr txBox="1"/>
          <p:nvPr/>
        </p:nvSpPr>
        <p:spPr>
          <a:xfrm>
            <a:off x="3492347" y="8159518"/>
            <a:ext cx="6499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000FF"/>
                </a:solidFill>
              </a:rPr>
              <a:t>找出</a:t>
            </a:r>
            <a:r>
              <a:rPr lang="en-US" altLang="zh-CN" sz="1800" b="1" dirty="0">
                <a:solidFill>
                  <a:srgbClr val="0000FF"/>
                </a:solidFill>
              </a:rPr>
              <a:t>C</a:t>
            </a:r>
            <a:r>
              <a:rPr lang="zh-CN" altLang="en-US" sz="1800" b="1" dirty="0">
                <a:solidFill>
                  <a:srgbClr val="0000FF"/>
                </a:solidFill>
              </a:rPr>
              <a:t>的所有存款所在的</a:t>
            </a:r>
            <a:r>
              <a:rPr lang="en-US" altLang="zh-CN" sz="1800" b="1" dirty="0">
                <a:solidFill>
                  <a:srgbClr val="0000FF"/>
                </a:solidFill>
              </a:rPr>
              <a:t>branch</a:t>
            </a:r>
            <a:r>
              <a:rPr lang="zh-CN" altLang="en-US" sz="1800" b="1" dirty="0">
                <a:solidFill>
                  <a:srgbClr val="0000FF"/>
                </a:solidFill>
              </a:rPr>
              <a:t>的</a:t>
            </a:r>
            <a:r>
              <a:rPr lang="en-US" altLang="zh-CN" sz="1800" b="1" dirty="0">
                <a:solidFill>
                  <a:srgbClr val="0000FF"/>
                </a:solidFill>
              </a:rPr>
              <a:t>name</a:t>
            </a:r>
            <a:endParaRPr lang="zh-CN" altLang="en-US" sz="1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8206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1727FCE6-D629-8E56-87DE-1382049AA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3004800" cy="1209041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zh-CN" altLang="en-US" sz="4800" b="1" spc="427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第二次作业 </a:t>
            </a:r>
            <a:r>
              <a:rPr lang="en-US" altLang="zh-CN" sz="4800" b="1" spc="427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3.16</a:t>
            </a:r>
            <a:endParaRPr lang="zh-CN" altLang="en-US" sz="4800" b="1" spc="427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5F507EC-65A9-B5B8-59B2-2480ADB94ECC}"/>
              </a:ext>
            </a:extLst>
          </p:cNvPr>
          <p:cNvSpPr/>
          <p:nvPr/>
        </p:nvSpPr>
        <p:spPr>
          <a:xfrm>
            <a:off x="464315" y="4638396"/>
            <a:ext cx="36260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endParaRPr lang="zh-CN" alt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2F3DE9E-EDC1-DDAD-4AC6-48E609DC118F}"/>
              </a:ext>
            </a:extLst>
          </p:cNvPr>
          <p:cNvSpPr/>
          <p:nvPr/>
        </p:nvSpPr>
        <p:spPr>
          <a:xfrm>
            <a:off x="7142496" y="4600572"/>
            <a:ext cx="37702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008EA8A-109A-2FDC-788D-A54A9E2534B5}"/>
              </a:ext>
            </a:extLst>
          </p:cNvPr>
          <p:cNvSpPr/>
          <p:nvPr/>
        </p:nvSpPr>
        <p:spPr>
          <a:xfrm>
            <a:off x="464315" y="6218475"/>
            <a:ext cx="36260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17F90DD-7152-CA1A-5D0C-DDB68ADF6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1" y="1368671"/>
            <a:ext cx="8229600" cy="293307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2E10E20-EC29-3FD2-7106-3BBAD04D9F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886" y="1629904"/>
            <a:ext cx="3722703" cy="234322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033B1A2-B1AB-3732-2D73-14B92FD58CF0}"/>
              </a:ext>
            </a:extLst>
          </p:cNvPr>
          <p:cNvSpPr txBox="1"/>
          <p:nvPr/>
        </p:nvSpPr>
        <p:spPr>
          <a:xfrm>
            <a:off x="844548" y="4657328"/>
            <a:ext cx="65557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ID,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person_name</a:t>
            </a:r>
            <a:endParaRPr lang="en-US" altLang="zh-C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(employee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join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works)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join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employee.ID=works.ID and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works.company_name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company.company_name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employee.city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company.city</a:t>
            </a:r>
            <a:endParaRPr lang="en-US" altLang="zh-C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1387A34-AA82-CABD-049D-FCB7C72181CF}"/>
              </a:ext>
            </a:extLst>
          </p:cNvPr>
          <p:cNvSpPr txBox="1"/>
          <p:nvPr/>
        </p:nvSpPr>
        <p:spPr>
          <a:xfrm>
            <a:off x="7477635" y="4589940"/>
            <a:ext cx="512207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E.ID,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E.person_name</a:t>
            </a:r>
            <a:endParaRPr lang="en-US" altLang="zh-C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employee as E, employee as D, manages </a:t>
            </a: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E.ID = manages.ID </a:t>
            </a:r>
          </a:p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and D.ID =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manages.manager_id</a:t>
            </a:r>
            <a:endParaRPr lang="en-US" altLang="zh-C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and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E.street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D.street</a:t>
            </a:r>
            <a:endParaRPr lang="en-US" altLang="zh-C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and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E.city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D.city</a:t>
            </a:r>
            <a:endParaRPr lang="zh-CN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35D572-1ECF-F7AD-2E25-F63474D08206}"/>
              </a:ext>
            </a:extLst>
          </p:cNvPr>
          <p:cNvSpPr txBox="1"/>
          <p:nvPr/>
        </p:nvSpPr>
        <p:spPr>
          <a:xfrm>
            <a:off x="844548" y="6218475"/>
            <a:ext cx="689292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ID,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person_name</a:t>
            </a:r>
            <a:endParaRPr lang="en-US" altLang="zh-C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works as A</a:t>
            </a: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salary  &gt;  (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avg(salary)</a:t>
            </a:r>
            <a:endParaRPr lang="en-US" altLang="zh-C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works as W</a:t>
            </a:r>
          </a:p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where W.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company_name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A.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company_name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B715DAE-8745-66F8-CA42-8B8A8D3DC5E4}"/>
              </a:ext>
            </a:extLst>
          </p:cNvPr>
          <p:cNvSpPr txBox="1"/>
          <p:nvPr/>
        </p:nvSpPr>
        <p:spPr>
          <a:xfrm>
            <a:off x="844548" y="7716971"/>
            <a:ext cx="68929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company_name</a:t>
            </a:r>
            <a:endParaRPr lang="en-US" altLang="zh-C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works</a:t>
            </a: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company_name</a:t>
            </a:r>
            <a:endParaRPr lang="en-US" altLang="zh-C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sum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(salary) &lt;=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sum(salary)</a:t>
            </a:r>
          </a:p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works</a:t>
            </a:r>
          </a:p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company_name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E2D29C-5408-89BA-8654-0CE20234AB55}"/>
              </a:ext>
            </a:extLst>
          </p:cNvPr>
          <p:cNvSpPr/>
          <p:nvPr/>
        </p:nvSpPr>
        <p:spPr>
          <a:xfrm>
            <a:off x="465918" y="7716971"/>
            <a:ext cx="37702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041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1727FCE6-D629-8E56-87DE-1382049AA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3004800" cy="1209041"/>
          </a:xfrm>
          <a:solidFill>
            <a:srgbClr val="0070C0"/>
          </a:solidFill>
        </p:spPr>
        <p:txBody>
          <a:bodyPr>
            <a:normAutofit/>
          </a:bodyPr>
          <a:lstStyle/>
          <a:p>
            <a:pPr algn="ctr"/>
            <a:r>
              <a:rPr lang="zh-CN" altLang="en-US" sz="4800" b="1" spc="427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第二次作业 </a:t>
            </a:r>
            <a:r>
              <a:rPr lang="en-US" altLang="zh-CN" sz="4800" b="1" spc="427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3.17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6B0A6A9-F993-801D-B247-A67DDBEA4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00" y="1618885"/>
            <a:ext cx="7904843" cy="212487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B3D5325-B3BE-F215-42E0-6AE190388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482674"/>
            <a:ext cx="3911600" cy="239729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FEA3AB45-2BC3-4168-12C5-6F1E6F31E86F}"/>
              </a:ext>
            </a:extLst>
          </p:cNvPr>
          <p:cNvSpPr txBox="1"/>
          <p:nvPr/>
        </p:nvSpPr>
        <p:spPr>
          <a:xfrm>
            <a:off x="3547835" y="4407674"/>
            <a:ext cx="83248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</a:t>
            </a: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salary = salary * 1.1</a:t>
            </a: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company_name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"First Bank Corporation"</a:t>
            </a:r>
            <a:endParaRPr lang="zh-CN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9E52243-F416-7A82-4CBD-2B85D7B026C9}"/>
              </a:ext>
            </a:extLst>
          </p:cNvPr>
          <p:cNvSpPr txBox="1"/>
          <p:nvPr/>
        </p:nvSpPr>
        <p:spPr>
          <a:xfrm>
            <a:off x="3547834" y="6009839"/>
            <a:ext cx="659220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</a:t>
            </a: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salary = salary * 1.1</a:t>
            </a: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works.company_name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"First Bank Corporation"</a:t>
            </a:r>
          </a:p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and ID in (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distinct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manager_id</a:t>
            </a:r>
            <a:endParaRPr lang="en-US" altLang="zh-C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manages)</a:t>
            </a:r>
            <a:endParaRPr lang="zh-CN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1A9C596-18FF-CA8C-A256-5552149B18A8}"/>
              </a:ext>
            </a:extLst>
          </p:cNvPr>
          <p:cNvSpPr txBox="1"/>
          <p:nvPr/>
        </p:nvSpPr>
        <p:spPr>
          <a:xfrm>
            <a:off x="3547834" y="8174990"/>
            <a:ext cx="8883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from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works</a:t>
            </a: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company_name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="Small Bank Corporation"</a:t>
            </a:r>
            <a:endParaRPr lang="zh-CN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5F507EC-65A9-B5B8-59B2-2480ADB94ECC}"/>
              </a:ext>
            </a:extLst>
          </p:cNvPr>
          <p:cNvSpPr/>
          <p:nvPr/>
        </p:nvSpPr>
        <p:spPr>
          <a:xfrm>
            <a:off x="3185234" y="4388791"/>
            <a:ext cx="36260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endParaRPr lang="zh-CN" alt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2F3DE9E-EDC1-DDAD-4AC6-48E609DC118F}"/>
              </a:ext>
            </a:extLst>
          </p:cNvPr>
          <p:cNvSpPr/>
          <p:nvPr/>
        </p:nvSpPr>
        <p:spPr>
          <a:xfrm>
            <a:off x="3151571" y="6009839"/>
            <a:ext cx="37702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008EA8A-109A-2FDC-788D-A54A9E2534B5}"/>
              </a:ext>
            </a:extLst>
          </p:cNvPr>
          <p:cNvSpPr/>
          <p:nvPr/>
        </p:nvSpPr>
        <p:spPr>
          <a:xfrm>
            <a:off x="3167601" y="8083416"/>
            <a:ext cx="36260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692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96AA7EA-D8D4-FC38-5393-3424C6DB1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55" y="1346654"/>
            <a:ext cx="8650743" cy="392790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D1A1636-2A4A-786C-525D-86C2E23B65C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188" r="10243"/>
          <a:stretch/>
        </p:blipFill>
        <p:spPr>
          <a:xfrm>
            <a:off x="8988262" y="2430709"/>
            <a:ext cx="3905345" cy="175979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4EADBDB-6D72-4D03-FA0A-FF583E1947C3}"/>
              </a:ext>
            </a:extLst>
          </p:cNvPr>
          <p:cNvSpPr txBox="1"/>
          <p:nvPr/>
        </p:nvSpPr>
        <p:spPr>
          <a:xfrm>
            <a:off x="1042837" y="5406571"/>
            <a:ext cx="448343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M.memb_no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M.name </a:t>
            </a: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member M, book B, borrowed C</a:t>
            </a: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C.memb_no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M.memb_no</a:t>
            </a:r>
            <a:endParaRPr lang="en-US" altLang="zh-C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and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B.isbn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C.isbn</a:t>
            </a:r>
            <a:endParaRPr lang="en-US" altLang="zh-C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and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B.publisher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"McGraw-Hill"</a:t>
            </a:r>
            <a:endParaRPr lang="zh-CN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8DA3DE-BE91-453B-6A54-84C490D7CD13}"/>
              </a:ext>
            </a:extLst>
          </p:cNvPr>
          <p:cNvSpPr/>
          <p:nvPr/>
        </p:nvSpPr>
        <p:spPr>
          <a:xfrm>
            <a:off x="527821" y="5413718"/>
            <a:ext cx="374911" cy="406265"/>
          </a:xfrm>
          <a:prstGeom prst="rect">
            <a:avLst/>
          </a:prstGeom>
          <a:noFill/>
        </p:spPr>
        <p:txBody>
          <a:bodyPr wrap="none" lIns="97536" tIns="48768" rIns="97536" bIns="48768">
            <a:spAutoFit/>
          </a:bodyPr>
          <a:lstStyle/>
          <a:p>
            <a:pPr algn="ctr"/>
            <a:r>
              <a:rPr lang="en-US" altLang="zh-CN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endParaRPr lang="zh-CN" alt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E40500E-8FD1-DEDB-25BB-C417F9D830B9}"/>
              </a:ext>
            </a:extLst>
          </p:cNvPr>
          <p:cNvSpPr/>
          <p:nvPr/>
        </p:nvSpPr>
        <p:spPr>
          <a:xfrm>
            <a:off x="5877902" y="5406571"/>
            <a:ext cx="389337" cy="406265"/>
          </a:xfrm>
          <a:prstGeom prst="rect">
            <a:avLst/>
          </a:prstGeom>
          <a:noFill/>
        </p:spPr>
        <p:txBody>
          <a:bodyPr wrap="none" lIns="97536" tIns="48768" rIns="97536" bIns="48768">
            <a:spAutoFit/>
          </a:bodyPr>
          <a:lstStyle/>
          <a:p>
            <a:pPr algn="ctr"/>
            <a:r>
              <a:rPr lang="en-US" altLang="zh-CN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endParaRPr lang="zh-CN" alt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4CFA88-37E3-D18A-FA1C-062FF4960587}"/>
              </a:ext>
            </a:extLst>
          </p:cNvPr>
          <p:cNvSpPr txBox="1"/>
          <p:nvPr/>
        </p:nvSpPr>
        <p:spPr>
          <a:xfrm>
            <a:off x="961340" y="7508449"/>
            <a:ext cx="49209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B.publisher,M.memb_no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M.name</a:t>
            </a: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member M, book B, borrowed C</a:t>
            </a: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C.memb_no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M.memb_no</a:t>
            </a:r>
            <a:endParaRPr lang="en-US" altLang="zh-C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and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B.isbn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C.isbn</a:t>
            </a:r>
            <a:endParaRPr lang="en-US" altLang="zh-C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B.publisher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M.memb_no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M.name</a:t>
            </a: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count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(*)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B548151-14C8-8489-EEF9-2D96509BA7D0}"/>
              </a:ext>
            </a:extLst>
          </p:cNvPr>
          <p:cNvSpPr/>
          <p:nvPr/>
        </p:nvSpPr>
        <p:spPr>
          <a:xfrm>
            <a:off x="5877902" y="7473842"/>
            <a:ext cx="443199" cy="406265"/>
          </a:xfrm>
          <a:prstGeom prst="rect">
            <a:avLst/>
          </a:prstGeom>
          <a:noFill/>
        </p:spPr>
        <p:txBody>
          <a:bodyPr wrap="square" lIns="97536" tIns="48768" rIns="97536" bIns="48768">
            <a:spAutoFit/>
          </a:bodyPr>
          <a:lstStyle/>
          <a:p>
            <a:pPr algn="ctr"/>
            <a:r>
              <a:rPr lang="en-US" altLang="zh-CN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endParaRPr lang="zh-CN" alt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12C8E09-70A1-B6C8-2D06-8984BCDDD34C}"/>
              </a:ext>
            </a:extLst>
          </p:cNvPr>
          <p:cNvSpPr txBox="1"/>
          <p:nvPr/>
        </p:nvSpPr>
        <p:spPr>
          <a:xfrm>
            <a:off x="6321101" y="7516932"/>
            <a:ext cx="65547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avg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borrowed_count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avg_borrowed_count</a:t>
            </a:r>
            <a:endParaRPr lang="en-US" altLang="zh-C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,count(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b.isbn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borrowed_count</a:t>
            </a:r>
            <a:endParaRPr lang="en-US" altLang="zh-C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member as M</a:t>
            </a:r>
          </a:p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join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borrowed as B on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M.memb_no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B.memb_no</a:t>
            </a:r>
            <a:endParaRPr lang="en-US" altLang="zh-C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memb_no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)as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member_borrowed_count</a:t>
            </a:r>
            <a:endParaRPr lang="en-US" altLang="zh-C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9284EED-1232-9A62-1FB1-08F217B07DFB}"/>
              </a:ext>
            </a:extLst>
          </p:cNvPr>
          <p:cNvSpPr/>
          <p:nvPr/>
        </p:nvSpPr>
        <p:spPr>
          <a:xfrm>
            <a:off x="527821" y="7473843"/>
            <a:ext cx="374911" cy="406265"/>
          </a:xfrm>
          <a:prstGeom prst="rect">
            <a:avLst/>
          </a:prstGeom>
          <a:noFill/>
        </p:spPr>
        <p:txBody>
          <a:bodyPr wrap="none" lIns="97536" tIns="48768" rIns="97536" bIns="48768">
            <a:spAutoFit/>
          </a:bodyPr>
          <a:lstStyle/>
          <a:p>
            <a:pPr algn="ctr"/>
            <a:r>
              <a:rPr lang="en-US" altLang="zh-CN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endParaRPr lang="zh-CN" alt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3011579-BF38-65CC-D44F-EA5BEE4B0D62}"/>
              </a:ext>
            </a:extLst>
          </p:cNvPr>
          <p:cNvSpPr txBox="1"/>
          <p:nvPr/>
        </p:nvSpPr>
        <p:spPr>
          <a:xfrm>
            <a:off x="6267412" y="5406571"/>
            <a:ext cx="56110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M.memb_no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M.name </a:t>
            </a: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member M</a:t>
            </a: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exist (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isbn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book</a:t>
            </a:r>
          </a:p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B.publisher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="McGraw-Hill")</a:t>
            </a:r>
          </a:p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 (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isbn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borrowed E</a:t>
            </a:r>
          </a:p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where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memb_no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M.memb_no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8D842E31-7F53-BBA1-8E87-D40B2260A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3004800" cy="1209041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zh-CN" altLang="en-US" sz="4800" b="1" spc="427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第二次作业 </a:t>
            </a:r>
            <a:r>
              <a:rPr lang="en-US" altLang="zh-CN" sz="4800" b="1" spc="427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3.21</a:t>
            </a:r>
            <a:endParaRPr lang="zh-CN" altLang="en-US" sz="4800" b="1" spc="427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19449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A7FBE0-92D7-4377-AF31-F3212C895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800" spc="427" dirty="0"/>
              <a:t>第三次作业 </a:t>
            </a:r>
            <a:r>
              <a:rPr lang="en-US" altLang="zh-CN" sz="4800" spc="427" dirty="0"/>
              <a:t>4.7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5F1F71-2506-4E03-A2DD-B4E24FB1F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717" y="1440417"/>
            <a:ext cx="12186954" cy="7365337"/>
          </a:xfrm>
        </p:spPr>
        <p:txBody>
          <a:bodyPr>
            <a:normAutofit/>
          </a:bodyPr>
          <a:lstStyle/>
          <a:p>
            <a:pPr algn="just" defTabSz="914400">
              <a:lnSpc>
                <a:spcPct val="150000"/>
              </a:lnSpc>
              <a:buFont typeface="Wingdings" pitchFamily="2" charset="2"/>
              <a:buChar char="l"/>
            </a:pPr>
            <a:r>
              <a:rPr lang="en-US" altLang="zh-CN" sz="2800" dirty="0">
                <a:latin typeface="+mn-lt"/>
                <a:ea typeface="微软雅黑" panose="020B0503020204020204" pitchFamily="34" charset="-122"/>
              </a:rPr>
              <a:t>Consider the employee database of Figure 4.12. Give an SQL DDL definition of this database. Identify</a:t>
            </a:r>
            <a:r>
              <a:rPr lang="zh-CN" altLang="en-US" sz="2800" dirty="0">
                <a:latin typeface="+mn-lt"/>
                <a:ea typeface="微软雅黑" panose="020B0503020204020204" pitchFamily="34" charset="-122"/>
              </a:rPr>
              <a:t> </a:t>
            </a:r>
            <a:r>
              <a:rPr lang="en-US" altLang="zh-CN" sz="2800" dirty="0">
                <a:latin typeface="+mn-lt"/>
                <a:ea typeface="微软雅黑" panose="020B0503020204020204" pitchFamily="34" charset="-122"/>
              </a:rPr>
              <a:t>referential-integrity</a:t>
            </a:r>
            <a:r>
              <a:rPr lang="zh-CN" altLang="en-US" sz="2800" dirty="0">
                <a:latin typeface="+mn-lt"/>
                <a:ea typeface="微软雅黑" panose="020B0503020204020204" pitchFamily="34" charset="-122"/>
              </a:rPr>
              <a:t> </a:t>
            </a:r>
            <a:r>
              <a:rPr lang="en-US" altLang="zh-CN" sz="2800" dirty="0">
                <a:latin typeface="+mn-lt"/>
                <a:ea typeface="微软雅黑" panose="020B0503020204020204" pitchFamily="34" charset="-122"/>
              </a:rPr>
              <a:t>constraints</a:t>
            </a:r>
            <a:r>
              <a:rPr lang="zh-CN" altLang="en-US" sz="2800" dirty="0">
                <a:latin typeface="+mn-lt"/>
                <a:ea typeface="微软雅黑" panose="020B0503020204020204" pitchFamily="34" charset="-122"/>
              </a:rPr>
              <a:t> </a:t>
            </a:r>
            <a:r>
              <a:rPr lang="en-US" altLang="zh-CN" sz="2800" dirty="0">
                <a:latin typeface="+mn-lt"/>
                <a:ea typeface="微软雅黑" panose="020B0503020204020204" pitchFamily="34" charset="-122"/>
              </a:rPr>
              <a:t>that should hold, and include them in the DDL definition.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3295B0B-B03A-70D2-AD13-1495C8581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177" y="4320219"/>
            <a:ext cx="10326445" cy="308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107847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A7FBE0-92D7-4377-AF31-F3212C895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800" spc="427" dirty="0"/>
              <a:t>第三次作业 </a:t>
            </a:r>
            <a:r>
              <a:rPr lang="en-US" altLang="zh-CN" sz="4800" spc="427" dirty="0"/>
              <a:t>4.7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6B0774A-A926-20C6-CFFA-4AEA50C44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107" y="3485037"/>
            <a:ext cx="9868585" cy="357748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AFFD1BB-F205-5DF8-3AB4-CDC40CACC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330" y="1343103"/>
            <a:ext cx="8390794" cy="250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567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A7FBE0-92D7-4377-AF31-F3212C895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800" spc="427" dirty="0"/>
              <a:t>第三次作业 </a:t>
            </a:r>
            <a:r>
              <a:rPr lang="en-US" altLang="zh-CN" sz="4800" spc="427" dirty="0"/>
              <a:t>4.7</a:t>
            </a:r>
            <a:endParaRPr lang="zh-CN" altLang="en-US" sz="4800" spc="427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8291228-22D7-CE8C-844A-D7B13BACF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65" y="1497227"/>
            <a:ext cx="4446295" cy="5358583"/>
          </a:xfrm>
          <a:prstGeom prst="rect">
            <a:avLst/>
          </a:prstGeom>
        </p:spPr>
      </p:pic>
      <p:pic>
        <p:nvPicPr>
          <p:cNvPr id="6" name="内容占位符 4">
            <a:extLst>
              <a:ext uri="{FF2B5EF4-FFF2-40B4-BE49-F238E27FC236}">
                <a16:creationId xmlns:a16="http://schemas.microsoft.com/office/drawing/2014/main" id="{655F76AC-1A2A-AA9B-94AD-17C22D6140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5518"/>
          <a:stretch/>
        </p:blipFill>
        <p:spPr>
          <a:xfrm>
            <a:off x="549032" y="6762822"/>
            <a:ext cx="6415822" cy="258265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4169BC8-9EA5-6754-C130-2296389C28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0" y="1851186"/>
            <a:ext cx="5673025" cy="6051227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ED29BFFA-C7C9-4FE8-6146-5CD2D4583AFA}"/>
              </a:ext>
            </a:extLst>
          </p:cNvPr>
          <p:cNvSpPr/>
          <p:nvPr/>
        </p:nvSpPr>
        <p:spPr>
          <a:xfrm>
            <a:off x="914400" y="8105614"/>
            <a:ext cx="6046010" cy="8059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171C55E-A809-9738-0318-9F77F17A816D}"/>
              </a:ext>
            </a:extLst>
          </p:cNvPr>
          <p:cNvSpPr/>
          <p:nvPr/>
        </p:nvSpPr>
        <p:spPr>
          <a:xfrm>
            <a:off x="7142521" y="6628307"/>
            <a:ext cx="5696798" cy="8059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5970079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A7FBE0-92D7-4377-AF31-F3212C895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800" spc="427" dirty="0"/>
              <a:t>第三次作业 </a:t>
            </a:r>
            <a:r>
              <a:rPr lang="en-US" altLang="zh-CN" sz="4800" spc="427" dirty="0"/>
              <a:t>4.16</a:t>
            </a:r>
            <a:endParaRPr lang="zh-CN" altLang="en-US" sz="4800" spc="427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5F1F71-2506-4E03-A2DD-B4E24FB1F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717" y="1549831"/>
            <a:ext cx="12186954" cy="6527504"/>
          </a:xfrm>
        </p:spPr>
        <p:txBody>
          <a:bodyPr>
            <a:normAutofit/>
          </a:bodyPr>
          <a:lstStyle/>
          <a:p>
            <a:pPr algn="just" defTabSz="914400">
              <a:lnSpc>
                <a:spcPct val="150000"/>
              </a:lnSpc>
              <a:buFont typeface="Wingdings" pitchFamily="2" charset="2"/>
              <a:buChar char="l"/>
            </a:pPr>
            <a:r>
              <a:rPr lang="en-US" altLang="zh-CN" sz="2800" dirty="0">
                <a:latin typeface="+mn-lt"/>
              </a:rPr>
              <a:t>Write an SQL query using the university schema to find the ID of each student who has never taken a course at the university.</a:t>
            </a:r>
            <a:r>
              <a:rPr lang="zh-CN" altLang="en-US" sz="2800" dirty="0">
                <a:latin typeface="+mn-lt"/>
              </a:rPr>
              <a:t> </a:t>
            </a:r>
            <a:r>
              <a:rPr lang="en-US" altLang="zh-CN" sz="2800" dirty="0">
                <a:latin typeface="+mn-lt"/>
              </a:rPr>
              <a:t>Do this using no subqueries and no set operations (use an outer join).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CE5DC76-64C4-8A29-C715-D9A8F9A328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940" r="4528"/>
          <a:stretch/>
        </p:blipFill>
        <p:spPr>
          <a:xfrm>
            <a:off x="1914736" y="4388344"/>
            <a:ext cx="9175328" cy="4321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776857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C5AD8-8F58-972F-56D9-53D6F07D6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17C28C0-55F1-9AFC-38EF-4EA9FBE2B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53" y="3176587"/>
            <a:ext cx="11930442" cy="371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09828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A7FBE0-92D7-4377-AF31-F3212C895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800" spc="427" dirty="0"/>
              <a:t>第三次作业 </a:t>
            </a:r>
            <a:r>
              <a:rPr lang="en-US" altLang="zh-CN" sz="4800" spc="427" dirty="0"/>
              <a:t>4.16</a:t>
            </a:r>
            <a:endParaRPr lang="zh-CN" altLang="en-US" sz="4800" spc="427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837998D-4313-EF9D-DDED-EC6E46E2F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337" y="1326807"/>
            <a:ext cx="11152124" cy="657644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827D80F-8295-2CDA-6A7B-04852584F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206" y="8059967"/>
            <a:ext cx="9852387" cy="169363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F78CF2F-CE17-4216-79D6-4831B1E3278D}"/>
              </a:ext>
            </a:extLst>
          </p:cNvPr>
          <p:cNvSpPr/>
          <p:nvPr/>
        </p:nvSpPr>
        <p:spPr>
          <a:xfrm>
            <a:off x="3518115" y="8601559"/>
            <a:ext cx="1844300" cy="3099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3871550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A7FBE0-92D7-4377-AF31-F3212C895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800" spc="427" dirty="0"/>
              <a:t>第四次作业 </a:t>
            </a:r>
            <a:r>
              <a:rPr lang="en-US" altLang="zh-CN" sz="4800" spc="427" dirty="0"/>
              <a:t>7.1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7B01512-7B0D-2D21-DB84-9BFCA9138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587" y="2797320"/>
            <a:ext cx="10387625" cy="460360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1CE44E7-AA1D-7A14-B799-68CDCFA7A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4417" y="7667356"/>
            <a:ext cx="5695966" cy="16255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D92C233-F145-8C0E-FDB6-02FF8CCDD5D2}"/>
              </a:ext>
            </a:extLst>
          </p:cNvPr>
          <p:cNvSpPr txBox="1"/>
          <p:nvPr/>
        </p:nvSpPr>
        <p:spPr>
          <a:xfrm>
            <a:off x="574158" y="7187609"/>
            <a:ext cx="1184940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定义法</a:t>
            </a:r>
            <a:endParaRPr lang="en-US" altLang="zh-CN" dirty="0"/>
          </a:p>
          <a:p>
            <a:r>
              <a:rPr lang="zh-CN" altLang="en-US" dirty="0"/>
              <a:t>列表法</a:t>
            </a:r>
          </a:p>
        </p:txBody>
      </p:sp>
    </p:spTree>
    <p:extLst>
      <p:ext uri="{BB962C8B-B14F-4D97-AF65-F5344CB8AC3E}">
        <p14:creationId xmlns:p14="http://schemas.microsoft.com/office/powerpoint/2010/main" val="1711671232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A7FBE0-92D7-4377-AF31-F3212C895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800" spc="427" dirty="0"/>
              <a:t>第四次作业 </a:t>
            </a:r>
            <a:r>
              <a:rPr lang="en-US" altLang="zh-CN" sz="4800" spc="427" dirty="0"/>
              <a:t>7.6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663D8E9-2B81-217D-0740-C25F2C695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659" y="1626905"/>
            <a:ext cx="9853481" cy="297262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1D8CF75-F4F7-0EB9-4B94-6D2B9AF5A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659" y="4876800"/>
            <a:ext cx="7262813" cy="402612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05E488F-ACDA-9D3B-55F2-68EAB141DCE4}"/>
              </a:ext>
            </a:extLst>
          </p:cNvPr>
          <p:cNvSpPr txBox="1"/>
          <p:nvPr/>
        </p:nvSpPr>
        <p:spPr>
          <a:xfrm>
            <a:off x="8530128" y="6517758"/>
            <a:ext cx="351891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</a:rPr>
              <a:t>参考答案的做法不泛用</a:t>
            </a:r>
          </a:p>
        </p:txBody>
      </p:sp>
    </p:spTree>
    <p:extLst>
      <p:ext uri="{BB962C8B-B14F-4D97-AF65-F5344CB8AC3E}">
        <p14:creationId xmlns:p14="http://schemas.microsoft.com/office/powerpoint/2010/main" val="2283272025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1B56BA-B499-42E7-FE64-BE7E06314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93A5573-659B-900C-3BBB-BA615B6C1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7596"/>
            <a:ext cx="13004800" cy="7278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85231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A7FBE0-92D7-4377-AF31-F3212C895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800" spc="427" dirty="0"/>
              <a:t>第四次作业 </a:t>
            </a:r>
            <a:r>
              <a:rPr lang="en-US" altLang="zh-CN" sz="4800" spc="427" dirty="0"/>
              <a:t>7.30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E4B73A0-BC41-F35C-5976-2D7CBDF93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669" y="1368750"/>
            <a:ext cx="10087462" cy="269387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F00F584-67DE-ADCD-FFF5-A196E7377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075" y="4261282"/>
            <a:ext cx="3187700" cy="584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CA8F134-7680-77E0-3AF7-B6773B908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925" y="5031437"/>
            <a:ext cx="7350934" cy="235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644892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A7FBE0-92D7-4377-AF31-F3212C895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800" spc="427" dirty="0"/>
              <a:t>第四次作业 </a:t>
            </a:r>
            <a:r>
              <a:rPr lang="en-US" altLang="zh-CN" sz="4800" spc="427" dirty="0"/>
              <a:t>7.30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583AF2C-F8A1-9D87-9649-BE3DAF346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002" y="1575369"/>
            <a:ext cx="9988796" cy="55346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AF019ED-460E-E91F-980E-1C753125E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911" y="2434098"/>
            <a:ext cx="6755533" cy="293800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0FEC6E7-8AAC-7CD9-27BF-0A28BA36EFAA}"/>
              </a:ext>
            </a:extLst>
          </p:cNvPr>
          <p:cNvSpPr txBox="1"/>
          <p:nvPr/>
        </p:nvSpPr>
        <p:spPr>
          <a:xfrm>
            <a:off x="1031358" y="6932428"/>
            <a:ext cx="685315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</a:rPr>
              <a:t>验证超码：计算其属性闭包是否包含所有属性</a:t>
            </a:r>
          </a:p>
        </p:txBody>
      </p:sp>
    </p:spTree>
    <p:extLst>
      <p:ext uri="{BB962C8B-B14F-4D97-AF65-F5344CB8AC3E}">
        <p14:creationId xmlns:p14="http://schemas.microsoft.com/office/powerpoint/2010/main" val="1122133084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A7FBE0-92D7-4377-AF31-F3212C895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800" spc="427" dirty="0"/>
              <a:t>第四次作业 </a:t>
            </a:r>
            <a:r>
              <a:rPr lang="en-US" altLang="zh-CN" sz="4800" spc="427" dirty="0"/>
              <a:t>7.30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C749A54-7D68-814B-32C4-E884C02D3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17" y="1572416"/>
            <a:ext cx="11277766" cy="799309"/>
          </a:xfrm>
          <a:prstGeom prst="rect">
            <a:avLst/>
          </a:prstGeom>
        </p:spPr>
      </p:pic>
      <p:pic>
        <p:nvPicPr>
          <p:cNvPr id="11" name="图片 10" descr="文本, 信件&#10;&#10;描述已自动生成">
            <a:extLst>
              <a:ext uri="{FF2B5EF4-FFF2-40B4-BE49-F238E27FC236}">
                <a16:creationId xmlns:a16="http://schemas.microsoft.com/office/drawing/2014/main" id="{21FA8F49-5621-FDF7-0A38-883B221B93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188" y="2774046"/>
            <a:ext cx="10022423" cy="461259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E0B9FFA-7B25-1E20-797B-3272F943D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82" y="7102239"/>
            <a:ext cx="5804453" cy="230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439568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A7FBE0-92D7-4377-AF31-F3212C895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800" spc="427" dirty="0"/>
              <a:t>第四次作业 </a:t>
            </a:r>
            <a:r>
              <a:rPr lang="en-US" altLang="zh-CN" sz="4800" spc="427" dirty="0"/>
              <a:t>7.30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C3B198C-49BF-9B76-EEA3-F9FE3FAD9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727" y="1566427"/>
            <a:ext cx="10609346" cy="8462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1433B2A-C7DC-FDD4-12E2-773C5DA79BDA}"/>
                  </a:ext>
                </a:extLst>
              </p:cNvPr>
              <p:cNvSpPr txBox="1"/>
              <p:nvPr/>
            </p:nvSpPr>
            <p:spPr>
              <a:xfrm>
                <a:off x="1907381" y="2604415"/>
                <a:ext cx="9722644" cy="66941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200" b="0" i="0" dirty="0"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正则覆盖中没有多余的函数依赖</a:t>
                </a:r>
              </a:p>
              <a:p>
                <a:pPr algn="l">
                  <a:lnSpc>
                    <a:spcPct val="150000"/>
                  </a:lnSpc>
                </a:pPr>
                <a:r>
                  <a:rPr lang="zh-CN" altLang="en-US" sz="2200" b="0" i="0" dirty="0"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所以属性集是正则覆盖中其它函数依赖组成的子集</a:t>
                </a:r>
              </a:p>
              <a:p>
                <a:pPr algn="l">
                  <a:lnSpc>
                    <a:spcPct val="150000"/>
                  </a:lnSpc>
                </a:pPr>
                <a:r>
                  <a:rPr lang="zh-CN" altLang="en-US" sz="2200" b="0" i="0" dirty="0"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所以三个函数依赖都有自己的关系</a:t>
                </a: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𝐴</m:t>
                          </m:r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,</m:t>
                          </m:r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𝐵</m:t>
                          </m:r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,</m:t>
                          </m:r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US" altLang="zh-CN" sz="2200" b="0" i="1" dirty="0">
                  <a:effectLst/>
                  <a:latin typeface="Cambria Math" panose="02040503050406030204" pitchFamily="18" charset="0"/>
                  <a:ea typeface="Microsoft YaHei" panose="020B0503020204020204" pitchFamily="34" charset="-122"/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𝑅</m:t>
                          </m:r>
                        </m:e>
                        <m:sub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𝐵</m:t>
                          </m:r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,</m:t>
                          </m:r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𝐷</m:t>
                          </m:r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,</m:t>
                          </m:r>
                          <m:r>
                            <a:rPr lang="en-US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lang="en-US" altLang="zh-CN" sz="2200" b="0" i="1" dirty="0">
                  <a:effectLst/>
                  <a:latin typeface="Cambria Math" panose="02040503050406030204" pitchFamily="18" charset="0"/>
                  <a:ea typeface="Microsoft YaHei" panose="020B0503020204020204" pitchFamily="34" charset="-122"/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𝑅</m:t>
                          </m:r>
                        </m:e>
                        <m:sub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3</m:t>
                          </m:r>
                        </m:sub>
                      </m:sSub>
                      <m:r>
                        <a:rPr lang="en" altLang="zh-CN" sz="2200" b="0" i="1" dirty="0" smtClean="0"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(</m:t>
                      </m:r>
                      <m:r>
                        <a:rPr lang="en" altLang="zh-CN" sz="2200" b="0" i="1" dirty="0" smtClean="0"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𝐷</m:t>
                      </m:r>
                      <m:r>
                        <a:rPr lang="en" altLang="zh-CN" sz="2200" b="0" i="1" dirty="0" smtClean="0"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,</m:t>
                      </m:r>
                      <m:r>
                        <a:rPr lang="en-US" altLang="zh-CN" sz="2200" b="0" i="1" dirty="0" smtClean="0"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𝐴</m:t>
                      </m:r>
                      <m:r>
                        <a:rPr lang="en" altLang="zh-CN" sz="2200" b="0" i="1" dirty="0" smtClean="0"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en" altLang="zh-CN" sz="2200" b="0" i="0" dirty="0"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" altLang="zh-CN" sz="2200" b="0" i="1" dirty="0" smtClean="0"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𝐴</m:t>
                    </m:r>
                    <m:r>
                      <a:rPr lang="en-US" altLang="zh-CN" sz="2200" b="0" i="1" dirty="0" smtClean="0">
                        <a:effectLst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</m:oMath>
                </a14:m>
                <a:r>
                  <a:rPr lang="zh-CN" altLang="en-US" sz="2200" b="0" i="0" dirty="0"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是超码且上述关系没有原关系的超码，所以需要添加</a:t>
                </a: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𝑅</m:t>
                          </m:r>
                        </m:e>
                        <m:sub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4</m:t>
                          </m:r>
                        </m:sub>
                      </m:sSub>
                      <m:r>
                        <a:rPr lang="en" altLang="zh-CN" sz="2200" b="0" i="1" dirty="0" smtClean="0"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(</m:t>
                      </m:r>
                      <m:r>
                        <a:rPr lang="en" altLang="zh-CN" sz="2200" b="0" i="1" dirty="0" smtClean="0"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𝐴</m:t>
                      </m:r>
                      <m:r>
                        <a:rPr lang="en" altLang="zh-CN" sz="2200" b="0" i="1" dirty="0" smtClean="0"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, </m:t>
                      </m:r>
                      <m:r>
                        <a:rPr lang="en-US" altLang="zh-CN" sz="2200" b="0" i="1" dirty="0" smtClean="0"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r>
                        <a:rPr lang="en" altLang="zh-CN" sz="2200" b="0" i="1" dirty="0" smtClean="0"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en" altLang="zh-CN" sz="2200" b="0" i="0" dirty="0"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zh-CN" altLang="en-US" sz="2200" b="0" i="0" dirty="0"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最终结果为</a:t>
                </a: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𝐴</m:t>
                          </m:r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,</m:t>
                          </m:r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𝐵</m:t>
                          </m:r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,</m:t>
                          </m:r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US" altLang="zh-CN" sz="2200" b="0" i="1" dirty="0">
                  <a:effectLst/>
                  <a:latin typeface="Cambria Math" panose="02040503050406030204" pitchFamily="18" charset="0"/>
                  <a:ea typeface="Microsoft YaHei" panose="020B0503020204020204" pitchFamily="34" charset="-122"/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𝐵</m:t>
                          </m:r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,</m:t>
                          </m:r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𝐷</m:t>
                          </m:r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,</m:t>
                          </m:r>
                          <m:r>
                            <a:rPr lang="en-US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lang="en-US" altLang="zh-CN" sz="2200" b="0" i="1" dirty="0">
                  <a:effectLst/>
                  <a:latin typeface="Cambria Math" panose="02040503050406030204" pitchFamily="18" charset="0"/>
                  <a:ea typeface="Microsoft YaHei" panose="020B0503020204020204" pitchFamily="34" charset="-122"/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𝑅</m:t>
                          </m:r>
                        </m:e>
                        <m:sub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𝐷</m:t>
                          </m:r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,</m:t>
                          </m:r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altLang="zh-CN" sz="2200" b="0" i="1" dirty="0">
                  <a:effectLst/>
                  <a:latin typeface="Cambria Math" panose="02040503050406030204" pitchFamily="18" charset="0"/>
                  <a:ea typeface="Microsoft YaHei" panose="020B0503020204020204" pitchFamily="34" charset="-122"/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𝑅</m:t>
                          </m:r>
                        </m:e>
                        <m:sub>
                          <m:r>
                            <a:rPr lang="en" altLang="zh-CN" sz="2200" b="0" i="1" dirty="0" smtClean="0">
                              <a:effectLst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4</m:t>
                          </m:r>
                        </m:sub>
                      </m:sSub>
                      <m:r>
                        <a:rPr lang="en" altLang="zh-CN" sz="2200" b="0" i="1" dirty="0" smtClean="0"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(</m:t>
                      </m:r>
                      <m:r>
                        <a:rPr lang="en-US" altLang="zh-CN" sz="2200" b="0" i="1" dirty="0" smtClean="0"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𝐴</m:t>
                      </m:r>
                      <m:r>
                        <a:rPr lang="en" altLang="zh-CN" sz="2200" b="0" i="1" dirty="0" smtClean="0"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,</m:t>
                      </m:r>
                      <m:r>
                        <a:rPr lang="en-US" altLang="zh-CN" sz="2200" b="0" i="1" dirty="0" smtClean="0"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r>
                        <a:rPr lang="en" altLang="zh-CN" sz="2200" b="0" i="1" dirty="0" smtClean="0">
                          <a:effectLst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en" altLang="zh-CN" sz="2200" b="0" i="0" dirty="0"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1433B2A-C7DC-FDD4-12E2-773C5DA79B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381" y="2604415"/>
                <a:ext cx="9722644" cy="6694140"/>
              </a:xfrm>
              <a:prstGeom prst="rect">
                <a:avLst/>
              </a:prstGeom>
              <a:blipFill>
                <a:blip r:embed="rId3"/>
                <a:stretch>
                  <a:fillRect l="-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89F912C6-22D2-7008-89BF-93ED64253B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5825" y="7015598"/>
            <a:ext cx="4610100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713989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A7FBE0-92D7-4377-AF31-F3212C895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800" spc="427" dirty="0"/>
              <a:t>第五次作业 </a:t>
            </a:r>
            <a:r>
              <a:rPr lang="en-US" altLang="zh-CN" sz="4400" spc="427" dirty="0"/>
              <a:t>16.5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F5F1F71-2506-4E03-A2DD-B4E24FB1FE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8093" y="3339560"/>
                <a:ext cx="12608613" cy="5781727"/>
              </a:xfrm>
            </p:spPr>
            <p:txBody>
              <a:bodyPr>
                <a:normAutofit/>
              </a:bodyPr>
              <a:lstStyle/>
              <a:p>
                <a:pPr indent="457200" algn="just" defTabSz="914400"/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估计</a:t>
                </a:r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en-US" altLang="zh-CN" sz="2800" dirty="0"/>
                  <a:t>r</a:t>
                </a:r>
                <a:r>
                  <a:rPr lang="en-US" altLang="zh-CN" sz="2800" baseline="-25000" dirty="0"/>
                  <a:t>1</a:t>
                </a:r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</m:oMath>
                </a14:m>
                <a:r>
                  <a:rPr lang="en-US" altLang="zh-CN" sz="2800" dirty="0"/>
                  <a:t> r</a:t>
                </a:r>
                <a:r>
                  <a:rPr lang="en-US" altLang="zh-CN" sz="2800" baseline="-25000" dirty="0"/>
                  <a:t>2</a:t>
                </a:r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</m:oMath>
                </a14:m>
                <a:r>
                  <a:rPr lang="en-US" altLang="zh-CN" sz="2800" dirty="0"/>
                  <a:t> r</a:t>
                </a:r>
                <a:r>
                  <a:rPr lang="en-US" altLang="zh-CN" sz="2800" baseline="-25000" dirty="0"/>
                  <a:t>3</a:t>
                </a:r>
                <a:r>
                  <a:rPr lang="en-US" altLang="zh-CN" sz="2800" dirty="0"/>
                  <a:t>)</a:t>
                </a:r>
                <a:endPara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 indent="457200" algn="just" defTabSz="914400"/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无论以哪种方式连接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240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240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240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，连接产生的关系都是相同的。 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 indent="457200" algn="just" defTabSz="914400"/>
                <a:r>
                  <a:rPr lang="zh-CN" altLang="en-US" sz="2400" dirty="0"/>
                  <a:t>根据</a:t>
                </a:r>
                <a:r>
                  <a:rPr lang="en-US" altLang="zh-CN" sz="2400" dirty="0"/>
                  <a:t>((r</a:t>
                </a:r>
                <a:r>
                  <a:rPr lang="en-US" altLang="zh-CN" sz="2400" baseline="-25000" dirty="0"/>
                  <a:t>1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</m:oMath>
                </a14:m>
                <a:r>
                  <a:rPr lang="en-US" altLang="zh-CN" sz="2400" dirty="0"/>
                  <a:t> r</a:t>
                </a:r>
                <a:r>
                  <a:rPr lang="en-US" altLang="zh-CN" sz="2400" baseline="-25000" dirty="0"/>
                  <a:t>2</a:t>
                </a:r>
                <a:r>
                  <a:rPr lang="en-US" altLang="zh-CN" sz="2400" dirty="0"/>
                  <a:t>)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</m:oMath>
                </a14:m>
                <a:r>
                  <a:rPr lang="en-US" altLang="zh-CN" sz="2400" dirty="0"/>
                  <a:t> r</a:t>
                </a:r>
                <a:r>
                  <a:rPr lang="en-US" altLang="zh-CN" sz="2400" baseline="-25000" dirty="0"/>
                  <a:t>3</a:t>
                </a:r>
                <a:r>
                  <a:rPr lang="en-US" altLang="zh-CN" sz="2400" dirty="0"/>
                  <a:t>)</a:t>
                </a:r>
                <a:r>
                  <a:rPr lang="zh-CN" altLang="en-US" sz="2400" dirty="0"/>
                  <a:t>的策略考虑：</a:t>
                </a:r>
                <a:endParaRPr lang="en-US" altLang="zh-CN" sz="2400" dirty="0"/>
              </a:p>
              <a:p>
                <a:pPr lvl="2" indent="457200" algn="just" defTabSz="914400"/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240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240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连接将产生最多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1000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个元组的关系，因为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240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的键。 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 indent="457200" algn="just" defTabSz="914400"/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将上述结果与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240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连接将产生最多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1000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个元组的关系，因为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240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的键。 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 indent="457200" algn="just" defTabSz="914400"/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因此最终的关系最多有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1000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个元组。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 indent="457200" algn="just" defTabSz="914400"/>
                <a:endParaRPr lang="en-US" altLang="zh-CN" sz="2116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indent="457200" algn="just" defTabSz="914400"/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计算连接的有效策略</a:t>
                </a:r>
                <a:endPara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 indent="457200" algn="just" defTabSz="914400"/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创建关系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240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的属性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的索引和关系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240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的属性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的索引。 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 indent="457200" algn="just" defTabSz="914400"/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对于在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240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中的每个元组，执行以下操作：</a:t>
                </a:r>
                <a:endParaRPr lang="en-US" altLang="zh-CN" sz="2400" dirty="0"/>
              </a:p>
              <a:p>
                <a:pPr lvl="2" indent="457200" algn="just" defTabSz="914400"/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使用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240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的索引查找最多一个与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240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值匹配的元组。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 indent="457200" algn="just" defTabSz="914400"/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使用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240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的索引查找最多一个与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240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值匹配的元组。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F5F1F71-2506-4E03-A2DD-B4E24FB1FE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093" y="3339560"/>
                <a:ext cx="12608613" cy="5781727"/>
              </a:xfrm>
              <a:blipFill>
                <a:blip r:embed="rId2"/>
                <a:stretch>
                  <a:fillRect t="-8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30F72269-86E1-6EA9-E947-8F05AE4F2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98" y="1397335"/>
            <a:ext cx="11963204" cy="194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99923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1035</TotalTime>
  <Words>1681</Words>
  <Application>Microsoft Office PowerPoint</Application>
  <PresentationFormat>自定义</PresentationFormat>
  <Paragraphs>226</Paragraphs>
  <Slides>29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9" baseType="lpstr">
      <vt:lpstr>等线</vt:lpstr>
      <vt:lpstr>华文行楷</vt:lpstr>
      <vt:lpstr>Microsoft YaHei</vt:lpstr>
      <vt:lpstr>Microsoft YaHei</vt:lpstr>
      <vt:lpstr>Arial</vt:lpstr>
      <vt:lpstr>Calibri</vt:lpstr>
      <vt:lpstr>Cambria Math</vt:lpstr>
      <vt:lpstr>Times New Roman</vt:lpstr>
      <vt:lpstr>Wingdings</vt:lpstr>
      <vt:lpstr>Office 主题​​</vt:lpstr>
      <vt:lpstr>PowerPoint 演示文稿</vt:lpstr>
      <vt:lpstr>第一次作业 2.1</vt:lpstr>
      <vt:lpstr>第一次作业 2.6</vt:lpstr>
      <vt:lpstr>第一次作业 2.7</vt:lpstr>
      <vt:lpstr>第一次作业 2.8</vt:lpstr>
      <vt:lpstr>第一次作业 2.15</vt:lpstr>
      <vt:lpstr>第二次作业 3.8</vt:lpstr>
      <vt:lpstr>第二次作业 3.8</vt:lpstr>
      <vt:lpstr>第二次作业 3.9</vt:lpstr>
      <vt:lpstr>第二次作业 3.9</vt:lpstr>
      <vt:lpstr>第二次作业 3.15</vt:lpstr>
      <vt:lpstr>第二次作业 3.15</vt:lpstr>
      <vt:lpstr>第二次作业 3.16</vt:lpstr>
      <vt:lpstr>第二次作业 3.17</vt:lpstr>
      <vt:lpstr>第二次作业 3.21</vt:lpstr>
      <vt:lpstr>第三次作业 4.7</vt:lpstr>
      <vt:lpstr>第三次作业 4.7</vt:lpstr>
      <vt:lpstr>第三次作业 4.7</vt:lpstr>
      <vt:lpstr>第三次作业 4.16</vt:lpstr>
      <vt:lpstr>PowerPoint 演示文稿</vt:lpstr>
      <vt:lpstr>第三次作业 4.16</vt:lpstr>
      <vt:lpstr>第四次作业 7.1</vt:lpstr>
      <vt:lpstr>第四次作业 7.6</vt:lpstr>
      <vt:lpstr>PowerPoint 演示文稿</vt:lpstr>
      <vt:lpstr>第四次作业 7.30</vt:lpstr>
      <vt:lpstr>第四次作业 7.30</vt:lpstr>
      <vt:lpstr>第四次作业 7.30</vt:lpstr>
      <vt:lpstr>第四次作业 7.30</vt:lpstr>
      <vt:lpstr>第五次作业 16.5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交互式SQL(DDL)</dc:title>
  <dc:creator>asud66</dc:creator>
  <cp:lastModifiedBy>云驰 曾</cp:lastModifiedBy>
  <cp:revision>127</cp:revision>
  <dcterms:created xsi:type="dcterms:W3CDTF">2019-10-12T11:44:33Z</dcterms:created>
  <dcterms:modified xsi:type="dcterms:W3CDTF">2025-06-15T19:04:15Z</dcterms:modified>
</cp:coreProperties>
</file>