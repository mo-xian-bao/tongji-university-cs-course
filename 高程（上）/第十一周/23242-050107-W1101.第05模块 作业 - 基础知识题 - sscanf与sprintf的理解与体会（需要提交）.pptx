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52" r:id="rId3"/>
    <p:sldId id="1237" r:id="rId4"/>
    <p:sldId id="644" r:id="rId6"/>
    <p:sldId id="558" r:id="rId7"/>
    <p:sldId id="1241" r:id="rId8"/>
    <p:sldId id="1240" r:id="rId9"/>
    <p:sldId id="645" r:id="rId10"/>
    <p:sldId id="1242" r:id="rId11"/>
    <p:sldId id="1243" r:id="rId12"/>
    <p:sldId id="1244" r:id="rId13"/>
    <p:sldId id="1245" r:id="rId14"/>
    <p:sldId id="1246" r:id="rId15"/>
    <p:sldId id="1247" r:id="rId16"/>
  </p:sldIdLst>
  <p:sldSz cx="12192000" cy="6858000"/>
  <p:notesSz cx="6858000" cy="9144000"/>
  <p:custDataLst>
    <p:tags r:id="rId2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8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gs" Target="tags/tag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490452-1689-4497-A9A0-B842EEA687A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D9F12-298F-4BA9-885E-BCD438E8F58B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C42DF3-6CE2-4BE7-9CDC-EAAC6AF6F41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33B832-CABD-439C-B200-DDE8714B0B3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DC15D7-5788-41E7-9CAD-BCD4FE0C0C0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29E1C2-8757-4943-BB0D-44D6A40AC3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2EE0AD-AA26-4B0C-B2A5-065307B6925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B4B751-1B33-4FAC-96B1-4F4734F155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FADDAC-226E-4E74-A9C7-8EDB750CC1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0F1364-7677-4F0D-B113-A10E8B7764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AEEE96-D9F8-4AA5-9180-644B18AD312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7B05AA-070D-443F-9B69-C3D4A9E3ABF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43E456CB-F1D9-4742-BD7D-0EF249B6CED9}" type="slidenum">
              <a:rPr lang="en-US" altLang="zh-CN"/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要求：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、完成本文档中所有的测试程序并填写运行结果，从而体会这些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zh-CN" altLang="en-US" sz="1600" b="1" dirty="0">
                <a:latin typeface="+mn-ea"/>
              </a:rPr>
              <a:t>的流成员函数的用法及区别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、题目明确指定编译器外，缺省使用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★ </a:t>
            </a:r>
            <a:r>
              <a:rPr lang="zh-CN" altLang="en-US" sz="1600" b="1" dirty="0">
                <a:latin typeface="+mn-ea"/>
              </a:rPr>
              <a:t>如果要换成其他编译器，可能需要自行修改头文件适配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   </a:t>
            </a:r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部分代码编译时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有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warning</a:t>
            </a:r>
            <a:r>
              <a:rPr lang="zh-CN" altLang="en-US" sz="1600" b="1" dirty="0">
                <a:latin typeface="+mn-ea"/>
              </a:rPr>
              <a:t>，不影响概念理解，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可以忽略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、直接在本文件上作答，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写出答案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截图（不允许手写、手写拍照截图）</a:t>
            </a:r>
            <a:r>
              <a:rPr lang="zh-CN" altLang="en-US" sz="1600" b="1" dirty="0">
                <a:latin typeface="+mn-ea"/>
              </a:rPr>
              <a:t>即可；填写答案时，为适应所填内容或贴图，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允许调整</a:t>
            </a:r>
            <a:r>
              <a:rPr lang="zh-CN" altLang="en-US" sz="1600" b="1" dirty="0">
                <a:latin typeface="+mn-ea"/>
              </a:rPr>
              <a:t>页面的字体大小、颜色、文本框的位置等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贴图要有效部分即可，不需要全部内容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latin typeface="+mn-ea"/>
              </a:rPr>
              <a:t>在保证一页一题的前提下，具体页面布局可以自行发挥，简单易读即可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不允许</a:t>
            </a:r>
            <a:r>
              <a:rPr lang="zh-CN" altLang="en-US" sz="1600" b="1" dirty="0">
                <a:latin typeface="+mn-ea"/>
              </a:rPr>
              <a:t>手写在纸上，再拍照贴图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</a:t>
            </a:r>
            <a:r>
              <a:rPr lang="en-US" altLang="zh-CN" sz="1600" b="1" dirty="0">
                <a:latin typeface="+mn-ea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允许</a:t>
            </a:r>
            <a:r>
              <a:rPr lang="zh-CN" altLang="en-US" sz="1600" b="1" dirty="0">
                <a:latin typeface="+mn-ea"/>
              </a:rPr>
              <a:t>在各种软件工具上完成（不含手写），再截图贴图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</a:t>
            </a:r>
            <a:r>
              <a:rPr lang="zh-CN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如果某题要求</a:t>
            </a:r>
            <a:r>
              <a:rPr lang="en-US" altLang="zh-CN" sz="1600" b="1" dirty="0" err="1">
                <a:latin typeface="+mn-ea"/>
              </a:rPr>
              <a:t>VS+Dev</a:t>
            </a:r>
            <a:r>
              <a:rPr lang="zh-CN" altLang="en-US" sz="1600" b="1" dirty="0">
                <a:latin typeface="+mn-ea"/>
              </a:rPr>
              <a:t>的，则如果两个编译器运行结果一致，贴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的一张图即可，如果不一致，则两个图都要贴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、转换为</a:t>
            </a:r>
            <a:r>
              <a:rPr lang="en-US" altLang="zh-CN" sz="1600" b="1" dirty="0">
                <a:latin typeface="+mn-ea"/>
              </a:rPr>
              <a:t>pdf</a:t>
            </a:r>
            <a:r>
              <a:rPr lang="zh-CN" altLang="en-US" sz="1600" b="1" dirty="0">
                <a:latin typeface="+mn-ea"/>
              </a:rPr>
              <a:t>后提交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、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5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月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16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日前</a:t>
            </a:r>
            <a:r>
              <a:rPr lang="zh-CN" altLang="en-US" sz="1600" b="1" dirty="0">
                <a:latin typeface="+mn-ea"/>
              </a:rPr>
              <a:t>网上提交本次作业（在“文档作业”中提交）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en-US" altLang="zh-CN" sz="28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注意：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zh-CN" altLang="en-US" sz="1600" b="1" dirty="0">
                <a:latin typeface="+mn-ea"/>
              </a:rPr>
              <a:t>用</a:t>
            </a:r>
            <a:r>
              <a:rPr lang="en-US" altLang="zh-CN" sz="1600" b="1" dirty="0">
                <a:latin typeface="+mn-ea"/>
              </a:rPr>
              <a:t>WPS</a:t>
            </a:r>
            <a:r>
              <a:rPr lang="zh-CN" altLang="en-US" sz="1600" b="1" dirty="0">
                <a:latin typeface="+mn-ea"/>
              </a:rPr>
              <a:t>等其他第三方软件打开</a:t>
            </a:r>
            <a:r>
              <a:rPr lang="en-US" altLang="zh-CN" sz="1600" b="1" dirty="0">
                <a:latin typeface="+mn-ea"/>
              </a:rPr>
              <a:t>PPT</a:t>
            </a:r>
            <a:r>
              <a:rPr lang="zh-CN" altLang="en-US" sz="1600" b="1" dirty="0">
                <a:latin typeface="+mn-ea"/>
              </a:rPr>
              <a:t>，将代码复制到</a:t>
            </a:r>
            <a:r>
              <a:rPr lang="en-US" altLang="zh-CN" sz="1600" b="1" dirty="0">
                <a:latin typeface="+mn-ea"/>
              </a:rPr>
              <a:t>VS2022</a:t>
            </a:r>
            <a:r>
              <a:rPr lang="zh-CN" altLang="en-US" sz="1600" b="1" dirty="0">
                <a:latin typeface="+mn-ea"/>
              </a:rPr>
              <a:t>中后，如果出现类似下面的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编译报错</a:t>
            </a:r>
            <a:r>
              <a:rPr lang="zh-CN" altLang="en-US" sz="1600" b="1" dirty="0">
                <a:latin typeface="+mn-ea"/>
              </a:rPr>
              <a:t>，则观察源程序编辑窗口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的右下角是否为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，如果是，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单击</a:t>
            </a:r>
            <a:r>
              <a:rPr lang="en-US" altLang="zh-CN" sz="1600" b="1" dirty="0">
                <a:latin typeface="+mn-ea"/>
              </a:rPr>
              <a:t>CR</a:t>
            </a:r>
            <a:r>
              <a:rPr lang="zh-CN" altLang="en-US" sz="1600" b="1" dirty="0">
                <a:latin typeface="+mn-ea"/>
              </a:rPr>
              <a:t>，在弹出中选择</a:t>
            </a:r>
            <a:r>
              <a:rPr lang="en-US" altLang="zh-CN" sz="1600" b="1" dirty="0">
                <a:latin typeface="+mn-ea"/>
              </a:rPr>
              <a:t>CRLF</a:t>
            </a:r>
            <a:r>
              <a:rPr lang="zh-CN" altLang="en-US" sz="1600" b="1" dirty="0">
                <a:latin typeface="+mn-ea"/>
              </a:rPr>
              <a:t>，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                                                                         </a:t>
            </a:r>
            <a:r>
              <a:rPr lang="zh-CN" altLang="en-US" sz="1600" b="1" dirty="0">
                <a:latin typeface="+mn-ea"/>
              </a:rPr>
              <a:t>再次</a:t>
            </a:r>
            <a:r>
              <a:rPr lang="en-US" altLang="zh-CN" sz="1600" b="1" dirty="0">
                <a:latin typeface="+mn-ea"/>
              </a:rPr>
              <a:t>CTRL+F5</a:t>
            </a:r>
            <a:r>
              <a:rPr lang="zh-CN" altLang="en-US" sz="1600" b="1" dirty="0">
                <a:latin typeface="+mn-ea"/>
              </a:rPr>
              <a:t>运行即可</a:t>
            </a:r>
            <a:endParaRPr lang="en-US" altLang="zh-CN" sz="2800" b="1"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1635" y="3090983"/>
            <a:ext cx="2123810" cy="193333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58" y="1329084"/>
            <a:ext cx="7914286" cy="5314286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 bwMode="auto">
          <a:xfrm>
            <a:off x="8023460" y="4571893"/>
            <a:ext cx="638175" cy="452423"/>
          </a:xfrm>
          <a:prstGeom prst="rightArrow">
            <a:avLst/>
          </a:prstGeom>
          <a:solidFill>
            <a:srgbClr val="FF00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>
              <a:spcBef>
                <a:spcPts val="385"/>
              </a:spcBef>
            </a:pPr>
            <a:endParaRPr lang="en-US" altLang="zh-CN" sz="1600" b="1" dirty="0">
              <a:latin typeface="+mn-ea"/>
            </a:endParaRPr>
          </a:p>
          <a:p>
            <a:pPr algn="l">
              <a:spcBef>
                <a:spcPts val="385"/>
              </a:spcBef>
            </a:pPr>
            <a:r>
              <a:rPr lang="zh-CN" altLang="en-US" sz="1600" b="1" dirty="0">
                <a:latin typeface="+mn-ea"/>
              </a:rPr>
              <a:t>基本概念：</a:t>
            </a:r>
            <a:endParaRPr lang="zh-CN" altLang="en-US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输出表列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返回值是输出字符的个数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printf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字符数组要有足够空间容纳输出的数据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否则越界错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printf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★ 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int 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字符数组，</a:t>
            </a:r>
            <a:r>
              <a:rPr lang="en-US" altLang="zh-CN" sz="1600" b="1" dirty="0">
                <a:latin typeface="+mn-ea"/>
              </a:rPr>
              <a:t>"</a:t>
            </a:r>
            <a:r>
              <a:rPr lang="zh-CN" altLang="en-US" sz="1600" b="1" dirty="0">
                <a:latin typeface="+mn-ea"/>
              </a:rPr>
              <a:t>格式串</a:t>
            </a:r>
            <a:r>
              <a:rPr lang="en-US" altLang="zh-CN" sz="1600" b="1" dirty="0">
                <a:latin typeface="+mn-ea"/>
              </a:rPr>
              <a:t>", </a:t>
            </a:r>
            <a:r>
              <a:rPr lang="zh-CN" altLang="en-US" sz="1600" b="1" dirty="0">
                <a:latin typeface="+mn-ea"/>
              </a:rPr>
              <a:t>输入地址表列</a:t>
            </a:r>
            <a:r>
              <a:rPr lang="en-US" altLang="zh-CN" sz="1600" b="1" dirty="0">
                <a:latin typeface="+mn-ea"/>
              </a:rPr>
              <a:t>);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返回值是正确读入的输入数据的个数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同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</a:t>
            </a:r>
            <a:r>
              <a:rPr lang="zh-CN" altLang="en-US" sz="1600" b="1" dirty="0">
                <a:latin typeface="+mn-ea"/>
              </a:rPr>
              <a:t>格式串同</a:t>
            </a:r>
            <a:r>
              <a:rPr lang="en-US" altLang="zh-CN" sz="1600" b="1" dirty="0" err="1">
                <a:latin typeface="+mn-ea"/>
              </a:rPr>
              <a:t>scanf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● VS</a:t>
            </a:r>
            <a:r>
              <a:rPr lang="zh-CN" altLang="en-US" sz="1600" b="1" dirty="0">
                <a:latin typeface="+mn-ea"/>
              </a:rPr>
              <a:t>下需加 </a:t>
            </a:r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pPr algn="l"/>
            <a:endParaRPr lang="en-US" altLang="zh-CN" sz="1600" b="1" dirty="0">
              <a:latin typeface="+mn-ea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"k=%-4d*pi=%.2f#",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7451124" y="1244869"/>
            <a:ext cx="4385741" cy="125119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、本作业的所有程序，均在</a:t>
            </a:r>
            <a:r>
              <a:rPr kumimoji="1" lang="en-US" altLang="zh-CN" sz="2400" b="1" dirty="0">
                <a:solidFill>
                  <a:srgbClr val="FF0000"/>
                </a:solidFill>
                <a:latin typeface="+mn-ea"/>
              </a:rPr>
              <a:t>.c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   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方式下运行，</a:t>
            </a:r>
            <a:r>
              <a:rPr kumimoji="1" lang="zh-CN" altLang="en-US" sz="2400" b="1" dirty="0">
                <a:solidFill>
                  <a:srgbClr val="FF0000"/>
                </a:solidFill>
                <a:latin typeface="+mn-ea"/>
              </a:rPr>
              <a:t>后续不再提示</a:t>
            </a:r>
            <a:endParaRPr kumimoji="1" lang="en-US" altLang="zh-CN" sz="2400" b="1" dirty="0">
              <a:solidFill>
                <a:srgbClr val="FF0000"/>
              </a:solidFill>
              <a:latin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2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、认真阅读第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r>
              <a:rPr kumimoji="1" lang="en-US" altLang="zh-CN" sz="2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!!!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35" y="5517515"/>
            <a:ext cx="2714625" cy="10287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"k=%6dpi=%10.2f",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的返回值是：</a:t>
            </a:r>
            <a:r>
              <a:rPr kumimoji="1" lang="zh-CN" altLang="en-US" sz="1600" b="1" dirty="0"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输出的字符个数</a:t>
            </a: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chemeClr val="accent2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3230" y="4779010"/>
            <a:ext cx="3078480" cy="86106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将格式化输出的内容放入字符串中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558165" y="1244600"/>
            <a:ext cx="9353550" cy="5508625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15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k=123,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pi=3.1415925;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"k=%-4d*pi=%.2f#", k, pi);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("str : %s\n", str);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           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1/2/3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使用时对字符数组的要求是：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字符数组要有足够空间容纳输出的数据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(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含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  <a:sym typeface="+mn-ea"/>
              </a:rPr>
              <a:t>\0)</a:t>
            </a:r>
            <a:endParaRPr kumimoji="1" lang="en-US" altLang="zh-CN" sz="1600" b="1" dirty="0">
              <a:solidFill>
                <a:schemeClr val="accent2"/>
              </a:solidFill>
              <a:latin typeface="+mn-ea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 bwMode="auto">
          <a:xfrm>
            <a:off x="5295014" y="1244870"/>
            <a:ext cx="1562985" cy="4776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24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VS+Dev</a:t>
            </a:r>
            <a:endParaRPr kumimoji="1" lang="zh-CN" altLang="en-US" sz="2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5230" y="2693035"/>
            <a:ext cx="3406140" cy="286194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str[80] = "Hello 123 11.2",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s[10];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ret;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double d;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(str, "%s %d 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s,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&amp;d);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("s=%s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=%d d=%f\n", s,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 d);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" y="5586095"/>
            <a:ext cx="3038475" cy="99060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"123Hello";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结合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例和例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sscanf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的返回值是：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  <a:sym typeface="+mn-ea"/>
              </a:rPr>
              <a:t>正确读入的输入数据的个数</a:t>
            </a: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chemeClr val="accent2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250" y="4535170"/>
            <a:ext cx="2185670" cy="88963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从字符串中进行格式化输入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&amp;j,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); 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顺序反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不可以）被重复读取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8530" y="5273040"/>
            <a:ext cx="1245235" cy="104521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4" y="1244870"/>
            <a:ext cx="6299975" cy="5508848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#define _CRT_SECURE_NO_WARNINGS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stdio.h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&gt;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main()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{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char str[80] = "123 456";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int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j, ret;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sscanf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d%d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", &amp;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&amp;j);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ni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=%d j=%d\n", str,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 ret =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sprintf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(str, "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=%d j=%d",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, j);</a:t>
            </a:r>
            <a:endParaRPr kumimoji="1" lang="en-US" altLang="zh-CN" sz="16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("ret : %d\n", ret);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("str=\"%s\"\n", str);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return 0;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输出结果：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本例说明，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str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中的内容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u="sng" dirty="0">
                <a:solidFill>
                  <a:srgbClr val="000000"/>
                </a:solidFill>
                <a:latin typeface="+mn-ea"/>
              </a:rPr>
              <a:t>可以</a:t>
            </a:r>
            <a:r>
              <a:rPr kumimoji="1" lang="en-US" altLang="zh-CN" sz="1600" b="1" u="sng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（可以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不可以）被替换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085" y="5074285"/>
            <a:ext cx="1391920" cy="11391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244870"/>
            <a:ext cx="6312332" cy="4155033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sz="1600" b="1" dirty="0">
                <a:latin typeface="+mn-ea"/>
              </a:rPr>
              <a:t>#define _CRT_SECURE_NO_WARNINGS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#include &lt;</a:t>
            </a:r>
            <a:r>
              <a:rPr lang="en-US" altLang="zh-CN" sz="1600" b="1" dirty="0" err="1">
                <a:latin typeface="+mn-ea"/>
              </a:rPr>
              <a:t>stdio.h</a:t>
            </a:r>
            <a:r>
              <a:rPr lang="en-US" altLang="zh-CN" sz="1600" b="1" dirty="0">
                <a:latin typeface="+mn-ea"/>
              </a:rPr>
              <a:t>&gt;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{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int x, w;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</a:t>
            </a:r>
            <a:r>
              <a:rPr lang="zh-CN" altLang="en-US" sz="1600" b="1" dirty="0">
                <a:latin typeface="+mn-ea"/>
              </a:rPr>
              <a:t>请输入</a:t>
            </a:r>
            <a:r>
              <a:rPr lang="en-US" altLang="zh-CN" sz="1600" b="1" dirty="0">
                <a:latin typeface="+mn-ea"/>
              </a:rPr>
              <a:t>[1..99999]</a:t>
            </a:r>
            <a:r>
              <a:rPr lang="zh-CN" altLang="en-US" sz="1600" b="1" dirty="0">
                <a:latin typeface="+mn-ea"/>
              </a:rPr>
              <a:t>间的整数及显示宽度</a:t>
            </a:r>
            <a:r>
              <a:rPr lang="en-US" altLang="zh-CN" sz="1600" b="1" dirty="0">
                <a:latin typeface="+mn-ea"/>
              </a:rPr>
              <a:t>[6..10]\n");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("%d %d", &amp;x, &amp;w);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不考虑输入错误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("01234567890123456789\n");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  <a:endParaRPr lang="zh-CN" altLang="en-US" sz="1600" b="1" dirty="0">
              <a:solidFill>
                <a:srgbClr val="FF0000"/>
              </a:solidFill>
              <a:latin typeface="+mn-ea"/>
            </a:endParaRPr>
          </a:p>
          <a:p>
            <a:endParaRPr lang="zh-CN" altLang="en-US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char 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[16];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sprintf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"%%%dd*\n", w);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en-US" altLang="zh-CN" sz="1600" b="1" dirty="0" err="1">
                <a:latin typeface="+mn-ea"/>
              </a:rPr>
              <a:t>fmt</a:t>
            </a:r>
            <a:r>
              <a:rPr lang="en-US" altLang="zh-CN" sz="1600" b="1" dirty="0">
                <a:latin typeface="+mn-ea"/>
              </a:rPr>
              <a:t>, x);</a:t>
            </a:r>
            <a:endParaRPr lang="en-US" altLang="zh-CN" sz="1600" b="1" dirty="0">
              <a:latin typeface="+mn-ea"/>
            </a:endParaRP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}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065" y="738505"/>
            <a:ext cx="3888105" cy="594614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12345 9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3400080" y="5029200"/>
            <a:ext cx="3470278" cy="370702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别去网上瞎查，认真阅读第</a:t>
            </a:r>
            <a:r>
              <a:rPr kumimoji="1" lang="en-US" altLang="zh-CN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5</a:t>
            </a:r>
            <a:r>
              <a:rPr kumimoji="1" lang="zh-CN" altLang="en-US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</a:rPr>
              <a:t>章课件</a:t>
            </a:r>
            <a:endParaRPr kumimoji="1" lang="zh-CN" altLang="en-US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6825" y="1023620"/>
            <a:ext cx="2670175" cy="7353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6825" y="2002790"/>
            <a:ext cx="2627630" cy="751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825" y="2950210"/>
            <a:ext cx="2627630" cy="7562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825" y="3951605"/>
            <a:ext cx="2604770" cy="7442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825" y="4897755"/>
            <a:ext cx="2604770" cy="7575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6825" y="5892800"/>
            <a:ext cx="2487295" cy="72707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：键盘输入一个长度</a:t>
            </a:r>
            <a:r>
              <a:rPr lang="en-US" altLang="zh-CN" sz="1600" b="1" dirty="0">
                <a:latin typeface="+mn-ea"/>
              </a:rPr>
              <a:t>[3..12]</a:t>
            </a:r>
            <a:r>
              <a:rPr lang="zh-CN" altLang="en-US" sz="1600" b="1" dirty="0">
                <a:latin typeface="+mn-ea"/>
              </a:rPr>
              <a:t>间字符串，再输入显示宽度</a:t>
            </a:r>
            <a:r>
              <a:rPr lang="en-US" altLang="zh-CN" sz="1600" b="1" dirty="0">
                <a:latin typeface="+mn-ea"/>
              </a:rPr>
              <a:t>[</a:t>
            </a:r>
            <a:r>
              <a:rPr lang="zh-CN" altLang="en-US" sz="1600" b="1" dirty="0">
                <a:latin typeface="+mn-ea"/>
              </a:rPr>
              <a:t>长度</a:t>
            </a:r>
            <a:r>
              <a:rPr lang="en-US" altLang="zh-CN" sz="1600" b="1" dirty="0">
                <a:latin typeface="+mn-ea"/>
              </a:rPr>
              <a:t>+1..20]</a:t>
            </a:r>
            <a:r>
              <a:rPr lang="zh-CN" altLang="en-US" sz="1600" b="1" dirty="0">
                <a:latin typeface="+mn-ea"/>
              </a:rPr>
              <a:t>，左对齐输出这个字符串（最后加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注：输入宽度小于等于串长则置为串长</a:t>
            </a:r>
            <a:r>
              <a:rPr lang="en-US" altLang="zh-CN" sz="1600" b="1" dirty="0">
                <a:latin typeface="+mn-ea"/>
              </a:rPr>
              <a:t>+1</a:t>
            </a:r>
            <a:r>
              <a:rPr lang="zh-CN" altLang="en-US" sz="1600" b="1" dirty="0">
                <a:latin typeface="+mn-ea"/>
              </a:rPr>
              <a:t>，不考虑其它输入错误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025" y="1578504"/>
            <a:ext cx="6312332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#define _CRT_SECURE_NO_WARNINGS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#include &lt;stdio.h&gt;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int main()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{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char a[13] = { 0 };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int w,length=0;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printf("请输入长度[3..12]间的字符串及显示宽度[len+1..20]\n");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scanf("%s", &amp;a); </a:t>
            </a:r>
            <a:r>
              <a:rPr kumimoji="1" lang="en-US" altLang="zh-CN" sz="1300" b="1" dirty="0">
                <a:solidFill>
                  <a:srgbClr val="FF0000"/>
                </a:solidFill>
                <a:latin typeface="+mn-ea"/>
                <a:cs typeface="+mn-ea"/>
              </a:rPr>
              <a:t>//不考虑输入错误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scanf("%d", &amp;w); 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for (int i = 0; i &lt; 13; i++) {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    if (a[i] != 0)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        length++;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}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if (w &lt;= length)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    w = length + 1;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printf("01234567890123456789\n"); </a:t>
            </a:r>
            <a:r>
              <a:rPr kumimoji="1" lang="en-US" altLang="zh-CN" sz="1300" b="1" dirty="0">
                <a:solidFill>
                  <a:srgbClr val="FF0000"/>
                </a:solidFill>
                <a:latin typeface="+mn-ea"/>
                <a:cs typeface="+mn-ea"/>
              </a:rPr>
              <a:t>//标尺</a:t>
            </a:r>
            <a:endParaRPr kumimoji="1" lang="en-US" altLang="zh-CN" sz="13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char fmt[16];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sprintf(fmt, "%%-%ds*\n", w);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printf(fmt, a);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    return 0;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300" b="1" dirty="0">
                <a:solidFill>
                  <a:schemeClr val="tx1"/>
                </a:solidFill>
                <a:latin typeface="+mn-ea"/>
                <a:cs typeface="+mn-ea"/>
              </a:rPr>
              <a:t>}</a:t>
            </a:r>
            <a:endParaRPr kumimoji="1" lang="en-US" altLang="zh-CN" sz="13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6870357" y="1578503"/>
            <a:ext cx="4090086" cy="5116936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12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、自己构造的测试样本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0911" y="1951251"/>
            <a:ext cx="3714286" cy="65714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12" y="3160745"/>
            <a:ext cx="3685714" cy="64761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790" y="4315460"/>
            <a:ext cx="3616960" cy="9385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1520" y="5543550"/>
            <a:ext cx="3618230" cy="92329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en-US" altLang="zh-CN" sz="2800" b="1" dirty="0" err="1">
                <a:latin typeface="+mn-ea"/>
              </a:rPr>
              <a:t>sscanf</a:t>
            </a:r>
            <a:r>
              <a:rPr lang="zh-CN" altLang="en-US" sz="2800" b="1" dirty="0">
                <a:latin typeface="+mn-ea"/>
              </a:rPr>
              <a:t>与</a:t>
            </a:r>
            <a:r>
              <a:rPr lang="en-US" altLang="zh-CN" sz="2800" b="1" dirty="0" err="1">
                <a:latin typeface="+mn-ea"/>
              </a:rPr>
              <a:t>sprintf</a:t>
            </a:r>
            <a:r>
              <a:rPr lang="zh-CN" altLang="en-US" sz="2800" b="1" dirty="0">
                <a:latin typeface="+mn-ea"/>
              </a:rPr>
              <a:t>的理解与体会</a:t>
            </a:r>
            <a:endParaRPr lang="zh-CN" altLang="en-US" sz="28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综合应用</a:t>
            </a:r>
            <a:br>
              <a:rPr lang="zh-CN" altLang="en-US" sz="1600" b="1" dirty="0">
                <a:latin typeface="+mn-ea"/>
              </a:rPr>
            </a:br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：键盘输入一个</a:t>
            </a:r>
            <a:r>
              <a:rPr lang="en-US" altLang="zh-CN" sz="1600" b="1" dirty="0">
                <a:latin typeface="+mn-ea"/>
              </a:rPr>
              <a:t>double</a:t>
            </a:r>
            <a:r>
              <a:rPr lang="zh-CN" altLang="en-US" sz="1600" b="1" dirty="0">
                <a:latin typeface="+mn-ea"/>
              </a:rPr>
              <a:t>型数据，再输入总显示宽度及小数点后的位数，右对齐输出这个字符串（最后加</a:t>
            </a:r>
            <a:r>
              <a:rPr lang="en-US" altLang="zh-CN" sz="1600" b="1" dirty="0">
                <a:latin typeface="+mn-ea"/>
              </a:rPr>
              <a:t>*</a:t>
            </a:r>
            <a:r>
              <a:rPr lang="zh-CN" altLang="en-US" sz="1600" b="1" dirty="0">
                <a:latin typeface="+mn-ea"/>
              </a:rPr>
              <a:t>分辨空格）</a:t>
            </a:r>
            <a:endParaRPr lang="en-US" altLang="zh-CN" sz="1600" b="1" dirty="0">
              <a:latin typeface="+mn-ea"/>
            </a:endParaRPr>
          </a:p>
          <a:p>
            <a:pPr algn="l"/>
            <a:r>
              <a:rPr lang="en-US" altLang="zh-CN" sz="1600" b="1" dirty="0">
                <a:latin typeface="+mn-ea"/>
              </a:rPr>
              <a:t>     </a:t>
            </a:r>
            <a:r>
              <a:rPr lang="zh-CN" altLang="en-US" sz="1600" b="1" dirty="0">
                <a:latin typeface="+mn-ea"/>
              </a:rPr>
              <a:t>注：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558165" y="1578610"/>
            <a:ext cx="6478905" cy="511683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给出相应的代码，字体为宋体，字号根据代码量调整，不小于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号</a:t>
            </a:r>
            <a:endParaRPr kumimoji="1" lang="zh-CN" altLang="en-US" sz="1600" b="1" dirty="0">
              <a:solidFill>
                <a:srgbClr val="FF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#define _CRT_SECURE_NO_WARNINGS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#include &lt;stdio.h&gt;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int main()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{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    double x;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    int b, w;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    printf("请输入double型数据及显示总宽度、小数点后位数\n");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    scanf("%lf %d %d", &amp;x, &amp;w,&amp;b);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  <a:cs typeface="+mn-ea"/>
              </a:rPr>
              <a:t>//不考虑输入错误</a:t>
            </a:r>
            <a:endParaRPr kumimoji="1" lang="en-US" altLang="zh-CN" sz="1600" b="1" dirty="0">
              <a:solidFill>
                <a:srgbClr val="FF0000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    printf("01234567890123456789\n");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  <a:cs typeface="+mn-ea"/>
              </a:rPr>
              <a:t>//标尺</a:t>
            </a:r>
            <a:endParaRPr kumimoji="1" lang="en-US" altLang="zh-CN" sz="1600" b="1" dirty="0">
              <a:solidFill>
                <a:srgbClr val="FF0000"/>
              </a:solidFill>
              <a:latin typeface="+mn-ea"/>
              <a:cs typeface="+mn-ea"/>
            </a:endParaRPr>
          </a:p>
          <a:p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    char fmt[20];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    sprintf(fmt, "%%%d.%dlf*\n", w,b);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    printf(fmt, x);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    return 0;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  <a:p>
            <a:r>
              <a:rPr kumimoji="1" lang="en-US" altLang="zh-CN" sz="1600" b="1" dirty="0">
                <a:solidFill>
                  <a:schemeClr val="tx1"/>
                </a:solidFill>
                <a:latin typeface="+mn-ea"/>
                <a:cs typeface="+mn-ea"/>
              </a:rPr>
              <a:t>}</a:t>
            </a:r>
            <a:endParaRPr kumimoji="1" lang="en-US" altLang="zh-CN" sz="1600" b="1" dirty="0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7037705" y="1578610"/>
            <a:ext cx="4070985" cy="511683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12.34 9 5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123.456789 12 2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4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12345678.9 5 0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(3/4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的答案没问题，想不通去看第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章作业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3508" y="2050577"/>
            <a:ext cx="3361905" cy="63809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511" y="3160746"/>
            <a:ext cx="3419048" cy="66666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508" y="4426380"/>
            <a:ext cx="3438095" cy="65714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3508" y="5534875"/>
            <a:ext cx="3485714" cy="657143"/>
          </a:xfrm>
          <a:prstGeom prst="rect">
            <a:avLst/>
          </a:prstGeom>
        </p:spPr>
      </p:pic>
      <p:sp>
        <p:nvSpPr>
          <p:cNvPr id="5" name="椭圆 4"/>
          <p:cNvSpPr/>
          <p:nvPr/>
        </p:nvSpPr>
        <p:spPr bwMode="auto">
          <a:xfrm>
            <a:off x="9707658" y="164421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charset="0"/>
                <a:ea typeface="宋体" panose="02010600030101010101" pitchFamily="2" charset="-122"/>
              </a:rPr>
              <a:t>本页需填写答案</a:t>
            </a:r>
            <a:endParaRPr kumimoji="1" lang="zh-CN" altLang="en-US" sz="1600" b="1" dirty="0">
              <a:solidFill>
                <a:srgbClr val="FF0000"/>
              </a:solidFill>
              <a:latin typeface="Times New Roman" panose="0202060305040502030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YzUwMDE4ODJhNGJhYzNiZjlkYmQyMTBiNTljMTUzMjcifQ=="/>
</p:tagLst>
</file>

<file path=ppt/theme/theme1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5353</Words>
  <Application>WPS 演示</Application>
  <PresentationFormat>宽屏</PresentationFormat>
  <Paragraphs>367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Times New Roman</vt:lpstr>
      <vt:lpstr>微软雅黑</vt:lpstr>
      <vt:lpstr>Arial Unicode MS</vt:lpstr>
      <vt:lpstr>等线</vt:lpstr>
      <vt:lpstr>Calibri</vt:lpstr>
      <vt:lpstr>华文楷体</vt:lpstr>
      <vt:lpstr>华文新魏</vt:lpstr>
      <vt:lpstr>华文彩云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染墨相思</cp:lastModifiedBy>
  <cp:revision>53</cp:revision>
  <dcterms:created xsi:type="dcterms:W3CDTF">2020-08-13T13:39:00Z</dcterms:created>
  <dcterms:modified xsi:type="dcterms:W3CDTF">2024-05-14T05:43:24Z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482CE6B1F0F24FBF8F9764C5CBFB907D_12</vt:lpwstr>
  </property>
  <property fmtid="{D5CDD505-2E9C-101B-9397-08002B2CF9AE}" pid="3" name="KSOProductBuildVer">
    <vt:lpwstr>2052-12.1.0.16729</vt:lpwstr>
  </property>
</Properties>
</file>