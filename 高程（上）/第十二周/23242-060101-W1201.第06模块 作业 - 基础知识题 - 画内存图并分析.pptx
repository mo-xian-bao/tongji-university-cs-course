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838" r:id="rId3"/>
    <p:sldId id="1014" r:id="rId4"/>
    <p:sldId id="1017" r:id="rId5"/>
    <p:sldId id="814" r:id="rId6"/>
    <p:sldId id="1018" r:id="rId7"/>
    <p:sldId id="815" r:id="rId8"/>
    <p:sldId id="1019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43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2E6EC-216D-470E-A96A-BC8CC8B96A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28A78-612C-405C-9C40-0619174AAB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67344-9CCA-4817-A165-2280803A3B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E27D7-7FC2-48E5-AC23-EE005EF046D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BEE40-6653-4306-94D9-CE901F87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08D2F-C807-4635-ADFC-DDA32FA08C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667F2-D47F-4AFE-AD36-03B6E79727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831D1-1FD2-4C1F-81EF-D089EAA70A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96484-9390-436A-B97F-750A172083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5A884-3C3A-4699-8B3B-C69DDDD6951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CE23E-6955-41AF-80A9-A97169205E6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77E57CD3-3E80-4DCD-8FBA-A1013BE71655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3" Type="http://schemas.openxmlformats.org/officeDocument/2006/relationships/slideLayout" Target="../slideLayouts/slideLayout2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、模仿第</a:t>
            </a:r>
            <a:r>
              <a:rPr lang="en-US" altLang="zh-CN" sz="1600" b="1" dirty="0">
                <a:latin typeface="+mn-ea"/>
              </a:rPr>
              <a:t>06</a:t>
            </a:r>
            <a:r>
              <a:rPr lang="zh-CN" altLang="en-US" sz="1600" b="1" dirty="0">
                <a:latin typeface="+mn-ea"/>
              </a:rPr>
              <a:t>模块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课件中</a:t>
            </a:r>
            <a:r>
              <a:rPr lang="en-US" altLang="zh-CN" sz="1600" b="1" dirty="0">
                <a:latin typeface="+mn-ea"/>
              </a:rPr>
              <a:t>(P.16-19/P.27-30)</a:t>
            </a:r>
            <a:r>
              <a:rPr lang="zh-CN" altLang="en-US" sz="1600" b="1" dirty="0">
                <a:latin typeface="+mn-ea"/>
              </a:rPr>
              <a:t>的样式，画出下列每小题每一步执行的内存分配及指向图示，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分析为什么得到最后的结果。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、每个语句要画一张内存状态图，每小题都是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张图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张初始内存分配图附件已给出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、不允许手写、手写后贴图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后在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文档作业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中提交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5.23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友情提醒：本周作业量不大，第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个大作业要在下周指针讲完后才能布置，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大家尽快把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VS2022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调试的文档作业做完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除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字符指针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"/"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引用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知识点外，其它已经全部讲过了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，千万不要卡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DDL!!!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22605" y="1116965"/>
            <a:ext cx="8855710" cy="4391660"/>
            <a:chOff x="823" y="1759"/>
            <a:chExt cx="13946" cy="6916"/>
          </a:xfrm>
        </p:grpSpPr>
        <p:sp>
          <p:nvSpPr>
            <p:cNvPr id="5" name="矩形 4"/>
            <p:cNvSpPr/>
            <p:nvPr/>
          </p:nvSpPr>
          <p:spPr bwMode="auto">
            <a:xfrm>
              <a:off x="5926" y="6883"/>
              <a:ext cx="1871" cy="99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s=28.2743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l=18.8495</a:t>
              </a:r>
              <a:endPara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" name="Rectangle 22"/>
            <p:cNvSpPr>
              <a:spLocks noChangeArrowheads="1"/>
            </p:cNvSpPr>
            <p:nvPr/>
          </p:nvSpPr>
          <p:spPr bwMode="auto">
            <a:xfrm>
              <a:off x="12121" y="3523"/>
              <a:ext cx="1501" cy="4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单向传值</a:t>
              </a:r>
              <a:endPara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 rot="0">
              <a:off x="823" y="1759"/>
              <a:ext cx="13947" cy="6917"/>
              <a:chOff x="1703388" y="2276872"/>
              <a:chExt cx="8856662" cy="4392217"/>
            </a:xfrm>
          </p:grpSpPr>
          <p:sp>
            <p:nvSpPr>
              <p:cNvPr id="3" name="Rectangle 10"/>
              <p:cNvSpPr>
                <a:spLocks noChangeArrowheads="1"/>
              </p:cNvSpPr>
              <p:nvPr/>
            </p:nvSpPr>
            <p:spPr bwMode="auto">
              <a:xfrm>
                <a:off x="1703388" y="2276872"/>
                <a:ext cx="8856662" cy="43922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#include &lt;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iostream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&gt;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using namespace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std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#define PI 3.14159</a:t>
                </a:r>
                <a:endPara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double SL(double R, double *L)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{   double S;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 S = PI*R*R;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 *L = 2*PI*R;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 return S;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int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main()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{   double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s,l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, r=3;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 s=SL(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r,&amp;l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cout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&lt;&lt; "s=" &lt;&lt; s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endl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 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cout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&lt;&lt; "l=" &lt;&lt; l &lt;&lt; </a:t>
                </a:r>
                <a:r>
                  <a:rPr kumimoji="1" lang="en-US" altLang="zh-CN" sz="1600" b="1" dirty="0" err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endl</a:t>
                </a: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;</a:t>
                </a: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}</a:t>
                </a:r>
                <a:endParaRPr kumimoji="1" lang="en-US" altLang="zh-CN" sz="1600" dirty="0">
                  <a:solidFill>
                    <a:srgbClr val="FF33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 bwMode="auto">
              <a:xfrm>
                <a:off x="3958606" y="3792380"/>
                <a:ext cx="3649563" cy="1148789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函数执行后同时得到周长及面积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</a:t>
                </a:r>
                <a:r>
                  <a: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周长：指针变量做形参方式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面积：函数返回值方式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注</a:t>
                </a:r>
                <a:r>
                  <a: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:</a:t>
                </a: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函数的</a:t>
                </a:r>
                <a:r>
                  <a: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return</a:t>
                </a: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只能带一个返回值</a:t>
                </a:r>
                <a:r>
                  <a: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!!</a:t>
                </a:r>
                <a:endParaRPr kumimoji="1"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8117048" y="2457028"/>
                <a:ext cx="2299433" cy="2196108"/>
                <a:chOff x="6296620" y="1307232"/>
                <a:chExt cx="2625665" cy="3615447"/>
              </a:xfrm>
            </p:grpSpPr>
            <p:grpSp>
              <p:nvGrpSpPr>
                <p:cNvPr id="29" name="Group 4"/>
                <p:cNvGrpSpPr/>
                <p:nvPr/>
              </p:nvGrpSpPr>
              <p:grpSpPr bwMode="auto">
                <a:xfrm>
                  <a:off x="6296620" y="2157375"/>
                  <a:ext cx="1155700" cy="609600"/>
                  <a:chOff x="2016" y="816"/>
                  <a:chExt cx="728" cy="384"/>
                </a:xfrm>
              </p:grpSpPr>
              <p:sp>
                <p:nvSpPr>
                  <p:cNvPr id="48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816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r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9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16"/>
                    <a:ext cx="467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3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30" name="组合 29"/>
                <p:cNvGrpSpPr/>
                <p:nvPr/>
              </p:nvGrpSpPr>
              <p:grpSpPr>
                <a:xfrm>
                  <a:off x="7072984" y="1307232"/>
                  <a:ext cx="1066801" cy="609600"/>
                  <a:chOff x="6293384" y="2157375"/>
                  <a:chExt cx="1066801" cy="609600"/>
                </a:xfrm>
              </p:grpSpPr>
              <p:sp>
                <p:nvSpPr>
                  <p:cNvPr id="46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6293384" y="2157375"/>
                    <a:ext cx="414338" cy="609600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s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7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6707722" y="2157375"/>
                    <a:ext cx="652463" cy="609600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??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31" name="组合 30"/>
                <p:cNvGrpSpPr/>
                <p:nvPr/>
              </p:nvGrpSpPr>
              <p:grpSpPr>
                <a:xfrm>
                  <a:off x="7855484" y="2157375"/>
                  <a:ext cx="1066801" cy="609600"/>
                  <a:chOff x="7855484" y="2157375"/>
                  <a:chExt cx="1066801" cy="609600"/>
                </a:xfrm>
              </p:grpSpPr>
              <p:sp>
                <p:nvSpPr>
                  <p:cNvPr id="44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7855484" y="2157375"/>
                    <a:ext cx="414338" cy="609600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l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5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8269822" y="2157375"/>
                    <a:ext cx="652463" cy="609600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??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33" name="Group 12"/>
                <p:cNvGrpSpPr/>
                <p:nvPr/>
              </p:nvGrpSpPr>
              <p:grpSpPr bwMode="auto">
                <a:xfrm>
                  <a:off x="6296620" y="3398800"/>
                  <a:ext cx="1155700" cy="609600"/>
                  <a:chOff x="2016" y="638"/>
                  <a:chExt cx="728" cy="384"/>
                </a:xfrm>
              </p:grpSpPr>
              <p:sp>
                <p:nvSpPr>
                  <p:cNvPr id="42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2016" y="638"/>
                    <a:ext cx="261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R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3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638"/>
                    <a:ext cx="467" cy="384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3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34" name="组合 33"/>
                <p:cNvGrpSpPr/>
                <p:nvPr/>
              </p:nvGrpSpPr>
              <p:grpSpPr>
                <a:xfrm>
                  <a:off x="7082433" y="4313079"/>
                  <a:ext cx="1066801" cy="609600"/>
                  <a:chOff x="6293384" y="3398800"/>
                  <a:chExt cx="1066801" cy="609600"/>
                </a:xfrm>
              </p:grpSpPr>
              <p:sp>
                <p:nvSpPr>
                  <p:cNvPr id="40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6293384" y="3398800"/>
                    <a:ext cx="414338" cy="609600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S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1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6707722" y="3398800"/>
                    <a:ext cx="652463" cy="609600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??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35" name="组合 34"/>
                <p:cNvGrpSpPr/>
                <p:nvPr/>
              </p:nvGrpSpPr>
              <p:grpSpPr>
                <a:xfrm>
                  <a:off x="7855484" y="3398800"/>
                  <a:ext cx="1066801" cy="609600"/>
                  <a:chOff x="7855484" y="3398800"/>
                  <a:chExt cx="1066801" cy="609600"/>
                </a:xfrm>
              </p:grpSpPr>
              <p:sp>
                <p:nvSpPr>
                  <p:cNvPr id="38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7855484" y="3398800"/>
                    <a:ext cx="414338" cy="609600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L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9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8269822" y="3398800"/>
                    <a:ext cx="652463" cy="609600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1600" b="1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&amp;l</a:t>
                    </a:r>
                    <a:endPara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36" name="Line 20"/>
                <p:cNvSpPr>
                  <a:spLocks noChangeShapeType="1"/>
                </p:cNvSpPr>
                <p:nvPr/>
              </p:nvSpPr>
              <p:spPr bwMode="auto">
                <a:xfrm>
                  <a:off x="7082433" y="2766975"/>
                  <a:ext cx="0" cy="6318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160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8596846" y="2766975"/>
                  <a:ext cx="4763" cy="6318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160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50" name="直接连接符 49"/>
              <p:cNvCxnSpPr/>
              <p:nvPr/>
            </p:nvCxnSpPr>
            <p:spPr bwMode="auto">
              <a:xfrm>
                <a:off x="7545825" y="3525359"/>
                <a:ext cx="752650" cy="0"/>
              </a:xfrm>
              <a:prstGeom prst="line">
                <a:avLst/>
              </a:prstGeom>
              <a:solidFill>
                <a:schemeClr val="accent1"/>
              </a:solidFill>
              <a:ln w="762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1" name="矩形 50"/>
              <p:cNvSpPr/>
              <p:nvPr/>
            </p:nvSpPr>
            <p:spPr bwMode="auto">
              <a:xfrm>
                <a:off x="7513946" y="3023725"/>
                <a:ext cx="661449" cy="33500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main</a:t>
                </a:r>
                <a:endPara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 bwMode="auto">
              <a:xfrm>
                <a:off x="7635372" y="3659963"/>
                <a:ext cx="406336" cy="269644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SL</a:t>
                </a:r>
                <a:endPara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 bwMode="auto">
              <a:xfrm>
                <a:off x="7993553" y="5096543"/>
                <a:ext cx="2349060" cy="108012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初始内存分配如图所示</a:t>
                </a:r>
                <a:endPara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请自行画出</a:t>
                </a:r>
                <a:r>
                  <a:rPr kumimoji="1" lang="en-US" altLang="zh-CN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SL</a:t>
                </a: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中三句话</a:t>
                </a:r>
                <a:endPara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执行时内存的变化</a:t>
                </a:r>
                <a:endPara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3333CC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理解最后的输出结果</a:t>
                </a:r>
                <a:endPara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cxnSp>
            <p:nvCxnSpPr>
              <p:cNvPr id="59" name="直接箭头连接符 58"/>
              <p:cNvCxnSpPr>
                <a:stCxn id="55" idx="1"/>
              </p:cNvCxnSpPr>
              <p:nvPr/>
            </p:nvCxnSpPr>
            <p:spPr bwMode="auto">
              <a:xfrm flipH="1" flipV="1">
                <a:off x="3503713" y="4768427"/>
                <a:ext cx="4489840" cy="86817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57" name="矩形 56"/>
          <p:cNvSpPr/>
          <p:nvPr/>
        </p:nvSpPr>
        <p:spPr bwMode="auto">
          <a:xfrm>
            <a:off x="882650" y="2938145"/>
            <a:ext cx="1440180" cy="74041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" name="组合 27"/>
          <p:cNvGrpSpPr/>
          <p:nvPr/>
        </p:nvGrpSpPr>
        <p:grpSpPr>
          <a:xfrm>
            <a:off x="3977005" y="520700"/>
            <a:ext cx="934085" cy="369570"/>
            <a:chOff x="10936" y="3083"/>
            <a:chExt cx="1471" cy="582"/>
          </a:xfrm>
        </p:grpSpPr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977005" y="1627505"/>
            <a:ext cx="934085" cy="369570"/>
            <a:chOff x="10936" y="3083"/>
            <a:chExt cx="1471" cy="582"/>
          </a:xfrm>
        </p:grpSpPr>
        <p:sp>
          <p:nvSpPr>
            <p:cNvPr id="30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1" name="矩形 50"/>
          <p:cNvSpPr/>
          <p:nvPr/>
        </p:nvSpPr>
        <p:spPr bwMode="auto">
          <a:xfrm>
            <a:off x="3006825" y="711941"/>
            <a:ext cx="661425" cy="3350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main</a:t>
            </a:r>
            <a:endParaRPr kumimoji="1" lang="zh-CN" altLang="en-US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0" name="直接连接符 49"/>
          <p:cNvCxnSpPr/>
          <p:nvPr/>
        </p:nvCxnSpPr>
        <p:spPr bwMode="auto">
          <a:xfrm>
            <a:off x="2916148" y="1174214"/>
            <a:ext cx="752623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矩形 51"/>
          <p:cNvSpPr/>
          <p:nvPr/>
        </p:nvSpPr>
        <p:spPr bwMode="auto">
          <a:xfrm>
            <a:off x="3089512" y="1303741"/>
            <a:ext cx="406321" cy="2696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</a:t>
            </a:r>
            <a:endParaRPr kumimoji="1" lang="zh-CN" altLang="en-US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Line 20"/>
          <p:cNvSpPr>
            <a:spLocks noChangeShapeType="1"/>
          </p:cNvSpPr>
          <p:nvPr/>
        </p:nvSpPr>
        <p:spPr bwMode="auto">
          <a:xfrm>
            <a:off x="4415155" y="920115"/>
            <a:ext cx="635" cy="7054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Rectangle 22"/>
          <p:cNvSpPr>
            <a:spLocks noChangeArrowheads="1"/>
          </p:cNvSpPr>
          <p:nvPr/>
        </p:nvSpPr>
        <p:spPr bwMode="auto">
          <a:xfrm>
            <a:off x="4415790" y="1125855"/>
            <a:ext cx="95313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439410" y="383540"/>
            <a:ext cx="5053330" cy="583565"/>
            <a:chOff x="4376" y="1444"/>
            <a:chExt cx="7980" cy="919"/>
          </a:xfrm>
        </p:grpSpPr>
        <p:grpSp>
          <p:nvGrpSpPr>
            <p:cNvPr id="38" name="组合 37"/>
            <p:cNvGrpSpPr/>
            <p:nvPr/>
          </p:nvGrpSpPr>
          <p:grpSpPr>
            <a:xfrm>
              <a:off x="4376" y="1466"/>
              <a:ext cx="2617" cy="829"/>
              <a:chOff x="4364" y="1667"/>
              <a:chExt cx="2617" cy="582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364" y="1667"/>
                <a:ext cx="1471" cy="582"/>
                <a:chOff x="10936" y="3083"/>
                <a:chExt cx="1471" cy="582"/>
              </a:xfrm>
            </p:grpSpPr>
            <p:sp>
              <p:nvSpPr>
                <p:cNvPr id="33" name="Rectangle 17"/>
                <p:cNvSpPr>
                  <a:spLocks noChangeArrowheads="1"/>
                </p:cNvSpPr>
                <p:nvPr/>
              </p:nvSpPr>
              <p:spPr bwMode="auto">
                <a:xfrm>
                  <a:off x="10936" y="3083"/>
                  <a:ext cx="571" cy="58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l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" name="Rectangle 18"/>
                <p:cNvSpPr>
                  <a:spLocks noChangeArrowheads="1"/>
                </p:cNvSpPr>
                <p:nvPr/>
              </p:nvSpPr>
              <p:spPr bwMode="auto">
                <a:xfrm>
                  <a:off x="11507" y="3083"/>
                  <a:ext cx="900" cy="583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??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7" name="Rectangle 17"/>
              <p:cNvSpPr>
                <a:spLocks noChangeArrowheads="1"/>
              </p:cNvSpPr>
              <p:nvPr/>
            </p:nvSpPr>
            <p:spPr bwMode="auto">
              <a:xfrm>
                <a:off x="5835" y="1667"/>
                <a:ext cx="1146" cy="58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2" name="文本框 41"/>
            <p:cNvSpPr txBox="1"/>
            <p:nvPr/>
          </p:nvSpPr>
          <p:spPr>
            <a:xfrm>
              <a:off x="5956" y="1444"/>
              <a:ext cx="640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2000</a:t>
              </a:r>
              <a:endParaRPr lang="en-US" altLang="zh-CN" sz="1600"/>
            </a:p>
            <a:p>
              <a:r>
                <a:rPr lang="en-US" altLang="zh-CN" sz="1600"/>
                <a:t>2007</a:t>
              </a:r>
              <a:endParaRPr lang="en-US" altLang="zh-CN" sz="160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468620" y="1628140"/>
            <a:ext cx="5053330" cy="583565"/>
            <a:chOff x="4376" y="1444"/>
            <a:chExt cx="7980" cy="919"/>
          </a:xfrm>
        </p:grpSpPr>
        <p:grpSp>
          <p:nvGrpSpPr>
            <p:cNvPr id="45" name="组合 44"/>
            <p:cNvGrpSpPr/>
            <p:nvPr/>
          </p:nvGrpSpPr>
          <p:grpSpPr>
            <a:xfrm>
              <a:off x="4376" y="1466"/>
              <a:ext cx="2617" cy="829"/>
              <a:chOff x="4364" y="1667"/>
              <a:chExt cx="2617" cy="582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4364" y="1667"/>
                <a:ext cx="1471" cy="582"/>
                <a:chOff x="10936" y="3083"/>
                <a:chExt cx="1471" cy="582"/>
              </a:xfrm>
            </p:grpSpPr>
            <p:sp>
              <p:nvSpPr>
                <p:cNvPr id="47" name="Rectangle 17"/>
                <p:cNvSpPr>
                  <a:spLocks noChangeArrowheads="1"/>
                </p:cNvSpPr>
                <p:nvPr/>
              </p:nvSpPr>
              <p:spPr bwMode="auto">
                <a:xfrm>
                  <a:off x="10936" y="3083"/>
                  <a:ext cx="571" cy="58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L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" name="Rectangle 18"/>
                <p:cNvSpPr>
                  <a:spLocks noChangeArrowheads="1"/>
                </p:cNvSpPr>
                <p:nvPr/>
              </p:nvSpPr>
              <p:spPr bwMode="auto">
                <a:xfrm>
                  <a:off x="11507" y="3083"/>
                  <a:ext cx="900" cy="583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9" name="Rectangle 17"/>
              <p:cNvSpPr>
                <a:spLocks noChangeArrowheads="1"/>
              </p:cNvSpPr>
              <p:nvPr/>
            </p:nvSpPr>
            <p:spPr bwMode="auto">
              <a:xfrm>
                <a:off x="5835" y="1667"/>
                <a:ext cx="1146" cy="58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5956" y="1444"/>
              <a:ext cx="640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3000</a:t>
              </a:r>
              <a:endParaRPr lang="en-US" altLang="zh-CN" sz="1600"/>
            </a:p>
            <a:p>
              <a:r>
                <a:rPr lang="en-US" altLang="zh-CN" sz="1600"/>
                <a:t>3007</a:t>
              </a:r>
              <a:endParaRPr lang="en-US" altLang="zh-CN" sz="1600"/>
            </a:p>
          </p:txBody>
        </p:sp>
      </p:grpSp>
      <p:sp>
        <p:nvSpPr>
          <p:cNvPr id="54" name="Line 20"/>
          <p:cNvSpPr>
            <a:spLocks noChangeShapeType="1"/>
          </p:cNvSpPr>
          <p:nvPr/>
        </p:nvSpPr>
        <p:spPr bwMode="auto">
          <a:xfrm>
            <a:off x="6238875" y="922655"/>
            <a:ext cx="635" cy="7054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Rectangle 22"/>
          <p:cNvSpPr>
            <a:spLocks noChangeArrowheads="1"/>
          </p:cNvSpPr>
          <p:nvPr/>
        </p:nvSpPr>
        <p:spPr bwMode="auto">
          <a:xfrm>
            <a:off x="6355715" y="1119505"/>
            <a:ext cx="95313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768590" y="596900"/>
            <a:ext cx="934085" cy="369570"/>
            <a:chOff x="10936" y="3083"/>
            <a:chExt cx="1471" cy="582"/>
          </a:xfrm>
        </p:grpSpPr>
        <p:sp>
          <p:nvSpPr>
            <p:cNvPr id="58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??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7593965" y="1641475"/>
            <a:ext cx="1383665" cy="369570"/>
            <a:chOff x="10936" y="3083"/>
            <a:chExt cx="1471" cy="582"/>
          </a:xfrm>
        </p:grpSpPr>
        <p:sp>
          <p:nvSpPr>
            <p:cNvPr id="61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2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28.2743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3968750" y="2753360"/>
            <a:ext cx="934085" cy="369570"/>
            <a:chOff x="10936" y="3083"/>
            <a:chExt cx="1471" cy="582"/>
          </a:xfrm>
        </p:grpSpPr>
        <p:sp>
          <p:nvSpPr>
            <p:cNvPr id="97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8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3968750" y="3860165"/>
            <a:ext cx="934085" cy="369570"/>
            <a:chOff x="10936" y="3083"/>
            <a:chExt cx="1471" cy="582"/>
          </a:xfrm>
        </p:grpSpPr>
        <p:sp>
          <p:nvSpPr>
            <p:cNvPr id="100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1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02" name="矩形 101"/>
          <p:cNvSpPr/>
          <p:nvPr/>
        </p:nvSpPr>
        <p:spPr bwMode="auto">
          <a:xfrm>
            <a:off x="2998570" y="2944601"/>
            <a:ext cx="661425" cy="3350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main</a:t>
            </a:r>
            <a:endParaRPr kumimoji="1" lang="zh-CN" altLang="en-US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3" name="直接连接符 102"/>
          <p:cNvCxnSpPr/>
          <p:nvPr/>
        </p:nvCxnSpPr>
        <p:spPr bwMode="auto">
          <a:xfrm>
            <a:off x="2907893" y="3406874"/>
            <a:ext cx="752623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矩形 103"/>
          <p:cNvSpPr/>
          <p:nvPr/>
        </p:nvSpPr>
        <p:spPr bwMode="auto">
          <a:xfrm>
            <a:off x="3081257" y="3536401"/>
            <a:ext cx="406321" cy="2696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</a:t>
            </a:r>
            <a:endParaRPr kumimoji="1" lang="zh-CN" altLang="en-US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" name="Line 20"/>
          <p:cNvSpPr>
            <a:spLocks noChangeShapeType="1"/>
          </p:cNvSpPr>
          <p:nvPr/>
        </p:nvSpPr>
        <p:spPr bwMode="auto">
          <a:xfrm>
            <a:off x="4406900" y="3152775"/>
            <a:ext cx="635" cy="7054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" name="Rectangle 22"/>
          <p:cNvSpPr>
            <a:spLocks noChangeArrowheads="1"/>
          </p:cNvSpPr>
          <p:nvPr/>
        </p:nvSpPr>
        <p:spPr bwMode="auto">
          <a:xfrm>
            <a:off x="4407535" y="3358515"/>
            <a:ext cx="95313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5409565" y="2616005"/>
            <a:ext cx="1759422" cy="583322"/>
            <a:chOff x="4303" y="1415"/>
            <a:chExt cx="2542" cy="950"/>
          </a:xfrm>
        </p:grpSpPr>
        <p:grpSp>
          <p:nvGrpSpPr>
            <p:cNvPr id="108" name="组合 107"/>
            <p:cNvGrpSpPr/>
            <p:nvPr/>
          </p:nvGrpSpPr>
          <p:grpSpPr>
            <a:xfrm>
              <a:off x="4303" y="1466"/>
              <a:ext cx="2542" cy="830"/>
              <a:chOff x="4291" y="1667"/>
              <a:chExt cx="2542" cy="583"/>
            </a:xfrm>
          </p:grpSpPr>
          <p:grpSp>
            <p:nvGrpSpPr>
              <p:cNvPr id="109" name="组合 108"/>
              <p:cNvGrpSpPr/>
              <p:nvPr/>
            </p:nvGrpSpPr>
            <p:grpSpPr>
              <a:xfrm>
                <a:off x="4291" y="1667"/>
                <a:ext cx="1545" cy="583"/>
                <a:chOff x="10863" y="3083"/>
                <a:chExt cx="1545" cy="583"/>
              </a:xfrm>
            </p:grpSpPr>
            <p:sp>
              <p:nvSpPr>
                <p:cNvPr id="110" name="Rectangle 17"/>
                <p:cNvSpPr>
                  <a:spLocks noChangeArrowheads="1"/>
                </p:cNvSpPr>
                <p:nvPr/>
              </p:nvSpPr>
              <p:spPr bwMode="auto">
                <a:xfrm>
                  <a:off x="10863" y="3083"/>
                  <a:ext cx="644" cy="58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l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1" name="Rectangle 18"/>
                <p:cNvSpPr>
                  <a:spLocks noChangeArrowheads="1"/>
                </p:cNvSpPr>
                <p:nvPr/>
              </p:nvSpPr>
              <p:spPr bwMode="auto">
                <a:xfrm>
                  <a:off x="11330" y="3083"/>
                  <a:ext cx="1078" cy="583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sym typeface="+mn-ea"/>
                    </a:rPr>
                    <a:t>18.8495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2" name="Rectangle 17"/>
              <p:cNvSpPr>
                <a:spLocks noChangeArrowheads="1"/>
              </p:cNvSpPr>
              <p:nvPr/>
            </p:nvSpPr>
            <p:spPr bwMode="auto">
              <a:xfrm>
                <a:off x="5835" y="1667"/>
                <a:ext cx="998" cy="58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3" name="文本框 112"/>
            <p:cNvSpPr txBox="1"/>
            <p:nvPr/>
          </p:nvSpPr>
          <p:spPr>
            <a:xfrm>
              <a:off x="5914" y="1415"/>
              <a:ext cx="857" cy="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2000</a:t>
              </a:r>
              <a:endParaRPr lang="en-US" altLang="zh-CN" sz="1600"/>
            </a:p>
            <a:p>
              <a:r>
                <a:rPr lang="en-US" altLang="zh-CN" sz="1600"/>
                <a:t>2007</a:t>
              </a:r>
              <a:endParaRPr lang="en-US" altLang="zh-CN" sz="1600"/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5460365" y="3860800"/>
            <a:ext cx="5053330" cy="583565"/>
            <a:chOff x="4376" y="1444"/>
            <a:chExt cx="7980" cy="919"/>
          </a:xfrm>
        </p:grpSpPr>
        <p:grpSp>
          <p:nvGrpSpPr>
            <p:cNvPr id="115" name="组合 114"/>
            <p:cNvGrpSpPr/>
            <p:nvPr/>
          </p:nvGrpSpPr>
          <p:grpSpPr>
            <a:xfrm>
              <a:off x="4376" y="1466"/>
              <a:ext cx="2617" cy="829"/>
              <a:chOff x="4364" y="1667"/>
              <a:chExt cx="2617" cy="582"/>
            </a:xfrm>
          </p:grpSpPr>
          <p:grpSp>
            <p:nvGrpSpPr>
              <p:cNvPr id="116" name="组合 115"/>
              <p:cNvGrpSpPr/>
              <p:nvPr/>
            </p:nvGrpSpPr>
            <p:grpSpPr>
              <a:xfrm>
                <a:off x="4364" y="1667"/>
                <a:ext cx="1471" cy="582"/>
                <a:chOff x="10936" y="3083"/>
                <a:chExt cx="1471" cy="582"/>
              </a:xfrm>
            </p:grpSpPr>
            <p:sp>
              <p:nvSpPr>
                <p:cNvPr id="117" name="Rectangle 17"/>
                <p:cNvSpPr>
                  <a:spLocks noChangeArrowheads="1"/>
                </p:cNvSpPr>
                <p:nvPr/>
              </p:nvSpPr>
              <p:spPr bwMode="auto">
                <a:xfrm>
                  <a:off x="10936" y="3083"/>
                  <a:ext cx="571" cy="58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L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8" name="Rectangle 18"/>
                <p:cNvSpPr>
                  <a:spLocks noChangeArrowheads="1"/>
                </p:cNvSpPr>
                <p:nvPr/>
              </p:nvSpPr>
              <p:spPr bwMode="auto">
                <a:xfrm>
                  <a:off x="11507" y="3083"/>
                  <a:ext cx="900" cy="583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9" name="Rectangle 17"/>
              <p:cNvSpPr>
                <a:spLocks noChangeArrowheads="1"/>
              </p:cNvSpPr>
              <p:nvPr/>
            </p:nvSpPr>
            <p:spPr bwMode="auto">
              <a:xfrm>
                <a:off x="5835" y="1667"/>
                <a:ext cx="1146" cy="58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0" name="文本框 119"/>
            <p:cNvSpPr txBox="1"/>
            <p:nvPr/>
          </p:nvSpPr>
          <p:spPr>
            <a:xfrm>
              <a:off x="5956" y="1444"/>
              <a:ext cx="640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3000</a:t>
              </a:r>
              <a:endParaRPr lang="en-US" altLang="zh-CN" sz="1600"/>
            </a:p>
            <a:p>
              <a:r>
                <a:rPr lang="en-US" altLang="zh-CN" sz="1600"/>
                <a:t>3007</a:t>
              </a:r>
              <a:endParaRPr lang="en-US" altLang="zh-CN" sz="1600"/>
            </a:p>
          </p:txBody>
        </p:sp>
      </p:grpSp>
      <p:sp>
        <p:nvSpPr>
          <p:cNvPr id="121" name="Line 20"/>
          <p:cNvSpPr>
            <a:spLocks noChangeShapeType="1"/>
          </p:cNvSpPr>
          <p:nvPr/>
        </p:nvSpPr>
        <p:spPr bwMode="auto">
          <a:xfrm>
            <a:off x="6230620" y="3155315"/>
            <a:ext cx="635" cy="7054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" name="Rectangle 22"/>
          <p:cNvSpPr>
            <a:spLocks noChangeArrowheads="1"/>
          </p:cNvSpPr>
          <p:nvPr/>
        </p:nvSpPr>
        <p:spPr bwMode="auto">
          <a:xfrm>
            <a:off x="6231255" y="3358515"/>
            <a:ext cx="95313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7760335" y="2829560"/>
            <a:ext cx="934085" cy="369570"/>
            <a:chOff x="10936" y="3083"/>
            <a:chExt cx="1471" cy="582"/>
          </a:xfrm>
        </p:grpSpPr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??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7585710" y="3874135"/>
            <a:ext cx="1383665" cy="369570"/>
            <a:chOff x="10936" y="3083"/>
            <a:chExt cx="1471" cy="582"/>
          </a:xfrm>
        </p:grpSpPr>
        <p:sp>
          <p:nvSpPr>
            <p:cNvPr id="127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8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28.2743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3977005" y="4951095"/>
            <a:ext cx="934085" cy="369570"/>
            <a:chOff x="10936" y="3083"/>
            <a:chExt cx="1471" cy="582"/>
          </a:xfrm>
        </p:grpSpPr>
        <p:sp>
          <p:nvSpPr>
            <p:cNvPr id="133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4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3977005" y="6057900"/>
            <a:ext cx="934085" cy="369570"/>
            <a:chOff x="10936" y="3083"/>
            <a:chExt cx="1471" cy="582"/>
          </a:xfrm>
        </p:grpSpPr>
        <p:sp>
          <p:nvSpPr>
            <p:cNvPr id="136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7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38" name="矩形 137"/>
          <p:cNvSpPr/>
          <p:nvPr/>
        </p:nvSpPr>
        <p:spPr bwMode="auto">
          <a:xfrm>
            <a:off x="3006825" y="5142336"/>
            <a:ext cx="661425" cy="3350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main</a:t>
            </a:r>
            <a:endParaRPr kumimoji="1" lang="zh-CN" altLang="en-US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>
            <a:off x="2916148" y="5604609"/>
            <a:ext cx="752623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0" name="矩形 139"/>
          <p:cNvSpPr/>
          <p:nvPr/>
        </p:nvSpPr>
        <p:spPr bwMode="auto">
          <a:xfrm>
            <a:off x="3089512" y="5734136"/>
            <a:ext cx="406321" cy="26964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</a:t>
            </a:r>
            <a:endParaRPr kumimoji="1" lang="zh-CN" altLang="en-US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1" name="Line 20"/>
          <p:cNvSpPr>
            <a:spLocks noChangeShapeType="1"/>
          </p:cNvSpPr>
          <p:nvPr/>
        </p:nvSpPr>
        <p:spPr bwMode="auto">
          <a:xfrm>
            <a:off x="4415155" y="5350510"/>
            <a:ext cx="635" cy="7054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2" name="Rectangle 22"/>
          <p:cNvSpPr>
            <a:spLocks noChangeArrowheads="1"/>
          </p:cNvSpPr>
          <p:nvPr/>
        </p:nvSpPr>
        <p:spPr bwMode="auto">
          <a:xfrm>
            <a:off x="4415790" y="5556250"/>
            <a:ext cx="95313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5417820" y="4813740"/>
            <a:ext cx="1759422" cy="583322"/>
            <a:chOff x="4303" y="1415"/>
            <a:chExt cx="2542" cy="950"/>
          </a:xfrm>
        </p:grpSpPr>
        <p:grpSp>
          <p:nvGrpSpPr>
            <p:cNvPr id="144" name="组合 143"/>
            <p:cNvGrpSpPr/>
            <p:nvPr/>
          </p:nvGrpSpPr>
          <p:grpSpPr>
            <a:xfrm>
              <a:off x="4303" y="1466"/>
              <a:ext cx="2542" cy="830"/>
              <a:chOff x="4291" y="1667"/>
              <a:chExt cx="2542" cy="583"/>
            </a:xfrm>
          </p:grpSpPr>
          <p:grpSp>
            <p:nvGrpSpPr>
              <p:cNvPr id="145" name="组合 144"/>
              <p:cNvGrpSpPr/>
              <p:nvPr/>
            </p:nvGrpSpPr>
            <p:grpSpPr>
              <a:xfrm>
                <a:off x="4291" y="1667"/>
                <a:ext cx="1545" cy="583"/>
                <a:chOff x="10863" y="3083"/>
                <a:chExt cx="1545" cy="583"/>
              </a:xfrm>
            </p:grpSpPr>
            <p:sp>
              <p:nvSpPr>
                <p:cNvPr id="146" name="Rectangle 17"/>
                <p:cNvSpPr>
                  <a:spLocks noChangeArrowheads="1"/>
                </p:cNvSpPr>
                <p:nvPr/>
              </p:nvSpPr>
              <p:spPr bwMode="auto">
                <a:xfrm>
                  <a:off x="10863" y="3083"/>
                  <a:ext cx="644" cy="58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l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7" name="Rectangle 18"/>
                <p:cNvSpPr>
                  <a:spLocks noChangeArrowheads="1"/>
                </p:cNvSpPr>
                <p:nvPr/>
              </p:nvSpPr>
              <p:spPr bwMode="auto">
                <a:xfrm>
                  <a:off x="11330" y="3083"/>
                  <a:ext cx="1078" cy="583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FF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sym typeface="+mn-ea"/>
                    </a:rPr>
                    <a:t>18.8495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8" name="Rectangle 17"/>
              <p:cNvSpPr>
                <a:spLocks noChangeArrowheads="1"/>
              </p:cNvSpPr>
              <p:nvPr/>
            </p:nvSpPr>
            <p:spPr bwMode="auto">
              <a:xfrm>
                <a:off x="5835" y="1667"/>
                <a:ext cx="998" cy="58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9" name="文本框 148"/>
            <p:cNvSpPr txBox="1"/>
            <p:nvPr/>
          </p:nvSpPr>
          <p:spPr>
            <a:xfrm>
              <a:off x="5914" y="1415"/>
              <a:ext cx="857" cy="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2000</a:t>
              </a:r>
              <a:endParaRPr lang="en-US" altLang="zh-CN" sz="1600"/>
            </a:p>
            <a:p>
              <a:r>
                <a:rPr lang="en-US" altLang="zh-CN" sz="1600"/>
                <a:t>2007</a:t>
              </a:r>
              <a:endParaRPr lang="en-US" altLang="zh-CN" sz="1600"/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5468620" y="6058535"/>
            <a:ext cx="5053330" cy="583565"/>
            <a:chOff x="4376" y="1444"/>
            <a:chExt cx="7980" cy="919"/>
          </a:xfrm>
        </p:grpSpPr>
        <p:grpSp>
          <p:nvGrpSpPr>
            <p:cNvPr id="151" name="组合 150"/>
            <p:cNvGrpSpPr/>
            <p:nvPr/>
          </p:nvGrpSpPr>
          <p:grpSpPr>
            <a:xfrm>
              <a:off x="4376" y="1466"/>
              <a:ext cx="2617" cy="829"/>
              <a:chOff x="4364" y="1667"/>
              <a:chExt cx="2617" cy="582"/>
            </a:xfrm>
          </p:grpSpPr>
          <p:grpSp>
            <p:nvGrpSpPr>
              <p:cNvPr id="152" name="组合 151"/>
              <p:cNvGrpSpPr/>
              <p:nvPr/>
            </p:nvGrpSpPr>
            <p:grpSpPr>
              <a:xfrm>
                <a:off x="4364" y="1667"/>
                <a:ext cx="1471" cy="582"/>
                <a:chOff x="10936" y="3083"/>
                <a:chExt cx="1471" cy="582"/>
              </a:xfrm>
            </p:grpSpPr>
            <p:sp>
              <p:nvSpPr>
                <p:cNvPr id="153" name="Rectangle 17"/>
                <p:cNvSpPr>
                  <a:spLocks noChangeArrowheads="1"/>
                </p:cNvSpPr>
                <p:nvPr/>
              </p:nvSpPr>
              <p:spPr bwMode="auto">
                <a:xfrm>
                  <a:off x="10936" y="3083"/>
                  <a:ext cx="571" cy="58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L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4" name="Rectangle 18"/>
                <p:cNvSpPr>
                  <a:spLocks noChangeArrowheads="1"/>
                </p:cNvSpPr>
                <p:nvPr/>
              </p:nvSpPr>
              <p:spPr bwMode="auto">
                <a:xfrm>
                  <a:off x="11507" y="3083"/>
                  <a:ext cx="900" cy="583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55" name="Rectangle 17"/>
              <p:cNvSpPr>
                <a:spLocks noChangeArrowheads="1"/>
              </p:cNvSpPr>
              <p:nvPr/>
            </p:nvSpPr>
            <p:spPr bwMode="auto">
              <a:xfrm>
                <a:off x="5835" y="1667"/>
                <a:ext cx="1146" cy="58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6" name="文本框 155"/>
            <p:cNvSpPr txBox="1"/>
            <p:nvPr/>
          </p:nvSpPr>
          <p:spPr>
            <a:xfrm>
              <a:off x="5956" y="1444"/>
              <a:ext cx="640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3000</a:t>
              </a:r>
              <a:endParaRPr lang="en-US" altLang="zh-CN" sz="1600"/>
            </a:p>
            <a:p>
              <a:r>
                <a:rPr lang="en-US" altLang="zh-CN" sz="1600"/>
                <a:t>3007</a:t>
              </a:r>
              <a:endParaRPr lang="en-US" altLang="zh-CN" sz="1600"/>
            </a:p>
          </p:txBody>
        </p:sp>
      </p:grpSp>
      <p:sp>
        <p:nvSpPr>
          <p:cNvPr id="157" name="Line 20"/>
          <p:cNvSpPr>
            <a:spLocks noChangeShapeType="1"/>
          </p:cNvSpPr>
          <p:nvPr/>
        </p:nvSpPr>
        <p:spPr bwMode="auto">
          <a:xfrm>
            <a:off x="6238875" y="5353050"/>
            <a:ext cx="635" cy="7054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8" name="Rectangle 22"/>
          <p:cNvSpPr>
            <a:spLocks noChangeArrowheads="1"/>
          </p:cNvSpPr>
          <p:nvPr/>
        </p:nvSpPr>
        <p:spPr bwMode="auto">
          <a:xfrm>
            <a:off x="6239510" y="5556250"/>
            <a:ext cx="95313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9" name="组合 158"/>
          <p:cNvGrpSpPr/>
          <p:nvPr/>
        </p:nvGrpSpPr>
        <p:grpSpPr>
          <a:xfrm>
            <a:off x="7597140" y="5026660"/>
            <a:ext cx="1328420" cy="370205"/>
            <a:chOff x="10936" y="3083"/>
            <a:chExt cx="2092" cy="583"/>
          </a:xfrm>
        </p:grpSpPr>
        <p:sp>
          <p:nvSpPr>
            <p:cNvPr id="160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1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1521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28.2743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593965" y="6071870"/>
            <a:ext cx="1383665" cy="369570"/>
            <a:chOff x="10936" y="3083"/>
            <a:chExt cx="1471" cy="582"/>
          </a:xfrm>
        </p:grpSpPr>
        <p:sp>
          <p:nvSpPr>
            <p:cNvPr id="163" name="Rectangle 17"/>
            <p:cNvSpPr>
              <a:spLocks noChangeArrowheads="1"/>
            </p:cNvSpPr>
            <p:nvPr/>
          </p:nvSpPr>
          <p:spPr bwMode="auto">
            <a:xfrm>
              <a:off x="10936" y="3083"/>
              <a:ext cx="571" cy="58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4" name="Rectangle 18"/>
            <p:cNvSpPr>
              <a:spLocks noChangeArrowheads="1"/>
            </p:cNvSpPr>
            <p:nvPr/>
          </p:nvSpPr>
          <p:spPr bwMode="auto">
            <a:xfrm>
              <a:off x="11507" y="3083"/>
              <a:ext cx="900" cy="58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28.2743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165" name="直接箭头连接符 164"/>
          <p:cNvCxnSpPr/>
          <p:nvPr/>
        </p:nvCxnSpPr>
        <p:spPr>
          <a:xfrm flipV="1">
            <a:off x="8210550" y="5434330"/>
            <a:ext cx="0" cy="6140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9" name="Rectangle 22"/>
          <p:cNvSpPr>
            <a:spLocks noChangeArrowheads="1"/>
          </p:cNvSpPr>
          <p:nvPr/>
        </p:nvSpPr>
        <p:spPr bwMode="auto">
          <a:xfrm>
            <a:off x="8077835" y="5608320"/>
            <a:ext cx="95313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返回值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495300" y="96710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 = PI*R*R;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495300" y="319976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*L = 2*PI*R;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495300" y="539686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return S;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9030970" y="2829560"/>
            <a:ext cx="310515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/>
                </a:solidFill>
              </a:rPr>
              <a:t>分析：</a:t>
            </a:r>
            <a:endParaRPr lang="zh-CN" altLang="en-US" b="1">
              <a:solidFill>
                <a:schemeClr val="accent2"/>
              </a:solidFill>
            </a:endParaRPr>
          </a:p>
          <a:p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周长的改变：通过将半径</a:t>
            </a:r>
            <a:r>
              <a:rPr lang="en-US" altLang="zh-CN" b="1">
                <a:solidFill>
                  <a:schemeClr val="accent2"/>
                </a:solidFill>
              </a:rPr>
              <a:t>r</a:t>
            </a:r>
            <a:r>
              <a:rPr lang="zh-CN" altLang="en-US" b="1">
                <a:solidFill>
                  <a:schemeClr val="accent2"/>
                </a:solidFill>
              </a:rPr>
              <a:t>的值传入</a:t>
            </a:r>
            <a:r>
              <a:rPr lang="en-US" altLang="zh-CN" b="1">
                <a:solidFill>
                  <a:schemeClr val="accent2"/>
                </a:solidFill>
              </a:rPr>
              <a:t>SL</a:t>
            </a:r>
            <a:r>
              <a:rPr lang="zh-CN" altLang="en-US" b="1">
                <a:solidFill>
                  <a:schemeClr val="accent2"/>
                </a:solidFill>
              </a:rPr>
              <a:t>函数变量</a:t>
            </a:r>
            <a:r>
              <a:rPr lang="en-US" altLang="zh-CN" b="1">
                <a:solidFill>
                  <a:schemeClr val="accent2"/>
                </a:solidFill>
              </a:rPr>
              <a:t>R</a:t>
            </a:r>
            <a:r>
              <a:rPr lang="zh-CN" altLang="en-US" b="1">
                <a:solidFill>
                  <a:schemeClr val="accent2"/>
                </a:solidFill>
              </a:rPr>
              <a:t>，计算出周长，通过函数</a:t>
            </a:r>
            <a:r>
              <a:rPr lang="en-US" altLang="zh-CN" b="1">
                <a:solidFill>
                  <a:schemeClr val="accent2"/>
                </a:solidFill>
              </a:rPr>
              <a:t>SL</a:t>
            </a:r>
            <a:r>
              <a:rPr lang="zh-CN" altLang="en-US" b="1">
                <a:solidFill>
                  <a:schemeClr val="accent2"/>
                </a:solidFill>
              </a:rPr>
              <a:t>中的指针变量形参</a:t>
            </a:r>
            <a:r>
              <a:rPr lang="en-US" altLang="zh-CN" b="1">
                <a:solidFill>
                  <a:schemeClr val="accent2"/>
                </a:solidFill>
              </a:rPr>
              <a:t>L</a:t>
            </a:r>
            <a:r>
              <a:rPr lang="zh-CN" altLang="en-US" b="1">
                <a:solidFill>
                  <a:schemeClr val="accent2"/>
                </a:solidFill>
              </a:rPr>
              <a:t>访问变量</a:t>
            </a:r>
            <a:r>
              <a:rPr lang="en-US" altLang="zh-CN" b="1">
                <a:solidFill>
                  <a:schemeClr val="accent2"/>
                </a:solidFill>
              </a:rPr>
              <a:t>l</a:t>
            </a:r>
            <a:r>
              <a:rPr lang="zh-CN" altLang="en-US" b="1">
                <a:solidFill>
                  <a:schemeClr val="accent2"/>
                </a:solidFill>
              </a:rPr>
              <a:t>的地址并修改其值为周长。</a:t>
            </a:r>
            <a:endParaRPr lang="zh-CN" altLang="en-US" b="1">
              <a:solidFill>
                <a:schemeClr val="accent2"/>
              </a:solidFill>
            </a:endParaRPr>
          </a:p>
          <a:p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面积的改变：</a:t>
            </a:r>
            <a:r>
              <a:rPr lang="zh-CN" altLang="en-US" b="1">
                <a:solidFill>
                  <a:schemeClr val="accent2"/>
                </a:solidFill>
                <a:sym typeface="+mn-ea"/>
              </a:rPr>
              <a:t>通过将半径</a:t>
            </a:r>
            <a:r>
              <a:rPr lang="en-US" altLang="zh-CN" b="1">
                <a:solidFill>
                  <a:schemeClr val="accent2"/>
                </a:solidFill>
                <a:sym typeface="+mn-ea"/>
              </a:rPr>
              <a:t>r</a:t>
            </a:r>
            <a:r>
              <a:rPr lang="zh-CN" altLang="en-US" b="1">
                <a:solidFill>
                  <a:schemeClr val="accent2"/>
                </a:solidFill>
                <a:sym typeface="+mn-ea"/>
              </a:rPr>
              <a:t>的值传入</a:t>
            </a:r>
            <a:r>
              <a:rPr lang="en-US" altLang="zh-CN" b="1">
                <a:solidFill>
                  <a:schemeClr val="accent2"/>
                </a:solidFill>
                <a:sym typeface="+mn-ea"/>
              </a:rPr>
              <a:t>SL</a:t>
            </a:r>
            <a:r>
              <a:rPr lang="zh-CN" altLang="en-US" b="1">
                <a:solidFill>
                  <a:schemeClr val="accent2"/>
                </a:solidFill>
                <a:sym typeface="+mn-ea"/>
              </a:rPr>
              <a:t>函数变量</a:t>
            </a:r>
            <a:r>
              <a:rPr lang="en-US" altLang="zh-CN" b="1">
                <a:solidFill>
                  <a:schemeClr val="accent2"/>
                </a:solidFill>
                <a:sym typeface="+mn-ea"/>
              </a:rPr>
              <a:t>R</a:t>
            </a:r>
            <a:r>
              <a:rPr lang="zh-CN" altLang="en-US" b="1">
                <a:solidFill>
                  <a:schemeClr val="accent2"/>
                </a:solidFill>
                <a:sym typeface="+mn-ea"/>
              </a:rPr>
              <a:t>，计算出面积并赋值给变量</a:t>
            </a:r>
            <a:r>
              <a:rPr lang="en-US" altLang="zh-CN" b="1">
                <a:solidFill>
                  <a:schemeClr val="accent2"/>
                </a:solidFill>
                <a:sym typeface="+mn-ea"/>
              </a:rPr>
              <a:t>S</a:t>
            </a:r>
            <a:r>
              <a:rPr lang="zh-CN" altLang="en-US" b="1">
                <a:solidFill>
                  <a:schemeClr val="accent2"/>
                </a:solidFill>
                <a:sym typeface="+mn-ea"/>
              </a:rPr>
              <a:t>，</a:t>
            </a:r>
            <a:r>
              <a:rPr lang="zh-CN" altLang="en-US" b="1">
                <a:solidFill>
                  <a:schemeClr val="accent2"/>
                </a:solidFill>
              </a:rPr>
              <a:t>将函数</a:t>
            </a:r>
            <a:r>
              <a:rPr lang="en-US" altLang="zh-CN" b="1">
                <a:solidFill>
                  <a:schemeClr val="accent2"/>
                </a:solidFill>
              </a:rPr>
              <a:t>SL</a:t>
            </a:r>
            <a:r>
              <a:rPr lang="zh-CN" altLang="en-US" b="1">
                <a:solidFill>
                  <a:schemeClr val="accent2"/>
                </a:solidFill>
              </a:rPr>
              <a:t>的返回值</a:t>
            </a:r>
            <a:r>
              <a:rPr lang="en-US" altLang="zh-CN" b="1">
                <a:solidFill>
                  <a:schemeClr val="accent2"/>
                </a:solidFill>
              </a:rPr>
              <a:t>S</a:t>
            </a:r>
            <a:r>
              <a:rPr lang="zh-CN" altLang="en-US" b="1">
                <a:solidFill>
                  <a:schemeClr val="accent2"/>
                </a:solidFill>
              </a:rPr>
              <a:t>赋值给变量</a:t>
            </a:r>
            <a:r>
              <a:rPr lang="en-US" altLang="zh-CN" b="1">
                <a:solidFill>
                  <a:schemeClr val="accent2"/>
                </a:solidFill>
              </a:rPr>
              <a:t>s</a:t>
            </a:r>
            <a:r>
              <a:rPr lang="zh-CN" altLang="en-US" b="1">
                <a:solidFill>
                  <a:schemeClr val="accent2"/>
                </a:solidFill>
              </a:rPr>
              <a:t>得到面积。</a:t>
            </a:r>
            <a:endParaRPr lang="zh-CN" altLang="en-US" b="1">
              <a:solidFill>
                <a:schemeClr val="accent2"/>
              </a:solidFill>
            </a:endParaRPr>
          </a:p>
        </p:txBody>
      </p:sp>
      <p:cxnSp>
        <p:nvCxnSpPr>
          <p:cNvPr id="73" name="直接连接符 72"/>
          <p:cNvCxnSpPr/>
          <p:nvPr/>
        </p:nvCxnSpPr>
        <p:spPr>
          <a:xfrm flipV="1">
            <a:off x="495300" y="2395855"/>
            <a:ext cx="8629650" cy="120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直接连接符 1"/>
          <p:cNvCxnSpPr>
            <a:endCxn id="203" idx="1"/>
          </p:cNvCxnSpPr>
          <p:nvPr/>
        </p:nvCxnSpPr>
        <p:spPr>
          <a:xfrm>
            <a:off x="495300" y="4627245"/>
            <a:ext cx="8535670" cy="488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816152"/>
            <a:chOff x="1703388" y="2852936"/>
            <a:chExt cx="8856662" cy="3816152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2852936"/>
              <a:ext cx="8856662" cy="3816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t = 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x = 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y = 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" name="Group 3"/>
            <p:cNvGrpSpPr/>
            <p:nvPr/>
          </p:nvGrpSpPr>
          <p:grpSpPr bwMode="auto">
            <a:xfrm>
              <a:off x="6744073" y="2998441"/>
              <a:ext cx="3684811" cy="2292651"/>
              <a:chOff x="2016" y="816"/>
              <a:chExt cx="3312" cy="1784"/>
            </a:xfrm>
          </p:grpSpPr>
          <p:grpSp>
            <p:nvGrpSpPr>
              <p:cNvPr id="5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6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22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" name="Group 12"/>
              <p:cNvGrpSpPr/>
              <p:nvPr/>
            </p:nvGrpSpPr>
            <p:grpSpPr bwMode="auto">
              <a:xfrm>
                <a:off x="2016" y="1655"/>
                <a:ext cx="1440" cy="384"/>
                <a:chOff x="2016" y="695"/>
                <a:chExt cx="1440" cy="384"/>
              </a:xfrm>
            </p:grpSpPr>
            <p:sp>
              <p:nvSpPr>
                <p:cNvPr id="19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695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695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695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" name="Group 16"/>
              <p:cNvGrpSpPr/>
              <p:nvPr/>
            </p:nvGrpSpPr>
            <p:grpSpPr bwMode="auto">
              <a:xfrm>
                <a:off x="3888" y="1664"/>
                <a:ext cx="1440" cy="384"/>
                <a:chOff x="2016" y="704"/>
                <a:chExt cx="1440" cy="384"/>
              </a:xfrm>
            </p:grpSpPr>
            <p:sp>
              <p:nvSpPr>
                <p:cNvPr id="16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70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70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70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" name="Line 20"/>
              <p:cNvSpPr>
                <a:spLocks noChangeShapeType="1"/>
              </p:cNvSpPr>
              <p:nvPr/>
            </p:nvSpPr>
            <p:spPr bwMode="auto">
              <a:xfrm flipH="1">
                <a:off x="264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auto">
              <a:xfrm>
                <a:off x="3264" y="1296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2" name="Group 23"/>
              <p:cNvGrpSpPr/>
              <p:nvPr/>
            </p:nvGrpSpPr>
            <p:grpSpPr bwMode="auto">
              <a:xfrm>
                <a:off x="3024" y="2216"/>
                <a:ext cx="1440" cy="384"/>
                <a:chOff x="2016" y="584"/>
                <a:chExt cx="1440" cy="384"/>
              </a:xfrm>
            </p:grpSpPr>
            <p:sp>
              <p:nvSpPr>
                <p:cNvPr id="13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58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58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?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58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8" name="矩形 27"/>
            <p:cNvSpPr/>
            <p:nvPr/>
          </p:nvSpPr>
          <p:spPr bwMode="auto">
            <a:xfrm>
              <a:off x="8041102" y="5589240"/>
              <a:ext cx="2518948" cy="107984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初始内存分配如图所示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请自行画出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执行时内存的变化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理解为什么无法交换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2135560" y="3573016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>
              <a:stCxn id="28" idx="1"/>
              <a:endCxn id="29" idx="3"/>
            </p:cNvCxnSpPr>
            <p:nvPr/>
          </p:nvCxnSpPr>
          <p:spPr bwMode="auto">
            <a:xfrm flipH="1" flipV="1">
              <a:off x="3143672" y="3943266"/>
              <a:ext cx="4897430" cy="21858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2762292" y="54749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3052671" y="54749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3860392" y="54749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Line 20"/>
          <p:cNvSpPr>
            <a:spLocks noChangeShapeType="1"/>
          </p:cNvSpPr>
          <p:nvPr/>
        </p:nvSpPr>
        <p:spPr bwMode="auto">
          <a:xfrm flipH="1">
            <a:off x="3456532" y="1040978"/>
            <a:ext cx="0" cy="5962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2762292" y="1625707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3052671" y="1625707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3860392" y="1625707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22"/>
          <p:cNvSpPr>
            <a:spLocks noChangeArrowheads="1"/>
          </p:cNvSpPr>
          <p:nvPr/>
        </p:nvSpPr>
        <p:spPr bwMode="auto">
          <a:xfrm>
            <a:off x="3456082" y="1117360"/>
            <a:ext cx="854449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4845011" y="54749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5135390" y="54749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5943112" y="54749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Line 21"/>
          <p:cNvSpPr>
            <a:spLocks noChangeShapeType="1"/>
          </p:cNvSpPr>
          <p:nvPr/>
        </p:nvSpPr>
        <p:spPr bwMode="auto">
          <a:xfrm>
            <a:off x="5592654" y="1040978"/>
            <a:ext cx="0" cy="5962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640482" y="1117360"/>
            <a:ext cx="854449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45011" y="163727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35390" y="163727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943112" y="163727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7034572" y="1117707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7324951" y="1117707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8132672" y="1117707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618490" y="331851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 = y;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2300" y="109410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 = x;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8490" y="541845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y = t;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762292" y="2783328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3052671" y="2783328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3860392" y="2783328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 flipH="1">
            <a:off x="3456532" y="3276813"/>
            <a:ext cx="0" cy="5962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2762292" y="3861542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3052671" y="3861542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Rectangle 15"/>
          <p:cNvSpPr>
            <a:spLocks noChangeArrowheads="1"/>
          </p:cNvSpPr>
          <p:nvPr/>
        </p:nvSpPr>
        <p:spPr bwMode="auto">
          <a:xfrm>
            <a:off x="3860392" y="3861542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3456082" y="3353195"/>
            <a:ext cx="854449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4845011" y="2783328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5135390" y="2783328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Rectangle 11"/>
          <p:cNvSpPr>
            <a:spLocks noChangeArrowheads="1"/>
          </p:cNvSpPr>
          <p:nvPr/>
        </p:nvSpPr>
        <p:spPr bwMode="auto">
          <a:xfrm>
            <a:off x="5943112" y="2783328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Line 21"/>
          <p:cNvSpPr>
            <a:spLocks noChangeShapeType="1"/>
          </p:cNvSpPr>
          <p:nvPr/>
        </p:nvSpPr>
        <p:spPr bwMode="auto">
          <a:xfrm>
            <a:off x="5592654" y="3276813"/>
            <a:ext cx="0" cy="5962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" name="Rectangle 22"/>
          <p:cNvSpPr>
            <a:spLocks noChangeArrowheads="1"/>
          </p:cNvSpPr>
          <p:nvPr/>
        </p:nvSpPr>
        <p:spPr bwMode="auto">
          <a:xfrm>
            <a:off x="5640482" y="3353195"/>
            <a:ext cx="854449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Rectangle 17"/>
          <p:cNvSpPr>
            <a:spLocks noChangeArrowheads="1"/>
          </p:cNvSpPr>
          <p:nvPr/>
        </p:nvSpPr>
        <p:spPr bwMode="auto">
          <a:xfrm>
            <a:off x="4845011" y="3873108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Rectangle 18"/>
          <p:cNvSpPr>
            <a:spLocks noChangeArrowheads="1"/>
          </p:cNvSpPr>
          <p:nvPr/>
        </p:nvSpPr>
        <p:spPr bwMode="auto">
          <a:xfrm>
            <a:off x="5135390" y="3873108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Rectangle 19"/>
          <p:cNvSpPr>
            <a:spLocks noChangeArrowheads="1"/>
          </p:cNvSpPr>
          <p:nvPr/>
        </p:nvSpPr>
        <p:spPr bwMode="auto">
          <a:xfrm>
            <a:off x="5943112" y="3873108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Rectangle 13"/>
          <p:cNvSpPr>
            <a:spLocks noChangeArrowheads="1"/>
          </p:cNvSpPr>
          <p:nvPr/>
        </p:nvSpPr>
        <p:spPr bwMode="auto">
          <a:xfrm>
            <a:off x="7034572" y="3353542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7324951" y="3353542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Rectangle 15"/>
          <p:cNvSpPr>
            <a:spLocks noChangeArrowheads="1"/>
          </p:cNvSpPr>
          <p:nvPr/>
        </p:nvSpPr>
        <p:spPr bwMode="auto">
          <a:xfrm>
            <a:off x="8132672" y="3353542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2762292" y="278269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3052671" y="278269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3860392" y="278269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 flipH="1">
            <a:off x="3456532" y="3276178"/>
            <a:ext cx="0" cy="5962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2762292" y="3860907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3052671" y="3860907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Rectangle 15"/>
          <p:cNvSpPr>
            <a:spLocks noChangeArrowheads="1"/>
          </p:cNvSpPr>
          <p:nvPr/>
        </p:nvSpPr>
        <p:spPr bwMode="auto">
          <a:xfrm>
            <a:off x="3860392" y="3860907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Rectangle 22"/>
          <p:cNvSpPr>
            <a:spLocks noChangeArrowheads="1"/>
          </p:cNvSpPr>
          <p:nvPr/>
        </p:nvSpPr>
        <p:spPr bwMode="auto">
          <a:xfrm>
            <a:off x="3456082" y="3352560"/>
            <a:ext cx="854449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4845011" y="278269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Rectangle 10"/>
          <p:cNvSpPr>
            <a:spLocks noChangeArrowheads="1"/>
          </p:cNvSpPr>
          <p:nvPr/>
        </p:nvSpPr>
        <p:spPr bwMode="auto">
          <a:xfrm>
            <a:off x="5135390" y="278269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Rectangle 11"/>
          <p:cNvSpPr>
            <a:spLocks noChangeArrowheads="1"/>
          </p:cNvSpPr>
          <p:nvPr/>
        </p:nvSpPr>
        <p:spPr bwMode="auto">
          <a:xfrm>
            <a:off x="5943112" y="278269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Line 21"/>
          <p:cNvSpPr>
            <a:spLocks noChangeShapeType="1"/>
          </p:cNvSpPr>
          <p:nvPr/>
        </p:nvSpPr>
        <p:spPr bwMode="auto">
          <a:xfrm>
            <a:off x="5592654" y="3276178"/>
            <a:ext cx="0" cy="5962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" name="Rectangle 22"/>
          <p:cNvSpPr>
            <a:spLocks noChangeArrowheads="1"/>
          </p:cNvSpPr>
          <p:nvPr/>
        </p:nvSpPr>
        <p:spPr bwMode="auto">
          <a:xfrm>
            <a:off x="5640482" y="3352560"/>
            <a:ext cx="854449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Rectangle 17"/>
          <p:cNvSpPr>
            <a:spLocks noChangeArrowheads="1"/>
          </p:cNvSpPr>
          <p:nvPr/>
        </p:nvSpPr>
        <p:spPr bwMode="auto">
          <a:xfrm>
            <a:off x="4845011" y="387247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Rectangle 18"/>
          <p:cNvSpPr>
            <a:spLocks noChangeArrowheads="1"/>
          </p:cNvSpPr>
          <p:nvPr/>
        </p:nvSpPr>
        <p:spPr bwMode="auto">
          <a:xfrm>
            <a:off x="5135390" y="387247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Rectangle 19"/>
          <p:cNvSpPr>
            <a:spLocks noChangeArrowheads="1"/>
          </p:cNvSpPr>
          <p:nvPr/>
        </p:nvSpPr>
        <p:spPr bwMode="auto">
          <a:xfrm>
            <a:off x="5943112" y="387247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auto">
          <a:xfrm>
            <a:off x="7034572" y="3352907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Rectangle 14"/>
          <p:cNvSpPr>
            <a:spLocks noChangeArrowheads="1"/>
          </p:cNvSpPr>
          <p:nvPr/>
        </p:nvSpPr>
        <p:spPr bwMode="auto">
          <a:xfrm>
            <a:off x="7324951" y="3352907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Rectangle 15"/>
          <p:cNvSpPr>
            <a:spLocks noChangeArrowheads="1"/>
          </p:cNvSpPr>
          <p:nvPr/>
        </p:nvSpPr>
        <p:spPr bwMode="auto">
          <a:xfrm>
            <a:off x="8132672" y="3352907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auto">
          <a:xfrm>
            <a:off x="2762292" y="500519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Rectangle 6"/>
          <p:cNvSpPr>
            <a:spLocks noChangeArrowheads="1"/>
          </p:cNvSpPr>
          <p:nvPr/>
        </p:nvSpPr>
        <p:spPr bwMode="auto">
          <a:xfrm>
            <a:off x="3052671" y="500519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Rectangle 7"/>
          <p:cNvSpPr>
            <a:spLocks noChangeArrowheads="1"/>
          </p:cNvSpPr>
          <p:nvPr/>
        </p:nvSpPr>
        <p:spPr bwMode="auto">
          <a:xfrm>
            <a:off x="3860392" y="500519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Line 20"/>
          <p:cNvSpPr>
            <a:spLocks noChangeShapeType="1"/>
          </p:cNvSpPr>
          <p:nvPr/>
        </p:nvSpPr>
        <p:spPr bwMode="auto">
          <a:xfrm flipH="1">
            <a:off x="3456532" y="5498678"/>
            <a:ext cx="0" cy="5962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Rectangle 13"/>
          <p:cNvSpPr>
            <a:spLocks noChangeArrowheads="1"/>
          </p:cNvSpPr>
          <p:nvPr/>
        </p:nvSpPr>
        <p:spPr bwMode="auto">
          <a:xfrm>
            <a:off x="2762292" y="6083407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3052671" y="6083407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Rectangle 15"/>
          <p:cNvSpPr>
            <a:spLocks noChangeArrowheads="1"/>
          </p:cNvSpPr>
          <p:nvPr/>
        </p:nvSpPr>
        <p:spPr bwMode="auto">
          <a:xfrm>
            <a:off x="3860392" y="6083407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Rectangle 22"/>
          <p:cNvSpPr>
            <a:spLocks noChangeArrowheads="1"/>
          </p:cNvSpPr>
          <p:nvPr/>
        </p:nvSpPr>
        <p:spPr bwMode="auto">
          <a:xfrm>
            <a:off x="3456082" y="5575060"/>
            <a:ext cx="854449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Rectangle 9"/>
          <p:cNvSpPr>
            <a:spLocks noChangeArrowheads="1"/>
          </p:cNvSpPr>
          <p:nvPr/>
        </p:nvSpPr>
        <p:spPr bwMode="auto">
          <a:xfrm>
            <a:off x="4845011" y="500519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Rectangle 10"/>
          <p:cNvSpPr>
            <a:spLocks noChangeArrowheads="1"/>
          </p:cNvSpPr>
          <p:nvPr/>
        </p:nvSpPr>
        <p:spPr bwMode="auto">
          <a:xfrm>
            <a:off x="5135390" y="500519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" name="Rectangle 11"/>
          <p:cNvSpPr>
            <a:spLocks noChangeArrowheads="1"/>
          </p:cNvSpPr>
          <p:nvPr/>
        </p:nvSpPr>
        <p:spPr bwMode="auto">
          <a:xfrm>
            <a:off x="5943112" y="500519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4" name="Line 21"/>
          <p:cNvSpPr>
            <a:spLocks noChangeShapeType="1"/>
          </p:cNvSpPr>
          <p:nvPr/>
        </p:nvSpPr>
        <p:spPr bwMode="auto">
          <a:xfrm>
            <a:off x="5592654" y="5498678"/>
            <a:ext cx="0" cy="5962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" name="Rectangle 22"/>
          <p:cNvSpPr>
            <a:spLocks noChangeArrowheads="1"/>
          </p:cNvSpPr>
          <p:nvPr/>
        </p:nvSpPr>
        <p:spPr bwMode="auto">
          <a:xfrm>
            <a:off x="5640482" y="5575060"/>
            <a:ext cx="854449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单向传值</a:t>
            </a:r>
            <a:endParaRPr kumimoji="1" lang="zh-CN" altLang="en-US" sz="16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" name="Rectangle 17"/>
          <p:cNvSpPr>
            <a:spLocks noChangeArrowheads="1"/>
          </p:cNvSpPr>
          <p:nvPr/>
        </p:nvSpPr>
        <p:spPr bwMode="auto">
          <a:xfrm>
            <a:off x="4845011" y="609497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7" name="Rectangle 18"/>
          <p:cNvSpPr>
            <a:spLocks noChangeArrowheads="1"/>
          </p:cNvSpPr>
          <p:nvPr/>
        </p:nvSpPr>
        <p:spPr bwMode="auto">
          <a:xfrm>
            <a:off x="5135390" y="609497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Rectangle 19"/>
          <p:cNvSpPr>
            <a:spLocks noChangeArrowheads="1"/>
          </p:cNvSpPr>
          <p:nvPr/>
        </p:nvSpPr>
        <p:spPr bwMode="auto">
          <a:xfrm>
            <a:off x="5943112" y="609497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9" name="Rectangle 13"/>
          <p:cNvSpPr>
            <a:spLocks noChangeArrowheads="1"/>
          </p:cNvSpPr>
          <p:nvPr/>
        </p:nvSpPr>
        <p:spPr bwMode="auto">
          <a:xfrm>
            <a:off x="7034572" y="5575407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>
            <a:off x="7324951" y="5575407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" name="Rectangle 15"/>
          <p:cNvSpPr>
            <a:spLocks noChangeArrowheads="1"/>
          </p:cNvSpPr>
          <p:nvPr/>
        </p:nvSpPr>
        <p:spPr bwMode="auto">
          <a:xfrm>
            <a:off x="8132672" y="5575407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8636635" y="3429000"/>
            <a:ext cx="34150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2"/>
                </a:solidFill>
              </a:rPr>
              <a:t>分析：</a:t>
            </a:r>
            <a:endParaRPr lang="zh-CN" altLang="en-US" b="1">
              <a:solidFill>
                <a:schemeClr val="accent2"/>
              </a:solidFill>
            </a:endParaRPr>
          </a:p>
          <a:p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虽然</a:t>
            </a:r>
            <a:r>
              <a:rPr lang="en-US" altLang="zh-CN" b="1">
                <a:solidFill>
                  <a:schemeClr val="accent2"/>
                </a:solidFill>
              </a:rPr>
              <a:t>x</a:t>
            </a:r>
            <a:r>
              <a:rPr lang="zh-CN" altLang="en-US" b="1">
                <a:solidFill>
                  <a:schemeClr val="accent2"/>
                </a:solidFill>
              </a:rPr>
              <a:t>和</a:t>
            </a:r>
            <a:r>
              <a:rPr lang="en-US" altLang="zh-CN" b="1">
                <a:solidFill>
                  <a:schemeClr val="accent2"/>
                </a:solidFill>
              </a:rPr>
              <a:t>y</a:t>
            </a:r>
            <a:r>
              <a:rPr lang="zh-CN" altLang="en-US" b="1">
                <a:solidFill>
                  <a:schemeClr val="accent2"/>
                </a:solidFill>
              </a:rPr>
              <a:t>是指向</a:t>
            </a:r>
            <a:r>
              <a:rPr lang="en-US" altLang="zh-CN" b="1">
                <a:solidFill>
                  <a:schemeClr val="accent2"/>
                </a:solidFill>
              </a:rPr>
              <a:t>i</a:t>
            </a:r>
            <a:r>
              <a:rPr lang="zh-CN" altLang="en-US" b="1">
                <a:solidFill>
                  <a:schemeClr val="accent2"/>
                </a:solidFill>
              </a:rPr>
              <a:t>和</a:t>
            </a:r>
            <a:r>
              <a:rPr lang="en-US" altLang="zh-CN" b="1">
                <a:solidFill>
                  <a:schemeClr val="accent2"/>
                </a:solidFill>
              </a:rPr>
              <a:t>j</a:t>
            </a:r>
            <a:r>
              <a:rPr lang="zh-CN" altLang="en-US" b="1">
                <a:solidFill>
                  <a:schemeClr val="accent2"/>
                </a:solidFill>
              </a:rPr>
              <a:t>的指针变量，</a:t>
            </a:r>
            <a:endParaRPr lang="zh-CN" altLang="en-US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但是本题并没有通过指针访问</a:t>
            </a:r>
            <a:r>
              <a:rPr lang="en-US" altLang="zh-CN" b="1">
                <a:solidFill>
                  <a:schemeClr val="accent2"/>
                </a:solidFill>
              </a:rPr>
              <a:t>i</a:t>
            </a:r>
            <a:endParaRPr lang="en-US" altLang="zh-CN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和</a:t>
            </a:r>
            <a:r>
              <a:rPr lang="en-US" altLang="zh-CN" b="1">
                <a:solidFill>
                  <a:schemeClr val="accent2"/>
                </a:solidFill>
              </a:rPr>
              <a:t>j</a:t>
            </a:r>
            <a:r>
              <a:rPr lang="zh-CN" altLang="en-US" b="1">
                <a:solidFill>
                  <a:schemeClr val="accent2"/>
                </a:solidFill>
              </a:rPr>
              <a:t>的地址，而是直接交换</a:t>
            </a:r>
            <a:r>
              <a:rPr lang="en-US" altLang="zh-CN" b="1">
                <a:solidFill>
                  <a:schemeClr val="accent2"/>
                </a:solidFill>
              </a:rPr>
              <a:t>x</a:t>
            </a:r>
            <a:r>
              <a:rPr lang="zh-CN" altLang="en-US" b="1">
                <a:solidFill>
                  <a:schemeClr val="accent2"/>
                </a:solidFill>
              </a:rPr>
              <a:t>和</a:t>
            </a:r>
            <a:r>
              <a:rPr lang="en-US" altLang="zh-CN" b="1">
                <a:solidFill>
                  <a:schemeClr val="accent2"/>
                </a:solidFill>
              </a:rPr>
              <a:t>y</a:t>
            </a:r>
            <a:endParaRPr lang="en-US" altLang="zh-CN" b="1">
              <a:solidFill>
                <a:schemeClr val="accent2"/>
              </a:solidFill>
            </a:endParaRPr>
          </a:p>
          <a:p>
            <a:r>
              <a:rPr lang="zh-CN" altLang="en-US" b="1">
                <a:solidFill>
                  <a:schemeClr val="accent2"/>
                </a:solidFill>
              </a:rPr>
              <a:t>的值，这实际上是交换了</a:t>
            </a:r>
            <a:r>
              <a:rPr lang="en-US" altLang="zh-CN" b="1">
                <a:solidFill>
                  <a:schemeClr val="accent2"/>
                </a:solidFill>
              </a:rPr>
              <a:t>x</a:t>
            </a:r>
            <a:r>
              <a:rPr lang="zh-CN" altLang="en-US" b="1">
                <a:solidFill>
                  <a:schemeClr val="accent2"/>
                </a:solidFill>
              </a:rPr>
              <a:t>和</a:t>
            </a:r>
            <a:r>
              <a:rPr lang="en-US" altLang="zh-CN" b="1">
                <a:solidFill>
                  <a:schemeClr val="accent2"/>
                </a:solidFill>
              </a:rPr>
              <a:t>y</a:t>
            </a:r>
            <a:r>
              <a:rPr lang="zh-CN" altLang="en-US" b="1">
                <a:solidFill>
                  <a:schemeClr val="accent2"/>
                </a:solidFill>
              </a:rPr>
              <a:t>指向的地址，而对</a:t>
            </a:r>
            <a:r>
              <a:rPr lang="en-US" altLang="zh-CN" b="1">
                <a:solidFill>
                  <a:schemeClr val="accent2"/>
                </a:solidFill>
              </a:rPr>
              <a:t>i</a:t>
            </a:r>
            <a:r>
              <a:rPr lang="zh-CN" altLang="en-US" b="1">
                <a:solidFill>
                  <a:schemeClr val="accent2"/>
                </a:solidFill>
              </a:rPr>
              <a:t>和</a:t>
            </a:r>
            <a:r>
              <a:rPr lang="en-US" altLang="zh-CN" b="1">
                <a:solidFill>
                  <a:schemeClr val="accent2"/>
                </a:solidFill>
              </a:rPr>
              <a:t>j</a:t>
            </a:r>
            <a:r>
              <a:rPr lang="zh-CN" altLang="en-US" b="1">
                <a:solidFill>
                  <a:schemeClr val="accent2"/>
                </a:solidFill>
              </a:rPr>
              <a:t>的值没有影响，因此没有交换</a:t>
            </a:r>
            <a:r>
              <a:rPr lang="en-US" altLang="zh-CN" b="1">
                <a:solidFill>
                  <a:schemeClr val="accent2"/>
                </a:solidFill>
              </a:rPr>
              <a:t>i</a:t>
            </a:r>
            <a:r>
              <a:rPr lang="zh-CN" altLang="en-US" b="1">
                <a:solidFill>
                  <a:schemeClr val="accent2"/>
                </a:solidFill>
              </a:rPr>
              <a:t>和</a:t>
            </a:r>
            <a:r>
              <a:rPr lang="en-US" altLang="zh-CN" b="1">
                <a:solidFill>
                  <a:schemeClr val="accent2"/>
                </a:solidFill>
              </a:rPr>
              <a:t>j</a:t>
            </a:r>
            <a:r>
              <a:rPr lang="zh-CN" altLang="en-US" b="1">
                <a:solidFill>
                  <a:schemeClr val="accent2"/>
                </a:solidFill>
              </a:rPr>
              <a:t>的值。</a:t>
            </a:r>
            <a:endParaRPr lang="zh-CN" altLang="en-US" b="1">
              <a:solidFill>
                <a:schemeClr val="accent2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413385" y="2475865"/>
            <a:ext cx="8284845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直接连接符 2"/>
          <p:cNvCxnSpPr/>
          <p:nvPr/>
        </p:nvCxnSpPr>
        <p:spPr>
          <a:xfrm flipV="1">
            <a:off x="413385" y="4658360"/>
            <a:ext cx="8198485" cy="247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932" y="1017938"/>
            <a:ext cx="8856662" cy="3600128"/>
            <a:chOff x="1703388" y="3068960"/>
            <a:chExt cx="8856662" cy="3600128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3068960"/>
              <a:ext cx="8856662" cy="36001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*y)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*t = *x;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*x = *y;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*y = *t;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main()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{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=10, j=15;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=10 j=15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,&amp;j);</a:t>
              </a:r>
              <a:endPara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=15 j=10</a:t>
              </a:r>
              <a:endPara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}                                          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或 死机或其它非正常现象</a:t>
              </a:r>
              <a:endPara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175316" y="3683362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>
              <a:stCxn id="58" idx="1"/>
              <a:endCxn id="28" idx="3"/>
            </p:cNvCxnSpPr>
            <p:nvPr/>
          </p:nvCxnSpPr>
          <p:spPr bwMode="auto">
            <a:xfrm flipH="1" flipV="1">
              <a:off x="3183428" y="4053611"/>
              <a:ext cx="320284" cy="36772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0" name="Group 3"/>
            <p:cNvGrpSpPr/>
            <p:nvPr/>
          </p:nvGrpSpPr>
          <p:grpSpPr bwMode="auto">
            <a:xfrm>
              <a:off x="6574405" y="3141264"/>
              <a:ext cx="3908896" cy="1977752"/>
              <a:chOff x="2016" y="816"/>
              <a:chExt cx="3312" cy="1728"/>
            </a:xfrm>
          </p:grpSpPr>
          <p:grpSp>
            <p:nvGrpSpPr>
              <p:cNvPr id="31" name="Group 4"/>
              <p:cNvGrpSpPr/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54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i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2" name="Group 8"/>
              <p:cNvGrpSpPr/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51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j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15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3" name="Group 12"/>
              <p:cNvGrpSpPr/>
              <p:nvPr/>
            </p:nvGrpSpPr>
            <p:grpSpPr bwMode="auto">
              <a:xfrm>
                <a:off x="2016" y="1536"/>
                <a:ext cx="1440" cy="384"/>
                <a:chOff x="2016" y="816"/>
                <a:chExt cx="1440" cy="384"/>
              </a:xfrm>
            </p:grpSpPr>
            <p:sp>
              <p:nvSpPr>
                <p:cNvPr id="48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x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4" name="Group 16"/>
              <p:cNvGrpSpPr/>
              <p:nvPr/>
            </p:nvGrpSpPr>
            <p:grpSpPr bwMode="auto">
              <a:xfrm>
                <a:off x="3888" y="1536"/>
                <a:ext cx="1440" cy="384"/>
                <a:chOff x="2016" y="816"/>
                <a:chExt cx="1440" cy="384"/>
              </a:xfrm>
            </p:grpSpPr>
            <p:sp>
              <p:nvSpPr>
                <p:cNvPr id="45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y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3103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264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3264" y="1200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单向传值</a:t>
                </a:r>
                <a:endParaRPr kumimoji="1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38" name="Group 23"/>
              <p:cNvGrpSpPr/>
              <p:nvPr/>
            </p:nvGrpSpPr>
            <p:grpSpPr bwMode="auto">
              <a:xfrm>
                <a:off x="2016" y="2160"/>
                <a:ext cx="1440" cy="384"/>
                <a:chOff x="2016" y="816"/>
                <a:chExt cx="1440" cy="384"/>
              </a:xfrm>
            </p:grpSpPr>
            <p:sp>
              <p:nvSpPr>
                <p:cNvPr id="42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t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(</a:t>
                  </a:r>
                  <a:r>
                    <a:rPr kumimoji="1" lang="zh-CN" altLang="en-US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假设</a:t>
                  </a: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5000)</a:t>
                  </a:r>
                  <a:endParaRPr kumimoji="1" lang="en-US" altLang="zh-CN" sz="12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4000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4003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9" name="Group 27"/>
              <p:cNvGrpSpPr/>
              <p:nvPr/>
            </p:nvGrpSpPr>
            <p:grpSpPr bwMode="auto">
              <a:xfrm>
                <a:off x="4128" y="2160"/>
                <a:ext cx="1179" cy="384"/>
                <a:chOff x="4341" y="2448"/>
                <a:chExt cx="1179" cy="384"/>
              </a:xfrm>
            </p:grpSpPr>
            <p:sp>
              <p:nvSpPr>
                <p:cNvPr id="40" name="Rectangle 28"/>
                <p:cNvSpPr>
                  <a:spLocks noChangeArrowheads="1"/>
                </p:cNvSpPr>
                <p:nvPr/>
              </p:nvSpPr>
              <p:spPr bwMode="auto">
                <a:xfrm>
                  <a:off x="4341" y="2448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?</a:t>
                  </a:r>
                  <a:endParaRPr kumimoji="1" lang="en-US" altLang="zh-CN" sz="16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Rectangle 29"/>
                <p:cNvSpPr>
                  <a:spLocks noChangeArrowheads="1"/>
                </p:cNvSpPr>
                <p:nvPr/>
              </p:nvSpPr>
              <p:spPr bwMode="auto">
                <a:xfrm>
                  <a:off x="5067" y="2448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5000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5003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7873714" y="5378158"/>
              <a:ext cx="2614899" cy="5711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提示：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5000-5003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系统</a:t>
              </a:r>
              <a:endPara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是否分配给了程序？</a:t>
              </a:r>
              <a:endParaRPr kumimoji="1" lang="zh-CN" altLang="en-US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3503712" y="3464516"/>
              <a:ext cx="2952328" cy="1913642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VS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编译报错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-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使用了未初始化的局部变量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其它编译器可能可以运行</a:t>
              </a:r>
              <a:endParaRPr kumimoji="1" lang="en-US" altLang="zh-CN" sz="12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初始内存分配如图所示，请自行画出</a:t>
              </a:r>
              <a:r>
                <a:rPr kumimoji="1" lang="en-US" altLang="zh-CN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swap</a:t>
              </a:r>
              <a:r>
                <a:rPr kumimoji="1" lang="zh-CN" altLang="en-US" sz="1200" b="1" dirty="0">
                  <a:solidFill>
                    <a:srgbClr val="3333CC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中三句话执行时内存的变化，理解为什么出现严重错误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：哪句是错误的关键？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*t 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改为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 *t;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            t = &amp;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;</a:t>
              </a:r>
              <a:endPara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为什么就正确了？</a:t>
              </a:r>
              <a:endPara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>
              <a:stCxn id="57" idx="0"/>
            </p:cNvCxnSpPr>
            <p:nvPr/>
          </p:nvCxnSpPr>
          <p:spPr bwMode="auto">
            <a:xfrm flipV="1">
              <a:off x="9181164" y="5133732"/>
              <a:ext cx="83189" cy="2444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94324" y="147902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02362" y="147902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59203" y="147902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Line 20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230783" y="587402"/>
            <a:ext cx="0" cy="384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Rectangle 1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494324" y="97196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Rectangle 1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802362" y="97196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Rectangle 1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659203" y="97196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Rectangle 24"/>
          <p:cNvSpPr>
            <a:spLocks noChangeArrowheads="1"/>
          </p:cNvSpPr>
          <p:nvPr/>
        </p:nvSpPr>
        <p:spPr bwMode="auto">
          <a:xfrm>
            <a:off x="3494324" y="1636624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" name="Rectangle 25"/>
          <p:cNvSpPr>
            <a:spLocks noChangeArrowheads="1"/>
          </p:cNvSpPr>
          <p:nvPr/>
        </p:nvSpPr>
        <p:spPr bwMode="auto">
          <a:xfrm>
            <a:off x="3802362" y="163662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5000)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Rectangle 26"/>
          <p:cNvSpPr>
            <a:spLocks noChangeArrowheads="1"/>
          </p:cNvSpPr>
          <p:nvPr/>
        </p:nvSpPr>
        <p:spPr bwMode="auto">
          <a:xfrm>
            <a:off x="4659203" y="163662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Rectangl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03700" y="147902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Rectangle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011738" y="147902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" name="Rectangle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868579" y="147902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Rectangle 1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703700" y="97196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Rectangle 1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011738" y="97196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Rectangle 19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868579" y="97196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Rectangle 28"/>
          <p:cNvSpPr>
            <a:spLocks noChangeArrowheads="1"/>
          </p:cNvSpPr>
          <p:nvPr/>
        </p:nvSpPr>
        <p:spPr bwMode="auto">
          <a:xfrm>
            <a:off x="5986953" y="163662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6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Rectangle 29"/>
          <p:cNvSpPr>
            <a:spLocks noChangeArrowheads="1"/>
          </p:cNvSpPr>
          <p:nvPr/>
        </p:nvSpPr>
        <p:spPr bwMode="auto">
          <a:xfrm>
            <a:off x="6843795" y="163662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Rectangle 22"/>
          <p:cNvSpPr>
            <a:spLocks noChangeArrowheads="1"/>
          </p:cNvSpPr>
          <p:nvPr/>
        </p:nvSpPr>
        <p:spPr bwMode="auto">
          <a:xfrm>
            <a:off x="4287791" y="587402"/>
            <a:ext cx="906411" cy="38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22"/>
          <p:cNvSpPr>
            <a:spLocks noChangeArrowheads="1"/>
          </p:cNvSpPr>
          <p:nvPr/>
        </p:nvSpPr>
        <p:spPr bwMode="auto">
          <a:xfrm>
            <a:off x="6472826" y="587402"/>
            <a:ext cx="906411" cy="38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Line 20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439948" y="587402"/>
            <a:ext cx="0" cy="384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2300" y="109410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*t = *x;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2300" y="335978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*x = *y;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2300" y="583628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语句：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*y = *t;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Rectangle 5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493689" y="2455492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Rectangle 6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801727" y="2455492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kumimoji="1" lang="en-US" altLang="zh-CN" sz="16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7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658568" y="2455492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Line 20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4230148" y="2894992"/>
            <a:ext cx="0" cy="384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Rectangle 13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493689" y="327955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Rectangle 14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801727" y="327955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Rectangle 15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4658568" y="327955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3493689" y="3944214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3801727" y="394421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5000)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Rectangle 26"/>
          <p:cNvSpPr>
            <a:spLocks noChangeArrowheads="1"/>
          </p:cNvSpPr>
          <p:nvPr/>
        </p:nvSpPr>
        <p:spPr bwMode="auto">
          <a:xfrm>
            <a:off x="4658568" y="394421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Rectangle 9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703065" y="2455492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Rectangle 10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011103" y="2455492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867944" y="2455492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Rectangle 17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703065" y="327955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Rectangle 18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011103" y="327955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Rectangle 19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867944" y="327955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5986318" y="394421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6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Rectangle 29"/>
          <p:cNvSpPr>
            <a:spLocks noChangeArrowheads="1"/>
          </p:cNvSpPr>
          <p:nvPr/>
        </p:nvSpPr>
        <p:spPr bwMode="auto">
          <a:xfrm>
            <a:off x="6843160" y="394421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4287156" y="2894992"/>
            <a:ext cx="906411" cy="38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6472191" y="2894992"/>
            <a:ext cx="906411" cy="38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Line 20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6439313" y="2894992"/>
            <a:ext cx="0" cy="384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Rectangle 5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3493689" y="4829122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Rectangle 6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3801727" y="4829122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kumimoji="1" lang="en-US" altLang="zh-CN" sz="16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Rectangle 7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658568" y="4829122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Line 20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4230148" y="5268622"/>
            <a:ext cx="0" cy="384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Rectangle 13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3493689" y="565318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" name="Rectangle 14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3801727" y="565318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Rectangle 15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4658568" y="565318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" name="Rectangle 24"/>
          <p:cNvSpPr>
            <a:spLocks noChangeArrowheads="1"/>
          </p:cNvSpPr>
          <p:nvPr/>
        </p:nvSpPr>
        <p:spPr bwMode="auto">
          <a:xfrm>
            <a:off x="3493689" y="6317844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Rectangle 25"/>
          <p:cNvSpPr>
            <a:spLocks noChangeArrowheads="1"/>
          </p:cNvSpPr>
          <p:nvPr/>
        </p:nvSpPr>
        <p:spPr bwMode="auto">
          <a:xfrm>
            <a:off x="3801727" y="631784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5000)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Rectangle 26"/>
          <p:cNvSpPr>
            <a:spLocks noChangeArrowheads="1"/>
          </p:cNvSpPr>
          <p:nvPr/>
        </p:nvSpPr>
        <p:spPr bwMode="auto">
          <a:xfrm>
            <a:off x="4658568" y="631784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Rectangle 9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703065" y="4829122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Rectangle 10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6011103" y="4829122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6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Rectangle 11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867944" y="4829122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Rectangle 17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703065" y="565318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6" name="Rectangle 18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011103" y="565318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" name="Rectangle 19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6867944" y="565318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3100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3103</a:t>
            </a:r>
            <a:endParaRPr kumimoji="1" lang="en-US" altLang="zh-CN" sz="1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8" name="Rectangle 28"/>
          <p:cNvSpPr>
            <a:spLocks noChangeArrowheads="1"/>
          </p:cNvSpPr>
          <p:nvPr/>
        </p:nvSpPr>
        <p:spPr bwMode="auto">
          <a:xfrm>
            <a:off x="5986318" y="631784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kumimoji="1" lang="en-US" altLang="zh-CN" sz="16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Rectangle 29"/>
          <p:cNvSpPr>
            <a:spLocks noChangeArrowheads="1"/>
          </p:cNvSpPr>
          <p:nvPr/>
        </p:nvSpPr>
        <p:spPr bwMode="auto">
          <a:xfrm>
            <a:off x="6843160" y="631784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5000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5003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0" name="Rectangle 22"/>
          <p:cNvSpPr>
            <a:spLocks noChangeArrowheads="1"/>
          </p:cNvSpPr>
          <p:nvPr/>
        </p:nvSpPr>
        <p:spPr bwMode="auto">
          <a:xfrm>
            <a:off x="4287156" y="5268622"/>
            <a:ext cx="906411" cy="38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" name="Rectangle 22"/>
          <p:cNvSpPr>
            <a:spLocks noChangeArrowheads="1"/>
          </p:cNvSpPr>
          <p:nvPr/>
        </p:nvSpPr>
        <p:spPr bwMode="auto">
          <a:xfrm>
            <a:off x="6472191" y="5268622"/>
            <a:ext cx="906411" cy="38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单向传值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2" name="Line 20"/>
          <p:cNvSpPr>
            <a:spLocks noChangeShapeType="1"/>
          </p:cNvSpPr>
          <p:nvPr>
            <p:custDataLst>
              <p:tags r:id="rId42"/>
            </p:custDataLst>
          </p:nvPr>
        </p:nvSpPr>
        <p:spPr bwMode="auto">
          <a:xfrm>
            <a:off x="6439313" y="5268622"/>
            <a:ext cx="0" cy="384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 flipV="1">
            <a:off x="154305" y="2290445"/>
            <a:ext cx="7536180" cy="184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直接连接符 73"/>
          <p:cNvCxnSpPr/>
          <p:nvPr/>
        </p:nvCxnSpPr>
        <p:spPr>
          <a:xfrm flipV="1">
            <a:off x="154305" y="4580890"/>
            <a:ext cx="7536180" cy="184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文本框 202"/>
          <p:cNvSpPr txBox="1"/>
          <p:nvPr/>
        </p:nvSpPr>
        <p:spPr>
          <a:xfrm>
            <a:off x="7790815" y="1288415"/>
            <a:ext cx="4203700" cy="5569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accent2"/>
                </a:solidFill>
              </a:rPr>
              <a:t>分析：</a:t>
            </a:r>
            <a:endParaRPr lang="zh-CN" altLang="en-US" sz="1600" b="1">
              <a:solidFill>
                <a:schemeClr val="accent2"/>
              </a:solidFill>
            </a:endParaRPr>
          </a:p>
          <a:p>
            <a:endParaRPr lang="zh-CN" altLang="en-US" sz="1600" b="1">
              <a:solidFill>
                <a:schemeClr val="accent2"/>
              </a:solidFill>
            </a:endParaRPr>
          </a:p>
          <a:p>
            <a:r>
              <a:rPr lang="zh-CN" altLang="en-US" sz="1600" b="1">
                <a:solidFill>
                  <a:schemeClr val="accent2"/>
                </a:solidFill>
              </a:rPr>
              <a:t>本程序中，</a:t>
            </a:r>
            <a:r>
              <a:rPr lang="en-US" altLang="zh-CN" sz="1600" b="1">
                <a:solidFill>
                  <a:schemeClr val="accent2"/>
                </a:solidFill>
              </a:rPr>
              <a:t>swap</a:t>
            </a:r>
            <a:r>
              <a:rPr lang="zh-CN" altLang="en-US" sz="1600" b="1">
                <a:solidFill>
                  <a:schemeClr val="accent2"/>
                </a:solidFill>
              </a:rPr>
              <a:t>函数中直接定义了一个指正变量</a:t>
            </a:r>
            <a:r>
              <a:rPr lang="en-US" altLang="zh-CN" sz="1600" b="1">
                <a:solidFill>
                  <a:schemeClr val="accent2"/>
                </a:solidFill>
              </a:rPr>
              <a:t>t</a:t>
            </a:r>
            <a:r>
              <a:rPr lang="zh-CN" altLang="en-US" sz="1600" b="1">
                <a:solidFill>
                  <a:schemeClr val="accent2"/>
                </a:solidFill>
              </a:rPr>
              <a:t>，而并没有对</a:t>
            </a:r>
            <a:r>
              <a:rPr lang="en-US" altLang="zh-CN" sz="1600" b="1">
                <a:solidFill>
                  <a:schemeClr val="accent2"/>
                </a:solidFill>
              </a:rPr>
              <a:t>t</a:t>
            </a:r>
            <a:r>
              <a:rPr lang="zh-CN" altLang="en-US" sz="1600" b="1">
                <a:solidFill>
                  <a:schemeClr val="accent2"/>
                </a:solidFill>
              </a:rPr>
              <a:t>初始化，这时</a:t>
            </a:r>
            <a:r>
              <a:rPr lang="en-US" altLang="zh-CN" sz="1600" b="1">
                <a:solidFill>
                  <a:schemeClr val="accent2"/>
                </a:solidFill>
              </a:rPr>
              <a:t>t</a:t>
            </a:r>
            <a:r>
              <a:rPr lang="zh-CN" altLang="en-US" sz="1600" b="1">
                <a:solidFill>
                  <a:schemeClr val="accent2"/>
                </a:solidFill>
              </a:rPr>
              <a:t>指向的地址是随机的</a:t>
            </a:r>
            <a:r>
              <a:rPr lang="en-US" altLang="zh-CN" sz="1600" b="1">
                <a:solidFill>
                  <a:schemeClr val="accent2"/>
                </a:solidFill>
              </a:rPr>
              <a:t>(</a:t>
            </a:r>
            <a:r>
              <a:rPr lang="zh-CN" altLang="en-US" sz="1600" b="1">
                <a:solidFill>
                  <a:schemeClr val="accent2"/>
                </a:solidFill>
              </a:rPr>
              <a:t>假设为</a:t>
            </a:r>
            <a:r>
              <a:rPr lang="en-US" altLang="zh-CN" sz="1600" b="1">
                <a:solidFill>
                  <a:schemeClr val="accent2"/>
                </a:solidFill>
              </a:rPr>
              <a:t>5000)</a:t>
            </a:r>
            <a:r>
              <a:rPr lang="zh-CN" altLang="en-US" sz="1600" b="1">
                <a:solidFill>
                  <a:schemeClr val="accent2"/>
                </a:solidFill>
              </a:rPr>
              <a:t>，然后语句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*t = *x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r>
              <a:rPr lang="zh-CN" altLang="en-US" sz="1600" b="1">
                <a:solidFill>
                  <a:schemeClr val="accent2"/>
                </a:solidFill>
              </a:rPr>
              <a:t>将</a:t>
            </a:r>
            <a:r>
              <a:rPr lang="en-US" altLang="zh-CN" sz="1600" b="1">
                <a:solidFill>
                  <a:schemeClr val="accent2"/>
                </a:solidFill>
              </a:rPr>
              <a:t>x</a:t>
            </a:r>
            <a:r>
              <a:rPr lang="zh-CN" altLang="en-US" sz="1600" b="1">
                <a:solidFill>
                  <a:schemeClr val="accent2"/>
                </a:solidFill>
              </a:rPr>
              <a:t>指向地址中的</a:t>
            </a:r>
            <a:r>
              <a:rPr lang="en-US" altLang="zh-CN" sz="1600" b="1">
                <a:solidFill>
                  <a:schemeClr val="accent2"/>
                </a:solidFill>
              </a:rPr>
              <a:t>i</a:t>
            </a:r>
            <a:r>
              <a:rPr lang="zh-CN" altLang="en-US" sz="1600" b="1">
                <a:solidFill>
                  <a:schemeClr val="accent2"/>
                </a:solidFill>
              </a:rPr>
              <a:t>的值</a:t>
            </a:r>
            <a:r>
              <a:rPr lang="en-US" altLang="zh-CN" sz="1600" b="1">
                <a:solidFill>
                  <a:schemeClr val="accent2"/>
                </a:solidFill>
              </a:rPr>
              <a:t>10</a:t>
            </a:r>
            <a:r>
              <a:rPr lang="zh-CN" altLang="en-US" sz="1600" b="1">
                <a:solidFill>
                  <a:schemeClr val="accent2"/>
                </a:solidFill>
              </a:rPr>
              <a:t>存入</a:t>
            </a:r>
            <a:r>
              <a:rPr lang="en-US" altLang="zh-CN" sz="1600" b="1">
                <a:solidFill>
                  <a:schemeClr val="accent2"/>
                </a:solidFill>
              </a:rPr>
              <a:t>t</a:t>
            </a:r>
            <a:r>
              <a:rPr lang="zh-CN" altLang="en-US" sz="1600" b="1">
                <a:solidFill>
                  <a:schemeClr val="accent2"/>
                </a:solidFill>
              </a:rPr>
              <a:t>指向的地址</a:t>
            </a:r>
            <a:r>
              <a:rPr lang="en-US" altLang="zh-CN" sz="1600" b="1">
                <a:solidFill>
                  <a:schemeClr val="accent2"/>
                </a:solidFill>
              </a:rPr>
              <a:t>5000-5003</a:t>
            </a:r>
            <a:r>
              <a:rPr lang="zh-CN" altLang="en-US" sz="1600" b="1">
                <a:solidFill>
                  <a:schemeClr val="accent2"/>
                </a:solidFill>
              </a:rPr>
              <a:t>，再进行之后的交换。这样从局部看是可以成功交换</a:t>
            </a:r>
            <a:r>
              <a:rPr lang="en-US" altLang="zh-CN" sz="1600" b="1">
                <a:solidFill>
                  <a:schemeClr val="accent2"/>
                </a:solidFill>
              </a:rPr>
              <a:t>i</a:t>
            </a:r>
            <a:r>
              <a:rPr lang="zh-CN" altLang="en-US" sz="1600" b="1">
                <a:solidFill>
                  <a:schemeClr val="accent2"/>
                </a:solidFill>
              </a:rPr>
              <a:t>和</a:t>
            </a:r>
            <a:r>
              <a:rPr lang="en-US" altLang="zh-CN" sz="1600" b="1">
                <a:solidFill>
                  <a:schemeClr val="accent2"/>
                </a:solidFill>
              </a:rPr>
              <a:t>j</a:t>
            </a:r>
            <a:r>
              <a:rPr lang="zh-CN" altLang="en-US" sz="1600" b="1">
                <a:solidFill>
                  <a:schemeClr val="accent2"/>
                </a:solidFill>
              </a:rPr>
              <a:t>的值，但是注意地址</a:t>
            </a:r>
            <a:r>
              <a:rPr lang="en-US" altLang="zh-CN" sz="1600" b="1">
                <a:solidFill>
                  <a:schemeClr val="accent2"/>
                </a:solidFill>
              </a:rPr>
              <a:t>5000-5003</a:t>
            </a:r>
            <a:r>
              <a:rPr lang="zh-CN" altLang="en-US" sz="1600" b="1">
                <a:solidFill>
                  <a:schemeClr val="accent2"/>
                </a:solidFill>
              </a:rPr>
              <a:t>并没有被系统分配给本程序，本程序是没有对其的访问权限的。本程序中的操作非法修改权限之外的内存，可能会出现意料之外的错误</a:t>
            </a:r>
            <a:r>
              <a:rPr lang="en-US" altLang="zh-CN" sz="1600" b="1">
                <a:solidFill>
                  <a:schemeClr val="accent2"/>
                </a:solidFill>
              </a:rPr>
              <a:t>(</a:t>
            </a:r>
            <a:r>
              <a:rPr lang="zh-CN" altLang="en-US" sz="1600" b="1">
                <a:solidFill>
                  <a:schemeClr val="accent2"/>
                </a:solidFill>
              </a:rPr>
              <a:t>如死机蓝屏等</a:t>
            </a:r>
            <a:r>
              <a:rPr lang="en-US" altLang="zh-CN" sz="1600" b="1">
                <a:solidFill>
                  <a:schemeClr val="accent2"/>
                </a:solidFill>
              </a:rPr>
              <a:t>)</a:t>
            </a:r>
            <a:r>
              <a:rPr lang="zh-CN" altLang="en-US" sz="1600" b="1">
                <a:solidFill>
                  <a:schemeClr val="accent2"/>
                </a:solidFill>
              </a:rPr>
              <a:t>，也有可能不出现错误，取决于</a:t>
            </a:r>
            <a:r>
              <a:rPr lang="en-US" altLang="zh-CN" sz="1600" b="1">
                <a:solidFill>
                  <a:schemeClr val="accent2"/>
                </a:solidFill>
              </a:rPr>
              <a:t>5000-5003</a:t>
            </a:r>
            <a:r>
              <a:rPr lang="zh-CN" altLang="en-US" sz="1600" b="1">
                <a:solidFill>
                  <a:schemeClr val="accent2"/>
                </a:solidFill>
              </a:rPr>
              <a:t>地址中存的数据。</a:t>
            </a:r>
            <a:endParaRPr lang="zh-CN" altLang="en-US" sz="1600" b="1">
              <a:solidFill>
                <a:schemeClr val="accent2"/>
              </a:solidFill>
            </a:endParaRPr>
          </a:p>
          <a:p>
            <a:endParaRPr lang="zh-CN" altLang="en-US" sz="1600" b="1">
              <a:solidFill>
                <a:schemeClr val="accent2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错误的关键是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*t;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这一句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指向随机地址，导致之后的访问和修改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非法地址中的数据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改为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*t; t =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;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之后，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指向的地址为变量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的地址，变量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被定义后，其地址已经被系统分给程序，因此不会出现非法访问的情况，也就不出错。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>
              <a:solidFill>
                <a:schemeClr val="accent2"/>
              </a:solidFill>
            </a:endParaRPr>
          </a:p>
          <a:p>
            <a:endParaRPr lang="zh-CN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4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5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6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7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8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9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10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11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12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13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14.xml><?xml version="1.0" encoding="utf-8"?>
<p:tagLst xmlns:p="http://schemas.openxmlformats.org/presentationml/2006/main">
  <p:tag name="KSO_WM_DIAGRAM_VIRTUALLY_FRAME" val="{&quot;height&quot;:99.49314960629923,&quot;left&quot;:428.89362204724404,&quot;top&quot;:41.04582677165354,&quot;width&quot;:307.7870866141731}"/>
</p:tagLst>
</file>

<file path=ppt/tags/tag15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16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17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18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19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0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1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2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3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4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5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6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7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28.xml><?xml version="1.0" encoding="utf-8"?>
<p:tagLst xmlns:p="http://schemas.openxmlformats.org/presentationml/2006/main">
  <p:tag name="KSO_WM_DIAGRAM_VIRTUALLY_FRAME" val="{&quot;height&quot;:99.49314960629923,&quot;left&quot;:428.89362204724404,&quot;top&quot;:41.04582677165354,&quot;width&quot;:307.7870866141731}"/>
</p:tagLst>
</file>

<file path=ppt/tags/tag29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0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1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2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3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4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5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6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7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8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39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40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41.xml><?xml version="1.0" encoding="utf-8"?>
<p:tagLst xmlns:p="http://schemas.openxmlformats.org/presentationml/2006/main">
  <p:tag name="KSO_WM_DIAGRAM_VIRTUALLY_FRAME" val="{&quot;height&quot;:117.19314960629922,&quot;left&quot;:428.89362204724404,&quot;top&quot;:23.345826771653538,&quot;width&quot;:307.7870866141731}"/>
</p:tagLst>
</file>

<file path=ppt/tags/tag42.xml><?xml version="1.0" encoding="utf-8"?>
<p:tagLst xmlns:p="http://schemas.openxmlformats.org/presentationml/2006/main">
  <p:tag name="KSO_WM_DIAGRAM_VIRTUALLY_FRAME" val="{&quot;height&quot;:99.49314960629923,&quot;left&quot;:428.89362204724404,&quot;top&quot;:41.04582677165354,&quot;width&quot;:307.7870866141731}"/>
</p:tagLst>
</file>

<file path=ppt/tags/tag43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3190</Words>
  <Application>WPS 演示</Application>
  <PresentationFormat>宽屏</PresentationFormat>
  <Paragraphs>660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42</cp:revision>
  <dcterms:created xsi:type="dcterms:W3CDTF">2020-08-13T13:39:00Z</dcterms:created>
  <dcterms:modified xsi:type="dcterms:W3CDTF">2024-05-20T08:20:33Z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62CF4F77615746BA94B2F1AE7A0A04CD_12</vt:lpwstr>
  </property>
  <property fmtid="{D5CDD505-2E9C-101B-9397-08002B2CF9AE}" pid="3" name="KSOProductBuildVer">
    <vt:lpwstr>2052-12.1.0.16729</vt:lpwstr>
  </property>
</Properties>
</file>