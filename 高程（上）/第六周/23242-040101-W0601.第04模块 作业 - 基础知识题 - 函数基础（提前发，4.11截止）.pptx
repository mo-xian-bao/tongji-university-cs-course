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79" r:id="rId5"/>
    <p:sldId id="1237" r:id="rId6"/>
    <p:sldId id="1230" r:id="rId7"/>
    <p:sldId id="1281" r:id="rId8"/>
    <p:sldId id="1297" r:id="rId9"/>
    <p:sldId id="1251" r:id="rId10"/>
    <p:sldId id="1282" r:id="rId11"/>
    <p:sldId id="1283" r:id="rId12"/>
    <p:sldId id="1284" r:id="rId13"/>
    <p:sldId id="1298" r:id="rId14"/>
    <p:sldId id="1285" r:id="rId15"/>
    <p:sldId id="1299" r:id="rId16"/>
    <p:sldId id="1286" r:id="rId17"/>
    <p:sldId id="1287" r:id="rId18"/>
    <p:sldId id="1288" r:id="rId19"/>
    <p:sldId id="1289" r:id="rId20"/>
    <p:sldId id="1290" r:id="rId21"/>
    <p:sldId id="1291" r:id="rId22"/>
    <p:sldId id="1300" r:id="rId23"/>
    <p:sldId id="1292" r:id="rId24"/>
    <p:sldId id="1293" r:id="rId25"/>
    <p:sldId id="1294" r:id="rId26"/>
    <p:sldId id="1295" r:id="rId27"/>
    <p:sldId id="1296" r:id="rId28"/>
    <p:sldId id="1301" r:id="rId29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71" d="100"/>
          <a:sy n="71" d="100"/>
        </p:scale>
        <p:origin x="48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1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本次作业的答案，除特别提示外，上课全讲过，课件上都有</a:t>
            </a:r>
            <a:r>
              <a:rPr lang="en-US" altLang="zh-CN" sz="2800" b="1" dirty="0">
                <a:latin typeface="+mn-ea"/>
              </a:rPr>
              <a:t>!!!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作业本质就是对上课内容及课件的</a:t>
            </a:r>
            <a:r>
              <a:rPr lang="en-US" altLang="zh-CN" sz="2800" b="1" dirty="0">
                <a:latin typeface="+mn-ea"/>
              </a:rPr>
              <a:t>review(</a:t>
            </a:r>
            <a:r>
              <a:rPr lang="zh-CN" altLang="en-US" sz="2800" b="1" dirty="0">
                <a:latin typeface="+mn-ea"/>
              </a:rPr>
              <a:t>因为读懂程序的逻辑很重要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对上课接受程度较好的同学，可能有点重复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多余，但还得做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的不写函数返回类型时的差异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fun()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("1234567-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张三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\n");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fun();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/*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特别说明：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1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、如果输出维持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"1234567-</a:t>
            </a:r>
            <a:r>
              <a:rPr lang="zh-CN" altLang="en-US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张三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"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不变，得分为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2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、如果学号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姓名有错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非其他同学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)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，得分为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、如果是别人的学号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姓名，按抄袭论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4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、后续有改学号姓名的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Page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，要求相同，不再重复说明 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*/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、将左侧程序</a:t>
            </a:r>
            <a:r>
              <a:rPr kumimoji="1" lang="zh-CN" altLang="en-US" sz="1600" b="1" dirty="0">
                <a:latin typeface="+mn-ea"/>
              </a:rPr>
              <a:t>贴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.c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后缀的</a:t>
            </a:r>
            <a:r>
              <a:rPr kumimoji="1" lang="zh-CN" altLang="en-US" sz="1600" b="1" dirty="0">
                <a:latin typeface="+mn-ea"/>
              </a:rPr>
              <a:t>源程序中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、将左侧程序贴到</a:t>
            </a:r>
            <a:r>
              <a:rPr kumimoji="1" lang="en-US" altLang="zh-CN" sz="1600" b="1" dirty="0">
                <a:latin typeface="+mn-ea"/>
              </a:rPr>
              <a:t>.</a:t>
            </a:r>
            <a:r>
              <a:rPr kumimoji="1" lang="en-US" altLang="zh-CN" sz="1600" b="1" dirty="0" err="1">
                <a:latin typeface="+mn-ea"/>
              </a:rPr>
              <a:t>cpp</a:t>
            </a:r>
            <a:r>
              <a:rPr kumimoji="1" lang="zh-CN" altLang="en-US" sz="1600" b="1" dirty="0">
                <a:latin typeface="+mn-ea"/>
              </a:rPr>
              <a:t>后缀的源程序中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如果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程序不写函数的返回类型，则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默认为</a:t>
            </a:r>
            <a:r>
              <a:rPr kumimoji="1" lang="en-US" altLang="zh-CN" sz="1600" b="1" u="sng" dirty="0">
                <a:latin typeface="+mn-ea"/>
              </a:rPr>
              <a:t>int</a:t>
            </a:r>
            <a:r>
              <a:rPr kumimoji="1" lang="zh-CN" altLang="en-US" sz="1600" b="1" u="sng" dirty="0">
                <a:latin typeface="+mn-ea"/>
              </a:rPr>
              <a:t>型</a:t>
            </a:r>
            <a:r>
              <a:rPr kumimoji="1" lang="en-US" altLang="zh-CN" sz="1600" b="1" u="sng" dirty="0">
                <a:latin typeface="+mn-ea"/>
              </a:rPr>
              <a:t>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如果</a:t>
            </a:r>
            <a:r>
              <a:rPr kumimoji="1" lang="en-US" altLang="zh-CN" sz="1600" b="1" dirty="0">
                <a:latin typeface="+mn-ea"/>
              </a:rPr>
              <a:t>C++</a:t>
            </a:r>
            <a:r>
              <a:rPr kumimoji="1" lang="zh-CN" altLang="en-US" sz="1600" b="1" dirty="0">
                <a:latin typeface="+mn-ea"/>
              </a:rPr>
              <a:t>程序不写函数的返回类型，则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</a:rPr>
              <a:t>程序报错</a:t>
            </a:r>
            <a:r>
              <a:rPr kumimoji="1" lang="en-US" altLang="zh-CN" sz="1600" b="1" u="sng" dirty="0">
                <a:latin typeface="+mn-ea"/>
              </a:rPr>
              <a:t>__</a:t>
            </a:r>
            <a:endParaRPr kumimoji="1" lang="en-US" altLang="zh-CN" sz="1600" b="1" u="sng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235" y="1728470"/>
            <a:ext cx="2219325" cy="828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110" y="3290570"/>
            <a:ext cx="5215255" cy="263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的不写函数返回类型时的差异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</a:t>
            </a:r>
            <a:r>
              <a:rPr lang="en-US" altLang="zh-CN" sz="1600" b="1" dirty="0" err="1">
                <a:latin typeface="+mn-ea"/>
              </a:rPr>
              <a:t>lf</a:t>
            </a:r>
            <a:r>
              <a:rPr lang="en-US" altLang="zh-CN" sz="1600" b="1" dirty="0">
                <a:latin typeface="+mn-ea"/>
              </a:rPr>
              <a:t>\n", sqrt(2));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将左侧</a:t>
            </a:r>
            <a:r>
              <a:rPr kumimoji="1" lang="zh-CN" altLang="en-US" sz="1600" b="1" dirty="0">
                <a:latin typeface="+mn-ea"/>
              </a:rPr>
              <a:t>的两个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程序</a:t>
            </a:r>
            <a:r>
              <a:rPr kumimoji="1" lang="zh-CN" altLang="en-US" sz="1600" b="1" dirty="0">
                <a:latin typeface="+mn-ea"/>
              </a:rPr>
              <a:t>贴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.c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后缀的</a:t>
            </a:r>
            <a:r>
              <a:rPr kumimoji="1" lang="zh-CN" altLang="en-US" sz="1600" b="1" dirty="0">
                <a:latin typeface="+mn-ea"/>
              </a:rPr>
              <a:t>源程序中编译运行，分析为什么结果不同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   </a:t>
            </a:r>
            <a:r>
              <a:rPr kumimoji="1" lang="zh-CN" altLang="en-US" sz="1600" b="1" dirty="0">
                <a:latin typeface="+mn-ea"/>
              </a:rPr>
              <a:t>（左上程序）</a:t>
            </a:r>
            <a:r>
              <a:rPr kumimoji="1" lang="en-US" altLang="zh-CN" sz="1600" b="1" dirty="0">
                <a:latin typeface="+mn-ea"/>
              </a:rPr>
              <a:t>             </a:t>
            </a:r>
            <a:r>
              <a:rPr kumimoji="1" lang="zh-CN" altLang="en-US" sz="1600" b="1" dirty="0">
                <a:latin typeface="+mn-ea"/>
              </a:rPr>
              <a:t>（左下程序）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在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语言中，如果未加头文件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&lt;math.h&gt;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，未声明的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sqrt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函数默认返回类型为int，而未初始化的int类型变量默认值为0（左上程序），而加了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头文件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&lt;math.h&gt;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sqrt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函数才能返回正确值（左下程序）。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3845407"/>
            <a:ext cx="4941912" cy="268874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#include &lt;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math.h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&gt;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</a:t>
            </a:r>
            <a:r>
              <a:rPr lang="en-US" altLang="zh-CN" sz="1600" b="1" dirty="0" err="1">
                <a:latin typeface="+mn-ea"/>
              </a:rPr>
              <a:t>lf</a:t>
            </a:r>
            <a:r>
              <a:rPr lang="en-US" altLang="zh-CN" sz="1600" b="1" dirty="0">
                <a:latin typeface="+mn-ea"/>
              </a:rPr>
              <a:t>\n", sqrt(2));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1040" y="2453640"/>
            <a:ext cx="2221230" cy="955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36775"/>
            <a:ext cx="2238375" cy="1272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405" y="5080635"/>
            <a:ext cx="2447925" cy="876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475" y="2795905"/>
            <a:ext cx="5142865" cy="2374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810" y="2842895"/>
            <a:ext cx="5076825" cy="3905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810" y="3387090"/>
            <a:ext cx="2114550" cy="838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880" y="5247640"/>
            <a:ext cx="4602480" cy="718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long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0L;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、综合</a:t>
            </a:r>
            <a:r>
              <a:rPr kumimoji="1" lang="en-US" altLang="zh-CN" sz="1600" b="1" dirty="0">
                <a:latin typeface="+mn-ea"/>
              </a:rPr>
              <a:t>2.A/2.B/2.C</a:t>
            </a:r>
            <a:r>
              <a:rPr kumimoji="1" lang="zh-CN" altLang="en-US" sz="1600" b="1" dirty="0">
                <a:latin typeface="+mn-ea"/>
              </a:rPr>
              <a:t>三题的结论，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函数的返回类型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应定义为</a:t>
            </a:r>
            <a:r>
              <a:rPr kumimoji="1" lang="en-US" altLang="zh-CN" sz="1600" b="1" u="sng" dirty="0">
                <a:latin typeface="+mn-ea"/>
              </a:rPr>
              <a:t>____int___</a:t>
            </a:r>
            <a:r>
              <a:rPr kumimoji="1" lang="zh-CN" altLang="en-US" sz="1600" b="1" dirty="0">
                <a:latin typeface="+mn-ea"/>
              </a:rPr>
              <a:t>最合适。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4510" y="2388870"/>
            <a:ext cx="3926205" cy="3181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845" y="2837815"/>
            <a:ext cx="1323340" cy="5911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160" y="3816985"/>
            <a:ext cx="2886075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、函数的单向传值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fun(int x)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"x1="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x=5;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"x2="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 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k=15;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"k1="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fun(k);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"k2="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、为什么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的改变不会影响到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参数的传递方式为单向传值，执行函数时，形参的变化不会影响实参的值。在调用函数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fun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时，只是把实参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k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的值复制一份给形参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，只会改变形参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的值，不会影响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k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4505" y="1485265"/>
            <a:ext cx="2095500" cy="1685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fun(short x)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long k=70000;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fun(k);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、运行结果（含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章的知识分析并解释运行结果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将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long int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型的实参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k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赋值给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short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型的形参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x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时，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70000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超过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short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型数据类型的上限，会发生截断，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x=70000-65536=4464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。但调用函数不影响实参的值，所以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k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还是等于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70000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6615" y="1663700"/>
            <a:ext cx="1715770" cy="10864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15" y="2860040"/>
            <a:ext cx="4378325" cy="2940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short fun3()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long a = 70000;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long 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 = fun3();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、运行结果（含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章的知识分析并解释运行结果</a:t>
            </a:r>
            <a:endParaRPr kumimoji="1" lang="zh-CN" altLang="en-US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函数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fun3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的返回类型为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short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long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在返回时会发生截断，返回值为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70000-65536=4464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，再将其赋值给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long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型的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d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，因此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d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的值为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4464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1185" y="2472690"/>
            <a:ext cx="4881880" cy="2876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795" y="1607820"/>
            <a:ext cx="1595755" cy="8261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fun()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fun();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//main</a:t>
            </a:r>
            <a:r>
              <a:rPr lang="zh-CN" altLang="en-US" sz="1600" b="1" dirty="0">
                <a:latin typeface="+mn-ea"/>
              </a:rPr>
              <a:t>函数，返回类型为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，无</a:t>
            </a:r>
            <a:r>
              <a:rPr lang="en-US" altLang="zh-CN" sz="1600" b="1" dirty="0">
                <a:latin typeface="+mn-ea"/>
              </a:rPr>
              <a:t>return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&lt;iostream&gt;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using namespace std;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fun()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/*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"1234567-</a:t>
            </a:r>
            <a:r>
              <a:rPr kumimoji="1" lang="zh-CN" altLang="en-US" sz="1600" b="1" dirty="0">
                <a:latin typeface="+mn-ea"/>
              </a:rPr>
              <a:t>张三</a:t>
            </a:r>
            <a:r>
              <a:rPr kumimoji="1" lang="en-US" altLang="zh-CN" sz="1600" b="1" dirty="0">
                <a:latin typeface="+mn-ea"/>
              </a:rPr>
              <a:t>"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fun();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函数，返回类型为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，无</a:t>
            </a:r>
            <a:r>
              <a:rPr kumimoji="1" lang="en-US" altLang="zh-CN" sz="1600" b="1" dirty="0">
                <a:latin typeface="+mn-ea"/>
              </a:rPr>
              <a:t>return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" y="5179060"/>
            <a:ext cx="2343150" cy="752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415" y="5407660"/>
            <a:ext cx="340042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x=10;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k=10;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k = k + f();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k,f</a:t>
            </a:r>
            <a:r>
              <a:rPr lang="en-US" altLang="zh-CN" sz="1600" b="1" dirty="0">
                <a:latin typeface="+mn-ea"/>
              </a:rPr>
              <a:t>();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(k, f())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(k, f(), k+2)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、编译结果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、解释报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的两行为什么错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函数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的返回类型为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void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，无返回值。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第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12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k = k + f();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中，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函数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无返回值，不能参与加法运算；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14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行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cout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&lt;&lt; (k, f()) &lt;&lt;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endl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;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(k, f())中的逗号运算符试图将void类型的返回值当作表达式使用，也会导致编译错误。</a:t>
            </a:r>
            <a:endParaRPr lang="en-US" altLang="zh-CN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① 返回类型为</a:t>
            </a:r>
            <a:r>
              <a:rPr kumimoji="1" lang="en-US" altLang="zh-CN" sz="1600" b="1" dirty="0">
                <a:latin typeface="+mn-ea"/>
              </a:rPr>
              <a:t>void</a:t>
            </a:r>
            <a:r>
              <a:rPr kumimoji="1" lang="zh-CN" altLang="en-US" sz="1600" b="1" dirty="0">
                <a:latin typeface="+mn-ea"/>
              </a:rPr>
              <a:t>的函数不能出现在除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</a:rPr>
              <a:t>逗号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表达式外的任何表达式中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② 若逗号表达式要参与其它运算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输出，则返回类型为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void</a:t>
            </a:r>
            <a:r>
              <a:rPr kumimoji="1" lang="zh-CN" altLang="en-US" sz="1600" b="1" dirty="0">
                <a:latin typeface="+mn-ea"/>
              </a:rPr>
              <a:t>的函数不能做为第</a:t>
            </a:r>
            <a:r>
              <a:rPr kumimoji="1" lang="en-US" altLang="zh-CN" sz="1600" b="1" u="sng" dirty="0">
                <a:latin typeface="+mn-ea"/>
              </a:rPr>
              <a:t>__n__</a:t>
            </a:r>
            <a:r>
              <a:rPr kumimoji="1" lang="zh-CN" altLang="en-US" sz="1600" b="1" dirty="0">
                <a:latin typeface="+mn-ea"/>
              </a:rPr>
              <a:t>个表达式出现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假设逗号表达式有</a:t>
            </a:r>
            <a:r>
              <a:rPr kumimoji="1" lang="en-US" altLang="zh-CN" sz="1600" b="1" dirty="0">
                <a:latin typeface="+mn-ea"/>
              </a:rPr>
              <a:t>n</a:t>
            </a:r>
            <a:r>
              <a:rPr kumimoji="1" lang="zh-CN" altLang="en-US" sz="1600" b="1" dirty="0">
                <a:latin typeface="+mn-ea"/>
              </a:rPr>
              <a:t>个表达式组成，此处填</a:t>
            </a:r>
            <a:r>
              <a:rPr kumimoji="1" lang="en-US" altLang="zh-CN" sz="1600" b="1" dirty="0">
                <a:latin typeface="+mn-ea"/>
              </a:rPr>
              <a:t>1~n)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4025" y="1734185"/>
            <a:ext cx="5305425" cy="3314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(x&gt;10) 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if (x&gt;20)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return 1;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else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fun(5) 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fun(15)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fun(25)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的含义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函数中有分支语句，但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return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未覆盖全部分支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出口。本程序中，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return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未覆盖到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x&gt;10&amp;&amp;x&lt;=20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的情况。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、后三行输出中哪行不可信？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第二行，因为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return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未覆盖到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x=15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的情况。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1375" y="1591310"/>
            <a:ext cx="2019300" cy="1362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375" y="2997835"/>
            <a:ext cx="4162425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(x&gt;1)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return 1;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else if (x&lt;=1)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if+else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if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已覆盖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型的全部表示范围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fun(0) 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fun(2)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的含义（编译器是如何理解</a:t>
            </a:r>
            <a:r>
              <a:rPr kumimoji="1" lang="en-US" altLang="zh-CN" sz="1600" b="1" dirty="0">
                <a:latin typeface="+mn-ea"/>
              </a:rPr>
              <a:t>fun</a:t>
            </a:r>
            <a:r>
              <a:rPr kumimoji="1" lang="zh-CN" altLang="en-US" sz="1600" b="1" dirty="0">
                <a:latin typeface="+mn-ea"/>
              </a:rPr>
              <a:t>的逻辑的）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在编译器思维中，函数使用了多分支语句，但缺少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else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分支，理解为未覆盖全部分支。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5490" y="1611630"/>
            <a:ext cx="1636395" cy="10883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490" y="2778760"/>
            <a:ext cx="45339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long fun(void)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0L;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long k;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k = fun();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&lt;iostream&gt;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using namespace std;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long fun(void)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"1234567-</a:t>
            </a:r>
            <a:r>
              <a:rPr kumimoji="1" lang="zh-CN" altLang="en-US" sz="1600" b="1" dirty="0">
                <a:latin typeface="+mn-ea"/>
              </a:rPr>
              <a:t>张三</a:t>
            </a:r>
            <a:r>
              <a:rPr kumimoji="1" lang="en-US" altLang="zh-CN" sz="1600" b="1" dirty="0">
                <a:latin typeface="+mn-ea"/>
              </a:rPr>
              <a:t>"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0L;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long k;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k = 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long</a:t>
            </a:r>
            <a:r>
              <a:rPr kumimoji="1" lang="en-US" altLang="zh-CN" sz="1600" b="1" dirty="0">
                <a:latin typeface="+mn-ea"/>
              </a:rPr>
              <a:t> fun();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</a:rPr>
              <a:t>结论：函数调用时，</a:t>
            </a:r>
            <a:r>
              <a:rPr lang="en-US" altLang="zh-CN" sz="2400" b="1" u="sng" dirty="0">
                <a:latin typeface="+mn-ea"/>
              </a:rPr>
              <a:t>__</a:t>
            </a:r>
            <a:r>
              <a:rPr lang="zh-CN" altLang="en-US" sz="2400" b="1" u="sng" dirty="0">
                <a:latin typeface="+mn-ea"/>
              </a:rPr>
              <a:t>不能</a:t>
            </a:r>
            <a:r>
              <a:rPr lang="en-US" altLang="zh-CN" sz="2400" b="1" u="sng" dirty="0">
                <a:latin typeface="+mn-ea"/>
              </a:rPr>
              <a:t>__</a:t>
            </a:r>
            <a:r>
              <a:rPr lang="en-US" altLang="zh-CN" sz="2400" b="1" dirty="0">
                <a:latin typeface="+mn-ea"/>
              </a:rPr>
              <a:t>(</a:t>
            </a:r>
            <a:r>
              <a:rPr lang="zh-CN" altLang="en-US" sz="2400" b="1" dirty="0">
                <a:latin typeface="+mn-ea"/>
              </a:rPr>
              <a:t>能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写返回类型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460" y="4956175"/>
            <a:ext cx="2009775" cy="7905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195" y="5179060"/>
            <a:ext cx="4267835" cy="398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fun(void)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k;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k = fun();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fun(void)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k;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k = fun(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void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</a:rPr>
              <a:t>结论：无参函数调用时，参数位置</a:t>
            </a:r>
            <a:r>
              <a:rPr lang="en-US" altLang="zh-CN" sz="2400" b="1" u="sng" dirty="0">
                <a:latin typeface="+mn-ea"/>
              </a:rPr>
              <a:t>__</a:t>
            </a:r>
            <a:r>
              <a:rPr lang="zh-CN" altLang="en-US" sz="2400" b="1" u="sng" dirty="0">
                <a:latin typeface="+mn-ea"/>
              </a:rPr>
              <a:t>不能</a:t>
            </a:r>
            <a:r>
              <a:rPr lang="en-US" altLang="zh-CN" sz="2400" b="1" u="sng" dirty="0">
                <a:latin typeface="+mn-ea"/>
              </a:rPr>
              <a:t>__</a:t>
            </a:r>
            <a:r>
              <a:rPr lang="en-US" altLang="zh-CN" sz="2400" b="1" dirty="0">
                <a:latin typeface="+mn-ea"/>
              </a:rPr>
              <a:t>(</a:t>
            </a:r>
            <a:r>
              <a:rPr lang="zh-CN" altLang="en-US" sz="2400" b="1" dirty="0">
                <a:latin typeface="+mn-ea"/>
              </a:rPr>
              <a:t>能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写</a:t>
            </a:r>
            <a:r>
              <a:rPr lang="en-US" altLang="zh-CN" sz="2400" b="1" dirty="0">
                <a:latin typeface="+mn-ea"/>
              </a:rPr>
              <a:t>void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110" y="5045075"/>
            <a:ext cx="1971675" cy="76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0" y="4864100"/>
            <a:ext cx="481965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k, x=10, y=15;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k = fun(x, y);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k, x=10, y=15;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k = fun(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</a:t>
            </a:r>
            <a:r>
              <a:rPr lang="en-US" altLang="zh-CN" sz="1600" b="1" dirty="0">
                <a:latin typeface="+mn-ea"/>
              </a:rPr>
              <a:t> x,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</a:t>
            </a:r>
            <a:r>
              <a:rPr lang="en-US" altLang="zh-CN" sz="1600" b="1" dirty="0">
                <a:latin typeface="+mn-ea"/>
              </a:rPr>
              <a:t> y);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</a:rPr>
              <a:t>结论：有参函数调用时，实参</a:t>
            </a:r>
            <a:r>
              <a:rPr lang="en-US" altLang="zh-CN" sz="2400" b="1" u="sng" dirty="0">
                <a:latin typeface="+mn-ea"/>
              </a:rPr>
              <a:t>__</a:t>
            </a:r>
            <a:r>
              <a:rPr lang="zh-CN" altLang="en-US" sz="2400" b="1" u="sng" dirty="0">
                <a:latin typeface="+mn-ea"/>
              </a:rPr>
              <a:t>不能</a:t>
            </a:r>
            <a:r>
              <a:rPr lang="en-US" altLang="zh-CN" sz="2400" b="1" u="sng" dirty="0">
                <a:latin typeface="+mn-ea"/>
              </a:rPr>
              <a:t>__</a:t>
            </a:r>
            <a:r>
              <a:rPr lang="en-US" altLang="zh-CN" sz="2400" b="1" dirty="0">
                <a:latin typeface="+mn-ea"/>
              </a:rPr>
              <a:t>(</a:t>
            </a:r>
            <a:r>
              <a:rPr lang="zh-CN" altLang="en-US" sz="2400" b="1" dirty="0">
                <a:latin typeface="+mn-ea"/>
              </a:rPr>
              <a:t>能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写类型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335" y="5097780"/>
            <a:ext cx="2076450" cy="7048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060" y="4610735"/>
            <a:ext cx="3224530" cy="3975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60" y="5059045"/>
            <a:ext cx="2975610" cy="3378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060" y="5447665"/>
            <a:ext cx="2083435" cy="3797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"y=" &lt;&lt; y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x=10, y=15;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 fun(int x, int y);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思考题：为什么本程序不报错但也无输出？</a:t>
            </a:r>
            <a:endParaRPr lang="zh-CN" altLang="en-US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程序中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int fun(int x, int y);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这一行语句实际上是在对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fun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函数进行声明，</a:t>
            </a:r>
            <a:r>
              <a:rPr lang="zh-CN" sz="1600" b="1" dirty="0">
                <a:solidFill>
                  <a:schemeClr val="accent2"/>
                </a:solidFill>
                <a:latin typeface="+mn-ea"/>
                <a:sym typeface="+mn-ea"/>
              </a:rPr>
              <a:t>这并没有语法和逻辑错误，所以不会报错；但是也没有调用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fun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函数，所以没有输出。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x = 10, y = 15;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fun(x, y);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 fun(int x, int y);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void f()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fun(10, 15);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fun(int x, int y)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"1234567-</a:t>
            </a:r>
            <a:r>
              <a:rPr lang="zh-CN" altLang="en-US" sz="1200" b="1" dirty="0">
                <a:latin typeface="+mn-ea"/>
              </a:rPr>
              <a:t>张三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"x=" &lt;&lt; x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"y=" &lt;&lt; y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int fun(int x, int y);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x = 10, y = 15;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fun(x, y);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void f()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fun(10, 15);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fun(int x, int y)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"1234567-</a:t>
            </a:r>
            <a:r>
              <a:rPr lang="zh-CN" altLang="en-US" sz="1200" b="1" dirty="0">
                <a:latin typeface="+mn-ea"/>
              </a:rPr>
              <a:t>张三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"x=" &lt;&lt; x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"y=" &lt;&lt; y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5426242"/>
            <a:ext cx="10247336" cy="11079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结论：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、函数声明如果放在函数外，则对哪些有效函数？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对后面所有函数有效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2</a:t>
            </a:r>
            <a:r>
              <a:rPr lang="zh-CN" altLang="en-US" sz="1600" b="1" dirty="0">
                <a:latin typeface="+mn-ea"/>
              </a:rPr>
              <a:t>、函数声明如果放在函数内，则对哪个函数有效？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只对本函数有效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5097780"/>
            <a:ext cx="3352800" cy="247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90" y="5059680"/>
            <a:ext cx="3419475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8650</Words>
  <Application>WPS 演示</Application>
  <PresentationFormat>宽屏</PresentationFormat>
  <Paragraphs>682</Paragraphs>
  <Slides>26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227</cp:revision>
  <dcterms:created xsi:type="dcterms:W3CDTF">2020-08-13T13:39:00Z</dcterms:created>
  <dcterms:modified xsi:type="dcterms:W3CDTF">2024-04-06T13:37:51Z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7D710D55E8E14360A9D3133CC00F7C25_12</vt:lpwstr>
  </property>
  <property fmtid="{D5CDD505-2E9C-101B-9397-08002B2CF9AE}" pid="3" name="KSOProductBuildVer">
    <vt:lpwstr>2052-12.1.0.16388</vt:lpwstr>
  </property>
</Properties>
</file>