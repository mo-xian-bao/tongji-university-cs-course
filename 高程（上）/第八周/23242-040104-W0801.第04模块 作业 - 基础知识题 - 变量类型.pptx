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1236" r:id="rId2"/>
    <p:sldId id="1279" r:id="rId3"/>
    <p:sldId id="1237" r:id="rId4"/>
    <p:sldId id="1281" r:id="rId5"/>
    <p:sldId id="1297" r:id="rId6"/>
    <p:sldId id="1302" r:id="rId7"/>
    <p:sldId id="1303" r:id="rId8"/>
    <p:sldId id="1251" r:id="rId9"/>
    <p:sldId id="1282" r:id="rId10"/>
    <p:sldId id="1304" r:id="rId11"/>
    <p:sldId id="1305" r:id="rId12"/>
    <p:sldId id="1298" r:id="rId13"/>
    <p:sldId id="1285" r:id="rId14"/>
    <p:sldId id="1306" r:id="rId15"/>
    <p:sldId id="1307" r:id="rId16"/>
    <p:sldId id="1299" r:id="rId17"/>
    <p:sldId id="1308" r:id="rId18"/>
    <p:sldId id="1286" r:id="rId19"/>
    <p:sldId id="1300" r:id="rId20"/>
    <p:sldId id="1293" r:id="rId21"/>
    <p:sldId id="1301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95" d="100"/>
          <a:sy n="95" d="100"/>
        </p:scale>
        <p:origin x="1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y;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&amp;x &lt;&lt; ' ' &lt;&lt; &amp;y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f2(long p)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q;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&amp;p &lt;&lt; ' ' &lt;&lt; &amp;q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f2(15L);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1.1 _x_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_p_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___012FF674___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1.2 _y_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_q_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___012FF660___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、把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float q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short q</a:t>
            </a:r>
            <a:r>
              <a:rPr kumimoji="1" lang="zh-CN" altLang="en-US" sz="1600" b="1" dirty="0">
                <a:latin typeface="+mn-ea"/>
              </a:rPr>
              <a:t>，运行结果截图及结论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q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_y_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___003CFDFC___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个字节空间</a:t>
            </a:r>
            <a:r>
              <a:rPr kumimoji="1" lang="en-US" altLang="zh-CN" sz="1600" b="1" dirty="0">
                <a:latin typeface="+mn-ea"/>
              </a:rPr>
              <a:t>  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1670685"/>
            <a:ext cx="2247900" cy="981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58030"/>
            <a:ext cx="1996440" cy="89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void f1(int x)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int y;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&amp;x &lt;&lt; ' '&lt;&lt; &amp;y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</a:t>
            </a:r>
            <a:r>
              <a:rPr kumimoji="1" lang="zh-CN" altLang="en-US" sz="1600" b="1" dirty="0">
                <a:latin typeface="+mn-ea"/>
              </a:rPr>
              <a:t>本示例中，三次调用时分配的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空间，三次调用时分配的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总结形参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和自动变量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的分配和释放规则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和自动变量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y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在函数执行时分配空间，在函数执行结束时释放空间，每次分配的空间可能相同，也可能不同。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960" y="1428750"/>
            <a:ext cx="22669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f2();</a:t>
            </a:r>
          </a:p>
          <a:p>
            <a:r>
              <a:rPr lang="en-US" altLang="zh-CN" sz="1200" b="1" dirty="0">
                <a:latin typeface="+mn-ea"/>
              </a:rPr>
              <a:t>    f3();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f1/f2/f3</a:t>
            </a:r>
            <a:r>
              <a:rPr kumimoji="1" lang="zh-CN" altLang="en-US" sz="1600" b="1" dirty="0">
                <a:latin typeface="+mn-ea"/>
              </a:rPr>
              <a:t>中的三个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如果当前正在执行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函数，则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</a:t>
            </a:r>
            <a:r>
              <a:rPr kumimoji="1" lang="zh-CN" altLang="en-US" sz="1600" b="1" dirty="0">
                <a:latin typeface="+mn-ea"/>
                <a:sym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 f3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</a:t>
            </a:r>
            <a:r>
              <a:rPr kumimoji="1" lang="zh-CN" altLang="en-US" sz="1600" b="1" dirty="0">
                <a:latin typeface="+mn-ea"/>
                <a:sym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905" y="1799590"/>
            <a:ext cx="19621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"f3  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f3();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f2();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494998" y="1323975"/>
            <a:ext cx="634445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、运行结果截图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2.1 f1/f2/f3</a:t>
            </a:r>
            <a:r>
              <a:rPr kumimoji="1" lang="zh-CN" altLang="en-US" sz="1200" b="1" dirty="0">
                <a:latin typeface="+mn-ea"/>
              </a:rPr>
              <a:t>中的三个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占用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相同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空间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2.2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  <a:sym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2.3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  <a:sym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  <a:sym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2.4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2.5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   </a:t>
            </a:r>
            <a:r>
              <a:rPr kumimoji="1" lang="en-US" altLang="zh-CN" sz="1200" b="1" dirty="0">
                <a:latin typeface="+mn-ea"/>
              </a:rPr>
              <a:t>2.6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f3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zh-CN" altLang="en-US" sz="1200" b="1" dirty="0">
                <a:latin typeface="+mn-ea"/>
              </a:rPr>
              <a:t>语句，  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  <a:sym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2.7 </a:t>
            </a:r>
            <a:r>
              <a:rPr kumimoji="1" lang="zh-CN" altLang="en-US" sz="1200" b="1" dirty="0">
                <a:latin typeface="+mn-ea"/>
              </a:rPr>
              <a:t>上述</a:t>
            </a:r>
            <a:r>
              <a:rPr kumimoji="1" lang="en-US" altLang="zh-CN" sz="1200" b="1" dirty="0">
                <a:latin typeface="+mn-ea"/>
              </a:rPr>
              <a:t>2.2~2.6</a:t>
            </a:r>
            <a:r>
              <a:rPr kumimoji="1" lang="zh-CN" altLang="en-US" sz="1200" b="1" dirty="0">
                <a:latin typeface="+mn-ea"/>
              </a:rPr>
              <a:t>问题中如果某个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是已分配状态，则此时这个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在何处？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在动态储存区中。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0" y="1386205"/>
            <a:ext cx="1901825" cy="1224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i,a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a=15;</a:t>
            </a:r>
          </a:p>
          <a:p>
            <a:r>
              <a:rPr lang="en-US" altLang="zh-CN" sz="1600" b="1" dirty="0">
                <a:latin typeface="+mn-ea"/>
              </a:rPr>
              <a:t>    for(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=0;i&lt;10;i++) {</a:t>
            </a:r>
          </a:p>
          <a:p>
            <a:r>
              <a:rPr lang="en-US" altLang="zh-CN" sz="1600" b="1" dirty="0">
                <a:latin typeface="+mn-ea"/>
              </a:rPr>
              <a:t>        int y;</a:t>
            </a:r>
          </a:p>
          <a:p>
            <a:r>
              <a:rPr lang="en-US" altLang="zh-CN" sz="1600" b="1" dirty="0">
                <a:latin typeface="+mn-ea"/>
              </a:rPr>
              <a:t>        y=11;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a=16;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 y=12;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a=17;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y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的定义在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for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循环语句中，只对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for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循环语句里定义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y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后的语句有效。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y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for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循环之外没有被定义，因此访问时会报错。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60" y="2738120"/>
            <a:ext cx="31813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i,a</a:t>
            </a:r>
            <a:r>
              <a:rPr lang="en-US" altLang="zh-CN" sz="1200" b="1" dirty="0">
                <a:latin typeface="+mn-ea"/>
              </a:rPr>
              <a:t>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int y;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y=11;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a=16;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Wingdings 2" panose="05020102010507070707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    int w=10;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    y=12;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    a=13;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    w=14;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anose="05020102010507070707" pitchFamily="18" charset="2"/>
              </a:rPr>
              <a:t>        }</a:t>
            </a: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w=15;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y=12;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a=17;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fun();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变量的定义只在变量所在的语句内生效（一对匹配的花括号为一个语句），在变量的作用域之外访问就会报错。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786380"/>
            <a:ext cx="3238500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600" b="1" dirty="0"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void fun()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a=14;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fun();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、结论：在某个函数</a:t>
            </a:r>
            <a:r>
              <a:rPr kumimoji="1" lang="en-US" altLang="zh-CN" sz="1600" b="1" dirty="0">
                <a:latin typeface="+mn-ea"/>
              </a:rPr>
              <a:t>(main)</a:t>
            </a:r>
            <a:r>
              <a:rPr kumimoji="1" lang="zh-CN" altLang="en-US" sz="1600" b="1" dirty="0">
                <a:latin typeface="+mn-ea"/>
              </a:rPr>
              <a:t>中定义的自动变量，在它的调用函数</a:t>
            </a:r>
            <a:r>
              <a:rPr kumimoji="1" lang="en-US" altLang="zh-CN" sz="1600" b="1" dirty="0">
                <a:latin typeface="+mn-ea"/>
              </a:rPr>
              <a:t>(fun)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允许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访问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2705735"/>
            <a:ext cx="31527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f1()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f2()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a=17;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答：变量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的定义在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函数之后，因此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函数无法正常访问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，因为在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函数的作用域里，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没有被声明。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865" y="2886075"/>
            <a:ext cx="32194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void f1()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a=15;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"fa="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int main()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"ma1="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f1();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"ma2="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return 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2235835"/>
            <a:ext cx="1859915" cy="12401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f1(int a)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a=15;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"fa="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 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"ma1="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a = f1(a);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"ma2="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不是全局变量，解释为什么</a:t>
            </a:r>
            <a:r>
              <a:rPr kumimoji="1" lang="en-US" altLang="zh-CN" sz="1600" b="1" dirty="0">
                <a:latin typeface="+mn-ea"/>
              </a:rPr>
              <a:t>ma1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ma2</a:t>
            </a:r>
            <a:r>
              <a:rPr kumimoji="1" lang="zh-CN" altLang="en-US" sz="1600" b="1" dirty="0">
                <a:latin typeface="+mn-ea"/>
              </a:rPr>
              <a:t>两句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输出的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值不相同？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是如何被改变的？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函数中首先将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，然后调用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），将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函数中的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值作为实参赋给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中的形参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对形参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赋值为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并返回形参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的值，然后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函数中将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的返回值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函数中的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，因此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ma2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535" y="2320290"/>
            <a:ext cx="1575435" cy="11087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a=10, b;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a=5, b;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"a1=" &lt;&lt; a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&amp;a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"b1=" &lt;&lt; b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"a2="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"b2="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f2();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可知，局部变量不初始化，初值为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随机值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；全局变量不初始化，初值为</a:t>
            </a:r>
            <a:r>
              <a:rPr kumimoji="1" lang="en-US" altLang="zh-CN" sz="1600" b="1" dirty="0">
                <a:latin typeface="+mn-ea"/>
              </a:rPr>
              <a:t>___0___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、由截图可知，全局变量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的起始地址差</a:t>
            </a:r>
            <a:r>
              <a:rPr kumimoji="1" lang="en-US" altLang="zh-CN" sz="1600" b="1" dirty="0">
                <a:latin typeface="+mn-ea"/>
              </a:rPr>
              <a:t>__320_</a:t>
            </a:r>
            <a:r>
              <a:rPr kumimoji="1" lang="zh-CN" altLang="en-US" sz="1600" b="1" dirty="0">
                <a:latin typeface="+mn-ea"/>
              </a:rPr>
              <a:t>个字节；局部变量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之间差</a:t>
            </a:r>
            <a:r>
              <a:rPr kumimoji="1" lang="en-US" altLang="zh-CN" sz="1600" b="1" dirty="0">
                <a:latin typeface="+mn-ea"/>
              </a:rPr>
              <a:t>__12__</a:t>
            </a:r>
            <a:r>
              <a:rPr kumimoji="1" lang="zh-CN" altLang="en-US" sz="1600" b="1" dirty="0">
                <a:latin typeface="+mn-ea"/>
              </a:rPr>
              <a:t>个字节；全局和局部之前差</a:t>
            </a:r>
            <a:r>
              <a:rPr kumimoji="1" lang="en-US" altLang="zh-CN" sz="1600" b="1" dirty="0">
                <a:latin typeface="+mn-ea"/>
              </a:rPr>
              <a:t>___241KB___(</a:t>
            </a:r>
            <a:r>
              <a:rPr kumimoji="1" lang="zh-CN" altLang="en-US" sz="1600" b="1" dirty="0">
                <a:latin typeface="+mn-ea"/>
              </a:rPr>
              <a:t>单位</a:t>
            </a:r>
            <a:r>
              <a:rPr kumimoji="1" lang="en-US" altLang="zh-CN" sz="1600" b="1" dirty="0">
                <a:latin typeface="+mn-ea"/>
              </a:rPr>
              <a:t>KB/MB</a:t>
            </a:r>
            <a:r>
              <a:rPr kumimoji="1" lang="zh-CN" altLang="en-US" sz="1600" b="1" dirty="0">
                <a:latin typeface="+mn-ea"/>
              </a:rPr>
              <a:t>均可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，说明这是两个不同的存储区，全局变量在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静态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存储区，局部变量在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动态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710" y="2289175"/>
            <a:ext cx="2428875" cy="1226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a=10;</a:t>
            </a: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short a;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x=5;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double x=1.2;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short p=1, p=2;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24401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4.A/4.B</a:t>
            </a:r>
            <a:r>
              <a:rPr kumimoji="1" lang="zh-CN" altLang="en-US" sz="1600" b="1" dirty="0">
                <a:latin typeface="+mn-ea"/>
              </a:rPr>
              <a:t>可以得知：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级别的变量允许同名；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级别的变量不允许同名；变量同名是的使用规则是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低层屏蔽高层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2689225"/>
            <a:ext cx="3762375" cy="390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3183255"/>
            <a:ext cx="3776980" cy="3606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50" y="3647440"/>
            <a:ext cx="369570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、自动变量与静态局部变量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3" y="1323975"/>
            <a:ext cx="106496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a++;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static int b=1;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b++;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7077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各自的地址和值，得到结论为：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自动变量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静态局部变量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根据上面的分析结果，自动变量应该放在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，静态局部变量应该放在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  <a:sym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45" y="2309495"/>
            <a:ext cx="1176655" cy="14217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3757</Words>
  <Application>Microsoft Office PowerPoint</Application>
  <PresentationFormat>宽屏</PresentationFormat>
  <Paragraphs>524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星博 毛</cp:lastModifiedBy>
  <cp:revision>246</cp:revision>
  <dcterms:created xsi:type="dcterms:W3CDTF">2020-08-13T13:39:00Z</dcterms:created>
  <dcterms:modified xsi:type="dcterms:W3CDTF">2024-04-20T05:08:42Z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313F47B4EEEB4214B3D57DE6496264B7_12</vt:lpwstr>
  </property>
  <property fmtid="{D5CDD505-2E9C-101B-9397-08002B2CF9AE}" pid="3" name="KSOProductBuildVer">
    <vt:lpwstr>2052-12.1.0.16729</vt:lpwstr>
  </property>
</Properties>
</file>