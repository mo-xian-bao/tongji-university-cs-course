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20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28" r:id="rId11"/>
    <p:sldId id="329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8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75437-4699-47F9-A686-DED7CC3F8E4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96B26F-9610-4908-87F1-F29EAB186E8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6E774-9277-40A1-B2CC-3E944505D7F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4D9684-C46B-4BF4-8B5A-3376AE2179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6D29B-5108-4EBC-9D13-1AFB01FA7B4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F4531F-4CEB-4F1D-9C5A-36080892E3C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26C11-97E6-4909-AB2A-0C053F58811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6522C3-E170-468B-881C-411E80AC5B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11B0F-3F6B-46DA-A01B-CFA3105492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772D5A-4D27-41BE-B271-80E8FCA205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D41B23-05F2-4755-A73B-1D1DC854B81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2A16CB87-8DF2-4E49-B551-ABC2812E454C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zh-CN" altLang="en-US" sz="2800" b="1" dirty="0">
                <a:latin typeface="+mn-ea"/>
              </a:rPr>
              <a:t>在</a:t>
            </a:r>
            <a:r>
              <a:rPr lang="en-US" altLang="zh-CN" sz="2800" b="1" dirty="0">
                <a:latin typeface="+mn-ea"/>
              </a:rPr>
              <a:t>Dev C++</a:t>
            </a:r>
            <a:r>
              <a:rPr lang="zh-CN" altLang="en-US" sz="2800" b="1" dirty="0">
                <a:latin typeface="+mn-ea"/>
              </a:rPr>
              <a:t>中建立含多源程序文件的项目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有头文件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★ 以</a:t>
            </a:r>
            <a:r>
              <a:rPr lang="en-US" altLang="zh-CN" sz="2800" b="1" dirty="0">
                <a:latin typeface="+mn-ea"/>
              </a:rPr>
              <a:t>main()</a:t>
            </a:r>
            <a:r>
              <a:rPr lang="zh-CN" altLang="en-US" sz="2800" b="1" dirty="0">
                <a:latin typeface="+mn-ea"/>
              </a:rPr>
              <a:t>调用</a:t>
            </a:r>
            <a:r>
              <a:rPr lang="en-US" altLang="zh-CN" sz="2800" b="1" dirty="0">
                <a:latin typeface="+mn-ea"/>
              </a:rPr>
              <a:t>max()</a:t>
            </a:r>
            <a:r>
              <a:rPr lang="zh-CN" altLang="en-US" sz="2800" b="1" dirty="0">
                <a:latin typeface="+mn-ea"/>
              </a:rPr>
              <a:t>为例，要求将</a:t>
            </a:r>
            <a:r>
              <a:rPr lang="en-US" altLang="zh-CN" sz="2800" b="1" dirty="0">
                <a:latin typeface="+mn-ea"/>
              </a:rPr>
              <a:t>main()</a:t>
            </a:r>
            <a:r>
              <a:rPr lang="zh-CN" altLang="en-US" sz="2800" b="1" dirty="0">
                <a:latin typeface="+mn-ea"/>
              </a:rPr>
              <a:t>和</a:t>
            </a:r>
            <a:r>
              <a:rPr lang="en-US" altLang="zh-CN" sz="2800" b="1" dirty="0">
                <a:latin typeface="+mn-ea"/>
              </a:rPr>
              <a:t>max()</a:t>
            </a:r>
            <a:r>
              <a:rPr lang="zh-CN" altLang="en-US" sz="2800" b="1" dirty="0">
                <a:latin typeface="+mn-ea"/>
              </a:rPr>
              <a:t>放在两个不同的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源程序文件中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项目名称：</a:t>
            </a:r>
            <a:r>
              <a:rPr lang="en-US" altLang="zh-CN" sz="2800" b="1" dirty="0" err="1">
                <a:latin typeface="+mn-ea"/>
              </a:rPr>
              <a:t>ex_with_h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源程序名：</a:t>
            </a:r>
            <a:r>
              <a:rPr lang="en-US" altLang="zh-CN" sz="2800" b="1" dirty="0">
                <a:latin typeface="+mn-ea"/>
              </a:rPr>
              <a:t>ex3.cpp  (main</a:t>
            </a:r>
            <a:r>
              <a:rPr lang="zh-CN" altLang="en-US" sz="2800" b="1" dirty="0">
                <a:latin typeface="+mn-ea"/>
              </a:rPr>
              <a:t>函数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          ex4.cpp  (max</a:t>
            </a:r>
            <a:r>
              <a:rPr lang="zh-CN" altLang="en-US" sz="2800" b="1" dirty="0">
                <a:latin typeface="+mn-ea"/>
              </a:rPr>
              <a:t>函数的实现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头文件名：</a:t>
            </a:r>
            <a:r>
              <a:rPr lang="en-US" altLang="zh-CN" sz="2800" b="1" dirty="0" err="1">
                <a:latin typeface="+mn-ea"/>
              </a:rPr>
              <a:t>ex.h</a:t>
            </a:r>
            <a:r>
              <a:rPr lang="en-US" altLang="zh-CN" sz="2800" b="1" dirty="0">
                <a:latin typeface="+mn-ea"/>
              </a:rPr>
              <a:t>     (max</a:t>
            </a:r>
            <a:r>
              <a:rPr lang="zh-CN" altLang="en-US" sz="2800" b="1" dirty="0">
                <a:latin typeface="+mn-ea"/>
              </a:rPr>
              <a:t>函数的声明</a:t>
            </a:r>
            <a:r>
              <a:rPr lang="en-US" altLang="zh-CN" sz="2800" b="1" dirty="0">
                <a:latin typeface="+mn-ea"/>
              </a:rPr>
              <a:t>)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注：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本文档描述的是建立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的项目文件，然后将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VS2022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已调试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通过的多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文件放入项目中，而不是新建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2.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单</a:t>
            </a:r>
            <a:r>
              <a:rPr lang="en-US" altLang="zh-CN" sz="2800" b="1" dirty="0" err="1">
                <a:solidFill>
                  <a:schemeClr val="accent2"/>
                </a:solidFill>
                <a:latin typeface="+mn-ea"/>
              </a:rPr>
              <a:t>cpp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文件编译为可执行文件，在</a:t>
            </a:r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中既可以建项目文件，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lang="zh-CN" altLang="en-US" sz="2800" b="1" dirty="0">
                <a:solidFill>
                  <a:schemeClr val="accent2"/>
                </a:solidFill>
                <a:latin typeface="+mn-ea"/>
              </a:rPr>
              <a:t>也可以不建项目，之前的做法都是不建项目</a:t>
            </a:r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启动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Dev C++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，选择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文件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菜单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-“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新建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”-“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项目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或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新建文件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按钮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-“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项目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（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注：记得切换到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32-bit Debug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）</a:t>
            </a:r>
            <a:endParaRPr lang="zh-CN" altLang="en-US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" y="2420620"/>
            <a:ext cx="11024870" cy="3103880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H="1">
            <a:off x="745490" y="1997075"/>
            <a:ext cx="1407160" cy="77724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 flipV="1">
            <a:off x="616585" y="3197860"/>
            <a:ext cx="1002030" cy="145224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7352665" y="2528570"/>
            <a:ext cx="3437255" cy="102425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+mn-ea"/>
              </a:rPr>
              <a:t>2.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在出现的对话框中，选择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“Basic”-“Console application”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选择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“C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项目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“C++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项目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，输入项目名称，按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确定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endParaRPr lang="en-US" altLang="zh-CN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308225"/>
            <a:ext cx="6388100" cy="383159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3027045" y="2358390"/>
            <a:ext cx="1407160" cy="77724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1979295" y="2358390"/>
            <a:ext cx="509905" cy="35306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2279650" y="4777740"/>
            <a:ext cx="1407160" cy="77724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5977255" y="3907790"/>
            <a:ext cx="1407160" cy="77724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5419090" y="5355590"/>
            <a:ext cx="715645" cy="41021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4434205" y="4498340"/>
            <a:ext cx="2789555" cy="73723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777365"/>
            <a:ext cx="5352415" cy="4100830"/>
          </a:xfrm>
          <a:prstGeom prst="rect">
            <a:avLst/>
          </a:prstGeom>
        </p:spPr>
      </p:pic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2800" b="1" dirty="0">
              <a:solidFill>
                <a:schemeClr val="accent2"/>
              </a:solidFill>
              <a:latin typeface="+mn-ea"/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+mn-ea"/>
              </a:rPr>
              <a:t>3.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在出现的对话框中选择项目文件存放目录，按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保存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”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015" y="1777365"/>
            <a:ext cx="5386070" cy="361823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1431290" y="2025650"/>
            <a:ext cx="1370965" cy="4572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279515" y="1777365"/>
            <a:ext cx="2099310" cy="41338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>
            <a:endCxn id="8" idx="2"/>
          </p:cNvCxnSpPr>
          <p:nvPr/>
        </p:nvCxnSpPr>
        <p:spPr>
          <a:xfrm flipV="1">
            <a:off x="2837815" y="1984375"/>
            <a:ext cx="3441700" cy="28829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218690" y="3299460"/>
            <a:ext cx="3219450" cy="114427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07590" y="3392805"/>
            <a:ext cx="30905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选择项目文件的保存位置，要求选择</a:t>
            </a:r>
            <a:r>
              <a:rPr lang="en-US" altLang="zh-CN" b="1">
                <a:solidFill>
                  <a:srgbClr val="FF0000"/>
                </a:solidFill>
              </a:rPr>
              <a:t>VS2022</a:t>
            </a:r>
            <a:r>
              <a:rPr lang="zh-CN" altLang="en-US" b="1">
                <a:solidFill>
                  <a:srgbClr val="FF0000"/>
                </a:solidFill>
              </a:rPr>
              <a:t>的</a:t>
            </a:r>
            <a:r>
              <a:rPr lang="en-US" altLang="zh-CN" b="1">
                <a:solidFill>
                  <a:srgbClr val="FF0000"/>
                </a:solidFill>
              </a:rPr>
              <a:t>ex_with_h</a:t>
            </a:r>
            <a:r>
              <a:rPr lang="zh-CN" altLang="en-US" b="1">
                <a:solidFill>
                  <a:srgbClr val="FF0000"/>
                </a:solidFill>
              </a:rPr>
              <a:t>项目对应文件夹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p>
            <a:pPr marL="0" indent="0" algn="l">
              <a:buNone/>
            </a:pP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4.Dev C++的项目文件已建立，展开左侧的项目，可以看到Dev C++</a:t>
            </a: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已添加main.cpp并有了初始内容(空函数)</a:t>
            </a:r>
            <a:endParaRPr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390" y="1758950"/>
            <a:ext cx="8063230" cy="495998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811530" y="2876550"/>
            <a:ext cx="392430" cy="50038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p>
            <a:pPr marL="0" indent="0" algn="l">
              <a:buNone/>
            </a:pP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5.选中main.cpp-右键菜单-选择"移除文件”，会弹出对话框，</a:t>
            </a: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询问时候保存main.cpp，选“No"即可</a:t>
            </a:r>
            <a:endParaRPr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1733550"/>
            <a:ext cx="10195560" cy="39947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024630"/>
            <a:ext cx="2541270" cy="1221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260" y="4792980"/>
            <a:ext cx="3601085" cy="175704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631825" y="3130550"/>
            <a:ext cx="392430" cy="50038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2072640" y="2500630"/>
            <a:ext cx="628650" cy="62992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218305" y="5065395"/>
            <a:ext cx="392430" cy="50038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上箭头 9"/>
          <p:cNvSpPr/>
          <p:nvPr/>
        </p:nvSpPr>
        <p:spPr>
          <a:xfrm rot="7200000">
            <a:off x="6280150" y="4573905"/>
            <a:ext cx="1088390" cy="1700530"/>
          </a:xfrm>
          <a:prstGeom prst="upArrow">
            <a:avLst/>
          </a:prstGeom>
          <a:solidFill>
            <a:srgbClr val="FF0000">
              <a:alpha val="36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p>
            <a:pPr marL="0" indent="0" algn="l">
              <a:buNone/>
            </a:pP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6.选中项目-右键菜单-"添加文件”，在出现的对话框中同时选中</a:t>
            </a: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ex</a:t>
            </a:r>
            <a:r>
              <a:rPr lang="en-US" sz="2800" b="1" dirty="0">
                <a:solidFill>
                  <a:schemeClr val="tx1"/>
                </a:solidFill>
                <a:latin typeface="+mn-ea"/>
              </a:rPr>
              <a:t>3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.cpp</a:t>
            </a:r>
            <a:r>
              <a:rPr lang="zh-CN" sz="2800" b="1" dirty="0">
                <a:solidFill>
                  <a:schemeClr val="tx1"/>
                </a:solidFill>
                <a:latin typeface="+mn-ea"/>
              </a:rPr>
              <a:t>，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ex</a:t>
            </a:r>
            <a:r>
              <a:rPr lang="en-US" sz="2800" b="1" dirty="0">
                <a:solidFill>
                  <a:schemeClr val="tx1"/>
                </a:solidFill>
                <a:latin typeface="+mn-ea"/>
              </a:rPr>
              <a:t>4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.cpp</a:t>
            </a:r>
            <a:r>
              <a:rPr lang="zh-CN" sz="2800" b="1" dirty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ex.h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，按"打开”</a:t>
            </a: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(同时选中的方法：按住Ctrl键，再通过鼠标选中ex</a:t>
            </a:r>
            <a:r>
              <a:rPr lang="en-US" sz="2800" b="1" dirty="0">
                <a:solidFill>
                  <a:schemeClr val="tx1"/>
                </a:solidFill>
                <a:latin typeface="+mn-ea"/>
              </a:rPr>
              <a:t>3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.cpp</a:t>
            </a:r>
            <a:r>
              <a:rPr lang="en-US" sz="2800" b="1" dirty="0">
                <a:solidFill>
                  <a:schemeClr val="tx1"/>
                </a:solidFill>
                <a:latin typeface="+mn-ea"/>
              </a:rPr>
              <a:t>,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ex</a:t>
            </a:r>
            <a:r>
              <a:rPr lang="en-US" sz="2800" b="1" dirty="0">
                <a:solidFill>
                  <a:schemeClr val="tx1"/>
                </a:solidFill>
                <a:latin typeface="+mn-ea"/>
              </a:rPr>
              <a:t>4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.cpp</a:t>
            </a:r>
            <a:r>
              <a:rPr lang="zh-CN" sz="2800" b="1" dirty="0">
                <a:solidFill>
                  <a:schemeClr val="tx1"/>
                </a:solidFill>
                <a:latin typeface="+mn-ea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ex.h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)</a:t>
            </a:r>
            <a:endParaRPr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545" y="2284730"/>
            <a:ext cx="4537075" cy="34613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015" y="2241550"/>
            <a:ext cx="5459730" cy="419798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631825" y="4011930"/>
            <a:ext cx="392430" cy="50038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>
            <a:off x="10474325" y="4936490"/>
            <a:ext cx="91440" cy="73850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5878830" y="3959860"/>
            <a:ext cx="561340" cy="26606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6113780" y="3020060"/>
            <a:ext cx="374650" cy="44640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2658110" y="3848735"/>
            <a:ext cx="1162050" cy="37719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6047740" y="4512310"/>
            <a:ext cx="392430" cy="50038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p>
            <a:pPr marL="0" indent="0" algn="l">
              <a:buNone/>
            </a:pP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7.文件添加成功，可以看到两个cpp</a:t>
            </a:r>
            <a:r>
              <a:rPr lang="zh-CN" sz="2800" b="1" dirty="0">
                <a:solidFill>
                  <a:schemeClr val="tx1"/>
                </a:solidFill>
                <a:latin typeface="+mn-ea"/>
              </a:rPr>
              <a:t>和一个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</a:rPr>
              <a:t>h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文件</a:t>
            </a:r>
            <a:r>
              <a:rPr sz="2800" b="1" dirty="0">
                <a:solidFill>
                  <a:schemeClr val="tx1"/>
                </a:solidFill>
                <a:latin typeface="+mn-ea"/>
              </a:rPr>
              <a:t>，单击可以打开文件，</a:t>
            </a: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并在右侧编辑查看</a:t>
            </a:r>
            <a:endParaRPr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835" y="1736090"/>
            <a:ext cx="9195435" cy="468439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370840" y="3145155"/>
            <a:ext cx="846455" cy="95694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p>
            <a:pPr marL="0" indent="0" algn="l">
              <a:buNone/>
            </a:pP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8.”运行“菜单-"编译运行”或按"F11"键，可以运行程序</a:t>
            </a: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并观察结果</a:t>
            </a:r>
            <a:endParaRPr sz="28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080" y="1199515"/>
            <a:ext cx="8404860" cy="53486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085" y="1248410"/>
            <a:ext cx="6856095" cy="5513705"/>
          </a:xfrm>
          <a:prstGeom prst="rect">
            <a:avLst/>
          </a:prstGeom>
        </p:spPr>
      </p:pic>
      <p:sp>
        <p:nvSpPr>
          <p:cNvPr id="552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p>
            <a:pPr marL="0" indent="0" algn="l">
              <a:buNone/>
            </a:pPr>
            <a:endParaRPr sz="2800" b="1" dirty="0">
              <a:solidFill>
                <a:schemeClr val="tx1"/>
              </a:solidFill>
              <a:latin typeface="+mn-ea"/>
            </a:endParaRPr>
          </a:p>
          <a:p>
            <a:pPr marL="0" indent="0" algn="l">
              <a:buNone/>
            </a:pPr>
            <a:r>
              <a:rPr sz="2800" b="1" dirty="0">
                <a:solidFill>
                  <a:schemeClr val="tx1"/>
                </a:solidFill>
                <a:latin typeface="+mn-ea"/>
              </a:rPr>
              <a:t>9.退出Dev C++后，再次双击*.dev图标，即可再次打开该项目</a:t>
            </a:r>
            <a:endParaRPr sz="2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095615" y="4057650"/>
            <a:ext cx="3785235" cy="948690"/>
          </a:xfrm>
          <a:prstGeom prst="roundRect">
            <a:avLst/>
          </a:prstGeom>
          <a:solidFill>
            <a:schemeClr val="accent1">
              <a:alpha val="42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3940175" y="2978785"/>
            <a:ext cx="977900" cy="52387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 flipV="1">
            <a:off x="3962400" y="3754120"/>
            <a:ext cx="4110990" cy="61468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4436110" y="25800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双击</a:t>
            </a:r>
            <a:r>
              <a:rPr lang="en-US" altLang="zh-CN" sz="2000" b="1">
                <a:solidFill>
                  <a:srgbClr val="FF0000"/>
                </a:solidFill>
              </a:rPr>
              <a:t>*.dev</a:t>
            </a:r>
            <a:r>
              <a:rPr lang="zh-CN" altLang="en-US" sz="2000" b="1">
                <a:solidFill>
                  <a:srgbClr val="FF0000"/>
                </a:solidFill>
              </a:rPr>
              <a:t>可再次打开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24520" y="419798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Dev C++无论是否有工程文件，</a:t>
            </a:r>
            <a:endParaRPr lang="zh-CN" altLang="en-US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生成的可执行文件都与cpp同目录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WPS 演示</Application>
  <PresentationFormat>宽屏</PresentationFormat>
  <Paragraphs>51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18</cp:revision>
  <dcterms:created xsi:type="dcterms:W3CDTF">2020-08-13T13:39:00Z</dcterms:created>
  <dcterms:modified xsi:type="dcterms:W3CDTF">2024-04-20T06:15:06Z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CC8D5CFB771542BD9F6E463E76DC2478_12</vt:lpwstr>
  </property>
  <property fmtid="{D5CDD505-2E9C-101B-9397-08002B2CF9AE}" pid="3" name="KSOProductBuildVer">
    <vt:lpwstr>2052-12.1.0.16729</vt:lpwstr>
  </property>
</Properties>
</file>