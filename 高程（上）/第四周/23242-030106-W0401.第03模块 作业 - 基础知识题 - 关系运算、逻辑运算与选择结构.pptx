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6" r:id="rId5"/>
    <p:sldId id="1237" r:id="rId6"/>
    <p:sldId id="1230" r:id="rId7"/>
    <p:sldId id="492" r:id="rId8"/>
    <p:sldId id="1238" r:id="rId9"/>
    <p:sldId id="1251" r:id="rId10"/>
    <p:sldId id="1240" r:id="rId11"/>
    <p:sldId id="1241" r:id="rId12"/>
    <p:sldId id="1252" r:id="rId13"/>
    <p:sldId id="1242" r:id="rId14"/>
    <p:sldId id="1243" r:id="rId15"/>
    <p:sldId id="1245" r:id="rId16"/>
    <p:sldId id="1246" r:id="rId17"/>
    <p:sldId id="1247" r:id="rId18"/>
    <p:sldId id="1253" r:id="rId19"/>
    <p:sldId id="1248" r:id="rId20"/>
    <p:sldId id="1249" r:id="rId21"/>
    <p:sldId id="1277" r:id="rId22"/>
    <p:sldId id="1254" r:id="rId23"/>
    <p:sldId id="1250" r:id="rId24"/>
    <p:sldId id="1255" r:id="rId25"/>
    <p:sldId id="1256" r:id="rId26"/>
    <p:sldId id="1257" r:id="rId27"/>
    <p:sldId id="1259" r:id="rId28"/>
    <p:sldId id="1258" r:id="rId29"/>
    <p:sldId id="1260" r:id="rId30"/>
    <p:sldId id="1261" r:id="rId31"/>
    <p:sldId id="1262" r:id="rId32"/>
    <p:sldId id="1263" r:id="rId33"/>
    <p:sldId id="1200" r:id="rId34"/>
    <p:sldId id="1264" r:id="rId35"/>
    <p:sldId id="1266" r:id="rId36"/>
    <p:sldId id="1265" r:id="rId37"/>
    <p:sldId id="1268" r:id="rId38"/>
    <p:sldId id="1269" r:id="rId39"/>
    <p:sldId id="1270" r:id="rId40"/>
    <p:sldId id="1271" r:id="rId41"/>
    <p:sldId id="1272" r:id="rId42"/>
    <p:sldId id="1273" r:id="rId43"/>
    <p:sldId id="1274" r:id="rId44"/>
    <p:sldId id="1275" r:id="rId45"/>
    <p:sldId id="1319" r:id="rId46"/>
    <p:sldId id="1267" r:id="rId47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3" d="100"/>
          <a:sy n="93" d="100"/>
        </p:scale>
        <p:origin x="104" y="5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8.xml"/><Relationship Id="rId53" Type="http://schemas.openxmlformats.org/officeDocument/2006/relationships/customXml" Target="../customXml/item1.xml"/><Relationship Id="rId52" Type="http://schemas.openxmlformats.org/officeDocument/2006/relationships/customXmlProps" Target="../customXml/itemProps7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b=2, c=3,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下为什么会有三个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？说说你的理解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答：&gt; 是一个右结合的运算符。表达式 a &gt; b &gt; c 被编译器理解为为 (a &gt; b) &gt; c。首先计算 a &gt; b，这将返回一个布尔值，这个值为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0/1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，然后这个布尔值与 c 进行比较，虽然语法没错但是逻辑没有意义，所以会有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warning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，下面两个同理。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715" y="1729740"/>
            <a:ext cx="1039495" cy="996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20" y="1783715"/>
            <a:ext cx="4759325" cy="730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a=3, b=2, c=1,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a&gt;b&gt;c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这个式子，按人的常规理解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(3&gt;2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且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2&gt;1)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是正确的，为什么结果是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？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a&lt;b&lt;c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(3&lt;2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2&lt;1)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b&gt;a&lt;c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(2&gt;3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3&lt;1)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文字简单说明即可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答：连续使用比较运算符时，编译器会先比较前两个数据，然后返回一个布尔值（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0/1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rPr>
              <a:t>），这个布尔值再与后面的数据比较。第一个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 = a &gt; b &gt; 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，先比较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a &gt; b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，返回值为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1,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再比较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&gt; 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，所以返回值为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。后面同理。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0515" y="1658620"/>
            <a:ext cx="866140" cy="1054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1804670"/>
            <a:ext cx="4919345" cy="762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f1 = 100.25;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(f1 - 100.25)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==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fabs(f1-100.25)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f2 = 1.2;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(f2 - 1.2)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==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fabs(f2-1.2)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04337" y="1323975"/>
            <a:ext cx="5435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VS+Dev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下的运行结果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、删除第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#include&lt;</a:t>
            </a:r>
            <a:r>
              <a:rPr kumimoji="1" lang="en-US" altLang="zh-CN" sz="1600" b="1" dirty="0" err="1">
                <a:latin typeface="+mn-ea"/>
              </a:rPr>
              <a:t>cmath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后，再次贴</a:t>
            </a:r>
            <a:r>
              <a:rPr kumimoji="1" lang="en-US" altLang="zh-CN" sz="1600" b="1" dirty="0" err="1">
                <a:latin typeface="+mn-ea"/>
              </a:rPr>
              <a:t>VS+Dev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、由本例得出的结论，实数进行相等比较时的通用方法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两数相减后的绝对值小于某一规定数值时即可判定两个实数相等。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______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970" y="1595755"/>
            <a:ext cx="904875" cy="971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80" y="2592705"/>
            <a:ext cx="2902585" cy="240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110" y="1486535"/>
            <a:ext cx="1155700" cy="1320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565" y="3078480"/>
            <a:ext cx="861060" cy="1033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380" y="4131310"/>
            <a:ext cx="2840990" cy="2470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525" y="3649345"/>
            <a:ext cx="3883025" cy="309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5371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可不加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(d1==d2)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(f1==f2)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6815" y="1323975"/>
            <a:ext cx="61321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、观察</a:t>
            </a:r>
            <a:r>
              <a:rPr kumimoji="1" lang="en-US" altLang="zh-CN" sz="1600" b="1" dirty="0">
                <a:latin typeface="+mn-ea"/>
              </a:rPr>
              <a:t>fabs(**)&lt;1e-6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fabs(**)&lt;1e-7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的表现，哪个相同？哪个不同？为什么？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答：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fabs(**)&lt;1e-6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表现相同，都输出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；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fabs(**)&lt;1e-7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表现不同，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型能表示的有效位数为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6-7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位，能区分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1e-6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的精度，但不一定能区分开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1e-7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的精度。而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型能表示的有效位数为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15-16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位，足以区分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1e-6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1e-7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的精度。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900" y="1659255"/>
            <a:ext cx="927100" cy="128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685" y="1925320"/>
            <a:ext cx="4505960" cy="563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true 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"true"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false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"false"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 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"true" </a:t>
            </a:r>
            <a:r>
              <a:rPr kumimoji="1" lang="zh-CN" altLang="en-US" sz="1600" b="1" dirty="0">
                <a:latin typeface="+mn-ea"/>
              </a:rPr>
              <a:t>的区别（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"false"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true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是布尔型，代表逻辑真值；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"true"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是一个字符串常量。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false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是布尔型，代表逻辑假值；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"false"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是一个字符串常量。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、进阶思考：目前直接输出逻辑常量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，在屏幕上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输出的输出是</a:t>
            </a:r>
            <a:r>
              <a:rPr kumimoji="1" lang="en-US" altLang="zh-CN" sz="1600" b="1" dirty="0">
                <a:latin typeface="+mn-ea"/>
              </a:rPr>
              <a:t>1/0</a:t>
            </a:r>
            <a:r>
              <a:rPr kumimoji="1" lang="zh-CN" altLang="en-US" sz="1600" b="1" dirty="0">
                <a:latin typeface="+mn-ea"/>
              </a:rPr>
              <a:t>，如果想输出为</a:t>
            </a:r>
            <a:r>
              <a:rPr kumimoji="1" lang="en-US" altLang="zh-CN" sz="1600" b="1" dirty="0">
                <a:latin typeface="+mn-ea"/>
              </a:rPr>
              <a:t>true/false</a:t>
            </a:r>
            <a:r>
              <a:rPr kumimoji="1" lang="zh-CN" altLang="en-US" sz="1600" b="1" dirty="0">
                <a:latin typeface="+mn-ea"/>
              </a:rPr>
              <a:t>，应该怎么做？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、不允许用分支语句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条件运算符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zh-CN" altLang="en-US" sz="1600" b="1" dirty="0">
                <a:latin typeface="+mn-ea"/>
              </a:rPr>
              <a:t>、提示：去网上查一个前导格式控制符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课件无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答：要加上前导格式控制符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boolalpha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。（对其后布尔值有效）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使用方法：cout &lt;&lt; boolalpha;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cout &lt;&lt; true &lt;&lt; endl;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或者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cout &lt;&lt; boolalpha &lt;&lt; false &lt;&lt; endl;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7640" y="1395730"/>
            <a:ext cx="701040" cy="1156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k1 = 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(true)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' ' &lt;&lt; int(k1)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k2 = false;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(false)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' ' &lt;&lt; int(k2)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变量在内存中占用</a:t>
            </a:r>
            <a:r>
              <a:rPr kumimoji="1" lang="en-US" altLang="zh-CN" sz="1600" b="1" u="sng" dirty="0">
                <a:latin typeface="+mn-ea"/>
              </a:rPr>
              <a:t>__1__</a:t>
            </a:r>
            <a:r>
              <a:rPr kumimoji="1" lang="zh-CN" altLang="en-US" sz="1600" b="1" dirty="0">
                <a:latin typeface="+mn-ea"/>
              </a:rPr>
              <a:t>字节，值是</a:t>
            </a:r>
            <a:r>
              <a:rPr kumimoji="1" lang="en-US" altLang="zh-CN" sz="1600" b="1" u="sng" dirty="0">
                <a:latin typeface="+mn-ea"/>
              </a:rPr>
              <a:t>__0</a:t>
            </a:r>
            <a:r>
              <a:rPr kumimoji="1" lang="zh-CN" altLang="en-US" sz="1600" b="1" u="sng" dirty="0">
                <a:latin typeface="+mn-ea"/>
              </a:rPr>
              <a:t>或</a:t>
            </a:r>
            <a:r>
              <a:rPr kumimoji="1" lang="en-US" altLang="zh-CN" sz="1600" b="1" u="sng" dirty="0">
                <a:latin typeface="+mn-ea"/>
              </a:rPr>
              <a:t>1___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变量在输出时的规则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（限制：在无</a:t>
            </a:r>
            <a:r>
              <a:rPr kumimoji="1" lang="en-US" altLang="zh-CN" sz="1600" b="1" dirty="0">
                <a:latin typeface="+mn-ea"/>
              </a:rPr>
              <a:t>3.A</a:t>
            </a:r>
            <a:r>
              <a:rPr kumimoji="1" lang="zh-CN" altLang="en-US" sz="1600" b="1" dirty="0">
                <a:latin typeface="+mn-ea"/>
              </a:rPr>
              <a:t>的前导格式控制符的前提下）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bool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型常量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变量逻辑值为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true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时输出为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逻辑值为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false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时输出为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1400175"/>
            <a:ext cx="914400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int(k)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，输出是：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型变量在输入时的规则：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在输入值为非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的整型时，逻辑值为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true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，输出值为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；在输入值为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整型或者非整型数据时，逻辑值为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false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，输出值为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5460" y="1239520"/>
            <a:ext cx="490855" cy="518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460" y="1812290"/>
            <a:ext cx="447675" cy="452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225" y="2292350"/>
            <a:ext cx="426085" cy="517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030" y="2837180"/>
            <a:ext cx="487680" cy="511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670" y="3429000"/>
            <a:ext cx="55245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k='A';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k=0;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k=256;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c = 256;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的意思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不同类型数据之间的赋值可能会导致数据被截断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k='A'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字节赋值给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字节，为什么还有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类型虽然占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个字节，但值只有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或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，将非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大于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字节整型赋给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型也会被截断成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k=256</a:t>
            </a:r>
            <a:r>
              <a:rPr kumimoji="1" lang="zh-CN" altLang="en-US" sz="1600" b="1" dirty="0">
                <a:latin typeface="+mn-ea"/>
              </a:rPr>
              <a:t>如果按整型的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字节赋给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应该是多少？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现在实际是多少？为什么？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256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的二进制为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1 0000 0000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，赋给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字节应该是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c=0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），但现在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bool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型的赋值原则是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非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为真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为假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，只要不等于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bool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型的值均为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、为什么不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c</a:t>
            </a:r>
            <a:r>
              <a:rPr kumimoji="1" lang="zh-CN" altLang="en-US" sz="1600" b="1" dirty="0">
                <a:latin typeface="+mn-ea"/>
              </a:rPr>
              <a:t>，而是 </a:t>
            </a:r>
            <a:r>
              <a:rPr kumimoji="1" lang="en-US" altLang="zh-CN" sz="1600" b="1" dirty="0">
                <a:latin typeface="+mn-ea"/>
              </a:rPr>
              <a:t>(int)c ?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所代表的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码字符尾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，这个字符是不可见字符，因此要把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转换成它的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码值输出。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为真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为假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这句话如何解释？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使用布尔表达式时，任何非0的整数值都被视为逻辑真（true），而0被当作逻辑假（false）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9220" y="1410970"/>
            <a:ext cx="628650" cy="914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645" y="1545590"/>
            <a:ext cx="3540760" cy="644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5625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f=true;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 a=10;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a=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a+f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6815" y="1323975"/>
            <a:ext cx="61575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参与表达式计算时，当做</a:t>
            </a:r>
            <a:r>
              <a:rPr kumimoji="1" lang="en-US" altLang="zh-CN" sz="1600" b="1" u="sng" dirty="0">
                <a:latin typeface="+mn-ea"/>
              </a:rPr>
              <a:t>_ </a:t>
            </a:r>
            <a:r>
              <a:rPr kumimoji="1" lang="zh-CN" altLang="en-US" sz="1600" b="1" u="sng" dirty="0">
                <a:latin typeface="+mn-ea"/>
              </a:rPr>
              <a:t>整型，</a:t>
            </a:r>
            <a:r>
              <a:rPr kumimoji="1" lang="en-US" altLang="zh-CN" sz="1600" b="1" u="sng" dirty="0">
                <a:latin typeface="+mn-ea"/>
              </a:rPr>
              <a:t>true</a:t>
            </a:r>
            <a:r>
              <a:rPr kumimoji="1" lang="zh-CN" altLang="en-US" sz="1600" b="1" u="sng" dirty="0">
                <a:latin typeface="+mn-ea"/>
              </a:rPr>
              <a:t>的值为</a:t>
            </a:r>
            <a:r>
              <a:rPr kumimoji="1" lang="en-US" altLang="zh-CN" sz="1600" b="1" u="sng" dirty="0">
                <a:latin typeface="+mn-ea"/>
              </a:rPr>
              <a:t>1</a:t>
            </a:r>
            <a:r>
              <a:rPr kumimoji="1" lang="zh-CN" altLang="en-US" sz="1600" b="1" u="sng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</a:rPr>
              <a:t>false</a:t>
            </a:r>
            <a:r>
              <a:rPr kumimoji="1" lang="zh-CN" altLang="en-US" sz="1600" b="1" u="sng" dirty="0">
                <a:latin typeface="+mn-ea"/>
              </a:rPr>
              <a:t>的值为</a:t>
            </a:r>
            <a:r>
              <a:rPr kumimoji="1" lang="en-US" altLang="zh-CN" sz="1600" b="1" u="sng" dirty="0">
                <a:latin typeface="+mn-ea"/>
              </a:rPr>
              <a:t>0____________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105" y="1407160"/>
            <a:ext cx="881380" cy="607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完成下列两个表格的填写（</a:t>
            </a:r>
            <a:r>
              <a:rPr lang="en-US" altLang="zh-CN" sz="1600" b="1" dirty="0">
                <a:latin typeface="+mn-ea"/>
              </a:rPr>
              <a:t>a/b</a:t>
            </a:r>
            <a:r>
              <a:rPr lang="zh-CN" altLang="en-US" sz="1600" b="1" dirty="0">
                <a:latin typeface="+mn-ea"/>
              </a:rPr>
              <a:t>是两个逻辑值，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填写的内容不要用黑色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0420" y="1455811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30420" y="3758189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a=1, b=2, c=3, d=4, m=1, n=1;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(m=a&gt;b)&amp;&amp;(n=c&gt;d);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(m=a&gt;b)&amp;&amp;(n=c&gt;d)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的求值过程（标出步骤顺序）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步骤</a:t>
            </a:r>
            <a:r>
              <a:rPr lang="zh-CN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①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a&gt;b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false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步骤②：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m=a&gt;b     m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被赋值为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，在逻辑与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&amp;&amp;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条件下，整个表达式值确定为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，因此不再进行运算。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、短路运算的意思是：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___当逻辑表达式的结果可以确定时，停止进一步的计算___________________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255" y="1374775"/>
            <a:ext cx="868680" cy="7232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42271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bool m, n, k=true, p=false;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 = </a:t>
            </a:r>
            <a:r>
              <a:rPr lang="en-US" altLang="zh-CN" sz="1400" b="1" dirty="0">
                <a:latin typeface="+mn-ea"/>
                <a:sym typeface="+mn-ea"/>
              </a:rPr>
              <a:t>5&gt;3 &amp;&amp; 2;</a:t>
            </a:r>
            <a:endParaRPr lang="en-US" altLang="zh-CN" sz="1400" b="1" dirty="0">
              <a:latin typeface="+mn-ea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+mn-ea"/>
                <a:sym typeface="+mn-ea"/>
              </a:rPr>
              <a:t>n = </a:t>
            </a:r>
            <a:r>
              <a:rPr lang="en-US" altLang="zh-CN" sz="1400" b="1" dirty="0">
                <a:latin typeface="+mn-ea"/>
                <a:sym typeface="+mn-ea"/>
              </a:rPr>
              <a:t>8&lt;4 - !0;</a:t>
            </a:r>
            <a:endParaRPr lang="en-US" altLang="zh-CN" sz="1400" b="1" dirty="0">
              <a:latin typeface="+mn-ea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&lt;&lt; "m=" &lt;&lt; m &lt;&lt; " n=" &lt;&lt; n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 = true;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+mn-ea"/>
                <a:sym typeface="+mn-ea"/>
              </a:rPr>
              <a:t>(m=</a:t>
            </a:r>
            <a:r>
              <a:rPr lang="en-US" altLang="zh-CN" sz="1400" b="1" dirty="0">
                <a:latin typeface="+mn-ea"/>
                <a:sym typeface="+mn-ea"/>
              </a:rPr>
              <a:t>5&gt;3 &amp;&amp; 2) || (n=8&lt;4 - !0);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&lt;&lt; "m=" &lt;&lt; m &lt;&lt; " n=" &lt;&lt; n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+mn-ea"/>
                <a:sym typeface="+mn-ea"/>
              </a:rPr>
              <a:t>5&gt;3 &amp;&amp; 2 || 8&lt;4 - !0,</a:t>
            </a:r>
            <a:r>
              <a:rPr lang="zh-CN" altLang="en-US" sz="1400" b="1" dirty="0">
                <a:latin typeface="+mn-ea"/>
                <a:sym typeface="+mn-ea"/>
              </a:rPr>
              <a:t> </a:t>
            </a:r>
            <a:r>
              <a:rPr lang="en-US" altLang="zh-CN" sz="1400" b="1" dirty="0">
                <a:latin typeface="+mn-ea"/>
                <a:sym typeface="+mn-ea"/>
              </a:rPr>
              <a:t>k;</a:t>
            </a:r>
            <a:endParaRPr lang="en-US" altLang="zh-CN" sz="14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+mn-ea"/>
                <a:sym typeface="+mn-ea"/>
              </a:rPr>
              <a:t>5&gt;3 &amp;&amp; 2 || 8&lt;4 - !0,</a:t>
            </a:r>
            <a:r>
              <a:rPr lang="zh-CN" altLang="en-US" sz="1400" b="1" dirty="0">
                <a:latin typeface="+mn-ea"/>
                <a:sym typeface="+mn-ea"/>
              </a:rPr>
              <a:t> </a:t>
            </a:r>
            <a:r>
              <a:rPr lang="en-US" altLang="zh-CN" sz="1400" b="1" dirty="0">
                <a:latin typeface="+mn-ea"/>
                <a:sym typeface="+mn-ea"/>
              </a:rPr>
              <a:t>p;</a:t>
            </a:r>
            <a:endParaRPr lang="en-US" altLang="zh-CN" sz="1400" b="1" dirty="0">
              <a:latin typeface="+mn-ea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&lt;&lt; "k=" &lt;&lt; k &lt;&lt; " p=" &lt;&lt; p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819650" y="1323975"/>
            <a:ext cx="61512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有以下逗号表达式，其表达式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是逻辑表达式，表达式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按需构造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  5&gt;3 &amp;&amp; 2 || 8&lt;4 - !0,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***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、构造一个测试程序，在不改变该表达式目前求值顺序的情况下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（允许插入新的运算，但目前这几个运算符的顺序不要变）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证明两点：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8&lt;4 - !0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***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不存在短路运算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、用栈方式画包含短路运算的表达式，则从分析到短路运算符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进栈开始（本例中为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忽略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u="sng" dirty="0">
                <a:solidFill>
                  <a:schemeClr val="tx1"/>
                </a:solidFill>
                <a:latin typeface="+mn-ea"/>
                <a:sym typeface="+mn-ea"/>
              </a:rPr>
              <a:t>比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+mn-ea"/>
                <a:sym typeface="+mn-ea"/>
              </a:rPr>
              <a:t>||</a:t>
            </a:r>
            <a:r>
              <a:rPr kumimoji="1" lang="zh-CN" altLang="en-US" sz="1600" b="1" u="sng" dirty="0">
                <a:solidFill>
                  <a:schemeClr val="tx1"/>
                </a:solidFill>
                <a:latin typeface="+mn-ea"/>
                <a:sym typeface="+mn-ea"/>
              </a:rPr>
              <a:t>优先级高的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运算符。（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所有 </a:t>
            </a:r>
            <a:r>
              <a:rPr kumimoji="1" lang="en-US" altLang="zh-CN" sz="1600" b="1" dirty="0">
                <a:latin typeface="+mn-ea"/>
              </a:rPr>
              <a:t>/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优先级高的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140" y="2660650"/>
            <a:ext cx="1103630" cy="101917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327650" y="4443730"/>
            <a:ext cx="1180465" cy="1763458"/>
            <a:chOff x="1716471" y="3013304"/>
            <a:chExt cx="1814229" cy="3264571"/>
          </a:xfrm>
        </p:grpSpPr>
        <p:grpSp>
          <p:nvGrpSpPr>
            <p:cNvPr id="13" name="组合 12"/>
            <p:cNvGrpSpPr/>
            <p:nvPr/>
          </p:nvGrpSpPr>
          <p:grpSpPr>
            <a:xfrm>
              <a:off x="1716471" y="3287805"/>
              <a:ext cx="1814229" cy="2990070"/>
              <a:chOff x="2072818" y="3287806"/>
              <a:chExt cx="1814229" cy="299007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15" name="直接连接符 14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直接连接符 16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8" name="文本框 17"/>
              <p:cNvSpPr txBox="1"/>
              <p:nvPr/>
            </p:nvSpPr>
            <p:spPr>
              <a:xfrm>
                <a:off x="2487706" y="5311588"/>
                <a:ext cx="981634" cy="966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072818" y="5125163"/>
                <a:ext cx="1814229" cy="681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>
                    <a:latin typeface="+mn-ea"/>
                  </a:rPr>
                  <a:t>5&gt;3&amp;&amp;2</a:t>
                </a:r>
                <a:endParaRPr lang="en-US" altLang="zh-CN" dirty="0">
                  <a:latin typeface="+mn-ea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2131359" y="4159647"/>
              <a:ext cx="981634" cy="96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131359" y="3589274"/>
              <a:ext cx="981634" cy="96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131359" y="3013304"/>
              <a:ext cx="981634" cy="96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703060" y="4443730"/>
            <a:ext cx="870585" cy="1763458"/>
            <a:chOff x="1956547" y="3013304"/>
            <a:chExt cx="1337982" cy="3264571"/>
          </a:xfrm>
        </p:grpSpPr>
        <p:grpSp>
          <p:nvGrpSpPr>
            <p:cNvPr id="39" name="组合 38"/>
            <p:cNvGrpSpPr/>
            <p:nvPr/>
          </p:nvGrpSpPr>
          <p:grpSpPr>
            <a:xfrm>
              <a:off x="1956547" y="3287805"/>
              <a:ext cx="1337982" cy="2990070"/>
              <a:chOff x="2312894" y="3287806"/>
              <a:chExt cx="1337982" cy="2990070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312894" y="3287806"/>
                <a:ext cx="1337982" cy="2588559"/>
                <a:chOff x="2312894" y="3287806"/>
                <a:chExt cx="1337982" cy="2588559"/>
              </a:xfrm>
            </p:grpSpPr>
            <p:cxnSp>
              <p:nvCxnSpPr>
                <p:cNvPr id="41" name="直接连接符 40"/>
                <p:cNvCxnSpPr/>
                <p:nvPr/>
              </p:nvCxnSpPr>
              <p:spPr bwMode="auto">
                <a:xfrm>
                  <a:off x="2312894" y="3287806"/>
                  <a:ext cx="0" cy="2588559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 bwMode="auto">
                <a:xfrm>
                  <a:off x="2312894" y="5876365"/>
                  <a:ext cx="1337982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3" name="直接连接符 42"/>
                <p:cNvCxnSpPr/>
                <p:nvPr/>
              </p:nvCxnSpPr>
              <p:spPr bwMode="auto">
                <a:xfrm flipV="1">
                  <a:off x="3650876" y="3287806"/>
                  <a:ext cx="0" cy="258855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44" name="文本框 43"/>
              <p:cNvSpPr txBox="1"/>
              <p:nvPr/>
            </p:nvSpPr>
            <p:spPr>
              <a:xfrm>
                <a:off x="2487706" y="5311588"/>
                <a:ext cx="981634" cy="966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endParaRPr lang="zh-CN" altLang="en-US" sz="2800" dirty="0">
                  <a:latin typeface="+mn-ea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487706" y="5161161"/>
                <a:ext cx="981634" cy="681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 dirty="0">
                    <a:latin typeface="+mn-ea"/>
                  </a:rPr>
                  <a:t>||</a:t>
                </a:r>
                <a:endParaRPr lang="en-US" altLang="zh-CN" b="1" dirty="0">
                  <a:latin typeface="+mn-ea"/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2131359" y="4159647"/>
              <a:ext cx="981634" cy="96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131359" y="3589274"/>
              <a:ext cx="981634" cy="96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131359" y="3013304"/>
              <a:ext cx="9816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endParaRPr lang="zh-CN" altLang="en-US" sz="2800" dirty="0">
                <a:latin typeface="+mn-ea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5327650" y="6069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2"/>
                </a:solidFill>
              </a:rPr>
              <a:t>||</a:t>
            </a:r>
            <a:r>
              <a:rPr lang="zh-CN" altLang="en-US" b="1">
                <a:solidFill>
                  <a:schemeClr val="accent2"/>
                </a:solidFill>
              </a:rPr>
              <a:t>之后直到，之前的所有表达式忽略</a:t>
            </a:r>
            <a:endParaRPr lang="zh-CN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3515" y="1323975"/>
            <a:ext cx="1184275" cy="796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515" y="2166620"/>
            <a:ext cx="1200150" cy="673100"/>
          </a:xfrm>
          <a:prstGeom prst="rect">
            <a:avLst/>
          </a:prstGeom>
        </p:spPr>
      </p:pic>
      <p:pic>
        <p:nvPicPr>
          <p:cNvPr id="9" name="ECB019B1-382A-4266-B25C-5B523AA43C14-3" descr="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3015615"/>
            <a:ext cx="1670685" cy="3373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7010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535" y="1323975"/>
            <a:ext cx="586930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、程序标注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未缩进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的行，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应该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（应该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不应该）缩进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0" y="1323975"/>
            <a:ext cx="1256030" cy="810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2183130"/>
            <a:ext cx="1256030" cy="556895"/>
          </a:xfrm>
          <a:prstGeom prst="rect">
            <a:avLst/>
          </a:prstGeom>
        </p:spPr>
      </p:pic>
      <p:pic>
        <p:nvPicPr>
          <p:cNvPr id="7" name="ECB019B1-382A-4266-B25C-5B523AA43C14-4" descr="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60" y="2938145"/>
            <a:ext cx="1670050" cy="33737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&lt;60;)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贴编译错误并给出解释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语句括号中的表达式不能加分号。分号在这里会导致编译器认为 if 语句已经结束，而实际上它还没有指定要执行的操作。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1655" y="1692275"/>
            <a:ext cx="46990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请输入成绩</a:t>
            </a:r>
            <a:r>
              <a:rPr lang="en-US" altLang="zh-CN" sz="1200" b="1" dirty="0">
                <a:latin typeface="+mn-ea"/>
              </a:rPr>
              <a:t>[0-100]"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&gt;=90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&lt;=100)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优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&gt;=80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&lt;90)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&gt;=70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&lt;80)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中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&gt;=60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&lt;70)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&lt;60)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不及格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输入错误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zh-CN" sz="1200" b="1" dirty="0">
                <a:latin typeface="+mn-ea"/>
              </a:rPr>
              <a:t>程序结束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、给出程序的流程框图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注意字体的清晰可辨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&lt;=89</a:t>
            </a:r>
            <a:r>
              <a:rPr kumimoji="1" lang="zh-CN" altLang="en-US" sz="1600" b="1" dirty="0">
                <a:latin typeface="+mn-ea"/>
              </a:rPr>
              <a:t>？哪个更好？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可以，因为此时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型。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i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&lt;90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更好，在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为浮点型时也适用。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&lt;=90</a:t>
            </a:r>
            <a:r>
              <a:rPr kumimoji="1" lang="zh-CN" altLang="en-US" sz="1600" b="1" dirty="0">
                <a:latin typeface="+mn-ea"/>
              </a:rPr>
              <a:t>？运行是否正确？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可以，运行正确，因为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i=90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时满足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&gt;=90 &amp;&amp;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&lt;=100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执行上一个语句，不会再判断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i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&lt;=90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301766" y="3492060"/>
            <a:ext cx="536027" cy="2496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ECB019B1-382A-4266-B25C-5B523AA43C14-5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7095" y="1547495"/>
            <a:ext cx="4182110" cy="37452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一个有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行代码的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u="sng" dirty="0">
                <a:latin typeface="+mn-ea"/>
              </a:rPr>
              <a:t>_5_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u="sng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u="sng" dirty="0">
                <a:latin typeface="+mn-ea"/>
              </a:rPr>
              <a:t>_4_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u="sng" dirty="0">
                <a:latin typeface="+mn-ea"/>
              </a:rPr>
              <a:t>_9_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u="sng" dirty="0">
                <a:latin typeface="+mn-ea"/>
              </a:rPr>
              <a:t>_8_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总结：给出大括号配对的基本准则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自上而下，忽略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{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}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为准向上匹配未配对的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{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u="sng" dirty="0">
                <a:latin typeface="+mn-ea"/>
              </a:rPr>
              <a:t>__ 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  <a:sym typeface="+mn-ea"/>
              </a:rPr>
              <a:t> 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假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假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D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u="sng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E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6.C</a:t>
            </a:r>
            <a:r>
              <a:rPr kumimoji="1" lang="zh-CN" altLang="en-US" sz="1600" b="1" dirty="0">
                <a:latin typeface="+mn-ea"/>
              </a:rPr>
              <a:t>的基础上，在箭头位置插入语句</a:t>
            </a:r>
            <a:r>
              <a:rPr kumimoji="1" lang="en-US" altLang="zh-CN" sz="1600" b="1" dirty="0">
                <a:latin typeface="+mn-ea"/>
              </a:rPr>
              <a:t>F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、请构造一个符合此要求的测试程序，并给出该程序的程序及编译错误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、请说明错误原因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语句之间不能插入其他语句，因为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语句必须匹配一个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语句可以没有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，所以当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后插入其他语句时，程序认为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语句已经结束，下面的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语句没有对应的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语句，报错。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409902" y="3941380"/>
            <a:ext cx="60631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575" y="2874010"/>
            <a:ext cx="3201670" cy="10674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2098675"/>
            <a:ext cx="1906270" cy="33502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 bwMode="auto">
          <a:xfrm>
            <a:off x="4813935" y="1323975"/>
            <a:ext cx="6654800" cy="25965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u="sng" dirty="0">
                <a:latin typeface="+mn-ea"/>
              </a:rPr>
              <a:t>_ 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  <a:sym typeface="+mn-ea"/>
              </a:rPr>
              <a:t> 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en-US" altLang="zh-CN" sz="1600" b="1" u="sng" dirty="0">
                <a:latin typeface="+mn-ea"/>
              </a:rPr>
              <a:t>_  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  <a:sym typeface="+mn-ea"/>
              </a:rPr>
              <a:t>  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假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592114" y="1323974"/>
            <a:ext cx="1625569" cy="25963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92114" y="3920359"/>
            <a:ext cx="1625569" cy="2613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4808220" y="3916680"/>
            <a:ext cx="6659880" cy="2617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u="sng" dirty="0">
                <a:latin typeface="+mn-ea"/>
                <a:sym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u="sng" dirty="0">
                <a:latin typeface="+mn-ea"/>
                <a:sym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u="sng" dirty="0">
                <a:latin typeface="+mn-ea"/>
                <a:sym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 bwMode="auto">
          <a:xfrm>
            <a:off x="2217683" y="1330358"/>
            <a:ext cx="2596055" cy="25865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 bwMode="auto">
          <a:xfrm>
            <a:off x="2217682" y="3916912"/>
            <a:ext cx="2596055" cy="26172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if (</a:t>
            </a:r>
            <a:r>
              <a:rPr lang="zh-CN" altLang="en-US" sz="1600" b="1" dirty="0">
                <a:latin typeface="+mn-ea"/>
                <a:sym typeface="+mn-ea"/>
              </a:rPr>
              <a:t>表达式</a:t>
            </a:r>
            <a:r>
              <a:rPr lang="en-US" altLang="zh-CN" sz="1600" b="1" dirty="0">
                <a:latin typeface="+mn-ea"/>
                <a:sym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pPr marL="457200" lvl="1"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pPr indent="457200"/>
            <a:r>
              <a:rPr lang="en-US" altLang="zh-CN" sz="1600" b="1" dirty="0">
                <a:latin typeface="+mn-ea"/>
                <a:sym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a,b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a &gt;&gt; b;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if (a&gt;b)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b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&gt; b ?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a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: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b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//1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(a&gt;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//2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("max=%d", 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//3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547945" y="1323975"/>
            <a:ext cx="429150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12 34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34 12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//1 //2 //3</a:t>
            </a:r>
            <a:r>
              <a:rPr kumimoji="1" lang="zh-CN" altLang="en-US" sz="1600" b="1" dirty="0">
                <a:latin typeface="+mn-ea"/>
              </a:rPr>
              <a:t>这三种条件运算符的使用，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按你的喜欢程度排序为</a:t>
            </a:r>
            <a:r>
              <a:rPr kumimoji="1" lang="en-US" altLang="zh-CN" sz="1600" b="1" u="sng" dirty="0">
                <a:latin typeface="+mn-ea"/>
              </a:rPr>
              <a:t>_3 &gt; 2 &gt; 1___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7200" y="1323975"/>
            <a:ext cx="1009650" cy="1203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00" y="2661920"/>
            <a:ext cx="1009650" cy="11499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"Hello" : 123;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a&gt;b ?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: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'A' : 123;    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编译正确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5793" y="1323975"/>
            <a:ext cx="49536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、给出编译报错的截图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、条件表达式使用的三句中，前两句报错，最后一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句正确，总结下条件表达式使用时的限制规则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提示：注意表达式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的类型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答：条件表达式中，表达式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的类型可以不相同，但是表达式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和表达式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的类型必须相容。（第三句中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char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’A’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在参与运算中时会当做整型，与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123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是相容的，因此编译正确）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300" y="1704975"/>
            <a:ext cx="480314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程序的期望，是当输入的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时，分段输出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优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及格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不及格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否则输出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、程序不完全正确，找出不符合期望的两个数据区间并给出运行截图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不需要改对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当输入区间为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[101...109]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[-9...-1]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时不符合期望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675" y="3139440"/>
            <a:ext cx="2295525" cy="1191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325" y="3154045"/>
            <a:ext cx="2404745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const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default</a:t>
            </a:r>
            <a:r>
              <a:rPr kumimoji="1" lang="zh-CN" altLang="en-US" sz="1600" b="1" dirty="0">
                <a:latin typeface="+mn-ea"/>
              </a:rPr>
              <a:t>的位置进行了交换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写为常变量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常量形式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验证此程序与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的功能是否完全一致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（即：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中正确的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此程序中同样正确；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错误的，此程序中同样错误）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8.B_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完全一致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不完全一致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如果不完全一致，给出表现不一致的测试数据的运行截图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8.B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const 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int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后面必须跟整型常量，这里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型变量，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后面的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k+2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也是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型变量表达式，会报错。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930" y="2125345"/>
            <a:ext cx="26797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4+2: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的基础上，多了一个</a:t>
            </a:r>
            <a:r>
              <a:rPr kumimoji="1" lang="en-US" altLang="zh-CN" sz="1600" b="1" dirty="0">
                <a:latin typeface="+mn-ea"/>
              </a:rPr>
              <a:t>case 4+2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同一个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后面跟的整型常量表达式应各不相同。程序中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4+2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6,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后出现了多次，所以报错。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6485" y="2157730"/>
            <a:ext cx="339090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float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后面必须跟整型表达式，此程序中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score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switch(score/10)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score/10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也是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float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型，不符合语法规则。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070" y="2152650"/>
            <a:ext cx="36576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的基础上，删除</a:t>
            </a:r>
            <a:r>
              <a:rPr kumimoji="1" lang="en-US" altLang="zh-CN" sz="1600" b="1" dirty="0">
                <a:latin typeface="+mn-ea"/>
              </a:rPr>
              <a:t>case 8</a:t>
            </a:r>
            <a:r>
              <a:rPr kumimoji="1" lang="zh-CN" altLang="en-US" sz="1600" b="1" dirty="0">
                <a:latin typeface="+mn-ea"/>
              </a:rPr>
              <a:t>后面的</a:t>
            </a:r>
            <a:r>
              <a:rPr kumimoji="1" lang="en-US" altLang="zh-CN" sz="1600" b="1" dirty="0">
                <a:latin typeface="+mn-ea"/>
              </a:rPr>
              <a:t>break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运行结果不一致的测试数据即截图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break的作用是终止当前的switch语句，并跳出switch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语句，继续执行下面的语句。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580" y="2294890"/>
            <a:ext cx="1422400" cy="95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15" y="2383790"/>
            <a:ext cx="1492250" cy="7747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91915" y="3336290"/>
            <a:ext cx="1423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8.A</a:t>
            </a:r>
            <a:r>
              <a:rPr lang="zh-CN" altLang="en-US"/>
              <a:t>程序）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436360" y="3336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（本题程序）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10247630" cy="54514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(score&gt;100 || score&lt;0)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else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890" y="1323975"/>
            <a:ext cx="7528560" cy="54508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程序同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，将其改正确，即所有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之外的数据均给出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即可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改的程序如左所示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635" y="2349500"/>
            <a:ext cx="1619250" cy="87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2400300"/>
            <a:ext cx="147955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思考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、用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语句完成该程序并贴图</a:t>
            </a:r>
            <a:r>
              <a:rPr kumimoji="1" lang="en-US" altLang="zh-CN" sz="1600" b="1" dirty="0">
                <a:latin typeface="+mn-ea"/>
              </a:rPr>
              <a:t>            </a:t>
            </a:r>
            <a:r>
              <a:rPr kumimoji="1" lang="en-US" altLang="zh-CN" sz="1600" b="1" dirty="0">
                <a:latin typeface="+mn-ea"/>
                <a:sym typeface="+mn-ea"/>
              </a:rPr>
              <a:t>2</a:t>
            </a:r>
            <a:r>
              <a:rPr kumimoji="1" lang="zh-CN" altLang="en-US" sz="1600" b="1" dirty="0">
                <a:latin typeface="+mn-ea"/>
                <a:sym typeface="+mn-ea"/>
              </a:rPr>
              <a:t>、如果用</a:t>
            </a:r>
            <a:r>
              <a:rPr kumimoji="1" lang="en-US" altLang="zh-CN" sz="1600" b="1" dirty="0">
                <a:latin typeface="+mn-ea"/>
                <a:sym typeface="+mn-ea"/>
              </a:rPr>
              <a:t>switch</a:t>
            </a:r>
            <a:r>
              <a:rPr kumimoji="1" lang="zh-CN" altLang="en-US" sz="1600" b="1" dirty="0">
                <a:latin typeface="+mn-ea"/>
                <a:sym typeface="+mn-ea"/>
              </a:rPr>
              <a:t>语句，该如何实现？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" y="2653665"/>
            <a:ext cx="3752850" cy="3740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120" y="2574925"/>
            <a:ext cx="2452370" cy="39458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06715" y="3011170"/>
            <a:ext cx="2364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良、及格和不及格同理，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  <a:p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共需要</a:t>
            </a: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101</a:t>
            </a: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个</a:t>
            </a: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case</a:t>
            </a:r>
            <a:endParaRPr lang="en-US" altLang="zh-CN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、如果学生成绩带小数点，即</a:t>
            </a:r>
            <a:r>
              <a:rPr kumimoji="1" lang="en-US" altLang="zh-CN" sz="1600" b="1" dirty="0">
                <a:latin typeface="+mn-ea"/>
              </a:rPr>
              <a:t>"xx.5"</a:t>
            </a:r>
            <a:r>
              <a:rPr kumimoji="1" lang="zh-CN" altLang="en-US" sz="1600" b="1" dirty="0">
                <a:latin typeface="+mn-ea"/>
              </a:rPr>
              <a:t>形式，能用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语句吗？能用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语句吗？请解释原因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可以用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语句，不能用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语句中必须使用整型表达式，不能使用浮点型，而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语句没有此限制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、总结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语句使用时的注意事项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、表达式的最终取值必须为整型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后的各整型常量表达式的值应各不相同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、各语句序列的最后一句应是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break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；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**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）括号中表达式不用加分号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语句能完全取代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吗？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不能，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switch-case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语句只能使用整型数据，而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if-else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可以用多种类型的数据。同时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if-else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语句可以处理更复杂的逻辑，比如本题中用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if-else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语句会更简洁清晰。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需要文字描述的地方，尽可能用简单的文字描述清楚即可，不需要卷字数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2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3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4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5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6.xml><?xml version="1.0" encoding="utf-8"?>
<p:tagLst xmlns:p="http://schemas.openxmlformats.org/presentationml/2006/main">
  <p:tag name="KSO_WM_DIAGRAM_VIRTUALLY_FRAME" val="{&quot;height&quot;:410.25007874015745,&quot;left&quot;:46.62314960629921,&quot;top&quot;:104.24992125984252,&quot;width&quot;:861.6768503937008}"/>
</p:tagLst>
</file>

<file path=ppt/tags/tag8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3">
      <extobjdata type="ECB019B1-382A-4266-B25C-5B523AA43C14" data="ewoJIkZpbGVJZCIgOiAiMjg1ODIwNDc3NDMyIiwKCSJHcm91cElkIiA6ICI5MTA0MDc2NTkiLAoJIkltYWdlIiA6ICJpVkJPUncwS0dnb0FBQUFOU1VoRVVnQUFBWEVBQUFMcENBWUFBQUJGV2hZWEFBQUFBWE5TUjBJQXJzNGM2UUFBSUFCSlJFRlVlSnpzM1hsY0ZkWC9QL0RYbVhzdis2WW9pNUxnZ3VBQ0txYTIyYWFmTXEwK2JWWWZOVE8zdE1YUy9MWm9hbHFaVys1bG1xa3RXbHBaMmw0dW1aYTVvaUFnZ2dtNElMTEl6dVV1YzM1L21QeTRBaXB5NFRMd2VqNGVQaDdNbWJremI4eGVITTZjT1FNUUVSRVJFUkVSRVJFUkVSRVJFUkVSRVJFUkVSRVJFUkVSRVJFUkVSRVJFUkVSRVJFUkVSRVJFUkVSRVJFUkVSRVJFUkVSRVJFUkVSRVJFUkVSRVJFUkVSRVJFUkVSRVJFUkVSRVJFUkVSRVJFUkVSRVJFUkVSRVJFUkVSRVJFUkVSRVJFUkVSRVJWVTQ0dW9EcWF0RzI4M1ZPQm4xYlI5ZEIybFZhV25vaS9VUkNxcVBySUxJSFRZVjRTRWpYRUxqSTFSQUlkM1F0cEdscEtCR1BwYVFjU25GMElVUTFwWGQwQWRYaWdoQUloQXVJQURkWFYrajBPa2RYUkJwaXRWaFJZalJDbGRJRkxnZ0J3QkFuemROV2lQL0x6ZFVWRThZOWk0NGR3aHhkQ21sSWZFSWlsaXhiZ2R6OGZFZVhRbVEzbWd4eG5WNkhqaDNDY0VQUDZ4MWRDbW1Nd1dCd2RBbEVkcVU0dWdBaUlycDJESEVpSWcxamlCTVJhUmhEbkloSXd4amlSRVFheGhBbkl0SXdoamdSa1lZeHhJbUlOSXdoVGtTa1lReHhJaUlOWTRnVEVXa1lRNXlJU01NWTRrUkVHc1lRSnlMU01JWTRFWkdHTWNTSmlEU01JVTVFcEdFTWNTSWlEV09JRXhGcEdFT2NpRWpER09KRVJCckdFQ2NpMGpDR09CR1JodWtkWFVCRGxKU1VoUEhqeDhQSHh3YytQajZZT0hFaVFrSkNydXF6OCtmUHg2bFRwOHEyUFQwOU1YbnlaRGc1T2RXb3B1enNiTHozM252bzFhc1g3cjc3N2hxZHE3elMwbExNbXpjUFc3ZHVoYUlvdU9lZWUvRENDeTlBcitjL0xhSzZ3UC9UYWtGeWNqTFMwOU9SbnA0T0FQRHg4Ym1xejMzLy9mZFl1M2F0VFZ2djNyMXJGT0Jtc3htZmYvNDVWcTVjaWFLaUltemV2Qmw2dlI1OSt2UzU1bk9XdDNyMWFtemN1TEZzZTkyNmRmRHo4OE1UVHp4aGwvTVQwZVZ4T0tVV3BLU2tsSDBkRUJCd1ZTRis0c1FKekowN3QwTDd6cDA3OGNrbm4xeHpMVys4OFFZV0xWcUVvcUlpQUlDVUVsT25Uc1d4WThldStaemxIVGx5cEVKYmJHeXNYYzVOUkZmR0VMZWo1T1JrSkNjbkl6NCt2cXd0TURDd3JQM2luNnlzTEp2UFpXVmw0Ym5ubmtOaFlXR2w1MTI4ZURGKy9mWFhhNnBwMHFSSjZOYXRtMDJiMFdqRXE2KytDcVBSZUUzbkxLOWp4NDVYMVVaRXRZUERLWGIwMkdPUFZXaUxqbzZ1MFA3b280L2lsVmRlQVFDY09uVUt6ei8vUE02ZVBWdTJQeUlpQXFHaG9XWERGRkpLVEo0OEdTYVRDZmZlZTIrMWFuSjNkOGVpUllzd2V2Um9IRDE2dEt3OU5UVVZTNWN1eGNTSkU2dDF2a3NOSHo0YzZlbnArTzIzM3lDRXdEMzMzSU1oUTRiVTZKeEVkUFVZNGc1MDZOQWhUSnc0RWVmUG55OXJhOW15SmViUG53OGZIeC9rNXVaaTI3WnRBQUJWVlRGdDJqU2NPWE1HSTBlT2hLSmMvUzlSN3U3dVdMeDRNWVlNR1lKejU4NlZ0WC94eFJlNDU1NTcwS2xUcDJ2K0hseGNYUERtbTIvaWpUZmVnQkNpV25VUlVjM3gvemdITUp2TldMcDBLVWFOR21VVDRENCtQcGd6Wnc0TUJnT0tpb3J3NnF1dm9rT0hEamFmWGI1OE9aNTk5bGxrWkdSVTY1cSt2cjZZUFh1Mnphd1JLU1ZtejU0TktXWE52aUVBT3AyT0FVN2tBT3lKMjlHU0pVdXdmZnYyc21HUW9LQ2dzbUdUaS9iczJZTXZ2dmdDRm91bHd1ZHpjM014ZVBEZ0sxNW43OTY5ZU9paGgvRFVVMC9oeVNlZmhNRmd1S3I2SWlNajhlU1RUK0tqano0cWE0dUxpOE1QUC94UTdXRWFJcW9mMkhXeW81dHV1Z2xtczdsc095b3FDamZkZEZPRlAxYXJ0Y2JYTWhxTitQdnZ2NnZkK3gwNWNtU0YyVExMbGkxRGFXbnBOZFd4ZnYxNmRPL2UzZWJQenAwN3IrbGNSRlI5REhFN0t6KzlMakF3RUQxNjlDajdzMnZYTHZUcTFRdFBQZlZVMlRGOSsvYTk2bk8vK3VxcmNIZDNCM0RoSWFDWk0yZENwOU5WcTc3TXpFems1dWJhdEowOWV4WmZmdmxsdGM1RFJQVURoMVBzcUxDd0VLbXBxV1hiRVJFUlVGVzFiUHZpMlBQVFR6K040OGVQNDMvLyt4K2lvcUl3WWNLRXF6cS92NzgvZXZmdWpiZmZmaHNEQmd5QW41OWZ0V3Y4N3J2dkttMWZ2WG8xSG43NFliaTZ1bGI3bkVUa09BeHhPenA0OEdCWlVIdDdlNk4xNjlhVkhwZVJrUUdyMVlyUFB2c01uMzMyV2FYSDlPclZDNE1HRGJKcDI3WnRHMUpUVXhFVkZWWFdJNjhPczltTWI3NzVwdEo5dWJtNVdMZHVIVWFNR0ZIdDh4S1I0ekRFN1dqZnZuMWxYMGRGUlVFSVVlbHhoWVdGMkxWcjEyWFA1ZVBqZ3oxNzl1RFFvVU1BZ0NlZmZCTGZmLzg5ZHV6WUFRQzQ5OTU3MGJ0MzcyclY5OTEzMzFWNDBLaThOV3ZXNE1FSEgwVFRwazJyZFY0aWNoeU9pZHRSWEZ4YzJkZFJVVkZYL1RtRHdRQ0R3VkJoZkh2UG5qMVlzV0lGVnF4WVVlT25LODFtTXo3KytPUExIbE5jWEl3UFB2aWdSdGNob3JyRkVMY2prOGxVOXZYOCtmTXJUTnNiUDM1OGhhY1p2YjI5OGZmZmYrUHZ2Ly9HNk5HamE2MjJkZXZXMmF5T0NBQXZ2ZlFTUER3OGJOcSsrZVlibkRoeG90YnFJQ0w3WW9qWEVpbWx6VTNOaTIyWHpnODNtVXo0OGNjZjhlT1BQOXB0VWFwTFpXWm0yc3dOQnk0OEdmcm9vNC9hekpRQkxqd1pPbXZXTExzOEFFUkV0WTlqNGc1V1VsS0NLVk9tMU9vMXBrK2ZYcmFLNFVYRGh3K0hYcS9INDQ4L2ppKysrQUtabVpsbCsvYnYzNDlQUC8wVVE0Y09yZFc2aUtqbUdPSjJOSERnUUpzd0xDb3FzbGxHdG4vLy90VWFLN2VIRFJzMllQZnUzVFp0QVFFQlpVTTlMaTR1ZVBycHAvSFdXMi9aSFBQZWUrK2hSNDhlRlI3N0o2TDZoU0Z1Ui8vOTczOXR0ak15TW14Qy9LNjc3a0x2M3IyUm1KaFkxbll4UklFTGo5TmZHcmcxY2VqUUliejc3cnNWMnA5Ly9ubWJOVlR1di85K2JOeTQwV1lKWFl2RmdrbVRKbUh0MnJWd2MzT3pXMDFFWkY4Y0U2OUQ2ZW5wT0hEZ2dFMmJzN016aGc0ZGlxRkRoNkpyMTY1MnU5YVpNMmN3Y2VMRUNtUHd0OTU2Sy9yMTYyZlRwdFBwTUhYcTFBcXZWRXRMUzhPRUNSTnNsaElnb3ZxRlBYRTdtalJwRXZMejgxRllXSWlDZ2dJVUZCVFk3Sjg5ZXpZVVJiRjV3Q2MvUDc4c1ZJdUxpKzFTUjJabUpzYU9IV3V6UWlMdy85L1hXWm5RMEZBTUd6WU1LMWV1dEduZnQyOGZKazJhaEZtelpsWDdFWDhpcW4zc2lkdlIxcTFic1h2M2JzVEd4aUlsSlFYWjJkbFgvSXlVRXBtWm1jak16S3h3OC9GYVpHVmxZY3lZTVJXbUV3TEF4SWtUMGF4WnN5by9PM0xrU0xScDA2WkMrN1p0MnpCejVrek9XQ0dxaHhqaWRuUzFTOExXbHBTVUZEejU1Sk0yNy9pODZMNzc3cnZpY3JNR2d3RXpaODZFaTR0TGhYM2ZmdnN0L3UvLy9nOGxKU1YycTVlSWFvNGhia2ZsUTl6ZDNSMUJRVUUyK3g5ODhFRzgvZmJiTm0zZTN0N1l1WE1uZHU3Y2laRWpSOXJzR3p0MmJObStLNzFzZWUvZXZYanFxYWRzWHZOMlVZOGVQZkQ2NjY5ZjFmY1FHaHBhNVpETDl1M2JxN3dHRVRrR3g4VHRhT0hDaGZEMjlvYWZueC9jM055UWtaR0IvdjM3bCsyLzdiYmJLc3hPQVZBMisrUFNudnpGeC9FdnlzbkpxWEJOS1NWV3IxNk5aY3VXVlhpNENBRGF0R21EZWZQbVZiaHBlVG45Ky9kSGJHd3NObXpZVUdGZlVsSVNKazJhaEZXclZsMzErWWlvOWpERTdhaExseTdYOUxrVEowNmdxS2dJUjQ0Y3NXay9mZm8wMXE1ZEMyOXZieFFXRnRxc1ZYNHgrRlZWUlVKQ1FxVUI3dWZuaDhXTEYxZDR0UDVxVEpnd0FVbEpTWWlPanJacGI5YXNtYzJjOHNjZWU2elNGMFFUVWQxZ2lOY0RuM3p5Q1RadjNtelQ1dTd1RGs5UFQ2eGZ2NzdTendRRUJBQzRNRDF3NXN5WkdEOSt2TTBjODlhdFcyUHAwcVZseDFXWHdXREF3b1VMTVhyMDZMTGZIRHc4UExCMDZWSzBhTkhpbXM1SlJQYkhNZkY2b0xJWklaMDdkNGFYbDFlbHMwa1VSVUdmUG4zS3RnMEdBK2JObTFmMmRHWFhybDJ4YXRXcWF3N3dpeTZHZHF0V3JhRFQ2VEJuemh5RWhvYlc2SnhFWkYvc2lUdUFvaWhsWTkxT1RrNElEZzR1MitmdDdZMTc3cm1uYk81NCsvYnRjZjc4ZVZpdFZpaUtnbGF0V3VHWlo1NnBjTlBVeGNVRkN4WXN3SWNmZm9pWFhub0p6czdPZHFtMWFkT21XTFpzR1E0ZVBJaGV2WHJaNVp4RVpEK1Z2N1dnbmdvSjczbzdoUHpjeTlNellQbVNCYmloNS9XT0xzbXVyRllySDZpcFJYL3YzWTl4TDcyS3pPenNYRWc4bUhMMDBPK09yb21vcGppY1VvOHd3SW1vdWhqaVJFUWF4aEFuSXRJd2hqZ1JrWVl4eEltSU5Jd2hUa1NrWVF4eElpSU5ZNGdURVdrWVE1eUlTTU1ZNGtSRUdzWVFKeUxTTUlZNEVaR0dNY1NKaURTTUlVNUVwR0VNY1NJaURXT0lFeEZwR0VPY2lFakRHT0pFUkJyR0VDY2kwakNHT0JHUmhqSEVpWWcwakNGT1JLUmhESEVpSWczVE83cUFhMkcxV0JHZmtPam9Na2hqNGhNU1lUYWJIVjBHa1YxcE1zUkxqRVlzV2JZQ0JvUEIwYVdRaHBqTlp1UVhGRGk2RENLNzBsU0ltNlNhN2lSRXVpcWxTMjUrdnFQTHFYOVVDU0dFQUNTa2hJUWlIRjFSL1NSbGhrbktkRWVYUVdRUFd2dS9YR25WcmxPNG9qZjRPYnFRK3NoSnA3WnoxZXRHQ0FGOXNkbTYzR1JWa2gxZFUzMWtGV3JXeVlTWWVBQ3FvMnNocWltdGhUaGRScmR1M1c0VFFud2hwWFFCOEVCMGRQUU9SOWRFUkxXTHMxT0lpRFNNSVU1RXBHRU1jU0lpRFdPSUV4RnBHRU9jaUVqREdPSkVSQnJHRUNjaTBqQ0dPQkdSaGpIRWlZZzBqQ0ZPUktSaERIRWlJZzFqaUJNUmFSaERuSWhJd3hqaVJFUWF4aEFuSXRJd2hqZ1JrWVl4eEltSU5Jd2hUa1NrWVF4eElpSU5ZNGdURVdrWVE1eUlTTU1ZNGtSRUdzWVFKeUxTTUlZNEVaR0dNY1NKaURTTUlVNUVwR0VNY1NJaURXT0lFeEZwR0VPY2lFakRHT0pFUkJyR0VDY2kwakNHT0JHUmhqSEVpWWcwakNGT1JLUmhESEVpSWcxamlCTVJhUmhEbkloSXd4amlSRVFheGhBbkl0SXdoamdSa1lZeHhJbUlOSXdoVGtTa1lReHhJaUlOWTRnVEVXa1lRNXlJU01NWTRrUkVHc1lRSnlMU01JWTRFWkdHTWNTSmlEU01JVTVFcEdFTWNTSWlEV09JRXhGcEdFT2NpRWpER09KRVJCckdFQ2NpMGpDR09CR1JoakhFaVlnMGpDRk9SS1JoREhFaUlnMWppQk1SYVJoRG5JaEl3eGppUkVRYUpoeGRBRjJicmwyNzlsY1U1WWZxZkVaVjFRY1BIVHIwYlczVlJFUjFqejF4amNyS3l0b3VwVHh6dGNkTEtjK2VPM2Z1MTlxc2lZanFIa05jbzA2ZE9sVUM0Qk1Ba0ZKV2VkekZmVUtJTDg2Y09WTmNKOFVSVVoxaGlHdVlxcW9iQUJpRkVKVUd1WlFTUWdnQU1Fb3B2Nm5yK29pbzlqSEVOY3hpc2FSS0tXT3VkSnlVTWtaVjFlTjFVUk1SMVMyR3VJYkZ4Y1hsQTloekZZZnVNWnZObWJWZER4SFZQWWE0dGxrQUhKWlNGZ0cyWStQbHZpNEJzRDgrUHQ1VTU5VVJVYTFqaUd2ZmJnRG5xdG9wcFN3QXNML3V5aUdpdXNRUTE3am82T2g0S2VYUmYyOWdRa3BaZmtZS3BKUkowZEhSOFk2c2tZaHFEME84QVpCU3JxdHFueEJpZFYzV1FrUjFpeUhlQUpqTjVtK2xsTm5sMi83dGhlY1VGeGR2Y0ZSZFJGVDdHT0lOUUh4OGZDR0FUUmVIVkM0U1F2eVVtSmhZNEppcWlLZ3VNTVFiQ0NubEtpbWx1ZHkyMldLeGZPYkltb2lvOWpIRUd3aFZWWk1BbkJCQ1hIeEs4NWhPcDB0d2NGbEVWTXNZNGcxRVZsWldJWUNENVpwaTgvTHljaDFWRHhIVkRZWjRBM0htekpsaUtlVXVYRmdueFNTbDNQWFBQLy9rT2JvdUlxcGRla2NYUVBZamhOZ0RJRk1JNFlhcmV4eWZpSWpxazZpb3FHMVJVVkVISEYwSEVkVU45c1FiR0xQWityc0sxZFhSZFJCUjNkQTV1Z0N5RzExSWVPUlFrNHBuekZKRStEVHp6OHZOeW9nRG9EcTZNQ0txUFh6SFpnTVFFdExWUnpyaldVV1JVd0hoZEtGVm1xUVVNMkhFb3BTVVE1eWxRdFJBc1NldWJVcXIwSWcrd2trc1VSUXh3cUEzNk82OC9WYUVoYlpEU3VwSm5aVHE3ZENyTjNyNytxZmxaV2VrQWFqNlBXNUVwRWtNY1EwTENlOHlXaWhpSVlET3prNU9Zc3lvcC9EU0M4K2k3eDIzUTYvWElmWklQTXdXUzdBUW9xK1ByNzg1Tnp1RE0xYUlHaGdPcDJoUWNIQ0hRT0ZxbUNXRU1sUUlnZWJOZkRINWxaZHdYLzkrTnNmOS9OdFd6Smc1R3hubnNpQ2xoS3FxWDhGb0hwZWFtbkFXN0pVVE5RanNpV3VMYUJYYTVWN0ZTZmNlb1BSek11aVYrKys5QisvTW1Jb2JlL1dvY0hDN3RtM1E5ODdiY1Q0M0Z5ZFMwbUMxV3NPRlFYZUxkNU9Bbkx5Y2pLTU9xSitJN0l3aHJoSCsvcEh1dmtFQk0zU0tlQU5BZXljbkoyWHlxeFB4OUloaENBend4NlVyR0Y3azdlV0ZHM3YxaEw5ZmMremV1MDlZTE5hV2lpTDYrRFQzYStHczg5OVpWSlJocnZTRFJLUUpESEVOYU5HMjgzV3U3cnBsUW9nUmlpSThRdHUxRlVzWHpFSC91L3ZDeGRtNXlnQUhMcXdyN3VMaWpDNFJuWEY3NzF0d0lQcXd5TTNMYzVPcTdPbmtxb1I1TldsK0lDL24zUGs2L0hhSXlJNFk0dlZZVUZDUXEwOUF5Q0M5WHJkVUNOemg3T3lrUFBiSWc1ZzI2V1YwREErN2JIaFhwbm56WnVoOTg0MlFVdUxvc1dSaHRWbzdDa1gwOWZadGJ2UjBkVHFhbjU5dnFhVnZoWWhxQ1VPOG5tclJvb1did2FQWkxLRW9yd21CWUwvbXpURmp5bXNZT3VSeCtEVnZWdTBBQnk3MHluMTh2Tkd6UjNkMENnL0QzdjNSS0M0dTloTlE3bEFNcnMyRXQvdHU0L256cGJYdzdSQlJMV0dJMXo4Ni85RFExaTV1VGI0VVFqeXEweWt1b1czYllQRzdzOUQ3bGh2aDVPUlU0d3NZREFhMGFSMkNudGRISVM3aEtMS3ljNXdCOUhMV09kL200ZTI3SS85OFpoNDRlNFZJRXhqaTlVaElTSWlMZDBEdzB3YkZzRndJMGFWcGt5WjRZdEJqZU91TnlXZ2RFbnhOdmUrcUNDRVE0TytIdS9yZUFTZURFNUtQbjREUmFMeE9VWlJIdkpzSGxqaUpwZ25GeFprbXUxMlFpR29GUTd5ZWFOS21qYmVMczlkS0JSZ0xvSG56WnI3aTdUZW00UEdCRDhMTDA3UFdydXZtNm9ydTNicWliWnZXT0hqb01Bb0tDajBVNEZZbk55WEN5ODM1dDd5OFBHT3RYWnlJYW93UCt6aWVMamc4b2llRXNsS0I2R2d3R0JEUnFRT1dMcGlEQUgvL09pMGsvV3dHWHB6NEdnN0ZIb0haYklhVThvU0VPamoxYU93K0FMenBTVlFQc1NmdVFHM2F0UEgyOW0vMWdnSXhWd2pSMXR2YkM4K05HWVhKcjd5RVpyNitkVjZQcDRjSCt0L2RGMjV1YmtnOGxvU1NFbU1UQVhHM1Q3TUFkOFhITTdva0o0YzNQWW5xR1lhNGc3UUlpd3hUZEM0ZkNvRmhFS0pwbTliQldEeHZGdTcrVHgrNHU3azVyQzRuSnlkRWRPNkVHM3BlajRPSFlwQnpQdGRMQURjNUtZYWIzSDM5OXhSa1oyUTdyRGdpcW9BaFh2Y01RYUdSUFF5SzJDQVVjWVBCeVVsL3oxMTlzWFRCWExScjJ3WjZuZVAvaytoMU9nUUcrT08vOS9iSHlWT25rSHJ5bEY1VjFkWTY0QzRQbitaSDhuUE9uUWJYS1NlcUZ4eWZHSTFJaXpZZFd6WDFENXlvVTVRbFFvZ1dRUzFhWU55em8vSDgyTkZvNHVQdDZQSXFjSFoyUnUrYmIwU0F2eCtPSHorQi9JSUNYMFVSRDNzMzkvZDI5L0pOTExnd0ZaR0lISWczTnV1SWYyaEVHMWVkV0NXRXVCRVFUamYwdkI2dlRSeVBqaDNDb0tzSHZlL0xzYW9xa3BLT1k4WTdjN0JuM3dGSUtjMVNxbjhaTFpabnp5Ykh4em02dm9hbWE5ZXVJWXFpbktoazE4c0hEeDZjZTZYUGQrdldiWjRRNHFYeWJVYWowVE0rUHI3UWJrVlN2YUU0dW9DR0xpZ295TFYxV09UOXJvcHlRQWpsTmxjWFY2Y0IvZTdDc2tYdklxSnp4M29mNEFDZ1V4U0VoNFZpMmFKMzhjQjkvZUhxNm1vUVFybk5SZS8wWjNCNGw0ZUNnb0w0VHMrNk1iMTc5KzV0SFYwRTFTOE04VnJVc2wxa2tON0Rkd0dFV0NzVTRkTWhyRDNlZW1NeUZzNmRDVzl2TDBlWFYyM2UzbDZZOC9aMHpIcHpLanFFdFllaUNHOEJyTlY3K0M0SURvdHM3ZWo2R2dGWEtlVUtSeGRCOVF0RHZKWmMxejZ5dDBHUEg0UVF3eUdFUjgvcm83Qnc3a3pjUCtBZVRmUytxNkxUNlRDZzMxMVlPSGNtZXQ5MEk0UVFMa0tJNFVLSTcxdTE3M0tMbyt0ckJPN3MxcTNiY0VjWFFmVUhROXpPZ29LQ1hJTTdSRHlyVjVUdmhGQWlQZHpkRFUrUEdJYTFxMWNndEYxYlRRZjRSWXFpSUxSZFczejB3V0k4UDNZMFBOemREVUtJam9wTy9Cd1MxbVdNdjMra3U2TnJiT0RtZGU3Y3VXNmZCS042aXlGdVIwRmhuU1AxSHI3dkNhbWJDd0h2anVGaG1EL25iVXdZOTB5RENPOUw2WFE2UEQ5MkZPYlBlUnRkSWpwREFPNFFZcjViRTdFOHVGMlhibzZ1cjZFU1FqUnhjbkphNHVnNnFINWdpTnVIQ0E3djhwQmUwWDhPWUpoT3A3Z09mUEMvV0w1MEFlNjhyVGNNQm9PajY2czFlcjBlZDk3V0crOHZtb2RCanowQ25VNXhsY0FneFNEV0I0ZDNlUWo4TjJZdk1aZHNEK3pXcmR2OURxbUU2cFdHMXoyc1k4M0N3anliKzdZY0lSVHh2b0JvMmNUSFI0d2Y5d3hlZkg0c212ajQySFhsd2ZwS0NBRlBEdy8wdnVVbXVMdTVJZUhvTVZGaU5QcEM0Rjd2WmdGR25ZOW5IQi9adjNvQkFRRStRb2dYTDJtZURTQVVRSk55YmJkNmVIaXN6TG5rN3pZd01QQXVJY1JONWRzc0ZzczdtWmxjbGJJaFlpL3Ayb2xXWVYxdjloQXVhNFVpbHVvVW5mc3ROOTJBeGUvT3d2Q2hnK0ZzaDNXL3RjYWcxMlBFazA5Z3lmelp1UDNXVzZCVGRPNENtT3VsZDEvZktxenJ6ZUMvdDVxUVZxdDFiUGtHSVVSTFQwL1BXWTRxaU9vSC9rOTFqVnFIZFgxRUVYSXRnQUVHZzBFOE9maC9tUFAyZE54eTB3MVFsTWI3MTZyVEtiaXhWdy9NZnVzTlBEbjRmM0IyZGhZQTdsS0VYQnNjSHZHNG8rdlRLaW1sN3ZEaHc3OUtLVCs1Wk5lWUxsMDRLNmd4YTd4cGM0MWF0Z3ozRFFtTFhBQUZHeFJGQ1c3YXBJa3liZExMbVB6S0JBVDQrem02dkhxamVUTmZUSDVsQW1aTWVRMitUWnNxaXFJRUswSzNOcVJEbDJVdFc0YlgvUktOR2llbEZBQmdNcG5HU3luUFhXd1hRZ2lkVHZkaHUzYnRuQjFYSFRrU1E3d2Fnc082M0dId2RQNVNLTXB6T3AwTy8rbHpCejcrOEgwTWZueGdvKzU5VjBWUkZEejY4QU5ZdTNvNS90UG5qZ3MzZUtVWVpmQjAvaklrdk12ZGpxNVBpK0xpNG5KVVZYMytrdVp3VDAvUDF4MVNFRGtjaytlcWRIUUthUi81bWxERVdnQzM2M1NLL3RtblIrS2Q2VlBRcVdPNG80dXI5OXFIdHNNNzA2ZmdoV2VmaGw2djZBRGNMZ1ErRGdtUG1BNTBiSHczRDJybzhPSERHNlNVbThxM0NTRmVpWXlNN095b21zaHhHT0pYRUJMU01TQTR6UENCMENuVEZTRUNRNEpiaVZVZkxNR0x6NDFCa3lhTlkvWkpUUWtoMEtTSkQ1NFpQUUxyMW55SWtGYlhDU0VVZjBBM09Uak04RUhMZHBGQmpxNVJnNTRCVUg0VlNZTmVyMThKUUJGQzhDWFhqUWluR0ZhbFhUdm5WczJESGhRRzNXSWhNRUN2MStzZXZIOEFwazE2QmQyNlJESzhyMUdMd0FEYzBLc0hUS1VtSEV0T1ZsUlY3YXBUeEczZXpmd0s4M3k4amlFbngrcm9HaDJ0c2ltR1VzcmZ6cDQ5KzlmRjdiTm56eFlFQmdibUFMaXYzR0ZCL3Y3KzV3RzRDU0ZzYm5aeWltSER4UkN2UkVoSWlJdTN3V09LSXBRM2hCQ2hUWHg4eE91dnZJUlJ3NTlFaThBQUJuZ05DQ0hRek5jWE4vUzZIbTFiaDJEdi9vT2l0TFMwQllTNDAxc1kzSndVMzczRnhZMDdiSzRteEFFZ1BUMzlZRUJBd0cxQ2lKQnl6YmNBT0NhRXVMNzhzUXp4aG92REtiYVVsdTNhQmNIWjZ3dEZVU1lyaXZBTmFYVWQzbDgwRDQ4UGZBaWVIaDZPcnEvQjhQVHd3QVAzRGNEN0MrY2l0RjFiS0VKcG9paktaUGVtK3ZVdDJuYStEdnkzZVRXa0VHSVVnSktMRFVJSUR5SEVVQWZXUkhXTVBmR0xPblowQ21uYTRnbWR6dWxEb1NnM2UzbDY0ckdISDhCYmI3eU9qdUZoN0gzWEFpRUVnb0phb3U4ZHR3SUFqdjl6QWlhek9WU25pQWQ4bWdYbWVyam9FL1B6OHkwT0xyUE9YVzFQSEFEUzA5TnpBZ01EelFEK1U2NjV3am9QN0lrM1hPenRBRUJRa0d1SWFsZ01JUllBQ1BYeTlNUWJyNytLbDE5NkFTMWJCRHE2dWdZdk1DQUFMNzN3SE41NC9SWDQrallGZ0JBSUxOQjcraTRGWHpoeFJRY1BIbndYd0FGSDEwR08wZGhEWEduZHZsT1hFRS9mMzRVUVR4c01ldTlPSGNMRjExOThqQWZ1Nnc4M1YrWkhYWEZ4Y2NZRDl3M0FsNSt0UmtUbmpzS2cxL3NJaU9HdFBYejN0RzdmcVF2NFcrUGxXS1dVSXdBMHV0OWFxQkdIZUZCUWtHdnI4QzdQU2tXL0VSSTlQRHpjTVdia01IeThjaG5hdHVaTGFod2xKTGdWUHYxb09jYU1IQVlmYjI5SW9MTlU5QnVEdzd1ODJLSkZDemRIMTFkZlJVZEhINVpTWHZIOW05VHdOTW9RYjlHbVl5dWRSOU5QcFJDemhCQnRBZ1A4eGJKRjh6QjI5QWo0Tm0xeTVSTlFyZkwyOHNUWTBTT3daUDVzdEF3TUZFS0lOa0tJR1FhdjVodGF0T25ZeXRIMTFWY0ZCUVhUQVNRNnVnNnFXNDB0eEhVaG9SMjdPamtiTmlsQ2VWaXYwN25kZnVzdCtHcmR4N2o1eGh2ZzZ1SmlsNHVzWDc4ZUF3WU13SzIzM29vSkV5WWdLeXZMTHVkdFRGeGRYSER6amIydzZjdTF1UDNXVytDazE3c3BRZ3h3Y2paOEc5SXU4Z1p3ZUtXQzVPVGtVcXZWT2xKS3lZZDlHcEZHTStVaUpLUmpnSFEyakJSQ3ZDZ0VmSnMzODhXd0p3Ymg4WUVQb1ltUGo5MnVzMi9mUG93Wk04YW1yWGZ2M2xpNGNLSGRydEhZbk0vTnhkZmZic2JLMVovaFhHWW1KR1FPcEZ3TW8yVjVTa3I4V1VmWFIrUklla2NYVUJlYWgzUU1nS3YrSXlGeHB4Qnc2UkxSQ1pOZmVRbGRJeU9nMTl2M3J5QXVMcTVDVzJ4c3JGMnZVVjNGeGNYNC9mZmZzVzNiTmh3L2ZoeFpXVmt3R28xd2QzZEh5NVl0MGExYk40d2JOdzVPbDFrRFBUMDlIWnMzYjhiT25UdVJucDZPb3FJaU5HM2FGS0dob2JqNzdydlJyMSsvV2xzRXJJbVBENFlOR1lTZTNidGo2bHZ2SUNZMnJpa0VKa2xYZlUvLzRNam5NbEpqVHRUS2hZazBvR0gzeE51MWN3N1N1OTZnaCs1eklSRG83T1NFRzN2MXdLeTNwc0d2ZWZOYXVlU2VQWHZ3ekRQUDJMVGRlT09OV0xwMGFhMWM3MHEyYjkrT1diTm1YWEZJWit2V3JmQ3A0amVTOWV2WFkvSGl4VEFhalZWK3ZuUG56cGc5ZXpZQ0FnSnFWTytWbk12TXhCdHZ6Y2IyUDNhaHRMUVVVc29NVlpXRDA5VGlYVWhPNXR1RHFORnBzT09LQWUzYU5XK3VkNSttUUprakJKcTFhUjJDY2MrTXhzc3Z2UUJ2TDY5YXUyNVFVQkJjWFYwUkZ4Y0hpOFdDcUtnb1RKczJEUjRPZU5wejllclZlT3V0dDFCY1hIekZZNTk4OGttNFZISlBZTzNhdFpnM2J4NHNsc3ZQWGp0MzdoeDI3OTZOL3YzN1g3WkhYMVB1N3U3NFQ1L2JFZUR2aHhNcHFjak56Zk1RQ2g1dW9qajVlUHI2SE1uUHppNm90WXNUMVVNTnNpY2VGQjRSb1pmS1NpSFFCVUk0UjNUcWlKa3pwaUFzTkJSNmZkMzkzTEpZTEhZZnJybGEzMzc3TGQ1ODg4MEs3UWFEQVczYnRvVzd1enN5TXpPUm5wNE9zOWxjYVU4OElTRUJRNFlNcVhDT2tKQVF1THU3VnpwME5IandZRXlZTU1GKzMwZ1ZyRllWOFVjVE1mM3RXVGg0S0FhUXNsUUZqc0NDVWFuSmg2TnJ2UUNpZXFKaGhYaTdkczZ0ZE80RGhjQUNSWWhtYnE2dWVPRCtBWmcyNmVVRy9jYjVTNTA3ZHc0UFAveXdUUTljcjlmajZhZWZ4bU9QUFFaM2QvZXk5cUtpSW16YnRnMTkrL2FGNnlVUE40MGVQUm9IRHRnK0NEaGx5aFE4OE1BREFJQzllL2ZpK2VlZnQrbWxHd3dHL1BUVFQyalNwRzZtYXByTlpydzlaejYrMnJnSnhTVWxrRkxtcXhMUEtxVjVYNldrcEZROS9rUFVRRFNZNFpTZ0RoMUNtd3FYTnhSRlRCSkMrTFFnZVJoVkFBQWdBRWxFUVZRSkNjYmtWeWRpK05CQnRmcnJmVjB6bVV6NDZxdXY0T1RrQkYvZnl0OXlObXZXTE1USHg1ZHRLNHFDQlFzVzRMLy8vVytGdndzbkp5ZUVoWVZWK0NHWGxwYUdCUXNXMkxUZGNjY2RHRGR1WE5sMnk1WXRrWk9UWTlNalYxVVZ3Y0hCQ0Erdm01ZGw2SFE2M0h4akw0UUVCK1BFaVJSazU1eDNWZ1R1a25ybjZ6eTlBby9tbnorYlV5ZUZFRGxJZzVnbkhoUVcyVTh2bmIrRUVFOER3dVB1dm5kaTViTEY2SDkzWHpnNzErMnJCNU9UazlHOWUzZWJQNWVHNGJVd21VeFl2MzQ5N3IvL2ZzeVpNd2Y1K2ZtVkhwZWJtNHRmZi8zVnBtM1FvRUc0K2VhYnEzVzlMVnUyVkdoNzhNRUhLN1FOR0RDZ1F0dGZmMVZZcDZsV0dRd0c5TCs3TDVZdlhZQjcrOThOUUhnSWlCRUdKN214VldqWC82Q2gvY1pKVkk2bXB4ajYrMGU2dXpTUi94VkN2Q2NBSHc4UER6ejF4R0NNR1Rtc3d0Q0FWcGxNSm56enpUZFl2WG8xTWpNenIzajhMNy84WWpPOG9kUHA4TVFUVDFUN3VqRXhNUlhhdW5YclZxRXRQRHdjQm9NQlpyTzVyTzM0OGVQVnZsNU42WFE2dExvdUNQTm16a0RyNEdCOHZQWnpKVCsvb0xPaWx4dUMyMGYrWC9GNXl4ZVptZkdGZFY0WVVTM1Rhb2lMVnVFUlVRckVSRUFacUFpaDY5NnRDMFlPZXdKMzNuNnJ3MjRtMnRPVndsdW5xM3drTERyYTlwNWVodzRkMEt4Wk0wUkhSK1B6enovSDRjT0hrWnViQ3g4ZkgzVHQyaFdEQmcxQ2x5NWRLcHpuMGlBT0NBaUFtMXZGcFV2MGVqMWF0bXlKbEpTVXNyWlRwMDdCYXJWV1dXTnRjbkp5d3ZOalI2RkxSQ2Q4dVBvVDdOMS8wRWRWNUFjZXZvWitycjRSNzZRZGpUMElnRTgwVW9PaHliUnJGZHE1cndKbENTRGE2ZlU2M2NDSC9vdG5SbzlBVU1zV2ppNnR4a3dtRXpadTNJalZxMWRYbU5zdGhNQ3R0OTZLSjU1NG90SmVNVkR4WWFNMmJkcmcwMDgveGFKRmkxRCthZXlzckN4czJiSUZXN1pzd2RpeFl6Rnk1RWliejZXbnA5dHNONy9NdlBwbXpaclpoTGpGWWtGUlVSRzhhbkVxNStYbzlYcmNlZnV0NkJBZWhzWHZMOGZYMzM2bk01dk5EeXBRT2w4WEZ2bnl5Y1NZelE0cGpLZ1dhQ3pFdXh1Q3c2d3ZLd3JlQWdCdkx5K01IakVNbzU1NlF2Tzk3OUxTMHJLZTk2WGg3ZVRraEh2dnZSZERoZ3hCY0hCd2xlZFFWUlZuenB5eGFZdU5qY1htelpmUHJHWExscUZseTVhNDU1NTdBQUFsRjJaNTJCeHp1WG51bFExZEZSY1hPeXpFTHdvTThNZU1LWlBRT2pnWUg2eGNyZVRtNVlYcGhkaDBYV2pFVzU0RzY5ZE9UazcyVzIrQkdnV0x4WEw4eUpFakp4MWRSM21hU3I2Z3NOSU9RdEdQQWdBM056YzhPMllrUmc2ci9uaHZmWEs1OFBieDhjSEFnUVB4MkdPUFhkV1V2WUtDaXMrNW5EaHg0WWwwYjI5dlJFWkdvclMwRkhGeGNTZ3FLckk1YnNHQ0JlamJ0eThNQmtPbER3ZGRib3BtWlQ5QXk0K1JPNUxCb01mb0VVL0N6YzBWczk1ZGhPTGlZdWdWNVdtOWt6NUNVVVF2UjlkSDJtSXdHSTUyN2RyMXFVT0hEcVZjK2VpNm9ha1ExNWNXSG9PTDk4Y1FZcXJSYU1SSGF6NkZUbEV3ZFBEakRobC9yYW5EaHcvajVaZGZyaERlUVVGQkdEeDRNTzYvLy81S242S3NTbFZQWnZiczJSTno1c3lCcDZjbmdBdnp5Sjk3N2ptYmNlL3M3R3o4OWRkZnVPMjIyeXBkQThWcXJmb2w5SlVGZG4yNXNXeXhXTEJ1dzlmNDRNTlZaY3NHcUFLZjZRUUNwWlQyV2JhU0dnTTlBSGNoQktTVUlRQVk0dGZpMzRjM3BnVzNqOWdEWU5uWmpITkJNK2N1VU5KT25jWXpvNGFqZWZObWppNnhXdjc1NXgrYkFIZHhjY0hreVpPdmVUR3B5bnJMQm9NQjA2ZFBMd3R3QVBEejg4UHp6eitQRjErMGVZMGpEaDgrak50dXU2M1NHNWlscFZVdlMxSlNVbEtocmZ3RFJZNlNrM01laTk5ZmpuVWJ2b2JaYkZhRkVLZXNxdnBTV21MTVJ1L0l5STZLb2l4M2RJMmtHVDJGRUZNY1hVUmxOQlhpRjZVZWkvMnBWWGpFUXdxVWlSYUxkZUFuYTcvUXhjVW5hRzUyeXFWQmJUUWE4ZTY3NytMNDhlTVlPSEJndFJlVHFtemN1bTNidHZEejg2dlFIaEVSVWFIdDRnOFVaMmRuT0RrNXdXUXlWZGhYbWV6c2JKdHRUMDlQaC9iRUxSWUwvdGoxMThYWktWQlZhUVd3eVNxdE05TVNMOHhPaVltSk9lS3dBa2x6b3FLaVhLU1U5ZkwxZDFwOTJFZW1IWTA5b0Jhcnp3aFl4NnFxek50LzhCQmVtL29tUGx6OUNVb3VzOXBlZlRKZ3dBQzgrZWFiYU51MmJWbGJibTR1MXF4WmcvdnV1dzh2dmZRUzl1M2JkOVhuYzNGeFFkT21UVzNhcWdyVDhqM3ppOHJmekx6MEJ1cVpNMmNxWFFUTFlySGc5T25UTm0zbHY1KzZaaktaOGVIcVQvRHFsT25Zcys4QVZGWG1RYW9UTElXV1VXbEhZdytBMHd1cGdkRnFpQU1BMHRKaXo1ODRHdnVoQ3ZVSlFDYmxuRCt2emwyd0JLKzgvZ2JPbmN1RXFxcU9Mdkd5OUhvOSt2ZnZqL1hyMTJQKy9QazJ2V05WVmZINzc3OWp6Smd4ZU9TUlI3Qmh3NGFyV28wd0xDek1adnZreWNwdnBKODdkNjVDVy9uSCtOdTFhMmV6ejJReUlTRWhvY0puNHVQaks0eUpkKzdjK1lwMTJwdXFxc2pNeXNLa2FXOWk3b0lseU16S1ZxV1VKNlFWZzFNU1k1YWNPaFhIeCsrcFFkSjBpRitVZGpUbU96Tk1BeURsY2tBV2Z2L2pMeGcwYkJSKytQbTN5NDdsMWhkQ0NOeDIyMjFZczJZTmxpOWZqaHR1dU1GbS80a1RKekI3OW16MDY5Y1BjK2ZPUldwcWFwWG51dW1tbTJ5MnM3S3k4TWNmZjFRNDdxZWZmcXJRRmhrWldlVjVBRlE2VmZHNzc3NnIwTmFuVDU4cTY2c05ack1aUC96OEc0YU9HSXVObTc0RElBdWx4R3FMU2R5ZG1uVG9CN0QzVFExWWd3aHhBRGlWa0pCa0tqQk10RnJ3a3BScTlqOHBxWmc2WXlibUxseFNiNmE3WFkzcnI3OGU3NzMzSGo3NzdEUDA2ZE1IUXZ6L1pUK0tpb3J3eFJkZjRLR0hIcXJ5YlVIOSt2V3JjRTlnenB3NU5qM3kyTmhZZlB6eHh6YkhlSGw1MmZ6d3VQWFdXeXZNak5tMGFaUE5ENFNkTzNkaTA2Wk5Oc2UwYWRPbTB2SDIybUkybXpGLzhmdVlPbU1tRXBPU0lhVXNzRnJ3VWxHMmNmeXBmdzRsMVZraFJBNmlqVHVBVituTW1RUEZBRllFdCt1eUQzcjVXVjUrZnVpcWo5Y2FvcU5qTVBlZEdRaHUxUW82blRaK2JuWG8wQUZ6NXN4QmFtb3ExcXhaZ3g5Ly9ORm1UTHFxM3pDYU5tMktJVU9HWU0yYU5XVnQ2ZW5wZU9TUlI5Q3hZMGVZeldZY1BYcTB3c004STBhTXNKbVY0dUhoZ1NGRGhtRGx5cFZsYlZhckZlUEhqMGY3OXUyaDAra3FIVjU1NFlVWGJIN3cxQlpWVlpHU21vWkowOTdFM3YwSEFjQXNwVHh1bGRZblRpWWQyVi9yQlJEVkU5cEl0R3BLVFQ0Y2JiUVUzUTRwbDBpSnZPaVlXSXgrYmp3KzMvQVZTc3ZOdU5DQzRPQmdUSnMyRFpzM2I4YWdRWU91YXQ3NHFGR2owS2xUSjVzMmk4V0NtSmdZSkNRa1ZBandPKzY0QTRNSEQ2NXdubUhEaHFGRGh3NFYybzhkTzFacGdBOGFOQWkzM0hMTEZldXJLWlBKaEM4M2JzTG81OFpqNy82RGtKQkZrSEtKVlJyN25FeGtnRlBqb3IwblpLNVNZVTVPc2JQTy8wKzltL1VncE9pVG01dm5zV2YvQVJ4TFNrYlA3bEdWem9XMmg1eWNISHoxMVZjMmJaR1JrYmp4eGh0cmRGNFBEdy9jZE5OTmVQamhoK0hzN0l6UTBOQXExelBSNi9YbzA2Y1BqaDA3aGxPblRsMzJ2STgrK2lpbVRwMWE2Y05TQm9NQmQ5NTVKeElTRWlvOHpsK2VvaWdZTm14WW5mVENzN0t5TVgzbUhLeitaQzNPWldaQ1NweXpTdlVwWXk0K09wTWF6NXVYVkNzQ0F3UGJBWGhFQ0dHUlVuNTk5dXhaUHV4VEZ6SXlZb3FRZ1IrdXV5NHNTdWZ1c3JhNHVPVG1IMy8relhBMjR4eG12UDRhd3RxMzA5eVRuajQrUGhnelpzd1ZqL1B5OHNMU3BVdXhjK2RPL1BUVFQ0aU5qVVYyZGpZVVJZR2ZueDk2OXV5Smh4OStHS0dob1ZlODNnY2ZmSUR0MjdmajU1OS9SbHhjSEhKeWNxRFg2K0huNTRkZXZYcmhnUWNldU9KNWFzcHF0ZUpFU2lwZW5UTDl3dXZZQUl1VWNwZlZZaDE1TXZsSTNhOTlTMVJQTkpyRjhrTkNPZ1pJWjhOSUljU0xRc0MzZVROZkRIdGlFQjRmK0JDYVZQR1dkNm9menVmbTR1dHZOMlBsNnM4dTlMNGhjeURsWWhndHkxTlM0czg2dWo1cStLS2lvdnBKS1Q4WFFoaFZWZjNmb1VPSGZuZDBUUmRwcXh0YUE3bTVtWVY1MlVHN3ZacVc3aEpDNlZGY1V1Sy83MEEwVXRMUzBMMWJGNGU4alo2dUxPZjhlVXlaTVJQcjFuK04vUHg4U0NsalZhczZLdlZZN0dlNXVabVZ2OTZJeU03cTgzQktnN3l4V2JVRDVyUmo4YnVNRVBkTHFmNXNOcGxLZi9wbEN4NzUzekJFSDQ2QnlhU2RxWWdObmNsa3hxSERzWGhnNEJEODlNc1dsQnFOcFZLcU80d1E5NmNseFc0QndQOVlSR2hFUGZIeUNyUE81bnE0R0RicW5OeXlKUkJXVUZqbzgrTXZ2d21UeVlUMm9hRndxeWNyOERWV2Vma0ZXTDV5RmQ2Y05ROFptWmtTd0FrSnpEYm5aNDFQUDVGMDVYZlVFZGxaZmU2Sk44b1FCNEQ4L0h4TGJsYkdBVzhmdnoxQ0VWRm1zem53VU13UjdEOXdFRDI2UjhISHg5dlJKVFpLYVNkUDRjWC9ldzAvL1B3YmlvcUxBU0dQU29zY2xub3NabU5CUVVIOWYveVdHcVQ2SE9LTmJEaWxBbXRxY3V6dWxNTHNXMVRJejBwTnB1SjlCNkxsZzQ4UHhTOWJ0bWx1VHJtV21jMW0vTEpsR3dZT2ZncC83OTB2UzAybUlnbTVQaVV2Ni9yVTVOamRBT3JsQ25KRWp0Wm9lK0kyOHZNdGVYNitQL2lveWlrSWRDd3RMZlhkdVdzM3NyS3lFTnF1TGJ3cVdmR1A3Q2Y5N0Zrcy9XQWxGcjIzSE9kemN3RWdCUkN2V0FxejM4NC9mYnJpWXVWRWRhdys5OFFaNGhkbFpscHpzek5pM1h6OWY5RkoyY1prTm9mR3hpVmc5NTY5Q0FzTlJXQ0FmNTA4VHQ2WVNDbHg0T0FodkRwbEJuN1pzZzNHMGxKSUtYK0RxZzVKU1l6Wm5wK2Z6MStGcUY1Z2lHdUhMTWpPeVBieGROMG85TTV1VXFKVFZuYTI4NWJ0T3hEZzc0ZmdWdGZCb0pFWFR0UjNKVVlqdHUzWWlmR3ZURVpLYWhxa1ZBc2hzYlFvMnp6MnpNbTRNK0RLZzFTUE1NUTFKamMzMTVMcjQ3bkRTK2lQQ2lDNHBNVFljc3YySFNMOTdGbUV0R3FGcGsyYnNGZCtqYVNVU0V4S3hzTEZ5ekIveVhzb0tpcVdBQTVLcUpOVExNVkxpMDhsY3ZpRTZoMkd1QmJsNUZqenNqUGl2WDM5dHdMd0E5RGhhR0tTc3U5QU5OcTJDY0YxUVMwZFhhRW1IVG9jZzVjblRjT3UzWHRnc2FoV0tlVVhWclA1K1pOSmNUdVFrMVAxMjVpSkhJZ2hybUY1MlJtNWVkbWVQM2o3NmdRRUlyT3lzbDAyZmYramNISnlRbmhZZXhnTUJ2YktyMEJLaWFMaVluejJ4WmQ0WWVKck9KZVpKUUhrU2FtK241cFkvRUwrK1dNVlh6TkVWSTh3eERVdng1cVhmVzY3dDIvQVhpRVFJaVdDL3Q2N1gwaytmZ0t0ZzF2Qno2L3kxUVRwZ21OSnlaanh6bHg4OXZrR21NMFdLNEFkQU1hbkpzWXNBOWo3cHZxUElkNUE1R1ZucExqNytHOVZkUENRVWw3L3o0a1UvUDdIbi9EeTlFU0hzUGJza1Y5Q1ZWVnMrdjRudkRaMUJnN0hISUhWYWdVZ1A3YW9KYytuSmNZZmNuUjlSRmVMSWQ2QUZPUms1T2RtWmZ6ZzVldC9IRUxlWEZCUTZQYjd6aitGMFZpS2p1RmhjSFc5OGtzYkdvTzh2SHdzV2JZQzh4WXVRYzc1WENraHp3bXJPaUVsTVdaYWZuWjJnYVBySTZvT2huZ0RsSmVkRWV2bEc3aGJDUGlwcXRvKytuQ01TRWc4aG1hK3ZnaHEyYUxSOXNwVlZjWGZlL2RqNXR3RjJManBlNWpOWmduZ0YxV0s1MUtQeFd3R3B3NlNCakhFRzZpODdMTW4zWnA2LzZZSWZhYUV2Q1V0N1pUaHo5MTc0T0xpZ2c1aDdUWDN3b21hc2xnc1dMZitLOHljT3g5SDRoS2dTclZZU3J4bHRNalh6eVFkUGdvR09Ha1VRN3dCSzhqT0xzN0x5dmpiczVuL1B3TG9YbFJVN1AzSG43dEZ6dmxjZEkzc0RCY1hsd2JmSzVkU0lqY3ZEL01YdllkRjd5OUhmbjZCRk1CcEsrVHphWWt4SHhTZHp5aDBkSTFFTmNFUWIvaGtmbGJHRVEvZjV0c1ZvYmhJaWZEWXVIakRyci8raHIrL0g2NExhdGxnZStVV2l3WGIvOWlGMTk5NEd6Ly90aFdxS2tzRXNFRzFZRnphc1pqZndONDNOUUFNOFVZaVAvdGNodDdYWjV0QjZBb0V4QTJaMmRuT2YrN2VBNVBKaEI3ZHUwRlJHdGFpa2FxcVlzVkhIMlB1Z2lVWEhwMEhpaVhrRkJqejNrNzlKN0hlL0NNbnFpbUdlQ05TbkoxdHlzdksrTXZiMTI4dmhMeWxwS1RVZTgrK0E4cUI2RVBvMFQwS25oNGVtaDllVVZVVnAwNmZ3Y1JYcDJMdCtpOVJYR0swQWpncHpmS3gxS1REbitmbTVob2RYU09SUFRIRUc2Rzg3SXdUN2o3K0czVUtQQVFRZnZMMEdhYzllL2ZEM2QwTjdkdTExV3l2M0dxMTRzZGZmc01iYjgzRy9vUFJrRklhQWF5V1VvNUtUWXFKZG5SOVJMV0JJZDVJRmVSazVPdDlmWFk0Q1YwaUlQcG1aV2U3N042ekQybHBKOUh6K3U1d2RuWjJkSW5Wa3A5ZmdMZm52SXZsSDYzQjZUUHBnRVMrVU9VemhTaGRuSjRZbitIbytvaHFDME84RVN2T3pqYmxabVVjOGZCcThyV2kwOTFnTXBuOTR4SVNsU1B4Q1lqbzFCRStQdDcxZm5oRlZWV2tuVHlGLzVzMEZULys4aHVNeGxJcklBOVlwUFhCdEdPeHZ4Wm5aM1BkYjJyUUdPS0UvUE5aT1c1ZXZyOG9PbEVLaUM0blQ1MXkzcjVqRnhTZGdyWnRXc1BaeWNuUkpWYXFvTEFRWDMrN0dWT216MFJzWER5a2xBVVNjcW5aWkpsNE9qbnVtS1BySTZvTERIRUNBQlNjejh6TDgvSDgwd3Y2M1VJUk54Y1VGRFRkcys4QXpwN05RUGR1WGVIcTZ1cm9FbTBVRkJSaXhqdHpzUHFUZGNqS3lZRUVqa3VyR0pscXl2dW80RVJTdHFQckk2b3I5VG5FdFhsM1RjdVNrMHZUanNWc1ZjM20rNlVxZHhxTnBlYXZ2dG1NeDU4Y2lZVEVSSmd0am44ZnNObGlRV0pTRWg1OTRpbDgvZTEzS0M0cE1Vdkl2YXJaZkg5cTBxRWZrSkxDMlNkRTlRUjc0ZzZTbDVPWjJkVGJmYVBVT1JVS0lEem5mSzdYRHovL0NrVlJFTnF1TFZ3Y2ROT3pxS2dJYXo3N0hGTm56TVRKVTZjQktVOUpZR0crcGVqWnM4bUpweHhTRkpHRDFlZWVPRVBjZ2M2ZlAxK2FtNVh4dDFkVC8wTkNvRmRwcWFuWmdlakRPQnh6QkRmZDBBc2U3dTUxV2svR3VYT1k4T29VYk56MFBmSUxDaUNsVEZWVk9UdzEwYkt1SkNleHVFNkxJYXBINm5PSWN6akY4U3hweDJLMnFzWG5iNFNVMzVlVUdFdDIvcmxiM2o5d0VIYit1UnRtczduMkM3QllzUFBQM1JnNCtDbjgvc2N1V1ZKaUxKRlMvbXpSV2FMU2pzVnNCZUk1KzRTb25tSlB2SjdJeThzeituaTRmaVAxenRrQzZGUmNYT0x6eDY2L2tKOWZnUEN3VUxpNXVkWEtkYk56Y3JEaW80OHhiK0ZTWkp6TEJJQjBLY1RVNG16ejVMTXA4WG0xY2xFaWphblBQWEdHZUQyU201dHJ5Y3ZLaVBabzV2ZWJBcVdyMFdpODduQk1MUGJ1UDRqT0hUdWdlVE5mdTgwcGwxSWlMdUVvWG4xOUJyNzc4V2NVRlJkRFN1d3pXODMvTzVrWSszTnhjU1p2WGhMOXF6NkhPSWRUNmgvenFhT3hzU1huMWYrb3FyclNiTFVVUlIrT3hhaG5YOERXN1R0UVdscGE0d3VVbWt6NGMvY2VqSDcyUmV6ZGZ3Qm1pNlZZVmRXVk1PS3UwMG54aHdEVS9oZ09FZGtGZStMMVZGRlJodG5kT1dpck1GaFBDQ0hhRmhVVitmK3laVHV5c3JQUnBuVUl2TDI5cXQwcmwxSWlOZTBrM3Z2Z1E3d3pieUh5OHZJaEllT2thcDFxTFRvL055M3RHTmY5SnFwRWZlNkpNOFRyc1lLQ2RITmVka2FNZXpQL3JRcEVzTlZxYlJlZmNGUTVjQ2dHSFR1RUljRGZyMXJuTzVxWWhJbVRwbUxyNzMvQVpES3BnUGpPYXBiUHBDWEYvcHFmbjgvZU4xRVZHT0pVSXdWWkdka0cwZlI3ZzV2aUJZa09HZWZPT1gzNzNROGl3TjhQSWNIQjBPdjFWZmJLcFpRb0tTbkJwdTkveEpoeEUzRDZUTHFVcWxvb3BmeXNPTWM4T3YzVUVjNzlKcm9DaGpqVldIRnhwaWt2SytObnIyYitzUUpvWTdHb2dUdisyS1djUG5NR2JkdTBSdE9tVFNyOVhOckpVNWc1Wno1V3JQb0VwYVdsS29DOTBvcVhVNC9GekMwdXp1VFVRYUtyd0JBbnU4bkx5a2p5OXZYZktvQVdxcFNkanlVZHg0NWRmeUV3d0IvdDJyUzJPWGJyNzM5ZzRtdFRzWGYvUVZnc0ZrREt6UklZblhvc1pnLzQyalNpcThZUUo3dkt5ODdJemMzTytNckgxeTlYU3ZUSXpjdHovVzNiNzBKUkZJUzFENFhaWXNIS05aOWl4c3k1T0plWkthVkVEcVIxZWtwaTdQTjUyUm01WUlBVFZVdDlEbkc5b3d1Z2E1ZVNHTE9rVldoRW5LSlRKcGxNcGpzV0xmMEFoMktPd0tEWDQ3ZHR2MS9vZlVQOElhVTZJelV4ZG9lajZ5VWkrMk9JYTV1YWxoUzdOU1NrNHhFNDY1OHpXOHd2YjluMnUrSENMbW1HeEdKWllubzNOVFVoM2JGbEVsRnRZWWhybjB4SmlUOExZRnFyMElnMG5WNU1sbExvVmFzNlBTMHBkalg0NEE1Umc4WVFiemlzVGR5VVB5RjBCd0RWQ1ZMNU00MEJUdFRnTWNRYkVFVlJtZ21CRzZVVUxoQ2ltYVBySWFMYXg3VlRpSWcwakNGT1JLUmhESEVpSWcxamlCTVJhUmhEbkloSXd4amlSRVFheGhBbkl0SXdoamdSa1lZeHhJbUlOSXdoVGtTa1lReHhJaUlOWTRnVEVXa1lRNXlJU01NWTRrUkVHc1lRSnlMU01JWTRFWkdHTWNTSmlEU01JVTVFcEdFTWNTSWlEV09JRXhGcEdFT2NpRWpER09KRVJCckdFQ2NpMGpDR09CR1JodWtkWFFCcFMxUlUxR1FBYjVWdmsxSVdLb29TZE9EQWdieXFQdGV0VzdlUGhCRERMMmwrL2VEQmcyL1hScDFFalFWNzRsUXQrZm41UzZTVXVlWGJoQkFlVXNwTEE3cE1aR1NrSDREQjVkdWtsRGxGUlVXTGE2bE1va2FESVU3VmtweWNuQTlnNmFYdFVzcm5VY1cvSjcxZS80d1F3cmw4bXhCaWZtSmlZa0h0VkVuVWVEREVxZHBLU2tvV1Npa0x5N2NKSVZwMzdkcjF2a3VQYmRldW5iT1VjbXo1TnZiQ2lleUhJVTdWZHZUbzBXd2h4QWVYdGl1SzhzS2xiWjZlbmtPRUVIN2wyNFFRNzdJWFRtUWZESEc2SmlhVGFSNEE0eVhOZDBSRlJVV1dieEJDdkZoKys5OWUrSkxhcm8rb3NXQ0kwelU1Y3VSSWhwUnk1YVh0VXNweEY3L3UwcVhMWFFBNmw5L1BYamlSZlRIRTZacFpyZGJaVWtwVCtUWWh4T0R1M2JzM0F3Q2RUamZoa285a3N4ZE9aRjhNY2JwbU1URXhwd0I4Y2ttemk1UnlkRlJVVkFjcDVWM2xkNmlxeWw0NGtaMHh4S2xHTEJiTE93Q3M1ZHVrbEVNQURCRkNpSExOMlNhVGliMXdJanRqaUZPTnhNYkcvZ1BnOC9KdFFvZ09Vc3IvbFc5VFZmWGQrUGg0bTJtSlJGUnpESEd5aDVsU1NyVjhneENpZGJsTjlzS0phZ2xEbkdyczRNR0RDUUEyVnJWZlNqbVB2WENpMnNFUUozdDVxNHIyck5MUzBncVA2Uk9SZlRERXlTNmlvNk1QQS9pK2tsMEwyUXNucWowTWNiSWJWVlVQWDlvbXBVeDBSQzFFalFWRG5JaEl3eGppUkVRYXhoQW5JdEl3aGpnUmtZWXh4SW1JTkl3aFRrU2tZUXh4SWlJTjB6dTZBR280RGgwNjlEcUExeDFkQjFGandwNDRFWkdHTWNTSmlEU01JVTVFcEdFTWNTSWlEV09JRXhGcEdFT2NpRWpER09KRVJCckdFQ2NpMGpDR09CR1JoakhFaVlnMGpDRk9SS1JoREhFaUlnMWppQk1SYVJoRG5JaEl3N2dVclVaRlJrWUdLWXJTdlh5YkVLS3psTklaZ0VFSWNVdlhybDE5eXUvWDZYVFJCdzRjU0t2VFFvbW9WakhFTlVwVjFhWjZ2ZjdiUzl1RkVCZS9mRXRSYkgvUnNsZ3NVUUFZNGtRTkNJZFROT3JJa1NNeFVzcjRxejFlVmRYRXc0Y1BSOWRtVFVSVTl4amlHaWFFV0FZQVVrcElLU3ZzTDkrdUtNcXF1cTJPaU9vQ1ExekRyRmJycjFMS3ZISkRLQlVJSVNDbHpKTlNicXZEMG9pb2pqREVOYXlvcU9pc0VHTDNsWTc3OTVqVU9paUppT29ZUTF6RGtwT1RDMVZWUFNpbFZBSFlES2xjL0ZwS3FVb3A5MGRIUjU5M1RKVkVWSnNZNHRxbVNpbGpBT1JmNXBnU0FJY0JXT3FtSkNLcVN3eHg3ZHNGNEZ4Vk80VVFlYXFxWG5ISWhZaTBpU0d1Y1ljUEh6NE40TytMTnpmTHowZ1JRa0JWMVQzL0hrTkVEUkJEdkdINHRLb2RRb2dQNjdJUUlxcGJEUEVHSURvNmVwdVU4a3o1dG4rbkZwNk5qbzcreFZGMUVWSHRZNGczRENxQVR5dVpMNzdoMzMxRTFFQXh4QnNJaThXeVZrcFpmSEZiU2xrc3BWenZ5SnFJcVBZeHhCdUkwdExTZEFESlFvaUxpMkRGU1NuNWdBOVJBOGNRYnlCVVZTMEFzRS8rQzBDTWxETFgwWFVSVWUxaWlEY1F5Y25KcFFCMkF5Z1dRcFFDMkIwVEUxUGs0TEtJcUpaeFBmR0daVGVBVENtbDI3OWZFMUVEeDU1NEF4SWRIUjBQSUJaQXdyOWZFMUVEcDdtZWVJdTJuYTl6TXVqYk9ycU8rcXJVYkkyRm9qaUZoSGU5M2RHMTFGZWxwYVVuMGs4azhLWXZOUWlhQ3ZHUWtLNGhNTWpWRURMYzBiWFVWOFVXQUZBQklZWTR1cGI2eXRuRktTMGtwT3RqS1NtSFVoeGRDMUZOYVNyRTRZSVFDSVFMaUFBM1YxZm85RHBIVjBRYVlyVllVV0kwUXBYU0JTNElBY0FRSjgzVFZvai95ODNWRlJQR1BZdU9IY0ljWFFwcFNIeENJcFlzVzRIYy9NdXQzRXVrTFpvTWNaMWVoNDRkd25CRHorc2RYUXBwak1GZ2NIUUpSSGJGMlNsRVJCckdFQ2NpMGpDR09CR1JoakhFaVlnMGpDRk9SS1JoREhFaUlnMWppQk1SYVJoRG5JaEl3eGppUkVRYXhoQW5JdEl3aGpnUmtZWXh4SW1JTkl3aFRrU2tZUXh4SWlJTlk0Z1RFV2tZUTV5SVNNTVk0a1JFR3NZUUp5TFNNSVk0RVpHR01jU0ppRFNNSVU1RXBHRU1jU0lpRFdPSWsxMVpyVlpIbDBEVXFPZ2RYUURWYjdObXpjS1JJMGNBQURxZERoOS8vSEdWeHg0NGNBRFBQUE1NZ29LQ0VCd2NqT0RnWUF3ZlBoeWVucDUxVlM1Um84TVF2d3BTU3BTVWxOVEp0UlJGZ1l1TEM0QUx2ZHJpNHVKYXVjN1ZCbXRLU2dvU0VoTEthcXVLbEJJTEZ5NkV4V0pCU2tvS1VsSlMwS05IRHdZNFVTMWppRitGVTZkTzRZRUhIcWlUYTBWRlJlSEREejhFQUNRbkoyUFFvRUcxY3AyLy92b0x6czdPZGp2ZjExOS9qZmo0ZUp1MndZTUhJeU1qNDdLZmMzZDNoNGVIaDkzcUlHcHNHT0pVWTJmUG5zWGl4WXNydEwvNDRvdFgvT3lRSVVNd2Z2ejQyaWlMcUZIZ2pjMUdTZ2hobC9OWUxCYTgrdXFyS0NvcXNzdjVpS2g2MkJPL0NvcWlWT3RYZnFQUkNJdkZZdFBtNHVJQ3ZmN0tmOTF1Ym01bFh6czdPeU0wTk5SbWYyRmhJZExUMDIzT2U5MTExMTMybk1uSnlaQlNsbTMzN05rVFRrNU9sUjc3enovLzRLMjMzaXJiUG43OGVOblhxcXBpK1BEaEFBQnZiMjhzV0xBQTgrZlBSMnhzN0JXL0x5S3FIUXp4cTlDeVpVdnMyTEhqcW82MVdDeDQ0SUVIYklKV3I5ZGowNlpOYU5hc1diV3VHeElTZ2krKytNS21iY3VXTFhqbGxWZkt0a05EUTdGbXpab3F6N0ZqeHc1TW1EQ2hiRnVuMDJIaXhJbFZIbDlVVklURGh3OVh1Zi9pdnFaTm0yTHQyclZZdjM2OXpmNndzREM4L3ZycmxYNzJtMisrd2NhTkcyM2FPblRvVU9XMWlPaktHT0oydG5uelpwc0FCNEIrL2ZwVk84Q3JZaktacnZwWW85R0l1WFBuMnJROS9QRERhTnUyYlkzcnlNdkx3L3o1OHl1MEp5WW1Zdi8rL1JnNmRLaE5lMXhjSEg3NDRRZWJ0cDQ5ZTZKZnYzNDFyb1dvTWVPWXVCMFZGQlRnL2ZmZnQya1RRbFFJdEpvb0xTMjEyVTVJU0toeUJzaXFWYXRzZnFCNGVYbGh6Smd4ZHFuamNnLzFMRjY4R0QvKytHUFpkbHhjSE1hTkcyZFR1Nit2TDk1ODgwMjcxRUxVbUxFbmJrZUxGeS9HK2ZQbmJkcnV2ZmRldS9SOEx6SWFqVGJiRm9zRjY5YXRxekRENDlTcFUvamtrMDlzMmg1Ly9IR1l6V1prWldXVnRTbUtncVpObTVadGQrclVDVHQzN2dRQW5EbHpCbzg5OXBqTnNSZUhsWGJzMkZFMmJCSVdGb2F3c0RCczNyd1p3SVU1NDFPbVRNR0pFeWNRRUJDQStmUG4yOVR0NnVxS2R4bERReVVBQUNBQVNVUkJWTjk5MTI2L25SQTFaZ3h4TzlteFkwZUY4VjRBYU42OE9aS1NraXJjb0x4V09UazVGZG8yYnR5SVVhTkcyZHg4alltSmdkbHN0amx1eFlvVldMRmloVTJiaTRzTC92enp6N0p0UlZIS2JxN3UzYnUzd3JVdTdydm5ubnR3K3ZScC9QNzc3M2ovL2ZmaDd1Nk80dUppYk5teXBlellWYXRXVmZpOGg0Y0hGaXhZZ0lpSWlLdjVkb25vQ2ppY1lnZW5UNS9HRzIrOFVlbStWYXRXWWQrK2ZRQ0EzTnhjckZpeG9zTE1sZXFvYk9pa3VMZ1k2OWF0dStaelZ1WFhYMys5N1A0UkkwYmd3dzgvaEplWEYzUTZIVjUvL1hXMGFkT215dVAxZWozbXpadUhxS2dvZTVkSzFHaXhKMTVEQlFVRkdEZHVIUEx6OHk5NzNMbHo1ekIyN0Zpa3BLVGd5SkVqbUROblR0bmo5ZFZSMWZqM3h4OS9qSWNlZXFqYVF4UTZuYTdTOXVQSGoxZVlPcWlxS2w1NDRRVk1uandaZm41K0VFSWdLeXNMZS9ic3dhNWR1N0IzNzk0S1kvYmxXU3dXakIwN0Z1SGg0WWlLaWtKRVJBUTZkT2lBbGkxYjJtM2VPbEZqd3hDdmdaS1NFb3dmUHg0cEtTbVhQZTdreVpNWVBueDQyVTNHUC8vOEUwOC8vVFFXTFZvRUh4K2ZhbDB6T1RtNTBuYWowWWozM25zUDA2Wk5Bd0FFQmdiaXJydnVzam1tb0tBQXUzZnZ0bW03ODg0N0t6M2ZoZzBiS20zZnRXc1hCZzRjaUtpb0tNVEh4OXVNcjE4TktTVVNFaExLMW1NQmdHN2R1bUhseXBYVk9nOFJYY0FRdjBaR294SGp4bzFEZEhUMEZZL055Y2xCUVVHQlRkdVJJMGN3ZlBod3ZQZmVld2dNREx5cWE1NDdkdzY1dWJsVjd2L3V1Ky93MEVNUElTSWlBdDI2ZFVPM2J0MXM5aTlldkxoQ2lEL3h4Qk1WenBPZG5WMTJrN0l5aFlXRitPT1BQNnJjNytMaWdydnV1Z3YvKzkvL29DZ0tQdm5rRS96NjY2OFZ4dWd2NGx4eG9tdkhNZkZyY1A3OGVUejk5Tk00ZVBCZ2hYMURodzZ0c05wZmx5NWRzSHo1OGdxOTd0VFVWQXdiTmd4SlNVbFhkZDI0dURpYmJSY1hGNXNicGxKS1RKMDZ0Y0lNbG92WHV2VEJvVHZ1dUtQU21UTnIxcXlwMW54MEFIQnljc0l0dDl5QzZkT240N2ZmZnNPMGFkUFF2bjE3dEd2WERqTm16TUN2di82SzExNTdEVDE2OUtqdzVPcWxQMnlJNk9veHhLc3BKU1VGdzRZTksxdGp1N3crZmZwZzNMaHhsWDR1UER3Y0gzMzBFZnorWDN0M0hoOVZkZjkvL0gwbmt4QkN3cWFzQmdJU1FEWk5SS29pZXhVckt1Q0c4RU8wdUZZUlc3QWlWUDFhd0pTaURiWnVLRmdWL1NHVTRnNnRVaDVTUlZGQkNXc0FDWW9RVmpGQUFpSHJuTzhmbVBsbU1wTmtFcEpNVHZKNlBoNDhIblBQUGZmT0ovREltenZubm51bVpVdWY5aU5IanVqT08rL1VoZzBieW4zdk5XdlcrR3ozNk5GRER6NzRvRS9ibmoxNzlQVFRUL3UwRlJRVTZQSEhIL2NacjNhNzNRRVhxRXBQVHk5MUtNVnhIUFhzMlZPU05HellNSFhwMGtValJveFFVbEtTbGk5ZnJsbXpabm1IWjdLenMzMyt1TjF1RFJzMlRIUG16TkVISDN5Z1AvN3hqeG94WW9TNmR1MnFoSVNFY245MkFJRXhuRklCLy9uUGZ6Ump4b3lBYTN6MzZkTkhNMmZPTFBNR1hZY09IVFIvL256ZGM4ODlPbmp3b0xmOXhJa1R1dSsrK3pSNzltejE3OSsvMU9OTERvVmNjTUVGNnRPbmp3WU5HcVQvL3ZlLzN2YWxTNWVxUjQ4ZUdqNTh1Q1JwOXV6WmZqY3B4NDRkcTlqWVdMLzNTRTFOOWM2ZWlZcUtVbHhjbkhmODJuRWN6WnMzVHdzV0xORHR0OSt1d3NKQzllM2JWKys5OTE2cE5aZWxkZXZXZms5eEFxZ1lyc1NEY09yVUtjMmFOVXRUcDA0TkdPQ1hYSEtKL3ZyWHZ3YTFQbmRzYkt6bXo1K3Z0bTNiK3JUbjV1YnF3UWNmMUxKbHl3SWV0M256WnIvSCtTKysrR0pKMHFSSmsvd1d0SHJpaVNmMHhSZGY2SVVYWHZDYnZ4NGZIMS9xazV2eDhmSGUxeU5HalBCYitLdEJnd2E2Kys2N2cxck1DMEQxSThUTGNlREFBWTBlUFZwTGx5NE51SC9BZ0FHYU0yZE9oYVlMdG0zYlZpKzk5SkxmMEVwaFlhRWVmL3h4TFZ5NDBPK1lramNhR3pkdTdCMkdpSTJOMVNPUFBPSjNydC85N25mNis5Ly83dE1lRVJHaHBLU2tVbGN4akl1TFUwUkVoRnd1bDhhTUdSUDB6d1FnTkxpY0trZkxsaTExempubktEMDkzVy9mbURGak5Ibnk1REsvdHF3MGJkdTIxWXN2dnFnNzc3elQ1eWxNbDh1bFpzMmErZlROek16VWh4OSs2TlBXdjM5L242dmhhNjY1UnR1MmJmTzVlUm5vb2FJWk0yYjRYRzJYRkJZV3ByaTRPUFhxMVV2bm5ITk9oWDRtbDh0VjVqY2c1ZVhsbGZwSkEwRGxFT0xsQ0FzTDA2eFpzelIyN0ZqdmNJYmI3ZFpERHoya0cyKzg4WXpPSFJjWHArZWZmMTUzM25tblRwNDhLWmZMcFJrelp1aXFxNjd5NmJkdzRVSy9ZWndSSTBiNG5XL1NwRW5hc0dHRHRtL2ZIdkQ5eG84ZnJ5dXV1S0xjdXJwMzc2NTc3cm1uQWovSmFXRmhZWDZmQ0lvN2R1d1lJUTVVTVlaVGd0Q2tTUlBObmoxYmJyZGJzYkd4ZXUyMTE4NDR3SXQwNmRKRnljbkppb3lNVkZKU2tsK0FIejE2MUc5cVlGeGNuSHIzN3UzVGxwR1JvYVNrcEZJRFhKSVdMVnFrdVhQbjZzU0pFMlhXZFAvOTk3TTRGV0FKcnNTRDFLTkhEeVVuSnlzaElhSEt2OWkzVDU4K2V2Lzk5M1hXV1dmNTdVdE9UdllMM2RHalIzdGZaMlptNm8wMzN0Q2lSWXQwNnRTcE10OG5KeWRITDcvOHNoWXVYS2dSSTBib2hodHVDTGpXU2ZGVkRTc3EwSTNmSXVYVkI2RGlDUEVLNk5ldlg3V2RPMUNBcjFtelJ2Lys5Nzk5MmxxMGFLR1JJMGRxejU0OVdyUm9rZDUvLy8yQUQvZElVa3hNakU2ZVBDbVB4K1BUZnVyVUtTMWV2RmlMRnk5VzU4NmRkZm5sbCt1U1N5NVI5KzdkS3pXK1h5US9QNy9NS1pJQXFoN0RLYlhVd1lNSEEzN05XWmN1WFhUZmZmZnB1dXV1MDVJbFMwb044SUVEQitydHQ5L1dxNisrcW80ZE81YjZQanQzN3RUY3VYTjEyMjIzZVZkYkJHQVBRcnlXV3JKa2lZNGZQKzdUMXFsVEo5MTk5OTAraTBlVjFLWk5HLzM1ejMvV25EbHoxTHg1Yy9YczJWT0xGaTNTNU1tVHkxeHNhOUNnUWQ1NTV3RHN3WEJLTFRWeDRrUTFhTkRBNTBzY3BrMmJwcDQ5ZStyeHh4L1h0R25UZlBvM2I5NWM0OGFOMDgwMzMrejMwRkY0ZUxqR2poMnJrU05INnEyMzN0S1NKVXQ4SGh5S2lJancrVExseW1LS0lWRHpDUEZheW5FYzNYUFBQV3JYcnAybVQ1K3VVYU5HZVJlS0dqcDBxTFp2MzY0RkN4YW9jK2ZPdXVHR0d6UjgrUEJ5bnhodDFLaVJicjMxVnQxeXl5MWFzMmFOVnF4WW9VOCsrVVNqUjQrdThKendvaHJEdzhPOTJ3MGFOQ2h6aXVIeDQ4ZTlYLzBtblo3MUErRE1FT0xWb0NySGxvY05HNlkyYmRxb2UvZnVQdTBUSmt6UUZWZGNVYWxsWEYwdWwvcjE2NmQrL2ZxcG9LQkF4cGhTKzc3NDRvdWw3b3VJaU5DWFgzNFo5UHMyYWRKRUgzLzhjWVZxQlZBMlF0d0NnWlpxRFFzTHE1SjF1RmtEQmJBYk56WUJ3R0tFT0FCWWpCQUhBSXNSNGdCZ01VSWNBQ3hHaUFPQXhRaHhBTEFZSVE0QUZpUEVBY0JpaERnQVdJd1FCd0NMRWVJQVlERkNIQUFzUm9nRGdNVUljUUN3R0NFT0FCWWp4QUhBWW9RNEFGaU1FQWNBaXhIaUFHQXhRaHdBTEVhSUE0REYzS0V1b0RJS0N3cVZ1bTFIcU11QVpWSzM3VkIrZm42b3l3Q3FsSlVoZmlvblI4L09uYWZ3OFBCUWx3S0w1T2ZuS3pNcks5UmxBRlhLcWhEUE01NERFWTV6d0dOTTVMSE16RkNYVS90NGpCekhjU1FqWTJUa2NrSmRVZTFrektFOFl3NkV1Z3lnS2xnVjR2dDNiTnJaUHI3SExTNTNlTXRRMTFJYlJiaE5mRU8zNnc3SGNkelorWVV2NVJVNmFhR3VxVFlxZE15Ui9kczM3UXgxSFVCVnNDckVKWG4ycEcxTmxaUWE2a0pxbzhURVJPTTRUZ2RqVEdTamlMQ2QzNmFrZkJMcW1nQlVMMmFuQUlERkNIRUFzQmdoRGdBV0k4UUJ3R0tFT0FCWWpCQUhBSXNSNGdCZ01VSWNBQ3hHaUFPQXhRaHhBTEFZSVE0QUZpUEVBY0JpaERnQVdJd1FCd0NMRWVJQVlERkNIQUFzUm9nRGdNVUljUUN3R0NFT0FCWWp4QUhBWW9RNEFGaU1FQWNBaXhIaUFHQXhRaHdBTEVhSUE0REZDSEVBc0JnaERnQVdJOFFCd0dLRU9BQllqQkFIQUlzUjRnQmdNVUljQUN4R2lBT0F4UWh4QUxBWUlRNEFGaVBFQWNCaWhEZ0FXSXdRQndDTEVlSUFZREZDSEFBc1JvZ0RnTVVJY1FDd0dDRU9BQllqeEFIQVlvUTRBRmlNRUFjQWl4SGlBR0F4UWh3QUxFYUlBNERGQ0hFQXNCZ2hEZ0FXSThRQndHS0VPQUJZakJBSEFJc1I0Z0JnTVVJY0FDeEdpQU9BeFFoeEFMQVlJUTRBRmlQRUFjQmloRGdBV0l3UUJ3Q0x1VU5kQUNvbklTRmhtTXZsV2g1b24rTTRrdlRmQ3krODBLZmQ0L0ZjdDJIRGhuZHJvRHdBTllRcmNVc2RPWEprbFRGbWY3RDlqVEVIRHg4K3ZLSTZhd0pROHdoeFM2V25wNStTOUxva0dXTks3VmUwejNHY3hmdjM3OCt1a2VJQTFCaEMzR0llajJlSnBCekhjUUlHdVRHbWFHZ2x4eGp6VGszWEI2RDZFZUlXS3lnbytNRVlzNm04ZnNhWVRSNlBaMWROMUFTZ1poSGlGdHU2ZFd1bXBLK0M2UHBWZm43K2o5VmRENENhUjRqYnJVRFNSbVBNU2NsM2JMelk2MU9Tdms1TlRjMnI4ZW9BVkR0QzNINWZTRHBjMms1alRKYWtyMnV1SEFBMWlSQzNYRXBLU3FveFp2dlBOekJsakNrK0kwWEdtSjBwS1NtcG9hd1JRUFVoeE9zQVk4eWJwZTF6SE9mVm1xd0ZRTTBpeE91QS9QejhkNDB4UHhWdisva3FQQ003TzN0SnFPb0NVUDBJOFRvZ05UWDFoS1QzaW9aVWlqaU84KzhkTzNaa2hhWXFBRFdCRUs4ampER3ZHR1B5aTIzbkZ4UVUvUDlRMWdTZytoSGlkWVRINDlrcDZYdkhjWXFlMHZ3MkxDeHNXNGpMQWxETkNQRTY0c2lSSXlja3JTL1d0UG40OGVQSFFsVVBnSnBCaU5jUisvZnZ6emJHZktiVDY2VGtHV00rKys2Nzc0Nkh1aTRBMVl2MXhPc1F4M0cra3ZTajR6aFJDdTV4ZkFDVzQwcThEa2xKU2ZsYVVwcWtIMzUrRGFDT3E1Vlg0bTA3OVd3WEVlN3VGT282YkpTYjc5a2dtWWdPNXlVTUNuVXR0c3JOemYzK3dQZmJmZ2gxSFVBd2FsMklkK2lRMEVIaDVsVTU1cnhRMTJLamt3WEdjWXpqeURFM2hMb1dXeldJak5qVG9VUEN6YnQzYjlnZDZscUE4dFM2RUZla09zalJlWTZjMWxFTkd5ck1IUmJxaWxCUEZCWVU2bFJPamp6R1JDcFNIU1FSNHFqMWFsK0kveXlxWVVOTmZtQ0N1bmZyR3VwU1VFK2tidHVoWitmTzA3SE16RkNYQWdTdDFvWjRtRHRNM2J0MTFTVy91Q2pVcGFBZUNROFBEM1VKUUlVd093VUFMRWFJQTRERkNIRUFzQmdoRGdBV0k4UUJ3R0tFT0FCWWpCQUhBSXNSNGdCZ01VSWNBQ3hHaUFPQXhRaHhBTEFZSVE0QUZpUEVBY0JpaERnQVdJd1FCd0NMRWVJQVlERkNIQUFzUm9nRGdNVUljUUN3R0NFT0FCWWp4QUhBWW9RNEFGaU1FQWNBaXhIaUFHQXhkNmdMcUMwS0N3dTFiOTgrdFd6WlVwR1JrU0d0SlNNalF4czNibFJLU29vMmJ0eW8yYk5ucTNYcjFwVStYMEZCZ2NhT0hhc2VQWHBvMkxCaDZ0Mjd0eHpIS2ZlNDRjT0g2OVNwVTk3dEJRc1dxRzNidHBXdW82VDA5SFRkZU9PTlBtMWZmdmxsbFowZnFBL3FSWWg3UEI1bFpXVXBLeXRMR1JrWit2SEhIM1g0OEdIdDM3OWY2ZW5wU2s5UDE1NDllMVJRVUtBNWMrYW9YYnQybWpWclZxWGY3K21ubjFaMGRIU2xqcDA5ZTdhV0xGbmkwL2JPTysvbzNudnZyWFE5cTFhdFVscGFtdExTMHZUZWUrOHBOalpXaXhjdlZzT0dEY3M4N3FlZmZsSk9UbzUzdTdDd3NOSTFCR0tNVVg1K2ZwV2VFNmh2NmtXSWI5bXlSZVBIancrcTc5ZGZmNjNtelp0ci9mcjFsWDYvZ29JQ24yMWpqTThWYlZsKzhZdGYrSVg0dSsrK3EzSGp4c25sS24vMEt5SWlRbTYzN3ovcm9rV0xmTGI3OSs5ZmJvQlh4dTdkdS9YODg4OEgzVC9RMzhsRER6MVVvZmVjTW1XS1dyUm9VYUZqZ0xxa1hvUjRwMDZkZ3U2N2Z2MTZEUjA2dEVyZi8vRGh3eG8yYkZpbGp6OXk1SWdHRGh3WVZOOHBVNmJvNXB0djltNXYzcnhaR3pkdTlHNUhSMGZycnJ2dThtNnZXTEZDeHBpQTV5cDU1YjE2OVdxZGRkWlpBZnQyNmRKRng0NGQwOGNmZnh4VW5hV3A2UEVUSmt3Z3hGR3YxWXNRYjlTb2tabzBhYUxqeDQ4SDNCOFJFYUgyN2R1clE0Y09BUU0vTGk1T1hidDJMZlg4YTlhczBZa1RKNnFzM3FvMGI5NDhuKzI3N3JwTFRabzA4VzQvOHNnajhuZzhRWjByT1RtNTFIMzMzMysvRWhJU0tsY2tnRXFyRnlFdVNWZGVlYVd5czdQVnJGa3pIVDE2Vk11V0xmUHV1L2ZlZTNYcnJiZDZ0emR2M3V4emJQLysvVFZwMHFSU3p6MTY5R2p0M0xtejZvcytRNm1wcVZxelpvMTNPelkyMW51VmJvd0o2dVltZ05xdDNvVDR3dzgvN0gyOWV2VnFueEN2YVMxYXRORGxsMTllTGVmdTBxV0w5L1djT1hOODlrMmJOazNoNGVGYXYzNjlaczZjcVYvLyt0ZFYvdDZ2dmZaYTBQMFBIVHJrOCs4aXFVTEhTMUtiTm0wcTFCK29hK3BOaUorSmZmdjJhZlhxMWFYdVAzbnlaSVhPMTY1ZE8vMys5NzgvMDdMS3RITGxTcVdrcEhpM3I3enlTbDF5eVNYeWVEeEtUazdXbmoxN05HUEdERVZHUnVyaGh4OVdZbUtpM3psR2p4N3RNenZseFJkZkxIV3FZOU9tVGRXb1VTUDE2dFVyNkJxYk5tM3ExMWFSNDJ1N2hJU0VwcEtHYmRpdzRjMVExNEs2cTE2RStJa1RKM3ptSDIvYnRzMW5mMXBhbWxhdVhDbEphdEtraWQ4ODhWV3JWbW5WcWxWVlh0Zk9uVHVyN0dxNFhidDJXcng0c1NUcDZOR2ptajE3dG5kZmRIUzBKaytlTEVsYXRteVp0bS9mN3QwWEZSV2xBUU1HQkF6VWtscTNicTEyN2RvRlZjL3ExYXVWbFpWVlpwK2ZmdnJKcisxZi8vcFh1ZWVPam83V2dBRURncXFqSnNYSHh6ZUlpWWxwYkl6cEl1blhqdVBjNkRoT1UwbUVPS3BOdlFqeGZmdjIrWDFzTDI3NTh1VmF2bnk1SktsYnQyNWw5cTFLSG8vSDUwcjNUQlNmcnZmQ0N5OG9JeVBEdTExWVdLaHg0OFlwT3p2YjcxUEQxS2xUZ3dyd2lucm1tV2YwM1hmZlZmaTR4eDU3ck53K2NYRnh0U2JFNCtQakd6UnUzRGpSNC9GYzdEaE9UMGw5WFM1WDkxRFhoZnFqWG9SNGZWTnloczJwVTZjQ3pza2VPblNvTHI3NFlqM3p6RE1CejFOeXZ2dnJyNyt1bUpnWXYzNjlldlhTNE1HRHo2QmkreVFtSnJZMXh2dy94M0d1TWNiRU80N1R3bkdjaUtMOTNEaEdUU0hFQStqV3JacysrdWlqU2g5ZmZBcGZXYzQ2Nnl6ZGR0dHQzdTNVMUZTdFc3ZE9nd2NQVnZ2MjdRTWVrNStmcjNmZWVjY3ZsSnMxYStaOVBXVElFRDMxMUZQbHZ2ZkREeitza3lkUGFzR0NCVUhWKy9iYmJ3ZHN2Lzc2Nit0OGlIZnQyalhHNVhKRlIwWkdKa2g2d0hHY2dZN2pOSlRrbldkZmZMNDlBWTZhVWk5Q3ZGT25UdDZ4MXBNblQyck1tREUrVjVsMzNIR0hicmpoQmtsU2VIaTQzRzYzemo3NzdHcXY2K3l6ejlZRER6d2c2ZlMweHFWTGwwcVN2dmppQy9YdDIxZlhYMys5VC8rZE8zZnEwVWNmOVF2d3E2NjZTdE9tVGZOdXQyelpVa09HREZGV1ZwWmF0V3FsUm8wYWFlblNwVDRQN3p6NjZLTnEyclNwRGgwNlZGMC9ubzhQUHZqQWI5MlZ2WHYzYXVUSWtUNXQzM3p6amQreGdmclZoSFBQUGJkSmRIVDBBSmZMZGI3ak9KZEp1c0J4SE84UFVmSWhxZEtDT3lFaFlWQzFGb3BxNS9GNHpuY2NwMWJtWmEwc3FxcTUzVzYxYXRWS2t2VFBmLzdUYjVnZ09qcmF1MStTeG8wYlY2bngzT0pXcmx6cGZiUzl2Ri8ybkp3Y1RaczJ6VHRlblpPVG82U2tKSzFldlZyLzh6Ly9vNlpObTJyaHdvVjY3cm5uZk5ZYWlZcUswdFNwVTNYMTFWZjd2WC94Sy9Hbm5ucktKOEJIamh6cEhWTjJ1Vnhudk9CWGd3WU56dWo0MnNZbHVhTEN6UjNoRFp0MGN4eW5nekdtbWVNNDNqVVBnZzF2Ny9sY3JrVmxka0N0WjR5SmtCUWxxZFk5MVZjdlFyeTRvcXZkNHZMejg3VnUzVHIxNmROSDB1a1FQZE1ianNWLzBVcyt2aDRXRnVhekhSa1pxZGRmZjEzSnljbjY4TU1QdmUyZmZ2cXBSbzBhcGJpNE9KL3BncExVdlh0M3pabzFTN0d4c1dYVzhlbW5uM3BuclVpbkgvZ3BQcjJ4UllzVyt2enp6NFAvd2VvQlI4Wnh1VndOSlRXV0ZDSEptOUtsTFZGUUZtTk1hSmZGUkZYSmxIVEE0L0VjQ0hVaHhkV3JFUC9zczgrVWxwYm0xLzdLSzY4b056ZFhEejMwa00rNkkxV2w1RXA5SlJlb2txVG16WnNyS1NsSlE0Y08xY3laTTNYMDZGRkpwNWVsTFQ3VHhIRWMzWHJycmJydnZ2c0NucWU0dlh2MytzejJjTHZkbWpWclZyVXNmbFdlWmN1VytkMHJPSGJzbUYrL2YvempIMzV0Z2ZwVnAwSTVoWm01NWpsWFhtWktkSFQwZ0xDd3NBdU1NWDFWYkRpbGVKZ1h2Uzd0aXR3WWMxMzFWNDJha0orZmYyakxsaTIxNnZIc2VoWGk4K2ZQRDloZWROWDk1Sk5QS2lzclMrUEhqdzhZSEFzWEx0VEJnd2U5MjZOSGo5WTU1NXdUOEp3UkVkNkpDc3JPenZiYnQzbno1bExubnZmdjMxL0xsaTBMdUtaSno1NDlKWjJlUmhqSW9FR0RkUDc1NSt2WXNXT2FPSEdpejVvdWlZbUpXcnQyclQ3NDRBTWRQbnhZVVZGUm1qbHpwcDU5OWxrZE9YSWs0UG1DY2NjZGQ1UjZJN2JJU3krOUZOUzVubnp5eVVyWFVkVysrKzY3NDVJK2tQUkJseTVkem03WXNHRnpTUWt1bCtzZXgzSDZTb29NRk9hU2I2QnYyTERodnpWV05PcWRlaFBpSzFhczBKWXRXeVNkSGdjdWJkR251WFBuYXZ6NDhici8vdnY5OW4zMDBVYytJWDc1NVpjSGZOS3hwSktMWTBWSFIydkhqaDFCendvcGJ2UG16WDVydXhUWHFsVXJ4Y1hGNlRlLytZMzI3dDNyczIvZHVuVmF0MjZkZDd0bytHalZxbFg2NFljZktseExrWkVqUjVZYjRyYjc5dHR2ajBnNkl1bGJTVXZPUC8vODJMQ3dzTnVOTVNNZHg0bHpIS2V4aXYwK01jVVFOYVZlaEhobVpxYlBDbnlYWG5xcHp6and3SUVEOWZubm4zdHZlQnBqL0s2ZUpma0ZmMjV1YnNCK0RSbzA4Qm4zTG5tVlc5a3ZqQWlXeStYUzd0Mjd5KzFYblhWRVJrYVdlc00wTnplMzNMRmx4M0ZLdldFYWl1R2dralp0MnBRdWFVWjhmUHpzbUppWUM0czk3SE9wNHpqZENYRFVsSG9SNGp0Mzd2UUdhWGg0dUs2ODhrcWZFRTlJU05EQWdRTTFZOFlNM1hISEhlclNwWXY2OSs5Zjdua25USmdRc1AybGwxN1NSUmRkNU4wdWZ2VXVuWjVhNkhhN3k1MFZrcCtmNzNOVDFPMTIrNDJENStYbCtmem40bmE3RlJNVG8zNzkrcFc1VkVCTVRJemk0dUlDN2l1dnJwTHZHY2diYjd3UnNIM1pzbVdhT1hPbTN3eWhrbHd1bDZaTW1hSVJJMGFVMlMvVTB0TFNjaVY5SWVtTDNyMTdSeFVXRnJhVTFPM25CNEd1ZFJ3bnVJY0dnRXFxRnlHZWtKQ2dwazJiNnRpeFl4b3dZSUFhTjI3czEyZkVpQkZxMjdhdCt2VHA0MTFIcGFxVUhLcG8wYUtGcnJubW1uTG5QaWNsSmZrOFlIUFRUVGY1ekN6SnpzN1cxVmRmcmN6TVRFbW4vNE1hTk9qMGxPU3JycnBLS1NrcDZ0cTFxODQ5OTF5MWI5OWVzYkd4YXR1MnJWcTNibDFtVUM5ZnZyek1SL0VuVDU2c1R6NzVwTXphQTNubGxWZksvZWFmaUlnSTVlWGxxYkN3VURObXpOREJnd2QxOTkxM1d6RTA4YzAzMzJSTDJ2M3puMy8zNnRXcm1kdnQ1cVltcWxXOUNQR3dzREFOR2pSSTc3NzdybTYrK2VhQVF5RFMvNDBSVjdVZE8zYjRiSmMzTFRCWWI3Lzl0amZBSmVuYWE2LzFmdlBPa0NGRDlNdGYvckxVWTNOeWNyUnYzNzRhZWFncEl5TkQwNmRQMTJlZmZlYlQzcTlmUDcrMlAvM3BUNW95WllyM1NuL2V2SG5hc0dHRHBrK2ZycFl0VzFaN3JWVnA4K2JOUnlXOUV1bzZVTGZWaXhDWFRuOTM1YTVkdTlTN2QrOHlsNVdWcElzdXVrZ3Z2L3l5WDN0U1VwSysvLzU3Ny9iVXFWTVZIeC92MTY5ejU4N2UxeWRPbk5DdVhidDg5bmZvMEtHaTVmc3BLQ2pRd29VTHZkdU80MmpjdUhFKzJ4a1pHZHEzYjUvMjc5K3YvZnYzYSsvZXZkNC9QLzc0b3lRRi9EbXJpakZHSDM3NG9aS1RrNzFUSm9zTUh6NWM0OGVQOXd2eHdZTUhhOXEwYVVwS1N2SzJyVjI3VnFOR2pkS2tTWk4wN2JYWEJ2VmRvMEI5VVc5Q3ZIZnYzb3FLaWdxcWI5T21UUVBPT21uVXFKSFBkbng4ZkxtelU5YXVYZXN6ZnR5NmRldWdWdzNNeThzcmRkKzZkZXQ4NW84UEdqVElPME5rMGFKRmV1NjU1NEo2WUNuUXpjMzU4K2VYK1JSbU1FK3pybCsvWGs4Ly9iUlNVMVA5OXQxMDAwMmFNbVdLOXUzYkYvRFlvdVVHWnMyYTVmMjd5OHJLMG93Wk0vVG1tMi9xdDcvOXJmcjI3VnR1RFVCOVVHOUMvT3l6enk3M1p1WHg0OGZML0pxMWtsTUZkK3pZNGZjMFpwR1ltQmgxN2RyVjV3bE1TVHIvL1BPRHFqYzNOMWNiTm16d2FTcytMbnpwcFpmcTQ0OC8xdHExYTdWbXpScGRkOTMvRGIwMmFkSWs2Q2RPaTg5bkwxTDhDYytLS0NnbzBNcVZLN1ZvMFNMdmRNN2l3c0xDTkdYS0ZOMTQ0NDNsbnV2NjY2OVhxMWF0OVBEREQvdXNGWk9XbHFhSkV5Y3FQajVlbzBhTjByQmh3MnJGYkJVZ1ZPcE5pQWRqNjlhdG1qaHhZdEQ5eTFvcDhNSUxMOVFUVHp6aGR3TXcwQlhrdW5YcjlMZS8vYzA3TGMvdGRtdm56cDErczFwS2ZxdDdvMGFOTkhqd1lMOFZCRHQyN0ZodTdWRlJVV3Jmdm4zUW4wNkNzV1hMRmozMjJHTUJaNjYwYTlkTzA2ZFAxd1VYWEJEMCtTNjc3REl0V0xCQWp6enlpTjkvcm1scGFYcnl5U2QxM25ubnFVZVBIbWRjTzJBclFyd2FwYWFtK2t5bGM3dmRBVDhOeE1mSCszM2JVQ0RkdW5VTDZuMkxqN20zYWROR0hUdDIxTG5ubnF1T0hUdXFmZnYyYXQrK2ZiWGMwRXhJU05CZGQ5M2w4M1NtNHpnYU0yYU1Ka3lZVUttRnRqcDE2cVRYWDM5ZHp6NzdyTjU4MC9jTGNpWk1tRUNBbzk0anhLdlI0TUdEOVplLy9FV1BQdnFvY25KeU5HVElrSURqNGMyYU5WTnNiS3pTMDlOTFBWZi8vdjJEbmozVHNHRkRMVjY4V08zYXRhdFVjQVphNTZTNFAvemhENlhlSEw3OTl0djE2YWVmYXR1MmJicnNzc3MwY2VKRW54dTlsUkVSRWFFSEgzeFF2L3JWcjVTY25LeU5HemNxSVNGQnQ5eHl5eG1kRjZnTENQRmlFaE1UOWRaYmIxWEp1WXJDYy9EZ3dYcjU1WmMxZWZKazNYNzc3YVgyNzl5NXM5TFQwNzFQS2taR1JxcFJvMFpxM2JxMUJnMGFwRkdqUmxYby9jOGtPQnMyYkZqbU1FdFpzMFBjYnJlZWVPSUpaV1JrNk1JTEw2eDBEWUgwNk5GRHI3enlpbGFzV0tIdTNic3pTd1ZRc1NVMmE0c081eVVNa21NV05ZNkphZjNTczAvcmtsOWNWUDVCRnNqT3ppNHpHQXNLQ3VRNGp0OHl0YWc1WDY3OVdnODhPRlUvL3ZUVE1SbGR0M3M3QzFlaDl1Tkt2SWFVZHdPeHZHVmxBU0FRUG84Q2dNVUljUUN3R0NFT0FCWWp4QUhBWW9RNEFGaU1FQWNBaXhIaUFHQXhRaHdBTEVhSUE0REZDSEVBc0JnaERnQVdJOFFCd0dLRU9BQllqQkFIQUlzUjRnQmdNVUljQUN4R2lBT0F4UWh4QUxBWUlRNEFGaVBFQWNCaWhEZ0FXS3pXZnNWNllVR2hVcmZ0Q0hVWnFFZFN0KzFRZm41K3FNc0FLcVRXaHZpcG5CdzlPM2Vld3NQRFExMEs2b244L0h4bFptV0Z1Z3lnUW1wZGlPY1p6NEVJeHpuZ01TYnlXR1ptcU11eGl2RVlPVVd2SlRrdXA2enVLSTB4aC9LTU9SRHFNb0JnMU1iZmNsZjcrQjdudWR6aExVTmRpRzBhdUQyZEdyaGR0N29jSi94VWZ1SGZjd3RjdTBKZGs0MEtIYytSdmRzMnBVcnloTG9Xb0R5MU1jUlJTWW1KaVFNZHgxbHNqSW1VTkRJbEplV1RVTmNFb0hveE93VUFMRWFJQTRERkNIRUFzQmdoRGdBV0k4UUJ3R0tFT0FCWWpCQUhBSXNSNGdCZ01VSWNBQ3hHaUFPQXhRaHhBTEFZSVE0QUZpUEVBY0JpaERnQVdJd1FCd0NMRWVJQVlERkNIQUFzUm9nRGdNVUljUUN3R0NFT0FCWWp4QUhBSnZqcUlRQUFBdWxKUkVGVVlvUTRBRmlNRUFjQWl4SGlBR0F4UWh3QUxFYUlBNERGQ0hFQXNCZ2hEZ0FXSThRQndHS0VPQUJZakJBSEFJc1I0Z0JnTVVJY0FDeEdpQU9BeFFoeEFMQVlJUTRBRmlQRUFjQmloRGdBV0l3UUJ3Q0xFZUlBWURGQ0hBQXNSb2dEZ01VSWNRQ3dHQ0VPQUJZanhBSEFZb1E0QUZqTUhlb0NVRGxkdTNadEd4VVYxYmw0bXpFbXdYR2NjTWR4d2p3ZVQwSmlZcUxQTVlXRmhiczJiZHFVWHFPRkFxaFdoTGlsd3NQRG16aU9zN2g0bStNNDRaS2FHbU1jbDh2MW1LVDhFb2RkSVlrUUIrb1FKOVFGb1BJU0V4TVBPWTdUMGhnanh3bjhUMW0wenhpek95VWxwV01ObHdpZ21qRW1icmRYSzlEMy9XcXJBa0RJRU9JVzgzZzhieGhqY3FYVFY5d2xGYlg5M0dleFh3Y0ExaVBFTFZaUVVIQkEwcWJTaGxJa0ZRMnpiQ29zTE54YlUzVUJxRG1FdU1XMmJ0MmE1VGpPNThZWWorUjdOVjdzS3R3NGp2TjVkbmIyajZHcEVrQjFJc1R0bGkvcFM4ZHhza3JyNERqT0tVbGZwcVdsNWRaY1dRQnFDaUZ1dWJ5OHZLK05NWWVMdG8weEpjZkhqK2ZsNVgxZDg1VUJxQW1FdU9XMmJObXl5eGlURW1oYy9PZTJyN1pzMmJLcnhnc0RVQ01JOGJyaHZkSjJGQlFVdkZPVGhRQ29XWVI0SGVEeGVONlRkS3I0MWZqUHIwOFZGQlM4SGFxNkFGUS9RcndPMkxScDAwbGp6R3NsMnowZXorTFUxTlFUb2FnSlFNMGd4T3NJWTh6Q2ttMk80L3d6RkxVQXFEbUVlQjBSRmhhMlE5Sm14M0dLaGxJMlMwb05iVlVBcWhzaFhrY2NQMzQ4eXhqelZkRzJNZWFyUTRjTzhZQVBVTWNSNG5WRVdscGFyakZtNjgvcnBPUWJZN2J1Mzc4L085UjFBYWhlckNkZWg3aGNydFdTRGh0aklqMGV6OHBRMXdPZytuRWxYb2RrWkdSc05jYnNrclFuTXpNekxkVDFBS2grWEluWElidDM3ODVwMXF6WkVzZHhJbmZ2M3AwVDZub0FWRDlDdkk0cExDeDhxNkNnZ0U5WUFBQUFBQUFBQUFBQUFBQUFBQUFBQUFBQUFBQUFBQUFBQUFBQUFBQUFBQUFBQUFBQUFBQUFBQUFBQUFBQUFBQUFBQUFBQUFBQUFBQUFBQUFBQUFBQUFBQUFBQUFBQUFDZzd2bGZyOUNmR3dOMXNRa0FBQUFBU1VWT1JLNUNZSUk9IiwKCSJUaGVtZSIgOiAiIiwKCSJUeXBlIiA6ICJmbG93IiwKCSJWZXJzaW9uIiA6ICIiCn0K"/>
    </extobj>
    <extobj name="ECB019B1-382A-4266-B25C-5B523AA43C14-4">
      <extobjdata type="ECB019B1-382A-4266-B25C-5B523AA43C14" data="ewoJIkZpbGVJZCIgOiAiMjg1ODIwNDc3NDMyIiwKCSJHcm91cElkIiA6ICI5MTA0MDc2NTkiLAoJIkltYWdlIiA6ICJpVkJPUncwS0dnb0FBQUFOU1VoRVVnQUFBWEVBQUFMcENBWUFBQUJGV2hZWEFBQUFBWE5TUjBJQXJzNGM2UUFBSUFCSlJFRlVlSnpzM1hsWVZHWC9QL0QzZldhR2ZSTVVVRWx3UVhCRHhkUTIyNTh5VzU2V3h4WTFNM2NyTGMxdmk2YW1sYm1scHBacGxscHBhV1ZsZTVsbVd1YUtnb0FJSnVDQ3lDSTd3eXpuL3YxaDhtTWNVSkNCNGNEN2RWMWVGL001Wjg3NVlQYm01ajczT1FNUUVSRVJFUkVSRVJFUkVSRVJFUkVSRVJFUkVSRVJFUkVSRVJFUkVSRVJFUkVSRVJFUkVSRVJFUkVSRVJFUkVSRVJFUkVSRVJFUkVSRVJFUkVSRVJFUkVSRVJFUkVSRVJFUkVSRVJFUkVSRVJFUkVSRVJFUkVSRVJFUkVSRVJFUkVSRVJFUkVSRVJWVTQ0dTRHYWF0Vys2MVV1Qm4xN1ovZEIybFZXVm5ZODQzaGltclA3SUhJRVRZVjRXRmlQTUxqSjFSQ0lkSFl2cEducEtCV1BwS1llVEhWMkkwUzFwWGQyQXpYaWhqQUlSQXFJWUE5M2QrajBPbWQzUkJwaXRWaFJhalJDbGRJTmJnZ0R3QkFuemROV2lQL0x3OTBka3lZOGpjNmRJcHpkQ21sSVFtSVNsaTVmaWJ5Q0FtZTNRdVF3bWd4eG5WNkh6cDBpY0UyZnE1M2RDbW1Nd1dCd2RndEVEcVU0dXdFaUlycHlESEVpSWcxamlCTVJhUmhEbkloSXd4amlSRVFheGhBbkl0SXdoamdSa1lZeHhJbUlOSXdoVGtTa1lReHhJaUlOWTRnVEVXa1lRNXlJU01NWTRrUkVHc1lRSnlMU01JWTRFWkdHTWNTSmlEU01JVTVFcEdFTWNTSWlEV09JRXhGcEdFT2NpRWpER09KRVJCckdFQ2NpMGpDR09CR1JodW1kM1VCamxKeWNqSWtUSjhMUHp3OStmbjZZUEhreXdzTENxdlhlaFFzWDR1VEprK1d2dmIyOU1YWHFWTGk0dU5TcXA1eWNITHp6emp2bzI3Y3Y3cnp6emxvZHE2S3lzaklzV0xBQXYvMzJHeFJGd1YxMzNZVm5uMzBXZWozL2FSSFZCLzZmVmdkU1VsS1FrWkdCakl3TUFJQ2ZuMSsxM3ZmZGQ5OWgzYnAxTnJWKy9mclZLc0ROWmpNKy9mUlRyRnExQ3NYRnhkaThlVFAwZWoxdXUrMjJLejVtUmF0WHI4YW1UWnZLWDY5ZnZ4NkJnWUY0L1BISEhYSjhJcm8wVHFmVWdkVFUxUEt2ZzRPRHF4WGl4NDhmeC96NTgrM3FPM2Jzd0VjZmZYVEZ2Yno2NnF0NCsrMjNVVnhjREFDUVVtTDY5T2s0ZXZUb0ZSK3pvc09IRDl2VjR1TGlISEpzSXJvOGhyZ0RwYVNrSUNVbEJRa0pDZVcxbGkxYmx0Y3YvTW5PenJaNVgzWjJOcDU1NWhrVUZSVlZldHdsUzViZ2wxOSt1YUtlcGt5WmdwNDllOXJVakVZalhucnBKUmlOeGlzNlprV2RPM2V1Vm8ySTZnYW5VeHpva1VjZXNhdkZ4TVRZMVI5KytHRzgrT0tMQUlDVEowOWkvUGp4T0hQbVRQbjJidDI2SVR3OHZIeWFRa3FKcVZPbndtUXk0WjU3N3FsUlQ1NmVubmo3N2JjeGV2Um9IRGx5cEx5ZWxwYUdaY3VXWWZMa3lUVTYzc1dHRHgrT2pJd00vUHJycnhCQzRLNjc3c0tRSVVOcWRVd2lxajZHdUJNZFBIZ1FreWRQeHJsejU4cHJyVnUzeHNLRkMrSG41NGU4dkR4czNib1ZBS0NxS21iTW1JSFRwMDlqNU1pUlVKVHEveExsNmVtSkpVdVdZTWlRSVRoNzlteDUvYlBQUHNOZGQ5MkZMbDI2WFBIMzRPYm1odGRlZXcydnZ2b3FoQkExNm91SWFvLy94em1CMld6R3NtWExNR3JVS0pzQTkvUHp3N3g1ODJBd0dGQmNYSXlYWG5vSm5UcDFzbm52aWhVcjhQVFRUeU16TTdORzV3d0lDTURjdVhOdFZvMUlLVEYzN2x4SUtXdjNEUUhRNlhRTWNDSW40RWpjZ1pZdVhZcHQyN2FWVDRPRWhJU1VUNXRjc0h2M2JuejIyV2V3V0N4Mjc4L0x5OFBnd1lNdmU1NDllL2Jnd1FjZnhKTlBQb2tubm5nQ0JvT2hXdjFGUlVYaGlTZWV3QWNmZkZCZWk0K1B4L2ZmZjEvamFSb2lhaGc0ZEhLZzY2NjdEbWF6dWZ4MWRIUTBycnZ1T3JzL1ZxdTExdWN5R28zNCsrKy9heno2SFRseXBOMXFtZVhMbDZPc3JPeUsrdGl3WVFONjllcGw4MmZIamgxWGRDd2lxam1HdUlOVlhGN1hzbVZMOU83ZHUvelB6cDA3MGJkdlh6ejU1SlBsKzl4KysrM1ZQdlpMTDcwRVQwOVBBT2R2QXBvOWV6WjBPbDJOK3N2S3lrSmVYcDVON2N5Wk0vajg4ODlyZEJ3aWFoZzRuZUpBUlVWRlNFdExLMy9kclZzM3FLcGEvdnJDM1BPWU1XTnc3Tmd4UFBiWVk0aU9qc2FrU1pPcWRmeWdvQ0QwNjljUGI3enhCdTYrKzI0RUJnYld1TWR2di8yMjB2cnExYXZ4MEVNUHdkM2R2Y2JISkNMbllZZzcwSUVEQjhxRDJ0ZlhGMjNidHExMHY4ek1URml0Vm56eXlTZjQ1Sk5QS3QybmI5KytHRFJva0UxdDY5YXRTRXRMUTNSMGRQbUl2Q2JNWmpPKyt1cXJTcmZsNWVWaC9mcjFHREZpUkkyUFMwVE93eEIzb0wxNzk1Wi9IUjBkRFNGRXBmc1ZGUlZoNTg2ZGx6eVduNThmZHUvZWpZTUhEd0lBbm5qaUNYejMzWGZZdm4wN0FPQ2VlKzVCdjM3OWF0VGZ0OTkrYTNlalVVVnIxcXpCQXc4OEFIOS8veG9kbDRpY2gzUGlEaFFmSDEvK2RYUjBkTFhmWnpBWVlEQVk3T2EzZCsvZWpaVXJWMkxseXBXMXZydlNiRFpqN2RxMWw5eW5wS1FFNzczM1hxM09RMFQxaXlIdVFDYVRxZnpyaFFzWDJpM2Jtemh4b3QzZGpMNit2dmo3NzcveDk5OS9ZL1RvMFhYVzIvcjE2MjJlamdnQXp6Ly9QTHk4dkd4cVgzMzFGWTRmUDE1bmZSQ1JZekhFNjRpVTB1YWk1b1hheGV2RFRTWVRmdmpoQi96d3d3OE9leWpWeGJLeXNteldoZ1BuN3d4OStPR0hiVmJLQU9mdkRKMHpaNDVEYmdBaW9yckhPWEVuS3kwdHhiUnAwK3IwSERObnppeC9pdUVGdzRjUGgxNnZ4Nk9QUG9yUFB2c01XVmxaNWR2MjdkdUhqei8rR0VPSERxM1R2b2lvOWhqaURqUnc0RUNiTUN3dUxyWjVqT3lBQVFOcU5GZnVDQnMzYnNTdVhidHNhc0hCd2VWVFBXNXViaGd6Wmd4ZWYvMTFtMzNlZWVjZDlPN2QyKzYyZnlKcVdCamlEdlRmLy83WDVuVm1acVpOaU45eHh4M28xNjhma3BLU3ltc1hRaFE0Znp2OXhZRmJHd2NQSHNSYmI3MWxWeDgvZnJ6Tk0xVHV1KzgrYk5xMHllWVJ1aGFMQlZPbVRNRzZkZXZnNGVIaHNKNkl5TEU0SjE2UE1qSXlzSC8vZnB1YXE2c3JoZzRkaXFGRGg2SkhqeDRPTzlmcDA2Y3hlZkprdXpuNEcyKzhFZjM3OTdlcDZYUTZUSjgrM2U0ajFkTFQwekZwMGlTYlJ3a1FVY1BDa2JnRFRaa3lCUVVGQlNncUtrSmhZU0VLQ3d0dHRzK2RPeGVLb3RqYzRGTlFVRkFlcWlVbEpRN3BJeXNyQytQR2piTjVRaUx3L3ordnN6TGg0ZUVZTm13WVZxMWFaVlBmdTNjdnBreVpnamx6NXRUNEZuOGlxbnNjaVR2UWI3LzlobDI3ZGlFdUxnNnBxYW5JeWNtNTdIdWtsTWpLeWtKV1ZwYmR4Y2Nya1oyZGpiRmp4OW90SndTQXlaTW5vM256NWxXK2QrVElrV2pYcnAxZGZldldyWmc5ZXpaWHJCQTFRQXh4QjZydUkySHJTbXBxS3A1NDRnbWJ6L2k4NE41Nzc3M3M0MllOQmdObXo1NE5OemMzdTIxZmYvMDEvdS8vL2crbHBhVU82NWVJYW84aDdrQVZROXpUMHhNaElTRTIyeDk0NEFHODhjWWJOalZmWDEvczJMRURPM2Jzd01pUkkyMjJqUnMzcm56YjVUNXNlYytlUFhqeXlTZHRQdWJ0Z3Q2OWUrT1ZWMTZwMXZjUUhoNWU1WlRMdG0zYnFqd0hFVGtINThRZGFQSGl4ZkQxOVVWZ1lDQThQRHlRbVptSkFRTUdsRysvNmFhYjdGYW5BQ2hmL1hIeFNQN0M3ZmdYNU9ibTJwMVRTb25WcTFkaitmTGxkamNYQVVDN2R1MndZTUVDdTR1V2x6Smd3QURFeGNWaDQ4YU5kdHVTazVNeFpjb1VmUGpoaDlVK0hoSFZIWWE0QTNYdjN2MkszbmY4K0hFVUZ4Zmo4T0hETnZWVHAwNWgzYnAxOFBYMVJWRlJrYzJ6eWk4RXY2cXFTRXhNckRUQUF3TURzV1RKRXJ0YjY2dGowcVJKU0U1T1JreE1qRTI5ZWZQbU5tdktIM25ra1VvL0lKcUk2Z2REdkFINDZLT1BzSG56WnB1YXA2Y252TDI5c1dIRGhrcmZFeHdjRE9EODhzRFpzMmRqNHNTSk5tdk0yN1p0aTJYTGxwWHZWMU1HZ3dHTEZ5L0c2TkdqeTM5ejhQTHl3ckpseTlDcVZhc3JPaVlST1I3bnhCdUF5bGFFZE8zYUZUNCtQcFd1SmxFVUJiZmRkbHY1YTRQQmdBVUxGcFRmWGRtalJ3OTgrT0dIVnh6Z0Yxd0k3VFp0MmtDbjAySGV2SGtJRHcrdjFUR0p5TEU0RW5jQ1JWSEs1N3BkWEZ3UUdocGF2czNYMXhkMzNYVlgrZHJ4amgwNzR0eTVjN0JhclZBVUJXM2F0TUZUVHoxbGQ5SFV6YzBOaXhZdHd2dnZ2NC9ubjM4ZXJxNnVEdW5WMzk4Znk1Y3Z4NEVEQjlDM2IxK0hISk9JSEtmeVR5MW9vTUlpZTl3TUlULzE4ZllPWHJGMEVhN3BjN1d6VzNJb3E5WEtHMnJxME45NzltSEM4eThoS3ljbkR4SVBwQjQ1K0x1emV5S3FMVTZuTkNBTWNDS3FLWVk0RVpHR01jU0ppRFNNSVU1RXBHRU1jU0lpRFdPSUV4RnBHRU9jaUVqREdPSkVSQnJHRUNjaTBqQ0dPQkdSaGpIRWlZZzBqQ0ZPUktSaERIRWlJZzFqaUJNUmFSaERuSWhJd3hqaVJFUWF4aEFuSXRJd2hqZ1JrWVl4eEltSU5Jd2hUa1NrWVF4eElpSU5ZNGdURVdrWVE1eUlTTVAwem03Z1NsZ3RWaVFrSmptN0RkS1loTVFrbU0xbVo3ZEI1RkNhRFBGU294RkxsNitFd1dCd2RpdWtJV2F6R1FXRmhjNXVnOGloTkJYaUpxbG11QWlSb1VycGxsZFE0T3gyR2g1VlFnZ2hBQWtwSWFFSVozZlVNRW1aYVpJeXc5bHRFRG1DMXY0dlY5cDA2QktwNkEyQnptNmtJWExScVIzYzlib1JRa0JmWXJhdU1GbVZGR2YzMUJCWmhacDlJakUyQVlEcTdGNklha3RySVU2WDBMTm56NXVFRUo5SktkMEEzQjhURTdQZDJUMFJVZDNpNmhRaUlnMWppQk1SYVJoRG5JaEl3eGppUkVRYXhoQW5JdEl3aGpnUmtZWXh4SW1JTkl3aFRrU2tZUXh4SWlJTlk0Z1RFV2tZUTV5SVNNTVk0a1JFR3NZUUp5TFNNSVk0RVpHR01jU0ppRFNNSVU1RXBHRU1jU0lpRFdPSUV4RnBHRU9jaUVqREdPSkVSQnJHRUNjaTBqQ0dPQkdSaGpIRWlZZzBqQ0ZPUktSaERIRWlJZzFqaUJNUmFSaERuSWhJd3hqaVJFUWF4aEFuSXRJd2hqZ1JrWVl4eEltSU5Jd2hUa1NrWVF4eElpSU5ZNGdURVdrWVE1eUlTTU1ZNGtSRUdzWVFKeUxTTUlZNEVaR0dNY1NKaURTTUlVNUVwR0VNY1NJaURXT0lFeEZwR0VPY2lFakRHT0pFUkJyR0VDY2kwakNHT0JHUmhqSEVpWWcwakNGT1JLUmhESEVpSWcxamlCTVJhUmhEbkloSXd4amlSRVFheGhBbkl0SXdoamdSa1lZeHhJbUlOSXdoVGtTa1lReHhJaUlOWTRnVEVXa1lRNXlJU01NWTRrUkVHc1lRSnlMU01JWTRFWkdHQ1djM1FGZW1SNDhlQXhSRitiNG03MUZWOVlHREJ3OStYVmM5RVZIOTQwaGNvN0t6czdkSktVOVhkMzhwNVptelo4LytVcGM5RVZIOVk0aHIxTW1USjBzQmZBUUFVc29xOTd1d1RRangyZW5UcDB2cXBUa2lxamNNY1ExVFZYVWpBS01Rb3RJZ2wxSkNDQUVBUmlubFYvWGRIeEhWUFlhNGhsa3NsalFwWmV6bDlwTlN4cXFxZXF3K2VpS2krc1VRMTdENCtQZ0NBTHVyc2V0dXM5bWNWZGY5RUZIOVk0aHJtd1hBSVNsbE1XQTdOMTdoNjFJQSt4SVNFa3oxM2gwUjFUbUd1UGJ0QW5DMnFvMVN5a0lBKytxdkhTS3FUd3h4all1SmlVbVFVaDc1OXdJbXBKUVZWNlJBU3BrY0V4T1Q0TXdlaWFqdU1NUWJBU25sK3FxMkNTRlcxMmN2UkZTL0dPS05nTmxzL2xwS21WT3g5dThvUExla3BHU2pzL29pb3JySEVHOEVFaElTaWdCOGMyRks1UUloeEk5SlNVbUZ6dW1LaU9vRFE3eVJrRkorS0tVMFYzaHR0bGdzbnppekp5S3Fld3p4UmtKVjFXUUF4NFVRRis3U1BLclQ2UktkM0JZUjFUR0dlQ09SbloxZEJPQkFoVkpjZm41K25yUDZJYUw2d1JCdkpFNmZQbDBpcGR5Sjg4OUpNVWtwZC83enp6LzV6dTZMaU9xVzN0a05rT01JSVhZRHlCSkNlS0I2dCtNVEVWRkRFaDBkdlRVNk9ucS9zL3Nnb3ZyQmtYZ2pZelpiZjFlaHVqdTdEeUtxSHpwbk4wQU9vd3VMakJwcVV2R1VXWXB1ZnMyRDh2T3lNK01CcU01dWpJanFEajlqc3hFSUMrdmhKMTN4dEtMSTZZQndPVitWSmluRmJCanhkbXJxUWE1U0lXcWtPQkxYTnFWTmVMZmJoSXRZcWloaWhFRnYwTjE2ODQySUNPK0ExTFFUT2luVm02RlhyL1VOQ0VyUHo4bE1CMUQxNTdnUmtTWXh4RFVzTExMN2FLR0l4UUM2dXJxNGlMR2puc1R6eno2TjIyKzVHWHE5RG5HSEUyQzJXRUtGRUxmN0JRU1o4M0l5dVdLRnFKSGhkSW9HaFlaMmFpbmNEWE9FVUlZS0lkQ2llUUNtdnZnODdoM1EzMmEvbjM3OURiTm16MFhtMld4SUthR3E2aGN3bWlla3BTV2VBVWZsUkkwQ1IrTGFJdHFFZDc5SGNkRzlBeWo5WFF4NjViNTc3c0ticzZiajJyNjk3WGJ1MEw0ZGJyLzFacHpMeThQeDFIUllyZFpJWWREZDROc3NPRGMvTi9PSUUvb25JZ2RqaUd0RVVGQ1VaMEJJOEN5ZElsNEYwTkhGeFVXWit0SmtqQmt4REMyRGczRHhFd3d2OFBYeHdiVjkreUFvc0FWMjdka3JMQlpyYTBVUnQvbTFDR3pscWd2YVVWeWNhYTcwalVTa0NReHhEV2pWdnV0VjdwNjY1VUtJRVlvaXZNSTd0QmZMRnMzRGdEdHZoNXVyYTVVQkRweC9ycmlibXl1NmQrdUttL3ZkZ1AweGgwUmVmcjZIVkdVZkYzY2x3cWRaaS8zNXVXZlAxZU8zUTBRT3hCQnZ3RUpDUXR6OWdzTUc2Zlc2WlVMZ0ZsZFhGK1dSL3oyQUdWTmVRT2ZJaUV1R2QyVmF0R2lPZnRkZkN5a2xqaHhORVZhcnRiTlF4TzIrQVMyTTN1NHVSd29LQ2l4MTlLMFFVUjFoaURkUXJWcTE4akI0Tlo4akZPVmxJUkFhMktJRlprMTdHVU9IUElyQUZzMXJIT0RBK1ZHNW41OHYrdlR1aFM2UkVkaXpMd1lsSlNXQkFzb3Rpc0c5dWZEMTNHVThkNjZzRHI0ZElxb2pEUEdHUnhjVUh0N1d6YVBaNTBLSWgzVTZ4UzI4ZlRzc2VXc08rdDF3TFZ4Y1hHcDlBb1BCZ0hadHc5RG42bWpFSng1QmRrNnVLNEMrcmpyWG03eDhBN1lYbk12S0IxZXZFR2tDUTd3QkNRc0xjL01ORGgxalVBd3JoQkRkL1pzMXcrT0RIc0hycjA1RjI3RFFLeHA5VjBVSWdlQ2dRTnh4K3kxd01iZ2c1ZGh4R0kzR3F4UkYrWjl2aTVhbExzSS9zYVFreStTd0V4SlJuV0NJTnhETjJyWHpkWFAxV2FVQTR3QzBhTkU4UUx6eDZqUThPdkFCK0hoNzE5bDVQZHpkMGF0bkQ3UnYxeFlIRGg1Q1lXR1Jsd0xjNk9LaGRQUHhjUDAxUHovZldHY25KNkphNDgwK3pxY0xqZXpXQjBKWnBVQjBOaGdNNk5hbEU1WXRtb2Znb0tCNmJTVGpUQ2FlbS93eURzWWRodGxzaHBUeXVJUTZPTzFJM0Y0QXZPaEoxQUJ4Sk81RTdkcTE4L1VOYXZPc0FqRmZDTkhlMTljSHo0d2RoYWt2UG8vbUFRSDEzbyszbHhjRzNIazdQRHc4a0hRMEdhV2x4bVlDNGs2LzVzR2VpcDkzVEdsdUxpOTZFalV3REhFbmFSVVJGYUhvM040WEFzTWdoSCs3dHFGWXNtQU83dnpQYmZEMDhIQmFYeTR1THVqV3RRdXU2WE0xRGh5TVJlNjVQQjhCWE9laUdLN3pEQWphWFppVG1lTzA1b2pJRGtPOC9obEN3cU42R3hTeFVTamlHb09MaS82dU8yN0hza1h6MGFGOU8raDF6djlQb3RmcDBESTRDUCs5WndCT25EeUp0Qk1uOWFxcXR0VUJkM2o1dFRoY2tIdjJGUGljY3FJR3dmbUowWVMwYXRlNWpYOVF5OGs2UlZrcWhHZ1YwcW9WSmp3OUd1UEhqVVl6UDE5bnQyZkgxZFVWL2E2L0ZzRkJnVGgyN0RnS0Nnc0RGRVU4NU5zaXlOZlRKeUNwOFB4U1JDSnlJbDdZckNkQjRkM2F1ZXZFaDBLSWF3SGhjazJmcS9IeTVJbm8zQ2tDdWdZdytyNFVxNm9pT2ZrWVpyMDVEN3YzN29lVTBpeWwrcGZSWW5uNlRFcEN2TFA3YTJ4NjlPZ1JwaWpLOFVvMnZYRGd3SUg1bDN0L3o1NDlGd2dobnE5WU14cU4zZ2tKQ1VVT2E1SWFETVhaRFRSMklTRWg3bTBqb3U1elY1VDlRaWczdWJ1NXU5emQvdzRzZi9zdGRPdmF1Y0VIT0FEb0ZBV1JFZUZZL3ZaYnVQL2VBWEIzZHpjSW9kemtwbmY1TXpTeSs0TWhJU0g4VE0vNk1iTlhyMTd0bmQwRU5Td004VHJVdWtOVWlONHJZQkdFV0NjVTRkY3BvaU5lZjNVcUZzK2ZEVjlmSDJlM1YyTyt2ajZZOThaTXpIbHRPanBGZElTaUNGOEJyTk43QlN3S2pZaHE2K3orbWdCM0tlVktaemRCRFF0RHZJNWMxVEdxbjBHUDc0VVF3eUdFVjUrcm83RjQvbXpjZC9kZG1oaDlWMFduMCtIdS9uZGc4ZnpaNkhmZHRSQkN1QWtoaGdzaHZtdlRzZnNOenU2dkNiaTFaOCtldzUzZEJEVWNESEVIQ3drSmNRL3QxTzFwdmFKOEs0UVM1ZVhwYVJnelloaldyVjZKOEE3dE5SM2dGeWlLZ3ZBTzdmSEJlMHN3ZnR4b2VIbDZHb1FRblJXZCtDa3NvdnZZb0tBb1QyZjMyTWd0Nk5xMWEvM2VDVVlORmtQY2dVSWl1a2JwdlFMZUVWSTNId0srblNNanNIRGVHNWcwNGFsR0VkNFgwK2wwR0Q5dUZCYk9ld1BkdTNXRkFEd2h4RUtQWm1KRmFJZnVQWjNkWDJNbGhHam00dUt5MU5sOVVNUEFFSGNNRVJyWi9VRzlvdjhVd0RDZFRuRWYrTUIvc1dMWkl0eDZVejhZREFabjkxZG45SG85YnIycEg5NTlld0VHUGZJLzZIU0t1d1FHS1FheElUU3krNFBndnpGSGliM285Y0NlUFh2ZTU1Uk9xRUZwZk1QRGV0WThJc0s3UlVEckVVSVI3d3FJMXMzOC9NVEVDVS9odWZIajBNelB6NkZQSG15b2hCRHc5dkpDdnh1dWc2ZUhCeEtQSEJXbFJtTUFCTzd4YlI1czFQbDV4L09XL2VvTERnNzJFMEk4ZDFGNUxvQndBTTBxMUc3MDh2SmFsWHZSMzIzTGxpM3ZFRUpjVjdGbXNWamV6TXJpVXlrYkk0NlNycHhvRTlIamVpL2h0azRvWXBsTzBYbmVjTjAxV1BMV0hBd2ZPaGl1RG5qdXQ5WVk5SHFNZU9KeExGMDRGemZmZUFOMGlzNVRBUE45OUo0YjJrVDB1Qjc4OTFZYjBtcTFqcXRZRUVLMDl2YjJudU9zaHFoaDRQOVVWNmh0UkkvL0tVS3VBM0Mzd1dBUVR3eCtEUFBlbUlrYnJyc0dpdEowLzFwMU9nWFg5dTJOdWErL2lpY0dQd1pYVjFjQjRBNUZ5SFdoa2QwZWRYWi9XaVdsMUIwNmRPZ1hLZVZIRjIwYTI3MDdWd1UxWlUwM2JhNVE2OWFSQVdFUlVZdWdZS09pS0tIK3pab3BNNmE4Z0trdlRrSndVS0N6MjJzd1dqUVB3TlFYSjJIV3RKY1I0Tyt2S0lvU3FnamR1ckJPM1plM2JoMVovNDlvMURncHBRQUFrOGswVVVwNTlrSmRDQ0YwT3QzN0hUcDBjSFZlZCtSTURQRWFDSTNvZm92QjIvVnpvU2pQNkhRNi9PZTJXN0QyL1hjeCtOR0JUWHIwWFJWRlVmRHdRL2RqM2VvVitNOXR0NXkvd0N2RktJTzM2K2Roa2QzdmRIWi9XaFFmSDUrcnF1cjRpOHFSM3Q3ZXJ6aWxJWEk2SmsrMWRIWUo2eGoxc2xERU9nQTM2M1NLL3VreEkvSG16R25vMGpuUzJjMDFlQjNETytETm1kUHc3Tk5qb05jck9nQTNDNEcxWVpIZFpnS2RtOTdGZzFvNmRPalFSaW5sTnhWclFvZ1hvNktpdWpxckozSWVodmhsaElWMURnNk5NTHduZE1wTVJZaVdZYUZ0eElmdkxjVnp6NHhGczJaTlkvVkpiUWtoMEt5Wkg1NGFQUUxyMTd5UHNEWlhDU0dVSUVBM05UVEM4RjdyRGxFaHp1NVJnNTRDVVBFcGtnYTlYcjhLZ0NLRTRJZGNOeUZjWWxpVkRoMWMyN1FJZVVBWWRFdUV3TjE2dlY3M3dIMTNZOGFVRjlHemV4VEQrd3ExYWhtTWEvcjJocW5NaEtNcEtZcXFxajEwaXJqSnQzbGdVYjZmejFIazVscWQzYU96VmJiRVVFcjU2NWt6Wi82NjhQck1tVE9GTFZ1MnpBVndiNFhkUW9LQ2dzNEI4QkJDMkZ6czVCTER4b3NoWG9td3NEQTNYNFBYTkVVb3J3b2h3cHY1K1lsWFhud2VvNFkvZ1ZZdGd4bmd0U0NFUVBPQUFGelQ5MnEwYnh1R1Bmc09pTEt5c2xZUTRsWmZZZkJ3VVFMMmxKUTA3YkNwVG9nRFFFWkd4b0hnNE9DYmhCQmhGY28zQURncWhMaTY0cjRNOGNhTDB5bTJsTllkT29UQTFlY3pSVkdtS29vSUNHdHpGZDU5ZXdFZUhmZ2d2TDI4bk4xZm8rSHQ1WVg3NzcwYjd5NmVqL0FPN2FFSXBabWlLRk05L2ZVYldyWHZlaFg0YjdNNnBCQmlGSURTQ3dVaGhKY1FZcWdUZTZKNnhwSDRCWjA3dTRUNXQzcGNwM041WHlqSzlUN2Uzbmprb2Z2eCtxdXZvSE5rQkVmZmRVQUlnWkNRMXJqOWxoc0JBTWYrT1E2VDJSeXVVOFQ5ZnMxYjVubTU2Wk1LQ2dvc1RtNnozbFYzSkE0QUdSa1p1UzFidGpRRCtFK0ZzdDF6SGpnU2I3dzQyZ0dBa0JEM01OV3dCRUlzQWhEdTQrMk5WMTk1Q1M4OC95eGF0MnJwN080YXZaYkJ3WGorMldmdzZpc3ZJaURBSHdEQ0lMQkk3eDJ3RFB6QWljczZjT0RBV3dEMk83c1BjbzZtSHVKSzI0NWR1b2Q1Qi93dWhCaGpNT2g5dTNTS0ZGOSt0aGIzM3pzQUh1N01qL3JpNXVhSysrKzlHNTkvc2hyZHVuWVdCcjNlVDBBTWIrc1ZzTHR0eHk3ZHdkOGFMOFVxcFJ3Qm9Nbjkxa0pOT01SRFFrTGMyMFoyZjFvcStrMlE2TzNsNVlteEk0ZGg3YXJsYU4rV0gxTGpMR0doYmZEeEJ5c3dkdVF3K1BuNlFnSmRwYUxmRkJyWi9ibFdyVnA1T0x1L2hpb21KdWFRbFBLeW43OUpqVStURFBGVzdUcTMwWG41Znl5Rm1DT0VhTmN5T0Vnc2Yzc0J4bzBlZ1FEL1pwYy9BTlVwWHg5dmpCczlBa3NYemtYcmxpMkZFS0tkRUdLV3dhZkZ4bGJ0T3JkeGRuOE5WV0ZoNFV3QVNjN3VnK3BYVXd0eFhWaDQ1eDR1cm9adkZLRThwTmZwUEc2KzhRWjhzWDR0cnIvMkdyaTd1VG5rSkJzMmJNRGRkOStORzIrOEVaTW1UVUoyZHJaRGp0dVV1THU1NGZwcisrS2J6OWZoNWh0dmdJdGU3NkVJY2JlTHErSHJzQTVSMTREVEszWlNVbExLckZiclNDa2xiL1pwUXByTWtvdXdzTTdCMHRVd1VnanhuQkFJYU5FOEFNTWVINFJIQno2SVpuNStEanZQM3IxN01YYnNXSnRhdjM3OXNIanhZb2VkbzZrNWw1ZUhMNy9lakZXclA4SFpyQ3hJeUZ4SXVRUkd5NHJVMUlRenp1NlB5Sm4wem02Z1ByUUk2eHdNZC8wSFF1SldJZURXdlZzWFRIM3hlZlNJNmdhOTNyRi9CZkh4OFhhMXVMZzRoNTZqcGtwS1N2RDc3NzlqNjlhdE9IYnNHTEt6czJFMEd1SHA2WW5XclZ1alo4K2VtREJoQWx3dThRejBqSXdNYk42OEdUdDI3RUJHUmdhS2k0dmg3KytQOFBCdzNIbm5uZWpmdjMrZFBRU3NtWjhmaGcwWmhENjllbUg2NjI4aU5pN2VId0pUcEx1K1QxQm8xRE9aYWJISDYrVEVSQnJRdUVmaUhUcTRodWpkcjlGRDk2a1FhT25xNG9KcisvYkduTmRuSUxCRml6bzU1ZTdkdS9IVVUwL1oxSzY5OWxvc1c3YXNUczUzT2R1MmJjT2NPWE11TzZYejIyKy93YStLMzBnMmJOaUFKVXVXd0dnMFZ2bitybDI3WXU3Y3VRZ09EcTVWdjVkek5pc0xyNzQrRjl2KzJJbXlzakpJS1ROVlZRNU9WMHQySWlXRm54NUVUVTZqblZjTTd0Q2hSUXU5NXd3Rnlqd2gwTHhkMnpCTWVHbzBYbmorV2ZqNitOVFplVU5DUXVEdTdvNzQrSGhZTEJaRVIwZGp4b3daOEhMQzNaNnJWNi9HNjYrL2pwS1Nrc3Z1KzhRVFQ4Q3RrbXNDNjlhdHc0SUZDMkN4WEhyMTJ0bXpaN0ZyMXk0TUdERGdraVA2MnZMMDlNUi9icnNad1VHQk9KNmFocnk4ZkMraDRLRm1pb3VmZDREZjRZS2NuTUk2T3psUkE5UW9SK0loa2QyNjZhV3lTZ2gwaHhDdTNicDB4dXhaMHhBUkhnNjl2djUrYmxrc0ZvZFAxMVRYMTE5L2pkZGVlODJ1YmpBWTBMNTllM2g2ZWlJckt3c1pHUmt3bTgyVmpzUVRFeE14Wk1nUXUyT0VoWVhCMDlPejBxbWp3WU1IWTlLa1NZNzdScXBndGFwSU9KS0VtVy9Nd1lHRHNZQ1VaU3B3R0JhTVNrczVGRlBuRFJBMUVJMHJ4RHQwY0cyajh4d29CQllwUWpUM2NIZkgvZmZkalJsVFhtalVuemgvc2JObnorS2hoeDZ5R1lIcjlYcU1HVE1Hanp6eUNEdzlQY3ZyeGNYRjJMcDFLMjYvL1hhNFgzUnowK2pSbzdGL3YrMk5nTk9tVGNQOTk5OFBBTml6WncvR2p4OXZNMG8zR0F6NDhjY2YwYXhaL1N6Vk5Kdk5lR1BlUW55eDZSdVVsSlpDU2xtZ1NqeXRsT1Yva1pxYVd2WDhEMUVqMFdpbVUwSTZkUXIzRjI2dktvcVlJb1J2YWxTT0FBQWdBRWxFUVZUd2F4Y1dpcWt2VGNid29ZUHE5TmY3K21ZeW1mREZGMS9BeGNVRkFRR1ZmOHJabkRsemtKQ1FVUDVhVVJRc1dyUUkvLzN2ZiszK0xseGNYQkFSRVdIM1F5NDlQUjJMRmkyeXFkMXl5eTJZTUdGQytldldyVnNqTnpmWFprU3VxaXBDUTBNUkdWay9INWFoMCtsdy9iVjlFUllhaXVQSFU1R1RlODVWRWJoRDZsMnY4dlpwZWFUZzNKbmNlbW1FeUVrYXhUcnhrSWlvL25ycCtqbUVHQU1Jcnp0dnZ4V3JsaS9CZ0R0dmg2dHIvWDcwWUVwS0NucjE2bVh6NStJd3ZCSW1rd2tiTm16QWZmZmRoM256NXFHZ29LRFMvZkx5OHZETEw3L1kxQVlOR29UcnI3KytSdWZic21XTFhlMkJCeDZ3cTkxOTk5MTJ0Yi8rc250T1U1MHlHQXdZY09mdFdMRnNFZTRaY0NjQTRTVWdSaGhjNUtZMjRUMytnOGIyR3lkUkJacGVZaGdVRk9YcDFreitWd2p4amdEOHZMeTg4T1RqZ3pGMjVEQzdxUUd0TXBsTStPcXJyN0I2OVdwa1pXVmRkditmZi83WlpucERwOVBoOGNjZnIvRjVZMk5qN1dvOWUvYTBxMFZHUnNKZ01NQnNOcGZYamgwN1Z1UHoxWlpPcDBPYnEwS3dZUFlzdEEwTnhkcDFueW9GQllWZEZiM2NHTm94NnY5S3psayt5OHBLS0tyM3hvanFtRlpEWExTSjdCYXRRRXdHbElHS0VMcGVQYnRqNUxESGNldk5OenJ0WXFJalhTNjhkYnJLWjhKaVlteXY2WFhxMUFuTm16ZEhURXdNUHYzMFV4dzZkQWg1ZVhudzgvTkRqeDQ5TUdqUUlIVHYzdDN1T0JjSGNYQndNRHc4N0I5ZG90ZnIwYnAxYTZTbXBwYlhUcDQ4Q2F2VldtV1BkY25GeFFYang0MUM5MjVkOFA3cWo3Qm4zd0UvVlpIdmVRVVkrcnNIZEhzei9VamNBUUM4bzVFYURVMm1YWnZ3cnJjclVKWUNvb05lcjlNTmZQQy9lR3IwQ0lTMGJ1WHMxbXJOWkRKaDA2Wk5XTDE2dGQzYWJpRUVicnp4Ump6KytPT1Zqb29CKzV1TjJyVnJoNDgvL2hodnYvMDJLdDZObloyZGpTMWJ0bURMbGkwWU4yNGNSbzRjYWZPK2pJd01tOWN0THJHdXZubno1alloYnJGWVVGeGNESjg2WE1wNUtYcTlIcmZlZkNNNlJVWmd5YnNyOE9YWDMrck1adk1EQ3BTdVYwVkV2WEFpS1hhelV4b2pxZ01hQy9GZWh0QUk2d3VLZ3RjQndOZkhCNk5IRE1Pb0p4L1gvT2k3ckt5c2ZPUjljWGk3dUxqZ25udnV3WkFoUXhBYUdscmxNVlJWeGVuVHAyMXFjWEZ4Mkx6NTBwbTFmUGx5dEc3ZEduZmRkUmNBb1BUOEtnK2JmUzYxenIyeXFhdVNraEtuaGZnRkxZT0RNR3ZhRkxRTkRjVjdxMVlyZWZuNUVYb2h2Z21ONlA2NnpsejR2bytQVHp1bk5raWFJNFE0SGhNVGsrYnNQaXJTVlBLRlJKUjFFb3ArRkFCNGVIamc2YkVqTVhKWXplZDdHNUpMaGJlZm54OEdEaHlJUng1NXBGcEw5Z29MN2U5ek9YNzgvQjNwdnI2K2lJcUtRbGxaR2VMajQxRmNYR3l6MzZKRmkzRDc3YmZEWURCVWVuUFFwWlpvVnZZRHRPSWN1VE1aREhxTUh2RUVQRHpjTWVldHQxRlNVZ0pGaURFZVhqNmxpcUtNZDNaL3BDMVN5dlF1WGJvTWpvK1BUM0YyTHhkb0tzVDFaVVZINGVhN0ZrSk1OeHFOK0dETng5QXBDb1lPZnRRcDg2KzFkZWpRSWJ6d3dndDI0UjBTRW9MQmd3Zmp2dnZ1cS9RdXlxcFVkV2Rtbno1OU1HL2VQSGg3ZXdNNHY0NzhtV2Vlc1puM3pzbkp3VjkvL1lXYmJycXAwbWVnV0sxVmZ3aDlaWUhkVUM0c1d5d1dyTi80SmQ1Ny84UHl4d2Fvd0ZvaHJUbFNDc2M4dHBJYVBTR0VUa3JwQ2NETjFkVzFBd0NHK0pYNDkrYU5HYUVkdSswR3NQeE01dG1RMmZNWEtla25UK0dwVWNQUm9rVnpaN2RZSS8vODg0OU5nTHU1dVdIcTFLbFgvRENweWtiTEJvTUJNMmZPTEE5d0FBZ01ETVQ0OGVQeDNITTJIK09JUTRjTzRhYWJicXIwQW1aWldkV1BKU2t0TGJXclZieWh5Rmx5Yzg5aHlic3JzSDdqbHpDYnphb1E0cVJWVlo5UFQ0cjlJaUlpb3BWT3ArT3p0NmxhcEpTZGhSQ3ZvUUV1eTlaVWlGK1FkalR1eHphUjNSNVVvRXkyV0t3RFAxcjNtUzQrSVZGenExTXVEbXFqMFlpMzNub0x4NDRkdzhDQkEydjhNS25LNXEzYnQyK1B3TUJBdTNxM2J0M3NhaGQrb0xpNnVzTEZ4UVVtazhsdVcyVnljbkpzWG50N2V6dDFKRzZ4V1BESHpyOHVyRTZCcWtvcmdHK3Mwam83UFNudUFBQWtKU1dkQm5ENjBrY2lPaThxS3NxbzErdE5Vc29HOTl0YmcvdXBVazB5L1VqY2ZyVkVmVXJBT2s1VlpmNitBd2Z4OHZUWDhQN3FqMUI2aWFmdE5TUjMzMzAzWG52dE5iUnYzNzY4bHBlWGh6VnIxdURlZSsvRjg4OC9qNzE3OTFiN2VHNXVidkQzOTdlcFZSV21GVWZtRjFTOG1IbnhCZFRUcDA5WCtoQXNpOFdDVTZkTzJkUXFmai8xeldReTQvM1ZIK0dsYVRPeGUrOStxS3JNaDFRbldZb3NvOUtQeE8wSGx4ZFNJNlBWRUFjQXBLZkhuVHQrSk81OUZlcmpnRXpPUFhkT25iOW9LVjU4NVZXY1Bac0ZWVldkM2VJbDZmVjZEQmd3QUJzMmJNRENoUXR0UnNlcXF1TDMzMy9IMkxGajhiLy8vUThiTjI2czF0TUlJeUlpYkY2Zk9IR2kwdjNPbmoxclY2dDRHMytIRGgxc3RwbE1KaVFtSnRxOUp5RWh3VzVPdkd2WHJwZnQwOUZVVlVWV2RqYW16SGdOOHhjdFJWWjJqaXFsUEM2dEdKeWFGTHYwNU1sNDNuNVBqWkttUS95QzlDT3gzNXBodWh0U3JnQmswWGMvL0l4QncwYmgrNTkrdmVSY2JrTWhoTUJOTjkyRU5XdldZTVdLRmJqbW1tdHN0aDgvZmh4ejU4NUYvLzc5TVgvK2ZLU2xWYjNDNmJycnJyTjVuWjJkalQvKytNTnV2eDkvL05HdUZoVVZWZVZ4QUZTNlZQSGJiNysxcTkxMjIyMVY5bGNYekdZenZ2L3BWd3dkTVE2YnZ2a1dnQ3lTRXFzdEpuRm5XdkxCNzhIUk56VmlqU0xFQWVCa1ltS3lxZEF3MldyQjgxS3FPZitrcG1INnJObVl2M2hwZzFudVZoMVhYMzAxM25ubkhYenl5U2U0N2JiYklNVC9mK3hIY1hFeFB2dnNNeno0NElOVmZscFEvLzc5N2E0SnpKczN6MlpFSGhjWGg3VnIxOXJzNCtQalkvUEQ0OFliYjdSYkdmUE5OOS9ZL0VEWXNXTUh2dm5tRzV0OTJyVnJWK2w4ZTEweG04MVl1T1JkVEo4MUcwbkpLWkJTRmxvdGVMNDR4emp4NUQ4SGsrdXRFU0luMGNZVndHbzZmWHAvQ1lDVm9SMjY3NFZlZnBKZlVCRCs0ZHAxaHBpWVdNeC9jeFpDMjdTQlRxZU5uMXVkT25YQ3ZIbnprSmFXaGpWcjF1Q0hIMzZ3bVpPdTZqY01mMzkvREJreUJHdldyQ212WldSazRILy8reDg2ZCs0TXM5bU1JMGVPMk4zTU0yTEVDSnRWS1Y1ZVhoZ3laQWhXclZwVlhyTmFyWmc0Y1NJNmR1d0luVTVYNmZUS3M4OCthL09EcDY2b3FvclV0SFJNbWZFYTl1dzdBQUJtS2VVeHE3UStmaUw1OEw0NmI0Q29nZEJHb3RWUVdzcWhHS09sK0daSXVWUks1TWZFeG1IME14UHg2Y1l2VUZaaHhZVVdoSWFHWXNhTUdkaThlVE1HRFJwVXJYWGpvMGFOUXBjdVhXeHFGb3NGc2JHeFNFeE10QXZ3VzI2NUJZTUhEN1k3enJCaHc5Q3BVeWU3K3RHalJ5c044RUdEQnVHR0cyNjRiSCsxWlRLWjhQbW1iekQ2bVluWXMrOEFKR1F4cEZ4cWxjYmJUaVF4d0tscDBkNGRNdFZVbEp0YjRxb0wrbFB2WVQwQUtXN0x5OHYzMnIxdlA0NG1wNkJQcitoSzEwSTdRbTV1THI3NDRndWJXbFJVRks2OTl0cGFIZGZMeXd2WFhYY2RIbnJvSWJpNnVpSThQTHpLNTVubzlYcmNkdHR0T0hyMEtFNmVQSG5KNHo3ODhNT1lQbjE2cFRkTEdRd0czSHJyclVoTVRMUzduYjhpUlZFd2JOaXdlaG1GWjJmbllPYnNlVmo5MFRxY3pjcUNsRGhybGVxVHhqeDhjRG90Z1JjdnFVNEVCUVdGS0lyeUtBQzlFT0xMakl3TTN1eFRIekl6WTR1UmllK3Z1aW9pV3VmcHRxNmtwUFQ2SDM3NjFYQW04eXhtdmZJeUlqcDIwTnlkbm41K2ZoZzdkdXhsOS9QeDhjR3laY3V3WThjTy9QampqNGlMaTBOT1RnNFVSVUZnWUNENjlPbURoeDU2Q09IaDRaYzkzM3Z2dllkdDI3YmhwNTkrUW54OFBISnpjNkhYNnhFWUdJaStmZnZpL3Z2dnYreHhhc3RxdGVKNGFocGVtamJ6L01leEFSWXA1VTZyeFRyeVJNcmgrbi8yTFZFRDBXUWVsaDhXMWpsWXVocEdDaUdlRXdJQkxab0hZTmpqZy9Eb3dBZlJySXBQZWFlRzRWeGVIcjc4ZWpOV3JmN2svT2diTWhkU0xvSFJzaUkxTmVHTXMvdWp4aThxS3VvYXZWNy9sWlRTVFFqeDJJRURCMzV5ZGs4WGFHc1lXZ3Q1ZVZsRitUa2h1M3o4eTNZS29mUXVLUzBOMnJzL0JxbnA2ZWpWczd0VFBvMmVMaS8zM0RsTW16VWI2emQ4aVlLQ0FrZ3A0MVNyT2lydGFOd25lWGxabFgrOEVaR0ROZVRwbEVaNVliTnErODNwUnhOMkdpSHVrMUw5eVd3eWxmMzQ4eGI4NzdGaGlEa1VDNU5KTzBzUkd6dVR5WXlEaCtKdy84QWgrUEhuTFNnekdzdWtWTGNiSWU1TFQ0N2JBb0Qvc1lqUWhFYmlGUlZsbjhuemNqTnMwcmw0NUVnZ29yQ295TytIbjM4VkpwTUpIY1BENGRGQW5zRFhWT1VYRkdMRnFnL3gycHdGeU16S2tnQ09TMkN1dVNCN1lzYng1TXQvUmgyUmd6WGtrWGlUREhFQUtDZ29zT1JsWis3MzlRdmNMUlFSYlRhYld4Nk1QWXg5K3crZ2Q2OW8rUG41T3J2Rkppbjl4RWs4OTM4djQvdWZma1Z4U1FrZzVCRnBrY1BTanNadUtpd3NiUGkzMzFLajFKQkR2SWxOcDlpeHBxWEU3VW90eXJsQmhmeWt6R1FxMmJzL1JqN3c2RkQ4dkdXcjV0YVVhNW5aYk1iUFc3Wmk0T0FuOGZlZWZiTE1aQ3FXa0J0Uzg3T3ZUa3VKMndYQS91bGJSTlIwUitJMkNnb3MrWUVCMy91cHlra0lkQzRyS3d2WXNYTVhzck96RWQ2aFBYd3FlZUlmT1U3R21UTlk5dDRxdlAzT0Nwekx5d09BVkVDOGFDbktlYVBnMUNuN2g1VVQxYk9HUEJKbmlGK1FsV1hOeThtTTh3Z0krbGtuWlR1VDJSd2VGNStJWGJ2M0lDSThIQzJEZytybGR2S21SRXFKL1FjTzRxVnBzL0R6bHEwd2xwVkJTdmtyVkhWSWFsTHN0b0tDQXY0cVJBMENRMXc3WkdGT1pvNmZ0L3Ntb1hmMWtCSmRzbk55WExkczI0N2dvRUNFdHJrS0JvMTg0RVJEVjJvMFl1djJIWmo0NGxTa3BxVkRTclVJRXN1S2M4empUcCtJUHcwK2VaQWFFSWE0eHVUbDVWbnkvTHkzK3dqOUVRR0VscFlhVzIvWnRsMWtuRG1Ec0RadDRPL2ZqS1B5S3lTbFJGSnlDaFl2V1k2RlM5OUJjWEdKQkhCQVFwMmFhaWxaVm5JeWlkTW4xT0F3eExVb045ZWFuNU9aNEJzUTlCdUFRQUNkamlRbEszdjN4NkI5dXpCY0ZkTGEyUjFxMHNGRHNYaGh5Z3pzM0xVYkZvdHFsVkorWmpXYng1OUlqdCtPM055cVA0Mlp5SWtZNGhxV241T1psNS9qL2IxdmdFNUFJQ283TzhmdG0rOStFQzR1TG9pTTZBaUR3Y0JSK1dWSUtWRmNVb0pQUHZzY3owNStHV2V6c2lXQWZDblZkOU9TU3A0dE9IZlUvbU9HaUJvUWhyam01VnJ6Yzg1dTh3MEkzaU1Fd3FSRXlOOTc5aWtweDQ2amJXZ2JCQVpXL2pSQk91OW9jZ3BtdlRrZm4zeTZFV2F6eFFwZ080Q0phVW14eXdHT3ZxbmhZNGczRXZrNW1hbWVma0cvS1RwNFNTbXYvdWQ0S243LzQwLzRlSHVqVTBSSGpzZ3ZvcW9xdnZudVI3dzhmUllPeFI2RzFXb0ZJTmRhMU5MeDZVa0pCNTNkSDFGMU1jUWJrY0xjeklLODdNenZmUUtDamtISTZ3c0xpengrMy9Hbk1CckwwRGt5QXU3dWwvL1FocVlnUDc4QVM1ZXZ4SUxGUzVGN0xrOUt5TFBDcWs1S1RZcWRVWkNUVStqcy9vaHFnaUhlQ09YblpNYjVCTFRjSlFRQ1ZWWHRHSE1vVmlRbUhVWHpnQUNFdEc3VlpFZmxxcXJpN3ozN01IditJbXo2NWp1WXpXWUo0R2RWaW1mU2pzWnVCcGNPa2dZeHhCdXAvSnd6Snp6OGZYOVZoRDVMUXQ2UW5uN1M4T2V1M1hCemMwT25pSTZhKzhDSjJySllMRmkvNFF2TW5yOFFoK01Ub1VxMVJFcThiclRJVjA0bkh6b0NCamhwRkVPOEVTdk15U25Kejg3ODI3dDUwRDhDNkZWY1hPTDd4NSs3Uk82NVBQU0k2Z28zTjdkR1B5cVhVaUl2UHg4TDMzNEhiNys3QWdVRmhWSUFwNnlRNDlPVFl0OHJQcGRaNU93ZWlXcURJZDc0eVlMc3pNTmVBUzIyS1VKeGt4S1JjZkVKaHAxLy9ZMmdvRUJjRmRLNjBZN0tMUllMdHYyeEU2KzgrZ1orK3ZVM3FLb3NGY0JHMVlJSjZVZGpmd1ZIMzlRSU1NU2JpSUtjczVuNkFMK3RCcUVyRkJEWFpPWGt1UDY1YXpkTUpoTjY5K29KUldsY0Q0MVVWUlVyUDFpTCtZdVducjkxSGlpUmtOTmd6SDhqN1ora1ZHZjNSK1FvRFBFbXBDUW54NVNmbmZtWGIwRGdIZ2g1UTJscG1lL3V2ZnVWL1RFSDBidFhOTHk5dkRRL3ZhS3FLazZlT28zSkwwM0h1ZzJmbzZUVWFBVndRcHJsSTJuSmh6N055OHN6T3J0SElrZGlpRGRCK1RtWnh6MzlnamJwRkhnSklQTEVxZE11dS9mc2c2ZW5CenAyYUsvWlViblZhc1VQUC8rS1YxK2ZpMzBIWWlDbE5BSllMYVVjbFpZY0crUHMvb2pxQWtPOGlTck16U3pRQi9odGR4RzZKRURjbnAyVDQ3WnI5MTZrcDU5QW42dDd3ZFhWMWRrdDFraEJRU0hlbVBjV1ZueXdCcWRPWndBU0JVS1ZUeFdoYkVsR1VrS21zL3NqcWlzTThTYXNKQ2ZIbEplZGVkakxwOW1YaWs1M2pjbGtEb3BQVEZJT0p5U2lXNWZPOFBQemJmRFRLNnFxSXYzRVNmemZsT240NGVkZllUU1dXUUc1M3lLdEQ2UWZqZnVsSkNlSHovMm1SbzBoVGlnNGw1M3I0UlB3czZJVFpZRG9mdUxrU2RkdDIzZEMwU2xvMzY0dFhGMWNuTjFpcFFxTGl2RGwxNXN4YmVac3hNVW5RRXBaS0NHWG1VMld5YWRTNG84NnV6K2krc0FRSndCQTRibXMvSHcvN3o5OW9OOGxGSEY5WVdHaC8rNjkrM0htVENaNjlld0JkM2QzWjdkb283Q3dDTFBlbklmVkg2MUhkbTR1SkhCTVdzWElORlArQjRYSGszT2MzUjlSZlduSUlhN05xMnRhbHBKU2xuNDA5amZWYkw1UHFuS0gwVmhtL3VLcnpYajBpWkZJVEVxQzJlTDh6d00yV3l4SVNrN0d3NDgvaVMrLy9oWWxwYVZtQ2JsSE5adnZTMHMrK0QxU1U3bjZoS2lCNEVqY1NmSnpzN0w4ZlQwM1NaMUxrUUFpYzgvbCtYei8weTlRRkFYaEhkckR6VWtYUFl1TGk3SG1rMDh4ZmRac25EaDVDcER5cEFRV0YxaUtuejZUa25UU0tVMFJPVmxESG9renhKM28zTGx6WlhuWm1YLzcrQWNkRkFKOXk4cE16ZmZISE1LaDJNTzQ3cHErOFBMMHJOZCtNcytleGFTWHBtSFROOStob0xBUVVzbzBWWlhEMDVJczYwdHprMHJxdFJtaUJxUWhoemluVTV6UGtuNDA5amUxNU55MWtQSzcwbEpqNlk0L2Q4bjdCZzdDamo5M3dXdzIxMzBERmd0Mi9Ma0xBd2MvaWQvLzJDbExTNDJsVXNxZkxEcExkUHJSMk4rQUJLNCtJV3FnT0JKdklQTHo4NDErWHU1ZlNiMXJqZ0M2bEpTVSt2Mng4eThVRkJRaU1pSWNIaDRlZFhMZW5OeGNyUHhnTFJZc1hvYk1zMWtBa0NHRm1GNlNZNTU2SmpVaHYwNU9TcVF4RFhra3poQnZRUEx5OGl6NTJaa3hYczBEZjFXZzlEQWFqVmNkaW8zRG5uMEgwTFZ6SjdSb0h1Q3dOZVZTU3NRbkhzRkxyOHpDdHovOGhPS1NFa2lKdldhcitiRVRTWEUvbFpSazhlSWwwYjhhY29oek9xWGhNWjg4RWhkWGVrNzlqNnFxcTh4V1MzSE1vVGlNZXZwWi9MWnRPOHJLeW1wOWdqS1RDWC91Mm8zUlR6K0hQZnYydzJ5eGxLaXF1Z3BHM0hFcU9lRWdnTHFmd3lFaWgrQkl2SUVxTHM0MGU3cUcvQ1lNMXVOQ2lQYkZ4Y1ZCUDIvWmh1eWNITFJyR3daZlg1OGFqOHFsbEVoTFA0RjMzbnNmYnk1WWpQejhBa2pJZUtsYXAxdUx6ODFQVHovSzUzNFRWYUloajhRWjRnMVlZV0dHT1Q4bk05YXplZEJ2Q2tTbzFXcnRrSkI0Uk5sL01CYWRPMFVnT0Npd1JzYzdrcFNNeVZPbTQ3ZmYvNERKWkZJQjhhM1ZMSjlLVDQ3N3BhQ2dnS052b2lvd3hLbFdDck16Y3d6Qy96dURoK0lEaVU2Wlo4KzZmUDN0OXlJNEtCQmhvYUhRNi9WVmpzcWxsQ2d0TGNVMzMvMkFzUk1tNGRUcERDbFZ0VWhLK1VsSnJubDB4c25EWFB0TmRCa01jYXExa3BJc1UzNTI1azgrellQaUJORE9ZbEZiYnY5anAzTHE5R20wYjljVy92N05LbjFmK29tVG1EMXZJVlorK0JIS3lzcFVBSHVrRlMra0hZMmRYMUtTeGFXRFJOWEFFQ2VIeWMvT1RQWU5DUHBOQUsxVUtic2VUVDZHN1R2L1FzdmdJSFJvMTlabTM5OSsvd09UWDU2T1Bmc093R0t4QUZKdWxzRG90S094dThHUFRTT3FOb1k0T1ZSK1RtWmVYazdtRjM0QmdYbFNvbmRlZnI3N3IxdC9GNHFpSUtKak9Nd1dDMWF0K1JpelpzL0gyYXdzS1NWeUlhMHpVNVBpeHVmblpPYUJBVTVVSXcwNXhQWE9ib0N1WEdwUzdOSTI0ZDNpRloweXhXUXkzZkwyc3Zkd01QWXdESG85ZnQzNisvblJOOFFmVXFxejBwTGl0anU3WHlKeVBJYTR0cW5weVhHL2hZVjFQZ3hYL1RObWkvbUZMVnQvTjV6ZkpNMlFXQ0pMVFcrbHBTVm1PTGROSXFvckRISHRrNm1wQ1djQXpHZ1QzaTFkcHhkVHBSUjYxYXJPVEUrT1d3M2V1RVBVcURIRUd3OXJNdy9sVHdqZGZrQjFnVlQrVEdlQUV6VjZEUEZHUkZHVTVrTGdXaW1GRzRSbzd1eCtpS2p1OGRrcFJFUWF4aEFuSXRJd2hqZ1JrWVl4eEltSU5Jd2hUa1NrWVF4eElpSU5ZNGdURVdrWVE1eUlTTU1ZNGtSRUdzWVFKeUxTTUlZNEVaR0dNY1NKaURTTUlVNUVwR0VNY1NJaURXT0lFeEZwR0VPY2lFakRHT0pFUkJyR0VDY2kwakNHT0JHUmhqSEVpWWcwakNGT1JLUmhESEVpSWcxamlCTVJhUmhEbkloSXcvVE9ib0MwSlRvNmVpcUExeXZXcEpSRmlxS0U3TisvUDcrcTkvWHMyZk1ESWNUd2k4cXZIRGh3NEkyNjZKT29xZUJJbkdxa29LQmdxWlF5cjJKTkNPRWxwYnc0b010RlJVVUZBaGhjc1NhbHpDMHVMbDVTUjIwU05Sa01jYXFSbEpTVUFnRExMcTVMS2NlamluOVBlcjMrS1NHRWE4V2FFR0poVWxKU1lkMTBTZFIwTU1TcHhrcExTeGRMS1lzcTFvUVFiWHYwNkhIdnhmdDI2TkRCVlVvNXJtS05vM0FpeDJHSVU0MGRPWElrUndqeDNzVjFSVkdldmJqbTdlMDlSQWdSV0xFbWhIaUxvM0FpeDJDSTB4VXhtVXdMQUJndkt0OFNIUjBkVmJFZ2hIaXU0dXQvUitGTDY3by9vcWFDSVU1WDVQRGh3NWxTeWxVWDE2V1VFeTU4M2IxNzl6c0FkSzI0bmFOd0lzZGlpTk1WczFxdGM2V1Vwb28xSWNUZ1hyMTZOUWNBblU0MzZhSzM1SEFVVHVSWURIRzZZckd4c1NjQmZIUlIyVTFLT1RvNk9ycVRsUEtPaWh0VVZlVW9uTWpCR09KVUt4YUw1VTBBMW9vMUtlVVFBRU9FRUtKQ09jZGtNbkVVVHVSZ0RIR3FsYmk0dUg4QWZGcXhKb1RvSktWOHJHSk5WZFczRWhJU2JKWWxFbEh0TWNUSkVXWkxLZFdLQlNGRTJ3b3ZPUW9ucWlNTWNhcTFBd2NPSkFMWVZOVjJLZVVDanNLSjZnWkRuQnpsOVNycTJXVmxaWGEzNlJPUll6REV5U0ZpWW1JT0FmaXVrazJMT1FvbnFqc01jWElZVlZVUFhWeVRVaVk1b3hlaXBvSWhUa1NrWVF4eElpSU5ZNGdURVdrWVE1eUlTTU1ZNGtSRUdzWVFKeUxTTUlZNEVaR0c2WjNkQURVZUJ3OGVmQVhBSzg3dWc2Z3A0VWljaUVqREdPSkVSQnJHRUNjaTBqQ0dPQkdSaGpIRWlZZzBqQ0ZPUktSaERIRWlJZzFqaUJNUmFSaERuSWhJd3hqaVJFUWF4aEFuSXRJd2hqZ1JrWVl4eEltSU5Jd2hUa1NrWVh3VXJVWkZSVVdGS0lyU3EySk5DTkZWU3VrS3dDQ0V1S0ZIang1K0ZiZnJkTHFZL2Z2M3A5ZHJvMFJVcHhqaUdxV3Fxcjllci8vNjRyb1E0c0tYcnl1SzdTOWFGb3NsR2dCRG5LZ1I0WFNLUmgwK2ZEaFdTcGxRM2YxVlZVMDZkT2hRVEYzMlJFVDFqeUd1WVVLSTVRQWdwWVNVMG01N3hicWlLQi9XYjNkRVZCOFk0aHBtdFZwL2tWTG1WNWhDc1NPRWdKUXlYMHE1dFI1Ykk2SjZ3aERYc09MaTRqTkNpRjJYMisvZmZkTHFvU1VpcW1jTWNRMUxTVWtwVWxYMWdKUlNCV0F6cFhMaGF5bWxLcVhjRnhNVGM4NDVYUkpSWFdLSWE1c3FwWXdGVUhDSmZVb0JIQUpncVorV2lLZytNY1MxYnllQXMxVnRGRUxrcTZwNjJTa1hJdEltaHJqR0hUcDA2QlNBdnk5YzNLeTRJa1VJQVZWVmQvKzdEeEUxUWd6eHh1SGpxallJSWQ2dnowYUlxSDR4eEJ1Qm1KaVlyVkxLMHhWci95NHRQQk1URS9PenMvb2lvcnJIRUc4Y1ZBQWZWN0plZk9PLzI0aW9rV0tJTnhJV2kyV2RsTExrd21zcFpZbVVjb016ZXlLaXVzY1FieVRLeXNveUFLUUlJUzQ4QkN0ZVNza2JmSWdhT1laNEk2R3FhaUdBdmZKZkFHS2xsSG5PN291STZoWkR2SkZJU1VrcEE3QUxRSWtRb2d6QXJ0alkyR0ludDBWRWRZelBFMjljZGdISWtsSjYvUHMxRVRWeUhJazNJakV4TVFrQTRnQWsvdnMxRVRWeW1odUp0MnJmOVNvWGc3NjlzL3RvcU1yTTFqZ29pa3RZWkkrYm5kMUxRMVZXVm5ZODQzZ2lML3BTbzZDcEVBOEw2eEVHZzF3TklTT2QzVXREVldJQkFCVVFZb2l6ZTJtb1hOMWMwc1BDZWp5U21ub3cxZG05RU5XV3BrSWNiZ2lEUUtTQUNQWndkNGRPcjNOMlI2UWhWb3NWcFVZalZDbmQ0SVl3QUF4eDBqeHRoZmkvUE56ZE1XbkMwK2pjS2NMWnJaQ0dKQ1FtWWVueWxjZ3J1TlNUZTRtMFJaTWhydFByMExsVEJLN3BjN1d6V3lHTk1SZ016bTZCeUtHNE9vV0lTTU1ZNGtSRUdzWVFKeUxTTUlZNEVaR0dNY1NKaURTTUlVNUVwR0VNY1NJaURXT0lFeEZwR0VPY2lFakRHT0pFUkJyR0VDY2kwakNHT0JHUmhqSEVpWWcwakNGT1JLUmhESEVpSWcxamlCTVJhUmhEbkloSXd4amlSRVFheGhBbkl0SXdoamdSa1lZeHhJbUlOSXdoVGtTa1lReHhjaWlyMWVyc0ZvaWFGTDJ6RzZDR2JjNmNPVGg4K0RBQVFLZlRZZTNhdFZYdXUzLy9manoxMUZNSUNRbEJhR2dvUWtORE1YejRjSGg3ZTlkWHUwUk5Ea084R3FTVUtDMHRyWmR6S1lvQ056YzNBT2RIdFNVbEpYVnludW9HYTJwcUtoSVRFOHQ3cTRxVUVvc1hMNGJGWWtGcWFpcFNVMVBSdTNkdkJqaFJIV09JVjhQSmt5ZHgvLzMzMTh1NW9xT2o4Zjc3N3dNQVVsSlNNR2pRb0RvNXoxOS8vUVZYVjFlSEhlL0xMNzlFUWtLQ1RXM3c0TUhJek15ODVQczhQVDNoNWVYbHNENkltaHFHT05YYW1UTm5zR1RKRXJ2NmM4ODlkOW4zRGhreUJCTW5UcXlMdG9pYUJGN1liS0tFRUE0NWpzVml3VXN2dllUaTRtS0hISStJYW9ZajhXcFFGS1ZHdi9JYmpVWllMQmFibXB1YkcvVDZ5LzkxZTNoNGxIL3Q2dXFLOFBCd20rMUZSVVhJeU1pd09lNVZWMTExeVdPbXBLUkFTbG4rdWsrZlBuQnhjYWwwMzMvKytRZXZ2LzU2K2V0ang0NlZmNjJxS29ZUEh3NEE4UFgxeGFKRmk3Qnc0VUxFeGNWZDl2c2lvcnJCRUsrRzFxMWJZL3YyN2RYYTEyS3g0UDc3NzdjSldyMWVqMisrK1FiTm16ZXYwWG5Ed3NMdzJXZWYyZFMyYk5tQ0YxOThzZngxZUhnNDFxeFpVK1V4dG0vZmprbVRKcFcvMXVsMG1EeDVjcFg3RnhjWDQ5Q2hRMVZ1djdETjM5OGY2OWF0dzRZTkcyeTJSMFJFNEpWWFhxbjB2Vjk5OVJVMmJkcGtVK3ZVcVZPVjV5S2l5Mk9JTzlqbXpadHRBaHdBK3ZmdlgrTUFyNHJKWktyMnZrYWpFZlBuejdlcFBmVFFRMmpmdm4ydCs4alB6OGZDaFF2dDZrbEpTZGkzYngrR0RoMXFVNCtQajhmMzMzOXZVK3ZUcHcvNjkrOWY2MTZJbWpMT2lUdFFZV0VoM24zM1hadWFFTUl1MEdxanJLek01blZpWW1LVkswQSsvUEJEbXg4b1BqNCtHRHQyckVQNnVOUk5QVXVXTE1FUFAveFEvam8rUGg0VEpreXc2VDBnSUFDdnZmYWFRM29oYXNvNEVuZWdKVXVXNE55NWN6YTFlKzY1eHlFajN3dU1ScVBOYTR2Rmd2WHIxOXV0OERoNThpUSsrdWdqbTlxamp6NEtzOW1NN096czhwcWlLUEQzOXk5LzNhVkxGK3pZc1FNQWNQcjBhVHp5eUNNMisxNllWdHErZlh2NXRFbEVSQVFpSWlLd2VmTm1BT2ZYakUrYk5nM0hqeDlIY0hBd0Z1ZDhHejBBQUNBQVNVUkJWQzVjYU5PM3U3czczbnJyTFlmOWRrTFVsREhFSFdUNzl1MTI4NzBBMEtKRkN5UW5KOXRkb0x4U3VibTVkclZObXpaaDFLaFJOaGRmWTJOallUYWJiZlpidVhJbFZxNWNhVk56YzNQRG4zLytXZjVhVVpUeWk2dDc5dXl4TzllRmJYZmRkUmRPblRxRjMzLy9IZSsrK3k0OFBUMVJVbEtDTFZ1MmxPLzc0WWNmMnIzZnk4c0xpeFl0UXJkdTNhcno3UkxSWlhBNnhRRk9uVHFGVjE5OXRkSnRIMzc0SWZidTNRc0F5TXZMdzhxVksrMVdydFJFWlZNbkpTVWxXTDkrL1JVZnN5cS8vUExMSmJlUEdERUM3Ny8vUG54OGZLRFQ2ZkRLSzYrZ1hidDJWZTZ2MSt1eFlNRUNSRWRITzdwVm9pYUxJL0ZhS2l3c3hJUUpFMUJRVUhESi9jNmVQWXR4NDhZaE5UVVZodzhmeHJ4NTg4cHZyNitKcXVhLzE2NWRpd2NmZkxER1V4UTZuYTdTK3JGangreVdEcXFxaW1lZmZSWlRwMDVGWUdBZ2hCREl6czdHN3QyN3NYUG5UdXpaczhkdXpyNGlpOFdDY2VQR0lUSXlFdEhSMGVqV3JSczZkZXFFMXExYk8yemRPbEZUd3hDdmhkTFNVa3ljT0JHcHFhbVgzTy9FaVJNWVBueDQrVVhHUC8vOEUyUEdqTUhiYjc4TlB6Ky9HcDB6SlNXbDByclJhTVE3Nzd5REdUTm1BQUJhdG15Sk8rNjR3MmFmd3NKQzdOcTF5NloyNjYyM1ZucThqUnMzVmxyZnVYTW5CZzRjaU9qb2FDUWtKTmpNcjFlSGxCS0ppWW5sejJNQmdKNDllMkxWcWxVMU9nNFJuY2NRdjBKR294RVRKa3hBVEV6TVpmZk56YzFGWVdHaFRlM3c0Y01ZUG53NDNubm5IYlJzMmJKYTV6eDc5aXp5OHZLcTNQN3R0OS9pd1FjZlJMZHUzZEN6WjAvMDdOblRadnVTSlV2c1F2enh4eCszTzA1T1RrNzVSY3JLRkJVVjRZOC8vcWh5dTV1YkcrNjQ0dzQ4OXRoalVCUUZIMzMwRVg3NTVSZTdPZm9MdUZhYzZNcHhUdndLbkR0M0RtUEdqTUdCQXdmc3RnMGRPdFR1YVgvZHUzZkhpaFVyN0ViZGFXbHBHRFpzR0pLVGs2dDEzdmo0ZUp2WGJtNXVOaGRNcFpTWVBuMjYzUXFXQytlNitNYWhXMjY1cGRLVk0ydldyS25SZW5RQWNIRnh3UTAzM0lDWk0yZmkxMTkveFl3Wk05Q3hZMGQwNk5BQnMyYk53aSsvL0lLWFgzNFp2WHYzdHJ0ejllSWZOa1JVZlF6eEdrcE5UY1gvYSsvZXc2cXE4ditCdjljNWg0dUFnVGRFNG1ZaUtIZzVwRTVtb21obGs1VlltcGV2YWFsZHBzeG0xTW5MVk5PSU1ZdzE2RXhXcHBhbGZRbkhNYnZwakRrK1dWbFcyZ2lpb256Qk1rVzhobHlVMjdtczN4L0srYkU1QnpnZ2NGaWM5K3Q1Zko2ejExNTdudy82UEc4M2E2Kzk5aU9QUEdKYlk3dW0yMisvSGM4ODg0ekQ0L3IwNllPMzMzNGJnWUdCbXZhTEZ5L2kwVWNmUldabVpvUGZ2WGZ2WHMxMmJHd3NGaXhZb0drN2VmSWtWcTVjcVdrem04MTQ4Y1VYTmVQVkJvUEI0UUpWK2ZuNWRRNmxDQ0hRcjE4L0FNRFlzV01SRlJXRnhNUkVKQ2NuWS92MjdVaEpTYkVOejVTVmxXbitHQXdHakIwN0ZpdFdyTUNubjM2S1AvM3BUMGhNVEVSMGREU01SbU9EUHpzUk9jYmhsRWI0ejMvK2c2U2tKSWRyZkE4Wk1nVExsaTJyOXdaZFJFUUUxcTFiaHllZWVBSm56NTYxdFYrK2ZCbFBQZlVVbGk5Zmp2ajQrRHFQcnowVU1uRGdRQXdaTWdRSkNRbjQ0b3N2Yk8xYnRteEJiR3dzeG8wYkJ3Qll2bnk1M1UzS2FkT21JU1FreE80N3NyT3piYk5uZkh4OEVCNGViaHUvRmtKZzdkcTEyTEJoQTJiTm1nV0x4WUpodzRiaDQ0OC9yclBtK2dRRkJkazl4VWxFamNNcmNTZVVsNWNqSlNVRml4Y3ZkaGpnUTRjT3hkLys5amVuMXVjT0NRbkJ1blhyRUJ3Y3JHbXZyS3pFZ2dVTHNHM2JOb2ZISFRwMHlPNXgvbHR1dVFVQU1HL2VQTHNGclY1NjZTVjgrKzIzZU9PTk4rem1yMGRHUnRiNTVHWmtaS1R0YzJKaW90M0NYMTVlWG5qODhjZWRXc3lMaUZvZVE3d0JaODZjd1pRcFU3Qmx5eGFIKzBlTUdJRVZLMVkwYXJwZ2NIQXcxcXhaWXplMFlyRlk4T0tMTHlJdExjM3VtTm8zR20rNDRRYmJNRVJJU0FpZWUrNDV1M1A5N25lL3c5dHZ2NjFwOS9UMFJISnljcDJyR0lhSGg4UFQweE02blE1VHAwNTErbWNpSXRmZzVWUURBZ01EY2VPTk55SS9QOTl1MzlTcFV6Ri8vdng2WDF0V2wrRGdZTHo1NXB0NDlORkhOVTloNm5RNmRPclVTZE8zcEtRRU8zYnMwTFRGeDhkcnJvYnZ2ZmRlSEQxNlZIUHowdEZEUlVsSlNacXI3ZHIwZWozQ3c4UFJ2MzkvM0hqampZMzZtWFE2WGIxdlFLcXFxcXJ6TncwaWFocUdlQVAwZWoxU1VsSXdiZG8wMjNDR3dXREFzODgraTRrVEoxN1h1Y1BEdy9INjY2L2owVWNmeFpVclY2RFQ2WkNVbElTNzc3NWIweTh0TGMxdUdDY3hNZEh1ZlBQbXpVTm1aaWFPSFR2bThQdG16cHlKTysrOHM4RzZZbUppOE1RVFR6VGlKN2xLcjlmYi9VWlFVMUZSRVVPY3FKbHhPTVVKL3Y3K1dMNThPUXdHQTBKQ1F2RHV1KzllZDRCWGk0cUtRbXBxS3J5OXZaR2NuR3dYNEpjdVhiS2JHaGdlSG81Qmd3WnAyZ29MQzVHY25GeG5nQU5BZW5vNlZxOWVqY3VYTDlkYjA5TlBQODNGcVlnVXdTdHhKOFhHeGlJMU5SVkdvN0haWCt3N1pNZ1FmUExKSitqU3BZdmR2dFRVVkx2UW5USmxpdTF6U1VrSjNudnZQYVNucDZPOHZMemU3Nm1vcU1CYmI3MkZ0TFEwSkNZbVlzS0VDUTdYT3FtNXFtRmpPYnJ4VzYyaCtvaW84UmppalRCOCtQQVdPN2VqQU4rN2R5LysvZTkvYTlxNmRldUc4ZVBINCtUSmswaFBUOGNubjN6aThPRWVBT2pZc1NPdVhMa0NxOVdxYVM4dkw4ZW1UWnV3YWRNbTlPN2RHM2ZjY1FlR0RoMkttSmlZSm8zdlZ6T1pUUFZPa1NTaTVzZmhsRGJxN05tekRsOXpGaFVWaGFlZWVncjMzMzgvTm0vZVhHZUFqeHc1RWx1M2JzVTc3N3lEbmoxNzF2azl1Ym01V0wxNk5SNSsrR0hiYW90RXBBNkdlQnUxZWZObUZCY1hhOXA2OWVxRnh4OS9YTE40VkcwOWV2VEFYLzd5RjZ4WXNRS2RPM2RHdjM3OWtKNmVqdm56NTllNzJGWkNRb0p0M2prUnFZUERLVzNVM0xsejRlWGxwWG1KdzVJbFM5Q3ZYeis4K09LTFdMSmtpYVovNTg2ZE1YMzZkRXllUE5udW9TTVBEdzlNbXpZTjQ4ZVB4d2NmZklETm16ZHJIaHp5OVBUVXZFeTVxVGpGa0tqMU1jVGJLQ0VFbm5qaUNZU0dobUxwMHFXWU5HbVNiYUdvTVdQRzROaXhZOWl3WVFONjkrNk5DUk1tWU55NGNRMCtNZXJyNjRzWk0yYmdvWWNld3Q2OWU3Rno1MDU4K2VXWG1ESmxTcVBuaEZmWDZPSGhZZHYyOHZLcWQ0cGhjWEd4N2RWdndOVlpQMFIwZlJqaUxhQTV4NWJIamgyTEhqMTZJQ1ltUnRNK1o4NGMzSG5ublUxYXhsV24wMkg0OE9FWVBudzR6R1l6cEpSMTluM3p6VGZyM09mcDZZbnZ2dnZPNmUvMTkvZkg1NTkvM3FoYWlhaCtESEVGT0ZxcVZhL1hOOHM2M0Z3RGhVaHR2TEZKUktRd2hqZ1JrY0lZNGtSRUNtT0lFeEVwakNGT1JLUXdoamdSa2NJWTRrUkVDbU9JRXhFcGpDRk9SS1F3aGpnUmtjSVk0a1JFQ21PSUV4RXBqQ0ZPUktRd2hqZ1JrY0lZNGtSRUNtT0lFeEVwakNGT1JLUXdoamdSa2NJWTRrUkVDbU9JRXhFcGpDRk9SS1F3aGpnUmtjSU1yaTZnS1N4bUM3S1A1cmk2REZKTTl0RWNtRXdtVjVkQjFLeVVEUEh5aWdxc1dyMFdIaDRlcmk2RkZHSXltVkJTV3VycU1vaWFsVkloWGlXdFp6eUZPR09WMHJ1b3BNVFY1YlE5VmdraGhBQWtwSVNFVHJpNm9yWkp5bk5WVXA1eGRSbEV6VUdwRUMvSXljb05pNHg5U0dmd0NIUjFMVzJScDBGR2RqRG9aZ3NoREdVbXk1b3FpOGh6ZFUxdGtVWElpd1hIc25KZFhRZFJjMUFxeEFGWVQrWWR5UWFRN2VwQzJxSzR1RGdwaElpUVVucjdldXB6L3k4ajQwdFgxMFJFTFl1elU0aUlGTVlRSnlKU0dFT2NpRWhoREhFaUlvVXh4SW1JRk1ZUUp5SlNHRU9jaUVoaERIRWlJb1V4eEltSUZNWVFKeUpTR0VPY2lFaGhESEVpSW9VeHhJbUlGTVlRSnlKU0dFT2NpRWhoREhFaUlvVXh4SW1JRk1ZUUp5SlNHRU9jaUVoaERIRWlJb1V4eEltSUZNWVFKeUpTR0VPY2lFaGhESEVpSW9VeHhJbUlGTVlRSnlKU0dFT2NpRWhoREhFaUlvVXh4SW1JRk1ZUUp5SlNHRU9jaUVoaERIRWlJb1V4eEltSUZNWVFKeUpTR0VPY2lFaGhESEVpSW9VeHhJbUlGTVlRSnlKU0dFT2NpRWhoREhFaUlvVXh4SW1JRk1ZUUp5SlNHRU9jaUVoaERIRWlJb1V4eEltSUZNWVFKeUpTR0VPY2lFaGhESEVpSW9VeHhJbUlGTVlRSnlKU0dFT2NpRWhoREhFaUlvVXh4SW1JRk1ZUUp5SlNHRU9jaUVoaERIRWlJb1V4eEltSUZNWVFKeUpTR0VPY2lFaGhESEVpSW9VeHhJbUlGTVlRSnlKU21NSFZCVkRUR0kzR3NUcWRicnVqZlVJSUFQamk1cHR2MXJSYnJkYjdNek16UDJxRjhvaW9sZkJLWEZFWEwxN2NMYVVzY0xhL2xQTHMrZlBuZDdaa1RVVFUraGppaXNyUHp5OEhzQkVBcEpSMTlxdmVKNFRZVkZCUVVOWXF4UkZScTJHSUs4eHF0VzRHVUNHRWNCamtVc3Jxb1pVS0tlV0hyVjBmRWJVOGhyakN6R2J6ejFMS3JJYjZTU216ckZicjhkYW9pWWhhRjBOY1lVZU9IQ2tCOEwwVFhiODNtVXdYV3JvZUltcDlESEcxbVFFY2xGSmVBYlJqNHpVK2x3UDRJVHM3dTZyVnF5T2lGc2NRVjkrM0FNN1h0Vk5LV1FyZ2g5WXJoNGhhRTBOY2NSa1pHZGxTeW1QWGJtQkNTbGx6Umdxa2xMa1pHUm5acnF5UmlGb09RN3dka0ZLK1g5YytJY1E3clZrTEViVXVobmc3WURLWlBwSlMvbEt6N2RwVmVHRlpXZGxtVjlWRlJDMlBJZDRPWkdkblh3YndjZldRU2pVaHhMOXpjbkpLWFZNVkViVUdobmc3SWFWY0w2VTAxZGcybWMzbS8zVmxUVVRVOGhqaTdZVFZhczBGOEpNUW92b3B6Zi9UNi9WSFhWd1dFYlV3aG5nN2NmSGl4Y3NBRHRSb09sUmNYRnprcW5xSXFIVXd4TnVKZ29LQ01pbmwxN2k2VGtxVmxQTHJIMy84c2RqVmRSRlJ5K0o2NHUySUVPSjdBQmVFRUQ1dzduRjhJbEljcjhUYmtZeU1qQjhBNUFINCtkcG5JbXJuMnVTVmVIQ3ZmcUdlSG9aZXJxNURSWlVtYXlZZ1BTUDZHQk5jWFl1cUtpc3JmenJ6MDlHZlhWMEhrVFBhWEloSFJCZ2o0Q0hmZ1pCOVhGMkxpcTZZcFJCU0NBZzV3ZFcxcU1yTDIvTmtSSVJ4OG9rVG1TZGNYUXRSUTlwY2lNTWJFUkRvSXlDQ2ZEcDBnTjZnZDNWRjVDWXNaZ3ZLS3lwZ2xkSWIzb2dBd0JDbk5xL3RoZmcxUGgwNllQNHpjeERUTjlyVnBaQ2J5RDZhZzFXcjE2S29wTVRWcFJBNXJjMkd1TjZnUjB6ZmFBejkxV0JYbDBKdXhNUER3OVVsRURVS1o2Y1FFU21NSVU1RXBEQ0dPQkdSd2hqaVJFUUtZNGdURVNtTUlVNUVwRENHT0JHUndoamlSRVFLWTRnVEVTbU1JVTVFcERDR09CR1J3aGppUkVRS1k0Z1RFU21NSVU1RXBEQ0dPQkdSd2hqaVJFUUtZNGdURVNtTUlVNUVwRENHT0JHUndoamlSRVFLWTRnVEVTbU1JVTVFcERDR09CR1J3aGppUkVRS003aTZnTGJDWXJIZzlPblRDQXdNaExlM3QwdHJLU3dzeE1HREI1R1JrWUdEQnc5aStmTGxDQW9LYXZMNXpHWXpwazJiaHRqWVdJd2RPeGFEQmcyQ0VLTEI0OGFORzRmeThuTGI5b1lOR3hBY0hOemtPbXJMejgvSHhJa1ROVzNmZmZkZHM1MmZ5QjI0UlloYnJWYVVscGFpdExRVWhZV0Z1SERoQXM2ZlA0K0NnZ0xrNStjalB6OGZKMCtlaE5sc3hvb1ZLeEFhR29xVWxKUW1mOS9LbFN2aDUrZlhwR09YTDErT3paczNhOW8rL1BCRFBQbmtrMDJ1Wi9mdTNjakx5ME5lWGg0Ky92aGpoSVNFWU5PbVRlalFvVU85eC8zeXl5K29xS2l3YlZzc2xpYlg0SWlVRWlhVHFWblBTZVJ1M0NMRUR4OCtqSmt6WnpyVjk0Y2Zma0RuenAxeDRNQ0JKbitmMld6V2JFc3BOVmUwOWZuVnIzNWxGK0lmZmZRUnBrK2ZEcDJ1NGRFdlQwOVBHQXphZjliMDlIVE5kbng4ZklNQjNoUW5UcHpBNjYrLzduUi9SMzhueno3N2JLTytjK0hDaGVqV3JWdWpqaUZxVDl3aXhIdjE2dVYwM3dNSERtRE1tREhOK3Yzbno1L0gyTEZqbTN6OHhZc1hNWExrU0tmNkxseTRFSk1uVDdadEh6cDBDQWNQSHJSdCsvbjU0YkhISHJOdDc5eTVFMUpLaCtlcWZlVzlaODhlZE9uU3hXSGZxS2dvRkJVVjRmUFBQM2VxenJvMDl2ZzVjK1l3eE1tdHVVV0krL3I2d3QvZkg4WEZ4UTczZTNwNklpd3NEQkVSRVE0RFB6dzhITkhSMFhXZWYrL2V2Ymg4K1hLejFkdWMxcTVkcTlsKzdMSEg0Ty92Yjl0Kzdybm5ZTFZhblRwWGFtcHFuZnVlZnZwcEdJM0dwaFZKUkUzbUZpRU9BSGZkZFJmS3lzclFxVk1uWExwMENkdTJiYlB0ZS9MSkp6Rmp4Z3piOXFGRGh6VEh4c2ZIWTk2OGVYV2VlOHFVS2NqTnpXMytvcTlUZG5ZMjl1N2RhOXNPQ1FteFhhVkxLWjI2dVVsRWJadmJoUGlpUll0c24vZnMyYU1KOGRiV3JWczMzSEhISFMxeTdxaW9LTnZuRlN0V2FQWXRXYklFSGg0ZU9IRGdBSll0VzRaSEhubWsyYi83M1hmZmRici91WFBuTlA4dUFCcDFQQUQwNk5HalVmMkoyaHUzQ2ZIcmNmcjBhZXpaczZmTy9WZXVYR25VK1VKRFEvSDczLy8rZXN1cTE2NWR1NUNSa1dIYnZ1dXV1ekIwNkZCWXJWYWtwcWJpNU1tVFNFcEtncmUzTnhZdFdvUzR1RGk3YzB5Wk1rVXpPK1hOTjkrc2M2cGpRRUFBZkgxOTBiOS9mNmRyREFnSXNHdHJ6UEZFNUNZaGZ2bnlaYzM4NDZOSGoycjI1K1hsWWRldVhRQUFmMzkvdTNuaXUzZnZ4dTdkdTV1OXJ0emMzR2E3R2c0TkRjV21UWnNBQUpjdVhjTHk1Y3R0Ky96OC9EQi8vbndBd0xadDIzRHMyREhiUGg4Zkg0d1lNY0pob05ZV0ZCU0UwTkJRcCtyWnMyY1BTa3RMNiszenl5Ky8yTFg5NjEvL2F2RGNmbjUrR0RGaWhGTjFFTFYzYmhIaXAwK2Z0dnUxdmFidDI3ZGorL2J0QUlDK2ZmdlcyN2M1V2ExV3paWHU5YWc1WGUrTk45NUFZV0doYmR0aXNXRDY5T2tvS3l1eis2MWg4ZUxGVGdWNFk3MzY2cXY0OGNjZkczM2NDeSs4MEdDZjhQQndoampSTlc0UjR1Nm05Z3liOHZKeWgzT3l4NHdaZzF0dXVRV3Z2dnFxdy9QVW51KytjZU5HZE96WTBhNWYvLzc5TVdyVXFPdW9tSWlhaWlIdVFOKytmZkhaWjU4MStmaWFVL2pxMDZWTEZ6ejg4TU8yN2V6c2JPemZ2eCtqUm8xQ1dGaVl3Mk5NSmhNKy9QQkR1MUR1MUttVDdmUG8wYVB4eWl1dk5QamRpeFl0d3BVclY3Qmh3d2FuNnQyNmRhdkQ5Z2NlZUlBaFR1UWliaEhpdlhyMXNvMjFYcmx5QlZPblR0VmNaYzZlUFJzVEprd0FBSGg0ZU1CZ01LQnIxNjR0WGxmWHJsM3h6RFBQQUxnNnJYSExsaTBBZ0crLy9SYkRoZzNEQXc4OG9PbWZtNXVMNTU5LzNpN0E3Nzc3Yml4WnNzUzJIUmdZaU5HalI2TzB0QlRkdTNlSHI2OHZ0bXpab25sNDUvbm5uMGRBUUFET25UdlhVaitleHFlZmZtcTM3c3FwVTZjd2Z2eDRUZHQvLy90ZnUyTWQ5U09pcTl3aXhBMEdBN3AzN3c0QStPYy8vMmszVE9EbjUyZmJEd0RUcDA5djBuaHVUYnQyN2JJOTJsNzdpY2phODdNcktpcXdaTWtTMjNoMVJVVUZrcE9Uc1dmUEh2enhqMzlFUUVBQTB0TFM4TnBycjJuV0d2SHg4Y0hpeFl0eHp6MzMySDEvelN2eFYxNTVSUlBnNDhlUHQ0MHA2M1M2NjE3d3k4dkw2N3FPSjZLbWM0c1FyNm42YXJjbWs4bUUvZnYzWThpUUlRQ3VodWoxM25Dc0dkeTFIMS9YNi9XYWJXOXZiMnpjdUJHcHFhbllzV09IcmYycnI3N0NwRW1URUI0ZXJwa3VDQUF4TVRGSVNVbEJTRWhJdlhWODlkVlh0bGtyd05VSGZtcE9iK3pXclJ1KytlWWI1Mzh3SW1wVDNDckV2Lzc2YStUbDVkbTFyMSsvSHBXVmxYajIyV2MxNjQ0MGw5b3I5ZFZlb0FvQU9uZnVqT1RrWkl3Wk13YkxsaTNEcFV1WEFGeGRscmJtVEJNaEJHYk1tSUdubm5ySzRYbHFPblhxbEdhMmg4RmdRRXBLU29zc2Z0V1FiZHUyMmQwcktDb3FzdXYzajMvOHc2N05VVDhpdXNxdFFuemR1blVPMjZ1dnVsOSsrV1dVbHBaaTVzeVpEb01qTFMwTlo4K2V0VzFQbVRJRk45NTRvOE56ZW5wNjJqNlhsWlhaN1R0MDZGQ2RjOC9qNCtPeGJkczJoMnVhOU92WEQ4RFZhWVNPSkNRa1lNQ0FBU2dxS3NMY3VYTTFhN3JFeGNWaDM3NTkrUFRUVDNIKy9IbjQrUGhnMmJKbFdMVnFGUzVldk9qd2ZNNllQWHQyblRkaXE2MVpzOGFwYzczODhzdE5yb1BJSGJsTmlPL2N1Uk9IRHg4R2NIVWN1SzVGbjFhdlhvMlpNMmZpNmFlZnR0djMyV2VmYVVMOGpqdnVjUGlrWTIyMUY4Znk4L05EVGs2TzA3TkNhanAwNkpEZDJpNDFkZS9lSGVIaDRmak5iMzZEVTZkT2FmYnQzNzhmKy9mdnQyMVhEeC90M3IwYlAvLzhjNk5ycVRaKy9QZ0dRNXlJV29aYmhIaEpTWWxtQmI1YmI3MVZNdzQ4Y3VSSWZQUE5ON1libmxKS3U2dG5BSGJCWDFsWjZiQ2ZsNWVYWnR5NzlsVnVVMThZNFN5ZFRvY1RKMDQwMks4bDYvRDI5cTd6aG1sbFpXV2R5OTlXRTBMVWVjUFVGY05CUkcyVlc0UjRibTZ1TFVnOVBEeHcxMTEzYVVMY2FEUmk1TWlSU0VwS3d1elpzeEVWRllYNCtQZ0d6enRuemh5SDdXdldyTUhnd1lOdDJ6V3Yzb0dyVXdzTkJrT0RzMEpNSnBQbXBxakJZTEFiQjYrcXF0TDg1Mkl3R05DeFkwY01IejY4M3FVQ09uYnNpUER3Y0lmN0dxcXI5bmM2OHQ1Nzd6bHMzN1p0RzVZdFcyWTNRNmcyblU2SGhRc1hJakV4c2Q1K1JPN09MVUxjYURRaUlDQUFSVVZGR0RGaUJHNjQ0UWE3UG9tSmlRZ09Ec2FRSVVOczY2ZzBsOXBERmQyNmRjTzk5OTdiNE56bjVPUmt6UU0yRHo3NG9HWm1TVmxaR2U2NTV4NlVsSlFBdVBvZlZFSkNBb0NyYzhjek1qSVFIUjJObTI2NkNXRmhZUWdKQ1VGd2NEQ0Nnb0xxRGVydDI3ZlgreWorL1BuejhlV1hYOVpidXlQcjE2OXY4TTAvbnA2ZXFLcXFnc1ZpUVZKU0VzNmVQWXZISDMrY3krWVMxY0V0UWx5djF5TWhJUUVmZmZRUkprK2U3SEFJQlBqL1k4VE5MU2NuUjdQZDBMUkFaMjNkdXRVVzRBQnczMzMzMmQ2OE0zcjBhTngrKysxMUhsdFJVWUhUcDArM3lrTk5oWVdGV0xwMEtiNysrbXROKy9EaHcrM2EvdnpuUDJQaHdvVzJLLzIxYTljaU16TVRTNWN1UldCZ1lJdlhTcVFhdHdoeDRPcTdLNDhmUDQ1Qmd3YlZ1NndzQUF3ZVBCaHZ2ZldXWFh0eWNqSisrdWtuMi9iaXhZc1JHUmxwMTY5Mzc5NjJ6NWN2WDhieDQ4YzEreU1pSWhwYnZoMnoyWXkwdERUYnRoQUMwNmRQMTJ3WEZoYmk5T25US0Nnb1FFRkJBVTZkT21YN2MrSENCUUJ3K0hNMkZ5a2xkdXpZZ2RUVVZOdVV5V3JqeG8zRHpKa3o3VUo4MUtoUldMSmtDWktUazIxdCsvYnR3NlJKa3pCdjNqemNkOTk5VHIxcmxNaGR1RTJJRHhvMENENCtQazcxRFFnSWNEanJ4TmZYVjdNZEdSblo0T3lVZmZ2MmFjYVBnNEtDbkY0MXNLcXFxczU5Ky9mdjE4d2ZUMGhJc00wUVNVOVB4MnV2dmViVUEwdU9ibTZ1VzdldTNxY3duWG1hOWNDQkExaTVjaVd5czdQdDlqMzQ0SU5ZdUhBaFRwOCs3ZkRZNnVVR1VsSlNiSDkzcGFXbFNFcEt3dnZ2djQvZi92YTNHRFpzV0lNMUVMa0R0d254cmwyN05uaXpzcmk0dU43WHJOV2VLcGlUazJQM05HYTFqaDA3SWpvNld2TUVKZ0FNR0REQXFYb3JLeXVSbVptcGFhczVMbnpycmJmaTg4OC94NzU5KzdCMzcxN2NmLy85dG4zKy92NU9QM0ZhY3o1N3RacFBlRGFHMld6R3JsMjdrSjZlYnB2T1daTmVyOGZDaFFzeGNlTEVCcy8xd0FNUG9IdjM3bGkwYUpGbXJaaTh2RHpNblRzWGtaR1JtRFJwRXNhT0hjdlpLdVRXM0NiRW5YSGt5QkhNblR2WDZmNzFyUlI0ODgwMzQ2V1hYcks3QWVqb0NuTC8vdjM0KzkvL2JwdVdaekFZa0p1YmF6ZXJwZlpiM1gxOWZURnExQ2k3RlFSNzl1elpZTzArUGo0SUN3dHorcmNUWnh3K2ZCZ3Z2UENDdzVrcm9hR2hXTHAwS1FZT0hPajArVzY3N1RaczJMQUJ6ejMzbk4xL3JubDVlWGo1NVpmUnAwOGZ4TWJHWG5mdFJLcGlpTGVnN094c3pWUTZnOEhnOExlQnlNaEl1N2NOT2RLM2IxK252cmZtbUh1UEhqM1FzMmRQM0hUVFRlalpzeWZDd3NJUUZoYldJamMwalVZakhudnNNYzNUbVVJSVRKMDZGWFBtekduU1FsdTlldlhDeG8wYnNXclZLcnovL3Z1YWZYUG16R0dBazl0amlMZWdVYU5HNGE5Ly9TdWVmLzU1VkZSVVlQVG8wUTdId3p0MTZvU1FrQkRrNStmWGVhNzQrSGluWjg5MDZOQUJtelp0UW1ob2FKT0MwOUU2SnpYOTRROS9xUFBtOEt4WnMvRFZWMS9oNk5HanVPMjIyekIzN2x6TmpkNm04UFQweElJRkMvRHJYLzhhcWFtcE9IandJSXhHSXg1NjZLSHJPaTlSZThBUXJ5RXVMZzRmZlBCQnM1eXJPanhIalJxRnQ5NTZDL1Buejhlc1diUHE3Tis3ZDIvazUrZmJubFQwOXZhR3I2OHZnb0tDa0pDUWdFbVRKalhxKzY4bk9EdDA2RkR2TUV0OXMwTU1CZ05lZXVrbEZCWVc0dWFiYjI1eURZN0V4c1ppL2ZyMTJMbHpKMkppWWpoTGhRaEFtM3VDSXFLUE1RRkNwdC9Rc1dQUW1sVXJNZlJYZ3hzK1NBRmxaV1gxQnFQWmJJWVF3bTZaV21vOTMrMzdBYzhzV0l3THYveFNCSW43VHh6TC9NTFZOVkhiTUdEQWdLRUdnK0ZES2FXM0VHTHFnUU1IZGpSOFZPdmdsWGdyYWVnR1lrUEx5aElST2NMZlI0bUlGTVlRSnlKU0dFT2NpRWhoREhFaUlvVXh4SW1JRk1ZUUp5SlNHRU9jaUVoaERIRWlJb1V4eEltSUZNWVFKeUpTR0VPY2lFaGhESEVpSW9VeHhJbUlGTVlRSnlKU0dFT2NpRWhoREhFaUlvVXh4SW1JRk1ZUUp5SlNHRU9jaUVoaERIRWlJb1V4eEltSUZOWm1YN0Z1TVZ1UWZUVEgxV1dRRzhrK21nT1R5ZVRxTW9nYXBjMkdlSGxGQlZhdFhnc1BEdzlYbDBKdXdtUXlvYVMwMU5WbEVEVkttd3Z4S21rOTR5bkVHYXVVM2tVbEphNHVSeW5TS2lHcVB3TVFPbEZmZDZxTGxPZXFwRHpqNmpLSW5OSG1RcndnSnlzM0xETDJJWjNCSTlEVnRhakcyMFAyOGpMb1p1aUU4Q2czV2Q2dU5JdmpycTVKUlJZaEx4WWN5OHAxZFIxRXptaHpJUTdBZWpMdlNEYUFiRmNYb3BxNHVEZ3BoSWlTVW5yN2VPanpjZzVuZk9ucW1vaW9aWEYyQ2hHUndoamlSRVFLWTRnVEVTbU1JVTVFcERDR09CR1J3aGppUkVRS1k0Z1RFU21NSVU1RXBEQ0dPQkdSd2hqaVJFUUtZNGdURVNtTUlVNUVwRENHT0JHUndoamlSRVFLWTRnVEVTbU1JVTVFcERDR09CR1J3aGppUkVRS1k0Z1RFU21NSVU0TzllL2Z2MDkwZEhTd3Erc2dvdnExeFJjbFUrdnppSTJON1dnd0dMcnFkTHBaQUtZQjhOUHI5ZmNES0hCeGJVUlVENGE0R3pNYWpSRkNpTUZTeXR0ME90MVFLV1djRU1JTEFLU1VSYTZ1ajRnYXhoQjNNOEhCd1Q2QmdZSDNDQ0VtQ0NHTVVzcEFJWVEvcmcydFNTbGRYQ0VSTlFaRHZKMkxpWW54Tkp2Tk4zVG8wT0VtblU3M2lCQmlHb0FiQUcxZ1YzOFdRcUQyUGlKcXV4amk3WlRGWW9rMEdvMUdJVVEvTHkrdndVSUlZL1UrUndGZEhkNDFHQUFZalVhalhWOGlOeFFqcGZSMGRSR09NTVRiRVl2RjRxL1g2enNBOE5Ycjlja0FBbXFNY1RzOHhrRjRWL01SUXJ3Z2hLaHFrV0tKMU9JQndGOUtXZXJxUW1wamlMY2pPcDFPQ0NHRWxGSUE4QlpDWE04VVVnSEFVMHJKYWFoRVY1VUtJYzZaemVaOFZ4ZFNFME84SFJGQ0ZBRW9BMkMxV0N5LzErbDBma0tJZmdDR0NDRUdWdmVyYnl5OGhpdFN5aGNBWkxaMDNVU3FzRmdzRjdPeXNySmRYVWRORFBGMlNxL1g1MlZrWkh3WkhCenNFeEFRME5YTHl5dEtTdmsvT3AxdW9oQ2lJOUJnbUpzQlpHWm1abjdSeXFVVFVTTXd4TnU1Z29LQ3NvS0NncE1BVGdMWU5XREFnTGs2blc2OFRxZWJDR0FJZ0FCY0hmOFdVa3JPU2lGU0RFUGN6V1JsYlVLNTlnQUFBeTVKUkVGVVpWMEJrQVlneldnMFJnQVlvdFBwaGdHNEZZQ3hvUnVoUk5TMk1NVGRXR1ptNWdrQUp5SWpJei94OWZYdEtvUUlCdkFRZ0hzQWRIRnRkVVRrRElZNElTOHZyeExBNld0LzlnUDQ3Y0NCQTJPbGxNV3VyWXlJR3NJUUo0Y09Iang0eE5VMUVGSERPQWVZaUVoaERIRWlJb1V4eEltSUZNWVFKeUpTR0VPY2lFaGhESEVpSW9VeHhJbUlGTVlRSnlKU0dFT2NpRWhoREhFaUlvVXh4SW1JRk1ZUUp5SlNHQmZBVWxSMGRIU3dqNDlQNzVwdFVrcWpFTUpEQ0tHM1dxM0d1TGc0elRFV2krVjRWbFpXbTNvL0lCRmRINGE0b2p3OFBQeUZFSnRxdGdraFBBQUVTQ21GVHFkN0FZQ3AxbUYzQW1DSUU3VWpkbS9ISlhYRXhjV2RFMElFU2lrZHZlZ1l3TlUzOUFnaElLVThrWkdSMGJPVlN5U2lGc1l4Y2JXOTA0aStuN1JZRlVUa01neHhoVm10MXZla2xKV0E0M2RpVnJkZDY3UEpyZ01SS1k4aHJqQ3oyWHdHUUZaZFF5a0Fxb2Rac2l3V3k2bldxb3VJV2c5RFhHRkhqaHdwRlVKOEk2VzBBdHFyOFJwWDRWSUk4VTFaV2RrRjExUkpSQzJKSWE0MkU0RHZoQkNsZFhVUVFwUUQrTzdheTVDSnFKMWhpQ3V1cXFycUJ5bmwrZXB0S1dYdDhmSGlxcXFxSDFxL01pSnFEUXh4eFIwK2ZQaTRsRExEMGJqNHRiYnZEeDgrZkx6VkN5T2lWc0VRYng4K3JtdUgyV3orc0RVTElhTFd4UkJ2QjZ4VzY4Y0F5bXRlalYvN1hHNDJtN2U2cWk0aWFua004WFlnS3l2cmlwVHkzZHJ0VnF0MVUzWjI5bVZYMUVSRXJZTWgzazVJS2ROcXR3a2gvdW1LV29pbzlUREUyd205WHA4RDRKQVFvbm9vNVJDQWJOZFdSVVF0alNIZVRoUVhGNWRLS2IrdjNwWlNmbi91M0RrKzRFUFV6akhFMjRtOHZMeEtLZVdSYSt1a21LU1VSd29LQ3NwY1hSY1J0U3l1Sjk2TzZIUzZQUURPU3ltOXJWYnJMbGZYUTBRdGoxZmk3VWhoWWVFUktlVnhBQ2RMU2tyeVhGMFBFYlU4WG9tM0l5ZE9uS2pvMUtuVFppR0U5NGtUSnlwY1hROFJ0VHlHZUR0anNWZytNSnZOL0EyTGlJaUlpSWlJaUlpSWlJaUlpSWlJaUlpSWlJaUlpSWlJaUlpSWlJaUlpSWlJaUlpSWlJaUlpSWlJaUlpSWlJaUlpSWlJaUlpSWlJaUlpSWlJaUlpSWlJaUlpSWlJaUlpSWlJaUlpSWlJaUlpSWlJaUlpSWlJaUlpSWlJaUlpSWphbi84SHUya3o3ZXMvS2FVQUFBQUFTVVZPUks1Q1lJST0iLAoJIlRoZW1lIiA6ICIiLAoJIlR5cGUiIDogImZsb3ciLAoJIlZlcnNpb24iIDogIjciCn0K"/>
    </extobj>
    <extobj name="ECB019B1-382A-4266-B25C-5B523AA43C14-5">
      <extobjdata type="ECB019B1-382A-4266-B25C-5B523AA43C14" data="ewoJIkZpbGVJZCIgOiAiMjg1ODI2NjU5OTQyIiwKCSJHcm91cElkIiA6ICI5MTA0MDc2NTkiLAoJIkltYWdlIiA6ICJpVkJPUncwS0dnb0FBQUFOU1VoRVVnQUFCQ01BQUFPMENBWUFBQUNmaS95OUFBQUFBWE5TUjBJQXJzNGM2UUFBSUFCSlJFRlVlSnpzM1hsOFZkVzkvLy8zMnVka0lBTWhRQWdpUTRBd2hVeUFnSXdpU2gwWjZsQmJPMWxiMjk1NnE3YlgyL2IydHJYOWZkdmIya2Z2N1ZYYmUxdTFEdGc2RmdkVVJJWXlpc3lFQkJJQ1NRZ2hBUUlJaE13NTUrejErd055YnBBeEVNNUp3dXY1ZU9TUnMvZmFaKy9QWHVJZis1MjkxcEl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NREZNT0V1b0xOS0hwelpLOUt4d3owZWp4UHVXbkR4ck45VzdWRnR2b3FLR3NOZEN3QUFBQUIwRnQ1d0Y5QVo5VTRkbGRURmEvOW9qYjFCQkQ0ZG11T1ZyNytOL1g2WjlOZHcxd0lBQUFBQW5RVmh4R1VRN2ZoN1dPTkpOVEtKY1hGeGlvNktDbmRKdUFqSHFxcms5L3RsakIwbXlTTXBFTzZhQUFBQUFLQXpJSXk0ekw3NnhjOXIrblZUd2wwR0xzSy8vZXovMDg2aTRuQ1hBUUFBQUFDZERtSEVaVGFnZnorTnlzNE1keG00Q0xHeHNlRXVBUUFBQUFBNkpTWlhCQUFBQUFBQUlVVVlBUUFBQUFBQVFvb3dBZ0FBQUFBQWhCUmhCQUFBQUFBQUNDbkNDQUFBQUFBQUVGS0VFUUFBQUFBQUlLUUlJd0FBQUFBQVFFZ1JSZ0FBQUFBQWdKQWlqQUFBQUFBQUFDRkZHQUVBQUFBQUFFS0tNQUlBQUFBQUFJUVVZUVFBQUFBQUFBZ3B3Z2dBQUFBQUFCQlNoQkVBQUFBQUFDQ2tDQ091SUpXVmxhcXJxN3RzNTI5cWFycHM1d1lBQUFBQWRCNkVFVmNJdjkrdldiTm1hY3FVS1ZxN2R1MVpqL25TbDc2a01XUEdhTXlZTVZxd1lNRUZuMy9Ka2lYNjdHYy9xOS84NWpldHJtM0JnZ1dhUG4yNlpzNmNxVzNidHJYNit3QUFBQUNBam9VdzRncFJXbG9xdjk4dlNSbzVjdVFaai9udGIzK3Jnb0tDNFBienp6OS9RVzlTckZxMVNqLzg0UTkxNE1BQnZmSEdHL3JiMy83V3F0cGVlT0VGVlZWVmFkKytmWHJ0dGRkYTlWMEFBQUFBUU1kREdIRUYrTmQvL1ZjOTlOQkRraVJqakw3NjFhL3FqanZ1MEIxMzNLSHE2bW9GQWdIOTlyZS8xYng1OHlSSlgvM3FWeFViRzZ1U2toSTk5TkJENXcwa3BreVpvb2NmZmppNC9lU1RUMnJIamgwWFhOL0VpUk9EbjYrOTl0clczQm9BQUFBQW9BTWlqTGdDN04rL1g1V1ZsWklrYTYzMjdOa1QvQ2t2TDllRER6NFlmQ1BoVzkvNmxoNTY2Q0g5NTMvK3A3eGVyN1pzMmFKdmZPTWJxcWlvT09jMXZ2S1ZyK2plZSsrVmRHSzR4NjkvL1d0WmF5K292a2NlZVVRdnYveXkzbjc3YmQxMjIyMlhjS2NBQUFBQWdJN0FFKzRDT3FOdVBaSjd5bkh1TWxMdkdUZGNyN1FSdzhKYVQxSlNrclp0MjZiang0OXJ6cHc1dXVlZWV6UnQyalRGeHNicTk3Ly92ZmJ1M1JzOGR2djI3WHJ1dWVlMGNPRkMrWHcrU2RJbm4zeWlkOTk5VjlIUjBSb3hZb1FjNTh3WjFqWFhYS01WSzFib3lKRWpPbmp3b0pLVGt6VjgrUEFMcXJGbno1NUtTRWk0OUp0dFE2L1BlMXNIS2l0bHBaVlZoeXVYUzdxd2RBVUFBQUFBY0U2OEdYRUZtRHg1c280ZE95Wkp1dnZ1dXpWcjFpek5talZMYytiTUNjNGowYXlob1NINDAvTE5ocHFhR3ExWXNlS2MxNG1NakF5K0hTRkpmL3JUbjlUWTJIamUrbjd5azU4RUo4MWt6Z2dBQUFBQTZQeTg0UzRBbDkrZVBYdFVVMU9qcUtnb3ZmUE9PL3JpRjcrbzY2NjdUdi8xWC8rbDczLy8rNHFQajllRUNSUE9PS3pDNC9GbzI3WnRldSs5OS9TakgvMUlYdSs1LzhsODhNRUh3YytIRGgzUzY2Ky9yaTkvK2N0dGZrOEFBQUFBZ0k2TE1PSUtzSG56WmtsU1JrYUdQSjVUUithc1dyVktXN2R1UFdWZlRFeU1GaTllSE56Kzg1Ly9MT25FV3hQbnNudjNibTNZc09HVWZjODk5NXptekptaitQajRpNjRmQUFBQUFOQzVNRXpqQ3BDYm15dEp5c3JLQ3I3OVlLMlY2N3FuRGNsb2FHaFFYVjJkL3Z6blAydk1tREhLejg5WFFVR0JDZ29Lemp2a1l1N2N1Y0hQelc5UUhEOStYTTgrKyt6bHVDMEFBQUFBUUFkRkdIRUZxSzJ0bFNUOTVTOS8wYXV2dmlwSldybHlwYjczdmU4RmovbmpILytvaFFzWFh2UTFjbkp5TkgvK2ZFbFNYRnljZnZPYjN3VGJYbnZ0dFZNbXlRUUFBQUFBWE5rSUl5QkordmEzdjYwWk0yWmMxSGQ5UHA5KytjdGZCcmZ2dWVjZVhYLzk5Wm93WVVLdy9hYy8vZWxwazJVQ0FBQUFBSzVNaEJGWGdBY2ZmRkRQUHZ1c25uMzJXZDE0NDQyU3BGR2pSdW5oaHg4T0hwT1ltS2lrcEtTTE92OFRUenloM2J0M1M1TGk0K1AxeFM5K1VaTDAwRU1QQlpjQnpjdkwwOU5QUDMwcHR3RUFBQUFBNkNRSUk2NEFLU2twR2pWcWxOTFQwNVdRa0NEcHhKd1JWVlZWd1dOKzlyT2ZYVlJZOE5lLy9sV3Z2UEpLY1B2UlJ4OE5YbVBvMEtHbnJLVHhsNy84NVpUVk5nQUFBQUFBVnlaVzA3Z0MvUE0vLzdNMmJkcWtwcWFtNEw2Y25CdzkvdmpqaW9tSmtTUjk5N3ZmYmZWNVAvendRLzMrOTc4UGJrK2FORW0zMzM3N0tjZDg2MXZmMHJKbHkxUldWaVpKK3ZuUGY2NzQrSGhObmp6NVltNEZBQUFBQU5BSjhHYkVGYUNtcHVhVUlPSk1ldmZ1clg3OStnVzN1M1hycGdFREJpZ3FLdXFNeDgrZE8xZi8vdS8vSHR5KzZxcXI5TmhqajUxMlhGUlVsUDdqUC81RGtaR1JraVMvMzY5LytaZC9DVTUyQ1FBQUFBQzQ4aEJHWEFHeXNySTBhOVlzZmVNYjM5RG8wYU1sU2VQR2pkTXp6endUUE9hWHYveWxYbnJwcGVEMlBmZmNvemZmZkZNREJ3NDg1VncrbjA4Ly8vblA5Y1FUVHdTWEE0MkxpOU5UVHoybEhqMTZuUEg2STBhTTBBOS8rTVBndHQvdjF5OSs4UXY5L2U5L2I3TjdCQUFBQUFCMEhBelR1QUswWE1MemQ3LzduVFp2M3F3dVhib29QajQrdUwrMnRqYTQvS1l4UnZ2Mzc5ZTJiZHRVVTFNVFBNYnI5U29RQ0FTSFhFaFNiR3lzL3Z1Ly8vdTAwT0xUNXN5Wm84TENRcjMrK3V1U3BOVFVWTjEwMDAyU1RnUWhMVmZqQUFBQUFBQjBib1FSa0NTOS8vNzdXclJva1NTcFo4K2VxcTJ0MVk5KzlLTmdlMVJVbEpLU2toUVZGYVVubjN4U1gvdmExM1Q4K0hFOStlU1RHalpzMkFWZDR3Yy8rSUZxYW1xMFljTUdQZlhVVTZlRUlRQUFBQUNBS3dkaHhCVXVNakpTRVJFUnlzaklVSGw1dVdKaVluVGZmZmVwWDc5KzhucTk4dnY5aW8yTjFiZS8vZTNnL0JGeGNYRjY4c2tuSloyWUsrSkNHV1AwMkdPUGFmLysvZXJWcTlkbHVSOEFBQUFBUVB0SEdIR0ZlZlRSUi9Yb280OEd0Ly8wcHo4RlA5OTc3NzJuSEx0dTNicXpucWMxSVVSTFhxLzNsSWt5QVFBQUFBQlhIaWF3QkFBQUFBQUFJVVVZQVFBQUFBQUFRb293QWdBQUFBQUFoQlJoQkFBQUFBQUFDQ25DQ0FBQUFBQUFFRktFRVFBQUFBQUFJS1FJSXdBQUFBQUFRRWdSUmdBQUFBQUFnSkFpakFBQUFBQUFBQ0ZGR0FFQUFBQUFBRUtLTUFJQUFBQUFBSVFVWVFRQUFBQUFBQWdwd2dnQUFBQUFBQkJTaEJFQUFBQUFBQ0Nrdk9FdW9MUDcwN1BQYTk3Yjg4TmRCaTdDcnFMaWNKY0FBQUFBQUowU1ljUmxFSEN0eitPeGpkYktsdXd1TlNXN1M4TmRVcHV5MXNveFJwS1ZsU1NaOEJaMEdWbHJyV1RxcFpPM0NnQUFBQUM0WklRUmw4RmVOWlFQc0YyZU5IS3VzWjN3U2Qzak1kMWp2V2FLTmNiVDRIUFgrRndkQ0hkTmw0K3B0Mzc3amlRMzNKVUFBQUFBUUdmUjZSNlVjZmxsWm1hTzkzcTliMXRybzQweG45KzhlZk9INGE0SkFBQUFBTkJ4TUlFbEFBQUFBQUFJS2NJSUFBQUFBQUFRVW9RUkFBQUFBQUFncEFnakFBQUFBQUJBU0JGR0FBQUFBQUNBa0NLTUFBQUFBQUFBSVVVWUFRQUFBQUFBUW9vd0FnQUFBQUFBaEJSaEJBQUFBQUFBQ0NuQ0NBQUFBQUFBRUZLRUVRQUFBQUFBSUtRSUl3QUFBQUFBUUVnUlJnQUFBQUFBZ0pBaWpBQUFBQUFBQUNGRkdBRUFBQUFBQUVLS01BSUFBQUFBQUlRVVlRUUFBQUFBQUFncHdnZ0FBQUFBQUJCU0p0d0ZvSDFMVDArL0pqSXk4dm1XKzZ5MVhTVDExNGt3YTY4eHBxWmx1OS92ZnlBM04zZHRDTXNFQUFBQUFIUWczbkFYZ1BidDJMRmoyNU9Ta3JvYlkvbzA3elBtbEF3cnBlV0d0ZmJBNGNPSGMwTlZId0FBQUFDZzQyR1lCczZwdkx5OFh0S3prbVN0UGVlUEpCbGpYdHEzYjE5ZE9Hc0dBQUFBQUxSdmhCRTRMOWQxMzVaVTM3eHRqRG5scDNtZnRiYlJXdnRldU9vRUFBQUFBSFFNaEJFNHIvcjYrcjNXMnUyZkdwNXhHbVBNemtBZ1VCS2lzZ0FBQUFBQUhSUmhCTTdMNi9VZXQ5WXVPMXQ3aTVBaTk4aVJJNStFcGlvQUFBQUFRRWRGR0lIenlzL1BiN0xXYnJMVzFrb0t6Zy9SL1Bua1Q2UHJ1aHRPempFQkFBQUFBTUJaRVViZ2dyaXV1OEVZVTNtT1E0NVphNWVFckNBQUFBQUFRSWRGR0lFTGtwZVhWK0s2Ym1IemtJeFByYUFoYTIzUjFxMWJ0NGV6UmdBQUFBQkF4MEFZZ1F0bXJYM3hiRzNHbUtkRFdRc0FBQUFBb09NaWpNQUY4L2w4NzF0clQ1bWc4dVJiRVVmcTZ1cmVDbGRkQUFBQUFJQ09oVEFDRnl3L1A3OUcwanVmWHVMVEdQTkJZV0ZoZFhpcUFnQUFBQUIwTklRUmFCVnI3VHhKL2hhN0FxN3J2aEd1ZWdBQUFBQUFIUTloQkZyRjcvZHZrbFJrakdrZW9sRWVDQVR5d2wwWEFBQUFBS0RqSUl4QXF4dzdkdXk0NjdvcjdVbkdtQzMxOWZXSHcxMFhBQUFBQUtEaklJeEFxNVNYbDljYlkxWWJZeG9sK2F5MTY0cUtpbzZIdXk0QUFBQUFRTWRCR0lGVzgvdjlPWklPR1dPcXJiV3J3bDBQQUFBQUFBQzRBb3dlUGZvZm8wZVAzaFR1T2dBQUFBQUFIWThuM0FXZ1kwcEtTa3J3KzkwRFR0ZjR2Sm9qUityQ1hROEFBQUFBb09NdzRTNEFIWXJUWjJqRzBFZzV0MWduTU4yUjUyb3JIWkxNcG9BSkxOenJxMStub3FMR2NCY0pBQUFBQUdqZkNDTndYa2xKYVhGZEVwM1BPaDdQQTBZYUpaa29hNjNYR0dNa3lWb0ZaTlJvcmQxblhiM2tEd1NlMzFlOGJXKzQ2d1lBQUFBQXRFK0VFVGhOY25KbXJLZWIra2JLRHBmeDNHRmtiNVl4dlNUSjQvR29SL2Z1Nm5OVmJ3MGFtS0w5QnlwVnZtK2ZEaDQ4cU1iR0prbVN0YmJCR0xNNllPMGJUc0MzdnNuNHkvZnQzTW55bndBQUFBQUFTWVFSK0Q5Ty85U1J3NDNqbVNhUG1XQmtSaHNwVlZLa0pDVWtkTlhvN0N4ZE16cGJXUm5wR2o1c2lMb25KcXFoc1ZHN2lvcTFiWHVCTnVkczFmcU5tN1czdkVLU1pLMTFqYlRQbFhKa3RjNEUzRldsL3VwMUtpMXRDT2VOQWdBQUFBRENpekRpQ3RjdEpidGIxMGc3MDNGMHZ6RWFZYTNwYW95Nk5MZW5EUitxT3o4N1c5T3ZtNkxFeEc2S2pZbVJ4M1A2dktmV1d0VTNOS2k2dWxwYnR1WnAzdHZ2YXZuS1ZRb0UzT1pEZkZhMjJrcjc1YnF2TnJoNnVYSlhYa21JYmhNQUFBQUEwSTRRUmx4aCt2VHBFeFBadFZjdjZ5ck5PUFl1U2JPTk1kMmxFME13RWhLNktqa3BTWk1uVGRDYzIyL1ZpT0ZETC9wYWh3NGYxdnNMRjJ2aG9xVXEyN3RYUjQ5VnFiSHh4UHlXMXRwR1NTdXR0YS81clAwb3NzbHpvTFEwcDBxU2JZUGJCQUFBQUFDMFk0UVJWd2JUZDNoR3VzYzE0MldjOGNiUlJDTU5rUlFoU2QyN0p5bzdJMTNaV1JuS092azdQaTZ1elM3dTgvbFZVRmlvbk54dHlzbk4wNWFjWE8wdHI1RHJ1ckxXdXBMMkcybXRhKzA2MTdYclBMN3E5YVVNNVFBQUFBQ0FUb3N3b2hQcjIzZGtkMitzOTNNeTVpc241bit3WFdWTVZIUDdtRkZaK3Z6ZGQyajgyR3ZVclZ1Q1lycDBrZU00bDYwZWE2MGFHeHRWWFYyandwMUZldVB0ZDdSazZYTFZOd1J6QjcrVnJaYlZRY204NlcvUzgrVWxPVVhpYlFrQUFBQUE2RlFJSXpxUnBMUzB1SmlBTjBtdUdXVzh1a2RXTnhsakVpUXBJaUpDM2JvbHFGZlBucnBweG5UTnV1MFc5ZS9YTjl3bDYzaDFqUll0K1lmZWVXK0JTdmVVNmNqUlk2cXZyMjl1OXJtdVhTZkhmZFg2M0dXQitrQmxSY1dPbzVMY2M1d1NBQUFBQU5ET0VVWjBmSjZVSWRrWjFyZ1RqZU9NbCt4NFk4eGdTVjRqcVhmdlpHVm1wR3QwZHFheU05T1ZNVEpOMGRIUjRhNzVOSzdycXFpNFJEbTUyN1E1WjZ0eWNyZXBaSGVwL0g2L3JMVldVcVdrRGRiYWRaSlpVM2ZFdCtIUW9meWFjTmNOQUFBQUFHZzl3b2dPS25udzRGNVJFVEZ6SEhudU5VWURyVlZTOHlvWUhvOUgxNDRicTVtMzNhUXgyVm5xMmFPSDR1UGpMdXNRakxaaXJWVjlmWU9PSEQycW5VWEYrbURSRWkxWnVreFZ4NnViRC9GYjJjT3lwdEphTzk4Ry9LK1dGVzB2RUVNNUFBQUFBS0RESUl6b0lQcjA2UlBqaSt6V05TYkNHZU40UEYrejBzM0dtRmhKOG5xOWlvdU5WYTllUFRYcjFsdDB4NXlaNnAzY0s5d2x0NW42K25wOXVPUWZtdmYydXlyY3VVdlZOYlV0VitWd0pXMlE5SnkxZG5GMW9PNlRJMFZGMVNLY0FBQUFBSUIyaXpDaWZYTUdEaDJaWVczRUtPdTFrNDNWRk1rTU5rWWV4M0hVTzdtWFJvNFlyc3lNa2JwMjNEWEt5a2lYMStzTmQ4MlhWZkh1VXExZHYwRmJjdkswYlh1K1NzdksxTlRrYXg3S2NVaFdhMXpaRmRhMW01dU9tMDJWbGJtMTRhNFpBQUFBQUhBcXdvaDJxTit3WVgwOGlwNGxhYlp4ekdBclhXMmtHRW1LaW9yUzVBbmpOZU9HNjVXZU5rSlhYWldzYmdrSk11YksrazlaVjErdkF3Y3FWYnk3Vk10WHJ0YmlmeXpYNGNPZk5EZjdaRzJsSysweDBsSy9EY3dyTDl5V0o5NldBQUFBQUlCMjRjcDZnbTIzeGtRa0RsSk1iSVJ2Z3NlWUI0eDBxekVtV3BJOGpxT0l5RWhkM2FlMzdybnJEczJaZWF0Njl1Z1I3b0xibllhR0JxMVl2VVovZS9VTmJjN0pWVk5Uay94K3Z5VEpXbXV0ekNhcndOTjE5ZjczRGtmNGpxaW9xRW1FRXdBQUFBQVFGb1FSNFJNeFlFUm1odlhiYXh5UFo2SmtyNVBVM3hqamVEd2U5ZXQ3dFVZTUg2YlIyWmthTjJhMFJxWU43eEFUVUxZSEZmdjJhOTJHamRxd2FZdTJGeFNxdUxoRTlRME56VU01amhwcFRjQ2FWVVoyZzJrMFcwcExjNDZGdTJZQUFBQUF1SklRUm9SWW44SHAvU0k5bnJ0a2RMc2NNMERXWHQzOEZrUjhmTHltVHJwV243bHh1b1lOSGFMZXliMFVIeGQzeFEzQmFDdU5qVTJxUEhoUVpYdkx0V3pGS2kxZHRrSmw1UlhOelg1clZTbGp5NjNzU3ZuMDZwNmkzQzNpYlFrQUFBQUF1T3g0eXIzYzB0SWkrOWQ0WWhWakpqdFdEeHJIM0NBWnIzUmlDYzdJeUVnTlRCbWdyMzd4SHQwMDR3WjFqWThQZDhXZGxzL24wNGJOT1pyN3QxZjA4ZG9OYW1oc2xNL25DN1piVndYV0Nmd3hFSERlOWpaVmZWSmFXdG9vd2drQUFBQUFhSE9FRVpkRFdscGtpaTh5elRvYUtjZE9OMWJUZFhJSWh0ZnJWYisrVnl0MTBFQ055czdVdENtVE5IelkwSEJYZk1XcFBIaElLMWV2MGJyMUc3V3pxRmdsdTB0VlYxOHZTYkt5UjJXMTJwVVd5OVdXUUcxalFVWEZqay9PYzBvQUFBQUF3QVVpakdoRHZWT0dwMFJGUjl4dTVIeEcwaERKRERCR1hTU3BlMkkzVFprMFVWTW5UOVN3SWFucTM2K3Y0dUppdzF3eGZENmZ5aXYycTZSMHQ5YXUzNmlseTFkcHo1NHluWmhlUW43SjdyZldGRnRqVi90OTl2MktvdHkxNGE0WkFBQUFBRG82d29oTGxab2ExZDhiTzhOanpNUFcydW5HbUZObW1jektHS243dm5TdmJwdytUYkd4TWVHcUVoZkk3L2RyeTlaY3pmM2JhMXEwZE5rcHd6Z2t5VnBiNGxyN1JNQTAvYTFpQjI5TEFBQUFBTURGSUl4b3JaU1U2UDdlaE1IeTJCR096STNHMGEzV3FxOHh4a1JFUktoUDc5NGFNS0NmSm93ZnErblRwbXJJNEVIaHJoZ1g2ZERoVDdUeW96VmF1ZW9qN1NvcTBkNktDdFhXMXAxb3REcHVyZjJIakJiNlhXMVJuYitvdkh6N2tmQldEQUFBQUFBZEEySEVCZXFkTWp3bEtqTDZWdVBZS1RMS2tEV0RKQnR0akRISnZaSjA3YmhyTlBIYThSbzJKRlZEaHd4V2RIUjB1RXRHR3drRUFpcmRVNlpkeFNYYXNHbUxQdnA0bllwTGRpc1FDRWlTMzBvVmtyYTdBWGU5YTdXd2ZGZnV1akNYREFBQUFBRHRHbUhFT2FTa3BFUUhJaE5tZXh3OVlveTV0bVdiNHpnYVAzYU12bkhmbHpScHdyV0tqSXdNVjVrSU1kZDFWYmlyU0hQLytxcmVXN2hJdGJXMXA3UmIyUVBXbXFjYS9UWFBIQ2dxT2hTbU1nRUFBQUNnM1NLTWFDRXBLUzB1cXJzenlHTk11cEhuSmtrempORlZraFFaR2FsK2ZhL1d3QUg5TlhYeVJGMC9kYkw2OUxsS3h0Q0ZWN0txNDhmMThkcjFXckpzaFhZVmxXaFAyVjRkcjY2V0pGblpXbG10ZHExZDRBUzB2dDZxcExJNDkyQ1lTd1lBQUFDQXNPTkpXdEpWUTlKSFJEak9ESTh4VTYweGFjYmFRVElteWhpai9uMnYxb1JyeDJuY05hTTFiT2dRRFI2WXdsc1FPSTIxVnVVVkZkcTVxMWhiY3JmcG96VWZLNytnVUQ2L1g5WXFZSXpkSjZzZHJuWFh1bzZXN0MzSSswaFNJTngxQXdBQUFFQTRYTEZoUkhKeVpteVhycG9sajc1cmpNbVFUSlMxMW11TU1aRVJFWm82ZWFJK2YvY2R1bWJNS0VWSFJ5dkM2K1V0Q0p5WHRWYUJnS3NtWDVOS1NrbzE3NTEzOWU2Q2hUcHk1T2pKZGdWazFHaXNEbHZYL1ZPTmFYenhjR0hodmpDWERRQUFBQUFoZGNVOFhTY2xwY1hGSm5yNld1dWtHWStaYmFSYlpkUlRrcUtqb3BTYzNFc0QrdmZYRGRkUDBVMDNUbGRTejU2RUQyZ1R0WFYxK21qTldpMWN0RlQ1aFR0MW9MSlN4NCtmSE1waGJZT1JWdG1BL202dE52aTlqV1VWTzNZY2tXVERXelVBQUFBQVhENmQvbW03MytETWRNZWpxVExtV3VPWU1jYmF3VElteW5FYzllL1hWOWVPdTBhanN6T1ZObnlZaGc1SmxkZnJEWGZKNk1USzlwWXJmMGVodG0wdjBKcTE2MVd3bzFDTlRVMnkxcnBHMm1kbE5sdHJONWlBdTZxMEtIS050TWtYN3BvQkFBQUFvSzExeWpDaWUvZlVybkU5WStZNGpyblBTQ090VEh6ek1wd3hYYnJvaHV1bmFzN00yelV5YmJqaTQrTVVIUlYxeWxzUUN4WXMwTzkrOXp2RnhzYnExNy8rdGRMVDA4TjRONWVmMysvWCtQSGpMK3E3VHozMWxDWk9uQmpjdnRMNjdtTDUvSDdWVk5lb1l2OSt2YmZnUTgxLzd3TWRPSGhRMWxwcmpQRmIyV3BydFYvV2ZiWEo4YiswdjZCZ1Q3aHJCZ0FBQUlDMjBpbGVBMGhPVG81MVlycjNqUFJHcFJ1UHZVdFdjNHhqdWtsU2RIUzB1aWQyMDREKy9UVHoxcHQxNC9ScDZ0RTk4WnhETUY1NDRRVlZWVldwcXFwS3I3MzJXcnQ0b0M0b0tOQ0xMNzZvVFpzMjZmang0K3JaczZlbVQ1K3VCeDU0UUYyN2RqM3QrTHE2T2ozLy9QTmFzbVNKOXUvZnI1aVlHSTBhTlVvUFBQQ0FoZzhmZnRucWJJOTkxMno3OXUzNjlhOS9yWUtDQXFXbnArdkZGMTg4NDNHdDdidUw2ZXNJcjFlSmlkMlVtTmhONldrajlQQS9mMXZyTm16U1cvUGZNM2w1K1JGSGpoN3Rmcnk2dXJ1TTUvOUZXK2V4QWNPemw4dmFWM3l5SDBVMk9wV2xwVGxWWWlnSEFBQUFnQTZxSTRjUnBuL3FxQkhHQ1V5VWNjWTd4bzZYc2NNbEUrSHhlalJ3UUg5bFpXVm9kRmFXc3JQU05TUjFzTHdlendXZGVPTEVpU291THBZa1hYdnR0WmZ6SGk3SWh4OStxSi85N0dmeSsvM0JmUWNPSE5ETEw3K3NWYXRXNmJubm5sUDM3dDJEYlZWVlZmckdONzZoa3BLU1UvWXRYNzVjcTFldjFoLys4QWVOSFR2MmpOZTYrdXFyZGRkZGQ1MnpuczJiTjJ2VnFsVm5iR3R2ZldldDFjYU5HL1hXVzI5cDBhSkZzdmJjeisrdDdidEw2ZXVXdWtSSGE5cVVTYnB1OGtUdFAxQ3BuSzE1MnJJMVYxdTI1cWxnUjZHM3ZxSGhSaXROanpLbVF0RjIvWUJoMmV1c3RLYXNzR2FqVk5SNEVWMERBQUFBQUdIVDRZWnBkTytlMmpXK1o4em5qS1A3alp6QmtrMndVcVF4eGlSMjY2WVpOMHpUSGJObWF2Q2dGTVhGeFNvcUt1cWlybE5ZV0tpWW1CajE2OWV2amUrZ2RTb3JLelZuemh3MU5UVkprbTY0NFFhbHBhVnA0Y0tGMnJWcmx5VHA1cHR2MXE5KzlhdmdkMzc2MDU5cXdZSUZrcVRVMUZUTm5EbFR5NWN2MTVZdFd5U2RDQnplZlBQTjRQd1lMWWRwakI0OVdzODg4OHc1YTVvN2Q2NmVlT0lKU2FjUDA1RGFUOTlKMG85Ly9HTjkrT0dIcCswLzI1c1JyZTI3MWg3Zkd2NUFRRFUxTlRwMCtCTjk4T0ZpdmZQZUI5cGR1cWQ1S0VmQXlsYkw2ckMxZWxXeXorOHB6TjNkNm9zQUFBQUFRQmkwK3pjamV2WWNGaCtUR0psa0hXVjQ1TndyeDl4bXBGaEppb25wb2g3ZHUydllrRlRkZHN0bmRQMTFVOVExUHI1TnJqdHMyTEF6N3YvNDQ0ODFjT0JBOWU3ZHUwMnVjejd2di85K01JaTQ4Y1liOWZqamowdVM3cjc3YnMyZVBWdEhqeDdWb2tXTDlMM3ZmVTg5ZS9iVXdZTUhndy9IMGRIUitwLy8rUi8xNk5GRGQ5NTVwMmJPbkttalI0K3FvcUpDNjlhdDA2UkpreTVMeldmcnV3dXhmdjE2alJzM3JzMXFxYTJ0RFg1T1QwL1h0bTNiem5wc2EvdnVjdmUxMStOUnQ0UUVkVXRJMEpEdmZFdi85TUQ5MnJSbHE5NWRzTkJzMkxURmUvandKNGxWVlZXSjF1aW4xdXJmVTRabnJYVUQ3b3V5N3VxQU4xQlpzV1BIVVVsdXF5OE1BQUFBQUpkWmV3MGpQQ2xEc2pQa3NlTWxNMUd5NDQweGd5VjV2VjZ2aHFRTzBwaFIyY3JNR0treG83STFvRjlmT1k3VFpoZi95VTkrb2c4KytFQ1M5SU1mL0VEMzNITlBzRzNseXBWNjVKRkhOSHYyYk4xLy8vMlhQWlFvS2lvS2ZwNHdZVUx3YzJ4c3JLWk1tYUw1OCtmTGRWMXQyclJKTjkxMDB5bkRKeVpPbktnZVBYcElrcnAwNlJJOFhwSTJiTmh3eGdma3FxcXFzdzdCYUxaNzk5bi9BSCt1dmp1WEZTdFc2T21ubjFaNWVibFdyRmh4UWQrNUVJTUdEVkpLU29ybXpKbWowdEpTUGZyb28yYzl0clY5ZDZsOTNWb1JFUkc2ZHR3MUdqOTJqRDQ1Y2xSYnR1WnFhMjZlTm0vSlZWNSt2bE5iV3pmUjhUZ1RKS2ZTa1hkRHl0Q3NOZFpvWGNNeHV6NHB5ZTF0ak9ubDhYaU1KR090TmE3ck9sNnYxMWhyZ3ovTjdhN3JPcEtNeCtNSnRqVi9yOFUrcCtWMmM3dmpPRTdMN1phL0hjZHB1Yy81MUhienVaeVd4N3V1R3h4ZlphMHRzOVl1eXMzTnJUMnRnd0FBQUFCMEdPMHVqTGg2K1BBZUVUYnFqOGJSQkN2VFU5WjJNY2FZbmoxNjZLWVowM1hMWjI1VVN2OSs2dEdqKzBVUHdiZ1VjWEZ4OHZ2OW1qZHZudDU1NXgzTm1qVkxYL3ZhMTlTblQ1L3pmdmZ1dSs4K1pXNkJzNWszYjU1U1VsSWs2WlNKTmovNTVKTlRqbXRzL0wrcEF2YnNPYkhZd3M2ZE80UDdQdjJHUW1wcWF2QnphV25wR2E5ZFhGeXNSeDU1NUx3MXRnVnJyWll2WDY1bm5ubEdoWVdGa3FSdTNicWQ4ZGlMNlR0SmV2amhoNE9mejNiUHpWcmJkNWZhMXhmTEdLT2VQYnByeHZScG1uN2RGQjA1ZWxRSER4N1dpbFVmNmUxMzN6ZkZ1MHQ3dTY1N3UvSG9Ka2xIWWhKTnNlUDFGbnVNdWU3azk0MU9CQTA2TWVMRG5OeWw0SWVUb1lTYVE0SG1kc2R4VE10ekdHT0N4MGpTMmRwUHVjRC8vYU51K2Z0TWh3VERqZVo3dDlibXU2NWJLbWxMbTNZcUFBQUFnSkJxZDJHRTF4L1YzMFNZMFpMNm4zdzAwWUIrL2ZUOWg3K2o4V1BIS0Q0dVR0SFIwZWRjRGVOeWV2REJCelZ1M0RpOTlOSkwrdWlqai9UbW0yOXEvdno1dXYzMjIzWC8vZmZyNnF1dmJ0UHJqUnc1VWdzWExwUWt2Znp5eThyT3psWmFXcHBXcjE2dHBVdVhCbytycnE2V2RHS29RYlBtdjlRM1MweE1ESDZ1cXFwcTB6cGJ3MXJOZ0F0N0FBQWdBRWxFUVZTclpjdVc2ZW1ubnc3T2V4RWZINjg3Nzd4VFgvakNGOEpXVjJ2N3JqMzB0Y2ZqVVZMUG5rcm8ybFY5K3ZUV2hQRmo5ZFQvUHFQbHExWWJTWkZHNmkycGkzWGxOMTdUNjlQZlAvbi8wZGxtOVR4dGY0c0pRTS80blhOTUVHcFB0cDl6QnRFek5WdHJaWXh4Sk1VWVkrSTlIay9jdWM0QkFBQUFvUDFyZDJHRXIrNVFvVGMrNlNlTzBjMlNzbzAwY3MvZXZaRVBQL3B2U2huUVgrT3VHYTFSMlpuS1NFdFQ2dUJCaW95TUNIbU5ZOGVPMWRpeFk3Vjc5MjY5OU5KTFdyQmdnZDUrKzIyOSsrNjd1dTIyMi9UMXIzOWRmZnYyUGUxN0w3endnbHozL0VQNFkyTmpnNTluelpxbEYxOThVWWNQSDlheFk4ZjB6VzkrTTlqbWFiRTZTRVRFaVg2b3I2OFA3b3VNakR6bHZDMG5VZlQ1ZkdlOGRsWldWbkJ5eXJONTdiWFg5TC8vKzcvbnZZOVBzOVpxNmRLbGV1YVpaNExEVC9yMDZhTjc3NzFYYytiTVVaY3VYYzc2M1l2cHU5WnFiZDlkYWw5ZkttdXR5aXYyYVh0K2dYSnl0Mm5qNWh4dHl5OVFVMU9UckxXdXBGSkpPYkoyUmIzUHQ5NHhrVjJOTWRZOTBaSFdjUnpYR0dNRGdZQnJqTEhHR0RjUUNGaGpqR3VNc1k3anVINi8zNTVzczQ3anVENmY3N1R2TlcvN2ZMN0x0dFNveCtNWjYvVjZYNzVjNXdjQUFBQVFXdTB1ak5pM2IxK2R0Ty8xbEpTVStYNVBiRit2OFE2MkhuZVdjY3pNM2FWNytwYnVLVFB6My85QXliMTZhVUQvZnBveGZabytjK04wSmZYc2NmNlR0N0dCQXdmcVp6LzdtUjU4OEVHOSt1cXJldm5sbHpWLy9ud3RYNzVjeTVZdE8rMzRpM2xRam91TDB4Lys4QWY5NEFjL1VGbFpXWEIvYW1xcXhvNGRxMWRlZVVXU2xKQ1FJT25VaCtDV1M0RitldnRzRC80ZWowZng1NWtFOU5NUDNoZnF5U2VmMU55NWN5V2RlT1BqeTEvK3NxWlBuMzVLcUhJMmx4SXlYS2pXOXQybDl2WEZhbXhzMHNyVkgybkJoNHUxbzNDWDloK29WSFZOelltM0NxeXFyTFhMWE1lK1phWE5wdFpXbEpYbEhXM1RBc0lnSXlQai9PT2dBQUFBQUhRWTdTNk1hRlphV3RvZ3Flamt6NGRTNnZkVGhzWGRiSzM3emZxR2hvbDd5c3BpU3ZlVVJheGN2Y2I4N1AvOVd0ZE5tYVN2ZnZIekdwV2RxUzdSMGZKNnZTRVp5dUh6K2JSKy9YcHQzTGhSRFEwTmtxUmV2VTU3RzE3U2laVWRMdlN2K3kwbjVCd3laSWplZU9NTjVlWGw2Y0NCQTBwT1RsWldWcForODV2ZkJJOFpOR2lRSktscjE2N0JmY2VPSFR2bHZFZU9IQWwrN3RtejV4bXZmZkRnUWIzMjJtdm5yRy9yMXEzbnZZY3phWGxQdGJXMU9ucjBxQm9hR2k0b2FMall2bXVOMXZiZHBmYjFoYkRXS2hBSXFLbkpwejFsZS9YcUcvUDA1dnozVzY0UzRyZXlqWEsxUzdJditrelRTeFdGT3o0NTF6a0JBQUFBSU56YWJSaHh1cUxHMGtLOUkybCtuOEhwZmIwZXp6VEhvNG15N2pXdU5lbkxWNjZPWHI1eXRhN3FuYXp4WTYvUm1GRlpTaHN4VE1PSERtbnp2MHhMMG9FREJ6UnYzank5OWRaYk9ucjB4QitlaHd3Wm92dnV1MDh6WnN3NDQzZnV1KysraTVxRVVUcnhWL2hSbzBZRnR3T0JnTmFzV1JOc3k4ek1sS1JUdnRkeUpZNVBidzhaTXVTTTF5NHZMOWR2Zi92Yjg5WjRNYjc3M2U5cTFLaFJldjc1NTVXVGs2UEhIMzljVHozMWxHNi8vWGJkYzg4OXA5MXpTNWZTZHhlcXRYMTNxWDE5TG41L1FLVmxaU29vS0ZST2JwNCtYcjlSdTRxS0ZRZ0VaSzExalV5eGxUYkt1T3Q5Z2NDeWlwM2J0MHZ5bi9mRUFBQUFBTkFPZEtBd0lzanVLOTYyVjlKTFNrdDdyYi9mMDljNFpvQng3VzNXMFozNzloOFk4UGE3NzVzRkh5NVdVczhlR3RDL242Wk1uS0JiYjU2aGZuMHZmWExKL1B4OFBmZmNjMXF4WWtYd0wvV2pSbzNTZmZmZHA4bVRKMS95K2Mra3NiSHh0SlZEL3ZLWHYrakFnUU9TcEduVHBnV0hhWXdkTzFaLy92T2ZKWjFZaHJTNnVscng4ZkdxcmEzVnlwVXJnOStmT25YcUdhOWxqRG52S2lWK3YvKzBZUWtYYXZMa3labzhlYkp5Y25MMC9QUFBhL1hxMVhyOTlkZjErdXV2YTl5NGNmckNGNzV3MXRvdXQ5YjIzYVgyOVpuVTFOWnE4ZExsV3ZLUDVkcFpWS1RLeWtPcXFhMDlNZkdqVVpXcy9jRDE2MDNKeWEvejFPMDl2S093dWkzdUhRQUFBQUJDcVNPR0VmOG5QNytwVENyUmlaOWxrbjdVZjBqNjlZN1g4NTNHcHNhcEZSWDdZc3NyOWtXdVdidmVQUDVmVDJqYzJESDYwdWZ2MXRSSkV4VWRIU1d2MTl2cVYvcmZmZmZkNEh3UVU2Wk0wZjMzM3g5OEsrRjgzbmpqamRiZDMwbGYvL3JYTldUSUVLV2twTWdZb3pWcjFtakRoZzJTcEtpb0tIMzN1OThOSHB1VmxhWFUxRlFWRlJXcHBxWkczL25PZDNUenpUZHI4ZUxGd1ZVZEpreVljTXJTa3kyTkdqVkt6enp6ekRucm1UdDM3bmtudVR5ZjdPeHNQZkhFRTlxMWE1ZGVlT0VGTFZxMFNPdlhyMWQrZnI1V3JGaHgydkVYMjNldDBkcSt1OVMrdHRiS0h3aW9xYWxKT3dwMzZkWFg1K21kOXhmSTd3L0lubGdQMHk5ckc2MVZ2blhzTThjYmE5NDRXbElTdm1WUUFBQUFBS0NOZE93dzRuVCtzbDNiRmt0YTBtZFFXci9JeU1qcGtxNjNzaG1TR2JaK3c2YVk5UnMyS2FsbkQwMjhkcnpHangyanRCSEROREJsZ09MakxteTFRSy9YcTF0dnZWWDMzWGVmQmc4ZWZGbHZwbGxkWFozbXo1OS8ydjZvcUNnOS92ampwNnpjNFRpT0hudnNNWDN6bTk5VWZYMjk4dlB6bForZkgyenYxYXVYZnZLVG40U2s3Z3N4Wk1nUS9lcFh2OUkvL2RNL2FlN2N1VnErZkhuWWFtbHQzMTFzWC90OFBwV1ZWNmh3NXk1dDNySlZxOWVzMWE3aUVsbHJaYTBDeG1pM3JOMHVheit5cm45eDZhNzhiV0lJQmdBQUFJQk9wTE9GRWMzc3ZwTDhNa2t2S0RYMWxZR2VtQlRYbXNGeTdFM1dtRnNQSGpvOCtKMzNGcGdGSHk1V242dDZhMkJLZjQwZE0xb3pwazlUNnVCQjV6enh3dzgvZk1vcUNxRXdlL1pzZmZEQkI5cS9mNzhhR3h1VmxKU2tDUk1tNkN0Zitjb1pseEJOUzB2VFgvLzZWejM5OU5QYXNHR0RqaDgvcnA0OWUycnExS242NWplL3FjVEVSRWxTWVdHaGxpOWZmc3JFa1B2MjdRc09QVGlibGhOWUxsaXdRSGw1ZVJvNWN1UWxEVlBwMjdldmZ2empIK3M3My9uT1JaK2pMVnhvMzEzTThWWEhqMnZSa21YQjhHRnZlYmxxYStza1NkYnFFMW03MUJyM0hldHpDbzY3TlNXOEJRRUFBQUNnczdyOHkwMjBQODZBWVpuVGpLT0haSjNQR0tOVFpyZE1UeHV1cjkvM0ZkMTY4d3hGaERoMENMWDU4K2ZyRjcvNFJadWM2M09mKzV4KytNTWZ0c201T3BzdFcvUDB6UE56dFhEUmtsUDJXMnRkSytVNE1uK3FPN3IvNWNyS3l0cXpuT0tLbDVHUk1UVWlJbUtGcEwyU3ZyaDU4K1pWNGE0SkFBQUF3TVhyM0UvYlorYnVLY3o5aDZSLzlCMDY5R3FQb204eHhuekdHQTIzeGd6ZWxyOGo1bnMvK0xFZU83bGM2TFNwa3pRME5WVjkrL1pSMS9qNGtDd1hHaXBlcjFmUjBkRnRjcTZJaUlnMk9VOUgxOWpZcUlwOUI3Ujd6eDZ0V2J0ZXk1YXZWR25aWGttU3RRcElkbytrSW11MU90QVVlS2Q4OTdidGtnSmhMUm9BQUFBQVFxenpQRmxma3JUSS9xa21WUjVucERIT1ZNbmNiR1FIR1dNY3I5ZXJ2bGRmcFNHREIydk02R3hObm5DdGhnOGIwdXFKTDlHNUhhZzhxTlZyMW1ydCtvMHEzTGxMdS9lVXFhN3V4QkFNMStvVFkrMVNhKzFpWTVWMzNOWVZIQ2txT2g3bWtqc1Uzb3dBQUFBQU9oZkNpTFBvT3lSenZNZHIvdGxJbnpVeXNTM2JCZzhhcUM5LzRYTzY2NDdaaXVuUzVXeW53QlZnK2NyVmV2NmxsN1hxbzQ5UDJXK3RBdGJhajQxai8xaGFVUGVXVk5RWXBoSTdCY0lJQUFBQW9ITWhqRGlQbEpTMDNtNVV4STBlUnpkWmF6S003Q0FaRXkrZFdNMWk2dVNKbWpabGtrWU1INm9CL2ZvcElTRkJqa08zZGtaMWRmWGFXMUdoNHBMZFdyTjJ2Ull2WGFaRGh6OXBidlpKS25XdExYUmtWZ1Q4dmdWbFJkdDNTSExQZmtaY0tNSUlBQUFBb0hQaHFmbkNlZnNNeXh3Y2FaMFJNdTUxTW1hR3BCSEdHTWR4SFBWTzdxV2hRMUtWbFRGU1V5ZFBWSHJhQ09aUjZBU3N0ZHF6dDF5clZxL1J4czA1MnJGenAvYVVsYXVwcWFtNS9ZQ1JsbHJYTGc0WWQzdlRNYWVnc2pLWGlTamJHR0VFQUFBQTBMa1FSbHdjYjNKeVpsUjB2TTFVaFBNZFk4MHNZOVJWa2h6SFVWUmtwSzYrdW8vdW1qTlRYN2puTHNYSHhZVzdYclNTNjdyNjRNTWxldVdOZWRxYXQxMk5qWTN5Ky8zTnpUNXI5WEhBdGY5enZNRmRWQlVYcUZWK2ZsTTQ2KzNzQ0NNQUFBQ0F6b1V3b2czMEdUcTBwOWQwdWRrWXpUSEdwQm5aZnBLSmt5U1B4Nk1wa3lib3BodW5Lek45cEhvbjkxSkNRbGNtd0d4SHJMV3FxNnRYNWFGREtpNHUwZExsSzdWb3lUSWRxNnBxUHNSbnJTb2tXMktzWGRqa2EzcW5vbVRITGtrMmpHVmZVUWdqQUFBQWdNNkZNS0p0UmFRTXpSaHNqV2VNakIxdlpLNHpScG5OalgxNjkxYmFpR0hLenNyUTJER2psVEV5VGRIUlVlR3M5NG9XY0YyVjdDN1ZobzJidFduTFZ1VVg3RkR4N3RMZ0d4RFcyZ3JKckxSdTRLT0FOUnNiai9tM0h6cVVYeFBtc3E5SWhCRUFBQUJBNStJTmR3R2RqSzkwWjk0T1NUdVVtdnIzM29ydkd1bXhReDFqdnk2ajJmc09IT2krNzhBQkxWLzFrZUppWTlXN2Q3Sm0zbktUN3JwanRwSjY5Z2gzN1ZlTXBxWW1mYkJvaWQ1NDh4M3QzRldrbXBwYU5UU2VXT3pDV3R0b3JGMGRrSG5CdGZYTEdvOTZxd2dnQUFBQUFLQnQ4V1pFaUNRT0dwVFF6UnMzMnpybUxzbGt5TmdrV2NVWVk0d2tUWmswUWJOdXUwV2pzakxWbzBlaTR1UGlHTXJSQnF5MXFtOW8wSkVqUjFWY1Vxb0ZIeTdTK3dzWHFhNnV2dm1JSm12TlljbVdXdG4zR3dMMjFjcGRlU1ZoTFJxbjRjMElBQUFBb0hNaGpBZzliLy9VckdIR28vSEdhSnlSSmxscFpITW8wU3NwU1dOR1pTa3JNMTNabWVrYW1UWkNzVEV4NGE2NXcvSDcvU29xM3EydGVYbkt5ZDJtVFZ1MnFtUjNxVnozeEVxYjFxckNHSzF4clYxblhhMXJyTEpiV0FXai9TS01BQUFBQURvWHdvaHdTa3VMN09QM2Q3VnVkUDhvci9tV2xiblRNZW9oblpqNE1qWW1Sc25KU2JwaDJuWDYzSjF6bERLZ2Y3Z3JidmVxYTJyMDl2ejM5ZTZDaFNyWlhhcWEybG8xTmZra1NkYmFCbGt0OTl2QTA1N0d3RnFmTDZacTM3NU5kV0V1R1JlQU1BSUFBQURvWEFnajJwSGs1T1RZcUc3SnR6akdmRUhHWkJtckpDc2JiMDVRZG1hNlp0NTJpeVpQdUZiZHUzZFRRdGV1OG5nODRTNDdiS3kxcXEydDFaR2p4N1M5b0ZEdkxWaW9mNnhZcWNiR3B1YjJCaU1kdGpJbHNucXJ5ZStmdDY5NDI5NHdsNDJMUUJnQkFBQUFkQzVNWU5tT1ZGWlcxcXF5OHUrUzN1bzdLSHVRRTJISGUyUW1XTmxyclZYV2xxMTVuaTFiODlTdFc0S3lNek9VblptaDBkbVpHcGsyUXQwU3V1cmtTSTlPcjZHeFVidDJGV3R6emxibDVHNVRUbTZlOXBUOVg4WmdyZDB0YVowcnJYRmRyVlBkNGJ6eTh2TDZzNThSQUFBQUFCQktWOGJUYXdlV2twSVMzZVNKUzRvMEVZUGtzZmZJc1hjWW1XVHB4RkNPYmdrSlNrNU8wcFJKRXpUejFwczFZdGpRVGh0S0hENzhpZDVmdUVnTEZ5L1Zuckp5SFQxNlZJMU5KOStDa09wazdWTFg2cTgyRU5oVXE0WkRSNHFLam9lNVpMUVIzb3dBQUFBQU9wZk8rZFRhbWFXa1JQZVBpcC9wR00rWEpIdU5qT2ttYTd1Y0hNbWhZVU9INko0Nzc5QU4xMDlWMS9oNHhjYkdkTWloSE5aYTFkZlhxNmFtVnJuYjgvWHlhMy9YNmpWcjVmZjdtNDlva2pYSHJXeXhsZDVvOU5mT1BWQlVkQ2lzUmVPeUlZd0FBQUFBT2hmQ2lJN0w2VHQ0NUNDUHh6Tk54a3d3eG93eHhxWkpKa0tTNG1KamRjM29iSTBmTzBicEk5TTBZdmd3SlhaTGFQZHZUZFRYMTJ0WFViRzJGUlJxNDZZdDJyQnhzeXIyNzVja1dXdXRwRDFXMm1Tc1dlKzNUY3ZMZHpadGxZb2F3MXMxTGpmQ0NBQUFBS0J6YWQ5UHByZ2dmZnYyN2FMSW5uMU5wSCtnWTUzWnhqRjNHSm5la3VRNGpucjA2SzYrVi9mUjJOR2o5SmticGlzcmMyUzdlMXVpYkcrNUZpOWRwbFVmZmF6ZGU4cFVlZkNRbXBxSFlMaTJYa1lMclRYekFpYVFXOVBnMlh1c05PZFltRXRHQ0JGR0FBQUFBSjBMWVVUbjVFMFpsbkdiTWM0RDFtaVNrV0tzVllRNStWcEU2dUNCdXZ1T09acDkrNjNxR2grdnlNZ0lPWTRUc3VLc3RmTDVmR3BxYXRLcU5SL3I1ZGZtYWUzNmpRb0VBckxXV21OTXdNbzJ5bXFuckgzUjd3MjhWTDU5KzVHUUZZaDJoekFDQUFBQTZGd0lJem8zTTJCWVpvcTFackxqYUxLUkdXMWwwNDB4MFpJVUdSbXBhMFpuYSt5WTBjcktHS2tSdzRjcHFXZVB5eEpNV0d0VlUxT2puVVhGeXR1V3I0MWJjclIyM1VZZE9YcTB1ZDAxeGhSYjEyNlc3Rm9iME1vOVJibDVrbnh0WGd3NkhNSUlBQUFBb0hOaGFjL096ZTRwek4wdGFiZFNVdDdvSHhIZngvWFkvbDdYTzBkR24yMXFhdXEvWnUxNmZieHVnN29uZHROVnZYc3JLek5kdDN6bVJvMFpsYTJvcU1oTExzQjFYUldYN05hQ0Q1Zm80M1ViVkY1Um9ZT0hEZ2Nub3JSV3gyWHNRaHV3cjd2V0thaDJqMWNjTFNtcHV1UUxBd0FBQUFEYUxkNk11SEk1L1Vka1RIZGM1MEVaTThVWUc5OXlLRWVmcTNycmp0a3pkYzlkbjFYM3hFUkZSa2JLNHpuL0d4UFdXalUxTmFtdXZrRWZMbG1xVjk5NFU5dTJGOGgxM2VZaEdIN0pObGhYQlZiMjZZWmplcld5TXJmMnN0OHRPalRlakFBQUFBQTZGOElJcU0rZ3RQNFJVZDRaeGpwVFpXeUdyQmx1akxwSVVrUkVoRVpsWjJyYTVFbEtIemxjZ3djTlVuS3ZwRk9HY2xocmRmeDR0WXAzbDZwdzF5NnQvbWl0UGw2M1hzZXFqcDlzVjhBWVcySmw4MTNYZk95NHZnOUxkK1Z2aytRL1kwSEFweEJHQUFBQUFKMExZUVNDVWxKU29wdWl1Zzd3R2cxMVpHNlVNYmNaYVhCemU0L3VpZXJmcjY4eTBrZnErcW1UTlhwVXR2YnNLZE95bGF1MWZ1TW03U25icS8zN0R5amd1cElrSzN0VXJoYTUxaTR3cnNrNzdsYVhNQVFERjRNd0FnQUFBT2hjQ0NOd1RnTUdaMTF2SXN3anh0aWJKWFBlU1NTc3RhNmtIRm45b2JTdzZoV3B0Q0VFWmFLVEk0d0FBQUFBT2hjbXNNUTU3U25ldWt6U3NqNkQwL3Q1STh6TmpuVnV0TmFPTkk1Sk1WS3NLL25OaVFmRW5kYmFWWTcxdkxkNzU1YXQ0YTRiQUFBQUFOQitFVWJnZ3V3cjNyWlgwak5LU1hrcE5UcDJSa3hVeEErdFZmZDZmK0FOdnpVZlZEWFdGREFFQXdBQUFBQndJUWdqMERxbHBRMHhtWm1IdkI1bnNMVTJ1cXMzNHVQTm16ZXZEWGRaQUFBQUFJQ080L3hyTlFJQUFBQUFBTFFod2dnQUFBQUFBQkJTaEJFQUFBQUFBQ0NrQ0NNQUFBQUFBRUJJRVVZQUFBQUFBSUNRSW93QUFBQUFBQUFoUlJnQkFBQUFBQUJDaWpBQ0FBQUFBQUNFRkdFRUFBQUFBQUFJS2NJSUFBQUFBQUFRVW9RUkFBQUFBQUFncEFnakFBQUFBQUJBU0JGR0FBQUFBQUNBa0NLTUFBQUFBQUFBSVVVWUFRQUFBQUFBUW9vd0FnQUFBQUFBaEJSaEJBQUFBQUFBQ0NsdnVBc0FnSmFHRFJzV0h4TVQwNzNsUHRkMWU1Lzg2SFZkdC9lb1VhTUd0R3l2cXFvNlZsSlNVaFd5SWdFQUFBQmNFc0lJQU8xS2RIUjBxakhtZjFydWN4d25YcEtzdGQyTk1ZOFpZNnBidHNmRnhmMjdwSCtFc0V3QUFBQUFsNEF3QWtDN1VsMWRYWktRa05EWEdOTzNlWjh4cHZsM2xLU1JuLzVPVFUzTnB0QlZDQUFBQU9CU01XY0VnSFlsTVRHeHpoaXpRSktzdGJMV252RzQ1djNXMnBjWW9nRUFBQUIwTElRUkFOcVZUWnMyK2F5MUgwbXFiMzRqNHROYUJoU0JRT0RsRUpVR0FBQUFvSTBRUmdCb2Q0d3hPZGJhMHZNY0kydnRQbXZ0dWxEVkJRQUFBS0J0RUVZQWFIY09Iank0eXhpem8zbTc1WnNRTFQ4Ylk5NkxqSXlzQ1cxMUFBQUFBQzRWWVFTQWRxZTh2THplZGQyVjV6ckdXdHRvcmYxbzA2Wk52bERWQlFBQUFLQnRFRVlBYUpkYzEvM2dQSWZzTThia2hLUVlBQUFBQUcyS01BSkF1NVNibTF0b3JkM1VjaExMNWlFYUovZVZIRHg0Y0ZkNHFnTUFBQUJ3S1FnakFMUmIxdHIvT2tmekIrWGw1ZlVoS3dZQUFBQkFteUdNQU5CdU5UVTEvZDFhZTFRNmRlTEtrLzRlK29vQUFBQUF0QVhDQ0FEdFZuNStmcE14Wm5uTG9SckdHTG11dTIzTGxpMTd3bGdhQUFBQWdFdEFHQUdnWFFzRUFndXR0VTJmMnYxRVdJb0JBQUFBMENZSUl3QzBhNDdqNU9uRXloa3l4c2hhZTdTaG9lR3RjTmNGQUFBQTRPSVJSZ0JvMStycjYzY2FZM1kzYnh0amx2djkvcHB3MWdRQUFBRGcwaEJHQUdqWGR1elk4WW1rM0pPYmZ0ZDFseFFWRlgxNjJBWUFBQUNBRG9Rd0FrQzc1L1A1M3BJa2EyMjVwQnhKcHkydEFRQUFBS0RqSUl3QTBPN2w1ZVd0a0ZRbWFVZE5UYzIyY05jREFBQUE0Tko0dzEwQUFKeFBuejU5WXZ4KzkzVnJyS2VvcU9oNHVPc0JBQUFBY0drSUl3QzBWMDZmb1JsREkrWGNZaDA3c2FyUkhlUjExSlF5UFBzL0FpYXdjSyt2ZnAyS2lockRYU1FBQUFDQTFpT01BTkN1SkNXbHhYVkpkRDdyZUR3UEdHbVVaS0prNVRXT01lNkpROFo2NUhsNGdEZDJueDJhOVpJL0VIaCtYL0cydmVHdEdnQUFBRUJyRUVZQUNLdms1TXhZVHpmMWpaUWRMdU81dzhqZUxHTjZTWkxINDFHUDd0M1Y1NnJlR2pRd1Jmc1BWS3A4M3o3UHdZTUhZeG9ibTFMbDBTOGN4L052QTBka3J3NVkrNFlUOEsxdk12N3lmVHQzSGc3M2ZRRUFBQUE0TzhJSUFPSGc5RThkT2R3NG5tbnltQWxHWnJTUlVpVkZTa1lKQ1YwMU9qdEwxNHpPVmxaR3VvWVBHNkx1aVlscWFHelVycUppYmR0ZW9NMDVXN1YrNDJidExhK0lsblNqSTAwM25vaDlFWXJJR1RBc2E1MEp1S3RLL2RYclZGcmFFTzZiQlFBQUFIQXFFKzRDMFBGa1ptWmU2L1Y2MzdMV1JodGp2ckI1OCthRjRhNEpIVU8zbE94dVhTUHRUTWZSL2Nab2hMV21xekhxMHR5ZU5ueW83dnpzYkUyL2Jvb1NFN3NwTmlaR0hvL250UE5ZYTFYZjBLRHE2bXB0MlpxbmVXKy9xK1VyVnlrUWNKc1A4Vm5aYWl2dGwrdSsydURxNWNwZGVTVWh1azBBQUFBQTUwRVlnVllqak1DRjZ0T25UMHhrMTE2OXJLczA0OWk3Sk0wMnhuU1hUZ3pCU0Vqb3F1U2tKRTJlTkVGemJyOVZJNFlQdmVockhUcDhXTzh2WEt5Rmk1YXFiTzllSFQxV3BjYkdFL05iV21zYkphMjAxcjdtcy9hanlDYlBnZExTbkNwSnRnMXVFd0FBQUVBckVVYWcxUWdqY0I2bTcvQ01kSTlyeHNzNDQ0MmppVVlhSWlsQ2tycDNUMVIyUnJxeXN6S1VkZkozZkZ4Y20xM2M1L09yb0xCUU9ibmJsSk9icHkwNXVkcGJYaUhYZFdXdGRTWHROOUphMTlwMXJtdlhlWHpWNjBzWnlnRUFBQUQ4Lyt6ZGQzaFUxNzB1L25mdFBVVmRRZ1VKMVFGSlNLaU1KSm9RM2ZRT3hqVXVPSEZpYytPY21KdWMrOFRITjhuSnpTOG5KOGZ4T2JueHNaTmNYT0tBaVV0czA2dUFnRUVnQ1FIcUFpR2hMa0FJMU90b1pxL2ZIN0ltWUpwbEpFYUk5L004ZXRpejE1bzkzNzF0c09kbGxYdUtZUVQxRzhNSXVwbmc0Rmh2bmF2dWNRaXhwbmY5QitrQklZeDk3Uk9TRXZEa1k2dVJQR2tpdkx3ODRlTHNERVZSQnEwZUtTVzZ1N3ZSMnRxRzRuT2wrSFRyTmh3NGVCaWRYZmJjd1NvaFd5RnhHUkNiclJhOFgxT1dVd3FPbGlBaUlpSWlHblFNSTZqZkdFWVFBUGpGeExpNTJIUiswRVNTME9FSlNDd1VRbmdDZ0Y2dmg1ZVhKMGI2K21MaC9EbFlzWFF4UWtPQ0hWMHlXbHJia0hyZzc5aTJjemNxS3F2UTBOaUV6czdPdnVZZVRaT1pVTFNQWlk5MnlOWnBxNnV0UGRzSVFMdk5KWW1JaUlpSTZCdGdHRUg5eGpEaWdhYWFJaFBqcGRDbUNrVkpCbVN5RUNJY2dFNEFDQWp3aHprK0R1TVR6VWcweHlFK05nWk9UazZPcnZrR21xYWg5SHdaY3ZJS2NEb25Gemw1QlNncnI0RFZhb1dVVWdLb0E1QWxwY3dFeFBHT2hwNnMrdnFpTmtmWFRVUkVSRVEwWERDTW9INWpHUEhnOFE4UEgyblV1NnhTb0Q0bEJFWkxDYisrWFRCVVZjV1V5Wk93Zk9sQ1RFaE1nSytQRDl6ZDNRWjFDc1pBa1ZLaXM3TUxEWTJOT0ZkNkhudFNEK0RBd1VOb2JtbnQ2MktWa0ZjZ1JaMlVjcnUwV1QrdUtpMDhBMDdsSUNJaUlpSzZLd3dqcU44WVJneC9nWUdCTGowR0x3OFh2VEpCVWRYdlNHQ1JFTUlWQUhRNkhkeGNYVEZ5cEM5V0xGbU0xYXVXSThCL3BLTkxIakNkblozWWQrRHYrSHpyRGhTZkswRnJXL3UxdTNKb0FMSUEvRmxLdWIvVjFuRzFvYlMwRlF3bmlJaUlpSWo2aFdFRTlSdkRpR0ZMR1QwMk5sNUtmWkxVeWVsQ1lnWWd3b1dBcWlnS0F2eEhJblpjTk16eHNaZ3llU0lTNHVPZzAra2NYZk9nT2w5ZWdZd1RXY2pPeVVkQllSRXFxcXBnc2ZUMFRlV29oOFJ4RGZJTHFjblRsaFp4cXE0dXI5M1JOUk1SRVJFUjNROFlSbEMvTVl3WVhrS2lvZ0pWT0swQXNGSW9JbHdDUVFKd0FRQ2owWWpwS2NtWVAvY2h4TVdNdzZoUi92RHk5SVFRRDlZZkhSMmRuYmgwcVE3bnl5dHcrRWdhOXYvOU1LNWN1ZHJYM0FNcDZ6U2dVZ0FIcmRMMmVVMXhRVDQ0V29LSWlJaUk2Slllckc4VU5DQVlSdHp2SnVoSGpJR0xxNzRuUlJYaUJRRXNFVUk0QVlDcUtOQWJEQWdLRE1BVGo2N0dxdVZMNE92ajQraUNoNXl1cmk1OGtYWWNmLzM0VTV6T3lZUEZZb0hWYWdVQVNDbWxoRGdsWVh1N285TzY4NHErcHdHbHBSWXduQ0FpSWlJaXNtTVlRZjNHTU9LK3BBOGJaNDZYVmpsUlVkV3BnSndGSUZRSW9haXFpcERnSUl5TGpzTDRSRE1tVHhpUDJKam8rMklCeXFHZzlzSkZaR2FkUk5hcGJCU2VLY2I1ODJYbzdPcnFtOHJSS0lEak5pbU9Dc2dzMFMyeUt5cHltaHhkTXhFUkVSR1JvekdNb0g1akdISC9DQXlQQ3pHbzZxTVFXQVpGaEVIS29MNVJFTzd1N3BnNWJRb1d6SnVEcUxHUkNQQWZDWGMzdHdkdUNzWkE2ZTYyb083eVpWUlYxK0RRRjBkeDhOQVhxS3FwN1d1MlNvazZDRmtqSVkrZ0J4OVhsdVpsZzZNbGlJaUlpT2dCeFc4ZDFHOE1JNGF3bUJoRGFKdnFDaGN4WFpINGdWREVYRURvZ040dE9BMEdBMGFid3ZEYzAwOWc0Znk1OEhCM2QzVEZ3MVpQVHcreVR1ZGc0MTgvUW5wR0ZycTZ1OUhUMDJOdmx4ck9TTVgyQjV0TjJhcXpORit0cUtqb0JzTUpJaUlpSW5wQU1JeWdmbU1ZTWNURXhCaE1QWVlZcVNBV2lwd2pKT2JneXlrWU9wME9JY0ZCaUJnekdrbUpac3llTVEzUlVXTWRYZkVEcCs1eVBZNmtIVWZtaVpNNFYzb2VaZVVWNk9qc0JBQkl5RVpJcEduQWZtakl0clYzbjZtdFBYdjFEcGNrSWlJaUlycXZNWXlnZm1NWU1UUUVtS0pOUmlmOU1nRmxBWUJJUUlRSkFXY0E4QjdoaFJuVHBtTG05S21JaW94QWFFZ3czTnhjSFZ3eDlmVDBvS2IySXNvcXlwRng0aVFPSGo2S3lzb3E5QzR2QVNzZ0wwb3B6a3NoMDZ3OWNsZHRhVjZHbzJzbUlpSWlJaG9NRENPbzN4aEdPRkJFaERGVTV6cGZGV0tkbEhLT0VPSzZWU1lUNG1QeDdXZWV3cnc1cytIcTZ1S29LdWxyc2xxdHlNN053OGEvZm9MVWc0ZXVtOFlCQUZMS01rM0tOMnpDOHRmYXN4d3RRVVJFUkVUREI4TUk2amVHRWZlUXllUVVxdk1NaHlySEtSRHpoSUlsVWlKWUNDSDBlajBDQXdJUUZoYUNsT1JKbURON0ppTER4emk2WXZxRzZxOWN4WkZqeDNIazZER1VsSmFodXJZVzdlMGR2WTBTTFZMS3YwTmdyMVZETmpxc3BUVTFoUTJPclppSWlJaUk2SnRqR0VIOXhqQmk4QVdZb2sxR2c5TVNvY2daRUlpSEZHTUE2U1NFRVA0ai9UQmw4a1JNblpLTXFNZ0lqSTBNaDVPVGs2TkxwZ0ZpczlsUVVWbUZrdk5seURxVmpXUHBtVGhmVmc2YnphRVRSRE1BQUNBQVNVUkJWQVlBVmduVUFpalViTm9KVFdKdlRVbGVwb05MSmlJaUlpTHFONFlSMUc4TUl3YUh5V1J5c2hrOFY2b0svcWNRWXNxMWJZcWlJSG5TQkh6djI4OWdXc29VR0F3R1I1Vko5NWltYVNndUtjWEdUUjlqNTk1VXRMZTNYOWN1SVM5SktkN3N0cmE5YzZtMHRONUJaUklSRVJFUjlRdkRDT28zaGhFRHc4OHZ4czNvcll4UmhZZ1RVQmNDbUM4RVJnR0F3V0JBU0hBUVJvZUZZdWIwcVhobzVuUUVCbzZDRVB3dCt5QnJibWxCZXNZSkhEajBCVXBLeTFCWlZZMlcxbFlBZ0lSc2gwU2FKdVZ1eFlZVG5SSmxkZWZ6TGp1NFpDSWlJaUtpbStJM0crbzNoaEYzWjFSazNEaTlvc3hYaFpncGhZZ1JVbzZCRUVZaEJFS0RnNUF5WlRJbVR4eVBxTEdSQ0I5dDRpZ0l1b0dVRWpXMXRUaFhjaDdaZVFVNGRqd2RSV2VLMFdPMVFrclloSkFYSUhGV2sxcUdwdUJBOVpuOFl3QnNqcTZiaUlpSWlLZ1B3d2pxTjRZUi9lZnZiM1oxOXNBS3FQaWhFQ0llRUVZcHBVNElJUXg2UFdaT240b25IMXVOaVJPUzRPVGtCTDFPeDFFUWRFZFNTdGhzR2l3OUZwU1ZWZUR6YlR1d1kvZGVORFEwZnRrT0d3UzZoY1FWcVduL3IwMTBiN2hTWEh6QndXVVRFUkVSRVRHTW9QNWpHSEZuZm40eGJxNGoxR0FwbFJpaGlwVUNXQUlCWHdCd01ocmg3ejhTWWFHaG1QdlFEQ3ljTndkK3ZyNE1IMmhBdEhkMDROanhET3hOUFlpaTRuTzRWRmVIbHBZdnAzSkkyU1dBbzlLR3o2UkVsbFhYWFZWNzltd0RBT25ZcW9tSWlJam9RY052UDlSdkRDTnVMU1RjSEtlb21Ba2hwZ2hGVEJCU2hrTUlvNklvQ0EwSnhwVEpFekUrMFl5WTZDaU1qWXlBVHFmN3hwLzErdXV2WSt2V3JSZzdkaXgrLy92Znc5UFRjd0R2Wk9qSnpNekVTeSs5OUkzZWUvejRjUmlOUnZ2ckIrWFpWVlhYb09oc01Rb0t6K0I0eGdtY09WdU1ib3NGVWtwTkFCY2t4R2twWlphd2FVY3JTZzNIZ1ZNOWpxNlppSWlJaUI0TTMveWJFQkVCQUx5OUl6emNmRjFXS1lyNHRnQmlKWVE3SUowRUlGeGNYREQzb1psWXRYd1pZbU9pNGU3dUJpZWo4YTVIUVRRMU5lSGpqejhHQU9UbDVlSHc0Y05ZdVhMbFFOek9YVWxMUzhNbm4zeUN3c0pDdExlM3c5ZlhGMU9tVE1Genp6MkgwTkRRRy9yWDFOVGduWGZlUVVaR0JwcWFtdURqNDRNWk0yWmc3ZHExOFBiMkhwUWFCL1BablRsekJoczJiTUNwVTZmUTB0SUNYMTlmekprekJ5Kzg4QUk4UER4dTZOL1IwWUgzMzM4ZkJ3NGN3TVdMRitIaTRvS2twQ1M4OE1JTGlJNk92dXQ2UWtPQ0VSb1NqTGtQemNKM24zc0d0UmN2WXVmdWZkaStjNDl5NmZMbFlFZ1pwQ2hpc1ZTVTFyQm82MFhJK0k4dGl2V0RpMmZPVk43MWh4TVJFUkVSM1FaSFJsQy9QZWdqSS96OS9WMFZGMjlmZzg0WUoxVDVLQ1JXQ1VWNEFZQ1RreE84UjNnaExEUUV5NWNzd3J3NXMrSGpQV0xBcDJCSUtmSGNjOCtoc0xBUXpzN08yTFJwRTB3bTA0QitSbis5L2ZiYldMOSsvVTNiakVZajNuenpUVXlZTU1GK3JxaW9DR3ZYcmtWSFI4Y04vUU1DQXJCaHd3YjQrdnJhejEwN01pSTVPUmxUcGt5NTRYM1gyclp0R3lvcUtnQmNQekppc0o3ZHZuMzc4Sy8vK3Erd1dxMDN0SVdFaE9EUGYvN3pkUUZMYzNNenZ2ZTk3Nkdzck95Ry9qcWREbSs5OVJZbVRacDAxM1hkVEdkWEZ6S3pUbUhMOXAzSXp5OUNRMk9qZlZjT1NHblZJQTVEeW85NklJOFp1cFc2aW9xY1puQXFCeEVSRVJFTklJWVIxRzhQYUJnaFFpT1N4Z25GTmhWQ1NWYUVUSVpBTkNEMHFxcGlkRmdvRWhMaU1UNGhBWWtKY1lpTUNJZE9WUWUxb0o2ZUhwdzlleGJCd2NFWU1XTEVvSDdXblZSVlZXSDE2dFdRc3ZmNzZwbzFheEFiRzR1dFc3Y2lQVDBkQUJBV0ZvYk5temNENkszOTBVY2ZSVTFORFFCZzVzeVpTRXBLd2llZmZJSkxseTRCQUpZc1dZSmYvZXBYOXMrNE5veDQ4Y1VYc1hidDJ0dld0RzdkT3FTbHBRRzRjWnJHUUQrN3VybzZyRnExQ2hhTEJRQXdkKzVjeE1URVlPL2V2U2dwS1FFQUxGcTBDTC8rOWEvdDcvbjV6MytPM2J0M0F3QWlJaUt3ZlBseUhENThHTm5aMlFDQW9LQWdiTjY4K2E2bTh0eUpsQklYTDlVaEp6Y2YyYmw1eU03Tng1bXp4ZWpzNnVxZHlpRlFDNGtUbWhTWkVqaGVWZHgyRWlqdEhyU0NpSWlJaU9pQndXa2FSTGZoN1IzaDRlN3I4cmhROEx5QURBZUVwNFEwUUFneHdzc0w4K2ZPeHVvVnl4RSt4Z1EzTjlmcnZ2QU9OcjFlai9qNCtKdTI3ZHUzRHpObnpvU3pzL005cWFXb3FNZ2VSRXlmUGgzcjFxMnpIOCtkT3hkZFhWMm9yS3hFUjBjSFhGeGNjUERnUVhzUUVSTVRnOS85N25jUVFtRGl4SWw0OXRsbkFRQ3BxYWw0NVpWWDRPYm1OdUQxM3U3WjNZbkZZa0ZoWVNHU2twTHM1M2J0Mm1VUEl1Yk5tNGZYWG5zTkFQRFlZNDloNWNxVmFHeHNSR3BxS243MG94L0IxOWNYbHk5ZnRnY1JUazVPK09NZi93Z2ZIeDg4OHNnaldMNThPUm9iRzFGYlc0dk16RXhNbXpidEx1LzIxb1FRQ0J3VmdNQlJBVmd3Znc3YTJ0cFFmK1VxOXV6YmoyMDc5eWpsRlpVaEVqSllVYkJTUXJhYW9sMnZTSm53TVNEZnJ5ek9LeCswd29pSWlJaG8yR01ZUVhRTlg5OG9kNWNSQmorcElGNkY4aFFVc1ZRQXJnRGc0dUlNSDI5dlJFVkdZT25pQlhobzFneDR1THM3ck5aRml4YWh2cjRlQVBESko1OGdJaUxDM3ZidXUrL2l0Ny85TFo1OTlsazgvdmpqY0hGeEdkUmFnb0tDN01jOVBmOVlBMUhUTkh0SUVSQVFZSy9qaXkrK3NQZFp0bXlaZlJwTFRFd01nb0tDVUZ0YkM2dlZpdXpzYk15WU1lT0d6NnVzck1UUm8wZHZXMU5EUThNdDIyNzM3RzZsdTdzYlc3WnN3ZnZ2djQvWTJOanJ3b2pTMGxMN2NVcEtpdjNZMWRVVk0yYk13UGJ0MjZGcEdrNmRPb1dGQ3hkZVYvdlVxVlBoNCtNREFIQjJkcmIzQjRDc3JLeEJEU091cFZOVmVIbDZ3c3ZURTVFdnJjWDNYM2dlcDdKenNXUDNYcEYxS2x0MzVjclZFYzNOelNPa3dNK2x4RTlOMFFrWm1rM2JBS21sMlhTMnV0cXpaeHNCYVBla1dDSWlJaUs2N3pHTUlBSlVVMlJpUEZTWkRJaXBnRXdXUW9RRDBPbDBPa1JHak1HRXBFU1k0Mk14SVNrUllTSEJVQlRGMFRYZmxydTdPOHJLeXZEbW0yOWk0OGFOZU9hWlovREVFMC9BMWRYMXR1OXJhbXJDM0xsejczaDliMjl2N04rLzMvNDZQajRlQ3hZc1FHcHFLakl6TS9IclgvOGFzYkd4Mkw1OU83cTd1NkhYNi9IVG4vN1Uzdi9jdVhQMjQ3Rmp4MTUzN2ZEd2NOVFcxZ0xvRFIxdUZrYnMyN2NQKy9idHUyT2RBNkdycXd1Yk4yL0doZzBiY09YS0ZRQzRZZXJFdFd1Q1hMMTY5YnEyN3U1L3pHcW9yT3hkRi9MYSs0K0tpcnF1LzdYQlNOK2FGNDZnMStzeFpmSkVKRSthZ0tzTmpjak96VU51WGo1T1orY2h2NmhJYVcvdm1LcW9TZ3FnMUNuUVpabkdKaHlYQXBsZFRmSkVYVjJleFd3MkIwc3BqVkpLWVRBWUlLVVVBS0JwbXYxaDlaM3IrN1h2MkdBdzNMVDlxLzBBUUtmVDNmSjZOK3VQYTZZbnFxcjYxWDcyTmszVHJBQUs4dkx5MnIvNVV5UWlJaUtpVzJFWVFRKzBvT2hvSDcwMC9rRW9TSkVRdnBEU1dRZ2hmSDE4c0hEK0hDeGVNQSttMEJENCtIamYweWtZZCt2dHQ5L0czcjE3c1duVEpwU1VsT0FQZi9nRFB2amdBeno5OU5ONDhza25CMlhxdzY5KzlTc0VCQVJnNDhhTjJMeDVzMzE5Q0U5UFQ3ejExbHVJaVlteDkrMGJsUURndWtVcUFWeTNoa056Yy9PQTEvbDFkWFYxNGJQUFBzUEdqUnZ0QVVOSVNBaWVldW9wckZpeDRycStzYkd4Mkx1M2QrbVVEei84RUltSmlZaUppVUZhV2hvT0hqeG83OWY2NVNLUmx5OWZ0cC9yR3hYUlo2amNmeDhoQkh4OXZERi96bXpNbVRVRERZMk51SHo1Q3I0NGVneGJkK3dTNThzckFqUk5XeVpVTEFUUTRESkNuQi9qSGY5L0ZFVjVRUWdSOVkvTDlDWTJmUUVBWUE4QnJsMjc2THBRUVB3ajVibnA2MXY5MnRkUENQdkhYdGYrMWZEaDJ2NTk1eFZGNmRFMDdZY0F0dlhuZVJFUkVSSFIxOE13Z2g1b09xc3hWT2pGZUFDaFgzNGJRVmhJQ0g2ODdpVWtUNW9BZHpjM09EazVEZmh1R0lOTnA5TmgyYkpsV0xac0dkTFQwN0ZwMHlaa1pHVGdUMy82RXpadDJvU25ubm9LVHozMTFBMmhoS2VuSnc0ZlBuekg2OS9zZVd6ZHVoV2ZmZmJaRGVlYm01dng2cXV2NG8wMzNyRHZXdEhaMldsdjErdjExL1cvOW5YZk9neGY5ZHh6eitFNzMvbk9iV3Q4OWRWWDdZdG45a2RuWnljKy9mUlRiTnk0RVkyTmpRQUFzOW1NTld2V1lOYXNXVGNkRmJOaXhRcjd5SW1tcGlhOCtPS0w5amIxbW9WTSsrN3QydnZ2R3dYUTU5cFJGOWRPZVJrS1ZGV0ZuNjh2UEQwOEVCZ1lnSlRrU1hqelQrL2c4TkUwQWNBZ2dBQUF6a0xJUkNGRWxCQWk0WGJYKzdxL3J4ellieHdZUmhBUkVSRU5Db1lSOUVEcjZhZ3Yxcm43L1V3UldBUWdVUUN4bGRYVmhuWC82MVdZd2tJeGVlSjRKQ1dhRVI4VGc0andNVEFZOUhlODVsQ1RrcEtDbEpRVWxKU1VZT1BHamRpOWV6ZldyMStQYytmTzRULy84eit2Nnl1RWdQczNXQWZqeUpFaitNMXZmZ01BQ0E0T3hyLy8rNzhqTEN3TU8zZnV4T3V2djQ2YW1ocTg5TkpMMkxKbEM0eEdJM1E2blQxbytPcFdtTmQrQWIvVldoZEdvL0dPZGFyZmNEZVR0V3ZYb3JDd0VFSUl6Smt6QjJ2V3JMbmpZcGR1Ym01NDY2MjM4Sk9mL0FSVlZWWDI4eEVSRVpnMGFSSSsrdWdqQUwxaEQzQjk0UERWKzcvMjliMWFnUFRya0ZLaXB2WUNDb3ZPSUNldkFDZFA1NkNnNkF3c0ZndWtsQnFBQ2dBNWtQS0w1dGJtenp5TXZ1YzBUZk8rMDNXSEdrVlIzS1NVUHhSQ2pMMXpieUlpSWlMNnBoaEcwQVB0d29VTEhjQ0Z2NWxNcHUxVzFUVllKM1RoVXRWV0NFVXNMNitvREs2b3JCTGJkKzJCLzhpUkNBc053Znc1czdGZzNoejQrZnJjK2VKRFNGTlRFOUxUMDVHVGsyTS9OM0xreUJ2NlNTblIxdFoyeCtzSklhNGJWYkZwMHliNzhicDE2eEFiR3dzQWVQTEpKNUdSa1lHalI0K2lycTRPQnc4ZXhKSWxTK0RoNFdGZmY2R3BxUW5Cd2NIMjkxKzc4T1JYcDNEMEtTZ293Q2VmZkhMYkdpOWN1SERIKzdpWnZwRVBVa3EwdHJiaXlwVXJzTmxzZHd3M0lpTWo4ZW1ubnlJL1B4K1hMbDJDdjc4L0VoSVM4Qi8vOFIvMlBtUEdqQUVBZUhoNDJNODFOVFZkZDUydmMvLzNVbmUzQlVmU2ptSDN2djA0VzF5Q2k1ZnEwTnJXMXJzd3FVU3psUEtRcHNndEVqZ3QybVZ0VlZWK0l3QmNxYTdlN3VqYXY0bm82R2dmRnhlWHh3R012WGJOQ1NJaUlpSWFXQXdqaUFCVVZGUjBBU2o5OG1jZkVQRmpVNVRiSWltMUZ6dTd1cVpXVmxXNVZGUlc2WStrSFJmLytxdmZZTmFNYVhqdTZTZVJsR2lHczVNVGREcmRrSnpLVVZSVWhMLzk3Vy9ZdDIrZmZTVENqQmt6OEozdmZBY0pDVGVPb0c5dWJ2NUdDMWhldTlCaVNFaklkWDJ2ZmQyM2dLUEpaTEtIRWFXbHBZaUxpN1AzdVhabmlzakl5SnQrL3ZIangzSDgrUEU3MXZsTnJGKy9IanQyN01ER2pSdVJsWldGckt3c0JBUUU0TkZISDhYRER6OE1MeSt2Vzc1WHA5TmR0OHVHeldhejE2blQ2V0EybXdIQVBsMEZ1UDUrdi9yNlZ2Yy9XS1NVc05sc3NGaDZVRmxWalk4Ly9SeWJ0KzlDZTd0OURVZXJoT3lHaGhKQWJ1Z1JsZzlxaTg5ZXZkMDFpWWlJaUlodWhtRUUwVTJWZGxjVVl4dUE3WUhoY2NFNlZaMnRxSmdLcVUzVXBJZzdmQ1RONmZDUk5Jd0s4RWZ5cEltWWtKU0FtSEZSaUI0Yk9TU0cxcWVtcG1MVHBrMG9MQ3dFMER0bFlmSGl4ZmoydDcvOXRiYXg3QzlQVDAvN0lvKzV1Ym4yTDlGU3l1dEdZL1I5a1o4MGFSSk9uandKQU5pOWV6ZFdyVm9GQU1qTHk4UEZpeGNCOUM3azJEZkM0cXQwT3QwTk8xcDhsY1ZpZ2FiMWY2ZEpvOUZvRHg1U1UxT3hZY01HbEpTVTRLMjMzc0xiYjcrTkJRc1c0T21ubjc1aEY1RHU3dTRiRmpsOTc3MzNjT25TSlFEQTdObXo3ZE0wSmsyYWhQWHIxd1BvbmVMUzJ0b0tkM2QzdExlMzQ4aVJJL2IzejV3NXM5LzFmeE5XcXcwVlZWVTRjNllZT1huNVNEOXhFaVdsNTJHejJTQ2wxQVRFZVFtY2hOQk85TmhzaDJyUEZSWUNzTjd4d2tSRVJFUkV0OEF3Z3VqMjVJWHpCZFVBUGtCTXpDZWhWalZZS0NKTWFIS3BWUERJaFl1WHdyYnUyQ1YyNzlzUFAxOGZoSVdHWU1iVUZDeFpOQjhod1VFT0svcWRkOTVCV1ZrWmpFWWpWcTVjaVRWcjFtRFVxRkYzZkorWGx4ZE9uVHJWNzg5YnRHZ1IvdmpIUHdJQTNuampEWFIwZENBa0pBU3BxYWtvS2lvQzBMdFE0ME1QUFFRQVdMWnNHZDU3N3oxWUxCYWNPblVLcjc3NktxS2pvKzFyS3dEQU04ODhjOHVwRWM4Ly96eldybDE3MjVyV3JWdUh0TFMwZnQ5TG43NEFaL0hpeFRoNjlDamVmLzk5NU9ibVl1Zk9uV2h0YmNYdmZ2ZTc2L3AvOTd2ZlJXUmtKRXdtRTRRUU9INzhPTEt5c2dEMEJody8vT0VQN1gwVEVoSVFFUkdCMHRKU3RMVzE0YVdYWHNLaVJZdXdmLzkrK3c0YUtTa3BneEljWGF1dHZSMzdEeDdHZ2I4ZnhyblNVdFRWMWFPdHZSMVNTZ21CWmtpNVI3TmlNNkFVZGFnZDFWZk9GcmNPYWtGRVJFUkU5TUJnR0VIMGRSVVZXYXFBTXZUK0hBTHdMNkdSY1E4cE92V2xia3Yzek5yYUM2NDF0UmNNeHpOT2lOZCs5d1ltVDVxQVo1NThERE9uVFlXVFUrK2lqVGZiaVdFd2VIaDQ0UG5ubjhkVFR6MTEzVmFSZytYWlo1OUZkblkyMHRQVDBkSFJnVGZlZU9PNmRwMU9oNS8vL09jSUNBZ0FBQVFFQk9DZi8vbWY3WXRlcHFhbUlqVTExZDUvOHVUSmVPYVpad2E5N3E5cnhvd1ptREZqQnJLenMvSCsrKy9mZEVwT1IwY0h0bSsvY1prRW85R0kxMTU3N2JwMU1SUkZ3UzkrOFF1OCtPS0w2T3pzUkZGUmtUMjBBWHJYOC9qWnozNDJvUGNncFlUVlpvUEZZc0haNGhKOC9MZlBzVzNYYmxpdE5rZ3BwUkRDQ2ltN3BVU1JWT1E3TGQxdG56YVdsVGwrYjFFaUlpSWlHcFlZUmhCOWM5YXFrb0w5QUE0RWpva0pNUmdNY3dBOEpDSGpBUkYxSXV1VXk0bXNVL0R6OWNIVUtjbElualFCTWVPaU1Ob1VCdmV2YktrNTBOYXZYMy9IYVF3RHlXQXc0TC8vKzcreGZmdDI3Tml4QXlVbEplanE2b0szdHpjbVRweUlOV3ZXM0RDdDRkRkhIMFZRVUJBMmJOaUFNMmQ2ZDJVSURnN0dzbVhMOFBUVFQ5dnJQM1RvRU02ZE80ZWFtaHI3ZS91bWVOeE8zL29VQVBEdXUrOUNwOU5oL3Z6NTlrVWt2NG1rcENRa0pTWGRzT2drQUt4Y3VSSjc5dXpCeFlzWDBkM2REVDgvUDZTa3BHRE5talhYQlJGOVltSmlzR25USnJ6OTl0dkl5c3BDUzBzTGZIMTlNWFBtVEx6NDRvc0RGaUwxOVBTZ3FxWVd4ZWRLY0RvN0YybkhNMUJ5dmd4U1NrZ0pteEFvaDVTRmtQS1kxS3o3SzBxS0NzQXBHRVJFUkVRMHlJYmVpbnMwNUpuTjVpazZuVzZMbE5KSkNQR3QwNmRQNzNWMFRVTkdSSVJ4dE9waTBxUVNMaFM1VUFxeFJFZ1pMb1FRZXIwZWdhTUNNTm9VaWtrVHhtUCtuTm1JQ1AvbVg0d2ZGTC80eFMrd2MrZk9BYm5XYTYrOWhubno1ZzNJdFlhNjVwWVdwQjQ0WkE4ZnFtdHEwTjdlQVFDUUVsY2g1VUVwdEcyd0ttZGF0Tll5am9MbzllVnVHbHNBek5BMDdYL241T1Q4eHRFMUVSRVJFUTFISEJsQk5KQktTN3ZMZ1dMMC91d0c4S093S1BOc0NQbXl4ZEt6b0xLcTJybXlxaHFIanh6RDYvLzNUY1RGUk9PNzMxNkRKWXZtUTM4UFJ6TGNUd3dHQTV5Y25BYmtXbmZhbm5NNHlNN054enZ2YjhUZTFBUFhuWmRTYWhMSVVTRCtYMmZqeFEvcjZ1cmFiM0VKSWlJaUlxSkJ4NUVSMUc4Y0dmSE5CSThkRzZUQ2FiRVFZb0VRaUpaQ2hBdkFCUUE4M04weGE4WTB6SjQ1RFdNakloQWNIQWdQZC9jaHVWMG9EUjNkM2Qyb3ZYQUo1WldWT0o1eEFvY09IMEZGVlRVQVFFcllBRmtKb0ZSS3BOa3N0bTAxNVFXRkFHd09MWHFJNDhnSUlpSWlvbnVEZnhWTGRJL1VuRHRYQytCZElHWmphSVNJZ0tyRUNxSE1CTVNpNXBhV01UdDI3MVgycEI1QWNOQW9SSWFIWThMNFJFeFBtWUxvcU1oN3R2QWwzUjh1MVYxRzJ2RU1aSnc0aWVKekpTaXZyRUpIUis4VURFM2lxcER5b0pSeXY1REliNUVkWnhwS1Mxc2NYRElSRVJFUjBYVVlSaERkYzBXV3FsSVVBU2dDOENrQUJFZWFrMVVkL3FuSDJ2TndSV1cxYTBWbE5mYi8vVEFBSUh6TWFEejdyY2Z4Nk9xVmNIRjJkbURkNUdpSGo2VGgvUTgreE5GajZkZWRseEkyS1dXNlVPUWZLczkyYkFGS3V4MVVJaEVSRVJIUjE4SXdnbWdJcUNuSnl3U1FhVExGQk5pTStubXFnb1ZTaW5nQk9lWjhXYm43Ly9uMWEvak5mLzRlTTZkUHhld1owekF1ZWl6Q1FrTGc2ZWtKUmVGVWp1R29vNk1UMWJXMU9GOVdqdU1aSjdELzRDSFVYN25hMTl3RG9FS1RzbGlCK0VLejl1eXVLaTA4QzBCelhNVkVSRVJFUkY4Znd3aWlJYVNpb3VnU2dFMEFQZzZNTW9jYnBESU9RcHNGSWVaM2RYV04yMy93a0hMdzBCY0k4QitKc1pFUlNJaVB4Y3pwVXhFWE13NTZ2ZDdSNWROZGtsS2lzcm9HUjlPTzQrVHBISnc5ZHc2VlZUV3dXQ3g5N1pjRWNGQnFjcjlOYUlXV0p1Vk1YVjB1RjZJa0lpSWlvdnNPd3dpaW9jbDZvVGl2YjFlT25mNytacU9UdXpSTHZmS1N0R2tyTGx5ODVISGg0aVVjU1R1T3Q5L2JnS0NnUUR5NmFqbSs5Y1NqY0hkemMzVHQxRSthcG1IUHZnUDQ2TlBQa1p0ZmlPN3VibGl0MXI3bUhpbVJidFBrSDF1NnROUm1OMXM3emhaWkhGa3ZFUkVSRWRIZFloaEJOUFJaNityeXJLaERPb0Qwd0xGamZYWENlWkVRV0NVMUxhYXpxek9rOUh5WjIzLzgxeHQ0L2ZkdlljYTBGQ3ljTndmbXVGZ0UrSStFcDZjSEY4QWNRcVNVNk9qb1JGMTlQYzZmTDhQQncwZVFldUFRbXBxYis3cjBTSWxhUUpZSktmZGFlaXpiYXN2T2xnQ1FEaXliaUlpSWlHaEFNWXdndXM5Y09IZnVDbnFuY254aUdoc2ZyZ2wxQW9STUZoQ3piRGFiK2ZDUk5Cdytrb2JBZ0FERWpJdENZa0k4SmswWWovallHRGc1R1IxZC9nUExwbWtvSzY5QTFzblRPSldkaTZJelozRyt2TUkrQWtKS1dRdUlJMUt6SGJOSmNiSzd5VnBZWDEvVTV1Q3lpWWlJaUlnR0JjTUlvdnRYVDhXNS9MTUF6aUlpNHJNQXVIc1lWRGxXRWZLN0VGaDU0ZElsN3d1WEx1SHcwV053YzNWRlFJQS9saTllaUVkWHI0U2ZyNCtqYTM5Z1dDd1c3RWs5Z0U4M2I4TzVrbEswdGJXanE3dDNzd3NwWmJlUU1zMEc4UmROZGg3cWJ0UTFNNEFnSWlJaW9nY0J3d2lpNGFDMHRQc1NVSS9lbjJNanhveng5Tks1clpTS2VMU254eHJmMk56azE5alU1SEsyK0p4NC9mZHZZc2EwRkt4WXVoaEpDV2I0K0l5QXU1c2JwM0lNQUNrbE9ydTYwTkRRaVBObEZkaTlMeFc3OXFhaW82T3pyNGRGU25FRmtCVVNjbGVYVFg1Y1Y1SmY1dENpaVlpSWlJZ2NnR0VFMFREVVdGYlczQWhzQlBCaGFFUkNsRkNSTEFRbVE4cHBFb2c5ZWl4ZEhEMldqcEYrZnBpUWxJQUVjeHdTelhHSWpSa0hWeGNYUjVkLzM3RmFyU2c5WDQ3Yy9Iems1QlhnVkhZdXlzb3JvR205TzIxS2lWb2hjRnlUeUpTYXpPeHVsdGwxZFhuY0JZT0lpSWlJSGxnTUk0aUdOMnRWYVc0aGdFTEV4R3dLdEZvOXBPWVVhdFJocllSNDVISjl2YytlMUFOSVBYZ0lyaTR1OFBmM3c5elpzL0Q0STZ0Z0NndDFkTzFEWG10Ykc3WnUzNFVkdS9laXJMd0NiZTN0c0ZoNkFBQlN5aTVJSExaSzI5dHF0eTNEMHVQU2ZPSENxUTRIbDB4RVJFUkVOQ1F3akNCNlVCUVZXUzRBVjlEN3M5YmYzLy9IUmkvL3hZb1EzN0xhYkFrdExhMSt6UzB0N2lXbFpXTDllMzlCb2prT3k1Y3V4dlNVS2ZEMjlvS25od2RVVlhYMFhUaU1sQkx0N2Uxb2FHeEM0WmxpN055OUYzLy80Z2k2dXkxOTdWMEN1Q0loeWlDeHhXSzFmWDdoZkVHMWc4c21JaUlpSWhxU0dFWVFQYURxNnVyYVVWZjNHWUF0d1dNU3h5aDZtYXhDcEVqSUtWSWlJVHMzWDgzT3pZZVhseWNTemZGSU5NZGpmS0lac1RIajRPWHBBU0dFbzIvaG51anE3a1pKeVhtY3pzbEZUbDRCY3ZMeVVWbjFqNHhCU2xrT0lGTURqbXNhTXRGeEpiK21wcWJ6MWxja0lpSWlJaUtHRVVSa3F5bkxLUUZRWWpLWlByT29ibjRHb1I4alZma0VGTG02cWFuWi8vQ1JOQnc5bGc0dlQwLzQrL3RoeHJRVUxGK3lDT09peGc3YlVPTEtsYXZZdFRjVmUvY2ZSR1ZWRFJvYkc5RnQrWElVQk5BQktROXFFcHVrelhhcUhWMzFEYVdsTFE0dW1ZaUlpSWpvdnNFd2dvanNLaW9xdWdCVWYvbnpCVXltSDRjYTNaY3JRbjNHYXJWT3ZOTFE0SFhsNmxYbm9qUEY0dTMzL29Lb3NaRjQ0cEhWbVB2UVRIaTR1OFBWMWVXK25Nb2hwVVJuWnlmYTJ0cVJWMWlFRHovNURHbkhNMkMxV3Z0NldDQkZpNFE4TDRGUHU2M3RHeStWbHRZN3RHZ2lJaUlpb3ZzWXd3Z2l1cldLaXE0cTRGTUFud2VIeDQ1UlZYVTJoRWdCTUFHUU1XZUxTL1MvL1BmWDhGOXZ2SVdKNHhPUlBHa0M0bUpqTUM0NkNpTzhQSWY4cUluT3prNlVsSjVId1psaW5EeVZqYXlUcDFGNzhTSUFRRW9wQVZSSzRKU1E0b1JWV2c3WG5MUGtBcVhkanEyYWlJaUlpT2oreHpDQ2lMNE9yZVo4WVNtQTB1RGc0TC9DNEJzc0RMYlJpbFJXQ2tXc2JtdHZEemg4OUJpT0hFdUhqNDgzZ29NQ01XbDhFaGJNbllNRWMreVFHeTFSVlYyRC9RY1A0ZWl4ZEpSWFZxSHVjajBzZlZNd05Oa0pnYjFTaXM5dHdwYlgxcVZXTjFYa05EbTRaQ0lpSWlLaVlZVmhCQkgxUysvaWpEVWxBRW9BcEFKWVo0cUtYeXFFOG9KTnMwMnJyNjkzdVh5NVhwK2RreWZlL3ZNR1JJU1B4bU9yVjJIbHNpWHdjSGVId2FDSG9pajNyRjRwSlhwNmVtQ3hXSEQwZURvKy9PUnpaSnc0Q1p2TkJpbWxGRUxZSkdRM0pNNUJ5ZzFXbmUyRG1zTENobnRXSUJFUkVSSFJBNGhoQkJIZExXdEZjZjQyQU52RG9zd21UWXJwaW9McGtCZ3ZJZU5LejVjNy9lYjEvNHYvZXVNUG1EZytFWk1takVkQ2ZDekdSVWZCejlkblVJSUpLU1hhMnRwd3J2UTg4Z3VLY0RJN0J4bVpKOUhRMk5qWHJna2h6a1BpdEpSYWhyVGhTR1ZwWGo2QW5nRXZob2lJaUlpSWJzQXdnb2dHaXF3c3ppc0hVQTZUNmROUXZYdWdwc3BRbmFaYkJZR0hMUlpMNlBHTUUwalB6SUwzQ0MrTUNnaEFnamtPaXhmTXc0U2tSQmlOaHJzdVFOTTBuQzhyeCs1OUI1Q2VtWVdhMmxwY3JyOWlYNGhTU3JSQXlMM1NKdittU2VWTXE5WlMyMWhXMW56WEgwejNKYlBaN0txcWFvb1F3ajZQU05NMER3QWpBRUJSbE1qeDQ4Y3Z2UFk5VnF1MVBpOHY3L1E5THBXSWlJaG8yQm5hcTh2UmtHUTJtNmZvZExvdFVrb25JY1MzVHA4K3ZkZlJOZEdRcDRTT2k1K2phTW9QSU1RTUlhUzdsTkNMTDFlNERCd1ZnTlVybCtPSlJ4K0c5NGdSTUJnTVVOVTdqNWlRVXNKaXNhQ2pzd3Y3RGh6RXg1OXVSa0hoR1dpYTFqY0Z3d3JJTHFuaGpJUjh1NnNKSDlmVjViVVArdDNTZmNGc05ydnFkTG9pS2FWSDM3a3YvNTEwUlc5WTN5bWwvT3FDcGYrZG5aMzlpM3RaSnhFUkVkRnd4RENDK28xaEJOMk53REV4b1hxamJyNlF5a3dJR1E4cG9vV0FNd0RvOVhva0pab3hlL28weE1WR0kzek1HUGlQOUx0dUtvZVVFaTB0clRoZlhvSGlraEtrSGN0QWV1WUpORFczZk5rT214Q3lURUlXYVpwSVY3U2VmUlVsUlFVQXJEY3RpQjVvU1VsSmZ4UkNmRjlLZWN2ZFg2NXA2K251N280cExDd3N2YWRGRWhFUkVRMURuS1pCUlBmVWhiS2lLZ0R2bVV5bXYxcU1IbUU2SWNjcVVzeURFRXQ3ZW5yQ1QyU2R3b21zVS9EeEhvSFFrR0RFeDhYaW9ablRNVDRwRVpXVlZUaDBKQTBuZXM1ck5RQUFJQUJKUkVGVVRwNUNaVlUxTGw2OEJKdW1BUUFrWkNNMHBHcFM3aGFheUcvUjJzbzRCWVB1eEdLeHJEY2FqZDhIcmdzZGJrcEtlWkpCQkJFUkVkSEE0TWdJNmplT2pLREJFaGFlOEpEUWkvOHBoRndFaURzdUlpR2wxQURrUU9LdGl1TG1qNENLcm50UUpnMHZJaWtwNmJRUUl2RldZY1ExNTM5NCt2VHB0KzU1aFVSRVJFVERFRWRHRU5HUVVYays5eENBUTRIaGNTRTZ2VmlrU0dVZUJHSWxZRko2NS9GYk5TbXJoUkRucEpSSEZhbnVMRCtYbmV2b3V1bStKZ0hzQlpBSTNEZzZvdSsxbExJQlFJWmpTaVFpSWlJYWZoaEdFTkdRYytGOFFUV0FkMkF5ZlJDaWVrUVlWVG5mMlZsOUhsSjJkOXZ3Wm4xbjYxWk93YUNCSW9UNEFzRDNoUkNlVXNwYmRTc0djT0hlVlVWRVJFUTB2TjE1dVhvaUlrZXBxT2lxUHA5WDRPSWswdldxNHF0VGxYQTNvNjZPUVFRTnBKNmVubk5TeXVLdm51OExKbVR2UVZGMmRuYmR2YTZOaUlpSWFMaGlHRUZFUkErMDF0YldDd0RPOTcyK3llZ0lDNEF2QU5qdVlWbEVSRVJFd3hyRENDSWllcUJWVkZSMGZUbFY0NmFFRUswMm0rM1F2YXlKaUlpSWFMaGpHRUZFUkE4OGk4V3krMmJuaFJEUU5HMWZYbDVlemIydWlZaUlpR2c0WXhoQlJFUVB2SUtDZ21wTjA0NzE3YVJ4elhvUm1wVHlQVWZXUmtSRVJEUWNNWXdnSWlJQ29DakthOWUrRmtKQUNGR2VtNXZMS1JwRVJFUkVBNHhoQkJFUkVZQ0dob2I5VXNxTGZhTWpBRURUdEwwT0xJbUlpSWhvMkdJWVFVUkVCUHRDbGp1QTNsRVJVa3BOQ0pIcTZMcUlpSWlJaGlPR0VVUkVSRi9TTk8zYUxUeUxyVlpydVNQcklTSWlJaHF1R0VZUUVSRjl5V2F6bFVzcHJ3S0FFT0tzeldaakdFRkVSRVEwQ0JoR0VCRVJmYW05dmIxSUNGRUlBRkxLdzBWRlJXMk9yb21JaUlob09HSVlRVVJFOUtXeXNySm1UZFBTQWFDbnAyZS9vK3NoSWlJaUdxNFlSaEFSRWZXSmlURzA5MmdGbWlZTEM2cXJMem02SENJaUlxTGhTdWZvQW9pSWlCek5JempXZTRTTHVscG80ckVlaUtnMktWMUhqekx0azZQRTdtNmI5Wk9MSlFWbkhGMGpFUkVSMFhEQ01JS0lpQjQ0d2NIQnpoYTlsNGVUWG9sVFZMRVdFRXNGNEFJQWlxSkFVUlRZcE5WWEFKT01xdTVucHVpRUxDbmx1MVliOW5XaW82V2h0TFFOZ09iZzJ5QWlJaUs2YnpHTUlDS2lCNExKWkhLeUdkM2lWQ2pUSUpUSk9zZ3BRb2d4ZmUyK1B0NFluNWlBQkhNODNOeGNVVkJZaEZQWnVTZ3JyMUFCTVVVSU1VV3ZvRWt2WFRNOG9zMFpOb2gwcmJYN1ZHM3QyYXVPdkM4aUlpS2kreEhEQ0NJaUd0YjhUREVCTGs3NnB3QzVRZ2NSTGdGZkllQUVDS2lxaXNrVHgyUEYwc1dZT0NFSlB0NGo0T0h1RGlFRU9qdTdjTFdoQWVVVmxkaStheS8yN1QrSTlvNE9Md2l4Q0JEemRGSTJTRGZqQlZOMHdpRnBsWnNxUy9PeUFVaEgzeThSRVJIUi9ZQmhCQkVSRFNmQzM5L3M0dVRkNHlFMS9UUUI1VHVLa0hNaGhCRVEwT2xVdUxtNklUQXdBQXZuemNISzVVc1JHaHgwMHd1NXVEakR4U1VJSWNGQm1EbDlLbjc1czMvQjN2MEhzVzNuYnB3OVY2SnJiVzBiMmQzZFBSSkFJblJZWjRvMkYwaUlqVjJkY3JORmJXdG9MQ3RyQmFkeUVCRVJFZDBVd3dnaUlycnYrY1hFdURuMXFPTjFpcG9NSVpPbE5FNVZGSXpxYlJVSURRbENvdG1NQkhNc3hpY21JaW95SEU1T1R2MzZERmRYRnp5eWFqbFdMVitDNnBwYW5NN0pRMjVlUG5MeUNsQjB0bGl4Mld4bUFmeW5zNHY0cGJOMHovU01Uc3lFdEdXaTI1WlpVVkhFblRtSWlJaUlyc0V3Z29pSTdsdkJZeElqVmIxOFFtaGlDVlNZSUtRUElBd0NnTkZveEt6cFU3RmkyV0xFam91R3QvY0l1TG02UWdoeFY1K3BxaXBNWWFFSUN3M0Jrb1h6MGRqVWlLcnFXdXhKM1k4OSt3Nmcvc3BWVndneFIwbzVHNHJhS0p5VWk2YW9oRFNyVGZ1NHBqUS9EWUJ0UUc2ZWlJaUk2RDdHTUlLSWlPNFh3amNxeXMxSk9ubm9WVGxYU3ZFZElUQWRFRG9BTUJqMGNITjFneWtzRkt1V0w4SHlKUXZoNmVrNWVNVUlBU2NuSTBZRkJHQlVRQUNTSjAzQXoxNzVYemg2TEFOLyszd0xjdk1MbE9hV1ZwL096azRmSVJDbkU4cGFVM1JDaVpEWVpPbkJKNnBWcTYrcXltOEJ3d2tpSWlKNkFER01JQ0tpSVMwME5INEVqSmdnVkhXeUFreUZRRElnZklYb0RRUWl3a2NqMFJ5UDhZa0pTRFRIWWN4b0UvUjZ2VU5xMWVsMGVHaldkTXlhTVEyWDZ1cVFsMStJMHptNXlNa3JRSDVoa2VqdTdoNExnZjlQYjVBL2hVRTlIUmFWZUV3Q0ozb3MzU2N1bHArcEFoZkFKQ0lpb2djRXd3Z2lJaHFLUk5EWVdMTmUwVDhCeUlWQ0lBaUFENzc4NzVhSG14dm16M3NJcTVZdlJWaG9DTHhIZU1IWjJmbXVwMkFNRkVVUkNCd1ZnRkVCL3BnemV3YWFtcHB4dWI0ZSt3NGN3bzQ5ZTFGVlZXTUVrQUxJWkNGRWk5Rm91R3lLTnFkTFRYNmkxenIvWGxwYTJ1M29leUFpSWlJYVRBd2ppSWhvS0ZDOEl5TGNuRFNEbDBHdld3VWhuZ05FZ2hCUUFRRW5veEZ1N202SUhSZU5oNWN2eFlKNUQvVjdBVXBIRUVMQVlEQmc1RWcvakJ6cGg3allHUHo0NVpkd0tqc0huMjNaanVNWko1VEdwaWF2enM1T0wwMlRZNkhJTlZiRjlVSllkTUxIV28vOGk2YTNYS3c5NjlvQ25PcHg5TDBRRVJFUkRTU0dFVVJFNUREKzRlYVJUcW95RVVLbUtFSk1rY0FrSWVBSjlFNTVHQmMxRnVPVGVxZGZKTVRISVNRNEdLcXFPTHJzdXlLRXdNVHhTWmlRbElpR2hrYmtGeFloSjY4QXAzTnlrWmRmS0ZwYVc0TUU4TStLUWJ3c3BURXZMTnFhQVptWWJyUDJaTmFjTHl3SDE1Z2dJaUtpWVlCaEJCRVIzV3RLYUZSc2lpcDBUd0tZQldDVWhCZ0JBVlVBQ1BEM3g5SkY4N0Zvd1Z3RWpob0Y3eEZlTUJnTVEyWUt4a0FSUXNESHh4dXpaMDdIOUtsVDBOVGNncXRYRzVCMlBCM2JkKzFGZm1HUlhnZ3hBVktPRndMUENvTytQaXc2SVVkSy9LMjdTZTZxcTh0cmQvUTlFQkVSRVgxVERDT0lpR2l3cVNaVG9ydE5aL1ZSZGNyamtNcXpFRElhUW9qZUhTbWM0T1hwZ2ZHSlpqeXlhZ1dtVDAyQlRxYzZ1dVo3U3FmVHdkZkhHNzQrM29nYUc0SHZmdnRaRkplVTR2TXQyM0hvaTZQaThwVXJIaDBkSFI0Mm14WU9nVWVjUitDeXljdTgyUWJ0UFp1MFZGelE2VnBRVkdSeDlIMFFFUkVSZlYwTUk0aUlhRENJd1BDNFlMMWVuUVFwcDBBZ1dZVnVraEJ3aGdDY25WMWdqb3RCb2prZUNlWTRKSm5qTVhLazM3QWIvWEEzb2lJajhMOS84bU84L0lPMXlDOG9RbTUrQVhMeUNwQ1RtNC9MOWZVakljVC9VS1ZZcXdybmdqQk5abUNjK1lSbVFVYjErYnl6QUt5T3JwK0lpSWpvZGhoR0VCSFJ3SW1KTVlUMkdHWUpuZmFFa0dJYUJQd0I0U2tFRkFBWVl3ckQ4cVdMTVgvdWJQajUrTURMeXhNNm5ZNGh4RzI0dWJvaUpYa1NraWROUUV0ckt4b2FtcEIxK2pTMjc5eUQ5TXdzQVNBZUVuRUFubEwxb241MGRFS0JoUGE1MW9GdFZWWDVqWTZ1bjRpSWlPaG1HRVlRRWRIZDBBY0h4N3BiblJCZzFPdStKVFM1QnFvTUVWQ0VvaXB3Y1hiR2lCRmVtSm84R1U4K3Rob0o1amhIMTN2ZlVoUUZYcDZlOFBMMHhKalJZWGppa1lkUmYrVXFQdjcwYyt4TlBTZ3VYcXB6Yld0dmQ3VmFyU1lCZFpucWdoWlRkT0pXbTgzMm5rVVRaNTF0TFMwVkZSVmRqcjRQSWlJaUlvQmhCQkVSOVo4U0dobHZVblJpTXFSSWdjQVVQWkFJQ0FPRWdLZW5KeExqWXpFK01RRUo1ampFeDhaZ3hBZ3ZSOWM4TFBuNSt1Q0gzMzhSTHo3L0hNNmVLMFZPWGo1TzUrUWlON2NBMWJXMUhwQnlqVTZucnRGSmxHZ0d6NHl3Y2VZTTlDQ2owdHBTQkFZVFJFUkU1RUFNSTRpSTZHc0pEZzUyMXJ0Nno1ZUtlRnBBSkVtSmtZRDBFT2lkWTJHT2k4WHFsY3N3WmZJaytQcDR3OVBUQTZyNllDMUU2U2hHb3hFSjhiR0lqNHZCNmhYTDBORFlpRFBGNTdCMXgyNzgvZkFYc0ZwdGtRcEVwSlRpVWFHWFYwdzZ6eEk1enZ5NTFxWnVyYTdPdnVEbytvbUlpT2pCd3pDQ2lJaHVMaWJHRUdpMWVrQnpEdEVyK0k1UThMZ0VSZ29Jb2FvcVhGMWNNSEtrSCtZOU5BdVBQN0lLcHJCUVIxZjh3Rk9FZ0x1N0c5emQzUkFXR29KRjgrZWlyYjBkVzNmc3d2YWRlMUZXWHU3YzF0NGVZckgwaEFpSU9jSk4vdFkwTHZHQXpXYjdpMnF4WlZnc1RTMFhMbHpvY1BSOUVCRVIwZkRITUlLSWlLNmxDNHd5aCtzaHBna05rNkVZcGtCQm5CQlFBY0IvNUVpTVR6UWowUnlIQkhNODRtTEd3Y1hGMmRFMTAyMjR1YnJpbVNjZng1T1Byc2I1c3ZMZUhUbnk4bkU2Snc5bDVSV3VOcHR0cFU1VlYwb250ZExnN0pjWjV1R1hLYXp5dUtYalNoNkRDU0lpSWhvc0RDT0lpQWplRVJFZWJxcnJDa1hJeHdBUkp3UkdTZ2xYSVNBQVlPYjBxVml4ZEJFU3pmSHc4ZkdHdTVzYkZFVnhkTm5VRHpxZERsRmpJekUyTWdMTGx5NUNRME1qeXNvcnNIdmZmdXpaZHdDdGJXMWhnQWdUUXE2U09sRnY5UENyTUhuNDdleVU4cE82NHJ4eVI5ZFBSRVJFd3d2RENDS2lCMUZFaE5GZnVuaXEwQ0lNZXZWN0VGZ3BJTHdCQVoxT0J6YzNWd1NOR29XbGl4ZmcwWWRYd05mSHg5RVYwd0FSUXNERjJSa3VRYzRJRGdyRXpPbFQ4YXQvL1NuMnBCN0E1bTA3Y09ac3NhRzF0UzJvcTdzN1NBRFRuSUZmbUtJVGprcG9mOUdrNVhCWGc5cFNYMS9VNXVqN0lDSWlvdnNid3dnaW9nZkdCTDBwMGhZTFJVNkJna21RbUNhRUxncm8vWUpxQ2cxQllrSThFdUxqTUQ0cEFXTWp3bUV3R0J4ZE5OMERlcjBPSzVZdXdyTEZDMUJUZXdIWk9Ybkl5Y3RIVGw0QnpoU2ZjN0pZTFBNRjFQbENPTlc1K29wMDF4RUptVklnc3gxZEo2OFVGN2M2dW40aUlpSzYvekNNSUNJYTVrYU9qdk4zTWFxckFPdkRRb2h4VWdvL0FUaEQ5QTdkWHpCdkRwWXZYb2h4MFdQaFBXSUVYRjFkSUhvM3lLQUhqS0lvQ0EwSlJraHdFQll1bUl1bXBpWlVWZGNpOWVBaDdOeTlGNWZyci9nRFdBVlZMQVBrRlRmcFZPMGFsYkJYczFyK1ZuMytUQ0VBNmVoN0lDSWlvdnNEd3dnaW9tRW1PRGpZV2EvMzhyQWExVVFGZUZFUldBQUlOd0F3R2d4d2RYUEZHRk1ZSGxtMUFpdVdMb2F6czVPalM2WWhSZ2dCSjZNUkFmNytDUEQzeCtTSjQvSFRuL3dZYWNjejhNbG5tM0VxTzAvWDJ0WWEwTm5aRlNDbG5LUVlqSythb2hOT2FSRHZXUzJXZlYyS3BhbWh0TFFWRENlSWlJam9GaGhHRUJFTkE4SEJ3YzV3OFluWENUa0ZRcVJJSUZrbnhHaWdkL1JEUlBob0pKcmpNVDR4QVlubU9JdzJoVUZWVlVlWFRmY1JJUVJtVEV2QmpHa3BxTHRjajl6OEF2dDBqc0tpczdxMjl2WmtGVWhXRFBvR0EvUlpibU1UamlzS01udGF1MC9XMXA2OTZ1ajZpWWlJYUdoaEdFRkVkQjhMSEJNVGF0VHJucEFReTRYQWFFRDRRUWdqQUxpN3VXSEYwa1ZZdEdBZVRHR2hHREhDQzg1T1RweUNRWGZOZjZRZkZzeDlDTE5uVGtkelV6TXUxdFhoU0ZvNnRtemZpZktLU204QUN4VUY4d1JrZzk3ZGNORTB6bnpJcG1tYnFvc0xUZ1BRSEYwL0VSRVJPUjdEQ0NLaSs0aS92OW5WeWFuSFF6TWFacW9DMzRZUXN5RGdMQUE0T1RuQnpjMFY1cmdZUExKeUJSYk1lMmhBUmorVWxKVGdKei81Q1JvYUdyQnUzVHFzWHIzNjdtOWtpSHYrK2VlUm01dmI3L2M5OTl4emVQbmxsKzJ2aC91ek0rajE4UFB6aForZkw4eHhzZmluLy9FOTVCVVU0ZFBOVzNIb2k2TnFTMHVyWDBkbnA1K21hV1pWS1A5a2lrNHNsTkErMEt6YWxqYXQ0MHBqV1ZrckdFNFFFUkU5a0JoR0VCRU5jWDUrTVc2dW51b0VUVldURlNHVEFVT3lUb2dnQUhBeUdoRXpMaHFKNWpna211T1JtQkNQb01CUkF6cjZZZlBtemFpcXFnSUF2UHZ1dXc3OVFuM2d3QUc4OHNvcmQrem41T1NFWThlTzJWOUxLYkZseXhaczNib1ZaV1ZsRUVJZ01qSVNUejMxRk9iTm16ZG85UTdXczdOYXJmajg4OCt4YTljdWxKZVhROU0wQkFZR1lzNmNPWGoyMldmaDV1WjJ3M3V5c3JLd2NlTkdGQlFVb0t1ckMwRkJRVmk2ZENtZWZmWlo2SFFEOTc4RDVyZ1ltT05pME5MYWlwemNmT1RtRlNBbkx4KzUrUVZxUTJPVFdVQjVYZWlVbjN2Qy9aUm5kRUttVFJPWlhSWkxSbjFGMGFVQks0S0lpSWlHUElZUlJFUkQxS2pJdUhGNlZYMU1BWlpBSUV3RmZBQ2hCNEJSQVFGWXVXd1I1czZlaGVEZ1FIaDVlc0ZnMEEvS0ZJems1R1I4OXRsbjBEUU5LU2twQTM3OXdYRHRjNUJTNG1jLyt4bjI3dDE3WFovYzNGems1dWJpQnovNEFaNS8vdmxiWG12ZHVuVzMvYXpMbHkvam80OCt1bW5iWUR3N3E5V0tsMTkrR1ptWm1kZWRMeXNyUTFsWkdmYnMyWU0vLy9uUDhQWDF0YmQ5OXRsbitNMXZmbk5kLy9MeWNyejExbHM0ZGVvVTNuampqUUZmUThURDNSMHpwMC9GdEpSa05MZTA0SEw5RldSbW5jTDJuWHVRblp2bkFZaUhwSlN6VkZVMnVUcnJMN2xHSjZSSmlZOHJpM1Zwd0ttZUFTMkdpSWlJaGh5R0VVUkVRNFB3allweU0xajFYZ2FkT2c5Q2ZGc0lwQURRQ3lIZzR1d01kM2QzVEo0NEhvOCt2QUxUcDA2NVo0WE5uajBiMjdadFEzTnpNOGFORzNmUFB2ZG1Ra0pDOFBqamo5KzByYlMwRktkUG53WUF6Smt6eDM1KzI3WnQ5aURDMDlNVFR6LzlOS3FycTdGanh3NEF3Si8rOUNmTW1UTUhKcFBwcHRkZHMyYk5iV3NxS2lxNlpSZ3hHTTl1MTY1ZDlpREN6YzBOMy8vKzkrSGg0WUgxNjllanBxWUd0YlcxV0w5K1BYNzYwNThDQUNvcUt2RGIzLzRXUUc5STgrU1RUOExGeFFVZmZQQUJMQllMMHRQVHNXUEhEcXhhdFdwQTZ2c3FWVlhoUFdJRXZFZU1RUFRZU0R6MzlKTW9LNi9FcDF1MklmWEEzNVdyRFEzZTdlMGQzamFiTFFhUUw1aWlyU1dhbHZCWElXMmZ5bTV4cWFvcXZ3V0FiVkNLSXlJaUlvZGhHRUZFNUVBZXdiSGVYczc2Q1VLUnlVSVJVNkhIWkNIZ0EvVCt6WEpjN0Rna211T1JsR2hHUW53Y2ZIMjhIVkpuWUdBZ0FnTURiemhmVWxLQzd1NXV4TVhGM1pNNm9xS2lianBOUTlNMFBQUE1Nd0FBdlY2UGwxNTZ5ZDYyWWNNRysvRXZmL2xMekpneEF3RFEyTmlJdExRMGFKcUdiZHUyM1hFRXhEZDFxMmYzZFpTVWxNREh4d2ZlM3YvNDUxNVFVR0EvL3U1M3Y0c25uM3dTQURCcTFDaDg3M3ZmQXdDY09YUEczdWV2Zi8wcmJMYmU3L0pQUC8wMGZ2U2pId0hvRFRMZWVPTU5BTDNUU1FZcmpMaVpNYVBEOE1xUFg4YTZsMTVFUWRGWm5NN0pSVTV1UHZJS0NzWEZTNWZHQ29GZlNxbjdGK0VpYzhPaUU0NUppUk05Rmt2bXhmSXpWZUIyb1VSRVJNTUN3d2dpb250UENZdElTQkFxbm9DQ2hVTEtRQW5oSXdBVkFvaU1DTWZLWlVzd2EvcFUrSS8wZzZlbkovUjZ4LzF4dldYTEZ2emJ2LzBiZ040UkI2Ky8vcnE5cmJLeUVxKzg4Z3BTVWxLd2R1MWF4TWZITzZUR25UdDNvcmk0R0FEd3lDT1BJQ0FnQUVEdnFJQytOUnU4dkx3d2JkbzArM3NXTEZpQXRMUTBBTDNyS2R6SzBhTkhiL3ZaMWRYVnQyeTczYk83blhQbnp1SHR0OS9Hb1VPSDhPR0hIMTRYUmdRRkJkbVByVmFyL2JpbjV4OHpHOGFNR1dNL1BuTGtpUDE0K2ZMbDl1TUZDeGJZdzRqQ3drSjBkSFRBeGNYbGE5VTNVSnljbkRCeGZDTEdKNXJSMnRhR3ExY2JrSjJiaCsyNzkrRjRlcWF6eldhYkFpbVRoU0thalVaRGZWaFVRb1pOYWgvVldGb1BvYUtpQ3dBU0VoS0NORTF6djZlRk81Nmx0YlgxUXNXWHo0Q0lpT2greERDQ2lPamVVQUxENDRMMGVuV2xBSjRIaEZrSXFJcWl3TlhGQlI0ZTdwZy9aelllZTJRVnhrV05kWFN0WDV1cnF5dUVFRWhQVDBkNmVqcW1USm55LzdOMzUvRlIxZmYrK0YrZk16TlpKenNRU0FJa0lmdWVzRVJBUWRtUlRSQVVzYUMwbHY1YWIyOTc3LzNlK3VDMjlmYng3YmU5MWR0YXJmVzJTa0ZGQldWVmRnTElHa2dDZ2V3N2tJM3MrNzdNT1ovZkh6RnppYXhDa2dud2VqNGVQand6bnpOejNwOHhQcEx6bXMrQ2RldldJVEl5OG82dmZlT05ON0J0MjdZN25yZCsvWG9zWDc3OGx1M3Q3ZTE0NzczM0FBRFcxdFpZdTNhdHVTMHZMODk4N08vdkQwVlJ6SS9IalJ0blBpNHFLcnJsKy8vODV6Ky9ZNDM5SlNjbkJ4czJiTUNKRXlmTXozMTdMWWZseTVkano1NDlLQ29xd3NhTkc2RnBHaHdjSE13alFOemQzYzBqUStycTZsQlRVd01BME92MWZVS0trU05Id3Q3ZUhxMnRyUUI2UGdOTFRjTlJGQVZPam81d2NuU0VyNDgzbm4xbU1hcHJhdkRsM2dQWTlkVStVVmxWNWR6YTB1cmNiVEw1QzZsOHo4Zkc2Wm9Nak54aWd2b1pnQi9vOWZwcEZpbmNjcnFjblowM0FQZ0lnT2xPSnhNUkVRMUZEQ09JaUFiQkdQOXdiMFduN0JCQ1JQYytaMjluaDJjV1BZMDVzMmNnS2p3Y0RnNDM3b0F3MUUyZVBCazdkKzdFcDU5K2l2Mzc5eU1oSVFFSkNRbVlOR2tTMXExYmgram82RHUveVgzYXVYT24rWVo3eVpJbGZSWnVySzZ1Tmg5Zi96d0F1TGk0bUkvYjJ0cGdNcG42ZFZlSjd5STdPeHNmZlBDQmVSU0RYcS9IN05tenNYcjFhdmo1K2ZVNTEyZzBZdE9tVFZpL2ZqMlNrcEx3dDcvOXpkd1dFaEtDZDk1NXh6eVNvcXFxeXR6bTR1TFNKNHpwZmE0M2pHaHNiQnlRdnQycjRjT0c0WWRyMTJEdDZsWEl6czNENmZoeitHTEhicFNVWGhNQXZJVEFMd3hTdjFZS1VTQ0VpTEowdlJaUUhCZ1krRVZ1Ym02enBRc2hJaUs2Rnd3amlJZ0dRYWNtV214MVNBRmd2anZ2N096RTZmaHphR3Z2Z0txcW1CSTdDVlpXVmhhczh0Nk1IVHNXdi96bEwvSHFxNjlpMjdadCtPS0xMNUNVbElTa3BDUk1uRGdSNjlhdFEweE16QTJ2KzluUGZ0Wm5iWWRic2JHeHVXV2J5V1RDbGkxYnpJOWZmUEhGUHUzdDdlM21ZNFBCMEtmdDI0Kzd1cnB1R2taY1Awcmhabkp6Yy9HakgvM290dWZjU21abUpqWnMyR0NlQ21JMEdyRjA2Vks4OE1JTGNIZDN2K2xyVENZVDNudnZ2WnRPTGNuS3lzTHJyNytPTjk5OEUzWjJkbjM2ZjdPZnJldjdlLzAwajZFa3IrQXlEaC85R3FkT24wVmRYWDNmUmluek9reW05KzMwK2c4c1U5M2dFMEtzRUVJOERhRC90ODRoSWlJYVJBd2ppSWdHUWVYbHRDb0EzL2NJQ1BpRkZXeCtDQ0dlNjVicTZPTFNVb2Vpa2xMRDdqMzdoTWVva1ZqMDlEd3NXZmcwM0VjTWg5Rm9mOE1OODFEbTdPeU1kZXZXNGFXWFhzSytmZnV3YWRNbW5EOS9IdWZQbjhmbm4zOE9mMy8vUHVmYjJOamNObWk0RzNGeGNhaXNyQVRRczQybWw1ZFhuL2JyYjdhdlgxOEJ1UEhtKzFhMU9EamNmam1DZTExbklUNCtIdi84ei84TW9HZHF4YXBWcTdCMDZWTFkyOXZmOW5WLytjdGZzR3ZYTGdEQWxDbFQ4TXRmL2hKV1ZsYjQ4NS8vakFNSER1RGN1WFA0elc5K2d6ZmZmUE8yL2YvMmM3YTJ0dmZVai82a2FocGFXMXZSMU5TTTR5ZFBZK2RYZTVHUmtRVk5Ta2dKVlFBdEVySVdBbkd5VzI0b0traTdhT21hQjF0VVZGVHdOMkVFRVJIUkE0MWhCQkhSSUNyTHk2c0I4RjlBeUovR2pOT0Z3NkJNMFVIRVFzcllhMlhsdnU5di9FajV4MGVmSUNqQUh6SFJrWWdNRDBOVVpEakdqdmE2WWUyQW9Tb2pJd05KU1VubUtSSkdvL0dtTjdvZEhSMTM5VzI4alkzTkxVT1o3ZHUzbTQrdlg1eXhsNk9qby9tNG9hR2hUMXRkWFozNTJNM043WVlwREwyKytPS0wyOVpYVVZGeDIvWmJFZUovdjlqdTdPeEVRME1EbXB1YmJ4dEdkSFoyOXVuemIzLzdXemc3T3dNQWZ2M3JYeU0rUGg2TmpZMDRkdXdZS2lvcSt2VC9adE13cnY4TXZqMk5aYkJJS1ZGVFc0djBqQ3lrcEdYZ1lrb3FVdE16emROSElGRXRCYzRETWxGVjFYUG9GQmVLaTlQcmIvK3VSRVJFTk5ReGpDQWlzb2lzcnVMTFNBWncwZFhQNzJONzJBd1hPb3dYMEsyRXliUWdNenZIS2pNN0I3dnM5c0xWMVFXaHdVRjRldDRjUFBuRVZCaU50Ly9tM0JKYVcxdXhmLzkrYk4rK0hWZXVYQUhRYzRPL2F0VXFMRisrSEViampldGh2UFBPTy9lMWdHVkZSUVhTMHRJQTlFeTVtRGJ0eGpVTXZiMjl6Y2NGQlFWOTJxNS8vTzFSRzlkNzg4MDM3MWpqdlpneVpRbysvL3h6ZlBUUlI0aUxpOE9ISDM2SWp6LytHTk9uVDhmenp6K1BpUk1uM3ZDYTh2SnlkSFYxQWVnWnNkRWJSQUE5MHpEYzNkM05vVU5KU1FtaW82T2gxK3RoTXBuUTBkR0IwdEpTOCtpUjh2Snl0TFcxQWVnSmZFYVBIajBnL2J3Vms4bUVsTFIwN0Qxd0dBbEpGMUJkVTRQR3hpWkkyYk56cDVUeXZDYmxaMURGVVpQU1hsbVdsMWNQUUIzVUlvbUlpR2pBTUl3Z0lySXNXVmRRMEZRSE5BRzRER0NicTUrZm82UE83a1VJOFZKcmE1dHZhMnVyUTNGSnFmV2hJOGVFazVNajVzeDhDczh2WDRxeG8wZkRhTFNIdGJXMXhZcXZxYW5CeG8wYnNXL2ZQdk9OclplWEYxYXZYbzNGaXhjUDZCb1ljWEZ4NXVQSXlNaWJqaWdJRFEyRnJhMHQydHZiVVZWVmhlVGtaSXdmUHg0QWNPalFJZk41TndzeWV0MXBLb21VRXAyZG5kKzFmQUE5SWNqdmZ2YzcvT1FuUDhIbXpadXhaODhlSEQ5K0hNZVBINGVQancrZWUrNDVQUFBNTStiUDBjbkp5ZnphNXVabVhMMTZGVDQrUGdDQSt2cDY4emFtUU0rMEdiMWVqK2pvYVBQNkVnY09ITUM2ZGVzQUFBY1BIalNmTzJYS2xBRWZlV015bWREUzJvcTZ1bnJzTzNnWVgrNDlnTUtpWWtncHBSQkNsWkROUXFKYVN1dzJkWXVOcFZkUzh3ZTBJQ0lpSXJJb2hoRkVSRVBNTitIRTN3Qjg0T1ViSHFMVGkxaWhpQ2tTTXJheHNTbGcrNjZ2OUR0Mjc0R3ZqemVpSXlNUUhSbU82TWh3K1ByNndHcVExNWhJU1VreGoyNElDQWpBeXkrL2pGbXpadDNWamUxcnI3MkcxMTU3N1o2dmZlYk1HZk54YUdqb1RjK3h0cmJHb2tXTHpEV3VYNzhlcTFhdFFrRkJBUklTRWdEMDdDaXhjT0hDVzE0blBqNyt0blZrWldWaDllclYzN1g4UGp3OVBiRisvWHFzVzdjT1c3WnN3ZmJ0MjNIMTZsVzg4Y1liaUl5TVJHQmdvTG5XU1pNbUlTa3BDVURQdHFPdnZQSUtEQVlEUHZua0UzUjBkQURvMmJhMGR4ZU81Y3VYbThPSWpSczNvcjI5SFhxOUhwczNielpmZjgyYU5mZFYvNjFvbW9ieWlrcWtwbVhnWW1vYVVsTFRrWkdWamE2dUxrZ3BKU0RLSVpDa2FkcFpvY3FrbGtZMXVibzZxMlZBaWlFaUlxSWhoV0VFRWRIUXBaWmVTVThIa0Q1OGVNam45bTVXd3pSTkRSR0s3amtwdGVXWHIxeTF2M3psS3ZZZFBBUlhGeGY0ZUh0ajdxeW5NSGYyVEF3ZjVqWW9CUW9oRUIwZGpiVnIxMkxxMUttRGNrMmc1MXYyek14TTgrUHc4UEJibnZ2akgvOFlTVWxKS0N3c1JHMXRMZDU5OTExem0xNnZ4MjkvKzlzN0xobzVXTnpjM1BEVG4vNFVhOWV1eGJadDI3QjE2OVliem5uOTlkZXhidDA2bEpXVm9iUzBGTC81elcvNnRMdTR1T0Qzdi8rOWVVMktXYk5tWWM2Y09ZaUxpNFBKWk9vVFFnREF1blhyYnZ2NTNZdU96azZjT1hzTyt3L0dJUzBqQzdXMWRXaHE3dG1CVWtxcENZSGprTnBua0RobmF0T3FTa3N6R3dCby9Wb0VFUkVSRFdrTUk0aUlIZ0RWMVZrdDFkVm9BVkFJNEFDOHZIN3NiWFI5RGxLczZXanZDTHZXWHVGd3JhemNKdjVjZ3ZqRG45N0d0S2xUc0h6WkVvU0hCc05vYno5Z095Vk1uejRkTTJmT0hKRDN2cDM4L0h6ektBRGcxaU1qZ0o1RkxELysrR05zMkxBQng0OGZSMlZsSll4R0k2S2pvN0Z1M1RvRUJBUUE2Sm4yMEx0TjZQV0xVcjcvL3Z1M3JhVjNvVTZnWjZUSSsrKy9EeGNYRnp6MzNIUDMxRGVnWjlIUDczLy8rM2p4eFJmTmF5ajBHalZxRkxadTNZcFBQLzBVeDQ4ZlIwbEpDVFJOZzRlSEI1NTQ0Z204OU5KTGNIVjE3Zk9hMy8zdWQ0aUtpc0pYWDMyRm9xSWlLSXFDd01CQXJGcW85UEM5QUFBZ0FFbEVRVlMxQ2pObXpMam5PbnQxZDNlanVhVVZGUlVWMlBYVlB1dy9GSWZLcXVyZUtSZ21DZGtNS1VxbGxEdWFWZmxoWFVGYTZYMWZsSWlJaUI1bzNLT2F2ck9JaUlqSDlIcjliaW1salJEaWhZc1hMeDY2ODZ1STdoMS81bTVMZUFSR0JPZ2xIdE1KVEpLS2VFeEloRUVJS3dEdzh2UkFWRVFZb2lMQ0VSa1JocERnSU5qZTUzYWFENnV5c3JLYjdzaHhMM3g5ZmZ2c2V2RXdNcWtxQ2d1TGtKS1dnZFQwZEZ4S1RVZE9iajQwVFlPVVVnTlFCQ0FSVWlaSVZTWVZvZjBpQ2dydWJYRU5Nb3VLaW5wRFVaUmZTQ2wzdHJXMXJjM056VzIyZEUxRVJFVDNnaU1qaUlnZWJMSXNOeTBYUUs2WGw5YzJ6ZHA1bUY2bkJBZ2hsd2toVnBaZUszTXR2VmFHUTBlK2hxdUxDN3c4UFRCcnhuVE1uek1MWTBaNzlkbGU4bEduS01vZEY2dThXLzMxUGtOUlkxTVRqcDg4allPSGp5QTdOeDkxZGZWb2EyL3ZiVFpKS1E5Q2xWdE5tbnErVmJaWDExKzUwZ1JBM3VZdGlZaUk2QkhFTUlLSTZDRlJXbHJhRHBTV0FDZ0JjQXpBUDQwSmpIaFdDUEZTdDhrMHZySzYyckd5cXNyMllrcXE4dWQzL3dlVEpvekhzODhzUnV6RUdEZzRPTURlenU2UkRpZEdqaHg1eDhVcUgwVWRIUjFvYVczRjFhdEYyTDU3RHc0ZlBZYm01cGFlS1JoQUZ5Q2FJYlZDVFlpdHNrMzdzTGc0dmQ3U05STVJFZEhReHpDQ2lPamhKWXR6MDNZQTJPRVRIRHhXMWF4aUZZakpVc2pIdXJxN0krTFBKZHJGbjB1RW02c3JJc05ERVJNZGljandNSVNGQnNQSjBkSFN0Wk1GZFhaMklmL3laYVNrcHVOaWFocFNVOU5SV0Z3Q0tTV2toQXJJQWtBa3FKRG5WQldKMS9MVE1nQ1lMRjAzRVJFUlBUZ1lSaEFSUFFLdVptY1hBU2lDbjk5WG8rSGdwb2h1YndIZE1nbnhRbTFkbmNmWEowL2p4T2w0dUxnNHczMzRjRXgvWWlvV3pwK0x3QUEvS0lwaTZmSnBrRlJXVlNIdTZBa2NqRHVDb3VJUzFOWFhvN096Q3dBZ3BXeUh4QjVObFo4SkhUTGFkTjNWMVZuY2hwT0lpSWp1RGNNSUlxSkhTVUZCWndsUWhwNS96Z0w0UDJQOHcyWUxuZkt5VlBGa2JXMnRZMDFOclYxV1RxN3kvc2FQRUJJY2lLV0xGMkxtazlQZzdPd0VvNzA5dzRtSGhKUVM3ZTA5VXpEUzBqUHd4WTR2RVorUWlJNk9Ec2llTFR3NkJkQWtnU3dwNWFjZERaV2ZWMVpXdGxxNmJpSWlJbm80TUl3Z0luckVGZWRuSEFGd1pHeHc4Q2lvMXJGUVpDeUFLYXFxUldWa1pqdG1aR2JqN2IvK0RlR2hJWWlLQ0VOTVZDUWl3c1BnNXVyeVNLOHg4YUJxYTJ0SGRrNHVMcWFrSVNVdEhTbHA2U2l2cU94dDdwWVMyUURPUVNKUlZVMkp4UVdaT1FBMHkxVk1SRVJFRHlPR0VVUkVCQUFveXM0dUIvQWxNSDYvdDNlN20ycGxOVnBBemxjVXJHcHViZ2s4bTVDRWN3bEpjSEoyd2pBM04weWFFSU5uRmo2TnlJZ3dHQXdHUzVkUHR5R2xSRkZ4Q2ZZZU9JVGpKMCtqckx3Q3RYWDFVRlcxdDcxSlFuNmhtYlFkSmxYTkZaMk4xV1ZsWlcwV0xwdUlpSWdlWWd3amlJam9XNUs3Q3d0UkFhQUN3SGtBLzljek9PSXhLdzAva0lveXU2RyswYVcrdnRHKzRQSVYzWll2ZHNESGV5eVdMSnlQZWJObllzU0lFVEFhN2FIWDZTemNoMGVibEJLdGJXMW9iR3pDdWNRazdQeHlMNUl2cGNKa012Vk13UkNpSFpCTjBKQUNLVDh1ekV2YkJhREwwblVURVJIUm80TmhCQkVSM2RHMTdMUUVBQW5PM3Q3T1RsWU9VNFNpbXlTbGZBekF4S3VGUmE1di8vWHYrTnVHRHhFYUVvVG9pSEJFaG9jaEpqb1NvMGE2Y3lySElHcHFha1pLZWdaUzB6S1FrcGFHbE5RTTFEYzBBQUNrbEIxQ0lFMENpZERVUkVDY0xjcE5Ld1FnTFZzMUVSRVJQWW9ZUmhBUjBWMXJLQ3hzYUFBT0FEZzgwcy9QMVVaWWVXbzZ3MHdBTDNaMmRrWmZ2SlNLaTVkUzRXQTB3czNWRmVIaElWajA5RHhNaVowRU96dGJTNWYvVURLWlZHVG41R0x2d2NPSVA1ZUF5cXBxTk5RM1FKTTlHWVBVWkJVZ3Q1cFV1UnVLVXFEdmFxd3RMQ3pzc0hEWlJFUkU5SWhqR0VGRVJQZENyU2dvcUFaUURTQUZ3Si9HK0lXRUtqcXJIMHJJUlUwdExhN05MUzNHcTBWRnVyMzdENGtSdzRkaDBkUHpzSGpCZkhoNmpvS0QwY2gxSnU2UnBtbG9hV2xGWFVNOXZqNStHdHQzZjRXOC9BSklLU0dsMUlSQW01U2lHWkFKVXRNMkZPV2xIN1IwelVSRVJFVGZ4akNDaUlqNlJYRkJWaWFBbjd1N3UvL1N4bm5rSkNua1pBSHhtSlNZVUZsVlBYTGp4NStLelo5OWpuSGpmREVoSmdvUllhR0lpZ2lIai9jWTZMakd4RzFKS1ZGZFU0UFV0QXlrcG1jaStWSUtNck95MGRMYTFudENNd1JTSlpBb0pjNnFta3dzelV1OVp0bXFpWWlJaUc2TllRUVJFZldyeXNyS1ZsUldIZ2R3MGpNb3lFVm4wcmxES0kvcmRNcWFydTd1eVRtNWVVcE9iaDdzN0d6aDZ1SUN2M0crV0x4Z1BwNmNOaFhPVGs2V0xuOUk2ZXpxd3FXVVZPemVzeC9KbDFKUlcxZUh4c1ltYzd1VXNraEtiQmFhM0MrN3VvdUw3RVV0c3JLNEVDVVJFUkVOZVF3amlJaG9vR2pYY25KcUFkUUN5QUx3d2RqQUNCOEFMd040b2JXdGJWaGJXN3V4cFBTYS9zU3BNOExSd1FFem41cUdaNTlaakFEL2NURGFHMkZ0YmZWSUxZQnBNcG5RMHRLS3l1b3E3TnQvR0hzT0hFSkphYzhBQnltaENzZzJDZEVFeUNPcXFuMVlrcDkreXNJbEV4RVJFZDBUaGhGRVJEUm9pbkxUcmdMNFQ4RHY5Mk1DalJPRWtMRkNpRmdBanpVMk5YbnQzck5mMmJQL0VNYU05a0pVUkJnaUk4SVFFeFdKb0FCLzZQVVA1NjhzS1NWS3k4cHc4VklxVXRNeWNDa3RIVG01K2VqczdPeHBoNndYRUJla2xBbWFRRktYU1NSV0ZLUlVXN2hzSWlJaW92dnljUDVsUjBSRVExeEJaM0V1NGdHYzlmVWQ3OWhoNkI2cGw0Z1ZPckZTbWt5enJoWVdHYTRXRm1IL29TTndjM1hCYUM5UHpKc3pDMC9QbVlYaHc0YzlGS01sMnRyYWNTcitMUFllT0lTczdGelUxdGFocGJYVjNDNmxUSWZFWjFKRlhMdlVybFZlVHFzRFlMSmN4VVJFUkVUOWgyRUVFUkZaa3J4eUpia1JRQ09BWEFDYlI0OE85TkRaV2EwR2xCZTZPcnM4eXlzcUhNdktLd3hKRnk2S04vLzBEaDZmOGhpV0xsbUk2TWdJT0RvNndOYkc1b0VJSjdxNnV0RGMwb0tyaGNYWWQrQVFEc1lkUlhWTkxhU1VFaEFhZ0JZQTlVTGlRSWVxYlN3dlNMdG82WnFKaUlpSUJnckRDQ0lpR2xKS1NuTExBTHdCNEU5ai9TSWlvSmRUSUpSWVNCbmIzdEhwZS9UNFNkMnhFNmZnUG1JNG9xTWlFQlVSanFqd01FU0VoOExhMnRyUzVmZWhhUnJ5QzY0Z0pTMGRxV2taU0U1SnhkWENJcGhNcHA0UVFxQktBQmMwS1JPa2xPZmE2anFUYW1weW15MWROeEVSRWRGQVl4aEJSRVJEbGFtb1ozVEF4V0dCZ1IvYnFvWVJRaWRpZEJEUGExRG1WMVJXMlIwOGZCUkhqcDJBaTdNelJvMGNnWmt6bnNTQ3ViUGg0ejNXb3FNbDZ1cnJjZXo0S2V3N0dJY3JWNitpcnE0ZTdSMGRBQUFwcFFhQjh3TDR6QVI1WEVOWCtiWGNuQVlBcXNVS0ppSWlJaHBrRENPSWlHaklxOG5OYlFiUURPQXlnTzNPM2xIT3p0WnlKWUMxcG02VFQzVjF0VU5WZGJWMVdrYVcrTXQ3NzJOaVREU1dQYk1RajAyYUNHY25SOWpaMlVGUmxBR3BUVXFKanM1T3RMUzBJQ3NuRDEvdFBZQWpYeDlIYTJzYnBKUlNDS0ZLeUdZcFVRdE5ibE5OM1IrVlhzbk9INUJpaUlpSWlCNFFEQ09JaU9pQjAxQ1kwdEFBL0IzQUI2T0RJMElVRGJGQ0VWT2tsTEdxcWdZa25MOWdTRGgvQWE0dUxnZ1BDMEhNTjlNNUlzSkQ0ZVRvMkM4MWRIVjNJenNuMXp6OUlqVXRBNlhYeXFCcEdxU1VtZ0RLSUhCZWs5cFpUVU5pU1ZmVGVSUVdkdlRMeFltSWlJZ2VjQXdqaUlqb1FhYVZaS2RsQU1od2Q0LzQzTmEyYTdobVpRaUJVRllxQW92cjZ1dWRUcDZPeDVuNGMzQnlkc0l3VjFkTW56WVZpeGZNUjFDQVAzUTYzWGU2bUpRUzVSV1ZPSHprR1BZZmlrTlplUVhxNmh2UTFkWFZlNFpKYWpnRklUNlJtcHFnZGFDeXVEaTlBWURzNzQ0VEVSRVJQY2dZUmhBUjBVT2hzakt0RlVBcmdFSUFCNFlQSDI2MGRmRllLblI0Q1pvYVZsdGI3MWhiVzJlVFYzQlpiTmkwR1VFQi9uaG15VUxNZW1vNmhybTZ3dDdlN29ad1FrcUp0dloyTkRVMzQ4S0ZTOWkxWnkvT0paeEhWM2YzTjFNdzBDMkJGaUZ4VFlQOHZMdGIrNlRzY2thSkpmcFBSRVJFOUNCaEdFRkVSQStsNnVycUZsUlhmd0xnRTgrZ3lBQ2RKbU9GRUk5QnlNbENJamduTDkvbUQvLzlaN3ozOXcwSURRcENaR1E0WXFJaUVCMFpEanM3TzJSa1pPRmlTaHBTMHRPUmxwNkp5c29xU0FCU1FnVmtNU0RPcVpxV3FHbElMTTFQdXdpZzI4SmRKaUlpSW5wZ01Jd2dJcUtIM3JXYzFEd0FlZDdlM3R1N2RNYmhlcDBTb0ZQd0RJQ1Z6YzB0d3hMT1gwRGloV1E0T2pyQXpkVVZlcDBPOVEwTnFLdHZnS3IyYkhJaHBld0VzRi9WNUhacFVwTGJsSmJLdW9LQ1puQUtCZzJRcUtpb040UVF6MTMvbkJEQzVadkRlZmIyOXVuUjBkSHl1cmFTcnE2dXRSa1pHWmNIdFZBaUlxSjd3RENDaUlnZUdZVTlDMGlXZlBQUE1XRDh2NDRONmw0TWlMVUNpS2x2YUhScXFHK3cvZWIwTGlHVUpnbXRCQklmdDlhWk5sVlhaN1ZZcm5wNjFBZ2hNb1VRWHJqSjMydENDSHNBOXRkdllTdWx6R1lRUVVSRUR3cUdFVVJFOUFoTDdpN0t3VTRBT3ozR2hZMjJNNGdWdHRiNkh3TFNxdDJrZnFxcXBwMkZ1UmtaQURSTFYwcVBIbFZWTTNRNlhhRVF3azlLaWV1RGgxNVM5Z3lNRUVKQTA3VHRnMTBqRVJIUnZScVlUZGVKaUlnZU1HV1hNMHJzck1SWmcxNDQ2M1hDMVdpbE8zNDFOeU1ORENMSVF0cmEyZ29BWk4zdCtWTEsvUU5ZRGhFUlViOWlHRUZFUkVRMEJCVVVGRFJKS1JNQm1JRC9IUVh4YlVJSVNDbDNwcVdsVlExbWZVUkVSUGVEWVFRUkVSSFJFQ1dsUEFXZzZ4WnQxeDkvT2xnMUVSRVI5UWVHRVVSRVJFUkRsRjZ2VDlRMHJhVDM4YmRIUjN3ektpSmZDSkUwNk1VUkVSSGRCNFlSUkVSRVJFTlVjbkp5dDZJb24zeDc4Y3B2allxSVZ4U2xZYkJySXlJaXVoOE1JNGlJaUlpR3NQYjI5azFTeXRaYk5RTTRtNXljM0Q2WU5SRVJFZDB2aGhGRVJFUkVRMWgyZG5ZNWdMTTMyOW9UUUptbWFja0FicjY2SlJFUjBSREZNSUtJaUlob2lOTTBiYXY4Wm01Rzd4U05iOWFMS0RXWlRCa1dMWTZJaU9nZU1Jd2dJaUlpR3ZwU0FKVGZaSFRFMGF5c3JKdnV0a0ZFUkRTVU1Zd2dJaUlpR3VLNnVyb3FBR1I5KzNsVlZiZGJvQndpSXFMN3hqQ0NpSWlJYUlqTHpzNHVsMUltU2lrMUlVVHZGSTNVdExTMFhFdlhSa1JFZEM4WVJoQVJFUkU5QUlRUThVS0lydXNlLzgyUzlSQVJFZDBQaGhGRVJFUkVENERtNXViNDNpMCtwWlN0cXFvZXQzUk5SRVJFOTRwaEJCRVJFZEVEb0tDZ29BbkFOZ0FRUXNTMXRyWldXTGdrSWlLaWU4WXdnb2lJaU9nQllUS1pOZ0xvMERUdFhFRkJRWXVsNnlFaUlycFhEQ09JaUlpSUhneTYyalpacGFycTJlN3U3aHdBbXFVTElpSWl1bGQ2U3hkQVJFUkVSTGZtNnVmbmFOVGJUVmVrbUFVZ3VyVWJvMVJWV1QwMk1HSkVWNWZ1YVBuVlMwV1dycEdJaU9pN1loaEJSRVJFTkFSNStnWUY2SzJzLzFrSXNRd1N6aERTR29Bd2FSQVF5amhGWUxHMWpkWStOaWd5WHUyV2Z5MjluSGJJMGpVVEVSSGRMWVlSUkVSRVJKYW5IeDBZT0VJUnR0NEMyblJBTEJkQ3hQUTIydG5aWXRSSWQvajYrc0RaMFJHWk9UbWl2THpTdXI2aHdWb0lMRkNzeEFMdm9NZ0tDZXdVVXU1VFZTMWZkalNVbFphV3RsdXlVMFJFUkxmQ01JS0lpSWpJUXB5OW81eWRyZFhwRW1LcUVHSThoSXdTVUZ3QlFGRVUrUHVOUSt5RUdFUkZoaU1zSkJqZVk4ZEFVWFNvcnFsQlJtWVdNckp5a0hRaEdSZFQwdERaMlRsU0FLOEMrSUZPcjh1UzlxNFh4d2E2bmROVTlXUkpRY1psQzNlVmlJaW9ENFlSUkVSRVJJTnNkR0RZQkFYNnRZcUNPWkM2NFFDTVFrQUhBQzdPVHBnOTQwa3NXYndBQWVQR3dXaTBoN1cxZFovWHU0OFlEdmNSMHpGOTJ1TjRxV1VscXF0cmNPRHdVZXpaZnhDRlJVVTJrSWdCRUFVaFZ1bUVydDQ3S0NKWkFwdUxjdEsrQW1BYS9CNFRFUkgxeFRDQ2lJaUlhR0RwUi9pRXVkbnFkQjVDajdtUWNvMVFsT0RlUm50N083aTZ1aUF3d0ErTEZ6eU42WTlQZ1lPRDhlN2VXS2VEczVNVG5KMmM4RE8vY2ZqSnV1OGpOVDBEWCs0OWdLUUxGNVdhMmxxN3hzWW1PeW1scHdBV2V3ZEYxa3RnaTBsaXB6U3BCVXBuUXcybmNoQVJrU1V3akNBaUlpSWFBQ044d3R4dHJIVVRoVUNza0pnQ2lQRkN3QWxDUUsvWEk5RGZEMUdSNFlpSmlrQlVSRGpHalBhQ1RxZTdyMnNhREFaTWlJbkcrT2dvMU5iVklTMDlFOGtwYVVoTlMwZDZSaGFhVzFwY0JQQ3FGZVFQcFpVdVV4amN6bzRKY0VzMENabFVscHVXRDI0WFNrUkVnNFJoQkJFUkVWRS9HaDBjUGswbmxiVkNpQm1RMGtWS1lkYzdCV09rK3dnc1dUZ2ZpeGJNeHloM2R4aU45akFZRFAxZWd4QUN3OXpjTU9QSmFaait4T05vYld0RlkyTVRUcHlLeC9aZFh5SXJKOWRLMDdSb0NSbWxLT0w3VmdKTjNrR1JxVUxEcDFmekdyY0RoUjM5WGhRUkVkRjFHRVlRRVJFUjNhdVFFS3V4VXJwcHF1SWxGTU5TQmZJRkFlRU4wZFBzNk9nSVYxY1h4RVJGWXRIVGN4RTdhUUpzdnJYK3cwRFQ2UlE0T2pqQTBjRUJxMWM5aHhkWExrZE9YZ0gySHp5TWsyZmlSV1ZWdFcxOWZZT3RwbWx6b01PY3NVRk8vd01adVZ0VDhWbTNYdVRLZXEyNnNqS3RkVkNMSmlLaWh4N0RDQ0lpSXFMdnlHTmMyR2lEUVRkUjBUQUZBckZDUWJRUXNBY0ViS3l0RVJvU2hKam9LRVNHaHlJcUlneWpSbzZFRU1MU1pRUG8yYVVqSkNnQXdZSCtXUGY5bDVDUmxZMlV0SFJjU2tsRFNub0c2dXJxalJCWUxRUlc2UVJ5cEt0SUhPc1VjVTVWWkdKcFRubzJ1QUFtRVJIMUE0WVJSRVJFUkhkSEdSc1FQbGNvdXBXQW5BUUJkeW5oSkNBVUlRQWY3N0Y0ZXQ0Y3pKNHhIZTRqUnNEVnhRVUd3OUQ5VTBzSUFTY25SMHlkSEl2SnNSUFIyTmlFMnZwNkpGMUl4cDU5aDNBeEpWVm5NcGxDSVJFQ25YaGVMNVZxNzZESVhLbkpIVzMxcHMrcnE3TmFMTjBISWlKNmNBM2QzNUJFUkVSRUZqWGU0T1hWNFNCdDVSaURZbGpaTTFwQWVBQ0FFQXJzYkczaDdPeUVLYkdUc0hUSlFreUlpWUplLzJEK2FhVW9DbHhjbk9IaTRndy9YeCs4c09KWlhDMHF3cDU5QnhGMzlMZ29yNmkwYjJsdHRWZFYxVnZveEZ4N044TzdkbTRSdXpWb0gzVjFLeW1HenJwbTdzcEJSRVRmeFlQNUc1T0lpSWhvWUFodjc2Q3hzREpFU1VXZENLR2ZKaVFtQ0NGc0FNREJhRVJRb0Q5Q1E0SXhJVG9La3liRXdNM05kY2hNd2VndlFnajRlbnZqNS8vMFk2ejcva3RJU2MvQStRdVhrSjZaaWF6c1hGUlVWdGtJaUJlRUZNL2JXb2xjR054T2pRbHlQYWRKN1ZKcHJwWURaSFZadWc5RVJEUzBNWXdnSWlJaUF2UmpnaUxuQ1ltbFFvZ0pVc0JUU09raUlCUkZweURBZnh6bXpwcUJ4NmRNaHNkSWR3d2ZQdXlCSFFYeFhkbloyV0ZLN0NSTW5qUVI5UTBOcUtpb1FtcEdKZzdGSGNYNTVJdEtSMGRuc0FTQ2RFSzhxQlA2Y3U5QUxRc2kvSUJKcCswb3pjeXNzM1Q5UkVRME5EMGF2MFdKaUlpSSt0SjVlSGhZNisxY3ZJVkI5N0tBK0tHQWNJYm9HUlZnWlREQTJja1JNNTZjaGhlZlg0N2dvRUFvaW1McG1pMUtDQUZYRnhlNHVyZ2dKRGdRTDZ4WWhxcWFHdXpZOVJXKzNIdEFsRjRyTTNaMWRmbHJnRCtBSlhwVitmdllvS2lkVXRQKzNxNDNKVlpuMlhZQ3lkMlc3Z2NSRVEwTkRDT0lpSWpvVWFIejhvM3lWUXhxbENLVXlRQ21DU0VpQUJnQXdOWEZCY0ZCZ1lnTUQ4WEU4ZEdJaWdpSG82UERRemNGb3orTkdEWU1QMW4zQTd6eThtcms1T1VqNmZ4RlhFcE5RMlpPRG9xTFM0VUFsa3RGUEd1dkdZcnRnOVNUbWhaK1JncDVTYlkyWkhLTkNTS2lSeHZEQ0NJaUlucTRlWG5aanJGM1dhZ0laUmtnd3lFVVQwZzRDU0dFUWE5SFJIZ29Gc3liZy9IUlVYQjNINEZoYm01UUZBWVEzNFdWbFJVaXdrSVJFUmFLcHFabVZGUlc0dkxWUXV3N2NCaW56eWFJbHBhV3NRRFdLSXB1QlNETFlYUXJHQlBvZWtDMmRXNHZLY2t0czNUOVJFUTArQmhHRUJFUjBjTkc3KzRlWVczbHBJUW9RbHNuRkxGS1FOZ0IzMHpCc0xMQ1NQY1JXRGgvRHA1OVpqRzh4NDZ4ZEwwUEZVZEhCemc2T2lEQTN3L3o1OHhDYzNNTDloOCtnaDI3dmtST2JyNXRaMWVYcjZxcXZqb2g1c0JvKzdaUFVNUlJUWWovYWRVNmp0Yms2anFCckc0QTB0TDlJQ0tpZ2NVd2dvaUlpQjRHZXE5eG9kNTZuU0VNUWs2R3dHd0FFVUlvT2dBWVBzd05BWDUrQ0EwSnd1TlRZaEVURlFVN08xc0xsL3hvY0hBd1l1WHlwVmorekNMazVWL0dtYk1KdUppYWhyejhBaFFWbDBCQ21hVUFzNHpDNXBveENFZUFxSlBTSkZQYkdydnpxNnV6V2l4ZFB4RVJEUXlHRVVSRVJQVEFjblgxYzNRWVlidFFRTXdCUkRpQWNRQWNoUkRDMXNZRzQyT2lNT3VwNlFnSkRzVFlNV013N0NIY2h2TkJvZGZyRVJJY2lKRGdRTFMwdEtLb3BBUlhyaGJpeEtrek9CVi9EclcxZFo0QVhwWlNybFQwS0xKM3M4cTFIeFo1d29TdWZhWFoyZm1XcnArSWlQb1h3d2dpSWlKNjRJd05qb2dSVXZrWklGY0tJYXl1Ynh2dDVZbm5saTNGOHl1V1laaWJxNlZLcE5zd0d1MFJHaHlFME9BZ0xIcDZIam83TzNINDZOZjRaTXNYU0VuTHNGRlZOVkFBZ1lCWWJJRDFXOTZCa2FjMXlMOFU1NmJ0QnFCYXVuNGlJcnAvRENPSWlJaG9xRE9NOWdzYm95Z2lBSXJ1Y1NHMHBaQWlTQWdJUUdDayt3aU1HZTJGeVBBd3pKcnhKQ0xDUW1GdGJYWG5kNlVodzlyYUdvc1h6TWZDK1hOeHRhZ1l4MDZjUkdKU01nb0xpMUI2clF6ZEp0TVRPb2duZklLaWFxU1Fld0I1eEtScFdaMTEyaFZPNVNBaWVqQXhqQ0FpSXFJaHlkRXIxTlhGcU13VFVLWURpQVpFQUNBZEJSUmhOTnBqd3Zob1BESGxNWVFFQjhGdm5BOWNYVnc0QmVNQnB5Z0t4dmw0WTV5UE43NzMvQXBjS1N4Q2ZzRVZuRTFJUkh4Q0Vpb3FLb2NKaU85RDRrVzlvcitpZDVYcHRxNFI4VkRWbzhVRm1WbVdycCtJaU80ZXd3Z2lJaUlhVXNZRVJrMVZJRjhUaWxoMC9mTkNDQVQ0KytQbDc2M0V3dmx6WVc5dmI2a1NhUkRZMmRraExDUVlZU0hCV0xwNEFWUlZSVUxTQld6NitGUEVKeVJaZDNWMUJVTVJ3VHFJNTZBbzhBNktUQWZFVzRVNUtaOEI2TFowL1VSRWRIc01JNGlJaU1oaXZMeThiQTMycm1OTVFLQWl4Q3dCTEJRQ1BvQ0FFQUtlSHFQZ1BYWU1KazJJd1ZQVHB5SFFmeHowZXY3NThpalM2WFNZT2prV1V4NmJoTEx5Q3B5T1A0ZlQ4ZWR3K2NwVkZKZVdvcU9qTXh6QWh6NUJrVzlMZ2NPYUt2Y0xEUm5DcEZ3cExFeHBzSFQ5UkVUVUYzK2JFeEVSMGFEejlJdncwaXVZQnlHbVNVV0U2NlgwZ3hCR0FIQjFjY2JVeWJHWUhCdUx3SUJ4R09makEwZEhCMHVYVEVORWIwaTFjc1V5TEYyOEFFWEZKU2k0Y2hYbmt5L2gxT2w0RkJZVk93RjRUcWNUUzZHZ1NPcVI1UjBVa1NBVmNhZ29LelVWZ0dicFBoQVJFY01JSWlJaUdrUmpBNktlVmhUNS93RmlPb1Mwa1JJR0FRaWRUb2ZvcUVpc1hMRU1UMDE3SEhiMmRyQXlHTGdHQk4yV3RiVTFBdno5NE84M0RyTm5QSW4vODdOL1FucG1Gajdmc1F0SGo1MHd0TFczKzBIS2NVSW9UMFBLWDNvSFJlWkpUZjZqcUszdVE1U1d0bHU2ZmlLaVJ4bkRDQ0lpSWhvUVhsNWV0ckIyOHRUcEZIOUFtUzhVTEJNQ25vQ0FYcWZEeUpIdThQTDB4T05UWWpGN3hwTVk1K3NEUlZFc1hUWTlnSVFRTUJnTU1CZ01lR3pTQkR3MmFRS3FhMnB4OG5ROGpoMC9LUXF1WE5HWFYxVHEyOXJhbzRWT3ZPZHRkUHR2R2VSNkFGSitxUXFrdFhRMGx6UVVGbklxQnhIUklHSVlRVVJFUlAxcXRGL1lPSjFPTjAwS09Wa0lNZUdiYlRodEFXRFVTSGRNSEIrTkNUSFJDQXNKaHIvL09OamIyZDN6dFZwYlcvR3YvL3F2eU1qSXdMeDU4L0RyWC8rNjMvb3hWTDMzM252WXRHblRkMzVkV0ZnWVB2NzRZL1BqaC8yekd6N01EY3VYTHNhU2hmTlJWRnlLek94c3BLUmxJUEY4TW5Mejh1MmtsTXNsc0ZRUFdlUnM2NVRzRkJTWnFHbzRYWnFYZWhHQXlkTDFFeEU5N0JoR0VCRVJVWC9Ranc0SVg2Z1Q0bVVvSWhZUURrTENWa0FvVnRaV2lKMDRIc3VYTHNiRThURndNQnBoWjJmYkwxTXdFaElTY09IQ0JRREFsMTkraWJWcjE4TEx5K3UrMzdjLzVPVGtZT3ZXcmJodzRRSnFhbXBnYlcyTjBhTkg0L1hYWDBkZ1lHQ2ZjOCtmUDQvTm16Y2pJeU1ESFIwZDhQVDB4SUlGQzdCNjllb0JXN0N6dnorN2hvWUd6Snc1ODY3Ty9lU1RUeEFTRW1KK1BKRDlOeGdNOEJ2bkE3OXhQcGczZXhaYVdsdFFXRlNDN2J1K1JOeXg0N3FHaGtaZkthV1BBaXhXRk5Ic0hSUjVXWk55UzROZS9iUXBNN1B1dmk1T1JFUzN4RENDaUlpSXZqTXZMeTliemRwNW1FR3Y4eE9RejBtaExGY0VoZ0U5TjM5dXJpN3c4dlRBM05rek1YZldESGg2akJxUTlSOUNRMFBoNE9DQTV1Wm0rUGo0d04zZHZkK3ZjUysyYnQyS3Q5NTZDNXIydjJzbG1rd201T1Rrb0txcXFrOFlzV1BIRHZ6WGYvMVhuOWRmdlhvVmYvM3JYNUdjbkl4MzNua0hPcDN1cHRkNTl0bG43eGdndlBmZWV6Q1pidnlpMzVLZjNmVS9DL2ZULysvSzJ0b0sxdGF1Y0hOMXhmam9TUHp5dFgvRHFUTm5zV2YvSVpHVG0yZGRWMTl2M2RyYU5rd25SS3liS3Y3b0doUjVTSlBxcDVwSlhteVY3ZFgxVjY0MEFaRDlVZ3dSMFNPT1lRUVJFUkhkTGVIbEcrV25HR1NzQWpFRlFzWUtJQlJDc1JZQVJudDVJaW9pRE5GUmtZaU9DRWRnZ0I5c2JHd0d0S0NSSTBkaXo1NDlLQ3dzUkVCQUFBd0d3NEJlNzI0Y1AzNGNmL3pqSHdFQWlxSmcxcXhaQ0E4UFIwZEhCL0x5OHZwOEpvV0ZoWGp6elRjQjlOeWdyMXk1RW5aMmR2amtrMC9RMWRXRmMrZk9ZZS9ldlhqbW1XZHVlcTA1YytaZ3dvUUp0NjNuL2ZmZnYya1kwZCtmbmJXMU5aNTc3cm1idGpVMU5lSFFvVU1BQUM4dkwvajcrd080Ly83Zkx3ZWpFUXZtemNHODJUTlJYSElOS1dscHVKU2Fqa3VwYWNqTkt6Q1lUS1pGQ25RTEZBTUtuZUNRNUJBVWVWYlRrRmlhMTUwQ1pIVU5TRkZFUkk4SWhoRkVSRVIwSjliZS91RXZRS2VzRVVLR1NDa2NBV2tqaEJEMjluYVkrZVEwTEZ1eUdNRkIvakRhRzJGck83QUJ4TGM1T2pvaUlpTGlodWZiMnRwdzVzd1p6Sm8xYTlBV3h1enE2c0lmL3ZBSEFJQmVyOGU3Nzc2TFNaTW0zZkw4eno3N0RLcXFBZ0JlZlBGRi9NdS8vQXNBd0dnMDRwMTMzZ0VBN05xMWE4QnV4bS8xMmQyTjJ0cGExTlhWbVlNRlcxdGJ2UGJhYXpjOTk3Ly8rNy9OeDYrKytxcDU2b1dsKzk5THA5UEJ4M3NNZkx6SFlPSDh1V2hwYVVWRlZSWDI3aitFTC9mdVZ5b3FxM3lsbEQ0NmdXVTlVemtNWlVKR2JtL1JkVytvenNxcUdORGlpSWdlVWd3amlJaUlxQTkzOXdoN085ZnVZYXEwQ2xjZ2xnTnltUkRDQVFCc2JHemc2dUlDZno5ZnpKOHpFek9mbkE0M04xZUwxVnBTVW1LK1VYVnljc0xYWDM5dGJ1dnE2c0w2OWV2eHdRY2Y0SWMvL0NGbXo1NDk0S0hFOGVQSFVWTlRBd0I0L3ZubmJ4dEVBTUNwVTZmTXg0c1dMVElmejVrengzd3pucG1aaWJhMk50amRaS0hQdExRMHRMZmZmb2ZLNjZlS1hPOTJuOTN0MU5UVVlQUG16ZGk1Y3lkZWZmVlZjeGh4SzBWRlJkaXhZd2NBSUNBZ0FMTm56emEzM1cvL0I0TEJZSUNMaXgyZGhCa0FBQ0FBU1VSQlZETmNYSndSSEJpQW43MzZJeVFrWGNDK2c0ZkZ4WlEwcTlyYU9yZW01bVkzQ0lUYmExYi9hUXlNUEtGQjNkSU5KVjdmTHF1S2k5TWJBZHo4UXljaUlqT0dFVVJFUkFRQXVqRitrVUZRdENrNklXSWhyV0oxUWdRQjBBdWhJTUJ2SEtJakl4QVJIb3FveUhENCtmb00yTUtLL1VXdjE4UEd4Z1pYcjE3RmYvekhmK0NERHo3QUs2Kzhncmx6NTk0eGxIampqVGV3YmR1Mk8xNWovZnIxV0w1OHVmbnhtVE5uek1lUFAvNDQvdmpIUHlJdUxnNU5UVTN3OWZYRks2KzhnaGt6WmdBQTZ1cnF6TUdGWHErSHI2K3YrYlVqUjQ2RXZiMDlXbHRiQWZUYzBBY0hCOTl3L2ZmZWUrK09OZmFYbXBvYWZQenh4OWk1Y3ljNk96c0I0SzUrQnQ1NTV4M3pOSkVmL2VoSDV2VWkrcVAvZzhIYTJoclRuNWlLSjZaT1JrVmxGVkxUTXBDU2xvNlV0QXlrWldUcU9qczdad3FwbTJFTlhOUHNST0xZd0loRUtjVTVVNHYrNHZEaEpoZE4weHdBUUVvcHJLeXMwSHZjKy82YXBwbVByMy8rMjhjM2UrM2RIQnNNaGp1ZWQ2djJiNWdmNjNTNlc1MW5QaFpDYUoyZG5WZXpPR0tFaU81Z2FQOFZRVVJFUkFOdXpKaHdGOFZXK1JPRWVBcENHUzRsN0lRUXd0WEZHVE9lbkk2RjgrZGduSzgzWEYxY0IzMEt4djB3R28wNGNPQUFkdXpZZ1MrKytBS0ZoWVg0MWE5K2hRMGJOcGhEaWY1YUdMRlhYbDZlK2ZqdHQ5OUdibTZ1K1hGdWJpNysvZC8vSGIvLy9lOHhkKzVjVkZWVm1kdGNYRnh1Q0VoY1hGek1OK09OalkzOVd1ZDNVVjFkalk4KytnaTdkdTFDVjFmUE1na3hNVEZZdlhvMW5uamlpZHUrTmpzN0d5ZFBuZ1FBK1BuNTRja25uelMzUFNqOTc2VW9DanhHallUSHFKR1lOV002NmhzYVVGRlpqYU5mbjhDK2c0ZEZZVkd4bDVEU1V3aXhTQXBSWSsxa3lwWlNYTlByOVpIWHZZMEFBSEhkQ3A2M3VNRy8yWTMrRGE5RjN4RGdwcStSVXQ3cS9jeXZ1ZTdmTjF6dlZuVmRmNzNyam9XVVVyV3lzdnFIbjUvZmZ4VVVGSFNDaU9nV0dFWVFFUkU5NnF3VUR5SEVlQWg0QXdJUWdKdXJLOWIvKzg4eDViRkpjSFJ3Z0sxdC8yekZPZGljbkp6d2d4LzhBS3RYcjhiQmd3Zng2YWVmNHNxVksvajFyMzl0SGlreGYvNzhHMEtKbi8zc1ovakpUMzV5eC9mLzlnS2RkWFgvdXhOa1FVRUIxcXhaZzdGangyTGZ2bjI0ZE9rU0FPQ3R0OTdDekpreisweXY2UDNXKzNyWGp6cm83dTYrNmZYZmZ2dHRSRVZGM2JiR2VmUG1vYU9qNDQ1OStiYkt5a3A4OU5GSDJMMTdON3E3dTZFb0N1Yk1tWU0xYTliYzlTaUZ6WnMzbTQ5WHJWclZwNjAvK204cEJvTUJJNFlQaDVPakU3dzhSdUdKcVpQeDVsdC9RZktsRkFIQVNnQWVrTUpLS0hBVVFrVGU4UTIvOFYzL0g3dVgveWNIK2pYZm5CdXEwK21zQURDTUlLSmJZaGhCUkVUMGlDdnVxTDB5MXNIdE4wSmlIb0R4Z0FpcHJhdXovVC9yWDRlWHB3Y21qby9HaFBIUkNBME9RcUMvUDZ5dGI3eHhIT3Fzckt5d1pNa1NMRjY4R1BIeDhkaTRjU1BTMHRMd24vLzVuMmhwYWNIS2xTdjduRzlqWTNOUE80SDBqaHdBZ0xWcjErTEhQLzR4QUdEdTNMbVlQMzgrbXB1YlVWTlRnL3o4L0Q0MzJ6ZmI3ZUw2NTJ4dGJXOTZQVnRiV3pnNE9Iem5PdStrdWJrWlM1WXNRWGQzTjJ4dGJiRml4UXFzV3JVS28wYU51dXYzS0Nzcnc5R2pSd0gwakZLWk8zZHVuL2IrNkw4bGFKcUdvdUlTWk9ma0lmbFNDaTVjVEVGT1huNXZZR0lDVUNnMW1RemdSSmRKTGJIVzY0ZGJ0dUxCSTRSWUlZUjRHbjFIWWhBUjNSVERDQ0lpb2tkZGFXbDdFVXAzQStQM2pmSHZHZzNBVitpVStRSllXbEo2emJ2MFdwazRjUGdvUmd3ZkJrOFBEencxYlNxZW5qY2JuaDRlbHE3OE95c3VMa1pDUWdLdVhMa0NvR2NYQlZmWEd4Zmc3T2pvdUt0djQyMXNiUHBzaVdrMEd0SFMwZ0lBZlJhdnRMVzFoYisvUHk1ZXZBaWdaNHFDdDdlM3VmMW0weEN1SDJVeGJOaXdtMTcvK1BIanVIejU4bTFydk5tTi90M28vVGJjWkRLaHNiRVJkWFYxM3ltTTJMMTd0M254ek5telo5OFE3amc2T3BxUDc3WC9nNm01cFJWZkh6K0p3OGUreHVYTFYxRlJXWVhtYi81YlM4aDZTQnlHa0Y5cDNTSzlCYTBsZFFVRlRSWXVlZEJGUlVVRmZ4TkdFQkhkRWNNSUlpSWkra1p5ZDNFK3JnQzRBdUFvRUxKK2RKRGhTYjJtcmV2bzdKaFJVbEpxVjF4U2FwV1FkRjc4NFUvdllOS0U4WGh4NVhKTW5md1k3TzFzWVRBWWh1UlVEbFZWY2ZyMGFXemJ0ZzJKaVlrQWVrWktyRml4QW12V3JJSEhUVUtWZDk1NTU1NFdzQnc3ZGl3cUtuclc3ZXRkNzZEWDllR0duWjBkUEQwOW9kZnJZVEtaME5IUmdkTFNVbmg1ZVFFQXlzdkwwZGJXQnFBbjhCZzlldlJOci8vNTU1L2ZzY1o3NGVEZ2dIMzc5bUhMbGkzWXNXTUg5dS9mai8zNzl5TTBOQlRQUC84OFpzK2VmZE9wRmRlTGk0c3pIOCthTmV1Rzl2N28vMENSVWtKVlZYUjJkaUk3TncvYmRuNkovWWVPWEQrMXBCdVFuZENRcFFydEg0MXQyTkZZbkY0L3FFVVNFVDNnR0VZUUVSSFJMV1IxbGVRZ0RrQ2NWMENBcDREdDQ0cUN4NFdVMFZMS3lNVHpGNHlKNXk5Z3hQQmhpSW1Pd29TWUtJUUdCeUUwSkFoR2UzdExGdytUeVdUZWdySTNJREFhamVZcEJ6Y2JFWEcvWW1OanpZSEhnUU1ITUczYU5BQTlOOWZaMmRrQWVrWmpCQVVGUWEvWEl6bzZHdWZQbnplZnYyN2RPZ0RBd1lNSHplODVaY3FVV3k2MGFXVmxkY2VkUWU1bHZRZ0FjSE56dzA5LytsT3NYYnNXMjdkdng1WXRXNUNabVluWFgzOGRiNzMxRnBZdFc0Ym5uMy8rcHFNV01qTXpVVnBhQ3FCbmZZWHg0OGZmY0U1LzlMKy9tVXdtNUJWY1JuWjJMaTZtcHVIOGhZdTRVbGpVTzhLakcxTG1hZ0tYQUMxUjZ4SW5TeTZuWllIYmVCSVIzUk9HRVVSRVJIUkhwWGw1MXdCOEFXQ25oMitJaDA2bjg5WXJZbzRVNHBuS3F1cmdRM0ZIbGFOZm44QXdOMWQ0ZW96Q2xOaEptRDl2Tm9JQy9DMVdjMHRMaTNucnkySERobUhWcWxWWXZudzU3TzhpS0hudHRkZncybXV2ZmVkckxscTBDSnMyYlVKTFN3dU9IRGtDQUFnSUNNQlhYMzFsbmk2eFlNRUM4em9QeTVjdk45K01iOXk0RWUzdDdkRHI5WDBXZmx5elpzMHRyL2Z1dSs5aXdvUUp0NjFwNnRTcDl4eElBRDBCenRxMWE3RnExU3JzMmJNSG16ZHZSbGxaR1RadDJnUVhGNWNiRnFZRWdQajRlUE54WUdCZ242a3MxN3ZmL3ZlWHF1b2FIRGwySEVlUG4wUlJVVEVxcTZ2UjN0NEIyYk1WUlNXQWc2clV2dEtFa2kwYjlhVmxaY2x0QTE0VUVkRkRqbUVFRVJFUmZSZW1zaXRaeFFDS0Fad0M4UHFZZ0pBcGlrNy9RMU4zOS95S2lrcUg4b3BLNitSTHFlTGR2MjlBY0ZBZ3ZyZHlCV1krTlEyT2pvNndNaGp1K0UxK2YvTHk4c0thTld1d2FOR2lPMDRyNkErdXJxNzQxYTkraGZYcjEwTktpU05IanBoRENRQUlDZ3JDdi8zYnY1a2Z6NW8xQzNQbXpFRmNYSng1Sk1mMTFxMWJoL0R3OEFHdisyNVlXMXRqeFlvVldMWnNHZUxpNHZEUlJ4L2Q4dHlVbEJUemNWaFkyQzNQczBUL3BaVG9OcG5RMGQ2T1M2bnAyTHB0SjQ2ZE9BbFYxU0NsbEVLSWJpbGxKNEJrQ1cxRGQ1UFZsd3dmaUlqNkg4TUlJaUlpdWg5YWNWN1dHUUJuUnZyNURiZlMyVDhsSUdkRElGeElFWlNkayt2MHk5LzhQN3o1WjBkTWpJbkcxQ21QSVNRb0VIN2pmT0hpN0RTZ2hUazZPbUwzN3QyREduNEFQWXMxdXJ1N1k5T21UVWhOVFVWYld4czhQVDB4Yjk0OHJGbXo1b2FGSEgvM3U5OGhLaW9LWDMzMUZZcUtpcUFvQ2dJREE3RnExU3JNbURIRGZONldMVnZRM054czNpSVVBUGJ1M1l2azVPVGIxdE03SXFPeXNoTHZ2LzgrQU9DbGwxNjY1LzdwZERyTW56OGY4K2JOUTFQVGpXczBhcHFHakl3TTgrUFEwTkRidnQvZDl2OStkWFoxNGNxVnE4Z3J1SXlFeFBNNG0zZ2VwZGZLSUtXRWxMSVRRbHlHUktZR2VjcUV6cmhyT1RuNUFHUy9GVUJFUkgwTXZWV21hTWlMaUloNFRLL1g3NVpTMmdnaFhyaDQ4ZUloUzlkRUR6Zit6TkZndWY1blRVcTVOQ1VsNVlTbGEzcEE2Y2I0aDQ4RmRPT2d3MU1Lc0VBSWhBRFE2M1E2akJnK0hHUEdlR0ZpVEJSbVRKK0dxTWloOGMzL1VMZGd3UUx6MmhmMzY5aXhZM0IyZHU2WDl4cnFTcStWNGVzVHAzQTYvaHdLaTRweHJid2NIUjJkdlZNd3lnREVhVklla0FweTFNYWFLMlZsWlJ3RmNZK2lvcUxlVUJUbEYxTEtuVzF0Yld0emMzT2JMVjBURVExZEhCbEJSRVJFL1UwdHprL3YzWlhqQ0lCZmp2VUxqbFlNVmo5UlRhYm55eXNxak9VVkZVaE11b0MvL3YwZjhCZzFFbXRlWElrVnk1YkE1Ukc1UWI0WHRyYTJONHlxb0p2cjdPckM4Wk9uOGRFblc1RjBvZS9JRVNtaFNxbWRGRko1dDFCck9ZaUNnazRMbFVsRTlFaGpHRUZFUkVRRFRSWVZaRjhFOElxWFYrZ3ZGSHN4U3hINkJZQU1nNEJ2V1htRjh4LysrRGIrOHQ3N21EUnhQSjU4WWlyQ3cwSXdaclFYWEYxY2h1UjJvWmF3WThjT1M1Y3daTFcxdDZPNHBCVDVCWmR4NW13Q1RzZWZRMFZsRlFCQVN0a0JvQWhBbmlibFVhbHErMHNLTWk1YnRHQWlJbUlZUVVSRVJJT250RFN6RHNBMkFOdTh4b1g2S1FaZHNBSTVXVUtaM2RiZUhuSGkxQm1yVTJmT3duM0VjUGo1K2lJOExBU1BUNDdGeEFreGc3YTlJejA0OHZJTGNPWmNJcEl2cFNDLzRBcUtpa3ZRM2QwTkthVUdvRWhLY1V4Q1BTbFVYV1lSV3JNNENvS0lhT2hnR0VGRVJFUVdVWG81c3dCQUFZQzlBUDdESXlBOHlFcW4rNUdtcXQ4cnI2Z2NWbDVSaWRObnorRi9QdGdJUjBjSHZQajhDcXhjc1F5anZUd3RYRGxaVW5OekN3NGNqc09IbjJ4RlhuNUJuellwWlJla1BLUnA4dDNpL1BRVEFFeVdxWktJaU82RVlRUVJFUkVOQ1dWNTZUa0EvbVg0OEpCZkcxMzFNelNCaFVLSUNDSGgyOVRVUFB4dkd6YmhIeDl1Um5SVUJKNmE5Z1FpSThNd2R2Um91SThZUHVnN1p0RGdhV3hxUWxGeENYSnk4M0hxekZtY09aZUFwcVp2MWtXVXNnWEFWUTB5VDBERXFhMGQrMHBLY3Nzc1dqQVJFZDBWaGhGRVJFUTBwRlJYWjdWVVYyTVBnRDBlNDhKRzZ3eTZFSjJVc1VKZ2RsZTNhWHpTaFl1MjU1TXZ3Y1hGR2VOOGZCQVdHb3lwajAzQ1k3RVRZV2RyYStueXFSOUlLWkdhbm9uNGN3bTRsSnFPdlB6TEtLK29nS3Fxa0JJcUlQTUZjRXlWOGdSVU5hdTRJRE1QSEFWQlJQUkFZUmhCUkVSRVExYlo1WXdTQUNVQWpucDRlUHhSYitmdXJUT29MMnVhZUxHdXJ0NmpycTRlRnk1ZXdwWXZ0c1BlMWc3UExGbUE1NWN2ZzUrdkR4ZStmQURWMWRWanovNkQrR1RyTmxSVVZLS3J1d3VxcWdFQUpOQUdEZnU3b2YyOVhXMjdVRmRRMEE2ZzI3SVZFeEhSdldJWVFVUkVSQThDdGF5c3JBMG95d0x3Q3c4UGo5OG9Ec09tNmFBOEt4UTVvYk9qeTZ1am85TnQwOGVmaVk4KzJZTFE0R0RNbnpzTEU4Zkh3Tk5qRklhNXVVS3Y1NTg5UTRtVUVvMk5UU2l2ckVSbVZnNE94UjNGdWNUemFPL282RDJoUlFMWEpGQUFpVjBkcHBaOWxaY3ZWMW0yYWlJaTZpLzhyVXhFUkVRUG5HK0NpVU1BRG5uNlJYaFo2UkVOWUx3RVpxaWFqRW5QekxKUHo4eUNzN01UZ2dMOEVSb1NqTmdKNHpGcFFnd2NIUjBzWGY0anphU3FTRWxOUjBMU0JhUm5aQ0lySnhmbEZaWFFOQTBBVEJJeVQycnloSVE0SjAweXBlUnlXallBMWNKbEV4RlJQMk1ZUVVSRVJBKzBhd1ZwcFFCS0FSejA4Z3I5aTdURGFMM1FMeGNDMzJ0b2FQUk9TTHFBeFBQSitHTEhMamdZalhqeWlhbFkrZHl6Q0EwTzRzS1hnNmlpb2hJN3Y5eUxyL1lkUkUxdExWcGFXMkV5OVN6eklDV2FBTzFMMVNRKzYxVFZWRHZaMGxoVVdOaGg0WktKaUdnQU1Zd2dJaUtpaDRXcHREU3pEa0FkZ0ZUNCtmMi9NY0wyQ2FGVFZna3BwelMzdEl4b2JtNXgzcnA5bDlpNmZSZjh4dmxpMGROek1lM3hLZkFZTlFvdXprNmN5dEZQTkUxRGMzTUxxbXBxY1BGU0t2WWRPSXlrNUdSMGQzOFRQa0MyUXFJS1FMNEtiYXZXM0wzMzJyV2NXc3RXVFVSRWc0bS9jWW1JaU9qaFZGRFFXUXdjQlhCMHVIZklTRHNid3hRaE1Va0Nrd1ZrZEg3QlplT2YzLzJiMlBEaFpvU0ZCQ002TWdJUjRhR1lFQk1GTjFkWFMxZi9RT3JzN01LbDFEU2twcWNqSlRVRGw5TFNVVlZWM2R2Y0RTbHpJRVdpaEV5UXFucXV1Q0F6eTVMMUVoR1I1VENNSUNJaW9vZGVkV0ZXQllCZEFMNzA5bzV5N0xUU1J1b1Y1UmtoNWZlYW0xdENFcEl1aU1UenliQzFzWUdEZ3hFVHgwZmoyYVZMTUNWMkVnd0cvcmwwTzFKSzVGKytqSjI3OStMUWtXTm9hR3hFVzJzYlZFM3JiYStDbER0VmlhMHFPckxMOVBvbVpHVjFXYmhzdWs4UkVSR0xkVHBkOExlZWpwVlNRa29aYUdkbjl5L1IwZEdkdlExU3l1Yk96czdkMmRuWjVZTmNLaEVOVWZ6dFNrUkVSSThTcmJBd3BRRkFBNEEvQVBpalYwQklqRTR4ckJGU1B0blcxajZpdGEzTmJkL0JPR1hmd1RpNGp4aUJSUXZtWWRaVDB6RGF5d3V1THM2d3RyYTJjQmNzUzFWVk5EUTBvcks2R2dtSkYvRGwzdjNJek02QmxMTG5CSWttS1ZBTjdmOW43NzZqNHpyUE00RS8zNzB6Zzk0SmdpUkFBcXdBUVdCUXhDWktvaWl4aTBWVXN4VEpvcTNZbGpZYko3dXhOM0dVdUt3M204UkpITVdLbzQxbFJiSjZaZStka2lpU1lBVXdBRkZJRUIwZ2VodlVLZmZkUDBCQVlDZEZZZ1lFbnQ4NVBHZHc2M3ZuWE03Z1B2aUtrU3RLdmR1cE9mZlU1K1cxZTdkcXV0TTBUWnVybFByTGdjdEVSQU1BcFZTaVV1cG5BOWNwcGZKTkp0TkhucXlSaUlZMmhoRkVSRVEwa3JrcXorWWRCM0E4T2lFaHdtU1k1MEJwOXdvd1Z5bEpyNm10RGZ1dlA3eXIzdi93RTB5Yk5nWHBxU2xJdFNZaDFacU04VEhSVUVwNXUzNlBhVzF0UTZZdEI5bTJISnpPekVadVhqNmFXMW9CQUNMb0FpUlBRV1VZZ3FPR3k1VlJVWlI3M3NzbDB5QlNTaDBBOEtjQWd2dURxSzlwZmNIRXhXMWhHTWFobkp5Y1prL1dTRVJERzhNSUlpSWlJZ0JWQlFXTkFIWUEyQlUxMlRyS1Q5UEdpWTVGTU9TNXJ1NmVaRnZPR1Qwbk53L3JBdndSSGhhR2hQaXBlR3oxU2l5WWZ6OThMQlp2bHo4b0RNTkFibDQrTm16YWlpTVp4OUhZM0l6VzFyYSthVGdoSWxWUXNzNEYyU2d1ZGI0S0hmVW9LdXE1d1dGcEdIQTZuU1ZtczdsUUtUWHJacllYa1hjR3V5WWl1cnN3akNBaUlpSzZsRkY3M2xZSG9BNUFGb0IvR3p2Rm11S2phMnRGR2F2YTdSMFJkbnRIWUhsRnBiNW4zMEdFQkFkaDVTUExzR2JWQ3NURmprZGdRQ0FzRnZOZDJXckM1WEtobzdNVERRMk4yTFAvSU5adjJvTGlraklBZ0lnSWxPcUVvQTJRREFONFMrdHUzVmZLS1RoSHBOemMzT0swdExUVElqSVRnQUp3eFQzZmU4c29HSVpSbUoyZGZjSWJkUkxSME1Vd2dvaUlpT2o2M0JlS2JLY0JuQTZaa1B6TEVCL3RQazNEQTRCS0Z5Q3RwYlV0L0lPUFAxT2ZydCtFK0NtVE1XdG1PbEtzeVVpZU1SMnhFOFpEMDdRYm5zRGJHaG9ha1pPWGo1emNQSnc4blluc25Gelk3ZTBYQXdoMFFYQUdRQ1lFUjdxN3U3K29LUzBvOVhiTjVIVmlHTVpCWGRlL0l5SysxOXRRMDdUZkFiaWlMd2NSald3TUk0aUlpSWh1VW10NVRuTXJzQTNBanRqWTZWSEtiSTQxZEptdlFYdk02WFRPek0wdk1PWG1GeUF3SUFCanhrUmg2dVJKV0x4d0FSWS92QUFCQVFIZUx2OFNicmVCWXlkT1l0ZmUvY2pLemtGMVRRMWFXbHBoR0VadkNBR1VRR1NMRzJxbkpuS3VyTkJWQlhBV0RQcWFwbWtIUktRTmdDL3dkVXVJZ2E5RnBOWGxjdTN5WnAxRU5EUXhqQ0FpSWlLNmRVWlpXZjRGQUJjQVpBRDRsNWhKeVVrbXMvcGpLUFV0ZTN0SG1MM292RS9SK1dKdDU1NTk4UFgxd1lwbFMvQ3RKeDVEWXNJMFdIeDhZTkoxajNYbEVCRVloZ0dIMDRrTE5UWFlzbTBYUGxtM0ViVjFkWDNyUlFFT0FicWhjQkRBNzBvTHNnOEFjSHFrUUxvclpXWm0xcWVtcHU3UU5PMjdWeG5Fc3M4WnA5Tlo3OG02aU9qdXdEQ0NpSWlJNlBaSlpYRk9Eb0MvR0RkdTNOK2FnMGJOQmRRQ0tNeUVTRXBYVi9mWTladTJxbzFidG1OU1hDeG0zWk9PdEZRckVxZkhZK3JrU1RDYnpZTlRsQWdxcTZxUmwxK0k3SnhjbkRpVmlkeThQUFQwT0M0R0VNb3VRSzRBcHd3eERuWDF1QS9WbCtiVkRFb3hORnl0QS9EZGdRdjZnZ2tSTVFEc0x5Z29hUFZDWFVRMHhER01JQ0lpSXJxRHFxdXJPNEhxQXdBT1JrMjJSdm9xeENnZDl3dndtTnZ0bmx0VVhPSmJWRnlDVFZ1M1kvVG9TRXlNaThYREMrWmp5Y0tITURweTFCMnBvYnU3RzE4ZVBvcmRldy9nVEg0QmFtdnIwR2EzUTBSNkh4Q1ZGQnJBSm5FYnU5eHVkMmwxY1Y0MUFOY2RPVG1OS08zdDdmdUNnNFBMbFZJVHJ0STZva1ZFVG9QM0ZoRmRCY01JSWlJaW9zRWhBMmJsT0EzZzM2UGk0eWY2aXMvM2xGTFBkWFozank0dHEvQXBLNi9RUC8veUsvenYvL3NyTEZ3d0g4OCsvU1RTVXF6dzlmV0YyV3k2WVZjT0VZSGI3WWJENFVCSmFUbldiOTZLZFJzM283MjlvMis5S0tCSGxIU0lvWFlxdDd4V1dtUTdBY0E5Mkc4QURYOUZSVVU5YVdscFc1UlNQN3pLNm5MRE1FNTZ2Q2dpdWlzd2pDQWlJaUx5a05yQ3doSUFQMFZjM1ArTjlRbWVKMG90MW9GWkltcTYyKzBlcy9mQTU5cmVBNThqSm5vYzVzMmRqYm16WjJIYTFNbVlGQmNIWDErZlM0N2xkcnRSV1ZXTm92UEZPSldaaGNOSGp5Ry84QnhjTGxmZkxCaXRBTTRDeUJJREI3cU56Z00xUlVYc3UwOTNuR0VZMjNSZGYwa3BaZTVySFhGeFNzOXNtODFXNmVYeWlHaUlZaGhCUkVSRTVHbWxwZDFsd0FFQUIrTGlFc2VJcnpaSlJKdWxLNndTNE43S3Ftci9UOWR2d3BidE94RTlkaXppWWlmZy92dnV4YUtISGtSd1VCQytQSHdFQno0L2hITkY1MUZSV1lYV3RyYStJN3RFa0NkS3RocWlEaW0zY2E3OFhFNFoyQXFDQnBIYjdTN1NOQzFIS1pVK2NMbUlyUE5XVFVRMDlER01JQ0lpSXZLaTB0NEJJMnNBSEFId2FzeTBsR2hkNGJ0S0dUL3M3dTRaYzc2a0ZPZExTckgvOHkveHk3Ly9wNnNlUXdSZEFyd1BsL0c3c2lKYkZnRERnNWRBSTF4M2QzZWwyV3pPQXBBT29HOUt6MXFuMDduSHk2VVIwUkRHTUlLSWlJaG9DS2s4bTEwRjRPOEIvRk4wZk1vREpvV1ZTcW1aWXNoVUJZd0dSQU5VS3hUT2kwaWVFclhkMFY2L3RYZmdUQ0xQdXpodXhPY2k4bTJsbE9YaTRnMTVlWGtPcnhaR1JFTWF3d2dpSWlLaW9jbFZWWmg5RUwyemNvd090R0JaZ0VYN253TGwwK1V3M3VoeEdsc3JpbktMQVZ3eGhRR1JweG1HY1V6VE5BY0FDd0MzWVJpYnZGMFRFUTF0bXJjTElDSWlJcUxycXoxdnF3c3dvOUNrYTJOTm1ob1g3R2ZLcnlqS1BROEdFVFJFWkdkbkZ3T292ZmhqdGNQaHlQRm1QVVEwOURHTUlDSWlJaUtpMitVU2tWK0ppQmlHc2ROdXQ3ZDR1eUFpR3RvWVJoQVJFUkVSMFcxek9wMGIwRHNZNjVlVmxaVmQzcTZIaUlZMmhoRkVSRVJFUkhSN0VoTXRyUzRWNDNJWnU5dTd1NHU5WFE0UkRYMGN3SktJaUlpSWlMNlI0SmdaNFdIKyt1UEtVRTlCcWZoMnAxZ0FueGx4Q2FrN2V0eXVUeTZjeTgzM2RvMUVORFF4akNBaUlpSWlvcHNTRXhQajV6Q0hCdnVhdFNSTlZ5OEJhb1VDL0FGQTB6VG9tZ2FueXpWV0FiTjhkTk5QNHhKU1RvaklmN25jMk4yRnpyYW1vcUoyQUlhWEw0T0loZ0NHRVVSRVJFUkVkRTF4Y1hHK2JwL0FKQjNhZlZEYWJCTmtybEpxVXQvNlVSSGhTRTlOUVlvMUdZR0JBY2c5azRkVG1ka29MaW5WQVRWWEtUWFhyS0hGTEFFWndRbldERGZVVWNQZWM2cXFxcURSbTlkRlJON0ZNSUtJaUlpSWlLNFFHWmM0eHQvWC9Dd2dxMDFRa3dVWXBSUjhBUVZkMXpGN1pqcFdyMWlPbWZla0lTSThETUZCUVZCS29hdXJHNDFOVFNncExjT1c3YnV3ZSs5K2RIUjJoa0twWllCYVpCSnBra0NmNnJpRWxJUGlrdmZMaW15WjREUzFSQ01Pd3dnaUlpSWlJbEpSVVZaLzMzQm5zQmptK3hTMEZ6UWxDNkdVRDZCZ011a0lEQWpFdUhGanNIVFJ3M2gwMVFwTWlJbSs2b0g4L2YzZzd4K044VEhSbUgvL1BQenlwMytOWFh2M1kvTzJIU2c0ZTg1a3Q3ZVA3dW5wR1EwZ0ZTYjhqN2dFYTY1QXZkdmRKUnNjZW50VGMzR3hIZXpLUVRUc01Zd2dJaUlpSWhxaEloTVRBMzJkZXJwSjArZEF5UndSbjNtYWhyRzlheFVtakk5R3F0V0tGT3NNcEtlbUluN3FaUGo2K3Q3U09RSUMvUEhFbWxWWXMrb1JWRlJXNFhTV0RkbTJIR1RaY3BGWFVLaTUzVzZyQW43dDU2OSs2U2RCeDBJU1VvOUIzTWZRNHo1V1dwcFhNd2lYVFVSREFNTUlJaUlpSXFJUkptWlM2bFRkTEU4clF6MENIWEZRRWdFb2l3TGc0K09EQisrZmg5VXJsMlBHOUFTRWg0Y2hNQ0FBU3FuYk9xZXU2NGlMbllEWUNlUHh5TkxGYUc1cFJubEZGWGJ1Mll1ZHUvZWh2cUV4QUVvOUxDSUxvT25OeWxlN0VCZWY4cFhMYlh4Y1daVHpGUUQzSGJsNElob1NHRVlRRVJFUkVRMXZhbFI4ZktDditBYWJkVmtvb2w1UUN2Y0R5Z1FBRm9zWmdRR0JpSXVkZ0RXckhzR3FSNVlpSkNSazhJcFJDcjYrUGhnN1pnekdqaG1ET2JQdXdVOS84cjl3NkhBR1BsMi9FZGs1dVZwcm16MmlxNnNyUWlra21aVDJVbHhDeWprbGVOL2h4Q2U2eTZndkw4OXBBOE1Kb3JzYXd3Z2lJaUlpb21Gb3dvVGtNUGpnSHFYcnN6VmdIaFRtQUdxVVVyMkJ3SlRKRTVGcVRVWjZhZ3BTclVtWU5ERU9aclBaSzdXYVRDWTg5T0Q5ZVBDQisxQlRXd3RiemhtY3pzcEdsaTBYT1dmeVZFOVB6elFvL0IrelJmNFdGdjEwYkh6cVlRR09PeDA5eHkrVTVKZURBMkFTM1hVWVJoQVJFUkVSRFI4cWV0b01xMWt6UHczSVVxVVFEU0FDRjMvdkR3NE14T0pGRDJITnFoV0luVEFlNFdHaDhQUHp1KzB1R0hlS3BpbU1HenNHWThkRTRlRUZENkNscFJWMTlmWFl2ZThndHU3Y2hmTHlTaDhBOXdJeVJ5blY1dU5qcVl0THNCNFZRejR4RzEwSGlvcUtlcng5RFVSMGN4aEdFQkVSRVJIZHZiVHdLVk1DZlExTHFNVnNXZ09sdmdPb0ZLV2dBd3ErUGo0SURBckVqT2tKZUd6VkNpeFo5TkF0RDBEcERVb3BXQ3dXakI0ZGlkR2pJNUUwSXhFLyt2UC9qbE9aV1ZpM2NRdU9aQnpYbWx0YVFydTZ1a0lOUTZaQms3VXVMYUE2TmlIbFk4TXBieHRteDRXcWdvQTI0SlRUMjlkQ1JGZkhNSUtJaUlpSTZDNFROZGs2MmxmWFprTEp2WnBTY3dXWXBSUkNnTjR1RDlQanB5RTlyYmY3UlVweUVzYkh4RURYTlcrWGZWdVVVcGlabm9aNzBsTFIxTlNNbkRONXlMTGw0blJXTm13NVoxU2IzUjZ0Z0I5ckZ2WG5JajYyMkFSWEJpVDFxTnZsUEZaNS9rd0pPTVlFMFpEQ01JS0lpSWlJNk82Z1RZaWZjYSt1VE04QWVCREFXSUVLZzRLdUFJeUppc0tLWll1eGJNbENqQnM3RnVGaG9iQllMRU9tQzhhZG9wUkNSRVE0RnN5L0gvZlBtNHVXMWpZME5qYmhxeU5Ic1dYN0x1U2N5VE1ycGU2QlNMcFNlRjVaelBXeENTbFpJdmkwcDBXMjE5YmFPcng5RFVURU1JS0lpSWlJYUtqUzQrSlNnOXdtVjRSdTByNEYwWjZIa2dRb3BYcG5wUEJGYUVndzBsT3RlR0xOYXR3LzcxNllUTHEzYS9Zb2s4bUVVUkhoR0JVUmp2aHBVL0M5N3o2UHduTkZXTDl4Q3c1K2NValZOVFFFZDNaMkJydmR4bVFvUE9FWGhycTRVT3NHTjR3MzNlSW9yVGFaMnBDWDUvRDJkUkNOUkF3amlJaUlpSWlHRGpWdWNsS00yYXpQZ3NoY0tNelJZWnFsRlB5Z0FEOC9mMWlURXBGcVRVYUtOUWxwMW1TTUhoMDU3Rm8vM0k3NHFWUHdOMy8xSS96NW43NkVuTnc4Wk9ma0lzdVdreFVIdWdBQUlBQkpSRUZVaTZ6c0hOVFYxNCtHVXY5TkYvV1Nydnh5WXczSndIVHJjY09CaklyenRnSUFMbS9YVHpSU01Jd2dJaUlpSXZLMnhFVExCS2ZsUVdVeW5sYWk3b05DRktCQ2xJSUdBSlBpWXJGcXhYSXNYcmdBa1JFUkNBME5nY2xrWWdoeEhZRUJBYmgzeml6TW1YVVAydXgyTkRXMTRNVHAwOWl5YlNlT0hqdWhBQ1JEa0FUZ1dkMnM2aWNtcE9RS2pQVkdKemFYbCtjMGU3dCtvdUdPWVFRUkVSRVJrZWVaWTJKbUJMbDhNY2JIYlBvalpjaGE2REplUVZPYXJzSGZ6dzloWWFHWU4yYzJubm5xY2FSWWs3eGQ3MTFMMHpTRWhvUWdOQ1FFa3liRzR1a25Ia045UXlNKy9tdzlkdTNacnk3VTFBYTBkM1FFdUZ5dU9BVjlwZTZQdHJpRTFFMXV0L3ROaDZFSy9OeHRiYVdscGQzZXZnNmk0WVpoQkJFUkVSR1JaMmdUcGliSGFTWTFHNkx1aGNKY001QUtLQXVVUWtoSUNGS1RaeUE5TlFVcDFpUWt6MGhFV0Zpb3Qyc2VsaUpIUmVEUC91UkZ2UGpIMzBIQjJTSmsyWEp3T2lzYjJkbTVxS2lxQ29iSVdwTkpYMnNTbkRNc0lSbXgwNjBaY0NLanpOV1dCd1lUUkhjRXd3Z2lJaUlpb2tFVUV4UGpadzRJWHl5YWVrNUJwWWxnTkNEQkNyMTlMS3hKTS9ENG95c3hkL1lzaklvSVIwaElNSFI5WkExRTZTMCtQajVJU1o2QjVLUkVQTDU2SlpxYW01RmZlQmFidHU3QWdjKy9nTXZsbnFwQlRSVlJUeXF6Tk1TWlFzN0pkT3Q2bzEzZlZGR1JXZTN0K29udVpnd2ppSWlJaUlqdXBNUkV5emlYS3hpRzMzaXpoaGVVaG04Sk1GcEJLVjNYRWVEdmo5R2pJN0hvb1FmeHJTZldJQzUyZ3Jjckh2RTBwUkFVRklpZ29FREVUaGlQWllzWG9yMmpBNXUyYnNlV2JidFFYRkxpMTk3Uk1kN2hjSTVYVUErclFQbm51T21wKzl4dTk5dTZ3NTNoY0xTMFZWZFhkM3I3T29qdUpnd2ppSWlJaUlodW4ybGN2SFd5R2VvK1pXQTJOTXRjYUVoU0Nqb0FSSTBlamZSVUsxS3RTVWl4SmlNcGNUcjgvZjI4WFROZFIyQkFBTDc5ekxmd3pKT1A0M3h4U2UrTUhMWWNuTTZ5b2Jpa05NRHRkajlxMHZWSHhWY3ZzL2hGSG9zTmpqeW1YSExFMGRsZ1l6QkJkR01NSTRpSWlJaUl2cUh3S1ZPQ0EvV0ExWnFTcHdDVnBCUkdpeUJBS1NnQW1ILy9QS3hlc1F5cDFtUkVSSVFqS0RBUW1xWjV1Mnk2QlNhVENmSFRwbUxhMUNsWXRXSVptcHFhVVZ4U2loMjc5MkxuN24yd3Q3ZkhBaXBXS1ZrakpsWHZFeHhaR2hjY3VhMUw1SlBhUWx1SnQrc25HcW9ZUmhBUkVSRVIzYXdwVTN5aXhEOUVoekhGWXRhL0Q0VkhGVlE0b0dBeW1SQVlHSURvc1dPeFl2a1NQUG5ZYW95S2lQQjJ4WFNIS0tYZzcrY0gvMmcveEVTUHcvejc1K0h2ZnY2MzJMbG5IelpzM29yOGdrS0wzZDRlM2QzVEU2MkErL3lBWDhRbHBCd1NHRzhiNHZpOHUwbHZxNi9QYS9mMmRSQU5GUXdqaUlpSWlJaXU2eDV6M0ZUM0RHZ3lGeHBtUVhDZlVxWjRvUGNCTlc3Q2VLU21KQ01sT1FucGFTbVlObVV5TEJhTHQ0c21EekNiVFZpOVlobFdMbCtDeXFwcVpHYlprR1hMUVpZdEYvbUZaMzBkRHNkaUJYMnhVcjYxQWFQVTBZQ3dsR09pY0t3RDNTY2JDZ3Z0M3E2ZnlKc1lSaEFSRVJFUlhjWG9pVWxSL2o3NkdzRDFtRkpxdW9pS1ZJQWZWRy9UL1NXTEhzYXE1VXN4UFdFYXdzUENFQkRnRDlVN1FRYU5NSnFtWWNMNEdJeVBpY2JTSlF2UjB0S0M4b29xN05sL0VOdDI3RUpkZlVNVWdEWFExVXBBR2dMRnR5SWdQbVdYNFhKOFduRSsvd3dBOGZZMUVIa2F3d2dpSWlJaUlseWNndE1jR3V6eTBWTTE0RVZOWVFtZ0FnSEF4MkpCUUdBQUpzWEY0b2sxcTdGNnhYTDQrZmw2dTJRYVlwUlM4UFh4d1ppb0tJeUppc0xzbWVuNDI3LzZFYjQ2a29GUDFtM0FxVXlieWQ1dUg5UFYxVDFHUkdacEZwK1g0eEpTVGhsUWI3b2NqdDNkbXFPbHFhaklEb1lUTkFJd2pDQWlJaUtpRVNzbUpzWVAvaEhKSmlWem9kUzlBc3d4S1RVUjZHMzlNR1h5UktSYWs1R2Vtb0pVYXhJbXhzVkMxM1Z2bDAxM0VhVVVIcmp2WGp4dzM3Mm9yYXRIZGs1dWYzZU9NM2tGcHZhT2pqazZNRWV6bUpzc01KOEluSlp5Uk5Od3pHbnZPVmxWVmREbzdmcUpCZ3ZEQ0NJaUlpSWFjY1pOU3B6Z1l6WTlMVkNybE1KRVFFVkNLUjhBQ0FvTXhPb1Z5N0JzeVNMRXhVNUFXRmdvL0h4OTJRV0RibHZVNkVnc1dmZ1FGc3kvSDYwdHJiaFFXNHN2dnpxS2pWdTJvYVMwTEJ6QVVrM0RJZ1ZwTWdkWkxzUk50eDUwRzhiN0ZZVzVwd0VZM3E2ZjZFNWlHRUZFUkVSRXcxNVVsRFhBMTljWmJQaFk1dXNLMzRWU0QwTEJUd0h3OWZWRllHQUFyRW1KZU9MUjFWaXk2S0ZCYmYzUTBkR0JILzNvUjhqTnpjV3laY3Z3czUvOWJORE9OVmhlZSswMXZQWFdXN2U4WDFKU0V0NTU1NTMrbjRmRGUvRk5XTXhtUkVhT1FtVGtLRmlUWnVDSC8rMzdzT1htNGJNTm0zRHdpME42VzVzOXNyT3JLOUl3REt1dXRCL0dKYVNlRVJqdkdTNWpZN3ZSMmRCY1hHd0h3d202eXpHTUlDSWlJcUpoS1RJeU1UQWdSTC9IMFBVNW1wSTVnR1dPU2Fsb0FQRDE4VUhpOUFTa1dwT1FhazFHYWtveW9zZU45VWpyaDR5TURKdzhlUklBc0duVEpyend3Z3VJaVlrWjlQUGV5SWtUSi9EdXUrOGlOemNYM2QzZGlJNk94b29WSy9EODg4L0RaQnFjeDRiQmZpOEtDZ3J3MFVjZjRlVEprMmhvYUlDUGp3L0dqeCtQbi8vODU0aVBqNzlrMjhyS1Nyenh4aHZJeU1oQVMwc0xJaUlpOE1BREQrQ2xsMTVDZUhqNEhhdnBXcXhKaWJBbUphTE5ia2RXZGc2eWJibklzdVVnT3lkWGIycHVzU3BvLzZKTTJzOUNFSFFxSkNIbG1OdFF4N29kam96NjByeWFRUytPYUJBd2pDQWlJaUtpWVdYczFLVHBabDEvU2dNZWdVS3NEa1FBeWd3QVk4ZU13YU1ybDJIaGdnY1JFek1Pb1NHaHNGak1IdTJDTVdQR0RBUUZCY0Z1dDJQaXhJbUlpb3J5MkxtdlpkMjZkZmpIZi96SFM1YVZsSlRnUC83alAzRHExQ204K3VxcjEyd3Q4c1FUVDl3d1FIanR0ZGZnY3JtdVdENlk3OFZISDMyRVYxNTVCWWJ4ZFFNQ2w4dUZnb0lDMU5YVlhSSkc1T1hsNGFXWFhrSm5aMmYvc3RyYVdxeGJ0dzVmZmZVVjNubm5IWXdhTmVxTzFYWTl3VUZCbUgvL1BOeDM3eHkwdHJXaHJyNEJ4MDZjd3BadE81R1piUXNHMUVNaThxQ3VTMHVBbjdrbUlDSGxLeEY4WEZabytnbzQ1ZlJJa1VSM0FNTUlJaUlpSXJxYnFWSHg4WUVXbHpuVVl0SVhRYW52S29WN0FaaVZVdkQzODBOUVVCQm16MHpIazQrdHh2M3o1bnE3WG93Wk13WmJ0bXhCYVdrcHBrMmJCclBaN05WNlNrdEw4Yy8vL004QWVnZGJmT2FaWitEdjc0LzMzbnNQRG9jRFI0OGV4ZGF0VzdGbXpacXI3cjlreVJMTW5Ebnp1dWQ0L2ZYWHJ4cEdETlo3Y2ZEZ1FmejYxNzhHMER2dDVxSkZpNUNjbkl6dTdtNmNQWHNXdnI1Zno0VGlkRHJ4OHNzdjl3Y1I4K2ZQUjFwYUdqNzU1QlBVMU5TZ3BxWUdyNzc2S3Y3dTcvN3VqdFIyczNSZFIzaFlHTUxEd3BBd2JTcSs4OXd6S0M0cHcyY2JOMlBQdmdOYVkxTlRlRWRIWjdqYjdVNEU1QWR4Q2E1emhwSHlnUkwzWjlLamFzckxjOW9BdUQxYU5ORXRZQmhCUkVSRVJIZWQ0SmdaNGFGKzVudVVKbk9VcHViQmpObEtJUUxvL2N0eTBvenBTTFVtSXkzVmlwVGtKSXlLR1B4bTlyY2lPRGdZVnF2MWl1V2RuWjM0NnF1dnNHalJJbWlhNXBGYVB2amdBN2pkdmMrc3p6MzNIUDdpTC80Q0FCQVlHSWhYWDMwVkFMQmh3NFpyaGhHMzYxcnZ4YzFvYkd4RVUxTVRwazZkMnIvTTRYRGdWNy82RllEZUdWRisrOXZmWXZiczJkYzh4djc5KzFGWldRa0FTRXhNeEN1dnZBS2xGR2JPbklubm4zOGVBTEJueng3ODVDYy9RV0JnNERlcTgwNlpOREVXUC9uUm4rTi8vUGNYa1p0WGdOTloyY2pLem9FdDk0eTZVRk16VFNuOFVzVDAxOHBmc21NVFVnNkw0TGpUNFRoMm9TUy9ISnd1bElZWWhoRkVSRVJFZExmUVlxZWtwQ2dkVDBQRFVpVXlUcUFpRktCREFWT25UTWFqS3gvQmcvZlBROVRvU0lTRWhNQnNIbnEvN2xaVVZQUS8ySWVFaE9EQWdRUDk2eHdPQjE1KytXWDgvdmUveHc5KzhBTXNYcng0MEVPSkw3Lzhzdi8xcWxXcitsOHZXYktrUDR3NGMrWU1PanM3NGUvdmY4WCtOcHNOWFYxZDF6M0h3SzRTQTEzdnZiaWVob1lHdlB2dXUxaS9majMrOUUvLzlKSXc0dURCZzJob2FBQUFQUDMwMDljTklnRGdpeSsrNkgrOWN1WEsvaTQ3aVltSmlJNk9SbFZWRlZ3dUZ6SXpNL0hBQXcvY1ZIMkR6ZGZYRnpQVFU1R2Vhb1c5dlIyTmpVM0l6TFpoeTQ3ZE9ITDBtSi9iN1o0TGtUbEtVNjArUHBiNjJQaVVETGNZSDFVNjdBZFJXdG9OQUNrcEtkRWkwcCt1S0tYa2FxODFUZXQvM2RQVGM4bTY2KzEzK2I1S0tlbnU3cjdoZHBmdmM3WGxsLy9jMmRsNXpXMHYzMC9YOVN2V05UYzNPNHVMaTl2QXdNYWpodDZuTXhFUkVSSFIxN1J4azVPaXpXYjlVUVg4TWFDc1NrSFhOQTBCL3Y0SURnN0M0b2NYNEtrbjFtQjYvRFJ2MTNyYlRDWVRmSDE5VVZKU2dyLzVtNy9CNzMvL2Uzei8rOS9IMHFWTGJ4aEs3TnUzRHovNXlVOXVlSTRsUzViMGp3L1IxTlRVLytCdU1wa3dhZEtrL3UzR2pCbURnSUFBZEhSMEFBREt5c293ZmZyMEs0NzMybXV2M2ZUMTNhNkdoZ2E4ODg0N1dMOStQWHA2ZWdEZ2lzRTF2L3JxcS83WDk5OS9QMzc5NjE5ano1NDlhR3RydzZSSmsvRDk3MzhmRHovOGNQODJaOCtlN1g4OWJkcWw5OURreVpOUlZWVUZvUGY2aDBvWTBVZlROSVFFQnlNa09CaVRKc2JoaVRXclVkL1FnRTFiZDJERDVtMnF0cTR1dEtPOUk5VHBjazFWb24xN29tOUlsY1NuZk9pQyt3TUEzOU4xZmY2QWgvaUJEK0lpSXBlK0FHQ3hXQzdacHUvRjVjY1lzTXNseXk5Mmo3bFdlTkcvN1ZYMnYySy9pOXRjOWJqWDIrOXFkWWFFaEhSYnJkWTNiVGJiZG5DV0VvOWhHRUZFUkVSRVE5YUVxY2x4bXE2dFUwcWw5UzBMOFBmSG1sV1BZTW5paDVHYW5JeWdJTzgybmIrVEFnTURzV1BIRHF4YnR3NmZmUElKU2t0TDhkT2YvaFJ2dlBGR2Z5aHhKNmNkcmF1cjYzOGRGaFoyUmVBUkZoYldIMGEwdHJiZXNmUGVxdnI2ZXJ6OTl0dllzR0VESEE0SEFDQTlQUjNQUC8vOEZRSEJ3SERoTjcvNURRb0xDL3QvTGl3c3hGLys1Vi9pSC83aEg3QjA2ZEwrWS9lNWZKREtzTEN3L3RmZXZQNWJFVGxxRkg3d3dscTg4UHl6eUM4OGkwT0hqK0tUZFJ0UlVWbWxBTVFvaGI4eWkra0ZVYXBJS1pWNnJlUGN6cUN1dHpzZzdLM3VmeWZPWnpLWjJxMVc2d0diemRaeFd3ZWptOFl3Z29pSWlJaUdyQjVEdGZ2cHlBTFFIMGIwOVBUZzBPR2o2T3pxaHR2dHhydzVzMkd4V0x4WTVaMFZFaEtDNzMzdmUzaisrZWV4YytkT3ZQLysreWd1THNiUGZ2YXovcFlTeTVjdnZ5S1VXTEJnQVQ3Ly9QTWJIbi9nSUpFRHUxZGM3VDBjMk9yQTZiejZSQTIvK2MxdmtKcDZ6V2RhQU1DeVpjdlExMFQvVnRUVzF1THR0OS9HeG8wYjRYUTZvV2thbGl4WmdyVnIxMTYxbFFiUTI5cWpUMUZSRWRhdVhZdlkyRmhzMjdZTm1abVpBSUJYWG5rRkN4Y3VoTWxrdXVROXVId0F6WUUvOTRVZ2Q0dXpSZWV4ZTk4QmZIbm9DSnFhbWk5ZEtYTFc0WFMrcGxzc3Z4V1J2aWQ1TmZBMUFHaWFkc1V5RVZHYXBxbUJQMTl2Lzh1WGk0alNkYjF2djh1UGVjVnhManVtQWdEMWRmcHd5ZnErWXd3ODltVjFEdHkvNzk4eXBkUk1FZEZjTHBmbnB0VWhoaEZFUkVSRU5IVFZucmZWQWZqamNkT20vWlVGdmorQVV0OXlpbnQ4ZVdWbFVGbEZwWG5qbG0xcTNOZ3hXUFhJTWp5NjhoRkVqWTVFWUdDQTEyZW91Qk1zRmdzZWZmUlJyRjY5R29jUEg4YWJiNzRKbTgyR1gvemlGMmh2Yjhjenp6eHp5Zllta3dsQlFVRzNkSTZCWWNQVlpyc1l1TXpQeisrcXgvQzdPR1BKbldhMzIvSG9vNC9DNlhUQ3o4OFBUejMxRko1OTlsbU1IVHYydXZzTkRBMWVlT0VGL01tZi9Ba0FZT25TcFZpK2ZEbnNkanNhR2hwdzd0dzVUSjgrSFNhVHFYK2Z5OStEZ1FITTFjYkxHQ3JjaG9HT2pnNjB0ZGx4OEl0RFdMOTVLM0p6ODJDSVFBUnVCYlFMcEJFS2U4UXBiNVFWMlU1N3UrYWhJaTB0TFJUQVRId2RYcENITUl3Z0lpSWlvaUd2K3V6WkJnRC9DQ1QrNjRUSmVqTE0yandkYWc1RTVsUlZYNWowK3B0dmEvLzE5bnRJbURZVjZXa3BTRWxPUW1wS01tTEh4OXpSYmczZVVGNWVqb3lNREJRWEZ3TzRPT1ZqK0pXemc3aGNyaHNPSkFuMC9yVy9iMnJMNE9EZy91Vlg2NFl3c0pYQjVWMFkraHc4ZUJEbno1Ky83am12Rm5UY2pMNC9nTHRjTHJTMnRxS3BxZW1HWVVSZ1lDRGEyOXNCNEpMQksvMzgvREIxNmxTY1B0MzdIRjVYVjRmcDA2Y2pPRGk0Zjl5TWxwWVd4TVRFOU85ek05ZnZMU0tDaHNaRzVPVG1JY3VXaTlOWjJjak9PZFBmclFhQ2VsRTRBY2d4dDl0OUZEM3FaSGw1VHZQMWowcmtPUXdqaUlpSWlPZ3VrdWNvUDQ5VEFFNkhUNW55VGdCOEk1V09leFQwWitCeXJUaVRYMkE1azErQURmNWJFUjRlaGhuVEUvRElzaVZZOE1COUNBd004SGJ4TjgzdGR1UFFvVVA0OU5OUGNlellNUUM5TFNXZWV1b3ByRjI3RnVQR2pidGluODgvLy95V0I3Q01qbzZHeVdTQ3krVkNkM2MzS2lzcit4L0dMMXk0Z003T1RnQzlBd1NPSHovK3FzZjcrT09QdjlFMTNraFFVQkMyYmR1R0R6LzhFT3ZXcmNQMjdkdXhmZnQyekpneEEwOC8vVFFXTDE1ODFhNGxzYkd4cUttcEFZQ3ZIOHd2dWxwTGg3aTR1UDR3b3Fpb0NFbEpTZjNiRkJVVjliOGVPR09ITjdsY0xtVFpjckIxeDI1a0hEK0orb1lHdExhMlljQ0FreWNNa1EvZ1Z2dGNXbGR0OWRtenpRRGMzcTJhNkVvTUk0aUlpSWpvYmlSTlJVVnRUVUFiZ1BNQVBnMmZNaVU0V1BkL0RrcDlwNk9qYzFKSFIwZFFlVVdsejY2OSsxVklTRENXTEh3SVR6LzVHR0xIajBkZ1lBQjhmSHk4ZlExWGNMbGMvVk5XOWoxUUJ3WUc5bmRSdUZxTGlOdGhNcG1RbHBhR0V5ZE9BQUIyN05pQkYxOThFUUN3YytmTy91M216WnQzelJZbUZvdmxoak45ZkpQeElnQWdJaUlDZi9abmY0WVhYbmdCbjMzMkdUNzg4RU9jT1hNR1AvLzV6L0hLSzYvZzhjY2Z4OU5QUDMxSnE0VTVjK2IwQnpnN2R1ekEvUG56QWZTR0svbjUrUUI2VzVja0pDUUFBR2JObW9XVEowLzJiOTgzMWFqTlpzT0ZDeGNBOUE1a09XUEdqRzkwRGJmTDVYS2h2YU1EVFUzTjJMWnpOelp0M1lIU3NuS0lpQ2lsM0FLeEswRzlDRGE2bk9yTnl1THNjMTRwbE9nV01Zd2dJaUlpb21IaFlqanhud0IrSHpNcE9WRTNxVGxLVS9NRU1xZTF0VzNhWnhzMm05WnQzSUpKRStPUWxtSkZXa295MGxLU01XblNSRmlHeUJnVDdlM3QvVk5samhvMUNzOCsreXllZlBKSkJBVGN1RlhIb2tXTGNPclVxVnMrNTVOUFB0a2ZScno1NXB2bzZ1cUN5V1RDdSsrKzI3L04yclZycjduL2IzLzdXOHljT2ZPNjU3anZ2dnUrY1NBQjlBWXlMN3p3QXA1OTlsbHMyYklGNzc3N0xxcXJxL0hXVzI4aExDd016ejc3YlArMnExYXR3bHR2dllYMjluYnMzYnNYUU8rVW5aczNiKzd2THJKaXhZcitjUzVXcmx5Sk45OThFdzZIQTZkT25jTExMNytNaElRRWZQVFJSLzNIL1BhM3YrM1I3ajZHWWVCQ1RTMnliYms0blcxRFZuWU9jdlB5NFhBNExzNTdxUzVBNGJoaEdFZVVXNDYzdDdwUDFkZm50WHVzUUtJN2dHRUVFUkVSRVEwMzdzcmluQndBT1pHUmlSOEhSRmhHR1lZN1VXbjZ0MFNNSjg4WGx3U2NMeTdCdHAyN0VCNFdob2x4Y1ZpNjZDRXNYYndRa2FNaXZGMDdZbUppc0hidFdxeGF0Y29qczRRc1dyUUlTNVlzd1o0OWUvcGJaZ3owNG9zdklqazVlZERydUJrK1BqNTQ2cW1uOFBqamoyUFBuajE0KysyM3I5Z21QRHdjUC8zcFQvSHl5eTlEUkxCMzc5NytVQUlBRWhJUzhPTWYvN2ovNXpGanh1REhQLzV4ZjllVlBYdjJZTStlUGYzclo4K2VqVzkvKzl1RGVGVmY2Kzdwd1ZkSGptTDd6ajJ3NWVhaHNiRUpiWFk3QUVCRURLVndFR0o4QU1GUlY2ZFJWMWw1cGdXQTRaSGlpTzR3aGhGRVJFUkVOR3pWMStlMTE5ZWpIVUFwZ0IySWlmbVR1TUR3YjBIVTJ1NnU3cVNxcnBxZ3F1b0x2b2VQWnFoZi9ldHZNUCsrZVhqeThVZVJQR002QWdNQ3JqbUR4R0FKRGc3R3hvMGJiOWp0NFU3Nys3Ly9lNlNtcG1MejVzMG9LeXVEcG1tSWo0L0hzODgraTRjZmZyaC91dzgvL0JCMnU3MS9pa3dBMkxwMTZ3MWJaUFMxU0tpdHJjWHJyNzhPQVBqT2Q3N3pqZXZWZFIzTGx5L0hzbVhMME5iV2RzWDZ4WXNYSXlvcUNtKzk5UmF5czdQUjJkbUo2T2hvTEZ1MkRHdlhydTBmd0xQUGswOCtpZWpvYUx6enpqdkl6Kzl0Z1JBVEU0T1ZLMWZpdWVlZXUyVFdrVHZKNlhUQzN0NkJtcG9hYk5pOERkdDM3VUZ0WFgxZkZ3eVhRT3dRVlNraTYreHUrVU5Ua2ExeVVBb2g4Z0pPWDBLM3pHcTF6aldaVEJ0RnhGY3A5VWVuVDUvZTVlMmFhSGpqUFVlZU12QmVFNUhIc3JLeVB2ZDJUVVI5ckZickhKUEp0T25pWitFenAwK2YzdTN0bXU1eWFseThkWnBKTUZkWG1DMmFtcXNFU1ZES0FnQXgwZU9RYWsxQ3FqVVpLZFlrSkU1UGdOOWxEN0FqMFlvVksvckhzcmhkKy9mdlIyaG82QjA1MXQzRTVYYWp0TFFNV2JaY1pPZmtJRE03QndXRjUyQVlCa1RFQUZBRzRCaEVNc1F0eDh2UWRScEZSVDNlcm51NFNrdEwrNjFTNm9jaThuRlBUODhQOHZMWTNjVlQyREtDaUlpSWlFWWlxUzYwRlFJb2pJbUorZFR3Q1IxbDByVnBTc25qU3FsbktxdXF3eXVycXJGcjd3R0VoNFVoSm5vY0ZqMzhJSll2V1lRSjQyUDZwNXdjYWZ6OC9LNW9WVUEzcDdXdERRZS9PSVNkdS9jaXYvQWNtcHFhMGZuMVZLd3VFZGtKdDN6a010d25PcVNydnJtNHVBMkFlTEZrb2tIRk1JS0lpSWlJUnJUS3lzb3VvTElDUUFXQS9RQitPQ0hlK29SUzZqdE9sK3VlMnZyNjROcTZPci9UV2RuYXYvMzIvMkgyekh2d3hKclZtRE1ySFVGQlFRanc5eDh4NGNTNmRldThYY0pkbzd1N0crMGRIU2dwS2NObkc3ZGc5Nzc5c052YmU3dGdBQTVBMlNGR3FhSFVSOUpwL0tHOFBLZloyelVUZVJMRENDSWlJaUtpUzBsNW9XMGRnSFVUcDArUGRSdVdPUnJVdmFKa3JzUHB0QjQrZXN6LzhORmppQWdQUjByeURLU25wU0FsT1FsSk02WWpKRGpZMjdXVEYvWDBPSER1L0hsa1plZmdkTFlOMmRrNUtDMnZnSWhBQkc1QWlnQ1Y0WVljZGJ0eHJPcWNMUmVBeTl0MUUza0R3d2dpSWlJaW9tc295Yzh2QTFDR0tWTTJqMGRRaEthY2NRcjY0d0wxUjQxTlRlTU9mSEVJbng4NmpMQ3dVRVJGUnVMQkIrN0R5dVZMRVQ5dGlzY0hvU1R2cWEycnc1NTluMlBubnIwb0s2OUFVM016ZW5vY0FBQVI2WUpnaStHV0Q1U08zRTdkV1YvUGNRbUlHRVlRRVJFUkVkMVFVVkZQQlZDTjNuOUhBUHl2Q1ZPVEZpdGQrNjY0c2FDeHNURzRvYUhSUDYrZ1VIdjl6YmVST0QwZWo2MWVpWVVMNWlNME5BU0JBUUVNSjRZSkVVRlhWMjhYREZ0T0xqNVp0d21ITTQ2aHU3c2JJaUlBZWhUUUprQ2VpTHpmM1ZMN2NXMXRiWWUzNnlZYWFoaEdFQkVSRVJGOUErWG5jdmNDMkJzN2ZmcFl1SDNtUUpNNUFPYTUzVVpxN3BuODROd3orZmpOZi93bmttY2tJdFdhaFBUVUZGaVRreEFSSGpaaXhwZ1lUam83dTVCZlVJalRXVFprMlhLUVpjdkJoWnJhdnRWT0VlUURPQXJCTWJmYmRheTg2RXdCQU1ON0ZSTU5iUXdqaUlpSWlJaHVRMWwrL2dVQW00Qjd0c2ZGZFVXNExaYnhDckpjMC9DczNkNGVmeVRqT0k1bUhFZElhQWhHUlVSZzlzeDByRm41Q0ZLc1NUQ2J6ZDR1bjY1RFJGQldYb0d0TzNiaDRCZUhVSDJoQm8xTnpYQzczWDNyMndUeWllRXkxcm5jN2tMVjAxcGZYVjNkNmVXeWllNEtEQ09JaUlpSWlPNklVODdTVXRRQXFBRndBc0QvaVo1dW5Xc3g4RDNSdE1VdHphMWh6YzJ0QVVYbmkvVVBQMW1IaVhHeGVIVGxjaXhidkJDalI0OUdZR0FBVExydTVXc1kyVVFFSFoyZGFHMXR3OUZqeDdGKzAxYWN5c3lHeStYcTdZS2hWQmNnYlRDUUJaRjNTcy9hTmdCd2VMdHVvcnNSd3dnaUlpSWlva0ZTbFcvTEFKQVJHaGNYR21JSm1xYzBmYmFJekFVd3E2UzBMUHczLy9FNy9PY2JmOENNeEFTa1daT1JrcHlFOUxRVWpCMFR4YTRjSHRUV1prZFdUaTZ5YmJuSXN0bVFsWjJMNXBZV0FJQ0lkQ3NGbXdESFlMaVBBZXBJV2FHdEZJQjR0MnFpdXh2RENDSWlJaUtpUWRaU1d0clNBdXdBc0h2TWxDbmh2c29TYmVqbWhRQ2U2K25wU1R1ZG1ZM1RtZGtJQ2d4RVJIZzRrcE1Uc2VxUlpaZzNaemI4L2YyOFhmNnc1SEs1a1Y5UWlLMDdkK1B3MFF6VTF0V2pwYmtGaHZSbURHSklIU0FmdWR5eUVacFdaSEswTnBhV2xuWjd1V3lpWVlOaEJCRVJFUkdSNTdocmlvcnFBZFFEeUFMd3J4T21KTTdRZE1zUEJMS3FyYjA5M043ZUhsaFNWcVp2M2I1TGpZNGNoVldQTE1QcUZjc1JIVDBXUVlHQkhHZmlHeklNQSszdEhXaHFhY2FCZzRmdzJjYk5PSHV1Q0NJQ0VUR1VRcWVJc2dPU0lZYnhSdG5abkozZXJwbG9PR01ZUVVSRVJFVGtSZVZGZVdjQS9NK29xS2kvOVEwZE0xdVUzS3VnNW9wZ1ptMWQvWmczMzNsZnZmdkJ4NWc4ZVJKbXBxZkNtalFEcWRaa1RJeWJBSjFqVEZ5WGlLQytvUUhadGx4azU1ekJxY3dzbk1uTFIzdEhaOThHZGloa0MzQk1CRWZjaGh5clBKdGQ1ZDJxaVVZR2hoRkVSRVJFUkVOQWJXMXRCMnByRHdMNElqb2hJVXgzNlZGUTJ2MjZycTExT0ozM0ZoU2UxUW9LejhMZjN3L2hZV0dZTW5rU1ZxOVlqZ1h6NzBOb1NJaTN5eDlTZWh3T1pHWmxZK09XN1RpVm1ZM0dwaWEwdHJiMXJ4ZVJNaEc4cXd6WkxnNW5lVm1BYWtSZUhnZWlKUElnaGhGRVJFUkVSRU9MVVZWUTBBaWdFVUFlZ04vSHhsc25Bdmd1Z0QvcTZPd2MxZG5aRlZoUldXWDYvTXV2VkhCUUVCWStOQjlQckZtTmFWTW5JekFnRUQ0K2xoRTFBS2JMNVVKN2V3ZHE2K3V3YmZ0dWJObXhDeFdWdlEwY1JPQldrRTZCYWdOa3I5dHQvS0hpWE02WFhpNlphTVJqR0VGRVJFUkVOTVNWRmRwS0FQd0NtUElQRStJRFp5b2xjNVJTY3dETWJXMXJpOW00WmJ1Mlpmc3VUQmdmZzFSckVsS3NTVWhQVFVIQ3RLa3dtWWJuci93aWdzcnFhcHpPekVhMkxSZVp0aHdVRko1RFQwOVA3M3BJczRJNktTSVpoc0p4aDBzZHF5bktxdmR5MlVSMDBmRDhaQ0lpSWlJaUdwYUtlc29MY1JqQWtVbVQ3Z251Tmp2SG1BUnpsSzZlRVpkclVVbHBtYm1rdEF6YmQrMUZSSGdZeHNkRVk5bVNSWGhreVNKRVJvNGFGcTBsT2p1NzhPWGhJOWk2WXhmeThndlIyTmlFOW82Ty92VWlrZ1BCQitMR25pNHhxbXJQMjVvQXVMeFhNUkZkRGNNSUlpSWlJcUs3anhRWG4yb0YwQXFnRU1DNzQ4ZkhqOVA5TGM4RDJoODVlaHpSRjJwcWdxc3YxSmlQbnp5dC92bGZYOFg5OCtiaXNVZFhJaTNGaXVEZ0lQajUrdDRWNFlURDRZQzl2UjBscGVYWXRtTVhkdTdaaC9xR1JvaUlBTW9BMEE2Z1dRbDJkTHVOTnk4VTJVNTd1MllpdWpHR0VVUkVSRVJFdzBCRlJXRTFnSDhDOEsreFU2eFdtR1FlbERZSEluTzZ1bnNtN1R2NGhiNy84eThSTlRvU2FhbFdwRnFUa1pxY0JHdnlEUGo0K0hpNy9Fc1lob0Z6UmNYSXN1VWcyNWFMVTFuWktDa3RnOHZsNmcwaEZPb1VjTklReVJDUm81MU5QY2NiR2dydDNxNmJpRzRld3dnaUlpSWlvdUhGVmRiYk91RDBxUGo0ZC96YzV0RktWK2s2MU5NR3RPVTF0WFgrTzNmdnc5NzlueU1zTkJSang0ekd3b2NYWU1VSFRwcHNBQUFnQUVsRVFWVFN4WmdZRit2VjFoSk56YzNZZi9CTGJOdTVCOFVsSldocWFrWlhkemNBUUVRTUtKeFF3QWN1eUVFRGpndFZoUVV0QU54ZUs1aUl2akdHRVVSRVJFUkV3MVJEWWFFZGdCM0FlUUNmaGNhbGhvYjZ5RE1BWG5BNVhSUHI2K3VENnVycmZXeTVlZXJmWDNzZHM5TFQ4UGlhbFpnN2V4WkNRNExoNys4UFRkTUdwVFlSUVhkUEQ5cmIyNUZYY0JhYnQrN0EzZ01IMGRIUkNSRVJwWlJiSUhZUk5NS1FUOTB1NTl1Vnhmbm5CcVVZSXZJNGhoRkVSRVJFUkNORVMybFdTd3Z3T3dDL0h6L2RtcWdabUtNME5VOUU1cmpkN21rWkowNmFNMDZjUkhoWUdKS1RFcEYrc1R1SE5Ya0dRb0tENzBnTkRxY1QrUVdGL2QwdnNtMjVxS3lxaG1FWUVCRkRBZFZRT0dHSWNjUXdjS3pDMFhZQ3BhWGRkK1RrUkRSa01Jd2dJaUlpSWhwNWpJcDhXeTZBM0tnbzY4ZCtmbzVJdzJKT2hOS2UwUlJXTnpVM2gzeHg2REMrT253VUlhRWhHQlVlamdmbjM0ZlZLNVlqWWRwVTZMcCtTeWNURVZ5b3FjWHV2ZnV4ZmRjZVZGK29RVk56Q3h3T1I5OFdMakh3SlpSNlR3eDNodEdOMnZMeW5CWUFjcWN2bklpR0JvWVJSRVJFUkVRaldHMnRyUU5BQjRCU0FEc2lJeU1EL2NMR1BhWjBmQWVHTzZteHNUbTRzYkhKOTJ6UmVmWEdXKzhpWWRwVXJIbDBKUlk5OUNCR2hZY2pJTUQvaW5CQ1JORFoxWVUydXgwblQyWml3NWF0T0pweEFnNm44MklYRERnRmFGZUNLZ1B5c2ROcHZGZDlQcmZDRzlkUFJON0JNSUtJaUlpSWlQclYxOWUzbzc3K1BRRHZSU2VrVE5NTm1hT1VtZ3NsOXlyQjlJS3o1M3gvOVMvL2h0ZCs5d1ptSkNRZ0pTVVo2YWxXcEtVa3c5L2ZIN201ZVRpZFpVTldUZzVzT1dkUVcxc0hBU0FDTnlEbGdEcnFOb3hqaG9GamxlZHNwd0U0dlh6SlJPUUZEQ09JaUlpSWlPaXFxZ3F5endJNEd4Y1g5NWxERDR3MDZkbzBYY01hQU0vWTdlMmpNazZjeExHVHB4QWNISVNJOEhDWWRCM05MUzFvYW02QjI5MDd5WVdJOUFEWTdqYmtNM0ZwcHpxMTl0cW1vaUk3MkFXRGFFUmpHRUZFUkVSRVJOZFYyanVBWk1YRmYvdUJlMzRVbStCY0RhZ1hGSkRlMHRvVzB0TFM2Z2NBQ25BQXFrMWdWRUR3VGtlVDY2MzYrcngycjE0QUVRMDVEQ09JaUlpSWlPZ1duWEtXRldBOWdQWGpKaWVORC9EVEh2ZlJ0RDhHeE9KdzQxT255N1crdERBM0Y0RGg3VXFKYUdnYW5FbURpWWlJaUlob1JLZytuMXZocHlIRFl0SkdtM1Z0VEtDUGZxU2tNTmNHQmhGRWRCME1JNGlJaUlpSWlJaklveGhHRUJFUkVSRVJFWkZITVl3Z0lpSWlJaUlpSW85aUdFRkVSRVJFUkVSRUhzVXdnb2lJaUlpSWlJZzhpbUVFRVJFUkVSRVJFWGtVd3dnaUlpSWlJaUlpOGlpR0VVUkVSRVJFUkVUa1VRd2ppSWlJaUlpSWlNaWpHRVlRRVJFUkVSRVJrVWN4akNBaUlpSWlJaUlpajJJWVFVUkVSRVJFUkVRZXhUQ0NpSWlJaUlpSWlEeUtZUVFSRVJFUkVSRVJlUlREQ0NJaUlpSWlJaUx5S0lZUlJFUkVSRVJFUk9SUkRDT0lpSWlJaUlpSXlLTVlSaEFSRVJFUkVSR1JSekdNSUNJaUlpSWlJaUtQWWhoQlJFUkVSRVJFUkI3Rk1JS0lpSWlJaUlpSVBJcGhCQkVSRVJFUkVSRjVGTU1JSWlJaUlpSWlJdklvaGhGRVJFUkVSRVJFNUZFTUk0aUlpSWlJaUlqSW94aEdFQkVSRVJFUkVaRkhNWXdnSWlJaUlpSWlJbzlpR0VGRVJFUkVSRVJFSHNVd2dvaUlpSWlJaUlnOGltRUVFUkVSRVJFUkVYa1V3d2dpSWlJaUlpSWk4aWlHRVVSRVJFUkVSRVRrVVF3amlJaUlpSWlJaU1pakdFWVFFUkVSRVJFUmtVY3hqQ0FpSWlJaUlpSWlqMklZUVVSRVJFUkVSRVFleFRDQ2lJaUlpSWlJaUR5S1lRUVJFUkVSRVJFUmVSVERDQ0lpSWlJaUlpTHlLSVlSUkVSRVJFUkVST1JSRENPSWlJaUlpSWlJeUtNWVJoQVJFUkVSRVJHUlJ6R01JQ0lpSWlJaUlpS1BZaGhCUkVSRVJFUkVSQjdGTUlLSWlJaUlpSWlJUElwaEJCRVJFUkVSRVJGNUZNTUlJaUlpSWlJaUl2SW9oaEZFUkVSRVJFUkU1RkVNSTRpSWlJaUlpSWpJb3hoR0VCRVJFUkVSRVpGSE1Zd2dJaUlpSWlJaUlvOWlHRUZFUkVSRVJFUkVIc1V3Z29pSWlJaUlpSWc4aW1FRUVSRVJFUkVSRVhrVXd3Z2lJaUlpSWlJaThpaUdFVVJFUkVSRVJFVGtVUXdqaUlpSWlJaUlpTWlqR0VZUUVSRVJFUkVSa1VjeGpDQWlJaUlpSWlJaWoySVlRVVJFUkVSRVJFUWV4VENDaUlpSWlJaUlpRHlLWVFRUkVSRVJFUkVSZVJURENDSWlJaUlpSWlMeUtJWVJSRVJFUkVSRVJPUlJEQ09JaUlpSWlJaUl5S01ZUmhBUkVSRVJFUkdSUnpHTUlDSWlJaUlpSWlLUFloaEJSRVJFUkVSRVJCN0ZNSUtJaUlpSWlJaUlQTXJrN1FKb2FFdE1UQXpVTkMxcTRESmQxNk5GUkZkS2FXNjNlMnhTVXRMa2dldWRUbWRkWVdHaDNiT1YwbkFSRXhQakZ4b2FHanh3bWFacDRTS2lLYVdVaUlRbEpTVmRjazgyTlRYWnE2dXJPejFiS2QzdDR1UGpnL3o5L2NNSExoT1JNWDJmYjBxcHFMUzB0TmlCNisxMmUzTlJVVkdiWnl1bGtXaktsQ25CdnI2K2tRT1g2Ym9lTStEN2Q5emwzNytkblowTnhjWEZyWjZ0bEVZaXE5VWFvSlFLSGJoTVJFYUxpQVpBR1lZeEtpVWxKWHJnZXFmVDJacVhsOWZ1MFVLSmFFaGpHRUhYcGV2NlJKUEp0T1d5eFQ0QXdrVkVhWnIyajVxbWRWMjJ6K01BTWoxV0pBMHJZV0ZoVTB3bTA3OFBYS2FVQ2hhUlVQUzI1dnByczluODRzRDFrWkdSUDZxdXJ1WTlSN2ZFejgvUHFwVDY5Y0JsU3FsQUVRa0JvSW5JejVWU2x3UVAvdjcrZndFZ3c1TjEwc2prNit1YlpEYWJQN2hzOFhXL2Z3TUNBcjRMNEF1UEZVa2pXWkttYWIrN2JKay9nRERWNjVjaWNza2ZwaXdXeXc4QkhQWlloVVJYa1o2ZS9pOGlzdWl5eFgzQjJWSmZYOS9EYVdscFJ0OEtwVlNWWVJnL3pNcktLdlZjbFNPSDhuWUJOT1NaVWxOVEN6Vk5tM1F6RzR0SWFXWm01alFBemtHdWk0YXBLVk9tK0FRRkJaVXBwYUp1dkRVZ0l2VjJ1MzE4VVZGUnoyRFhSc09PS1QwOXZRbEEwTTFzTENMdG1abVpvUURjZzFzV0VRREFsSmFXVnFHVUduTXpHNHRJYldabTVuancrNWM4SkMwdHJWRXBGUzRpMTkxT0tRVVJhYzdNekF5LzdvWkVIcENXbHJZV3dCK1VVamMxWElHSTdNM016Rnd5eUdXTldCd3pnbTdFcFpUNlBRQ0l5SFgvWGZRSDhCY2h1ZzFGUlVVOUl2SWhBRnp2RjV3QjY5WXhpS0J2eUdVWXhzZkFUZDlyRzhBZ2dqekhKU0lmQVRmOS9ic0IvUDRsei9ya1pqY1VrYzhHc3hDaW0rVjBPck1BWEFDdS9kMC84TFBWTUl3TkhpdHVCR0lZUVRma2RydjNBdWh2Q3FxVXV1UmYzeklSNlFHdzEwdGwwakJpR01iN3VIalBYZTJMUWtUNjd6a1IrZFRUOWRId1lSakdlN2o0QUhldGUrMGlwNGpjOUMvZVJIZkN3TTlDNFByZnYvd3NKQys0NURQeGF2Zm5nSFdiUEZvWjBUV1lUS1p5QUxrM3U3M0Q0ZGc4aU9XTWVBd2o2SVljRGtlWmlPUmMvc1Z5RmVlZFRtZWxKMnFpNFUzWDlRb1JPWHN6OTV6TDVUcnZpWnBvZURLYnpma2lZcnZldlhaeFhZR3U2emY5eXd2Um5YRHgremZyUnArRlNxbXpobUVVZWFnc29qNTVON28vTDRabDUwUWszNE4xRVYxVFZsWldpMUlxWDBRTTROcXRJeTdldTF2eTgvTXZlTFRBRVlaaEJOMVFRVUZCbTRqc2s0di9Xd2YrcCsxN0xTS2lsRHJlM2QxZDU1MHFhVGhwYm02MkEvanlKdTY1TTRaaE5IdWxTQm9XV2x0YjdTSnk2RWIzbW9nY2N6cWRqZDZwa2thcWdvS0NWZ0Q3cnZaTDgyWDM1NG5PenM1NnJ4UkpJMVp6YzdOZFJQb0hwTHphL1htUnplRndOSGl3TktMckVwR0RTcW1yZHZHOTdENSszMk5GalZBTUkraG1PQUdjVUVwZGM3cE9wVlMzMiszT1lOOTl1aE5LUzB1N2xWS0hBVnh2dWs2SFlSaEhPRTBZM1k2TG4xbEhBSFJjYXh1bFZJOVM2b2pOWnJ2bU5rU0R4QVhBaHV0OEZpcWx1ZzNET003dlgvSzAwdExTYmdCSFJPU2FuNDBYdS9BZTVYYzFEU1U5UFQwSEFQVC9NZXZ5MWhFWFcvc1VpOGdSejFZMjhqQ01vSnRpR01aSkVibGVxNGRXcGRRQmp4VkV3NTdENGJBcHBhNzVsK2lMNFJpbkNLUGJaaGlHRGNBMTd6VVJzVHVkenBNZUxJbW9uOXZ0enNIMTc4OTJBTWM5VnhIUjE1eE9aOWFOdnFzTnd6amt5WnFJYmlRdkw2OWRSTlpkM3NYb3NsWVJoMFdreGRPMWpUUU1JK2ltMkd5MlNnRDkvYW9IampLcmxJSmhHTGxaV1ZubnZGZ2lEVE81dWJuNUluTG1XdmVjaUJSbVpXV2Q4R2FOTkR6WWJMWmlBR1hYdXRlVVVoVTVPVGs1WGl5UlJqQ2J6VllJSU85YTl5ZUFzOW5aMlpsZUs1Qkd0RE5uenB3RmtIK2Q3K3B6SnBPSjl5Y05PUTZINDNWY1l3YWlpNE1DSDdMWmJOZHJvVXQzQU1NSXVoVWZYV3VGVXVwMVR4WkNJNE5oR05lYkN1d0RqeFZDdzkxMVo4cHd1OTI4MThpcitGbElRNWpMN1haZmJ5YVg5MDZkT3NVcFoybklPWFBtVEo2SW5MekdBS3dOaG1HY0FuRHRlYi9wam1BWVFUZXR2cjUrKytYOUFpK20zdlYydTMycnQrcWk0Y3ZwZEg1MmpiNm9uWjJkblJ4VWlPNlk5dmIyYXo3c2NRQXI4alorRnRKUTF0M2R2UXZBSmRONTlyMjIyKzBNeTJnbzIzejVBTllYVzBRMjlmVDBzTVczQnpDTW9KdFdXVm5aSlNJYnI5Sy82aUFIenFMQmNISEFxL1dYLzRJaklwc0tDd3V2T2FBcTBhMHFLaXFxRjVHcjNXdGJiVFliWndraXI3cll2L2xUZmhiU1VGUllXRmd0SXZzdVh5NGlYeFFWRmJWNW95YWltMkVZeGtFQXpWZHBIYkdibjYyZXdUQ0Nib21JdklWTCsxZTVsRkpNdlduUWlNakd5NWNaaHJIWkc3WFE4R1lZeHR0WFdYek43bWxFbmlRaTcrR3k3MThBMSt4ZVJPUkpobUc4Y1pYRjczcThFS0piNEhRNmF3RGtYNzdjNFhDODU0VnlSaVNHRVhSTE5FM0xCVkJ3c1FrVEFKU0ppTTNMWmRFd3BwUTZMaUwvbjczN2pvNnF6djgvL3JxVFRCb2toQ0s5QkJFcENnUllGaFFWYWU1UFJVUVVSQVJSV0VWVVhCRGJFc1NDaWlERmdvZ05WMVJFVnBHaW9Pc3Fxd2lJRWlGMEZCQ1FIa2hDQ2dtWmNuOS94TG5mREpsQVFybVRETS9IT1o2ZHVmZk9uZmZzK1hBejg3cWY4bHVoTnZlSHBMVkJMZ3NoNk04Vk03WVdhbXZiRGNOZ2tsU1VDZno5UlZubWNEaCtNRTF6cjY5OW1xYVo2dkY0V1BFS1pkcW1UWnYycVdENVpCVnF1NXMyYk5qQXRkVW1oQkVvbGZUMDlDelROSDh3LzA5S2JtNXVzVXM2QVdmSzRYQmttS1pwZmFFeFRYTzlZUmgwbThkWmw1R1JrWGxDVzF1ZGtaR1JHc3lhQUorREJ3L21tS1pwaFdPbWFhYms1K2NmRG1aTmdJL0Q0Y2lRVkhpb3hzOE9oK05nc09vQlNzanQ5WHIvYTVxbU5kemNNSXhYZ2xuUStZWXdBcVd5YytmT1BOTTBseHVHa2FlQ0dlaFhNYVlLNTFKeWNuS3VhWm8vbXFhWnI0SnV5Y2xyMTY0OUd1eTZFSHIyN2R0M3pEVE5aQlcwTTdkcG1zazdkdXhndkRQS2hIMzc5dm11aGNkVjhQZDMvYVpObXdKTmFnbllMams1T1ZmU0x5cTRmbnBNMDl5NGR1MWFycDhvOHp3ZXozTERNSTVMa21tYTJSNlBaMm13YXpxZkVFYWcxQXpEV0NNcDFUQ01UTk0wL3hmc2VoRHl6RC92QnFhYXBwbHBtdWEzWXFrbG5DT21hYTVXUVZ2TE1neGpsV2hyS0R2TVA5dm40VC9iNTFMUlBsRjJtSkpXbUtaNXlEVE5UTU13dnBMa0RYWlJ3S2xzMkxEaDRKOFRXVXJTOStIaDRmVG9zUkZoQkVwdHpabzFtMHpUL00wMHpaMHBLU2svQmJzZWhENjMyNzFCMGw3RE1GS3pzN05YQnJzZWhDN1RORGRLMmlmcDhMRmp4OVlFdXg2Z3NQRHc4QTJTZGhtR3NTOHJLK3ZIWU5jREZIYnc0TUZOaG1FY01Bemo0TEZqeC9oK2lITEQ2L1crSXNrajZmdms1R1I2Zk51b3lEb21PTGZxWG54eG5YQkhUT05nMTNHbUtqck4zcVlVbWVNeVFtS21lYS9iZFdqM3RvMmJGV0ozbVdvMWJOWWdNakt5WWJEck9CdENwczE1OGpOMi9yWnBuVUx3amxISVhOOGlkSmRoS0NycnVGNFBkaTFuUTZoZTMwb3JaTnBucUZ3TC8wVDdMQkFxN1RNMlVzTWtPYk9PS3lURzNkTStDNFJLK3l5TzErc05xeHpqZU9tNDJ6czd6KzBJMlp0ZUx1WHQyN3RseTYvQnJxTXd3Z2diMWF2WHBIWlloZWdQWlNneDJMV2NLY00wRGNtUWFZVEl4ZGswRDNsTlkvRHVyV3REWnVibjJnMWJOb21NTkQ0eERhTnVzR3M1R3d6VGRQelo4c3AzbXpOMXpHdDYvN0Y3NjdwUGdsM0syUlJLMXplSEtZY015UnNxZ1ZFSVh0OUtLNVRhSjM5L1EwOG90VStINUpDOGhsY09UN0JyT1N0b255SFZQazhtTWt3UitXN1RaUnBHYUZ4YkF6TDNlazN2b04xYjFpY0h1eEtmOEdBWGNENEppNHF1TGluQmtPTGpZbU1WRVJFUjdKTE9lMTZ2UnhrWlIrV1JJaHlHdDE2dzZ6bWJJaUxVMERTTXVnN0RpSzhVRjZmd2NQNjVCNU5wZW5YMGFLYmNIazlGaDR6bXdhN25iT1A2VnZhRTh2V3R0R2lmWlEvdDgvL1FQc3NlMnVmL09WL2FwMmw2WlJpaE9ZT0J4K05SeHRHak1yMXlPRXpWbFVRWWNUNXpob2RyeUowRDFhNXQ2MkNYY3Q0N2ZQaUl4bzRici9Tam9iczRRMXhzckVZT0g2YkdGelVLZGlubnRjeXNMTDB3NlNYdDNMVTcyS1djVTF6ZnlvN3o0ZnBXV3JUUHNvUDJXUlR0cyt5Z2ZSWkYreXkvOXV6ZHAyY25URkxtMGJJM0hRWmhSQkFZRG9lYU5MNUlIZjc2bDJDWGN0N2J1MisvbkJIT1lKZHhUam1kVGwzYXZKbGFKN1lNZGlubnRiUzBkRldvRUJQc01zNDVybTlseC9sd2ZTc3QybWZaUWZzc2l2WlpkdEEraTZKOWxsKy9iZDhocDdOc3R1ZlE3SXNDQUFBQUFBREtMTUlJQUFBQUFBQmdLOElJQUFBQUFBQmdLOElJQUFBQUFBQmdLOElJQUFBQUFBQmdLOElJQUFBQUFBQmdLOElJQUFBQUFBQmdLOElJQUFBQUFBQmdLOElJQUFBQUFBQmdLOElJQUFBQUFBQmdLOElJQUFBQUFBQmdLOElJQUFBQUFBQmdLOElJQUFBQUFBQmdLOElJQUFBQUFBQmdLOElJQUFBQUFBQmdLOElJQUFBQUFBQmdLOElJQUFBQUFBQmdLOElJQUFBQUFBQmdLOElJbEVoZVhsNndTOEI1enVWeXllMTJCN3NNQUNnMzB0TFM1SEs1Z2wwR2NFWlNVMVBsOVhxRFhRYk9vdXpzYktXbHBaM1Q3M1hIang4LzdkZmw1dWFldFRvV0wxNnNlZlBtbmJYemhacndZQmVBc20vMzd0M3EyN2V2MnJScG96NTkrcWh6NTg3NjZLT1BOR25TSkVuU0YxOThvWm8xYStxNzc3N1R1KysrcTlHalIrdmlpeThPY3RVSUJhWnBhdmp3NGRxeVpZdlMwOVAxMEVNUDZmYmJidzkyV1FoaFM1Y3UxY01QUHl4SjZ0dTNyeDU3N0xFZ1Y0UlFzVzNiTnQxNjY2Mm45ZG8zM25oRGYvbkxYNHBzMzdkdm4yNjQ0UVpKMGtzdnZhUXJyN3pTMnBlZW5xN2V2WHNyT3p0YlRabzAwYnZ2dnF1SWlJalRLeDdsbXNmamtXbWFaM1FPaDhNaGg4T2hqei8rV0JNblRqeXRjeVFuSndmY3ZuRGhRajM5OU5PU3BHWExsaWttSnNiYTk5TlBQMm5Zc0dGeU9wM3EwYU9IeG93WmMxcnZqYkxsZ3c4KzBGdHZ2YVdXTFZ2cTNYZmZEWGhNNGIvSDlldlgxNmVmZmlxSDQ5VDMwUThmUHF6WFhudE55NWN2MS9UcDAzWFJSUmVWcXJiRml4ZnIyV2VmVmFOR2pmVHh4eC9MTUF4cm45dnRWdnYyN1NWSmp6NzZxRzY5OVZaNVBCNTE2TkJCa3ZUSUk0K29iOSsrMXZIRGhnM1RUei85SktmVHFaWXRXK3FpaXk3eXUyNlh4UHo1ODFXdlhyMVNmWWJ5aERBQ3A3Um8wU0s1WEM2dFdyVksxMTEzblNUNS9WRXpERU5Iamh4UlVsS1Njbk56TldEQUFOMTc3NzI2ODg0N1MzVFJBQ1JwejU0OXlzek1MTEs5Y3VYS1NrOVBsMVJ3UVc3ZHVuV1JZNktqbzlXd1ljTnpYaU1BQkVQaEw4TWw5Y29ycnlnckswdVNWS05HRFgzNTVaZEZqbW5Rb0lGYXRXcDF4dldoYk92U3BZdXlzN1BQNkJ3REJnelF5SkVqejFKRkplTjJ1elZod2dSSkJiMGo0K0xpdEhEaHdpTEh0V25UUm5YcjFyVzFOcHlaN2R1M1M1SXV2ZlRTZ1B0MzdOaWhaNTU1eG5xK2UvZHVmZjc1NStyWnMrZEp6K3YxZXZYUVF3OXA0OGFOa3FRUkkwWm85dXpaaW91TEszRnRhOWFza1ZRUWdKVGsybXVhcHRWejU4VFE3OUpMTDlWUFAvMGtsOHVscDU1NlNyTm16U3B4SGVjTHdnaWNsTnZ0MXVlZmZ5NUpxbGl4b3JwMTZ5YXBJR1gzQ1FzTFU5V3FWVFY1OG1TTkhUdldTaVNiTm0ycXl5Ky9QQ2gxby95Wk1tV0t2dnZ1dTVNZXMyUEhEZzBjT0xESTltYk5tdW1ERHo0NFY2VUJ3Qm1yVXFXS0JnOGViRDJmT1hPbUpLbGh3NGJxM0xtejM3SDUrZm5XTlMwNk9yclV2UTJYTFZ2bTk2UHR1KysrQzNoOXZmSEdHd2tqVUNyTm16ZTMydkgrL2Z1MVpNa1NTZExsbDErdXBrMmIraDI3ZS9kdS9mZS8vNVVrSlNZbWx2cTlYbnZ0TmUzY3VkTjYvdDU3N3dVOGJ0eTRjWVFSNWNUcTFhdjEvUFBQNjhDQkE1S2tKVXVXYVBueTVaS2s2NjY3VG4vLys5KzFkZXRXUGZqZ2c4ck16TlNGRjE2b0prMmFhTW1TSlhydXVlZFVvVUlGZGUzYXRkanpPeHdPVFpreVJVT0dETkdlUFh1MGYvOStQZnZzc3lYdXplUDFlclZpeFFwSkJkZlJqaDA3U3BKZWZ2bGxUWjA2MWE4OVRwa3lSYSs4OG9yZjYzM2Izbm5uSFRWdDJsUjMzWFdYNXMrZnI3UzBORzNldkZtZmZQS0pycmppQ3V2NEFRTUdXTCt0Q3ZQMU5qOGZFRWJncEw3NjZpc2RPblJJa3RTblR4OUZSVVZKOGsvK2ZMMGYycmR2cnpsejVtak1tREZxMjdZdFFRUk8yd1VYWEZDaTQ5TFMwdnlDTWFBa2xpMWJwc2NmZnp6Z3ZzTGprdWZObXhmd0xwd2tEUmt5eE8rSEpYQXFWYXBVMGYzMzN5K3BJR3p3aFJFWFgzeXh0ZDJuOFBqaW0yNjZTYkd4c1g3N0Z5MWFwQmRlZU1GdjI2T1BQaXFIdzZFeFk4Wm8vUGp4a3FUWTJGaTFhOWZPNzdqTm16ZHIvLzc5a21UOVRVZG82OTI3ZDdGemY2MWR1MWEvL3ZxckpLbHUzYnJGZm5memhRa3RXclJRaXhZdEpFa3JWNjYwd29qT25UdXJkKy9lZnE4WlBYcTA5VGpRallSbm5ubEdYMzMxbGQvZjhlN2R1eXNtSmtZalI0NjA3aUxYcjErL1NGZjdGU3RXV0orSmRseCs1T2JtYXRldVhkYno5UFIwcS9mcjRjT0hOVy9lUEUyZVBGbDVlWG1xVWFPR3BrMmJwcXBWcXlvakkwTXJWNjdVNDQ4L3JuLzg0eDhhTUdCQXNlOVJyVm8xelpneFEvMzY5Vk4yZHJhKytlWWIvZkRERDM0aFFIR1NrNU90ZXR4dXR6V25oY2ZqVVc1dXJ0Ky9vOEw3VDl6bSt5NFJFeE9qZ1FNSDZ1V1hYMWF0V3JXSzlPNnRYYnUyOWUrcHNHM2J0cDJ5MWxCQkdJRmllYjFlSzRXT2lvcFNRa0tDOVlkaDllclYxbkdmZlBLSjN4OEMzMWlxV2JObXFXSERobjVqV0lGVGNUcWRBYnNUQjlLblR4L3QyTEhqSEZlRVVPTjJ1MHMwS1crZ0x4bytUQXFJTTFGNFlqWGZIVUlmMHpUMTRZY2ZTaW9JKy92MzcxL2s5WUhhY0g1K3ZpVHB1ZWVlc3laZnk4ckswdlhYWDYrcnI3NWFrclIxNjFZclJJdU5qZFdkZDk1NWxqNFJ5ckovL09NZkFiZm41ZVdwVjY5ZTF2Tzc3NzViUFhyMEtQRjVDN2RCWDhEbGMrREFBYXRYUlAzNjlYWFZWVmNWZVgxK2ZuNlJkcHlYbDZmOC9IeU5HemZPMnBhWm1ha1JJMGFvVHAwNmtnckN1bSsvL1ZaU1FUalNxVk9uRXRlTTRMcjQ0b3MxY09CQXZmLysrNHFQajdmYXBzdmwwdHR2djYxLy8vdmYxckZIamh5eEFpN2ZqM3V2MTZ1cFU2ZHF4WW9WZXZUUlI1V1FrQkR3ZldyVnFxWEhIMy9jbW1OazRzU0phdCsrdlp4TzUwbnI4d1hCclZ1MzlydHBVYWRPSGMyY09WUDUrZm02OXRwckpVbjMzMysvZXZic0thL1hXMlJiZkh5ODlkcGJicmxGNjlldlYxSlNrdUxqNDdWdjN6NXIzOWF0VzYxL0o0VnQzcno1cEhXR0VzSUlGR3YrL1BuV21LNE9IVHJveHg5L3RCTHd3dDU0NDQxaXozSE5OZGNRUnFCVVhDNlh1bmZ2WHFKamp4NDllbzZyUWFoTFNFalFoUmRlYUQxUFRVM1YrdlhySlJYY0pTemNQYjd3UHVCTTVPVGtXSTlUVWxLMGRldFdOV25TUkZKQnp4MWZWK0J1M2JxcFZxMWFSVjUvOGNVWGE5Q2dRZHF4WTRlV0xWc21TZXJhdGF1cVY2K3VPWFBteU9Gd3FFcVZLanA4K0xDU2twTDA5Tk5QcTJMRmlrcEtTckorL0NVbEphbDY5ZXJuK3FPaURKc3paNDVTVTFNbEZjelBkTTAxMTVUcTlZWGI4V2VmZmFhNzc3N2JtaVIxOXV6WlZvK0hBUU1HQkp4RDdLcXJybEwxNnRXMVlzVUsvZmJiYjVLazIyKy9YUWNPSE5BMzMzeWorUGg0NWVibUtpTWpRL2ZlZTYrbVRwMnFsU3RYV2wzalkyTmpOVzdjT0lXRmhaWCt3eU1vYXRTb1lmVitiZG15cFRVSGhOZnIxYmZmZm12MXhwWk9ma1BnNTU5LzFzR0RCNHNOSXlUcDJtdXYxYlJwMDNUZ3dBSHQzYnRYOCtiTk8ra2t3b1dIRlRWcjFzd0tlS1dDNFhMUjBkRis5VlNvVUVIVnFsVUx1SzJ3bUpnWXZmamlpd0hmYzhHQ0JWcXdZRUd4TlowUENDTVEwSkVqUi9UYWE2OVp6NW1JRW5aS1Mwc0xkZ2s0VDF4enpUVWFPblNvOWJ6dzdOMlhYMzY1MzJvYWhmY0JaOEwzQTlEbnd3OC90Q1pyKytXWFg2enRTNWN1dGNZc1N3VS84Qm8wYUtCTExybEVsMXh5aVo1ODhrbHIzdzAzM0tBcnI3eFNsU3BWVXAwNmRkUzZkV3NOSGp4WWh3NGQwbU9QUFNiRE1HU2FwaHdPaDU1NjZxa1NoNzRJVFh2MjdMR0dDa2tGUXpsS3U5cEs0WGFjbnA2dUw3LzgwdnB4V2JnZFQ1a3lSVk9tVEpFa1ZhMWExUnIrZHMwMTE2aDc5Kzc2ejMvK1l4MTc3NzMzS2lvcVNrbEpTVmI3ZmVpaGg3UnYzejdkZHR0dDFoM3krUGg0dmY3NjZ5Rzl5a0NvMnJCaGc2U0Ntd0Z0MjdhVlZIQnRlL3JwcC9YT08rL29sbHR1VWFWS2xRSys5dmp4NDFxd1lJSGk0K090bnRqRldiTm1qVi9QczdmZmZsczllL1pVZEhSMHdPTVBIejVzdGEvWnMyZHI5dXpaMXI0bm4zelNXdkhGWitMRWlVWG1vdkJ0NjlHamgxcTFhdVgzNzZCYnQyNjYrdXFyRlJZV3BwbzFhNTYwOXNMQ3cwUDc1M3BvZnpxY3RxZWVla29aR1JsKzI4YU9IV3VOLzVzNmRhclZsV25XckZtNjQ0NDdKRWtQUHZpZyt2VHBZNzBtMVA4QjRleHpPcDFXOTh0VEdUaHdvTjlrUWdCUUhoVHVwaXNWVE9JMmVQQmdKU1FrK00zSjVISzUvSVlFRmQ2WGw1Zm5kNjNjc0dHRHJyenlTdDE5OTkzS3pNelVzbVhMVkwxNmRldE9vKysxMWF0WFYzcDZ1clp1M2FwR2pScnhkL284bEorZnIwY2ZmZFN2WjhQNzc3K3Y3dDI3cTNMbHlqcHk1SWpWVStka1RtekhiNzMxbHE2Nzdyb2liYXJ3VUl3VGgyV2twS1Q0RGZIWXVIR2oyclZycC9IangydmZ2bjM2L2ZmZlZibHlaYVdtcHZyTjZkT2dRUU50MmJKRk1URXhURjVaenZoK29DY21KdnF0THJGejUwNHRYTGl3eUZ4TkR6endnRzY3N1RaSkJjTW9WcXhZb2NzdXUreVU3ek4zN2x5LzUybHBhWHIvL2ZkMXp6MzNCRHkrUllzV2lveU1sR0VZVmp1TmpvNCs3WjQzS1NrcGZqM0tFeElTZFBYVlY4c3dqR0o3U2dRUzZqZUUrUXVFZ0U2OGF5TkpFUkVSVm1wZU9HbXNXcldxOWRqcGRQcXREdzJVbG1tYTJyUnBVNG1PTFR6dUdnREtpeE1uSi9ONnZYcnR0ZGYwNG9zdnFtUEhqdGFFbFgvODhZZTFvbFd0V3JYODdnSXZXYkpFeDQ0ZHM1Ni8vZmJiU2s1T1ZtNXVyclp1M2VvWFhNVEV4TWpoY0NnN08xc0hEaHpRMUtsVEpSWDh6WDc2NmFmMXQ3Lzk3Wng5VnBROTQ4ZVAxOWF0Vy8yMjVlZm5hKy9ldlhyNDRZZDE1TWdSVFpvMFNSMDZkRGpwZVU1c3gvdjI3ZE9ubjM2cVcyKzlWWDM2OUxHK1MvNzQ0NC9XY29rbjNzMys1Sk5QL0o0UEd6Wk1WMXh4aFhiczJLRzllL2Y2N2F0V3JaclMwOVBsOFhpVWtwS2lsRXovdUpJQUFDQUFTVVJCVkpRVVNRV3J2YzJlUGR1YVV3SmwxLzc5KzNYNDhHR0ZoNGY3cmI3aTlYcmw4WGlVbDVjbmg4T2hpSWdJYTVpR3krVlMyN1p0ZGNVVlY2aDU4K2JhdkhuektYdkU3Tm16eHdwcnc4UERyYUVVczJiTlV1L2V2WXNNcFpBS3JvY0RCZ3hROSs3ZDFhOWZQMG5TcTYrK3F0YXRXOHZsY3FsZHUzWitBVjV4d3NQRFZiTm1UUzFac2tUNStmbCtQWCtrZ3VGUnhhME1FMGd3bHRXMUUyRUVBcnJra2t1c3BEclEydFMrTkx4YXRXcW50ZjQ1VUJ5MzIrM1hiUjQ0bDF3dWw5OFB1c0pqUk4xdWQ3SDdnRFBoNjZZc0ZheXlrWmFXcG0rLy9kYWE4ZjJ2Zi8yckpPbSsrKzZ6anJ2ampqdXNPM1MreWQ1TzVQdkI1OU9zV1RQMTZORkRQWHIwa0dFWSt2enp6N1ZvMFNKcmNqU1h5Nlg2OWV1ZjljK0hzc2swVGIzd3dndkZyaEkwZCs1YzdkbXpSMUxCcEpkUFB2bWtycnZ1dW9ESHVsd3VheFdPaWhVcktqOC9YL241K1pvK2ZicTZkT21pRzIrOFVWTEJKS29mZmZTUkpNa3dEQTBhTk1nNngvYnQyNHRNV0cyYXBqVVBpbFR3dzY1OSsvYnEyYk9uT25mdXJOVFVWSDM2NmFkYXZIaXgzNDJ4UUhPcm9PengvWmgzdTkxK2JXdkFnQUY2NElFSEpFbHQyN2JWakJrek5HblNKS3Z0bE5iNDhlT3RBT0t1dSs3UzZ0V3J0V2JOR3VYbTVtcjY5T2thTzNac2tkZWtwNmVyYmR1MmZwTkhidDY4V2ZuNSthcFJvNFkrK2VTVEV0WFRvRUVEelpzM1R6ZmRkSk02ZCs1Y0pJeUlpSWdvc2dKTWZuNit2RjZ2d3NMQ2lreXlXZHJoVStVTllRUUN1dVNTUzNUbGxWZnF4UmRmTEJKR3BLV2xXY3Z5OENVRzUwS0RCZzBrRlh5SjhjMGZVYVZLbFNMTDIwa0ZmOUFxVjY1c2EzMElIZSsrKzI2eGEzblBtemZQYjRsRjRHekl6OC8zdTZQN3pEUFBXRi9DbjN2dU9jMlpNMGVWS2xYUy9Qbnp0V3JWS2trRjNYc0xMNXU0YU5FaUhUaHdRR0ZoWWRZa2dTMWJ0dFNSSTBmVXFsVXJIVDkrWEZkY2NZVnExNjR0U2RxeVpZc2txVkdqUmhveFlvUU9IVHFrRlN0V3lPUHgrRTNTaXREbDlYcjEvUFBQNjdQUFByTzJ0V25UUmxGUlVWcXhZb1drZ3FHMkN4Y3UxTWNmZnl5MzI2MG5ubmhDNmVucHV2MzIyNHVjYi8zNjlWWlg5dGF0VzZ0eDQ4YWFPWE9tc3JPek5XN2NPTDM4OHNzeURFTVRKMDYwaHYzMjdOblRiNG5PbVRObnlqVE5JdTA0TmpaVytmbjVxbGV2bmk2Ly9ITHJiMy9oM2hYdDI3ZlhyNy8rcXRXclY2dHAwNlloMzVYOWZMSjY5V3AxNk5EaHRKZHVYN3g0c1g3ODhVZEpCUk5LOXUvZlh4MDdkclJXRDFxd1lJRTZkKzVjWklMOXRXdlhGcGtYYXZMa3laS2t2bjM3K2czWENMU2NyTXZsS2xITjk5NTdyKzY5OTE2L2JZTUdEZEtHRFJ2VXAwOGZQZkxJSXlYNGxLR0RNQUlCM1hERERYSTZuUUhITkgzLy9mZFc5ODlMTHJrazRPdVBIVHZHY0EyY0ZxZlRhZjBBUEhEZ2dHNisrV2JsNWVXcGN1WEtldSs5OS93bUhscTVjcVZlZlBIRmtFK05BWVNPSDM3NHdScGkxcnAxYTExMjJXWHExS21UdnZ2dU94MDZkRWlQUFBLSUJnd1lvT2VmZjE1U3dkM2tNV1BHK0kzRDkvVkl2T2FhYTZ3eHlZTUhEMWFyVnEyMGZmdDIvZjN2ZjljMzMzeHp5bG8rL3ZoalZpSTRENlNucDJ2MDZOSDY2YWVmckcxTm1qVFJsQ2xUL0NaQk5ReERqejc2cUNJakk2MngvRk9tVEZGYVdwcUdEeC91ZDg3Q3l4RzJiZHRXdDl4eWl4WXRXcVRVMUZRdFg3NWMwNmRQbDJFWVdyeDRzYVNDbnJRUFB2aWczemtDdGVPWFgzNVo0ZUhobWoxN3RsNS8vZlZUQnNLVktsV3lKc2RFMlZlM2JsMnJWMWR1YnE3VnJwNTg4a2tyZElxSWlOQUZGMXlnakl5TWdMMnpUK2FQUC83UXBFbVRyT2Y5Ky9kWFhGeWNXclJvb2E1ZHUxclh4YWVlZWtvZmYveXgzM0NOS2xXcXFGMjdkc3JMeTdOV3ptcldySmtxVnF5b2hJUUUvZkhISDVJS3ZxY3VYNzY4eUhzLzg4d3pwMXdaSXlzclMzZmZmWGVSN2I3NXo3NzY2aXNsSnljWDJmL0NDeStjZE9XUThvd3dBZ0dkYkIzZXdwT3grR2JCUGRFSEgzeWc3Ny8vWHYzNzl5KzJpeDl3S2pWcjF0U1FJVVAwMm11dmFmdjI3Um8xYXBRbVRacWtqSXdNVFo0OFdmLzczLzhrU2J0MjdkSkhIMzFrVFhBRWxGVHo1czExNmFXWFdzLzM3dDFyZmNtNDZLS0wxS1pObTREN2dOTzFhTkVpNi9GVlYxMGxxV0NDYU4rU2hzbkp5WDVmUnUrNTV4NjFidDNhN3h5Tkd6ZFdkSFMwK3ZYcjUvYzNPUzR1N2h4WGovSW1KU1ZGanozMm1OOWNZTTJhTmRQMDZkTUQ5amFVQ29ab09Cd08vZXRmLzVJay9ldGYvMUo2ZXJxU2twSVVGaFpXWkJ4OHAwNmRGQjBkclJkZWVFRkRodzZWMiszMlc2a2pMQ3hNNDhhTlUzeDh2Ti83Tkc3Y1dMdDM3OVpmLy9wWHF4MkhoNGR6TXl1RVJVVkZxWFhyMWpKTjAyOFp6OEpESmkrNTVCSk5tVEpGcjc3NnFqNzk5Tk1TbnpzOVBWMFBQUENBdGV4N1FrS0NCZzhlYk8xLzlORkh0V3JWS21Wblp5c2pJME1qUm96UUcyKzhvUW9WS2tpU1dyVnFwUmt6Wm1qbnpwMjYrZWFiSlVtalJvMVN2WHIxNUhLNTlPR0hIMXExZHVyVXFjajduemc1NjRteXNyTDA4Y2NmVzh2WUZ2Y1owdFBUaTJ3UDVUblNDQ05RS3N1WEw5ZnExYXNsRlV5STFiNTkrNEQvYUZKVFU3VjU4MmJObURHRE1BSm41TTQ3NzlUUFAvK3NuMzc2U2F0V3JWTC8vdjExOE9CQmEveStZUmpxM3IyNzJyVnJGK1JLVVY3RXhjV3BXYk5ta3FTYmJyckpyL3Y3MHFWTHJjQ2hUWnMyZmt0N3BxU2tXTzJPaWRKd09uYnUzR21OaDNjNm5lclNwWXVrZ21VS24zLytlYjh2emxKQmQvUkFkOUV1dlBCQ0RSNDhXRldxVkRucCt5VWxKZmt0RFNvVjNIbDcrZVdYeitSam9CeEpTMHZ6Q3lLdXZQSktqUjgvdnRqbERYMkdEeCt1dkx3OHpaa3pSNUswYnQwNlpXVmxLVDQrWHA5Ly9ybjEzYTk1OCtiV2tOM0V4RVFOSFRyVWIybDRxYUJidW04ZWxNSWFOV3FrbGkxYlduZWNpek5uenB3aVFkdUxMNzZvcFV1WG52UjFLSHQrL3ZsblBmend3OHJKeWZHYlpQZjU1NTlYMzc1OUpSV3N0bkgxMVZlWDZydzVPVG42eHovK1ljMTVZaGlHbm5ycUtiK2VzOVdxVmRPb1VhT3NKVG8zYjk2c1VhTkc2WlZYWGltMmgrMnZ2LzZxcEtTa0loTklscmJIaGxTd2hQTlZWMTJsQ1JNbVdOc3lNek0xYWRJa3Y3Q2hjdVhLR2pseXBDSWpJNjF0b2Z5ZGd6QUNKWmFUaytQWEZhNUhqeDVGL3ZINnhrcjVKcjlrVGdtVVZHWm1wdlhZNVhKcHc0WU5TazVPMXVyVnE1V1ZsYVVXTFZwby9mcjFmbDlhMnJScG95ZWVlSUoyaGxKcDI3YXRQdmpnZzFLL3puZlhCRGhkcjcvK3V2VUZ2SHYzN29xUGo1ZHBtbHF5WkltbVRadFc1UGhWcTFacHhJZ1J1dnZ1dS8xNjhNVEV4T2lPTys3d3U3TVlTRnhjbkdyVXFPRzNyYmk3NFFoTm5UdDMxcDEzM3FuMzNudFBkOTExbDRZTkcxYmkrUlVlZnZoaFpXUmthTnUyYlpveFk0Ymk0K09WbDVlbmQ5NTV4enJtbGx0dWtWVFE1WDdXckZsK1N6WDZ2UG5tbTBwTlRkV2dRWU5VczJaTmEzdUhEaDBVSGg1K3lqRGlnZ3N1S05Lckl0Q1lmWlI5YnJmN2xEL2tvNktpVktOR0RhV2xwU2tySzB0U3dWeGlKMTdMZlBidjM2OFJJMGI0cmU3eXdBTVBxRVdMRmtXTzdkbXpwNVl2WDI0Tk0vcjU1NTkxNzczM2F0S2tTUUhEM1lrVEowcVMzN1cydUNYb0oweVlZSzErNUZONEVtelROSFhreUJGMTY5Wk5rdlRiYjc5cDdOaXhWaEJ4MTExMzZmMzMzMWQ2ZXJvKy9QQkRqUmt6UnMyYk53LzRtVU1KWVFSS3hPVnk2YUdISHJMR05JV0hoMnZBZ0FHUy9QOGdmUDc1NTNLNzNWcTdkcTBrcVdIRGh2WVhpM0luTHkvUCtpUGk2LzVXT0NWT1RFelV0R25UTkhyMGFIMy8vZmZXOWw5KytVVmp4b3hSdDI3ZDFMWnRXelZwMHFUSSt1WUFVQmFzWExuUytnSnNHSWI2OXUyclR6NzVSSFBuenRYMjdkdXQ0OExDd2xTOWVuVXIxUC9oaHgvMHd3OC9xRkdqUnVyVXFaTzZkT21pWnMyYWxlaGE5OFFUVC9qTkNTRHB0Q2VGUS9rMWJOZ3dYWFhWVldyVnFsV3BYbWNZaHA1Kyttbmw1T1NvVXFWS2tncVdrUFd0WWxHalJnMjFiZHRXMDZkUDEyZWZmV1pOT0MwVnpPWGc5WHFWbFpVbGw4dWx1WFBuNnROUFAxVmlZcUk2ZGVxa3JsMjcrZ1VUSjNQOTlkY1gyZVp5dVVyMVdWQTJWSzVjV1owN2QxYXRXclVVRnhkbkJmeStNSGJ1M0xscTBhSkZrZFUwZkhPSHZQNzY2MzduVzd0MnJVYU5HbVZOa2lwSnZYdjN0aWFyRE9USko1L1V0bTNick44MEtTa3B1dlBPT3pWMzdseEZSVVg1QlFpQm1LWVpjRjZIdzRjUEY5bFdlSVdqMk5oWTllclZTMTk5OVpXV0xGbWlIMzc0d1FxbmUvWHFwUWNlZUVCVnFsVFI1TW1UdFhYclZnMGNPRkJ0MnJSUjU4NmQxYk5uVDFXc1dQR2tkWlZYZkd0SGllemR1MWU3ZCsrMm50OXh4eDFXbDZGS2xTcXBSbzBhT25qd29MWnQyK1ozZHlkUXR6emdSRjk5OVpXVmZrdEZ4OFpWcmx4WjBkSFJtanAxcWo3Ly9ITk5uVHJWK3NPemNlTkdiZHk0VVZKQnQwMWZ0MmNBS0N0eWNuTDhRb0dPSFR0cXhJZ1JmbCtncFlLeDBtUEdqTkdGRjE2b2p6NzZTRysrK2FiMXhYajc5dTNhdm4yN0lpTWpyV0ZHcDhKeXRKQUtiaUNWTm9nby9GcGZFTEYrL1hwckhnbXBvSmZaVFRmZEpLL1g2L2VhYTYrOVZxTkdqWkpoR0hydHRkZjAyV2VmeVRSTmVUd2VhMDZVNXMyYmx6aU1PTlZZZkpRZlRaczJ0U2FZek1yS3NzS0lLbFdxK0YwUER4OCtyQ05IamtncUNNVysvLzU3T1oxT2E2aTRMNHc5Y3VTSVg4L2FybDI3NnZISEh6OXBEVEV4TVpvOGViS0dEQmxpdmVkZGQ5MWwzVnoxcmNRaEZZVERJMGVPMUcyMzNXYlY3WGE3TldMRWlCSjkzbTdkdXVtRER6NVFibTZ1cGsyYnBxbFRwMXJ6bmZrTUdqVEltc2l6Zi8vK2NydmRldVdWVjJTYXBuNzU1UmVscGFWWlExaENFV0VFU2lRaElVSFhYMys5WG4zMVZWMXl5U1VhT25TbzMvNW5ubmxHa3laTjB0NjllMldhcGlwVnFxUWJicmhCVjF4eFJaQXFSbm55Ly83Zi85T3NXYk9zbExwbXpacTY3TExMMUs1ZE83VnAwMFlYWEhDQmRXeVBIajNVdFd0WHpaOC9YM1BtekxIR0IzYnYzcDBnQWtDWlZLRkNCZDEzMzMwYVAzNjhZbU5qOWZUVFQydjU4dVhXV3ZjSkNRa2FNR0NBYnJ6eFJxc0wvY0NCQTNYdHRkZnFvNDgrMGhkZmZLSFUxRlRWcmwxYkF3Y09MUEg3OXU3ZFcwMmFOUEhibHBLU1lxMXdBSlJHczJiTjFMdDNiMzM2NmFkcTE2NmR4bzBiSjZmVGFhMGcwSzVkT3cwWk1zUnZEcWVrcENUZGZQUE5tak5uanY3NzMvOHFOemRYZi92YjM0cE15bm95STBhTUtETEh4Y0tGQzYwYkVRZzl0OTU2cXhVVVZLdFdUWXNXTGZJYkdsR3ZYajFKQmVIRDZOR2o5ZXl6ejZwdjM3NTY1SkZIU2pRTUtTRWhRZE9tVGRQUW9VTTFZTUFBM1hUVFRkWSszelV6SmlaR0w3NzRvanAwNkZEazlZVW50L2JadFd1WEZhRDRSRVpHYXRLa1NZcU9qbGFWS2xVMGV2Um9yVjY5V3RuWjJXcmZ2cjJHRHg5ZUpGeSs0NDQ3MUxKbFMwMmNPRkZidDI3Vnd3OC9ITks5ZmtQM2srR3NHemh3b0g3NzdUZU5HaldxeUQrS3YvemxMOVlrUjBCcFJVWkc2dGxubjlYOCtmUFZxMWV2VTk3MWk0Nk8xbTIzM2FiYmJydE5XN2R1MWZmZmY2OCtmZnJZVkMwQWxGNnZYcjFVdTNadDVlVGtLRDQrWHRkZmY3Mk9IajJxQmcwYTZQTExMN2VXT1N5c1dyVnFHajU4dU82Ly8zNnRXclZLVVZGUmZwT2FCV0lZaHZWbC9MTExMaXNTMGtaSFIxdkQzVmpXRTZVUkhoNnUwYU5IcTE2OWV1cmN1Yk1rNmZISEgxZlZxbFYxelRYWHFISGp4Z0ZmMTdScFV6MzExRk42N0xISDlNMDMzNVJvd21tSHcyRzE0eHR1dUtISW5CRmJ0MjdWcmwyN1FyYnIrdm5JNFhESTZYVEs2WFNxYytmTyt2WFhYOVdrU1JOMTdkcFZ2Ly8rdTNWYzgrYk4vU2FldnVtbW0xUy9mdjFpVi9nclRyTm16VFJyMXF3aVMyWjI3TmhSMTE1N3JmcjE2K2MzVjQrUDArblVXMis5VldSN2NVdDdGcDU4c21yVnFucjU1WmRWczJiTmsvWU1Ta3hNMU96WnM3VjE2OVlpZ1hLb0lZekFTWDN4eFJkK3o1OTc3cmtnVllKUTE2eFpzeEozUFM2c1NaTW1JWCtoaG4wNmQrNGNjQ3dvY0RhY09IU3hmLy8rSlhxZHcrSFFaWmRkVm1SNzdkcTFpN1RYeE1SRS9menp6OFdlNi9ycnJ3ODRCaC9ucDhJVGs1ZFU0ZDQ1RVJFUnV2LysrMHYwdXVqb2FQWG8wYVBJOXA0OWU2cG56NTUrMndZUEhseGtkWm5Da3BLU2xKU1VWTUtLVVJiRnhzWVd1WDRWSGlKUjJIMzMzYWY3N3J1djJIT1ZOb2p3T1RHSThIbjIyV2VMYkJzeFlvU0dEeDhlTURpV0NwWm85dlYyTzVuRXhNUVMxM2MrZkw4bGpBQUFBQUFBb0JqaDRlRWhQVndpV0VxMnRnOEFBQUFBQU1CWlFoZ0JBQUFBQUFCc1JSZ0JBQUFBQUFCc1JSZ0JBQUFBQUFCc1JSZ0JBQUFBQUFCc1JSZ0JBQUFBQUFCc1JSZ0JBQUFBQUFCc1JSZ0JBQUFBQUFCc1JSZ0JBQUFBQUFCc1JSZ0JBQUFBQUFCc1JSZ0JBQUFBQUFCc1JSZ0JBQUFBQUFCc1JSZ0JBQUFBQUFCc1JSZ0JBQUFBQUFCc1JSZ0JBQUFBQUFCc0ZSN3NBczVITHBkTFUxNTVUZSsrLzJHd1N6bnZIYy9QVjBiRzBXQ1hjVTRkUFhwVVk4ZU5WOFdLRllKZHlubk43WGJyOTUyN2cxM0dPY2YxcmV3NEg2NXZwVVg3TER0b24wWFJQc3NPMm1kUnRNL3lLemMzVDBlUFpnYTdqSUFJSTJ6a05WMzVZWWJUWlpxbWZ0MjJQZGpsb0JERGxOdnJOWTRIdTQ2enlqQnpEVk51bDl1dGpadTNCTHNhL0IvVGxIa3MyRVdjYlZ6ZnlxNlF2TDZWRXUyejdLSjkwajdMTXRvbjdUT1VtSWJwbGxtMjJqTmhoSTI4ZVVkL1YzalZ5UTdEYUJyc1dzNkV3ekRqb3NPTWxvWmhPUEk4NWdhM1YybkJydWxNbWZLbTZyanJ4MkRYY1RabHVuUFh4SWJIVEREa3FCUHNXczZFYVpwaHNSR095dzFERlk2N1BWdnp2WTdmZzEzVG1UQmxabnRjbnZuQnJ1TnNDNVhybXlSRmh4c3R3ZzJ6cnRzMDloeHplVGNaaHVFSmRrMW5JaFN2YjZVVlN1MHowcUVtRVdHNjBPM1ZnV051ejNyRENITUh1Nll6UWZzTXJmWVo0VkREeURBMTlVaXB1ZmxtaW1rWXJtRFhkQ1pvbjZIVlBnTUpOMVFwS3R4b2E4b01PKzdXR3JlcHc4R3U2Vnp4ZW8zOStaNmM1R0RYVVpnUjdBSlEvclJzMmJKOWVIajRmTk0wb3d6RDZQZkxMNzk4RmV5YUVMcGF0bXhaSVR3OC9FZEpUYnhlNytpMWE5ZE9DblpOQ0cySmlZbnZPaHlPTzAzVG5PbnhlQjVjdDI1ZFRyQnJBbndTRXhNbk9oeU9SeVQ5Mit2MTNyTjI3ZHFNWU5jRStDUW1KajdzY0RoZWxQU1ZhWm9EMTZ4Wmt4cnNtb0NUT2VGM3pXMi8vUExMbDhHdTZYekNCSll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doQkVBQUFBQUFNQlc0Y0V1QUdWYlltSmlkNGZEOFo5QSt3ekRrS1F2MjdScDQ3ZmQ2L1gyV0x0MjdSYzJsQWNBQUFBQUtJZm9HWUdUeXM3Ty90NDB6VjJsZU1rZjJkblovejFuQlFFQUFBQUF5ajNDQ0p6VXRtM2JqcHVtK2FFa21hWlo3SEcrZlY2djk1TnQyN1lkdDZjNkFBQUFBRUI1UkJpQlUvSjZ2UitacHVrMURDTmdJR0dhcG0vSWhrZlNwM2JYQndBQUFBQW9Yd2dqY0VwaFlXRUhKYTB2d2FFYnZWNXZhWVowQUFBQUFBRE9RNFFST0tXc3JLeE13ekNXK3A0WDdoMXh3dVBOVHFjenpkN3FBQUFBQUFEbERXRUVUbW5idG0zSHZWN3Zha201eFIxam1tYSthWnJKeWNuSngyd3NEUUFBQUFCUURoRkdvRVJNMC96Wk5NMkRoWjZmT0gvRVVVbGYyMTRZQUFBQUFLRGNJWXhBaWFTa3BQeHVtdWF2ZjA1VTZlZlBiZHZ5OC9NMzJWNFlBQUFBQUtEY0lZeEFTYmtrelM1dXAyRVk3MjNhdENuZnhub0FBQUFBQU9VVVlRUktMQzh2NzNQVE5ITUs5NDc0YzduUFk1bVptZk9DV0JvQUFBQUFvQndoakVDSmJkbXk1WWlrN3dQc1dySnQyN1pVdStzQkFBQUFBSlJQaEJFb3Jaa0J0aTJ3dlFvQUFBQUFRTGxGR0lIU1dtR2E1ajdETUh4RE5GSTlIczlQd1M0S0FBQUFBRkIrRUVhZ1ZJNGZQNTRwNlgrKzU0WmhyUEY0UEF6UkFBQUFBQUNVR0dFRVNtWFRwazA1a242VTVKYms4WHE5S1JzM2Jrd1BjbGtBQUFBQWdISWtQTmdGb053eEphMldkTmcwelNnVjlKSXdnMXNTQUFBQUFLQThJWXhBcVhrOG5uVmhZV0c3SmNWbVptWXVEM1k5QUFBQUFJRHloVERpSEtyZDZOSjZFYzd3UnNHdTQyekx6SmNxT3IyL0dvWVI1WTJJYTUzUU5ESFlKWjBUWG85bjkrN2YxdThJZGgwQUFBQUFFR29JSTg2UjJoYzJyeDhaRWZadlU3bzQyTFdjQzdsdWhabnlTb2FqVzdCck9WY2M0V0g3YWpkcDJYdmYxblZiZzEwTEFBQUFBSVFTd29oekpNSVJYdHVVNmpzTUl6NDJ0cUlpbkJIQkxna2w1SEs3bEpXVkphL0hOTUlkanZxU0NDTUFBQUFBNEN3aWpEakhvcU9qTlh6WVBXclRxbVd3UzBFSmJmbjFOMDE2YVpyUzB6T0NYUW9BQUFBQWhDVENpSE1zTE15aGl5NXNxTmFKaEJIbGhkZnJsZFBwbENTRkJia1dBQUFBQUFoRmptQVhBQUFBQUFBQXppK0VFUUFBQUFBQXdGYUVFUUFBQUFBQXdGYUVFUUFBQUFBQXdGYUVFUUFBQUFBQXdGYUVFUUFBQUFBQXdGYUVFUUFBQUFBQXdGYUVFUUFBQUFBQXdGYUVFUUFBQUFBQXdGYUVFUUFBQUFBQXdGYUVFUUFBQUFBQXdGYUVFUUFBQUFBQXdGYUVFUUFBQUFBQXdGYUVFUUFBQUFBQXdGYUVFUUFBQUFBQXdGYUVFUUFBQUFBQXdGYUVFZVZVWGw2ZWR1N2NlYzdPbjUrZnI4T0hENWY0ZU5NMHoxa3RBQUFBQUlEUUVoN3NBbkJxYnJkYmh3NGQwdSsvLzY1Tm16WnB6Wm8xV3JObWpabzBhYUpCZ3dicDRZY2ZQdVU1YnJ6eFJvMGRPL2FVeC8zd3d3K2FPWE9tTm0zYXBJU0VCTTJaTTZkRU5TNWV2RmpUcDA5WGx5NWRkUHZ0dDZ0bXpacEZqdW5kdTdkMjdkcWx4bzBibC9pOGhZMFpNMFpMbGl5UkpDMWJ0a3d4TVRHbFBnY0FBQUFBSVBnSUk4cTRRNGNPNmRwcnJ3MjRiL1BtemNyTHl5djFPYk96cy9YMTExOEgzTGRyMXk2bHBLUklrbjc3N1RmTm5EbFRsU3RYTG5KY1dGaVlldmJzYVQyZlBYdTJEaHc0b01XTEYydm8wS0dscmtrcUNFS1dMMTllN1A2Tkd6ZGFqNmRPbmFydzhNRE4xK2wwNnFHSEhqcXRHZ0FBQUFBQTV4NWhSQmxYdlhwMVJVUkVLRDgvMzlwV3NXSkYzWEhISFdyWnNxVXlNaktzN1U4ODhZUWFOV3JrOS9vSEhuaEEyZG5aZnR2UzA5UDE3TFBQbHVqOVgzdnR0WURiblU2bkZVYXNYTGxTVzdac2tTVGRkOTk5cWxpeG91Yk5tNmZKa3lmN3ZjWVhuR3pidGswZE8zYjAyM2Z6elRlclFvVUttanQzYm9ucW1qZHZYckg3b3FLaXlrUVlVYWRPblM1VnFsUVo0bkE0dWhpR1VjUHI5WDZ3YnQyNk80SmRGd0FBQUFBRUcyRkVPZkRQZi81VFZhcFUwY0tGQy9YTk45K29hdFdxR2pKa2lDUnA2ZEtsMW5HTkdqVlNpeFl0L0Y0YkZoWjIwbk03bmM1VEhoTklaR1NrOWZqTk45K1VKRFZ1M0ZpOWV2WFNxbFdybEp1YlcyeXZEZE0waSt4enVWeHlPcDJLaW9vcTlqMWRMcGM4SG84a25mUzRZQTdmcUZpeFlyT0dEUnZPQ0FzTDYyZ1lScGdrR1liaDIxMHJhSVVCQUFBQVFCbENHRkVPK0hvZ2ZQZmRkeWM5YnZQbXpUcCsvTGpmTnJmYmZkTFhqQjQ5Mm0rNFJXbjk1ei8vMGJwMTZ5UkpTVWxKK3ZYWFgzWGZmZmNwTEN4TXQ5NTZxOXExYTJjZE8ySENCS1dtcHFwV3JWb2FOV3FVMzNucTFxMnJ4bzBiYS9EZ3djVytWK0U1STc3Kyt1c3lOV2RFbzBhTjdxbFlzZUpMRG9janVsRDRBQUFBQUFBSWdEQ2lqTXZJeU5EVXFWTWx5ZnJSZi9qd1lUMzU1Sk9TcEU2ZE9sbkhUcGd3NGJUZUk5Q1FpcE9KaVluUjExOS9yWXlNRE90MXJWdTNWbHBhbXQ1Ly8zMUpCVDBuQmcwYXBCbzFhbGl2ZS9YVlZ5VVZERFBwM0xsenNlZnYzNysvY25KeWltdy9jdVNJOWJoZnYzNEs5S1AvcnJ2dVVxOWV2VXI4V1U2VGNlbWxsejdnY0RqNk9CeU9TeVZWTmd6RHF1ZkVsVVVJSndBQUFBREFIMkZFR1hmczJERjkvdm5uZnR0eWNuS3NiVmRmZmJXY1R1Y3B6MVBjWkk5U3dmQ0gwNWtJYzh1V0xkYnluNzRWUG55R0R4K3VYYnQyYWRPbVRkYTJZOGVPU1NxWVFMUHc4QkpKZnVIRTNyMTdpOHh6Y2FLOWUvY0czSjZabVZtNkQxRUt0V3ZYN25qQkJSZk1rTlRVNFhDRVMvNUJRNkRsVFFraUFBQUFBS0Fvd29neXJtTEZpaG93WUlEY2JyZTFIR1pjWEp3MXRLSlRwMDc2OGNjZnorZzlycmppQ2xXdlhsMzc5Ky9YU3krOXBCdHZ2RkdYWDM2NXRmL2d3WU9hUG4yNjFWdmhMMy81aS9XL2NYRnhSUUtBMXExYnEwK2ZQcnI1NXB1MWE5ZXVJdSszZi8vK0lzdVJKaWNuRnptdWJkdTI2dHUzci9WOHpwdzVWdUF4YnR3NFJVUkVTQ3JvTVRGeDRzVFQrZWdsMHJScDArZWlvNk1mTlUwejNCY3VGTmNMd3FlWUVLSmJxMWF0QXI4QUorWHhlR1FZaGt6VG5OaXFWYXZUNndJRWxKQnBtZzZ2MXl2VE5POTBPQndERWhNVGcxMFNVRmpZbisyenAyRVlWeWNtSnZKM0JXVkpqTmZybGFRMmtqNU1URXpNUDhYeFFMREYvL2xmNmUvTTRvd1JScFJ4Y1hGeEdqbHlwTDc5OWxzcmpLaGN1YkpHamh3cFNYcm9vWWNDL3BBUDVLV1hYbExyMXEzOWZrQWJocUU2ZGVxb1JvMGE2dCsvdnp3ZWorYk5tNmVvcUNnOStPQ0Qrdjc3N3pWanhnemw1T1RJNFhCbzJMQmh1dXV1dXlRVjlMWjQ5OTEzRlJVVnBYZmVlY2Q2M1pOUFBpbkRNQlFkSFgzU2lTWlBwVmF0V3VyV3JadjEvSC8vKzUvMStPcXJyN2JtalBqamp6OU8rejFPeGxTK016NHk0a3ZEaUhZVUhvWWhuZDVRRElmRGNkWnJQQThaZi80SDJNRWhLU0xZUlFERmlKUjBRYkNMQUlweGdhVHV3UzRDS0lWanBta2VDM1lSNXh2Q2lITGlvNDgrc2g2bnA2ZnJubnZ1MGZQUFA2OWp4NDZkY2tpRGoyOGxpc0tUWFBwVzBnZ1BEOWVVS1ZNMGR1eFlwYVNrYVBiczJmcjY2NitWbXBvcVNicmdnZ3MwZnZ4NHRXN2QydStjQ1FrSldyWnNtYlhVNW9NUFBxaDY5ZXBKa2o3ODhNUFQvTFFGY25KeS9JSUczekFQcVdDWWhpL29PSERnd0JtOVQzRU1SYmd5czQrOVdDRTZzbU40ZUhnN3BFeHVWd0FBRFFCSlJFRlUwelFyU1FXaHdwOTM2YTFqZlk5UEZrcDRQQjdUTUF6WE9TbjIvR0JLY2t2eUJyc1FuRGZ5SkhGWEQyVlZ1bUVZV2NFdUFqaVJhWnFtWVJpN0plMVN3ZDl1b013elRYTlBkbmIyMm1EWGNiNGhqQ2dIMXF4Wm8xOSsrY1Y2bnBtWnFlVGtaQTBaTWtRalI0NjBlaXBJMGp2dnZLUGs1R1JGUkVUb3BaZGU4anZQeFJkZkxLbGdqZ2dmbDh1bHp6Nzd6SHJlbzBjUFpXZG5hL3YyN1ZZUUVSMGRyVnR2dlZVN2QrN1V6cDA3SlJXRUdEMTc5dFNPSFRzMFpzd1lTVks5ZXZWVXRXcFZ6WjQ5VzgyYk4xZGVYcDcyN05senlzOVh0V3JWZ0JOYUxsMjZ0TWpjRWo3OSt2VTc1WG5QQnRNWnMzejkrclZQU1RJaUlpS2FWSzFhOVlMcTFhdi8yekNNR3I3ZUVpVU5KVXpUWEphU2tuS2pMWVdISnEvNFVnUDdtQ0w0UXRsRiswUlpSdnRFZWVRVjdkWjJoQkZsbk1manNWYXNxRldybHZidjM2L1kyRmk1M1c3dDJiTkhLMWV1MUQvLytVL3IrUG56NTBzcXVIdmZ2bjM3Z09jczNKUEM1WEpwL1BqeEo2MGhOemRYMDZaTjg5dm1kRHAxM1hYWGFkaXdZZGI1L3ZqakR6MzIyR09TQ3BiNVhMbHlwYjc5OXR0VGZzWkxMNzMwcEt0cmxCRm1mbjcrbHYzNzkyL1p2MzkvVFVscTJiTGxldzZIbzQ5aEdORytnd0xOSmVIYjVuQTQ4aVZsMkZrMEFBQUFBSlJGaEJGbDNNR0RCN1Y1ODJaVnFWSkY3ZHUzMS96NTgxV2xTaFVOSHo1Y0N4WXNVSk1tVGRTeFkwZnJlRit2aDd5OFBML3RIVHAwc0VLTndzTWFxbGF0cXBvMWF4WjUzK3pzYkN0a3FGcTFxclZpUjFwYW12THo4eFVlSHE3dzhIRFZyVnZYV2xIREp6NCszbTlKVDhNd0ZCY1hGL0E5ZkVOSEN2dnl5eSt0SC9QSGpoM1RxRkdqdEdIRGhpTEhHWWFocEtRay9lMXZmN08yK1NhMXRNTzZkZXNHU1JwVXAwNmR6dFdxVlJzcjZWTERNS29ZaHVFNDFRU1hBQUFBQUhBK0k0d280MnJYcnEyNmRldXFhOWV1eXNyNnY2R2huVHQzMXRWWFg2MzU4K2NYdXl4bjRlMkY1NG5ZdDIrZjlmalNTeS9WRjE5OFVlUzFiNy85dGw1Ly9YVkowdVRKazlXaVJRdmw1T1RvMm11dlZYNSt2cnAyN1NwSnV1ZWVlN1JqeHc0bEpDU29UcDA2cWxtenBoVUkrSHBwMUtoUkkrQjdEQm8wS0dESUVCMWQwTkZnLy83OWV1U1JSN1I1ODJaSlVteHNyUFgvUVlzV0xiUisvWG85OTl4enlzckswc0NCQTRPMmpPYmV2WHVYN3QyN2Q2a2tvMEdEQm9uUjBkRi9qWXFLZXNRd2pFWkJLUWdBQUFBQXlqakNpSEtnVTZkT3V1MjIyL1RtbTIvNmJUY01RMTI2ZEZIejVzMnRiYSsrK3FwV3JseXB5TWhJdmZ2dXU5YjJDaFVxV0kvWHJWc25TWXFLaWxLMWF0VktYTWVDQlF1czVUMzc5ZXVuM054Y1JVWkdLajQrWGx1MmJOSFNwVXUxYjk4KzdkKy9YdzBiTmp5amNHREpraVdhTUdHQ0ZUNE1HREJBUjQ0YzBaSWxTeVJKTDd6d2d1Ni8vMzd0M0xsVEw3LzhzbGF2WHEzUm8wY0g3T1ZoSTNQWHJsMXJKSzJSOUlZa05XL2UvSUdJaUlqbkpjVjZ2ZDc5d1N3T0FBQUFBTW9Ld29oeVlPalFvWDVoZ3MrQkF3ZVVuWjF0clloeG9zTGI4L0x5ZE9EQUFWV3BVa1VwS1NtU3BDWk5taFFiR09UbTVoYlpkdlRvVWNYSHh5c2hJVUhObWpYVDVzMmJOV1RJa0lDdmI5eTRzVFVFNDhDQkEzNURSbndLOTlid1NVNU8xdXV2djY0MWE5Wlkyd1lOR3FUaHc0ZnJpU2Vlc0xiRnhjWHBqVGZlMFAzMzM2OXQyN1pwK2ZMbDZ0Mjd0MjYvL1hiMTY5ZFBWYXRXRFZpWDNUWnQyalJOMHJTWW1KamF4NDRkWTc0SUFBQUFBQkJoUkxrUUtJaVFwSWtUSitxNzc3NEx1Ty80OGVPNjlkWmIvYlpkY2NVVjZ0YXRtelY4bzAyYk50YStnd2NQNnNzdnYxUmtaS1E4SG84V0xseFk1UDJIRFJ1bW9VT0hLak16VTVMVXNHRkR2L05IUlVXcFhyMTZxbCsvdmpwMTZ1UTNlV1Z4UTBrS216dDNyaVpNbU9CM3ZzY2VlMHc5ZS9ZTWVIeTFhdFgwMWx0dktTa3BTU3RXck5EeDQ4YzFjK1pNTFZ5NFVBc1dMTENXL2l3TGpoMDd0dS9VUndFQUFBREErWUV3NGp4ejdOZ3g2M0dYTGwyc3g5SFIwWHJsbFZlS0hGKzFhbFhWclZ2WGV1NXdPQlFmSHkrcElDejQ1ei8vcVpvMWErckNDeTlVclZxMS9IcGErTUtJU3BVcWFjU0lFVVhPL2ZiYmIydnYzcjNXODE2OWV1bmpqei9XenAwN2xaaVlxTEZqeDZwQmd3WW4vVHh4Y1hGNjVaVlhOR3ZXTE0yWU1VUDUrZmw2NktHSHlsUVFBUUFBQUFEd1J4aFJqazJjT0RIZ2FoVEZDUXNMVTNoNHVHSmpZL1haWjUvNXpUVVJGeGVuK3ZYcjY0OC8vbEJFUklSaVltTFVzR0ZEUGZqZ2d5ZGRvZUtXVzI0NTVmdEdSMGNIN04zdzZhZWYrb1VSRVJFUmV1cXBwN1IvLzM1ZGM4MDFKZjVjaG1GbzBLQkI2dGF0bXhZdlh1eTN1Z1lBQUFBQW9Pd0p6dklENTRHRWkxcDJrTlA0TEM0MnR1WXJrMTVRcHl1THpwa1FURzYzVytIaC9sbVVhWnBCVzVHaUxFbitaYTN1SC9tb0RoMUtQU3BEZlg3ZnZQYnJZTmNFQUFBQUFLSEVFZXdDRUJ3bkJoR1NDQ0lBQUFBQUFMWWdqQUFBQUFBQUFMWWlqQUFBQUFBQUFMWWlqQUFBQUFBQUFMWWlqQUFBQUFBQUFMWWlqQUFBQUFBQUFMWWlqQUFBQUFBQUFMWWlqQUFBQUFBQUFMWWlqQUFBQUFBQUFMWWlqQUFBQUFBQUFMWWlqQUFBQUFBQUFMWWlqQUFBQUFBQUFMWWlqQUFBQUFBQUFMWWlqQUFBQUFBQUFMWWlqQUFBQUFBQUFMWUtEM1lCb1M0djc3ZysvUGdUZmJkc1JiQkxRUWtkVEUxVlZuYTJKTWtqanhua2NnQUFBQUFnNUJCR25DTWVoOGNUWmpxOUxwZEwvLzMyZjhFdUI2ZkJOR1FhWG9jbjJIVUFBQUFBUUtnaGpEaEhqRHpITmxVd1A1QnBYQmpzV3M2Mk1NT01pNDV3WEd5YWN1UzV2RnM4cHBFWjdKck9CVlBtL2p5M3VUSFlkUUFBQUFCQXFER0NYVUFvdStpaWl5TGQ3b3JSd2E3amJLdFlVUjJkVHVNZFNWRXVsM2w3ZHJhV0I3dW1jeU1qYitmT25YbkJyZ0lBQUFBQVFnMDlJODZoYmR1MkhaZDBQTmgxbkcydFc3Zk9OZ3pETkUzVGREcU43SjA3MTJRRXV5WUFBQUFBUVBuQmFob0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2hCRUFBQUFBQU1CV1JyQUxRTm5XcWxXcnpnNkhZK3dKbStOTjAyeHVHSVpEMGdaSkdZVjNlcjNlOFNrcEtmK3hyVWdBQUFBQVFMa1NIdXdDVUxZWmhyRkdVcUpoR1BFbmJQYzlUQ3k4M1RUTm8xNnY5MmVieWdNQUFBQUFsRU1NMDhCSnJWMjdOc013alA5SmttbWFKLzN2ejJNV3JWKy9QajJvUlFNQUFBQUF5alRDQ0p5U2FacHYraDRiaGxIc2YzOGV1eWhvaFFJQUFBQUF5Z1hDQ0p6UzhlUEgxNWltdWNjd0RLc0hSR0dGZWtYcytYTllCd0FBQUFBQXhTS013Q2xGUjBkbkdvYXg0bFRIR1lheElpd3M3SkFkTlFFQUFBQUF5aS9DQ0p4U2NuTHlNYS9YdTlJMHpYeEpmcjBqQ2oxMmU3M2VsY25KeVVlRFVDSUFBQUFBb0J3aGpFQ0pHSWF4U2xKcWNmdE4wOHo4OHhnQUFBQUFBRTZLTUFJbGtwcWF1bGJTRHQvendpdG8vRGw1NVI5L0hnTUFBQUFBd0VrUlJxQkU5dXpaazJ1YTVoTGZxaGtCTE55elowK3VuVFVCQUFBQUFNb253Z2lVbU5mclhTVEpGV0NYMit2MWZtQjNQUUFBQUFDQThva3dBaVcyYnQyNkRhWnByaTdjTytMUDVUN1hwS1NrL0JyRTBnQUFBQUFBNVFoaEJFckZOTTBpUFNCTTA1d2JqRm9BQUFBQUFPVVRZUVJLeFRUTkJhWnBwaG1HNGVzVmtlWndPTDRJZGwwQUFBQUFnUEtETUFLbGtwT1RrMlVZeG1yZmM4TXdWcHVtZVRpWU5RRUFBQUFBeWhmQ0NKVEt0bTNiTWszVFhHNmFwdGNzc0h6Tm1qV3B3YTRMQUFBQUFGQitFRWFnMUx4ZTc0K1NEaHVHa2Zubll3QUFBQUFBU2l3ODJBV2cvREZOYzYxaEdHbW1hVmIwZXIwL0I3c2VBQUFBQUVENVFzOElsTnE2ZGV0U1RkUDhuNlNsNjlldlR3OTJQUUFBQUFDQThvV2VFVGdkcHNmam1TM0pHZXhDQUFBQUFBRGxEMkVFVG92VDZmd3hOemZYQ0hZZEFBQUFBQUFBQUFBQUFBQUFBQUFBQUFBQUFBQUFBQUFBQUFBQUFBQUFBQUFBQUFBQUFBQUFBQUFBQUFBQUFBQUFBQUFBQUFBQUFBQUFBQUFBQUFBQUFBQUFBQUFBQUFBQUFBQUFBQUFBQUFBQUFBQUFBQUFBQUFBQUFBQUFBQUFBQUFBQUFBQUFBQUFBQUFBQUFBQUFBQUFBQUFBQUFBQUFBQUFBQUFBQUFBQUFBQUFBQUFBQUFBQUFBQUFBQUFBQUFBQUFBQUFBQUFBQUFBQUErUC90d1NFQkFBQUFnS0Qvci8xZ0JnQUFBQUFBQUFBQUFBQUFBQUFBQUFBQUFBQUFBQUFBQUFBQUFBQUFBT0FKQm1qcWJNSCs2b0FBQUFBQVNVVk9SSzVDWUlJPSIsCgkiVGhlbWUiIDogIiIsCgkiVHlwZSIgOiAiZmxvdyIsCgkiVmVyc2lvbiIgOiAiIgp9Cg=="/>
    </extobj>
  </extobjs>
</s:customData>
</file>

<file path=customXml/itemProps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18836</Words>
  <Application>WPS 演示</Application>
  <PresentationFormat>宽屏</PresentationFormat>
  <Paragraphs>1431</Paragraphs>
  <Slides>44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216</cp:revision>
  <dcterms:created xsi:type="dcterms:W3CDTF">2020-08-13T13:39:00Z</dcterms:created>
  <dcterms:modified xsi:type="dcterms:W3CDTF">2024-03-23T10:06:37Z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C18981F6C3B54BF4A4FBEA5555D85870_12</vt:lpwstr>
  </property>
  <property fmtid="{D5CDD505-2E9C-101B-9397-08002B2CF9AE}" pid="3" name="KSOProductBuildVer">
    <vt:lpwstr>2052-12.1.0.16388</vt:lpwstr>
  </property>
</Properties>
</file>