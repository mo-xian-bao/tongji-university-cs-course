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449" r:id="rId3"/>
    <p:sldId id="1237" r:id="rId4"/>
    <p:sldId id="1238" r:id="rId6"/>
    <p:sldId id="534" r:id="rId7"/>
    <p:sldId id="535" r:id="rId8"/>
    <p:sldId id="536" r:id="rId9"/>
    <p:sldId id="537" r:id="rId10"/>
    <p:sldId id="538" r:id="rId11"/>
    <p:sldId id="539" r:id="rId12"/>
    <p:sldId id="540" r:id="rId13"/>
    <p:sldId id="543" r:id="rId14"/>
    <p:sldId id="1245" r:id="rId15"/>
    <p:sldId id="1239" r:id="rId16"/>
    <p:sldId id="1240" r:id="rId17"/>
    <p:sldId id="1246" r:id="rId18"/>
    <p:sldId id="944" r:id="rId19"/>
    <p:sldId id="1241" r:id="rId20"/>
    <p:sldId id="1242" r:id="rId21"/>
    <p:sldId id="1248" r:id="rId22"/>
    <p:sldId id="545" r:id="rId23"/>
    <p:sldId id="1243" r:id="rId24"/>
    <p:sldId id="1247" r:id="rId25"/>
    <p:sldId id="1244" r:id="rId26"/>
    <p:sldId id="541" r:id="rId27"/>
    <p:sldId id="542" r:id="rId28"/>
    <p:sldId id="546" r:id="rId29"/>
    <p:sldId id="547" r:id="rId30"/>
    <p:sldId id="548" r:id="rId31"/>
    <p:sldId id="549" r:id="rId32"/>
    <p:sldId id="550" r:id="rId33"/>
    <p:sldId id="551" r:id="rId34"/>
    <p:sldId id="552" r:id="rId35"/>
    <p:sldId id="553" r:id="rId36"/>
    <p:sldId id="554" r:id="rId37"/>
    <p:sldId id="555" r:id="rId38"/>
  </p:sldIdLst>
  <p:sldSz cx="12192000" cy="6858000"/>
  <p:notesSz cx="6858000" cy="9144000"/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844" autoAdjust="0"/>
    <p:restoredTop sz="96233" autoAdjust="0"/>
  </p:normalViewPr>
  <p:slideViewPr>
    <p:cSldViewPr snapToGrid="0">
      <p:cViewPr varScale="1">
        <p:scale>
          <a:sx n="96" d="100"/>
          <a:sy n="96" d="100"/>
        </p:scale>
        <p:origin x="56" y="3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3" Type="http://schemas.openxmlformats.org/officeDocument/2006/relationships/tags" Target="tags/tag1.xml"/><Relationship Id="rId42" Type="http://schemas.openxmlformats.org/officeDocument/2006/relationships/commentAuthors" Target="commentAuthors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14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zh-CN" altLang="en-US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丢弃的过程，具体见下）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short a=1;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short b=a-2;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Step1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b=a-2</a:t>
            </a:r>
            <a:r>
              <a:rPr lang="zh-CN" altLang="en-US" sz="1600" b="1" dirty="0">
                <a:latin typeface="+mn-ea"/>
              </a:rPr>
              <a:t>，得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二进制补码形式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a =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00000000 00000000</a:t>
            </a:r>
            <a:r>
              <a:rPr lang="en-US" altLang="zh-CN" sz="1600" b="1" dirty="0">
                <a:latin typeface="+mn-ea"/>
              </a:rPr>
              <a:t> 00000000 00000001  -&gt; a </a:t>
            </a:r>
            <a:r>
              <a:rPr lang="zh-CN" altLang="en-US" sz="1600" b="1" dirty="0">
                <a:latin typeface="+mn-ea"/>
              </a:rPr>
              <a:t>（红色表示整型提升的填充位）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-)  2 = 00000000 00000000 00000000 00000010  -&gt; 2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---------------------------------------------------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11111111 11111111 11111111 11111111  -&gt; a-2(int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b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= </a:t>
            </a:r>
            <a:r>
              <a:rPr lang="en-US" altLang="zh-CN" sz="1600" b="1" strike="sngStrike" dirty="0">
                <a:solidFill>
                  <a:srgbClr val="FF0000"/>
                </a:solidFill>
                <a:latin typeface="+mn-ea"/>
              </a:rPr>
              <a:t>11111111 11111111</a:t>
            </a:r>
            <a:r>
              <a:rPr lang="en-US" altLang="zh-CN" sz="1600" b="1" dirty="0">
                <a:latin typeface="+mn-ea"/>
              </a:rPr>
              <a:t> 11111111 11111111  -&gt; b=a-2(</a:t>
            </a:r>
            <a:r>
              <a:rPr lang="zh-CN" altLang="en-US" sz="1600" b="1" dirty="0">
                <a:latin typeface="+mn-ea"/>
              </a:rPr>
              <a:t>二进制补码形式，删除线表示丢弃的位数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Step2</a:t>
            </a:r>
            <a:r>
              <a:rPr lang="zh-CN" altLang="en-US" sz="1600" b="1" dirty="0">
                <a:latin typeface="+mn-ea"/>
              </a:rPr>
              <a:t>：求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的十进制表示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）减一    </a:t>
            </a:r>
            <a:r>
              <a:rPr lang="en-US" altLang="zh-CN" sz="1600" b="1" dirty="0">
                <a:latin typeface="+mn-ea"/>
              </a:rPr>
              <a:t>11111111 11111111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-) 00000000 00000001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-----------------------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   11111111 11111110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）取反    </a:t>
            </a:r>
            <a:r>
              <a:rPr lang="en-US" altLang="zh-CN" sz="1600" b="1" dirty="0">
                <a:latin typeface="+mn-ea"/>
              </a:rPr>
              <a:t>00000000 00000001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）绝对值  </a:t>
            </a:r>
            <a:r>
              <a:rPr lang="en-US" altLang="zh-CN" sz="1600" b="1" dirty="0">
                <a:latin typeface="+mn-ea"/>
              </a:rPr>
              <a:t>1  (</a:t>
            </a:r>
            <a:r>
              <a:rPr lang="zh-CN" altLang="en-US" sz="1600" b="1" dirty="0">
                <a:latin typeface="+mn-ea"/>
              </a:rPr>
              <a:t>十进制表示形式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）加负号  </a:t>
            </a:r>
            <a:r>
              <a:rPr lang="en-US" altLang="zh-CN" sz="1600" b="1" dirty="0">
                <a:latin typeface="+mn-ea"/>
              </a:rPr>
              <a:t>-1 (</a:t>
            </a:r>
            <a:r>
              <a:rPr lang="zh-CN" altLang="en-US" sz="1600" b="1" dirty="0">
                <a:latin typeface="+mn-ea"/>
              </a:rPr>
              <a:t>十进制表示形式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8755118" y="604344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A.short</a:t>
            </a:r>
            <a:r>
              <a:rPr lang="en-US" altLang="zh-CN" sz="1600" b="1" dirty="0">
                <a:latin typeface="+mn-ea"/>
              </a:rPr>
              <a:t> a=32740;</a:t>
            </a:r>
            <a:endParaRPr lang="zh-CN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short b=a+34;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endParaRPr lang="zh-CN" altLang="zh-CN" sz="1600" b="1" dirty="0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94146" y="2164593"/>
            <a:ext cx="1004327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+mn-ea"/>
              </a:rPr>
              <a:t>Step1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b=a+34</a:t>
            </a:r>
            <a:r>
              <a:rPr lang="zh-CN" altLang="en-US" sz="1600" b="1" dirty="0">
                <a:latin typeface="+mn-ea"/>
              </a:rPr>
              <a:t>，得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二进制补码形式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a =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00000000 00000000 </a:t>
            </a:r>
            <a:r>
              <a:rPr lang="en-US" altLang="zh-CN" sz="1600" b="1" dirty="0">
                <a:latin typeface="+mn-ea"/>
              </a:rPr>
              <a:t>01111111 11100100 -&gt; a </a:t>
            </a:r>
            <a:r>
              <a:rPr lang="zh-CN" altLang="en-US" sz="1600" b="1" dirty="0">
                <a:latin typeface="+mn-ea"/>
              </a:rPr>
              <a:t>（红色表示整型提升的填充位）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+) 34 = 00000000 00000000 00000000 00100010  -&gt; 34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---------------------------------------------------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00000000 00000000 10000000 00000110 -&gt; a-2(int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b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= </a:t>
            </a:r>
            <a:r>
              <a:rPr lang="en-US" altLang="zh-CN" sz="1600" b="1" strike="sngStrike" dirty="0">
                <a:solidFill>
                  <a:srgbClr val="FF0000"/>
                </a:solidFill>
                <a:latin typeface="+mn-ea"/>
              </a:rPr>
              <a:t>00000000 00000000</a:t>
            </a:r>
            <a:r>
              <a:rPr lang="en-US" altLang="zh-CN" sz="1600" b="1" dirty="0">
                <a:latin typeface="+mn-ea"/>
              </a:rPr>
              <a:t> 10000000 00000110  -&gt; b=a-2(</a:t>
            </a:r>
            <a:r>
              <a:rPr lang="zh-CN" altLang="en-US" sz="1600" b="1" dirty="0">
                <a:latin typeface="+mn-ea"/>
              </a:rPr>
              <a:t>二进制补码形式，删除线表示丢弃的位数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Step2</a:t>
            </a:r>
            <a:r>
              <a:rPr lang="zh-CN" altLang="en-US" sz="1600" b="1" dirty="0">
                <a:latin typeface="+mn-ea"/>
              </a:rPr>
              <a:t>：求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的十进制表示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）减一    </a:t>
            </a:r>
            <a:r>
              <a:rPr lang="en-US" altLang="zh-CN" sz="1600" b="1" dirty="0">
                <a:latin typeface="+mn-ea"/>
              </a:rPr>
              <a:t>10000000 00000110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-) 00000000 00000001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-----------------------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   10000000 00000101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）取反    </a:t>
            </a:r>
            <a:r>
              <a:rPr lang="en-US" altLang="zh-CN" sz="1600" b="1" dirty="0">
                <a:latin typeface="+mn-ea"/>
              </a:rPr>
              <a:t>01111111 11111010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）绝对值  </a:t>
            </a:r>
            <a:r>
              <a:rPr lang="en-US" altLang="zh-CN" sz="1600" b="1" dirty="0">
                <a:latin typeface="+mn-ea"/>
              </a:rPr>
              <a:t>32762 (</a:t>
            </a:r>
            <a:r>
              <a:rPr lang="zh-CN" altLang="en-US" sz="1600" b="1" dirty="0">
                <a:latin typeface="+mn-ea"/>
              </a:rPr>
              <a:t>十进制表示形式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）加负号  </a:t>
            </a:r>
            <a:r>
              <a:rPr lang="en-US" altLang="zh-CN" sz="1600" b="1" dirty="0">
                <a:latin typeface="+mn-ea"/>
              </a:rPr>
              <a:t>-32762 (</a:t>
            </a:r>
            <a:r>
              <a:rPr lang="zh-CN" altLang="en-US" sz="1600" b="1" dirty="0">
                <a:latin typeface="+mn-ea"/>
              </a:rPr>
              <a:t>十进制表示形式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B.unsigned</a:t>
            </a:r>
            <a:r>
              <a:rPr lang="en-US" altLang="zh-CN" sz="1600" b="1" dirty="0">
                <a:latin typeface="+mn-ea"/>
              </a:rPr>
              <a:t> short a=65420;</a:t>
            </a:r>
            <a:endParaRPr lang="zh-CN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short b=a;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92114" y="2172703"/>
            <a:ext cx="1024733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+mn-ea"/>
              </a:rPr>
              <a:t>Step1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b=a</a:t>
            </a:r>
            <a:r>
              <a:rPr lang="zh-CN" altLang="en-US" sz="1600" b="1" dirty="0">
                <a:latin typeface="+mn-ea"/>
              </a:rPr>
              <a:t>，得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二进制补码形式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a =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00000000 00000000 </a:t>
            </a:r>
            <a:r>
              <a:rPr lang="en-US" altLang="zh-CN" sz="1600" b="1" dirty="0">
                <a:latin typeface="+mn-ea"/>
              </a:rPr>
              <a:t>11111111 10001100 -&gt; a </a:t>
            </a:r>
            <a:r>
              <a:rPr lang="zh-CN" altLang="en-US" sz="1600" b="1" dirty="0">
                <a:latin typeface="+mn-ea"/>
              </a:rPr>
              <a:t>（红色表示整型提升的填充位）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---------------------------------------------------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00000000 00000000 11111111 10001100 -&gt; a (int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b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= </a:t>
            </a:r>
            <a:r>
              <a:rPr lang="en-US" altLang="zh-CN" sz="1600" b="1" strike="sngStrike" dirty="0">
                <a:solidFill>
                  <a:srgbClr val="FF0000"/>
                </a:solidFill>
                <a:latin typeface="+mn-ea"/>
              </a:rPr>
              <a:t>00000000 00000000</a:t>
            </a:r>
            <a:r>
              <a:rPr lang="en-US" altLang="zh-CN" sz="1600" b="1" dirty="0">
                <a:latin typeface="+mn-ea"/>
              </a:rPr>
              <a:t> 11111111 10001100  -&gt; b=a(</a:t>
            </a:r>
            <a:r>
              <a:rPr lang="zh-CN" altLang="en-US" sz="1600" b="1" dirty="0">
                <a:latin typeface="+mn-ea"/>
              </a:rPr>
              <a:t>二进制补码形式，删除线表示丢弃的位数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Step2</a:t>
            </a:r>
            <a:r>
              <a:rPr lang="zh-CN" altLang="en-US" sz="1600" b="1" dirty="0">
                <a:latin typeface="+mn-ea"/>
              </a:rPr>
              <a:t>：求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的十进制表示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）减一    </a:t>
            </a:r>
            <a:r>
              <a:rPr lang="en-US" altLang="zh-CN" sz="1600" b="1" dirty="0">
                <a:latin typeface="+mn-ea"/>
              </a:rPr>
              <a:t>11111111 10001100 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-) 00000000 00000001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-----------------------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   11111111 10001011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）取反    </a:t>
            </a:r>
            <a:r>
              <a:rPr lang="en-US" altLang="zh-CN" sz="1600" b="1" dirty="0">
                <a:latin typeface="+mn-ea"/>
              </a:rPr>
              <a:t>00000000 01110100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）绝对值  </a:t>
            </a:r>
            <a:r>
              <a:rPr lang="en-US" altLang="zh-CN" sz="1600" b="1" dirty="0">
                <a:latin typeface="+mn-ea"/>
              </a:rPr>
              <a:t>116 (</a:t>
            </a:r>
            <a:r>
              <a:rPr lang="zh-CN" altLang="en-US" sz="1600" b="1" dirty="0">
                <a:latin typeface="+mn-ea"/>
              </a:rPr>
              <a:t>十进制表示形式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）加负号  </a:t>
            </a:r>
            <a:r>
              <a:rPr lang="en-US" altLang="zh-CN" sz="1600" b="1" dirty="0">
                <a:latin typeface="+mn-ea"/>
              </a:rPr>
              <a:t>-116 (</a:t>
            </a:r>
            <a:r>
              <a:rPr lang="zh-CN" altLang="en-US" sz="1600" b="1" dirty="0">
                <a:latin typeface="+mn-ea"/>
              </a:rPr>
              <a:t>十进制表示形式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C.short</a:t>
            </a:r>
            <a:r>
              <a:rPr lang="en-US" altLang="zh-CN" sz="1600" b="1" dirty="0">
                <a:latin typeface="+mn-ea"/>
              </a:rPr>
              <a:t> a=-2047;</a:t>
            </a:r>
            <a:endParaRPr lang="zh-CN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int b=a;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92115" y="2237307"/>
            <a:ext cx="10247335" cy="403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+mn-ea"/>
              </a:rPr>
              <a:t>Step1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b=a</a:t>
            </a:r>
            <a:r>
              <a:rPr lang="zh-CN" altLang="en-US" sz="1600" b="1" dirty="0">
                <a:latin typeface="+mn-ea"/>
              </a:rPr>
              <a:t>，得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二进制补码形式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a =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11111111 11111111 </a:t>
            </a:r>
            <a:r>
              <a:rPr lang="en-US" altLang="zh-CN" sz="1600" b="1" dirty="0">
                <a:latin typeface="+mn-ea"/>
              </a:rPr>
              <a:t>11111000 00000001 -&gt; a </a:t>
            </a:r>
            <a:r>
              <a:rPr lang="zh-CN" altLang="en-US" sz="1600" b="1" dirty="0">
                <a:latin typeface="+mn-ea"/>
              </a:rPr>
              <a:t>（红色表示整型提升的填充位）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---------------------------------------------------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11111111 11111111 11111000 00000001 -&gt; a (int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b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= 11111111 11111111 11111000 00000001 -&gt; b=a(</a:t>
            </a:r>
            <a:r>
              <a:rPr lang="zh-CN" altLang="en-US" sz="1600" b="1" dirty="0">
                <a:latin typeface="+mn-ea"/>
              </a:rPr>
              <a:t>二进制补码形式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Step2</a:t>
            </a:r>
            <a:r>
              <a:rPr lang="zh-CN" altLang="en-US" sz="1600" b="1" dirty="0">
                <a:latin typeface="+mn-ea"/>
              </a:rPr>
              <a:t>：求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的十进制表示</a:t>
            </a:r>
            <a:endParaRPr lang="zh-CN" altLang="en-US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1</a:t>
            </a:r>
            <a:r>
              <a:rPr lang="zh-CN" altLang="en-US" sz="1600" b="1" dirty="0">
                <a:latin typeface="+mn-ea"/>
                <a:sym typeface="+mn-ea"/>
              </a:rPr>
              <a:t>）减一    </a:t>
            </a:r>
            <a:r>
              <a:rPr lang="en-US" altLang="zh-CN" sz="1600" b="1" dirty="0">
                <a:latin typeface="+mn-ea"/>
                <a:sym typeface="+mn-ea"/>
              </a:rPr>
              <a:t>11111111 11111111 11111000 00000001 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    -) 00000000 00000000 00000000 00000001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     -----------------------</a:t>
            </a:r>
            <a:r>
              <a:rPr lang="en-US" altLang="zh-CN" sz="1600" b="1" dirty="0">
                <a:latin typeface="+mn-ea"/>
                <a:sym typeface="+mn-ea"/>
              </a:rPr>
              <a:t>---------------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       11111111 11111111 11111000 00000000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</a:t>
            </a:r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2</a:t>
            </a:r>
            <a:r>
              <a:rPr lang="zh-CN" altLang="en-US" sz="1600" b="1" dirty="0">
                <a:latin typeface="+mn-ea"/>
                <a:sym typeface="+mn-ea"/>
              </a:rPr>
              <a:t>）取反  </a:t>
            </a:r>
            <a:r>
              <a:rPr lang="en-US" altLang="zh-CN" sz="1600" b="1" dirty="0">
                <a:latin typeface="+mn-ea"/>
                <a:sym typeface="+mn-ea"/>
              </a:rPr>
              <a:t>00000000 00000000 00000111 11111111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</a:t>
            </a:r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3</a:t>
            </a:r>
            <a:r>
              <a:rPr lang="zh-CN" altLang="en-US" sz="1600" b="1" dirty="0">
                <a:latin typeface="+mn-ea"/>
                <a:sym typeface="+mn-ea"/>
              </a:rPr>
              <a:t>）绝对值  </a:t>
            </a:r>
            <a:r>
              <a:rPr lang="en-US" altLang="zh-CN" sz="1600" b="1" dirty="0">
                <a:latin typeface="+mn-ea"/>
                <a:sym typeface="+mn-ea"/>
              </a:rPr>
              <a:t>2047</a:t>
            </a:r>
            <a:r>
              <a:rPr lang="en-US" altLang="zh-CN" sz="1600" b="1" dirty="0">
                <a:latin typeface="+mn-ea"/>
                <a:sym typeface="+mn-ea"/>
              </a:rPr>
              <a:t> (</a:t>
            </a:r>
            <a:r>
              <a:rPr lang="zh-CN" altLang="en-US" sz="1600" b="1" dirty="0">
                <a:latin typeface="+mn-ea"/>
                <a:sym typeface="+mn-ea"/>
              </a:rPr>
              <a:t>十进制表示形式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</a:t>
            </a:r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4</a:t>
            </a:r>
            <a:r>
              <a:rPr lang="zh-CN" altLang="en-US" sz="1600" b="1" dirty="0">
                <a:latin typeface="+mn-ea"/>
                <a:sym typeface="+mn-ea"/>
              </a:rPr>
              <a:t>）加负号  </a:t>
            </a:r>
            <a:r>
              <a:rPr lang="en-US" altLang="zh-CN" sz="1600" b="1" dirty="0">
                <a:latin typeface="+mn-ea"/>
                <a:sym typeface="+mn-ea"/>
              </a:rPr>
              <a:t>-2047</a:t>
            </a:r>
            <a:r>
              <a:rPr lang="en-US" altLang="zh-CN" sz="1600" b="1" dirty="0">
                <a:latin typeface="+mn-ea"/>
                <a:sym typeface="+mn-ea"/>
              </a:rPr>
              <a:t> (</a:t>
            </a:r>
            <a:r>
              <a:rPr lang="zh-CN" altLang="en-US" sz="1600" b="1" dirty="0">
                <a:latin typeface="+mn-ea"/>
                <a:sym typeface="+mn-ea"/>
              </a:rPr>
              <a:t>十进制表示形式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zh-CN" altLang="en-US" sz="1600" dirty="0"/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</a:t>
            </a:r>
            <a:endParaRPr lang="zh-CN" altLang="en-US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235324" y="1081263"/>
            <a:ext cx="11776590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D.unsigned</a:t>
            </a:r>
            <a:r>
              <a:rPr lang="en-US" altLang="zh-CN" sz="1600" b="1" dirty="0">
                <a:latin typeface="+mn-ea"/>
              </a:rPr>
              <a:t> short a=65420;</a:t>
            </a:r>
            <a:endParaRPr lang="zh-CN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long </a:t>
            </a:r>
            <a:r>
              <a:rPr lang="en-US" altLang="zh-CN" sz="1600" b="1" dirty="0" err="1">
                <a:latin typeface="+mn-ea"/>
              </a:rPr>
              <a:t>long</a:t>
            </a:r>
            <a:r>
              <a:rPr lang="en-US" altLang="zh-CN" sz="1600" b="1" dirty="0">
                <a:latin typeface="+mn-ea"/>
              </a:rPr>
              <a:t> int b=a;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5324" y="2277559"/>
            <a:ext cx="1177659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+mn-ea"/>
              </a:rPr>
              <a:t>Step1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b=a</a:t>
            </a:r>
            <a:r>
              <a:rPr lang="zh-CN" altLang="en-US" sz="1600" b="1" dirty="0">
                <a:latin typeface="+mn-ea"/>
              </a:rPr>
              <a:t>，得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二进制补码形式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a =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00000000 00000000 00000000 00000000 00000000 00000000 </a:t>
            </a:r>
            <a:r>
              <a:rPr lang="en-US" altLang="zh-CN" sz="1600" b="1" dirty="0">
                <a:latin typeface="+mn-ea"/>
              </a:rPr>
              <a:t>11111111 10001100 -&gt; a 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----------------------------------------------------------------------------------------------------------------         -         00000000 00000000 00000000 00000000 00000000 00000000 11111111 10001100 -&gt; a (long </a:t>
            </a:r>
            <a:r>
              <a:rPr lang="en-US" altLang="zh-CN" sz="1600" b="1" dirty="0" err="1">
                <a:latin typeface="+mn-ea"/>
              </a:rPr>
              <a:t>long</a:t>
            </a:r>
            <a:r>
              <a:rPr lang="en-US" altLang="zh-CN" sz="1600" b="1" dirty="0">
                <a:latin typeface="+mn-ea"/>
              </a:rPr>
              <a:t> 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b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= 00000000 00000000 00000000 00000000 00000000 00000000 11111111 10001100 -&gt; b=a(</a:t>
            </a:r>
            <a:r>
              <a:rPr lang="zh-CN" altLang="en-US" sz="1600" b="1" dirty="0">
                <a:latin typeface="+mn-ea"/>
              </a:rPr>
              <a:t>二进制补码形式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Step2</a:t>
            </a:r>
            <a:r>
              <a:rPr lang="zh-CN" altLang="en-US" sz="1600" b="1" dirty="0">
                <a:latin typeface="+mn-ea"/>
              </a:rPr>
              <a:t>：求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的十进制表示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b</a:t>
            </a:r>
            <a:r>
              <a:rPr lang="zh-CN" altLang="en-US" sz="1600" b="1" dirty="0">
                <a:latin typeface="+mn-ea"/>
              </a:rPr>
              <a:t>首位为</a:t>
            </a:r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，是正数，补码与原码相同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b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= 00000000 00000000 00000000 00000000 00000000 00000000 11111111 10001100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  </a:t>
            </a:r>
            <a:r>
              <a:rPr lang="en-US" altLang="zh-CN" sz="1600" b="1" dirty="0">
                <a:latin typeface="+mn-ea"/>
              </a:rPr>
              <a:t>b = 65420 (</a:t>
            </a:r>
            <a:r>
              <a:rPr lang="zh-CN" altLang="en-US" sz="1600" b="1" dirty="0">
                <a:latin typeface="+mn-ea"/>
              </a:rPr>
              <a:t>十进制表示形式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1468822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E.long</a:t>
            </a:r>
            <a:r>
              <a:rPr lang="en-US" altLang="zh-CN" sz="1600" b="1" dirty="0">
                <a:latin typeface="+mn-ea"/>
              </a:rPr>
              <a:t> long int a=4201234567;</a:t>
            </a:r>
            <a:endParaRPr lang="zh-CN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int b=a;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92114" y="2143115"/>
            <a:ext cx="1146882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+mn-ea"/>
              </a:rPr>
              <a:t>Step1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b=a</a:t>
            </a:r>
            <a:r>
              <a:rPr lang="zh-CN" altLang="en-US" sz="1600" b="1" dirty="0">
                <a:latin typeface="+mn-ea"/>
              </a:rPr>
              <a:t>，得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二进制补码形式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a = 00000000 00000000 00000000 00000000 11111010 01101001 11000000 10000111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-&gt; a 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------------------------------------------------------------------------------------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00000000 00000000 00000000 00000000 11111010 01101001 11000000 10000111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-&gt; a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long </a:t>
            </a:r>
            <a:r>
              <a:rPr lang="en-US" altLang="zh-CN" sz="1600" b="1" dirty="0" err="1">
                <a:latin typeface="+mn-ea"/>
              </a:rPr>
              <a:t>long</a:t>
            </a:r>
            <a:r>
              <a:rPr lang="en-US" altLang="zh-CN" sz="1600" b="1" dirty="0">
                <a:latin typeface="+mn-ea"/>
              </a:rPr>
              <a:t> int</a:t>
            </a:r>
            <a:r>
              <a:rPr lang="zh-CN" altLang="en-US" sz="1600" b="1" dirty="0">
                <a:latin typeface="+mn-ea"/>
              </a:rPr>
              <a:t>形式）</a:t>
            </a:r>
            <a:r>
              <a:rPr lang="en-US" altLang="zh-CN" sz="1600" b="1" dirty="0">
                <a:latin typeface="+mn-ea"/>
              </a:rPr>
              <a:t>      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b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= </a:t>
            </a:r>
            <a:r>
              <a:rPr lang="en-US" altLang="zh-CN" sz="1600" b="1" strike="sngStrike" dirty="0">
                <a:solidFill>
                  <a:srgbClr val="FF0000"/>
                </a:solidFill>
                <a:latin typeface="+mn-ea"/>
              </a:rPr>
              <a:t>00000000 00000000 00000000 00000000</a:t>
            </a:r>
            <a:r>
              <a:rPr lang="en-US" altLang="zh-CN" sz="1600" b="1" dirty="0">
                <a:latin typeface="+mn-ea"/>
              </a:rPr>
              <a:t> 11111010 01101001 11000000 10000111 -&gt; b=a (</a:t>
            </a:r>
            <a:r>
              <a:rPr lang="zh-CN" altLang="en-US" sz="1600" b="1" dirty="0">
                <a:latin typeface="+mn-ea"/>
              </a:rPr>
              <a:t>二进制补码形式，删除线表示丢弃的位数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Step2</a:t>
            </a:r>
            <a:r>
              <a:rPr lang="zh-CN" altLang="en-US" sz="1600" b="1" dirty="0">
                <a:latin typeface="+mn-ea"/>
              </a:rPr>
              <a:t>：求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的十进制表示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）减一    </a:t>
            </a:r>
            <a:r>
              <a:rPr lang="en-US" altLang="zh-CN" sz="1600" b="1" dirty="0">
                <a:latin typeface="+mn-ea"/>
              </a:rPr>
              <a:t>11111010 01101001 11000000 10000111 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-) 00000000 00000000 00000000 00000001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--------------------------------------------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   11111010 01101001 11000000 10000110  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）取反    </a:t>
            </a:r>
            <a:r>
              <a:rPr lang="en-US" altLang="zh-CN" sz="1600" b="1" dirty="0">
                <a:latin typeface="+mn-ea"/>
              </a:rPr>
              <a:t>00000101 10010110 00111111 01111001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）绝对值    </a:t>
            </a:r>
            <a:r>
              <a:rPr lang="en-US" altLang="zh-CN" sz="1600" b="1" dirty="0">
                <a:latin typeface="+mn-ea"/>
              </a:rPr>
              <a:t>93732729  (</a:t>
            </a:r>
            <a:r>
              <a:rPr lang="zh-CN" altLang="en-US" sz="1600" b="1" dirty="0">
                <a:latin typeface="+mn-ea"/>
              </a:rPr>
              <a:t>十进制表示形式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）加负号  </a:t>
            </a:r>
            <a:r>
              <a:rPr lang="en-US" altLang="zh-CN" sz="1600" b="1" dirty="0">
                <a:latin typeface="+mn-ea"/>
              </a:rPr>
              <a:t>- 93732729 (</a:t>
            </a:r>
            <a:r>
              <a:rPr lang="zh-CN" altLang="en-US" sz="1600" b="1" dirty="0">
                <a:latin typeface="+mn-ea"/>
              </a:rPr>
              <a:t>十进制表示形式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131064" y="1081263"/>
            <a:ext cx="11929872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F.long</a:t>
            </a:r>
            <a:r>
              <a:rPr lang="en-US" altLang="zh-CN" sz="1600" b="1" dirty="0">
                <a:latin typeface="+mn-ea"/>
              </a:rPr>
              <a:t> a=-4201234567;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提示：本题先确定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-4201234567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什么类型，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a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是多少，才能进行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b=a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的计算</a:t>
            </a:r>
            <a:endParaRPr lang="zh-CN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unsigned short b=a;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000000000 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Step1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-4201234567</a:t>
            </a:r>
            <a:r>
              <a:rPr lang="zh-CN" altLang="en-US" sz="1600" b="1" dirty="0">
                <a:latin typeface="+mn-ea"/>
              </a:rPr>
              <a:t>为</a:t>
            </a:r>
            <a:r>
              <a:rPr lang="en-US" altLang="zh-CN" sz="1600" b="1" dirty="0">
                <a:latin typeface="+mn-ea"/>
              </a:rPr>
              <a:t>long long int</a:t>
            </a:r>
            <a:r>
              <a:rPr lang="zh-CN" altLang="en-US" sz="1600" b="1" dirty="0">
                <a:latin typeface="+mn-ea"/>
              </a:rPr>
              <a:t>类型，将其进行绝对值的二进制取反加一后得到其二进制补码为</a:t>
            </a:r>
            <a:r>
              <a:rPr lang="en-US" altLang="zh-CN" sz="1600" b="1" dirty="0">
                <a:latin typeface="+mn-ea"/>
              </a:rPr>
              <a:t>11111111</a:t>
            </a:r>
            <a:r>
              <a:rPr lang="en-US" altLang="zh-CN" sz="1600" b="1" dirty="0">
                <a:latin typeface="+mn-ea"/>
                <a:sym typeface="+mn-ea"/>
              </a:rPr>
              <a:t> 11111111</a:t>
            </a:r>
            <a:r>
              <a:rPr lang="en-US" altLang="zh-CN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11111111</a:t>
            </a:r>
            <a:r>
              <a:rPr lang="en-US" altLang="zh-CN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11111111</a:t>
            </a:r>
            <a:r>
              <a:rPr lang="en-US" altLang="zh-CN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</a:rPr>
              <a:t>00000101 10010110 00111111 01111001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Step2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b=a</a:t>
            </a:r>
            <a:r>
              <a:rPr lang="zh-CN" altLang="en-US" sz="1600" b="1" dirty="0">
                <a:latin typeface="+mn-ea"/>
              </a:rPr>
              <a:t>，得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二进制补码形式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a = </a:t>
            </a:r>
            <a:r>
              <a:rPr lang="en-US" altLang="zh-CN" sz="1600" b="1" dirty="0">
                <a:latin typeface="+mn-ea"/>
                <a:sym typeface="+mn-ea"/>
              </a:rPr>
              <a:t>11111111</a:t>
            </a:r>
            <a:r>
              <a:rPr lang="en-US" altLang="zh-CN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11111111</a:t>
            </a:r>
            <a:r>
              <a:rPr lang="en-US" altLang="zh-CN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11111111</a:t>
            </a:r>
            <a:r>
              <a:rPr lang="en-US" altLang="zh-CN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11111111</a:t>
            </a:r>
            <a:r>
              <a:rPr lang="en-US" altLang="zh-CN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</a:rPr>
              <a:t>00000101 10010110 00111111 01111001 -&gt; a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long long int</a:t>
            </a:r>
            <a:r>
              <a:rPr lang="zh-CN" altLang="en-US" sz="1600" b="1" dirty="0">
                <a:latin typeface="+mn-ea"/>
              </a:rPr>
              <a:t>形式）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------------------------------------------------------------------------------------</a:t>
            </a:r>
            <a:r>
              <a:rPr lang="en-US" altLang="zh-CN" sz="1600" b="1" dirty="0">
                <a:latin typeface="+mn-ea"/>
                <a:sym typeface="+mn-ea"/>
              </a:rPr>
              <a:t>------------------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en-US" altLang="zh-CN" sz="1600" b="1" strike="sngStrike" dirty="0">
                <a:solidFill>
                  <a:srgbClr val="FF0000"/>
                </a:solidFill>
                <a:latin typeface="+mn-ea"/>
                <a:sym typeface="+mn-ea"/>
              </a:rPr>
              <a:t>11111111</a:t>
            </a:r>
            <a:r>
              <a:rPr lang="en-US" altLang="zh-CN" sz="1600" b="1" strike="sngStrike" dirty="0">
                <a:solidFill>
                  <a:srgbClr val="FF0000"/>
                </a:solidFill>
                <a:latin typeface="+mn-ea"/>
                <a:sym typeface="+mn-ea"/>
              </a:rPr>
              <a:t> </a:t>
            </a:r>
            <a:r>
              <a:rPr lang="en-US" altLang="zh-CN" sz="1600" b="1" strike="sngStrike" dirty="0">
                <a:solidFill>
                  <a:srgbClr val="FF0000"/>
                </a:solidFill>
                <a:latin typeface="+mn-ea"/>
                <a:sym typeface="+mn-ea"/>
              </a:rPr>
              <a:t>11111111</a:t>
            </a:r>
            <a:r>
              <a:rPr lang="en-US" altLang="zh-CN" sz="1600" b="1" strike="sngStrike" dirty="0">
                <a:solidFill>
                  <a:srgbClr val="FF0000"/>
                </a:solidFill>
                <a:latin typeface="+mn-ea"/>
                <a:sym typeface="+mn-ea"/>
              </a:rPr>
              <a:t> </a:t>
            </a:r>
            <a:r>
              <a:rPr lang="en-US" altLang="zh-CN" sz="1600" b="1" strike="sngStrike" dirty="0">
                <a:solidFill>
                  <a:srgbClr val="FF0000"/>
                </a:solidFill>
                <a:latin typeface="+mn-ea"/>
                <a:sym typeface="+mn-ea"/>
              </a:rPr>
              <a:t>11111111</a:t>
            </a:r>
            <a:r>
              <a:rPr lang="en-US" altLang="zh-CN" sz="1600" b="1" strike="sngStrike" dirty="0">
                <a:solidFill>
                  <a:srgbClr val="FF0000"/>
                </a:solidFill>
                <a:latin typeface="+mn-ea"/>
                <a:sym typeface="+mn-ea"/>
              </a:rPr>
              <a:t> </a:t>
            </a:r>
            <a:r>
              <a:rPr lang="en-US" altLang="zh-CN" sz="1600" b="1" strike="sngStrike" dirty="0">
                <a:solidFill>
                  <a:srgbClr val="FF0000"/>
                </a:solidFill>
                <a:latin typeface="+mn-ea"/>
                <a:sym typeface="+mn-ea"/>
              </a:rPr>
              <a:t>11111111</a:t>
            </a:r>
            <a:r>
              <a:rPr lang="en-US" altLang="zh-CN" sz="1600" b="1" strike="sngStrike" dirty="0">
                <a:solidFill>
                  <a:srgbClr val="FF0000"/>
                </a:solidFill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</a:rPr>
              <a:t>00000101 10010110 00111111 01111001 -&gt; a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long</a:t>
            </a:r>
            <a:r>
              <a:rPr lang="zh-CN" altLang="en-US" sz="1600" b="1" dirty="0">
                <a:latin typeface="+mn-ea"/>
              </a:rPr>
              <a:t>形式）</a:t>
            </a:r>
            <a:r>
              <a:rPr lang="en-US" altLang="zh-CN" sz="1600" b="1" dirty="0">
                <a:latin typeface="+mn-ea"/>
              </a:rPr>
              <a:t>      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b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= </a:t>
            </a:r>
            <a:r>
              <a:rPr lang="en-US" altLang="zh-CN" sz="1600" b="1" strike="sngStrike" dirty="0">
                <a:solidFill>
                  <a:srgbClr val="FF0000"/>
                </a:solidFill>
                <a:latin typeface="+mn-ea"/>
                <a:sym typeface="+mn-ea"/>
              </a:rPr>
              <a:t>11111111 11111111 11111111 11111111 </a:t>
            </a:r>
            <a:r>
              <a:rPr lang="en-US" altLang="zh-CN" sz="1600" b="1" strike="sngStrike" dirty="0">
                <a:solidFill>
                  <a:srgbClr val="FF0000"/>
                </a:solidFill>
                <a:latin typeface="+mn-ea"/>
                <a:sym typeface="+mn-ea"/>
              </a:rPr>
              <a:t>00000101 10010110 </a:t>
            </a:r>
            <a:r>
              <a:rPr lang="en-US" altLang="zh-CN" sz="1600" b="1" dirty="0">
                <a:latin typeface="+mn-ea"/>
                <a:sym typeface="+mn-ea"/>
              </a:rPr>
              <a:t>00111111 01111001</a:t>
            </a:r>
            <a:r>
              <a:rPr lang="en-US" altLang="zh-CN" sz="1600" b="1" dirty="0">
                <a:latin typeface="+mn-ea"/>
              </a:rPr>
              <a:t> -&gt; b=a (</a:t>
            </a:r>
            <a:r>
              <a:rPr lang="zh-CN" altLang="en-US" sz="1600" b="1" dirty="0">
                <a:latin typeface="+mn-ea"/>
              </a:rPr>
              <a:t>二进制补码形式，删除线表示丢弃的位数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Step3</a:t>
            </a:r>
            <a:r>
              <a:rPr lang="zh-CN" altLang="en-US" sz="1600" b="1" dirty="0">
                <a:latin typeface="+mn-ea"/>
              </a:rPr>
              <a:t>：求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的十进制表示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b</a:t>
            </a:r>
            <a:r>
              <a:rPr lang="zh-CN" altLang="en-US" sz="1600" b="1" dirty="0">
                <a:latin typeface="+mn-ea"/>
              </a:rPr>
              <a:t>是无符号数，补码与原码相同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b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= 00111111 01111001 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  </a:t>
            </a:r>
            <a:r>
              <a:rPr lang="en-US" altLang="zh-CN" sz="1600" b="1" dirty="0">
                <a:latin typeface="+mn-ea"/>
              </a:rPr>
              <a:t>b = 16249 (</a:t>
            </a:r>
            <a:r>
              <a:rPr lang="zh-CN" altLang="en-US" sz="1600" b="1" dirty="0">
                <a:latin typeface="+mn-ea"/>
              </a:rPr>
              <a:t>十进制表示形式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  <a:p>
            <a:endParaRPr lang="zh-CN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.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1 + 2 + 3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表达式一共有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个运算符，因此计算的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个步骤分别是（仿课件</a:t>
            </a:r>
            <a:r>
              <a:rPr lang="en-US" altLang="zh-CN" sz="1600" b="1" dirty="0">
                <a:latin typeface="+mn-ea"/>
              </a:rPr>
              <a:t>P.85</a:t>
            </a:r>
            <a:r>
              <a:rPr lang="zh-CN" altLang="en-US" sz="1600" b="1" dirty="0">
                <a:latin typeface="+mn-ea"/>
              </a:rPr>
              <a:t>，本页不需要画栈，但要有栈思维，下同）：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</a:t>
            </a:r>
            <a:r>
              <a:rPr lang="zh-CN" altLang="zh-CN" sz="1600" b="1" dirty="0">
                <a:latin typeface="+mn-ea"/>
              </a:rPr>
              <a:t>①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1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</a:t>
            </a:r>
            <a:r>
              <a:rPr lang="en-US" altLang="zh-CN" sz="1600" b="1" dirty="0">
                <a:latin typeface="+mn-ea"/>
              </a:rPr>
              <a:t> 2       =&gt; 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1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步骤②：式</a:t>
            </a:r>
            <a:r>
              <a:rPr lang="en-US" altLang="zh-CN" sz="1600" b="1" dirty="0">
                <a:latin typeface="+mn-ea"/>
              </a:rPr>
              <a:t>1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</a:t>
            </a:r>
            <a:r>
              <a:rPr lang="en-US" altLang="zh-CN" sz="1600" b="1" dirty="0">
                <a:latin typeface="+mn-ea"/>
              </a:rPr>
              <a:t> 3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8755118" y="604344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11 / 2 + 37 % 4 - 3.2 + 2.5 * 2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表达式一共有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个运算符，因此计算的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个步骤分别是（仿课件</a:t>
            </a:r>
            <a:r>
              <a:rPr lang="en-US" altLang="zh-CN" sz="1600" b="1" dirty="0">
                <a:latin typeface="+mn-ea"/>
              </a:rPr>
              <a:t>P.85</a:t>
            </a:r>
            <a:r>
              <a:rPr lang="zh-CN" altLang="en-US" sz="1600" b="1" dirty="0">
                <a:latin typeface="+mn-ea"/>
              </a:rPr>
              <a:t>，本页不需要画栈，但要有栈思维，下同）：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</a:t>
            </a:r>
            <a:r>
              <a:rPr lang="zh-CN" altLang="zh-CN" sz="1600" b="1" dirty="0">
                <a:latin typeface="+mn-ea"/>
              </a:rPr>
              <a:t>①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11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en-US" altLang="zh-CN" sz="1600" b="1" dirty="0">
                <a:latin typeface="+mn-ea"/>
              </a:rPr>
              <a:t> 2            =&gt; 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1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步骤②：</a:t>
            </a:r>
            <a:r>
              <a:rPr lang="en-US" altLang="zh-CN" sz="1600" b="1" dirty="0">
                <a:latin typeface="+mn-ea"/>
              </a:rPr>
              <a:t>37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% </a:t>
            </a:r>
            <a:r>
              <a:rPr lang="en-US" altLang="zh-CN" sz="1600" b="1" dirty="0">
                <a:latin typeface="+mn-ea"/>
              </a:rPr>
              <a:t>4            =&gt; 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2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步骤③：式</a:t>
            </a:r>
            <a:r>
              <a:rPr lang="en-US" altLang="zh-CN" sz="1600" b="1" dirty="0">
                <a:latin typeface="+mn-ea"/>
              </a:rPr>
              <a:t>1 + 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2         =&gt; 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3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步骤④：式</a:t>
            </a:r>
            <a:r>
              <a:rPr lang="en-US" altLang="zh-CN" sz="1600" b="1" dirty="0">
                <a:latin typeface="+mn-ea"/>
              </a:rPr>
              <a:t>3 – 3.2        =&gt; 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4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步骤⑤：</a:t>
            </a:r>
            <a:r>
              <a:rPr lang="en-US" altLang="zh-CN" sz="1600" b="1" dirty="0">
                <a:latin typeface="+mn-ea"/>
              </a:rPr>
              <a:t>2.5 * 2           =&gt; 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5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步骤⑥：式</a:t>
            </a:r>
            <a:r>
              <a:rPr lang="en-US" altLang="zh-CN" sz="1600" b="1" dirty="0">
                <a:latin typeface="+mn-ea"/>
              </a:rPr>
              <a:t>4 + 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5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11 / 2 + 37 % 4 - 3.2 + 2.5 * 2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目前准备进栈的运算符如箭头所示，画出当前运算数栈和运算符栈的状态（本页需要画栈）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 flipV="1">
            <a:off x="1775004" y="1616332"/>
            <a:ext cx="10758" cy="35231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956547" y="3287805"/>
            <a:ext cx="1337982" cy="2588559"/>
            <a:chOff x="2312894" y="3287806"/>
            <a:chExt cx="1337982" cy="2588559"/>
          </a:xfrm>
        </p:grpSpPr>
        <p:grpSp>
          <p:nvGrpSpPr>
            <p:cNvPr id="10" name="组合 9"/>
            <p:cNvGrpSpPr/>
            <p:nvPr/>
          </p:nvGrpSpPr>
          <p:grpSpPr>
            <a:xfrm>
              <a:off x="2312894" y="3287806"/>
              <a:ext cx="1337982" cy="2588559"/>
              <a:chOff x="2312894" y="3287806"/>
              <a:chExt cx="1337982" cy="2588559"/>
            </a:xfrm>
          </p:grpSpPr>
          <p:cxnSp>
            <p:nvCxnSpPr>
              <p:cNvPr id="4" name="直接连接符 3"/>
              <p:cNvCxnSpPr/>
              <p:nvPr/>
            </p:nvCxnSpPr>
            <p:spPr bwMode="auto">
              <a:xfrm>
                <a:off x="2312894" y="3287806"/>
                <a:ext cx="0" cy="2588559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 bwMode="auto">
              <a:xfrm>
                <a:off x="2312894" y="5876365"/>
                <a:ext cx="1337982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" name="直接连接符 8"/>
              <p:cNvCxnSpPr/>
              <p:nvPr/>
            </p:nvCxnSpPr>
            <p:spPr bwMode="auto">
              <a:xfrm flipV="1">
                <a:off x="3650876" y="3287806"/>
                <a:ext cx="0" cy="2588559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1" name="文本框 10"/>
            <p:cNvSpPr txBox="1"/>
            <p:nvPr/>
          </p:nvSpPr>
          <p:spPr>
            <a:xfrm>
              <a:off x="2487706" y="5311588"/>
              <a:ext cx="9816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11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487706" y="4735618"/>
              <a:ext cx="9816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2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487706" y="4170841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487706" y="3600468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781983" y="3287805"/>
            <a:ext cx="1337982" cy="2588559"/>
            <a:chOff x="2312894" y="3287806"/>
            <a:chExt cx="1337982" cy="2588559"/>
          </a:xfrm>
        </p:grpSpPr>
        <p:grpSp>
          <p:nvGrpSpPr>
            <p:cNvPr id="27" name="组合 26"/>
            <p:cNvGrpSpPr/>
            <p:nvPr/>
          </p:nvGrpSpPr>
          <p:grpSpPr>
            <a:xfrm>
              <a:off x="2312894" y="3287806"/>
              <a:ext cx="1337982" cy="2588559"/>
              <a:chOff x="2312894" y="3287806"/>
              <a:chExt cx="1337982" cy="2588559"/>
            </a:xfrm>
          </p:grpSpPr>
          <p:cxnSp>
            <p:nvCxnSpPr>
              <p:cNvPr id="32" name="直接连接符 31"/>
              <p:cNvCxnSpPr/>
              <p:nvPr/>
            </p:nvCxnSpPr>
            <p:spPr bwMode="auto">
              <a:xfrm>
                <a:off x="2312894" y="3287806"/>
                <a:ext cx="0" cy="2588559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 bwMode="auto">
              <a:xfrm>
                <a:off x="2312894" y="5876365"/>
                <a:ext cx="1337982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4" name="直接连接符 33"/>
              <p:cNvCxnSpPr/>
              <p:nvPr/>
            </p:nvCxnSpPr>
            <p:spPr bwMode="auto">
              <a:xfrm flipV="1">
                <a:off x="3650876" y="3287806"/>
                <a:ext cx="0" cy="2588559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28" name="文本框 27"/>
            <p:cNvSpPr txBox="1"/>
            <p:nvPr/>
          </p:nvSpPr>
          <p:spPr>
            <a:xfrm>
              <a:off x="2487706" y="5311588"/>
              <a:ext cx="9816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/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2487706" y="4735618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2487706" y="4170841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2487706" y="3600468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708252" y="3246530"/>
            <a:ext cx="1337982" cy="2588559"/>
            <a:chOff x="2312894" y="3287806"/>
            <a:chExt cx="1337982" cy="2588559"/>
          </a:xfrm>
        </p:grpSpPr>
        <p:grpSp>
          <p:nvGrpSpPr>
            <p:cNvPr id="6" name="组合 5"/>
            <p:cNvGrpSpPr/>
            <p:nvPr/>
          </p:nvGrpSpPr>
          <p:grpSpPr>
            <a:xfrm>
              <a:off x="2312894" y="3287806"/>
              <a:ext cx="1337982" cy="2588559"/>
              <a:chOff x="2312894" y="3287806"/>
              <a:chExt cx="1337982" cy="2588559"/>
            </a:xfrm>
          </p:grpSpPr>
          <p:cxnSp>
            <p:nvCxnSpPr>
              <p:cNvPr id="8" name="直接连接符 7"/>
              <p:cNvCxnSpPr/>
              <p:nvPr/>
            </p:nvCxnSpPr>
            <p:spPr bwMode="auto">
              <a:xfrm>
                <a:off x="2312894" y="3287806"/>
                <a:ext cx="0" cy="2588559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 bwMode="auto">
              <a:xfrm>
                <a:off x="2312894" y="5876365"/>
                <a:ext cx="1337982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" name="直接连接符 16"/>
              <p:cNvCxnSpPr/>
              <p:nvPr/>
            </p:nvCxnSpPr>
            <p:spPr bwMode="auto">
              <a:xfrm flipV="1">
                <a:off x="3650876" y="3287806"/>
                <a:ext cx="0" cy="2588559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8" name="文本框 17"/>
            <p:cNvSpPr txBox="1"/>
            <p:nvPr/>
          </p:nvSpPr>
          <p:spPr>
            <a:xfrm>
              <a:off x="2487706" y="5311588"/>
              <a:ext cx="98163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800" dirty="0">
                  <a:latin typeface="+mn-ea"/>
                </a:rPr>
                <a:t>11/2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487706" y="4735618"/>
              <a:ext cx="98163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487706" y="4170841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 dirty="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2487706" y="3600468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 dirty="0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533688" y="3246530"/>
            <a:ext cx="1337982" cy="2588559"/>
            <a:chOff x="2312894" y="3287806"/>
            <a:chExt cx="1337982" cy="2588559"/>
          </a:xfrm>
        </p:grpSpPr>
        <p:grpSp>
          <p:nvGrpSpPr>
            <p:cNvPr id="23" name="组合 22"/>
            <p:cNvGrpSpPr/>
            <p:nvPr/>
          </p:nvGrpSpPr>
          <p:grpSpPr>
            <a:xfrm>
              <a:off x="2312894" y="3287806"/>
              <a:ext cx="1337982" cy="2588559"/>
              <a:chOff x="2312894" y="3287806"/>
              <a:chExt cx="1337982" cy="2588559"/>
            </a:xfrm>
          </p:grpSpPr>
          <p:cxnSp>
            <p:nvCxnSpPr>
              <p:cNvPr id="24" name="直接连接符 23"/>
              <p:cNvCxnSpPr/>
              <p:nvPr/>
            </p:nvCxnSpPr>
            <p:spPr bwMode="auto">
              <a:xfrm>
                <a:off x="2312894" y="3287806"/>
                <a:ext cx="0" cy="2588559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 bwMode="auto">
              <a:xfrm>
                <a:off x="2312894" y="5876365"/>
                <a:ext cx="1337982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5" name="直接连接符 34"/>
              <p:cNvCxnSpPr/>
              <p:nvPr/>
            </p:nvCxnSpPr>
            <p:spPr bwMode="auto">
              <a:xfrm flipV="1">
                <a:off x="3650876" y="3287806"/>
                <a:ext cx="0" cy="2588559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" name="文本框 35"/>
            <p:cNvSpPr txBox="1"/>
            <p:nvPr/>
          </p:nvSpPr>
          <p:spPr>
            <a:xfrm>
              <a:off x="2487706" y="5311588"/>
              <a:ext cx="98163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2487706" y="4735618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 dirty="0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2487706" y="4170841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 dirty="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487706" y="3600468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 dirty="0"/>
            </a:p>
          </p:txBody>
        </p:sp>
      </p:grpSp>
      <p:cxnSp>
        <p:nvCxnSpPr>
          <p:cNvPr id="40" name="直接箭头连接符 39"/>
          <p:cNvCxnSpPr/>
          <p:nvPr/>
        </p:nvCxnSpPr>
        <p:spPr>
          <a:xfrm flipV="1">
            <a:off x="5254625" y="4683125"/>
            <a:ext cx="1292225" cy="63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241681" y="94615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1820" y="1081405"/>
            <a:ext cx="11334750" cy="545274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11 / 2 + 37 % 4 - 3.2 + 2.5 * 2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目前准备进栈的运算符如箭头所示，画出当前运算数栈和运算符栈的状态（本页需要画栈）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Line 15"/>
          <p:cNvSpPr>
            <a:spLocks noChangeShapeType="1"/>
          </p:cNvSpPr>
          <p:nvPr/>
        </p:nvSpPr>
        <p:spPr bwMode="auto">
          <a:xfrm flipV="1">
            <a:off x="2686756" y="1616332"/>
            <a:ext cx="5174" cy="34793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978025" y="3162300"/>
            <a:ext cx="1090295" cy="2398063"/>
            <a:chOff x="2312894" y="3287806"/>
            <a:chExt cx="1337982" cy="2588559"/>
          </a:xfrm>
        </p:grpSpPr>
        <p:grpSp>
          <p:nvGrpSpPr>
            <p:cNvPr id="41" name="组合 40"/>
            <p:cNvGrpSpPr/>
            <p:nvPr/>
          </p:nvGrpSpPr>
          <p:grpSpPr>
            <a:xfrm>
              <a:off x="2312894" y="3287806"/>
              <a:ext cx="1337982" cy="2588559"/>
              <a:chOff x="2312894" y="3287806"/>
              <a:chExt cx="1337982" cy="2588559"/>
            </a:xfrm>
          </p:grpSpPr>
          <p:cxnSp>
            <p:nvCxnSpPr>
              <p:cNvPr id="46" name="直接连接符 45"/>
              <p:cNvCxnSpPr/>
              <p:nvPr/>
            </p:nvCxnSpPr>
            <p:spPr bwMode="auto">
              <a:xfrm>
                <a:off x="2312894" y="3287806"/>
                <a:ext cx="0" cy="2588559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 bwMode="auto">
              <a:xfrm>
                <a:off x="2312894" y="5876365"/>
                <a:ext cx="1337982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8" name="直接连接符 47"/>
              <p:cNvCxnSpPr/>
              <p:nvPr/>
            </p:nvCxnSpPr>
            <p:spPr bwMode="auto">
              <a:xfrm flipV="1">
                <a:off x="3650876" y="3287806"/>
                <a:ext cx="0" cy="2588559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42" name="文本框 41"/>
            <p:cNvSpPr txBox="1"/>
            <p:nvPr/>
          </p:nvSpPr>
          <p:spPr>
            <a:xfrm>
              <a:off x="2487706" y="5311588"/>
              <a:ext cx="981634" cy="563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dirty="0">
                  <a:latin typeface="+mn-ea"/>
                </a:rPr>
                <a:t>式</a:t>
              </a:r>
              <a:r>
                <a:rPr lang="en-US" altLang="zh-CN" sz="2800" dirty="0">
                  <a:latin typeface="+mn-ea"/>
                </a:rPr>
                <a:t>1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2487706" y="4735618"/>
              <a:ext cx="981634" cy="563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dirty="0">
                  <a:latin typeface="+mn-ea"/>
                </a:rPr>
                <a:t>式</a:t>
              </a:r>
              <a:r>
                <a:rPr lang="en-US" altLang="zh-CN" sz="2800" dirty="0">
                  <a:latin typeface="+mn-ea"/>
                </a:rPr>
                <a:t>2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2487706" y="4170841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2487706" y="3600468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3503295" y="3168015"/>
            <a:ext cx="1090295" cy="2398063"/>
            <a:chOff x="2312894" y="3287806"/>
            <a:chExt cx="1337982" cy="2588559"/>
          </a:xfrm>
        </p:grpSpPr>
        <p:grpSp>
          <p:nvGrpSpPr>
            <p:cNvPr id="50" name="组合 49"/>
            <p:cNvGrpSpPr/>
            <p:nvPr/>
          </p:nvGrpSpPr>
          <p:grpSpPr>
            <a:xfrm>
              <a:off x="2312894" y="3287806"/>
              <a:ext cx="1337982" cy="2588559"/>
              <a:chOff x="2312894" y="3287806"/>
              <a:chExt cx="1337982" cy="2588559"/>
            </a:xfrm>
          </p:grpSpPr>
          <p:cxnSp>
            <p:nvCxnSpPr>
              <p:cNvPr id="55" name="直接连接符 54"/>
              <p:cNvCxnSpPr/>
              <p:nvPr/>
            </p:nvCxnSpPr>
            <p:spPr bwMode="auto">
              <a:xfrm>
                <a:off x="2312894" y="3287806"/>
                <a:ext cx="0" cy="2588559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 bwMode="auto">
              <a:xfrm>
                <a:off x="2312894" y="5876365"/>
                <a:ext cx="1337982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7" name="直接连接符 56"/>
              <p:cNvCxnSpPr/>
              <p:nvPr/>
            </p:nvCxnSpPr>
            <p:spPr bwMode="auto">
              <a:xfrm flipV="1">
                <a:off x="3650876" y="3287806"/>
                <a:ext cx="0" cy="2588559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51" name="文本框 50"/>
            <p:cNvSpPr txBox="1"/>
            <p:nvPr/>
          </p:nvSpPr>
          <p:spPr>
            <a:xfrm>
              <a:off x="2487706" y="5311588"/>
              <a:ext cx="981634" cy="563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+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487706" y="4735618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2487706" y="4170841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2487706" y="3600468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132830" y="3162935"/>
            <a:ext cx="1641475" cy="2815590"/>
            <a:chOff x="2210032" y="3287806"/>
            <a:chExt cx="1591240" cy="3039254"/>
          </a:xfrm>
        </p:grpSpPr>
        <p:grpSp>
          <p:nvGrpSpPr>
            <p:cNvPr id="5" name="组合 4"/>
            <p:cNvGrpSpPr/>
            <p:nvPr/>
          </p:nvGrpSpPr>
          <p:grpSpPr>
            <a:xfrm>
              <a:off x="2312894" y="3287806"/>
              <a:ext cx="1337982" cy="2588559"/>
              <a:chOff x="2312894" y="3287806"/>
              <a:chExt cx="1337982" cy="2588559"/>
            </a:xfrm>
          </p:grpSpPr>
          <p:cxnSp>
            <p:nvCxnSpPr>
              <p:cNvPr id="6" name="直接连接符 5"/>
              <p:cNvCxnSpPr/>
              <p:nvPr/>
            </p:nvCxnSpPr>
            <p:spPr bwMode="auto">
              <a:xfrm>
                <a:off x="2312894" y="3287806"/>
                <a:ext cx="0" cy="2588559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 bwMode="auto">
              <a:xfrm>
                <a:off x="2312894" y="5876365"/>
                <a:ext cx="1337982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" name="直接连接符 7"/>
              <p:cNvCxnSpPr/>
              <p:nvPr/>
            </p:nvCxnSpPr>
            <p:spPr bwMode="auto">
              <a:xfrm flipV="1">
                <a:off x="3650876" y="3287806"/>
                <a:ext cx="0" cy="2588559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9" name="文本框 8"/>
            <p:cNvSpPr txBox="1"/>
            <p:nvPr/>
          </p:nvSpPr>
          <p:spPr>
            <a:xfrm>
              <a:off x="2210032" y="5298210"/>
              <a:ext cx="1591240" cy="10288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sz="2800" dirty="0">
                  <a:latin typeface="+mn-ea"/>
                </a:rPr>
                <a:t>式</a:t>
              </a:r>
              <a:r>
                <a:rPr lang="en-US" altLang="zh-CN" sz="2800" dirty="0">
                  <a:latin typeface="+mn-ea"/>
                </a:rPr>
                <a:t>1+</a:t>
              </a:r>
              <a:r>
                <a:rPr lang="zh-CN" altLang="en-US" sz="2800" dirty="0">
                  <a:latin typeface="+mn-ea"/>
                </a:rPr>
                <a:t>式</a:t>
              </a:r>
              <a:r>
                <a:rPr lang="en-US" altLang="zh-CN" sz="2800" dirty="0">
                  <a:latin typeface="+mn-ea"/>
                </a:rPr>
                <a:t>2</a:t>
              </a:r>
              <a:endParaRPr lang="en-US" altLang="zh-CN" sz="2800" dirty="0">
                <a:latin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487706" y="4735618"/>
              <a:ext cx="98163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487706" y="4170841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487706" y="3600468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8053705" y="3168650"/>
            <a:ext cx="1090295" cy="2397125"/>
            <a:chOff x="2312894" y="3287806"/>
            <a:chExt cx="1337982" cy="2588559"/>
          </a:xfrm>
        </p:grpSpPr>
        <p:grpSp>
          <p:nvGrpSpPr>
            <p:cNvPr id="14" name="组合 13"/>
            <p:cNvGrpSpPr/>
            <p:nvPr/>
          </p:nvGrpSpPr>
          <p:grpSpPr>
            <a:xfrm>
              <a:off x="2312894" y="3287806"/>
              <a:ext cx="1337982" cy="2588559"/>
              <a:chOff x="2312894" y="3287806"/>
              <a:chExt cx="1337982" cy="2588559"/>
            </a:xfrm>
          </p:grpSpPr>
          <p:cxnSp>
            <p:nvCxnSpPr>
              <p:cNvPr id="15" name="直接连接符 14"/>
              <p:cNvCxnSpPr/>
              <p:nvPr/>
            </p:nvCxnSpPr>
            <p:spPr bwMode="auto">
              <a:xfrm>
                <a:off x="2312894" y="3287806"/>
                <a:ext cx="0" cy="2588559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 bwMode="auto">
              <a:xfrm>
                <a:off x="2312894" y="5876365"/>
                <a:ext cx="1337982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" name="直接连接符 16"/>
              <p:cNvCxnSpPr/>
              <p:nvPr/>
            </p:nvCxnSpPr>
            <p:spPr bwMode="auto">
              <a:xfrm flipV="1">
                <a:off x="3650876" y="3287806"/>
                <a:ext cx="0" cy="2588559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8" name="文本框 17"/>
            <p:cNvSpPr txBox="1"/>
            <p:nvPr/>
          </p:nvSpPr>
          <p:spPr>
            <a:xfrm>
              <a:off x="2487706" y="5311588"/>
              <a:ext cx="98163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487706" y="4735618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487706" y="4170841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 dirty="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2487706" y="3600468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 dirty="0"/>
            </a:p>
          </p:txBody>
        </p:sp>
      </p:grpSp>
      <p:cxnSp>
        <p:nvCxnSpPr>
          <p:cNvPr id="22" name="直接箭头连接符 21"/>
          <p:cNvCxnSpPr/>
          <p:nvPr/>
        </p:nvCxnSpPr>
        <p:spPr>
          <a:xfrm>
            <a:off x="4991735" y="4330065"/>
            <a:ext cx="862330" cy="19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3" name="文本框 22"/>
          <p:cNvSpPr txBox="1"/>
          <p:nvPr/>
        </p:nvSpPr>
        <p:spPr>
          <a:xfrm>
            <a:off x="1848485" y="577151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 dirty="0">
                <a:latin typeface="+mn-ea"/>
                <a:sym typeface="+mn-ea"/>
              </a:rPr>
              <a:t>11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sym typeface="+mn-ea"/>
              </a:rPr>
              <a:t>/</a:t>
            </a:r>
            <a:r>
              <a:rPr lang="en-US" altLang="zh-CN" sz="1600" b="1" dirty="0">
                <a:latin typeface="+mn-ea"/>
                <a:sym typeface="+mn-ea"/>
              </a:rPr>
              <a:t> 2     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37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sym typeface="+mn-ea"/>
              </a:rPr>
              <a:t>% </a:t>
            </a:r>
            <a:r>
              <a:rPr lang="en-US" altLang="zh-CN" sz="1600" b="1" dirty="0">
                <a:latin typeface="+mn-ea"/>
                <a:sym typeface="+mn-ea"/>
              </a:rPr>
              <a:t>4     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2</a:t>
            </a:r>
            <a:endParaRPr lang="en-US" altLang="zh-CN" sz="1600" b="1" dirty="0"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11 / 2 + 37 % 4 - 3.2 + 2.5 * 2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目前准备进栈的运算符如箭头所示，画出当前运算数栈和运算符栈的状态（本页需要画栈）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Line 15"/>
          <p:cNvSpPr>
            <a:spLocks noChangeShapeType="1"/>
          </p:cNvSpPr>
          <p:nvPr/>
        </p:nvSpPr>
        <p:spPr bwMode="auto">
          <a:xfrm flipV="1">
            <a:off x="3939822" y="1605043"/>
            <a:ext cx="5174" cy="34793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850807" y="2814206"/>
            <a:ext cx="1233202" cy="2588559"/>
            <a:chOff x="2312894" y="3287806"/>
            <a:chExt cx="1337982" cy="2588559"/>
          </a:xfrm>
        </p:grpSpPr>
        <p:grpSp>
          <p:nvGrpSpPr>
            <p:cNvPr id="5" name="组合 4"/>
            <p:cNvGrpSpPr/>
            <p:nvPr/>
          </p:nvGrpSpPr>
          <p:grpSpPr>
            <a:xfrm>
              <a:off x="2312894" y="3287806"/>
              <a:ext cx="1337982" cy="2588559"/>
              <a:chOff x="2312894" y="3287806"/>
              <a:chExt cx="1337982" cy="2588559"/>
            </a:xfrm>
          </p:grpSpPr>
          <p:cxnSp>
            <p:nvCxnSpPr>
              <p:cNvPr id="10" name="直接连接符 9"/>
              <p:cNvCxnSpPr/>
              <p:nvPr/>
            </p:nvCxnSpPr>
            <p:spPr bwMode="auto">
              <a:xfrm>
                <a:off x="2312894" y="3287806"/>
                <a:ext cx="0" cy="2588559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 bwMode="auto">
              <a:xfrm>
                <a:off x="2312894" y="5876365"/>
                <a:ext cx="1337982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" name="直接连接符 11"/>
              <p:cNvCxnSpPr/>
              <p:nvPr/>
            </p:nvCxnSpPr>
            <p:spPr bwMode="auto">
              <a:xfrm flipV="1">
                <a:off x="3650876" y="3287806"/>
                <a:ext cx="0" cy="2588559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6" name="文本框 5"/>
            <p:cNvSpPr txBox="1"/>
            <p:nvPr/>
          </p:nvSpPr>
          <p:spPr>
            <a:xfrm>
              <a:off x="2384643" y="5311588"/>
              <a:ext cx="12388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dirty="0">
                  <a:latin typeface="+mn-ea"/>
                </a:rPr>
                <a:t>式</a:t>
              </a:r>
              <a:r>
                <a:rPr lang="en-US" altLang="zh-CN" sz="2800" dirty="0">
                  <a:latin typeface="+mn-ea"/>
                </a:rPr>
                <a:t>4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487706" y="4735618"/>
              <a:ext cx="9816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2.5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487706" y="4170841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487706" y="3600468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348947" y="2814206"/>
            <a:ext cx="1214237" cy="2588559"/>
            <a:chOff x="2312894" y="3287806"/>
            <a:chExt cx="1337982" cy="2588559"/>
          </a:xfrm>
        </p:grpSpPr>
        <p:grpSp>
          <p:nvGrpSpPr>
            <p:cNvPr id="14" name="组合 13"/>
            <p:cNvGrpSpPr/>
            <p:nvPr/>
          </p:nvGrpSpPr>
          <p:grpSpPr>
            <a:xfrm>
              <a:off x="2312894" y="3287806"/>
              <a:ext cx="1337982" cy="2588559"/>
              <a:chOff x="2312894" y="3287806"/>
              <a:chExt cx="1337982" cy="2588559"/>
            </a:xfrm>
          </p:grpSpPr>
          <p:cxnSp>
            <p:nvCxnSpPr>
              <p:cNvPr id="19" name="直接连接符 18"/>
              <p:cNvCxnSpPr/>
              <p:nvPr/>
            </p:nvCxnSpPr>
            <p:spPr bwMode="auto">
              <a:xfrm>
                <a:off x="2312894" y="3287806"/>
                <a:ext cx="0" cy="2588559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 bwMode="auto">
              <a:xfrm>
                <a:off x="2312894" y="5876365"/>
                <a:ext cx="1337982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" name="直接连接符 20"/>
              <p:cNvCxnSpPr/>
              <p:nvPr/>
            </p:nvCxnSpPr>
            <p:spPr bwMode="auto">
              <a:xfrm flipV="1">
                <a:off x="3650876" y="3287806"/>
                <a:ext cx="0" cy="2588559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5" name="文本框 14"/>
            <p:cNvSpPr txBox="1"/>
            <p:nvPr/>
          </p:nvSpPr>
          <p:spPr>
            <a:xfrm>
              <a:off x="2487706" y="5311588"/>
              <a:ext cx="9816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+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487706" y="4170841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487706" y="3600468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</p:grpSp>
      <p:sp>
        <p:nvSpPr>
          <p:cNvPr id="41" name="文本框 40"/>
          <p:cNvSpPr txBox="1"/>
          <p:nvPr/>
        </p:nvSpPr>
        <p:spPr>
          <a:xfrm>
            <a:off x="1551940" y="5590540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 dirty="0">
                <a:latin typeface="+mn-ea"/>
                <a:sym typeface="+mn-ea"/>
              </a:rPr>
              <a:t>11 / 2 + 37 % 4 - 3.2   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4</a:t>
            </a:r>
            <a:endParaRPr lang="en-US" altLang="zh-CN" sz="1600" b="1" dirty="0"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 a = 2 * 4 , a = b = 3 * 5   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表达式一共有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个运算符，因此计算的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个步骤分别是：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</a:t>
            </a:r>
            <a:r>
              <a:rPr lang="zh-CN" altLang="zh-CN" sz="1600" b="1" dirty="0">
                <a:latin typeface="+mn-ea"/>
              </a:rPr>
              <a:t>①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2 * 4        =&gt; 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1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步骤②：</a:t>
            </a:r>
            <a:r>
              <a:rPr lang="en-US" altLang="zh-CN" sz="1600" b="1" dirty="0">
                <a:latin typeface="+mn-ea"/>
              </a:rPr>
              <a:t>a = 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1      =&gt; 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2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步骤③：</a:t>
            </a:r>
            <a:r>
              <a:rPr lang="en-US" altLang="zh-CN" sz="1600" b="1" dirty="0">
                <a:latin typeface="+mn-ea"/>
              </a:rPr>
              <a:t>3 * 5        =&gt; 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3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步骤④：</a:t>
            </a:r>
            <a:r>
              <a:rPr lang="en-US" altLang="zh-CN" sz="1600" b="1" dirty="0">
                <a:latin typeface="+mn-ea"/>
              </a:rPr>
              <a:t>b = 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3      =&gt; 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4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步骤⑤：</a:t>
            </a:r>
            <a:r>
              <a:rPr lang="en-US" altLang="zh-CN" sz="1600" b="1" dirty="0">
                <a:latin typeface="+mn-ea"/>
              </a:rPr>
              <a:t>a = 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4      =&gt; 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5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步骤⑥：式</a:t>
            </a:r>
            <a:r>
              <a:rPr lang="en-US" altLang="zh-CN" sz="1600" b="1" dirty="0">
                <a:latin typeface="+mn-ea"/>
              </a:rPr>
              <a:t>2 </a:t>
            </a:r>
            <a:r>
              <a:rPr lang="zh-CN" altLang="en-US" sz="1600" b="1" dirty="0">
                <a:latin typeface="+mn-ea"/>
              </a:rPr>
              <a:t>，式</a:t>
            </a:r>
            <a:r>
              <a:rPr lang="en-US" altLang="zh-CN" sz="1600" b="1" dirty="0">
                <a:latin typeface="+mn-ea"/>
              </a:rPr>
              <a:t>5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 a = 2 * 4 , a = b = 3 * 5   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目前准备进栈的运算符如箭头所示，画出当前运算数栈和运算符栈的状态（本页需要画栈）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Line 15"/>
          <p:cNvSpPr>
            <a:spLocks noChangeShapeType="1"/>
          </p:cNvSpPr>
          <p:nvPr/>
        </p:nvSpPr>
        <p:spPr bwMode="auto">
          <a:xfrm flipV="1">
            <a:off x="2054714" y="1659364"/>
            <a:ext cx="10758" cy="35231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90102" y="3139850"/>
            <a:ext cx="1337982" cy="2588559"/>
            <a:chOff x="2312894" y="3287806"/>
            <a:chExt cx="1337982" cy="2588559"/>
          </a:xfrm>
        </p:grpSpPr>
        <p:grpSp>
          <p:nvGrpSpPr>
            <p:cNvPr id="5" name="组合 4"/>
            <p:cNvGrpSpPr/>
            <p:nvPr/>
          </p:nvGrpSpPr>
          <p:grpSpPr>
            <a:xfrm>
              <a:off x="2312894" y="3287806"/>
              <a:ext cx="1337982" cy="2588559"/>
              <a:chOff x="2312894" y="3287806"/>
              <a:chExt cx="1337982" cy="2588559"/>
            </a:xfrm>
          </p:grpSpPr>
          <p:cxnSp>
            <p:nvCxnSpPr>
              <p:cNvPr id="10" name="直接连接符 9"/>
              <p:cNvCxnSpPr/>
              <p:nvPr/>
            </p:nvCxnSpPr>
            <p:spPr bwMode="auto">
              <a:xfrm>
                <a:off x="2312894" y="3287806"/>
                <a:ext cx="0" cy="2588559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 bwMode="auto">
              <a:xfrm>
                <a:off x="2312894" y="5876365"/>
                <a:ext cx="1337982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" name="直接连接符 11"/>
              <p:cNvCxnSpPr/>
              <p:nvPr/>
            </p:nvCxnSpPr>
            <p:spPr bwMode="auto">
              <a:xfrm flipV="1">
                <a:off x="3650876" y="3287806"/>
                <a:ext cx="0" cy="2588559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6" name="文本框 5"/>
            <p:cNvSpPr txBox="1"/>
            <p:nvPr/>
          </p:nvSpPr>
          <p:spPr>
            <a:xfrm>
              <a:off x="2487706" y="5311588"/>
              <a:ext cx="9816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a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487706" y="4735618"/>
              <a:ext cx="9816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2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487706" y="4170841"/>
              <a:ext cx="9816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4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487706" y="3600468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015538" y="3139850"/>
            <a:ext cx="1337982" cy="2588559"/>
            <a:chOff x="2312894" y="3287806"/>
            <a:chExt cx="1337982" cy="2588559"/>
          </a:xfrm>
        </p:grpSpPr>
        <p:grpSp>
          <p:nvGrpSpPr>
            <p:cNvPr id="14" name="组合 13"/>
            <p:cNvGrpSpPr/>
            <p:nvPr/>
          </p:nvGrpSpPr>
          <p:grpSpPr>
            <a:xfrm>
              <a:off x="2312894" y="3287806"/>
              <a:ext cx="1337982" cy="2588559"/>
              <a:chOff x="2312894" y="3287806"/>
              <a:chExt cx="1337982" cy="2588559"/>
            </a:xfrm>
          </p:grpSpPr>
          <p:cxnSp>
            <p:nvCxnSpPr>
              <p:cNvPr id="19" name="直接连接符 18"/>
              <p:cNvCxnSpPr/>
              <p:nvPr/>
            </p:nvCxnSpPr>
            <p:spPr bwMode="auto">
              <a:xfrm>
                <a:off x="2312894" y="3287806"/>
                <a:ext cx="0" cy="2588559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 bwMode="auto">
              <a:xfrm>
                <a:off x="2312894" y="5876365"/>
                <a:ext cx="1337982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" name="直接连接符 20"/>
              <p:cNvCxnSpPr/>
              <p:nvPr/>
            </p:nvCxnSpPr>
            <p:spPr bwMode="auto">
              <a:xfrm flipV="1">
                <a:off x="3650876" y="3287806"/>
                <a:ext cx="0" cy="2588559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5" name="文本框 14"/>
            <p:cNvSpPr txBox="1"/>
            <p:nvPr/>
          </p:nvSpPr>
          <p:spPr>
            <a:xfrm>
              <a:off x="2487706" y="5311588"/>
              <a:ext cx="9816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+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487706" y="4735618"/>
              <a:ext cx="9816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*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487706" y="4170841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487706" y="3600468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601447" y="3139850"/>
            <a:ext cx="1337982" cy="2588559"/>
            <a:chOff x="2312894" y="3287806"/>
            <a:chExt cx="1337982" cy="2588559"/>
          </a:xfrm>
        </p:grpSpPr>
        <p:grpSp>
          <p:nvGrpSpPr>
            <p:cNvPr id="23" name="组合 22"/>
            <p:cNvGrpSpPr/>
            <p:nvPr/>
          </p:nvGrpSpPr>
          <p:grpSpPr>
            <a:xfrm>
              <a:off x="2312894" y="3287806"/>
              <a:ext cx="1337982" cy="2588559"/>
              <a:chOff x="2312894" y="3287806"/>
              <a:chExt cx="1337982" cy="2588559"/>
            </a:xfrm>
          </p:grpSpPr>
          <p:cxnSp>
            <p:nvCxnSpPr>
              <p:cNvPr id="24" name="直接连接符 23"/>
              <p:cNvCxnSpPr/>
              <p:nvPr/>
            </p:nvCxnSpPr>
            <p:spPr bwMode="auto">
              <a:xfrm>
                <a:off x="2312894" y="3287806"/>
                <a:ext cx="0" cy="2588559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 bwMode="auto">
              <a:xfrm>
                <a:off x="2312894" y="5876365"/>
                <a:ext cx="1337982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6" name="直接连接符 25"/>
              <p:cNvCxnSpPr/>
              <p:nvPr/>
            </p:nvCxnSpPr>
            <p:spPr bwMode="auto">
              <a:xfrm flipV="1">
                <a:off x="3650876" y="3287806"/>
                <a:ext cx="0" cy="2588559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27" name="文本框 26"/>
            <p:cNvSpPr txBox="1"/>
            <p:nvPr/>
          </p:nvSpPr>
          <p:spPr>
            <a:xfrm>
              <a:off x="2487706" y="5311588"/>
              <a:ext cx="9816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800" dirty="0">
                  <a:latin typeface="+mn-ea"/>
                </a:rPr>
                <a:t>a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2487706" y="4735618"/>
              <a:ext cx="98163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800" dirty="0">
                  <a:latin typeface="+mn-ea"/>
                </a:rPr>
                <a:t>2*4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2487706" y="4170841"/>
              <a:ext cx="98163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2487706" y="3600468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 dirty="0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7426883" y="3139850"/>
            <a:ext cx="1337982" cy="2588559"/>
            <a:chOff x="2312894" y="3287806"/>
            <a:chExt cx="1337982" cy="2588559"/>
          </a:xfrm>
        </p:grpSpPr>
        <p:grpSp>
          <p:nvGrpSpPr>
            <p:cNvPr id="32" name="组合 31"/>
            <p:cNvGrpSpPr/>
            <p:nvPr/>
          </p:nvGrpSpPr>
          <p:grpSpPr>
            <a:xfrm>
              <a:off x="2312894" y="3287806"/>
              <a:ext cx="1337982" cy="2588559"/>
              <a:chOff x="2312894" y="3287806"/>
              <a:chExt cx="1337982" cy="2588559"/>
            </a:xfrm>
          </p:grpSpPr>
          <p:cxnSp>
            <p:nvCxnSpPr>
              <p:cNvPr id="33" name="直接连接符 32"/>
              <p:cNvCxnSpPr/>
              <p:nvPr/>
            </p:nvCxnSpPr>
            <p:spPr bwMode="auto">
              <a:xfrm>
                <a:off x="2312894" y="3287806"/>
                <a:ext cx="0" cy="2588559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 bwMode="auto">
              <a:xfrm>
                <a:off x="2312894" y="5876365"/>
                <a:ext cx="1337982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5" name="直接连接符 34"/>
              <p:cNvCxnSpPr/>
              <p:nvPr/>
            </p:nvCxnSpPr>
            <p:spPr bwMode="auto">
              <a:xfrm flipV="1">
                <a:off x="3650876" y="3287806"/>
                <a:ext cx="0" cy="2588559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" name="文本框 35"/>
            <p:cNvSpPr txBox="1"/>
            <p:nvPr/>
          </p:nvSpPr>
          <p:spPr>
            <a:xfrm>
              <a:off x="2487706" y="5311588"/>
              <a:ext cx="9816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800" dirty="0">
                  <a:latin typeface="+mn-ea"/>
                </a:rPr>
                <a:t>+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2487706" y="4735618"/>
              <a:ext cx="98163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2487706" y="4170841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 dirty="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487706" y="3600468"/>
              <a:ext cx="981634" cy="369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 dirty="0"/>
            </a:p>
          </p:txBody>
        </p:sp>
      </p:grpSp>
      <p:cxnSp>
        <p:nvCxnSpPr>
          <p:cNvPr id="40" name="直接箭头连接符 39"/>
          <p:cNvCxnSpPr/>
          <p:nvPr/>
        </p:nvCxnSpPr>
        <p:spPr>
          <a:xfrm flipV="1">
            <a:off x="4611370" y="4603115"/>
            <a:ext cx="767080" cy="120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 a = 2 * 4 , a = b = 3 * 5   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目前已分析到整个表达式的尾部，画出从当前栈的状态到整个表达式分析完成的整个过程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每两个栈一组，有多组，尽量放在一页上，不够可加页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 flipH="1" flipV="1">
            <a:off x="3688483" y="1594816"/>
            <a:ext cx="2983" cy="34687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934571" y="2790088"/>
            <a:ext cx="1226681" cy="2473096"/>
            <a:chOff x="1956547" y="3013304"/>
            <a:chExt cx="1337982" cy="2863060"/>
          </a:xfrm>
        </p:grpSpPr>
        <p:grpSp>
          <p:nvGrpSpPr>
            <p:cNvPr id="2" name="组合 1"/>
            <p:cNvGrpSpPr/>
            <p:nvPr/>
          </p:nvGrpSpPr>
          <p:grpSpPr>
            <a:xfrm>
              <a:off x="1956547" y="3287805"/>
              <a:ext cx="1337982" cy="2588559"/>
              <a:chOff x="2312894" y="3287806"/>
              <a:chExt cx="1337982" cy="2588559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2312894" y="3287806"/>
                <a:ext cx="1337982" cy="2588559"/>
                <a:chOff x="2312894" y="3287806"/>
                <a:chExt cx="1337982" cy="2588559"/>
              </a:xfrm>
            </p:grpSpPr>
            <p:cxnSp>
              <p:nvCxnSpPr>
                <p:cNvPr id="10" name="直接连接符 9"/>
                <p:cNvCxnSpPr/>
                <p:nvPr/>
              </p:nvCxnSpPr>
              <p:spPr bwMode="auto">
                <a:xfrm>
                  <a:off x="2312894" y="3287806"/>
                  <a:ext cx="0" cy="2588559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连接符 10"/>
                <p:cNvCxnSpPr/>
                <p:nvPr/>
              </p:nvCxnSpPr>
              <p:spPr bwMode="auto">
                <a:xfrm>
                  <a:off x="2312894" y="5876365"/>
                  <a:ext cx="1337982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2" name="直接连接符 11"/>
                <p:cNvCxnSpPr/>
                <p:nvPr/>
              </p:nvCxnSpPr>
              <p:spPr bwMode="auto">
                <a:xfrm flipV="1">
                  <a:off x="3650876" y="3287806"/>
                  <a:ext cx="0" cy="258855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6" name="文本框 5"/>
              <p:cNvSpPr txBox="1"/>
              <p:nvPr/>
            </p:nvSpPr>
            <p:spPr>
              <a:xfrm>
                <a:off x="2487706" y="5311588"/>
                <a:ext cx="9816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dirty="0">
                    <a:latin typeface="+mn-ea"/>
                  </a:rPr>
                  <a:t>式</a:t>
                </a:r>
                <a:r>
                  <a:rPr lang="en-US" altLang="zh-CN" sz="2800" dirty="0">
                    <a:latin typeface="+mn-ea"/>
                  </a:rPr>
                  <a:t>2</a:t>
                </a:r>
                <a:endParaRPr lang="zh-CN" altLang="en-US" sz="2800" dirty="0">
                  <a:latin typeface="+mn-ea"/>
                </a:endParaRP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2487706" y="4735618"/>
                <a:ext cx="9816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+mn-ea"/>
                  </a:rPr>
                  <a:t>a</a:t>
                </a:r>
                <a:endParaRPr lang="zh-CN" altLang="en-US" sz="2800" dirty="0">
                  <a:latin typeface="+mn-ea"/>
                </a:endParaRPr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2131359" y="4159647"/>
              <a:ext cx="9816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b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2131359" y="3589274"/>
              <a:ext cx="9816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3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2131359" y="3013304"/>
              <a:ext cx="9816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5</a:t>
              </a:r>
              <a:endParaRPr lang="zh-CN" altLang="en-US" sz="2800" dirty="0">
                <a:latin typeface="+mn-ea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559424" y="2790088"/>
            <a:ext cx="1226681" cy="2473096"/>
            <a:chOff x="1956547" y="3013304"/>
            <a:chExt cx="1337982" cy="2863060"/>
          </a:xfrm>
        </p:grpSpPr>
        <p:grpSp>
          <p:nvGrpSpPr>
            <p:cNvPr id="27" name="组合 26"/>
            <p:cNvGrpSpPr/>
            <p:nvPr/>
          </p:nvGrpSpPr>
          <p:grpSpPr>
            <a:xfrm>
              <a:off x="1956547" y="3287805"/>
              <a:ext cx="1337982" cy="2588559"/>
              <a:chOff x="2312894" y="3287806"/>
              <a:chExt cx="1337982" cy="2588559"/>
            </a:xfrm>
          </p:grpSpPr>
          <p:grpSp>
            <p:nvGrpSpPr>
              <p:cNvPr id="31" name="组合 30"/>
              <p:cNvGrpSpPr/>
              <p:nvPr/>
            </p:nvGrpSpPr>
            <p:grpSpPr>
              <a:xfrm>
                <a:off x="2312894" y="3287806"/>
                <a:ext cx="1337982" cy="2588559"/>
                <a:chOff x="2312894" y="3287806"/>
                <a:chExt cx="1337982" cy="2588559"/>
              </a:xfrm>
            </p:grpSpPr>
            <p:cxnSp>
              <p:nvCxnSpPr>
                <p:cNvPr id="34" name="直接连接符 33"/>
                <p:cNvCxnSpPr/>
                <p:nvPr/>
              </p:nvCxnSpPr>
              <p:spPr bwMode="auto">
                <a:xfrm>
                  <a:off x="2312894" y="3287806"/>
                  <a:ext cx="0" cy="2588559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/>
                <p:cNvCxnSpPr/>
                <p:nvPr/>
              </p:nvCxnSpPr>
              <p:spPr bwMode="auto">
                <a:xfrm>
                  <a:off x="2312894" y="5876365"/>
                  <a:ext cx="1337982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6" name="直接连接符 35"/>
                <p:cNvCxnSpPr/>
                <p:nvPr/>
              </p:nvCxnSpPr>
              <p:spPr bwMode="auto">
                <a:xfrm flipV="1">
                  <a:off x="3650876" y="3287806"/>
                  <a:ext cx="0" cy="258855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32" name="文本框 31"/>
              <p:cNvSpPr txBox="1"/>
              <p:nvPr/>
            </p:nvSpPr>
            <p:spPr>
              <a:xfrm>
                <a:off x="2487706" y="5311588"/>
                <a:ext cx="9816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dirty="0">
                    <a:latin typeface="+mn-ea"/>
                  </a:rPr>
                  <a:t> ，</a:t>
                </a:r>
                <a:endParaRPr lang="zh-CN" altLang="en-US" sz="2800" dirty="0">
                  <a:latin typeface="+mn-ea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2487706" y="4735618"/>
                <a:ext cx="9816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+mn-ea"/>
                  </a:rPr>
                  <a:t>=</a:t>
                </a:r>
                <a:endParaRPr lang="zh-CN" altLang="en-US" sz="2800" dirty="0">
                  <a:latin typeface="+mn-ea"/>
                </a:endParaRPr>
              </a:p>
            </p:txBody>
          </p:sp>
        </p:grpSp>
        <p:sp>
          <p:nvSpPr>
            <p:cNvPr id="28" name="文本框 27"/>
            <p:cNvSpPr txBox="1"/>
            <p:nvPr/>
          </p:nvSpPr>
          <p:spPr>
            <a:xfrm>
              <a:off x="2131359" y="4159647"/>
              <a:ext cx="9816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=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2131359" y="3589274"/>
              <a:ext cx="9816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*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2131359" y="3013304"/>
              <a:ext cx="9816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4959724" y="2782388"/>
            <a:ext cx="1508310" cy="2473096"/>
            <a:chOff x="1956547" y="3013304"/>
            <a:chExt cx="1337982" cy="2863060"/>
          </a:xfrm>
        </p:grpSpPr>
        <p:grpSp>
          <p:nvGrpSpPr>
            <p:cNvPr id="39" name="组合 38"/>
            <p:cNvGrpSpPr/>
            <p:nvPr/>
          </p:nvGrpSpPr>
          <p:grpSpPr>
            <a:xfrm>
              <a:off x="1956547" y="3287805"/>
              <a:ext cx="1337982" cy="2588559"/>
              <a:chOff x="2312894" y="3287806"/>
              <a:chExt cx="1337982" cy="2588559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2312894" y="3287806"/>
                <a:ext cx="1337982" cy="2588559"/>
                <a:chOff x="2312894" y="3287806"/>
                <a:chExt cx="1337982" cy="2588559"/>
              </a:xfrm>
            </p:grpSpPr>
            <p:cxnSp>
              <p:nvCxnSpPr>
                <p:cNvPr id="46" name="直接连接符 45"/>
                <p:cNvCxnSpPr/>
                <p:nvPr/>
              </p:nvCxnSpPr>
              <p:spPr bwMode="auto">
                <a:xfrm>
                  <a:off x="2312894" y="3287806"/>
                  <a:ext cx="0" cy="2588559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/>
                <p:cNvCxnSpPr/>
                <p:nvPr/>
              </p:nvCxnSpPr>
              <p:spPr bwMode="auto">
                <a:xfrm>
                  <a:off x="2312894" y="5876365"/>
                  <a:ext cx="1337982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8" name="直接连接符 47"/>
                <p:cNvCxnSpPr/>
                <p:nvPr/>
              </p:nvCxnSpPr>
              <p:spPr bwMode="auto">
                <a:xfrm flipV="1">
                  <a:off x="3650876" y="3287806"/>
                  <a:ext cx="0" cy="258855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44" name="文本框 43"/>
              <p:cNvSpPr txBox="1"/>
              <p:nvPr/>
            </p:nvSpPr>
            <p:spPr>
              <a:xfrm>
                <a:off x="2487706" y="5311588"/>
                <a:ext cx="9816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dirty="0">
                    <a:latin typeface="+mn-ea"/>
                  </a:rPr>
                  <a:t>式</a:t>
                </a:r>
                <a:r>
                  <a:rPr lang="en-US" altLang="zh-CN" sz="2800" dirty="0">
                    <a:latin typeface="+mn-ea"/>
                  </a:rPr>
                  <a:t>2</a:t>
                </a:r>
                <a:endParaRPr lang="zh-CN" altLang="en-US" sz="2800" dirty="0">
                  <a:latin typeface="+mn-ea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2487706" y="4735618"/>
                <a:ext cx="9816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+mn-ea"/>
                  </a:rPr>
                  <a:t>a</a:t>
                </a:r>
                <a:endParaRPr lang="zh-CN" altLang="en-US" sz="2800" dirty="0">
                  <a:latin typeface="+mn-ea"/>
                </a:endParaRPr>
              </a:p>
            </p:txBody>
          </p:sp>
        </p:grpSp>
        <p:sp>
          <p:nvSpPr>
            <p:cNvPr id="40" name="文本框 39"/>
            <p:cNvSpPr txBox="1"/>
            <p:nvPr/>
          </p:nvSpPr>
          <p:spPr>
            <a:xfrm>
              <a:off x="2131359" y="4159647"/>
              <a:ext cx="9816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b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003617" y="3589274"/>
              <a:ext cx="1290912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3*5(</a:t>
              </a:r>
              <a:r>
                <a:rPr lang="zh-CN" altLang="en-US" sz="2800" dirty="0">
                  <a:latin typeface="+mn-ea"/>
                </a:rPr>
                <a:t>式</a:t>
              </a:r>
              <a:r>
                <a:rPr lang="en-US" altLang="zh-CN" sz="2800" dirty="0">
                  <a:latin typeface="+mn-ea"/>
                </a:rPr>
                <a:t>3)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2131359" y="301330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6778473" y="2782388"/>
            <a:ext cx="1226681" cy="2473096"/>
            <a:chOff x="1956547" y="3013304"/>
            <a:chExt cx="1337982" cy="2863060"/>
          </a:xfrm>
        </p:grpSpPr>
        <p:grpSp>
          <p:nvGrpSpPr>
            <p:cNvPr id="50" name="组合 49"/>
            <p:cNvGrpSpPr/>
            <p:nvPr/>
          </p:nvGrpSpPr>
          <p:grpSpPr>
            <a:xfrm>
              <a:off x="1956547" y="3287805"/>
              <a:ext cx="1337982" cy="2588559"/>
              <a:chOff x="2312894" y="3287806"/>
              <a:chExt cx="1337982" cy="2588559"/>
            </a:xfrm>
          </p:grpSpPr>
          <p:grpSp>
            <p:nvGrpSpPr>
              <p:cNvPr id="54" name="组合 53"/>
              <p:cNvGrpSpPr/>
              <p:nvPr/>
            </p:nvGrpSpPr>
            <p:grpSpPr>
              <a:xfrm>
                <a:off x="2312894" y="3287806"/>
                <a:ext cx="1337982" cy="2588559"/>
                <a:chOff x="2312894" y="3287806"/>
                <a:chExt cx="1337982" cy="2588559"/>
              </a:xfrm>
            </p:grpSpPr>
            <p:cxnSp>
              <p:nvCxnSpPr>
                <p:cNvPr id="57" name="直接连接符 56"/>
                <p:cNvCxnSpPr/>
                <p:nvPr/>
              </p:nvCxnSpPr>
              <p:spPr bwMode="auto">
                <a:xfrm>
                  <a:off x="2312894" y="3287806"/>
                  <a:ext cx="0" cy="2588559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 57"/>
                <p:cNvCxnSpPr/>
                <p:nvPr/>
              </p:nvCxnSpPr>
              <p:spPr bwMode="auto">
                <a:xfrm>
                  <a:off x="2312894" y="5876365"/>
                  <a:ext cx="1337982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9" name="直接连接符 58"/>
                <p:cNvCxnSpPr/>
                <p:nvPr/>
              </p:nvCxnSpPr>
              <p:spPr bwMode="auto">
                <a:xfrm flipV="1">
                  <a:off x="3650876" y="3287806"/>
                  <a:ext cx="0" cy="258855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55" name="文本框 54"/>
              <p:cNvSpPr txBox="1"/>
              <p:nvPr/>
            </p:nvSpPr>
            <p:spPr>
              <a:xfrm>
                <a:off x="2487706" y="5311588"/>
                <a:ext cx="9816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dirty="0">
                    <a:latin typeface="+mn-ea"/>
                  </a:rPr>
                  <a:t> ，</a:t>
                </a:r>
                <a:endParaRPr lang="zh-CN" altLang="en-US" sz="2800" dirty="0">
                  <a:latin typeface="+mn-ea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2487706" y="4735618"/>
                <a:ext cx="9816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+mn-ea"/>
                  </a:rPr>
                  <a:t>=</a:t>
                </a:r>
                <a:endParaRPr lang="zh-CN" altLang="en-US" sz="2800" dirty="0">
                  <a:latin typeface="+mn-ea"/>
                </a:endParaRPr>
              </a:p>
            </p:txBody>
          </p:sp>
        </p:grpSp>
        <p:sp>
          <p:nvSpPr>
            <p:cNvPr id="51" name="文本框 50"/>
            <p:cNvSpPr txBox="1"/>
            <p:nvPr/>
          </p:nvSpPr>
          <p:spPr>
            <a:xfrm>
              <a:off x="2131359" y="4159647"/>
              <a:ext cx="9816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=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131359" y="358927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2131359" y="3013304"/>
              <a:ext cx="9816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</p:grpSp>
      <p:cxnSp>
        <p:nvCxnSpPr>
          <p:cNvPr id="60" name="直接箭头连接符 59"/>
          <p:cNvCxnSpPr/>
          <p:nvPr/>
        </p:nvCxnSpPr>
        <p:spPr bwMode="auto">
          <a:xfrm>
            <a:off x="3996870" y="4212271"/>
            <a:ext cx="746312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直接箭头连接符 60"/>
          <p:cNvCxnSpPr/>
          <p:nvPr/>
        </p:nvCxnSpPr>
        <p:spPr bwMode="auto">
          <a:xfrm>
            <a:off x="8237097" y="4270113"/>
            <a:ext cx="746312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文本框 7"/>
          <p:cNvSpPr txBox="1"/>
          <p:nvPr/>
        </p:nvSpPr>
        <p:spPr>
          <a:xfrm>
            <a:off x="934720" y="568642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 dirty="0">
                <a:latin typeface="+mn-ea"/>
                <a:sym typeface="+mn-ea"/>
              </a:rPr>
              <a:t>a = 2 * 4    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2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820332" y="552381"/>
            <a:ext cx="2339816" cy="2473096"/>
            <a:chOff x="1931522" y="3013304"/>
            <a:chExt cx="1520694" cy="2863060"/>
          </a:xfrm>
        </p:grpSpPr>
        <p:grpSp>
          <p:nvGrpSpPr>
            <p:cNvPr id="27" name="组合 26"/>
            <p:cNvGrpSpPr/>
            <p:nvPr/>
          </p:nvGrpSpPr>
          <p:grpSpPr>
            <a:xfrm>
              <a:off x="1956547" y="3287805"/>
              <a:ext cx="1337982" cy="2588559"/>
              <a:chOff x="2312894" y="3287806"/>
              <a:chExt cx="1337982" cy="2588559"/>
            </a:xfrm>
          </p:grpSpPr>
          <p:grpSp>
            <p:nvGrpSpPr>
              <p:cNvPr id="31" name="组合 30"/>
              <p:cNvGrpSpPr/>
              <p:nvPr/>
            </p:nvGrpSpPr>
            <p:grpSpPr>
              <a:xfrm>
                <a:off x="2312894" y="3287806"/>
                <a:ext cx="1337982" cy="2588559"/>
                <a:chOff x="2312894" y="3287806"/>
                <a:chExt cx="1337982" cy="2588559"/>
              </a:xfrm>
            </p:grpSpPr>
            <p:cxnSp>
              <p:nvCxnSpPr>
                <p:cNvPr id="34" name="直接连接符 33"/>
                <p:cNvCxnSpPr/>
                <p:nvPr/>
              </p:nvCxnSpPr>
              <p:spPr bwMode="auto">
                <a:xfrm>
                  <a:off x="2312894" y="3287806"/>
                  <a:ext cx="0" cy="2588559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/>
                <p:cNvCxnSpPr/>
                <p:nvPr/>
              </p:nvCxnSpPr>
              <p:spPr bwMode="auto">
                <a:xfrm>
                  <a:off x="2312894" y="5876365"/>
                  <a:ext cx="1337982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6" name="直接连接符 35"/>
                <p:cNvCxnSpPr/>
                <p:nvPr/>
              </p:nvCxnSpPr>
              <p:spPr bwMode="auto">
                <a:xfrm flipV="1">
                  <a:off x="3650876" y="3287806"/>
                  <a:ext cx="0" cy="258855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32" name="文本框 31"/>
              <p:cNvSpPr txBox="1"/>
              <p:nvPr/>
            </p:nvSpPr>
            <p:spPr>
              <a:xfrm>
                <a:off x="2487706" y="5311588"/>
                <a:ext cx="9816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dirty="0">
                    <a:latin typeface="+mn-ea"/>
                  </a:rPr>
                  <a:t>式</a:t>
                </a:r>
                <a:r>
                  <a:rPr lang="en-US" altLang="zh-CN" sz="2800" dirty="0">
                    <a:latin typeface="+mn-ea"/>
                  </a:rPr>
                  <a:t>2</a:t>
                </a:r>
                <a:endParaRPr lang="zh-CN" altLang="en-US" sz="2800" dirty="0">
                  <a:latin typeface="+mn-ea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2487706" y="4735618"/>
                <a:ext cx="9816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+mn-ea"/>
                  </a:rPr>
                  <a:t>a</a:t>
                </a:r>
                <a:endParaRPr lang="zh-CN" altLang="en-US" sz="2800" dirty="0">
                  <a:latin typeface="+mn-ea"/>
                </a:endParaRPr>
              </a:p>
            </p:txBody>
          </p:sp>
        </p:grpSp>
        <p:sp>
          <p:nvSpPr>
            <p:cNvPr id="28" name="文本框 27"/>
            <p:cNvSpPr txBox="1"/>
            <p:nvPr/>
          </p:nvSpPr>
          <p:spPr>
            <a:xfrm>
              <a:off x="1931522" y="4123993"/>
              <a:ext cx="152069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b=</a:t>
              </a:r>
              <a:r>
                <a:rPr lang="zh-CN" altLang="en-US" sz="2800" dirty="0">
                  <a:latin typeface="+mn-ea"/>
                </a:rPr>
                <a:t>式</a:t>
              </a:r>
              <a:r>
                <a:rPr lang="en-US" altLang="zh-CN" sz="2800" dirty="0">
                  <a:latin typeface="+mn-ea"/>
                </a:rPr>
                <a:t>3</a:t>
              </a:r>
              <a:r>
                <a:rPr lang="zh-CN" altLang="en-US" sz="2800" dirty="0">
                  <a:latin typeface="+mn-ea"/>
                </a:rPr>
                <a:t>（式</a:t>
              </a:r>
              <a:r>
                <a:rPr lang="en-US" altLang="zh-CN" sz="2800" dirty="0">
                  <a:latin typeface="+mn-ea"/>
                </a:rPr>
                <a:t>4</a:t>
              </a:r>
              <a:r>
                <a:rPr lang="zh-CN" altLang="en-US" sz="2800" dirty="0">
                  <a:latin typeface="+mn-ea"/>
                </a:rPr>
                <a:t>）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2003617" y="3589274"/>
              <a:ext cx="1290912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2131359" y="301330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307355" y="552381"/>
            <a:ext cx="1226681" cy="2473096"/>
            <a:chOff x="1956547" y="3013304"/>
            <a:chExt cx="1337982" cy="2863060"/>
          </a:xfrm>
        </p:grpSpPr>
        <p:grpSp>
          <p:nvGrpSpPr>
            <p:cNvPr id="38" name="组合 37"/>
            <p:cNvGrpSpPr/>
            <p:nvPr/>
          </p:nvGrpSpPr>
          <p:grpSpPr>
            <a:xfrm>
              <a:off x="1956547" y="3287805"/>
              <a:ext cx="1337982" cy="2588559"/>
              <a:chOff x="2312894" y="3287806"/>
              <a:chExt cx="1337982" cy="2588559"/>
            </a:xfrm>
          </p:grpSpPr>
          <p:grpSp>
            <p:nvGrpSpPr>
              <p:cNvPr id="42" name="组合 41"/>
              <p:cNvGrpSpPr/>
              <p:nvPr/>
            </p:nvGrpSpPr>
            <p:grpSpPr>
              <a:xfrm>
                <a:off x="2312894" y="3287806"/>
                <a:ext cx="1337982" cy="2588559"/>
                <a:chOff x="2312894" y="3287806"/>
                <a:chExt cx="1337982" cy="2588559"/>
              </a:xfrm>
            </p:grpSpPr>
            <p:cxnSp>
              <p:nvCxnSpPr>
                <p:cNvPr id="45" name="直接连接符 44"/>
                <p:cNvCxnSpPr/>
                <p:nvPr/>
              </p:nvCxnSpPr>
              <p:spPr bwMode="auto">
                <a:xfrm>
                  <a:off x="2312894" y="3287806"/>
                  <a:ext cx="0" cy="2588559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/>
                <p:cNvCxnSpPr/>
                <p:nvPr/>
              </p:nvCxnSpPr>
              <p:spPr bwMode="auto">
                <a:xfrm>
                  <a:off x="2312894" y="5876365"/>
                  <a:ext cx="1337982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7" name="直接连接符 46"/>
                <p:cNvCxnSpPr/>
                <p:nvPr/>
              </p:nvCxnSpPr>
              <p:spPr bwMode="auto">
                <a:xfrm flipV="1">
                  <a:off x="3650876" y="3287806"/>
                  <a:ext cx="0" cy="258855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43" name="文本框 42"/>
              <p:cNvSpPr txBox="1"/>
              <p:nvPr/>
            </p:nvSpPr>
            <p:spPr>
              <a:xfrm>
                <a:off x="2487706" y="5311588"/>
                <a:ext cx="9816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dirty="0">
                    <a:latin typeface="+mn-ea"/>
                  </a:rPr>
                  <a:t> ，</a:t>
                </a:r>
                <a:endParaRPr lang="zh-CN" altLang="en-US" sz="2800" dirty="0">
                  <a:latin typeface="+mn-ea"/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2487706" y="4735618"/>
                <a:ext cx="9816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+mn-ea"/>
                  </a:rPr>
                  <a:t>=</a:t>
                </a:r>
                <a:endParaRPr lang="zh-CN" altLang="en-US" sz="2800" dirty="0">
                  <a:latin typeface="+mn-ea"/>
                </a:endParaRPr>
              </a:p>
            </p:txBody>
          </p:sp>
        </p:grpSp>
        <p:sp>
          <p:nvSpPr>
            <p:cNvPr id="39" name="文本框 38"/>
            <p:cNvSpPr txBox="1"/>
            <p:nvPr/>
          </p:nvSpPr>
          <p:spPr>
            <a:xfrm>
              <a:off x="2131359" y="4159647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31359" y="358927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131359" y="3013304"/>
              <a:ext cx="9816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5761662" y="588277"/>
            <a:ext cx="2339816" cy="2473096"/>
            <a:chOff x="1931522" y="3013304"/>
            <a:chExt cx="1520694" cy="2863060"/>
          </a:xfrm>
        </p:grpSpPr>
        <p:grpSp>
          <p:nvGrpSpPr>
            <p:cNvPr id="72" name="组合 71"/>
            <p:cNvGrpSpPr/>
            <p:nvPr/>
          </p:nvGrpSpPr>
          <p:grpSpPr>
            <a:xfrm>
              <a:off x="1956547" y="3287805"/>
              <a:ext cx="1462268" cy="2588559"/>
              <a:chOff x="2312894" y="3287806"/>
              <a:chExt cx="1462268" cy="2588559"/>
            </a:xfrm>
          </p:grpSpPr>
          <p:grpSp>
            <p:nvGrpSpPr>
              <p:cNvPr id="76" name="组合 75"/>
              <p:cNvGrpSpPr/>
              <p:nvPr/>
            </p:nvGrpSpPr>
            <p:grpSpPr>
              <a:xfrm>
                <a:off x="2312894" y="3287806"/>
                <a:ext cx="1337982" cy="2588559"/>
                <a:chOff x="2312894" y="3287806"/>
                <a:chExt cx="1337982" cy="2588559"/>
              </a:xfrm>
            </p:grpSpPr>
            <p:cxnSp>
              <p:nvCxnSpPr>
                <p:cNvPr id="79" name="直接连接符 78"/>
                <p:cNvCxnSpPr/>
                <p:nvPr/>
              </p:nvCxnSpPr>
              <p:spPr bwMode="auto">
                <a:xfrm>
                  <a:off x="2312894" y="3287806"/>
                  <a:ext cx="0" cy="2588559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接连接符 79"/>
                <p:cNvCxnSpPr/>
                <p:nvPr/>
              </p:nvCxnSpPr>
              <p:spPr bwMode="auto">
                <a:xfrm>
                  <a:off x="2312894" y="5876365"/>
                  <a:ext cx="1337982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81" name="直接连接符 80"/>
                <p:cNvCxnSpPr/>
                <p:nvPr/>
              </p:nvCxnSpPr>
              <p:spPr bwMode="auto">
                <a:xfrm flipV="1">
                  <a:off x="3650876" y="3287806"/>
                  <a:ext cx="0" cy="258855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77" name="文本框 76"/>
              <p:cNvSpPr txBox="1"/>
              <p:nvPr/>
            </p:nvSpPr>
            <p:spPr>
              <a:xfrm>
                <a:off x="2487706" y="5311588"/>
                <a:ext cx="9816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dirty="0">
                    <a:latin typeface="+mn-ea"/>
                  </a:rPr>
                  <a:t>式</a:t>
                </a:r>
                <a:r>
                  <a:rPr lang="en-US" altLang="zh-CN" sz="2800" dirty="0">
                    <a:latin typeface="+mn-ea"/>
                  </a:rPr>
                  <a:t>2</a:t>
                </a:r>
                <a:endParaRPr lang="zh-CN" altLang="en-US" sz="2800" dirty="0">
                  <a:latin typeface="+mn-ea"/>
                </a:endParaRPr>
              </a:p>
            </p:txBody>
          </p:sp>
          <p:sp>
            <p:nvSpPr>
              <p:cNvPr id="78" name="文本框 77"/>
              <p:cNvSpPr txBox="1"/>
              <p:nvPr/>
            </p:nvSpPr>
            <p:spPr>
              <a:xfrm>
                <a:off x="2321270" y="4735618"/>
                <a:ext cx="1453892" cy="605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+mn-ea"/>
                  </a:rPr>
                  <a:t>a=</a:t>
                </a:r>
                <a:r>
                  <a:rPr lang="zh-CN" altLang="en-US" sz="2800" dirty="0">
                    <a:latin typeface="+mn-ea"/>
                  </a:rPr>
                  <a:t>式</a:t>
                </a:r>
                <a:r>
                  <a:rPr lang="en-US" altLang="zh-CN" sz="2800" dirty="0">
                    <a:latin typeface="+mn-ea"/>
                  </a:rPr>
                  <a:t>4</a:t>
                </a:r>
                <a:r>
                  <a:rPr lang="zh-CN" altLang="en-US" sz="2800" dirty="0">
                    <a:latin typeface="+mn-ea"/>
                  </a:rPr>
                  <a:t>（式</a:t>
                </a:r>
                <a:r>
                  <a:rPr lang="en-US" altLang="zh-CN" sz="2800" dirty="0">
                    <a:latin typeface="+mn-ea"/>
                  </a:rPr>
                  <a:t>5</a:t>
                </a:r>
                <a:r>
                  <a:rPr lang="zh-CN" altLang="en-US" sz="2800" dirty="0">
                    <a:latin typeface="+mn-ea"/>
                  </a:rPr>
                  <a:t>）</a:t>
                </a:r>
                <a:endParaRPr lang="zh-CN" altLang="en-US" sz="2800" dirty="0">
                  <a:latin typeface="+mn-ea"/>
                </a:endParaRPr>
              </a:p>
            </p:txBody>
          </p:sp>
        </p:grpSp>
        <p:sp>
          <p:nvSpPr>
            <p:cNvPr id="73" name="文本框 72"/>
            <p:cNvSpPr txBox="1"/>
            <p:nvPr/>
          </p:nvSpPr>
          <p:spPr>
            <a:xfrm>
              <a:off x="1931522" y="4123993"/>
              <a:ext cx="152069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2003617" y="3589274"/>
              <a:ext cx="1290912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2131359" y="301330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8248685" y="588277"/>
            <a:ext cx="1226681" cy="2473096"/>
            <a:chOff x="1956547" y="3013304"/>
            <a:chExt cx="1337982" cy="2863060"/>
          </a:xfrm>
        </p:grpSpPr>
        <p:grpSp>
          <p:nvGrpSpPr>
            <p:cNvPr id="83" name="组合 82"/>
            <p:cNvGrpSpPr/>
            <p:nvPr/>
          </p:nvGrpSpPr>
          <p:grpSpPr>
            <a:xfrm>
              <a:off x="1956547" y="3287805"/>
              <a:ext cx="1337982" cy="2588559"/>
              <a:chOff x="2312894" y="3287806"/>
              <a:chExt cx="1337982" cy="2588559"/>
            </a:xfrm>
          </p:grpSpPr>
          <p:grpSp>
            <p:nvGrpSpPr>
              <p:cNvPr id="87" name="组合 86"/>
              <p:cNvGrpSpPr/>
              <p:nvPr/>
            </p:nvGrpSpPr>
            <p:grpSpPr>
              <a:xfrm>
                <a:off x="2312894" y="3287806"/>
                <a:ext cx="1337982" cy="2588559"/>
                <a:chOff x="2312894" y="3287806"/>
                <a:chExt cx="1337982" cy="2588559"/>
              </a:xfrm>
            </p:grpSpPr>
            <p:cxnSp>
              <p:nvCxnSpPr>
                <p:cNvPr id="90" name="直接连接符 89"/>
                <p:cNvCxnSpPr/>
                <p:nvPr/>
              </p:nvCxnSpPr>
              <p:spPr bwMode="auto">
                <a:xfrm>
                  <a:off x="2312894" y="3287806"/>
                  <a:ext cx="0" cy="2588559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直接连接符 90"/>
                <p:cNvCxnSpPr/>
                <p:nvPr/>
              </p:nvCxnSpPr>
              <p:spPr bwMode="auto">
                <a:xfrm>
                  <a:off x="2312894" y="5876365"/>
                  <a:ext cx="1337982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2" name="直接连接符 91"/>
                <p:cNvCxnSpPr/>
                <p:nvPr/>
              </p:nvCxnSpPr>
              <p:spPr bwMode="auto">
                <a:xfrm flipV="1">
                  <a:off x="3650876" y="3287806"/>
                  <a:ext cx="0" cy="258855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88" name="文本框 87"/>
              <p:cNvSpPr txBox="1"/>
              <p:nvPr/>
            </p:nvSpPr>
            <p:spPr>
              <a:xfrm>
                <a:off x="2487706" y="5311588"/>
                <a:ext cx="9816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dirty="0">
                    <a:latin typeface="+mn-ea"/>
                  </a:rPr>
                  <a:t> ，</a:t>
                </a:r>
                <a:endParaRPr lang="zh-CN" altLang="en-US" sz="2800" dirty="0">
                  <a:latin typeface="+mn-ea"/>
                </a:endParaRPr>
              </a:p>
            </p:txBody>
          </p:sp>
          <p:sp>
            <p:nvSpPr>
              <p:cNvPr id="89" name="文本框 88"/>
              <p:cNvSpPr txBox="1"/>
              <p:nvPr/>
            </p:nvSpPr>
            <p:spPr>
              <a:xfrm>
                <a:off x="2487706" y="4735618"/>
                <a:ext cx="981634" cy="605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zh-CN" altLang="en-US" sz="2800" dirty="0">
                  <a:latin typeface="+mn-ea"/>
                </a:endParaRPr>
              </a:p>
            </p:txBody>
          </p:sp>
        </p:grpSp>
        <p:sp>
          <p:nvSpPr>
            <p:cNvPr id="84" name="文本框 83"/>
            <p:cNvSpPr txBox="1"/>
            <p:nvPr/>
          </p:nvSpPr>
          <p:spPr>
            <a:xfrm>
              <a:off x="2131359" y="4159647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2131359" y="358927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2131359" y="3013304"/>
              <a:ext cx="9816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3297651" y="3747771"/>
            <a:ext cx="2339816" cy="2473096"/>
            <a:chOff x="1931522" y="3013304"/>
            <a:chExt cx="1520694" cy="2863060"/>
          </a:xfrm>
        </p:grpSpPr>
        <p:grpSp>
          <p:nvGrpSpPr>
            <p:cNvPr id="94" name="组合 93"/>
            <p:cNvGrpSpPr/>
            <p:nvPr/>
          </p:nvGrpSpPr>
          <p:grpSpPr>
            <a:xfrm>
              <a:off x="1956547" y="3287805"/>
              <a:ext cx="1337982" cy="2588559"/>
              <a:chOff x="2312894" y="3287806"/>
              <a:chExt cx="1337982" cy="2588559"/>
            </a:xfrm>
          </p:grpSpPr>
          <p:grpSp>
            <p:nvGrpSpPr>
              <p:cNvPr id="98" name="组合 97"/>
              <p:cNvGrpSpPr/>
              <p:nvPr/>
            </p:nvGrpSpPr>
            <p:grpSpPr>
              <a:xfrm>
                <a:off x="2312894" y="3287806"/>
                <a:ext cx="1337982" cy="2588559"/>
                <a:chOff x="2312894" y="3287806"/>
                <a:chExt cx="1337982" cy="2588559"/>
              </a:xfrm>
            </p:grpSpPr>
            <p:cxnSp>
              <p:nvCxnSpPr>
                <p:cNvPr id="101" name="直接连接符 100"/>
                <p:cNvCxnSpPr/>
                <p:nvPr/>
              </p:nvCxnSpPr>
              <p:spPr bwMode="auto">
                <a:xfrm>
                  <a:off x="2312894" y="3287806"/>
                  <a:ext cx="0" cy="2588559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直接连接符 101"/>
                <p:cNvCxnSpPr/>
                <p:nvPr/>
              </p:nvCxnSpPr>
              <p:spPr bwMode="auto">
                <a:xfrm>
                  <a:off x="2312894" y="5876365"/>
                  <a:ext cx="1337982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3" name="直接连接符 102"/>
                <p:cNvCxnSpPr/>
                <p:nvPr/>
              </p:nvCxnSpPr>
              <p:spPr bwMode="auto">
                <a:xfrm flipV="1">
                  <a:off x="3650876" y="3287806"/>
                  <a:ext cx="0" cy="258855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99" name="文本框 98"/>
              <p:cNvSpPr txBox="1"/>
              <p:nvPr/>
            </p:nvSpPr>
            <p:spPr>
              <a:xfrm>
                <a:off x="2417057" y="5163698"/>
                <a:ext cx="1163168" cy="605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dirty="0">
                    <a:latin typeface="+mn-ea"/>
                  </a:rPr>
                  <a:t>式</a:t>
                </a:r>
                <a:r>
                  <a:rPr lang="en-US" altLang="zh-CN" sz="2800" dirty="0">
                    <a:latin typeface="+mn-ea"/>
                  </a:rPr>
                  <a:t>2</a:t>
                </a:r>
                <a:r>
                  <a:rPr lang="zh-CN" altLang="en-US" sz="2800" dirty="0">
                    <a:latin typeface="+mn-ea"/>
                  </a:rPr>
                  <a:t>，式</a:t>
                </a:r>
                <a:r>
                  <a:rPr lang="en-US" altLang="zh-CN" sz="2800" dirty="0">
                    <a:latin typeface="+mn-ea"/>
                  </a:rPr>
                  <a:t>5</a:t>
                </a:r>
                <a:endParaRPr lang="zh-CN" altLang="en-US" sz="2800" dirty="0">
                  <a:latin typeface="+mn-ea"/>
                </a:endParaRPr>
              </a:p>
            </p:txBody>
          </p:sp>
          <p:sp>
            <p:nvSpPr>
              <p:cNvPr id="100" name="文本框 99"/>
              <p:cNvSpPr txBox="1"/>
              <p:nvPr/>
            </p:nvSpPr>
            <p:spPr>
              <a:xfrm>
                <a:off x="2487706" y="4735618"/>
                <a:ext cx="981634" cy="605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zh-CN" altLang="en-US" sz="2800" dirty="0">
                  <a:latin typeface="+mn-ea"/>
                </a:endParaRPr>
              </a:p>
            </p:txBody>
          </p:sp>
        </p:grpSp>
        <p:sp>
          <p:nvSpPr>
            <p:cNvPr id="95" name="文本框 94"/>
            <p:cNvSpPr txBox="1"/>
            <p:nvPr/>
          </p:nvSpPr>
          <p:spPr>
            <a:xfrm>
              <a:off x="1931522" y="4123993"/>
              <a:ext cx="152069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2003617" y="3589274"/>
              <a:ext cx="1290912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2131359" y="301330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5784674" y="3747771"/>
            <a:ext cx="1226681" cy="2508465"/>
            <a:chOff x="1956547" y="3013304"/>
            <a:chExt cx="1337982" cy="2904006"/>
          </a:xfrm>
        </p:grpSpPr>
        <p:grpSp>
          <p:nvGrpSpPr>
            <p:cNvPr id="105" name="组合 104"/>
            <p:cNvGrpSpPr/>
            <p:nvPr/>
          </p:nvGrpSpPr>
          <p:grpSpPr>
            <a:xfrm>
              <a:off x="1956547" y="3287805"/>
              <a:ext cx="1337982" cy="2629505"/>
              <a:chOff x="2312894" y="3287806"/>
              <a:chExt cx="1337982" cy="2629505"/>
            </a:xfrm>
          </p:grpSpPr>
          <p:grpSp>
            <p:nvGrpSpPr>
              <p:cNvPr id="109" name="组合 108"/>
              <p:cNvGrpSpPr/>
              <p:nvPr/>
            </p:nvGrpSpPr>
            <p:grpSpPr>
              <a:xfrm>
                <a:off x="2312894" y="3287806"/>
                <a:ext cx="1337982" cy="2588559"/>
                <a:chOff x="2312894" y="3287806"/>
                <a:chExt cx="1337982" cy="2588559"/>
              </a:xfrm>
            </p:grpSpPr>
            <p:cxnSp>
              <p:nvCxnSpPr>
                <p:cNvPr id="112" name="直接连接符 111"/>
                <p:cNvCxnSpPr/>
                <p:nvPr/>
              </p:nvCxnSpPr>
              <p:spPr bwMode="auto">
                <a:xfrm>
                  <a:off x="2312894" y="3287806"/>
                  <a:ext cx="0" cy="2588559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直接连接符 112"/>
                <p:cNvCxnSpPr/>
                <p:nvPr/>
              </p:nvCxnSpPr>
              <p:spPr bwMode="auto">
                <a:xfrm>
                  <a:off x="2312894" y="5876365"/>
                  <a:ext cx="1337982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14" name="直接连接符 113"/>
                <p:cNvCxnSpPr/>
                <p:nvPr/>
              </p:nvCxnSpPr>
              <p:spPr bwMode="auto">
                <a:xfrm flipV="1">
                  <a:off x="3650876" y="3287806"/>
                  <a:ext cx="0" cy="258855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110" name="文本框 109"/>
              <p:cNvSpPr txBox="1"/>
              <p:nvPr/>
            </p:nvSpPr>
            <p:spPr>
              <a:xfrm>
                <a:off x="2487706" y="5311588"/>
                <a:ext cx="981634" cy="605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dirty="0">
                    <a:latin typeface="+mn-ea"/>
                  </a:rPr>
                  <a:t> </a:t>
                </a:r>
                <a:endParaRPr lang="zh-CN" altLang="en-US" sz="2800" dirty="0">
                  <a:latin typeface="+mn-ea"/>
                </a:endParaRPr>
              </a:p>
            </p:txBody>
          </p:sp>
          <p:sp>
            <p:nvSpPr>
              <p:cNvPr id="111" name="文本框 110"/>
              <p:cNvSpPr txBox="1"/>
              <p:nvPr/>
            </p:nvSpPr>
            <p:spPr>
              <a:xfrm>
                <a:off x="2487706" y="4735618"/>
                <a:ext cx="981634" cy="605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zh-CN" altLang="en-US" sz="2800" dirty="0">
                  <a:latin typeface="+mn-ea"/>
                </a:endParaRPr>
              </a:p>
            </p:txBody>
          </p:sp>
        </p:grpSp>
        <p:sp>
          <p:nvSpPr>
            <p:cNvPr id="106" name="文本框 105"/>
            <p:cNvSpPr txBox="1"/>
            <p:nvPr/>
          </p:nvSpPr>
          <p:spPr>
            <a:xfrm>
              <a:off x="2131359" y="4159647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2131359" y="358927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2131359" y="3013304"/>
              <a:ext cx="9816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</p:grpSp>
      <p:cxnSp>
        <p:nvCxnSpPr>
          <p:cNvPr id="116" name="直接箭头连接符 115"/>
          <p:cNvCxnSpPr/>
          <p:nvPr/>
        </p:nvCxnSpPr>
        <p:spPr bwMode="auto">
          <a:xfrm>
            <a:off x="4773706" y="2035008"/>
            <a:ext cx="746312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7" name="直接箭头连接符 116"/>
          <p:cNvCxnSpPr/>
          <p:nvPr/>
        </p:nvCxnSpPr>
        <p:spPr bwMode="auto">
          <a:xfrm>
            <a:off x="2171211" y="5102875"/>
            <a:ext cx="746312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 a</a:t>
            </a:r>
            <a:r>
              <a:rPr lang="pt-BR" altLang="zh-CN" sz="1600" b="1" dirty="0">
                <a:latin typeface="+mn-ea"/>
              </a:rPr>
              <a:t> + (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pt-BR" altLang="zh-CN" sz="1600" b="1" dirty="0">
                <a:latin typeface="+mn-ea"/>
              </a:rPr>
              <a:t> + 3 *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+ 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pt-BR" altLang="zh-CN" sz="1600" b="1" dirty="0">
                <a:latin typeface="+mn-ea"/>
              </a:rPr>
              <a:t>) - 5) % 4   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pt-BR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本题提示：将左右小括号分开处理，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进栈前</a:t>
            </a:r>
            <a:r>
              <a:rPr lang="zh-CN" altLang="en-US" sz="1600" b="1" dirty="0">
                <a:latin typeface="+mn-ea"/>
              </a:rPr>
              <a:t>优先级最高，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进栈后</a:t>
            </a:r>
            <a:r>
              <a:rPr lang="zh-CN" altLang="en-US" sz="1600" b="1" dirty="0">
                <a:latin typeface="+mn-ea"/>
              </a:rPr>
              <a:t>优先级最低；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")"</a:t>
            </a:r>
            <a:r>
              <a:rPr lang="zh-CN" altLang="en-US" sz="1600" b="1" dirty="0">
                <a:latin typeface="+mn-ea"/>
              </a:rPr>
              <a:t>优先级最低，因此要将栈中压在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之上的全部运算符都计算完成，随后和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成对消除即可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表达式一共有</a:t>
            </a:r>
            <a:r>
              <a:rPr lang="en-US" altLang="zh-CN" sz="1600" b="1" u="sng" dirty="0">
                <a:latin typeface="+mn-ea"/>
              </a:rPr>
              <a:t>__10__</a:t>
            </a:r>
            <a:r>
              <a:rPr lang="zh-CN" altLang="en-US" sz="1600" b="1" dirty="0">
                <a:latin typeface="+mn-ea"/>
              </a:rPr>
              <a:t>个运算符，因此计算的</a:t>
            </a:r>
            <a:r>
              <a:rPr lang="en-US" altLang="zh-CN" sz="1600" b="1" u="sng" dirty="0">
                <a:latin typeface="+mn-ea"/>
              </a:rPr>
              <a:t>__10__</a:t>
            </a:r>
            <a:r>
              <a:rPr lang="zh-CN" altLang="en-US" sz="1600" b="1" dirty="0">
                <a:latin typeface="+mn-ea"/>
              </a:rPr>
              <a:t>个步骤分别是：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步骤①： b+c       =&gt;  式1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步骤②： 式1）     =&gt;  式2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步骤③：（式2      =&gt;  式3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步骤④： 3 * 式3    =&gt;  式4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步骤⑤： a + 式4    =&gt;  式5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步骤⑥： 式5 - 5    =&gt;  式6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步骤⑦： 式6）    =&gt;  式7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步骤⑧：（式7      =&gt;  式8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步骤⑨： 式8 % 4    =&gt;  式9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步骤⑩： a + 式9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340" y="162560"/>
            <a:ext cx="11880850" cy="6462395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 a</a:t>
            </a:r>
            <a:r>
              <a:rPr lang="pt-BR" altLang="zh-CN" sz="1600" b="1" dirty="0">
                <a:latin typeface="+mn-ea"/>
              </a:rPr>
              <a:t> + (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pt-BR" altLang="zh-CN" sz="1600" b="1" dirty="0">
                <a:latin typeface="+mn-ea"/>
              </a:rPr>
              <a:t> + 3 *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+ 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pt-BR" altLang="zh-CN" sz="1600" b="1" dirty="0">
                <a:latin typeface="+mn-ea"/>
              </a:rPr>
              <a:t>) - 5) % 4   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pt-BR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本题提示：将左右小括号分开处理，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进栈前</a:t>
            </a:r>
            <a:r>
              <a:rPr lang="zh-CN" altLang="en-US" sz="1600" b="1" dirty="0">
                <a:latin typeface="+mn-ea"/>
              </a:rPr>
              <a:t>优先级最高，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进栈后</a:t>
            </a:r>
            <a:r>
              <a:rPr lang="zh-CN" altLang="en-US" sz="1600" b="1" dirty="0">
                <a:latin typeface="+mn-ea"/>
              </a:rPr>
              <a:t>优先级最低；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")"</a:t>
            </a:r>
            <a:r>
              <a:rPr lang="zh-CN" altLang="en-US" sz="1600" b="1" dirty="0">
                <a:latin typeface="+mn-ea"/>
              </a:rPr>
              <a:t>优先级最低，因此要将栈中压在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之上的全部运算符都计算完成，随后和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成对消除即可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目前准备进栈的运算符如箭头所示，画出当前运算数栈和运算符栈的状态（本页需要画栈）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Line 15"/>
          <p:cNvSpPr>
            <a:spLocks noChangeShapeType="1"/>
          </p:cNvSpPr>
          <p:nvPr/>
        </p:nvSpPr>
        <p:spPr bwMode="auto">
          <a:xfrm>
            <a:off x="2675601" y="1005910"/>
            <a:ext cx="12551" cy="36844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62260" y="3303641"/>
            <a:ext cx="1226681" cy="2508465"/>
            <a:chOff x="1956547" y="3013304"/>
            <a:chExt cx="1337982" cy="2904006"/>
          </a:xfrm>
        </p:grpSpPr>
        <p:grpSp>
          <p:nvGrpSpPr>
            <p:cNvPr id="5" name="组合 4"/>
            <p:cNvGrpSpPr/>
            <p:nvPr/>
          </p:nvGrpSpPr>
          <p:grpSpPr>
            <a:xfrm>
              <a:off x="1956547" y="3287805"/>
              <a:ext cx="1337982" cy="2629505"/>
              <a:chOff x="2312894" y="3287806"/>
              <a:chExt cx="1337982" cy="2629505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2312894" y="3287806"/>
                <a:ext cx="1337982" cy="2588559"/>
                <a:chOff x="2312894" y="3287806"/>
                <a:chExt cx="1337982" cy="2588559"/>
              </a:xfrm>
            </p:grpSpPr>
            <p:cxnSp>
              <p:nvCxnSpPr>
                <p:cNvPr id="12" name="直接连接符 11"/>
                <p:cNvCxnSpPr/>
                <p:nvPr/>
              </p:nvCxnSpPr>
              <p:spPr bwMode="auto">
                <a:xfrm>
                  <a:off x="2312894" y="3287806"/>
                  <a:ext cx="0" cy="2588559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连接符 12"/>
                <p:cNvCxnSpPr/>
                <p:nvPr/>
              </p:nvCxnSpPr>
              <p:spPr bwMode="auto">
                <a:xfrm>
                  <a:off x="2312894" y="5876365"/>
                  <a:ext cx="1337982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4" name="直接连接符 13"/>
                <p:cNvCxnSpPr/>
                <p:nvPr/>
              </p:nvCxnSpPr>
              <p:spPr bwMode="auto">
                <a:xfrm flipV="1">
                  <a:off x="3650876" y="3287806"/>
                  <a:ext cx="0" cy="258855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10" name="文本框 9"/>
              <p:cNvSpPr txBox="1"/>
              <p:nvPr/>
            </p:nvSpPr>
            <p:spPr>
              <a:xfrm>
                <a:off x="2487706" y="5311588"/>
                <a:ext cx="981634" cy="605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+mn-ea"/>
                  </a:rPr>
                  <a:t>a</a:t>
                </a:r>
                <a:endParaRPr lang="zh-CN" altLang="en-US" sz="2800" dirty="0">
                  <a:latin typeface="+mn-ea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487706" y="4735618"/>
                <a:ext cx="9816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+mn-ea"/>
                  </a:rPr>
                  <a:t>a</a:t>
                </a:r>
                <a:endParaRPr lang="zh-CN" altLang="en-US" sz="2800" dirty="0">
                  <a:latin typeface="+mn-ea"/>
                </a:endParaRPr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2131359" y="4159647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3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131359" y="358927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b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131359" y="301330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687113" y="3295626"/>
            <a:ext cx="1226681" cy="2516480"/>
            <a:chOff x="1956547" y="3004025"/>
            <a:chExt cx="1337982" cy="2913285"/>
          </a:xfrm>
        </p:grpSpPr>
        <p:grpSp>
          <p:nvGrpSpPr>
            <p:cNvPr id="16" name="组合 15"/>
            <p:cNvGrpSpPr/>
            <p:nvPr/>
          </p:nvGrpSpPr>
          <p:grpSpPr>
            <a:xfrm>
              <a:off x="1956547" y="3287805"/>
              <a:ext cx="1337982" cy="2629505"/>
              <a:chOff x="2312894" y="3287806"/>
              <a:chExt cx="1337982" cy="2629505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2312894" y="3287806"/>
                <a:ext cx="1337982" cy="2588559"/>
                <a:chOff x="2312894" y="3287806"/>
                <a:chExt cx="1337982" cy="2588559"/>
              </a:xfrm>
            </p:grpSpPr>
            <p:cxnSp>
              <p:nvCxnSpPr>
                <p:cNvPr id="23" name="直接连接符 22"/>
                <p:cNvCxnSpPr/>
                <p:nvPr/>
              </p:nvCxnSpPr>
              <p:spPr bwMode="auto">
                <a:xfrm>
                  <a:off x="2312894" y="3287806"/>
                  <a:ext cx="0" cy="2588559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 bwMode="auto">
                <a:xfrm>
                  <a:off x="2312894" y="5876365"/>
                  <a:ext cx="1337982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5" name="直接连接符 24"/>
                <p:cNvCxnSpPr/>
                <p:nvPr/>
              </p:nvCxnSpPr>
              <p:spPr bwMode="auto">
                <a:xfrm flipV="1">
                  <a:off x="3650876" y="3287806"/>
                  <a:ext cx="0" cy="258855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21" name="文本框 20"/>
              <p:cNvSpPr txBox="1"/>
              <p:nvPr/>
            </p:nvSpPr>
            <p:spPr>
              <a:xfrm>
                <a:off x="2487706" y="5311588"/>
                <a:ext cx="981634" cy="605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+mn-ea"/>
                  </a:rPr>
                  <a:t>+</a:t>
                </a:r>
                <a:endParaRPr lang="zh-CN" altLang="en-US" sz="2800" dirty="0">
                  <a:latin typeface="+mn-ea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2390586" y="4741215"/>
                <a:ext cx="981634" cy="605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dirty="0">
                    <a:latin typeface="+mn-ea"/>
                  </a:rPr>
                  <a:t>（</a:t>
                </a:r>
                <a:endParaRPr lang="zh-CN" altLang="en-US" sz="2800" dirty="0">
                  <a:latin typeface="+mn-ea"/>
                </a:endParaRPr>
              </a:p>
            </p:txBody>
          </p:sp>
        </p:grpSp>
        <p:sp>
          <p:nvSpPr>
            <p:cNvPr id="17" name="文本框 16"/>
            <p:cNvSpPr txBox="1"/>
            <p:nvPr/>
          </p:nvSpPr>
          <p:spPr>
            <a:xfrm>
              <a:off x="2131359" y="4159647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+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131359" y="358927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*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034239" y="3004025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dirty="0">
                  <a:latin typeface="+mn-ea"/>
                </a:rPr>
                <a:t>（</a:t>
              </a:r>
              <a:endParaRPr lang="zh-CN" altLang="en-US" sz="2800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 a</a:t>
            </a:r>
            <a:r>
              <a:rPr lang="pt-BR" altLang="zh-CN" sz="1600" b="1" dirty="0">
                <a:latin typeface="+mn-ea"/>
              </a:rPr>
              <a:t> + (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pt-BR" altLang="zh-CN" sz="1600" b="1" dirty="0">
                <a:latin typeface="+mn-ea"/>
              </a:rPr>
              <a:t> + 3 *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+ 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pt-BR" altLang="zh-CN" sz="1600" b="1" dirty="0">
                <a:latin typeface="+mn-ea"/>
              </a:rPr>
              <a:t>) - 5) % 4   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pt-BR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本题提示：将左右小括号分开处理，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进栈前</a:t>
            </a:r>
            <a:r>
              <a:rPr lang="zh-CN" altLang="en-US" sz="1600" b="1" dirty="0">
                <a:latin typeface="+mn-ea"/>
              </a:rPr>
              <a:t>优先级最高，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进栈后</a:t>
            </a:r>
            <a:r>
              <a:rPr lang="zh-CN" altLang="en-US" sz="1600" b="1" dirty="0">
                <a:latin typeface="+mn-ea"/>
              </a:rPr>
              <a:t>优先级最低；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")"</a:t>
            </a:r>
            <a:r>
              <a:rPr lang="zh-CN" altLang="en-US" sz="1600" b="1" dirty="0">
                <a:latin typeface="+mn-ea"/>
              </a:rPr>
              <a:t>优先级最低，因此要将栈中压在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之上的全部运算符都计算完成，随后和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成对消除即可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目前准备进栈的运算符如箭头所示，画出当前运算数栈和运算符栈的状态（本页需要画栈）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Line 15"/>
          <p:cNvSpPr>
            <a:spLocks noChangeShapeType="1"/>
          </p:cNvSpPr>
          <p:nvPr/>
        </p:nvSpPr>
        <p:spPr bwMode="auto">
          <a:xfrm>
            <a:off x="3488400" y="983332"/>
            <a:ext cx="12551" cy="36844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2062260" y="3303641"/>
            <a:ext cx="1226681" cy="2508465"/>
            <a:chOff x="1956547" y="3013304"/>
            <a:chExt cx="1337982" cy="2904006"/>
          </a:xfrm>
        </p:grpSpPr>
        <p:grpSp>
          <p:nvGrpSpPr>
            <p:cNvPr id="27" name="组合 26"/>
            <p:cNvGrpSpPr/>
            <p:nvPr/>
          </p:nvGrpSpPr>
          <p:grpSpPr>
            <a:xfrm>
              <a:off x="1956547" y="3287805"/>
              <a:ext cx="1337982" cy="2629505"/>
              <a:chOff x="2312894" y="3287806"/>
              <a:chExt cx="1337982" cy="2629505"/>
            </a:xfrm>
          </p:grpSpPr>
          <p:grpSp>
            <p:nvGrpSpPr>
              <p:cNvPr id="31" name="组合 30"/>
              <p:cNvGrpSpPr/>
              <p:nvPr/>
            </p:nvGrpSpPr>
            <p:grpSpPr>
              <a:xfrm>
                <a:off x="2312894" y="3287806"/>
                <a:ext cx="1337982" cy="2588559"/>
                <a:chOff x="2312894" y="3287806"/>
                <a:chExt cx="1337982" cy="2588559"/>
              </a:xfrm>
            </p:grpSpPr>
            <p:cxnSp>
              <p:nvCxnSpPr>
                <p:cNvPr id="34" name="直接连接符 33"/>
                <p:cNvCxnSpPr/>
                <p:nvPr/>
              </p:nvCxnSpPr>
              <p:spPr bwMode="auto">
                <a:xfrm>
                  <a:off x="2312894" y="3287806"/>
                  <a:ext cx="0" cy="2588559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/>
                <p:cNvCxnSpPr/>
                <p:nvPr/>
              </p:nvCxnSpPr>
              <p:spPr bwMode="auto">
                <a:xfrm>
                  <a:off x="2312894" y="5876365"/>
                  <a:ext cx="1337982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6" name="直接连接符 35"/>
                <p:cNvCxnSpPr/>
                <p:nvPr/>
              </p:nvCxnSpPr>
              <p:spPr bwMode="auto">
                <a:xfrm flipV="1">
                  <a:off x="3650876" y="3287806"/>
                  <a:ext cx="0" cy="258855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32" name="文本框 31"/>
              <p:cNvSpPr txBox="1"/>
              <p:nvPr/>
            </p:nvSpPr>
            <p:spPr>
              <a:xfrm>
                <a:off x="2487706" y="5311588"/>
                <a:ext cx="981634" cy="605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+mn-ea"/>
                  </a:rPr>
                  <a:t>a</a:t>
                </a:r>
                <a:endParaRPr lang="zh-CN" altLang="en-US" sz="2800" dirty="0">
                  <a:latin typeface="+mn-ea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2487706" y="4735618"/>
                <a:ext cx="981634" cy="604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dirty="0">
                    <a:latin typeface="+mn-ea"/>
                  </a:rPr>
                  <a:t>式</a:t>
                </a:r>
                <a:r>
                  <a:rPr lang="en-US" altLang="zh-CN" sz="2800" dirty="0">
                    <a:latin typeface="+mn-ea"/>
                  </a:rPr>
                  <a:t>5</a:t>
                </a:r>
                <a:endParaRPr lang="en-US" altLang="zh-CN" sz="2800" dirty="0">
                  <a:latin typeface="+mn-ea"/>
                </a:endParaRPr>
              </a:p>
            </p:txBody>
          </p:sp>
        </p:grpSp>
        <p:sp>
          <p:nvSpPr>
            <p:cNvPr id="28" name="文本框 27"/>
            <p:cNvSpPr txBox="1"/>
            <p:nvPr/>
          </p:nvSpPr>
          <p:spPr>
            <a:xfrm>
              <a:off x="2131359" y="4159647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5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2131359" y="358927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2131359" y="301330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687113" y="3295626"/>
            <a:ext cx="1226681" cy="2516480"/>
            <a:chOff x="1956547" y="3004025"/>
            <a:chExt cx="1337982" cy="2913285"/>
          </a:xfrm>
        </p:grpSpPr>
        <p:grpSp>
          <p:nvGrpSpPr>
            <p:cNvPr id="38" name="组合 37"/>
            <p:cNvGrpSpPr/>
            <p:nvPr/>
          </p:nvGrpSpPr>
          <p:grpSpPr>
            <a:xfrm>
              <a:off x="1956547" y="3287805"/>
              <a:ext cx="1337982" cy="2629505"/>
              <a:chOff x="2312894" y="3287806"/>
              <a:chExt cx="1337982" cy="2629505"/>
            </a:xfrm>
          </p:grpSpPr>
          <p:grpSp>
            <p:nvGrpSpPr>
              <p:cNvPr id="42" name="组合 41"/>
              <p:cNvGrpSpPr/>
              <p:nvPr/>
            </p:nvGrpSpPr>
            <p:grpSpPr>
              <a:xfrm>
                <a:off x="2312894" y="3287806"/>
                <a:ext cx="1337982" cy="2588559"/>
                <a:chOff x="2312894" y="3287806"/>
                <a:chExt cx="1337982" cy="2588559"/>
              </a:xfrm>
            </p:grpSpPr>
            <p:cxnSp>
              <p:nvCxnSpPr>
                <p:cNvPr id="45" name="直接连接符 44"/>
                <p:cNvCxnSpPr/>
                <p:nvPr/>
              </p:nvCxnSpPr>
              <p:spPr bwMode="auto">
                <a:xfrm>
                  <a:off x="2312894" y="3287806"/>
                  <a:ext cx="0" cy="2588559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/>
                <p:cNvCxnSpPr/>
                <p:nvPr/>
              </p:nvCxnSpPr>
              <p:spPr bwMode="auto">
                <a:xfrm>
                  <a:off x="2312894" y="5876365"/>
                  <a:ext cx="1337982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7" name="直接连接符 46"/>
                <p:cNvCxnSpPr/>
                <p:nvPr/>
              </p:nvCxnSpPr>
              <p:spPr bwMode="auto">
                <a:xfrm flipV="1">
                  <a:off x="3650876" y="3287806"/>
                  <a:ext cx="0" cy="258855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43" name="文本框 42"/>
              <p:cNvSpPr txBox="1"/>
              <p:nvPr/>
            </p:nvSpPr>
            <p:spPr>
              <a:xfrm>
                <a:off x="2487706" y="5311588"/>
                <a:ext cx="981634" cy="605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+mn-ea"/>
                  </a:rPr>
                  <a:t>+</a:t>
                </a:r>
                <a:endParaRPr lang="zh-CN" altLang="en-US" sz="2800" dirty="0">
                  <a:latin typeface="+mn-ea"/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2390586" y="4741215"/>
                <a:ext cx="981634" cy="605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dirty="0">
                    <a:latin typeface="+mn-ea"/>
                  </a:rPr>
                  <a:t>（</a:t>
                </a:r>
                <a:endParaRPr lang="zh-CN" altLang="en-US" sz="2800" dirty="0">
                  <a:latin typeface="+mn-ea"/>
                </a:endParaRPr>
              </a:p>
            </p:txBody>
          </p:sp>
        </p:grpSp>
        <p:sp>
          <p:nvSpPr>
            <p:cNvPr id="39" name="文本框 38"/>
            <p:cNvSpPr txBox="1"/>
            <p:nvPr/>
          </p:nvSpPr>
          <p:spPr>
            <a:xfrm>
              <a:off x="2131359" y="4159647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-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31359" y="358927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034239" y="3004025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193570" y="3303641"/>
            <a:ext cx="1391920" cy="2508465"/>
            <a:chOff x="1876204" y="3013304"/>
            <a:chExt cx="1518214" cy="2904006"/>
          </a:xfrm>
        </p:grpSpPr>
        <p:grpSp>
          <p:nvGrpSpPr>
            <p:cNvPr id="5" name="组合 4"/>
            <p:cNvGrpSpPr/>
            <p:nvPr/>
          </p:nvGrpSpPr>
          <p:grpSpPr>
            <a:xfrm>
              <a:off x="1876204" y="3287805"/>
              <a:ext cx="1518214" cy="2629505"/>
              <a:chOff x="2232551" y="3287806"/>
              <a:chExt cx="1518214" cy="2629505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2312894" y="3287806"/>
                <a:ext cx="1337982" cy="2588559"/>
                <a:chOff x="2312894" y="3287806"/>
                <a:chExt cx="1337982" cy="2588559"/>
              </a:xfrm>
            </p:grpSpPr>
            <p:cxnSp>
              <p:nvCxnSpPr>
                <p:cNvPr id="7" name="直接连接符 6"/>
                <p:cNvCxnSpPr/>
                <p:nvPr/>
              </p:nvCxnSpPr>
              <p:spPr bwMode="auto">
                <a:xfrm>
                  <a:off x="2312894" y="3287806"/>
                  <a:ext cx="0" cy="2588559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直接连接符 7"/>
                <p:cNvCxnSpPr/>
                <p:nvPr/>
              </p:nvCxnSpPr>
              <p:spPr bwMode="auto">
                <a:xfrm>
                  <a:off x="2312894" y="5876365"/>
                  <a:ext cx="1337982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" name="直接连接符 8"/>
                <p:cNvCxnSpPr/>
                <p:nvPr/>
              </p:nvCxnSpPr>
              <p:spPr bwMode="auto">
                <a:xfrm flipV="1">
                  <a:off x="3650876" y="3287806"/>
                  <a:ext cx="0" cy="258855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10" name="文本框 9"/>
              <p:cNvSpPr txBox="1"/>
              <p:nvPr/>
            </p:nvSpPr>
            <p:spPr>
              <a:xfrm>
                <a:off x="2487706" y="5311588"/>
                <a:ext cx="981634" cy="605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2800" dirty="0">
                    <a:latin typeface="+mn-ea"/>
                  </a:rPr>
                  <a:t>a</a:t>
                </a:r>
                <a:endParaRPr lang="zh-CN" altLang="en-US" sz="2800" dirty="0">
                  <a:latin typeface="+mn-ea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232551" y="4735274"/>
                <a:ext cx="1518214" cy="604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2800" dirty="0">
                    <a:latin typeface="+mn-ea"/>
                  </a:rPr>
                  <a:t>式</a:t>
                </a:r>
                <a:r>
                  <a:rPr lang="en-US" altLang="zh-CN" sz="2800" dirty="0">
                    <a:latin typeface="+mn-ea"/>
                  </a:rPr>
                  <a:t>5 -5</a:t>
                </a:r>
                <a:endParaRPr lang="zh-CN" altLang="en-US" sz="2800" dirty="0">
                  <a:latin typeface="+mn-ea"/>
                </a:endParaRPr>
              </a:p>
            </p:txBody>
          </p:sp>
        </p:grpSp>
        <p:sp>
          <p:nvSpPr>
            <p:cNvPr id="12" name="文本框 11"/>
            <p:cNvSpPr txBox="1"/>
            <p:nvPr/>
          </p:nvSpPr>
          <p:spPr>
            <a:xfrm>
              <a:off x="2131359" y="4159647"/>
              <a:ext cx="981634" cy="604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131359" y="358927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131359" y="301330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endParaRPr lang="zh-CN" altLang="en-US" sz="2800" dirty="0">
                <a:latin typeface="+mn-ea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892083" y="3295626"/>
            <a:ext cx="1226681" cy="2516480"/>
            <a:chOff x="1956547" y="3004025"/>
            <a:chExt cx="1337982" cy="2913285"/>
          </a:xfrm>
        </p:grpSpPr>
        <p:grpSp>
          <p:nvGrpSpPr>
            <p:cNvPr id="16" name="组合 15"/>
            <p:cNvGrpSpPr/>
            <p:nvPr/>
          </p:nvGrpSpPr>
          <p:grpSpPr>
            <a:xfrm>
              <a:off x="1956547" y="3287805"/>
              <a:ext cx="1337982" cy="2629505"/>
              <a:chOff x="2312894" y="3287806"/>
              <a:chExt cx="1337982" cy="2629505"/>
            </a:xfrm>
          </p:grpSpPr>
          <p:grpSp>
            <p:nvGrpSpPr>
              <p:cNvPr id="17" name="组合 16"/>
              <p:cNvGrpSpPr/>
              <p:nvPr/>
            </p:nvGrpSpPr>
            <p:grpSpPr>
              <a:xfrm>
                <a:off x="2312894" y="3287806"/>
                <a:ext cx="1337982" cy="2588559"/>
                <a:chOff x="2312894" y="3287806"/>
                <a:chExt cx="1337982" cy="2588559"/>
              </a:xfrm>
            </p:grpSpPr>
            <p:cxnSp>
              <p:nvCxnSpPr>
                <p:cNvPr id="18" name="直接连接符 17"/>
                <p:cNvCxnSpPr/>
                <p:nvPr/>
              </p:nvCxnSpPr>
              <p:spPr bwMode="auto">
                <a:xfrm>
                  <a:off x="2312894" y="3287806"/>
                  <a:ext cx="0" cy="2588559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/>
                <p:nvPr/>
              </p:nvCxnSpPr>
              <p:spPr bwMode="auto">
                <a:xfrm>
                  <a:off x="2312894" y="5876365"/>
                  <a:ext cx="1337982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0" name="直接连接符 19"/>
                <p:cNvCxnSpPr/>
                <p:nvPr/>
              </p:nvCxnSpPr>
              <p:spPr bwMode="auto">
                <a:xfrm flipV="1">
                  <a:off x="3650876" y="3287806"/>
                  <a:ext cx="0" cy="258855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21" name="文本框 20"/>
              <p:cNvSpPr txBox="1"/>
              <p:nvPr/>
            </p:nvSpPr>
            <p:spPr>
              <a:xfrm>
                <a:off x="2487706" y="5311588"/>
                <a:ext cx="981634" cy="605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2800" dirty="0">
                    <a:latin typeface="+mn-ea"/>
                  </a:rPr>
                  <a:t>+</a:t>
                </a:r>
                <a:endParaRPr lang="zh-CN" altLang="en-US" sz="2800" dirty="0">
                  <a:latin typeface="+mn-ea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2390586" y="4741215"/>
                <a:ext cx="981634" cy="605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2800" dirty="0">
                    <a:latin typeface="+mn-ea"/>
                  </a:rPr>
                  <a:t>（</a:t>
                </a:r>
                <a:endParaRPr lang="zh-CN" altLang="en-US" sz="2800" dirty="0">
                  <a:latin typeface="+mn-ea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131359" y="4159647"/>
              <a:ext cx="981634" cy="604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2131359" y="358927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2034239" y="3004025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endParaRPr lang="zh-CN" altLang="en-US" sz="2800" dirty="0">
                <a:latin typeface="+mn-ea"/>
              </a:endParaRPr>
            </a:p>
          </p:txBody>
        </p:sp>
      </p:grpSp>
      <p:cxnSp>
        <p:nvCxnSpPr>
          <p:cNvPr id="48" name="直接箭头连接符 47"/>
          <p:cNvCxnSpPr/>
          <p:nvPr/>
        </p:nvCxnSpPr>
        <p:spPr>
          <a:xfrm>
            <a:off x="5106035" y="4739005"/>
            <a:ext cx="909320" cy="63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49" name="文本框 48"/>
          <p:cNvSpPr txBox="1"/>
          <p:nvPr/>
        </p:nvSpPr>
        <p:spPr>
          <a:xfrm>
            <a:off x="1956435" y="597471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 dirty="0">
                <a:latin typeface="+mn-ea"/>
                <a:sym typeface="+mn-ea"/>
              </a:rPr>
              <a:t>a</a:t>
            </a:r>
            <a:r>
              <a:rPr lang="pt-BR" altLang="zh-CN" sz="1600" b="1" dirty="0">
                <a:latin typeface="+mn-ea"/>
                <a:sym typeface="+mn-ea"/>
              </a:rPr>
              <a:t> + 3 * (</a:t>
            </a:r>
            <a:r>
              <a:rPr lang="en-US" altLang="zh-CN" sz="1600" b="1" dirty="0">
                <a:latin typeface="+mn-ea"/>
                <a:sym typeface="+mn-ea"/>
              </a:rPr>
              <a:t>b</a:t>
            </a:r>
            <a:r>
              <a:rPr lang="pt-BR" altLang="zh-CN" sz="1600" b="1" dirty="0">
                <a:latin typeface="+mn-ea"/>
                <a:sym typeface="+mn-ea"/>
              </a:rPr>
              <a:t> + </a:t>
            </a:r>
            <a:r>
              <a:rPr lang="en-US" altLang="zh-CN" sz="1600" b="1" dirty="0">
                <a:latin typeface="+mn-ea"/>
                <a:sym typeface="+mn-ea"/>
              </a:rPr>
              <a:t>c</a:t>
            </a:r>
            <a:r>
              <a:rPr lang="pt-BR" altLang="zh-CN" sz="1600" b="1" dirty="0">
                <a:latin typeface="+mn-ea"/>
                <a:sym typeface="+mn-ea"/>
              </a:rPr>
              <a:t>)</a:t>
            </a:r>
            <a:r>
              <a:rPr lang="en-US" altLang="pt-BR" sz="1600" b="1" dirty="0">
                <a:latin typeface="+mn-ea"/>
                <a:sym typeface="+mn-ea"/>
              </a:rPr>
              <a:t>   </a:t>
            </a:r>
            <a:r>
              <a:rPr lang="en-US" altLang="zh-CN" sz="1600" b="1" dirty="0">
                <a:latin typeface="+mn-ea"/>
                <a:sym typeface="+mn-ea"/>
              </a:rPr>
              <a:t>=&gt; </a:t>
            </a:r>
            <a:r>
              <a:rPr lang="en-US" altLang="zh-CN" sz="1600" b="1" dirty="0">
                <a:latin typeface="+mn-ea"/>
                <a:sym typeface="+mn-ea"/>
              </a:rPr>
              <a:t>式5</a:t>
            </a:r>
            <a:endParaRPr lang="en-US" altLang="zh-CN" sz="1600" b="1" dirty="0">
              <a:latin typeface="+mn-ea"/>
            </a:endParaRPr>
          </a:p>
          <a:p>
            <a:endParaRPr lang="en-US" altLang="pt-BR" sz="1600" b="1" dirty="0"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48563" y="1081263"/>
            <a:ext cx="11280405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 a</a:t>
            </a:r>
            <a:r>
              <a:rPr lang="pt-BR" altLang="zh-CN" sz="1600" b="1" dirty="0">
                <a:latin typeface="+mn-ea"/>
              </a:rPr>
              <a:t> + (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pt-BR" altLang="zh-CN" sz="1600" b="1" dirty="0">
                <a:latin typeface="+mn-ea"/>
              </a:rPr>
              <a:t> + 3 *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+ 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pt-BR" altLang="zh-CN" sz="1600" b="1" dirty="0">
                <a:latin typeface="+mn-ea"/>
              </a:rPr>
              <a:t>) - 5) % 4   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pt-BR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本题提示：将左右小括号分开处理，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进栈前</a:t>
            </a:r>
            <a:r>
              <a:rPr lang="zh-CN" altLang="en-US" sz="1600" b="1" dirty="0">
                <a:latin typeface="+mn-ea"/>
              </a:rPr>
              <a:t>优先级最高，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进栈后</a:t>
            </a:r>
            <a:r>
              <a:rPr lang="zh-CN" altLang="en-US" sz="1600" b="1" dirty="0">
                <a:latin typeface="+mn-ea"/>
              </a:rPr>
              <a:t>优先级最低；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")"</a:t>
            </a:r>
            <a:r>
              <a:rPr lang="zh-CN" altLang="en-US" sz="1600" b="1" dirty="0">
                <a:latin typeface="+mn-ea"/>
              </a:rPr>
              <a:t>优先级最低，因此要将栈中压在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之上的全部运算符都计算完成，随后和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成对消除即可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目前已分析到整个表达式的尾部，画出从当前栈的状态到整个表达式分析完成的整个过程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每两个栈一组，有多组，尽量放在一页上，不够可加页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Line 15"/>
          <p:cNvSpPr>
            <a:spLocks noChangeShapeType="1"/>
          </p:cNvSpPr>
          <p:nvPr/>
        </p:nvSpPr>
        <p:spPr bwMode="auto">
          <a:xfrm>
            <a:off x="4087910" y="1016715"/>
            <a:ext cx="12551" cy="36844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7797" y="3413156"/>
            <a:ext cx="1226681" cy="2508465"/>
            <a:chOff x="1956547" y="3013304"/>
            <a:chExt cx="1337982" cy="2904006"/>
          </a:xfrm>
        </p:grpSpPr>
        <p:grpSp>
          <p:nvGrpSpPr>
            <p:cNvPr id="5" name="组合 4"/>
            <p:cNvGrpSpPr/>
            <p:nvPr/>
          </p:nvGrpSpPr>
          <p:grpSpPr>
            <a:xfrm>
              <a:off x="1956547" y="3287805"/>
              <a:ext cx="1337982" cy="2629505"/>
              <a:chOff x="2312894" y="3287806"/>
              <a:chExt cx="1337982" cy="2629505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2312894" y="3287806"/>
                <a:ext cx="1337982" cy="2588559"/>
                <a:chOff x="2312894" y="3287806"/>
                <a:chExt cx="1337982" cy="2588559"/>
              </a:xfrm>
            </p:grpSpPr>
            <p:cxnSp>
              <p:nvCxnSpPr>
                <p:cNvPr id="12" name="直接连接符 11"/>
                <p:cNvCxnSpPr/>
                <p:nvPr/>
              </p:nvCxnSpPr>
              <p:spPr bwMode="auto">
                <a:xfrm>
                  <a:off x="2312894" y="3287806"/>
                  <a:ext cx="0" cy="2588559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连接符 12"/>
                <p:cNvCxnSpPr/>
                <p:nvPr/>
              </p:nvCxnSpPr>
              <p:spPr bwMode="auto">
                <a:xfrm>
                  <a:off x="2312894" y="5876365"/>
                  <a:ext cx="1337982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4" name="直接连接符 13"/>
                <p:cNvCxnSpPr/>
                <p:nvPr/>
              </p:nvCxnSpPr>
              <p:spPr bwMode="auto">
                <a:xfrm flipV="1">
                  <a:off x="3650876" y="3287806"/>
                  <a:ext cx="0" cy="258855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10" name="文本框 9"/>
              <p:cNvSpPr txBox="1"/>
              <p:nvPr/>
            </p:nvSpPr>
            <p:spPr>
              <a:xfrm>
                <a:off x="2487706" y="5311588"/>
                <a:ext cx="981634" cy="605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+mn-ea"/>
                  </a:rPr>
                  <a:t>a</a:t>
                </a:r>
                <a:endParaRPr lang="zh-CN" altLang="en-US" sz="2800" dirty="0">
                  <a:latin typeface="+mn-ea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487706" y="4735618"/>
                <a:ext cx="981634" cy="604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dirty="0">
                    <a:latin typeface="+mn-ea"/>
                  </a:rPr>
                  <a:t>式</a:t>
                </a:r>
                <a:r>
                  <a:rPr lang="en-US" altLang="zh-CN" sz="2800" dirty="0">
                    <a:latin typeface="+mn-ea"/>
                  </a:rPr>
                  <a:t>8</a:t>
                </a:r>
                <a:endParaRPr lang="en-US" altLang="zh-CN" sz="2800" dirty="0">
                  <a:latin typeface="+mn-ea"/>
                </a:endParaRPr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2131359" y="4159647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+mn-ea"/>
                </a:rPr>
                <a:t>4</a:t>
              </a:r>
              <a:endParaRPr lang="zh-CN" altLang="en-US" sz="2800" dirty="0">
                <a:latin typeface="+mn-ea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131359" y="358927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131359" y="301330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562650" y="3405141"/>
            <a:ext cx="1226681" cy="2516480"/>
            <a:chOff x="1956547" y="3004025"/>
            <a:chExt cx="1337982" cy="2913285"/>
          </a:xfrm>
        </p:grpSpPr>
        <p:grpSp>
          <p:nvGrpSpPr>
            <p:cNvPr id="16" name="组合 15"/>
            <p:cNvGrpSpPr/>
            <p:nvPr/>
          </p:nvGrpSpPr>
          <p:grpSpPr>
            <a:xfrm>
              <a:off x="1956547" y="3287805"/>
              <a:ext cx="1337982" cy="2629505"/>
              <a:chOff x="2312894" y="3287806"/>
              <a:chExt cx="1337982" cy="2629505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2312894" y="3287806"/>
                <a:ext cx="1337982" cy="2588559"/>
                <a:chOff x="2312894" y="3287806"/>
                <a:chExt cx="1337982" cy="2588559"/>
              </a:xfrm>
            </p:grpSpPr>
            <p:cxnSp>
              <p:nvCxnSpPr>
                <p:cNvPr id="23" name="直接连接符 22"/>
                <p:cNvCxnSpPr/>
                <p:nvPr/>
              </p:nvCxnSpPr>
              <p:spPr bwMode="auto">
                <a:xfrm>
                  <a:off x="2312894" y="3287806"/>
                  <a:ext cx="0" cy="2588559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 bwMode="auto">
                <a:xfrm>
                  <a:off x="2312894" y="5876365"/>
                  <a:ext cx="1337982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5" name="直接连接符 24"/>
                <p:cNvCxnSpPr/>
                <p:nvPr/>
              </p:nvCxnSpPr>
              <p:spPr bwMode="auto">
                <a:xfrm flipV="1">
                  <a:off x="3650876" y="3287806"/>
                  <a:ext cx="0" cy="258855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21" name="文本框 20"/>
              <p:cNvSpPr txBox="1"/>
              <p:nvPr/>
            </p:nvSpPr>
            <p:spPr>
              <a:xfrm>
                <a:off x="2487706" y="5311588"/>
                <a:ext cx="981634" cy="605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+mn-ea"/>
                  </a:rPr>
                  <a:t>+</a:t>
                </a:r>
                <a:endParaRPr lang="zh-CN" altLang="en-US" sz="2800" dirty="0">
                  <a:latin typeface="+mn-ea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2390586" y="4741215"/>
                <a:ext cx="981634" cy="605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+mn-ea"/>
                  </a:rPr>
                  <a:t> %</a:t>
                </a:r>
                <a:endParaRPr lang="zh-CN" altLang="en-US" sz="2800" dirty="0">
                  <a:latin typeface="+mn-ea"/>
                </a:endParaRPr>
              </a:p>
            </p:txBody>
          </p:sp>
        </p:grpSp>
        <p:sp>
          <p:nvSpPr>
            <p:cNvPr id="17" name="文本框 16"/>
            <p:cNvSpPr txBox="1"/>
            <p:nvPr/>
          </p:nvSpPr>
          <p:spPr>
            <a:xfrm>
              <a:off x="2131359" y="4159647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131359" y="358927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034239" y="3004025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993514" y="3408045"/>
            <a:ext cx="3465830" cy="2507044"/>
            <a:chOff x="1601764" y="3013304"/>
            <a:chExt cx="2158661" cy="2902610"/>
          </a:xfrm>
        </p:grpSpPr>
        <p:grpSp>
          <p:nvGrpSpPr>
            <p:cNvPr id="49" name="组合 48"/>
            <p:cNvGrpSpPr/>
            <p:nvPr/>
          </p:nvGrpSpPr>
          <p:grpSpPr>
            <a:xfrm>
              <a:off x="1601764" y="3287805"/>
              <a:ext cx="2158661" cy="2628109"/>
              <a:chOff x="1958111" y="3287806"/>
              <a:chExt cx="2158661" cy="2628109"/>
            </a:xfrm>
          </p:grpSpPr>
          <p:grpSp>
            <p:nvGrpSpPr>
              <p:cNvPr id="53" name="组合 52"/>
              <p:cNvGrpSpPr/>
              <p:nvPr/>
            </p:nvGrpSpPr>
            <p:grpSpPr>
              <a:xfrm>
                <a:off x="2312894" y="3287806"/>
                <a:ext cx="1337982" cy="2588559"/>
                <a:chOff x="2312894" y="3287806"/>
                <a:chExt cx="1337982" cy="2588559"/>
              </a:xfrm>
            </p:grpSpPr>
            <p:cxnSp>
              <p:nvCxnSpPr>
                <p:cNvPr id="56" name="直接连接符 55"/>
                <p:cNvCxnSpPr/>
                <p:nvPr/>
              </p:nvCxnSpPr>
              <p:spPr bwMode="auto">
                <a:xfrm>
                  <a:off x="2312894" y="3287806"/>
                  <a:ext cx="0" cy="2588559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/>
                <p:cNvCxnSpPr/>
                <p:nvPr/>
              </p:nvCxnSpPr>
              <p:spPr bwMode="auto">
                <a:xfrm>
                  <a:off x="2312894" y="5876365"/>
                  <a:ext cx="1337982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8" name="直接连接符 57"/>
                <p:cNvCxnSpPr/>
                <p:nvPr/>
              </p:nvCxnSpPr>
              <p:spPr bwMode="auto">
                <a:xfrm flipV="1">
                  <a:off x="3650876" y="3287806"/>
                  <a:ext cx="0" cy="258855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54" name="文本框 53"/>
              <p:cNvSpPr txBox="1"/>
              <p:nvPr/>
            </p:nvSpPr>
            <p:spPr>
              <a:xfrm>
                <a:off x="2487706" y="5311588"/>
                <a:ext cx="981634" cy="604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+mn-ea"/>
                  </a:rPr>
                  <a:t>a</a:t>
                </a:r>
                <a:endParaRPr lang="zh-CN" altLang="en-US" sz="2800" dirty="0">
                  <a:latin typeface="+mn-ea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958111" y="4750494"/>
                <a:ext cx="2158661" cy="604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dirty="0">
                    <a:latin typeface="+mn-ea"/>
                  </a:rPr>
                  <a:t>式</a:t>
                </a:r>
                <a:r>
                  <a:rPr lang="en-US" altLang="zh-CN" sz="2800" dirty="0">
                    <a:latin typeface="+mn-ea"/>
                  </a:rPr>
                  <a:t>8 %4</a:t>
                </a:r>
                <a:r>
                  <a:rPr lang="zh-CN" altLang="en-US" sz="2800" dirty="0">
                    <a:latin typeface="+mn-ea"/>
                  </a:rPr>
                  <a:t>（式</a:t>
                </a:r>
                <a:r>
                  <a:rPr lang="en-US" altLang="zh-CN" sz="2800" dirty="0">
                    <a:latin typeface="+mn-ea"/>
                  </a:rPr>
                  <a:t>9</a:t>
                </a:r>
                <a:r>
                  <a:rPr lang="zh-CN" altLang="en-US" sz="2800" dirty="0">
                    <a:latin typeface="+mn-ea"/>
                  </a:rPr>
                  <a:t>）</a:t>
                </a:r>
                <a:endParaRPr lang="zh-CN" altLang="en-US" sz="2800" dirty="0">
                  <a:latin typeface="+mn-ea"/>
                </a:endParaRPr>
              </a:p>
            </p:txBody>
          </p:sp>
        </p:grpSp>
        <p:sp>
          <p:nvSpPr>
            <p:cNvPr id="50" name="文本框 49"/>
            <p:cNvSpPr txBox="1"/>
            <p:nvPr/>
          </p:nvSpPr>
          <p:spPr>
            <a:xfrm>
              <a:off x="2131359" y="4159647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2131359" y="358927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131359" y="301330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6836272" y="3400269"/>
            <a:ext cx="1226681" cy="2516480"/>
            <a:chOff x="1956547" y="3004025"/>
            <a:chExt cx="1337982" cy="2913285"/>
          </a:xfrm>
        </p:grpSpPr>
        <p:grpSp>
          <p:nvGrpSpPr>
            <p:cNvPr id="60" name="组合 59"/>
            <p:cNvGrpSpPr/>
            <p:nvPr/>
          </p:nvGrpSpPr>
          <p:grpSpPr>
            <a:xfrm>
              <a:off x="1956547" y="3287805"/>
              <a:ext cx="1337982" cy="2629505"/>
              <a:chOff x="2312894" y="3287806"/>
              <a:chExt cx="1337982" cy="2629505"/>
            </a:xfrm>
          </p:grpSpPr>
          <p:grpSp>
            <p:nvGrpSpPr>
              <p:cNvPr id="2048" name="组合 2047"/>
              <p:cNvGrpSpPr/>
              <p:nvPr/>
            </p:nvGrpSpPr>
            <p:grpSpPr>
              <a:xfrm>
                <a:off x="2312894" y="3287806"/>
                <a:ext cx="1337982" cy="2588559"/>
                <a:chOff x="2312894" y="3287806"/>
                <a:chExt cx="1337982" cy="2588559"/>
              </a:xfrm>
            </p:grpSpPr>
            <p:cxnSp>
              <p:nvCxnSpPr>
                <p:cNvPr id="2052" name="直接连接符 2051"/>
                <p:cNvCxnSpPr/>
                <p:nvPr/>
              </p:nvCxnSpPr>
              <p:spPr bwMode="auto">
                <a:xfrm>
                  <a:off x="2312894" y="3287806"/>
                  <a:ext cx="0" cy="2588559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53" name="直接连接符 2052"/>
                <p:cNvCxnSpPr/>
                <p:nvPr/>
              </p:nvCxnSpPr>
              <p:spPr bwMode="auto">
                <a:xfrm>
                  <a:off x="2312894" y="5876365"/>
                  <a:ext cx="1337982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054" name="直接连接符 2053"/>
                <p:cNvCxnSpPr/>
                <p:nvPr/>
              </p:nvCxnSpPr>
              <p:spPr bwMode="auto">
                <a:xfrm flipV="1">
                  <a:off x="3650876" y="3287806"/>
                  <a:ext cx="0" cy="258855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2049" name="文本框 2048"/>
              <p:cNvSpPr txBox="1"/>
              <p:nvPr/>
            </p:nvSpPr>
            <p:spPr>
              <a:xfrm>
                <a:off x="2487706" y="5311588"/>
                <a:ext cx="981634" cy="605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+mn-ea"/>
                  </a:rPr>
                  <a:t>+</a:t>
                </a:r>
                <a:endParaRPr lang="zh-CN" altLang="en-US" sz="2800" dirty="0">
                  <a:latin typeface="+mn-ea"/>
                </a:endParaRPr>
              </a:p>
            </p:txBody>
          </p:sp>
          <p:sp>
            <p:nvSpPr>
              <p:cNvPr id="2051" name="文本框 2050"/>
              <p:cNvSpPr txBox="1"/>
              <p:nvPr/>
            </p:nvSpPr>
            <p:spPr>
              <a:xfrm>
                <a:off x="2390586" y="4741215"/>
                <a:ext cx="981634" cy="605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+mn-ea"/>
                  </a:rPr>
                  <a:t> </a:t>
                </a:r>
                <a:endParaRPr lang="zh-CN" altLang="en-US" sz="2800" dirty="0">
                  <a:latin typeface="+mn-ea"/>
                </a:endParaRPr>
              </a:p>
            </p:txBody>
          </p:sp>
        </p:grpSp>
        <p:sp>
          <p:nvSpPr>
            <p:cNvPr id="61" name="文本框 60"/>
            <p:cNvSpPr txBox="1"/>
            <p:nvPr/>
          </p:nvSpPr>
          <p:spPr>
            <a:xfrm>
              <a:off x="2131359" y="4159647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2131359" y="358927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034239" y="3004025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</p:grpSp>
      <p:grpSp>
        <p:nvGrpSpPr>
          <p:cNvPr id="2077" name="组合 2076"/>
          <p:cNvGrpSpPr/>
          <p:nvPr/>
        </p:nvGrpSpPr>
        <p:grpSpPr>
          <a:xfrm>
            <a:off x="8790437" y="3372915"/>
            <a:ext cx="1357285" cy="2507215"/>
            <a:chOff x="1956547" y="3013304"/>
            <a:chExt cx="1337982" cy="2902559"/>
          </a:xfrm>
        </p:grpSpPr>
        <p:grpSp>
          <p:nvGrpSpPr>
            <p:cNvPr id="2078" name="组合 2077"/>
            <p:cNvGrpSpPr/>
            <p:nvPr/>
          </p:nvGrpSpPr>
          <p:grpSpPr>
            <a:xfrm>
              <a:off x="1956547" y="3287805"/>
              <a:ext cx="1337982" cy="2628058"/>
              <a:chOff x="2312894" y="3287806"/>
              <a:chExt cx="1337982" cy="2628058"/>
            </a:xfrm>
          </p:grpSpPr>
          <p:grpSp>
            <p:nvGrpSpPr>
              <p:cNvPr id="2082" name="组合 2081"/>
              <p:cNvGrpSpPr/>
              <p:nvPr/>
            </p:nvGrpSpPr>
            <p:grpSpPr>
              <a:xfrm>
                <a:off x="2312894" y="3287806"/>
                <a:ext cx="1337982" cy="2588559"/>
                <a:chOff x="2312894" y="3287806"/>
                <a:chExt cx="1337982" cy="2588559"/>
              </a:xfrm>
            </p:grpSpPr>
            <p:cxnSp>
              <p:nvCxnSpPr>
                <p:cNvPr id="2085" name="直接连接符 2084"/>
                <p:cNvCxnSpPr/>
                <p:nvPr/>
              </p:nvCxnSpPr>
              <p:spPr bwMode="auto">
                <a:xfrm>
                  <a:off x="2312894" y="3287806"/>
                  <a:ext cx="0" cy="2588559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86" name="直接连接符 2085"/>
                <p:cNvCxnSpPr/>
                <p:nvPr/>
              </p:nvCxnSpPr>
              <p:spPr bwMode="auto">
                <a:xfrm>
                  <a:off x="2312894" y="5876365"/>
                  <a:ext cx="1337982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087" name="直接连接符 2086"/>
                <p:cNvCxnSpPr/>
                <p:nvPr/>
              </p:nvCxnSpPr>
              <p:spPr bwMode="auto">
                <a:xfrm flipV="1">
                  <a:off x="3650876" y="3287806"/>
                  <a:ext cx="0" cy="258855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2083" name="文本框 2082"/>
              <p:cNvSpPr txBox="1"/>
              <p:nvPr/>
            </p:nvSpPr>
            <p:spPr>
              <a:xfrm>
                <a:off x="2504643" y="5311588"/>
                <a:ext cx="1068671" cy="604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+mn-ea"/>
                  </a:rPr>
                  <a:t>a+</a:t>
                </a:r>
                <a:r>
                  <a:rPr lang="zh-CN" altLang="en-US" sz="2800" dirty="0">
                    <a:latin typeface="+mn-ea"/>
                  </a:rPr>
                  <a:t>式</a:t>
                </a:r>
                <a:r>
                  <a:rPr lang="en-US" altLang="zh-CN" sz="2800" dirty="0">
                    <a:latin typeface="+mn-ea"/>
                  </a:rPr>
                  <a:t>9</a:t>
                </a:r>
                <a:endParaRPr lang="en-US" altLang="zh-CN" sz="2800" dirty="0">
                  <a:latin typeface="+mn-ea"/>
                </a:endParaRPr>
              </a:p>
            </p:txBody>
          </p:sp>
        </p:grpSp>
        <p:sp>
          <p:nvSpPr>
            <p:cNvPr id="2079" name="文本框 2078"/>
            <p:cNvSpPr txBox="1"/>
            <p:nvPr/>
          </p:nvSpPr>
          <p:spPr>
            <a:xfrm>
              <a:off x="2131359" y="4159647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2080" name="文本框 2079"/>
            <p:cNvSpPr txBox="1"/>
            <p:nvPr/>
          </p:nvSpPr>
          <p:spPr>
            <a:xfrm>
              <a:off x="2131359" y="358927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2081" name="文本框 2080"/>
            <p:cNvSpPr txBox="1"/>
            <p:nvPr/>
          </p:nvSpPr>
          <p:spPr>
            <a:xfrm>
              <a:off x="2131359" y="301330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</p:grpSp>
      <p:grpSp>
        <p:nvGrpSpPr>
          <p:cNvPr id="2088" name="组合 2087"/>
          <p:cNvGrpSpPr/>
          <p:nvPr/>
        </p:nvGrpSpPr>
        <p:grpSpPr>
          <a:xfrm>
            <a:off x="10255021" y="3364900"/>
            <a:ext cx="1226681" cy="2516480"/>
            <a:chOff x="1956547" y="3004025"/>
            <a:chExt cx="1337982" cy="2913285"/>
          </a:xfrm>
        </p:grpSpPr>
        <p:grpSp>
          <p:nvGrpSpPr>
            <p:cNvPr id="2089" name="组合 2088"/>
            <p:cNvGrpSpPr/>
            <p:nvPr/>
          </p:nvGrpSpPr>
          <p:grpSpPr>
            <a:xfrm>
              <a:off x="1956547" y="3287805"/>
              <a:ext cx="1337982" cy="2629505"/>
              <a:chOff x="2312894" y="3287806"/>
              <a:chExt cx="1337982" cy="2629505"/>
            </a:xfrm>
          </p:grpSpPr>
          <p:grpSp>
            <p:nvGrpSpPr>
              <p:cNvPr id="2093" name="组合 2092"/>
              <p:cNvGrpSpPr/>
              <p:nvPr/>
            </p:nvGrpSpPr>
            <p:grpSpPr>
              <a:xfrm>
                <a:off x="2312894" y="3287806"/>
                <a:ext cx="1337982" cy="2588559"/>
                <a:chOff x="2312894" y="3287806"/>
                <a:chExt cx="1337982" cy="2588559"/>
              </a:xfrm>
            </p:grpSpPr>
            <p:cxnSp>
              <p:nvCxnSpPr>
                <p:cNvPr id="2096" name="直接连接符 2095"/>
                <p:cNvCxnSpPr/>
                <p:nvPr/>
              </p:nvCxnSpPr>
              <p:spPr bwMode="auto">
                <a:xfrm>
                  <a:off x="2312894" y="3287806"/>
                  <a:ext cx="0" cy="2588559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97" name="直接连接符 2096"/>
                <p:cNvCxnSpPr/>
                <p:nvPr/>
              </p:nvCxnSpPr>
              <p:spPr bwMode="auto">
                <a:xfrm>
                  <a:off x="2312894" y="5876365"/>
                  <a:ext cx="1337982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098" name="直接连接符 2097"/>
                <p:cNvCxnSpPr/>
                <p:nvPr/>
              </p:nvCxnSpPr>
              <p:spPr bwMode="auto">
                <a:xfrm flipV="1">
                  <a:off x="3650876" y="3287806"/>
                  <a:ext cx="0" cy="258855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2094" name="文本框 2093"/>
              <p:cNvSpPr txBox="1"/>
              <p:nvPr/>
            </p:nvSpPr>
            <p:spPr>
              <a:xfrm>
                <a:off x="2487706" y="5311588"/>
                <a:ext cx="981634" cy="605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zh-CN" altLang="en-US" sz="2800" dirty="0">
                  <a:latin typeface="+mn-ea"/>
                </a:endParaRPr>
              </a:p>
            </p:txBody>
          </p:sp>
          <p:sp>
            <p:nvSpPr>
              <p:cNvPr id="2095" name="文本框 2094"/>
              <p:cNvSpPr txBox="1"/>
              <p:nvPr/>
            </p:nvSpPr>
            <p:spPr>
              <a:xfrm>
                <a:off x="2390586" y="4741215"/>
                <a:ext cx="981634" cy="605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+mn-ea"/>
                  </a:rPr>
                  <a:t> </a:t>
                </a:r>
                <a:endParaRPr lang="zh-CN" altLang="en-US" sz="2800" dirty="0">
                  <a:latin typeface="+mn-ea"/>
                </a:endParaRPr>
              </a:p>
            </p:txBody>
          </p:sp>
        </p:grpSp>
        <p:sp>
          <p:nvSpPr>
            <p:cNvPr id="2090" name="文本框 2089"/>
            <p:cNvSpPr txBox="1"/>
            <p:nvPr/>
          </p:nvSpPr>
          <p:spPr>
            <a:xfrm>
              <a:off x="2131359" y="4159647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2091" name="文本框 2090"/>
            <p:cNvSpPr txBox="1"/>
            <p:nvPr/>
          </p:nvSpPr>
          <p:spPr>
            <a:xfrm>
              <a:off x="2131359" y="3589274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2092" name="文本框 2091"/>
            <p:cNvSpPr txBox="1"/>
            <p:nvPr/>
          </p:nvSpPr>
          <p:spPr>
            <a:xfrm>
              <a:off x="2034239" y="3004025"/>
              <a:ext cx="981634" cy="605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800" dirty="0">
                <a:latin typeface="+mn-ea"/>
              </a:endParaRPr>
            </a:p>
          </p:txBody>
        </p:sp>
      </p:grpSp>
      <p:cxnSp>
        <p:nvCxnSpPr>
          <p:cNvPr id="2099" name="直接箭头连接符 2098"/>
          <p:cNvCxnSpPr/>
          <p:nvPr/>
        </p:nvCxnSpPr>
        <p:spPr bwMode="auto">
          <a:xfrm>
            <a:off x="3913548" y="4771582"/>
            <a:ext cx="565686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01" name="直接箭头连接符 2100"/>
          <p:cNvCxnSpPr/>
          <p:nvPr/>
        </p:nvCxnSpPr>
        <p:spPr bwMode="auto">
          <a:xfrm>
            <a:off x="8107861" y="4771582"/>
            <a:ext cx="565686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文本框 25"/>
          <p:cNvSpPr txBox="1"/>
          <p:nvPr/>
        </p:nvSpPr>
        <p:spPr>
          <a:xfrm>
            <a:off x="801370" y="601154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a</a:t>
            </a:r>
            <a:r>
              <a:rPr lang="pt-BR" altLang="zh-CN" sz="1600" b="1" dirty="0">
                <a:latin typeface="+mn-ea"/>
                <a:sym typeface="+mn-ea"/>
              </a:rPr>
              <a:t> + 3 * (</a:t>
            </a:r>
            <a:r>
              <a:rPr lang="en-US" altLang="zh-CN" sz="1600" b="1" dirty="0">
                <a:latin typeface="+mn-ea"/>
                <a:sym typeface="+mn-ea"/>
              </a:rPr>
              <a:t>b</a:t>
            </a:r>
            <a:r>
              <a:rPr lang="pt-BR" altLang="zh-CN" sz="1600" b="1" dirty="0">
                <a:latin typeface="+mn-ea"/>
                <a:sym typeface="+mn-ea"/>
              </a:rPr>
              <a:t> + </a:t>
            </a:r>
            <a:r>
              <a:rPr lang="en-US" altLang="zh-CN" sz="1600" b="1" dirty="0">
                <a:latin typeface="+mn-ea"/>
                <a:sym typeface="+mn-ea"/>
              </a:rPr>
              <a:t>c</a:t>
            </a:r>
            <a:r>
              <a:rPr lang="pt-BR" altLang="zh-CN" sz="1600" b="1" dirty="0">
                <a:latin typeface="+mn-ea"/>
                <a:sym typeface="+mn-ea"/>
              </a:rPr>
              <a:t>) - 5</a:t>
            </a:r>
            <a:r>
              <a:rPr lang="zh-CN" altLang="pt-BR" sz="1600" b="1" dirty="0">
                <a:latin typeface="+mn-ea"/>
                <a:sym typeface="+mn-ea"/>
              </a:rPr>
              <a:t>）</a:t>
            </a:r>
            <a:r>
              <a:rPr lang="en-US" altLang="pt-BR" sz="1600" b="1" dirty="0">
                <a:latin typeface="+mn-ea"/>
                <a:sym typeface="+mn-ea"/>
              </a:rPr>
              <a:t>  </a:t>
            </a:r>
            <a:r>
              <a:rPr lang="en-US" altLang="zh-CN" sz="1600" b="1" dirty="0">
                <a:latin typeface="+mn-ea"/>
                <a:sym typeface="+mn-ea"/>
              </a:rPr>
              <a:t> 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8</a:t>
            </a:r>
            <a:endParaRPr lang="en-US" altLang="zh-CN" sz="1600" b="1" dirty="0">
              <a:latin typeface="+mn-ea"/>
            </a:endParaRPr>
          </a:p>
          <a:p>
            <a:endParaRPr lang="en-US" altLang="pt-BR" sz="1600" b="1" dirty="0"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、求表达式的值（要求给出计算过程、每步计算结果及数据类型、对应的验证程序及结果截图，示例见下）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2LL - 32L * int(11.7)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+ 2.3f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(1) int(11.7)                       =&gt;   11      int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(2) 32L * int(11.7)                 =&gt;   352     long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(3)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2LL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-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32L * int(11.7)           =&gt;  -350     long </a:t>
            </a:r>
            <a:r>
              <a:rPr lang="en-US" altLang="zh-CN" sz="1600" b="1" dirty="0" err="1">
                <a:latin typeface="+mn-ea"/>
              </a:rPr>
              <a:t>long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(4) 2LL - 32L * int(11.7)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+ 2.3f    =&gt;  -347.7   float</a:t>
            </a:r>
            <a:r>
              <a:rPr lang="zh-CN" altLang="en-US" sz="1600" b="1" dirty="0">
                <a:latin typeface="+mn-ea"/>
              </a:rPr>
              <a:t>型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755118" y="604344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127" y="2946360"/>
            <a:ext cx="9081062" cy="29878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、求表达式的值（要求给出计算过程、每步计算结果及数据类型、对应的验证程序及结果截图）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pPr marL="342900" indent="-342900">
              <a:buAutoNum type="alphaUcPeriod"/>
            </a:pPr>
            <a:r>
              <a:rPr lang="en-US" altLang="zh-CN" sz="1600" b="1" dirty="0">
                <a:latin typeface="+mn-ea"/>
              </a:rPr>
              <a:t>a = 2 * 4 , a = b = 3 * 5          </a:t>
            </a:r>
            <a:r>
              <a:rPr lang="pt-BR" altLang="zh-CN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写验证程序时，假设所有变量均为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marL="342900" indent="-342900">
              <a:buAutoNum type="alphaUcPeriod"/>
            </a:pPr>
            <a:endParaRPr lang="en-US" altLang="zh-CN" sz="1600" b="1" dirty="0">
              <a:latin typeface="+mn-ea"/>
            </a:endParaRPr>
          </a:p>
          <a:p>
            <a:pPr marL="342900" indent="-342900">
              <a:buAutoNum type="alphaUcPeriod"/>
            </a:pP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2 * 4                          =&gt; 8       int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 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a = </a:t>
            </a:r>
            <a:r>
              <a:rPr lang="en-US" sz="1600" b="1" dirty="0">
                <a:latin typeface="+mn-ea"/>
              </a:rPr>
              <a:t>2 * 4</a:t>
            </a:r>
            <a:r>
              <a:rPr lang="en-US" altLang="zh-CN" sz="1600" b="1" dirty="0">
                <a:latin typeface="+mn-ea"/>
              </a:rPr>
              <a:t>                      =&gt; 8       int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(3) 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3 * 5                          =&gt; 15</a:t>
            </a:r>
            <a:r>
              <a:rPr lang="zh-CN" altLang="en-US" sz="1600" b="1" dirty="0">
                <a:latin typeface="+mn-ea"/>
              </a:rPr>
              <a:t>      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(4) 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b = 3 * 5                      </a:t>
            </a:r>
            <a:r>
              <a:rPr lang="en-US" altLang="zh-CN" sz="1600" b="1">
                <a:latin typeface="+mn-ea"/>
              </a:rPr>
              <a:t>=&gt; 15      </a:t>
            </a:r>
            <a:r>
              <a:rPr lang="en-US" altLang="zh-CN" sz="1600" b="1" dirty="0">
                <a:latin typeface="+mn-ea"/>
                <a:sym typeface="+mn-ea"/>
              </a:rPr>
              <a:t>int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(5) 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a = b = 3 * 5                  =&gt; 15      </a:t>
            </a:r>
            <a:r>
              <a:rPr lang="en-US" altLang="zh-CN" sz="1600" b="1" dirty="0">
                <a:latin typeface="+mn-ea"/>
                <a:sym typeface="+mn-ea"/>
              </a:rPr>
              <a:t>int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(6) 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a = </a:t>
            </a:r>
            <a:r>
              <a:rPr lang="en-US" sz="1600" b="1" dirty="0">
                <a:latin typeface="+mn-ea"/>
                <a:sym typeface="+mn-ea"/>
              </a:rPr>
              <a:t>2 * 4</a:t>
            </a:r>
            <a:r>
              <a:rPr lang="zh-CN" altLang="en-US" sz="1600" b="1" dirty="0">
                <a:latin typeface="+mn-ea"/>
                <a:sym typeface="+mn-ea"/>
              </a:rPr>
              <a:t>，</a:t>
            </a:r>
            <a:r>
              <a:rPr lang="en-US" altLang="zh-CN" sz="1600" b="1" dirty="0">
                <a:latin typeface="+mn-ea"/>
                <a:sym typeface="+mn-ea"/>
              </a:rPr>
              <a:t>a = b = 3 * 5       =&gt; 15      </a:t>
            </a:r>
            <a:r>
              <a:rPr lang="en-US" altLang="zh-CN" sz="1600" b="1" dirty="0">
                <a:latin typeface="+mn-ea"/>
                <a:sym typeface="+mn-ea"/>
              </a:rPr>
              <a:t>int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zh-CN" altLang="en-US" sz="1600" b="1" dirty="0">
              <a:latin typeface="+mn-ea"/>
              <a:sym typeface="+mn-ea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pPr marL="342900" indent="-342900">
              <a:buAutoNum type="alphaUcPeriod"/>
            </a:pPr>
            <a:r>
              <a:rPr lang="en-US" altLang="zh-CN" sz="1600" b="1" dirty="0">
                <a:latin typeface="+mn-ea"/>
              </a:rPr>
              <a:t>a = 2 * 4 , a = b = 3 * 5          </a:t>
            </a:r>
            <a:r>
              <a:rPr lang="pt-BR" altLang="zh-CN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写验证程序时，假设所有变量均为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marL="342900" indent="-342900">
              <a:buAutoNum type="alphaUcPeriod"/>
            </a:pPr>
            <a:endParaRPr lang="en-US" altLang="zh-CN" sz="1600" b="1" dirty="0">
              <a:latin typeface="+mn-ea"/>
            </a:endParaRPr>
          </a:p>
          <a:p>
            <a:pPr marL="342900" indent="-342900">
              <a:buAutoNum type="alphaUcPeriod"/>
            </a:pP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2 * 4                          =&gt; 8       int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 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a = </a:t>
            </a:r>
            <a:r>
              <a:rPr lang="en-US" sz="1600" b="1" dirty="0">
                <a:latin typeface="+mn-ea"/>
              </a:rPr>
              <a:t>2 * 4</a:t>
            </a:r>
            <a:r>
              <a:rPr lang="en-US" altLang="zh-CN" sz="1600" b="1" dirty="0">
                <a:latin typeface="+mn-ea"/>
              </a:rPr>
              <a:t>                      =&gt; 8       int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(3) 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3 * 5                          =&gt; 15</a:t>
            </a:r>
            <a:r>
              <a:rPr lang="zh-CN" altLang="en-US" sz="1600" b="1" dirty="0">
                <a:latin typeface="+mn-ea"/>
              </a:rPr>
              <a:t>      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(4) 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b = 3 * 5                      </a:t>
            </a:r>
            <a:r>
              <a:rPr lang="en-US" altLang="zh-CN" sz="1600" b="1">
                <a:latin typeface="+mn-ea"/>
              </a:rPr>
              <a:t>=&gt; 15      </a:t>
            </a:r>
            <a:r>
              <a:rPr lang="en-US" altLang="zh-CN" sz="1600" b="1" dirty="0">
                <a:latin typeface="+mn-ea"/>
                <a:sym typeface="+mn-ea"/>
              </a:rPr>
              <a:t>int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(5) 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a = b = 3 * 5                  =&gt; 15      </a:t>
            </a:r>
            <a:r>
              <a:rPr lang="en-US" altLang="zh-CN" sz="1600" b="1" dirty="0">
                <a:latin typeface="+mn-ea"/>
                <a:sym typeface="+mn-ea"/>
              </a:rPr>
              <a:t>int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(6) 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a = </a:t>
            </a:r>
            <a:r>
              <a:rPr lang="en-US" sz="1600" b="1" dirty="0">
                <a:latin typeface="+mn-ea"/>
                <a:sym typeface="+mn-ea"/>
              </a:rPr>
              <a:t>2 * 4</a:t>
            </a:r>
            <a:r>
              <a:rPr lang="zh-CN" altLang="en-US" sz="1600" b="1" dirty="0">
                <a:latin typeface="+mn-ea"/>
                <a:sym typeface="+mn-ea"/>
              </a:rPr>
              <a:t>，</a:t>
            </a:r>
            <a:r>
              <a:rPr lang="en-US" altLang="zh-CN" sz="1600" b="1" dirty="0">
                <a:latin typeface="+mn-ea"/>
                <a:sym typeface="+mn-ea"/>
              </a:rPr>
              <a:t>a = b = 3 * 5       =&gt; 15      </a:t>
            </a:r>
            <a:r>
              <a:rPr lang="en-US" altLang="zh-CN" sz="1600" b="1" dirty="0">
                <a:latin typeface="+mn-ea"/>
                <a:sym typeface="+mn-ea"/>
              </a:rPr>
              <a:t>int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zh-CN" altLang="en-US" sz="1600" b="1" dirty="0">
              <a:latin typeface="+mn-ea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7170" y="3732530"/>
            <a:ext cx="6064250" cy="25463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、求表达式的值（要求给出计算过程、每步计算结果及数据类型、对应的验证程序及结果截图）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pt-BR" altLang="zh-CN" sz="1600" b="1" dirty="0">
                <a:latin typeface="+mn-ea"/>
              </a:rPr>
              <a:t>B. 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pt-BR" altLang="zh-CN" sz="1600" b="1" dirty="0">
                <a:latin typeface="+mn-ea"/>
              </a:rPr>
              <a:t> -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+ 3 *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- 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pt-BR" altLang="zh-CN" sz="1600" b="1" dirty="0">
                <a:latin typeface="+mn-ea"/>
              </a:rPr>
              <a:t>) </a:t>
            </a:r>
            <a:r>
              <a:rPr lang="en-US" altLang="zh-CN" sz="1600" b="1" dirty="0">
                <a:latin typeface="+mn-ea"/>
              </a:rPr>
              <a:t>%</a:t>
            </a:r>
            <a:r>
              <a:rPr lang="pt-BR" altLang="zh-CN" sz="1600" b="1" dirty="0">
                <a:latin typeface="+mn-ea"/>
              </a:rPr>
              <a:t> 3) / 5   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写验证程序时，假设所有变量均为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型，</a:t>
            </a:r>
            <a:r>
              <a:rPr lang="en-US" altLang="zh-CN" sz="1600" b="1" dirty="0" err="1">
                <a:latin typeface="+mn-ea"/>
              </a:rPr>
              <a:t>abc</a:t>
            </a:r>
            <a:r>
              <a:rPr lang="zh-CN" altLang="en-US" sz="1600" b="1" dirty="0">
                <a:latin typeface="+mn-ea"/>
              </a:rPr>
              <a:t>的值自定义即可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定义</a:t>
            </a:r>
            <a:r>
              <a:rPr lang="en-US" altLang="zh-CN" sz="1600" b="1" dirty="0">
                <a:latin typeface="+mn-ea"/>
              </a:rPr>
              <a:t>abc</a:t>
            </a:r>
            <a:r>
              <a:rPr lang="zh-CN" altLang="en-US" sz="1600" b="1" dirty="0">
                <a:latin typeface="+mn-ea"/>
              </a:rPr>
              <a:t>的值分别为</a:t>
            </a:r>
            <a:r>
              <a:rPr lang="en-US" altLang="zh-CN" sz="1600" b="1" dirty="0">
                <a:latin typeface="+mn-ea"/>
              </a:rPr>
              <a:t>1,2,3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(1)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b - c                                       </a:t>
            </a:r>
            <a:r>
              <a:rPr lang="en-US" altLang="zh-CN" sz="1600" b="1" dirty="0">
                <a:latin typeface="+mn-ea"/>
                <a:sym typeface="+mn-ea"/>
              </a:rPr>
              <a:t>=&gt; -1    int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(2)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3 * </a:t>
            </a:r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b - c</a:t>
            </a:r>
            <a:r>
              <a:rPr lang="zh-CN" altLang="en-US" sz="1600" b="1" dirty="0">
                <a:latin typeface="+mn-ea"/>
                <a:sym typeface="+mn-ea"/>
              </a:rPr>
              <a:t>）</a:t>
            </a:r>
            <a:r>
              <a:rPr lang="en-US" altLang="zh-CN" sz="1600" b="1" dirty="0">
                <a:latin typeface="+mn-ea"/>
                <a:sym typeface="+mn-ea"/>
              </a:rPr>
              <a:t>                               </a:t>
            </a:r>
            <a:r>
              <a:rPr lang="en-US" altLang="zh-CN" sz="1600" b="1" dirty="0">
                <a:latin typeface="+mn-ea"/>
                <a:sym typeface="+mn-ea"/>
              </a:rPr>
              <a:t>=&gt; -3    int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(3)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3 * </a:t>
            </a:r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b - c</a:t>
            </a:r>
            <a:r>
              <a:rPr lang="zh-CN" altLang="en-US" sz="1600" b="1" dirty="0">
                <a:latin typeface="+mn-ea"/>
                <a:sym typeface="+mn-ea"/>
              </a:rPr>
              <a:t>）</a:t>
            </a:r>
            <a:r>
              <a:rPr lang="en-US" altLang="zh-CN" sz="1600" b="1" dirty="0">
                <a:latin typeface="+mn-ea"/>
                <a:sym typeface="+mn-ea"/>
              </a:rPr>
              <a:t>% 3                            </a:t>
            </a:r>
            <a:r>
              <a:rPr lang="en-US" altLang="zh-CN" sz="1600" b="1" dirty="0">
                <a:latin typeface="+mn-ea"/>
                <a:sym typeface="+mn-ea"/>
              </a:rPr>
              <a:t>=&gt; 0     int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(4)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b + 3 * </a:t>
            </a:r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b - c</a:t>
            </a:r>
            <a:r>
              <a:rPr lang="zh-CN" altLang="en-US" sz="1600" b="1" dirty="0">
                <a:latin typeface="+mn-ea"/>
                <a:sym typeface="+mn-ea"/>
              </a:rPr>
              <a:t>）</a:t>
            </a:r>
            <a:r>
              <a:rPr lang="en-US" altLang="zh-CN" sz="1600" b="1" dirty="0">
                <a:latin typeface="+mn-ea"/>
                <a:sym typeface="+mn-ea"/>
              </a:rPr>
              <a:t>% 3                        </a:t>
            </a:r>
            <a:r>
              <a:rPr lang="en-US" altLang="zh-CN" sz="1600" b="1" dirty="0">
                <a:latin typeface="+mn-ea"/>
                <a:sym typeface="+mn-ea"/>
              </a:rPr>
              <a:t>=&gt; 2     int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  <a:sym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(5)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(b + 3 * </a:t>
            </a:r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b - c</a:t>
            </a:r>
            <a:r>
              <a:rPr lang="zh-CN" altLang="en-US" sz="1600" b="1" dirty="0">
                <a:latin typeface="+mn-ea"/>
                <a:sym typeface="+mn-ea"/>
              </a:rPr>
              <a:t>）</a:t>
            </a:r>
            <a:r>
              <a:rPr lang="en-US" altLang="zh-CN" sz="1600" b="1" dirty="0">
                <a:latin typeface="+mn-ea"/>
                <a:sym typeface="+mn-ea"/>
              </a:rPr>
              <a:t>% 3) / 5                  </a:t>
            </a:r>
            <a:r>
              <a:rPr lang="en-US" altLang="zh-CN" sz="1600" b="1" dirty="0">
                <a:latin typeface="+mn-ea"/>
                <a:sym typeface="+mn-ea"/>
              </a:rPr>
              <a:t>=&gt; 0     int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(6)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a - (b + 3 * </a:t>
            </a:r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b - c</a:t>
            </a:r>
            <a:r>
              <a:rPr lang="zh-CN" altLang="en-US" sz="1600" b="1" dirty="0">
                <a:latin typeface="+mn-ea"/>
                <a:sym typeface="+mn-ea"/>
              </a:rPr>
              <a:t>）</a:t>
            </a:r>
            <a:r>
              <a:rPr lang="en-US" altLang="zh-CN" sz="1600" b="1" dirty="0">
                <a:latin typeface="+mn-ea"/>
                <a:sym typeface="+mn-ea"/>
              </a:rPr>
              <a:t>% 3) / 5              </a:t>
            </a:r>
            <a:r>
              <a:rPr lang="en-US" altLang="zh-CN" sz="1600" b="1" dirty="0">
                <a:latin typeface="+mn-ea"/>
                <a:sym typeface="+mn-ea"/>
              </a:rPr>
              <a:t>=&gt; 1     int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zh-CN" altLang="en-US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845" y="4168140"/>
            <a:ext cx="6135370" cy="229171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、求表达式的值（要求给出计算过程、每步计算结果及数据类型、对应的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验证程序及结果截图）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 2.5 * 3UL + 4U * 7ULL - 'X'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(1)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2.5 * 3UL                             </a:t>
            </a:r>
            <a:r>
              <a:rPr lang="en-US" altLang="zh-CN" sz="1600" b="1" dirty="0">
                <a:latin typeface="+mn-ea"/>
                <a:sym typeface="+mn-ea"/>
              </a:rPr>
              <a:t>=&gt; 7.5        double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(2)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4U * 7ULL                             </a:t>
            </a:r>
            <a:r>
              <a:rPr lang="en-US" altLang="zh-CN" sz="1600" b="1" dirty="0">
                <a:latin typeface="+mn-ea"/>
                <a:sym typeface="+mn-ea"/>
              </a:rPr>
              <a:t>=&gt; 28         unsigned long long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  <a:sym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(3)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2.5 * 3UL + 4U * 7ULL                 </a:t>
            </a:r>
            <a:r>
              <a:rPr lang="en-US" altLang="zh-CN" sz="1600" b="1" dirty="0">
                <a:latin typeface="+mn-ea"/>
                <a:sym typeface="+mn-ea"/>
              </a:rPr>
              <a:t>=&gt; 35.5       double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zh-CN" altLang="en-US" sz="1600" b="1" dirty="0">
              <a:latin typeface="+mn-ea"/>
              <a:sym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(4)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'X'                                   =&gt; 88         char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(5)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2.5 * 3UL + 4U * 7ULL - 'X'           </a:t>
            </a:r>
            <a:r>
              <a:rPr lang="en-US" altLang="zh-CN" sz="1600" b="1" dirty="0">
                <a:latin typeface="+mn-ea"/>
                <a:sym typeface="+mn-ea"/>
              </a:rPr>
              <a:t>=&gt; -52.5      double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4135" y="3729990"/>
            <a:ext cx="6210300" cy="2463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340" y="162560"/>
            <a:ext cx="11880850" cy="8674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、求表达式的值（要求给出计算过程、每步计算结果及数据类型、对应的验证程序及结果截图）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D. 2LU % 7 + 23LL % 3 + 2.5F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(1)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2LU % 7                           =&gt; 2        unsigned long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(2)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23LL % 3                          =&gt; 2        long long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(3)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2LU % 7 + 23LL % 3                =&gt; 4        </a:t>
            </a:r>
            <a:r>
              <a:rPr lang="en-US" altLang="zh-CN" sz="1600" b="1" dirty="0">
                <a:latin typeface="+mn-ea"/>
                <a:sym typeface="+mn-ea"/>
              </a:rPr>
              <a:t>long long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  <a:sym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(4)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2LU % 7 + 23LL % 3 + 2.5F         =&gt; 6.5      float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680" y="3429000"/>
            <a:ext cx="6273800" cy="24574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、求表达式的值（要求给出计算过程、每步计算结果及数据类型、对应的验证程序及结果截图）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E. 2.3 + 14 % 5 * </a:t>
            </a:r>
            <a:r>
              <a:rPr lang="en-US" altLang="zh-CN" sz="1600" b="1" dirty="0" err="1">
                <a:latin typeface="+mn-ea"/>
              </a:rPr>
              <a:t>static_cast</a:t>
            </a:r>
            <a:r>
              <a:rPr lang="en-US" altLang="zh-CN" sz="1600" b="1" dirty="0">
                <a:latin typeface="+mn-ea"/>
              </a:rPr>
              <a:t>&lt;unsigned long&gt;(2.8F + 7LL) % 2 * 2.3F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(1)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14 % 5                                                              =&gt; 4    int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(2)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2.8F + 7LL                                                          </a:t>
            </a:r>
            <a:r>
              <a:rPr lang="en-US" altLang="zh-CN" sz="1600" b="1" dirty="0">
                <a:latin typeface="+mn-ea"/>
                <a:sym typeface="+mn-ea"/>
              </a:rPr>
              <a:t>=&gt; 9.8  float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(3)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 err="1">
                <a:latin typeface="+mn-ea"/>
                <a:sym typeface="+mn-ea"/>
              </a:rPr>
              <a:t>static_cast</a:t>
            </a:r>
            <a:r>
              <a:rPr lang="en-US" altLang="zh-CN" sz="1600" b="1" dirty="0">
                <a:latin typeface="+mn-ea"/>
                <a:sym typeface="+mn-ea"/>
              </a:rPr>
              <a:t>&lt;unsigned long&gt;(2.8F + 7LL)                              </a:t>
            </a:r>
            <a:r>
              <a:rPr lang="en-US" altLang="zh-CN" sz="1600" b="1" dirty="0">
                <a:latin typeface="+mn-ea"/>
                <a:sym typeface="+mn-ea"/>
              </a:rPr>
              <a:t>=&gt; 9    unsigned long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(4)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14 % 5 * </a:t>
            </a:r>
            <a:r>
              <a:rPr lang="en-US" altLang="zh-CN" sz="1600" b="1" dirty="0" err="1">
                <a:latin typeface="+mn-ea"/>
                <a:sym typeface="+mn-ea"/>
              </a:rPr>
              <a:t>static_cast</a:t>
            </a:r>
            <a:r>
              <a:rPr lang="en-US" altLang="zh-CN" sz="1600" b="1" dirty="0">
                <a:latin typeface="+mn-ea"/>
                <a:sym typeface="+mn-ea"/>
              </a:rPr>
              <a:t>&lt;unsigned long&gt;(2.8F + 7LL)                     </a:t>
            </a:r>
            <a:r>
              <a:rPr lang="en-US" altLang="zh-CN" sz="1600" b="1" dirty="0">
                <a:latin typeface="+mn-ea"/>
                <a:sym typeface="+mn-ea"/>
              </a:rPr>
              <a:t>=&gt; 36   unsigned long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(5)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14 % 5 * </a:t>
            </a:r>
            <a:r>
              <a:rPr lang="en-US" altLang="zh-CN" sz="1600" b="1" dirty="0" err="1">
                <a:latin typeface="+mn-ea"/>
                <a:sym typeface="+mn-ea"/>
              </a:rPr>
              <a:t>static_cast</a:t>
            </a:r>
            <a:r>
              <a:rPr lang="en-US" altLang="zh-CN" sz="1600" b="1" dirty="0">
                <a:latin typeface="+mn-ea"/>
                <a:sym typeface="+mn-ea"/>
              </a:rPr>
              <a:t>&lt;unsigned long&gt;(2.8F + 7LL) % 2                 </a:t>
            </a:r>
            <a:r>
              <a:rPr lang="en-US" altLang="zh-CN" sz="1600" b="1" dirty="0">
                <a:latin typeface="+mn-ea"/>
                <a:sym typeface="+mn-ea"/>
              </a:rPr>
              <a:t>=&gt; 0    unsigned long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(6)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14 % 5 * </a:t>
            </a:r>
            <a:r>
              <a:rPr lang="en-US" altLang="zh-CN" sz="1600" b="1" dirty="0" err="1">
                <a:latin typeface="+mn-ea"/>
                <a:sym typeface="+mn-ea"/>
              </a:rPr>
              <a:t>static_cast</a:t>
            </a:r>
            <a:r>
              <a:rPr lang="en-US" altLang="zh-CN" sz="1600" b="1" dirty="0">
                <a:latin typeface="+mn-ea"/>
                <a:sym typeface="+mn-ea"/>
              </a:rPr>
              <a:t>&lt;unsigned long&gt;(2.8F + 7LL) % 2 * 2.3F          =&gt; 0    float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zh-CN" altLang="en-US" sz="1600" b="1" dirty="0">
              <a:latin typeface="+mn-ea"/>
              <a:sym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(7)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2.3 + 14 % 5 * </a:t>
            </a:r>
            <a:r>
              <a:rPr lang="en-US" altLang="zh-CN" sz="1600" b="1" dirty="0" err="1">
                <a:latin typeface="+mn-ea"/>
                <a:sym typeface="+mn-ea"/>
              </a:rPr>
              <a:t>static_cast</a:t>
            </a:r>
            <a:r>
              <a:rPr lang="en-US" altLang="zh-CN" sz="1600" b="1" dirty="0">
                <a:latin typeface="+mn-ea"/>
                <a:sym typeface="+mn-ea"/>
              </a:rPr>
              <a:t>&lt;unsigned long&gt;(2.8F + 7LL) % 2 * 2.3F    </a:t>
            </a:r>
            <a:r>
              <a:rPr lang="en-US" altLang="zh-CN" sz="1600" b="1" dirty="0">
                <a:latin typeface="+mn-ea"/>
                <a:sym typeface="+mn-ea"/>
              </a:rPr>
              <a:t>=&gt; 2.3  double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335" y="3733165"/>
            <a:ext cx="8864600" cy="25336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67640" y="162560"/>
            <a:ext cx="11893550" cy="83058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、求表达式的值（要求给出计算过程、每步计算结果及数据类型、对应的验证程序及结果截图）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F. long(2.8 + 3.3) / 2 + (int)1.9 % 7LU - 'g' * 2L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(1)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2.8 + 3.3                                                =&gt; 6.1    double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(2)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long(2.8 + 3.3)                                          </a:t>
            </a:r>
            <a:r>
              <a:rPr lang="en-US" altLang="zh-CN" sz="1600" b="1" dirty="0">
                <a:latin typeface="+mn-ea"/>
                <a:sym typeface="+mn-ea"/>
              </a:rPr>
              <a:t>=&gt; 6      long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(3)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long(2.8 + 3.3) / 2                                      </a:t>
            </a:r>
            <a:r>
              <a:rPr lang="en-US" altLang="zh-CN" sz="1600" b="1" dirty="0">
                <a:latin typeface="+mn-ea"/>
                <a:sym typeface="+mn-ea"/>
              </a:rPr>
              <a:t>=&gt; 3      long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(4)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(int)1.9                                                 </a:t>
            </a:r>
            <a:r>
              <a:rPr lang="en-US" altLang="zh-CN" sz="1600" b="1" dirty="0">
                <a:latin typeface="+mn-ea"/>
                <a:sym typeface="+mn-ea"/>
              </a:rPr>
              <a:t>=&gt; 1      int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(5)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(int)1.9 % 7LU                                           </a:t>
            </a:r>
            <a:r>
              <a:rPr lang="en-US" altLang="zh-CN" sz="1600" b="1" dirty="0">
                <a:latin typeface="+mn-ea"/>
                <a:sym typeface="+mn-ea"/>
              </a:rPr>
              <a:t>=&gt; 1      unsigned long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(6)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'g'</a:t>
            </a:r>
            <a:r>
              <a:rPr lang="en-US" altLang="zh-CN" sz="1600" b="1" dirty="0">
                <a:latin typeface="+mn-ea"/>
                <a:sym typeface="+mn-ea"/>
              </a:rPr>
              <a:t>                                                      </a:t>
            </a:r>
            <a:r>
              <a:rPr lang="en-US" altLang="zh-CN" sz="1600" b="1" dirty="0">
                <a:latin typeface="+mn-ea"/>
                <a:sym typeface="+mn-ea"/>
              </a:rPr>
              <a:t>=&gt; 103    char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  <a:sym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(7)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'g' * 2L                                                 </a:t>
            </a:r>
            <a:r>
              <a:rPr lang="en-US" altLang="zh-CN" sz="1600" b="1" dirty="0">
                <a:latin typeface="+mn-ea"/>
                <a:sym typeface="+mn-ea"/>
              </a:rPr>
              <a:t>=&gt; </a:t>
            </a:r>
            <a:r>
              <a:rPr lang="en-US" altLang="zh-CN" sz="1600" b="1" dirty="0">
                <a:latin typeface="+mn-ea"/>
                <a:sym typeface="+mn-ea"/>
              </a:rPr>
              <a:t>206    long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(8) 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long(2.8 + 3.3) / 2 + (int)1.9 % 7LU - 'g' * 2L         </a:t>
            </a:r>
            <a:r>
              <a:rPr lang="en-US" altLang="zh-CN" sz="1600" b="1" dirty="0">
                <a:latin typeface="+mn-ea"/>
                <a:sym typeface="+mn-ea"/>
              </a:rPr>
              <a:t> =&gt; 4294967094   unsigned long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（此处（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8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）的算式是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3+1-206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，但是在计算机内部采用二进制方式计算，计算的结果是1111 1111 1111 1111 1111 1111 0011 0110（不够减的虚位借一），转换为十进制就是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4294967094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）</a:t>
            </a:r>
            <a:endParaRPr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2380" y="4327525"/>
            <a:ext cx="7651750" cy="23939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、求复合赋值表达式的值（要求给出计算过程、每步计算结果中变量的值、对应的验证程序及结果截图，示例见下）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假设</a:t>
            </a:r>
            <a:r>
              <a:rPr lang="en-US" altLang="zh-CN" sz="1600" b="1" dirty="0">
                <a:latin typeface="+mn-ea"/>
              </a:rPr>
              <a:t>int a = 5, n = 12;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a += n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=&gt; a = a + n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(1) a + n      a=5  n=12  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17</a:t>
            </a:r>
            <a:r>
              <a:rPr lang="zh-CN" altLang="en-US" sz="1600" b="1" dirty="0">
                <a:latin typeface="+mn-ea"/>
              </a:rPr>
              <a:t>存放在中间变量中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(2) a = </a:t>
            </a:r>
            <a:r>
              <a:rPr lang="zh-CN" altLang="en-US" sz="1600" b="1" dirty="0">
                <a:latin typeface="+mn-ea"/>
              </a:rPr>
              <a:t>和     </a:t>
            </a:r>
            <a:r>
              <a:rPr lang="en-US" altLang="zh-CN" sz="1600" b="1" dirty="0">
                <a:latin typeface="+mn-ea"/>
              </a:rPr>
              <a:t>a=17 n=12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755118" y="604344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123" y="2717750"/>
            <a:ext cx="7742857" cy="27047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62560" y="162560"/>
            <a:ext cx="11898630" cy="874395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、求复合赋值表达式的值（要求给出计算过程、每步计算结果及数据类型、对应的验证程序及结果截图，具体见下）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假设</a:t>
            </a:r>
            <a:r>
              <a:rPr lang="en-US" altLang="zh-CN" sz="1600" b="1" dirty="0">
                <a:latin typeface="+mn-ea"/>
              </a:rPr>
              <a:t>int a = 7, n = 11;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</a:t>
            </a:r>
            <a:r>
              <a:rPr lang="pt-BR" altLang="zh-CN" sz="1600" b="1" dirty="0">
                <a:latin typeface="+mn-ea"/>
              </a:rPr>
              <a:t>. </a:t>
            </a:r>
            <a:r>
              <a:rPr lang="en-US" altLang="pt-BR" sz="1600" b="1" dirty="0">
                <a:latin typeface="+mn-ea"/>
              </a:rPr>
              <a:t>  </a:t>
            </a:r>
            <a:r>
              <a:rPr lang="pt-BR" altLang="zh-CN" sz="1600" b="1" dirty="0">
                <a:latin typeface="+mn-ea"/>
              </a:rPr>
              <a:t>a +</a:t>
            </a:r>
            <a:r>
              <a:rPr lang="en-US" altLang="zh-CN" sz="1600" b="1" dirty="0">
                <a:latin typeface="+mn-ea"/>
              </a:rPr>
              <a:t>=</a:t>
            </a:r>
            <a:r>
              <a:rPr lang="pt-BR" altLang="zh-CN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a - n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=&gt; a = a + (a - n)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  <a:sym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(1) a - n            a = 7  n = 11  </a:t>
            </a:r>
            <a:r>
              <a:rPr lang="zh-CN" altLang="en-US" sz="1600" b="1" dirty="0">
                <a:latin typeface="+mn-ea"/>
                <a:sym typeface="+mn-ea"/>
              </a:rPr>
              <a:t>差</a:t>
            </a:r>
            <a:r>
              <a:rPr lang="en-US" altLang="zh-CN" sz="1600" b="1" dirty="0">
                <a:latin typeface="+mn-ea"/>
                <a:sym typeface="+mn-ea"/>
              </a:rPr>
              <a:t> -4 </a:t>
            </a:r>
            <a:r>
              <a:rPr lang="zh-CN" altLang="en-US" sz="1600" b="1" dirty="0">
                <a:latin typeface="+mn-ea"/>
                <a:sym typeface="+mn-ea"/>
              </a:rPr>
              <a:t>存放在中间变量中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(2) a + </a:t>
            </a:r>
            <a:r>
              <a:rPr lang="zh-CN" altLang="en-US" sz="1600" b="1" dirty="0">
                <a:latin typeface="+mn-ea"/>
                <a:sym typeface="+mn-ea"/>
              </a:rPr>
              <a:t>差</a:t>
            </a:r>
            <a:r>
              <a:rPr lang="en-US" altLang="zh-CN" sz="1600" b="1" dirty="0">
                <a:latin typeface="+mn-ea"/>
                <a:sym typeface="+mn-ea"/>
              </a:rPr>
              <a:t>           a = 7  n = 11  </a:t>
            </a:r>
            <a:r>
              <a:rPr lang="zh-CN" altLang="en-US" sz="1600" b="1" dirty="0">
                <a:latin typeface="+mn-ea"/>
                <a:sym typeface="+mn-ea"/>
              </a:rPr>
              <a:t>和</a:t>
            </a:r>
            <a:r>
              <a:rPr lang="en-US" altLang="zh-CN" sz="1600" b="1" dirty="0">
                <a:latin typeface="+mn-ea"/>
                <a:sym typeface="+mn-ea"/>
              </a:rPr>
              <a:t> 3 </a:t>
            </a:r>
            <a:r>
              <a:rPr lang="zh-CN" altLang="en-US" sz="1600" b="1" dirty="0">
                <a:latin typeface="+mn-ea"/>
                <a:sym typeface="+mn-ea"/>
              </a:rPr>
              <a:t>存放在中间变量中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(3) a = 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           a = 3  n = 11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9425" y="3221990"/>
            <a:ext cx="447675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、求复合赋值表达式的值（要求给出计算过程、每步计算结果及数据类型、对应的验证程序及结果截图，具体见下）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假设</a:t>
            </a:r>
            <a:r>
              <a:rPr lang="en-US" altLang="zh-CN" sz="1600" b="1" dirty="0">
                <a:latin typeface="+mn-ea"/>
              </a:rPr>
              <a:t>int a = 7, n = 11;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  n += a += 5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=&gt; n = n + (a = a + 5)</a:t>
            </a:r>
            <a:r>
              <a:rPr lang="en-US" altLang="zh-CN" sz="1600" b="1" dirty="0">
                <a:latin typeface="+mn-ea"/>
                <a:sym typeface="+mn-ea"/>
              </a:rPr>
              <a:t> </a:t>
            </a:r>
            <a:endParaRPr lang="zh-CN" altLang="en-US" sz="1600" b="1" dirty="0">
              <a:latin typeface="+mn-ea"/>
            </a:endParaRPr>
          </a:p>
          <a:p>
            <a:endParaRPr lang="zh-CN" altLang="en-US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  <a:sym typeface="+mn-ea"/>
              </a:rPr>
              <a:t>a + 5     a = 7   n = 11  </a:t>
            </a:r>
            <a:r>
              <a:rPr lang="zh-CN" altLang="en-US" sz="1600" b="1" dirty="0">
                <a:latin typeface="+mn-ea"/>
                <a:sym typeface="+mn-ea"/>
              </a:rPr>
              <a:t>和一</a:t>
            </a:r>
            <a:r>
              <a:rPr lang="en-US" altLang="zh-CN" sz="1600" b="1" dirty="0">
                <a:latin typeface="+mn-ea"/>
                <a:sym typeface="+mn-ea"/>
              </a:rPr>
              <a:t> 12 </a:t>
            </a:r>
            <a:r>
              <a:rPr lang="zh-CN" altLang="en-US" sz="1600" b="1" dirty="0">
                <a:latin typeface="+mn-ea"/>
                <a:sym typeface="+mn-ea"/>
              </a:rPr>
              <a:t>存放在中间变量中</a:t>
            </a:r>
            <a:endParaRPr lang="zh-CN" altLang="en-US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a = </a:t>
            </a:r>
            <a:r>
              <a:rPr lang="zh-CN" altLang="en-US" sz="1600" b="1" dirty="0">
                <a:latin typeface="+mn-ea"/>
              </a:rPr>
              <a:t>和一</a:t>
            </a:r>
            <a:r>
              <a:rPr lang="en-US" altLang="zh-CN" sz="1600" b="1" dirty="0">
                <a:latin typeface="+mn-ea"/>
              </a:rPr>
              <a:t>  a = 12  n = 11  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n + a     a = 12  n = 11  </a:t>
            </a:r>
            <a:r>
              <a:rPr lang="zh-CN" altLang="en-US" sz="1600" b="1" dirty="0">
                <a:latin typeface="+mn-ea"/>
              </a:rPr>
              <a:t>和二</a:t>
            </a:r>
            <a:r>
              <a:rPr lang="en-US" altLang="zh-CN" sz="1600" b="1" dirty="0">
                <a:latin typeface="+mn-ea"/>
              </a:rPr>
              <a:t> 23 </a:t>
            </a:r>
            <a:r>
              <a:rPr lang="zh-CN" altLang="en-US" sz="1600" b="1" dirty="0">
                <a:latin typeface="+mn-ea"/>
                <a:sym typeface="+mn-ea"/>
              </a:rPr>
              <a:t>存放在中间变量中</a:t>
            </a:r>
            <a:endParaRPr lang="zh-CN" altLang="en-US" sz="1600" b="1" dirty="0">
              <a:latin typeface="+mn-ea"/>
              <a:sym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n = </a:t>
            </a:r>
            <a:r>
              <a:rPr lang="zh-CN" altLang="en-US" sz="1600" b="1" dirty="0">
                <a:latin typeface="+mn-ea"/>
              </a:rPr>
              <a:t>和二</a:t>
            </a:r>
            <a:r>
              <a:rPr lang="en-US" altLang="zh-CN" sz="1600" b="1" dirty="0">
                <a:latin typeface="+mn-ea"/>
              </a:rPr>
              <a:t>  a = 12  n = 23 </a:t>
            </a:r>
            <a:endParaRPr lang="zh-CN" altLang="en-US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4035" y="3549650"/>
            <a:ext cx="4083050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、求复合赋值表达式的值（要求给出计算过程、每步计算结果及数据类型、对应的验证程序及结果截图，具体见下）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假设</a:t>
            </a:r>
            <a:r>
              <a:rPr lang="en-US" altLang="zh-CN" sz="1600" b="1" dirty="0">
                <a:latin typeface="+mn-ea"/>
              </a:rPr>
              <a:t>int a = 7, n = 11;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 a += a += a *= a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=&gt;a = a + (a = a + (a = a * a))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(1) a * a        a = 7    n = 11  </a:t>
            </a:r>
            <a:r>
              <a:rPr lang="zh-CN" altLang="en-US" sz="1600" b="1" dirty="0">
                <a:latin typeface="+mn-ea"/>
                <a:sym typeface="+mn-ea"/>
              </a:rPr>
              <a:t>积</a:t>
            </a:r>
            <a:r>
              <a:rPr lang="en-US" altLang="zh-CN" sz="1600" b="1" dirty="0">
                <a:latin typeface="+mn-ea"/>
                <a:sym typeface="+mn-ea"/>
              </a:rPr>
              <a:t> 49 </a:t>
            </a:r>
            <a:r>
              <a:rPr lang="zh-CN" altLang="en-US" sz="1600" b="1" dirty="0">
                <a:latin typeface="+mn-ea"/>
                <a:sym typeface="+mn-ea"/>
              </a:rPr>
              <a:t>存放在中间变量中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(2) a = </a:t>
            </a:r>
            <a:r>
              <a:rPr lang="zh-CN" altLang="en-US" sz="1600" b="1" dirty="0">
                <a:latin typeface="+mn-ea"/>
                <a:sym typeface="+mn-ea"/>
              </a:rPr>
              <a:t>积</a:t>
            </a:r>
            <a:r>
              <a:rPr lang="en-US" altLang="zh-CN" sz="1600" b="1" dirty="0">
                <a:latin typeface="+mn-ea"/>
                <a:sym typeface="+mn-ea"/>
              </a:rPr>
              <a:t>       a = 49   n = 11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(3) a + a        a = 49   n = 11  </a:t>
            </a:r>
            <a:r>
              <a:rPr lang="zh-CN" altLang="en-US" sz="1600" b="1" dirty="0">
                <a:latin typeface="+mn-ea"/>
                <a:sym typeface="+mn-ea"/>
              </a:rPr>
              <a:t>和一</a:t>
            </a:r>
            <a:r>
              <a:rPr lang="en-US" altLang="zh-CN" sz="1600" b="1" dirty="0">
                <a:latin typeface="+mn-ea"/>
                <a:sym typeface="+mn-ea"/>
              </a:rPr>
              <a:t> 98 </a:t>
            </a:r>
            <a:r>
              <a:rPr lang="zh-CN" altLang="en-US" sz="1600" b="1" dirty="0">
                <a:latin typeface="+mn-ea"/>
                <a:sym typeface="+mn-ea"/>
              </a:rPr>
              <a:t>存放在中间变量中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(4) a = </a:t>
            </a:r>
            <a:r>
              <a:rPr lang="zh-CN" altLang="en-US" sz="1600" b="1" dirty="0">
                <a:latin typeface="+mn-ea"/>
                <a:sym typeface="+mn-ea"/>
              </a:rPr>
              <a:t>和一</a:t>
            </a:r>
            <a:r>
              <a:rPr lang="en-US" altLang="zh-CN" sz="1600" b="1" dirty="0">
                <a:latin typeface="+mn-ea"/>
                <a:sym typeface="+mn-ea"/>
              </a:rPr>
              <a:t>     a = 98   n = 11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(5) a + a        a = 98   n = 11  </a:t>
            </a:r>
            <a:r>
              <a:rPr lang="zh-CN" altLang="en-US" sz="1600" b="1" dirty="0">
                <a:latin typeface="+mn-ea"/>
                <a:sym typeface="+mn-ea"/>
              </a:rPr>
              <a:t>和二</a:t>
            </a:r>
            <a:r>
              <a:rPr lang="en-US" altLang="zh-CN" sz="1600" b="1" dirty="0">
                <a:latin typeface="+mn-ea"/>
                <a:sym typeface="+mn-ea"/>
              </a:rPr>
              <a:t> 196 </a:t>
            </a:r>
            <a:r>
              <a:rPr lang="zh-CN" altLang="en-US" sz="1600" b="1" dirty="0">
                <a:latin typeface="+mn-ea"/>
                <a:sym typeface="+mn-ea"/>
              </a:rPr>
              <a:t>存放在中间变量中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(6) a = </a:t>
            </a:r>
            <a:r>
              <a:rPr lang="zh-CN" altLang="en-US" sz="1600" b="1" dirty="0">
                <a:latin typeface="+mn-ea"/>
                <a:sym typeface="+mn-ea"/>
              </a:rPr>
              <a:t>和二</a:t>
            </a:r>
            <a:r>
              <a:rPr lang="en-US" altLang="zh-CN" sz="1600" b="1" dirty="0">
                <a:latin typeface="+mn-ea"/>
                <a:sym typeface="+mn-ea"/>
              </a:rPr>
              <a:t>     a = 196  n = 11</a:t>
            </a:r>
            <a:endParaRPr lang="en-US" altLang="zh-CN" sz="1600" b="1" dirty="0">
              <a:latin typeface="+mn-ea"/>
              <a:sym typeface="+mn-ea"/>
            </a:endParaRPr>
          </a:p>
          <a:p>
            <a:endParaRPr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9395" y="3768725"/>
            <a:ext cx="4870450" cy="25590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93040" y="162560"/>
            <a:ext cx="11868150" cy="836295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>
                <a:latin typeface="+mn-ea"/>
              </a:rPr>
              <a:t>4</a:t>
            </a:r>
            <a:r>
              <a:rPr lang="zh-CN" altLang="en-US" sz="1600" b="1">
                <a:latin typeface="+mn-ea"/>
              </a:rPr>
              <a:t>、</a:t>
            </a:r>
            <a:r>
              <a:rPr lang="zh-CN" altLang="en-US" sz="1600" b="1" dirty="0">
                <a:latin typeface="+mn-ea"/>
              </a:rPr>
              <a:t>求复合赋值表达式的值（要求给出计算过程、每步计算结果及数据类型、对应的验证程序及结果截图，具体见下）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假设</a:t>
            </a:r>
            <a:r>
              <a:rPr lang="en-US" altLang="zh-CN" sz="1600" b="1" dirty="0">
                <a:latin typeface="+mn-ea"/>
              </a:rPr>
              <a:t>int a = 6, n = 11;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D. n %= a %= 3  </a:t>
            </a:r>
            <a:r>
              <a:rPr lang="zh-CN" altLang="en-US" sz="1600" b="1" dirty="0">
                <a:latin typeface="+mn-ea"/>
              </a:rPr>
              <a:t>本题需要解释，为什么编译不报错，但运行无输出、返回代码为负值、且运行时间比</a:t>
            </a:r>
            <a:r>
              <a:rPr lang="en-US" altLang="zh-CN" sz="1600" b="1" dirty="0">
                <a:latin typeface="+mn-ea"/>
              </a:rPr>
              <a:t>7.ABC</a:t>
            </a:r>
            <a:r>
              <a:rPr lang="zh-CN" altLang="en-US" sz="1600" b="1" dirty="0">
                <a:latin typeface="+mn-ea"/>
              </a:rPr>
              <a:t>长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（无法理解或说清楚原因的，给出合理猜测也可）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=&gt; n = n % (a = a % 3)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(1) a % 3       a = 6   n = 11   </a:t>
            </a:r>
            <a:r>
              <a:rPr lang="zh-CN" altLang="en-US" sz="1600" b="1" dirty="0">
                <a:latin typeface="+mn-ea"/>
                <a:sym typeface="+mn-ea"/>
              </a:rPr>
              <a:t>余数</a:t>
            </a:r>
            <a:r>
              <a:rPr lang="en-US" altLang="zh-CN" sz="1600" b="1" dirty="0">
                <a:latin typeface="+mn-ea"/>
                <a:sym typeface="+mn-ea"/>
              </a:rPr>
              <a:t> 0 </a:t>
            </a:r>
            <a:r>
              <a:rPr lang="zh-CN" altLang="en-US" sz="1600" b="1" dirty="0">
                <a:latin typeface="+mn-ea"/>
                <a:sym typeface="+mn-ea"/>
              </a:rPr>
              <a:t>存放在中间变量中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(2) a = </a:t>
            </a:r>
            <a:r>
              <a:rPr lang="zh-CN" altLang="en-US" sz="1600" b="1" dirty="0">
                <a:latin typeface="+mn-ea"/>
                <a:sym typeface="+mn-ea"/>
              </a:rPr>
              <a:t>余数</a:t>
            </a:r>
            <a:r>
              <a:rPr lang="en-US" altLang="zh-CN" sz="1600" b="1" dirty="0">
                <a:latin typeface="+mn-ea"/>
                <a:sym typeface="+mn-ea"/>
              </a:rPr>
              <a:t>    a = 0   n = 11    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(3) n % a       a = 0   n = 11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此时到第三步时，需要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11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对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0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取余，将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0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作为除数。整个算式在编译逻辑上没有语法错误，因此不会报错。但是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11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对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0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取余无法运算，接下来的步骤也不能继续运行，所以运行无输出。返回代码为负值代表程序没有进行到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return 0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这一步，没有运行成功。（如果运行成功，返回代码为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0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）运行时间更长可能是因为对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0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取余这个错误操作要处理较长时间。</a:t>
            </a:r>
            <a:endParaRPr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8120" y="4013200"/>
            <a:ext cx="7029450" cy="27393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zUwMDE4ODJhNGJhYzNiZjlkYmQyMTBiNTljMTUzMjcifQ=="/>
</p:tagLst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13739</Words>
  <Application>WPS 演示</Application>
  <PresentationFormat>宽屏</PresentationFormat>
  <Paragraphs>655</Paragraphs>
  <Slides>35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染墨相思</cp:lastModifiedBy>
  <cp:revision>169</cp:revision>
  <dcterms:created xsi:type="dcterms:W3CDTF">2020-08-13T13:39:00Z</dcterms:created>
  <dcterms:modified xsi:type="dcterms:W3CDTF">2024-03-12T13:10:27Z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852A58F0270540669FA65A65E25C12F6_12</vt:lpwstr>
  </property>
  <property fmtid="{D5CDD505-2E9C-101B-9397-08002B2CF9AE}" pid="3" name="KSOProductBuildVer">
    <vt:lpwstr>2052-12.1.0.16388</vt:lpwstr>
  </property>
</Properties>
</file>