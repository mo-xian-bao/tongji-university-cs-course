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68" r:id="rId5"/>
    <p:sldId id="1237" r:id="rId6"/>
    <p:sldId id="1230" r:id="rId7"/>
    <p:sldId id="449" r:id="rId8"/>
    <p:sldId id="492" r:id="rId9"/>
    <p:sldId id="1186" r:id="rId10"/>
    <p:sldId id="1188" r:id="rId11"/>
    <p:sldId id="1189" r:id="rId12"/>
    <p:sldId id="1190" r:id="rId13"/>
    <p:sldId id="1194" r:id="rId14"/>
    <p:sldId id="1193" r:id="rId15"/>
    <p:sldId id="1202" r:id="rId16"/>
    <p:sldId id="1213" r:id="rId17"/>
    <p:sldId id="1203" r:id="rId18"/>
    <p:sldId id="1214" r:id="rId19"/>
    <p:sldId id="1204" r:id="rId20"/>
    <p:sldId id="1269" r:id="rId21"/>
    <p:sldId id="1205" r:id="rId22"/>
    <p:sldId id="1216" r:id="rId23"/>
    <p:sldId id="1206" r:id="rId24"/>
    <p:sldId id="1210" r:id="rId25"/>
    <p:sldId id="1270" r:id="rId26"/>
    <p:sldId id="1209" r:id="rId27"/>
    <p:sldId id="1191" r:id="rId28"/>
    <p:sldId id="1192" r:id="rId29"/>
    <p:sldId id="1207" r:id="rId30"/>
    <p:sldId id="1208" r:id="rId31"/>
    <p:sldId id="1212" r:id="rId32"/>
    <p:sldId id="1217" r:id="rId33"/>
    <p:sldId id="1218" r:id="rId34"/>
    <p:sldId id="1221" r:id="rId35"/>
    <p:sldId id="1219" r:id="rId36"/>
    <p:sldId id="1220" r:id="rId37"/>
    <p:sldId id="1222" r:id="rId38"/>
    <p:sldId id="1224" r:id="rId39"/>
    <p:sldId id="1200" r:id="rId40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142" d="100"/>
          <a:sy n="142" d="100"/>
        </p:scale>
        <p:origin x="51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1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特别说明：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、本次作业是预习作业，在下周上课前完成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、对于作业过程中不清楚的问题或不会的内容，先不要问（不清楚的位置可以先做个标记，结合听课再去理解）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要求一个程序多次运行的，不要自以为是的修改程序，放在一次去运行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7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基本知识点：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是按格式读入，到空格、回车、非法为止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的输入必须以回车结束，输入的内容放在输入缓冲区中，从输入缓冲区去取得所需要的内容后，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多余的内容还放在输入缓冲区中，等待下次读入（如果程序结束，则操作系统会清空输入缓冲区）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、系统会自动根据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后变量的类型按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最长原则</a:t>
            </a:r>
            <a:r>
              <a:rPr lang="zh-CN" altLang="en-US" sz="1600" b="1" dirty="0">
                <a:latin typeface="+mn-ea"/>
              </a:rPr>
              <a:t>来读取合理数据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、变量读取后，系统会判断输入数据是否超过变量的范围，若超过则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置内部的错误标记</a:t>
            </a:r>
            <a:r>
              <a:rPr lang="zh-CN" altLang="en-US" sz="1600" b="1" dirty="0">
                <a:latin typeface="+mn-ea"/>
              </a:rPr>
              <a:t>并返回一个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不可信</a:t>
            </a:r>
            <a:r>
              <a:rPr lang="zh-CN" altLang="en-US" sz="1600" b="1" dirty="0">
                <a:latin typeface="+mn-ea"/>
              </a:rPr>
              <a:t>的值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（不同编译器处理不同）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输入完成后，通过</a:t>
            </a:r>
            <a:r>
              <a:rPr lang="en-US" altLang="zh-CN" sz="1600" b="1" dirty="0" err="1">
                <a:latin typeface="+mn-ea"/>
              </a:rPr>
              <a:t>cin.good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cin.fail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可判断本次输入是否正确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碰到非法字符后会置错误标记位，后面会一直错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（如何恢复还未学到，先放着）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连续输入多个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时，碰到非法字符，下一个是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，再下面才是随机值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超范围后，不同类型的数据处理不同，如果细节记不清，问题不大，但一定要知道有这回事，别奇怪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超范围和赋值超范围是不同的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根据数据类型决定输出形式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3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6000" b="1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6000" b="1" dirty="0">
                <a:solidFill>
                  <a:srgbClr val="FF0000"/>
                </a:solidFill>
                <a:latin typeface="+mn-ea"/>
              </a:rPr>
              <a:t>、先认真看课件</a:t>
            </a:r>
            <a:r>
              <a:rPr lang="en-US" altLang="zh-CN" sz="60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60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5387" y="4234030"/>
            <a:ext cx="6202120" cy="11360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a C++ 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 &lt;&lt; "a C++ " &lt;&lt; "program."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&lt;&lt; "a C++ "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&lt;&lt; "program."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 C++ ";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"program.";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zh-CN" altLang="zh-CN" sz="12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190875" y="5665076"/>
            <a:ext cx="7648575" cy="86907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4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组在语句上的区别是：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答：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第三组使用单个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cout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语句输出连续的字符串，第四组则使用多个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cout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语句，每个字符串被单独输出。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3140" y="2816225"/>
            <a:ext cx="4061460" cy="2041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1820" y="1323975"/>
            <a:ext cx="1069657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25855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a=10, b=15, c=20;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b &lt;&lt; c;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177656" y="1323975"/>
            <a:ext cx="238231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a=10, b=15, c=20;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a, b, c;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559972" y="1323974"/>
            <a:ext cx="27116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a=10, b=15, c=20;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(a, b, c)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8271510" y="1323975"/>
            <a:ext cx="30143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a=10, b=15, c=20;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a, b,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588075" y="4796001"/>
            <a:ext cx="7683562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个程序输出不同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原因：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一个流插入运算符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&lt;&lt;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只能输出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个数据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.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第一个程序有三个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&lt;&lt;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，分别输出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abc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的值。第二个程序只有一个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&lt;&lt;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，只输出最近的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的值。第三个程序中（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a,b,c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）的值等于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，因此输出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的值。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271510" y="4796155"/>
            <a:ext cx="3016885" cy="8693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解释错误原因：</a:t>
            </a:r>
            <a:r>
              <a:rPr kumimoji="1" lang="zh-CN" sz="1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使用逗号分隔后，</a:t>
            </a:r>
            <a:r>
              <a:rPr kumimoji="1" lang="en-US" altLang="zh-CN" sz="1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“c&lt;&lt;endl”</a:t>
            </a: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被认为是一个语句，这存在语法错误，所以报错</a:t>
            </a:r>
            <a:endParaRPr kumimoji="1" lang="zh-CN" altLang="en-US" sz="14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010" y="5664835"/>
            <a:ext cx="10701020" cy="8693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latin typeface="+mn-ea"/>
              </a:rPr>
              <a:t>结论：一个流插入运算符 </a:t>
            </a:r>
            <a:r>
              <a:rPr kumimoji="1" lang="en-US" altLang="zh-CN" sz="2400" b="1" dirty="0">
                <a:latin typeface="+mn-ea"/>
              </a:rPr>
              <a:t>&lt;&lt; </a:t>
            </a:r>
            <a:r>
              <a:rPr kumimoji="1" lang="zh-CN" altLang="en-US" sz="2400" b="1" dirty="0">
                <a:latin typeface="+mn-ea"/>
              </a:rPr>
              <a:t>只能输出</a:t>
            </a:r>
            <a:r>
              <a:rPr kumimoji="1" lang="en-US" altLang="zh-CN" sz="2400" b="1" u="sng" dirty="0">
                <a:latin typeface="+mn-ea"/>
              </a:rPr>
              <a:t>__1__</a:t>
            </a:r>
            <a:r>
              <a:rPr kumimoji="1" lang="zh-CN" altLang="en-US" sz="2400" b="1" dirty="0">
                <a:latin typeface="+mn-ea"/>
              </a:rPr>
              <a:t>个数据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" y="3388995"/>
            <a:ext cx="2432050" cy="723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3477895"/>
            <a:ext cx="2209800" cy="635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385" y="3477895"/>
            <a:ext cx="2082800" cy="7239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0" y="3477895"/>
            <a:ext cx="310515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49158" y="1323975"/>
            <a:ext cx="509028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074" y="5665075"/>
            <a:ext cx="1024733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解释这两个程序输出不同的原因：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第一个程序变量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ch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型，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char 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65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代表将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ASCII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码为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65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的字符赋值给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，因此输出为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。第二个程序变量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型，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int 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65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代表将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65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这个数赋值给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，因此输出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65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070" y="3599180"/>
            <a:ext cx="2585085" cy="14643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470" y="3510280"/>
            <a:ext cx="2332990" cy="1700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49159" y="1323975"/>
            <a:ext cx="50902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char(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074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（不允许添加其它变量）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45119" y="5665075"/>
            <a:ext cx="5094331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（不允许添加其它变量）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505" y="3174365"/>
            <a:ext cx="3460750" cy="2438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3206115"/>
            <a:ext cx="3676650" cy="2406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 + 0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3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不允许使用任何方式的强制类型转换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750" y="1692275"/>
            <a:ext cx="4792980" cy="3421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</a:t>
            </a:r>
            <a:r>
              <a:rPr lang="en-US" altLang="zh-CN" sz="1600" b="1" dirty="0">
                <a:latin typeface="+mn-ea"/>
              </a:rPr>
              <a:t> 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 k="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(↙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代表回车键，下同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123 456↙(</a:t>
            </a:r>
            <a:r>
              <a:rPr kumimoji="1" lang="zh-CN" altLang="en-US" sz="1200" b="1" dirty="0">
                <a:latin typeface="+mn-ea"/>
              </a:rPr>
              <a:t>一个空格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123    456↙(</a:t>
            </a:r>
            <a:r>
              <a:rPr kumimoji="1" lang="zh-CN" altLang="en-US" sz="1200" b="1" dirty="0">
                <a:latin typeface="+mn-ea"/>
              </a:rPr>
              <a:t>多个空格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123m↙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m↙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123↙ (</a:t>
            </a:r>
            <a:r>
              <a:rPr kumimoji="1" lang="zh-CN" altLang="en-US" sz="1200" b="1" dirty="0">
                <a:latin typeface="+mn-ea"/>
              </a:rPr>
              <a:t>持续多个空格后，再输入</a:t>
            </a:r>
            <a:r>
              <a:rPr kumimoji="1" lang="en-US" altLang="zh-CN" sz="1200" b="1" dirty="0">
                <a:latin typeface="+mn-ea"/>
              </a:rPr>
              <a:t>123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↙ (</a:t>
            </a:r>
            <a:r>
              <a:rPr kumimoji="1" lang="zh-CN" altLang="en-US" sz="1200" b="1" dirty="0">
                <a:latin typeface="+mn-ea"/>
              </a:rPr>
              <a:t>持续多个空格后，按回车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123↙   (</a:t>
            </a:r>
            <a:r>
              <a:rPr kumimoji="1" lang="zh-CN" altLang="en-US" sz="1200" b="1" dirty="0">
                <a:latin typeface="+mn-ea"/>
              </a:rPr>
              <a:t>再输入</a:t>
            </a:r>
            <a:r>
              <a:rPr kumimoji="1" lang="en-US" altLang="zh-CN" sz="1200" b="1" dirty="0">
                <a:latin typeface="+mn-ea"/>
              </a:rPr>
              <a:t>123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...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↙  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123↙ (</a:t>
            </a:r>
            <a:r>
              <a:rPr kumimoji="1" lang="zh-CN" altLang="en-US" sz="1200" b="1" dirty="0">
                <a:latin typeface="+mn-ea"/>
              </a:rPr>
              <a:t>持续多个空回车后，输入</a:t>
            </a:r>
            <a:r>
              <a:rPr kumimoji="1" lang="en-US" altLang="zh-CN" sz="1200" b="1" dirty="0">
                <a:latin typeface="+mn-ea"/>
              </a:rPr>
              <a:t>123)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分析结果：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、在前面有正确输入的情况下，回车、空格、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型而言是非法的字符</a:t>
            </a:r>
            <a:r>
              <a:rPr kumimoji="1" lang="en-US" altLang="zh-CN" sz="1200" b="1" dirty="0">
                <a:latin typeface="+mn-ea"/>
              </a:rPr>
              <a:t>)m</a:t>
            </a:r>
            <a:r>
              <a:rPr kumimoji="1" lang="zh-CN" altLang="en-US" sz="1200" b="1" dirty="0">
                <a:latin typeface="+mn-ea"/>
              </a:rPr>
              <a:t>的作用是？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答：终止读入。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、直接输入若干空格和回车后，再输入正确，变量是否能得到正确的值？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答：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能。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、直接输入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非法的数据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，输出是？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答：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4391025"/>
            <a:ext cx="3356644" cy="2143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基础知识：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的最小值是：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__-32768___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的最大值是：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__32767__</a:t>
            </a:r>
            <a:endParaRPr kumimoji="1" lang="en-US" altLang="zh-CN" sz="1600" b="1" u="sng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5948516"/>
            <a:ext cx="3356644" cy="58563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4845" y="1750060"/>
            <a:ext cx="1125220" cy="6908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695" y="2372360"/>
            <a:ext cx="816610" cy="5607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185" y="2982595"/>
            <a:ext cx="1059815" cy="56896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6421755" y="2142490"/>
            <a:ext cx="494665" cy="431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1" name="直接箭头连接符 10"/>
          <p:cNvCxnSpPr/>
          <p:nvPr/>
        </p:nvCxnSpPr>
        <p:spPr>
          <a:xfrm>
            <a:off x="5193030" y="2599690"/>
            <a:ext cx="419100" cy="279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直接箭头连接符 11"/>
          <p:cNvCxnSpPr/>
          <p:nvPr/>
        </p:nvCxnSpPr>
        <p:spPr>
          <a:xfrm flipV="1">
            <a:off x="8280400" y="3245485"/>
            <a:ext cx="494665" cy="431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520457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short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5" y="1323974"/>
            <a:ext cx="503872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123↙  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123︺456↙(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-123m↙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非法字符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m↙       (</a:t>
            </a:r>
            <a:r>
              <a:rPr kumimoji="1" lang="zh-CN" altLang="en-US" sz="1600" b="1" dirty="0">
                <a:latin typeface="+mn-ea"/>
              </a:rPr>
              <a:t>直接非法字符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   (</a:t>
            </a:r>
            <a:r>
              <a:rPr kumimoji="1" lang="zh-CN" altLang="en-US" sz="1600" b="1" dirty="0">
                <a:latin typeface="+mn-ea"/>
              </a:rPr>
              <a:t>超上限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-40000↙  (</a:t>
            </a:r>
            <a:r>
              <a:rPr kumimoji="1" lang="zh-CN" altLang="en-US" sz="1600" b="1" dirty="0">
                <a:latin typeface="+mn-ea"/>
              </a:rPr>
              <a:t>超下限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3" y="4857749"/>
            <a:ext cx="5204572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多个输入中，编号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___5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6184490"/>
            <a:ext cx="5204570" cy="34966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0570" y="2894330"/>
            <a:ext cx="1244600" cy="800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800" y="4478020"/>
            <a:ext cx="1119505" cy="7810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2870" y="1323975"/>
            <a:ext cx="948055" cy="73279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1435" y="2146300"/>
            <a:ext cx="907415" cy="65849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0925" y="3783965"/>
            <a:ext cx="909955" cy="7613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3800" y="5327015"/>
            <a:ext cx="826770" cy="7378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1820" y="1323975"/>
            <a:ext cx="1116266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16230" y="162560"/>
            <a:ext cx="11795125" cy="11087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B-Compare.</a:t>
            </a:r>
            <a:r>
              <a:rPr lang="zh-CN" altLang="en-US" sz="1600" b="1" dirty="0">
                <a:latin typeface="+mn-ea"/>
              </a:rPr>
              <a:t>运行下面的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输入与赋值），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观察运行结果并与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B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的输出结果进行对比分析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k1, k2, k3, k4, k5;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k1 = 12345;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k2 = 54321;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k3 = 70000;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k4 = -12345;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k5 = -54321;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9065" y="1323975"/>
            <a:ext cx="78047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的输入：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 12345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cin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输入与赋值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一致。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 54321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不一致。输入是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32767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，赋值是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-11215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 70000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不一致。输入是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32767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，赋值是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4464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 -12345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cin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输入与赋值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一致。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-54321↙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 -54321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不一致。输入是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-32768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，赋值是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11215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分析：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当输入数据在合理范围时，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输入和赋值的输出结果相同。当输入数据超过合理范围时，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输入正数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负数的输出结果为该类型的上限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下限（不可信），赋值的输出则为输入数的二进制补码转换为规定类型后的数。（如输入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54321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，其二进制补码为11010010 11010001，这等于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类型的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-11215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）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103477" y="1323974"/>
            <a:ext cx="2731934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4535" y="1963420"/>
            <a:ext cx="1670685" cy="21697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520457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5" y="1323974"/>
            <a:ext cx="56999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_2147483647_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_2147483648_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_5000000000_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_-2147483648_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_-2147483649_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20114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多个输入中，编号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201149" y="1323974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2114" y="6174658"/>
            <a:ext cx="5204570" cy="35949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3575" y="1761490"/>
            <a:ext cx="1181100" cy="7410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575" y="2828290"/>
            <a:ext cx="1129030" cy="7499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155" y="3776980"/>
            <a:ext cx="865505" cy="7626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9640" y="4242435"/>
            <a:ext cx="970280" cy="8337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8035" y="5187950"/>
            <a:ext cx="932815" cy="7918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不一致。输入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超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上限但未超同类型的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u_int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上限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的输出结果为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类型的上限，即2147483647；而赋值的输出结果为输入值的二进制补码转换为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型的十进制结果。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上限且超同类型的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不一致。输入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超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上限且超同类型的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u_int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上限的输出结果为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类型的上限，即2147483647；而赋值的输出结果为输入值的二进制补码舍弃高位后转换为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型的十进制结果。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不一致。输入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超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下限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的输出结果为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类型的下限，即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-2147483648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；而赋值的输出结果为输入值的二进制补码舍弃高位（如果有）后转换为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型的十进制结果。</a:t>
            </a:r>
            <a:endParaRPr kumimoji="1"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"k=" &lt;&lt;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 good="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 fail="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多个输入中，编号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9270124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2112" y="6154993"/>
            <a:ext cx="5204569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355" y="1714500"/>
            <a:ext cx="1514475" cy="4883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355" y="2251075"/>
            <a:ext cx="1367790" cy="4908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145" y="2717800"/>
            <a:ext cx="1339850" cy="5035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145" y="3278505"/>
            <a:ext cx="1440815" cy="4883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2840" y="4030980"/>
            <a:ext cx="1330325" cy="5187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2840" y="4817745"/>
            <a:ext cx="1282065" cy="5092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构造的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u_short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k1, k2, k3, k4, k5, k6;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k1 = 12345;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k2 = 70000;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k3 = -12345;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k4 = -1;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k5 = -65535;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k6 = -65536;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k6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贴图即可（有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还有贴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），不需要写分析结果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k1=12345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k2=70000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k3=-12345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k4=-1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k5=-65535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k6=-65536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160557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3170" y="2745105"/>
            <a:ext cx="2091690" cy="2230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330" y="5756910"/>
            <a:ext cx="2947670" cy="387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330" y="6144260"/>
            <a:ext cx="4411980" cy="4997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52045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unsigned 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 good()="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 fail()="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4" y="1323974"/>
            <a:ext cx="610956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_4294967295__</a:t>
            </a:r>
            <a:r>
              <a:rPr kumimoji="1" lang="en-US" altLang="zh-CN" sz="1600" b="1" dirty="0">
                <a:latin typeface="+mn-ea"/>
              </a:rPr>
              <a:t>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__4294967296__</a:t>
            </a:r>
            <a:r>
              <a:rPr kumimoji="1" lang="en-US" altLang="zh-CN" sz="1600" b="1" dirty="0">
                <a:latin typeface="+mn-ea"/>
              </a:rPr>
              <a:t>_↙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___-1__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（负数但未超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___-3000000000_</a:t>
            </a:r>
            <a:r>
              <a:rPr kumimoji="1" lang="en-US" altLang="zh-CN" sz="1600" b="1" dirty="0">
                <a:latin typeface="+mn-ea"/>
              </a:rPr>
              <a:t>_↙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___-10000000000_</a:t>
            </a:r>
            <a:r>
              <a:rPr kumimoji="1" lang="en-US" altLang="zh-CN" sz="1600" b="1" dirty="0">
                <a:latin typeface="+mn-ea"/>
              </a:rPr>
              <a:t>_↙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610725" y="5919018"/>
            <a:ext cx="2295525" cy="61513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多个输入中，编号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___2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5___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9610724" y="1323973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1" y="5919019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int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基本同 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short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，弄懂即可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本页可以不做，空着不扣分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3480" y="1714500"/>
            <a:ext cx="1765300" cy="4813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3480" y="2266950"/>
            <a:ext cx="1704340" cy="4870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620" y="2825115"/>
            <a:ext cx="1771650" cy="4705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105" y="3611245"/>
            <a:ext cx="2438400" cy="635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4205" y="4622165"/>
            <a:ext cx="2616200" cy="6921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E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1" y="5948515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int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基本同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，弄懂即可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本页可以不做，空着不扣分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B-E.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082675"/>
            <a:ext cx="11255375" cy="573786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名词解释：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输入正确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指数学上合法的数，但不代表一定在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C/C++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的某类型数据的数据范围内（下同）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2.B~2.E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，给出下列问题的分析及结论：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输出结果与输入一致。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数据在输入正确但超上限（未超同类型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输出结果为该类型的上限（不可信）。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输出结果为该类型的上限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（不可信）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数据在输入正确但超下限范围的情况下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输出结果为该类型的下限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（不可信）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输出结果与输入一致。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输出结果为该类型的上限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（不可信）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数据在输入正确但为负数（未超同类型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输出结果为输入数据转换为二进制补码后用同类型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数据解释后得到的十进制数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（不可信）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8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输出结果为输入数据转换为二进制补码后用同类型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unsigned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数据解释后得到的十进制数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（不可信）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上限加负号后的下限）的情况下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输出结果为该类型的上限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（不可信）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右值超范围的情况下，表现是否相同？总结规律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答：不相同。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输入超范围正数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负数的输出结果为该类型的上限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下限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（不可信）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，赋值的输出则为输入数的二进制补码（有必要可舍弃高位）转换为规定类型后得到的十进制数。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右值合理范围的情况下，表现是否相同？总结规律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输入与变量赋值在输入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右值合理范围的情况下输出结果相同。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3" y="1323975"/>
            <a:ext cx="401838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4610501" y="1323974"/>
            <a:ext cx="62249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（单个图形字符）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\b</a:t>
            </a:r>
            <a:r>
              <a:rPr lang="zh-CN" altLang="en-US" sz="1200" b="1" dirty="0">
                <a:latin typeface="+mn-ea"/>
              </a:rPr>
              <a:t>（退格键的转义符）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\101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\x41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16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65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码的十进制整数形式表示）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6154994"/>
            <a:ext cx="4018387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9420" y="1122680"/>
            <a:ext cx="461010" cy="680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715" y="1803400"/>
            <a:ext cx="446405" cy="6572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2271395"/>
            <a:ext cx="396875" cy="603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600" y="2874645"/>
            <a:ext cx="446405" cy="6134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765" y="3488055"/>
            <a:ext cx="408940" cy="6045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987800"/>
            <a:ext cx="1422400" cy="5016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4565015"/>
            <a:ext cx="812800" cy="8445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3" y="1323975"/>
            <a:ext cx="455740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f;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f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f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setprecision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(20)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表示输出时保留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    20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位有效位数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  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（已超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的有效位数）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149516" y="1323974"/>
            <a:ext cx="568589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</a:t>
            </a:r>
            <a:r>
              <a:rPr lang="zh-CN" altLang="en-US" sz="1200" b="1" dirty="0">
                <a:latin typeface="+mn-ea"/>
              </a:rPr>
              <a:t> （合理范围正数，小数形式）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1.23456e2</a:t>
            </a:r>
            <a:r>
              <a:rPr lang="zh-CN" altLang="en-US" sz="1200" b="1" dirty="0">
                <a:latin typeface="+mn-ea"/>
              </a:rPr>
              <a:t> （合理范围正数，指数形式）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-123.456</a:t>
            </a:r>
            <a:r>
              <a:rPr lang="zh-CN" altLang="en-US" sz="1200" b="1" dirty="0">
                <a:latin typeface="+mn-ea"/>
              </a:rPr>
              <a:t>（合理范围负数，小数形式）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-1.23456e2</a:t>
            </a:r>
            <a:r>
              <a:rPr lang="zh-CN" altLang="en-US" sz="1200" b="1" dirty="0">
                <a:latin typeface="+mn-ea"/>
              </a:rPr>
              <a:t> （合理范围负数，指数形式）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123.456789</a:t>
            </a:r>
            <a:r>
              <a:rPr lang="zh-CN" altLang="en-US" sz="1200" b="1" dirty="0">
                <a:latin typeface="+mn-ea"/>
              </a:rPr>
              <a:t>（合理范围，但超有效位数）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6.7e38</a:t>
            </a:r>
            <a:r>
              <a:rPr lang="zh-CN" altLang="en-US" sz="1200" b="1" dirty="0">
                <a:latin typeface="+mn-ea"/>
              </a:rPr>
              <a:t>（尾数超上限但数量级未超，仍是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1.7e39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-2.3e39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9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1.23e-30</a:t>
            </a:r>
            <a:r>
              <a:rPr lang="zh-CN" altLang="en-US" sz="1200" b="1" dirty="0">
                <a:latin typeface="+mn-ea"/>
              </a:rPr>
              <a:t>（合理范围整数但指数很小）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10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-1.23e-30</a:t>
            </a:r>
            <a:r>
              <a:rPr lang="zh-CN" altLang="en-US" sz="1200" b="1" dirty="0">
                <a:latin typeface="+mn-ea"/>
              </a:rPr>
              <a:t>（合理范围负数但指数很小）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6154994"/>
            <a:ext cx="4557402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1560" y="982980"/>
            <a:ext cx="1276985" cy="577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540" y="1560830"/>
            <a:ext cx="1214120" cy="553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450" y="2599055"/>
            <a:ext cx="1141095" cy="5086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365" y="3181985"/>
            <a:ext cx="458470" cy="5943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730" y="4079240"/>
            <a:ext cx="472440" cy="5588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560" y="4686935"/>
            <a:ext cx="1540510" cy="5638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450" y="5340985"/>
            <a:ext cx="1658620" cy="665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948760" y="1323975"/>
            <a:ext cx="314572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&gt;&gt; b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&gt;&gt; c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094482" y="1323974"/>
            <a:ext cx="37449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075" y="5665075"/>
            <a:ext cx="10247336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、程序运行后，输入：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，观察输出结果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、解释第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个程序的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语句的使用区别：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第二个程序是一个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后面跟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4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个输入流提取运算符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&gt;&gt;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来获取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4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个数据；第三个程序是四个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分别跟一个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&gt;&gt;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来获取一个数据。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030" y="4374515"/>
            <a:ext cx="1143000" cy="1225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4799330"/>
            <a:ext cx="965200" cy="11303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660" y="4316730"/>
            <a:ext cx="1012190" cy="12687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1820" y="1323975"/>
            <a:ext cx="1100137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9065" y="1323975"/>
            <a:ext cx="764413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1   2   3   4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每个数字间多于一个空格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3↙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 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每个数字后立即加回车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 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 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 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3↙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 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 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每个数字后立即加回车 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+ 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多个空回车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 panose="02010600030101010101" pitchFamily="2" charset="-122"/>
              </a:rPr>
              <a:t>结论：在输入正确的情况下，回车和空格的作用？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分隔输入的数据，即输入一个数据后，回车或空格代表输入下一个数据。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870" y="1195070"/>
            <a:ext cx="707390" cy="882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80" y="1752600"/>
            <a:ext cx="812165" cy="8515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195" y="2403475"/>
            <a:ext cx="781685" cy="13658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1445" y="3896360"/>
            <a:ext cx="882650" cy="19215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4m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3m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2m 3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1m 2 3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 m↙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m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m 3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m 2 3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总结：多个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输入时，错误输入出现在不同位置对输入正确性的影响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要求：综合观察运行结果，加上自己的思考，给出总结性的结论，这个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      而不仅仅是简单的根据结论说错在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1/2/3/4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答：错误输入之前的值可信，从错误输入之后的数据都不可信。且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         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错误输入之后的第一个数据是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，再后面是随机数据。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7280" y="1323975"/>
            <a:ext cx="664210" cy="86487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V="1">
            <a:off x="5608320" y="1858010"/>
            <a:ext cx="468630" cy="184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160" y="2084070"/>
            <a:ext cx="744220" cy="88328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5608320" y="2574925"/>
            <a:ext cx="1414780" cy="31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955" y="3614420"/>
            <a:ext cx="724535" cy="86995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V="1">
            <a:off x="5542915" y="4018915"/>
            <a:ext cx="468630" cy="184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92114" y="1323975"/>
            <a:ext cx="385475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"a=" &lt;&lt; int(a)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"b=" &lt;&lt; int(b)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"c=" &lt;&lt; int(c)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446872" y="1323974"/>
            <a:ext cx="638853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XYZ↙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 YZ↙ 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  (</a:t>
            </a:r>
            <a:r>
              <a:rPr kumimoji="1" lang="zh-CN" altLang="en-US" sz="1200" b="1" dirty="0">
                <a:latin typeface="+mn-ea"/>
              </a:rPr>
              <a:t>表示按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组合键，注意不要有输入法栏，下同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>
                <a:latin typeface="+mn-ea"/>
              </a:rPr>
              <a:t>↙   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>
                <a:latin typeface="+mn-ea"/>
              </a:rPr>
              <a:t>↙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型数据时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、能否输入空格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可以。</a:t>
            </a:r>
            <a:endParaRPr kumimoji="1"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在输入中表示什么？（可自行查阅资料，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若资料与表现不符，信哪个？</a:t>
            </a:r>
            <a:r>
              <a:rPr kumimoji="1" lang="zh-CN" altLang="en-US" sz="1200" b="1" dirty="0">
                <a:latin typeface="+mn-ea"/>
              </a:rPr>
              <a:t>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en-US" altLang="zh-CN" sz="1200" b="1" dirty="0" err="1">
                <a:solidFill>
                  <a:schemeClr val="accent2"/>
                </a:solidFill>
                <a:latin typeface="+mn-ea"/>
                <a:sym typeface="+mn-ea"/>
              </a:rPr>
              <a:t>Ctrl+C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表示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终止当前正在运行的程序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。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（信编译器，以编译器为准）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Ctrl+z</a:t>
            </a:r>
            <a:r>
              <a:rPr kumimoji="1" lang="zh-CN" altLang="en-US" sz="1200" b="1" dirty="0">
                <a:latin typeface="+mn-ea"/>
              </a:rPr>
              <a:t>在输入中表示什么？（可自行查阅资料，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若资料与表现不符，信哪个？</a:t>
            </a:r>
            <a:r>
              <a:rPr kumimoji="1" lang="zh-CN" altLang="en-US" sz="1200" b="1" dirty="0">
                <a:latin typeface="+mn-ea"/>
              </a:rPr>
              <a:t>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en-US" altLang="zh-CN" sz="1200" b="1" dirty="0" err="1">
                <a:solidFill>
                  <a:schemeClr val="accent2"/>
                </a:solidFill>
                <a:latin typeface="+mn-ea"/>
                <a:sym typeface="+mn-ea"/>
              </a:rPr>
              <a:t>Ctrl+z通常用于表示文件结束符</a:t>
            </a:r>
            <a:r>
              <a:rPr kumimoji="1" lang="zh-CN" altLang="en-US" sz="1200" b="1" dirty="0" err="1">
                <a:solidFill>
                  <a:schemeClr val="accent2"/>
                </a:solidFill>
                <a:latin typeface="+mn-ea"/>
                <a:sym typeface="+mn-ea"/>
              </a:rPr>
              <a:t>，在控制台输入时，按下Ctrl+Z组合键会向程序发送一个文件结束符信号，通常用于指示输入的结束。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  <a:sym typeface="+mn-ea"/>
              </a:rPr>
              <a:t>（信编译器，以编译器为准）</a:t>
            </a:r>
            <a:endParaRPr kumimoji="1" lang="zh-CN" altLang="en-US" sz="1200" b="1" dirty="0" err="1"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Ctrl+z</a:t>
            </a:r>
            <a:r>
              <a:rPr kumimoji="1" lang="zh-CN" altLang="en-US" sz="1200" b="1" dirty="0">
                <a:latin typeface="+mn-ea"/>
              </a:rPr>
              <a:t>后不按回车而继续输入的其它字符，能否被读入？</a:t>
            </a:r>
            <a:endParaRPr kumimoji="1" lang="zh-CN" altLang="en-US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不能。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3" y="5899355"/>
            <a:ext cx="3854759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835" y="993140"/>
            <a:ext cx="480695" cy="859790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V="1">
            <a:off x="5742940" y="1456055"/>
            <a:ext cx="451485" cy="184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385" y="1966595"/>
            <a:ext cx="492760" cy="4400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2340610"/>
            <a:ext cx="512445" cy="4210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7115" y="3108960"/>
            <a:ext cx="548640" cy="78994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10819130" y="3533140"/>
            <a:ext cx="284480" cy="806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5050" y="4093210"/>
            <a:ext cx="560705" cy="853440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>
            <a:off x="10819130" y="4031615"/>
            <a:ext cx="284480" cy="4356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自行构造测试数据，观察不同输入下的运行结果（贴图在清晰可辨的情况下尽可能小）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3" y="1323975"/>
            <a:ext cx="45285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"a="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"b="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"c="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c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120640" y="1323975"/>
            <a:ext cx="648525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u="sng" dirty="0">
                <a:latin typeface="+mn-ea"/>
              </a:rPr>
              <a:t>_    1.8e39 1.23 4.56_____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个超上限，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2/3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__-</a:t>
            </a:r>
            <a:r>
              <a:rPr kumimoji="1" lang="en-US" altLang="zh-CN" sz="1200" b="1" u="sng" dirty="0">
                <a:latin typeface="+mn-ea"/>
                <a:sym typeface="+mn-ea"/>
              </a:rPr>
              <a:t>1.8e39 1.23 4.56_</a:t>
            </a:r>
            <a:r>
              <a:rPr kumimoji="1" lang="en-US" altLang="zh-CN" sz="1200" b="1" u="sng" dirty="0">
                <a:latin typeface="+mn-ea"/>
              </a:rPr>
              <a:t>____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个超下限，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2/3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  _1.23 1.8e39 4.56____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1/3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正常，第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2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个超上限）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en-US" altLang="zh-CN" sz="1200" b="1" u="sng" dirty="0">
                <a:latin typeface="+mn-ea"/>
                <a:sym typeface="+mn-ea"/>
              </a:rPr>
              <a:t>1.23 -1.8e39 4.56_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1/3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正常，第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2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个超下限）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u="sng" dirty="0">
                <a:latin typeface="+mn-ea"/>
              </a:rPr>
              <a:t>____1.23 4.56 1.8e39_  __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1/2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正常，第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个超上限）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___</a:t>
            </a:r>
            <a:r>
              <a:rPr kumimoji="1" lang="en-US" altLang="zh-CN" sz="1200" b="1" u="sng" dirty="0">
                <a:latin typeface="+mn-ea"/>
                <a:sym typeface="+mn-ea"/>
              </a:rPr>
              <a:t>1.23 4.56 -1.8e39</a:t>
            </a:r>
            <a:r>
              <a:rPr kumimoji="1" lang="en-US" altLang="zh-CN" sz="1200" b="1" u="sng" dirty="0">
                <a:latin typeface="+mn-ea"/>
              </a:rPr>
              <a:t>_ _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1/2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正常，第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个超下限）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输入时，错误输入出现在不同位置对输入正确性的影响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要求：综合观察运行结果，加上自己的思考，给出总结性的结论，这个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  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      而不仅仅是简单的根据结论说错在</a:t>
            </a: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1/2/3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答：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多个</a:t>
            </a:r>
            <a:r>
              <a:rPr kumimoji="1" lang="en-US" altLang="zh-CN" sz="1200" b="1" dirty="0">
                <a:solidFill>
                  <a:schemeClr val="accent2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输入时，错误输入之前输入的数据是可信的，错误输入之后的值不再可信。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、将</a:t>
            </a:r>
            <a:r>
              <a:rPr kumimoji="1" lang="en-US" altLang="zh-CN" sz="1200" b="1" dirty="0">
                <a:latin typeface="+mn-ea"/>
              </a:rPr>
              <a:t>float</a:t>
            </a:r>
            <a:r>
              <a:rPr kumimoji="1" lang="zh-CN" altLang="en-US" sz="1200" b="1" dirty="0">
                <a:latin typeface="+mn-ea"/>
              </a:rPr>
              <a:t>替换为</a:t>
            </a:r>
            <a:r>
              <a:rPr kumimoji="1" lang="en-US" altLang="zh-CN" sz="1200" b="1" dirty="0">
                <a:latin typeface="+mn-ea"/>
              </a:rPr>
              <a:t>double</a:t>
            </a:r>
            <a:r>
              <a:rPr kumimoji="1" lang="zh-CN" altLang="en-US" sz="1200" b="1" dirty="0">
                <a:latin typeface="+mn-ea"/>
              </a:rPr>
              <a:t>，上述结论是否仍然成立？</a:t>
            </a:r>
            <a:endParaRPr kumimoji="1" lang="zh-CN" altLang="en-US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 </a:t>
            </a:r>
            <a:r>
              <a:rPr kumimoji="1" lang="en-US" altLang="zh-CN" sz="1200" b="1" dirty="0">
                <a:latin typeface="+mn-ea"/>
              </a:rPr>
              <a:t>  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仍然成立。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3" y="6223819"/>
            <a:ext cx="4528527" cy="310331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全部做一遍，任选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题截图即可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多截不限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085" y="882015"/>
            <a:ext cx="973455" cy="9823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105" y="2165985"/>
            <a:ext cx="1067435" cy="8667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105" y="3244850"/>
            <a:ext cx="1156335" cy="8731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、如果编译有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error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或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warning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，则贴相应信息的截图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2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、如果能运行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包括有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warning)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，则输入三个正确的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int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型数据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例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 :1 2 3↙)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，观察输出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3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、分析为什么只有某个变量的结果是正确的</a:t>
            </a:r>
            <a:endParaRPr kumimoji="1" lang="zh-CN" altLang="en-US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后面只有一个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&gt;&gt;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，程序只会从输入流中提取第一个数据并赋值给第一个变量，用，进行分隔的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不会被赋值。因此输出的只有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的结果是正确的，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的结果是不可信的。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035" y="1019810"/>
            <a:ext cx="2489200" cy="800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850" y="1960245"/>
            <a:ext cx="990600" cy="9969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a=66, b=67, c=68;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&gt;&gt;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只会从输入流中提取一个数据并赋值给对应的变量。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如本例中，程序只提取了数据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并赋值给了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b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没有被赋值，还是原来的数据。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1375" y="1616710"/>
            <a:ext cx="9144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a+10;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、分析为什么编译有错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cin&gt;&gt;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是从输入流中提取数据并赋值给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&gt;&gt;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后面跟的变量，本例中常量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和表达式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a+10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都不能被赋值，所以会报错。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、结论：流提取运算符后面必须跟</a:t>
            </a:r>
            <a:r>
              <a:rPr kumimoji="1" lang="en-US" altLang="zh-CN" sz="1600" b="1" u="sng" dirty="0">
                <a:latin typeface="+mn-ea"/>
              </a:rPr>
              <a:t>__b</a:t>
            </a:r>
            <a:r>
              <a:rPr kumimoji="1" lang="zh-CN" altLang="en-US" sz="1600" b="1" u="sng" dirty="0">
                <a:latin typeface="+mn-ea"/>
              </a:rPr>
              <a:t>）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，不能是</a:t>
            </a:r>
            <a:r>
              <a:rPr kumimoji="1" lang="en-US" altLang="zh-CN" sz="1600" b="1" u="sng" dirty="0">
                <a:latin typeface="+mn-ea"/>
              </a:rPr>
              <a:t>__a</a:t>
            </a:r>
            <a:r>
              <a:rPr kumimoji="1" lang="zh-CN" altLang="en-US" sz="1600" b="1" u="sng" dirty="0">
                <a:latin typeface="+mn-ea"/>
              </a:rPr>
              <a:t>），</a:t>
            </a:r>
            <a:r>
              <a:rPr kumimoji="1" lang="en-US" altLang="zh-CN" sz="1600" b="1" u="sng" dirty="0">
                <a:latin typeface="+mn-ea"/>
              </a:rPr>
              <a:t>c</a:t>
            </a:r>
            <a:r>
              <a:rPr kumimoji="1" lang="zh-CN" altLang="en-US" sz="1600" b="1" u="sng" dirty="0">
                <a:latin typeface="+mn-ea"/>
              </a:rPr>
              <a:t>）</a:t>
            </a:r>
            <a:r>
              <a:rPr kumimoji="1" lang="en-US" altLang="zh-CN" sz="1600" b="1" u="sng" dirty="0">
                <a:latin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a)</a:t>
            </a:r>
            <a:r>
              <a:rPr kumimoji="1" lang="zh-CN" altLang="en-US" sz="1600" b="1" dirty="0">
                <a:latin typeface="+mn-ea"/>
              </a:rPr>
              <a:t> 常量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变量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表达式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965" y="1661795"/>
            <a:ext cx="3703955" cy="5949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965" y="2310130"/>
            <a:ext cx="5119370" cy="1892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965" y="2486660"/>
            <a:ext cx="7613650" cy="1765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965" y="2682240"/>
            <a:ext cx="4446905" cy="1574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965" y="2795905"/>
            <a:ext cx="4533900" cy="1905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0230" y="2986405"/>
            <a:ext cx="4910455" cy="1885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a=66, b=67, c=68;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cin&gt;&gt;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会将输入中的第一个数据赋值给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&gt;&gt;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后的第一个变量。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进行比较，分析为什么结果有差异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B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中没有括号，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&gt;&gt;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识别第一个变量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将第一个输入数据赋值给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本例中（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b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）相当于变量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，所以将第一个输入数据赋值给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进行比较，与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得出的结论矛盾吗？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不矛盾，因为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a,b,c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这个表达式等价于变量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4430" y="1635125"/>
            <a:ext cx="71755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611348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c1, c2;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c1 &gt;&gt; c2 &gt;&gt; a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c1 &lt;&lt; ' '&lt;&lt; c2 &lt;&lt;' '&lt;&lt; a &lt;&lt;' '&lt;&lt;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05600" y="1323974"/>
            <a:ext cx="41298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︺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1234︺56.78↙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1 2 34 56.78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1︺2︺34︺56.78↙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1 2 34 56.78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、分析在以上两种不同输入的情况下，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为什么输出相同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提示：空格的作用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cin 在处理输入时会忽略空格、换行符等空白字符，并根据变量类型按照最长原则提取有效的输入。本例中，无论输入是 1234 56.78 还是 1 2 34 56.78，cin 都会正确提取并分配给相应的变量。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8160" y="1664335"/>
            <a:ext cx="1327150" cy="673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910" y="2768600"/>
            <a:ext cx="11811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、结论：在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中不能跟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&gt;&gt; 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3210" y="1673225"/>
            <a:ext cx="5835650" cy="482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210" y="2260600"/>
            <a:ext cx="79121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17657</Words>
  <Application>WPS 演示</Application>
  <PresentationFormat>宽屏</PresentationFormat>
  <Paragraphs>1167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220</cp:revision>
  <dcterms:created xsi:type="dcterms:W3CDTF">2020-08-13T13:39:00Z</dcterms:created>
  <dcterms:modified xsi:type="dcterms:W3CDTF">2024-03-13T09:53:09Z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2C76632824B94110BBE78F5A0671D626_12</vt:lpwstr>
  </property>
  <property fmtid="{D5CDD505-2E9C-101B-9397-08002B2CF9AE}" pid="3" name="KSOProductBuildVer">
    <vt:lpwstr>2052-12.1.0.16388</vt:lpwstr>
  </property>
</Properties>
</file>