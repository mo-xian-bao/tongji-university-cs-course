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49" r:id="rId3"/>
    <p:sldId id="1237" r:id="rId4"/>
    <p:sldId id="1238" r:id="rId6"/>
    <p:sldId id="850" r:id="rId7"/>
    <p:sldId id="1239" r:id="rId8"/>
    <p:sldId id="1240" r:id="rId9"/>
    <p:sldId id="1241" r:id="rId10"/>
    <p:sldId id="522" r:id="rId11"/>
    <p:sldId id="839" r:id="rId12"/>
    <p:sldId id="849" r:id="rId13"/>
    <p:sldId id="840" r:id="rId14"/>
    <p:sldId id="841" r:id="rId15"/>
    <p:sldId id="842" r:id="rId16"/>
    <p:sldId id="843" r:id="rId17"/>
    <p:sldId id="844" r:id="rId18"/>
    <p:sldId id="845" r:id="rId19"/>
    <p:sldId id="846" r:id="rId20"/>
    <p:sldId id="1243" r:id="rId21"/>
    <p:sldId id="1259" r:id="rId22"/>
    <p:sldId id="1256" r:id="rId23"/>
    <p:sldId id="1242" r:id="rId24"/>
    <p:sldId id="815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12E6EC-216D-470E-A96A-BC8CC8B96AD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E28A78-612C-405C-9C40-0619174AABB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67344-9CCA-4817-A165-2280803A3BB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E27D7-7FC2-48E5-AC23-EE005EF046D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BEE40-6653-4306-94D9-CE901F87AD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08D2F-C807-4635-ADFC-DDA32FA08C2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667F2-D47F-4AFE-AD36-03B6E79727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831D1-1FD2-4C1F-81EF-D089EAA70A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96484-9390-436A-B97F-750A172083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5A884-3C3A-4699-8B3B-C69DDDD6951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CE23E-6955-41AF-80A9-A97169205E6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77E57CD3-3E80-4DCD-8FBA-A1013BE71655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www.h-schmidt.net/FloatConverter/IEEE754.html" TargetMode="External"/><Relationship Id="rId4" Type="http://schemas.openxmlformats.org/officeDocument/2006/relationships/hyperlink" Target="https://blog.csdn.net/gao_zhennan/article/details/120717424" TargetMode="External"/><Relationship Id="rId3" Type="http://schemas.openxmlformats.org/officeDocument/2006/relationships/hyperlink" Target="https://www.bilibili.com/video/BV1iW411d7hd?is_story_h5=false&amp;p=4&amp;share_from=ugc&amp;share_medium=android&amp;share_plat=android&amp;share_session_id=e12b54be-6ffa-4381-9582-9d5b53c50fb3&amp;share_source=QQ&amp;share_tag=s_i&amp;timestamp=1662273598&amp;unique_k=AuouMEO" TargetMode="External"/><Relationship Id="rId2" Type="http://schemas.openxmlformats.org/officeDocument/2006/relationships/hyperlink" Target="https://zhuanlan.zhihu.com/p/343033661" TargetMode="External"/><Relationship Id="rId1" Type="http://schemas.openxmlformats.org/officeDocument/2006/relationships/hyperlink" Target="https://baike.baidu.com/item/IEEE%20754/3869922?fr=aladdin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zh-CN" altLang="en-US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基础知识：用于看懂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型数据的内部存储格式的程序如下：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r>
              <a:rPr lang="zh-CN" altLang="en-US" sz="1600" b="1" dirty="0">
                <a:latin typeface="+mn-ea"/>
              </a:rPr>
              <a:t>除了对黄底红字的具体值进行改动外，其余部分不要做改动，也暂时不需要弄懂为什么（需要第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章的知识才能弄懂）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上例解读：单精度浮点数</a:t>
            </a:r>
            <a:r>
              <a:rPr lang="en-US" altLang="zh-CN" sz="1600" b="1" dirty="0">
                <a:latin typeface="+mn-ea"/>
              </a:rPr>
              <a:t>123.456</a:t>
            </a:r>
            <a:r>
              <a:rPr lang="zh-CN" altLang="en-US" sz="1600" b="1" dirty="0">
                <a:latin typeface="+mn-ea"/>
              </a:rPr>
              <a:t>，在内存中占四个字节，四个字节的值依次为</a:t>
            </a:r>
            <a:r>
              <a:rPr lang="en-US" altLang="zh-CN" sz="1600" b="1" dirty="0">
                <a:latin typeface="+mn-ea"/>
              </a:rPr>
              <a:t>0x42 0xf6 0xe9 0x79 (</a:t>
            </a:r>
            <a:r>
              <a:rPr lang="zh-CN" altLang="en-US" sz="1600" b="1" dirty="0">
                <a:latin typeface="+mn-ea"/>
              </a:rPr>
              <a:t>按打印顺序逆向取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转换为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则为：</a:t>
            </a:r>
            <a:r>
              <a:rPr lang="en-US" altLang="zh-CN" sz="1600" b="1" dirty="0">
                <a:latin typeface="+mn-ea"/>
              </a:rPr>
              <a:t>0100 0010 1111 0110 1110 1001 0111 1001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304641" y="1548484"/>
            <a:ext cx="6848061" cy="3319669"/>
            <a:chOff x="1304641" y="1603900"/>
            <a:chExt cx="6848061" cy="3319669"/>
          </a:xfrm>
        </p:grpSpPr>
        <p:sp>
          <p:nvSpPr>
            <p:cNvPr id="2" name="矩形 1"/>
            <p:cNvSpPr/>
            <p:nvPr/>
          </p:nvSpPr>
          <p:spPr bwMode="auto">
            <a:xfrm>
              <a:off x="1304641" y="1603900"/>
              <a:ext cx="6848061" cy="3319669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r>
                <a:rPr lang="en-US" altLang="zh-CN" sz="1600" b="1" dirty="0">
                  <a:latin typeface="+mn-ea"/>
                </a:rPr>
                <a:t>#include &lt;iostream&gt;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using namespace std;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int main()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{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float f = </a:t>
              </a:r>
              <a:r>
                <a:rPr lang="en-US" altLang="zh-CN" sz="16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+mn-ea"/>
                </a:rPr>
                <a:t>123.456</a:t>
              </a:r>
              <a:r>
                <a:rPr lang="en-US" altLang="zh-CN" sz="1600" b="1" dirty="0">
                  <a:latin typeface="+mn-ea"/>
                </a:rPr>
                <a:t>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unsigned char* p = (unsigned char*)&amp;f;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(int)(*p)    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(int)(*(p+1))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(int)(*(p+2))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(int)(*(p+3))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return 0;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}</a:t>
              </a:r>
              <a:endParaRPr lang="en-US" altLang="zh-CN" sz="1600" b="1" dirty="0">
                <a:latin typeface="+mn-ea"/>
              </a:endParaRPr>
            </a:p>
            <a:p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//</a:t>
              </a:r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注：忽略本题出现的</a:t>
              </a:r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warning</a:t>
              </a:r>
              <a:endParaRPr lang="zh-CN" altLang="zh-CN" sz="1600" dirty="0">
                <a:solidFill>
                  <a:srgbClr val="FF0000"/>
                </a:solidFill>
                <a:latin typeface="+mn-ea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r="62764"/>
            <a:stretch>
              <a:fillRect/>
            </a:stretch>
          </p:blipFill>
          <p:spPr>
            <a:xfrm>
              <a:off x="7305141" y="1603900"/>
              <a:ext cx="847561" cy="19619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6" name="组合 15"/>
          <p:cNvGrpSpPr/>
          <p:nvPr/>
        </p:nvGrpSpPr>
        <p:grpSpPr>
          <a:xfrm>
            <a:off x="1983506" y="5376926"/>
            <a:ext cx="4114801" cy="300185"/>
            <a:chOff x="1981199" y="5934360"/>
            <a:chExt cx="4114801" cy="300185"/>
          </a:xfrm>
        </p:grpSpPr>
        <p:grpSp>
          <p:nvGrpSpPr>
            <p:cNvPr id="24" name="组合 23"/>
            <p:cNvGrpSpPr/>
            <p:nvPr/>
          </p:nvGrpSpPr>
          <p:grpSpPr>
            <a:xfrm>
              <a:off x="1981199" y="5934361"/>
              <a:ext cx="2059708" cy="300184"/>
              <a:chOff x="1981199" y="5934361"/>
              <a:chExt cx="2059708" cy="300184"/>
            </a:xfrm>
          </p:grpSpPr>
          <p:sp>
            <p:nvSpPr>
              <p:cNvPr id="28" name="矩形 27"/>
              <p:cNvSpPr/>
              <p:nvPr/>
            </p:nvSpPr>
            <p:spPr bwMode="auto">
              <a:xfrm>
                <a:off x="3011053" y="5934361"/>
                <a:ext cx="1029854" cy="300183"/>
              </a:xfrm>
              <a:prstGeom prst="rect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 bwMode="auto">
              <a:xfrm>
                <a:off x="1981199" y="5934363"/>
                <a:ext cx="1029854" cy="300182"/>
              </a:xfrm>
              <a:prstGeom prst="rect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4036292" y="5934360"/>
              <a:ext cx="2059708" cy="300184"/>
              <a:chOff x="1981199" y="5934361"/>
              <a:chExt cx="2059708" cy="300184"/>
            </a:xfrm>
          </p:grpSpPr>
          <p:sp>
            <p:nvSpPr>
              <p:cNvPr id="26" name="矩形 25"/>
              <p:cNvSpPr/>
              <p:nvPr/>
            </p:nvSpPr>
            <p:spPr bwMode="auto">
              <a:xfrm>
                <a:off x="3011053" y="5934361"/>
                <a:ext cx="1029854" cy="300183"/>
              </a:xfrm>
              <a:prstGeom prst="rect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 bwMode="auto">
              <a:xfrm>
                <a:off x="1981199" y="5934363"/>
                <a:ext cx="1029854" cy="300182"/>
              </a:xfrm>
              <a:prstGeom prst="rect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2140987" y="5671565"/>
            <a:ext cx="3955012" cy="606804"/>
            <a:chOff x="2138680" y="6228999"/>
            <a:chExt cx="3955012" cy="606804"/>
          </a:xfrm>
        </p:grpSpPr>
        <p:sp>
          <p:nvSpPr>
            <p:cNvPr id="11" name="右大括号 10"/>
            <p:cNvSpPr/>
            <p:nvPr/>
          </p:nvSpPr>
          <p:spPr bwMode="auto">
            <a:xfrm rot="5400000">
              <a:off x="4496680" y="4941406"/>
              <a:ext cx="309419" cy="2884605"/>
            </a:xfrm>
            <a:prstGeom prst="rightBrac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2138680" y="6228999"/>
              <a:ext cx="2986141" cy="606804"/>
              <a:chOff x="2138680" y="6228999"/>
              <a:chExt cx="2986141" cy="606804"/>
            </a:xfrm>
          </p:grpSpPr>
          <p:sp>
            <p:nvSpPr>
              <p:cNvPr id="13" name="右大括号 12"/>
              <p:cNvSpPr/>
              <p:nvPr/>
            </p:nvSpPr>
            <p:spPr bwMode="auto">
              <a:xfrm rot="5400000">
                <a:off x="2496591" y="5871088"/>
                <a:ext cx="309418" cy="1025240"/>
              </a:xfrm>
              <a:prstGeom prst="rightBrace">
                <a:avLst/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 bwMode="auto">
              <a:xfrm>
                <a:off x="2183849" y="6526409"/>
                <a:ext cx="1025239" cy="294637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600" b="1" dirty="0">
                    <a:solidFill>
                      <a:schemeClr val="accent2"/>
                    </a:solidFill>
                    <a:latin typeface="+mn-ea"/>
                  </a:rPr>
                  <a:t>8</a:t>
                </a:r>
                <a:r>
                  <a:rPr kumimoji="1" lang="zh-CN" altLang="en-US" sz="1600" b="1" dirty="0">
                    <a:solidFill>
                      <a:schemeClr val="accent2"/>
                    </a:solidFill>
                    <a:latin typeface="+mn-ea"/>
                  </a:rPr>
                  <a:t>位指数</a:t>
                </a: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+mn-ea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 bwMode="auto">
              <a:xfrm>
                <a:off x="4099582" y="6541166"/>
                <a:ext cx="1025239" cy="294637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600" b="1" dirty="0">
                    <a:solidFill>
                      <a:schemeClr val="accent2"/>
                    </a:solidFill>
                    <a:latin typeface="+mn-ea"/>
                  </a:rPr>
                  <a:t>23</a:t>
                </a:r>
                <a:r>
                  <a:rPr kumimoji="1" lang="zh-CN" altLang="en-US" sz="1600" b="1" dirty="0">
                    <a:solidFill>
                      <a:schemeClr val="accent2"/>
                    </a:solidFill>
                    <a:latin typeface="+mn-ea"/>
                  </a:rPr>
                  <a:t>位尾数</a:t>
                </a: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+mn-ea"/>
                </a:endParaRPr>
              </a:p>
            </p:txBody>
          </p:sp>
        </p:grpSp>
      </p:grpSp>
      <p:cxnSp>
        <p:nvCxnSpPr>
          <p:cNvPr id="31" name="直接箭头连接符 30"/>
          <p:cNvCxnSpPr/>
          <p:nvPr/>
        </p:nvCxnSpPr>
        <p:spPr bwMode="auto">
          <a:xfrm flipV="1">
            <a:off x="7887854" y="1911927"/>
            <a:ext cx="0" cy="151707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" name="组合 8"/>
          <p:cNvGrpSpPr/>
          <p:nvPr/>
        </p:nvGrpSpPr>
        <p:grpSpPr>
          <a:xfrm>
            <a:off x="1061884" y="5598414"/>
            <a:ext cx="958198" cy="679955"/>
            <a:chOff x="1061884" y="5598414"/>
            <a:chExt cx="958198" cy="679955"/>
          </a:xfrm>
        </p:grpSpPr>
        <p:sp>
          <p:nvSpPr>
            <p:cNvPr id="21" name="矩形 20"/>
            <p:cNvSpPr/>
            <p:nvPr/>
          </p:nvSpPr>
          <p:spPr bwMode="auto">
            <a:xfrm>
              <a:off x="1061884" y="5983732"/>
              <a:ext cx="852796" cy="29463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600" b="1" dirty="0">
                  <a:solidFill>
                    <a:schemeClr val="accent2"/>
                  </a:solidFill>
                  <a:latin typeface="+mn-ea"/>
                </a:rPr>
                <a:t>符号位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endParaRPr>
            </a:p>
          </p:txBody>
        </p:sp>
        <p:cxnSp>
          <p:nvCxnSpPr>
            <p:cNvPr id="7" name="直接箭头连接符 6"/>
            <p:cNvCxnSpPr>
              <a:stCxn id="21" idx="0"/>
            </p:cNvCxnSpPr>
            <p:nvPr/>
          </p:nvCxnSpPr>
          <p:spPr bwMode="auto">
            <a:xfrm flipV="1">
              <a:off x="1488282" y="5598414"/>
              <a:ext cx="531800" cy="38531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zh-CN" altLang="en-US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基础知识：用于看懂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型数据的内部存储格式的程序如下：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r>
              <a:rPr lang="zh-CN" altLang="en-US" sz="1600" b="1" dirty="0">
                <a:latin typeface="+mn-ea"/>
              </a:rPr>
              <a:t>除了对黄底红字的具体值进行改动外，其余部分不要做改动，也暂时不需要弄懂为什么（需要第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章的知识才能弄懂）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上例解读：双精度浮点数</a:t>
            </a:r>
            <a:r>
              <a:rPr lang="en-US" altLang="zh-CN" sz="1600" b="1" dirty="0">
                <a:latin typeface="+mn-ea"/>
              </a:rPr>
              <a:t>1.23e4</a:t>
            </a:r>
            <a:r>
              <a:rPr lang="zh-CN" altLang="en-US" sz="1600" b="1" dirty="0">
                <a:latin typeface="+mn-ea"/>
              </a:rPr>
              <a:t>，在内存中占八个字节，八个字节的值依次为</a:t>
            </a:r>
            <a:r>
              <a:rPr lang="en-US" altLang="zh-CN" sz="1600" b="1" dirty="0">
                <a:latin typeface="+mn-ea"/>
              </a:rPr>
              <a:t>0x40 0xc8 0x06 0x00 </a:t>
            </a:r>
            <a:r>
              <a:rPr lang="en-US" altLang="zh-CN" sz="1600" b="1" dirty="0" err="1">
                <a:latin typeface="+mn-ea"/>
              </a:rPr>
              <a:t>0x00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0x00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0x00</a:t>
            </a:r>
            <a:r>
              <a:rPr lang="en-US" altLang="zh-CN" sz="1600" b="1" dirty="0">
                <a:latin typeface="+mn-ea"/>
              </a:rPr>
              <a:t> 0x00(</a:t>
            </a:r>
            <a:r>
              <a:rPr lang="zh-CN" altLang="en-US" sz="1600" b="1" dirty="0">
                <a:latin typeface="+mn-ea"/>
              </a:rPr>
              <a:t>逆向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转换为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则为：</a:t>
            </a:r>
            <a:r>
              <a:rPr lang="en-US" altLang="zh-CN" sz="1600" b="1" dirty="0">
                <a:latin typeface="+mn-ea"/>
              </a:rPr>
              <a:t>0100 0000 1100 1000 0000 0100 0000 0000 0000 0000 0000 0000 0000 0000 0000 0000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04641" y="1550793"/>
            <a:ext cx="6848061" cy="4037210"/>
            <a:chOff x="1304641" y="1596973"/>
            <a:chExt cx="6848061" cy="4037210"/>
          </a:xfrm>
        </p:grpSpPr>
        <p:sp>
          <p:nvSpPr>
            <p:cNvPr id="2" name="矩形 1"/>
            <p:cNvSpPr/>
            <p:nvPr/>
          </p:nvSpPr>
          <p:spPr bwMode="auto">
            <a:xfrm>
              <a:off x="1304641" y="1603901"/>
              <a:ext cx="6848061" cy="403028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r>
                <a:rPr lang="en-US" altLang="zh-CN" sz="1600" b="1" dirty="0">
                  <a:latin typeface="+mn-ea"/>
                </a:rPr>
                <a:t>#include &lt;iostream&gt;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using namespace std;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int main()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{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double d = </a:t>
              </a:r>
              <a:r>
                <a:rPr lang="en-US" altLang="zh-CN" sz="16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+mn-ea"/>
                </a:rPr>
                <a:t>1.23e4</a:t>
              </a:r>
              <a:r>
                <a:rPr lang="en-US" altLang="zh-CN" sz="1600" b="1" dirty="0">
                  <a:latin typeface="+mn-ea"/>
                </a:rPr>
                <a:t>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unsigned char* p = (unsigned char*)&amp;d;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(int)(*p)    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(int)(*(p+1))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(int)(*(p+2))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(int)(*(p+3))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(int)(*(p+4)) &lt;&lt; endl;</a:t>
              </a:r>
              <a:endParaRPr lang="fr-FR" altLang="zh-CN" sz="1600" b="1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(int)(*(p+5)) &lt;&lt; endl;</a:t>
              </a:r>
              <a:endParaRPr lang="fr-FR" altLang="zh-CN" sz="1600" b="1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(int)(*(p+6)) &lt;&lt; endl;</a:t>
              </a:r>
              <a:endParaRPr lang="fr-FR" altLang="zh-CN" sz="1600" b="1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(int)(*(p+7)) &lt;&lt; endl;</a:t>
              </a:r>
              <a:endParaRPr lang="en-US" altLang="zh-CN" sz="16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return 0;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}</a:t>
              </a:r>
              <a:endParaRPr lang="zh-CN" altLang="zh-CN" sz="1600" dirty="0">
                <a:latin typeface="+mn-ea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1"/>
            <a:srcRect r="61142"/>
            <a:stretch>
              <a:fillRect/>
            </a:stretch>
          </p:blipFill>
          <p:spPr>
            <a:xfrm>
              <a:off x="7283036" y="1596973"/>
              <a:ext cx="869666" cy="341904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40" name="组合 39"/>
          <p:cNvGrpSpPr/>
          <p:nvPr/>
        </p:nvGrpSpPr>
        <p:grpSpPr>
          <a:xfrm>
            <a:off x="1981199" y="5934358"/>
            <a:ext cx="8224987" cy="757674"/>
            <a:chOff x="1981199" y="5934358"/>
            <a:chExt cx="8224987" cy="757674"/>
          </a:xfrm>
        </p:grpSpPr>
        <p:grpSp>
          <p:nvGrpSpPr>
            <p:cNvPr id="39" name="组合 38"/>
            <p:cNvGrpSpPr/>
            <p:nvPr/>
          </p:nvGrpSpPr>
          <p:grpSpPr>
            <a:xfrm>
              <a:off x="1981199" y="5934358"/>
              <a:ext cx="8224987" cy="300187"/>
              <a:chOff x="1981199" y="5934358"/>
              <a:chExt cx="8224987" cy="300187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1981199" y="5934360"/>
                <a:ext cx="4114801" cy="300185"/>
                <a:chOff x="1981199" y="5934360"/>
                <a:chExt cx="4114801" cy="300185"/>
              </a:xfrm>
            </p:grpSpPr>
            <p:grpSp>
              <p:nvGrpSpPr>
                <p:cNvPr id="7" name="组合 6"/>
                <p:cNvGrpSpPr/>
                <p:nvPr/>
              </p:nvGrpSpPr>
              <p:grpSpPr>
                <a:xfrm>
                  <a:off x="1981199" y="5934361"/>
                  <a:ext cx="2059708" cy="300184"/>
                  <a:chOff x="1981199" y="5934361"/>
                  <a:chExt cx="2059708" cy="300184"/>
                </a:xfrm>
              </p:grpSpPr>
              <p:sp>
                <p:nvSpPr>
                  <p:cNvPr id="8" name="矩形 7"/>
                  <p:cNvSpPr/>
                  <p:nvPr/>
                </p:nvSpPr>
                <p:spPr bwMode="auto">
                  <a:xfrm>
                    <a:off x="3011053" y="5934361"/>
                    <a:ext cx="1029854" cy="300183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" name="矩形 8"/>
                  <p:cNvSpPr/>
                  <p:nvPr/>
                </p:nvSpPr>
                <p:spPr bwMode="auto">
                  <a:xfrm>
                    <a:off x="1981199" y="5934363"/>
                    <a:ext cx="1029854" cy="300182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23" name="组合 22"/>
                <p:cNvGrpSpPr/>
                <p:nvPr/>
              </p:nvGrpSpPr>
              <p:grpSpPr>
                <a:xfrm>
                  <a:off x="4036292" y="5934360"/>
                  <a:ext cx="2059708" cy="300184"/>
                  <a:chOff x="1981199" y="5934361"/>
                  <a:chExt cx="2059708" cy="300184"/>
                </a:xfrm>
              </p:grpSpPr>
              <p:sp>
                <p:nvSpPr>
                  <p:cNvPr id="24" name="矩形 23"/>
                  <p:cNvSpPr/>
                  <p:nvPr/>
                </p:nvSpPr>
                <p:spPr bwMode="auto">
                  <a:xfrm>
                    <a:off x="3011053" y="5934361"/>
                    <a:ext cx="1029854" cy="300183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5" name="矩形 24"/>
                  <p:cNvSpPr/>
                  <p:nvPr/>
                </p:nvSpPr>
                <p:spPr bwMode="auto">
                  <a:xfrm>
                    <a:off x="1981199" y="5934363"/>
                    <a:ext cx="1029854" cy="300182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27" name="组合 26"/>
              <p:cNvGrpSpPr/>
              <p:nvPr/>
            </p:nvGrpSpPr>
            <p:grpSpPr>
              <a:xfrm>
                <a:off x="6091385" y="5934358"/>
                <a:ext cx="4114801" cy="300185"/>
                <a:chOff x="1981199" y="5934360"/>
                <a:chExt cx="4114801" cy="300185"/>
              </a:xfrm>
            </p:grpSpPr>
            <p:grpSp>
              <p:nvGrpSpPr>
                <p:cNvPr id="28" name="组合 27"/>
                <p:cNvGrpSpPr/>
                <p:nvPr/>
              </p:nvGrpSpPr>
              <p:grpSpPr>
                <a:xfrm>
                  <a:off x="1981199" y="5934361"/>
                  <a:ext cx="2059708" cy="300184"/>
                  <a:chOff x="1981199" y="5934361"/>
                  <a:chExt cx="2059708" cy="300184"/>
                </a:xfrm>
              </p:grpSpPr>
              <p:sp>
                <p:nvSpPr>
                  <p:cNvPr id="32" name="矩形 31"/>
                  <p:cNvSpPr/>
                  <p:nvPr/>
                </p:nvSpPr>
                <p:spPr bwMode="auto">
                  <a:xfrm>
                    <a:off x="3011053" y="5934361"/>
                    <a:ext cx="1029854" cy="300183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3" name="矩形 32"/>
                  <p:cNvSpPr/>
                  <p:nvPr/>
                </p:nvSpPr>
                <p:spPr bwMode="auto">
                  <a:xfrm>
                    <a:off x="1981199" y="5934363"/>
                    <a:ext cx="1029854" cy="300182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29" name="组合 28"/>
                <p:cNvGrpSpPr/>
                <p:nvPr/>
              </p:nvGrpSpPr>
              <p:grpSpPr>
                <a:xfrm>
                  <a:off x="4036292" y="5934360"/>
                  <a:ext cx="2059708" cy="300184"/>
                  <a:chOff x="1981199" y="5934361"/>
                  <a:chExt cx="2059708" cy="300184"/>
                </a:xfrm>
              </p:grpSpPr>
              <p:sp>
                <p:nvSpPr>
                  <p:cNvPr id="30" name="矩形 29"/>
                  <p:cNvSpPr/>
                  <p:nvPr/>
                </p:nvSpPr>
                <p:spPr bwMode="auto">
                  <a:xfrm>
                    <a:off x="3011053" y="5934361"/>
                    <a:ext cx="1029854" cy="300183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1" name="矩形 30"/>
                  <p:cNvSpPr/>
                  <p:nvPr/>
                </p:nvSpPr>
                <p:spPr bwMode="auto">
                  <a:xfrm>
                    <a:off x="1981199" y="5934363"/>
                    <a:ext cx="1029854" cy="300182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37" name="组合 36"/>
            <p:cNvGrpSpPr/>
            <p:nvPr/>
          </p:nvGrpSpPr>
          <p:grpSpPr>
            <a:xfrm>
              <a:off x="2138680" y="6229000"/>
              <a:ext cx="8062889" cy="463032"/>
              <a:chOff x="2138680" y="6229000"/>
              <a:chExt cx="8062889" cy="463032"/>
            </a:xfrm>
          </p:grpSpPr>
          <p:sp>
            <p:nvSpPr>
              <p:cNvPr id="35" name="右大括号 34"/>
              <p:cNvSpPr/>
              <p:nvPr/>
            </p:nvSpPr>
            <p:spPr bwMode="auto">
              <a:xfrm rot="5400000">
                <a:off x="6737929" y="3065543"/>
                <a:ext cx="300184" cy="6627097"/>
              </a:xfrm>
              <a:prstGeom prst="rightBrace">
                <a:avLst/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6" name="组合 35"/>
              <p:cNvGrpSpPr/>
              <p:nvPr/>
            </p:nvGrpSpPr>
            <p:grpSpPr>
              <a:xfrm>
                <a:off x="2138680" y="6238235"/>
                <a:ext cx="6007798" cy="453797"/>
                <a:chOff x="2138680" y="6238235"/>
                <a:chExt cx="6007798" cy="453797"/>
              </a:xfrm>
            </p:grpSpPr>
            <p:sp>
              <p:nvSpPr>
                <p:cNvPr id="26" name="右大括号 25"/>
                <p:cNvSpPr/>
                <p:nvPr/>
              </p:nvSpPr>
              <p:spPr bwMode="auto">
                <a:xfrm rot="5400000">
                  <a:off x="2655686" y="5721229"/>
                  <a:ext cx="300182" cy="1334194"/>
                </a:xfrm>
                <a:prstGeom prst="rightBrac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 bwMode="auto">
                <a:xfrm>
                  <a:off x="2892406" y="6397395"/>
                  <a:ext cx="1025239" cy="294637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1" lang="en-US" altLang="zh-CN" sz="1600" b="1" dirty="0">
                      <a:solidFill>
                        <a:schemeClr val="accent2"/>
                      </a:solidFill>
                      <a:latin typeface="+mn-ea"/>
                    </a:rPr>
                    <a:t>11</a:t>
                  </a:r>
                  <a:r>
                    <a:rPr kumimoji="1" lang="zh-CN" altLang="en-US" sz="1600" b="1" dirty="0">
                      <a:solidFill>
                        <a:schemeClr val="accent2"/>
                      </a:solidFill>
                      <a:latin typeface="+mn-ea"/>
                    </a:rPr>
                    <a:t>位指数</a:t>
                  </a:r>
                  <a:endParaRPr kumimoji="1" lang="zh-CN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 bwMode="auto">
                <a:xfrm>
                  <a:off x="7121239" y="6379091"/>
                  <a:ext cx="1025239" cy="294637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1" lang="en-US" altLang="zh-CN" sz="1600" b="1" dirty="0">
                      <a:solidFill>
                        <a:schemeClr val="accent2"/>
                      </a:solidFill>
                      <a:latin typeface="+mn-ea"/>
                    </a:rPr>
                    <a:t>52</a:t>
                  </a:r>
                  <a:r>
                    <a:rPr kumimoji="1" lang="zh-CN" altLang="en-US" sz="1600" b="1" dirty="0">
                      <a:solidFill>
                        <a:schemeClr val="accent2"/>
                      </a:solidFill>
                      <a:latin typeface="+mn-ea"/>
                    </a:rPr>
                    <a:t>位尾数</a:t>
                  </a:r>
                  <a:endParaRPr kumimoji="1" lang="zh-CN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+mn-ea"/>
                  </a:endParaRPr>
                </a:p>
              </p:txBody>
            </p:sp>
          </p:grpSp>
        </p:grpSp>
      </p:grpSp>
      <p:cxnSp>
        <p:nvCxnSpPr>
          <p:cNvPr id="42" name="直接箭头连接符 41"/>
          <p:cNvCxnSpPr/>
          <p:nvPr/>
        </p:nvCxnSpPr>
        <p:spPr bwMode="auto">
          <a:xfrm flipV="1">
            <a:off x="7887854" y="1911928"/>
            <a:ext cx="0" cy="29186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" name="组合 40"/>
          <p:cNvGrpSpPr/>
          <p:nvPr/>
        </p:nvGrpSpPr>
        <p:grpSpPr>
          <a:xfrm>
            <a:off x="987173" y="6084449"/>
            <a:ext cx="1049909" cy="589279"/>
            <a:chOff x="1061884" y="5689090"/>
            <a:chExt cx="1049909" cy="589279"/>
          </a:xfrm>
        </p:grpSpPr>
        <p:sp>
          <p:nvSpPr>
            <p:cNvPr id="43" name="矩形 42"/>
            <p:cNvSpPr/>
            <p:nvPr/>
          </p:nvSpPr>
          <p:spPr bwMode="auto">
            <a:xfrm>
              <a:off x="1061884" y="5983732"/>
              <a:ext cx="852796" cy="29463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600" b="1" dirty="0">
                  <a:solidFill>
                    <a:schemeClr val="accent2"/>
                  </a:solidFill>
                  <a:latin typeface="+mn-ea"/>
                </a:rPr>
                <a:t>符号位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endParaRPr>
            </a:p>
          </p:txBody>
        </p:sp>
        <p:cxnSp>
          <p:nvCxnSpPr>
            <p:cNvPr id="44" name="直接箭头连接符 43"/>
            <p:cNvCxnSpPr>
              <a:stCxn id="43" idx="0"/>
            </p:cNvCxnSpPr>
            <p:nvPr/>
          </p:nvCxnSpPr>
          <p:spPr bwMode="auto">
            <a:xfrm flipV="1">
              <a:off x="1488282" y="5689090"/>
              <a:ext cx="623511" cy="29464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zh-CN" altLang="en-US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自学内容：自行以</a:t>
            </a:r>
            <a:r>
              <a:rPr lang="en-US" altLang="zh-CN" sz="1600" b="1" dirty="0">
                <a:latin typeface="+mn-ea"/>
              </a:rPr>
              <a:t>"IEEE754" / "</a:t>
            </a:r>
            <a:r>
              <a:rPr lang="zh-CN" altLang="en-US" sz="1600" b="1" dirty="0">
                <a:latin typeface="+mn-ea"/>
              </a:rPr>
              <a:t>浮点数存储格式</a:t>
            </a:r>
            <a:r>
              <a:rPr lang="en-US" altLang="zh-CN" sz="1600" b="1" dirty="0">
                <a:latin typeface="+mn-ea"/>
              </a:rPr>
              <a:t>" / "</a:t>
            </a:r>
            <a:r>
              <a:rPr lang="zh-CN" altLang="en-US" sz="1600" b="1" dirty="0">
                <a:latin typeface="+mn-ea"/>
              </a:rPr>
              <a:t>浮点数存储原理</a:t>
            </a:r>
            <a:r>
              <a:rPr lang="en-US" altLang="zh-CN" sz="1600" b="1" dirty="0">
                <a:latin typeface="+mn-ea"/>
              </a:rPr>
              <a:t>" / "</a:t>
            </a:r>
            <a:r>
              <a:rPr lang="zh-CN" altLang="en-US" sz="1600" b="1" dirty="0">
                <a:latin typeface="+mn-ea"/>
              </a:rPr>
              <a:t>浮点数存储方式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等关键字，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在网上搜索相关文档，读懂并了解浮点数的内部存储机制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学长们推荐的网址：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  <a:hlinkClick r:id="rId1"/>
              </a:rPr>
              <a:t>https://baike.baidu.com/item/IEEE%20754/3869922?fr=aladdin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  <a:hlinkClick r:id="rId2"/>
              </a:rPr>
              <a:t>https://zhuanlan.zhihu.com/p/343033661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  <a:hlinkClick r:id="rId3"/>
              </a:rPr>
              <a:t>https://www.bilibili.com/video/BV1iW411d7hd?is_story_h5=false&amp;p=4&amp;share_from=ugc&amp;share_medium=android&amp;share_plat=android&amp;share_session_id=e12b54be-6ffa-4381-9582-9d5b53c50fb3&amp;share_source=QQ&amp;share_tag=s_i&amp;timestamp=1662273598&amp;unique_k=AuouMEO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  <a:hlinkClick r:id="rId4"/>
              </a:rPr>
              <a:t>https://blog.csdn.net/gao_zhennan/article/details/120717424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  <a:hlinkClick r:id="rId5"/>
              </a:rPr>
              <a:t>https://www.h-schmidt.net/FloatConverter/IEEE754.html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76500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200" b="1" dirty="0">
                <a:latin typeface="+mn-ea"/>
              </a:rPr>
              <a:t>格式要求：多字节时，每</a:t>
            </a:r>
            <a:r>
              <a:rPr lang="en-US" altLang="zh-CN" sz="1200" b="1" dirty="0">
                <a:latin typeface="+mn-ea"/>
              </a:rPr>
              <a:t>8bit</a:t>
            </a:r>
            <a:r>
              <a:rPr lang="zh-CN" altLang="en-US" sz="1200" b="1" dirty="0">
                <a:latin typeface="+mn-ea"/>
              </a:rPr>
              <a:t>中间加一个空格或</a:t>
            </a:r>
            <a:r>
              <a:rPr lang="en-US" altLang="zh-CN" sz="1200" b="1" dirty="0">
                <a:latin typeface="+mn-ea"/>
              </a:rPr>
              <a:t>-(</a:t>
            </a:r>
            <a:r>
              <a:rPr lang="zh-CN" altLang="en-US" sz="1200" b="1" dirty="0">
                <a:latin typeface="+mn-ea"/>
              </a:rPr>
              <a:t>例：</a:t>
            </a:r>
            <a:r>
              <a:rPr lang="en-US" altLang="zh-CN" sz="1200" b="1" dirty="0">
                <a:latin typeface="+mn-ea"/>
              </a:rPr>
              <a:t>"11010100 00110001" </a:t>
            </a:r>
            <a:r>
              <a:rPr lang="zh-CN" altLang="en-US" sz="1200" b="1" dirty="0">
                <a:latin typeface="+mn-ea"/>
              </a:rPr>
              <a:t>或 </a:t>
            </a:r>
            <a:r>
              <a:rPr lang="en-US" altLang="zh-CN" sz="1200" b="1" dirty="0">
                <a:latin typeface="+mn-ea"/>
              </a:rPr>
              <a:t>"11010100-00110001")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例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100.25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下面是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float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机内存储手工转十进制的的方法：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(1) </a:t>
            </a:r>
            <a:r>
              <a:rPr lang="zh-CN" altLang="en-US" sz="1200" b="1" dirty="0">
                <a:latin typeface="+mn-ea"/>
              </a:rPr>
              <a:t>得到的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的机内表示是：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1200" b="1" u="sng" dirty="0">
                <a:solidFill>
                  <a:schemeClr val="accent2"/>
                </a:solidFill>
                <a:latin typeface="+mn-ea"/>
              </a:rPr>
              <a:t>100 0010 1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100 1000 1000 0000 0000 0000</a:t>
            </a:r>
            <a:r>
              <a:rPr lang="en-US" altLang="zh-CN" sz="1200" b="1" dirty="0">
                <a:latin typeface="+mn-ea"/>
              </a:rPr>
              <a:t>_    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(42 c8 80 00)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(2)</a:t>
            </a:r>
            <a:r>
              <a:rPr lang="zh-CN" altLang="en-US" sz="1200" b="1" dirty="0">
                <a:latin typeface="+mn-ea"/>
              </a:rPr>
              <a:t> 其中：符号位是</a:t>
            </a:r>
            <a:r>
              <a:rPr lang="en-US" altLang="zh-CN" sz="1200" b="1" dirty="0">
                <a:latin typeface="+mn-ea"/>
              </a:rPr>
              <a:t>____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1200" b="1" dirty="0">
                <a:latin typeface="+mn-ea"/>
              </a:rPr>
              <a:t>_______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指数是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solidFill>
                  <a:schemeClr val="accent2"/>
                </a:solidFill>
                <a:latin typeface="+mn-ea"/>
              </a:rPr>
              <a:t>1000 0101</a:t>
            </a:r>
            <a:r>
              <a:rPr lang="en-US" altLang="zh-CN" sz="1200" b="1" dirty="0">
                <a:latin typeface="+mn-ea"/>
              </a:rPr>
              <a:t>___(</a:t>
            </a:r>
            <a:r>
              <a:rPr lang="zh-CN" altLang="en-US" sz="1200" b="1" dirty="0">
                <a:latin typeface="+mn-ea"/>
              </a:rPr>
              <a:t>填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中的原始形式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指数转换为十进制形式是</a:t>
            </a:r>
            <a:r>
              <a:rPr lang="en-US" altLang="zh-CN" sz="1200" b="1" dirty="0">
                <a:latin typeface="+mn-ea"/>
              </a:rPr>
              <a:t>___133______(32bit</a:t>
            </a:r>
            <a:r>
              <a:rPr lang="zh-CN" altLang="en-US" sz="1200" b="1" dirty="0">
                <a:latin typeface="+mn-ea"/>
              </a:rPr>
              <a:t>中的原始形式按二进制原码形式转换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      指数表示的十进制形式是</a:t>
            </a:r>
            <a:r>
              <a:rPr lang="en-US" altLang="zh-CN" sz="1200" b="1" dirty="0">
                <a:latin typeface="+mn-ea"/>
              </a:rPr>
              <a:t>___6________(32bit</a:t>
            </a:r>
            <a:r>
              <a:rPr lang="zh-CN" altLang="en-US" sz="1200" b="1" dirty="0">
                <a:latin typeface="+mn-ea"/>
              </a:rPr>
              <a:t>中的原始形式按</a:t>
            </a:r>
            <a:r>
              <a:rPr lang="en-US" altLang="zh-CN" sz="1200" b="1" dirty="0">
                <a:latin typeface="+mn-ea"/>
              </a:rPr>
              <a:t>IEEE754</a:t>
            </a:r>
            <a:r>
              <a:rPr lang="zh-CN" altLang="en-US" sz="1200" b="1" dirty="0">
                <a:latin typeface="+mn-ea"/>
              </a:rPr>
              <a:t>的规则转换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1000 0101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- 0111 1111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= 0000 0110 (0x06 = 6)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尾数是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100 1000 1000 0000 0000 0000</a:t>
            </a:r>
            <a:r>
              <a:rPr lang="en-US" altLang="zh-CN" sz="1200" b="1" dirty="0">
                <a:latin typeface="+mn-ea"/>
              </a:rPr>
              <a:t>____(</a:t>
            </a:r>
            <a:r>
              <a:rPr lang="zh-CN" altLang="en-US" sz="1200" b="1" dirty="0">
                <a:latin typeface="+mn-ea"/>
              </a:rPr>
              <a:t>填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中的原始形式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尾数转换为十进制小数形式是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en-US" altLang="zh-CN" sz="1200" b="1" u="sng" dirty="0">
                <a:latin typeface="+mn-ea"/>
              </a:rPr>
              <a:t> 0.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56640625</a:t>
            </a:r>
            <a:r>
              <a:rPr lang="en-US" altLang="zh-CN" sz="1200" b="1" dirty="0">
                <a:latin typeface="+mn-ea"/>
              </a:rPr>
              <a:t>___(32bit</a:t>
            </a:r>
            <a:r>
              <a:rPr lang="zh-CN" altLang="en-US" sz="1200" b="1" dirty="0">
                <a:latin typeface="+mn-ea"/>
              </a:rPr>
              <a:t>中的原始形式按二进制原码形式转换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      尾数表示的十进制小数形式是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latin typeface="+mn-ea"/>
              </a:rPr>
              <a:t>1.56640625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en-US" altLang="zh-CN" sz="1200" b="1" u="sng" dirty="0">
                <a:latin typeface="+mn-ea"/>
              </a:rPr>
              <a:t>  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zh-CN" altLang="en-US" sz="1200" b="1" dirty="0">
                <a:latin typeface="+mn-ea"/>
              </a:rPr>
              <a:t>加整数部分的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后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100 1000 1000 0000 0000 0000 =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0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^-1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-4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-8</a:t>
            </a:r>
            <a:endParaRPr lang="en-US" altLang="zh-CN" sz="1200" b="1" baseline="30000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= 0.5 + 0.0625 + 0.00390625 = 0.56640625 =&gt; 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加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1 =&gt; 1.56640625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                                                 1.56640625 x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6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= 100.25 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（此处未体现出误差）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下面是十进制手工转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float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机内存储的方法：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100  = 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110 0100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（整数部分转二进制为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7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位，最前面的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只是为了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8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位对齐，可不要）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0.25 = 01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（小数部分转二进制为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2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100.25 = </a:t>
            </a:r>
            <a:r>
              <a:rPr lang="en-US" altLang="zh-CN" sz="1200" b="1" strike="sngStrike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110 0100.01 = 1.1001 0001 x 2</a:t>
            </a:r>
            <a:r>
              <a:rPr lang="en-US" altLang="zh-CN" sz="1200" b="1" baseline="30000" dirty="0">
                <a:highlight>
                  <a:srgbClr val="FFFF00"/>
                </a:highlight>
                <a:latin typeface="+mn-ea"/>
              </a:rPr>
              <a:t>6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(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确保整数部分为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，移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6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)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符 号  位：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阶     码：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6 + 127 = 133 = 1000 0101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尾数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(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舍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1)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1001 0001 =&gt; 1001 0001 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0000 0000 0000 000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（补齐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位，后面补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14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个蓝色的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                                     100 1000 1000 0000 0000 0000 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（从低位开始四位一组，共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8383497" y="1076500"/>
            <a:ext cx="3628417" cy="11639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、作业中绿底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黄底文字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截图可不填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、计算结果可借助第三方工具完成，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没必要完全手算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H="1">
            <a:off x="4442254" y="1909119"/>
            <a:ext cx="4213654" cy="20635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椭圆 7"/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76500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200" b="1" dirty="0">
                <a:latin typeface="+mn-ea"/>
              </a:rPr>
              <a:t>格式要求：多字节时，每</a:t>
            </a:r>
            <a:r>
              <a:rPr lang="en-US" altLang="zh-CN" sz="1200" b="1" dirty="0">
                <a:latin typeface="+mn-ea"/>
              </a:rPr>
              <a:t>8bit</a:t>
            </a:r>
            <a:r>
              <a:rPr lang="zh-CN" altLang="en-US" sz="1200" b="1" dirty="0">
                <a:latin typeface="+mn-ea"/>
              </a:rPr>
              <a:t>中间加一个空格或</a:t>
            </a:r>
            <a:r>
              <a:rPr lang="en-US" altLang="zh-CN" sz="1200" b="1" dirty="0">
                <a:latin typeface="+mn-ea"/>
              </a:rPr>
              <a:t>-(</a:t>
            </a:r>
            <a:r>
              <a:rPr lang="zh-CN" altLang="en-US" sz="1200" b="1" dirty="0">
                <a:latin typeface="+mn-ea"/>
              </a:rPr>
              <a:t>例：</a:t>
            </a:r>
            <a:r>
              <a:rPr lang="en-US" altLang="zh-CN" sz="1200" b="1" dirty="0">
                <a:latin typeface="+mn-ea"/>
              </a:rPr>
              <a:t>"11010100 00110001" </a:t>
            </a:r>
            <a:r>
              <a:rPr lang="zh-CN" altLang="en-US" sz="1200" b="1" dirty="0">
                <a:latin typeface="+mn-ea"/>
              </a:rPr>
              <a:t>或 </a:t>
            </a:r>
            <a:r>
              <a:rPr lang="en-US" altLang="zh-CN" sz="1200" b="1" dirty="0">
                <a:latin typeface="+mn-ea"/>
              </a:rPr>
              <a:t>"11010100-00110001")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例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1.2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下面是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float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机内存储手工转十进制的的方法：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(1) </a:t>
            </a:r>
            <a:r>
              <a:rPr lang="zh-CN" altLang="en-US" sz="1200" b="1" dirty="0">
                <a:latin typeface="+mn-ea"/>
              </a:rPr>
              <a:t>得到的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的机内表示是：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1200" b="1" u="sng" dirty="0">
                <a:solidFill>
                  <a:schemeClr val="accent2"/>
                </a:solidFill>
                <a:latin typeface="+mn-ea"/>
              </a:rPr>
              <a:t>011 1111 1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001 1001 1001 1001 1001 1010</a:t>
            </a:r>
            <a:r>
              <a:rPr lang="en-US" altLang="zh-CN" sz="1200" b="1" dirty="0">
                <a:latin typeface="+mn-ea"/>
              </a:rPr>
              <a:t>_    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(3f 99 99 9a)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(2)</a:t>
            </a:r>
            <a:r>
              <a:rPr lang="zh-CN" altLang="en-US" sz="1200" b="1" dirty="0">
                <a:latin typeface="+mn-ea"/>
              </a:rPr>
              <a:t> 其中：符号位是</a:t>
            </a:r>
            <a:r>
              <a:rPr lang="en-US" altLang="zh-CN" sz="1200" b="1" dirty="0">
                <a:latin typeface="+mn-ea"/>
              </a:rPr>
              <a:t>____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1200" b="1" dirty="0">
                <a:latin typeface="+mn-ea"/>
              </a:rPr>
              <a:t>_______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指数是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solidFill>
                  <a:schemeClr val="accent2"/>
                </a:solidFill>
                <a:latin typeface="+mn-ea"/>
              </a:rPr>
              <a:t>0111 1111</a:t>
            </a:r>
            <a:r>
              <a:rPr lang="en-US" altLang="zh-CN" sz="1200" b="1" dirty="0">
                <a:latin typeface="+mn-ea"/>
              </a:rPr>
              <a:t>___(</a:t>
            </a:r>
            <a:r>
              <a:rPr lang="zh-CN" altLang="en-US" sz="1200" b="1" dirty="0">
                <a:latin typeface="+mn-ea"/>
              </a:rPr>
              <a:t>填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中的原始形式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指数转换为十进制形式是</a:t>
            </a:r>
            <a:r>
              <a:rPr lang="en-US" altLang="zh-CN" sz="1200" b="1" dirty="0">
                <a:latin typeface="+mn-ea"/>
              </a:rPr>
              <a:t>___127______(32bit</a:t>
            </a:r>
            <a:r>
              <a:rPr lang="zh-CN" altLang="en-US" sz="1200" b="1" dirty="0">
                <a:latin typeface="+mn-ea"/>
              </a:rPr>
              <a:t>中的原始形式按二进制原码形式转换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      指数表示的十进制形式是</a:t>
            </a:r>
            <a:r>
              <a:rPr lang="en-US" altLang="zh-CN" sz="1200" b="1" dirty="0">
                <a:latin typeface="+mn-ea"/>
              </a:rPr>
              <a:t>___0________(32bit</a:t>
            </a:r>
            <a:r>
              <a:rPr lang="zh-CN" altLang="en-US" sz="1200" b="1" dirty="0">
                <a:latin typeface="+mn-ea"/>
              </a:rPr>
              <a:t>中的原始形式按</a:t>
            </a:r>
            <a:r>
              <a:rPr lang="en-US" altLang="zh-CN" sz="1200" b="1" dirty="0">
                <a:latin typeface="+mn-ea"/>
              </a:rPr>
              <a:t>IEEE754</a:t>
            </a:r>
            <a:r>
              <a:rPr lang="zh-CN" altLang="en-US" sz="1200" b="1" dirty="0">
                <a:latin typeface="+mn-ea"/>
              </a:rPr>
              <a:t>的规则转换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0111 1111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- 0111 1111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= 0000 0000 (0x0 = 0)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尾数是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001 1001 1001 1001 1001 1010</a:t>
            </a:r>
            <a:r>
              <a:rPr lang="en-US" altLang="zh-CN" sz="1200" b="1" dirty="0">
                <a:latin typeface="+mn-ea"/>
              </a:rPr>
              <a:t>____(</a:t>
            </a:r>
            <a:r>
              <a:rPr lang="zh-CN" altLang="en-US" sz="1200" b="1" dirty="0">
                <a:latin typeface="+mn-ea"/>
              </a:rPr>
              <a:t>填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中的原始形式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尾数转换为十进制小数形式是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en-US" altLang="zh-CN" sz="1200" b="1" u="sng" dirty="0">
                <a:latin typeface="+mn-ea"/>
              </a:rPr>
              <a:t> 0.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2000000476837158203125</a:t>
            </a:r>
            <a:r>
              <a:rPr lang="en-US" altLang="zh-CN" sz="1200" b="1" dirty="0">
                <a:latin typeface="+mn-ea"/>
              </a:rPr>
              <a:t>___(32bit</a:t>
            </a:r>
            <a:r>
              <a:rPr lang="zh-CN" altLang="en-US" sz="1200" b="1" dirty="0">
                <a:latin typeface="+mn-ea"/>
              </a:rPr>
              <a:t>中的原始形式按二进制原码形式转换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      尾数表示的十进制小数形式是</a:t>
            </a:r>
            <a:r>
              <a:rPr lang="en-US" altLang="zh-CN" sz="1200" b="1" dirty="0">
                <a:latin typeface="+mn-ea"/>
              </a:rPr>
              <a:t>__1</a:t>
            </a:r>
            <a:r>
              <a:rPr lang="en-US" altLang="zh-CN" sz="1200" b="1" u="sng" dirty="0">
                <a:latin typeface="+mn-ea"/>
              </a:rPr>
              <a:t>.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2000000476837158203125 </a:t>
            </a:r>
            <a:r>
              <a:rPr lang="en-US" altLang="zh-CN" sz="1200" b="1" u="sng" dirty="0">
                <a:latin typeface="+mn-ea"/>
              </a:rPr>
              <a:t>  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zh-CN" altLang="en-US" sz="1200" b="1" dirty="0">
                <a:latin typeface="+mn-ea"/>
              </a:rPr>
              <a:t>加整数部分的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后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001 1001 1001 1001 1001 1010 =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-3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^-4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-7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-8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^-11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-12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-15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^-16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-19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-20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-22</a:t>
            </a:r>
            <a:endParaRPr lang="en-US" altLang="zh-CN" sz="1200" b="1" baseline="30000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= 0.125 + ... + 0.0000002384185791015625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00FF00"/>
                </a:highlight>
                <a:latin typeface="+mn-ea"/>
              </a:rPr>
              <a:t>(</a:t>
            </a:r>
            <a:r>
              <a:rPr lang="zh-CN" altLang="en-US" sz="1200" b="1" dirty="0">
                <a:solidFill>
                  <a:schemeClr val="accent2"/>
                </a:solidFill>
                <a:highlight>
                  <a:srgbClr val="00FF00"/>
                </a:highlight>
                <a:latin typeface="+mn-ea"/>
              </a:rPr>
              <a:t>详见右侧蓝色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00FF00"/>
                </a:highlight>
                <a:latin typeface="+mn-ea"/>
              </a:rPr>
              <a:t>)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= 0.2000000476837158203125 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                                              =&gt; 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加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1 = 1.2000000476837158203125 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（此处已体现出误差）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下面是十进制手工转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float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机内存储的方法：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   =   1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（整数部分转二进制为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0.2 =   0011 0011 0011 0011 0011 0011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（小数部分无限循环，转为二进制的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24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=&gt; 0011 0011 0011 0011 0011 010   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（四舍五入为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位，此处体现出误差）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1.2 = 1.0011 0011 0011 0011 0011 010 = 1.0011 0011 0011 0011 0011 010 x 2</a:t>
            </a:r>
            <a:r>
              <a:rPr lang="en-US" altLang="zh-CN" sz="1200" b="1" baseline="30000" dirty="0">
                <a:highlight>
                  <a:srgbClr val="FFFF00"/>
                </a:highlight>
                <a:latin typeface="+mn-ea"/>
              </a:rPr>
              <a:t>0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(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确保整数部分为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，移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)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符 号  位：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阶     码：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 + 127 = 127 = 0111 1111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尾数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(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舍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1)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0011 0011 0011 0011 0011 010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（共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                        001 1001 1001 1001 1001 1010 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（从低位开始四位一组，共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8383497" y="1076500"/>
            <a:ext cx="3628417" cy="11639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、作业中绿底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黄底文字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截图可不填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、计算结果可借助第三方工具完成，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没必要完全手算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H="1">
            <a:off x="4442254" y="1909119"/>
            <a:ext cx="4213654" cy="20635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椭圆 7"/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927582" y="2583180"/>
            <a:ext cx="2084332" cy="23056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0.125 + </a:t>
            </a:r>
            <a:endParaRPr lang="en-US" altLang="zh-CN" sz="11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0.0625 + </a:t>
            </a:r>
            <a:endParaRPr lang="en-US" altLang="zh-CN" sz="11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0.0078125 + </a:t>
            </a:r>
            <a:endParaRPr lang="en-US" altLang="zh-CN" sz="11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0.00390625 + </a:t>
            </a:r>
            <a:endParaRPr lang="en-US" altLang="zh-CN" sz="11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0.00048828125 + </a:t>
            </a:r>
            <a:endParaRPr lang="en-US" altLang="zh-CN" sz="11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0.000244140625 + </a:t>
            </a:r>
            <a:endParaRPr lang="en-US" altLang="zh-CN" sz="11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0.000030517578125 + </a:t>
            </a:r>
            <a:endParaRPr lang="en-US" altLang="zh-CN" sz="11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0.0000152587890625 + </a:t>
            </a:r>
            <a:endParaRPr lang="en-US" altLang="zh-CN" sz="11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0.0000019073486328125 + </a:t>
            </a:r>
            <a:endParaRPr lang="en-US" altLang="zh-CN" sz="11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0.00000095367431640625 + </a:t>
            </a:r>
            <a:endParaRPr lang="en-US" altLang="zh-CN" sz="11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0.0000002384185791015625</a:t>
            </a:r>
            <a:endParaRPr lang="en-US" altLang="zh-CN" sz="11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-------------------------</a:t>
            </a:r>
            <a:endParaRPr lang="en-US" altLang="zh-CN" sz="11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0.2000000476837158203125</a:t>
            </a:r>
            <a:endParaRPr kumimoji="1" lang="zh-CN" altLang="en-US" sz="11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A.2351520.0251532 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（此处设学号是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，需换成本人学号，小数为学号逆序，非本人学号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分，下同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！）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注：尾数为正、指数为正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u="sng" dirty="0">
                <a:latin typeface="+mn-ea"/>
              </a:rPr>
              <a:t>__0100 1010 0000 1111 1000 0110 1000 0000_ 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P.4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u="sng" dirty="0">
                <a:latin typeface="+mn-ea"/>
              </a:rPr>
              <a:t>_____0______</a:t>
            </a:r>
            <a:endParaRPr lang="en-US" altLang="zh-CN" sz="1600" b="1" u="sng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u="sng" dirty="0">
                <a:latin typeface="+mn-ea"/>
              </a:rPr>
              <a:t>___1001 0100___(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u="sng" dirty="0">
                <a:latin typeface="+mn-ea"/>
              </a:rPr>
              <a:t>______ 148 ______(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______21______(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en-US" altLang="zh-CN" sz="1600" b="1" u="sng" dirty="0">
                <a:latin typeface="+mn-ea"/>
              </a:rPr>
              <a:t>000 1111 1000 0110 1000 0000</a:t>
            </a:r>
            <a:r>
              <a:rPr lang="en-US" altLang="zh-CN" sz="1600" b="1" dirty="0">
                <a:latin typeface="+mn-ea"/>
              </a:rPr>
              <a:t>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______ 0.1212921142578125 ________(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_______ 1.1212921142578125 _______(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注：转换为十进制小数用附加的工具去做，自己去网上找工具也行，但要满足精度要求（下同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B.-251532.235152 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注：尾数为负、指数为正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u="sng" dirty="0">
                <a:latin typeface="+mn-ea"/>
              </a:rPr>
              <a:t>__1100 1000 0111 0101 1010 0011 0000 1111___(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P.4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u="sng" dirty="0">
                <a:latin typeface="+mn-ea"/>
              </a:rPr>
              <a:t>_____1______</a:t>
            </a:r>
            <a:endParaRPr lang="en-US" altLang="zh-CN" sz="1600" b="1" u="sng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u="sng" dirty="0">
                <a:latin typeface="+mn-ea"/>
              </a:rPr>
              <a:t>______1001 0000____ 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u="sng" dirty="0">
                <a:latin typeface="+mn-ea"/>
              </a:rPr>
              <a:t>______144_____(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_____17_____(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_______ 111 0101 1010 0011 0000 1111 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_______ 0.91903865337371826171875 _______(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______ 1.91903865337371826171875 ________(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C.0.00235152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注：尾数为正、指数为负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u="sng" dirty="0">
                <a:latin typeface="+mn-ea"/>
              </a:rPr>
              <a:t>__ 0011 1011 0001 1010 0001 1011 1111 0101 </a:t>
            </a:r>
            <a:r>
              <a:rPr lang="en-US" altLang="zh-CN" sz="1600" b="1" dirty="0">
                <a:latin typeface="+mn-ea"/>
              </a:rPr>
              <a:t>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P.4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u="sng" dirty="0">
                <a:latin typeface="+mn-ea"/>
              </a:rPr>
              <a:t>_____0______</a:t>
            </a:r>
            <a:endParaRPr lang="en-US" altLang="zh-CN" sz="1600" b="1" u="sng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u="sng" dirty="0">
                <a:latin typeface="+mn-ea"/>
              </a:rPr>
              <a:t>______0111 0110_______(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u="sng" dirty="0">
                <a:latin typeface="+mn-ea"/>
              </a:rPr>
              <a:t>______118______(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______-9______(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en-US" altLang="zh-CN" sz="1600" b="1" u="sng" dirty="0">
                <a:latin typeface="+mn-ea"/>
              </a:rPr>
              <a:t> 001 1010 0001 1011 1111 0101 </a:t>
            </a:r>
            <a:r>
              <a:rPr lang="en-US" altLang="zh-CN" sz="1600" b="1" dirty="0">
                <a:latin typeface="+mn-ea"/>
              </a:rPr>
              <a:t>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_______ 0.20397818088531494140625 </a:t>
            </a:r>
            <a:r>
              <a:rPr lang="en-US" altLang="zh-CN" sz="1600" b="1" dirty="0">
                <a:latin typeface="+mn-ea"/>
              </a:rPr>
              <a:t>_______(32bit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________ 1.20397818088531494140625 </a:t>
            </a:r>
            <a:r>
              <a:rPr lang="en-US" altLang="zh-CN" sz="1600" b="1" dirty="0">
                <a:latin typeface="+mn-ea"/>
              </a:rPr>
              <a:t>______(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D.-0.000251532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注：尾数为负、指数为负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u="sng" dirty="0">
                <a:latin typeface="+mn-ea"/>
              </a:rPr>
              <a:t>______1011 1001 1000 0011 1110 0000 0000 1110___(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P.4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u="sng" dirty="0">
                <a:latin typeface="+mn-ea"/>
              </a:rPr>
              <a:t>_____1______</a:t>
            </a:r>
            <a:endParaRPr lang="en-US" altLang="zh-CN" sz="1600" b="1" u="sng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u="sng" dirty="0">
                <a:latin typeface="+mn-ea"/>
              </a:rPr>
              <a:t>_______0111 0011______(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u="sng" dirty="0">
                <a:latin typeface="+mn-ea"/>
              </a:rPr>
              <a:t>______115______(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______12______(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en-US" altLang="zh-CN" sz="1600" b="1" u="sng" dirty="0">
                <a:latin typeface="+mn-ea"/>
              </a:rPr>
              <a:t> 000 0011 1110 0000 0000 1110 </a:t>
            </a:r>
            <a:r>
              <a:rPr lang="en-US" altLang="zh-CN" sz="1600" b="1" dirty="0">
                <a:latin typeface="+mn-ea"/>
              </a:rPr>
              <a:t>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_______ 0.0302751064300537109375 </a:t>
            </a:r>
            <a:r>
              <a:rPr lang="en-US" altLang="zh-CN" sz="1600" b="1" dirty="0">
                <a:latin typeface="+mn-ea"/>
              </a:rPr>
              <a:t>_______(32bit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________ 1.0302751064300537109375 ______(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A.2351520.0251532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注：尾数为正、指数为正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u="sng" dirty="0">
                <a:latin typeface="+mn-ea"/>
              </a:rPr>
              <a:t>_0100 0001 0100 0001 1111 0000 1101 0000 0000 0011 0011 1000 0011 1000 0101 0110 ___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P.5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u="sng" dirty="0">
                <a:latin typeface="+mn-ea"/>
              </a:rPr>
              <a:t>_____0_____</a:t>
            </a:r>
            <a:endParaRPr lang="en-US" altLang="zh-CN" sz="1600" b="1" u="sng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u="sng" dirty="0">
                <a:latin typeface="+mn-ea"/>
              </a:rPr>
              <a:t>______ 100 0001 0100 </a:t>
            </a:r>
            <a:r>
              <a:rPr lang="en-US" altLang="zh-CN" sz="1600" b="1" dirty="0">
                <a:latin typeface="+mn-ea"/>
              </a:rPr>
              <a:t>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u="sng" dirty="0">
                <a:latin typeface="+mn-ea"/>
              </a:rPr>
              <a:t>______1044______(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______21______(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___ 0001 1111 0000 1101 0000 0000 0011 0011 1000 0011 1000 0101 0110 </a:t>
            </a:r>
            <a:r>
              <a:rPr lang="en-US" altLang="zh-CN" sz="1600" b="1" dirty="0">
                <a:latin typeface="+mn-ea"/>
              </a:rPr>
              <a:t>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__ 0.121292126251792975466514690197072923183441162109375 </a:t>
            </a:r>
            <a:r>
              <a:rPr lang="en-US" altLang="zh-CN" sz="1600" b="1" dirty="0">
                <a:latin typeface="+mn-ea"/>
              </a:rPr>
              <a:t>_______(64bit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__ 1.121292126251792975466514690197072923183441162109375 </a:t>
            </a:r>
            <a:r>
              <a:rPr lang="en-US" altLang="zh-CN" sz="1600" b="1" dirty="0">
                <a:latin typeface="+mn-ea"/>
              </a:rPr>
              <a:t>_______(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B.-251532.235152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注：尾数为负、指数为正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u="sng" dirty="0">
                <a:latin typeface="+mn-ea"/>
              </a:rPr>
              <a:t>_  1100 0001 0000 1110 1011 0100 0110 0001 1110 0001 1001 0111 0101 1111 0010 1101__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P.5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u="sng" dirty="0">
                <a:latin typeface="+mn-ea"/>
              </a:rPr>
              <a:t>_____1______</a:t>
            </a:r>
            <a:endParaRPr lang="en-US" altLang="zh-CN" sz="1600" b="1" u="sng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en-US" altLang="zh-CN" sz="1600" b="1" u="sng" dirty="0">
                <a:latin typeface="+mn-ea"/>
              </a:rPr>
              <a:t> 100 0001 0000 </a:t>
            </a:r>
            <a:r>
              <a:rPr lang="en-US" altLang="zh-CN" sz="1600" b="1" dirty="0">
                <a:latin typeface="+mn-ea"/>
              </a:rPr>
              <a:t>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u="sng" dirty="0">
                <a:latin typeface="+mn-ea"/>
              </a:rPr>
              <a:t>______1040______(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_____17_______(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en-US" altLang="zh-CN" sz="1600" b="1" u="sng" dirty="0">
                <a:latin typeface="+mn-ea"/>
              </a:rPr>
              <a:t> 1110 1011 0100 0110 0001 1110 0001 1001 0111 0101 1111 0010 1101 </a:t>
            </a:r>
            <a:r>
              <a:rPr lang="en-US" altLang="zh-CN" sz="1600" b="1" dirty="0">
                <a:latin typeface="+mn-ea"/>
              </a:rPr>
              <a:t>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u="sng" dirty="0">
                <a:latin typeface="+mn-ea"/>
              </a:rPr>
              <a:t>0.9190386593017578764630570731242187321186065673828125 ___________</a:t>
            </a:r>
            <a:r>
              <a:rPr lang="en-US" altLang="zh-CN" sz="1600" b="1" dirty="0">
                <a:latin typeface="+mn-ea"/>
              </a:rPr>
              <a:t>_(64bit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u="sng" dirty="0">
                <a:latin typeface="+mn-ea"/>
              </a:rPr>
              <a:t>1.9190386593017578764630570731242187321186065673828125 ___________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C.0.00235152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注：尾数为正、指数为负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u="sng" dirty="0">
                <a:latin typeface="+mn-ea"/>
              </a:rPr>
              <a:t>_ 0011 1111 0110 0011 0100 0011 0111 1110 1010 1111 1101 1110 0101 0100 1000 1010 ____________________________(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P.5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u="sng" dirty="0">
                <a:latin typeface="+mn-ea"/>
              </a:rPr>
              <a:t>_____0______</a:t>
            </a:r>
            <a:endParaRPr lang="en-US" altLang="zh-CN" sz="1600" b="1" u="sng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u="sng" dirty="0">
                <a:latin typeface="+mn-ea"/>
              </a:rPr>
              <a:t>______ 011 1111 0110 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u="sng" dirty="0">
                <a:latin typeface="+mn-ea"/>
              </a:rPr>
              <a:t>______1014______(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u="sng" dirty="0">
                <a:latin typeface="+mn-ea"/>
              </a:rPr>
              <a:t>_____-9_____</a:t>
            </a:r>
            <a:r>
              <a:rPr lang="en-US" altLang="zh-CN" sz="1600" b="1" dirty="0">
                <a:latin typeface="+mn-ea"/>
              </a:rPr>
              <a:t>_(64bit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_ 0011 0100 0011 0111 1110 1010 1111 1101 1110 0101 0100 1000 1010 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_ 0.203978240000000088372189566143788397312164306640625 _____________</a:t>
            </a:r>
            <a:r>
              <a:rPr lang="en-US" altLang="zh-CN" sz="1600" b="1" dirty="0">
                <a:latin typeface="+mn-ea"/>
              </a:rPr>
              <a:t>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 1.203978240000000088372189566143788397312164306640625 _____________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D.-0.000251532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注：尾数为负、指数为负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u="sng" dirty="0">
                <a:latin typeface="+mn-ea"/>
              </a:rPr>
              <a:t>1011 1111 0011 0000 0111 1100 0000 0001 1011 0110 1100 0001 1111 1100 0001 0111____________________________(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P.5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en-US" altLang="zh-CN" sz="1600" b="1" u="sng" dirty="0">
                <a:latin typeface="+mn-ea"/>
              </a:rPr>
              <a:t>_1______</a:t>
            </a:r>
            <a:endParaRPr lang="en-US" altLang="zh-CN" sz="1600" b="1" u="sng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dirty="0">
                <a:latin typeface="+mn-ea"/>
              </a:rPr>
              <a:t>_______</a:t>
            </a:r>
            <a:r>
              <a:rPr lang="en-US" altLang="zh-CN" sz="1600" b="1" u="sng" dirty="0">
                <a:latin typeface="+mn-ea"/>
              </a:rPr>
              <a:t>011 1111 0011______(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u="sng" dirty="0">
                <a:latin typeface="+mn-ea"/>
              </a:rPr>
              <a:t>______1011______(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_______-12_____(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_ 0000 0111 1100 0000 0001 1011 0110 1100 0001 1111 1100 0001 0111 __________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_ 0.0302750720000000139719986691488884389400482177734375 ____________</a:t>
            </a:r>
            <a:r>
              <a:rPr lang="en-US" altLang="zh-CN" sz="1600" b="1" dirty="0">
                <a:latin typeface="+mn-ea"/>
              </a:rPr>
              <a:t>_(64bit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 1.0302750720000000139719986691488884389400482177734375 ____________</a:t>
            </a:r>
            <a:r>
              <a:rPr lang="en-US" altLang="zh-CN" sz="1600" b="1" dirty="0">
                <a:latin typeface="+mn-ea"/>
              </a:rPr>
              <a:t>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23044" y="107328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、总结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(1) float</a:t>
            </a:r>
            <a:r>
              <a:rPr lang="zh-CN" altLang="en-US" sz="1600" b="1" dirty="0">
                <a:latin typeface="+mn-ea"/>
              </a:rPr>
              <a:t>型数据的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是如何分段来表示一个单精度的浮点数的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给出</a:t>
            </a:r>
            <a:r>
              <a:rPr lang="en-US" altLang="zh-CN" sz="1600" b="1" dirty="0">
                <a:latin typeface="+mn-ea"/>
              </a:rPr>
              <a:t>bit</a:t>
            </a:r>
            <a:r>
              <a:rPr lang="zh-CN" altLang="en-US" sz="1600" b="1" dirty="0">
                <a:latin typeface="+mn-ea"/>
              </a:rPr>
              <a:t>位的分段解释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尾数的正负如何表示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尾数如何表示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指数的正负如何表示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指数如何表示</a:t>
            </a:r>
            <a:r>
              <a:rPr lang="en-US" altLang="zh-CN" sz="1600" b="1" dirty="0">
                <a:latin typeface="+mn-ea"/>
              </a:rPr>
              <a:t>?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如图，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型数据一共占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字节，共</a:t>
            </a:r>
            <a:r>
              <a:rPr lang="en-US" altLang="zh-CN" sz="1600" b="1" dirty="0">
                <a:latin typeface="+mn-ea"/>
              </a:rPr>
              <a:t>32</a:t>
            </a:r>
            <a:r>
              <a:rPr lang="zh-CN" altLang="en-US" sz="1600" b="1" dirty="0">
                <a:latin typeface="+mn-ea"/>
              </a:rPr>
              <a:t>位。第</a:t>
            </a:r>
            <a:r>
              <a:rPr lang="en-US" altLang="zh-CN" sz="1600" b="1" dirty="0">
                <a:latin typeface="+mn-ea"/>
              </a:rPr>
              <a:t>31</a:t>
            </a:r>
            <a:r>
              <a:rPr lang="zh-CN" altLang="en-US" sz="1600" b="1" dirty="0">
                <a:latin typeface="+mn-ea"/>
              </a:rPr>
              <a:t>位（最高位）为符号位，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表示正数，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表示负数。第</a:t>
            </a:r>
            <a:r>
              <a:rPr lang="en-US" altLang="zh-CN" sz="1600" b="1" dirty="0">
                <a:latin typeface="+mn-ea"/>
              </a:rPr>
              <a:t>30</a:t>
            </a:r>
            <a:r>
              <a:rPr lang="zh-CN" altLang="en-US" sz="1600" b="1" dirty="0">
                <a:latin typeface="+mn-ea"/>
              </a:rPr>
              <a:t>位到第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位（共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位）表示偏移后的指数，第</a:t>
            </a:r>
            <a:r>
              <a:rPr lang="en-US" altLang="zh-CN" sz="1600" b="1" dirty="0">
                <a:latin typeface="+mn-ea"/>
              </a:rPr>
              <a:t>22</a:t>
            </a:r>
            <a:r>
              <a:rPr lang="zh-CN" altLang="en-US" sz="1600" b="1" dirty="0">
                <a:latin typeface="+mn-ea"/>
              </a:rPr>
              <a:t>位到第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位（共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位）表示尾数。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  <a:cs typeface="+mn-ea"/>
              </a:rPr>
              <a:t>    尾数的正负由第</a:t>
            </a:r>
            <a:r>
              <a:rPr lang="en-US" altLang="zh-CN" sz="1600" b="1" dirty="0">
                <a:latin typeface="+mn-ea"/>
                <a:cs typeface="+mn-ea"/>
              </a:rPr>
              <a:t>31</a:t>
            </a:r>
            <a:r>
              <a:rPr lang="zh-CN" altLang="en-US" sz="1600" b="1" dirty="0">
                <a:latin typeface="+mn-ea"/>
                <a:cs typeface="+mn-ea"/>
              </a:rPr>
              <a:t>位表示，</a:t>
            </a:r>
            <a:r>
              <a:rPr lang="en-US" altLang="zh-CN" sz="1600" b="1" dirty="0">
                <a:latin typeface="+mn-ea"/>
                <a:cs typeface="+mn-ea"/>
              </a:rPr>
              <a:t>0</a:t>
            </a:r>
            <a:r>
              <a:rPr lang="zh-CN" altLang="en-US" sz="1600" b="1" dirty="0">
                <a:latin typeface="+mn-ea"/>
                <a:cs typeface="+mn-ea"/>
              </a:rPr>
              <a:t>表示正数，</a:t>
            </a:r>
            <a:r>
              <a:rPr lang="en-US" altLang="zh-CN" sz="1600" b="1" dirty="0">
                <a:latin typeface="+mn-ea"/>
                <a:cs typeface="+mn-ea"/>
              </a:rPr>
              <a:t>1</a:t>
            </a:r>
            <a:r>
              <a:rPr lang="zh-CN" altLang="en-US" sz="1600" b="1" dirty="0">
                <a:latin typeface="+mn-ea"/>
                <a:cs typeface="+mn-ea"/>
              </a:rPr>
              <a:t>表示负数。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在以二进制格式存储十进制浮点数时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, 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首先需要把十进制浮点数表示为二进制格式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。以十进制浮点数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20.5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举例，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十进制浮点数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20.5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（绝对值）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= 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二进制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10100.1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。然后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, 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需要把这个二进制数转换为以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2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为底的指数形式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: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二进制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10100.1 = 1.01001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 * 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2^4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。注意转换时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, 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对于乘号左边的那个二进制数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1.01001, 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需要把小数点放在左起第一位和第二位之间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. 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且第一位需要是个非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0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数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. 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这样表示好之后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, 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其中的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1.01001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就是尾数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.</a:t>
            </a:r>
            <a:r>
              <a:rPr lang="zh-CN" altLang="en-US" sz="1600" b="1" i="0" dirty="0">
                <a:solidFill>
                  <a:schemeClr val="accent2"/>
                </a:solidFill>
                <a:effectLst/>
                <a:latin typeface="+mn-ea"/>
                <a:cs typeface="+mn-ea"/>
              </a:rPr>
              <a:t>（用二进制数表示十进制浮点数时</a:t>
            </a:r>
            <a:r>
              <a:rPr lang="en-US" altLang="zh-CN" sz="1600" b="1" i="0" dirty="0">
                <a:solidFill>
                  <a:schemeClr val="accent2"/>
                </a:solidFill>
                <a:effectLst/>
                <a:latin typeface="+mn-ea"/>
                <a:cs typeface="+mn-ea"/>
              </a:rPr>
              <a:t>, </a:t>
            </a:r>
            <a:r>
              <a:rPr lang="zh-CN" altLang="en-US" sz="1600" b="1" i="0" dirty="0">
                <a:solidFill>
                  <a:schemeClr val="accent2"/>
                </a:solidFill>
                <a:effectLst/>
                <a:latin typeface="+mn-ea"/>
                <a:cs typeface="+mn-ea"/>
              </a:rPr>
              <a:t>表示为尾数*指数的形式</a:t>
            </a:r>
            <a:r>
              <a:rPr lang="en-US" altLang="zh-CN" sz="1600" b="1" i="0" dirty="0">
                <a:solidFill>
                  <a:schemeClr val="accent2"/>
                </a:solidFill>
                <a:effectLst/>
                <a:latin typeface="+mn-ea"/>
                <a:cs typeface="+mn-ea"/>
              </a:rPr>
              <a:t>, </a:t>
            </a:r>
            <a:r>
              <a:rPr lang="zh-CN" altLang="en-US" sz="1600" b="1" i="0" dirty="0">
                <a:solidFill>
                  <a:schemeClr val="accent2"/>
                </a:solidFill>
                <a:effectLst/>
                <a:latin typeface="+mn-ea"/>
                <a:cs typeface="+mn-ea"/>
              </a:rPr>
              <a:t>并把尾数的小数点放在第一位和第二位之间</a:t>
            </a:r>
            <a:r>
              <a:rPr lang="en-US" altLang="zh-CN" sz="1600" b="1" i="0" dirty="0">
                <a:solidFill>
                  <a:schemeClr val="accent2"/>
                </a:solidFill>
                <a:effectLst/>
                <a:latin typeface="+mn-ea"/>
                <a:cs typeface="+mn-ea"/>
              </a:rPr>
              <a:t>, </a:t>
            </a:r>
            <a:r>
              <a:rPr lang="zh-CN" altLang="en-US" sz="1600" b="1" i="0" dirty="0">
                <a:solidFill>
                  <a:schemeClr val="accent2"/>
                </a:solidFill>
                <a:effectLst/>
                <a:latin typeface="+mn-ea"/>
                <a:cs typeface="+mn-ea"/>
              </a:rPr>
              <a:t>然后保证第一位数非</a:t>
            </a:r>
            <a:r>
              <a:rPr lang="en-US" altLang="zh-CN" sz="1600" b="1" i="0" dirty="0">
                <a:solidFill>
                  <a:schemeClr val="accent2"/>
                </a:solidFill>
                <a:effectLst/>
                <a:latin typeface="+mn-ea"/>
                <a:cs typeface="+mn-ea"/>
              </a:rPr>
              <a:t>0, </a:t>
            </a:r>
            <a:r>
              <a:rPr lang="zh-CN" altLang="en-US" sz="1600" b="1" i="0" dirty="0">
                <a:solidFill>
                  <a:schemeClr val="accent2"/>
                </a:solidFill>
                <a:effectLst/>
                <a:latin typeface="+mn-ea"/>
                <a:cs typeface="+mn-ea"/>
              </a:rPr>
              <a:t>这个处理过程叫做规范化）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因为二进制只有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0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和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1</a:t>
            </a:r>
            <a:r>
              <a:rPr lang="zh-CN" altLang="en-US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两个数值，所以第一位数只能是</a:t>
            </a:r>
            <a:r>
              <a:rPr lang="en-US" altLang="zh-CN" sz="16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。对尾数进行隐藏高位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和低位补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0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补齐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23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位后，就得到了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23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位尾数。</a:t>
            </a:r>
            <a:endParaRPr lang="en-US" altLang="zh-CN" sz="1600" b="1" dirty="0">
              <a:solidFill>
                <a:srgbClr val="191B1F"/>
              </a:solidFill>
              <a:latin typeface="+mn-ea"/>
              <a:cs typeface="+mn-ea"/>
            </a:endParaRPr>
          </a:p>
          <a:p>
            <a:pPr algn="l"/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    指数即十进制数转换为二进制浮点数再规范化后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2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的指数（如上例中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4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为指数）。指数在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float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型数据中以偏移后的指数表示，这是一个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8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位二进制无符号数，因此不用表示正负。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float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型的偏移量为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127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（即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2^7-1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），对原指数加上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127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后就得到了一个非负数，将其转换为二进制数，再高位补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0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补齐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8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位后，就得到了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8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位偏移后的指数。如上例中，原指数为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4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，加上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127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后为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131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，转换为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8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位二进制数为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</a:rPr>
              <a:t>1000 0011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</a:rPr>
              <a:t>，即为偏移后指数。</a:t>
            </a:r>
            <a:endParaRPr lang="en-US" altLang="zh-CN" sz="1600" b="1" dirty="0">
              <a:latin typeface="+mn-ea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182" y="2427730"/>
            <a:ext cx="6693244" cy="11240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1420" y="700406"/>
            <a:ext cx="11126223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/>
            <a:r>
              <a:rPr lang="en-US" altLang="zh-CN" sz="1600" b="1" dirty="0">
                <a:latin typeface="+mn-ea"/>
              </a:rPr>
              <a:t>(2) </a:t>
            </a:r>
            <a:r>
              <a:rPr lang="zh-CN" altLang="en-US" sz="1600" b="1" dirty="0">
                <a:latin typeface="+mn-ea"/>
              </a:rPr>
              <a:t>为什么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型数据只有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位十进制有效数字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为什么最大只能是</a:t>
            </a:r>
            <a:r>
              <a:rPr lang="en-US" altLang="zh-CN" sz="1600" b="1" dirty="0">
                <a:latin typeface="+mn-ea"/>
              </a:rPr>
              <a:t>3.4x10</a:t>
            </a:r>
            <a:r>
              <a:rPr lang="en-US" altLang="zh-CN" sz="1600" b="1" baseline="30000" dirty="0">
                <a:latin typeface="+mn-ea"/>
              </a:rPr>
              <a:t>38</a:t>
            </a:r>
            <a:r>
              <a:rPr lang="en-US" altLang="zh-CN" sz="1600" b="1" dirty="0">
                <a:latin typeface="+mn-ea"/>
              </a:rPr>
              <a:t> ?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有些资料上说有效位数是</a:t>
            </a:r>
            <a:r>
              <a:rPr lang="en-US" altLang="zh-CN" sz="1600" b="1" dirty="0">
                <a:latin typeface="+mn-ea"/>
              </a:rPr>
              <a:t>6~7</a:t>
            </a:r>
            <a:r>
              <a:rPr lang="zh-CN" altLang="en-US" sz="1600" b="1" dirty="0">
                <a:latin typeface="+mn-ea"/>
              </a:rPr>
              <a:t>位，能找出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位</a:t>
            </a:r>
            <a:r>
              <a:rPr lang="en-US" altLang="zh-CN" sz="1600" b="1" dirty="0">
                <a:latin typeface="+mn-ea"/>
              </a:rPr>
              <a:t>/7</a:t>
            </a:r>
            <a:r>
              <a:rPr lang="zh-CN" altLang="en-US" sz="1600" b="1" dirty="0">
                <a:latin typeface="+mn-ea"/>
              </a:rPr>
              <a:t>位不同的例子吗</a:t>
            </a:r>
            <a:r>
              <a:rPr lang="en-US" altLang="zh-CN" sz="1600" b="1" dirty="0">
                <a:latin typeface="+mn-ea"/>
              </a:rPr>
              <a:t>?</a:t>
            </a:r>
            <a:endParaRPr lang="en-US" altLang="zh-CN" sz="1600" b="1" dirty="0">
              <a:latin typeface="+mn-ea"/>
            </a:endParaRPr>
          </a:p>
          <a:p>
            <a:pPr algn="l" eaLnBrk="1" fontAlgn="t" hangingPunct="1"/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    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l" eaLnBrk="1" fontAlgn="t" hangingPunct="1"/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   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float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型数据的有效位数由尾数决定，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23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位尾数能表示的最大数字为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2</a:t>
            </a:r>
            <a:r>
              <a:rPr lang="en-US" altLang="zh-CN" sz="1600" b="1" baseline="30000" dirty="0">
                <a:solidFill>
                  <a:schemeClr val="accent2"/>
                </a:solidFill>
                <a:latin typeface="+mn-ea"/>
                <a:sym typeface="+mn-ea"/>
              </a:rPr>
              <a:t>23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-1 = 8388607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10</a:t>
            </a:r>
            <a:r>
              <a:rPr lang="en-US" altLang="zh-CN" sz="1600" b="1" baseline="30000" dirty="0">
                <a:solidFill>
                  <a:schemeClr val="accent2"/>
                </a:solidFill>
                <a:latin typeface="+mn-ea"/>
                <a:sym typeface="+mn-ea"/>
              </a:rPr>
              <a:t>6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&lt;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8388607 &lt; 10</a:t>
            </a:r>
            <a:r>
              <a:rPr lang="en-US" altLang="zh-CN" sz="1600" b="1" baseline="30000" dirty="0">
                <a:solidFill>
                  <a:schemeClr val="accent2"/>
                </a:solidFill>
                <a:latin typeface="+mn-ea"/>
                <a:sym typeface="+mn-ea"/>
              </a:rPr>
              <a:t>7  </a:t>
            </a:r>
            <a:r>
              <a:rPr lang="zh-CN" sz="1600" b="1" dirty="0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endParaRPr lang="zh-CN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 eaLnBrk="1" fontAlgn="t" hangingPunct="1"/>
            <a:r>
              <a:rPr lang="zh-CN" sz="1600" b="1" dirty="0">
                <a:solidFill>
                  <a:schemeClr val="accent2"/>
                </a:solidFill>
                <a:latin typeface="+mn-ea"/>
                <a:sym typeface="+mn-ea"/>
              </a:rPr>
              <a:t>所以</a:t>
            </a:r>
            <a:r>
              <a:rPr sz="1600" b="1" dirty="0">
                <a:solidFill>
                  <a:schemeClr val="accent2"/>
                </a:solidFill>
                <a:latin typeface="+mn-ea"/>
                <a:sym typeface="+mn-ea"/>
              </a:rPr>
              <a:t>说</a:t>
            </a:r>
            <a:r>
              <a:rPr lang="en-US" sz="1600" b="1" dirty="0">
                <a:solidFill>
                  <a:schemeClr val="accent2"/>
                </a:solidFill>
                <a:latin typeface="+mn-ea"/>
                <a:sym typeface="+mn-ea"/>
              </a:rPr>
              <a:t>float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型数据</a:t>
            </a:r>
            <a:r>
              <a:rPr sz="1600" b="1" dirty="0">
                <a:solidFill>
                  <a:schemeClr val="accent2"/>
                </a:solidFill>
                <a:latin typeface="+mn-ea"/>
                <a:sym typeface="+mn-ea"/>
              </a:rPr>
              <a:t>的有效位数是7位。</a:t>
            </a:r>
            <a:endParaRPr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 eaLnBrk="1" fontAlgn="t" hangingPunct="1"/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 </a:t>
            </a:r>
            <a:endParaRPr lang="en-US" altLang="zh-CN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 eaLnBrk="1" fontAlgn="t" hangingPunct="1"/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 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当尾数和指数全为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时，表示的最大值为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1.11...(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共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23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位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)×2</a:t>
            </a:r>
            <a:r>
              <a:rPr lang="en-US" altLang="zh-CN" sz="1600" b="1" baseline="30000" dirty="0">
                <a:solidFill>
                  <a:schemeClr val="accent2"/>
                </a:solidFill>
                <a:latin typeface="+mn-ea"/>
                <a:sym typeface="+mn-ea"/>
              </a:rPr>
              <a:t>128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 ，约等于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3.4</a:t>
            </a:r>
            <a:r>
              <a:rPr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10</a:t>
            </a:r>
            <a:r>
              <a:rPr lang="en-US" altLang="zh-CN" sz="1600" b="1" baseline="30000" dirty="0">
                <a:solidFill>
                  <a:schemeClr val="accent2"/>
                </a:solidFill>
                <a:latin typeface="+mn-ea"/>
                <a:sym typeface="+mn-ea"/>
              </a:rPr>
              <a:t>38</a:t>
            </a:r>
            <a:r>
              <a:rPr lang="en-US" altLang="zh-CN" sz="10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 eaLnBrk="1" fontAlgn="t" hangingPunct="1"/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 </a:t>
            </a:r>
            <a:endParaRPr lang="en-US" altLang="zh-CN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 eaLnBrk="1" fontAlgn="t" hangingPunct="1"/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 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例子：1.325441用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float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型存储时，能保证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7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位有效数字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1.325441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相同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；</a:t>
            </a:r>
            <a:endParaRPr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algn="l" eaLnBrk="1" fontAlgn="t" hangingPunct="1"/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         1.998524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用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float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型存储时，只能保证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6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位有效数字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1.99852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相同，第七位不相同。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  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endParaRPr lang="zh-CN" altLang="en-US" sz="1600" b="1" dirty="0">
              <a:latin typeface="+mn-ea"/>
            </a:endParaRPr>
          </a:p>
          <a:p>
            <a:pPr algn="l" eaLnBrk="1" hangingPunct="1"/>
            <a:endParaRPr lang="zh-CN" alt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45135" y="343535"/>
            <a:ext cx="86855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dirty="0">
                <a:latin typeface="+mn-ea"/>
                <a:sym typeface="+mn-ea"/>
              </a:rPr>
              <a:t>(3) double</a:t>
            </a:r>
            <a:r>
              <a:rPr lang="zh-CN" altLang="en-US" sz="1600" b="1" dirty="0">
                <a:latin typeface="+mn-ea"/>
                <a:sym typeface="+mn-ea"/>
              </a:rPr>
              <a:t>型数据的</a:t>
            </a:r>
            <a:r>
              <a:rPr lang="en-US" altLang="zh-CN" sz="1600" b="1" dirty="0">
                <a:latin typeface="+mn-ea"/>
                <a:sym typeface="+mn-ea"/>
              </a:rPr>
              <a:t>64bit</a:t>
            </a:r>
            <a:r>
              <a:rPr lang="zh-CN" altLang="en-US" sz="1600" b="1" dirty="0">
                <a:latin typeface="+mn-ea"/>
                <a:sym typeface="+mn-ea"/>
              </a:rPr>
              <a:t>是如何分段来表示一个双精度的浮点数的</a:t>
            </a:r>
            <a:r>
              <a:rPr lang="en-US" altLang="zh-CN" sz="1600" b="1" dirty="0">
                <a:latin typeface="+mn-ea"/>
                <a:sym typeface="+mn-ea"/>
              </a:rPr>
              <a:t>? </a:t>
            </a:r>
            <a:r>
              <a:rPr lang="zh-CN" altLang="en-US" sz="1600" b="1" dirty="0">
                <a:latin typeface="+mn-ea"/>
                <a:sym typeface="+mn-ea"/>
              </a:rPr>
              <a:t>给出</a:t>
            </a:r>
            <a:r>
              <a:rPr lang="en-US" altLang="zh-CN" sz="1600" b="1" dirty="0">
                <a:latin typeface="+mn-ea"/>
                <a:sym typeface="+mn-ea"/>
              </a:rPr>
              <a:t>bit</a:t>
            </a:r>
            <a:r>
              <a:rPr lang="zh-CN" altLang="en-US" sz="1600" b="1" dirty="0">
                <a:latin typeface="+mn-ea"/>
                <a:sym typeface="+mn-ea"/>
              </a:rPr>
              <a:t>位的分段解释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</a:t>
            </a:r>
            <a:r>
              <a:rPr lang="zh-CN" altLang="en-US" sz="1600" b="1" dirty="0">
                <a:latin typeface="+mn-ea"/>
                <a:sym typeface="+mn-ea"/>
              </a:rPr>
              <a:t>尾数的正负如何表示</a:t>
            </a:r>
            <a:r>
              <a:rPr lang="en-US" altLang="zh-CN" sz="1600" b="1" dirty="0">
                <a:latin typeface="+mn-ea"/>
                <a:sym typeface="+mn-ea"/>
              </a:rPr>
              <a:t>? </a:t>
            </a:r>
            <a:r>
              <a:rPr lang="zh-CN" altLang="en-US" sz="1600" b="1" dirty="0">
                <a:latin typeface="+mn-ea"/>
                <a:sym typeface="+mn-ea"/>
              </a:rPr>
              <a:t>尾数如何表示</a:t>
            </a:r>
            <a:r>
              <a:rPr lang="en-US" altLang="zh-CN" sz="1600" b="1" dirty="0">
                <a:latin typeface="+mn-ea"/>
                <a:sym typeface="+mn-ea"/>
              </a:rPr>
              <a:t>? </a:t>
            </a:r>
            <a:r>
              <a:rPr lang="zh-CN" altLang="en-US" sz="1600" b="1" dirty="0">
                <a:latin typeface="+mn-ea"/>
                <a:sym typeface="+mn-ea"/>
              </a:rPr>
              <a:t>指数的正负如何表示</a:t>
            </a:r>
            <a:r>
              <a:rPr lang="en-US" altLang="zh-CN" sz="1600" b="1" dirty="0">
                <a:latin typeface="+mn-ea"/>
                <a:sym typeface="+mn-ea"/>
              </a:rPr>
              <a:t>? </a:t>
            </a:r>
            <a:r>
              <a:rPr lang="zh-CN" altLang="en-US" sz="1600" b="1" dirty="0">
                <a:latin typeface="+mn-ea"/>
                <a:sym typeface="+mn-ea"/>
              </a:rPr>
              <a:t>指数如何表示</a:t>
            </a:r>
            <a:r>
              <a:rPr lang="en-US" altLang="zh-CN" sz="1600" b="1" dirty="0">
                <a:latin typeface="+mn-ea"/>
                <a:sym typeface="+mn-ea"/>
              </a:rPr>
              <a:t>?</a:t>
            </a:r>
            <a:endParaRPr lang="en-US" altLang="zh-CN" sz="1600" b="1" dirty="0">
              <a:latin typeface="+mn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5135" y="1066165"/>
            <a:ext cx="1005205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dirty="0">
                <a:latin typeface="+mn-ea"/>
                <a:sym typeface="+mn-ea"/>
              </a:rPr>
              <a:t>    </a:t>
            </a:r>
            <a:r>
              <a:rPr lang="zh-CN" altLang="en-US" sz="1600" b="1" dirty="0">
                <a:latin typeface="+mn-ea"/>
                <a:sym typeface="+mn-ea"/>
              </a:rPr>
              <a:t>如图，</a:t>
            </a:r>
            <a:r>
              <a:rPr lang="en-US" altLang="zh-CN" sz="1600" b="1" dirty="0">
                <a:latin typeface="+mn-ea"/>
                <a:sym typeface="+mn-ea"/>
              </a:rPr>
              <a:t>double</a:t>
            </a:r>
            <a:r>
              <a:rPr lang="zh-CN" altLang="en-US" sz="1600" b="1" dirty="0">
                <a:latin typeface="+mn-ea"/>
                <a:sym typeface="+mn-ea"/>
              </a:rPr>
              <a:t>型数据一共占</a:t>
            </a:r>
            <a:r>
              <a:rPr lang="en-US" altLang="zh-CN" sz="1600" b="1" dirty="0">
                <a:latin typeface="+mn-ea"/>
                <a:sym typeface="+mn-ea"/>
              </a:rPr>
              <a:t>8</a:t>
            </a:r>
            <a:r>
              <a:rPr lang="zh-CN" altLang="en-US" sz="1600" b="1" dirty="0">
                <a:latin typeface="+mn-ea"/>
                <a:sym typeface="+mn-ea"/>
              </a:rPr>
              <a:t>字节，共</a:t>
            </a:r>
            <a:r>
              <a:rPr lang="en-US" altLang="zh-CN" sz="1600" b="1" dirty="0">
                <a:latin typeface="+mn-ea"/>
                <a:sym typeface="+mn-ea"/>
              </a:rPr>
              <a:t>64</a:t>
            </a:r>
            <a:r>
              <a:rPr lang="zh-CN" altLang="en-US" sz="1600" b="1" dirty="0">
                <a:latin typeface="+mn-ea"/>
                <a:sym typeface="+mn-ea"/>
              </a:rPr>
              <a:t>位。第</a:t>
            </a:r>
            <a:r>
              <a:rPr lang="en-US" altLang="zh-CN" sz="1600" b="1" dirty="0">
                <a:latin typeface="+mn-ea"/>
                <a:sym typeface="+mn-ea"/>
              </a:rPr>
              <a:t>63</a:t>
            </a:r>
            <a:r>
              <a:rPr lang="zh-CN" altLang="en-US" sz="1600" b="1" dirty="0">
                <a:latin typeface="+mn-ea"/>
                <a:sym typeface="+mn-ea"/>
              </a:rPr>
              <a:t>位（最高位）为符号位，</a:t>
            </a:r>
            <a:r>
              <a:rPr lang="en-US" altLang="zh-CN" sz="1600" b="1" dirty="0">
                <a:latin typeface="+mn-ea"/>
                <a:sym typeface="+mn-ea"/>
              </a:rPr>
              <a:t>0</a:t>
            </a:r>
            <a:r>
              <a:rPr lang="zh-CN" altLang="en-US" sz="1600" b="1" dirty="0">
                <a:latin typeface="+mn-ea"/>
                <a:sym typeface="+mn-ea"/>
              </a:rPr>
              <a:t>表示正数，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sym typeface="+mn-ea"/>
              </a:rPr>
              <a:t>表示负数。第</a:t>
            </a:r>
            <a:r>
              <a:rPr lang="en-US" altLang="zh-CN" sz="1600" b="1" dirty="0">
                <a:latin typeface="+mn-ea"/>
                <a:sym typeface="+mn-ea"/>
              </a:rPr>
              <a:t>62</a:t>
            </a:r>
            <a:r>
              <a:rPr lang="zh-CN" altLang="en-US" sz="1600" b="1" dirty="0">
                <a:latin typeface="+mn-ea"/>
                <a:sym typeface="+mn-ea"/>
              </a:rPr>
              <a:t>位到第</a:t>
            </a:r>
            <a:r>
              <a:rPr lang="en-US" altLang="zh-CN" sz="1600" b="1" dirty="0">
                <a:latin typeface="+mn-ea"/>
                <a:sym typeface="+mn-ea"/>
              </a:rPr>
              <a:t>52</a:t>
            </a:r>
            <a:r>
              <a:rPr lang="zh-CN" altLang="en-US" sz="1600" b="1" dirty="0">
                <a:latin typeface="+mn-ea"/>
                <a:sym typeface="+mn-ea"/>
              </a:rPr>
              <a:t>位（共</a:t>
            </a:r>
            <a:r>
              <a:rPr lang="en-US" altLang="zh-CN" sz="1600" b="1" dirty="0">
                <a:latin typeface="+mn-ea"/>
                <a:sym typeface="+mn-ea"/>
              </a:rPr>
              <a:t>11</a:t>
            </a:r>
            <a:r>
              <a:rPr lang="zh-CN" altLang="en-US" sz="1600" b="1" dirty="0">
                <a:latin typeface="+mn-ea"/>
                <a:sym typeface="+mn-ea"/>
              </a:rPr>
              <a:t>位）表示偏移后的指数，第</a:t>
            </a:r>
            <a:r>
              <a:rPr lang="en-US" altLang="zh-CN" sz="1600" b="1" dirty="0">
                <a:latin typeface="+mn-ea"/>
                <a:sym typeface="+mn-ea"/>
              </a:rPr>
              <a:t>51</a:t>
            </a:r>
            <a:r>
              <a:rPr lang="zh-CN" altLang="en-US" sz="1600" b="1" dirty="0">
                <a:latin typeface="+mn-ea"/>
                <a:sym typeface="+mn-ea"/>
              </a:rPr>
              <a:t>位到第</a:t>
            </a:r>
            <a:r>
              <a:rPr lang="en-US" altLang="zh-CN" sz="1600" b="1" dirty="0">
                <a:latin typeface="+mn-ea"/>
                <a:sym typeface="+mn-ea"/>
              </a:rPr>
              <a:t>0</a:t>
            </a:r>
            <a:r>
              <a:rPr lang="zh-CN" altLang="en-US" sz="1600" b="1" dirty="0">
                <a:latin typeface="+mn-ea"/>
                <a:sym typeface="+mn-ea"/>
              </a:rPr>
              <a:t>位（共</a:t>
            </a:r>
            <a:r>
              <a:rPr lang="en-US" altLang="zh-CN" sz="1600" b="1" dirty="0">
                <a:latin typeface="+mn-ea"/>
                <a:sym typeface="+mn-ea"/>
              </a:rPr>
              <a:t>52</a:t>
            </a:r>
            <a:r>
              <a:rPr lang="zh-CN" altLang="en-US" sz="1600" b="1" dirty="0">
                <a:latin typeface="+mn-ea"/>
                <a:sym typeface="+mn-ea"/>
              </a:rPr>
              <a:t>位）表示尾数。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cs typeface="+mn-ea"/>
                <a:sym typeface="+mn-ea"/>
              </a:rPr>
              <a:t>    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  <a:p>
            <a:endParaRPr lang="zh-CN" altLang="en-US" sz="1600" b="1" dirty="0">
              <a:latin typeface="+mn-ea"/>
              <a:cs typeface="+mn-ea"/>
              <a:sym typeface="+mn-ea"/>
            </a:endParaRPr>
          </a:p>
          <a:p>
            <a:r>
              <a:rPr lang="zh-CN" altLang="en-US" sz="1600" b="1" dirty="0">
                <a:latin typeface="+mn-ea"/>
                <a:cs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cs typeface="+mn-ea"/>
                <a:sym typeface="+mn-ea"/>
              </a:rPr>
              <a:t>   </a:t>
            </a:r>
            <a:r>
              <a:rPr lang="zh-CN" altLang="en-US" sz="1600" b="1" dirty="0">
                <a:latin typeface="+mn-ea"/>
                <a:cs typeface="+mn-ea"/>
                <a:sym typeface="+mn-ea"/>
              </a:rPr>
              <a:t>尾数的正负由第</a:t>
            </a:r>
            <a:r>
              <a:rPr lang="en-US" altLang="zh-CN" sz="1600" b="1" dirty="0">
                <a:latin typeface="+mn-ea"/>
                <a:cs typeface="+mn-ea"/>
                <a:sym typeface="+mn-ea"/>
              </a:rPr>
              <a:t>63</a:t>
            </a:r>
            <a:r>
              <a:rPr lang="zh-CN" altLang="en-US" sz="1600" b="1" dirty="0">
                <a:latin typeface="+mn-ea"/>
                <a:cs typeface="+mn-ea"/>
                <a:sym typeface="+mn-ea"/>
              </a:rPr>
              <a:t>位表示，</a:t>
            </a:r>
            <a:r>
              <a:rPr lang="en-US" altLang="zh-CN" sz="1600" b="1" dirty="0">
                <a:latin typeface="+mn-ea"/>
                <a:cs typeface="+mn-ea"/>
                <a:sym typeface="+mn-ea"/>
              </a:rPr>
              <a:t>0</a:t>
            </a:r>
            <a:r>
              <a:rPr lang="zh-CN" altLang="en-US" sz="1600" b="1" dirty="0">
                <a:latin typeface="+mn-ea"/>
                <a:cs typeface="+mn-ea"/>
                <a:sym typeface="+mn-ea"/>
              </a:rPr>
              <a:t>表示正数，</a:t>
            </a:r>
            <a:r>
              <a:rPr lang="en-US" altLang="zh-CN" sz="1600" b="1" dirty="0">
                <a:latin typeface="+mn-ea"/>
                <a:cs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cs typeface="+mn-ea"/>
                <a:sym typeface="+mn-ea"/>
              </a:rPr>
              <a:t>表示负数。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在以二进制格式存储十进制浮点数时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, 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首先需要把十进制浮点数表示为二进制格式。以十进制浮点数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20.5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举例，十进制浮点数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20.5 = 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二进制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10100.1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。然后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, 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需要把这个二进制数转换为以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2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为底的指数形式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: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二进制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10100.1 = 1.01001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 * 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2^4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。注意转换时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, 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对于乘号左边的那个二进制数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1.01001, 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需要把小数点放在左起第一位和第二位之间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. 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且第一位需要是个非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0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数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. 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这样表示好之后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, 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其中的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1.01001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就是尾数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.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（</a:t>
            </a:r>
            <a:r>
              <a:rPr lang="zh-CN" altLang="en-US" sz="1600" b="1" dirty="0">
                <a:solidFill>
                  <a:srgbClr val="535861"/>
                </a:solidFill>
                <a:latin typeface="+mn-ea"/>
                <a:cs typeface="+mn-ea"/>
                <a:sym typeface="+mn-ea"/>
              </a:rPr>
              <a:t>用二进制数表示 十进制浮点数时</a:t>
            </a:r>
            <a:r>
              <a:rPr lang="en-US" altLang="zh-CN" sz="1600" b="1" dirty="0">
                <a:solidFill>
                  <a:srgbClr val="535861"/>
                </a:solidFill>
                <a:latin typeface="+mn-ea"/>
                <a:cs typeface="+mn-ea"/>
                <a:sym typeface="+mn-ea"/>
              </a:rPr>
              <a:t>, </a:t>
            </a:r>
            <a:r>
              <a:rPr lang="zh-CN" altLang="en-US" sz="1600" b="1" dirty="0">
                <a:solidFill>
                  <a:srgbClr val="535861"/>
                </a:solidFill>
                <a:latin typeface="+mn-ea"/>
                <a:cs typeface="+mn-ea"/>
                <a:sym typeface="+mn-ea"/>
              </a:rPr>
              <a:t>表示为尾数*指数的形式</a:t>
            </a:r>
            <a:r>
              <a:rPr lang="en-US" altLang="zh-CN" sz="1600" b="1" dirty="0">
                <a:solidFill>
                  <a:srgbClr val="535861"/>
                </a:solidFill>
                <a:latin typeface="+mn-ea"/>
                <a:cs typeface="+mn-ea"/>
                <a:sym typeface="+mn-ea"/>
              </a:rPr>
              <a:t>, </a:t>
            </a:r>
            <a:r>
              <a:rPr lang="zh-CN" altLang="en-US" sz="1600" b="1" dirty="0">
                <a:solidFill>
                  <a:srgbClr val="535861"/>
                </a:solidFill>
                <a:latin typeface="+mn-ea"/>
                <a:cs typeface="+mn-ea"/>
                <a:sym typeface="+mn-ea"/>
              </a:rPr>
              <a:t>并把尾数的小数点放在第一位和第二位之间</a:t>
            </a:r>
            <a:r>
              <a:rPr lang="en-US" altLang="zh-CN" sz="1600" b="1" dirty="0">
                <a:solidFill>
                  <a:srgbClr val="535861"/>
                </a:solidFill>
                <a:latin typeface="+mn-ea"/>
                <a:cs typeface="+mn-ea"/>
                <a:sym typeface="+mn-ea"/>
              </a:rPr>
              <a:t>, </a:t>
            </a:r>
            <a:r>
              <a:rPr lang="zh-CN" altLang="en-US" sz="1600" b="1" dirty="0">
                <a:solidFill>
                  <a:srgbClr val="535861"/>
                </a:solidFill>
                <a:latin typeface="+mn-ea"/>
                <a:cs typeface="+mn-ea"/>
                <a:sym typeface="+mn-ea"/>
              </a:rPr>
              <a:t>然后保证第一位数非</a:t>
            </a:r>
            <a:r>
              <a:rPr lang="en-US" altLang="zh-CN" sz="1600" b="1" dirty="0">
                <a:solidFill>
                  <a:srgbClr val="535861"/>
                </a:solidFill>
                <a:latin typeface="+mn-ea"/>
                <a:cs typeface="+mn-ea"/>
                <a:sym typeface="+mn-ea"/>
              </a:rPr>
              <a:t>0, </a:t>
            </a:r>
            <a:r>
              <a:rPr lang="zh-CN" altLang="en-US" sz="1600" b="1" dirty="0">
                <a:solidFill>
                  <a:srgbClr val="535861"/>
                </a:solidFill>
                <a:latin typeface="+mn-ea"/>
                <a:cs typeface="+mn-ea"/>
                <a:sym typeface="+mn-ea"/>
              </a:rPr>
              <a:t>这个处理过程叫做规范化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）因为二进制只有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0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和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两个数值，所以第一位数只能是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。对尾数进行隐藏高位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和低位补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0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补齐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52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位后，就得到了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52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位尾数。</a:t>
            </a:r>
            <a:endParaRPr lang="en-US" altLang="zh-CN" sz="1600" b="1" dirty="0">
              <a:solidFill>
                <a:srgbClr val="191B1F"/>
              </a:solidFill>
              <a:latin typeface="+mn-ea"/>
              <a:cs typeface="+mn-ea"/>
            </a:endParaRPr>
          </a:p>
          <a:p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    指数即十进制数转换为二进制浮点数再规范化后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2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的指数（如上例中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4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为指数）。指数在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double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型数据中以偏移后的指数表示，这是一个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位二进制无符号数，因此不用表示正负。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double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型的偏移量为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1023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（即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2^10-1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），对原指数加上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1023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后就得到了一个非负数，将其转换为二进制数，再高位补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0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补齐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位后，就得到了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位偏移后的指数。如上例中，原指数为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4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，加上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1023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后为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1027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，转换为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位二进制数为</a:t>
            </a:r>
            <a:r>
              <a:rPr lang="en-US" altLang="zh-CN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100 0000 0011</a:t>
            </a:r>
            <a:r>
              <a:rPr lang="zh-CN" altLang="en-US" sz="1600" b="1" dirty="0">
                <a:solidFill>
                  <a:srgbClr val="191B1F"/>
                </a:solidFill>
                <a:latin typeface="+mn-ea"/>
                <a:cs typeface="+mn-ea"/>
                <a:sym typeface="+mn-ea"/>
              </a:rPr>
              <a:t>，即为偏移后指数。</a:t>
            </a:r>
            <a:endParaRPr lang="zh-CN" altLang="en-US" sz="1600" b="1" dirty="0">
              <a:solidFill>
                <a:srgbClr val="191B1F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1936115" y="1604010"/>
            <a:ext cx="7258050" cy="1562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44830" y="616585"/>
            <a:ext cx="10744835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  <a:sym typeface="+mn-ea"/>
              </a:rPr>
              <a:t>(4) </a:t>
            </a:r>
            <a:r>
              <a:rPr lang="zh-CN" altLang="en-US" sz="1600" b="1" dirty="0">
                <a:latin typeface="+mn-ea"/>
                <a:sym typeface="+mn-ea"/>
              </a:rPr>
              <a:t>为什么</a:t>
            </a:r>
            <a:r>
              <a:rPr lang="en-US" altLang="zh-CN" sz="1600" b="1" dirty="0">
                <a:latin typeface="+mn-ea"/>
                <a:sym typeface="+mn-ea"/>
              </a:rPr>
              <a:t>double</a:t>
            </a:r>
            <a:r>
              <a:rPr lang="zh-CN" altLang="en-US" sz="1600" b="1" dirty="0">
                <a:latin typeface="+mn-ea"/>
                <a:sym typeface="+mn-ea"/>
              </a:rPr>
              <a:t>型数据只有</a:t>
            </a:r>
            <a:r>
              <a:rPr lang="en-US" altLang="zh-CN" sz="1600" b="1" dirty="0">
                <a:latin typeface="+mn-ea"/>
                <a:sym typeface="+mn-ea"/>
              </a:rPr>
              <a:t>15</a:t>
            </a:r>
            <a:r>
              <a:rPr lang="zh-CN" altLang="en-US" sz="1600" b="1" dirty="0">
                <a:latin typeface="+mn-ea"/>
                <a:sym typeface="+mn-ea"/>
              </a:rPr>
              <a:t>位十进制有效数字</a:t>
            </a:r>
            <a:r>
              <a:rPr lang="en-US" altLang="zh-CN" sz="1600" b="1" dirty="0">
                <a:latin typeface="+mn-ea"/>
                <a:sym typeface="+mn-ea"/>
              </a:rPr>
              <a:t>? </a:t>
            </a:r>
            <a:r>
              <a:rPr lang="zh-CN" altLang="en-US" sz="1600" b="1" dirty="0">
                <a:latin typeface="+mn-ea"/>
                <a:sym typeface="+mn-ea"/>
              </a:rPr>
              <a:t>为什么最大只能是</a:t>
            </a:r>
            <a:r>
              <a:rPr lang="en-US" altLang="zh-CN" sz="1600" b="1" dirty="0">
                <a:latin typeface="+mn-ea"/>
                <a:sym typeface="+mn-ea"/>
              </a:rPr>
              <a:t>1.7x10</a:t>
            </a:r>
            <a:r>
              <a:rPr lang="en-US" altLang="zh-CN" sz="1600" b="1" baseline="30000" dirty="0">
                <a:latin typeface="+mn-ea"/>
                <a:sym typeface="+mn-ea"/>
              </a:rPr>
              <a:t>308</a:t>
            </a:r>
            <a:r>
              <a:rPr lang="en-US" altLang="zh-CN" sz="1600" b="1" dirty="0">
                <a:latin typeface="+mn-ea"/>
                <a:sym typeface="+mn-ea"/>
              </a:rPr>
              <a:t> ?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  <a:sym typeface="+mn-ea"/>
              </a:rPr>
              <a:t>    </a:t>
            </a:r>
            <a:r>
              <a:rPr lang="zh-CN" altLang="en-US" sz="1600" b="1" dirty="0">
                <a:latin typeface="+mn-ea"/>
                <a:sym typeface="+mn-ea"/>
              </a:rPr>
              <a:t>有些资料上说有效位数是</a:t>
            </a:r>
            <a:r>
              <a:rPr lang="en-US" altLang="zh-CN" sz="1600" b="1" dirty="0">
                <a:latin typeface="+mn-ea"/>
                <a:sym typeface="+mn-ea"/>
              </a:rPr>
              <a:t>15~16</a:t>
            </a:r>
            <a:r>
              <a:rPr lang="zh-CN" altLang="en-US" sz="1600" b="1" dirty="0">
                <a:latin typeface="+mn-ea"/>
                <a:sym typeface="+mn-ea"/>
              </a:rPr>
              <a:t>位，能找出</a:t>
            </a:r>
            <a:r>
              <a:rPr lang="en-US" altLang="zh-CN" sz="1600" b="1" dirty="0">
                <a:latin typeface="+mn-ea"/>
                <a:sym typeface="+mn-ea"/>
              </a:rPr>
              <a:t>15</a:t>
            </a:r>
            <a:r>
              <a:rPr lang="zh-CN" altLang="en-US" sz="1600" b="1" dirty="0">
                <a:latin typeface="+mn-ea"/>
                <a:sym typeface="+mn-ea"/>
              </a:rPr>
              <a:t>位</a:t>
            </a:r>
            <a:r>
              <a:rPr lang="en-US" altLang="zh-CN" sz="1600" b="1" dirty="0">
                <a:latin typeface="+mn-ea"/>
                <a:sym typeface="+mn-ea"/>
              </a:rPr>
              <a:t>/16</a:t>
            </a:r>
            <a:r>
              <a:rPr lang="zh-CN" altLang="en-US" sz="1600" b="1" dirty="0">
                <a:latin typeface="+mn-ea"/>
                <a:sym typeface="+mn-ea"/>
              </a:rPr>
              <a:t>位不同的例子吗？</a:t>
            </a:r>
            <a:endParaRPr lang="zh-CN" altLang="en-US" sz="1600" b="1" dirty="0">
              <a:latin typeface="+mn-ea"/>
              <a:sym typeface="+mn-ea"/>
            </a:endParaRPr>
          </a:p>
          <a:p>
            <a:pPr algn="l" eaLnBrk="1" hangingPunct="1"/>
            <a:endParaRPr lang="zh-CN" altLang="en-US" sz="1600" b="1" dirty="0">
              <a:latin typeface="+mn-ea"/>
              <a:sym typeface="+mn-ea"/>
            </a:endParaRPr>
          </a:p>
          <a:p>
            <a:pPr algn="l" eaLnBrk="1" fontAlgn="t" hangingPunct="1"/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  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型数据的有效位数由尾数决定，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52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位尾数能表示的最大数字为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2</a:t>
            </a:r>
            <a:r>
              <a:rPr lang="en-US" altLang="zh-CN" sz="1600" b="1" baseline="30000" dirty="0">
                <a:solidFill>
                  <a:schemeClr val="accent2"/>
                </a:solidFill>
                <a:latin typeface="+mn-ea"/>
                <a:sym typeface="+mn-ea"/>
              </a:rPr>
              <a:t>52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-1 = 4503599627370495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endParaRPr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 eaLnBrk="1" fontAlgn="t" hangingPunct="1"/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10</a:t>
            </a:r>
            <a:r>
              <a:rPr lang="en-US" altLang="zh-CN" sz="1600" b="1" baseline="30000" dirty="0">
                <a:solidFill>
                  <a:schemeClr val="accent2"/>
                </a:solidFill>
                <a:latin typeface="+mn-ea"/>
                <a:sym typeface="+mn-ea"/>
              </a:rPr>
              <a:t>15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&lt; 4503599627370495 &lt; 10</a:t>
            </a:r>
            <a:r>
              <a:rPr lang="en-US" altLang="zh-CN" sz="1600" b="1" baseline="30000" dirty="0">
                <a:solidFill>
                  <a:schemeClr val="accent2"/>
                </a:solidFill>
                <a:latin typeface="+mn-ea"/>
                <a:sym typeface="+mn-ea"/>
              </a:rPr>
              <a:t>16 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r>
              <a:rPr sz="1600" b="1" dirty="0">
                <a:solidFill>
                  <a:schemeClr val="accent2"/>
                </a:solidFill>
                <a:latin typeface="+mn-ea"/>
                <a:sym typeface="+mn-ea"/>
              </a:rPr>
              <a:t>所以</a:t>
            </a:r>
            <a:r>
              <a:rPr lang="en-US" sz="16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型数据</a:t>
            </a:r>
            <a:r>
              <a:rPr sz="1600" b="1" dirty="0">
                <a:solidFill>
                  <a:schemeClr val="accent2"/>
                </a:solidFill>
                <a:latin typeface="+mn-ea"/>
                <a:sym typeface="+mn-ea"/>
              </a:rPr>
              <a:t>的有效位数是1</a:t>
            </a:r>
            <a:r>
              <a:rPr lang="en-US" sz="1600" b="1" dirty="0">
                <a:solidFill>
                  <a:schemeClr val="accent2"/>
                </a:solidFill>
                <a:latin typeface="+mn-ea"/>
                <a:sym typeface="+mn-ea"/>
              </a:rPr>
              <a:t>5</a:t>
            </a:r>
            <a:r>
              <a:rPr sz="1600" b="1" dirty="0">
                <a:solidFill>
                  <a:schemeClr val="accent2"/>
                </a:solidFill>
                <a:latin typeface="+mn-ea"/>
                <a:sym typeface="+mn-ea"/>
              </a:rPr>
              <a:t>位。</a:t>
            </a:r>
            <a:endParaRPr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 eaLnBrk="1" fontAlgn="t" hangingPunct="1"/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 </a:t>
            </a:r>
            <a:endParaRPr lang="en-US" altLang="zh-CN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 eaLnBrk="1" fontAlgn="t" hangingPunct="1"/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 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当尾数和指数全为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时，表示的最大值为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1.11...(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共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52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位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)</a:t>
            </a:r>
            <a:r>
              <a:rPr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2</a:t>
            </a:r>
            <a:r>
              <a:rPr lang="en-US" altLang="zh-CN" sz="1600" b="1" baseline="30000" dirty="0">
                <a:solidFill>
                  <a:schemeClr val="accent2"/>
                </a:solidFill>
                <a:latin typeface="+mn-ea"/>
                <a:sym typeface="+mn-ea"/>
              </a:rPr>
              <a:t>1024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 ，约等于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1.7</a:t>
            </a:r>
            <a:r>
              <a:rPr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10</a:t>
            </a:r>
            <a:r>
              <a:rPr lang="en-US" altLang="zh-CN" sz="1600" b="1" baseline="30000" dirty="0">
                <a:solidFill>
                  <a:schemeClr val="accent2"/>
                </a:solidFill>
                <a:latin typeface="+mn-ea"/>
                <a:sym typeface="+mn-ea"/>
              </a:rPr>
              <a:t>308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 </a:t>
            </a:r>
            <a:endParaRPr lang="en-US" altLang="zh-CN" sz="1600" b="1" dirty="0">
              <a:latin typeface="+mn-ea"/>
            </a:endParaRPr>
          </a:p>
          <a:p>
            <a:pPr algn="l" eaLnBrk="1" fontAlgn="t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例子：125.264646464525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1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用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型存储时，能保证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16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位有效数字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125.264646464525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相同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；</a:t>
            </a:r>
            <a:endParaRPr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 eaLnBrk="1" fontAlgn="t" hangingPunct="1"/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      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125.264646464525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5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用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型存储时，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只能保证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15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位有效数字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1.99852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相同，第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16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位不相同。</a:t>
            </a:r>
            <a:endParaRPr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7" y="162560"/>
            <a:ext cx="115966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、思考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(1) 8/11bit</a:t>
            </a:r>
            <a:r>
              <a:rPr lang="zh-CN" altLang="en-US" sz="1600" b="1" dirty="0">
                <a:latin typeface="+mn-ea"/>
              </a:rPr>
              <a:t>的指数的表示形式是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进制补码吗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如果不是，一般称为什么方式表示</a:t>
            </a:r>
            <a:r>
              <a:rPr lang="en-US" altLang="zh-CN" sz="1600" b="1" dirty="0">
                <a:latin typeface="+mn-ea"/>
              </a:rPr>
              <a:t>?   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不是。一般称为移码表示，即原指数加上偏移量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127/1023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后转换的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8/11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位二进制数。</a:t>
            </a:r>
            <a:endParaRPr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(2) double</a:t>
            </a:r>
            <a:r>
              <a:rPr lang="zh-CN" altLang="en-US" sz="1600" b="1" dirty="0">
                <a:latin typeface="+mn-ea"/>
              </a:rPr>
              <a:t>赋值给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时，下面两个程序，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型常量不加</a:t>
            </a:r>
            <a:r>
              <a:rPr lang="en-US" altLang="zh-CN" sz="1600" b="1" dirty="0">
                <a:latin typeface="+mn-ea"/>
              </a:rPr>
              <a:t>F</a:t>
            </a:r>
            <a:r>
              <a:rPr lang="zh-CN" altLang="en-US" sz="1600" b="1" dirty="0">
                <a:latin typeface="+mn-ea"/>
              </a:rPr>
              <a:t>的情况下，左侧有</a:t>
            </a:r>
            <a:r>
              <a:rPr lang="en-US" altLang="zh-CN" sz="1600" b="1" dirty="0"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，右侧无</a:t>
            </a:r>
            <a:r>
              <a:rPr lang="en-US" altLang="zh-CN" sz="1600" b="1" dirty="0"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，为什么</a:t>
            </a:r>
            <a:r>
              <a:rPr lang="en-US" altLang="zh-CN" sz="1600" b="1" dirty="0">
                <a:latin typeface="+mn-ea"/>
              </a:rPr>
              <a:t>?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总结一下规律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左边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型常量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1.2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的浮点数表示是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0 01111111111 0011 00110011 00110011 00110011 00110011 00110011 00110011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。尾数在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23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位之后仍然有数字，而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float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型的尾数只有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23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位，导致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型赋值给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float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型时尾数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23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位后面的数字被截断，使得精度丢失，所以有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warning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。而右边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100.25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的浮点数表示中的尾数为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10010001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（后面全是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），这样在赋给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float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型时尾数是相同的，不存在数字丢失的情况，所以没有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warning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。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   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总结：当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型数据的尾数部分有效数字不超过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23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位时，且偏移前的指数不超过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127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时，赋值给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float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型时不会有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warning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；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l" eaLnBrk="1" hangingPunct="1"/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          当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型数据的尾数部分有效数字超过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23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位时，或偏移前的指数超过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127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时，赋值给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float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型时会有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warning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。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44882" y="4154223"/>
            <a:ext cx="4108187" cy="2389774"/>
            <a:chOff x="644882" y="3882625"/>
            <a:chExt cx="4108187" cy="2389774"/>
          </a:xfrm>
        </p:grpSpPr>
        <p:sp>
          <p:nvSpPr>
            <p:cNvPr id="3" name="矩形 2"/>
            <p:cNvSpPr/>
            <p:nvPr/>
          </p:nvSpPr>
          <p:spPr bwMode="auto">
            <a:xfrm>
              <a:off x="644882" y="3882625"/>
              <a:ext cx="4045957" cy="238977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r>
                <a:rPr lang="en-US" altLang="zh-CN" sz="1200" b="1" dirty="0">
                  <a:latin typeface="+mn-ea"/>
                </a:rPr>
                <a:t>#include &lt;iostream&gt;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using namespace std;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int main()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{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    float f = </a:t>
              </a:r>
              <a:r>
                <a:rPr lang="en-US" altLang="zh-CN" sz="12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+mn-ea"/>
                </a:rPr>
                <a:t>1.2</a:t>
              </a:r>
              <a:r>
                <a:rPr lang="en-US" altLang="zh-CN" sz="1200" b="1" dirty="0">
                  <a:latin typeface="+mn-ea"/>
                </a:rPr>
                <a:t>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    unsigned char* p = (unsigned char*)&amp;f;</a:t>
              </a:r>
              <a:endParaRPr lang="zh-CN" altLang="zh-CN" sz="1200" dirty="0">
                <a:latin typeface="+mn-ea"/>
              </a:endParaRPr>
            </a:p>
            <a:p>
              <a:r>
                <a:rPr lang="fr-FR" altLang="zh-CN" sz="1200" b="1" dirty="0">
                  <a:latin typeface="+mn-ea"/>
                </a:rPr>
                <a:t>    cout &lt;&lt; hex &lt;&lt; (int)(*p)     &lt;&lt; endl;</a:t>
              </a:r>
              <a:endParaRPr lang="zh-CN" altLang="zh-CN" sz="1200" dirty="0">
                <a:latin typeface="+mn-ea"/>
              </a:endParaRPr>
            </a:p>
            <a:p>
              <a:r>
                <a:rPr lang="fr-FR" altLang="zh-CN" sz="1200" b="1" dirty="0">
                  <a:latin typeface="+mn-ea"/>
                </a:rPr>
                <a:t>    cout &lt;&lt; hex &lt;&lt; (int)(*(p+1)) &lt;&lt; endl;</a:t>
              </a:r>
              <a:endParaRPr lang="zh-CN" altLang="zh-CN" sz="1200" dirty="0">
                <a:latin typeface="+mn-ea"/>
              </a:endParaRPr>
            </a:p>
            <a:p>
              <a:r>
                <a:rPr lang="fr-FR" altLang="zh-CN" sz="1200" b="1" dirty="0">
                  <a:latin typeface="+mn-ea"/>
                </a:rPr>
                <a:t>    cout &lt;&lt; hex &lt;&lt; (int)(*(p+2)) &lt;&lt; endl;</a:t>
              </a:r>
              <a:endParaRPr lang="zh-CN" altLang="zh-CN" sz="1200" dirty="0">
                <a:latin typeface="+mn-ea"/>
              </a:endParaRPr>
            </a:p>
            <a:p>
              <a:r>
                <a:rPr lang="fr-FR" altLang="zh-CN" sz="1200" b="1" dirty="0">
                  <a:latin typeface="+mn-ea"/>
                </a:rPr>
                <a:t>    cout &lt;&lt; hex &lt;&lt; (int)(*(p+3)) &lt;&lt; endl;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    return 0;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}</a:t>
              </a:r>
              <a:endParaRPr lang="en-US" altLang="zh-CN" sz="1200" b="1" dirty="0">
                <a:latin typeface="+mn-ea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34021" y="4099456"/>
              <a:ext cx="3219048" cy="21904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5" name="矩形 4"/>
          <p:cNvSpPr/>
          <p:nvPr/>
        </p:nvSpPr>
        <p:spPr bwMode="auto">
          <a:xfrm>
            <a:off x="5048513" y="4154223"/>
            <a:ext cx="4045957" cy="238977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 = 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100.25</a:t>
            </a:r>
            <a:r>
              <a:rPr lang="en-US" altLang="zh-CN" sz="1200" b="1" dirty="0">
                <a:latin typeface="+mn-ea"/>
              </a:rPr>
              <a:t>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unsigned char* p = (unsigned char*)&amp;f;</a:t>
            </a:r>
            <a:endParaRPr lang="zh-CN" altLang="zh-CN" sz="1200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hex &lt;&lt; (int)(*p)     &lt;&lt; endl;</a:t>
            </a:r>
            <a:endParaRPr lang="zh-CN" altLang="zh-CN" sz="1200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hex &lt;&lt; (int)(*(p+1)) &lt;&lt; endl;</a:t>
            </a:r>
            <a:endParaRPr lang="zh-CN" altLang="zh-CN" sz="1200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hex &lt;&lt; (int)(*(p+2)) &lt;&lt; endl;</a:t>
            </a:r>
            <a:endParaRPr lang="zh-CN" altLang="zh-CN" sz="1200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hex &lt;&lt; (int)(*(p+3)) &lt;&lt; endl;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endParaRPr lang="zh-CN" altLang="en-US" sz="2800" b="1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15426</Words>
  <Application>WPS 演示</Application>
  <PresentationFormat>宽屏</PresentationFormat>
  <Paragraphs>474</Paragraphs>
  <Slides>22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染墨相思</cp:lastModifiedBy>
  <cp:revision>105</cp:revision>
  <dcterms:created xsi:type="dcterms:W3CDTF">2020-08-13T13:39:00Z</dcterms:created>
  <dcterms:modified xsi:type="dcterms:W3CDTF">2024-03-12T11:46:39Z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1FF4D2F1ABDD4A2383E391254843C0A7_12</vt:lpwstr>
  </property>
  <property fmtid="{D5CDD505-2E9C-101B-9397-08002B2CF9AE}" pid="3" name="KSOProductBuildVer">
    <vt:lpwstr>2052-12.1.0.16388</vt:lpwstr>
  </property>
</Properties>
</file>