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9" userDrawn="1">
          <p15:clr>
            <a:srgbClr val="A4A3A4"/>
          </p15:clr>
        </p15:guide>
        <p15:guide id="2" pos="3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29"/>
        <p:guide pos="39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gs" Target="tags/tag84.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65.xml"/><Relationship Id="rId4" Type="http://schemas.openxmlformats.org/officeDocument/2006/relationships/image" Target="../media/image2.png"/><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6.xml"/><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2.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image" Target="../media/image2.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0.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3.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4.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5.xml"/><Relationship Id="rId3" Type="http://schemas.openxmlformats.org/officeDocument/2006/relationships/image" Target="../media/image2.png"/><Relationship Id="rId2" Type="http://schemas.openxmlformats.org/officeDocument/2006/relationships/image" Target="../media/image36.png"/><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image" Target="../media/image38.png"/><Relationship Id="rId1" Type="http://schemas.openxmlformats.org/officeDocument/2006/relationships/image" Target="../media/image37.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8.xml"/><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9.xml"/><Relationship Id="rId5" Type="http://schemas.openxmlformats.org/officeDocument/2006/relationships/image" Target="../media/image2.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1.xml"/><Relationship Id="rId5" Type="http://schemas.openxmlformats.org/officeDocument/2006/relationships/image" Target="../media/image2.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2.xml"/><Relationship Id="rId5" Type="http://schemas.openxmlformats.org/officeDocument/2006/relationships/image" Target="../media/image2.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3.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占位符 4" descr="微信图片_20230330180916"/>
          <p:cNvPicPr>
            <a:picLocks noGrp="1" noChangeAspect="1"/>
          </p:cNvPicPr>
          <p:nvPr>
            <p:ph type="pic" sz="quarter" idx="10"/>
          </p:nvPr>
        </p:nvPicPr>
        <p:blipFill>
          <a:blip r:embed="rId1"/>
          <a:stretch>
            <a:fillRect/>
          </a:stretch>
        </p:blipFill>
        <p:spPr>
          <a:xfrm>
            <a:off x="-635" y="3429000"/>
            <a:ext cx="12192635" cy="6858000"/>
          </a:xfrm>
          <a:prstGeom prst="rect">
            <a:avLst/>
          </a:prstGeom>
        </p:spPr>
      </p:pic>
      <p:sp>
        <p:nvSpPr>
          <p:cNvPr id="2" name="标题 1"/>
          <p:cNvSpPr>
            <a:spLocks noGrp="1"/>
          </p:cNvSpPr>
          <p:nvPr>
            <p:ph type="ctrTitle"/>
            <p:custDataLst>
              <p:tags r:id="rId2"/>
            </p:custDataLst>
          </p:nvPr>
        </p:nvSpPr>
        <p:spPr>
          <a:xfrm>
            <a:off x="1339215" y="914400"/>
            <a:ext cx="9519920" cy="2570480"/>
          </a:xfrm>
        </p:spPr>
        <p:txBody>
          <a:bodyPr>
            <a:normAutofit/>
          </a:bodyPr>
          <a:p>
            <a:pPr algn="l"/>
            <a:r>
              <a:rPr lang="en-US" altLang="zh-CN">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rPr>
              <a:t>VS2022</a:t>
            </a:r>
            <a:r>
              <a:rPr lang="zh-CN" altLang="en-US">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rPr>
              <a:t>调试工具</a:t>
            </a:r>
            <a:br>
              <a:rPr lang="zh-CN" altLang="en-US">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rPr>
            </a:br>
            <a:r>
              <a:rPr lang="zh-CN" altLang="en-US">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rPr>
              <a:t> </a:t>
            </a:r>
            <a:r>
              <a:rPr lang="en-US" altLang="zh-CN">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rPr>
              <a:t>                          </a:t>
            </a:r>
            <a:r>
              <a:rPr lang="zh-CN" altLang="en-US">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rPr>
              <a:t>使用报告</a:t>
            </a:r>
            <a:endParaRPr lang="zh-CN" altLang="en-US">
              <a:gradFill>
                <a:gsLst>
                  <a:gs pos="50000">
                    <a:schemeClr val="accent1"/>
                  </a:gs>
                  <a:gs pos="0">
                    <a:schemeClr val="accent1">
                      <a:lumMod val="25000"/>
                      <a:lumOff val="75000"/>
                    </a:schemeClr>
                  </a:gs>
                  <a:gs pos="100000">
                    <a:schemeClr val="accent1">
                      <a:lumMod val="85000"/>
                    </a:schemeClr>
                  </a:gs>
                </a:gsLst>
                <a:lin ang="5400000" scaled="1"/>
              </a:gradFill>
              <a:latin typeface="华文新魏" panose="02010800040101010101" charset="-122"/>
              <a:ea typeface="华文新魏" panose="02010800040101010101" charset="-122"/>
              <a:cs typeface="华文新魏" panose="02010800040101010101" charset="-122"/>
            </a:endParaRPr>
          </a:p>
        </p:txBody>
      </p:sp>
      <p:sp>
        <p:nvSpPr>
          <p:cNvPr id="3" name="副标题 2"/>
          <p:cNvSpPr>
            <a:spLocks noGrp="1"/>
          </p:cNvSpPr>
          <p:nvPr>
            <p:ph type="subTitle" idx="1"/>
            <p:custDataLst>
              <p:tags r:id="rId3"/>
            </p:custDataLst>
          </p:nvPr>
        </p:nvSpPr>
        <p:spPr>
          <a:xfrm>
            <a:off x="1339215" y="3893185"/>
            <a:ext cx="3695700" cy="1864995"/>
          </a:xfrm>
        </p:spPr>
        <p:txBody>
          <a:bodyPr>
            <a:normAutofit fontScale="80000"/>
          </a:bodyPr>
          <a:p>
            <a:pPr algn="l"/>
            <a:r>
              <a:rPr lang="zh-CN" altLang="en-US" b="1">
                <a:solidFill>
                  <a:schemeClr val="tx1"/>
                </a:solidFill>
              </a:rPr>
              <a:t>班级：计拔</a:t>
            </a:r>
            <a:r>
              <a:rPr lang="en-US" altLang="zh-CN" b="1">
                <a:solidFill>
                  <a:schemeClr val="tx1"/>
                </a:solidFill>
              </a:rPr>
              <a:t>/</a:t>
            </a:r>
            <a:r>
              <a:rPr lang="zh-CN" altLang="en-US" b="1">
                <a:solidFill>
                  <a:schemeClr val="tx1"/>
                </a:solidFill>
              </a:rPr>
              <a:t>高程</a:t>
            </a:r>
            <a:r>
              <a:rPr lang="en-US" altLang="zh-CN" b="1">
                <a:solidFill>
                  <a:schemeClr val="tx1"/>
                </a:solidFill>
              </a:rPr>
              <a:t>05</a:t>
            </a:r>
            <a:r>
              <a:rPr lang="zh-CN" altLang="en-US" b="1">
                <a:solidFill>
                  <a:schemeClr val="tx1"/>
                </a:solidFill>
              </a:rPr>
              <a:t>班</a:t>
            </a:r>
            <a:endParaRPr lang="zh-CN" altLang="en-US" b="1">
              <a:solidFill>
                <a:schemeClr val="tx1"/>
              </a:solidFill>
            </a:endParaRPr>
          </a:p>
          <a:p>
            <a:pPr algn="l"/>
            <a:r>
              <a:rPr lang="zh-CN" altLang="en-US" b="1">
                <a:solidFill>
                  <a:schemeClr val="tx1"/>
                </a:solidFill>
              </a:rPr>
              <a:t>姓名：毛星博</a:t>
            </a:r>
            <a:endParaRPr lang="zh-CN" altLang="en-US" b="1">
              <a:solidFill>
                <a:schemeClr val="tx1"/>
              </a:solidFill>
            </a:endParaRPr>
          </a:p>
          <a:p>
            <a:pPr algn="l"/>
            <a:r>
              <a:rPr lang="zh-CN" altLang="en-US" b="1">
                <a:solidFill>
                  <a:schemeClr val="tx1"/>
                </a:solidFill>
              </a:rPr>
              <a:t>学号：</a:t>
            </a:r>
            <a:r>
              <a:rPr lang="en-US" altLang="zh-CN" b="1">
                <a:solidFill>
                  <a:schemeClr val="tx1"/>
                </a:solidFill>
              </a:rPr>
              <a:t>2351520</a:t>
            </a:r>
            <a:endParaRPr lang="en-US" altLang="zh-CN" b="1">
              <a:solidFill>
                <a:schemeClr val="tx1"/>
              </a:solidFill>
            </a:endParaRPr>
          </a:p>
          <a:p>
            <a:pPr algn="l"/>
            <a:r>
              <a:rPr lang="zh-CN" altLang="en-US" b="1">
                <a:solidFill>
                  <a:schemeClr val="tx1"/>
                </a:solidFill>
              </a:rPr>
              <a:t>完成日期：</a:t>
            </a:r>
            <a:r>
              <a:rPr lang="en-US" altLang="zh-CN" b="1">
                <a:solidFill>
                  <a:schemeClr val="tx1"/>
                </a:solidFill>
              </a:rPr>
              <a:t>2024</a:t>
            </a:r>
            <a:r>
              <a:rPr lang="zh-CN" altLang="en-US" b="1">
                <a:solidFill>
                  <a:schemeClr val="tx1"/>
                </a:solidFill>
              </a:rPr>
              <a:t>年</a:t>
            </a:r>
            <a:r>
              <a:rPr lang="en-US" altLang="zh-CN" b="1">
                <a:solidFill>
                  <a:schemeClr val="tx1"/>
                </a:solidFill>
              </a:rPr>
              <a:t>5</a:t>
            </a:r>
            <a:r>
              <a:rPr lang="zh-CN" altLang="en-US" b="1">
                <a:solidFill>
                  <a:schemeClr val="tx1"/>
                </a:solidFill>
              </a:rPr>
              <a:t>月</a:t>
            </a:r>
            <a:r>
              <a:rPr lang="en-US" altLang="zh-CN" b="1">
                <a:solidFill>
                  <a:schemeClr val="tx1"/>
                </a:solidFill>
              </a:rPr>
              <a:t>26</a:t>
            </a:r>
            <a:r>
              <a:rPr lang="zh-CN" altLang="en-US" b="1">
                <a:solidFill>
                  <a:schemeClr val="tx1"/>
                </a:solidFill>
              </a:rPr>
              <a:t>日</a:t>
            </a:r>
            <a:endParaRPr lang="zh-CN" altLang="en-US" b="1">
              <a:solidFill>
                <a:schemeClr val="tx1"/>
              </a:solidFill>
            </a:endParaRPr>
          </a:p>
        </p:txBody>
      </p:sp>
      <p:pic>
        <p:nvPicPr>
          <p:cNvPr id="6" name="图片 5" descr="无背景logo"/>
          <p:cNvPicPr>
            <a:picLocks noChangeAspect="1"/>
          </p:cNvPicPr>
          <p:nvPr/>
        </p:nvPicPr>
        <p:blipFill>
          <a:blip r:embed="rId4"/>
          <a:stretch>
            <a:fillRect/>
          </a:stretch>
        </p:blipFill>
        <p:spPr>
          <a:xfrm>
            <a:off x="10072370" y="76200"/>
            <a:ext cx="1689735" cy="858520"/>
          </a:xfrm>
          <a:prstGeom prst="rect">
            <a:avLst/>
          </a:prstGeom>
        </p:spPr>
      </p:pic>
    </p:spTree>
    <p:custDataLst>
      <p:tags r:id="rId5"/>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8400" y="198825"/>
            <a:ext cx="10969200" cy="705600"/>
          </a:xfrm>
        </p:spPr>
        <p:txBody>
          <a:bodyPr/>
          <a:p>
            <a:r>
              <a:rPr lang="en-US" altLang="zh-CN" sz="2800"/>
              <a:t>1.VS2022 下调试工具的基本使用方法</a:t>
            </a:r>
            <a:endParaRPr lang="en-US" altLang="zh-CN" sz="2800"/>
          </a:p>
        </p:txBody>
      </p:sp>
      <p:sp>
        <p:nvSpPr>
          <p:cNvPr id="4" name="文本框 3"/>
          <p:cNvSpPr txBox="1"/>
          <p:nvPr/>
        </p:nvSpPr>
        <p:spPr>
          <a:xfrm>
            <a:off x="688975" y="856615"/>
            <a:ext cx="4064000" cy="368300"/>
          </a:xfrm>
          <a:prstGeom prst="rect">
            <a:avLst/>
          </a:prstGeom>
          <a:noFill/>
        </p:spPr>
        <p:txBody>
          <a:bodyPr wrap="square" rtlCol="0">
            <a:spAutoFit/>
          </a:bodyPr>
          <a:p>
            <a:r>
              <a:rPr lang="en-US" altLang="zh-CN"/>
              <a:t>1.1 如何开始调试？如何结束调试？</a:t>
            </a:r>
            <a:endParaRPr lang="en-US" altLang="zh-CN"/>
          </a:p>
        </p:txBody>
      </p:sp>
      <p:pic>
        <p:nvPicPr>
          <p:cNvPr id="6" name="图片 5"/>
          <p:cNvPicPr>
            <a:picLocks noChangeAspect="1"/>
          </p:cNvPicPr>
          <p:nvPr/>
        </p:nvPicPr>
        <p:blipFill>
          <a:blip r:embed="rId1"/>
          <a:stretch>
            <a:fillRect/>
          </a:stretch>
        </p:blipFill>
        <p:spPr>
          <a:xfrm>
            <a:off x="359410" y="1661795"/>
            <a:ext cx="5599430" cy="1671320"/>
          </a:xfrm>
          <a:prstGeom prst="rect">
            <a:avLst/>
          </a:prstGeom>
        </p:spPr>
      </p:pic>
      <p:sp>
        <p:nvSpPr>
          <p:cNvPr id="7" name="文本框 6"/>
          <p:cNvSpPr txBox="1"/>
          <p:nvPr/>
        </p:nvSpPr>
        <p:spPr>
          <a:xfrm>
            <a:off x="688975" y="1224915"/>
            <a:ext cx="4064000" cy="368300"/>
          </a:xfrm>
          <a:prstGeom prst="rect">
            <a:avLst/>
          </a:prstGeom>
          <a:noFill/>
        </p:spPr>
        <p:txBody>
          <a:bodyPr wrap="square" rtlCol="0">
            <a:spAutoFit/>
          </a:bodyPr>
          <a:p>
            <a:r>
              <a:rPr lang="en-US" altLang="zh-CN"/>
              <a:t>1.1.1 </a:t>
            </a:r>
            <a:r>
              <a:rPr lang="zh-CN" altLang="en-US"/>
              <a:t>如何开始调试</a:t>
            </a:r>
            <a:endParaRPr lang="zh-CN" altLang="en-US"/>
          </a:p>
        </p:txBody>
      </p:sp>
      <p:cxnSp>
        <p:nvCxnSpPr>
          <p:cNvPr id="8" name="直接箭头连接符 7"/>
          <p:cNvCxnSpPr/>
          <p:nvPr/>
        </p:nvCxnSpPr>
        <p:spPr>
          <a:xfrm flipH="1" flipV="1">
            <a:off x="4707255" y="2383790"/>
            <a:ext cx="1388745" cy="4527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608330" y="5411470"/>
            <a:ext cx="4064000" cy="922020"/>
          </a:xfrm>
          <a:prstGeom prst="rect">
            <a:avLst/>
          </a:prstGeom>
          <a:noFill/>
        </p:spPr>
        <p:txBody>
          <a:bodyPr wrap="square" rtlCol="0">
            <a:spAutoFit/>
          </a:bodyPr>
          <a:p>
            <a:r>
              <a:rPr lang="zh-CN" altLang="en-US"/>
              <a:t>如图所示，在</a:t>
            </a:r>
            <a:r>
              <a:rPr lang="en-US" altLang="zh-CN"/>
              <a:t>“</a:t>
            </a:r>
            <a:r>
              <a:rPr lang="zh-CN" altLang="en-US"/>
              <a:t>调试</a:t>
            </a:r>
            <a:r>
              <a:rPr lang="en-US" altLang="zh-CN"/>
              <a:t>”</a:t>
            </a:r>
            <a:r>
              <a:rPr lang="zh-CN" altLang="en-US"/>
              <a:t>窗口点击</a:t>
            </a:r>
            <a:r>
              <a:rPr lang="en-US" altLang="zh-CN"/>
              <a:t>“</a:t>
            </a:r>
            <a:r>
              <a:rPr lang="zh-CN" altLang="en-US"/>
              <a:t>开始调试</a:t>
            </a:r>
            <a:r>
              <a:rPr lang="en-US" altLang="zh-CN"/>
              <a:t>”</a:t>
            </a:r>
            <a:r>
              <a:rPr lang="zh-CN" altLang="en-US"/>
              <a:t>，或直接按快捷键</a:t>
            </a:r>
            <a:r>
              <a:rPr lang="en-US" altLang="zh-CN"/>
              <a:t>F5</a:t>
            </a:r>
            <a:r>
              <a:rPr lang="zh-CN" altLang="en-US"/>
              <a:t>，或在主界面按</a:t>
            </a:r>
            <a:r>
              <a:rPr lang="en-US" altLang="zh-CN"/>
              <a:t>“</a:t>
            </a:r>
            <a:r>
              <a:rPr lang="zh-CN" altLang="en-US"/>
              <a:t>本地</a:t>
            </a:r>
            <a:r>
              <a:rPr lang="en-US" altLang="zh-CN"/>
              <a:t>Windows</a:t>
            </a:r>
            <a:r>
              <a:rPr lang="zh-CN" altLang="en-US"/>
              <a:t>调试器</a:t>
            </a:r>
            <a:r>
              <a:rPr lang="en-US" altLang="zh-CN"/>
              <a:t>”</a:t>
            </a:r>
            <a:r>
              <a:rPr lang="zh-CN" altLang="en-US"/>
              <a:t>开始调试。</a:t>
            </a:r>
            <a:endParaRPr lang="zh-CN" altLang="en-US"/>
          </a:p>
        </p:txBody>
      </p:sp>
      <p:sp>
        <p:nvSpPr>
          <p:cNvPr id="11" name="文本框 10"/>
          <p:cNvSpPr txBox="1"/>
          <p:nvPr/>
        </p:nvSpPr>
        <p:spPr>
          <a:xfrm>
            <a:off x="6574790" y="1176655"/>
            <a:ext cx="4064000" cy="368300"/>
          </a:xfrm>
          <a:prstGeom prst="rect">
            <a:avLst/>
          </a:prstGeom>
          <a:noFill/>
        </p:spPr>
        <p:txBody>
          <a:bodyPr wrap="square" rtlCol="0">
            <a:spAutoFit/>
          </a:bodyPr>
          <a:p>
            <a:r>
              <a:rPr lang="en-US" altLang="zh-CN"/>
              <a:t>1.1.2 </a:t>
            </a:r>
            <a:r>
              <a:rPr lang="zh-CN" altLang="en-US"/>
              <a:t>如何结束调试</a:t>
            </a:r>
            <a:endParaRPr lang="zh-CN" altLang="en-US"/>
          </a:p>
        </p:txBody>
      </p:sp>
      <p:pic>
        <p:nvPicPr>
          <p:cNvPr id="12" name="图片 11"/>
          <p:cNvPicPr>
            <a:picLocks noChangeAspect="1"/>
          </p:cNvPicPr>
          <p:nvPr/>
        </p:nvPicPr>
        <p:blipFill>
          <a:blip r:embed="rId2"/>
          <a:stretch>
            <a:fillRect/>
          </a:stretch>
        </p:blipFill>
        <p:spPr>
          <a:xfrm>
            <a:off x="359410" y="3627120"/>
            <a:ext cx="5598795" cy="1613535"/>
          </a:xfrm>
          <a:prstGeom prst="rect">
            <a:avLst/>
          </a:prstGeom>
        </p:spPr>
      </p:pic>
      <p:cxnSp>
        <p:nvCxnSpPr>
          <p:cNvPr id="13" name="直接箭头连接符 12"/>
          <p:cNvCxnSpPr/>
          <p:nvPr/>
        </p:nvCxnSpPr>
        <p:spPr>
          <a:xfrm flipH="1" flipV="1">
            <a:off x="5026025" y="4090670"/>
            <a:ext cx="1496695" cy="15811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pic>
        <p:nvPicPr>
          <p:cNvPr id="14" name="图片 13"/>
          <p:cNvPicPr>
            <a:picLocks noChangeAspect="1"/>
          </p:cNvPicPr>
          <p:nvPr/>
        </p:nvPicPr>
        <p:blipFill>
          <a:blip r:embed="rId3"/>
          <a:stretch>
            <a:fillRect/>
          </a:stretch>
        </p:blipFill>
        <p:spPr>
          <a:xfrm>
            <a:off x="6327775" y="1661795"/>
            <a:ext cx="5687060" cy="1573530"/>
          </a:xfrm>
          <a:prstGeom prst="rect">
            <a:avLst/>
          </a:prstGeom>
        </p:spPr>
      </p:pic>
      <p:cxnSp>
        <p:nvCxnSpPr>
          <p:cNvPr id="15" name="直接箭头连接符 14"/>
          <p:cNvCxnSpPr/>
          <p:nvPr/>
        </p:nvCxnSpPr>
        <p:spPr>
          <a:xfrm flipH="1" flipV="1">
            <a:off x="10246360" y="2159635"/>
            <a:ext cx="891540" cy="183197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7244715" y="4090670"/>
            <a:ext cx="4064000" cy="645160"/>
          </a:xfrm>
          <a:prstGeom prst="rect">
            <a:avLst/>
          </a:prstGeom>
          <a:noFill/>
        </p:spPr>
        <p:txBody>
          <a:bodyPr wrap="square" rtlCol="0">
            <a:spAutoFit/>
          </a:bodyPr>
          <a:p>
            <a:r>
              <a:rPr lang="zh-CN" altLang="en-US"/>
              <a:t>如图所示，按下</a:t>
            </a:r>
            <a:r>
              <a:rPr lang="en-US" altLang="zh-CN"/>
              <a:t>“</a:t>
            </a:r>
            <a:r>
              <a:rPr lang="zh-CN" altLang="en-US"/>
              <a:t>停止调试</a:t>
            </a:r>
            <a:r>
              <a:rPr lang="en-US" altLang="zh-CN"/>
              <a:t>”</a:t>
            </a:r>
            <a:r>
              <a:rPr lang="zh-CN" altLang="en-US"/>
              <a:t>或直接按快捷键</a:t>
            </a:r>
            <a:r>
              <a:rPr lang="en-US" altLang="zh-CN"/>
              <a:t>Shift+F5</a:t>
            </a:r>
            <a:r>
              <a:rPr lang="zh-CN" altLang="en-US"/>
              <a:t>键即可结束调试。</a:t>
            </a:r>
            <a:endParaRPr lang="zh-CN" altLang="en-US"/>
          </a:p>
        </p:txBody>
      </p:sp>
      <p:sp>
        <p:nvSpPr>
          <p:cNvPr id="3" name="文本框 2"/>
          <p:cNvSpPr txBox="1"/>
          <p:nvPr/>
        </p:nvSpPr>
        <p:spPr>
          <a:xfrm>
            <a:off x="7244715" y="4926965"/>
            <a:ext cx="4064000" cy="1476375"/>
          </a:xfrm>
          <a:prstGeom prst="rect">
            <a:avLst/>
          </a:prstGeom>
          <a:noFill/>
        </p:spPr>
        <p:txBody>
          <a:bodyPr wrap="square" rtlCol="0">
            <a:spAutoFit/>
          </a:bodyPr>
          <a:p>
            <a:r>
              <a:rPr lang="zh-CN" altLang="en-US">
                <a:solidFill>
                  <a:schemeClr val="accent1"/>
                </a:solidFill>
              </a:rPr>
              <a:t>注：如果不设置断点直接开始调试，程序会在调试完成后自动结束，如果设置了断点或者选择逐语句</a:t>
            </a:r>
            <a:r>
              <a:rPr lang="en-US" altLang="zh-CN">
                <a:solidFill>
                  <a:schemeClr val="accent1"/>
                </a:solidFill>
              </a:rPr>
              <a:t>/</a:t>
            </a:r>
            <a:r>
              <a:rPr lang="zh-CN" altLang="en-US">
                <a:solidFill>
                  <a:schemeClr val="accent1"/>
                </a:solidFill>
              </a:rPr>
              <a:t>逐过程调试，则需要手动结束或者完成所有语句后结束调试。</a:t>
            </a:r>
            <a:endParaRPr lang="zh-CN" altLang="en-US">
              <a:solidFill>
                <a:schemeClr val="accent1"/>
              </a:solidFill>
            </a:endParaRPr>
          </a:p>
        </p:txBody>
      </p:sp>
      <p:pic>
        <p:nvPicPr>
          <p:cNvPr id="5" name="图片 4" descr="无背景logo"/>
          <p:cNvPicPr>
            <a:picLocks noChangeAspect="1"/>
          </p:cNvPicPr>
          <p:nvPr/>
        </p:nvPicPr>
        <p:blipFill>
          <a:blip r:embed="rId4"/>
          <a:stretch>
            <a:fillRect/>
          </a:stretch>
        </p:blipFill>
        <p:spPr>
          <a:xfrm>
            <a:off x="10072370" y="76200"/>
            <a:ext cx="1689735" cy="858520"/>
          </a:xfrm>
          <a:prstGeom prst="rect">
            <a:avLst/>
          </a:prstGeom>
        </p:spPr>
      </p:pic>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474980" y="320675"/>
            <a:ext cx="5036185" cy="368300"/>
          </a:xfrm>
          <a:prstGeom prst="rect">
            <a:avLst/>
          </a:prstGeom>
          <a:noFill/>
        </p:spPr>
        <p:txBody>
          <a:bodyPr wrap="square" rtlCol="0">
            <a:spAutoFit/>
          </a:bodyPr>
          <a:p>
            <a:r>
              <a:t>1.2 如何在一个函数中每个语句单步执行？</a:t>
            </a:r>
          </a:p>
        </p:txBody>
      </p:sp>
      <p:pic>
        <p:nvPicPr>
          <p:cNvPr id="4" name="图片 3"/>
          <p:cNvPicPr>
            <a:picLocks noChangeAspect="1"/>
          </p:cNvPicPr>
          <p:nvPr/>
        </p:nvPicPr>
        <p:blipFill>
          <a:blip r:embed="rId1"/>
          <a:stretch>
            <a:fillRect/>
          </a:stretch>
        </p:blipFill>
        <p:spPr>
          <a:xfrm>
            <a:off x="474980" y="776605"/>
            <a:ext cx="6793230" cy="4676775"/>
          </a:xfrm>
          <a:prstGeom prst="rect">
            <a:avLst/>
          </a:prstGeom>
        </p:spPr>
      </p:pic>
      <p:cxnSp>
        <p:nvCxnSpPr>
          <p:cNvPr id="8" name="直接箭头连接符 7"/>
          <p:cNvCxnSpPr/>
          <p:nvPr/>
        </p:nvCxnSpPr>
        <p:spPr>
          <a:xfrm flipH="1" flipV="1">
            <a:off x="5511165" y="3056255"/>
            <a:ext cx="3300730" cy="7448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608330" y="5541010"/>
            <a:ext cx="4603750" cy="645160"/>
          </a:xfrm>
          <a:prstGeom prst="rect">
            <a:avLst/>
          </a:prstGeom>
          <a:noFill/>
        </p:spPr>
        <p:txBody>
          <a:bodyPr wrap="square" rtlCol="0">
            <a:spAutoFit/>
          </a:bodyPr>
          <a:p>
            <a:r>
              <a:rPr lang="zh-CN" altLang="en-US"/>
              <a:t>如图所示，在调试窗口点击</a:t>
            </a:r>
            <a:r>
              <a:rPr lang="en-US" altLang="zh-CN"/>
              <a:t>“</a:t>
            </a:r>
            <a:r>
              <a:rPr lang="zh-CN" altLang="en-US"/>
              <a:t>逐语句</a:t>
            </a:r>
            <a:r>
              <a:rPr lang="en-US" altLang="zh-CN"/>
              <a:t>”</a:t>
            </a:r>
            <a:r>
              <a:rPr lang="zh-CN" altLang="en-US"/>
              <a:t>，或者按快捷键</a:t>
            </a:r>
            <a:r>
              <a:rPr lang="en-US" altLang="zh-CN"/>
              <a:t>F11</a:t>
            </a:r>
            <a:r>
              <a:rPr lang="zh-CN" altLang="en-US"/>
              <a:t>，即可实现每个语句单步执行。</a:t>
            </a:r>
            <a:endParaRPr lang="zh-CN" altLang="en-US"/>
          </a:p>
        </p:txBody>
      </p:sp>
      <p:pic>
        <p:nvPicPr>
          <p:cNvPr id="2" name="图片 1" descr="无背景logo"/>
          <p:cNvPicPr>
            <a:picLocks noChangeAspect="1"/>
          </p:cNvPicPr>
          <p:nvPr/>
        </p:nvPicPr>
        <p:blipFill>
          <a:blip r:embed="rId2"/>
          <a:stretch>
            <a:fillRect/>
          </a:stretch>
        </p:blipFill>
        <p:spPr>
          <a:xfrm>
            <a:off x="10072370" y="76200"/>
            <a:ext cx="1689735" cy="858520"/>
          </a:xfrm>
          <a:prstGeom prst="rect">
            <a:avLst/>
          </a:prstGeom>
        </p:spPr>
      </p:pic>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474980" y="320675"/>
            <a:ext cx="8816975" cy="645160"/>
          </a:xfrm>
          <a:prstGeom prst="rect">
            <a:avLst/>
          </a:prstGeom>
          <a:noFill/>
        </p:spPr>
        <p:txBody>
          <a:bodyPr wrap="square" rtlCol="0">
            <a:spAutoFit/>
          </a:bodyPr>
          <a:p>
            <a:r>
              <a:t>1.3 在碰到 cout/sqrt 等系统类/系统函数时，如何一步完成这些系统类/系统函数的执行</a:t>
            </a:r>
          </a:p>
          <a:p>
            <a:r>
              <a:t>而不要进入到这些系统类/函数的内部单步执行？</a:t>
            </a:r>
          </a:p>
        </p:txBody>
      </p:sp>
      <p:pic>
        <p:nvPicPr>
          <p:cNvPr id="4" name="图片 3"/>
          <p:cNvPicPr>
            <a:picLocks noChangeAspect="1"/>
          </p:cNvPicPr>
          <p:nvPr/>
        </p:nvPicPr>
        <p:blipFill>
          <a:blip r:embed="rId1"/>
          <a:stretch>
            <a:fillRect/>
          </a:stretch>
        </p:blipFill>
        <p:spPr>
          <a:xfrm>
            <a:off x="558800" y="1071245"/>
            <a:ext cx="3547745" cy="4242435"/>
          </a:xfrm>
          <a:prstGeom prst="rect">
            <a:avLst/>
          </a:prstGeom>
        </p:spPr>
      </p:pic>
      <p:pic>
        <p:nvPicPr>
          <p:cNvPr id="5" name="图片 4"/>
          <p:cNvPicPr>
            <a:picLocks noChangeAspect="1"/>
          </p:cNvPicPr>
          <p:nvPr/>
        </p:nvPicPr>
        <p:blipFill>
          <a:blip r:embed="rId2"/>
          <a:stretch>
            <a:fillRect/>
          </a:stretch>
        </p:blipFill>
        <p:spPr>
          <a:xfrm>
            <a:off x="4574540" y="1071245"/>
            <a:ext cx="7125970" cy="4241800"/>
          </a:xfrm>
          <a:prstGeom prst="rect">
            <a:avLst/>
          </a:prstGeom>
        </p:spPr>
      </p:pic>
      <p:cxnSp>
        <p:nvCxnSpPr>
          <p:cNvPr id="8" name="直接箭头连接符 7"/>
          <p:cNvCxnSpPr/>
          <p:nvPr/>
        </p:nvCxnSpPr>
        <p:spPr>
          <a:xfrm flipH="1" flipV="1">
            <a:off x="2210435" y="4818380"/>
            <a:ext cx="1518920" cy="25590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flipH="1" flipV="1">
            <a:off x="8267700" y="2820035"/>
            <a:ext cx="3300730" cy="7448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608330" y="5541010"/>
            <a:ext cx="10235565" cy="922020"/>
          </a:xfrm>
          <a:prstGeom prst="rect">
            <a:avLst/>
          </a:prstGeom>
          <a:noFill/>
        </p:spPr>
        <p:txBody>
          <a:bodyPr wrap="square" rtlCol="0">
            <a:spAutoFit/>
          </a:bodyPr>
          <a:p>
            <a:r>
              <a:rPr lang="zh-CN" altLang="en-US"/>
              <a:t>如图所示，在调试窗口点击</a:t>
            </a:r>
            <a:r>
              <a:rPr lang="en-US" altLang="zh-CN"/>
              <a:t>“</a:t>
            </a:r>
            <a:r>
              <a:rPr lang="zh-CN" altLang="en-US"/>
              <a:t>选项</a:t>
            </a:r>
            <a:r>
              <a:rPr lang="en-US" altLang="zh-CN"/>
              <a:t>”</a:t>
            </a:r>
            <a:r>
              <a:rPr lang="zh-CN" altLang="en-US"/>
              <a:t>，进入选项界面后，勾选</a:t>
            </a:r>
            <a:r>
              <a:rPr lang="en-US" altLang="zh-CN"/>
              <a:t>“</a:t>
            </a:r>
            <a:r>
              <a:rPr lang="zh-CN" altLang="en-US"/>
              <a:t>启用仅我的代码</a:t>
            </a:r>
            <a:r>
              <a:rPr lang="en-US" altLang="zh-CN"/>
              <a:t>”</a:t>
            </a:r>
            <a:r>
              <a:rPr lang="zh-CN" altLang="en-US"/>
              <a:t>，此时</a:t>
            </a:r>
            <a:r>
              <a:rPr>
                <a:sym typeface="+mn-ea"/>
              </a:rPr>
              <a:t>在</a:t>
            </a:r>
            <a:r>
              <a:rPr lang="zh-CN">
                <a:sym typeface="+mn-ea"/>
              </a:rPr>
              <a:t>调试时</a:t>
            </a:r>
            <a:r>
              <a:rPr>
                <a:sym typeface="+mn-ea"/>
              </a:rPr>
              <a:t>碰到 cout/sqrt 等系统类/系统函数时，</a:t>
            </a:r>
            <a:r>
              <a:rPr lang="zh-CN">
                <a:sym typeface="+mn-ea"/>
              </a:rPr>
              <a:t>就会</a:t>
            </a:r>
            <a:r>
              <a:rPr>
                <a:sym typeface="+mn-ea"/>
              </a:rPr>
              <a:t>一步完成这些系统类/系统函数的执行</a:t>
            </a:r>
            <a:r>
              <a:rPr lang="zh-CN">
                <a:sym typeface="+mn-ea"/>
              </a:rPr>
              <a:t>，</a:t>
            </a:r>
            <a:r>
              <a:rPr>
                <a:sym typeface="+mn-ea"/>
              </a:rPr>
              <a:t>而不</a:t>
            </a:r>
            <a:r>
              <a:rPr lang="zh-CN">
                <a:sym typeface="+mn-ea"/>
              </a:rPr>
              <a:t>会</a:t>
            </a:r>
            <a:r>
              <a:rPr>
                <a:sym typeface="+mn-ea"/>
              </a:rPr>
              <a:t>进入到这些系统类/函数的内部单步执行</a:t>
            </a:r>
            <a:r>
              <a:rPr lang="zh-CN">
                <a:sym typeface="+mn-ea"/>
              </a:rPr>
              <a:t>。（无论是逐过程还是逐语句）</a:t>
            </a:r>
            <a:endParaRPr lang="zh-CN">
              <a:sym typeface="+mn-ea"/>
            </a:endParaRPr>
          </a:p>
        </p:txBody>
      </p:sp>
      <p:pic>
        <p:nvPicPr>
          <p:cNvPr id="2" name="图片 1" descr="无背景logo"/>
          <p:cNvPicPr>
            <a:picLocks noChangeAspect="1"/>
          </p:cNvPicPr>
          <p:nvPr/>
        </p:nvPicPr>
        <p:blipFill>
          <a:blip r:embed="rId3"/>
          <a:stretch>
            <a:fillRect/>
          </a:stretch>
        </p:blipFill>
        <p:spPr>
          <a:xfrm>
            <a:off x="10072370" y="76200"/>
            <a:ext cx="1689735" cy="858520"/>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474980" y="320675"/>
            <a:ext cx="8816975" cy="368300"/>
          </a:xfrm>
          <a:prstGeom prst="rect">
            <a:avLst/>
          </a:prstGeom>
          <a:noFill/>
        </p:spPr>
        <p:txBody>
          <a:bodyPr wrap="square" rtlCol="0">
            <a:spAutoFit/>
          </a:bodyPr>
          <a:p>
            <a:r>
              <a:t>1.4 如果已经进入到 cout/sqrt 等系统类/系统函数的内部，如何跳出并返回自己的函数？</a:t>
            </a:r>
          </a:p>
        </p:txBody>
      </p:sp>
      <p:pic>
        <p:nvPicPr>
          <p:cNvPr id="5" name="图片 4"/>
          <p:cNvPicPr>
            <a:picLocks noChangeAspect="1"/>
          </p:cNvPicPr>
          <p:nvPr/>
        </p:nvPicPr>
        <p:blipFill>
          <a:blip r:embed="rId1"/>
          <a:stretch>
            <a:fillRect/>
          </a:stretch>
        </p:blipFill>
        <p:spPr>
          <a:xfrm>
            <a:off x="638175" y="867410"/>
            <a:ext cx="8051800" cy="4507865"/>
          </a:xfrm>
          <a:prstGeom prst="rect">
            <a:avLst/>
          </a:prstGeom>
        </p:spPr>
      </p:pic>
      <p:cxnSp>
        <p:nvCxnSpPr>
          <p:cNvPr id="6" name="直接箭头连接符 5"/>
          <p:cNvCxnSpPr/>
          <p:nvPr/>
        </p:nvCxnSpPr>
        <p:spPr>
          <a:xfrm flipH="1" flipV="1">
            <a:off x="7228840" y="1334770"/>
            <a:ext cx="3300730" cy="7448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608330" y="5541010"/>
            <a:ext cx="10235565" cy="645160"/>
          </a:xfrm>
          <a:prstGeom prst="rect">
            <a:avLst/>
          </a:prstGeom>
          <a:noFill/>
        </p:spPr>
        <p:txBody>
          <a:bodyPr wrap="square" rtlCol="0">
            <a:spAutoFit/>
          </a:bodyPr>
          <a:p>
            <a:r>
              <a:rPr lang="zh-CN" altLang="en-US"/>
              <a:t>如图所示，</a:t>
            </a:r>
            <a:r>
              <a:rPr>
                <a:sym typeface="+mn-ea"/>
              </a:rPr>
              <a:t>已经进入到 cout/sqrt 等系统类/系统函数的内部</a:t>
            </a:r>
            <a:r>
              <a:rPr lang="zh-CN">
                <a:sym typeface="+mn-ea"/>
              </a:rPr>
              <a:t>时，只需点击界面上方的</a:t>
            </a:r>
            <a:r>
              <a:rPr lang="en-US" altLang="zh-CN">
                <a:sym typeface="+mn-ea"/>
              </a:rPr>
              <a:t>“</a:t>
            </a:r>
            <a:r>
              <a:rPr lang="zh-CN" altLang="en-US">
                <a:sym typeface="+mn-ea"/>
              </a:rPr>
              <a:t>跳出</a:t>
            </a:r>
            <a:r>
              <a:rPr lang="en-US" altLang="zh-CN">
                <a:sym typeface="+mn-ea"/>
              </a:rPr>
              <a:t>”</a:t>
            </a:r>
            <a:r>
              <a:rPr lang="zh-CN" altLang="en-US">
                <a:sym typeface="+mn-ea"/>
              </a:rPr>
              <a:t>，</a:t>
            </a:r>
            <a:endParaRPr lang="zh-CN" altLang="en-US">
              <a:sym typeface="+mn-ea"/>
            </a:endParaRPr>
          </a:p>
          <a:p>
            <a:r>
              <a:rPr lang="zh-CN" altLang="en-US">
                <a:sym typeface="+mn-ea"/>
              </a:rPr>
              <a:t>或者按快捷键</a:t>
            </a:r>
            <a:r>
              <a:rPr lang="en-US" altLang="zh-CN">
                <a:sym typeface="+mn-ea"/>
              </a:rPr>
              <a:t>Shift+F11</a:t>
            </a:r>
            <a:r>
              <a:rPr lang="zh-CN" altLang="en-US">
                <a:sym typeface="+mn-ea"/>
              </a:rPr>
              <a:t>，即可</a:t>
            </a:r>
            <a:r>
              <a:rPr>
                <a:sym typeface="+mn-ea"/>
              </a:rPr>
              <a:t>跳出并返回自己的函数</a:t>
            </a:r>
            <a:r>
              <a:rPr lang="zh-CN">
                <a:sym typeface="+mn-ea"/>
              </a:rPr>
              <a:t>。</a:t>
            </a:r>
            <a:endParaRPr lang="zh-CN">
              <a:sym typeface="+mn-ea"/>
            </a:endParaRPr>
          </a:p>
        </p:txBody>
      </p:sp>
      <p:pic>
        <p:nvPicPr>
          <p:cNvPr id="2" name="图片 1" descr="无背景logo"/>
          <p:cNvPicPr>
            <a:picLocks noChangeAspect="1"/>
          </p:cNvPicPr>
          <p:nvPr/>
        </p:nvPicPr>
        <p:blipFill>
          <a:blip r:embed="rId2"/>
          <a:stretch>
            <a:fillRect/>
          </a:stretch>
        </p:blipFill>
        <p:spPr>
          <a:xfrm>
            <a:off x="10072370" y="76200"/>
            <a:ext cx="1689735" cy="85852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303530" y="224790"/>
            <a:ext cx="11819255" cy="645160"/>
          </a:xfrm>
          <a:prstGeom prst="rect">
            <a:avLst/>
          </a:prstGeom>
          <a:noFill/>
        </p:spPr>
        <p:txBody>
          <a:bodyPr wrap="square" rtlCol="0">
            <a:spAutoFit/>
          </a:bodyPr>
          <a:p>
            <a:r>
              <a:t>1.5 在碰到自定义函数的调用语句时，如何一步完成自定义函数的执行而不进入到这些自定义函数的内部单步执行？</a:t>
            </a:r>
          </a:p>
          <a:p>
            <a:r>
              <a:t>1.6 在碰到自定义函数的调用语句时，如何转到被调用函数中单步执行？</a:t>
            </a:r>
          </a:p>
        </p:txBody>
      </p:sp>
      <p:pic>
        <p:nvPicPr>
          <p:cNvPr id="5" name="图片 4"/>
          <p:cNvPicPr>
            <a:picLocks noChangeAspect="1"/>
          </p:cNvPicPr>
          <p:nvPr/>
        </p:nvPicPr>
        <p:blipFill>
          <a:blip r:embed="rId1"/>
          <a:stretch>
            <a:fillRect/>
          </a:stretch>
        </p:blipFill>
        <p:spPr>
          <a:xfrm>
            <a:off x="474980" y="956945"/>
            <a:ext cx="3682365" cy="4808220"/>
          </a:xfrm>
          <a:prstGeom prst="rect">
            <a:avLst/>
          </a:prstGeom>
        </p:spPr>
      </p:pic>
      <p:pic>
        <p:nvPicPr>
          <p:cNvPr id="6" name="图片 5"/>
          <p:cNvPicPr>
            <a:picLocks noChangeAspect="1"/>
          </p:cNvPicPr>
          <p:nvPr/>
        </p:nvPicPr>
        <p:blipFill>
          <a:blip r:embed="rId2"/>
          <a:stretch>
            <a:fillRect/>
          </a:stretch>
        </p:blipFill>
        <p:spPr>
          <a:xfrm>
            <a:off x="4486275" y="956945"/>
            <a:ext cx="5268595" cy="2948940"/>
          </a:xfrm>
          <a:prstGeom prst="rect">
            <a:avLst/>
          </a:prstGeom>
        </p:spPr>
      </p:pic>
      <p:pic>
        <p:nvPicPr>
          <p:cNvPr id="7" name="图片 6"/>
          <p:cNvPicPr>
            <a:picLocks noChangeAspect="1"/>
          </p:cNvPicPr>
          <p:nvPr/>
        </p:nvPicPr>
        <p:blipFill>
          <a:blip r:embed="rId3"/>
          <a:stretch>
            <a:fillRect/>
          </a:stretch>
        </p:blipFill>
        <p:spPr>
          <a:xfrm>
            <a:off x="4486275" y="4113530"/>
            <a:ext cx="3804285" cy="1651635"/>
          </a:xfrm>
          <a:prstGeom prst="rect">
            <a:avLst/>
          </a:prstGeom>
        </p:spPr>
      </p:pic>
      <p:pic>
        <p:nvPicPr>
          <p:cNvPr id="8" name="图片 7"/>
          <p:cNvPicPr>
            <a:picLocks noChangeAspect="1"/>
          </p:cNvPicPr>
          <p:nvPr/>
        </p:nvPicPr>
        <p:blipFill>
          <a:blip r:embed="rId4"/>
          <a:stretch>
            <a:fillRect/>
          </a:stretch>
        </p:blipFill>
        <p:spPr>
          <a:xfrm>
            <a:off x="8531225" y="4119245"/>
            <a:ext cx="2898140" cy="1645920"/>
          </a:xfrm>
          <a:prstGeom prst="rect">
            <a:avLst/>
          </a:prstGeom>
        </p:spPr>
      </p:pic>
      <p:cxnSp>
        <p:nvCxnSpPr>
          <p:cNvPr id="9" name="直接箭头连接符 8"/>
          <p:cNvCxnSpPr/>
          <p:nvPr/>
        </p:nvCxnSpPr>
        <p:spPr>
          <a:xfrm flipH="1">
            <a:off x="2210435" y="2923540"/>
            <a:ext cx="1379855" cy="35941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flipV="1">
            <a:off x="2210435" y="3538855"/>
            <a:ext cx="1263015" cy="16002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H="1" flipV="1">
            <a:off x="4794250" y="2311400"/>
            <a:ext cx="3300730" cy="7448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flipH="1" flipV="1">
            <a:off x="6637655" y="4745990"/>
            <a:ext cx="1268095" cy="20383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H="1" flipV="1">
            <a:off x="10081895" y="4664710"/>
            <a:ext cx="1473200" cy="29972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474980" y="5852160"/>
            <a:ext cx="10235565" cy="922020"/>
          </a:xfrm>
          <a:prstGeom prst="rect">
            <a:avLst/>
          </a:prstGeom>
          <a:noFill/>
        </p:spPr>
        <p:txBody>
          <a:bodyPr wrap="square" rtlCol="0">
            <a:spAutoFit/>
          </a:bodyPr>
          <a:p>
            <a:r>
              <a:rPr lang="zh-CN" altLang="en-US"/>
              <a:t>如图所示，</a:t>
            </a:r>
            <a:r>
              <a:rPr lang="zh-CN">
                <a:sym typeface="+mn-ea"/>
              </a:rPr>
              <a:t>按下</a:t>
            </a:r>
            <a:r>
              <a:rPr lang="en-US" altLang="zh-CN">
                <a:sym typeface="+mn-ea"/>
              </a:rPr>
              <a:t>“</a:t>
            </a:r>
            <a:r>
              <a:rPr lang="zh-CN" altLang="en-US">
                <a:sym typeface="+mn-ea"/>
              </a:rPr>
              <a:t>逐语句</a:t>
            </a:r>
            <a:r>
              <a:rPr lang="en-US" altLang="zh-CN">
                <a:sym typeface="+mn-ea"/>
              </a:rPr>
              <a:t>”</a:t>
            </a:r>
            <a:r>
              <a:rPr lang="zh-CN" altLang="en-US">
                <a:sym typeface="+mn-ea"/>
              </a:rPr>
              <a:t>或</a:t>
            </a:r>
            <a:r>
              <a:rPr lang="en-US" altLang="zh-CN">
                <a:sym typeface="+mn-ea"/>
              </a:rPr>
              <a:t>“</a:t>
            </a:r>
            <a:r>
              <a:rPr lang="zh-CN" altLang="en-US">
                <a:sym typeface="+mn-ea"/>
              </a:rPr>
              <a:t>逐过程</a:t>
            </a:r>
            <a:r>
              <a:rPr lang="en-US" altLang="zh-CN">
                <a:sym typeface="+mn-ea"/>
              </a:rPr>
              <a:t>”</a:t>
            </a:r>
            <a:r>
              <a:rPr lang="zh-CN" altLang="en-US">
                <a:sym typeface="+mn-ea"/>
              </a:rPr>
              <a:t>开始调试后，例如此时图上调试光标在</a:t>
            </a:r>
            <a:r>
              <a:rPr lang="en-US" altLang="zh-CN">
                <a:sym typeface="+mn-ea"/>
              </a:rPr>
              <a:t>in</a:t>
            </a:r>
            <a:r>
              <a:rPr lang="zh-CN" altLang="en-US">
                <a:sym typeface="+mn-ea"/>
              </a:rPr>
              <a:t>函数处，此时点击</a:t>
            </a:r>
            <a:r>
              <a:rPr lang="en-US" altLang="zh-CN">
                <a:sym typeface="+mn-ea"/>
              </a:rPr>
              <a:t>“</a:t>
            </a:r>
            <a:r>
              <a:rPr lang="zh-CN" altLang="en-US">
                <a:sym typeface="+mn-ea"/>
              </a:rPr>
              <a:t>逐语句</a:t>
            </a:r>
            <a:r>
              <a:rPr lang="en-US" altLang="zh-CN">
                <a:sym typeface="+mn-ea"/>
              </a:rPr>
              <a:t>”</a:t>
            </a:r>
            <a:r>
              <a:rPr lang="zh-CN" altLang="en-US">
                <a:sym typeface="+mn-ea"/>
              </a:rPr>
              <a:t>或按</a:t>
            </a:r>
            <a:r>
              <a:rPr lang="en-US" altLang="zh-CN">
                <a:sym typeface="+mn-ea"/>
              </a:rPr>
              <a:t>F11</a:t>
            </a:r>
            <a:r>
              <a:rPr lang="zh-CN" altLang="en-US">
                <a:sym typeface="+mn-ea"/>
              </a:rPr>
              <a:t>，即可</a:t>
            </a:r>
            <a:r>
              <a:rPr>
                <a:sym typeface="+mn-ea"/>
              </a:rPr>
              <a:t>转到被调用函数中单步执行</a:t>
            </a:r>
            <a:r>
              <a:rPr lang="zh-CN">
                <a:sym typeface="+mn-ea"/>
              </a:rPr>
              <a:t>；点击</a:t>
            </a:r>
            <a:r>
              <a:rPr lang="en-US" altLang="zh-CN">
                <a:sym typeface="+mn-ea"/>
              </a:rPr>
              <a:t>“</a:t>
            </a:r>
            <a:r>
              <a:rPr lang="zh-CN" altLang="en-US">
                <a:sym typeface="+mn-ea"/>
              </a:rPr>
              <a:t>逐过程</a:t>
            </a:r>
            <a:r>
              <a:rPr lang="en-US" altLang="zh-CN">
                <a:sym typeface="+mn-ea"/>
              </a:rPr>
              <a:t>”</a:t>
            </a:r>
            <a:r>
              <a:rPr lang="zh-CN" altLang="en-US">
                <a:sym typeface="+mn-ea"/>
              </a:rPr>
              <a:t>或按</a:t>
            </a:r>
            <a:r>
              <a:rPr lang="en-US" altLang="zh-CN">
                <a:sym typeface="+mn-ea"/>
              </a:rPr>
              <a:t>F10</a:t>
            </a:r>
            <a:r>
              <a:rPr lang="zh-CN" altLang="en-US">
                <a:sym typeface="+mn-ea"/>
              </a:rPr>
              <a:t>，即可</a:t>
            </a:r>
            <a:r>
              <a:rPr>
                <a:sym typeface="+mn-ea"/>
              </a:rPr>
              <a:t>一步完成自定义函数的执行而不进入到这些自定义函数的内部单步执行</a:t>
            </a:r>
            <a:r>
              <a:rPr lang="zh-CN">
                <a:sym typeface="+mn-ea"/>
              </a:rPr>
              <a:t>。</a:t>
            </a:r>
            <a:endParaRPr lang="zh-CN">
              <a:sym typeface="+mn-ea"/>
            </a:endParaRPr>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312420" y="198755"/>
            <a:ext cx="11694795" cy="705485"/>
          </a:xfrm>
        </p:spPr>
        <p:txBody>
          <a:bodyPr/>
          <a:p>
            <a:r>
              <a:rPr lang="en-US" altLang="zh-CN" sz="2800"/>
              <a:t>2.掌握用 VS2022 的调试工具查看各种生存期/作用域变量的方法</a:t>
            </a:r>
            <a:endParaRPr lang="en-US" altLang="zh-CN" sz="2800"/>
          </a:p>
        </p:txBody>
      </p:sp>
      <p:sp>
        <p:nvSpPr>
          <p:cNvPr id="11" name="文本框 10"/>
          <p:cNvSpPr txBox="1"/>
          <p:nvPr/>
        </p:nvSpPr>
        <p:spPr>
          <a:xfrm>
            <a:off x="312420" y="904240"/>
            <a:ext cx="11819255" cy="368300"/>
          </a:xfrm>
          <a:prstGeom prst="rect">
            <a:avLst/>
          </a:prstGeom>
          <a:noFill/>
        </p:spPr>
        <p:txBody>
          <a:bodyPr wrap="square" rtlCol="0">
            <a:spAutoFit/>
          </a:bodyPr>
          <a:p>
            <a:r>
              <a:rPr>
                <a:ln/>
                <a:solidFill>
                  <a:schemeClr val="tx1"/>
                </a:solidFill>
              </a:rPr>
              <a:t>2.1 查看形参/自动变量的变化情况</a:t>
            </a:r>
            <a:r>
              <a:rPr lang="zh-CN">
                <a:ln w="22225">
                  <a:solidFill>
                    <a:schemeClr val="accent2"/>
                  </a:solidFill>
                  <a:prstDash val="solid"/>
                </a:ln>
                <a:solidFill>
                  <a:schemeClr val="accent2">
                    <a:lumMod val="40000"/>
                    <a:lumOff val="60000"/>
                  </a:schemeClr>
                </a:solidFill>
                <a:effectLst/>
              </a:rPr>
              <a:t>（本页涉及知识点</a:t>
            </a:r>
            <a:r>
              <a:rPr lang="en-US" altLang="zh-CN">
                <a:ln w="22225">
                  <a:solidFill>
                    <a:schemeClr val="accent2"/>
                  </a:solidFill>
                  <a:prstDash val="solid"/>
                </a:ln>
                <a:solidFill>
                  <a:schemeClr val="accent2">
                    <a:lumMod val="40000"/>
                    <a:lumOff val="60000"/>
                  </a:schemeClr>
                </a:solidFill>
                <a:effectLst/>
              </a:rPr>
              <a:t>4.7.1</a:t>
            </a:r>
            <a:r>
              <a:rPr lang="zh-CN" altLang="en-US">
                <a:ln w="22225">
                  <a:solidFill>
                    <a:schemeClr val="accent2"/>
                  </a:solidFill>
                  <a:prstDash val="solid"/>
                </a:ln>
                <a:solidFill>
                  <a:schemeClr val="accent2">
                    <a:lumMod val="40000"/>
                    <a:lumOff val="60000"/>
                  </a:schemeClr>
                </a:solidFill>
                <a:effectLst/>
              </a:rPr>
              <a:t>）</a:t>
            </a:r>
            <a:endParaRPr lang="zh-CN" altLang="en-US">
              <a:ln w="22225">
                <a:solidFill>
                  <a:schemeClr val="accent2"/>
                </a:solidFill>
                <a:prstDash val="solid"/>
              </a:ln>
              <a:solidFill>
                <a:schemeClr val="accent2">
                  <a:lumMod val="40000"/>
                  <a:lumOff val="60000"/>
                </a:schemeClr>
              </a:solidFill>
              <a:effectLst/>
            </a:endParaRPr>
          </a:p>
        </p:txBody>
      </p:sp>
      <p:pic>
        <p:nvPicPr>
          <p:cNvPr id="2" name="图片 1"/>
          <p:cNvPicPr>
            <a:picLocks noChangeAspect="1"/>
          </p:cNvPicPr>
          <p:nvPr/>
        </p:nvPicPr>
        <p:blipFill>
          <a:blip r:embed="rId1"/>
          <a:srcRect b="26379"/>
          <a:stretch>
            <a:fillRect/>
          </a:stretch>
        </p:blipFill>
        <p:spPr>
          <a:xfrm>
            <a:off x="312420" y="1376045"/>
            <a:ext cx="6986270" cy="4027805"/>
          </a:xfrm>
          <a:prstGeom prst="rect">
            <a:avLst/>
          </a:prstGeom>
        </p:spPr>
      </p:pic>
      <p:sp>
        <p:nvSpPr>
          <p:cNvPr id="3" name="文本框 2"/>
          <p:cNvSpPr txBox="1"/>
          <p:nvPr/>
        </p:nvSpPr>
        <p:spPr>
          <a:xfrm>
            <a:off x="415925" y="5848985"/>
            <a:ext cx="7509510" cy="922020"/>
          </a:xfrm>
          <a:prstGeom prst="rect">
            <a:avLst/>
          </a:prstGeom>
          <a:noFill/>
        </p:spPr>
        <p:txBody>
          <a:bodyPr wrap="square" rtlCol="0">
            <a:spAutoFit/>
          </a:bodyPr>
          <a:p>
            <a:r>
              <a:rPr lang="zh-CN" altLang="en-US"/>
              <a:t>先选择</a:t>
            </a:r>
            <a:r>
              <a:rPr lang="en-US" altLang="zh-CN"/>
              <a:t>“</a:t>
            </a:r>
            <a:r>
              <a:rPr lang="zh-CN" altLang="en-US"/>
              <a:t>逐语句</a:t>
            </a:r>
            <a:r>
              <a:rPr lang="en-US" altLang="zh-CN"/>
              <a:t>”</a:t>
            </a:r>
            <a:r>
              <a:rPr lang="zh-CN" altLang="en-US"/>
              <a:t>或</a:t>
            </a:r>
            <a:r>
              <a:rPr lang="en-US" altLang="zh-CN"/>
              <a:t>“</a:t>
            </a:r>
            <a:r>
              <a:rPr lang="zh-CN" altLang="en-US"/>
              <a:t>逐过程</a:t>
            </a:r>
            <a:r>
              <a:rPr lang="en-US" altLang="zh-CN"/>
              <a:t>”</a:t>
            </a:r>
            <a:r>
              <a:rPr lang="zh-CN" altLang="en-US"/>
              <a:t>或设置断点，进入可控调试阶段，然后依次点击</a:t>
            </a:r>
            <a:r>
              <a:rPr lang="en-US" altLang="zh-CN"/>
              <a:t>“</a:t>
            </a:r>
            <a:r>
              <a:rPr lang="zh-CN" altLang="en-US"/>
              <a:t>调试</a:t>
            </a:r>
            <a:r>
              <a:rPr lang="en-US" altLang="zh-CN"/>
              <a:t>”-“</a:t>
            </a:r>
            <a:r>
              <a:rPr lang="zh-CN" altLang="en-US"/>
              <a:t>窗口</a:t>
            </a:r>
            <a:r>
              <a:rPr lang="en-US" altLang="zh-CN"/>
              <a:t>”-“</a:t>
            </a:r>
            <a:r>
              <a:rPr lang="zh-CN" altLang="en-US"/>
              <a:t>局部变量</a:t>
            </a:r>
            <a:r>
              <a:rPr lang="en-US" altLang="zh-CN"/>
              <a:t>”</a:t>
            </a:r>
            <a:r>
              <a:rPr lang="zh-CN" altLang="en-US"/>
              <a:t>或按快捷键</a:t>
            </a:r>
            <a:r>
              <a:rPr lang="en-US" altLang="zh-CN"/>
              <a:t>Ctrl+Shift+V</a:t>
            </a:r>
            <a:r>
              <a:rPr lang="zh-CN" altLang="en-US"/>
              <a:t>或直接选择局部变量窗口，再依次执行语句或过程，即可查看形参和</a:t>
            </a:r>
            <a:r>
              <a:rPr>
                <a:sym typeface="+mn-ea"/>
              </a:rPr>
              <a:t>自动</a:t>
            </a:r>
            <a:r>
              <a:rPr lang="zh-CN" altLang="en-US"/>
              <a:t>变量的变化情况。</a:t>
            </a:r>
            <a:endParaRPr lang="zh-CN" altLang="en-US"/>
          </a:p>
        </p:txBody>
      </p:sp>
      <p:cxnSp>
        <p:nvCxnSpPr>
          <p:cNvPr id="10" name="直接箭头连接符 9"/>
          <p:cNvCxnSpPr/>
          <p:nvPr/>
        </p:nvCxnSpPr>
        <p:spPr>
          <a:xfrm flipH="1" flipV="1">
            <a:off x="5703570" y="3538855"/>
            <a:ext cx="1257300" cy="34671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pic>
        <p:nvPicPr>
          <p:cNvPr id="5" name="图片 4"/>
          <p:cNvPicPr>
            <a:picLocks noChangeAspect="1"/>
          </p:cNvPicPr>
          <p:nvPr/>
        </p:nvPicPr>
        <p:blipFill>
          <a:blip r:embed="rId2"/>
          <a:stretch>
            <a:fillRect/>
          </a:stretch>
        </p:blipFill>
        <p:spPr>
          <a:xfrm>
            <a:off x="7539355" y="2618105"/>
            <a:ext cx="3971290" cy="836930"/>
          </a:xfrm>
          <a:prstGeom prst="rect">
            <a:avLst/>
          </a:prstGeom>
        </p:spPr>
      </p:pic>
      <p:pic>
        <p:nvPicPr>
          <p:cNvPr id="6" name="图片 5"/>
          <p:cNvPicPr>
            <a:picLocks noChangeAspect="1"/>
          </p:cNvPicPr>
          <p:nvPr/>
        </p:nvPicPr>
        <p:blipFill>
          <a:blip r:embed="rId3"/>
          <a:stretch>
            <a:fillRect/>
          </a:stretch>
        </p:blipFill>
        <p:spPr>
          <a:xfrm>
            <a:off x="7539355" y="1376045"/>
            <a:ext cx="3000375" cy="962025"/>
          </a:xfrm>
          <a:prstGeom prst="rect">
            <a:avLst/>
          </a:prstGeom>
        </p:spPr>
      </p:pic>
      <p:cxnSp>
        <p:nvCxnSpPr>
          <p:cNvPr id="7" name="直接箭头连接符 6"/>
          <p:cNvCxnSpPr/>
          <p:nvPr/>
        </p:nvCxnSpPr>
        <p:spPr>
          <a:xfrm flipV="1">
            <a:off x="8623935" y="1829435"/>
            <a:ext cx="37465" cy="59055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H="1" flipV="1">
            <a:off x="8989695" y="1830070"/>
            <a:ext cx="191135" cy="5162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pic>
        <p:nvPicPr>
          <p:cNvPr id="9" name="图片 8"/>
          <p:cNvPicPr>
            <a:picLocks noChangeAspect="1"/>
          </p:cNvPicPr>
          <p:nvPr/>
        </p:nvPicPr>
        <p:blipFill>
          <a:blip r:embed="rId4"/>
          <a:stretch>
            <a:fillRect/>
          </a:stretch>
        </p:blipFill>
        <p:spPr>
          <a:xfrm>
            <a:off x="7541895" y="3726815"/>
            <a:ext cx="3971290" cy="741680"/>
          </a:xfrm>
          <a:prstGeom prst="rect">
            <a:avLst/>
          </a:prstGeom>
        </p:spPr>
      </p:pic>
      <p:pic>
        <p:nvPicPr>
          <p:cNvPr id="13" name="图片 12"/>
          <p:cNvPicPr>
            <a:picLocks noChangeAspect="1"/>
          </p:cNvPicPr>
          <p:nvPr/>
        </p:nvPicPr>
        <p:blipFill>
          <a:blip r:embed="rId5"/>
          <a:srcRect r="14651"/>
          <a:stretch>
            <a:fillRect/>
          </a:stretch>
        </p:blipFill>
        <p:spPr>
          <a:xfrm>
            <a:off x="7539355" y="4739640"/>
            <a:ext cx="3973830" cy="664210"/>
          </a:xfrm>
          <a:prstGeom prst="rect">
            <a:avLst/>
          </a:prstGeom>
        </p:spPr>
      </p:pic>
      <p:pic>
        <p:nvPicPr>
          <p:cNvPr id="14" name="图片 13"/>
          <p:cNvPicPr>
            <a:picLocks noChangeAspect="1"/>
          </p:cNvPicPr>
          <p:nvPr/>
        </p:nvPicPr>
        <p:blipFill>
          <a:blip r:embed="rId6"/>
          <a:stretch>
            <a:fillRect/>
          </a:stretch>
        </p:blipFill>
        <p:spPr>
          <a:xfrm>
            <a:off x="3919220" y="4847590"/>
            <a:ext cx="3502025" cy="934720"/>
          </a:xfrm>
          <a:prstGeom prst="rect">
            <a:avLst/>
          </a:prstGeom>
        </p:spPr>
      </p:pic>
    </p:spTree>
    <p:custDataLst>
      <p:tags r:id="rId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259715" y="180340"/>
            <a:ext cx="11668760" cy="368300"/>
          </a:xfrm>
          <a:prstGeom prst="rect">
            <a:avLst/>
          </a:prstGeom>
          <a:noFill/>
        </p:spPr>
        <p:txBody>
          <a:bodyPr wrap="square" rtlCol="0">
            <a:spAutoFit/>
          </a:bodyPr>
          <a:p>
            <a:r>
              <a:rPr lang="en-US"/>
              <a:t>2.2 </a:t>
            </a:r>
            <a:r>
              <a:t>查看静态局部变量的变化情况（该静态局部变量所在的函数体内/函数体外）</a:t>
            </a:r>
            <a:r>
              <a:rPr lang="zh-CN">
                <a:ln w="22225">
                  <a:solidFill>
                    <a:schemeClr val="accent2"/>
                  </a:solidFill>
                  <a:prstDash val="solid"/>
                </a:ln>
                <a:solidFill>
                  <a:schemeClr val="accent2">
                    <a:lumMod val="40000"/>
                    <a:lumOff val="60000"/>
                  </a:schemeClr>
                </a:solidFill>
                <a:effectLst/>
                <a:sym typeface="+mn-ea"/>
              </a:rPr>
              <a:t>（本页涉及知识点</a:t>
            </a:r>
            <a:r>
              <a:rPr lang="en-US" altLang="zh-CN">
                <a:ln w="22225">
                  <a:solidFill>
                    <a:schemeClr val="accent2"/>
                  </a:solidFill>
                  <a:prstDash val="solid"/>
                </a:ln>
                <a:solidFill>
                  <a:schemeClr val="accent2">
                    <a:lumMod val="40000"/>
                    <a:lumOff val="60000"/>
                  </a:schemeClr>
                </a:solidFill>
                <a:effectLst/>
                <a:sym typeface="+mn-ea"/>
              </a:rPr>
              <a:t>4.7.1/4.8.2/4.9.3</a:t>
            </a:r>
            <a:r>
              <a:rPr lang="zh-CN" altLang="en-US">
                <a:ln w="22225">
                  <a:solidFill>
                    <a:schemeClr val="accent2"/>
                  </a:solidFill>
                  <a:prstDash val="solid"/>
                </a:ln>
                <a:solidFill>
                  <a:schemeClr val="accent2">
                    <a:lumMod val="40000"/>
                    <a:lumOff val="60000"/>
                  </a:schemeClr>
                </a:solidFill>
                <a:effectLst/>
                <a:sym typeface="+mn-ea"/>
              </a:rPr>
              <a:t>）</a:t>
            </a:r>
          </a:p>
        </p:txBody>
      </p:sp>
      <p:pic>
        <p:nvPicPr>
          <p:cNvPr id="4" name="图片 3"/>
          <p:cNvPicPr>
            <a:picLocks noChangeAspect="1"/>
          </p:cNvPicPr>
          <p:nvPr/>
        </p:nvPicPr>
        <p:blipFill>
          <a:blip r:embed="rId1"/>
          <a:stretch>
            <a:fillRect/>
          </a:stretch>
        </p:blipFill>
        <p:spPr>
          <a:xfrm>
            <a:off x="259715" y="656590"/>
            <a:ext cx="3048000" cy="3797935"/>
          </a:xfrm>
          <a:prstGeom prst="rect">
            <a:avLst/>
          </a:prstGeom>
        </p:spPr>
      </p:pic>
      <p:pic>
        <p:nvPicPr>
          <p:cNvPr id="5" name="图片 4"/>
          <p:cNvPicPr>
            <a:picLocks noChangeAspect="1"/>
          </p:cNvPicPr>
          <p:nvPr/>
        </p:nvPicPr>
        <p:blipFill>
          <a:blip r:embed="rId2"/>
          <a:stretch>
            <a:fillRect/>
          </a:stretch>
        </p:blipFill>
        <p:spPr>
          <a:xfrm>
            <a:off x="259715" y="4536440"/>
            <a:ext cx="3072130" cy="793115"/>
          </a:xfrm>
          <a:prstGeom prst="rect">
            <a:avLst/>
          </a:prstGeom>
        </p:spPr>
      </p:pic>
      <p:pic>
        <p:nvPicPr>
          <p:cNvPr id="6" name="图片 5"/>
          <p:cNvPicPr>
            <a:picLocks noChangeAspect="1"/>
          </p:cNvPicPr>
          <p:nvPr/>
        </p:nvPicPr>
        <p:blipFill>
          <a:blip r:embed="rId3"/>
          <a:stretch>
            <a:fillRect/>
          </a:stretch>
        </p:blipFill>
        <p:spPr>
          <a:xfrm>
            <a:off x="3768090" y="661670"/>
            <a:ext cx="2923540" cy="3792855"/>
          </a:xfrm>
          <a:prstGeom prst="rect">
            <a:avLst/>
          </a:prstGeom>
        </p:spPr>
      </p:pic>
      <p:pic>
        <p:nvPicPr>
          <p:cNvPr id="7" name="图片 6"/>
          <p:cNvPicPr>
            <a:picLocks noChangeAspect="1"/>
          </p:cNvPicPr>
          <p:nvPr/>
        </p:nvPicPr>
        <p:blipFill>
          <a:blip r:embed="rId4"/>
          <a:stretch>
            <a:fillRect/>
          </a:stretch>
        </p:blipFill>
        <p:spPr>
          <a:xfrm>
            <a:off x="3768090" y="4541520"/>
            <a:ext cx="2860040" cy="793115"/>
          </a:xfrm>
          <a:prstGeom prst="rect">
            <a:avLst/>
          </a:prstGeom>
        </p:spPr>
      </p:pic>
      <p:pic>
        <p:nvPicPr>
          <p:cNvPr id="8" name="图片 7"/>
          <p:cNvPicPr>
            <a:picLocks noChangeAspect="1"/>
          </p:cNvPicPr>
          <p:nvPr/>
        </p:nvPicPr>
        <p:blipFill>
          <a:blip r:embed="rId5"/>
          <a:stretch>
            <a:fillRect/>
          </a:stretch>
        </p:blipFill>
        <p:spPr>
          <a:xfrm>
            <a:off x="7804150" y="656590"/>
            <a:ext cx="2913380" cy="3776345"/>
          </a:xfrm>
          <a:prstGeom prst="rect">
            <a:avLst/>
          </a:prstGeom>
        </p:spPr>
      </p:pic>
      <p:pic>
        <p:nvPicPr>
          <p:cNvPr id="9" name="图片 8"/>
          <p:cNvPicPr>
            <a:picLocks noChangeAspect="1"/>
          </p:cNvPicPr>
          <p:nvPr/>
        </p:nvPicPr>
        <p:blipFill>
          <a:blip r:embed="rId6"/>
          <a:stretch>
            <a:fillRect/>
          </a:stretch>
        </p:blipFill>
        <p:spPr>
          <a:xfrm>
            <a:off x="7803515" y="4540885"/>
            <a:ext cx="2914015" cy="561340"/>
          </a:xfrm>
          <a:prstGeom prst="rect">
            <a:avLst/>
          </a:prstGeom>
        </p:spPr>
      </p:pic>
      <p:sp>
        <p:nvSpPr>
          <p:cNvPr id="10" name="文本框 9"/>
          <p:cNvSpPr txBox="1"/>
          <p:nvPr/>
        </p:nvSpPr>
        <p:spPr>
          <a:xfrm>
            <a:off x="6814820" y="5210175"/>
            <a:ext cx="5220335" cy="1476375"/>
          </a:xfrm>
          <a:prstGeom prst="rect">
            <a:avLst/>
          </a:prstGeom>
          <a:noFill/>
        </p:spPr>
        <p:txBody>
          <a:bodyPr wrap="square" rtlCol="0">
            <a:spAutoFit/>
          </a:bodyPr>
          <a:p>
            <a:r>
              <a:rPr lang="zh-CN" altLang="en-US"/>
              <a:t>可以看到，虽然静态局部变量的生存期为整个程序执行过程，但是只有调试过程执行到其作用域</a:t>
            </a:r>
            <a:r>
              <a:rPr lang="en-US" altLang="zh-CN"/>
              <a:t>(</a:t>
            </a:r>
            <a:r>
              <a:rPr lang="zh-CN" altLang="en-US"/>
              <a:t>该静态局部变量所在的函数体内</a:t>
            </a:r>
            <a:r>
              <a:rPr lang="en-US" altLang="zh-CN"/>
              <a:t>)</a:t>
            </a:r>
            <a:r>
              <a:rPr lang="zh-CN" altLang="en-US"/>
              <a:t>时，</a:t>
            </a:r>
            <a:r>
              <a:rPr>
                <a:sym typeface="+mn-ea"/>
              </a:rPr>
              <a:t>静态局部变量</a:t>
            </a:r>
            <a:r>
              <a:rPr lang="zh-CN">
                <a:sym typeface="+mn-ea"/>
              </a:rPr>
              <a:t>才会显示在自动窗口中，在函数体外不会显示。</a:t>
            </a:r>
            <a:r>
              <a:rPr lang="en-US" altLang="zh-CN">
                <a:sym typeface="+mn-ea"/>
              </a:rPr>
              <a:t>(</a:t>
            </a:r>
            <a:r>
              <a:rPr lang="zh-CN" altLang="en-US">
                <a:sym typeface="+mn-ea"/>
              </a:rPr>
              <a:t>因为在作用域之外，静态局部变量无法被访问</a:t>
            </a:r>
            <a:r>
              <a:rPr lang="en-US" altLang="zh-CN">
                <a:sym typeface="+mn-ea"/>
              </a:rPr>
              <a:t>)</a:t>
            </a:r>
            <a:endParaRPr lang="en-US" altLang="zh-CN">
              <a:sym typeface="+mn-ea"/>
            </a:endParaRPr>
          </a:p>
        </p:txBody>
      </p:sp>
      <p:sp>
        <p:nvSpPr>
          <p:cNvPr id="12" name="文本框 11"/>
          <p:cNvSpPr txBox="1"/>
          <p:nvPr/>
        </p:nvSpPr>
        <p:spPr>
          <a:xfrm>
            <a:off x="259715" y="5848350"/>
            <a:ext cx="5967095" cy="922020"/>
          </a:xfrm>
          <a:prstGeom prst="rect">
            <a:avLst/>
          </a:prstGeom>
          <a:noFill/>
        </p:spPr>
        <p:txBody>
          <a:bodyPr wrap="square" rtlCol="0">
            <a:spAutoFit/>
          </a:bodyPr>
          <a:p>
            <a:r>
              <a:rPr lang="zh-CN" altLang="en-US"/>
              <a:t>如图所示，本例中的静态局部变量</a:t>
            </a:r>
            <a:r>
              <a:rPr lang="en-US" altLang="zh-CN"/>
              <a:t>a</a:t>
            </a:r>
            <a:r>
              <a:rPr lang="zh-CN" altLang="en-US"/>
              <a:t>的定义语句在调试时被直接跳过；再一次执行定义语句时，</a:t>
            </a:r>
            <a:r>
              <a:rPr lang="en-US" altLang="zh-CN"/>
              <a:t>a</a:t>
            </a:r>
            <a:r>
              <a:rPr lang="zh-CN" altLang="en-US"/>
              <a:t>保留上次的值而不会被重新赋值。</a:t>
            </a:r>
            <a:endParaRPr lang="zh-CN" altLang="en-US"/>
          </a:p>
        </p:txBody>
      </p:sp>
      <p:sp>
        <p:nvSpPr>
          <p:cNvPr id="13" name="文本框 12"/>
          <p:cNvSpPr txBox="1"/>
          <p:nvPr/>
        </p:nvSpPr>
        <p:spPr>
          <a:xfrm>
            <a:off x="259715" y="5455920"/>
            <a:ext cx="4064000" cy="368300"/>
          </a:xfrm>
          <a:prstGeom prst="rect">
            <a:avLst/>
          </a:prstGeom>
          <a:noFill/>
        </p:spPr>
        <p:txBody>
          <a:bodyPr wrap="square" rtlCol="0">
            <a:spAutoFit/>
          </a:bodyPr>
          <a:p>
            <a:r>
              <a:rPr lang="zh-CN" altLang="en-US">
                <a:solidFill>
                  <a:schemeClr val="accent1">
                    <a:lumMod val="75000"/>
                  </a:schemeClr>
                </a:solidFill>
              </a:rPr>
              <a:t>观察静态局部变量方法与</a:t>
            </a:r>
            <a:r>
              <a:rPr lang="en-US" altLang="zh-CN">
                <a:solidFill>
                  <a:schemeClr val="accent1">
                    <a:lumMod val="75000"/>
                  </a:schemeClr>
                </a:solidFill>
              </a:rPr>
              <a:t>2.1</a:t>
            </a:r>
            <a:r>
              <a:rPr lang="zh-CN" altLang="en-US">
                <a:solidFill>
                  <a:schemeClr val="accent1">
                    <a:lumMod val="75000"/>
                  </a:schemeClr>
                </a:solidFill>
              </a:rPr>
              <a:t>相同</a:t>
            </a:r>
            <a:endParaRPr lang="zh-CN" altLang="en-US">
              <a:solidFill>
                <a:schemeClr val="accent1">
                  <a:lumMod val="75000"/>
                </a:schemeClr>
              </a:solidFill>
            </a:endParaRPr>
          </a:p>
        </p:txBody>
      </p:sp>
    </p:spTree>
    <p:custDataLst>
      <p:tags r:id="rId7"/>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474980" y="206375"/>
            <a:ext cx="11383645" cy="645160"/>
          </a:xfrm>
          <a:prstGeom prst="rect">
            <a:avLst/>
          </a:prstGeom>
          <a:noFill/>
        </p:spPr>
        <p:txBody>
          <a:bodyPr wrap="square" rtlCol="0">
            <a:spAutoFit/>
          </a:bodyPr>
          <a:p>
            <a:r>
              <a:t>2.3 查看静态全局变量的变化情况（两个源程序文件，有静态全局变量同名）</a:t>
            </a:r>
            <a:r>
              <a:rPr lang="zh-CN">
                <a:ln w="22225">
                  <a:solidFill>
                    <a:schemeClr val="accent2"/>
                  </a:solidFill>
                  <a:prstDash val="solid"/>
                </a:ln>
                <a:solidFill>
                  <a:schemeClr val="accent2">
                    <a:lumMod val="40000"/>
                    <a:lumOff val="60000"/>
                  </a:schemeClr>
                </a:solidFill>
                <a:effectLst/>
                <a:sym typeface="+mn-ea"/>
              </a:rPr>
              <a:t>（本页涉及知识点</a:t>
            </a:r>
            <a:r>
              <a:rPr lang="en-US" altLang="zh-CN">
                <a:ln w="22225">
                  <a:solidFill>
                    <a:schemeClr val="accent2"/>
                  </a:solidFill>
                  <a:prstDash val="solid"/>
                </a:ln>
                <a:solidFill>
                  <a:schemeClr val="accent2">
                    <a:lumMod val="40000"/>
                    <a:lumOff val="60000"/>
                  </a:schemeClr>
                </a:solidFill>
                <a:effectLst/>
                <a:sym typeface="+mn-ea"/>
              </a:rPr>
              <a:t>4.7.2/4.8.5</a:t>
            </a:r>
            <a:r>
              <a:rPr lang="zh-CN" altLang="en-US">
                <a:ln w="22225">
                  <a:solidFill>
                    <a:schemeClr val="accent2"/>
                  </a:solidFill>
                  <a:prstDash val="solid"/>
                </a:ln>
                <a:solidFill>
                  <a:schemeClr val="accent2">
                    <a:lumMod val="40000"/>
                    <a:lumOff val="60000"/>
                  </a:schemeClr>
                </a:solidFill>
                <a:effectLst/>
                <a:sym typeface="+mn-ea"/>
              </a:rPr>
              <a:t>）</a:t>
            </a:r>
            <a:endParaRPr lang="zh-CN" altLang="en-US">
              <a:ln w="22225">
                <a:solidFill>
                  <a:schemeClr val="accent2"/>
                </a:solidFill>
                <a:prstDash val="solid"/>
              </a:ln>
              <a:solidFill>
                <a:schemeClr val="accent2">
                  <a:lumMod val="40000"/>
                  <a:lumOff val="60000"/>
                </a:schemeClr>
              </a:solidFill>
              <a:effectLst/>
              <a:sym typeface="+mn-ea"/>
            </a:endParaRPr>
          </a:p>
          <a:p/>
        </p:txBody>
      </p:sp>
      <p:pic>
        <p:nvPicPr>
          <p:cNvPr id="4" name="图片 3"/>
          <p:cNvPicPr>
            <a:picLocks noChangeAspect="1"/>
          </p:cNvPicPr>
          <p:nvPr/>
        </p:nvPicPr>
        <p:blipFill>
          <a:blip r:embed="rId1"/>
          <a:stretch>
            <a:fillRect/>
          </a:stretch>
        </p:blipFill>
        <p:spPr>
          <a:xfrm>
            <a:off x="6254750" y="680720"/>
            <a:ext cx="4124325" cy="3495675"/>
          </a:xfrm>
          <a:prstGeom prst="rect">
            <a:avLst/>
          </a:prstGeom>
        </p:spPr>
      </p:pic>
      <p:pic>
        <p:nvPicPr>
          <p:cNvPr id="5" name="图片 4"/>
          <p:cNvPicPr>
            <a:picLocks noChangeAspect="1"/>
          </p:cNvPicPr>
          <p:nvPr/>
        </p:nvPicPr>
        <p:blipFill>
          <a:blip r:embed="rId2"/>
          <a:stretch>
            <a:fillRect/>
          </a:stretch>
        </p:blipFill>
        <p:spPr>
          <a:xfrm>
            <a:off x="6254750" y="4283710"/>
            <a:ext cx="4124325" cy="643890"/>
          </a:xfrm>
          <a:prstGeom prst="rect">
            <a:avLst/>
          </a:prstGeom>
        </p:spPr>
      </p:pic>
      <p:pic>
        <p:nvPicPr>
          <p:cNvPr id="6" name="图片 5"/>
          <p:cNvPicPr>
            <a:picLocks noChangeAspect="1"/>
          </p:cNvPicPr>
          <p:nvPr/>
        </p:nvPicPr>
        <p:blipFill>
          <a:blip r:embed="rId3"/>
          <a:stretch>
            <a:fillRect/>
          </a:stretch>
        </p:blipFill>
        <p:spPr>
          <a:xfrm>
            <a:off x="474980" y="680720"/>
            <a:ext cx="3632200" cy="4987290"/>
          </a:xfrm>
          <a:prstGeom prst="rect">
            <a:avLst/>
          </a:prstGeom>
        </p:spPr>
      </p:pic>
      <p:pic>
        <p:nvPicPr>
          <p:cNvPr id="7" name="图片 6"/>
          <p:cNvPicPr>
            <a:picLocks noChangeAspect="1"/>
          </p:cNvPicPr>
          <p:nvPr/>
        </p:nvPicPr>
        <p:blipFill>
          <a:blip r:embed="rId4"/>
          <a:stretch>
            <a:fillRect/>
          </a:stretch>
        </p:blipFill>
        <p:spPr>
          <a:xfrm>
            <a:off x="474980" y="5774055"/>
            <a:ext cx="3632200" cy="979805"/>
          </a:xfrm>
          <a:prstGeom prst="rect">
            <a:avLst/>
          </a:prstGeom>
        </p:spPr>
      </p:pic>
      <p:sp>
        <p:nvSpPr>
          <p:cNvPr id="8" name="圆角矩形 7"/>
          <p:cNvSpPr/>
          <p:nvPr/>
        </p:nvSpPr>
        <p:spPr>
          <a:xfrm>
            <a:off x="1200785" y="1783715"/>
            <a:ext cx="1701165" cy="532765"/>
          </a:xfrm>
          <a:prstGeom prst="roundRect">
            <a:avLst/>
          </a:prstGeom>
          <a:noFill/>
          <a:ln w="28575">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7643495" y="2088515"/>
            <a:ext cx="2488565" cy="681355"/>
          </a:xfrm>
          <a:prstGeom prst="roundRect">
            <a:avLst/>
          </a:prstGeom>
          <a:noFill/>
          <a:ln w="28575">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4303395" y="1348740"/>
            <a:ext cx="1834515" cy="1753235"/>
          </a:xfrm>
          <a:prstGeom prst="rect">
            <a:avLst/>
          </a:prstGeom>
          <a:noFill/>
        </p:spPr>
        <p:txBody>
          <a:bodyPr wrap="square" rtlCol="0">
            <a:spAutoFit/>
          </a:bodyPr>
          <a:p>
            <a:r>
              <a:rPr lang="zh-CN" altLang="en-US"/>
              <a:t>如图所示，可以看到在同一个项目中的两个源程序文件中分别定义了变量名为</a:t>
            </a:r>
            <a:r>
              <a:rPr lang="en-US" altLang="zh-CN"/>
              <a:t>a</a:t>
            </a:r>
            <a:r>
              <a:rPr lang="zh-CN" altLang="en-US"/>
              <a:t>的静态局部变量</a:t>
            </a:r>
            <a:endParaRPr lang="zh-CN" altLang="en-US"/>
          </a:p>
        </p:txBody>
      </p:sp>
      <p:cxnSp>
        <p:nvCxnSpPr>
          <p:cNvPr id="12" name="直接箭头连接符 11"/>
          <p:cNvCxnSpPr>
            <a:stCxn id="10" idx="1"/>
          </p:cNvCxnSpPr>
          <p:nvPr/>
        </p:nvCxnSpPr>
        <p:spPr>
          <a:xfrm flipH="1" flipV="1">
            <a:off x="3021965" y="2058035"/>
            <a:ext cx="1281430" cy="16764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10" idx="3"/>
          </p:cNvCxnSpPr>
          <p:nvPr/>
        </p:nvCxnSpPr>
        <p:spPr>
          <a:xfrm>
            <a:off x="6137910" y="2225675"/>
            <a:ext cx="1172210" cy="15113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4533265" y="5288280"/>
            <a:ext cx="6196965" cy="922020"/>
          </a:xfrm>
          <a:prstGeom prst="rect">
            <a:avLst/>
          </a:prstGeom>
          <a:noFill/>
        </p:spPr>
        <p:txBody>
          <a:bodyPr wrap="square" rtlCol="0">
            <a:spAutoFit/>
          </a:bodyPr>
          <a:p>
            <a:r>
              <a:rPr lang="zh-CN" altLang="en-US"/>
              <a:t>在调试过程中，在自动窗口中，一个文件的静态全局变量只有在执行到该文件的语句中时才会显示，两个同名静态全局变量互不影响。</a:t>
            </a:r>
            <a:endParaRPr lang="zh-CN" altLang="en-US"/>
          </a:p>
        </p:txBody>
      </p:sp>
      <p:cxnSp>
        <p:nvCxnSpPr>
          <p:cNvPr id="15" name="直接箭头连接符 14"/>
          <p:cNvCxnSpPr/>
          <p:nvPr/>
        </p:nvCxnSpPr>
        <p:spPr>
          <a:xfrm flipH="1" flipV="1">
            <a:off x="6932930" y="4754245"/>
            <a:ext cx="1251585" cy="40703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H="1" flipV="1">
            <a:off x="1132840" y="6178550"/>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48895" y="169545"/>
            <a:ext cx="12244705" cy="645160"/>
          </a:xfrm>
          <a:prstGeom prst="rect">
            <a:avLst/>
          </a:prstGeom>
          <a:noFill/>
        </p:spPr>
        <p:txBody>
          <a:bodyPr wrap="square" rtlCol="0">
            <a:spAutoFit/>
          </a:bodyPr>
          <a:p>
            <a:r>
              <a:t>2.4 查看外部全局变量的变化情况（两个源程序文件，一个定义，另一个有 extern 说明）</a:t>
            </a:r>
            <a:r>
              <a:rPr lang="zh-CN">
                <a:ln w="22225">
                  <a:solidFill>
                    <a:schemeClr val="accent2"/>
                  </a:solidFill>
                  <a:prstDash val="solid"/>
                </a:ln>
                <a:solidFill>
                  <a:schemeClr val="accent2">
                    <a:lumMod val="40000"/>
                    <a:lumOff val="60000"/>
                  </a:schemeClr>
                </a:solidFill>
                <a:effectLst/>
                <a:sym typeface="+mn-ea"/>
              </a:rPr>
              <a:t>（本页涉及知识点</a:t>
            </a:r>
            <a:r>
              <a:rPr lang="en-US" altLang="zh-CN">
                <a:ln w="22225">
                  <a:solidFill>
                    <a:schemeClr val="accent2"/>
                  </a:solidFill>
                  <a:prstDash val="solid"/>
                </a:ln>
                <a:solidFill>
                  <a:schemeClr val="accent2">
                    <a:lumMod val="40000"/>
                    <a:lumOff val="60000"/>
                  </a:schemeClr>
                </a:solidFill>
                <a:effectLst/>
                <a:sym typeface="+mn-ea"/>
              </a:rPr>
              <a:t>4.7.2/4.8.4</a:t>
            </a:r>
            <a:r>
              <a:rPr lang="zh-CN" altLang="en-US">
                <a:ln w="22225">
                  <a:solidFill>
                    <a:schemeClr val="accent2"/>
                  </a:solidFill>
                  <a:prstDash val="solid"/>
                </a:ln>
                <a:solidFill>
                  <a:schemeClr val="accent2">
                    <a:lumMod val="40000"/>
                    <a:lumOff val="60000"/>
                  </a:schemeClr>
                </a:solidFill>
                <a:effectLst/>
                <a:sym typeface="+mn-ea"/>
              </a:rPr>
              <a:t>）</a:t>
            </a:r>
            <a:endParaRPr lang="zh-CN" altLang="en-US">
              <a:ln w="22225">
                <a:solidFill>
                  <a:schemeClr val="accent2"/>
                </a:solidFill>
                <a:prstDash val="solid"/>
              </a:ln>
              <a:solidFill>
                <a:schemeClr val="accent2">
                  <a:lumMod val="40000"/>
                  <a:lumOff val="60000"/>
                </a:schemeClr>
              </a:solidFill>
              <a:effectLst/>
              <a:sym typeface="+mn-ea"/>
            </a:endParaRPr>
          </a:p>
          <a:p/>
        </p:txBody>
      </p:sp>
      <p:pic>
        <p:nvPicPr>
          <p:cNvPr id="4" name="图片 3"/>
          <p:cNvPicPr>
            <a:picLocks noChangeAspect="1"/>
          </p:cNvPicPr>
          <p:nvPr/>
        </p:nvPicPr>
        <p:blipFill>
          <a:blip r:embed="rId1"/>
          <a:stretch>
            <a:fillRect/>
          </a:stretch>
        </p:blipFill>
        <p:spPr>
          <a:xfrm>
            <a:off x="7070725" y="574675"/>
            <a:ext cx="4124325" cy="3457575"/>
          </a:xfrm>
          <a:prstGeom prst="rect">
            <a:avLst/>
          </a:prstGeom>
        </p:spPr>
      </p:pic>
      <p:pic>
        <p:nvPicPr>
          <p:cNvPr id="5" name="图片 4"/>
          <p:cNvPicPr>
            <a:picLocks noChangeAspect="1"/>
          </p:cNvPicPr>
          <p:nvPr/>
        </p:nvPicPr>
        <p:blipFill>
          <a:blip r:embed="rId2"/>
          <a:stretch>
            <a:fillRect/>
          </a:stretch>
        </p:blipFill>
        <p:spPr>
          <a:xfrm>
            <a:off x="7071995" y="4117975"/>
            <a:ext cx="4051300" cy="653415"/>
          </a:xfrm>
          <a:prstGeom prst="rect">
            <a:avLst/>
          </a:prstGeom>
        </p:spPr>
      </p:pic>
      <p:pic>
        <p:nvPicPr>
          <p:cNvPr id="6" name="图片 5"/>
          <p:cNvPicPr>
            <a:picLocks noChangeAspect="1"/>
          </p:cNvPicPr>
          <p:nvPr/>
        </p:nvPicPr>
        <p:blipFill>
          <a:blip r:embed="rId3"/>
          <a:stretch>
            <a:fillRect/>
          </a:stretch>
        </p:blipFill>
        <p:spPr>
          <a:xfrm>
            <a:off x="7071360" y="4857115"/>
            <a:ext cx="4051935" cy="716280"/>
          </a:xfrm>
          <a:prstGeom prst="rect">
            <a:avLst/>
          </a:prstGeom>
        </p:spPr>
      </p:pic>
      <p:pic>
        <p:nvPicPr>
          <p:cNvPr id="7" name="图片 6"/>
          <p:cNvPicPr>
            <a:picLocks noChangeAspect="1"/>
          </p:cNvPicPr>
          <p:nvPr/>
        </p:nvPicPr>
        <p:blipFill>
          <a:blip r:embed="rId4"/>
          <a:stretch>
            <a:fillRect/>
          </a:stretch>
        </p:blipFill>
        <p:spPr>
          <a:xfrm>
            <a:off x="415925" y="574675"/>
            <a:ext cx="3851275" cy="5073015"/>
          </a:xfrm>
          <a:prstGeom prst="rect">
            <a:avLst/>
          </a:prstGeom>
        </p:spPr>
      </p:pic>
      <p:pic>
        <p:nvPicPr>
          <p:cNvPr id="8" name="图片 7"/>
          <p:cNvPicPr>
            <a:picLocks noChangeAspect="1"/>
          </p:cNvPicPr>
          <p:nvPr/>
        </p:nvPicPr>
        <p:blipFill>
          <a:blip r:embed="rId5"/>
          <a:stretch>
            <a:fillRect/>
          </a:stretch>
        </p:blipFill>
        <p:spPr>
          <a:xfrm>
            <a:off x="415925" y="5692775"/>
            <a:ext cx="3851275" cy="1052830"/>
          </a:xfrm>
          <a:prstGeom prst="rect">
            <a:avLst/>
          </a:prstGeom>
        </p:spPr>
      </p:pic>
      <p:sp>
        <p:nvSpPr>
          <p:cNvPr id="9" name="文本框 8"/>
          <p:cNvSpPr txBox="1"/>
          <p:nvPr/>
        </p:nvSpPr>
        <p:spPr>
          <a:xfrm>
            <a:off x="4431665" y="1011555"/>
            <a:ext cx="2474595" cy="1476375"/>
          </a:xfrm>
          <a:prstGeom prst="rect">
            <a:avLst/>
          </a:prstGeom>
          <a:noFill/>
        </p:spPr>
        <p:txBody>
          <a:bodyPr wrap="square" rtlCol="0">
            <a:spAutoFit/>
          </a:bodyPr>
          <a:p>
            <a:r>
              <a:rPr lang="zh-CN" altLang="en-US"/>
              <a:t>如图所示，可以看到在一个源程序中定义了外部全局变量</a:t>
            </a:r>
            <a:r>
              <a:rPr lang="en-US" altLang="zh-CN"/>
              <a:t>a</a:t>
            </a:r>
            <a:r>
              <a:rPr lang="zh-CN" altLang="en-US"/>
              <a:t>，另一个源程序中用</a:t>
            </a:r>
            <a:r>
              <a:rPr lang="en-US" altLang="zh-CN"/>
              <a:t>extern</a:t>
            </a:r>
            <a:r>
              <a:rPr lang="zh-CN" altLang="en-US"/>
              <a:t>声明了变量</a:t>
            </a:r>
            <a:r>
              <a:rPr lang="en-US" altLang="zh-CN"/>
              <a:t>a</a:t>
            </a:r>
            <a:r>
              <a:rPr lang="zh-CN" altLang="en-US"/>
              <a:t>。</a:t>
            </a:r>
            <a:endParaRPr lang="zh-CN" altLang="en-US"/>
          </a:p>
        </p:txBody>
      </p:sp>
      <p:sp>
        <p:nvSpPr>
          <p:cNvPr id="10" name="圆角矩形 9"/>
          <p:cNvSpPr/>
          <p:nvPr/>
        </p:nvSpPr>
        <p:spPr>
          <a:xfrm>
            <a:off x="638175" y="1324610"/>
            <a:ext cx="1153795" cy="532765"/>
          </a:xfrm>
          <a:prstGeom prst="roundRect">
            <a:avLst/>
          </a:prstGeom>
          <a:noFill/>
          <a:ln w="28575">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圆角矩形 11"/>
          <p:cNvSpPr/>
          <p:nvPr/>
        </p:nvSpPr>
        <p:spPr>
          <a:xfrm>
            <a:off x="8460740" y="2080260"/>
            <a:ext cx="1805305" cy="532765"/>
          </a:xfrm>
          <a:prstGeom prst="roundRect">
            <a:avLst/>
          </a:prstGeom>
          <a:noFill/>
          <a:ln w="28575">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3" name="直接箭头连接符 12"/>
          <p:cNvCxnSpPr/>
          <p:nvPr/>
        </p:nvCxnSpPr>
        <p:spPr>
          <a:xfrm flipH="1" flipV="1">
            <a:off x="1858645" y="1598295"/>
            <a:ext cx="2503805" cy="19304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a:off x="6939915" y="1880235"/>
            <a:ext cx="1325880" cy="4400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7070725" y="5746750"/>
            <a:ext cx="4064000" cy="645160"/>
          </a:xfrm>
          <a:prstGeom prst="rect">
            <a:avLst/>
          </a:prstGeom>
          <a:noFill/>
        </p:spPr>
        <p:txBody>
          <a:bodyPr wrap="square" rtlCol="0">
            <a:spAutoFit/>
          </a:bodyPr>
          <a:p>
            <a:r>
              <a:rPr lang="zh-CN" altLang="en-US"/>
              <a:t>此时两个源程序文件中使用的是同一个变量</a:t>
            </a:r>
            <a:r>
              <a:rPr lang="en-US" altLang="zh-CN"/>
              <a:t>a</a:t>
            </a:r>
            <a:r>
              <a:rPr lang="zh-CN" altLang="en-US"/>
              <a:t>，</a:t>
            </a:r>
            <a:r>
              <a:rPr lang="en-US" altLang="zh-CN"/>
              <a:t>a</a:t>
            </a:r>
            <a:r>
              <a:rPr lang="zh-CN" altLang="en-US"/>
              <a:t>每次使用时保留上次的值。</a:t>
            </a:r>
            <a:endParaRPr lang="zh-CN" altLang="en-US"/>
          </a:p>
        </p:txBody>
      </p:sp>
      <p:cxnSp>
        <p:nvCxnSpPr>
          <p:cNvPr id="16" name="直接箭头连接符 15"/>
          <p:cNvCxnSpPr/>
          <p:nvPr/>
        </p:nvCxnSpPr>
        <p:spPr>
          <a:xfrm flipH="1" flipV="1">
            <a:off x="1043940" y="6068060"/>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flipV="1">
            <a:off x="7821295" y="4513580"/>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flipV="1">
            <a:off x="7821295" y="5349240"/>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474980" y="206375"/>
            <a:ext cx="9283065" cy="645160"/>
          </a:xfrm>
          <a:prstGeom prst="rect">
            <a:avLst/>
          </a:prstGeom>
          <a:noFill/>
        </p:spPr>
        <p:txBody>
          <a:bodyPr wrap="square" rtlCol="0">
            <a:spAutoFit/>
          </a:bodyPr>
          <a:p>
            <a:r>
              <a:t>2.</a:t>
            </a:r>
            <a:r>
              <a:rPr lang="en-US"/>
              <a:t>5</a:t>
            </a:r>
            <a:r>
              <a:t> </a:t>
            </a:r>
            <a:r>
              <a:rPr lang="zh-CN"/>
              <a:t>补充：当只想观察某个或某些特定的变量变化情况时，可以使用监视窗口，在监视窗口中添加想要观察的变量，即可有目标的观察特定的变量变化情况。</a:t>
            </a:r>
            <a:endParaRPr lang="zh-CN"/>
          </a:p>
        </p:txBody>
      </p:sp>
      <p:pic>
        <p:nvPicPr>
          <p:cNvPr id="4" name="图片 3"/>
          <p:cNvPicPr>
            <a:picLocks noChangeAspect="1"/>
          </p:cNvPicPr>
          <p:nvPr/>
        </p:nvPicPr>
        <p:blipFill>
          <a:blip r:embed="rId1"/>
          <a:stretch>
            <a:fillRect/>
          </a:stretch>
        </p:blipFill>
        <p:spPr>
          <a:xfrm>
            <a:off x="535305" y="1003300"/>
            <a:ext cx="4586605" cy="5313045"/>
          </a:xfrm>
          <a:prstGeom prst="rect">
            <a:avLst/>
          </a:prstGeom>
        </p:spPr>
      </p:pic>
      <p:pic>
        <p:nvPicPr>
          <p:cNvPr id="5" name="图片 4"/>
          <p:cNvPicPr>
            <a:picLocks noChangeAspect="1"/>
          </p:cNvPicPr>
          <p:nvPr/>
        </p:nvPicPr>
        <p:blipFill>
          <a:blip r:embed="rId2"/>
          <a:stretch>
            <a:fillRect/>
          </a:stretch>
        </p:blipFill>
        <p:spPr>
          <a:xfrm>
            <a:off x="5521960" y="4239895"/>
            <a:ext cx="4762500" cy="2076450"/>
          </a:xfrm>
          <a:prstGeom prst="rect">
            <a:avLst/>
          </a:prstGeom>
        </p:spPr>
      </p:pic>
      <p:cxnSp>
        <p:nvCxnSpPr>
          <p:cNvPr id="16" name="直接箭头连接符 15"/>
          <p:cNvCxnSpPr/>
          <p:nvPr/>
        </p:nvCxnSpPr>
        <p:spPr>
          <a:xfrm flipH="1" flipV="1">
            <a:off x="7791450" y="6146165"/>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flipH="1" flipV="1">
            <a:off x="6947535" y="5193030"/>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pic>
        <p:nvPicPr>
          <p:cNvPr id="10" name="图片 9" descr="无背景logo"/>
          <p:cNvPicPr>
            <a:picLocks noChangeAspect="1"/>
          </p:cNvPicPr>
          <p:nvPr/>
        </p:nvPicPr>
        <p:blipFill>
          <a:blip r:embed="rId3"/>
          <a:stretch>
            <a:fillRect/>
          </a:stretch>
        </p:blipFill>
        <p:spPr>
          <a:xfrm>
            <a:off x="10072370" y="76200"/>
            <a:ext cx="1689735" cy="858520"/>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312420" y="198755"/>
            <a:ext cx="11694795" cy="705485"/>
          </a:xfrm>
        </p:spPr>
        <p:txBody>
          <a:bodyPr/>
          <a:p>
            <a:r>
              <a:rPr lang="en-US" altLang="zh-CN" sz="2800"/>
              <a:t>3.掌握用 VS2022 的调试工具查看各种不同类型变量的方法</a:t>
            </a:r>
            <a:endParaRPr lang="en-US" altLang="zh-CN" sz="2800"/>
          </a:p>
        </p:txBody>
      </p:sp>
      <p:sp>
        <p:nvSpPr>
          <p:cNvPr id="6" name="文本框 5"/>
          <p:cNvSpPr txBox="1"/>
          <p:nvPr/>
        </p:nvSpPr>
        <p:spPr>
          <a:xfrm>
            <a:off x="312420" y="807720"/>
            <a:ext cx="9850755" cy="1198880"/>
          </a:xfrm>
          <a:prstGeom prst="rect">
            <a:avLst/>
          </a:prstGeom>
          <a:noFill/>
        </p:spPr>
        <p:txBody>
          <a:bodyPr wrap="square" rtlCol="0" anchor="t">
            <a:spAutoFit/>
          </a:bodyPr>
          <a:p>
            <a:r>
              <a:rPr lang="zh-CN" altLang="en-US"/>
              <a:t>3.1 char/int/float 等简单变量</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2.5</a:t>
            </a:r>
            <a:r>
              <a:rPr lang="zh-CN" altLang="en-US">
                <a:ln w="22225">
                  <a:solidFill>
                    <a:schemeClr val="accent2"/>
                  </a:solidFill>
                  <a:prstDash val="solid"/>
                </a:ln>
                <a:solidFill>
                  <a:schemeClr val="accent2">
                    <a:lumMod val="40000"/>
                    <a:lumOff val="60000"/>
                  </a:schemeClr>
                </a:solidFill>
                <a:effectLst/>
                <a:sym typeface="+mn-ea"/>
              </a:rPr>
              <a:t>）</a:t>
            </a:r>
            <a:r>
              <a:rPr lang="zh-CN" altLang="en-US"/>
              <a:t> </a:t>
            </a:r>
            <a:endParaRPr lang="zh-CN" altLang="en-US"/>
          </a:p>
          <a:p>
            <a:r>
              <a:rPr lang="zh-CN" altLang="en-US"/>
              <a:t>3.2 指向简单变量的指针变量（如何查看地址、值？）</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6.2</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a:p>
            <a:r>
              <a:rPr lang="zh-CN" altLang="en-US"/>
              <a:t>3.3 一维数组 </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5.2</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a:p>
            <a:r>
              <a:rPr lang="zh-CN" altLang="en-US"/>
              <a:t>3.4 指向一维数组的指针变量（如何查看地址、值？）</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6.3</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p:txBody>
      </p:sp>
      <p:pic>
        <p:nvPicPr>
          <p:cNvPr id="7" name="图片 6"/>
          <p:cNvPicPr>
            <a:picLocks noChangeAspect="1"/>
          </p:cNvPicPr>
          <p:nvPr/>
        </p:nvPicPr>
        <p:blipFill>
          <a:blip r:embed="rId1"/>
          <a:stretch>
            <a:fillRect/>
          </a:stretch>
        </p:blipFill>
        <p:spPr>
          <a:xfrm>
            <a:off x="312420" y="2103120"/>
            <a:ext cx="4344035" cy="4625340"/>
          </a:xfrm>
          <a:prstGeom prst="rect">
            <a:avLst/>
          </a:prstGeom>
        </p:spPr>
      </p:pic>
      <p:pic>
        <p:nvPicPr>
          <p:cNvPr id="8" name="图片 7"/>
          <p:cNvPicPr>
            <a:picLocks noChangeAspect="1"/>
          </p:cNvPicPr>
          <p:nvPr/>
        </p:nvPicPr>
        <p:blipFill>
          <a:blip r:embed="rId2"/>
          <a:stretch>
            <a:fillRect/>
          </a:stretch>
        </p:blipFill>
        <p:spPr>
          <a:xfrm>
            <a:off x="4898390" y="2103120"/>
            <a:ext cx="7082155" cy="1844040"/>
          </a:xfrm>
          <a:prstGeom prst="rect">
            <a:avLst/>
          </a:prstGeom>
        </p:spPr>
      </p:pic>
      <p:sp>
        <p:nvSpPr>
          <p:cNvPr id="9" name="文本框 8"/>
          <p:cNvSpPr txBox="1"/>
          <p:nvPr/>
        </p:nvSpPr>
        <p:spPr>
          <a:xfrm>
            <a:off x="4898390" y="3992245"/>
            <a:ext cx="7213600" cy="2802890"/>
          </a:xfrm>
          <a:prstGeom prst="rect">
            <a:avLst/>
          </a:prstGeom>
          <a:noFill/>
        </p:spPr>
        <p:txBody>
          <a:bodyPr wrap="square" rtlCol="0">
            <a:noAutofit/>
          </a:bodyPr>
          <a:p>
            <a:r>
              <a:rPr lang="zh-CN" altLang="en-US" sz="1600"/>
              <a:t>如图所示，</a:t>
            </a:r>
            <a:r>
              <a:rPr lang="zh-CN" altLang="en-US" sz="1600">
                <a:sym typeface="+mn-ea"/>
              </a:rPr>
              <a:t>char/int/float 等简单变量、一维数组以及指向简单变量和一维数组的指针变量的值或指向的地址</a:t>
            </a:r>
            <a:r>
              <a:rPr lang="en-US" altLang="zh-CN" sz="1600">
                <a:sym typeface="+mn-ea"/>
              </a:rPr>
              <a:t>(</a:t>
            </a:r>
            <a:r>
              <a:rPr lang="zh-CN" altLang="en-US" sz="1600">
                <a:sym typeface="+mn-ea"/>
              </a:rPr>
              <a:t>简单变量不会显示地址，数组和指针变量会显示地址</a:t>
            </a:r>
            <a:r>
              <a:rPr lang="en-US" altLang="zh-CN" sz="1600">
                <a:sym typeface="+mn-ea"/>
              </a:rPr>
              <a:t>)</a:t>
            </a:r>
            <a:r>
              <a:rPr lang="zh-CN" altLang="en-US" sz="1600">
                <a:sym typeface="+mn-ea"/>
              </a:rPr>
              <a:t>都可以在变量的窗口中查看，</a:t>
            </a:r>
            <a:r>
              <a:rPr lang="zh-CN" altLang="en-US" sz="1600"/>
              <a:t>查看方法与《</a:t>
            </a:r>
            <a:r>
              <a:rPr lang="en-US" altLang="zh-CN" sz="1600">
                <a:sym typeface="+mn-ea"/>
              </a:rPr>
              <a:t>2.掌握用 VS2022 的调试工具查看各种生存期/作用域变量的方法</a:t>
            </a:r>
            <a:r>
              <a:rPr lang="zh-CN" altLang="en-US" sz="1600">
                <a:sym typeface="+mn-ea"/>
              </a:rPr>
              <a:t>》相同。</a:t>
            </a:r>
            <a:endParaRPr lang="zh-CN" altLang="en-US" sz="1600">
              <a:sym typeface="+mn-ea"/>
            </a:endParaRPr>
          </a:p>
          <a:p>
            <a:endParaRPr lang="zh-CN" altLang="en-US" sz="1600">
              <a:sym typeface="+mn-ea"/>
            </a:endParaRPr>
          </a:p>
          <a:p>
            <a:r>
              <a:rPr lang="zh-CN" altLang="en-US" sz="1600">
                <a:sym typeface="+mn-ea"/>
              </a:rPr>
              <a:t>另外，指向简单变量的指针变量会同时显示指向的地址和其中存的值；</a:t>
            </a:r>
            <a:endParaRPr lang="zh-CN" altLang="en-US" sz="1600">
              <a:sym typeface="+mn-ea"/>
            </a:endParaRPr>
          </a:p>
          <a:p>
            <a:r>
              <a:rPr lang="zh-CN" altLang="en-US" sz="1600">
                <a:sym typeface="+mn-ea"/>
              </a:rPr>
              <a:t>而指向一维数组的指针变量则会显示指向的地址和指向值在数组中的位置，如本例中，指针变量</a:t>
            </a:r>
            <a:r>
              <a:rPr lang="en-US" altLang="zh-CN" sz="1600">
                <a:sym typeface="+mn-ea"/>
              </a:rPr>
              <a:t>dd1</a:t>
            </a:r>
            <a:r>
              <a:rPr lang="zh-CN" altLang="en-US" sz="1600">
                <a:sym typeface="+mn-ea"/>
              </a:rPr>
              <a:t>指向数组</a:t>
            </a:r>
            <a:r>
              <a:rPr lang="en-US" altLang="zh-CN" sz="1600">
                <a:sym typeface="+mn-ea"/>
              </a:rPr>
              <a:t>d</a:t>
            </a:r>
            <a:r>
              <a:rPr lang="zh-CN" altLang="en-US" sz="1600">
                <a:sym typeface="+mn-ea"/>
              </a:rPr>
              <a:t>的第一个变量，则显示</a:t>
            </a:r>
            <a:r>
              <a:rPr lang="en-US" altLang="zh-CN" sz="1600">
                <a:sym typeface="+mn-ea"/>
              </a:rPr>
              <a:t>{1}</a:t>
            </a:r>
            <a:r>
              <a:rPr lang="zh-CN" altLang="en-US" sz="1600">
                <a:sym typeface="+mn-ea"/>
              </a:rPr>
              <a:t>，</a:t>
            </a:r>
            <a:endParaRPr lang="zh-CN" altLang="en-US" sz="1600">
              <a:sym typeface="+mn-ea"/>
            </a:endParaRPr>
          </a:p>
          <a:p>
            <a:r>
              <a:rPr lang="zh-CN" altLang="en-US" sz="1600">
                <a:sym typeface="+mn-ea"/>
              </a:rPr>
              <a:t>指针变量</a:t>
            </a:r>
            <a:r>
              <a:rPr lang="en-US" altLang="zh-CN" sz="1600">
                <a:sym typeface="+mn-ea"/>
              </a:rPr>
              <a:t>dd1</a:t>
            </a:r>
            <a:r>
              <a:rPr lang="zh-CN" altLang="en-US" sz="1600">
                <a:sym typeface="+mn-ea"/>
              </a:rPr>
              <a:t>指向数组</a:t>
            </a:r>
            <a:r>
              <a:rPr lang="en-US" altLang="zh-CN" sz="1600">
                <a:sym typeface="+mn-ea"/>
              </a:rPr>
              <a:t>d</a:t>
            </a:r>
            <a:r>
              <a:rPr lang="zh-CN" altLang="en-US" sz="1600">
                <a:sym typeface="+mn-ea"/>
              </a:rPr>
              <a:t>的第二个变量，则显示</a:t>
            </a:r>
            <a:r>
              <a:rPr lang="en-US" altLang="zh-CN" sz="1600">
                <a:sym typeface="+mn-ea"/>
              </a:rPr>
              <a:t>{2}</a:t>
            </a:r>
            <a:r>
              <a:rPr lang="zh-CN" altLang="en-US" sz="1600">
                <a:sym typeface="+mn-ea"/>
              </a:rPr>
              <a:t>。</a:t>
            </a:r>
            <a:endParaRPr lang="zh-CN" altLang="en-US" sz="1600">
              <a:sym typeface="+mn-ea"/>
            </a:endParaRPr>
          </a:p>
          <a:p>
            <a:endParaRPr lang="zh-CN" altLang="en-US" sz="1600">
              <a:sym typeface="+mn-ea"/>
            </a:endParaRPr>
          </a:p>
          <a:p>
            <a:r>
              <a:rPr lang="zh-CN" altLang="en-US" sz="1600">
                <a:sym typeface="+mn-ea"/>
              </a:rPr>
              <a:t>注：一维字符数组在内部存储方式为字符串，这在</a:t>
            </a:r>
            <a:r>
              <a:rPr lang="en-US" altLang="zh-CN" sz="1600">
                <a:sym typeface="+mn-ea"/>
              </a:rPr>
              <a:t>3.5</a:t>
            </a:r>
            <a:r>
              <a:rPr lang="zh-CN" altLang="en-US" sz="1600">
                <a:sym typeface="+mn-ea"/>
              </a:rPr>
              <a:t>中会详细说明。</a:t>
            </a:r>
            <a:endParaRPr lang="zh-CN" altLang="en-US" sz="1600">
              <a:sym typeface="+mn-ea"/>
            </a:endParaRPr>
          </a:p>
          <a:p>
            <a:endParaRPr lang="zh-CN" altLang="en-US" sz="1600">
              <a:sym typeface="+mn-ea"/>
            </a:endParaRPr>
          </a:p>
        </p:txBody>
      </p:sp>
      <p:sp>
        <p:nvSpPr>
          <p:cNvPr id="12" name="圆角矩形 11"/>
          <p:cNvSpPr/>
          <p:nvPr/>
        </p:nvSpPr>
        <p:spPr>
          <a:xfrm>
            <a:off x="7023735" y="3532505"/>
            <a:ext cx="1913255" cy="341630"/>
          </a:xfrm>
          <a:prstGeom prst="roundRect">
            <a:avLst/>
          </a:prstGeom>
          <a:noFill/>
          <a:ln w="28575">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23215" y="143510"/>
            <a:ext cx="9718040" cy="645160"/>
          </a:xfrm>
          <a:prstGeom prst="rect">
            <a:avLst/>
          </a:prstGeom>
          <a:noFill/>
        </p:spPr>
        <p:txBody>
          <a:bodyPr wrap="square" rtlCol="0" anchor="t">
            <a:spAutoFit/>
          </a:bodyPr>
          <a:p>
            <a:r>
              <a:rPr lang="zh-CN" altLang="en-US"/>
              <a:t>3.5 二维数组（包括数组名仅带一个下标的情况）</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5.3</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a:p>
            <a:endParaRPr lang="zh-CN" altLang="en-US"/>
          </a:p>
        </p:txBody>
      </p:sp>
      <p:sp>
        <p:nvSpPr>
          <p:cNvPr id="8" name="文本框 7"/>
          <p:cNvSpPr txBox="1"/>
          <p:nvPr/>
        </p:nvSpPr>
        <p:spPr>
          <a:xfrm>
            <a:off x="4944110" y="3142615"/>
            <a:ext cx="7088505" cy="3629025"/>
          </a:xfrm>
          <a:prstGeom prst="rect">
            <a:avLst/>
          </a:prstGeom>
          <a:noFill/>
        </p:spPr>
        <p:txBody>
          <a:bodyPr wrap="square" rtlCol="0">
            <a:noAutofit/>
          </a:bodyPr>
          <a:p>
            <a:r>
              <a:rPr lang="zh-CN" altLang="en-US"/>
              <a:t>如图所示，二维数组</a:t>
            </a:r>
            <a:r>
              <a:rPr lang="zh-CN" altLang="en-US">
                <a:sym typeface="+mn-ea"/>
              </a:rPr>
              <a:t>在显示时，会显示数组首地址、每行首地址以及每行各元素的值；这应该与二维数组在系统中的存储方式为</a:t>
            </a:r>
            <a:r>
              <a:rPr lang="en-US" altLang="zh-CN">
                <a:sym typeface="+mn-ea"/>
              </a:rPr>
              <a:t>“</a:t>
            </a:r>
            <a:r>
              <a:rPr lang="zh-CN" altLang="en-US">
                <a:sym typeface="+mn-ea"/>
              </a:rPr>
              <a:t>一维数组的一维数组</a:t>
            </a:r>
            <a:r>
              <a:rPr lang="en-US" altLang="zh-CN">
                <a:sym typeface="+mn-ea"/>
              </a:rPr>
              <a:t>”</a:t>
            </a:r>
            <a:r>
              <a:rPr lang="zh-CN" altLang="en-US">
                <a:sym typeface="+mn-ea"/>
              </a:rPr>
              <a:t>有关。</a:t>
            </a:r>
            <a:endParaRPr lang="zh-CN" altLang="en-US">
              <a:sym typeface="+mn-ea"/>
            </a:endParaRPr>
          </a:p>
          <a:p>
            <a:endParaRPr lang="zh-CN" altLang="en-US">
              <a:sym typeface="+mn-ea"/>
            </a:endParaRPr>
          </a:p>
          <a:p>
            <a:r>
              <a:rPr lang="zh-CN" altLang="en-US">
                <a:sym typeface="+mn-ea"/>
              </a:rPr>
              <a:t>另外，可以看到二维字符数组在系统内部的存储方式为每行以字符串方式存储（可以验证一维字符数组也是如此）</a:t>
            </a:r>
            <a:endParaRPr lang="zh-CN" altLang="en-US">
              <a:sym typeface="+mn-ea"/>
            </a:endParaRPr>
          </a:p>
          <a:p>
            <a:endParaRPr lang="zh-CN" altLang="en-US">
              <a:sym typeface="+mn-ea"/>
            </a:endParaRPr>
          </a:p>
          <a:p>
            <a:r>
              <a:rPr lang="zh-CN" altLang="en-US">
                <a:sym typeface="+mn-ea"/>
              </a:rPr>
              <a:t>当数组名仅带一个下标时，在</a:t>
            </a:r>
            <a:r>
              <a:rPr lang="en-US" altLang="zh-CN">
                <a:sym typeface="+mn-ea"/>
              </a:rPr>
              <a:t>“</a:t>
            </a:r>
            <a:r>
              <a:rPr lang="zh-CN" altLang="en-US">
                <a:sym typeface="+mn-ea"/>
              </a:rPr>
              <a:t>值</a:t>
            </a:r>
            <a:r>
              <a:rPr lang="en-US" altLang="zh-CN">
                <a:sym typeface="+mn-ea"/>
              </a:rPr>
              <a:t>”</a:t>
            </a:r>
            <a:r>
              <a:rPr lang="zh-CN" altLang="en-US">
                <a:sym typeface="+mn-ea"/>
              </a:rPr>
              <a:t>一栏中会显示其指向该行的首元素的地址，并显示该行所有元素的值。</a:t>
            </a:r>
            <a:endParaRPr lang="zh-CN" altLang="en-US">
              <a:sym typeface="+mn-ea"/>
            </a:endParaRPr>
          </a:p>
          <a:p>
            <a:endParaRPr lang="zh-CN" altLang="en-US">
              <a:sym typeface="+mn-ea"/>
            </a:endParaRPr>
          </a:p>
          <a:p>
            <a:r>
              <a:rPr lang="zh-CN" altLang="en-US">
                <a:sym typeface="+mn-ea"/>
              </a:rPr>
              <a:t>另外，当输出二维数组中某一个元素或某一行的值时，自动窗口会显示每一级的数据，例如，当本例中输出</a:t>
            </a:r>
            <a:r>
              <a:rPr lang="en-US" altLang="zh-CN">
                <a:sym typeface="+mn-ea"/>
              </a:rPr>
              <a:t>b[0][2]</a:t>
            </a:r>
            <a:r>
              <a:rPr lang="zh-CN" altLang="en-US">
                <a:sym typeface="+mn-ea"/>
              </a:rPr>
              <a:t>时，会依次显示</a:t>
            </a:r>
            <a:r>
              <a:rPr lang="en-US" altLang="zh-CN">
                <a:sym typeface="+mn-ea"/>
              </a:rPr>
              <a:t>b</a:t>
            </a:r>
            <a:r>
              <a:rPr lang="zh-CN" altLang="en-US">
                <a:sym typeface="+mn-ea"/>
              </a:rPr>
              <a:t>、</a:t>
            </a:r>
            <a:r>
              <a:rPr lang="en-US" altLang="zh-CN">
                <a:sym typeface="+mn-ea"/>
              </a:rPr>
              <a:t>b[0]</a:t>
            </a:r>
            <a:r>
              <a:rPr lang="zh-CN" altLang="en-US">
                <a:sym typeface="+mn-ea"/>
              </a:rPr>
              <a:t>、地址和值，</a:t>
            </a:r>
            <a:r>
              <a:rPr lang="en-US" altLang="zh-CN">
                <a:sym typeface="+mn-ea"/>
              </a:rPr>
              <a:t>b[0][2]</a:t>
            </a:r>
            <a:r>
              <a:rPr lang="zh-CN" altLang="en-US">
                <a:sym typeface="+mn-ea"/>
              </a:rPr>
              <a:t>的值（单个元素不显示地址）</a:t>
            </a:r>
            <a:r>
              <a:rPr lang="zh-CN" altLang="en-US">
                <a:sym typeface="+mn-ea"/>
              </a:rPr>
              <a:t>。（还挺人性化）</a:t>
            </a:r>
            <a:endParaRPr lang="zh-CN" altLang="en-US">
              <a:sym typeface="+mn-ea"/>
            </a:endParaRPr>
          </a:p>
          <a:p>
            <a:endParaRPr lang="zh-CN" altLang="en-US">
              <a:sym typeface="+mn-ea"/>
            </a:endParaRPr>
          </a:p>
          <a:p>
            <a:endParaRPr lang="zh-CN" altLang="en-US">
              <a:sym typeface="+mn-ea"/>
            </a:endParaRPr>
          </a:p>
        </p:txBody>
      </p:sp>
      <p:sp>
        <p:nvSpPr>
          <p:cNvPr id="13" name="文本框 12"/>
          <p:cNvSpPr txBox="1"/>
          <p:nvPr/>
        </p:nvSpPr>
        <p:spPr>
          <a:xfrm>
            <a:off x="323215" y="5080635"/>
            <a:ext cx="4577080" cy="1753235"/>
          </a:xfrm>
          <a:prstGeom prst="rect">
            <a:avLst/>
          </a:prstGeom>
          <a:noFill/>
        </p:spPr>
        <p:txBody>
          <a:bodyPr wrap="square" rtlCol="0" anchor="t">
            <a:spAutoFit/>
          </a:bodyPr>
          <a:p>
            <a:r>
              <a:rPr lang="zh-CN" altLang="en-US">
                <a:solidFill>
                  <a:schemeClr val="accent1">
                    <a:lumMod val="75000"/>
                  </a:schemeClr>
                </a:solidFill>
                <a:sym typeface="+mn-ea"/>
              </a:rPr>
              <a:t>注：在定义指向二维字符数组的指针时，不能直接用二维字符数组名作为地址，这是因为二维数组在系统中的存储方式为</a:t>
            </a:r>
            <a:r>
              <a:rPr lang="en-US" altLang="zh-CN">
                <a:solidFill>
                  <a:schemeClr val="accent1">
                    <a:lumMod val="75000"/>
                  </a:schemeClr>
                </a:solidFill>
                <a:sym typeface="+mn-ea"/>
              </a:rPr>
              <a:t>“</a:t>
            </a:r>
            <a:r>
              <a:rPr lang="zh-CN" altLang="en-US">
                <a:solidFill>
                  <a:schemeClr val="accent1">
                    <a:lumMod val="75000"/>
                  </a:schemeClr>
                </a:solidFill>
                <a:sym typeface="+mn-ea"/>
              </a:rPr>
              <a:t>一维数组的一维数组</a:t>
            </a:r>
            <a:r>
              <a:rPr lang="en-US" altLang="zh-CN">
                <a:solidFill>
                  <a:schemeClr val="accent1">
                    <a:lumMod val="75000"/>
                  </a:schemeClr>
                </a:solidFill>
                <a:sym typeface="+mn-ea"/>
              </a:rPr>
              <a:t>”</a:t>
            </a:r>
            <a:r>
              <a:rPr lang="zh-CN" altLang="en-US">
                <a:solidFill>
                  <a:schemeClr val="accent1">
                    <a:lumMod val="75000"/>
                  </a:schemeClr>
                </a:solidFill>
                <a:sym typeface="+mn-ea"/>
              </a:rPr>
              <a:t>，二维字符数组名代表指向数组首行的指针</a:t>
            </a:r>
            <a:r>
              <a:rPr lang="en-US" altLang="zh-CN">
                <a:solidFill>
                  <a:schemeClr val="accent1">
                    <a:lumMod val="75000"/>
                  </a:schemeClr>
                </a:solidFill>
                <a:sym typeface="+mn-ea"/>
              </a:rPr>
              <a:t>(</a:t>
            </a:r>
            <a:r>
              <a:rPr lang="zh-CN" altLang="en-US">
                <a:solidFill>
                  <a:schemeClr val="accent1">
                    <a:lumMod val="75000"/>
                  </a:schemeClr>
                </a:solidFill>
                <a:sym typeface="+mn-ea"/>
              </a:rPr>
              <a:t>指向数组的指针</a:t>
            </a:r>
            <a:r>
              <a:rPr lang="en-US" altLang="zh-CN">
                <a:solidFill>
                  <a:schemeClr val="accent1">
                    <a:lumMod val="75000"/>
                  </a:schemeClr>
                </a:solidFill>
                <a:sym typeface="+mn-ea"/>
              </a:rPr>
              <a:t>)</a:t>
            </a:r>
            <a:r>
              <a:rPr lang="zh-CN" altLang="en-US">
                <a:solidFill>
                  <a:schemeClr val="accent1">
                    <a:lumMod val="75000"/>
                  </a:schemeClr>
                </a:solidFill>
                <a:sym typeface="+mn-ea"/>
              </a:rPr>
              <a:t>，这与我们一般使用的指向数值的指针类型不匹配。</a:t>
            </a:r>
            <a:endParaRPr lang="zh-CN" altLang="en-US">
              <a:solidFill>
                <a:schemeClr val="accent1">
                  <a:lumMod val="75000"/>
                </a:schemeClr>
              </a:solidFill>
              <a:sym typeface="+mn-ea"/>
            </a:endParaRPr>
          </a:p>
        </p:txBody>
      </p:sp>
      <p:pic>
        <p:nvPicPr>
          <p:cNvPr id="2" name="图片 1"/>
          <p:cNvPicPr>
            <a:picLocks noChangeAspect="1"/>
          </p:cNvPicPr>
          <p:nvPr/>
        </p:nvPicPr>
        <p:blipFill>
          <a:blip r:embed="rId1"/>
          <a:stretch>
            <a:fillRect/>
          </a:stretch>
        </p:blipFill>
        <p:spPr>
          <a:xfrm>
            <a:off x="430530" y="511810"/>
            <a:ext cx="4363085" cy="4568825"/>
          </a:xfrm>
          <a:prstGeom prst="rect">
            <a:avLst/>
          </a:prstGeom>
        </p:spPr>
      </p:pic>
      <p:pic>
        <p:nvPicPr>
          <p:cNvPr id="3" name="图片 2"/>
          <p:cNvPicPr>
            <a:picLocks noChangeAspect="1"/>
          </p:cNvPicPr>
          <p:nvPr/>
        </p:nvPicPr>
        <p:blipFill>
          <a:blip r:embed="rId2"/>
          <a:stretch>
            <a:fillRect/>
          </a:stretch>
        </p:blipFill>
        <p:spPr>
          <a:xfrm>
            <a:off x="4996815" y="511810"/>
            <a:ext cx="6932295" cy="1426845"/>
          </a:xfrm>
          <a:prstGeom prst="rect">
            <a:avLst/>
          </a:prstGeom>
        </p:spPr>
      </p:pic>
      <p:pic>
        <p:nvPicPr>
          <p:cNvPr id="5" name="图片 4"/>
          <p:cNvPicPr>
            <a:picLocks noChangeAspect="1"/>
          </p:cNvPicPr>
          <p:nvPr/>
        </p:nvPicPr>
        <p:blipFill>
          <a:blip r:embed="rId3"/>
          <a:stretch>
            <a:fillRect/>
          </a:stretch>
        </p:blipFill>
        <p:spPr>
          <a:xfrm>
            <a:off x="5001260" y="2010410"/>
            <a:ext cx="6927850" cy="1060450"/>
          </a:xfrm>
          <a:prstGeom prst="rect">
            <a:avLst/>
          </a:prstGeom>
        </p:spPr>
      </p:pic>
      <p:sp>
        <p:nvSpPr>
          <p:cNvPr id="12" name="圆角矩形 11"/>
          <p:cNvSpPr/>
          <p:nvPr/>
        </p:nvSpPr>
        <p:spPr>
          <a:xfrm>
            <a:off x="5110480" y="2540000"/>
            <a:ext cx="617855" cy="480060"/>
          </a:xfrm>
          <a:prstGeom prst="roundRect">
            <a:avLst/>
          </a:prstGeom>
          <a:noFill/>
          <a:ln w="28575">
            <a:solidFill>
              <a:schemeClr val="accent3"/>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6" name="直接箭头连接符 5"/>
          <p:cNvCxnSpPr/>
          <p:nvPr/>
        </p:nvCxnSpPr>
        <p:spPr>
          <a:xfrm flipH="1" flipV="1">
            <a:off x="8488045" y="1630045"/>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flipV="1">
            <a:off x="8488045" y="2455545"/>
            <a:ext cx="1081405" cy="17018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71805" y="220345"/>
            <a:ext cx="11606530" cy="645160"/>
          </a:xfrm>
          <a:prstGeom prst="rect">
            <a:avLst/>
          </a:prstGeom>
          <a:noFill/>
        </p:spPr>
        <p:txBody>
          <a:bodyPr wrap="square" rtlCol="0" anchor="t">
            <a:spAutoFit/>
          </a:bodyPr>
          <a:p>
            <a:r>
              <a:rPr lang="zh-CN" altLang="en-US"/>
              <a:t>3.6 实参是一维数组名，形参是指针的情况，如何在函数中查看实参数组的地址、值？</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6.3.5</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a:p>
            <a:endParaRPr lang="zh-CN" altLang="en-US"/>
          </a:p>
        </p:txBody>
      </p:sp>
      <p:pic>
        <p:nvPicPr>
          <p:cNvPr id="6" name="图片 5"/>
          <p:cNvPicPr>
            <a:picLocks noChangeAspect="1"/>
          </p:cNvPicPr>
          <p:nvPr/>
        </p:nvPicPr>
        <p:blipFill>
          <a:blip r:embed="rId1"/>
          <a:stretch>
            <a:fillRect/>
          </a:stretch>
        </p:blipFill>
        <p:spPr>
          <a:xfrm>
            <a:off x="166370" y="623570"/>
            <a:ext cx="3305810" cy="4358005"/>
          </a:xfrm>
          <a:prstGeom prst="rect">
            <a:avLst/>
          </a:prstGeom>
        </p:spPr>
      </p:pic>
      <p:pic>
        <p:nvPicPr>
          <p:cNvPr id="7" name="图片 6"/>
          <p:cNvPicPr>
            <a:picLocks noChangeAspect="1"/>
          </p:cNvPicPr>
          <p:nvPr/>
        </p:nvPicPr>
        <p:blipFill>
          <a:blip r:embed="rId2"/>
          <a:stretch>
            <a:fillRect/>
          </a:stretch>
        </p:blipFill>
        <p:spPr>
          <a:xfrm>
            <a:off x="166370" y="5078730"/>
            <a:ext cx="4286250" cy="892810"/>
          </a:xfrm>
          <a:prstGeom prst="rect">
            <a:avLst/>
          </a:prstGeom>
        </p:spPr>
      </p:pic>
      <p:pic>
        <p:nvPicPr>
          <p:cNvPr id="8" name="图片 7"/>
          <p:cNvPicPr>
            <a:picLocks noChangeAspect="1"/>
          </p:cNvPicPr>
          <p:nvPr/>
        </p:nvPicPr>
        <p:blipFill>
          <a:blip r:embed="rId3"/>
          <a:stretch>
            <a:fillRect/>
          </a:stretch>
        </p:blipFill>
        <p:spPr>
          <a:xfrm>
            <a:off x="3745865" y="623570"/>
            <a:ext cx="4455160" cy="1262380"/>
          </a:xfrm>
          <a:prstGeom prst="rect">
            <a:avLst/>
          </a:prstGeom>
        </p:spPr>
      </p:pic>
      <p:sp>
        <p:nvSpPr>
          <p:cNvPr id="9" name="文本框 8"/>
          <p:cNvSpPr txBox="1"/>
          <p:nvPr/>
        </p:nvSpPr>
        <p:spPr>
          <a:xfrm>
            <a:off x="166370" y="5971540"/>
            <a:ext cx="4286885" cy="829945"/>
          </a:xfrm>
          <a:prstGeom prst="rect">
            <a:avLst/>
          </a:prstGeom>
          <a:noFill/>
        </p:spPr>
        <p:txBody>
          <a:bodyPr wrap="square" rtlCol="0">
            <a:spAutoFit/>
          </a:bodyPr>
          <a:p>
            <a:r>
              <a:rPr lang="zh-CN" altLang="en-US" sz="1600"/>
              <a:t>如图，此时调试到</a:t>
            </a:r>
            <a:r>
              <a:rPr lang="en-US" altLang="zh-CN" sz="1600"/>
              <a:t>fun</a:t>
            </a:r>
            <a:r>
              <a:rPr lang="zh-CN" altLang="en-US" sz="1600"/>
              <a:t>函数中时，只能看到形参指针指向的地址</a:t>
            </a:r>
            <a:r>
              <a:rPr lang="en-US" altLang="zh-CN" sz="1600"/>
              <a:t>(</a:t>
            </a:r>
            <a:r>
              <a:rPr lang="zh-CN" altLang="en-US" sz="1600"/>
              <a:t>实际上就是实参数组的地址</a:t>
            </a:r>
            <a:r>
              <a:rPr lang="en-US" altLang="zh-CN" sz="1600"/>
              <a:t>)</a:t>
            </a:r>
            <a:r>
              <a:rPr lang="zh-CN" altLang="en-US" sz="1600"/>
              <a:t>，但不能看到实参数组的值</a:t>
            </a:r>
            <a:endParaRPr lang="zh-CN" altLang="en-US" sz="1600"/>
          </a:p>
        </p:txBody>
      </p:sp>
      <p:pic>
        <p:nvPicPr>
          <p:cNvPr id="10" name="图片 9"/>
          <p:cNvPicPr>
            <a:picLocks noChangeAspect="1"/>
          </p:cNvPicPr>
          <p:nvPr/>
        </p:nvPicPr>
        <p:blipFill>
          <a:blip r:embed="rId4"/>
          <a:stretch>
            <a:fillRect/>
          </a:stretch>
        </p:blipFill>
        <p:spPr>
          <a:xfrm>
            <a:off x="8474710" y="623570"/>
            <a:ext cx="3279140" cy="4357370"/>
          </a:xfrm>
          <a:prstGeom prst="rect">
            <a:avLst/>
          </a:prstGeom>
        </p:spPr>
      </p:pic>
      <p:pic>
        <p:nvPicPr>
          <p:cNvPr id="11" name="图片 10"/>
          <p:cNvPicPr>
            <a:picLocks noChangeAspect="1"/>
          </p:cNvPicPr>
          <p:nvPr/>
        </p:nvPicPr>
        <p:blipFill>
          <a:blip r:embed="rId5"/>
          <a:stretch>
            <a:fillRect/>
          </a:stretch>
        </p:blipFill>
        <p:spPr>
          <a:xfrm>
            <a:off x="6490335" y="5078730"/>
            <a:ext cx="5263515" cy="887730"/>
          </a:xfrm>
          <a:prstGeom prst="rect">
            <a:avLst/>
          </a:prstGeom>
        </p:spPr>
      </p:pic>
      <p:cxnSp>
        <p:nvCxnSpPr>
          <p:cNvPr id="12" name="直接箭头连接符 11"/>
          <p:cNvCxnSpPr/>
          <p:nvPr/>
        </p:nvCxnSpPr>
        <p:spPr>
          <a:xfrm flipH="1" flipV="1">
            <a:off x="5866130" y="1311910"/>
            <a:ext cx="822325" cy="13163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3881120" y="2783840"/>
            <a:ext cx="4064000" cy="645160"/>
          </a:xfrm>
          <a:prstGeom prst="rect">
            <a:avLst/>
          </a:prstGeom>
          <a:noFill/>
        </p:spPr>
        <p:txBody>
          <a:bodyPr wrap="square" rtlCol="0">
            <a:spAutoFit/>
          </a:bodyPr>
          <a:p>
            <a:r>
              <a:rPr lang="zh-CN" altLang="en-US"/>
              <a:t>如图所示，在堆栈帧中选择</a:t>
            </a:r>
            <a:r>
              <a:rPr lang="en-US" altLang="zh-CN"/>
              <a:t>main</a:t>
            </a:r>
            <a:r>
              <a:rPr lang="zh-CN" altLang="en-US"/>
              <a:t>函数，即可查看实参数组的地址和值。</a:t>
            </a:r>
            <a:endParaRPr lang="zh-CN" altLang="en-US"/>
          </a:p>
        </p:txBody>
      </p:sp>
      <p:cxnSp>
        <p:nvCxnSpPr>
          <p:cNvPr id="14" name="直接箭头连接符 13"/>
          <p:cNvCxnSpPr/>
          <p:nvPr/>
        </p:nvCxnSpPr>
        <p:spPr>
          <a:xfrm>
            <a:off x="6110605" y="3487420"/>
            <a:ext cx="379730" cy="159131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78790" y="255270"/>
            <a:ext cx="10368280" cy="368300"/>
          </a:xfrm>
          <a:prstGeom prst="rect">
            <a:avLst/>
          </a:prstGeom>
          <a:noFill/>
        </p:spPr>
        <p:txBody>
          <a:bodyPr wrap="square" rtlCol="0" anchor="t">
            <a:spAutoFit/>
          </a:bodyPr>
          <a:p>
            <a:r>
              <a:rPr lang="zh-CN" altLang="en-US"/>
              <a:t>3.7 指向字符串常量的指针变量（能否看到无名字符串常量的地址？）</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6.4</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p:txBody>
      </p:sp>
      <p:pic>
        <p:nvPicPr>
          <p:cNvPr id="7" name="图片 6"/>
          <p:cNvPicPr>
            <a:picLocks noChangeAspect="1"/>
          </p:cNvPicPr>
          <p:nvPr/>
        </p:nvPicPr>
        <p:blipFill>
          <a:blip r:embed="rId1"/>
          <a:stretch>
            <a:fillRect/>
          </a:stretch>
        </p:blipFill>
        <p:spPr>
          <a:xfrm>
            <a:off x="478790" y="711835"/>
            <a:ext cx="3844290" cy="3964305"/>
          </a:xfrm>
          <a:prstGeom prst="rect">
            <a:avLst/>
          </a:prstGeom>
        </p:spPr>
      </p:pic>
      <p:pic>
        <p:nvPicPr>
          <p:cNvPr id="8" name="图片 7"/>
          <p:cNvPicPr>
            <a:picLocks noChangeAspect="1"/>
          </p:cNvPicPr>
          <p:nvPr/>
        </p:nvPicPr>
        <p:blipFill>
          <a:blip r:embed="rId2"/>
          <a:stretch>
            <a:fillRect/>
          </a:stretch>
        </p:blipFill>
        <p:spPr>
          <a:xfrm>
            <a:off x="478790" y="4883150"/>
            <a:ext cx="3844290" cy="728345"/>
          </a:xfrm>
          <a:prstGeom prst="rect">
            <a:avLst/>
          </a:prstGeom>
        </p:spPr>
      </p:pic>
      <p:pic>
        <p:nvPicPr>
          <p:cNvPr id="9" name="图片 8"/>
          <p:cNvPicPr>
            <a:picLocks noChangeAspect="1"/>
          </p:cNvPicPr>
          <p:nvPr/>
        </p:nvPicPr>
        <p:blipFill>
          <a:blip r:embed="rId3"/>
          <a:stretch>
            <a:fillRect/>
          </a:stretch>
        </p:blipFill>
        <p:spPr>
          <a:xfrm>
            <a:off x="4785995" y="711835"/>
            <a:ext cx="4210685" cy="3964305"/>
          </a:xfrm>
          <a:prstGeom prst="rect">
            <a:avLst/>
          </a:prstGeom>
        </p:spPr>
      </p:pic>
      <p:pic>
        <p:nvPicPr>
          <p:cNvPr id="10" name="图片 9"/>
          <p:cNvPicPr>
            <a:picLocks noChangeAspect="1"/>
          </p:cNvPicPr>
          <p:nvPr/>
        </p:nvPicPr>
        <p:blipFill>
          <a:blip r:embed="rId4"/>
          <a:stretch>
            <a:fillRect/>
          </a:stretch>
        </p:blipFill>
        <p:spPr>
          <a:xfrm>
            <a:off x="4785995" y="4883150"/>
            <a:ext cx="4210685" cy="728980"/>
          </a:xfrm>
          <a:prstGeom prst="rect">
            <a:avLst/>
          </a:prstGeom>
        </p:spPr>
      </p:pic>
      <p:sp>
        <p:nvSpPr>
          <p:cNvPr id="11" name="文本框 10"/>
          <p:cNvSpPr txBox="1"/>
          <p:nvPr/>
        </p:nvSpPr>
        <p:spPr>
          <a:xfrm>
            <a:off x="478790" y="5791200"/>
            <a:ext cx="4064000" cy="922020"/>
          </a:xfrm>
          <a:prstGeom prst="rect">
            <a:avLst/>
          </a:prstGeom>
          <a:noFill/>
        </p:spPr>
        <p:txBody>
          <a:bodyPr wrap="square" rtlCol="0">
            <a:spAutoFit/>
          </a:bodyPr>
          <a:p>
            <a:r>
              <a:rPr lang="zh-CN" altLang="en-US"/>
              <a:t>如图所示，字符指针常变量</a:t>
            </a:r>
            <a:r>
              <a:rPr lang="en-US" altLang="zh-CN"/>
              <a:t>p</a:t>
            </a:r>
            <a:r>
              <a:rPr lang="zh-CN" altLang="en-US"/>
              <a:t>指向无名字符串常量</a:t>
            </a:r>
            <a:r>
              <a:rPr lang="en-US" altLang="zh-CN"/>
              <a:t>“abcdefg”</a:t>
            </a:r>
            <a:r>
              <a:rPr lang="zh-CN" altLang="en-US"/>
              <a:t>，可以看到字符串常量的地址。</a:t>
            </a:r>
            <a:endParaRPr lang="zh-CN" altLang="en-US"/>
          </a:p>
        </p:txBody>
      </p:sp>
      <p:cxnSp>
        <p:nvCxnSpPr>
          <p:cNvPr id="14" name="直接箭头连接符 13"/>
          <p:cNvCxnSpPr/>
          <p:nvPr/>
        </p:nvCxnSpPr>
        <p:spPr>
          <a:xfrm>
            <a:off x="2029460" y="5205730"/>
            <a:ext cx="935355" cy="24447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a:off x="6614160" y="5302250"/>
            <a:ext cx="935990" cy="14795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4785995" y="5791835"/>
            <a:ext cx="4898390" cy="922020"/>
          </a:xfrm>
          <a:prstGeom prst="rect">
            <a:avLst/>
          </a:prstGeom>
          <a:noFill/>
        </p:spPr>
        <p:txBody>
          <a:bodyPr wrap="square" rtlCol="0">
            <a:spAutoFit/>
          </a:bodyPr>
          <a:p>
            <a:r>
              <a:rPr lang="zh-CN" altLang="en-US">
                <a:sym typeface="+mn-ea"/>
              </a:rPr>
              <a:t>定义一个字符指针常变量</a:t>
            </a:r>
            <a:r>
              <a:rPr lang="en-US" altLang="zh-CN">
                <a:sym typeface="+mn-ea"/>
              </a:rPr>
              <a:t>p</a:t>
            </a:r>
            <a:r>
              <a:rPr lang="zh-CN" altLang="en-US">
                <a:sym typeface="+mn-ea"/>
              </a:rPr>
              <a:t>，</a:t>
            </a:r>
            <a:r>
              <a:rPr lang="en-US" altLang="zh-CN">
                <a:sym typeface="+mn-ea"/>
              </a:rPr>
              <a:t>p</a:t>
            </a:r>
            <a:r>
              <a:rPr lang="zh-CN" altLang="en-US">
                <a:sym typeface="+mn-ea"/>
              </a:rPr>
              <a:t>的值是可以改变的</a:t>
            </a:r>
            <a:r>
              <a:rPr lang="en-US" altLang="zh-CN">
                <a:sym typeface="+mn-ea"/>
              </a:rPr>
              <a:t>(</a:t>
            </a:r>
            <a:r>
              <a:rPr lang="zh-CN" altLang="en-US">
                <a:sym typeface="+mn-ea"/>
              </a:rPr>
              <a:t>如图</a:t>
            </a:r>
            <a:r>
              <a:rPr lang="en-US" altLang="zh-CN">
                <a:sym typeface="+mn-ea"/>
              </a:rPr>
              <a:t>)</a:t>
            </a:r>
            <a:r>
              <a:rPr lang="zh-CN" altLang="en-US">
                <a:sym typeface="+mn-ea"/>
              </a:rPr>
              <a:t>，但</a:t>
            </a:r>
            <a:r>
              <a:rPr lang="en-US" altLang="zh-CN">
                <a:sym typeface="+mn-ea"/>
              </a:rPr>
              <a:t>p</a:t>
            </a:r>
            <a:r>
              <a:rPr lang="zh-CN" altLang="en-US">
                <a:sym typeface="+mn-ea"/>
              </a:rPr>
              <a:t>指向的地址中存的值不可改变。例如，如果写语句：</a:t>
            </a:r>
            <a:r>
              <a:rPr lang="en-US" altLang="zh-CN">
                <a:sym typeface="+mn-ea"/>
              </a:rPr>
              <a:t>(*p)++</a:t>
            </a:r>
            <a:r>
              <a:rPr lang="zh-CN" altLang="en-US">
                <a:sym typeface="+mn-ea"/>
              </a:rPr>
              <a:t>则会报错。</a:t>
            </a:r>
            <a:endParaRPr lang="zh-CN" altLang="en-US">
              <a:sym typeface="+mn-ea"/>
            </a:endParaRPr>
          </a:p>
        </p:txBody>
      </p:sp>
      <p:pic>
        <p:nvPicPr>
          <p:cNvPr id="2" name="图片 1" descr="无背景logo"/>
          <p:cNvPicPr>
            <a:picLocks noChangeAspect="1"/>
          </p:cNvPicPr>
          <p:nvPr/>
        </p:nvPicPr>
        <p:blipFill>
          <a:blip r:embed="rId5"/>
          <a:stretch>
            <a:fillRect/>
          </a:stretch>
        </p:blipFill>
        <p:spPr>
          <a:xfrm>
            <a:off x="10072370" y="76200"/>
            <a:ext cx="1689735" cy="858520"/>
          </a:xfrm>
          <a:prstGeom prst="rect">
            <a:avLst/>
          </a:prstGeom>
        </p:spPr>
      </p:pic>
    </p:spTree>
    <p:custDataLst>
      <p:tags r:id="rId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78790" y="255270"/>
            <a:ext cx="8680450" cy="368300"/>
          </a:xfrm>
          <a:prstGeom prst="rect">
            <a:avLst/>
          </a:prstGeom>
          <a:noFill/>
        </p:spPr>
        <p:txBody>
          <a:bodyPr wrap="square" rtlCol="0" anchor="t">
            <a:spAutoFit/>
          </a:bodyPr>
          <a:p>
            <a:r>
              <a:rPr lang="zh-CN" altLang="en-US"/>
              <a:t>3.</a:t>
            </a:r>
            <a:r>
              <a:rPr lang="en-US" altLang="zh-CN"/>
              <a:t>8 </a:t>
            </a:r>
            <a:r>
              <a:rPr lang="zh-CN" altLang="en-US"/>
              <a:t>引用（引用与指针是否有区别？有什么区别？）</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6.7</a:t>
            </a:r>
            <a:r>
              <a:rPr lang="zh-CN" altLang="en-US">
                <a:ln w="22225">
                  <a:solidFill>
                    <a:schemeClr val="accent2"/>
                  </a:solidFill>
                  <a:prstDash val="solid"/>
                </a:ln>
                <a:solidFill>
                  <a:schemeClr val="accent2">
                    <a:lumMod val="40000"/>
                    <a:lumOff val="60000"/>
                  </a:schemeClr>
                </a:solidFill>
                <a:effectLst/>
                <a:sym typeface="+mn-ea"/>
              </a:rPr>
              <a:t>）</a:t>
            </a:r>
            <a:r>
              <a:rPr lang="zh-CN" altLang="en-US">
                <a:sym typeface="+mn-ea"/>
              </a:rPr>
              <a:t> </a:t>
            </a:r>
            <a:endParaRPr lang="zh-CN" altLang="en-US"/>
          </a:p>
        </p:txBody>
      </p:sp>
      <p:sp>
        <p:nvSpPr>
          <p:cNvPr id="5" name="文本框 4"/>
          <p:cNvSpPr txBox="1"/>
          <p:nvPr/>
        </p:nvSpPr>
        <p:spPr>
          <a:xfrm>
            <a:off x="478790" y="787400"/>
            <a:ext cx="10162540" cy="3415030"/>
          </a:xfrm>
          <a:prstGeom prst="rect">
            <a:avLst/>
          </a:prstGeom>
          <a:noFill/>
        </p:spPr>
        <p:txBody>
          <a:bodyPr wrap="square" rtlCol="0">
            <a:spAutoFit/>
          </a:bodyPr>
          <a:p>
            <a:r>
              <a:rPr lang="zh-CN" altLang="en-US"/>
              <a:t>引用和指针当然有区别。</a:t>
            </a:r>
            <a:endParaRPr lang="zh-CN" altLang="en-US"/>
          </a:p>
          <a:p>
            <a:endParaRPr lang="zh-CN" altLang="en-US"/>
          </a:p>
          <a:p>
            <a:r>
              <a:rPr lang="en-US" altLang="zh-CN"/>
              <a:t>1</a:t>
            </a:r>
            <a:r>
              <a:rPr lang="zh-CN" altLang="en-US"/>
              <a:t>、从含义上说，引用是变量的别名，不分配单独的空间；而指针则是存放一个变量的地址的变量，有单独分配的空间。</a:t>
            </a:r>
            <a:endParaRPr lang="zh-CN" altLang="en-US"/>
          </a:p>
          <a:p>
            <a:endParaRPr lang="zh-CN" altLang="en-US"/>
          </a:p>
          <a:p>
            <a:r>
              <a:rPr lang="en-US" altLang="zh-CN"/>
              <a:t>2</a:t>
            </a:r>
            <a:r>
              <a:rPr lang="zh-CN" altLang="en-US"/>
              <a:t>、引用必须在声明时进行初始化，指向同类型的变量，且不能更改其指向的对象；而指针可以在定义时不初始化，并且可以随时改变其指向的对象。</a:t>
            </a:r>
            <a:endParaRPr lang="zh-CN" altLang="en-US"/>
          </a:p>
          <a:p>
            <a:endParaRPr lang="zh-CN" altLang="en-US"/>
          </a:p>
          <a:p>
            <a:r>
              <a:rPr lang="en-US" altLang="zh-CN"/>
              <a:t>3</a:t>
            </a:r>
            <a:r>
              <a:rPr lang="zh-CN" altLang="en-US"/>
              <a:t>、作为函数的形参时，指针的本质还是单向传值，只是传递的是变量的地址，间接访问和修改变量，而引用则直接是将实参变量的地址传给形参，直接对实参操作。</a:t>
            </a:r>
            <a:endParaRPr lang="zh-CN" altLang="en-US"/>
          </a:p>
          <a:p>
            <a:endParaRPr lang="zh-CN" altLang="en-US"/>
          </a:p>
          <a:p>
            <a:r>
              <a:rPr lang="en-US" altLang="zh-CN"/>
              <a:t>4</a:t>
            </a:r>
            <a:r>
              <a:rPr lang="zh-CN" altLang="en-US"/>
              <a:t>、引用必须指向一个具体的变量，不能空引用；而指针可以允许空指针，也就是指向</a:t>
            </a:r>
            <a:r>
              <a:rPr lang="en-US" altLang="zh-CN"/>
              <a:t>NULL</a:t>
            </a:r>
            <a:r>
              <a:rPr lang="zh-CN" altLang="en-US"/>
              <a:t>。</a:t>
            </a:r>
            <a:endParaRPr lang="zh-CN" altLang="en-US"/>
          </a:p>
        </p:txBody>
      </p:sp>
      <p:pic>
        <p:nvPicPr>
          <p:cNvPr id="10" name="图片 9" descr="无背景logo"/>
          <p:cNvPicPr>
            <a:picLocks noChangeAspect="1"/>
          </p:cNvPicPr>
          <p:nvPr/>
        </p:nvPicPr>
        <p:blipFill>
          <a:blip r:embed="rId1"/>
          <a:stretch>
            <a:fillRect/>
          </a:stretch>
        </p:blipFill>
        <p:spPr>
          <a:xfrm>
            <a:off x="10072370" y="76200"/>
            <a:ext cx="1689735" cy="858520"/>
          </a:xfrm>
          <a:prstGeom prst="rect">
            <a:avLst/>
          </a:prstGeom>
        </p:spPr>
      </p:pic>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88315" y="671195"/>
            <a:ext cx="3649980" cy="5516245"/>
          </a:xfrm>
          <a:prstGeom prst="rect">
            <a:avLst/>
          </a:prstGeom>
        </p:spPr>
      </p:pic>
      <p:pic>
        <p:nvPicPr>
          <p:cNvPr id="6" name="图片 5"/>
          <p:cNvPicPr>
            <a:picLocks noChangeAspect="1"/>
          </p:cNvPicPr>
          <p:nvPr/>
        </p:nvPicPr>
        <p:blipFill>
          <a:blip r:embed="rId2"/>
          <a:stretch>
            <a:fillRect/>
          </a:stretch>
        </p:blipFill>
        <p:spPr>
          <a:xfrm>
            <a:off x="4485640" y="669925"/>
            <a:ext cx="5457825" cy="1447800"/>
          </a:xfrm>
          <a:prstGeom prst="rect">
            <a:avLst/>
          </a:prstGeom>
        </p:spPr>
      </p:pic>
      <p:pic>
        <p:nvPicPr>
          <p:cNvPr id="7" name="图片 6"/>
          <p:cNvPicPr>
            <a:picLocks noChangeAspect="1"/>
          </p:cNvPicPr>
          <p:nvPr/>
        </p:nvPicPr>
        <p:blipFill>
          <a:blip r:embed="rId3"/>
          <a:stretch>
            <a:fillRect/>
          </a:stretch>
        </p:blipFill>
        <p:spPr>
          <a:xfrm>
            <a:off x="4488180" y="2302510"/>
            <a:ext cx="5455285" cy="970280"/>
          </a:xfrm>
          <a:prstGeom prst="rect">
            <a:avLst/>
          </a:prstGeom>
        </p:spPr>
      </p:pic>
      <p:pic>
        <p:nvPicPr>
          <p:cNvPr id="8" name="图片 7"/>
          <p:cNvPicPr>
            <a:picLocks noChangeAspect="1"/>
          </p:cNvPicPr>
          <p:nvPr/>
        </p:nvPicPr>
        <p:blipFill>
          <a:blip r:embed="rId4"/>
          <a:stretch>
            <a:fillRect/>
          </a:stretch>
        </p:blipFill>
        <p:spPr>
          <a:xfrm>
            <a:off x="4488180" y="3457575"/>
            <a:ext cx="4410075" cy="1085850"/>
          </a:xfrm>
          <a:prstGeom prst="rect">
            <a:avLst/>
          </a:prstGeom>
        </p:spPr>
      </p:pic>
      <p:sp>
        <p:nvSpPr>
          <p:cNvPr id="9" name="文本框 8"/>
          <p:cNvSpPr txBox="1"/>
          <p:nvPr/>
        </p:nvSpPr>
        <p:spPr>
          <a:xfrm>
            <a:off x="488315" y="219710"/>
            <a:ext cx="8680450" cy="368300"/>
          </a:xfrm>
          <a:prstGeom prst="rect">
            <a:avLst/>
          </a:prstGeom>
          <a:noFill/>
        </p:spPr>
        <p:txBody>
          <a:bodyPr wrap="square" rtlCol="0" anchor="t">
            <a:spAutoFit/>
          </a:bodyPr>
          <a:p>
            <a:r>
              <a:rPr lang="zh-CN" altLang="en-US"/>
              <a:t>3.</a:t>
            </a:r>
            <a:r>
              <a:rPr lang="en-US" altLang="zh-CN"/>
              <a:t>8</a:t>
            </a:r>
            <a:r>
              <a:rPr lang="en-US"/>
              <a:t>.1 </a:t>
            </a:r>
            <a:r>
              <a:rPr lang="zh-CN" altLang="en-US"/>
              <a:t>指针作为形参</a:t>
            </a:r>
            <a:r>
              <a:rPr lang="zh-CN">
                <a:ln w="22225">
                  <a:solidFill>
                    <a:schemeClr val="accent2"/>
                  </a:solidFill>
                  <a:prstDash val="solid"/>
                </a:ln>
                <a:solidFill>
                  <a:schemeClr val="accent2">
                    <a:lumMod val="40000"/>
                    <a:lumOff val="60000"/>
                  </a:schemeClr>
                </a:solidFill>
                <a:effectLst/>
                <a:sym typeface="+mn-ea"/>
              </a:rPr>
              <a:t>（本例涉及知识点</a:t>
            </a:r>
            <a:r>
              <a:rPr lang="en-US" altLang="zh-CN">
                <a:ln w="22225">
                  <a:solidFill>
                    <a:schemeClr val="accent2"/>
                  </a:solidFill>
                  <a:prstDash val="solid"/>
                </a:ln>
                <a:solidFill>
                  <a:schemeClr val="accent2">
                    <a:lumMod val="40000"/>
                    <a:lumOff val="60000"/>
                  </a:schemeClr>
                </a:solidFill>
                <a:effectLst/>
                <a:sym typeface="+mn-ea"/>
              </a:rPr>
              <a:t>6.2.5</a:t>
            </a:r>
            <a:r>
              <a:rPr lang="zh-CN" altLang="en-US">
                <a:ln w="22225">
                  <a:solidFill>
                    <a:schemeClr val="accent2"/>
                  </a:solidFill>
                  <a:prstDash val="solid"/>
                </a:ln>
                <a:solidFill>
                  <a:schemeClr val="accent2">
                    <a:lumMod val="40000"/>
                    <a:lumOff val="60000"/>
                  </a:schemeClr>
                </a:solidFill>
                <a:effectLst/>
                <a:sym typeface="+mn-ea"/>
              </a:rPr>
              <a:t>）</a:t>
            </a:r>
            <a:endParaRPr lang="zh-CN" altLang="en-US"/>
          </a:p>
        </p:txBody>
      </p:sp>
      <p:cxnSp>
        <p:nvCxnSpPr>
          <p:cNvPr id="11" name="直接箭头连接符 10"/>
          <p:cNvCxnSpPr/>
          <p:nvPr/>
        </p:nvCxnSpPr>
        <p:spPr>
          <a:xfrm flipV="1">
            <a:off x="7444105" y="1139825"/>
            <a:ext cx="829310" cy="22034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V="1">
            <a:off x="7740015" y="1360170"/>
            <a:ext cx="533400" cy="49022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flipV="1">
            <a:off x="7651115" y="2799715"/>
            <a:ext cx="829310" cy="22034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7947025" y="3020060"/>
            <a:ext cx="533400" cy="49022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4485640" y="4769485"/>
            <a:ext cx="4264025" cy="645160"/>
          </a:xfrm>
          <a:prstGeom prst="rect">
            <a:avLst/>
          </a:prstGeom>
          <a:noFill/>
        </p:spPr>
        <p:txBody>
          <a:bodyPr wrap="square" rtlCol="0">
            <a:spAutoFit/>
          </a:bodyPr>
          <a:p>
            <a:r>
              <a:rPr lang="zh-CN" altLang="en-US"/>
              <a:t>可以看到，指针</a:t>
            </a:r>
            <a:r>
              <a:rPr lang="en-US" altLang="zh-CN"/>
              <a:t>p</a:t>
            </a:r>
            <a:r>
              <a:rPr lang="zh-CN" altLang="en-US"/>
              <a:t>和</a:t>
            </a:r>
            <a:r>
              <a:rPr lang="en-US" altLang="zh-CN"/>
              <a:t>q</a:t>
            </a:r>
            <a:r>
              <a:rPr lang="zh-CN" altLang="en-US"/>
              <a:t>存放的是</a:t>
            </a:r>
            <a:r>
              <a:rPr lang="en-US" altLang="zh-CN"/>
              <a:t> i </a:t>
            </a:r>
            <a:r>
              <a:rPr lang="zh-CN" altLang="en-US"/>
              <a:t>和</a:t>
            </a:r>
            <a:r>
              <a:rPr lang="en-US" altLang="zh-CN"/>
              <a:t> j </a:t>
            </a:r>
            <a:r>
              <a:rPr lang="zh-CN" altLang="en-US"/>
              <a:t>的值，通过访问</a:t>
            </a:r>
            <a:r>
              <a:rPr lang="en-US" altLang="zh-CN"/>
              <a:t>i</a:t>
            </a:r>
            <a:r>
              <a:rPr lang="zh-CN" altLang="en-US"/>
              <a:t>和</a:t>
            </a:r>
            <a:r>
              <a:rPr lang="en-US" altLang="zh-CN"/>
              <a:t>j</a:t>
            </a:r>
            <a:r>
              <a:rPr lang="zh-CN" altLang="en-US"/>
              <a:t>的地址来交换两个变量的值</a:t>
            </a:r>
            <a:endParaRPr lang="zh-CN" altLang="en-US"/>
          </a:p>
        </p:txBody>
      </p:sp>
      <p:pic>
        <p:nvPicPr>
          <p:cNvPr id="10" name="图片 9" descr="无背景logo"/>
          <p:cNvPicPr>
            <a:picLocks noChangeAspect="1"/>
          </p:cNvPicPr>
          <p:nvPr/>
        </p:nvPicPr>
        <p:blipFill>
          <a:blip r:embed="rId5"/>
          <a:stretch>
            <a:fillRect/>
          </a:stretch>
        </p:blipFill>
        <p:spPr>
          <a:xfrm>
            <a:off x="10072370" y="76200"/>
            <a:ext cx="1689735" cy="858520"/>
          </a:xfrm>
          <a:prstGeom prst="rect">
            <a:avLst/>
          </a:prstGeom>
        </p:spPr>
      </p:pic>
    </p:spTree>
    <p:custDataLst>
      <p:tags r:id="rId6"/>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488315" y="219710"/>
            <a:ext cx="8680450" cy="645160"/>
          </a:xfrm>
          <a:prstGeom prst="rect">
            <a:avLst/>
          </a:prstGeom>
          <a:noFill/>
        </p:spPr>
        <p:txBody>
          <a:bodyPr wrap="square" rtlCol="0" anchor="t">
            <a:spAutoFit/>
          </a:bodyPr>
          <a:p>
            <a:r>
              <a:rPr lang="zh-CN" altLang="en-US"/>
              <a:t>3.</a:t>
            </a:r>
            <a:r>
              <a:rPr lang="en-US" altLang="zh-CN"/>
              <a:t>8</a:t>
            </a:r>
            <a:r>
              <a:rPr lang="en-US"/>
              <a:t>.2 </a:t>
            </a:r>
            <a:r>
              <a:rPr lang="zh-CN" altLang="en-US"/>
              <a:t>引用作为形参</a:t>
            </a:r>
            <a:r>
              <a:rPr lang="zh-CN">
                <a:ln w="22225">
                  <a:solidFill>
                    <a:schemeClr val="accent2"/>
                  </a:solidFill>
                  <a:prstDash val="solid"/>
                </a:ln>
                <a:solidFill>
                  <a:schemeClr val="accent2">
                    <a:lumMod val="40000"/>
                    <a:lumOff val="60000"/>
                  </a:schemeClr>
                </a:solidFill>
                <a:effectLst/>
                <a:sym typeface="+mn-ea"/>
              </a:rPr>
              <a:t>（本例涉及知识点</a:t>
            </a:r>
            <a:r>
              <a:rPr lang="en-US" altLang="zh-CN">
                <a:ln w="22225">
                  <a:solidFill>
                    <a:schemeClr val="accent2"/>
                  </a:solidFill>
                  <a:prstDash val="solid"/>
                </a:ln>
                <a:solidFill>
                  <a:schemeClr val="accent2">
                    <a:lumMod val="40000"/>
                    <a:lumOff val="60000"/>
                  </a:schemeClr>
                </a:solidFill>
                <a:effectLst/>
                <a:sym typeface="+mn-ea"/>
              </a:rPr>
              <a:t>6.7.2</a:t>
            </a:r>
            <a:r>
              <a:rPr lang="zh-CN" altLang="en-US">
                <a:ln w="22225">
                  <a:solidFill>
                    <a:schemeClr val="accent2"/>
                  </a:solidFill>
                  <a:prstDash val="solid"/>
                </a:ln>
                <a:solidFill>
                  <a:schemeClr val="accent2">
                    <a:lumMod val="40000"/>
                    <a:lumOff val="60000"/>
                  </a:schemeClr>
                </a:solidFill>
                <a:effectLst/>
                <a:sym typeface="+mn-ea"/>
              </a:rPr>
              <a:t>）</a:t>
            </a:r>
            <a:endParaRPr lang="zh-CN" altLang="en-US"/>
          </a:p>
          <a:p>
            <a:endParaRPr lang="zh-CN" altLang="en-US"/>
          </a:p>
        </p:txBody>
      </p:sp>
      <p:pic>
        <p:nvPicPr>
          <p:cNvPr id="4" name="图片 3"/>
          <p:cNvPicPr>
            <a:picLocks noChangeAspect="1"/>
          </p:cNvPicPr>
          <p:nvPr/>
        </p:nvPicPr>
        <p:blipFill>
          <a:blip r:embed="rId1"/>
          <a:stretch>
            <a:fillRect/>
          </a:stretch>
        </p:blipFill>
        <p:spPr>
          <a:xfrm>
            <a:off x="488315" y="691515"/>
            <a:ext cx="3832225" cy="5330190"/>
          </a:xfrm>
          <a:prstGeom prst="rect">
            <a:avLst/>
          </a:prstGeom>
        </p:spPr>
      </p:pic>
      <p:pic>
        <p:nvPicPr>
          <p:cNvPr id="5" name="图片 4"/>
          <p:cNvPicPr>
            <a:picLocks noChangeAspect="1"/>
          </p:cNvPicPr>
          <p:nvPr/>
        </p:nvPicPr>
        <p:blipFill>
          <a:blip r:embed="rId2"/>
          <a:stretch>
            <a:fillRect/>
          </a:stretch>
        </p:blipFill>
        <p:spPr>
          <a:xfrm>
            <a:off x="4886325" y="691515"/>
            <a:ext cx="4714875" cy="933450"/>
          </a:xfrm>
          <a:prstGeom prst="rect">
            <a:avLst/>
          </a:prstGeom>
        </p:spPr>
      </p:pic>
      <p:pic>
        <p:nvPicPr>
          <p:cNvPr id="6" name="图片 5"/>
          <p:cNvPicPr>
            <a:picLocks noChangeAspect="1"/>
          </p:cNvPicPr>
          <p:nvPr/>
        </p:nvPicPr>
        <p:blipFill>
          <a:blip r:embed="rId3"/>
          <a:stretch>
            <a:fillRect/>
          </a:stretch>
        </p:blipFill>
        <p:spPr>
          <a:xfrm>
            <a:off x="4886325" y="1839595"/>
            <a:ext cx="4371975" cy="1095375"/>
          </a:xfrm>
          <a:prstGeom prst="rect">
            <a:avLst/>
          </a:prstGeom>
        </p:spPr>
      </p:pic>
      <p:pic>
        <p:nvPicPr>
          <p:cNvPr id="7" name="图片 6"/>
          <p:cNvPicPr>
            <a:picLocks noChangeAspect="1"/>
          </p:cNvPicPr>
          <p:nvPr/>
        </p:nvPicPr>
        <p:blipFill>
          <a:blip r:embed="rId4"/>
          <a:stretch>
            <a:fillRect/>
          </a:stretch>
        </p:blipFill>
        <p:spPr>
          <a:xfrm>
            <a:off x="4886325" y="3149600"/>
            <a:ext cx="4524375" cy="914400"/>
          </a:xfrm>
          <a:prstGeom prst="rect">
            <a:avLst/>
          </a:prstGeom>
        </p:spPr>
      </p:pic>
      <p:sp>
        <p:nvSpPr>
          <p:cNvPr id="8" name="文本框 7"/>
          <p:cNvSpPr txBox="1"/>
          <p:nvPr/>
        </p:nvSpPr>
        <p:spPr>
          <a:xfrm>
            <a:off x="4886325" y="4413250"/>
            <a:ext cx="4064000" cy="645160"/>
          </a:xfrm>
          <a:prstGeom prst="rect">
            <a:avLst/>
          </a:prstGeom>
          <a:noFill/>
        </p:spPr>
        <p:txBody>
          <a:bodyPr wrap="square" rtlCol="0">
            <a:spAutoFit/>
          </a:bodyPr>
          <a:p>
            <a:r>
              <a:rPr lang="zh-CN" altLang="en-US"/>
              <a:t>可以看到，引用</a:t>
            </a:r>
            <a:r>
              <a:rPr lang="en-US" altLang="zh-CN"/>
              <a:t>p</a:t>
            </a:r>
            <a:r>
              <a:rPr lang="zh-CN" altLang="en-US"/>
              <a:t>、</a:t>
            </a:r>
            <a:r>
              <a:rPr lang="en-US" altLang="zh-CN"/>
              <a:t>q</a:t>
            </a:r>
            <a:r>
              <a:rPr lang="zh-CN" altLang="en-US"/>
              <a:t>作为函数的形参时，直接改变其指向的变量</a:t>
            </a:r>
            <a:r>
              <a:rPr lang="en-US" altLang="zh-CN"/>
              <a:t> i </a:t>
            </a:r>
            <a:r>
              <a:rPr lang="zh-CN" altLang="en-US"/>
              <a:t>和</a:t>
            </a:r>
            <a:r>
              <a:rPr lang="en-US" altLang="zh-CN"/>
              <a:t> j </a:t>
            </a:r>
            <a:r>
              <a:rPr lang="zh-CN" altLang="en-US"/>
              <a:t>的值</a:t>
            </a:r>
            <a:endParaRPr lang="zh-CN" altLang="en-US"/>
          </a:p>
        </p:txBody>
      </p:sp>
      <p:cxnSp>
        <p:nvCxnSpPr>
          <p:cNvPr id="11" name="直接箭头连接符 10"/>
          <p:cNvCxnSpPr/>
          <p:nvPr/>
        </p:nvCxnSpPr>
        <p:spPr>
          <a:xfrm flipV="1">
            <a:off x="7799705" y="2309495"/>
            <a:ext cx="829310" cy="22034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V="1">
            <a:off x="8095615" y="2529840"/>
            <a:ext cx="533400" cy="49022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flipV="1">
            <a:off x="7880985" y="3563620"/>
            <a:ext cx="829310" cy="22034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V="1">
            <a:off x="8176895" y="3853180"/>
            <a:ext cx="533400" cy="49022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pic>
        <p:nvPicPr>
          <p:cNvPr id="10" name="图片 9" descr="无背景logo"/>
          <p:cNvPicPr>
            <a:picLocks noChangeAspect="1"/>
          </p:cNvPicPr>
          <p:nvPr/>
        </p:nvPicPr>
        <p:blipFill>
          <a:blip r:embed="rId5"/>
          <a:stretch>
            <a:fillRect/>
          </a:stretch>
        </p:blipFill>
        <p:spPr>
          <a:xfrm>
            <a:off x="10072370" y="76200"/>
            <a:ext cx="1689735" cy="858520"/>
          </a:xfrm>
          <a:prstGeom prst="rect">
            <a:avLst/>
          </a:prstGeom>
        </p:spPr>
      </p:pic>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44830" y="237490"/>
            <a:ext cx="6096000" cy="368300"/>
          </a:xfrm>
          <a:prstGeom prst="rect">
            <a:avLst/>
          </a:prstGeom>
          <a:noFill/>
        </p:spPr>
        <p:txBody>
          <a:bodyPr wrap="square" rtlCol="0" anchor="t">
            <a:spAutoFit/>
          </a:bodyPr>
          <a:p>
            <a:r>
              <a:rPr lang="zh-CN" altLang="en-US"/>
              <a:t>3.9 使用指针时出现了越界访问</a:t>
            </a:r>
            <a:r>
              <a:rPr lang="zh-CN">
                <a:ln w="22225">
                  <a:solidFill>
                    <a:schemeClr val="accent2"/>
                  </a:solidFill>
                  <a:prstDash val="solid"/>
                </a:ln>
                <a:solidFill>
                  <a:schemeClr val="accent2">
                    <a:lumMod val="40000"/>
                    <a:lumOff val="60000"/>
                  </a:schemeClr>
                </a:solidFill>
                <a:effectLst/>
                <a:sym typeface="+mn-ea"/>
              </a:rPr>
              <a:t>（本题涉及知识点</a:t>
            </a:r>
            <a:r>
              <a:rPr lang="en-US" altLang="zh-CN">
                <a:ln w="22225">
                  <a:solidFill>
                    <a:schemeClr val="accent2"/>
                  </a:solidFill>
                  <a:prstDash val="solid"/>
                </a:ln>
                <a:solidFill>
                  <a:schemeClr val="accent2">
                    <a:lumMod val="40000"/>
                    <a:lumOff val="60000"/>
                  </a:schemeClr>
                </a:solidFill>
                <a:effectLst/>
                <a:sym typeface="+mn-ea"/>
              </a:rPr>
              <a:t>6.3</a:t>
            </a:r>
            <a:r>
              <a:rPr lang="zh-CN" altLang="en-US">
                <a:ln w="22225">
                  <a:solidFill>
                    <a:schemeClr val="accent2"/>
                  </a:solidFill>
                  <a:prstDash val="solid"/>
                </a:ln>
                <a:solidFill>
                  <a:schemeClr val="accent2">
                    <a:lumMod val="40000"/>
                    <a:lumOff val="60000"/>
                  </a:schemeClr>
                </a:solidFill>
                <a:effectLst/>
                <a:sym typeface="+mn-ea"/>
              </a:rPr>
              <a:t>）</a:t>
            </a:r>
            <a:endParaRPr lang="zh-CN" altLang="en-US"/>
          </a:p>
        </p:txBody>
      </p:sp>
      <p:pic>
        <p:nvPicPr>
          <p:cNvPr id="5" name="图片 4"/>
          <p:cNvPicPr>
            <a:picLocks noChangeAspect="1"/>
          </p:cNvPicPr>
          <p:nvPr/>
        </p:nvPicPr>
        <p:blipFill>
          <a:blip r:embed="rId1"/>
          <a:stretch>
            <a:fillRect/>
          </a:stretch>
        </p:blipFill>
        <p:spPr>
          <a:xfrm>
            <a:off x="544830" y="605790"/>
            <a:ext cx="3728720" cy="3831590"/>
          </a:xfrm>
          <a:prstGeom prst="rect">
            <a:avLst/>
          </a:prstGeom>
        </p:spPr>
      </p:pic>
      <p:pic>
        <p:nvPicPr>
          <p:cNvPr id="6" name="图片 5"/>
          <p:cNvPicPr>
            <a:picLocks noChangeAspect="1"/>
          </p:cNvPicPr>
          <p:nvPr/>
        </p:nvPicPr>
        <p:blipFill>
          <a:blip r:embed="rId2"/>
          <a:stretch>
            <a:fillRect/>
          </a:stretch>
        </p:blipFill>
        <p:spPr>
          <a:xfrm>
            <a:off x="544830" y="4568825"/>
            <a:ext cx="5019040" cy="814705"/>
          </a:xfrm>
          <a:prstGeom prst="rect">
            <a:avLst/>
          </a:prstGeom>
        </p:spPr>
      </p:pic>
      <p:pic>
        <p:nvPicPr>
          <p:cNvPr id="7" name="图片 6"/>
          <p:cNvPicPr>
            <a:picLocks noChangeAspect="1"/>
          </p:cNvPicPr>
          <p:nvPr/>
        </p:nvPicPr>
        <p:blipFill>
          <a:blip r:embed="rId3"/>
          <a:stretch>
            <a:fillRect/>
          </a:stretch>
        </p:blipFill>
        <p:spPr>
          <a:xfrm>
            <a:off x="5959475" y="4568825"/>
            <a:ext cx="5142230" cy="963930"/>
          </a:xfrm>
          <a:prstGeom prst="rect">
            <a:avLst/>
          </a:prstGeom>
        </p:spPr>
      </p:pic>
      <p:pic>
        <p:nvPicPr>
          <p:cNvPr id="8" name="图片 7"/>
          <p:cNvPicPr>
            <a:picLocks noChangeAspect="1"/>
          </p:cNvPicPr>
          <p:nvPr/>
        </p:nvPicPr>
        <p:blipFill>
          <a:blip r:embed="rId4"/>
          <a:stretch>
            <a:fillRect/>
          </a:stretch>
        </p:blipFill>
        <p:spPr>
          <a:xfrm>
            <a:off x="5959475" y="508000"/>
            <a:ext cx="5330190" cy="3929380"/>
          </a:xfrm>
          <a:prstGeom prst="rect">
            <a:avLst/>
          </a:prstGeom>
        </p:spPr>
      </p:pic>
      <p:sp>
        <p:nvSpPr>
          <p:cNvPr id="9" name="文本框 8"/>
          <p:cNvSpPr txBox="1"/>
          <p:nvPr/>
        </p:nvSpPr>
        <p:spPr>
          <a:xfrm>
            <a:off x="544830" y="5694680"/>
            <a:ext cx="10610850" cy="645160"/>
          </a:xfrm>
          <a:prstGeom prst="rect">
            <a:avLst/>
          </a:prstGeom>
          <a:noFill/>
        </p:spPr>
        <p:txBody>
          <a:bodyPr wrap="square" rtlCol="0">
            <a:spAutoFit/>
          </a:bodyPr>
          <a:p>
            <a:r>
              <a:rPr lang="zh-CN" altLang="en-US"/>
              <a:t>可以看到，此时指针</a:t>
            </a:r>
            <a:r>
              <a:rPr lang="en-US" altLang="zh-CN"/>
              <a:t>p</a:t>
            </a:r>
            <a:r>
              <a:rPr lang="zh-CN" altLang="en-US"/>
              <a:t>已经越界，此时输出</a:t>
            </a:r>
            <a:r>
              <a:rPr lang="en-US" altLang="zh-CN"/>
              <a:t>p</a:t>
            </a:r>
            <a:r>
              <a:rPr lang="zh-CN" altLang="en-US"/>
              <a:t>指向的地址中存的值为随机值，属于非法读（不会报错）；而后尝试修改</a:t>
            </a:r>
            <a:r>
              <a:rPr lang="en-US" altLang="zh-CN"/>
              <a:t>p</a:t>
            </a:r>
            <a:r>
              <a:rPr lang="zh-CN" altLang="en-US"/>
              <a:t>指向地址中的值，属于非法写，此时出现异常。</a:t>
            </a:r>
            <a:endParaRPr lang="zh-CN" altLang="en-US"/>
          </a:p>
        </p:txBody>
      </p:sp>
      <p:cxnSp>
        <p:nvCxnSpPr>
          <p:cNvPr id="13" name="直接箭头连接符 12"/>
          <p:cNvCxnSpPr/>
          <p:nvPr/>
        </p:nvCxnSpPr>
        <p:spPr>
          <a:xfrm flipV="1">
            <a:off x="2800985" y="4758055"/>
            <a:ext cx="829310" cy="22034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2" name="直接箭头连接符 1"/>
          <p:cNvCxnSpPr/>
          <p:nvPr/>
        </p:nvCxnSpPr>
        <p:spPr>
          <a:xfrm flipV="1">
            <a:off x="5504815" y="3318510"/>
            <a:ext cx="829310" cy="220345"/>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flipH="1">
            <a:off x="2236470" y="2968625"/>
            <a:ext cx="1844675" cy="267970"/>
          </a:xfrm>
          <a:prstGeom prst="straightConnector1">
            <a:avLst/>
          </a:prstGeom>
          <a:ln w="31750">
            <a:solidFill>
              <a:schemeClr val="accent6"/>
            </a:solidFill>
            <a:tailEnd type="triangle" w="lg" len="lg"/>
          </a:ln>
        </p:spPr>
        <p:style>
          <a:lnRef idx="2">
            <a:schemeClr val="accent1"/>
          </a:lnRef>
          <a:fillRef idx="0">
            <a:srgbClr val="FFFFFF"/>
          </a:fillRef>
          <a:effectRef idx="0">
            <a:srgbClr val="FFFFFF"/>
          </a:effectRef>
          <a:fontRef idx="minor">
            <a:schemeClr val="tx1"/>
          </a:fontRef>
        </p:style>
      </p:cxnSp>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resource_record_key" val="{&quot;13&quot;:[4364974]}"/>
  <p:tag name="commondata" val="eyJoZGlkIjoiYzUwMDE4ODJhNGJhYzNiZjlkYmQyMTBiNTljMTUzMjc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3388</Words>
  <Application>WPS 演示</Application>
  <PresentationFormat>宽屏</PresentationFormat>
  <Paragraphs>139</Paragraphs>
  <Slides>19</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宋体</vt:lpstr>
      <vt:lpstr>Wingdings</vt:lpstr>
      <vt:lpstr>Wingdings</vt:lpstr>
      <vt:lpstr>华文新魏</vt:lpstr>
      <vt:lpstr>微软雅黑</vt:lpstr>
      <vt:lpstr>Arial Unicode MS</vt:lpstr>
      <vt:lpstr>Calibri</vt:lpstr>
      <vt:lpstr>WPS</vt:lpstr>
      <vt:lpstr>VS2022调试工具                            使用报告</vt:lpstr>
      <vt:lpstr>1.VS2022 下调试工具的基本使用方法</vt:lpstr>
      <vt:lpstr>PowerPoint 演示文稿</vt:lpstr>
      <vt:lpstr>PowerPoint 演示文稿</vt:lpstr>
      <vt:lpstr>PowerPoint 演示文稿</vt:lpstr>
      <vt:lpstr>PowerPoint 演示文稿</vt:lpstr>
      <vt:lpstr>2.掌握用 VS2022 的调试工具查看各种生存期/作用域变量的方法</vt:lpstr>
      <vt:lpstr>PowerPoint 演示文稿</vt:lpstr>
      <vt:lpstr>PowerPoint 演示文稿</vt:lpstr>
      <vt:lpstr>PowerPoint 演示文稿</vt:lpstr>
      <vt:lpstr>PowerPoint 演示文稿</vt:lpstr>
      <vt:lpstr>3.掌握用 VS2022 的调试工具查看各种不同类型变量的方法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染墨相思</cp:lastModifiedBy>
  <cp:revision>159</cp:revision>
  <dcterms:created xsi:type="dcterms:W3CDTF">2019-06-19T02:08:00Z</dcterms:created>
  <dcterms:modified xsi:type="dcterms:W3CDTF">2024-05-26T03:05:02Z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2714BC2042754196817988410A36725A</vt:lpwstr>
  </property>
</Properties>
</file>