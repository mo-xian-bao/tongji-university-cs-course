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838" r:id="rId3"/>
    <p:sldId id="1279" r:id="rId4"/>
    <p:sldId id="1021" r:id="rId6"/>
    <p:sldId id="1237" r:id="rId7"/>
    <p:sldId id="990" r:id="rId8"/>
    <p:sldId id="992" r:id="rId9"/>
    <p:sldId id="993" r:id="rId10"/>
    <p:sldId id="994" r:id="rId11"/>
    <p:sldId id="995" r:id="rId12"/>
    <p:sldId id="996" r:id="rId13"/>
    <p:sldId id="997" r:id="rId14"/>
    <p:sldId id="998" r:id="rId15"/>
    <p:sldId id="999" r:id="rId16"/>
    <p:sldId id="1000" r:id="rId17"/>
    <p:sldId id="1001" r:id="rId18"/>
    <p:sldId id="1002" r:id="rId19"/>
    <p:sldId id="1003" r:id="rId20"/>
    <p:sldId id="1004" r:id="rId21"/>
    <p:sldId id="1005" r:id="rId22"/>
    <p:sldId id="1006" r:id="rId23"/>
    <p:sldId id="1007" r:id="rId24"/>
    <p:sldId id="1008" r:id="rId25"/>
    <p:sldId id="886" r:id="rId26"/>
    <p:sldId id="1009" r:id="rId27"/>
    <p:sldId id="1010" r:id="rId28"/>
    <p:sldId id="1011" r:id="rId29"/>
    <p:sldId id="1012" r:id="rId30"/>
    <p:sldId id="1013" r:id="rId31"/>
    <p:sldId id="1014" r:id="rId32"/>
    <p:sldId id="1015" r:id="rId33"/>
    <p:sldId id="1016" r:id="rId34"/>
    <p:sldId id="1017" r:id="rId35"/>
    <p:sldId id="1020" r:id="rId36"/>
    <p:sldId id="1019" r:id="rId37"/>
    <p:sldId id="1280" r:id="rId38"/>
    <p:sldId id="1281" r:id="rId39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280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3" Type="http://schemas.openxmlformats.org/officeDocument/2006/relationships/tags" Target="tags/tag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、部分内容的填写，如果能确定是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不确定值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随机值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的，可直接填写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**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</a:t>
            </a:r>
            <a:r>
              <a:rPr lang="en-US" altLang="zh-CN" sz="1600" b="1" dirty="0">
                <a:latin typeface="+mn-ea"/>
              </a:rPr>
              <a:t>"</a:t>
            </a:r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99018" y="1400426"/>
            <a:ext cx="8424936" cy="2820662"/>
            <a:chOff x="323528" y="3933056"/>
            <a:chExt cx="8424936" cy="282066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3528" y="3933056"/>
              <a:ext cx="6333333" cy="26380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6948264" y="3933056"/>
              <a:ext cx="1800200" cy="28206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" name="直接连接符 4"/>
            <p:cNvCxnSpPr>
              <a:stCxn id="4" idx="1"/>
              <a:endCxn id="4" idx="3"/>
            </p:cNvCxnSpPr>
            <p:nvPr/>
          </p:nvCxnSpPr>
          <p:spPr bwMode="auto">
            <a:xfrm>
              <a:off x="6948264" y="5343387"/>
              <a:ext cx="18002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箭头: 右 5"/>
            <p:cNvSpPr/>
            <p:nvPr/>
          </p:nvSpPr>
          <p:spPr bwMode="auto">
            <a:xfrm>
              <a:off x="5796136" y="5157192"/>
              <a:ext cx="1152128" cy="389869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方式输入单个字符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 bwMode="auto">
          <a:xfrm>
            <a:off x="4147112" y="3331558"/>
            <a:ext cx="1513135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数组下标表示前有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规定后面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必须是变量的地址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方式输入单个字符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65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66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AutoShape 4"/>
          <p:cNvSpPr/>
          <p:nvPr/>
        </p:nvSpPr>
        <p:spPr bwMode="auto">
          <a:xfrm>
            <a:off x="4164696" y="3591154"/>
            <a:ext cx="1513135" cy="449134"/>
          </a:xfrm>
          <a:prstGeom prst="borderCallout1">
            <a:avLst>
              <a:gd name="adj1" fmla="val 5884"/>
              <a:gd name="adj2" fmla="val -2356"/>
              <a:gd name="adj3" fmla="val 240742"/>
              <a:gd name="adj4" fmla="val -95721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&amp;a[0]);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endParaRPr kumimoji="1" 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65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66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a[0];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817880"/>
            <a:ext cx="4407535" cy="5672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并回车，表现如何？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等待继续输入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多按几次回车，表现如何？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等待继续输入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最后再输入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并回车，则输出是：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67</a:t>
            </a:r>
            <a:endParaRPr kumimoji="1" 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65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66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3/4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得到结论：当多次逐个输入时，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200" b="1" u="sng" dirty="0">
                <a:solidFill>
                  <a:schemeClr val="accent2"/>
                </a:solidFill>
                <a:latin typeface="+mn-ea"/>
              </a:rPr>
              <a:t>将其作为一个字符处理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u="sng" dirty="0">
                <a:solidFill>
                  <a:schemeClr val="accent2"/>
                </a:solidFill>
                <a:latin typeface="+mn-ea"/>
              </a:rPr>
              <a:t>将其当做输入的间隔处理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</a:rPr>
              <a:t>______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065" y="1238250"/>
            <a:ext cx="3096260" cy="52520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72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101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111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0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不在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尾零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21730" y="1837055"/>
            <a:ext cx="3249295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前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n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个（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n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为输入的字符数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+1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）为输入的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字符的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ASCII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码值和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（尾零），后面的输出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为随机值不变。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输出前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个字符的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ASCII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码值，并有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Debug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error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的弹窗警告。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u="sng" dirty="0">
                <a:solidFill>
                  <a:schemeClr val="accent2"/>
                </a:solidFill>
                <a:latin typeface="+mn-ea"/>
              </a:rPr>
              <a:t>____</a:t>
            </a:r>
            <a:r>
              <a:rPr kumimoji="1" lang="zh-CN" altLang="en-US" sz="1200" b="1" u="sng" dirty="0">
                <a:solidFill>
                  <a:schemeClr val="accent2"/>
                </a:solidFill>
                <a:latin typeface="+mn-ea"/>
              </a:rPr>
              <a:t>小于</a:t>
            </a:r>
            <a:r>
              <a:rPr kumimoji="1" lang="en-US" altLang="zh-CN" sz="1200" b="1" u="sng" dirty="0">
                <a:solidFill>
                  <a:schemeClr val="accent2"/>
                </a:solidFill>
                <a:latin typeface="+mn-ea"/>
              </a:rPr>
              <a:t>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065" y="1485900"/>
            <a:ext cx="3096260" cy="50044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72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101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111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不在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尾零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065" y="1837055"/>
            <a:ext cx="3245485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前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个（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为输入的字符数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+1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）为输入的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字符的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ASCII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码值和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（尾零），后面的输出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为随机值不变。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输出前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10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个字符的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ASCII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码值，并有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Debug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error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的弹窗警告。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u="sng" dirty="0">
                <a:solidFill>
                  <a:schemeClr val="accent2"/>
                </a:solidFill>
                <a:latin typeface="+mn-ea"/>
              </a:rPr>
              <a:t>___</a:t>
            </a:r>
            <a:r>
              <a:rPr kumimoji="1" lang="zh-CN" altLang="en-US" sz="1200" b="1" u="sng" dirty="0">
                <a:solidFill>
                  <a:schemeClr val="accent2"/>
                </a:solidFill>
                <a:latin typeface="+mn-ea"/>
              </a:rPr>
              <a:t>小于</a:t>
            </a:r>
            <a:r>
              <a:rPr kumimoji="1" lang="en-US" altLang="zh-CN" sz="1200" b="1" u="sng" dirty="0">
                <a:solidFill>
                  <a:schemeClr val="accent2"/>
                </a:solidFill>
                <a:latin typeface="+mn-ea"/>
              </a:rPr>
              <a:t>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方式输出单个字符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长度缺省为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("%c*\n", a[5]);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a[3]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是为了确认只输出了一个字符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8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n*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AutoShape 4"/>
          <p:cNvSpPr/>
          <p:nvPr/>
        </p:nvSpPr>
        <p:spPr bwMode="auto">
          <a:xfrm>
            <a:off x="3506094" y="3001961"/>
            <a:ext cx="1944216" cy="504056"/>
          </a:xfrm>
          <a:prstGeom prst="borderCallout1">
            <a:avLst>
              <a:gd name="adj1" fmla="val 11671"/>
              <a:gd name="adj2" fmla="val -2356"/>
              <a:gd name="adj3" fmla="val 211514"/>
              <a:gd name="adj4" fmla="val -5246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[0]-[6]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，尾零不输出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("%c,",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&lt;&lt; '*';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S,t,u,d,e,n,t,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S*t*u*d*e*n*t*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5970" y="3206001"/>
            <a:ext cx="2160240" cy="2068030"/>
            <a:chOff x="6804248" y="4381155"/>
            <a:chExt cx="2160240" cy="2068030"/>
          </a:xfrm>
        </p:grpSpPr>
        <p:sp>
          <p:nvSpPr>
            <p:cNvPr id="13" name="AutoShape 4"/>
            <p:cNvSpPr/>
            <p:nvPr/>
          </p:nvSpPr>
          <p:spPr bwMode="auto">
            <a:xfrm>
              <a:off x="7524328" y="4381155"/>
              <a:ext cx="1440160" cy="646088"/>
            </a:xfrm>
            <a:prstGeom prst="borderCallout1">
              <a:avLst>
                <a:gd name="adj1" fmla="val 11671"/>
                <a:gd name="adj2" fmla="val -2356"/>
                <a:gd name="adj3" fmla="val 187764"/>
                <a:gd name="adj4" fmla="val -101718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%c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方式每个字符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" name="直接连接符 13"/>
            <p:cNvCxnSpPr>
              <a:stCxn id="13" idx="2"/>
            </p:cNvCxnSpPr>
            <p:nvPr/>
          </p:nvCxnSpPr>
          <p:spPr bwMode="auto">
            <a:xfrm flipH="1">
              <a:off x="6804248" y="4704199"/>
              <a:ext cx="720080" cy="17449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问：尾零输出了吗？如何证明？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输出了，可以输出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sizeof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），结果为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8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，尾零占了一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个字节。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60313" y="2679333"/>
            <a:ext cx="2353602" cy="1042135"/>
            <a:chOff x="1763688" y="2566885"/>
            <a:chExt cx="2353602" cy="1042135"/>
          </a:xfrm>
        </p:grpSpPr>
        <p:sp>
          <p:nvSpPr>
            <p:cNvPr id="10" name="AutoShape 4"/>
            <p:cNvSpPr/>
            <p:nvPr/>
          </p:nvSpPr>
          <p:spPr bwMode="auto">
            <a:xfrm>
              <a:off x="2821146" y="2566885"/>
              <a:ext cx="1296144" cy="502073"/>
            </a:xfrm>
            <a:prstGeom prst="borderCallout1">
              <a:avLst>
                <a:gd name="adj1" fmla="val 5884"/>
                <a:gd name="adj2" fmla="val -2356"/>
                <a:gd name="adj3" fmla="val 265985"/>
                <a:gd name="adj4" fmla="val -13588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跟数组名</a:t>
              </a:r>
              <a:endPara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不是数组元素名</a:t>
              </a:r>
              <a:endPara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" name="直接连接符 10"/>
            <p:cNvCxnSpPr>
              <a:stCxn id="10" idx="2"/>
            </p:cNvCxnSpPr>
            <p:nvPr/>
          </p:nvCxnSpPr>
          <p:spPr bwMode="auto">
            <a:xfrm flipH="1">
              <a:off x="1763688" y="2817922"/>
              <a:ext cx="1057458" cy="791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a[]="Student\0china";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("%s*\n",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a[12]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7055"/>
            <a:ext cx="3361690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14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：从本例的结果可知，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数组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14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最后是否还有隐含的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？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有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中的字符串的长度是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8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：字符串形式输出字符数组，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如果数组中包含显式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'\0'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则输出到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_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  <a:sym typeface="+mn-ea"/>
              </a:rPr>
              <a:t>显式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  <a:sym typeface="+mn-ea"/>
              </a:rPr>
              <a:t>'\0'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注意：不能以字符串方式初始化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a[5]={'C','h','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n','a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'};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6420"/>
            <a:ext cx="3453130" cy="4653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China烫烫烫汤攖歕黶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China烫烫烫汤攖歕黶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答：作为字符串形式初始化的字符数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组必须要以尾零结尾，否则输出时会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继续读取其它内存直到遇见尾零，就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会输出乱字符。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：如果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方式换成下面形式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for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&lt;5;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还会看到乱字符吗？为什么？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不会，这种方式是单独输出每个字符，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不会有彭建尾零才终止的规则。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不初始化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7055"/>
            <a:ext cx="3046095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烫烫烫烫烫烫?Yd瘌?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烫烫烫烫烫烫?Yd瘌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答：不初始化，字符数组中为随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机值，不包含尾零，在以字符串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形式输出时会持续读取其它内存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直到遇见尾零，因此会输出乱字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符。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：乱字符出现几行是正常的？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一行？多行？或者都正常？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答：都正常。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结论：不能字符串形式输出不含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_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</a:rPr>
              <a:t>尾零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的字符数组，否则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可能会得到不正确的结果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：从任一元素开始以字符串形式输出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38066" y="2545210"/>
            <a:ext cx="3091200" cy="1656184"/>
            <a:chOff x="3143673" y="2852936"/>
            <a:chExt cx="3091200" cy="1656184"/>
          </a:xfrm>
        </p:grpSpPr>
        <p:sp>
          <p:nvSpPr>
            <p:cNvPr id="6" name="AutoShape 4"/>
            <p:cNvSpPr/>
            <p:nvPr/>
          </p:nvSpPr>
          <p:spPr bwMode="auto">
            <a:xfrm>
              <a:off x="4742391" y="2852936"/>
              <a:ext cx="648072" cy="286050"/>
            </a:xfrm>
            <a:prstGeom prst="borderCallout1">
              <a:avLst>
                <a:gd name="adj1" fmla="val 5884"/>
                <a:gd name="adj2" fmla="val -2356"/>
                <a:gd name="adj3" fmla="val 415312"/>
                <a:gd name="adj4" fmla="val -249976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形式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AutoShape 4"/>
            <p:cNvSpPr/>
            <p:nvPr/>
          </p:nvSpPr>
          <p:spPr bwMode="auto">
            <a:xfrm>
              <a:off x="4772051" y="3442501"/>
              <a:ext cx="1462822" cy="346540"/>
            </a:xfrm>
            <a:prstGeom prst="borderCallout1">
              <a:avLst>
                <a:gd name="adj1" fmla="val 5884"/>
                <a:gd name="adj2" fmla="val -2356"/>
                <a:gd name="adj3" fmla="val 155055"/>
                <a:gd name="adj4" fmla="val -6674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数组元素名形式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 flipH="1">
              <a:off x="3143673" y="3559514"/>
              <a:ext cx="1617999" cy="9496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&amp;a[3]);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&amp;a[3]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&amp;a[3]);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</a:rPr>
              <a:t>72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</a:rPr>
              <a:t>101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</a:rPr>
              <a:t>111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AutoShape 4"/>
          <p:cNvSpPr/>
          <p:nvPr/>
        </p:nvSpPr>
        <p:spPr bwMode="auto">
          <a:xfrm>
            <a:off x="4091019" y="3750087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&amp;a[3];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065" y="1195070"/>
            <a:ext cx="3217545" cy="52952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72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101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108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111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0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16-18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的结果，得出的结论是：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方式从任一元素开始以字符串形式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输入输出时，表示形式都是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u="sng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字符串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572273" y="3662164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1-3.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完成下表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给出了第一行的答案供参考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</a:t>
            </a:r>
            <a:endParaRPr lang="zh-CN" altLang="en-US" sz="1600" b="1" dirty="0">
              <a:latin typeface="+mn-ea"/>
            </a:endParaRPr>
          </a:p>
        </p:txBody>
      </p:sp>
      <p:graphicFrame>
        <p:nvGraphicFramePr>
          <p:cNvPr id="3" name="Group 54"/>
          <p:cNvGraphicFramePr>
            <a:graphicFrameLocks noGrp="1"/>
          </p:cNvGraphicFramePr>
          <p:nvPr/>
        </p:nvGraphicFramePr>
        <p:xfrm>
          <a:off x="287061" y="1611217"/>
          <a:ext cx="6985000" cy="2381250"/>
        </p:xfrm>
        <a:graphic>
          <a:graphicData uri="http://schemas.openxmlformats.org/drawingml/2006/table">
            <a:tbl>
              <a:tblPr/>
              <a:tblGrid>
                <a:gridCol w="2088232"/>
                <a:gridCol w="2520280"/>
                <a:gridCol w="2376264"/>
              </a:tblGrid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C++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输入字符串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scanf</a:t>
                      </a:r>
                      <a:r>
                        <a:rPr kumimoji="1"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("%s", </a:t>
                      </a: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数组名</a:t>
                      </a:r>
                      <a:r>
                        <a:rPr kumimoji="1"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printf</a:t>
                      </a: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("%c", 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元素名</a:t>
                      </a: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 &lt;&lt; </a:t>
                      </a:r>
                      <a:r>
                        <a:rPr kumimoji="1" lang="zh-CN" altLang="en-US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元素名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输出字符串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printf</a:t>
                      </a:r>
                      <a:r>
                        <a:rPr kumimoji="1"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("%s", </a:t>
                      </a:r>
                      <a:r>
                        <a:rPr kumimoji="1"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数组名</a:t>
                      </a:r>
                      <a:r>
                        <a:rPr kumimoji="1"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任一元素开始输入串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scanf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("%s", &amp;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元素名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cin &gt;&gt; &amp;</a:t>
                      </a:r>
                      <a:r>
                        <a:rPr kumimoji="1" lang="zh-CN" altLang="en-US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元素名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2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任一元素开始输出串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printf</a:t>
                      </a: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("%s", &amp;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元素名</a:t>
                      </a: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cout &lt;&lt; </a:t>
                      </a:r>
                      <a:r>
                        <a:rPr kumimoji="1" lang="en-US" altLang="zh-CN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&amp;</a:t>
                      </a:r>
                      <a:r>
                        <a:rPr kumimoji="1" lang="zh-CN" altLang="en-US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元素名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方式多个字符串的输入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s%s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a, 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("%s-%s\n", a, 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则输出为：abc-def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则输出为：abc-def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____B_____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方式多个字符串的输入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'-'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____B_____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19-20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可知：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从键盘上输入的字符串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不能包含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VS2022 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Dev C++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无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函数的原型定义为：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字符数组名，最大长度，</a:t>
            </a:r>
            <a:r>
              <a:rPr lang="en-US" altLang="zh-CN" sz="1600" b="1" dirty="0" err="1">
                <a:latin typeface="+mn-ea"/>
              </a:rPr>
              <a:t>stdin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但与</a:t>
            </a:r>
            <a:r>
              <a:rPr lang="en-US" altLang="zh-CN" sz="1600" b="1" dirty="0">
                <a:latin typeface="+mn-ea"/>
              </a:rPr>
              <a:t>gets/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的表现有不同，请自行观察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★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通过某些高级设置方式还是可以输入含空格的字符串的，本课程不再讨论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输入含空格的字符串</a:t>
            </a:r>
            <a:r>
              <a:rPr lang="en-US" altLang="zh-CN" sz="1600" b="1" dirty="0">
                <a:latin typeface="+mn-ea"/>
              </a:rPr>
              <a:t> 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7055"/>
            <a:ext cx="3096260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则输出为：abc def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Debug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错误弹窗。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Debug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错误弹窗。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答：数组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，最多包含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个字符和一个尾零。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答：数组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长度为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，最多包含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19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个字符和一个尾零。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DevC</a:t>
            </a:r>
            <a:r>
              <a:rPr lang="en-US" altLang="zh-CN" sz="1600" b="1" dirty="0">
                <a:latin typeface="+mn-ea"/>
              </a:rPr>
              <a:t>++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250950"/>
            <a:ext cx="3096260" cy="52393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 def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 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继续等待输入。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输出第一行改变为第二次输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入字符中的一部分，第二行为输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入的所有字符。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答：数组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长度为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，最多包含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个字符和一个尾零。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答：数组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长度为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，最多包含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19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个字符和一个尾零。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不同编译器从键盘输入含空格字符串的方法不同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Dev C++</a:t>
            </a:r>
            <a:r>
              <a:rPr lang="zh-CN" altLang="en-US" sz="1600" b="1" dirty="0">
                <a:latin typeface="+mn-ea"/>
              </a:rPr>
              <a:t>均可用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(a,10,stdin);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(b,20,stdin);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804545"/>
            <a:ext cx="3522345" cy="56857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 def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97 98 99 32 100 101 102 10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120 121 122 10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21-22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的输出区别在哪里？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答：前两行输出中间多了一行空行。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：后面两段红色代码的目的是什么？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答：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打印出字符数组 a 和 b 中每个字符的 ASCII 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码值，以便查看输入的内容以及可能存在的空字符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（\0）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第一行：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码值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第二行：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第一行：前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码值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第二行：后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码值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第一行：前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码值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第二行：</a:t>
            </a:r>
            <a:r>
              <a:rPr kumimoji="1" 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到第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码值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：二维字符数组以双下标形式输出单个字符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单下标形式输出字符串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单个字符输出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("a[0][2]=%c\n", a[0][2]);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"a[1][20]=" &lt;&lt; a[1][20]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n",a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[0]);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7055"/>
            <a:ext cx="3392170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：二维字符数组以双下标形式输入单个字符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单字符输入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("%c\n", &amp;a[0][2]);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格式符为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%c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a[1][20];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("a[0]=%s\n", a[0]);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7055"/>
            <a:ext cx="3385820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26</a:t>
            </a:r>
            <a:r>
              <a:rPr lang="zh-CN" altLang="en-US" sz="1600" b="1" dirty="0">
                <a:latin typeface="+mn-ea"/>
              </a:rPr>
              <a:t>：二维字符数组以单下标形式输入字符串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("%s", a[1]);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//a[1]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是一维数组名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172835" y="755015"/>
            <a:ext cx="4109720" cy="58877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、输入≤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29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a[0]=ABCDEFGHIJKLMNOPQRSTUVWXYZ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a[1]=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输入的字符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a[2]=0123456789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30-59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a[0]=ABCDEFGHIJKLMNOPQRSTUVWXYZ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a[1]=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输入的</a:t>
            </a:r>
            <a:r>
              <a:rPr kumimoji="1" lang="zh-CN" sz="1400" b="1" dirty="0">
                <a:solidFill>
                  <a:schemeClr val="accent2"/>
                </a:solidFill>
                <a:latin typeface="+mn-ea"/>
              </a:rPr>
              <a:t>所有字符</a:t>
            </a:r>
            <a:endParaRPr kumimoji="1" lang="en-US" altLang="zh-CN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a[2]=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输入的第</a:t>
            </a: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31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个及之后的字符</a:t>
            </a:r>
            <a:endParaRPr kumimoji="1" lang="en-US" altLang="zh-CN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60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个以上字符，输出为：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  <a:sym typeface="+mn-ea"/>
              </a:rPr>
              <a:t>a[0]=ABCDEFGHIJKLMNOPQRSTUVWXYZ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chemeClr val="accent2"/>
                </a:solidFill>
                <a:latin typeface="+mn-ea"/>
                <a:sym typeface="+mn-ea"/>
              </a:rPr>
              <a:t>a[1]=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  <a:sym typeface="+mn-ea"/>
              </a:rPr>
              <a:t>输入的</a:t>
            </a:r>
            <a:r>
              <a:rPr kumimoji="1" lang="zh-CN" sz="1400" b="1" dirty="0">
                <a:solidFill>
                  <a:schemeClr val="accent2"/>
                </a:solidFill>
                <a:latin typeface="+mn-ea"/>
                <a:sym typeface="+mn-ea"/>
              </a:rPr>
              <a:t>所有字符</a:t>
            </a:r>
            <a:endParaRPr kumimoji="1" lang="en-US" altLang="zh-CN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chemeClr val="accent2"/>
                </a:solidFill>
                <a:latin typeface="+mn-ea"/>
                <a:sym typeface="+mn-ea"/>
              </a:rPr>
              <a:t>a[2]=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  <a:sym typeface="+mn-ea"/>
              </a:rPr>
              <a:t>输入的第</a:t>
            </a:r>
            <a:r>
              <a:rPr kumimoji="1" lang="en-US" altLang="zh-CN" sz="1400" b="1" dirty="0">
                <a:solidFill>
                  <a:schemeClr val="accent2"/>
                </a:solidFill>
                <a:latin typeface="+mn-ea"/>
                <a:sym typeface="+mn-ea"/>
              </a:rPr>
              <a:t>31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  <a:sym typeface="+mn-ea"/>
              </a:rPr>
              <a:t>个及之后的字符</a:t>
            </a:r>
            <a:endParaRPr kumimoji="1" lang="zh-CN" altLang="en-US" sz="14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  <a:latin typeface="+mn-ea"/>
                <a:sym typeface="+mn-ea"/>
              </a:rPr>
              <a:t>并有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  <a:sym typeface="+mn-ea"/>
              </a:rPr>
              <a:t>Debug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  <a:sym typeface="+mn-ea"/>
              </a:rPr>
              <a:t>错误弹窗。</a:t>
            </a:r>
            <a:endParaRPr kumimoji="1" lang="en-US" altLang="zh-CN" sz="14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将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换为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 &gt;&gt; a[1];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再重复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，观察结果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和</a:t>
            </a: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scanf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的情况一致。</a:t>
            </a:r>
            <a:endParaRPr kumimoji="1" lang="en-US" altLang="zh-CN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30~59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个字符为什么不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出现错误？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中是什么？</a:t>
            </a:r>
            <a:endParaRPr kumimoji="1" lang="zh-CN" altLang="en-US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当输入的字符数量超过</a:t>
            </a: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a[1]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的大小，会将多</a:t>
            </a:r>
            <a:endParaRPr kumimoji="1" lang="zh-CN" altLang="en-US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出的字符继续写入邻近的内存空间（</a:t>
            </a: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a[2]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的</a:t>
            </a:r>
            <a:endParaRPr kumimoji="1" lang="zh-CN" altLang="en-US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内存空间），这不会理解为错误。</a:t>
            </a:r>
            <a:r>
              <a:rPr kumimoji="1" lang="en-US" altLang="zh-CN" sz="1400" b="1" dirty="0">
                <a:solidFill>
                  <a:schemeClr val="accent2"/>
                </a:solidFill>
                <a:latin typeface="+mn-ea"/>
              </a:rPr>
              <a:t>a[2]</a:t>
            </a: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中为</a:t>
            </a:r>
            <a:endParaRPr kumimoji="1" lang="zh-CN" altLang="en-US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多出的字符。</a:t>
            </a:r>
            <a:endParaRPr kumimoji="1"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4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400" b="1" dirty="0">
                <a:solidFill>
                  <a:srgbClr val="000000"/>
                </a:solidFill>
                <a:latin typeface="+mn-ea"/>
              </a:rPr>
              <a:t>：简述你是怎么理解二维数组越界的？</a:t>
            </a:r>
            <a:endParaRPr kumimoji="1" lang="zh-CN" altLang="en-US" sz="14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二维数组的越界是访问或修改超出数组内存</a:t>
            </a:r>
            <a:endParaRPr kumimoji="1" lang="zh-CN" altLang="en-US" sz="14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accent2"/>
                </a:solidFill>
                <a:latin typeface="+mn-ea"/>
              </a:rPr>
              <a:t>范围的数据。</a:t>
            </a:r>
            <a:endParaRPr kumimoji="1" lang="zh-CN" altLang="en-US" sz="14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27</a:t>
            </a:r>
            <a:r>
              <a:rPr lang="zh-CN" altLang="en-US" sz="1600" b="1" dirty="0">
                <a:latin typeface="+mn-ea"/>
              </a:rPr>
              <a:t>：二维字符数组从任一位置开始输出字符串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a[3][30]={"ABCDEFGHIJKLMNOPQRSTUVWXYZ",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",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"0123456789" };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组）单字符输出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("a[0][2]=%c\n", a[0][2]);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(&amp;+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("a[0][2]=%s\n", &amp;a[0][2]); </a:t>
            </a:r>
            <a:endParaRPr kumimoji="1" lang="zh-CN" altLang="zh-CN" sz="1200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&amp;a[1][20]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("a[0]=%s\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n",a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[0]);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"a[2]=" &lt;&lt; a[2]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064895"/>
            <a:ext cx="4577715" cy="54254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：同样双下标形式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怎样输出单个字符？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答：数组名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双下标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怎样输出字符串？</a:t>
            </a:r>
            <a:endParaRPr kumimoji="1" lang="zh-CN" altLang="en-US" sz="16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答：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&amp;+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数组名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双下标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：如何修改第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组的输出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必须保持双下标形式不变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使输出结果与第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组一致？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printf("a[0][0]=%s\n", &amp;a[0][0]);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"a[2][0]=" &lt;&lt; &amp;a[2][0] &lt;&lt; endl;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28</a:t>
            </a:r>
            <a:r>
              <a:rPr lang="zh-CN" altLang="en-US" sz="1600" b="1" dirty="0">
                <a:latin typeface="+mn-ea"/>
              </a:rPr>
              <a:t>：二维字符数组从任一位置开始输入字符串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&amp;a[1][3]);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//&amp;+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双下标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699770"/>
            <a:ext cx="4208145" cy="59429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abc+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输入字符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27-56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abc+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输入字符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输入的第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个及之后的字符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个以上字符，输出为：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abc+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输入字符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输入的第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个及之后的字符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并有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Debug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错误弹窗。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换为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&amp;a[1][3];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再重复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，观察结果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情况一致。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27~56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个字符为什么不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出现错误？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中是什么？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当输入的字符数量超过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a[1]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的大小，会将多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出的字符继续写入邻近的内存空间（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a[2]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内存空间），这不会理解为错误。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a[2]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中为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多出的字符（第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28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个及之后的字符）。</a:t>
            </a:r>
            <a:endParaRPr kumimoji="1" lang="en-US" altLang="zh-CN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：如果想不影响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本例中是≤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差别在哪？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中直接用一维数组名，会访问整个大小为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的数组；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本例中取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中第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个元素的地址，会访问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第四个元素及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之后的内存空间，大小为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</a:t>
            </a:r>
            <a:r>
              <a:rPr lang="zh-CN" altLang="en-US" sz="1600" b="1" dirty="0">
                <a:latin typeface="+mn-ea"/>
              </a:rPr>
              <a:t>尾零的输出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29</a:t>
            </a:r>
            <a:r>
              <a:rPr lang="zh-CN" altLang="en-US" sz="1600" b="1" dirty="0">
                <a:latin typeface="+mn-ea"/>
              </a:rPr>
              <a:t>：在不同的控制台及字体设置下尾零输出的差异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2" y="1836812"/>
            <a:ext cx="6570785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a[10] = { 'c','h','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','</a:t>
            </a:r>
            <a:r>
              <a:rPr lang="en-US" altLang="zh-CN" sz="1600" b="1" dirty="0" err="1">
                <a:latin typeface="+mn-ea"/>
              </a:rPr>
              <a:t>n','a</a:t>
            </a:r>
            <a:r>
              <a:rPr lang="en-US" altLang="zh-CN" sz="1600" b="1" dirty="0">
                <a:latin typeface="+mn-ea"/>
              </a:rPr>
              <a:t>' };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         1         2         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for (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 = 0;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 &lt; 10;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++)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int(a[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])</a:t>
            </a:r>
            <a:r>
              <a:rPr lang="en-US" altLang="zh-CN" sz="1600" b="1" dirty="0">
                <a:latin typeface="+mn-ea"/>
              </a:rPr>
              <a:t> &lt;&lt; '$';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确认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a[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]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是否输出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加行尾识别符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72070" y="1231900"/>
            <a:ext cx="3783965" cy="52584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28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0         1         2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012345678901234567890123456789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c$h$i$n$a$$$$$$#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、旧版控制台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28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0         1         2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012345678901234567890123456789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c$h$i$n$a$$$$$$#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、旧版控制台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0         1         2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012345678901234567890123456789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c$h$i$n$a$$$$$$#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、不要以字符形式输出</a:t>
            </a:r>
            <a:r>
              <a:rPr kumimoji="1" lang="en-US" altLang="zh-CN" sz="1600" b="1" dirty="0">
                <a:latin typeface="+mn-ea"/>
              </a:rPr>
              <a:t>\0</a:t>
            </a:r>
            <a:r>
              <a:rPr kumimoji="1" lang="zh-CN" altLang="en-US" sz="1600" b="1" dirty="0">
                <a:latin typeface="+mn-ea"/>
              </a:rPr>
              <a:t>，因为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看到的内容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  <a:sym typeface="+mn-ea"/>
              </a:rPr>
              <a:t>不可信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可信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不可信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、如果想准确得知某字符的值，转为</a:t>
            </a:r>
            <a:endParaRPr kumimoji="1" lang="en-US" altLang="zh-CN" sz="1600" b="1" dirty="0"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en-US" altLang="zh-CN" sz="1600" b="1" u="sng" dirty="0">
                <a:latin typeface="+mn-ea"/>
              </a:rPr>
              <a:t>_int_</a:t>
            </a:r>
            <a:r>
              <a:rPr kumimoji="1" lang="zh-CN" altLang="en-US" sz="1600" b="1" dirty="0">
                <a:latin typeface="+mn-ea"/>
              </a:rPr>
              <a:t>类型输出即可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左侧改一处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</a:t>
            </a:r>
            <a:r>
              <a:rPr lang="zh-CN" altLang="en-US" sz="1600" b="1" dirty="0">
                <a:latin typeface="+mn-ea"/>
              </a:rPr>
              <a:t>尾零的输出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30</a:t>
            </a:r>
            <a:r>
              <a:rPr lang="zh-CN" altLang="en-US" sz="1600" b="1" dirty="0">
                <a:latin typeface="+mn-ea"/>
              </a:rPr>
              <a:t>：在不同的控制台及字体设置下其它非图形字符输出的差异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（去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码表中查表示扑克牌四种花色的字符，用测试程序打印含这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个字符的字符串，然后贴图）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2" y="1836812"/>
            <a:ext cx="6570785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/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char a, b, c, d;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a = 3;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b = 4;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c = 5;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d = 6;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cout &lt;&lt; a &lt;&lt; b &lt;&lt; c &lt;&lt; d &lt;&lt; endl;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72177" y="1836812"/>
            <a:ext cx="3784202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、某版控制台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某字体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某点阵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此处找到一种可显示的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点阵字体</a:t>
            </a:r>
            <a:r>
              <a:rPr kumimoji="1" lang="en-US" altLang="zh-CN" sz="1600" b="1" dirty="0">
                <a:latin typeface="+mn-ea"/>
              </a:rPr>
              <a:t>12x16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、某版控制台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某字体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某点阵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此处随便找到一种不显示的即可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16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上页的结论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也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适用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适用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不适用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于其它非图形字符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8590" y="2917825"/>
            <a:ext cx="3505200" cy="76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590" y="4603750"/>
            <a:ext cx="3438525" cy="7905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17550</Words>
  <Application>WPS 演示</Application>
  <PresentationFormat>宽屏</PresentationFormat>
  <Paragraphs>1676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39</cp:revision>
  <dcterms:created xsi:type="dcterms:W3CDTF">2020-08-13T13:39:00Z</dcterms:created>
  <dcterms:modified xsi:type="dcterms:W3CDTF">2024-05-02T04:35:15Z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EFF7CC8AA10244DF9B66D7101DB116BC_12</vt:lpwstr>
  </property>
  <property fmtid="{D5CDD505-2E9C-101B-9397-08002B2CF9AE}" pid="3" name="KSOProductBuildVer">
    <vt:lpwstr>2052-12.1.0.16729</vt:lpwstr>
  </property>
</Properties>
</file>