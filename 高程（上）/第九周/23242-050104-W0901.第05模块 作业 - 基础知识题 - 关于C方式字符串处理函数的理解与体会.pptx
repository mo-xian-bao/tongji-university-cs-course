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838" r:id="rId3"/>
    <p:sldId id="1237" r:id="rId4"/>
    <p:sldId id="990" r:id="rId6"/>
    <p:sldId id="992" r:id="rId7"/>
    <p:sldId id="993" r:id="rId8"/>
    <p:sldId id="1238" r:id="rId9"/>
    <p:sldId id="1244" r:id="rId10"/>
    <p:sldId id="1245" r:id="rId11"/>
    <p:sldId id="1239" r:id="rId12"/>
    <p:sldId id="1246" r:id="rId13"/>
    <p:sldId id="1247" r:id="rId14"/>
    <p:sldId id="1240" r:id="rId15"/>
    <p:sldId id="1248" r:id="rId16"/>
    <p:sldId id="1249" r:id="rId17"/>
    <p:sldId id="1250" r:id="rId18"/>
    <p:sldId id="1241" r:id="rId19"/>
    <p:sldId id="1251" r:id="rId20"/>
    <p:sldId id="1252" r:id="rId21"/>
    <p:sldId id="1253" r:id="rId22"/>
    <p:sldId id="1254" r:id="rId23"/>
    <p:sldId id="1242" r:id="rId24"/>
    <p:sldId id="1255" r:id="rId25"/>
    <p:sldId id="1256" r:id="rId26"/>
    <p:sldId id="1257" r:id="rId27"/>
    <p:sldId id="1243" r:id="rId28"/>
    <p:sldId id="1258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280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、完成本文档中所有的题目并写出分析、运行结果，体会字符数组输入输出时不同用法的差异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9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总体知识：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常用字符串处理函数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①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 (const char s[]);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② </a:t>
            </a:r>
            <a:r>
              <a:rPr lang="en-US" altLang="zh-CN" sz="1600" b="1" dirty="0" err="1">
                <a:latin typeface="+mn-ea"/>
              </a:rPr>
              <a:t>strcat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③ </a:t>
            </a:r>
            <a:r>
              <a:rPr lang="en-US" altLang="zh-CN" sz="1600" b="1" dirty="0" err="1">
                <a:latin typeface="+mn-ea"/>
              </a:rPr>
              <a:t>strncat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④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⑤ 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⑥ </a:t>
            </a:r>
            <a:r>
              <a:rPr lang="en-US" altLang="zh-CN" sz="1600" b="1" dirty="0" err="1">
                <a:latin typeface="+mn-ea"/>
              </a:rPr>
              <a:t>strcmp</a:t>
            </a:r>
            <a:r>
              <a:rPr lang="en-US" altLang="zh-CN" sz="1600" b="1" dirty="0">
                <a:latin typeface="+mn-ea"/>
              </a:rPr>
              <a:t> (const char s1[], const char s2[]);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⑦ </a:t>
            </a:r>
            <a:r>
              <a:rPr lang="en-US" altLang="zh-CN" sz="1600" b="1" dirty="0" err="1">
                <a:latin typeface="+mn-ea"/>
              </a:rPr>
              <a:t>strncmp</a:t>
            </a:r>
            <a:r>
              <a:rPr lang="en-US" altLang="zh-CN" sz="1600" b="1" dirty="0">
                <a:latin typeface="+mn-ea"/>
              </a:rPr>
              <a:t>(const char s1[], const char s2[],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更多的字符串处理函数通过作业完成并理解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教材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参考资料中，很多形式是 </a:t>
            </a:r>
            <a:r>
              <a:rPr lang="en-US" altLang="zh-CN" sz="1600" b="1" dirty="0">
                <a:latin typeface="+mn-ea"/>
              </a:rPr>
              <a:t>const char *s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暂时忽略</a:t>
            </a:r>
            <a:r>
              <a:rPr lang="zh-CN" altLang="en-US" sz="1600" b="1" dirty="0">
                <a:latin typeface="+mn-ea"/>
              </a:rPr>
              <a:t>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先不要考虑这些函数的返回值，待学习指针后再进一步理解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能：求字符串的长度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输入参数：存放字符串的字符数组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返 回 值：整型值表示的长度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注意事项：返回第一个</a:t>
            </a:r>
            <a:r>
              <a:rPr lang="en-US" altLang="zh-CN" sz="1600" b="1" dirty="0">
                <a:latin typeface="+mn-ea"/>
              </a:rPr>
              <a:t>'\0'</a:t>
            </a:r>
            <a:r>
              <a:rPr lang="zh-CN" altLang="en-US" sz="1600" b="1" dirty="0">
                <a:latin typeface="+mn-ea"/>
              </a:rPr>
              <a:t>前的字符数量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不含</a:t>
            </a:r>
            <a:r>
              <a:rPr lang="en-US" altLang="zh-CN" sz="1600" b="1" dirty="0">
                <a:latin typeface="+mn-ea"/>
              </a:rPr>
              <a:t>'\0'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：字符数组与字符串长度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490718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str1[]="Hello";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str2[]="china\0Hello\0\0";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读操作，不需要加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_CRT_SECURE_NO_WARNINGS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、求数组长度时，无论是否有显式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，最后一定有</a:t>
            </a:r>
            <a:r>
              <a:rPr lang="en-US" altLang="zh-CN" sz="16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u="sng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隐式</a:t>
            </a:r>
            <a:r>
              <a:rPr lang="en-US" altLang="zh-CN" sz="16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、当含有多个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时，字符串长度计算到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lang="en-US" altLang="zh-CN" sz="16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____</a:t>
            </a:r>
            <a:r>
              <a:rPr lang="zh-CN" altLang="en-US" sz="16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第一个</a:t>
            </a:r>
            <a:r>
              <a:rPr lang="en-US" altLang="zh-CN" sz="16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为止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642811" y="1263316"/>
            <a:ext cx="368887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755" y="1666240"/>
            <a:ext cx="2657475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含尾零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两串总长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：字符串连接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str1[30]="Tongji ";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不能缺省，至少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!!!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数组的默认长度是</a:t>
            </a:r>
            <a:r>
              <a:rPr lang="en-US" altLang="zh-CN" sz="16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__11___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、结合前面字符数组输入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输出的作业，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复制时</a:t>
            </a:r>
            <a:r>
              <a:rPr lang="en-US" altLang="zh-CN" sz="16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lang="zh-CN" altLang="en-US" sz="16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16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（包含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不包含）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src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942455" y="1263015"/>
            <a:ext cx="3749675" cy="3958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6430" y="1724025"/>
            <a:ext cx="3514725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：字符串连接（错误）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str1[]="Tongji 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u="sng" dirty="0">
                <a:latin typeface="+mn-ea"/>
              </a:rPr>
              <a:t>__18___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u="sng" dirty="0">
                <a:latin typeface="+mn-ea"/>
              </a:rPr>
              <a:t>___strlen(dst)+strlen(src)+1___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942455" y="1263015"/>
            <a:ext cx="3606800" cy="3958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2153653" y="2680138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9145" y="2825115"/>
            <a:ext cx="3239135" cy="2206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030" y="1778000"/>
            <a:ext cx="3270250" cy="955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个字符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长度，则只连接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原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dst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+n+1)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str1[30]="Tongji 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str2[30]="Tongji 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str3[]="University";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(str2, str3, 300)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330" y="5221605"/>
            <a:ext cx="9109075" cy="12680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表示的字符串的长度时，连接规则是</a:t>
            </a:r>
            <a:r>
              <a:rPr lang="en-US" altLang="zh-CN" sz="1600" b="1" u="sng" dirty="0">
                <a:latin typeface="+mn-ea"/>
              </a:rPr>
              <a:t>____</a:t>
            </a:r>
            <a:r>
              <a:rPr lang="zh-CN" altLang="en-US" sz="1600" b="1" u="sng" dirty="0">
                <a:latin typeface="+mn-ea"/>
                <a:sym typeface="+mn-ea"/>
              </a:rPr>
              <a:t>将整个字符串</a:t>
            </a:r>
            <a:r>
              <a:rPr lang="en-US" altLang="zh-CN" sz="1600" b="1" u="sng" dirty="0" err="1">
                <a:latin typeface="+mn-ea"/>
                <a:sym typeface="+mn-ea"/>
              </a:rPr>
              <a:t>src</a:t>
            </a:r>
            <a:r>
              <a:rPr lang="zh-CN" altLang="en-US" sz="1600" b="1" u="sng" dirty="0">
                <a:latin typeface="+mn-ea"/>
                <a:sym typeface="+mn-ea"/>
              </a:rPr>
              <a:t>连接到字符串</a:t>
            </a:r>
            <a:r>
              <a:rPr lang="en-US" altLang="zh-CN" sz="1600" b="1" u="sng" dirty="0" err="1">
                <a:latin typeface="+mn-ea"/>
                <a:sym typeface="+mn-ea"/>
              </a:rPr>
              <a:t>dst</a:t>
            </a:r>
            <a:r>
              <a:rPr lang="zh-CN" altLang="en-US" sz="1600" b="1" u="sng" dirty="0">
                <a:latin typeface="+mn-ea"/>
                <a:sym typeface="+mn-ea"/>
              </a:rPr>
              <a:t>的尾部</a:t>
            </a:r>
            <a:r>
              <a:rPr lang="en-US" altLang="zh-CN" sz="1600" b="1" u="sng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210" y="1748155"/>
            <a:ext cx="2914650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个字符（错误）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str1[]="Tongji 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str3[]="University";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缺省长度为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u="sng" dirty="0">
                <a:latin typeface="+mn-ea"/>
              </a:rPr>
              <a:t>___11__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u="sng" dirty="0">
                <a:latin typeface="+mn-ea"/>
              </a:rPr>
              <a:t>____strlen(dst)+min(n,strlen(src))+1___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475" y="1263015"/>
            <a:ext cx="3966845" cy="3958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2165685" y="2764359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7310" y="1691640"/>
            <a:ext cx="3812540" cy="3101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：字符串拷贝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330" y="5221605"/>
            <a:ext cx="9275445" cy="12680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、字符串复制时，复制到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u="sng" dirty="0">
                <a:latin typeface="+mn-ea"/>
              </a:rPr>
              <a:t>__\0__</a:t>
            </a:r>
            <a:r>
              <a:rPr lang="zh-CN" altLang="en-US" sz="1600" b="1" dirty="0">
                <a:latin typeface="+mn-ea"/>
              </a:rPr>
              <a:t>为止，</a:t>
            </a:r>
            <a:r>
              <a:rPr lang="en-US" altLang="zh-CN" sz="1600" b="1" u="sng" dirty="0">
                <a:latin typeface="+mn-ea"/>
              </a:rPr>
              <a:t>___</a:t>
            </a:r>
            <a:r>
              <a:rPr lang="zh-CN" altLang="en-US" sz="1600" b="1" u="sng" dirty="0">
                <a:latin typeface="+mn-ea"/>
              </a:rPr>
              <a:t>包含</a:t>
            </a:r>
            <a:r>
              <a:rPr lang="en-US" altLang="zh-CN" sz="1600" b="1" u="sng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（包含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不包含）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，之后的字符不再复制。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、在运行截图中用箭头指出证明结论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的位置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475" y="1263015"/>
            <a:ext cx="3670300" cy="3958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7790" y="1647190"/>
            <a:ext cx="3352800" cy="1028700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V="1">
            <a:off x="7968615" y="2524760"/>
            <a:ext cx="857885" cy="18059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：字符串拷贝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b[]="hello\0china";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330" y="5221605"/>
            <a:ext cx="9523095" cy="12680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数组的默认大小时</a:t>
            </a:r>
            <a:r>
              <a:rPr lang="en-US" altLang="zh-CN" sz="1600" b="1" u="sng" dirty="0">
                <a:latin typeface="+mn-ea"/>
              </a:rPr>
              <a:t>_____8______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数组的默认大小是</a:t>
            </a:r>
            <a:r>
              <a:rPr lang="en-US" altLang="zh-CN" sz="1600" b="1" u="sng" dirty="0">
                <a:latin typeface="+mn-ea"/>
              </a:rPr>
              <a:t>______12_____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数组的大小超过了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数组的大小，为什么运行不出错？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字符串复制时复制到第一个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\0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为止（包含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\0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、本例中，复制到</a:t>
            </a:r>
            <a:r>
              <a:rPr lang="en-US" altLang="zh-CN" sz="1600" b="1" dirty="0">
                <a:latin typeface="+mn-ea"/>
              </a:rPr>
              <a:t>b[_</a:t>
            </a:r>
            <a:r>
              <a:rPr lang="en-US" altLang="zh-CN" sz="1600" b="1" u="sng" dirty="0">
                <a:latin typeface="+mn-ea"/>
              </a:rPr>
              <a:t>5</a:t>
            </a:r>
            <a:r>
              <a:rPr lang="en-US" altLang="zh-CN" sz="1600" b="1" dirty="0">
                <a:latin typeface="+mn-ea"/>
              </a:rPr>
              <a:t>_]</a:t>
            </a:r>
            <a:r>
              <a:rPr lang="zh-CN" altLang="en-US" sz="1600" b="1" dirty="0">
                <a:latin typeface="+mn-ea"/>
              </a:rPr>
              <a:t>就停止复制了？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475" y="1263015"/>
            <a:ext cx="3515995" cy="3958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5245" y="1642745"/>
            <a:ext cx="3276600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：字符串拷贝（有错）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a[11]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="student", b[]="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hellochina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、本程序为什么会错？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b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数组的大小超过了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数组的大小。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、仅改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的定义使正确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如何做？（直接在上面的源程序中用红色写出修改内容即可）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u="sng" dirty="0">
                <a:latin typeface="+mn-ea"/>
              </a:rPr>
              <a:t>______strlen(src)+1______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475" y="1263015"/>
            <a:ext cx="4022725" cy="3958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6360" y="1687830"/>
            <a:ext cx="3757295" cy="32588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只复制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(min(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,n)+1)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 b, 2);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本程序证明了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zh-CN" altLang="en-US" sz="1600" b="1" dirty="0">
                <a:latin typeface="+mn-ea"/>
              </a:rPr>
              <a:t>复制时，</a:t>
            </a:r>
            <a:r>
              <a:rPr lang="en-US" altLang="zh-CN" sz="1600" b="1" u="sng" dirty="0">
                <a:latin typeface="+mn-ea"/>
              </a:rPr>
              <a:t>____</a:t>
            </a:r>
            <a:r>
              <a:rPr lang="zh-CN" altLang="en-US" sz="1600" b="1" u="sng" dirty="0">
                <a:latin typeface="+mn-ea"/>
              </a:rPr>
              <a:t>不包含</a:t>
            </a:r>
            <a:r>
              <a:rPr lang="en-US" altLang="zh-CN" sz="1600" b="1" u="sng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（包含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不包含）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475" y="1263015"/>
            <a:ext cx="3263265" cy="3958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3185" y="1849755"/>
            <a:ext cx="3112135" cy="8832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 &amp;b[2], 2);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如果想从</a:t>
            </a:r>
            <a:r>
              <a:rPr lang="en-US" altLang="zh-CN" sz="1600" b="1" dirty="0">
                <a:latin typeface="+mn-ea"/>
              </a:rPr>
              <a:t>b[2]</a:t>
            </a:r>
            <a:r>
              <a:rPr lang="zh-CN" altLang="en-US" sz="1600" b="1" dirty="0">
                <a:latin typeface="+mn-ea"/>
              </a:rPr>
              <a:t>开始复制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个字符到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中，如何做？（即期望输出：</a:t>
            </a:r>
            <a:r>
              <a:rPr lang="en-US" altLang="zh-CN" sz="1600" b="1" dirty="0" err="1">
                <a:latin typeface="+mn-ea"/>
              </a:rPr>
              <a:t>lludent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（直接在源程序中修改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位置即可）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475" y="1263015"/>
            <a:ext cx="3244215" cy="3958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2545" y="1800225"/>
            <a:ext cx="3096895" cy="9315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  <a:endParaRPr lang="en-US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12;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12;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330" y="5221605"/>
            <a:ext cx="8885555" cy="12680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观察两个</a:t>
            </a:r>
            <a:r>
              <a:rPr lang="en-US" altLang="zh-CN" sz="1600" b="1" dirty="0">
                <a:latin typeface="+mn-ea"/>
              </a:rPr>
              <a:t>for</a:t>
            </a:r>
            <a:r>
              <a:rPr lang="zh-CN" altLang="en-US" sz="1600" b="1" dirty="0">
                <a:latin typeface="+mn-ea"/>
              </a:rPr>
              <a:t>循环的后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个数字的输出，能得到什么结论？（提示：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长度是到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为止吗</a:t>
            </a:r>
            <a:r>
              <a:rPr lang="en-US" altLang="zh-CN" sz="1600" b="1" dirty="0">
                <a:latin typeface="+mn-ea"/>
              </a:rPr>
              <a:t>?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当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strncpy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超过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长度，不会到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\0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为止，而是继续复制导致出错。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860925" y="954405"/>
            <a:ext cx="4759960" cy="426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Dev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6030" y="1263015"/>
            <a:ext cx="2393950" cy="21424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030" y="3747135"/>
            <a:ext cx="436372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  <a:endParaRPr lang="en-US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20;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20;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超过了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的长度，则</a:t>
            </a:r>
            <a:r>
              <a:rPr lang="en-US" altLang="zh-CN" sz="1600" b="1" u="sng" dirty="0">
                <a:latin typeface="+mn-ea"/>
              </a:rPr>
              <a:t>____</a:t>
            </a:r>
            <a:r>
              <a:rPr lang="zh-CN" altLang="en-US" sz="1600" b="1" u="sng" dirty="0">
                <a:solidFill>
                  <a:schemeClr val="tx1"/>
                </a:solidFill>
                <a:latin typeface="+mn-ea"/>
                <a:sym typeface="+mn-ea"/>
              </a:rPr>
              <a:t>继续复制导致出错</a:t>
            </a:r>
            <a:r>
              <a:rPr lang="en-US" altLang="zh-CN" sz="1600" b="1" u="sng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en-US" altLang="zh-CN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860925" y="911225"/>
            <a:ext cx="5169535" cy="43103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Dev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2995863" y="1792705"/>
            <a:ext cx="1636295" cy="67376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同上例，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数组越界到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20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2530" y="1205865"/>
            <a:ext cx="3232150" cy="22231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470" y="3680460"/>
            <a:ext cx="5067935" cy="14611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的大小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：字符串比较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   char str1[] = "house", str2[]  = "horse";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str3[] = "abcd",  str4[]  = "abcde";</a:t>
            </a:r>
            <a:endParaRPr kumimoji="1" lang="de-DE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str5[]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str6[]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str7[]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str8[]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str9[]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str10[]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\0efgh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(str3, str4)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(str5, str6)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(str7, str8)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(str9, str10)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问题：两个字符串相等的条件是？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长度相等且对应位置字符的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ASCII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码值相等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85925"/>
            <a:ext cx="2138045" cy="21501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：字符串比较（另一种形式）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str1[]="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str2[]="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str2);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(k==0)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=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else if (k&lt;0)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&lt;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else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&gt;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问题：给出两个字符串比较的执行过程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两串首字符对应比较，若不相等则返回非零，若相等则继续比较下一个字符，重复到两串对应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字符均为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’\0’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则结束比较，返回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（相等）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4450" y="1724660"/>
            <a:ext cx="2797810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：字符串比较（编译不错，但运行结果与期望不符合）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str1[]="house", str2[]="horse";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 = str1 &lt; str2;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这个程序的运行结果是表示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str2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u="sng" dirty="0">
                <a:latin typeface="+mn-ea"/>
              </a:rPr>
              <a:t>_____</a:t>
            </a:r>
            <a:r>
              <a:rPr lang="zh-CN" altLang="en-US" sz="1600" b="1" u="sng" dirty="0">
                <a:latin typeface="+mn-ea"/>
              </a:rPr>
              <a:t>地址大小</a:t>
            </a:r>
            <a:r>
              <a:rPr lang="en-US" altLang="zh-CN" sz="1600" b="1" u="sng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进行比较。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str1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的内容互换，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str1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都置为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"house",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750" y="1692910"/>
            <a:ext cx="2465705" cy="5537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750" y="3048000"/>
            <a:ext cx="2457450" cy="5886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700" y="4438015"/>
            <a:ext cx="2477135" cy="5416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个字符的大小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要比较的长度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：字符串比较前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str1[] = "abcd",  str2[]  = "abcde";</a:t>
            </a:r>
            <a:endParaRPr kumimoji="1" lang="de-DE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3)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4)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5)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100)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小于短串长度时，则比较到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u="sng" dirty="0">
                <a:latin typeface="+mn-ea"/>
              </a:rPr>
              <a:t>____</a:t>
            </a:r>
            <a:r>
              <a:rPr lang="zh-CN" altLang="en-US" sz="1600" b="1" u="sng" dirty="0">
                <a:latin typeface="+mn-ea"/>
              </a:rPr>
              <a:t>第</a:t>
            </a:r>
            <a:r>
              <a:rPr lang="en-US" altLang="zh-CN" sz="1600" b="1" u="sng" dirty="0">
                <a:latin typeface="+mn-ea"/>
              </a:rPr>
              <a:t>n</a:t>
            </a:r>
            <a:r>
              <a:rPr lang="zh-CN" altLang="en-US" sz="1600" b="1" u="sng" dirty="0">
                <a:latin typeface="+mn-ea"/>
              </a:rPr>
              <a:t>个字符为止</a:t>
            </a:r>
            <a:r>
              <a:rPr lang="en-US" altLang="zh-CN" sz="1600" b="1" u="sng" dirty="0">
                <a:latin typeface="+mn-ea"/>
              </a:rPr>
              <a:t>_____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zh-CN" altLang="en-US" sz="1600" b="1" dirty="0">
                <a:latin typeface="+mn-ea"/>
              </a:rPr>
              <a:t>。</a:t>
            </a:r>
            <a:endParaRPr lang="zh-CN" altLang="en-US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大于等于短串长度时，则比较到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u="sng" dirty="0">
                <a:latin typeface="+mn-ea"/>
              </a:rPr>
              <a:t>_</a:t>
            </a:r>
            <a:r>
              <a:rPr lang="zh-CN" altLang="en-US" sz="1600" b="1" u="sng" dirty="0">
                <a:latin typeface="+mn-ea"/>
              </a:rPr>
              <a:t>短串最后一个字符（包含结尾的</a:t>
            </a:r>
            <a:r>
              <a:rPr lang="en-US" altLang="zh-CN" sz="1600" b="1" u="sng" dirty="0">
                <a:latin typeface="+mn-ea"/>
              </a:rPr>
              <a:t>\0</a:t>
            </a:r>
            <a:r>
              <a:rPr lang="zh-CN" altLang="en-US" sz="1600" b="1" u="sng" dirty="0">
                <a:latin typeface="+mn-ea"/>
              </a:rPr>
              <a:t>）</a:t>
            </a:r>
            <a:r>
              <a:rPr lang="en-US" altLang="zh-CN" sz="1600" b="1" u="sng" dirty="0">
                <a:latin typeface="+mn-ea"/>
              </a:rPr>
              <a:t>_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为止。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超过长串的长度，则比较到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__</a:t>
            </a:r>
            <a:r>
              <a:rPr lang="zh-CN" altLang="en-US" sz="1600" b="1" u="sng" dirty="0">
                <a:latin typeface="+mn-ea"/>
              </a:rPr>
              <a:t>长串最后一个字符为止</a:t>
            </a:r>
            <a:r>
              <a:rPr lang="zh-CN" altLang="en-US" sz="1600" b="1" u="sng" dirty="0">
                <a:latin typeface="+mn-ea"/>
                <a:sym typeface="+mn-ea"/>
              </a:rPr>
              <a:t>（包含结尾的</a:t>
            </a:r>
            <a:r>
              <a:rPr lang="en-US" altLang="zh-CN" sz="1600" b="1" u="sng" dirty="0">
                <a:latin typeface="+mn-ea"/>
                <a:sym typeface="+mn-ea"/>
              </a:rPr>
              <a:t>\0</a:t>
            </a:r>
            <a:r>
              <a:rPr lang="zh-CN" altLang="en-US" sz="1600" b="1" u="sng" dirty="0">
                <a:latin typeface="+mn-ea"/>
                <a:sym typeface="+mn-ea"/>
              </a:rPr>
              <a:t>）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为止。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也置为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abcd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0960" y="1701165"/>
            <a:ext cx="2849880" cy="13347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545" y="3691255"/>
            <a:ext cx="2133600" cy="14287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10523</Words>
  <Application>WPS 演示</Application>
  <PresentationFormat>宽屏</PresentationFormat>
  <Paragraphs>810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51</cp:revision>
  <dcterms:created xsi:type="dcterms:W3CDTF">2020-08-13T13:39:00Z</dcterms:created>
  <dcterms:modified xsi:type="dcterms:W3CDTF">2024-05-04T07:25:33Z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3F7691060CF04AAFA8DEE0A481724AF1_12</vt:lpwstr>
  </property>
  <property fmtid="{D5CDD505-2E9C-101B-9397-08002B2CF9AE}" pid="3" name="KSOProductBuildVer">
    <vt:lpwstr>2052-12.1.0.16729</vt:lpwstr>
  </property>
</Properties>
</file>