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1236" r:id="rId3"/>
    <p:sldId id="1279" r:id="rId5"/>
    <p:sldId id="1237" r:id="rId6"/>
    <p:sldId id="1230" r:id="rId7"/>
    <p:sldId id="492" r:id="rId8"/>
    <p:sldId id="1276" r:id="rId9"/>
    <p:sldId id="1280" r:id="rId10"/>
    <p:sldId id="1251" r:id="rId11"/>
    <p:sldId id="1239" r:id="rId12"/>
    <p:sldId id="1277" r:id="rId13"/>
    <p:sldId id="1252" r:id="rId14"/>
    <p:sldId id="1242" r:id="rId15"/>
    <p:sldId id="1278" r:id="rId16"/>
    <p:sldId id="1253" r:id="rId17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44" autoAdjust="0"/>
    <p:restoredTop sz="86411" autoAdjust="0"/>
  </p:normalViewPr>
  <p:slideViewPr>
    <p:cSldViewPr snapToGrid="0">
      <p:cViewPr varScale="1">
        <p:scale>
          <a:sx n="90" d="100"/>
          <a:sy n="90" d="100"/>
        </p:scale>
        <p:origin x="80" y="3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gs" Target="tags/tag1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4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4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特别提示：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★ 本次作业的答案，除特别提示外，上课全讲过，课件上都有</a:t>
            </a:r>
            <a:r>
              <a:rPr lang="en-US" altLang="zh-CN" sz="2800" b="1" dirty="0">
                <a:latin typeface="+mn-ea"/>
              </a:rPr>
              <a:t>!!!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★ 作业本质就是对上课内容及课件的</a:t>
            </a:r>
            <a:r>
              <a:rPr lang="en-US" altLang="zh-CN" sz="2800" b="1" dirty="0">
                <a:latin typeface="+mn-ea"/>
              </a:rPr>
              <a:t>review(</a:t>
            </a:r>
            <a:r>
              <a:rPr lang="zh-CN" altLang="en-US" sz="2800" b="1" dirty="0">
                <a:latin typeface="+mn-ea"/>
              </a:rPr>
              <a:t>因为读懂程序的逻辑很重要</a:t>
            </a:r>
            <a:r>
              <a:rPr lang="en-US" altLang="zh-CN" sz="2800" b="1" dirty="0">
                <a:latin typeface="+mn-ea"/>
              </a:rPr>
              <a:t>)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★ 对上课接受程度较好的同学，可能有点重复</a:t>
            </a:r>
            <a:r>
              <a:rPr lang="en-US" altLang="zh-CN" sz="2800" b="1" dirty="0">
                <a:latin typeface="+mn-ea"/>
              </a:rPr>
              <a:t>/</a:t>
            </a:r>
            <a:r>
              <a:rPr lang="zh-CN" altLang="en-US" sz="2800" b="1" dirty="0">
                <a:latin typeface="+mn-ea"/>
              </a:rPr>
              <a:t>多余，但还得做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、循环的嵌套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1820" y="1323975"/>
            <a:ext cx="1039622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j, k;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count1 = 0, count2 = 0, count3 =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=1;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&lt;=100;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 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++count1;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for(j=1; j&lt;=100;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j++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++count2;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for(k=1; k&lt;=100; k++) 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++count3;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"count1=" &lt;&lt; count1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"count2=" &lt;&lt; count2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"count3=" &lt;&lt; count3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34025" y="1323975"/>
            <a:ext cx="545401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、贴运行结果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、当循环嵌套时，内层循环的执行次数和外层循环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是什么关系？</a:t>
            </a:r>
            <a:endParaRPr kumimoji="1" lang="zh-CN" altLang="en-US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外层循环每执行一次，内层循环都要执行一遍。本题中第一层每执行一次，第二层都要执行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100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次；</a:t>
            </a:r>
            <a:r>
              <a:rPr kumimoji="1" lang="zh-CN" altLang="en-US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第二层每执行一次，第三层都要执行</a:t>
            </a:r>
            <a:r>
              <a:rPr kumimoji="1" lang="en-US" altLang="zh-CN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100</a:t>
            </a:r>
            <a:r>
              <a:rPr kumimoji="1" lang="zh-CN" altLang="en-US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次，所以第一层次数</a:t>
            </a:r>
            <a:r>
              <a:rPr kumimoji="1" lang="en-US" altLang="zh-CN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100</a:t>
            </a:r>
            <a:r>
              <a:rPr kumimoji="1" lang="zh-CN" altLang="en-US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次，第二层次数</a:t>
            </a:r>
            <a:r>
              <a:rPr kumimoji="1" lang="en-US" altLang="zh-CN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100x100=10000</a:t>
            </a:r>
            <a:r>
              <a:rPr kumimoji="1" lang="zh-CN" altLang="en-US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次，第三层</a:t>
            </a:r>
            <a:r>
              <a:rPr kumimoji="1" lang="en-US" altLang="zh-CN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100x100x100=1000000</a:t>
            </a:r>
            <a:r>
              <a:rPr kumimoji="1" lang="zh-CN" altLang="en-US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次。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+mn-ea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3815" y="1693545"/>
            <a:ext cx="1710690" cy="10166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、循环的嵌套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1820" y="1323975"/>
            <a:ext cx="1035812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j, k;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count1 = 0, count2 = 0, count3 =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=1;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&lt;=100;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 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++count1;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for(j=</a:t>
            </a:r>
            <a:r>
              <a:rPr kumimoji="1"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j&lt;=100;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j++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++count2;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for(k=</a:t>
            </a:r>
            <a:r>
              <a:rPr kumimoji="1"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k&lt;=100; k++) 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++count3;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"count1=" &lt;&lt; count1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"count2=" &lt;&lt; count2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"count3=" &lt;&lt; count3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34025" y="1323975"/>
            <a:ext cx="541591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、贴运行结果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、当循环嵌套时，内层循环的执行次数和外层循环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是什么关系？</a:t>
            </a:r>
            <a:endParaRPr kumimoji="1" lang="zh-CN" altLang="en-US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外层循环每执行一次，内层循环都要执行一遍。本题中第一层每执行一次，第二层都要执行</a:t>
            </a:r>
            <a:r>
              <a:rPr kumimoji="1" lang="en-US" altLang="zh-CN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100-i</a:t>
            </a:r>
            <a:r>
              <a:rPr kumimoji="1" lang="zh-CN" altLang="en-US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次；</a:t>
            </a:r>
            <a:r>
              <a:rPr kumimoji="1" lang="zh-CN" altLang="en-US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第二层每执行一次，第三层都要执行</a:t>
            </a:r>
            <a:r>
              <a:rPr kumimoji="1" lang="en-US" altLang="zh-CN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100-j</a:t>
            </a:r>
            <a:r>
              <a:rPr kumimoji="1" lang="zh-CN" altLang="en-US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次，所以第一层次数</a:t>
            </a:r>
            <a:r>
              <a:rPr kumimoji="1" lang="en-US" altLang="zh-CN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100</a:t>
            </a:r>
            <a:r>
              <a:rPr kumimoji="1" lang="zh-CN" altLang="en-US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次，第二层次数</a:t>
            </a:r>
            <a:r>
              <a:rPr kumimoji="1" lang="en-US" altLang="zh-CN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100+99+……+1=5050</a:t>
            </a:r>
            <a:r>
              <a:rPr kumimoji="1" lang="zh-CN" altLang="en-US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次，第三层次数（</a:t>
            </a:r>
            <a:r>
              <a:rPr kumimoji="1" lang="en-US" altLang="zh-CN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100+99+……+1</a:t>
            </a:r>
            <a:r>
              <a:rPr kumimoji="1" lang="zh-CN" altLang="en-US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）</a:t>
            </a:r>
            <a:r>
              <a:rPr kumimoji="1" lang="en-US" altLang="zh-CN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+</a:t>
            </a:r>
            <a:r>
              <a:rPr kumimoji="1" lang="zh-CN" altLang="en-US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（</a:t>
            </a:r>
            <a:r>
              <a:rPr kumimoji="1" lang="en-US" altLang="zh-CN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99+98+……+1</a:t>
            </a:r>
            <a:r>
              <a:rPr kumimoji="1" lang="zh-CN" altLang="en-US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）</a:t>
            </a:r>
            <a:r>
              <a:rPr kumimoji="1" lang="en-US" altLang="zh-CN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+……+1=171700</a:t>
            </a:r>
            <a:r>
              <a:rPr kumimoji="1" lang="zh-CN" altLang="en-US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次。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+mn-ea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6465" y="1699895"/>
            <a:ext cx="1849120" cy="10471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、循环的嵌套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conio.h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j,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count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=1;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&lt;=100;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 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for(j=1; </a:t>
            </a:r>
            <a:r>
              <a:rPr kumimoji="1"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&lt;=100;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j++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++count;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if (count % 1000 == 0) 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"*";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_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"count = " &lt;&lt; count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注意：这个程序无法通过按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CTRL+C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终止，要关窗口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、贴运行结果（能表现出要表达的意思即可）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（每输入一个字符，就输出一个星号）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、按内外</a:t>
            </a:r>
            <a:r>
              <a:rPr kumimoji="1" lang="en-US" altLang="zh-CN" sz="1600" b="1" dirty="0">
                <a:latin typeface="+mn-ea"/>
              </a:rPr>
              <a:t>for</a:t>
            </a:r>
            <a:r>
              <a:rPr kumimoji="1" lang="zh-CN" altLang="en-US" sz="1600" b="1" dirty="0">
                <a:latin typeface="+mn-ea"/>
              </a:rPr>
              <a:t>循环的执行步骤依次分析，为什么会得到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这个结果？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步 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-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外循环表达式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1 - </a:t>
            </a: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i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=1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</a:t>
            </a:r>
            <a:r>
              <a:rPr kumimoji="1" lang="zh-CN" altLang="en-US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第</a:t>
            </a:r>
            <a:r>
              <a:rPr kumimoji="1" lang="en-US" altLang="zh-CN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2</a:t>
            </a:r>
            <a:r>
              <a:rPr kumimoji="1" lang="zh-CN" altLang="en-US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步 </a:t>
            </a:r>
            <a:r>
              <a:rPr kumimoji="1" lang="en-US" altLang="zh-CN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- </a:t>
            </a:r>
            <a:r>
              <a:rPr kumimoji="1" lang="zh-CN" altLang="en-US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外循环表达式</a:t>
            </a:r>
            <a:r>
              <a:rPr kumimoji="1" lang="en-US" altLang="zh-CN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2 - </a:t>
            </a:r>
            <a:r>
              <a:rPr kumimoji="1" lang="en-US" altLang="zh-CN" sz="1600" b="1" dirty="0" err="1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i&lt;</a:t>
            </a:r>
            <a:r>
              <a:rPr kumimoji="1" lang="en-US" altLang="zh-CN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=100</a:t>
            </a:r>
            <a:endParaRPr kumimoji="1" lang="en-US" altLang="zh-CN" sz="1600" b="1" dirty="0">
              <a:ln>
                <a:noFill/>
              </a:ln>
              <a:solidFill>
                <a:schemeClr val="accent2"/>
              </a:solidFill>
              <a:effectLst/>
              <a:latin typeface="+mn-ea"/>
              <a:sym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 </a:t>
            </a:r>
            <a:r>
              <a:rPr kumimoji="1" lang="zh-CN" altLang="en-US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第</a:t>
            </a:r>
            <a:r>
              <a:rPr kumimoji="1" lang="en-US" altLang="zh-CN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3</a:t>
            </a:r>
            <a:r>
              <a:rPr kumimoji="1" lang="zh-CN" altLang="en-US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步 </a:t>
            </a:r>
            <a:r>
              <a:rPr kumimoji="1" lang="en-US" altLang="zh-CN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-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内循环表达式</a:t>
            </a:r>
            <a:r>
              <a:rPr kumimoji="1" lang="en-US" altLang="zh-CN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1 - j=1</a:t>
            </a:r>
            <a:endParaRPr kumimoji="1" lang="en-US" altLang="zh-CN" sz="1600" b="1" dirty="0">
              <a:ln>
                <a:noFill/>
              </a:ln>
              <a:solidFill>
                <a:schemeClr val="accent2"/>
              </a:solidFill>
              <a:effectLst/>
              <a:latin typeface="+mn-ea"/>
              <a:sym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 第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4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步 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-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内</a:t>
            </a:r>
            <a:r>
              <a:rPr kumimoji="1" lang="zh-CN" altLang="en-US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循环表达式</a:t>
            </a:r>
            <a:r>
              <a:rPr kumimoji="1" lang="en-US" altLang="zh-CN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2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- </a:t>
            </a:r>
            <a:r>
              <a:rPr kumimoji="1" lang="en-US" altLang="zh-CN" sz="1600" b="1" dirty="0" err="1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i&lt;</a:t>
            </a:r>
            <a:r>
              <a:rPr kumimoji="1" lang="en-US" altLang="zh-CN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=100</a:t>
            </a:r>
            <a:endParaRPr kumimoji="1" lang="en-US" altLang="zh-CN" sz="1600" b="1" dirty="0">
              <a:ln>
                <a:noFill/>
              </a:ln>
              <a:solidFill>
                <a:schemeClr val="accent2"/>
              </a:solidFill>
              <a:effectLst/>
              <a:latin typeface="+mn-ea"/>
              <a:sym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第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5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步 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-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内</a:t>
            </a:r>
            <a:r>
              <a:rPr kumimoji="1" lang="zh-CN" altLang="en-US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循环表达式</a:t>
            </a:r>
            <a:r>
              <a:rPr kumimoji="1" lang="en-US" altLang="zh-CN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4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 - 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++count</a:t>
            </a:r>
            <a:endParaRPr kumimoji="1"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第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6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步 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-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内</a:t>
            </a:r>
            <a:r>
              <a:rPr kumimoji="1" lang="zh-CN" altLang="en-US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循环表达式</a:t>
            </a:r>
            <a:r>
              <a:rPr kumimoji="1" lang="en-US" altLang="zh-CN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3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 - 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j++</a:t>
            </a:r>
            <a:endParaRPr kumimoji="1" lang="en-US" altLang="zh-CN" sz="1600" b="1" dirty="0" err="1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第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7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步 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-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内</a:t>
            </a:r>
            <a:r>
              <a:rPr kumimoji="1" lang="zh-CN" altLang="en-US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循环表达式</a:t>
            </a:r>
            <a:r>
              <a:rPr kumimoji="1" lang="en-US" altLang="zh-CN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2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 - </a:t>
            </a:r>
            <a:r>
              <a:rPr kumimoji="1" lang="en-US" altLang="zh-CN" sz="1600" b="1" dirty="0" err="1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i&lt;</a:t>
            </a:r>
            <a:r>
              <a:rPr kumimoji="1" lang="en-US" altLang="zh-CN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=100</a:t>
            </a:r>
            <a:endParaRPr kumimoji="1" lang="en-US" altLang="zh-CN" sz="1600" b="1" dirty="0">
              <a:ln>
                <a:noFill/>
              </a:ln>
              <a:solidFill>
                <a:schemeClr val="accent2"/>
              </a:solidFill>
              <a:effectLst/>
              <a:latin typeface="+mn-ea"/>
              <a:sym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第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8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步 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-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内</a:t>
            </a:r>
            <a:r>
              <a:rPr kumimoji="1" lang="zh-CN" altLang="en-US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循环表达式</a:t>
            </a:r>
            <a:r>
              <a:rPr kumimoji="1" lang="en-US" altLang="zh-CN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4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 - 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++count</a:t>
            </a:r>
            <a:endParaRPr kumimoji="1"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第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9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步 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-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内</a:t>
            </a:r>
            <a:r>
              <a:rPr kumimoji="1" lang="zh-CN" altLang="en-US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循环表达式</a:t>
            </a:r>
            <a:r>
              <a:rPr kumimoji="1" lang="en-US" altLang="zh-CN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3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 - 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j++</a:t>
            </a:r>
            <a:endParaRPr kumimoji="1" lang="en-US" altLang="zh-CN" sz="1600" b="1" dirty="0" err="1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……</a:t>
            </a:r>
            <a:r>
              <a:rPr kumimoji="1" lang="zh-CN" altLang="en-US" sz="1600" b="1" dirty="0" err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</a:t>
            </a:r>
            <a:r>
              <a:rPr kumimoji="1" lang="zh-CN" altLang="en-US" sz="1600" b="1" dirty="0" err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</a:t>
            </a:r>
            <a:r>
              <a:rPr kumimoji="1" lang="zh-CN" altLang="en-US" sz="1600" b="1" dirty="0" err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6</a:t>
            </a:r>
            <a:r>
              <a:rPr kumimoji="1" lang="zh-CN" altLang="en-US" sz="1600" b="1" dirty="0" err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步一直循环，直到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count % 1000 == 0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输出一个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*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并停止等待输入字符，获取输入后继续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</a:t>
            </a:r>
            <a:r>
              <a:rPr kumimoji="1" lang="zh-CN" altLang="en-US" sz="1600" b="1" dirty="0" err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</a:t>
            </a:r>
            <a:r>
              <a:rPr kumimoji="1" lang="zh-CN" altLang="en-US" sz="1600" b="1" dirty="0" err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6</a:t>
            </a:r>
            <a:r>
              <a:rPr kumimoji="1" lang="zh-CN" altLang="en-US" sz="1600" b="1" dirty="0" err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步一直循环）</a:t>
            </a:r>
            <a:endParaRPr kumimoji="1" lang="en-US" altLang="zh-CN" sz="1600" b="1" dirty="0" err="1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2165" y="1653540"/>
            <a:ext cx="2320925" cy="6375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break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>
                <a:latin typeface="+mn-ea"/>
              </a:rPr>
              <a:t>continue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已知代码如下，回答问题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while(1) 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①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②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if (X)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continue;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③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④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为真时，重复执行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①②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①②③④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为假时，重复执行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①②③④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①②③④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267324" y="1323975"/>
            <a:ext cx="557212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for(1; 1; ④) 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①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②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if (X)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continue;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③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为真时，重复执行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①②④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①②③④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为假时，重复执行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①②③④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①②③④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break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>
                <a:latin typeface="+mn-ea"/>
              </a:rPr>
              <a:t>continue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 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=0,sum=0;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&lt;1000) {</a:t>
            </a:r>
            <a:endParaRPr kumimoji="1" lang="en-US" altLang="zh-CN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++;</a:t>
            </a:r>
            <a:endParaRPr kumimoji="1" lang="en-US" altLang="zh-CN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break;</a:t>
            </a:r>
            <a:endParaRPr kumimoji="1" lang="en-US" altLang="zh-CN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sum=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sum+i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 sum=" &lt;&lt; sum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问题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：循环执行了多少次？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次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问题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sum=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sum+i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执行了多少次？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次</a:t>
            </a:r>
            <a:endParaRPr kumimoji="1" lang="zh-CN" altLang="en-US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267324" y="1323975"/>
            <a:ext cx="557212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=0,sum=0;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&lt;1000) {</a:t>
            </a:r>
            <a:endParaRPr kumimoji="1" lang="en-US" altLang="zh-CN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++;</a:t>
            </a:r>
            <a:endParaRPr kumimoji="1" lang="en-US" altLang="zh-CN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continue; </a:t>
            </a:r>
            <a:endParaRPr kumimoji="1" lang="en-US" altLang="zh-CN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sum=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sum+i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 sum=" &lt;&lt; sum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问题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：循环执行了多少次？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1000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次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问题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sum=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sum+i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执行了多少次？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次</a:t>
            </a:r>
            <a:endParaRPr kumimoji="1" lang="zh-CN" altLang="en-US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2850" y="2545080"/>
            <a:ext cx="1506855" cy="15068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3520" y="2545080"/>
            <a:ext cx="1725930" cy="15068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、观察程序运行结果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1820" y="1323975"/>
            <a:ext cx="1049401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000" b="1" dirty="0">
                <a:latin typeface="+mn-ea"/>
              </a:rPr>
              <a:t>#include &lt;iostream&gt;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#include &lt;</a:t>
            </a:r>
            <a:r>
              <a:rPr lang="en-US" altLang="zh-CN" sz="1000" b="1" dirty="0" err="1">
                <a:latin typeface="+mn-ea"/>
              </a:rPr>
              <a:t>iomanip</a:t>
            </a:r>
            <a:r>
              <a:rPr lang="en-US" altLang="zh-CN" sz="1000" b="1" dirty="0">
                <a:latin typeface="+mn-ea"/>
              </a:rPr>
              <a:t>&gt;    //</a:t>
            </a:r>
            <a:r>
              <a:rPr lang="zh-CN" altLang="en-US" sz="1000" b="1" dirty="0">
                <a:latin typeface="+mn-ea"/>
              </a:rPr>
              <a:t>格式输出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#include &lt;</a:t>
            </a:r>
            <a:r>
              <a:rPr lang="en-US" altLang="zh-CN" sz="1000" b="1" dirty="0" err="1">
                <a:latin typeface="+mn-ea"/>
              </a:rPr>
              <a:t>cmath</a:t>
            </a:r>
            <a:r>
              <a:rPr lang="en-US" altLang="zh-CN" sz="1000" b="1" dirty="0">
                <a:latin typeface="+mn-ea"/>
              </a:rPr>
              <a:t>&gt;      //fabs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#include &lt;</a:t>
            </a:r>
            <a:r>
              <a:rPr lang="en-US" altLang="zh-CN" sz="1000" b="1" dirty="0" err="1">
                <a:latin typeface="+mn-ea"/>
              </a:rPr>
              <a:t>windows.h</a:t>
            </a:r>
            <a:r>
              <a:rPr lang="en-US" altLang="zh-CN" sz="1000" b="1" dirty="0">
                <a:latin typeface="+mn-ea"/>
              </a:rPr>
              <a:t>&gt;  //</a:t>
            </a:r>
            <a:r>
              <a:rPr lang="zh-CN" altLang="en-US" sz="1000" b="1" dirty="0">
                <a:latin typeface="+mn-ea"/>
              </a:rPr>
              <a:t>取系统时间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using namespace std;</a:t>
            </a:r>
            <a:endParaRPr lang="en-US" altLang="zh-CN" sz="1000" b="1" dirty="0">
              <a:latin typeface="+mn-ea"/>
            </a:endParaRPr>
          </a:p>
          <a:p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int main()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{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int s=1;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double n=1, t=1, pi=0;</a:t>
            </a:r>
            <a:endParaRPr lang="en-US" altLang="zh-CN" sz="1000" b="1" dirty="0">
              <a:latin typeface="+mn-ea"/>
            </a:endParaRPr>
          </a:p>
          <a:p>
            <a:endParaRPr lang="en-US" altLang="zh-CN" sz="10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   LARGE_INTEGER tick, begin, end;</a:t>
            </a:r>
            <a:endParaRPr lang="en-US" altLang="zh-CN" sz="10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QueryPerformanceFrequency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(&amp;tick);	//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</a:rPr>
              <a:t>取计数器频率</a:t>
            </a:r>
            <a:endParaRPr lang="zh-CN" altLang="en-US" sz="10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QueryPerformanceCounter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(&amp;begin);	//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</a:rPr>
              <a:t>取初始硬件定时器计数</a:t>
            </a:r>
            <a:endParaRPr lang="zh-CN" altLang="en-US" sz="1000" b="1" dirty="0">
              <a:solidFill>
                <a:srgbClr val="FF0000"/>
              </a:solidFill>
              <a:latin typeface="+mn-ea"/>
            </a:endParaRPr>
          </a:p>
          <a:p>
            <a:endParaRPr lang="en-US" altLang="zh-CN" sz="1000" b="1" dirty="0">
              <a:latin typeface="+mn-ea"/>
            </a:endParaRPr>
          </a:p>
          <a:p>
            <a:r>
              <a:rPr lang="zh-CN" altLang="en-US" sz="1000" b="1" dirty="0">
                <a:latin typeface="+mn-ea"/>
              </a:rPr>
              <a:t>    </a:t>
            </a:r>
            <a:r>
              <a:rPr lang="en-US" altLang="zh-CN" sz="1000" b="1" dirty="0">
                <a:latin typeface="+mn-ea"/>
              </a:rPr>
              <a:t>while(fabs(t)&gt;1e-6) {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   pi=</a:t>
            </a:r>
            <a:r>
              <a:rPr lang="en-US" altLang="zh-CN" sz="1000" b="1" dirty="0" err="1">
                <a:latin typeface="+mn-ea"/>
              </a:rPr>
              <a:t>pi+t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   n=n+2;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   s=-s;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   t=s/n;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   }</a:t>
            </a:r>
            <a:endParaRPr lang="en-US" altLang="zh-CN" sz="1000" b="1" dirty="0">
              <a:latin typeface="+mn-ea"/>
            </a:endParaRPr>
          </a:p>
          <a:p>
            <a:endParaRPr lang="en-US" altLang="zh-CN" sz="10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QueryPerformanceCounter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(&amp;end);//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</a:rPr>
              <a:t>获得终止硬件定时器计数</a:t>
            </a:r>
            <a:endParaRPr lang="en-US" altLang="zh-CN" sz="1000" b="1" dirty="0">
              <a:solidFill>
                <a:srgbClr val="FF0000"/>
              </a:solidFill>
              <a:latin typeface="+mn-ea"/>
            </a:endParaRPr>
          </a:p>
          <a:p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pi=pi*4;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"n=" 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(10) &lt;&lt; n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&lt;&lt;"pi="&lt;&lt;</a:t>
            </a:r>
            <a:r>
              <a:rPr lang="en-US" altLang="zh-CN" sz="1000" b="1" dirty="0" err="1">
                <a:latin typeface="+mn-ea"/>
              </a:rPr>
              <a:t>setiosflags</a:t>
            </a:r>
            <a:r>
              <a:rPr lang="en-US" altLang="zh-CN" sz="1000" b="1" dirty="0">
                <a:latin typeface="+mn-ea"/>
              </a:rPr>
              <a:t>(</a:t>
            </a:r>
            <a:r>
              <a:rPr lang="en-US" altLang="zh-CN" sz="1000" b="1" dirty="0" err="1">
                <a:latin typeface="+mn-ea"/>
              </a:rPr>
              <a:t>ios</a:t>
            </a:r>
            <a:r>
              <a:rPr lang="en-US" altLang="zh-CN" sz="1000" b="1" dirty="0">
                <a:latin typeface="+mn-ea"/>
              </a:rPr>
              <a:t>::fixed)&lt;&lt;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(9)&lt;&lt;pi&lt;&lt;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endParaRPr lang="zh-CN" altLang="en-US" sz="1000" b="1" dirty="0">
              <a:latin typeface="+mn-ea"/>
            </a:endParaRPr>
          </a:p>
          <a:p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&lt;&lt; "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</a:rPr>
              <a:t>计数器频率：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" &lt;&lt;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tick.QuadPart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&lt;&lt; "Hz" &lt;&lt;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endl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;</a:t>
            </a:r>
            <a:endParaRPr lang="en-US" altLang="zh-CN" sz="10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&lt;&lt; "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</a:rPr>
              <a:t>时钟计数  ：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" &lt;&lt;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end.QuadPart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-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begin.QuadPart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&lt;&lt;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endl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;</a:t>
            </a:r>
            <a:endParaRPr lang="en-US" altLang="zh-CN" sz="10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&lt;&lt;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setprecision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(6) &lt;&lt; (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end.QuadPart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-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begin.QuadPart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)/double(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tick.QuadPart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) &lt;&lt; "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</a:rPr>
              <a:t>秒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" &lt;&lt;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endl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;</a:t>
            </a:r>
            <a:endParaRPr lang="en-US" altLang="zh-CN" sz="1000" b="1" dirty="0">
              <a:solidFill>
                <a:srgbClr val="FF0000"/>
              </a:solidFill>
              <a:latin typeface="+mn-ea"/>
            </a:endParaRPr>
          </a:p>
          <a:p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return 0;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}</a:t>
            </a:r>
            <a:endParaRPr lang="en-US" altLang="zh-CN" sz="10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066030" y="2154555"/>
            <a:ext cx="6020435" cy="306895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(1) n</a:t>
            </a:r>
            <a:r>
              <a:rPr lang="zh-CN" altLang="en-US" sz="1200" b="1" dirty="0">
                <a:latin typeface="+mn-ea"/>
              </a:rPr>
              <a:t>，</a:t>
            </a:r>
            <a:r>
              <a:rPr lang="en-US" altLang="zh-CN" sz="1200" b="1" dirty="0">
                <a:latin typeface="+mn-ea"/>
              </a:rPr>
              <a:t>t</a:t>
            </a:r>
            <a:r>
              <a:rPr lang="zh-CN" altLang="en-US" sz="1200" b="1" dirty="0">
                <a:latin typeface="+mn-ea"/>
              </a:rPr>
              <a:t>，</a:t>
            </a:r>
            <a:r>
              <a:rPr lang="en-US" altLang="zh-CN" sz="1200" b="1" dirty="0">
                <a:latin typeface="+mn-ea"/>
              </a:rPr>
              <a:t>pi</a:t>
            </a:r>
            <a:r>
              <a:rPr lang="zh-CN" altLang="en-US" sz="1200" b="1" dirty="0">
                <a:latin typeface="+mn-ea"/>
              </a:rPr>
              <a:t>为</a:t>
            </a:r>
            <a:r>
              <a:rPr lang="en-US" altLang="zh-CN" sz="1200" b="1" dirty="0">
                <a:latin typeface="+mn-ea"/>
              </a:rPr>
              <a:t>double</a:t>
            </a:r>
            <a:r>
              <a:rPr lang="zh-CN" altLang="en-US" sz="1200" b="1" dirty="0">
                <a:latin typeface="+mn-ea"/>
              </a:rPr>
              <a:t>型</a:t>
            </a:r>
            <a:endParaRPr lang="zh-CN" altLang="en-US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精度为</a:t>
            </a:r>
            <a:r>
              <a:rPr lang="en-US" altLang="zh-CN" sz="1200" b="1" dirty="0">
                <a:latin typeface="+mn-ea"/>
              </a:rPr>
              <a:t>1e-6</a:t>
            </a:r>
            <a:r>
              <a:rPr lang="zh-CN" altLang="en-US" sz="1200" b="1" dirty="0">
                <a:latin typeface="+mn-ea"/>
              </a:rPr>
              <a:t>：</a:t>
            </a:r>
            <a:r>
              <a:rPr lang="en-US" altLang="zh-CN" sz="1200" b="1" dirty="0">
                <a:latin typeface="+mn-ea"/>
              </a:rPr>
              <a:t>n=</a:t>
            </a:r>
            <a:r>
              <a:rPr lang="en-US" altLang="zh-CN" sz="1200" b="1" u="sng" dirty="0">
                <a:latin typeface="+mn-ea"/>
              </a:rPr>
              <a:t>__1000001__ </a:t>
            </a:r>
            <a:r>
              <a:rPr lang="en-US" altLang="zh-CN" sz="1200" b="1" dirty="0">
                <a:latin typeface="+mn-ea"/>
              </a:rPr>
              <a:t>    pi=</a:t>
            </a:r>
            <a:r>
              <a:rPr lang="en-US" altLang="zh-CN" sz="1200" b="1" u="sng" dirty="0">
                <a:latin typeface="+mn-ea"/>
              </a:rPr>
              <a:t>_ 3.141590654__ </a:t>
            </a:r>
            <a:r>
              <a:rPr lang="zh-CN" altLang="en-US" sz="1200" b="1" dirty="0">
                <a:latin typeface="+mn-ea"/>
              </a:rPr>
              <a:t>时间</a:t>
            </a:r>
            <a:r>
              <a:rPr lang="en-US" altLang="zh-CN" sz="1200" b="1" dirty="0">
                <a:latin typeface="+mn-ea"/>
              </a:rPr>
              <a:t>=</a:t>
            </a:r>
            <a:r>
              <a:rPr lang="en-US" altLang="zh-CN" sz="1200" b="1" u="sng" dirty="0">
                <a:latin typeface="+mn-ea"/>
              </a:rPr>
              <a:t>___0.001553___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zh-CN" altLang="en-US" sz="1200" b="1" dirty="0">
                <a:latin typeface="+mn-ea"/>
              </a:rPr>
              <a:t>秒</a:t>
            </a:r>
            <a:r>
              <a:rPr lang="en-US" altLang="zh-CN" sz="1200" b="1" dirty="0">
                <a:latin typeface="+mn-ea"/>
              </a:rPr>
              <a:t>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1e-7</a:t>
            </a:r>
            <a:r>
              <a:rPr lang="zh-CN" altLang="en-US" sz="1200" b="1" dirty="0">
                <a:latin typeface="+mn-ea"/>
              </a:rPr>
              <a:t>：</a:t>
            </a:r>
            <a:r>
              <a:rPr lang="en-US" altLang="zh-CN" sz="1200" b="1" dirty="0">
                <a:latin typeface="+mn-ea"/>
                <a:sym typeface="+mn-ea"/>
              </a:rPr>
              <a:t>n=</a:t>
            </a:r>
            <a:r>
              <a:rPr lang="en-US" altLang="zh-CN" sz="1200" b="1" u="sng" dirty="0">
                <a:latin typeface="+mn-ea"/>
                <a:sym typeface="+mn-ea"/>
              </a:rPr>
              <a:t>__10000001__ </a:t>
            </a:r>
            <a:r>
              <a:rPr lang="en-US" altLang="zh-CN" sz="1200" b="1" dirty="0">
                <a:latin typeface="+mn-ea"/>
                <a:sym typeface="+mn-ea"/>
              </a:rPr>
              <a:t>   pi=</a:t>
            </a:r>
            <a:r>
              <a:rPr lang="en-US" altLang="zh-CN" sz="1200" b="1" u="sng" dirty="0">
                <a:latin typeface="+mn-ea"/>
                <a:sym typeface="+mn-ea"/>
              </a:rPr>
              <a:t>_ 3.141592454__ </a:t>
            </a:r>
            <a:r>
              <a:rPr lang="zh-CN" altLang="en-US" sz="1200" b="1" dirty="0">
                <a:latin typeface="+mn-ea"/>
                <a:sym typeface="+mn-ea"/>
              </a:rPr>
              <a:t>时间</a:t>
            </a:r>
            <a:r>
              <a:rPr lang="en-US" altLang="zh-CN" sz="1200" b="1" dirty="0">
                <a:latin typeface="+mn-ea"/>
                <a:sym typeface="+mn-ea"/>
              </a:rPr>
              <a:t>=</a:t>
            </a:r>
            <a:r>
              <a:rPr lang="en-US" altLang="zh-CN" sz="1200" b="1" u="sng" dirty="0">
                <a:latin typeface="+mn-ea"/>
                <a:sym typeface="+mn-ea"/>
              </a:rPr>
              <a:t>___0.015040___</a:t>
            </a:r>
            <a:r>
              <a:rPr lang="en-US" altLang="zh-CN" sz="1200" b="1" dirty="0">
                <a:latin typeface="+mn-ea"/>
                <a:sym typeface="+mn-ea"/>
              </a:rPr>
              <a:t>(</a:t>
            </a:r>
            <a:r>
              <a:rPr lang="zh-CN" altLang="en-US" sz="1200" b="1" dirty="0">
                <a:latin typeface="+mn-ea"/>
                <a:sym typeface="+mn-ea"/>
              </a:rPr>
              <a:t>秒</a:t>
            </a:r>
            <a:r>
              <a:rPr lang="en-US" altLang="zh-CN" sz="1200" b="1" dirty="0">
                <a:latin typeface="+mn-ea"/>
                <a:sym typeface="+mn-ea"/>
              </a:rPr>
              <a:t>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1e-8</a:t>
            </a:r>
            <a:r>
              <a:rPr lang="zh-CN" altLang="en-US" sz="1200" b="1" dirty="0">
                <a:latin typeface="+mn-ea"/>
              </a:rPr>
              <a:t>：</a:t>
            </a:r>
            <a:r>
              <a:rPr lang="en-US" altLang="zh-CN" sz="1200" b="1" dirty="0">
                <a:latin typeface="+mn-ea"/>
                <a:sym typeface="+mn-ea"/>
              </a:rPr>
              <a:t>n=</a:t>
            </a:r>
            <a:r>
              <a:rPr lang="en-US" altLang="zh-CN" sz="1200" b="1" u="sng" dirty="0">
                <a:latin typeface="+mn-ea"/>
                <a:sym typeface="+mn-ea"/>
              </a:rPr>
              <a:t>__100000001__ </a:t>
            </a:r>
            <a:r>
              <a:rPr lang="en-US" altLang="zh-CN" sz="1200" b="1" dirty="0">
                <a:latin typeface="+mn-ea"/>
                <a:sym typeface="+mn-ea"/>
              </a:rPr>
              <a:t>  pi=</a:t>
            </a:r>
            <a:r>
              <a:rPr lang="en-US" altLang="zh-CN" sz="1200" b="1" u="sng" dirty="0">
                <a:latin typeface="+mn-ea"/>
                <a:sym typeface="+mn-ea"/>
              </a:rPr>
              <a:t>_ 3.141592634__ </a:t>
            </a:r>
            <a:r>
              <a:rPr lang="zh-CN" altLang="en-US" sz="1200" b="1" dirty="0">
                <a:latin typeface="+mn-ea"/>
                <a:sym typeface="+mn-ea"/>
              </a:rPr>
              <a:t>时间</a:t>
            </a:r>
            <a:r>
              <a:rPr lang="en-US" altLang="zh-CN" sz="1200" b="1" dirty="0">
                <a:latin typeface="+mn-ea"/>
                <a:sym typeface="+mn-ea"/>
              </a:rPr>
              <a:t>=</a:t>
            </a:r>
            <a:r>
              <a:rPr lang="en-US" altLang="zh-CN" sz="1200" b="1" u="sng" dirty="0">
                <a:latin typeface="+mn-ea"/>
                <a:sym typeface="+mn-ea"/>
              </a:rPr>
              <a:t>___0.152568___</a:t>
            </a:r>
            <a:r>
              <a:rPr lang="en-US" altLang="zh-CN" sz="1200" b="1" dirty="0">
                <a:latin typeface="+mn-ea"/>
                <a:sym typeface="+mn-ea"/>
              </a:rPr>
              <a:t>(</a:t>
            </a:r>
            <a:r>
              <a:rPr lang="zh-CN" altLang="en-US" sz="1200" b="1" dirty="0">
                <a:latin typeface="+mn-ea"/>
                <a:sym typeface="+mn-ea"/>
              </a:rPr>
              <a:t>秒</a:t>
            </a:r>
            <a:r>
              <a:rPr lang="en-US" altLang="zh-CN" sz="1200" b="1" dirty="0">
                <a:latin typeface="+mn-ea"/>
                <a:sym typeface="+mn-ea"/>
              </a:rPr>
              <a:t>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1e-9</a:t>
            </a:r>
            <a:r>
              <a:rPr lang="zh-CN" altLang="en-US" sz="1200" b="1" dirty="0">
                <a:latin typeface="+mn-ea"/>
              </a:rPr>
              <a:t>：</a:t>
            </a:r>
            <a:r>
              <a:rPr lang="en-US" altLang="zh-CN" sz="1200" b="1" dirty="0">
                <a:latin typeface="+mn-ea"/>
                <a:sym typeface="+mn-ea"/>
              </a:rPr>
              <a:t>n=</a:t>
            </a:r>
            <a:r>
              <a:rPr lang="en-US" altLang="zh-CN" sz="1200" b="1" u="sng" dirty="0">
                <a:latin typeface="+mn-ea"/>
                <a:sym typeface="+mn-ea"/>
              </a:rPr>
              <a:t>__1000000001__ </a:t>
            </a:r>
            <a:r>
              <a:rPr lang="en-US" altLang="zh-CN" sz="1200" b="1" dirty="0">
                <a:latin typeface="+mn-ea"/>
                <a:sym typeface="+mn-ea"/>
              </a:rPr>
              <a:t> pi=</a:t>
            </a:r>
            <a:r>
              <a:rPr lang="en-US" altLang="zh-CN" sz="1200" b="1" u="sng" dirty="0">
                <a:latin typeface="+mn-ea"/>
                <a:sym typeface="+mn-ea"/>
              </a:rPr>
              <a:t>_ 3.141592652_  </a:t>
            </a:r>
            <a:r>
              <a:rPr lang="zh-CN" altLang="en-US" sz="1200" b="1" dirty="0">
                <a:latin typeface="+mn-ea"/>
                <a:sym typeface="+mn-ea"/>
              </a:rPr>
              <a:t>时间</a:t>
            </a:r>
            <a:r>
              <a:rPr lang="en-US" altLang="zh-CN" sz="1200" b="1" dirty="0">
                <a:latin typeface="+mn-ea"/>
                <a:sym typeface="+mn-ea"/>
              </a:rPr>
              <a:t>=</a:t>
            </a:r>
            <a:r>
              <a:rPr lang="en-US" altLang="zh-CN" sz="1200" b="1" u="sng" dirty="0">
                <a:latin typeface="+mn-ea"/>
                <a:sym typeface="+mn-ea"/>
              </a:rPr>
              <a:t>___1.562451___</a:t>
            </a:r>
            <a:r>
              <a:rPr lang="en-US" altLang="zh-CN" sz="1200" b="1" dirty="0">
                <a:latin typeface="+mn-ea"/>
                <a:sym typeface="+mn-ea"/>
              </a:rPr>
              <a:t>(</a:t>
            </a:r>
            <a:r>
              <a:rPr lang="zh-CN" altLang="en-US" sz="1200" b="1" dirty="0">
                <a:latin typeface="+mn-ea"/>
                <a:sym typeface="+mn-ea"/>
              </a:rPr>
              <a:t>秒</a:t>
            </a:r>
            <a:r>
              <a:rPr lang="en-US" altLang="zh-CN" sz="1200" b="1" dirty="0">
                <a:latin typeface="+mn-ea"/>
                <a:sym typeface="+mn-ea"/>
              </a:rPr>
              <a:t>)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         (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因为机器配置不同，时间值可能不同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(2) n</a:t>
            </a:r>
            <a:r>
              <a:rPr lang="zh-CN" altLang="en-US" sz="1200" b="1" dirty="0">
                <a:latin typeface="+mn-ea"/>
              </a:rPr>
              <a:t>，</a:t>
            </a:r>
            <a:r>
              <a:rPr lang="en-US" altLang="zh-CN" sz="1200" b="1" dirty="0">
                <a:latin typeface="+mn-ea"/>
              </a:rPr>
              <a:t>t</a:t>
            </a:r>
            <a:r>
              <a:rPr lang="zh-CN" altLang="en-US" sz="1200" b="1" dirty="0">
                <a:latin typeface="+mn-ea"/>
              </a:rPr>
              <a:t>，</a:t>
            </a:r>
            <a:r>
              <a:rPr lang="en-US" altLang="zh-CN" sz="1200" b="1" dirty="0">
                <a:latin typeface="+mn-ea"/>
              </a:rPr>
              <a:t>pi</a:t>
            </a:r>
            <a:r>
              <a:rPr lang="zh-CN" altLang="en-US" sz="1200" b="1" dirty="0">
                <a:latin typeface="+mn-ea"/>
              </a:rPr>
              <a:t>为</a:t>
            </a:r>
            <a:r>
              <a:rPr lang="en-US" altLang="zh-CN" sz="1200" b="1" dirty="0">
                <a:latin typeface="+mn-ea"/>
              </a:rPr>
              <a:t>float</a:t>
            </a:r>
            <a:r>
              <a:rPr lang="zh-CN" altLang="en-US" sz="1200" b="1" dirty="0">
                <a:latin typeface="+mn-ea"/>
              </a:rPr>
              <a:t>型</a:t>
            </a:r>
            <a:endParaRPr lang="zh-CN" altLang="en-US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精度为</a:t>
            </a:r>
            <a:r>
              <a:rPr lang="en-US" altLang="zh-CN" sz="1200" b="1" dirty="0">
                <a:latin typeface="+mn-ea"/>
                <a:sym typeface="+mn-ea"/>
              </a:rPr>
              <a:t>1e-6</a:t>
            </a:r>
            <a:r>
              <a:rPr lang="zh-CN" altLang="en-US" sz="1200" b="1" dirty="0">
                <a:latin typeface="+mn-ea"/>
                <a:sym typeface="+mn-ea"/>
              </a:rPr>
              <a:t>：</a:t>
            </a:r>
            <a:r>
              <a:rPr lang="en-US" altLang="zh-CN" sz="1200" b="1" dirty="0">
                <a:latin typeface="+mn-ea"/>
                <a:sym typeface="+mn-ea"/>
              </a:rPr>
              <a:t>n=</a:t>
            </a:r>
            <a:r>
              <a:rPr lang="en-US" altLang="zh-CN" sz="1200" b="1" u="sng" dirty="0">
                <a:latin typeface="+mn-ea"/>
                <a:sym typeface="+mn-ea"/>
              </a:rPr>
              <a:t>__1000001__ </a:t>
            </a:r>
            <a:r>
              <a:rPr lang="en-US" altLang="zh-CN" sz="1200" b="1" dirty="0">
                <a:latin typeface="+mn-ea"/>
                <a:sym typeface="+mn-ea"/>
              </a:rPr>
              <a:t>  pi=</a:t>
            </a:r>
            <a:r>
              <a:rPr lang="en-US" altLang="zh-CN" sz="1200" b="1" u="sng" dirty="0">
                <a:latin typeface="+mn-ea"/>
                <a:sym typeface="+mn-ea"/>
              </a:rPr>
              <a:t>_ 3.141593933__  </a:t>
            </a:r>
            <a:r>
              <a:rPr lang="zh-CN" altLang="en-US" sz="1200" b="1" dirty="0">
                <a:latin typeface="+mn-ea"/>
                <a:sym typeface="+mn-ea"/>
              </a:rPr>
              <a:t>时间</a:t>
            </a:r>
            <a:r>
              <a:rPr lang="en-US" altLang="zh-CN" sz="1200" b="1" dirty="0">
                <a:latin typeface="+mn-ea"/>
                <a:sym typeface="+mn-ea"/>
              </a:rPr>
              <a:t>=</a:t>
            </a:r>
            <a:r>
              <a:rPr lang="en-US" altLang="zh-CN" sz="1200" b="1" u="sng" dirty="0">
                <a:latin typeface="+mn-ea"/>
                <a:sym typeface="+mn-ea"/>
              </a:rPr>
              <a:t>___0.015420___</a:t>
            </a:r>
            <a:r>
              <a:rPr lang="en-US" altLang="zh-CN" sz="1200" b="1" dirty="0">
                <a:latin typeface="+mn-ea"/>
                <a:sym typeface="+mn-ea"/>
              </a:rPr>
              <a:t>(</a:t>
            </a:r>
            <a:r>
              <a:rPr lang="zh-CN" altLang="en-US" sz="1200" b="1" dirty="0">
                <a:latin typeface="+mn-ea"/>
                <a:sym typeface="+mn-ea"/>
              </a:rPr>
              <a:t>秒</a:t>
            </a:r>
            <a:r>
              <a:rPr lang="en-US" altLang="zh-CN" sz="1200" b="1" dirty="0">
                <a:latin typeface="+mn-ea"/>
                <a:sym typeface="+mn-ea"/>
              </a:rPr>
              <a:t>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  <a:sym typeface="+mn-ea"/>
              </a:rPr>
              <a:t>        1e-7</a:t>
            </a:r>
            <a:r>
              <a:rPr lang="zh-CN" altLang="en-US" sz="1200" b="1" dirty="0">
                <a:latin typeface="+mn-ea"/>
                <a:sym typeface="+mn-ea"/>
              </a:rPr>
              <a:t>：</a:t>
            </a:r>
            <a:r>
              <a:rPr lang="en-US" altLang="zh-CN" sz="1200" b="1" dirty="0">
                <a:latin typeface="+mn-ea"/>
                <a:sym typeface="+mn-ea"/>
              </a:rPr>
              <a:t>n=</a:t>
            </a:r>
            <a:r>
              <a:rPr lang="en-US" altLang="zh-CN" sz="1200" b="1" u="sng" dirty="0">
                <a:latin typeface="+mn-ea"/>
                <a:sym typeface="+mn-ea"/>
              </a:rPr>
              <a:t>__10000001__ </a:t>
            </a:r>
            <a:r>
              <a:rPr lang="en-US" altLang="zh-CN" sz="1200" b="1" dirty="0">
                <a:latin typeface="+mn-ea"/>
                <a:sym typeface="+mn-ea"/>
              </a:rPr>
              <a:t> pi=</a:t>
            </a:r>
            <a:r>
              <a:rPr lang="en-US" altLang="zh-CN" sz="1200" b="1" u="sng" dirty="0">
                <a:latin typeface="+mn-ea"/>
                <a:sym typeface="+mn-ea"/>
              </a:rPr>
              <a:t>_ 3.141596556__ </a:t>
            </a:r>
            <a:r>
              <a:rPr lang="zh-CN" altLang="en-US" sz="1200" b="1" dirty="0">
                <a:latin typeface="+mn-ea"/>
                <a:sym typeface="+mn-ea"/>
              </a:rPr>
              <a:t>时间</a:t>
            </a:r>
            <a:r>
              <a:rPr lang="en-US" altLang="zh-CN" sz="1200" b="1" dirty="0">
                <a:latin typeface="+mn-ea"/>
                <a:sym typeface="+mn-ea"/>
              </a:rPr>
              <a:t>=</a:t>
            </a:r>
            <a:r>
              <a:rPr lang="en-US" altLang="zh-CN" sz="1200" b="1" u="sng" dirty="0">
                <a:latin typeface="+mn-ea"/>
                <a:sym typeface="+mn-ea"/>
              </a:rPr>
              <a:t>___0.144071___</a:t>
            </a:r>
            <a:r>
              <a:rPr lang="en-US" altLang="zh-CN" sz="1200" b="1" dirty="0">
                <a:latin typeface="+mn-ea"/>
                <a:sym typeface="+mn-ea"/>
              </a:rPr>
              <a:t>(</a:t>
            </a:r>
            <a:r>
              <a:rPr lang="zh-CN" altLang="en-US" sz="1200" b="1" dirty="0">
                <a:latin typeface="+mn-ea"/>
                <a:sym typeface="+mn-ea"/>
              </a:rPr>
              <a:t>秒</a:t>
            </a:r>
            <a:r>
              <a:rPr lang="en-US" altLang="zh-CN" sz="1200" b="1" dirty="0">
                <a:latin typeface="+mn-ea"/>
                <a:sym typeface="+mn-ea"/>
              </a:rPr>
              <a:t>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  <a:sym typeface="+mn-ea"/>
              </a:rPr>
              <a:t>        1e-8</a:t>
            </a:r>
            <a:r>
              <a:rPr lang="zh-CN" altLang="en-US" sz="1200" b="1" dirty="0">
                <a:latin typeface="+mn-ea"/>
                <a:sym typeface="+mn-ea"/>
              </a:rPr>
              <a:t>：</a:t>
            </a:r>
            <a:r>
              <a:rPr lang="en-US" altLang="zh-CN" sz="1200" b="1" dirty="0">
                <a:latin typeface="+mn-ea"/>
                <a:sym typeface="+mn-ea"/>
              </a:rPr>
              <a:t>n=</a:t>
            </a:r>
            <a:r>
              <a:rPr lang="en-US" altLang="zh-CN" sz="1200" b="1" u="sng" dirty="0">
                <a:latin typeface="+mn-ea"/>
                <a:sym typeface="+mn-ea"/>
              </a:rPr>
              <a:t>___        _ </a:t>
            </a:r>
            <a:r>
              <a:rPr lang="en-US" altLang="zh-CN" sz="1200" b="1" dirty="0">
                <a:latin typeface="+mn-ea"/>
                <a:sym typeface="+mn-ea"/>
              </a:rPr>
              <a:t> pi=</a:t>
            </a:r>
            <a:r>
              <a:rPr lang="en-US" altLang="zh-CN" sz="1200" b="1" u="sng" dirty="0">
                <a:latin typeface="+mn-ea"/>
                <a:sym typeface="+mn-ea"/>
              </a:rPr>
              <a:t>_ __            </a:t>
            </a:r>
            <a:r>
              <a:rPr lang="zh-CN" altLang="en-US" sz="1200" b="1" dirty="0">
                <a:latin typeface="+mn-ea"/>
                <a:sym typeface="+mn-ea"/>
              </a:rPr>
              <a:t>时间</a:t>
            </a:r>
            <a:r>
              <a:rPr lang="en-US" altLang="zh-CN" sz="1200" b="1" dirty="0">
                <a:latin typeface="+mn-ea"/>
                <a:sym typeface="+mn-ea"/>
              </a:rPr>
              <a:t>=</a:t>
            </a:r>
            <a:r>
              <a:rPr lang="en-US" altLang="zh-CN" sz="1200" b="1" u="sng" dirty="0">
                <a:latin typeface="+mn-ea"/>
                <a:sym typeface="+mn-ea"/>
              </a:rPr>
              <a:t>____        __</a:t>
            </a:r>
            <a:r>
              <a:rPr lang="en-US" altLang="zh-CN" sz="1200" b="1" dirty="0">
                <a:latin typeface="+mn-ea"/>
                <a:sym typeface="+mn-ea"/>
              </a:rPr>
              <a:t>(</a:t>
            </a:r>
            <a:r>
              <a:rPr lang="zh-CN" altLang="en-US" sz="1200" b="1" dirty="0">
                <a:latin typeface="+mn-ea"/>
                <a:sym typeface="+mn-ea"/>
              </a:rPr>
              <a:t>秒</a:t>
            </a:r>
            <a:r>
              <a:rPr lang="en-US" altLang="zh-CN" sz="1200" b="1" dirty="0">
                <a:latin typeface="+mn-ea"/>
                <a:sym typeface="+mn-ea"/>
              </a:rPr>
              <a:t>)</a:t>
            </a:r>
            <a:endParaRPr lang="en-US" altLang="zh-CN" sz="1200" b="1" dirty="0">
              <a:latin typeface="+mn-ea"/>
              <a:sym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问：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、</a:t>
            </a:r>
            <a:r>
              <a:rPr lang="en-US" altLang="zh-CN" sz="1200" b="1" dirty="0">
                <a:latin typeface="+mn-ea"/>
              </a:rPr>
              <a:t>7</a:t>
            </a:r>
            <a:r>
              <a:rPr lang="zh-CN" altLang="en-US" sz="1200" b="1" dirty="0">
                <a:latin typeface="+mn-ea"/>
              </a:rPr>
              <a:t>项中哪个没结果？为什么？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精度为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1e-8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时没结果。因为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float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</a:rPr>
              <a:t>型数据的精度只有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7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</a:rPr>
              <a:t>位有效数字，无法满足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fabs(t)&gt;1e-8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的精度要求，会一直循环下去，没有结果。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2</a:t>
            </a:r>
            <a:r>
              <a:rPr lang="zh-CN" altLang="en-US" sz="1200" b="1" dirty="0">
                <a:latin typeface="+mn-ea"/>
              </a:rPr>
              <a:t>、</a:t>
            </a:r>
            <a:r>
              <a:rPr lang="en-US" altLang="zh-CN" sz="1200" b="1" dirty="0">
                <a:latin typeface="+mn-ea"/>
              </a:rPr>
              <a:t>float</a:t>
            </a:r>
            <a:r>
              <a:rPr lang="zh-CN" altLang="en-US" sz="1200" b="1" dirty="0">
                <a:latin typeface="+mn-ea"/>
              </a:rPr>
              <a:t>和</a:t>
            </a:r>
            <a:r>
              <a:rPr lang="en-US" altLang="zh-CN" sz="1200" b="1" dirty="0">
                <a:latin typeface="+mn-ea"/>
              </a:rPr>
              <a:t>double</a:t>
            </a:r>
            <a:r>
              <a:rPr lang="zh-CN" altLang="en-US" sz="1200" b="1" dirty="0">
                <a:latin typeface="+mn-ea"/>
              </a:rPr>
              <a:t>同进度下那个时间快？（观察现象即可，不需要解释原因）</a:t>
            </a:r>
            <a:endParaRPr lang="zh-CN" altLang="en-US" sz="1200" b="1" dirty="0">
              <a:latin typeface="+mn-ea"/>
            </a:endParaRPr>
          </a:p>
          <a:p>
            <a:r>
              <a:rPr lang="zh-CN" altLang="en-US" sz="1200" b="1" dirty="0">
                <a:solidFill>
                  <a:schemeClr val="accent2"/>
                </a:solidFill>
                <a:latin typeface="+mn-ea"/>
              </a:rPr>
              <a:t>同精度下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double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</a:rPr>
              <a:t>型更快。</a:t>
            </a:r>
            <a:endParaRPr lang="zh-CN" altLang="en-US" sz="1200" b="1" dirty="0">
              <a:solidFill>
                <a:schemeClr val="accent2"/>
              </a:solidFill>
              <a:latin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3"/>
              <p:cNvSpPr txBox="1"/>
              <p:nvPr/>
            </p:nvSpPr>
            <p:spPr bwMode="auto">
              <a:xfrm>
                <a:off x="7296785" y="1323975"/>
                <a:ext cx="3789680" cy="83058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100" b="1" dirty="0">
                    <a:solidFill>
                      <a:srgbClr val="000000"/>
                    </a:solidFill>
                    <a:latin typeface="+mn-ea"/>
                  </a:rPr>
                  <a:t>用下面的迭代公式求</a:t>
                </a:r>
                <a:r>
                  <a:rPr kumimoji="1" lang="en-US" altLang="zh-CN" sz="2100" b="1" dirty="0">
                    <a:solidFill>
                      <a:srgbClr val="000000"/>
                    </a:solidFill>
                    <a:latin typeface="+mn-ea"/>
                  </a:rPr>
                  <a:t>Pi</a:t>
                </a:r>
                <a:r>
                  <a:rPr kumimoji="1" lang="zh-CN" altLang="en-US" sz="2100" b="1" dirty="0">
                    <a:solidFill>
                      <a:srgbClr val="000000"/>
                    </a:solidFill>
                    <a:latin typeface="+mn-ea"/>
                  </a:rPr>
                  <a:t>的值</a:t>
                </a:r>
                <a:endParaRPr kumimoji="1" lang="en-US" altLang="zh-CN" sz="2100" b="1" dirty="0">
                  <a:solidFill>
                    <a:srgbClr val="000000"/>
                  </a:solidFill>
                  <a:latin typeface="+mn-ea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kumimoji="1" lang="en-US" altLang="zh-CN" sz="1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kumimoji="1" lang="en-US" altLang="zh-CN" sz="1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kumimoji="1"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f>
                      <m:fPr>
                        <m:ctrlPr>
                          <a:rPr kumimoji="1" lang="zh-CN" altLang="en-US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zh-CN" altLang="en-US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kumimoji="1" lang="zh-CN" altLang="en-US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kumimoji="1"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f>
                      <m:fPr>
                        <m:ctrlPr>
                          <a:rPr kumimoji="1" lang="zh-CN" altLang="en-US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zh-CN" altLang="en-US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kumimoji="1" lang="zh-CN" altLang="en-US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  <m:r>
                      <a:rPr kumimoji="1"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f>
                      <m:fPr>
                        <m:ctrlPr>
                          <a:rPr kumimoji="1" lang="zh-CN" altLang="en-US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zh-CN" altLang="en-US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kumimoji="1" lang="zh-CN" altLang="en-US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den>
                    </m:f>
                    <m:r>
                      <a:rPr kumimoji="1" lang="en-US" altLang="zh-CN" sz="1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kumimoji="1" lang="en-US" altLang="zh-CN" sz="1600" b="1" dirty="0">
                    <a:solidFill>
                      <a:srgbClr val="000000"/>
                    </a:solidFill>
                    <a:latin typeface="+mn-ea"/>
                  </a:rPr>
                  <a:t>…</a:t>
                </a:r>
                <a:endParaRPr kumimoji="1" lang="zh-CN" altLang="en-US" sz="1600" b="1" dirty="0">
                  <a:solidFill>
                    <a:srgbClr val="000000"/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5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96785" y="1323975"/>
                <a:ext cx="3789680" cy="830580"/>
              </a:xfrm>
              <a:prstGeom prst="rect">
                <a:avLst/>
              </a:prstGeom>
              <a:blipFill rotWithShape="1">
                <a:blip r:embed="rId1"/>
                <a:stretch>
                  <a:fillRect l="-134" t="-612" r="-117" b="-535"/>
                </a:stretch>
              </a:blip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 bwMode="auto">
          <a:xfrm>
            <a:off x="7918882" y="4913259"/>
            <a:ext cx="2920568" cy="31038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本页结果不要截图，手填即可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、观察程序运行结果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n = 0,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, m, k;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bool prime;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for(m=101; m&lt;=200; m+=2) { //</a:t>
            </a:r>
            <a:r>
              <a:rPr lang="zh-CN" altLang="en-US" sz="1200" b="1" dirty="0">
                <a:latin typeface="+mn-ea"/>
              </a:rPr>
              <a:t>偶数没必要判断</a:t>
            </a:r>
            <a:endParaRPr lang="zh-CN" altLang="en-US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    </a:t>
            </a:r>
            <a:r>
              <a:rPr lang="en-US" altLang="zh-CN" sz="1200" b="1" dirty="0">
                <a:latin typeface="+mn-ea"/>
              </a:rPr>
              <a:t>prime=true;            //</a:t>
            </a:r>
            <a:r>
              <a:rPr lang="zh-CN" altLang="en-US" sz="1200" b="1" dirty="0">
                <a:latin typeface="+mn-ea"/>
              </a:rPr>
              <a:t>对每个数，先认为是素数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k=int(sqrt(m));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   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for(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=2;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&lt;=k;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++)</a:t>
            </a:r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        if (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m%i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==0) {</a:t>
            </a:r>
            <a:endParaRPr lang="zh-CN" altLang="en-US" sz="1200" b="1" dirty="0">
              <a:solidFill>
                <a:srgbClr val="FF0000"/>
              </a:solidFill>
              <a:latin typeface="+mn-ea"/>
            </a:endParaRPr>
          </a:p>
          <a:p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                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prime=false;</a:t>
            </a:r>
            <a:endParaRPr lang="zh-CN" altLang="en-US" sz="1200" b="1" dirty="0">
              <a:solidFill>
                <a:srgbClr val="FF0000"/>
              </a:solidFill>
              <a:latin typeface="+mn-ea"/>
            </a:endParaRPr>
          </a:p>
          <a:p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                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break;</a:t>
            </a:r>
            <a:endParaRPr lang="zh-CN" altLang="en-US" sz="1200" b="1" dirty="0">
              <a:solidFill>
                <a:srgbClr val="FF0000"/>
              </a:solidFill>
              <a:latin typeface="+mn-ea"/>
            </a:endParaRPr>
          </a:p>
          <a:p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                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}</a:t>
            </a:r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if (prime) 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(5) &lt;&lt; m;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    n=n+1;      //</a:t>
            </a:r>
            <a:r>
              <a:rPr lang="zh-CN" altLang="en-US" sz="1200" b="1" dirty="0">
                <a:latin typeface="+mn-ea"/>
              </a:rPr>
              <a:t>计数器，只为了加输出换行</a:t>
            </a:r>
            <a:endParaRPr lang="zh-CN" altLang="en-US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        </a:t>
            </a:r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if (n%10==0)    //</a:t>
            </a:r>
            <a:r>
              <a:rPr lang="zh-CN" altLang="en-US" sz="1200" b="1" dirty="0">
                <a:latin typeface="+mn-ea"/>
              </a:rPr>
              <a:t>每</a:t>
            </a:r>
            <a:r>
              <a:rPr lang="en-US" altLang="zh-CN" sz="1200" b="1" dirty="0">
                <a:latin typeface="+mn-ea"/>
              </a:rPr>
              <a:t>10</a:t>
            </a:r>
            <a:r>
              <a:rPr lang="zh-CN" altLang="en-US" sz="1200" b="1" dirty="0">
                <a:latin typeface="+mn-ea"/>
              </a:rPr>
              <a:t>个数输出一行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&lt;&lt;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} //end of for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5" name="Object 3"/>
          <p:cNvSpPr txBox="1"/>
          <p:nvPr/>
        </p:nvSpPr>
        <p:spPr bwMode="auto">
          <a:xfrm>
            <a:off x="2325249" y="1323975"/>
            <a:ext cx="3035028" cy="4417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>
            <a:norm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100" b="1" dirty="0">
                <a:solidFill>
                  <a:srgbClr val="000000"/>
                </a:solidFill>
                <a:latin typeface="+mn-ea"/>
              </a:rPr>
              <a:t>打印</a:t>
            </a:r>
            <a:r>
              <a:rPr kumimoji="1" lang="en-US" altLang="zh-CN" sz="2100" b="1" dirty="0">
                <a:solidFill>
                  <a:srgbClr val="000000"/>
                </a:solidFill>
                <a:latin typeface="+mn-ea"/>
              </a:rPr>
              <a:t>100-200</a:t>
            </a:r>
            <a:r>
              <a:rPr kumimoji="1" lang="zh-CN" altLang="en-US" sz="2100" b="1" dirty="0">
                <a:solidFill>
                  <a:srgbClr val="000000"/>
                </a:solidFill>
                <a:latin typeface="+mn-ea"/>
              </a:rPr>
              <a:t>之间的素数</a:t>
            </a:r>
            <a:endParaRPr kumimoji="1" lang="en-US" altLang="zh-CN" sz="21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360276" y="1323975"/>
            <a:ext cx="547917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(1) </a:t>
            </a:r>
            <a:r>
              <a:rPr lang="zh-CN" altLang="en-US" sz="1600" b="1" dirty="0">
                <a:latin typeface="+mn-ea"/>
              </a:rPr>
              <a:t>目前输出结果：一共</a:t>
            </a:r>
            <a:r>
              <a:rPr lang="en-US" altLang="zh-CN" sz="1600" b="1" dirty="0">
                <a:latin typeface="+mn-ea"/>
              </a:rPr>
              <a:t>21</a:t>
            </a:r>
            <a:r>
              <a:rPr lang="zh-CN" altLang="en-US" sz="1600" b="1" dirty="0">
                <a:latin typeface="+mn-ea"/>
              </a:rPr>
              <a:t>个，每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个一行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(2) </a:t>
            </a:r>
            <a:r>
              <a:rPr lang="zh-CN" altLang="en-US" sz="1600" b="1" dirty="0">
                <a:latin typeface="+mn-ea"/>
              </a:rPr>
              <a:t>将</a:t>
            </a:r>
            <a:r>
              <a:rPr lang="en-US" altLang="zh-CN" sz="1600" b="1" dirty="0">
                <a:latin typeface="+mn-ea"/>
              </a:rPr>
              <a:t>m</a:t>
            </a:r>
            <a:r>
              <a:rPr lang="zh-CN" altLang="en-US" sz="1600" b="1" dirty="0">
                <a:latin typeface="+mn-ea"/>
              </a:rPr>
              <a:t>的初值从</a:t>
            </a:r>
            <a:r>
              <a:rPr lang="en-US" altLang="zh-CN" sz="1600" b="1" dirty="0">
                <a:latin typeface="+mn-ea"/>
              </a:rPr>
              <a:t>101</a:t>
            </a:r>
            <a:r>
              <a:rPr lang="zh-CN" altLang="en-US" sz="1600" b="1" dirty="0">
                <a:latin typeface="+mn-ea"/>
              </a:rPr>
              <a:t>改为</a:t>
            </a:r>
            <a:r>
              <a:rPr lang="en-US" altLang="zh-CN" sz="1600" b="1" dirty="0">
                <a:latin typeface="+mn-ea"/>
              </a:rPr>
              <a:t>103</a:t>
            </a:r>
            <a:r>
              <a:rPr lang="zh-CN" altLang="en-US" sz="1600" b="1" dirty="0">
                <a:latin typeface="+mn-ea"/>
              </a:rPr>
              <a:t>，应该是</a:t>
            </a:r>
            <a:r>
              <a:rPr lang="en-US" altLang="zh-CN" sz="1600" b="1" dirty="0">
                <a:latin typeface="+mn-ea"/>
              </a:rPr>
              <a:t>20</a:t>
            </a:r>
            <a:r>
              <a:rPr lang="zh-CN" altLang="en-US" sz="1600" b="1" dirty="0">
                <a:latin typeface="+mn-ea"/>
              </a:rPr>
              <a:t>个，共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实际呢？为什么？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实际输出了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4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行，中间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2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行为空行。因为当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m=151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时，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n=10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，满足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n%10==0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，换行，接下去的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m=153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和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m=155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都不是质数，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prime=flase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，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n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的值保持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10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不变，因此又会换行两次，直到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m=157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为质数，改变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n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的值才能正常输出。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(3) </a:t>
            </a:r>
            <a:r>
              <a:rPr lang="zh-CN" altLang="en-US" sz="1600" b="1" dirty="0">
                <a:latin typeface="+mn-ea"/>
              </a:rPr>
              <a:t>将左侧程序改正确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(</a:t>
            </a:r>
            <a:r>
              <a:rPr lang="zh-CN" altLang="en-US" sz="1600" b="1" dirty="0">
                <a:latin typeface="+mn-ea"/>
              </a:rPr>
              <a:t>正确程序贴图在左侧，覆盖现有内容即可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65" y="1653540"/>
            <a:ext cx="4705350" cy="7689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8940" y="3085465"/>
            <a:ext cx="4545965" cy="11639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915" y="5747385"/>
            <a:ext cx="4297680" cy="73469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820" y="1280795"/>
            <a:ext cx="4768215" cy="52539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zUwMDE4ODJhNGJhYzNiZjlkYmQyMTBiNTljMTUzMjcifQ=="/>
</p:tagLst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6519</Words>
  <Application>WPS 演示</Application>
  <PresentationFormat>宽屏</PresentationFormat>
  <Paragraphs>351</Paragraphs>
  <Slides>14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Times New Roman</vt:lpstr>
      <vt:lpstr>Cambria Math</vt:lpstr>
      <vt:lpstr>微软雅黑</vt:lpstr>
      <vt:lpstr>Arial Unicode MS</vt:lpstr>
      <vt:lpstr>等线</vt:lpstr>
      <vt:lpstr>Calibri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染墨相思</cp:lastModifiedBy>
  <cp:revision>211</cp:revision>
  <dcterms:created xsi:type="dcterms:W3CDTF">2020-08-13T13:39:00Z</dcterms:created>
  <dcterms:modified xsi:type="dcterms:W3CDTF">2024-03-31T04:24:03Z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7E25BE83DF1F47AC878E8AFD362CE545_12</vt:lpwstr>
  </property>
  <property fmtid="{D5CDD505-2E9C-101B-9397-08002B2CF9AE}" pid="3" name="KSOProductBuildVer">
    <vt:lpwstr>2052-12.1.0.16388</vt:lpwstr>
  </property>
</Properties>
</file>