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1236" r:id="rId3"/>
    <p:sldId id="1268" r:id="rId5"/>
    <p:sldId id="1237" r:id="rId6"/>
    <p:sldId id="1230" r:id="rId7"/>
    <p:sldId id="449" r:id="rId8"/>
    <p:sldId id="1182" r:id="rId9"/>
    <p:sldId id="1226" r:id="rId10"/>
    <p:sldId id="1227" r:id="rId11"/>
    <p:sldId id="1198" r:id="rId12"/>
    <p:sldId id="1183" r:id="rId13"/>
    <p:sldId id="1228" r:id="rId14"/>
    <p:sldId id="1229" r:id="rId15"/>
    <p:sldId id="1231" r:id="rId16"/>
    <p:sldId id="1232" r:id="rId17"/>
    <p:sldId id="1233" r:id="rId18"/>
    <p:sldId id="1199" r:id="rId19"/>
    <p:sldId id="1234" r:id="rId20"/>
    <p:sldId id="1235" r:id="rId21"/>
    <p:sldId id="1200" r:id="rId22"/>
  </p:sldIdLst>
  <p:sldSz cx="12192000" cy="6858000"/>
  <p:notesSz cx="6858000" cy="9144000"/>
  <p:custDataLst>
    <p:tags r:id="rId2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arry" initials="L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844" autoAdjust="0"/>
    <p:restoredTop sz="86411" autoAdjust="0"/>
  </p:normalViewPr>
  <p:slideViewPr>
    <p:cSldViewPr snapToGrid="0">
      <p:cViewPr varScale="1">
        <p:scale>
          <a:sx n="88" d="100"/>
          <a:sy n="88" d="100"/>
        </p:scale>
        <p:origin x="96" y="2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7" Type="http://schemas.openxmlformats.org/officeDocument/2006/relationships/tags" Target="tags/tag1.xml"/><Relationship Id="rId26" Type="http://schemas.openxmlformats.org/officeDocument/2006/relationships/commentAuthors" Target="commentAuthors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4E512-F0DE-40DA-A281-500184A3244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115B22-8194-4FC8-9614-86C592EEABA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5F2CA6-A39B-48F7-84D1-AF91BD07D67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C41597-7941-4461-A03D-7D307C3317F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7E5104-8735-46A8-9820-8BD5C44B645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BB04D0-EC69-4E34-9026-1132273F6FE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34D7FE-E00D-4DCA-A0A7-A306174DC0C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E46EFE-F103-4F45-8883-0DE6C66B1B8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75AF18-52E2-4048-A908-642605843CB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2A61F9-4BE0-4887-A67C-4D288CA5699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7B2B09-852B-4EAA-A08A-0953A9F6334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1CDC42-DFEF-458F-BD1B-2EFAEEF6801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>
              <a:defRPr/>
            </a:pPr>
            <a:fld id="{FF534AEE-0681-4001-91D8-DF8F111160F4}" type="slidenum">
              <a:rPr lang="en-US" altLang="zh-CN"/>
            </a:fld>
            <a:endParaRPr lang="en-US" altLang="zh-CN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2268" y="5786"/>
            <a:ext cx="1183064" cy="118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字符的输入与输出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要求：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、完成本文档中所有的题目并写出分析、运行结果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、无特殊说明，均使用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编译即可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、直接在本文件上作答，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写出答案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截图（不允许手写、手写拍照截图）</a:t>
            </a:r>
            <a:r>
              <a:rPr lang="zh-CN" altLang="en-US" sz="1600" b="1" dirty="0">
                <a:latin typeface="+mn-ea"/>
              </a:rPr>
              <a:t>即可；填写答案时，为适应所填内容或贴图，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允许调整</a:t>
            </a:r>
            <a:r>
              <a:rPr lang="zh-CN" altLang="en-US" sz="1600" b="1" dirty="0">
                <a:latin typeface="+mn-ea"/>
              </a:rPr>
              <a:t>页面的字体大小、颜色、文本框的位置等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贴图要有效部分即可，不需要全部内容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在保证一页一题的前提下，具体页面布局可以自行发挥，简单易读即可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不允许</a:t>
            </a:r>
            <a:r>
              <a:rPr lang="zh-CN" altLang="en-US" sz="1600" b="1" dirty="0">
                <a:latin typeface="+mn-ea"/>
              </a:rPr>
              <a:t>手写在纸上，再拍照贴图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</a:t>
            </a:r>
            <a:r>
              <a:rPr lang="zh-CN" altLang="en-US" sz="1600" b="1" dirty="0">
                <a:latin typeface="+mn-ea"/>
              </a:rPr>
              <a:t>在各种软件工具上完成（不含手写），再截图贴图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如果某题要求</a:t>
            </a:r>
            <a:r>
              <a:rPr lang="en-US" altLang="zh-CN" sz="1600" b="1" dirty="0" err="1">
                <a:latin typeface="+mn-ea"/>
              </a:rPr>
              <a:t>VS+Dev</a:t>
            </a:r>
            <a:r>
              <a:rPr lang="zh-CN" altLang="en-US" sz="1600" b="1" dirty="0">
                <a:latin typeface="+mn-ea"/>
              </a:rPr>
              <a:t>的，则如果两个编译器运行结果一致，贴</a:t>
            </a:r>
            <a:r>
              <a:rPr lang="en-US" altLang="zh-CN" sz="1600" b="1" dirty="0">
                <a:latin typeface="+mn-ea"/>
              </a:rPr>
              <a:t>VS</a:t>
            </a:r>
            <a:r>
              <a:rPr lang="zh-CN" altLang="en-US" sz="1600" b="1" dirty="0">
                <a:latin typeface="+mn-ea"/>
              </a:rPr>
              <a:t>的一张图即可，如果不一致，则两个图都要贴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、转换为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后提交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3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月</a:t>
            </a:r>
            <a:r>
              <a:rPr lang="en-US" altLang="zh-CN" sz="1600" b="1">
                <a:solidFill>
                  <a:srgbClr val="FF0000"/>
                </a:solidFill>
                <a:latin typeface="+mn-ea"/>
              </a:rPr>
              <a:t>21</a:t>
            </a:r>
            <a:r>
              <a:rPr lang="zh-CN" altLang="en-US" sz="1600" b="1">
                <a:solidFill>
                  <a:srgbClr val="FF0000"/>
                </a:solidFill>
                <a:latin typeface="+mn-ea"/>
              </a:rPr>
              <a:t>日前</a:t>
            </a:r>
            <a:r>
              <a:rPr lang="zh-CN" altLang="en-US" sz="1600" b="1" dirty="0">
                <a:latin typeface="+mn-ea"/>
              </a:rPr>
              <a:t>网上提交本次作业（在“文档作业”中提交）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字符的输入与输出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贴图要求：只需要截取输出窗口中的有效部分即可，如果全部截取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截取过大，则视为无效贴图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 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例：无效贴图                                                                       例：有效贴图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853" y="1614221"/>
            <a:ext cx="8291512" cy="489989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5148" y="1614221"/>
            <a:ext cx="2257143" cy="600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字符的输入与输出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附：用</a:t>
            </a:r>
            <a:r>
              <a:rPr lang="en-US" altLang="zh-CN" sz="1600" b="1" dirty="0">
                <a:latin typeface="+mn-ea"/>
              </a:rPr>
              <a:t>WPS</a:t>
            </a:r>
            <a:r>
              <a:rPr lang="zh-CN" altLang="en-US" sz="1600" b="1" dirty="0">
                <a:latin typeface="+mn-ea"/>
              </a:rPr>
              <a:t>等其他第三方软件打开</a:t>
            </a:r>
            <a:r>
              <a:rPr lang="en-US" altLang="zh-CN" sz="1600" b="1" dirty="0">
                <a:latin typeface="+mn-ea"/>
              </a:rPr>
              <a:t>PPT</a:t>
            </a:r>
            <a:r>
              <a:rPr lang="zh-CN" altLang="en-US" sz="1600" b="1" dirty="0">
                <a:latin typeface="+mn-ea"/>
              </a:rPr>
              <a:t>，将代码复制到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中后，如果出现类似下面的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编译报错</a:t>
            </a:r>
            <a:r>
              <a:rPr lang="zh-CN" altLang="en-US" sz="1600" b="1" dirty="0">
                <a:latin typeface="+mn-ea"/>
              </a:rPr>
              <a:t>，则观察源程序编辑窗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的右下角是否为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，如果是，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单击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，在弹出中选择</a:t>
            </a:r>
            <a:r>
              <a:rPr lang="en-US" altLang="zh-CN" sz="1600" b="1" dirty="0">
                <a:latin typeface="+mn-ea"/>
              </a:rPr>
              <a:t>CRLF</a:t>
            </a:r>
            <a:r>
              <a:rPr lang="zh-CN" altLang="en-US" sz="1600" b="1" dirty="0">
                <a:latin typeface="+mn-ea"/>
              </a:rPr>
              <a:t>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再次</a:t>
            </a:r>
            <a:r>
              <a:rPr lang="en-US" altLang="zh-CN" sz="1600" b="1" dirty="0">
                <a:latin typeface="+mn-ea"/>
              </a:rPr>
              <a:t>CTRL+F5</a:t>
            </a:r>
            <a:r>
              <a:rPr lang="zh-CN" altLang="en-US" sz="1600" b="1" dirty="0">
                <a:latin typeface="+mn-ea"/>
              </a:rPr>
              <a:t>运行即可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61635" y="3090983"/>
            <a:ext cx="2123810" cy="1933333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958" y="1329084"/>
            <a:ext cx="7914286" cy="5314286"/>
          </a:xfrm>
          <a:prstGeom prst="rect">
            <a:avLst/>
          </a:prstGeom>
        </p:spPr>
      </p:pic>
      <p:sp>
        <p:nvSpPr>
          <p:cNvPr id="5" name="箭头: 右 4"/>
          <p:cNvSpPr/>
          <p:nvPr/>
        </p:nvSpPr>
        <p:spPr bwMode="auto">
          <a:xfrm>
            <a:off x="8023460" y="4571893"/>
            <a:ext cx="638175" cy="452423"/>
          </a:xfrm>
          <a:prstGeom prst="rightArrow">
            <a:avLst/>
          </a:prstGeom>
          <a:solidFill>
            <a:srgbClr val="FF0000">
              <a:alpha val="40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字符的输入与输出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2800" b="1" dirty="0">
                <a:latin typeface="+mn-ea"/>
              </a:rPr>
              <a:t>特别提示：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en-US" altLang="zh-CN" sz="2800" b="1" dirty="0">
                <a:latin typeface="+mn-ea"/>
              </a:rPr>
              <a:t>1</a:t>
            </a:r>
            <a:r>
              <a:rPr lang="zh-CN" altLang="en-US" sz="2800" b="1" dirty="0">
                <a:latin typeface="+mn-ea"/>
              </a:rPr>
              <a:t>、做题过程中，先按要求输入，如果想替换数据，也要先做完指定输入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en-US" altLang="zh-CN" sz="2800" b="1" dirty="0">
                <a:latin typeface="+mn-ea"/>
              </a:rPr>
              <a:t>2</a:t>
            </a:r>
            <a:r>
              <a:rPr lang="zh-CN" altLang="en-US" sz="2800" b="1" dirty="0">
                <a:latin typeface="+mn-ea"/>
              </a:rPr>
              <a:t>、如果替换数据后出现某些问题，先记录下来，不要问，等全部完成后，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en-US" altLang="zh-CN" sz="2800" b="1" dirty="0">
                <a:latin typeface="+mn-ea"/>
              </a:rPr>
              <a:t>   </a:t>
            </a:r>
            <a:r>
              <a:rPr lang="zh-CN" altLang="en-US" sz="2800" b="1" dirty="0">
                <a:latin typeface="+mn-ea"/>
              </a:rPr>
              <a:t>还想不通再问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也许你的问题在后面的题目中有答案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</a:rPr>
              <a:t>)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  <a:p>
            <a:pPr algn="l"/>
            <a:r>
              <a:rPr lang="en-US" altLang="zh-CN" sz="2800" b="1" dirty="0">
                <a:latin typeface="+mn-ea"/>
              </a:rPr>
              <a:t>3</a:t>
            </a:r>
            <a:r>
              <a:rPr lang="zh-CN" altLang="en-US" sz="2800" b="1" dirty="0">
                <a:latin typeface="+mn-ea"/>
              </a:rPr>
              <a:t>、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不要偷懒、不要自以为是的脑补结论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</a:rPr>
              <a:t>!!!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  <a:p>
            <a:pPr algn="l"/>
            <a:r>
              <a:rPr lang="en-US" altLang="zh-CN" sz="2800" b="1" dirty="0">
                <a:latin typeface="+mn-ea"/>
              </a:rPr>
              <a:t>4</a:t>
            </a:r>
            <a:r>
              <a:rPr lang="zh-CN" altLang="en-US" sz="2800" b="1" dirty="0">
                <a:latin typeface="+mn-ea"/>
              </a:rPr>
              <a:t>、先得到题目要求的小结论，再综合考虑上下题目间关系，得到综合结论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en-US" altLang="zh-CN" sz="2800" b="1" dirty="0">
                <a:latin typeface="+mn-ea"/>
              </a:rPr>
              <a:t>5</a:t>
            </a:r>
            <a:r>
              <a:rPr lang="zh-CN" altLang="en-US" sz="2800" b="1" dirty="0">
                <a:latin typeface="+mn-ea"/>
              </a:rPr>
              <a:t>、这些结论，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是让你记住的，不是让你完成作业后就忘掉了</a:t>
            </a:r>
            <a:endParaRPr lang="zh-CN" altLang="en-US" sz="2800" b="1" dirty="0">
              <a:solidFill>
                <a:srgbClr val="FF0000"/>
              </a:solidFill>
              <a:latin typeface="+mn-ea"/>
            </a:endParaRPr>
          </a:p>
          <a:p>
            <a:pPr algn="l"/>
            <a:r>
              <a:rPr lang="en-US" altLang="zh-CN" sz="2800" b="1" dirty="0">
                <a:latin typeface="+mn-ea"/>
              </a:rPr>
              <a:t>6</a:t>
            </a:r>
            <a:r>
              <a:rPr lang="zh-CN" altLang="en-US" sz="2800" b="1" dirty="0">
                <a:latin typeface="+mn-ea"/>
              </a:rPr>
              <a:t>、换位思考</a:t>
            </a:r>
            <a:r>
              <a:rPr lang="en-US" altLang="zh-CN" sz="2800" b="1" dirty="0">
                <a:latin typeface="+mn-ea"/>
              </a:rPr>
              <a:t>(</a:t>
            </a:r>
            <a:r>
              <a:rPr lang="zh-CN" altLang="en-US" sz="2800" b="1" dirty="0">
                <a:latin typeface="+mn-ea"/>
              </a:rPr>
              <a:t>从老师角度出发</a:t>
            </a:r>
            <a:r>
              <a:rPr lang="en-US" altLang="zh-CN" sz="2800" b="1" dirty="0">
                <a:latin typeface="+mn-ea"/>
              </a:rPr>
              <a:t>)</a:t>
            </a:r>
            <a:r>
              <a:rPr lang="zh-CN" altLang="en-US" sz="2800" b="1" dirty="0">
                <a:latin typeface="+mn-ea"/>
              </a:rPr>
              <a:t>，这些题的目的是希望掌握什么学习方法？</a:t>
            </a:r>
            <a:endParaRPr lang="en-US" altLang="zh-CN" sz="2800" b="1" dirty="0">
              <a:latin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字符的输入与输出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基本知识点：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和</a:t>
            </a:r>
            <a:r>
              <a:rPr lang="en-US" altLang="zh-CN" sz="1600" b="1" dirty="0" err="1">
                <a:latin typeface="+mn-ea"/>
              </a:rPr>
              <a:t>getchar</a:t>
            </a:r>
            <a:r>
              <a:rPr lang="zh-CN" altLang="en-US" sz="1600" b="1" dirty="0">
                <a:latin typeface="+mn-ea"/>
              </a:rPr>
              <a:t>的区别：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是按格式读入，到空格、回车、非法为止；</a:t>
            </a:r>
            <a:r>
              <a:rPr lang="en-US" altLang="zh-CN" sz="1600" b="1" dirty="0" err="1">
                <a:latin typeface="+mn-ea"/>
              </a:rPr>
              <a:t>getchar</a:t>
            </a:r>
            <a:r>
              <a:rPr lang="zh-CN" altLang="en-US" sz="1600" b="1" dirty="0">
                <a:latin typeface="+mn-ea"/>
              </a:rPr>
              <a:t>是只读一个字符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、两者的共同点：都有输入缓冲区，输入必须以回车结束，从输入缓冲区去取得需要的内容后，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多余的内容还放在输入缓冲区中，等到下次读入（如果程序结束，则操作系统会清空输入缓冲区）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_</a:t>
            </a:r>
            <a:r>
              <a:rPr lang="en-US" altLang="zh-CN" sz="1600" b="1" dirty="0" err="1">
                <a:latin typeface="+mn-ea"/>
              </a:rPr>
              <a:t>getche</a:t>
            </a:r>
            <a:r>
              <a:rPr lang="en-US" altLang="zh-CN" sz="1600" b="1" dirty="0">
                <a:latin typeface="+mn-ea"/>
              </a:rPr>
              <a:t>()/_</a:t>
            </a:r>
            <a:r>
              <a:rPr lang="en-US" altLang="zh-CN" sz="1600" b="1" dirty="0" err="1">
                <a:latin typeface="+mn-ea"/>
              </a:rPr>
              <a:t>getch</a:t>
            </a:r>
            <a:r>
              <a:rPr lang="en-US" altLang="zh-CN" sz="1600" b="1" dirty="0">
                <a:latin typeface="+mn-ea"/>
              </a:rPr>
              <a:t>()</a:t>
            </a:r>
            <a:r>
              <a:rPr lang="zh-CN" altLang="en-US" sz="1600" b="1" dirty="0">
                <a:latin typeface="+mn-ea"/>
              </a:rPr>
              <a:t>是没有输入缓冲区的，输入后不需要按回车键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getchar</a:t>
            </a:r>
            <a:r>
              <a:rPr lang="en-US" altLang="zh-CN" sz="1600" b="1" dirty="0">
                <a:latin typeface="+mn-ea"/>
              </a:rPr>
              <a:t>()</a:t>
            </a:r>
            <a:r>
              <a:rPr lang="zh-CN" altLang="en-US" sz="1600" b="1" dirty="0">
                <a:latin typeface="+mn-ea"/>
              </a:rPr>
              <a:t>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返回是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int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型</a:t>
            </a:r>
            <a:r>
              <a:rPr lang="zh-CN" altLang="en-US" sz="1600" b="1" dirty="0">
                <a:latin typeface="+mn-ea"/>
              </a:rPr>
              <a:t>，因为除了正常的</a:t>
            </a:r>
            <a:r>
              <a:rPr lang="en-US" altLang="zh-CN" sz="1600" b="1" dirty="0">
                <a:latin typeface="+mn-ea"/>
              </a:rPr>
              <a:t>256</a:t>
            </a:r>
            <a:r>
              <a:rPr lang="zh-CN" altLang="en-US" sz="1600" b="1" dirty="0">
                <a:latin typeface="+mn-ea"/>
              </a:rPr>
              <a:t>个</a:t>
            </a:r>
            <a:r>
              <a:rPr lang="en-US" altLang="zh-CN" sz="1600" b="1" dirty="0">
                <a:latin typeface="+mn-ea"/>
              </a:rPr>
              <a:t>ASCII</a:t>
            </a:r>
            <a:r>
              <a:rPr lang="zh-CN" altLang="en-US" sz="1600" b="1" dirty="0">
                <a:latin typeface="+mn-ea"/>
              </a:rPr>
              <a:t>字符（含基本和扩展</a:t>
            </a:r>
            <a:r>
              <a:rPr lang="en-US" altLang="zh-CN" sz="1600" b="1" dirty="0">
                <a:latin typeface="+mn-ea"/>
              </a:rPr>
              <a:t>ASCII</a:t>
            </a:r>
            <a:r>
              <a:rPr lang="zh-CN" altLang="en-US" sz="1600" b="1" dirty="0">
                <a:latin typeface="+mn-ea"/>
              </a:rPr>
              <a:t>码、中文、其它语言文字等），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还需要额外考虑一个输入出错情况下的返回，因此无法用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字节返回值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3600" b="1" dirty="0">
                <a:solidFill>
                  <a:srgbClr val="FF0000"/>
                </a:solidFill>
                <a:latin typeface="+mn-ea"/>
              </a:rPr>
              <a:t>5</a:t>
            </a:r>
            <a:r>
              <a:rPr lang="zh-CN" altLang="en-US" sz="3600" b="1" dirty="0">
                <a:solidFill>
                  <a:srgbClr val="FF0000"/>
                </a:solidFill>
                <a:latin typeface="+mn-ea"/>
              </a:rPr>
              <a:t>、先认真看课件</a:t>
            </a:r>
            <a:r>
              <a:rPr lang="en-US" altLang="zh-CN" sz="3600" b="1" dirty="0">
                <a:solidFill>
                  <a:srgbClr val="FF0000"/>
                </a:solidFill>
                <a:latin typeface="+mn-ea"/>
              </a:rPr>
              <a:t>!!!</a:t>
            </a:r>
            <a:endParaRPr lang="en-US" altLang="zh-CN" sz="3600" b="1" dirty="0">
              <a:solidFill>
                <a:srgbClr val="FF0000"/>
              </a:solidFill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字符的输入与输出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putchar</a:t>
            </a:r>
            <a:r>
              <a:rPr lang="zh-CN" altLang="en-US" sz="1600" b="1" dirty="0">
                <a:latin typeface="+mn-ea"/>
              </a:rPr>
              <a:t>的基本使用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525517" y="998484"/>
            <a:ext cx="10247586" cy="3678620"/>
            <a:chOff x="515007" y="1198180"/>
            <a:chExt cx="10247586" cy="3678620"/>
          </a:xfrm>
        </p:grpSpPr>
        <p:sp>
          <p:nvSpPr>
            <p:cNvPr id="5" name="矩形 4"/>
            <p:cNvSpPr/>
            <p:nvPr/>
          </p:nvSpPr>
          <p:spPr bwMode="auto">
            <a:xfrm>
              <a:off x="515007" y="1198180"/>
              <a:ext cx="10247586" cy="367862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>
                <a:spcBef>
                  <a:spcPts val="385"/>
                </a:spcBef>
              </a:pPr>
              <a:r>
                <a:rPr lang="zh-CN" altLang="en-US" sz="1600" b="1" dirty="0">
                  <a:latin typeface="+mn-ea"/>
                </a:rPr>
                <a:t>字符输出函数</a:t>
              </a:r>
              <a:r>
                <a:rPr lang="en-US" altLang="zh-CN" sz="1600" b="1" dirty="0" err="1">
                  <a:latin typeface="+mn-ea"/>
                </a:rPr>
                <a:t>putchar</a:t>
              </a:r>
              <a:r>
                <a:rPr lang="zh-CN" altLang="en-US" sz="1600" b="1" dirty="0">
                  <a:latin typeface="+mn-ea"/>
                </a:rPr>
                <a:t>的基本知识：</a:t>
              </a:r>
              <a:endParaRPr lang="en-US" altLang="zh-CN" sz="1600" b="1" dirty="0">
                <a:latin typeface="+mn-ea"/>
              </a:endParaRPr>
            </a:p>
            <a:p>
              <a:pPr>
                <a:spcBef>
                  <a:spcPts val="385"/>
                </a:spcBef>
              </a:pPr>
              <a:endParaRPr lang="en-US" altLang="zh-CN" sz="1600" b="1" dirty="0">
                <a:latin typeface="+mn-ea"/>
              </a:endParaRPr>
            </a:p>
            <a:p>
              <a:pPr>
                <a:spcBef>
                  <a:spcPts val="385"/>
                </a:spcBef>
              </a:pPr>
              <a:r>
                <a:rPr lang="zh-CN" altLang="en-US" sz="1600" b="1" dirty="0">
                  <a:latin typeface="+mn-ea"/>
                </a:rPr>
                <a:t>形式：</a:t>
              </a:r>
              <a:r>
                <a:rPr lang="en-US" altLang="zh-CN" sz="1600" b="1" dirty="0" err="1">
                  <a:latin typeface="+mn-ea"/>
                </a:rPr>
                <a:t>putchar</a:t>
              </a:r>
              <a:r>
                <a:rPr lang="en-US" altLang="zh-CN" sz="1600" b="1" dirty="0">
                  <a:latin typeface="+mn-ea"/>
                </a:rPr>
                <a:t>(</a:t>
              </a:r>
              <a:r>
                <a:rPr lang="zh-CN" altLang="en-US" sz="1600" b="1" dirty="0">
                  <a:latin typeface="+mn-ea"/>
                </a:rPr>
                <a:t>字符变量</a:t>
              </a:r>
              <a:r>
                <a:rPr lang="en-US" altLang="zh-CN" sz="1600" b="1" dirty="0">
                  <a:latin typeface="+mn-ea"/>
                </a:rPr>
                <a:t>/</a:t>
              </a:r>
              <a:r>
                <a:rPr lang="zh-CN" altLang="en-US" sz="1600" b="1" dirty="0">
                  <a:latin typeface="+mn-ea"/>
                </a:rPr>
                <a:t>常量</a:t>
              </a:r>
              <a:r>
                <a:rPr lang="en-US" altLang="zh-CN" sz="1600" b="1" dirty="0">
                  <a:latin typeface="+mn-ea"/>
                </a:rPr>
                <a:t>)</a:t>
              </a:r>
              <a:endParaRPr lang="en-US" altLang="zh-CN" sz="1600" b="1" dirty="0">
                <a:latin typeface="+mn-ea"/>
              </a:endParaRPr>
            </a:p>
            <a:p>
              <a:pPr>
                <a:spcBef>
                  <a:spcPts val="385"/>
                </a:spcBef>
              </a:pPr>
              <a:r>
                <a:rPr lang="zh-CN" altLang="en-US" sz="1600" b="1" dirty="0">
                  <a:latin typeface="+mn-ea"/>
                </a:rPr>
                <a:t>功能：输出一个字符</a:t>
              </a:r>
              <a:endParaRPr lang="zh-CN" altLang="en-US" sz="1600" b="1" dirty="0">
                <a:latin typeface="+mn-ea"/>
              </a:endParaRPr>
            </a:p>
            <a:p>
              <a:pPr>
                <a:spcBef>
                  <a:spcPts val="385"/>
                </a:spcBef>
              </a:pPr>
              <a:r>
                <a:rPr lang="zh-CN" altLang="en-US" sz="1600" b="1" dirty="0">
                  <a:latin typeface="+mn-ea"/>
                </a:rPr>
                <a:t>      </a:t>
              </a:r>
              <a:r>
                <a:rPr lang="en-US" altLang="zh-CN" sz="1600" b="1" dirty="0">
                  <a:latin typeface="+mn-ea"/>
                </a:rPr>
                <a:t>char a='A';</a:t>
              </a:r>
              <a:endParaRPr lang="en-US" altLang="zh-CN" sz="1600" b="1" dirty="0">
                <a:latin typeface="+mn-ea"/>
              </a:endParaRPr>
            </a:p>
            <a:p>
              <a:pPr>
                <a:spcBef>
                  <a:spcPts val="385"/>
                </a:spcBef>
              </a:pPr>
              <a:r>
                <a:rPr lang="en-US" altLang="zh-CN" sz="1600" b="1" dirty="0">
                  <a:latin typeface="+mn-ea"/>
                </a:rPr>
                <a:t>      </a:t>
              </a:r>
              <a:r>
                <a:rPr lang="en-US" altLang="zh-CN" sz="1600" b="1" dirty="0" err="1">
                  <a:latin typeface="+mn-ea"/>
                </a:rPr>
                <a:t>putchar</a:t>
              </a:r>
              <a:r>
                <a:rPr lang="en-US" altLang="zh-CN" sz="1600" b="1" dirty="0">
                  <a:latin typeface="+mn-ea"/>
                </a:rPr>
                <a:t>(a);</a:t>
              </a:r>
              <a:endParaRPr lang="en-US" altLang="zh-CN" sz="1600" b="1" dirty="0">
                <a:latin typeface="+mn-ea"/>
              </a:endParaRPr>
            </a:p>
            <a:p>
              <a:pPr>
                <a:spcBef>
                  <a:spcPts val="385"/>
                </a:spcBef>
              </a:pPr>
              <a:r>
                <a:rPr lang="en-US" altLang="zh-CN" sz="1600" b="1" dirty="0">
                  <a:latin typeface="+mn-ea"/>
                </a:rPr>
                <a:t>      </a:t>
              </a:r>
              <a:r>
                <a:rPr lang="en-US" altLang="zh-CN" sz="1600" b="1" dirty="0" err="1">
                  <a:latin typeface="+mn-ea"/>
                </a:rPr>
                <a:t>putchar</a:t>
              </a:r>
              <a:r>
                <a:rPr lang="en-US" altLang="zh-CN" sz="1600" b="1" dirty="0">
                  <a:latin typeface="+mn-ea"/>
                </a:rPr>
                <a:t>('A') ;</a:t>
              </a:r>
              <a:endParaRPr lang="en-US" altLang="zh-CN" sz="1600" b="1" dirty="0">
                <a:latin typeface="+mn-ea"/>
              </a:endParaRPr>
            </a:p>
            <a:p>
              <a:pPr>
                <a:spcBef>
                  <a:spcPts val="385"/>
                </a:spcBef>
              </a:pPr>
              <a:r>
                <a:rPr lang="en-US" altLang="zh-CN" sz="1600" b="1" dirty="0">
                  <a:latin typeface="+mn-ea"/>
                </a:rPr>
                <a:t>      </a:t>
              </a:r>
              <a:r>
                <a:rPr lang="en-US" altLang="zh-CN" sz="1600" b="1" dirty="0" err="1">
                  <a:latin typeface="+mn-ea"/>
                </a:rPr>
                <a:t>putchar</a:t>
              </a:r>
              <a:r>
                <a:rPr lang="en-US" altLang="zh-CN" sz="1600" b="1" dirty="0">
                  <a:latin typeface="+mn-ea"/>
                </a:rPr>
                <a:t>('\x41');</a:t>
              </a:r>
              <a:endParaRPr lang="en-US" altLang="zh-CN" sz="1600" b="1" dirty="0">
                <a:latin typeface="+mn-ea"/>
              </a:endParaRPr>
            </a:p>
            <a:p>
              <a:pPr>
                <a:spcBef>
                  <a:spcPts val="385"/>
                </a:spcBef>
              </a:pPr>
              <a:r>
                <a:rPr lang="en-US" altLang="zh-CN" sz="1600" b="1" dirty="0">
                  <a:latin typeface="+mn-ea"/>
                </a:rPr>
                <a:t>      </a:t>
              </a:r>
              <a:r>
                <a:rPr lang="en-US" altLang="zh-CN" sz="1600" b="1" dirty="0" err="1">
                  <a:latin typeface="+mn-ea"/>
                </a:rPr>
                <a:t>putchar</a:t>
              </a:r>
              <a:r>
                <a:rPr lang="en-US" altLang="zh-CN" sz="1600" b="1" dirty="0">
                  <a:latin typeface="+mn-ea"/>
                </a:rPr>
                <a:t>('\101');</a:t>
              </a:r>
              <a:endParaRPr lang="en-US" altLang="zh-CN" sz="1600" b="1" dirty="0">
                <a:latin typeface="+mn-ea"/>
              </a:endParaRPr>
            </a:p>
            <a:p>
              <a:pPr>
                <a:spcBef>
                  <a:spcPts val="385"/>
                </a:spcBef>
              </a:pPr>
              <a:endParaRPr lang="en-US" altLang="zh-CN" sz="1600" b="1" dirty="0">
                <a:latin typeface="+mn-ea"/>
              </a:endParaRPr>
            </a:p>
            <a:p>
              <a:pPr>
                <a:spcBef>
                  <a:spcPts val="385"/>
                </a:spcBef>
              </a:pPr>
              <a:r>
                <a:rPr lang="en-US" altLang="zh-CN" sz="1600" b="1" dirty="0">
                  <a:latin typeface="+mn-ea"/>
                </a:rPr>
                <a:t>★ </a:t>
              </a:r>
              <a:r>
                <a:rPr lang="zh-CN" altLang="en-US" sz="1600" b="1" dirty="0">
                  <a:latin typeface="+mn-ea"/>
                </a:rPr>
                <a:t>某些编译器需要 </a:t>
              </a:r>
              <a:r>
                <a:rPr lang="en-US" altLang="zh-CN" sz="1600" b="1" dirty="0">
                  <a:latin typeface="+mn-ea"/>
                </a:rPr>
                <a:t>#include &lt;</a:t>
              </a:r>
              <a:r>
                <a:rPr lang="en-US" altLang="zh-CN" sz="1600" b="1" dirty="0" err="1">
                  <a:latin typeface="+mn-ea"/>
                </a:rPr>
                <a:t>cstdio</a:t>
              </a:r>
              <a:r>
                <a:rPr lang="en-US" altLang="zh-CN" sz="1600" b="1" dirty="0">
                  <a:latin typeface="+mn-ea"/>
                </a:rPr>
                <a:t>&gt; </a:t>
              </a:r>
              <a:r>
                <a:rPr lang="zh-CN" altLang="en-US" sz="1600" b="1" dirty="0">
                  <a:latin typeface="+mn-ea"/>
                </a:rPr>
                <a:t>或 </a:t>
              </a:r>
              <a:r>
                <a:rPr lang="en-US" altLang="zh-CN" sz="1600" b="1" dirty="0">
                  <a:latin typeface="+mn-ea"/>
                </a:rPr>
                <a:t>#include &lt;</a:t>
              </a:r>
              <a:r>
                <a:rPr lang="en-US" altLang="zh-CN" sz="1600" b="1" dirty="0" err="1">
                  <a:latin typeface="+mn-ea"/>
                </a:rPr>
                <a:t>stdio.h</a:t>
              </a:r>
              <a:r>
                <a:rPr lang="en-US" altLang="zh-CN" sz="1600" b="1" dirty="0">
                  <a:latin typeface="+mn-ea"/>
                </a:rPr>
                <a:t>&gt; </a:t>
              </a:r>
              <a:r>
                <a:rPr lang="en-US" altLang="zh-CN" sz="1600" b="1" dirty="0">
                  <a:solidFill>
                    <a:srgbClr val="FF0000"/>
                  </a:solidFill>
                  <a:latin typeface="+mn-ea"/>
                </a:rPr>
                <a:t>(</a:t>
              </a:r>
              <a:r>
                <a:rPr lang="zh-CN" altLang="en-US" sz="1600" b="1" dirty="0">
                  <a:solidFill>
                    <a:srgbClr val="FF0000"/>
                  </a:solidFill>
                  <a:latin typeface="+mn-ea"/>
                </a:rPr>
                <a:t>目前所用的双编译器均不需要</a:t>
              </a:r>
              <a:r>
                <a:rPr lang="en-US" altLang="zh-CN" sz="1600" b="1" dirty="0">
                  <a:solidFill>
                    <a:srgbClr val="FF0000"/>
                  </a:solidFill>
                  <a:latin typeface="+mn-ea"/>
                </a:rPr>
                <a:t>)</a:t>
              </a:r>
              <a:endParaRPr lang="en-US" altLang="zh-CN" sz="1600" b="1" dirty="0">
                <a:solidFill>
                  <a:srgbClr val="FF0000"/>
                </a:solidFill>
                <a:latin typeface="+mn-ea"/>
              </a:endParaRPr>
            </a:p>
            <a:p>
              <a:pPr>
                <a:spcBef>
                  <a:spcPts val="385"/>
                </a:spcBef>
              </a:pPr>
              <a:r>
                <a:rPr lang="en-US" altLang="zh-CN" sz="1600" b="1" dirty="0">
                  <a:latin typeface="+mn-ea"/>
                </a:rPr>
                <a:t>★ </a:t>
              </a:r>
              <a:r>
                <a:rPr lang="zh-CN" altLang="en-US" sz="1600" b="1" dirty="0">
                  <a:latin typeface="+mn-ea"/>
                </a:rPr>
                <a:t>返回值是</a:t>
              </a:r>
              <a:r>
                <a:rPr lang="en-US" altLang="zh-CN" sz="1600" b="1" dirty="0">
                  <a:latin typeface="+mn-ea"/>
                </a:rPr>
                <a:t>int</a:t>
              </a:r>
              <a:r>
                <a:rPr lang="zh-CN" altLang="en-US" sz="1600" b="1" dirty="0">
                  <a:latin typeface="+mn-ea"/>
                </a:rPr>
                <a:t>型，是输出字符的</a:t>
              </a:r>
              <a:r>
                <a:rPr lang="en-US" altLang="zh-CN" sz="1600" b="1" dirty="0">
                  <a:latin typeface="+mn-ea"/>
                </a:rPr>
                <a:t>ASCII</a:t>
              </a:r>
              <a:r>
                <a:rPr lang="zh-CN" altLang="en-US" sz="1600" b="1" dirty="0">
                  <a:latin typeface="+mn-ea"/>
                </a:rPr>
                <a:t>码，可赋值给字符型</a:t>
              </a:r>
              <a:r>
                <a:rPr lang="en-US" altLang="zh-CN" sz="1600" b="1" dirty="0">
                  <a:latin typeface="+mn-ea"/>
                </a:rPr>
                <a:t>/</a:t>
              </a:r>
              <a:r>
                <a:rPr lang="zh-CN" altLang="en-US" sz="1600" b="1" dirty="0">
                  <a:latin typeface="+mn-ea"/>
                </a:rPr>
                <a:t>整型变量</a:t>
              </a:r>
              <a:endParaRPr lang="en-US" altLang="zh-CN" sz="1600" b="1" dirty="0">
                <a:latin typeface="+mn-ea"/>
              </a:endParaRPr>
            </a:p>
          </p:txBody>
        </p:sp>
        <p:grpSp>
          <p:nvGrpSpPr>
            <p:cNvPr id="6" name="组合 5"/>
            <p:cNvGrpSpPr/>
            <p:nvPr/>
          </p:nvGrpSpPr>
          <p:grpSpPr>
            <a:xfrm>
              <a:off x="2942894" y="2716923"/>
              <a:ext cx="2007476" cy="1082566"/>
              <a:chOff x="2575034" y="2469931"/>
              <a:chExt cx="2007476" cy="1082566"/>
            </a:xfrm>
          </p:grpSpPr>
          <p:sp>
            <p:nvSpPr>
              <p:cNvPr id="2" name="右大括号 1"/>
              <p:cNvSpPr/>
              <p:nvPr/>
            </p:nvSpPr>
            <p:spPr bwMode="auto">
              <a:xfrm>
                <a:off x="2575034" y="2469931"/>
                <a:ext cx="210207" cy="1082566"/>
              </a:xfrm>
              <a:prstGeom prst="rightBrac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" name="矩形 3"/>
              <p:cNvSpPr/>
              <p:nvPr/>
            </p:nvSpPr>
            <p:spPr bwMode="auto">
              <a:xfrm>
                <a:off x="2858813" y="2853559"/>
                <a:ext cx="1723697" cy="31531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1" lang="zh-CN" altLang="en-US" sz="1600" b="1" dirty="0">
                    <a:solidFill>
                      <a:srgbClr val="FF0000"/>
                    </a:solidFill>
                    <a:latin typeface="+mn-ea"/>
                  </a:rPr>
                  <a:t>均表示输出</a:t>
                </a:r>
                <a:r>
                  <a:rPr kumimoji="1" lang="en-US" altLang="zh-CN" sz="1600" b="1" dirty="0">
                    <a:solidFill>
                      <a:srgbClr val="FF0000"/>
                    </a:solidFill>
                    <a:latin typeface="+mn-ea"/>
                  </a:rPr>
                  <a:t>'A'</a:t>
                </a:r>
                <a:endParaRPr kumimoji="1" lang="zh-CN" altLang="en-US" sz="1600" b="1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+mn-ea"/>
                </a:endParaRPr>
              </a:p>
            </p:txBody>
          </p:sp>
        </p:grpSp>
      </p:grpSp>
      <p:sp>
        <p:nvSpPr>
          <p:cNvPr id="8" name="椭圆 7"/>
          <p:cNvSpPr/>
          <p:nvPr/>
        </p:nvSpPr>
        <p:spPr bwMode="auto">
          <a:xfrm>
            <a:off x="9730937" y="6062498"/>
            <a:ext cx="2084332" cy="490702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本页不用作答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字符的输入与输出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putchar</a:t>
            </a:r>
            <a:r>
              <a:rPr lang="zh-CN" altLang="en-US" sz="1600" b="1" dirty="0">
                <a:latin typeface="+mn-ea"/>
              </a:rPr>
              <a:t>的基本使用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程序如下，观察编译及运行结果（贴图在清晰可辨的情况下尽可能小）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592114" y="1323975"/>
            <a:ext cx="4642038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lnSpc>
                <a:spcPct val="90000"/>
              </a:lnSpc>
              <a:spcAft>
                <a:spcPct val="0"/>
              </a:spcAft>
              <a:defRPr/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lnSpc>
                <a:spcPct val="90000"/>
              </a:lnSpc>
              <a:spcAft>
                <a:spcPct val="0"/>
              </a:spcAft>
              <a:defRPr/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</a:rPr>
              <a:t>cstdio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fontAlgn="base">
              <a:lnSpc>
                <a:spcPct val="90000"/>
              </a:lnSpc>
              <a:spcAft>
                <a:spcPct val="0"/>
              </a:spcAft>
              <a:defRPr/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lnSpc>
                <a:spcPct val="90000"/>
              </a:lnSpc>
              <a:spcAft>
                <a:spcPct val="0"/>
              </a:spcAft>
              <a:defRPr/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lnSpc>
                <a:spcPct val="90000"/>
              </a:lnSpc>
              <a:spcAft>
                <a:spcPct val="0"/>
              </a:spcAft>
              <a:defRPr/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lnSpc>
                <a:spcPct val="90000"/>
              </a:lnSpc>
              <a:spcAft>
                <a:spcPct val="0"/>
              </a:spcAft>
              <a:defRPr/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    char ret1;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fontAlgn="base">
              <a:lnSpc>
                <a:spcPct val="90000"/>
              </a:lnSpc>
              <a:spcAft>
                <a:spcPct val="0"/>
              </a:spcAft>
              <a:defRPr/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&lt;&lt; (</a:t>
            </a:r>
            <a:r>
              <a:rPr kumimoji="1"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</a:rPr>
              <a:t>ret1 = </a:t>
            </a:r>
            <a:r>
              <a:rPr kumimoji="1"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</a:rPr>
              <a:t>putchar</a:t>
            </a:r>
            <a:r>
              <a:rPr kumimoji="1"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</a:rPr>
              <a:t>('A')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lnSpc>
                <a:spcPct val="90000"/>
              </a:lnSpc>
              <a:spcAft>
                <a:spcPct val="0"/>
              </a:spcAft>
              <a:defRPr/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ret2;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lnSpc>
                <a:spcPct val="90000"/>
              </a:lnSpc>
              <a:spcAft>
                <a:spcPct val="0"/>
              </a:spcAft>
              <a:defRPr/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(</a:t>
            </a:r>
            <a:r>
              <a:rPr kumimoji="1"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ret2 = </a:t>
            </a:r>
            <a:r>
              <a:rPr kumimoji="1"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putchar</a:t>
            </a:r>
            <a:r>
              <a:rPr kumimoji="1"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('B')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lnSpc>
                <a:spcPct val="90000"/>
              </a:lnSpc>
              <a:spcAft>
                <a:spcPct val="0"/>
              </a:spcAft>
              <a:defRPr/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lnSpc>
                <a:spcPct val="90000"/>
              </a:lnSpc>
              <a:spcAft>
                <a:spcPct val="0"/>
              </a:spcAft>
              <a:defRPr/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}</a:t>
            </a: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234152" y="1323974"/>
            <a:ext cx="5601259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、观察运行结果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、分析运行结果中各输出是哪个语句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函数造成的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(</a:t>
            </a:r>
            <a:r>
              <a:rPr kumimoji="1" lang="zh-CN" altLang="en-US" sz="1600" b="1" dirty="0">
                <a:latin typeface="+mn-ea"/>
              </a:rPr>
              <a:t>可选：</a:t>
            </a:r>
            <a:r>
              <a:rPr kumimoji="1" lang="en-US" altLang="zh-CN" sz="1600" b="1" dirty="0" err="1">
                <a:latin typeface="+mn-ea"/>
              </a:rPr>
              <a:t>cout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en-US" altLang="zh-CN" sz="1600" b="1" dirty="0" err="1">
                <a:latin typeface="+mn-ea"/>
              </a:rPr>
              <a:t>putchar</a:t>
            </a:r>
            <a:r>
              <a:rPr kumimoji="1" lang="en-US" altLang="zh-CN" sz="1600" b="1" dirty="0">
                <a:latin typeface="+mn-ea"/>
              </a:rPr>
              <a:t>)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答：第一行第一个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A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是</a:t>
            </a:r>
            <a:r>
              <a:rPr kumimoji="1" lang="en-US" altLang="zh-CN" sz="1600" b="1" dirty="0" err="1">
                <a:solidFill>
                  <a:schemeClr val="accent2"/>
                </a:solidFill>
                <a:latin typeface="+mn-ea"/>
                <a:sym typeface="+mn-ea"/>
              </a:rPr>
              <a:t>putchar</a:t>
            </a:r>
            <a:r>
              <a:rPr kumimoji="1" lang="zh-CN" altLang="en-US" sz="1600" b="1" dirty="0" err="1">
                <a:solidFill>
                  <a:schemeClr val="accent2"/>
                </a:solidFill>
                <a:latin typeface="+mn-ea"/>
                <a:sym typeface="+mn-ea"/>
              </a:rPr>
              <a:t>造成的，第二个</a:t>
            </a:r>
            <a:r>
              <a:rPr kumimoji="1" lang="en-US" altLang="zh-CN" sz="1600" b="1" dirty="0" err="1">
                <a:solidFill>
                  <a:schemeClr val="accent2"/>
                </a:solidFill>
                <a:latin typeface="+mn-ea"/>
                <a:sym typeface="+mn-ea"/>
              </a:rPr>
              <a:t>A</a:t>
            </a:r>
            <a:r>
              <a:rPr kumimoji="1" lang="zh-CN" altLang="en-US" sz="1600" b="1" dirty="0" err="1">
                <a:solidFill>
                  <a:schemeClr val="accent2"/>
                </a:solidFill>
                <a:latin typeface="+mn-ea"/>
                <a:sym typeface="+mn-ea"/>
              </a:rPr>
              <a:t>是</a:t>
            </a:r>
            <a:r>
              <a:rPr kumimoji="1" lang="en-US" altLang="zh-CN" sz="1600" b="1" dirty="0" err="1">
                <a:solidFill>
                  <a:schemeClr val="accent2"/>
                </a:solidFill>
                <a:latin typeface="+mn-ea"/>
                <a:sym typeface="+mn-ea"/>
              </a:rPr>
              <a:t>cout</a:t>
            </a:r>
            <a:r>
              <a:rPr kumimoji="1" lang="zh-CN" altLang="en-US" sz="1600" b="1" dirty="0" err="1">
                <a:solidFill>
                  <a:schemeClr val="accent2"/>
                </a:solidFill>
                <a:latin typeface="+mn-ea"/>
                <a:sym typeface="+mn-ea"/>
              </a:rPr>
              <a:t>造成的；第二行的</a:t>
            </a:r>
            <a:r>
              <a:rPr kumimoji="1" lang="en-US" altLang="zh-CN" sz="1600" b="1" dirty="0" err="1">
                <a:solidFill>
                  <a:schemeClr val="accent2"/>
                </a:solidFill>
                <a:latin typeface="+mn-ea"/>
                <a:sym typeface="+mn-ea"/>
              </a:rPr>
              <a:t>B</a:t>
            </a:r>
            <a:r>
              <a:rPr kumimoji="1" lang="zh-CN" altLang="en-US" sz="1600" b="1" dirty="0" err="1">
                <a:solidFill>
                  <a:schemeClr val="accent2"/>
                </a:solidFill>
                <a:latin typeface="+mn-ea"/>
                <a:sym typeface="+mn-ea"/>
              </a:rPr>
              <a:t>是</a:t>
            </a:r>
            <a:r>
              <a:rPr kumimoji="1" lang="en-US" altLang="zh-CN" sz="1600" b="1" dirty="0" err="1">
                <a:solidFill>
                  <a:schemeClr val="accent2"/>
                </a:solidFill>
                <a:latin typeface="+mn-ea"/>
                <a:sym typeface="+mn-ea"/>
              </a:rPr>
              <a:t>putchar</a:t>
            </a:r>
            <a:r>
              <a:rPr kumimoji="1" lang="zh-CN" altLang="en-US" sz="1600" b="1" dirty="0" err="1">
                <a:solidFill>
                  <a:schemeClr val="accent2"/>
                </a:solidFill>
                <a:latin typeface="+mn-ea"/>
                <a:sym typeface="+mn-ea"/>
              </a:rPr>
              <a:t>造成的</a:t>
            </a:r>
            <a:r>
              <a:rPr kumimoji="1" lang="zh-CN" altLang="en-US" sz="1600" b="1" dirty="0" err="1">
                <a:solidFill>
                  <a:schemeClr val="accent2"/>
                </a:solidFill>
                <a:latin typeface="+mn-ea"/>
                <a:sym typeface="+mn-ea"/>
              </a:rPr>
              <a:t>，</a:t>
            </a:r>
            <a:r>
              <a:rPr kumimoji="1" lang="en-US" altLang="zh-CN" sz="1600" b="1" dirty="0" err="1">
                <a:solidFill>
                  <a:schemeClr val="accent2"/>
                </a:solidFill>
                <a:latin typeface="+mn-ea"/>
                <a:sym typeface="+mn-ea"/>
              </a:rPr>
              <a:t>66</a:t>
            </a:r>
            <a:r>
              <a:rPr kumimoji="1" lang="zh-CN" altLang="en-US" sz="1600" b="1" dirty="0" err="1">
                <a:solidFill>
                  <a:schemeClr val="accent2"/>
                </a:solidFill>
                <a:latin typeface="+mn-ea"/>
                <a:sym typeface="+mn-ea"/>
              </a:rPr>
              <a:t>是</a:t>
            </a:r>
            <a:r>
              <a:rPr kumimoji="1" lang="en-US" altLang="zh-CN" sz="1600" b="1" dirty="0" err="1">
                <a:solidFill>
                  <a:schemeClr val="accent2"/>
                </a:solidFill>
                <a:latin typeface="+mn-ea"/>
                <a:sym typeface="+mn-ea"/>
              </a:rPr>
              <a:t>cout</a:t>
            </a:r>
            <a:r>
              <a:rPr kumimoji="1" lang="zh-CN" altLang="en-US" sz="1600" b="1" dirty="0" err="1">
                <a:solidFill>
                  <a:schemeClr val="accent2"/>
                </a:solidFill>
                <a:latin typeface="+mn-ea"/>
                <a:sym typeface="+mn-ea"/>
              </a:rPr>
              <a:t>造成的</a:t>
            </a:r>
            <a:r>
              <a:rPr kumimoji="1" lang="zh-CN" altLang="en-US" sz="1600" b="1" dirty="0" err="1">
                <a:solidFill>
                  <a:schemeClr val="accent2"/>
                </a:solidFill>
                <a:latin typeface="+mn-ea"/>
                <a:sym typeface="+mn-ea"/>
              </a:rPr>
              <a:t>。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、这个例子能确认上个</a:t>
            </a:r>
            <a:r>
              <a:rPr kumimoji="1" lang="en-US" altLang="zh-CN" sz="1600" b="1" dirty="0">
                <a:latin typeface="+mn-ea"/>
              </a:rPr>
              <a:t>Page</a:t>
            </a:r>
            <a:r>
              <a:rPr kumimoji="1" lang="zh-CN" altLang="en-US" sz="1600" b="1" dirty="0">
                <a:latin typeface="+mn-ea"/>
              </a:rPr>
              <a:t>的基本知识中的说法：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  </a:t>
            </a:r>
            <a:r>
              <a:rPr kumimoji="1" lang="en-US" altLang="zh-CN" sz="1600" b="1" dirty="0">
                <a:solidFill>
                  <a:srgbClr val="0000CC"/>
                </a:solidFill>
                <a:latin typeface="+mn-ea"/>
              </a:rPr>
              <a:t>"</a:t>
            </a:r>
            <a:r>
              <a:rPr lang="zh-CN" altLang="en-US" sz="1600" b="1" dirty="0">
                <a:solidFill>
                  <a:srgbClr val="0000CC"/>
                </a:solidFill>
                <a:latin typeface="+mn-ea"/>
              </a:rPr>
              <a:t>返回值是</a:t>
            </a:r>
            <a:r>
              <a:rPr lang="en-US" altLang="zh-CN" sz="1600" b="1" dirty="0">
                <a:solidFill>
                  <a:srgbClr val="0000CC"/>
                </a:solidFill>
                <a:latin typeface="+mn-ea"/>
              </a:rPr>
              <a:t>int</a:t>
            </a:r>
            <a:r>
              <a:rPr lang="zh-CN" altLang="en-US" sz="1600" b="1" dirty="0">
                <a:solidFill>
                  <a:srgbClr val="0000CC"/>
                </a:solidFill>
                <a:latin typeface="+mn-ea"/>
              </a:rPr>
              <a:t>型，是输出字符的</a:t>
            </a:r>
            <a:r>
              <a:rPr lang="en-US" altLang="zh-CN" sz="1600" b="1" dirty="0">
                <a:solidFill>
                  <a:srgbClr val="0000CC"/>
                </a:solidFill>
                <a:latin typeface="+mn-ea"/>
              </a:rPr>
              <a:t>ASCII</a:t>
            </a:r>
            <a:r>
              <a:rPr lang="zh-CN" altLang="en-US" sz="1600" b="1" dirty="0">
                <a:solidFill>
                  <a:srgbClr val="0000CC"/>
                </a:solidFill>
                <a:latin typeface="+mn-ea"/>
              </a:rPr>
              <a:t>码</a:t>
            </a:r>
            <a:r>
              <a:rPr kumimoji="1" lang="en-US" altLang="zh-CN" sz="1600" b="1" dirty="0">
                <a:solidFill>
                  <a:srgbClr val="0000CC"/>
                </a:solidFill>
                <a:latin typeface="+mn-ea"/>
              </a:rPr>
              <a:t>" </a:t>
            </a:r>
            <a:endParaRPr kumimoji="1" lang="en-US" altLang="zh-CN" sz="1600" b="1" dirty="0">
              <a:solidFill>
                <a:srgbClr val="0000CC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完全正确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部分正确吗？</a:t>
            </a:r>
            <a:endParaRPr kumimoji="1" lang="zh-CN" altLang="en-US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答：部分正确。可以确认返回值是输出字符的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ASCII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码值，但不能确认是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int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型。</a:t>
            </a:r>
            <a:endParaRPr kumimoji="1" lang="zh-CN" altLang="en-US" sz="1600" b="1" dirty="0">
              <a:solidFill>
                <a:schemeClr val="accent2"/>
              </a:solidFill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7335" y="3898265"/>
            <a:ext cx="2506345" cy="23088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字符的输入与输出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putchar</a:t>
            </a:r>
            <a:r>
              <a:rPr lang="zh-CN" altLang="en-US" sz="1600" b="1" dirty="0">
                <a:latin typeface="+mn-ea"/>
              </a:rPr>
              <a:t>的基本使用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自行构造测试程序，证明</a:t>
            </a:r>
            <a:r>
              <a:rPr lang="en-US" altLang="zh-CN" sz="1600" b="1" dirty="0" err="1">
                <a:latin typeface="+mn-ea"/>
              </a:rPr>
              <a:t>putchar</a:t>
            </a:r>
            <a:r>
              <a:rPr lang="zh-CN" altLang="en-US" sz="1600" b="1" dirty="0">
                <a:latin typeface="+mn-ea"/>
              </a:rPr>
              <a:t>的返回值是</a:t>
            </a:r>
            <a:r>
              <a:rPr lang="en-US" altLang="zh-CN" sz="1600" b="1" dirty="0">
                <a:latin typeface="+mn-ea"/>
              </a:rPr>
              <a:t>int</a:t>
            </a:r>
            <a:r>
              <a:rPr lang="zh-CN" altLang="en-US" sz="1600" b="1" dirty="0">
                <a:latin typeface="+mn-ea"/>
              </a:rPr>
              <a:t>型而不是</a:t>
            </a:r>
            <a:r>
              <a:rPr lang="en-US" altLang="zh-CN" sz="1600" b="1" dirty="0">
                <a:latin typeface="+mn-ea"/>
              </a:rPr>
              <a:t>char</a:t>
            </a:r>
            <a:r>
              <a:rPr lang="zh-CN" altLang="en-US" sz="1600" b="1" dirty="0">
                <a:latin typeface="+mn-ea"/>
              </a:rPr>
              <a:t>型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要求两种方法，可以从课件找，也可以自行构造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592113" y="1323975"/>
            <a:ext cx="5050027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lnSpc>
                <a:spcPct val="90000"/>
              </a:lnSpc>
              <a:spcAft>
                <a:spcPct val="0"/>
              </a:spcAft>
              <a:defRPr/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//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方法一</a:t>
            </a: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642140" y="1323974"/>
            <a:ext cx="5193271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//</a:t>
            </a:r>
            <a:r>
              <a:rPr kumimoji="1" lang="zh-CN" altLang="en-US" sz="1600" b="1" dirty="0">
                <a:latin typeface="+mn-ea"/>
              </a:rPr>
              <a:t>方法</a:t>
            </a:r>
            <a:r>
              <a:rPr kumimoji="1" lang="en-US" altLang="zh-CN" sz="1600" b="1" dirty="0">
                <a:latin typeface="+mn-ea"/>
              </a:rPr>
              <a:t>2</a:t>
            </a:r>
            <a:endParaRPr kumimoji="1" lang="en-US" altLang="zh-CN" sz="1600" b="1" dirty="0"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6920" y="1835150"/>
            <a:ext cx="4719320" cy="187134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9715" y="4061460"/>
            <a:ext cx="2052955" cy="153098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4695" y="1835150"/>
            <a:ext cx="4612640" cy="192341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0990" y="4061460"/>
            <a:ext cx="1454785" cy="152273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字符的输入与输出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字符的输入与输出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getchar</a:t>
            </a:r>
            <a:r>
              <a:rPr lang="zh-CN" altLang="en-US" sz="1600" b="1" dirty="0">
                <a:latin typeface="+mn-ea"/>
              </a:rPr>
              <a:t>的基本使用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525517" y="998484"/>
            <a:ext cx="10247586" cy="36786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>
              <a:spcBef>
                <a:spcPts val="385"/>
              </a:spcBef>
            </a:pPr>
            <a:r>
              <a:rPr lang="zh-CN" altLang="en-US" sz="1600" b="1" dirty="0">
                <a:latin typeface="+mn-ea"/>
              </a:rPr>
              <a:t>字符输入函数</a:t>
            </a:r>
            <a:r>
              <a:rPr lang="en-US" altLang="zh-CN" sz="1600" b="1" dirty="0" err="1">
                <a:latin typeface="+mn-ea"/>
              </a:rPr>
              <a:t>getchar</a:t>
            </a:r>
            <a:r>
              <a:rPr lang="zh-CN" altLang="en-US" sz="1600" b="1" dirty="0">
                <a:latin typeface="+mn-ea"/>
              </a:rPr>
              <a:t>的基本知识：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385"/>
              </a:spcBef>
            </a:pPr>
            <a:endParaRPr lang="en-US" altLang="zh-CN" sz="1600" b="1" dirty="0">
              <a:latin typeface="+mn-ea"/>
            </a:endParaRPr>
          </a:p>
          <a:p>
            <a:pPr>
              <a:spcBef>
                <a:spcPts val="385"/>
              </a:spcBef>
            </a:pPr>
            <a:r>
              <a:rPr lang="zh-CN" altLang="en-US" sz="1600" b="1" dirty="0">
                <a:latin typeface="+mn-ea"/>
              </a:rPr>
              <a:t>形式：</a:t>
            </a:r>
            <a:r>
              <a:rPr lang="en-US" altLang="zh-CN" sz="1600" b="1" dirty="0" err="1">
                <a:latin typeface="+mn-ea"/>
              </a:rPr>
              <a:t>getchar</a:t>
            </a:r>
            <a:r>
              <a:rPr lang="en-US" altLang="zh-CN" sz="1600" b="1" dirty="0">
                <a:latin typeface="+mn-ea"/>
              </a:rPr>
              <a:t>()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385"/>
              </a:spcBef>
            </a:pPr>
            <a:r>
              <a:rPr lang="zh-CN" altLang="en-US" sz="1600" b="1" dirty="0">
                <a:latin typeface="+mn-ea"/>
              </a:rPr>
              <a:t>功能：输入一个字符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给指定的变量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>
              <a:spcBef>
                <a:spcPts val="385"/>
              </a:spcBef>
            </a:pPr>
            <a:r>
              <a:rPr lang="en-US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某些编译器需要 </a:t>
            </a:r>
            <a:r>
              <a:rPr lang="en-US" altLang="zh-CN" sz="1600" b="1" dirty="0">
                <a:latin typeface="+mn-ea"/>
              </a:rPr>
              <a:t>#include &lt;</a:t>
            </a:r>
            <a:r>
              <a:rPr lang="en-US" altLang="zh-CN" sz="1600" b="1" dirty="0" err="1">
                <a:latin typeface="+mn-ea"/>
              </a:rPr>
              <a:t>cstdio</a:t>
            </a:r>
            <a:r>
              <a:rPr lang="en-US" altLang="zh-CN" sz="1600" b="1" dirty="0">
                <a:latin typeface="+mn-ea"/>
              </a:rPr>
              <a:t>&gt; </a:t>
            </a:r>
            <a:r>
              <a:rPr lang="zh-CN" altLang="en-US" sz="1600" b="1" dirty="0">
                <a:latin typeface="+mn-ea"/>
              </a:rPr>
              <a:t>或 </a:t>
            </a:r>
            <a:r>
              <a:rPr lang="en-US" altLang="zh-CN" sz="1600" b="1" dirty="0">
                <a:latin typeface="+mn-ea"/>
              </a:rPr>
              <a:t>#include &lt;</a:t>
            </a:r>
            <a:r>
              <a:rPr lang="en-US" altLang="zh-CN" sz="1600" b="1" dirty="0" err="1">
                <a:latin typeface="+mn-ea"/>
              </a:rPr>
              <a:t>stdio.h</a:t>
            </a:r>
            <a:r>
              <a:rPr lang="en-US" altLang="zh-CN" sz="1600" b="1" dirty="0">
                <a:latin typeface="+mn-ea"/>
              </a:rPr>
              <a:t>&gt;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目前所用的双编译器均不需要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>
              <a:spcBef>
                <a:spcPts val="385"/>
              </a:spcBef>
            </a:pPr>
            <a:r>
              <a:rPr lang="en-US" altLang="zh-CN" sz="1600" b="1" dirty="0">
                <a:latin typeface="+mn-ea"/>
              </a:rPr>
              <a:t>★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返回值是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int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型</a:t>
            </a:r>
            <a:r>
              <a:rPr lang="zh-CN" altLang="en-US" sz="1600" b="1" dirty="0">
                <a:latin typeface="+mn-ea"/>
              </a:rPr>
              <a:t>，是输入字符的</a:t>
            </a:r>
            <a:r>
              <a:rPr lang="en-US" altLang="zh-CN" sz="1600" b="1" dirty="0">
                <a:latin typeface="+mn-ea"/>
              </a:rPr>
              <a:t>ASCII</a:t>
            </a:r>
            <a:r>
              <a:rPr lang="zh-CN" altLang="en-US" sz="1600" b="1" dirty="0">
                <a:latin typeface="+mn-ea"/>
              </a:rPr>
              <a:t>码，可赋值给字符型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整型变量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385"/>
              </a:spcBef>
            </a:pPr>
            <a:r>
              <a:rPr lang="en-US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输入有回显，而且不是键盘输入一个字符后立即执行</a:t>
            </a:r>
            <a:r>
              <a:rPr lang="en-US" altLang="zh-CN" sz="1600" b="1" dirty="0" err="1">
                <a:latin typeface="+mn-ea"/>
              </a:rPr>
              <a:t>getchar</a:t>
            </a:r>
            <a:r>
              <a:rPr lang="zh-CN" altLang="en-US" sz="1600" b="1" dirty="0">
                <a:latin typeface="+mn-ea"/>
              </a:rPr>
              <a:t>，必须要等按回车后才执行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385"/>
              </a:spcBef>
            </a:pPr>
            <a:r>
              <a:rPr lang="en-US" altLang="zh-CN" sz="1600" b="1" dirty="0">
                <a:latin typeface="+mn-ea"/>
              </a:rPr>
              <a:t>  (</a:t>
            </a:r>
            <a:r>
              <a:rPr lang="zh-CN" altLang="en-US" sz="1600" b="1" dirty="0">
                <a:latin typeface="+mn-ea"/>
              </a:rPr>
              <a:t>弄清楚上课课件中的输入缓冲区的概念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385"/>
              </a:spcBef>
            </a:pPr>
            <a:r>
              <a:rPr lang="en-US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可以输入空格，回车等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无法处理的非图形字符，但仍不能处理转义符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385"/>
              </a:spcBef>
            </a:pPr>
            <a:r>
              <a:rPr lang="zh-CN" altLang="en-US" sz="1600" b="1" dirty="0">
                <a:latin typeface="+mn-ea"/>
              </a:rPr>
              <a:t>★ </a:t>
            </a:r>
            <a:r>
              <a:rPr lang="en-US" altLang="zh-CN" sz="1600" b="1" dirty="0" err="1">
                <a:latin typeface="+mn-ea"/>
              </a:rPr>
              <a:t>getchar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等每次仅从输入缓冲区中取需要的字节，多余的字节仍保留在输入缓冲区中供下次读取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4" name="椭圆 3"/>
          <p:cNvSpPr/>
          <p:nvPr/>
        </p:nvSpPr>
        <p:spPr bwMode="auto">
          <a:xfrm>
            <a:off x="9730937" y="6062498"/>
            <a:ext cx="2084332" cy="490702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本页不用作答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字符的输入与输出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getchar</a:t>
            </a:r>
            <a:r>
              <a:rPr lang="zh-CN" altLang="en-US" sz="1600" b="1" dirty="0">
                <a:latin typeface="+mn-ea"/>
              </a:rPr>
              <a:t>的基本使用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程序如下，观察编译及运行结果（可手填，如果贴图，要求在清晰可辨的情况下尽可能小）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592113" y="1323975"/>
            <a:ext cx="3450327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cstdio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getchar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4042440" y="1323974"/>
            <a:ext cx="4004443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600" b="1" dirty="0">
                <a:latin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600" b="1" dirty="0">
                <a:latin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latin typeface="宋体" panose="02010600030101010101" pitchFamily="2" charset="-122"/>
              </a:rPr>
              <a:t>cstdio</a:t>
            </a:r>
            <a:r>
              <a:rPr kumimoji="1" lang="en-US" altLang="zh-CN" sz="1600" b="1" dirty="0">
                <a:latin typeface="宋体" panose="02010600030101010101" pitchFamily="2" charset="-122"/>
              </a:rPr>
              <a:t>&gt;</a:t>
            </a:r>
            <a:endParaRPr kumimoji="1" lang="en-US" altLang="zh-CN" sz="1600" b="1" dirty="0"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600" b="1" dirty="0">
                <a:latin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600" b="1" dirty="0">
                <a:latin typeface="宋体" panose="02010600030101010101" pitchFamily="2" charset="-122"/>
              </a:rPr>
              <a:t>int main()</a:t>
            </a:r>
            <a:endParaRPr kumimoji="1" lang="en-US" altLang="zh-CN" sz="1600" b="1" dirty="0"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600" b="1" dirty="0">
                <a:latin typeface="宋体" panose="02010600030101010101" pitchFamily="2" charset="-122"/>
              </a:rPr>
              <a:t>{</a:t>
            </a:r>
            <a:endParaRPr kumimoji="1" lang="en-US" altLang="zh-CN" sz="1600" b="1" dirty="0"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600" b="1" dirty="0">
                <a:latin typeface="宋体" panose="02010600030101010101" pitchFamily="2" charset="-122"/>
              </a:rPr>
              <a:t>    char </a:t>
            </a:r>
            <a:r>
              <a:rPr kumimoji="1" lang="en-US" altLang="zh-CN" sz="1600" b="1" dirty="0" err="1">
                <a:latin typeface="宋体" panose="02010600030101010101" pitchFamily="2" charset="-122"/>
              </a:rPr>
              <a:t>ch</a:t>
            </a:r>
            <a:r>
              <a:rPr kumimoji="1" lang="en-US" altLang="zh-CN" sz="1600" b="1" dirty="0">
                <a:latin typeface="宋体" panose="02010600030101010101" pitchFamily="2" charset="-122"/>
              </a:rPr>
              <a:t>;</a:t>
            </a:r>
            <a:endParaRPr kumimoji="1" lang="en-US" altLang="zh-CN" sz="1600" b="1" dirty="0"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600" b="1" dirty="0"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latin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latin typeface="宋体" panose="02010600030101010101" pitchFamily="2" charset="-122"/>
              </a:rPr>
              <a:t> &lt;&lt; (</a:t>
            </a:r>
            <a:r>
              <a:rPr kumimoji="1" lang="en-US" altLang="zh-CN" sz="1600" b="1" dirty="0" err="1">
                <a:latin typeface="宋体" panose="02010600030101010101" pitchFamily="2" charset="-122"/>
              </a:rPr>
              <a:t>ch</a:t>
            </a:r>
            <a:r>
              <a:rPr kumimoji="1" lang="en-US" altLang="zh-CN" sz="1600" b="1" dirty="0">
                <a:latin typeface="宋体" panose="02010600030101010101" pitchFamily="2" charset="-122"/>
              </a:rPr>
              <a:t> = </a:t>
            </a:r>
            <a:r>
              <a:rPr kumimoji="1" lang="en-US" altLang="zh-CN" sz="1600" b="1" dirty="0" err="1">
                <a:latin typeface="宋体" panose="02010600030101010101" pitchFamily="2" charset="-122"/>
              </a:rPr>
              <a:t>getchar</a:t>
            </a:r>
            <a:r>
              <a:rPr kumimoji="1" lang="en-US" altLang="zh-CN" sz="1600" b="1" dirty="0">
                <a:latin typeface="宋体" panose="02010600030101010101" pitchFamily="2" charset="-122"/>
              </a:rPr>
              <a:t>()) &lt;&lt; </a:t>
            </a:r>
            <a:r>
              <a:rPr kumimoji="1" lang="en-US" altLang="zh-CN" sz="1600" b="1" dirty="0" err="1">
                <a:latin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latin typeface="宋体" panose="02010600030101010101" pitchFamily="2" charset="-122"/>
              </a:rPr>
              <a:t>;</a:t>
            </a:r>
            <a:endParaRPr kumimoji="1" lang="en-US" altLang="zh-CN" sz="1600" b="1" dirty="0"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1600" b="1" dirty="0"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600" b="1" dirty="0">
                <a:latin typeface="宋体" panose="02010600030101010101" pitchFamily="2" charset="-122"/>
              </a:rPr>
              <a:t>    return 0;</a:t>
            </a:r>
            <a:endParaRPr kumimoji="1" lang="en-US" altLang="zh-CN" sz="1600" b="1" dirty="0"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600" b="1" dirty="0">
                <a:latin typeface="宋体" panose="02010600030101010101" pitchFamily="2" charset="-122"/>
              </a:rPr>
              <a:t>}</a:t>
            </a:r>
            <a:endParaRPr kumimoji="1" lang="zh-CN" altLang="en-US" sz="1600" b="1" dirty="0">
              <a:latin typeface="宋体" panose="02010600030101010101" pitchFamily="2" charset="-122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8050924" y="1323974"/>
            <a:ext cx="278448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cstdio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getchar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92113" y="5152127"/>
            <a:ext cx="3450327" cy="138202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输入：</a:t>
            </a:r>
            <a:r>
              <a:rPr kumimoji="1" lang="en-US" altLang="zh-CN" sz="1600" b="1" dirty="0">
                <a:latin typeface="+mn-ea"/>
              </a:rPr>
              <a:t>a↙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输出：</a:t>
            </a:r>
            <a:r>
              <a:rPr kumimoji="1" lang="en-US" altLang="zh-CN" sz="1600" b="1" u="sng" dirty="0">
                <a:latin typeface="+mn-ea"/>
              </a:rPr>
              <a:t>a_________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输出的是：</a:t>
            </a:r>
            <a:r>
              <a:rPr kumimoji="1" lang="en-US" altLang="zh-CN" sz="1600" b="1" u="sng" dirty="0">
                <a:latin typeface="+mn-ea"/>
              </a:rPr>
              <a:t>__</a:t>
            </a:r>
            <a:r>
              <a:rPr kumimoji="1" lang="en-US" altLang="zh-CN" sz="1600" b="1" u="sng" dirty="0" err="1">
                <a:latin typeface="+mn-ea"/>
                <a:sym typeface="+mn-ea"/>
              </a:rPr>
              <a:t>ch</a:t>
            </a:r>
            <a:r>
              <a:rPr kumimoji="1" lang="zh-CN" altLang="en-US" sz="1600" b="1" u="sng" dirty="0">
                <a:latin typeface="+mn-ea"/>
                <a:sym typeface="+mn-ea"/>
              </a:rPr>
              <a:t>的值</a:t>
            </a:r>
            <a:r>
              <a:rPr kumimoji="1" lang="en-US" altLang="zh-CN" sz="1600" b="1" u="sng" dirty="0">
                <a:latin typeface="+mn-ea"/>
              </a:rPr>
              <a:t>_____</a:t>
            </a:r>
            <a:r>
              <a:rPr kumimoji="1" lang="en-US" altLang="zh-CN" sz="1600" b="1" dirty="0">
                <a:latin typeface="+mn-ea"/>
              </a:rPr>
              <a:t> 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     (</a:t>
            </a:r>
            <a:r>
              <a:rPr kumimoji="1" lang="en-US" altLang="zh-CN" sz="1600" b="1" dirty="0" err="1">
                <a:latin typeface="+mn-ea"/>
              </a:rPr>
              <a:t>ch</a:t>
            </a:r>
            <a:r>
              <a:rPr kumimoji="1" lang="zh-CN" altLang="en-US" sz="1600" b="1" dirty="0">
                <a:latin typeface="+mn-ea"/>
              </a:rPr>
              <a:t>的值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赋值表达式值</a:t>
            </a:r>
            <a:r>
              <a:rPr kumimoji="1" lang="en-US" altLang="zh-CN" sz="1600" b="1" dirty="0">
                <a:latin typeface="+mn-ea"/>
              </a:rPr>
              <a:t>)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4038399" y="5152127"/>
            <a:ext cx="4008483" cy="138202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输入：</a:t>
            </a:r>
            <a:r>
              <a:rPr kumimoji="1" lang="en-US" altLang="zh-CN" sz="1600" b="1" dirty="0">
                <a:latin typeface="+mn-ea"/>
              </a:rPr>
              <a:t>a↙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输出：</a:t>
            </a:r>
            <a:r>
              <a:rPr kumimoji="1" lang="en-US" altLang="zh-CN" sz="1600" b="1" u="sng" dirty="0">
                <a:latin typeface="+mn-ea"/>
              </a:rPr>
              <a:t>a_________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输出的是：</a:t>
            </a:r>
            <a:r>
              <a:rPr kumimoji="1" lang="en-US" altLang="zh-CN" sz="1600" b="1" u="sng" dirty="0">
                <a:latin typeface="+mn-ea"/>
              </a:rPr>
              <a:t>____</a:t>
            </a:r>
            <a:r>
              <a:rPr kumimoji="1" lang="zh-CN" altLang="en-US" sz="1600" b="1" u="sng" dirty="0">
                <a:latin typeface="+mn-ea"/>
                <a:sym typeface="+mn-ea"/>
              </a:rPr>
              <a:t>赋值表达式值</a:t>
            </a:r>
            <a:r>
              <a:rPr kumimoji="1" lang="en-US" altLang="zh-CN" sz="1600" b="1" u="sng" dirty="0">
                <a:latin typeface="+mn-ea"/>
              </a:rPr>
              <a:t>___</a:t>
            </a:r>
            <a:r>
              <a:rPr kumimoji="1" lang="en-US" altLang="zh-CN" sz="1600" b="1" dirty="0">
                <a:latin typeface="+mn-ea"/>
              </a:rPr>
              <a:t> 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     (</a:t>
            </a:r>
            <a:r>
              <a:rPr kumimoji="1" lang="en-US" altLang="zh-CN" sz="1600" b="1" dirty="0" err="1">
                <a:latin typeface="+mn-ea"/>
              </a:rPr>
              <a:t>ch</a:t>
            </a:r>
            <a:r>
              <a:rPr kumimoji="1" lang="zh-CN" altLang="en-US" sz="1600" b="1" dirty="0">
                <a:latin typeface="+mn-ea"/>
              </a:rPr>
              <a:t>的值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赋值表达式值</a:t>
            </a:r>
            <a:r>
              <a:rPr kumimoji="1" lang="en-US" altLang="zh-CN" sz="1600" b="1" dirty="0">
                <a:latin typeface="+mn-ea"/>
              </a:rPr>
              <a:t>)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8050923" y="5152127"/>
            <a:ext cx="2784487" cy="138202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输入：</a:t>
            </a:r>
            <a:r>
              <a:rPr kumimoji="1" lang="en-US" altLang="zh-CN" sz="1600" b="1" dirty="0">
                <a:latin typeface="+mn-ea"/>
              </a:rPr>
              <a:t>a↙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输出：</a:t>
            </a:r>
            <a:r>
              <a:rPr kumimoji="1" lang="en-US" altLang="zh-CN" sz="1600" b="1" u="sng" dirty="0">
                <a:latin typeface="+mn-ea"/>
              </a:rPr>
              <a:t>97_________</a:t>
            </a:r>
            <a:endParaRPr kumimoji="1" lang="en-US" altLang="zh-CN" sz="1600" b="1" u="sng" dirty="0">
              <a:latin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字符的输入与输出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getchar</a:t>
            </a:r>
            <a:r>
              <a:rPr lang="zh-CN" altLang="en-US" sz="1600" b="1" dirty="0">
                <a:latin typeface="+mn-ea"/>
              </a:rPr>
              <a:t>的基本使用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自行构造测试程序，证明</a:t>
            </a:r>
            <a:r>
              <a:rPr lang="en-US" altLang="zh-CN" sz="1600" b="1" dirty="0" err="1">
                <a:latin typeface="+mn-ea"/>
              </a:rPr>
              <a:t>getchar</a:t>
            </a:r>
            <a:r>
              <a:rPr lang="zh-CN" altLang="en-US" sz="1600" b="1" dirty="0">
                <a:latin typeface="+mn-ea"/>
              </a:rPr>
              <a:t>的返回值是</a:t>
            </a:r>
            <a:r>
              <a:rPr lang="en-US" altLang="zh-CN" sz="1600" b="1" dirty="0">
                <a:latin typeface="+mn-ea"/>
              </a:rPr>
              <a:t>int</a:t>
            </a:r>
            <a:r>
              <a:rPr lang="zh-CN" altLang="en-US" sz="1600" b="1" dirty="0">
                <a:latin typeface="+mn-ea"/>
              </a:rPr>
              <a:t>型而不是</a:t>
            </a:r>
            <a:r>
              <a:rPr lang="en-US" altLang="zh-CN" sz="1600" b="1" dirty="0">
                <a:latin typeface="+mn-ea"/>
              </a:rPr>
              <a:t>char</a:t>
            </a:r>
            <a:r>
              <a:rPr lang="zh-CN" altLang="en-US" sz="1600" b="1" dirty="0">
                <a:latin typeface="+mn-ea"/>
              </a:rPr>
              <a:t>型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要求两种方法，可以从课件找，也可以自行构造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592113" y="1323975"/>
            <a:ext cx="5050027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lnSpc>
                <a:spcPct val="90000"/>
              </a:lnSpc>
              <a:spcAft>
                <a:spcPct val="0"/>
              </a:spcAft>
              <a:defRPr/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//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方法一</a:t>
            </a: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642140" y="1323974"/>
            <a:ext cx="5193271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//</a:t>
            </a:r>
            <a:r>
              <a:rPr kumimoji="1" lang="zh-CN" altLang="en-US" sz="1600" b="1" dirty="0">
                <a:latin typeface="+mn-ea"/>
              </a:rPr>
              <a:t>方法</a:t>
            </a:r>
            <a:r>
              <a:rPr kumimoji="1" lang="en-US" altLang="zh-CN" sz="1600" b="1" dirty="0">
                <a:latin typeface="+mn-ea"/>
              </a:rPr>
              <a:t>2</a:t>
            </a:r>
            <a:endParaRPr kumimoji="1" lang="en-US" altLang="zh-CN" sz="1600" b="1" dirty="0"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5645" y="1802765"/>
            <a:ext cx="4943475" cy="25050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0075" y="4689475"/>
            <a:ext cx="1432560" cy="130746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180" y="1839595"/>
            <a:ext cx="4876800" cy="214757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6585" y="4441825"/>
            <a:ext cx="1537335" cy="139763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字符的输入与输出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getchar</a:t>
            </a:r>
            <a:r>
              <a:rPr lang="zh-CN" altLang="en-US" sz="1600" b="1" dirty="0">
                <a:latin typeface="+mn-ea"/>
              </a:rPr>
              <a:t>的基本使用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C.</a:t>
            </a:r>
            <a:r>
              <a:rPr lang="zh-CN" altLang="en-US" sz="1600" b="1" dirty="0">
                <a:latin typeface="+mn-ea"/>
              </a:rPr>
              <a:t>程序如下，观察编译及运行结果（可手填，如果贴图，要求在清晰可辨的情况下尽可能小）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592113" y="1323975"/>
            <a:ext cx="3450327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cstdio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getchar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int(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4042440" y="1323974"/>
            <a:ext cx="679701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600" b="1" dirty="0">
                <a:latin typeface="宋体" panose="02010600030101010101" pitchFamily="2" charset="-122"/>
              </a:rPr>
              <a:t>1</a:t>
            </a:r>
            <a:r>
              <a:rPr kumimoji="1" lang="zh-CN" altLang="en-US" sz="1600" b="1" dirty="0">
                <a:latin typeface="宋体" panose="02010600030101010101" pitchFamily="2" charset="-122"/>
              </a:rPr>
              <a:t>、键盘输入：</a:t>
            </a:r>
            <a:r>
              <a:rPr kumimoji="1" lang="en-US" altLang="zh-CN" sz="1600" b="1" dirty="0">
                <a:latin typeface="宋体" panose="02010600030101010101" pitchFamily="2" charset="-122"/>
              </a:rPr>
              <a:t>Hello</a:t>
            </a:r>
            <a:r>
              <a:rPr kumimoji="1" lang="en-US" altLang="zh-CN" sz="1600" b="1" dirty="0">
                <a:latin typeface="+mn-ea"/>
              </a:rPr>
              <a:t>↙ (5</a:t>
            </a:r>
            <a:r>
              <a:rPr kumimoji="1" lang="zh-CN" altLang="en-US" sz="1600" b="1" dirty="0">
                <a:latin typeface="+mn-ea"/>
              </a:rPr>
              <a:t>个字母</a:t>
            </a:r>
            <a:r>
              <a:rPr kumimoji="1" lang="en-US" altLang="zh-CN" sz="1600" b="1" dirty="0">
                <a:latin typeface="+mn-ea"/>
              </a:rPr>
              <a:t>+</a:t>
            </a:r>
            <a:r>
              <a:rPr kumimoji="1" lang="zh-CN" altLang="en-US" sz="1600" b="1" dirty="0">
                <a:latin typeface="+mn-ea"/>
              </a:rPr>
              <a:t>回车</a:t>
            </a:r>
            <a:r>
              <a:rPr kumimoji="1" lang="en-US" altLang="zh-CN" sz="1600" b="1" dirty="0">
                <a:latin typeface="+mn-ea"/>
              </a:rPr>
              <a:t>)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600" b="1" dirty="0">
                <a:latin typeface="+mn-ea"/>
              </a:rPr>
              <a:t>       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输出：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72</a:t>
            </a:r>
            <a:endParaRPr kumimoji="1" lang="zh-CN" altLang="en-US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1600" b="1" u="sng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、键盘输入：</a:t>
            </a:r>
            <a:r>
              <a:rPr kumimoji="1" lang="en-US" altLang="zh-CN" sz="1600" b="1" dirty="0">
                <a:latin typeface="+mn-ea"/>
              </a:rPr>
              <a:t>↙      (</a:t>
            </a:r>
            <a:r>
              <a:rPr kumimoji="1" lang="zh-CN" altLang="en-US" sz="1600" b="1" dirty="0">
                <a:latin typeface="+mn-ea"/>
              </a:rPr>
              <a:t>空回车</a:t>
            </a:r>
            <a:r>
              <a:rPr kumimoji="1" lang="en-US" altLang="zh-CN" sz="1600" b="1" dirty="0">
                <a:latin typeface="+mn-ea"/>
              </a:rPr>
              <a:t>)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600" b="1" dirty="0">
                <a:latin typeface="+mn-ea"/>
                <a:sym typeface="+mn-ea"/>
              </a:rPr>
              <a:t>     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  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输出：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10</a:t>
            </a:r>
            <a:endParaRPr kumimoji="1" lang="en-US" altLang="zh-CN" sz="1600" b="1" u="sng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、键盘输入：</a:t>
            </a:r>
            <a:r>
              <a:rPr kumimoji="1" lang="en-US" altLang="zh-CN" sz="1600" b="1" dirty="0">
                <a:latin typeface="宋体" panose="02010600030101010101" pitchFamily="2" charset="-122"/>
              </a:rPr>
              <a:t>︺</a:t>
            </a:r>
            <a:r>
              <a:rPr kumimoji="1" lang="en-US" altLang="zh-CN" sz="1600" b="1" dirty="0">
                <a:latin typeface="+mn-ea"/>
              </a:rPr>
              <a:t>↙    (</a:t>
            </a:r>
            <a:r>
              <a:rPr kumimoji="1" lang="zh-CN" altLang="en-US" sz="1600" b="1" dirty="0">
                <a:latin typeface="+mn-ea"/>
              </a:rPr>
              <a:t>空格</a:t>
            </a:r>
            <a:r>
              <a:rPr kumimoji="1" lang="en-US" altLang="zh-CN" sz="1600" b="1" dirty="0">
                <a:latin typeface="+mn-ea"/>
              </a:rPr>
              <a:t>+</a:t>
            </a:r>
            <a:r>
              <a:rPr kumimoji="1" lang="zh-CN" altLang="en-US" sz="1600" b="1" dirty="0">
                <a:latin typeface="+mn-ea"/>
              </a:rPr>
              <a:t>回车</a:t>
            </a:r>
            <a:r>
              <a:rPr kumimoji="1" lang="en-US" altLang="zh-CN" sz="1600" b="1" dirty="0">
                <a:latin typeface="+mn-ea"/>
              </a:rPr>
              <a:t>)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600" b="1" dirty="0">
                <a:latin typeface="+mn-ea"/>
                <a:sym typeface="+mn-ea"/>
              </a:rPr>
              <a:t>      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 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输出：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32</a:t>
            </a:r>
            <a:endParaRPr kumimoji="1" lang="en-US" altLang="zh-CN" sz="1600" b="1" u="sng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600" b="1" dirty="0">
                <a:latin typeface="+mn-ea"/>
              </a:rPr>
              <a:t>4</a:t>
            </a:r>
            <a:r>
              <a:rPr kumimoji="1" lang="zh-CN" altLang="en-US" sz="1600" b="1" dirty="0">
                <a:latin typeface="+mn-ea"/>
              </a:rPr>
              <a:t>、键盘输入：</a:t>
            </a:r>
            <a:r>
              <a:rPr kumimoji="1" lang="en-US" altLang="zh-CN" sz="1600" b="1" dirty="0">
                <a:latin typeface="+mn-ea"/>
              </a:rPr>
              <a:t>\n↙    (2</a:t>
            </a:r>
            <a:r>
              <a:rPr kumimoji="1" lang="zh-CN" altLang="en-US" sz="1600" b="1" dirty="0">
                <a:latin typeface="+mn-ea"/>
              </a:rPr>
              <a:t>个字符</a:t>
            </a:r>
            <a:r>
              <a:rPr kumimoji="1" lang="en-US" altLang="zh-CN" sz="1600" b="1" dirty="0">
                <a:latin typeface="+mn-ea"/>
              </a:rPr>
              <a:t>+</a:t>
            </a:r>
            <a:r>
              <a:rPr kumimoji="1" lang="zh-CN" altLang="en-US" sz="1600" b="1" dirty="0">
                <a:latin typeface="+mn-ea"/>
              </a:rPr>
              <a:t>回车</a:t>
            </a:r>
            <a:r>
              <a:rPr kumimoji="1" lang="en-US" altLang="zh-CN" sz="1600" b="1" dirty="0">
                <a:latin typeface="+mn-ea"/>
              </a:rPr>
              <a:t>)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600" b="1" dirty="0">
                <a:latin typeface="+mn-ea"/>
                <a:sym typeface="+mn-ea"/>
              </a:rPr>
              <a:t>       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输出：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92</a:t>
            </a:r>
            <a:endParaRPr kumimoji="1" lang="en-US" altLang="zh-CN" sz="1600" b="1" u="sng" dirty="0">
              <a:solidFill>
                <a:schemeClr val="accent2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600" b="1" dirty="0">
                <a:latin typeface="+mn-ea"/>
              </a:rPr>
              <a:t>5</a:t>
            </a:r>
            <a:r>
              <a:rPr kumimoji="1" lang="zh-CN" altLang="en-US" sz="1600" b="1" dirty="0">
                <a:latin typeface="+mn-ea"/>
              </a:rPr>
              <a:t>、键盘输入：</a:t>
            </a:r>
            <a:r>
              <a:rPr kumimoji="1" lang="en-US" altLang="zh-CN" sz="1600" b="1" dirty="0">
                <a:latin typeface="+mn-ea"/>
              </a:rPr>
              <a:t>\101↙  (4</a:t>
            </a:r>
            <a:r>
              <a:rPr kumimoji="1" lang="zh-CN" altLang="en-US" sz="1600" b="1" dirty="0">
                <a:latin typeface="+mn-ea"/>
              </a:rPr>
              <a:t>个字符</a:t>
            </a:r>
            <a:r>
              <a:rPr kumimoji="1" lang="en-US" altLang="zh-CN" sz="1600" b="1" dirty="0">
                <a:latin typeface="+mn-ea"/>
              </a:rPr>
              <a:t>+</a:t>
            </a:r>
            <a:r>
              <a:rPr kumimoji="1" lang="zh-CN" altLang="en-US" sz="1600" b="1" dirty="0">
                <a:latin typeface="+mn-ea"/>
              </a:rPr>
              <a:t>回车</a:t>
            </a:r>
            <a:r>
              <a:rPr kumimoji="1" lang="en-US" altLang="zh-CN" sz="1600" b="1" dirty="0">
                <a:latin typeface="+mn-ea"/>
              </a:rPr>
              <a:t>)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600" b="1" dirty="0">
                <a:latin typeface="+mn-ea"/>
                <a:sym typeface="+mn-ea"/>
              </a:rPr>
              <a:t>       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输出：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92</a:t>
            </a:r>
            <a:endParaRPr kumimoji="1" lang="en-US" altLang="zh-CN" sz="1600" b="1" u="sng" dirty="0">
              <a:solidFill>
                <a:schemeClr val="accent2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1600" b="1" dirty="0">
                <a:latin typeface="+mn-ea"/>
              </a:rPr>
              <a:t>结论：可以输入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en-US" altLang="zh-CN" sz="1600" b="1" u="sng" dirty="0">
                <a:latin typeface="+mn-ea"/>
              </a:rPr>
              <a:t>__</a:t>
            </a:r>
            <a:r>
              <a:rPr kumimoji="1" lang="en-US" altLang="zh-CN" sz="1600" b="1" u="sng" dirty="0">
                <a:latin typeface="+mn-ea"/>
                <a:sym typeface="+mn-ea"/>
              </a:rPr>
              <a:t>a)</a:t>
            </a:r>
            <a:r>
              <a:rPr kumimoji="1" lang="en-US" altLang="zh-CN" sz="1600" b="1" u="sng" dirty="0">
                <a:latin typeface="+mn-ea"/>
              </a:rPr>
              <a:t>___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en-US" altLang="zh-CN" sz="1600" b="1" u="sng" dirty="0">
                <a:latin typeface="+mn-ea"/>
              </a:rPr>
              <a:t>__</a:t>
            </a:r>
            <a:r>
              <a:rPr kumimoji="1" lang="en-US" altLang="zh-CN" sz="1600" b="1" u="sng" dirty="0">
                <a:latin typeface="+mn-ea"/>
                <a:sym typeface="+mn-ea"/>
              </a:rPr>
              <a:t>c)</a:t>
            </a:r>
            <a:r>
              <a:rPr kumimoji="1" lang="en-US" altLang="zh-CN" sz="1600" b="1" u="sng" dirty="0">
                <a:latin typeface="+mn-ea"/>
              </a:rPr>
              <a:t>_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dirty="0">
                <a:latin typeface="+mn-ea"/>
              </a:rPr>
              <a:t>等</a:t>
            </a:r>
            <a:r>
              <a:rPr kumimoji="1" lang="en-US" altLang="zh-CN" sz="1600" b="1" dirty="0" err="1">
                <a:latin typeface="+mn-ea"/>
              </a:rPr>
              <a:t>cin</a:t>
            </a:r>
            <a:r>
              <a:rPr kumimoji="1" lang="zh-CN" altLang="en-US" sz="1600" b="1" dirty="0">
                <a:latin typeface="+mn-ea"/>
              </a:rPr>
              <a:t>无法处理的非图形字符，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600" b="1" dirty="0">
                <a:latin typeface="+mn-ea"/>
              </a:rPr>
              <a:t>      </a:t>
            </a:r>
            <a:r>
              <a:rPr kumimoji="1" lang="zh-CN" altLang="en-US" sz="1600" b="1" dirty="0">
                <a:latin typeface="+mn-ea"/>
              </a:rPr>
              <a:t>但仍不能处理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en-US" altLang="zh-CN" sz="1600" b="1" u="sng" dirty="0">
                <a:latin typeface="+mn-ea"/>
              </a:rPr>
              <a:t>_</a:t>
            </a:r>
            <a:r>
              <a:rPr kumimoji="1" lang="en-US" altLang="zh-CN" sz="1600" b="1" u="sng" dirty="0">
                <a:latin typeface="+mn-ea"/>
                <a:sym typeface="+mn-ea"/>
              </a:rPr>
              <a:t>b)</a:t>
            </a:r>
            <a:r>
              <a:rPr kumimoji="1" lang="en-US" altLang="zh-CN" sz="1600" b="1" u="sng" dirty="0">
                <a:latin typeface="+mn-ea"/>
              </a:rPr>
              <a:t>_</a:t>
            </a:r>
            <a:r>
              <a:rPr kumimoji="1" lang="en-US" altLang="zh-CN" sz="1600" b="1" dirty="0">
                <a:latin typeface="+mn-ea"/>
              </a:rPr>
              <a:t>___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600" b="1" dirty="0">
                <a:latin typeface="+mn-ea"/>
              </a:rPr>
              <a:t>      a) </a:t>
            </a:r>
            <a:r>
              <a:rPr kumimoji="1" lang="zh-CN" altLang="en-US" sz="1600" b="1" dirty="0">
                <a:latin typeface="+mn-ea"/>
              </a:rPr>
              <a:t>空格  </a:t>
            </a:r>
            <a:r>
              <a:rPr kumimoji="1" lang="en-US" altLang="zh-CN" sz="1600" b="1" dirty="0">
                <a:latin typeface="+mn-ea"/>
              </a:rPr>
              <a:t>b) </a:t>
            </a:r>
            <a:r>
              <a:rPr kumimoji="1" lang="zh-CN" altLang="en-US" sz="1600" b="1" dirty="0">
                <a:latin typeface="+mn-ea"/>
              </a:rPr>
              <a:t>转义符   </a:t>
            </a:r>
            <a:r>
              <a:rPr kumimoji="1" lang="en-US" altLang="zh-CN" sz="1600" b="1" dirty="0">
                <a:latin typeface="+mn-ea"/>
              </a:rPr>
              <a:t>c) </a:t>
            </a:r>
            <a:r>
              <a:rPr kumimoji="1" lang="zh-CN" altLang="en-US" sz="1600" b="1" dirty="0">
                <a:latin typeface="+mn-ea"/>
              </a:rPr>
              <a:t>回车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zh-CN" altLang="en-US" sz="16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591820" y="1323975"/>
            <a:ext cx="10109200" cy="541909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字符的输入与输出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getchar</a:t>
            </a:r>
            <a:r>
              <a:rPr lang="zh-CN" altLang="en-US" sz="1600" b="1" dirty="0">
                <a:latin typeface="+mn-ea"/>
              </a:rPr>
              <a:t>的基本使用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D.</a:t>
            </a:r>
            <a:r>
              <a:rPr lang="zh-CN" altLang="en-US" sz="1600" b="1" dirty="0">
                <a:latin typeface="+mn-ea"/>
              </a:rPr>
              <a:t>程序如下，观察编译及运行结果（可手填，如果贴图，要求在清晰可辨的情况下尽可能小）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591820" y="1323975"/>
            <a:ext cx="3450590" cy="541845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cstdio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"--Step1--"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getchar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 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"--Step2--"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getchar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 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"--Step3--"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getchar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 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"--Step4--"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getchar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 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4042410" y="1323975"/>
            <a:ext cx="6657975" cy="541909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本次要求仔细观察运行现象及结果，特别是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Step1~4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出现的时机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!!!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1</a:t>
            </a:r>
            <a:r>
              <a:rPr kumimoji="1" lang="zh-CN" altLang="en-US" sz="1200" b="1" dirty="0">
                <a:latin typeface="+mn-ea"/>
              </a:rPr>
              <a:t>、每次输入一个回车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程序从开始执行到结束，共停顿了</a:t>
            </a:r>
            <a:r>
              <a:rPr kumimoji="1" lang="en-US" altLang="zh-CN" sz="1200" b="1" dirty="0">
                <a:latin typeface="+mn-ea"/>
              </a:rPr>
              <a:t>_</a:t>
            </a:r>
            <a:r>
              <a:rPr kumimoji="1" lang="en-US" altLang="zh-CN" sz="1200" b="1" u="sng" dirty="0">
                <a:latin typeface="+mn-ea"/>
              </a:rPr>
              <a:t>_4_</a:t>
            </a:r>
            <a:r>
              <a:rPr kumimoji="1" lang="en-US" altLang="zh-CN" sz="1200" b="1" dirty="0">
                <a:latin typeface="+mn-ea"/>
              </a:rPr>
              <a:t>_</a:t>
            </a:r>
            <a:r>
              <a:rPr kumimoji="1" lang="zh-CN" altLang="en-US" sz="1200" b="1" dirty="0">
                <a:latin typeface="+mn-ea"/>
              </a:rPr>
              <a:t>次来等待输入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第</a:t>
            </a:r>
            <a:r>
              <a:rPr kumimoji="1" lang="en-US" altLang="zh-CN" sz="1200" b="1" dirty="0">
                <a:latin typeface="+mn-ea"/>
              </a:rPr>
              <a:t>1</a:t>
            </a:r>
            <a:r>
              <a:rPr kumimoji="1" lang="zh-CN" altLang="en-US" sz="1200" b="1" dirty="0">
                <a:latin typeface="+mn-ea"/>
              </a:rPr>
              <a:t>次停顿时，屏幕上输出的最后一行是</a:t>
            </a:r>
            <a:r>
              <a:rPr kumimoji="1" lang="en-US" altLang="zh-CN" sz="1200" b="1" dirty="0">
                <a:latin typeface="+mn-ea"/>
              </a:rPr>
              <a:t>Step</a:t>
            </a:r>
            <a:r>
              <a:rPr kumimoji="1" lang="en-US" altLang="zh-CN" sz="1200" b="1" u="sng" dirty="0">
                <a:latin typeface="+mn-ea"/>
              </a:rPr>
              <a:t>__</a:t>
            </a:r>
            <a:r>
              <a:rPr kumimoji="1" lang="en-US" altLang="zh-CN" sz="1200" b="1" u="sng" dirty="0">
                <a:latin typeface="+mn-ea"/>
              </a:rPr>
              <a:t> 1___ </a:t>
            </a:r>
            <a:r>
              <a:rPr kumimoji="1" lang="en-US" altLang="zh-CN" sz="1200" b="1" dirty="0">
                <a:latin typeface="+mn-ea"/>
              </a:rPr>
              <a:t>?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第</a:t>
            </a:r>
            <a:r>
              <a:rPr kumimoji="1" lang="en-US" altLang="zh-CN" sz="1200" b="1" dirty="0">
                <a:latin typeface="+mn-ea"/>
              </a:rPr>
              <a:t>2</a:t>
            </a:r>
            <a:r>
              <a:rPr kumimoji="1" lang="zh-CN" altLang="en-US" sz="1200" b="1" dirty="0">
                <a:latin typeface="+mn-ea"/>
              </a:rPr>
              <a:t>次停顿时，屏幕上输出的最后一行是</a:t>
            </a:r>
            <a:r>
              <a:rPr kumimoji="1" lang="en-US" altLang="zh-CN" sz="1200" b="1" dirty="0">
                <a:latin typeface="+mn-ea"/>
              </a:rPr>
              <a:t>Step__</a:t>
            </a:r>
            <a:r>
              <a:rPr kumimoji="1" lang="en-US" altLang="zh-CN" sz="1200" b="1" u="sng" dirty="0">
                <a:latin typeface="+mn-ea"/>
              </a:rPr>
              <a:t>_2_</a:t>
            </a:r>
            <a:r>
              <a:rPr kumimoji="1" lang="en-US" altLang="zh-CN" sz="1200" b="1" dirty="0">
                <a:latin typeface="+mn-ea"/>
              </a:rPr>
              <a:t>__ ? (</a:t>
            </a:r>
            <a:r>
              <a:rPr kumimoji="1" lang="zh-CN" altLang="en-US" sz="1200" b="1" dirty="0">
                <a:latin typeface="+mn-ea"/>
              </a:rPr>
              <a:t>没有则不填</a:t>
            </a:r>
            <a:r>
              <a:rPr kumimoji="1" lang="en-US" altLang="zh-CN" sz="1200" b="1" dirty="0">
                <a:latin typeface="+mn-ea"/>
              </a:rPr>
              <a:t>)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第</a:t>
            </a:r>
            <a:r>
              <a:rPr kumimoji="1" lang="en-US" altLang="zh-CN" sz="1200" b="1" dirty="0">
                <a:latin typeface="+mn-ea"/>
              </a:rPr>
              <a:t>3</a:t>
            </a:r>
            <a:r>
              <a:rPr kumimoji="1" lang="zh-CN" altLang="en-US" sz="1200" b="1" dirty="0">
                <a:latin typeface="+mn-ea"/>
              </a:rPr>
              <a:t>次停顿时，屏幕上输出的最后一行是</a:t>
            </a:r>
            <a:r>
              <a:rPr kumimoji="1" lang="en-US" altLang="zh-CN" sz="1200" b="1" dirty="0">
                <a:latin typeface="+mn-ea"/>
              </a:rPr>
              <a:t>Step___</a:t>
            </a:r>
            <a:r>
              <a:rPr kumimoji="1" lang="en-US" altLang="zh-CN" sz="1200" b="1" u="sng" dirty="0">
                <a:latin typeface="+mn-ea"/>
              </a:rPr>
              <a:t>3__</a:t>
            </a:r>
            <a:r>
              <a:rPr kumimoji="1" lang="en-US" altLang="zh-CN" sz="1200" b="1" dirty="0">
                <a:latin typeface="+mn-ea"/>
              </a:rPr>
              <a:t>_ ? (</a:t>
            </a:r>
            <a:r>
              <a:rPr kumimoji="1" lang="zh-CN" altLang="en-US" sz="1200" b="1" dirty="0">
                <a:latin typeface="+mn-ea"/>
              </a:rPr>
              <a:t>没有则不填</a:t>
            </a:r>
            <a:r>
              <a:rPr kumimoji="1" lang="en-US" altLang="zh-CN" sz="1200" b="1" dirty="0">
                <a:latin typeface="+mn-ea"/>
              </a:rPr>
              <a:t>)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第</a:t>
            </a:r>
            <a:r>
              <a:rPr kumimoji="1" lang="en-US" altLang="zh-CN" sz="1200" b="1" dirty="0">
                <a:latin typeface="+mn-ea"/>
              </a:rPr>
              <a:t>4</a:t>
            </a:r>
            <a:r>
              <a:rPr kumimoji="1" lang="zh-CN" altLang="en-US" sz="1200" b="1" dirty="0">
                <a:latin typeface="+mn-ea"/>
              </a:rPr>
              <a:t>次停顿时，屏幕上输出的最后一行是</a:t>
            </a:r>
            <a:r>
              <a:rPr kumimoji="1" lang="en-US" altLang="zh-CN" sz="1200" b="1" dirty="0">
                <a:latin typeface="+mn-ea"/>
              </a:rPr>
              <a:t>Step_</a:t>
            </a:r>
            <a:r>
              <a:rPr kumimoji="1" lang="en-US" altLang="zh-CN" sz="1200" b="1" u="sng" dirty="0">
                <a:latin typeface="+mn-ea"/>
              </a:rPr>
              <a:t>__4_</a:t>
            </a:r>
            <a:r>
              <a:rPr kumimoji="1" lang="en-US" altLang="zh-CN" sz="1200" b="1" u="sng" dirty="0">
                <a:latin typeface="+mn-ea"/>
                <a:sym typeface="+mn-ea"/>
              </a:rPr>
              <a:t>  </a:t>
            </a:r>
            <a:r>
              <a:rPr kumimoji="1" lang="en-US" altLang="zh-CN" sz="1200" b="1" u="sng" dirty="0">
                <a:latin typeface="+mn-ea"/>
              </a:rPr>
              <a:t> </a:t>
            </a:r>
            <a:r>
              <a:rPr kumimoji="1" lang="en-US" altLang="zh-CN" sz="1200" b="1" dirty="0">
                <a:latin typeface="+mn-ea"/>
              </a:rPr>
              <a:t>? (</a:t>
            </a:r>
            <a:r>
              <a:rPr kumimoji="1" lang="zh-CN" altLang="en-US" sz="1200" b="1" dirty="0">
                <a:latin typeface="+mn-ea"/>
              </a:rPr>
              <a:t>没有则不填</a:t>
            </a:r>
            <a:r>
              <a:rPr kumimoji="1" lang="en-US" altLang="zh-CN" sz="1200" b="1" dirty="0">
                <a:latin typeface="+mn-ea"/>
              </a:rPr>
              <a:t>)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2</a:t>
            </a:r>
            <a:r>
              <a:rPr kumimoji="1" lang="zh-CN" altLang="en-US" sz="1200" b="1" dirty="0">
                <a:latin typeface="+mn-ea"/>
              </a:rPr>
              <a:t>、第一次输入一个字母</a:t>
            </a:r>
            <a:r>
              <a:rPr kumimoji="1" lang="en-US" altLang="zh-CN" sz="1200" b="1" dirty="0">
                <a:latin typeface="+mn-ea"/>
              </a:rPr>
              <a:t>+</a:t>
            </a:r>
            <a:r>
              <a:rPr kumimoji="1" lang="zh-CN" altLang="en-US" sz="1200" b="1" dirty="0">
                <a:latin typeface="+mn-ea"/>
              </a:rPr>
              <a:t>回车，以后每次停顿，均输入一个字母</a:t>
            </a:r>
            <a:r>
              <a:rPr kumimoji="1" lang="en-US" altLang="zh-CN" sz="1200" b="1" dirty="0">
                <a:latin typeface="+mn-ea"/>
              </a:rPr>
              <a:t>+</a:t>
            </a:r>
            <a:r>
              <a:rPr kumimoji="1" lang="zh-CN" altLang="en-US" sz="1200" b="1" dirty="0">
                <a:latin typeface="+mn-ea"/>
              </a:rPr>
              <a:t>回车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程序从开始执行到结束，共停顿了</a:t>
            </a:r>
            <a:r>
              <a:rPr kumimoji="1" lang="en-US" altLang="zh-CN" sz="1200" b="1" dirty="0">
                <a:latin typeface="+mn-ea"/>
              </a:rPr>
              <a:t>_</a:t>
            </a:r>
            <a:r>
              <a:rPr kumimoji="1" lang="en-US" altLang="zh-CN" sz="1200" b="1" u="sng" dirty="0">
                <a:latin typeface="+mn-ea"/>
              </a:rPr>
              <a:t>__2__</a:t>
            </a:r>
            <a:r>
              <a:rPr kumimoji="1" lang="zh-CN" altLang="en-US" sz="1200" b="1" dirty="0">
                <a:latin typeface="+mn-ea"/>
              </a:rPr>
              <a:t>次来等待输入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第</a:t>
            </a:r>
            <a:r>
              <a:rPr kumimoji="1" lang="en-US" altLang="zh-CN" sz="1200" b="1" dirty="0">
                <a:latin typeface="+mn-ea"/>
              </a:rPr>
              <a:t>1</a:t>
            </a:r>
            <a:r>
              <a:rPr kumimoji="1" lang="zh-CN" altLang="en-US" sz="1200" b="1" dirty="0">
                <a:latin typeface="+mn-ea"/>
              </a:rPr>
              <a:t>次停顿时，屏幕上输出的最后一行是</a:t>
            </a:r>
            <a:r>
              <a:rPr kumimoji="1" lang="en-US" altLang="zh-CN" sz="1200" b="1" dirty="0">
                <a:latin typeface="+mn-ea"/>
              </a:rPr>
              <a:t>Step__</a:t>
            </a:r>
            <a:r>
              <a:rPr kumimoji="1" lang="en-US" altLang="zh-CN" sz="1200" b="1" u="sng" dirty="0">
                <a:latin typeface="+mn-ea"/>
              </a:rPr>
              <a:t>_1_</a:t>
            </a:r>
            <a:r>
              <a:rPr kumimoji="1" lang="en-US" altLang="zh-CN" sz="1200" b="1" dirty="0">
                <a:latin typeface="+mn-ea"/>
              </a:rPr>
              <a:t>__ ?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第</a:t>
            </a:r>
            <a:r>
              <a:rPr kumimoji="1" lang="en-US" altLang="zh-CN" sz="1200" b="1" dirty="0">
                <a:latin typeface="+mn-ea"/>
              </a:rPr>
              <a:t>2</a:t>
            </a:r>
            <a:r>
              <a:rPr kumimoji="1" lang="zh-CN" altLang="en-US" sz="1200" b="1" dirty="0">
                <a:latin typeface="+mn-ea"/>
              </a:rPr>
              <a:t>次停顿时，屏幕上输出的最后一行是</a:t>
            </a:r>
            <a:r>
              <a:rPr kumimoji="1" lang="en-US" altLang="zh-CN" sz="1200" b="1" dirty="0">
                <a:latin typeface="+mn-ea"/>
              </a:rPr>
              <a:t>Step__</a:t>
            </a:r>
            <a:r>
              <a:rPr kumimoji="1" lang="en-US" altLang="zh-CN" sz="1200" b="1" u="sng" dirty="0">
                <a:latin typeface="+mn-ea"/>
              </a:rPr>
              <a:t>_3_</a:t>
            </a:r>
            <a:r>
              <a:rPr kumimoji="1" lang="en-US" altLang="zh-CN" sz="1200" b="1" dirty="0">
                <a:latin typeface="+mn-ea"/>
              </a:rPr>
              <a:t>__ ? (</a:t>
            </a:r>
            <a:r>
              <a:rPr kumimoji="1" lang="zh-CN" altLang="en-US" sz="1200" b="1" dirty="0">
                <a:latin typeface="+mn-ea"/>
              </a:rPr>
              <a:t>没有则不填</a:t>
            </a:r>
            <a:r>
              <a:rPr kumimoji="1" lang="en-US" altLang="zh-CN" sz="1200" b="1" dirty="0">
                <a:latin typeface="+mn-ea"/>
              </a:rPr>
              <a:t>)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第</a:t>
            </a:r>
            <a:r>
              <a:rPr kumimoji="1" lang="en-US" altLang="zh-CN" sz="1200" b="1" dirty="0">
                <a:latin typeface="+mn-ea"/>
              </a:rPr>
              <a:t>3</a:t>
            </a:r>
            <a:r>
              <a:rPr kumimoji="1" lang="zh-CN" altLang="en-US" sz="1200" b="1" dirty="0">
                <a:latin typeface="+mn-ea"/>
              </a:rPr>
              <a:t>次停顿时，屏幕上输出的最后一行是</a:t>
            </a:r>
            <a:r>
              <a:rPr kumimoji="1" lang="en-US" altLang="zh-CN" sz="1200" b="1" dirty="0">
                <a:latin typeface="+mn-ea"/>
              </a:rPr>
              <a:t>Step______ ? (</a:t>
            </a:r>
            <a:r>
              <a:rPr kumimoji="1" lang="zh-CN" altLang="en-US" sz="1200" b="1" dirty="0">
                <a:latin typeface="+mn-ea"/>
              </a:rPr>
              <a:t>没有则不填</a:t>
            </a:r>
            <a:r>
              <a:rPr kumimoji="1" lang="en-US" altLang="zh-CN" sz="1200" b="1" dirty="0">
                <a:latin typeface="+mn-ea"/>
              </a:rPr>
              <a:t>)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第</a:t>
            </a:r>
            <a:r>
              <a:rPr kumimoji="1" lang="en-US" altLang="zh-CN" sz="1200" b="1" dirty="0">
                <a:latin typeface="+mn-ea"/>
              </a:rPr>
              <a:t>4</a:t>
            </a:r>
            <a:r>
              <a:rPr kumimoji="1" lang="zh-CN" altLang="en-US" sz="1200" b="1" dirty="0">
                <a:latin typeface="+mn-ea"/>
              </a:rPr>
              <a:t>次停顿时，屏幕上输出的最后一行是</a:t>
            </a:r>
            <a:r>
              <a:rPr kumimoji="1" lang="en-US" altLang="zh-CN" sz="1200" b="1" dirty="0">
                <a:latin typeface="+mn-ea"/>
              </a:rPr>
              <a:t>Step______ ? (</a:t>
            </a:r>
            <a:r>
              <a:rPr kumimoji="1" lang="zh-CN" altLang="en-US" sz="1200" b="1" dirty="0">
                <a:latin typeface="+mn-ea"/>
              </a:rPr>
              <a:t>没有则不填</a:t>
            </a:r>
            <a:r>
              <a:rPr kumimoji="1" lang="en-US" altLang="zh-CN" sz="1200" b="1" dirty="0">
                <a:latin typeface="+mn-ea"/>
              </a:rPr>
              <a:t>)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3</a:t>
            </a:r>
            <a:r>
              <a:rPr kumimoji="1" lang="zh-CN" altLang="en-US" sz="1200" b="1" dirty="0">
                <a:latin typeface="+mn-ea"/>
              </a:rPr>
              <a:t>、第一次即输入</a:t>
            </a:r>
            <a:r>
              <a:rPr kumimoji="1" lang="en-US" altLang="zh-CN" sz="1200" b="1" dirty="0">
                <a:latin typeface="+mn-ea"/>
              </a:rPr>
              <a:t>4</a:t>
            </a:r>
            <a:r>
              <a:rPr kumimoji="1" lang="zh-CN" altLang="en-US" sz="1200" b="1" dirty="0">
                <a:latin typeface="+mn-ea"/>
              </a:rPr>
              <a:t>个以上的字母</a:t>
            </a:r>
            <a:r>
              <a:rPr kumimoji="1" lang="en-US" altLang="zh-CN" sz="1200" b="1" dirty="0">
                <a:latin typeface="+mn-ea"/>
              </a:rPr>
              <a:t>+</a:t>
            </a:r>
            <a:r>
              <a:rPr kumimoji="1" lang="zh-CN" altLang="en-US" sz="1200" b="1" dirty="0">
                <a:latin typeface="+mn-ea"/>
              </a:rPr>
              <a:t>回车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程序从开始执行到结束，共停顿了</a:t>
            </a:r>
            <a:r>
              <a:rPr kumimoji="1" lang="en-US" altLang="zh-CN" sz="1200" b="1" dirty="0">
                <a:latin typeface="+mn-ea"/>
              </a:rPr>
              <a:t>_</a:t>
            </a:r>
            <a:r>
              <a:rPr kumimoji="1" lang="en-US" altLang="zh-CN" sz="1200" b="1" u="sng" dirty="0">
                <a:latin typeface="+mn-ea"/>
              </a:rPr>
              <a:t>_1__</a:t>
            </a:r>
            <a:r>
              <a:rPr kumimoji="1" lang="en-US" altLang="zh-CN" sz="1200" b="1" dirty="0">
                <a:latin typeface="+mn-ea"/>
              </a:rPr>
              <a:t>_</a:t>
            </a:r>
            <a:r>
              <a:rPr kumimoji="1" lang="zh-CN" altLang="en-US" sz="1200" b="1" dirty="0">
                <a:latin typeface="+mn-ea"/>
              </a:rPr>
              <a:t>次来等待输入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第</a:t>
            </a:r>
            <a:r>
              <a:rPr kumimoji="1" lang="en-US" altLang="zh-CN" sz="1200" b="1" dirty="0">
                <a:latin typeface="+mn-ea"/>
              </a:rPr>
              <a:t>1</a:t>
            </a:r>
            <a:r>
              <a:rPr kumimoji="1" lang="zh-CN" altLang="en-US" sz="1200" b="1" dirty="0">
                <a:latin typeface="+mn-ea"/>
              </a:rPr>
              <a:t>次停顿时，屏幕上输出的最后一行是</a:t>
            </a:r>
            <a:r>
              <a:rPr kumimoji="1" lang="en-US" altLang="zh-CN" sz="1200" b="1" dirty="0">
                <a:latin typeface="+mn-ea"/>
              </a:rPr>
              <a:t>Step__</a:t>
            </a:r>
            <a:r>
              <a:rPr kumimoji="1" lang="en-US" altLang="zh-CN" sz="1200" b="1" u="sng" dirty="0">
                <a:latin typeface="+mn-ea"/>
              </a:rPr>
              <a:t>_1_</a:t>
            </a:r>
            <a:r>
              <a:rPr kumimoji="1" lang="en-US" altLang="zh-CN" sz="1200" b="1" dirty="0">
                <a:latin typeface="+mn-ea"/>
              </a:rPr>
              <a:t>__ ?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第</a:t>
            </a:r>
            <a:r>
              <a:rPr kumimoji="1" lang="en-US" altLang="zh-CN" sz="1200" b="1" dirty="0">
                <a:latin typeface="+mn-ea"/>
              </a:rPr>
              <a:t>2</a:t>
            </a:r>
            <a:r>
              <a:rPr kumimoji="1" lang="zh-CN" altLang="en-US" sz="1200" b="1" dirty="0">
                <a:latin typeface="+mn-ea"/>
              </a:rPr>
              <a:t>次停顿时，屏幕上输出的最后一行是</a:t>
            </a:r>
            <a:r>
              <a:rPr kumimoji="1" lang="en-US" altLang="zh-CN" sz="1200" b="1" dirty="0">
                <a:latin typeface="+mn-ea"/>
              </a:rPr>
              <a:t>Step______ ? (</a:t>
            </a:r>
            <a:r>
              <a:rPr kumimoji="1" lang="zh-CN" altLang="en-US" sz="1200" b="1" dirty="0">
                <a:latin typeface="+mn-ea"/>
              </a:rPr>
              <a:t>没有则不填</a:t>
            </a:r>
            <a:r>
              <a:rPr kumimoji="1" lang="en-US" altLang="zh-CN" sz="1200" b="1" dirty="0">
                <a:latin typeface="+mn-ea"/>
              </a:rPr>
              <a:t>)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第</a:t>
            </a:r>
            <a:r>
              <a:rPr kumimoji="1" lang="en-US" altLang="zh-CN" sz="1200" b="1" dirty="0">
                <a:latin typeface="+mn-ea"/>
              </a:rPr>
              <a:t>3</a:t>
            </a:r>
            <a:r>
              <a:rPr kumimoji="1" lang="zh-CN" altLang="en-US" sz="1200" b="1" dirty="0">
                <a:latin typeface="+mn-ea"/>
              </a:rPr>
              <a:t>次停顿时，屏幕上输出的最后一行是</a:t>
            </a:r>
            <a:r>
              <a:rPr kumimoji="1" lang="en-US" altLang="zh-CN" sz="1200" b="1" dirty="0">
                <a:latin typeface="+mn-ea"/>
              </a:rPr>
              <a:t>Step______ ? (</a:t>
            </a:r>
            <a:r>
              <a:rPr kumimoji="1" lang="zh-CN" altLang="en-US" sz="1200" b="1" dirty="0">
                <a:latin typeface="+mn-ea"/>
              </a:rPr>
              <a:t>没有则不填</a:t>
            </a:r>
            <a:r>
              <a:rPr kumimoji="1" lang="en-US" altLang="zh-CN" sz="1200" b="1" dirty="0">
                <a:latin typeface="+mn-ea"/>
              </a:rPr>
              <a:t>)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第</a:t>
            </a:r>
            <a:r>
              <a:rPr kumimoji="1" lang="en-US" altLang="zh-CN" sz="1200" b="1" dirty="0">
                <a:latin typeface="+mn-ea"/>
              </a:rPr>
              <a:t>4</a:t>
            </a:r>
            <a:r>
              <a:rPr kumimoji="1" lang="zh-CN" altLang="en-US" sz="1200" b="1" dirty="0">
                <a:latin typeface="+mn-ea"/>
              </a:rPr>
              <a:t>次停顿时，屏幕上输出的最后一行是</a:t>
            </a:r>
            <a:r>
              <a:rPr kumimoji="1" lang="en-US" altLang="zh-CN" sz="1200" b="1" dirty="0">
                <a:latin typeface="+mn-ea"/>
              </a:rPr>
              <a:t>Step______ ? (</a:t>
            </a:r>
            <a:r>
              <a:rPr kumimoji="1" lang="zh-CN" altLang="en-US" sz="1200" b="1" dirty="0">
                <a:latin typeface="+mn-ea"/>
              </a:rPr>
              <a:t>没有则不填</a:t>
            </a:r>
            <a:r>
              <a:rPr kumimoji="1" lang="en-US" altLang="zh-CN" sz="1200" b="1" dirty="0">
                <a:latin typeface="+mn-ea"/>
              </a:rPr>
              <a:t>)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1200" b="1" dirty="0">
                <a:latin typeface="+mn-ea"/>
              </a:rPr>
              <a:t>结论：</a:t>
            </a:r>
            <a:r>
              <a:rPr kumimoji="1" lang="en-US" altLang="zh-CN" sz="1200" b="1" dirty="0" err="1">
                <a:latin typeface="+mn-ea"/>
              </a:rPr>
              <a:t>getchar</a:t>
            </a:r>
            <a:r>
              <a:rPr kumimoji="1" lang="zh-CN" altLang="en-US" sz="1200" b="1" dirty="0">
                <a:latin typeface="+mn-ea"/>
              </a:rPr>
              <a:t>每次仅从输入缓冲区中取需要的字节，多余的字节仍保留在输入缓冲区中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   </a:t>
            </a:r>
            <a:r>
              <a:rPr kumimoji="1" lang="zh-CN" altLang="en-US" sz="1200" b="1" dirty="0">
                <a:latin typeface="+mn-ea"/>
              </a:rPr>
              <a:t>供下次读取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思考：结合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"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+mn-ea"/>
              </a:rPr>
              <a:t>cin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与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+mn-ea"/>
              </a:rPr>
              <a:t>cout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的基本使用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"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中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3.c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的例子，考虑一下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3.c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中非法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m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对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int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的影响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(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错在第几个数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)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与输入缓冲区的关系，为什么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?  </a:t>
            </a:r>
            <a:r>
              <a:rPr kumimoji="1" lang="zh-CN" altLang="en-US" sz="1200" b="1" dirty="0">
                <a:solidFill>
                  <a:schemeClr val="accent2"/>
                </a:solidFill>
                <a:latin typeface="+mn-ea"/>
              </a:rPr>
              <a:t>答：非法输入之前的数据可以正确存储到输入缓冲区中，非法输入和之后的数据会将错误的数据存储到输入缓冲区中。</a:t>
            </a:r>
            <a:endParaRPr kumimoji="1" lang="zh-CN" altLang="en-US" sz="1200" b="1" dirty="0">
              <a:solidFill>
                <a:schemeClr val="accent2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字符的输入与输出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getchar</a:t>
            </a:r>
            <a:r>
              <a:rPr lang="zh-CN" altLang="en-US" sz="1600" b="1" dirty="0">
                <a:latin typeface="+mn-ea"/>
              </a:rPr>
              <a:t>的基本使用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E.</a:t>
            </a:r>
            <a:r>
              <a:rPr lang="zh-CN" altLang="en-US" sz="1600" b="1" dirty="0">
                <a:latin typeface="+mn-ea"/>
              </a:rPr>
              <a:t>自行构造证明</a:t>
            </a:r>
            <a:r>
              <a:rPr lang="en-US" altLang="zh-CN" sz="1600" b="1" dirty="0">
                <a:latin typeface="+mn-ea"/>
              </a:rPr>
              <a:t>D</a:t>
            </a:r>
            <a:r>
              <a:rPr lang="zh-CN" altLang="en-US" sz="1600" b="1" dirty="0">
                <a:latin typeface="+mn-ea"/>
              </a:rPr>
              <a:t>结论的使用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读入的测试程序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592113" y="1323975"/>
            <a:ext cx="3450327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&lt;cstdio&gt;</a:t>
            </a:r>
            <a:endParaRPr kumimoji="1" lang="en-US" altLang="zh-CN" sz="1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a, b, c, d;</a:t>
            </a:r>
            <a:endParaRPr kumimoji="1" lang="en-US" altLang="zh-CN" sz="1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cout &lt;&lt; "--Step1--" &lt;&lt; endl;</a:t>
            </a:r>
            <a:endParaRPr kumimoji="1" lang="en-US" altLang="zh-CN" sz="1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cin &gt;&gt; a;</a:t>
            </a:r>
            <a:endParaRPr kumimoji="1" lang="en-US" altLang="zh-CN" sz="1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cout &lt;&lt; a &lt;&lt; endl;</a:t>
            </a:r>
            <a:endParaRPr kumimoji="1" lang="en-US" altLang="zh-CN" sz="1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cout &lt;&lt; "--Step2--" &lt;&lt; endl;</a:t>
            </a:r>
            <a:endParaRPr kumimoji="1" lang="en-US" altLang="zh-CN" sz="1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cin &gt;&gt; b ;</a:t>
            </a:r>
            <a:endParaRPr kumimoji="1" lang="en-US" altLang="zh-CN" sz="1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cout &lt;&lt; b &lt;&lt; endl;</a:t>
            </a:r>
            <a:endParaRPr kumimoji="1" lang="en-US" altLang="zh-CN" sz="1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endParaRPr kumimoji="1" lang="en-US" altLang="zh-CN" sz="1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cout &lt;&lt; "--Step3--" &lt;&lt; endl;</a:t>
            </a:r>
            <a:endParaRPr kumimoji="1" lang="en-US" altLang="zh-CN" sz="1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cin &gt;&gt; c;   </a:t>
            </a:r>
            <a:endParaRPr kumimoji="1" lang="en-US" altLang="zh-CN" sz="1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cout &lt;&lt; c &lt;&lt; endl;</a:t>
            </a:r>
            <a:endParaRPr kumimoji="1" lang="en-US" altLang="zh-CN" sz="1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endParaRPr kumimoji="1" lang="en-US" altLang="zh-CN" sz="1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cout &lt;&lt; "--Step4--" &lt;&lt; endl;</a:t>
            </a:r>
            <a:endParaRPr kumimoji="1" lang="en-US" altLang="zh-CN" sz="1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cin &gt;&gt; d;   </a:t>
            </a:r>
            <a:endParaRPr kumimoji="1" lang="en-US" altLang="zh-CN" sz="1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cout &lt;&lt; d &lt;&lt; endl;</a:t>
            </a:r>
            <a:endParaRPr kumimoji="1" lang="en-US" altLang="zh-CN" sz="1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4042440" y="1323974"/>
            <a:ext cx="679701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本次要求仔细观察运行现象及结果，特别是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+mn-ea"/>
              </a:rPr>
              <a:t>Stepx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出现的时机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!!!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1200" b="1" dirty="0">
                <a:latin typeface="+mn-ea"/>
              </a:rPr>
              <a:t>因为</a:t>
            </a:r>
            <a:r>
              <a:rPr kumimoji="1" lang="en-US" altLang="zh-CN" sz="1200" b="1" dirty="0" err="1">
                <a:latin typeface="+mn-ea"/>
              </a:rPr>
              <a:t>cin</a:t>
            </a:r>
            <a:r>
              <a:rPr kumimoji="1" lang="zh-CN" altLang="en-US" sz="1200" b="1" dirty="0">
                <a:latin typeface="+mn-ea"/>
              </a:rPr>
              <a:t>不能读取空格、回车（有特殊方法可读，先忽略），因此测试有所不同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1</a:t>
            </a:r>
            <a:r>
              <a:rPr kumimoji="1" lang="zh-CN" altLang="en-US" sz="1200" b="1" dirty="0">
                <a:latin typeface="+mn-ea"/>
              </a:rPr>
              <a:t>、第一次输入两个字母</a:t>
            </a:r>
            <a:r>
              <a:rPr kumimoji="1" lang="en-US" altLang="zh-CN" sz="1200" b="1" dirty="0">
                <a:latin typeface="+mn-ea"/>
              </a:rPr>
              <a:t>+</a:t>
            </a:r>
            <a:r>
              <a:rPr kumimoji="1" lang="zh-CN" altLang="en-US" sz="1200" b="1" dirty="0">
                <a:latin typeface="+mn-ea"/>
              </a:rPr>
              <a:t>回车，以后每次停顿，均输入两个字母</a:t>
            </a:r>
            <a:r>
              <a:rPr kumimoji="1" lang="en-US" altLang="zh-CN" sz="1200" b="1" dirty="0">
                <a:latin typeface="+mn-ea"/>
              </a:rPr>
              <a:t>+</a:t>
            </a:r>
            <a:r>
              <a:rPr kumimoji="1" lang="zh-CN" altLang="en-US" sz="1200" b="1" dirty="0">
                <a:latin typeface="+mn-ea"/>
              </a:rPr>
              <a:t>回车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程序从开始执行到结束，共停顿了</a:t>
            </a:r>
            <a:r>
              <a:rPr kumimoji="1" lang="en-US" altLang="zh-CN" sz="1200" b="1" dirty="0">
                <a:latin typeface="+mn-ea"/>
              </a:rPr>
              <a:t>__2___</a:t>
            </a:r>
            <a:r>
              <a:rPr kumimoji="1" lang="zh-CN" altLang="en-US" sz="1200" b="1" dirty="0">
                <a:latin typeface="+mn-ea"/>
              </a:rPr>
              <a:t>次来等待输入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第</a:t>
            </a:r>
            <a:r>
              <a:rPr kumimoji="1" lang="en-US" altLang="zh-CN" sz="1200" b="1" dirty="0">
                <a:latin typeface="+mn-ea"/>
              </a:rPr>
              <a:t>1</a:t>
            </a:r>
            <a:r>
              <a:rPr kumimoji="1" lang="zh-CN" altLang="en-US" sz="1200" b="1" dirty="0">
                <a:latin typeface="+mn-ea"/>
              </a:rPr>
              <a:t>次停顿时，屏幕上输出的最后一行是</a:t>
            </a:r>
            <a:r>
              <a:rPr kumimoji="1" lang="en-US" altLang="zh-CN" sz="1200" b="1" dirty="0">
                <a:latin typeface="+mn-ea"/>
              </a:rPr>
              <a:t>Step___1___ ?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第</a:t>
            </a:r>
            <a:r>
              <a:rPr kumimoji="1" lang="en-US" altLang="zh-CN" sz="1200" b="1" dirty="0">
                <a:latin typeface="+mn-ea"/>
              </a:rPr>
              <a:t>2</a:t>
            </a:r>
            <a:r>
              <a:rPr kumimoji="1" lang="zh-CN" altLang="en-US" sz="1200" b="1" dirty="0">
                <a:latin typeface="+mn-ea"/>
              </a:rPr>
              <a:t>次停顿时，屏幕上输出的最后一行是</a:t>
            </a:r>
            <a:r>
              <a:rPr kumimoji="1" lang="en-US" altLang="zh-CN" sz="1200" b="1" dirty="0">
                <a:latin typeface="+mn-ea"/>
              </a:rPr>
              <a:t>Step___3___ ? (</a:t>
            </a:r>
            <a:r>
              <a:rPr kumimoji="1" lang="zh-CN" altLang="en-US" sz="1200" b="1" dirty="0">
                <a:latin typeface="+mn-ea"/>
              </a:rPr>
              <a:t>没有则不填</a:t>
            </a:r>
            <a:r>
              <a:rPr kumimoji="1" lang="en-US" altLang="zh-CN" sz="1200" b="1" dirty="0">
                <a:latin typeface="+mn-ea"/>
              </a:rPr>
              <a:t>)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第</a:t>
            </a:r>
            <a:r>
              <a:rPr kumimoji="1" lang="en-US" altLang="zh-CN" sz="1200" b="1" dirty="0">
                <a:latin typeface="+mn-ea"/>
              </a:rPr>
              <a:t>3</a:t>
            </a:r>
            <a:r>
              <a:rPr kumimoji="1" lang="zh-CN" altLang="en-US" sz="1200" b="1" dirty="0">
                <a:latin typeface="+mn-ea"/>
              </a:rPr>
              <a:t>次停顿时，屏幕上输出的最后一行是</a:t>
            </a:r>
            <a:r>
              <a:rPr kumimoji="1" lang="en-US" altLang="zh-CN" sz="1200" b="1" dirty="0">
                <a:latin typeface="+mn-ea"/>
              </a:rPr>
              <a:t>Step______ ? (</a:t>
            </a:r>
            <a:r>
              <a:rPr kumimoji="1" lang="zh-CN" altLang="en-US" sz="1200" b="1" dirty="0">
                <a:latin typeface="+mn-ea"/>
              </a:rPr>
              <a:t>没有则不填</a:t>
            </a:r>
            <a:r>
              <a:rPr kumimoji="1" lang="en-US" altLang="zh-CN" sz="1200" b="1" dirty="0">
                <a:latin typeface="+mn-ea"/>
              </a:rPr>
              <a:t>)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第</a:t>
            </a:r>
            <a:r>
              <a:rPr kumimoji="1" lang="en-US" altLang="zh-CN" sz="1200" b="1" dirty="0">
                <a:latin typeface="+mn-ea"/>
              </a:rPr>
              <a:t>4</a:t>
            </a:r>
            <a:r>
              <a:rPr kumimoji="1" lang="zh-CN" altLang="en-US" sz="1200" b="1" dirty="0">
                <a:latin typeface="+mn-ea"/>
              </a:rPr>
              <a:t>次停顿时，屏幕上输出的最后一行是</a:t>
            </a:r>
            <a:r>
              <a:rPr kumimoji="1" lang="en-US" altLang="zh-CN" sz="1200" b="1" dirty="0">
                <a:latin typeface="+mn-ea"/>
              </a:rPr>
              <a:t>Step______ ? (</a:t>
            </a:r>
            <a:r>
              <a:rPr kumimoji="1" lang="zh-CN" altLang="en-US" sz="1200" b="1" dirty="0">
                <a:latin typeface="+mn-ea"/>
              </a:rPr>
              <a:t>没有则不填</a:t>
            </a:r>
            <a:r>
              <a:rPr kumimoji="1" lang="en-US" altLang="zh-CN" sz="1200" b="1" dirty="0">
                <a:latin typeface="+mn-ea"/>
              </a:rPr>
              <a:t>)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2</a:t>
            </a:r>
            <a:r>
              <a:rPr kumimoji="1" lang="zh-CN" altLang="en-US" sz="1200" b="1" dirty="0">
                <a:latin typeface="+mn-ea"/>
              </a:rPr>
              <a:t>、第一次即输入</a:t>
            </a:r>
            <a:r>
              <a:rPr kumimoji="1" lang="en-US" altLang="zh-CN" sz="1200" b="1" dirty="0">
                <a:latin typeface="+mn-ea"/>
              </a:rPr>
              <a:t>4</a:t>
            </a:r>
            <a:r>
              <a:rPr kumimoji="1" lang="zh-CN" altLang="en-US" sz="1200" b="1" dirty="0">
                <a:latin typeface="+mn-ea"/>
              </a:rPr>
              <a:t>个以上的字母</a:t>
            </a:r>
            <a:r>
              <a:rPr kumimoji="1" lang="en-US" altLang="zh-CN" sz="1200" b="1" dirty="0">
                <a:latin typeface="+mn-ea"/>
              </a:rPr>
              <a:t>+</a:t>
            </a:r>
            <a:r>
              <a:rPr kumimoji="1" lang="zh-CN" altLang="en-US" sz="1200" b="1" dirty="0">
                <a:latin typeface="+mn-ea"/>
              </a:rPr>
              <a:t>回车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程序从开始执行到结束，共停顿了</a:t>
            </a:r>
            <a:r>
              <a:rPr kumimoji="1" lang="en-US" altLang="zh-CN" sz="1200" b="1" dirty="0">
                <a:latin typeface="+mn-ea"/>
              </a:rPr>
              <a:t>__1___</a:t>
            </a:r>
            <a:r>
              <a:rPr kumimoji="1" lang="zh-CN" altLang="en-US" sz="1200" b="1" dirty="0">
                <a:latin typeface="+mn-ea"/>
              </a:rPr>
              <a:t>次来等待输入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第</a:t>
            </a:r>
            <a:r>
              <a:rPr kumimoji="1" lang="en-US" altLang="zh-CN" sz="1200" b="1" dirty="0">
                <a:latin typeface="+mn-ea"/>
              </a:rPr>
              <a:t>1</a:t>
            </a:r>
            <a:r>
              <a:rPr kumimoji="1" lang="zh-CN" altLang="en-US" sz="1200" b="1" dirty="0">
                <a:latin typeface="+mn-ea"/>
              </a:rPr>
              <a:t>次停顿时，屏幕上输出的最后一行是</a:t>
            </a:r>
            <a:r>
              <a:rPr kumimoji="1" lang="en-US" altLang="zh-CN" sz="1200" b="1" dirty="0">
                <a:latin typeface="+mn-ea"/>
              </a:rPr>
              <a:t>Step___1___ ?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第</a:t>
            </a:r>
            <a:r>
              <a:rPr kumimoji="1" lang="en-US" altLang="zh-CN" sz="1200" b="1" dirty="0">
                <a:latin typeface="+mn-ea"/>
              </a:rPr>
              <a:t>2</a:t>
            </a:r>
            <a:r>
              <a:rPr kumimoji="1" lang="zh-CN" altLang="en-US" sz="1200" b="1" dirty="0">
                <a:latin typeface="+mn-ea"/>
              </a:rPr>
              <a:t>次停顿时，屏幕上输出的最后一行是</a:t>
            </a:r>
            <a:r>
              <a:rPr kumimoji="1" lang="en-US" altLang="zh-CN" sz="1200" b="1" dirty="0">
                <a:latin typeface="+mn-ea"/>
              </a:rPr>
              <a:t>Step______ ? (</a:t>
            </a:r>
            <a:r>
              <a:rPr kumimoji="1" lang="zh-CN" altLang="en-US" sz="1200" b="1" dirty="0">
                <a:latin typeface="+mn-ea"/>
              </a:rPr>
              <a:t>没有则不填</a:t>
            </a:r>
            <a:r>
              <a:rPr kumimoji="1" lang="en-US" altLang="zh-CN" sz="1200" b="1" dirty="0">
                <a:latin typeface="+mn-ea"/>
              </a:rPr>
              <a:t>)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第</a:t>
            </a:r>
            <a:r>
              <a:rPr kumimoji="1" lang="en-US" altLang="zh-CN" sz="1200" b="1" dirty="0">
                <a:latin typeface="+mn-ea"/>
              </a:rPr>
              <a:t>3</a:t>
            </a:r>
            <a:r>
              <a:rPr kumimoji="1" lang="zh-CN" altLang="en-US" sz="1200" b="1" dirty="0">
                <a:latin typeface="+mn-ea"/>
              </a:rPr>
              <a:t>次停顿时，屏幕上输出的最后一行是</a:t>
            </a:r>
            <a:r>
              <a:rPr kumimoji="1" lang="en-US" altLang="zh-CN" sz="1200" b="1" dirty="0">
                <a:latin typeface="+mn-ea"/>
              </a:rPr>
              <a:t>Step______ ? (</a:t>
            </a:r>
            <a:r>
              <a:rPr kumimoji="1" lang="zh-CN" altLang="en-US" sz="1200" b="1" dirty="0">
                <a:latin typeface="+mn-ea"/>
              </a:rPr>
              <a:t>没有则不填</a:t>
            </a:r>
            <a:r>
              <a:rPr kumimoji="1" lang="en-US" altLang="zh-CN" sz="1200" b="1" dirty="0">
                <a:latin typeface="+mn-ea"/>
              </a:rPr>
              <a:t>)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第</a:t>
            </a:r>
            <a:r>
              <a:rPr kumimoji="1" lang="en-US" altLang="zh-CN" sz="1200" b="1" dirty="0">
                <a:latin typeface="+mn-ea"/>
              </a:rPr>
              <a:t>4</a:t>
            </a:r>
            <a:r>
              <a:rPr kumimoji="1" lang="zh-CN" altLang="en-US" sz="1200" b="1" dirty="0">
                <a:latin typeface="+mn-ea"/>
              </a:rPr>
              <a:t>次停顿时，屏幕上输出的最后一行是</a:t>
            </a:r>
            <a:r>
              <a:rPr kumimoji="1" lang="en-US" altLang="zh-CN" sz="1200" b="1" dirty="0">
                <a:latin typeface="+mn-ea"/>
              </a:rPr>
              <a:t>Step______ ? (</a:t>
            </a:r>
            <a:r>
              <a:rPr kumimoji="1" lang="zh-CN" altLang="en-US" sz="1200" b="1" dirty="0">
                <a:latin typeface="+mn-ea"/>
              </a:rPr>
              <a:t>没有则不填</a:t>
            </a:r>
            <a:r>
              <a:rPr kumimoji="1" lang="en-US" altLang="zh-CN" sz="1200" b="1" dirty="0">
                <a:latin typeface="+mn-ea"/>
              </a:rPr>
              <a:t>)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1200" b="1" dirty="0">
                <a:latin typeface="+mn-ea"/>
              </a:rPr>
              <a:t>结论：</a:t>
            </a:r>
            <a:r>
              <a:rPr kumimoji="1" lang="en-US" altLang="zh-CN" sz="1200" b="1" dirty="0" err="1">
                <a:latin typeface="+mn-ea"/>
              </a:rPr>
              <a:t>cin</a:t>
            </a:r>
            <a:r>
              <a:rPr kumimoji="1" lang="zh-CN" altLang="en-US" sz="1200" b="1" dirty="0">
                <a:latin typeface="+mn-ea"/>
              </a:rPr>
              <a:t>每次仅从输入缓冲区中取需要的字节，多余的字节仍保留在输入缓冲区中供下次读取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1200" b="1" dirty="0">
              <a:latin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字符的输入与输出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字符的输入与输出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getchar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_</a:t>
            </a:r>
            <a:r>
              <a:rPr lang="en-US" altLang="zh-CN" sz="1600" b="1" dirty="0" err="1">
                <a:latin typeface="+mn-ea"/>
              </a:rPr>
              <a:t>getch</a:t>
            </a:r>
            <a:r>
              <a:rPr lang="zh-CN" altLang="en-US" sz="1600" b="1" dirty="0">
                <a:latin typeface="+mn-ea"/>
              </a:rPr>
              <a:t>与</a:t>
            </a:r>
            <a:r>
              <a:rPr lang="en-US" altLang="zh-CN" sz="1600" b="1" dirty="0">
                <a:latin typeface="+mn-ea"/>
              </a:rPr>
              <a:t>_</a:t>
            </a:r>
            <a:r>
              <a:rPr lang="en-US" altLang="zh-CN" sz="1600" b="1" dirty="0" err="1">
                <a:latin typeface="+mn-ea"/>
              </a:rPr>
              <a:t>getche</a:t>
            </a:r>
            <a:r>
              <a:rPr lang="zh-CN" altLang="en-US" sz="1600" b="1" dirty="0">
                <a:latin typeface="+mn-ea"/>
              </a:rPr>
              <a:t>的基本使用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程序如下，观察编译及运行结果（贴图在清晰可辨的情况下尽可能小）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592113" y="1323975"/>
            <a:ext cx="3450327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getchar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(int)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4042440" y="1323975"/>
            <a:ext cx="3450327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conio.h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= _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getch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(int)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7492767" y="1326603"/>
            <a:ext cx="334668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conio.h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= _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getche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(int)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7234400" y="681529"/>
            <a:ext cx="3605050" cy="483475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、测试时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cmd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窗口下面不能是中文输入法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conio.h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getch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()/_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getche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需要的头文件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592112" y="4414345"/>
            <a:ext cx="3450327" cy="211980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a↙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   输出：</a:t>
            </a:r>
            <a:r>
              <a:rPr kumimoji="1" lang="en-US" altLang="zh-CN" sz="1600" b="1" dirty="0">
                <a:latin typeface="+mn-ea"/>
              </a:rPr>
              <a:t>_____________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   输入回显：</a:t>
            </a:r>
            <a:r>
              <a:rPr kumimoji="1" lang="en-US" altLang="zh-CN" sz="1600" b="1" dirty="0">
                <a:latin typeface="+mn-ea"/>
              </a:rPr>
              <a:t>____</a:t>
            </a:r>
            <a:r>
              <a:rPr kumimoji="1" lang="zh-CN" altLang="en-US" sz="1600" b="1" dirty="0">
                <a:latin typeface="+mn-ea"/>
              </a:rPr>
              <a:t>有</a:t>
            </a:r>
            <a:r>
              <a:rPr kumimoji="1" lang="en-US" altLang="zh-CN" sz="1600" b="1" dirty="0">
                <a:latin typeface="+mn-ea"/>
              </a:rPr>
              <a:t>_____(</a:t>
            </a:r>
            <a:r>
              <a:rPr kumimoji="1" lang="zh-CN" altLang="en-US" sz="1600" b="1" dirty="0">
                <a:latin typeface="+mn-ea"/>
              </a:rPr>
              <a:t>有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无</a:t>
            </a:r>
            <a:r>
              <a:rPr kumimoji="1" lang="en-US" altLang="zh-CN" sz="1600" b="1" dirty="0">
                <a:latin typeface="+mn-ea"/>
              </a:rPr>
              <a:t>)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按回车生效：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zh-CN" altLang="en-US" sz="1600" b="1" dirty="0">
                <a:latin typeface="+mn-ea"/>
              </a:rPr>
              <a:t>是</a:t>
            </a:r>
            <a:r>
              <a:rPr kumimoji="1" lang="en-US" altLang="zh-CN" sz="1600" b="1" dirty="0">
                <a:latin typeface="+mn-ea"/>
              </a:rPr>
              <a:t>_____(</a:t>
            </a:r>
            <a:r>
              <a:rPr kumimoji="1" lang="zh-CN" altLang="en-US" sz="1600" b="1" dirty="0">
                <a:latin typeface="+mn-ea"/>
              </a:rPr>
              <a:t>是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否</a:t>
            </a:r>
            <a:r>
              <a:rPr kumimoji="1" lang="en-US" altLang="zh-CN" sz="1600" b="1" dirty="0">
                <a:latin typeface="+mn-ea"/>
              </a:rPr>
              <a:t>)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↙(</a:t>
            </a:r>
            <a:r>
              <a:rPr kumimoji="1" lang="zh-CN" altLang="en-US" sz="1600" b="1" dirty="0">
                <a:latin typeface="+mn-ea"/>
              </a:rPr>
              <a:t>直接回车</a:t>
            </a:r>
            <a:r>
              <a:rPr kumimoji="1" lang="en-US" altLang="zh-CN" sz="1600" b="1" dirty="0">
                <a:latin typeface="+mn-ea"/>
              </a:rPr>
              <a:t>)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   输出：</a:t>
            </a:r>
            <a:r>
              <a:rPr kumimoji="1" lang="en-US" altLang="zh-CN" sz="1600" b="1" dirty="0">
                <a:latin typeface="+mn-ea"/>
              </a:rPr>
              <a:t>10_________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11" name="矩形 10"/>
          <p:cNvSpPr/>
          <p:nvPr/>
        </p:nvSpPr>
        <p:spPr bwMode="auto">
          <a:xfrm>
            <a:off x="4042439" y="4414345"/>
            <a:ext cx="3450327" cy="211980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a↙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   输出：</a:t>
            </a:r>
            <a:r>
              <a:rPr kumimoji="1" lang="en-US" altLang="zh-CN" sz="1600" b="1" dirty="0">
                <a:latin typeface="+mn-ea"/>
              </a:rPr>
              <a:t>_____________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   输入回显：</a:t>
            </a:r>
            <a:r>
              <a:rPr kumimoji="1" lang="en-US" altLang="zh-CN" sz="1600" b="1" dirty="0">
                <a:latin typeface="+mn-ea"/>
              </a:rPr>
              <a:t>____</a:t>
            </a:r>
            <a:r>
              <a:rPr kumimoji="1" lang="zh-CN" altLang="en-US" sz="1600" b="1" dirty="0">
                <a:latin typeface="+mn-ea"/>
              </a:rPr>
              <a:t>无</a:t>
            </a:r>
            <a:r>
              <a:rPr kumimoji="1" lang="en-US" altLang="zh-CN" sz="1600" b="1" dirty="0">
                <a:latin typeface="+mn-ea"/>
              </a:rPr>
              <a:t>_____(</a:t>
            </a:r>
            <a:r>
              <a:rPr kumimoji="1" lang="zh-CN" altLang="en-US" sz="1600" b="1" dirty="0">
                <a:latin typeface="+mn-ea"/>
              </a:rPr>
              <a:t>有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无</a:t>
            </a:r>
            <a:r>
              <a:rPr kumimoji="1" lang="en-US" altLang="zh-CN" sz="1600" b="1" dirty="0">
                <a:latin typeface="+mn-ea"/>
              </a:rPr>
              <a:t>)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按回车生效：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zh-CN" altLang="en-US" sz="1600" b="1" dirty="0">
                <a:latin typeface="+mn-ea"/>
              </a:rPr>
              <a:t>否</a:t>
            </a:r>
            <a:r>
              <a:rPr kumimoji="1" lang="en-US" altLang="zh-CN" sz="1600" b="1" dirty="0">
                <a:latin typeface="+mn-ea"/>
              </a:rPr>
              <a:t>____(</a:t>
            </a:r>
            <a:r>
              <a:rPr kumimoji="1" lang="zh-CN" altLang="en-US" sz="1600" b="1" dirty="0">
                <a:latin typeface="+mn-ea"/>
              </a:rPr>
              <a:t>是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否</a:t>
            </a:r>
            <a:r>
              <a:rPr kumimoji="1" lang="en-US" altLang="zh-CN" sz="1600" b="1" dirty="0">
                <a:latin typeface="+mn-ea"/>
              </a:rPr>
              <a:t>)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↙(</a:t>
            </a:r>
            <a:r>
              <a:rPr kumimoji="1" lang="zh-CN" altLang="en-US" sz="1600" b="1" dirty="0">
                <a:latin typeface="+mn-ea"/>
              </a:rPr>
              <a:t>直接回车</a:t>
            </a:r>
            <a:r>
              <a:rPr kumimoji="1" lang="en-US" altLang="zh-CN" sz="1600" b="1" dirty="0">
                <a:latin typeface="+mn-ea"/>
              </a:rPr>
              <a:t>)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   输出：</a:t>
            </a:r>
            <a:r>
              <a:rPr kumimoji="1" lang="en-US" altLang="zh-CN" sz="1600" b="1" dirty="0">
                <a:latin typeface="+mn-ea"/>
              </a:rPr>
              <a:t>13_________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12" name="矩形 11"/>
          <p:cNvSpPr/>
          <p:nvPr/>
        </p:nvSpPr>
        <p:spPr bwMode="auto">
          <a:xfrm>
            <a:off x="7492766" y="4414345"/>
            <a:ext cx="3346684" cy="211980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a↙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   输出：</a:t>
            </a:r>
            <a:r>
              <a:rPr kumimoji="1" lang="en-US" altLang="zh-CN" sz="1600" b="1" dirty="0">
                <a:latin typeface="+mn-ea"/>
              </a:rPr>
              <a:t>_____________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   输入回显：</a:t>
            </a:r>
            <a:r>
              <a:rPr kumimoji="1" lang="en-US" altLang="zh-CN" sz="1600" b="1" dirty="0">
                <a:latin typeface="+mn-ea"/>
              </a:rPr>
              <a:t>____</a:t>
            </a:r>
            <a:r>
              <a:rPr kumimoji="1" lang="zh-CN" altLang="en-US" sz="1600" b="1" dirty="0">
                <a:latin typeface="+mn-ea"/>
              </a:rPr>
              <a:t>有</a:t>
            </a:r>
            <a:r>
              <a:rPr kumimoji="1" lang="en-US" altLang="zh-CN" sz="1600" b="1" dirty="0">
                <a:latin typeface="+mn-ea"/>
              </a:rPr>
              <a:t>_____(</a:t>
            </a:r>
            <a:r>
              <a:rPr kumimoji="1" lang="zh-CN" altLang="en-US" sz="1600" b="1" dirty="0">
                <a:latin typeface="+mn-ea"/>
              </a:rPr>
              <a:t>有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无</a:t>
            </a:r>
            <a:r>
              <a:rPr kumimoji="1" lang="en-US" altLang="zh-CN" sz="1600" b="1" dirty="0">
                <a:latin typeface="+mn-ea"/>
              </a:rPr>
              <a:t>)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按回车生效：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dirty="0">
                <a:latin typeface="+mn-ea"/>
              </a:rPr>
              <a:t>否</a:t>
            </a:r>
            <a:r>
              <a:rPr kumimoji="1" lang="en-US" altLang="zh-CN" sz="1600" b="1" dirty="0">
                <a:latin typeface="+mn-ea"/>
              </a:rPr>
              <a:t>____(</a:t>
            </a:r>
            <a:r>
              <a:rPr kumimoji="1" lang="zh-CN" altLang="en-US" sz="1600" b="1" dirty="0">
                <a:latin typeface="+mn-ea"/>
              </a:rPr>
              <a:t>是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否</a:t>
            </a:r>
            <a:r>
              <a:rPr kumimoji="1" lang="en-US" altLang="zh-CN" sz="1600" b="1" dirty="0">
                <a:latin typeface="+mn-ea"/>
              </a:rPr>
              <a:t>)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↙(</a:t>
            </a:r>
            <a:r>
              <a:rPr kumimoji="1" lang="zh-CN" altLang="en-US" sz="1600" b="1" dirty="0">
                <a:latin typeface="+mn-ea"/>
              </a:rPr>
              <a:t>直接回车</a:t>
            </a:r>
            <a:r>
              <a:rPr kumimoji="1" lang="en-US" altLang="zh-CN" sz="1600" b="1" dirty="0">
                <a:latin typeface="+mn-ea"/>
              </a:rPr>
              <a:t>)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   输出：</a:t>
            </a:r>
            <a:r>
              <a:rPr kumimoji="1" lang="en-US" altLang="zh-CN" sz="1600" b="1" dirty="0">
                <a:latin typeface="+mn-ea"/>
              </a:rPr>
              <a:t>13_________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92112" y="6239531"/>
            <a:ext cx="10247336" cy="29461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注：直接按回车时的差异，了解即可，具体原因有兴趣自己课外查阅，不提供技术支持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" name="矩形 12"/>
          <p:cNvSpPr/>
          <p:nvPr/>
        </p:nvSpPr>
        <p:spPr bwMode="auto">
          <a:xfrm>
            <a:off x="10839448" y="1683973"/>
            <a:ext cx="1221488" cy="759682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000" b="1" dirty="0">
                <a:solidFill>
                  <a:srgbClr val="FF0000"/>
                </a:solidFill>
                <a:latin typeface="+mn-ea"/>
              </a:rPr>
              <a:t>本题要求</a:t>
            </a:r>
            <a:r>
              <a:rPr kumimoji="1" lang="en-US" altLang="zh-CN" sz="2000" b="1" dirty="0" err="1">
                <a:solidFill>
                  <a:srgbClr val="FF0000"/>
                </a:solidFill>
                <a:latin typeface="+mn-ea"/>
              </a:rPr>
              <a:t>VS+Dev</a:t>
            </a:r>
            <a:endParaRPr kumimoji="1" lang="zh-CN" altLang="en-US" sz="20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05355" y="3750310"/>
            <a:ext cx="991235" cy="114744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7390" y="4064635"/>
            <a:ext cx="899160" cy="83312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7350" y="4057650"/>
            <a:ext cx="904240" cy="84010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字符的输入与输出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getchar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_</a:t>
            </a:r>
            <a:r>
              <a:rPr lang="en-US" altLang="zh-CN" sz="1600" b="1" dirty="0" err="1">
                <a:latin typeface="+mn-ea"/>
              </a:rPr>
              <a:t>getch</a:t>
            </a:r>
            <a:r>
              <a:rPr lang="zh-CN" altLang="en-US" sz="1600" b="1" dirty="0">
                <a:latin typeface="+mn-ea"/>
              </a:rPr>
              <a:t>与</a:t>
            </a:r>
            <a:r>
              <a:rPr lang="en-US" altLang="zh-CN" sz="1600" b="1" dirty="0">
                <a:latin typeface="+mn-ea"/>
              </a:rPr>
              <a:t>_</a:t>
            </a:r>
            <a:r>
              <a:rPr lang="en-US" altLang="zh-CN" sz="1600" b="1" dirty="0" err="1">
                <a:latin typeface="+mn-ea"/>
              </a:rPr>
              <a:t>getche</a:t>
            </a:r>
            <a:r>
              <a:rPr lang="zh-CN" altLang="en-US" sz="1600" b="1" dirty="0">
                <a:latin typeface="+mn-ea"/>
              </a:rPr>
              <a:t>的基本使用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程序如下，观察编译及运行结果（贴图在清晰可辨的情况下尽可能小）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592113" y="1323975"/>
            <a:ext cx="3450327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20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20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20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20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20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哪个编译器报错？</a:t>
            </a:r>
            <a:r>
              <a:rPr kumimoji="1"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VS</a:t>
            </a:r>
            <a:r>
              <a:rPr kumimoji="1"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报错</a:t>
            </a:r>
            <a:endParaRPr kumimoji="1" lang="en-US" altLang="zh-CN" sz="20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哪个编译器下结果同</a:t>
            </a:r>
            <a:r>
              <a:rPr kumimoji="1" lang="en-US" altLang="zh-CN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kumimoji="1"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？</a:t>
            </a:r>
            <a:endParaRPr kumimoji="1" lang="zh-CN" altLang="en-US" sz="20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Dev</a:t>
            </a:r>
            <a:r>
              <a:rPr kumimoji="1"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结果同</a:t>
            </a:r>
            <a:r>
              <a:rPr kumimoji="1"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endParaRPr kumimoji="1" lang="en-US" altLang="zh-CN" sz="2000" b="1" dirty="0">
              <a:solidFill>
                <a:schemeClr val="accent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4042440" y="1323975"/>
            <a:ext cx="3450327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conio.h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getch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zh-CN" altLang="en-US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(int)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7492767" y="1326603"/>
            <a:ext cx="334668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conio.h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getche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zh-CN" altLang="en-US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(int)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7234400" y="681529"/>
            <a:ext cx="3605050" cy="483475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、测试时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cmd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窗口下面不能是中文输入法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conio.h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getch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()/_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getche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需要的头文件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1" name="矩形 10"/>
          <p:cNvSpPr/>
          <p:nvPr/>
        </p:nvSpPr>
        <p:spPr bwMode="auto">
          <a:xfrm>
            <a:off x="4042439" y="4414345"/>
            <a:ext cx="3450327" cy="211980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a↙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   输出：</a:t>
            </a:r>
            <a:r>
              <a:rPr kumimoji="1" lang="en-US" altLang="zh-CN" sz="1600" b="1" dirty="0">
                <a:latin typeface="+mn-ea"/>
              </a:rPr>
              <a:t>_____________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   输入回显：</a:t>
            </a:r>
            <a:r>
              <a:rPr kumimoji="1" lang="en-US" altLang="zh-CN" sz="1600" b="1" dirty="0">
                <a:latin typeface="+mn-ea"/>
              </a:rPr>
              <a:t>____</a:t>
            </a:r>
            <a:r>
              <a:rPr kumimoji="1" lang="zh-CN" altLang="en-US" sz="1600" b="1" dirty="0">
                <a:latin typeface="+mn-ea"/>
              </a:rPr>
              <a:t>无</a:t>
            </a:r>
            <a:r>
              <a:rPr kumimoji="1" lang="en-US" altLang="zh-CN" sz="1600" b="1" dirty="0">
                <a:latin typeface="+mn-ea"/>
              </a:rPr>
              <a:t>_____(</a:t>
            </a:r>
            <a:r>
              <a:rPr kumimoji="1" lang="zh-CN" altLang="en-US" sz="1600" b="1" dirty="0">
                <a:latin typeface="+mn-ea"/>
              </a:rPr>
              <a:t>有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无</a:t>
            </a:r>
            <a:r>
              <a:rPr kumimoji="1" lang="en-US" altLang="zh-CN" sz="1600" b="1" dirty="0">
                <a:latin typeface="+mn-ea"/>
              </a:rPr>
              <a:t>)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按回车生效：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zh-CN" altLang="en-US" sz="1600" b="1" dirty="0">
                <a:latin typeface="+mn-ea"/>
              </a:rPr>
              <a:t>否</a:t>
            </a:r>
            <a:r>
              <a:rPr kumimoji="1" lang="en-US" altLang="zh-CN" sz="1600" b="1" dirty="0">
                <a:latin typeface="+mn-ea"/>
              </a:rPr>
              <a:t>_____(</a:t>
            </a:r>
            <a:r>
              <a:rPr kumimoji="1" lang="zh-CN" altLang="en-US" sz="1600" b="1" dirty="0">
                <a:latin typeface="+mn-ea"/>
              </a:rPr>
              <a:t>是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否</a:t>
            </a:r>
            <a:r>
              <a:rPr kumimoji="1" lang="en-US" altLang="zh-CN" sz="1600" b="1" dirty="0">
                <a:latin typeface="+mn-ea"/>
              </a:rPr>
              <a:t>)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↙(</a:t>
            </a:r>
            <a:r>
              <a:rPr kumimoji="1" lang="zh-CN" altLang="en-US" sz="1600" b="1" dirty="0">
                <a:latin typeface="+mn-ea"/>
              </a:rPr>
              <a:t>直接回车</a:t>
            </a:r>
            <a:r>
              <a:rPr kumimoji="1" lang="en-US" altLang="zh-CN" sz="1600" b="1" dirty="0">
                <a:latin typeface="+mn-ea"/>
              </a:rPr>
              <a:t>)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   输出：</a:t>
            </a:r>
            <a:r>
              <a:rPr kumimoji="1" lang="en-US" altLang="zh-CN" sz="1600" b="1" dirty="0">
                <a:latin typeface="+mn-ea"/>
              </a:rPr>
              <a:t>13_________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12" name="矩形 11"/>
          <p:cNvSpPr/>
          <p:nvPr/>
        </p:nvSpPr>
        <p:spPr bwMode="auto">
          <a:xfrm>
            <a:off x="7492766" y="4414345"/>
            <a:ext cx="3346684" cy="211980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a↙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   输出：</a:t>
            </a:r>
            <a:r>
              <a:rPr kumimoji="1" lang="en-US" altLang="zh-CN" sz="1600" b="1" dirty="0">
                <a:latin typeface="+mn-ea"/>
              </a:rPr>
              <a:t>_____________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   输入回显：</a:t>
            </a:r>
            <a:r>
              <a:rPr kumimoji="1" lang="en-US" altLang="zh-CN" sz="1600" b="1" dirty="0">
                <a:latin typeface="+mn-ea"/>
              </a:rPr>
              <a:t>____</a:t>
            </a:r>
            <a:r>
              <a:rPr kumimoji="1" lang="zh-CN" altLang="en-US" sz="1600" b="1" dirty="0">
                <a:latin typeface="+mn-ea"/>
              </a:rPr>
              <a:t>有</a:t>
            </a:r>
            <a:r>
              <a:rPr kumimoji="1" lang="en-US" altLang="zh-CN" sz="1600" b="1" dirty="0">
                <a:latin typeface="+mn-ea"/>
              </a:rPr>
              <a:t>_____(</a:t>
            </a:r>
            <a:r>
              <a:rPr kumimoji="1" lang="zh-CN" altLang="en-US" sz="1600" b="1" dirty="0">
                <a:latin typeface="+mn-ea"/>
              </a:rPr>
              <a:t>有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无</a:t>
            </a:r>
            <a:r>
              <a:rPr kumimoji="1" lang="en-US" altLang="zh-CN" sz="1600" b="1" dirty="0">
                <a:latin typeface="+mn-ea"/>
              </a:rPr>
              <a:t>)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按回车生效：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zh-CN" altLang="en-US" sz="1600" b="1" dirty="0">
                <a:latin typeface="+mn-ea"/>
              </a:rPr>
              <a:t>否</a:t>
            </a:r>
            <a:r>
              <a:rPr kumimoji="1" lang="en-US" altLang="zh-CN" sz="1600" b="1" dirty="0">
                <a:latin typeface="+mn-ea"/>
              </a:rPr>
              <a:t>_____(</a:t>
            </a:r>
            <a:r>
              <a:rPr kumimoji="1" lang="zh-CN" altLang="en-US" sz="1600" b="1" dirty="0">
                <a:latin typeface="+mn-ea"/>
              </a:rPr>
              <a:t>是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否</a:t>
            </a:r>
            <a:r>
              <a:rPr kumimoji="1" lang="en-US" altLang="zh-CN" sz="1600" b="1" dirty="0">
                <a:latin typeface="+mn-ea"/>
              </a:rPr>
              <a:t>)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↙(</a:t>
            </a:r>
            <a:r>
              <a:rPr kumimoji="1" lang="zh-CN" altLang="en-US" sz="1600" b="1" dirty="0">
                <a:latin typeface="+mn-ea"/>
              </a:rPr>
              <a:t>直接回车</a:t>
            </a:r>
            <a:r>
              <a:rPr kumimoji="1" lang="en-US" altLang="zh-CN" sz="1600" b="1" dirty="0">
                <a:latin typeface="+mn-ea"/>
              </a:rPr>
              <a:t>)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   输出：</a:t>
            </a:r>
            <a:r>
              <a:rPr kumimoji="1" lang="en-US" altLang="zh-CN" sz="1600" b="1" dirty="0">
                <a:latin typeface="+mn-ea"/>
              </a:rPr>
              <a:t>13_________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13" name="矩形 12"/>
          <p:cNvSpPr/>
          <p:nvPr/>
        </p:nvSpPr>
        <p:spPr bwMode="auto">
          <a:xfrm>
            <a:off x="1211971" y="2135918"/>
            <a:ext cx="2340525" cy="439116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000" b="1" dirty="0">
                <a:solidFill>
                  <a:srgbClr val="FF0000"/>
                </a:solidFill>
                <a:latin typeface="+mn-ea"/>
              </a:rPr>
              <a:t>本题要求</a:t>
            </a:r>
            <a:r>
              <a:rPr kumimoji="1" lang="en-US" altLang="zh-CN" sz="2000" b="1" dirty="0" err="1">
                <a:solidFill>
                  <a:srgbClr val="FF0000"/>
                </a:solidFill>
                <a:latin typeface="+mn-ea"/>
              </a:rPr>
              <a:t>VS+Dev</a:t>
            </a:r>
            <a:endParaRPr kumimoji="1" lang="zh-CN" altLang="en-US" sz="20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01335" y="3994150"/>
            <a:ext cx="822960" cy="91059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2410" y="4037965"/>
            <a:ext cx="772795" cy="86677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字符的输入与输出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YzUwMDE4ODJhNGJhYzNiZjlkYmQyMTBiNTljMTUzMjcifQ=="/>
</p:tagLst>
</file>

<file path=ppt/theme/theme1.xml><?xml version="1.0" encoding="utf-8"?>
<a:theme xmlns:a="http://schemas.openxmlformats.org/drawingml/2006/main" name="1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7697</Words>
  <Application>WPS 演示</Application>
  <PresentationFormat>宽屏</PresentationFormat>
  <Paragraphs>473</Paragraphs>
  <Slides>19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8" baseType="lpstr">
      <vt:lpstr>Arial</vt:lpstr>
      <vt:lpstr>宋体</vt:lpstr>
      <vt:lpstr>Wingdings</vt:lpstr>
      <vt:lpstr>Times New Roman</vt:lpstr>
      <vt:lpstr>微软雅黑</vt:lpstr>
      <vt:lpstr>Arial Unicode MS</vt:lpstr>
      <vt:lpstr>等线</vt:lpstr>
      <vt:lpstr>Calibri</vt:lpstr>
      <vt:lpstr>1_默认设计模板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 Y</dc:creator>
  <cp:lastModifiedBy>染墨相思</cp:lastModifiedBy>
  <cp:revision>186</cp:revision>
  <dcterms:created xsi:type="dcterms:W3CDTF">2020-08-13T13:39:00Z</dcterms:created>
  <dcterms:modified xsi:type="dcterms:W3CDTF">2024-03-16T15:39:49Z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8FBC79D748694B1F883693AF0CE912E8_12</vt:lpwstr>
  </property>
  <property fmtid="{D5CDD505-2E9C-101B-9397-08002B2CF9AE}" pid="3" name="KSOProductBuildVer">
    <vt:lpwstr>2052-12.1.0.16388</vt:lpwstr>
  </property>
</Properties>
</file>