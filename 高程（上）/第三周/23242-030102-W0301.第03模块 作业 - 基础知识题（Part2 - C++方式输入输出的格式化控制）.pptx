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449" r:id="rId3"/>
    <p:sldId id="1268" r:id="rId4"/>
    <p:sldId id="1266" r:id="rId6"/>
    <p:sldId id="1230" r:id="rId7"/>
    <p:sldId id="492" r:id="rId8"/>
    <p:sldId id="1267" r:id="rId9"/>
    <p:sldId id="1265" r:id="rId10"/>
    <p:sldId id="1237" r:id="rId11"/>
    <p:sldId id="1236" r:id="rId12"/>
    <p:sldId id="1238" r:id="rId13"/>
    <p:sldId id="1239" r:id="rId14"/>
    <p:sldId id="1240" r:id="rId15"/>
    <p:sldId id="1241" r:id="rId16"/>
    <p:sldId id="1244" r:id="rId17"/>
    <p:sldId id="1243" r:id="rId18"/>
    <p:sldId id="1245" r:id="rId19"/>
    <p:sldId id="1252" r:id="rId20"/>
    <p:sldId id="1255" r:id="rId21"/>
    <p:sldId id="1254" r:id="rId22"/>
    <p:sldId id="1246" r:id="rId23"/>
    <p:sldId id="1256" r:id="rId24"/>
    <p:sldId id="1257" r:id="rId25"/>
    <p:sldId id="1258" r:id="rId26"/>
    <p:sldId id="1247" r:id="rId27"/>
    <p:sldId id="1259" r:id="rId28"/>
    <p:sldId id="1249" r:id="rId29"/>
    <p:sldId id="1263" r:id="rId30"/>
    <p:sldId id="1260" r:id="rId31"/>
    <p:sldId id="1250" r:id="rId32"/>
    <p:sldId id="1261" r:id="rId33"/>
    <p:sldId id="1262" r:id="rId34"/>
    <p:sldId id="1231" r:id="rId35"/>
    <p:sldId id="1186" r:id="rId36"/>
    <p:sldId id="1234" r:id="rId37"/>
    <p:sldId id="1235" r:id="rId38"/>
    <p:sldId id="1232" r:id="rId39"/>
  </p:sldIdLst>
  <p:sldSz cx="12192000" cy="6858000"/>
  <p:notesSz cx="6858000" cy="9144000"/>
  <p:custDataLst>
    <p:tags r:id="rId4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90941" autoAdjust="0"/>
  </p:normalViewPr>
  <p:slideViewPr>
    <p:cSldViewPr snapToGrid="0">
      <p:cViewPr varScale="1">
        <p:scale>
          <a:sx n="149" d="100"/>
          <a:sy n="149" d="100"/>
        </p:scale>
        <p:origin x="248" y="1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4" Type="http://schemas.openxmlformats.org/officeDocument/2006/relationships/tags" Target="tags/tag9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2800" b="1" dirty="0">
                <a:latin typeface="+mn-ea"/>
              </a:rPr>
              <a:t>特别提示：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1</a:t>
            </a:r>
            <a:r>
              <a:rPr lang="zh-CN" altLang="en-US" sz="2800" b="1" dirty="0">
                <a:latin typeface="+mn-ea"/>
              </a:rPr>
              <a:t>、做题过程中，先按要求输入，如果想替换数据，也要先做完指定输入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、如果替换数据后出现某些问题，先记录下来，不要问，等全部完成后，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   </a:t>
            </a:r>
            <a:r>
              <a:rPr lang="zh-CN" altLang="en-US" sz="2800" b="1" dirty="0">
                <a:latin typeface="+mn-ea"/>
              </a:rPr>
              <a:t>还想不通再问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也许你的问题在后面的题目中有答案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3</a:t>
            </a:r>
            <a:r>
              <a:rPr lang="zh-CN" altLang="en-US" sz="2800" b="1" dirty="0">
                <a:latin typeface="+mn-ea"/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不要偷懒、不要自以为是的脑补结论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!!!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4</a:t>
            </a:r>
            <a:r>
              <a:rPr lang="zh-CN" altLang="en-US" sz="2800" b="1" dirty="0">
                <a:latin typeface="+mn-ea"/>
              </a:rPr>
              <a:t>、先得到题目要求的小结论，再综合考虑上下题目间关系，得到综合结论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5</a:t>
            </a:r>
            <a:r>
              <a:rPr lang="zh-CN" altLang="en-US" sz="2800" b="1" dirty="0">
                <a:latin typeface="+mn-ea"/>
              </a:rPr>
              <a:t>、这些结论，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是让你记住的，不是让你完成作业后就忘掉了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latin typeface="+mn-ea"/>
              </a:rPr>
              <a:t>6</a:t>
            </a:r>
            <a:r>
              <a:rPr lang="zh-CN" altLang="en-US" sz="2800" b="1" dirty="0">
                <a:latin typeface="+mn-ea"/>
              </a:rPr>
              <a:t>、换位思考</a:t>
            </a:r>
            <a:r>
              <a:rPr lang="en-US" altLang="zh-CN" sz="2800" b="1" dirty="0">
                <a:latin typeface="+mn-ea"/>
              </a:rPr>
              <a:t>(</a:t>
            </a:r>
            <a:r>
              <a:rPr lang="zh-CN" altLang="en-US" sz="2800" b="1" dirty="0">
                <a:latin typeface="+mn-ea"/>
              </a:rPr>
              <a:t>从老师角度出发</a:t>
            </a:r>
            <a:r>
              <a:rPr lang="en-US" altLang="zh-CN" sz="2800" b="1" dirty="0">
                <a:latin typeface="+mn-ea"/>
              </a:rPr>
              <a:t>)</a:t>
            </a:r>
            <a:r>
              <a:rPr lang="zh-CN" altLang="en-US" sz="2800" b="1" dirty="0">
                <a:latin typeface="+mn-ea"/>
              </a:rPr>
              <a:t>，这些题的目的是希望掌握什么学习方法？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说明：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中的格式控制很丰富，实现方法也有多种，下表列出的只是常用一部分，用于本次作业</a:t>
            </a:r>
            <a:endParaRPr lang="en-US" altLang="zh-CN" sz="1600" b="1" dirty="0">
              <a:latin typeface="+mn-ea"/>
            </a:endParaRPr>
          </a:p>
        </p:txBody>
      </p:sp>
      <p:graphicFrame>
        <p:nvGraphicFramePr>
          <p:cNvPr id="6" name="表格 11"/>
          <p:cNvGraphicFramePr/>
          <p:nvPr/>
        </p:nvGraphicFramePr>
        <p:xfrm>
          <a:off x="859057" y="1370538"/>
          <a:ext cx="10158730" cy="508763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01983"/>
                <a:gridCol w="7156430"/>
              </a:tblGrid>
              <a:tr h="2998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控制符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作用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dec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hex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oct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setbase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设置整数为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进制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(n=8,10,16)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setfill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(c)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设置填充字符，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可以是字符常量或字符变量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568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setprecision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设置实数的精度为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位。在以一般十进制形式输出时，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代表有效数字。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fixed(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固定小数位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形式和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scientific(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指数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形式输出时，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为小数位数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setw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(n)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设置字段宽度为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::fixed)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设置浮点数以固定的小数位数显示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::scientific)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设置浮点数以科学计数法（即指数形式）显示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::left)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输出数据左对齐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::right)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输出数据右对齐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skipws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忽略前导的空格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::uppercase)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在以科学计数法输出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和十六进制输出字母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时，以大写表示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::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showpos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输出正数时，给出“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+”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号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856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esetiosflags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(*)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终止已设置的输出格式状态，括号内为具体内容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本处用*替代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471" marR="7471" marT="4269" marB="426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 bwMode="auto">
          <a:xfrm>
            <a:off x="8380071" y="1370538"/>
            <a:ext cx="3631843" cy="17886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重要提示：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、后面作业需要的知识点，除非明确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提示自行上网查找，都先在本文档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中查找是否有符合要求的设置项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、不看本页，网上瞎找，然后说作业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多的，本课程及本作业不背锅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进制前导符的使用：回答问题并将程序的运行结果截图贴上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允许多页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1323973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a1 = 1234, a2 = 0x1234, a3 = 01234, a4 = 0b1101001;  //</a:t>
            </a:r>
            <a:r>
              <a:rPr lang="zh-CN" altLang="en-US" sz="1200" b="1" dirty="0">
                <a:latin typeface="+mn-ea"/>
              </a:rPr>
              <a:t>常量为各进制表示正数</a:t>
            </a:r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</a:t>
            </a:r>
            <a:r>
              <a:rPr lang="en-US" altLang="zh-CN" sz="1200" b="1" dirty="0" err="1">
                <a:latin typeface="+mn-ea"/>
              </a:rPr>
              <a:t>dec</a:t>
            </a:r>
            <a:r>
              <a:rPr lang="en-US" altLang="zh-CN" sz="1200" b="1" dirty="0">
                <a:latin typeface="+mn-ea"/>
              </a:rPr>
              <a:t>:" &lt;&lt; </a:t>
            </a:r>
            <a:r>
              <a:rPr lang="en-US" altLang="zh-CN" sz="1200" b="1" dirty="0" err="1">
                <a:latin typeface="+mn-ea"/>
              </a:rPr>
              <a:t>dec</a:t>
            </a:r>
            <a:r>
              <a:rPr lang="en-US" altLang="zh-CN" sz="1200" b="1" dirty="0">
                <a:latin typeface="+mn-ea"/>
              </a:rPr>
              <a:t>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"hex:" &lt;&lt; hex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a1 &lt;&lt; ' ' &lt;&lt; a2 &lt;&lt; ' ' &lt;&lt; a3 &lt;&lt; ' ' &lt;&lt; a4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b1 = -1234, b2 = -0x1234, b3 = -01234, b4 = -0b1101001;  //</a:t>
            </a:r>
            <a:r>
              <a:rPr lang="zh-CN" altLang="en-US" sz="1200" b="1" dirty="0">
                <a:latin typeface="+mn-ea"/>
              </a:rPr>
              <a:t>常量为各进制表示负数</a:t>
            </a:r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"dec:" &lt;&lt; dec &lt;&lt; b1 &lt;&lt; ' ' &lt;&lt; b2 &lt;&lt; ' ' &lt;&lt; b3 &lt;&lt; ' ' &lt;&lt; b4 &lt;&lt; endl;</a:t>
            </a:r>
            <a:endParaRPr lang="fr-F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"hex:" &lt;&lt; hex &lt;&lt; b1 &lt;&lt; ' ' &lt;&lt; b2 &lt;&lt; ' ' &lt;&lt; b3 &lt;&lt; ' ' &lt;&lt; b4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b1 &lt;&lt; ' ' &lt;&lt; b2 &lt;&lt; ' ' &lt;&lt; b3 &lt;&lt; ' ' &lt;&lt; b4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short c1 = 40000, c2 = 0x9876, c3 = 0171234, c4 = 0b1101010100111100;  //</a:t>
            </a:r>
            <a:r>
              <a:rPr lang="zh-CN" altLang="en-US" sz="1200" b="1" dirty="0">
                <a:latin typeface="+mn-ea"/>
              </a:rPr>
              <a:t>赋值后最高位均为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，有</a:t>
            </a:r>
            <a:r>
              <a:rPr lang="en-US" altLang="zh-CN" sz="1200" b="1" dirty="0">
                <a:latin typeface="+mn-ea"/>
              </a:rPr>
              <a:t>warning</a:t>
            </a:r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"dec:" &lt;&lt; dec &lt;&lt; c1 &lt;&lt; ' ' &lt;&lt; c2 &lt;&lt; ' ' &lt;&lt; c3 &lt;&lt; ' ' &lt;&lt; c4 &lt;&lt; endl;</a:t>
            </a:r>
            <a:endParaRPr lang="fr-FR" altLang="zh-CN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"hex:" &lt;&lt; hex &lt;&lt; c1 &lt;&lt; ' ' &lt;&lt; c2 &lt;&lt; ' ' &lt;&lt; c3 &lt;&lt; ' ' &lt;&lt; c4 &lt;&lt; endl;</a:t>
            </a:r>
            <a:endParaRPr lang="fr-F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"oct:" &lt;&lt; oct &lt;&lt; c1 &lt;&lt; ' ' &lt;&lt; c2 &lt;&lt; ' ' &lt;&lt; c3 &lt;&lt; ' ' &lt;&lt; c4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允许贴图覆盖代码部分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0845" y="1323975"/>
            <a:ext cx="3127375" cy="24358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3834765"/>
            <a:ext cx="545084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总结及结论：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、源程序中的整数，有</a:t>
            </a:r>
            <a:r>
              <a:rPr kumimoji="1" lang="en-US" altLang="zh-CN" sz="1600" b="1" u="sng" dirty="0">
                <a:latin typeface="+mn-ea"/>
              </a:rPr>
              <a:t>___4___</a:t>
            </a:r>
            <a:r>
              <a:rPr kumimoji="1" lang="zh-CN" altLang="en-US" sz="1600" b="1" dirty="0">
                <a:latin typeface="+mn-ea"/>
              </a:rPr>
              <a:t>种不同进制的表示形式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、无论源程序中整型常量表示为何种进制，它的机内存储均为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</a:rPr>
              <a:t>_____</a:t>
            </a:r>
            <a:r>
              <a:rPr kumimoji="1" lang="zh-CN" altLang="en-US" sz="1600" b="1" u="sng" dirty="0">
                <a:latin typeface="+mn-ea"/>
              </a:rPr>
              <a:t>二进制</a:t>
            </a:r>
            <a:r>
              <a:rPr kumimoji="1" lang="en-US" altLang="zh-CN" sz="1600" b="1" u="sng" dirty="0">
                <a:latin typeface="+mn-ea"/>
              </a:rPr>
              <a:t>_____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形式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、如果想使数据输出时使用不同进制，要加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en-US" altLang="zh-CN" sz="1600" b="1" u="sng" dirty="0">
                <a:latin typeface="+mn-ea"/>
              </a:rPr>
              <a:t>___dec</a:t>
            </a:r>
            <a:r>
              <a:rPr kumimoji="1" lang="zh-CN" altLang="en-US" sz="1600" b="1" u="sng" dirty="0">
                <a:latin typeface="+mn-ea"/>
              </a:rPr>
              <a:t>、</a:t>
            </a:r>
            <a:r>
              <a:rPr kumimoji="1" lang="en-US" altLang="zh-CN" sz="1600" b="1" u="sng" dirty="0">
                <a:latin typeface="+mn-ea"/>
              </a:rPr>
              <a:t>hex</a:t>
            </a:r>
            <a:r>
              <a:rPr kumimoji="1" lang="zh-CN" altLang="en-US" sz="1600" b="1" u="sng" dirty="0">
                <a:latin typeface="+mn-ea"/>
              </a:rPr>
              <a:t>、</a:t>
            </a:r>
            <a:r>
              <a:rPr kumimoji="1" lang="en-US" altLang="zh-CN" sz="1600" b="1" u="sng" dirty="0">
                <a:latin typeface="+mn-ea"/>
              </a:rPr>
              <a:t>oct</a:t>
            </a:r>
            <a:r>
              <a:rPr kumimoji="1" lang="zh-CN" altLang="en-US" sz="1600" b="1" u="sng" dirty="0">
                <a:latin typeface="+mn-ea"/>
              </a:rPr>
              <a:t>、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______</a:t>
            </a:r>
            <a:r>
              <a:rPr kumimoji="1" lang="zh-CN" altLang="en-US" sz="1600" b="1" dirty="0">
                <a:latin typeface="+mn-ea"/>
              </a:rPr>
              <a:t>等进制前导符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、输出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无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有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无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二进制前导符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、只有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</a:rPr>
              <a:t>十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进制有负数形式输出；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16</a:t>
            </a:r>
            <a:r>
              <a:rPr kumimoji="1" lang="zh-CN" altLang="en-US" sz="1600" b="1" dirty="0">
                <a:latin typeface="+mn-ea"/>
              </a:rPr>
              <a:t>进制输出负数时，特征是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</a:rPr>
              <a:t>最高位为</a:t>
            </a:r>
            <a:r>
              <a:rPr kumimoji="1" lang="en-US" altLang="zh-CN" sz="1600" b="1" u="sng" dirty="0">
                <a:latin typeface="+mn-ea"/>
              </a:rPr>
              <a:t>f___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8</a:t>
            </a:r>
            <a:r>
              <a:rPr kumimoji="1" lang="zh-CN" altLang="en-US" sz="1600" b="1" dirty="0">
                <a:latin typeface="+mn-ea"/>
              </a:rPr>
              <a:t>进制输出负数时，特征是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</a:rPr>
              <a:t>最高位为</a:t>
            </a:r>
            <a:r>
              <a:rPr kumimoji="1" lang="en-US" altLang="zh-CN" sz="1600" b="1" u="sng" dirty="0">
                <a:latin typeface="+mn-ea"/>
              </a:rPr>
              <a:t>7___</a:t>
            </a:r>
            <a:r>
              <a:rPr kumimoji="1" lang="en-US" altLang="zh-CN" sz="1600" b="1" dirty="0">
                <a:latin typeface="+mn-ea"/>
              </a:rPr>
              <a:t>____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进制前导符的连续使用：回答问题并将程序的运行结果截图贴上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88076" y="5534025"/>
            <a:ext cx="10247336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latin typeface="+mn-ea"/>
              </a:rPr>
              <a:t>dec</a:t>
            </a:r>
            <a:r>
              <a:rPr kumimoji="1" lang="en-US" altLang="zh-CN" sz="1600" b="1" dirty="0">
                <a:latin typeface="+mn-ea"/>
              </a:rPr>
              <a:t>/hex/oct</a:t>
            </a:r>
            <a:r>
              <a:rPr kumimoji="1" lang="zh-CN" altLang="en-US" sz="1600" b="1" dirty="0">
                <a:latin typeface="+mn-ea"/>
              </a:rPr>
              <a:t>等进制前导符设置后，对后面的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</a:rPr>
              <a:t>所有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数据有效，直到用另一个控制符去改变为止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88075" y="1323973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400" b="1" dirty="0">
                <a:latin typeface="+mn-ea"/>
              </a:rPr>
              <a:t>#include &lt;iostream&gt;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#include &lt;</a:t>
            </a:r>
            <a:r>
              <a:rPr lang="en-US" altLang="zh-CN" sz="1400" b="1" dirty="0" err="1">
                <a:latin typeface="+mn-ea"/>
              </a:rPr>
              <a:t>iomanip</a:t>
            </a:r>
            <a:r>
              <a:rPr lang="en-US" altLang="zh-CN" sz="1400" b="1" dirty="0">
                <a:latin typeface="+mn-ea"/>
              </a:rPr>
              <a:t>&gt;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using namespace std;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int main()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{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int a = 10;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hex;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oct;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</a:t>
            </a:r>
            <a:r>
              <a:rPr lang="en-US" altLang="zh-CN" sz="1400" b="1" dirty="0" err="1">
                <a:latin typeface="+mn-ea"/>
              </a:rPr>
              <a:t>dec</a:t>
            </a:r>
            <a:r>
              <a:rPr lang="en-US" altLang="zh-CN" sz="1400" b="1" dirty="0">
                <a:latin typeface="+mn-ea"/>
              </a:rPr>
              <a:t>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</a:t>
            </a:r>
            <a:r>
              <a:rPr lang="en-US" altLang="zh-CN" sz="1400" b="1" dirty="0" err="1">
                <a:latin typeface="+mn-ea"/>
              </a:rPr>
              <a:t>cout</a:t>
            </a:r>
            <a:r>
              <a:rPr lang="en-US" altLang="zh-CN" sz="1400" b="1" dirty="0">
                <a:latin typeface="+mn-ea"/>
              </a:rPr>
              <a:t> &lt;&lt; a &lt;&lt; ' ' &lt;&lt; a+1 &lt;&lt; ' ' &lt;&lt; a+2 &lt;&lt; </a:t>
            </a:r>
            <a:r>
              <a:rPr lang="en-US" altLang="zh-CN" sz="1400" b="1" dirty="0" err="1">
                <a:latin typeface="+mn-ea"/>
              </a:rPr>
              <a:t>endl</a:t>
            </a:r>
            <a:r>
              <a:rPr lang="en-US" altLang="zh-CN" sz="1400" b="1" dirty="0">
                <a:latin typeface="+mn-ea"/>
              </a:rPr>
              <a:t>; 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    return 0;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400" b="1" dirty="0">
                <a:latin typeface="+mn-ea"/>
              </a:rPr>
              <a:t>}</a:t>
            </a:r>
            <a:endParaRPr lang="en-US" altLang="zh-CN" sz="1400" b="1" dirty="0">
              <a:latin typeface="+mn-ea"/>
            </a:endParaRPr>
          </a:p>
          <a:p>
            <a:endParaRPr lang="en-US" altLang="zh-CN" sz="14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250" y="1722120"/>
            <a:ext cx="3122295" cy="2976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1820" y="1323975"/>
            <a:ext cx="1054227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C.setbase</a:t>
            </a:r>
            <a:r>
              <a:rPr lang="zh-CN" altLang="en-US" sz="1600" b="1" dirty="0">
                <a:latin typeface="+mn-ea"/>
              </a:rPr>
              <a:t>的使用：同</a:t>
            </a:r>
            <a:r>
              <a:rPr lang="en-US" altLang="zh-CN" sz="1600" b="1" dirty="0">
                <a:latin typeface="+mn-ea"/>
              </a:rPr>
              <a:t>1.A</a:t>
            </a:r>
            <a:r>
              <a:rPr lang="zh-CN" altLang="en-US" sz="1600" b="1" dirty="0">
                <a:latin typeface="+mn-ea"/>
              </a:rPr>
              <a:t>的形式，按要求自行构造测试程序，回答问题并将程序的运行结果截图贴上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允许多页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13325" y="1323975"/>
            <a:ext cx="612076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自行构造若干组测试数据，运行并截图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中允许的合法值有</a:t>
            </a:r>
            <a:r>
              <a:rPr kumimoji="1" lang="en-US" altLang="zh-CN" sz="1600" b="1" u="sng" dirty="0">
                <a:latin typeface="+mn-ea"/>
              </a:rPr>
              <a:t>_____8</a:t>
            </a:r>
            <a:r>
              <a:rPr kumimoji="1" lang="zh-CN" altLang="en-US" sz="1600" b="1" u="sng" dirty="0">
                <a:latin typeface="+mn-ea"/>
              </a:rPr>
              <a:t>、</a:t>
            </a:r>
            <a:r>
              <a:rPr kumimoji="1" lang="en-US" altLang="zh-CN" sz="1600" b="1" u="sng" dirty="0">
                <a:latin typeface="+mn-ea"/>
              </a:rPr>
              <a:t>10</a:t>
            </a:r>
            <a:r>
              <a:rPr kumimoji="1" lang="zh-CN" altLang="en-US" sz="1600" b="1" u="sng" dirty="0">
                <a:latin typeface="+mn-ea"/>
              </a:rPr>
              <a:t>、</a:t>
            </a:r>
            <a:r>
              <a:rPr kumimoji="1" lang="en-US" altLang="zh-CN" sz="1600" b="1" u="sng" dirty="0">
                <a:latin typeface="+mn-ea"/>
              </a:rPr>
              <a:t>16______</a:t>
            </a:r>
            <a:endParaRPr kumimoji="1" lang="en-US" altLang="zh-CN" sz="16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、当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中出现非法值时，处理方法是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以十进制输出数据</a:t>
            </a:r>
            <a:r>
              <a:rPr kumimoji="1" lang="en-US" altLang="zh-CN" sz="1600" b="1" u="sng" dirty="0">
                <a:latin typeface="+mn-ea"/>
                <a:sym typeface="+mn-ea"/>
              </a:rPr>
              <a:t>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u="sng" dirty="0">
                <a:latin typeface="+mn-ea"/>
              </a:rPr>
              <a:t>_____</a:t>
            </a:r>
            <a:r>
              <a:rPr kumimoji="1" lang="zh-CN" altLang="en-US" sz="1600" b="1" u="sng" dirty="0">
                <a:latin typeface="+mn-ea"/>
              </a:rPr>
              <a:t>所有</a:t>
            </a:r>
            <a:r>
              <a:rPr kumimoji="1" lang="en-US" altLang="zh-CN" sz="1600" b="1" u="sng" dirty="0">
                <a:latin typeface="+mn-ea"/>
              </a:rPr>
              <a:t>______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数据有效，直到用另一个</a:t>
            </a:r>
            <a:r>
              <a:rPr kumimoji="1" lang="en-US" altLang="zh-CN" sz="1600" b="1" dirty="0" err="1">
                <a:latin typeface="+mn-ea"/>
              </a:rPr>
              <a:t>setbase</a:t>
            </a:r>
            <a:r>
              <a:rPr kumimoji="1" lang="zh-CN" altLang="en-US" sz="1600" b="1" dirty="0">
                <a:latin typeface="+mn-ea"/>
              </a:rPr>
              <a:t>去改变为止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直接贴构造的程序</a:t>
            </a:r>
            <a:r>
              <a:rPr lang="zh-CN" altLang="en-US" sz="1600" b="1" dirty="0">
                <a:latin typeface="+mn-ea"/>
              </a:rPr>
              <a:t>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9685" y="3740150"/>
            <a:ext cx="1955800" cy="25527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65" y="1323975"/>
            <a:ext cx="4734560" cy="44996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1820" y="1323975"/>
            <a:ext cx="1121092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340" y="162560"/>
            <a:ext cx="10018395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D.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::uppercase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</a:t>
            </a:r>
            <a:r>
              <a:rPr lang="zh-CN" altLang="en-US" sz="1600" b="1" dirty="0">
                <a:latin typeface="+mn-ea"/>
              </a:rPr>
              <a:t>：按要求自行构造测试程序，能对比看出用和不用的差别即可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13325" y="1323975"/>
            <a:ext cx="679005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测试程序中的数据类型为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，自行构造若干组测试数据，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十六</a:t>
            </a:r>
            <a:r>
              <a:rPr kumimoji="1" lang="en-US" altLang="zh-CN" sz="1600" b="1" u="sng" dirty="0">
                <a:latin typeface="+mn-ea"/>
              </a:rPr>
              <a:t> _</a:t>
            </a:r>
            <a:r>
              <a:rPr kumimoji="1" lang="zh-CN" altLang="en-US" sz="1600" b="1" dirty="0">
                <a:latin typeface="+mn-ea"/>
              </a:rPr>
              <a:t>进制一起使用才能看出效果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  <a:sym typeface="+mn-ea"/>
              </a:rPr>
              <a:t>所有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、同一个程序中，设置完</a:t>
            </a:r>
            <a:r>
              <a:rPr kumimoji="1" lang="en-US" altLang="zh-CN" sz="1600" b="1" dirty="0">
                <a:latin typeface="+mn-ea"/>
              </a:rPr>
              <a:t>uppercase</a:t>
            </a:r>
            <a:r>
              <a:rPr kumimoji="1" lang="zh-CN" altLang="en-US" sz="1600" b="1" dirty="0">
                <a:latin typeface="+mn-ea"/>
              </a:rPr>
              <a:t>，如果想恢复小写，具体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的做法是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使用resetiosflags(ios::uppercase)终止</a:t>
            </a:r>
            <a:r>
              <a:rPr kumimoji="1" lang="en-US" altLang="zh-CN" sz="1600" b="1" u="sng" dirty="0">
                <a:latin typeface="+mn-ea"/>
                <a:sym typeface="+mn-ea"/>
              </a:rPr>
              <a:t>uppercase</a:t>
            </a:r>
            <a:r>
              <a:rPr kumimoji="1" lang="zh-CN" altLang="en-US" sz="1600" b="1" u="sng" dirty="0">
                <a:latin typeface="+mn-ea"/>
                <a:sym typeface="+mn-ea"/>
              </a:rPr>
              <a:t>格式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本小问如果不会，先不要问，先往后做，看后面的题目是否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有相似问题可以启发你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595" y="4054475"/>
            <a:ext cx="1498600" cy="25996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55" y="1323975"/>
            <a:ext cx="4624070" cy="39789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1820" y="1323975"/>
            <a:ext cx="1132141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E.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showpos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</a:t>
            </a:r>
            <a:r>
              <a:rPr lang="zh-CN" altLang="en-US" sz="1600" b="1" dirty="0">
                <a:latin typeface="+mn-ea"/>
              </a:rPr>
              <a:t>：按要求自行构造测试程序，能对比看出用和不用的差别即可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13325" y="1323975"/>
            <a:ext cx="689927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测试程序中的数据类型为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int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，自行构造若干组测试数据，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运行并截图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十</a:t>
            </a:r>
            <a:r>
              <a:rPr kumimoji="1" lang="en-US" altLang="zh-CN" sz="1600" b="1" u="sng" dirty="0">
                <a:latin typeface="+mn-ea"/>
              </a:rPr>
              <a:t>_ </a:t>
            </a:r>
            <a:r>
              <a:rPr kumimoji="1" lang="zh-CN" altLang="en-US" sz="1600" b="1" dirty="0">
                <a:latin typeface="+mn-ea"/>
              </a:rPr>
              <a:t>进制一起使用才能看出效果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设置后，对后面的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</a:rPr>
              <a:t>所有</a:t>
            </a:r>
            <a:r>
              <a:rPr kumimoji="1" lang="en-US" altLang="zh-CN" sz="1600" b="1" u="sng" dirty="0">
                <a:latin typeface="+mn-ea"/>
              </a:rPr>
              <a:t>_____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、同一个程序中，设置完</a:t>
            </a:r>
            <a:r>
              <a:rPr kumimoji="1" lang="en-US" altLang="zh-CN" sz="1600" b="1" dirty="0" err="1">
                <a:latin typeface="+mn-ea"/>
              </a:rPr>
              <a:t>showpos</a:t>
            </a:r>
            <a:r>
              <a:rPr kumimoji="1" lang="zh-CN" altLang="en-US" sz="1600" b="1" dirty="0">
                <a:latin typeface="+mn-ea"/>
              </a:rPr>
              <a:t>，如果想取消，具体的做法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是</a:t>
            </a:r>
            <a:r>
              <a:rPr kumimoji="1" lang="en-US" altLang="zh-CN" sz="1600" b="1" u="sng" dirty="0">
                <a:latin typeface="+mn-ea"/>
              </a:rPr>
              <a:t>_  </a:t>
            </a:r>
            <a:r>
              <a:rPr kumimoji="1" lang="zh-CN" altLang="en-US" sz="1600" b="1" u="sng" dirty="0">
                <a:latin typeface="+mn-ea"/>
                <a:sym typeface="+mn-ea"/>
              </a:rPr>
              <a:t>使用resetiosflags(ios::</a:t>
            </a:r>
            <a:r>
              <a:rPr kumimoji="1" lang="en-US" altLang="zh-CN" sz="1600" b="1" u="sng" dirty="0">
                <a:latin typeface="+mn-ea"/>
                <a:sym typeface="+mn-ea"/>
              </a:rPr>
              <a:t>showpos</a:t>
            </a:r>
            <a:r>
              <a:rPr kumimoji="1" lang="zh-CN" altLang="en-US" sz="1600" b="1" u="sng" dirty="0">
                <a:latin typeface="+mn-ea"/>
                <a:sym typeface="+mn-ea"/>
              </a:rPr>
              <a:t>)终止</a:t>
            </a:r>
            <a:r>
              <a:rPr kumimoji="1" lang="en-US" altLang="zh-CN" sz="1600" b="1" u="sng" dirty="0">
                <a:latin typeface="+mn-ea"/>
                <a:sym typeface="+mn-ea"/>
              </a:rPr>
              <a:t>showpos</a:t>
            </a:r>
            <a:r>
              <a:rPr kumimoji="1" lang="zh-CN" altLang="en-US" sz="1600" b="1" u="sng" dirty="0">
                <a:latin typeface="+mn-ea"/>
                <a:sym typeface="+mn-ea"/>
              </a:rPr>
              <a:t>格式</a:t>
            </a:r>
            <a:r>
              <a:rPr kumimoji="1" lang="en-US" altLang="zh-CN" sz="1600" b="1" u="sng" dirty="0">
                <a:latin typeface="+mn-ea"/>
                <a:sym typeface="+mn-ea"/>
              </a:rPr>
              <a:t>_  _  </a:t>
            </a:r>
            <a:r>
              <a:rPr kumimoji="1" lang="en-US" altLang="zh-CN" sz="1600" b="1" u="sng" dirty="0">
                <a:latin typeface="+mn-ea"/>
                <a:sym typeface="+mn-ea"/>
              </a:rPr>
              <a:t>  </a:t>
            </a:r>
            <a:endParaRPr kumimoji="1" lang="en-US" altLang="zh-CN" sz="16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本小问如果不会，先不要问，先往后做，看后面的题目是否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有相似问题可以启发你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421319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}//</a:t>
            </a:r>
            <a:r>
              <a:rPr lang="zh-CN" altLang="en-US" sz="1600" b="1" dirty="0">
                <a:latin typeface="+mn-ea"/>
              </a:rPr>
              <a:t>允许直接贴构造的程序，不用再输入到这里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构造的程序要求能看出对右侧问题的回答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将构造的程序直接贴图上来，左侧不写也可</a:t>
            </a:r>
            <a:endParaRPr lang="zh-CN" altLang="en-US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4347210"/>
            <a:ext cx="2788285" cy="203454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15" y="1323975"/>
            <a:ext cx="4728210" cy="30626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09396" y="1323974"/>
            <a:ext cx="582601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41728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iomanip</a:t>
            </a:r>
            <a:r>
              <a:rPr lang="en-US" altLang="zh-CN" sz="1000" b="1" dirty="0">
                <a:latin typeface="+mn-ea"/>
              </a:rPr>
              <a:t>&gt;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using namespace std;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int main()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{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float f1 = 1234.5678F;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float f2 = 8765.4321F;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1</a:t>
            </a:r>
            <a:r>
              <a:rPr lang="zh-CN" altLang="en-US" sz="1000" b="1" dirty="0">
                <a:latin typeface="+mn-ea"/>
              </a:rPr>
              <a:t>组：不设或非法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(0)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2</a:t>
            </a:r>
            <a:r>
              <a:rPr lang="zh-CN" altLang="en-US" sz="1000" b="1" dirty="0">
                <a:latin typeface="+mn-ea"/>
              </a:rPr>
              <a:t>组：小于等于整数位数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(2)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(3)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(4)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3</a:t>
            </a:r>
            <a:r>
              <a:rPr lang="zh-CN" altLang="en-US" sz="1000" b="1" dirty="0">
                <a:latin typeface="+mn-ea"/>
              </a:rPr>
              <a:t>组：大于整数位数，但小与等于</a:t>
            </a:r>
            <a:r>
              <a:rPr lang="en-US" altLang="zh-CN" sz="1000" b="1" dirty="0">
                <a:latin typeface="+mn-ea"/>
              </a:rPr>
              <a:t>float</a:t>
            </a:r>
            <a:r>
              <a:rPr lang="zh-CN" altLang="en-US" sz="1000" b="1" dirty="0">
                <a:latin typeface="+mn-ea"/>
              </a:rPr>
              <a:t>型有效数字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(5)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(6)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(7)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第</a:t>
            </a:r>
            <a:r>
              <a:rPr lang="en-US" altLang="zh-CN" sz="1000" b="1" dirty="0">
                <a:latin typeface="+mn-ea"/>
              </a:rPr>
              <a:t>4</a:t>
            </a:r>
            <a:r>
              <a:rPr lang="zh-CN" altLang="en-US" sz="1000" b="1" dirty="0">
                <a:latin typeface="+mn-ea"/>
              </a:rPr>
              <a:t>组：大于</a:t>
            </a:r>
            <a:r>
              <a:rPr lang="en-US" altLang="zh-CN" sz="1000" b="1" dirty="0">
                <a:latin typeface="+mn-ea"/>
              </a:rPr>
              <a:t>float</a:t>
            </a:r>
            <a:r>
              <a:rPr lang="zh-CN" altLang="en-US" sz="1000" b="1" dirty="0">
                <a:latin typeface="+mn-ea"/>
              </a:rPr>
              <a:t>型有效数字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(8)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(9)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(10)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setprecision</a:t>
            </a:r>
            <a:r>
              <a:rPr lang="en-US" altLang="zh-CN" sz="1000" b="1" dirty="0">
                <a:latin typeface="+mn-ea"/>
              </a:rPr>
              <a:t>(25) &lt;&lt; f1 &lt;&lt; ' ' &lt;&lt; f2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}</a:t>
            </a:r>
            <a:endParaRPr lang="en-US" altLang="zh-CN" sz="10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61848" y="2133601"/>
            <a:ext cx="1538452" cy="342899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750" y="1598295"/>
            <a:ext cx="4856480" cy="49002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1323973"/>
            <a:ext cx="1024733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050" b="1" dirty="0">
                <a:latin typeface="+mn-ea"/>
              </a:rPr>
              <a:t>#include &lt;iostream&gt;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#include &lt;</a:t>
            </a:r>
            <a:r>
              <a:rPr lang="en-US" altLang="zh-CN" sz="1050" b="1" dirty="0" err="1">
                <a:latin typeface="+mn-ea"/>
              </a:rPr>
              <a:t>iomanip</a:t>
            </a:r>
            <a:r>
              <a:rPr lang="en-US" altLang="zh-CN" sz="1050" b="1" dirty="0">
                <a:latin typeface="+mn-ea"/>
              </a:rPr>
              <a:t>&gt;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using namespace std;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int main()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{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float f1 = 1234567890123456789.0F;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float f2 = 9876543210987654321.0F;</a:t>
            </a:r>
            <a:endParaRPr lang="en-US" altLang="zh-CN" sz="1050" b="1" dirty="0">
              <a:latin typeface="+mn-ea"/>
            </a:endParaRPr>
          </a:p>
          <a:p>
            <a:endParaRPr lang="zh-CN" altLang="en-US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1</a:t>
            </a:r>
            <a:r>
              <a:rPr lang="zh-CN" altLang="en-US" sz="1050" b="1" dirty="0">
                <a:latin typeface="+mn-ea"/>
              </a:rPr>
              <a:t>组：不设或非法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(0)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endParaRPr lang="en-US" altLang="zh-CN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2</a:t>
            </a:r>
            <a:r>
              <a:rPr lang="zh-CN" altLang="en-US" sz="1050" b="1" dirty="0">
                <a:latin typeface="+mn-ea"/>
              </a:rPr>
              <a:t>组：小于等于整数位数 并且 小与等于</a:t>
            </a:r>
            <a:r>
              <a:rPr lang="en-US" altLang="zh-CN" sz="1050" b="1" dirty="0">
                <a:latin typeface="+mn-ea"/>
              </a:rPr>
              <a:t>float</a:t>
            </a:r>
            <a:r>
              <a:rPr lang="zh-CN" altLang="en-US" sz="1050" b="1" dirty="0">
                <a:latin typeface="+mn-ea"/>
              </a:rPr>
              <a:t>型有效数字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(2)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(3)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(4)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(5)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(6)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(7)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endParaRPr lang="zh-CN" altLang="en-US" sz="1050" b="1" dirty="0">
              <a:latin typeface="+mn-ea"/>
            </a:endParaRPr>
          </a:p>
          <a:p>
            <a:r>
              <a:rPr lang="zh-CN" altLang="en-US" sz="1050" b="1" dirty="0">
                <a:latin typeface="+mn-ea"/>
              </a:rPr>
              <a:t>    </a:t>
            </a:r>
            <a:r>
              <a:rPr lang="en-US" altLang="zh-CN" sz="1050" b="1" dirty="0">
                <a:latin typeface="+mn-ea"/>
              </a:rPr>
              <a:t>/* </a:t>
            </a:r>
            <a:r>
              <a:rPr lang="zh-CN" altLang="en-US" sz="1050" b="1" dirty="0">
                <a:latin typeface="+mn-ea"/>
              </a:rPr>
              <a:t>第</a:t>
            </a:r>
            <a:r>
              <a:rPr lang="en-US" altLang="zh-CN" sz="1050" b="1" dirty="0">
                <a:latin typeface="+mn-ea"/>
              </a:rPr>
              <a:t>3</a:t>
            </a:r>
            <a:r>
              <a:rPr lang="zh-CN" altLang="en-US" sz="1050" b="1" dirty="0">
                <a:latin typeface="+mn-ea"/>
              </a:rPr>
              <a:t>组：大于</a:t>
            </a:r>
            <a:r>
              <a:rPr lang="en-US" altLang="zh-CN" sz="1050" b="1" dirty="0">
                <a:latin typeface="+mn-ea"/>
              </a:rPr>
              <a:t>float</a:t>
            </a:r>
            <a:r>
              <a:rPr lang="zh-CN" altLang="en-US" sz="1050" b="1" dirty="0">
                <a:latin typeface="+mn-ea"/>
              </a:rPr>
              <a:t>型有效数字 *</a:t>
            </a:r>
            <a:r>
              <a:rPr lang="en-US" altLang="zh-CN" sz="1050" b="1" dirty="0">
                <a:latin typeface="+mn-ea"/>
              </a:rPr>
              <a:t>/</a:t>
            </a:r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(8)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(9)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(10)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为什么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f1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比</a:t>
            </a:r>
            <a:r>
              <a:rPr lang="en-US" altLang="zh-CN" sz="1050" b="1" dirty="0">
                <a:solidFill>
                  <a:srgbClr val="FF0000"/>
                </a:solidFill>
                <a:latin typeface="+mn-ea"/>
              </a:rPr>
              <a:t>f2</a:t>
            </a:r>
            <a:r>
              <a:rPr lang="zh-CN" altLang="en-US" sz="1050" b="1" dirty="0">
                <a:solidFill>
                  <a:srgbClr val="FF0000"/>
                </a:solidFill>
                <a:latin typeface="+mn-ea"/>
              </a:rPr>
              <a:t>少一位？</a:t>
            </a:r>
            <a:endParaRPr lang="zh-CN" altLang="en-US" sz="105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(11)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</a:t>
            </a:r>
            <a:r>
              <a:rPr lang="en-US" altLang="zh-CN" sz="1050" b="1" dirty="0" err="1">
                <a:latin typeface="+mn-ea"/>
              </a:rPr>
              <a:t>cout</a:t>
            </a:r>
            <a:r>
              <a:rPr lang="en-US" altLang="zh-CN" sz="1050" b="1" dirty="0">
                <a:latin typeface="+mn-ea"/>
              </a:rPr>
              <a:t> &lt;&lt; </a:t>
            </a:r>
            <a:r>
              <a:rPr lang="en-US" altLang="zh-CN" sz="1050" b="1" dirty="0" err="1">
                <a:latin typeface="+mn-ea"/>
              </a:rPr>
              <a:t>setprecision</a:t>
            </a:r>
            <a:r>
              <a:rPr lang="en-US" altLang="zh-CN" sz="1050" b="1" dirty="0">
                <a:latin typeface="+mn-ea"/>
              </a:rPr>
              <a:t>(25) &lt;&lt; f1 &lt;&lt; ' ' &lt;&lt; f2 &lt;&lt; </a:t>
            </a:r>
            <a:r>
              <a:rPr lang="en-US" altLang="zh-CN" sz="1050" b="1" dirty="0" err="1">
                <a:latin typeface="+mn-ea"/>
              </a:rPr>
              <a:t>endl</a:t>
            </a:r>
            <a:r>
              <a:rPr lang="en-US" altLang="zh-CN" sz="1050" b="1" dirty="0">
                <a:latin typeface="+mn-ea"/>
              </a:rPr>
              <a:t>;</a:t>
            </a:r>
            <a:endParaRPr lang="en-US" altLang="zh-CN" sz="1050" b="1" dirty="0">
              <a:latin typeface="+mn-ea"/>
            </a:endParaRPr>
          </a:p>
          <a:p>
            <a:endParaRPr lang="zh-CN" altLang="en-US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    return 0;</a:t>
            </a:r>
            <a:endParaRPr lang="en-US" altLang="zh-CN" sz="1050" b="1" dirty="0">
              <a:latin typeface="+mn-ea"/>
            </a:endParaRPr>
          </a:p>
          <a:p>
            <a:r>
              <a:rPr lang="en-US" altLang="zh-CN" sz="1050" b="1" dirty="0">
                <a:latin typeface="+mn-ea"/>
              </a:rPr>
              <a:t>}</a:t>
            </a:r>
            <a:endParaRPr lang="en-US" altLang="zh-CN" sz="105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61848" y="2133600"/>
            <a:ext cx="2481427" cy="3810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276974" y="1323974"/>
            <a:ext cx="455843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6975" y="1718945"/>
            <a:ext cx="4543425" cy="41205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009396" y="1323974"/>
            <a:ext cx="582601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本例贴图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441728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f1 = 0.12345678F;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f2 = 0.87654321F;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组：不设或非法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(0)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组：小与等于</a:t>
            </a:r>
            <a:r>
              <a:rPr lang="en-US" altLang="zh-CN" sz="1100" b="1" dirty="0">
                <a:latin typeface="+mn-ea"/>
              </a:rPr>
              <a:t>float</a:t>
            </a:r>
            <a:r>
              <a:rPr lang="zh-CN" altLang="en-US" sz="1100" b="1" dirty="0">
                <a:latin typeface="+mn-ea"/>
              </a:rPr>
              <a:t>型有效数字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(1)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(2)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(3)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(4)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(5)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(6)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(7)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3</a:t>
            </a:r>
            <a:r>
              <a:rPr lang="zh-CN" altLang="en-US" sz="1100" b="1" dirty="0">
                <a:latin typeface="+mn-ea"/>
              </a:rPr>
              <a:t>组：大于</a:t>
            </a:r>
            <a:r>
              <a:rPr lang="en-US" altLang="zh-CN" sz="1100" b="1" dirty="0">
                <a:latin typeface="+mn-ea"/>
              </a:rPr>
              <a:t>float</a:t>
            </a:r>
            <a:r>
              <a:rPr lang="zh-CN" altLang="en-US" sz="1100" b="1" dirty="0">
                <a:latin typeface="+mn-ea"/>
              </a:rPr>
              <a:t>型有效数字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(8)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(9)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(10)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setprecision</a:t>
            </a:r>
            <a:r>
              <a:rPr lang="en-US" altLang="zh-CN" sz="1100" b="1" dirty="0">
                <a:latin typeface="+mn-ea"/>
              </a:rPr>
              <a:t>(25)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99948" y="2181225"/>
            <a:ext cx="1795627" cy="40005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7300" y="1764665"/>
            <a:ext cx="5739130" cy="34842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F.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单独使用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88010" y="1323975"/>
            <a:ext cx="1147318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重要结论：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setprecision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指定输出位数后，系统会按指定位数输出，即使指定位数超过数据的有效位数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     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即：输出数据的某位开始是不可信的，但依然会输出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</a:t>
            </a:r>
            <a:r>
              <a:rPr kumimoji="1" lang="zh-CN" altLang="en-US" sz="1600" b="1" dirty="0">
                <a:latin typeface="+mn-ea"/>
              </a:rPr>
              <a:t>单独使用时的显示规律总结（如果数据不够，可以再自己构造测试数据）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答：如果不设置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setprecision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，则输出六位有效位数的数值。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如果设置的精度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0, 则只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输出一位有效位数的数值。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 如果设置的精度小于或等于整数位数,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则输出该精度位的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整数数值。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 如果设置的精度大于整数位数, 但小于等于浮点数类型的有效位数, 则输出该精度位的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浮点数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数值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。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 如果设置的精度大于浮点数类型的有效位数, 则输出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该精度位的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浮点数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数值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（超过数据有效位数后的数字不可信）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1.F-(1)~(3)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答：同样适用。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05474" y="1323974"/>
            <a:ext cx="5129937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1234.5678F;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8765.4321F;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909545" y="2438400"/>
            <a:ext cx="1967005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8020" y="1765300"/>
            <a:ext cx="5003165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1234567890123456789.0F;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9876543210987654321.0F;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05476" y="1323974"/>
            <a:ext cx="51299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909545" y="2438400"/>
            <a:ext cx="2757580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0025" y="1681480"/>
            <a:ext cx="6692265" cy="15170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1133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0.12345678F;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0.87654321F;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::fixed)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705476" y="1323974"/>
            <a:ext cx="51299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205" y="1778000"/>
            <a:ext cx="4822825" cy="17760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G.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::fixed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4" y="1323973"/>
            <a:ext cx="1024733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::fixed</a:t>
            </a:r>
            <a:r>
              <a:rPr kumimoji="1" lang="zh-CN" altLang="en-US" sz="1600" b="1" dirty="0">
                <a:latin typeface="+mn-ea"/>
              </a:rPr>
              <a:t>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答：如果不设置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precision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，则输出为六位小数位数的近似值（位数不够在小数位后面补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）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 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如果设置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precision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（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n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），则输出为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n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位小数位数的数值（位数不够在小数位后面补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）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1.G-(1)~(3)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答：同样适用。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1234.5678F;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8765.4321F;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4890" y="1797685"/>
            <a:ext cx="4629150" cy="14109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1234567890123456789.0F;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9876543210987654321.0F;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909545" y="2438400"/>
            <a:ext cx="2757580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7910" y="1738630"/>
            <a:ext cx="4601210" cy="14820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H.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(3)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3991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f1 = 0.12345678F;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float f2 = 0.87654321F;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1</a:t>
            </a:r>
            <a:r>
              <a:rPr lang="zh-CN" altLang="en-US" sz="1200" b="1" dirty="0">
                <a:latin typeface="+mn-ea"/>
              </a:rPr>
              <a:t>组：不设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::scientific)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/* </a:t>
            </a:r>
            <a:r>
              <a:rPr lang="zh-CN" altLang="en-US" sz="1200" b="1" dirty="0">
                <a:latin typeface="+mn-ea"/>
              </a:rPr>
              <a:t>第</a:t>
            </a:r>
            <a:r>
              <a:rPr lang="en-US" altLang="zh-CN" sz="1200" b="1" dirty="0">
                <a:latin typeface="+mn-ea"/>
              </a:rPr>
              <a:t>2</a:t>
            </a:r>
            <a:r>
              <a:rPr lang="zh-CN" altLang="en-US" sz="1200" b="1" dirty="0">
                <a:latin typeface="+mn-ea"/>
              </a:rPr>
              <a:t>组：设置</a:t>
            </a:r>
            <a:r>
              <a:rPr lang="en-US" altLang="zh-CN" sz="1200" b="1" dirty="0">
                <a:latin typeface="+mn-ea"/>
              </a:rPr>
              <a:t>precision */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(4)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(7)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(10)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setprecision</a:t>
            </a:r>
            <a:r>
              <a:rPr lang="en-US" altLang="zh-CN" sz="1200" b="1" dirty="0">
                <a:latin typeface="+mn-ea"/>
              </a:rPr>
              <a:t>(25) &lt;&lt; f1 &lt;&lt; ' ' &lt;&lt; f2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91226" y="1323974"/>
            <a:ext cx="4844185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贴图：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909545" y="2438400"/>
            <a:ext cx="1884481" cy="46672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325" y="1748790"/>
            <a:ext cx="4632325" cy="14433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</a:t>
            </a:r>
            <a:r>
              <a:rPr lang="en-US" altLang="zh-CN" sz="1600" b="1" dirty="0" err="1">
                <a:latin typeface="+mn-ea"/>
              </a:rPr>
              <a:t>H .</a:t>
            </a:r>
            <a:r>
              <a:rPr lang="en-US" altLang="zh-CN" sz="1600" b="1" dirty="0" err="1">
                <a:latin typeface="+mn-ea"/>
                <a:cs typeface="Times New Roman" panose="02020603050405020304" pitchFamily="18" charset="0"/>
              </a:rPr>
              <a:t>setprecision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和</a:t>
            </a:r>
            <a:r>
              <a:rPr lang="en-US" altLang="zh-CN" sz="1600" b="1" kern="1200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ios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一起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总结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88076" y="1333599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、给出</a:t>
            </a:r>
            <a:r>
              <a:rPr kumimoji="1" lang="en-US" altLang="zh-CN" sz="1600" b="1" dirty="0" err="1">
                <a:latin typeface="+mn-ea"/>
              </a:rPr>
              <a:t>setprecision+ios</a:t>
            </a:r>
            <a:r>
              <a:rPr kumimoji="1" lang="en-US" altLang="zh-CN" sz="1600" b="1" dirty="0">
                <a:latin typeface="+mn-ea"/>
              </a:rPr>
              <a:t>::scientific</a:t>
            </a:r>
            <a:r>
              <a:rPr kumimoji="1" lang="zh-CN" altLang="en-US" sz="1600" b="1" dirty="0">
                <a:latin typeface="+mn-ea"/>
              </a:rPr>
              <a:t>使用时的显示规律总结（如果数据不够，可以再自己构造测试数据）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答：如果不设置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precision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，则输出为六位小数位数的科学计数法数值（位数不够在小数位后面补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）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如果设置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precision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（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n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），则输出为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n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位小数位数的科学计数法数值（位数不够在小数位后面补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+mn-ea"/>
                <a:sym typeface="+mn-ea"/>
              </a:rPr>
              <a:t>0</a:t>
            </a:r>
            <a:r>
              <a:rPr kumimoji="1" lang="zh-CN" altLang="en-US" sz="1600" b="1" dirty="0" err="1">
                <a:solidFill>
                  <a:schemeClr val="accent2"/>
                </a:solidFill>
                <a:latin typeface="+mn-ea"/>
                <a:sym typeface="+mn-ea"/>
              </a:rPr>
              <a:t>）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、将</a:t>
            </a:r>
            <a:r>
              <a:rPr kumimoji="1" lang="en-US" altLang="zh-CN" sz="1600" b="1" dirty="0">
                <a:latin typeface="+mn-ea"/>
              </a:rPr>
              <a:t>1.H-(1)~(3)</a:t>
            </a:r>
            <a:r>
              <a:rPr kumimoji="1" lang="zh-CN" altLang="en-US" sz="1600" b="1" dirty="0">
                <a:latin typeface="+mn-ea"/>
              </a:rPr>
              <a:t>中的数据类型换为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型（有效位数为</a:t>
            </a:r>
            <a:r>
              <a:rPr kumimoji="1" lang="en-US" altLang="zh-CN" sz="1600" b="1" dirty="0">
                <a:latin typeface="+mn-ea"/>
              </a:rPr>
              <a:t>15</a:t>
            </a:r>
            <a:r>
              <a:rPr kumimoji="1" lang="zh-CN" altLang="en-US" sz="1600" b="1" dirty="0">
                <a:latin typeface="+mn-ea"/>
              </a:rPr>
              <a:t>位），自行构造测试数据，验证总结出的</a:t>
            </a:r>
            <a:r>
              <a:rPr kumimoji="1" lang="en-US" altLang="zh-CN" sz="1600" b="1" dirty="0">
                <a:latin typeface="+mn-ea"/>
              </a:rPr>
              <a:t>float</a:t>
            </a:r>
            <a:r>
              <a:rPr kumimoji="1" lang="zh-CN" altLang="en-US" sz="1600" b="1" dirty="0">
                <a:latin typeface="+mn-ea"/>
              </a:rPr>
              <a:t>型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数据的显示规律是否同样适用于</a:t>
            </a:r>
            <a:r>
              <a:rPr kumimoji="1" lang="en-US" altLang="zh-CN" sz="1600" b="1" dirty="0">
                <a:latin typeface="+mn-ea"/>
              </a:rPr>
              <a:t>double</a:t>
            </a:r>
            <a:r>
              <a:rPr kumimoji="1" lang="zh-CN" altLang="en-US" sz="1600" b="1" dirty="0">
                <a:latin typeface="+mn-ea"/>
              </a:rPr>
              <a:t>型（如果适用，不用贴图，如果不适用，贴对应代码及运行截图）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答：同样适用。</a:t>
            </a:r>
            <a:endParaRPr kumimoji="1" lang="en-US" altLang="zh-CN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   </a:t>
            </a:r>
            <a:r>
              <a:rPr lang="en-US" altLang="zh-CN" sz="1600" b="1" dirty="0" err="1">
                <a:latin typeface="+mn-ea"/>
              </a:rPr>
              <a:t>I.ios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的混合使用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错误用法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 bwMode="auto">
          <a:xfrm>
            <a:off x="5577612" y="1323975"/>
            <a:ext cx="5257799" cy="320992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    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 bwMode="auto">
          <a:xfrm>
            <a:off x="592115" y="1323973"/>
            <a:ext cx="4985497" cy="320992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96153" y="4533900"/>
            <a:ext cx="4981460" cy="20002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577612" y="4533900"/>
            <a:ext cx="5257799" cy="20002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20" y="4857115"/>
            <a:ext cx="4784090" cy="13246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3085" y="4857115"/>
            <a:ext cx="4845685" cy="13246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I.ios</a:t>
            </a:r>
            <a:r>
              <a:rPr lang="en-US" altLang="zh-CN" sz="1600" b="1" dirty="0">
                <a:latin typeface="+mn-ea"/>
              </a:rPr>
              <a:t>::fixed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>
                <a:latin typeface="+mn-ea"/>
                <a:cs typeface="Times New Roman" panose="02020603050405020304" pitchFamily="18" charset="0"/>
              </a:rPr>
              <a:t>scientific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的混合使用 </a:t>
            </a:r>
            <a:r>
              <a:rPr lang="en-US" altLang="zh-CN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在上一页的基础上将程序改正确，并给出截图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 bwMode="auto">
          <a:xfrm>
            <a:off x="5572125" y="1245235"/>
            <a:ext cx="5263515" cy="528891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    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</a:t>
            </a:r>
            <a:r>
              <a:rPr lang="en-US" altLang="zh-CN" sz="1100" b="1" dirty="0">
                <a:latin typeface="+mn-ea"/>
              </a:rPr>
              <a:t> </a:t>
            </a:r>
            <a:r>
              <a:rPr lang="en-US" altLang="zh-CN" sz="1100" b="1" dirty="0">
                <a:latin typeface="+mn-ea"/>
                <a:sym typeface="+mn-ea"/>
              </a:rPr>
              <a:t>cout &lt;&lt; resetiosflags(</a:t>
            </a:r>
            <a:r>
              <a:rPr lang="fr-FR" altLang="zh-CN" sz="1100" b="1" dirty="0">
                <a:latin typeface="+mn-ea"/>
                <a:sym typeface="+mn-ea"/>
              </a:rPr>
              <a:t>ios::</a:t>
            </a:r>
            <a:r>
              <a:rPr lang="en-US" altLang="zh-CN" sz="1100" b="1" dirty="0">
                <a:latin typeface="+mn-ea"/>
                <a:sym typeface="+mn-ea"/>
              </a:rPr>
              <a:t>fixed</a:t>
            </a:r>
            <a:r>
              <a:rPr lang="en-US" altLang="zh-CN" sz="1100" b="1" dirty="0">
                <a:latin typeface="+mn-ea"/>
                <a:sym typeface="+mn-ea"/>
              </a:rPr>
              <a:t>);</a:t>
            </a:r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</a:t>
            </a:r>
            <a:r>
              <a:rPr lang="en-US" altLang="zh-CN" sz="1100" b="1" dirty="0">
                <a:latin typeface="+mn-ea"/>
              </a:rPr>
              <a:t>  </a:t>
            </a:r>
            <a:r>
              <a:rPr lang="zh-CN" altLang="en-US" sz="1100" b="1" dirty="0">
                <a:latin typeface="+mn-ea"/>
              </a:rPr>
              <a:t>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 bwMode="auto">
          <a:xfrm>
            <a:off x="586740" y="1245870"/>
            <a:ext cx="4991100" cy="528828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float f1 = 1234.5678F, f2 = 8765.4321F;</a:t>
            </a:r>
            <a:endParaRPr lang="en-US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1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f1 &lt;&lt; ' ' &lt;&lt; f2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</a:t>
            </a:r>
            <a:r>
              <a:rPr lang="en-US" altLang="zh-CN" sz="1100" b="1" dirty="0">
                <a:latin typeface="+mn-ea"/>
              </a:rPr>
              <a:t>fixed</a:t>
            </a:r>
            <a:r>
              <a:rPr lang="fr-FR" altLang="zh-CN" sz="1100" b="1" dirty="0">
                <a:latin typeface="+mn-ea"/>
              </a:rPr>
              <a:t>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fr-FR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cout &lt;&lt; resetiosflags(</a:t>
            </a:r>
            <a:r>
              <a:rPr lang="fr-FR" altLang="zh-CN" sz="1100" b="1" dirty="0">
                <a:latin typeface="+mn-ea"/>
                <a:sym typeface="+mn-ea"/>
              </a:rPr>
              <a:t>ios::</a:t>
            </a:r>
            <a:r>
              <a:rPr lang="en-US" altLang="zh-CN" sz="1100" b="1" dirty="0">
                <a:latin typeface="+mn-ea"/>
                <a:sym typeface="+mn-ea"/>
              </a:rPr>
              <a:t>fixed</a:t>
            </a:r>
            <a:r>
              <a:rPr lang="en-US" altLang="zh-CN" sz="1100" b="1" dirty="0">
                <a:latin typeface="+mn-ea"/>
              </a:rPr>
              <a:t>);</a:t>
            </a:r>
            <a:endParaRPr lang="zh-CN" altLang="en-US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第</a:t>
            </a:r>
            <a:r>
              <a:rPr lang="en-US" altLang="zh-CN" sz="1100" b="1" dirty="0">
                <a:latin typeface="+mn-ea"/>
              </a:rPr>
              <a:t>2</a:t>
            </a:r>
            <a:r>
              <a:rPr lang="zh-CN" altLang="en-US" sz="1100" b="1" dirty="0">
                <a:latin typeface="+mn-ea"/>
              </a:rPr>
              <a:t>组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setiosflags(ios::scientific) &lt;&lt; f1 &lt;&lt; ' ' &lt;&lt; f2 &lt;&lt; endl;</a:t>
            </a:r>
            <a:endParaRPr lang="fr-FR" altLang="zh-CN" sz="1100" b="1" dirty="0">
              <a:latin typeface="+mn-ea"/>
            </a:endParaRPr>
          </a:p>
          <a:p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 bwMode="auto">
          <a:xfrm>
            <a:off x="586629" y="4533900"/>
            <a:ext cx="4985496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 bwMode="auto">
          <a:xfrm>
            <a:off x="5572124" y="4533900"/>
            <a:ext cx="5263287" cy="100012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86630" y="5534025"/>
            <a:ext cx="10248782" cy="10001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再强调一遍，先去读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P.5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，后续不再提示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如果想要在一个程序中同时显示</a:t>
            </a:r>
            <a:r>
              <a:rPr kumimoji="1" lang="en-US" altLang="zh-CN" sz="1600" b="1" dirty="0">
                <a:latin typeface="+mn-ea"/>
              </a:rPr>
              <a:t>fixed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scientific</a:t>
            </a:r>
            <a:r>
              <a:rPr kumimoji="1" lang="zh-CN" altLang="en-US" sz="1600" b="1" dirty="0">
                <a:latin typeface="+mn-ea"/>
              </a:rPr>
              <a:t>形式，需要在两者之间加入一句：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u="sng" dirty="0">
                <a:latin typeface="+mn-ea"/>
                <a:sym typeface="+mn-ea"/>
              </a:rPr>
              <a:t>cout &lt;&lt; resetiosflags(</a:t>
            </a:r>
            <a:r>
              <a:rPr lang="en-US" sz="1600" b="1" u="sng" dirty="0">
                <a:latin typeface="+mn-ea"/>
                <a:sym typeface="+mn-ea"/>
              </a:rPr>
              <a:t>*</a:t>
            </a:r>
            <a:r>
              <a:rPr lang="en-US" altLang="zh-CN" sz="1600" b="1" u="sng" dirty="0">
                <a:latin typeface="+mn-ea"/>
                <a:sym typeface="+mn-ea"/>
              </a:rPr>
              <a:t>);</a:t>
            </a:r>
            <a:r>
              <a:rPr lang="en-US" altLang="zh-CN" sz="1600" b="1" u="sng" dirty="0">
                <a:latin typeface="+mn-ea"/>
                <a:sym typeface="+mn-ea"/>
              </a:rPr>
              <a:t> </a:t>
            </a:r>
            <a:r>
              <a:rPr lang="zh-CN" altLang="en-US" sz="1600" b="1" u="sng" dirty="0">
                <a:latin typeface="+mn-ea"/>
                <a:sym typeface="+mn-ea"/>
              </a:rPr>
              <a:t>（括号中</a:t>
            </a:r>
            <a:r>
              <a:rPr lang="en-US" altLang="zh-CN" sz="1600" b="1" u="sng" dirty="0">
                <a:latin typeface="+mn-ea"/>
                <a:sym typeface="+mn-ea"/>
              </a:rPr>
              <a:t>*</a:t>
            </a:r>
            <a:r>
              <a:rPr lang="zh-CN" altLang="en-US" sz="1600" b="1" u="sng" dirty="0">
                <a:latin typeface="+mn-ea"/>
                <a:sym typeface="+mn-ea"/>
              </a:rPr>
              <a:t>为要重置的格式，如</a:t>
            </a:r>
            <a:r>
              <a:rPr lang="en-US" altLang="zh-CN" sz="1600" b="1" u="sng" dirty="0" err="1">
                <a:latin typeface="+mn-ea"/>
                <a:sym typeface="+mn-ea"/>
              </a:rPr>
              <a:t>ios</a:t>
            </a:r>
            <a:r>
              <a:rPr lang="en-US" altLang="zh-CN" sz="1600" b="1" u="sng" dirty="0">
                <a:latin typeface="+mn-ea"/>
                <a:sym typeface="+mn-ea"/>
              </a:rPr>
              <a:t>::fixed</a:t>
            </a:r>
            <a:r>
              <a:rPr lang="zh-CN" altLang="en-US" sz="1600" b="1" u="sng" dirty="0">
                <a:latin typeface="+mn-ea"/>
                <a:sym typeface="+mn-ea"/>
              </a:rPr>
              <a:t>或</a:t>
            </a:r>
            <a:r>
              <a:rPr lang="en-US" altLang="zh-CN" sz="1600" b="1" u="sng" dirty="0" err="1">
                <a:latin typeface="+mn-ea"/>
                <a:sym typeface="+mn-ea"/>
              </a:rPr>
              <a:t>ios</a:t>
            </a:r>
            <a:r>
              <a:rPr lang="en-US" altLang="zh-CN" sz="1600" b="1" u="sng" dirty="0">
                <a:latin typeface="+mn-ea"/>
                <a:sym typeface="+mn-ea"/>
              </a:rPr>
              <a:t>::</a:t>
            </a:r>
            <a:r>
              <a:rPr lang="en-US" altLang="zh-CN" sz="1600" b="1" u="sng" dirty="0">
                <a:latin typeface="+mn-ea"/>
                <a:cs typeface="Times New Roman" panose="02020603050405020304" pitchFamily="18" charset="0"/>
                <a:sym typeface="+mn-ea"/>
              </a:rPr>
              <a:t>scientific</a:t>
            </a:r>
            <a:r>
              <a:rPr lang="zh-CN" altLang="en-US" sz="1600" b="1" u="sng" dirty="0">
                <a:latin typeface="+mn-ea"/>
                <a:sym typeface="+mn-ea"/>
              </a:rPr>
              <a:t>）</a:t>
            </a:r>
            <a:endParaRPr kumimoji="1" lang="en-US" altLang="zh-CN" sz="1600" b="1" u="sng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735" y="4543425"/>
            <a:ext cx="2273300" cy="990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520" y="4562475"/>
            <a:ext cx="2279650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1820" y="1323975"/>
            <a:ext cx="10551160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J.setw</a:t>
            </a:r>
            <a:r>
              <a:rPr lang="zh-CN" altLang="en-US" sz="1600" b="1" dirty="0">
                <a:latin typeface="+mn-ea"/>
              </a:rPr>
              <a:t>的基本使用 </a:t>
            </a:r>
            <a:r>
              <a:rPr lang="en-US" altLang="zh-CN" sz="1600" b="1" dirty="0">
                <a:latin typeface="+mn-ea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7540" y="1323975"/>
            <a:ext cx="5426075" cy="359473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12551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 = 12345;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  <a:endParaRPr lang="fr-F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(3)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(6)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1820" y="4918710"/>
            <a:ext cx="10551795" cy="16154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指定的宽度是总宽度，当总宽度大于数据宽度时，显示规律为</a:t>
            </a:r>
            <a:r>
              <a:rPr kumimoji="1" lang="en-US" altLang="zh-CN" sz="1600" b="1" u="sng" dirty="0">
                <a:latin typeface="+mn-ea"/>
              </a:rPr>
              <a:t> </a:t>
            </a:r>
            <a:r>
              <a:rPr kumimoji="1" lang="zh-CN" altLang="en-US" sz="1600" b="1" u="sng" dirty="0">
                <a:latin typeface="+mn-ea"/>
              </a:rPr>
              <a:t>在数据前加空格，使总宽度等于指定宽度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；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                        当总宽度小于数据宽度时，显示规律为 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输出原数据</a:t>
            </a:r>
            <a:r>
              <a:rPr kumimoji="1" lang="en-US" altLang="zh-CN" sz="1600" b="1" u="sng" dirty="0">
                <a:latin typeface="+mn-ea"/>
              </a:rPr>
              <a:t>______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的设置后，对后面的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  <a:sym typeface="+mn-ea"/>
              </a:rPr>
              <a:t>仅一个</a:t>
            </a:r>
            <a:r>
              <a:rPr kumimoji="1" lang="en-US" altLang="zh-CN" sz="1600" b="1" u="sng" dirty="0">
                <a:latin typeface="+mn-ea"/>
              </a:rPr>
              <a:t>_____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、程序最前面两行的输出，目的是什么？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提供一个位置参考，方便观察输出数据的对齐情况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、每行输出的最后一个</a:t>
            </a:r>
            <a:r>
              <a:rPr kumimoji="1" lang="en-US" altLang="zh-CN" sz="1600" b="1" dirty="0">
                <a:latin typeface="+mn-ea"/>
              </a:rPr>
              <a:t>*</a:t>
            </a:r>
            <a:r>
              <a:rPr kumimoji="1" lang="zh-CN" altLang="en-US" sz="1600" b="1" dirty="0">
                <a:latin typeface="+mn-ea"/>
              </a:rPr>
              <a:t>，目的是什么？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查看数据后面是否有空格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835" y="1713865"/>
            <a:ext cx="5019675" cy="21666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J.setw</a:t>
            </a:r>
            <a:r>
              <a:rPr lang="zh-CN" altLang="en-US" sz="1600" b="1" dirty="0">
                <a:latin typeface="+mn-ea"/>
              </a:rPr>
              <a:t>的基本使用 </a:t>
            </a:r>
            <a:r>
              <a:rPr lang="en-US" altLang="zh-CN" sz="1600" b="1" dirty="0">
                <a:latin typeface="+mn-ea"/>
              </a:rPr>
              <a:t>- (2)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717628" y="1323974"/>
            <a:ext cx="5117783" cy="359486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5125513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double a = 0.123456789012345;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  <a:endParaRPr lang="fr-F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(6)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(9)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(30) &lt;&lt; a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4" y="4918841"/>
            <a:ext cx="10243297" cy="16153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setw</a:t>
            </a:r>
            <a:r>
              <a:rPr kumimoji="1" lang="zh-CN" altLang="en-US" sz="1600" b="1" dirty="0">
                <a:latin typeface="+mn-ea"/>
              </a:rPr>
              <a:t>指定的宽度是总宽度，对于实型数据，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zh-CN" altLang="en-US" sz="1600" b="1" u="sng" dirty="0">
                <a:latin typeface="+mn-ea"/>
              </a:rPr>
              <a:t>包含</a:t>
            </a:r>
            <a:r>
              <a:rPr kumimoji="1" lang="en-US" altLang="zh-CN" sz="1600" b="1" u="sng" dirty="0">
                <a:latin typeface="+mn-ea"/>
              </a:rPr>
              <a:t>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包含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不包含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小数点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485" y="1739265"/>
            <a:ext cx="4982845" cy="19469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K.setw+setfill</a:t>
            </a:r>
            <a:r>
              <a:rPr lang="zh-CN" altLang="en-US" sz="1600" b="1" dirty="0">
                <a:latin typeface="+mn-ea"/>
              </a:rPr>
              <a:t>的使用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668104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 = 12345;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fr-FR" altLang="zh-CN" sz="1200" b="1" dirty="0">
                <a:latin typeface="+mn-ea"/>
              </a:rPr>
              <a:t>    cout &lt;&lt; "0         1         2         3" &lt;&lt; endl;</a:t>
            </a:r>
            <a:endParaRPr lang="fr-FR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(15)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('-') &lt;&lt; a &lt;&lt; '#'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endParaRPr lang="zh-CN" altLang="en-US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273158" y="1323972"/>
            <a:ext cx="3562254" cy="33321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88076" y="4656083"/>
            <a:ext cx="10247336" cy="187806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setfill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u="sng" dirty="0">
                <a:latin typeface="+mn-ea"/>
              </a:rPr>
              <a:t>______设置填充字符，以确保输出的字段达到指定的宽度_____</a:t>
            </a:r>
            <a:endParaRPr kumimoji="1" lang="en-US" altLang="zh-CN" sz="16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setfill</a:t>
            </a:r>
            <a:r>
              <a:rPr kumimoji="1" lang="zh-CN" altLang="en-US" sz="1600" b="1" dirty="0">
                <a:latin typeface="+mn-ea"/>
              </a:rPr>
              <a:t>的设置后，对后面的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zh-CN" altLang="en-US" sz="1600" b="1" u="sng" dirty="0">
                <a:latin typeface="+mn-ea"/>
                <a:sym typeface="+mn-ea"/>
              </a:rPr>
              <a:t>所有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仅一个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所有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数据有效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、解释为什么第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行的第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个数</a:t>
            </a:r>
            <a:r>
              <a:rPr kumimoji="1" lang="en-US" altLang="zh-CN" sz="1600" b="1" dirty="0">
                <a:latin typeface="+mn-ea"/>
              </a:rPr>
              <a:t>(12346)</a:t>
            </a:r>
            <a:r>
              <a:rPr kumimoji="1" lang="zh-CN" altLang="en-US" sz="1600" b="1" dirty="0">
                <a:latin typeface="+mn-ea"/>
              </a:rPr>
              <a:t>前面没有</a:t>
            </a:r>
            <a:r>
              <a:rPr kumimoji="1" lang="en-US" altLang="zh-CN" sz="1600" b="1" dirty="0">
                <a:latin typeface="+mn-ea"/>
              </a:rPr>
              <a:t>-  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setw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只对后面的第一个数据有效，对第二个数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12346</a:t>
            </a:r>
            <a:r>
              <a:rPr kumimoji="1" lang="zh-CN" altLang="en-US" sz="1600" b="1" dirty="0">
                <a:solidFill>
                  <a:schemeClr val="accent2"/>
                </a:solidFill>
                <a:latin typeface="+mn-ea"/>
              </a:rPr>
              <a:t>，输出不需要填充字符，所以前面没有</a:t>
            </a:r>
            <a:r>
              <a:rPr kumimoji="1" lang="en-US" altLang="zh-CN" sz="1600" b="1" dirty="0">
                <a:solidFill>
                  <a:schemeClr val="accent2"/>
                </a:solidFill>
                <a:latin typeface="+mn-ea"/>
              </a:rPr>
              <a:t>-</a:t>
            </a: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065" y="1750695"/>
            <a:ext cx="3244850" cy="9969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(1)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92115" y="3832160"/>
            <a:ext cx="6901761" cy="270199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#include &lt;</a:t>
            </a:r>
            <a:r>
              <a:rPr lang="en-US" altLang="zh-CN" sz="1200" b="1" dirty="0" err="1">
                <a:latin typeface="+mn-ea"/>
              </a:rPr>
              <a:t>iomanip</a:t>
            </a:r>
            <a:r>
              <a:rPr lang="en-US" altLang="zh-CN" sz="1200" b="1" dirty="0">
                <a:latin typeface="+mn-ea"/>
              </a:rPr>
              <a:t>&gt;</a:t>
            </a:r>
            <a:endParaRPr lang="en-US" altLang="zh-CN" sz="1200" b="1" dirty="0">
              <a:latin typeface="+mn-ea"/>
            </a:endParaRP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 = 12345;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         1         2         3"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"0123456789012345678901234567890123456789"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setiosflags</a:t>
            </a:r>
            <a:r>
              <a:rPr lang="en-US" altLang="zh-CN" sz="1200" b="1" dirty="0">
                <a:latin typeface="+mn-ea"/>
              </a:rPr>
              <a:t>(</a:t>
            </a:r>
            <a:r>
              <a:rPr lang="en-US" altLang="zh-CN" sz="1200" b="1" dirty="0" err="1">
                <a:latin typeface="+mn-ea"/>
              </a:rPr>
              <a:t>ios</a:t>
            </a:r>
            <a:r>
              <a:rPr lang="en-US" altLang="zh-CN" sz="1200" b="1" dirty="0">
                <a:latin typeface="+mn-ea"/>
              </a:rPr>
              <a:t>::left);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setfill</a:t>
            </a:r>
            <a:r>
              <a:rPr lang="en-US" altLang="zh-CN" sz="1200" b="1" dirty="0">
                <a:latin typeface="+mn-ea"/>
              </a:rPr>
              <a:t>('=')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&lt;&lt; '#' &lt;&lt; </a:t>
            </a:r>
            <a:r>
              <a:rPr lang="en-US" altLang="zh-CN" sz="1200" b="1" dirty="0" err="1">
                <a:latin typeface="+mn-ea"/>
              </a:rPr>
              <a:t>setw</a:t>
            </a:r>
            <a:r>
              <a:rPr lang="en-US" altLang="zh-CN" sz="1200" b="1" dirty="0">
                <a:latin typeface="+mn-ea"/>
              </a:rPr>
              <a:t>(10) &lt;&lt; a + 1 &lt;&lt; '*'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return 0;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6901761" cy="25081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int a = 12345;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         1         2         3"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93876" y="1323973"/>
            <a:ext cx="3341536" cy="25081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493876" y="3832158"/>
            <a:ext cx="3341536" cy="27019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854273" y="3832157"/>
            <a:ext cx="4643641" cy="9421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 err="1">
                <a:latin typeface="+mn-ea"/>
              </a:rPr>
              <a:t>ios</a:t>
            </a:r>
            <a:r>
              <a:rPr kumimoji="1" lang="en-US" altLang="zh-CN" sz="1600" b="1" dirty="0">
                <a:latin typeface="+mn-ea"/>
              </a:rPr>
              <a:t>::left</a:t>
            </a:r>
            <a:r>
              <a:rPr kumimoji="1" lang="zh-CN" altLang="en-US" sz="1600" b="1" dirty="0">
                <a:latin typeface="+mn-ea"/>
              </a:rPr>
              <a:t>的作用是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zh-CN" altLang="en-US" sz="1600" b="1" u="sng" dirty="0">
                <a:latin typeface="+mn-ea"/>
              </a:rPr>
              <a:t>使输出数据左对齐</a:t>
            </a:r>
            <a:r>
              <a:rPr kumimoji="1" lang="en-US" altLang="zh-CN" sz="1600" b="1" u="sng" dirty="0">
                <a:latin typeface="+mn-ea"/>
              </a:rPr>
              <a:t>_</a:t>
            </a:r>
            <a:r>
              <a:rPr kumimoji="1" lang="en-US" altLang="zh-CN" sz="1600" b="1" dirty="0">
                <a:latin typeface="+mn-ea"/>
              </a:rPr>
              <a:t>___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、如果不设置，缺省是</a:t>
            </a:r>
            <a:r>
              <a:rPr kumimoji="1" lang="en-US" altLang="zh-CN" sz="1600" b="1" u="sng" dirty="0">
                <a:latin typeface="+mn-ea"/>
              </a:rPr>
              <a:t>___</a:t>
            </a:r>
            <a:r>
              <a:rPr kumimoji="1" lang="zh-CN" altLang="en-US" sz="1600" b="1" u="sng" dirty="0">
                <a:latin typeface="+mn-ea"/>
              </a:rPr>
              <a:t>右</a:t>
            </a:r>
            <a:r>
              <a:rPr kumimoji="1" lang="en-US" altLang="zh-CN" sz="1600" b="1" u="sng" dirty="0">
                <a:latin typeface="+mn-ea"/>
              </a:rPr>
              <a:t>____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左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右对齐</a:t>
            </a:r>
            <a:r>
              <a:rPr kumimoji="1" lang="en-US" altLang="zh-CN" sz="1600" b="1" dirty="0">
                <a:latin typeface="+mn-ea"/>
              </a:rPr>
              <a:t>)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4590" y="1744980"/>
            <a:ext cx="3321050" cy="1079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590" y="4323080"/>
            <a:ext cx="3295015" cy="103314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(2) - </a:t>
            </a:r>
            <a:r>
              <a:rPr lang="zh-CN" altLang="en-US" sz="1600" b="1" dirty="0">
                <a:latin typeface="+mn-ea"/>
              </a:rPr>
              <a:t>同时使用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2115" y="1323973"/>
            <a:ext cx="6897723" cy="27855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int a = 12345;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  <a:endParaRPr lang="fr-FR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89838" y="1323972"/>
            <a:ext cx="3345574" cy="27855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489838" y="4109545"/>
            <a:ext cx="3345574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2115" y="4109545"/>
            <a:ext cx="6897723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100" b="1" dirty="0">
                <a:latin typeface="+mn-ea"/>
              </a:rPr>
              <a:t>#include &lt;iostream&gt;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#include &lt;</a:t>
            </a:r>
            <a:r>
              <a:rPr lang="en-US" altLang="zh-CN" sz="1100" b="1" dirty="0" err="1">
                <a:latin typeface="+mn-ea"/>
              </a:rPr>
              <a:t>iomanip</a:t>
            </a:r>
            <a:r>
              <a:rPr lang="en-US" altLang="zh-CN" sz="1100" b="1" dirty="0">
                <a:latin typeface="+mn-ea"/>
              </a:rPr>
              <a:t>&gt;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using namespace std;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int main()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{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int a = 12345;</a:t>
            </a:r>
            <a:endParaRPr lang="en-US" altLang="zh-CN" sz="1100" b="1" dirty="0">
              <a:latin typeface="+mn-ea"/>
            </a:endParaRPr>
          </a:p>
          <a:p>
            <a:r>
              <a:rPr lang="fr-FR" altLang="zh-CN" sz="1100" b="1" dirty="0">
                <a:latin typeface="+mn-ea"/>
              </a:rPr>
              <a:t>    cout &lt;&lt; "0         1         2         3" &lt;&lt; endl;</a:t>
            </a:r>
            <a:endParaRPr lang="fr-FR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"0123456789012345678901234567890123456789"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右对齐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::right)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zh-CN" altLang="en-US" sz="1100" b="1" dirty="0">
                <a:latin typeface="+mn-ea"/>
              </a:rPr>
              <a:t>    </a:t>
            </a:r>
            <a:r>
              <a:rPr lang="en-US" altLang="zh-CN" sz="1100" b="1" dirty="0">
                <a:latin typeface="+mn-ea"/>
              </a:rPr>
              <a:t>/* </a:t>
            </a:r>
            <a:r>
              <a:rPr lang="zh-CN" altLang="en-US" sz="1100" b="1" dirty="0">
                <a:latin typeface="+mn-ea"/>
              </a:rPr>
              <a:t>左对齐 *</a:t>
            </a:r>
            <a:r>
              <a:rPr lang="en-US" altLang="zh-CN" sz="1100" b="1" dirty="0">
                <a:latin typeface="+mn-ea"/>
              </a:rPr>
              <a:t>/</a:t>
            </a:r>
            <a:endParaRPr lang="zh-CN" altLang="en-US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</a:t>
            </a:r>
            <a:r>
              <a:rPr lang="en-US" altLang="zh-CN" sz="1100" b="1" dirty="0" err="1">
                <a:latin typeface="+mn-ea"/>
              </a:rPr>
              <a:t>cout</a:t>
            </a:r>
            <a:r>
              <a:rPr lang="en-US" altLang="zh-CN" sz="1100" b="1" dirty="0">
                <a:latin typeface="+mn-ea"/>
              </a:rPr>
              <a:t> &lt;&lt; </a:t>
            </a:r>
            <a:r>
              <a:rPr lang="en-US" altLang="zh-CN" sz="1100" b="1" dirty="0" err="1">
                <a:latin typeface="+mn-ea"/>
              </a:rPr>
              <a:t>setiosflags</a:t>
            </a:r>
            <a:r>
              <a:rPr lang="en-US" altLang="zh-CN" sz="1100" b="1" dirty="0">
                <a:latin typeface="+mn-ea"/>
              </a:rPr>
              <a:t>(</a:t>
            </a:r>
            <a:r>
              <a:rPr lang="en-US" altLang="zh-CN" sz="1100" b="1" dirty="0" err="1">
                <a:latin typeface="+mn-ea"/>
              </a:rPr>
              <a:t>ios</a:t>
            </a:r>
            <a:r>
              <a:rPr lang="en-US" altLang="zh-CN" sz="1100" b="1" dirty="0">
                <a:latin typeface="+mn-ea"/>
              </a:rPr>
              <a:t>::left)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&lt;&lt; '#' &lt;&lt; </a:t>
            </a:r>
            <a:r>
              <a:rPr lang="en-US" altLang="zh-CN" sz="1100" b="1" dirty="0" err="1">
                <a:latin typeface="+mn-ea"/>
              </a:rPr>
              <a:t>setw</a:t>
            </a:r>
            <a:r>
              <a:rPr lang="en-US" altLang="zh-CN" sz="1100" b="1" dirty="0">
                <a:latin typeface="+mn-ea"/>
              </a:rPr>
              <a:t>(10) &lt;&lt; a + 1 &lt;&lt; '*' &lt;&lt; </a:t>
            </a:r>
            <a:r>
              <a:rPr lang="en-US" altLang="zh-CN" sz="1100" b="1" dirty="0" err="1">
                <a:latin typeface="+mn-ea"/>
              </a:rPr>
              <a:t>endl</a:t>
            </a:r>
            <a:r>
              <a:rPr lang="en-US" altLang="zh-CN" sz="1100" b="1" dirty="0">
                <a:latin typeface="+mn-ea"/>
              </a:rPr>
              <a:t>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    return 0;</a:t>
            </a:r>
            <a:endParaRPr lang="en-US" altLang="zh-CN" sz="1100" b="1" dirty="0">
              <a:latin typeface="+mn-ea"/>
            </a:endParaRPr>
          </a:p>
          <a:p>
            <a:r>
              <a:rPr lang="en-US" altLang="zh-CN" sz="1100" b="1" dirty="0">
                <a:latin typeface="+mn-ea"/>
              </a:rPr>
              <a:t>}</a:t>
            </a:r>
            <a:endParaRPr lang="en-US" altLang="zh-CN" sz="11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865" y="1704975"/>
            <a:ext cx="3213100" cy="11493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515" y="4646295"/>
            <a:ext cx="321945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sz="1200" b="1" dirty="0">
              <a:latin typeface="+mn-ea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 err="1">
                <a:latin typeface="+mn-ea"/>
              </a:rPr>
              <a:t>L.setw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en-US" altLang="zh-CN" sz="1600" b="1" dirty="0" err="1">
                <a:latin typeface="+mn-ea"/>
              </a:rPr>
              <a:t>setfill</a:t>
            </a:r>
            <a:r>
              <a:rPr lang="zh-CN" altLang="en-US" sz="1600" b="1" dirty="0">
                <a:latin typeface="+mn-ea"/>
              </a:rPr>
              <a:t>与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::left/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::right</a:t>
            </a:r>
            <a:r>
              <a:rPr lang="zh-CN" altLang="en-US" sz="1600" b="1" dirty="0">
                <a:latin typeface="+mn-ea"/>
              </a:rPr>
              <a:t>的混合使用 </a:t>
            </a:r>
            <a:r>
              <a:rPr lang="en-US" altLang="zh-CN" sz="1600" b="1" dirty="0">
                <a:latin typeface="+mn-ea"/>
              </a:rPr>
              <a:t>- </a:t>
            </a:r>
            <a:r>
              <a:rPr lang="zh-CN" altLang="en-US" sz="1600" b="1" kern="12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在上一页的基础上将程序改正确，并给出截图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91820" y="1323975"/>
            <a:ext cx="6898005" cy="27857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&lt;iomanip&gt;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using namespace std;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int main()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{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int a = 12345;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cout &lt;&lt; "0         1         2         3" &lt;&lt; endl;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cout &lt;&lt; "0123456789012345678901234567890123456789" &lt;&lt; endl;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/* 左对齐 */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cout &lt;&lt; setiosflags(ios::left) &lt;&lt; setw(10) &lt;&lt; a &lt;&lt; '#' &lt;&lt; setw(10) &lt;&lt; a + 1 &lt;&lt; '*' &lt;&lt; endl;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/* 右对齐 */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cout &lt;&lt; resetiosflags(ios::left);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cout &lt;&lt; setiosflags(ios::right) &lt;&lt; setw(10) &lt;&lt; a &lt;&lt; '#' &lt;&lt; setw(10) &lt;&lt; a + 1 &lt;&lt; '*' &lt;&lt; endl;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/* 左对齐 */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cout &lt;&lt; resetiosflags(ios::right);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cout &lt;&lt; setiosflags(ios::left) &lt;&lt; setw(10) &lt;&lt; a &lt;&lt; '#' &lt;&lt; setw(10) &lt;&lt; a + 1 &lt;&lt; '*' &lt;&lt; endl;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}</a:t>
            </a:r>
            <a:endParaRPr lang="en-US" altLang="zh-CN" sz="1000" b="1" dirty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489838" y="1323972"/>
            <a:ext cx="3345574" cy="278557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489838" y="4109545"/>
            <a:ext cx="3345574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运行截图：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2115" y="4109545"/>
            <a:ext cx="6897723" cy="24246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000" b="1" dirty="0">
                <a:latin typeface="+mn-ea"/>
              </a:rPr>
              <a:t>#include &lt;iostream&gt;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#include &lt;</a:t>
            </a:r>
            <a:r>
              <a:rPr lang="en-US" altLang="zh-CN" sz="1000" b="1" dirty="0" err="1">
                <a:latin typeface="+mn-ea"/>
              </a:rPr>
              <a:t>iomanip</a:t>
            </a:r>
            <a:r>
              <a:rPr lang="en-US" altLang="zh-CN" sz="1000" b="1" dirty="0">
                <a:latin typeface="+mn-ea"/>
              </a:rPr>
              <a:t>&gt;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using namespace std;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int main()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{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int a = 12345;</a:t>
            </a:r>
            <a:endParaRPr lang="en-US" altLang="zh-CN" sz="1000" b="1" dirty="0">
              <a:latin typeface="+mn-ea"/>
            </a:endParaRPr>
          </a:p>
          <a:p>
            <a:r>
              <a:rPr lang="fr-FR" altLang="zh-CN" sz="1000" b="1" dirty="0">
                <a:latin typeface="+mn-ea"/>
              </a:rPr>
              <a:t>    cout &lt;&lt; "0         1         2         3" &lt;&lt; endl;</a:t>
            </a:r>
            <a:endParaRPr lang="fr-FR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"0123456789012345678901234567890123456789"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右对齐 *</a:t>
            </a:r>
            <a:r>
              <a:rPr lang="en-US" altLang="zh-CN" sz="1000" b="1" dirty="0">
                <a:latin typeface="+mn-ea"/>
              </a:rPr>
              <a:t>/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setiosflags</a:t>
            </a:r>
            <a:r>
              <a:rPr lang="en-US" altLang="zh-CN" sz="1000" b="1" dirty="0">
                <a:latin typeface="+mn-ea"/>
              </a:rPr>
              <a:t>(</a:t>
            </a:r>
            <a:r>
              <a:rPr lang="en-US" altLang="zh-CN" sz="1000" b="1" dirty="0" err="1">
                <a:latin typeface="+mn-ea"/>
              </a:rPr>
              <a:t>ios</a:t>
            </a:r>
            <a:r>
              <a:rPr lang="en-US" altLang="zh-CN" sz="1000" b="1" dirty="0">
                <a:latin typeface="+mn-ea"/>
              </a:rPr>
              <a:t>::right) &lt;&lt; </a:t>
            </a:r>
            <a:r>
              <a:rPr lang="en-US" altLang="zh-CN" sz="1000" b="1" dirty="0" err="1">
                <a:latin typeface="+mn-ea"/>
              </a:rPr>
              <a:t>setw</a:t>
            </a:r>
            <a:r>
              <a:rPr lang="en-US" altLang="zh-CN" sz="1000" b="1" dirty="0">
                <a:latin typeface="+mn-ea"/>
              </a:rPr>
              <a:t>(10) &lt;&lt; a &lt;&lt; '#' &lt;&lt; </a:t>
            </a:r>
            <a:r>
              <a:rPr lang="en-US" altLang="zh-CN" sz="1000" b="1" dirty="0" err="1">
                <a:latin typeface="+mn-ea"/>
              </a:rPr>
              <a:t>setw</a:t>
            </a:r>
            <a:r>
              <a:rPr lang="en-US" altLang="zh-CN" sz="1000" b="1" dirty="0">
                <a:latin typeface="+mn-ea"/>
              </a:rPr>
              <a:t>(10) &lt;&lt; a + 1 &lt;&lt; '*'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zh-CN" altLang="en-US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</a:rPr>
              <a:t>/* </a:t>
            </a:r>
            <a:r>
              <a:rPr lang="zh-CN" altLang="en-US" sz="1000" b="1" dirty="0">
                <a:latin typeface="+mn-ea"/>
              </a:rPr>
              <a:t>左对齐 *</a:t>
            </a:r>
            <a:r>
              <a:rPr lang="en-US" altLang="zh-CN" sz="1000" b="1" dirty="0">
                <a:latin typeface="+mn-ea"/>
              </a:rPr>
              <a:t>/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>
                <a:latin typeface="+mn-ea"/>
                <a:sym typeface="+mn-ea"/>
              </a:rPr>
              <a:t>cout &lt;&lt; resetiosflags(ios::right);</a:t>
            </a:r>
            <a:endParaRPr lang="zh-CN" altLang="en-US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</a:t>
            </a:r>
            <a:r>
              <a:rPr lang="en-US" altLang="zh-CN" sz="1000" b="1" dirty="0" err="1">
                <a:latin typeface="+mn-ea"/>
              </a:rPr>
              <a:t>cout</a:t>
            </a:r>
            <a:r>
              <a:rPr lang="en-US" altLang="zh-CN" sz="1000" b="1" dirty="0">
                <a:latin typeface="+mn-ea"/>
              </a:rPr>
              <a:t> &lt;&lt; </a:t>
            </a:r>
            <a:r>
              <a:rPr lang="en-US" altLang="zh-CN" sz="1000" b="1" dirty="0" err="1">
                <a:latin typeface="+mn-ea"/>
              </a:rPr>
              <a:t>setiosflags</a:t>
            </a:r>
            <a:r>
              <a:rPr lang="en-US" altLang="zh-CN" sz="1000" b="1" dirty="0">
                <a:latin typeface="+mn-ea"/>
              </a:rPr>
              <a:t>(</a:t>
            </a:r>
            <a:r>
              <a:rPr lang="en-US" altLang="zh-CN" sz="1000" b="1" dirty="0" err="1">
                <a:latin typeface="+mn-ea"/>
              </a:rPr>
              <a:t>ios</a:t>
            </a:r>
            <a:r>
              <a:rPr lang="en-US" altLang="zh-CN" sz="1000" b="1" dirty="0">
                <a:latin typeface="+mn-ea"/>
              </a:rPr>
              <a:t>::left) &lt;&lt; </a:t>
            </a:r>
            <a:r>
              <a:rPr lang="en-US" altLang="zh-CN" sz="1000" b="1" dirty="0" err="1">
                <a:latin typeface="+mn-ea"/>
              </a:rPr>
              <a:t>setw</a:t>
            </a:r>
            <a:r>
              <a:rPr lang="en-US" altLang="zh-CN" sz="1000" b="1" dirty="0">
                <a:latin typeface="+mn-ea"/>
              </a:rPr>
              <a:t>(10) &lt;&lt; a &lt;&lt; '#' &lt;&lt; </a:t>
            </a:r>
            <a:r>
              <a:rPr lang="en-US" altLang="zh-CN" sz="1000" b="1" dirty="0" err="1">
                <a:latin typeface="+mn-ea"/>
              </a:rPr>
              <a:t>setw</a:t>
            </a:r>
            <a:r>
              <a:rPr lang="en-US" altLang="zh-CN" sz="1000" b="1" dirty="0">
                <a:latin typeface="+mn-ea"/>
              </a:rPr>
              <a:t>(10) &lt;&lt; a + 1 &lt;&lt; '*' &lt;&lt; </a:t>
            </a:r>
            <a:r>
              <a:rPr lang="en-US" altLang="zh-CN" sz="1000" b="1" dirty="0" err="1">
                <a:latin typeface="+mn-ea"/>
              </a:rPr>
              <a:t>endl</a:t>
            </a:r>
            <a:r>
              <a:rPr lang="en-US" altLang="zh-CN" sz="1000" b="1" dirty="0">
                <a:latin typeface="+mn-ea"/>
              </a:rPr>
              <a:t>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    return 0;</a:t>
            </a:r>
            <a:endParaRPr lang="en-US" altLang="zh-CN" sz="1000" b="1" dirty="0">
              <a:latin typeface="+mn-ea"/>
            </a:endParaRPr>
          </a:p>
          <a:p>
            <a:r>
              <a:rPr lang="en-US" altLang="zh-CN" sz="1000" b="1" dirty="0">
                <a:latin typeface="+mn-ea"/>
              </a:rPr>
              <a:t>}</a:t>
            </a:r>
            <a:endParaRPr lang="en-US" altLang="zh-CN" sz="1000" b="1" dirty="0">
              <a:latin typeface="+mn-ea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2574532" y="4109543"/>
            <a:ext cx="4915306" cy="840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如果想要</a:t>
            </a:r>
            <a:r>
              <a:rPr kumimoji="1" lang="en-US" altLang="zh-CN" sz="1200" b="1" dirty="0">
                <a:latin typeface="+mn-ea"/>
              </a:rPr>
              <a:t>right</a:t>
            </a:r>
            <a:r>
              <a:rPr kumimoji="1" lang="zh-CN" altLang="en-US" sz="1200" b="1" dirty="0">
                <a:latin typeface="+mn-ea"/>
              </a:rPr>
              <a:t>对齐后再</a:t>
            </a:r>
            <a:r>
              <a:rPr kumimoji="1" lang="en-US" altLang="zh-CN" sz="1200" b="1" dirty="0">
                <a:latin typeface="+mn-ea"/>
              </a:rPr>
              <a:t>left</a:t>
            </a:r>
            <a:r>
              <a:rPr kumimoji="1" lang="zh-CN" altLang="en-US" sz="1200" b="1" dirty="0">
                <a:latin typeface="+mn-ea"/>
              </a:rPr>
              <a:t>对齐，需要在两者之间加入一句：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ea"/>
                <a:sym typeface="+mn-ea"/>
              </a:rPr>
              <a:t>cout &lt;&lt; resetiosflags(*);</a:t>
            </a:r>
            <a:r>
              <a:rPr lang="zh-CN" altLang="en-US" sz="1200" b="1" u="sng" dirty="0">
                <a:latin typeface="+mn-ea"/>
                <a:sym typeface="+mn-ea"/>
              </a:rPr>
              <a:t>（括号中</a:t>
            </a:r>
            <a:r>
              <a:rPr lang="en-US" altLang="zh-CN" sz="1200" b="1" u="sng" dirty="0">
                <a:latin typeface="+mn-ea"/>
                <a:sym typeface="+mn-ea"/>
              </a:rPr>
              <a:t>*</a:t>
            </a:r>
            <a:r>
              <a:rPr lang="zh-CN" altLang="en-US" sz="1200" b="1" u="sng" dirty="0">
                <a:latin typeface="+mn-ea"/>
                <a:sym typeface="+mn-ea"/>
              </a:rPr>
              <a:t>为要重置的格式，如</a:t>
            </a:r>
            <a:r>
              <a:rPr lang="en-US" altLang="zh-CN" sz="1200" b="1" u="sng" dirty="0" err="1">
                <a:latin typeface="+mn-ea"/>
                <a:sym typeface="+mn-ea"/>
              </a:rPr>
              <a:t>ios</a:t>
            </a:r>
            <a:r>
              <a:rPr lang="en-US" altLang="zh-CN" sz="1200" b="1" u="sng" dirty="0">
                <a:latin typeface="+mn-ea"/>
                <a:sym typeface="+mn-ea"/>
              </a:rPr>
              <a:t>::left</a:t>
            </a:r>
            <a:r>
              <a:rPr lang="zh-CN" altLang="en-US" sz="1200" b="1" u="sng" dirty="0">
                <a:latin typeface="+mn-ea"/>
                <a:sym typeface="+mn-ea"/>
              </a:rPr>
              <a:t>或</a:t>
            </a:r>
            <a:r>
              <a:rPr lang="en-US" altLang="zh-CN" sz="1200" b="1" u="sng" dirty="0" err="1">
                <a:latin typeface="+mn-ea"/>
                <a:sym typeface="+mn-ea"/>
              </a:rPr>
              <a:t>ios</a:t>
            </a:r>
            <a:r>
              <a:rPr lang="en-US" altLang="zh-CN" sz="1200" b="1" u="sng" dirty="0">
                <a:latin typeface="+mn-ea"/>
                <a:sym typeface="+mn-ea"/>
              </a:rPr>
              <a:t>::</a:t>
            </a:r>
            <a:r>
              <a:rPr lang="en-US" altLang="zh-CN" sz="1200" b="1" u="sng" dirty="0">
                <a:latin typeface="+mn-ea"/>
                <a:cs typeface="Times New Roman" panose="02020603050405020304" pitchFamily="18" charset="0"/>
                <a:sym typeface="+mn-ea"/>
              </a:rPr>
              <a:t>right</a:t>
            </a:r>
            <a:r>
              <a:rPr lang="zh-CN" altLang="en-US" sz="1200" b="1" u="sng" dirty="0">
                <a:latin typeface="+mn-ea"/>
                <a:sym typeface="+mn-ea"/>
              </a:rPr>
              <a:t>）</a:t>
            </a:r>
            <a:endParaRPr kumimoji="1" lang="en-US" altLang="zh-CN" sz="1200" b="1" u="sng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_____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690" y="1605280"/>
            <a:ext cx="3282950" cy="1143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690" y="4542155"/>
            <a:ext cx="3181350" cy="9969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基本要求：从键盘输入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进制数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short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hex &gt;&gt; a;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:" &lt;&lt; 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"hex:" &lt;&lt; hex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"oct:" &lt;&lt; oct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953000" y="1323974"/>
            <a:ext cx="58824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1a2b↙ </a:t>
            </a:r>
            <a:r>
              <a:rPr kumimoji="1" lang="zh-CN" altLang="en-US" sz="1600" b="1" dirty="0">
                <a:latin typeface="+mn-ea"/>
              </a:rPr>
              <a:t>（合理正数）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a1b2↙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 err="1">
                <a:latin typeface="+mn-ea"/>
              </a:rPr>
              <a:t>fffff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-1a2b↙</a:t>
            </a:r>
            <a:r>
              <a:rPr kumimoji="1" lang="zh-CN" altLang="en-US" sz="1600" b="1" dirty="0">
                <a:latin typeface="+mn-ea"/>
              </a:rPr>
              <a:t>（合理负数）</a:t>
            </a: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-</a:t>
            </a:r>
            <a:r>
              <a:rPr kumimoji="1" lang="en-US" altLang="zh-CN" sz="1600" b="1" dirty="0" err="1">
                <a:latin typeface="+mn-ea"/>
              </a:rPr>
              <a:t>fffff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2885" y="1323975"/>
            <a:ext cx="990600" cy="1009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090" y="2586990"/>
            <a:ext cx="1054100" cy="965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540" y="3783330"/>
            <a:ext cx="1009650" cy="1022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885" y="4479290"/>
            <a:ext cx="925830" cy="8705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6365" y="5471795"/>
            <a:ext cx="1022350" cy="9461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基本要求：从键盘输入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进制数（自行构造测试数据）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iomanip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using namespace std;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a;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en-US" altLang="zh-CN" sz="1600" b="1" dirty="0" err="1">
                <a:latin typeface="+mn-ea"/>
              </a:rPr>
              <a:t>setbase</a:t>
            </a:r>
            <a:r>
              <a:rPr lang="en-US" altLang="zh-CN" sz="1600" b="1" dirty="0">
                <a:latin typeface="+mn-ea"/>
              </a:rPr>
              <a:t>(8) &gt;&gt; a;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:" &lt;&lt; </a:t>
            </a:r>
            <a:r>
              <a:rPr lang="en-US" altLang="zh-CN" sz="1600" b="1" dirty="0" err="1">
                <a:latin typeface="+mn-ea"/>
              </a:rPr>
              <a:t>dec</a:t>
            </a:r>
            <a:r>
              <a:rPr lang="en-US" altLang="zh-CN" sz="1600" b="1" dirty="0">
                <a:latin typeface="+mn-ea"/>
              </a:rPr>
              <a:t>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"hex:" &lt;&lt; hex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"oct:" &lt;&lt; oct &lt;&lt; 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953000" y="1323974"/>
            <a:ext cx="588241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__17777777777__</a:t>
            </a:r>
            <a:r>
              <a:rPr kumimoji="1" lang="en-US" altLang="zh-CN" sz="1600" b="1" dirty="0">
                <a:latin typeface="+mn-ea"/>
              </a:rPr>
              <a:t>↙ </a:t>
            </a:r>
            <a:r>
              <a:rPr kumimoji="1" lang="zh-CN" altLang="en-US" sz="1600" b="1" dirty="0">
                <a:latin typeface="+mn-ea"/>
              </a:rPr>
              <a:t>（合理正数）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en-US" altLang="zh-CN" sz="1600" b="1" u="sng" dirty="0">
                <a:latin typeface="+mn-ea"/>
                <a:sym typeface="+mn-ea"/>
              </a:rPr>
              <a:t>20000000000</a:t>
            </a:r>
            <a:r>
              <a:rPr kumimoji="1" lang="en-US" altLang="zh-CN" sz="1600" b="1" dirty="0">
                <a:latin typeface="+mn-ea"/>
              </a:rPr>
              <a:t>__ ↙</a:t>
            </a:r>
            <a:r>
              <a:rPr kumimoji="1" lang="zh-CN" altLang="en-US" sz="1600" b="1" dirty="0">
                <a:latin typeface="+mn-ea"/>
              </a:rPr>
              <a:t> （超上限但未超同类型的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dirty="0">
                <a:latin typeface="+mn-ea"/>
              </a:rPr>
              <a:t>__4</a:t>
            </a:r>
            <a:r>
              <a:rPr kumimoji="1" lang="en-US" altLang="zh-CN" sz="1600" b="1" u="sng" dirty="0">
                <a:latin typeface="+mn-ea"/>
                <a:sym typeface="+mn-ea"/>
              </a:rPr>
              <a:t>0000000000</a:t>
            </a:r>
            <a:r>
              <a:rPr kumimoji="1" lang="en-US" altLang="zh-CN" sz="1600" b="1" dirty="0">
                <a:latin typeface="+mn-ea"/>
              </a:rPr>
              <a:t>__ ↙</a:t>
            </a:r>
            <a:r>
              <a:rPr kumimoji="1" lang="zh-CN" altLang="en-US" sz="1600" b="1" dirty="0">
                <a:latin typeface="+mn-ea"/>
              </a:rPr>
              <a:t> （超上限且超过同类型的</a:t>
            </a:r>
            <a:r>
              <a:rPr kumimoji="1" lang="en-US" altLang="zh-CN" sz="1600" b="1" dirty="0">
                <a:latin typeface="+mn-ea"/>
              </a:rPr>
              <a:t>unsigned</a:t>
            </a:r>
            <a:r>
              <a:rPr kumimoji="1" lang="zh-CN" altLang="en-US" sz="1600" b="1" dirty="0">
                <a:latin typeface="+mn-ea"/>
              </a:rPr>
              <a:t>上限）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__-123__</a:t>
            </a:r>
            <a:r>
              <a:rPr kumimoji="1" lang="en-US" altLang="zh-CN" sz="1600" b="1" dirty="0">
                <a:latin typeface="+mn-ea"/>
              </a:rPr>
              <a:t> ↙</a:t>
            </a:r>
            <a:r>
              <a:rPr kumimoji="1" lang="zh-CN" altLang="en-US" sz="1600" b="1" dirty="0">
                <a:latin typeface="+mn-ea"/>
              </a:rPr>
              <a:t>（合理负数）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5</a:t>
            </a:r>
            <a:r>
              <a:rPr kumimoji="1" lang="zh-CN" altLang="en-US" sz="1600" b="1" dirty="0">
                <a:latin typeface="+mn-ea"/>
              </a:rPr>
              <a:t>、输入：</a:t>
            </a:r>
            <a:r>
              <a:rPr kumimoji="1" lang="en-US" altLang="zh-CN" sz="1600" b="1" u="sng" dirty="0">
                <a:latin typeface="+mn-ea"/>
              </a:rPr>
              <a:t>__-40000000001__</a:t>
            </a:r>
            <a:r>
              <a:rPr kumimoji="1" lang="en-US" altLang="zh-CN" sz="1600" b="1" dirty="0">
                <a:latin typeface="+mn-ea"/>
              </a:rPr>
              <a:t>↙</a:t>
            </a:r>
            <a:r>
              <a:rPr kumimoji="1" lang="zh-CN" altLang="en-US" sz="1600" b="1" dirty="0">
                <a:latin typeface="+mn-ea"/>
              </a:rPr>
              <a:t>（超下限）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2715" y="1125220"/>
            <a:ext cx="1327150" cy="9398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715" y="2337435"/>
            <a:ext cx="1384300" cy="952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8265" y="3562350"/>
            <a:ext cx="1428750" cy="9461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315" y="4617085"/>
            <a:ext cx="1397000" cy="9334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7765" y="5625465"/>
            <a:ext cx="1562100" cy="9715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中使用格式化控制符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格式控制符</a:t>
            </a:r>
            <a:r>
              <a:rPr lang="en-US" altLang="zh-CN" sz="1600" b="1" dirty="0" err="1">
                <a:latin typeface="+mn-ea"/>
              </a:rPr>
              <a:t>setiosflags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ios</a:t>
            </a:r>
            <a:r>
              <a:rPr lang="en-US" altLang="zh-CN" sz="1600" b="1" dirty="0">
                <a:latin typeface="+mn-ea"/>
              </a:rPr>
              <a:t>::</a:t>
            </a:r>
            <a:r>
              <a:rPr lang="en-US" altLang="zh-CN" sz="1600" b="1" dirty="0" err="1">
                <a:latin typeface="+mn-ea"/>
              </a:rPr>
              <a:t>skipws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的使用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92114" y="1323975"/>
            <a:ext cx="2674961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267076" y="1323974"/>
            <a:ext cx="401659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setiosflags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283669" y="1323974"/>
            <a:ext cx="355578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iomanip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a,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cin.unsetf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92113" y="4645572"/>
            <a:ext cx="2674961" cy="18885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12 34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_12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34___________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3267075" y="4645572"/>
            <a:ext cx="4016592" cy="188857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12 34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34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7283667" y="4645571"/>
            <a:ext cx="3555782" cy="18887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假设键盘输入为：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12 34</a:t>
            </a:r>
            <a:r>
              <a:rPr kumimoji="1" lang="en-US" altLang="zh-CN" sz="1600" b="1" dirty="0">
                <a:latin typeface="宋体" panose="02010600030101010101" pitchFamily="2" charset="-122"/>
              </a:rPr>
              <a:t>↙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12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0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592112" y="5423338"/>
            <a:ext cx="10247336" cy="11108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综合以上三个例子可以得到如下结论：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忽略前导空格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的意思，是空格不作为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有效字符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，而是做为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 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分隔符号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（因此导致第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个例子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未取得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34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setiosflags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skipws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在缺省情况下是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的，即不设置也生效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、如果想取消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忽略前导空格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的设置，应使用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en-US" altLang="zh-CN" sz="1600" b="1" u="sng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kumimoji="1" lang="en-US" altLang="zh-CN" sz="1600" b="1" u="sng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cin.unsetf</a:t>
            </a:r>
            <a:r>
              <a:rPr kumimoji="1" lang="en-US" altLang="zh-CN" sz="1600" b="1" u="sng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kumimoji="1" lang="en-US" altLang="zh-CN" sz="1600" b="1" u="sng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ios</a:t>
            </a:r>
            <a:r>
              <a:rPr kumimoji="1" lang="en-US" altLang="zh-CN" sz="1600" b="1" u="sng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::</a:t>
            </a:r>
            <a:r>
              <a:rPr kumimoji="1" lang="en-US" altLang="zh-CN" sz="1600" b="1" u="sng" dirty="0" err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skipws</a:t>
            </a:r>
            <a:r>
              <a:rPr kumimoji="1" lang="en-US" altLang="zh-CN" sz="1600" b="1" u="sng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);</a:t>
            </a:r>
            <a:r>
              <a:rPr kumimoji="1" lang="en-US" altLang="zh-CN" sz="1600" b="1" u="sng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___________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endParaRPr kumimoji="1" lang="en-US" altLang="zh-CN" sz="1600" b="1" u="sng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4110" y="1894840"/>
            <a:ext cx="807085" cy="11493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170" y="3187065"/>
            <a:ext cx="1031240" cy="12274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855" y="3538855"/>
            <a:ext cx="1014730" cy="108521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C++</a:t>
            </a:r>
            <a:r>
              <a:rPr lang="zh-CN" altLang="en-US" sz="2800" b="1" dirty="0">
                <a:latin typeface="+mn-ea"/>
              </a:rPr>
              <a:t>方式输入输出的格式化控制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0.25,&quot;left&quot;:46.62322834645669,&quot;top&quot;:104.24984251968503,&quot;width&quot;:806.5587401574804}"/>
</p:tagLst>
</file>

<file path=ppt/tags/tag2.xml><?xml version="1.0" encoding="utf-8"?>
<p:tagLst xmlns:p="http://schemas.openxmlformats.org/presentationml/2006/main">
  <p:tag name="KSO_WM_DIAGRAM_VIRTUALLY_FRAME" val="{&quot;height&quot;:410.25,&quot;left&quot;:46.62322834645669,&quot;top&quot;:104.24984251968503,&quot;width&quot;:806.5587401574804}"/>
</p:tagLst>
</file>

<file path=ppt/tags/tag3.xml><?xml version="1.0" encoding="utf-8"?>
<p:tagLst xmlns:p="http://schemas.openxmlformats.org/presentationml/2006/main">
  <p:tag name="KSO_WM_DIAGRAM_VIRTUALLY_FRAME" val="{&quot;height&quot;:410.25,&quot;left&quot;:46.62322834645669,&quot;top&quot;:104.24984251968503,&quot;width&quot;:806.5587401574804}"/>
</p:tagLst>
</file>

<file path=ppt/tags/tag4.xml><?xml version="1.0" encoding="utf-8"?>
<p:tagLst xmlns:p="http://schemas.openxmlformats.org/presentationml/2006/main">
  <p:tag name="KSO_WM_DIAGRAM_VIRTUALLY_FRAME" val="{&quot;height&quot;:410.25,&quot;left&quot;:46.62322834645669,&quot;top&quot;:104.24984251968503,&quot;width&quot;:806.5587401574804}"/>
</p:tagLst>
</file>

<file path=ppt/tags/tag5.xml><?xml version="1.0" encoding="utf-8"?>
<p:tagLst xmlns:p="http://schemas.openxmlformats.org/presentationml/2006/main">
  <p:tag name="KSO_WM_DIAGRAM_VIRTUALLY_FRAME" val="{&quot;height&quot;:416.45,&quot;left&quot;:46.191259842519685,&quot;top&quot;:98.05,&quot;width&quot;:807.0087401574804}"/>
</p:tagLst>
</file>

<file path=ppt/tags/tag6.xml><?xml version="1.0" encoding="utf-8"?>
<p:tagLst xmlns:p="http://schemas.openxmlformats.org/presentationml/2006/main">
  <p:tag name="KSO_WM_DIAGRAM_VIRTUALLY_FRAME" val="{&quot;height&quot;:416.45,&quot;left&quot;:46.191259842519685,&quot;top&quot;:98.05,&quot;width&quot;:807.0087401574804}"/>
</p:tagLst>
</file>

<file path=ppt/tags/tag7.xml><?xml version="1.0" encoding="utf-8"?>
<p:tagLst xmlns:p="http://schemas.openxmlformats.org/presentationml/2006/main">
  <p:tag name="KSO_WM_DIAGRAM_VIRTUALLY_FRAME" val="{&quot;height&quot;:416.45,&quot;left&quot;:46.191259842519685,&quot;top&quot;:98.05,&quot;width&quot;:807.0087401574804}"/>
</p:tagLst>
</file>

<file path=ppt/tags/tag8.xml><?xml version="1.0" encoding="utf-8"?>
<p:tagLst xmlns:p="http://schemas.openxmlformats.org/presentationml/2006/main">
  <p:tag name="KSO_WM_DIAGRAM_VIRTUALLY_FRAME" val="{&quot;height&quot;:416.45,&quot;left&quot;:46.191259842519685,&quot;top&quot;:98.05,&quot;width&quot;:807.0087401574804}"/>
</p:tagLst>
</file>

<file path=ppt/tags/tag9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22497</Words>
  <Application>WPS 演示</Application>
  <PresentationFormat>宽屏</PresentationFormat>
  <Paragraphs>1126</Paragraphs>
  <Slides>36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240</cp:revision>
  <dcterms:created xsi:type="dcterms:W3CDTF">2020-08-13T13:39:00Z</dcterms:created>
  <dcterms:modified xsi:type="dcterms:W3CDTF">2024-03-16T15:35:01Z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66BAD0F0FE5E4305BAEA83878DB480DB_12</vt:lpwstr>
  </property>
  <property fmtid="{D5CDD505-2E9C-101B-9397-08002B2CF9AE}" pid="3" name="KSOProductBuildVer">
    <vt:lpwstr>2052-12.1.0.16388</vt:lpwstr>
  </property>
</Properties>
</file>