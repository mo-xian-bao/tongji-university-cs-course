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6" r:id="rId3"/>
    <p:sldId id="1275" r:id="rId5"/>
    <p:sldId id="1237" r:id="rId6"/>
    <p:sldId id="1230" r:id="rId7"/>
    <p:sldId id="1276" r:id="rId8"/>
    <p:sldId id="1076" r:id="rId9"/>
    <p:sldId id="1238" r:id="rId10"/>
    <p:sldId id="492" r:id="rId11"/>
    <p:sldId id="1240" r:id="rId12"/>
    <p:sldId id="1241" r:id="rId13"/>
    <p:sldId id="1248" r:id="rId14"/>
    <p:sldId id="1242" r:id="rId15"/>
    <p:sldId id="1249" r:id="rId16"/>
    <p:sldId id="1250" r:id="rId17"/>
    <p:sldId id="1244" r:id="rId18"/>
    <p:sldId id="1246" r:id="rId19"/>
    <p:sldId id="1245" r:id="rId20"/>
    <p:sldId id="1251" r:id="rId21"/>
    <p:sldId id="520" r:id="rId22"/>
    <p:sldId id="1253" r:id="rId23"/>
    <p:sldId id="1254" r:id="rId24"/>
    <p:sldId id="1265" r:id="rId25"/>
    <p:sldId id="1257" r:id="rId26"/>
    <p:sldId id="1255" r:id="rId27"/>
    <p:sldId id="1259" r:id="rId28"/>
    <p:sldId id="1258" r:id="rId29"/>
    <p:sldId id="1261" r:id="rId30"/>
    <p:sldId id="1262" r:id="rId31"/>
    <p:sldId id="1269" r:id="rId32"/>
    <p:sldId id="1270" r:id="rId33"/>
    <p:sldId id="1267" r:id="rId34"/>
    <p:sldId id="1268" r:id="rId35"/>
    <p:sldId id="1266" r:id="rId36"/>
    <p:sldId id="1273" r:id="rId37"/>
    <p:sldId id="1271" r:id="rId38"/>
    <p:sldId id="1272" r:id="rId39"/>
    <p:sldId id="1274" r:id="rId40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57" autoAdjust="0"/>
  </p:normalViewPr>
  <p:slideViewPr>
    <p:cSldViewPr snapToGrid="0">
      <p:cViewPr varScale="1">
        <p:scale>
          <a:sx n="155" d="100"/>
          <a:sy n="155" d="100"/>
        </p:scale>
        <p:origin x="472" y="1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24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58688-ABC7-453E-BA22-F4813582A5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64EA91-AA2B-41BE-A574-976C7F8796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BF3E9-4CC2-493B-A23D-F9F5DAD626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390DD-0C99-43A2-9CF3-1A84E3C54C8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9EA07-C8E8-4665-81DA-F8AA97A807C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3C32B-E4BA-46A5-BF69-35FA665700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BF182-C675-4BC9-81D4-CCF465CAEDC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92D58-1AC3-4A23-B7F9-A30D8EF4EF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E57AF-6576-4E74-9C99-9873E1BD64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163D1-1ED6-4CC4-B47B-DD6F56C1FF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4CDD7-A086-4F78-BFF3-313ED457E3C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21E16A2B-F58A-4135-8A28-11C3BD506B97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tags" Target="../tags/tag6.xml"/><Relationship Id="rId6" Type="http://schemas.openxmlformats.org/officeDocument/2006/relationships/image" Target="../media/image15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8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image" Target="../media/image53.png"/><Relationship Id="rId7" Type="http://schemas.openxmlformats.org/officeDocument/2006/relationships/tags" Target="../tags/tag12.xml"/><Relationship Id="rId6" Type="http://schemas.openxmlformats.org/officeDocument/2006/relationships/image" Target="../media/image52.png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58.png"/><Relationship Id="rId13" Type="http://schemas.openxmlformats.org/officeDocument/2006/relationships/image" Target="../media/image57.png"/><Relationship Id="rId12" Type="http://schemas.openxmlformats.org/officeDocument/2006/relationships/image" Target="../media/image56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tags" Target="../tags/tag7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8.png"/><Relationship Id="rId7" Type="http://schemas.openxmlformats.org/officeDocument/2006/relationships/tags" Target="../tags/tag19.xml"/><Relationship Id="rId6" Type="http://schemas.openxmlformats.org/officeDocument/2006/relationships/image" Target="../media/image67.png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png"/><Relationship Id="rId8" Type="http://schemas.openxmlformats.org/officeDocument/2006/relationships/image" Target="../media/image76.png"/><Relationship Id="rId7" Type="http://schemas.openxmlformats.org/officeDocument/2006/relationships/image" Target="../media/image75.png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image" Target="../media/image85.png"/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7.png"/><Relationship Id="rId1" Type="http://schemas.openxmlformats.org/officeDocument/2006/relationships/image" Target="../media/image7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png"/><Relationship Id="rId8" Type="http://schemas.openxmlformats.org/officeDocument/2006/relationships/image" Target="../media/image98.png"/><Relationship Id="rId7" Type="http://schemas.openxmlformats.org/officeDocument/2006/relationships/image" Target="../media/image97.png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01.png"/><Relationship Id="rId10" Type="http://schemas.openxmlformats.org/officeDocument/2006/relationships/image" Target="../media/image100.png"/><Relationship Id="rId1" Type="http://schemas.openxmlformats.org/officeDocument/2006/relationships/tags" Target="../tags/tag20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9.png"/><Relationship Id="rId7" Type="http://schemas.openxmlformats.org/officeDocument/2006/relationships/image" Target="../media/image108.png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7.png"/><Relationship Id="rId7" Type="http://schemas.openxmlformats.org/officeDocument/2006/relationships/image" Target="../media/image116.png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4.png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image" Target="../media/image1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6.png"/><Relationship Id="rId1" Type="http://schemas.openxmlformats.org/officeDocument/2006/relationships/image" Target="../media/image12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3.png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21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000" b="1" dirty="0">
                <a:latin typeface="+mn-ea"/>
              </a:rPr>
              <a:t>本次作业特别要求：</a:t>
            </a:r>
            <a:endParaRPr lang="en-US" altLang="zh-CN" sz="2000" b="1" dirty="0">
              <a:latin typeface="+mn-ea"/>
            </a:endParaRPr>
          </a:p>
          <a:p>
            <a:pPr algn="l"/>
            <a:r>
              <a:rPr lang="en-US" altLang="zh-CN" sz="2000" b="1" dirty="0">
                <a:latin typeface="+mn-ea"/>
              </a:rPr>
              <a:t>1</a:t>
            </a:r>
            <a:r>
              <a:rPr lang="zh-CN" altLang="en-US" sz="2000" b="1" dirty="0">
                <a:latin typeface="+mn-ea"/>
              </a:rPr>
              <a:t>、建立解决方案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en-US" sz="2000" b="1" dirty="0">
                <a:latin typeface="+mn-ea"/>
              </a:rPr>
              <a:t>项目</a:t>
            </a:r>
            <a:r>
              <a:rPr lang="en-US" altLang="zh-CN" sz="2000" b="1" dirty="0">
                <a:latin typeface="+mn-ea"/>
              </a:rPr>
              <a:t>-</a:t>
            </a:r>
            <a:r>
              <a:rPr lang="zh-CN" altLang="en-US" sz="2000" b="1" dirty="0">
                <a:latin typeface="+mn-ea"/>
              </a:rPr>
              <a:t>源程序文件时，一定要</a:t>
            </a:r>
            <a:r>
              <a:rPr lang="en-US" altLang="zh-CN" sz="2000" b="1" dirty="0">
                <a:latin typeface="+mn-ea"/>
              </a:rPr>
              <a:t>.c</a:t>
            </a:r>
            <a:r>
              <a:rPr lang="zh-CN" altLang="en-US" sz="2000" b="1" dirty="0">
                <a:latin typeface="+mn-ea"/>
              </a:rPr>
              <a:t>后缀，不要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后缀</a:t>
            </a:r>
            <a:r>
              <a:rPr lang="en-US" altLang="zh-CN" sz="2000" b="1" dirty="0">
                <a:latin typeface="+mn-ea"/>
              </a:rPr>
              <a:t>!!!</a:t>
            </a:r>
            <a:endParaRPr lang="en-US" altLang="zh-CN" sz="2000" b="1" dirty="0">
              <a:latin typeface="+mn-ea"/>
            </a:endParaRPr>
          </a:p>
          <a:p>
            <a:pPr algn="l"/>
            <a:r>
              <a:rPr lang="en-US" altLang="zh-CN" sz="2000" b="1" dirty="0">
                <a:latin typeface="+mn-ea"/>
              </a:rPr>
              <a:t>   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提醒：</a:t>
            </a:r>
            <a:r>
              <a:rPr lang="en-US" altLang="zh-CN" sz="2000" b="1" dirty="0">
                <a:latin typeface="+mn-ea"/>
              </a:rPr>
              <a:t>.c</a:t>
            </a:r>
            <a:r>
              <a:rPr lang="zh-CN" altLang="en-US" sz="2000" b="1" dirty="0">
                <a:latin typeface="+mn-ea"/>
              </a:rPr>
              <a:t>和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的报错表现不同，按</a:t>
            </a:r>
            <a:r>
              <a:rPr lang="en-US" altLang="zh-CN" sz="2000" b="1" dirty="0">
                <a:latin typeface="+mn-ea"/>
              </a:rPr>
              <a:t>.</a:t>
            </a:r>
            <a:r>
              <a:rPr lang="en-US" altLang="zh-CN" sz="2000" b="1" dirty="0" err="1">
                <a:latin typeface="+mn-ea"/>
              </a:rPr>
              <a:t>cpp</a:t>
            </a:r>
            <a:r>
              <a:rPr lang="zh-CN" altLang="en-US" sz="2000" b="1" dirty="0">
                <a:latin typeface="+mn-ea"/>
              </a:rPr>
              <a:t>做会影响分数</a:t>
            </a:r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endParaRPr lang="en-US" altLang="zh-CN" sz="2000" b="1" dirty="0">
              <a:latin typeface="+mn-ea"/>
            </a:endParaRPr>
          </a:p>
          <a:p>
            <a:pPr algn="l"/>
            <a:r>
              <a:rPr lang="en-US" altLang="zh-CN" sz="2000" b="1" dirty="0">
                <a:latin typeface="+mn-ea"/>
              </a:rPr>
              <a:t>2</a:t>
            </a:r>
            <a:r>
              <a:rPr lang="zh-CN" altLang="en-US" sz="2000" b="1" dirty="0">
                <a:latin typeface="+mn-ea"/>
              </a:rPr>
              <a:t>、如果是</a:t>
            </a:r>
            <a:r>
              <a:rPr lang="en-US" altLang="zh-CN" sz="2000" b="1" dirty="0">
                <a:latin typeface="+mn-ea"/>
              </a:rPr>
              <a:t>warning+</a:t>
            </a:r>
            <a:r>
              <a:rPr lang="zh-CN" altLang="en-US" sz="2000" b="1" dirty="0">
                <a:latin typeface="+mn-ea"/>
              </a:rPr>
              <a:t>有结果，则</a:t>
            </a:r>
            <a:r>
              <a:rPr lang="en-US" altLang="zh-CN" sz="2000" b="1" dirty="0">
                <a:latin typeface="+mn-ea"/>
              </a:rPr>
              <a:t>warning+</a:t>
            </a:r>
            <a:r>
              <a:rPr lang="zh-CN" altLang="en-US" sz="2000" b="1" dirty="0">
                <a:latin typeface="+mn-ea"/>
              </a:rPr>
              <a:t>运行结果两者的截图都要</a:t>
            </a:r>
            <a:r>
              <a:rPr lang="en-US" altLang="zh-CN" sz="2000" b="1" dirty="0">
                <a:latin typeface="+mn-ea"/>
              </a:rPr>
              <a:t>!!!</a:t>
            </a:r>
            <a:endParaRPr lang="en-US" altLang="zh-CN" sz="20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833" y="1727078"/>
            <a:ext cx="3733333" cy="41047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977" y="2433002"/>
            <a:ext cx="4906724" cy="33988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zh-CN" altLang="en-US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关于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中使用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时，报</a:t>
            </a:r>
            <a:r>
              <a:rPr lang="en-US" altLang="zh-CN" sz="1600" b="1" dirty="0"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的统一处理方法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更多内容，参考编号为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030105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的附件文档及视频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15" y="1110714"/>
            <a:ext cx="3764671" cy="2306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617" y="1110714"/>
            <a:ext cx="3374468" cy="23182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/>
          <p:cNvSpPr/>
          <p:nvPr/>
        </p:nvSpPr>
        <p:spPr bwMode="auto">
          <a:xfrm>
            <a:off x="6103565" y="3548445"/>
            <a:ext cx="5210980" cy="143456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、如上图两个程序，按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CTRL+F5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可以正确运行，编译结果显示区域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未出现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，但导航栏提示有一个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、点开导航栏后出现一个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、这属于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智能提示（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IntelliSense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）的警告，这种级别的警告暂时忽略，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不需要消除，也不计入会扣分的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的计数项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19014" y="3548445"/>
            <a:ext cx="5295238" cy="2826164"/>
            <a:chOff x="2115305" y="3429000"/>
            <a:chExt cx="5295238" cy="2826164"/>
          </a:xfrm>
        </p:grpSpPr>
        <p:grpSp>
          <p:nvGrpSpPr>
            <p:cNvPr id="2" name="组合 1"/>
            <p:cNvGrpSpPr/>
            <p:nvPr/>
          </p:nvGrpSpPr>
          <p:grpSpPr>
            <a:xfrm>
              <a:off x="2115305" y="3429000"/>
              <a:ext cx="5295238" cy="1434561"/>
              <a:chOff x="2115305" y="3429000"/>
              <a:chExt cx="5295238" cy="1434561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5305" y="3429000"/>
                <a:ext cx="5295238" cy="139047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8" name="矩形 7"/>
              <p:cNvSpPr/>
              <p:nvPr/>
            </p:nvSpPr>
            <p:spPr bwMode="auto">
              <a:xfrm>
                <a:off x="3927412" y="3645024"/>
                <a:ext cx="1944216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导航栏显示有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个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warning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 bwMode="auto">
              <a:xfrm>
                <a:off x="4190628" y="4575529"/>
                <a:ext cx="1944216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编译结果区域无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waring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115305" y="4967376"/>
              <a:ext cx="5295238" cy="1287788"/>
              <a:chOff x="2115305" y="4967376"/>
              <a:chExt cx="5295238" cy="1287788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5305" y="4967376"/>
                <a:ext cx="5295238" cy="128778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4" name="矩形 23"/>
              <p:cNvSpPr/>
              <p:nvPr/>
            </p:nvSpPr>
            <p:spPr bwMode="auto">
              <a:xfrm>
                <a:off x="4786406" y="5722058"/>
                <a:ext cx="2461723" cy="28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点开导航栏后能看到一个</a:t>
                </a:r>
                <a:r>
                  <a:rPr kumimoji="1" lang="en-US" altLang="zh-CN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warning</a:t>
                </a:r>
                <a:endPara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格式控制表列</a:t>
            </a:r>
            <a:r>
              <a:rPr lang="en-US" altLang="zh-CN" sz="1600" b="1" dirty="0">
                <a:latin typeface="+mn-ea"/>
              </a:rPr>
              <a:t>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格式控制表列的内容：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格式说明：以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zh-CN" altLang="en-US" sz="1600" b="1" dirty="0">
                <a:latin typeface="+mn-ea"/>
              </a:rPr>
              <a:t>开始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格式字符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表示按格式输出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普通字符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含转义符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：原样输出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输出表列：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要输出的数据（常量、变量、表达式、函数）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常用的格式符种类：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6" name="Group 3"/>
          <p:cNvGraphicFramePr>
            <a:graphicFrameLocks noGrp="1"/>
          </p:cNvGraphicFramePr>
          <p:nvPr/>
        </p:nvGraphicFramePr>
        <p:xfrm>
          <a:off x="831175" y="3380798"/>
          <a:ext cx="4703440" cy="3017520"/>
        </p:xfrm>
        <a:graphic>
          <a:graphicData uri="http://schemas.openxmlformats.org/drawingml/2006/table">
            <a:tbl>
              <a:tblPr/>
              <a:tblGrid>
                <a:gridCol w="641527"/>
                <a:gridCol w="4061913"/>
              </a:tblGrid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带符号的十进制形式整数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正数不带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八进制无符号形式输出整数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x, X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十六进制无符号形式输出整数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0x)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十进制无符号形式输出整数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以字符形式输出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一个字符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输出字符串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以小数形式输出浮点数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e, 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以指数形式输出浮点数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6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g, G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从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中选择宽度较短的形式输出浮点数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27"/>
          <p:cNvGraphicFramePr>
            <a:graphicFrameLocks noGrp="1"/>
          </p:cNvGraphicFramePr>
          <p:nvPr/>
        </p:nvGraphicFramePr>
        <p:xfrm>
          <a:off x="5874478" y="3380798"/>
          <a:ext cx="4248472" cy="1926352"/>
        </p:xfrm>
        <a:graphic>
          <a:graphicData uri="http://schemas.openxmlformats.org/drawingml/2006/table">
            <a:tbl>
              <a:tblPr/>
              <a:tblGrid>
                <a:gridCol w="1080120"/>
                <a:gridCol w="3168352"/>
              </a:tblGrid>
              <a:tr h="14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表示长整型整数，用于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表示短整型整数，用于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表示输出数据的宽度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5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.n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对浮点数，表示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位小数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对字符串，表示前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个字符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输出左对齐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 bwMode="auto">
          <a:xfrm>
            <a:off x="813999" y="2987098"/>
            <a:ext cx="4712677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74479" y="2987098"/>
            <a:ext cx="4248472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附加格式字符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Welcome\x21\n");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4452270"/>
            <a:ext cx="4147127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运行结果：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\x21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</a:t>
            </a:r>
            <a:r>
              <a:rPr kumimoji="1" lang="zh-CN" altLang="en-US" sz="1600" b="1" dirty="0">
                <a:latin typeface="+mn-ea"/>
              </a:rPr>
              <a:t>哪个</a:t>
            </a:r>
            <a:r>
              <a:rPr kumimoji="1" lang="en-US" altLang="zh-CN" sz="1600" b="1" dirty="0">
                <a:latin typeface="+mn-ea"/>
              </a:rPr>
              <a:t>ASCII</a:t>
            </a:r>
            <a:r>
              <a:rPr kumimoji="1" lang="zh-CN" altLang="en-US" sz="1600" b="1" dirty="0">
                <a:latin typeface="+mn-ea"/>
              </a:rPr>
              <a:t>字符的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进制转义表示？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\x21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  <a:sym typeface="+mn-ea"/>
              </a:rPr>
              <a:t>是</a:t>
            </a:r>
            <a:r>
              <a:rPr kumimoji="1" lang="zh-CN" sz="1600" b="1" dirty="0">
                <a:solidFill>
                  <a:schemeClr val="accent2"/>
                </a:solidFill>
                <a:latin typeface="+mn-ea"/>
                <a:sym typeface="+mn-ea"/>
              </a:rPr>
              <a:t>！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16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进制转义表示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转义符在格式控制表列中的输出形式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是：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转义符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字符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整数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转义符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739241" y="1323975"/>
            <a:ext cx="610020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写出与左侧程序输出完全一致的，用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C++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方式的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实现的代码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贴源码或截图均可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175" y="4351655"/>
            <a:ext cx="1390650" cy="8382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60" y="1937385"/>
            <a:ext cx="5779770" cy="29959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130" y="5152390"/>
            <a:ext cx="1932305" cy="1087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 bwMode="auto">
          <a:xfrm>
            <a:off x="592114" y="4452267"/>
            <a:ext cx="5122140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运行结果：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latin typeface="+mn-ea"/>
              </a:rPr>
              <a:t>结论：如果</a:t>
            </a:r>
            <a:r>
              <a:rPr kumimoji="1" lang="en-US" altLang="zh-CN" sz="1600" b="1" dirty="0">
                <a:latin typeface="+mn-ea"/>
              </a:rPr>
              <a:t>%d(</a:t>
            </a:r>
            <a:r>
              <a:rPr kumimoji="1" lang="zh-CN" altLang="en-US" sz="1600" b="1" dirty="0">
                <a:latin typeface="+mn-ea"/>
              </a:rPr>
              <a:t>格式符的数量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小于</a:t>
            </a:r>
            <a:r>
              <a:rPr kumimoji="1" lang="zh-CN" altLang="en-US" sz="1600" b="1" dirty="0">
                <a:latin typeface="+mn-ea"/>
              </a:rPr>
              <a:t>后面输出表列的数量，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     则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按照格式说明符的数量输出相应的值,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+mn-ea"/>
              </a:rPr>
              <a:t>多余的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输出值将被忽略_</a:t>
            </a:r>
            <a:r>
              <a:rPr kumimoji="1" lang="en-US" altLang="zh-CN" sz="1600" b="1" u="sng" dirty="0">
                <a:latin typeface="+mn-ea"/>
              </a:rPr>
              <a:t>______</a:t>
            </a:r>
            <a:endParaRPr kumimoji="1" lang="zh-CN" altLang="en-US" sz="16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%d 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("Hello, Welcome!\n");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714254" y="4452267"/>
            <a:ext cx="5122140" cy="20818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结论：如果</a:t>
            </a:r>
            <a:r>
              <a:rPr kumimoji="1" lang="en-US" altLang="zh-CN" sz="1600" b="1" dirty="0">
                <a:latin typeface="+mn-ea"/>
              </a:rPr>
              <a:t>%d(</a:t>
            </a:r>
            <a:r>
              <a:rPr kumimoji="1" lang="zh-CN" altLang="en-US" sz="1600" b="1" dirty="0">
                <a:latin typeface="+mn-ea"/>
              </a:rPr>
              <a:t>格式符的数量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大于</a:t>
            </a:r>
            <a:r>
              <a:rPr kumimoji="1" lang="zh-CN" altLang="en-US" sz="1600" b="1" dirty="0">
                <a:latin typeface="+mn-ea"/>
              </a:rPr>
              <a:t>后面输出表列的数量，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     则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按照格式说明符的数量输出相应的值,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+mn-ea"/>
              </a:rPr>
              <a:t>缺少的输出值将随机输出不可信数据</a:t>
            </a:r>
            <a:r>
              <a:rPr kumimoji="1" lang="en-US" altLang="zh-CN" sz="1600" b="1" u="sng" dirty="0">
                <a:latin typeface="+mn-ea"/>
              </a:rPr>
              <a:t>_______</a:t>
            </a:r>
            <a:endParaRPr kumimoji="1" lang="zh-CN" altLang="en-US" sz="1600" b="1" u="sng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38935" y="4451985"/>
            <a:ext cx="2001520" cy="10007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24675" y="4451985"/>
            <a:ext cx="2182495" cy="9283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5080" y="5410200"/>
            <a:ext cx="3136900" cy="3111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5380355"/>
            <a:ext cx="35052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a=10, b=5;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ret1, ret2, ret3, ret4, ret5;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ret1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,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b=%d\n", a, 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ret2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b=%d\n", a, 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跟上面比，少一个逗号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ret3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1000);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ret4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("Hello\n");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ret5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("Hello");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跟上面比，少一个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\n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("\n");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 %d %d %d\n", ret1, ret2, ret3, ret4, ret5);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232073" y="1323975"/>
            <a:ext cx="360737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对运行结果进行分析后，你认为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的返回值的含义是：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printf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的输出的字符数量（包括转义字符）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0" y="1409700"/>
            <a:ext cx="1384300" cy="134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0613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a = -2;</a:t>
            </a:r>
            <a:endParaRPr lang="en-US" altLang="zh-CN" sz="1200" b="1" dirty="0">
              <a:latin typeface="+mn-ea"/>
            </a:endParaRPr>
          </a:p>
          <a:p>
            <a:r>
              <a:rPr lang="pt-BR" altLang="zh-CN" sz="1200" b="1" dirty="0">
                <a:latin typeface="+mn-ea"/>
              </a:rPr>
              <a:t>    printf("a=%hi %hd %hu %ho %hx %hX\n", a, a, a, a, a, a);</a:t>
            </a:r>
            <a:endParaRPr lang="pt-BR" altLang="zh-CN" sz="1200" b="1" dirty="0">
              <a:latin typeface="+mn-ea"/>
            </a:endParaRPr>
          </a:p>
          <a:p>
            <a:r>
              <a:rPr lang="pt-BR" altLang="zh-CN" sz="1200" b="1" dirty="0">
                <a:latin typeface="+mn-ea"/>
              </a:rPr>
              <a:t>    printf("a=%i %d %u %o %x %X\n", a, a, a, a, a, a);</a:t>
            </a:r>
            <a:endParaRPr lang="pt-B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("a=%li %</a:t>
            </a:r>
            <a:r>
              <a:rPr lang="en-US" altLang="zh-CN" sz="1200" b="1" dirty="0" err="1">
                <a:latin typeface="+mn-ea"/>
              </a:rPr>
              <a:t>ld</a:t>
            </a:r>
            <a:r>
              <a:rPr lang="en-US" altLang="zh-CN" sz="1200" b="1" dirty="0">
                <a:latin typeface="+mn-ea"/>
              </a:rPr>
              <a:t> %</a:t>
            </a:r>
            <a:r>
              <a:rPr lang="en-US" altLang="zh-CN" sz="1200" b="1" dirty="0" err="1">
                <a:latin typeface="+mn-ea"/>
              </a:rPr>
              <a:t>lu</a:t>
            </a:r>
            <a:r>
              <a:rPr lang="en-US" altLang="zh-CN" sz="1200" b="1" dirty="0">
                <a:latin typeface="+mn-ea"/>
              </a:rPr>
              <a:t> %lo %lx %</a:t>
            </a:r>
            <a:r>
              <a:rPr lang="en-US" altLang="zh-CN" sz="1200" b="1" dirty="0" err="1">
                <a:latin typeface="+mn-ea"/>
              </a:rPr>
              <a:t>lX</a:t>
            </a:r>
            <a:r>
              <a:rPr lang="en-US" altLang="zh-CN" sz="1200" b="1" dirty="0">
                <a:latin typeface="+mn-ea"/>
              </a:rPr>
              <a:t>\n", a, a, a, a, a, a);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unsigned short b = 40000;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("b=%hi %</a:t>
            </a:r>
            <a:r>
              <a:rPr lang="en-US" altLang="zh-CN" sz="1200" b="1" dirty="0" err="1">
                <a:latin typeface="+mn-ea"/>
              </a:rPr>
              <a:t>hd</a:t>
            </a:r>
            <a:r>
              <a:rPr lang="en-US" altLang="zh-CN" sz="1200" b="1" dirty="0">
                <a:latin typeface="+mn-ea"/>
              </a:rPr>
              <a:t> %hu %ho %hx %</a:t>
            </a:r>
            <a:r>
              <a:rPr lang="en-US" altLang="zh-CN" sz="1200" b="1" dirty="0" err="1">
                <a:latin typeface="+mn-ea"/>
              </a:rPr>
              <a:t>hX</a:t>
            </a:r>
            <a:r>
              <a:rPr lang="en-US" altLang="zh-CN" sz="1200" b="1" dirty="0">
                <a:latin typeface="+mn-ea"/>
              </a:rPr>
              <a:t>\n", b, b, b, b, b, b);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 %d %u %o %x %X\n", b, b, b, b, b, b);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("b=%li %</a:t>
            </a:r>
            <a:r>
              <a:rPr lang="en-US" altLang="zh-CN" sz="1200" b="1" dirty="0" err="1">
                <a:latin typeface="+mn-ea"/>
              </a:rPr>
              <a:t>ld</a:t>
            </a:r>
            <a:r>
              <a:rPr lang="en-US" altLang="zh-CN" sz="1200" b="1" dirty="0">
                <a:latin typeface="+mn-ea"/>
              </a:rPr>
              <a:t> %</a:t>
            </a:r>
            <a:r>
              <a:rPr lang="en-US" altLang="zh-CN" sz="1200" b="1" dirty="0" err="1">
                <a:latin typeface="+mn-ea"/>
              </a:rPr>
              <a:t>lu</a:t>
            </a:r>
            <a:r>
              <a:rPr lang="en-US" altLang="zh-CN" sz="1200" b="1" dirty="0">
                <a:latin typeface="+mn-ea"/>
              </a:rPr>
              <a:t> %lo %lx %</a:t>
            </a:r>
            <a:r>
              <a:rPr lang="en-US" altLang="zh-CN" sz="1200" b="1" dirty="0" err="1">
                <a:latin typeface="+mn-ea"/>
              </a:rPr>
              <a:t>lX</a:t>
            </a:r>
            <a:r>
              <a:rPr lang="en-US" altLang="zh-CN" sz="1200" b="1" dirty="0">
                <a:latin typeface="+mn-ea"/>
              </a:rPr>
              <a:t>\n", b, b, b, b, b, b);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c = 70000;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("c=%hi %</a:t>
            </a:r>
            <a:r>
              <a:rPr lang="en-US" altLang="zh-CN" sz="1200" b="1" dirty="0" err="1">
                <a:latin typeface="+mn-ea"/>
              </a:rPr>
              <a:t>hd</a:t>
            </a:r>
            <a:r>
              <a:rPr lang="en-US" altLang="zh-CN" sz="1200" b="1" dirty="0">
                <a:latin typeface="+mn-ea"/>
              </a:rPr>
              <a:t> %hu %ho %hx %</a:t>
            </a:r>
            <a:r>
              <a:rPr lang="en-US" altLang="zh-CN" sz="1200" b="1" dirty="0" err="1">
                <a:latin typeface="+mn-ea"/>
              </a:rPr>
              <a:t>hX</a:t>
            </a:r>
            <a:r>
              <a:rPr lang="en-US" altLang="zh-CN" sz="1200" b="1" dirty="0">
                <a:latin typeface="+mn-ea"/>
              </a:rPr>
              <a:t>\n", c, c, c, c, c, c);</a:t>
            </a:r>
            <a:endParaRPr lang="en-US" altLang="zh-CN" sz="1200" b="1" dirty="0">
              <a:latin typeface="+mn-ea"/>
            </a:endParaRPr>
          </a:p>
          <a:p>
            <a:r>
              <a:rPr lang="pt-BR" altLang="zh-CN" sz="1200" b="1" dirty="0">
                <a:latin typeface="+mn-ea"/>
              </a:rPr>
              <a:t>    printf("c=%i %d %u %o %x %X\n", c, c, c, c, c, c);</a:t>
            </a:r>
            <a:endParaRPr lang="pt-BR" altLang="zh-CN" sz="1200" b="1" dirty="0">
              <a:latin typeface="+mn-ea"/>
            </a:endParaRPr>
          </a:p>
          <a:p>
            <a:r>
              <a:rPr lang="it-IT" altLang="zh-CN" sz="1200" b="1" dirty="0">
                <a:latin typeface="+mn-ea"/>
              </a:rPr>
              <a:t>    printf("c=%li %ld %lu %lo %lx %lX\n", c, c, c, c, c, c);</a:t>
            </a:r>
            <a:endParaRPr lang="it-IT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653454" y="1323972"/>
            <a:ext cx="51829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附加控制符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的作用：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使输出格式为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长整型（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long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型）整数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附加控制符</a:t>
            </a:r>
            <a:r>
              <a:rPr kumimoji="1" lang="en-US" altLang="zh-CN" sz="1600" b="1" dirty="0">
                <a:latin typeface="+mn-ea"/>
              </a:rPr>
              <a:t>h</a:t>
            </a:r>
            <a:r>
              <a:rPr kumimoji="1" lang="zh-CN" altLang="en-US" sz="1600" b="1" dirty="0">
                <a:latin typeface="+mn-ea"/>
              </a:rPr>
              <a:t>的作用：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使输出格式为短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整型（</a:t>
            </a:r>
            <a:r>
              <a:rPr kumimoji="1" lang="en-US" altLang="zh-CN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short</a:t>
            </a:r>
            <a:r>
              <a:rPr kumimoji="1" lang="zh-CN" altLang="en-US" sz="1600" b="1" dirty="0">
                <a:ln>
                  <a:noFill/>
                </a:ln>
                <a:solidFill>
                  <a:schemeClr val="accent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型）整数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★ 在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方式中，如果要输出的数据类型与格式控制符的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类型不一致，则以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格式控制符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数据类型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格式控制符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为准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提醒：先看清楚，是字母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l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还是数字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880" y="1323975"/>
            <a:ext cx="3260725" cy="14617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323975"/>
            <a:ext cx="4930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 = 70000;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ld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("a=%10ld*\n",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("a=%-10ld*\n\n",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("a=%10d*\n",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("a=%10d*\n", -a);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("a=%-10d*\n\n",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    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("a=%-10d*\n", -a);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("a=%10hd*\n",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("a=%-10hd*\n\n",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21960" y="1323975"/>
            <a:ext cx="636587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ld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长整型带符号十进制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%10ld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长整型带符号十进制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u="sng" dirty="0">
                <a:latin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右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%-10ld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长整型带符号十进制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u="sng" dirty="0">
                <a:latin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左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%d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带符号十进制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带符号十进制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u="sng" dirty="0">
                <a:latin typeface="+mn-ea"/>
                <a:sym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右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带符号十进制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u="sng" dirty="0">
                <a:latin typeface="+mn-ea"/>
                <a:sym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左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hd</a:t>
            </a: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短整型带符号十进制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类型的数据类型输出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%10hd 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短整型带符号十进制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u="sng" dirty="0">
                <a:latin typeface="+mn-ea"/>
                <a:sym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右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%-10hd</a:t>
            </a:r>
            <a:r>
              <a:rPr kumimoji="1" lang="zh-CN" altLang="en-US" sz="1600" b="1" dirty="0">
                <a:latin typeface="+mn-ea"/>
              </a:rPr>
              <a:t>：以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短整型带符号十进制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类型输出，总宽度</a:t>
            </a:r>
            <a:r>
              <a:rPr kumimoji="1" lang="en-US" altLang="zh-CN" sz="1600" b="1" u="sng" dirty="0">
                <a:latin typeface="+mn-ea"/>
                <a:sym typeface="+mn-ea"/>
              </a:rPr>
              <a:t>_10_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u="sng" dirty="0">
                <a:latin typeface="+mn-ea"/>
                <a:sym typeface="+mn-ea"/>
              </a:rPr>
              <a:t>左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如果输出负数且指定宽度，负号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占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占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总宽度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835" y="549275"/>
            <a:ext cx="1355725" cy="2265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 = 123.456f;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0.123456789f;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123456789.0f;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("f=%G\n\n", f);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kumimoji="1" lang="zh-CN" altLang="en-US" sz="10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365" y="1323975"/>
            <a:ext cx="62572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小数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科学计数法（指数）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形式输出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：将浮点数以十进制的</a:t>
            </a:r>
            <a:r>
              <a:rPr kumimoji="1" lang="en-US" altLang="zh-CN" sz="1600" b="1" u="sng" dirty="0">
                <a:latin typeface="+mn-ea"/>
                <a:sym typeface="+mn-ea"/>
              </a:rPr>
              <a:t>__</a:t>
            </a:r>
            <a:r>
              <a:rPr kumimoji="1" lang="zh-CN" altLang="en-US" sz="1600" b="1" u="sng" dirty="0">
                <a:latin typeface="+mn-ea"/>
                <a:sym typeface="+mn-ea"/>
              </a:rPr>
              <a:t>科学计数法（指数）</a:t>
            </a:r>
            <a:r>
              <a:rPr kumimoji="1" lang="en-US" altLang="zh-CN" sz="1600" b="1" u="sng" dirty="0">
                <a:latin typeface="+mn-ea"/>
                <a:sym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形式输出，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%E</a:t>
            </a:r>
            <a:r>
              <a:rPr kumimoji="1" lang="zh-CN" altLang="en-US" sz="1600" b="1" dirty="0">
                <a:latin typeface="+mn-ea"/>
              </a:rPr>
              <a:t>的区别是</a:t>
            </a:r>
            <a:r>
              <a:rPr kumimoji="1" lang="en-US" altLang="zh-CN" sz="1600" b="1" u="sng" dirty="0">
                <a:latin typeface="+mn-ea"/>
              </a:rPr>
              <a:t>__输出结果中的指数部分的大小写</a:t>
            </a:r>
            <a:r>
              <a:rPr kumimoji="1" lang="zh-CN" altLang="en-US" sz="1600" b="1" u="sng" dirty="0">
                <a:latin typeface="+mn-ea"/>
              </a:rPr>
              <a:t>不同，</a:t>
            </a:r>
            <a:r>
              <a:rPr kumimoji="1" lang="en-US" altLang="zh-CN" sz="1600" b="1" u="sng" dirty="0">
                <a:latin typeface="+mn-ea"/>
                <a:sym typeface="+mn-ea"/>
              </a:rPr>
              <a:t>%e</a:t>
            </a:r>
            <a:r>
              <a:rPr kumimoji="1" lang="zh-CN" altLang="en-US" sz="1600" b="1" u="sng" dirty="0">
                <a:latin typeface="+mn-ea"/>
                <a:sym typeface="+mn-ea"/>
              </a:rPr>
              <a:t>的指数是小写的</a:t>
            </a:r>
            <a:r>
              <a:rPr kumimoji="1" lang="en-US" altLang="zh-CN" sz="1600" b="1" u="sng" dirty="0">
                <a:latin typeface="+mn-ea"/>
                <a:sym typeface="+mn-ea"/>
              </a:rPr>
              <a:t>e</a:t>
            </a:r>
            <a:r>
              <a:rPr kumimoji="1" lang="zh-CN" altLang="en-US" sz="1600" b="1" u="sng" dirty="0">
                <a:latin typeface="+mn-ea"/>
                <a:sym typeface="+mn-ea"/>
              </a:rPr>
              <a:t>，</a:t>
            </a:r>
            <a:r>
              <a:rPr kumimoji="1" lang="en-US" altLang="zh-CN" sz="1600" b="1" u="sng" dirty="0">
                <a:latin typeface="+mn-ea"/>
                <a:sym typeface="+mn-ea"/>
              </a:rPr>
              <a:t>%E</a:t>
            </a:r>
            <a:r>
              <a:rPr kumimoji="1" lang="zh-CN" altLang="en-US" sz="1600" b="1" u="sng" dirty="0">
                <a:latin typeface="+mn-ea"/>
                <a:sym typeface="+mn-ea"/>
              </a:rPr>
              <a:t>的指数是大写的</a:t>
            </a:r>
            <a:r>
              <a:rPr kumimoji="1" lang="en-US" altLang="zh-CN" sz="1600" b="1" u="sng" dirty="0">
                <a:latin typeface="+mn-ea"/>
                <a:sym typeface="+mn-ea"/>
              </a:rPr>
              <a:t>E</a:t>
            </a:r>
            <a:r>
              <a:rPr kumimoji="1" lang="zh-CN" altLang="en-US" sz="1600" b="1" u="sng" dirty="0">
                <a:latin typeface="+mn-ea"/>
                <a:sym typeface="+mn-ea"/>
              </a:rPr>
              <a:t>。</a:t>
            </a:r>
            <a:r>
              <a:rPr kumimoji="1" lang="en-US" altLang="zh-CN" sz="1600" b="1" u="sng" dirty="0">
                <a:latin typeface="+mn-ea"/>
              </a:rPr>
              <a:t>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%g/%G</a:t>
            </a:r>
            <a:r>
              <a:rPr kumimoji="1" lang="zh-CN" altLang="en-US" sz="1600" b="1" dirty="0">
                <a:latin typeface="+mn-ea"/>
              </a:rPr>
              <a:t>：输出形式为</a:t>
            </a:r>
            <a:r>
              <a:rPr kumimoji="1" lang="en-US" altLang="zh-CN" sz="1600" b="1" u="sng" dirty="0">
                <a:latin typeface="+mn-ea"/>
              </a:rPr>
              <a:t> </a:t>
            </a:r>
            <a:r>
              <a:rPr kumimoji="1" lang="zh-CN" altLang="en-US" sz="1600" b="1" u="sng" dirty="0">
                <a:ln>
                  <a:noFill/>
                </a:ln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从</a:t>
            </a:r>
            <a:r>
              <a:rPr kumimoji="1" lang="en-US" altLang="zh-CN" sz="1600" b="1" u="sng" dirty="0">
                <a:ln>
                  <a:noFill/>
                </a:ln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</a:t>
            </a:r>
            <a:r>
              <a:rPr kumimoji="1" lang="zh-CN" altLang="en-US" sz="1600" b="1" u="sng" dirty="0">
                <a:ln>
                  <a:noFill/>
                </a:ln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kumimoji="1" lang="en-US" altLang="zh-CN" sz="1600" b="1" u="sng" dirty="0">
                <a:ln>
                  <a:noFill/>
                </a:ln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e/E</a:t>
            </a:r>
            <a:r>
              <a:rPr kumimoji="1" lang="zh-CN" altLang="en-US" sz="1600" b="1" u="sng" dirty="0">
                <a:ln>
                  <a:noFill/>
                </a:ln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中选择宽度较短的形式输出浮点数</a:t>
            </a:r>
            <a:r>
              <a:rPr kumimoji="1" lang="en-US" altLang="zh-CN" sz="1600" b="1" u="sng" dirty="0">
                <a:latin typeface="+mn-ea"/>
              </a:rPr>
              <a:t>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★ 仔细观察并叙述清楚，如果觉得左例还不足以理解，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可以自己再构造测试数据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%g/%G</a:t>
            </a:r>
            <a:r>
              <a:rPr kumimoji="1" lang="zh-CN" altLang="en-US" sz="1600" b="1" dirty="0">
                <a:latin typeface="+mn-ea"/>
              </a:rPr>
              <a:t>：输出形式的差别为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如果选择</a:t>
            </a:r>
            <a:r>
              <a:rPr kumimoji="1" lang="en-US" altLang="zh-CN" sz="1600" b="1" u="sng" dirty="0">
                <a:latin typeface="+mn-ea"/>
              </a:rPr>
              <a:t>e/E</a:t>
            </a:r>
            <a:r>
              <a:rPr kumimoji="1" lang="zh-CN" altLang="en-US" sz="1600" b="1" u="sng" dirty="0">
                <a:latin typeface="+mn-ea"/>
              </a:rPr>
              <a:t>的形式输出，差别为</a:t>
            </a:r>
            <a:r>
              <a:rPr kumimoji="1" lang="en-US" altLang="zh-CN" sz="1600" b="1" u="sng" dirty="0">
                <a:latin typeface="+mn-ea"/>
                <a:sym typeface="+mn-ea"/>
              </a:rPr>
              <a:t>%g</a:t>
            </a:r>
            <a:r>
              <a:rPr kumimoji="1" lang="zh-CN" altLang="en-US" sz="1600" b="1" u="sng" dirty="0">
                <a:latin typeface="+mn-ea"/>
                <a:sym typeface="+mn-ea"/>
              </a:rPr>
              <a:t>以</a:t>
            </a:r>
            <a:r>
              <a:rPr kumimoji="1" lang="en-US" altLang="zh-CN" sz="1600" b="1" u="sng" dirty="0">
                <a:latin typeface="+mn-ea"/>
                <a:sym typeface="+mn-ea"/>
              </a:rPr>
              <a:t>%e</a:t>
            </a:r>
            <a:r>
              <a:rPr kumimoji="1" lang="zh-CN" altLang="en-US" sz="1600" b="1" u="sng" dirty="0">
                <a:latin typeface="+mn-ea"/>
                <a:sym typeface="+mn-ea"/>
              </a:rPr>
              <a:t>形式输出，</a:t>
            </a:r>
            <a:r>
              <a:rPr kumimoji="1" lang="en-US" altLang="zh-CN" sz="1600" b="1" u="sng" dirty="0">
                <a:latin typeface="+mn-ea"/>
                <a:sym typeface="+mn-ea"/>
              </a:rPr>
              <a:t>%G</a:t>
            </a:r>
            <a:r>
              <a:rPr kumimoji="1" lang="zh-CN" altLang="en-US" sz="1600" b="1" u="sng" dirty="0">
                <a:latin typeface="+mn-ea"/>
                <a:sym typeface="+mn-ea"/>
              </a:rPr>
              <a:t>以</a:t>
            </a:r>
            <a:r>
              <a:rPr kumimoji="1" lang="en-US" altLang="zh-CN" sz="1600" b="1" u="sng" dirty="0">
                <a:latin typeface="+mn-ea"/>
                <a:sym typeface="+mn-ea"/>
              </a:rPr>
              <a:t>%E</a:t>
            </a:r>
            <a:r>
              <a:rPr kumimoji="1" lang="zh-CN" altLang="en-US" sz="1600" b="1" u="sng" dirty="0">
                <a:latin typeface="+mn-ea"/>
                <a:sym typeface="+mn-ea"/>
              </a:rPr>
              <a:t>形式输出</a:t>
            </a:r>
            <a:r>
              <a:rPr kumimoji="1" lang="en-US" altLang="zh-CN" sz="1600" b="1" u="sng" dirty="0">
                <a:latin typeface="+mn-ea"/>
              </a:rPr>
              <a:t>__</a:t>
            </a:r>
            <a:endParaRPr kumimoji="1" lang="en-US" altLang="zh-CN" sz="1600" b="1" u="sng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315" y="740410"/>
            <a:ext cx="1365885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stdio.h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double f = 123.456;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0.123456789;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 = 123456789.0;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("f=%f\n",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</a:t>
            </a:r>
            <a:r>
              <a:rPr lang="en-US" altLang="zh-CN" sz="1200" b="1" dirty="0" err="1">
                <a:latin typeface="+mn-ea"/>
              </a:rPr>
              <a:t>lf</a:t>
            </a:r>
            <a:r>
              <a:rPr lang="en-US" altLang="zh-CN" sz="1200" b="1" dirty="0">
                <a:latin typeface="+mn-ea"/>
              </a:rPr>
              <a:t>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("f=%le\n",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("f=%g\n",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printf</a:t>
            </a:r>
            <a:r>
              <a:rPr lang="en-US" altLang="zh-CN" sz="1200" b="1" dirty="0">
                <a:latin typeface="+mn-ea"/>
              </a:rPr>
              <a:t>("f=%lg\n\n", f);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数据：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、格式符</a:t>
            </a:r>
            <a:r>
              <a:rPr kumimoji="1" lang="en-US" altLang="zh-CN" sz="1600" b="1" dirty="0">
                <a:latin typeface="+mn-ea"/>
              </a:rPr>
              <a:t>%f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zh-CN" altLang="en-US" sz="1600" b="1" dirty="0">
                <a:latin typeface="+mn-ea"/>
              </a:rPr>
              <a:t>是否有区别？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</a:t>
            </a:r>
            <a:r>
              <a:rPr kumimoji="1" lang="zh-CN" sz="1600" b="1" dirty="0">
                <a:solidFill>
                  <a:schemeClr val="accent2"/>
                </a:solidFill>
                <a:latin typeface="+mn-ea"/>
              </a:rPr>
              <a:t>没有区别。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、如何证明你给出的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的结论？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提示：三组数据的哪组能证明？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答：第一组数据证明，对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数据，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格式符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%f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%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lf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的输出结果是相同的。</a:t>
            </a:r>
            <a:endParaRPr kumimoji="1" lang="zh-CN" altLang="en-US" sz="1600" b="1" dirty="0" err="1">
              <a:solidFill>
                <a:schemeClr val="accent2"/>
              </a:solidFill>
              <a:latin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2440" y="678180"/>
            <a:ext cx="1248410" cy="26504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#include &lt;</a:t>
            </a:r>
            <a:r>
              <a:rPr kumimoji="1" lang="en-US" altLang="zh-CN" sz="1200" b="1" dirty="0" err="1">
                <a:latin typeface="+mn-ea"/>
              </a:rPr>
              <a:t>stdio.h</a:t>
            </a:r>
            <a:r>
              <a:rPr kumimoji="1" lang="en-US" altLang="zh-CN" sz="1200" b="1" dirty="0">
                <a:latin typeface="+mn-ea"/>
              </a:rPr>
              <a:t>&gt;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int main()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{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double f = 123456.789;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("f=%f*\n",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("f=%.2f*\n",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("f=%10.2f*\n",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("f=%-10.2f*\n\n",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("f=%e*\n",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("f=%.2e*\n",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("f=%10.2e*\n",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("f=%-10.2e*\n\n",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("f=%g*\n",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("f=%.2g*\n",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("f=%.3g*\n",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("f=%10.2g*\n", -f);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("f=%10.3g*\n",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("f=%-10.2g*\n", -f);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en-US" altLang="zh-CN" sz="1200" b="1" dirty="0">
                <a:latin typeface="+mn-ea"/>
              </a:rPr>
              <a:t>("f=%-10.3g*\n", f);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return 0;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}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  <a:endParaRPr kumimoji="1" lang="zh-CN" altLang="en-US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运行结果：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参考</a:t>
            </a:r>
            <a:r>
              <a:rPr kumimoji="1" lang="en-US" altLang="zh-CN" sz="1200" b="1" dirty="0" err="1">
                <a:latin typeface="+mn-ea"/>
              </a:rPr>
              <a:t>printf</a:t>
            </a:r>
            <a:r>
              <a:rPr kumimoji="1" lang="zh-CN" altLang="en-US" sz="1200" b="1" dirty="0">
                <a:latin typeface="+mn-ea"/>
              </a:rPr>
              <a:t>的格式控制符和附加格式控制符，给出解释：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%10.2f 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u="sng" dirty="0">
                <a:latin typeface="+mn-ea"/>
              </a:rPr>
              <a:t>___</a:t>
            </a:r>
            <a:r>
              <a:rPr kumimoji="1" lang="zh-CN" altLang="en-US" sz="1200" b="1" u="sng" dirty="0">
                <a:latin typeface="+mn-ea"/>
              </a:rPr>
              <a:t>小数浮点数</a:t>
            </a:r>
            <a:r>
              <a:rPr kumimoji="1" lang="en-US" altLang="zh-CN" sz="1200" b="1" u="sng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u="sng" dirty="0">
                <a:latin typeface="+mn-ea"/>
              </a:rPr>
              <a:t>__10_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u="sng" dirty="0">
                <a:latin typeface="+mn-ea"/>
              </a:rPr>
              <a:t>__</a:t>
            </a:r>
            <a:r>
              <a:rPr kumimoji="1" lang="zh-CN" altLang="en-US" sz="1200" b="1" u="sng" dirty="0">
                <a:latin typeface="+mn-ea"/>
              </a:rPr>
              <a:t>右</a:t>
            </a:r>
            <a:r>
              <a:rPr kumimoji="1" lang="en-US" altLang="zh-CN" sz="1200" b="1" u="sng" dirty="0">
                <a:latin typeface="+mn-ea"/>
              </a:rPr>
              <a:t>__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%-10.2f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u="sng" dirty="0">
                <a:latin typeface="+mn-ea"/>
                <a:sym typeface="+mn-ea"/>
              </a:rPr>
              <a:t>___</a:t>
            </a:r>
            <a:r>
              <a:rPr kumimoji="1" lang="zh-CN" altLang="en-US" sz="1200" b="1" u="sng" dirty="0">
                <a:latin typeface="+mn-ea"/>
                <a:sym typeface="+mn-ea"/>
              </a:rPr>
              <a:t>小数浮点数</a:t>
            </a:r>
            <a:r>
              <a:rPr kumimoji="1" lang="en-US" altLang="zh-CN" sz="1200" b="1" u="sng" dirty="0">
                <a:latin typeface="+mn-ea"/>
                <a:sym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en-US" altLang="zh-CN" sz="1200" b="1" u="sng" dirty="0">
                <a:latin typeface="+mn-ea"/>
              </a:rPr>
              <a:t>_10_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</a:t>
            </a:r>
            <a:r>
              <a:rPr kumimoji="1" lang="zh-CN" altLang="en-US" sz="1200" b="1" u="sng" dirty="0">
                <a:latin typeface="+mn-ea"/>
              </a:rPr>
              <a:t>左</a:t>
            </a:r>
            <a:r>
              <a:rPr kumimoji="1" lang="en-US" altLang="zh-CN" sz="1200" b="1" u="sng" dirty="0">
                <a:latin typeface="+mn-ea"/>
              </a:rPr>
              <a:t>_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%10.2e 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u="sng" dirty="0">
                <a:latin typeface="+mn-ea"/>
                <a:sym typeface="+mn-ea"/>
              </a:rPr>
              <a:t>___</a:t>
            </a:r>
            <a:r>
              <a:rPr kumimoji="1" lang="zh-CN" altLang="en-US" sz="1200" b="1" u="sng" dirty="0">
                <a:latin typeface="+mn-ea"/>
                <a:sym typeface="+mn-ea"/>
              </a:rPr>
              <a:t>指数浮点数</a:t>
            </a:r>
            <a:r>
              <a:rPr kumimoji="1" lang="en-US" altLang="zh-CN" sz="1200" b="1" u="sng" dirty="0">
                <a:latin typeface="+mn-ea"/>
                <a:sym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en-US" altLang="zh-CN" sz="1200" b="1" u="sng" dirty="0">
                <a:latin typeface="+mn-ea"/>
              </a:rPr>
              <a:t>_10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u="sng" dirty="0">
                <a:latin typeface="+mn-ea"/>
              </a:rPr>
              <a:t>_2__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</a:t>
            </a:r>
            <a:r>
              <a:rPr kumimoji="1" lang="zh-CN" altLang="en-US" sz="1200" b="1" u="sng" dirty="0">
                <a:latin typeface="+mn-ea"/>
              </a:rPr>
              <a:t>右</a:t>
            </a:r>
            <a:r>
              <a:rPr kumimoji="1" lang="en-US" altLang="zh-CN" sz="1200" b="1" u="sng" dirty="0">
                <a:latin typeface="+mn-ea"/>
              </a:rPr>
              <a:t>_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%-10.2e</a:t>
            </a:r>
            <a:r>
              <a:rPr kumimoji="1" lang="zh-CN" altLang="en-US" sz="1200" b="1" dirty="0">
                <a:latin typeface="+mn-ea"/>
              </a:rPr>
              <a:t>：以</a:t>
            </a:r>
            <a:r>
              <a:rPr kumimoji="1" lang="en-US" altLang="zh-CN" sz="1200" b="1" u="sng" dirty="0">
                <a:latin typeface="+mn-ea"/>
                <a:sym typeface="+mn-ea"/>
              </a:rPr>
              <a:t>___</a:t>
            </a:r>
            <a:r>
              <a:rPr kumimoji="1" lang="zh-CN" altLang="en-US" sz="1200" b="1" u="sng" dirty="0">
                <a:latin typeface="+mn-ea"/>
                <a:sym typeface="+mn-ea"/>
              </a:rPr>
              <a:t>指数浮点数</a:t>
            </a:r>
            <a:r>
              <a:rPr kumimoji="1" lang="en-US" altLang="zh-CN" sz="1200" b="1" u="sng" dirty="0">
                <a:latin typeface="+mn-ea"/>
                <a:sym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类型输出，总宽度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en-US" altLang="zh-CN" sz="1200" b="1" u="sng" dirty="0">
                <a:latin typeface="+mn-ea"/>
              </a:rPr>
              <a:t>_10_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zh-CN" altLang="en-US" sz="1200" b="1" dirty="0">
                <a:latin typeface="+mn-ea"/>
              </a:rPr>
              <a:t>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</a:t>
            </a:r>
            <a:r>
              <a:rPr kumimoji="1" lang="zh-CN" altLang="en-US" sz="1200" b="1" dirty="0">
                <a:latin typeface="+mn-ea"/>
              </a:rPr>
              <a:t>小数点后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位，</a:t>
            </a:r>
            <a:r>
              <a:rPr kumimoji="1" lang="en-US" altLang="zh-CN" sz="1200" b="1" u="sng" dirty="0">
                <a:latin typeface="+mn-ea"/>
              </a:rPr>
              <a:t>__</a:t>
            </a:r>
            <a:r>
              <a:rPr kumimoji="1" lang="zh-CN" altLang="en-US" sz="1200" b="1" u="sng" dirty="0">
                <a:latin typeface="+mn-ea"/>
              </a:rPr>
              <a:t>左</a:t>
            </a:r>
            <a:r>
              <a:rPr kumimoji="1" lang="en-US" altLang="zh-CN" sz="1200" b="1" u="sng" dirty="0">
                <a:latin typeface="+mn-ea"/>
              </a:rPr>
              <a:t>_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对齐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atin typeface="+mn-ea"/>
              </a:rPr>
              <a:t>对</a:t>
            </a:r>
            <a:r>
              <a:rPr lang="en-US" altLang="zh-CN" sz="1200" b="1" dirty="0">
                <a:latin typeface="+mn-ea"/>
              </a:rPr>
              <a:t>%f</a:t>
            </a:r>
            <a:r>
              <a:rPr lang="zh-CN" altLang="en-US" sz="1200" b="1" dirty="0">
                <a:latin typeface="+mn-ea"/>
              </a:rPr>
              <a:t>和</a:t>
            </a:r>
            <a:r>
              <a:rPr lang="en-US" altLang="zh-CN" sz="1200" b="1" dirty="0">
                <a:latin typeface="+mn-ea"/>
              </a:rPr>
              <a:t>%e</a:t>
            </a:r>
            <a:r>
              <a:rPr lang="zh-CN" altLang="en-US" sz="1200" b="1" dirty="0">
                <a:latin typeface="+mn-ea"/>
              </a:rPr>
              <a:t>而言，指定的总宽度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zh-CN" altLang="en-US" sz="1200" b="1" dirty="0">
                <a:latin typeface="+mn-ea"/>
              </a:rPr>
              <a:t>包含</a:t>
            </a:r>
            <a:r>
              <a:rPr lang="en-US" altLang="zh-CN" sz="1200" b="1" dirty="0">
                <a:latin typeface="+mn-ea"/>
              </a:rPr>
              <a:t>__(</a:t>
            </a:r>
            <a:r>
              <a:rPr lang="zh-CN" altLang="en-US" sz="1200" b="1" dirty="0">
                <a:latin typeface="+mn-ea"/>
              </a:rPr>
              <a:t>包含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不包含</a:t>
            </a:r>
            <a:r>
              <a:rPr lang="en-US" altLang="zh-CN" sz="1200" b="1" dirty="0">
                <a:latin typeface="+mn-ea"/>
              </a:rPr>
              <a:t>)</a:t>
            </a:r>
            <a:r>
              <a:rPr lang="zh-CN" altLang="en-US" sz="1200" b="1" dirty="0">
                <a:latin typeface="+mn-ea"/>
              </a:rPr>
              <a:t>小数点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%g</a:t>
            </a:r>
            <a:r>
              <a:rPr kumimoji="1" lang="zh-CN" altLang="en-US" sz="1200" b="1" dirty="0">
                <a:latin typeface="+mn-ea"/>
              </a:rPr>
              <a:t>而言，</a:t>
            </a:r>
            <a:r>
              <a:rPr kumimoji="1" lang="en-US" altLang="zh-CN" sz="1200" b="1" dirty="0">
                <a:latin typeface="+mn-ea"/>
              </a:rPr>
              <a:t>%</a:t>
            </a:r>
            <a:r>
              <a:rPr kumimoji="1" lang="en-US" altLang="zh-CN" sz="1200" b="1" dirty="0" err="1">
                <a:latin typeface="+mn-ea"/>
              </a:rPr>
              <a:t>m.n</a:t>
            </a:r>
            <a:r>
              <a:rPr kumimoji="1" lang="zh-CN" altLang="en-US" sz="1200" b="1" dirty="0">
                <a:latin typeface="+mn-ea"/>
              </a:rPr>
              <a:t>中</a:t>
            </a:r>
            <a:r>
              <a:rPr kumimoji="1" lang="en-US" altLang="zh-CN" sz="1200" b="1" dirty="0">
                <a:latin typeface="+mn-ea"/>
              </a:rPr>
              <a:t>n</a:t>
            </a:r>
            <a:r>
              <a:rPr kumimoji="1" lang="zh-CN" altLang="en-US" sz="1200" b="1" dirty="0">
                <a:latin typeface="+mn-ea"/>
              </a:rPr>
              <a:t>代表的位数是指</a:t>
            </a:r>
            <a:r>
              <a:rPr kumimoji="1" lang="en-US" altLang="zh-CN" sz="1200" b="1" u="sng" dirty="0">
                <a:latin typeface="+mn-ea"/>
              </a:rPr>
              <a:t>___</a:t>
            </a:r>
            <a:r>
              <a:rPr kumimoji="1" lang="zh-CN" altLang="en-US" sz="1200" b="1" u="sng" dirty="0">
                <a:latin typeface="+mn-ea"/>
              </a:rPr>
              <a:t>总的有效位数</a:t>
            </a:r>
            <a:r>
              <a:rPr kumimoji="1" lang="en-US" altLang="zh-CN" sz="1200" b="1" u="sng" dirty="0">
                <a:latin typeface="+mn-ea"/>
              </a:rPr>
              <a:t>___________</a:t>
            </a:r>
            <a:endParaRPr kumimoji="1" lang="en-US" altLang="zh-CN" sz="12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如果输出负数且指定宽度，负号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</a:t>
            </a:r>
            <a:r>
              <a:rPr kumimoji="1" lang="zh-CN" altLang="en-US" sz="1200" b="1" u="sng" dirty="0">
                <a:latin typeface="+mn-ea"/>
              </a:rPr>
              <a:t>占</a:t>
            </a:r>
            <a:r>
              <a:rPr kumimoji="1" lang="en-US" altLang="zh-CN" sz="1200" b="1" u="sng" dirty="0">
                <a:latin typeface="+mn-ea"/>
              </a:rPr>
              <a:t>__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占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不占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总宽度</a:t>
            </a:r>
            <a:endParaRPr kumimoji="1" lang="zh-CN" altLang="en-US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245" y="815975"/>
            <a:ext cx="895350" cy="1835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float f = 123456789.123;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("f=%f*\n", f);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("f=%10.2f*\n", f);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("f=%-10.2f*\n", f);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("f=%.2f*\n\n", f);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12345678901234567.6789;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("d=%f*\n", d);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("d=%10.2f*\n", d);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("d=%-10.2f*\n", d);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("d=%.2f*\n\n", d);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365" y="1323975"/>
            <a:ext cx="55600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给出下面两个概念的结论：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、在数据的有效位数超过精度时，则输出：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保留到指定的精度，超过精度的部分将被截断或舍入。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、如果指定的总宽度小于有效位数的宽度，则输出：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忽略指定宽度，按照实际的有效位数宽度输出。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8155" y="1323975"/>
            <a:ext cx="2212975" cy="16973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3058795"/>
            <a:ext cx="3263900" cy="260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</a:t>
            </a:r>
            <a:r>
              <a:rPr kumimoji="1" lang="en-US" altLang="zh-CN" sz="1600" b="1" dirty="0" err="1">
                <a:latin typeface="+mn-ea"/>
              </a:rPr>
              <a:t>stdio.h</a:t>
            </a:r>
            <a:r>
              <a:rPr kumimoji="1" lang="en-US" altLang="zh-CN" sz="1600" b="1" dirty="0">
                <a:latin typeface="+mn-ea"/>
              </a:rPr>
              <a:t>&gt;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#define str "</a:t>
            </a:r>
            <a:r>
              <a:rPr kumimoji="1" lang="en-US" altLang="zh-CN" sz="1600" b="1" dirty="0" err="1">
                <a:latin typeface="+mn-ea"/>
              </a:rPr>
              <a:t>abcdefghijklmnopqrstuvwxyz</a:t>
            </a:r>
            <a:r>
              <a:rPr kumimoji="1" lang="en-US" altLang="zh-CN" sz="1600" b="1" dirty="0">
                <a:latin typeface="+mn-ea"/>
              </a:rPr>
              <a:t>"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("str=%30s*\n",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("str=%-30s*\n",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("str=%.5s*\n",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("str=%-.5s*\n",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("str=%10.5s*\n",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("str=%-10.5s*\n", str);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注：最后加*的目的，是为了看清是否有隐含空格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365" y="1323975"/>
            <a:ext cx="590740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参考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的格式控制符和附加格式控制符，给出解释：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%s   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u="sng" dirty="0">
                <a:latin typeface="+mn-ea"/>
              </a:rPr>
              <a:t>_ </a:t>
            </a:r>
            <a:r>
              <a:rPr kumimoji="1" lang="zh-CN" altLang="en-US" sz="1600" b="1" u="sng" dirty="0">
                <a:latin typeface="+mn-ea"/>
              </a:rPr>
              <a:t>字符串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类型的数据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%30s 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u="sng" dirty="0">
                <a:latin typeface="+mn-ea"/>
                <a:sym typeface="+mn-ea"/>
              </a:rPr>
              <a:t>_ </a:t>
            </a:r>
            <a:r>
              <a:rPr kumimoji="1" lang="zh-CN" altLang="en-US" sz="1600" b="1" u="sng" dirty="0">
                <a:latin typeface="+mn-ea"/>
                <a:sym typeface="+mn-ea"/>
              </a:rPr>
              <a:t>字符串</a:t>
            </a:r>
            <a:r>
              <a:rPr kumimoji="1" lang="en-US" altLang="zh-CN" sz="1600" b="1" u="sng" dirty="0">
                <a:latin typeface="+mn-ea"/>
                <a:sym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类型的数据，总宽度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</a:rPr>
              <a:t>_30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__</a:t>
            </a:r>
            <a:r>
              <a:rPr kumimoji="1" lang="zh-CN" altLang="en-US" sz="1600" b="1" u="sng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%-30s</a:t>
            </a:r>
            <a:r>
              <a:rPr kumimoji="1" lang="zh-CN" altLang="en-US" sz="1600" b="1" dirty="0">
                <a:latin typeface="+mn-ea"/>
              </a:rPr>
              <a:t>：输出</a:t>
            </a:r>
            <a:r>
              <a:rPr kumimoji="1" lang="en-US" altLang="zh-CN" sz="1600" b="1" u="sng" dirty="0">
                <a:latin typeface="+mn-ea"/>
                <a:sym typeface="+mn-ea"/>
              </a:rPr>
              <a:t>_ </a:t>
            </a:r>
            <a:r>
              <a:rPr kumimoji="1" lang="zh-CN" altLang="en-US" sz="1600" b="1" u="sng" dirty="0">
                <a:latin typeface="+mn-ea"/>
                <a:sym typeface="+mn-ea"/>
              </a:rPr>
              <a:t>字符串</a:t>
            </a:r>
            <a:r>
              <a:rPr kumimoji="1" lang="en-US" altLang="zh-CN" sz="1600" b="1" u="sng" dirty="0">
                <a:latin typeface="+mn-ea"/>
                <a:sym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类型的数据，总宽度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u="sng" dirty="0">
                <a:latin typeface="+mn-ea"/>
              </a:rPr>
              <a:t>30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__</a:t>
            </a:r>
            <a:r>
              <a:rPr kumimoji="1" lang="zh-CN" altLang="en-US" sz="1600" b="1" u="sng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对齐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如果指定的总宽度小于字符串的长度，则：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按照实际长度输出。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对</a:t>
            </a:r>
            <a:r>
              <a:rPr kumimoji="1" lang="en-US" altLang="zh-CN" sz="1600" b="1" dirty="0">
                <a:latin typeface="+mn-ea"/>
              </a:rPr>
              <a:t>%s</a:t>
            </a:r>
            <a:r>
              <a:rPr kumimoji="1" lang="zh-CN" altLang="en-US" sz="1600" b="1" dirty="0">
                <a:latin typeface="+mn-ea"/>
              </a:rPr>
              <a:t>而言，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m.n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n</a:t>
            </a:r>
            <a:r>
              <a:rPr kumimoji="1" lang="zh-CN" altLang="en-US" sz="1600" b="1" dirty="0">
                <a:latin typeface="+mn-ea"/>
              </a:rPr>
              <a:t>代表的位数是指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强制截取前</a:t>
            </a:r>
            <a:r>
              <a:rPr kumimoji="1" lang="en-US" altLang="zh-CN" sz="1600" b="1" u="sng" dirty="0">
                <a:latin typeface="+mn-ea"/>
              </a:rPr>
              <a:t>n</a:t>
            </a:r>
            <a:r>
              <a:rPr kumimoji="1" lang="zh-CN" altLang="en-US" sz="1600" b="1" u="sng" dirty="0">
                <a:latin typeface="+mn-ea"/>
              </a:rPr>
              <a:t>个字符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_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5920" y="1173480"/>
            <a:ext cx="2488565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格式化输出函数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#include &lt;stdio.h&gt;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#define str "Student"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int main()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{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int a = 65;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printf("a=%o\n",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printf("a=%x\n",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printf("ch=%c\n",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printf("s=%s\n\n", str);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printf("a=0%o\n",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printf("a=0x%x\n",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printf("ch=\'%c\'\n", a);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printf("s=\"%s\"\n\n", str);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double d = 0.783;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printf("</a:t>
            </a:r>
            <a:r>
              <a:rPr kumimoji="1" lang="zh-CN" altLang="pt-BR" sz="1600" b="1" dirty="0">
                <a:latin typeface="+mn-ea"/>
              </a:rPr>
              <a:t>百分比</a:t>
            </a:r>
            <a:r>
              <a:rPr kumimoji="1" lang="pt-BR" altLang="zh-CN" sz="1600" b="1" dirty="0">
                <a:latin typeface="+mn-ea"/>
              </a:rPr>
              <a:t>=%.2f%%\n", d * 100);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    return 0;</a:t>
            </a:r>
            <a:endParaRPr kumimoji="1" lang="pt-BR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latin typeface="+mn-ea"/>
              </a:rPr>
              <a:t>}</a:t>
            </a:r>
            <a:endParaRPr kumimoji="1" lang="pt-BR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365" y="1323975"/>
            <a:ext cx="518985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运行结果：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、对比第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组和第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组输出，得出的结论是：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    格式控制符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附加格式控制符，只负责给出</a:t>
            </a:r>
            <a:r>
              <a:rPr lang="en-US" altLang="zh-CN" sz="1600" b="1" u="sng" dirty="0">
                <a:latin typeface="+mn-ea"/>
              </a:rPr>
              <a:t>_ </a:t>
            </a:r>
            <a:r>
              <a:rPr lang="zh-CN" altLang="en-US" sz="1600" b="1" u="sng" dirty="0">
                <a:latin typeface="+mn-ea"/>
              </a:rPr>
              <a:t>输出表列中的数据</a:t>
            </a:r>
            <a:r>
              <a:rPr lang="en-US" altLang="zh-CN" sz="1600" b="1" u="sng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的输出，若需要前导字符、单双引号等，需要</a:t>
            </a:r>
            <a:r>
              <a:rPr lang="en-US" altLang="zh-CN" sz="1600" b="1" u="sng" dirty="0">
                <a:latin typeface="+mn-ea"/>
              </a:rPr>
              <a:t>__将这些额外内容作为普通字符直接写入</a:t>
            </a:r>
            <a:r>
              <a:rPr lang="zh-CN" altLang="en-US" sz="1600" b="1" u="sng" dirty="0">
                <a:latin typeface="+mn-ea"/>
              </a:rPr>
              <a:t>格式控制表列</a:t>
            </a:r>
            <a:r>
              <a:rPr lang="en-US" altLang="zh-CN" sz="1600" b="1" u="sng" dirty="0">
                <a:latin typeface="+mn-ea"/>
              </a:rPr>
              <a:t>中。__</a:t>
            </a:r>
            <a:endParaRPr kumimoji="1" lang="zh-CN" altLang="en-US" sz="16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、输出字符</a:t>
            </a:r>
            <a:r>
              <a:rPr kumimoji="1" lang="en-US" altLang="zh-CN" sz="1600" b="1" dirty="0">
                <a:latin typeface="+mn-ea"/>
              </a:rPr>
              <a:t>'%'</a:t>
            </a:r>
            <a:r>
              <a:rPr kumimoji="1" lang="zh-CN" altLang="en-US" sz="1600" b="1" dirty="0">
                <a:latin typeface="+mn-ea"/>
              </a:rPr>
              <a:t>的方法是：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用</a:t>
            </a:r>
            <a:r>
              <a:rPr kumimoji="1" lang="en-US" altLang="zh-CN" sz="1600" b="1" u="sng" dirty="0">
                <a:latin typeface="+mn-ea"/>
              </a:rPr>
              <a:t>%</a:t>
            </a:r>
            <a:r>
              <a:rPr kumimoji="1" lang="en-US" altLang="zh-CN" sz="1600" b="1" u="sng" dirty="0">
                <a:latin typeface="+mn-ea"/>
                <a:sym typeface="+mn-ea"/>
              </a:rPr>
              <a:t>%</a:t>
            </a:r>
            <a:r>
              <a:rPr kumimoji="1" lang="zh-CN" altLang="en-US" sz="1600" b="1" u="sng" dirty="0">
                <a:latin typeface="+mn-ea"/>
                <a:sym typeface="+mn-ea"/>
              </a:rPr>
              <a:t>输出字符</a:t>
            </a:r>
            <a:r>
              <a:rPr kumimoji="1" lang="en-US" altLang="zh-CN" sz="1600" b="1" u="sng" dirty="0">
                <a:latin typeface="+mn-ea"/>
                <a:sym typeface="+mn-ea"/>
              </a:rPr>
              <a:t>'%'</a:t>
            </a:r>
            <a:r>
              <a:rPr kumimoji="1" lang="en-US" altLang="zh-CN" sz="1600" b="1" u="sng" dirty="0">
                <a:latin typeface="+mn-ea"/>
              </a:rPr>
              <a:t>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5615" y="1346200"/>
            <a:ext cx="1675765" cy="24104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zh-CN" altLang="en-US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格式控制表列，地址表列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</a:t>
            </a:r>
            <a:r>
              <a:rPr lang="zh-CN" altLang="en-US" sz="1600" b="1">
                <a:latin typeface="+mn-ea"/>
              </a:rPr>
              <a:t>格式控制表列的</a:t>
            </a:r>
            <a:r>
              <a:rPr lang="zh-CN" altLang="en-US" sz="1600" b="1" dirty="0">
                <a:latin typeface="+mn-ea"/>
              </a:rPr>
              <a:t>内容：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格式说明：以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zh-CN" altLang="en-US" sz="1600" b="1" dirty="0">
                <a:latin typeface="+mn-ea"/>
              </a:rPr>
              <a:t>开始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格式字符，表示按格式输入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普通字符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含转义符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：原样输入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地址表列：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表示取地址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变量名：取该变量的内存地址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    ★ 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不能跟表达式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常量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理由与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等相同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  常用的格式符种类：</a:t>
            </a:r>
            <a:endParaRPr lang="zh-CN" altLang="en-US" sz="1600" b="1" dirty="0">
              <a:latin typeface="+mn-ea"/>
            </a:endParaRPr>
          </a:p>
        </p:txBody>
      </p:sp>
      <p:graphicFrame>
        <p:nvGraphicFramePr>
          <p:cNvPr id="6" name="Group 40"/>
          <p:cNvGraphicFramePr>
            <a:graphicFrameLocks noGrp="1"/>
          </p:cNvGraphicFramePr>
          <p:nvPr/>
        </p:nvGraphicFramePr>
        <p:xfrm>
          <a:off x="821879" y="3938435"/>
          <a:ext cx="4991472" cy="2682240"/>
        </p:xfrm>
        <a:graphic>
          <a:graphicData uri="http://schemas.openxmlformats.org/drawingml/2006/table">
            <a:tbl>
              <a:tblPr/>
              <a:tblGrid>
                <a:gridCol w="936104"/>
                <a:gridCol w="4055368"/>
              </a:tblGrid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 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输入带符号的十进制形式整数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输入八进制无符号形式整数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x, X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输入十六进制无符号形式整数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不带前导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0x)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输入十进制无符号形式整数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输入单个字符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输入字符串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5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输入小数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指数形式的浮点数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1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e,E,g,G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6096000" y="4988893"/>
          <a:ext cx="3960440" cy="1633736"/>
        </p:xfrm>
        <a:graphic>
          <a:graphicData uri="http://schemas.openxmlformats.org/drawingml/2006/table">
            <a:tbl>
              <a:tblPr/>
              <a:tblGrid>
                <a:gridCol w="936104"/>
                <a:gridCol w="3024336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输入长整型数，用于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double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型数，用于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f,e,g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h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输入短整型数，用于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d,o,x,u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正整数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指定输入数据所占的宽度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*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本输入项不赋给相应的变量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821879" y="3574531"/>
            <a:ext cx="4712677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96000" y="4618457"/>
            <a:ext cx="4248472" cy="3639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所用的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附加格式字符</a:t>
            </a:r>
            <a:r>
              <a:rPr lang="zh-CN" altLang="en-US" sz="1600" b="1" dirty="0">
                <a:latin typeface="+mn-ea"/>
              </a:rPr>
              <a:t>的种类：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96000" y="1195488"/>
            <a:ext cx="5915914" cy="3319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特别说明：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系列认为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函数是不安全的输入，因此缺省禁止使用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error)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，如果想继续使用，必须在源程序一开始加定义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为了和其它编译器兼容，以及方便后续课程的学习，我们仍然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会继续使用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另：加 </a:t>
            </a:r>
            <a:r>
              <a:rPr kumimoji="1" lang="en-US" altLang="zh-CN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_CRT_SECURE_NO_WARNINGS </a:t>
            </a:r>
            <a:r>
              <a:rPr kumimoji="1"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的程序在其它编译器中可</a:t>
            </a:r>
            <a:endParaRPr kumimoji="1"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zh-CN" altLang="en-US" sz="16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正常使用</a:t>
            </a:r>
            <a:endParaRPr kumimoji="1" lang="en-US" altLang="zh-CN" sz="1600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系列中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语言用于安全输入的函数是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scanf_s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，使用方法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，考虑到兼容性，不建议大家使用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scanf_s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，有兴</a:t>
            </a: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趣可以自行查阅有关资料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983661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中编译：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中编译：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(↙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表示回车键，下同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6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 =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365" y="3983355"/>
            <a:ext cx="5504815" cy="255016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在</a:t>
            </a: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中编译：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在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中编译：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结论：用</a:t>
            </a:r>
            <a:r>
              <a:rPr kumimoji="1" lang="en-US" altLang="zh-CN" sz="1200" b="1" dirty="0" err="1">
                <a:latin typeface="+mn-ea"/>
              </a:rPr>
              <a:t>scanf</a:t>
            </a:r>
            <a:r>
              <a:rPr kumimoji="1" lang="zh-CN" altLang="en-US" sz="1200" b="1" dirty="0">
                <a:latin typeface="+mn-ea"/>
              </a:rPr>
              <a:t>输入时，如果地址表列中直接跟变量名，则</a:t>
            </a:r>
            <a:r>
              <a:rPr kumimoji="1" lang="en-US" altLang="zh-CN" sz="1200" b="1" u="sng" dirty="0">
                <a:latin typeface="+mn-ea"/>
              </a:rPr>
              <a:t>___</a:t>
            </a:r>
            <a:r>
              <a:rPr kumimoji="1" lang="zh-CN" altLang="en-US" sz="1200" b="1" u="sng" dirty="0">
                <a:latin typeface="+mn-ea"/>
              </a:rPr>
              <a:t>错误</a:t>
            </a:r>
            <a:r>
              <a:rPr kumimoji="1" lang="en-US" altLang="zh-CN" sz="1200" b="1" u="sng" dirty="0">
                <a:latin typeface="+mn-ea"/>
              </a:rPr>
              <a:t>___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(</a:t>
            </a:r>
            <a:r>
              <a:rPr kumimoji="1" lang="zh-CN" altLang="en-US" sz="1200" b="1" dirty="0">
                <a:latin typeface="+mn-ea"/>
              </a:rPr>
              <a:t>错误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正确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，其中</a:t>
            </a: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的表现是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错误弹窗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的表现是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zh-CN" altLang="en-US" sz="1200" b="1" dirty="0">
                <a:latin typeface="+mn-ea"/>
              </a:rPr>
              <a:t>无输出</a:t>
            </a:r>
            <a:r>
              <a:rPr kumimoji="1" lang="en-US" altLang="zh-CN" sz="1200" b="1" dirty="0">
                <a:latin typeface="+mn-ea"/>
              </a:rPr>
              <a:t>____</a:t>
            </a:r>
            <a:endParaRPr kumimoji="1" lang="zh-CN" altLang="en-US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015" y="4241165"/>
            <a:ext cx="3656965" cy="7073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80" y="5511800"/>
            <a:ext cx="1287145" cy="8502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930" y="1631315"/>
            <a:ext cx="2896235" cy="30962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670" y="4948555"/>
            <a:ext cx="3706495" cy="822960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6571615" y="4423410"/>
            <a:ext cx="1699895" cy="1174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1" name="直接箭头连接符 10"/>
          <p:cNvCxnSpPr/>
          <p:nvPr/>
        </p:nvCxnSpPr>
        <p:spPr>
          <a:xfrm>
            <a:off x="6546850" y="5412740"/>
            <a:ext cx="951865" cy="99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983673"/>
            <a:ext cx="5122140" cy="2550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</a:t>
            </a:r>
            <a:r>
              <a:rPr kumimoji="1" lang="en-US" altLang="zh-CN" sz="1600" b="1" u="sng" dirty="0">
                <a:latin typeface="+mn-ea"/>
              </a:rPr>
              <a:t>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64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&amp;a, &amp;b);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//%d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间无空格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</a:t>
            </a:r>
            <a:r>
              <a:rPr kumimoji="1" lang="en-US" altLang="zh-CN" sz="1600" b="1" u="sng" dirty="0">
                <a:latin typeface="+mn-ea"/>
              </a:rPr>
              <a:t>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结论：多个输入时，格式控制符间是否有空格</a:t>
            </a:r>
            <a:r>
              <a:rPr kumimoji="1" lang="en-US" altLang="zh-CN" sz="1600" b="1" u="sng" dirty="0">
                <a:latin typeface="+mn-ea"/>
              </a:rPr>
              <a:t> </a:t>
            </a:r>
            <a:r>
              <a:rPr kumimoji="1" lang="zh-CN" altLang="en-US" sz="1600" b="1" u="sng" dirty="0">
                <a:latin typeface="+mn-ea"/>
                <a:sym typeface="+mn-ea"/>
              </a:rPr>
              <a:t>不影响</a:t>
            </a:r>
            <a:r>
              <a:rPr kumimoji="1" lang="en-US" altLang="zh-CN" sz="1600" b="1" u="sng" dirty="0">
                <a:latin typeface="+mn-ea"/>
              </a:rPr>
              <a:t>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(</a:t>
            </a:r>
            <a:r>
              <a:rPr kumimoji="1" lang="zh-CN" altLang="en-US" sz="1600" b="1" dirty="0">
                <a:latin typeface="+mn-ea"/>
              </a:rPr>
              <a:t>影响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不影响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正确性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840" y="4273550"/>
            <a:ext cx="1009650" cy="685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40" y="5541010"/>
            <a:ext cx="1041400" cy="869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595" y="4020820"/>
            <a:ext cx="1129030" cy="6851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860" y="5177155"/>
            <a:ext cx="988695" cy="7556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1820" y="1323975"/>
            <a:ext cx="4698365" cy="266001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a=0, b=0;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&amp;a, &amp;b);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地址表列多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1820" y="3983355"/>
            <a:ext cx="4697730" cy="255079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结论：当地址表列的个数多于格式控制符时，</a:t>
            </a:r>
            <a:r>
              <a:rPr kumimoji="1" lang="en-US" altLang="zh-CN" sz="1600" b="1" u="sng" dirty="0">
                <a:latin typeface="+mn-ea"/>
              </a:rPr>
              <a:t> 多余的地址表项将被忽略,不会被赋值______</a:t>
            </a:r>
            <a:endParaRPr kumimoji="1" lang="zh-CN" altLang="en-US" sz="16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u="sng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289550" y="1323975"/>
            <a:ext cx="5546725" cy="26593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格式符多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("a=%d\n", 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298440" y="3983355"/>
            <a:ext cx="2988310" cy="16554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VS</a:t>
            </a:r>
            <a:r>
              <a:rPr kumimoji="1" lang="zh-CN" altLang="en-US" sz="1200" b="1" dirty="0">
                <a:latin typeface="+mn-ea"/>
              </a:rPr>
              <a:t>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286750" y="3983669"/>
            <a:ext cx="2549644" cy="16551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Dev</a:t>
            </a:r>
            <a:r>
              <a:rPr kumimoji="1" lang="zh-CN" altLang="en-US" sz="1200" b="1" dirty="0">
                <a:latin typeface="+mn-ea"/>
              </a:rPr>
              <a:t>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298440" y="5638800"/>
            <a:ext cx="5537835" cy="8953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结论：当格式控制符的个数多个地址表列时</a:t>
            </a:r>
            <a:r>
              <a:rPr kumimoji="1" lang="en-US" altLang="zh-CN" sz="1200" b="1" u="sng" dirty="0">
                <a:latin typeface="+mn-ea"/>
              </a:rPr>
              <a:t>__VS</a:t>
            </a:r>
            <a:r>
              <a:rPr kumimoji="1" lang="zh-CN" altLang="en-US" sz="1200" b="1" u="sng" dirty="0">
                <a:latin typeface="+mn-ea"/>
              </a:rPr>
              <a:t>无输出并返回负值代码；</a:t>
            </a:r>
            <a:r>
              <a:rPr kumimoji="1" lang="en-US" altLang="zh-CN" sz="1200" b="1" u="sng" dirty="0">
                <a:latin typeface="+mn-ea"/>
              </a:rPr>
              <a:t>Dev</a:t>
            </a:r>
            <a:r>
              <a:rPr kumimoji="1" lang="zh-CN" altLang="en-US" sz="1200" b="1" u="sng" dirty="0">
                <a:latin typeface="+mn-ea"/>
              </a:rPr>
              <a:t>中会忽略多余的格式控制项，只去对应的数据赋值给地址表的项</a:t>
            </a:r>
            <a:r>
              <a:rPr kumimoji="1" lang="en-US" altLang="zh-CN" sz="1200" b="1" u="sng" dirty="0">
                <a:latin typeface="+mn-ea"/>
              </a:rPr>
              <a:t>____</a:t>
            </a:r>
            <a:r>
              <a:rPr kumimoji="1" lang="en-US" altLang="zh-CN" sz="1200" b="1" dirty="0">
                <a:latin typeface="+mn-ea"/>
              </a:rPr>
              <a:t>_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2130" y="3983355"/>
            <a:ext cx="1016000" cy="7112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155" y="4876165"/>
            <a:ext cx="869950" cy="628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415" y="4430395"/>
            <a:ext cx="2172335" cy="3733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765" y="5323840"/>
            <a:ext cx="2089150" cy="4267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165" y="4046855"/>
            <a:ext cx="711200" cy="6477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1765" y="4887595"/>
            <a:ext cx="609600" cy="8001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6405" y="3589020"/>
            <a:ext cx="3420110" cy="34798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1165" y="3625850"/>
            <a:ext cx="3732530" cy="309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ret=%d\n", a,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983673"/>
            <a:ext cx="5122140" cy="2550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69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 ret=%d\n", a, b,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结论：在输入正确时，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的返回值是</a:t>
            </a:r>
            <a:r>
              <a:rPr kumimoji="1" lang="en-US" altLang="zh-CN" sz="1600" b="1" u="sng" dirty="0">
                <a:latin typeface="+mn-ea"/>
              </a:rPr>
              <a:t>__成功读取并赋值的输入项的个数_____</a:t>
            </a:r>
            <a:endParaRPr kumimoji="1" lang="en-US" altLang="zh-CN" sz="1600" b="1" u="sng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985" y="4350385"/>
            <a:ext cx="2390775" cy="12179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25" y="4350385"/>
            <a:ext cx="2660650" cy="9944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6596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d,%d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&amp;a, &amp;b);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983666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10,15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69"/>
            <a:ext cx="5122140" cy="265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a, b;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d,b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=%d", &amp;a, &amp;b);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("a=%d, b=%d\n", a, 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3983667"/>
            <a:ext cx="5122140" cy="2550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10,15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zh-CN" altLang="en-US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a=10,b=15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zh-CN" altLang="en-US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结论：当格式控制符中有其它字符（逗号，</a:t>
            </a:r>
            <a:r>
              <a:rPr kumimoji="1" lang="en-US" altLang="zh-CN" sz="1200" b="1" dirty="0">
                <a:latin typeface="+mn-ea"/>
              </a:rPr>
              <a:t>a=</a:t>
            </a:r>
            <a:r>
              <a:rPr kumimoji="1" lang="zh-CN" altLang="en-US" sz="1200" b="1" dirty="0">
                <a:latin typeface="+mn-ea"/>
              </a:rPr>
              <a:t>等）时，对这些字符的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</a:t>
            </a:r>
            <a:r>
              <a:rPr kumimoji="1" lang="zh-CN" altLang="en-US" sz="1200" b="1" dirty="0">
                <a:latin typeface="+mn-ea"/>
              </a:rPr>
              <a:t>输入方法是</a:t>
            </a:r>
            <a:r>
              <a:rPr kumimoji="1" lang="en-US" altLang="zh-CN" sz="1200" b="1" u="sng" dirty="0">
                <a:latin typeface="+mn-ea"/>
              </a:rPr>
              <a:t>__</a:t>
            </a:r>
            <a:r>
              <a:rPr kumimoji="1" lang="zh-CN" altLang="en-US" sz="1200" b="1" u="sng" dirty="0">
                <a:latin typeface="+mn-ea"/>
              </a:rPr>
              <a:t>在输入时按原样输入这些字符</a:t>
            </a:r>
            <a:r>
              <a:rPr kumimoji="1" lang="en-US" altLang="zh-CN" sz="1200" b="1" u="sng" dirty="0">
                <a:latin typeface="+mn-ea"/>
              </a:rPr>
              <a:t>_________</a:t>
            </a:r>
            <a:endParaRPr kumimoji="1" lang="zh-CN" altLang="en-US" sz="1200" b="1" u="sng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945" y="4291330"/>
            <a:ext cx="1682750" cy="685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945" y="5285105"/>
            <a:ext cx="1373505" cy="9759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895" y="3983355"/>
            <a:ext cx="1739265" cy="4984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895" y="4563745"/>
            <a:ext cx="1693545" cy="5283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110" y="5173980"/>
            <a:ext cx="993140" cy="6019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 bwMode="auto">
          <a:xfrm>
            <a:off x="592114" y="1323972"/>
            <a:ext cx="3446485" cy="31146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short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("%d", &amp;c);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\n", 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590589" y="4438649"/>
            <a:ext cx="3446485" cy="1209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480508" y="1323965"/>
            <a:ext cx="3520867" cy="31146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short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\n", 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86249" y="4438641"/>
            <a:ext cx="3512075" cy="12090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70000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4038600" y="1323969"/>
            <a:ext cx="3441908" cy="31146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("c=%d\n", 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4037074" y="4438645"/>
            <a:ext cx="3443434" cy="1209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0550" y="5647690"/>
            <a:ext cx="10407650" cy="108331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、附加格式控制符</a:t>
            </a:r>
            <a:r>
              <a:rPr kumimoji="1" lang="en-US" altLang="zh-CN" sz="1200" b="1" dirty="0">
                <a:latin typeface="+mn-ea"/>
              </a:rPr>
              <a:t>h</a:t>
            </a:r>
            <a:r>
              <a:rPr kumimoji="1" lang="zh-CN" altLang="en-US" sz="1200" b="1" dirty="0">
                <a:latin typeface="+mn-ea"/>
              </a:rPr>
              <a:t>的作用是</a:t>
            </a:r>
            <a:r>
              <a:rPr kumimoji="1" lang="en-US" altLang="zh-CN" sz="1200" b="1" u="sng" dirty="0">
                <a:latin typeface="+mn-ea"/>
              </a:rPr>
              <a:t>___</a:t>
            </a:r>
            <a:r>
              <a:rPr kumimoji="1" lang="zh-CN" altLang="en-US" sz="1200" b="1" u="sng" dirty="0">
                <a:latin typeface="+mn-ea"/>
              </a:rPr>
              <a:t>在</a:t>
            </a:r>
            <a:r>
              <a:rPr kumimoji="1" lang="en-US" altLang="zh-CN" sz="1200" b="1" u="sng" dirty="0">
                <a:latin typeface="+mn-ea"/>
              </a:rPr>
              <a:t>scanf</a:t>
            </a:r>
            <a:r>
              <a:rPr kumimoji="1" lang="zh-CN" altLang="en-US" sz="1200" b="1" u="sng" dirty="0">
                <a:latin typeface="+mn-ea"/>
              </a:rPr>
              <a:t>中表示输入短整型数，在</a:t>
            </a:r>
            <a:r>
              <a:rPr kumimoji="1" lang="en-US" altLang="zh-CN" sz="1200" b="1" u="sng" dirty="0">
                <a:latin typeface="+mn-ea"/>
              </a:rPr>
              <a:t>printf</a:t>
            </a:r>
            <a:r>
              <a:rPr kumimoji="1" lang="zh-CN" altLang="en-US" sz="1200" b="1" u="sng" dirty="0">
                <a:latin typeface="+mn-ea"/>
              </a:rPr>
              <a:t>中表示输出短整型数</a:t>
            </a:r>
            <a:r>
              <a:rPr kumimoji="1" lang="en-US" altLang="zh-CN" sz="1200" b="1" u="sng" dirty="0">
                <a:latin typeface="+mn-ea"/>
              </a:rPr>
              <a:t>___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、如果格式控制符的数据类型和要读取的变量类型的字节大小不一致（例：</a:t>
            </a:r>
            <a:r>
              <a:rPr kumimoji="1" lang="en-US" altLang="zh-CN" sz="1200" b="1" dirty="0">
                <a:latin typeface="+mn-ea"/>
              </a:rPr>
              <a:t>4/2</a:t>
            </a:r>
            <a:r>
              <a:rPr kumimoji="1" lang="zh-CN" altLang="en-US" sz="1200" b="1" dirty="0">
                <a:latin typeface="+mn-ea"/>
              </a:rPr>
              <a:t>字节），则</a:t>
            </a:r>
            <a:r>
              <a:rPr kumimoji="1" lang="en-US" altLang="zh-CN" sz="1200" b="1" u="sng" dirty="0">
                <a:latin typeface="+mn-ea"/>
              </a:rPr>
              <a:t>___</a:t>
            </a:r>
            <a:r>
              <a:rPr kumimoji="1" lang="zh-CN" altLang="en-US" sz="1200" b="1" u="sng" dirty="0">
                <a:latin typeface="+mn-ea"/>
              </a:rPr>
              <a:t>如果格式控制符的数据类型比要读取的变量类型字节小，将会</a:t>
            </a:r>
            <a:r>
              <a:rPr kumimoji="1" lang="zh-CN" altLang="en-US" sz="1200" b="1" u="sng" dirty="0">
                <a:latin typeface="+mn-ea"/>
                <a:sym typeface="+mn-ea"/>
              </a:rPr>
              <a:t>赋不可信的值给变量</a:t>
            </a:r>
            <a:r>
              <a:rPr kumimoji="1" lang="zh-CN" altLang="en-US" sz="1200" b="1" u="sng" dirty="0">
                <a:latin typeface="+mn-ea"/>
              </a:rPr>
              <a:t>；如果</a:t>
            </a:r>
            <a:r>
              <a:rPr kumimoji="1" lang="zh-CN" altLang="en-US" sz="1200" b="1" u="sng" dirty="0">
                <a:latin typeface="+mn-ea"/>
                <a:sym typeface="+mn-ea"/>
              </a:rPr>
              <a:t>格式控制符的数据类型比要读取的变量类型字节大，将会赋不可信的值给变量且有错误弹窗。</a:t>
            </a:r>
            <a:r>
              <a:rPr kumimoji="1" lang="en-US" altLang="zh-CN" sz="1200" b="1" u="sng" dirty="0">
                <a:latin typeface="+mn-ea"/>
              </a:rPr>
              <a:t>________</a:t>
            </a:r>
            <a:endParaRPr kumimoji="1" lang="en-US" altLang="zh-CN" sz="12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、记住这个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page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，相关错误的原理性分析，第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kumimoji="1"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章完成后会明白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endParaRPr kumimoji="1"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6810" y="4961890"/>
            <a:ext cx="501650" cy="685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704340" y="4694555"/>
            <a:ext cx="1889760" cy="11544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094605" y="4779645"/>
            <a:ext cx="1433830" cy="8528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05265" y="4301490"/>
            <a:ext cx="596900" cy="660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5460" y="5046345"/>
            <a:ext cx="622300" cy="673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205" y="4301490"/>
            <a:ext cx="3922395" cy="1816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4960" y="4245610"/>
            <a:ext cx="4170045" cy="193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b,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 %x %o", &amp;a, &amp;b, &amp;c);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("a=%d, b=%d, c=%d\n", a, b, 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10 11 12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ab 76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10 -11 +12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12 -ab +76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450" y="1624330"/>
            <a:ext cx="1358900" cy="6794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450" y="2607945"/>
            <a:ext cx="1555750" cy="641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50" y="3553460"/>
            <a:ext cx="1492250" cy="647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450" y="4700270"/>
            <a:ext cx="154305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short a, b, c;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%hx %ho", &amp;a, &amp;b, &amp;c);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, b=%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, c=%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\n", a, b, c);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10 11 12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ab 76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10 -11 +12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12 -ab +76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zh-CN" altLang="en-US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865" y="1633855"/>
            <a:ext cx="1447800" cy="6604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865" y="2607310"/>
            <a:ext cx="1460500" cy="666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75" y="3568700"/>
            <a:ext cx="1454150" cy="685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865" y="4563745"/>
            <a:ext cx="144780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I.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 bwMode="auto">
          <a:xfrm>
            <a:off x="5714254" y="1323970"/>
            <a:ext cx="5122140" cy="315277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("%3d %*2d %3d", &amp;a, &amp;b);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("a=%d b=%d\n", a, b);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5714254" y="4476749"/>
            <a:ext cx="5122140" cy="2057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*md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*m</a:t>
            </a:r>
            <a:r>
              <a:rPr kumimoji="1" lang="zh-CN" altLang="en-US" sz="1600" b="1" dirty="0">
                <a:latin typeface="+mn-ea"/>
              </a:rPr>
              <a:t>表示：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丢弃之后读取的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m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个字符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 bwMode="auto">
          <a:xfrm>
            <a:off x="592114" y="1323971"/>
            <a:ext cx="5122140" cy="31527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("%3d", &amp;a);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("a=%d\n",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 bwMode="auto">
          <a:xfrm>
            <a:off x="592114" y="4476750"/>
            <a:ext cx="5122140" cy="20478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%md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m</a:t>
            </a:r>
            <a:r>
              <a:rPr kumimoji="1" lang="zh-CN" altLang="en-US" sz="1600" b="1" dirty="0">
                <a:latin typeface="+mn-ea"/>
              </a:rPr>
              <a:t>表示：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只读取前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m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个字符并赋值给变量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03070" y="4782820"/>
            <a:ext cx="1181100" cy="6794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725285" y="4776470"/>
            <a:ext cx="10795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J.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514394" y="1323970"/>
            <a:ext cx="3537537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%3d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 &amp;a);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("%d\n",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053254" y="3692769"/>
            <a:ext cx="3461140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123 456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1"/>
            <a:ext cx="3461140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 &amp;a);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("%d\n",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3692769"/>
            <a:ext cx="3461140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123 456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053254" y="1323969"/>
            <a:ext cx="3461140" cy="2368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int a;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%x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 &amp;a);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("%d\n",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514394" y="3692769"/>
            <a:ext cx="3537537" cy="2031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123a**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12a**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90589" y="5723792"/>
            <a:ext cx="10461342" cy="8103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输入的终止条件是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</a:rPr>
              <a:t>回车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u="sng" dirty="0">
                <a:latin typeface="+mn-ea"/>
              </a:rPr>
              <a:t> ____</a:t>
            </a:r>
            <a:r>
              <a:rPr kumimoji="1" lang="zh-CN" altLang="en-US" sz="1600" b="1" u="sng" dirty="0">
                <a:latin typeface="+mn-ea"/>
              </a:rPr>
              <a:t>空格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u="sng" dirty="0">
                <a:latin typeface="+mn-ea"/>
              </a:rPr>
              <a:t> ____</a:t>
            </a:r>
            <a:r>
              <a:rPr kumimoji="1" lang="zh-CN" altLang="en-US" sz="1600" b="1" u="sng" dirty="0">
                <a:latin typeface="+mn-ea"/>
              </a:rPr>
              <a:t>非法字符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</a:rPr>
              <a:t>达到指定宽度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共四项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5370" y="3729355"/>
            <a:ext cx="544195" cy="5340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045" y="4302760"/>
            <a:ext cx="600075" cy="5041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990" y="5059680"/>
            <a:ext cx="603250" cy="609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350" y="3729355"/>
            <a:ext cx="418465" cy="4997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0290" y="4292600"/>
            <a:ext cx="610235" cy="5861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5027930"/>
            <a:ext cx="596900" cy="6413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0085" y="4302760"/>
            <a:ext cx="530225" cy="53594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675" y="5059680"/>
            <a:ext cx="527050" cy="6477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5600" y="3692525"/>
            <a:ext cx="407670" cy="5664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K.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714254" y="1323970"/>
            <a:ext cx="5122140" cy="23600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("%3d%*2d%3d", &amp;a, &amp;b);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("%d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 %d\n", a, 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3683977"/>
            <a:ext cx="5122140" cy="24530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123456↙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12345678↙  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123456789↙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 45 678↙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，输出：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2"/>
            <a:ext cx="5122140" cy="236000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("%3d%3d", &amp;a, &amp;b);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</a:t>
            </a:r>
            <a:r>
              <a:rPr kumimoji="1" lang="en-US" altLang="zh-CN" sz="1600" b="1" dirty="0">
                <a:latin typeface="+mn-ea"/>
              </a:rPr>
              <a:t> %d\n", a,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3680314"/>
            <a:ext cx="5122140" cy="24567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↙ 345↙</a:t>
            </a:r>
            <a:r>
              <a:rPr kumimoji="1"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12↙ 3456↙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123↙456↙</a:t>
            </a:r>
            <a:r>
              <a:rPr kumimoji="1"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1234︺5678↙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123456↙</a:t>
            </a:r>
            <a:r>
              <a:rPr kumimoji="1"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u="sng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输入：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sz="1200" b="1" u="sng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2345678↙</a:t>
            </a:r>
            <a:r>
              <a:rPr kumimoji="1"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，输出：</a:t>
            </a:r>
            <a:endParaRPr kumimoji="1"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注：特别关注第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项的结果，想想为什么？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0589" y="6137030"/>
            <a:ext cx="10245806" cy="3971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考查上题得出的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终止条件的结论是否完整，如果不完整，补充修改上题的结论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7005" y="3385820"/>
            <a:ext cx="509270" cy="5226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450" y="3908425"/>
            <a:ext cx="410210" cy="546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005" y="4331335"/>
            <a:ext cx="469265" cy="5137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450" y="4666615"/>
            <a:ext cx="626745" cy="488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7005" y="5062855"/>
            <a:ext cx="498475" cy="4546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450" y="5447665"/>
            <a:ext cx="555625" cy="4819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6320" y="3524250"/>
            <a:ext cx="602615" cy="5791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6320" y="4154805"/>
            <a:ext cx="669925" cy="5118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6320" y="4718050"/>
            <a:ext cx="602615" cy="47434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6320" y="5287010"/>
            <a:ext cx="800735" cy="5607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L.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3924296"/>
            <a:ext cx="2625871" cy="12367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2"/>
            <a:ext cx="2625871" cy="26003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f;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("%f", &amp;f);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("f=%f\n", 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217985" y="1323970"/>
            <a:ext cx="2625871" cy="26003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f;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("f=%f\n", 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43856" y="1323969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f;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("f=%f\n", 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469727" y="1323968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f;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("%f", &amp;f);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("f=%f\n", f);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0550" y="5161280"/>
            <a:ext cx="10504805" cy="15640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>
                <a:latin typeface="+mn-ea"/>
              </a:rPr>
              <a:t>、附加格式</a:t>
            </a:r>
            <a:r>
              <a:rPr kumimoji="1" lang="zh-CN" altLang="en-US" sz="1600" b="1" dirty="0">
                <a:latin typeface="+mn-ea"/>
              </a:rPr>
              <a:t>控制符</a:t>
            </a:r>
            <a:r>
              <a:rPr kumimoji="1" lang="en-US" altLang="zh-CN" sz="1600" b="1" dirty="0">
                <a:latin typeface="+mn-ea"/>
              </a:rPr>
              <a:t>l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  <a:sym typeface="+mn-ea"/>
              </a:rPr>
              <a:t>在</a:t>
            </a:r>
            <a:r>
              <a:rPr kumimoji="1" lang="en-US" altLang="zh-CN" sz="1600" b="1" u="sng" dirty="0">
                <a:latin typeface="+mn-ea"/>
                <a:sym typeface="+mn-ea"/>
              </a:rPr>
              <a:t>scanf</a:t>
            </a:r>
            <a:r>
              <a:rPr kumimoji="1" lang="zh-CN" altLang="en-US" sz="1600" b="1" u="sng" dirty="0">
                <a:latin typeface="+mn-ea"/>
                <a:sym typeface="+mn-ea"/>
              </a:rPr>
              <a:t>中表示输入长整型数，在</a:t>
            </a:r>
            <a:r>
              <a:rPr kumimoji="1" lang="en-US" altLang="zh-CN" sz="1600" b="1" u="sng" dirty="0">
                <a:latin typeface="+mn-ea"/>
                <a:sym typeface="+mn-ea"/>
              </a:rPr>
              <a:t>printf</a:t>
            </a:r>
            <a:r>
              <a:rPr kumimoji="1" lang="zh-CN" altLang="en-US" sz="1600" b="1" u="sng" dirty="0">
                <a:latin typeface="+mn-ea"/>
                <a:sym typeface="+mn-ea"/>
              </a:rPr>
              <a:t>中表示输出长整型数</a:t>
            </a:r>
            <a:r>
              <a:rPr kumimoji="1" lang="en-US" altLang="zh-CN" sz="1600" b="1" u="sng" dirty="0">
                <a:latin typeface="+mn-ea"/>
              </a:rPr>
              <a:t>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、如果格式控制符的数据类型和要读取的变量类型的字节大小不一致（例：</a:t>
            </a:r>
            <a:r>
              <a:rPr kumimoji="1" lang="en-US" altLang="zh-CN" sz="1600" b="1" dirty="0">
                <a:latin typeface="+mn-ea"/>
              </a:rPr>
              <a:t>4/8</a:t>
            </a:r>
            <a:r>
              <a:rPr kumimoji="1" lang="zh-CN" altLang="en-US" sz="1600" b="1" dirty="0">
                <a:latin typeface="+mn-ea"/>
              </a:rPr>
              <a:t>字节），则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200" b="1" u="sng" dirty="0">
                <a:latin typeface="+mn-ea"/>
                <a:sym typeface="+mn-ea"/>
              </a:rPr>
              <a:t>如果格式控制符的数据类型比要读取的变量类型字节小，将会</a:t>
            </a:r>
            <a:r>
              <a:rPr kumimoji="1" lang="zh-CN" altLang="en-US" sz="1200" b="1" u="sng" dirty="0">
                <a:latin typeface="+mn-ea"/>
                <a:sym typeface="+mn-ea"/>
              </a:rPr>
              <a:t>赋不可信的值给变量</a:t>
            </a:r>
            <a:r>
              <a:rPr kumimoji="1" lang="zh-CN" altLang="en-US" sz="1200" b="1" u="sng" dirty="0">
                <a:latin typeface="+mn-ea"/>
                <a:sym typeface="+mn-ea"/>
              </a:rPr>
              <a:t>；如果</a:t>
            </a:r>
            <a:r>
              <a:rPr kumimoji="1" lang="zh-CN" altLang="en-US" sz="1200" b="1" u="sng" dirty="0">
                <a:latin typeface="+mn-ea"/>
                <a:sym typeface="+mn-ea"/>
              </a:rPr>
              <a:t>格式控制符的数据类型比要读取的变量类型字节大，将会赋不可信的值给变量且有错误弹窗。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zh-CN" altLang="en-US" sz="1600" b="1" dirty="0">
                <a:latin typeface="+mn-ea"/>
              </a:rPr>
              <a:t>中，输出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型数据时，</a:t>
            </a:r>
            <a:r>
              <a:rPr kumimoji="1" lang="en-US" altLang="zh-CN" sz="1600" b="1" dirty="0">
                <a:latin typeface="+mn-ea"/>
              </a:rPr>
              <a:t>%f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</a:rPr>
              <a:t>无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差别；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中， 输入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型数据时，</a:t>
            </a:r>
            <a:r>
              <a:rPr kumimoji="1" lang="en-US" altLang="zh-CN" sz="1600" b="1" dirty="0">
                <a:latin typeface="+mn-ea"/>
              </a:rPr>
              <a:t>%f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%</a:t>
            </a:r>
            <a:r>
              <a:rPr kumimoji="1" lang="en-US" altLang="zh-CN" sz="1600" b="1" dirty="0" err="1">
                <a:latin typeface="+mn-ea"/>
              </a:rPr>
              <a:t>lf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</a:rPr>
              <a:t>有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差别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217984" y="3924294"/>
            <a:ext cx="2625871" cy="12367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84385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846972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123.45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545" y="4247515"/>
            <a:ext cx="1312545" cy="74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15" y="4194810"/>
            <a:ext cx="1695450" cy="9251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695" y="4379595"/>
            <a:ext cx="817245" cy="3263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4356735"/>
            <a:ext cx="1243965" cy="70294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5455" y="4382135"/>
            <a:ext cx="4017010" cy="495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090" y="3677285"/>
            <a:ext cx="3797935" cy="1974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6545" y="3749675"/>
            <a:ext cx="4232275" cy="1746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M.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 bwMode="auto">
          <a:xfrm>
            <a:off x="5714254" y="1323970"/>
            <a:ext cx="5122140" cy="24567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("%7f", &amp;f);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("%f\n", f);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5714254" y="3780692"/>
            <a:ext cx="5122140" cy="2039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1234.5678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12.345678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12345678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 bwMode="auto">
          <a:xfrm>
            <a:off x="592114" y="1323971"/>
            <a:ext cx="5122140" cy="24567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("%7.2f", &amp;f);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("%f\n", f);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 bwMode="auto">
          <a:xfrm>
            <a:off x="592114" y="3780693"/>
            <a:ext cx="5122140" cy="20398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1234.56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12.3456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123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90550" y="5820410"/>
            <a:ext cx="10245725" cy="855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%mf/%</a:t>
            </a:r>
            <a:r>
              <a:rPr kumimoji="1" lang="en-US" altLang="zh-CN" sz="1200" b="1" dirty="0" err="1">
                <a:latin typeface="+mn-ea"/>
              </a:rPr>
              <a:t>mlf</a:t>
            </a:r>
            <a:r>
              <a:rPr kumimoji="1" lang="zh-CN" altLang="en-US" sz="1200" b="1" dirty="0">
                <a:latin typeface="+mn-ea"/>
              </a:rPr>
              <a:t>如果指定了宽度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，则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______</a:t>
            </a:r>
            <a:r>
              <a:rPr kumimoji="1" lang="zh-CN" altLang="en-US" sz="1200" b="1" u="sng" dirty="0">
                <a:latin typeface="+mn-ea"/>
              </a:rPr>
              <a:t>只读取</a:t>
            </a:r>
            <a:r>
              <a:rPr kumimoji="1" lang="en-US" altLang="zh-CN" sz="1200" b="1" u="sng" dirty="0">
                <a:latin typeface="+mn-ea"/>
              </a:rPr>
              <a:t>m</a:t>
            </a:r>
            <a:r>
              <a:rPr kumimoji="1" lang="zh-CN" altLang="en-US" sz="1200" b="1" u="sng" dirty="0">
                <a:latin typeface="+mn-ea"/>
              </a:rPr>
              <a:t>位字符（小数点也算一位）并赋值给变量</a:t>
            </a:r>
            <a:r>
              <a:rPr kumimoji="1" lang="en-US" altLang="zh-CN" sz="1200" b="1" u="sng" dirty="0">
                <a:latin typeface="+mn-ea"/>
              </a:rPr>
              <a:t>_________</a:t>
            </a:r>
            <a:endParaRPr kumimoji="1" lang="en-US" altLang="zh-CN" sz="12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%m.nf/%</a:t>
            </a:r>
            <a:r>
              <a:rPr kumimoji="1" lang="en-US" altLang="zh-CN" sz="1200" b="1" dirty="0" err="1">
                <a:latin typeface="+mn-ea"/>
              </a:rPr>
              <a:t>m.nlf</a:t>
            </a:r>
            <a:r>
              <a:rPr kumimoji="1" lang="zh-CN" altLang="en-US" sz="1200" b="1" dirty="0">
                <a:latin typeface="+mn-ea"/>
              </a:rPr>
              <a:t>如果指定了精度（小数点后的位数），则</a:t>
            </a:r>
            <a:r>
              <a:rPr kumimoji="1" lang="en-US" altLang="zh-CN" sz="1200" b="1" u="sng" dirty="0">
                <a:latin typeface="+mn-ea"/>
              </a:rPr>
              <a:t>__</a:t>
            </a:r>
            <a:r>
              <a:rPr kumimoji="1" lang="zh-CN" altLang="en-US" sz="1200" b="1" u="sng" dirty="0">
                <a:latin typeface="+mn-ea"/>
              </a:rPr>
              <a:t>会将不可信值赋给变量（</a:t>
            </a:r>
            <a:r>
              <a:rPr kumimoji="1" lang="en-US" altLang="zh-CN" sz="1200" b="1" u="sng" dirty="0" err="1">
                <a:solidFill>
                  <a:schemeClr val="tx1"/>
                </a:solidFill>
                <a:latin typeface="+mn-ea"/>
                <a:sym typeface="+mn-ea"/>
              </a:rPr>
              <a:t>scanf</a:t>
            </a:r>
            <a:r>
              <a:rPr kumimoji="1" lang="zh-CN" altLang="en-US" sz="1200" b="1" u="sng" dirty="0">
                <a:solidFill>
                  <a:schemeClr val="tx1"/>
                </a:solidFill>
                <a:latin typeface="+mn-ea"/>
                <a:sym typeface="+mn-ea"/>
              </a:rPr>
              <a:t>的</a:t>
            </a:r>
            <a:r>
              <a:rPr kumimoji="1" lang="en-US" altLang="zh-CN" sz="1200" b="1" u="sng" dirty="0">
                <a:solidFill>
                  <a:schemeClr val="tx1"/>
                </a:solidFill>
                <a:latin typeface="+mn-ea"/>
                <a:sym typeface="+mn-ea"/>
              </a:rPr>
              <a:t>%f/%</a:t>
            </a:r>
            <a:r>
              <a:rPr kumimoji="1" lang="en-US" altLang="zh-CN" sz="1200" b="1" u="sng" dirty="0" err="1">
                <a:solidFill>
                  <a:schemeClr val="tx1"/>
                </a:solidFill>
                <a:latin typeface="+mn-ea"/>
                <a:sym typeface="+mn-ea"/>
              </a:rPr>
              <a:t>lf</a:t>
            </a:r>
            <a:r>
              <a:rPr kumimoji="1" lang="zh-CN" altLang="en-US" sz="1200" b="1" u="sng" dirty="0" err="1">
                <a:solidFill>
                  <a:schemeClr val="tx1"/>
                </a:solidFill>
                <a:latin typeface="+mn-ea"/>
                <a:sym typeface="+mn-ea"/>
              </a:rPr>
              <a:t>不</a:t>
            </a:r>
            <a:r>
              <a:rPr kumimoji="1" lang="zh-CN" altLang="en-US" sz="1200" b="1" u="sng" dirty="0">
                <a:solidFill>
                  <a:schemeClr val="tx1"/>
                </a:solidFill>
                <a:latin typeface="+mn-ea"/>
                <a:sym typeface="+mn-ea"/>
              </a:rPr>
              <a:t>支持</a:t>
            </a:r>
            <a:r>
              <a:rPr kumimoji="1" lang="en-US" altLang="zh-CN" sz="1200" b="1" u="sng" dirty="0">
                <a:solidFill>
                  <a:schemeClr val="tx1"/>
                </a:solidFill>
                <a:latin typeface="+mn-ea"/>
                <a:sym typeface="+mn-ea"/>
              </a:rPr>
              <a:t>.n</a:t>
            </a:r>
            <a:r>
              <a:rPr kumimoji="1" lang="zh-CN" altLang="en-US" sz="1200" b="1" u="sng" dirty="0">
                <a:solidFill>
                  <a:schemeClr val="tx1"/>
                </a:solidFill>
                <a:latin typeface="+mn-ea"/>
                <a:sym typeface="+mn-ea"/>
              </a:rPr>
              <a:t>形式的附加格式控制符</a:t>
            </a:r>
            <a:r>
              <a:rPr kumimoji="1" lang="zh-CN" altLang="en-US" sz="1200" b="1" u="sng" dirty="0">
                <a:latin typeface="+mn-ea"/>
              </a:rPr>
              <a:t>）</a:t>
            </a:r>
            <a:r>
              <a:rPr kumimoji="1" lang="en-US" altLang="zh-CN" sz="1200" b="1" u="sng" dirty="0">
                <a:latin typeface="+mn-ea"/>
              </a:rPr>
              <a:t>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（注：确认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%f/%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lf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是否支持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.n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形式的附加格式控制符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850" y="3780790"/>
            <a:ext cx="1350645" cy="5448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1680" y="4460875"/>
            <a:ext cx="1174115" cy="5353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0045" y="3319780"/>
            <a:ext cx="3942715" cy="3981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6890" y="5131435"/>
            <a:ext cx="1441450" cy="6223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4105" y="3780790"/>
            <a:ext cx="971550" cy="6032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4105" y="4460875"/>
            <a:ext cx="908050" cy="6032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5505" y="5140960"/>
            <a:ext cx="1200150" cy="6413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N.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2215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c1, c2;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 %c", &amp;c1, &amp;c2);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("c1=%c c2=%c\n", c1, c2);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3539578"/>
            <a:ext cx="5122140" cy="2083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ABCD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 BCD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'A' BCD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\n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73"/>
            <a:ext cx="5122140" cy="2215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c1, c2;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&amp;c1, &amp;c2);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间无空格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("c1=%d c2=%d\n", c1, c2);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3539577"/>
            <a:ext cx="5122140" cy="2083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ABCD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A BCD</a:t>
            </a:r>
            <a:r>
              <a:rPr kumimoji="1" lang="en-US" altLang="zh-CN" sz="1200" b="1" dirty="0">
                <a:latin typeface="+mn-ea"/>
              </a:rPr>
              <a:t>↙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（特别关注此项的差异）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'A' BCD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\n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90589" y="5623353"/>
            <a:ext cx="10245805" cy="910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只读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u="sng" dirty="0">
                <a:latin typeface="+mn-ea"/>
              </a:rPr>
              <a:t>_1__</a:t>
            </a:r>
            <a:r>
              <a:rPr kumimoji="1" lang="zh-CN" altLang="en-US" sz="1200" b="1" dirty="0">
                <a:latin typeface="+mn-ea"/>
              </a:rPr>
              <a:t>个字符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在输入转义符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单引号等特殊字符时，得到的是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______</a:t>
            </a:r>
            <a:r>
              <a:rPr kumimoji="1" lang="zh-CN" altLang="en-US" sz="1200" b="1" u="sng" dirty="0">
                <a:latin typeface="+mn-ea"/>
                <a:sym typeface="+mn-ea"/>
              </a:rPr>
              <a:t>特殊字符自身的</a:t>
            </a:r>
            <a:r>
              <a:rPr kumimoji="1" lang="en-US" altLang="zh-CN" sz="1200" b="1" u="sng" dirty="0">
                <a:latin typeface="+mn-ea"/>
                <a:sym typeface="+mn-ea"/>
              </a:rPr>
              <a:t>ASCII</a:t>
            </a:r>
            <a:r>
              <a:rPr kumimoji="1" lang="zh-CN" altLang="en-US" sz="1200" b="1" u="sng" dirty="0">
                <a:latin typeface="+mn-ea"/>
                <a:sym typeface="+mn-ea"/>
              </a:rPr>
              <a:t>码</a:t>
            </a:r>
            <a:r>
              <a:rPr kumimoji="1" lang="en-US" altLang="zh-CN" sz="1200" b="1" u="sng" dirty="0">
                <a:latin typeface="+mn-ea"/>
              </a:rPr>
              <a:t>___________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特殊字符自身的</a:t>
            </a:r>
            <a:r>
              <a:rPr kumimoji="1" lang="en-US" altLang="zh-CN" sz="1200" b="1" dirty="0">
                <a:latin typeface="+mn-ea"/>
              </a:rPr>
              <a:t>ASCII</a:t>
            </a:r>
            <a:r>
              <a:rPr kumimoji="1" lang="zh-CN" altLang="en-US" sz="1200" b="1" dirty="0">
                <a:latin typeface="+mn-ea"/>
              </a:rPr>
              <a:t>码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特殊字符的转义含义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、空格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</a:t>
            </a:r>
            <a:r>
              <a:rPr kumimoji="1" lang="zh-CN" altLang="en-US" sz="1200" b="1" u="sng" dirty="0">
                <a:latin typeface="+mn-ea"/>
              </a:rPr>
              <a:t>是</a:t>
            </a:r>
            <a:r>
              <a:rPr kumimoji="1" lang="en-US" altLang="zh-CN" sz="1200" b="1" u="sng" dirty="0">
                <a:latin typeface="+mn-ea"/>
              </a:rPr>
              <a:t>___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是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不是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en-US" altLang="zh-CN" sz="1200" b="1" dirty="0" err="1">
                <a:latin typeface="+mn-ea"/>
              </a:rPr>
              <a:t>scanf</a:t>
            </a:r>
            <a:r>
              <a:rPr kumimoji="1" lang="zh-CN" altLang="en-US" sz="1200" b="1" dirty="0">
                <a:latin typeface="+mn-ea"/>
              </a:rPr>
              <a:t>中</a:t>
            </a:r>
            <a:r>
              <a:rPr kumimoji="1" lang="en-US" altLang="zh-CN" sz="1200" b="1" dirty="0">
                <a:latin typeface="+mn-ea"/>
              </a:rPr>
              <a:t>%c</a:t>
            </a:r>
            <a:r>
              <a:rPr kumimoji="1" lang="zh-CN" altLang="en-US" sz="1200" b="1" dirty="0">
                <a:latin typeface="+mn-ea"/>
              </a:rPr>
              <a:t>方式的有效输入，但必须注意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____</a:t>
            </a:r>
            <a:r>
              <a:rPr kumimoji="1" lang="zh-CN" altLang="en-US" sz="1200" b="1" u="sng" dirty="0">
                <a:latin typeface="+mn-ea"/>
              </a:rPr>
              <a:t>格式控制表列不要有对应的空格</a:t>
            </a:r>
            <a:r>
              <a:rPr kumimoji="1" lang="en-US" altLang="zh-CN" sz="1200" b="1" u="sng" dirty="0">
                <a:latin typeface="+mn-ea"/>
              </a:rPr>
              <a:t>________</a:t>
            </a:r>
            <a:r>
              <a:rPr kumimoji="1" lang="en-US" altLang="zh-CN" sz="1200" b="1" dirty="0">
                <a:latin typeface="+mn-ea"/>
              </a:rPr>
              <a:t>_____________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575" y="3539490"/>
            <a:ext cx="723900" cy="4845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25" y="4064000"/>
            <a:ext cx="641350" cy="482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0" y="4586605"/>
            <a:ext cx="736600" cy="4838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2225" y="5111750"/>
            <a:ext cx="742950" cy="4705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900" y="3539490"/>
            <a:ext cx="929640" cy="5060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7825" y="4045585"/>
            <a:ext cx="807085" cy="4876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7475" y="4586605"/>
            <a:ext cx="793750" cy="4876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5160010"/>
            <a:ext cx="851535" cy="4635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O.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3924295"/>
            <a:ext cx="2625871" cy="12367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2114" y="1323972"/>
            <a:ext cx="2625871" cy="26003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short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=%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hd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217985" y="1323970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=%d\n",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43856" y="1323969"/>
            <a:ext cx="2625871" cy="2600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long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=%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ld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8469630" y="1323975"/>
            <a:ext cx="2695575" cy="260032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float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=%f\n",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0550" y="5161280"/>
            <a:ext cx="10580370" cy="13728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%c</a:t>
            </a:r>
            <a:r>
              <a:rPr kumimoji="1" lang="zh-CN" altLang="en-US" sz="1600" b="1" dirty="0">
                <a:latin typeface="+mn-ea"/>
              </a:rPr>
              <a:t>方式读入时，地址表列中的变量不能是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整型或浮点型（多字节数据类型）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类型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不要列</a:t>
            </a:r>
            <a:r>
              <a:rPr kumimoji="1" lang="en-US" altLang="zh-CN" sz="1600" b="1" dirty="0">
                <a:latin typeface="+mn-ea"/>
              </a:rPr>
              <a:t>short/int/long/float</a:t>
            </a:r>
            <a:r>
              <a:rPr kumimoji="1" lang="zh-CN" altLang="en-US" sz="1600" b="1" dirty="0">
                <a:latin typeface="+mn-ea"/>
              </a:rPr>
              <a:t>等具体名称，总结共性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目前只需要记住现象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结论，学习完第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章后，会从原理上理解为什么有错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endParaRPr kumimoji="1"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217984" y="3924296"/>
            <a:ext cx="2625871" cy="12367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843857" y="3924297"/>
            <a:ext cx="2625871" cy="1236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8469630" y="3924300"/>
            <a:ext cx="2695575" cy="12369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A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4473575"/>
            <a:ext cx="920750" cy="6286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8700"/>
            <a:ext cx="3799840" cy="2032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6475" y="4473575"/>
            <a:ext cx="1238250" cy="6159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910" y="3810000"/>
            <a:ext cx="4152265" cy="1733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524375"/>
            <a:ext cx="1162050" cy="5651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970" y="3549650"/>
            <a:ext cx="4658360" cy="19367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2225" y="4505325"/>
            <a:ext cx="1670050" cy="5969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5055" y="3810000"/>
            <a:ext cx="4636135" cy="2057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P.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3"/>
            <a:ext cx="5122140" cy="52101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s1[10],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s2[10];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//s1/s2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是数组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后续内容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("%s %s", s1, s2);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("s1=%s\ns2=%s\n", s1, s2);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* 特别说明：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数组名，代表了数组的首地址，因此放在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中时，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s1/s2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可以不加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&amp;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，具体概念后续数组时再详细说明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1323972"/>
            <a:ext cx="5122140" cy="52101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 ji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ji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hello1234</a:t>
            </a:r>
            <a:r>
              <a:rPr kumimoji="1" lang="en-US" altLang="zh-CN" sz="1200" b="1" dirty="0">
                <a:latin typeface="+mn-ea"/>
              </a:rPr>
              <a:t>↙(9</a:t>
            </a:r>
            <a:r>
              <a:rPr kumimoji="1" lang="zh-CN" altLang="en-US" sz="1200" b="1" dirty="0">
                <a:latin typeface="+mn-ea"/>
              </a:rPr>
              <a:t>个字符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tong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hello12345</a:t>
            </a:r>
            <a:r>
              <a:rPr kumimoji="1" lang="en-US" altLang="zh-CN" sz="1200" b="1" dirty="0">
                <a:latin typeface="+mn-ea"/>
              </a:rPr>
              <a:t>↙(10</a:t>
            </a:r>
            <a:r>
              <a:rPr kumimoji="1" lang="zh-CN" altLang="en-US" sz="1200" b="1" dirty="0">
                <a:latin typeface="+mn-ea"/>
              </a:rPr>
              <a:t>个字符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 err="1">
                <a:latin typeface="+mn-ea"/>
              </a:rPr>
              <a:t>tongjiuniversity</a:t>
            </a:r>
            <a:r>
              <a:rPr kumimoji="1" lang="en-US" altLang="zh-CN" sz="1200" b="1" dirty="0">
                <a:latin typeface="+mn-ea"/>
              </a:rPr>
              <a:t>↙(</a:t>
            </a:r>
            <a:r>
              <a:rPr kumimoji="1" lang="zh-CN" altLang="en-US" sz="1200" b="1" dirty="0">
                <a:latin typeface="+mn-ea"/>
              </a:rPr>
              <a:t>超过</a:t>
            </a:r>
            <a:r>
              <a:rPr kumimoji="1" lang="en-US" altLang="zh-CN" sz="1200" b="1" dirty="0">
                <a:latin typeface="+mn-ea"/>
              </a:rPr>
              <a:t>10</a:t>
            </a:r>
            <a:r>
              <a:rPr kumimoji="1" lang="zh-CN" altLang="en-US" sz="1200" b="1" dirty="0">
                <a:latin typeface="+mn-ea"/>
              </a:rPr>
              <a:t>个</a:t>
            </a:r>
            <a:r>
              <a:rPr kumimoji="1" lang="en-US" altLang="zh-CN" sz="1200" b="1" dirty="0"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       </a:t>
            </a:r>
            <a:r>
              <a:rPr kumimoji="1" lang="en-US" altLang="zh-CN" sz="1200" b="1" u="sng" dirty="0">
                <a:latin typeface="+mn-ea"/>
              </a:rPr>
              <a:t>hello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%s__</a:t>
            </a:r>
            <a:r>
              <a:rPr kumimoji="1" lang="en-US" altLang="zh-CN" sz="1200" b="1" u="sng" dirty="0">
                <a:latin typeface="+mn-ea"/>
              </a:rPr>
              <a:t>_</a:t>
            </a:r>
            <a:r>
              <a:rPr kumimoji="1" lang="zh-CN" altLang="en-US" sz="1200" b="1" u="sng" dirty="0">
                <a:latin typeface="+mn-ea"/>
              </a:rPr>
              <a:t>能</a:t>
            </a:r>
            <a:r>
              <a:rPr kumimoji="1" lang="en-US" altLang="zh-CN" sz="1200" b="1" u="sng" dirty="0">
                <a:latin typeface="+mn-ea"/>
              </a:rPr>
              <a:t>__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能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不能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读入含空格的字符串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>
                <a:latin typeface="+mn-ea"/>
              </a:rPr>
              <a:t>%s</a:t>
            </a:r>
            <a:r>
              <a:rPr kumimoji="1" lang="zh-CN" altLang="en-US" sz="1200" b="1" dirty="0">
                <a:latin typeface="+mn-ea"/>
              </a:rPr>
              <a:t>输入时，如果数组的大小为</a:t>
            </a:r>
            <a:r>
              <a:rPr kumimoji="1" lang="en-US" altLang="zh-CN" sz="1200" b="1" dirty="0">
                <a:latin typeface="+mn-ea"/>
              </a:rPr>
              <a:t>n</a:t>
            </a:r>
            <a:r>
              <a:rPr kumimoji="1" lang="zh-CN" altLang="en-US" sz="1200" b="1" dirty="0">
                <a:latin typeface="+mn-ea"/>
              </a:rPr>
              <a:t>，则最多输入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en-US" altLang="zh-CN" sz="1200" b="1" u="sng" dirty="0">
                <a:latin typeface="+mn-ea"/>
              </a:rPr>
              <a:t>__n-1___</a:t>
            </a:r>
            <a:r>
              <a:rPr kumimoji="1" lang="zh-CN" altLang="en-US" sz="1200" b="1" dirty="0">
                <a:latin typeface="+mn-ea"/>
              </a:rPr>
              <a:t>个字符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75" y="1241425"/>
            <a:ext cx="578485" cy="648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1943100"/>
            <a:ext cx="494665" cy="669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613025"/>
            <a:ext cx="736600" cy="6216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1250" y="3321050"/>
            <a:ext cx="795655" cy="647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450" y="3139440"/>
            <a:ext cx="1617345" cy="9582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615" y="4495800"/>
            <a:ext cx="1165225" cy="6597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180" y="4303395"/>
            <a:ext cx="1522730" cy="85217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Q.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2"/>
            <a:ext cx="5122140" cy="27116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char s[80];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("%s", s);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("%s\n", s);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4" y="4035668"/>
            <a:ext cx="5122140" cy="2498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"\r\n\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tabc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"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该字符串真正的内存存储为</a:t>
            </a:r>
            <a:r>
              <a:rPr kumimoji="1" lang="en-US" altLang="zh-CN" sz="1600" b="1" u="sng" dirty="0">
                <a:solidFill>
                  <a:srgbClr val="3333CC"/>
                </a:solidFill>
                <a:latin typeface="+mn-ea"/>
              </a:rPr>
              <a:t>_7_</a:t>
            </a: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个字节，这些字节的值</a:t>
            </a: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3333CC"/>
                </a:solidFill>
                <a:latin typeface="+mn-ea"/>
              </a:rPr>
              <a:t>分别是</a:t>
            </a:r>
            <a:r>
              <a:rPr kumimoji="1" lang="en-US" altLang="zh-CN" sz="1600" b="1" u="sng" dirty="0">
                <a:solidFill>
                  <a:srgbClr val="3333CC"/>
                </a:solidFill>
                <a:latin typeface="+mn-ea"/>
              </a:rPr>
              <a:t>__13</a:t>
            </a:r>
            <a:r>
              <a:rPr kumimoji="1" lang="zh-CN" altLang="en-US" sz="1600" b="1" u="sng" dirty="0">
                <a:solidFill>
                  <a:srgbClr val="3333CC"/>
                </a:solidFill>
                <a:latin typeface="+mn-ea"/>
              </a:rPr>
              <a:t>、</a:t>
            </a:r>
            <a:r>
              <a:rPr kumimoji="1" lang="en-US" altLang="zh-CN" sz="1600" b="1" u="sng" dirty="0">
                <a:solidFill>
                  <a:srgbClr val="3333CC"/>
                </a:solidFill>
                <a:latin typeface="+mn-ea"/>
              </a:rPr>
              <a:t>10</a:t>
            </a:r>
            <a:r>
              <a:rPr kumimoji="1" lang="zh-CN" altLang="en-US" sz="1600" b="1" u="sng" dirty="0">
                <a:solidFill>
                  <a:srgbClr val="3333CC"/>
                </a:solidFill>
                <a:latin typeface="+mn-ea"/>
              </a:rPr>
              <a:t>、</a:t>
            </a:r>
            <a:r>
              <a:rPr kumimoji="1" lang="en-US" altLang="zh-CN" sz="1600" b="1" u="sng" dirty="0">
                <a:solidFill>
                  <a:srgbClr val="3333CC"/>
                </a:solidFill>
                <a:latin typeface="+mn-ea"/>
              </a:rPr>
              <a:t>9</a:t>
            </a:r>
            <a:r>
              <a:rPr kumimoji="1" lang="zh-CN" altLang="en-US" sz="1600" b="1" u="sng" dirty="0">
                <a:solidFill>
                  <a:srgbClr val="3333CC"/>
                </a:solidFill>
                <a:latin typeface="+mn-ea"/>
              </a:rPr>
              <a:t>、</a:t>
            </a:r>
            <a:r>
              <a:rPr kumimoji="1" lang="en-US" altLang="zh-CN" sz="1600" b="1" u="sng" dirty="0">
                <a:solidFill>
                  <a:srgbClr val="3333CC"/>
                </a:solidFill>
                <a:latin typeface="+mn-ea"/>
              </a:rPr>
              <a:t>97</a:t>
            </a:r>
            <a:r>
              <a:rPr kumimoji="1" lang="zh-CN" altLang="en-US" sz="1600" b="1" u="sng" dirty="0">
                <a:solidFill>
                  <a:srgbClr val="3333CC"/>
                </a:solidFill>
                <a:latin typeface="+mn-ea"/>
              </a:rPr>
              <a:t>、</a:t>
            </a:r>
            <a:r>
              <a:rPr kumimoji="1" lang="en-US" altLang="zh-CN" sz="1600" b="1" u="sng" dirty="0">
                <a:solidFill>
                  <a:srgbClr val="3333CC"/>
                </a:solidFill>
                <a:latin typeface="+mn-ea"/>
              </a:rPr>
              <a:t>98</a:t>
            </a:r>
            <a:r>
              <a:rPr kumimoji="1" lang="zh-CN" altLang="en-US" sz="1600" b="1" u="sng" dirty="0">
                <a:solidFill>
                  <a:srgbClr val="3333CC"/>
                </a:solidFill>
                <a:latin typeface="+mn-ea"/>
              </a:rPr>
              <a:t>、</a:t>
            </a:r>
            <a:r>
              <a:rPr kumimoji="1" lang="en-US" altLang="zh-CN" sz="1600" b="1" u="sng" dirty="0">
                <a:solidFill>
                  <a:srgbClr val="3333CC"/>
                </a:solidFill>
                <a:latin typeface="+mn-ea"/>
              </a:rPr>
              <a:t>99</a:t>
            </a:r>
            <a:r>
              <a:rPr kumimoji="1" lang="zh-CN" altLang="en-US" sz="1600" b="1" u="sng" dirty="0">
                <a:solidFill>
                  <a:srgbClr val="3333CC"/>
                </a:solidFill>
                <a:latin typeface="+mn-ea"/>
              </a:rPr>
              <a:t>、</a:t>
            </a:r>
            <a:r>
              <a:rPr kumimoji="1" lang="en-US" altLang="zh-CN" sz="1600" b="1" u="sng" dirty="0">
                <a:solidFill>
                  <a:srgbClr val="3333CC"/>
                </a:solidFill>
                <a:latin typeface="+mn-ea"/>
              </a:rPr>
              <a:t>0__</a:t>
            </a:r>
            <a:r>
              <a:rPr kumimoji="1" lang="en-US" altLang="zh-CN" sz="1600" b="1" u="sng" dirty="0">
                <a:solidFill>
                  <a:srgbClr val="3333CC"/>
                </a:solidFill>
                <a:latin typeface="+mn-ea"/>
              </a:rPr>
              <a:t>_____</a:t>
            </a:r>
            <a:endParaRPr kumimoji="1" lang="en-US" altLang="zh-CN" sz="1600" b="1" u="sng" dirty="0">
              <a:solidFill>
                <a:srgbClr val="3333CC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714254" y="1323973"/>
            <a:ext cx="5122140" cy="27116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char s[80], t[80];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s,%s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s,t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("s=%s\n", s);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("t=%s\n", 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14254" y="4035666"/>
            <a:ext cx="5122140" cy="24984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abc,def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2-E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不同，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"%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s,%s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之间的逗号是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_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+mn-ea"/>
                <a:sym typeface="+mn-ea"/>
              </a:rPr>
              <a:t>当做第一个字符串的有效字符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___________</a:t>
            </a:r>
            <a:endParaRPr kumimoji="1" lang="en-US" altLang="zh-CN" sz="1600" b="1" u="sng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原样输入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当做第一个字符串的有效字符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850" y="4365625"/>
            <a:ext cx="1172210" cy="673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4365625"/>
            <a:ext cx="5296535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格式化输入函数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R.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2"/>
            <a:ext cx="5122140" cy="2583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ret;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&amp;a);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ret=%d\n", a,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4254" y="3906981"/>
            <a:ext cx="5122140" cy="2124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10 20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 20a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>
                <a:latin typeface="+mn-ea"/>
              </a:rPr>
              <a:t>10a20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假设键盘输入为：</a:t>
            </a:r>
            <a:r>
              <a:rPr kumimoji="1" lang="en-US" altLang="zh-CN" sz="1200" b="1" u="sng" dirty="0" err="1">
                <a:latin typeface="+mn-ea"/>
              </a:rPr>
              <a:t>abc</a:t>
            </a:r>
            <a:r>
              <a:rPr kumimoji="1" lang="en-US" altLang="zh-CN" sz="1200" b="1" dirty="0">
                <a:latin typeface="+mn-ea"/>
              </a:rPr>
              <a:t>↙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则输出为：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714254" y="1323971"/>
            <a:ext cx="5122140" cy="2583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a, b, ret;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 %d", &amp;a, &amp;b);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("a=%d b=%d ret=%d\n", a, b,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3906981"/>
            <a:ext cx="5122140" cy="21243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>
                <a:latin typeface="+mn-ea"/>
              </a:rPr>
              <a:t>10a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假设键盘输入为：</a:t>
            </a:r>
            <a:r>
              <a:rPr kumimoji="1" lang="en-US" altLang="zh-CN" sz="1600" b="1" u="sng" dirty="0" err="1">
                <a:latin typeface="+mn-ea"/>
              </a:rPr>
              <a:t>abc</a:t>
            </a:r>
            <a:r>
              <a:rPr kumimoji="1" lang="en-US" altLang="zh-CN" sz="1600" b="1" dirty="0">
                <a:latin typeface="+mn-ea"/>
              </a:rPr>
              <a:t>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则输出为：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0589" y="6031345"/>
            <a:ext cx="10245805" cy="5027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zh-CN" altLang="en-US" sz="1600" b="1" dirty="0">
                <a:latin typeface="+mn-ea"/>
              </a:rPr>
              <a:t>返回值是</a:t>
            </a:r>
            <a:r>
              <a:rPr kumimoji="1" lang="en-US" altLang="zh-CN" sz="1600" b="1" u="sng" dirty="0">
                <a:latin typeface="+mn-ea"/>
              </a:rPr>
              <a:t>___成功读取和</a:t>
            </a:r>
            <a:r>
              <a:rPr kumimoji="1" lang="zh-CN" altLang="en-US" sz="1600" b="1" u="sng" dirty="0">
                <a:latin typeface="+mn-ea"/>
              </a:rPr>
              <a:t>赋值</a:t>
            </a:r>
            <a:r>
              <a:rPr kumimoji="1" lang="en-US" altLang="zh-CN" sz="1600" b="1" u="sng" dirty="0">
                <a:latin typeface="+mn-ea"/>
              </a:rPr>
              <a:t>的输入数据项的个数</a:t>
            </a:r>
            <a:r>
              <a:rPr kumimoji="1" lang="en-US" altLang="zh-CN" sz="1600" b="1" u="sng" dirty="0">
                <a:latin typeface="+mn-ea"/>
              </a:rPr>
              <a:t>_____</a:t>
            </a:r>
            <a:endParaRPr kumimoji="1" lang="en-US" altLang="zh-CN" sz="1600" b="1" u="sng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4475" y="3907155"/>
            <a:ext cx="908050" cy="609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4575175"/>
            <a:ext cx="927100" cy="692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5387975"/>
            <a:ext cx="1587500" cy="5778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820" y="3789680"/>
            <a:ext cx="1143000" cy="5283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4384675"/>
            <a:ext cx="1160780" cy="5549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125" y="5006340"/>
            <a:ext cx="1524635" cy="4749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650" y="5547995"/>
            <a:ext cx="2128520" cy="5270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0.25007874015756,&quot;left&quot;:46.62314960629921,&quot;top&quot;:104.24976377952756,&quot;width&quot;:806.636220472441}"/>
</p:tagLst>
</file>

<file path=ppt/tags/tag2.xml><?xml version="1.0" encoding="utf-8"?>
<p:tagLst xmlns:p="http://schemas.openxmlformats.org/presentationml/2006/main">
  <p:tag name="KSO_WM_DIAGRAM_VIRTUALLY_FRAME" val="{&quot;height&quot;:410.25007874015756,&quot;left&quot;:46.62314960629921,&quot;top&quot;:104.24976377952756,&quot;width&quot;:806.636220472441}"/>
</p:tagLst>
</file>

<file path=ppt/tags/tag3.xml><?xml version="1.0" encoding="utf-8"?>
<p:tagLst xmlns:p="http://schemas.openxmlformats.org/presentationml/2006/main">
  <p:tag name="KSO_WM_DIAGRAM_VIRTUALLY_FRAME" val="{&quot;height&quot;:410.25007874015756,&quot;left&quot;:46.62314960629921,&quot;top&quot;:104.24976377952756,&quot;width&quot;:806.636220472441}"/>
</p:tagLst>
</file>

<file path=ppt/tags/tag4.xml><?xml version="1.0" encoding="utf-8"?>
<p:tagLst xmlns:p="http://schemas.openxmlformats.org/presentationml/2006/main">
  <p:tag name="KSO_WM_DIAGRAM_VIRTUALLY_FRAME" val="{&quot;height&quot;:410.25007874015756,&quot;left&quot;:46.62314960629921,&quot;top&quot;:104.24976377952756,&quot;width&quot;:806.636220472441}"/>
</p:tagLst>
</file>

<file path=ppt/tags/tag5.xml><?xml version="1.0" encoding="utf-8"?>
<p:tagLst xmlns:p="http://schemas.openxmlformats.org/presentationml/2006/main">
  <p:tag name="KSO_WM_DIAGRAM_VIRTUALLY_FRAME" val="{&quot;height&quot;:410.25007874015756,&quot;left&quot;:46.62314960629921,&quot;top&quot;:104.24976377952756,&quot;width&quot;:806.636220472441}"/>
</p:tagLst>
</file>

<file path=ppt/tags/tag6.xml><?xml version="1.0" encoding="utf-8"?>
<p:tagLst xmlns:p="http://schemas.openxmlformats.org/presentationml/2006/main">
  <p:tag name="KSO_WM_DIAGRAM_VIRTUALLY_FRAME" val="{&quot;height&quot;:410.25007874015756,&quot;left&quot;:46.62314960629921,&quot;top&quot;:104.24976377952756,&quot;width&quot;:806.636220472441}"/>
</p:tagLst>
</file>

<file path=ppt/tags/tag7.xml><?xml version="1.0" encoding="utf-8"?>
<p:tagLst xmlns:p="http://schemas.openxmlformats.org/presentationml/2006/main">
  <p:tag name="KSO_WM_DIAGRAM_VIRTUALLY_FRAME" val="{&quot;height&quot;:356.3004724409449,&quot;left&quot;:46.50307086614173,&quot;top&quot;:104.24952755905512,&quot;width&quot;:542.5133070866142}"/>
</p:tagLst>
</file>

<file path=ppt/tags/tag8.xml><?xml version="1.0" encoding="utf-8"?>
<p:tagLst xmlns:p="http://schemas.openxmlformats.org/presentationml/2006/main">
  <p:tag name="KSO_WM_DIAGRAM_VIRTUALLY_FRAME" val="{&quot;height&quot;:356.3004724409449,&quot;left&quot;:46.50307086614173,&quot;top&quot;:104.24952755905512,&quot;width&quot;:542.5133070866142}"/>
</p:tagLst>
</file>

<file path=ppt/tags/tag9.xml><?xml version="1.0" encoding="utf-8"?>
<p:tagLst xmlns:p="http://schemas.openxmlformats.org/presentationml/2006/main">
  <p:tag name="KSO_WM_DIAGRAM_VIRTUALLY_FRAME" val="{&quot;height&quot;:356.3004724409449,&quot;left&quot;:46.50307086614173,&quot;top&quot;:104.24952755905512,&quot;width&quot;:542.5133070866142}"/>
</p:tagLst>
</file>

<file path=ppt/tags/tag10.xml><?xml version="1.0" encoding="utf-8"?>
<p:tagLst xmlns:p="http://schemas.openxmlformats.org/presentationml/2006/main">
  <p:tag name="KSO_WM_DIAGRAM_VIRTUALLY_FRAME" val="{&quot;height&quot;:356.3004724409449,&quot;left&quot;:46.50307086614173,&quot;top&quot;:104.24952755905512,&quot;width&quot;:542.5133070866142}"/>
</p:tagLst>
</file>

<file path=ppt/tags/tag11.xml><?xml version="1.0" encoding="utf-8"?>
<p:tagLst xmlns:p="http://schemas.openxmlformats.org/presentationml/2006/main">
  <p:tag name="KSO_WM_DIAGRAM_VIRTUALLY_FRAME" val="{&quot;height&quot;:356.3004724409449,&quot;left&quot;:46.50307086614173,&quot;top&quot;:104.24952755905512,&quot;width&quot;:542.5133070866142}"/>
</p:tagLst>
</file>

<file path=ppt/tags/tag12.xml><?xml version="1.0" encoding="utf-8"?>
<p:tagLst xmlns:p="http://schemas.openxmlformats.org/presentationml/2006/main">
  <p:tag name="KSO_WM_DIAGRAM_VIRTUALLY_FRAME" val="{&quot;height&quot;:356.3004724409449,&quot;left&quot;:46.50307086614173,&quot;top&quot;:104.24952755905512,&quot;width&quot;:542.5133070866142}"/>
</p:tagLst>
</file>

<file path=ppt/tags/tag13.xml><?xml version="1.0" encoding="utf-8"?>
<p:tagLst xmlns:p="http://schemas.openxmlformats.org/presentationml/2006/main">
  <p:tag name="KSO_WM_DIAGRAM_VIRTUALLY_FRAME" val="{&quot;height&quot;:356.3004724409449,&quot;left&quot;:46.50307086614173,&quot;top&quot;:104.24952755905512,&quot;width&quot;:542.5133070866142}"/>
</p:tagLst>
</file>

<file path=ppt/tags/tag14.xml><?xml version="1.0" encoding="utf-8"?>
<p:tagLst xmlns:p="http://schemas.openxmlformats.org/presentationml/2006/main">
  <p:tag name="KSO_WM_DIAGRAM_VIRTUALLY_FRAME" val="{&quot;height&quot;:410.2496850393701,&quot;left&quot;:46.62314960629921,&quot;top&quot;:104.24960629921259,&quot;width&quot;:806.636220472441}"/>
</p:tagLst>
</file>

<file path=ppt/tags/tag15.xml><?xml version="1.0" encoding="utf-8"?>
<p:tagLst xmlns:p="http://schemas.openxmlformats.org/presentationml/2006/main">
  <p:tag name="KSO_WM_DIAGRAM_VIRTUALLY_FRAME" val="{&quot;height&quot;:410.2496850393701,&quot;left&quot;:46.62314960629921,&quot;top&quot;:104.24960629921259,&quot;width&quot;:806.636220472441}"/>
</p:tagLst>
</file>

<file path=ppt/tags/tag16.xml><?xml version="1.0" encoding="utf-8"?>
<p:tagLst xmlns:p="http://schemas.openxmlformats.org/presentationml/2006/main">
  <p:tag name="KSO_WM_DIAGRAM_VIRTUALLY_FRAME" val="{&quot;height&quot;:410.2496850393701,&quot;left&quot;:46.62314960629921,&quot;top&quot;:104.24960629921259,&quot;width&quot;:806.636220472441}"/>
</p:tagLst>
</file>

<file path=ppt/tags/tag17.xml><?xml version="1.0" encoding="utf-8"?>
<p:tagLst xmlns:p="http://schemas.openxmlformats.org/presentationml/2006/main">
  <p:tag name="KSO_WM_DIAGRAM_VIRTUALLY_FRAME" val="{&quot;height&quot;:410.2496850393701,&quot;left&quot;:46.62314960629921,&quot;top&quot;:104.24960629921259,&quot;width&quot;:806.636220472441}"/>
</p:tagLst>
</file>

<file path=ppt/tags/tag18.xml><?xml version="1.0" encoding="utf-8"?>
<p:tagLst xmlns:p="http://schemas.openxmlformats.org/presentationml/2006/main">
  <p:tag name="KSO_WM_DIAGRAM_VIRTUALLY_FRAME" val="{&quot;height&quot;:410.2496850393701,&quot;left&quot;:46.62314960629921,&quot;top&quot;:104.24960629921259,&quot;width&quot;:806.636220472441}"/>
</p:tagLst>
</file>

<file path=ppt/tags/tag19.xml><?xml version="1.0" encoding="utf-8"?>
<p:tagLst xmlns:p="http://schemas.openxmlformats.org/presentationml/2006/main">
  <p:tag name="KSO_WM_DIAGRAM_VIRTUALLY_FRAME" val="{&quot;height&quot;:410.2496850393701,&quot;left&quot;:46.62314960629921,&quot;top&quot;:104.24960629921259,&quot;width&quot;:806.636220472441}"/>
</p:tagLst>
</file>

<file path=ppt/tags/tag20.xml><?xml version="1.0" encoding="utf-8"?>
<p:tagLst xmlns:p="http://schemas.openxmlformats.org/presentationml/2006/main">
  <p:tag name="KSO_WM_DIAGRAM_VIRTUALLY_FRAME" val="{&quot;height&quot;:354.057874015748,&quot;left&quot;:46.62314960629921,&quot;top&quot;:104.24960629921259,&quot;width&quot;:806.636220472441}"/>
</p:tagLst>
</file>

<file path=ppt/tags/tag21.xml><?xml version="1.0" encoding="utf-8"?>
<p:tagLst xmlns:p="http://schemas.openxmlformats.org/presentationml/2006/main">
  <p:tag name="KSO_WM_DIAGRAM_VIRTUALLY_FRAME" val="{&quot;height&quot;:354.057874015748,&quot;left&quot;:46.62314960629921,&quot;top&quot;:104.24960629921259,&quot;width&quot;:806.636220472441}"/>
</p:tagLst>
</file>

<file path=ppt/tags/tag22.xml><?xml version="1.0" encoding="utf-8"?>
<p:tagLst xmlns:p="http://schemas.openxmlformats.org/presentationml/2006/main">
  <p:tag name="KSO_WM_DIAGRAM_VIRTUALLY_FRAME" val="{&quot;height&quot;:354.057874015748,&quot;left&quot;:46.62314960629921,&quot;top&quot;:104.24960629921259,&quot;width&quot;:806.636220472441}"/>
</p:tagLst>
</file>

<file path=ppt/tags/tag23.xml><?xml version="1.0" encoding="utf-8"?>
<p:tagLst xmlns:p="http://schemas.openxmlformats.org/presentationml/2006/main">
  <p:tag name="KSO_WM_DIAGRAM_VIRTUALLY_FRAME" val="{&quot;height&quot;:354.057874015748,&quot;left&quot;:46.62314960629921,&quot;top&quot;:104.24960629921259,&quot;width&quot;:806.636220472441}"/>
</p:tagLst>
</file>

<file path=ppt/tags/tag24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21249</Words>
  <Application>WPS 演示</Application>
  <PresentationFormat>宽屏</PresentationFormat>
  <Paragraphs>1623</Paragraphs>
  <Slides>37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92</cp:revision>
  <dcterms:created xsi:type="dcterms:W3CDTF">2020-08-13T13:39:00Z</dcterms:created>
  <dcterms:modified xsi:type="dcterms:W3CDTF">2024-03-17T05:18:54Z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9274973733A145218F83819072D61046_12</vt:lpwstr>
  </property>
  <property fmtid="{D5CDD505-2E9C-101B-9397-08002B2CF9AE}" pid="3" name="KSOProductBuildVer">
    <vt:lpwstr>2052-12.1.0.16388</vt:lpwstr>
  </property>
</Properties>
</file>