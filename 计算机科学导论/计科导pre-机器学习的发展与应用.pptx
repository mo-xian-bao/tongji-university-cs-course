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6" r:id="rId3"/>
    <p:sldMasterId id="2147483658" r:id="rId4"/>
    <p:sldMasterId id="2147483660" r:id="rId5"/>
  </p:sldMasterIdLst>
  <p:sldIdLst>
    <p:sldId id="256" r:id="rId6"/>
    <p:sldId id="257" r:id="rId7"/>
    <p:sldId id="273" r:id="rId8"/>
    <p:sldId id="258" r:id="rId9"/>
    <p:sldId id="259" r:id="rId10"/>
    <p:sldId id="278" r:id="rId11"/>
    <p:sldId id="261" r:id="rId12"/>
    <p:sldId id="279" r:id="rId13"/>
    <p:sldId id="280" r:id="rId14"/>
    <p:sldId id="281" r:id="rId15"/>
    <p:sldId id="282" r:id="rId16"/>
    <p:sldId id="283" r:id="rId17"/>
    <p:sldId id="275" r:id="rId18"/>
    <p:sldId id="274" r:id="rId19"/>
    <p:sldId id="277" r:id="rId20"/>
  </p:sldIdLst>
  <p:sldSz cx="12192000" cy="6858000"/>
  <p:notesSz cx="6858000" cy="9144000"/>
  <p:embeddedFontLst>
    <p:embeddedFont>
      <p:font typeface="OPPOSans L" panose="00020600040101010101" charset="-122"/>
      <p:regular r:id="rId24"/>
    </p:embeddedFont>
    <p:embeddedFont>
      <p:font typeface="Dream-XinCuSongGB" panose="02010604000000000000" charset="-122"/>
      <p:regular r:id="rId25"/>
    </p:embeddedFont>
    <p:embeddedFont>
      <p:font typeface="Source Han Sans" panose="020B0500000000000000" charset="-122"/>
      <p:regular r:id="rId26"/>
    </p:embeddedFont>
    <p:embeddedFont>
      <p:font typeface="Source Han Sans CN Bold" panose="020B0800000000000000" charset="-122"/>
      <p:bold r:id="rId27"/>
    </p:embeddedFont>
    <p:embeddedFont>
      <p:font typeface="华文新魏" panose="02010800040101010101" charset="-122"/>
      <p:regular r:id="rId28"/>
    </p:embeddedFont>
    <p:embeddedFont>
      <p:font typeface="等线" panose="02010600030101010101" charset="-122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0" Type="http://schemas.openxmlformats.org/officeDocument/2006/relationships/slideLayout" Target="../slideLayouts/slideLayout9.xml"/><Relationship Id="rId3" Type="http://schemas.openxmlformats.org/officeDocument/2006/relationships/tags" Target="../tags/tag14.xml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1776062" y="3282437"/>
            <a:ext cx="1019381" cy="1019381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>
                  <a:alpha val="13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40418" y="877469"/>
            <a:ext cx="565987" cy="565987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2895" y="3422984"/>
            <a:ext cx="400410" cy="400410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897094" y="4079654"/>
            <a:ext cx="2259386" cy="4436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52105" y="4076479"/>
            <a:ext cx="2259386" cy="44360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282969" y="1889538"/>
            <a:ext cx="7604016" cy="103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743288" y="2920822"/>
            <a:ext cx="400859" cy="400859"/>
          </a:xfrm>
          <a:prstGeom prst="ellipse">
            <a:avLst/>
          </a:prstGeom>
          <a:gradFill>
            <a:gsLst>
              <a:gs pos="0">
                <a:srgbClr val="FFFFFF">
                  <a:alpha val="84000"/>
                </a:srgb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0384080" y="5365885"/>
            <a:ext cx="1033838" cy="1792986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3443605" y="4053840"/>
            <a:ext cx="5066665" cy="476250"/>
            <a:chOff x="5423" y="5546"/>
            <a:chExt cx="7979" cy="750"/>
          </a:xfrm>
        </p:grpSpPr>
        <p:sp>
          <p:nvSpPr>
            <p:cNvPr id="9" name="标题 1"/>
            <p:cNvSpPr txBox="1"/>
            <p:nvPr/>
          </p:nvSpPr>
          <p:spPr>
            <a:xfrm>
              <a:off x="6312" y="5569"/>
              <a:ext cx="2842" cy="67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1600">
                  <a:ln w="12700">
                    <a:noFill/>
                  </a:ln>
                  <a:solidFill>
                    <a:schemeClr val="tx1">
                      <a:alpha val="100000"/>
                    </a:schemeClr>
                  </a:solidFill>
                  <a:latin typeface="OPPOSans L" panose="00020600040101010101" charset="-122"/>
                  <a:ea typeface="OPPOSans L" panose="00020600040101010101" charset="-122"/>
                  <a:cs typeface="OPPOSans L" panose="00020600040101010101" charset="-122"/>
                </a:rPr>
                <a:t>第六组</a:t>
              </a:r>
              <a:endParaRPr kumimoji="1" lang="en-US" altLang="zh-CN" sz="1600">
                <a:ln w="12700">
                  <a:noFill/>
                </a:ln>
                <a:solidFill>
                  <a:schemeClr val="tx1">
                    <a:alpha val="100000"/>
                  </a:scheme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endParaRPr>
            </a:p>
          </p:txBody>
        </p:sp>
        <p:sp>
          <p:nvSpPr>
            <p:cNvPr id="11" name="标题 1"/>
            <p:cNvSpPr txBox="1"/>
            <p:nvPr/>
          </p:nvSpPr>
          <p:spPr>
            <a:xfrm>
              <a:off x="10560" y="5582"/>
              <a:ext cx="2842" cy="67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1600">
                  <a:ln w="12700">
                    <a:noFill/>
                  </a:ln>
                  <a:solidFill>
                    <a:schemeClr val="tx1">
                      <a:alpha val="100000"/>
                    </a:schemeClr>
                  </a:solidFill>
                  <a:latin typeface="OPPOSans L" panose="00020600040101010101" charset="-122"/>
                  <a:ea typeface="OPPOSans L" panose="00020600040101010101" charset="-122"/>
                  <a:cs typeface="OPPOSans L" panose="00020600040101010101" charset="-122"/>
                </a:rPr>
                <a:t>时间：2024.12.9</a:t>
              </a:r>
              <a:endParaRPr kumimoji="1" lang="en-US" altLang="zh-CN" sz="1600">
                <a:ln w="12700">
                  <a:noFill/>
                </a:ln>
                <a:solidFill>
                  <a:schemeClr val="tx1">
                    <a:alpha val="100000"/>
                  </a:scheme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9724" y="5546"/>
              <a:ext cx="751" cy="751"/>
              <a:chOff x="6207835" y="4989867"/>
              <a:chExt cx="476775" cy="476775"/>
            </a:xfrm>
          </p:grpSpPr>
          <p:sp>
            <p:nvSpPr>
              <p:cNvPr id="17" name="标题 1"/>
              <p:cNvSpPr txBox="1"/>
              <p:nvPr/>
            </p:nvSpPr>
            <p:spPr>
              <a:xfrm>
                <a:off x="6207835" y="4989867"/>
                <a:ext cx="476775" cy="47677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sq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ctr">
                  <a:lnSpc>
                    <a:spcPct val="100000"/>
                  </a:lnSpc>
                </a:pPr>
                <a:endParaRPr kumimoji="1" lang="zh-CN" altLang="en-US"/>
              </a:p>
            </p:txBody>
          </p:sp>
          <p:sp>
            <p:nvSpPr>
              <p:cNvPr id="18" name="标题 1"/>
              <p:cNvSpPr txBox="1"/>
              <p:nvPr/>
            </p:nvSpPr>
            <p:spPr>
              <a:xfrm>
                <a:off x="6327185" y="5113057"/>
                <a:ext cx="238075" cy="230395"/>
              </a:xfrm>
              <a:custGeom>
                <a:avLst/>
                <a:gdLst>
                  <a:gd name="connsiteX0" fmla="*/ 695958 w 1660735"/>
                  <a:gd name="connsiteY0" fmla="*/ 752512 h 1607157"/>
                  <a:gd name="connsiteX1" fmla="*/ 376349 w 1660735"/>
                  <a:gd name="connsiteY1" fmla="*/ 752512 h 1607157"/>
                  <a:gd name="connsiteX2" fmla="*/ 110505 w 1660735"/>
                  <a:gd name="connsiteY2" fmla="*/ 642007 h 1607157"/>
                  <a:gd name="connsiteX3" fmla="*/ 0 w 1660735"/>
                  <a:gd name="connsiteY3" fmla="*/ 376349 h 1607157"/>
                  <a:gd name="connsiteX4" fmla="*/ 110505 w 1660735"/>
                  <a:gd name="connsiteY4" fmla="*/ 110505 h 1607157"/>
                  <a:gd name="connsiteX5" fmla="*/ 376349 w 1660735"/>
                  <a:gd name="connsiteY5" fmla="*/ 0 h 1607157"/>
                  <a:gd name="connsiteX6" fmla="*/ 642193 w 1660735"/>
                  <a:gd name="connsiteY6" fmla="*/ 110505 h 1607157"/>
                  <a:gd name="connsiteX7" fmla="*/ 752698 w 1660735"/>
                  <a:gd name="connsiteY7" fmla="*/ 376349 h 1607157"/>
                  <a:gd name="connsiteX8" fmla="*/ 752698 w 1660735"/>
                  <a:gd name="connsiteY8" fmla="*/ 695958 h 1607157"/>
                  <a:gd name="connsiteX9" fmla="*/ 695958 w 1660735"/>
                  <a:gd name="connsiteY9" fmla="*/ 752512 h 1607157"/>
                  <a:gd name="connsiteX10" fmla="*/ 376349 w 1660735"/>
                  <a:gd name="connsiteY10" fmla="*/ 111621 h 1607157"/>
                  <a:gd name="connsiteX11" fmla="*/ 111621 w 1660735"/>
                  <a:gd name="connsiteY11" fmla="*/ 376349 h 1607157"/>
                  <a:gd name="connsiteX12" fmla="*/ 376349 w 1660735"/>
                  <a:gd name="connsiteY12" fmla="*/ 641077 h 1607157"/>
                  <a:gd name="connsiteX13" fmla="*/ 641077 w 1660735"/>
                  <a:gd name="connsiteY13" fmla="*/ 641077 h 1607157"/>
                  <a:gd name="connsiteX14" fmla="*/ 641077 w 1660735"/>
                  <a:gd name="connsiteY14" fmla="*/ 376349 h 1607157"/>
                  <a:gd name="connsiteX15" fmla="*/ 376349 w 1660735"/>
                  <a:gd name="connsiteY15" fmla="*/ 111621 h 1607157"/>
                  <a:gd name="connsiteX16" fmla="*/ 1284201 w 1660735"/>
                  <a:gd name="connsiteY16" fmla="*/ 752512 h 1607157"/>
                  <a:gd name="connsiteX17" fmla="*/ 964592 w 1660735"/>
                  <a:gd name="connsiteY17" fmla="*/ 752512 h 1607157"/>
                  <a:gd name="connsiteX18" fmla="*/ 908038 w 1660735"/>
                  <a:gd name="connsiteY18" fmla="*/ 695958 h 1607157"/>
                  <a:gd name="connsiteX19" fmla="*/ 908038 w 1660735"/>
                  <a:gd name="connsiteY19" fmla="*/ 376349 h 1607157"/>
                  <a:gd name="connsiteX20" fmla="*/ 1018543 w 1660735"/>
                  <a:gd name="connsiteY20" fmla="*/ 110505 h 1607157"/>
                  <a:gd name="connsiteX21" fmla="*/ 1284387 w 1660735"/>
                  <a:gd name="connsiteY21" fmla="*/ 0 h 1607157"/>
                  <a:gd name="connsiteX22" fmla="*/ 1550231 w 1660735"/>
                  <a:gd name="connsiteY22" fmla="*/ 110505 h 1607157"/>
                  <a:gd name="connsiteX23" fmla="*/ 1660736 w 1660735"/>
                  <a:gd name="connsiteY23" fmla="*/ 376349 h 1607157"/>
                  <a:gd name="connsiteX24" fmla="*/ 1550231 w 1660735"/>
                  <a:gd name="connsiteY24" fmla="*/ 642193 h 1607157"/>
                  <a:gd name="connsiteX25" fmla="*/ 1284201 w 1660735"/>
                  <a:gd name="connsiteY25" fmla="*/ 752512 h 1607157"/>
                  <a:gd name="connsiteX26" fmla="*/ 1019659 w 1660735"/>
                  <a:gd name="connsiteY26" fmla="*/ 640891 h 1607157"/>
                  <a:gd name="connsiteX27" fmla="*/ 1284387 w 1660735"/>
                  <a:gd name="connsiteY27" fmla="*/ 640891 h 1607157"/>
                  <a:gd name="connsiteX28" fmla="*/ 1549115 w 1660735"/>
                  <a:gd name="connsiteY28" fmla="*/ 376163 h 1607157"/>
                  <a:gd name="connsiteX29" fmla="*/ 1284387 w 1660735"/>
                  <a:gd name="connsiteY29" fmla="*/ 111435 h 1607157"/>
                  <a:gd name="connsiteX30" fmla="*/ 1019659 w 1660735"/>
                  <a:gd name="connsiteY30" fmla="*/ 376163 h 1607157"/>
                  <a:gd name="connsiteX31" fmla="*/ 1019659 w 1660735"/>
                  <a:gd name="connsiteY31" fmla="*/ 640891 h 1607157"/>
                  <a:gd name="connsiteX32" fmla="*/ 376349 w 1660735"/>
                  <a:gd name="connsiteY32" fmla="*/ 1607158 h 1607157"/>
                  <a:gd name="connsiteX33" fmla="*/ 110505 w 1660735"/>
                  <a:gd name="connsiteY33" fmla="*/ 1496653 h 1607157"/>
                  <a:gd name="connsiteX34" fmla="*/ 0 w 1660735"/>
                  <a:gd name="connsiteY34" fmla="*/ 1230809 h 1607157"/>
                  <a:gd name="connsiteX35" fmla="*/ 110505 w 1660735"/>
                  <a:gd name="connsiteY35" fmla="*/ 964964 h 1607157"/>
                  <a:gd name="connsiteX36" fmla="*/ 376349 w 1660735"/>
                  <a:gd name="connsiteY36" fmla="*/ 854459 h 1607157"/>
                  <a:gd name="connsiteX37" fmla="*/ 695958 w 1660735"/>
                  <a:gd name="connsiteY37" fmla="*/ 854459 h 1607157"/>
                  <a:gd name="connsiteX38" fmla="*/ 752512 w 1660735"/>
                  <a:gd name="connsiteY38" fmla="*/ 911014 h 1607157"/>
                  <a:gd name="connsiteX39" fmla="*/ 752512 w 1660735"/>
                  <a:gd name="connsiteY39" fmla="*/ 1230623 h 1607157"/>
                  <a:gd name="connsiteX40" fmla="*/ 642007 w 1660735"/>
                  <a:gd name="connsiteY40" fmla="*/ 1496467 h 1607157"/>
                  <a:gd name="connsiteX41" fmla="*/ 376349 w 1660735"/>
                  <a:gd name="connsiteY41" fmla="*/ 1607158 h 1607157"/>
                  <a:gd name="connsiteX42" fmla="*/ 376349 w 1660735"/>
                  <a:gd name="connsiteY42" fmla="*/ 966267 h 1607157"/>
                  <a:gd name="connsiteX43" fmla="*/ 111621 w 1660735"/>
                  <a:gd name="connsiteY43" fmla="*/ 1230809 h 1607157"/>
                  <a:gd name="connsiteX44" fmla="*/ 376349 w 1660735"/>
                  <a:gd name="connsiteY44" fmla="*/ 1495537 h 1607157"/>
                  <a:gd name="connsiteX45" fmla="*/ 641077 w 1660735"/>
                  <a:gd name="connsiteY45" fmla="*/ 1230809 h 1607157"/>
                  <a:gd name="connsiteX46" fmla="*/ 641077 w 1660735"/>
                  <a:gd name="connsiteY46" fmla="*/ 966267 h 1607157"/>
                  <a:gd name="connsiteX47" fmla="*/ 376349 w 1660735"/>
                  <a:gd name="connsiteY47" fmla="*/ 966267 h 1607157"/>
                  <a:gd name="connsiteX48" fmla="*/ 1284201 w 1660735"/>
                  <a:gd name="connsiteY48" fmla="*/ 1607158 h 1607157"/>
                  <a:gd name="connsiteX49" fmla="*/ 1018357 w 1660735"/>
                  <a:gd name="connsiteY49" fmla="*/ 1496653 h 1607157"/>
                  <a:gd name="connsiteX50" fmla="*/ 907852 w 1660735"/>
                  <a:gd name="connsiteY50" fmla="*/ 1230809 h 1607157"/>
                  <a:gd name="connsiteX51" fmla="*/ 907852 w 1660735"/>
                  <a:gd name="connsiteY51" fmla="*/ 911200 h 1607157"/>
                  <a:gd name="connsiteX52" fmla="*/ 964406 w 1660735"/>
                  <a:gd name="connsiteY52" fmla="*/ 854646 h 1607157"/>
                  <a:gd name="connsiteX53" fmla="*/ 1284015 w 1660735"/>
                  <a:gd name="connsiteY53" fmla="*/ 854646 h 1607157"/>
                  <a:gd name="connsiteX54" fmla="*/ 1549859 w 1660735"/>
                  <a:gd name="connsiteY54" fmla="*/ 965150 h 1607157"/>
                  <a:gd name="connsiteX55" fmla="*/ 1660364 w 1660735"/>
                  <a:gd name="connsiteY55" fmla="*/ 1230995 h 1607157"/>
                  <a:gd name="connsiteX56" fmla="*/ 1550045 w 1660735"/>
                  <a:gd name="connsiteY56" fmla="*/ 1496653 h 1607157"/>
                  <a:gd name="connsiteX57" fmla="*/ 1284201 w 1660735"/>
                  <a:gd name="connsiteY57" fmla="*/ 1607158 h 1607157"/>
                  <a:gd name="connsiteX58" fmla="*/ 1019659 w 1660735"/>
                  <a:gd name="connsiteY58" fmla="*/ 966267 h 1607157"/>
                  <a:gd name="connsiteX59" fmla="*/ 1019659 w 1660735"/>
                  <a:gd name="connsiteY59" fmla="*/ 1230995 h 1607157"/>
                  <a:gd name="connsiteX60" fmla="*/ 1284387 w 1660735"/>
                  <a:gd name="connsiteY60" fmla="*/ 1495723 h 1607157"/>
                  <a:gd name="connsiteX61" fmla="*/ 1549115 w 1660735"/>
                  <a:gd name="connsiteY61" fmla="*/ 1230995 h 1607157"/>
                  <a:gd name="connsiteX62" fmla="*/ 1284387 w 1660735"/>
                  <a:gd name="connsiteY62" fmla="*/ 966267 h 1607157"/>
                  <a:gd name="connsiteX63" fmla="*/ 1019659 w 1660735"/>
                  <a:gd name="connsiteY63" fmla="*/ 966267 h 1607157"/>
                </a:gdLst>
                <a:ahLst/>
                <a:cxnLst/>
                <a:rect l="l" t="t" r="r" b="b"/>
                <a:pathLst>
                  <a:path w="1660735" h="1607157">
                    <a:moveTo>
                      <a:pt x="695958" y="752512"/>
                    </a:moveTo>
                    <a:lnTo>
                      <a:pt x="376349" y="752512"/>
                    </a:lnTo>
                    <a:cubicBezTo>
                      <a:pt x="276262" y="752512"/>
                      <a:pt x="181756" y="713259"/>
                      <a:pt x="110505" y="642007"/>
                    </a:cubicBezTo>
                    <a:cubicBezTo>
                      <a:pt x="39253" y="570756"/>
                      <a:pt x="0" y="476436"/>
                      <a:pt x="0" y="376349"/>
                    </a:cubicBezTo>
                    <a:cubicBezTo>
                      <a:pt x="0" y="276262"/>
                      <a:pt x="39253" y="181756"/>
                      <a:pt x="110505" y="110505"/>
                    </a:cubicBezTo>
                    <a:cubicBezTo>
                      <a:pt x="181756" y="39253"/>
                      <a:pt x="276076" y="0"/>
                      <a:pt x="376349" y="0"/>
                    </a:cubicBezTo>
                    <a:cubicBezTo>
                      <a:pt x="476436" y="0"/>
                      <a:pt x="570942" y="39253"/>
                      <a:pt x="642193" y="110505"/>
                    </a:cubicBezTo>
                    <a:cubicBezTo>
                      <a:pt x="713445" y="181756"/>
                      <a:pt x="752698" y="276076"/>
                      <a:pt x="752698" y="376349"/>
                    </a:cubicBezTo>
                    <a:lnTo>
                      <a:pt x="752698" y="695958"/>
                    </a:lnTo>
                    <a:cubicBezTo>
                      <a:pt x="752512" y="727211"/>
                      <a:pt x="727211" y="752512"/>
                      <a:pt x="695958" y="752512"/>
                    </a:cubicBezTo>
                    <a:close/>
                    <a:moveTo>
                      <a:pt x="376349" y="111621"/>
                    </a:moveTo>
                    <a:cubicBezTo>
                      <a:pt x="230498" y="111621"/>
                      <a:pt x="111621" y="230312"/>
                      <a:pt x="111621" y="376349"/>
                    </a:cubicBezTo>
                    <a:cubicBezTo>
                      <a:pt x="111621" y="522201"/>
                      <a:pt x="230312" y="641077"/>
                      <a:pt x="376349" y="641077"/>
                    </a:cubicBezTo>
                    <a:lnTo>
                      <a:pt x="641077" y="641077"/>
                    </a:lnTo>
                    <a:lnTo>
                      <a:pt x="641077" y="376349"/>
                    </a:lnTo>
                    <a:cubicBezTo>
                      <a:pt x="640891" y="230312"/>
                      <a:pt x="522201" y="111621"/>
                      <a:pt x="376349" y="111621"/>
                    </a:cubicBezTo>
                    <a:close/>
                    <a:moveTo>
                      <a:pt x="1284201" y="752512"/>
                    </a:moveTo>
                    <a:lnTo>
                      <a:pt x="964592" y="752512"/>
                    </a:lnTo>
                    <a:cubicBezTo>
                      <a:pt x="933338" y="752512"/>
                      <a:pt x="908038" y="727025"/>
                      <a:pt x="908038" y="695958"/>
                    </a:cubicBezTo>
                    <a:lnTo>
                      <a:pt x="908038" y="376349"/>
                    </a:lnTo>
                    <a:cubicBezTo>
                      <a:pt x="908038" y="276262"/>
                      <a:pt x="947291" y="181756"/>
                      <a:pt x="1018543" y="110505"/>
                    </a:cubicBezTo>
                    <a:cubicBezTo>
                      <a:pt x="1089794" y="39253"/>
                      <a:pt x="1184114" y="0"/>
                      <a:pt x="1284387" y="0"/>
                    </a:cubicBezTo>
                    <a:cubicBezTo>
                      <a:pt x="1384660" y="0"/>
                      <a:pt x="1478980" y="39253"/>
                      <a:pt x="1550231" y="110505"/>
                    </a:cubicBezTo>
                    <a:cubicBezTo>
                      <a:pt x="1621482" y="181756"/>
                      <a:pt x="1660736" y="276076"/>
                      <a:pt x="1660736" y="376349"/>
                    </a:cubicBezTo>
                    <a:cubicBezTo>
                      <a:pt x="1660736" y="476622"/>
                      <a:pt x="1621482" y="570942"/>
                      <a:pt x="1550231" y="642193"/>
                    </a:cubicBezTo>
                    <a:cubicBezTo>
                      <a:pt x="1478794" y="713259"/>
                      <a:pt x="1384288" y="752512"/>
                      <a:pt x="1284201" y="752512"/>
                    </a:cubicBezTo>
                    <a:close/>
                    <a:moveTo>
                      <a:pt x="1019659" y="640891"/>
                    </a:moveTo>
                    <a:lnTo>
                      <a:pt x="1284387" y="640891"/>
                    </a:lnTo>
                    <a:cubicBezTo>
                      <a:pt x="1430238" y="640891"/>
                      <a:pt x="1549115" y="522201"/>
                      <a:pt x="1549115" y="376163"/>
                    </a:cubicBezTo>
                    <a:cubicBezTo>
                      <a:pt x="1549115" y="230312"/>
                      <a:pt x="1430424" y="111435"/>
                      <a:pt x="1284387" y="111435"/>
                    </a:cubicBezTo>
                    <a:cubicBezTo>
                      <a:pt x="1138349" y="111435"/>
                      <a:pt x="1019659" y="230125"/>
                      <a:pt x="1019659" y="376163"/>
                    </a:cubicBezTo>
                    <a:lnTo>
                      <a:pt x="1019659" y="640891"/>
                    </a:lnTo>
                    <a:close/>
                    <a:moveTo>
                      <a:pt x="376349" y="1607158"/>
                    </a:moveTo>
                    <a:cubicBezTo>
                      <a:pt x="276262" y="1607158"/>
                      <a:pt x="181756" y="1567904"/>
                      <a:pt x="110505" y="1496653"/>
                    </a:cubicBezTo>
                    <a:cubicBezTo>
                      <a:pt x="39253" y="1425401"/>
                      <a:pt x="0" y="1330896"/>
                      <a:pt x="0" y="1230809"/>
                    </a:cubicBezTo>
                    <a:cubicBezTo>
                      <a:pt x="0" y="1130722"/>
                      <a:pt x="39253" y="1036216"/>
                      <a:pt x="110505" y="964964"/>
                    </a:cubicBezTo>
                    <a:cubicBezTo>
                      <a:pt x="181756" y="893713"/>
                      <a:pt x="276076" y="854459"/>
                      <a:pt x="376349" y="854459"/>
                    </a:cubicBezTo>
                    <a:lnTo>
                      <a:pt x="695958" y="854459"/>
                    </a:lnTo>
                    <a:cubicBezTo>
                      <a:pt x="727211" y="854459"/>
                      <a:pt x="752512" y="879760"/>
                      <a:pt x="752512" y="911014"/>
                    </a:cubicBezTo>
                    <a:lnTo>
                      <a:pt x="752512" y="1230623"/>
                    </a:lnTo>
                    <a:cubicBezTo>
                      <a:pt x="752512" y="1330709"/>
                      <a:pt x="713259" y="1425215"/>
                      <a:pt x="642007" y="1496467"/>
                    </a:cubicBezTo>
                    <a:cubicBezTo>
                      <a:pt x="570756" y="1567718"/>
                      <a:pt x="476436" y="1607158"/>
                      <a:pt x="376349" y="1607158"/>
                    </a:cubicBezTo>
                    <a:close/>
                    <a:moveTo>
                      <a:pt x="376349" y="966267"/>
                    </a:moveTo>
                    <a:cubicBezTo>
                      <a:pt x="230312" y="966267"/>
                      <a:pt x="111621" y="1084957"/>
                      <a:pt x="111621" y="1230809"/>
                    </a:cubicBezTo>
                    <a:cubicBezTo>
                      <a:pt x="111621" y="1376660"/>
                      <a:pt x="230312" y="1495537"/>
                      <a:pt x="376349" y="1495537"/>
                    </a:cubicBezTo>
                    <a:cubicBezTo>
                      <a:pt x="522201" y="1495537"/>
                      <a:pt x="641077" y="1376846"/>
                      <a:pt x="641077" y="1230809"/>
                    </a:cubicBezTo>
                    <a:lnTo>
                      <a:pt x="641077" y="966267"/>
                    </a:lnTo>
                    <a:lnTo>
                      <a:pt x="376349" y="966267"/>
                    </a:lnTo>
                    <a:close/>
                    <a:moveTo>
                      <a:pt x="1284201" y="1607158"/>
                    </a:moveTo>
                    <a:cubicBezTo>
                      <a:pt x="1184114" y="1607158"/>
                      <a:pt x="1089608" y="1567904"/>
                      <a:pt x="1018357" y="1496653"/>
                    </a:cubicBezTo>
                    <a:cubicBezTo>
                      <a:pt x="947105" y="1425401"/>
                      <a:pt x="907852" y="1331082"/>
                      <a:pt x="907852" y="1230809"/>
                    </a:cubicBezTo>
                    <a:lnTo>
                      <a:pt x="907852" y="911200"/>
                    </a:lnTo>
                    <a:cubicBezTo>
                      <a:pt x="907852" y="879946"/>
                      <a:pt x="933152" y="854646"/>
                      <a:pt x="964406" y="854646"/>
                    </a:cubicBezTo>
                    <a:lnTo>
                      <a:pt x="1284015" y="854646"/>
                    </a:lnTo>
                    <a:cubicBezTo>
                      <a:pt x="1384102" y="854646"/>
                      <a:pt x="1478607" y="893899"/>
                      <a:pt x="1549859" y="965150"/>
                    </a:cubicBezTo>
                    <a:cubicBezTo>
                      <a:pt x="1621110" y="1036402"/>
                      <a:pt x="1660364" y="1130722"/>
                      <a:pt x="1660364" y="1230995"/>
                    </a:cubicBezTo>
                    <a:cubicBezTo>
                      <a:pt x="1660364" y="1331268"/>
                      <a:pt x="1621296" y="1425401"/>
                      <a:pt x="1550045" y="1496653"/>
                    </a:cubicBezTo>
                    <a:cubicBezTo>
                      <a:pt x="1478794" y="1567904"/>
                      <a:pt x="1384288" y="1607158"/>
                      <a:pt x="1284201" y="1607158"/>
                    </a:cubicBezTo>
                    <a:close/>
                    <a:moveTo>
                      <a:pt x="1019659" y="966267"/>
                    </a:moveTo>
                    <a:lnTo>
                      <a:pt x="1019659" y="1230995"/>
                    </a:lnTo>
                    <a:cubicBezTo>
                      <a:pt x="1019659" y="1376846"/>
                      <a:pt x="1138349" y="1495723"/>
                      <a:pt x="1284387" y="1495723"/>
                    </a:cubicBezTo>
                    <a:cubicBezTo>
                      <a:pt x="1430424" y="1495723"/>
                      <a:pt x="1549115" y="1377032"/>
                      <a:pt x="1549115" y="1230995"/>
                    </a:cubicBezTo>
                    <a:cubicBezTo>
                      <a:pt x="1549115" y="1084957"/>
                      <a:pt x="1430424" y="966267"/>
                      <a:pt x="1284387" y="966267"/>
                    </a:cubicBezTo>
                    <a:lnTo>
                      <a:pt x="1019659" y="966267"/>
                    </a:lnTo>
                    <a:close/>
                  </a:path>
                </a:pathLst>
              </a:custGeom>
              <a:solidFill>
                <a:schemeClr val="accent2"/>
              </a:solidFill>
              <a:ln w="1860" cap="flat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l">
                  <a:lnSpc>
                    <a:spcPct val="100000"/>
                  </a:lnSpc>
                </a:pPr>
                <a:endParaRPr kumimoji="1"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0">
              <a:off x="5423" y="5546"/>
              <a:ext cx="751" cy="751"/>
              <a:chOff x="3632469" y="4989867"/>
              <a:chExt cx="476775" cy="476775"/>
            </a:xfrm>
          </p:grpSpPr>
          <p:sp>
            <p:nvSpPr>
              <p:cNvPr id="20" name="标题 1"/>
              <p:cNvSpPr txBox="1"/>
              <p:nvPr/>
            </p:nvSpPr>
            <p:spPr>
              <a:xfrm>
                <a:off x="3632469" y="4989867"/>
                <a:ext cx="476775" cy="47677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sq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ctr">
                  <a:lnSpc>
                    <a:spcPct val="100000"/>
                  </a:lnSpc>
                </a:pPr>
                <a:endParaRPr kumimoji="1" lang="zh-CN" altLang="en-US"/>
              </a:p>
            </p:txBody>
          </p:sp>
          <p:sp>
            <p:nvSpPr>
              <p:cNvPr id="21" name="标题 1"/>
              <p:cNvSpPr txBox="1"/>
              <p:nvPr/>
            </p:nvSpPr>
            <p:spPr>
              <a:xfrm>
                <a:off x="3764511" y="5113057"/>
                <a:ext cx="212691" cy="230395"/>
              </a:xfrm>
              <a:custGeom>
                <a:avLst/>
                <a:gdLst>
                  <a:gd name="connsiteX0" fmla="*/ 712625 w 1425436"/>
                  <a:gd name="connsiteY0" fmla="*/ 111621 h 1544091"/>
                  <a:gd name="connsiteX1" fmla="*/ 902567 w 1425436"/>
                  <a:gd name="connsiteY1" fmla="*/ 190314 h 1544091"/>
                  <a:gd name="connsiteX2" fmla="*/ 981260 w 1425436"/>
                  <a:gd name="connsiteY2" fmla="*/ 380256 h 1544091"/>
                  <a:gd name="connsiteX3" fmla="*/ 902567 w 1425436"/>
                  <a:gd name="connsiteY3" fmla="*/ 570198 h 1544091"/>
                  <a:gd name="connsiteX4" fmla="*/ 712625 w 1425436"/>
                  <a:gd name="connsiteY4" fmla="*/ 648891 h 1544091"/>
                  <a:gd name="connsiteX5" fmla="*/ 522684 w 1425436"/>
                  <a:gd name="connsiteY5" fmla="*/ 570198 h 1544091"/>
                  <a:gd name="connsiteX6" fmla="*/ 444177 w 1425436"/>
                  <a:gd name="connsiteY6" fmla="*/ 380070 h 1544091"/>
                  <a:gd name="connsiteX7" fmla="*/ 522870 w 1425436"/>
                  <a:gd name="connsiteY7" fmla="*/ 190128 h 1544091"/>
                  <a:gd name="connsiteX8" fmla="*/ 712625 w 1425436"/>
                  <a:gd name="connsiteY8" fmla="*/ 111621 h 1544091"/>
                  <a:gd name="connsiteX9" fmla="*/ 712625 w 1425436"/>
                  <a:gd name="connsiteY9" fmla="*/ 0 h 1544091"/>
                  <a:gd name="connsiteX10" fmla="*/ 332556 w 1425436"/>
                  <a:gd name="connsiteY10" fmla="*/ 380070 h 1544091"/>
                  <a:gd name="connsiteX11" fmla="*/ 712625 w 1425436"/>
                  <a:gd name="connsiteY11" fmla="*/ 760140 h 1544091"/>
                  <a:gd name="connsiteX12" fmla="*/ 1092695 w 1425436"/>
                  <a:gd name="connsiteY12" fmla="*/ 380070 h 1544091"/>
                  <a:gd name="connsiteX13" fmla="*/ 712625 w 1425436"/>
                  <a:gd name="connsiteY13" fmla="*/ 0 h 1544091"/>
                  <a:gd name="connsiteX14" fmla="*/ 712625 w 1425436"/>
                  <a:gd name="connsiteY14" fmla="*/ 943012 h 1544091"/>
                  <a:gd name="connsiteX15" fmla="*/ 978842 w 1425436"/>
                  <a:gd name="connsiteY15" fmla="*/ 976685 h 1544091"/>
                  <a:gd name="connsiteX16" fmla="*/ 1146087 w 1425436"/>
                  <a:gd name="connsiteY16" fmla="*/ 1059470 h 1544091"/>
                  <a:gd name="connsiteX17" fmla="*/ 1248593 w 1425436"/>
                  <a:gd name="connsiteY17" fmla="*/ 1174440 h 1544091"/>
                  <a:gd name="connsiteX18" fmla="*/ 1310356 w 1425436"/>
                  <a:gd name="connsiteY18" fmla="*/ 1316385 h 1544091"/>
                  <a:gd name="connsiteX19" fmla="*/ 1296590 w 1425436"/>
                  <a:gd name="connsiteY19" fmla="*/ 1390241 h 1544091"/>
                  <a:gd name="connsiteX20" fmla="*/ 1208595 w 1425436"/>
                  <a:gd name="connsiteY20" fmla="*/ 1432285 h 1544091"/>
                  <a:gd name="connsiteX21" fmla="*/ 216842 w 1425436"/>
                  <a:gd name="connsiteY21" fmla="*/ 1432285 h 1544091"/>
                  <a:gd name="connsiteX22" fmla="*/ 128847 w 1425436"/>
                  <a:gd name="connsiteY22" fmla="*/ 1390241 h 1544091"/>
                  <a:gd name="connsiteX23" fmla="*/ 115081 w 1425436"/>
                  <a:gd name="connsiteY23" fmla="*/ 1316385 h 1544091"/>
                  <a:gd name="connsiteX24" fmla="*/ 176844 w 1425436"/>
                  <a:gd name="connsiteY24" fmla="*/ 1174440 h 1544091"/>
                  <a:gd name="connsiteX25" fmla="*/ 279350 w 1425436"/>
                  <a:gd name="connsiteY25" fmla="*/ 1059470 h 1544091"/>
                  <a:gd name="connsiteX26" fmla="*/ 446595 w 1425436"/>
                  <a:gd name="connsiteY26" fmla="*/ 976685 h 1544091"/>
                  <a:gd name="connsiteX27" fmla="*/ 712625 w 1425436"/>
                  <a:gd name="connsiteY27" fmla="*/ 943012 h 1544091"/>
                  <a:gd name="connsiteX28" fmla="*/ 712625 w 1425436"/>
                  <a:gd name="connsiteY28" fmla="*/ 831391 h 1544091"/>
                  <a:gd name="connsiteX29" fmla="*/ 8296 w 1425436"/>
                  <a:gd name="connsiteY29" fmla="*/ 1284387 h 1544091"/>
                  <a:gd name="connsiteX30" fmla="*/ 216842 w 1425436"/>
                  <a:gd name="connsiteY30" fmla="*/ 1544092 h 1544091"/>
                  <a:gd name="connsiteX31" fmla="*/ 1208595 w 1425436"/>
                  <a:gd name="connsiteY31" fmla="*/ 1544092 h 1544091"/>
                  <a:gd name="connsiteX32" fmla="*/ 1417141 w 1425436"/>
                  <a:gd name="connsiteY32" fmla="*/ 1284387 h 1544091"/>
                  <a:gd name="connsiteX33" fmla="*/ 712625 w 1425436"/>
                  <a:gd name="connsiteY33" fmla="*/ 831391 h 1544091"/>
                </a:gdLst>
                <a:ahLst/>
                <a:cxnLst/>
                <a:rect l="l" t="t" r="r" b="b"/>
                <a:pathLst>
                  <a:path w="1425436" h="1544091">
                    <a:moveTo>
                      <a:pt x="712625" y="111621"/>
                    </a:moveTo>
                    <a:cubicBezTo>
                      <a:pt x="784435" y="111621"/>
                      <a:pt x="851780" y="139526"/>
                      <a:pt x="902567" y="190314"/>
                    </a:cubicBezTo>
                    <a:cubicBezTo>
                      <a:pt x="953355" y="241102"/>
                      <a:pt x="981260" y="308446"/>
                      <a:pt x="981260" y="380256"/>
                    </a:cubicBezTo>
                    <a:cubicBezTo>
                      <a:pt x="981260" y="452065"/>
                      <a:pt x="953355" y="519410"/>
                      <a:pt x="902567" y="570198"/>
                    </a:cubicBezTo>
                    <a:cubicBezTo>
                      <a:pt x="851780" y="620985"/>
                      <a:pt x="784435" y="648891"/>
                      <a:pt x="712625" y="648891"/>
                    </a:cubicBezTo>
                    <a:cubicBezTo>
                      <a:pt x="640816" y="648891"/>
                      <a:pt x="573471" y="620985"/>
                      <a:pt x="522684" y="570198"/>
                    </a:cubicBezTo>
                    <a:cubicBezTo>
                      <a:pt x="472082" y="519224"/>
                      <a:pt x="444177" y="451693"/>
                      <a:pt x="444177" y="380070"/>
                    </a:cubicBezTo>
                    <a:cubicBezTo>
                      <a:pt x="444177" y="308446"/>
                      <a:pt x="472082" y="240916"/>
                      <a:pt x="522870" y="190128"/>
                    </a:cubicBezTo>
                    <a:cubicBezTo>
                      <a:pt x="573471" y="139526"/>
                      <a:pt x="641002" y="111621"/>
                      <a:pt x="712625" y="111621"/>
                    </a:cubicBezTo>
                    <a:moveTo>
                      <a:pt x="712625" y="0"/>
                    </a:moveTo>
                    <a:cubicBezTo>
                      <a:pt x="502778" y="0"/>
                      <a:pt x="332556" y="170036"/>
                      <a:pt x="332556" y="380070"/>
                    </a:cubicBezTo>
                    <a:cubicBezTo>
                      <a:pt x="332556" y="589917"/>
                      <a:pt x="502778" y="760140"/>
                      <a:pt x="712625" y="760140"/>
                    </a:cubicBezTo>
                    <a:cubicBezTo>
                      <a:pt x="922473" y="760140"/>
                      <a:pt x="1092695" y="589917"/>
                      <a:pt x="1092695" y="380070"/>
                    </a:cubicBezTo>
                    <a:cubicBezTo>
                      <a:pt x="1092881" y="170036"/>
                      <a:pt x="922659" y="0"/>
                      <a:pt x="712625" y="0"/>
                    </a:cubicBezTo>
                    <a:close/>
                    <a:moveTo>
                      <a:pt x="712625" y="943012"/>
                    </a:moveTo>
                    <a:cubicBezTo>
                      <a:pt x="813643" y="943012"/>
                      <a:pt x="903126" y="954360"/>
                      <a:pt x="978842" y="976685"/>
                    </a:cubicBezTo>
                    <a:cubicBezTo>
                      <a:pt x="1043582" y="995846"/>
                      <a:pt x="1099951" y="1023752"/>
                      <a:pt x="1146087" y="1059470"/>
                    </a:cubicBezTo>
                    <a:cubicBezTo>
                      <a:pt x="1186829" y="1091096"/>
                      <a:pt x="1220315" y="1128675"/>
                      <a:pt x="1248593" y="1174440"/>
                    </a:cubicBezTo>
                    <a:cubicBezTo>
                      <a:pt x="1273708" y="1215368"/>
                      <a:pt x="1293985" y="1261877"/>
                      <a:pt x="1310356" y="1316385"/>
                    </a:cubicBezTo>
                    <a:cubicBezTo>
                      <a:pt x="1320774" y="1350801"/>
                      <a:pt x="1306264" y="1377404"/>
                      <a:pt x="1296590" y="1390241"/>
                    </a:cubicBezTo>
                    <a:cubicBezTo>
                      <a:pt x="1276684" y="1417030"/>
                      <a:pt x="1244686" y="1432285"/>
                      <a:pt x="1208595" y="1432285"/>
                    </a:cubicBezTo>
                    <a:lnTo>
                      <a:pt x="216842" y="1432285"/>
                    </a:lnTo>
                    <a:cubicBezTo>
                      <a:pt x="180937" y="1432285"/>
                      <a:pt x="148753" y="1417030"/>
                      <a:pt x="128847" y="1390241"/>
                    </a:cubicBezTo>
                    <a:cubicBezTo>
                      <a:pt x="119359" y="1377404"/>
                      <a:pt x="104849" y="1350801"/>
                      <a:pt x="115081" y="1316385"/>
                    </a:cubicBezTo>
                    <a:cubicBezTo>
                      <a:pt x="131452" y="1261877"/>
                      <a:pt x="151543" y="1215368"/>
                      <a:pt x="176844" y="1174440"/>
                    </a:cubicBezTo>
                    <a:cubicBezTo>
                      <a:pt x="204936" y="1128675"/>
                      <a:pt x="238422" y="1090910"/>
                      <a:pt x="279350" y="1059470"/>
                    </a:cubicBezTo>
                    <a:cubicBezTo>
                      <a:pt x="325486" y="1023752"/>
                      <a:pt x="381855" y="995846"/>
                      <a:pt x="446595" y="976685"/>
                    </a:cubicBezTo>
                    <a:cubicBezTo>
                      <a:pt x="522125" y="954360"/>
                      <a:pt x="611794" y="943012"/>
                      <a:pt x="712625" y="943012"/>
                    </a:cubicBezTo>
                    <a:moveTo>
                      <a:pt x="712625" y="831391"/>
                    </a:moveTo>
                    <a:cubicBezTo>
                      <a:pt x="244561" y="831391"/>
                      <a:pt x="77501" y="1053331"/>
                      <a:pt x="8296" y="1284387"/>
                    </a:cubicBezTo>
                    <a:cubicBezTo>
                      <a:pt x="-30771" y="1414611"/>
                      <a:pt x="73037" y="1544092"/>
                      <a:pt x="216842" y="1544092"/>
                    </a:cubicBezTo>
                    <a:lnTo>
                      <a:pt x="1208595" y="1544092"/>
                    </a:lnTo>
                    <a:cubicBezTo>
                      <a:pt x="1352400" y="1544092"/>
                      <a:pt x="1456208" y="1414611"/>
                      <a:pt x="1417141" y="1284387"/>
                    </a:cubicBezTo>
                    <a:cubicBezTo>
                      <a:pt x="1347750" y="1053331"/>
                      <a:pt x="1180690" y="831391"/>
                      <a:pt x="712625" y="8313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60" cap="flat">
                <a:noFill/>
                <a:miter/>
              </a:ln>
            </p:spPr>
            <p:txBody>
              <a:bodyPr vert="horz" wrap="square" lIns="91440" tIns="45720" rIns="91440" bIns="45720" rtlCol="0" anchor="ctr"/>
              <a:lstStyle/>
              <a:p>
                <a:pPr algn="l">
                  <a:lnSpc>
                    <a:spcPct val="100000"/>
                  </a:lnSpc>
                </a:pPr>
                <a:endParaRPr kumimoji="1" lang="zh-CN" alt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4131496" y="2064790"/>
            <a:ext cx="1015736" cy="654976"/>
            <a:chOff x="4131496" y="2064790"/>
            <a:chExt cx="1015736" cy="654976"/>
          </a:xfrm>
        </p:grpSpPr>
        <p:sp>
          <p:nvSpPr>
            <p:cNvPr id="23" name="标题 1"/>
            <p:cNvSpPr txBox="1"/>
            <p:nvPr/>
          </p:nvSpPr>
          <p:spPr>
            <a:xfrm>
              <a:off x="4549419" y="2121953"/>
              <a:ext cx="597813" cy="597813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4131496" y="2064790"/>
              <a:ext cx="429835" cy="429835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905814" y="2077034"/>
            <a:ext cx="1015736" cy="654976"/>
            <a:chOff x="6905814" y="2077034"/>
            <a:chExt cx="1015736" cy="654976"/>
          </a:xfrm>
        </p:grpSpPr>
        <p:sp>
          <p:nvSpPr>
            <p:cNvPr id="26" name="标题 1"/>
            <p:cNvSpPr txBox="1"/>
            <p:nvPr/>
          </p:nvSpPr>
          <p:spPr>
            <a:xfrm flipH="1">
              <a:off x="7323737" y="2134197"/>
              <a:ext cx="597813" cy="597813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 flipH="1">
              <a:off x="6905814" y="2077034"/>
              <a:ext cx="429835" cy="429835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</p:grpSp>
      <p:sp>
        <p:nvSpPr>
          <p:cNvPr id="28" name="标题 1"/>
          <p:cNvSpPr txBox="1"/>
          <p:nvPr/>
        </p:nvSpPr>
        <p:spPr>
          <a:xfrm>
            <a:off x="983615" y="1484630"/>
            <a:ext cx="10467975" cy="18999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5500">
                <a:ln w="3175">
                  <a:noFill/>
                </a:ln>
                <a:solidFill>
                  <a:schemeClr val="bg1">
                    <a:alpha val="100000"/>
                  </a:scheme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机器学习与物联网的发展与应用</a:t>
            </a:r>
            <a:endParaRPr kumimoji="1" lang="en-US" altLang="zh-CN" sz="5500">
              <a:ln w="3175">
                <a:noFill/>
              </a:ln>
              <a:solidFill>
                <a:schemeClr val="bg1">
                  <a:alpha val="100000"/>
                </a:schemeClr>
              </a:solidFill>
              <a:latin typeface="Dream-XinCuSongGB" panose="02010604000000000000" charset="-122"/>
              <a:ea typeface="Dream-XinCuSongGB" panose="02010604000000000000" charset="-122"/>
              <a:cs typeface="Dream-XinCuSongGB" panose="02010604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 txBox="1"/>
          <p:nvPr/>
        </p:nvSpPr>
        <p:spPr>
          <a:xfrm>
            <a:off x="0" y="0"/>
            <a:ext cx="219891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783205" y="1916430"/>
            <a:ext cx="7081520" cy="3147060"/>
            <a:chOff x="4950" y="2969"/>
            <a:chExt cx="10630" cy="4346"/>
          </a:xfrm>
        </p:grpSpPr>
        <p:grpSp>
          <p:nvGrpSpPr>
            <p:cNvPr id="23" name="组合 22"/>
            <p:cNvGrpSpPr/>
            <p:nvPr/>
          </p:nvGrpSpPr>
          <p:grpSpPr>
            <a:xfrm>
              <a:off x="4950" y="2969"/>
              <a:ext cx="8301" cy="1501"/>
              <a:chOff x="4816" y="1771"/>
              <a:chExt cx="7178" cy="843"/>
            </a:xfrm>
          </p:grpSpPr>
          <p:cxnSp>
            <p:nvCxnSpPr>
              <p:cNvPr id="14" name="标题 1"/>
              <p:cNvCxnSpPr/>
              <p:nvPr/>
            </p:nvCxnSpPr>
            <p:spPr>
              <a:xfrm flipH="1">
                <a:off x="4816" y="2614"/>
                <a:ext cx="7179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miter/>
              </a:ln>
            </p:spPr>
          </p:cxnSp>
          <p:sp>
            <p:nvSpPr>
              <p:cNvPr id="15" name="标题 1"/>
              <p:cNvSpPr txBox="1"/>
              <p:nvPr/>
            </p:nvSpPr>
            <p:spPr>
              <a:xfrm>
                <a:off x="4816" y="1771"/>
                <a:ext cx="2130" cy="655"/>
              </a:xfrm>
              <a:prstGeom prst="rect">
                <a:avLst/>
              </a:prstGeom>
              <a:noFill/>
              <a:ln w="12700" cap="sq">
                <a:noFill/>
                <a:miter/>
              </a:ln>
            </p:spPr>
            <p:txBody>
              <a:bodyPr vert="horz" wrap="squar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kumimoji="1" lang="zh-CN" altLang="en-US" sz="2400" b="1"/>
                  <a:t>小组成员</a:t>
                </a:r>
                <a:endParaRPr kumimoji="1" lang="zh-CN" altLang="en-US" sz="2400" b="1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4950" y="4719"/>
              <a:ext cx="10630" cy="25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2400"/>
                <a:t>汇报：李沐聪</a:t>
              </a:r>
              <a:endParaRPr lang="zh-CN" altLang="en-US" sz="2400"/>
            </a:p>
            <a:p>
              <a:endParaRPr lang="zh-CN" altLang="en-US" sz="2400"/>
            </a:p>
            <a:p>
              <a:r>
                <a:rPr lang="en-US" altLang="zh-CN" sz="2400"/>
                <a:t>PPT</a:t>
              </a:r>
              <a:r>
                <a:rPr lang="zh-CN" altLang="en-US" sz="2400"/>
                <a:t>制作：冯灏然、徐华炫、毛星博</a:t>
              </a:r>
              <a:endParaRPr lang="zh-CN" altLang="en-US" sz="2400"/>
            </a:p>
            <a:p>
              <a:endParaRPr lang="zh-CN" altLang="en-US" sz="2400"/>
            </a:p>
            <a:p>
              <a:r>
                <a:rPr lang="zh-CN" altLang="en-US" sz="2400"/>
                <a:t>资料收集：孙瑞、殷和尘</a:t>
              </a:r>
              <a:endParaRPr lang="zh-CN" altLang="en-US" sz="2400"/>
            </a:p>
          </p:txBody>
        </p:sp>
      </p:grpSp>
      <p:pic>
        <p:nvPicPr>
          <p:cNvPr id="24" name="图片 23"/>
          <p:cNvPicPr/>
          <p:nvPr/>
        </p:nvPicPr>
        <p:blipFill>
          <a:blip r:embed="rId1"/>
          <a:stretch>
            <a:fillRect/>
          </a:stretch>
        </p:blipFill>
        <p:spPr>
          <a:xfrm>
            <a:off x="8544560" y="1772285"/>
            <a:ext cx="3358515" cy="3420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 txBox="1"/>
          <p:nvPr>
            <p:custDataLst>
              <p:tags r:id="rId2"/>
            </p:custDataLst>
          </p:nvPr>
        </p:nvSpPr>
        <p:spPr>
          <a:xfrm>
            <a:off x="2934970" y="3370145"/>
            <a:ext cx="6111240" cy="56348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>
            <p:custDataLst>
              <p:tags r:id="rId3"/>
            </p:custDataLst>
          </p:nvPr>
        </p:nvSpPr>
        <p:spPr>
          <a:xfrm>
            <a:off x="2934970" y="2604325"/>
            <a:ext cx="5929862" cy="56348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>
            <p:custDataLst>
              <p:tags r:id="rId4"/>
            </p:custDataLst>
          </p:nvPr>
        </p:nvSpPr>
        <p:spPr>
          <a:xfrm>
            <a:off x="2934970" y="1909445"/>
            <a:ext cx="5586452" cy="56348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8" name="组合 17"/>
          <p:cNvGrpSpPr/>
          <p:nvPr>
            <p:custDataLst>
              <p:tags r:id="rId5"/>
            </p:custDataLst>
          </p:nvPr>
        </p:nvGrpSpPr>
        <p:grpSpPr>
          <a:xfrm>
            <a:off x="3088940" y="2676071"/>
            <a:ext cx="5139052" cy="1212413"/>
            <a:chOff x="11790" y="4154"/>
            <a:chExt cx="6375" cy="1504"/>
          </a:xfrm>
        </p:grpSpPr>
        <p:sp>
          <p:nvSpPr>
            <p:cNvPr id="3" name="标题 1"/>
            <p:cNvSpPr txBox="1"/>
            <p:nvPr>
              <p:custDataLst>
                <p:tags r:id="rId6"/>
              </p:custDataLst>
            </p:nvPr>
          </p:nvSpPr>
          <p:spPr>
            <a:xfrm>
              <a:off x="12378" y="4237"/>
              <a:ext cx="5787" cy="142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t"/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22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机器学习的发展历程</a:t>
              </a:r>
              <a:endParaRPr kumimoji="1" lang="en-US" altLang="zh-CN" sz="2200">
                <a:ln w="12700">
                  <a:noFill/>
                </a:ln>
                <a:solidFill>
                  <a:schemeClr val="accent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endParaRPr>
            </a:p>
          </p:txBody>
        </p:sp>
        <p:sp>
          <p:nvSpPr>
            <p:cNvPr id="4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11790" y="4154"/>
              <a:ext cx="620" cy="588"/>
            </a:xfrm>
            <a:prstGeom prst="rect">
              <a:avLst/>
            </a:prstGeom>
            <a:noFill/>
            <a:ln w="12700" cap="sq">
              <a:noFill/>
              <a:miter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2800">
                  <a:ln w="12700">
                    <a:noFill/>
                  </a:ln>
                  <a:solidFill>
                    <a:srgbClr val="3A9BAA">
                      <a:alpha val="100000"/>
                    </a:srgb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2.</a:t>
              </a:r>
              <a:endParaRPr kumimoji="1" lang="zh-CN" altLang="en-US"/>
            </a:p>
          </p:txBody>
        </p:sp>
      </p:grp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3088940" y="1927986"/>
            <a:ext cx="5055215" cy="1179362"/>
            <a:chOff x="4816" y="4154"/>
            <a:chExt cx="6271" cy="1463"/>
          </a:xfrm>
        </p:grpSpPr>
        <p:sp>
          <p:nvSpPr>
            <p:cNvPr id="5" name="标题 1"/>
            <p:cNvSpPr txBox="1"/>
            <p:nvPr>
              <p:custDataLst>
                <p:tags r:id="rId9"/>
              </p:custDataLst>
            </p:nvPr>
          </p:nvSpPr>
          <p:spPr>
            <a:xfrm>
              <a:off x="4816" y="4154"/>
              <a:ext cx="620" cy="588"/>
            </a:xfrm>
            <a:prstGeom prst="rect">
              <a:avLst/>
            </a:prstGeom>
            <a:noFill/>
            <a:ln w="12700" cap="sq">
              <a:noFill/>
              <a:miter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2800">
                  <a:ln w="12700">
                    <a:noFill/>
                  </a:ln>
                  <a:solidFill>
                    <a:srgbClr val="3A9BAA">
                      <a:alpha val="100000"/>
                    </a:srgb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1.</a:t>
              </a:r>
              <a:endParaRPr kumimoji="1" lang="zh-CN" altLang="en-US"/>
            </a:p>
          </p:txBody>
        </p:sp>
        <p:sp>
          <p:nvSpPr>
            <p:cNvPr id="6" name="标题 1"/>
            <p:cNvSpPr txBox="1"/>
            <p:nvPr>
              <p:custDataLst>
                <p:tags r:id="rId10"/>
              </p:custDataLst>
            </p:nvPr>
          </p:nvSpPr>
          <p:spPr>
            <a:xfrm>
              <a:off x="5418" y="4200"/>
              <a:ext cx="5669" cy="141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t"/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24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机器学习基础</a:t>
              </a:r>
              <a:endParaRPr kumimoji="1" lang="en-US" altLang="zh-CN" sz="2400">
                <a:ln w="12700">
                  <a:noFill/>
                </a:ln>
                <a:solidFill>
                  <a:schemeClr val="accent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3108287" y="3373370"/>
            <a:ext cx="4917368" cy="478033"/>
            <a:chOff x="4816" y="7470"/>
            <a:chExt cx="6100" cy="593"/>
          </a:xfrm>
        </p:grpSpPr>
        <p:sp>
          <p:nvSpPr>
            <p:cNvPr id="11" name="标题 1"/>
            <p:cNvSpPr txBox="1"/>
            <p:nvPr>
              <p:custDataLst>
                <p:tags r:id="rId12"/>
              </p:custDataLst>
            </p:nvPr>
          </p:nvSpPr>
          <p:spPr>
            <a:xfrm>
              <a:off x="5479" y="7537"/>
              <a:ext cx="5437" cy="52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t"/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22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机器学习的</a:t>
              </a:r>
              <a:r>
                <a:rPr kumimoji="1" lang="en-US" altLang="zh-CN" sz="22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应用</a:t>
              </a:r>
              <a:r>
                <a:rPr kumimoji="1" lang="zh-CN" altLang="en-US" sz="22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场景</a:t>
              </a:r>
              <a:endParaRPr kumimoji="1" lang="zh-CN" altLang="en-US" sz="2200">
                <a:ln w="12700">
                  <a:noFill/>
                </a:ln>
                <a:solidFill>
                  <a:schemeClr val="accent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endParaRPr>
            </a:p>
          </p:txBody>
        </p:sp>
        <p:sp>
          <p:nvSpPr>
            <p:cNvPr id="12" name="标题 1"/>
            <p:cNvSpPr txBox="1"/>
            <p:nvPr>
              <p:custDataLst>
                <p:tags r:id="rId13"/>
              </p:custDataLst>
            </p:nvPr>
          </p:nvSpPr>
          <p:spPr>
            <a:xfrm>
              <a:off x="4816" y="7470"/>
              <a:ext cx="620" cy="588"/>
            </a:xfrm>
            <a:prstGeom prst="rect">
              <a:avLst/>
            </a:prstGeom>
            <a:noFill/>
            <a:ln w="12700" cap="sq">
              <a:noFill/>
              <a:miter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kumimoji="1" lang="en-US" altLang="zh-CN" sz="2800">
                  <a:ln w="12700">
                    <a:noFill/>
                  </a:ln>
                  <a:solidFill>
                    <a:srgbClr val="3A9BAA">
                      <a:alpha val="100000"/>
                    </a:srgbClr>
                  </a:solidFill>
                  <a:latin typeface="Source Han Sans" panose="020B0500000000000000" charset="-122"/>
                  <a:ea typeface="Source Han Sans" panose="020B0500000000000000" charset="-122"/>
                  <a:cs typeface="Source Han Sans" panose="020B0500000000000000" charset="-122"/>
                </a:rPr>
                <a:t>3.</a:t>
              </a:r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3057952" y="1028700"/>
            <a:ext cx="2384906" cy="58273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3A9BAA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Catalogue</a:t>
            </a:r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 flipH="1">
            <a:off x="3057951" y="1659920"/>
            <a:ext cx="455865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15" name="标题 1"/>
          <p:cNvSpPr txBox="1"/>
          <p:nvPr/>
        </p:nvSpPr>
        <p:spPr>
          <a:xfrm>
            <a:off x="5329643" y="1120656"/>
            <a:ext cx="692328" cy="41624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目录</a:t>
            </a:r>
            <a:endParaRPr kumimoji="1" lang="en-US" altLang="zh-CN" sz="24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0" y="0"/>
            <a:ext cx="219891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1776062" y="3282437"/>
            <a:ext cx="1019381" cy="1019381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>
                  <a:alpha val="13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40418" y="877469"/>
            <a:ext cx="565987" cy="565987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2895" y="3422984"/>
            <a:ext cx="400410" cy="400410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1124562"/>
            <a:ext cx="10858500" cy="5111137"/>
          </a:xfrm>
          <a:prstGeom prst="roundRect">
            <a:avLst>
              <a:gd name="adj" fmla="val 4743"/>
            </a:avLst>
          </a:prstGeom>
          <a:gradFill>
            <a:gsLst>
              <a:gs pos="70000">
                <a:schemeClr val="bg1">
                  <a:alpha val="8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3175" cap="sq">
            <a:gradFill>
              <a:gsLst>
                <a:gs pos="0">
                  <a:schemeClr val="bg1">
                    <a:alpha val="7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289748" y="1102138"/>
            <a:ext cx="3612505" cy="157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595959">
                    <a:alpha val="100000"/>
                  </a:srgb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743288" y="2920822"/>
            <a:ext cx="400859" cy="400859"/>
          </a:xfrm>
          <a:prstGeom prst="ellipse">
            <a:avLst/>
          </a:prstGeom>
          <a:gradFill>
            <a:gsLst>
              <a:gs pos="0">
                <a:srgbClr val="FFFFFF">
                  <a:alpha val="84000"/>
                </a:srgb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10384080" y="5365885"/>
            <a:ext cx="1033838" cy="1792986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>
            <a:off x="2296617" y="677036"/>
            <a:ext cx="6615371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grpSp>
        <p:nvGrpSpPr>
          <p:cNvPr id="12" name="组合 11"/>
          <p:cNvGrpSpPr/>
          <p:nvPr/>
        </p:nvGrpSpPr>
        <p:grpSpPr>
          <a:xfrm>
            <a:off x="6886517" y="1849421"/>
            <a:ext cx="1015736" cy="654976"/>
            <a:chOff x="6886517" y="1849421"/>
            <a:chExt cx="1015736" cy="654976"/>
          </a:xfrm>
        </p:grpSpPr>
        <p:sp>
          <p:nvSpPr>
            <p:cNvPr id="13" name="标题 1"/>
            <p:cNvSpPr txBox="1"/>
            <p:nvPr/>
          </p:nvSpPr>
          <p:spPr>
            <a:xfrm flipH="1">
              <a:off x="7304440" y="1906584"/>
              <a:ext cx="597813" cy="597813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flipH="1">
              <a:off x="6886517" y="1849421"/>
              <a:ext cx="429835" cy="429835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</p:grpSp>
      <p:sp>
        <p:nvSpPr>
          <p:cNvPr id="15" name="标题 1"/>
          <p:cNvSpPr txBox="1"/>
          <p:nvPr/>
        </p:nvSpPr>
        <p:spPr>
          <a:xfrm>
            <a:off x="2503542" y="2687091"/>
            <a:ext cx="7184916" cy="16587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000">
                <a:ln w="3175">
                  <a:noFill/>
                </a:ln>
                <a:solidFill>
                  <a:srgbClr val="3A9BAA">
                    <a:alpha val="100000"/>
                  </a:srgb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机器学习基础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 txBox="1"/>
          <p:nvPr/>
        </p:nvSpPr>
        <p:spPr>
          <a:xfrm>
            <a:off x="8260715" y="2574925"/>
            <a:ext cx="3119755" cy="3443605"/>
          </a:xfrm>
          <a:prstGeom prst="roundRect">
            <a:avLst>
              <a:gd name="adj" fmla="val 3450"/>
            </a:avLst>
          </a:prstGeom>
          <a:solidFill>
            <a:schemeClr val="tx1">
              <a:lumMod val="65000"/>
              <a:lumOff val="35000"/>
            </a:schemeClr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995545" y="2559685"/>
            <a:ext cx="3119755" cy="3443605"/>
          </a:xfrm>
          <a:prstGeom prst="roundRect">
            <a:avLst>
              <a:gd name="adj" fmla="val 3450"/>
            </a:avLst>
          </a:prstGeom>
          <a:solidFill>
            <a:schemeClr val="tx1">
              <a:lumMod val="65000"/>
              <a:lumOff val="35000"/>
            </a:schemeClr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60400" y="1752853"/>
            <a:ext cx="3879795" cy="3654034"/>
          </a:xfrm>
          <a:prstGeom prst="roundRect">
            <a:avLst>
              <a:gd name="adj" fmla="val 3450"/>
            </a:avLst>
          </a:prstGeom>
          <a:solidFill>
            <a:schemeClr val="tx1">
              <a:lumMod val="65000"/>
              <a:lumOff val="35000"/>
            </a:schemeClr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03744" y="2574676"/>
            <a:ext cx="3593327" cy="2599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chemeClr val="accent1">
                    <a:lumMod val="60000"/>
                    <a:lumOff val="40000"/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机器学习作为人工智能的一个分支，</a:t>
            </a:r>
            <a:r>
              <a:rPr kumimoji="1" lang="en-US" altLang="zh-CN" sz="1400">
                <a:ln w="12700">
                  <a:noFill/>
                </a:ln>
                <a:solidFill>
                  <a:schemeClr val="accent4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其核心在于通过算法使计算机能够从数据中学习并提升性能，解决人工智能中的特定问题。</a:t>
            </a:r>
            <a:r>
              <a:rPr kumimoji="1" lang="en-US" altLang="zh-CN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它涉及的算法能够自动分析数据，从中发现规律，并利用这些规律对未知数据进行预测。
机器学习算法与统计学理论紧密相关，因其算法中大量运用了统计学原理，有时也被称作统计学习理论。</a:t>
            </a:r>
            <a:endParaRPr kumimoji="1" lang="en-US" altLang="zh-CN" sz="14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660400" y="1739789"/>
            <a:ext cx="3879795" cy="596348"/>
          </a:xfrm>
          <a:prstGeom prst="roundRect">
            <a:avLst>
              <a:gd name="adj" fmla="val 12783"/>
            </a:avLst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03744" y="1883964"/>
            <a:ext cx="2952005" cy="2691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机器学习的定义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016721" y="2559988"/>
            <a:ext cx="3098276" cy="596348"/>
          </a:xfrm>
          <a:prstGeom prst="roundRect">
            <a:avLst>
              <a:gd name="adj" fmla="val 12783"/>
            </a:avLst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173641" y="2704162"/>
            <a:ext cx="2775973" cy="2691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机器学习的特点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439164" y="3284220"/>
            <a:ext cx="2741155" cy="2240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机器学习算法中广泛使用了统计学的方法，如概率论、假设检验等，这些方法帮助算法更好地从数据中学习规律。</a:t>
            </a:r>
            <a:endParaRPr kumimoji="1" lang="en-US" altLang="zh-CN" sz="14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8260604" y="2559988"/>
            <a:ext cx="3098276" cy="596348"/>
          </a:xfrm>
          <a:prstGeom prst="roundRect">
            <a:avLst>
              <a:gd name="adj" fmla="val 12783"/>
            </a:avLst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417524" y="2704162"/>
            <a:ext cx="2775973" cy="2691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机器学习与统计学的关系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ahLst/>
            <a:cxnLst/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blurRad="317500" dist="190500" dir="810000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机器学习的定义与特点</a:t>
            </a:r>
            <a:endParaRPr kumimoji="1" lang="en-US" altLang="zh-CN" sz="32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5195282" y="3284220"/>
            <a:ext cx="2741155" cy="22402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机器学习算法能够处理大量数据，并从中提取有价值的信息，这使得它在数据密集型的应用中尤为重要。
机器学习模型具有自我优化的能力，能够随着新数据的输入而不断调整和改进，提高了预测的准确性。</a:t>
            </a:r>
            <a:endParaRPr kumimoji="1" lang="en-US" altLang="zh-CN" sz="14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560" y="257175"/>
            <a:ext cx="2663825" cy="207899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3"/>
          <a:stretch>
            <a:fillRect/>
          </a:stretch>
        </p:blipFill>
        <p:spPr>
          <a:xfrm>
            <a:off x="5506085" y="500380"/>
            <a:ext cx="2198370" cy="15519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alphaModFix amt="37000"/>
          </a:blip>
          <a:srcRect l="-987" r="30679" b="5232"/>
          <a:stretch>
            <a:fillRect/>
          </a:stretch>
        </p:blipFill>
        <p:spPr>
          <a:xfrm>
            <a:off x="3431540" y="908685"/>
            <a:ext cx="5112385" cy="5256530"/>
          </a:xfrm>
          <a:prstGeom prst="rect">
            <a:avLst/>
          </a:prstGeom>
          <a:effectLst>
            <a:softEdge rad="622300"/>
          </a:effectLst>
        </p:spPr>
      </p:pic>
      <p:sp>
        <p:nvSpPr>
          <p:cNvPr id="2" name="椭圆 1"/>
          <p:cNvSpPr/>
          <p:nvPr/>
        </p:nvSpPr>
        <p:spPr>
          <a:xfrm>
            <a:off x="3324225" y="765175"/>
            <a:ext cx="5543550" cy="554355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655820" y="2781300"/>
            <a:ext cx="2808605" cy="1224280"/>
          </a:xfrm>
          <a:prstGeom prst="roundRect">
            <a:avLst/>
          </a:prstGeom>
          <a:solidFill>
            <a:schemeClr val="bg1"/>
          </a:solidFill>
          <a:ln w="63500" cmpd="sng">
            <a:gradFill>
              <a:gsLst>
                <a:gs pos="0">
                  <a:srgbClr val="7030A0"/>
                </a:gs>
                <a:gs pos="61000">
                  <a:srgbClr val="7030A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Mechine Learning</a:t>
            </a:r>
            <a:endParaRPr lang="en-US" altLang="zh-CN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机器学习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cxnSp>
        <p:nvCxnSpPr>
          <p:cNvPr id="5" name="直接连接符 4"/>
          <p:cNvCxnSpPr>
            <a:stCxn id="4" idx="3"/>
          </p:cNvCxnSpPr>
          <p:nvPr/>
        </p:nvCxnSpPr>
        <p:spPr>
          <a:xfrm flipV="1">
            <a:off x="7464425" y="3380105"/>
            <a:ext cx="1656080" cy="13335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9113520" y="2997200"/>
            <a:ext cx="2679065" cy="76708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7030A0">
                <a:alpha val="97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监督学习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Supervised Learning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8" name="曲线连接符 7"/>
          <p:cNvCxnSpPr>
            <a:stCxn id="4" idx="3"/>
          </p:cNvCxnSpPr>
          <p:nvPr/>
        </p:nvCxnSpPr>
        <p:spPr>
          <a:xfrm>
            <a:off x="7464425" y="3393440"/>
            <a:ext cx="1656080" cy="972185"/>
          </a:xfrm>
          <a:prstGeom prst="curvedConnector3">
            <a:avLst>
              <a:gd name="adj1" fmla="val 50000"/>
            </a:avLst>
          </a:prstGeom>
          <a:ln w="635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9120505" y="4005580"/>
            <a:ext cx="2679065" cy="76708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7030A0">
                <a:alpha val="97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无监督学习（</a:t>
            </a:r>
            <a:r>
              <a:rPr lang="en-US" altLang="zh-CN" sz="1600" b="1">
                <a:solidFill>
                  <a:schemeClr val="tx1"/>
                </a:solidFill>
              </a:rPr>
              <a:t>Unsupervised Learning</a:t>
            </a:r>
            <a:r>
              <a:rPr lang="zh-CN" altLang="en-US" sz="1600" b="1">
                <a:solidFill>
                  <a:schemeClr val="tx1"/>
                </a:solidFill>
              </a:rPr>
              <a:t>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14" name="曲线连接符 13"/>
          <p:cNvCxnSpPr>
            <a:stCxn id="4" idx="3"/>
          </p:cNvCxnSpPr>
          <p:nvPr/>
        </p:nvCxnSpPr>
        <p:spPr>
          <a:xfrm flipV="1">
            <a:off x="7464425" y="2205355"/>
            <a:ext cx="1656080" cy="1188085"/>
          </a:xfrm>
          <a:prstGeom prst="curvedConnector3">
            <a:avLst>
              <a:gd name="adj1" fmla="val 50000"/>
            </a:avLst>
          </a:prstGeom>
          <a:ln w="635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9120505" y="1845310"/>
            <a:ext cx="2679065" cy="76708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7030A0">
                <a:alpha val="97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半监督学习（</a:t>
            </a:r>
            <a:r>
              <a:rPr lang="en-US" altLang="zh-CN" b="1">
                <a:solidFill>
                  <a:schemeClr val="tx1"/>
                </a:solidFill>
              </a:rPr>
              <a:t>Semi-supervised Learning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 flipV="1">
            <a:off x="2783840" y="3429000"/>
            <a:ext cx="1871980" cy="1524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曲线连接符 17"/>
          <p:cNvCxnSpPr/>
          <p:nvPr/>
        </p:nvCxnSpPr>
        <p:spPr>
          <a:xfrm rot="10800000" flipV="1">
            <a:off x="2783840" y="3444240"/>
            <a:ext cx="1871980" cy="1102360"/>
          </a:xfrm>
          <a:prstGeom prst="curvedConnector3">
            <a:avLst>
              <a:gd name="adj1" fmla="val 49966"/>
            </a:avLst>
          </a:prstGeom>
          <a:ln w="635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曲线连接符 18"/>
          <p:cNvCxnSpPr/>
          <p:nvPr/>
        </p:nvCxnSpPr>
        <p:spPr>
          <a:xfrm rot="10800000">
            <a:off x="2783840" y="2098040"/>
            <a:ext cx="1871980" cy="1345565"/>
          </a:xfrm>
          <a:prstGeom prst="curvedConnector3">
            <a:avLst>
              <a:gd name="adj1" fmla="val 49966"/>
            </a:avLst>
          </a:prstGeom>
          <a:ln w="635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圆角矩形 25"/>
          <p:cNvSpPr/>
          <p:nvPr/>
        </p:nvSpPr>
        <p:spPr>
          <a:xfrm>
            <a:off x="104775" y="3053080"/>
            <a:ext cx="2679065" cy="76708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7030A0">
                <a:alpha val="97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自监督学习（</a:t>
            </a:r>
            <a:r>
              <a:rPr lang="en-US" altLang="zh-CN" b="1">
                <a:solidFill>
                  <a:schemeClr val="tx1"/>
                </a:solidFill>
              </a:rPr>
              <a:t>Self-supervised Learning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9380" y="4077335"/>
            <a:ext cx="2679065" cy="76708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7030A0">
                <a:alpha val="97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迁移学习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Transfer Learning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11760" y="1901190"/>
            <a:ext cx="2679065" cy="767080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7030A0">
                <a:alpha val="97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强化学习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（</a:t>
            </a:r>
            <a:r>
              <a:rPr lang="en-US" altLang="zh-CN" sz="1600" b="1">
                <a:solidFill>
                  <a:schemeClr val="tx1"/>
                </a:solidFill>
              </a:rPr>
              <a:t>Reinforcement Learning</a:t>
            </a:r>
            <a:r>
              <a:rPr lang="zh-CN" altLang="en-US" sz="1600" b="1">
                <a:solidFill>
                  <a:schemeClr val="tx1"/>
                </a:solidFill>
              </a:rPr>
              <a:t>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5325" y="4768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32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机器学习的</a:t>
            </a:r>
            <a:r>
              <a:rPr kumimoji="1" lang="zh-CN" altLang="en-US" sz="32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分类</a:t>
            </a:r>
            <a:endParaRPr kumimoji="1" lang="zh-CN" altLang="en-US" sz="32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30" name="标题 1"/>
          <p:cNvSpPr txBox="1"/>
          <p:nvPr/>
        </p:nvSpPr>
        <p:spPr>
          <a:xfrm flipH="1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ahLst/>
            <a:cxnLst/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gradFill>
            <a:gsLst>
              <a:gs pos="81000">
                <a:schemeClr val="accent1">
                  <a:lumMod val="5000"/>
                  <a:lumOff val="95000"/>
                </a:schemeClr>
              </a:gs>
              <a:gs pos="7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584" cap="flat">
            <a:noFill/>
            <a:miter/>
          </a:ln>
          <a:effectLst>
            <a:outerShdw blurRad="317500" dist="190500" dir="810000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1776062" y="3282437"/>
            <a:ext cx="1019381" cy="1019381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>
                  <a:alpha val="13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40418" y="877469"/>
            <a:ext cx="565987" cy="565987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2895" y="3422984"/>
            <a:ext cx="400410" cy="400410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1124562"/>
            <a:ext cx="10858500" cy="5111137"/>
          </a:xfrm>
          <a:prstGeom prst="roundRect">
            <a:avLst>
              <a:gd name="adj" fmla="val 4743"/>
            </a:avLst>
          </a:prstGeom>
          <a:gradFill>
            <a:gsLst>
              <a:gs pos="70000">
                <a:schemeClr val="bg1">
                  <a:alpha val="8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3175" cap="sq">
            <a:gradFill>
              <a:gsLst>
                <a:gs pos="0">
                  <a:schemeClr val="bg1">
                    <a:alpha val="7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289748" y="1102138"/>
            <a:ext cx="3612505" cy="157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595959">
                    <a:alpha val="100000"/>
                  </a:srgb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02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743288" y="2920822"/>
            <a:ext cx="400859" cy="400859"/>
          </a:xfrm>
          <a:prstGeom prst="ellipse">
            <a:avLst/>
          </a:prstGeom>
          <a:gradFill>
            <a:gsLst>
              <a:gs pos="0">
                <a:srgbClr val="FFFFFF">
                  <a:alpha val="84000"/>
                </a:srgb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10384080" y="5365885"/>
            <a:ext cx="1033838" cy="1792986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>
            <a:off x="2296617" y="677036"/>
            <a:ext cx="6615371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grpSp>
        <p:nvGrpSpPr>
          <p:cNvPr id="12" name="组合 11"/>
          <p:cNvGrpSpPr/>
          <p:nvPr/>
        </p:nvGrpSpPr>
        <p:grpSpPr>
          <a:xfrm>
            <a:off x="6886517" y="1849421"/>
            <a:ext cx="1015736" cy="654976"/>
            <a:chOff x="6886517" y="1849421"/>
            <a:chExt cx="1015736" cy="654976"/>
          </a:xfrm>
        </p:grpSpPr>
        <p:sp>
          <p:nvSpPr>
            <p:cNvPr id="13" name="标题 1"/>
            <p:cNvSpPr txBox="1"/>
            <p:nvPr/>
          </p:nvSpPr>
          <p:spPr>
            <a:xfrm flipH="1">
              <a:off x="7304440" y="1906584"/>
              <a:ext cx="597813" cy="597813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flipH="1">
              <a:off x="6886517" y="1849421"/>
              <a:ext cx="429835" cy="429835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</p:grpSp>
      <p:sp>
        <p:nvSpPr>
          <p:cNvPr id="15" name="标题 1"/>
          <p:cNvSpPr txBox="1"/>
          <p:nvPr/>
        </p:nvSpPr>
        <p:spPr>
          <a:xfrm>
            <a:off x="2503542" y="2687091"/>
            <a:ext cx="7184916" cy="16587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5000">
                <a:ln w="3175">
                  <a:noFill/>
                </a:ln>
                <a:solidFill>
                  <a:srgbClr val="3A9BAA">
                    <a:alpha val="100000"/>
                  </a:srgb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机器学习的发展历程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微信图片_20241208000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>
            <a:glow>
              <a:schemeClr val="accent1">
                <a:alpha val="100000"/>
              </a:scheme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112712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7395" y="-629285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0726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816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126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1535" y="-1046861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9140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5230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 useBgFill="1">
        <p:nvSpPr>
          <p:cNvPr id="12" name="矩形 11"/>
          <p:cNvSpPr/>
          <p:nvPr/>
        </p:nvSpPr>
        <p:spPr>
          <a:xfrm>
            <a:off x="-24130" y="-99695"/>
            <a:ext cx="12385040" cy="23768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4" name="矩形 13"/>
          <p:cNvSpPr/>
          <p:nvPr/>
        </p:nvSpPr>
        <p:spPr>
          <a:xfrm>
            <a:off x="-96520" y="4481195"/>
            <a:ext cx="12509500" cy="28270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92445" y="2348865"/>
            <a:ext cx="791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 b="1">
                <a:solidFill>
                  <a:schemeClr val="bg1"/>
                </a:solidFill>
              </a:rPr>
              <a:t>-</a:t>
            </a:r>
            <a:endParaRPr lang="en-US" altLang="zh-CN" sz="9600" b="1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78045" y="908685"/>
            <a:ext cx="2980055" cy="92202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54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早期探索</a:t>
            </a:r>
            <a:endParaRPr lang="zh-CN" altLang="en-US" sz="54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35550" y="509905"/>
            <a:ext cx="2499360" cy="39408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en-US" altLang="zh-CN" sz="20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tx2">
                        <a:lumMod val="25000"/>
                        <a:lumOff val="75000"/>
                        <a:alpha val="54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华文新魏" panose="02010800040101010101" charset="-122"/>
                <a:ea typeface="华文新魏" panose="02010800040101010101" charset="-122"/>
              </a:rPr>
              <a:t>Early Exploration</a:t>
            </a:r>
            <a:endParaRPr lang="en-US" altLang="zh-CN" sz="20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25000"/>
                      <a:lumOff val="75000"/>
                      <a:alpha val="54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23795" y="4523105"/>
            <a:ext cx="7801610" cy="126555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图灵测试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：计算机科学奠基人艾伦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图灵提出了“图灵测试”，这一思想成为人工智能（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）研究的重要出发点。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感知机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1950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年代，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Frank Rosenblatt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提出了感知机模型，这是最早的神经网络模型之一，用于二分类问题。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微信图片_20241208000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>
            <a:glow>
              <a:schemeClr val="accent1">
                <a:alpha val="100000"/>
              </a:scheme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112712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7395" y="-1046861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0726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816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126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1535" y="-1464500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9140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5230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 useBgFill="1">
        <p:nvSpPr>
          <p:cNvPr id="12" name="矩形 11"/>
          <p:cNvSpPr/>
          <p:nvPr/>
        </p:nvSpPr>
        <p:spPr>
          <a:xfrm>
            <a:off x="-24130" y="-99695"/>
            <a:ext cx="12385040" cy="23768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4" name="矩形 13"/>
          <p:cNvSpPr/>
          <p:nvPr/>
        </p:nvSpPr>
        <p:spPr>
          <a:xfrm>
            <a:off x="-96520" y="4481195"/>
            <a:ext cx="12458065" cy="2653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92445" y="2348865"/>
            <a:ext cx="791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 b="1">
                <a:solidFill>
                  <a:schemeClr val="bg1"/>
                </a:solidFill>
              </a:rPr>
              <a:t>-</a:t>
            </a:r>
            <a:endParaRPr lang="en-US" altLang="zh-CN" sz="9600" b="1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57730" y="980440"/>
            <a:ext cx="7876540" cy="92202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54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机器学习理论的初步建立</a:t>
            </a:r>
            <a:endParaRPr lang="zh-CN" altLang="en-US" sz="54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18535" y="509905"/>
            <a:ext cx="5533390" cy="3943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en-US" altLang="zh-CN" sz="20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tx2">
                        <a:lumMod val="25000"/>
                        <a:lumOff val="75000"/>
                        <a:alpha val="54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华文新魏" panose="02010800040101010101" charset="-122"/>
                <a:ea typeface="华文新魏" panose="02010800040101010101" charset="-122"/>
              </a:rPr>
              <a:t>Initial establishment of machine learning theory</a:t>
            </a:r>
            <a:endParaRPr lang="en-US" altLang="zh-CN" sz="20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25000"/>
                      <a:lumOff val="75000"/>
                      <a:alpha val="54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847850" y="4523105"/>
            <a:ext cx="8782685" cy="142494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线性回归和逻辑回归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：这些经典的回归模型为机器学习中的监督学习奠定了基础，成为今后许多算法的基础。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算法的出现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：在此阶段，机器学习算法逐渐发展起来，如最小二乘法、支持向量机等。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专家系统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世纪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70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年代，专家系统开始流行，它们模拟人类专家解决特定问题的方式。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微信图片_20241208000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>
            <a:glow>
              <a:schemeClr val="accent1">
                <a:alpha val="100000"/>
              </a:scheme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112712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7395" y="-1467802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0726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816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126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1535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9140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5230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 useBgFill="1">
        <p:nvSpPr>
          <p:cNvPr id="12" name="矩形 11"/>
          <p:cNvSpPr/>
          <p:nvPr/>
        </p:nvSpPr>
        <p:spPr>
          <a:xfrm>
            <a:off x="-24130" y="-99695"/>
            <a:ext cx="12385040" cy="23768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4" name="矩形 13"/>
          <p:cNvSpPr/>
          <p:nvPr/>
        </p:nvSpPr>
        <p:spPr>
          <a:xfrm>
            <a:off x="-96520" y="4481195"/>
            <a:ext cx="12458065" cy="2593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92445" y="2348865"/>
            <a:ext cx="791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 b="1">
                <a:solidFill>
                  <a:schemeClr val="bg1"/>
                </a:solidFill>
              </a:rPr>
              <a:t>-</a:t>
            </a:r>
            <a:endParaRPr lang="en-US" altLang="zh-CN" sz="9600" b="1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9530" y="980440"/>
            <a:ext cx="9931400" cy="92202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54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神经网络与深度学习的初步尝试</a:t>
            </a:r>
            <a:endParaRPr lang="zh-CN" altLang="en-US" sz="54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783840" y="509905"/>
            <a:ext cx="6569710" cy="3943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en-US" altLang="zh-CN" sz="20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tx2">
                        <a:lumMod val="25000"/>
                        <a:lumOff val="75000"/>
                        <a:alpha val="54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华文新魏" panose="02010800040101010101" charset="-122"/>
                <a:ea typeface="华文新魏" panose="02010800040101010101" charset="-122"/>
              </a:rPr>
              <a:t>Initial Attempts at Neural Networks and Deep Learning</a:t>
            </a:r>
            <a:endParaRPr lang="en-US" altLang="zh-CN" sz="20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25000"/>
                      <a:lumOff val="75000"/>
                      <a:alpha val="54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67940" y="4363720"/>
            <a:ext cx="7362825" cy="151193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反向传播算法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1986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Geoffrey Hinton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等提出了反向传播算法，它可以训练多层神经网络，极大推动了神经网络的发展。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支持向量机（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SVM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1990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年代初，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Vladimir Vapnik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提出了支持向量机（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SVM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）理论，这一算法通过最大化边界来解决分类问题，并在多个领域取得了优异的表现。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微信图片_20241208000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>
            <a:glow>
              <a:schemeClr val="accent1">
                <a:alpha val="100000"/>
              </a:scheme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1127125" y="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7395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07260" y="-16805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816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1265" y="-20605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1535" y="2413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87590" y="217995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5230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 useBgFill="1">
        <p:nvSpPr>
          <p:cNvPr id="12" name="矩形 11"/>
          <p:cNvSpPr/>
          <p:nvPr/>
        </p:nvSpPr>
        <p:spPr>
          <a:xfrm>
            <a:off x="-24130" y="-99695"/>
            <a:ext cx="12385040" cy="23768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4" name="矩形 13"/>
          <p:cNvSpPr/>
          <p:nvPr/>
        </p:nvSpPr>
        <p:spPr>
          <a:xfrm>
            <a:off x="-96520" y="4121150"/>
            <a:ext cx="12411710" cy="2912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92445" y="2348865"/>
            <a:ext cx="791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 b="1">
                <a:solidFill>
                  <a:schemeClr val="bg1"/>
                </a:solidFill>
              </a:rPr>
              <a:t>-</a:t>
            </a:r>
            <a:endParaRPr lang="en-US" altLang="zh-CN" sz="9600" b="1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35505" y="904240"/>
            <a:ext cx="8174990" cy="92202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54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数据驱动的革命与大数据</a:t>
            </a:r>
            <a:endParaRPr lang="zh-CN" altLang="en-US" sz="54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87750" y="509905"/>
            <a:ext cx="5270500" cy="3943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en-US" altLang="zh-CN" sz="20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tx2">
                        <a:lumMod val="25000"/>
                        <a:lumOff val="75000"/>
                        <a:alpha val="54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华文新魏" panose="02010800040101010101" charset="-122"/>
                <a:ea typeface="华文新魏" panose="02010800040101010101" charset="-122"/>
              </a:rPr>
              <a:t>The Data-Driven Revolution and Big Data</a:t>
            </a:r>
            <a:endParaRPr lang="en-US" altLang="zh-CN" sz="20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25000"/>
                      <a:lumOff val="75000"/>
                      <a:alpha val="54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53895" y="4439920"/>
            <a:ext cx="8284210" cy="182245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贝叶斯网络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1990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年代，贝叶斯网络开始在机器学习中得到广泛应用，特别是在模式识别和推理问题上。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集成学习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：随机森林、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AdaBoost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等集成方法的提出，增强了机器学习模型的准确性和鲁棒性。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lang="en-US" altLang="zh-CN" sz="1600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  <a:sym typeface="+mn-ea"/>
              </a:rPr>
              <a:t>     · 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深度学习的复兴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：随着计算能力的提高和数据量的增大，深度学习开始复兴。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2006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</a:t>
            </a:r>
            <a:endParaRPr lang="en-US" altLang="zh-CN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Hinton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等提出了深度置信网络（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DBN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），为后来的深度学习热潮铺平了道路。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微信图片_20241208000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>
            <a:glow>
              <a:schemeClr val="accent1">
                <a:alpha val="100000"/>
              </a:scheme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1127125" y="-211328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87395" y="4381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07260" y="213804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816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1265" y="-208089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1535" y="-207327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91400" y="2146300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52305" y="2132965"/>
            <a:ext cx="1160780" cy="213283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3800" b="1">
                <a:solidFill>
                  <a:schemeClr val="bg1"/>
                </a:solidFill>
              </a:rPr>
              <a:t>0123456789</a:t>
            </a:r>
            <a:endParaRPr lang="en-US" altLang="zh-CN" sz="13800" b="1">
              <a:solidFill>
                <a:schemeClr val="bg1"/>
              </a:solidFill>
            </a:endParaRPr>
          </a:p>
        </p:txBody>
      </p:sp>
      <p:sp useBgFill="1">
        <p:nvSpPr>
          <p:cNvPr id="12" name="矩形 11"/>
          <p:cNvSpPr/>
          <p:nvPr/>
        </p:nvSpPr>
        <p:spPr>
          <a:xfrm>
            <a:off x="0" y="-99695"/>
            <a:ext cx="12385040" cy="23768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4" name="矩形 13"/>
          <p:cNvSpPr/>
          <p:nvPr/>
        </p:nvSpPr>
        <p:spPr>
          <a:xfrm>
            <a:off x="-24130" y="4280535"/>
            <a:ext cx="12344400" cy="307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92445" y="2348865"/>
            <a:ext cx="791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 b="1">
                <a:solidFill>
                  <a:schemeClr val="bg1"/>
                </a:solidFill>
              </a:rPr>
              <a:t>-</a:t>
            </a:r>
            <a:endParaRPr lang="en-US" altLang="zh-CN" sz="9600" b="1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75685" y="908685"/>
            <a:ext cx="5194935" cy="92202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5400" b="1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</a:rPr>
              <a:t>深度学习的兴起</a:t>
            </a:r>
            <a:endParaRPr lang="zh-CN" altLang="en-US" sz="5400" b="1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94505" y="514350"/>
            <a:ext cx="3796665" cy="3943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en-US" altLang="zh-CN" sz="20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tx2">
                        <a:lumMod val="25000"/>
                        <a:lumOff val="75000"/>
                        <a:alpha val="54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华文新魏" panose="02010800040101010101" charset="-122"/>
                <a:ea typeface="华文新魏" panose="02010800040101010101" charset="-122"/>
              </a:rPr>
              <a:t>The Rise of Deep Learning</a:t>
            </a:r>
            <a:endParaRPr lang="en-US" altLang="zh-CN" sz="20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tx2">
                      <a:lumMod val="25000"/>
                      <a:lumOff val="75000"/>
                      <a:alpha val="54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93875" y="4364990"/>
            <a:ext cx="8758555" cy="216344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深度卷积神经网络（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CNN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2012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AlexNet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模型在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ImageNet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竞赛中取得了压倒性胜利，标志着深度卷积神经网络（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CNN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）的崛起，深度学习开始在计算机视觉领域取得显著成果。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自然语言处理的进展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2018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Google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提出了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Transformer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架构，并引发了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NLP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领域的革命。随后，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GPT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T5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等基于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Transformer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的模型引领了语言模型的潮流，推动了机器翻译、情感分析、文本生成等任务的突破。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228600" algn="just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>
                <a:solidFill>
                  <a:schemeClr val="bg1"/>
                </a:solidFill>
                <a:latin typeface="Symbol" panose="05050102010706020507"/>
                <a:ea typeface="宋体" panose="02010600030101010101" pitchFamily="2" charset="-122"/>
              </a:rPr>
              <a:t>· 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生成对抗网络（</a:t>
            </a:r>
            <a:r>
              <a:rPr lang="en-US" altLang="zh-CN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GAN</a:t>
            </a:r>
            <a:r>
              <a:rPr lang="zh-CN" altLang="en-US" sz="16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2014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Ian Goodfellow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提出了生成对抗网络（</a:t>
            </a:r>
            <a:r>
              <a:rPr lang="en-US" altLang="zh-CN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GAN</a:t>
            </a:r>
            <a:r>
              <a:rPr lang="zh-CN" altLang="en-US" sz="1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），该方法在图像生成、艺术创作等领域取得了令人瞩目的成绩。</a:t>
            </a:r>
            <a:endParaRPr lang="zh-CN" altLang="en-US" sz="1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1776062" y="3282437"/>
            <a:ext cx="1019381" cy="1019381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>
                  <a:alpha val="13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40418" y="877469"/>
            <a:ext cx="565987" cy="565987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2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2895" y="3422984"/>
            <a:ext cx="400410" cy="400410"/>
          </a:xfrm>
          <a:prstGeom prst="ellipse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78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1124562"/>
            <a:ext cx="10858500" cy="5111137"/>
          </a:xfrm>
          <a:prstGeom prst="roundRect">
            <a:avLst>
              <a:gd name="adj" fmla="val 4743"/>
            </a:avLst>
          </a:prstGeom>
          <a:gradFill>
            <a:gsLst>
              <a:gs pos="70000">
                <a:schemeClr val="bg1">
                  <a:alpha val="8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3175" cap="sq">
            <a:gradFill>
              <a:gsLst>
                <a:gs pos="0">
                  <a:schemeClr val="bg1">
                    <a:alpha val="7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289748" y="1102138"/>
            <a:ext cx="3612505" cy="157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595959">
                    <a:alpha val="100000"/>
                  </a:srgb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03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743288" y="2920822"/>
            <a:ext cx="400859" cy="400859"/>
          </a:xfrm>
          <a:prstGeom prst="ellipse">
            <a:avLst/>
          </a:prstGeom>
          <a:gradFill>
            <a:gsLst>
              <a:gs pos="0">
                <a:srgbClr val="FFFFFF">
                  <a:alpha val="84000"/>
                </a:srgb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10384080" y="5365885"/>
            <a:ext cx="1033838" cy="1792986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>
            <a:off x="2296617" y="677036"/>
            <a:ext cx="6615371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miter/>
          </a:ln>
        </p:spPr>
      </p:cxnSp>
      <p:grpSp>
        <p:nvGrpSpPr>
          <p:cNvPr id="12" name="组合 11"/>
          <p:cNvGrpSpPr/>
          <p:nvPr/>
        </p:nvGrpSpPr>
        <p:grpSpPr>
          <a:xfrm>
            <a:off x="6886517" y="1849421"/>
            <a:ext cx="1015736" cy="654976"/>
            <a:chOff x="6886517" y="1849421"/>
            <a:chExt cx="1015736" cy="654976"/>
          </a:xfrm>
        </p:grpSpPr>
        <p:sp>
          <p:nvSpPr>
            <p:cNvPr id="13" name="标题 1"/>
            <p:cNvSpPr txBox="1"/>
            <p:nvPr/>
          </p:nvSpPr>
          <p:spPr>
            <a:xfrm flipH="1">
              <a:off x="7304440" y="1906584"/>
              <a:ext cx="597813" cy="597813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2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flipH="1">
              <a:off x="6886517" y="1849421"/>
              <a:ext cx="429835" cy="429835"/>
            </a:xfrm>
            <a:custGeom>
              <a:avLst/>
              <a:gdLst>
                <a:gd name="T0" fmla="*/ 208 w 208"/>
                <a:gd name="T1" fmla="*/ 105 h 208"/>
                <a:gd name="T2" fmla="*/ 103 w 208"/>
                <a:gd name="T3" fmla="*/ 208 h 208"/>
                <a:gd name="T4" fmla="*/ 0 w 208"/>
                <a:gd name="T5" fmla="*/ 104 h 208"/>
                <a:gd name="T6" fmla="*/ 104 w 208"/>
                <a:gd name="T7" fmla="*/ 0 h 208"/>
                <a:gd name="T8" fmla="*/ 208 w 208"/>
                <a:gd name="T9" fmla="*/ 105 h 208"/>
              </a:gdLst>
              <a:ahLst/>
              <a:cxnLst/>
              <a:rect l="0" t="0" r="r" b="b"/>
              <a:pathLst>
                <a:path w="208" h="208">
                  <a:moveTo>
                    <a:pt x="208" y="105"/>
                  </a:moveTo>
                  <a:cubicBezTo>
                    <a:pt x="123" y="104"/>
                    <a:pt x="104" y="123"/>
                    <a:pt x="103" y="208"/>
                  </a:cubicBezTo>
                  <a:cubicBezTo>
                    <a:pt x="104" y="123"/>
                    <a:pt x="85" y="104"/>
                    <a:pt x="0" y="104"/>
                  </a:cubicBezTo>
                  <a:cubicBezTo>
                    <a:pt x="85" y="104"/>
                    <a:pt x="104" y="85"/>
                    <a:pt x="104" y="0"/>
                  </a:cubicBezTo>
                  <a:cubicBezTo>
                    <a:pt x="104" y="85"/>
                    <a:pt x="123" y="104"/>
                    <a:pt x="208" y="105"/>
                  </a:cubicBezTo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</p:grpSp>
      <p:sp>
        <p:nvSpPr>
          <p:cNvPr id="15" name="标题 1"/>
          <p:cNvSpPr txBox="1"/>
          <p:nvPr/>
        </p:nvSpPr>
        <p:spPr>
          <a:xfrm>
            <a:off x="2503542" y="2687091"/>
            <a:ext cx="7184916" cy="16587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zh-CN" altLang="en-US" sz="5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机器学习的应用</a:t>
            </a:r>
            <a:r>
              <a:rPr kumimoji="1" lang="zh-CN" altLang="en-US" sz="5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场景</a:t>
            </a:r>
            <a:endParaRPr kumimoji="1" lang="zh-CN" altLang="en-US" sz="5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Dream-XinCuSongGB" panose="02010604000000000000" charset="-122"/>
              <a:ea typeface="Dream-XinCuSongGB" panose="02010604000000000000" charset="-122"/>
              <a:cs typeface="Dream-XinCuSongGB" panose="02010604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 flipH="1">
            <a:off x="0" y="0"/>
            <a:ext cx="1008000" cy="1008000"/>
          </a:xfrm>
          <a:custGeom>
            <a:avLst/>
            <a:gdLst>
              <a:gd name="connsiteX0" fmla="*/ 1008000 w 1008000"/>
              <a:gd name="connsiteY0" fmla="*/ 0 h 1008000"/>
              <a:gd name="connsiteX1" fmla="*/ 870392 w 1008000"/>
              <a:gd name="connsiteY1" fmla="*/ 0 h 1008000"/>
              <a:gd name="connsiteX2" fmla="*/ 713360 w 1008000"/>
              <a:gd name="connsiteY2" fmla="*/ 0 h 1008000"/>
              <a:gd name="connsiteX3" fmla="*/ 48404 w 1008000"/>
              <a:gd name="connsiteY3" fmla="*/ 0 h 1008000"/>
              <a:gd name="connsiteX4" fmla="*/ 14261 w 1008000"/>
              <a:gd name="connsiteY4" fmla="*/ 82628 h 1008000"/>
              <a:gd name="connsiteX5" fmla="*/ 765717 w 1008000"/>
              <a:gd name="connsiteY5" fmla="*/ 836017 h 1008000"/>
              <a:gd name="connsiteX6" fmla="*/ 772508 w 1008000"/>
              <a:gd name="connsiteY6" fmla="*/ 841197 h 1008000"/>
              <a:gd name="connsiteX7" fmla="*/ 776419 w 1008000"/>
              <a:gd name="connsiteY7" fmla="*/ 844157 h 1008000"/>
              <a:gd name="connsiteX8" fmla="*/ 925586 w 1008000"/>
              <a:gd name="connsiteY8" fmla="*/ 993725 h 1008000"/>
              <a:gd name="connsiteX9" fmla="*/ 1008000 w 1008000"/>
              <a:gd name="connsiteY9" fmla="*/ 959508 h 1008000"/>
              <a:gd name="connsiteX10" fmla="*/ 1008000 w 1008000"/>
              <a:gd name="connsiteY10" fmla="*/ 294640 h 1008000"/>
              <a:gd name="connsiteX11" fmla="*/ 1008000 w 1008000"/>
              <a:gd name="connsiteY11" fmla="*/ 137994 h 1008000"/>
            </a:gdLst>
            <a:ahLst/>
            <a:cxnLst/>
            <a:rect l="l" t="t" r="r" b="b"/>
            <a:pathLst>
              <a:path w="1008000" h="1008000">
                <a:moveTo>
                  <a:pt x="1008000" y="0"/>
                </a:moveTo>
                <a:lnTo>
                  <a:pt x="870392" y="0"/>
                </a:lnTo>
                <a:lnTo>
                  <a:pt x="713360" y="0"/>
                </a:lnTo>
                <a:lnTo>
                  <a:pt x="48404" y="0"/>
                </a:lnTo>
                <a:cubicBezTo>
                  <a:pt x="5389" y="0"/>
                  <a:pt x="-16207" y="52140"/>
                  <a:pt x="14261" y="82628"/>
                </a:cubicBezTo>
                <a:lnTo>
                  <a:pt x="765717" y="836017"/>
                </a:lnTo>
                <a:cubicBezTo>
                  <a:pt x="767729" y="838052"/>
                  <a:pt x="770016" y="839795"/>
                  <a:pt x="772508" y="841197"/>
                </a:cubicBezTo>
                <a:cubicBezTo>
                  <a:pt x="773944" y="841993"/>
                  <a:pt x="775262" y="842990"/>
                  <a:pt x="776419" y="844157"/>
                </a:cubicBezTo>
                <a:lnTo>
                  <a:pt x="925586" y="993725"/>
                </a:lnTo>
                <a:cubicBezTo>
                  <a:pt x="955995" y="1024227"/>
                  <a:pt x="1008000" y="1002605"/>
                  <a:pt x="1008000" y="959508"/>
                </a:cubicBezTo>
                <a:lnTo>
                  <a:pt x="1008000" y="294640"/>
                </a:lnTo>
                <a:lnTo>
                  <a:pt x="1008000" y="137994"/>
                </a:ln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blurRad="317500" dist="190500" dir="810000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55292" y="420464"/>
            <a:ext cx="10567087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zh-CN" altLang="en-US" sz="32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机器学习应用</a:t>
            </a:r>
            <a:endParaRPr kumimoji="1" lang="zh-CN" altLang="en-US" sz="3200" b="1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317240" y="836930"/>
            <a:ext cx="5566410" cy="1635125"/>
            <a:chOff x="4611" y="1526"/>
            <a:chExt cx="8766" cy="2575"/>
          </a:xfrm>
        </p:grpSpPr>
        <p:sp>
          <p:nvSpPr>
            <p:cNvPr id="3" name="标题 1"/>
            <p:cNvSpPr txBox="1"/>
            <p:nvPr>
              <p:custDataLst>
                <p:tags r:id="rId2"/>
              </p:custDataLst>
            </p:nvPr>
          </p:nvSpPr>
          <p:spPr>
            <a:xfrm>
              <a:off x="6187" y="1765"/>
              <a:ext cx="7190" cy="2010"/>
            </a:xfrm>
            <a:prstGeom prst="roundRect">
              <a:avLst>
                <a:gd name="adj" fmla="val 7598"/>
              </a:avLst>
            </a:prstGeom>
            <a:solidFill>
              <a:schemeClr val="bg1"/>
            </a:solidFill>
            <a:ln w="6350" cap="flat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" name="标题 1"/>
            <p:cNvSpPr txBox="1"/>
            <p:nvPr>
              <p:custDataLst>
                <p:tags r:id="rId3"/>
              </p:custDataLst>
            </p:nvPr>
          </p:nvSpPr>
          <p:spPr>
            <a:xfrm>
              <a:off x="6060" y="1646"/>
              <a:ext cx="7190" cy="2010"/>
            </a:xfrm>
            <a:prstGeom prst="roundRect">
              <a:avLst>
                <a:gd name="adj" fmla="val 7598"/>
              </a:avLst>
            </a:prstGeom>
            <a:gradFill>
              <a:gsLst>
                <a:gs pos="1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5" name="标题 1"/>
            <p:cNvSpPr txBox="1"/>
            <p:nvPr>
              <p:custDataLst>
                <p:tags r:id="rId4"/>
              </p:custDataLst>
            </p:nvPr>
          </p:nvSpPr>
          <p:spPr>
            <a:xfrm>
              <a:off x="4721" y="1759"/>
              <a:ext cx="2486" cy="1587"/>
            </a:xfrm>
            <a:custGeom>
              <a:avLst/>
              <a:gdLst>
                <a:gd name="connsiteX0" fmla="*/ 768350 w 895350"/>
                <a:gd name="connsiteY0" fmla="*/ 0 h 901700"/>
                <a:gd name="connsiteX1" fmla="*/ 895350 w 895350"/>
                <a:gd name="connsiteY1" fmla="*/ 127000 h 901700"/>
                <a:gd name="connsiteX2" fmla="*/ 895350 w 895350"/>
                <a:gd name="connsiteY2" fmla="*/ 774700 h 901700"/>
                <a:gd name="connsiteX3" fmla="*/ 768350 w 895350"/>
                <a:gd name="connsiteY3" fmla="*/ 901700 h 901700"/>
                <a:gd name="connsiteX4" fmla="*/ 127000 w 895350"/>
                <a:gd name="connsiteY4" fmla="*/ 901700 h 901700"/>
                <a:gd name="connsiteX5" fmla="*/ 0 w 895350"/>
                <a:gd name="connsiteY5" fmla="*/ 774700 h 901700"/>
                <a:gd name="connsiteX6" fmla="*/ 0 w 895350"/>
                <a:gd name="connsiteY6" fmla="*/ 127000 h 901700"/>
                <a:gd name="connsiteX7" fmla="*/ 127000 w 895350"/>
                <a:gd name="connsiteY7" fmla="*/ 0 h 901700"/>
              </a:gdLst>
              <a:ahLst/>
              <a:cxnLst/>
              <a:rect l="l" t="t" r="r" b="b"/>
              <a:pathLst>
                <a:path w="895350" h="901700">
                  <a:moveTo>
                    <a:pt x="768350" y="0"/>
                  </a:moveTo>
                  <a:cubicBezTo>
                    <a:pt x="838490" y="0"/>
                    <a:pt x="895350" y="56860"/>
                    <a:pt x="895350" y="127000"/>
                  </a:cubicBezTo>
                  <a:lnTo>
                    <a:pt x="895350" y="774700"/>
                  </a:lnTo>
                  <a:cubicBezTo>
                    <a:pt x="895350" y="844840"/>
                    <a:pt x="838490" y="901700"/>
                    <a:pt x="768350" y="901700"/>
                  </a:cubicBezTo>
                  <a:lnTo>
                    <a:pt x="127000" y="901700"/>
                  </a:lnTo>
                  <a:cubicBezTo>
                    <a:pt x="56860" y="901700"/>
                    <a:pt x="0" y="844840"/>
                    <a:pt x="0" y="7747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6" name="标题 1"/>
            <p:cNvSpPr txBox="1"/>
            <p:nvPr>
              <p:custDataLst>
                <p:tags r:id="rId5"/>
              </p:custDataLst>
            </p:nvPr>
          </p:nvSpPr>
          <p:spPr>
            <a:xfrm>
              <a:off x="5160" y="3201"/>
              <a:ext cx="900" cy="900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ahLst/>
              <a:cxnLst/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>
              <p:custDataLst>
                <p:tags r:id="rId6"/>
              </p:custDataLst>
            </p:nvPr>
          </p:nvSpPr>
          <p:spPr>
            <a:xfrm>
              <a:off x="7173" y="1526"/>
              <a:ext cx="5960" cy="6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机制：监督学习和无监督学习</a:t>
              </a:r>
              <a:endParaRPr kumimoji="1" lang="zh-CN" altLang="en-US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endParaRPr>
            </a:p>
          </p:txBody>
        </p:sp>
        <p:sp>
          <p:nvSpPr>
            <p:cNvPr id="8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7180" y="2067"/>
              <a:ext cx="5953" cy="113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50000"/>
                </a:lnSpc>
              </a:pPr>
              <a:r>
                <a:rPr kumimoji="1" lang="zh-CN" altLang="en-US" sz="14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  <a:sym typeface="+mn-ea"/>
                </a:rPr>
                <a:t>场景：</a:t>
              </a:r>
              <a:r>
                <a:rPr kumimoji="1" lang="zh-CN" altLang="en-US" sz="14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聊天机器人、机器翻译（如Google Translate）、语法检查（如Grammarly）</a:t>
              </a:r>
              <a:endParaRPr kumimoji="1" lang="zh-CN" altLang="en-US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8"/>
              </p:custDataLst>
            </p:nvPr>
          </p:nvSpPr>
          <p:spPr>
            <a:xfrm>
              <a:off x="4611" y="2067"/>
              <a:ext cx="1781" cy="1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kumimoji="1" lang="zh-CN" altLang="en-US" sz="20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  <a:sym typeface="+mn-ea"/>
                </a:rPr>
                <a:t>自然语言处理</a:t>
              </a:r>
              <a:endParaRPr kumimoji="1" lang="zh-CN" altLang="en-US" sz="2000" b="1">
                <a:ln w="12700">
                  <a:noFill/>
                </a:ln>
                <a:solidFill>
                  <a:schemeClr val="accent1">
                    <a:alpha val="10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  <a:sym typeface="+mn-ea"/>
              </a:endParaRPr>
            </a:p>
            <a:p>
              <a:pPr algn="ctr"/>
              <a:endParaRPr lang="en-US" altLang="zh-CN"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13360" y="2555875"/>
            <a:ext cx="5441315" cy="1751965"/>
            <a:chOff x="302" y="5081"/>
            <a:chExt cx="8569" cy="2759"/>
          </a:xfrm>
        </p:grpSpPr>
        <p:sp>
          <p:nvSpPr>
            <p:cNvPr id="15" name="标题 1"/>
            <p:cNvSpPr txBox="1"/>
            <p:nvPr>
              <p:custDataLst>
                <p:tags r:id="rId9"/>
              </p:custDataLst>
            </p:nvPr>
          </p:nvSpPr>
          <p:spPr>
            <a:xfrm>
              <a:off x="1681" y="5200"/>
              <a:ext cx="7190" cy="2010"/>
            </a:xfrm>
            <a:prstGeom prst="roundRect">
              <a:avLst>
                <a:gd name="adj" fmla="val 7598"/>
              </a:avLst>
            </a:prstGeom>
            <a:solidFill>
              <a:schemeClr val="bg1"/>
            </a:solidFill>
            <a:ln w="6350" cap="flat">
              <a:solidFill>
                <a:schemeClr val="accent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>
              <p:custDataLst>
                <p:tags r:id="rId10"/>
              </p:custDataLst>
            </p:nvPr>
          </p:nvSpPr>
          <p:spPr>
            <a:xfrm>
              <a:off x="1553" y="5081"/>
              <a:ext cx="7190" cy="2010"/>
            </a:xfrm>
            <a:prstGeom prst="roundRect">
              <a:avLst>
                <a:gd name="adj" fmla="val 7598"/>
              </a:avLst>
            </a:prstGeom>
            <a:solidFill>
              <a:schemeClr val="accent1">
                <a:lumMod val="60000"/>
                <a:lumOff val="40000"/>
              </a:schemeClr>
            </a:soli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>
              <p:custDataLst>
                <p:tags r:id="rId11"/>
              </p:custDataLst>
            </p:nvPr>
          </p:nvSpPr>
          <p:spPr>
            <a:xfrm>
              <a:off x="302" y="5200"/>
              <a:ext cx="2477" cy="1718"/>
            </a:xfrm>
            <a:custGeom>
              <a:avLst/>
              <a:gdLst>
                <a:gd name="connsiteX0" fmla="*/ 768350 w 895350"/>
                <a:gd name="connsiteY0" fmla="*/ 0 h 901700"/>
                <a:gd name="connsiteX1" fmla="*/ 895350 w 895350"/>
                <a:gd name="connsiteY1" fmla="*/ 127000 h 901700"/>
                <a:gd name="connsiteX2" fmla="*/ 895350 w 895350"/>
                <a:gd name="connsiteY2" fmla="*/ 774700 h 901700"/>
                <a:gd name="connsiteX3" fmla="*/ 768350 w 895350"/>
                <a:gd name="connsiteY3" fmla="*/ 901700 h 901700"/>
                <a:gd name="connsiteX4" fmla="*/ 127000 w 895350"/>
                <a:gd name="connsiteY4" fmla="*/ 901700 h 901700"/>
                <a:gd name="connsiteX5" fmla="*/ 0 w 895350"/>
                <a:gd name="connsiteY5" fmla="*/ 774700 h 901700"/>
                <a:gd name="connsiteX6" fmla="*/ 0 w 895350"/>
                <a:gd name="connsiteY6" fmla="*/ 127000 h 901700"/>
                <a:gd name="connsiteX7" fmla="*/ 127000 w 895350"/>
                <a:gd name="connsiteY7" fmla="*/ 0 h 901700"/>
              </a:gdLst>
              <a:ahLst/>
              <a:cxnLst/>
              <a:rect l="l" t="t" r="r" b="b"/>
              <a:pathLst>
                <a:path w="895350" h="901700">
                  <a:moveTo>
                    <a:pt x="768350" y="0"/>
                  </a:moveTo>
                  <a:cubicBezTo>
                    <a:pt x="838490" y="0"/>
                    <a:pt x="895350" y="56860"/>
                    <a:pt x="895350" y="127000"/>
                  </a:cubicBezTo>
                  <a:lnTo>
                    <a:pt x="895350" y="774700"/>
                  </a:lnTo>
                  <a:cubicBezTo>
                    <a:pt x="895350" y="844840"/>
                    <a:pt x="838490" y="901700"/>
                    <a:pt x="768350" y="901700"/>
                  </a:cubicBezTo>
                  <a:lnTo>
                    <a:pt x="127000" y="901700"/>
                  </a:lnTo>
                  <a:cubicBezTo>
                    <a:pt x="56860" y="901700"/>
                    <a:pt x="0" y="844840"/>
                    <a:pt x="0" y="7747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accent2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>
              <p:custDataLst>
                <p:tags r:id="rId12"/>
              </p:custDataLst>
            </p:nvPr>
          </p:nvSpPr>
          <p:spPr>
            <a:xfrm>
              <a:off x="2664" y="5223"/>
              <a:ext cx="5960" cy="6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机制：协同过滤等</a:t>
              </a:r>
              <a:endParaRPr kumimoji="1" lang="zh-CN" altLang="en-US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endParaRPr>
            </a:p>
          </p:txBody>
        </p:sp>
        <p:sp>
          <p:nvSpPr>
            <p:cNvPr id="19" name="标题 1"/>
            <p:cNvSpPr txBox="1"/>
            <p:nvPr>
              <p:custDataLst>
                <p:tags r:id="rId13"/>
              </p:custDataLst>
            </p:nvPr>
          </p:nvSpPr>
          <p:spPr>
            <a:xfrm>
              <a:off x="2683" y="5800"/>
              <a:ext cx="5953" cy="1134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50000"/>
                </a:lnSpc>
              </a:pP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场景：</a:t>
              </a:r>
              <a:r>
                <a:rPr kumimoji="1" lang="zh-CN" altLang="en-US" sz="1400">
                  <a:ln w="12700">
                    <a:noFill/>
                  </a:ln>
                  <a:solidFill>
                    <a:schemeClr val="bg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在线购物平台（如</a:t>
              </a:r>
              <a:r>
                <a:rPr kumimoji="1" lang="en-US" altLang="zh-CN" sz="1400">
                  <a:ln w="12700">
                    <a:noFill/>
                  </a:ln>
                  <a:solidFill>
                    <a:schemeClr val="bg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Amazon</a:t>
              </a:r>
              <a:r>
                <a:rPr kumimoji="1" lang="zh-CN" altLang="en-US" sz="1400">
                  <a:ln w="12700">
                    <a:noFill/>
                  </a:ln>
                  <a:solidFill>
                    <a:schemeClr val="bg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的商品推荐）、视频平台（如</a:t>
              </a:r>
              <a:r>
                <a:rPr kumimoji="1" lang="en-US" altLang="zh-CN" sz="1400">
                  <a:ln w="12700">
                    <a:noFill/>
                  </a:ln>
                  <a:solidFill>
                    <a:schemeClr val="bg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Netflix</a:t>
              </a:r>
              <a:r>
                <a:rPr kumimoji="1" lang="zh-CN" altLang="en-US" sz="1400">
                  <a:ln w="12700">
                    <a:noFill/>
                  </a:ln>
                  <a:solidFill>
                    <a:schemeClr val="bg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的影视推荐）</a:t>
              </a:r>
              <a:endParaRPr kumimoji="1" lang="zh-CN" altLang="en-US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endParaRPr>
            </a:p>
          </p:txBody>
        </p:sp>
        <p:sp>
          <p:nvSpPr>
            <p:cNvPr id="20" name="标题 1"/>
            <p:cNvSpPr txBox="1"/>
            <p:nvPr>
              <p:custDataLst>
                <p:tags r:id="rId14"/>
              </p:custDataLst>
            </p:nvPr>
          </p:nvSpPr>
          <p:spPr>
            <a:xfrm>
              <a:off x="642" y="7044"/>
              <a:ext cx="850" cy="796"/>
            </a:xfrm>
            <a:custGeom>
              <a:avLst/>
              <a:gdLst>
                <a:gd name="connsiteX0" fmla="*/ 31770 w 794163"/>
                <a:gd name="connsiteY0" fmla="*/ 656460 h 720001"/>
                <a:gd name="connsiteX1" fmla="*/ 762297 w 794163"/>
                <a:gd name="connsiteY1" fmla="*/ 656460 h 720001"/>
                <a:gd name="connsiteX2" fmla="*/ 794163 w 794163"/>
                <a:gd name="connsiteY2" fmla="*/ 688230 h 720001"/>
                <a:gd name="connsiteX3" fmla="*/ 762392 w 794163"/>
                <a:gd name="connsiteY3" fmla="*/ 720001 h 720001"/>
                <a:gd name="connsiteX4" fmla="*/ 31770 w 794163"/>
                <a:gd name="connsiteY4" fmla="*/ 720001 h 720001"/>
                <a:gd name="connsiteX5" fmla="*/ 0 w 794163"/>
                <a:gd name="connsiteY5" fmla="*/ 688230 h 720001"/>
                <a:gd name="connsiteX6" fmla="*/ 31770 w 794163"/>
                <a:gd name="connsiteY6" fmla="*/ 656460 h 720001"/>
                <a:gd name="connsiteX7" fmla="*/ 613493 w 794163"/>
                <a:gd name="connsiteY7" fmla="*/ 317608 h 720001"/>
                <a:gd name="connsiteX8" fmla="*/ 710048 w 794163"/>
                <a:gd name="connsiteY8" fmla="*/ 317608 h 720001"/>
                <a:gd name="connsiteX9" fmla="*/ 767655 w 794163"/>
                <a:gd name="connsiteY9" fmla="*/ 375216 h 720001"/>
                <a:gd name="connsiteX10" fmla="*/ 767655 w 794163"/>
                <a:gd name="connsiteY10" fmla="*/ 524689 h 720001"/>
                <a:gd name="connsiteX11" fmla="*/ 710048 w 794163"/>
                <a:gd name="connsiteY11" fmla="*/ 582297 h 720001"/>
                <a:gd name="connsiteX12" fmla="*/ 613493 w 794163"/>
                <a:gd name="connsiteY12" fmla="*/ 582297 h 720001"/>
                <a:gd name="connsiteX13" fmla="*/ 555885 w 794163"/>
                <a:gd name="connsiteY13" fmla="*/ 524689 h 720001"/>
                <a:gd name="connsiteX14" fmla="*/ 555885 w 794163"/>
                <a:gd name="connsiteY14" fmla="*/ 375216 h 720001"/>
                <a:gd name="connsiteX15" fmla="*/ 613493 w 794163"/>
                <a:gd name="connsiteY15" fmla="*/ 317608 h 720001"/>
                <a:gd name="connsiteX16" fmla="*/ 84019 w 794163"/>
                <a:gd name="connsiteY16" fmla="*/ 211770 h 720001"/>
                <a:gd name="connsiteX17" fmla="*/ 180574 w 794163"/>
                <a:gd name="connsiteY17" fmla="*/ 211770 h 720001"/>
                <a:gd name="connsiteX18" fmla="*/ 238182 w 794163"/>
                <a:gd name="connsiteY18" fmla="*/ 269282 h 720001"/>
                <a:gd name="connsiteX19" fmla="*/ 238182 w 794163"/>
                <a:gd name="connsiteY19" fmla="*/ 524785 h 720001"/>
                <a:gd name="connsiteX20" fmla="*/ 180574 w 794163"/>
                <a:gd name="connsiteY20" fmla="*/ 582393 h 720001"/>
                <a:gd name="connsiteX21" fmla="*/ 84019 w 794163"/>
                <a:gd name="connsiteY21" fmla="*/ 582393 h 720001"/>
                <a:gd name="connsiteX22" fmla="*/ 26411 w 794163"/>
                <a:gd name="connsiteY22" fmla="*/ 524785 h 720001"/>
                <a:gd name="connsiteX23" fmla="*/ 26411 w 794163"/>
                <a:gd name="connsiteY23" fmla="*/ 269378 h 720001"/>
                <a:gd name="connsiteX24" fmla="*/ 84019 w 794163"/>
                <a:gd name="connsiteY24" fmla="*/ 211770 h 720001"/>
                <a:gd name="connsiteX25" fmla="*/ 348708 w 794163"/>
                <a:gd name="connsiteY25" fmla="*/ 0 h 720001"/>
                <a:gd name="connsiteX26" fmla="*/ 445359 w 794163"/>
                <a:gd name="connsiteY26" fmla="*/ 0 h 720001"/>
                <a:gd name="connsiteX27" fmla="*/ 502871 w 794163"/>
                <a:gd name="connsiteY27" fmla="*/ 57607 h 720001"/>
                <a:gd name="connsiteX28" fmla="*/ 502871 w 794163"/>
                <a:gd name="connsiteY28" fmla="*/ 524785 h 720001"/>
                <a:gd name="connsiteX29" fmla="*/ 445263 w 794163"/>
                <a:gd name="connsiteY29" fmla="*/ 582393 h 720001"/>
                <a:gd name="connsiteX30" fmla="*/ 348708 w 794163"/>
                <a:gd name="connsiteY30" fmla="*/ 582393 h 720001"/>
                <a:gd name="connsiteX31" fmla="*/ 291100 w 794163"/>
                <a:gd name="connsiteY31" fmla="*/ 524785 h 720001"/>
                <a:gd name="connsiteX32" fmla="*/ 291100 w 794163"/>
                <a:gd name="connsiteY32" fmla="*/ 57607 h 720001"/>
                <a:gd name="connsiteX33" fmla="*/ 348708 w 794163"/>
                <a:gd name="connsiteY33" fmla="*/ 0 h 720001"/>
              </a:gdLst>
              <a:ahLst/>
              <a:cxnLst/>
              <a:rect l="l" t="t" r="r" b="b"/>
              <a:pathLst>
                <a:path w="794163" h="720001">
                  <a:moveTo>
                    <a:pt x="31770" y="656460"/>
                  </a:moveTo>
                  <a:lnTo>
                    <a:pt x="762297" y="656460"/>
                  </a:lnTo>
                  <a:cubicBezTo>
                    <a:pt x="779904" y="656460"/>
                    <a:pt x="794067" y="670622"/>
                    <a:pt x="794163" y="688230"/>
                  </a:cubicBezTo>
                  <a:cubicBezTo>
                    <a:pt x="794163" y="705742"/>
                    <a:pt x="779904" y="720001"/>
                    <a:pt x="762392" y="720001"/>
                  </a:cubicBezTo>
                  <a:lnTo>
                    <a:pt x="31770" y="720001"/>
                  </a:lnTo>
                  <a:cubicBezTo>
                    <a:pt x="14258" y="720001"/>
                    <a:pt x="0" y="705742"/>
                    <a:pt x="0" y="688230"/>
                  </a:cubicBezTo>
                  <a:cubicBezTo>
                    <a:pt x="0" y="670718"/>
                    <a:pt x="14258" y="656460"/>
                    <a:pt x="31770" y="656460"/>
                  </a:cubicBezTo>
                  <a:close/>
                  <a:moveTo>
                    <a:pt x="613493" y="317608"/>
                  </a:moveTo>
                  <a:lnTo>
                    <a:pt x="710048" y="317608"/>
                  </a:lnTo>
                  <a:cubicBezTo>
                    <a:pt x="741818" y="317608"/>
                    <a:pt x="767655" y="343445"/>
                    <a:pt x="767655" y="375216"/>
                  </a:cubicBezTo>
                  <a:lnTo>
                    <a:pt x="767655" y="524689"/>
                  </a:lnTo>
                  <a:cubicBezTo>
                    <a:pt x="767655" y="556364"/>
                    <a:pt x="741723" y="582297"/>
                    <a:pt x="710048" y="582297"/>
                  </a:cubicBezTo>
                  <a:lnTo>
                    <a:pt x="613493" y="582297"/>
                  </a:lnTo>
                  <a:cubicBezTo>
                    <a:pt x="581818" y="582297"/>
                    <a:pt x="555885" y="556364"/>
                    <a:pt x="555885" y="524689"/>
                  </a:cubicBezTo>
                  <a:lnTo>
                    <a:pt x="555885" y="375216"/>
                  </a:lnTo>
                  <a:cubicBezTo>
                    <a:pt x="555885" y="343349"/>
                    <a:pt x="581722" y="317608"/>
                    <a:pt x="613493" y="317608"/>
                  </a:cubicBezTo>
                  <a:close/>
                  <a:moveTo>
                    <a:pt x="84019" y="211770"/>
                  </a:moveTo>
                  <a:lnTo>
                    <a:pt x="180574" y="211770"/>
                  </a:lnTo>
                  <a:cubicBezTo>
                    <a:pt x="212440" y="211770"/>
                    <a:pt x="238182" y="237512"/>
                    <a:pt x="238182" y="269282"/>
                  </a:cubicBezTo>
                  <a:lnTo>
                    <a:pt x="238182" y="524785"/>
                  </a:lnTo>
                  <a:cubicBezTo>
                    <a:pt x="238182" y="556460"/>
                    <a:pt x="212248" y="582393"/>
                    <a:pt x="180574" y="582393"/>
                  </a:cubicBezTo>
                  <a:lnTo>
                    <a:pt x="84019" y="582393"/>
                  </a:lnTo>
                  <a:cubicBezTo>
                    <a:pt x="52344" y="582393"/>
                    <a:pt x="26411" y="556460"/>
                    <a:pt x="26411" y="524785"/>
                  </a:cubicBezTo>
                  <a:lnTo>
                    <a:pt x="26411" y="269378"/>
                  </a:lnTo>
                  <a:cubicBezTo>
                    <a:pt x="26411" y="237512"/>
                    <a:pt x="52248" y="211770"/>
                    <a:pt x="84019" y="211770"/>
                  </a:cubicBezTo>
                  <a:close/>
                  <a:moveTo>
                    <a:pt x="348708" y="0"/>
                  </a:moveTo>
                  <a:lnTo>
                    <a:pt x="445359" y="0"/>
                  </a:lnTo>
                  <a:cubicBezTo>
                    <a:pt x="477129" y="0"/>
                    <a:pt x="502871" y="25741"/>
                    <a:pt x="502871" y="57607"/>
                  </a:cubicBezTo>
                  <a:lnTo>
                    <a:pt x="502871" y="524785"/>
                  </a:lnTo>
                  <a:cubicBezTo>
                    <a:pt x="502871" y="556460"/>
                    <a:pt x="476937" y="582393"/>
                    <a:pt x="445263" y="582393"/>
                  </a:cubicBezTo>
                  <a:lnTo>
                    <a:pt x="348708" y="582393"/>
                  </a:lnTo>
                  <a:cubicBezTo>
                    <a:pt x="317033" y="582393"/>
                    <a:pt x="291100" y="556460"/>
                    <a:pt x="291100" y="524785"/>
                  </a:cubicBezTo>
                  <a:lnTo>
                    <a:pt x="291100" y="57607"/>
                  </a:lnTo>
                  <a:cubicBezTo>
                    <a:pt x="291100" y="25741"/>
                    <a:pt x="316937" y="0"/>
                    <a:pt x="348708" y="0"/>
                  </a:cubicBezTo>
                  <a:close/>
                </a:path>
              </a:pathLst>
            </a:custGeom>
            <a:gradFill>
              <a:gsLst>
                <a:gs pos="1000">
                  <a:schemeClr val="accent2">
                    <a:alpha val="10000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>
              <a:off x="529" y="5287"/>
              <a:ext cx="1823" cy="17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kumimoji="1" lang="zh-CN" altLang="en-US" sz="20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  <a:sym typeface="+mn-ea"/>
                </a:rPr>
                <a:t>线性回归</a:t>
              </a:r>
              <a:endParaRPr kumimoji="1" lang="zh-CN" altLang="en-US" sz="2000">
                <a:ln w="12700">
                  <a:noFill/>
                </a:ln>
                <a:solidFill>
                  <a:schemeClr val="accent1">
                    <a:alpha val="10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  <a:sym typeface="+mn-ea"/>
              </a:endParaRPr>
            </a:p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kumimoji="1" lang="zh-CN" altLang="en-US" sz="20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  <a:sym typeface="+mn-ea"/>
                </a:rPr>
                <a:t>与逻辑回归</a:t>
              </a:r>
              <a:endParaRPr kumimoji="1" lang="zh-CN" altLang="en-US" sz="2000" b="1">
                <a:ln w="12700">
                  <a:noFill/>
                </a:ln>
                <a:solidFill>
                  <a:schemeClr val="accent1">
                    <a:alpha val="10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  <a:sym typeface="+mn-ea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989320" y="3617595"/>
            <a:ext cx="6011872" cy="1581785"/>
            <a:chOff x="8979" y="7210"/>
            <a:chExt cx="9468" cy="2491"/>
          </a:xfrm>
        </p:grpSpPr>
        <p:sp>
          <p:nvSpPr>
            <p:cNvPr id="9" name="标题 1"/>
            <p:cNvSpPr txBox="1"/>
            <p:nvPr>
              <p:custDataLst>
                <p:tags r:id="rId16"/>
              </p:custDataLst>
            </p:nvPr>
          </p:nvSpPr>
          <p:spPr>
            <a:xfrm>
              <a:off x="11257" y="7441"/>
              <a:ext cx="7190" cy="2010"/>
            </a:xfrm>
            <a:prstGeom prst="roundRect">
              <a:avLst>
                <a:gd name="adj" fmla="val 7598"/>
              </a:avLst>
            </a:prstGeom>
            <a:solidFill>
              <a:schemeClr val="bg1"/>
            </a:solidFill>
            <a:ln w="6350" cap="flat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/>
            <p:cNvSpPr txBox="1"/>
            <p:nvPr>
              <p:custDataLst>
                <p:tags r:id="rId17"/>
              </p:custDataLst>
            </p:nvPr>
          </p:nvSpPr>
          <p:spPr>
            <a:xfrm>
              <a:off x="11116" y="7328"/>
              <a:ext cx="7190" cy="2010"/>
            </a:xfrm>
            <a:prstGeom prst="roundRect">
              <a:avLst>
                <a:gd name="adj" fmla="val 7598"/>
              </a:avLst>
            </a:prstGeom>
            <a:gradFill>
              <a:gsLst>
                <a:gs pos="1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1" name="标题 1"/>
            <p:cNvSpPr txBox="1"/>
            <p:nvPr>
              <p:custDataLst>
                <p:tags r:id="rId18"/>
              </p:custDataLst>
            </p:nvPr>
          </p:nvSpPr>
          <p:spPr>
            <a:xfrm>
              <a:off x="8979" y="7576"/>
              <a:ext cx="2413" cy="1762"/>
            </a:xfrm>
            <a:custGeom>
              <a:avLst/>
              <a:gdLst>
                <a:gd name="connsiteX0" fmla="*/ 768350 w 895350"/>
                <a:gd name="connsiteY0" fmla="*/ 0 h 901700"/>
                <a:gd name="connsiteX1" fmla="*/ 895350 w 895350"/>
                <a:gd name="connsiteY1" fmla="*/ 127000 h 901700"/>
                <a:gd name="connsiteX2" fmla="*/ 895350 w 895350"/>
                <a:gd name="connsiteY2" fmla="*/ 774700 h 901700"/>
                <a:gd name="connsiteX3" fmla="*/ 768350 w 895350"/>
                <a:gd name="connsiteY3" fmla="*/ 901700 h 901700"/>
                <a:gd name="connsiteX4" fmla="*/ 127000 w 895350"/>
                <a:gd name="connsiteY4" fmla="*/ 901700 h 901700"/>
                <a:gd name="connsiteX5" fmla="*/ 0 w 895350"/>
                <a:gd name="connsiteY5" fmla="*/ 774700 h 901700"/>
                <a:gd name="connsiteX6" fmla="*/ 0 w 895350"/>
                <a:gd name="connsiteY6" fmla="*/ 127000 h 901700"/>
                <a:gd name="connsiteX7" fmla="*/ 127000 w 895350"/>
                <a:gd name="connsiteY7" fmla="*/ 0 h 901700"/>
              </a:gdLst>
              <a:ahLst/>
              <a:cxnLst/>
              <a:rect l="l" t="t" r="r" b="b"/>
              <a:pathLst>
                <a:path w="895350" h="901700">
                  <a:moveTo>
                    <a:pt x="768350" y="0"/>
                  </a:moveTo>
                  <a:cubicBezTo>
                    <a:pt x="838490" y="0"/>
                    <a:pt x="895350" y="56860"/>
                    <a:pt x="895350" y="127000"/>
                  </a:cubicBezTo>
                  <a:lnTo>
                    <a:pt x="895350" y="774700"/>
                  </a:lnTo>
                  <a:cubicBezTo>
                    <a:pt x="895350" y="844840"/>
                    <a:pt x="838490" y="901700"/>
                    <a:pt x="768350" y="901700"/>
                  </a:cubicBezTo>
                  <a:lnTo>
                    <a:pt x="127000" y="901700"/>
                  </a:lnTo>
                  <a:cubicBezTo>
                    <a:pt x="56860" y="901700"/>
                    <a:pt x="0" y="844840"/>
                    <a:pt x="0" y="7747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2" name="标题 1"/>
            <p:cNvSpPr txBox="1"/>
            <p:nvPr>
              <p:custDataLst>
                <p:tags r:id="rId19"/>
              </p:custDataLst>
            </p:nvPr>
          </p:nvSpPr>
          <p:spPr>
            <a:xfrm rot="21240000">
              <a:off x="9698" y="8851"/>
              <a:ext cx="974" cy="850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>
              <p:custDataLst>
                <p:tags r:id="rId20"/>
              </p:custDataLst>
            </p:nvPr>
          </p:nvSpPr>
          <p:spPr>
            <a:xfrm>
              <a:off x="11363" y="7210"/>
              <a:ext cx="6105" cy="6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  <a:sym typeface="+mn-ea"/>
                </a:rPr>
                <a:t>机制：</a:t>
              </a: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监督学习的模型</a:t>
              </a:r>
              <a:endParaRPr kumimoji="1" lang="zh-CN" altLang="en-US" sz="2000"/>
            </a:p>
          </p:txBody>
        </p:sp>
        <p:sp>
          <p:nvSpPr>
            <p:cNvPr id="30" name="矩形 29"/>
            <p:cNvSpPr/>
            <p:nvPr>
              <p:custDataLst>
                <p:tags r:id="rId21"/>
              </p:custDataLst>
            </p:nvPr>
          </p:nvSpPr>
          <p:spPr>
            <a:xfrm>
              <a:off x="9335" y="7737"/>
              <a:ext cx="1781" cy="1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p>
              <a:pPr algn="ctr"/>
              <a:r>
                <a:rPr kumimoji="1" lang="zh-CN" altLang="en-US" sz="20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医疗诊断</a:t>
              </a:r>
              <a:endParaRPr lang="zh-CN" altLang="en-US"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</p:grpSp>
      <p:sp>
        <p:nvSpPr>
          <p:cNvPr id="32" name="标题 1"/>
          <p:cNvSpPr txBox="1"/>
          <p:nvPr>
            <p:custDataLst>
              <p:tags r:id="rId22"/>
            </p:custDataLst>
          </p:nvPr>
        </p:nvSpPr>
        <p:spPr>
          <a:xfrm>
            <a:off x="7599680" y="4077335"/>
            <a:ext cx="4109085" cy="7200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p>
            <a:pPr algn="l">
              <a:lnSpc>
                <a:spcPct val="150000"/>
              </a:lnSpc>
            </a:pPr>
            <a:r>
              <a:rPr kumimoji="1" lang="zh-CN" altLang="en-US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  <a:sym typeface="+mn-ea"/>
              </a:rPr>
              <a:t>场景：</a:t>
            </a:r>
            <a:r>
              <a:rPr kumimoji="1" lang="zh-CN" altLang="en-US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rPr>
              <a:t>癌症检测（如乳腺癌、肺癌的早期筛查）、疾病风险预测（如心脏病发作的概率计算）</a:t>
            </a:r>
            <a:endParaRPr kumimoji="1" lang="zh-CN" altLang="en-US" sz="1400">
              <a:ln w="12700">
                <a:noFill/>
              </a:ln>
              <a:solidFill>
                <a:srgbClr val="FFFFFF">
                  <a:alpha val="100000"/>
                </a:srgbClr>
              </a:solidFill>
              <a:latin typeface="华文新魏" panose="02010800040101010101" charset="-122"/>
              <a:ea typeface="华文新魏" panose="02010800040101010101" charset="-122"/>
              <a:cs typeface="Source Han Sans CN Bold" panose="020B0800000000000000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22655" y="5085080"/>
            <a:ext cx="6011872" cy="1651000"/>
            <a:chOff x="8979" y="7101"/>
            <a:chExt cx="9468" cy="2600"/>
          </a:xfrm>
        </p:grpSpPr>
        <p:sp>
          <p:nvSpPr>
            <p:cNvPr id="34" name="标题 1"/>
            <p:cNvSpPr txBox="1"/>
            <p:nvPr>
              <p:custDataLst>
                <p:tags r:id="rId23"/>
              </p:custDataLst>
            </p:nvPr>
          </p:nvSpPr>
          <p:spPr>
            <a:xfrm>
              <a:off x="11257" y="7441"/>
              <a:ext cx="7190" cy="2010"/>
            </a:xfrm>
            <a:prstGeom prst="roundRect">
              <a:avLst>
                <a:gd name="adj" fmla="val 7598"/>
              </a:avLst>
            </a:prstGeom>
            <a:solidFill>
              <a:schemeClr val="bg1"/>
            </a:solidFill>
            <a:ln w="6350" cap="flat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5" name="标题 1"/>
            <p:cNvSpPr txBox="1"/>
            <p:nvPr>
              <p:custDataLst>
                <p:tags r:id="rId24"/>
              </p:custDataLst>
            </p:nvPr>
          </p:nvSpPr>
          <p:spPr>
            <a:xfrm>
              <a:off x="11116" y="7328"/>
              <a:ext cx="7190" cy="2010"/>
            </a:xfrm>
            <a:prstGeom prst="roundRect">
              <a:avLst>
                <a:gd name="adj" fmla="val 7598"/>
              </a:avLst>
            </a:prstGeom>
            <a:gradFill>
              <a:gsLst>
                <a:gs pos="1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6" name="标题 1"/>
            <p:cNvSpPr txBox="1"/>
            <p:nvPr>
              <p:custDataLst>
                <p:tags r:id="rId25"/>
              </p:custDataLst>
            </p:nvPr>
          </p:nvSpPr>
          <p:spPr>
            <a:xfrm>
              <a:off x="8979" y="7576"/>
              <a:ext cx="2413" cy="1762"/>
            </a:xfrm>
            <a:custGeom>
              <a:avLst/>
              <a:gdLst>
                <a:gd name="connsiteX0" fmla="*/ 768350 w 895350"/>
                <a:gd name="connsiteY0" fmla="*/ 0 h 901700"/>
                <a:gd name="connsiteX1" fmla="*/ 895350 w 895350"/>
                <a:gd name="connsiteY1" fmla="*/ 127000 h 901700"/>
                <a:gd name="connsiteX2" fmla="*/ 895350 w 895350"/>
                <a:gd name="connsiteY2" fmla="*/ 774700 h 901700"/>
                <a:gd name="connsiteX3" fmla="*/ 768350 w 895350"/>
                <a:gd name="connsiteY3" fmla="*/ 901700 h 901700"/>
                <a:gd name="connsiteX4" fmla="*/ 127000 w 895350"/>
                <a:gd name="connsiteY4" fmla="*/ 901700 h 901700"/>
                <a:gd name="connsiteX5" fmla="*/ 0 w 895350"/>
                <a:gd name="connsiteY5" fmla="*/ 774700 h 901700"/>
                <a:gd name="connsiteX6" fmla="*/ 0 w 895350"/>
                <a:gd name="connsiteY6" fmla="*/ 127000 h 901700"/>
                <a:gd name="connsiteX7" fmla="*/ 127000 w 895350"/>
                <a:gd name="connsiteY7" fmla="*/ 0 h 901700"/>
              </a:gdLst>
              <a:ahLst/>
              <a:cxnLst/>
              <a:rect l="l" t="t" r="r" b="b"/>
              <a:pathLst>
                <a:path w="895350" h="901700">
                  <a:moveTo>
                    <a:pt x="768350" y="0"/>
                  </a:moveTo>
                  <a:cubicBezTo>
                    <a:pt x="838490" y="0"/>
                    <a:pt x="895350" y="56860"/>
                    <a:pt x="895350" y="127000"/>
                  </a:cubicBezTo>
                  <a:lnTo>
                    <a:pt x="895350" y="774700"/>
                  </a:lnTo>
                  <a:cubicBezTo>
                    <a:pt x="895350" y="844840"/>
                    <a:pt x="838490" y="901700"/>
                    <a:pt x="768350" y="901700"/>
                  </a:cubicBezTo>
                  <a:lnTo>
                    <a:pt x="127000" y="901700"/>
                  </a:lnTo>
                  <a:cubicBezTo>
                    <a:pt x="56860" y="901700"/>
                    <a:pt x="0" y="844840"/>
                    <a:pt x="0" y="7747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7" name="标题 1"/>
            <p:cNvSpPr txBox="1"/>
            <p:nvPr>
              <p:custDataLst>
                <p:tags r:id="rId26"/>
              </p:custDataLst>
            </p:nvPr>
          </p:nvSpPr>
          <p:spPr>
            <a:xfrm rot="21240000">
              <a:off x="9698" y="8851"/>
              <a:ext cx="974" cy="850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2700000" scaled="0"/>
            </a:gradFill>
            <a:ln cap="sq">
              <a:noFill/>
              <a:prstDash val="solid"/>
              <a:miter/>
            </a:ln>
            <a:effectLst/>
          </p:spPr>
          <p:txBody>
            <a:bodyPr vert="horz" wrap="square" lIns="0" tIns="0" rIns="0" bIns="0" rtlCol="0" anchor="ctr"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8" name="标题 1"/>
            <p:cNvSpPr txBox="1"/>
            <p:nvPr>
              <p:custDataLst>
                <p:tags r:id="rId27"/>
              </p:custDataLst>
            </p:nvPr>
          </p:nvSpPr>
          <p:spPr>
            <a:xfrm>
              <a:off x="11363" y="7101"/>
              <a:ext cx="6736" cy="6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rtlCol="0" anchor="t"/>
            <a:p>
              <a:pPr algn="l">
                <a:lnSpc>
                  <a:spcPct val="130000"/>
                </a:lnSpc>
              </a:pP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  <a:sym typeface="+mn-ea"/>
                </a:rPr>
                <a:t>机制：</a:t>
              </a:r>
              <a:r>
                <a:rPr kumimoji="1" lang="zh-CN" altLang="en-US" sz="200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深度学习模型（如卷积神经网络）进行图像识别</a:t>
              </a:r>
              <a:endParaRPr kumimoji="1" lang="zh-CN" altLang="en-US" sz="2000"/>
            </a:p>
          </p:txBody>
        </p:sp>
        <p:sp>
          <p:nvSpPr>
            <p:cNvPr id="39" name="矩形 38"/>
            <p:cNvSpPr/>
            <p:nvPr>
              <p:custDataLst>
                <p:tags r:id="rId28"/>
              </p:custDataLst>
            </p:nvPr>
          </p:nvSpPr>
          <p:spPr>
            <a:xfrm>
              <a:off x="9335" y="7737"/>
              <a:ext cx="1781" cy="1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noAutofit/>
            </a:bodyPr>
            <a:p>
              <a:pPr algn="ctr"/>
              <a:r>
                <a:rPr kumimoji="1" lang="zh-CN" altLang="en-US" sz="2000">
                  <a:ln w="12700">
                    <a:noFill/>
                  </a:ln>
                  <a:solidFill>
                    <a:schemeClr val="accent1">
                      <a:alpha val="10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Source Han Sans CN Bold" panose="020B0800000000000000" charset="-122"/>
                </a:rPr>
                <a:t>自动驾驶</a:t>
              </a:r>
              <a:endParaRPr lang="zh-CN" altLang="en-US" sz="2000" b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</p:grpSp>
      <p:sp>
        <p:nvSpPr>
          <p:cNvPr id="40" name="标题 1"/>
          <p:cNvSpPr txBox="1"/>
          <p:nvPr>
            <p:custDataLst>
              <p:tags r:id="rId29"/>
            </p:custDataLst>
          </p:nvPr>
        </p:nvSpPr>
        <p:spPr>
          <a:xfrm>
            <a:off x="2495432" y="5805293"/>
            <a:ext cx="37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p>
            <a:pPr algn="l">
              <a:lnSpc>
                <a:spcPct val="150000"/>
              </a:lnSpc>
            </a:pPr>
            <a:r>
              <a:rPr kumimoji="1" lang="zh-CN" altLang="en-US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rPr>
              <a:t>场景：特斯拉、</a:t>
            </a:r>
            <a:r>
              <a:rPr kumimoji="1" lang="en-US" altLang="zh-CN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rPr>
              <a:t>Waymo</a:t>
            </a:r>
            <a:r>
              <a:rPr kumimoji="1" lang="zh-CN" altLang="en-US" sz="140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Source Han Sans CN Bold" panose="020B0800000000000000" charset="-122"/>
              </a:rPr>
              <a:t>等公司的自动驾驶技术</a:t>
            </a:r>
            <a:endParaRPr kumimoji="1" lang="zh-CN" altLang="en-US" sz="140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2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3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4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5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6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7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8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9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10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11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12.xml><?xml version="1.0" encoding="utf-8"?>
<p:tagLst xmlns:p="http://schemas.openxmlformats.org/presentationml/2006/main">
  <p:tag name="KSO_WM_DIAGRAM_VIRTUALLY_FRAME" val="{&quot;height&quot;:313.1129238643633,&quot;left&quot;:231.1,&quot;top&quot;:150.35,&quot;width&quot;:496.25}"/>
</p:tagLst>
</file>

<file path=ppt/tags/tag13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14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15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16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17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18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19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0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1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2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3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4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5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6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7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8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29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0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1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2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3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4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5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6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7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8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39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ags/tag40.xml><?xml version="1.0" encoding="utf-8"?>
<p:tagLst xmlns:p="http://schemas.openxmlformats.org/presentationml/2006/main">
  <p:tag name="KSO_WM_DIAGRAM_VIRTUALLY_FRAME" val="{&quot;height&quot;:433.0731496062992,&quot;left&quot;:9.35,&quot;top&quot;:76.27622047244094,&quot;width&quot;:915.196141732283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3A9BAA"/>
      </a:accent1>
      <a:accent2>
        <a:srgbClr val="5DCEB9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3A9BAA"/>
      </a:accent1>
      <a:accent2>
        <a:srgbClr val="5DCEB9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3A9BAA"/>
      </a:accent1>
      <a:accent2>
        <a:srgbClr val="5DCEB9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3A9BAA"/>
      </a:accent1>
      <a:accent2>
        <a:srgbClr val="5DCEB9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WPS 演示</Application>
  <PresentationFormat/>
  <Paragraphs>233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OPPOSans L</vt:lpstr>
      <vt:lpstr>Dream-XinCuSongGB</vt:lpstr>
      <vt:lpstr>Source Han Sans</vt:lpstr>
      <vt:lpstr>Source Han Sans CN Bold</vt:lpstr>
      <vt:lpstr>华文新魏</vt:lpstr>
      <vt:lpstr>Symbol</vt:lpstr>
      <vt:lpstr>等线</vt:lpstr>
      <vt:lpstr>微软雅黑</vt:lpstr>
      <vt:lpstr>Arial Unicode MS</vt:lpstr>
      <vt:lpstr>Calibri</vt:lpstr>
      <vt:lpstr>OPPOSans B</vt:lpstr>
      <vt:lpstr>Office 主题​​</vt:lpstr>
      <vt:lpstr>1_Office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吁徐栩叙</cp:lastModifiedBy>
  <cp:revision>45</cp:revision>
  <dcterms:created xsi:type="dcterms:W3CDTF">2024-12-07T15:07:00Z</dcterms:created>
  <dcterms:modified xsi:type="dcterms:W3CDTF">2024-12-07T17:06:19Z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F41DD26769B14FB6B51E78A415252939_13</vt:lpwstr>
  </property>
  <property fmtid="{D5CDD505-2E9C-101B-9397-08002B2CF9AE}" pid="3" name="KSOProductBuildVer">
    <vt:lpwstr>2052-12.1.0.19302</vt:lpwstr>
  </property>
</Properties>
</file>