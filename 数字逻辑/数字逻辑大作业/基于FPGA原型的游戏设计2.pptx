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sldIdLst>
    <p:sldId id="256" r:id="rId3"/>
    <p:sldId id="340" r:id="rId5"/>
    <p:sldId id="271" r:id="rId6"/>
    <p:sldId id="278" r:id="rId7"/>
    <p:sldId id="288" r:id="rId8"/>
    <p:sldId id="279" r:id="rId9"/>
    <p:sldId id="280" r:id="rId10"/>
    <p:sldId id="328" r:id="rId11"/>
    <p:sldId id="281" r:id="rId12"/>
    <p:sldId id="314" r:id="rId13"/>
    <p:sldId id="315" r:id="rId14"/>
    <p:sldId id="316" r:id="rId15"/>
    <p:sldId id="337" r:id="rId16"/>
    <p:sldId id="301" r:id="rId17"/>
    <p:sldId id="283" r:id="rId18"/>
    <p:sldId id="317" r:id="rId19"/>
    <p:sldId id="282" r:id="rId20"/>
    <p:sldId id="284" r:id="rId21"/>
    <p:sldId id="319" r:id="rId22"/>
    <p:sldId id="320" r:id="rId23"/>
    <p:sldId id="290" r:id="rId24"/>
    <p:sldId id="287" r:id="rId25"/>
    <p:sldId id="322" r:id="rId26"/>
    <p:sldId id="323" r:id="rId27"/>
    <p:sldId id="329" r:id="rId28"/>
    <p:sldId id="330" r:id="rId29"/>
    <p:sldId id="332" r:id="rId30"/>
    <p:sldId id="338" r:id="rId31"/>
    <p:sldId id="339" r:id="rId32"/>
    <p:sldId id="335" r:id="rId3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FEB693C-D385-4AB4-B6B1-6DF56B3CCFEF}">
          <p14:sldIdLst>
            <p14:sldId id="256"/>
          </p14:sldIdLst>
        </p14:section>
        <p14:section name="1-图像显示" id="{319F6B51-086E-445C-99C9-E137CDA142CA}">
          <p14:sldIdLst>
            <p14:sldId id="340"/>
            <p14:sldId id="271"/>
            <p14:sldId id="278"/>
            <p14:sldId id="288"/>
            <p14:sldId id="279"/>
            <p14:sldId id="280"/>
            <p14:sldId id="328"/>
            <p14:sldId id="281"/>
            <p14:sldId id="314"/>
            <p14:sldId id="315"/>
            <p14:sldId id="316"/>
            <p14:sldId id="337"/>
          </p14:sldIdLst>
        </p14:section>
        <p14:section name="2-Sound" id="{F4F9925F-0BAB-497B-8193-E23F2CE0459A}">
          <p14:sldIdLst>
            <p14:sldId id="301"/>
            <p14:sldId id="283"/>
            <p14:sldId id="317"/>
            <p14:sldId id="282"/>
            <p14:sldId id="284"/>
            <p14:sldId id="319"/>
            <p14:sldId id="320"/>
            <p14:sldId id="290"/>
          </p14:sldIdLst>
        </p14:section>
        <p14:section name="3-Text" id="{37978676-E24F-4635-842E-2E774CB43B55}">
          <p14:sldIdLst>
            <p14:sldId id="287"/>
            <p14:sldId id="322"/>
            <p14:sldId id="323"/>
            <p14:sldId id="329"/>
            <p14:sldId id="330"/>
            <p14:sldId id="332"/>
            <p14:sldId id="338"/>
            <p14:sldId id="339"/>
            <p14:sldId id="33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FF0000"/>
    <a:srgbClr val="FFFFFF"/>
    <a:srgbClr val="E0E0E0"/>
    <a:srgbClr val="000000"/>
    <a:srgbClr val="E9A9E1"/>
    <a:srgbClr val="6699FF"/>
    <a:srgbClr val="F2F2F2"/>
    <a:srgbClr val="DAE3F3"/>
    <a:srgbClr val="E2F0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79" autoAdjust="0"/>
    <p:restoredTop sz="94263" autoAdjust="0"/>
  </p:normalViewPr>
  <p:slideViewPr>
    <p:cSldViewPr snapToGrid="0">
      <p:cViewPr varScale="1">
        <p:scale>
          <a:sx n="103" d="100"/>
          <a:sy n="103" d="100"/>
        </p:scale>
        <p:origin x="90" y="4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4C8C03-BE93-4BBE-8309-CA1A30EF26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907001-0931-41E4-8BBA-EA573262DE6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缺陷：得分为十六进制、得分只有个位数变化、按键没有去抖、乒乓球在球拍和右侧屏幕之间没有反弹</a:t>
            </a:r>
            <a:r>
              <a:rPr lang="en-US" altLang="zh-CN" dirty="0"/>
              <a:t>……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907001-0931-41E4-8BBA-EA573262DE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RGB</a:t>
            </a:r>
            <a:r>
              <a:rPr lang="zh-CN" altLang="en-US" dirty="0"/>
              <a:t>每个都是由</a:t>
            </a:r>
            <a:r>
              <a:rPr lang="en-US" altLang="zh-CN" dirty="0"/>
              <a:t>8-bit</a:t>
            </a:r>
            <a:r>
              <a:rPr lang="zh-CN" altLang="en-US" dirty="0"/>
              <a:t>变为</a:t>
            </a:r>
            <a:r>
              <a:rPr lang="en-US" altLang="zh-CN" dirty="0"/>
              <a:t>4-bit</a:t>
            </a:r>
            <a:r>
              <a:rPr lang="zh-CN" altLang="en-US" dirty="0"/>
              <a:t>数据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907001-0931-41E4-8BBA-EA573262DE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module </a:t>
            </a:r>
            <a:r>
              <a:rPr lang="en-US" altLang="zh-CN" dirty="0" err="1"/>
              <a:t>pingpong_screen_pic</a:t>
            </a:r>
            <a:r>
              <a:rPr lang="en-US" altLang="zh-CN" dirty="0"/>
              <a:t>(</a:t>
            </a:r>
            <a:endParaRPr lang="en-US" altLang="zh-CN" dirty="0"/>
          </a:p>
          <a:p>
            <a:r>
              <a:rPr lang="en-US" altLang="zh-CN" dirty="0"/>
              <a:t>    input  logic </a:t>
            </a:r>
            <a:r>
              <a:rPr lang="en-US" altLang="zh-CN" dirty="0" err="1"/>
              <a:t>clk</a:t>
            </a:r>
            <a:r>
              <a:rPr lang="en-US" altLang="zh-CN" dirty="0"/>
              <a:t>, reset,     //</a:t>
            </a:r>
            <a:r>
              <a:rPr lang="en-US" altLang="zh-CN" dirty="0" err="1"/>
              <a:t>clk</a:t>
            </a:r>
            <a:r>
              <a:rPr lang="en-US" altLang="zh-CN" dirty="0"/>
              <a:t>: </a:t>
            </a:r>
            <a:r>
              <a:rPr lang="zh-CN" altLang="en-US" dirty="0"/>
              <a:t>屏幕</a:t>
            </a:r>
            <a:r>
              <a:rPr lang="en-US" altLang="zh-CN" dirty="0"/>
              <a:t>60Hz</a:t>
            </a:r>
            <a:r>
              <a:rPr lang="zh-CN" altLang="en-US" dirty="0"/>
              <a:t>刷新频率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input  logic </a:t>
            </a:r>
            <a:r>
              <a:rPr lang="en-US" altLang="zh-CN" dirty="0" err="1"/>
              <a:t>btnUp</a:t>
            </a:r>
            <a:r>
              <a:rPr lang="en-US" altLang="zh-CN" dirty="0"/>
              <a:t>, </a:t>
            </a:r>
            <a:r>
              <a:rPr lang="en-US" altLang="zh-CN" dirty="0" err="1"/>
              <a:t>btnDown</a:t>
            </a:r>
            <a:r>
              <a:rPr lang="en-US" altLang="zh-CN" dirty="0"/>
              <a:t>, //</a:t>
            </a:r>
            <a:r>
              <a:rPr lang="zh-CN" altLang="en-US" dirty="0"/>
              <a:t>控制</a:t>
            </a:r>
            <a:r>
              <a:rPr lang="en-US" altLang="zh-CN" dirty="0"/>
              <a:t>Bar</a:t>
            </a:r>
            <a:r>
              <a:rPr lang="zh-CN" altLang="en-US" dirty="0"/>
              <a:t>上下移动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input  logic </a:t>
            </a:r>
            <a:r>
              <a:rPr lang="en-US" altLang="zh-CN" dirty="0" err="1"/>
              <a:t>videoOn</a:t>
            </a:r>
            <a:r>
              <a:rPr lang="en-US" altLang="zh-CN" dirty="0"/>
              <a:t>,</a:t>
            </a:r>
            <a:endParaRPr lang="en-US" altLang="zh-CN" dirty="0"/>
          </a:p>
          <a:p>
            <a:r>
              <a:rPr lang="en-US" altLang="zh-CN" dirty="0"/>
              <a:t>    input  logic [10:0] </a:t>
            </a:r>
            <a:r>
              <a:rPr lang="en-US" altLang="zh-CN" dirty="0" err="1"/>
              <a:t>pix_x</a:t>
            </a:r>
            <a:r>
              <a:rPr lang="en-US" altLang="zh-CN" dirty="0"/>
              <a:t>, </a:t>
            </a:r>
            <a:r>
              <a:rPr lang="en-US" altLang="zh-CN" dirty="0" err="1"/>
              <a:t>pix_y</a:t>
            </a:r>
            <a:r>
              <a:rPr lang="en-US" altLang="zh-CN" dirty="0"/>
              <a:t>, //</a:t>
            </a:r>
            <a:r>
              <a:rPr lang="zh-CN" altLang="en-US" dirty="0"/>
              <a:t>扫描屏幕坐标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output logic [3:0] red, green, blue, </a:t>
            </a:r>
            <a:endParaRPr lang="en-US" altLang="zh-CN" dirty="0"/>
          </a:p>
          <a:p>
            <a:r>
              <a:rPr lang="en-US" altLang="zh-CN" dirty="0"/>
              <a:t>    input  logic [11:0] </a:t>
            </a:r>
            <a:r>
              <a:rPr lang="en-US" altLang="zh-CN" dirty="0" err="1"/>
              <a:t>picData</a:t>
            </a:r>
            <a:r>
              <a:rPr lang="en-US" altLang="zh-CN" dirty="0"/>
              <a:t>,  //</a:t>
            </a:r>
            <a:r>
              <a:rPr lang="zh-CN" altLang="en-US" dirty="0"/>
              <a:t>每个像素用</a:t>
            </a:r>
            <a:r>
              <a:rPr lang="en-US" altLang="zh-CN" dirty="0"/>
              <a:t>12</a:t>
            </a:r>
            <a:r>
              <a:rPr lang="zh-CN" altLang="en-US" dirty="0"/>
              <a:t>位表示色彩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output logic [16:0] picAddr17);//320x320=102,400bit.(2^17=131,072) </a:t>
            </a:r>
            <a:endParaRPr lang="en-US" altLang="zh-CN" dirty="0"/>
          </a:p>
          <a:p>
            <a:r>
              <a:rPr lang="en-US" altLang="zh-CN" dirty="0"/>
              <a:t>     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localparam</a:t>
            </a:r>
            <a:r>
              <a:rPr lang="en-US" altLang="zh-CN" dirty="0"/>
              <a:t> </a:t>
            </a:r>
            <a:endParaRPr lang="en-US" altLang="zh-CN" dirty="0"/>
          </a:p>
          <a:p>
            <a:r>
              <a:rPr lang="en-US" altLang="zh-CN" dirty="0"/>
              <a:t>      MAX_X = 640,  MAX_Y = 480,  //(0.0) to (639,479)</a:t>
            </a:r>
            <a:endParaRPr lang="en-US" altLang="zh-CN" dirty="0"/>
          </a:p>
          <a:p>
            <a:r>
              <a:rPr lang="en-US" altLang="zh-CN" dirty="0"/>
              <a:t>      // </a:t>
            </a:r>
            <a:r>
              <a:rPr lang="zh-CN" altLang="en-US" dirty="0"/>
              <a:t>屏幕参数</a:t>
            </a:r>
            <a:endParaRPr lang="zh-CN" altLang="en-US" dirty="0"/>
          </a:p>
          <a:p>
            <a:r>
              <a:rPr lang="zh-CN" altLang="en-US" dirty="0"/>
              <a:t>      </a:t>
            </a:r>
            <a:r>
              <a:rPr lang="en-US" altLang="zh-CN" dirty="0"/>
              <a:t>H_SYNC    =  96, // horizontal sync width</a:t>
            </a:r>
            <a:endParaRPr lang="en-US" altLang="zh-CN" dirty="0"/>
          </a:p>
          <a:p>
            <a:r>
              <a:rPr lang="en-US" altLang="zh-CN" dirty="0"/>
              <a:t>      H_BACK    =  48, // left border (back porch) </a:t>
            </a:r>
            <a:endParaRPr lang="en-US" altLang="zh-CN" dirty="0"/>
          </a:p>
          <a:p>
            <a:r>
              <a:rPr lang="en-US" altLang="zh-CN" dirty="0"/>
              <a:t>      H_SYNC_START = H_SYNC + H_BACK, //</a:t>
            </a:r>
            <a:r>
              <a:rPr lang="zh-CN" altLang="en-US" dirty="0"/>
              <a:t>行显示后沿 </a:t>
            </a:r>
            <a:r>
              <a:rPr lang="en-US" altLang="zh-CN" dirty="0"/>
              <a:t>= 144(96+48)</a:t>
            </a:r>
            <a:endParaRPr lang="en-US" altLang="zh-CN" dirty="0"/>
          </a:p>
          <a:p>
            <a:r>
              <a:rPr lang="en-US" altLang="zh-CN" dirty="0"/>
              <a:t>      V_SYNC    =   2, // vertical sync lines</a:t>
            </a:r>
            <a:endParaRPr lang="en-US" altLang="zh-CN" dirty="0"/>
          </a:p>
          <a:p>
            <a:r>
              <a:rPr lang="en-US" altLang="zh-CN" dirty="0"/>
              <a:t>      V_TOP     =  29, // vertical top border  </a:t>
            </a:r>
            <a:endParaRPr lang="en-US" altLang="zh-CN" dirty="0"/>
          </a:p>
          <a:p>
            <a:r>
              <a:rPr lang="en-US" altLang="zh-CN" dirty="0"/>
              <a:t>      V_SYNC_START = V_SYNC + V_TOP, //</a:t>
            </a:r>
            <a:r>
              <a:rPr lang="zh-CN" altLang="en-US" dirty="0"/>
              <a:t>场显示后沿 </a:t>
            </a:r>
            <a:r>
              <a:rPr lang="en-US" altLang="zh-CN" dirty="0"/>
              <a:t>=  31(2+29)   </a:t>
            </a:r>
            <a:endParaRPr lang="en-US" altLang="zh-CN" dirty="0"/>
          </a:p>
          <a:p>
            <a:r>
              <a:rPr lang="en-US" altLang="zh-CN" dirty="0"/>
              <a:t>      // === wall === </a:t>
            </a:r>
            <a:endParaRPr lang="en-US" altLang="zh-CN" dirty="0"/>
          </a:p>
          <a:p>
            <a:r>
              <a:rPr lang="en-US" altLang="zh-CN" dirty="0"/>
              <a:t>      WALL_X_L = H_SYNC_START + 30, // left boundary</a:t>
            </a:r>
            <a:endParaRPr lang="en-US" altLang="zh-CN" dirty="0"/>
          </a:p>
          <a:p>
            <a:r>
              <a:rPr lang="en-US" altLang="zh-CN" dirty="0"/>
              <a:t>      WALL_X_R = H_SYNC_START + 40, // right boundary  </a:t>
            </a:r>
            <a:endParaRPr lang="en-US" altLang="zh-CN" dirty="0"/>
          </a:p>
          <a:p>
            <a:r>
              <a:rPr lang="en-US" altLang="zh-CN" dirty="0"/>
              <a:t>      // === bar === </a:t>
            </a:r>
            <a:endParaRPr lang="en-US" altLang="zh-CN" dirty="0"/>
          </a:p>
          <a:p>
            <a:r>
              <a:rPr lang="en-US" altLang="zh-CN" dirty="0"/>
              <a:t>      BAR_X_L = H_SYNC_START + 600, // left boundary</a:t>
            </a:r>
            <a:endParaRPr lang="en-US" altLang="zh-CN" dirty="0"/>
          </a:p>
          <a:p>
            <a:r>
              <a:rPr lang="en-US" altLang="zh-CN" dirty="0"/>
              <a:t>      BAR_X_R = H_SYNC_START + 605, // right boundary   </a:t>
            </a:r>
            <a:endParaRPr lang="en-US" altLang="zh-CN" dirty="0"/>
          </a:p>
          <a:p>
            <a:r>
              <a:rPr lang="en-US" altLang="zh-CN" dirty="0"/>
              <a:t>      BAR_Y_SIZE = 70,              // bar </a:t>
            </a:r>
            <a:r>
              <a:rPr lang="zh-CN" altLang="en-US" dirty="0"/>
              <a:t>的高度</a:t>
            </a:r>
            <a:endParaRPr lang="zh-CN" altLang="en-US" dirty="0"/>
          </a:p>
          <a:p>
            <a:r>
              <a:rPr lang="zh-CN" altLang="en-US" dirty="0"/>
              <a:t>      </a:t>
            </a:r>
            <a:r>
              <a:rPr lang="en-US" altLang="zh-CN" dirty="0"/>
              <a:t>BAR_Y_T = V_SYNC_START + MAX_Y/2 - BAR_Y_SIZE/2, //Top=204 </a:t>
            </a:r>
            <a:endParaRPr lang="en-US" altLang="zh-CN" dirty="0"/>
          </a:p>
          <a:p>
            <a:r>
              <a:rPr lang="en-US" altLang="zh-CN" dirty="0"/>
              <a:t>      BAR_Y_B = BAR_Y_T + BAR_Y_SIZE -1, // bottom boundary </a:t>
            </a:r>
            <a:endParaRPr lang="en-US" altLang="zh-CN" dirty="0"/>
          </a:p>
          <a:p>
            <a:r>
              <a:rPr lang="en-US" altLang="zh-CN" dirty="0"/>
              <a:t>      BAR_V = 4,                    // </a:t>
            </a:r>
            <a:r>
              <a:rPr lang="zh-CN" altLang="en-US" dirty="0"/>
              <a:t>每次移动 </a:t>
            </a:r>
            <a:r>
              <a:rPr lang="en-US" altLang="zh-CN" dirty="0"/>
              <a:t>bar </a:t>
            </a:r>
            <a:r>
              <a:rPr lang="zh-CN" altLang="en-US" dirty="0"/>
              <a:t>的距离  </a:t>
            </a:r>
            <a:endParaRPr lang="zh-CN" altLang="en-US" dirty="0"/>
          </a:p>
          <a:p>
            <a:r>
              <a:rPr lang="zh-CN" altLang="en-US" dirty="0"/>
              <a:t>      </a:t>
            </a:r>
            <a:r>
              <a:rPr lang="en-US" altLang="zh-CN" dirty="0"/>
              <a:t>// === ball ===</a:t>
            </a:r>
            <a:endParaRPr lang="en-US" altLang="zh-CN" dirty="0"/>
          </a:p>
          <a:p>
            <a:r>
              <a:rPr lang="en-US" altLang="zh-CN" dirty="0"/>
              <a:t>      BALL_SIZE = 8, </a:t>
            </a:r>
            <a:endParaRPr lang="en-US" altLang="zh-CN" dirty="0"/>
          </a:p>
          <a:p>
            <a:r>
              <a:rPr lang="en-US" altLang="zh-CN" dirty="0"/>
              <a:t>      BALL_X_L = H_SYNC_START + 580,       // left boundary </a:t>
            </a:r>
            <a:endParaRPr lang="en-US" altLang="zh-CN" dirty="0"/>
          </a:p>
          <a:p>
            <a:r>
              <a:rPr lang="en-US" altLang="zh-CN" dirty="0"/>
              <a:t>      BALL_X_R = BALL_X_L + BALL_SIZE - 1, // right boundary </a:t>
            </a:r>
            <a:endParaRPr lang="en-US" altLang="zh-CN" dirty="0"/>
          </a:p>
          <a:p>
            <a:r>
              <a:rPr lang="en-US" altLang="zh-CN" dirty="0"/>
              <a:t>      BALL_Y_T = V_SYNC_START + MAX_Y/2 -BALL_SIZE/2,//top boundary </a:t>
            </a:r>
            <a:endParaRPr lang="en-US" altLang="zh-CN" dirty="0"/>
          </a:p>
          <a:p>
            <a:r>
              <a:rPr lang="en-US" altLang="zh-CN" dirty="0"/>
              <a:t>      BALL_Y_B = BALL_Y_T + BALL_SIZE - 1,       // bottom boundary </a:t>
            </a:r>
            <a:endParaRPr lang="en-US" altLang="zh-CN" dirty="0"/>
          </a:p>
          <a:p>
            <a:r>
              <a:rPr lang="en-US" altLang="zh-CN" dirty="0"/>
              <a:t>      BALL_V = 2;                          // </a:t>
            </a:r>
            <a:r>
              <a:rPr lang="zh-CN" altLang="en-US" dirty="0"/>
              <a:t>每次移动 </a:t>
            </a:r>
            <a:r>
              <a:rPr lang="en-US" altLang="zh-CN" dirty="0"/>
              <a:t>ball </a:t>
            </a:r>
            <a:r>
              <a:rPr lang="zh-CN" altLang="en-US" dirty="0"/>
              <a:t>的距离</a:t>
            </a:r>
            <a:endParaRPr lang="zh-CN" altLang="en-US" dirty="0"/>
          </a:p>
          <a:p>
            <a:r>
              <a:rPr lang="zh-CN" altLang="en-US" dirty="0"/>
              <a:t>         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logic </a:t>
            </a:r>
            <a:r>
              <a:rPr lang="en-US" altLang="zh-CN" dirty="0" err="1"/>
              <a:t>wallOn</a:t>
            </a:r>
            <a:r>
              <a:rPr lang="en-US" altLang="zh-CN" dirty="0"/>
              <a:t>, </a:t>
            </a:r>
            <a:r>
              <a:rPr lang="en-US" altLang="zh-CN" dirty="0" err="1"/>
              <a:t>barOn</a:t>
            </a:r>
            <a:r>
              <a:rPr lang="en-US" altLang="zh-CN" dirty="0"/>
              <a:t>, </a:t>
            </a:r>
            <a:r>
              <a:rPr lang="en-US" altLang="zh-CN" dirty="0" err="1"/>
              <a:t>ballOn</a:t>
            </a:r>
            <a:r>
              <a:rPr lang="en-US" altLang="zh-CN" dirty="0"/>
              <a:t>, </a:t>
            </a:r>
            <a:r>
              <a:rPr lang="en-US" altLang="zh-CN" dirty="0" err="1"/>
              <a:t>picOn</a:t>
            </a:r>
            <a:r>
              <a:rPr lang="en-US" altLang="zh-CN" dirty="0"/>
              <a:t>; </a:t>
            </a:r>
            <a:endParaRPr lang="en-US" altLang="zh-CN" dirty="0"/>
          </a:p>
          <a:p>
            <a:r>
              <a:rPr lang="en-US" altLang="zh-CN" dirty="0"/>
              <a:t>    logic [3:0] </a:t>
            </a:r>
            <a:r>
              <a:rPr lang="en-US" altLang="zh-CN" dirty="0" err="1"/>
              <a:t>wall_r</a:t>
            </a:r>
            <a:r>
              <a:rPr lang="en-US" altLang="zh-CN" dirty="0"/>
              <a:t>, </a:t>
            </a:r>
            <a:r>
              <a:rPr lang="en-US" altLang="zh-CN" dirty="0" err="1"/>
              <a:t>wall_g</a:t>
            </a:r>
            <a:r>
              <a:rPr lang="en-US" altLang="zh-CN" dirty="0"/>
              <a:t>, </a:t>
            </a:r>
            <a:r>
              <a:rPr lang="en-US" altLang="zh-CN" dirty="0" err="1"/>
              <a:t>wall_b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logic [3:0] </a:t>
            </a:r>
            <a:r>
              <a:rPr lang="en-US" altLang="zh-CN" dirty="0" err="1"/>
              <a:t>bar_r</a:t>
            </a:r>
            <a:r>
              <a:rPr lang="en-US" altLang="zh-CN" dirty="0"/>
              <a:t>,  </a:t>
            </a:r>
            <a:r>
              <a:rPr lang="en-US" altLang="zh-CN" dirty="0" err="1"/>
              <a:t>bar_g</a:t>
            </a:r>
            <a:r>
              <a:rPr lang="en-US" altLang="zh-CN" dirty="0"/>
              <a:t>,  </a:t>
            </a:r>
            <a:r>
              <a:rPr lang="en-US" altLang="zh-CN" dirty="0" err="1"/>
              <a:t>bar_b</a:t>
            </a:r>
            <a:r>
              <a:rPr lang="en-US" altLang="zh-CN" dirty="0"/>
              <a:t>; </a:t>
            </a:r>
            <a:endParaRPr lang="en-US" altLang="zh-CN" dirty="0"/>
          </a:p>
          <a:p>
            <a:r>
              <a:rPr lang="en-US" altLang="zh-CN" dirty="0"/>
              <a:t>    logic [3:0] </a:t>
            </a:r>
            <a:r>
              <a:rPr lang="en-US" altLang="zh-CN" dirty="0" err="1"/>
              <a:t>ball_r</a:t>
            </a:r>
            <a:r>
              <a:rPr lang="en-US" altLang="zh-CN" dirty="0"/>
              <a:t>, </a:t>
            </a:r>
            <a:r>
              <a:rPr lang="en-US" altLang="zh-CN" dirty="0" err="1"/>
              <a:t>ball_g</a:t>
            </a:r>
            <a:r>
              <a:rPr lang="en-US" altLang="zh-CN" dirty="0"/>
              <a:t>, </a:t>
            </a:r>
            <a:r>
              <a:rPr lang="en-US" altLang="zh-CN" dirty="0" err="1"/>
              <a:t>ball_b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logic [3:0] </a:t>
            </a:r>
            <a:r>
              <a:rPr lang="en-US" altLang="zh-CN" dirty="0" err="1"/>
              <a:t>pic_r</a:t>
            </a:r>
            <a:r>
              <a:rPr lang="en-US" altLang="zh-CN" dirty="0"/>
              <a:t>,  </a:t>
            </a:r>
            <a:r>
              <a:rPr lang="en-US" altLang="zh-CN" dirty="0" err="1"/>
              <a:t>pic_g</a:t>
            </a:r>
            <a:r>
              <a:rPr lang="en-US" altLang="zh-CN" dirty="0"/>
              <a:t>,  </a:t>
            </a:r>
            <a:r>
              <a:rPr lang="en-US" altLang="zh-CN" dirty="0" err="1"/>
              <a:t>pic_b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  </a:t>
            </a:r>
            <a:endParaRPr lang="en-US" altLang="zh-CN" dirty="0"/>
          </a:p>
          <a:p>
            <a:r>
              <a:rPr lang="en-US" altLang="zh-CN" dirty="0"/>
              <a:t>    // (wall) : pixel within wall 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wallOn</a:t>
            </a:r>
            <a:r>
              <a:rPr lang="en-US" altLang="zh-CN" dirty="0"/>
              <a:t> = (WALL_X_L &lt;= </a:t>
            </a:r>
            <a:r>
              <a:rPr lang="en-US" altLang="zh-CN" dirty="0" err="1"/>
              <a:t>pix_x</a:t>
            </a:r>
            <a:r>
              <a:rPr lang="en-US" altLang="zh-CN" dirty="0"/>
              <a:t>) &amp;&amp; (</a:t>
            </a:r>
            <a:r>
              <a:rPr lang="en-US" altLang="zh-CN" dirty="0" err="1"/>
              <a:t>pix_x</a:t>
            </a:r>
            <a:r>
              <a:rPr lang="en-US" altLang="zh-CN" dirty="0"/>
              <a:t> &lt;= WALL_X_R); 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wall_r</a:t>
            </a:r>
            <a:r>
              <a:rPr lang="en-US" altLang="zh-CN" dirty="0"/>
              <a:t> = 4'b0000; 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wall_g</a:t>
            </a:r>
            <a:r>
              <a:rPr lang="en-US" altLang="zh-CN" dirty="0"/>
              <a:t> = 4'b0000; 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wall_b</a:t>
            </a:r>
            <a:r>
              <a:rPr lang="en-US" altLang="zh-CN" dirty="0"/>
              <a:t> = 4'b1111; // blue</a:t>
            </a:r>
            <a:endParaRPr lang="en-US" altLang="zh-CN" dirty="0"/>
          </a:p>
          <a:p>
            <a:r>
              <a:rPr lang="en-US" altLang="zh-CN" dirty="0"/>
              <a:t>    </a:t>
            </a:r>
            <a:endParaRPr lang="en-US" altLang="zh-CN" dirty="0"/>
          </a:p>
          <a:p>
            <a:r>
              <a:rPr lang="en-US" altLang="zh-CN" dirty="0"/>
              <a:t>    // (bar) :  pixel within bar </a:t>
            </a:r>
            <a:endParaRPr lang="en-US" altLang="zh-CN" dirty="0"/>
          </a:p>
          <a:p>
            <a:r>
              <a:rPr lang="en-US" altLang="zh-CN" dirty="0"/>
              <a:t>    logic [10:0] </a:t>
            </a:r>
            <a:r>
              <a:rPr lang="en-US" altLang="zh-CN" dirty="0" err="1"/>
              <a:t>bar_y_t</a:t>
            </a:r>
            <a:r>
              <a:rPr lang="en-US" altLang="zh-CN" dirty="0"/>
              <a:t>, </a:t>
            </a:r>
            <a:r>
              <a:rPr lang="en-US" altLang="zh-CN" dirty="0" err="1"/>
              <a:t>bar_y_b</a:t>
            </a:r>
            <a:r>
              <a:rPr lang="en-US" altLang="zh-CN" dirty="0"/>
              <a:t>; // bar top, bottom boundary</a:t>
            </a:r>
            <a:endParaRPr lang="en-US" altLang="zh-CN" dirty="0"/>
          </a:p>
          <a:p>
            <a:r>
              <a:rPr lang="en-US" altLang="zh-CN" dirty="0"/>
              <a:t>    </a:t>
            </a:r>
            <a:endParaRPr lang="en-US" altLang="zh-CN" dirty="0"/>
          </a:p>
          <a:p>
            <a:r>
              <a:rPr lang="en-US" altLang="zh-CN" dirty="0"/>
              <a:t>    // new bar y-position </a:t>
            </a:r>
            <a:endParaRPr lang="en-US" altLang="zh-CN" dirty="0"/>
          </a:p>
          <a:p>
            <a:r>
              <a:rPr lang="en-US" altLang="zh-CN" dirty="0"/>
              <a:t>    always @(posedge </a:t>
            </a:r>
            <a:r>
              <a:rPr lang="en-US" altLang="zh-CN" dirty="0" err="1"/>
              <a:t>clk</a:t>
            </a:r>
            <a:r>
              <a:rPr lang="en-US" altLang="zh-CN" dirty="0"/>
              <a:t>, </a:t>
            </a:r>
            <a:r>
              <a:rPr lang="en-US" altLang="zh-CN" dirty="0" err="1"/>
              <a:t>posedge</a:t>
            </a:r>
            <a:r>
              <a:rPr lang="en-US" altLang="zh-CN" dirty="0"/>
              <a:t> reset)</a:t>
            </a:r>
            <a:endParaRPr lang="en-US" altLang="zh-CN" dirty="0"/>
          </a:p>
          <a:p>
            <a:r>
              <a:rPr lang="en-US" altLang="zh-CN" dirty="0"/>
              <a:t>    begin</a:t>
            </a:r>
            <a:endParaRPr lang="en-US" altLang="zh-CN" dirty="0"/>
          </a:p>
          <a:p>
            <a:r>
              <a:rPr lang="en-US" altLang="zh-CN" dirty="0"/>
              <a:t>        if (reset)</a:t>
            </a:r>
            <a:endParaRPr lang="en-US" altLang="zh-CN" dirty="0"/>
          </a:p>
          <a:p>
            <a:r>
              <a:rPr lang="en-US" altLang="zh-CN" dirty="0"/>
              <a:t>        begin</a:t>
            </a:r>
            <a:endParaRPr lang="en-US" altLang="zh-CN" dirty="0"/>
          </a:p>
          <a:p>
            <a:r>
              <a:rPr lang="en-US" altLang="zh-CN" dirty="0"/>
              <a:t>            </a:t>
            </a:r>
            <a:r>
              <a:rPr lang="en-US" altLang="zh-CN" dirty="0" err="1"/>
              <a:t>bar_y_t</a:t>
            </a:r>
            <a:r>
              <a:rPr lang="en-US" altLang="zh-CN" dirty="0"/>
              <a:t> &lt;= BAR_Y_T;</a:t>
            </a:r>
            <a:endParaRPr lang="en-US" altLang="zh-CN" dirty="0"/>
          </a:p>
          <a:p>
            <a:r>
              <a:rPr lang="en-US" altLang="zh-CN" dirty="0"/>
              <a:t>        end</a:t>
            </a:r>
            <a:endParaRPr lang="en-US" altLang="zh-CN" dirty="0"/>
          </a:p>
          <a:p>
            <a:r>
              <a:rPr lang="en-US" altLang="zh-CN" dirty="0"/>
              <a:t>        else if (</a:t>
            </a:r>
            <a:r>
              <a:rPr lang="en-US" altLang="zh-CN" dirty="0" err="1"/>
              <a:t>btnDown</a:t>
            </a:r>
            <a:r>
              <a:rPr lang="en-US" altLang="zh-CN" dirty="0"/>
              <a:t> &amp; (</a:t>
            </a:r>
            <a:r>
              <a:rPr lang="en-US" altLang="zh-CN" dirty="0" err="1"/>
              <a:t>bar_y_b</a:t>
            </a:r>
            <a:r>
              <a:rPr lang="en-US" altLang="zh-CN" dirty="0"/>
              <a:t> &lt;= (V_SYNC_START+MAX_Y-1-BAR_V))) </a:t>
            </a:r>
            <a:endParaRPr lang="en-US" altLang="zh-CN" dirty="0"/>
          </a:p>
          <a:p>
            <a:r>
              <a:rPr lang="en-US" altLang="zh-CN" dirty="0"/>
              <a:t>            </a:t>
            </a:r>
            <a:r>
              <a:rPr lang="en-US" altLang="zh-CN" dirty="0" err="1"/>
              <a:t>bar_y_t</a:t>
            </a:r>
            <a:r>
              <a:rPr lang="en-US" altLang="zh-CN" dirty="0"/>
              <a:t> &lt;= </a:t>
            </a:r>
            <a:r>
              <a:rPr lang="en-US" altLang="zh-CN" dirty="0" err="1"/>
              <a:t>bar_y_t</a:t>
            </a:r>
            <a:r>
              <a:rPr lang="en-US" altLang="zh-CN" dirty="0"/>
              <a:t> + BAR_V; // move down </a:t>
            </a:r>
            <a:endParaRPr lang="en-US" altLang="zh-CN" dirty="0"/>
          </a:p>
          <a:p>
            <a:r>
              <a:rPr lang="en-US" altLang="zh-CN" dirty="0"/>
              <a:t>        else if (</a:t>
            </a:r>
            <a:r>
              <a:rPr lang="en-US" altLang="zh-CN" dirty="0" err="1"/>
              <a:t>btnUp</a:t>
            </a:r>
            <a:r>
              <a:rPr lang="en-US" altLang="zh-CN" dirty="0"/>
              <a:t> &amp; (</a:t>
            </a:r>
            <a:r>
              <a:rPr lang="en-US" altLang="zh-CN" dirty="0" err="1"/>
              <a:t>bar_y_t</a:t>
            </a:r>
            <a:r>
              <a:rPr lang="en-US" altLang="zh-CN" dirty="0"/>
              <a:t> &gt;= (V_SYNC_START+BAR_V)))</a:t>
            </a:r>
            <a:endParaRPr lang="en-US" altLang="zh-CN" dirty="0"/>
          </a:p>
          <a:p>
            <a:r>
              <a:rPr lang="en-US" altLang="zh-CN" dirty="0"/>
              <a:t>            </a:t>
            </a:r>
            <a:r>
              <a:rPr lang="en-US" altLang="zh-CN" dirty="0" err="1"/>
              <a:t>bar_y_t</a:t>
            </a:r>
            <a:r>
              <a:rPr lang="en-US" altLang="zh-CN" dirty="0"/>
              <a:t> &lt;= </a:t>
            </a:r>
            <a:r>
              <a:rPr lang="en-US" altLang="zh-CN" dirty="0" err="1"/>
              <a:t>bar_y_t</a:t>
            </a:r>
            <a:r>
              <a:rPr lang="en-US" altLang="zh-CN" dirty="0"/>
              <a:t> - BAR_V; // move up </a:t>
            </a:r>
            <a:endParaRPr lang="en-US" altLang="zh-CN" dirty="0"/>
          </a:p>
          <a:p>
            <a:r>
              <a:rPr lang="en-US" altLang="zh-CN" dirty="0"/>
              <a:t>    end     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bar_y_b</a:t>
            </a:r>
            <a:r>
              <a:rPr lang="en-US" altLang="zh-CN" dirty="0"/>
              <a:t> = </a:t>
            </a:r>
            <a:r>
              <a:rPr lang="en-US" altLang="zh-CN" dirty="0" err="1"/>
              <a:t>bar_y_t</a:t>
            </a:r>
            <a:r>
              <a:rPr lang="en-US" altLang="zh-CN" dirty="0"/>
              <a:t> + BAR_Y_SIZE - 1;</a:t>
            </a:r>
            <a:endParaRPr lang="en-US" altLang="zh-CN" dirty="0"/>
          </a:p>
          <a:p>
            <a:r>
              <a:rPr lang="en-US" altLang="zh-CN" dirty="0"/>
              <a:t>    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barOn</a:t>
            </a:r>
            <a:r>
              <a:rPr lang="en-US" altLang="zh-CN" dirty="0"/>
              <a:t> = ((BAR_X_L&lt;=</a:t>
            </a:r>
            <a:r>
              <a:rPr lang="en-US" altLang="zh-CN" dirty="0" err="1"/>
              <a:t>pix_x</a:t>
            </a:r>
            <a:r>
              <a:rPr lang="en-US" altLang="zh-CN" dirty="0"/>
              <a:t>) &amp;&amp; (</a:t>
            </a:r>
            <a:r>
              <a:rPr lang="en-US" altLang="zh-CN" dirty="0" err="1"/>
              <a:t>pix_x</a:t>
            </a:r>
            <a:r>
              <a:rPr lang="en-US" altLang="zh-CN" dirty="0"/>
              <a:t>&lt;=BAR_X_R) &amp;&amp;</a:t>
            </a:r>
            <a:endParaRPr lang="en-US" altLang="zh-CN" dirty="0"/>
          </a:p>
          <a:p>
            <a:r>
              <a:rPr lang="en-US" altLang="zh-CN" dirty="0"/>
              <a:t>                    (</a:t>
            </a:r>
            <a:r>
              <a:rPr lang="en-US" altLang="zh-CN" dirty="0" err="1"/>
              <a:t>bar_y_t</a:t>
            </a:r>
            <a:r>
              <a:rPr lang="en-US" altLang="zh-CN" dirty="0"/>
              <a:t>&lt;=</a:t>
            </a:r>
            <a:r>
              <a:rPr lang="en-US" altLang="zh-CN" dirty="0" err="1"/>
              <a:t>pix_y</a:t>
            </a:r>
            <a:r>
              <a:rPr lang="en-US" altLang="zh-CN" dirty="0"/>
              <a:t>) &amp;&amp; (</a:t>
            </a:r>
            <a:r>
              <a:rPr lang="en-US" altLang="zh-CN" dirty="0" err="1"/>
              <a:t>pix_y</a:t>
            </a:r>
            <a:r>
              <a:rPr lang="en-US" altLang="zh-CN" dirty="0"/>
              <a:t>&lt;=</a:t>
            </a:r>
            <a:r>
              <a:rPr lang="en-US" altLang="zh-CN" dirty="0" err="1"/>
              <a:t>bar_y_b</a:t>
            </a:r>
            <a:r>
              <a:rPr lang="en-US" altLang="zh-CN" dirty="0"/>
              <a:t>)); //</a:t>
            </a:r>
            <a:r>
              <a:rPr lang="zh-CN" altLang="en-US" dirty="0"/>
              <a:t>变量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assign </a:t>
            </a:r>
            <a:r>
              <a:rPr lang="en-US" altLang="zh-CN" dirty="0" err="1"/>
              <a:t>bar_r</a:t>
            </a:r>
            <a:r>
              <a:rPr lang="en-US" altLang="zh-CN" dirty="0"/>
              <a:t> = 4'b0000; 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bar_g</a:t>
            </a:r>
            <a:r>
              <a:rPr lang="en-US" altLang="zh-CN" dirty="0"/>
              <a:t> = 4'b1111; // green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bar_b</a:t>
            </a:r>
            <a:r>
              <a:rPr lang="en-US" altLang="zh-CN" dirty="0"/>
              <a:t> = 4'b0000; </a:t>
            </a:r>
            <a:endParaRPr lang="en-US" altLang="zh-CN" dirty="0"/>
          </a:p>
          <a:p>
            <a:r>
              <a:rPr lang="en-US" altLang="zh-CN" dirty="0"/>
              <a:t>/*       </a:t>
            </a:r>
            <a:endParaRPr lang="en-US" altLang="zh-CN" dirty="0"/>
          </a:p>
          <a:p>
            <a:r>
              <a:rPr lang="en-US" altLang="zh-CN" dirty="0"/>
              <a:t>    // (ball): pixel within squared ball 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ballOn</a:t>
            </a:r>
            <a:r>
              <a:rPr lang="en-US" altLang="zh-CN" dirty="0"/>
              <a:t> = ((BALL_X_L&lt;=</a:t>
            </a:r>
            <a:r>
              <a:rPr lang="en-US" altLang="zh-CN" dirty="0" err="1"/>
              <a:t>pix_x</a:t>
            </a:r>
            <a:r>
              <a:rPr lang="en-US" altLang="zh-CN" dirty="0"/>
              <a:t>) &amp;&amp; (</a:t>
            </a:r>
            <a:r>
              <a:rPr lang="en-US" altLang="zh-CN" dirty="0" err="1"/>
              <a:t>pix_x</a:t>
            </a:r>
            <a:r>
              <a:rPr lang="en-US" altLang="zh-CN" dirty="0"/>
              <a:t>&lt;=BALL_X_R) &amp;&amp; </a:t>
            </a:r>
            <a:endParaRPr lang="en-US" altLang="zh-CN" dirty="0"/>
          </a:p>
          <a:p>
            <a:r>
              <a:rPr lang="en-US" altLang="zh-CN" dirty="0"/>
              <a:t>                     (BALL_Y_T&lt;=</a:t>
            </a:r>
            <a:r>
              <a:rPr lang="en-US" altLang="zh-CN" dirty="0" err="1"/>
              <a:t>pix_y</a:t>
            </a:r>
            <a:r>
              <a:rPr lang="en-US" altLang="zh-CN" dirty="0"/>
              <a:t>) &amp;&amp; (</a:t>
            </a:r>
            <a:r>
              <a:rPr lang="en-US" altLang="zh-CN" dirty="0" err="1"/>
              <a:t>pix_y</a:t>
            </a:r>
            <a:r>
              <a:rPr lang="en-US" altLang="zh-CN" dirty="0"/>
              <a:t>&lt;=BALL_Y_B));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ball_r</a:t>
            </a:r>
            <a:r>
              <a:rPr lang="en-US" altLang="zh-CN" dirty="0"/>
              <a:t> = 4'b1111; // red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ball_g</a:t>
            </a:r>
            <a:r>
              <a:rPr lang="en-US" altLang="zh-CN" dirty="0"/>
              <a:t> = 4'b0000; 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ball_b</a:t>
            </a:r>
            <a:r>
              <a:rPr lang="en-US" altLang="zh-CN" dirty="0"/>
              <a:t> = 4'b0000; </a:t>
            </a:r>
            <a:endParaRPr lang="en-US" altLang="zh-CN" dirty="0"/>
          </a:p>
          <a:p>
            <a:r>
              <a:rPr lang="en-US" altLang="zh-CN" dirty="0"/>
              <a:t>*/    </a:t>
            </a:r>
            <a:endParaRPr lang="en-US" altLang="zh-CN" dirty="0"/>
          </a:p>
          <a:p>
            <a:r>
              <a:rPr lang="en-US" altLang="zh-CN" dirty="0"/>
              <a:t>    // </a:t>
            </a:r>
            <a:r>
              <a:rPr lang="zh-CN" altLang="en-US" dirty="0"/>
              <a:t>（</a:t>
            </a:r>
            <a:r>
              <a:rPr lang="en-US" altLang="zh-CN" dirty="0"/>
              <a:t>round ball</a:t>
            </a:r>
            <a:r>
              <a:rPr lang="zh-CN" altLang="en-US" dirty="0"/>
              <a:t>）    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logic [10:0] </a:t>
            </a:r>
            <a:r>
              <a:rPr lang="en-US" altLang="zh-CN" dirty="0" err="1"/>
              <a:t>ball_x_l</a:t>
            </a:r>
            <a:r>
              <a:rPr lang="en-US" altLang="zh-CN" dirty="0"/>
              <a:t>, </a:t>
            </a:r>
            <a:r>
              <a:rPr lang="en-US" altLang="zh-CN" dirty="0" err="1"/>
              <a:t>ball_x_r</a:t>
            </a:r>
            <a:r>
              <a:rPr lang="en-US" altLang="zh-CN" dirty="0"/>
              <a:t>; // ball left, right boundary</a:t>
            </a:r>
            <a:endParaRPr lang="en-US" altLang="zh-CN" dirty="0"/>
          </a:p>
          <a:p>
            <a:r>
              <a:rPr lang="en-US" altLang="zh-CN" dirty="0"/>
              <a:t>    logic [10:0] </a:t>
            </a:r>
            <a:r>
              <a:rPr lang="en-US" altLang="zh-CN" dirty="0" err="1"/>
              <a:t>ball_y_t</a:t>
            </a:r>
            <a:r>
              <a:rPr lang="en-US" altLang="zh-CN" dirty="0"/>
              <a:t>, </a:t>
            </a:r>
            <a:r>
              <a:rPr lang="en-US" altLang="zh-CN" dirty="0" err="1"/>
              <a:t>ball_y_b</a:t>
            </a:r>
            <a:r>
              <a:rPr lang="en-US" altLang="zh-CN" dirty="0"/>
              <a:t>; // ball top, bottom boundary</a:t>
            </a:r>
            <a:endParaRPr lang="en-US" altLang="zh-CN" dirty="0"/>
          </a:p>
          <a:p>
            <a:r>
              <a:rPr lang="en-US" altLang="zh-CN" dirty="0"/>
              <a:t>    logic [10:0] </a:t>
            </a:r>
            <a:r>
              <a:rPr lang="en-US" altLang="zh-CN" dirty="0" err="1"/>
              <a:t>ball_dx</a:t>
            </a:r>
            <a:r>
              <a:rPr lang="en-US" altLang="zh-CN" dirty="0"/>
              <a:t> , </a:t>
            </a:r>
            <a:r>
              <a:rPr lang="en-US" altLang="zh-CN" dirty="0" err="1"/>
              <a:t>ball_dy</a:t>
            </a:r>
            <a:r>
              <a:rPr lang="en-US" altLang="zh-CN" dirty="0"/>
              <a:t> ; // ball x, y </a:t>
            </a:r>
            <a:r>
              <a:rPr lang="zh-CN" altLang="en-US" dirty="0"/>
              <a:t>增量 </a:t>
            </a:r>
            <a:endParaRPr lang="zh-CN" altLang="en-US" dirty="0"/>
          </a:p>
          <a:p>
            <a:r>
              <a:rPr lang="zh-CN" altLang="en-US" dirty="0"/>
              <a:t>        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// new ball </a:t>
            </a:r>
            <a:r>
              <a:rPr lang="en-US" altLang="zh-CN" dirty="0" err="1"/>
              <a:t>x,y</a:t>
            </a:r>
            <a:r>
              <a:rPr lang="en-US" altLang="zh-CN" dirty="0"/>
              <a:t>-position </a:t>
            </a:r>
            <a:endParaRPr lang="en-US" altLang="zh-CN" dirty="0"/>
          </a:p>
          <a:p>
            <a:r>
              <a:rPr lang="en-US" altLang="zh-CN" dirty="0"/>
              <a:t>    always @(posedge </a:t>
            </a:r>
            <a:r>
              <a:rPr lang="en-US" altLang="zh-CN" dirty="0" err="1"/>
              <a:t>clk</a:t>
            </a:r>
            <a:r>
              <a:rPr lang="en-US" altLang="zh-CN" dirty="0"/>
              <a:t>, </a:t>
            </a:r>
            <a:r>
              <a:rPr lang="en-US" altLang="zh-CN" dirty="0" err="1"/>
              <a:t>posedge</a:t>
            </a:r>
            <a:r>
              <a:rPr lang="en-US" altLang="zh-CN" dirty="0"/>
              <a:t> reset)    begin</a:t>
            </a:r>
            <a:endParaRPr lang="en-US" altLang="zh-CN" dirty="0"/>
          </a:p>
          <a:p>
            <a:r>
              <a:rPr lang="en-US" altLang="zh-CN" dirty="0"/>
              <a:t>        if (reset)   begin</a:t>
            </a:r>
            <a:endParaRPr lang="en-US" altLang="zh-CN" dirty="0"/>
          </a:p>
          <a:p>
            <a:r>
              <a:rPr lang="en-US" altLang="zh-CN" dirty="0"/>
              <a:t>            </a:t>
            </a:r>
            <a:r>
              <a:rPr lang="en-US" altLang="zh-CN" dirty="0" err="1"/>
              <a:t>ball_x_l</a:t>
            </a:r>
            <a:r>
              <a:rPr lang="en-US" altLang="zh-CN" dirty="0"/>
              <a:t> &lt;= BALL_X_L;</a:t>
            </a:r>
            <a:endParaRPr lang="en-US" altLang="zh-CN" dirty="0"/>
          </a:p>
          <a:p>
            <a:r>
              <a:rPr lang="en-US" altLang="zh-CN" dirty="0"/>
              <a:t>            </a:t>
            </a:r>
            <a:r>
              <a:rPr lang="en-US" altLang="zh-CN" dirty="0" err="1"/>
              <a:t>ball_y_t</a:t>
            </a:r>
            <a:r>
              <a:rPr lang="en-US" altLang="zh-CN" dirty="0"/>
              <a:t> &lt;= BALL_Y_T;</a:t>
            </a:r>
            <a:endParaRPr lang="en-US" altLang="zh-CN" dirty="0"/>
          </a:p>
          <a:p>
            <a:r>
              <a:rPr lang="en-US" altLang="zh-CN" dirty="0"/>
              <a:t>            </a:t>
            </a:r>
            <a:r>
              <a:rPr lang="en-US" altLang="zh-CN" dirty="0" err="1"/>
              <a:t>ball_dx</a:t>
            </a:r>
            <a:r>
              <a:rPr lang="en-US" altLang="zh-CN" dirty="0"/>
              <a:t>  &lt;= -1 * BALL_V;</a:t>
            </a:r>
            <a:endParaRPr lang="en-US" altLang="zh-CN" dirty="0"/>
          </a:p>
          <a:p>
            <a:r>
              <a:rPr lang="en-US" altLang="zh-CN" dirty="0"/>
              <a:t>            </a:t>
            </a:r>
            <a:r>
              <a:rPr lang="en-US" altLang="zh-CN" dirty="0" err="1"/>
              <a:t>ball_dy</a:t>
            </a:r>
            <a:r>
              <a:rPr lang="en-US" altLang="zh-CN" dirty="0"/>
              <a:t>  &lt;= -1 * BALL_V;</a:t>
            </a:r>
            <a:endParaRPr lang="en-US" altLang="zh-CN" dirty="0"/>
          </a:p>
          <a:p>
            <a:r>
              <a:rPr lang="en-US" altLang="zh-CN" dirty="0"/>
              <a:t>        end</a:t>
            </a:r>
            <a:endParaRPr lang="en-US" altLang="zh-CN" dirty="0"/>
          </a:p>
          <a:p>
            <a:r>
              <a:rPr lang="en-US" altLang="zh-CN" dirty="0"/>
              <a:t>        else   begin</a:t>
            </a:r>
            <a:endParaRPr lang="en-US" altLang="zh-CN" dirty="0"/>
          </a:p>
          <a:p>
            <a:r>
              <a:rPr lang="en-US" altLang="zh-CN" dirty="0"/>
              <a:t>            </a:t>
            </a:r>
            <a:r>
              <a:rPr lang="en-US" altLang="zh-CN" dirty="0" err="1"/>
              <a:t>ball_x_l</a:t>
            </a:r>
            <a:r>
              <a:rPr lang="en-US" altLang="zh-CN" dirty="0"/>
              <a:t> &lt;= </a:t>
            </a:r>
            <a:r>
              <a:rPr lang="en-US" altLang="zh-CN" dirty="0" err="1"/>
              <a:t>ball_x_l</a:t>
            </a:r>
            <a:r>
              <a:rPr lang="en-US" altLang="zh-CN" dirty="0"/>
              <a:t> + </a:t>
            </a:r>
            <a:r>
              <a:rPr lang="en-US" altLang="zh-CN" dirty="0" err="1"/>
              <a:t>ball_dx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        </a:t>
            </a:r>
            <a:r>
              <a:rPr lang="en-US" altLang="zh-CN" dirty="0" err="1"/>
              <a:t>ball_y_t</a:t>
            </a:r>
            <a:r>
              <a:rPr lang="en-US" altLang="zh-CN" dirty="0"/>
              <a:t> &lt;= </a:t>
            </a:r>
            <a:r>
              <a:rPr lang="en-US" altLang="zh-CN" dirty="0" err="1"/>
              <a:t>ball_y_t</a:t>
            </a:r>
            <a:r>
              <a:rPr lang="en-US" altLang="zh-CN" dirty="0"/>
              <a:t> + </a:t>
            </a:r>
            <a:r>
              <a:rPr lang="en-US" altLang="zh-CN" dirty="0" err="1"/>
              <a:t>ball_dy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        // ------------------ ball bounce back -----------------------</a:t>
            </a:r>
            <a:endParaRPr lang="en-US" altLang="zh-CN" dirty="0"/>
          </a:p>
          <a:p>
            <a:r>
              <a:rPr lang="en-US" altLang="zh-CN" dirty="0"/>
              <a:t>            if (</a:t>
            </a:r>
            <a:r>
              <a:rPr lang="en-US" altLang="zh-CN" dirty="0" err="1"/>
              <a:t>ball_y_t</a:t>
            </a:r>
            <a:r>
              <a:rPr lang="en-US" altLang="zh-CN" dirty="0"/>
              <a:t> &lt;= V_SYNC_START)              //reach top screen</a:t>
            </a:r>
            <a:endParaRPr lang="en-US" altLang="zh-CN" dirty="0"/>
          </a:p>
          <a:p>
            <a:r>
              <a:rPr lang="en-US" altLang="zh-CN" dirty="0"/>
              <a:t>                </a:t>
            </a:r>
            <a:r>
              <a:rPr lang="en-US" altLang="zh-CN" dirty="0" err="1"/>
              <a:t>ball_dy</a:t>
            </a:r>
            <a:r>
              <a:rPr lang="en-US" altLang="zh-CN" dirty="0"/>
              <a:t> &lt;= BALL_V;</a:t>
            </a:r>
            <a:endParaRPr lang="en-US" altLang="zh-CN" dirty="0"/>
          </a:p>
          <a:p>
            <a:r>
              <a:rPr lang="en-US" altLang="zh-CN" dirty="0"/>
              <a:t>            else if (</a:t>
            </a:r>
            <a:r>
              <a:rPr lang="en-US" altLang="zh-CN" dirty="0" err="1"/>
              <a:t>ball_y_b</a:t>
            </a:r>
            <a:r>
              <a:rPr lang="en-US" altLang="zh-CN" dirty="0"/>
              <a:t> &gt;= V_SYNC_START + MAX_Y) //reach bottom screen </a:t>
            </a:r>
            <a:endParaRPr lang="en-US" altLang="zh-CN" dirty="0"/>
          </a:p>
          <a:p>
            <a:r>
              <a:rPr lang="en-US" altLang="zh-CN" dirty="0"/>
              <a:t>                </a:t>
            </a:r>
            <a:r>
              <a:rPr lang="en-US" altLang="zh-CN" dirty="0" err="1"/>
              <a:t>ball_dy</a:t>
            </a:r>
            <a:r>
              <a:rPr lang="en-US" altLang="zh-CN" dirty="0"/>
              <a:t> &lt;= -1 * BALL_V;</a:t>
            </a:r>
            <a:endParaRPr lang="en-US" altLang="zh-CN" dirty="0"/>
          </a:p>
          <a:p>
            <a:r>
              <a:rPr lang="en-US" altLang="zh-CN" dirty="0"/>
              <a:t>            else if (</a:t>
            </a:r>
            <a:r>
              <a:rPr lang="en-US" altLang="zh-CN" dirty="0" err="1"/>
              <a:t>ball_x_l</a:t>
            </a:r>
            <a:r>
              <a:rPr lang="en-US" altLang="zh-CN" dirty="0"/>
              <a:t> &lt;= WALL_X_R)             //reach left wall </a:t>
            </a:r>
            <a:endParaRPr lang="en-US" altLang="zh-CN" dirty="0"/>
          </a:p>
          <a:p>
            <a:r>
              <a:rPr lang="en-US" altLang="zh-CN" dirty="0"/>
              <a:t>                </a:t>
            </a:r>
            <a:r>
              <a:rPr lang="en-US" altLang="zh-CN" dirty="0" err="1"/>
              <a:t>ball_dx</a:t>
            </a:r>
            <a:r>
              <a:rPr lang="en-US" altLang="zh-CN" dirty="0"/>
              <a:t> &lt;= BALL_V;                                       </a:t>
            </a:r>
            <a:endParaRPr lang="en-US" altLang="zh-CN" dirty="0"/>
          </a:p>
          <a:p>
            <a:r>
              <a:rPr lang="en-US" altLang="zh-CN" dirty="0"/>
              <a:t>            else if ((</a:t>
            </a:r>
            <a:r>
              <a:rPr lang="en-US" altLang="zh-CN" dirty="0" err="1"/>
              <a:t>ball_x_r</a:t>
            </a:r>
            <a:r>
              <a:rPr lang="en-US" altLang="zh-CN" dirty="0"/>
              <a:t> &gt;= BAR_X_L) &amp;&amp;          //reach right bar</a:t>
            </a:r>
            <a:endParaRPr lang="en-US" altLang="zh-CN" dirty="0"/>
          </a:p>
          <a:p>
            <a:r>
              <a:rPr lang="en-US" altLang="zh-CN" dirty="0"/>
              <a:t>                     (</a:t>
            </a:r>
            <a:r>
              <a:rPr lang="en-US" altLang="zh-CN" dirty="0" err="1"/>
              <a:t>ball_x_r</a:t>
            </a:r>
            <a:r>
              <a:rPr lang="en-US" altLang="zh-CN" dirty="0"/>
              <a:t> &lt;= BAR_X_R) &amp;&amp;   </a:t>
            </a:r>
            <a:endParaRPr lang="en-US" altLang="zh-CN" dirty="0"/>
          </a:p>
          <a:p>
            <a:r>
              <a:rPr lang="en-US" altLang="zh-CN" dirty="0"/>
              <a:t>                     (</a:t>
            </a:r>
            <a:r>
              <a:rPr lang="en-US" altLang="zh-CN" dirty="0" err="1"/>
              <a:t>ball_y_b</a:t>
            </a:r>
            <a:r>
              <a:rPr lang="en-US" altLang="zh-CN" dirty="0"/>
              <a:t> &gt;= </a:t>
            </a:r>
            <a:r>
              <a:rPr lang="en-US" altLang="zh-CN" dirty="0" err="1"/>
              <a:t>bar_y_t</a:t>
            </a:r>
            <a:r>
              <a:rPr lang="en-US" altLang="zh-CN" dirty="0"/>
              <a:t>) &amp;&amp;  (</a:t>
            </a:r>
            <a:r>
              <a:rPr lang="en-US" altLang="zh-CN" dirty="0" err="1"/>
              <a:t>ball_y_t</a:t>
            </a:r>
            <a:r>
              <a:rPr lang="en-US" altLang="zh-CN" dirty="0"/>
              <a:t> &lt;= </a:t>
            </a:r>
            <a:r>
              <a:rPr lang="en-US" altLang="zh-CN" dirty="0" err="1"/>
              <a:t>bar_y_b</a:t>
            </a:r>
            <a:r>
              <a:rPr lang="en-US" altLang="zh-CN" dirty="0"/>
              <a:t>))</a:t>
            </a:r>
            <a:endParaRPr lang="en-US" altLang="zh-CN" dirty="0"/>
          </a:p>
          <a:p>
            <a:r>
              <a:rPr lang="en-US" altLang="zh-CN" dirty="0"/>
              <a:t>                </a:t>
            </a:r>
            <a:r>
              <a:rPr lang="en-US" altLang="zh-CN" dirty="0" err="1"/>
              <a:t>ball_dx</a:t>
            </a:r>
            <a:r>
              <a:rPr lang="en-US" altLang="zh-CN" dirty="0"/>
              <a:t> &lt;= -1 * BALL_V;                             </a:t>
            </a:r>
            <a:endParaRPr lang="en-US" altLang="zh-CN" dirty="0"/>
          </a:p>
          <a:p>
            <a:r>
              <a:rPr lang="en-US" altLang="zh-CN" dirty="0"/>
              <a:t>            else if (</a:t>
            </a:r>
            <a:r>
              <a:rPr lang="en-US" altLang="zh-CN" dirty="0" err="1"/>
              <a:t>ball_x_r</a:t>
            </a:r>
            <a:r>
              <a:rPr lang="en-US" altLang="zh-CN" dirty="0"/>
              <a:t> &gt;= H_SYNC_START + MAX_X) //reach right screen</a:t>
            </a:r>
            <a:endParaRPr lang="en-US" altLang="zh-CN" dirty="0"/>
          </a:p>
          <a:p>
            <a:r>
              <a:rPr lang="en-US" altLang="zh-CN" dirty="0"/>
              <a:t>                </a:t>
            </a:r>
            <a:r>
              <a:rPr lang="en-US" altLang="zh-CN" dirty="0" err="1"/>
              <a:t>ball_dx</a:t>
            </a:r>
            <a:r>
              <a:rPr lang="en-US" altLang="zh-CN" dirty="0"/>
              <a:t> &lt;= -1 * BALL_V;             </a:t>
            </a:r>
            <a:endParaRPr lang="en-US" altLang="zh-CN" dirty="0"/>
          </a:p>
          <a:p>
            <a:r>
              <a:rPr lang="en-US" altLang="zh-CN" dirty="0"/>
              <a:t>        end</a:t>
            </a:r>
            <a:endParaRPr lang="en-US" altLang="zh-CN" dirty="0"/>
          </a:p>
          <a:p>
            <a:r>
              <a:rPr lang="en-US" altLang="zh-CN" dirty="0"/>
              <a:t>     end               </a:t>
            </a:r>
            <a:endParaRPr lang="en-US" altLang="zh-CN" dirty="0"/>
          </a:p>
          <a:p>
            <a:r>
              <a:rPr lang="en-US" altLang="zh-CN" dirty="0"/>
              <a:t>        </a:t>
            </a:r>
            <a:endParaRPr lang="en-US" altLang="zh-CN" dirty="0"/>
          </a:p>
          <a:p>
            <a:r>
              <a:rPr lang="en-US" altLang="zh-CN" dirty="0"/>
              <a:t>     assign </a:t>
            </a:r>
            <a:r>
              <a:rPr lang="en-US" altLang="zh-CN" dirty="0" err="1"/>
              <a:t>ball_x_r</a:t>
            </a:r>
            <a:r>
              <a:rPr lang="en-US" altLang="zh-CN" dirty="0"/>
              <a:t> = </a:t>
            </a:r>
            <a:r>
              <a:rPr lang="en-US" altLang="zh-CN" dirty="0" err="1"/>
              <a:t>ball_x_l</a:t>
            </a:r>
            <a:r>
              <a:rPr lang="en-US" altLang="zh-CN" dirty="0"/>
              <a:t> + BALL_SIZE - 1; </a:t>
            </a:r>
            <a:endParaRPr lang="en-US" altLang="zh-CN" dirty="0"/>
          </a:p>
          <a:p>
            <a:r>
              <a:rPr lang="en-US" altLang="zh-CN" dirty="0"/>
              <a:t>     assign </a:t>
            </a:r>
            <a:r>
              <a:rPr lang="en-US" altLang="zh-CN" dirty="0" err="1"/>
              <a:t>ball_y_b</a:t>
            </a:r>
            <a:r>
              <a:rPr lang="en-US" altLang="zh-CN" dirty="0"/>
              <a:t> = </a:t>
            </a:r>
            <a:r>
              <a:rPr lang="en-US" altLang="zh-CN" dirty="0" err="1"/>
              <a:t>ball_y_t</a:t>
            </a:r>
            <a:r>
              <a:rPr lang="en-US" altLang="zh-CN" dirty="0"/>
              <a:t> + BALL_SIZE - 1;</a:t>
            </a:r>
            <a:endParaRPr lang="en-US" altLang="zh-CN" dirty="0"/>
          </a:p>
          <a:p>
            <a:r>
              <a:rPr lang="en-US" altLang="zh-CN" dirty="0"/>
              <a:t>     </a:t>
            </a:r>
            <a:endParaRPr lang="en-US" altLang="zh-CN" dirty="0"/>
          </a:p>
          <a:p>
            <a:r>
              <a:rPr lang="en-US" altLang="zh-CN" dirty="0"/>
              <a:t>    logic [2:0] </a:t>
            </a:r>
            <a:r>
              <a:rPr lang="en-US" altLang="zh-CN" dirty="0" err="1"/>
              <a:t>rom_addr</a:t>
            </a:r>
            <a:r>
              <a:rPr lang="en-US" altLang="zh-CN" dirty="0"/>
              <a:t>, </a:t>
            </a:r>
            <a:r>
              <a:rPr lang="en-US" altLang="zh-CN" dirty="0" err="1"/>
              <a:t>rom_col</a:t>
            </a:r>
            <a:r>
              <a:rPr lang="en-US" altLang="zh-CN" dirty="0"/>
              <a:t>; // ROM</a:t>
            </a:r>
            <a:r>
              <a:rPr lang="zh-CN" altLang="en-US" dirty="0"/>
              <a:t>中</a:t>
            </a:r>
            <a:r>
              <a:rPr lang="en-US" altLang="zh-CN" dirty="0"/>
              <a:t>8</a:t>
            </a:r>
            <a:r>
              <a:rPr lang="zh-CN" altLang="en-US" dirty="0"/>
              <a:t>行、</a:t>
            </a:r>
            <a:r>
              <a:rPr lang="en-US" altLang="zh-CN" dirty="0"/>
              <a:t>8</a:t>
            </a:r>
            <a:r>
              <a:rPr lang="zh-CN" altLang="en-US" dirty="0"/>
              <a:t>列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logic </a:t>
            </a:r>
            <a:r>
              <a:rPr lang="en-US" altLang="zh-CN" dirty="0" err="1"/>
              <a:t>rom_bit</a:t>
            </a:r>
            <a:r>
              <a:rPr lang="en-US" altLang="zh-CN" dirty="0"/>
              <a:t>;                 // ROM</a:t>
            </a:r>
            <a:r>
              <a:rPr lang="zh-CN" altLang="en-US" dirty="0"/>
              <a:t>中每个像素值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logic [7:0] </a:t>
            </a:r>
            <a:r>
              <a:rPr lang="en-US" altLang="zh-CN" dirty="0" err="1"/>
              <a:t>rom_data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    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always_comb</a:t>
            </a:r>
            <a:r>
              <a:rPr lang="en-US" altLang="zh-CN" dirty="0"/>
              <a:t>       // image ROM </a:t>
            </a:r>
            <a:endParaRPr lang="en-US" altLang="zh-CN" dirty="0"/>
          </a:p>
          <a:p>
            <a:r>
              <a:rPr lang="en-US" altLang="zh-CN" dirty="0"/>
              <a:t>        case (</a:t>
            </a:r>
            <a:r>
              <a:rPr lang="en-US" altLang="zh-CN" dirty="0" err="1"/>
              <a:t>rom_addr</a:t>
            </a:r>
            <a:r>
              <a:rPr lang="en-US" altLang="zh-CN" dirty="0"/>
              <a:t>) </a:t>
            </a:r>
            <a:endParaRPr lang="en-US" altLang="zh-CN" dirty="0"/>
          </a:p>
          <a:p>
            <a:r>
              <a:rPr lang="en-US" altLang="zh-CN" dirty="0"/>
              <a:t>            3'h0: </a:t>
            </a:r>
            <a:r>
              <a:rPr lang="en-US" altLang="zh-CN" dirty="0" err="1"/>
              <a:t>rom_data</a:t>
            </a:r>
            <a:r>
              <a:rPr lang="en-US" altLang="zh-CN" dirty="0"/>
              <a:t> = 8'b0011_1100; //   **** </a:t>
            </a:r>
            <a:endParaRPr lang="en-US" altLang="zh-CN" dirty="0"/>
          </a:p>
          <a:p>
            <a:r>
              <a:rPr lang="en-US" altLang="zh-CN" dirty="0"/>
              <a:t>            3'h1: </a:t>
            </a:r>
            <a:r>
              <a:rPr lang="en-US" altLang="zh-CN" dirty="0" err="1"/>
              <a:t>rom_data</a:t>
            </a:r>
            <a:r>
              <a:rPr lang="en-US" altLang="zh-CN" dirty="0"/>
              <a:t> = 8'b0111_1110; //  ****** </a:t>
            </a:r>
            <a:endParaRPr lang="en-US" altLang="zh-CN" dirty="0"/>
          </a:p>
          <a:p>
            <a:r>
              <a:rPr lang="en-US" altLang="zh-CN" dirty="0"/>
              <a:t>            3'h2: </a:t>
            </a:r>
            <a:r>
              <a:rPr lang="en-US" altLang="zh-CN" dirty="0" err="1"/>
              <a:t>rom_data</a:t>
            </a:r>
            <a:r>
              <a:rPr lang="en-US" altLang="zh-CN" dirty="0"/>
              <a:t> = 8'b1111_1111; // ******** </a:t>
            </a:r>
            <a:endParaRPr lang="en-US" altLang="zh-CN" dirty="0"/>
          </a:p>
          <a:p>
            <a:r>
              <a:rPr lang="en-US" altLang="zh-CN" dirty="0"/>
              <a:t>            3'h3: </a:t>
            </a:r>
            <a:r>
              <a:rPr lang="en-US" altLang="zh-CN" dirty="0" err="1"/>
              <a:t>rom_data</a:t>
            </a:r>
            <a:r>
              <a:rPr lang="en-US" altLang="zh-CN" dirty="0"/>
              <a:t> = 8'b1111_1111; // ******** </a:t>
            </a:r>
            <a:endParaRPr lang="en-US" altLang="zh-CN" dirty="0"/>
          </a:p>
          <a:p>
            <a:r>
              <a:rPr lang="en-US" altLang="zh-CN" dirty="0"/>
              <a:t>            3'h4: </a:t>
            </a:r>
            <a:r>
              <a:rPr lang="en-US" altLang="zh-CN" dirty="0" err="1"/>
              <a:t>rom_data</a:t>
            </a:r>
            <a:r>
              <a:rPr lang="en-US" altLang="zh-CN" dirty="0"/>
              <a:t> = 8'b1111_1111; // ******** </a:t>
            </a:r>
            <a:endParaRPr lang="en-US" altLang="zh-CN" dirty="0"/>
          </a:p>
          <a:p>
            <a:r>
              <a:rPr lang="en-US" altLang="zh-CN" dirty="0"/>
              <a:t>            3'h5: </a:t>
            </a:r>
            <a:r>
              <a:rPr lang="en-US" altLang="zh-CN" dirty="0" err="1"/>
              <a:t>rom_data</a:t>
            </a:r>
            <a:r>
              <a:rPr lang="en-US" altLang="zh-CN" dirty="0"/>
              <a:t> = 8'b1111_1111; // ******** </a:t>
            </a:r>
            <a:endParaRPr lang="en-US" altLang="zh-CN" dirty="0"/>
          </a:p>
          <a:p>
            <a:r>
              <a:rPr lang="en-US" altLang="zh-CN" dirty="0"/>
              <a:t>            3'h6: </a:t>
            </a:r>
            <a:r>
              <a:rPr lang="en-US" altLang="zh-CN" dirty="0" err="1"/>
              <a:t>rom_data</a:t>
            </a:r>
            <a:r>
              <a:rPr lang="en-US" altLang="zh-CN" dirty="0"/>
              <a:t> = 8'b0111_1110; //  ****** </a:t>
            </a:r>
            <a:endParaRPr lang="en-US" altLang="zh-CN" dirty="0"/>
          </a:p>
          <a:p>
            <a:r>
              <a:rPr lang="en-US" altLang="zh-CN" dirty="0"/>
              <a:t>            3'h7: </a:t>
            </a:r>
            <a:r>
              <a:rPr lang="en-US" altLang="zh-CN" dirty="0" err="1"/>
              <a:t>rom_data</a:t>
            </a:r>
            <a:r>
              <a:rPr lang="en-US" altLang="zh-CN" dirty="0"/>
              <a:t> = 8'b0011_1100; //   **** </a:t>
            </a:r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en-US" altLang="zh-CN" dirty="0" err="1"/>
              <a:t>endcase</a:t>
            </a:r>
            <a:r>
              <a:rPr lang="en-US" altLang="zh-CN" dirty="0"/>
              <a:t>  </a:t>
            </a:r>
            <a:endParaRPr lang="en-US" altLang="zh-CN" dirty="0"/>
          </a:p>
          <a:p>
            <a:r>
              <a:rPr lang="en-US" altLang="zh-CN" dirty="0"/>
              <a:t>    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rom_col</a:t>
            </a:r>
            <a:r>
              <a:rPr lang="en-US" altLang="zh-CN" dirty="0"/>
              <a:t>  = </a:t>
            </a:r>
            <a:r>
              <a:rPr lang="en-US" altLang="zh-CN" dirty="0" err="1"/>
              <a:t>pix_x</a:t>
            </a:r>
            <a:r>
              <a:rPr lang="en-US" altLang="zh-CN" dirty="0"/>
              <a:t>[2:0] - </a:t>
            </a:r>
            <a:r>
              <a:rPr lang="en-US" altLang="zh-CN" dirty="0" err="1"/>
              <a:t>ball_x_l</a:t>
            </a:r>
            <a:r>
              <a:rPr lang="en-US" altLang="zh-CN" dirty="0"/>
              <a:t>[2:0]; // ROM</a:t>
            </a:r>
            <a:r>
              <a:rPr lang="zh-CN" altLang="en-US" dirty="0"/>
              <a:t>列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assign </a:t>
            </a:r>
            <a:r>
              <a:rPr lang="en-US" altLang="zh-CN" dirty="0" err="1"/>
              <a:t>rom_addr</a:t>
            </a:r>
            <a:r>
              <a:rPr lang="en-US" altLang="zh-CN" dirty="0"/>
              <a:t> = </a:t>
            </a:r>
            <a:r>
              <a:rPr lang="en-US" altLang="zh-CN" dirty="0" err="1"/>
              <a:t>pix_y</a:t>
            </a:r>
            <a:r>
              <a:rPr lang="en-US" altLang="zh-CN" dirty="0"/>
              <a:t>[2:0] - </a:t>
            </a:r>
            <a:r>
              <a:rPr lang="en-US" altLang="zh-CN" dirty="0" err="1"/>
              <a:t>ball_y_t</a:t>
            </a:r>
            <a:r>
              <a:rPr lang="en-US" altLang="zh-CN" dirty="0"/>
              <a:t>[2:0]; // ROM</a:t>
            </a:r>
            <a:r>
              <a:rPr lang="zh-CN" altLang="en-US" dirty="0"/>
              <a:t>行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assign </a:t>
            </a:r>
            <a:r>
              <a:rPr lang="en-US" altLang="zh-CN" dirty="0" err="1"/>
              <a:t>rom_bit</a:t>
            </a:r>
            <a:r>
              <a:rPr lang="en-US" altLang="zh-CN" dirty="0"/>
              <a:t>  = </a:t>
            </a:r>
            <a:r>
              <a:rPr lang="en-US" altLang="zh-CN" dirty="0" err="1"/>
              <a:t>rom_data</a:t>
            </a:r>
            <a:r>
              <a:rPr lang="en-US" altLang="zh-CN" dirty="0"/>
              <a:t>[</a:t>
            </a:r>
            <a:r>
              <a:rPr lang="en-US" altLang="zh-CN" dirty="0" err="1"/>
              <a:t>rom_col</a:t>
            </a:r>
            <a:r>
              <a:rPr lang="en-US" altLang="zh-CN" dirty="0"/>
              <a:t>]; //</a:t>
            </a:r>
            <a:r>
              <a:rPr lang="en-US" altLang="zh-CN" dirty="0" err="1"/>
              <a:t>ROMaddr</a:t>
            </a:r>
            <a:r>
              <a:rPr lang="zh-CN" altLang="en-US" dirty="0"/>
              <a:t>行中</a:t>
            </a:r>
            <a:r>
              <a:rPr lang="en-US" altLang="zh-CN" dirty="0"/>
              <a:t>col</a:t>
            </a:r>
            <a:r>
              <a:rPr lang="zh-CN" altLang="en-US" dirty="0"/>
              <a:t>列值  </a:t>
            </a:r>
            <a:endParaRPr lang="zh-CN" altLang="en-US" dirty="0"/>
          </a:p>
          <a:p>
            <a:r>
              <a:rPr lang="zh-CN" altLang="en-US" dirty="0"/>
              <a:t>         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// pixel within ball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ballOn</a:t>
            </a:r>
            <a:r>
              <a:rPr lang="en-US" altLang="zh-CN" dirty="0"/>
              <a:t> = ((</a:t>
            </a:r>
            <a:r>
              <a:rPr lang="en-US" altLang="zh-CN" dirty="0" err="1"/>
              <a:t>ball_x_l</a:t>
            </a:r>
            <a:r>
              <a:rPr lang="en-US" altLang="zh-CN" dirty="0"/>
              <a:t>&lt;=</a:t>
            </a:r>
            <a:r>
              <a:rPr lang="en-US" altLang="zh-CN" dirty="0" err="1"/>
              <a:t>pix_x</a:t>
            </a:r>
            <a:r>
              <a:rPr lang="en-US" altLang="zh-CN" dirty="0"/>
              <a:t>) &amp;&amp; (</a:t>
            </a:r>
            <a:r>
              <a:rPr lang="en-US" altLang="zh-CN" dirty="0" err="1"/>
              <a:t>pix_x</a:t>
            </a:r>
            <a:r>
              <a:rPr lang="en-US" altLang="zh-CN" dirty="0"/>
              <a:t>&lt;=</a:t>
            </a:r>
            <a:r>
              <a:rPr lang="en-US" altLang="zh-CN" dirty="0" err="1"/>
              <a:t>ball_x_r</a:t>
            </a:r>
            <a:r>
              <a:rPr lang="en-US" altLang="zh-CN" dirty="0"/>
              <a:t>) &amp;&amp;  //</a:t>
            </a:r>
            <a:r>
              <a:rPr lang="zh-CN" altLang="en-US" dirty="0"/>
              <a:t>变量</a:t>
            </a:r>
            <a:endParaRPr lang="zh-CN" altLang="en-US" dirty="0"/>
          </a:p>
          <a:p>
            <a:r>
              <a:rPr lang="zh-CN" altLang="en-US" dirty="0"/>
              <a:t>                     </a:t>
            </a:r>
            <a:r>
              <a:rPr lang="en-US" altLang="zh-CN" dirty="0"/>
              <a:t>(</a:t>
            </a:r>
            <a:r>
              <a:rPr lang="en-US" altLang="zh-CN" dirty="0" err="1"/>
              <a:t>ball_y_t</a:t>
            </a:r>
            <a:r>
              <a:rPr lang="en-US" altLang="zh-CN" dirty="0"/>
              <a:t>&lt;=</a:t>
            </a:r>
            <a:r>
              <a:rPr lang="en-US" altLang="zh-CN" dirty="0" err="1"/>
              <a:t>pix_y</a:t>
            </a:r>
            <a:r>
              <a:rPr lang="en-US" altLang="zh-CN" dirty="0"/>
              <a:t>) &amp;&amp; (</a:t>
            </a:r>
            <a:r>
              <a:rPr lang="en-US" altLang="zh-CN" dirty="0" err="1"/>
              <a:t>pix_y</a:t>
            </a:r>
            <a:r>
              <a:rPr lang="en-US" altLang="zh-CN" dirty="0"/>
              <a:t>&lt;=</a:t>
            </a:r>
            <a:r>
              <a:rPr lang="en-US" altLang="zh-CN" dirty="0" err="1"/>
              <a:t>ball_y_b</a:t>
            </a:r>
            <a:r>
              <a:rPr lang="en-US" altLang="zh-CN" dirty="0"/>
              <a:t>)) &amp;  //</a:t>
            </a:r>
            <a:r>
              <a:rPr lang="zh-CN" altLang="en-US" dirty="0"/>
              <a:t>变量 </a:t>
            </a:r>
            <a:endParaRPr lang="zh-CN" altLang="en-US" dirty="0"/>
          </a:p>
          <a:p>
            <a:r>
              <a:rPr lang="zh-CN" altLang="en-US" dirty="0"/>
              <a:t>                     </a:t>
            </a:r>
            <a:r>
              <a:rPr lang="en-US" altLang="zh-CN" dirty="0" err="1"/>
              <a:t>rom_bit</a:t>
            </a:r>
            <a:r>
              <a:rPr lang="en-US" altLang="zh-CN" dirty="0"/>
              <a:t>;  // round ball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ball_r</a:t>
            </a:r>
            <a:r>
              <a:rPr lang="en-US" altLang="zh-CN" dirty="0"/>
              <a:t> = 4'b1111; // red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ball_g</a:t>
            </a:r>
            <a:r>
              <a:rPr lang="en-US" altLang="zh-CN" dirty="0"/>
              <a:t> = 4'b0000; // red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ball_b</a:t>
            </a:r>
            <a:r>
              <a:rPr lang="en-US" altLang="zh-CN" dirty="0"/>
              <a:t> = 4'b0000; // red    </a:t>
            </a:r>
            <a:endParaRPr lang="en-US" altLang="zh-CN" dirty="0"/>
          </a:p>
          <a:p>
            <a:r>
              <a:rPr lang="en-US" altLang="zh-CN" dirty="0"/>
              <a:t>    </a:t>
            </a:r>
            <a:endParaRPr lang="en-US" altLang="zh-CN" dirty="0"/>
          </a:p>
          <a:p>
            <a:r>
              <a:rPr lang="en-US" altLang="zh-CN" dirty="0"/>
              <a:t>    // Fudan picture</a:t>
            </a:r>
            <a:endParaRPr lang="en-US" altLang="zh-CN" dirty="0"/>
          </a:p>
          <a:p>
            <a:r>
              <a:rPr lang="en-US" altLang="zh-CN" dirty="0"/>
              <a:t>    logic [10:0] C1, R1; //</a:t>
            </a:r>
            <a:r>
              <a:rPr lang="zh-CN" altLang="en-US" dirty="0"/>
              <a:t>图片左上角坐标（</a:t>
            </a:r>
            <a:r>
              <a:rPr lang="en-US" altLang="zh-CN" dirty="0"/>
              <a:t>C1, R1</a:t>
            </a:r>
            <a:r>
              <a:rPr lang="zh-CN" altLang="en-US" dirty="0"/>
              <a:t>）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assign C1 = (MAX_X - 320) / 2; //</a:t>
            </a:r>
            <a:r>
              <a:rPr lang="zh-CN" altLang="en-US" dirty="0"/>
              <a:t>水平居中</a:t>
            </a:r>
            <a:r>
              <a:rPr lang="en-US" altLang="zh-CN" dirty="0"/>
              <a:t>=160</a:t>
            </a:r>
            <a:endParaRPr lang="en-US" altLang="zh-CN" dirty="0"/>
          </a:p>
          <a:p>
            <a:r>
              <a:rPr lang="en-US" altLang="zh-CN" dirty="0"/>
              <a:t>    assign R1 = (MAX_Y - 320) / 2; //</a:t>
            </a:r>
            <a:r>
              <a:rPr lang="zh-CN" altLang="en-US" dirty="0"/>
              <a:t>垂直居中</a:t>
            </a:r>
            <a:r>
              <a:rPr lang="en-US" altLang="zh-CN" dirty="0"/>
              <a:t>=80</a:t>
            </a:r>
            <a:endParaRPr lang="en-US" altLang="zh-CN" dirty="0"/>
          </a:p>
          <a:p>
            <a:r>
              <a:rPr lang="en-US" altLang="zh-CN" dirty="0"/>
              <a:t>    </a:t>
            </a:r>
            <a:endParaRPr lang="en-US" altLang="zh-CN" dirty="0"/>
          </a:p>
          <a:p>
            <a:r>
              <a:rPr lang="en-US" altLang="zh-CN" dirty="0"/>
              <a:t>    logic [10:0] </a:t>
            </a:r>
            <a:r>
              <a:rPr lang="en-US" altLang="zh-CN" dirty="0" err="1"/>
              <a:t>xPic</a:t>
            </a:r>
            <a:r>
              <a:rPr lang="en-US" altLang="zh-CN" dirty="0"/>
              <a:t>, </a:t>
            </a:r>
            <a:r>
              <a:rPr lang="en-US" altLang="zh-CN" dirty="0" err="1"/>
              <a:t>yPic</a:t>
            </a:r>
            <a:r>
              <a:rPr lang="en-US" altLang="zh-CN" dirty="0"/>
              <a:t>; //</a:t>
            </a:r>
            <a:r>
              <a:rPr lang="zh-CN" altLang="en-US" dirty="0"/>
              <a:t>图片内坐标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assign </a:t>
            </a:r>
            <a:r>
              <a:rPr lang="en-US" altLang="zh-CN" dirty="0" err="1"/>
              <a:t>xPic</a:t>
            </a:r>
            <a:r>
              <a:rPr lang="en-US" altLang="zh-CN" dirty="0"/>
              <a:t> =  </a:t>
            </a:r>
            <a:r>
              <a:rPr lang="en-US" altLang="zh-CN" dirty="0" err="1"/>
              <a:t>pix_x</a:t>
            </a:r>
            <a:r>
              <a:rPr lang="en-US" altLang="zh-CN" dirty="0"/>
              <a:t> - H_SYNC_START - C1;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yPic</a:t>
            </a:r>
            <a:r>
              <a:rPr lang="en-US" altLang="zh-CN" dirty="0"/>
              <a:t> =  </a:t>
            </a:r>
            <a:r>
              <a:rPr lang="en-US" altLang="zh-CN" dirty="0" err="1"/>
              <a:t>pix_y</a:t>
            </a:r>
            <a:r>
              <a:rPr lang="en-US" altLang="zh-CN" dirty="0"/>
              <a:t> - V_SYNC_START - R1;</a:t>
            </a:r>
            <a:endParaRPr lang="en-US" altLang="zh-CN" dirty="0"/>
          </a:p>
          <a:p>
            <a:r>
              <a:rPr lang="en-US" altLang="zh-CN" dirty="0"/>
              <a:t>    </a:t>
            </a:r>
            <a:endParaRPr lang="en-US" altLang="zh-CN" dirty="0"/>
          </a:p>
          <a:p>
            <a:r>
              <a:rPr lang="en-US" altLang="zh-CN" dirty="0"/>
              <a:t>    // read picture data from ROM</a:t>
            </a:r>
            <a:endParaRPr lang="en-US" altLang="zh-CN" dirty="0"/>
          </a:p>
          <a:p>
            <a:r>
              <a:rPr lang="en-US" altLang="zh-CN" dirty="0"/>
              <a:t>    assign picAddr17 = 320 * </a:t>
            </a:r>
            <a:r>
              <a:rPr lang="en-US" altLang="zh-CN" dirty="0" err="1"/>
              <a:t>yPic</a:t>
            </a:r>
            <a:r>
              <a:rPr lang="en-US" altLang="zh-CN" dirty="0"/>
              <a:t> + </a:t>
            </a:r>
            <a:r>
              <a:rPr lang="en-US" altLang="zh-CN" dirty="0" err="1"/>
              <a:t>xPic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picOn</a:t>
            </a:r>
            <a:r>
              <a:rPr lang="en-US" altLang="zh-CN" dirty="0"/>
              <a:t> = ((</a:t>
            </a:r>
            <a:r>
              <a:rPr lang="en-US" altLang="zh-CN" dirty="0" err="1"/>
              <a:t>pix_x</a:t>
            </a:r>
            <a:r>
              <a:rPr lang="en-US" altLang="zh-CN" dirty="0"/>
              <a:t> &gt; H_SYNC_START+C1)     &amp;&amp;</a:t>
            </a:r>
            <a:endParaRPr lang="en-US" altLang="zh-CN" dirty="0"/>
          </a:p>
          <a:p>
            <a:r>
              <a:rPr lang="en-US" altLang="zh-CN" dirty="0"/>
              <a:t>                    (</a:t>
            </a:r>
            <a:r>
              <a:rPr lang="en-US" altLang="zh-CN" dirty="0" err="1"/>
              <a:t>pix_x</a:t>
            </a:r>
            <a:r>
              <a:rPr lang="en-US" altLang="zh-CN" dirty="0"/>
              <a:t> &lt; H_SYNC_START+C1+320) &amp;&amp;</a:t>
            </a:r>
            <a:endParaRPr lang="en-US" altLang="zh-CN" dirty="0"/>
          </a:p>
          <a:p>
            <a:r>
              <a:rPr lang="en-US" altLang="zh-CN" dirty="0"/>
              <a:t>                    (</a:t>
            </a:r>
            <a:r>
              <a:rPr lang="en-US" altLang="zh-CN" dirty="0" err="1"/>
              <a:t>pix_y</a:t>
            </a:r>
            <a:r>
              <a:rPr lang="en-US" altLang="zh-CN" dirty="0"/>
              <a:t> &gt; V_SYNC_START+R1)     &amp;&amp; </a:t>
            </a:r>
            <a:endParaRPr lang="en-US" altLang="zh-CN" dirty="0"/>
          </a:p>
          <a:p>
            <a:r>
              <a:rPr lang="en-US" altLang="zh-CN" dirty="0"/>
              <a:t>                    (</a:t>
            </a:r>
            <a:r>
              <a:rPr lang="en-US" altLang="zh-CN" dirty="0" err="1"/>
              <a:t>pix_y</a:t>
            </a:r>
            <a:r>
              <a:rPr lang="en-US" altLang="zh-CN" dirty="0"/>
              <a:t> &lt; V_SYNC_START+R1+320));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pic_r</a:t>
            </a:r>
            <a:r>
              <a:rPr lang="en-US" altLang="zh-CN" dirty="0"/>
              <a:t> = </a:t>
            </a:r>
            <a:r>
              <a:rPr lang="en-US" altLang="zh-CN" dirty="0" err="1"/>
              <a:t>picData</a:t>
            </a:r>
            <a:r>
              <a:rPr lang="en-US" altLang="zh-CN" dirty="0"/>
              <a:t>[11:8]; // 4bits red 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pic_g</a:t>
            </a:r>
            <a:r>
              <a:rPr lang="en-US" altLang="zh-CN" dirty="0"/>
              <a:t> = </a:t>
            </a:r>
            <a:r>
              <a:rPr lang="en-US" altLang="zh-CN" dirty="0" err="1"/>
              <a:t>picData</a:t>
            </a:r>
            <a:r>
              <a:rPr lang="en-US" altLang="zh-CN" dirty="0"/>
              <a:t>[7:4];  // 4bits green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pic_b</a:t>
            </a:r>
            <a:r>
              <a:rPr lang="en-US" altLang="zh-CN" dirty="0"/>
              <a:t> = </a:t>
            </a:r>
            <a:r>
              <a:rPr lang="en-US" altLang="zh-CN" dirty="0" err="1"/>
              <a:t>picData</a:t>
            </a:r>
            <a:r>
              <a:rPr lang="en-US" altLang="zh-CN" dirty="0"/>
              <a:t>[3:0];  // 4bits blue  </a:t>
            </a:r>
            <a:endParaRPr lang="en-US" altLang="zh-CN" dirty="0"/>
          </a:p>
          <a:p>
            <a:r>
              <a:rPr lang="en-US" altLang="zh-CN" dirty="0"/>
              <a:t>        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always_comb</a:t>
            </a:r>
            <a:r>
              <a:rPr lang="en-US" altLang="zh-CN" dirty="0"/>
              <a:t>   // ===== </a:t>
            </a:r>
            <a:r>
              <a:rPr lang="en-US" altLang="zh-CN" dirty="0" err="1"/>
              <a:t>rgb</a:t>
            </a:r>
            <a:r>
              <a:rPr lang="en-US" altLang="zh-CN" dirty="0"/>
              <a:t> </a:t>
            </a:r>
            <a:r>
              <a:rPr lang="zh-CN" altLang="en-US" dirty="0"/>
              <a:t>输出 </a:t>
            </a:r>
            <a:r>
              <a:rPr lang="en-US" altLang="zh-CN" dirty="0"/>
              <a:t>======</a:t>
            </a:r>
            <a:endParaRPr lang="en-US" altLang="zh-CN" dirty="0"/>
          </a:p>
          <a:p>
            <a:r>
              <a:rPr lang="en-US" altLang="zh-CN" dirty="0"/>
              <a:t>        if (~</a:t>
            </a:r>
            <a:r>
              <a:rPr lang="en-US" altLang="zh-CN" dirty="0" err="1"/>
              <a:t>videoOn</a:t>
            </a:r>
            <a:r>
              <a:rPr lang="en-US" altLang="zh-CN" dirty="0"/>
              <a:t>) </a:t>
            </a:r>
            <a:endParaRPr lang="en-US" altLang="zh-CN" dirty="0"/>
          </a:p>
          <a:p>
            <a:r>
              <a:rPr lang="en-US" altLang="zh-CN" dirty="0"/>
              <a:t>        begin</a:t>
            </a:r>
            <a:endParaRPr lang="en-US" altLang="zh-CN" dirty="0"/>
          </a:p>
          <a:p>
            <a:r>
              <a:rPr lang="en-US" altLang="zh-CN" dirty="0"/>
              <a:t>            red   = 4'b0000; // blank</a:t>
            </a:r>
            <a:endParaRPr lang="en-US" altLang="zh-CN" dirty="0"/>
          </a:p>
          <a:p>
            <a:r>
              <a:rPr lang="en-US" altLang="zh-CN" dirty="0"/>
              <a:t>            green = 4'b0000; // blank</a:t>
            </a:r>
            <a:endParaRPr lang="en-US" altLang="zh-CN" dirty="0"/>
          </a:p>
          <a:p>
            <a:r>
              <a:rPr lang="en-US" altLang="zh-CN" dirty="0"/>
              <a:t>            blue  = 4'b0000; // blank</a:t>
            </a:r>
            <a:endParaRPr lang="en-US" altLang="zh-CN" dirty="0"/>
          </a:p>
          <a:p>
            <a:r>
              <a:rPr lang="en-US" altLang="zh-CN" dirty="0"/>
              <a:t>        end</a:t>
            </a:r>
            <a:endParaRPr lang="en-US" altLang="zh-CN" dirty="0"/>
          </a:p>
          <a:p>
            <a:r>
              <a:rPr lang="en-US" altLang="zh-CN" dirty="0"/>
              <a:t>        else if (</a:t>
            </a:r>
            <a:r>
              <a:rPr lang="en-US" altLang="zh-CN" dirty="0" err="1"/>
              <a:t>wallOn</a:t>
            </a:r>
            <a:r>
              <a:rPr lang="en-US" altLang="zh-CN" dirty="0"/>
              <a:t>)</a:t>
            </a:r>
            <a:endParaRPr lang="en-US" altLang="zh-CN" dirty="0"/>
          </a:p>
          <a:p>
            <a:r>
              <a:rPr lang="en-US" altLang="zh-CN" dirty="0"/>
              <a:t>        begin</a:t>
            </a:r>
            <a:endParaRPr lang="en-US" altLang="zh-CN" dirty="0"/>
          </a:p>
          <a:p>
            <a:r>
              <a:rPr lang="en-US" altLang="zh-CN" dirty="0"/>
              <a:t>            red   = </a:t>
            </a:r>
            <a:r>
              <a:rPr lang="en-US" altLang="zh-CN" dirty="0" err="1"/>
              <a:t>wall_r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        green = </a:t>
            </a:r>
            <a:r>
              <a:rPr lang="en-US" altLang="zh-CN" dirty="0" err="1"/>
              <a:t>wall_g</a:t>
            </a:r>
            <a:r>
              <a:rPr lang="en-US" altLang="zh-CN" dirty="0"/>
              <a:t>; </a:t>
            </a:r>
            <a:endParaRPr lang="en-US" altLang="zh-CN" dirty="0"/>
          </a:p>
          <a:p>
            <a:r>
              <a:rPr lang="en-US" altLang="zh-CN" dirty="0"/>
              <a:t>            blue  = </a:t>
            </a:r>
            <a:r>
              <a:rPr lang="en-US" altLang="zh-CN" dirty="0" err="1"/>
              <a:t>wall_b</a:t>
            </a:r>
            <a:r>
              <a:rPr lang="en-US" altLang="zh-CN" dirty="0"/>
              <a:t>; </a:t>
            </a:r>
            <a:endParaRPr lang="en-US" altLang="zh-CN" dirty="0"/>
          </a:p>
          <a:p>
            <a:r>
              <a:rPr lang="en-US" altLang="zh-CN" dirty="0"/>
              <a:t>        end</a:t>
            </a:r>
            <a:endParaRPr lang="en-US" altLang="zh-CN" dirty="0"/>
          </a:p>
          <a:p>
            <a:r>
              <a:rPr lang="en-US" altLang="zh-CN" dirty="0"/>
              <a:t>        else if (</a:t>
            </a:r>
            <a:r>
              <a:rPr lang="en-US" altLang="zh-CN" dirty="0" err="1"/>
              <a:t>ballOn</a:t>
            </a:r>
            <a:r>
              <a:rPr lang="en-US" altLang="zh-CN" dirty="0"/>
              <a:t>)</a:t>
            </a:r>
            <a:endParaRPr lang="en-US" altLang="zh-CN" dirty="0"/>
          </a:p>
          <a:p>
            <a:r>
              <a:rPr lang="en-US" altLang="zh-CN" dirty="0"/>
              <a:t>        begin</a:t>
            </a:r>
            <a:endParaRPr lang="en-US" altLang="zh-CN" dirty="0"/>
          </a:p>
          <a:p>
            <a:r>
              <a:rPr lang="en-US" altLang="zh-CN" dirty="0"/>
              <a:t>            red   = </a:t>
            </a:r>
            <a:r>
              <a:rPr lang="en-US" altLang="zh-CN" dirty="0" err="1"/>
              <a:t>ball_r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        green = </a:t>
            </a:r>
            <a:r>
              <a:rPr lang="en-US" altLang="zh-CN" dirty="0" err="1"/>
              <a:t>ball_g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        blue  = </a:t>
            </a:r>
            <a:r>
              <a:rPr lang="en-US" altLang="zh-CN" dirty="0" err="1"/>
              <a:t>ball_b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    end</a:t>
            </a:r>
            <a:endParaRPr lang="en-US" altLang="zh-CN" dirty="0"/>
          </a:p>
          <a:p>
            <a:r>
              <a:rPr lang="en-US" altLang="zh-CN" dirty="0"/>
              <a:t>        else if (</a:t>
            </a:r>
            <a:r>
              <a:rPr lang="en-US" altLang="zh-CN" dirty="0" err="1"/>
              <a:t>barOn</a:t>
            </a:r>
            <a:r>
              <a:rPr lang="en-US" altLang="zh-CN" dirty="0"/>
              <a:t>)</a:t>
            </a:r>
            <a:endParaRPr lang="en-US" altLang="zh-CN" dirty="0"/>
          </a:p>
          <a:p>
            <a:r>
              <a:rPr lang="en-US" altLang="zh-CN" dirty="0"/>
              <a:t>        begin</a:t>
            </a:r>
            <a:endParaRPr lang="en-US" altLang="zh-CN" dirty="0"/>
          </a:p>
          <a:p>
            <a:r>
              <a:rPr lang="en-US" altLang="zh-CN" dirty="0"/>
              <a:t>            red   = </a:t>
            </a:r>
            <a:r>
              <a:rPr lang="en-US" altLang="zh-CN" dirty="0" err="1"/>
              <a:t>bar_r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        green = </a:t>
            </a:r>
            <a:r>
              <a:rPr lang="en-US" altLang="zh-CN" dirty="0" err="1"/>
              <a:t>bar_g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        blue  = </a:t>
            </a:r>
            <a:r>
              <a:rPr lang="en-US" altLang="zh-CN" dirty="0" err="1"/>
              <a:t>bar_b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    end</a:t>
            </a:r>
            <a:endParaRPr lang="en-US" altLang="zh-CN" dirty="0"/>
          </a:p>
          <a:p>
            <a:r>
              <a:rPr lang="en-US" altLang="zh-CN" dirty="0"/>
              <a:t>        else if (</a:t>
            </a:r>
            <a:r>
              <a:rPr lang="en-US" altLang="zh-CN" dirty="0" err="1"/>
              <a:t>picOn</a:t>
            </a:r>
            <a:r>
              <a:rPr lang="en-US" altLang="zh-CN" dirty="0"/>
              <a:t>)</a:t>
            </a:r>
            <a:endParaRPr lang="en-US" altLang="zh-CN" dirty="0"/>
          </a:p>
          <a:p>
            <a:r>
              <a:rPr lang="en-US" altLang="zh-CN" dirty="0"/>
              <a:t>        begin</a:t>
            </a:r>
            <a:endParaRPr lang="en-US" altLang="zh-CN" dirty="0"/>
          </a:p>
          <a:p>
            <a:r>
              <a:rPr lang="en-US" altLang="zh-CN" dirty="0"/>
              <a:t>            red   = </a:t>
            </a:r>
            <a:r>
              <a:rPr lang="en-US" altLang="zh-CN" dirty="0" err="1"/>
              <a:t>pic_r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        green = </a:t>
            </a:r>
            <a:r>
              <a:rPr lang="en-US" altLang="zh-CN" dirty="0" err="1"/>
              <a:t>pic_g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        blue  = </a:t>
            </a:r>
            <a:r>
              <a:rPr lang="en-US" altLang="zh-CN" dirty="0" err="1"/>
              <a:t>pic_b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    end</a:t>
            </a:r>
            <a:endParaRPr lang="en-US" altLang="zh-CN" dirty="0"/>
          </a:p>
          <a:p>
            <a:r>
              <a:rPr lang="en-US" altLang="zh-CN" dirty="0"/>
              <a:t>        else</a:t>
            </a:r>
            <a:endParaRPr lang="en-US" altLang="zh-CN" dirty="0"/>
          </a:p>
          <a:p>
            <a:r>
              <a:rPr lang="en-US" altLang="zh-CN" dirty="0"/>
              <a:t>        begin // gray background</a:t>
            </a:r>
            <a:endParaRPr lang="en-US" altLang="zh-CN" dirty="0"/>
          </a:p>
          <a:p>
            <a:r>
              <a:rPr lang="en-US" altLang="zh-CN" dirty="0"/>
              <a:t>            red   = 4'b1110; </a:t>
            </a:r>
            <a:endParaRPr lang="en-US" altLang="zh-CN" dirty="0"/>
          </a:p>
          <a:p>
            <a:r>
              <a:rPr lang="en-US" altLang="zh-CN" dirty="0"/>
              <a:t>            green = 4'b1110; </a:t>
            </a:r>
            <a:endParaRPr lang="en-US" altLang="zh-CN" dirty="0"/>
          </a:p>
          <a:p>
            <a:r>
              <a:rPr lang="en-US" altLang="zh-CN" dirty="0"/>
              <a:t>            blue  = 4'b1110; </a:t>
            </a:r>
            <a:endParaRPr lang="en-US" altLang="zh-CN" dirty="0"/>
          </a:p>
          <a:p>
            <a:r>
              <a:rPr lang="en-US" altLang="zh-CN" dirty="0"/>
              <a:t>        end</a:t>
            </a:r>
            <a:endParaRPr lang="en-US" altLang="zh-CN" dirty="0"/>
          </a:p>
          <a:p>
            <a:r>
              <a:rPr lang="en-US" altLang="zh-CN" dirty="0" err="1"/>
              <a:t>endmodule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907001-0931-41E4-8BBA-EA573262DE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module </a:t>
            </a:r>
            <a:r>
              <a:rPr lang="en-US" altLang="zh-CN" dirty="0" err="1"/>
              <a:t>pingpong_screen_pic_Top</a:t>
            </a:r>
            <a:r>
              <a:rPr lang="en-US" altLang="zh-CN" dirty="0"/>
              <a:t>(</a:t>
            </a:r>
            <a:endParaRPr lang="en-US" altLang="zh-CN" dirty="0"/>
          </a:p>
          <a:p>
            <a:r>
              <a:rPr lang="en-US" altLang="zh-CN" dirty="0"/>
              <a:t>   input  logic CLK100MHZ, BTND, //</a:t>
            </a:r>
            <a:r>
              <a:rPr lang="zh-CN" altLang="en-US" dirty="0"/>
              <a:t>为了操作方便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input  logic BTNU, BTNC,    // </a:t>
            </a:r>
            <a:r>
              <a:rPr lang="zh-CN" altLang="en-US" dirty="0"/>
              <a:t>控制</a:t>
            </a:r>
            <a:r>
              <a:rPr lang="en-US" altLang="zh-CN" dirty="0"/>
              <a:t>Bar</a:t>
            </a:r>
            <a:r>
              <a:rPr lang="zh-CN" altLang="en-US" dirty="0"/>
              <a:t>上下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output logic VGA_HS, VGA_VS,</a:t>
            </a:r>
            <a:endParaRPr lang="en-US" altLang="zh-CN" dirty="0"/>
          </a:p>
          <a:p>
            <a:r>
              <a:rPr lang="en-US" altLang="zh-CN" dirty="0"/>
              <a:t>    output logic [3:0] VGA_R, VGA_G, VGA_B);</a:t>
            </a:r>
            <a:endParaRPr lang="en-US" altLang="zh-CN" dirty="0"/>
          </a:p>
          <a:p>
            <a:r>
              <a:rPr lang="en-US" altLang="zh-CN" dirty="0"/>
              <a:t>    </a:t>
            </a:r>
            <a:endParaRPr lang="en-US" altLang="zh-CN" dirty="0"/>
          </a:p>
          <a:p>
            <a:r>
              <a:rPr lang="en-US" altLang="zh-CN" dirty="0"/>
              <a:t>    logic clk25MHz, clk60Hz, </a:t>
            </a:r>
            <a:r>
              <a:rPr lang="en-US" altLang="zh-CN" dirty="0" err="1"/>
              <a:t>videoOn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logic [10:0] </a:t>
            </a:r>
            <a:r>
              <a:rPr lang="en-US" altLang="zh-CN" dirty="0" err="1"/>
              <a:t>pixel_x</a:t>
            </a:r>
            <a:r>
              <a:rPr lang="en-US" altLang="zh-CN" dirty="0"/>
              <a:t>, </a:t>
            </a:r>
            <a:r>
              <a:rPr lang="en-US" altLang="zh-CN" dirty="0" err="1"/>
              <a:t>pixel_y</a:t>
            </a:r>
            <a:r>
              <a:rPr lang="en-US" altLang="zh-CN" dirty="0"/>
              <a:t>; 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clkDiv</a:t>
            </a:r>
            <a:r>
              <a:rPr lang="en-US" altLang="zh-CN" dirty="0"/>
              <a:t> C1(.</a:t>
            </a:r>
            <a:r>
              <a:rPr lang="en-US" altLang="zh-CN" dirty="0" err="1"/>
              <a:t>clk</a:t>
            </a:r>
            <a:r>
              <a:rPr lang="en-US" altLang="zh-CN" dirty="0"/>
              <a:t>(CLK100MHZ), .</a:t>
            </a:r>
            <a:r>
              <a:rPr lang="en-US" altLang="zh-CN" dirty="0" err="1"/>
              <a:t>clr</a:t>
            </a:r>
            <a:r>
              <a:rPr lang="en-US" altLang="zh-CN" dirty="0"/>
              <a:t>(BTND), </a:t>
            </a:r>
            <a:endParaRPr lang="en-US" altLang="zh-CN" dirty="0"/>
          </a:p>
          <a:p>
            <a:r>
              <a:rPr lang="en-US" altLang="zh-CN" dirty="0"/>
              <a:t>              .clk25MHz(clk25MHz));</a:t>
            </a:r>
            <a:endParaRPr lang="en-US" altLang="zh-CN" dirty="0"/>
          </a:p>
          <a:p>
            <a:r>
              <a:rPr lang="en-US" altLang="zh-CN" dirty="0"/>
              <a:t>       </a:t>
            </a:r>
            <a:endParaRPr lang="en-US" altLang="zh-CN" dirty="0"/>
          </a:p>
          <a:p>
            <a:r>
              <a:rPr lang="en-US" altLang="zh-CN" dirty="0"/>
              <a:t>    VGA640x480 V1(.</a:t>
            </a:r>
            <a:r>
              <a:rPr lang="en-US" altLang="zh-CN" dirty="0" err="1"/>
              <a:t>clk</a:t>
            </a:r>
            <a:r>
              <a:rPr lang="en-US" altLang="zh-CN" dirty="0"/>
              <a:t>(clk25MHz), .</a:t>
            </a:r>
            <a:r>
              <a:rPr lang="en-US" altLang="zh-CN" dirty="0" err="1"/>
              <a:t>clr</a:t>
            </a:r>
            <a:r>
              <a:rPr lang="en-US" altLang="zh-CN" dirty="0"/>
              <a:t>(BTND),  // Input</a:t>
            </a:r>
            <a:endParaRPr lang="en-US" altLang="zh-CN" dirty="0"/>
          </a:p>
          <a:p>
            <a:r>
              <a:rPr lang="en-US" altLang="zh-CN" dirty="0"/>
              <a:t>        .</a:t>
            </a:r>
            <a:r>
              <a:rPr lang="en-US" altLang="zh-CN" dirty="0" err="1"/>
              <a:t>hSync</a:t>
            </a:r>
            <a:r>
              <a:rPr lang="en-US" altLang="zh-CN" dirty="0"/>
              <a:t>(VGA_HS),   .</a:t>
            </a:r>
            <a:r>
              <a:rPr lang="en-US" altLang="zh-CN" dirty="0" err="1"/>
              <a:t>vSync</a:t>
            </a:r>
            <a:r>
              <a:rPr lang="en-US" altLang="zh-CN" dirty="0"/>
              <a:t>(VGA_VS),      // Output ***</a:t>
            </a:r>
            <a:endParaRPr lang="en-US" altLang="zh-CN" dirty="0"/>
          </a:p>
          <a:p>
            <a:r>
              <a:rPr lang="en-US" altLang="zh-CN" dirty="0"/>
              <a:t>        .</a:t>
            </a:r>
            <a:r>
              <a:rPr lang="en-US" altLang="zh-CN" dirty="0" err="1"/>
              <a:t>xPixel</a:t>
            </a:r>
            <a:r>
              <a:rPr lang="en-US" altLang="zh-CN" dirty="0"/>
              <a:t>(</a:t>
            </a:r>
            <a:r>
              <a:rPr lang="en-US" altLang="zh-CN" dirty="0" err="1"/>
              <a:t>pixel_x</a:t>
            </a:r>
            <a:r>
              <a:rPr lang="en-US" altLang="zh-CN" dirty="0"/>
              <a:t>), .</a:t>
            </a:r>
            <a:r>
              <a:rPr lang="en-US" altLang="zh-CN" dirty="0" err="1"/>
              <a:t>yPixel</a:t>
            </a:r>
            <a:r>
              <a:rPr lang="en-US" altLang="zh-CN" dirty="0"/>
              <a:t>(</a:t>
            </a:r>
            <a:r>
              <a:rPr lang="en-US" altLang="zh-CN" dirty="0" err="1"/>
              <a:t>pixel_y</a:t>
            </a:r>
            <a:r>
              <a:rPr lang="en-US" altLang="zh-CN" dirty="0"/>
              <a:t>),    // Output</a:t>
            </a:r>
            <a:endParaRPr lang="en-US" altLang="zh-CN" dirty="0"/>
          </a:p>
          <a:p>
            <a:r>
              <a:rPr lang="en-US" altLang="zh-CN" dirty="0"/>
              <a:t>        .</a:t>
            </a:r>
            <a:r>
              <a:rPr lang="en-US" altLang="zh-CN" dirty="0" err="1"/>
              <a:t>displayOn</a:t>
            </a:r>
            <a:r>
              <a:rPr lang="en-US" altLang="zh-CN" dirty="0"/>
              <a:t>(</a:t>
            </a:r>
            <a:r>
              <a:rPr lang="en-US" altLang="zh-CN" dirty="0" err="1"/>
              <a:t>videoOn</a:t>
            </a:r>
            <a:r>
              <a:rPr lang="en-US" altLang="zh-CN" dirty="0"/>
              <a:t>));                  // Output            </a:t>
            </a:r>
            <a:endParaRPr lang="en-US" altLang="zh-CN" dirty="0"/>
          </a:p>
          <a:p>
            <a:r>
              <a:rPr lang="en-US" altLang="zh-CN" dirty="0"/>
              <a:t>        </a:t>
            </a:r>
            <a:endParaRPr lang="en-US" altLang="zh-CN" dirty="0"/>
          </a:p>
          <a:p>
            <a:r>
              <a:rPr lang="en-US" altLang="zh-CN" dirty="0"/>
              <a:t>    clk60Hz C2(.</a:t>
            </a:r>
            <a:r>
              <a:rPr lang="en-US" altLang="zh-CN" dirty="0" err="1"/>
              <a:t>clk</a:t>
            </a:r>
            <a:r>
              <a:rPr lang="en-US" altLang="zh-CN" dirty="0"/>
              <a:t>(CLK100MHZ), .</a:t>
            </a:r>
            <a:r>
              <a:rPr lang="en-US" altLang="zh-CN" dirty="0" err="1"/>
              <a:t>clr</a:t>
            </a:r>
            <a:r>
              <a:rPr lang="en-US" altLang="zh-CN" dirty="0"/>
              <a:t>(BTND), .clk60Hz(clk60Hz));        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logic [16:0] addr17;</a:t>
            </a:r>
            <a:endParaRPr lang="en-US" altLang="zh-CN" dirty="0"/>
          </a:p>
          <a:p>
            <a:r>
              <a:rPr lang="en-US" altLang="zh-CN" dirty="0"/>
              <a:t>    logic [11:0] data;</a:t>
            </a:r>
            <a:endParaRPr lang="en-US" altLang="zh-CN" dirty="0"/>
          </a:p>
          <a:p>
            <a:r>
              <a:rPr lang="en-US" altLang="zh-CN" dirty="0"/>
              <a:t>    </a:t>
            </a:r>
            <a:endParaRPr lang="en-US" altLang="zh-CN" dirty="0"/>
          </a:p>
          <a:p>
            <a:r>
              <a:rPr lang="en-US" altLang="zh-CN" dirty="0"/>
              <a:t>    // ROM : </a:t>
            </a:r>
            <a:r>
              <a:rPr lang="zh-CN" altLang="en-US" dirty="0"/>
              <a:t>给地址，就输出一个像素的</a:t>
            </a:r>
            <a:r>
              <a:rPr lang="en-US" altLang="zh-CN" dirty="0"/>
              <a:t>12</a:t>
            </a:r>
            <a:r>
              <a:rPr lang="zh-CN" altLang="en-US" dirty="0"/>
              <a:t>位颜色值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Fudan320x320 F1(.</a:t>
            </a:r>
            <a:r>
              <a:rPr lang="en-US" altLang="zh-CN" dirty="0" err="1"/>
              <a:t>clka</a:t>
            </a:r>
            <a:r>
              <a:rPr lang="en-US" altLang="zh-CN" dirty="0"/>
              <a:t>(clk25MHz), //</a:t>
            </a:r>
            <a:r>
              <a:rPr lang="zh-CN" altLang="en-US" dirty="0"/>
              <a:t>与</a:t>
            </a:r>
            <a:r>
              <a:rPr lang="en-US" altLang="zh-CN" dirty="0"/>
              <a:t>VGA640x480</a:t>
            </a:r>
            <a:r>
              <a:rPr lang="zh-CN" altLang="en-US" dirty="0"/>
              <a:t>模块</a:t>
            </a:r>
            <a:r>
              <a:rPr lang="en-US" altLang="zh-CN" dirty="0" err="1"/>
              <a:t>clk</a:t>
            </a:r>
            <a:r>
              <a:rPr lang="zh-CN" altLang="en-US" dirty="0"/>
              <a:t>一致</a:t>
            </a:r>
            <a:endParaRPr lang="zh-CN" altLang="en-US" dirty="0"/>
          </a:p>
          <a:p>
            <a:r>
              <a:rPr lang="zh-CN" altLang="en-US" dirty="0"/>
              <a:t>                    </a:t>
            </a:r>
            <a:r>
              <a:rPr lang="en-US" altLang="zh-CN" dirty="0"/>
              <a:t>.addra(addr17),  // input [16:0]</a:t>
            </a:r>
            <a:endParaRPr lang="en-US" altLang="zh-CN" dirty="0"/>
          </a:p>
          <a:p>
            <a:r>
              <a:rPr lang="en-US" altLang="zh-CN" dirty="0"/>
              <a:t>                    .</a:t>
            </a:r>
            <a:r>
              <a:rPr lang="en-US" altLang="zh-CN" dirty="0" err="1"/>
              <a:t>douta</a:t>
            </a:r>
            <a:r>
              <a:rPr lang="en-US" altLang="zh-CN" dirty="0"/>
              <a:t>(data) );  // output [11:0]-12</a:t>
            </a:r>
            <a:r>
              <a:rPr lang="zh-CN" altLang="en-US" dirty="0"/>
              <a:t>位颜色      </a:t>
            </a:r>
            <a:endParaRPr lang="zh-CN" altLang="en-US" dirty="0"/>
          </a:p>
          <a:p>
            <a:r>
              <a:rPr lang="zh-CN" altLang="en-US" dirty="0"/>
              <a:t>   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 err="1"/>
              <a:t>pingpong_screen_pic</a:t>
            </a:r>
            <a:r>
              <a:rPr lang="en-US" altLang="zh-CN" dirty="0"/>
              <a:t> P1(.</a:t>
            </a:r>
            <a:r>
              <a:rPr lang="en-US" altLang="zh-CN" dirty="0" err="1"/>
              <a:t>clk</a:t>
            </a:r>
            <a:r>
              <a:rPr lang="en-US" altLang="zh-CN" dirty="0"/>
              <a:t>(clk60Hz), .reset(BTND),</a:t>
            </a:r>
            <a:endParaRPr lang="en-US" altLang="zh-CN" dirty="0"/>
          </a:p>
          <a:p>
            <a:r>
              <a:rPr lang="en-US" altLang="zh-CN" dirty="0"/>
              <a:t>                    .</a:t>
            </a:r>
            <a:r>
              <a:rPr lang="en-US" altLang="zh-CN" dirty="0" err="1"/>
              <a:t>btnUp</a:t>
            </a:r>
            <a:r>
              <a:rPr lang="en-US" altLang="zh-CN" dirty="0"/>
              <a:t>(BTNU), .</a:t>
            </a:r>
            <a:r>
              <a:rPr lang="en-US" altLang="zh-CN" dirty="0" err="1"/>
              <a:t>btnDown</a:t>
            </a:r>
            <a:r>
              <a:rPr lang="en-US" altLang="zh-CN" dirty="0"/>
              <a:t>(BTNC),</a:t>
            </a:r>
            <a:endParaRPr lang="en-US" altLang="zh-CN" dirty="0"/>
          </a:p>
          <a:p>
            <a:r>
              <a:rPr lang="en-US" altLang="zh-CN" dirty="0"/>
              <a:t>                    .</a:t>
            </a:r>
            <a:r>
              <a:rPr lang="en-US" altLang="zh-CN" dirty="0" err="1"/>
              <a:t>videoOn</a:t>
            </a:r>
            <a:r>
              <a:rPr lang="en-US" altLang="zh-CN" dirty="0"/>
              <a:t>(</a:t>
            </a:r>
            <a:r>
              <a:rPr lang="en-US" altLang="zh-CN" dirty="0" err="1"/>
              <a:t>videoOn</a:t>
            </a:r>
            <a:r>
              <a:rPr lang="en-US" altLang="zh-CN" dirty="0"/>
              <a:t>), </a:t>
            </a:r>
            <a:endParaRPr lang="en-US" altLang="zh-CN" dirty="0"/>
          </a:p>
          <a:p>
            <a:r>
              <a:rPr lang="en-US" altLang="zh-CN" dirty="0"/>
              <a:t>                    .</a:t>
            </a:r>
            <a:r>
              <a:rPr lang="en-US" altLang="zh-CN" dirty="0" err="1"/>
              <a:t>pix_x</a:t>
            </a:r>
            <a:r>
              <a:rPr lang="en-US" altLang="zh-CN" dirty="0"/>
              <a:t>(</a:t>
            </a:r>
            <a:r>
              <a:rPr lang="en-US" altLang="zh-CN" dirty="0" err="1"/>
              <a:t>pixel_x</a:t>
            </a:r>
            <a:r>
              <a:rPr lang="en-US" altLang="zh-CN" dirty="0"/>
              <a:t>), .</a:t>
            </a:r>
            <a:r>
              <a:rPr lang="en-US" altLang="zh-CN" dirty="0" err="1"/>
              <a:t>pix_y</a:t>
            </a:r>
            <a:r>
              <a:rPr lang="en-US" altLang="zh-CN" dirty="0"/>
              <a:t>(</a:t>
            </a:r>
            <a:r>
              <a:rPr lang="en-US" altLang="zh-CN" dirty="0" err="1"/>
              <a:t>pixel_y</a:t>
            </a:r>
            <a:r>
              <a:rPr lang="en-US" altLang="zh-CN" dirty="0"/>
              <a:t>), </a:t>
            </a:r>
            <a:endParaRPr lang="en-US" altLang="zh-CN" dirty="0"/>
          </a:p>
          <a:p>
            <a:r>
              <a:rPr lang="en-US" altLang="zh-CN" dirty="0"/>
              <a:t>                    .red(VGA_R),         // Output ***</a:t>
            </a:r>
            <a:endParaRPr lang="en-US" altLang="zh-CN" dirty="0"/>
          </a:p>
          <a:p>
            <a:r>
              <a:rPr lang="en-US" altLang="zh-CN" dirty="0"/>
              <a:t>                    .green(VGA_G),       // Output ***</a:t>
            </a:r>
            <a:endParaRPr lang="en-US" altLang="zh-CN" dirty="0"/>
          </a:p>
          <a:p>
            <a:r>
              <a:rPr lang="en-US" altLang="zh-CN" dirty="0"/>
              <a:t>                    .blue(VGA_B),        // Output ***</a:t>
            </a:r>
            <a:endParaRPr lang="en-US" altLang="zh-CN" dirty="0"/>
          </a:p>
          <a:p>
            <a:r>
              <a:rPr lang="en-US" altLang="zh-CN" dirty="0"/>
              <a:t>                    .</a:t>
            </a:r>
            <a:r>
              <a:rPr lang="en-US" altLang="zh-CN" dirty="0" err="1"/>
              <a:t>picData</a:t>
            </a:r>
            <a:r>
              <a:rPr lang="en-US" altLang="zh-CN" dirty="0"/>
              <a:t>(data),</a:t>
            </a:r>
            <a:endParaRPr lang="en-US" altLang="zh-CN" dirty="0"/>
          </a:p>
          <a:p>
            <a:r>
              <a:rPr lang="en-US" altLang="zh-CN" dirty="0"/>
              <a:t>                    .picAddr17(addr17)); // Output                                         </a:t>
            </a:r>
            <a:endParaRPr lang="en-US" altLang="zh-CN" dirty="0"/>
          </a:p>
          <a:p>
            <a:r>
              <a:rPr lang="en-US" altLang="zh-CN" dirty="0" err="1"/>
              <a:t>endmodule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907001-0931-41E4-8BBA-EA573262DE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Programming FPGAs Getting Started with Verilog by Simon Monk.pdf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907001-0931-41E4-8BBA-EA573262DE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module </a:t>
            </a:r>
            <a:r>
              <a:rPr lang="en-US" altLang="zh-CN" dirty="0" err="1"/>
              <a:t>pingpong_music_Top</a:t>
            </a:r>
            <a:r>
              <a:rPr lang="en-US" altLang="zh-CN" dirty="0"/>
              <a:t>(</a:t>
            </a:r>
            <a:endParaRPr lang="en-US" altLang="zh-CN" dirty="0"/>
          </a:p>
          <a:p>
            <a:r>
              <a:rPr lang="en-US" altLang="zh-CN" dirty="0"/>
              <a:t>    input  logic CLK100MHZ, BTND, //</a:t>
            </a:r>
            <a:r>
              <a:rPr lang="zh-CN" altLang="en-US" dirty="0"/>
              <a:t>为了操作方便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input  logic BTNU, BTNC,    // </a:t>
            </a:r>
            <a:r>
              <a:rPr lang="zh-CN" altLang="en-US" dirty="0"/>
              <a:t>控制</a:t>
            </a:r>
            <a:r>
              <a:rPr lang="en-US" altLang="zh-CN" dirty="0"/>
              <a:t>Bar</a:t>
            </a:r>
            <a:r>
              <a:rPr lang="zh-CN" altLang="en-US" dirty="0"/>
              <a:t>上下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output logic VGA_HS, VGA_VS,</a:t>
            </a:r>
            <a:endParaRPr lang="en-US" altLang="zh-CN" dirty="0"/>
          </a:p>
          <a:p>
            <a:r>
              <a:rPr lang="en-US" altLang="zh-CN" dirty="0"/>
              <a:t>    output logic [3:0] VGA_R, VGA_G, VGA_B,</a:t>
            </a:r>
            <a:endParaRPr lang="en-US" altLang="zh-CN" dirty="0"/>
          </a:p>
          <a:p>
            <a:r>
              <a:rPr lang="en-US" altLang="zh-CN" dirty="0"/>
              <a:t>    output logic AUD_PWM, // Open-drain output</a:t>
            </a:r>
            <a:endParaRPr lang="en-US" altLang="zh-CN" dirty="0"/>
          </a:p>
          <a:p>
            <a:r>
              <a:rPr lang="en-US" altLang="zh-CN" dirty="0"/>
              <a:t>    output logic AUD_SD); // Analog filter </a:t>
            </a:r>
            <a:r>
              <a:rPr lang="en-US" altLang="zh-CN" dirty="0" err="1"/>
              <a:t>ShutDown</a:t>
            </a:r>
            <a:r>
              <a:rPr lang="en-US" altLang="zh-CN" dirty="0"/>
              <a:t> input</a:t>
            </a:r>
            <a:endParaRPr lang="en-US" altLang="zh-CN" dirty="0"/>
          </a:p>
          <a:p>
            <a:r>
              <a:rPr lang="en-US" altLang="zh-CN" dirty="0"/>
              <a:t>    </a:t>
            </a:r>
            <a:endParaRPr lang="en-US" altLang="zh-CN" dirty="0"/>
          </a:p>
          <a:p>
            <a:r>
              <a:rPr lang="en-US" altLang="zh-CN" dirty="0"/>
              <a:t>    logic clk25MHz, clk60Hz, </a:t>
            </a:r>
            <a:r>
              <a:rPr lang="en-US" altLang="zh-CN" dirty="0" err="1"/>
              <a:t>videoOn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logic [10:0] </a:t>
            </a:r>
            <a:r>
              <a:rPr lang="en-US" altLang="zh-CN" dirty="0" err="1"/>
              <a:t>pixel_x</a:t>
            </a:r>
            <a:r>
              <a:rPr lang="en-US" altLang="zh-CN" dirty="0"/>
              <a:t>, </a:t>
            </a:r>
            <a:r>
              <a:rPr lang="en-US" altLang="zh-CN" dirty="0" err="1"/>
              <a:t>pixel_y</a:t>
            </a:r>
            <a:r>
              <a:rPr lang="en-US" altLang="zh-CN" dirty="0"/>
              <a:t>; 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clkDiv</a:t>
            </a:r>
            <a:r>
              <a:rPr lang="en-US" altLang="zh-CN" dirty="0"/>
              <a:t> C1(.</a:t>
            </a:r>
            <a:r>
              <a:rPr lang="en-US" altLang="zh-CN" dirty="0" err="1"/>
              <a:t>clk</a:t>
            </a:r>
            <a:r>
              <a:rPr lang="en-US" altLang="zh-CN" dirty="0"/>
              <a:t>(CLK100MHZ), .</a:t>
            </a:r>
            <a:r>
              <a:rPr lang="en-US" altLang="zh-CN" dirty="0" err="1"/>
              <a:t>clr</a:t>
            </a:r>
            <a:r>
              <a:rPr lang="en-US" altLang="zh-CN" dirty="0"/>
              <a:t>(BTND), </a:t>
            </a:r>
            <a:endParaRPr lang="en-US" altLang="zh-CN" dirty="0"/>
          </a:p>
          <a:p>
            <a:r>
              <a:rPr lang="en-US" altLang="zh-CN" dirty="0"/>
              <a:t>              .clk25MHz(clk25MHz));   // output</a:t>
            </a:r>
            <a:endParaRPr lang="en-US" altLang="zh-CN" dirty="0"/>
          </a:p>
          <a:p>
            <a:r>
              <a:rPr lang="en-US" altLang="zh-CN" dirty="0"/>
              <a:t>    </a:t>
            </a:r>
            <a:endParaRPr lang="en-US" altLang="zh-CN" dirty="0"/>
          </a:p>
          <a:p>
            <a:r>
              <a:rPr lang="en-US" altLang="zh-CN" dirty="0"/>
              <a:t>    VGA640x480 V1(.</a:t>
            </a:r>
            <a:r>
              <a:rPr lang="en-US" altLang="zh-CN" dirty="0" err="1"/>
              <a:t>clk</a:t>
            </a:r>
            <a:r>
              <a:rPr lang="en-US" altLang="zh-CN" dirty="0"/>
              <a:t>(clk25MHz),  .</a:t>
            </a:r>
            <a:r>
              <a:rPr lang="en-US" altLang="zh-CN" dirty="0" err="1"/>
              <a:t>clr</a:t>
            </a:r>
            <a:r>
              <a:rPr lang="en-US" altLang="zh-CN" dirty="0"/>
              <a:t>(BTND),</a:t>
            </a:r>
            <a:endParaRPr lang="en-US" altLang="zh-CN" dirty="0"/>
          </a:p>
          <a:p>
            <a:r>
              <a:rPr lang="en-US" altLang="zh-CN" dirty="0"/>
              <a:t>             .</a:t>
            </a:r>
            <a:r>
              <a:rPr lang="en-US" altLang="zh-CN" dirty="0" err="1"/>
              <a:t>hSync</a:t>
            </a:r>
            <a:r>
              <a:rPr lang="en-US" altLang="zh-CN" dirty="0"/>
              <a:t>(VGA_HS),   .</a:t>
            </a:r>
            <a:r>
              <a:rPr lang="en-US" altLang="zh-CN" dirty="0" err="1"/>
              <a:t>vSync</a:t>
            </a:r>
            <a:r>
              <a:rPr lang="en-US" altLang="zh-CN" dirty="0"/>
              <a:t>(VGA_VS),   // output ***</a:t>
            </a:r>
            <a:endParaRPr lang="en-US" altLang="zh-CN" dirty="0"/>
          </a:p>
          <a:p>
            <a:r>
              <a:rPr lang="en-US" altLang="zh-CN" dirty="0"/>
              <a:t>             .</a:t>
            </a:r>
            <a:r>
              <a:rPr lang="en-US" altLang="zh-CN" dirty="0" err="1"/>
              <a:t>xPixel</a:t>
            </a:r>
            <a:r>
              <a:rPr lang="en-US" altLang="zh-CN" dirty="0"/>
              <a:t>(</a:t>
            </a:r>
            <a:r>
              <a:rPr lang="en-US" altLang="zh-CN" dirty="0" err="1"/>
              <a:t>pixel_x</a:t>
            </a:r>
            <a:r>
              <a:rPr lang="en-US" altLang="zh-CN" dirty="0"/>
              <a:t>), .</a:t>
            </a:r>
            <a:r>
              <a:rPr lang="en-US" altLang="zh-CN" dirty="0" err="1"/>
              <a:t>yPixel</a:t>
            </a:r>
            <a:r>
              <a:rPr lang="en-US" altLang="zh-CN" dirty="0"/>
              <a:t>(</a:t>
            </a:r>
            <a:r>
              <a:rPr lang="en-US" altLang="zh-CN" dirty="0" err="1"/>
              <a:t>pixel_y</a:t>
            </a:r>
            <a:r>
              <a:rPr lang="en-US" altLang="zh-CN" dirty="0"/>
              <a:t>), // output</a:t>
            </a:r>
            <a:endParaRPr lang="en-US" altLang="zh-CN" dirty="0"/>
          </a:p>
          <a:p>
            <a:r>
              <a:rPr lang="en-US" altLang="zh-CN" dirty="0"/>
              <a:t>             .displayOn(</a:t>
            </a:r>
            <a:r>
              <a:rPr lang="en-US" altLang="zh-CN" dirty="0" err="1"/>
              <a:t>videoOn</a:t>
            </a:r>
            <a:r>
              <a:rPr lang="en-US" altLang="zh-CN" dirty="0"/>
              <a:t>));               // output</a:t>
            </a:r>
            <a:endParaRPr lang="en-US" altLang="zh-CN" dirty="0"/>
          </a:p>
          <a:p>
            <a:r>
              <a:rPr lang="en-US" altLang="zh-CN" dirty="0"/>
              <a:t>        </a:t>
            </a:r>
            <a:endParaRPr lang="en-US" altLang="zh-CN" dirty="0"/>
          </a:p>
          <a:p>
            <a:r>
              <a:rPr lang="en-US" altLang="zh-CN" dirty="0"/>
              <a:t>    clk60Hz C2(.</a:t>
            </a:r>
            <a:r>
              <a:rPr lang="en-US" altLang="zh-CN" dirty="0" err="1"/>
              <a:t>clk</a:t>
            </a:r>
            <a:r>
              <a:rPr lang="en-US" altLang="zh-CN" dirty="0"/>
              <a:t>(CLK100MHZ), .</a:t>
            </a:r>
            <a:r>
              <a:rPr lang="en-US" altLang="zh-CN" dirty="0" err="1"/>
              <a:t>clr</a:t>
            </a:r>
            <a:r>
              <a:rPr lang="en-US" altLang="zh-CN" dirty="0"/>
              <a:t>(BTND), .clk60Hz(clk60Hz));      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logic [16:0] addr17;</a:t>
            </a:r>
            <a:endParaRPr lang="en-US" altLang="zh-CN" dirty="0"/>
          </a:p>
          <a:p>
            <a:r>
              <a:rPr lang="en-US" altLang="zh-CN" dirty="0"/>
              <a:t>    logic [11:0] data;</a:t>
            </a:r>
            <a:endParaRPr lang="en-US" altLang="zh-CN" dirty="0"/>
          </a:p>
          <a:p>
            <a:r>
              <a:rPr lang="en-US" altLang="zh-CN" dirty="0"/>
              <a:t>    </a:t>
            </a:r>
            <a:endParaRPr lang="en-US" altLang="zh-CN" dirty="0"/>
          </a:p>
          <a:p>
            <a:r>
              <a:rPr lang="en-US" altLang="zh-CN" dirty="0"/>
              <a:t>    // ROM: </a:t>
            </a:r>
            <a:r>
              <a:rPr lang="zh-CN" altLang="en-US" dirty="0"/>
              <a:t>给地址，就输出一个像素的</a:t>
            </a:r>
            <a:r>
              <a:rPr lang="en-US" altLang="zh-CN" dirty="0"/>
              <a:t>12</a:t>
            </a:r>
            <a:r>
              <a:rPr lang="zh-CN" altLang="en-US" dirty="0"/>
              <a:t>位颜色值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Fudan320x320 F1(.</a:t>
            </a:r>
            <a:r>
              <a:rPr lang="en-US" altLang="zh-CN" dirty="0" err="1"/>
              <a:t>clka</a:t>
            </a:r>
            <a:r>
              <a:rPr lang="en-US" altLang="zh-CN" dirty="0"/>
              <a:t>(clk25MHz), // </a:t>
            </a:r>
            <a:r>
              <a:rPr lang="zh-CN" altLang="en-US" dirty="0"/>
              <a:t>仅同步</a:t>
            </a:r>
            <a:endParaRPr lang="zh-CN" altLang="en-US" dirty="0"/>
          </a:p>
          <a:p>
            <a:r>
              <a:rPr lang="zh-CN" altLang="en-US" dirty="0"/>
              <a:t>                    </a:t>
            </a:r>
            <a:r>
              <a:rPr lang="en-US" altLang="zh-CN" dirty="0"/>
              <a:t>.addra(addr17),  // input [16:0]</a:t>
            </a:r>
            <a:endParaRPr lang="en-US" altLang="zh-CN" dirty="0"/>
          </a:p>
          <a:p>
            <a:r>
              <a:rPr lang="en-US" altLang="zh-CN" dirty="0"/>
              <a:t>                    .</a:t>
            </a:r>
            <a:r>
              <a:rPr lang="en-US" altLang="zh-CN" dirty="0" err="1"/>
              <a:t>douta</a:t>
            </a:r>
            <a:r>
              <a:rPr lang="en-US" altLang="zh-CN" dirty="0"/>
              <a:t>(data) );  // output 12</a:t>
            </a:r>
            <a:r>
              <a:rPr lang="zh-CN" altLang="en-US" dirty="0"/>
              <a:t>位颜色      </a:t>
            </a:r>
            <a:endParaRPr lang="zh-CN" altLang="en-US" dirty="0"/>
          </a:p>
          <a:p>
            <a:r>
              <a:rPr lang="zh-CN" altLang="en-US" dirty="0"/>
              <a:t>                         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 err="1"/>
              <a:t>pingpong_screen_pic</a:t>
            </a:r>
            <a:r>
              <a:rPr lang="en-US" altLang="zh-CN" dirty="0"/>
              <a:t> P1(.</a:t>
            </a:r>
            <a:r>
              <a:rPr lang="en-US" altLang="zh-CN" dirty="0" err="1"/>
              <a:t>clk</a:t>
            </a:r>
            <a:r>
              <a:rPr lang="en-US" altLang="zh-CN" dirty="0"/>
              <a:t>(clk60Hz), .reset(BTND),</a:t>
            </a:r>
            <a:endParaRPr lang="en-US" altLang="zh-CN" dirty="0"/>
          </a:p>
          <a:p>
            <a:r>
              <a:rPr lang="en-US" altLang="zh-CN" dirty="0"/>
              <a:t>                    .</a:t>
            </a:r>
            <a:r>
              <a:rPr lang="en-US" altLang="zh-CN" dirty="0" err="1"/>
              <a:t>btnUp</a:t>
            </a:r>
            <a:r>
              <a:rPr lang="en-US" altLang="zh-CN" dirty="0"/>
              <a:t>(BTNU), .</a:t>
            </a:r>
            <a:r>
              <a:rPr lang="en-US" altLang="zh-CN" dirty="0" err="1"/>
              <a:t>btnDown</a:t>
            </a:r>
            <a:r>
              <a:rPr lang="en-US" altLang="zh-CN" dirty="0"/>
              <a:t>(BTNC),</a:t>
            </a:r>
            <a:endParaRPr lang="en-US" altLang="zh-CN" dirty="0"/>
          </a:p>
          <a:p>
            <a:r>
              <a:rPr lang="en-US" altLang="zh-CN" dirty="0"/>
              <a:t>                    .</a:t>
            </a:r>
            <a:r>
              <a:rPr lang="en-US" altLang="zh-CN" dirty="0" err="1"/>
              <a:t>videoOn</a:t>
            </a:r>
            <a:r>
              <a:rPr lang="en-US" altLang="zh-CN" dirty="0"/>
              <a:t>(</a:t>
            </a:r>
            <a:r>
              <a:rPr lang="en-US" altLang="zh-CN" dirty="0" err="1"/>
              <a:t>videoOn</a:t>
            </a:r>
            <a:r>
              <a:rPr lang="en-US" altLang="zh-CN" dirty="0"/>
              <a:t>), </a:t>
            </a:r>
            <a:endParaRPr lang="en-US" altLang="zh-CN" dirty="0"/>
          </a:p>
          <a:p>
            <a:r>
              <a:rPr lang="en-US" altLang="zh-CN" dirty="0"/>
              <a:t>                    .</a:t>
            </a:r>
            <a:r>
              <a:rPr lang="en-US" altLang="zh-CN" dirty="0" err="1"/>
              <a:t>pix_x</a:t>
            </a:r>
            <a:r>
              <a:rPr lang="en-US" altLang="zh-CN" dirty="0"/>
              <a:t>(</a:t>
            </a:r>
            <a:r>
              <a:rPr lang="en-US" altLang="zh-CN" dirty="0" err="1"/>
              <a:t>pixel_x</a:t>
            </a:r>
            <a:r>
              <a:rPr lang="en-US" altLang="zh-CN" dirty="0"/>
              <a:t>), .</a:t>
            </a:r>
            <a:r>
              <a:rPr lang="en-US" altLang="zh-CN" dirty="0" err="1"/>
              <a:t>pix_y</a:t>
            </a:r>
            <a:r>
              <a:rPr lang="en-US" altLang="zh-CN" dirty="0"/>
              <a:t>(</a:t>
            </a:r>
            <a:r>
              <a:rPr lang="en-US" altLang="zh-CN" dirty="0" err="1"/>
              <a:t>pixel_y</a:t>
            </a:r>
            <a:r>
              <a:rPr lang="en-US" altLang="zh-CN" dirty="0"/>
              <a:t>), </a:t>
            </a:r>
            <a:endParaRPr lang="en-US" altLang="zh-CN" dirty="0"/>
          </a:p>
          <a:p>
            <a:r>
              <a:rPr lang="en-US" altLang="zh-CN" dirty="0"/>
              <a:t>                    .red(VGA_R),         // Output ***</a:t>
            </a:r>
            <a:endParaRPr lang="en-US" altLang="zh-CN" dirty="0"/>
          </a:p>
          <a:p>
            <a:r>
              <a:rPr lang="en-US" altLang="zh-CN" dirty="0"/>
              <a:t>                    .green(VGA_G),       // Output ***</a:t>
            </a:r>
            <a:endParaRPr lang="en-US" altLang="zh-CN" dirty="0"/>
          </a:p>
          <a:p>
            <a:r>
              <a:rPr lang="en-US" altLang="zh-CN" dirty="0"/>
              <a:t>                    .blue(VGA_B),        // Output ***</a:t>
            </a:r>
            <a:endParaRPr lang="en-US" altLang="zh-CN" dirty="0"/>
          </a:p>
          <a:p>
            <a:r>
              <a:rPr lang="en-US" altLang="zh-CN" dirty="0"/>
              <a:t>                    .</a:t>
            </a:r>
            <a:r>
              <a:rPr lang="en-US" altLang="zh-CN" dirty="0" err="1"/>
              <a:t>picData</a:t>
            </a:r>
            <a:r>
              <a:rPr lang="en-US" altLang="zh-CN" dirty="0"/>
              <a:t>(data),</a:t>
            </a:r>
            <a:endParaRPr lang="en-US" altLang="zh-CN" dirty="0"/>
          </a:p>
          <a:p>
            <a:r>
              <a:rPr lang="en-US" altLang="zh-CN" dirty="0"/>
              <a:t>                    .picAddr17(addr17)); // Output                         </a:t>
            </a:r>
            <a:endParaRPr lang="en-US" altLang="zh-CN" dirty="0"/>
          </a:p>
          <a:p>
            <a:r>
              <a:rPr lang="en-US" altLang="zh-CN" dirty="0"/>
              <a:t>                       </a:t>
            </a:r>
            <a:endParaRPr lang="en-US" altLang="zh-CN" dirty="0"/>
          </a:p>
          <a:p>
            <a:r>
              <a:rPr lang="en-US" altLang="zh-CN" dirty="0"/>
              <a:t>    // ROM</a:t>
            </a:r>
            <a:r>
              <a:rPr lang="zh-CN" altLang="en-US" dirty="0"/>
              <a:t>：播放音乐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music M1(.</a:t>
            </a:r>
            <a:r>
              <a:rPr lang="en-US" altLang="zh-CN" dirty="0" err="1"/>
              <a:t>clk</a:t>
            </a:r>
            <a:r>
              <a:rPr lang="en-US" altLang="zh-CN" dirty="0"/>
              <a:t>(CLK100MHZ),</a:t>
            </a:r>
            <a:endParaRPr lang="en-US" altLang="zh-CN" dirty="0"/>
          </a:p>
          <a:p>
            <a:r>
              <a:rPr lang="en-US" altLang="zh-CN" dirty="0"/>
              <a:t>             .</a:t>
            </a:r>
            <a:r>
              <a:rPr lang="en-US" altLang="zh-CN" dirty="0" err="1"/>
              <a:t>audioData</a:t>
            </a:r>
            <a:r>
              <a:rPr lang="en-US" altLang="zh-CN" dirty="0"/>
              <a:t>(AUD_PWM), .</a:t>
            </a:r>
            <a:r>
              <a:rPr lang="en-US" altLang="zh-CN" dirty="0" err="1"/>
              <a:t>audioSD</a:t>
            </a:r>
            <a:r>
              <a:rPr lang="en-US" altLang="zh-CN" dirty="0"/>
              <a:t>(AUD_SD));//output            </a:t>
            </a:r>
            <a:endParaRPr lang="en-US" altLang="zh-CN" dirty="0"/>
          </a:p>
          <a:p>
            <a:r>
              <a:rPr lang="en-US" altLang="zh-CN" dirty="0" err="1"/>
              <a:t>endmodule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907001-0931-41E4-8BBA-EA573262DE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module music(              // </a:t>
            </a:r>
            <a:r>
              <a:rPr lang="zh-CN" altLang="en-US" dirty="0"/>
              <a:t>播放音乐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input  logic </a:t>
            </a:r>
            <a:r>
              <a:rPr lang="en-US" altLang="zh-CN" dirty="0" err="1"/>
              <a:t>clk</a:t>
            </a:r>
            <a:r>
              <a:rPr lang="en-US" altLang="zh-CN" dirty="0"/>
              <a:t>,</a:t>
            </a:r>
            <a:endParaRPr lang="en-US" altLang="zh-CN" dirty="0"/>
          </a:p>
          <a:p>
            <a:r>
              <a:rPr lang="en-US" altLang="zh-CN" dirty="0"/>
              <a:t>    output logic </a:t>
            </a:r>
            <a:r>
              <a:rPr lang="en-US" altLang="zh-CN" dirty="0" err="1"/>
              <a:t>audioData</a:t>
            </a:r>
            <a:r>
              <a:rPr lang="en-US" altLang="zh-CN" dirty="0"/>
              <a:t>,// Open-drain output</a:t>
            </a:r>
            <a:endParaRPr lang="en-US" altLang="zh-CN" dirty="0"/>
          </a:p>
          <a:p>
            <a:r>
              <a:rPr lang="en-US" altLang="zh-CN" dirty="0"/>
              <a:t>    output logic </a:t>
            </a:r>
            <a:r>
              <a:rPr lang="en-US" altLang="zh-CN" dirty="0" err="1"/>
              <a:t>audioSD</a:t>
            </a:r>
            <a:r>
              <a:rPr lang="en-US" altLang="zh-CN" dirty="0"/>
              <a:t>); // Analog filter </a:t>
            </a:r>
            <a:r>
              <a:rPr lang="en-US" altLang="zh-CN" dirty="0" err="1"/>
              <a:t>ShutDown</a:t>
            </a:r>
            <a:r>
              <a:rPr lang="en-US" altLang="zh-CN" dirty="0"/>
              <a:t> input  </a:t>
            </a:r>
            <a:endParaRPr lang="en-US" altLang="zh-CN" dirty="0"/>
          </a:p>
          <a:p>
            <a:r>
              <a:rPr lang="en-US" altLang="zh-CN" dirty="0"/>
              <a:t>    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audioSD</a:t>
            </a:r>
            <a:r>
              <a:rPr lang="en-US" altLang="zh-CN" dirty="0"/>
              <a:t> = 1;   // </a:t>
            </a:r>
            <a:r>
              <a:rPr lang="zh-CN" altLang="en-US" dirty="0"/>
              <a:t>一直播放</a:t>
            </a:r>
            <a:endParaRPr lang="zh-CN" altLang="en-US" dirty="0"/>
          </a:p>
          <a:p>
            <a:r>
              <a:rPr lang="zh-CN" altLang="en-US" dirty="0"/>
              <a:t>           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 err="1"/>
              <a:t>localparam</a:t>
            </a:r>
            <a:r>
              <a:rPr lang="en-US" altLang="zh-CN" dirty="0"/>
              <a:t> MEM_SIZE = 106353; //</a:t>
            </a:r>
            <a:r>
              <a:rPr lang="zh-CN" altLang="en-US" dirty="0"/>
              <a:t>数据长度    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logic [16:0] address; // 2^17=131,072 &gt; 106,353     </a:t>
            </a:r>
            <a:endParaRPr lang="en-US" altLang="zh-CN" dirty="0"/>
          </a:p>
          <a:p>
            <a:r>
              <a:rPr lang="en-US" altLang="zh-CN" dirty="0"/>
              <a:t>    logic [7:0] value;    // </a:t>
            </a:r>
            <a:r>
              <a:rPr lang="zh-CN" altLang="en-US" dirty="0"/>
              <a:t>音频数据</a:t>
            </a:r>
            <a:r>
              <a:rPr lang="en-US" altLang="zh-CN" dirty="0"/>
              <a:t>(8</a:t>
            </a:r>
            <a:r>
              <a:rPr lang="zh-CN" altLang="en-US" dirty="0"/>
              <a:t>位</a:t>
            </a:r>
            <a:r>
              <a:rPr lang="en-US" altLang="zh-CN" dirty="0"/>
              <a:t>:0-255)</a:t>
            </a:r>
            <a:endParaRPr lang="en-US" altLang="zh-CN" dirty="0"/>
          </a:p>
          <a:p>
            <a:r>
              <a:rPr lang="en-US" altLang="zh-CN" dirty="0"/>
              <a:t>    logic clk2048kHz;     // 1k=1000</a:t>
            </a:r>
            <a:endParaRPr lang="en-US" altLang="zh-CN" dirty="0"/>
          </a:p>
          <a:p>
            <a:r>
              <a:rPr lang="en-US" altLang="zh-CN" dirty="0"/>
              <a:t>    </a:t>
            </a:r>
            <a:endParaRPr lang="en-US" altLang="zh-CN" dirty="0"/>
          </a:p>
          <a:p>
            <a:r>
              <a:rPr lang="en-US" altLang="zh-CN" dirty="0"/>
              <a:t>    clk2MHz C2(</a:t>
            </a:r>
            <a:r>
              <a:rPr lang="en-US" altLang="zh-CN" dirty="0" err="1"/>
              <a:t>clk</a:t>
            </a:r>
            <a:r>
              <a:rPr lang="en-US" altLang="zh-CN" dirty="0"/>
              <a:t>, clk2048kHz);</a:t>
            </a:r>
            <a:endParaRPr lang="en-US" altLang="zh-CN" dirty="0"/>
          </a:p>
          <a:p>
            <a:r>
              <a:rPr lang="en-US" altLang="zh-CN" dirty="0"/>
              <a:t>    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SuperMario</a:t>
            </a:r>
            <a:r>
              <a:rPr lang="en-US" altLang="zh-CN" dirty="0"/>
              <a:t> M1(.</a:t>
            </a:r>
            <a:r>
              <a:rPr lang="en-US" altLang="zh-CN" dirty="0" err="1"/>
              <a:t>clka</a:t>
            </a:r>
            <a:r>
              <a:rPr lang="en-US" altLang="zh-CN" dirty="0"/>
              <a:t>(</a:t>
            </a:r>
            <a:r>
              <a:rPr lang="en-US" altLang="zh-CN" dirty="0" err="1"/>
              <a:t>clk</a:t>
            </a:r>
            <a:r>
              <a:rPr lang="en-US" altLang="zh-CN" dirty="0"/>
              <a:t>),     // </a:t>
            </a:r>
            <a:r>
              <a:rPr lang="zh-CN" altLang="en-US" dirty="0"/>
              <a:t>仅同步</a:t>
            </a:r>
            <a:endParaRPr lang="zh-CN" altLang="en-US" dirty="0"/>
          </a:p>
          <a:p>
            <a:r>
              <a:rPr lang="zh-CN" altLang="en-US" dirty="0"/>
              <a:t>                  </a:t>
            </a:r>
            <a:r>
              <a:rPr lang="en-US" altLang="zh-CN" dirty="0"/>
              <a:t>.addra(address),// input [16:0]</a:t>
            </a:r>
            <a:endParaRPr lang="en-US" altLang="zh-CN" dirty="0"/>
          </a:p>
          <a:p>
            <a:r>
              <a:rPr lang="en-US" altLang="zh-CN" dirty="0"/>
              <a:t>                  .</a:t>
            </a:r>
            <a:r>
              <a:rPr lang="en-US" altLang="zh-CN" dirty="0" err="1"/>
              <a:t>douta</a:t>
            </a:r>
            <a:r>
              <a:rPr lang="en-US" altLang="zh-CN" dirty="0"/>
              <a:t>(value) );// output -8</a:t>
            </a:r>
            <a:r>
              <a:rPr lang="zh-CN" altLang="en-US" dirty="0"/>
              <a:t>位数据 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logic [7:0] counter = 0; </a:t>
            </a:r>
            <a:endParaRPr lang="en-US" altLang="zh-CN" dirty="0"/>
          </a:p>
          <a:p>
            <a:r>
              <a:rPr lang="en-US" altLang="zh-CN" dirty="0"/>
              <a:t>    // 8kHz * 256 steps = 2,048kHz</a:t>
            </a:r>
            <a:endParaRPr lang="en-US" altLang="zh-CN" dirty="0"/>
          </a:p>
          <a:p>
            <a:r>
              <a:rPr lang="en-US" altLang="zh-CN" dirty="0"/>
              <a:t>    always @(posedge clk2048kHz) </a:t>
            </a:r>
            <a:endParaRPr lang="en-US" altLang="zh-CN" dirty="0"/>
          </a:p>
          <a:p>
            <a:r>
              <a:rPr lang="en-US" altLang="zh-CN" dirty="0"/>
              <a:t>    begin</a:t>
            </a:r>
            <a:endParaRPr lang="en-US" altLang="zh-CN" dirty="0"/>
          </a:p>
          <a:p>
            <a:r>
              <a:rPr lang="en-US" altLang="zh-CN" dirty="0"/>
              <a:t>        counter &lt;= counter + 1;</a:t>
            </a:r>
            <a:endParaRPr lang="en-US" altLang="zh-CN" dirty="0"/>
          </a:p>
          <a:p>
            <a:r>
              <a:rPr lang="en-US" altLang="zh-CN" dirty="0"/>
              <a:t>        </a:t>
            </a:r>
            <a:endParaRPr lang="en-US" altLang="zh-CN" dirty="0"/>
          </a:p>
          <a:p>
            <a:r>
              <a:rPr lang="en-US" altLang="zh-CN" dirty="0"/>
              <a:t>        //</a:t>
            </a:r>
            <a:r>
              <a:rPr lang="zh-CN" altLang="en-US" dirty="0"/>
              <a:t>当</a:t>
            </a:r>
            <a:r>
              <a:rPr lang="en-US" altLang="zh-CN" dirty="0"/>
              <a:t>counter&lt;value</a:t>
            </a:r>
            <a:r>
              <a:rPr lang="zh-CN" altLang="en-US" dirty="0"/>
              <a:t>时，</a:t>
            </a:r>
            <a:r>
              <a:rPr lang="en-US" altLang="zh-CN" dirty="0"/>
              <a:t>AUD_PWM=1; </a:t>
            </a:r>
            <a:r>
              <a:rPr lang="zh-CN" altLang="en-US" dirty="0"/>
              <a:t>否则 </a:t>
            </a:r>
            <a:r>
              <a:rPr lang="en-US" altLang="zh-CN" dirty="0"/>
              <a:t>=0.</a:t>
            </a:r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en-US" altLang="zh-CN" dirty="0" err="1"/>
              <a:t>audioData</a:t>
            </a:r>
            <a:r>
              <a:rPr lang="en-US" altLang="zh-CN" dirty="0"/>
              <a:t> &lt;= (counter &lt; value); </a:t>
            </a:r>
            <a:endParaRPr lang="en-US" altLang="zh-CN" dirty="0"/>
          </a:p>
          <a:p>
            <a:r>
              <a:rPr lang="en-US" altLang="zh-CN" dirty="0"/>
              <a:t>      </a:t>
            </a:r>
            <a:endParaRPr lang="en-US" altLang="zh-CN" dirty="0"/>
          </a:p>
          <a:p>
            <a:r>
              <a:rPr lang="en-US" altLang="zh-CN" dirty="0"/>
              <a:t>        if (counter == (256 - 1))    // 8kHz</a:t>
            </a:r>
            <a:endParaRPr lang="en-US" altLang="zh-CN" dirty="0"/>
          </a:p>
          <a:p>
            <a:r>
              <a:rPr lang="en-US" altLang="zh-CN" dirty="0"/>
              <a:t>        begin</a:t>
            </a:r>
            <a:endParaRPr lang="en-US" altLang="zh-CN" dirty="0"/>
          </a:p>
          <a:p>
            <a:r>
              <a:rPr lang="en-US" altLang="zh-CN" dirty="0"/>
              <a:t>            // </a:t>
            </a:r>
            <a:r>
              <a:rPr lang="zh-CN" altLang="en-US" dirty="0"/>
              <a:t>每</a:t>
            </a:r>
            <a:r>
              <a:rPr lang="en-US" altLang="zh-CN" dirty="0"/>
              <a:t>8kHz,</a:t>
            </a:r>
            <a:r>
              <a:rPr lang="zh-CN" altLang="en-US" dirty="0"/>
              <a:t>去</a:t>
            </a:r>
            <a:r>
              <a:rPr lang="en-US" altLang="zh-CN" dirty="0"/>
              <a:t>ROM</a:t>
            </a:r>
            <a:r>
              <a:rPr lang="zh-CN" altLang="en-US" dirty="0"/>
              <a:t>中取一个音频数据</a:t>
            </a:r>
            <a:endParaRPr lang="zh-CN" altLang="en-US" dirty="0"/>
          </a:p>
          <a:p>
            <a:r>
              <a:rPr lang="zh-CN" altLang="en-US" dirty="0"/>
              <a:t>            </a:t>
            </a:r>
            <a:r>
              <a:rPr lang="en-US" altLang="zh-CN" dirty="0"/>
              <a:t>address &lt;= address + 1;  </a:t>
            </a:r>
            <a:endParaRPr lang="en-US" altLang="zh-CN" dirty="0"/>
          </a:p>
          <a:p>
            <a:r>
              <a:rPr lang="en-US" altLang="zh-CN" dirty="0"/>
              <a:t>            // </a:t>
            </a:r>
            <a:r>
              <a:rPr lang="zh-CN" altLang="en-US" dirty="0"/>
              <a:t>重复播放：地址归</a:t>
            </a:r>
            <a:r>
              <a:rPr lang="en-US" altLang="zh-CN" dirty="0"/>
              <a:t>0</a:t>
            </a:r>
            <a:endParaRPr lang="en-US" altLang="zh-CN" dirty="0"/>
          </a:p>
          <a:p>
            <a:r>
              <a:rPr lang="en-US" altLang="zh-CN" dirty="0"/>
              <a:t>            if (address == MEM_SIZE) address &lt;= 0;</a:t>
            </a:r>
            <a:endParaRPr lang="en-US" altLang="zh-CN" dirty="0"/>
          </a:p>
          <a:p>
            <a:r>
              <a:rPr lang="en-US" altLang="zh-CN" dirty="0"/>
              <a:t>        end</a:t>
            </a:r>
            <a:endParaRPr lang="en-US" altLang="zh-CN" dirty="0"/>
          </a:p>
          <a:p>
            <a:r>
              <a:rPr lang="en-US" altLang="zh-CN" dirty="0"/>
              <a:t>    end</a:t>
            </a:r>
            <a:endParaRPr lang="en-US" altLang="zh-CN" dirty="0"/>
          </a:p>
          <a:p>
            <a:r>
              <a:rPr lang="en-US" altLang="zh-CN" dirty="0" err="1"/>
              <a:t>endmodule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907001-0931-41E4-8BBA-EA573262DE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module </a:t>
            </a:r>
            <a:r>
              <a:rPr lang="en-US" altLang="zh-CN" dirty="0" err="1"/>
              <a:t>pingpong_screen_text</a:t>
            </a:r>
            <a:r>
              <a:rPr lang="en-US" altLang="zh-CN" dirty="0"/>
              <a:t>(</a:t>
            </a:r>
            <a:endParaRPr lang="en-US" altLang="zh-CN" dirty="0"/>
          </a:p>
          <a:p>
            <a:r>
              <a:rPr lang="en-US" altLang="zh-CN" dirty="0"/>
              <a:t>    input  logic </a:t>
            </a:r>
            <a:r>
              <a:rPr lang="en-US" altLang="zh-CN" dirty="0" err="1"/>
              <a:t>clk</a:t>
            </a:r>
            <a:r>
              <a:rPr lang="en-US" altLang="zh-CN" dirty="0"/>
              <a:t>, reset,          //</a:t>
            </a:r>
            <a:r>
              <a:rPr lang="en-US" altLang="zh-CN" dirty="0" err="1"/>
              <a:t>clk</a:t>
            </a:r>
            <a:r>
              <a:rPr lang="en-US" altLang="zh-CN" dirty="0"/>
              <a:t>: </a:t>
            </a:r>
            <a:r>
              <a:rPr lang="zh-CN" altLang="en-US" dirty="0"/>
              <a:t>屏幕</a:t>
            </a:r>
            <a:r>
              <a:rPr lang="en-US" altLang="zh-CN" dirty="0"/>
              <a:t>60Hz</a:t>
            </a:r>
            <a:r>
              <a:rPr lang="zh-CN" altLang="en-US" dirty="0"/>
              <a:t>刷新频率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input  logic </a:t>
            </a:r>
            <a:r>
              <a:rPr lang="en-US" altLang="zh-CN" dirty="0" err="1"/>
              <a:t>btnUp</a:t>
            </a:r>
            <a:r>
              <a:rPr lang="en-US" altLang="zh-CN" dirty="0"/>
              <a:t>, </a:t>
            </a:r>
            <a:r>
              <a:rPr lang="en-US" altLang="zh-CN" dirty="0" err="1"/>
              <a:t>btnDown</a:t>
            </a:r>
            <a:r>
              <a:rPr lang="en-US" altLang="zh-CN" dirty="0"/>
              <a:t>,      //</a:t>
            </a:r>
            <a:r>
              <a:rPr lang="zh-CN" altLang="en-US" dirty="0"/>
              <a:t>控制</a:t>
            </a:r>
            <a:r>
              <a:rPr lang="en-US" altLang="zh-CN" dirty="0"/>
              <a:t>Bar</a:t>
            </a:r>
            <a:r>
              <a:rPr lang="zh-CN" altLang="en-US" dirty="0"/>
              <a:t>上下移动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input  logic </a:t>
            </a:r>
            <a:r>
              <a:rPr lang="en-US" altLang="zh-CN" dirty="0" err="1"/>
              <a:t>videoOn</a:t>
            </a:r>
            <a:r>
              <a:rPr lang="en-US" altLang="zh-CN" dirty="0"/>
              <a:t>,</a:t>
            </a:r>
            <a:endParaRPr lang="en-US" altLang="zh-CN" dirty="0"/>
          </a:p>
          <a:p>
            <a:r>
              <a:rPr lang="en-US" altLang="zh-CN" dirty="0"/>
              <a:t>    input  logic [10:0] </a:t>
            </a:r>
            <a:r>
              <a:rPr lang="en-US" altLang="zh-CN" dirty="0" err="1"/>
              <a:t>pix_x</a:t>
            </a:r>
            <a:r>
              <a:rPr lang="en-US" altLang="zh-CN" dirty="0"/>
              <a:t>, </a:t>
            </a:r>
            <a:r>
              <a:rPr lang="en-US" altLang="zh-CN" dirty="0" err="1"/>
              <a:t>pix_y</a:t>
            </a:r>
            <a:r>
              <a:rPr lang="en-US" altLang="zh-CN" dirty="0"/>
              <a:t>, //</a:t>
            </a:r>
            <a:r>
              <a:rPr lang="zh-CN" altLang="en-US" dirty="0"/>
              <a:t>屏幕坐标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output logic [3:0]  red, green, blue, </a:t>
            </a:r>
            <a:endParaRPr lang="en-US" altLang="zh-CN" dirty="0"/>
          </a:p>
          <a:p>
            <a:r>
              <a:rPr lang="en-US" altLang="zh-CN" dirty="0"/>
              <a:t>    input  logic [11:0] </a:t>
            </a:r>
            <a:r>
              <a:rPr lang="en-US" altLang="zh-CN" dirty="0" err="1"/>
              <a:t>picData</a:t>
            </a:r>
            <a:r>
              <a:rPr lang="en-US" altLang="zh-CN" dirty="0"/>
              <a:t>,   //</a:t>
            </a:r>
            <a:r>
              <a:rPr lang="zh-CN" altLang="en-US" dirty="0"/>
              <a:t>每个像素用</a:t>
            </a:r>
            <a:r>
              <a:rPr lang="en-US" altLang="zh-CN" dirty="0"/>
              <a:t>12</a:t>
            </a:r>
            <a:r>
              <a:rPr lang="zh-CN" altLang="en-US" dirty="0"/>
              <a:t>位表示色彩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output logic [16:0] picAddr17);//320x320=102,400bit.(2^17=131,072) </a:t>
            </a:r>
            <a:endParaRPr lang="en-US" altLang="zh-CN" dirty="0"/>
          </a:p>
          <a:p>
            <a:r>
              <a:rPr lang="en-US" altLang="zh-CN" dirty="0"/>
              <a:t>     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localparam</a:t>
            </a:r>
            <a:r>
              <a:rPr lang="en-US" altLang="zh-CN" dirty="0"/>
              <a:t> </a:t>
            </a:r>
            <a:endParaRPr lang="en-US" altLang="zh-CN" dirty="0"/>
          </a:p>
          <a:p>
            <a:r>
              <a:rPr lang="en-US" altLang="zh-CN" dirty="0"/>
              <a:t>      MAX_X = 640,  MAX_Y = 480,  //(0.0) to (640-1,480-1)</a:t>
            </a:r>
            <a:endParaRPr lang="en-US" altLang="zh-CN" dirty="0"/>
          </a:p>
          <a:p>
            <a:r>
              <a:rPr lang="en-US" altLang="zh-CN" dirty="0"/>
              <a:t>      // </a:t>
            </a:r>
            <a:r>
              <a:rPr lang="zh-CN" altLang="en-US" dirty="0"/>
              <a:t>屏幕参数</a:t>
            </a:r>
            <a:endParaRPr lang="zh-CN" altLang="en-US" dirty="0"/>
          </a:p>
          <a:p>
            <a:r>
              <a:rPr lang="zh-CN" altLang="en-US" dirty="0"/>
              <a:t>      </a:t>
            </a:r>
            <a:r>
              <a:rPr lang="en-US" altLang="zh-CN" dirty="0"/>
              <a:t>H_SYNC    =  96,           // horizontal sync width</a:t>
            </a:r>
            <a:endParaRPr lang="en-US" altLang="zh-CN" dirty="0"/>
          </a:p>
          <a:p>
            <a:r>
              <a:rPr lang="en-US" altLang="zh-CN" dirty="0"/>
              <a:t>      H_BACK    =  48,           // left border (back porch) </a:t>
            </a:r>
            <a:endParaRPr lang="en-US" altLang="zh-CN" dirty="0"/>
          </a:p>
          <a:p>
            <a:r>
              <a:rPr lang="en-US" altLang="zh-CN" dirty="0"/>
              <a:t>      H_SYNC_START = H_SYNC + H_BACK, //</a:t>
            </a:r>
            <a:r>
              <a:rPr lang="zh-CN" altLang="en-US" dirty="0"/>
              <a:t>行显示后沿 </a:t>
            </a:r>
            <a:r>
              <a:rPr lang="en-US" altLang="zh-CN" dirty="0"/>
              <a:t>= 144(96+48)</a:t>
            </a:r>
            <a:endParaRPr lang="en-US" altLang="zh-CN" dirty="0"/>
          </a:p>
          <a:p>
            <a:r>
              <a:rPr lang="en-US" altLang="zh-CN" dirty="0"/>
              <a:t>      V_SYNC    =   2,           // vertical sync lines</a:t>
            </a:r>
            <a:endParaRPr lang="en-US" altLang="zh-CN" dirty="0"/>
          </a:p>
          <a:p>
            <a:r>
              <a:rPr lang="en-US" altLang="zh-CN" dirty="0"/>
              <a:t>      V_TOP     =  29,           // vertical top border  </a:t>
            </a:r>
            <a:endParaRPr lang="en-US" altLang="zh-CN" dirty="0"/>
          </a:p>
          <a:p>
            <a:r>
              <a:rPr lang="en-US" altLang="zh-CN" dirty="0"/>
              <a:t>      V_SYNC_START = V_SYNC + V_TOP, //</a:t>
            </a:r>
            <a:r>
              <a:rPr lang="zh-CN" altLang="en-US" dirty="0"/>
              <a:t>场显示后沿 </a:t>
            </a:r>
            <a:r>
              <a:rPr lang="en-US" altLang="zh-CN" dirty="0"/>
              <a:t>=  31(2+29)   </a:t>
            </a:r>
            <a:endParaRPr lang="en-US" altLang="zh-CN" dirty="0"/>
          </a:p>
          <a:p>
            <a:r>
              <a:rPr lang="en-US" altLang="zh-CN" dirty="0"/>
              <a:t>      // === wall === </a:t>
            </a:r>
            <a:endParaRPr lang="en-US" altLang="zh-CN" dirty="0"/>
          </a:p>
          <a:p>
            <a:r>
              <a:rPr lang="en-US" altLang="zh-CN" dirty="0"/>
              <a:t>      WALL_X_L = H_SYNC_START + 30, // left boundary</a:t>
            </a:r>
            <a:endParaRPr lang="en-US" altLang="zh-CN" dirty="0"/>
          </a:p>
          <a:p>
            <a:r>
              <a:rPr lang="en-US" altLang="zh-CN" dirty="0"/>
              <a:t>      WALL_X_R = H_SYNC_START + 40, // right boundary  </a:t>
            </a:r>
            <a:endParaRPr lang="en-US" altLang="zh-CN" dirty="0"/>
          </a:p>
          <a:p>
            <a:r>
              <a:rPr lang="en-US" altLang="zh-CN" dirty="0"/>
              <a:t>      // === bar === </a:t>
            </a:r>
            <a:endParaRPr lang="en-US" altLang="zh-CN" dirty="0"/>
          </a:p>
          <a:p>
            <a:r>
              <a:rPr lang="en-US" altLang="zh-CN" dirty="0"/>
              <a:t>      BAR_X_L = H_SYNC_START + 600, // left boundary</a:t>
            </a:r>
            <a:endParaRPr lang="en-US" altLang="zh-CN" dirty="0"/>
          </a:p>
          <a:p>
            <a:r>
              <a:rPr lang="en-US" altLang="zh-CN" dirty="0"/>
              <a:t>      BAR_X_R = H_SYNC_START + 605, // right boundary   </a:t>
            </a:r>
            <a:endParaRPr lang="en-US" altLang="zh-CN" dirty="0"/>
          </a:p>
          <a:p>
            <a:r>
              <a:rPr lang="en-US" altLang="zh-CN" dirty="0"/>
              <a:t>      BAR_Y_SIZE = 70,              // bar </a:t>
            </a:r>
            <a:r>
              <a:rPr lang="zh-CN" altLang="en-US" dirty="0"/>
              <a:t>的高度</a:t>
            </a:r>
            <a:endParaRPr lang="zh-CN" altLang="en-US" dirty="0"/>
          </a:p>
          <a:p>
            <a:r>
              <a:rPr lang="zh-CN" altLang="en-US" dirty="0"/>
              <a:t>      </a:t>
            </a:r>
            <a:r>
              <a:rPr lang="en-US" altLang="zh-CN" dirty="0"/>
              <a:t>BAR_Y_T = V_SYNC_START + MAX_Y/2 - BAR_Y_SIZE/2, //Top=204 </a:t>
            </a:r>
            <a:endParaRPr lang="en-US" altLang="zh-CN" dirty="0"/>
          </a:p>
          <a:p>
            <a:r>
              <a:rPr lang="en-US" altLang="zh-CN" dirty="0"/>
              <a:t>      BAR_Y_B = BAR_Y_T + BAR_Y_SIZE -1, // bottom boundary </a:t>
            </a:r>
            <a:endParaRPr lang="en-US" altLang="zh-CN" dirty="0"/>
          </a:p>
          <a:p>
            <a:r>
              <a:rPr lang="en-US" altLang="zh-CN" dirty="0"/>
              <a:t>      BAR_V = 4,                    // </a:t>
            </a:r>
            <a:r>
              <a:rPr lang="zh-CN" altLang="en-US" dirty="0"/>
              <a:t>每次移动 </a:t>
            </a:r>
            <a:r>
              <a:rPr lang="en-US" altLang="zh-CN" dirty="0"/>
              <a:t>bar </a:t>
            </a:r>
            <a:r>
              <a:rPr lang="zh-CN" altLang="en-US" dirty="0"/>
              <a:t>的距离  </a:t>
            </a:r>
            <a:endParaRPr lang="zh-CN" altLang="en-US" dirty="0"/>
          </a:p>
          <a:p>
            <a:r>
              <a:rPr lang="zh-CN" altLang="en-US" dirty="0"/>
              <a:t>      </a:t>
            </a:r>
            <a:r>
              <a:rPr lang="en-US" altLang="zh-CN" dirty="0"/>
              <a:t>// === ball ===</a:t>
            </a:r>
            <a:endParaRPr lang="en-US" altLang="zh-CN" dirty="0"/>
          </a:p>
          <a:p>
            <a:r>
              <a:rPr lang="en-US" altLang="zh-CN" dirty="0"/>
              <a:t>      BALL_SIZE = 8, </a:t>
            </a:r>
            <a:endParaRPr lang="en-US" altLang="zh-CN" dirty="0"/>
          </a:p>
          <a:p>
            <a:r>
              <a:rPr lang="en-US" altLang="zh-CN" dirty="0"/>
              <a:t>      BALL_X_L = H_SYNC_START + 580,       // left boundary </a:t>
            </a:r>
            <a:endParaRPr lang="en-US" altLang="zh-CN" dirty="0"/>
          </a:p>
          <a:p>
            <a:r>
              <a:rPr lang="en-US" altLang="zh-CN" dirty="0"/>
              <a:t>      BALL_X_R = BALL_X_L + BALL_SIZE - 1, // right boundary </a:t>
            </a:r>
            <a:endParaRPr lang="en-US" altLang="zh-CN" dirty="0"/>
          </a:p>
          <a:p>
            <a:r>
              <a:rPr lang="en-US" altLang="zh-CN" dirty="0"/>
              <a:t>      BALL_Y_T = V_SYNC_START + MAX_Y/2 -BALL_SIZE/2,//top boundary </a:t>
            </a:r>
            <a:endParaRPr lang="en-US" altLang="zh-CN" dirty="0"/>
          </a:p>
          <a:p>
            <a:r>
              <a:rPr lang="en-US" altLang="zh-CN" dirty="0"/>
              <a:t>      BALL_Y_B = BALL_Y_T + BALL_SIZE - 1,       // bottom boundary </a:t>
            </a:r>
            <a:endParaRPr lang="en-US" altLang="zh-CN" dirty="0"/>
          </a:p>
          <a:p>
            <a:r>
              <a:rPr lang="en-US" altLang="zh-CN" dirty="0"/>
              <a:t>      BALL_V = 2;                          // </a:t>
            </a:r>
            <a:r>
              <a:rPr lang="zh-CN" altLang="en-US" dirty="0"/>
              <a:t>每次移动 </a:t>
            </a:r>
            <a:r>
              <a:rPr lang="en-US" altLang="zh-CN" dirty="0"/>
              <a:t>ball </a:t>
            </a:r>
            <a:r>
              <a:rPr lang="zh-CN" altLang="en-US" dirty="0"/>
              <a:t>的距离</a:t>
            </a:r>
            <a:endParaRPr lang="zh-CN" altLang="en-US" dirty="0"/>
          </a:p>
          <a:p>
            <a:r>
              <a:rPr lang="zh-CN" altLang="en-US" dirty="0"/>
              <a:t>         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logic </a:t>
            </a:r>
            <a:r>
              <a:rPr lang="en-US" altLang="zh-CN" dirty="0" err="1"/>
              <a:t>wallOn</a:t>
            </a:r>
            <a:r>
              <a:rPr lang="en-US" altLang="zh-CN" dirty="0"/>
              <a:t>, </a:t>
            </a:r>
            <a:r>
              <a:rPr lang="en-US" altLang="zh-CN" dirty="0" err="1"/>
              <a:t>barOn</a:t>
            </a:r>
            <a:r>
              <a:rPr lang="en-US" altLang="zh-CN" dirty="0"/>
              <a:t>, </a:t>
            </a:r>
            <a:r>
              <a:rPr lang="en-US" altLang="zh-CN" dirty="0" err="1"/>
              <a:t>ballOn</a:t>
            </a:r>
            <a:r>
              <a:rPr lang="en-US" altLang="zh-CN" dirty="0"/>
              <a:t>, </a:t>
            </a:r>
            <a:r>
              <a:rPr lang="en-US" altLang="zh-CN" dirty="0" err="1"/>
              <a:t>picOn</a:t>
            </a:r>
            <a:r>
              <a:rPr lang="en-US" altLang="zh-CN" dirty="0"/>
              <a:t>, </a:t>
            </a:r>
            <a:r>
              <a:rPr lang="en-US" altLang="zh-CN" dirty="0" err="1"/>
              <a:t>textOn</a:t>
            </a:r>
            <a:r>
              <a:rPr lang="en-US" altLang="zh-CN" dirty="0"/>
              <a:t>; </a:t>
            </a:r>
            <a:endParaRPr lang="en-US" altLang="zh-CN" dirty="0"/>
          </a:p>
          <a:p>
            <a:r>
              <a:rPr lang="en-US" altLang="zh-CN" dirty="0"/>
              <a:t>    logic [3:0] </a:t>
            </a:r>
            <a:r>
              <a:rPr lang="en-US" altLang="zh-CN" dirty="0" err="1"/>
              <a:t>wall_r</a:t>
            </a:r>
            <a:r>
              <a:rPr lang="en-US" altLang="zh-CN" dirty="0"/>
              <a:t>, </a:t>
            </a:r>
            <a:r>
              <a:rPr lang="en-US" altLang="zh-CN" dirty="0" err="1"/>
              <a:t>wall_g</a:t>
            </a:r>
            <a:r>
              <a:rPr lang="en-US" altLang="zh-CN" dirty="0"/>
              <a:t>, </a:t>
            </a:r>
            <a:r>
              <a:rPr lang="en-US" altLang="zh-CN" dirty="0" err="1"/>
              <a:t>wall_b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logic [3:0] </a:t>
            </a:r>
            <a:r>
              <a:rPr lang="en-US" altLang="zh-CN" dirty="0" err="1"/>
              <a:t>bar_r</a:t>
            </a:r>
            <a:r>
              <a:rPr lang="en-US" altLang="zh-CN" dirty="0"/>
              <a:t>,  </a:t>
            </a:r>
            <a:r>
              <a:rPr lang="en-US" altLang="zh-CN" dirty="0" err="1"/>
              <a:t>bar_g</a:t>
            </a:r>
            <a:r>
              <a:rPr lang="en-US" altLang="zh-CN" dirty="0"/>
              <a:t>,  </a:t>
            </a:r>
            <a:r>
              <a:rPr lang="en-US" altLang="zh-CN" dirty="0" err="1"/>
              <a:t>bar_b</a:t>
            </a:r>
            <a:r>
              <a:rPr lang="en-US" altLang="zh-CN" dirty="0"/>
              <a:t>; </a:t>
            </a:r>
            <a:endParaRPr lang="en-US" altLang="zh-CN" dirty="0"/>
          </a:p>
          <a:p>
            <a:r>
              <a:rPr lang="en-US" altLang="zh-CN" dirty="0"/>
              <a:t>    logic [3:0] </a:t>
            </a:r>
            <a:r>
              <a:rPr lang="en-US" altLang="zh-CN" dirty="0" err="1"/>
              <a:t>ball_r</a:t>
            </a:r>
            <a:r>
              <a:rPr lang="en-US" altLang="zh-CN" dirty="0"/>
              <a:t>, </a:t>
            </a:r>
            <a:r>
              <a:rPr lang="en-US" altLang="zh-CN" dirty="0" err="1"/>
              <a:t>ball_g</a:t>
            </a:r>
            <a:r>
              <a:rPr lang="en-US" altLang="zh-CN" dirty="0"/>
              <a:t>, </a:t>
            </a:r>
            <a:r>
              <a:rPr lang="en-US" altLang="zh-CN" dirty="0" err="1"/>
              <a:t>ball_b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logic [3:0] </a:t>
            </a:r>
            <a:r>
              <a:rPr lang="en-US" altLang="zh-CN" dirty="0" err="1"/>
              <a:t>pic_r</a:t>
            </a:r>
            <a:r>
              <a:rPr lang="en-US" altLang="zh-CN" dirty="0"/>
              <a:t>,  </a:t>
            </a:r>
            <a:r>
              <a:rPr lang="en-US" altLang="zh-CN" dirty="0" err="1"/>
              <a:t>pic_g</a:t>
            </a:r>
            <a:r>
              <a:rPr lang="en-US" altLang="zh-CN" dirty="0"/>
              <a:t>,  </a:t>
            </a:r>
            <a:r>
              <a:rPr lang="en-US" altLang="zh-CN" dirty="0" err="1"/>
              <a:t>pic_b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      </a:t>
            </a:r>
            <a:endParaRPr lang="en-US" altLang="zh-CN" dirty="0"/>
          </a:p>
          <a:p>
            <a:r>
              <a:rPr lang="en-US" altLang="zh-CN" dirty="0"/>
              <a:t>    // (wall) : pixel within wall 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wallOn</a:t>
            </a:r>
            <a:r>
              <a:rPr lang="en-US" altLang="zh-CN" dirty="0"/>
              <a:t> = (WALL_X_L &lt;= </a:t>
            </a:r>
            <a:r>
              <a:rPr lang="en-US" altLang="zh-CN" dirty="0" err="1"/>
              <a:t>pix_x</a:t>
            </a:r>
            <a:r>
              <a:rPr lang="en-US" altLang="zh-CN" dirty="0"/>
              <a:t>) &amp;&amp; (</a:t>
            </a:r>
            <a:r>
              <a:rPr lang="en-US" altLang="zh-CN" dirty="0" err="1"/>
              <a:t>pix_x</a:t>
            </a:r>
            <a:r>
              <a:rPr lang="en-US" altLang="zh-CN" dirty="0"/>
              <a:t> &lt;= WALL_X_R); 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wall_r</a:t>
            </a:r>
            <a:r>
              <a:rPr lang="en-US" altLang="zh-CN" dirty="0"/>
              <a:t> = 4'b0000; 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wall_g</a:t>
            </a:r>
            <a:r>
              <a:rPr lang="en-US" altLang="zh-CN" dirty="0"/>
              <a:t> = 4'b0000; 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wall_b</a:t>
            </a:r>
            <a:r>
              <a:rPr lang="en-US" altLang="zh-CN" dirty="0"/>
              <a:t> = 4'b1111; // blue</a:t>
            </a:r>
            <a:endParaRPr lang="en-US" altLang="zh-CN" dirty="0"/>
          </a:p>
          <a:p>
            <a:r>
              <a:rPr lang="en-US" altLang="zh-CN" dirty="0"/>
              <a:t>    </a:t>
            </a:r>
            <a:endParaRPr lang="en-US" altLang="zh-CN" dirty="0"/>
          </a:p>
          <a:p>
            <a:r>
              <a:rPr lang="en-US" altLang="zh-CN" dirty="0"/>
              <a:t>    // (bar) :  pixel within bar </a:t>
            </a:r>
            <a:endParaRPr lang="en-US" altLang="zh-CN" dirty="0"/>
          </a:p>
          <a:p>
            <a:r>
              <a:rPr lang="en-US" altLang="zh-CN" dirty="0"/>
              <a:t>    logic [10:0] </a:t>
            </a:r>
            <a:r>
              <a:rPr lang="en-US" altLang="zh-CN" dirty="0" err="1"/>
              <a:t>bar_y_t</a:t>
            </a:r>
            <a:r>
              <a:rPr lang="en-US" altLang="zh-CN" dirty="0"/>
              <a:t>, </a:t>
            </a:r>
            <a:r>
              <a:rPr lang="en-US" altLang="zh-CN" dirty="0" err="1"/>
              <a:t>bar_y_b</a:t>
            </a:r>
            <a:r>
              <a:rPr lang="en-US" altLang="zh-CN" dirty="0"/>
              <a:t>; // bar top, bottom boundary</a:t>
            </a:r>
            <a:endParaRPr lang="en-US" altLang="zh-CN" dirty="0"/>
          </a:p>
          <a:p>
            <a:r>
              <a:rPr lang="en-US" altLang="zh-CN" dirty="0"/>
              <a:t>    </a:t>
            </a:r>
            <a:endParaRPr lang="en-US" altLang="zh-CN" dirty="0"/>
          </a:p>
          <a:p>
            <a:r>
              <a:rPr lang="en-US" altLang="zh-CN" dirty="0"/>
              <a:t>    // new bar y-position </a:t>
            </a:r>
            <a:endParaRPr lang="en-US" altLang="zh-CN" dirty="0"/>
          </a:p>
          <a:p>
            <a:r>
              <a:rPr lang="en-US" altLang="zh-CN" dirty="0"/>
              <a:t>    always @(posedge </a:t>
            </a:r>
            <a:r>
              <a:rPr lang="en-US" altLang="zh-CN" dirty="0" err="1"/>
              <a:t>clk</a:t>
            </a:r>
            <a:r>
              <a:rPr lang="en-US" altLang="zh-CN" dirty="0"/>
              <a:t>, </a:t>
            </a:r>
            <a:r>
              <a:rPr lang="en-US" altLang="zh-CN" dirty="0" err="1"/>
              <a:t>posedge</a:t>
            </a:r>
            <a:r>
              <a:rPr lang="en-US" altLang="zh-CN" dirty="0"/>
              <a:t> reset)</a:t>
            </a:r>
            <a:endParaRPr lang="en-US" altLang="zh-CN" dirty="0"/>
          </a:p>
          <a:p>
            <a:r>
              <a:rPr lang="en-US" altLang="zh-CN" dirty="0"/>
              <a:t>    begin</a:t>
            </a:r>
            <a:endParaRPr lang="en-US" altLang="zh-CN" dirty="0"/>
          </a:p>
          <a:p>
            <a:r>
              <a:rPr lang="en-US" altLang="zh-CN" dirty="0"/>
              <a:t>        if (reset)</a:t>
            </a:r>
            <a:endParaRPr lang="en-US" altLang="zh-CN" dirty="0"/>
          </a:p>
          <a:p>
            <a:r>
              <a:rPr lang="en-US" altLang="zh-CN" dirty="0"/>
              <a:t>        begin</a:t>
            </a:r>
            <a:endParaRPr lang="en-US" altLang="zh-CN" dirty="0"/>
          </a:p>
          <a:p>
            <a:r>
              <a:rPr lang="en-US" altLang="zh-CN" dirty="0"/>
              <a:t>            </a:t>
            </a:r>
            <a:r>
              <a:rPr lang="en-US" altLang="zh-CN" dirty="0" err="1"/>
              <a:t>bar_y_t</a:t>
            </a:r>
            <a:r>
              <a:rPr lang="en-US" altLang="zh-CN" dirty="0"/>
              <a:t> &lt;= BAR_Y_T;</a:t>
            </a:r>
            <a:endParaRPr lang="en-US" altLang="zh-CN" dirty="0"/>
          </a:p>
          <a:p>
            <a:r>
              <a:rPr lang="en-US" altLang="zh-CN" dirty="0"/>
              <a:t>        end</a:t>
            </a:r>
            <a:endParaRPr lang="en-US" altLang="zh-CN" dirty="0"/>
          </a:p>
          <a:p>
            <a:r>
              <a:rPr lang="en-US" altLang="zh-CN" dirty="0"/>
              <a:t>        else if (</a:t>
            </a:r>
            <a:r>
              <a:rPr lang="en-US" altLang="zh-CN" dirty="0" err="1"/>
              <a:t>btnDown</a:t>
            </a:r>
            <a:r>
              <a:rPr lang="en-US" altLang="zh-CN" dirty="0"/>
              <a:t> &amp; (</a:t>
            </a:r>
            <a:r>
              <a:rPr lang="en-US" altLang="zh-CN" dirty="0" err="1"/>
              <a:t>bar_y_b</a:t>
            </a:r>
            <a:r>
              <a:rPr lang="en-US" altLang="zh-CN" dirty="0"/>
              <a:t> &lt;= (V_SYNC_START+MAX_Y-1-BAR_V))) </a:t>
            </a:r>
            <a:endParaRPr lang="en-US" altLang="zh-CN" dirty="0"/>
          </a:p>
          <a:p>
            <a:r>
              <a:rPr lang="en-US" altLang="zh-CN" dirty="0"/>
              <a:t>            </a:t>
            </a:r>
            <a:r>
              <a:rPr lang="en-US" altLang="zh-CN" dirty="0" err="1"/>
              <a:t>bar_y_t</a:t>
            </a:r>
            <a:r>
              <a:rPr lang="en-US" altLang="zh-CN" dirty="0"/>
              <a:t> &lt;= </a:t>
            </a:r>
            <a:r>
              <a:rPr lang="en-US" altLang="zh-CN" dirty="0" err="1"/>
              <a:t>bar_y_t</a:t>
            </a:r>
            <a:r>
              <a:rPr lang="en-US" altLang="zh-CN" dirty="0"/>
              <a:t> + BAR_V; // move down </a:t>
            </a:r>
            <a:endParaRPr lang="en-US" altLang="zh-CN" dirty="0"/>
          </a:p>
          <a:p>
            <a:r>
              <a:rPr lang="en-US" altLang="zh-CN" dirty="0"/>
              <a:t>        else if (</a:t>
            </a:r>
            <a:r>
              <a:rPr lang="en-US" altLang="zh-CN" dirty="0" err="1"/>
              <a:t>btnUp</a:t>
            </a:r>
            <a:r>
              <a:rPr lang="en-US" altLang="zh-CN" dirty="0"/>
              <a:t> &amp; (</a:t>
            </a:r>
            <a:r>
              <a:rPr lang="en-US" altLang="zh-CN" dirty="0" err="1"/>
              <a:t>bar_y_t</a:t>
            </a:r>
            <a:r>
              <a:rPr lang="en-US" altLang="zh-CN" dirty="0"/>
              <a:t> &gt;= (V_SYNC_START+BAR_V)))</a:t>
            </a:r>
            <a:endParaRPr lang="en-US" altLang="zh-CN" dirty="0"/>
          </a:p>
          <a:p>
            <a:r>
              <a:rPr lang="en-US" altLang="zh-CN" dirty="0"/>
              <a:t>            </a:t>
            </a:r>
            <a:r>
              <a:rPr lang="en-US" altLang="zh-CN" dirty="0" err="1"/>
              <a:t>bar_y_t</a:t>
            </a:r>
            <a:r>
              <a:rPr lang="en-US" altLang="zh-CN" dirty="0"/>
              <a:t> &lt;= </a:t>
            </a:r>
            <a:r>
              <a:rPr lang="en-US" altLang="zh-CN" dirty="0" err="1"/>
              <a:t>bar_y_t</a:t>
            </a:r>
            <a:r>
              <a:rPr lang="en-US" altLang="zh-CN" dirty="0"/>
              <a:t> - BAR_V; // move up </a:t>
            </a:r>
            <a:endParaRPr lang="en-US" altLang="zh-CN" dirty="0"/>
          </a:p>
          <a:p>
            <a:r>
              <a:rPr lang="en-US" altLang="zh-CN" dirty="0"/>
              <a:t>    end     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bar_y_b</a:t>
            </a:r>
            <a:r>
              <a:rPr lang="en-US" altLang="zh-CN" dirty="0"/>
              <a:t> = </a:t>
            </a:r>
            <a:r>
              <a:rPr lang="en-US" altLang="zh-CN" dirty="0" err="1"/>
              <a:t>bar_y_t</a:t>
            </a:r>
            <a:r>
              <a:rPr lang="en-US" altLang="zh-CN" dirty="0"/>
              <a:t> + BAR_Y_SIZE - 1;</a:t>
            </a:r>
            <a:endParaRPr lang="en-US" altLang="zh-CN" dirty="0"/>
          </a:p>
          <a:p>
            <a:r>
              <a:rPr lang="en-US" altLang="zh-CN" dirty="0"/>
              <a:t>    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barOn</a:t>
            </a:r>
            <a:r>
              <a:rPr lang="en-US" altLang="zh-CN" dirty="0"/>
              <a:t> = ((BAR_X_L&lt;=</a:t>
            </a:r>
            <a:r>
              <a:rPr lang="en-US" altLang="zh-CN" dirty="0" err="1"/>
              <a:t>pix_x</a:t>
            </a:r>
            <a:r>
              <a:rPr lang="en-US" altLang="zh-CN" dirty="0"/>
              <a:t>) &amp;&amp; (</a:t>
            </a:r>
            <a:r>
              <a:rPr lang="en-US" altLang="zh-CN" dirty="0" err="1"/>
              <a:t>pix_x</a:t>
            </a:r>
            <a:r>
              <a:rPr lang="en-US" altLang="zh-CN" dirty="0"/>
              <a:t>&lt;=BAR_X_R) &amp;&amp;</a:t>
            </a:r>
            <a:endParaRPr lang="en-US" altLang="zh-CN" dirty="0"/>
          </a:p>
          <a:p>
            <a:r>
              <a:rPr lang="en-US" altLang="zh-CN" dirty="0"/>
              <a:t>                    (</a:t>
            </a:r>
            <a:r>
              <a:rPr lang="en-US" altLang="zh-CN" dirty="0" err="1"/>
              <a:t>bar_y_t</a:t>
            </a:r>
            <a:r>
              <a:rPr lang="en-US" altLang="zh-CN" dirty="0"/>
              <a:t>&lt;=</a:t>
            </a:r>
            <a:r>
              <a:rPr lang="en-US" altLang="zh-CN" dirty="0" err="1"/>
              <a:t>pix_y</a:t>
            </a:r>
            <a:r>
              <a:rPr lang="en-US" altLang="zh-CN" dirty="0"/>
              <a:t>) &amp;&amp; (</a:t>
            </a:r>
            <a:r>
              <a:rPr lang="en-US" altLang="zh-CN" dirty="0" err="1"/>
              <a:t>pix_y</a:t>
            </a:r>
            <a:r>
              <a:rPr lang="en-US" altLang="zh-CN" dirty="0"/>
              <a:t>&lt;=</a:t>
            </a:r>
            <a:r>
              <a:rPr lang="en-US" altLang="zh-CN" dirty="0" err="1"/>
              <a:t>bar_y_b</a:t>
            </a:r>
            <a:r>
              <a:rPr lang="en-US" altLang="zh-CN" dirty="0"/>
              <a:t>)); //</a:t>
            </a:r>
            <a:r>
              <a:rPr lang="zh-CN" altLang="en-US" dirty="0"/>
              <a:t>变量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assign </a:t>
            </a:r>
            <a:r>
              <a:rPr lang="en-US" altLang="zh-CN" dirty="0" err="1"/>
              <a:t>bar_r</a:t>
            </a:r>
            <a:r>
              <a:rPr lang="en-US" altLang="zh-CN" dirty="0"/>
              <a:t> = 4'b0000; 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bar_g</a:t>
            </a:r>
            <a:r>
              <a:rPr lang="en-US" altLang="zh-CN" dirty="0"/>
              <a:t> = 4'b1111; // green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bar_b</a:t>
            </a:r>
            <a:r>
              <a:rPr lang="en-US" altLang="zh-CN" dirty="0"/>
              <a:t> = 4'b0000; 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// </a:t>
            </a:r>
            <a:r>
              <a:rPr lang="zh-CN" altLang="en-US" dirty="0"/>
              <a:t>（</a:t>
            </a:r>
            <a:r>
              <a:rPr lang="en-US" altLang="zh-CN" dirty="0"/>
              <a:t>round ball</a:t>
            </a:r>
            <a:r>
              <a:rPr lang="zh-CN" altLang="en-US" dirty="0"/>
              <a:t>）    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logic [10:0] </a:t>
            </a:r>
            <a:r>
              <a:rPr lang="en-US" altLang="zh-CN" dirty="0" err="1"/>
              <a:t>ball_x_l</a:t>
            </a:r>
            <a:r>
              <a:rPr lang="en-US" altLang="zh-CN" dirty="0"/>
              <a:t>, </a:t>
            </a:r>
            <a:r>
              <a:rPr lang="en-US" altLang="zh-CN" dirty="0" err="1"/>
              <a:t>ball_x_r</a:t>
            </a:r>
            <a:r>
              <a:rPr lang="en-US" altLang="zh-CN" dirty="0"/>
              <a:t>; // ball left, right boundary</a:t>
            </a:r>
            <a:endParaRPr lang="en-US" altLang="zh-CN" dirty="0"/>
          </a:p>
          <a:p>
            <a:r>
              <a:rPr lang="en-US" altLang="zh-CN" dirty="0"/>
              <a:t>    logic [10:0] </a:t>
            </a:r>
            <a:r>
              <a:rPr lang="en-US" altLang="zh-CN" dirty="0" err="1"/>
              <a:t>ball_y_t</a:t>
            </a:r>
            <a:r>
              <a:rPr lang="en-US" altLang="zh-CN" dirty="0"/>
              <a:t>, </a:t>
            </a:r>
            <a:r>
              <a:rPr lang="en-US" altLang="zh-CN" dirty="0" err="1"/>
              <a:t>ball_y_b</a:t>
            </a:r>
            <a:r>
              <a:rPr lang="en-US" altLang="zh-CN" dirty="0"/>
              <a:t>; // ball top, bottom boundary</a:t>
            </a:r>
            <a:endParaRPr lang="en-US" altLang="zh-CN" dirty="0"/>
          </a:p>
          <a:p>
            <a:r>
              <a:rPr lang="en-US" altLang="zh-CN" dirty="0"/>
              <a:t>    logic [10:0] </a:t>
            </a:r>
            <a:r>
              <a:rPr lang="en-US" altLang="zh-CN" dirty="0" err="1"/>
              <a:t>ball_dx</a:t>
            </a:r>
            <a:r>
              <a:rPr lang="en-US" altLang="zh-CN" dirty="0"/>
              <a:t> , </a:t>
            </a:r>
            <a:r>
              <a:rPr lang="en-US" altLang="zh-CN" dirty="0" err="1"/>
              <a:t>ball_dy</a:t>
            </a:r>
            <a:r>
              <a:rPr lang="en-US" altLang="zh-CN" dirty="0"/>
              <a:t> ; // ball x, y </a:t>
            </a:r>
            <a:r>
              <a:rPr lang="zh-CN" altLang="en-US" dirty="0"/>
              <a:t>增量 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logic [3:0] textBalls0, textBalls1; // </a:t>
            </a:r>
            <a:r>
              <a:rPr lang="zh-CN" altLang="en-US" dirty="0"/>
              <a:t>得分个位</a:t>
            </a:r>
            <a:r>
              <a:rPr lang="en-US" altLang="zh-CN" dirty="0"/>
              <a:t>,</a:t>
            </a:r>
            <a:r>
              <a:rPr lang="zh-CN" altLang="en-US" dirty="0"/>
              <a:t>十位</a:t>
            </a:r>
            <a:endParaRPr lang="zh-CN" altLang="en-US" dirty="0"/>
          </a:p>
          <a:p>
            <a:r>
              <a:rPr lang="zh-CN" altLang="en-US" dirty="0"/>
              <a:t>        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// new ball </a:t>
            </a:r>
            <a:r>
              <a:rPr lang="en-US" altLang="zh-CN" dirty="0" err="1"/>
              <a:t>x,y</a:t>
            </a:r>
            <a:r>
              <a:rPr lang="en-US" altLang="zh-CN" dirty="0"/>
              <a:t>-position </a:t>
            </a:r>
            <a:endParaRPr lang="en-US" altLang="zh-CN" dirty="0"/>
          </a:p>
          <a:p>
            <a:r>
              <a:rPr lang="en-US" altLang="zh-CN" dirty="0"/>
              <a:t>    always @(posedge </a:t>
            </a:r>
            <a:r>
              <a:rPr lang="en-US" altLang="zh-CN" dirty="0" err="1"/>
              <a:t>clk</a:t>
            </a:r>
            <a:r>
              <a:rPr lang="en-US" altLang="zh-CN" dirty="0"/>
              <a:t>, </a:t>
            </a:r>
            <a:r>
              <a:rPr lang="en-US" altLang="zh-CN" dirty="0" err="1"/>
              <a:t>posedge</a:t>
            </a:r>
            <a:r>
              <a:rPr lang="en-US" altLang="zh-CN" dirty="0"/>
              <a:t> reset)    begin</a:t>
            </a:r>
            <a:endParaRPr lang="en-US" altLang="zh-CN" dirty="0"/>
          </a:p>
          <a:p>
            <a:r>
              <a:rPr lang="en-US" altLang="zh-CN" dirty="0"/>
              <a:t>        if (reset)   begin</a:t>
            </a:r>
            <a:endParaRPr lang="en-US" altLang="zh-CN" dirty="0"/>
          </a:p>
          <a:p>
            <a:r>
              <a:rPr lang="en-US" altLang="zh-CN" dirty="0"/>
              <a:t>            </a:t>
            </a:r>
            <a:r>
              <a:rPr lang="en-US" altLang="zh-CN" dirty="0" err="1"/>
              <a:t>ball_x_l</a:t>
            </a:r>
            <a:r>
              <a:rPr lang="en-US" altLang="zh-CN" dirty="0"/>
              <a:t> &lt;= BALL_X_L;</a:t>
            </a:r>
            <a:endParaRPr lang="en-US" altLang="zh-CN" dirty="0"/>
          </a:p>
          <a:p>
            <a:r>
              <a:rPr lang="en-US" altLang="zh-CN" dirty="0"/>
              <a:t>            </a:t>
            </a:r>
            <a:r>
              <a:rPr lang="en-US" altLang="zh-CN" dirty="0" err="1"/>
              <a:t>ball_y_t</a:t>
            </a:r>
            <a:r>
              <a:rPr lang="en-US" altLang="zh-CN" dirty="0"/>
              <a:t> &lt;= BALL_Y_T;</a:t>
            </a:r>
            <a:endParaRPr lang="en-US" altLang="zh-CN" dirty="0"/>
          </a:p>
          <a:p>
            <a:r>
              <a:rPr lang="en-US" altLang="zh-CN" dirty="0"/>
              <a:t>            </a:t>
            </a:r>
            <a:r>
              <a:rPr lang="en-US" altLang="zh-CN" dirty="0" err="1"/>
              <a:t>ball_dx</a:t>
            </a:r>
            <a:r>
              <a:rPr lang="en-US" altLang="zh-CN" dirty="0"/>
              <a:t>  &lt;= -1 * BALL_V;</a:t>
            </a:r>
            <a:endParaRPr lang="en-US" altLang="zh-CN" dirty="0"/>
          </a:p>
          <a:p>
            <a:r>
              <a:rPr lang="en-US" altLang="zh-CN" dirty="0"/>
              <a:t>            </a:t>
            </a:r>
            <a:r>
              <a:rPr lang="en-US" altLang="zh-CN" dirty="0" err="1"/>
              <a:t>ball_dy</a:t>
            </a:r>
            <a:r>
              <a:rPr lang="en-US" altLang="zh-CN" dirty="0"/>
              <a:t>  &lt;= -1 * BALL_V;</a:t>
            </a:r>
            <a:endParaRPr lang="en-US" altLang="zh-CN" dirty="0"/>
          </a:p>
          <a:p>
            <a:r>
              <a:rPr lang="en-US" altLang="zh-CN" dirty="0"/>
              <a:t>            textBalls0 &lt;= 4'b0000;   //</a:t>
            </a:r>
            <a:r>
              <a:rPr lang="zh-CN" altLang="en-US" dirty="0"/>
              <a:t>得分个位</a:t>
            </a:r>
            <a:endParaRPr lang="zh-CN" altLang="en-US" dirty="0"/>
          </a:p>
          <a:p>
            <a:r>
              <a:rPr lang="zh-CN" altLang="en-US" dirty="0"/>
              <a:t>            </a:t>
            </a:r>
            <a:r>
              <a:rPr lang="en-US" altLang="zh-CN" dirty="0"/>
              <a:t>textBalls1 &lt;= 4'b0000;   //</a:t>
            </a:r>
            <a:r>
              <a:rPr lang="zh-CN" altLang="en-US" dirty="0"/>
              <a:t>得分十位</a:t>
            </a:r>
            <a:endParaRPr lang="zh-CN" altLang="en-US" dirty="0"/>
          </a:p>
          <a:p>
            <a:r>
              <a:rPr lang="zh-CN" altLang="en-US" dirty="0"/>
              <a:t>        </a:t>
            </a:r>
            <a:r>
              <a:rPr lang="en-US" altLang="zh-CN" dirty="0"/>
              <a:t>end</a:t>
            </a:r>
            <a:endParaRPr lang="en-US" altLang="zh-CN" dirty="0"/>
          </a:p>
          <a:p>
            <a:r>
              <a:rPr lang="en-US" altLang="zh-CN" dirty="0"/>
              <a:t>        else   begin</a:t>
            </a:r>
            <a:endParaRPr lang="en-US" altLang="zh-CN" dirty="0"/>
          </a:p>
          <a:p>
            <a:r>
              <a:rPr lang="en-US" altLang="zh-CN" dirty="0"/>
              <a:t>            </a:t>
            </a:r>
            <a:r>
              <a:rPr lang="en-US" altLang="zh-CN" dirty="0" err="1"/>
              <a:t>ball_x_l</a:t>
            </a:r>
            <a:r>
              <a:rPr lang="en-US" altLang="zh-CN" dirty="0"/>
              <a:t> &lt;= </a:t>
            </a:r>
            <a:r>
              <a:rPr lang="en-US" altLang="zh-CN" dirty="0" err="1"/>
              <a:t>ball_x_l</a:t>
            </a:r>
            <a:r>
              <a:rPr lang="en-US" altLang="zh-CN" dirty="0"/>
              <a:t> + </a:t>
            </a:r>
            <a:r>
              <a:rPr lang="en-US" altLang="zh-CN" dirty="0" err="1"/>
              <a:t>ball_dx</a:t>
            </a:r>
            <a:r>
              <a:rPr lang="en-US" altLang="zh-CN" dirty="0"/>
              <a:t>;  // </a:t>
            </a:r>
            <a:r>
              <a:rPr lang="zh-CN" altLang="en-US" dirty="0"/>
              <a:t>小球按</a:t>
            </a:r>
            <a:r>
              <a:rPr lang="en-US" altLang="zh-CN" dirty="0" err="1"/>
              <a:t>clk</a:t>
            </a:r>
            <a:r>
              <a:rPr lang="zh-CN" altLang="en-US" dirty="0"/>
              <a:t>节拍一直在向左移动</a:t>
            </a:r>
            <a:endParaRPr lang="zh-CN" altLang="en-US" dirty="0"/>
          </a:p>
          <a:p>
            <a:r>
              <a:rPr lang="zh-CN" altLang="en-US" dirty="0"/>
              <a:t>            </a:t>
            </a:r>
            <a:r>
              <a:rPr lang="en-US" altLang="zh-CN" dirty="0" err="1"/>
              <a:t>ball_y_t</a:t>
            </a:r>
            <a:r>
              <a:rPr lang="en-US" altLang="zh-CN" dirty="0"/>
              <a:t> &lt;= </a:t>
            </a:r>
            <a:r>
              <a:rPr lang="en-US" altLang="zh-CN" dirty="0" err="1"/>
              <a:t>ball_y_t</a:t>
            </a:r>
            <a:r>
              <a:rPr lang="en-US" altLang="zh-CN" dirty="0"/>
              <a:t> + </a:t>
            </a:r>
            <a:r>
              <a:rPr lang="en-US" altLang="zh-CN" dirty="0" err="1"/>
              <a:t>ball_dy</a:t>
            </a:r>
            <a:r>
              <a:rPr lang="en-US" altLang="zh-CN" dirty="0"/>
              <a:t>;  // </a:t>
            </a:r>
            <a:r>
              <a:rPr lang="zh-CN" altLang="en-US" dirty="0"/>
              <a:t>小球按</a:t>
            </a:r>
            <a:r>
              <a:rPr lang="en-US" altLang="zh-CN" dirty="0" err="1"/>
              <a:t>clk</a:t>
            </a:r>
            <a:r>
              <a:rPr lang="zh-CN" altLang="en-US" dirty="0"/>
              <a:t>节拍一直在向上移动</a:t>
            </a:r>
            <a:endParaRPr lang="zh-CN" altLang="en-US" dirty="0"/>
          </a:p>
          <a:p>
            <a:r>
              <a:rPr lang="zh-CN" altLang="en-US" dirty="0"/>
              <a:t>            </a:t>
            </a:r>
            <a:r>
              <a:rPr lang="en-US" altLang="zh-CN" dirty="0"/>
              <a:t>// ------------------ ball bounce back -----------------------</a:t>
            </a:r>
            <a:endParaRPr lang="en-US" altLang="zh-CN" dirty="0"/>
          </a:p>
          <a:p>
            <a:r>
              <a:rPr lang="en-US" altLang="zh-CN" dirty="0"/>
              <a:t>            if (</a:t>
            </a:r>
            <a:r>
              <a:rPr lang="en-US" altLang="zh-CN" dirty="0" err="1"/>
              <a:t>ball_y_t</a:t>
            </a:r>
            <a:r>
              <a:rPr lang="en-US" altLang="zh-CN" dirty="0"/>
              <a:t> &lt;= V_SYNC_START)              //reach top screen</a:t>
            </a:r>
            <a:endParaRPr lang="en-US" altLang="zh-CN" dirty="0"/>
          </a:p>
          <a:p>
            <a:r>
              <a:rPr lang="en-US" altLang="zh-CN" dirty="0"/>
              <a:t>                </a:t>
            </a:r>
            <a:r>
              <a:rPr lang="en-US" altLang="zh-CN" dirty="0" err="1"/>
              <a:t>ball_dy</a:t>
            </a:r>
            <a:r>
              <a:rPr lang="en-US" altLang="zh-CN" dirty="0"/>
              <a:t> &lt;= BALL_V;</a:t>
            </a:r>
            <a:endParaRPr lang="en-US" altLang="zh-CN" dirty="0"/>
          </a:p>
          <a:p>
            <a:r>
              <a:rPr lang="en-US" altLang="zh-CN" dirty="0"/>
              <a:t>            else if (</a:t>
            </a:r>
            <a:r>
              <a:rPr lang="en-US" altLang="zh-CN" dirty="0" err="1"/>
              <a:t>ball_y_b</a:t>
            </a:r>
            <a:r>
              <a:rPr lang="en-US" altLang="zh-CN" dirty="0"/>
              <a:t> &gt;= V_SYNC_START + MAX_Y) //reach bottom screen </a:t>
            </a:r>
            <a:endParaRPr lang="en-US" altLang="zh-CN" dirty="0"/>
          </a:p>
          <a:p>
            <a:r>
              <a:rPr lang="en-US" altLang="zh-CN" dirty="0"/>
              <a:t>                </a:t>
            </a:r>
            <a:r>
              <a:rPr lang="en-US" altLang="zh-CN" dirty="0" err="1"/>
              <a:t>ball_dy</a:t>
            </a:r>
            <a:r>
              <a:rPr lang="en-US" altLang="zh-CN" dirty="0"/>
              <a:t> &lt;= -1 * BALL_V;</a:t>
            </a:r>
            <a:endParaRPr lang="en-US" altLang="zh-CN" dirty="0"/>
          </a:p>
          <a:p>
            <a:r>
              <a:rPr lang="en-US" altLang="zh-CN" dirty="0"/>
              <a:t>            else if (</a:t>
            </a:r>
            <a:r>
              <a:rPr lang="en-US" altLang="zh-CN" dirty="0" err="1"/>
              <a:t>ball_x_l</a:t>
            </a:r>
            <a:r>
              <a:rPr lang="en-US" altLang="zh-CN" dirty="0"/>
              <a:t> &lt;= WALL_X_R)             //reach left wall </a:t>
            </a:r>
            <a:endParaRPr lang="en-US" altLang="zh-CN" dirty="0"/>
          </a:p>
          <a:p>
            <a:r>
              <a:rPr lang="en-US" altLang="zh-CN" dirty="0"/>
              <a:t>            begin</a:t>
            </a:r>
            <a:endParaRPr lang="en-US" altLang="zh-CN" dirty="0"/>
          </a:p>
          <a:p>
            <a:r>
              <a:rPr lang="en-US" altLang="zh-CN" dirty="0"/>
              <a:t>                </a:t>
            </a:r>
            <a:r>
              <a:rPr lang="en-US" altLang="zh-CN" dirty="0" err="1"/>
              <a:t>ball_dx</a:t>
            </a:r>
            <a:r>
              <a:rPr lang="en-US" altLang="zh-CN" dirty="0"/>
              <a:t> &lt;= BALL_V;  </a:t>
            </a:r>
            <a:endParaRPr lang="en-US" altLang="zh-CN" dirty="0"/>
          </a:p>
          <a:p>
            <a:r>
              <a:rPr lang="en-US" altLang="zh-CN" dirty="0"/>
              <a:t>            end                                    </a:t>
            </a:r>
            <a:endParaRPr lang="en-US" altLang="zh-CN" dirty="0"/>
          </a:p>
          <a:p>
            <a:r>
              <a:rPr lang="en-US" altLang="zh-CN" dirty="0"/>
              <a:t>            else if ((</a:t>
            </a:r>
            <a:r>
              <a:rPr lang="en-US" altLang="zh-CN" dirty="0" err="1"/>
              <a:t>ball_x_r</a:t>
            </a:r>
            <a:r>
              <a:rPr lang="en-US" altLang="zh-CN" dirty="0"/>
              <a:t> &gt;= BAR_X_L) &amp;&amp;          //reach right bar</a:t>
            </a:r>
            <a:endParaRPr lang="en-US" altLang="zh-CN" dirty="0"/>
          </a:p>
          <a:p>
            <a:r>
              <a:rPr lang="en-US" altLang="zh-CN" dirty="0"/>
              <a:t>                     (</a:t>
            </a:r>
            <a:r>
              <a:rPr lang="en-US" altLang="zh-CN" dirty="0" err="1"/>
              <a:t>ball_x_r</a:t>
            </a:r>
            <a:r>
              <a:rPr lang="en-US" altLang="zh-CN" dirty="0"/>
              <a:t> &lt;= BAR_X_R) &amp;&amp;   </a:t>
            </a:r>
            <a:endParaRPr lang="en-US" altLang="zh-CN" dirty="0"/>
          </a:p>
          <a:p>
            <a:r>
              <a:rPr lang="en-US" altLang="zh-CN" dirty="0"/>
              <a:t>                     (</a:t>
            </a:r>
            <a:r>
              <a:rPr lang="en-US" altLang="zh-CN" dirty="0" err="1"/>
              <a:t>ball_y_b</a:t>
            </a:r>
            <a:r>
              <a:rPr lang="en-US" altLang="zh-CN" dirty="0"/>
              <a:t> &gt;= </a:t>
            </a:r>
            <a:r>
              <a:rPr lang="en-US" altLang="zh-CN" dirty="0" err="1"/>
              <a:t>bar_y_t</a:t>
            </a:r>
            <a:r>
              <a:rPr lang="en-US" altLang="zh-CN" dirty="0"/>
              <a:t>) &amp;&amp;  (</a:t>
            </a:r>
            <a:r>
              <a:rPr lang="en-US" altLang="zh-CN" dirty="0" err="1"/>
              <a:t>ball_y_t</a:t>
            </a:r>
            <a:r>
              <a:rPr lang="en-US" altLang="zh-CN" dirty="0"/>
              <a:t> &lt;= </a:t>
            </a:r>
            <a:r>
              <a:rPr lang="en-US" altLang="zh-CN" dirty="0" err="1"/>
              <a:t>bar_y_b</a:t>
            </a:r>
            <a:r>
              <a:rPr lang="en-US" altLang="zh-CN" dirty="0"/>
              <a:t>))</a:t>
            </a:r>
            <a:endParaRPr lang="en-US" altLang="zh-CN" dirty="0"/>
          </a:p>
          <a:p>
            <a:r>
              <a:rPr lang="en-US" altLang="zh-CN" dirty="0"/>
              <a:t>            begin</a:t>
            </a:r>
            <a:endParaRPr lang="en-US" altLang="zh-CN" dirty="0"/>
          </a:p>
          <a:p>
            <a:r>
              <a:rPr lang="en-US" altLang="zh-CN" dirty="0"/>
              <a:t>                </a:t>
            </a:r>
            <a:r>
              <a:rPr lang="en-US" altLang="zh-CN" dirty="0" err="1"/>
              <a:t>ball_dx</a:t>
            </a:r>
            <a:r>
              <a:rPr lang="en-US" altLang="zh-CN" dirty="0"/>
              <a:t> &lt;= -1 * BALL_V;     </a:t>
            </a:r>
            <a:endParaRPr lang="en-US" altLang="zh-CN" dirty="0"/>
          </a:p>
          <a:p>
            <a:r>
              <a:rPr lang="en-US" altLang="zh-CN" dirty="0"/>
              <a:t>                </a:t>
            </a:r>
            <a:r>
              <a:rPr lang="en-US" altLang="zh-CN" dirty="0" err="1"/>
              <a:t>ball_x_l</a:t>
            </a:r>
            <a:r>
              <a:rPr lang="en-US" altLang="zh-CN" dirty="0"/>
              <a:t> &lt;= BAR_X_L - BALL_SIZE;//</a:t>
            </a:r>
            <a:r>
              <a:rPr lang="zh-CN" altLang="en-US" dirty="0"/>
              <a:t>防止连续</a:t>
            </a:r>
            <a:r>
              <a:rPr lang="en-US" altLang="zh-CN" dirty="0"/>
              <a:t>3</a:t>
            </a:r>
            <a:r>
              <a:rPr lang="zh-CN" altLang="en-US" dirty="0"/>
              <a:t>次触发下行 </a:t>
            </a:r>
            <a:r>
              <a:rPr lang="en-US" altLang="zh-CN" dirty="0"/>
              <a:t>hit+1      </a:t>
            </a:r>
            <a:endParaRPr lang="en-US" altLang="zh-CN" dirty="0"/>
          </a:p>
          <a:p>
            <a:r>
              <a:rPr lang="en-US" altLang="zh-CN" dirty="0"/>
              <a:t>                textBalls0 &lt;= textBalls0 + 1;   //</a:t>
            </a:r>
            <a:r>
              <a:rPr lang="zh-CN" altLang="en-US" dirty="0"/>
              <a:t>仅</a:t>
            </a:r>
            <a:r>
              <a:rPr lang="en-US" altLang="zh-CN" dirty="0"/>
              <a:t>16</a:t>
            </a:r>
            <a:r>
              <a:rPr lang="zh-CN" altLang="en-US" dirty="0"/>
              <a:t>进制</a:t>
            </a:r>
            <a:r>
              <a:rPr lang="en-US" altLang="zh-CN" dirty="0"/>
              <a:t>+1            </a:t>
            </a:r>
            <a:endParaRPr lang="en-US" altLang="zh-CN" dirty="0"/>
          </a:p>
          <a:p>
            <a:r>
              <a:rPr lang="en-US" altLang="zh-CN" dirty="0"/>
              <a:t>            end</a:t>
            </a:r>
            <a:endParaRPr lang="en-US" altLang="zh-CN" dirty="0"/>
          </a:p>
          <a:p>
            <a:r>
              <a:rPr lang="en-US" altLang="zh-CN" dirty="0"/>
              <a:t>            else if (</a:t>
            </a:r>
            <a:r>
              <a:rPr lang="en-US" altLang="zh-CN" dirty="0" err="1"/>
              <a:t>ball_x_r</a:t>
            </a:r>
            <a:r>
              <a:rPr lang="en-US" altLang="zh-CN" dirty="0"/>
              <a:t> &gt;= H_SYNC_START + MAX_X) //reach right screen</a:t>
            </a:r>
            <a:endParaRPr lang="en-US" altLang="zh-CN" dirty="0"/>
          </a:p>
          <a:p>
            <a:r>
              <a:rPr lang="en-US" altLang="zh-CN" dirty="0"/>
              <a:t>                </a:t>
            </a:r>
            <a:r>
              <a:rPr lang="en-US" altLang="zh-CN" dirty="0" err="1"/>
              <a:t>ball_dx</a:t>
            </a:r>
            <a:r>
              <a:rPr lang="en-US" altLang="zh-CN" dirty="0"/>
              <a:t> &lt;= -1 * BALL_V;             </a:t>
            </a:r>
            <a:endParaRPr lang="en-US" altLang="zh-CN" dirty="0"/>
          </a:p>
          <a:p>
            <a:r>
              <a:rPr lang="en-US" altLang="zh-CN" dirty="0"/>
              <a:t>        end</a:t>
            </a:r>
            <a:endParaRPr lang="en-US" altLang="zh-CN" dirty="0"/>
          </a:p>
          <a:p>
            <a:r>
              <a:rPr lang="en-US" altLang="zh-CN" dirty="0"/>
              <a:t>     end               </a:t>
            </a:r>
            <a:endParaRPr lang="en-US" altLang="zh-CN" dirty="0"/>
          </a:p>
          <a:p>
            <a:r>
              <a:rPr lang="en-US" altLang="zh-CN" dirty="0"/>
              <a:t>        </a:t>
            </a:r>
            <a:endParaRPr lang="en-US" altLang="zh-CN" dirty="0"/>
          </a:p>
          <a:p>
            <a:r>
              <a:rPr lang="en-US" altLang="zh-CN" dirty="0"/>
              <a:t>     assign </a:t>
            </a:r>
            <a:r>
              <a:rPr lang="en-US" altLang="zh-CN" dirty="0" err="1"/>
              <a:t>ball_x_r</a:t>
            </a:r>
            <a:r>
              <a:rPr lang="en-US" altLang="zh-CN" dirty="0"/>
              <a:t> = </a:t>
            </a:r>
            <a:r>
              <a:rPr lang="en-US" altLang="zh-CN" dirty="0" err="1"/>
              <a:t>ball_x_l</a:t>
            </a:r>
            <a:r>
              <a:rPr lang="en-US" altLang="zh-CN" dirty="0"/>
              <a:t> + BALL_SIZE - 1; </a:t>
            </a:r>
            <a:endParaRPr lang="en-US" altLang="zh-CN" dirty="0"/>
          </a:p>
          <a:p>
            <a:r>
              <a:rPr lang="en-US" altLang="zh-CN" dirty="0"/>
              <a:t>     assign </a:t>
            </a:r>
            <a:r>
              <a:rPr lang="en-US" altLang="zh-CN" dirty="0" err="1"/>
              <a:t>ball_y_b</a:t>
            </a:r>
            <a:r>
              <a:rPr lang="en-US" altLang="zh-CN" dirty="0"/>
              <a:t> = </a:t>
            </a:r>
            <a:r>
              <a:rPr lang="en-US" altLang="zh-CN" dirty="0" err="1"/>
              <a:t>ball_y_t</a:t>
            </a:r>
            <a:r>
              <a:rPr lang="en-US" altLang="zh-CN" dirty="0"/>
              <a:t> + BALL_SIZE - 1;</a:t>
            </a:r>
            <a:endParaRPr lang="en-US" altLang="zh-CN" dirty="0"/>
          </a:p>
          <a:p>
            <a:r>
              <a:rPr lang="en-US" altLang="zh-CN" dirty="0"/>
              <a:t>     </a:t>
            </a:r>
            <a:endParaRPr lang="en-US" altLang="zh-CN" dirty="0"/>
          </a:p>
          <a:p>
            <a:r>
              <a:rPr lang="en-US" altLang="zh-CN" dirty="0"/>
              <a:t>    logic [2:0] </a:t>
            </a:r>
            <a:r>
              <a:rPr lang="en-US" altLang="zh-CN" dirty="0" err="1"/>
              <a:t>rom_addr</a:t>
            </a:r>
            <a:r>
              <a:rPr lang="en-US" altLang="zh-CN" dirty="0"/>
              <a:t>, </a:t>
            </a:r>
            <a:r>
              <a:rPr lang="en-US" altLang="zh-CN" dirty="0" err="1"/>
              <a:t>rom_col</a:t>
            </a:r>
            <a:r>
              <a:rPr lang="en-US" altLang="zh-CN" dirty="0"/>
              <a:t>; // ROM</a:t>
            </a:r>
            <a:r>
              <a:rPr lang="zh-CN" altLang="en-US" dirty="0"/>
              <a:t>中</a:t>
            </a:r>
            <a:r>
              <a:rPr lang="en-US" altLang="zh-CN" dirty="0"/>
              <a:t>8</a:t>
            </a:r>
            <a:r>
              <a:rPr lang="zh-CN" altLang="en-US" dirty="0"/>
              <a:t>行、</a:t>
            </a:r>
            <a:r>
              <a:rPr lang="en-US" altLang="zh-CN" dirty="0"/>
              <a:t>8</a:t>
            </a:r>
            <a:r>
              <a:rPr lang="zh-CN" altLang="en-US" dirty="0"/>
              <a:t>列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logic </a:t>
            </a:r>
            <a:r>
              <a:rPr lang="en-US" altLang="zh-CN" dirty="0" err="1"/>
              <a:t>rom_bit</a:t>
            </a:r>
            <a:r>
              <a:rPr lang="en-US" altLang="zh-CN" dirty="0"/>
              <a:t>;                 // ROM</a:t>
            </a:r>
            <a:r>
              <a:rPr lang="zh-CN" altLang="en-US" dirty="0"/>
              <a:t>中每个像素值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logic [7:0] </a:t>
            </a:r>
            <a:r>
              <a:rPr lang="en-US" altLang="zh-CN" dirty="0" err="1"/>
              <a:t>rom_data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    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always_comb</a:t>
            </a:r>
            <a:r>
              <a:rPr lang="en-US" altLang="zh-CN" dirty="0"/>
              <a:t>       // round ball image ROM </a:t>
            </a:r>
            <a:endParaRPr lang="en-US" altLang="zh-CN" dirty="0"/>
          </a:p>
          <a:p>
            <a:r>
              <a:rPr lang="en-US" altLang="zh-CN" dirty="0"/>
              <a:t>        case (</a:t>
            </a:r>
            <a:r>
              <a:rPr lang="en-US" altLang="zh-CN" dirty="0" err="1"/>
              <a:t>rom_addr</a:t>
            </a:r>
            <a:r>
              <a:rPr lang="en-US" altLang="zh-CN" dirty="0"/>
              <a:t>) </a:t>
            </a:r>
            <a:endParaRPr lang="en-US" altLang="zh-CN" dirty="0"/>
          </a:p>
          <a:p>
            <a:r>
              <a:rPr lang="en-US" altLang="zh-CN" dirty="0"/>
              <a:t>            3'h0: </a:t>
            </a:r>
            <a:r>
              <a:rPr lang="en-US" altLang="zh-CN" dirty="0" err="1"/>
              <a:t>rom_data</a:t>
            </a:r>
            <a:r>
              <a:rPr lang="en-US" altLang="zh-CN" dirty="0"/>
              <a:t> = 8'b0011_1100; //   **** </a:t>
            </a:r>
            <a:endParaRPr lang="en-US" altLang="zh-CN" dirty="0"/>
          </a:p>
          <a:p>
            <a:r>
              <a:rPr lang="en-US" altLang="zh-CN" dirty="0"/>
              <a:t>            3'h1: </a:t>
            </a:r>
            <a:r>
              <a:rPr lang="en-US" altLang="zh-CN" dirty="0" err="1"/>
              <a:t>rom_data</a:t>
            </a:r>
            <a:r>
              <a:rPr lang="en-US" altLang="zh-CN" dirty="0"/>
              <a:t> = 8'b0111_1110; //  ****** </a:t>
            </a:r>
            <a:endParaRPr lang="en-US" altLang="zh-CN" dirty="0"/>
          </a:p>
          <a:p>
            <a:r>
              <a:rPr lang="en-US" altLang="zh-CN" dirty="0"/>
              <a:t>            3'h2: </a:t>
            </a:r>
            <a:r>
              <a:rPr lang="en-US" altLang="zh-CN" dirty="0" err="1"/>
              <a:t>rom_data</a:t>
            </a:r>
            <a:r>
              <a:rPr lang="en-US" altLang="zh-CN" dirty="0"/>
              <a:t> = 8'b1111_1111; // ******** </a:t>
            </a:r>
            <a:endParaRPr lang="en-US" altLang="zh-CN" dirty="0"/>
          </a:p>
          <a:p>
            <a:r>
              <a:rPr lang="en-US" altLang="zh-CN" dirty="0"/>
              <a:t>            3'h3: </a:t>
            </a:r>
            <a:r>
              <a:rPr lang="en-US" altLang="zh-CN" dirty="0" err="1"/>
              <a:t>rom_data</a:t>
            </a:r>
            <a:r>
              <a:rPr lang="en-US" altLang="zh-CN" dirty="0"/>
              <a:t> = 8'b1111_1111; // ******** </a:t>
            </a:r>
            <a:endParaRPr lang="en-US" altLang="zh-CN" dirty="0"/>
          </a:p>
          <a:p>
            <a:r>
              <a:rPr lang="en-US" altLang="zh-CN" dirty="0"/>
              <a:t>            3'h4: </a:t>
            </a:r>
            <a:r>
              <a:rPr lang="en-US" altLang="zh-CN" dirty="0" err="1"/>
              <a:t>rom_data</a:t>
            </a:r>
            <a:r>
              <a:rPr lang="en-US" altLang="zh-CN" dirty="0"/>
              <a:t> = 8'b1111_1111; // ******** </a:t>
            </a:r>
            <a:endParaRPr lang="en-US" altLang="zh-CN" dirty="0"/>
          </a:p>
          <a:p>
            <a:r>
              <a:rPr lang="en-US" altLang="zh-CN" dirty="0"/>
              <a:t>            3'h5: </a:t>
            </a:r>
            <a:r>
              <a:rPr lang="en-US" altLang="zh-CN" dirty="0" err="1"/>
              <a:t>rom_data</a:t>
            </a:r>
            <a:r>
              <a:rPr lang="en-US" altLang="zh-CN" dirty="0"/>
              <a:t> = 8'b1111_1111; // ******** </a:t>
            </a:r>
            <a:endParaRPr lang="en-US" altLang="zh-CN" dirty="0"/>
          </a:p>
          <a:p>
            <a:r>
              <a:rPr lang="en-US" altLang="zh-CN" dirty="0"/>
              <a:t>            3'h6: </a:t>
            </a:r>
            <a:r>
              <a:rPr lang="en-US" altLang="zh-CN" dirty="0" err="1"/>
              <a:t>rom_data</a:t>
            </a:r>
            <a:r>
              <a:rPr lang="en-US" altLang="zh-CN" dirty="0"/>
              <a:t> = 8'b0111_1110; //  ****** </a:t>
            </a:r>
            <a:endParaRPr lang="en-US" altLang="zh-CN" dirty="0"/>
          </a:p>
          <a:p>
            <a:r>
              <a:rPr lang="en-US" altLang="zh-CN" dirty="0"/>
              <a:t>            3'h7: </a:t>
            </a:r>
            <a:r>
              <a:rPr lang="en-US" altLang="zh-CN" dirty="0" err="1"/>
              <a:t>rom_data</a:t>
            </a:r>
            <a:r>
              <a:rPr lang="en-US" altLang="zh-CN" dirty="0"/>
              <a:t> = 8'b0011_1100; //   **** </a:t>
            </a:r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en-US" altLang="zh-CN" dirty="0" err="1"/>
              <a:t>endcase</a:t>
            </a:r>
            <a:r>
              <a:rPr lang="en-US" altLang="zh-CN" dirty="0"/>
              <a:t>  </a:t>
            </a:r>
            <a:endParaRPr lang="en-US" altLang="zh-CN" dirty="0"/>
          </a:p>
          <a:p>
            <a:r>
              <a:rPr lang="en-US" altLang="zh-CN" dirty="0"/>
              <a:t>    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rom_col</a:t>
            </a:r>
            <a:r>
              <a:rPr lang="en-US" altLang="zh-CN" dirty="0"/>
              <a:t>  = </a:t>
            </a:r>
            <a:r>
              <a:rPr lang="en-US" altLang="zh-CN" dirty="0" err="1"/>
              <a:t>pix_x</a:t>
            </a:r>
            <a:r>
              <a:rPr lang="en-US" altLang="zh-CN" dirty="0"/>
              <a:t>[2:0] - </a:t>
            </a:r>
            <a:r>
              <a:rPr lang="en-US" altLang="zh-CN" dirty="0" err="1"/>
              <a:t>ball_x_l</a:t>
            </a:r>
            <a:r>
              <a:rPr lang="en-US" altLang="zh-CN" dirty="0"/>
              <a:t>[2:0]; // ROM</a:t>
            </a:r>
            <a:r>
              <a:rPr lang="zh-CN" altLang="en-US" dirty="0"/>
              <a:t>列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assign </a:t>
            </a:r>
            <a:r>
              <a:rPr lang="en-US" altLang="zh-CN" dirty="0" err="1"/>
              <a:t>rom_addr</a:t>
            </a:r>
            <a:r>
              <a:rPr lang="en-US" altLang="zh-CN" dirty="0"/>
              <a:t> = </a:t>
            </a:r>
            <a:r>
              <a:rPr lang="en-US" altLang="zh-CN" dirty="0" err="1"/>
              <a:t>pix_y</a:t>
            </a:r>
            <a:r>
              <a:rPr lang="en-US" altLang="zh-CN" dirty="0"/>
              <a:t>[2:0] - </a:t>
            </a:r>
            <a:r>
              <a:rPr lang="en-US" altLang="zh-CN" dirty="0" err="1"/>
              <a:t>ball_y_t</a:t>
            </a:r>
            <a:r>
              <a:rPr lang="en-US" altLang="zh-CN" dirty="0"/>
              <a:t>[2:0]; // ROM</a:t>
            </a:r>
            <a:r>
              <a:rPr lang="zh-CN" altLang="en-US" dirty="0"/>
              <a:t>行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assign </a:t>
            </a:r>
            <a:r>
              <a:rPr lang="en-US" altLang="zh-CN" dirty="0" err="1"/>
              <a:t>rom_bit</a:t>
            </a:r>
            <a:r>
              <a:rPr lang="en-US" altLang="zh-CN" dirty="0"/>
              <a:t>  = </a:t>
            </a:r>
            <a:r>
              <a:rPr lang="en-US" altLang="zh-CN" dirty="0" err="1"/>
              <a:t>rom_data</a:t>
            </a:r>
            <a:r>
              <a:rPr lang="en-US" altLang="zh-CN" dirty="0"/>
              <a:t>[</a:t>
            </a:r>
            <a:r>
              <a:rPr lang="en-US" altLang="zh-CN" dirty="0" err="1"/>
              <a:t>rom_col</a:t>
            </a:r>
            <a:r>
              <a:rPr lang="en-US" altLang="zh-CN" dirty="0"/>
              <a:t>]; //</a:t>
            </a:r>
            <a:r>
              <a:rPr lang="en-US" altLang="zh-CN" dirty="0" err="1"/>
              <a:t>ROMaddr</a:t>
            </a:r>
            <a:r>
              <a:rPr lang="zh-CN" altLang="en-US" dirty="0"/>
              <a:t>行中</a:t>
            </a:r>
            <a:r>
              <a:rPr lang="en-US" altLang="zh-CN" dirty="0"/>
              <a:t>col</a:t>
            </a:r>
            <a:r>
              <a:rPr lang="zh-CN" altLang="en-US" dirty="0"/>
              <a:t>列值  </a:t>
            </a:r>
            <a:endParaRPr lang="zh-CN" altLang="en-US" dirty="0"/>
          </a:p>
          <a:p>
            <a:r>
              <a:rPr lang="zh-CN" altLang="en-US" dirty="0"/>
              <a:t>         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// pixel within ball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ballOn</a:t>
            </a:r>
            <a:r>
              <a:rPr lang="en-US" altLang="zh-CN" dirty="0"/>
              <a:t> = ((</a:t>
            </a:r>
            <a:r>
              <a:rPr lang="en-US" altLang="zh-CN" dirty="0" err="1"/>
              <a:t>ball_x_l</a:t>
            </a:r>
            <a:r>
              <a:rPr lang="en-US" altLang="zh-CN" dirty="0"/>
              <a:t>&lt;=</a:t>
            </a:r>
            <a:r>
              <a:rPr lang="en-US" altLang="zh-CN" dirty="0" err="1"/>
              <a:t>pix_x</a:t>
            </a:r>
            <a:r>
              <a:rPr lang="en-US" altLang="zh-CN" dirty="0"/>
              <a:t>) &amp;&amp; (</a:t>
            </a:r>
            <a:r>
              <a:rPr lang="en-US" altLang="zh-CN" dirty="0" err="1"/>
              <a:t>pix_x</a:t>
            </a:r>
            <a:r>
              <a:rPr lang="en-US" altLang="zh-CN" dirty="0"/>
              <a:t>&lt;=</a:t>
            </a:r>
            <a:r>
              <a:rPr lang="en-US" altLang="zh-CN" dirty="0" err="1"/>
              <a:t>ball_x_r</a:t>
            </a:r>
            <a:r>
              <a:rPr lang="en-US" altLang="zh-CN" dirty="0"/>
              <a:t>) &amp;&amp;  //</a:t>
            </a:r>
            <a:r>
              <a:rPr lang="zh-CN" altLang="en-US" dirty="0"/>
              <a:t>变量</a:t>
            </a:r>
            <a:endParaRPr lang="zh-CN" altLang="en-US" dirty="0"/>
          </a:p>
          <a:p>
            <a:r>
              <a:rPr lang="zh-CN" altLang="en-US" dirty="0"/>
              <a:t>                     </a:t>
            </a:r>
            <a:r>
              <a:rPr lang="en-US" altLang="zh-CN" dirty="0"/>
              <a:t>(</a:t>
            </a:r>
            <a:r>
              <a:rPr lang="en-US" altLang="zh-CN" dirty="0" err="1"/>
              <a:t>ball_y_t</a:t>
            </a:r>
            <a:r>
              <a:rPr lang="en-US" altLang="zh-CN" dirty="0"/>
              <a:t>&lt;=</a:t>
            </a:r>
            <a:r>
              <a:rPr lang="en-US" altLang="zh-CN" dirty="0" err="1"/>
              <a:t>pix_y</a:t>
            </a:r>
            <a:r>
              <a:rPr lang="en-US" altLang="zh-CN" dirty="0"/>
              <a:t>) &amp;&amp; (</a:t>
            </a:r>
            <a:r>
              <a:rPr lang="en-US" altLang="zh-CN" dirty="0" err="1"/>
              <a:t>pix_y</a:t>
            </a:r>
            <a:r>
              <a:rPr lang="en-US" altLang="zh-CN" dirty="0"/>
              <a:t>&lt;=</a:t>
            </a:r>
            <a:r>
              <a:rPr lang="en-US" altLang="zh-CN" dirty="0" err="1"/>
              <a:t>ball_y_b</a:t>
            </a:r>
            <a:r>
              <a:rPr lang="en-US" altLang="zh-CN" dirty="0"/>
              <a:t>)) &amp;  //</a:t>
            </a:r>
            <a:r>
              <a:rPr lang="zh-CN" altLang="en-US" dirty="0"/>
              <a:t>变量 </a:t>
            </a:r>
            <a:endParaRPr lang="zh-CN" altLang="en-US" dirty="0"/>
          </a:p>
          <a:p>
            <a:r>
              <a:rPr lang="zh-CN" altLang="en-US" dirty="0"/>
              <a:t>                     </a:t>
            </a:r>
            <a:r>
              <a:rPr lang="en-US" altLang="zh-CN" dirty="0" err="1"/>
              <a:t>rom_bit</a:t>
            </a:r>
            <a:r>
              <a:rPr lang="en-US" altLang="zh-CN" dirty="0"/>
              <a:t>;  // round ball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ball_r</a:t>
            </a:r>
            <a:r>
              <a:rPr lang="en-US" altLang="zh-CN" dirty="0"/>
              <a:t> = 4'b1111; // red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ball_g</a:t>
            </a:r>
            <a:r>
              <a:rPr lang="en-US" altLang="zh-CN" dirty="0"/>
              <a:t> = 4'b0000; 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ball_b</a:t>
            </a:r>
            <a:r>
              <a:rPr lang="en-US" altLang="zh-CN" dirty="0"/>
              <a:t> = 4'b0000;    </a:t>
            </a:r>
            <a:endParaRPr lang="en-US" altLang="zh-CN" dirty="0"/>
          </a:p>
          <a:p>
            <a:r>
              <a:rPr lang="en-US" altLang="zh-CN" dirty="0"/>
              <a:t>    </a:t>
            </a:r>
            <a:endParaRPr lang="en-US" altLang="zh-CN" dirty="0"/>
          </a:p>
          <a:p>
            <a:r>
              <a:rPr lang="en-US" altLang="zh-CN" dirty="0"/>
              <a:t>    // Fudan picture</a:t>
            </a:r>
            <a:endParaRPr lang="en-US" altLang="zh-CN" dirty="0"/>
          </a:p>
          <a:p>
            <a:r>
              <a:rPr lang="en-US" altLang="zh-CN" dirty="0"/>
              <a:t>    logic [10:0] C1, R1; //</a:t>
            </a:r>
            <a:r>
              <a:rPr lang="zh-CN" altLang="en-US" dirty="0"/>
              <a:t>图片左上角坐标（</a:t>
            </a:r>
            <a:r>
              <a:rPr lang="en-US" altLang="zh-CN" dirty="0"/>
              <a:t>C1, R1</a:t>
            </a:r>
            <a:r>
              <a:rPr lang="zh-CN" altLang="en-US" dirty="0"/>
              <a:t>）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assign C1 = (MAX_X - 320) / 2; //</a:t>
            </a:r>
            <a:r>
              <a:rPr lang="zh-CN" altLang="en-US" dirty="0"/>
              <a:t>水平居中</a:t>
            </a:r>
            <a:r>
              <a:rPr lang="en-US" altLang="zh-CN" dirty="0"/>
              <a:t>=160</a:t>
            </a:r>
            <a:endParaRPr lang="en-US" altLang="zh-CN" dirty="0"/>
          </a:p>
          <a:p>
            <a:r>
              <a:rPr lang="en-US" altLang="zh-CN" dirty="0"/>
              <a:t>    assign R1 = (MAX_Y - 320) / 2; //</a:t>
            </a:r>
            <a:r>
              <a:rPr lang="zh-CN" altLang="en-US" dirty="0"/>
              <a:t>垂直居中</a:t>
            </a:r>
            <a:r>
              <a:rPr lang="en-US" altLang="zh-CN" dirty="0"/>
              <a:t>=80</a:t>
            </a:r>
            <a:endParaRPr lang="en-US" altLang="zh-CN" dirty="0"/>
          </a:p>
          <a:p>
            <a:r>
              <a:rPr lang="en-US" altLang="zh-CN" dirty="0"/>
              <a:t>    </a:t>
            </a:r>
            <a:endParaRPr lang="en-US" altLang="zh-CN" dirty="0"/>
          </a:p>
          <a:p>
            <a:r>
              <a:rPr lang="en-US" altLang="zh-CN" dirty="0"/>
              <a:t>    logic [10:0] </a:t>
            </a:r>
            <a:r>
              <a:rPr lang="en-US" altLang="zh-CN" dirty="0" err="1"/>
              <a:t>xPic</a:t>
            </a:r>
            <a:r>
              <a:rPr lang="en-US" altLang="zh-CN" dirty="0"/>
              <a:t>, </a:t>
            </a:r>
            <a:r>
              <a:rPr lang="en-US" altLang="zh-CN" dirty="0" err="1"/>
              <a:t>yPic</a:t>
            </a:r>
            <a:r>
              <a:rPr lang="en-US" altLang="zh-CN" dirty="0"/>
              <a:t>; //</a:t>
            </a:r>
            <a:r>
              <a:rPr lang="zh-CN" altLang="en-US" dirty="0"/>
              <a:t>图片内坐标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assign </a:t>
            </a:r>
            <a:r>
              <a:rPr lang="en-US" altLang="zh-CN" dirty="0" err="1"/>
              <a:t>xPic</a:t>
            </a:r>
            <a:r>
              <a:rPr lang="en-US" altLang="zh-CN" dirty="0"/>
              <a:t> =  </a:t>
            </a:r>
            <a:r>
              <a:rPr lang="en-US" altLang="zh-CN" dirty="0" err="1"/>
              <a:t>pix_x</a:t>
            </a:r>
            <a:r>
              <a:rPr lang="en-US" altLang="zh-CN" dirty="0"/>
              <a:t> - H_SYNC_START - C1;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yPic</a:t>
            </a:r>
            <a:r>
              <a:rPr lang="en-US" altLang="zh-CN" dirty="0"/>
              <a:t> =  </a:t>
            </a:r>
            <a:r>
              <a:rPr lang="en-US" altLang="zh-CN" dirty="0" err="1"/>
              <a:t>pix_y</a:t>
            </a:r>
            <a:r>
              <a:rPr lang="en-US" altLang="zh-CN" dirty="0"/>
              <a:t> - V_SYNC_START - R1;</a:t>
            </a:r>
            <a:endParaRPr lang="en-US" altLang="zh-CN" dirty="0"/>
          </a:p>
          <a:p>
            <a:r>
              <a:rPr lang="en-US" altLang="zh-CN" dirty="0"/>
              <a:t>    </a:t>
            </a:r>
            <a:endParaRPr lang="en-US" altLang="zh-CN" dirty="0"/>
          </a:p>
          <a:p>
            <a:r>
              <a:rPr lang="en-US" altLang="zh-CN" dirty="0"/>
              <a:t>    // read picture data from ROM</a:t>
            </a:r>
            <a:endParaRPr lang="en-US" altLang="zh-CN" dirty="0"/>
          </a:p>
          <a:p>
            <a:r>
              <a:rPr lang="en-US" altLang="zh-CN" dirty="0"/>
              <a:t>    assign picAddr17 = 320 * </a:t>
            </a:r>
            <a:r>
              <a:rPr lang="en-US" altLang="zh-CN" dirty="0" err="1"/>
              <a:t>yPic</a:t>
            </a:r>
            <a:r>
              <a:rPr lang="en-US" altLang="zh-CN" dirty="0"/>
              <a:t> + </a:t>
            </a:r>
            <a:r>
              <a:rPr lang="en-US" altLang="zh-CN" dirty="0" err="1"/>
              <a:t>xPic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picOn</a:t>
            </a:r>
            <a:r>
              <a:rPr lang="en-US" altLang="zh-CN" dirty="0"/>
              <a:t> = ((</a:t>
            </a:r>
            <a:r>
              <a:rPr lang="en-US" altLang="zh-CN" dirty="0" err="1"/>
              <a:t>pix_x</a:t>
            </a:r>
            <a:r>
              <a:rPr lang="en-US" altLang="zh-CN" dirty="0"/>
              <a:t> &gt; H_SYNC_START+C1)     &amp;&amp;</a:t>
            </a:r>
            <a:endParaRPr lang="en-US" altLang="zh-CN" dirty="0"/>
          </a:p>
          <a:p>
            <a:r>
              <a:rPr lang="en-US" altLang="zh-CN" dirty="0"/>
              <a:t>                    (</a:t>
            </a:r>
            <a:r>
              <a:rPr lang="en-US" altLang="zh-CN" dirty="0" err="1"/>
              <a:t>pix_x</a:t>
            </a:r>
            <a:r>
              <a:rPr lang="en-US" altLang="zh-CN" dirty="0"/>
              <a:t> &lt; H_SYNC_START+C1+320) &amp;&amp;</a:t>
            </a:r>
            <a:endParaRPr lang="en-US" altLang="zh-CN" dirty="0"/>
          </a:p>
          <a:p>
            <a:r>
              <a:rPr lang="en-US" altLang="zh-CN" dirty="0"/>
              <a:t>                    (</a:t>
            </a:r>
            <a:r>
              <a:rPr lang="en-US" altLang="zh-CN" dirty="0" err="1"/>
              <a:t>pix_y</a:t>
            </a:r>
            <a:r>
              <a:rPr lang="en-US" altLang="zh-CN" dirty="0"/>
              <a:t> &gt; V_SYNC_START+R1)     &amp;&amp; </a:t>
            </a:r>
            <a:endParaRPr lang="en-US" altLang="zh-CN" dirty="0"/>
          </a:p>
          <a:p>
            <a:r>
              <a:rPr lang="en-US" altLang="zh-CN" dirty="0"/>
              <a:t>                    (</a:t>
            </a:r>
            <a:r>
              <a:rPr lang="en-US" altLang="zh-CN" dirty="0" err="1"/>
              <a:t>pix_y</a:t>
            </a:r>
            <a:r>
              <a:rPr lang="en-US" altLang="zh-CN" dirty="0"/>
              <a:t> &lt; V_SYNC_START+R1+320));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pic_r</a:t>
            </a:r>
            <a:r>
              <a:rPr lang="en-US" altLang="zh-CN" dirty="0"/>
              <a:t> = </a:t>
            </a:r>
            <a:r>
              <a:rPr lang="en-US" altLang="zh-CN" dirty="0" err="1"/>
              <a:t>picData</a:t>
            </a:r>
            <a:r>
              <a:rPr lang="en-US" altLang="zh-CN" dirty="0"/>
              <a:t>[11:8]; // 4bits red 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pic_g</a:t>
            </a:r>
            <a:r>
              <a:rPr lang="en-US" altLang="zh-CN" dirty="0"/>
              <a:t> = </a:t>
            </a:r>
            <a:r>
              <a:rPr lang="en-US" altLang="zh-CN" dirty="0" err="1"/>
              <a:t>picData</a:t>
            </a:r>
            <a:r>
              <a:rPr lang="en-US" altLang="zh-CN" dirty="0"/>
              <a:t>[7:4];  // 4bits green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pic_b</a:t>
            </a:r>
            <a:r>
              <a:rPr lang="en-US" altLang="zh-CN" dirty="0"/>
              <a:t> = </a:t>
            </a:r>
            <a:r>
              <a:rPr lang="en-US" altLang="zh-CN" dirty="0" err="1"/>
              <a:t>picData</a:t>
            </a:r>
            <a:r>
              <a:rPr lang="en-US" altLang="zh-CN" dirty="0"/>
              <a:t>[3:0];  // 4bits blue  </a:t>
            </a:r>
            <a:endParaRPr lang="en-US" altLang="zh-CN" dirty="0"/>
          </a:p>
          <a:p>
            <a:r>
              <a:rPr lang="en-US" altLang="zh-CN" dirty="0"/>
              <a:t>    </a:t>
            </a:r>
            <a:endParaRPr lang="en-US" altLang="zh-CN" dirty="0"/>
          </a:p>
          <a:p>
            <a:r>
              <a:rPr lang="en-US" altLang="zh-CN" dirty="0"/>
              <a:t>    // (Text) </a:t>
            </a:r>
            <a:r>
              <a:rPr lang="zh-CN" altLang="en-US" dirty="0"/>
              <a:t>得分文字</a:t>
            </a:r>
            <a:r>
              <a:rPr lang="en-US" altLang="zh-CN" dirty="0"/>
              <a:t>: 16x8</a:t>
            </a:r>
            <a:r>
              <a:rPr lang="zh-CN" altLang="en-US" dirty="0"/>
              <a:t>点阵 </a:t>
            </a:r>
            <a:r>
              <a:rPr lang="en-US" altLang="zh-CN" dirty="0"/>
              <a:t>"Score:??"  </a:t>
            </a:r>
            <a:endParaRPr lang="en-US" altLang="zh-CN" dirty="0"/>
          </a:p>
          <a:p>
            <a:r>
              <a:rPr lang="en-US" altLang="zh-CN" dirty="0"/>
              <a:t>    logic [10:0] C2, R2; //</a:t>
            </a:r>
            <a:r>
              <a:rPr lang="zh-CN" altLang="en-US" dirty="0"/>
              <a:t>图片左上角坐标（</a:t>
            </a:r>
            <a:r>
              <a:rPr lang="en-US" altLang="zh-CN" dirty="0"/>
              <a:t>C2, R2</a:t>
            </a:r>
            <a:r>
              <a:rPr lang="zh-CN" altLang="en-US" dirty="0"/>
              <a:t>）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assign C2 = 500;</a:t>
            </a:r>
            <a:endParaRPr lang="en-US" altLang="zh-CN" dirty="0"/>
          </a:p>
          <a:p>
            <a:r>
              <a:rPr lang="en-US" altLang="zh-CN" dirty="0"/>
              <a:t>    assign R2 = 10;</a:t>
            </a:r>
            <a:endParaRPr lang="en-US" altLang="zh-CN" dirty="0"/>
          </a:p>
          <a:p>
            <a:r>
              <a:rPr lang="en-US" altLang="zh-CN" dirty="0"/>
              <a:t>    </a:t>
            </a:r>
            <a:endParaRPr lang="en-US" altLang="zh-CN" dirty="0"/>
          </a:p>
          <a:p>
            <a:r>
              <a:rPr lang="en-US" altLang="zh-CN" dirty="0"/>
              <a:t>    logic [10:0] </a:t>
            </a:r>
            <a:r>
              <a:rPr lang="en-US" altLang="zh-CN" dirty="0" err="1"/>
              <a:t>xText</a:t>
            </a:r>
            <a:r>
              <a:rPr lang="en-US" altLang="zh-CN" dirty="0"/>
              <a:t>, </a:t>
            </a:r>
            <a:r>
              <a:rPr lang="en-US" altLang="zh-CN" dirty="0" err="1"/>
              <a:t>yText</a:t>
            </a:r>
            <a:r>
              <a:rPr lang="en-US" altLang="zh-CN" dirty="0"/>
              <a:t>; //Text</a:t>
            </a:r>
            <a:r>
              <a:rPr lang="zh-CN" altLang="en-US" dirty="0"/>
              <a:t>内坐标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assign </a:t>
            </a:r>
            <a:r>
              <a:rPr lang="en-US" altLang="zh-CN" dirty="0" err="1"/>
              <a:t>xText</a:t>
            </a:r>
            <a:r>
              <a:rPr lang="en-US" altLang="zh-CN" dirty="0"/>
              <a:t> =  </a:t>
            </a:r>
            <a:r>
              <a:rPr lang="en-US" altLang="zh-CN" dirty="0" err="1"/>
              <a:t>pix_x</a:t>
            </a:r>
            <a:r>
              <a:rPr lang="en-US" altLang="zh-CN" dirty="0"/>
              <a:t> - H_SYNC_START - C2 - 1;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yText</a:t>
            </a:r>
            <a:r>
              <a:rPr lang="en-US" altLang="zh-CN" dirty="0"/>
              <a:t> =  </a:t>
            </a:r>
            <a:r>
              <a:rPr lang="en-US" altLang="zh-CN" dirty="0" err="1"/>
              <a:t>pix_y</a:t>
            </a:r>
            <a:r>
              <a:rPr lang="en-US" altLang="zh-CN" dirty="0"/>
              <a:t> - V_SYNC_START - R2 - 1;</a:t>
            </a:r>
            <a:endParaRPr lang="en-US" altLang="zh-CN" dirty="0"/>
          </a:p>
          <a:p>
            <a:r>
              <a:rPr lang="en-US" altLang="zh-CN" dirty="0"/>
              <a:t>    </a:t>
            </a:r>
            <a:endParaRPr lang="en-US" altLang="zh-CN" dirty="0"/>
          </a:p>
          <a:p>
            <a:r>
              <a:rPr lang="en-US" altLang="zh-CN" dirty="0"/>
              <a:t>    logic [10:0] </a:t>
            </a:r>
            <a:r>
              <a:rPr lang="en-US" altLang="zh-CN" dirty="0" err="1"/>
              <a:t>txtAddr</a:t>
            </a:r>
            <a:r>
              <a:rPr lang="en-US" altLang="zh-CN" dirty="0"/>
              <a:t>; //{</a:t>
            </a:r>
            <a:r>
              <a:rPr lang="en-US" altLang="zh-CN" dirty="0" err="1"/>
              <a:t>charAddr</a:t>
            </a:r>
            <a:r>
              <a:rPr lang="en-US" altLang="zh-CN" dirty="0"/>
              <a:t>, </a:t>
            </a:r>
            <a:r>
              <a:rPr lang="en-US" altLang="zh-CN" dirty="0" err="1"/>
              <a:t>rowAddr</a:t>
            </a:r>
            <a:r>
              <a:rPr lang="en-US" altLang="zh-CN" dirty="0"/>
              <a:t>}</a:t>
            </a:r>
            <a:endParaRPr lang="en-US" altLang="zh-CN" dirty="0"/>
          </a:p>
          <a:p>
            <a:r>
              <a:rPr lang="en-US" altLang="zh-CN" dirty="0"/>
              <a:t>    logic [6:0] </a:t>
            </a:r>
            <a:r>
              <a:rPr lang="en-US" altLang="zh-CN" dirty="0" err="1"/>
              <a:t>charAddr</a:t>
            </a:r>
            <a:r>
              <a:rPr lang="en-US" altLang="zh-CN" dirty="0"/>
              <a:t>; //</a:t>
            </a:r>
            <a:r>
              <a:rPr lang="zh-CN" altLang="en-US" dirty="0"/>
              <a:t>字符地址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logic [3:0] </a:t>
            </a:r>
            <a:r>
              <a:rPr lang="en-US" altLang="zh-CN" dirty="0" err="1"/>
              <a:t>rowAddr</a:t>
            </a:r>
            <a:r>
              <a:rPr lang="en-US" altLang="zh-CN" dirty="0"/>
              <a:t>;  //</a:t>
            </a:r>
            <a:r>
              <a:rPr lang="zh-CN" altLang="en-US" dirty="0"/>
              <a:t>行地址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logic [0:7] </a:t>
            </a:r>
            <a:r>
              <a:rPr lang="en-US" altLang="zh-CN" dirty="0" err="1"/>
              <a:t>textData</a:t>
            </a:r>
            <a:r>
              <a:rPr lang="en-US" altLang="zh-CN" dirty="0"/>
              <a:t>; //</a:t>
            </a:r>
            <a:r>
              <a:rPr lang="zh-CN" altLang="en-US" dirty="0"/>
              <a:t>字符</a:t>
            </a:r>
            <a:r>
              <a:rPr lang="en-US" altLang="zh-CN" dirty="0"/>
              <a:t>ROM</a:t>
            </a:r>
            <a:r>
              <a:rPr lang="zh-CN" altLang="en-US" dirty="0"/>
              <a:t>顺序从小到大</a:t>
            </a:r>
            <a:r>
              <a:rPr lang="en-US" altLang="zh-CN" dirty="0"/>
              <a:t>!!</a:t>
            </a:r>
            <a:endParaRPr lang="en-US" altLang="zh-CN" dirty="0"/>
          </a:p>
          <a:p>
            <a:r>
              <a:rPr lang="en-US" altLang="zh-CN" dirty="0"/>
              <a:t>    logic </a:t>
            </a:r>
            <a:r>
              <a:rPr lang="en-US" altLang="zh-CN" dirty="0" err="1"/>
              <a:t>One_bit</a:t>
            </a:r>
            <a:r>
              <a:rPr lang="en-US" altLang="zh-CN" dirty="0"/>
              <a:t>;    //</a:t>
            </a:r>
            <a:r>
              <a:rPr lang="zh-CN" altLang="en-US" dirty="0"/>
              <a:t>每个字符一行中的每</a:t>
            </a:r>
            <a:r>
              <a:rPr lang="en-US" altLang="zh-CN" dirty="0"/>
              <a:t>1</a:t>
            </a:r>
            <a:r>
              <a:rPr lang="zh-CN" altLang="en-US" dirty="0"/>
              <a:t>位数据</a:t>
            </a:r>
            <a:endParaRPr lang="zh-CN" altLang="en-US" dirty="0"/>
          </a:p>
          <a:p>
            <a:r>
              <a:rPr lang="zh-CN" altLang="en-US" dirty="0"/>
              <a:t>    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always @(*)</a:t>
            </a:r>
            <a:endParaRPr lang="en-US" altLang="zh-CN" dirty="0"/>
          </a:p>
          <a:p>
            <a:r>
              <a:rPr lang="en-US" altLang="zh-CN" dirty="0"/>
              <a:t>        case (</a:t>
            </a:r>
            <a:r>
              <a:rPr lang="en-US" altLang="zh-CN" dirty="0" err="1"/>
              <a:t>xText</a:t>
            </a:r>
            <a:r>
              <a:rPr lang="en-US" altLang="zh-CN" dirty="0"/>
              <a:t>[6:3])    // </a:t>
            </a:r>
            <a:r>
              <a:rPr lang="en-US" altLang="zh-CN" dirty="0" err="1"/>
              <a:t>xText</a:t>
            </a:r>
            <a:r>
              <a:rPr lang="en-US" altLang="zh-CN" dirty="0"/>
              <a:t>[2:0]</a:t>
            </a:r>
            <a:r>
              <a:rPr lang="zh-CN" altLang="en-US" dirty="0"/>
              <a:t>为</a:t>
            </a:r>
            <a:r>
              <a:rPr lang="en-US" altLang="zh-CN" dirty="0"/>
              <a:t>1</a:t>
            </a:r>
            <a:r>
              <a:rPr lang="zh-CN" altLang="en-US" dirty="0"/>
              <a:t>个字</a:t>
            </a:r>
            <a:endParaRPr lang="zh-CN" altLang="en-US" dirty="0"/>
          </a:p>
          <a:p>
            <a:r>
              <a:rPr lang="zh-CN" altLang="en-US" dirty="0"/>
              <a:t>            </a:t>
            </a:r>
            <a:r>
              <a:rPr lang="en-US" altLang="zh-CN" dirty="0"/>
              <a:t>4'h0: </a:t>
            </a:r>
            <a:r>
              <a:rPr lang="en-US" altLang="zh-CN" dirty="0" err="1"/>
              <a:t>charAddr</a:t>
            </a:r>
            <a:r>
              <a:rPr lang="en-US" altLang="zh-CN" dirty="0"/>
              <a:t> = 7'h53; // S</a:t>
            </a:r>
            <a:endParaRPr lang="en-US" altLang="zh-CN" dirty="0"/>
          </a:p>
          <a:p>
            <a:r>
              <a:rPr lang="en-US" altLang="zh-CN" dirty="0"/>
              <a:t>            4'h1: </a:t>
            </a:r>
            <a:r>
              <a:rPr lang="en-US" altLang="zh-CN" dirty="0" err="1"/>
              <a:t>charAddr</a:t>
            </a:r>
            <a:r>
              <a:rPr lang="en-US" altLang="zh-CN" dirty="0"/>
              <a:t> = 7'h63; // c</a:t>
            </a:r>
            <a:endParaRPr lang="en-US" altLang="zh-CN" dirty="0"/>
          </a:p>
          <a:p>
            <a:r>
              <a:rPr lang="en-US" altLang="zh-CN" dirty="0"/>
              <a:t>            4'h2: </a:t>
            </a:r>
            <a:r>
              <a:rPr lang="en-US" altLang="zh-CN" dirty="0" err="1"/>
              <a:t>charAddr</a:t>
            </a:r>
            <a:r>
              <a:rPr lang="en-US" altLang="zh-CN" dirty="0"/>
              <a:t> = 7'h6f; // o</a:t>
            </a:r>
            <a:endParaRPr lang="en-US" altLang="zh-CN" dirty="0"/>
          </a:p>
          <a:p>
            <a:r>
              <a:rPr lang="en-US" altLang="zh-CN" dirty="0"/>
              <a:t>            4'h3: </a:t>
            </a:r>
            <a:r>
              <a:rPr lang="en-US" altLang="zh-CN" dirty="0" err="1"/>
              <a:t>charAddr</a:t>
            </a:r>
            <a:r>
              <a:rPr lang="en-US" altLang="zh-CN" dirty="0"/>
              <a:t> = 7'h72; // r</a:t>
            </a:r>
            <a:endParaRPr lang="en-US" altLang="zh-CN" dirty="0"/>
          </a:p>
          <a:p>
            <a:r>
              <a:rPr lang="en-US" altLang="zh-CN" dirty="0"/>
              <a:t>            4'h4: </a:t>
            </a:r>
            <a:r>
              <a:rPr lang="en-US" altLang="zh-CN" dirty="0" err="1"/>
              <a:t>charAddr</a:t>
            </a:r>
            <a:r>
              <a:rPr lang="en-US" altLang="zh-CN" dirty="0"/>
              <a:t> = 7'h65; // e</a:t>
            </a:r>
            <a:endParaRPr lang="en-US" altLang="zh-CN" dirty="0"/>
          </a:p>
          <a:p>
            <a:r>
              <a:rPr lang="en-US" altLang="zh-CN" dirty="0"/>
              <a:t>            4'h5: </a:t>
            </a:r>
            <a:r>
              <a:rPr lang="en-US" altLang="zh-CN" dirty="0" err="1"/>
              <a:t>charAddr</a:t>
            </a:r>
            <a:r>
              <a:rPr lang="en-US" altLang="zh-CN" dirty="0"/>
              <a:t> = 7'h3a; // :</a:t>
            </a:r>
            <a:endParaRPr lang="en-US" altLang="zh-CN" dirty="0"/>
          </a:p>
          <a:p>
            <a:r>
              <a:rPr lang="en-US" altLang="zh-CN" dirty="0"/>
              <a:t>            4'h6: </a:t>
            </a:r>
            <a:r>
              <a:rPr lang="en-US" altLang="zh-CN" dirty="0" err="1"/>
              <a:t>charAddr</a:t>
            </a:r>
            <a:r>
              <a:rPr lang="en-US" altLang="zh-CN" dirty="0"/>
              <a:t> = {3'b011, textBalls1}; // </a:t>
            </a:r>
            <a:r>
              <a:rPr lang="zh-CN" altLang="en-US" dirty="0"/>
              <a:t>十位数</a:t>
            </a:r>
            <a:endParaRPr lang="zh-CN" altLang="en-US" dirty="0"/>
          </a:p>
          <a:p>
            <a:r>
              <a:rPr lang="zh-CN" altLang="en-US" dirty="0"/>
              <a:t>            </a:t>
            </a:r>
            <a:r>
              <a:rPr lang="en-US" altLang="zh-CN" dirty="0"/>
              <a:t>4'h7: </a:t>
            </a:r>
            <a:r>
              <a:rPr lang="en-US" altLang="zh-CN" dirty="0" err="1"/>
              <a:t>charAddr</a:t>
            </a:r>
            <a:r>
              <a:rPr lang="en-US" altLang="zh-CN" dirty="0"/>
              <a:t> = {3'b011, textBalls0}; // </a:t>
            </a:r>
            <a:r>
              <a:rPr lang="zh-CN" altLang="en-US" dirty="0"/>
              <a:t>个位数</a:t>
            </a:r>
            <a:endParaRPr lang="zh-CN" altLang="en-US" dirty="0"/>
          </a:p>
          <a:p>
            <a:r>
              <a:rPr lang="zh-CN" altLang="en-US" dirty="0"/>
              <a:t>        </a:t>
            </a:r>
            <a:r>
              <a:rPr lang="en-US" altLang="zh-CN" dirty="0" err="1"/>
              <a:t>endcase</a:t>
            </a:r>
            <a:endParaRPr lang="en-US" altLang="zh-CN" dirty="0"/>
          </a:p>
          <a:p>
            <a:r>
              <a:rPr lang="en-US" altLang="zh-CN" dirty="0"/>
              <a:t>       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rowAddr</a:t>
            </a:r>
            <a:r>
              <a:rPr lang="en-US" altLang="zh-CN" dirty="0"/>
              <a:t> = </a:t>
            </a:r>
            <a:r>
              <a:rPr lang="en-US" altLang="zh-CN" dirty="0" err="1"/>
              <a:t>yText</a:t>
            </a:r>
            <a:r>
              <a:rPr lang="en-US" altLang="zh-CN" dirty="0"/>
              <a:t>[3:0];  // </a:t>
            </a:r>
            <a:r>
              <a:rPr lang="zh-CN" altLang="en-US" dirty="0"/>
              <a:t>每个字共</a:t>
            </a:r>
            <a:r>
              <a:rPr lang="en-US" altLang="zh-CN" dirty="0"/>
              <a:t>16</a:t>
            </a:r>
            <a:r>
              <a:rPr lang="zh-CN" altLang="en-US" dirty="0"/>
              <a:t>行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assign </a:t>
            </a:r>
            <a:r>
              <a:rPr lang="en-US" altLang="zh-CN" dirty="0" err="1"/>
              <a:t>txtAddr</a:t>
            </a:r>
            <a:r>
              <a:rPr lang="en-US" altLang="zh-CN" dirty="0"/>
              <a:t> = {</a:t>
            </a:r>
            <a:r>
              <a:rPr lang="en-US" altLang="zh-CN" dirty="0" err="1"/>
              <a:t>charAddr</a:t>
            </a:r>
            <a:r>
              <a:rPr lang="en-US" altLang="zh-CN" dirty="0"/>
              <a:t>, </a:t>
            </a:r>
            <a:r>
              <a:rPr lang="en-US" altLang="zh-CN" dirty="0" err="1"/>
              <a:t>rowAddr</a:t>
            </a:r>
            <a:r>
              <a:rPr lang="en-US" altLang="zh-CN" dirty="0"/>
              <a:t>};</a:t>
            </a:r>
            <a:endParaRPr lang="en-US" altLang="zh-CN" dirty="0"/>
          </a:p>
          <a:p>
            <a:r>
              <a:rPr lang="en-US" altLang="zh-CN" dirty="0"/>
              <a:t>    </a:t>
            </a:r>
            <a:endParaRPr lang="en-US" altLang="zh-CN" dirty="0"/>
          </a:p>
          <a:p>
            <a:r>
              <a:rPr lang="en-US" altLang="zh-CN" dirty="0"/>
              <a:t>    // </a:t>
            </a:r>
            <a:r>
              <a:rPr lang="zh-CN" altLang="en-US" dirty="0"/>
              <a:t>从</a:t>
            </a:r>
            <a:r>
              <a:rPr lang="en-US" altLang="zh-CN" dirty="0"/>
              <a:t>ROM</a:t>
            </a:r>
            <a:r>
              <a:rPr lang="zh-CN" altLang="en-US" dirty="0"/>
              <a:t>中获取字符每行</a:t>
            </a:r>
            <a:r>
              <a:rPr lang="en-US" altLang="zh-CN" dirty="0"/>
              <a:t>8</a:t>
            </a:r>
            <a:r>
              <a:rPr lang="zh-CN" altLang="en-US" dirty="0"/>
              <a:t>位数据</a:t>
            </a:r>
            <a:r>
              <a:rPr lang="en-US" altLang="zh-CN" dirty="0" err="1"/>
              <a:t>textData</a:t>
            </a:r>
            <a:endParaRPr lang="en-US" altLang="zh-CN" dirty="0"/>
          </a:p>
          <a:p>
            <a:r>
              <a:rPr lang="en-US" altLang="zh-CN" dirty="0"/>
              <a:t>    ASCII_ROM A1(.a(</a:t>
            </a:r>
            <a:r>
              <a:rPr lang="en-US" altLang="zh-CN" dirty="0" err="1"/>
              <a:t>txtAddr</a:t>
            </a:r>
            <a:r>
              <a:rPr lang="en-US" altLang="zh-CN" dirty="0"/>
              <a:t>), .</a:t>
            </a:r>
            <a:r>
              <a:rPr lang="en-US" altLang="zh-CN" dirty="0" err="1"/>
              <a:t>spo</a:t>
            </a:r>
            <a:r>
              <a:rPr lang="en-US" altLang="zh-CN" dirty="0"/>
              <a:t>(</a:t>
            </a:r>
            <a:r>
              <a:rPr lang="en-US" altLang="zh-CN" dirty="0" err="1"/>
              <a:t>textData</a:t>
            </a:r>
            <a:r>
              <a:rPr lang="en-US" altLang="zh-CN" dirty="0"/>
              <a:t>));</a:t>
            </a:r>
            <a:endParaRPr lang="en-US" altLang="zh-CN" dirty="0"/>
          </a:p>
          <a:p>
            <a:r>
              <a:rPr lang="en-US" altLang="zh-CN" dirty="0"/>
              <a:t>    </a:t>
            </a:r>
            <a:endParaRPr lang="en-US" altLang="zh-CN" dirty="0"/>
          </a:p>
          <a:p>
            <a:r>
              <a:rPr lang="en-US" altLang="zh-CN" dirty="0"/>
              <a:t>    // </a:t>
            </a:r>
            <a:r>
              <a:rPr lang="zh-CN" altLang="en-US" dirty="0"/>
              <a:t>提取出每个字符一行中的每</a:t>
            </a:r>
            <a:r>
              <a:rPr lang="en-US" altLang="zh-CN" dirty="0"/>
              <a:t>1</a:t>
            </a:r>
            <a:r>
              <a:rPr lang="zh-CN" altLang="en-US" dirty="0"/>
              <a:t>位数据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assign </a:t>
            </a:r>
            <a:r>
              <a:rPr lang="en-US" altLang="zh-CN" dirty="0" err="1"/>
              <a:t>One_bit</a:t>
            </a:r>
            <a:r>
              <a:rPr lang="en-US" altLang="zh-CN" dirty="0"/>
              <a:t> = </a:t>
            </a:r>
            <a:r>
              <a:rPr lang="en-US" altLang="zh-CN" dirty="0" err="1"/>
              <a:t>textData</a:t>
            </a:r>
            <a:r>
              <a:rPr lang="en-US" altLang="zh-CN" dirty="0"/>
              <a:t>[</a:t>
            </a:r>
            <a:r>
              <a:rPr lang="en-US" altLang="zh-CN" dirty="0" err="1"/>
              <a:t>xText</a:t>
            </a:r>
            <a:r>
              <a:rPr lang="en-US" altLang="zh-CN" dirty="0"/>
              <a:t>[2:0]];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// 16x8</a:t>
            </a:r>
            <a:r>
              <a:rPr lang="zh-CN" altLang="en-US" dirty="0"/>
              <a:t>点阵 </a:t>
            </a:r>
            <a:r>
              <a:rPr lang="en-US" altLang="zh-CN" dirty="0"/>
              <a:t>"Score:??"  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textOn</a:t>
            </a:r>
            <a:r>
              <a:rPr lang="en-US" altLang="zh-CN" dirty="0"/>
              <a:t> = ((</a:t>
            </a:r>
            <a:r>
              <a:rPr lang="en-US" altLang="zh-CN" dirty="0" err="1"/>
              <a:t>pix_x</a:t>
            </a:r>
            <a:r>
              <a:rPr lang="en-US" altLang="zh-CN" dirty="0"/>
              <a:t> &gt; H_SYNC_START+C2)     &amp;&amp;</a:t>
            </a:r>
            <a:endParaRPr lang="en-US" altLang="zh-CN" dirty="0"/>
          </a:p>
          <a:p>
            <a:r>
              <a:rPr lang="en-US" altLang="zh-CN" dirty="0"/>
              <a:t>                     (</a:t>
            </a:r>
            <a:r>
              <a:rPr lang="en-US" altLang="zh-CN" dirty="0" err="1"/>
              <a:t>pix_x</a:t>
            </a:r>
            <a:r>
              <a:rPr lang="en-US" altLang="zh-CN" dirty="0"/>
              <a:t> &lt; H_SYNC_START+C2+8*8) &amp;&amp; //8</a:t>
            </a:r>
            <a:r>
              <a:rPr lang="zh-CN" altLang="en-US" dirty="0"/>
              <a:t>字符*</a:t>
            </a:r>
            <a:r>
              <a:rPr lang="en-US" altLang="zh-CN" dirty="0"/>
              <a:t>8bits</a:t>
            </a:r>
            <a:endParaRPr lang="en-US" altLang="zh-CN" dirty="0"/>
          </a:p>
          <a:p>
            <a:r>
              <a:rPr lang="en-US" altLang="zh-CN" dirty="0"/>
              <a:t>                     (</a:t>
            </a:r>
            <a:r>
              <a:rPr lang="en-US" altLang="zh-CN" dirty="0" err="1"/>
              <a:t>pix_y</a:t>
            </a:r>
            <a:r>
              <a:rPr lang="en-US" altLang="zh-CN" dirty="0"/>
              <a:t> &gt; V_SYNC_START+R2)     &amp;&amp; </a:t>
            </a:r>
            <a:endParaRPr lang="en-US" altLang="zh-CN" dirty="0"/>
          </a:p>
          <a:p>
            <a:r>
              <a:rPr lang="en-US" altLang="zh-CN" dirty="0"/>
              <a:t>                     (</a:t>
            </a:r>
            <a:r>
              <a:rPr lang="en-US" altLang="zh-CN" dirty="0" err="1"/>
              <a:t>pix_y</a:t>
            </a:r>
            <a:r>
              <a:rPr lang="en-US" altLang="zh-CN" dirty="0"/>
              <a:t> &lt; V_SYNC_START+R2+16)) &amp;&amp; //16bits</a:t>
            </a:r>
            <a:r>
              <a:rPr lang="zh-CN" altLang="en-US" dirty="0"/>
              <a:t>高</a:t>
            </a:r>
            <a:endParaRPr lang="zh-CN" altLang="en-US" dirty="0"/>
          </a:p>
          <a:p>
            <a:r>
              <a:rPr lang="zh-CN" altLang="en-US" dirty="0"/>
              <a:t>                     </a:t>
            </a:r>
            <a:r>
              <a:rPr lang="en-US" altLang="zh-CN" dirty="0" err="1"/>
              <a:t>One_bit</a:t>
            </a:r>
            <a:r>
              <a:rPr lang="en-US" altLang="zh-CN" dirty="0"/>
              <a:t> ;  // </a:t>
            </a:r>
            <a:r>
              <a:rPr lang="zh-CN" altLang="en-US" dirty="0"/>
              <a:t>像素</a:t>
            </a:r>
            <a:r>
              <a:rPr lang="en-US" altLang="zh-CN" dirty="0"/>
              <a:t>=1</a:t>
            </a:r>
            <a:r>
              <a:rPr lang="zh-CN" altLang="en-US" dirty="0"/>
              <a:t>？</a:t>
            </a:r>
            <a:endParaRPr lang="zh-CN" altLang="en-US" dirty="0"/>
          </a:p>
          <a:p>
            <a:r>
              <a:rPr lang="zh-CN" altLang="en-US" dirty="0"/>
              <a:t>                                    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 err="1"/>
              <a:t>always_comb</a:t>
            </a:r>
            <a:r>
              <a:rPr lang="en-US" altLang="zh-CN" dirty="0"/>
              <a:t>   // ===== </a:t>
            </a:r>
            <a:r>
              <a:rPr lang="en-US" altLang="zh-CN" dirty="0" err="1"/>
              <a:t>rgb</a:t>
            </a:r>
            <a:r>
              <a:rPr lang="en-US" altLang="zh-CN" dirty="0"/>
              <a:t> </a:t>
            </a:r>
            <a:r>
              <a:rPr lang="zh-CN" altLang="en-US" dirty="0"/>
              <a:t>输出 </a:t>
            </a:r>
            <a:r>
              <a:rPr lang="en-US" altLang="zh-CN" dirty="0"/>
              <a:t>======</a:t>
            </a:r>
            <a:endParaRPr lang="en-US" altLang="zh-CN" dirty="0"/>
          </a:p>
          <a:p>
            <a:r>
              <a:rPr lang="en-US" altLang="zh-CN" dirty="0"/>
              <a:t>        if (~</a:t>
            </a:r>
            <a:r>
              <a:rPr lang="en-US" altLang="zh-CN" dirty="0" err="1"/>
              <a:t>videoOn</a:t>
            </a:r>
            <a:r>
              <a:rPr lang="en-US" altLang="zh-CN" dirty="0"/>
              <a:t>) </a:t>
            </a:r>
            <a:endParaRPr lang="en-US" altLang="zh-CN" dirty="0"/>
          </a:p>
          <a:p>
            <a:r>
              <a:rPr lang="en-US" altLang="zh-CN" dirty="0"/>
              <a:t>        begin</a:t>
            </a:r>
            <a:endParaRPr lang="en-US" altLang="zh-CN" dirty="0"/>
          </a:p>
          <a:p>
            <a:r>
              <a:rPr lang="en-US" altLang="zh-CN" dirty="0"/>
              <a:t>            red   = 4'b0000; // blank</a:t>
            </a:r>
            <a:endParaRPr lang="en-US" altLang="zh-CN" dirty="0"/>
          </a:p>
          <a:p>
            <a:r>
              <a:rPr lang="en-US" altLang="zh-CN" dirty="0"/>
              <a:t>            green = 4'b0000; // blank</a:t>
            </a:r>
            <a:endParaRPr lang="en-US" altLang="zh-CN" dirty="0"/>
          </a:p>
          <a:p>
            <a:r>
              <a:rPr lang="en-US" altLang="zh-CN" dirty="0"/>
              <a:t>            blue  = 4'b0000; // blank</a:t>
            </a:r>
            <a:endParaRPr lang="en-US" altLang="zh-CN" dirty="0"/>
          </a:p>
          <a:p>
            <a:r>
              <a:rPr lang="en-US" altLang="zh-CN" dirty="0"/>
              <a:t>        end</a:t>
            </a:r>
            <a:endParaRPr lang="en-US" altLang="zh-CN" dirty="0"/>
          </a:p>
          <a:p>
            <a:r>
              <a:rPr lang="en-US" altLang="zh-CN" dirty="0"/>
              <a:t>        else if (</a:t>
            </a:r>
            <a:r>
              <a:rPr lang="en-US" altLang="zh-CN" dirty="0" err="1"/>
              <a:t>wallOn</a:t>
            </a:r>
            <a:r>
              <a:rPr lang="en-US" altLang="zh-CN" dirty="0"/>
              <a:t>)</a:t>
            </a:r>
            <a:endParaRPr lang="en-US" altLang="zh-CN" dirty="0"/>
          </a:p>
          <a:p>
            <a:r>
              <a:rPr lang="en-US" altLang="zh-CN" dirty="0"/>
              <a:t>        begin</a:t>
            </a:r>
            <a:endParaRPr lang="en-US" altLang="zh-CN" dirty="0"/>
          </a:p>
          <a:p>
            <a:r>
              <a:rPr lang="en-US" altLang="zh-CN" dirty="0"/>
              <a:t>            red   = </a:t>
            </a:r>
            <a:r>
              <a:rPr lang="en-US" altLang="zh-CN" dirty="0" err="1"/>
              <a:t>wall_r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        green = </a:t>
            </a:r>
            <a:r>
              <a:rPr lang="en-US" altLang="zh-CN" dirty="0" err="1"/>
              <a:t>wall_g</a:t>
            </a:r>
            <a:r>
              <a:rPr lang="en-US" altLang="zh-CN" dirty="0"/>
              <a:t>; </a:t>
            </a:r>
            <a:endParaRPr lang="en-US" altLang="zh-CN" dirty="0"/>
          </a:p>
          <a:p>
            <a:r>
              <a:rPr lang="en-US" altLang="zh-CN" dirty="0"/>
              <a:t>            blue  = </a:t>
            </a:r>
            <a:r>
              <a:rPr lang="en-US" altLang="zh-CN" dirty="0" err="1"/>
              <a:t>wall_b</a:t>
            </a:r>
            <a:r>
              <a:rPr lang="en-US" altLang="zh-CN" dirty="0"/>
              <a:t>; </a:t>
            </a:r>
            <a:endParaRPr lang="en-US" altLang="zh-CN" dirty="0"/>
          </a:p>
          <a:p>
            <a:r>
              <a:rPr lang="en-US" altLang="zh-CN" dirty="0"/>
              <a:t>        end</a:t>
            </a:r>
            <a:endParaRPr lang="en-US" altLang="zh-CN" dirty="0"/>
          </a:p>
          <a:p>
            <a:r>
              <a:rPr lang="en-US" altLang="zh-CN" dirty="0"/>
              <a:t>        else if (</a:t>
            </a:r>
            <a:r>
              <a:rPr lang="en-US" altLang="zh-CN" dirty="0" err="1"/>
              <a:t>ballOn</a:t>
            </a:r>
            <a:r>
              <a:rPr lang="en-US" altLang="zh-CN" dirty="0"/>
              <a:t>)</a:t>
            </a:r>
            <a:endParaRPr lang="en-US" altLang="zh-CN" dirty="0"/>
          </a:p>
          <a:p>
            <a:r>
              <a:rPr lang="en-US" altLang="zh-CN" dirty="0"/>
              <a:t>        begin</a:t>
            </a:r>
            <a:endParaRPr lang="en-US" altLang="zh-CN" dirty="0"/>
          </a:p>
          <a:p>
            <a:r>
              <a:rPr lang="en-US" altLang="zh-CN" dirty="0"/>
              <a:t>            red   = </a:t>
            </a:r>
            <a:r>
              <a:rPr lang="en-US" altLang="zh-CN" dirty="0" err="1"/>
              <a:t>ball_r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        green = </a:t>
            </a:r>
            <a:r>
              <a:rPr lang="en-US" altLang="zh-CN" dirty="0" err="1"/>
              <a:t>ball_g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        blue  = </a:t>
            </a:r>
            <a:r>
              <a:rPr lang="en-US" altLang="zh-CN" dirty="0" err="1"/>
              <a:t>ball_b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    end</a:t>
            </a:r>
            <a:endParaRPr lang="en-US" altLang="zh-CN" dirty="0"/>
          </a:p>
          <a:p>
            <a:r>
              <a:rPr lang="en-US" altLang="zh-CN" dirty="0"/>
              <a:t>        else if (</a:t>
            </a:r>
            <a:r>
              <a:rPr lang="en-US" altLang="zh-CN" dirty="0" err="1"/>
              <a:t>barOn</a:t>
            </a:r>
            <a:r>
              <a:rPr lang="en-US" altLang="zh-CN" dirty="0"/>
              <a:t>)</a:t>
            </a:r>
            <a:endParaRPr lang="en-US" altLang="zh-CN" dirty="0"/>
          </a:p>
          <a:p>
            <a:r>
              <a:rPr lang="en-US" altLang="zh-CN" dirty="0"/>
              <a:t>        begin</a:t>
            </a:r>
            <a:endParaRPr lang="en-US" altLang="zh-CN" dirty="0"/>
          </a:p>
          <a:p>
            <a:r>
              <a:rPr lang="en-US" altLang="zh-CN" dirty="0"/>
              <a:t>            red   = </a:t>
            </a:r>
            <a:r>
              <a:rPr lang="en-US" altLang="zh-CN" dirty="0" err="1"/>
              <a:t>bar_r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        green = </a:t>
            </a:r>
            <a:r>
              <a:rPr lang="en-US" altLang="zh-CN" dirty="0" err="1"/>
              <a:t>bar_g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        blue  = </a:t>
            </a:r>
            <a:r>
              <a:rPr lang="en-US" altLang="zh-CN" dirty="0" err="1"/>
              <a:t>bar_b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    end</a:t>
            </a:r>
            <a:endParaRPr lang="en-US" altLang="zh-CN" dirty="0"/>
          </a:p>
          <a:p>
            <a:r>
              <a:rPr lang="en-US" altLang="zh-CN" dirty="0"/>
              <a:t>        else if (</a:t>
            </a:r>
            <a:r>
              <a:rPr lang="en-US" altLang="zh-CN" dirty="0" err="1"/>
              <a:t>picOn</a:t>
            </a:r>
            <a:r>
              <a:rPr lang="en-US" altLang="zh-CN" dirty="0"/>
              <a:t>)</a:t>
            </a:r>
            <a:endParaRPr lang="en-US" altLang="zh-CN" dirty="0"/>
          </a:p>
          <a:p>
            <a:r>
              <a:rPr lang="en-US" altLang="zh-CN" dirty="0"/>
              <a:t>        begin</a:t>
            </a:r>
            <a:endParaRPr lang="en-US" altLang="zh-CN" dirty="0"/>
          </a:p>
          <a:p>
            <a:r>
              <a:rPr lang="en-US" altLang="zh-CN" dirty="0"/>
              <a:t>            red   = </a:t>
            </a:r>
            <a:r>
              <a:rPr lang="en-US" altLang="zh-CN" dirty="0" err="1"/>
              <a:t>pic_r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        green = </a:t>
            </a:r>
            <a:r>
              <a:rPr lang="en-US" altLang="zh-CN" dirty="0" err="1"/>
              <a:t>pic_g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        blue  = </a:t>
            </a:r>
            <a:r>
              <a:rPr lang="en-US" altLang="zh-CN" dirty="0" err="1"/>
              <a:t>pic_b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    end</a:t>
            </a:r>
            <a:endParaRPr lang="en-US" altLang="zh-CN" dirty="0"/>
          </a:p>
          <a:p>
            <a:r>
              <a:rPr lang="en-US" altLang="zh-CN" dirty="0"/>
              <a:t>        else if (</a:t>
            </a:r>
            <a:r>
              <a:rPr lang="en-US" altLang="zh-CN" dirty="0" err="1"/>
              <a:t>textOn</a:t>
            </a:r>
            <a:r>
              <a:rPr lang="en-US" altLang="zh-CN" dirty="0"/>
              <a:t>) </a:t>
            </a:r>
            <a:endParaRPr lang="en-US" altLang="zh-CN" dirty="0"/>
          </a:p>
          <a:p>
            <a:r>
              <a:rPr lang="en-US" altLang="zh-CN" dirty="0"/>
              <a:t>        begin  // black</a:t>
            </a:r>
            <a:endParaRPr lang="en-US" altLang="zh-CN" dirty="0"/>
          </a:p>
          <a:p>
            <a:r>
              <a:rPr lang="en-US" altLang="zh-CN" dirty="0"/>
              <a:t>            red   = 4'b0000;</a:t>
            </a:r>
            <a:endParaRPr lang="en-US" altLang="zh-CN" dirty="0"/>
          </a:p>
          <a:p>
            <a:r>
              <a:rPr lang="en-US" altLang="zh-CN" dirty="0"/>
              <a:t>            green = 4'b0000; </a:t>
            </a:r>
            <a:endParaRPr lang="en-US" altLang="zh-CN" dirty="0"/>
          </a:p>
          <a:p>
            <a:r>
              <a:rPr lang="en-US" altLang="zh-CN" dirty="0"/>
              <a:t>            blue  = 4'b0000;</a:t>
            </a:r>
            <a:endParaRPr lang="en-US" altLang="zh-CN" dirty="0"/>
          </a:p>
          <a:p>
            <a:r>
              <a:rPr lang="en-US" altLang="zh-CN" dirty="0"/>
              <a:t>        end </a:t>
            </a:r>
            <a:endParaRPr lang="en-US" altLang="zh-CN" dirty="0"/>
          </a:p>
          <a:p>
            <a:r>
              <a:rPr lang="en-US" altLang="zh-CN" dirty="0"/>
              <a:t>        else</a:t>
            </a:r>
            <a:endParaRPr lang="en-US" altLang="zh-CN" dirty="0"/>
          </a:p>
          <a:p>
            <a:r>
              <a:rPr lang="en-US" altLang="zh-CN" dirty="0"/>
              <a:t>        begin // gray background</a:t>
            </a:r>
            <a:endParaRPr lang="en-US" altLang="zh-CN" dirty="0"/>
          </a:p>
          <a:p>
            <a:r>
              <a:rPr lang="en-US" altLang="zh-CN" dirty="0"/>
              <a:t>            red   = 4'b1110; </a:t>
            </a:r>
            <a:endParaRPr lang="en-US" altLang="zh-CN" dirty="0"/>
          </a:p>
          <a:p>
            <a:r>
              <a:rPr lang="en-US" altLang="zh-CN" dirty="0"/>
              <a:t>            green = 4'b1110; </a:t>
            </a:r>
            <a:endParaRPr lang="en-US" altLang="zh-CN" dirty="0"/>
          </a:p>
          <a:p>
            <a:r>
              <a:rPr lang="en-US" altLang="zh-CN" dirty="0"/>
              <a:t>            blue  = 4'b1110; </a:t>
            </a:r>
            <a:endParaRPr lang="en-US" altLang="zh-CN" dirty="0"/>
          </a:p>
          <a:p>
            <a:r>
              <a:rPr lang="en-US" altLang="zh-CN" dirty="0"/>
              <a:t>        end</a:t>
            </a:r>
            <a:endParaRPr lang="en-US" altLang="zh-CN" dirty="0"/>
          </a:p>
          <a:p>
            <a:r>
              <a:rPr lang="en-US" altLang="zh-CN" dirty="0" err="1"/>
              <a:t>endmodule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907001-0931-41E4-8BBA-EA573262DE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module </a:t>
            </a:r>
            <a:r>
              <a:rPr lang="en-US" altLang="zh-CN" dirty="0" err="1"/>
              <a:t>pingpong_screen_textBig</a:t>
            </a:r>
            <a:r>
              <a:rPr lang="en-US" altLang="zh-CN" dirty="0"/>
              <a:t>(</a:t>
            </a:r>
            <a:endParaRPr lang="en-US" altLang="zh-CN" dirty="0"/>
          </a:p>
          <a:p>
            <a:r>
              <a:rPr lang="en-US" altLang="zh-CN" dirty="0"/>
              <a:t>    input  logic </a:t>
            </a:r>
            <a:r>
              <a:rPr lang="en-US" altLang="zh-CN" dirty="0" err="1"/>
              <a:t>clk</a:t>
            </a:r>
            <a:r>
              <a:rPr lang="en-US" altLang="zh-CN" dirty="0"/>
              <a:t>, reset,          //</a:t>
            </a:r>
            <a:r>
              <a:rPr lang="en-US" altLang="zh-CN" dirty="0" err="1"/>
              <a:t>clk</a:t>
            </a:r>
            <a:r>
              <a:rPr lang="en-US" altLang="zh-CN" dirty="0"/>
              <a:t>: </a:t>
            </a:r>
            <a:r>
              <a:rPr lang="zh-CN" altLang="en-US" dirty="0"/>
              <a:t>屏幕</a:t>
            </a:r>
            <a:r>
              <a:rPr lang="en-US" altLang="zh-CN" dirty="0"/>
              <a:t>60Hz</a:t>
            </a:r>
            <a:r>
              <a:rPr lang="zh-CN" altLang="en-US" dirty="0"/>
              <a:t>刷新频率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input  logic </a:t>
            </a:r>
            <a:r>
              <a:rPr lang="en-US" altLang="zh-CN" dirty="0" err="1"/>
              <a:t>btnUp</a:t>
            </a:r>
            <a:r>
              <a:rPr lang="en-US" altLang="zh-CN" dirty="0"/>
              <a:t>, </a:t>
            </a:r>
            <a:r>
              <a:rPr lang="en-US" altLang="zh-CN" dirty="0" err="1"/>
              <a:t>btnDown</a:t>
            </a:r>
            <a:r>
              <a:rPr lang="en-US" altLang="zh-CN" dirty="0"/>
              <a:t>,      //</a:t>
            </a:r>
            <a:r>
              <a:rPr lang="zh-CN" altLang="en-US" dirty="0"/>
              <a:t>控制</a:t>
            </a:r>
            <a:r>
              <a:rPr lang="en-US" altLang="zh-CN" dirty="0"/>
              <a:t>Bar</a:t>
            </a:r>
            <a:r>
              <a:rPr lang="zh-CN" altLang="en-US" dirty="0"/>
              <a:t>上下移动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input  logic </a:t>
            </a:r>
            <a:r>
              <a:rPr lang="en-US" altLang="zh-CN" dirty="0" err="1"/>
              <a:t>videoOn</a:t>
            </a:r>
            <a:r>
              <a:rPr lang="en-US" altLang="zh-CN" dirty="0"/>
              <a:t>,</a:t>
            </a:r>
            <a:endParaRPr lang="en-US" altLang="zh-CN" dirty="0"/>
          </a:p>
          <a:p>
            <a:r>
              <a:rPr lang="en-US" altLang="zh-CN" dirty="0"/>
              <a:t>    input  logic [10:0] </a:t>
            </a:r>
            <a:r>
              <a:rPr lang="en-US" altLang="zh-CN" dirty="0" err="1"/>
              <a:t>pix_x</a:t>
            </a:r>
            <a:r>
              <a:rPr lang="en-US" altLang="zh-CN" dirty="0"/>
              <a:t>, </a:t>
            </a:r>
            <a:r>
              <a:rPr lang="en-US" altLang="zh-CN" dirty="0" err="1"/>
              <a:t>pix_y</a:t>
            </a:r>
            <a:r>
              <a:rPr lang="en-US" altLang="zh-CN" dirty="0"/>
              <a:t>, //</a:t>
            </a:r>
            <a:r>
              <a:rPr lang="zh-CN" altLang="en-US" dirty="0"/>
              <a:t>屏幕坐标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output logic [3:0]  red, green, blue, </a:t>
            </a:r>
            <a:endParaRPr lang="en-US" altLang="zh-CN" dirty="0"/>
          </a:p>
          <a:p>
            <a:r>
              <a:rPr lang="en-US" altLang="zh-CN" dirty="0"/>
              <a:t>    input  logic [11:0] </a:t>
            </a:r>
            <a:r>
              <a:rPr lang="en-US" altLang="zh-CN" dirty="0" err="1"/>
              <a:t>picData</a:t>
            </a:r>
            <a:r>
              <a:rPr lang="en-US" altLang="zh-CN" dirty="0"/>
              <a:t>,   //</a:t>
            </a:r>
            <a:r>
              <a:rPr lang="zh-CN" altLang="en-US" dirty="0"/>
              <a:t>每个像素用</a:t>
            </a:r>
            <a:r>
              <a:rPr lang="en-US" altLang="zh-CN" dirty="0"/>
              <a:t>12</a:t>
            </a:r>
            <a:r>
              <a:rPr lang="zh-CN" altLang="en-US" dirty="0"/>
              <a:t>位表示色彩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output logic [16:0] picAddr17);//320x320=102,400bit.(2^17=131,072) </a:t>
            </a:r>
            <a:endParaRPr lang="en-US" altLang="zh-CN" dirty="0"/>
          </a:p>
          <a:p>
            <a:r>
              <a:rPr lang="en-US" altLang="zh-CN" dirty="0"/>
              <a:t>     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localparam</a:t>
            </a:r>
            <a:r>
              <a:rPr lang="en-US" altLang="zh-CN" dirty="0"/>
              <a:t> </a:t>
            </a:r>
            <a:endParaRPr lang="en-US" altLang="zh-CN" dirty="0"/>
          </a:p>
          <a:p>
            <a:r>
              <a:rPr lang="en-US" altLang="zh-CN" dirty="0"/>
              <a:t>      MAX_X = 640,  MAX_Y = 480,  //(0.0) to (640-1,480-1)</a:t>
            </a:r>
            <a:endParaRPr lang="en-US" altLang="zh-CN" dirty="0"/>
          </a:p>
          <a:p>
            <a:r>
              <a:rPr lang="en-US" altLang="zh-CN" dirty="0"/>
              <a:t>      // </a:t>
            </a:r>
            <a:r>
              <a:rPr lang="zh-CN" altLang="en-US" dirty="0"/>
              <a:t>屏幕参数</a:t>
            </a:r>
            <a:endParaRPr lang="zh-CN" altLang="en-US" dirty="0"/>
          </a:p>
          <a:p>
            <a:r>
              <a:rPr lang="zh-CN" altLang="en-US" dirty="0"/>
              <a:t>      </a:t>
            </a:r>
            <a:r>
              <a:rPr lang="en-US" altLang="zh-CN" dirty="0"/>
              <a:t>H_SYNC    =  96,           // horizontal sync width</a:t>
            </a:r>
            <a:endParaRPr lang="en-US" altLang="zh-CN" dirty="0"/>
          </a:p>
          <a:p>
            <a:r>
              <a:rPr lang="en-US" altLang="zh-CN" dirty="0"/>
              <a:t>      H_BACK    =  48,           // left border (back porch) </a:t>
            </a:r>
            <a:endParaRPr lang="en-US" altLang="zh-CN" dirty="0"/>
          </a:p>
          <a:p>
            <a:r>
              <a:rPr lang="en-US" altLang="zh-CN" dirty="0"/>
              <a:t>      H_SYNC_START = H_SYNC + H_BACK, //</a:t>
            </a:r>
            <a:r>
              <a:rPr lang="zh-CN" altLang="en-US" dirty="0"/>
              <a:t>行显示后沿 </a:t>
            </a:r>
            <a:r>
              <a:rPr lang="en-US" altLang="zh-CN" dirty="0"/>
              <a:t>= 144(96+48)</a:t>
            </a:r>
            <a:endParaRPr lang="en-US" altLang="zh-CN" dirty="0"/>
          </a:p>
          <a:p>
            <a:r>
              <a:rPr lang="en-US" altLang="zh-CN" dirty="0"/>
              <a:t>      V_SYNC    =   2,           // vertical sync lines</a:t>
            </a:r>
            <a:endParaRPr lang="en-US" altLang="zh-CN" dirty="0"/>
          </a:p>
          <a:p>
            <a:r>
              <a:rPr lang="en-US" altLang="zh-CN" dirty="0"/>
              <a:t>      V_TOP     =  29,           // vertical top border  </a:t>
            </a:r>
            <a:endParaRPr lang="en-US" altLang="zh-CN" dirty="0"/>
          </a:p>
          <a:p>
            <a:r>
              <a:rPr lang="en-US" altLang="zh-CN" dirty="0"/>
              <a:t>      V_SYNC_START = V_SYNC + V_TOP, //</a:t>
            </a:r>
            <a:r>
              <a:rPr lang="zh-CN" altLang="en-US" dirty="0"/>
              <a:t>场显示后沿 </a:t>
            </a:r>
            <a:r>
              <a:rPr lang="en-US" altLang="zh-CN" dirty="0"/>
              <a:t>=  31(2+29)   </a:t>
            </a:r>
            <a:endParaRPr lang="en-US" altLang="zh-CN" dirty="0"/>
          </a:p>
          <a:p>
            <a:r>
              <a:rPr lang="en-US" altLang="zh-CN" dirty="0"/>
              <a:t>      // === wall === </a:t>
            </a:r>
            <a:endParaRPr lang="en-US" altLang="zh-CN" dirty="0"/>
          </a:p>
          <a:p>
            <a:r>
              <a:rPr lang="en-US" altLang="zh-CN" dirty="0"/>
              <a:t>      WALL_X_L = H_SYNC_START + 30, // left boundary</a:t>
            </a:r>
            <a:endParaRPr lang="en-US" altLang="zh-CN" dirty="0"/>
          </a:p>
          <a:p>
            <a:r>
              <a:rPr lang="en-US" altLang="zh-CN" dirty="0"/>
              <a:t>      WALL_X_R = H_SYNC_START + 40, // right boundary  </a:t>
            </a:r>
            <a:endParaRPr lang="en-US" altLang="zh-CN" dirty="0"/>
          </a:p>
          <a:p>
            <a:r>
              <a:rPr lang="en-US" altLang="zh-CN" dirty="0"/>
              <a:t>      // === bar === </a:t>
            </a:r>
            <a:endParaRPr lang="en-US" altLang="zh-CN" dirty="0"/>
          </a:p>
          <a:p>
            <a:r>
              <a:rPr lang="en-US" altLang="zh-CN" dirty="0"/>
              <a:t>      BAR_X_L = H_SYNC_START + 600, // left boundary</a:t>
            </a:r>
            <a:endParaRPr lang="en-US" altLang="zh-CN" dirty="0"/>
          </a:p>
          <a:p>
            <a:r>
              <a:rPr lang="en-US" altLang="zh-CN" dirty="0"/>
              <a:t>      BAR_X_R = H_SYNC_START + 605, // right boundary   </a:t>
            </a:r>
            <a:endParaRPr lang="en-US" altLang="zh-CN" dirty="0"/>
          </a:p>
          <a:p>
            <a:r>
              <a:rPr lang="en-US" altLang="zh-CN" dirty="0"/>
              <a:t>      BAR_Y_SIZE = 70,              // bar </a:t>
            </a:r>
            <a:r>
              <a:rPr lang="zh-CN" altLang="en-US" dirty="0"/>
              <a:t>的高度</a:t>
            </a:r>
            <a:endParaRPr lang="zh-CN" altLang="en-US" dirty="0"/>
          </a:p>
          <a:p>
            <a:r>
              <a:rPr lang="zh-CN" altLang="en-US" dirty="0"/>
              <a:t>      </a:t>
            </a:r>
            <a:r>
              <a:rPr lang="en-US" altLang="zh-CN" dirty="0"/>
              <a:t>BAR_Y_T = V_SYNC_START + MAX_Y/2 - BAR_Y_SIZE/2, //Top=204 </a:t>
            </a:r>
            <a:endParaRPr lang="en-US" altLang="zh-CN" dirty="0"/>
          </a:p>
          <a:p>
            <a:r>
              <a:rPr lang="en-US" altLang="zh-CN" dirty="0"/>
              <a:t>      BAR_Y_B = BAR_Y_T + BAR_Y_SIZE -1, // bottom boundary </a:t>
            </a:r>
            <a:endParaRPr lang="en-US" altLang="zh-CN" dirty="0"/>
          </a:p>
          <a:p>
            <a:r>
              <a:rPr lang="en-US" altLang="zh-CN" dirty="0"/>
              <a:t>      BAR_V = 4,                    // </a:t>
            </a:r>
            <a:r>
              <a:rPr lang="zh-CN" altLang="en-US" dirty="0"/>
              <a:t>每次移动 </a:t>
            </a:r>
            <a:r>
              <a:rPr lang="en-US" altLang="zh-CN" dirty="0"/>
              <a:t>bar </a:t>
            </a:r>
            <a:r>
              <a:rPr lang="zh-CN" altLang="en-US" dirty="0"/>
              <a:t>的距离  </a:t>
            </a:r>
            <a:endParaRPr lang="zh-CN" altLang="en-US" dirty="0"/>
          </a:p>
          <a:p>
            <a:r>
              <a:rPr lang="zh-CN" altLang="en-US" dirty="0"/>
              <a:t>      </a:t>
            </a:r>
            <a:r>
              <a:rPr lang="en-US" altLang="zh-CN" dirty="0"/>
              <a:t>// === ball ===</a:t>
            </a:r>
            <a:endParaRPr lang="en-US" altLang="zh-CN" dirty="0"/>
          </a:p>
          <a:p>
            <a:r>
              <a:rPr lang="en-US" altLang="zh-CN" dirty="0"/>
              <a:t>      BALL_SIZE = 8, </a:t>
            </a:r>
            <a:endParaRPr lang="en-US" altLang="zh-CN" dirty="0"/>
          </a:p>
          <a:p>
            <a:r>
              <a:rPr lang="en-US" altLang="zh-CN" dirty="0"/>
              <a:t>      BALL_X_L = H_SYNC_START + 580,       // left boundary </a:t>
            </a:r>
            <a:endParaRPr lang="en-US" altLang="zh-CN" dirty="0"/>
          </a:p>
          <a:p>
            <a:r>
              <a:rPr lang="en-US" altLang="zh-CN" dirty="0"/>
              <a:t>      BALL_X_R = BALL_X_L + BALL_SIZE - 1, // right boundary </a:t>
            </a:r>
            <a:endParaRPr lang="en-US" altLang="zh-CN" dirty="0"/>
          </a:p>
          <a:p>
            <a:r>
              <a:rPr lang="en-US" altLang="zh-CN" dirty="0"/>
              <a:t>      BALL_Y_T = V_SYNC_START + MAX_Y/2 -BALL_SIZE/2,//top boundary </a:t>
            </a:r>
            <a:endParaRPr lang="en-US" altLang="zh-CN" dirty="0"/>
          </a:p>
          <a:p>
            <a:r>
              <a:rPr lang="en-US" altLang="zh-CN" dirty="0"/>
              <a:t>      BALL_Y_B = BALL_Y_T + BALL_SIZE - 1,       // bottom boundary </a:t>
            </a:r>
            <a:endParaRPr lang="en-US" altLang="zh-CN" dirty="0"/>
          </a:p>
          <a:p>
            <a:r>
              <a:rPr lang="en-US" altLang="zh-CN" dirty="0"/>
              <a:t>      BALL_V = 2;                          // </a:t>
            </a:r>
            <a:r>
              <a:rPr lang="zh-CN" altLang="en-US" dirty="0"/>
              <a:t>每次移动 </a:t>
            </a:r>
            <a:r>
              <a:rPr lang="en-US" altLang="zh-CN" dirty="0"/>
              <a:t>ball </a:t>
            </a:r>
            <a:r>
              <a:rPr lang="zh-CN" altLang="en-US" dirty="0"/>
              <a:t>的距离</a:t>
            </a:r>
            <a:endParaRPr lang="zh-CN" altLang="en-US" dirty="0"/>
          </a:p>
          <a:p>
            <a:r>
              <a:rPr lang="zh-CN" altLang="en-US" dirty="0"/>
              <a:t>         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logic </a:t>
            </a:r>
            <a:r>
              <a:rPr lang="en-US" altLang="zh-CN" dirty="0" err="1"/>
              <a:t>wallOn</a:t>
            </a:r>
            <a:r>
              <a:rPr lang="en-US" altLang="zh-CN" dirty="0"/>
              <a:t>, </a:t>
            </a:r>
            <a:r>
              <a:rPr lang="en-US" altLang="zh-CN" dirty="0" err="1"/>
              <a:t>barOn</a:t>
            </a:r>
            <a:r>
              <a:rPr lang="en-US" altLang="zh-CN" dirty="0"/>
              <a:t>, </a:t>
            </a:r>
            <a:r>
              <a:rPr lang="en-US" altLang="zh-CN" dirty="0" err="1"/>
              <a:t>ballOn</a:t>
            </a:r>
            <a:r>
              <a:rPr lang="en-US" altLang="zh-CN" dirty="0"/>
              <a:t>, </a:t>
            </a:r>
            <a:r>
              <a:rPr lang="en-US" altLang="zh-CN" dirty="0" err="1"/>
              <a:t>picOn</a:t>
            </a:r>
            <a:r>
              <a:rPr lang="en-US" altLang="zh-CN" dirty="0"/>
              <a:t>, </a:t>
            </a:r>
            <a:r>
              <a:rPr lang="en-US" altLang="zh-CN" dirty="0" err="1"/>
              <a:t>textOn</a:t>
            </a:r>
            <a:r>
              <a:rPr lang="en-US" altLang="zh-CN" dirty="0"/>
              <a:t>; </a:t>
            </a:r>
            <a:endParaRPr lang="en-US" altLang="zh-CN" dirty="0"/>
          </a:p>
          <a:p>
            <a:r>
              <a:rPr lang="en-US" altLang="zh-CN" dirty="0"/>
              <a:t>    logic [3:0] </a:t>
            </a:r>
            <a:r>
              <a:rPr lang="en-US" altLang="zh-CN" dirty="0" err="1"/>
              <a:t>wall_r</a:t>
            </a:r>
            <a:r>
              <a:rPr lang="en-US" altLang="zh-CN" dirty="0"/>
              <a:t>, </a:t>
            </a:r>
            <a:r>
              <a:rPr lang="en-US" altLang="zh-CN" dirty="0" err="1"/>
              <a:t>wall_g</a:t>
            </a:r>
            <a:r>
              <a:rPr lang="en-US" altLang="zh-CN" dirty="0"/>
              <a:t>, </a:t>
            </a:r>
            <a:r>
              <a:rPr lang="en-US" altLang="zh-CN" dirty="0" err="1"/>
              <a:t>wall_b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logic [3:0] </a:t>
            </a:r>
            <a:r>
              <a:rPr lang="en-US" altLang="zh-CN" dirty="0" err="1"/>
              <a:t>bar_r</a:t>
            </a:r>
            <a:r>
              <a:rPr lang="en-US" altLang="zh-CN" dirty="0"/>
              <a:t>,  </a:t>
            </a:r>
            <a:r>
              <a:rPr lang="en-US" altLang="zh-CN" dirty="0" err="1"/>
              <a:t>bar_g</a:t>
            </a:r>
            <a:r>
              <a:rPr lang="en-US" altLang="zh-CN" dirty="0"/>
              <a:t>,  </a:t>
            </a:r>
            <a:r>
              <a:rPr lang="en-US" altLang="zh-CN" dirty="0" err="1"/>
              <a:t>bar_b</a:t>
            </a:r>
            <a:r>
              <a:rPr lang="en-US" altLang="zh-CN" dirty="0"/>
              <a:t>; </a:t>
            </a:r>
            <a:endParaRPr lang="en-US" altLang="zh-CN" dirty="0"/>
          </a:p>
          <a:p>
            <a:r>
              <a:rPr lang="en-US" altLang="zh-CN" dirty="0"/>
              <a:t>    logic [3:0] </a:t>
            </a:r>
            <a:r>
              <a:rPr lang="en-US" altLang="zh-CN" dirty="0" err="1"/>
              <a:t>ball_r</a:t>
            </a:r>
            <a:r>
              <a:rPr lang="en-US" altLang="zh-CN" dirty="0"/>
              <a:t>, </a:t>
            </a:r>
            <a:r>
              <a:rPr lang="en-US" altLang="zh-CN" dirty="0" err="1"/>
              <a:t>ball_g</a:t>
            </a:r>
            <a:r>
              <a:rPr lang="en-US" altLang="zh-CN" dirty="0"/>
              <a:t>, </a:t>
            </a:r>
            <a:r>
              <a:rPr lang="en-US" altLang="zh-CN" dirty="0" err="1"/>
              <a:t>ball_b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logic [3:0] </a:t>
            </a:r>
            <a:r>
              <a:rPr lang="en-US" altLang="zh-CN" dirty="0" err="1"/>
              <a:t>pic_r</a:t>
            </a:r>
            <a:r>
              <a:rPr lang="en-US" altLang="zh-CN" dirty="0"/>
              <a:t>,  </a:t>
            </a:r>
            <a:r>
              <a:rPr lang="en-US" altLang="zh-CN" dirty="0" err="1"/>
              <a:t>pic_g</a:t>
            </a:r>
            <a:r>
              <a:rPr lang="en-US" altLang="zh-CN" dirty="0"/>
              <a:t>,  </a:t>
            </a:r>
            <a:r>
              <a:rPr lang="en-US" altLang="zh-CN" dirty="0" err="1"/>
              <a:t>pic_b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      </a:t>
            </a:r>
            <a:endParaRPr lang="en-US" altLang="zh-CN" dirty="0"/>
          </a:p>
          <a:p>
            <a:r>
              <a:rPr lang="en-US" altLang="zh-CN" dirty="0"/>
              <a:t>    // (wall) : pixel within wall 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wallOn</a:t>
            </a:r>
            <a:r>
              <a:rPr lang="en-US" altLang="zh-CN" dirty="0"/>
              <a:t> = (WALL_X_L &lt;= </a:t>
            </a:r>
            <a:r>
              <a:rPr lang="en-US" altLang="zh-CN" dirty="0" err="1"/>
              <a:t>pix_x</a:t>
            </a:r>
            <a:r>
              <a:rPr lang="en-US" altLang="zh-CN" dirty="0"/>
              <a:t>) &amp;&amp; (</a:t>
            </a:r>
            <a:r>
              <a:rPr lang="en-US" altLang="zh-CN" dirty="0" err="1"/>
              <a:t>pix_x</a:t>
            </a:r>
            <a:r>
              <a:rPr lang="en-US" altLang="zh-CN" dirty="0"/>
              <a:t> &lt;= WALL_X_R); 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wall_r</a:t>
            </a:r>
            <a:r>
              <a:rPr lang="en-US" altLang="zh-CN" dirty="0"/>
              <a:t> = 4'b0000; 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wall_g</a:t>
            </a:r>
            <a:r>
              <a:rPr lang="en-US" altLang="zh-CN" dirty="0"/>
              <a:t> = 4'b0000; 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wall_b</a:t>
            </a:r>
            <a:r>
              <a:rPr lang="en-US" altLang="zh-CN" dirty="0"/>
              <a:t> = 4'b1111; // blue</a:t>
            </a:r>
            <a:endParaRPr lang="en-US" altLang="zh-CN" dirty="0"/>
          </a:p>
          <a:p>
            <a:r>
              <a:rPr lang="en-US" altLang="zh-CN" dirty="0"/>
              <a:t>    </a:t>
            </a:r>
            <a:endParaRPr lang="en-US" altLang="zh-CN" dirty="0"/>
          </a:p>
          <a:p>
            <a:r>
              <a:rPr lang="en-US" altLang="zh-CN" dirty="0"/>
              <a:t>    // (bar) :  pixel within bar </a:t>
            </a:r>
            <a:endParaRPr lang="en-US" altLang="zh-CN" dirty="0"/>
          </a:p>
          <a:p>
            <a:r>
              <a:rPr lang="en-US" altLang="zh-CN" dirty="0"/>
              <a:t>    logic [10:0] </a:t>
            </a:r>
            <a:r>
              <a:rPr lang="en-US" altLang="zh-CN" dirty="0" err="1"/>
              <a:t>bar_y_t</a:t>
            </a:r>
            <a:r>
              <a:rPr lang="en-US" altLang="zh-CN" dirty="0"/>
              <a:t>, </a:t>
            </a:r>
            <a:r>
              <a:rPr lang="en-US" altLang="zh-CN" dirty="0" err="1"/>
              <a:t>bar_y_b</a:t>
            </a:r>
            <a:r>
              <a:rPr lang="en-US" altLang="zh-CN" dirty="0"/>
              <a:t>; // bar top, bottom boundary</a:t>
            </a:r>
            <a:endParaRPr lang="en-US" altLang="zh-CN" dirty="0"/>
          </a:p>
          <a:p>
            <a:r>
              <a:rPr lang="en-US" altLang="zh-CN" dirty="0"/>
              <a:t>    </a:t>
            </a:r>
            <a:endParaRPr lang="en-US" altLang="zh-CN" dirty="0"/>
          </a:p>
          <a:p>
            <a:r>
              <a:rPr lang="en-US" altLang="zh-CN" dirty="0"/>
              <a:t>    // new bar y-position </a:t>
            </a:r>
            <a:endParaRPr lang="en-US" altLang="zh-CN" dirty="0"/>
          </a:p>
          <a:p>
            <a:r>
              <a:rPr lang="en-US" altLang="zh-CN" dirty="0"/>
              <a:t>    always @(posedge </a:t>
            </a:r>
            <a:r>
              <a:rPr lang="en-US" altLang="zh-CN" dirty="0" err="1"/>
              <a:t>clk</a:t>
            </a:r>
            <a:r>
              <a:rPr lang="en-US" altLang="zh-CN" dirty="0"/>
              <a:t>, </a:t>
            </a:r>
            <a:r>
              <a:rPr lang="en-US" altLang="zh-CN" dirty="0" err="1"/>
              <a:t>posedge</a:t>
            </a:r>
            <a:r>
              <a:rPr lang="en-US" altLang="zh-CN" dirty="0"/>
              <a:t> reset)</a:t>
            </a:r>
            <a:endParaRPr lang="en-US" altLang="zh-CN" dirty="0"/>
          </a:p>
          <a:p>
            <a:r>
              <a:rPr lang="en-US" altLang="zh-CN" dirty="0"/>
              <a:t>    begin</a:t>
            </a:r>
            <a:endParaRPr lang="en-US" altLang="zh-CN" dirty="0"/>
          </a:p>
          <a:p>
            <a:r>
              <a:rPr lang="en-US" altLang="zh-CN" dirty="0"/>
              <a:t>        if (reset)</a:t>
            </a:r>
            <a:endParaRPr lang="en-US" altLang="zh-CN" dirty="0"/>
          </a:p>
          <a:p>
            <a:r>
              <a:rPr lang="en-US" altLang="zh-CN" dirty="0"/>
              <a:t>        begin</a:t>
            </a:r>
            <a:endParaRPr lang="en-US" altLang="zh-CN" dirty="0"/>
          </a:p>
          <a:p>
            <a:r>
              <a:rPr lang="en-US" altLang="zh-CN" dirty="0"/>
              <a:t>            </a:t>
            </a:r>
            <a:r>
              <a:rPr lang="en-US" altLang="zh-CN" dirty="0" err="1"/>
              <a:t>bar_y_t</a:t>
            </a:r>
            <a:r>
              <a:rPr lang="en-US" altLang="zh-CN" dirty="0"/>
              <a:t> &lt;= BAR_Y_T;</a:t>
            </a:r>
            <a:endParaRPr lang="en-US" altLang="zh-CN" dirty="0"/>
          </a:p>
          <a:p>
            <a:r>
              <a:rPr lang="en-US" altLang="zh-CN" dirty="0"/>
              <a:t>        end</a:t>
            </a:r>
            <a:endParaRPr lang="en-US" altLang="zh-CN" dirty="0"/>
          </a:p>
          <a:p>
            <a:r>
              <a:rPr lang="en-US" altLang="zh-CN" dirty="0"/>
              <a:t>        else if (</a:t>
            </a:r>
            <a:r>
              <a:rPr lang="en-US" altLang="zh-CN" dirty="0" err="1"/>
              <a:t>btnDown</a:t>
            </a:r>
            <a:r>
              <a:rPr lang="en-US" altLang="zh-CN" dirty="0"/>
              <a:t> &amp; (</a:t>
            </a:r>
            <a:r>
              <a:rPr lang="en-US" altLang="zh-CN" dirty="0" err="1"/>
              <a:t>bar_y_b</a:t>
            </a:r>
            <a:r>
              <a:rPr lang="en-US" altLang="zh-CN" dirty="0"/>
              <a:t> &lt;= (V_SYNC_START+MAX_Y-1-BAR_V))) </a:t>
            </a:r>
            <a:endParaRPr lang="en-US" altLang="zh-CN" dirty="0"/>
          </a:p>
          <a:p>
            <a:r>
              <a:rPr lang="en-US" altLang="zh-CN" dirty="0"/>
              <a:t>            </a:t>
            </a:r>
            <a:r>
              <a:rPr lang="en-US" altLang="zh-CN" dirty="0" err="1"/>
              <a:t>bar_y_t</a:t>
            </a:r>
            <a:r>
              <a:rPr lang="en-US" altLang="zh-CN" dirty="0"/>
              <a:t> &lt;= </a:t>
            </a:r>
            <a:r>
              <a:rPr lang="en-US" altLang="zh-CN" dirty="0" err="1"/>
              <a:t>bar_y_t</a:t>
            </a:r>
            <a:r>
              <a:rPr lang="en-US" altLang="zh-CN" dirty="0"/>
              <a:t> + BAR_V; // move down </a:t>
            </a:r>
            <a:endParaRPr lang="en-US" altLang="zh-CN" dirty="0"/>
          </a:p>
          <a:p>
            <a:r>
              <a:rPr lang="en-US" altLang="zh-CN" dirty="0"/>
              <a:t>        else if (</a:t>
            </a:r>
            <a:r>
              <a:rPr lang="en-US" altLang="zh-CN" dirty="0" err="1"/>
              <a:t>btnUp</a:t>
            </a:r>
            <a:r>
              <a:rPr lang="en-US" altLang="zh-CN" dirty="0"/>
              <a:t> &amp; (</a:t>
            </a:r>
            <a:r>
              <a:rPr lang="en-US" altLang="zh-CN" dirty="0" err="1"/>
              <a:t>bar_y_t</a:t>
            </a:r>
            <a:r>
              <a:rPr lang="en-US" altLang="zh-CN" dirty="0"/>
              <a:t> &gt;= (V_SYNC_START+BAR_V)))</a:t>
            </a:r>
            <a:endParaRPr lang="en-US" altLang="zh-CN" dirty="0"/>
          </a:p>
          <a:p>
            <a:r>
              <a:rPr lang="en-US" altLang="zh-CN" dirty="0"/>
              <a:t>            </a:t>
            </a:r>
            <a:r>
              <a:rPr lang="en-US" altLang="zh-CN" dirty="0" err="1"/>
              <a:t>bar_y_t</a:t>
            </a:r>
            <a:r>
              <a:rPr lang="en-US" altLang="zh-CN" dirty="0"/>
              <a:t> &lt;= </a:t>
            </a:r>
            <a:r>
              <a:rPr lang="en-US" altLang="zh-CN" dirty="0" err="1"/>
              <a:t>bar_y_t</a:t>
            </a:r>
            <a:r>
              <a:rPr lang="en-US" altLang="zh-CN" dirty="0"/>
              <a:t> - BAR_V; // move up </a:t>
            </a:r>
            <a:endParaRPr lang="en-US" altLang="zh-CN" dirty="0"/>
          </a:p>
          <a:p>
            <a:r>
              <a:rPr lang="en-US" altLang="zh-CN" dirty="0"/>
              <a:t>    end     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bar_y_b</a:t>
            </a:r>
            <a:r>
              <a:rPr lang="en-US" altLang="zh-CN" dirty="0"/>
              <a:t> = </a:t>
            </a:r>
            <a:r>
              <a:rPr lang="en-US" altLang="zh-CN" dirty="0" err="1"/>
              <a:t>bar_y_t</a:t>
            </a:r>
            <a:r>
              <a:rPr lang="en-US" altLang="zh-CN" dirty="0"/>
              <a:t> + BAR_Y_SIZE - 1;</a:t>
            </a:r>
            <a:endParaRPr lang="en-US" altLang="zh-CN" dirty="0"/>
          </a:p>
          <a:p>
            <a:r>
              <a:rPr lang="en-US" altLang="zh-CN" dirty="0"/>
              <a:t>    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barOn</a:t>
            </a:r>
            <a:r>
              <a:rPr lang="en-US" altLang="zh-CN" dirty="0"/>
              <a:t> = ((BAR_X_L&lt;=</a:t>
            </a:r>
            <a:r>
              <a:rPr lang="en-US" altLang="zh-CN" dirty="0" err="1"/>
              <a:t>pix_x</a:t>
            </a:r>
            <a:r>
              <a:rPr lang="en-US" altLang="zh-CN" dirty="0"/>
              <a:t>) &amp;&amp; (</a:t>
            </a:r>
            <a:r>
              <a:rPr lang="en-US" altLang="zh-CN" dirty="0" err="1"/>
              <a:t>pix_x</a:t>
            </a:r>
            <a:r>
              <a:rPr lang="en-US" altLang="zh-CN" dirty="0"/>
              <a:t>&lt;=BAR_X_R) &amp;&amp;</a:t>
            </a:r>
            <a:endParaRPr lang="en-US" altLang="zh-CN" dirty="0"/>
          </a:p>
          <a:p>
            <a:r>
              <a:rPr lang="en-US" altLang="zh-CN" dirty="0"/>
              <a:t>                    (</a:t>
            </a:r>
            <a:r>
              <a:rPr lang="en-US" altLang="zh-CN" dirty="0" err="1"/>
              <a:t>bar_y_t</a:t>
            </a:r>
            <a:r>
              <a:rPr lang="en-US" altLang="zh-CN" dirty="0"/>
              <a:t>&lt;=</a:t>
            </a:r>
            <a:r>
              <a:rPr lang="en-US" altLang="zh-CN" dirty="0" err="1"/>
              <a:t>pix_y</a:t>
            </a:r>
            <a:r>
              <a:rPr lang="en-US" altLang="zh-CN" dirty="0"/>
              <a:t>) &amp;&amp; (</a:t>
            </a:r>
            <a:r>
              <a:rPr lang="en-US" altLang="zh-CN" dirty="0" err="1"/>
              <a:t>pix_y</a:t>
            </a:r>
            <a:r>
              <a:rPr lang="en-US" altLang="zh-CN" dirty="0"/>
              <a:t>&lt;=</a:t>
            </a:r>
            <a:r>
              <a:rPr lang="en-US" altLang="zh-CN" dirty="0" err="1"/>
              <a:t>bar_y_b</a:t>
            </a:r>
            <a:r>
              <a:rPr lang="en-US" altLang="zh-CN" dirty="0"/>
              <a:t>)); //</a:t>
            </a:r>
            <a:r>
              <a:rPr lang="zh-CN" altLang="en-US" dirty="0"/>
              <a:t>变量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assign </a:t>
            </a:r>
            <a:r>
              <a:rPr lang="en-US" altLang="zh-CN" dirty="0" err="1"/>
              <a:t>bar_r</a:t>
            </a:r>
            <a:r>
              <a:rPr lang="en-US" altLang="zh-CN" dirty="0"/>
              <a:t> = 4'b0000; 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bar_g</a:t>
            </a:r>
            <a:r>
              <a:rPr lang="en-US" altLang="zh-CN" dirty="0"/>
              <a:t> = 4'b1111; // green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bar_b</a:t>
            </a:r>
            <a:r>
              <a:rPr lang="en-US" altLang="zh-CN" dirty="0"/>
              <a:t> = 4'b0000; 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// </a:t>
            </a:r>
            <a:r>
              <a:rPr lang="zh-CN" altLang="en-US" dirty="0"/>
              <a:t>（</a:t>
            </a:r>
            <a:r>
              <a:rPr lang="en-US" altLang="zh-CN" dirty="0"/>
              <a:t>round ball</a:t>
            </a:r>
            <a:r>
              <a:rPr lang="zh-CN" altLang="en-US" dirty="0"/>
              <a:t>）    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logic [10:0] </a:t>
            </a:r>
            <a:r>
              <a:rPr lang="en-US" altLang="zh-CN" dirty="0" err="1"/>
              <a:t>ball_x_l</a:t>
            </a:r>
            <a:r>
              <a:rPr lang="en-US" altLang="zh-CN" dirty="0"/>
              <a:t>, </a:t>
            </a:r>
            <a:r>
              <a:rPr lang="en-US" altLang="zh-CN" dirty="0" err="1"/>
              <a:t>ball_x_r</a:t>
            </a:r>
            <a:r>
              <a:rPr lang="en-US" altLang="zh-CN" dirty="0"/>
              <a:t>; // ball left, right boundary</a:t>
            </a:r>
            <a:endParaRPr lang="en-US" altLang="zh-CN" dirty="0"/>
          </a:p>
          <a:p>
            <a:r>
              <a:rPr lang="en-US" altLang="zh-CN" dirty="0"/>
              <a:t>    logic [10:0] </a:t>
            </a:r>
            <a:r>
              <a:rPr lang="en-US" altLang="zh-CN" dirty="0" err="1"/>
              <a:t>ball_y_t</a:t>
            </a:r>
            <a:r>
              <a:rPr lang="en-US" altLang="zh-CN" dirty="0"/>
              <a:t>, </a:t>
            </a:r>
            <a:r>
              <a:rPr lang="en-US" altLang="zh-CN" dirty="0" err="1"/>
              <a:t>ball_y_b</a:t>
            </a:r>
            <a:r>
              <a:rPr lang="en-US" altLang="zh-CN" dirty="0"/>
              <a:t>; // ball top, bottom boundary</a:t>
            </a:r>
            <a:endParaRPr lang="en-US" altLang="zh-CN" dirty="0"/>
          </a:p>
          <a:p>
            <a:r>
              <a:rPr lang="en-US" altLang="zh-CN" dirty="0"/>
              <a:t>    logic [10:0] </a:t>
            </a:r>
            <a:r>
              <a:rPr lang="en-US" altLang="zh-CN" dirty="0" err="1"/>
              <a:t>ball_dx</a:t>
            </a:r>
            <a:r>
              <a:rPr lang="en-US" altLang="zh-CN" dirty="0"/>
              <a:t> , </a:t>
            </a:r>
            <a:r>
              <a:rPr lang="en-US" altLang="zh-CN" dirty="0" err="1"/>
              <a:t>ball_dy</a:t>
            </a:r>
            <a:r>
              <a:rPr lang="en-US" altLang="zh-CN" dirty="0"/>
              <a:t> ; // ball x, y </a:t>
            </a:r>
            <a:r>
              <a:rPr lang="zh-CN" altLang="en-US" dirty="0"/>
              <a:t>增量 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logic [3:0] textBalls0, textBalls1; // </a:t>
            </a:r>
            <a:r>
              <a:rPr lang="zh-CN" altLang="en-US" dirty="0"/>
              <a:t>得分个位</a:t>
            </a:r>
            <a:r>
              <a:rPr lang="en-US" altLang="zh-CN" dirty="0"/>
              <a:t>,</a:t>
            </a:r>
            <a:r>
              <a:rPr lang="zh-CN" altLang="en-US" dirty="0"/>
              <a:t>十位</a:t>
            </a:r>
            <a:endParaRPr lang="zh-CN" altLang="en-US" dirty="0"/>
          </a:p>
          <a:p>
            <a:r>
              <a:rPr lang="zh-CN" altLang="en-US" dirty="0"/>
              <a:t>        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// new ball </a:t>
            </a:r>
            <a:r>
              <a:rPr lang="en-US" altLang="zh-CN" dirty="0" err="1"/>
              <a:t>x,y</a:t>
            </a:r>
            <a:r>
              <a:rPr lang="en-US" altLang="zh-CN" dirty="0"/>
              <a:t>-position </a:t>
            </a:r>
            <a:endParaRPr lang="en-US" altLang="zh-CN" dirty="0"/>
          </a:p>
          <a:p>
            <a:r>
              <a:rPr lang="en-US" altLang="zh-CN" dirty="0"/>
              <a:t>    always @(posedge </a:t>
            </a:r>
            <a:r>
              <a:rPr lang="en-US" altLang="zh-CN" dirty="0" err="1"/>
              <a:t>clk</a:t>
            </a:r>
            <a:r>
              <a:rPr lang="en-US" altLang="zh-CN" dirty="0"/>
              <a:t>, </a:t>
            </a:r>
            <a:r>
              <a:rPr lang="en-US" altLang="zh-CN" dirty="0" err="1"/>
              <a:t>posedge</a:t>
            </a:r>
            <a:r>
              <a:rPr lang="en-US" altLang="zh-CN" dirty="0"/>
              <a:t> reset)    begin</a:t>
            </a:r>
            <a:endParaRPr lang="en-US" altLang="zh-CN" dirty="0"/>
          </a:p>
          <a:p>
            <a:r>
              <a:rPr lang="en-US" altLang="zh-CN" dirty="0"/>
              <a:t>        if (reset)   begin</a:t>
            </a:r>
            <a:endParaRPr lang="en-US" altLang="zh-CN" dirty="0"/>
          </a:p>
          <a:p>
            <a:r>
              <a:rPr lang="en-US" altLang="zh-CN" dirty="0"/>
              <a:t>            </a:t>
            </a:r>
            <a:r>
              <a:rPr lang="en-US" altLang="zh-CN" dirty="0" err="1"/>
              <a:t>ball_x_l</a:t>
            </a:r>
            <a:r>
              <a:rPr lang="en-US" altLang="zh-CN" dirty="0"/>
              <a:t> &lt;= BALL_X_L;</a:t>
            </a:r>
            <a:endParaRPr lang="en-US" altLang="zh-CN" dirty="0"/>
          </a:p>
          <a:p>
            <a:r>
              <a:rPr lang="en-US" altLang="zh-CN" dirty="0"/>
              <a:t>            </a:t>
            </a:r>
            <a:r>
              <a:rPr lang="en-US" altLang="zh-CN" dirty="0" err="1"/>
              <a:t>ball_y_t</a:t>
            </a:r>
            <a:r>
              <a:rPr lang="en-US" altLang="zh-CN" dirty="0"/>
              <a:t> &lt;= BALL_Y_T;</a:t>
            </a:r>
            <a:endParaRPr lang="en-US" altLang="zh-CN" dirty="0"/>
          </a:p>
          <a:p>
            <a:r>
              <a:rPr lang="en-US" altLang="zh-CN" dirty="0"/>
              <a:t>            </a:t>
            </a:r>
            <a:r>
              <a:rPr lang="en-US" altLang="zh-CN" dirty="0" err="1"/>
              <a:t>ball_dx</a:t>
            </a:r>
            <a:r>
              <a:rPr lang="en-US" altLang="zh-CN" dirty="0"/>
              <a:t>  &lt;= -1 * BALL_V;</a:t>
            </a:r>
            <a:endParaRPr lang="en-US" altLang="zh-CN" dirty="0"/>
          </a:p>
          <a:p>
            <a:r>
              <a:rPr lang="en-US" altLang="zh-CN" dirty="0"/>
              <a:t>            </a:t>
            </a:r>
            <a:r>
              <a:rPr lang="en-US" altLang="zh-CN" dirty="0" err="1"/>
              <a:t>ball_dy</a:t>
            </a:r>
            <a:r>
              <a:rPr lang="en-US" altLang="zh-CN" dirty="0"/>
              <a:t>  &lt;= -1 * BALL_V;</a:t>
            </a:r>
            <a:endParaRPr lang="en-US" altLang="zh-CN" dirty="0"/>
          </a:p>
          <a:p>
            <a:r>
              <a:rPr lang="en-US" altLang="zh-CN" dirty="0"/>
              <a:t>            textBalls0 &lt;= 4'b0000;   //</a:t>
            </a:r>
            <a:r>
              <a:rPr lang="zh-CN" altLang="en-US" dirty="0"/>
              <a:t>得分个位</a:t>
            </a:r>
            <a:endParaRPr lang="zh-CN" altLang="en-US" dirty="0"/>
          </a:p>
          <a:p>
            <a:r>
              <a:rPr lang="zh-CN" altLang="en-US" dirty="0"/>
              <a:t>            </a:t>
            </a:r>
            <a:r>
              <a:rPr lang="en-US" altLang="zh-CN" dirty="0"/>
              <a:t>textBalls1 &lt;= 4'b0000;   //</a:t>
            </a:r>
            <a:r>
              <a:rPr lang="zh-CN" altLang="en-US" dirty="0"/>
              <a:t>得分十位</a:t>
            </a:r>
            <a:endParaRPr lang="zh-CN" altLang="en-US" dirty="0"/>
          </a:p>
          <a:p>
            <a:r>
              <a:rPr lang="zh-CN" altLang="en-US" dirty="0"/>
              <a:t>        </a:t>
            </a:r>
            <a:r>
              <a:rPr lang="en-US" altLang="zh-CN" dirty="0"/>
              <a:t>end</a:t>
            </a:r>
            <a:endParaRPr lang="en-US" altLang="zh-CN" dirty="0"/>
          </a:p>
          <a:p>
            <a:r>
              <a:rPr lang="en-US" altLang="zh-CN" dirty="0"/>
              <a:t>        else   begin</a:t>
            </a:r>
            <a:endParaRPr lang="en-US" altLang="zh-CN" dirty="0"/>
          </a:p>
          <a:p>
            <a:r>
              <a:rPr lang="en-US" altLang="zh-CN" dirty="0"/>
              <a:t>            </a:t>
            </a:r>
            <a:r>
              <a:rPr lang="en-US" altLang="zh-CN" dirty="0" err="1"/>
              <a:t>ball_x_l</a:t>
            </a:r>
            <a:r>
              <a:rPr lang="en-US" altLang="zh-CN" dirty="0"/>
              <a:t> &lt;= </a:t>
            </a:r>
            <a:r>
              <a:rPr lang="en-US" altLang="zh-CN" dirty="0" err="1"/>
              <a:t>ball_x_l</a:t>
            </a:r>
            <a:r>
              <a:rPr lang="en-US" altLang="zh-CN" dirty="0"/>
              <a:t> + </a:t>
            </a:r>
            <a:r>
              <a:rPr lang="en-US" altLang="zh-CN" dirty="0" err="1"/>
              <a:t>ball_dx</a:t>
            </a:r>
            <a:r>
              <a:rPr lang="en-US" altLang="zh-CN" dirty="0"/>
              <a:t>;  // </a:t>
            </a:r>
            <a:r>
              <a:rPr lang="zh-CN" altLang="en-US" dirty="0"/>
              <a:t>小球按</a:t>
            </a:r>
            <a:r>
              <a:rPr lang="en-US" altLang="zh-CN" dirty="0" err="1"/>
              <a:t>clk</a:t>
            </a:r>
            <a:r>
              <a:rPr lang="zh-CN" altLang="en-US" dirty="0"/>
              <a:t>节拍一直在向左移动</a:t>
            </a:r>
            <a:endParaRPr lang="zh-CN" altLang="en-US" dirty="0"/>
          </a:p>
          <a:p>
            <a:r>
              <a:rPr lang="zh-CN" altLang="en-US" dirty="0"/>
              <a:t>            </a:t>
            </a:r>
            <a:r>
              <a:rPr lang="en-US" altLang="zh-CN" dirty="0" err="1"/>
              <a:t>ball_y_t</a:t>
            </a:r>
            <a:r>
              <a:rPr lang="en-US" altLang="zh-CN" dirty="0"/>
              <a:t> &lt;= </a:t>
            </a:r>
            <a:r>
              <a:rPr lang="en-US" altLang="zh-CN" dirty="0" err="1"/>
              <a:t>ball_y_t</a:t>
            </a:r>
            <a:r>
              <a:rPr lang="en-US" altLang="zh-CN" dirty="0"/>
              <a:t> + </a:t>
            </a:r>
            <a:r>
              <a:rPr lang="en-US" altLang="zh-CN" dirty="0" err="1"/>
              <a:t>ball_dy</a:t>
            </a:r>
            <a:r>
              <a:rPr lang="en-US" altLang="zh-CN" dirty="0"/>
              <a:t>;  // </a:t>
            </a:r>
            <a:r>
              <a:rPr lang="zh-CN" altLang="en-US" dirty="0"/>
              <a:t>小球按</a:t>
            </a:r>
            <a:r>
              <a:rPr lang="en-US" altLang="zh-CN" dirty="0" err="1"/>
              <a:t>clk</a:t>
            </a:r>
            <a:r>
              <a:rPr lang="zh-CN" altLang="en-US" dirty="0"/>
              <a:t>节拍一直在向上移动</a:t>
            </a:r>
            <a:endParaRPr lang="zh-CN" altLang="en-US" dirty="0"/>
          </a:p>
          <a:p>
            <a:r>
              <a:rPr lang="zh-CN" altLang="en-US" dirty="0"/>
              <a:t>            </a:t>
            </a:r>
            <a:r>
              <a:rPr lang="en-US" altLang="zh-CN" dirty="0"/>
              <a:t>// ------------------ ball bounce back -----------------------</a:t>
            </a:r>
            <a:endParaRPr lang="en-US" altLang="zh-CN" dirty="0"/>
          </a:p>
          <a:p>
            <a:r>
              <a:rPr lang="en-US" altLang="zh-CN" dirty="0"/>
              <a:t>            if (</a:t>
            </a:r>
            <a:r>
              <a:rPr lang="en-US" altLang="zh-CN" dirty="0" err="1"/>
              <a:t>ball_y_t</a:t>
            </a:r>
            <a:r>
              <a:rPr lang="en-US" altLang="zh-CN" dirty="0"/>
              <a:t> &lt;= V_SYNC_START)              //reach top screen</a:t>
            </a:r>
            <a:endParaRPr lang="en-US" altLang="zh-CN" dirty="0"/>
          </a:p>
          <a:p>
            <a:r>
              <a:rPr lang="en-US" altLang="zh-CN" dirty="0"/>
              <a:t>                </a:t>
            </a:r>
            <a:r>
              <a:rPr lang="en-US" altLang="zh-CN" dirty="0" err="1"/>
              <a:t>ball_dy</a:t>
            </a:r>
            <a:r>
              <a:rPr lang="en-US" altLang="zh-CN" dirty="0"/>
              <a:t> &lt;= BALL_V;</a:t>
            </a:r>
            <a:endParaRPr lang="en-US" altLang="zh-CN" dirty="0"/>
          </a:p>
          <a:p>
            <a:r>
              <a:rPr lang="en-US" altLang="zh-CN" dirty="0"/>
              <a:t>            else if (</a:t>
            </a:r>
            <a:r>
              <a:rPr lang="en-US" altLang="zh-CN" dirty="0" err="1"/>
              <a:t>ball_y_b</a:t>
            </a:r>
            <a:r>
              <a:rPr lang="en-US" altLang="zh-CN" dirty="0"/>
              <a:t> &gt;= V_SYNC_START + MAX_Y) //reach bottom screen </a:t>
            </a:r>
            <a:endParaRPr lang="en-US" altLang="zh-CN" dirty="0"/>
          </a:p>
          <a:p>
            <a:r>
              <a:rPr lang="en-US" altLang="zh-CN" dirty="0"/>
              <a:t>                </a:t>
            </a:r>
            <a:r>
              <a:rPr lang="en-US" altLang="zh-CN" dirty="0" err="1"/>
              <a:t>ball_dy</a:t>
            </a:r>
            <a:r>
              <a:rPr lang="en-US" altLang="zh-CN" dirty="0"/>
              <a:t> &lt;= -1 * BALL_V;</a:t>
            </a:r>
            <a:endParaRPr lang="en-US" altLang="zh-CN" dirty="0"/>
          </a:p>
          <a:p>
            <a:r>
              <a:rPr lang="en-US" altLang="zh-CN" dirty="0"/>
              <a:t>            else if (</a:t>
            </a:r>
            <a:r>
              <a:rPr lang="en-US" altLang="zh-CN" dirty="0" err="1"/>
              <a:t>ball_x_l</a:t>
            </a:r>
            <a:r>
              <a:rPr lang="en-US" altLang="zh-CN" dirty="0"/>
              <a:t> &lt;= WALL_X_R)             //reach left wall </a:t>
            </a:r>
            <a:endParaRPr lang="en-US" altLang="zh-CN" dirty="0"/>
          </a:p>
          <a:p>
            <a:r>
              <a:rPr lang="en-US" altLang="zh-CN" dirty="0"/>
              <a:t>            begin</a:t>
            </a:r>
            <a:endParaRPr lang="en-US" altLang="zh-CN" dirty="0"/>
          </a:p>
          <a:p>
            <a:r>
              <a:rPr lang="en-US" altLang="zh-CN" dirty="0"/>
              <a:t>                </a:t>
            </a:r>
            <a:r>
              <a:rPr lang="en-US" altLang="zh-CN" dirty="0" err="1"/>
              <a:t>ball_dx</a:t>
            </a:r>
            <a:r>
              <a:rPr lang="en-US" altLang="zh-CN" dirty="0"/>
              <a:t> &lt;= BALL_V;  </a:t>
            </a:r>
            <a:endParaRPr lang="en-US" altLang="zh-CN" dirty="0"/>
          </a:p>
          <a:p>
            <a:r>
              <a:rPr lang="en-US" altLang="zh-CN" dirty="0"/>
              <a:t>            end                                    </a:t>
            </a:r>
            <a:endParaRPr lang="en-US" altLang="zh-CN" dirty="0"/>
          </a:p>
          <a:p>
            <a:r>
              <a:rPr lang="en-US" altLang="zh-CN" dirty="0"/>
              <a:t>            else if ((</a:t>
            </a:r>
            <a:r>
              <a:rPr lang="en-US" altLang="zh-CN" dirty="0" err="1"/>
              <a:t>ball_x_r</a:t>
            </a:r>
            <a:r>
              <a:rPr lang="en-US" altLang="zh-CN" dirty="0"/>
              <a:t> &gt;= BAR_X_L) &amp;&amp;          //reach right bar</a:t>
            </a:r>
            <a:endParaRPr lang="en-US" altLang="zh-CN" dirty="0"/>
          </a:p>
          <a:p>
            <a:r>
              <a:rPr lang="en-US" altLang="zh-CN" dirty="0"/>
              <a:t>                     (</a:t>
            </a:r>
            <a:r>
              <a:rPr lang="en-US" altLang="zh-CN" dirty="0" err="1"/>
              <a:t>ball_x_r</a:t>
            </a:r>
            <a:r>
              <a:rPr lang="en-US" altLang="zh-CN" dirty="0"/>
              <a:t> &lt;= BAR_X_R) &amp;&amp;   </a:t>
            </a:r>
            <a:endParaRPr lang="en-US" altLang="zh-CN" dirty="0"/>
          </a:p>
          <a:p>
            <a:r>
              <a:rPr lang="en-US" altLang="zh-CN" dirty="0"/>
              <a:t>                     (</a:t>
            </a:r>
            <a:r>
              <a:rPr lang="en-US" altLang="zh-CN" dirty="0" err="1"/>
              <a:t>ball_y_b</a:t>
            </a:r>
            <a:r>
              <a:rPr lang="en-US" altLang="zh-CN" dirty="0"/>
              <a:t> &gt;= </a:t>
            </a:r>
            <a:r>
              <a:rPr lang="en-US" altLang="zh-CN" dirty="0" err="1"/>
              <a:t>bar_y_t</a:t>
            </a:r>
            <a:r>
              <a:rPr lang="en-US" altLang="zh-CN" dirty="0"/>
              <a:t>) &amp;&amp;  (</a:t>
            </a:r>
            <a:r>
              <a:rPr lang="en-US" altLang="zh-CN" dirty="0" err="1"/>
              <a:t>ball_y_t</a:t>
            </a:r>
            <a:r>
              <a:rPr lang="en-US" altLang="zh-CN" dirty="0"/>
              <a:t> &lt;= </a:t>
            </a:r>
            <a:r>
              <a:rPr lang="en-US" altLang="zh-CN" dirty="0" err="1"/>
              <a:t>bar_y_b</a:t>
            </a:r>
            <a:r>
              <a:rPr lang="en-US" altLang="zh-CN" dirty="0"/>
              <a:t>))</a:t>
            </a:r>
            <a:endParaRPr lang="en-US" altLang="zh-CN" dirty="0"/>
          </a:p>
          <a:p>
            <a:r>
              <a:rPr lang="en-US" altLang="zh-CN" dirty="0"/>
              <a:t>            begin</a:t>
            </a:r>
            <a:endParaRPr lang="en-US" altLang="zh-CN" dirty="0"/>
          </a:p>
          <a:p>
            <a:r>
              <a:rPr lang="en-US" altLang="zh-CN" dirty="0"/>
              <a:t>                </a:t>
            </a:r>
            <a:r>
              <a:rPr lang="en-US" altLang="zh-CN" dirty="0" err="1"/>
              <a:t>ball_dx</a:t>
            </a:r>
            <a:r>
              <a:rPr lang="en-US" altLang="zh-CN" dirty="0"/>
              <a:t> &lt;= -1 * BALL_V;     </a:t>
            </a:r>
            <a:endParaRPr lang="en-US" altLang="zh-CN" dirty="0"/>
          </a:p>
          <a:p>
            <a:r>
              <a:rPr lang="en-US" altLang="zh-CN" dirty="0"/>
              <a:t>                </a:t>
            </a:r>
            <a:r>
              <a:rPr lang="en-US" altLang="zh-CN" dirty="0" err="1"/>
              <a:t>ball_x_l</a:t>
            </a:r>
            <a:r>
              <a:rPr lang="en-US" altLang="zh-CN" dirty="0"/>
              <a:t> &lt;= BAR_X_L - BALL_SIZE;//</a:t>
            </a:r>
            <a:r>
              <a:rPr lang="zh-CN" altLang="en-US" dirty="0"/>
              <a:t>防止连续</a:t>
            </a:r>
            <a:r>
              <a:rPr lang="en-US" altLang="zh-CN" dirty="0"/>
              <a:t>3</a:t>
            </a:r>
            <a:r>
              <a:rPr lang="zh-CN" altLang="en-US" dirty="0"/>
              <a:t>次触发下行 </a:t>
            </a:r>
            <a:r>
              <a:rPr lang="en-US" altLang="zh-CN" dirty="0"/>
              <a:t>hit+1      </a:t>
            </a:r>
            <a:endParaRPr lang="en-US" altLang="zh-CN" dirty="0"/>
          </a:p>
          <a:p>
            <a:r>
              <a:rPr lang="en-US" altLang="zh-CN" dirty="0"/>
              <a:t>                textBalls0 &lt;= textBalls0 + 1;   //</a:t>
            </a:r>
            <a:r>
              <a:rPr lang="zh-CN" altLang="en-US" dirty="0"/>
              <a:t>仅</a:t>
            </a:r>
            <a:r>
              <a:rPr lang="en-US" altLang="zh-CN" dirty="0"/>
              <a:t>16</a:t>
            </a:r>
            <a:r>
              <a:rPr lang="zh-CN" altLang="en-US" dirty="0"/>
              <a:t>进制</a:t>
            </a:r>
            <a:r>
              <a:rPr lang="en-US" altLang="zh-CN" dirty="0"/>
              <a:t>+1            </a:t>
            </a:r>
            <a:endParaRPr lang="en-US" altLang="zh-CN" dirty="0"/>
          </a:p>
          <a:p>
            <a:r>
              <a:rPr lang="en-US" altLang="zh-CN" dirty="0"/>
              <a:t>            end</a:t>
            </a:r>
            <a:endParaRPr lang="en-US" altLang="zh-CN" dirty="0"/>
          </a:p>
          <a:p>
            <a:r>
              <a:rPr lang="en-US" altLang="zh-CN" dirty="0"/>
              <a:t>            else if (</a:t>
            </a:r>
            <a:r>
              <a:rPr lang="en-US" altLang="zh-CN" dirty="0" err="1"/>
              <a:t>ball_x_r</a:t>
            </a:r>
            <a:r>
              <a:rPr lang="en-US" altLang="zh-CN" dirty="0"/>
              <a:t> &gt;= H_SYNC_START + MAX_X) //reach right screen</a:t>
            </a:r>
            <a:endParaRPr lang="en-US" altLang="zh-CN" dirty="0"/>
          </a:p>
          <a:p>
            <a:r>
              <a:rPr lang="en-US" altLang="zh-CN" dirty="0"/>
              <a:t>                </a:t>
            </a:r>
            <a:r>
              <a:rPr lang="en-US" altLang="zh-CN" dirty="0" err="1"/>
              <a:t>ball_dx</a:t>
            </a:r>
            <a:r>
              <a:rPr lang="en-US" altLang="zh-CN" dirty="0"/>
              <a:t> &lt;= -1 * BALL_V;             </a:t>
            </a:r>
            <a:endParaRPr lang="en-US" altLang="zh-CN" dirty="0"/>
          </a:p>
          <a:p>
            <a:r>
              <a:rPr lang="en-US" altLang="zh-CN" dirty="0"/>
              <a:t>        end</a:t>
            </a:r>
            <a:endParaRPr lang="en-US" altLang="zh-CN" dirty="0"/>
          </a:p>
          <a:p>
            <a:r>
              <a:rPr lang="en-US" altLang="zh-CN" dirty="0"/>
              <a:t>     end               </a:t>
            </a:r>
            <a:endParaRPr lang="en-US" altLang="zh-CN" dirty="0"/>
          </a:p>
          <a:p>
            <a:r>
              <a:rPr lang="en-US" altLang="zh-CN" dirty="0"/>
              <a:t>        </a:t>
            </a:r>
            <a:endParaRPr lang="en-US" altLang="zh-CN" dirty="0"/>
          </a:p>
          <a:p>
            <a:r>
              <a:rPr lang="en-US" altLang="zh-CN" dirty="0"/>
              <a:t>     assign </a:t>
            </a:r>
            <a:r>
              <a:rPr lang="en-US" altLang="zh-CN" dirty="0" err="1"/>
              <a:t>ball_x_r</a:t>
            </a:r>
            <a:r>
              <a:rPr lang="en-US" altLang="zh-CN" dirty="0"/>
              <a:t> = </a:t>
            </a:r>
            <a:r>
              <a:rPr lang="en-US" altLang="zh-CN" dirty="0" err="1"/>
              <a:t>ball_x_l</a:t>
            </a:r>
            <a:r>
              <a:rPr lang="en-US" altLang="zh-CN" dirty="0"/>
              <a:t> + BALL_SIZE - 1; </a:t>
            </a:r>
            <a:endParaRPr lang="en-US" altLang="zh-CN" dirty="0"/>
          </a:p>
          <a:p>
            <a:r>
              <a:rPr lang="en-US" altLang="zh-CN" dirty="0"/>
              <a:t>     assign </a:t>
            </a:r>
            <a:r>
              <a:rPr lang="en-US" altLang="zh-CN" dirty="0" err="1"/>
              <a:t>ball_y_b</a:t>
            </a:r>
            <a:r>
              <a:rPr lang="en-US" altLang="zh-CN" dirty="0"/>
              <a:t> = </a:t>
            </a:r>
            <a:r>
              <a:rPr lang="en-US" altLang="zh-CN" dirty="0" err="1"/>
              <a:t>ball_y_t</a:t>
            </a:r>
            <a:r>
              <a:rPr lang="en-US" altLang="zh-CN" dirty="0"/>
              <a:t> + BALL_SIZE - 1;</a:t>
            </a:r>
            <a:endParaRPr lang="en-US" altLang="zh-CN" dirty="0"/>
          </a:p>
          <a:p>
            <a:r>
              <a:rPr lang="en-US" altLang="zh-CN" dirty="0"/>
              <a:t>     </a:t>
            </a:r>
            <a:endParaRPr lang="en-US" altLang="zh-CN" dirty="0"/>
          </a:p>
          <a:p>
            <a:r>
              <a:rPr lang="en-US" altLang="zh-CN" dirty="0"/>
              <a:t>    logic [2:0] </a:t>
            </a:r>
            <a:r>
              <a:rPr lang="en-US" altLang="zh-CN" dirty="0" err="1"/>
              <a:t>rom_addr</a:t>
            </a:r>
            <a:r>
              <a:rPr lang="en-US" altLang="zh-CN" dirty="0"/>
              <a:t>, </a:t>
            </a:r>
            <a:r>
              <a:rPr lang="en-US" altLang="zh-CN" dirty="0" err="1"/>
              <a:t>rom_col</a:t>
            </a:r>
            <a:r>
              <a:rPr lang="en-US" altLang="zh-CN" dirty="0"/>
              <a:t>; // ROM</a:t>
            </a:r>
            <a:r>
              <a:rPr lang="zh-CN" altLang="en-US" dirty="0"/>
              <a:t>中</a:t>
            </a:r>
            <a:r>
              <a:rPr lang="en-US" altLang="zh-CN" dirty="0"/>
              <a:t>8</a:t>
            </a:r>
            <a:r>
              <a:rPr lang="zh-CN" altLang="en-US" dirty="0"/>
              <a:t>行、</a:t>
            </a:r>
            <a:r>
              <a:rPr lang="en-US" altLang="zh-CN" dirty="0"/>
              <a:t>8</a:t>
            </a:r>
            <a:r>
              <a:rPr lang="zh-CN" altLang="en-US" dirty="0"/>
              <a:t>列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logic </a:t>
            </a:r>
            <a:r>
              <a:rPr lang="en-US" altLang="zh-CN" dirty="0" err="1"/>
              <a:t>rom_bit</a:t>
            </a:r>
            <a:r>
              <a:rPr lang="en-US" altLang="zh-CN" dirty="0"/>
              <a:t>;                 // ROM</a:t>
            </a:r>
            <a:r>
              <a:rPr lang="zh-CN" altLang="en-US" dirty="0"/>
              <a:t>中每个像素值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logic [7:0] </a:t>
            </a:r>
            <a:r>
              <a:rPr lang="en-US" altLang="zh-CN" dirty="0" err="1"/>
              <a:t>rom_data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    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always_comb</a:t>
            </a:r>
            <a:r>
              <a:rPr lang="en-US" altLang="zh-CN" dirty="0"/>
              <a:t>       // round ball image ROM </a:t>
            </a:r>
            <a:endParaRPr lang="en-US" altLang="zh-CN" dirty="0"/>
          </a:p>
          <a:p>
            <a:r>
              <a:rPr lang="en-US" altLang="zh-CN" dirty="0"/>
              <a:t>        case (</a:t>
            </a:r>
            <a:r>
              <a:rPr lang="en-US" altLang="zh-CN" dirty="0" err="1"/>
              <a:t>rom_addr</a:t>
            </a:r>
            <a:r>
              <a:rPr lang="en-US" altLang="zh-CN" dirty="0"/>
              <a:t>) </a:t>
            </a:r>
            <a:endParaRPr lang="en-US" altLang="zh-CN" dirty="0"/>
          </a:p>
          <a:p>
            <a:r>
              <a:rPr lang="en-US" altLang="zh-CN" dirty="0"/>
              <a:t>            3'h0: </a:t>
            </a:r>
            <a:r>
              <a:rPr lang="en-US" altLang="zh-CN" dirty="0" err="1"/>
              <a:t>rom_data</a:t>
            </a:r>
            <a:r>
              <a:rPr lang="en-US" altLang="zh-CN" dirty="0"/>
              <a:t> = 8'b0011_1100; //   **** </a:t>
            </a:r>
            <a:endParaRPr lang="en-US" altLang="zh-CN" dirty="0"/>
          </a:p>
          <a:p>
            <a:r>
              <a:rPr lang="en-US" altLang="zh-CN" dirty="0"/>
              <a:t>            3'h1: </a:t>
            </a:r>
            <a:r>
              <a:rPr lang="en-US" altLang="zh-CN" dirty="0" err="1"/>
              <a:t>rom_data</a:t>
            </a:r>
            <a:r>
              <a:rPr lang="en-US" altLang="zh-CN" dirty="0"/>
              <a:t> = 8'b0111_1110; //  ****** </a:t>
            </a:r>
            <a:endParaRPr lang="en-US" altLang="zh-CN" dirty="0"/>
          </a:p>
          <a:p>
            <a:r>
              <a:rPr lang="en-US" altLang="zh-CN" dirty="0"/>
              <a:t>            3'h2: </a:t>
            </a:r>
            <a:r>
              <a:rPr lang="en-US" altLang="zh-CN" dirty="0" err="1"/>
              <a:t>rom_data</a:t>
            </a:r>
            <a:r>
              <a:rPr lang="en-US" altLang="zh-CN" dirty="0"/>
              <a:t> = 8'b1111_1111; // ******** </a:t>
            </a:r>
            <a:endParaRPr lang="en-US" altLang="zh-CN" dirty="0"/>
          </a:p>
          <a:p>
            <a:r>
              <a:rPr lang="en-US" altLang="zh-CN" dirty="0"/>
              <a:t>            3'h3: </a:t>
            </a:r>
            <a:r>
              <a:rPr lang="en-US" altLang="zh-CN" dirty="0" err="1"/>
              <a:t>rom_data</a:t>
            </a:r>
            <a:r>
              <a:rPr lang="en-US" altLang="zh-CN" dirty="0"/>
              <a:t> = 8'b1111_1111; // ******** </a:t>
            </a:r>
            <a:endParaRPr lang="en-US" altLang="zh-CN" dirty="0"/>
          </a:p>
          <a:p>
            <a:r>
              <a:rPr lang="en-US" altLang="zh-CN" dirty="0"/>
              <a:t>            3'h4: </a:t>
            </a:r>
            <a:r>
              <a:rPr lang="en-US" altLang="zh-CN" dirty="0" err="1"/>
              <a:t>rom_data</a:t>
            </a:r>
            <a:r>
              <a:rPr lang="en-US" altLang="zh-CN" dirty="0"/>
              <a:t> = 8'b1111_1111; // ******** </a:t>
            </a:r>
            <a:endParaRPr lang="en-US" altLang="zh-CN" dirty="0"/>
          </a:p>
          <a:p>
            <a:r>
              <a:rPr lang="en-US" altLang="zh-CN" dirty="0"/>
              <a:t>            3'h5: </a:t>
            </a:r>
            <a:r>
              <a:rPr lang="en-US" altLang="zh-CN" dirty="0" err="1"/>
              <a:t>rom_data</a:t>
            </a:r>
            <a:r>
              <a:rPr lang="en-US" altLang="zh-CN" dirty="0"/>
              <a:t> = 8'b1111_1111; // ******** </a:t>
            </a:r>
            <a:endParaRPr lang="en-US" altLang="zh-CN" dirty="0"/>
          </a:p>
          <a:p>
            <a:r>
              <a:rPr lang="en-US" altLang="zh-CN" dirty="0"/>
              <a:t>            3'h6: </a:t>
            </a:r>
            <a:r>
              <a:rPr lang="en-US" altLang="zh-CN" dirty="0" err="1"/>
              <a:t>rom_data</a:t>
            </a:r>
            <a:r>
              <a:rPr lang="en-US" altLang="zh-CN" dirty="0"/>
              <a:t> = 8'b0111_1110; //  ****** </a:t>
            </a:r>
            <a:endParaRPr lang="en-US" altLang="zh-CN" dirty="0"/>
          </a:p>
          <a:p>
            <a:r>
              <a:rPr lang="en-US" altLang="zh-CN" dirty="0"/>
              <a:t>            3'h7: </a:t>
            </a:r>
            <a:r>
              <a:rPr lang="en-US" altLang="zh-CN" dirty="0" err="1"/>
              <a:t>rom_data</a:t>
            </a:r>
            <a:r>
              <a:rPr lang="en-US" altLang="zh-CN" dirty="0"/>
              <a:t> = 8'b0011_1100; //   **** </a:t>
            </a:r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en-US" altLang="zh-CN" dirty="0" err="1"/>
              <a:t>endcase</a:t>
            </a:r>
            <a:r>
              <a:rPr lang="en-US" altLang="zh-CN" dirty="0"/>
              <a:t>  </a:t>
            </a:r>
            <a:endParaRPr lang="en-US" altLang="zh-CN" dirty="0"/>
          </a:p>
          <a:p>
            <a:r>
              <a:rPr lang="en-US" altLang="zh-CN" dirty="0"/>
              <a:t>    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rom_col</a:t>
            </a:r>
            <a:r>
              <a:rPr lang="en-US" altLang="zh-CN" dirty="0"/>
              <a:t>  = </a:t>
            </a:r>
            <a:r>
              <a:rPr lang="en-US" altLang="zh-CN" dirty="0" err="1"/>
              <a:t>pix_x</a:t>
            </a:r>
            <a:r>
              <a:rPr lang="en-US" altLang="zh-CN" dirty="0"/>
              <a:t>[2:0] - </a:t>
            </a:r>
            <a:r>
              <a:rPr lang="en-US" altLang="zh-CN" dirty="0" err="1"/>
              <a:t>ball_x_l</a:t>
            </a:r>
            <a:r>
              <a:rPr lang="en-US" altLang="zh-CN" dirty="0"/>
              <a:t>[2:0]; // ROM</a:t>
            </a:r>
            <a:r>
              <a:rPr lang="zh-CN" altLang="en-US" dirty="0"/>
              <a:t>列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assign </a:t>
            </a:r>
            <a:r>
              <a:rPr lang="en-US" altLang="zh-CN" dirty="0" err="1"/>
              <a:t>rom_addr</a:t>
            </a:r>
            <a:r>
              <a:rPr lang="en-US" altLang="zh-CN" dirty="0"/>
              <a:t> = </a:t>
            </a:r>
            <a:r>
              <a:rPr lang="en-US" altLang="zh-CN" dirty="0" err="1"/>
              <a:t>pix_y</a:t>
            </a:r>
            <a:r>
              <a:rPr lang="en-US" altLang="zh-CN" dirty="0"/>
              <a:t>[2:0] - </a:t>
            </a:r>
            <a:r>
              <a:rPr lang="en-US" altLang="zh-CN" dirty="0" err="1"/>
              <a:t>ball_y_t</a:t>
            </a:r>
            <a:r>
              <a:rPr lang="en-US" altLang="zh-CN" dirty="0"/>
              <a:t>[2:0]; // ROM</a:t>
            </a:r>
            <a:r>
              <a:rPr lang="zh-CN" altLang="en-US" dirty="0"/>
              <a:t>行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assign </a:t>
            </a:r>
            <a:r>
              <a:rPr lang="en-US" altLang="zh-CN" dirty="0" err="1"/>
              <a:t>rom_bit</a:t>
            </a:r>
            <a:r>
              <a:rPr lang="en-US" altLang="zh-CN" dirty="0"/>
              <a:t>  = </a:t>
            </a:r>
            <a:r>
              <a:rPr lang="en-US" altLang="zh-CN" dirty="0" err="1"/>
              <a:t>rom_data</a:t>
            </a:r>
            <a:r>
              <a:rPr lang="en-US" altLang="zh-CN" dirty="0"/>
              <a:t>[</a:t>
            </a:r>
            <a:r>
              <a:rPr lang="en-US" altLang="zh-CN" dirty="0" err="1"/>
              <a:t>rom_col</a:t>
            </a:r>
            <a:r>
              <a:rPr lang="en-US" altLang="zh-CN" dirty="0"/>
              <a:t>]; //</a:t>
            </a:r>
            <a:r>
              <a:rPr lang="en-US" altLang="zh-CN" dirty="0" err="1"/>
              <a:t>ROMaddr</a:t>
            </a:r>
            <a:r>
              <a:rPr lang="zh-CN" altLang="en-US" dirty="0"/>
              <a:t>行中</a:t>
            </a:r>
            <a:r>
              <a:rPr lang="en-US" altLang="zh-CN" dirty="0"/>
              <a:t>col</a:t>
            </a:r>
            <a:r>
              <a:rPr lang="zh-CN" altLang="en-US" dirty="0"/>
              <a:t>列值  </a:t>
            </a:r>
            <a:endParaRPr lang="zh-CN" altLang="en-US" dirty="0"/>
          </a:p>
          <a:p>
            <a:r>
              <a:rPr lang="zh-CN" altLang="en-US" dirty="0"/>
              <a:t>         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// pixel within ball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ballOn</a:t>
            </a:r>
            <a:r>
              <a:rPr lang="en-US" altLang="zh-CN" dirty="0"/>
              <a:t> = ((</a:t>
            </a:r>
            <a:r>
              <a:rPr lang="en-US" altLang="zh-CN" dirty="0" err="1"/>
              <a:t>ball_x_l</a:t>
            </a:r>
            <a:r>
              <a:rPr lang="en-US" altLang="zh-CN" dirty="0"/>
              <a:t>&lt;=</a:t>
            </a:r>
            <a:r>
              <a:rPr lang="en-US" altLang="zh-CN" dirty="0" err="1"/>
              <a:t>pix_x</a:t>
            </a:r>
            <a:r>
              <a:rPr lang="en-US" altLang="zh-CN" dirty="0"/>
              <a:t>) &amp;&amp; (</a:t>
            </a:r>
            <a:r>
              <a:rPr lang="en-US" altLang="zh-CN" dirty="0" err="1"/>
              <a:t>pix_x</a:t>
            </a:r>
            <a:r>
              <a:rPr lang="en-US" altLang="zh-CN" dirty="0"/>
              <a:t>&lt;=</a:t>
            </a:r>
            <a:r>
              <a:rPr lang="en-US" altLang="zh-CN" dirty="0" err="1"/>
              <a:t>ball_x_r</a:t>
            </a:r>
            <a:r>
              <a:rPr lang="en-US" altLang="zh-CN" dirty="0"/>
              <a:t>) &amp;&amp;  //</a:t>
            </a:r>
            <a:r>
              <a:rPr lang="zh-CN" altLang="en-US" dirty="0"/>
              <a:t>变量</a:t>
            </a:r>
            <a:endParaRPr lang="zh-CN" altLang="en-US" dirty="0"/>
          </a:p>
          <a:p>
            <a:r>
              <a:rPr lang="zh-CN" altLang="en-US" dirty="0"/>
              <a:t>                     </a:t>
            </a:r>
            <a:r>
              <a:rPr lang="en-US" altLang="zh-CN" dirty="0"/>
              <a:t>(</a:t>
            </a:r>
            <a:r>
              <a:rPr lang="en-US" altLang="zh-CN" dirty="0" err="1"/>
              <a:t>ball_y_t</a:t>
            </a:r>
            <a:r>
              <a:rPr lang="en-US" altLang="zh-CN" dirty="0"/>
              <a:t>&lt;=</a:t>
            </a:r>
            <a:r>
              <a:rPr lang="en-US" altLang="zh-CN" dirty="0" err="1"/>
              <a:t>pix_y</a:t>
            </a:r>
            <a:r>
              <a:rPr lang="en-US" altLang="zh-CN" dirty="0"/>
              <a:t>) &amp;&amp; (</a:t>
            </a:r>
            <a:r>
              <a:rPr lang="en-US" altLang="zh-CN" dirty="0" err="1"/>
              <a:t>pix_y</a:t>
            </a:r>
            <a:r>
              <a:rPr lang="en-US" altLang="zh-CN" dirty="0"/>
              <a:t>&lt;=</a:t>
            </a:r>
            <a:r>
              <a:rPr lang="en-US" altLang="zh-CN" dirty="0" err="1"/>
              <a:t>ball_y_b</a:t>
            </a:r>
            <a:r>
              <a:rPr lang="en-US" altLang="zh-CN" dirty="0"/>
              <a:t>)) &amp;  //</a:t>
            </a:r>
            <a:r>
              <a:rPr lang="zh-CN" altLang="en-US" dirty="0"/>
              <a:t>变量 </a:t>
            </a:r>
            <a:endParaRPr lang="zh-CN" altLang="en-US" dirty="0"/>
          </a:p>
          <a:p>
            <a:r>
              <a:rPr lang="zh-CN" altLang="en-US" dirty="0"/>
              <a:t>                     </a:t>
            </a:r>
            <a:r>
              <a:rPr lang="en-US" altLang="zh-CN" dirty="0" err="1"/>
              <a:t>rom_bit</a:t>
            </a:r>
            <a:r>
              <a:rPr lang="en-US" altLang="zh-CN" dirty="0"/>
              <a:t>;  // round ball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ball_r</a:t>
            </a:r>
            <a:r>
              <a:rPr lang="en-US" altLang="zh-CN" dirty="0"/>
              <a:t> = 4'b1111; // red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ball_g</a:t>
            </a:r>
            <a:r>
              <a:rPr lang="en-US" altLang="zh-CN" dirty="0"/>
              <a:t> = 4'b0000; 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ball_b</a:t>
            </a:r>
            <a:r>
              <a:rPr lang="en-US" altLang="zh-CN" dirty="0"/>
              <a:t> = 4'b0000;    </a:t>
            </a:r>
            <a:endParaRPr lang="en-US" altLang="zh-CN" dirty="0"/>
          </a:p>
          <a:p>
            <a:r>
              <a:rPr lang="en-US" altLang="zh-CN" dirty="0"/>
              <a:t>    </a:t>
            </a:r>
            <a:endParaRPr lang="en-US" altLang="zh-CN" dirty="0"/>
          </a:p>
          <a:p>
            <a:r>
              <a:rPr lang="en-US" altLang="zh-CN" dirty="0"/>
              <a:t>    // Fudan picture</a:t>
            </a:r>
            <a:endParaRPr lang="en-US" altLang="zh-CN" dirty="0"/>
          </a:p>
          <a:p>
            <a:r>
              <a:rPr lang="en-US" altLang="zh-CN" dirty="0"/>
              <a:t>    logic [10:0] C1, R1; //</a:t>
            </a:r>
            <a:r>
              <a:rPr lang="zh-CN" altLang="en-US" dirty="0"/>
              <a:t>图片左上角坐标（</a:t>
            </a:r>
            <a:r>
              <a:rPr lang="en-US" altLang="zh-CN" dirty="0"/>
              <a:t>C1, R1</a:t>
            </a:r>
            <a:r>
              <a:rPr lang="zh-CN" altLang="en-US" dirty="0"/>
              <a:t>）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assign C1 = (MAX_X - 320) / 2; //</a:t>
            </a:r>
            <a:r>
              <a:rPr lang="zh-CN" altLang="en-US" dirty="0"/>
              <a:t>水平居中</a:t>
            </a:r>
            <a:r>
              <a:rPr lang="en-US" altLang="zh-CN" dirty="0"/>
              <a:t>=160</a:t>
            </a:r>
            <a:endParaRPr lang="en-US" altLang="zh-CN" dirty="0"/>
          </a:p>
          <a:p>
            <a:r>
              <a:rPr lang="en-US" altLang="zh-CN" dirty="0"/>
              <a:t>    assign R1 = (MAX_Y - 320) / 2; //</a:t>
            </a:r>
            <a:r>
              <a:rPr lang="zh-CN" altLang="en-US" dirty="0"/>
              <a:t>垂直居中</a:t>
            </a:r>
            <a:r>
              <a:rPr lang="en-US" altLang="zh-CN" dirty="0"/>
              <a:t>=80</a:t>
            </a:r>
            <a:endParaRPr lang="en-US" altLang="zh-CN" dirty="0"/>
          </a:p>
          <a:p>
            <a:r>
              <a:rPr lang="en-US" altLang="zh-CN" dirty="0"/>
              <a:t>    </a:t>
            </a:r>
            <a:endParaRPr lang="en-US" altLang="zh-CN" dirty="0"/>
          </a:p>
          <a:p>
            <a:r>
              <a:rPr lang="en-US" altLang="zh-CN" dirty="0"/>
              <a:t>    logic [10:0] </a:t>
            </a:r>
            <a:r>
              <a:rPr lang="en-US" altLang="zh-CN" dirty="0" err="1"/>
              <a:t>xPic</a:t>
            </a:r>
            <a:r>
              <a:rPr lang="en-US" altLang="zh-CN" dirty="0"/>
              <a:t>, </a:t>
            </a:r>
            <a:r>
              <a:rPr lang="en-US" altLang="zh-CN" dirty="0" err="1"/>
              <a:t>yPic</a:t>
            </a:r>
            <a:r>
              <a:rPr lang="en-US" altLang="zh-CN" dirty="0"/>
              <a:t>; //</a:t>
            </a:r>
            <a:r>
              <a:rPr lang="zh-CN" altLang="en-US" dirty="0"/>
              <a:t>图片内坐标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assign </a:t>
            </a:r>
            <a:r>
              <a:rPr lang="en-US" altLang="zh-CN" dirty="0" err="1"/>
              <a:t>xPic</a:t>
            </a:r>
            <a:r>
              <a:rPr lang="en-US" altLang="zh-CN" dirty="0"/>
              <a:t> =  </a:t>
            </a:r>
            <a:r>
              <a:rPr lang="en-US" altLang="zh-CN" dirty="0" err="1"/>
              <a:t>pix_x</a:t>
            </a:r>
            <a:r>
              <a:rPr lang="en-US" altLang="zh-CN" dirty="0"/>
              <a:t> - H_SYNC_START - C1;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yPic</a:t>
            </a:r>
            <a:r>
              <a:rPr lang="en-US" altLang="zh-CN" dirty="0"/>
              <a:t> =  </a:t>
            </a:r>
            <a:r>
              <a:rPr lang="en-US" altLang="zh-CN" dirty="0" err="1"/>
              <a:t>pix_y</a:t>
            </a:r>
            <a:r>
              <a:rPr lang="en-US" altLang="zh-CN" dirty="0"/>
              <a:t> - V_SYNC_START - R1;</a:t>
            </a:r>
            <a:endParaRPr lang="en-US" altLang="zh-CN" dirty="0"/>
          </a:p>
          <a:p>
            <a:r>
              <a:rPr lang="en-US" altLang="zh-CN" dirty="0"/>
              <a:t>    </a:t>
            </a:r>
            <a:endParaRPr lang="en-US" altLang="zh-CN" dirty="0"/>
          </a:p>
          <a:p>
            <a:r>
              <a:rPr lang="en-US" altLang="zh-CN" dirty="0"/>
              <a:t>    // read picture data from ROM</a:t>
            </a:r>
            <a:endParaRPr lang="en-US" altLang="zh-CN" dirty="0"/>
          </a:p>
          <a:p>
            <a:r>
              <a:rPr lang="en-US" altLang="zh-CN" dirty="0"/>
              <a:t>    assign picAddr17 = 320 * </a:t>
            </a:r>
            <a:r>
              <a:rPr lang="en-US" altLang="zh-CN" dirty="0" err="1"/>
              <a:t>yPic</a:t>
            </a:r>
            <a:r>
              <a:rPr lang="en-US" altLang="zh-CN" dirty="0"/>
              <a:t> + </a:t>
            </a:r>
            <a:r>
              <a:rPr lang="en-US" altLang="zh-CN" dirty="0" err="1"/>
              <a:t>xPic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picOn</a:t>
            </a:r>
            <a:r>
              <a:rPr lang="en-US" altLang="zh-CN" dirty="0"/>
              <a:t> = ((</a:t>
            </a:r>
            <a:r>
              <a:rPr lang="en-US" altLang="zh-CN" dirty="0" err="1"/>
              <a:t>pix_x</a:t>
            </a:r>
            <a:r>
              <a:rPr lang="en-US" altLang="zh-CN" dirty="0"/>
              <a:t> &gt; H_SYNC_START+C1)     &amp;&amp;</a:t>
            </a:r>
            <a:endParaRPr lang="en-US" altLang="zh-CN" dirty="0"/>
          </a:p>
          <a:p>
            <a:r>
              <a:rPr lang="en-US" altLang="zh-CN" dirty="0"/>
              <a:t>                    (</a:t>
            </a:r>
            <a:r>
              <a:rPr lang="en-US" altLang="zh-CN" dirty="0" err="1"/>
              <a:t>pix_x</a:t>
            </a:r>
            <a:r>
              <a:rPr lang="en-US" altLang="zh-CN" dirty="0"/>
              <a:t> &lt; H_SYNC_START+C1+320) &amp;&amp;</a:t>
            </a:r>
            <a:endParaRPr lang="en-US" altLang="zh-CN" dirty="0"/>
          </a:p>
          <a:p>
            <a:r>
              <a:rPr lang="en-US" altLang="zh-CN" dirty="0"/>
              <a:t>                    (</a:t>
            </a:r>
            <a:r>
              <a:rPr lang="en-US" altLang="zh-CN" dirty="0" err="1"/>
              <a:t>pix_y</a:t>
            </a:r>
            <a:r>
              <a:rPr lang="en-US" altLang="zh-CN" dirty="0"/>
              <a:t> &gt; V_SYNC_START+R1)     &amp;&amp; </a:t>
            </a:r>
            <a:endParaRPr lang="en-US" altLang="zh-CN" dirty="0"/>
          </a:p>
          <a:p>
            <a:r>
              <a:rPr lang="en-US" altLang="zh-CN" dirty="0"/>
              <a:t>                    (</a:t>
            </a:r>
            <a:r>
              <a:rPr lang="en-US" altLang="zh-CN" dirty="0" err="1"/>
              <a:t>pix_y</a:t>
            </a:r>
            <a:r>
              <a:rPr lang="en-US" altLang="zh-CN" dirty="0"/>
              <a:t> &lt; V_SYNC_START+R1+320));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pic_r</a:t>
            </a:r>
            <a:r>
              <a:rPr lang="en-US" altLang="zh-CN" dirty="0"/>
              <a:t> = </a:t>
            </a:r>
            <a:r>
              <a:rPr lang="en-US" altLang="zh-CN" dirty="0" err="1"/>
              <a:t>picData</a:t>
            </a:r>
            <a:r>
              <a:rPr lang="en-US" altLang="zh-CN" dirty="0"/>
              <a:t>[11:8]; // 4bits red 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pic_g</a:t>
            </a:r>
            <a:r>
              <a:rPr lang="en-US" altLang="zh-CN" dirty="0"/>
              <a:t> = </a:t>
            </a:r>
            <a:r>
              <a:rPr lang="en-US" altLang="zh-CN" dirty="0" err="1"/>
              <a:t>picData</a:t>
            </a:r>
            <a:r>
              <a:rPr lang="en-US" altLang="zh-CN" dirty="0"/>
              <a:t>[7:4];  // 4bits green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pic_b</a:t>
            </a:r>
            <a:r>
              <a:rPr lang="en-US" altLang="zh-CN" dirty="0"/>
              <a:t> = </a:t>
            </a:r>
            <a:r>
              <a:rPr lang="en-US" altLang="zh-CN" dirty="0" err="1"/>
              <a:t>picData</a:t>
            </a:r>
            <a:r>
              <a:rPr lang="en-US" altLang="zh-CN" dirty="0"/>
              <a:t>[3:0];  // 4bits blue  </a:t>
            </a:r>
            <a:endParaRPr lang="en-US" altLang="zh-CN" dirty="0"/>
          </a:p>
          <a:p>
            <a:r>
              <a:rPr lang="en-US" altLang="zh-CN" dirty="0"/>
              <a:t>    </a:t>
            </a:r>
            <a:endParaRPr lang="en-US" altLang="zh-CN" dirty="0"/>
          </a:p>
          <a:p>
            <a:r>
              <a:rPr lang="en-US" altLang="zh-CN" dirty="0"/>
              <a:t>    // (Text) </a:t>
            </a:r>
            <a:r>
              <a:rPr lang="zh-CN" altLang="en-US" dirty="0"/>
              <a:t>得分文字</a:t>
            </a:r>
            <a:r>
              <a:rPr lang="en-US" altLang="zh-CN" dirty="0"/>
              <a:t>: 16x8</a:t>
            </a:r>
            <a:r>
              <a:rPr lang="zh-CN" altLang="en-US" dirty="0"/>
              <a:t>点阵 </a:t>
            </a:r>
            <a:r>
              <a:rPr lang="en-US" altLang="zh-CN" dirty="0"/>
              <a:t>"Score:??"  </a:t>
            </a:r>
            <a:endParaRPr lang="en-US" altLang="zh-CN" dirty="0"/>
          </a:p>
          <a:p>
            <a:r>
              <a:rPr lang="en-US" altLang="zh-CN" dirty="0"/>
              <a:t>    logic [10:0] C2, R2; //</a:t>
            </a:r>
            <a:r>
              <a:rPr lang="zh-CN" altLang="en-US" dirty="0"/>
              <a:t>图片左上角坐标（</a:t>
            </a:r>
            <a:r>
              <a:rPr lang="en-US" altLang="zh-CN" dirty="0"/>
              <a:t>C2, R2</a:t>
            </a:r>
            <a:r>
              <a:rPr lang="zh-CN" altLang="en-US" dirty="0"/>
              <a:t>）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assign C2 = 500;</a:t>
            </a:r>
            <a:endParaRPr lang="en-US" altLang="zh-CN" dirty="0"/>
          </a:p>
          <a:p>
            <a:r>
              <a:rPr lang="en-US" altLang="zh-CN" dirty="0"/>
              <a:t>    assign R2 = 10;</a:t>
            </a:r>
            <a:endParaRPr lang="en-US" altLang="zh-CN" dirty="0"/>
          </a:p>
          <a:p>
            <a:r>
              <a:rPr lang="en-US" altLang="zh-CN" dirty="0"/>
              <a:t>    </a:t>
            </a:r>
            <a:endParaRPr lang="en-US" altLang="zh-CN" dirty="0"/>
          </a:p>
          <a:p>
            <a:r>
              <a:rPr lang="en-US" altLang="zh-CN" dirty="0"/>
              <a:t>    logic [10:0] </a:t>
            </a:r>
            <a:r>
              <a:rPr lang="en-US" altLang="zh-CN" dirty="0" err="1"/>
              <a:t>xText</a:t>
            </a:r>
            <a:r>
              <a:rPr lang="en-US" altLang="zh-CN" dirty="0"/>
              <a:t>, </a:t>
            </a:r>
            <a:r>
              <a:rPr lang="en-US" altLang="zh-CN" dirty="0" err="1"/>
              <a:t>yText</a:t>
            </a:r>
            <a:r>
              <a:rPr lang="en-US" altLang="zh-CN" dirty="0"/>
              <a:t>; //Text</a:t>
            </a:r>
            <a:r>
              <a:rPr lang="zh-CN" altLang="en-US" dirty="0"/>
              <a:t>内坐标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assign </a:t>
            </a:r>
            <a:r>
              <a:rPr lang="en-US" altLang="zh-CN" dirty="0" err="1"/>
              <a:t>xText</a:t>
            </a:r>
            <a:r>
              <a:rPr lang="en-US" altLang="zh-CN" dirty="0"/>
              <a:t> =  </a:t>
            </a:r>
            <a:r>
              <a:rPr lang="en-US" altLang="zh-CN" dirty="0" err="1"/>
              <a:t>pix_x</a:t>
            </a:r>
            <a:r>
              <a:rPr lang="en-US" altLang="zh-CN" dirty="0"/>
              <a:t> - H_SYNC_START - C2 - 1;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yText</a:t>
            </a:r>
            <a:r>
              <a:rPr lang="en-US" altLang="zh-CN" dirty="0"/>
              <a:t> =  </a:t>
            </a:r>
            <a:r>
              <a:rPr lang="en-US" altLang="zh-CN" dirty="0" err="1"/>
              <a:t>pix_y</a:t>
            </a:r>
            <a:r>
              <a:rPr lang="en-US" altLang="zh-CN" dirty="0"/>
              <a:t> - V_SYNC_START - R2 - 1;</a:t>
            </a:r>
            <a:endParaRPr lang="en-US" altLang="zh-CN" dirty="0"/>
          </a:p>
          <a:p>
            <a:r>
              <a:rPr lang="en-US" altLang="zh-CN" dirty="0"/>
              <a:t>    </a:t>
            </a:r>
            <a:endParaRPr lang="en-US" altLang="zh-CN" dirty="0"/>
          </a:p>
          <a:p>
            <a:r>
              <a:rPr lang="en-US" altLang="zh-CN" dirty="0"/>
              <a:t>    logic [10:0] </a:t>
            </a:r>
            <a:r>
              <a:rPr lang="en-US" altLang="zh-CN" dirty="0" err="1"/>
              <a:t>txtAddr</a:t>
            </a:r>
            <a:r>
              <a:rPr lang="en-US" altLang="zh-CN" dirty="0"/>
              <a:t>; //{</a:t>
            </a:r>
            <a:r>
              <a:rPr lang="en-US" altLang="zh-CN" dirty="0" err="1"/>
              <a:t>charAddr</a:t>
            </a:r>
            <a:r>
              <a:rPr lang="en-US" altLang="zh-CN" dirty="0"/>
              <a:t>, </a:t>
            </a:r>
            <a:r>
              <a:rPr lang="en-US" altLang="zh-CN" dirty="0" err="1"/>
              <a:t>rowAddr</a:t>
            </a:r>
            <a:r>
              <a:rPr lang="en-US" altLang="zh-CN" dirty="0"/>
              <a:t>}</a:t>
            </a:r>
            <a:endParaRPr lang="en-US" altLang="zh-CN" dirty="0"/>
          </a:p>
          <a:p>
            <a:r>
              <a:rPr lang="en-US" altLang="zh-CN" dirty="0"/>
              <a:t>    logic [6:0] </a:t>
            </a:r>
            <a:r>
              <a:rPr lang="en-US" altLang="zh-CN" dirty="0" err="1"/>
              <a:t>charAddr</a:t>
            </a:r>
            <a:r>
              <a:rPr lang="en-US" altLang="zh-CN" dirty="0"/>
              <a:t>; //</a:t>
            </a:r>
            <a:r>
              <a:rPr lang="zh-CN" altLang="en-US" dirty="0"/>
              <a:t>字符地址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logic [3:0] </a:t>
            </a:r>
            <a:r>
              <a:rPr lang="en-US" altLang="zh-CN" dirty="0" err="1"/>
              <a:t>rowAddr</a:t>
            </a:r>
            <a:r>
              <a:rPr lang="en-US" altLang="zh-CN" dirty="0"/>
              <a:t>;  //</a:t>
            </a:r>
            <a:r>
              <a:rPr lang="zh-CN" altLang="en-US" dirty="0"/>
              <a:t>行地址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logic [0:7] </a:t>
            </a:r>
            <a:r>
              <a:rPr lang="en-US" altLang="zh-CN" dirty="0" err="1"/>
              <a:t>textData</a:t>
            </a:r>
            <a:r>
              <a:rPr lang="en-US" altLang="zh-CN" dirty="0"/>
              <a:t>; //</a:t>
            </a:r>
            <a:r>
              <a:rPr lang="zh-CN" altLang="en-US" dirty="0"/>
              <a:t>字符</a:t>
            </a:r>
            <a:r>
              <a:rPr lang="en-US" altLang="zh-CN" dirty="0"/>
              <a:t>ROM</a:t>
            </a:r>
            <a:r>
              <a:rPr lang="zh-CN" altLang="en-US" dirty="0"/>
              <a:t>顺序从小到大</a:t>
            </a:r>
            <a:r>
              <a:rPr lang="en-US" altLang="zh-CN" dirty="0"/>
              <a:t>!!</a:t>
            </a:r>
            <a:endParaRPr lang="en-US" altLang="zh-CN" dirty="0"/>
          </a:p>
          <a:p>
            <a:r>
              <a:rPr lang="en-US" altLang="zh-CN" dirty="0"/>
              <a:t>    logic </a:t>
            </a:r>
            <a:r>
              <a:rPr lang="en-US" altLang="zh-CN" dirty="0" err="1"/>
              <a:t>One_bit</a:t>
            </a:r>
            <a:r>
              <a:rPr lang="en-US" altLang="zh-CN" dirty="0"/>
              <a:t>;    //</a:t>
            </a:r>
            <a:r>
              <a:rPr lang="zh-CN" altLang="en-US" dirty="0"/>
              <a:t>每个字符一行中的每</a:t>
            </a:r>
            <a:r>
              <a:rPr lang="en-US" altLang="zh-CN" dirty="0"/>
              <a:t>1</a:t>
            </a:r>
            <a:r>
              <a:rPr lang="zh-CN" altLang="en-US" dirty="0"/>
              <a:t>位数据</a:t>
            </a:r>
            <a:endParaRPr lang="zh-CN" altLang="en-US" dirty="0"/>
          </a:p>
          <a:p>
            <a:r>
              <a:rPr lang="zh-CN" altLang="en-US" dirty="0"/>
              <a:t>    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always @(*)</a:t>
            </a:r>
            <a:endParaRPr lang="en-US" altLang="zh-CN" dirty="0"/>
          </a:p>
          <a:p>
            <a:r>
              <a:rPr lang="en-US" altLang="zh-CN" dirty="0"/>
              <a:t>        case (</a:t>
            </a:r>
            <a:r>
              <a:rPr lang="en-US" altLang="zh-CN" dirty="0" err="1"/>
              <a:t>xText</a:t>
            </a:r>
            <a:r>
              <a:rPr lang="en-US" altLang="zh-CN" dirty="0"/>
              <a:t>[7:4])    // </a:t>
            </a:r>
            <a:r>
              <a:rPr lang="en-US" altLang="zh-CN" dirty="0" err="1"/>
              <a:t>xText</a:t>
            </a:r>
            <a:r>
              <a:rPr lang="en-US" altLang="zh-CN" dirty="0"/>
              <a:t>[3:0]</a:t>
            </a:r>
            <a:r>
              <a:rPr lang="zh-CN" altLang="en-US" dirty="0"/>
              <a:t>为</a:t>
            </a:r>
            <a:r>
              <a:rPr lang="en-US" altLang="zh-CN" dirty="0"/>
              <a:t>1</a:t>
            </a:r>
            <a:r>
              <a:rPr lang="zh-CN" altLang="en-US" dirty="0"/>
              <a:t>个字</a:t>
            </a:r>
            <a:endParaRPr lang="zh-CN" altLang="en-US" dirty="0"/>
          </a:p>
          <a:p>
            <a:r>
              <a:rPr lang="zh-CN" altLang="en-US" dirty="0"/>
              <a:t>            </a:t>
            </a:r>
            <a:r>
              <a:rPr lang="en-US" altLang="zh-CN" dirty="0"/>
              <a:t>4'h0: </a:t>
            </a:r>
            <a:r>
              <a:rPr lang="en-US" altLang="zh-CN" dirty="0" err="1"/>
              <a:t>charAddr</a:t>
            </a:r>
            <a:r>
              <a:rPr lang="en-US" altLang="zh-CN" dirty="0"/>
              <a:t> = 7'h53; // S</a:t>
            </a:r>
            <a:endParaRPr lang="en-US" altLang="zh-CN" dirty="0"/>
          </a:p>
          <a:p>
            <a:r>
              <a:rPr lang="en-US" altLang="zh-CN" dirty="0"/>
              <a:t>            4'h1: </a:t>
            </a:r>
            <a:r>
              <a:rPr lang="en-US" altLang="zh-CN" dirty="0" err="1"/>
              <a:t>charAddr</a:t>
            </a:r>
            <a:r>
              <a:rPr lang="en-US" altLang="zh-CN" dirty="0"/>
              <a:t> = 7'h63; // c</a:t>
            </a:r>
            <a:endParaRPr lang="en-US" altLang="zh-CN" dirty="0"/>
          </a:p>
          <a:p>
            <a:r>
              <a:rPr lang="en-US" altLang="zh-CN" dirty="0"/>
              <a:t>            4'h2: </a:t>
            </a:r>
            <a:r>
              <a:rPr lang="en-US" altLang="zh-CN" dirty="0" err="1"/>
              <a:t>charAddr</a:t>
            </a:r>
            <a:r>
              <a:rPr lang="en-US" altLang="zh-CN" dirty="0"/>
              <a:t> = 7'h6f; // o</a:t>
            </a:r>
            <a:endParaRPr lang="en-US" altLang="zh-CN" dirty="0"/>
          </a:p>
          <a:p>
            <a:r>
              <a:rPr lang="en-US" altLang="zh-CN" dirty="0"/>
              <a:t>            4'h3: </a:t>
            </a:r>
            <a:r>
              <a:rPr lang="en-US" altLang="zh-CN" dirty="0" err="1"/>
              <a:t>charAddr</a:t>
            </a:r>
            <a:r>
              <a:rPr lang="en-US" altLang="zh-CN" dirty="0"/>
              <a:t> = 7'h72; // r</a:t>
            </a:r>
            <a:endParaRPr lang="en-US" altLang="zh-CN" dirty="0"/>
          </a:p>
          <a:p>
            <a:r>
              <a:rPr lang="en-US" altLang="zh-CN" dirty="0"/>
              <a:t>            4'h4: </a:t>
            </a:r>
            <a:r>
              <a:rPr lang="en-US" altLang="zh-CN" dirty="0" err="1"/>
              <a:t>charAddr</a:t>
            </a:r>
            <a:r>
              <a:rPr lang="en-US" altLang="zh-CN" dirty="0"/>
              <a:t> = 7'h65; // e</a:t>
            </a:r>
            <a:endParaRPr lang="en-US" altLang="zh-CN" dirty="0"/>
          </a:p>
          <a:p>
            <a:r>
              <a:rPr lang="en-US" altLang="zh-CN" dirty="0"/>
              <a:t>            4'h5: </a:t>
            </a:r>
            <a:r>
              <a:rPr lang="en-US" altLang="zh-CN" dirty="0" err="1"/>
              <a:t>charAddr</a:t>
            </a:r>
            <a:r>
              <a:rPr lang="en-US" altLang="zh-CN" dirty="0"/>
              <a:t> = 7'h3a; // :</a:t>
            </a:r>
            <a:endParaRPr lang="en-US" altLang="zh-CN" dirty="0"/>
          </a:p>
          <a:p>
            <a:r>
              <a:rPr lang="en-US" altLang="zh-CN" dirty="0"/>
              <a:t>            4'h6: </a:t>
            </a:r>
            <a:r>
              <a:rPr lang="en-US" altLang="zh-CN" dirty="0" err="1"/>
              <a:t>charAddr</a:t>
            </a:r>
            <a:r>
              <a:rPr lang="en-US" altLang="zh-CN" dirty="0"/>
              <a:t> = {3'b011, textBalls1}; // </a:t>
            </a:r>
            <a:r>
              <a:rPr lang="zh-CN" altLang="en-US" dirty="0"/>
              <a:t>十位数</a:t>
            </a:r>
            <a:endParaRPr lang="zh-CN" altLang="en-US" dirty="0"/>
          </a:p>
          <a:p>
            <a:r>
              <a:rPr lang="zh-CN" altLang="en-US" dirty="0"/>
              <a:t>            </a:t>
            </a:r>
            <a:r>
              <a:rPr lang="en-US" altLang="zh-CN" dirty="0"/>
              <a:t>4'h7: </a:t>
            </a:r>
            <a:r>
              <a:rPr lang="en-US" altLang="zh-CN" dirty="0" err="1"/>
              <a:t>charAddr</a:t>
            </a:r>
            <a:r>
              <a:rPr lang="en-US" altLang="zh-CN" dirty="0"/>
              <a:t> = {3'b011, textBalls0}; // </a:t>
            </a:r>
            <a:r>
              <a:rPr lang="zh-CN" altLang="en-US" dirty="0"/>
              <a:t>个位数</a:t>
            </a:r>
            <a:endParaRPr lang="en-US" altLang="zh-CN" dirty="0"/>
          </a:p>
          <a:p>
            <a:r>
              <a:rPr lang="en-US" altLang="zh-CN" dirty="0"/>
              <a:t>            </a:t>
            </a:r>
            <a:r>
              <a:rPr lang="en-US" altLang="zh-CN" dirty="0" err="1"/>
              <a:t>default:charAddr</a:t>
            </a:r>
            <a:r>
              <a:rPr lang="en-US" altLang="zh-CN" dirty="0"/>
              <a:t>=7'hXX;</a:t>
            </a:r>
            <a:endParaRPr lang="zh-CN" altLang="en-US" dirty="0"/>
          </a:p>
          <a:p>
            <a:r>
              <a:rPr lang="zh-CN" altLang="en-US" dirty="0"/>
              <a:t>        </a:t>
            </a:r>
            <a:r>
              <a:rPr lang="en-US" altLang="zh-CN" dirty="0" err="1"/>
              <a:t>endcase</a:t>
            </a:r>
            <a:endParaRPr lang="en-US" altLang="zh-CN" dirty="0"/>
          </a:p>
          <a:p>
            <a:r>
              <a:rPr lang="en-US" altLang="zh-CN" dirty="0"/>
              <a:t>       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rowAddr</a:t>
            </a:r>
            <a:r>
              <a:rPr lang="en-US" altLang="zh-CN" dirty="0"/>
              <a:t> = </a:t>
            </a:r>
            <a:r>
              <a:rPr lang="en-US" altLang="zh-CN" dirty="0" err="1"/>
              <a:t>yText</a:t>
            </a:r>
            <a:r>
              <a:rPr lang="en-US" altLang="zh-CN" dirty="0"/>
              <a:t>[4:1];  // </a:t>
            </a:r>
            <a:r>
              <a:rPr lang="zh-CN" altLang="en-US" dirty="0"/>
              <a:t>每个字共</a:t>
            </a:r>
            <a:r>
              <a:rPr lang="en-US" altLang="zh-CN" dirty="0"/>
              <a:t>16</a:t>
            </a:r>
            <a:r>
              <a:rPr lang="zh-CN" altLang="en-US" dirty="0"/>
              <a:t>行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assign </a:t>
            </a:r>
            <a:r>
              <a:rPr lang="en-US" altLang="zh-CN" dirty="0" err="1"/>
              <a:t>txtAddr</a:t>
            </a:r>
            <a:r>
              <a:rPr lang="en-US" altLang="zh-CN" dirty="0"/>
              <a:t> = {</a:t>
            </a:r>
            <a:r>
              <a:rPr lang="en-US" altLang="zh-CN" dirty="0" err="1"/>
              <a:t>charAddr</a:t>
            </a:r>
            <a:r>
              <a:rPr lang="en-US" altLang="zh-CN" dirty="0"/>
              <a:t>, </a:t>
            </a:r>
            <a:r>
              <a:rPr lang="en-US" altLang="zh-CN" dirty="0" err="1"/>
              <a:t>rowAddr</a:t>
            </a:r>
            <a:r>
              <a:rPr lang="en-US" altLang="zh-CN" dirty="0"/>
              <a:t>};</a:t>
            </a:r>
            <a:endParaRPr lang="en-US" altLang="zh-CN" dirty="0"/>
          </a:p>
          <a:p>
            <a:r>
              <a:rPr lang="en-US" altLang="zh-CN" dirty="0"/>
              <a:t>    </a:t>
            </a:r>
            <a:endParaRPr lang="en-US" altLang="zh-CN" dirty="0"/>
          </a:p>
          <a:p>
            <a:r>
              <a:rPr lang="en-US" altLang="zh-CN" dirty="0"/>
              <a:t>    // </a:t>
            </a:r>
            <a:r>
              <a:rPr lang="zh-CN" altLang="en-US" dirty="0"/>
              <a:t>从</a:t>
            </a:r>
            <a:r>
              <a:rPr lang="en-US" altLang="zh-CN" dirty="0"/>
              <a:t>ROM</a:t>
            </a:r>
            <a:r>
              <a:rPr lang="zh-CN" altLang="en-US" dirty="0"/>
              <a:t>中获取字符每行</a:t>
            </a:r>
            <a:r>
              <a:rPr lang="en-US" altLang="zh-CN" dirty="0"/>
              <a:t>8</a:t>
            </a:r>
            <a:r>
              <a:rPr lang="zh-CN" altLang="en-US" dirty="0"/>
              <a:t>位数据</a:t>
            </a:r>
            <a:r>
              <a:rPr lang="en-US" altLang="zh-CN" dirty="0" err="1"/>
              <a:t>textData</a:t>
            </a:r>
            <a:endParaRPr lang="en-US" altLang="zh-CN" dirty="0"/>
          </a:p>
          <a:p>
            <a:r>
              <a:rPr lang="en-US" altLang="zh-CN" dirty="0"/>
              <a:t>    ASCII_ROM A1(.a(</a:t>
            </a:r>
            <a:r>
              <a:rPr lang="en-US" altLang="zh-CN" dirty="0" err="1"/>
              <a:t>txtAddr</a:t>
            </a:r>
            <a:r>
              <a:rPr lang="en-US" altLang="zh-CN" dirty="0"/>
              <a:t>), .</a:t>
            </a:r>
            <a:r>
              <a:rPr lang="en-US" altLang="zh-CN" dirty="0" err="1"/>
              <a:t>spo</a:t>
            </a:r>
            <a:r>
              <a:rPr lang="en-US" altLang="zh-CN" dirty="0"/>
              <a:t>(</a:t>
            </a:r>
            <a:r>
              <a:rPr lang="en-US" altLang="zh-CN" dirty="0" err="1"/>
              <a:t>textData</a:t>
            </a:r>
            <a:r>
              <a:rPr lang="en-US" altLang="zh-CN" dirty="0"/>
              <a:t>));</a:t>
            </a:r>
            <a:endParaRPr lang="en-US" altLang="zh-CN" dirty="0"/>
          </a:p>
          <a:p>
            <a:r>
              <a:rPr lang="en-US" altLang="zh-CN" dirty="0"/>
              <a:t>    </a:t>
            </a:r>
            <a:endParaRPr lang="en-US" altLang="zh-CN" dirty="0"/>
          </a:p>
          <a:p>
            <a:r>
              <a:rPr lang="en-US" altLang="zh-CN" dirty="0"/>
              <a:t>    // </a:t>
            </a:r>
            <a:r>
              <a:rPr lang="zh-CN" altLang="en-US" dirty="0"/>
              <a:t>提取出每个字符一行中的每</a:t>
            </a:r>
            <a:r>
              <a:rPr lang="en-US" altLang="zh-CN" dirty="0"/>
              <a:t>1</a:t>
            </a:r>
            <a:r>
              <a:rPr lang="zh-CN" altLang="en-US" dirty="0"/>
              <a:t>位数据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assign </a:t>
            </a:r>
            <a:r>
              <a:rPr lang="en-US" altLang="zh-CN" dirty="0" err="1"/>
              <a:t>One_bit</a:t>
            </a:r>
            <a:r>
              <a:rPr lang="en-US" altLang="zh-CN" dirty="0"/>
              <a:t> = </a:t>
            </a:r>
            <a:r>
              <a:rPr lang="en-US" altLang="zh-CN" dirty="0" err="1"/>
              <a:t>textData</a:t>
            </a:r>
            <a:r>
              <a:rPr lang="en-US" altLang="zh-CN" dirty="0"/>
              <a:t>[</a:t>
            </a:r>
            <a:r>
              <a:rPr lang="en-US" altLang="zh-CN" dirty="0" err="1"/>
              <a:t>xText</a:t>
            </a:r>
            <a:r>
              <a:rPr lang="en-US" altLang="zh-CN" dirty="0"/>
              <a:t>[3:1]];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// 32x16</a:t>
            </a:r>
            <a:r>
              <a:rPr lang="zh-CN" altLang="en-US" dirty="0"/>
              <a:t>点阵 </a:t>
            </a:r>
            <a:r>
              <a:rPr lang="en-US" altLang="zh-CN" dirty="0"/>
              <a:t>"Score:??"  </a:t>
            </a:r>
            <a:endParaRPr lang="en-US" altLang="zh-CN" dirty="0"/>
          </a:p>
          <a:p>
            <a:r>
              <a:rPr lang="en-US" altLang="zh-CN" dirty="0"/>
              <a:t>    assign </a:t>
            </a:r>
            <a:r>
              <a:rPr lang="en-US" altLang="zh-CN" dirty="0" err="1"/>
              <a:t>textOn</a:t>
            </a:r>
            <a:r>
              <a:rPr lang="en-US" altLang="zh-CN" dirty="0"/>
              <a:t> = ((</a:t>
            </a:r>
            <a:r>
              <a:rPr lang="en-US" altLang="zh-CN" dirty="0" err="1"/>
              <a:t>pix_x</a:t>
            </a:r>
            <a:r>
              <a:rPr lang="en-US" altLang="zh-CN" dirty="0"/>
              <a:t> &gt; H_SYNC_START+C2)       &amp;&amp;</a:t>
            </a:r>
            <a:endParaRPr lang="en-US" altLang="zh-CN" dirty="0"/>
          </a:p>
          <a:p>
            <a:r>
              <a:rPr lang="en-US" altLang="zh-CN" dirty="0"/>
              <a:t>                     (</a:t>
            </a:r>
            <a:r>
              <a:rPr lang="en-US" altLang="zh-CN" dirty="0" err="1"/>
              <a:t>pix_x</a:t>
            </a:r>
            <a:r>
              <a:rPr lang="en-US" altLang="zh-CN" dirty="0"/>
              <a:t> &lt; H_SYNC_START+C2+8*8*2) &amp;&amp; //8</a:t>
            </a:r>
            <a:r>
              <a:rPr lang="zh-CN" altLang="en-US" dirty="0"/>
              <a:t>字符*</a:t>
            </a:r>
            <a:r>
              <a:rPr lang="en-US" altLang="zh-CN" dirty="0"/>
              <a:t>8bits*2</a:t>
            </a:r>
            <a:endParaRPr lang="en-US" altLang="zh-CN" dirty="0"/>
          </a:p>
          <a:p>
            <a:r>
              <a:rPr lang="en-US" altLang="zh-CN" dirty="0"/>
              <a:t>                     (</a:t>
            </a:r>
            <a:r>
              <a:rPr lang="en-US" altLang="zh-CN" dirty="0" err="1"/>
              <a:t>pix_y</a:t>
            </a:r>
            <a:r>
              <a:rPr lang="en-US" altLang="zh-CN" dirty="0"/>
              <a:t> &gt; V_SYNC_START+R2)       &amp;&amp; </a:t>
            </a:r>
            <a:endParaRPr lang="en-US" altLang="zh-CN" dirty="0"/>
          </a:p>
          <a:p>
            <a:r>
              <a:rPr lang="en-US" altLang="zh-CN" dirty="0"/>
              <a:t>                     (</a:t>
            </a:r>
            <a:r>
              <a:rPr lang="en-US" altLang="zh-CN" dirty="0" err="1"/>
              <a:t>pix_y</a:t>
            </a:r>
            <a:r>
              <a:rPr lang="en-US" altLang="zh-CN" dirty="0"/>
              <a:t> &lt; V_SYNC_START+R2+16*2)) &amp;&amp; //16bits</a:t>
            </a:r>
            <a:r>
              <a:rPr lang="zh-CN" altLang="en-US" dirty="0"/>
              <a:t>高 * </a:t>
            </a:r>
            <a:r>
              <a:rPr lang="en-US" altLang="zh-CN" dirty="0"/>
              <a:t>2</a:t>
            </a:r>
            <a:endParaRPr lang="en-US" altLang="zh-CN" dirty="0"/>
          </a:p>
          <a:p>
            <a:r>
              <a:rPr lang="en-US" altLang="zh-CN" dirty="0"/>
              <a:t>                     </a:t>
            </a:r>
            <a:r>
              <a:rPr lang="en-US" altLang="zh-CN" dirty="0" err="1"/>
              <a:t>One_bit</a:t>
            </a:r>
            <a:r>
              <a:rPr lang="en-US" altLang="zh-CN" dirty="0"/>
              <a:t> ;  // </a:t>
            </a:r>
            <a:r>
              <a:rPr lang="zh-CN" altLang="en-US" dirty="0"/>
              <a:t>像素</a:t>
            </a:r>
            <a:r>
              <a:rPr lang="en-US" altLang="zh-CN" dirty="0"/>
              <a:t>=1</a:t>
            </a:r>
            <a:r>
              <a:rPr lang="zh-CN" altLang="en-US" dirty="0"/>
              <a:t>？</a:t>
            </a:r>
            <a:endParaRPr lang="zh-CN" altLang="en-US" dirty="0"/>
          </a:p>
          <a:p>
            <a:r>
              <a:rPr lang="zh-CN" altLang="en-US" dirty="0"/>
              <a:t>                                    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 err="1"/>
              <a:t>always_comb</a:t>
            </a:r>
            <a:r>
              <a:rPr lang="en-US" altLang="zh-CN" dirty="0"/>
              <a:t>   // ===== </a:t>
            </a:r>
            <a:r>
              <a:rPr lang="en-US" altLang="zh-CN" dirty="0" err="1"/>
              <a:t>rgb</a:t>
            </a:r>
            <a:r>
              <a:rPr lang="en-US" altLang="zh-CN" dirty="0"/>
              <a:t> </a:t>
            </a:r>
            <a:r>
              <a:rPr lang="zh-CN" altLang="en-US" dirty="0"/>
              <a:t>输出 </a:t>
            </a:r>
            <a:r>
              <a:rPr lang="en-US" altLang="zh-CN" dirty="0"/>
              <a:t>======</a:t>
            </a:r>
            <a:endParaRPr lang="en-US" altLang="zh-CN" dirty="0"/>
          </a:p>
          <a:p>
            <a:r>
              <a:rPr lang="en-US" altLang="zh-CN" dirty="0"/>
              <a:t>        if (~</a:t>
            </a:r>
            <a:r>
              <a:rPr lang="en-US" altLang="zh-CN" dirty="0" err="1"/>
              <a:t>videoOn</a:t>
            </a:r>
            <a:r>
              <a:rPr lang="en-US" altLang="zh-CN" dirty="0"/>
              <a:t>) </a:t>
            </a:r>
            <a:endParaRPr lang="en-US" altLang="zh-CN" dirty="0"/>
          </a:p>
          <a:p>
            <a:r>
              <a:rPr lang="en-US" altLang="zh-CN" dirty="0"/>
              <a:t>        begin</a:t>
            </a:r>
            <a:endParaRPr lang="en-US" altLang="zh-CN" dirty="0"/>
          </a:p>
          <a:p>
            <a:r>
              <a:rPr lang="en-US" altLang="zh-CN" dirty="0"/>
              <a:t>            red   = 4'b0000; // blank</a:t>
            </a:r>
            <a:endParaRPr lang="en-US" altLang="zh-CN" dirty="0"/>
          </a:p>
          <a:p>
            <a:r>
              <a:rPr lang="en-US" altLang="zh-CN" dirty="0"/>
              <a:t>            green = 4'b0000; // blank</a:t>
            </a:r>
            <a:endParaRPr lang="en-US" altLang="zh-CN" dirty="0"/>
          </a:p>
          <a:p>
            <a:r>
              <a:rPr lang="en-US" altLang="zh-CN" dirty="0"/>
              <a:t>            blue  = 4'b0000; // blank</a:t>
            </a:r>
            <a:endParaRPr lang="en-US" altLang="zh-CN" dirty="0"/>
          </a:p>
          <a:p>
            <a:r>
              <a:rPr lang="en-US" altLang="zh-CN" dirty="0"/>
              <a:t>        end</a:t>
            </a:r>
            <a:endParaRPr lang="en-US" altLang="zh-CN" dirty="0"/>
          </a:p>
          <a:p>
            <a:r>
              <a:rPr lang="en-US" altLang="zh-CN" dirty="0"/>
              <a:t>        else if (</a:t>
            </a:r>
            <a:r>
              <a:rPr lang="en-US" altLang="zh-CN" dirty="0" err="1"/>
              <a:t>wallOn</a:t>
            </a:r>
            <a:r>
              <a:rPr lang="en-US" altLang="zh-CN" dirty="0"/>
              <a:t>)</a:t>
            </a:r>
            <a:endParaRPr lang="en-US" altLang="zh-CN" dirty="0"/>
          </a:p>
          <a:p>
            <a:r>
              <a:rPr lang="en-US" altLang="zh-CN" dirty="0"/>
              <a:t>        begin</a:t>
            </a:r>
            <a:endParaRPr lang="en-US" altLang="zh-CN" dirty="0"/>
          </a:p>
          <a:p>
            <a:r>
              <a:rPr lang="en-US" altLang="zh-CN" dirty="0"/>
              <a:t>            red   = </a:t>
            </a:r>
            <a:r>
              <a:rPr lang="en-US" altLang="zh-CN" dirty="0" err="1"/>
              <a:t>wall_r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        green = </a:t>
            </a:r>
            <a:r>
              <a:rPr lang="en-US" altLang="zh-CN" dirty="0" err="1"/>
              <a:t>wall_g</a:t>
            </a:r>
            <a:r>
              <a:rPr lang="en-US" altLang="zh-CN" dirty="0"/>
              <a:t>; </a:t>
            </a:r>
            <a:endParaRPr lang="en-US" altLang="zh-CN" dirty="0"/>
          </a:p>
          <a:p>
            <a:r>
              <a:rPr lang="en-US" altLang="zh-CN" dirty="0"/>
              <a:t>            blue  = </a:t>
            </a:r>
            <a:r>
              <a:rPr lang="en-US" altLang="zh-CN" dirty="0" err="1"/>
              <a:t>wall_b</a:t>
            </a:r>
            <a:r>
              <a:rPr lang="en-US" altLang="zh-CN" dirty="0"/>
              <a:t>; </a:t>
            </a:r>
            <a:endParaRPr lang="en-US" altLang="zh-CN" dirty="0"/>
          </a:p>
          <a:p>
            <a:r>
              <a:rPr lang="en-US" altLang="zh-CN" dirty="0"/>
              <a:t>        end</a:t>
            </a:r>
            <a:endParaRPr lang="en-US" altLang="zh-CN" dirty="0"/>
          </a:p>
          <a:p>
            <a:r>
              <a:rPr lang="en-US" altLang="zh-CN" dirty="0"/>
              <a:t>        else if (</a:t>
            </a:r>
            <a:r>
              <a:rPr lang="en-US" altLang="zh-CN" dirty="0" err="1"/>
              <a:t>ballOn</a:t>
            </a:r>
            <a:r>
              <a:rPr lang="en-US" altLang="zh-CN" dirty="0"/>
              <a:t>)</a:t>
            </a:r>
            <a:endParaRPr lang="en-US" altLang="zh-CN" dirty="0"/>
          </a:p>
          <a:p>
            <a:r>
              <a:rPr lang="en-US" altLang="zh-CN" dirty="0"/>
              <a:t>        begin</a:t>
            </a:r>
            <a:endParaRPr lang="en-US" altLang="zh-CN" dirty="0"/>
          </a:p>
          <a:p>
            <a:r>
              <a:rPr lang="en-US" altLang="zh-CN" dirty="0"/>
              <a:t>            red   = </a:t>
            </a:r>
            <a:r>
              <a:rPr lang="en-US" altLang="zh-CN" dirty="0" err="1"/>
              <a:t>ball_r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        green = </a:t>
            </a:r>
            <a:r>
              <a:rPr lang="en-US" altLang="zh-CN" dirty="0" err="1"/>
              <a:t>ball_g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        blue  = </a:t>
            </a:r>
            <a:r>
              <a:rPr lang="en-US" altLang="zh-CN" dirty="0" err="1"/>
              <a:t>ball_b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    end</a:t>
            </a:r>
            <a:endParaRPr lang="en-US" altLang="zh-CN" dirty="0"/>
          </a:p>
          <a:p>
            <a:r>
              <a:rPr lang="en-US" altLang="zh-CN" dirty="0"/>
              <a:t>        else if (</a:t>
            </a:r>
            <a:r>
              <a:rPr lang="en-US" altLang="zh-CN" dirty="0" err="1"/>
              <a:t>barOn</a:t>
            </a:r>
            <a:r>
              <a:rPr lang="en-US" altLang="zh-CN" dirty="0"/>
              <a:t>)</a:t>
            </a:r>
            <a:endParaRPr lang="en-US" altLang="zh-CN" dirty="0"/>
          </a:p>
          <a:p>
            <a:r>
              <a:rPr lang="en-US" altLang="zh-CN" dirty="0"/>
              <a:t>        begin</a:t>
            </a:r>
            <a:endParaRPr lang="en-US" altLang="zh-CN" dirty="0"/>
          </a:p>
          <a:p>
            <a:r>
              <a:rPr lang="en-US" altLang="zh-CN" dirty="0"/>
              <a:t>            red   = </a:t>
            </a:r>
            <a:r>
              <a:rPr lang="en-US" altLang="zh-CN" dirty="0" err="1"/>
              <a:t>bar_r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        green = </a:t>
            </a:r>
            <a:r>
              <a:rPr lang="en-US" altLang="zh-CN" dirty="0" err="1"/>
              <a:t>bar_g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        blue  = </a:t>
            </a:r>
            <a:r>
              <a:rPr lang="en-US" altLang="zh-CN" dirty="0" err="1"/>
              <a:t>bar_b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    end</a:t>
            </a:r>
            <a:endParaRPr lang="en-US" altLang="zh-CN" dirty="0"/>
          </a:p>
          <a:p>
            <a:r>
              <a:rPr lang="en-US" altLang="zh-CN" dirty="0"/>
              <a:t>        else if (</a:t>
            </a:r>
            <a:r>
              <a:rPr lang="en-US" altLang="zh-CN" dirty="0" err="1"/>
              <a:t>picOn</a:t>
            </a:r>
            <a:r>
              <a:rPr lang="en-US" altLang="zh-CN" dirty="0"/>
              <a:t>)</a:t>
            </a:r>
            <a:endParaRPr lang="en-US" altLang="zh-CN" dirty="0"/>
          </a:p>
          <a:p>
            <a:r>
              <a:rPr lang="en-US" altLang="zh-CN" dirty="0"/>
              <a:t>        begin</a:t>
            </a:r>
            <a:endParaRPr lang="en-US" altLang="zh-CN" dirty="0"/>
          </a:p>
          <a:p>
            <a:r>
              <a:rPr lang="en-US" altLang="zh-CN" dirty="0"/>
              <a:t>            red   = </a:t>
            </a:r>
            <a:r>
              <a:rPr lang="en-US" altLang="zh-CN" dirty="0" err="1"/>
              <a:t>pic_r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        green = </a:t>
            </a:r>
            <a:r>
              <a:rPr lang="en-US" altLang="zh-CN" dirty="0" err="1"/>
              <a:t>pic_g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        blue  = </a:t>
            </a:r>
            <a:r>
              <a:rPr lang="en-US" altLang="zh-CN" dirty="0" err="1"/>
              <a:t>pic_b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    end</a:t>
            </a:r>
            <a:endParaRPr lang="en-US" altLang="zh-CN" dirty="0"/>
          </a:p>
          <a:p>
            <a:r>
              <a:rPr lang="en-US" altLang="zh-CN" dirty="0"/>
              <a:t>        else if (</a:t>
            </a:r>
            <a:r>
              <a:rPr lang="en-US" altLang="zh-CN" dirty="0" err="1"/>
              <a:t>textOn</a:t>
            </a:r>
            <a:r>
              <a:rPr lang="en-US" altLang="zh-CN" dirty="0"/>
              <a:t>) </a:t>
            </a:r>
            <a:endParaRPr lang="en-US" altLang="zh-CN" dirty="0"/>
          </a:p>
          <a:p>
            <a:r>
              <a:rPr lang="en-US" altLang="zh-CN" dirty="0"/>
              <a:t>        begin  // black</a:t>
            </a:r>
            <a:endParaRPr lang="en-US" altLang="zh-CN" dirty="0"/>
          </a:p>
          <a:p>
            <a:r>
              <a:rPr lang="en-US" altLang="zh-CN" dirty="0"/>
              <a:t>            red   = 4'b0000;</a:t>
            </a:r>
            <a:endParaRPr lang="en-US" altLang="zh-CN" dirty="0"/>
          </a:p>
          <a:p>
            <a:r>
              <a:rPr lang="en-US" altLang="zh-CN" dirty="0"/>
              <a:t>            green = 4'b0000; </a:t>
            </a:r>
            <a:endParaRPr lang="en-US" altLang="zh-CN" dirty="0"/>
          </a:p>
          <a:p>
            <a:r>
              <a:rPr lang="en-US" altLang="zh-CN" dirty="0"/>
              <a:t>            blue  = 4'b0000;</a:t>
            </a:r>
            <a:endParaRPr lang="en-US" altLang="zh-CN" dirty="0"/>
          </a:p>
          <a:p>
            <a:r>
              <a:rPr lang="en-US" altLang="zh-CN" dirty="0"/>
              <a:t>        end </a:t>
            </a:r>
            <a:endParaRPr lang="en-US" altLang="zh-CN" dirty="0"/>
          </a:p>
          <a:p>
            <a:r>
              <a:rPr lang="en-US" altLang="zh-CN" dirty="0"/>
              <a:t>        else</a:t>
            </a:r>
            <a:endParaRPr lang="en-US" altLang="zh-CN" dirty="0"/>
          </a:p>
          <a:p>
            <a:r>
              <a:rPr lang="en-US" altLang="zh-CN" dirty="0"/>
              <a:t>        begin // gray background</a:t>
            </a:r>
            <a:endParaRPr lang="en-US" altLang="zh-CN" dirty="0"/>
          </a:p>
          <a:p>
            <a:r>
              <a:rPr lang="en-US" altLang="zh-CN" dirty="0"/>
              <a:t>            red   = 4'b1110; </a:t>
            </a:r>
            <a:endParaRPr lang="en-US" altLang="zh-CN" dirty="0"/>
          </a:p>
          <a:p>
            <a:r>
              <a:rPr lang="en-US" altLang="zh-CN" dirty="0"/>
              <a:t>            green = 4'b1110; </a:t>
            </a:r>
            <a:endParaRPr lang="en-US" altLang="zh-CN" dirty="0"/>
          </a:p>
          <a:p>
            <a:r>
              <a:rPr lang="en-US" altLang="zh-CN" dirty="0"/>
              <a:t>            blue  = 4'b1110; </a:t>
            </a:r>
            <a:endParaRPr lang="en-US" altLang="zh-CN" dirty="0"/>
          </a:p>
          <a:p>
            <a:r>
              <a:rPr lang="en-US" altLang="zh-CN" dirty="0"/>
              <a:t>        end</a:t>
            </a:r>
            <a:endParaRPr lang="en-US" altLang="zh-CN" dirty="0"/>
          </a:p>
          <a:p>
            <a:r>
              <a:rPr lang="en-US" altLang="zh-CN" dirty="0" err="1"/>
              <a:t>endmodule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907001-0931-41E4-8BBA-EA573262DE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hyperlink" Target="mailto:xgsun@fudan.edu.cn" TargetMode="External"/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pic>
        <p:nvPicPr>
          <p:cNvPr id="7" name="Picture 2" descr="https://timgsa.baidu.com/timg?image&amp;quality=80&amp;size=b9999_10000&amp;sec=1486706539526&amp;di=79ff7f14d79ab459b5a7e54209358ed7&amp;imgtype=0&amp;src=http%3A%2F%2Fb.hiphotos.baidu.com%2Fbaike%2Fs%3D220%2Fsign%3Db8f5950d0afa513d55aa6bdc0d6c554c%2F3b87e950352ac65c394266a2f9f2b21192138a9f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44" y="6047439"/>
            <a:ext cx="756000" cy="759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https://timgsa.baidu.com/timg?image&amp;quality=80&amp;size=b9999_10000&amp;sec=1486706601692&amp;di=6c9e3e11002e1601c2fcdf5329b5c70b&amp;imgtype=0&amp;src=http%3A%2F%2Fawb.img.xmtbang.com%2Fimg%2Fuploadnew%2F201510%2F23%2F760f1307425d46578fb2912eb3957857.jpg"/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3" t="6626" r="5043" b="2772"/>
          <a:stretch>
            <a:fillRect/>
          </a:stretch>
        </p:blipFill>
        <p:spPr bwMode="auto">
          <a:xfrm>
            <a:off x="11176447" y="5987212"/>
            <a:ext cx="816309" cy="81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/>
          <p:cNvSpPr txBox="1"/>
          <p:nvPr userDrawn="1"/>
        </p:nvSpPr>
        <p:spPr>
          <a:xfrm>
            <a:off x="1954074" y="6194617"/>
            <a:ext cx="2206992" cy="395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xgsun@fudan.edu.cn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2" descr="C:\Users\Sam2013\Desktop\孙晓光.pn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896" y="6155585"/>
            <a:ext cx="1872208" cy="543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00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anchor="ctr">
            <a:normAutofit/>
          </a:bodyPr>
          <a:lstStyle>
            <a:lvl1pPr algn="ctr">
              <a:defRPr sz="4000" spc="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026194" y="6356350"/>
            <a:ext cx="2703930" cy="365125"/>
          </a:xfrm>
        </p:spPr>
        <p:txBody>
          <a:bodyPr/>
          <a:lstStyle/>
          <a:p>
            <a:fld id="{E7DDE380-77F7-451E-A544-3E1BC4DAB44F}" type="slidenum">
              <a:rPr lang="zh-CN" altLang="en-US" sz="1400" b="1" smtClean="0"/>
            </a:fld>
            <a:r>
              <a:rPr lang="zh-CN" altLang="en-US" dirty="0"/>
              <a:t> </a:t>
            </a:r>
            <a:r>
              <a:rPr lang="en-US" altLang="zh-CN" dirty="0"/>
              <a:t>/ 30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33433"/>
            <a:ext cx="12192000" cy="900000"/>
          </a:xfrm>
          <a:noFill/>
        </p:spPr>
        <p:txBody>
          <a:bodyPr anchor="ctr">
            <a:normAutofit/>
          </a:bodyPr>
          <a:lstStyle>
            <a:lvl1pPr algn="ctr">
              <a:defRPr sz="4000" spc="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113915" cy="365125"/>
          </a:xfrm>
        </p:spPr>
        <p:txBody>
          <a:bodyPr/>
          <a:lstStyle/>
          <a:p>
            <a:fld id="{E7DDE380-77F7-451E-A544-3E1BC4DAB44F}" type="slidenum">
              <a:rPr lang="zh-CN" altLang="en-US" sz="1400" b="1" smtClean="0"/>
            </a:fld>
            <a:r>
              <a:rPr lang="zh-CN" altLang="en-US" dirty="0"/>
              <a:t> </a:t>
            </a:r>
            <a:r>
              <a:rPr lang="en-US" altLang="zh-CN" dirty="0"/>
              <a:t>/ 63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DDE380-77F7-451E-A544-3E1BC4DAB44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hdphoto" Target="../media/image7.wdp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5.png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3.png"/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image" Target="../media/image54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image" Target="../media/image59.jpe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image" Target="../media/image61.png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image" Target="../media/image64.png"/></Relationships>
</file>

<file path=ppt/slides/_rels/slide2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image" Target="../media/image70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7.png"/><Relationship Id="rId2" Type="http://schemas.openxmlformats.org/officeDocument/2006/relationships/image" Target="../media/image76.jpeg"/><Relationship Id="rId1" Type="http://schemas.openxmlformats.org/officeDocument/2006/relationships/image" Target="../media/image75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Relationship Id="rId3" Type="http://schemas.openxmlformats.org/officeDocument/2006/relationships/image" Target="../media/image72.png"/><Relationship Id="rId2" Type="http://schemas.openxmlformats.org/officeDocument/2006/relationships/image" Target="../media/image79.png"/><Relationship Id="rId1" Type="http://schemas.openxmlformats.org/officeDocument/2006/relationships/image" Target="../media/image7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jpeg"/><Relationship Id="rId1" Type="http://schemas.openxmlformats.org/officeDocument/2006/relationships/image" Target="../media/image5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/>
          <p:nvPr/>
        </p:nvSpPr>
        <p:spPr>
          <a:xfrm>
            <a:off x="0" y="64855"/>
            <a:ext cx="12192000" cy="13071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zh-CN" altLang="en-US" spc="600" dirty="0">
                <a:ea typeface="微软雅黑" panose="020B0503020204020204" pitchFamily="34" charset="-122"/>
              </a:rPr>
              <a:t>基于</a:t>
            </a: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FPG</a:t>
            </a:r>
            <a:r>
              <a:rPr lang="en-US" altLang="zh-CN" b="1" spc="6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  <a:r>
              <a:rPr lang="zh-CN" altLang="en-US" spc="600" dirty="0">
                <a:ea typeface="微软雅黑" panose="020B0503020204020204" pitchFamily="34" charset="-122"/>
              </a:rPr>
              <a:t>原型的游戏设计</a:t>
            </a:r>
            <a:endParaRPr lang="zh-CN" altLang="en-US" sz="5400" b="1" spc="600" dirty="0">
              <a:solidFill>
                <a:srgbClr val="FF0000"/>
              </a:solidFill>
              <a:latin typeface="7-Segment" pitchFamily="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564356" y="6242496"/>
            <a:ext cx="12593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2023-12-10</a:t>
            </a:r>
            <a:endParaRPr lang="zh-CN" altLang="en-US" dirty="0"/>
          </a:p>
        </p:txBody>
      </p:sp>
      <p:pic>
        <p:nvPicPr>
          <p:cNvPr id="6" name="pingpong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897662" y="1464161"/>
            <a:ext cx="8217759" cy="462248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4"/>
          <a:srcRect l="34114" t="20911" r="37292" b="35880"/>
          <a:stretch>
            <a:fillRect/>
          </a:stretch>
        </p:blipFill>
        <p:spPr>
          <a:xfrm>
            <a:off x="10967324" y="394232"/>
            <a:ext cx="448987" cy="7665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84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12" repeatCount="indefinite" fill="remove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2187826"/>
            <a:ext cx="12192000" cy="31700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pPr algn="ctr"/>
            <a:r>
              <a:rPr lang="en-US" altLang="zh-CN" sz="20000" b="1" dirty="0">
                <a:solidFill>
                  <a:schemeClr val="accent1"/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Picture</a:t>
            </a:r>
            <a:endParaRPr lang="zh-CN" altLang="en-US" sz="20000" b="1" dirty="0">
              <a:solidFill>
                <a:schemeClr val="accent1"/>
              </a:solidFill>
              <a:effectLst>
                <a:outerShdw blurRad="60007" dist="200025" dir="15000000" sy="30000" kx="-1800000" algn="bl" rotWithShape="0">
                  <a:prstClr val="black">
                    <a:alpha val="32000"/>
                  </a:prstClr>
                </a:outerShdw>
              </a:effectLst>
              <a:latin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675264" y="314151"/>
            <a:ext cx="575799" cy="132343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altLang="zh-CN" sz="8000" dirty="0"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rPr>
              <a:t>1</a:t>
            </a:r>
            <a:endParaRPr lang="zh-CN" altLang="en-US" sz="8000" dirty="0">
              <a:solidFill>
                <a:schemeClr val="accent5">
                  <a:lumMod val="40000"/>
                  <a:lumOff val="60000"/>
                </a:schemeClr>
              </a:solidFill>
              <a:effectLst>
                <a:glow rad="101600">
                  <a:schemeClr val="accent2">
                    <a:satMod val="175000"/>
                    <a:alpha val="4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Impact" panose="020B080603090205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819462" y="6031025"/>
            <a:ext cx="2287402" cy="577751"/>
          </a:xfrm>
          <a:prstGeom prst="flowChartMulti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1"/>
                </a:solidFill>
              </a:rPr>
              <a:t>ping-pong</a:t>
            </a:r>
            <a:endParaRPr lang="zh-CN" altLang="en-US" sz="2400" b="1" dirty="0">
              <a:solidFill>
                <a:schemeClr val="accent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DE380-77F7-451E-A544-3E1BC4DAB44F}" type="slidenum">
              <a:rPr lang="zh-CN" altLang="en-US" sz="1400" b="1" smtClean="0"/>
            </a:fld>
            <a:r>
              <a:rPr lang="zh-CN" altLang="en-US"/>
              <a:t> </a:t>
            </a:r>
            <a:r>
              <a:rPr lang="en-US" altLang="zh-CN"/>
              <a:t>/ 63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箭头连接符 8"/>
          <p:cNvCxnSpPr/>
          <p:nvPr/>
        </p:nvCxnSpPr>
        <p:spPr>
          <a:xfrm flipV="1">
            <a:off x="929318" y="6461164"/>
            <a:ext cx="8267928" cy="1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4445175" y="6291887"/>
            <a:ext cx="916968" cy="338554"/>
          </a:xfrm>
          <a:prstGeom prst="rect">
            <a:avLst/>
          </a:prstGeom>
          <a:solidFill>
            <a:srgbClr val="FFFFFF"/>
          </a:solidFill>
        </p:spPr>
        <p:txBody>
          <a:bodyPr wrap="none" lIns="54000" rIns="54000" rtlCol="0">
            <a:spAutoFit/>
          </a:bodyPr>
          <a:lstStyle/>
          <a:p>
            <a:r>
              <a:rPr lang="en-US" altLang="zh-CN" sz="1600" b="1" dirty="0"/>
              <a:t>800</a:t>
            </a:r>
            <a:r>
              <a:rPr lang="en-US" altLang="zh-CN" sz="1600" dirty="0"/>
              <a:t> </a:t>
            </a:r>
            <a:r>
              <a:rPr lang="zh-CN" altLang="en-US" sz="1600" dirty="0"/>
              <a:t>像素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显示 </a:t>
            </a:r>
            <a:r>
              <a:rPr lang="en-US" altLang="zh-CN" b="1" spc="0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sprite</a:t>
            </a:r>
            <a:r>
              <a:rPr lang="en-US" altLang="zh-CN" b="1" spc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dirty="0"/>
              <a:t>原理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929318" y="1357909"/>
            <a:ext cx="8270605" cy="35575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Vertical Sync  </a:t>
            </a:r>
            <a:r>
              <a:rPr lang="zh-CN" altLang="en-US" b="1" dirty="0">
                <a:solidFill>
                  <a:schemeClr val="tx1"/>
                </a:solidFill>
              </a:rPr>
              <a:t>场同步信号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931996" y="1711084"/>
            <a:ext cx="1808213" cy="44837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b="1" dirty="0">
                <a:solidFill>
                  <a:schemeClr val="tx1"/>
                </a:solidFill>
              </a:rPr>
              <a:t>H-Sync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tx1"/>
                </a:solidFill>
              </a:rPr>
              <a:t>行同步信号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2740208" y="5716368"/>
            <a:ext cx="6459715" cy="47851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场显示前沿 </a:t>
            </a:r>
            <a:r>
              <a:rPr lang="en-US" altLang="zh-CN" b="1" dirty="0">
                <a:solidFill>
                  <a:schemeClr val="tx1"/>
                </a:solidFill>
              </a:rPr>
              <a:t>Vertical Blank (Bottom)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2740208" y="1711508"/>
            <a:ext cx="6459716" cy="14773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场显示后沿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zh-CN" b="1" dirty="0">
                <a:solidFill>
                  <a:schemeClr val="tx1"/>
                </a:solidFill>
              </a:rPr>
              <a:t>Vertical Blank (Top)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V="1">
            <a:off x="929318" y="5460060"/>
            <a:ext cx="1767342" cy="1"/>
          </a:xfrm>
          <a:prstGeom prst="straightConnector1">
            <a:avLst/>
          </a:prstGeom>
          <a:ln w="12700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489346" y="5275394"/>
            <a:ext cx="790331" cy="338554"/>
          </a:xfrm>
          <a:prstGeom prst="rect">
            <a:avLst/>
          </a:prstGeom>
          <a:solidFill>
            <a:srgbClr val="E2F0D9"/>
          </a:solidFill>
        </p:spPr>
        <p:txBody>
          <a:bodyPr wrap="none" lIns="54000" rIns="54000" rtlCol="0">
            <a:spAutoFit/>
          </a:bodyPr>
          <a:lstStyle/>
          <a:p>
            <a:r>
              <a:rPr lang="en-US" altLang="zh-CN" sz="1600" dirty="0"/>
              <a:t>96 </a:t>
            </a:r>
            <a:r>
              <a:rPr lang="zh-CN" altLang="en-US" sz="1600" dirty="0"/>
              <a:t>像素</a:t>
            </a:r>
            <a:endParaRPr lang="zh-CN" altLang="en-US" dirty="0"/>
          </a:p>
        </p:txBody>
      </p:sp>
      <p:cxnSp>
        <p:nvCxnSpPr>
          <p:cNvPr id="10" name="直接箭头连接符 9"/>
          <p:cNvCxnSpPr/>
          <p:nvPr/>
        </p:nvCxnSpPr>
        <p:spPr>
          <a:xfrm>
            <a:off x="10529209" y="1387880"/>
            <a:ext cx="0" cy="4807002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10173181" y="3776395"/>
            <a:ext cx="711784" cy="338554"/>
          </a:xfrm>
          <a:prstGeom prst="rect">
            <a:avLst/>
          </a:prstGeom>
          <a:solidFill>
            <a:srgbClr val="FFFFFF"/>
          </a:solidFill>
        </p:spPr>
        <p:txBody>
          <a:bodyPr wrap="none" lIns="54000" rIns="54000" rtlCol="0">
            <a:spAutoFit/>
          </a:bodyPr>
          <a:lstStyle/>
          <a:p>
            <a:r>
              <a:rPr lang="en-US" altLang="zh-CN" sz="1600" b="1" dirty="0"/>
              <a:t>521</a:t>
            </a:r>
            <a:r>
              <a:rPr lang="en-US" altLang="zh-CN" sz="1600" dirty="0"/>
              <a:t> </a:t>
            </a:r>
            <a:r>
              <a:rPr lang="zh-CN" altLang="en-US" sz="1600" dirty="0"/>
              <a:t>行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9490218" y="1360065"/>
            <a:ext cx="5533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600" dirty="0"/>
              <a:t>2 </a:t>
            </a:r>
            <a:r>
              <a:rPr lang="zh-CN" altLang="en-US" sz="1600" dirty="0"/>
              <a:t>行</a:t>
            </a:r>
            <a:endParaRPr lang="zh-CN" altLang="en-US" sz="1600" dirty="0"/>
          </a:p>
        </p:txBody>
      </p:sp>
      <p:sp>
        <p:nvSpPr>
          <p:cNvPr id="13" name="文本框 12"/>
          <p:cNvSpPr txBox="1"/>
          <p:nvPr/>
        </p:nvSpPr>
        <p:spPr>
          <a:xfrm>
            <a:off x="9382817" y="2280882"/>
            <a:ext cx="6607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600" dirty="0"/>
              <a:t>29 </a:t>
            </a:r>
            <a:r>
              <a:rPr lang="zh-CN" altLang="en-US" sz="1600" dirty="0"/>
              <a:t>行</a:t>
            </a:r>
            <a:endParaRPr lang="zh-CN" altLang="en-US" sz="1600" dirty="0"/>
          </a:p>
        </p:txBody>
      </p:sp>
      <p:sp>
        <p:nvSpPr>
          <p:cNvPr id="14" name="文本框 13"/>
          <p:cNvSpPr txBox="1"/>
          <p:nvPr/>
        </p:nvSpPr>
        <p:spPr>
          <a:xfrm>
            <a:off x="9275416" y="4194859"/>
            <a:ext cx="7681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600" dirty="0"/>
              <a:t>480 </a:t>
            </a:r>
            <a:r>
              <a:rPr lang="zh-CN" altLang="en-US" sz="1600" dirty="0"/>
              <a:t>行</a:t>
            </a:r>
            <a:endParaRPr lang="zh-CN" altLang="en-US" sz="1600" dirty="0"/>
          </a:p>
        </p:txBody>
      </p:sp>
      <p:sp>
        <p:nvSpPr>
          <p:cNvPr id="15" name="文本框 14"/>
          <p:cNvSpPr txBox="1"/>
          <p:nvPr/>
        </p:nvSpPr>
        <p:spPr>
          <a:xfrm>
            <a:off x="9382817" y="5786348"/>
            <a:ext cx="6607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600" dirty="0"/>
              <a:t>10 </a:t>
            </a:r>
            <a:r>
              <a:rPr lang="zh-CN" altLang="en-US" sz="1600" dirty="0"/>
              <a:t>行</a:t>
            </a:r>
            <a:endParaRPr lang="zh-CN" altLang="en-US" sz="1600" dirty="0"/>
          </a:p>
        </p:txBody>
      </p:sp>
      <p:cxnSp>
        <p:nvCxnSpPr>
          <p:cNvPr id="16" name="直接连接符 15"/>
          <p:cNvCxnSpPr/>
          <p:nvPr/>
        </p:nvCxnSpPr>
        <p:spPr>
          <a:xfrm flipH="1">
            <a:off x="929318" y="1711085"/>
            <a:ext cx="826591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2737530" y="3192591"/>
            <a:ext cx="1158366" cy="2519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行显示</a:t>
            </a:r>
            <a:endParaRPr lang="en-US" altLang="zh-CN" dirty="0">
              <a:solidFill>
                <a:schemeClr val="tx1"/>
              </a:solidFill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</a:rPr>
              <a:t>后沿</a:t>
            </a:r>
            <a:endParaRPr lang="en-US" altLang="zh-CN" dirty="0">
              <a:solidFill>
                <a:schemeClr val="tx1"/>
              </a:solidFill>
            </a:endParaRPr>
          </a:p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Horizontal Back Porch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18" name="直接箭头连接符 17"/>
          <p:cNvCxnSpPr/>
          <p:nvPr/>
        </p:nvCxnSpPr>
        <p:spPr>
          <a:xfrm>
            <a:off x="2740208" y="5465546"/>
            <a:ext cx="1155433" cy="10950"/>
          </a:xfrm>
          <a:prstGeom prst="straightConnector1">
            <a:avLst/>
          </a:prstGeom>
          <a:ln w="12700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2962607" y="5296269"/>
            <a:ext cx="734226" cy="338554"/>
          </a:xfrm>
          <a:prstGeom prst="rect">
            <a:avLst/>
          </a:prstGeom>
          <a:solidFill>
            <a:srgbClr val="D9D9D9"/>
          </a:solidFill>
        </p:spPr>
        <p:txBody>
          <a:bodyPr wrap="none" lIns="54000" rIns="54000" rtlCol="0">
            <a:spAutoFit/>
          </a:bodyPr>
          <a:lstStyle/>
          <a:p>
            <a:r>
              <a:rPr lang="en-US" altLang="zh-CN" sz="1600" dirty="0"/>
              <a:t>48</a:t>
            </a:r>
            <a:r>
              <a:rPr lang="zh-CN" altLang="en-US" sz="1600" dirty="0"/>
              <a:t>像素</a:t>
            </a:r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8215385" y="3188812"/>
            <a:ext cx="981861" cy="252755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行显示</a:t>
            </a:r>
            <a:br>
              <a:rPr lang="en-US" altLang="zh-CN" dirty="0">
                <a:solidFill>
                  <a:schemeClr val="tx1"/>
                </a:solidFill>
              </a:rPr>
            </a:br>
            <a:r>
              <a:rPr lang="zh-CN" altLang="en-US" dirty="0">
                <a:solidFill>
                  <a:schemeClr val="tx1"/>
                </a:solidFill>
              </a:rPr>
              <a:t>前沿</a:t>
            </a:r>
            <a:endParaRPr lang="en-US" altLang="zh-CN" dirty="0">
              <a:solidFill>
                <a:schemeClr val="tx1"/>
              </a:solidFill>
            </a:endParaRPr>
          </a:p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Horizontal Front Porch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21" name="直接箭头连接符 20"/>
          <p:cNvCxnSpPr/>
          <p:nvPr/>
        </p:nvCxnSpPr>
        <p:spPr>
          <a:xfrm flipV="1">
            <a:off x="8203120" y="5476496"/>
            <a:ext cx="994126" cy="0"/>
          </a:xfrm>
          <a:prstGeom prst="straightConnector1">
            <a:avLst/>
          </a:prstGeom>
          <a:ln w="12700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8376124" y="5297971"/>
            <a:ext cx="657282" cy="307777"/>
          </a:xfrm>
          <a:prstGeom prst="rect">
            <a:avLst/>
          </a:prstGeom>
          <a:solidFill>
            <a:srgbClr val="D9D9D9"/>
          </a:solidFill>
        </p:spPr>
        <p:txBody>
          <a:bodyPr wrap="none" lIns="54000" rIns="54000" rtlCol="0">
            <a:spAutoFit/>
          </a:bodyPr>
          <a:lstStyle/>
          <a:p>
            <a:r>
              <a:rPr lang="en-US" altLang="zh-CN" sz="1400" dirty="0"/>
              <a:t>16</a:t>
            </a:r>
            <a:r>
              <a:rPr lang="zh-CN" altLang="en-US" sz="1400" dirty="0"/>
              <a:t>像素</a:t>
            </a:r>
            <a:endParaRPr lang="zh-CN" altLang="en-US" sz="1600" dirty="0"/>
          </a:p>
        </p:txBody>
      </p:sp>
      <p:cxnSp>
        <p:nvCxnSpPr>
          <p:cNvPr id="27" name="直接连接符 26"/>
          <p:cNvCxnSpPr/>
          <p:nvPr/>
        </p:nvCxnSpPr>
        <p:spPr>
          <a:xfrm>
            <a:off x="2737530" y="1711084"/>
            <a:ext cx="0" cy="448379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>
          <a:xfrm>
            <a:off x="668006" y="1125817"/>
            <a:ext cx="10255518" cy="5595658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5308820" y="852444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二维小图像</a:t>
            </a:r>
            <a:endParaRPr lang="zh-CN" altLang="en-US" sz="2400" dirty="0"/>
          </a:p>
        </p:txBody>
      </p:sp>
      <p:sp>
        <p:nvSpPr>
          <p:cNvPr id="39" name="文本框 38"/>
          <p:cNvSpPr txBox="1"/>
          <p:nvPr/>
        </p:nvSpPr>
        <p:spPr>
          <a:xfrm>
            <a:off x="119208" y="249944"/>
            <a:ext cx="20545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spc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② Bit-mapped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3895641" y="3192591"/>
            <a:ext cx="4320000" cy="2520000"/>
            <a:chOff x="4361052" y="3154266"/>
            <a:chExt cx="4320000" cy="2520000"/>
          </a:xfrm>
        </p:grpSpPr>
        <p:cxnSp>
          <p:nvCxnSpPr>
            <p:cNvPr id="25" name="直接箭头连接符 24"/>
            <p:cNvCxnSpPr/>
            <p:nvPr/>
          </p:nvCxnSpPr>
          <p:spPr>
            <a:xfrm>
              <a:off x="4361052" y="5438171"/>
              <a:ext cx="4320000" cy="0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本框 25"/>
            <p:cNvSpPr txBox="1"/>
            <p:nvPr/>
          </p:nvSpPr>
          <p:spPr>
            <a:xfrm>
              <a:off x="5983885" y="5242555"/>
              <a:ext cx="1074333" cy="369332"/>
            </a:xfrm>
            <a:prstGeom prst="rect">
              <a:avLst/>
            </a:prstGeom>
            <a:solidFill>
              <a:srgbClr val="4472C4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640 </a:t>
              </a:r>
              <a:r>
                <a:rPr lang="zh-CN" altLang="en-US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像素</a:t>
              </a:r>
              <a:endParaRPr lang="zh-CN" altLang="en-US" dirty="0">
                <a:solidFill>
                  <a:schemeClr val="accent4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4404855" y="3154266"/>
              <a:ext cx="66556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solidFill>
                    <a:schemeClr val="accent4">
                      <a:lumMod val="40000"/>
                      <a:lumOff val="6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(0, 0)</a:t>
              </a:r>
              <a:endParaRPr lang="zh-CN" altLang="en-US" sz="1600" dirty="0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4361052" y="3154266"/>
              <a:ext cx="4320000" cy="2520000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>
                <a:lnSpc>
                  <a:spcPct val="150000"/>
                </a:lnSpc>
              </a:pPr>
              <a:r>
                <a:rPr lang="en-US" altLang="zh-CN" sz="24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640 x 480</a:t>
              </a:r>
              <a:endParaRPr lang="zh-CN" altLang="en-US" b="1" dirty="0">
                <a:solidFill>
                  <a:schemeClr val="accent4">
                    <a:lumMod val="60000"/>
                    <a:lumOff val="40000"/>
                  </a:schemeClr>
                </a:solidFill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3936766" y="3222231"/>
            <a:ext cx="3265377" cy="1549763"/>
            <a:chOff x="4402177" y="3183906"/>
            <a:chExt cx="3265377" cy="1549763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colorTemperature colorTemp="112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5868" y="3759854"/>
              <a:ext cx="2391686" cy="973815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" name="文本框 30"/>
            <p:cNvSpPr txBox="1"/>
            <p:nvPr/>
          </p:nvSpPr>
          <p:spPr>
            <a:xfrm>
              <a:off x="4402177" y="3432240"/>
              <a:ext cx="9605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solidFill>
                    <a:schemeClr val="accent2">
                      <a:lumMod val="40000"/>
                      <a:lumOff val="6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altLang="zh-CN" sz="1600" b="1" dirty="0">
                  <a:solidFill>
                    <a:schemeClr val="accent2">
                      <a:lumMod val="40000"/>
                      <a:lumOff val="6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C1, R1</a:t>
              </a:r>
              <a:r>
                <a:rPr lang="en-US" altLang="zh-CN" sz="1600" dirty="0">
                  <a:solidFill>
                    <a:schemeClr val="accent2">
                      <a:lumMod val="40000"/>
                      <a:lumOff val="6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zh-CN" altLang="en-US" sz="1600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2" name="直接箭头连接符 31"/>
            <p:cNvCxnSpPr/>
            <p:nvPr/>
          </p:nvCxnSpPr>
          <p:spPr>
            <a:xfrm>
              <a:off x="4402177" y="4518478"/>
              <a:ext cx="842546" cy="1"/>
            </a:xfrm>
            <a:prstGeom prst="straightConnector1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本框 32"/>
            <p:cNvSpPr txBox="1"/>
            <p:nvPr/>
          </p:nvSpPr>
          <p:spPr>
            <a:xfrm>
              <a:off x="4647041" y="4340982"/>
              <a:ext cx="343093" cy="338554"/>
            </a:xfrm>
            <a:prstGeom prst="rect">
              <a:avLst/>
            </a:prstGeom>
            <a:solidFill>
              <a:srgbClr val="4472C4"/>
            </a:solidFill>
          </p:spPr>
          <p:txBody>
            <a:bodyPr wrap="none" lIns="54000" rIns="54000" rtlCol="0">
              <a:spAutoFit/>
            </a:bodyPr>
            <a:lstStyle/>
            <a:p>
              <a:r>
                <a:rPr lang="en-US" altLang="zh-CN" sz="1600" dirty="0">
                  <a:solidFill>
                    <a:schemeClr val="accent2">
                      <a:lumMod val="40000"/>
                      <a:lumOff val="60000"/>
                    </a:schemeClr>
                  </a:solidFill>
                </a:rPr>
                <a:t>C1</a:t>
              </a:r>
              <a:endParaRPr lang="zh-CN" altLang="en-US" dirty="0">
                <a:solidFill>
                  <a:schemeClr val="accent2">
                    <a:lumMod val="40000"/>
                    <a:lumOff val="60000"/>
                  </a:schemeClr>
                </a:solidFill>
              </a:endParaRPr>
            </a:p>
          </p:txBody>
        </p:sp>
        <p:cxnSp>
          <p:nvCxnSpPr>
            <p:cNvPr id="35" name="直接箭头连接符 34"/>
            <p:cNvCxnSpPr/>
            <p:nvPr/>
          </p:nvCxnSpPr>
          <p:spPr>
            <a:xfrm rot="5400000">
              <a:off x="6325009" y="3471905"/>
              <a:ext cx="576000" cy="1"/>
            </a:xfrm>
            <a:prstGeom prst="straightConnector1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文本框 35"/>
            <p:cNvSpPr txBox="1"/>
            <p:nvPr/>
          </p:nvSpPr>
          <p:spPr>
            <a:xfrm>
              <a:off x="6445441" y="3326693"/>
              <a:ext cx="335079" cy="282573"/>
            </a:xfrm>
            <a:prstGeom prst="rect">
              <a:avLst/>
            </a:prstGeom>
            <a:solidFill>
              <a:srgbClr val="4472C4"/>
            </a:solidFill>
            <a:ln>
              <a:noFill/>
            </a:ln>
          </p:spPr>
          <p:txBody>
            <a:bodyPr wrap="none" lIns="54000" tIns="18000" rIns="54000" bIns="18000" rtlCol="0">
              <a:spAutoFit/>
            </a:bodyPr>
            <a:lstStyle/>
            <a:p>
              <a:r>
                <a:rPr lang="en-US" altLang="zh-CN" sz="1600" dirty="0">
                  <a:solidFill>
                    <a:schemeClr val="accent2">
                      <a:lumMod val="40000"/>
                      <a:lumOff val="60000"/>
                    </a:schemeClr>
                  </a:solidFill>
                </a:rPr>
                <a:t>R1</a:t>
              </a:r>
              <a:endParaRPr lang="zh-CN" altLang="en-US" dirty="0">
                <a:solidFill>
                  <a:schemeClr val="accent2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5236820" y="3723854"/>
              <a:ext cx="72000" cy="720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1" name="灯片编号占位符 4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DE380-77F7-451E-A544-3E1BC4DAB44F}" type="slidenum">
              <a:rPr lang="zh-CN" altLang="en-US" sz="1400" b="1" smtClean="0"/>
            </a:fld>
            <a:r>
              <a:rPr lang="zh-CN" altLang="en-US"/>
              <a:t> </a:t>
            </a:r>
            <a:r>
              <a:rPr lang="en-US" altLang="zh-CN"/>
              <a:t>/ 30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spc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zh-CN" b="1" spc="0" dirty="0">
                <a:latin typeface="Arial" panose="020B0604020202020204" pitchFamily="34" charset="0"/>
                <a:cs typeface="Arial" panose="020B0604020202020204" pitchFamily="34" charset="0"/>
              </a:rPr>
              <a:t>istributed Memory</a:t>
            </a:r>
            <a:endParaRPr lang="zh-CN" altLang="en-US" b="1" spc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538" y="1424209"/>
            <a:ext cx="5215160" cy="352402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316" y="5148876"/>
            <a:ext cx="1524000" cy="15240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9752214" y="273245"/>
            <a:ext cx="20747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spc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② Bit-mapped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946673" y="4432151"/>
            <a:ext cx="2156124" cy="54011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5560" y="43329"/>
            <a:ext cx="1845772" cy="1977222"/>
          </a:xfrm>
          <a:prstGeom prst="rect">
            <a:avLst/>
          </a:prstGeom>
        </p:spPr>
      </p:pic>
      <p:sp>
        <p:nvSpPr>
          <p:cNvPr id="17" name="箭头: 右 16"/>
          <p:cNvSpPr/>
          <p:nvPr/>
        </p:nvSpPr>
        <p:spPr>
          <a:xfrm rot="5400000">
            <a:off x="2765700" y="1877314"/>
            <a:ext cx="504883" cy="3345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2368446" y="1523102"/>
            <a:ext cx="9778201" cy="5149774"/>
            <a:chOff x="2368446" y="1523102"/>
            <a:chExt cx="9778201" cy="5149774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51743" y="1523102"/>
              <a:ext cx="5894904" cy="5149774"/>
            </a:xfrm>
            <a:prstGeom prst="rect">
              <a:avLst/>
            </a:prstGeom>
          </p:spPr>
        </p:pic>
        <p:sp>
          <p:nvSpPr>
            <p:cNvPr id="10" name="文本框 9"/>
            <p:cNvSpPr txBox="1"/>
            <p:nvPr/>
          </p:nvSpPr>
          <p:spPr>
            <a:xfrm>
              <a:off x="2368446" y="5340502"/>
              <a:ext cx="357181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/>
                <a:t>320</a:t>
              </a:r>
              <a:r>
                <a:rPr lang="en-US" altLang="zh-CN" sz="2000" dirty="0"/>
                <a:t>pixel * </a:t>
              </a:r>
              <a:r>
                <a:rPr lang="en-US" altLang="zh-CN" sz="2000" b="1" dirty="0"/>
                <a:t>320</a:t>
              </a:r>
              <a:r>
                <a:rPr lang="en-US" altLang="zh-CN" sz="2000" dirty="0"/>
                <a:t>pixel =</a:t>
              </a:r>
              <a:r>
                <a:rPr lang="en-US" altLang="zh-CN" sz="2400" b="1" dirty="0">
                  <a:solidFill>
                    <a:srgbClr val="FF0000"/>
                  </a:solidFill>
                </a:rPr>
                <a:t>102400</a:t>
              </a:r>
              <a:endParaRPr lang="zh-CN" altLang="en-US" sz="2000" b="1" dirty="0">
                <a:solidFill>
                  <a:srgbClr val="FF0000"/>
                </a:solidFill>
              </a:endParaRPr>
            </a:p>
          </p:txBody>
        </p:sp>
        <p:sp>
          <p:nvSpPr>
            <p:cNvPr id="11" name="矩形: 圆角 10"/>
            <p:cNvSpPr/>
            <p:nvPr/>
          </p:nvSpPr>
          <p:spPr>
            <a:xfrm>
              <a:off x="8291309" y="3674429"/>
              <a:ext cx="2883446" cy="594641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箭头连接符 12"/>
            <p:cNvCxnSpPr>
              <a:stCxn id="10" idx="3"/>
            </p:cNvCxnSpPr>
            <p:nvPr/>
          </p:nvCxnSpPr>
          <p:spPr>
            <a:xfrm flipV="1">
              <a:off x="5940258" y="3887602"/>
              <a:ext cx="3198132" cy="16837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/>
            <p:cNvSpPr txBox="1"/>
            <p:nvPr/>
          </p:nvSpPr>
          <p:spPr>
            <a:xfrm>
              <a:off x="9729448" y="4308766"/>
              <a:ext cx="182614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不够用！</a:t>
              </a:r>
              <a:endPara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箭头: 右 14"/>
            <p:cNvSpPr/>
            <p:nvPr/>
          </p:nvSpPr>
          <p:spPr>
            <a:xfrm>
              <a:off x="5835215" y="4661757"/>
              <a:ext cx="504883" cy="334534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4509965" y="6118064"/>
              <a:ext cx="348355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</a:rPr>
                <a:t>102400 </a:t>
              </a:r>
              <a:r>
                <a:rPr lang="en-US" altLang="zh-CN" sz="2000" b="1" dirty="0"/>
                <a:t>* 12 = 1,228,800</a:t>
              </a:r>
              <a:r>
                <a:rPr lang="zh-CN" altLang="en-US" sz="2000" b="1" dirty="0"/>
                <a:t> </a:t>
              </a:r>
              <a:r>
                <a:rPr lang="en-US" altLang="zh-CN" sz="2000" b="1" dirty="0"/>
                <a:t>bit</a:t>
              </a:r>
              <a:endParaRPr lang="zh-CN" altLang="en-US" sz="2000" dirty="0"/>
            </a:p>
          </p:txBody>
        </p:sp>
        <p:sp>
          <p:nvSpPr>
            <p:cNvPr id="19" name="矩形 18"/>
            <p:cNvSpPr/>
            <p:nvPr/>
          </p:nvSpPr>
          <p:spPr>
            <a:xfrm>
              <a:off x="6291785" y="1822764"/>
              <a:ext cx="2449649" cy="497263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DE380-77F7-451E-A544-3E1BC4DAB44F}" type="slidenum">
              <a:rPr lang="zh-CN" altLang="en-US" sz="1400" b="1" smtClean="0"/>
            </a:fld>
            <a:r>
              <a:rPr lang="zh-CN" altLang="en-US"/>
              <a:t> </a:t>
            </a:r>
            <a:r>
              <a:rPr lang="en-US" altLang="zh-CN"/>
              <a:t>/ 30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B</a:t>
            </a:r>
            <a:r>
              <a:rPr lang="en-US" altLang="zh-CN" dirty="0"/>
              <a:t>RAM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58" y="1010214"/>
            <a:ext cx="5779741" cy="437521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72041" y="5733804"/>
            <a:ext cx="44967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Logical structure of an FPGA.</a:t>
            </a:r>
            <a:endParaRPr lang="zh-CN" altLang="en-US" sz="2400" i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3288" y="899999"/>
            <a:ext cx="2687047" cy="2091622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3474" y="2414123"/>
            <a:ext cx="6509255" cy="4376558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7289662" y="4753867"/>
            <a:ext cx="4826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accent1"/>
                </a:solidFill>
              </a:rPr>
              <a:t>4,860 Kbits </a:t>
            </a:r>
            <a:r>
              <a:rPr lang="en-US" altLang="zh-CN" sz="2400" b="1" dirty="0"/>
              <a:t>of fast </a:t>
            </a:r>
            <a:r>
              <a:rPr lang="en-US" altLang="zh-CN" sz="2400" b="1" dirty="0">
                <a:solidFill>
                  <a:schemeClr val="accent1"/>
                </a:solidFill>
              </a:rPr>
              <a:t>block RAM</a:t>
            </a:r>
            <a:endParaRPr lang="zh-CN" altLang="en-US" sz="2400" b="1" dirty="0">
              <a:solidFill>
                <a:schemeClr val="accent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9208" y="249944"/>
            <a:ext cx="20928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spc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② Bit-mapped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5895190" y="6195469"/>
            <a:ext cx="2703929" cy="59521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DE380-77F7-451E-A544-3E1BC4DAB44F}" type="slidenum">
              <a:rPr lang="zh-CN" altLang="en-US" sz="1400" b="1" smtClean="0"/>
            </a:fld>
            <a:r>
              <a:rPr lang="zh-CN" altLang="en-US"/>
              <a:t> </a:t>
            </a:r>
            <a:r>
              <a:rPr lang="en-US" altLang="zh-CN"/>
              <a:t>/ 30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复旦图标</a:t>
            </a:r>
            <a:r>
              <a:rPr lang="en-US" altLang="zh-CN" spc="0" dirty="0">
                <a:solidFill>
                  <a:srgbClr val="FF0000"/>
                </a:solidFill>
              </a:rPr>
              <a:t>B</a:t>
            </a:r>
            <a:r>
              <a:rPr lang="en-US" altLang="zh-CN" spc="0" dirty="0"/>
              <a:t>RAM</a:t>
            </a:r>
            <a:r>
              <a:rPr lang="zh-CN" altLang="en-US" dirty="0"/>
              <a:t>生成</a:t>
            </a:r>
            <a:r>
              <a:rPr lang="en-US" altLang="zh-CN" dirty="0"/>
              <a:t>-1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08" y="919879"/>
            <a:ext cx="6054123" cy="5071404"/>
          </a:xfrm>
          <a:prstGeom prst="rect">
            <a:avLst/>
          </a:prstGeom>
        </p:spPr>
      </p:pic>
      <p:sp>
        <p:nvSpPr>
          <p:cNvPr id="5" name="矩形: 圆角 4"/>
          <p:cNvSpPr/>
          <p:nvPr/>
        </p:nvSpPr>
        <p:spPr>
          <a:xfrm>
            <a:off x="1904617" y="2579174"/>
            <a:ext cx="2299690" cy="28472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19209" y="249944"/>
            <a:ext cx="1988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spc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② Bit-mapped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1866452" y="2151587"/>
            <a:ext cx="506122" cy="236611"/>
          </a:xfrm>
          <a:prstGeom prst="rect">
            <a:avLst/>
          </a:prstGeom>
          <a:solidFill>
            <a:srgbClr val="FF000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4468762" y="1605315"/>
            <a:ext cx="7683192" cy="5071404"/>
            <a:chOff x="4468762" y="1605315"/>
            <a:chExt cx="7683192" cy="5071404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10649" y="1605315"/>
              <a:ext cx="6041305" cy="5071404"/>
            </a:xfrm>
            <a:prstGeom prst="rect">
              <a:avLst/>
            </a:prstGeom>
          </p:spPr>
        </p:pic>
        <p:sp>
          <p:nvSpPr>
            <p:cNvPr id="6" name="矩形: 圆角 5"/>
            <p:cNvSpPr/>
            <p:nvPr/>
          </p:nvSpPr>
          <p:spPr>
            <a:xfrm>
              <a:off x="8117404" y="3308693"/>
              <a:ext cx="2804908" cy="440347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8382000" y="2837731"/>
              <a:ext cx="853440" cy="271229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: 圆角 10"/>
            <p:cNvSpPr/>
            <p:nvPr/>
          </p:nvSpPr>
          <p:spPr>
            <a:xfrm>
              <a:off x="9512710" y="3899063"/>
              <a:ext cx="1763564" cy="309143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5" name="直接箭头连接符 14"/>
            <p:cNvCxnSpPr/>
            <p:nvPr/>
          </p:nvCxnSpPr>
          <p:spPr>
            <a:xfrm flipV="1">
              <a:off x="7723239" y="3687098"/>
              <a:ext cx="1096296" cy="963560"/>
            </a:xfrm>
            <a:prstGeom prst="straightConnector1">
              <a:avLst/>
            </a:prstGeom>
            <a:ln w="19050"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/>
            <p:cNvSpPr txBox="1"/>
            <p:nvPr/>
          </p:nvSpPr>
          <p:spPr>
            <a:xfrm>
              <a:off x="4468762" y="4610132"/>
              <a:ext cx="357181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/>
                <a:t>320</a:t>
              </a:r>
              <a:r>
                <a:rPr lang="en-US" altLang="zh-CN" sz="2000" dirty="0"/>
                <a:t>pixel * </a:t>
              </a:r>
              <a:r>
                <a:rPr lang="en-US" altLang="zh-CN" sz="2000" b="1" dirty="0"/>
                <a:t>320</a:t>
              </a:r>
              <a:r>
                <a:rPr lang="en-US" altLang="zh-CN" sz="2000" dirty="0"/>
                <a:t>pixel =</a:t>
              </a:r>
              <a:r>
                <a:rPr lang="en-US" altLang="zh-CN" sz="2400" b="1" dirty="0">
                  <a:solidFill>
                    <a:srgbClr val="FF0000"/>
                  </a:solidFill>
                </a:rPr>
                <a:t>102400</a:t>
              </a:r>
              <a:endParaRPr lang="zh-CN" altLang="en-US" sz="2000" b="1" dirty="0">
                <a:solidFill>
                  <a:srgbClr val="FF0000"/>
                </a:solidFill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6110649" y="1879680"/>
              <a:ext cx="1929925" cy="368188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DE380-77F7-451E-A544-3E1BC4DAB44F}" type="slidenum">
              <a:rPr lang="zh-CN" altLang="en-US" sz="1400" b="1" smtClean="0"/>
            </a:fld>
            <a:r>
              <a:rPr lang="zh-CN" altLang="en-US"/>
              <a:t> </a:t>
            </a:r>
            <a:r>
              <a:rPr lang="en-US" altLang="zh-CN"/>
              <a:t>/ 30</a:t>
            </a:r>
            <a:endParaRPr lang="zh-CN" altLang="en-US" dirty="0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/>
          <a:srcRect r="1566"/>
          <a:stretch>
            <a:fillRect/>
          </a:stretch>
        </p:blipFill>
        <p:spPr>
          <a:xfrm>
            <a:off x="4234925" y="2818736"/>
            <a:ext cx="1581972" cy="142025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复旦图标</a:t>
            </a:r>
            <a:r>
              <a:rPr lang="en-US" altLang="zh-CN" spc="0" dirty="0">
                <a:solidFill>
                  <a:srgbClr val="FF0000"/>
                </a:solidFill>
              </a:rPr>
              <a:t>B</a:t>
            </a:r>
            <a:r>
              <a:rPr lang="en-US" altLang="zh-CN" spc="0" dirty="0"/>
              <a:t>RAM</a:t>
            </a:r>
            <a:r>
              <a:rPr lang="zh-CN" altLang="en-US" dirty="0"/>
              <a:t>生成</a:t>
            </a:r>
            <a:r>
              <a:rPr lang="en-US" altLang="zh-CN" dirty="0"/>
              <a:t>-2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89" y="941375"/>
            <a:ext cx="7674337" cy="5883370"/>
          </a:xfrm>
          <a:prstGeom prst="rect">
            <a:avLst/>
          </a:prstGeom>
        </p:spPr>
      </p:pic>
      <p:sp>
        <p:nvSpPr>
          <p:cNvPr id="5" name="矩形: 圆角 4"/>
          <p:cNvSpPr/>
          <p:nvPr/>
        </p:nvSpPr>
        <p:spPr>
          <a:xfrm>
            <a:off x="2681490" y="3558640"/>
            <a:ext cx="3352800" cy="28472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19209" y="249944"/>
            <a:ext cx="19528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spc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② Bit-mapped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851768" y="2429626"/>
            <a:ext cx="940764" cy="284724"/>
          </a:xfrm>
          <a:prstGeom prst="rect">
            <a:avLst/>
          </a:prstGeom>
          <a:solidFill>
            <a:srgbClr val="FF000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7108560" y="3101853"/>
            <a:ext cx="5022251" cy="3632960"/>
            <a:chOff x="7108560" y="3101853"/>
            <a:chExt cx="5022251" cy="3632960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08560" y="3101853"/>
              <a:ext cx="5022251" cy="3632960"/>
            </a:xfrm>
            <a:prstGeom prst="rect">
              <a:avLst/>
            </a:prstGeom>
          </p:spPr>
        </p:pic>
        <p:sp>
          <p:nvSpPr>
            <p:cNvPr id="6" name="矩形: 圆角 5"/>
            <p:cNvSpPr/>
            <p:nvPr/>
          </p:nvSpPr>
          <p:spPr>
            <a:xfrm>
              <a:off x="9368393" y="4861052"/>
              <a:ext cx="2573968" cy="788033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11279392" y="4389114"/>
              <a:ext cx="710005" cy="270472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矩形 12"/>
          <p:cNvSpPr/>
          <p:nvPr/>
        </p:nvSpPr>
        <p:spPr>
          <a:xfrm>
            <a:off x="142115" y="1262834"/>
            <a:ext cx="1929925" cy="368188"/>
          </a:xfrm>
          <a:prstGeom prst="rect">
            <a:avLst/>
          </a:prstGeom>
          <a:solidFill>
            <a:srgbClr val="FF000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DE380-77F7-451E-A544-3E1BC4DAB44F}" type="slidenum">
              <a:rPr lang="zh-CN" altLang="en-US" sz="1400" b="1" smtClean="0"/>
            </a:fld>
            <a:r>
              <a:rPr lang="zh-CN" altLang="en-US"/>
              <a:t> </a:t>
            </a:r>
            <a:r>
              <a:rPr lang="en-US" altLang="zh-CN"/>
              <a:t>/ 30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3600204" y="3165467"/>
            <a:ext cx="34521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COE</a:t>
            </a:r>
            <a:r>
              <a:rPr lang="zh-CN" altLang="en-US" b="1" dirty="0">
                <a:solidFill>
                  <a:srgbClr val="FF0000"/>
                </a:solidFill>
              </a:rPr>
              <a:t>文件用来初始化</a:t>
            </a:r>
            <a:r>
              <a:rPr lang="en-US" altLang="zh-CN" b="1" dirty="0">
                <a:solidFill>
                  <a:srgbClr val="FF0000"/>
                </a:solidFill>
              </a:rPr>
              <a:t>RAM</a:t>
            </a:r>
            <a:r>
              <a:rPr lang="zh-CN" altLang="en-US" b="1" dirty="0">
                <a:solidFill>
                  <a:srgbClr val="FF0000"/>
                </a:solidFill>
              </a:rPr>
              <a:t>内容。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.</a:t>
            </a:r>
            <a:r>
              <a:rPr lang="en-US" altLang="zh-CN" spc="0" dirty="0" err="1"/>
              <a:t>coe</a:t>
            </a:r>
            <a:r>
              <a:rPr lang="en-US" altLang="zh-CN" spc="0" dirty="0"/>
              <a:t> </a:t>
            </a:r>
            <a:r>
              <a:rPr lang="zh-CN" altLang="en-US" dirty="0"/>
              <a:t>文件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19208" y="249944"/>
            <a:ext cx="20381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spc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② Bit-mapped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866" y="951534"/>
            <a:ext cx="11584267" cy="5792134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DE380-77F7-451E-A544-3E1BC4DAB44F}" type="slidenum">
              <a:rPr lang="zh-CN" altLang="en-US" sz="1400" b="1" smtClean="0"/>
            </a:fld>
            <a:r>
              <a:rPr lang="zh-CN" altLang="en-US"/>
              <a:t> </a:t>
            </a:r>
            <a:r>
              <a:rPr lang="en-US" altLang="zh-CN"/>
              <a:t>/ 30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8040796" y="2504868"/>
            <a:ext cx="3402893" cy="15043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数据格式可以是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，</a:t>
            </a:r>
            <a:r>
              <a:rPr lang="en-US" altLang="zh-CN" dirty="0">
                <a:solidFill>
                  <a:srgbClr val="FF0000"/>
                </a:solidFill>
              </a:rPr>
              <a:t>10</a:t>
            </a:r>
            <a:r>
              <a:rPr lang="zh-CN" altLang="en-US" dirty="0">
                <a:solidFill>
                  <a:srgbClr val="FF0000"/>
                </a:solidFill>
              </a:rPr>
              <a:t>或</a:t>
            </a:r>
            <a:r>
              <a:rPr lang="en-US" altLang="zh-CN" dirty="0">
                <a:solidFill>
                  <a:srgbClr val="FF0000"/>
                </a:solidFill>
              </a:rPr>
              <a:t>16</a:t>
            </a:r>
            <a:r>
              <a:rPr lang="zh-CN" altLang="en-US" dirty="0">
                <a:solidFill>
                  <a:srgbClr val="FF0000"/>
                </a:solidFill>
              </a:rPr>
              <a:t>进制。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b="0" i="0" dirty="0">
                <a:solidFill>
                  <a:srgbClr val="FF0000"/>
                </a:solidFill>
                <a:effectLst/>
                <a:latin typeface="PingFang SC"/>
              </a:rPr>
              <a:t>分号后为注释内容，</a:t>
            </a:r>
            <a:endParaRPr lang="en-US" altLang="zh-CN" b="0" i="0" dirty="0">
              <a:solidFill>
                <a:srgbClr val="FF0000"/>
              </a:solidFill>
              <a:effectLst/>
              <a:latin typeface="PingFang SC"/>
            </a:endParaRPr>
          </a:p>
          <a:p>
            <a:pPr>
              <a:lnSpc>
                <a:spcPct val="130000"/>
              </a:lnSpc>
            </a:pPr>
            <a:r>
              <a:rPr lang="zh-CN" altLang="en-US" b="0" i="0" dirty="0">
                <a:solidFill>
                  <a:srgbClr val="FF0000"/>
                </a:solidFill>
                <a:effectLst/>
                <a:latin typeface="PingFang SC"/>
              </a:rPr>
              <a:t>每一个数据用逗号和换行实现，</a:t>
            </a:r>
            <a:endParaRPr lang="en-US" altLang="zh-CN" b="0" i="0" dirty="0">
              <a:solidFill>
                <a:srgbClr val="FF0000"/>
              </a:solidFill>
              <a:effectLst/>
              <a:latin typeface="PingFang SC"/>
            </a:endParaRPr>
          </a:p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rgbClr val="FF0000"/>
                </a:solidFill>
                <a:latin typeface="PingFang SC"/>
              </a:rPr>
              <a:t>最后一行数据用分号表示结束。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复旦图标</a:t>
            </a:r>
            <a:r>
              <a:rPr lang="en-US" altLang="zh-CN" spc="0" dirty="0">
                <a:solidFill>
                  <a:srgbClr val="FF0000"/>
                </a:solidFill>
              </a:rPr>
              <a:t>B</a:t>
            </a:r>
            <a:r>
              <a:rPr lang="en-US" altLang="zh-CN" spc="0" dirty="0"/>
              <a:t>RAM</a:t>
            </a:r>
            <a:r>
              <a:rPr lang="zh-CN" altLang="en-US" dirty="0"/>
              <a:t>生成</a:t>
            </a:r>
            <a:r>
              <a:rPr lang="en-US" altLang="zh-CN" dirty="0"/>
              <a:t>-3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99" y="952457"/>
            <a:ext cx="4512553" cy="577933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62" y="935811"/>
            <a:ext cx="4988059" cy="3080860"/>
          </a:xfrm>
          <a:prstGeom prst="rect">
            <a:avLst/>
          </a:prstGeom>
        </p:spPr>
      </p:pic>
      <p:sp>
        <p:nvSpPr>
          <p:cNvPr id="7" name="矩形: 圆角 6"/>
          <p:cNvSpPr/>
          <p:nvPr/>
        </p:nvSpPr>
        <p:spPr>
          <a:xfrm>
            <a:off x="412405" y="2921373"/>
            <a:ext cx="2723481" cy="28472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5157872" y="1944045"/>
            <a:ext cx="3175425" cy="29364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箭头连接符 9"/>
          <p:cNvCxnSpPr>
            <a:stCxn id="7" idx="3"/>
          </p:cNvCxnSpPr>
          <p:nvPr/>
        </p:nvCxnSpPr>
        <p:spPr>
          <a:xfrm flipV="1">
            <a:off x="3135886" y="2322464"/>
            <a:ext cx="1688556" cy="7412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/>
          <p:cNvSpPr/>
          <p:nvPr/>
        </p:nvSpPr>
        <p:spPr>
          <a:xfrm>
            <a:off x="5229308" y="3758841"/>
            <a:ext cx="1527396" cy="29364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3298" y="2645075"/>
            <a:ext cx="3779807" cy="149704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文本框 12"/>
          <p:cNvSpPr txBox="1"/>
          <p:nvPr/>
        </p:nvSpPr>
        <p:spPr>
          <a:xfrm>
            <a:off x="119208" y="249944"/>
            <a:ext cx="2016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spc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② Bit-mapped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DE380-77F7-451E-A544-3E1BC4DAB44F}" type="slidenum">
              <a:rPr lang="zh-CN" altLang="en-US" sz="1400" b="1" smtClean="0"/>
            </a:fld>
            <a:r>
              <a:rPr lang="zh-CN" altLang="en-US"/>
              <a:t> </a:t>
            </a:r>
            <a:r>
              <a:rPr lang="en-US" altLang="zh-CN"/>
              <a:t>/ 30</a:t>
            </a:r>
            <a:endParaRPr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2595" y="4612169"/>
            <a:ext cx="5042718" cy="2227531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744886" y="2459708"/>
            <a:ext cx="412985" cy="10156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方法   </a:t>
            </a:r>
            <a:r>
              <a:rPr lang="en-US" altLang="zh-CN" sz="2000" b="1" dirty="0"/>
              <a:t>1</a:t>
            </a:r>
            <a:endParaRPr lang="zh-CN" altLang="en-US" sz="2000" b="1" dirty="0"/>
          </a:p>
        </p:txBody>
      </p:sp>
      <p:sp>
        <p:nvSpPr>
          <p:cNvPr id="18" name="文本框 17"/>
          <p:cNvSpPr txBox="1"/>
          <p:nvPr/>
        </p:nvSpPr>
        <p:spPr>
          <a:xfrm>
            <a:off x="4741342" y="2455708"/>
            <a:ext cx="412985" cy="10156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方法   </a:t>
            </a:r>
            <a:r>
              <a:rPr lang="en-US" altLang="zh-CN" sz="2000" b="1" dirty="0"/>
              <a:t>1</a:t>
            </a:r>
            <a:endParaRPr lang="zh-CN" altLang="en-US" sz="2000" b="1" dirty="0"/>
          </a:p>
        </p:txBody>
      </p:sp>
      <p:sp>
        <p:nvSpPr>
          <p:cNvPr id="19" name="文本框 18"/>
          <p:cNvSpPr txBox="1"/>
          <p:nvPr/>
        </p:nvSpPr>
        <p:spPr>
          <a:xfrm>
            <a:off x="4741342" y="5218102"/>
            <a:ext cx="412985" cy="10156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方法   </a:t>
            </a:r>
            <a:r>
              <a:rPr lang="en-US" altLang="zh-CN" sz="2000" b="1" dirty="0"/>
              <a:t>2</a:t>
            </a:r>
            <a:endParaRPr lang="zh-CN" altLang="en-US" sz="20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图片 3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" y="894953"/>
            <a:ext cx="7212836" cy="596304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 由</a:t>
            </a:r>
            <a:r>
              <a:rPr lang="zh-CN" altLang="en-US" b="1" dirty="0"/>
              <a:t>图像</a:t>
            </a:r>
            <a:r>
              <a:rPr lang="zh-CN" altLang="en-US" dirty="0"/>
              <a:t>生成</a:t>
            </a:r>
            <a:r>
              <a:rPr lang="en-US" altLang="zh-CN" b="1" dirty="0"/>
              <a:t>.</a:t>
            </a:r>
            <a:r>
              <a:rPr lang="en-US" altLang="zh-CN" b="1" spc="0" dirty="0" err="1"/>
              <a:t>co</a:t>
            </a:r>
            <a:r>
              <a:rPr lang="en-US" altLang="zh-CN" b="1" dirty="0" err="1"/>
              <a:t>e</a:t>
            </a:r>
            <a:r>
              <a:rPr lang="zh-CN" altLang="en-US" dirty="0"/>
              <a:t>文件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5987" y="979583"/>
            <a:ext cx="6757555" cy="3378778"/>
          </a:xfrm>
          <a:prstGeom prst="rect">
            <a:avLst/>
          </a:prstGeom>
        </p:spPr>
      </p:pic>
      <p:graphicFrame>
        <p:nvGraphicFramePr>
          <p:cNvPr id="7" name="表格 7"/>
          <p:cNvGraphicFramePr>
            <a:graphicFrameLocks noGrp="1"/>
          </p:cNvGraphicFramePr>
          <p:nvPr/>
        </p:nvGraphicFramePr>
        <p:xfrm>
          <a:off x="6737393" y="4500681"/>
          <a:ext cx="1800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000"/>
                <a:gridCol w="225000"/>
                <a:gridCol w="225000"/>
                <a:gridCol w="225000"/>
                <a:gridCol w="225000"/>
                <a:gridCol w="225000"/>
                <a:gridCol w="225000"/>
                <a:gridCol w="225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8</a:t>
                      </a:r>
                      <a:endParaRPr lang="zh-CN" altLang="en-US" sz="16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7</a:t>
                      </a:r>
                      <a:endParaRPr lang="zh-CN" altLang="en-US" sz="16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6</a:t>
                      </a:r>
                      <a:endParaRPr lang="zh-CN" altLang="en-US" sz="16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5</a:t>
                      </a:r>
                      <a:endParaRPr lang="zh-CN" altLang="en-US" sz="16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4</a:t>
                      </a:r>
                      <a:endParaRPr lang="zh-CN" altLang="en-US" sz="16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3</a:t>
                      </a:r>
                      <a:endParaRPr lang="zh-CN" altLang="en-US" sz="16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</a:t>
                      </a:r>
                      <a:endParaRPr lang="zh-CN" altLang="en-US" sz="16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zh-CN" altLang="en-US" sz="16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8537393" y="4500681"/>
          <a:ext cx="1800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000"/>
                <a:gridCol w="225000"/>
                <a:gridCol w="225000"/>
                <a:gridCol w="225000"/>
                <a:gridCol w="225000"/>
                <a:gridCol w="225000"/>
                <a:gridCol w="225000"/>
                <a:gridCol w="225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8</a:t>
                      </a:r>
                      <a:endParaRPr lang="zh-CN" altLang="en-US" sz="16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7</a:t>
                      </a:r>
                      <a:endParaRPr lang="zh-CN" altLang="en-US" sz="16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6</a:t>
                      </a:r>
                      <a:endParaRPr lang="zh-CN" altLang="en-US" sz="16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5</a:t>
                      </a:r>
                      <a:endParaRPr lang="zh-CN" altLang="en-US" sz="16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4</a:t>
                      </a:r>
                      <a:endParaRPr lang="zh-CN" altLang="en-US" sz="16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3</a:t>
                      </a:r>
                      <a:endParaRPr lang="zh-CN" altLang="en-US" sz="16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</a:t>
                      </a:r>
                      <a:endParaRPr lang="zh-CN" altLang="en-US" sz="16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zh-CN" altLang="en-US" sz="16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10337393" y="4497866"/>
          <a:ext cx="1800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000"/>
                <a:gridCol w="225000"/>
                <a:gridCol w="225000"/>
                <a:gridCol w="225000"/>
                <a:gridCol w="225000"/>
                <a:gridCol w="225000"/>
                <a:gridCol w="225000"/>
                <a:gridCol w="225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8</a:t>
                      </a:r>
                      <a:endParaRPr lang="zh-CN" altLang="en-US" sz="16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7</a:t>
                      </a:r>
                      <a:endParaRPr lang="zh-CN" altLang="en-US" sz="16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6</a:t>
                      </a:r>
                      <a:endParaRPr lang="zh-CN" altLang="en-US" sz="16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5</a:t>
                      </a:r>
                      <a:endParaRPr lang="zh-CN" altLang="en-US" sz="16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4</a:t>
                      </a:r>
                      <a:endParaRPr lang="zh-CN" altLang="en-US" sz="16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3</a:t>
                      </a:r>
                      <a:endParaRPr lang="zh-CN" altLang="en-US" sz="16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</a:t>
                      </a:r>
                      <a:endParaRPr lang="zh-CN" altLang="en-US" sz="16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zh-CN" altLang="en-US" sz="16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表格 7"/>
          <p:cNvGraphicFramePr>
            <a:graphicFrameLocks noGrp="1"/>
          </p:cNvGraphicFramePr>
          <p:nvPr/>
        </p:nvGraphicFramePr>
        <p:xfrm>
          <a:off x="7637393" y="5592207"/>
          <a:ext cx="900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000"/>
                <a:gridCol w="225000"/>
                <a:gridCol w="225000"/>
                <a:gridCol w="225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4</a:t>
                      </a:r>
                      <a:endParaRPr lang="zh-CN" altLang="en-US" sz="16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3</a:t>
                      </a:r>
                      <a:endParaRPr lang="zh-CN" altLang="en-US" sz="16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</a:t>
                      </a:r>
                      <a:endParaRPr lang="zh-CN" altLang="en-US" sz="16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zh-CN" altLang="en-US" sz="16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8537393" y="5597817"/>
          <a:ext cx="900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000"/>
                <a:gridCol w="225000"/>
                <a:gridCol w="225000"/>
                <a:gridCol w="225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4</a:t>
                      </a:r>
                      <a:endParaRPr lang="zh-CN" altLang="en-US" sz="16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3</a:t>
                      </a:r>
                      <a:endParaRPr lang="zh-CN" altLang="en-US" sz="16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</a:t>
                      </a:r>
                      <a:endParaRPr lang="zh-CN" altLang="en-US" sz="16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zh-CN" altLang="en-US" sz="16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9437393" y="5598222"/>
          <a:ext cx="900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000"/>
                <a:gridCol w="225000"/>
                <a:gridCol w="225000"/>
                <a:gridCol w="225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4</a:t>
                      </a:r>
                      <a:endParaRPr lang="zh-CN" altLang="en-US" sz="16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3</a:t>
                      </a:r>
                      <a:endParaRPr lang="zh-CN" altLang="en-US" sz="16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</a:t>
                      </a:r>
                      <a:endParaRPr lang="zh-CN" altLang="en-US" sz="16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zh-CN" altLang="en-US" sz="16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cxnSp>
        <p:nvCxnSpPr>
          <p:cNvPr id="14" name="直接箭头连接符 13"/>
          <p:cNvCxnSpPr>
            <a:endCxn id="10" idx="1"/>
          </p:cNvCxnSpPr>
          <p:nvPr/>
        </p:nvCxnSpPr>
        <p:spPr>
          <a:xfrm>
            <a:off x="6737393" y="5233936"/>
            <a:ext cx="900000" cy="72911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7" idx="2"/>
            <a:endCxn id="11" idx="1"/>
          </p:cNvCxnSpPr>
          <p:nvPr/>
        </p:nvCxnSpPr>
        <p:spPr>
          <a:xfrm>
            <a:off x="7637393" y="5242361"/>
            <a:ext cx="900000" cy="72629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endCxn id="11" idx="1"/>
          </p:cNvCxnSpPr>
          <p:nvPr/>
        </p:nvCxnSpPr>
        <p:spPr>
          <a:xfrm>
            <a:off x="8537393" y="5239546"/>
            <a:ext cx="0" cy="729111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stCxn id="8" idx="2"/>
            <a:endCxn id="12" idx="1"/>
          </p:cNvCxnSpPr>
          <p:nvPr/>
        </p:nvCxnSpPr>
        <p:spPr>
          <a:xfrm>
            <a:off x="9437393" y="5242361"/>
            <a:ext cx="0" cy="726701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endCxn id="12" idx="1"/>
          </p:cNvCxnSpPr>
          <p:nvPr/>
        </p:nvCxnSpPr>
        <p:spPr>
          <a:xfrm flipH="1">
            <a:off x="9437393" y="5239546"/>
            <a:ext cx="900000" cy="72951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9" idx="2"/>
            <a:endCxn id="12" idx="3"/>
          </p:cNvCxnSpPr>
          <p:nvPr/>
        </p:nvCxnSpPr>
        <p:spPr>
          <a:xfrm flipH="1">
            <a:off x="10337393" y="5239546"/>
            <a:ext cx="900000" cy="72951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5986" y="979583"/>
            <a:ext cx="6757555" cy="3378778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119209" y="249944"/>
            <a:ext cx="19669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spc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② Bit-mapped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DE380-77F7-451E-A544-3E1BC4DAB44F}" type="slidenum">
              <a:rPr lang="zh-CN" altLang="en-US" sz="1400" b="1" smtClean="0"/>
            </a:fld>
            <a:r>
              <a:rPr lang="zh-CN" altLang="en-US"/>
              <a:t> </a:t>
            </a:r>
            <a:r>
              <a:rPr lang="en-US" altLang="zh-CN"/>
              <a:t>/ 30</a:t>
            </a: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乒乓球：复旦图标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00001"/>
            <a:ext cx="6125587" cy="1904908"/>
          </a:xfrm>
          <a:prstGeom prst="rect">
            <a:avLst/>
          </a:prstGeom>
        </p:spPr>
      </p:pic>
      <p:sp>
        <p:nvSpPr>
          <p:cNvPr id="5" name="矩形: 圆角 4"/>
          <p:cNvSpPr/>
          <p:nvPr/>
        </p:nvSpPr>
        <p:spPr>
          <a:xfrm>
            <a:off x="555372" y="2298685"/>
            <a:ext cx="5540628" cy="50622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45" y="3138692"/>
            <a:ext cx="4086372" cy="37078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064" y="3962005"/>
            <a:ext cx="2114902" cy="1937477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8120" y="916560"/>
            <a:ext cx="5222739" cy="5924609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7399" y="3962005"/>
            <a:ext cx="3790721" cy="2646051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10" name="文本框 9"/>
          <p:cNvSpPr txBox="1"/>
          <p:nvPr/>
        </p:nvSpPr>
        <p:spPr>
          <a:xfrm>
            <a:off x="119209" y="249944"/>
            <a:ext cx="20271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spc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② Bit-mapped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725275" y="4615031"/>
            <a:ext cx="665352" cy="331849"/>
          </a:xfrm>
          <a:prstGeom prst="rect">
            <a:avLst/>
          </a:prstGeom>
          <a:solidFill>
            <a:srgbClr val="FF000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985937" y="3962006"/>
            <a:ext cx="388101" cy="365126"/>
          </a:xfrm>
          <a:prstGeom prst="rect">
            <a:avLst/>
          </a:prstGeom>
          <a:solidFill>
            <a:schemeClr val="accent6">
              <a:lumMod val="75000"/>
              <a:alpha val="2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1240306" y="4930743"/>
            <a:ext cx="388101" cy="365126"/>
          </a:xfrm>
          <a:prstGeom prst="rect">
            <a:avLst/>
          </a:prstGeom>
          <a:solidFill>
            <a:schemeClr val="accent6">
              <a:lumMod val="75000"/>
              <a:alpha val="2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1240306" y="5534356"/>
            <a:ext cx="388101" cy="365126"/>
          </a:xfrm>
          <a:prstGeom prst="rect">
            <a:avLst/>
          </a:prstGeom>
          <a:solidFill>
            <a:schemeClr val="accent6">
              <a:lumMod val="75000"/>
              <a:alpha val="2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DE380-77F7-451E-A544-3E1BC4DAB44F}" type="slidenum">
              <a:rPr lang="zh-CN" altLang="en-US" sz="1400" b="1" smtClean="0"/>
            </a:fld>
            <a:r>
              <a:rPr lang="zh-CN" altLang="en-US"/>
              <a:t> </a:t>
            </a:r>
            <a:r>
              <a:rPr lang="en-US" altLang="zh-CN"/>
              <a:t>/ 30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5689" y="2165387"/>
            <a:ext cx="5889469" cy="463931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zh-CN" altLang="en-US" dirty="0"/>
              <a:t>乒乓球：复旦图标 </a:t>
            </a:r>
            <a:r>
              <a:rPr lang="zh-CN" altLang="en-US" b="1" dirty="0"/>
              <a:t>顶层文件</a:t>
            </a:r>
            <a:endParaRPr lang="zh-CN" altLang="en-US" b="1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7319"/>
            <a:ext cx="6127935" cy="4793963"/>
          </a:xfrm>
          <a:prstGeom prst="rect">
            <a:avLst/>
          </a:prstGeom>
        </p:spPr>
      </p:pic>
      <p:sp>
        <p:nvSpPr>
          <p:cNvPr id="13" name="左中括号 12"/>
          <p:cNvSpPr/>
          <p:nvPr/>
        </p:nvSpPr>
        <p:spPr>
          <a:xfrm>
            <a:off x="7949109" y="3601503"/>
            <a:ext cx="437566" cy="2844177"/>
          </a:xfrm>
          <a:prstGeom prst="leftBracket">
            <a:avLst>
              <a:gd name="adj" fmla="val 55860"/>
            </a:avLst>
          </a:prstGeom>
          <a:ln w="19050">
            <a:solidFill>
              <a:srgbClr val="FF0000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左中括号 13"/>
          <p:cNvSpPr/>
          <p:nvPr/>
        </p:nvSpPr>
        <p:spPr>
          <a:xfrm flipV="1">
            <a:off x="8167891" y="3887601"/>
            <a:ext cx="218783" cy="2288807"/>
          </a:xfrm>
          <a:prstGeom prst="leftBracket">
            <a:avLst>
              <a:gd name="adj" fmla="val 89193"/>
            </a:avLst>
          </a:prstGeom>
          <a:ln w="19050">
            <a:solidFill>
              <a:schemeClr val="accent1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19208" y="249944"/>
            <a:ext cx="30837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spc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② Bit-mapped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7416" y="967319"/>
            <a:ext cx="2857742" cy="1751173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DE380-77F7-451E-A544-3E1BC4DAB44F}" type="slidenum">
              <a:rPr lang="zh-CN" altLang="en-US" sz="1400" b="1" smtClean="0"/>
            </a:fld>
            <a:r>
              <a:rPr lang="zh-CN" altLang="en-US"/>
              <a:t> </a:t>
            </a:r>
            <a:r>
              <a:rPr lang="en-US" altLang="zh-CN"/>
              <a:t>/ 30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【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作业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3】</a:t>
            </a:r>
            <a:r>
              <a:rPr lang="zh-CN" altLang="en-US" dirty="0"/>
              <a:t>图像展示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559529" y="1811970"/>
            <a:ext cx="9637196" cy="1845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dirty="0"/>
              <a:t>用</a:t>
            </a:r>
            <a:r>
              <a:rPr lang="en-US" altLang="zh-CN" sz="4000" dirty="0"/>
              <a:t>FPGA</a:t>
            </a:r>
            <a:r>
              <a:rPr lang="zh-CN" altLang="en-US" sz="4000" dirty="0"/>
              <a:t>展示你喜欢的一幅画，</a:t>
            </a:r>
            <a:endParaRPr lang="en-US" altLang="zh-CN" sz="4000" dirty="0"/>
          </a:p>
          <a:p>
            <a:pPr>
              <a:lnSpc>
                <a:spcPct val="150000"/>
              </a:lnSpc>
            </a:pPr>
            <a:r>
              <a:rPr lang="zh-CN" altLang="en-US" sz="4000" dirty="0"/>
              <a:t>考虑屏幕像素大小和</a:t>
            </a:r>
            <a:r>
              <a:rPr lang="en-US" altLang="zh-CN" sz="4000" dirty="0"/>
              <a:t>A7</a:t>
            </a:r>
            <a:r>
              <a:rPr lang="zh-CN" altLang="en-US" sz="4000" dirty="0"/>
              <a:t>芯片内存限制。</a:t>
            </a:r>
            <a:endParaRPr lang="zh-CN" altLang="en-US" sz="40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DE380-77F7-451E-A544-3E1BC4DAB44F}" type="slidenum">
              <a:rPr lang="zh-CN" altLang="en-US" sz="1400" b="1" smtClean="0"/>
            </a:fld>
            <a:r>
              <a:rPr lang="zh-CN" altLang="en-US"/>
              <a:t> </a:t>
            </a:r>
            <a:r>
              <a:rPr lang="en-US" altLang="zh-CN"/>
              <a:t>/ 30</a:t>
            </a: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2187826"/>
            <a:ext cx="12192000" cy="31700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pPr algn="ctr"/>
            <a:r>
              <a:rPr lang="en-US" altLang="zh-CN" sz="20000" b="1" dirty="0">
                <a:solidFill>
                  <a:schemeClr val="accent1"/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Sound</a:t>
            </a:r>
            <a:endParaRPr lang="zh-CN" altLang="en-US" sz="20000" b="1" dirty="0">
              <a:solidFill>
                <a:schemeClr val="accent1"/>
              </a:solidFill>
              <a:effectLst>
                <a:outerShdw blurRad="60007" dist="200025" dir="15000000" sy="30000" kx="-1800000" algn="bl" rotWithShape="0">
                  <a:prstClr val="black">
                    <a:alpha val="32000"/>
                  </a:prstClr>
                </a:outerShdw>
              </a:effectLst>
              <a:latin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675264" y="314151"/>
            <a:ext cx="699230" cy="132343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altLang="zh-CN" sz="8000" dirty="0"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rPr>
              <a:t>2</a:t>
            </a:r>
            <a:endParaRPr lang="zh-CN" altLang="en-US" sz="8000" dirty="0">
              <a:solidFill>
                <a:schemeClr val="accent5">
                  <a:lumMod val="40000"/>
                  <a:lumOff val="60000"/>
                </a:schemeClr>
              </a:solidFill>
              <a:effectLst>
                <a:glow rad="101600">
                  <a:schemeClr val="accent2">
                    <a:satMod val="175000"/>
                    <a:alpha val="4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Impact" panose="020B080603090205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819462" y="6031025"/>
            <a:ext cx="2287402" cy="577751"/>
          </a:xfrm>
          <a:prstGeom prst="flowChartMulti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1"/>
                </a:solidFill>
              </a:rPr>
              <a:t>ping-pong</a:t>
            </a:r>
            <a:endParaRPr lang="zh-CN" altLang="en-US" sz="2400" b="1" dirty="0">
              <a:solidFill>
                <a:schemeClr val="accent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DE380-77F7-451E-A544-3E1BC4DAB44F}" type="slidenum">
              <a:rPr lang="zh-CN" altLang="en-US" sz="1400" b="1" smtClean="0"/>
            </a:fld>
            <a:r>
              <a:rPr lang="zh-CN" altLang="en-US"/>
              <a:t> </a:t>
            </a:r>
            <a:r>
              <a:rPr lang="en-US" altLang="zh-CN"/>
              <a:t>/ 63</a:t>
            </a: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导出</a:t>
            </a:r>
            <a:r>
              <a:rPr lang="en-US" altLang="zh-CN" dirty="0"/>
              <a:t>r</a:t>
            </a:r>
            <a:r>
              <a:rPr lang="en-US" altLang="zh-CN" spc="0" dirty="0"/>
              <a:t>a</a:t>
            </a:r>
            <a:r>
              <a:rPr lang="en-US" altLang="zh-CN" dirty="0"/>
              <a:t>w</a:t>
            </a:r>
            <a:r>
              <a:rPr lang="zh-CN" altLang="en-US" dirty="0"/>
              <a:t>音频数据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1990" y="762000"/>
            <a:ext cx="9144000" cy="6096000"/>
          </a:xfrm>
          <a:prstGeom prst="rect">
            <a:avLst/>
          </a:prstGeom>
        </p:spPr>
      </p:pic>
      <p:sp>
        <p:nvSpPr>
          <p:cNvPr id="4" name="矩形: 圆角 3"/>
          <p:cNvSpPr/>
          <p:nvPr/>
        </p:nvSpPr>
        <p:spPr>
          <a:xfrm>
            <a:off x="6428851" y="4717856"/>
            <a:ext cx="2451490" cy="43756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/>
          <p:cNvSpPr/>
          <p:nvPr/>
        </p:nvSpPr>
        <p:spPr>
          <a:xfrm>
            <a:off x="6428851" y="5520060"/>
            <a:ext cx="2451490" cy="57593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/>
        </p:nvSpPr>
        <p:spPr>
          <a:xfrm>
            <a:off x="2901990" y="6283930"/>
            <a:ext cx="789271" cy="43756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46010" y="6283930"/>
            <a:ext cx="2549096" cy="430887"/>
          </a:xfrm>
          <a:prstGeom prst="wedgeRectCallout">
            <a:avLst>
              <a:gd name="adj1" fmla="val 59933"/>
              <a:gd name="adj2" fmla="val 1563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200" dirty="0"/>
              <a:t>采样频率：</a:t>
            </a:r>
            <a:r>
              <a:rPr lang="en-US" altLang="zh-CN" sz="2200" b="1" dirty="0"/>
              <a:t>8000</a:t>
            </a:r>
            <a:r>
              <a:rPr lang="en-US" altLang="zh-CN" sz="2200" dirty="0"/>
              <a:t>Hz</a:t>
            </a:r>
            <a:endParaRPr lang="zh-CN" altLang="en-US" sz="2200" dirty="0"/>
          </a:p>
        </p:txBody>
      </p:sp>
      <p:sp>
        <p:nvSpPr>
          <p:cNvPr id="9" name="文本框 8"/>
          <p:cNvSpPr txBox="1"/>
          <p:nvPr/>
        </p:nvSpPr>
        <p:spPr>
          <a:xfrm>
            <a:off x="146010" y="5531281"/>
            <a:ext cx="2489784" cy="4308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200" dirty="0"/>
              <a:t>编码：无符号</a:t>
            </a:r>
            <a:r>
              <a:rPr lang="en-US" altLang="zh-CN" sz="2200" b="1" dirty="0"/>
              <a:t>8</a:t>
            </a:r>
            <a:r>
              <a:rPr lang="en-US" altLang="zh-CN" sz="2200" dirty="0"/>
              <a:t>-bit</a:t>
            </a:r>
            <a:endParaRPr lang="zh-CN" altLang="en-US" sz="2200" dirty="0"/>
          </a:p>
        </p:txBody>
      </p:sp>
      <p:sp>
        <p:nvSpPr>
          <p:cNvPr id="11" name="文本框 10"/>
          <p:cNvSpPr txBox="1"/>
          <p:nvPr/>
        </p:nvSpPr>
        <p:spPr>
          <a:xfrm>
            <a:off x="74332" y="240183"/>
            <a:ext cx="3471071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000" b="1" dirty="0"/>
              <a:t>audacity</a:t>
            </a:r>
            <a:r>
              <a:rPr lang="zh-CN" altLang="en-US" sz="2000" dirty="0"/>
              <a:t>-win-3.1.3-64bit.exe</a:t>
            </a:r>
            <a:endParaRPr lang="zh-CN" altLang="en-US" sz="2000" dirty="0"/>
          </a:p>
        </p:txBody>
      </p:sp>
      <p:sp>
        <p:nvSpPr>
          <p:cNvPr id="13" name="文本框 12"/>
          <p:cNvSpPr txBox="1"/>
          <p:nvPr/>
        </p:nvSpPr>
        <p:spPr>
          <a:xfrm>
            <a:off x="297475" y="1037096"/>
            <a:ext cx="25490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u="sng" dirty="0">
                <a:solidFill>
                  <a:schemeClr val="accent1"/>
                </a:solidFill>
              </a:rPr>
              <a:t>www.audacityteam.org</a:t>
            </a:r>
            <a:endParaRPr lang="zh-CN" altLang="en-US" u="sng" dirty="0">
              <a:solidFill>
                <a:schemeClr val="accent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28088" y="1876745"/>
            <a:ext cx="1184940" cy="430887"/>
          </a:xfrm>
          <a:prstGeom prst="wedgeRectCallout">
            <a:avLst>
              <a:gd name="adj1" fmla="val 209246"/>
              <a:gd name="adj2" fmla="val 83192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200" dirty="0"/>
              <a:t> 单声道 </a:t>
            </a:r>
            <a:endParaRPr lang="zh-CN" altLang="en-US" sz="2200" dirty="0"/>
          </a:p>
        </p:txBody>
      </p:sp>
      <p:sp>
        <p:nvSpPr>
          <p:cNvPr id="14" name="矩形: 圆角 13"/>
          <p:cNvSpPr/>
          <p:nvPr/>
        </p:nvSpPr>
        <p:spPr>
          <a:xfrm>
            <a:off x="5639580" y="1587880"/>
            <a:ext cx="1182830" cy="24639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DE380-77F7-451E-A544-3E1BC4DAB44F}" type="slidenum">
              <a:rPr lang="zh-CN" altLang="en-US" sz="1400" b="1" smtClean="0"/>
            </a:fld>
            <a:r>
              <a:rPr lang="zh-CN" altLang="en-US"/>
              <a:t> </a:t>
            </a:r>
            <a:r>
              <a:rPr lang="en-US" altLang="zh-CN"/>
              <a:t>/ 30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082" y="2920346"/>
            <a:ext cx="1559577" cy="249951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" y="967834"/>
            <a:ext cx="8173502" cy="589016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723" y="1542697"/>
            <a:ext cx="5809277" cy="515955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pc="0" dirty="0"/>
              <a:t>raw2coe </a:t>
            </a:r>
            <a:r>
              <a:rPr lang="zh-CN" altLang="en-US" dirty="0"/>
              <a:t>文件</a:t>
            </a:r>
            <a:endParaRPr lang="zh-CN" altLang="en-US" dirty="0"/>
          </a:p>
        </p:txBody>
      </p:sp>
      <p:sp>
        <p:nvSpPr>
          <p:cNvPr id="5" name="矩形: 圆角 4"/>
          <p:cNvSpPr/>
          <p:nvPr/>
        </p:nvSpPr>
        <p:spPr>
          <a:xfrm>
            <a:off x="6479323" y="2041973"/>
            <a:ext cx="1396844" cy="32536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876167" y="1209377"/>
            <a:ext cx="2977097" cy="523220"/>
          </a:xfrm>
          <a:prstGeom prst="wedgeRectCallout">
            <a:avLst>
              <a:gd name="adj1" fmla="val -53243"/>
              <a:gd name="adj2" fmla="val 149345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数据长度</a:t>
            </a:r>
            <a:r>
              <a:rPr lang="zh-CN" altLang="en-US" sz="2200" dirty="0"/>
              <a:t>：</a:t>
            </a:r>
            <a:r>
              <a:rPr lang="en-US" altLang="zh-CN" sz="2800" b="1" dirty="0"/>
              <a:t>106,353</a:t>
            </a:r>
            <a:endParaRPr lang="zh-CN" altLang="en-US" sz="2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DE380-77F7-451E-A544-3E1BC4DAB44F}" type="slidenum">
              <a:rPr lang="zh-CN" altLang="en-US" sz="1400" b="1" smtClean="0"/>
            </a:fld>
            <a:r>
              <a:rPr lang="zh-CN" altLang="en-US"/>
              <a:t> </a:t>
            </a:r>
            <a:r>
              <a:rPr lang="en-US" altLang="zh-CN"/>
              <a:t>/ 30</a:t>
            </a:r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音频 </a:t>
            </a:r>
            <a:r>
              <a:rPr lang="en-US" altLang="zh-CN" spc="0" dirty="0">
                <a:solidFill>
                  <a:srgbClr val="FF0000"/>
                </a:solidFill>
              </a:rPr>
              <a:t>B</a:t>
            </a:r>
            <a:r>
              <a:rPr lang="en-US" altLang="zh-CN" spc="0" dirty="0"/>
              <a:t>RAM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22440"/>
            <a:ext cx="5731915" cy="43551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1914" y="1513295"/>
            <a:ext cx="6460085" cy="5092833"/>
          </a:xfrm>
          <a:prstGeom prst="rect">
            <a:avLst/>
          </a:prstGeom>
        </p:spPr>
      </p:pic>
      <p:sp>
        <p:nvSpPr>
          <p:cNvPr id="7" name="矩形: 圆角 6"/>
          <p:cNvSpPr/>
          <p:nvPr/>
        </p:nvSpPr>
        <p:spPr>
          <a:xfrm>
            <a:off x="1755873" y="1765752"/>
            <a:ext cx="3876382" cy="30427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1755873" y="2407606"/>
            <a:ext cx="2636613" cy="25144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/>
          <p:cNvSpPr/>
          <p:nvPr/>
        </p:nvSpPr>
        <p:spPr>
          <a:xfrm>
            <a:off x="7915450" y="3229914"/>
            <a:ext cx="3018081" cy="46134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/>
          <p:cNvSpPr/>
          <p:nvPr/>
        </p:nvSpPr>
        <p:spPr>
          <a:xfrm>
            <a:off x="9289855" y="3820769"/>
            <a:ext cx="1751197" cy="30244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071227" y="2518828"/>
            <a:ext cx="2489784" cy="430887"/>
          </a:xfrm>
          <a:prstGeom prst="wedgeRectCallout">
            <a:avLst>
              <a:gd name="adj1" fmla="val -40886"/>
              <a:gd name="adj2" fmla="val 106765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200" dirty="0"/>
              <a:t>编码：无符号</a:t>
            </a:r>
            <a:r>
              <a:rPr lang="en-US" altLang="zh-CN" sz="2200" b="1" dirty="0"/>
              <a:t>8</a:t>
            </a:r>
            <a:r>
              <a:rPr lang="en-US" altLang="zh-CN" sz="2200" dirty="0"/>
              <a:t>-bit</a:t>
            </a:r>
            <a:endParaRPr lang="zh-CN" altLang="en-US" sz="2200" dirty="0"/>
          </a:p>
        </p:txBody>
      </p:sp>
      <p:sp>
        <p:nvSpPr>
          <p:cNvPr id="12" name="文本框 11"/>
          <p:cNvSpPr txBox="1"/>
          <p:nvPr/>
        </p:nvSpPr>
        <p:spPr>
          <a:xfrm>
            <a:off x="4607451" y="3038177"/>
            <a:ext cx="2977097" cy="523220"/>
          </a:xfrm>
          <a:prstGeom prst="wedgeRectCallout">
            <a:avLst>
              <a:gd name="adj1" fmla="val 80356"/>
              <a:gd name="adj2" fmla="val 3998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数据长度</a:t>
            </a:r>
            <a:r>
              <a:rPr lang="zh-CN" altLang="en-US" sz="2200" dirty="0"/>
              <a:t>：</a:t>
            </a:r>
            <a:r>
              <a:rPr lang="en-US" altLang="zh-CN" sz="2800" b="1" dirty="0"/>
              <a:t>106,353</a:t>
            </a:r>
            <a:endParaRPr lang="zh-CN" altLang="en-US" sz="2200" dirty="0"/>
          </a:p>
        </p:txBody>
      </p:sp>
      <p:sp>
        <p:nvSpPr>
          <p:cNvPr id="13" name="矩形: 圆角 12"/>
          <p:cNvSpPr/>
          <p:nvPr/>
        </p:nvSpPr>
        <p:spPr>
          <a:xfrm>
            <a:off x="57036" y="1174382"/>
            <a:ext cx="1502494" cy="26173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862458" y="1026598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块内存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19208" y="249944"/>
            <a:ext cx="30837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spc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② Bit-mapped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755872" y="2034607"/>
            <a:ext cx="418102" cy="219075"/>
          </a:xfrm>
          <a:prstGeom prst="rect">
            <a:avLst/>
          </a:prstGeom>
          <a:solidFill>
            <a:srgbClr val="FF000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8132780" y="2753453"/>
            <a:ext cx="845313" cy="284724"/>
          </a:xfrm>
          <a:prstGeom prst="rect">
            <a:avLst/>
          </a:prstGeom>
          <a:solidFill>
            <a:srgbClr val="FF000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19208" y="249944"/>
            <a:ext cx="20545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spc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② Bit-mapped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DE380-77F7-451E-A544-3E1BC4DAB44F}" type="slidenum">
              <a:rPr lang="zh-CN" altLang="en-US" sz="1400" b="1" smtClean="0"/>
            </a:fld>
            <a:r>
              <a:rPr lang="zh-CN" altLang="en-US"/>
              <a:t> </a:t>
            </a:r>
            <a:r>
              <a:rPr lang="en-US" altLang="zh-CN"/>
              <a:t>/ 30</a:t>
            </a:r>
            <a:endParaRPr lang="zh-CN" altLang="en-US" dirty="0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3589" y="5493474"/>
            <a:ext cx="2076450" cy="111442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导入</a:t>
            </a:r>
            <a:r>
              <a:rPr lang="en-US" altLang="zh-CN" dirty="0"/>
              <a:t>.</a:t>
            </a:r>
            <a:r>
              <a:rPr lang="en-US" altLang="zh-CN" spc="0" dirty="0" err="1"/>
              <a:t>co</a:t>
            </a:r>
            <a:r>
              <a:rPr lang="en-US" altLang="zh-CN" dirty="0" err="1"/>
              <a:t>e</a:t>
            </a:r>
            <a:r>
              <a:rPr lang="zh-CN" altLang="en-US" dirty="0"/>
              <a:t>音频数据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91" y="1023430"/>
            <a:ext cx="7170825" cy="559054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0611" y="967332"/>
            <a:ext cx="2967548" cy="380662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807" y="4672358"/>
            <a:ext cx="4568662" cy="121831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0647" y="5743279"/>
            <a:ext cx="3945036" cy="1114721"/>
          </a:xfrm>
          <a:prstGeom prst="rect">
            <a:avLst/>
          </a:prstGeom>
        </p:spPr>
      </p:pic>
      <p:sp>
        <p:nvSpPr>
          <p:cNvPr id="11" name="矩形: 圆角 10"/>
          <p:cNvSpPr/>
          <p:nvPr/>
        </p:nvSpPr>
        <p:spPr>
          <a:xfrm>
            <a:off x="2473928" y="3198327"/>
            <a:ext cx="4471024" cy="56024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19209" y="249944"/>
            <a:ext cx="22626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spc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② Bit-mapped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534417" y="2377476"/>
            <a:ext cx="843945" cy="284724"/>
          </a:xfrm>
          <a:prstGeom prst="rect">
            <a:avLst/>
          </a:prstGeom>
          <a:solidFill>
            <a:srgbClr val="FF000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DE380-77F7-451E-A544-3E1BC4DAB44F}" type="slidenum">
              <a:rPr lang="zh-CN" altLang="en-US" sz="1400" b="1" smtClean="0"/>
            </a:fld>
            <a:r>
              <a:rPr lang="zh-CN" altLang="en-US"/>
              <a:t> </a:t>
            </a:r>
            <a:r>
              <a:rPr lang="en-US" altLang="zh-CN"/>
              <a:t>/ 30</a:t>
            </a:r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乒乓球：</a:t>
            </a:r>
            <a:r>
              <a:rPr lang="zh-CN" altLang="en-US" b="1" dirty="0"/>
              <a:t>音乐</a:t>
            </a:r>
            <a:r>
              <a:rPr lang="zh-CN" altLang="en-US" dirty="0"/>
              <a:t>顶层代码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01" y="900953"/>
            <a:ext cx="5939680" cy="595704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1403" y="1970390"/>
            <a:ext cx="5620597" cy="483712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/>
          <a:srcRect t="2563" b="3185"/>
          <a:stretch>
            <a:fillRect/>
          </a:stretch>
        </p:blipFill>
        <p:spPr>
          <a:xfrm>
            <a:off x="9313048" y="0"/>
            <a:ext cx="2838569" cy="185684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7" name="文本框 6"/>
          <p:cNvSpPr txBox="1"/>
          <p:nvPr/>
        </p:nvSpPr>
        <p:spPr>
          <a:xfrm>
            <a:off x="119208" y="249944"/>
            <a:ext cx="21202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spc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② Bit-mapped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7272169" y="6049575"/>
            <a:ext cx="779930" cy="284724"/>
          </a:xfrm>
          <a:prstGeom prst="rect">
            <a:avLst/>
          </a:prstGeom>
          <a:solidFill>
            <a:srgbClr val="FF000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9" name="组合 18"/>
          <p:cNvGrpSpPr/>
          <p:nvPr/>
        </p:nvGrpSpPr>
        <p:grpSpPr>
          <a:xfrm>
            <a:off x="1052249" y="3774464"/>
            <a:ext cx="9723435" cy="2554378"/>
            <a:chOff x="1052249" y="3774464"/>
            <a:chExt cx="9723435" cy="2554378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52249" y="3774464"/>
              <a:ext cx="9585686" cy="1801900"/>
            </a:xfrm>
            <a:prstGeom prst="rect">
              <a:avLst/>
            </a:prstGeom>
            <a:ln w="28575">
              <a:solidFill>
                <a:srgbClr val="FF0000"/>
              </a:solidFill>
            </a:ln>
          </p:spPr>
        </p:pic>
        <p:sp>
          <p:nvSpPr>
            <p:cNvPr id="11" name="矩形 10"/>
            <p:cNvSpPr/>
            <p:nvPr/>
          </p:nvSpPr>
          <p:spPr>
            <a:xfrm>
              <a:off x="7503150" y="4829256"/>
              <a:ext cx="655269" cy="481930"/>
            </a:xfrm>
            <a:prstGeom prst="rect">
              <a:avLst/>
            </a:prstGeom>
            <a:solidFill>
              <a:schemeClr val="accent4">
                <a:alpha val="2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箭头连接符 12"/>
            <p:cNvCxnSpPr>
              <a:stCxn id="11" idx="2"/>
            </p:cNvCxnSpPr>
            <p:nvPr/>
          </p:nvCxnSpPr>
          <p:spPr>
            <a:xfrm>
              <a:off x="7830785" y="5311186"/>
              <a:ext cx="2944899" cy="9527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/>
            <p:nvPr/>
          </p:nvCxnSpPr>
          <p:spPr>
            <a:xfrm>
              <a:off x="8052099" y="5059315"/>
              <a:ext cx="1299968" cy="12695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DE380-77F7-451E-A544-3E1BC4DAB44F}" type="slidenum">
              <a:rPr lang="zh-CN" altLang="en-US" sz="1400" b="1" smtClean="0"/>
            </a:fld>
            <a:r>
              <a:rPr lang="zh-CN" altLang="en-US"/>
              <a:t> </a:t>
            </a:r>
            <a:r>
              <a:rPr lang="en-US" altLang="zh-CN"/>
              <a:t>/ 30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乒乓球：</a:t>
            </a:r>
            <a:r>
              <a:rPr lang="zh-CN" altLang="en-US" b="1" dirty="0"/>
              <a:t>音乐</a:t>
            </a:r>
            <a:r>
              <a:rPr lang="zh-CN" altLang="en-US" dirty="0"/>
              <a:t>模块代码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00001"/>
            <a:ext cx="6040560" cy="477713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94950" y="1464276"/>
            <a:ext cx="5557819" cy="539372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0347" y="16830"/>
            <a:ext cx="2352383" cy="14237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7" name="矩形: 圆角 6"/>
          <p:cNvSpPr/>
          <p:nvPr/>
        </p:nvSpPr>
        <p:spPr>
          <a:xfrm>
            <a:off x="8022038" y="4729806"/>
            <a:ext cx="3747356" cy="61200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/>
          <p:cNvSpPr/>
          <p:nvPr/>
        </p:nvSpPr>
        <p:spPr>
          <a:xfrm>
            <a:off x="7257232" y="1746319"/>
            <a:ext cx="3747356" cy="61200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2040" y="4117607"/>
            <a:ext cx="1347632" cy="2058539"/>
          </a:xfrm>
          <a:prstGeom prst="rect">
            <a:avLst/>
          </a:prstGeom>
        </p:spPr>
      </p:pic>
      <p:cxnSp>
        <p:nvCxnSpPr>
          <p:cNvPr id="13" name="直接箭头连接符 12"/>
          <p:cNvCxnSpPr>
            <a:stCxn id="14" idx="2"/>
          </p:cNvCxnSpPr>
          <p:nvPr/>
        </p:nvCxnSpPr>
        <p:spPr>
          <a:xfrm>
            <a:off x="5577327" y="4440771"/>
            <a:ext cx="596555" cy="277086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4990467" y="3794440"/>
            <a:ext cx="11737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每</a:t>
            </a:r>
            <a:r>
              <a:rPr lang="en-US" altLang="zh-CN" b="1" dirty="0">
                <a:solidFill>
                  <a:srgbClr val="FF0000"/>
                </a:solidFill>
              </a:rPr>
              <a:t>8kHz</a:t>
            </a:r>
            <a:r>
              <a:rPr lang="zh-CN" altLang="en-US" b="1" dirty="0">
                <a:solidFill>
                  <a:srgbClr val="FF0000"/>
                </a:solidFill>
              </a:rPr>
              <a:t>取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zh-CN" altLang="en-US" b="1" dirty="0">
                <a:solidFill>
                  <a:srgbClr val="FF0000"/>
                </a:solidFill>
              </a:rPr>
              <a:t>一个数据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17" name="直接箭头连接符 16"/>
          <p:cNvCxnSpPr>
            <a:stCxn id="14" idx="2"/>
          </p:cNvCxnSpPr>
          <p:nvPr/>
        </p:nvCxnSpPr>
        <p:spPr>
          <a:xfrm>
            <a:off x="5577327" y="4440771"/>
            <a:ext cx="1250479" cy="323167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3783536" y="5852980"/>
            <a:ext cx="19929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每个</a:t>
            </a:r>
            <a:r>
              <a:rPr lang="en-US" altLang="zh-CN" b="1" dirty="0">
                <a:solidFill>
                  <a:srgbClr val="FF0000"/>
                </a:solidFill>
              </a:rPr>
              <a:t>8kHz</a:t>
            </a:r>
            <a:r>
              <a:rPr lang="zh-CN" altLang="en-US" b="1" dirty="0">
                <a:solidFill>
                  <a:srgbClr val="FF0000"/>
                </a:solidFill>
              </a:rPr>
              <a:t>中</a:t>
            </a:r>
            <a:br>
              <a:rPr lang="en-US" altLang="zh-CN" b="1" dirty="0">
                <a:solidFill>
                  <a:srgbClr val="FF0000"/>
                </a:solidFill>
              </a:rPr>
            </a:br>
            <a:r>
              <a:rPr lang="zh-CN" altLang="en-US" b="1" dirty="0">
                <a:solidFill>
                  <a:srgbClr val="FF0000"/>
                </a:solidFill>
              </a:rPr>
              <a:t>有</a:t>
            </a:r>
            <a:r>
              <a:rPr lang="en-US" altLang="zh-CN" b="1" dirty="0">
                <a:solidFill>
                  <a:srgbClr val="FF0000"/>
                </a:solidFill>
              </a:rPr>
              <a:t>256</a:t>
            </a:r>
            <a:r>
              <a:rPr lang="zh-CN" altLang="en-US" b="1" dirty="0">
                <a:solidFill>
                  <a:srgbClr val="FF0000"/>
                </a:solidFill>
              </a:rPr>
              <a:t>个</a:t>
            </a:r>
            <a:r>
              <a:rPr lang="en-US" altLang="zh-CN" b="1" dirty="0">
                <a:solidFill>
                  <a:srgbClr val="FF0000"/>
                </a:solidFill>
              </a:rPr>
              <a:t>2048kHz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cxnSp>
        <p:nvCxnSpPr>
          <p:cNvPr id="23" name="直接箭头连接符 22"/>
          <p:cNvCxnSpPr>
            <a:stCxn id="22" idx="3"/>
          </p:cNvCxnSpPr>
          <p:nvPr/>
        </p:nvCxnSpPr>
        <p:spPr>
          <a:xfrm flipV="1">
            <a:off x="5776534" y="5659762"/>
            <a:ext cx="696996" cy="51638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119209" y="249944"/>
            <a:ext cx="20271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spc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② Bit-mapped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45004" y="4790928"/>
            <a:ext cx="1258115" cy="335089"/>
          </a:xfrm>
          <a:prstGeom prst="rect">
            <a:avLst/>
          </a:prstGeom>
          <a:solidFill>
            <a:srgbClr val="FF000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1411944" y="3674459"/>
            <a:ext cx="1118471" cy="335089"/>
          </a:xfrm>
          <a:prstGeom prst="rect">
            <a:avLst/>
          </a:prstGeom>
          <a:solidFill>
            <a:schemeClr val="accent6">
              <a:lumMod val="75000"/>
              <a:alpha val="2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1828800" y="2852468"/>
            <a:ext cx="2891037" cy="265684"/>
          </a:xfrm>
          <a:prstGeom prst="rect">
            <a:avLst/>
          </a:prstGeom>
          <a:solidFill>
            <a:schemeClr val="accent4">
              <a:alpha val="2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1414165" y="3118152"/>
            <a:ext cx="621669" cy="556306"/>
          </a:xfrm>
          <a:prstGeom prst="rect">
            <a:avLst/>
          </a:prstGeom>
          <a:solidFill>
            <a:schemeClr val="accent6">
              <a:lumMod val="75000"/>
              <a:alpha val="2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2334883" y="4245088"/>
            <a:ext cx="1036019" cy="335089"/>
          </a:xfrm>
          <a:prstGeom prst="rect">
            <a:avLst/>
          </a:prstGeom>
          <a:solidFill>
            <a:schemeClr val="accent6">
              <a:lumMod val="75000"/>
              <a:alpha val="2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9066451" y="1996606"/>
            <a:ext cx="1036019" cy="335089"/>
          </a:xfrm>
          <a:prstGeom prst="rect">
            <a:avLst/>
          </a:prstGeom>
          <a:solidFill>
            <a:schemeClr val="accent6">
              <a:lumMod val="75000"/>
              <a:alpha val="2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9351472" y="4117605"/>
            <a:ext cx="361872" cy="335089"/>
          </a:xfrm>
          <a:prstGeom prst="rect">
            <a:avLst/>
          </a:prstGeom>
          <a:solidFill>
            <a:schemeClr val="accent6">
              <a:lumMod val="75000"/>
              <a:alpha val="2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DE380-77F7-451E-A544-3E1BC4DAB44F}" type="slidenum">
              <a:rPr lang="zh-CN" altLang="en-US" sz="1400" b="1" smtClean="0"/>
            </a:fld>
            <a:r>
              <a:rPr lang="zh-CN" altLang="en-US"/>
              <a:t> </a:t>
            </a:r>
            <a:r>
              <a:rPr lang="en-US" altLang="zh-CN"/>
              <a:t>/ 30</a:t>
            </a:r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【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作业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4】</a:t>
            </a:r>
            <a:r>
              <a:rPr lang="zh-CN" altLang="en-US" dirty="0"/>
              <a:t>乐器播放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716604" y="1823190"/>
            <a:ext cx="80570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/>
              <a:t>用</a:t>
            </a:r>
            <a:r>
              <a:rPr lang="en-US" altLang="zh-CN" sz="4000" dirty="0"/>
              <a:t>FPGA</a:t>
            </a:r>
            <a:r>
              <a:rPr lang="zh-CN" altLang="en-US" sz="4000" dirty="0"/>
              <a:t>播放你喜欢的一小段乐曲。</a:t>
            </a:r>
            <a:endParaRPr lang="zh-CN" altLang="en-US" sz="40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DE380-77F7-451E-A544-3E1BC4DAB44F}" type="slidenum">
              <a:rPr lang="zh-CN" altLang="en-US" sz="1400" b="1" smtClean="0"/>
            </a:fld>
            <a:r>
              <a:rPr lang="zh-CN" altLang="en-US"/>
              <a:t> </a:t>
            </a:r>
            <a:r>
              <a:rPr lang="en-US" altLang="zh-CN"/>
              <a:t>/ 30</a:t>
            </a:r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0" y="2451482"/>
            <a:ext cx="12192000" cy="2788079"/>
          </a:xfrm>
        </p:spPr>
        <p:txBody>
          <a:bodyPr>
            <a:no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r>
              <a:rPr lang="en-US" altLang="zh-CN" sz="20000" b="1" dirty="0">
                <a:solidFill>
                  <a:schemeClr val="accent1"/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Text</a:t>
            </a:r>
            <a:endParaRPr lang="zh-CN" altLang="en-US" sz="20000" b="1" dirty="0">
              <a:solidFill>
                <a:schemeClr val="accent1"/>
              </a:solidFill>
              <a:effectLst>
                <a:outerShdw blurRad="60007" dist="200025" dir="15000000" sy="30000" kx="-1800000" algn="bl" rotWithShape="0">
                  <a:prstClr val="black">
                    <a:alpha val="32000"/>
                  </a:prstClr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75264" y="314151"/>
            <a:ext cx="728084" cy="132343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altLang="zh-CN" sz="8000" dirty="0"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rPr>
              <a:t>3</a:t>
            </a:r>
            <a:endParaRPr lang="zh-CN" altLang="en-US" sz="8000" dirty="0">
              <a:solidFill>
                <a:schemeClr val="accent5">
                  <a:lumMod val="40000"/>
                  <a:lumOff val="60000"/>
                </a:schemeClr>
              </a:solidFill>
              <a:effectLst>
                <a:glow rad="101600">
                  <a:schemeClr val="accent2">
                    <a:satMod val="175000"/>
                    <a:alpha val="4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Impact" panose="020B080603090205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19462" y="6031025"/>
            <a:ext cx="2287402" cy="577751"/>
          </a:xfrm>
          <a:prstGeom prst="flowChartMulti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1"/>
                </a:solidFill>
              </a:rPr>
              <a:t>ping-pong</a:t>
            </a:r>
            <a:endParaRPr lang="zh-CN" altLang="en-US" sz="2400" b="1" dirty="0">
              <a:solidFill>
                <a:schemeClr val="accent1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DE380-77F7-451E-A544-3E1BC4DAB44F}" type="slidenum">
              <a:rPr lang="zh-CN" altLang="en-US" sz="1400" b="1" smtClean="0"/>
            </a:fld>
            <a:r>
              <a:rPr lang="zh-CN" altLang="en-US"/>
              <a:t> </a:t>
            </a:r>
            <a:r>
              <a:rPr lang="en-US" altLang="zh-CN"/>
              <a:t>/ 63</a:t>
            </a:r>
            <a:endParaRPr lang="zh-CN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pc="0" dirty="0"/>
              <a:t>128</a:t>
            </a:r>
            <a:r>
              <a:rPr lang="zh-CN" altLang="en-US" spc="0" dirty="0"/>
              <a:t>个</a:t>
            </a:r>
            <a:r>
              <a:rPr lang="en-US" altLang="zh-CN" b="1" spc="0" dirty="0">
                <a:solidFill>
                  <a:schemeClr val="accent1"/>
                </a:solidFill>
              </a:rPr>
              <a:t>7</a:t>
            </a:r>
            <a:r>
              <a:rPr lang="en-US" altLang="zh-CN" spc="0" dirty="0"/>
              <a:t>-bit ASCII</a:t>
            </a:r>
            <a:r>
              <a:rPr lang="zh-CN" altLang="en-US" dirty="0"/>
              <a:t>字符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746" y="912771"/>
            <a:ext cx="5027916" cy="5945229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4889129" y="1986616"/>
            <a:ext cx="2390843" cy="3797538"/>
            <a:chOff x="4993444" y="1139100"/>
            <a:chExt cx="2390843" cy="3797538"/>
          </a:xfrm>
        </p:grpSpPr>
        <p:cxnSp>
          <p:nvCxnSpPr>
            <p:cNvPr id="8" name="直接箭头连接符 7"/>
            <p:cNvCxnSpPr/>
            <p:nvPr/>
          </p:nvCxnSpPr>
          <p:spPr>
            <a:xfrm flipV="1">
              <a:off x="5665913" y="1333545"/>
              <a:ext cx="1671191" cy="15390"/>
            </a:xfrm>
            <a:prstGeom prst="straightConnector1">
              <a:avLst/>
            </a:prstGeom>
            <a:ln w="19050"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65913" y="1671727"/>
              <a:ext cx="1718374" cy="3264911"/>
            </a:xfrm>
            <a:prstGeom prst="rect">
              <a:avLst/>
            </a:prstGeom>
          </p:spPr>
        </p:pic>
        <p:sp>
          <p:nvSpPr>
            <p:cNvPr id="6" name="文本框 5"/>
            <p:cNvSpPr txBox="1"/>
            <p:nvPr/>
          </p:nvSpPr>
          <p:spPr>
            <a:xfrm>
              <a:off x="6051219" y="1139100"/>
              <a:ext cx="926857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rPr>
                <a:t>pixel</a:t>
              </a:r>
              <a:endParaRPr lang="zh-CN" alt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9" name="直接箭头连接符 8"/>
            <p:cNvCxnSpPr/>
            <p:nvPr/>
          </p:nvCxnSpPr>
          <p:spPr>
            <a:xfrm>
              <a:off x="5436236" y="1716605"/>
              <a:ext cx="0" cy="3175154"/>
            </a:xfrm>
            <a:prstGeom prst="straightConnector1">
              <a:avLst/>
            </a:prstGeom>
            <a:ln w="19050"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0"/>
            <p:cNvSpPr txBox="1"/>
            <p:nvPr/>
          </p:nvSpPr>
          <p:spPr>
            <a:xfrm>
              <a:off x="4993444" y="2866206"/>
              <a:ext cx="713657" cy="70788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accent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16</a:t>
              </a:r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endPara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rPr>
                <a:t>pixel</a:t>
              </a:r>
              <a:endParaRPr lang="zh-CN" alt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9648" y="2075632"/>
            <a:ext cx="2276103" cy="442397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7630330" y="1151771"/>
                <a:ext cx="2455929" cy="50039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6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CN" sz="2600" b="1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e>
                      <m:sup>
                        <m:r>
                          <a:rPr lang="en-US" altLang="zh-CN" sz="26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𝟕</m:t>
                        </m:r>
                        <m:r>
                          <a:rPr lang="en-US" altLang="zh-CN" sz="2600" b="1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en-US" altLang="zh-CN" sz="2600" b="1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𝟒</m:t>
                        </m:r>
                      </m:sup>
                    </m:sSup>
                    <m:r>
                      <a:rPr lang="en-US" altLang="zh-CN" sz="26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altLang="zh-CN" sz="2600" b="1" i="1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×  </m:t>
                    </m:r>
                  </m:oMath>
                </a14:m>
                <a:r>
                  <a:rPr lang="en-US" altLang="zh-CN" sz="26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  <a:r>
                  <a:rPr lang="en-US" altLang="zh-CN" sz="2600" b="1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ROM</a:t>
                </a:r>
                <a:endParaRPr lang="zh-CN" altLang="en-US" sz="2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0330" y="1151771"/>
                <a:ext cx="2455929" cy="500393"/>
              </a:xfrm>
              <a:prstGeom prst="rect">
                <a:avLst/>
              </a:prstGeom>
              <a:blipFill rotWithShape="1">
                <a:blip r:embed="rId4"/>
                <a:stretch>
                  <a:fillRect l="-7" t="-103" r="-1503" b="1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图片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3283" y="2960629"/>
            <a:ext cx="2410971" cy="2525416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7573251" y="179332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字符</a:t>
            </a:r>
            <a:endParaRPr lang="zh-CN" altLang="en-US" b="1" dirty="0"/>
          </a:p>
        </p:txBody>
      </p:sp>
      <p:cxnSp>
        <p:nvCxnSpPr>
          <p:cNvPr id="22" name="直接箭头连接符 21"/>
          <p:cNvCxnSpPr/>
          <p:nvPr/>
        </p:nvCxnSpPr>
        <p:spPr>
          <a:xfrm>
            <a:off x="5174299" y="650054"/>
            <a:ext cx="2722116" cy="5515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119208" y="249944"/>
            <a:ext cx="21585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spc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③ </a:t>
            </a:r>
            <a:r>
              <a:rPr lang="en-US" altLang="zh-CN" sz="2000" b="1" spc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Tile</a:t>
            </a:r>
            <a:r>
              <a:rPr lang="en-US" altLang="zh-CN" sz="2000" b="1" spc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-mapped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矩形: 圆角 17"/>
          <p:cNvSpPr/>
          <p:nvPr/>
        </p:nvSpPr>
        <p:spPr>
          <a:xfrm>
            <a:off x="7528973" y="1793320"/>
            <a:ext cx="734885" cy="4921630"/>
          </a:xfrm>
          <a:prstGeom prst="roundRect">
            <a:avLst/>
          </a:prstGeom>
          <a:noFill/>
          <a:ln w="28575">
            <a:solidFill>
              <a:srgbClr val="FF0000">
                <a:alpha val="50196"/>
              </a:srgb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/>
          <p:cNvSpPr/>
          <p:nvPr/>
        </p:nvSpPr>
        <p:spPr>
          <a:xfrm>
            <a:off x="8263858" y="1793320"/>
            <a:ext cx="435184" cy="4921630"/>
          </a:xfrm>
          <a:prstGeom prst="roundRect">
            <a:avLst/>
          </a:prstGeom>
          <a:noFill/>
          <a:ln w="28575">
            <a:solidFill>
              <a:srgbClr val="FF0000">
                <a:alpha val="50196"/>
              </a:srgb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DE380-77F7-451E-A544-3E1BC4DAB44F}" type="slidenum">
              <a:rPr lang="zh-CN" altLang="en-US" sz="1400" b="1" smtClean="0"/>
            </a:fld>
            <a:r>
              <a:rPr lang="zh-CN" altLang="en-US"/>
              <a:t> </a:t>
            </a:r>
            <a:r>
              <a:rPr lang="en-US" altLang="zh-CN"/>
              <a:t>/ 30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9385364" y="1726684"/>
            <a:ext cx="62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data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6678941" y="1211977"/>
            <a:ext cx="8947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accent5"/>
                </a:solidFill>
              </a:rPr>
              <a:t>2048=</a:t>
            </a:r>
            <a:endParaRPr lang="zh-CN" altLang="en-US" sz="2000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0" y="-5292"/>
            <a:ext cx="12192000" cy="900000"/>
          </a:xfrm>
        </p:spPr>
        <p:txBody>
          <a:bodyPr>
            <a:normAutofit/>
          </a:bodyPr>
          <a:lstStyle/>
          <a:p>
            <a:r>
              <a:rPr lang="zh-CN" altLang="en-US" dirty="0"/>
              <a:t>字符 </a:t>
            </a:r>
            <a:r>
              <a:rPr lang="zh-CN" altLang="en-US" sz="3200" dirty="0"/>
              <a:t>与</a:t>
            </a:r>
            <a:r>
              <a:rPr lang="zh-CN" altLang="en-US" dirty="0"/>
              <a:t> 屏幕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3692264" y="1631061"/>
            <a:ext cx="7061748" cy="5431699"/>
            <a:chOff x="1078019" y="1293612"/>
            <a:chExt cx="3849124" cy="2847789"/>
          </a:xfrm>
        </p:grpSpPr>
        <p:pic>
          <p:nvPicPr>
            <p:cNvPr id="5" name="Picture 2"/>
            <p:cNvPicPr>
              <a:picLocks noChangeAspect="1" noChangeArrowheads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173"/>
            <a:stretch>
              <a:fillRect/>
            </a:stretch>
          </p:blipFill>
          <p:spPr bwMode="auto">
            <a:xfrm>
              <a:off x="1078019" y="1293612"/>
              <a:ext cx="3849124" cy="28477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矩形 5"/>
            <p:cNvSpPr/>
            <p:nvPr/>
          </p:nvSpPr>
          <p:spPr>
            <a:xfrm>
              <a:off x="1210730" y="1442696"/>
              <a:ext cx="3596882" cy="1986304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7202" y="1913130"/>
            <a:ext cx="276308" cy="524985"/>
          </a:xfrm>
          <a:prstGeom prst="rect">
            <a:avLst/>
          </a:prstGeom>
        </p:spPr>
      </p:pic>
      <p:cxnSp>
        <p:nvCxnSpPr>
          <p:cNvPr id="8" name="直接箭头连接符 7"/>
          <p:cNvCxnSpPr/>
          <p:nvPr/>
        </p:nvCxnSpPr>
        <p:spPr>
          <a:xfrm>
            <a:off x="3935741" y="6284736"/>
            <a:ext cx="6588840" cy="0"/>
          </a:xfrm>
          <a:prstGeom prst="straightConnector1">
            <a:avLst/>
          </a:prstGeom>
          <a:ln w="19050"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7509669" y="6123951"/>
            <a:ext cx="1212191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640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pixel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 flipH="1">
            <a:off x="11098500" y="1677515"/>
            <a:ext cx="12648" cy="4010842"/>
          </a:xfrm>
          <a:prstGeom prst="straightConnector1">
            <a:avLst/>
          </a:prstGeom>
          <a:ln w="19050"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10737182" y="3600436"/>
            <a:ext cx="1212191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480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pixel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9120" y="1914063"/>
            <a:ext cx="276308" cy="52498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659" y="1914704"/>
            <a:ext cx="276308" cy="52498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541" y="5175600"/>
            <a:ext cx="276308" cy="52498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2727" y="5175600"/>
            <a:ext cx="276308" cy="52498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4105" y="2450909"/>
            <a:ext cx="276308" cy="52498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8495" y="5162110"/>
            <a:ext cx="276308" cy="52498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2885" y="1913127"/>
            <a:ext cx="276308" cy="52498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5579" y="5164383"/>
            <a:ext cx="276308" cy="52498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4454" y="4630783"/>
            <a:ext cx="276308" cy="52498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909" y="4643849"/>
            <a:ext cx="276308" cy="52498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3878" y="2452893"/>
            <a:ext cx="276308" cy="524985"/>
          </a:xfrm>
          <a:prstGeom prst="rect">
            <a:avLst/>
          </a:prstGeom>
        </p:spPr>
      </p:pic>
      <p:cxnSp>
        <p:nvCxnSpPr>
          <p:cNvPr id="27" name="直接箭头连接符 26"/>
          <p:cNvCxnSpPr/>
          <p:nvPr/>
        </p:nvCxnSpPr>
        <p:spPr>
          <a:xfrm>
            <a:off x="3935741" y="2330748"/>
            <a:ext cx="6588840" cy="0"/>
          </a:xfrm>
          <a:prstGeom prst="straightConnector1">
            <a:avLst/>
          </a:prstGeom>
          <a:ln w="19050"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6820596" y="2150196"/>
            <a:ext cx="797013" cy="400110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 </a:t>
            </a:r>
            <a:r>
              <a:rPr lang="zh-CN" alt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个</a:t>
            </a:r>
            <a:endParaRPr lang="zh-CN" alt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9" name="直接箭头连接符 28"/>
          <p:cNvCxnSpPr/>
          <p:nvPr/>
        </p:nvCxnSpPr>
        <p:spPr>
          <a:xfrm>
            <a:off x="4094402" y="1905412"/>
            <a:ext cx="1242" cy="3788555"/>
          </a:xfrm>
          <a:prstGeom prst="straightConnector1">
            <a:avLst/>
          </a:prstGeom>
          <a:ln w="19050"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4104537" y="3517102"/>
            <a:ext cx="726481" cy="400110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</a:t>
            </a:r>
            <a:r>
              <a:rPr lang="zh-CN" alt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个</a:t>
            </a:r>
            <a:endParaRPr lang="zh-CN" alt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666112" y="998832"/>
            <a:ext cx="2754650" cy="400110"/>
          </a:xfrm>
          <a:prstGeom prst="wedgeRectCallout">
            <a:avLst>
              <a:gd name="adj1" fmla="val 32930"/>
              <a:gd name="adj2" fmla="val 16905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/>
              <a:t>(…00</a:t>
            </a:r>
            <a:r>
              <a:rPr lang="en-US" altLang="zh-CN" sz="2000" b="1" dirty="0"/>
              <a:t>0_0000</a:t>
            </a:r>
            <a:r>
              <a:rPr lang="en-US" altLang="zh-CN" sz="2000" dirty="0">
                <a:solidFill>
                  <a:srgbClr val="FF0000"/>
                </a:solidFill>
              </a:rPr>
              <a:t>000</a:t>
            </a:r>
            <a:r>
              <a:rPr lang="en-US" altLang="zh-CN" sz="2000" dirty="0"/>
              <a:t>, 0…0)</a:t>
            </a:r>
            <a:r>
              <a:rPr lang="en-US" altLang="zh-CN" sz="2000" baseline="-25000" dirty="0"/>
              <a:t>2</a:t>
            </a:r>
            <a:endParaRPr lang="zh-CN" altLang="en-US" sz="2000" baseline="-25000" dirty="0"/>
          </a:p>
        </p:txBody>
      </p:sp>
      <p:sp>
        <p:nvSpPr>
          <p:cNvPr id="33" name="文本框 32"/>
          <p:cNvSpPr txBox="1"/>
          <p:nvPr/>
        </p:nvSpPr>
        <p:spPr>
          <a:xfrm>
            <a:off x="4766493" y="998832"/>
            <a:ext cx="2851115" cy="400110"/>
          </a:xfrm>
          <a:prstGeom prst="wedgeRectCallout">
            <a:avLst>
              <a:gd name="adj1" fmla="val -65104"/>
              <a:gd name="adj2" fmla="val 156439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/>
              <a:t>(…00</a:t>
            </a:r>
            <a:r>
              <a:rPr lang="en-US" altLang="zh-CN" sz="2000" b="1" dirty="0"/>
              <a:t>0_0001</a:t>
            </a:r>
            <a:r>
              <a:rPr lang="en-US" altLang="zh-CN" sz="2000" dirty="0">
                <a:solidFill>
                  <a:srgbClr val="FF0000"/>
                </a:solidFill>
              </a:rPr>
              <a:t>000</a:t>
            </a:r>
            <a:r>
              <a:rPr lang="en-US" altLang="zh-CN" sz="2000" dirty="0"/>
              <a:t>, 0…0)</a:t>
            </a:r>
            <a:r>
              <a:rPr lang="en-US" altLang="zh-CN" sz="2000" baseline="-25000" dirty="0"/>
              <a:t>2</a:t>
            </a:r>
            <a:endParaRPr lang="zh-CN" altLang="en-US" sz="2000" baseline="-25000" dirty="0"/>
          </a:p>
        </p:txBody>
      </p:sp>
      <p:sp>
        <p:nvSpPr>
          <p:cNvPr id="37" name="椭圆 36"/>
          <p:cNvSpPr/>
          <p:nvPr/>
        </p:nvSpPr>
        <p:spPr>
          <a:xfrm>
            <a:off x="3916082" y="1877737"/>
            <a:ext cx="72000" cy="72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/>
          <p:cNvSpPr/>
          <p:nvPr/>
        </p:nvSpPr>
        <p:spPr>
          <a:xfrm>
            <a:off x="4213850" y="1877730"/>
            <a:ext cx="72000" cy="72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9038530" y="993287"/>
            <a:ext cx="2837445" cy="400110"/>
          </a:xfrm>
          <a:prstGeom prst="wedgeRectCallout">
            <a:avLst>
              <a:gd name="adj1" fmla="val -8180"/>
              <a:gd name="adj2" fmla="val 16204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/>
              <a:t>(…10</a:t>
            </a:r>
            <a:r>
              <a:rPr lang="en-US" altLang="zh-CN" sz="2000" b="1" dirty="0"/>
              <a:t>0_1111</a:t>
            </a:r>
            <a:r>
              <a:rPr lang="en-US" altLang="zh-CN" sz="2000" dirty="0">
                <a:solidFill>
                  <a:srgbClr val="FF0000"/>
                </a:solidFill>
              </a:rPr>
              <a:t>000</a:t>
            </a:r>
            <a:r>
              <a:rPr lang="en-US" altLang="zh-CN" sz="2000" dirty="0"/>
              <a:t>, 0…0)</a:t>
            </a:r>
            <a:r>
              <a:rPr lang="en-US" altLang="zh-CN" sz="2000" baseline="-25000" dirty="0"/>
              <a:t>2</a:t>
            </a:r>
            <a:endParaRPr lang="zh-CN" altLang="en-US" sz="2000" baseline="-25000" dirty="0"/>
          </a:p>
        </p:txBody>
      </p:sp>
      <p:sp>
        <p:nvSpPr>
          <p:cNvPr id="40" name="椭圆 39"/>
          <p:cNvSpPr/>
          <p:nvPr/>
        </p:nvSpPr>
        <p:spPr>
          <a:xfrm>
            <a:off x="10222334" y="1901862"/>
            <a:ext cx="72000" cy="72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/>
          <p:cNvSpPr/>
          <p:nvPr/>
        </p:nvSpPr>
        <p:spPr>
          <a:xfrm>
            <a:off x="3933221" y="2454345"/>
            <a:ext cx="72000" cy="72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521708" y="1767273"/>
            <a:ext cx="2663569" cy="400110"/>
          </a:xfrm>
          <a:prstGeom prst="wedgeRectCallout">
            <a:avLst>
              <a:gd name="adj1" fmla="val 76477"/>
              <a:gd name="adj2" fmla="val -6201"/>
            </a:avLst>
          </a:prstGeom>
          <a:noFill/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/>
              <a:t>(0…0, …</a:t>
            </a:r>
            <a:r>
              <a:rPr lang="en-US" altLang="zh-CN" sz="2000" b="1" dirty="0"/>
              <a:t>0_0000</a:t>
            </a:r>
            <a:r>
              <a:rPr lang="en-US" altLang="zh-CN" sz="2000" b="1" i="1" dirty="0">
                <a:solidFill>
                  <a:schemeClr val="accent6"/>
                </a:solidFill>
              </a:rPr>
              <a:t>0000</a:t>
            </a:r>
            <a:r>
              <a:rPr lang="en-US" altLang="zh-CN" sz="2000" b="1" i="1" dirty="0">
                <a:solidFill>
                  <a:schemeClr val="accent5"/>
                </a:solidFill>
              </a:rPr>
              <a:t> </a:t>
            </a:r>
            <a:r>
              <a:rPr lang="en-US" altLang="zh-CN" sz="2000" dirty="0"/>
              <a:t>)</a:t>
            </a:r>
            <a:r>
              <a:rPr lang="en-US" altLang="zh-CN" sz="2000" baseline="-25000" dirty="0"/>
              <a:t>2</a:t>
            </a:r>
            <a:endParaRPr lang="zh-CN" altLang="en-US" sz="2000" baseline="-25000" dirty="0"/>
          </a:p>
        </p:txBody>
      </p:sp>
      <p:sp>
        <p:nvSpPr>
          <p:cNvPr id="43" name="文本框 42"/>
          <p:cNvSpPr txBox="1"/>
          <p:nvPr/>
        </p:nvSpPr>
        <p:spPr>
          <a:xfrm>
            <a:off x="521708" y="2360749"/>
            <a:ext cx="2663569" cy="400110"/>
          </a:xfrm>
          <a:prstGeom prst="wedgeRectCallout">
            <a:avLst>
              <a:gd name="adj1" fmla="val 78162"/>
              <a:gd name="adj2" fmla="val -10407"/>
            </a:avLst>
          </a:prstGeom>
          <a:noFill/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/>
              <a:t>(0…0, …</a:t>
            </a:r>
            <a:r>
              <a:rPr lang="en-US" altLang="zh-CN" sz="2000" b="1" dirty="0"/>
              <a:t>0_0001</a:t>
            </a:r>
            <a:r>
              <a:rPr lang="en-US" altLang="zh-CN" sz="2000" b="1" i="1" dirty="0">
                <a:solidFill>
                  <a:schemeClr val="accent6"/>
                </a:solidFill>
              </a:rPr>
              <a:t>0000</a:t>
            </a:r>
            <a:r>
              <a:rPr lang="en-US" altLang="zh-CN" sz="2000" b="1" i="1" dirty="0">
                <a:solidFill>
                  <a:schemeClr val="accent5"/>
                </a:solidFill>
              </a:rPr>
              <a:t> </a:t>
            </a:r>
            <a:r>
              <a:rPr lang="en-US" altLang="zh-CN" sz="2000" dirty="0"/>
              <a:t>)</a:t>
            </a:r>
            <a:r>
              <a:rPr lang="en-US" altLang="zh-CN" sz="2000" baseline="-25000" dirty="0"/>
              <a:t>2</a:t>
            </a:r>
            <a:endParaRPr lang="zh-CN" altLang="en-US" sz="2000" baseline="-25000" dirty="0"/>
          </a:p>
        </p:txBody>
      </p:sp>
      <p:sp>
        <p:nvSpPr>
          <p:cNvPr id="44" name="椭圆 43"/>
          <p:cNvSpPr/>
          <p:nvPr/>
        </p:nvSpPr>
        <p:spPr>
          <a:xfrm>
            <a:off x="3929470" y="5157607"/>
            <a:ext cx="72000" cy="72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397809" y="5658539"/>
            <a:ext cx="2663569" cy="400110"/>
          </a:xfrm>
          <a:prstGeom prst="wedgeRectCallout">
            <a:avLst>
              <a:gd name="adj1" fmla="val 81822"/>
              <a:gd name="adj2" fmla="val -159425"/>
            </a:avLst>
          </a:prstGeom>
          <a:noFill/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/>
              <a:t>(0…0, …</a:t>
            </a:r>
            <a:r>
              <a:rPr lang="en-US" altLang="zh-CN" sz="2000" b="1" dirty="0"/>
              <a:t>1_1000</a:t>
            </a:r>
            <a:r>
              <a:rPr lang="en-US" altLang="zh-CN" sz="2000" b="1" i="1" dirty="0">
                <a:solidFill>
                  <a:schemeClr val="accent6"/>
                </a:solidFill>
              </a:rPr>
              <a:t>0000</a:t>
            </a:r>
            <a:r>
              <a:rPr lang="en-US" altLang="zh-CN" sz="2000" b="1" i="1" dirty="0">
                <a:solidFill>
                  <a:schemeClr val="accent5"/>
                </a:solidFill>
              </a:rPr>
              <a:t> </a:t>
            </a:r>
            <a:r>
              <a:rPr lang="en-US" altLang="zh-CN" sz="2000" dirty="0"/>
              <a:t>)</a:t>
            </a:r>
            <a:r>
              <a:rPr lang="en-US" altLang="zh-CN" sz="2000" baseline="-25000" dirty="0"/>
              <a:t>2</a:t>
            </a:r>
            <a:endParaRPr lang="zh-CN" altLang="en-US" sz="2000" baseline="-25000" dirty="0"/>
          </a:p>
        </p:txBody>
      </p:sp>
      <p:sp>
        <p:nvSpPr>
          <p:cNvPr id="52" name="文本框 51"/>
          <p:cNvSpPr txBox="1"/>
          <p:nvPr/>
        </p:nvSpPr>
        <p:spPr>
          <a:xfrm>
            <a:off x="629618" y="6319749"/>
            <a:ext cx="2519850" cy="408623"/>
          </a:xfrm>
          <a:prstGeom prst="wedgeRoundRectCallout">
            <a:avLst>
              <a:gd name="adj1" fmla="val 18572"/>
              <a:gd name="adj2" fmla="val -131073"/>
              <a:gd name="adj3" fmla="val 16667"/>
            </a:avLst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b="1" dirty="0"/>
              <a:t>row</a:t>
            </a:r>
            <a:r>
              <a:rPr lang="en-US" altLang="zh-CN" b="1" dirty="0"/>
              <a:t>A</a:t>
            </a:r>
            <a:r>
              <a:rPr lang="zh-CN" altLang="en-US" b="1" dirty="0"/>
              <a:t>ddr </a:t>
            </a:r>
            <a:r>
              <a:rPr lang="zh-CN" altLang="en-US" dirty="0"/>
              <a:t>= </a:t>
            </a:r>
            <a:r>
              <a:rPr lang="zh-CN" altLang="en-US" b="1" dirty="0">
                <a:solidFill>
                  <a:schemeClr val="accent6"/>
                </a:solidFill>
              </a:rPr>
              <a:t>y</a:t>
            </a:r>
            <a:r>
              <a:rPr lang="en-US" altLang="zh-CN" b="1" dirty="0">
                <a:solidFill>
                  <a:schemeClr val="accent6"/>
                </a:solidFill>
              </a:rPr>
              <a:t>Text</a:t>
            </a:r>
            <a:r>
              <a:rPr lang="zh-CN" altLang="en-US" b="1" dirty="0">
                <a:solidFill>
                  <a:schemeClr val="accent6"/>
                </a:solidFill>
              </a:rPr>
              <a:t>[3:0]</a:t>
            </a:r>
            <a:endParaRPr lang="zh-CN" altLang="en-US" b="1" dirty="0">
              <a:solidFill>
                <a:schemeClr val="accent6"/>
              </a:solidFill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10068603" y="387783"/>
            <a:ext cx="1330538" cy="408623"/>
          </a:xfrm>
          <a:prstGeom prst="wedgeRoundRectCallout">
            <a:avLst>
              <a:gd name="adj1" fmla="val -6120"/>
              <a:gd name="adj2" fmla="val 111922"/>
              <a:gd name="adj3" fmla="val 16667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x</a:t>
            </a:r>
            <a:r>
              <a:rPr lang="en-US" altLang="zh-CN" b="1" dirty="0">
                <a:solidFill>
                  <a:srgbClr val="FF0000"/>
                </a:solidFill>
              </a:rPr>
              <a:t>Text</a:t>
            </a:r>
            <a:r>
              <a:rPr lang="zh-CN" altLang="en-US" b="1" dirty="0">
                <a:solidFill>
                  <a:srgbClr val="FF0000"/>
                </a:solidFill>
              </a:rPr>
              <a:t>[2:0]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19208" y="249944"/>
            <a:ext cx="30837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spc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③ Tile-mapped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DE380-77F7-451E-A544-3E1BC4DAB44F}" type="slidenum">
              <a:rPr lang="zh-CN" altLang="en-US" sz="1400" b="1" smtClean="0"/>
            </a:fld>
            <a:r>
              <a:rPr lang="zh-CN" altLang="en-US"/>
              <a:t> </a:t>
            </a:r>
            <a:r>
              <a:rPr lang="en-US" altLang="zh-CN"/>
              <a:t>/ 30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722" y="2850653"/>
            <a:ext cx="1679896" cy="266341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pc="0" dirty="0"/>
              <a:t>用</a:t>
            </a:r>
            <a:r>
              <a:rPr lang="en-US" altLang="zh-CN" b="1" spc="0" dirty="0">
                <a:solidFill>
                  <a:srgbClr val="FF0000"/>
                </a:solidFill>
              </a:rPr>
              <a:t>D</a:t>
            </a:r>
            <a:r>
              <a:rPr lang="en-US" altLang="zh-CN" spc="0" dirty="0"/>
              <a:t>RAM</a:t>
            </a:r>
            <a:r>
              <a:rPr lang="zh-CN" altLang="en-US" spc="0" dirty="0"/>
              <a:t>存放</a:t>
            </a:r>
            <a:r>
              <a:rPr lang="en-US" altLang="zh-CN" spc="0" dirty="0"/>
              <a:t>ASCII</a:t>
            </a:r>
            <a:endParaRPr lang="zh-CN" altLang="en-US" spc="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69" y="942448"/>
            <a:ext cx="5189690" cy="437680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715" y="2322464"/>
            <a:ext cx="5670285" cy="453553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7352" y="1325723"/>
            <a:ext cx="4761132" cy="5532277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19208" y="249944"/>
            <a:ext cx="21311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spc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③ </a:t>
            </a:r>
            <a:r>
              <a:rPr lang="en-US" altLang="zh-CN" sz="2000" b="1" spc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Tile</a:t>
            </a:r>
            <a:r>
              <a:rPr lang="en-US" altLang="zh-CN" sz="2000" b="1" spc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-mapped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2087452" y="2760029"/>
            <a:ext cx="1155022" cy="549762"/>
          </a:xfrm>
          <a:prstGeom prst="roundRect">
            <a:avLst/>
          </a:prstGeom>
          <a:noFill/>
          <a:ln w="28575">
            <a:solidFill>
              <a:srgbClr val="FF0000">
                <a:alpha val="5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/>
          <p:cNvSpPr/>
          <p:nvPr/>
        </p:nvSpPr>
        <p:spPr>
          <a:xfrm>
            <a:off x="8468322" y="4253175"/>
            <a:ext cx="2998142" cy="324435"/>
          </a:xfrm>
          <a:prstGeom prst="roundRect">
            <a:avLst/>
          </a:prstGeom>
          <a:noFill/>
          <a:ln w="28575">
            <a:solidFill>
              <a:srgbClr val="FF0000">
                <a:alpha val="5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/>
          <p:cNvSpPr/>
          <p:nvPr/>
        </p:nvSpPr>
        <p:spPr>
          <a:xfrm>
            <a:off x="55488" y="1263869"/>
            <a:ext cx="2199657" cy="27488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250371" y="1149944"/>
            <a:ext cx="19842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spc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分布式内存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926750" y="2250807"/>
            <a:ext cx="940764" cy="284724"/>
          </a:xfrm>
          <a:prstGeom prst="rect">
            <a:avLst/>
          </a:prstGeom>
          <a:solidFill>
            <a:srgbClr val="FF000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5795784" y="2504304"/>
            <a:ext cx="725931" cy="284724"/>
          </a:xfrm>
          <a:prstGeom prst="rect">
            <a:avLst/>
          </a:prstGeom>
          <a:solidFill>
            <a:srgbClr val="FF000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9649860" y="3516148"/>
            <a:ext cx="940764" cy="284724"/>
          </a:xfrm>
          <a:prstGeom prst="rect">
            <a:avLst/>
          </a:prstGeom>
          <a:solidFill>
            <a:srgbClr val="FF000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DE380-77F7-451E-A544-3E1BC4DAB44F}" type="slidenum">
              <a:rPr lang="zh-CN" altLang="en-US" sz="1400" b="1" smtClean="0"/>
            </a:fld>
            <a:r>
              <a:rPr lang="zh-CN" altLang="en-US"/>
              <a:t> </a:t>
            </a:r>
            <a:r>
              <a:rPr lang="en-US" altLang="zh-CN"/>
              <a:t>/ 30</a:t>
            </a:r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ASCII-</a:t>
            </a:r>
            <a:r>
              <a:rPr lang="en-US" altLang="zh-CN" b="1" spc="0" dirty="0">
                <a:solidFill>
                  <a:srgbClr val="FF0000"/>
                </a:solidFill>
              </a:rPr>
              <a:t> D</a:t>
            </a:r>
            <a:r>
              <a:rPr lang="en-US" altLang="zh-CN" spc="0" dirty="0"/>
              <a:t>RAM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322" y="899999"/>
            <a:ext cx="3560473" cy="505710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816" y="922436"/>
            <a:ext cx="2673483" cy="495665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22" y="6030551"/>
            <a:ext cx="2880201" cy="803856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936837" y="5782736"/>
            <a:ext cx="147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……………………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4960005" y="5828549"/>
            <a:ext cx="1156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………………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502" y="2155936"/>
            <a:ext cx="2825243" cy="872893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1053" y="4014291"/>
            <a:ext cx="4367212" cy="936354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9517" y="6120373"/>
            <a:ext cx="1155562" cy="714034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3833303" y="927803"/>
            <a:ext cx="11705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.</a:t>
            </a:r>
            <a:r>
              <a:rPr lang="en-US" altLang="zh-CN" sz="2000" b="1" dirty="0" err="1"/>
              <a:t>coe</a:t>
            </a:r>
            <a:r>
              <a:rPr lang="zh-CN" altLang="en-US" sz="2000" b="1" dirty="0"/>
              <a:t>文件</a:t>
            </a:r>
            <a:endParaRPr lang="zh-CN" altLang="en-US" sz="2000" b="1" dirty="0"/>
          </a:p>
        </p:txBody>
      </p:sp>
      <p:sp>
        <p:nvSpPr>
          <p:cNvPr id="12" name="文本框 11"/>
          <p:cNvSpPr txBox="1"/>
          <p:nvPr/>
        </p:nvSpPr>
        <p:spPr>
          <a:xfrm>
            <a:off x="119209" y="249944"/>
            <a:ext cx="21476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spc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③ Tile-mapped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DE380-77F7-451E-A544-3E1BC4DAB44F}" type="slidenum">
              <a:rPr lang="zh-CN" altLang="en-US" sz="1400" b="1" smtClean="0"/>
            </a:fld>
            <a:r>
              <a:rPr lang="zh-CN" altLang="en-US"/>
              <a:t> </a:t>
            </a:r>
            <a:r>
              <a:rPr lang="en-US" altLang="zh-CN"/>
              <a:t>/ 30</a:t>
            </a:r>
            <a:endParaRPr lang="zh-CN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7119" y="901837"/>
            <a:ext cx="6285695" cy="379406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66" y="887840"/>
            <a:ext cx="5164213" cy="597015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显示得分 </a:t>
            </a:r>
            <a:r>
              <a:rPr lang="en-US" altLang="zh-CN" sz="44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Score</a:t>
            </a:r>
            <a:r>
              <a:rPr lang="en-US" altLang="zh-CN" sz="44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US" altLang="zh-CN" sz="44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01</a:t>
            </a:r>
            <a:endParaRPr lang="zh-CN" altLang="en-US" spc="0" dirty="0">
              <a:solidFill>
                <a:schemeClr val="tx1">
                  <a:lumMod val="65000"/>
                  <a:lumOff val="35000"/>
                </a:schemeClr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473" y="6437617"/>
            <a:ext cx="4959077" cy="31108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3524" y="4845354"/>
            <a:ext cx="1845949" cy="1568762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13" name="文本框 12"/>
          <p:cNvSpPr txBox="1"/>
          <p:nvPr/>
        </p:nvSpPr>
        <p:spPr>
          <a:xfrm>
            <a:off x="2182217" y="6593160"/>
            <a:ext cx="21804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数字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0-9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的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ASCII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码前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位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=011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2011" y="4839377"/>
            <a:ext cx="4272413" cy="157473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19" name="文本框 18"/>
          <p:cNvSpPr txBox="1"/>
          <p:nvPr/>
        </p:nvSpPr>
        <p:spPr>
          <a:xfrm>
            <a:off x="119208" y="249944"/>
            <a:ext cx="21804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spc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③ Tile-mapped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64322" y="4283629"/>
            <a:ext cx="4523061" cy="2574369"/>
          </a:xfrm>
          <a:prstGeom prst="rect">
            <a:avLst/>
          </a:prstGeom>
          <a:solidFill>
            <a:srgbClr val="FF0000">
              <a:alpha val="10196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986366" y="4229800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chemeClr val="accent6"/>
                </a:solidFill>
              </a:rPr>
              <a:t>满屏反复显示得分</a:t>
            </a:r>
            <a:endParaRPr lang="zh-CN" altLang="en-US" sz="1600" dirty="0">
              <a:solidFill>
                <a:schemeClr val="accent6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662735" y="3429000"/>
            <a:ext cx="4272413" cy="1290406"/>
          </a:xfrm>
          <a:prstGeom prst="rect">
            <a:avLst/>
          </a:prstGeom>
          <a:solidFill>
            <a:srgbClr val="FF0000">
              <a:alpha val="10196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6301249" y="3749737"/>
            <a:ext cx="18662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chemeClr val="accent6"/>
                </a:solidFill>
              </a:rPr>
              <a:t>仅在这里显示得分</a:t>
            </a:r>
            <a:endParaRPr lang="zh-CN" altLang="en-US" sz="1600" dirty="0">
              <a:solidFill>
                <a:schemeClr val="accent6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1013897" y="4839377"/>
            <a:ext cx="675131" cy="302840"/>
          </a:xfrm>
          <a:prstGeom prst="rect">
            <a:avLst/>
          </a:prstGeom>
          <a:solidFill>
            <a:schemeClr val="accent6">
              <a:lumMod val="75000"/>
              <a:alpha val="10196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DE380-77F7-451E-A544-3E1BC4DAB44F}" type="slidenum">
              <a:rPr lang="zh-CN" altLang="en-US" sz="1400" b="1" smtClean="0"/>
            </a:fld>
            <a:r>
              <a:rPr lang="zh-CN" altLang="en-US"/>
              <a:t> </a:t>
            </a:r>
            <a:r>
              <a:rPr lang="en-US" altLang="zh-CN"/>
              <a:t>/ 30</a:t>
            </a:r>
            <a:endParaRPr lang="zh-CN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/>
              <a:t>全屏显示效果</a:t>
            </a:r>
            <a:endParaRPr lang="en-US" altLang="zh-CN" sz="40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7381" y="3717879"/>
            <a:ext cx="4840145" cy="149688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564" y="1671725"/>
            <a:ext cx="6733000" cy="504975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5336821" y="2013923"/>
            <a:ext cx="665684" cy="1739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rcRect l="12110" t="58903" r="19353"/>
          <a:stretch>
            <a:fillRect/>
          </a:stretch>
        </p:blipFill>
        <p:spPr>
          <a:xfrm>
            <a:off x="7157381" y="1384890"/>
            <a:ext cx="4925530" cy="1779536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10" name="箭头: 右 9"/>
          <p:cNvSpPr/>
          <p:nvPr/>
        </p:nvSpPr>
        <p:spPr>
          <a:xfrm flipH="1">
            <a:off x="7197394" y="4414925"/>
            <a:ext cx="712446" cy="3309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箭头连接符 11"/>
          <p:cNvCxnSpPr/>
          <p:nvPr/>
        </p:nvCxnSpPr>
        <p:spPr>
          <a:xfrm flipH="1">
            <a:off x="6047383" y="2126120"/>
            <a:ext cx="1109998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DE380-77F7-451E-A544-3E1BC4DAB44F}" type="slidenum">
              <a:rPr lang="zh-CN" altLang="en-US" sz="1400" b="1" smtClean="0"/>
            </a:fld>
            <a:r>
              <a:rPr lang="zh-CN" altLang="en-US"/>
              <a:t> </a:t>
            </a:r>
            <a:r>
              <a:rPr lang="en-US" altLang="zh-CN"/>
              <a:t>/ 30</a:t>
            </a:r>
            <a:endParaRPr lang="zh-CN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8922" y="899636"/>
            <a:ext cx="6583161" cy="379406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9" y="899998"/>
            <a:ext cx="5174189" cy="595800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字体缩放 </a:t>
            </a:r>
            <a:r>
              <a:rPr lang="en-US" altLang="zh-CN" sz="44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Score</a:t>
            </a:r>
            <a:r>
              <a:rPr lang="en-US" altLang="zh-CN" sz="44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US" altLang="zh-CN" sz="44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01</a:t>
            </a:r>
            <a:endParaRPr lang="zh-CN" altLang="en-US" spc="0" dirty="0">
              <a:solidFill>
                <a:schemeClr val="tx1">
                  <a:lumMod val="65000"/>
                  <a:lumOff val="35000"/>
                </a:schemeClr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473" y="6437617"/>
            <a:ext cx="4959077" cy="31108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3524" y="4845354"/>
            <a:ext cx="1845949" cy="1568762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13" name="文本框 12"/>
          <p:cNvSpPr txBox="1"/>
          <p:nvPr/>
        </p:nvSpPr>
        <p:spPr>
          <a:xfrm>
            <a:off x="2182217" y="6593160"/>
            <a:ext cx="21804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数字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0-9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的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ASCII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码前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位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=011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2011" y="4839377"/>
            <a:ext cx="4272413" cy="157473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17" name="文本框 16"/>
          <p:cNvSpPr txBox="1"/>
          <p:nvPr/>
        </p:nvSpPr>
        <p:spPr>
          <a:xfrm>
            <a:off x="1986366" y="4229800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chemeClr val="accent6"/>
                </a:solidFill>
              </a:rPr>
              <a:t>满屏反复显示得分</a:t>
            </a:r>
            <a:endParaRPr lang="zh-CN" altLang="en-US" sz="1600" dirty="0">
              <a:solidFill>
                <a:schemeClr val="accent6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992000" y="3760791"/>
            <a:ext cx="18662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chemeClr val="accent6"/>
                </a:solidFill>
              </a:rPr>
              <a:t>仅在这里显示得分</a:t>
            </a:r>
            <a:endParaRPr lang="zh-CN" altLang="en-US" sz="1600" dirty="0">
              <a:solidFill>
                <a:schemeClr val="accent6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19208" y="249944"/>
            <a:ext cx="22407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spc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③ Tile-mapped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7775205" y="872773"/>
            <a:ext cx="1043426" cy="27163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/>
          <p:cNvSpPr/>
          <p:nvPr/>
        </p:nvSpPr>
        <p:spPr>
          <a:xfrm>
            <a:off x="8515700" y="2647404"/>
            <a:ext cx="1105134" cy="2697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/>
          <p:cNvSpPr/>
          <p:nvPr/>
        </p:nvSpPr>
        <p:spPr>
          <a:xfrm>
            <a:off x="7713497" y="3406371"/>
            <a:ext cx="4478503" cy="1047394"/>
          </a:xfrm>
          <a:prstGeom prst="roundRect">
            <a:avLst>
              <a:gd name="adj" fmla="val 809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/>
          <p:cNvSpPr/>
          <p:nvPr/>
        </p:nvSpPr>
        <p:spPr>
          <a:xfrm>
            <a:off x="1464653" y="4560090"/>
            <a:ext cx="1043426" cy="27163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48620" y="2249904"/>
            <a:ext cx="5500385" cy="2185214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将文本内坐标向左移动一位，</a:t>
            </a:r>
            <a:endParaRPr lang="en-US" altLang="zh-CN" sz="2400" b="1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  <a:p>
            <a:r>
              <a:rPr lang="en-US" altLang="zh-CN" sz="2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   </a:t>
            </a:r>
            <a:r>
              <a:rPr lang="en-US" altLang="zh-CN" sz="2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xText</a:t>
            </a:r>
            <a:r>
              <a:rPr lang="en-US" altLang="zh-CN" sz="2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[2:0] </a:t>
            </a:r>
            <a:r>
              <a:rPr lang="en-US" altLang="zh-CN" sz="2400" dirty="0">
                <a:solidFill>
                  <a:schemeClr val="accent5">
                    <a:lumMod val="20000"/>
                    <a:lumOff val="80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lang="en-US" altLang="zh-CN" sz="2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2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xText</a:t>
            </a:r>
            <a:r>
              <a:rPr lang="en-US" altLang="zh-CN" sz="2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[3:1]</a:t>
            </a:r>
            <a:endParaRPr lang="en-US" altLang="zh-CN" sz="24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  <a:p>
            <a:r>
              <a:rPr lang="en-US" altLang="zh-CN" sz="2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   </a:t>
            </a:r>
            <a:r>
              <a:rPr lang="en-US" altLang="zh-CN" sz="2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yText</a:t>
            </a:r>
            <a:r>
              <a:rPr lang="en-US" altLang="zh-CN" sz="2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[3:0] </a:t>
            </a:r>
            <a:r>
              <a:rPr lang="en-US" altLang="zh-CN" sz="2400" dirty="0">
                <a:solidFill>
                  <a:schemeClr val="accent5">
                    <a:lumMod val="20000"/>
                    <a:lumOff val="80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en-US" altLang="zh-CN" sz="2400" dirty="0" err="1">
                <a:solidFill>
                  <a:schemeClr val="accent5">
                    <a:lumMod val="20000"/>
                    <a:lumOff val="80000"/>
                  </a:schemeClr>
                </a:solidFill>
                <a:sym typeface="Wingdings" panose="05000000000000000000" pitchFamily="2" charset="2"/>
              </a:rPr>
              <a:t>yText</a:t>
            </a:r>
            <a:r>
              <a:rPr lang="en-US" altLang="zh-CN" sz="2400" dirty="0">
                <a:solidFill>
                  <a:schemeClr val="accent5">
                    <a:lumMod val="20000"/>
                    <a:lumOff val="80000"/>
                  </a:schemeClr>
                </a:solidFill>
                <a:sym typeface="Wingdings" panose="05000000000000000000" pitchFamily="2" charset="2"/>
              </a:rPr>
              <a:t>[4:1]</a:t>
            </a:r>
            <a:br>
              <a:rPr lang="en-US" altLang="zh-CN" sz="2400" dirty="0">
                <a:solidFill>
                  <a:schemeClr val="accent5">
                    <a:lumMod val="20000"/>
                    <a:lumOff val="80000"/>
                  </a:schemeClr>
                </a:solidFill>
                <a:sym typeface="Wingdings" panose="05000000000000000000" pitchFamily="2" charset="2"/>
              </a:rPr>
            </a:br>
            <a:r>
              <a:rPr lang="zh-CN" alt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sym typeface="Wingdings" panose="05000000000000000000" pitchFamily="2" charset="2"/>
              </a:rPr>
              <a:t>意味着</a:t>
            </a:r>
            <a:r>
              <a:rPr lang="en-US" altLang="zh-CN" sz="2000" dirty="0">
                <a:solidFill>
                  <a:schemeClr val="accent5">
                    <a:lumMod val="20000"/>
                    <a:lumOff val="80000"/>
                  </a:schemeClr>
                </a:solidFill>
                <a:sym typeface="Wingdings" panose="05000000000000000000" pitchFamily="2" charset="2"/>
              </a:rPr>
              <a:t>(</a:t>
            </a:r>
            <a:r>
              <a:rPr lang="en-US" altLang="zh-CN" sz="20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xText</a:t>
            </a:r>
            <a:r>
              <a:rPr lang="en-US" altLang="zh-CN" sz="20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[1], </a:t>
            </a:r>
            <a:r>
              <a:rPr lang="en-US" altLang="zh-CN" sz="20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yText</a:t>
            </a:r>
            <a:r>
              <a:rPr lang="en-US" altLang="zh-CN" sz="20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[1]</a:t>
            </a:r>
            <a:r>
              <a:rPr lang="en-US" altLang="zh-CN" sz="2000" dirty="0">
                <a:solidFill>
                  <a:schemeClr val="accent5">
                    <a:lumMod val="20000"/>
                    <a:lumOff val="80000"/>
                  </a:schemeClr>
                </a:solidFill>
                <a:sym typeface="Wingdings" panose="05000000000000000000" pitchFamily="2" charset="2"/>
              </a:rPr>
              <a:t>)</a:t>
            </a:r>
            <a:r>
              <a:rPr lang="zh-CN" alt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sym typeface="Wingdings" panose="05000000000000000000" pitchFamily="2" charset="2"/>
              </a:rPr>
              <a:t>为</a:t>
            </a:r>
            <a:r>
              <a:rPr lang="en-US" altLang="zh-CN" sz="2000" dirty="0">
                <a:solidFill>
                  <a:schemeClr val="accent5">
                    <a:lumMod val="20000"/>
                    <a:lumOff val="80000"/>
                  </a:schemeClr>
                </a:solidFill>
                <a:sym typeface="Wingdings" panose="05000000000000000000" pitchFamily="2" charset="2"/>
              </a:rPr>
              <a:t>(1,1) (1,0) (0,1) (0,0)</a:t>
            </a:r>
            <a:r>
              <a:rPr lang="zh-CN" alt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sym typeface="Wingdings" panose="05000000000000000000" pitchFamily="2" charset="2"/>
              </a:rPr>
              <a:t>时，对应着相同的字体像素值。</a:t>
            </a:r>
            <a:endParaRPr lang="en-US" altLang="zh-CN" sz="2000" dirty="0">
              <a:solidFill>
                <a:schemeClr val="accent5">
                  <a:lumMod val="20000"/>
                  <a:lumOff val="80000"/>
                </a:schemeClr>
              </a:solidFill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显示区域也相应扩大</a:t>
            </a:r>
            <a:endParaRPr lang="zh-CN" altLang="en-US" sz="2400" b="1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1013897" y="4839377"/>
            <a:ext cx="675131" cy="302840"/>
          </a:xfrm>
          <a:prstGeom prst="rect">
            <a:avLst/>
          </a:prstGeom>
          <a:solidFill>
            <a:schemeClr val="accent6">
              <a:lumMod val="75000"/>
              <a:alpha val="10196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DE380-77F7-451E-A544-3E1BC4DAB44F}" type="slidenum">
              <a:rPr lang="zh-CN" altLang="en-US" sz="1400" b="1" smtClean="0"/>
            </a:fld>
            <a:r>
              <a:rPr lang="zh-CN" altLang="en-US"/>
              <a:t> </a:t>
            </a:r>
            <a:r>
              <a:rPr lang="en-US" altLang="zh-CN"/>
              <a:t>/ 30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0462" y="4813709"/>
            <a:ext cx="1223011" cy="12230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【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作业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5】</a:t>
            </a:r>
            <a:r>
              <a:rPr lang="zh-CN" altLang="en-US" dirty="0"/>
              <a:t>完整的乒乓球游戏</a:t>
            </a:r>
            <a:endParaRPr lang="zh-CN" altLang="en-US" dirty="0"/>
          </a:p>
        </p:txBody>
      </p:sp>
      <p:grpSp>
        <p:nvGrpSpPr>
          <p:cNvPr id="8" name="组合 7"/>
          <p:cNvGrpSpPr/>
          <p:nvPr/>
        </p:nvGrpSpPr>
        <p:grpSpPr>
          <a:xfrm>
            <a:off x="505817" y="1477333"/>
            <a:ext cx="6063277" cy="4822490"/>
            <a:chOff x="505817" y="1477333"/>
            <a:chExt cx="6063277" cy="4822490"/>
          </a:xfrm>
        </p:grpSpPr>
        <p:grpSp>
          <p:nvGrpSpPr>
            <p:cNvPr id="3" name="组合 2"/>
            <p:cNvGrpSpPr/>
            <p:nvPr/>
          </p:nvGrpSpPr>
          <p:grpSpPr>
            <a:xfrm>
              <a:off x="505817" y="1477333"/>
              <a:ext cx="6063277" cy="4822490"/>
              <a:chOff x="8123948" y="3715650"/>
              <a:chExt cx="3849124" cy="2911043"/>
            </a:xfrm>
          </p:grpSpPr>
          <p:pic>
            <p:nvPicPr>
              <p:cNvPr id="4" name="Picture 2"/>
              <p:cNvPicPr>
                <a:picLocks noChangeAspect="1" noChangeArrowheads="1"/>
              </p:cNvPicPr>
              <p:nvPr/>
            </p:nvPicPr>
            <p:blipFill rotWithShape="1"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23948" y="3715650"/>
                <a:ext cx="3849124" cy="29110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" name="矩形 4"/>
              <p:cNvSpPr/>
              <p:nvPr/>
            </p:nvSpPr>
            <p:spPr>
              <a:xfrm>
                <a:off x="8256659" y="3868120"/>
                <a:ext cx="3596882" cy="1986304"/>
              </a:xfrm>
              <a:prstGeom prst="rect">
                <a:avLst/>
              </a:prstGeom>
              <a:solidFill>
                <a:srgbClr val="E0E0E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6" name="矩形 5"/>
            <p:cNvSpPr/>
            <p:nvPr/>
          </p:nvSpPr>
          <p:spPr>
            <a:xfrm>
              <a:off x="5692022" y="2853269"/>
              <a:ext cx="175118" cy="86297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1124348" y="1735528"/>
              <a:ext cx="175118" cy="328494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2592235" y="1729918"/>
              <a:ext cx="22749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Impact" panose="020B0806030902050204" pitchFamily="34" charset="0"/>
                </a:rPr>
                <a:t>Score</a:t>
              </a:r>
              <a:r>
                <a:rPr lang="zh-CN" altLang="en-US" sz="2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Impact" panose="020B0806030902050204" pitchFamily="34" charset="0"/>
                </a:rPr>
                <a:t>：</a:t>
              </a:r>
              <a:r>
                <a:rPr lang="en-US" altLang="zh-CN" sz="2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Impact" panose="020B0806030902050204" pitchFamily="34" charset="0"/>
                </a:rPr>
                <a:t>21    Ball</a:t>
              </a:r>
              <a:r>
                <a:rPr lang="zh-CN" altLang="en-US" sz="2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Impact" panose="020B0806030902050204" pitchFamily="34" charset="0"/>
                </a:rPr>
                <a:t>：</a:t>
              </a:r>
              <a:r>
                <a:rPr lang="en-US" altLang="zh-CN" sz="2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Impact" panose="020B0806030902050204" pitchFamily="34" charset="0"/>
                </a:rPr>
                <a:t>0</a:t>
              </a:r>
              <a:endPara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Impact" panose="020B0806030902050204" pitchFamily="34" charset="0"/>
              </a:endParaRPr>
            </a:p>
          </p:txBody>
        </p:sp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8658" y="2100062"/>
              <a:ext cx="2869686" cy="2869686"/>
            </a:xfrm>
            <a:prstGeom prst="rect">
              <a:avLst/>
            </a:prstGeom>
          </p:spPr>
        </p:pic>
        <p:sp>
          <p:nvSpPr>
            <p:cNvPr id="7" name="椭圆 6"/>
            <p:cNvSpPr/>
            <p:nvPr/>
          </p:nvSpPr>
          <p:spPr>
            <a:xfrm>
              <a:off x="5205633" y="4464606"/>
              <a:ext cx="216000" cy="216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929223" y="3075057"/>
              <a:ext cx="327641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000" dirty="0">
                  <a:solidFill>
                    <a:srgbClr val="C00000"/>
                  </a:solidFill>
                  <a:latin typeface="Arial Black" panose="020B0A04020102020204" pitchFamily="34" charset="0"/>
                </a:rPr>
                <a:t>Game Over</a:t>
              </a:r>
              <a:endParaRPr lang="zh-CN" altLang="en-US" sz="4000" dirty="0">
                <a:solidFill>
                  <a:srgbClr val="C00000"/>
                </a:solidFill>
                <a:latin typeface="Arial Black" panose="020B0A04020102020204" pitchFamily="34" charset="0"/>
              </a:endParaRPr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7055483" y="2100062"/>
            <a:ext cx="4870986" cy="2813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每次开始拥有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个球，</a:t>
            </a:r>
            <a:b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球拍未接到即丢失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个球；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完善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位十进制计分显示；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游戏结束时显示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Game Over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;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用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FSM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有限状态机控制。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DE380-77F7-451E-A544-3E1BC4DAB44F}" type="slidenum">
              <a:rPr lang="zh-CN" altLang="en-US" sz="1400" b="1" smtClean="0"/>
            </a:fld>
            <a:r>
              <a:rPr lang="zh-CN" altLang="en-US"/>
              <a:t> </a:t>
            </a:r>
            <a:r>
              <a:rPr lang="en-US" altLang="zh-CN"/>
              <a:t>/ 30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1998</Words>
  <Application>WPS 演示</Application>
  <PresentationFormat>宽屏</PresentationFormat>
  <Paragraphs>419</Paragraphs>
  <Slides>30</Slides>
  <Notes>9</Notes>
  <HiddenSlides>0</HiddenSlides>
  <MMClips>1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8" baseType="lpstr">
      <vt:lpstr>Arial</vt:lpstr>
      <vt:lpstr>宋体</vt:lpstr>
      <vt:lpstr>Wingdings</vt:lpstr>
      <vt:lpstr>Times New Roman</vt:lpstr>
      <vt:lpstr>微软雅黑</vt:lpstr>
      <vt:lpstr>7-Segment</vt:lpstr>
      <vt:lpstr>Segoe Print</vt:lpstr>
      <vt:lpstr>Verdana</vt:lpstr>
      <vt:lpstr>Impact</vt:lpstr>
      <vt:lpstr>PingFang SC</vt:lpstr>
      <vt:lpstr>等线</vt:lpstr>
      <vt:lpstr>Arial Unicode MS</vt:lpstr>
      <vt:lpstr>等线 Light</vt:lpstr>
      <vt:lpstr>Cambria Math</vt:lpstr>
      <vt:lpstr>Tahoma</vt:lpstr>
      <vt:lpstr>Arial Black</vt:lpstr>
      <vt:lpstr>楷体</vt:lpstr>
      <vt:lpstr>Office 主题​​</vt:lpstr>
      <vt:lpstr>PowerPoint 演示文稿</vt:lpstr>
      <vt:lpstr>PowerPoint 演示文稿</vt:lpstr>
      <vt:lpstr>显示 sprite 原理</vt:lpstr>
      <vt:lpstr>Distributed Memory</vt:lpstr>
      <vt:lpstr>BRAM</vt:lpstr>
      <vt:lpstr>复旦图标BRAM生成-1</vt:lpstr>
      <vt:lpstr>复旦图标BRAM生成-2</vt:lpstr>
      <vt:lpstr>.coe 文件</vt:lpstr>
      <vt:lpstr>复旦图标BRAM生成-3</vt:lpstr>
      <vt:lpstr> 由图像生成.coe文件</vt:lpstr>
      <vt:lpstr>乒乓球：复旦图标</vt:lpstr>
      <vt:lpstr>乒乓球：复旦图标 顶层文件</vt:lpstr>
      <vt:lpstr>【作业3】图像展示</vt:lpstr>
      <vt:lpstr>PowerPoint 演示文稿</vt:lpstr>
      <vt:lpstr>导出raw音频数据</vt:lpstr>
      <vt:lpstr>raw2coe 文件</vt:lpstr>
      <vt:lpstr>音频 BRAM</vt:lpstr>
      <vt:lpstr>导入.coe音频数据</vt:lpstr>
      <vt:lpstr>乒乓球：音乐顶层代码</vt:lpstr>
      <vt:lpstr>乒乓球：音乐模块代码</vt:lpstr>
      <vt:lpstr>【作业4】乐器播放</vt:lpstr>
      <vt:lpstr>Text</vt:lpstr>
      <vt:lpstr>128个7-bit ASCII字符</vt:lpstr>
      <vt:lpstr>字符 与 屏幕</vt:lpstr>
      <vt:lpstr>用DRAM存放ASCII</vt:lpstr>
      <vt:lpstr>ASCII- DRAM</vt:lpstr>
      <vt:lpstr>显示得分 Score:01</vt:lpstr>
      <vt:lpstr>全屏显示效果</vt:lpstr>
      <vt:lpstr>字体缩放 Score:01</vt:lpstr>
      <vt:lpstr>【作业5】完整的乒乓球游戏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孙 晓光</dc:creator>
  <cp:lastModifiedBy>谁把微信名改成真名谁就是弟弟</cp:lastModifiedBy>
  <cp:revision>614</cp:revision>
  <dcterms:created xsi:type="dcterms:W3CDTF">2022-01-22T04:17:00Z</dcterms:created>
  <dcterms:modified xsi:type="dcterms:W3CDTF">2024-12-08T12:02:46Z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8975E70429B5441FA84D6C1B38BDA137_12</vt:lpwstr>
  </property>
  <property fmtid="{D5CDD505-2E9C-101B-9397-08002B2CF9AE}" pid="3" name="KSOProductBuildVer">
    <vt:lpwstr>2052-12.1.0.19302</vt:lpwstr>
  </property>
</Properties>
</file>